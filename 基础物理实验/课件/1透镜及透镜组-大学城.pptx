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6" r:id="rId5"/>
    <p:sldId id="277" r:id="rId6"/>
    <p:sldId id="278" r:id="rId7"/>
    <p:sldId id="260" r:id="rId8"/>
    <p:sldId id="267" r:id="rId9"/>
    <p:sldId id="261" r:id="rId10"/>
    <p:sldId id="275" r:id="rId11"/>
    <p:sldId id="262" r:id="rId12"/>
    <p:sldId id="268" r:id="rId13"/>
    <p:sldId id="272" r:id="rId14"/>
    <p:sldId id="270" r:id="rId15"/>
    <p:sldId id="263" r:id="rId16"/>
    <p:sldId id="276" r:id="rId17"/>
    <p:sldId id="279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0C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67" d="100"/>
          <a:sy n="67" d="100"/>
        </p:scale>
        <p:origin x="1092" y="52"/>
      </p:cViewPr>
      <p:guideLst>
        <p:guide orient="horz" pos="215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e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 cstate="print">
            <a:alphaModFix amt="7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276871"/>
            <a:ext cx="7772400" cy="937815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透镜与透镜组的特性及其应用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96136" y="4365104"/>
            <a:ext cx="2376264" cy="43204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作者：王达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466728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一</a:t>
            </a:r>
            <a:r>
              <a:rPr lang="zh-CN" altLang="en-US" b="1" dirty="0"/>
              <a:t> 常用透镜</a:t>
            </a:r>
          </a:p>
        </p:txBody>
      </p:sp>
      <p:pic>
        <p:nvPicPr>
          <p:cNvPr id="4" name="图片 3" descr="透鏡種類20130903112514.jpg"/>
          <p:cNvPicPr>
            <a:picLocks noChangeAspect="1"/>
          </p:cNvPicPr>
          <p:nvPr/>
        </p:nvPicPr>
        <p:blipFill>
          <a:blip r:embed="rId2" cstate="print"/>
          <a:srcRect l="9645" t="1677" r="81275" b="58054"/>
          <a:stretch>
            <a:fillRect/>
          </a:stretch>
        </p:blipFill>
        <p:spPr>
          <a:xfrm>
            <a:off x="755576" y="2996952"/>
            <a:ext cx="648072" cy="1800200"/>
          </a:xfrm>
          <a:prstGeom prst="rect">
            <a:avLst/>
          </a:prstGeom>
        </p:spPr>
      </p:pic>
      <p:pic>
        <p:nvPicPr>
          <p:cNvPr id="5" name="图片 4" descr="透鏡種類20130903112514.jpg"/>
          <p:cNvPicPr>
            <a:picLocks noChangeAspect="1"/>
          </p:cNvPicPr>
          <p:nvPr/>
        </p:nvPicPr>
        <p:blipFill>
          <a:blip r:embed="rId2" cstate="print"/>
          <a:srcRect l="30267" t="49068" r="58636" b="9052"/>
          <a:stretch>
            <a:fillRect/>
          </a:stretch>
        </p:blipFill>
        <p:spPr>
          <a:xfrm>
            <a:off x="7812360" y="2852936"/>
            <a:ext cx="792088" cy="1872208"/>
          </a:xfrm>
          <a:prstGeom prst="rect">
            <a:avLst/>
          </a:prstGeom>
        </p:spPr>
      </p:pic>
      <p:pic>
        <p:nvPicPr>
          <p:cNvPr id="6" name="图片 5" descr="透鏡種類20130903112514.jpg"/>
          <p:cNvPicPr>
            <a:picLocks noChangeAspect="1"/>
          </p:cNvPicPr>
          <p:nvPr/>
        </p:nvPicPr>
        <p:blipFill>
          <a:blip r:embed="rId2" cstate="print"/>
          <a:srcRect l="18607" t="-122" r="70295" b="58054"/>
          <a:stretch>
            <a:fillRect/>
          </a:stretch>
        </p:blipFill>
        <p:spPr>
          <a:xfrm>
            <a:off x="2339752" y="2924944"/>
            <a:ext cx="792088" cy="1880592"/>
          </a:xfrm>
          <a:prstGeom prst="rect">
            <a:avLst/>
          </a:prstGeom>
        </p:spPr>
      </p:pic>
      <p:pic>
        <p:nvPicPr>
          <p:cNvPr id="7" name="图片 6" descr="透鏡種類20130903112514.jpg"/>
          <p:cNvPicPr>
            <a:picLocks noChangeAspect="1"/>
          </p:cNvPicPr>
          <p:nvPr/>
        </p:nvPicPr>
        <p:blipFill>
          <a:blip r:embed="rId2" cstate="print"/>
          <a:srcRect l="29822" t="66" r="59080" b="58054"/>
          <a:stretch>
            <a:fillRect/>
          </a:stretch>
        </p:blipFill>
        <p:spPr>
          <a:xfrm>
            <a:off x="3707904" y="2924944"/>
            <a:ext cx="792088" cy="1872208"/>
          </a:xfrm>
          <a:prstGeom prst="rect">
            <a:avLst/>
          </a:prstGeom>
        </p:spPr>
      </p:pic>
      <p:pic>
        <p:nvPicPr>
          <p:cNvPr id="8" name="图片 7" descr="透鏡種類20130903112514.jpg"/>
          <p:cNvPicPr>
            <a:picLocks noChangeAspect="1"/>
          </p:cNvPicPr>
          <p:nvPr/>
        </p:nvPicPr>
        <p:blipFill>
          <a:blip r:embed="rId2" cstate="print"/>
          <a:srcRect l="8071" t="48880" r="81958" b="9052"/>
          <a:stretch>
            <a:fillRect/>
          </a:stretch>
        </p:blipFill>
        <p:spPr>
          <a:xfrm>
            <a:off x="5004048" y="2852936"/>
            <a:ext cx="711696" cy="1880592"/>
          </a:xfrm>
          <a:prstGeom prst="rect">
            <a:avLst/>
          </a:prstGeom>
        </p:spPr>
      </p:pic>
      <p:pic>
        <p:nvPicPr>
          <p:cNvPr id="9" name="图片 8" descr="透鏡種類20130903112514.jpg"/>
          <p:cNvPicPr>
            <a:picLocks noChangeAspect="1"/>
          </p:cNvPicPr>
          <p:nvPr/>
        </p:nvPicPr>
        <p:blipFill>
          <a:blip r:embed="rId2" cstate="print"/>
          <a:srcRect l="19169" t="49068" r="70742" b="9052"/>
          <a:stretch>
            <a:fillRect/>
          </a:stretch>
        </p:blipFill>
        <p:spPr>
          <a:xfrm>
            <a:off x="6444208" y="2852936"/>
            <a:ext cx="720080" cy="187220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907704" y="184482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/>
              <a:t>凸透镜</a:t>
            </a:r>
          </a:p>
        </p:txBody>
      </p:sp>
      <p:sp>
        <p:nvSpPr>
          <p:cNvPr id="11" name="矩形 10"/>
          <p:cNvSpPr/>
          <p:nvPr/>
        </p:nvSpPr>
        <p:spPr>
          <a:xfrm>
            <a:off x="5940152" y="1916832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/>
              <a:t>凹透镜</a:t>
            </a:r>
          </a:p>
        </p:txBody>
      </p:sp>
      <p:sp>
        <p:nvSpPr>
          <p:cNvPr id="12" name="矩形 11"/>
          <p:cNvSpPr/>
          <p:nvPr/>
        </p:nvSpPr>
        <p:spPr>
          <a:xfrm>
            <a:off x="179512" y="5085184"/>
            <a:ext cx="1800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      凹凸透镜</a:t>
            </a:r>
            <a:endParaRPr lang="en-US" altLang="zh-CN" dirty="0"/>
          </a:p>
          <a:p>
            <a:r>
              <a:rPr lang="zh-CN" altLang="en-US" dirty="0"/>
              <a:t>（月牙凸透镜）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4716016" y="1340768"/>
            <a:ext cx="0" cy="4752528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123728" y="508518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平凸透镜</a:t>
            </a:r>
          </a:p>
        </p:txBody>
      </p:sp>
      <p:sp>
        <p:nvSpPr>
          <p:cNvPr id="16" name="矩形 15"/>
          <p:cNvSpPr/>
          <p:nvPr/>
        </p:nvSpPr>
        <p:spPr>
          <a:xfrm>
            <a:off x="3419872" y="508518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双凸透镜</a:t>
            </a:r>
          </a:p>
        </p:txBody>
      </p:sp>
      <p:sp>
        <p:nvSpPr>
          <p:cNvPr id="17" name="矩形 16"/>
          <p:cNvSpPr/>
          <p:nvPr/>
        </p:nvSpPr>
        <p:spPr>
          <a:xfrm>
            <a:off x="4572000" y="5085184"/>
            <a:ext cx="18004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       凸凹透镜</a:t>
            </a:r>
            <a:endParaRPr lang="en-US" altLang="zh-CN" dirty="0"/>
          </a:p>
          <a:p>
            <a:r>
              <a:rPr lang="zh-CN" altLang="en-US" dirty="0"/>
              <a:t>（月牙凹透镜）</a:t>
            </a:r>
          </a:p>
        </p:txBody>
      </p:sp>
      <p:sp>
        <p:nvSpPr>
          <p:cNvPr id="18" name="矩形 17"/>
          <p:cNvSpPr/>
          <p:nvPr/>
        </p:nvSpPr>
        <p:spPr>
          <a:xfrm>
            <a:off x="6300192" y="508518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平凹透镜</a:t>
            </a:r>
          </a:p>
        </p:txBody>
      </p:sp>
      <p:sp>
        <p:nvSpPr>
          <p:cNvPr id="19" name="矩形 18"/>
          <p:cNvSpPr/>
          <p:nvPr/>
        </p:nvSpPr>
        <p:spPr>
          <a:xfrm>
            <a:off x="7596336" y="508518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双凹透镜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064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双凸透镜和双凹透镜</a:t>
            </a:r>
          </a:p>
        </p:txBody>
      </p:sp>
      <p:pic>
        <p:nvPicPr>
          <p:cNvPr id="4" name="图片 3" descr="透鏡種類20130903112514.jpg"/>
          <p:cNvPicPr>
            <a:picLocks noChangeAspect="1"/>
          </p:cNvPicPr>
          <p:nvPr/>
        </p:nvPicPr>
        <p:blipFill>
          <a:blip r:embed="rId2" cstate="print"/>
          <a:srcRect l="42938" t="46778" r="565" b="4898"/>
          <a:stretch>
            <a:fillRect/>
          </a:stretch>
        </p:blipFill>
        <p:spPr>
          <a:xfrm>
            <a:off x="308780" y="4077072"/>
            <a:ext cx="4032448" cy="2160240"/>
          </a:xfrm>
          <a:prstGeom prst="rect">
            <a:avLst/>
          </a:prstGeom>
        </p:spPr>
      </p:pic>
      <p:pic>
        <p:nvPicPr>
          <p:cNvPr id="5" name="图片 4" descr="透鏡種類20130903112514.jpg"/>
          <p:cNvPicPr>
            <a:picLocks noChangeAspect="1"/>
          </p:cNvPicPr>
          <p:nvPr/>
        </p:nvPicPr>
        <p:blipFill>
          <a:blip r:embed="rId2" cstate="print"/>
          <a:srcRect l="43829" t="-122" r="-327" b="56631"/>
          <a:stretch>
            <a:fillRect/>
          </a:stretch>
        </p:blipFill>
        <p:spPr>
          <a:xfrm>
            <a:off x="353024" y="1412776"/>
            <a:ext cx="4032448" cy="1944216"/>
          </a:xfrm>
          <a:prstGeom prst="rect">
            <a:avLst/>
          </a:prstGeom>
        </p:spPr>
      </p:pic>
      <p:pic>
        <p:nvPicPr>
          <p:cNvPr id="6" name="图片 5" descr="透鏡種類20130903112514.jpg"/>
          <p:cNvPicPr>
            <a:picLocks noChangeAspect="1"/>
          </p:cNvPicPr>
          <p:nvPr/>
        </p:nvPicPr>
        <p:blipFill>
          <a:blip r:embed="rId2" cstate="print"/>
          <a:srcRect l="43829" t="-122" r="-327" b="56631"/>
          <a:stretch>
            <a:fillRect/>
          </a:stretch>
        </p:blipFill>
        <p:spPr>
          <a:xfrm rot="10800000">
            <a:off x="4832268" y="1556792"/>
            <a:ext cx="4032448" cy="1944216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429680" y="1255744"/>
            <a:ext cx="45976" cy="230425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1447892" y="2420888"/>
            <a:ext cx="45719" cy="7200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425032" y="1844824"/>
            <a:ext cx="2073484" cy="1281396"/>
            <a:chOff x="425032" y="1844824"/>
            <a:chExt cx="2073484" cy="1281396"/>
          </a:xfrm>
        </p:grpSpPr>
        <p:cxnSp>
          <p:nvCxnSpPr>
            <p:cNvPr id="12" name="直接箭头连接符 11"/>
            <p:cNvCxnSpPr/>
            <p:nvPr/>
          </p:nvCxnSpPr>
          <p:spPr>
            <a:xfrm>
              <a:off x="425032" y="1844824"/>
              <a:ext cx="72008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1115616" y="2262124"/>
              <a:ext cx="1382900" cy="8640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直接连接符 18"/>
          <p:cNvCxnSpPr/>
          <p:nvPr/>
        </p:nvCxnSpPr>
        <p:spPr>
          <a:xfrm>
            <a:off x="7697840" y="1124744"/>
            <a:ext cx="72008" cy="252028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7712588" y="2492896"/>
            <a:ext cx="45719" cy="7200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534648" y="5013176"/>
            <a:ext cx="45719" cy="7200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透鏡種類20130903112514.jpg"/>
          <p:cNvPicPr>
            <a:picLocks noChangeAspect="1"/>
          </p:cNvPicPr>
          <p:nvPr/>
        </p:nvPicPr>
        <p:blipFill>
          <a:blip r:embed="rId2" cstate="print"/>
          <a:srcRect l="42938" t="46778" r="565" b="4898"/>
          <a:stretch>
            <a:fillRect/>
          </a:stretch>
        </p:blipFill>
        <p:spPr>
          <a:xfrm rot="10800000">
            <a:off x="5004048" y="4005064"/>
            <a:ext cx="4032448" cy="2160240"/>
          </a:xfrm>
          <a:prstGeom prst="rect">
            <a:avLst/>
          </a:prstGeom>
        </p:spPr>
      </p:pic>
      <p:cxnSp>
        <p:nvCxnSpPr>
          <p:cNvPr id="24" name="直接连接符 23"/>
          <p:cNvCxnSpPr/>
          <p:nvPr/>
        </p:nvCxnSpPr>
        <p:spPr>
          <a:xfrm>
            <a:off x="7768116" y="4018080"/>
            <a:ext cx="72008" cy="216024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7769848" y="5013176"/>
            <a:ext cx="45719" cy="7200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1475656" y="3933056"/>
            <a:ext cx="86756" cy="230425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6516216" y="1772816"/>
            <a:ext cx="2073484" cy="1281396"/>
            <a:chOff x="425032" y="1844824"/>
            <a:chExt cx="2073484" cy="1281396"/>
          </a:xfrm>
        </p:grpSpPr>
        <p:cxnSp>
          <p:nvCxnSpPr>
            <p:cNvPr id="32" name="直接箭头连接符 31"/>
            <p:cNvCxnSpPr/>
            <p:nvPr/>
          </p:nvCxnSpPr>
          <p:spPr>
            <a:xfrm>
              <a:off x="425032" y="1844824"/>
              <a:ext cx="72008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1115616" y="2262124"/>
              <a:ext cx="1382900" cy="8640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611560" y="4437112"/>
            <a:ext cx="2073484" cy="1281396"/>
            <a:chOff x="425032" y="1844824"/>
            <a:chExt cx="2073484" cy="1281396"/>
          </a:xfrm>
        </p:grpSpPr>
        <p:cxnSp>
          <p:nvCxnSpPr>
            <p:cNvPr id="35" name="直接箭头连接符 34"/>
            <p:cNvCxnSpPr/>
            <p:nvPr/>
          </p:nvCxnSpPr>
          <p:spPr>
            <a:xfrm>
              <a:off x="425032" y="1844824"/>
              <a:ext cx="72008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1115616" y="2262124"/>
              <a:ext cx="1382900" cy="8640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6516216" y="4293096"/>
            <a:ext cx="2073484" cy="1281396"/>
            <a:chOff x="425032" y="1844824"/>
            <a:chExt cx="2073484" cy="1281396"/>
          </a:xfrm>
        </p:grpSpPr>
        <p:cxnSp>
          <p:nvCxnSpPr>
            <p:cNvPr id="38" name="直接箭头连接符 37"/>
            <p:cNvCxnSpPr/>
            <p:nvPr/>
          </p:nvCxnSpPr>
          <p:spPr>
            <a:xfrm>
              <a:off x="425032" y="1844824"/>
              <a:ext cx="72008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115616" y="2262124"/>
              <a:ext cx="1382900" cy="8640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直接箭头连接符 40"/>
          <p:cNvCxnSpPr/>
          <p:nvPr/>
        </p:nvCxnSpPr>
        <p:spPr>
          <a:xfrm>
            <a:off x="755576" y="2348880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755576" y="2564904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755576" y="2780928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755576" y="2132856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5868144" y="5301208"/>
            <a:ext cx="1224136" cy="1440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796136" y="5157192"/>
            <a:ext cx="129614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5724128" y="4869160"/>
            <a:ext cx="1368152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755576" y="5085184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5868144" y="4581128"/>
            <a:ext cx="1152128" cy="1440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755576" y="5301208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755576" y="5229200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755576" y="5157192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755576" y="4941168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V="1">
            <a:off x="5868144" y="2276872"/>
            <a:ext cx="1224136" cy="1440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5796136" y="2492896"/>
            <a:ext cx="1224136" cy="1440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6589956" y="2522392"/>
            <a:ext cx="504056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5652120" y="2420888"/>
            <a:ext cx="1486136" cy="4251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915000" cy="1143000"/>
          </a:xfrm>
        </p:spPr>
        <p:txBody>
          <a:bodyPr/>
          <a:lstStyle/>
          <a:p>
            <a:pPr algn="l"/>
            <a:r>
              <a:rPr lang="zh-CN" altLang="en-US" dirty="0"/>
              <a:t>透镜成像</a:t>
            </a:r>
          </a:p>
        </p:txBody>
      </p:sp>
      <p:sp>
        <p:nvSpPr>
          <p:cNvPr id="226" name="矩形 225"/>
          <p:cNvSpPr/>
          <p:nvPr/>
        </p:nvSpPr>
        <p:spPr>
          <a:xfrm>
            <a:off x="3779912" y="299695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双凸透镜成像</a:t>
            </a:r>
          </a:p>
        </p:txBody>
      </p:sp>
      <p:sp>
        <p:nvSpPr>
          <p:cNvPr id="227" name="矩形 226"/>
          <p:cNvSpPr/>
          <p:nvPr/>
        </p:nvSpPr>
        <p:spPr>
          <a:xfrm>
            <a:off x="3851920" y="5949280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双凹透镜成像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23528" y="1340768"/>
            <a:ext cx="3816000" cy="2016224"/>
            <a:chOff x="323528" y="1340768"/>
            <a:chExt cx="3816000" cy="2016224"/>
          </a:xfrm>
        </p:grpSpPr>
        <p:cxnSp>
          <p:nvCxnSpPr>
            <p:cNvPr id="58" name="直接箭头连接符 57"/>
            <p:cNvCxnSpPr/>
            <p:nvPr/>
          </p:nvCxnSpPr>
          <p:spPr>
            <a:xfrm flipV="1">
              <a:off x="755576" y="1844824"/>
              <a:ext cx="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58"/>
            <p:cNvSpPr/>
            <p:nvPr/>
          </p:nvSpPr>
          <p:spPr>
            <a:xfrm>
              <a:off x="2051720" y="1573272"/>
              <a:ext cx="288032" cy="1368152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连接符 59"/>
            <p:cNvCxnSpPr/>
            <p:nvPr/>
          </p:nvCxnSpPr>
          <p:spPr>
            <a:xfrm>
              <a:off x="323528" y="2276872"/>
              <a:ext cx="3816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/>
            <p:cNvSpPr/>
            <p:nvPr/>
          </p:nvSpPr>
          <p:spPr>
            <a:xfrm>
              <a:off x="1331640" y="226212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1187624" y="2348880"/>
              <a:ext cx="2920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i="1" dirty="0"/>
                <a:t>f</a:t>
              </a:r>
              <a:endParaRPr lang="zh-CN" altLang="en-US" sz="2800" i="1" dirty="0"/>
            </a:p>
          </p:txBody>
        </p:sp>
        <p:sp>
          <p:nvSpPr>
            <p:cNvPr id="66" name="椭圆 65"/>
            <p:cNvSpPr/>
            <p:nvPr/>
          </p:nvSpPr>
          <p:spPr>
            <a:xfrm>
              <a:off x="2942105" y="224590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2771800" y="2348880"/>
              <a:ext cx="2920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i="1" dirty="0"/>
                <a:t>f</a:t>
              </a:r>
              <a:endParaRPr lang="zh-CN" altLang="en-US" sz="2800" i="1" dirty="0"/>
            </a:p>
          </p:txBody>
        </p:sp>
        <p:cxnSp>
          <p:nvCxnSpPr>
            <p:cNvPr id="69" name="直接连接符 68"/>
            <p:cNvCxnSpPr/>
            <p:nvPr/>
          </p:nvCxnSpPr>
          <p:spPr>
            <a:xfrm>
              <a:off x="755576" y="1867309"/>
              <a:ext cx="936104" cy="0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1606656" y="1867551"/>
              <a:ext cx="576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2411760" y="1988840"/>
              <a:ext cx="1726460" cy="834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>
              <a:off x="2195736" y="1863603"/>
              <a:ext cx="633324" cy="33237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755576" y="1857840"/>
              <a:ext cx="1008112" cy="275016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1562412" y="2088612"/>
              <a:ext cx="2433524" cy="5483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3563888" y="2276872"/>
              <a:ext cx="0" cy="28803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2195736" y="1340768"/>
              <a:ext cx="0" cy="20162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4896424" y="1242728"/>
            <a:ext cx="3492000" cy="2027508"/>
            <a:chOff x="4896424" y="1242728"/>
            <a:chExt cx="3492000" cy="2027508"/>
          </a:xfrm>
        </p:grpSpPr>
        <p:cxnSp>
          <p:nvCxnSpPr>
            <p:cNvPr id="91" name="直接箭头连接符 90"/>
            <p:cNvCxnSpPr/>
            <p:nvPr/>
          </p:nvCxnSpPr>
          <p:spPr>
            <a:xfrm flipV="1">
              <a:off x="6264576" y="1844824"/>
              <a:ext cx="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椭圆 91"/>
            <p:cNvSpPr/>
            <p:nvPr/>
          </p:nvSpPr>
          <p:spPr>
            <a:xfrm>
              <a:off x="6624616" y="1556792"/>
              <a:ext cx="288032" cy="1368152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连接符 92"/>
            <p:cNvCxnSpPr/>
            <p:nvPr/>
          </p:nvCxnSpPr>
          <p:spPr>
            <a:xfrm>
              <a:off x="4896424" y="2260392"/>
              <a:ext cx="3492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椭圆 93"/>
            <p:cNvSpPr/>
            <p:nvPr/>
          </p:nvSpPr>
          <p:spPr>
            <a:xfrm>
              <a:off x="5904536" y="224564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5760520" y="2332400"/>
              <a:ext cx="29206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i="1" dirty="0"/>
                <a:t>f</a:t>
              </a:r>
              <a:endParaRPr lang="zh-CN" altLang="en-US" sz="2800" i="1" dirty="0"/>
            </a:p>
          </p:txBody>
        </p:sp>
        <p:sp>
          <p:nvSpPr>
            <p:cNvPr id="96" name="椭圆 95"/>
            <p:cNvSpPr/>
            <p:nvPr/>
          </p:nvSpPr>
          <p:spPr>
            <a:xfrm>
              <a:off x="7515001" y="22294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/>
            <p:cNvSpPr/>
            <p:nvPr/>
          </p:nvSpPr>
          <p:spPr>
            <a:xfrm>
              <a:off x="7344696" y="2332400"/>
              <a:ext cx="29206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i="1" dirty="0"/>
                <a:t>f</a:t>
              </a:r>
              <a:endParaRPr lang="zh-CN" altLang="en-US" sz="2800" i="1" dirty="0"/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6264608" y="1859572"/>
              <a:ext cx="288000" cy="0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>
              <a:off x="6264576" y="1856108"/>
              <a:ext cx="5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7106996" y="2055652"/>
              <a:ext cx="1245812" cy="5812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/>
            <p:nvPr/>
          </p:nvCxnSpPr>
          <p:spPr>
            <a:xfrm>
              <a:off x="6804248" y="1887336"/>
              <a:ext cx="612456" cy="32400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6264576" y="1916832"/>
              <a:ext cx="648072" cy="432048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6811144" y="2262124"/>
              <a:ext cx="1512168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 flipV="1">
              <a:off x="5546228" y="1442272"/>
              <a:ext cx="1152000" cy="39600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 flipV="1">
              <a:off x="5472488" y="1412776"/>
              <a:ext cx="720080" cy="43204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箭头连接符 153"/>
            <p:cNvCxnSpPr/>
            <p:nvPr/>
          </p:nvCxnSpPr>
          <p:spPr>
            <a:xfrm flipV="1">
              <a:off x="5472488" y="1412776"/>
              <a:ext cx="0" cy="864096"/>
            </a:xfrm>
            <a:prstGeom prst="straightConnector1">
              <a:avLst/>
            </a:prstGeom>
            <a:ln w="22225">
              <a:solidFill>
                <a:schemeClr val="tx1"/>
              </a:solidFill>
              <a:prstDash val="lgDash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6791232" y="1242728"/>
              <a:ext cx="0" cy="20162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644008" y="3977300"/>
            <a:ext cx="4104456" cy="2086500"/>
            <a:chOff x="4644008" y="3977300"/>
            <a:chExt cx="4104456" cy="2086500"/>
          </a:xfrm>
        </p:grpSpPr>
        <p:pic>
          <p:nvPicPr>
            <p:cNvPr id="193" name="图片 192" descr="透鏡種類20130903112514.jpg"/>
            <p:cNvPicPr>
              <a:picLocks noChangeAspect="1"/>
            </p:cNvPicPr>
            <p:nvPr/>
          </p:nvPicPr>
          <p:blipFill>
            <a:blip r:embed="rId2" cstate="print"/>
            <a:srcRect l="30267" t="49068" r="58636" b="9052"/>
            <a:stretch>
              <a:fillRect/>
            </a:stretch>
          </p:blipFill>
          <p:spPr>
            <a:xfrm>
              <a:off x="6372200" y="4054587"/>
              <a:ext cx="792088" cy="1872208"/>
            </a:xfrm>
            <a:prstGeom prst="rect">
              <a:avLst/>
            </a:prstGeom>
          </p:spPr>
        </p:pic>
        <p:cxnSp>
          <p:nvCxnSpPr>
            <p:cNvPr id="194" name="直接箭头连接符 193"/>
            <p:cNvCxnSpPr/>
            <p:nvPr/>
          </p:nvCxnSpPr>
          <p:spPr>
            <a:xfrm flipV="1">
              <a:off x="6228184" y="4581128"/>
              <a:ext cx="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 flipV="1">
              <a:off x="4644008" y="5013176"/>
              <a:ext cx="410445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椭圆 195"/>
            <p:cNvSpPr/>
            <p:nvPr/>
          </p:nvSpPr>
          <p:spPr>
            <a:xfrm>
              <a:off x="6012160" y="501144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椭圆 196"/>
            <p:cNvSpPr/>
            <p:nvPr/>
          </p:nvSpPr>
          <p:spPr>
            <a:xfrm>
              <a:off x="7622625" y="49952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" name="直接连接符 197"/>
            <p:cNvCxnSpPr/>
            <p:nvPr/>
          </p:nvCxnSpPr>
          <p:spPr>
            <a:xfrm>
              <a:off x="6372232" y="4595876"/>
              <a:ext cx="360000" cy="0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>
              <a:off x="4788024" y="4581128"/>
              <a:ext cx="1620048" cy="14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/>
            <p:cNvCxnSpPr>
              <a:stCxn id="196" idx="7"/>
            </p:cNvCxnSpPr>
            <p:nvPr/>
          </p:nvCxnSpPr>
          <p:spPr>
            <a:xfrm flipV="1">
              <a:off x="6051184" y="3977300"/>
              <a:ext cx="1517388" cy="10408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>
              <a:off x="6228184" y="4581128"/>
              <a:ext cx="1800200" cy="1440160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箭头连接符 201"/>
            <p:cNvCxnSpPr/>
            <p:nvPr/>
          </p:nvCxnSpPr>
          <p:spPr>
            <a:xfrm flipV="1">
              <a:off x="6432924" y="4738160"/>
              <a:ext cx="0" cy="288000"/>
            </a:xfrm>
            <a:prstGeom prst="straightConnector1">
              <a:avLst/>
            </a:prstGeom>
            <a:ln w="22225">
              <a:solidFill>
                <a:schemeClr val="tx1"/>
              </a:solidFill>
              <a:prstDash val="sysDash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61736" y="4047576"/>
              <a:ext cx="0" cy="20162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179512" y="3903560"/>
            <a:ext cx="4104456" cy="2117728"/>
            <a:chOff x="179512" y="3903560"/>
            <a:chExt cx="4104456" cy="2117728"/>
          </a:xfrm>
        </p:grpSpPr>
        <p:pic>
          <p:nvPicPr>
            <p:cNvPr id="157" name="图片 156" descr="透鏡種類20130903112514.jpg"/>
            <p:cNvPicPr>
              <a:picLocks noChangeAspect="1"/>
            </p:cNvPicPr>
            <p:nvPr/>
          </p:nvPicPr>
          <p:blipFill>
            <a:blip r:embed="rId2" cstate="print"/>
            <a:srcRect l="30267" t="49068" r="58636" b="9052"/>
            <a:stretch>
              <a:fillRect/>
            </a:stretch>
          </p:blipFill>
          <p:spPr>
            <a:xfrm>
              <a:off x="1763688" y="4054587"/>
              <a:ext cx="792088" cy="1872208"/>
            </a:xfrm>
            <a:prstGeom prst="rect">
              <a:avLst/>
            </a:prstGeom>
          </p:spPr>
        </p:pic>
        <p:cxnSp>
          <p:nvCxnSpPr>
            <p:cNvPr id="158" name="直接箭头连接符 157"/>
            <p:cNvCxnSpPr/>
            <p:nvPr/>
          </p:nvCxnSpPr>
          <p:spPr>
            <a:xfrm flipV="1">
              <a:off x="899592" y="4581128"/>
              <a:ext cx="0" cy="43204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 flipV="1">
              <a:off x="179512" y="5013176"/>
              <a:ext cx="410445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椭圆 159"/>
            <p:cNvSpPr/>
            <p:nvPr/>
          </p:nvSpPr>
          <p:spPr>
            <a:xfrm>
              <a:off x="1475656" y="5011444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/>
          </p:nvSpPr>
          <p:spPr>
            <a:xfrm>
              <a:off x="3086121" y="49952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2" name="直接连接符 161"/>
            <p:cNvCxnSpPr/>
            <p:nvPr/>
          </p:nvCxnSpPr>
          <p:spPr>
            <a:xfrm>
              <a:off x="1835728" y="4581128"/>
              <a:ext cx="288000" cy="0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899592" y="4581128"/>
              <a:ext cx="122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/>
            <p:cNvCxnSpPr/>
            <p:nvPr/>
          </p:nvCxnSpPr>
          <p:spPr>
            <a:xfrm flipV="1">
              <a:off x="2051720" y="3903560"/>
              <a:ext cx="936104" cy="72000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899592" y="4581128"/>
              <a:ext cx="2520280" cy="792088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/>
            <p:cNvCxnSpPr/>
            <p:nvPr/>
          </p:nvCxnSpPr>
          <p:spPr>
            <a:xfrm flipV="1">
              <a:off x="1691680" y="4797152"/>
              <a:ext cx="0" cy="216000"/>
            </a:xfrm>
            <a:prstGeom prst="straightConnector1">
              <a:avLst/>
            </a:prstGeom>
            <a:ln w="22225">
              <a:solidFill>
                <a:schemeClr val="tx1"/>
              </a:solidFill>
              <a:prstDash val="sysDot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flipV="1">
              <a:off x="1492136" y="4581128"/>
              <a:ext cx="631592" cy="415566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2146213" y="4005064"/>
              <a:ext cx="0" cy="201622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9150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双凸薄透镜的焦距测量</a:t>
            </a:r>
          </a:p>
        </p:txBody>
      </p:sp>
      <p:grpSp>
        <p:nvGrpSpPr>
          <p:cNvPr id="1026" name="Group 2"/>
          <p:cNvGrpSpPr/>
          <p:nvPr/>
        </p:nvGrpSpPr>
        <p:grpSpPr bwMode="auto">
          <a:xfrm>
            <a:off x="683568" y="1628800"/>
            <a:ext cx="3528392" cy="1512168"/>
            <a:chOff x="3375" y="4138"/>
            <a:chExt cx="5145" cy="1838"/>
          </a:xfrm>
        </p:grpSpPr>
        <p:grpSp>
          <p:nvGrpSpPr>
            <p:cNvPr id="1027" name="Group 3"/>
            <p:cNvGrpSpPr/>
            <p:nvPr/>
          </p:nvGrpSpPr>
          <p:grpSpPr bwMode="auto">
            <a:xfrm>
              <a:off x="3375" y="4612"/>
              <a:ext cx="1111" cy="982"/>
              <a:chOff x="3335" y="4055"/>
              <a:chExt cx="1111" cy="982"/>
            </a:xfrm>
          </p:grpSpPr>
          <p:sp>
            <p:nvSpPr>
              <p:cNvPr id="1028" name="AutoShape 4"/>
              <p:cNvSpPr>
                <a:spLocks noChangeArrowheads="1"/>
              </p:cNvSpPr>
              <p:nvPr/>
            </p:nvSpPr>
            <p:spPr bwMode="auto">
              <a:xfrm>
                <a:off x="3366" y="4055"/>
                <a:ext cx="1080" cy="982"/>
              </a:xfrm>
              <a:prstGeom prst="roundRect">
                <a:avLst>
                  <a:gd name="adj" fmla="val 16667"/>
                </a:avLst>
              </a:prstGeom>
              <a:solidFill>
                <a:srgbClr val="5A5A5A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9" name="Text Box 5"/>
              <p:cNvSpPr txBox="1">
                <a:spLocks noChangeArrowheads="1"/>
              </p:cNvSpPr>
              <p:nvPr/>
            </p:nvSpPr>
            <p:spPr bwMode="auto">
              <a:xfrm>
                <a:off x="3335" y="4110"/>
                <a:ext cx="1111" cy="75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2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溴钨灯</a:t>
                </a:r>
              </a:p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2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平行光</a:t>
                </a:r>
                <a:endParaRPr kumimoji="0" 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grpSp>
          <p:nvGrpSpPr>
            <p:cNvPr id="1030" name="Group 6"/>
            <p:cNvGrpSpPr/>
            <p:nvPr/>
          </p:nvGrpSpPr>
          <p:grpSpPr bwMode="auto">
            <a:xfrm>
              <a:off x="4215" y="4138"/>
              <a:ext cx="4305" cy="1838"/>
              <a:chOff x="4215" y="4138"/>
              <a:chExt cx="4305" cy="1838"/>
            </a:xfrm>
          </p:grpSpPr>
          <p:grpSp>
            <p:nvGrpSpPr>
              <p:cNvPr id="1031" name="Group 7"/>
              <p:cNvGrpSpPr/>
              <p:nvPr/>
            </p:nvGrpSpPr>
            <p:grpSpPr bwMode="auto">
              <a:xfrm>
                <a:off x="4215" y="4274"/>
                <a:ext cx="4305" cy="1702"/>
                <a:chOff x="4300" y="4159"/>
                <a:chExt cx="4305" cy="1702"/>
              </a:xfrm>
            </p:grpSpPr>
            <p:sp>
              <p:nvSpPr>
                <p:cNvPr id="1032" name="AutoShape 8"/>
                <p:cNvSpPr>
                  <a:spLocks noChangeArrowheads="1"/>
                </p:cNvSpPr>
                <p:nvPr/>
              </p:nvSpPr>
              <p:spPr bwMode="auto">
                <a:xfrm rot="5400000">
                  <a:off x="6529" y="4988"/>
                  <a:ext cx="1587" cy="159"/>
                </a:xfrm>
                <a:prstGeom prst="parallelogram">
                  <a:avLst>
                    <a:gd name="adj" fmla="val 249528"/>
                  </a:avLst>
                </a:prstGeom>
                <a:solidFill>
                  <a:srgbClr val="FFFFFF">
                    <a:alpha val="64999"/>
                  </a:srgb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grpSp>
              <p:nvGrpSpPr>
                <p:cNvPr id="1033" name="Group 9"/>
                <p:cNvGrpSpPr/>
                <p:nvPr/>
              </p:nvGrpSpPr>
              <p:grpSpPr bwMode="auto">
                <a:xfrm>
                  <a:off x="4300" y="4159"/>
                  <a:ext cx="4305" cy="1604"/>
                  <a:chOff x="4215" y="4081"/>
                  <a:chExt cx="4305" cy="1604"/>
                </a:xfrm>
              </p:grpSpPr>
              <p:grpSp>
                <p:nvGrpSpPr>
                  <p:cNvPr id="1034" name="Group 10"/>
                  <p:cNvGrpSpPr/>
                  <p:nvPr/>
                </p:nvGrpSpPr>
                <p:grpSpPr bwMode="auto">
                  <a:xfrm>
                    <a:off x="4215" y="4381"/>
                    <a:ext cx="4305" cy="1304"/>
                    <a:chOff x="4281" y="3928"/>
                    <a:chExt cx="4305" cy="1304"/>
                  </a:xfrm>
                </p:grpSpPr>
                <p:sp>
                  <p:nvSpPr>
                    <p:cNvPr id="1035" name="Oval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53" y="4533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>
                      <a:solidFill>
                        <a:srgbClr val="000000"/>
                      </a:solidFill>
                      <a:round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36" name="Group 12"/>
                    <p:cNvGrpSpPr/>
                    <p:nvPr/>
                  </p:nvGrpSpPr>
                  <p:grpSpPr bwMode="auto">
                    <a:xfrm>
                      <a:off x="4281" y="3928"/>
                      <a:ext cx="4305" cy="1304"/>
                      <a:chOff x="4281" y="4176"/>
                      <a:chExt cx="4305" cy="1304"/>
                    </a:xfrm>
                  </p:grpSpPr>
                  <p:sp>
                    <p:nvSpPr>
                      <p:cNvPr id="1037" name="Oval 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328" y="4773"/>
                        <a:ext cx="57" cy="57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9525">
                        <a:solidFill>
                          <a:srgbClr val="000000"/>
                        </a:solidFill>
                        <a:round/>
                      </a:ln>
                    </p:spPr>
                    <p:txBody>
                      <a:bodyPr vert="horz" wrap="square" lIns="91440" tIns="45720" rIns="91440" bIns="45720" numCol="1" anchor="t" anchorCtr="0" compatLnSpc="1"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1038" name="Group 14"/>
                      <p:cNvGrpSpPr/>
                      <p:nvPr/>
                    </p:nvGrpSpPr>
                    <p:grpSpPr bwMode="auto">
                      <a:xfrm>
                        <a:off x="4281" y="4176"/>
                        <a:ext cx="4305" cy="1304"/>
                        <a:chOff x="4277" y="4192"/>
                        <a:chExt cx="4305" cy="1304"/>
                      </a:xfrm>
                    </p:grpSpPr>
                    <p:sp>
                      <p:nvSpPr>
                        <p:cNvPr id="1039" name="Text Box 15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984" y="4704"/>
                          <a:ext cx="367" cy="38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</a:ln>
                      </p:spPr>
                      <p:txBody>
                        <a:bodyPr vert="horz" wrap="square" lIns="91440" tIns="45720" rIns="91440" bIns="45720" numCol="1" anchor="t" anchorCtr="0" compatLnSpc="1"/>
                        <a:lstStyle/>
                        <a:p>
                          <a:pPr marL="0" marR="0" lvl="0" indent="0" algn="just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1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a:t>O</a:t>
                          </a:r>
                          <a:endParaRPr kumimoji="0" lang="zh-CN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宋体" panose="02010600030101010101" pitchFamily="2" charset="-122"/>
                          </a:endParaRPr>
                        </a:p>
                      </p:txBody>
                    </p:sp>
                    <p:grpSp>
                      <p:nvGrpSpPr>
                        <p:cNvPr id="1040" name="Group 16"/>
                        <p:cNvGrpSpPr/>
                        <p:nvPr/>
                      </p:nvGrpSpPr>
                      <p:grpSpPr bwMode="auto">
                        <a:xfrm>
                          <a:off x="4277" y="4192"/>
                          <a:ext cx="4305" cy="1304"/>
                          <a:chOff x="4111" y="4192"/>
                          <a:chExt cx="4305" cy="1304"/>
                        </a:xfrm>
                      </p:grpSpPr>
                      <p:sp>
                        <p:nvSpPr>
                          <p:cNvPr id="1041" name="Text Box 17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009" y="4334"/>
                            <a:ext cx="271" cy="46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</a:ln>
                        </p:spPr>
                        <p:txBody>
                          <a:bodyPr vert="horz" wrap="square" lIns="0" tIns="0" rIns="0" bIns="0" numCol="1" anchor="t" anchorCtr="0" compatLnSpc="1"/>
                          <a:lstStyle/>
                          <a:p>
                            <a:pPr marL="0" marR="0" lvl="0" indent="0" algn="just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kumimoji="0" lang="en-US" altLang="zh-CN" sz="1200" b="0" i="0" u="none" strike="noStrike" cap="none" normalizeH="0" baseline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libri" panose="020F0502020204030204" pitchFamily="34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a:t>f</a:t>
                            </a:r>
                            <a:endParaRPr kumimoji="0" lang="zh-CN" altLang="zh-CN" sz="1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endParaRPr>
                          </a:p>
                        </p:txBody>
                      </p:sp>
                      <p:grpSp>
                        <p:nvGrpSpPr>
                          <p:cNvPr id="1042" name="Group 18"/>
                          <p:cNvGrpSpPr/>
                          <p:nvPr/>
                        </p:nvGrpSpPr>
                        <p:grpSpPr bwMode="auto">
                          <a:xfrm>
                            <a:off x="4111" y="4192"/>
                            <a:ext cx="4305" cy="1304"/>
                            <a:chOff x="4111" y="4192"/>
                            <a:chExt cx="4305" cy="1304"/>
                          </a:xfrm>
                        </p:grpSpPr>
                        <p:sp>
                          <p:nvSpPr>
                            <p:cNvPr id="1043" name="Text Box 19"/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7199" y="4320"/>
                              <a:ext cx="271" cy="555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</a:ln>
                          </p:spPr>
                          <p:txBody>
                            <a:bodyPr vert="horz" wrap="square" lIns="0" tIns="0" rIns="0" bIns="0" numCol="1" anchor="t" anchorCtr="0" compatLnSpc="1"/>
                            <a:lstStyle/>
                            <a:p>
                              <a:pPr marL="0" marR="0" lvl="0" indent="0" algn="just" defTabSz="914400" rtl="0" eaLnBrk="1" fontAlgn="base" latinLnBrk="0" hangingPunct="1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</a:pPr>
                              <a:r>
                                <a:rPr kumimoji="0" lang="en-US" altLang="zh-CN" sz="1200" b="0" i="0" u="none" strike="noStrike" cap="none" normalizeH="0" baseline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libri" panose="020F0502020204030204" pitchFamily="34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a:t>f</a:t>
                              </a:r>
                              <a:endParaRPr kumimoji="0" lang="zh-CN" altLang="zh-CN" sz="1800" b="0" i="0" u="none" strike="noStrike" cap="none" normalizeH="0" baseline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Arial" panose="020B0604020202020204" pitchFamily="34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044" name="Group 20"/>
                            <p:cNvGrpSpPr/>
                            <p:nvPr/>
                          </p:nvGrpSpPr>
                          <p:grpSpPr bwMode="auto">
                            <a:xfrm>
                              <a:off x="4111" y="4192"/>
                              <a:ext cx="4305" cy="1304"/>
                              <a:chOff x="4245" y="4167"/>
                              <a:chExt cx="4305" cy="1304"/>
                            </a:xfrm>
                          </p:grpSpPr>
                          <p:grpSp>
                            <p:nvGrpSpPr>
                              <p:cNvPr id="1045" name="Group 21"/>
                              <p:cNvGrpSpPr/>
                              <p:nvPr/>
                            </p:nvGrpSpPr>
                            <p:grpSpPr bwMode="auto">
                              <a:xfrm>
                                <a:off x="6208" y="4167"/>
                                <a:ext cx="229" cy="1304"/>
                                <a:chOff x="6730" y="5866"/>
                                <a:chExt cx="229" cy="1628"/>
                              </a:xfrm>
                            </p:grpSpPr>
                            <p:cxnSp>
                              <p:nvCxnSpPr>
                                <p:cNvPr id="1046" name="AutoShape 22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6852" y="5866"/>
                                  <a:ext cx="0" cy="1628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905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47" name="AutoShape 23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H="1">
                                  <a:off x="6740" y="5866"/>
                                  <a:ext cx="108" cy="192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905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48" name="AutoShape 24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H="1">
                                  <a:off x="6852" y="7295"/>
                                  <a:ext cx="107" cy="191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905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49" name="AutoShape 25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6852" y="5882"/>
                                  <a:ext cx="107" cy="192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905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50" name="AutoShape 26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6730" y="7301"/>
                                  <a:ext cx="107" cy="192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905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</p:grpSp>
                          <p:cxnSp>
                            <p:nvCxnSpPr>
                              <p:cNvPr id="1051" name="AutoShape 27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V="1">
                                <a:off x="4545" y="4485"/>
                                <a:ext cx="1814" cy="1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52" name="AutoShape 28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V="1">
                                <a:off x="4245" y="4788"/>
                                <a:ext cx="4305" cy="0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prstDash val="lgDash"/>
                                <a:round/>
                              </a:ln>
                            </p:spPr>
                          </p:cxnSp>
                          <p:cxnSp>
                            <p:nvCxnSpPr>
                              <p:cNvPr id="1053" name="AutoShape 29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V="1">
                                <a:off x="4560" y="5115"/>
                                <a:ext cx="1770" cy="0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54" name="AutoShape 30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>
                                <a:off x="6330" y="4485"/>
                                <a:ext cx="1995" cy="606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55" name="AutoShape 31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V="1">
                                <a:off x="6315" y="4485"/>
                                <a:ext cx="2010" cy="630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</p:grpSp>
                      </p:grpSp>
                    </p:grpSp>
                  </p:grpSp>
                </p:grpSp>
              </p:grpSp>
              <p:sp>
                <p:nvSpPr>
                  <p:cNvPr id="1056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87" y="4081"/>
                    <a:ext cx="429" cy="61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P</a:t>
                    </a:r>
                    <a:endParaRPr kumimoji="0" lang="zh-CN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grpSp>
                <p:nvGrpSpPr>
                  <p:cNvPr id="1057" name="Group 33"/>
                  <p:cNvGrpSpPr/>
                  <p:nvPr/>
                </p:nvGrpSpPr>
                <p:grpSpPr bwMode="auto">
                  <a:xfrm>
                    <a:off x="6300" y="5232"/>
                    <a:ext cx="1018" cy="370"/>
                    <a:chOff x="6300" y="5232"/>
                    <a:chExt cx="1018" cy="370"/>
                  </a:xfrm>
                </p:grpSpPr>
                <p:cxnSp>
                  <p:nvCxnSpPr>
                    <p:cNvPr id="1058" name="AutoShape 34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318" y="5304"/>
                      <a:ext cx="0" cy="227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</p:spPr>
                </p:cxnSp>
                <p:cxnSp>
                  <p:nvCxnSpPr>
                    <p:cNvPr id="1059" name="AutoShape 3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300" y="5400"/>
                      <a:ext cx="1003" cy="0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 type="triangle" w="med" len="med"/>
                      <a:tailEnd type="triangle" w="med" len="med"/>
                    </a:ln>
                  </p:spPr>
                </p:cxnSp>
                <p:sp>
                  <p:nvSpPr>
                    <p:cNvPr id="1060" name="Text Box 3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96" y="5232"/>
                      <a:ext cx="204" cy="37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</a:ln>
                  </p:spPr>
                  <p:txBody>
                    <a:bodyPr vert="horz" wrap="square" lIns="18000" tIns="10800" rIns="18000" bIns="10800" numCol="1" anchor="t" anchorCtr="0" compatLnSpc="1"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p:txBody>
                </p:sp>
              </p:grpSp>
            </p:grpSp>
          </p:grpSp>
          <p:sp>
            <p:nvSpPr>
              <p:cNvPr id="1061" name="Text Box 37"/>
              <p:cNvSpPr txBox="1">
                <a:spLocks noChangeArrowheads="1"/>
              </p:cNvSpPr>
              <p:nvPr/>
            </p:nvSpPr>
            <p:spPr bwMode="auto">
              <a:xfrm>
                <a:off x="6217" y="4138"/>
                <a:ext cx="429" cy="61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L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</p:grpSp>
      <p:sp>
        <p:nvSpPr>
          <p:cNvPr id="1063" name="Rectangle 3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62" name="Object 38"/>
          <p:cNvGraphicFramePr>
            <a:graphicFrameLocks noChangeAspect="1"/>
          </p:cNvGraphicFramePr>
          <p:nvPr/>
        </p:nvGraphicFramePr>
        <p:xfrm>
          <a:off x="4860032" y="1484784"/>
          <a:ext cx="3362887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55217" imgH="1964037" progId="">
                  <p:embed/>
                </p:oleObj>
              </mc:Choice>
              <mc:Fallback>
                <p:oleObj r:id="rId2" imgW="3255217" imgH="1964037" progId="">
                  <p:embed/>
                  <p:pic>
                    <p:nvPicPr>
                      <p:cNvPr id="0" name="图片 1024" descr="image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484784"/>
                        <a:ext cx="3362887" cy="1872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4" name="Group 40"/>
          <p:cNvGrpSpPr/>
          <p:nvPr/>
        </p:nvGrpSpPr>
        <p:grpSpPr bwMode="auto">
          <a:xfrm>
            <a:off x="4932040" y="3645024"/>
            <a:ext cx="3672408" cy="2304256"/>
            <a:chOff x="4489" y="2898"/>
            <a:chExt cx="4309" cy="2094"/>
          </a:xfrm>
        </p:grpSpPr>
        <p:cxnSp>
          <p:nvCxnSpPr>
            <p:cNvPr id="1065" name="AutoShape 41"/>
            <p:cNvCxnSpPr>
              <a:cxnSpLocks noChangeShapeType="1"/>
            </p:cNvCxnSpPr>
            <p:nvPr/>
          </p:nvCxnSpPr>
          <p:spPr bwMode="auto">
            <a:xfrm flipV="1">
              <a:off x="5093" y="3702"/>
              <a:ext cx="0" cy="3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</p:cxnSp>
        <p:grpSp>
          <p:nvGrpSpPr>
            <p:cNvPr id="1066" name="Group 42"/>
            <p:cNvGrpSpPr/>
            <p:nvPr/>
          </p:nvGrpSpPr>
          <p:grpSpPr bwMode="auto">
            <a:xfrm>
              <a:off x="4489" y="2898"/>
              <a:ext cx="4309" cy="2094"/>
              <a:chOff x="4489" y="2898"/>
              <a:chExt cx="4309" cy="2094"/>
            </a:xfrm>
          </p:grpSpPr>
          <p:cxnSp>
            <p:nvCxnSpPr>
              <p:cNvPr id="1067" name="AutoShape 43"/>
              <p:cNvCxnSpPr>
                <a:cxnSpLocks noChangeShapeType="1"/>
              </p:cNvCxnSpPr>
              <p:nvPr/>
            </p:nvCxnSpPr>
            <p:spPr bwMode="auto">
              <a:xfrm>
                <a:off x="5077" y="4069"/>
                <a:ext cx="15" cy="32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  <a:tailEnd type="triangle" w="med" len="med"/>
              </a:ln>
            </p:spPr>
          </p:cxnSp>
          <p:grpSp>
            <p:nvGrpSpPr>
              <p:cNvPr id="1068" name="Group 44"/>
              <p:cNvGrpSpPr/>
              <p:nvPr/>
            </p:nvGrpSpPr>
            <p:grpSpPr bwMode="auto">
              <a:xfrm>
                <a:off x="4489" y="2898"/>
                <a:ext cx="4309" cy="2094"/>
                <a:chOff x="3958" y="2898"/>
                <a:chExt cx="4309" cy="2094"/>
              </a:xfrm>
            </p:grpSpPr>
            <p:grpSp>
              <p:nvGrpSpPr>
                <p:cNvPr id="1069" name="Group 45"/>
                <p:cNvGrpSpPr/>
                <p:nvPr/>
              </p:nvGrpSpPr>
              <p:grpSpPr bwMode="auto">
                <a:xfrm>
                  <a:off x="3958" y="2898"/>
                  <a:ext cx="4309" cy="2094"/>
                  <a:chOff x="3958" y="2898"/>
                  <a:chExt cx="4309" cy="2094"/>
                </a:xfrm>
              </p:grpSpPr>
              <p:sp>
                <p:nvSpPr>
                  <p:cNvPr id="1070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75" y="3097"/>
                    <a:ext cx="305" cy="3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vert="horz" wrap="square" lIns="0" tIns="0" rIns="0" bIns="0" numCol="1" anchor="t" anchorCtr="0" compatLnSpc="1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M</a:t>
                    </a:r>
                    <a:endParaRPr kumimoji="0" lang="zh-CN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grpSp>
                <p:nvGrpSpPr>
                  <p:cNvPr id="1071" name="Group 47"/>
                  <p:cNvGrpSpPr/>
                  <p:nvPr/>
                </p:nvGrpSpPr>
                <p:grpSpPr bwMode="auto">
                  <a:xfrm>
                    <a:off x="3958" y="2898"/>
                    <a:ext cx="4309" cy="2094"/>
                    <a:chOff x="3958" y="2898"/>
                    <a:chExt cx="4309" cy="2094"/>
                  </a:xfrm>
                </p:grpSpPr>
                <p:sp>
                  <p:nvSpPr>
                    <p:cNvPr id="1072" name="Text Box 4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064" y="2898"/>
                      <a:ext cx="308" cy="42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1073" name="Group 49"/>
                    <p:cNvGrpSpPr/>
                    <p:nvPr/>
                  </p:nvGrpSpPr>
                  <p:grpSpPr bwMode="auto">
                    <a:xfrm>
                      <a:off x="3958" y="3121"/>
                      <a:ext cx="4309" cy="1871"/>
                      <a:chOff x="3958" y="3121"/>
                      <a:chExt cx="4309" cy="1871"/>
                    </a:xfrm>
                  </p:grpSpPr>
                  <p:grpSp>
                    <p:nvGrpSpPr>
                      <p:cNvPr id="1074" name="Group 50"/>
                      <p:cNvGrpSpPr/>
                      <p:nvPr/>
                    </p:nvGrpSpPr>
                    <p:grpSpPr bwMode="auto">
                      <a:xfrm>
                        <a:off x="3958" y="3121"/>
                        <a:ext cx="4309" cy="1871"/>
                        <a:chOff x="3958" y="3121"/>
                        <a:chExt cx="4309" cy="1871"/>
                      </a:xfrm>
                    </p:grpSpPr>
                    <p:grpSp>
                      <p:nvGrpSpPr>
                        <p:cNvPr id="1075" name="Group 51"/>
                        <p:cNvGrpSpPr/>
                        <p:nvPr/>
                      </p:nvGrpSpPr>
                      <p:grpSpPr bwMode="auto">
                        <a:xfrm>
                          <a:off x="3958" y="3121"/>
                          <a:ext cx="4309" cy="1871"/>
                          <a:chOff x="3958" y="3121"/>
                          <a:chExt cx="4309" cy="1871"/>
                        </a:xfrm>
                      </p:grpSpPr>
                      <p:sp>
                        <p:nvSpPr>
                          <p:cNvPr id="1076" name="Text Box 5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489" y="3361"/>
                            <a:ext cx="473" cy="45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</a:ln>
                        </p:spPr>
                        <p:txBody>
                          <a:bodyPr vert="horz" wrap="square" lIns="91440" tIns="45720" rIns="91440" bIns="45720" numCol="1" anchor="t" anchorCtr="0" compatLnSpc="1">
                            <a:spAutoFit/>
                          </a:bodyPr>
                          <a:lstStyle/>
                          <a:p>
                            <a:pPr marL="0" marR="0" lvl="0" indent="0" algn="just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kumimoji="0" lang="en-US" altLang="zh-CN" sz="1000" b="0" i="0" u="none" strike="noStrike" cap="none" normalizeH="0" baseline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libri" panose="020F0502020204030204" pitchFamily="34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a:t>A</a:t>
                            </a:r>
                            <a:endParaRPr kumimoji="0" lang="zh-CN" altLang="zh-CN" sz="1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endParaRPr>
                          </a:p>
                        </p:txBody>
                      </p:sp>
                      <p:grpSp>
                        <p:nvGrpSpPr>
                          <p:cNvPr id="1077" name="Group 53"/>
                          <p:cNvGrpSpPr/>
                          <p:nvPr/>
                        </p:nvGrpSpPr>
                        <p:grpSpPr bwMode="auto">
                          <a:xfrm>
                            <a:off x="3958" y="3121"/>
                            <a:ext cx="4309" cy="1871"/>
                            <a:chOff x="3958" y="3121"/>
                            <a:chExt cx="4309" cy="1871"/>
                          </a:xfrm>
                        </p:grpSpPr>
                        <p:cxnSp>
                          <p:nvCxnSpPr>
                            <p:cNvPr id="1078" name="AutoShape 54"/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>
                              <a:off x="4580" y="4795"/>
                              <a:ext cx="1498" cy="0"/>
                            </a:xfrm>
                            <a:prstGeom prst="straightConnector1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 type="triangle" w="med" len="med"/>
                              <a:tailEnd type="triangle" w="med" len="med"/>
                            </a:ln>
                          </p:spPr>
                        </p:cxnSp>
                        <p:grpSp>
                          <p:nvGrpSpPr>
                            <p:cNvPr id="1079" name="Group 55"/>
                            <p:cNvGrpSpPr/>
                            <p:nvPr/>
                          </p:nvGrpSpPr>
                          <p:grpSpPr bwMode="auto">
                            <a:xfrm>
                              <a:off x="3958" y="3121"/>
                              <a:ext cx="4309" cy="1871"/>
                              <a:chOff x="3958" y="3121"/>
                              <a:chExt cx="4309" cy="1871"/>
                            </a:xfrm>
                          </p:grpSpPr>
                          <p:cxnSp>
                            <p:nvCxnSpPr>
                              <p:cNvPr id="1080" name="AutoShape 56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>
                                <a:off x="4569" y="3324"/>
                                <a:ext cx="0" cy="1644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prstDash val="dashDot"/>
                                <a:round/>
                              </a:ln>
                            </p:spPr>
                          </p:cxnSp>
                          <p:grpSp>
                            <p:nvGrpSpPr>
                              <p:cNvPr id="1081" name="Group 57"/>
                              <p:cNvGrpSpPr/>
                              <p:nvPr/>
                            </p:nvGrpSpPr>
                            <p:grpSpPr bwMode="auto">
                              <a:xfrm>
                                <a:off x="7200" y="3419"/>
                                <a:ext cx="175" cy="1332"/>
                                <a:chOff x="7802" y="8542"/>
                                <a:chExt cx="193" cy="1343"/>
                              </a:xfrm>
                            </p:grpSpPr>
                            <p:sp>
                              <p:nvSpPr>
                                <p:cNvPr id="1082" name="Rectangle 58"/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7802" y="8600"/>
                                  <a:ext cx="12" cy="1285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000000"/>
                                </a:solidFill>
                                <a:ln w="9525">
                                  <a:solidFill>
                                    <a:srgbClr val="000000"/>
                                  </a:solidFill>
                                  <a:miter lim="800000"/>
                                </a:ln>
                              </p:spPr>
                              <p:txBody>
                                <a:bodyPr vert="horz" wrap="square" lIns="91440" tIns="45720" rIns="91440" bIns="45720" numCol="1" anchor="t" anchorCtr="0" compatLnSpc="1"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cxnSp>
                              <p:nvCxnSpPr>
                                <p:cNvPr id="1083" name="AutoShape 59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H="1">
                                  <a:off x="7859" y="8760"/>
                                  <a:ext cx="136" cy="285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270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84" name="AutoShape 60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H="1">
                                  <a:off x="7829" y="8542"/>
                                  <a:ext cx="136" cy="285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270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85" name="AutoShape 61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H="1">
                                  <a:off x="7859" y="8985"/>
                                  <a:ext cx="136" cy="285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270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86" name="AutoShape 62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H="1">
                                  <a:off x="7829" y="9270"/>
                                  <a:ext cx="136" cy="285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270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1087" name="AutoShape 63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H="1">
                                  <a:off x="7844" y="9510"/>
                                  <a:ext cx="136" cy="285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12700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</p:grpSp>
                          <p:cxnSp>
                            <p:nvCxnSpPr>
                              <p:cNvPr id="1088" name="AutoShape 64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H="1">
                                <a:off x="4573" y="4239"/>
                                <a:ext cx="1501" cy="144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89" name="AutoShape 65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V="1">
                                <a:off x="4618" y="3739"/>
                                <a:ext cx="1493" cy="0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90" name="AutoShape 66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>
                                <a:off x="6096" y="3758"/>
                                <a:ext cx="2171" cy="454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prstDash val="lgDash"/>
                                <a:round/>
                              </a:ln>
                            </p:spPr>
                          </p:cxnSp>
                          <p:cxnSp>
                            <p:nvCxnSpPr>
                              <p:cNvPr id="1091" name="AutoShape 67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>
                                <a:off x="6074" y="3736"/>
                                <a:ext cx="1126" cy="257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92" name="AutoShape 68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V="1">
                                <a:off x="6096" y="3858"/>
                                <a:ext cx="2171" cy="556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prstDash val="lgDash"/>
                                <a:round/>
                              </a:ln>
                            </p:spPr>
                          </p:cxnSp>
                          <p:cxnSp>
                            <p:nvCxnSpPr>
                              <p:cNvPr id="1093" name="AutoShape 69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>
                                <a:off x="4310" y="4414"/>
                                <a:ext cx="1801" cy="0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prstDash val="lgDash"/>
                                <a:round/>
                              </a:ln>
                            </p:spPr>
                          </p:cxnSp>
                          <p:cxnSp>
                            <p:nvCxnSpPr>
                              <p:cNvPr id="1094" name="AutoShape 70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>
                                <a:off x="4618" y="3764"/>
                                <a:ext cx="2582" cy="514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95" name="AutoShape 71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H="1">
                                <a:off x="6066" y="4278"/>
                                <a:ext cx="1134" cy="283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cxnSp>
                            <p:nvCxnSpPr>
                              <p:cNvPr id="1096" name="AutoShape 72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H="1" flipV="1">
                                <a:off x="4573" y="4383"/>
                                <a:ext cx="1523" cy="178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  <p:grpSp>
                            <p:nvGrpSpPr>
                              <p:cNvPr id="1097" name="Group 73"/>
                              <p:cNvGrpSpPr/>
                              <p:nvPr/>
                            </p:nvGrpSpPr>
                            <p:grpSpPr bwMode="auto">
                              <a:xfrm>
                                <a:off x="3958" y="3121"/>
                                <a:ext cx="4309" cy="1871"/>
                                <a:chOff x="6128" y="8251"/>
                                <a:chExt cx="4309" cy="1293"/>
                              </a:xfrm>
                            </p:grpSpPr>
                            <p:sp>
                              <p:nvSpPr>
                                <p:cNvPr id="1098" name="Text Box 74"/>
                                <p:cNvSpPr txBox="1"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6584" y="8464"/>
                                  <a:ext cx="246" cy="461"/>
                                </a:xfrm>
                                <a:prstGeom prst="rect">
                                  <a:avLst/>
                                </a:prstGeom>
                                <a:noFill/>
                                <a:ln w="9525">
                                  <a:noFill/>
                                  <a:miter lim="800000"/>
                                </a:ln>
                              </p:spPr>
                              <p:txBody>
                                <a:bodyPr vert="horz" wrap="square" lIns="0" tIns="0" rIns="0" bIns="0" numCol="1" anchor="t" anchorCtr="0" compatLnSpc="1"/>
                                <a:lstStyle/>
                                <a:p>
                                  <a:pPr marL="0" marR="0" lvl="0" indent="0" algn="just" defTabSz="914400" rtl="0" eaLnBrk="1" fontAlgn="base" latinLnBrk="0" hangingPunct="1">
                                    <a:lnSpc>
                                      <a:spcPct val="100000"/>
                                    </a:lnSpc>
                                    <a:spcBef>
                                      <a:spcPct val="0"/>
                                    </a:spcBef>
                                    <a:spcAft>
                                      <a:spcPct val="0"/>
                                    </a:spcAft>
                                    <a:buClrTx/>
                                    <a:buSzTx/>
                                    <a:buFontTx/>
                                    <a:buNone/>
                                  </a:pPr>
                                  <a:r>
                                    <a:rPr kumimoji="0" lang="en-US" altLang="zh-CN" sz="1200" b="0" i="0" u="none" strike="noStrike" cap="none" normalizeH="0" baseline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libri" panose="020F0502020204030204" pitchFamily="34" charset="0"/>
                                      <a:ea typeface="宋体" panose="02010600030101010101" pitchFamily="2" charset="-122"/>
                                      <a:cs typeface="宋体" panose="02010600030101010101" pitchFamily="2" charset="-122"/>
                                    </a:rPr>
                                    <a:t>f</a:t>
                                  </a:r>
                                  <a:endParaRPr kumimoji="0" lang="zh-CN" altLang="zh-CN" sz="1800" b="0" i="0" u="none" strike="noStrike" cap="none" normalizeH="0" baseline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Arial" panose="020B0604020202020204" pitchFamily="34" charset="0"/>
                                    <a:ea typeface="宋体" panose="02010600030101010101" pitchFamily="2" charset="-122"/>
                                    <a:cs typeface="宋体" panose="02010600030101010101" pitchFamily="2" charset="-122"/>
                                  </a:endParaRPr>
                                </a:p>
                              </p:txBody>
                            </p:sp>
                            <p:grpSp>
                              <p:nvGrpSpPr>
                                <p:cNvPr id="1099" name="Group 75"/>
                                <p:cNvGrpSpPr/>
                                <p:nvPr/>
                              </p:nvGrpSpPr>
                              <p:grpSpPr bwMode="auto">
                                <a:xfrm>
                                  <a:off x="6128" y="8251"/>
                                  <a:ext cx="4309" cy="1293"/>
                                  <a:chOff x="6128" y="8251"/>
                                  <a:chExt cx="4309" cy="1293"/>
                                </a:xfrm>
                              </p:grpSpPr>
                              <p:sp>
                                <p:nvSpPr>
                                  <p:cNvPr id="1100" name="Oval 76"/>
                                  <p:cNvSpPr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6743" y="8869"/>
                                    <a:ext cx="52" cy="56"/>
                                  </a:xfrm>
                                  <a:prstGeom prst="ellipse">
                                    <a:avLst/>
                                  </a:prstGeom>
                                  <a:solidFill>
                                    <a:srgbClr val="000000"/>
                                  </a:solidFill>
                                  <a:ln w="9525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  <p:txBody>
                                  <a:bodyPr vert="horz" wrap="square" lIns="91440" tIns="45720" rIns="91440" bIns="45720" numCol="1" anchor="t" anchorCtr="0" compatLnSpc="1"/>
                                  <a:lstStyle/>
                                  <a:p>
                                    <a:endParaRPr lang="zh-CN" altLang="en-US"/>
                                  </a:p>
                                </p:txBody>
                              </p:sp>
                              <p:grpSp>
                                <p:nvGrpSpPr>
                                  <p:cNvPr id="1101" name="Group 77"/>
                                  <p:cNvGrpSpPr/>
                                  <p:nvPr/>
                                </p:nvGrpSpPr>
                                <p:grpSpPr bwMode="auto">
                                  <a:xfrm>
                                    <a:off x="6128" y="8251"/>
                                    <a:ext cx="4309" cy="1293"/>
                                    <a:chOff x="6128" y="8251"/>
                                    <a:chExt cx="4309" cy="1293"/>
                                  </a:xfrm>
                                </p:grpSpPr>
                                <p:sp>
                                  <p:nvSpPr>
                                    <p:cNvPr id="1102" name="Oval 78"/>
                                    <p:cNvSpPr>
                                      <a:spLocks noChangeArrowheads="1"/>
                                    </p:cNvSpPr>
                                    <p:nvPr/>
                                  </p:nvSpPr>
                                  <p:spPr bwMode="auto">
                                    <a:xfrm>
                                      <a:off x="9704" y="8853"/>
                                      <a:ext cx="52" cy="57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rgbClr val="000000"/>
                                    </a:solidFill>
                                    <a:ln w="9525">
                                      <a:solidFill>
                                        <a:srgbClr val="000000"/>
                                      </a:solidFill>
                                      <a:round/>
                                    </a:ln>
                                  </p:spPr>
                                  <p:txBody>
                                    <a:bodyPr vert="horz" wrap="square" lIns="91440" tIns="45720" rIns="91440" bIns="45720" numCol="1" anchor="t" anchorCtr="0" compatLnSpc="1"/>
                                    <a:lstStyle/>
                                    <a:p>
                                      <a:endParaRPr lang="zh-CN" altLang="en-US"/>
                                    </a:p>
                                  </p:txBody>
                                </p:sp>
                                <p:grpSp>
                                  <p:nvGrpSpPr>
                                    <p:cNvPr id="1103" name="Group 79"/>
                                    <p:cNvGrpSpPr/>
                                    <p:nvPr/>
                                  </p:nvGrpSpPr>
                                  <p:grpSpPr bwMode="auto">
                                    <a:xfrm>
                                      <a:off x="6128" y="8251"/>
                                      <a:ext cx="4309" cy="1293"/>
                                      <a:chOff x="6128" y="8146"/>
                                      <a:chExt cx="4309" cy="1293"/>
                                    </a:xfrm>
                                  </p:grpSpPr>
                                  <p:grpSp>
                                    <p:nvGrpSpPr>
                                      <p:cNvPr id="1104" name="Group 80"/>
                                      <p:cNvGrpSpPr/>
                                      <p:nvPr/>
                                    </p:nvGrpSpPr>
                                    <p:grpSpPr bwMode="auto">
                                      <a:xfrm>
                                        <a:off x="7918" y="8146"/>
                                        <a:ext cx="427" cy="1293"/>
                                        <a:chOff x="7918" y="8146"/>
                                        <a:chExt cx="427" cy="1293"/>
                                      </a:xfrm>
                                    </p:grpSpPr>
                                    <p:sp>
                                      <p:nvSpPr>
                                        <p:cNvPr id="1105" name="Text Box 81"/>
                                        <p:cNvSpPr txBox="1">
                                          <a:spLocks noChangeArrowheads="1"/>
                                        </p:cNvSpPr>
                                        <p:nvPr/>
                                      </p:nvSpPr>
                                      <p:spPr bwMode="auto">
                                        <a:xfrm>
                                          <a:off x="7918" y="8695"/>
                                          <a:ext cx="333" cy="383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  <a:ln w="9525">
                                          <a:noFill/>
                                          <a:miter lim="800000"/>
                                        </a:ln>
                                      </p:spPr>
                                      <p:txBody>
                                        <a:bodyPr vert="horz" wrap="square" lIns="91440" tIns="45720" rIns="91440" bIns="45720" numCol="1" anchor="t" anchorCtr="0" compatLnSpc="1"/>
                                        <a:lstStyle/>
                                        <a:p>
                                          <a:pPr marL="0" marR="0" lvl="0" indent="0" algn="just" defTabSz="914400" rtl="0" eaLnBrk="1" fontAlgn="base" latinLnBrk="0" hangingPunct="1">
                                            <a:lnSpc>
                                              <a:spcPct val="100000"/>
                                            </a:lnSpc>
                                            <a:spcBef>
                                              <a:spcPct val="0"/>
                                            </a:spcBef>
                                            <a:spcAft>
                                              <a:spcPct val="0"/>
                                            </a:spcAft>
                                            <a:buClrTx/>
                                            <a:buSzTx/>
                                            <a:buFontTx/>
                                            <a:buNone/>
                                          </a:pPr>
                                          <a:r>
                                            <a:rPr kumimoji="0" lang="en-US" altLang="zh-CN" sz="1000" b="0" i="0" u="none" strike="noStrike" cap="none" normalizeH="0" baseline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libri" panose="020F0502020204030204" pitchFamily="34" charset="0"/>
                                              <a:ea typeface="宋体" panose="02010600030101010101" pitchFamily="2" charset="-122"/>
                                              <a:cs typeface="宋体" panose="02010600030101010101" pitchFamily="2" charset="-122"/>
                                            </a:rPr>
                                            <a:t>O</a:t>
                                          </a:r>
                                          <a:endParaRPr kumimoji="0" lang="zh-CN" altLang="zh-CN" sz="1800" b="0" i="0" u="none" strike="noStrike" cap="none" normalizeH="0" baseline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Arial" panose="020B0604020202020204" pitchFamily="34" charset="0"/>
                                            <a:ea typeface="宋体" panose="02010600030101010101" pitchFamily="2" charset="-122"/>
                                            <a:cs typeface="宋体" panose="02010600030101010101" pitchFamily="2" charset="-122"/>
                                          </a:endParaRPr>
                                        </a:p>
                                      </p:txBody>
                                    </p:sp>
                                    <p:grpSp>
                                      <p:nvGrpSpPr>
                                        <p:cNvPr id="1106" name="Group 82"/>
                                        <p:cNvGrpSpPr/>
                                        <p:nvPr/>
                                      </p:nvGrpSpPr>
                                      <p:grpSpPr bwMode="auto">
                                        <a:xfrm>
                                          <a:off x="8137" y="8146"/>
                                          <a:ext cx="208" cy="1293"/>
                                          <a:chOff x="6730" y="5866"/>
                                          <a:chExt cx="229" cy="1628"/>
                                        </a:xfrm>
                                      </p:grpSpPr>
                                      <p:cxnSp>
                                        <p:nvCxnSpPr>
                                          <p:cNvPr id="1107" name="AutoShape 83"/>
                                          <p:cNvCxnSpPr>
                                            <a:cxnSpLocks noChangeShapeType="1"/>
                                          </p:cNvCxnSpPr>
                                          <p:nvPr/>
                                        </p:nvCxnSpPr>
                                        <p:spPr bwMode="auto">
                                          <a:xfrm>
                                            <a:off x="6852" y="5866"/>
                                            <a:ext cx="0" cy="1628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w="12700">
                                            <a:solidFill>
                                              <a:srgbClr val="000000"/>
                                            </a:solidFill>
                                            <a:round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1108" name="AutoShape 84"/>
                                          <p:cNvCxnSpPr>
                                            <a:cxnSpLocks noChangeShapeType="1"/>
                                          </p:cNvCxnSpPr>
                                          <p:nvPr/>
                                        </p:nvCxnSpPr>
                                        <p:spPr bwMode="auto">
                                          <a:xfrm flipH="1">
                                            <a:off x="6740" y="5866"/>
                                            <a:ext cx="108" cy="19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w="12700">
                                            <a:solidFill>
                                              <a:srgbClr val="000000"/>
                                            </a:solidFill>
                                            <a:round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1109" name="AutoShape 85"/>
                                          <p:cNvCxnSpPr>
                                            <a:cxnSpLocks noChangeShapeType="1"/>
                                          </p:cNvCxnSpPr>
                                          <p:nvPr/>
                                        </p:nvCxnSpPr>
                                        <p:spPr bwMode="auto">
                                          <a:xfrm flipH="1">
                                            <a:off x="6852" y="7295"/>
                                            <a:ext cx="107" cy="191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w="12700">
                                            <a:solidFill>
                                              <a:srgbClr val="000000"/>
                                            </a:solidFill>
                                            <a:round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1110" name="AutoShape 86"/>
                                          <p:cNvCxnSpPr>
                                            <a:cxnSpLocks noChangeShapeType="1"/>
                                          </p:cNvCxnSpPr>
                                          <p:nvPr/>
                                        </p:nvCxnSpPr>
                                        <p:spPr bwMode="auto">
                                          <a:xfrm>
                                            <a:off x="6852" y="5882"/>
                                            <a:ext cx="107" cy="19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w="12700">
                                            <a:solidFill>
                                              <a:srgbClr val="000000"/>
                                            </a:solidFill>
                                            <a:round/>
                                          </a:ln>
                                        </p:spPr>
                                      </p:cxnSp>
                                      <p:cxnSp>
                                        <p:nvCxnSpPr>
                                          <p:cNvPr id="1111" name="AutoShape 87"/>
                                          <p:cNvCxnSpPr>
                                            <a:cxnSpLocks noChangeShapeType="1"/>
                                          </p:cNvCxnSpPr>
                                          <p:nvPr/>
                                        </p:nvCxnSpPr>
                                        <p:spPr bwMode="auto">
                                          <a:xfrm>
                                            <a:off x="6730" y="7301"/>
                                            <a:ext cx="107" cy="192"/>
                                          </a:xfrm>
                                          <a:prstGeom prst="straightConnector1">
                                            <a:avLst/>
                                          </a:prstGeom>
                                          <a:noFill/>
                                          <a:ln w="12700">
                                            <a:solidFill>
                                              <a:srgbClr val="000000"/>
                                            </a:solidFill>
                                            <a:round/>
                                          </a:ln>
                                        </p:spPr>
                                      </p:cxnSp>
                                    </p:grpSp>
                                  </p:grpSp>
                                  <p:cxnSp>
                                    <p:nvCxnSpPr>
                                      <p:cNvPr id="1112" name="AutoShape 88"/>
                                      <p:cNvCxnSpPr>
                                        <a:cxnSpLocks noChangeShapeType="1"/>
                                      </p:cNvCxnSpPr>
                                      <p:nvPr/>
                                    </p:nvCxnSpPr>
                                    <p:spPr bwMode="auto">
                                      <a:xfrm flipV="1">
                                        <a:off x="6128" y="8794"/>
                                        <a:ext cx="4309" cy="0"/>
                                      </a:xfrm>
                                      <a:prstGeom prst="straightConnector1">
                                        <a:avLst/>
                                      </a:prstGeom>
                                      <a:noFill/>
                                      <a:ln w="9525">
                                        <a:solidFill>
                                          <a:srgbClr val="000000"/>
                                        </a:solidFill>
                                        <a:prstDash val="lgDash"/>
                                        <a:round/>
                                      </a:ln>
                                    </p:spPr>
                                  </p:cxnSp>
                                </p:grpSp>
                              </p:grpSp>
                            </p:grpSp>
                          </p:grpSp>
                        </p:grpSp>
                      </p:grpSp>
                    </p:grpSp>
                    <p:sp>
                      <p:nvSpPr>
                        <p:cNvPr id="1113" name="Text Box 89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542" y="3627"/>
                          <a:ext cx="246" cy="4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</a:ln>
                      </p:spPr>
                      <p:txBody>
                        <a:bodyPr vert="horz" wrap="square" lIns="0" tIns="0" rIns="0" bIns="0" numCol="1" anchor="t" anchorCtr="0" compatLnSpc="1"/>
                        <a:lstStyle/>
                        <a:p>
                          <a:pPr marL="0" marR="0" lvl="0" indent="0" algn="just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a:t>f</a:t>
                          </a:r>
                          <a:endParaRPr kumimoji="0" lang="zh-CN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宋体" panose="02010600030101010101" pitchFamily="2" charset="-122"/>
                          </a:endParaRPr>
                        </a:p>
                      </p:txBody>
                    </p:sp>
                  </p:grpSp>
                  <p:sp>
                    <p:nvSpPr>
                      <p:cNvPr id="1114" name="Text Box 9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484" y="4354"/>
                        <a:ext cx="473" cy="4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spAutoFit/>
                      </a:bodyPr>
                      <a:lstStyle/>
                      <a:p>
                        <a:pPr marL="0" marR="0" lvl="0" indent="0" algn="just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altLang="zh-CN" sz="1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A’</a:t>
                        </a:r>
                        <a:endPara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endParaRPr>
                      </a:p>
                    </p:txBody>
                  </p:sp>
                </p:grpSp>
              </p:grpSp>
            </p:grpSp>
            <p:sp>
              <p:nvSpPr>
                <p:cNvPr id="1115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5188" y="4626"/>
                  <a:ext cx="199" cy="34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 vert="horz" wrap="square" lIns="18000" tIns="10800" rIns="18000" bIns="10800" numCol="1" anchor="t" anchorCtr="0" compatLnSpc="1">
                  <a:spAutoFit/>
                </a:bodyPr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f</a:t>
                  </a:r>
                  <a:endParaRPr kumimoji="0" lang="zh-CN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1116" name="AutoShape 92"/>
                <p:cNvCxnSpPr>
                  <a:cxnSpLocks noChangeShapeType="1"/>
                </p:cNvCxnSpPr>
                <p:nvPr/>
              </p:nvCxnSpPr>
              <p:spPr bwMode="auto">
                <a:xfrm flipH="1">
                  <a:off x="6066" y="4012"/>
                  <a:ext cx="1134" cy="22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</p:spPr>
            </p:cxnSp>
          </p:grpSp>
        </p:grpSp>
      </p:grpSp>
      <p:sp>
        <p:nvSpPr>
          <p:cNvPr id="1118" name="Rectangle 9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17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15353"/>
              </p:ext>
            </p:extLst>
          </p:nvPr>
        </p:nvGraphicFramePr>
        <p:xfrm>
          <a:off x="538246" y="3730919"/>
          <a:ext cx="3954026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011043" imgH="3619269" progId="">
                  <p:embed/>
                </p:oleObj>
              </mc:Choice>
              <mc:Fallback>
                <p:oleObj r:id="rId4" imgW="6011043" imgH="3619269" progId="">
                  <p:embed/>
                  <p:pic>
                    <p:nvPicPr>
                      <p:cNvPr id="0" name="图片 1116" descr="image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246" y="3730919"/>
                        <a:ext cx="3954026" cy="2376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矩形 95"/>
          <p:cNvSpPr/>
          <p:nvPr/>
        </p:nvSpPr>
        <p:spPr>
          <a:xfrm>
            <a:off x="1187624" y="3140968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  </a:t>
            </a:r>
            <a:r>
              <a:rPr lang="zh-CN" altLang="en-US" dirty="0"/>
              <a:t>平行光聚焦法 </a:t>
            </a:r>
          </a:p>
        </p:txBody>
      </p:sp>
      <p:sp>
        <p:nvSpPr>
          <p:cNvPr id="97" name="矩形 96"/>
          <p:cNvSpPr/>
          <p:nvPr/>
        </p:nvSpPr>
        <p:spPr>
          <a:xfrm>
            <a:off x="5325571" y="3379377"/>
            <a:ext cx="18197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2</a:t>
            </a:r>
            <a:r>
              <a:rPr lang="zh-CN" altLang="en-US" dirty="0"/>
              <a:t>  一次呈像法</a:t>
            </a:r>
          </a:p>
        </p:txBody>
      </p:sp>
      <p:sp>
        <p:nvSpPr>
          <p:cNvPr id="98" name="矩形 97"/>
          <p:cNvSpPr/>
          <p:nvPr/>
        </p:nvSpPr>
        <p:spPr>
          <a:xfrm>
            <a:off x="240225" y="6126614"/>
            <a:ext cx="2877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3  2</a:t>
            </a:r>
            <a:r>
              <a:rPr lang="zh-CN" altLang="en-US" dirty="0"/>
              <a:t>次成像法（共轭法）</a:t>
            </a:r>
          </a:p>
        </p:txBody>
      </p:sp>
      <p:sp>
        <p:nvSpPr>
          <p:cNvPr id="99" name="矩形 98"/>
          <p:cNvSpPr/>
          <p:nvPr/>
        </p:nvSpPr>
        <p:spPr>
          <a:xfrm>
            <a:off x="5954745" y="6080913"/>
            <a:ext cx="1358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  </a:t>
            </a:r>
            <a:r>
              <a:rPr lang="zh-CN" altLang="en-US" dirty="0"/>
              <a:t>自准法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900434" y="5966805"/>
                <a:ext cx="1348322" cy="584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434" y="5966805"/>
                <a:ext cx="1348322" cy="5848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/>
              <p:cNvSpPr/>
              <p:nvPr/>
            </p:nvSpPr>
            <p:spPr>
              <a:xfrm>
                <a:off x="7290422" y="3210759"/>
                <a:ext cx="1107611" cy="5981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1" name="矩形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22" y="3210759"/>
                <a:ext cx="1107611" cy="5981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45439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/>
              <a:t>双凹薄透镜的焦距测量</a:t>
            </a:r>
            <a:r>
              <a:rPr lang="zh-CN" altLang="en-US" sz="3600" dirty="0"/>
              <a:t>（成像法测量）</a:t>
            </a:r>
          </a:p>
        </p:txBody>
      </p:sp>
      <p:sp>
        <p:nvSpPr>
          <p:cNvPr id="1063" name="Rectangle 3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18" name="Rectangle 9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9700" name="Group 4"/>
          <p:cNvGrpSpPr/>
          <p:nvPr/>
        </p:nvGrpSpPr>
        <p:grpSpPr bwMode="auto">
          <a:xfrm>
            <a:off x="1259632" y="1412776"/>
            <a:ext cx="6118225" cy="1995170"/>
            <a:chOff x="2596" y="12938"/>
            <a:chExt cx="5839" cy="1791"/>
          </a:xfrm>
        </p:grpSpPr>
        <p:sp>
          <p:nvSpPr>
            <p:cNvPr id="29701" name="Oval 5"/>
            <p:cNvSpPr>
              <a:spLocks noChangeArrowheads="1"/>
            </p:cNvSpPr>
            <p:nvPr/>
          </p:nvSpPr>
          <p:spPr bwMode="auto">
            <a:xfrm>
              <a:off x="6558" y="13721"/>
              <a:ext cx="57" cy="57"/>
            </a:xfrm>
            <a:prstGeom prst="ellipse">
              <a:avLst/>
            </a:prstGeom>
            <a:solidFill>
              <a:srgbClr val="0D0D0D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29702" name="Group 6"/>
            <p:cNvGrpSpPr/>
            <p:nvPr/>
          </p:nvGrpSpPr>
          <p:grpSpPr bwMode="auto">
            <a:xfrm>
              <a:off x="2596" y="12938"/>
              <a:ext cx="5839" cy="1791"/>
              <a:chOff x="2596" y="12938"/>
              <a:chExt cx="5839" cy="1791"/>
            </a:xfrm>
          </p:grpSpPr>
          <p:grpSp>
            <p:nvGrpSpPr>
              <p:cNvPr id="29703" name="Group 7"/>
              <p:cNvGrpSpPr/>
              <p:nvPr/>
            </p:nvGrpSpPr>
            <p:grpSpPr bwMode="auto">
              <a:xfrm>
                <a:off x="2596" y="12938"/>
                <a:ext cx="5839" cy="1791"/>
                <a:chOff x="2596" y="12938"/>
                <a:chExt cx="5839" cy="1791"/>
              </a:xfrm>
            </p:grpSpPr>
            <p:sp>
              <p:nvSpPr>
                <p:cNvPr id="2970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6906" y="14401"/>
                  <a:ext cx="357" cy="3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marL="0" marR="0" lvl="0" indent="0" algn="just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12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pitchFamily="34" charset="0"/>
                      <a:ea typeface="宋体" panose="02010600030101010101" pitchFamily="2" charset="-122"/>
                      <a:cs typeface="宋体" panose="02010600030101010101" pitchFamily="2" charset="-122"/>
                    </a:rPr>
                    <a:t>A’’</a:t>
                  </a:r>
                  <a:endParaRPr kumimoji="0" lang="zh-CN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grpSp>
              <p:nvGrpSpPr>
                <p:cNvPr id="29705" name="Group 9"/>
                <p:cNvGrpSpPr/>
                <p:nvPr/>
              </p:nvGrpSpPr>
              <p:grpSpPr bwMode="auto">
                <a:xfrm>
                  <a:off x="2596" y="12938"/>
                  <a:ext cx="5839" cy="1588"/>
                  <a:chOff x="2596" y="12938"/>
                  <a:chExt cx="5839" cy="1588"/>
                </a:xfrm>
              </p:grpSpPr>
              <p:sp>
                <p:nvSpPr>
                  <p:cNvPr id="29706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828" y="14053"/>
                    <a:ext cx="410" cy="31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vert="horz" wrap="square" lIns="0" tIns="0" rIns="0" bIns="0" numCol="1" anchor="t" anchorCtr="0" compatLnSpc="1"/>
                  <a:lstStyle/>
                  <a:p>
                    <a:pPr marL="0" marR="0" lvl="0" indent="0" algn="just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A’</a:t>
                    </a:r>
                    <a:endParaRPr kumimoji="0" lang="zh-CN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  <p:grpSp>
                <p:nvGrpSpPr>
                  <p:cNvPr id="29707" name="Group 11"/>
                  <p:cNvGrpSpPr/>
                  <p:nvPr/>
                </p:nvGrpSpPr>
                <p:grpSpPr bwMode="auto">
                  <a:xfrm>
                    <a:off x="2596" y="12938"/>
                    <a:ext cx="5839" cy="1588"/>
                    <a:chOff x="2596" y="12938"/>
                    <a:chExt cx="5839" cy="1588"/>
                  </a:xfrm>
                </p:grpSpPr>
                <p:sp>
                  <p:nvSpPr>
                    <p:cNvPr id="29708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67" y="13266"/>
                      <a:ext cx="410" cy="31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</a:ln>
                  </p:spPr>
                  <p:txBody>
                    <a:bodyPr vert="horz" wrap="square" lIns="0" tIns="0" rIns="0" bIns="0" numCol="1" anchor="t" anchorCtr="0" compatLnSpc="1"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29709" name="Group 13"/>
                    <p:cNvGrpSpPr/>
                    <p:nvPr/>
                  </p:nvGrpSpPr>
                  <p:grpSpPr bwMode="auto">
                    <a:xfrm>
                      <a:off x="2596" y="12938"/>
                      <a:ext cx="5839" cy="1588"/>
                      <a:chOff x="2596" y="12938"/>
                      <a:chExt cx="5839" cy="1588"/>
                    </a:xfrm>
                  </p:grpSpPr>
                  <p:sp>
                    <p:nvSpPr>
                      <p:cNvPr id="29710" name="Text Box 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387" y="12968"/>
                        <a:ext cx="357" cy="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</a:ln>
                    </p:spPr>
                    <p:txBody>
                      <a:bodyPr vert="horz" wrap="square" lIns="18000" tIns="0" rIns="18000" bIns="0" numCol="1" anchor="t" anchorCtr="0" compatLnSpc="1"/>
                      <a:lstStyle/>
                      <a:p>
                        <a:pPr marL="0" marR="0" lvl="0" indent="0" algn="just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</a:pPr>
                        <a:r>
                          <a:rPr kumimoji="0" lang="en-US" altLang="zh-CN" sz="12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L</a:t>
                        </a:r>
                        <a:r>
                          <a:rPr kumimoji="0" lang="en-US" altLang="zh-CN" sz="1200" b="0" i="0" u="none" strike="noStrike" cap="none" normalizeH="0" baseline="-250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2</a:t>
                        </a:r>
                        <a:endParaRPr kumimoji="0" lang="zh-CN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宋体" panose="02010600030101010101" pitchFamily="2" charset="-122"/>
                        </a:endParaRPr>
                      </a:p>
                    </p:txBody>
                  </p:sp>
                  <p:grpSp>
                    <p:nvGrpSpPr>
                      <p:cNvPr id="29711" name="Group 15"/>
                      <p:cNvGrpSpPr/>
                      <p:nvPr/>
                    </p:nvGrpSpPr>
                    <p:grpSpPr bwMode="auto">
                      <a:xfrm>
                        <a:off x="2596" y="12938"/>
                        <a:ext cx="5839" cy="1588"/>
                        <a:chOff x="2596" y="12938"/>
                        <a:chExt cx="5839" cy="1588"/>
                      </a:xfrm>
                    </p:grpSpPr>
                    <p:grpSp>
                      <p:nvGrpSpPr>
                        <p:cNvPr id="29712" name="Group 16"/>
                        <p:cNvGrpSpPr/>
                        <p:nvPr/>
                      </p:nvGrpSpPr>
                      <p:grpSpPr bwMode="auto">
                        <a:xfrm>
                          <a:off x="2596" y="13172"/>
                          <a:ext cx="5839" cy="1354"/>
                          <a:chOff x="2596" y="13172"/>
                          <a:chExt cx="5839" cy="1354"/>
                        </a:xfrm>
                      </p:grpSpPr>
                      <p:grpSp>
                        <p:nvGrpSpPr>
                          <p:cNvPr id="29713" name="Group 17"/>
                          <p:cNvGrpSpPr/>
                          <p:nvPr/>
                        </p:nvGrpSpPr>
                        <p:grpSpPr bwMode="auto">
                          <a:xfrm>
                            <a:off x="2596" y="13172"/>
                            <a:ext cx="5839" cy="1354"/>
                            <a:chOff x="2596" y="13172"/>
                            <a:chExt cx="5839" cy="1354"/>
                          </a:xfrm>
                        </p:grpSpPr>
                        <p:grpSp>
                          <p:nvGrpSpPr>
                            <p:cNvPr id="29714" name="Group 18"/>
                            <p:cNvGrpSpPr/>
                            <p:nvPr/>
                          </p:nvGrpSpPr>
                          <p:grpSpPr bwMode="auto">
                            <a:xfrm>
                              <a:off x="2596" y="13172"/>
                              <a:ext cx="5839" cy="1354"/>
                              <a:chOff x="2596" y="13172"/>
                              <a:chExt cx="5839" cy="1354"/>
                            </a:xfrm>
                          </p:grpSpPr>
                          <p:grpSp>
                            <p:nvGrpSpPr>
                              <p:cNvPr id="29715" name="Group 19"/>
                              <p:cNvGrpSpPr/>
                              <p:nvPr/>
                            </p:nvGrpSpPr>
                            <p:grpSpPr bwMode="auto">
                              <a:xfrm>
                                <a:off x="2596" y="13172"/>
                                <a:ext cx="5839" cy="1354"/>
                                <a:chOff x="2596" y="13172"/>
                                <a:chExt cx="5839" cy="1354"/>
                              </a:xfrm>
                            </p:grpSpPr>
                            <p:cxnSp>
                              <p:nvCxnSpPr>
                                <p:cNvPr id="29716" name="AutoShape 20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5293" y="13630"/>
                                  <a:ext cx="737" cy="1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headEnd type="triangle" w="med" len="med"/>
                                  <a:tailEnd type="triangle" w="med" len="med"/>
                                </a:ln>
                              </p:spPr>
                            </p:cxnSp>
                            <p:cxnSp>
                              <p:nvCxnSpPr>
                                <p:cNvPr id="29717" name="AutoShape 21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V="1">
                                  <a:off x="5323" y="13440"/>
                                  <a:ext cx="1814" cy="1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headEnd type="triangle" w="med" len="med"/>
                                  <a:tailEnd type="triangle" w="med" len="med"/>
                                </a:ln>
                              </p:spPr>
                            </p:cxnSp>
                            <p:cxnSp>
                              <p:nvCxnSpPr>
                                <p:cNvPr id="29718" name="AutoShape 22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6018" y="13534"/>
                                  <a:ext cx="0" cy="17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29719" name="AutoShape 23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V="1">
                                  <a:off x="3122" y="13394"/>
                                  <a:ext cx="0" cy="369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tailEnd type="triangle" w="med" len="med"/>
                                </a:ln>
                              </p:spPr>
                            </p:cxnSp>
                            <p:grpSp>
                              <p:nvGrpSpPr>
                                <p:cNvPr id="29720" name="Group 24"/>
                                <p:cNvGrpSpPr/>
                                <p:nvPr/>
                              </p:nvGrpSpPr>
                              <p:grpSpPr bwMode="auto">
                                <a:xfrm>
                                  <a:off x="4678" y="13189"/>
                                  <a:ext cx="229" cy="1304"/>
                                  <a:chOff x="6730" y="5866"/>
                                  <a:chExt cx="229" cy="1628"/>
                                </a:xfrm>
                              </p:grpSpPr>
                              <p:cxnSp>
                                <p:nvCxnSpPr>
                                  <p:cNvPr id="29721" name="AutoShape 25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>
                                    <a:off x="6852" y="5866"/>
                                    <a:ext cx="0" cy="1628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22" name="AutoShape 26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 flipH="1">
                                    <a:off x="6740" y="5866"/>
                                    <a:ext cx="108" cy="192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23" name="AutoShape 27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 flipH="1">
                                    <a:off x="6852" y="7295"/>
                                    <a:ext cx="107" cy="191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24" name="AutoShape 28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>
                                    <a:off x="6852" y="5882"/>
                                    <a:ext cx="107" cy="192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25" name="AutoShape 29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>
                                    <a:off x="6730" y="7301"/>
                                    <a:ext cx="107" cy="192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</p:grpSp>
                            <p:cxnSp>
                              <p:nvCxnSpPr>
                                <p:cNvPr id="29726" name="AutoShape 30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2596" y="13753"/>
                                  <a:ext cx="5839" cy="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prstDash val="lgDash"/>
                                  <a:round/>
                                </a:ln>
                              </p:spPr>
                            </p:cxnSp>
                            <p:cxnSp>
                              <p:nvCxnSpPr>
                                <p:cNvPr id="29727" name="AutoShape 31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 flipV="1">
                                  <a:off x="3119" y="13386"/>
                                  <a:ext cx="1701" cy="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tailEnd type="triangle" w="med" len="med"/>
                                </a:ln>
                              </p:spPr>
                            </p:cxnSp>
                            <p:cxnSp>
                              <p:nvCxnSpPr>
                                <p:cNvPr id="29728" name="AutoShape 32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3119" y="13401"/>
                                  <a:ext cx="2914" cy="620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tailEnd type="triangle" w="med" len="med"/>
                                </a:ln>
                              </p:spPr>
                            </p:cxnSp>
                            <p:grpSp>
                              <p:nvGrpSpPr>
                                <p:cNvPr id="29729" name="Group 33"/>
                                <p:cNvGrpSpPr/>
                                <p:nvPr/>
                              </p:nvGrpSpPr>
                              <p:grpSpPr bwMode="auto">
                                <a:xfrm>
                                  <a:off x="5248" y="13172"/>
                                  <a:ext cx="132" cy="1354"/>
                                  <a:chOff x="7065" y="12206"/>
                                  <a:chExt cx="132" cy="1354"/>
                                </a:xfrm>
                              </p:grpSpPr>
                              <p:cxnSp>
                                <p:nvCxnSpPr>
                                  <p:cNvPr id="29730" name="AutoShape 34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>
                                    <a:off x="7138" y="12317"/>
                                    <a:ext cx="0" cy="1134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31" name="AutoShape 35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 flipV="1">
                                    <a:off x="7138" y="12206"/>
                                    <a:ext cx="57" cy="113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32" name="AutoShape 36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 flipV="1">
                                    <a:off x="7067" y="13447"/>
                                    <a:ext cx="57" cy="113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33" name="AutoShape 37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>
                                    <a:off x="7065" y="12212"/>
                                    <a:ext cx="57" cy="113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  <p:cxnSp>
                                <p:nvCxnSpPr>
                                  <p:cNvPr id="29734" name="AutoShape 38"/>
                                  <p:cNvCxnSpPr>
                                    <a:cxnSpLocks noChangeShapeType="1"/>
                                  </p:cNvCxnSpPr>
                                  <p:nvPr/>
                                </p:nvCxnSpPr>
                                <p:spPr bwMode="auto">
                                  <a:xfrm>
                                    <a:off x="7140" y="13442"/>
                                    <a:ext cx="57" cy="113"/>
                                  </a:xfrm>
                                  <a:prstGeom prst="straightConnector1">
                                    <a:avLst/>
                                  </a:prstGeom>
                                  <a:noFill/>
                                  <a:ln w="12700">
                                    <a:solidFill>
                                      <a:srgbClr val="000000"/>
                                    </a:solidFill>
                                    <a:round/>
                                  </a:ln>
                                </p:spPr>
                              </p:cxnSp>
                            </p:grpSp>
                            <p:cxnSp>
                              <p:nvCxnSpPr>
                                <p:cNvPr id="29735" name="AutoShape 39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6018" y="13770"/>
                                  <a:ext cx="0" cy="283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tailEnd type="triangle" w="med" len="med"/>
                                </a:ln>
                              </p:spPr>
                            </p:cxnSp>
                            <p:cxnSp>
                              <p:nvCxnSpPr>
                                <p:cNvPr id="29736" name="AutoShape 40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5314" y="13880"/>
                                  <a:ext cx="1825" cy="533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tailEnd type="triangle" w="med" len="med"/>
                                </a:ln>
                              </p:spPr>
                            </p:cxnSp>
                            <p:cxnSp>
                              <p:nvCxnSpPr>
                                <p:cNvPr id="29737" name="AutoShape 41"/>
                                <p:cNvCxnSpPr>
                                  <a:cxnSpLocks noChangeShapeType="1"/>
                                </p:cNvCxnSpPr>
                                <p:nvPr/>
                              </p:nvCxnSpPr>
                              <p:spPr bwMode="auto">
                                <a:xfrm>
                                  <a:off x="5318" y="13645"/>
                                  <a:ext cx="1821" cy="756"/>
                                </a:xfrm>
                                <a:prstGeom prst="straightConnector1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tailEnd type="triangle" w="med" len="med"/>
                                </a:ln>
                              </p:spPr>
                            </p:cxnSp>
                          </p:grpSp>
                          <p:cxnSp>
                            <p:nvCxnSpPr>
                              <p:cNvPr id="29738" name="AutoShape 42"/>
                              <p:cNvCxnSpPr>
                                <a:cxnSpLocks noChangeShapeType="1"/>
                              </p:cNvCxnSpPr>
                              <p:nvPr/>
                            </p:nvCxnSpPr>
                            <p:spPr bwMode="auto">
                              <a:xfrm flipH="1">
                                <a:off x="7128" y="13753"/>
                                <a:ext cx="0" cy="680"/>
                              </a:xfrm>
                              <a:prstGeom prst="straightConnector1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tailEnd type="triangle" w="med" len="med"/>
                              </a:ln>
                            </p:spPr>
                          </p:cxnSp>
                        </p:grpSp>
                        <p:sp>
                          <p:nvSpPr>
                            <p:cNvPr id="29739" name="Text Box 43"/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602" y="13438"/>
                              <a:ext cx="206" cy="236"/>
                            </a:xfrm>
                            <a:prstGeom prst="rect">
                              <a:avLst/>
                            </a:prstGeom>
                            <a:solidFill>
                              <a:srgbClr val="FFFFFF"/>
                            </a:solidFill>
                            <a:ln w="9525">
                              <a:noFill/>
                              <a:miter lim="800000"/>
                            </a:ln>
                          </p:spPr>
                          <p:txBody>
                            <a:bodyPr vert="horz" wrap="square" lIns="0" tIns="0" rIns="0" bIns="0" numCol="1" anchor="ctr" anchorCtr="0" compatLnSpc="1"/>
                            <a:lstStyle/>
                            <a:p>
                              <a:pPr marL="0" marR="0" lvl="0" indent="0" algn="just" defTabSz="914400" rtl="0" eaLnBrk="1" fontAlgn="base" latinLnBrk="0" hangingPunct="1">
                                <a:lnSpc>
                                  <a:spcPct val="100000"/>
                                </a:lnSpc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buClrTx/>
                                <a:buSzTx/>
                                <a:buFontTx/>
                                <a:buNone/>
                              </a:pPr>
                              <a:r>
                                <a:rPr kumimoji="0" lang="en-US" altLang="zh-CN" sz="1200" b="0" i="0" u="none" strike="noStrike" cap="none" normalizeH="0" baseline="0" dirty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libri" panose="020F0502020204030204" pitchFamily="34" charset="0"/>
                                  <a:ea typeface="宋体" panose="02010600030101010101" pitchFamily="2" charset="-122"/>
                                  <a:cs typeface="宋体" panose="02010600030101010101" pitchFamily="2" charset="-122"/>
                                </a:rPr>
                                <a:t>u</a:t>
                              </a:r>
                              <a:endParaRPr kumimoji="0" lang="zh-CN" altLang="zh-CN" sz="18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Arial" panose="020B0604020202020204" pitchFamily="34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endParaRPr>
                            </a:p>
                          </p:txBody>
                        </p:sp>
                        <p:cxnSp>
                          <p:nvCxnSpPr>
                            <p:cNvPr id="29740" name="AutoShape 44"/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>
                              <a:off x="4820" y="13401"/>
                              <a:ext cx="1213" cy="620"/>
                            </a:xfrm>
                            <a:prstGeom prst="straightConnector1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tailEnd type="triangle" w="med" len="med"/>
                            </a:ln>
                          </p:spPr>
                        </p:cxnSp>
                      </p:grpSp>
                      <p:sp>
                        <p:nvSpPr>
                          <p:cNvPr id="29741" name="Text Box 45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238" y="13251"/>
                            <a:ext cx="198" cy="327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  <a:ln w="9525">
                            <a:solidFill>
                              <a:srgbClr val="FFFFFF"/>
                            </a:solidFill>
                            <a:miter lim="800000"/>
                          </a:ln>
                        </p:spPr>
                        <p:txBody>
                          <a:bodyPr vert="horz" wrap="square" lIns="0" tIns="0" rIns="0" bIns="0" numCol="1" anchor="t" anchorCtr="0" compatLnSpc="1"/>
                          <a:lstStyle/>
                          <a:p>
                            <a:pPr marL="0" marR="0" lvl="0" indent="0" algn="just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</a:pPr>
                            <a:r>
                              <a:rPr kumimoji="0" lang="en-US" altLang="zh-CN" sz="1200" b="0" i="0" u="none" strike="noStrike" cap="none" normalizeH="0" baseline="0" dirty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libri" panose="020F0502020204030204" pitchFamily="34" charset="0"/>
                                <a:ea typeface="宋体" panose="02010600030101010101" pitchFamily="2" charset="-122"/>
                                <a:cs typeface="宋体" panose="02010600030101010101" pitchFamily="2" charset="-122"/>
                              </a:rPr>
                              <a:t>v</a:t>
                            </a:r>
                            <a:endParaRPr kumimoji="0" lang="zh-CN" altLang="zh-CN" sz="1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endParaRPr>
                          </a:p>
                        </p:txBody>
                      </p:sp>
                      <p:cxnSp>
                        <p:nvCxnSpPr>
                          <p:cNvPr id="29742" name="AutoShape 46"/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7128" y="13364"/>
                            <a:ext cx="0" cy="170"/>
                          </a:xfrm>
                          <a:prstGeom prst="straightConnector1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</a:ln>
                        </p:spPr>
                      </p:cxnSp>
                    </p:grpSp>
                    <p:sp>
                      <p:nvSpPr>
                        <p:cNvPr id="29743" name="Text Box 47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517" y="12938"/>
                          <a:ext cx="357" cy="4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</a:ln>
                      </p:spPr>
                      <p:txBody>
                        <a:bodyPr vert="horz" wrap="square" lIns="18000" tIns="0" rIns="18000" bIns="0" numCol="1" anchor="t" anchorCtr="0" compatLnSpc="1"/>
                        <a:lstStyle/>
                        <a:p>
                          <a:pPr marL="0" marR="0" lvl="0" indent="0" algn="just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</a:pPr>
                          <a:r>
                            <a:rPr kumimoji="0" lang="en-US" altLang="zh-CN" sz="12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a:t>L</a:t>
                          </a:r>
                          <a:r>
                            <a:rPr kumimoji="0" lang="en-US" altLang="zh-CN" sz="1200" b="0" i="0" u="none" strike="noStrike" cap="none" normalizeH="0" baseline="-25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a:t>1</a:t>
                          </a:r>
                          <a:endParaRPr kumimoji="0" lang="zh-CN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宋体" panose="02010600030101010101" pitchFamily="2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  <p:sp>
            <p:nvSpPr>
              <p:cNvPr id="29744" name="Text Box 48"/>
              <p:cNvSpPr txBox="1">
                <a:spLocks noChangeArrowheads="1"/>
              </p:cNvSpPr>
              <p:nvPr/>
            </p:nvSpPr>
            <p:spPr bwMode="auto">
              <a:xfrm>
                <a:off x="6548" y="13792"/>
                <a:ext cx="214" cy="26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f</a:t>
                </a: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</p:grpSp>
      <p:sp>
        <p:nvSpPr>
          <p:cNvPr id="29746" name="Rectangle 5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745" name="Object 49"/>
          <p:cNvGraphicFramePr>
            <a:graphicFrameLocks noChangeAspect="1"/>
          </p:cNvGraphicFramePr>
          <p:nvPr/>
        </p:nvGraphicFramePr>
        <p:xfrm>
          <a:off x="755576" y="4005064"/>
          <a:ext cx="3499485" cy="180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188403" imgH="2483659" progId="">
                  <p:embed/>
                </p:oleObj>
              </mc:Choice>
              <mc:Fallback>
                <p:oleObj r:id="rId2" imgW="4188403" imgH="2483659" progId="">
                  <p:embed/>
                  <p:pic>
                    <p:nvPicPr>
                      <p:cNvPr id="0" name="图片 2048" descr="image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005064"/>
                        <a:ext cx="3499485" cy="18008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组合 55"/>
          <p:cNvGrpSpPr/>
          <p:nvPr/>
        </p:nvGrpSpPr>
        <p:grpSpPr>
          <a:xfrm>
            <a:off x="4788024" y="3933056"/>
            <a:ext cx="4062095" cy="1880235"/>
            <a:chOff x="2297" y="6167"/>
            <a:chExt cx="9639" cy="4144"/>
          </a:xfrm>
        </p:grpSpPr>
        <p:graphicFrame>
          <p:nvGraphicFramePr>
            <p:cNvPr id="24" name="Object 49"/>
            <p:cNvGraphicFramePr>
              <a:graphicFrameLocks noChangeAspect="1"/>
            </p:cNvGraphicFramePr>
            <p:nvPr/>
          </p:nvGraphicFramePr>
          <p:xfrm>
            <a:off x="2297" y="6167"/>
            <a:ext cx="9299" cy="4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188403" imgH="2483659" progId="">
                    <p:embed/>
                  </p:oleObj>
                </mc:Choice>
                <mc:Fallback>
                  <p:oleObj r:id="rId2" imgW="4188403" imgH="2483659" progId="">
                    <p:embed/>
                    <p:pic>
                      <p:nvPicPr>
                        <p:cNvPr id="0" name="Picture 1" descr="image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7" y="6167"/>
                          <a:ext cx="9299" cy="41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8" name="直接箭头连接符 27"/>
            <p:cNvCxnSpPr/>
            <p:nvPr/>
          </p:nvCxnSpPr>
          <p:spPr>
            <a:xfrm flipV="1">
              <a:off x="2864" y="7680"/>
              <a:ext cx="0" cy="3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2864" y="7680"/>
              <a:ext cx="2495" cy="0"/>
            </a:xfrm>
            <a:prstGeom prst="line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5359" y="7680"/>
              <a:ext cx="6577" cy="133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>
              <a:off x="2864" y="7680"/>
              <a:ext cx="9072" cy="126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2864" y="7680"/>
              <a:ext cx="4875" cy="665"/>
            </a:xfrm>
            <a:prstGeom prst="line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>
              <a:off x="5359" y="7680"/>
              <a:ext cx="2380" cy="50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10721" y="8013"/>
              <a:ext cx="0" cy="737"/>
            </a:xfrm>
            <a:prstGeom prst="straightConnector1">
              <a:avLst/>
            </a:prstGeom>
            <a:ln w="31750">
              <a:solidFill>
                <a:srgbClr val="3F0CB3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H="1" flipV="1">
              <a:off x="9180" y="8539"/>
              <a:ext cx="64" cy="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0721" y="6394"/>
              <a:ext cx="0" cy="294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V="1">
              <a:off x="2864" y="7414"/>
              <a:ext cx="2495" cy="2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5359" y="7414"/>
              <a:ext cx="5443" cy="136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7749" y="7995"/>
              <a:ext cx="1474" cy="39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5332" y="7395"/>
              <a:ext cx="2408" cy="6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>
              <a:off x="7757" y="8181"/>
              <a:ext cx="1474" cy="39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>
              <a:off x="7755" y="8353"/>
              <a:ext cx="1474" cy="39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>
              <a:off x="7740" y="7641"/>
              <a:ext cx="1474" cy="39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flipH="1" flipV="1">
              <a:off x="5245" y="6734"/>
              <a:ext cx="5470" cy="1978"/>
            </a:xfrm>
            <a:prstGeom prst="straightConnector1">
              <a:avLst/>
            </a:prstGeom>
            <a:ln w="12700" cmpd="sng">
              <a:solidFill>
                <a:schemeClr val="accent1">
                  <a:shade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5299" y="6762"/>
              <a:ext cx="2438" cy="8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flipV="1">
              <a:off x="2848" y="6794"/>
              <a:ext cx="2495" cy="8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/>
            <p:cNvSpPr/>
            <p:nvPr/>
          </p:nvSpPr>
          <p:spPr>
            <a:xfrm>
              <a:off x="6974" y="7997"/>
              <a:ext cx="57" cy="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箭头连接符 51"/>
            <p:cNvCxnSpPr/>
            <p:nvPr/>
          </p:nvCxnSpPr>
          <p:spPr>
            <a:xfrm flipH="1">
              <a:off x="7692" y="8045"/>
              <a:ext cx="1531" cy="340"/>
            </a:xfrm>
            <a:prstGeom prst="straightConnector1">
              <a:avLst/>
            </a:prstGeom>
            <a:ln w="19050">
              <a:solidFill>
                <a:srgbClr val="3F0CB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 flipH="1">
              <a:off x="5254" y="8392"/>
              <a:ext cx="2438" cy="8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flipH="1" flipV="1">
              <a:off x="2848" y="8365"/>
              <a:ext cx="2438" cy="879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2872" y="8077"/>
              <a:ext cx="0" cy="34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/>
          <p:nvPr/>
        </p:nvCxnSpPr>
        <p:spPr>
          <a:xfrm>
            <a:off x="260667" y="3933056"/>
            <a:ext cx="8622665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1992488" y="3396626"/>
            <a:ext cx="1665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1 2</a:t>
            </a:r>
            <a:r>
              <a:rPr lang="zh-CN" altLang="en-US" dirty="0"/>
              <a:t>次成像法</a:t>
            </a:r>
          </a:p>
        </p:txBody>
      </p:sp>
      <p:sp>
        <p:nvSpPr>
          <p:cNvPr id="80" name="矩形 79"/>
          <p:cNvSpPr/>
          <p:nvPr/>
        </p:nvSpPr>
        <p:spPr>
          <a:xfrm>
            <a:off x="3995936" y="5949280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2 </a:t>
            </a:r>
            <a:r>
              <a:rPr lang="zh-CN" altLang="en-US" dirty="0"/>
              <a:t>自准法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510365" y="3228537"/>
                <a:ext cx="1261499" cy="5981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365" y="3228537"/>
                <a:ext cx="1261499" cy="5981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二</a:t>
            </a:r>
            <a:r>
              <a:rPr lang="zh-CN" altLang="en-US" b="1" dirty="0"/>
              <a:t> 透镜组合</a:t>
            </a:r>
            <a:r>
              <a:rPr lang="zh-CN" altLang="en-US" sz="3600" b="1" dirty="0"/>
              <a:t>（多个透镜组合在一起）</a:t>
            </a:r>
          </a:p>
        </p:txBody>
      </p:sp>
      <p:sp>
        <p:nvSpPr>
          <p:cNvPr id="75" name="标题 1"/>
          <p:cNvSpPr txBox="1"/>
          <p:nvPr/>
        </p:nvSpPr>
        <p:spPr>
          <a:xfrm>
            <a:off x="1619672" y="2132856"/>
            <a:ext cx="252028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显微镜</a:t>
            </a:r>
          </a:p>
        </p:txBody>
      </p:sp>
      <p:sp>
        <p:nvSpPr>
          <p:cNvPr id="76" name="标题 1"/>
          <p:cNvSpPr txBox="1"/>
          <p:nvPr/>
        </p:nvSpPr>
        <p:spPr>
          <a:xfrm>
            <a:off x="1619672" y="3068960"/>
            <a:ext cx="252028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望远镜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显微镜</a:t>
            </a:r>
          </a:p>
        </p:txBody>
      </p:sp>
      <p:sp>
        <p:nvSpPr>
          <p:cNvPr id="5" name="矩形 4"/>
          <p:cNvSpPr/>
          <p:nvPr/>
        </p:nvSpPr>
        <p:spPr>
          <a:xfrm>
            <a:off x="1115616" y="2564904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光学显微镜</a:t>
            </a:r>
          </a:p>
        </p:txBody>
      </p:sp>
      <p:sp>
        <p:nvSpPr>
          <p:cNvPr id="6" name="矩形 5"/>
          <p:cNvSpPr/>
          <p:nvPr/>
        </p:nvSpPr>
        <p:spPr>
          <a:xfrm>
            <a:off x="1115616" y="4221088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电子显微镜</a:t>
            </a:r>
          </a:p>
        </p:txBody>
      </p:sp>
      <p:sp>
        <p:nvSpPr>
          <p:cNvPr id="7" name="矩形 6"/>
          <p:cNvSpPr/>
          <p:nvPr/>
        </p:nvSpPr>
        <p:spPr>
          <a:xfrm>
            <a:off x="539552" y="1412776"/>
            <a:ext cx="79928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物理学，化学，医学上，生物学，材料科学等领域具有重要意义。</a:t>
            </a:r>
          </a:p>
        </p:txBody>
      </p:sp>
      <p:sp>
        <p:nvSpPr>
          <p:cNvPr id="8" name="矩形 7"/>
          <p:cNvSpPr/>
          <p:nvPr/>
        </p:nvSpPr>
        <p:spPr>
          <a:xfrm>
            <a:off x="1979712" y="3284984"/>
            <a:ext cx="60486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普通光学显微镜，暗视场显微镜，偏光显微镜，荧光显微镜等等。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3816424" cy="1143000"/>
          </a:xfrm>
        </p:spPr>
        <p:txBody>
          <a:bodyPr/>
          <a:lstStyle/>
          <a:p>
            <a:pPr algn="l"/>
            <a:r>
              <a:rPr lang="zh-CN" altLang="en-US" dirty="0"/>
              <a:t>显微镜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1412776"/>
            <a:ext cx="79928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普通光学显微镜（明视场光学）成像原理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871700" y="1945124"/>
            <a:ext cx="4824536" cy="4253742"/>
            <a:chOff x="1763688" y="1844824"/>
            <a:chExt cx="3816424" cy="3552825"/>
          </a:xfrm>
        </p:grpSpPr>
        <p:pic>
          <p:nvPicPr>
            <p:cNvPr id="19458" name="Picture 2" descr="C:\Users\zhang\Documents\Tencent Files\579573\Image\Group2\XT\%B\XT%B0WX_O}67T9XL4HGZ{[F.jpg"/>
            <p:cNvPicPr>
              <a:picLocks noChangeAspect="1" noChangeArrowheads="1"/>
            </p:cNvPicPr>
            <p:nvPr/>
          </p:nvPicPr>
          <p:blipFill>
            <a:blip r:embed="rId2" cstate="print"/>
            <a:srcRect r="10763"/>
            <a:stretch>
              <a:fillRect/>
            </a:stretch>
          </p:blipFill>
          <p:spPr bwMode="auto">
            <a:xfrm>
              <a:off x="1763688" y="1844824"/>
              <a:ext cx="3816424" cy="3552825"/>
            </a:xfrm>
            <a:prstGeom prst="rect">
              <a:avLst/>
            </a:prstGeom>
            <a:noFill/>
          </p:spPr>
        </p:pic>
        <p:sp>
          <p:nvSpPr>
            <p:cNvPr id="6" name="矩形 5"/>
            <p:cNvSpPr/>
            <p:nvPr/>
          </p:nvSpPr>
          <p:spPr>
            <a:xfrm>
              <a:off x="4958072" y="1844824"/>
              <a:ext cx="622040" cy="1152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显微镜</a:t>
            </a:r>
          </a:p>
        </p:txBody>
      </p:sp>
      <p:pic>
        <p:nvPicPr>
          <p:cNvPr id="9" name="Picture 2" descr="C:\Users\zhang\Documents\Tencent Files\579573\Image\Group2\B2\T6\B2T6OQ73NV~PID(3WM%NJFR.jpg"/>
          <p:cNvPicPr>
            <a:picLocks noChangeAspect="1" noChangeArrowheads="1"/>
          </p:cNvPicPr>
          <p:nvPr/>
        </p:nvPicPr>
        <p:blipFill>
          <a:blip r:embed="rId2" cstate="print"/>
          <a:srcRect t="9791" r="4914" b="17670"/>
          <a:stretch>
            <a:fillRect/>
          </a:stretch>
        </p:blipFill>
        <p:spPr bwMode="auto">
          <a:xfrm>
            <a:off x="467544" y="1412776"/>
            <a:ext cx="3907448" cy="5302030"/>
          </a:xfrm>
          <a:prstGeom prst="rect">
            <a:avLst/>
          </a:prstGeom>
          <a:noFill/>
        </p:spPr>
      </p:pic>
      <p:pic>
        <p:nvPicPr>
          <p:cNvPr id="10" name="Picture 4" descr="C:\Users\zhang\Documents\Tencent Files\579573\Image\Group2\`8\~V\`8~V9RF361I6B8)IWEJP2B3.jpg"/>
          <p:cNvPicPr>
            <a:picLocks noChangeAspect="1" noChangeArrowheads="1"/>
          </p:cNvPicPr>
          <p:nvPr/>
        </p:nvPicPr>
        <p:blipFill>
          <a:blip r:embed="rId3" cstate="print"/>
          <a:srcRect t="11491" r="5249" b="10870"/>
          <a:stretch>
            <a:fillRect/>
          </a:stretch>
        </p:blipFill>
        <p:spPr bwMode="auto">
          <a:xfrm>
            <a:off x="4860032" y="1440095"/>
            <a:ext cx="3600400" cy="52473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望远镜</a:t>
            </a:r>
          </a:p>
        </p:txBody>
      </p:sp>
      <p:sp>
        <p:nvSpPr>
          <p:cNvPr id="4" name="矩形 3"/>
          <p:cNvSpPr/>
          <p:nvPr/>
        </p:nvSpPr>
        <p:spPr>
          <a:xfrm>
            <a:off x="683568" y="5445224"/>
            <a:ext cx="8186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军事应用，天体的研究，宇宙的探索具有非常重要的意义。</a:t>
            </a:r>
          </a:p>
        </p:txBody>
      </p:sp>
      <p:sp>
        <p:nvSpPr>
          <p:cNvPr id="7" name="矩形 6"/>
          <p:cNvSpPr/>
          <p:nvPr/>
        </p:nvSpPr>
        <p:spPr>
          <a:xfrm>
            <a:off x="5306596" y="305966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开普勒望远镜</a:t>
            </a:r>
          </a:p>
        </p:txBody>
      </p:sp>
      <p:sp>
        <p:nvSpPr>
          <p:cNvPr id="8" name="矩形 7"/>
          <p:cNvSpPr/>
          <p:nvPr/>
        </p:nvSpPr>
        <p:spPr>
          <a:xfrm>
            <a:off x="5306596" y="241159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伽利略望远镜</a:t>
            </a:r>
          </a:p>
        </p:txBody>
      </p:sp>
      <p:sp>
        <p:nvSpPr>
          <p:cNvPr id="9" name="矩形 8"/>
          <p:cNvSpPr/>
          <p:nvPr/>
        </p:nvSpPr>
        <p:spPr>
          <a:xfrm>
            <a:off x="683568" y="1412776"/>
            <a:ext cx="748883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b="1" dirty="0"/>
              <a:t>广义的望远镜 ：光学望远镜，射电望远镜、红外望远镜、</a:t>
            </a:r>
            <a:r>
              <a:rPr lang="en-US" altLang="zh-CN" sz="2600" b="1" dirty="0"/>
              <a:t>X</a:t>
            </a:r>
            <a:r>
              <a:rPr lang="zh-CN" altLang="en-US" sz="2600" b="1" dirty="0"/>
              <a:t>射线和</a:t>
            </a:r>
            <a:r>
              <a:rPr lang="en-US" altLang="zh-CN" sz="2600" b="1" dirty="0"/>
              <a:t>γ</a:t>
            </a:r>
            <a:r>
              <a:rPr lang="zh-CN" altLang="en-US" sz="2600" b="1" dirty="0"/>
              <a:t>射线望远镜。</a:t>
            </a:r>
          </a:p>
        </p:txBody>
      </p:sp>
      <p:sp>
        <p:nvSpPr>
          <p:cNvPr id="10" name="矩形 9"/>
          <p:cNvSpPr/>
          <p:nvPr/>
        </p:nvSpPr>
        <p:spPr>
          <a:xfrm>
            <a:off x="1922220" y="3851756"/>
            <a:ext cx="180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光学望远镜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3938444" y="277163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折射望远镜</a:t>
            </a:r>
          </a:p>
        </p:txBody>
      </p:sp>
      <p:sp>
        <p:nvSpPr>
          <p:cNvPr id="12" name="矩形 11"/>
          <p:cNvSpPr/>
          <p:nvPr/>
        </p:nvSpPr>
        <p:spPr>
          <a:xfrm>
            <a:off x="3938444" y="392376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反射望远镜</a:t>
            </a:r>
          </a:p>
        </p:txBody>
      </p:sp>
      <p:sp>
        <p:nvSpPr>
          <p:cNvPr id="13" name="矩形 12"/>
          <p:cNvSpPr/>
          <p:nvPr/>
        </p:nvSpPr>
        <p:spPr>
          <a:xfrm>
            <a:off x="3938444" y="500388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折反射望远镜</a:t>
            </a:r>
          </a:p>
        </p:txBody>
      </p:sp>
      <p:sp>
        <p:nvSpPr>
          <p:cNvPr id="14" name="左大括号 13"/>
          <p:cNvSpPr/>
          <p:nvPr/>
        </p:nvSpPr>
        <p:spPr>
          <a:xfrm>
            <a:off x="3650412" y="2987660"/>
            <a:ext cx="216024" cy="223224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左大括号 14"/>
          <p:cNvSpPr/>
          <p:nvPr/>
        </p:nvSpPr>
        <p:spPr>
          <a:xfrm>
            <a:off x="5234588" y="2555612"/>
            <a:ext cx="72008" cy="72008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3722420" y="4108430"/>
            <a:ext cx="18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望远镜</a:t>
            </a:r>
          </a:p>
        </p:txBody>
      </p:sp>
      <p:sp>
        <p:nvSpPr>
          <p:cNvPr id="6" name="矩形 5"/>
          <p:cNvSpPr/>
          <p:nvPr/>
        </p:nvSpPr>
        <p:spPr>
          <a:xfrm>
            <a:off x="539552" y="141277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伽利略望远镜成像原理</a:t>
            </a:r>
          </a:p>
        </p:txBody>
      </p:sp>
      <p:sp>
        <p:nvSpPr>
          <p:cNvPr id="7" name="矩形 6"/>
          <p:cNvSpPr/>
          <p:nvPr/>
        </p:nvSpPr>
        <p:spPr>
          <a:xfrm>
            <a:off x="539552" y="422108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开普勒望远镜成像原理</a:t>
            </a:r>
          </a:p>
        </p:txBody>
      </p:sp>
      <p:pic>
        <p:nvPicPr>
          <p:cNvPr id="1028" name="Picture 4" descr="C:\Users\zhang\Documents\Tencent Files\579573\Image\Group2\GN\$(\GN$(Y4U1[DISF61FG@YE43C.jpg"/>
          <p:cNvPicPr>
            <a:picLocks noChangeAspect="1" noChangeArrowheads="1"/>
          </p:cNvPicPr>
          <p:nvPr/>
        </p:nvPicPr>
        <p:blipFill rotWithShape="1">
          <a:blip r:embed="rId2" cstate="print"/>
          <a:srcRect t="8924" r="8964"/>
          <a:stretch>
            <a:fillRect/>
          </a:stretch>
        </p:blipFill>
        <p:spPr bwMode="auto">
          <a:xfrm>
            <a:off x="3707904" y="4135090"/>
            <a:ext cx="4221726" cy="2592288"/>
          </a:xfrm>
          <a:prstGeom prst="rect">
            <a:avLst/>
          </a:prstGeom>
          <a:noFill/>
        </p:spPr>
      </p:pic>
      <p:grpSp>
        <p:nvGrpSpPr>
          <p:cNvPr id="1058" name="组合 1057"/>
          <p:cNvGrpSpPr/>
          <p:nvPr/>
        </p:nvGrpSpPr>
        <p:grpSpPr>
          <a:xfrm>
            <a:off x="3060488" y="235756"/>
            <a:ext cx="5904000" cy="3143279"/>
            <a:chOff x="3060488" y="235756"/>
            <a:chExt cx="5904000" cy="3143279"/>
          </a:xfrm>
        </p:grpSpPr>
        <p:sp>
          <p:nvSpPr>
            <p:cNvPr id="4" name="矩形 3"/>
            <p:cNvSpPr/>
            <p:nvPr/>
          </p:nvSpPr>
          <p:spPr>
            <a:xfrm>
              <a:off x="4010188" y="980728"/>
              <a:ext cx="1281892" cy="9361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40" t="658" r="61760"/>
            <a:stretch>
              <a:fillRect/>
            </a:stretch>
          </p:blipFill>
          <p:spPr>
            <a:xfrm>
              <a:off x="5971968" y="841159"/>
              <a:ext cx="225095" cy="2537876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040" t="12994" r="39080" b="20043"/>
            <a:stretch>
              <a:fillRect/>
            </a:stretch>
          </p:blipFill>
          <p:spPr>
            <a:xfrm>
              <a:off x="7169523" y="1148217"/>
              <a:ext cx="358145" cy="1944216"/>
            </a:xfrm>
            <a:prstGeom prst="rect">
              <a:avLst/>
            </a:prstGeom>
          </p:spPr>
        </p:pic>
        <p:cxnSp>
          <p:nvCxnSpPr>
            <p:cNvPr id="10" name="直接连接符 9"/>
            <p:cNvCxnSpPr/>
            <p:nvPr/>
          </p:nvCxnSpPr>
          <p:spPr>
            <a:xfrm>
              <a:off x="3060488" y="2094747"/>
              <a:ext cx="5904000" cy="0"/>
            </a:xfrm>
            <a:prstGeom prst="line">
              <a:avLst/>
            </a:prstGeom>
            <a:ln w="22225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3131840" y="1412776"/>
              <a:ext cx="0" cy="7200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3131838" y="1412776"/>
              <a:ext cx="2988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6091703" y="1434748"/>
              <a:ext cx="1274345" cy="83625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131838" y="1417638"/>
              <a:ext cx="4211169" cy="937218"/>
            </a:xfrm>
            <a:prstGeom prst="line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3105094" y="1412776"/>
              <a:ext cx="2979074" cy="108000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V="1">
              <a:off x="6047830" y="2492717"/>
              <a:ext cx="1329625" cy="179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7667830" y="2110096"/>
              <a:ext cx="0" cy="396000"/>
            </a:xfrm>
            <a:prstGeom prst="straightConnector1">
              <a:avLst/>
            </a:prstGeom>
            <a:ln w="2222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V="1">
              <a:off x="7343007" y="2486203"/>
              <a:ext cx="324823" cy="6514"/>
            </a:xfrm>
            <a:prstGeom prst="line">
              <a:avLst/>
            </a:prstGeom>
            <a:ln w="222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7377455" y="2362881"/>
              <a:ext cx="259861" cy="89011"/>
            </a:xfrm>
            <a:prstGeom prst="line">
              <a:avLst/>
            </a:prstGeom>
            <a:ln w="222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7377455" y="2276872"/>
              <a:ext cx="273169" cy="175020"/>
            </a:xfrm>
            <a:prstGeom prst="line">
              <a:avLst/>
            </a:prstGeom>
            <a:ln w="222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直接箭头连接符 1026"/>
            <p:cNvCxnSpPr/>
            <p:nvPr/>
          </p:nvCxnSpPr>
          <p:spPr>
            <a:xfrm flipV="1">
              <a:off x="3119398" y="1001581"/>
              <a:ext cx="2978451" cy="40956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直接箭头连接符 1030"/>
            <p:cNvCxnSpPr/>
            <p:nvPr/>
          </p:nvCxnSpPr>
          <p:spPr>
            <a:xfrm>
              <a:off x="6047830" y="980728"/>
              <a:ext cx="1234613" cy="112278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直接连接符 1032"/>
            <p:cNvCxnSpPr/>
            <p:nvPr/>
          </p:nvCxnSpPr>
          <p:spPr>
            <a:xfrm>
              <a:off x="7305484" y="2106515"/>
              <a:ext cx="392543" cy="336615"/>
            </a:xfrm>
            <a:prstGeom prst="line">
              <a:avLst/>
            </a:prstGeom>
            <a:ln w="222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直接箭头连接符 1044"/>
            <p:cNvCxnSpPr/>
            <p:nvPr/>
          </p:nvCxnSpPr>
          <p:spPr>
            <a:xfrm>
              <a:off x="7282443" y="2094747"/>
              <a:ext cx="1033973" cy="902205"/>
            </a:xfrm>
            <a:prstGeom prst="straightConnector1">
              <a:avLst/>
            </a:prstGeom>
            <a:ln w="158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直接箭头连接符 1046"/>
            <p:cNvCxnSpPr/>
            <p:nvPr/>
          </p:nvCxnSpPr>
          <p:spPr>
            <a:xfrm>
              <a:off x="7377455" y="2464463"/>
              <a:ext cx="794945" cy="80588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直接连接符 1049"/>
            <p:cNvCxnSpPr/>
            <p:nvPr/>
          </p:nvCxnSpPr>
          <p:spPr>
            <a:xfrm flipH="1" flipV="1">
              <a:off x="5184353" y="235756"/>
              <a:ext cx="2123952" cy="1910696"/>
            </a:xfrm>
            <a:prstGeom prst="line">
              <a:avLst/>
            </a:prstGeom>
            <a:ln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直接连接符 1054"/>
            <p:cNvCxnSpPr/>
            <p:nvPr/>
          </p:nvCxnSpPr>
          <p:spPr>
            <a:xfrm flipH="1" flipV="1">
              <a:off x="5292080" y="367247"/>
              <a:ext cx="2145939" cy="2178602"/>
            </a:xfrm>
            <a:prstGeom prst="line">
              <a:avLst/>
            </a:prstGeom>
            <a:ln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直接箭头连接符 1056"/>
            <p:cNvCxnSpPr/>
            <p:nvPr/>
          </p:nvCxnSpPr>
          <p:spPr>
            <a:xfrm flipV="1">
              <a:off x="5184353" y="235756"/>
              <a:ext cx="0" cy="1858991"/>
            </a:xfrm>
            <a:prstGeom prst="straightConnector1">
              <a:avLst/>
            </a:prstGeom>
            <a:ln w="22225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zhang\Documents\Tencent Files\579573\Image\Group2\AZ\J7\AZJ7V{AVOMRNZG_7NWB~U)Y.jpg"/>
          <p:cNvPicPr>
            <a:picLocks noChangeAspect="1" noChangeArrowheads="1"/>
          </p:cNvPicPr>
          <p:nvPr/>
        </p:nvPicPr>
        <p:blipFill>
          <a:blip r:embed="rId2" cstate="print"/>
          <a:srcRect r="12321" b="18276"/>
          <a:stretch>
            <a:fillRect/>
          </a:stretch>
        </p:blipFill>
        <p:spPr bwMode="auto">
          <a:xfrm>
            <a:off x="251520" y="188640"/>
            <a:ext cx="3240360" cy="2708920"/>
          </a:xfrm>
          <a:prstGeom prst="rect">
            <a:avLst/>
          </a:prstGeom>
          <a:noFill/>
        </p:spPr>
      </p:pic>
      <p:pic>
        <p:nvPicPr>
          <p:cNvPr id="26628" name="Picture 4" descr="C:\Users\zhang\Documents\Tencent Files\579573\Image\Group2\0G\S1\0GS1UNLZQH~YP(1_EPSH_%V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3861048"/>
            <a:ext cx="3458811" cy="2736304"/>
          </a:xfrm>
          <a:prstGeom prst="rect">
            <a:avLst/>
          </a:prstGeom>
          <a:noFill/>
        </p:spPr>
      </p:pic>
      <p:pic>
        <p:nvPicPr>
          <p:cNvPr id="26630" name="Picture 6" descr="C:\Users\zhang\Documents\Tencent Files\579573\Image\Group2\_2\DM\_2DMQAETMABDBQA)DYHT_6J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7904" y="188640"/>
            <a:ext cx="4248472" cy="2655295"/>
          </a:xfrm>
          <a:prstGeom prst="rect">
            <a:avLst/>
          </a:prstGeom>
          <a:noFill/>
        </p:spPr>
      </p:pic>
      <p:pic>
        <p:nvPicPr>
          <p:cNvPr id="26632" name="Picture 8" descr="C:\Users\zhang\Documents\Tencent Files\579573\Image\Group2\AQ\WB\AQWB(W5[Y8]21@P@YS61$4A.jpg"/>
          <p:cNvPicPr>
            <a:picLocks noChangeAspect="1" noChangeArrowheads="1"/>
          </p:cNvPicPr>
          <p:nvPr/>
        </p:nvPicPr>
        <p:blipFill>
          <a:blip r:embed="rId5" cstate="print"/>
          <a:srcRect t="14734" r="9180" b="25487"/>
          <a:stretch>
            <a:fillRect/>
          </a:stretch>
        </p:blipFill>
        <p:spPr bwMode="auto">
          <a:xfrm>
            <a:off x="6012160" y="2996952"/>
            <a:ext cx="2952328" cy="3456384"/>
          </a:xfrm>
          <a:prstGeom prst="rect">
            <a:avLst/>
          </a:prstGeom>
          <a:noFill/>
        </p:spPr>
      </p:pic>
      <p:pic>
        <p:nvPicPr>
          <p:cNvPr id="26634" name="Picture 10" descr="C:\Users\zhang\Documents\Tencent Files\579573\Image\Group2\$M\MR\$MMR8NZI(8_UG]C67EIN@0Y.jpg"/>
          <p:cNvPicPr>
            <a:picLocks noChangeAspect="1" noChangeArrowheads="1"/>
          </p:cNvPicPr>
          <p:nvPr/>
        </p:nvPicPr>
        <p:blipFill>
          <a:blip r:embed="rId6" cstate="print"/>
          <a:srcRect l="3791" t="45090" r="53586" b="20585"/>
          <a:stretch>
            <a:fillRect/>
          </a:stretch>
        </p:blipFill>
        <p:spPr bwMode="auto">
          <a:xfrm>
            <a:off x="3491880" y="2852936"/>
            <a:ext cx="2664296" cy="38164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显微镜与望远镜</a:t>
            </a:r>
          </a:p>
        </p:txBody>
      </p:sp>
      <p:sp>
        <p:nvSpPr>
          <p:cNvPr id="7" name="矩形 6"/>
          <p:cNvSpPr/>
          <p:nvPr/>
        </p:nvSpPr>
        <p:spPr>
          <a:xfrm>
            <a:off x="5436096" y="2132856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开普勒望远镜成像原理</a:t>
            </a:r>
          </a:p>
        </p:txBody>
      </p:sp>
      <p:pic>
        <p:nvPicPr>
          <p:cNvPr id="1028" name="Picture 4" descr="C:\Users\zhang\Documents\Tencent Files\579573\Image\Group2\GN\$(\GN$(Y4U1[DISF61FG@YE43C.jpg"/>
          <p:cNvPicPr>
            <a:picLocks noChangeAspect="1" noChangeArrowheads="1"/>
          </p:cNvPicPr>
          <p:nvPr/>
        </p:nvPicPr>
        <p:blipFill>
          <a:blip r:embed="rId2" cstate="print"/>
          <a:srcRect r="8964"/>
          <a:stretch>
            <a:fillRect/>
          </a:stretch>
        </p:blipFill>
        <p:spPr bwMode="auto">
          <a:xfrm>
            <a:off x="4499992" y="2996952"/>
            <a:ext cx="4232274" cy="2736304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/>
        </p:nvGrpSpPr>
        <p:grpSpPr>
          <a:xfrm>
            <a:off x="395536" y="2780928"/>
            <a:ext cx="3672408" cy="3312368"/>
            <a:chOff x="1763688" y="1844824"/>
            <a:chExt cx="3816424" cy="3552825"/>
          </a:xfrm>
        </p:grpSpPr>
        <p:pic>
          <p:nvPicPr>
            <p:cNvPr id="9" name="Picture 2" descr="C:\Users\zhang\Documents\Tencent Files\579573\Image\Group2\XT\%B\XT%B0WX_O}67T9XL4HGZ{[F.jpg"/>
            <p:cNvPicPr>
              <a:picLocks noChangeAspect="1" noChangeArrowheads="1"/>
            </p:cNvPicPr>
            <p:nvPr/>
          </p:nvPicPr>
          <p:blipFill>
            <a:blip r:embed="rId3" cstate="print"/>
            <a:srcRect r="10763"/>
            <a:stretch>
              <a:fillRect/>
            </a:stretch>
          </p:blipFill>
          <p:spPr bwMode="auto">
            <a:xfrm>
              <a:off x="1763688" y="1844824"/>
              <a:ext cx="3816424" cy="3552825"/>
            </a:xfrm>
            <a:prstGeom prst="rect">
              <a:avLst/>
            </a:prstGeom>
            <a:noFill/>
          </p:spPr>
        </p:pic>
        <p:sp>
          <p:nvSpPr>
            <p:cNvPr id="10" name="矩形 9"/>
            <p:cNvSpPr/>
            <p:nvPr/>
          </p:nvSpPr>
          <p:spPr>
            <a:xfrm>
              <a:off x="4958072" y="1844824"/>
              <a:ext cx="622040" cy="1152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27584" y="2132856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普通光学显微镜成像原理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4355976" y="2420888"/>
            <a:ext cx="0" cy="4104456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7" t="1" r="11851" b="12550"/>
          <a:stretch/>
        </p:blipFill>
        <p:spPr>
          <a:xfrm>
            <a:off x="4211960" y="246399"/>
            <a:ext cx="1440160" cy="188645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50704" cy="1143000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三 </a:t>
            </a:r>
            <a:r>
              <a:rPr lang="zh-CN" altLang="en-US" b="1" dirty="0"/>
              <a:t>实验仪器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1" r="-400" b="6951"/>
          <a:stretch/>
        </p:blipFill>
        <p:spPr>
          <a:xfrm>
            <a:off x="539552" y="2780928"/>
            <a:ext cx="7560840" cy="3736151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771800" y="1196752"/>
            <a:ext cx="1872208" cy="2376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211960" y="619841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物体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541506" y="3501008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屏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916218" y="3644109"/>
            <a:ext cx="5982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光源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80012" y="1056476"/>
            <a:ext cx="504056" cy="40555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5" idx="6"/>
          </p:cNvCxnSpPr>
          <p:nvPr/>
        </p:nvCxnSpPr>
        <p:spPr>
          <a:xfrm>
            <a:off x="5184068" y="1259252"/>
            <a:ext cx="1476164" cy="657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660232" y="1487686"/>
            <a:ext cx="20882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组装显微镜和望远镜时，关闭光源，将此屏升高，观察字条的望远和显微效果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四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实验内容</a:t>
            </a:r>
          </a:p>
        </p:txBody>
      </p:sp>
      <p:sp>
        <p:nvSpPr>
          <p:cNvPr id="4" name="标题 1"/>
          <p:cNvSpPr txBox="1"/>
          <p:nvPr/>
        </p:nvSpPr>
        <p:spPr>
          <a:xfrm>
            <a:off x="425045" y="1772816"/>
            <a:ext cx="8496944" cy="31683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120000"/>
              </a:lnSpc>
              <a:spcBef>
                <a:spcPct val="0"/>
              </a:spcBef>
            </a:pPr>
            <a:r>
              <a:rPr lang="en-US" altLang="zh-CN" sz="2200" dirty="0">
                <a:solidFill>
                  <a:schemeClr val="tx1"/>
                </a:solidFill>
                <a:latin typeface="+mn-ea"/>
                <a:cs typeface="+mj-cs"/>
                <a:sym typeface="+mn-ea"/>
              </a:rPr>
              <a:t>1</a:t>
            </a:r>
            <a:r>
              <a:rPr lang="en-US" altLang="zh-CN" sz="2200" dirty="0">
                <a:latin typeface="+mn-ea"/>
                <a:cs typeface="+mj-cs"/>
                <a:sym typeface="+mn-ea"/>
              </a:rPr>
              <a:t>.</a:t>
            </a:r>
            <a:r>
              <a:rPr lang="zh-CN" sz="2200" dirty="0">
                <a:latin typeface="+mn-ea"/>
                <a:cs typeface="+mj-cs"/>
                <a:sym typeface="+mn-ea"/>
              </a:rPr>
              <a:t>用</a:t>
            </a:r>
            <a:r>
              <a:rPr lang="zh-CN" altLang="en-US" sz="2200" dirty="0">
                <a:latin typeface="+mn-ea"/>
                <a:cs typeface="+mj-cs"/>
                <a:sym typeface="+mn-ea"/>
              </a:rPr>
              <a:t>一次呈像法测量凸透镜</a:t>
            </a:r>
            <a:r>
              <a:rPr lang="en-US" altLang="zh-CN" sz="2200" dirty="0">
                <a:latin typeface="+mn-ea"/>
                <a:cs typeface="+mj-cs"/>
                <a:sym typeface="+mn-ea"/>
              </a:rPr>
              <a:t>2</a:t>
            </a:r>
            <a:r>
              <a:rPr lang="zh-CN" altLang="en-US" sz="2200" dirty="0">
                <a:latin typeface="+mn-ea"/>
                <a:cs typeface="+mj-cs"/>
                <a:sym typeface="+mn-ea"/>
              </a:rPr>
              <a:t>的焦距，改变物距测量</a:t>
            </a:r>
            <a:r>
              <a:rPr lang="en-US" altLang="zh-CN" sz="2200" dirty="0">
                <a:latin typeface="+mn-ea"/>
                <a:cs typeface="+mj-cs"/>
                <a:sym typeface="+mn-ea"/>
              </a:rPr>
              <a:t>2</a:t>
            </a:r>
            <a:r>
              <a:rPr lang="zh-CN" altLang="en-US" sz="2200" dirty="0">
                <a:latin typeface="+mn-ea"/>
                <a:cs typeface="+mj-cs"/>
                <a:sym typeface="+mn-ea"/>
              </a:rPr>
              <a:t>次。</a:t>
            </a:r>
            <a:endParaRPr lang="en-US" altLang="zh-CN" sz="2200" dirty="0">
              <a:solidFill>
                <a:srgbClr val="FFC000"/>
              </a:solidFill>
              <a:latin typeface="+mn-ea"/>
              <a:cs typeface="+mj-cs"/>
            </a:endParaRPr>
          </a:p>
          <a:p>
            <a:pPr lvl="0">
              <a:lnSpc>
                <a:spcPct val="120000"/>
              </a:lnSpc>
              <a:spcBef>
                <a:spcPct val="0"/>
              </a:spcBef>
            </a:pPr>
            <a:r>
              <a:rPr lang="en-US" altLang="zh-CN" sz="2200" dirty="0">
                <a:latin typeface="+mn-ea"/>
                <a:cs typeface="+mj-cs"/>
              </a:rPr>
              <a:t>2.</a:t>
            </a:r>
            <a:r>
              <a:rPr lang="zh-CN" altLang="en-US" sz="2200" dirty="0">
                <a:latin typeface="+mn-ea"/>
                <a:cs typeface="+mj-cs"/>
              </a:rPr>
              <a:t>用二次</a:t>
            </a:r>
            <a:r>
              <a:rPr lang="zh-CN" altLang="en-US" sz="2200" dirty="0">
                <a:latin typeface="+mn-ea"/>
                <a:sym typeface="+mn-ea"/>
              </a:rPr>
              <a:t>呈</a:t>
            </a:r>
            <a:r>
              <a:rPr lang="zh-CN" altLang="en-US" sz="2200" dirty="0">
                <a:latin typeface="+mn-ea"/>
                <a:cs typeface="+mj-cs"/>
              </a:rPr>
              <a:t>像法测量凸透镜</a:t>
            </a:r>
            <a:r>
              <a:rPr lang="en-US" altLang="zh-CN" sz="2200" dirty="0">
                <a:latin typeface="+mn-ea"/>
                <a:cs typeface="+mj-cs"/>
              </a:rPr>
              <a:t>2</a:t>
            </a:r>
            <a:r>
              <a:rPr lang="zh-CN" altLang="en-US" sz="2200" dirty="0">
                <a:latin typeface="+mn-ea"/>
                <a:cs typeface="+mj-cs"/>
              </a:rPr>
              <a:t>的焦距，改变物</a:t>
            </a:r>
            <a:r>
              <a:rPr lang="en-US" altLang="zh-CN" sz="2200" dirty="0">
                <a:latin typeface="+mn-ea"/>
                <a:cs typeface="+mj-cs"/>
              </a:rPr>
              <a:t>-</a:t>
            </a:r>
            <a:r>
              <a:rPr lang="zh-CN" altLang="en-US" sz="2200" dirty="0">
                <a:latin typeface="+mn-ea"/>
                <a:cs typeface="+mj-cs"/>
              </a:rPr>
              <a:t>屏距离，测量</a:t>
            </a:r>
            <a:r>
              <a:rPr lang="en-US" altLang="zh-CN" sz="2200" dirty="0">
                <a:latin typeface="+mn-ea"/>
                <a:cs typeface="+mj-cs"/>
              </a:rPr>
              <a:t>2</a:t>
            </a:r>
            <a:r>
              <a:rPr lang="zh-CN" altLang="en-US" sz="2200" dirty="0">
                <a:latin typeface="+mn-ea"/>
                <a:cs typeface="+mj-cs"/>
              </a:rPr>
              <a:t>次。</a:t>
            </a:r>
            <a:endParaRPr lang="en-US" altLang="zh-CN" sz="2200" dirty="0">
              <a:latin typeface="+mn-ea"/>
              <a:cs typeface="+mj-cs"/>
            </a:endParaRPr>
          </a:p>
          <a:p>
            <a:pPr lvl="0">
              <a:lnSpc>
                <a:spcPct val="120000"/>
              </a:lnSpc>
              <a:spcBef>
                <a:spcPct val="0"/>
              </a:spcBef>
            </a:pPr>
            <a:r>
              <a:rPr lang="en-US" altLang="zh-CN" sz="2200" dirty="0">
                <a:latin typeface="+mn-ea"/>
              </a:rPr>
              <a:t>3.</a:t>
            </a:r>
            <a:r>
              <a:rPr lang="zh-CN" altLang="en-US" sz="2200" dirty="0">
                <a:latin typeface="+mn-ea"/>
              </a:rPr>
              <a:t>自准法测量凸透镜</a:t>
            </a:r>
            <a:r>
              <a:rPr lang="en-US" altLang="zh-CN" sz="2200" dirty="0">
                <a:latin typeface="+mn-ea"/>
              </a:rPr>
              <a:t>2</a:t>
            </a:r>
            <a:r>
              <a:rPr lang="zh-CN" altLang="en-US" sz="2200" dirty="0">
                <a:latin typeface="+mn-ea"/>
              </a:rPr>
              <a:t>的焦距，测量</a:t>
            </a:r>
            <a:r>
              <a:rPr lang="en-US" altLang="zh-CN" sz="2200" dirty="0">
                <a:latin typeface="+mn-ea"/>
              </a:rPr>
              <a:t>2</a:t>
            </a:r>
            <a:r>
              <a:rPr lang="zh-CN" altLang="en-US" sz="2200" dirty="0">
                <a:latin typeface="+mn-ea"/>
              </a:rPr>
              <a:t>次。</a:t>
            </a:r>
            <a:endParaRPr lang="en-US" altLang="zh-CN" sz="2200" dirty="0">
              <a:latin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200" dirty="0">
                <a:latin typeface="+mn-ea"/>
              </a:rPr>
              <a:t>4.</a:t>
            </a:r>
            <a:r>
              <a:rPr lang="zh-CN" altLang="en-US" sz="2200" dirty="0">
                <a:latin typeface="+mn-ea"/>
              </a:rPr>
              <a:t>用二次</a:t>
            </a:r>
            <a:r>
              <a:rPr lang="zh-CN" altLang="en-US" sz="2200" dirty="0">
                <a:latin typeface="+mn-ea"/>
                <a:sym typeface="+mn-ea"/>
              </a:rPr>
              <a:t>呈</a:t>
            </a:r>
            <a:r>
              <a:rPr lang="zh-CN" altLang="en-US" sz="2200" dirty="0">
                <a:latin typeface="+mn-ea"/>
              </a:rPr>
              <a:t>像法测量凹透镜焦距，测量</a:t>
            </a:r>
            <a:r>
              <a:rPr lang="en-US" altLang="zh-CN" sz="2200" dirty="0">
                <a:latin typeface="+mn-ea"/>
              </a:rPr>
              <a:t>2</a:t>
            </a:r>
            <a:r>
              <a:rPr lang="zh-CN" altLang="en-US" sz="2200" dirty="0">
                <a:latin typeface="+mn-ea"/>
              </a:rPr>
              <a:t>次。</a:t>
            </a:r>
            <a:endParaRPr lang="en-US" altLang="zh-CN" sz="2200" dirty="0">
              <a:latin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200" dirty="0">
                <a:latin typeface="+mn-ea"/>
              </a:rPr>
              <a:t>5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（选做</a:t>
            </a:r>
            <a:r>
              <a:rPr lang="zh-CN" altLang="en-US" sz="2200" dirty="0">
                <a:solidFill>
                  <a:srgbClr val="FF0000"/>
                </a:solidFill>
              </a:rPr>
              <a:t>）</a:t>
            </a:r>
            <a:r>
              <a:rPr lang="zh-CN" altLang="en-US" sz="2200" dirty="0">
                <a:latin typeface="+mn-ea"/>
              </a:rPr>
              <a:t>自组开普勒望远镜，记录物体及各透镜位置，计算</a:t>
            </a:r>
            <a:r>
              <a:rPr lang="en-US" altLang="zh-CN" sz="2200" dirty="0">
                <a:latin typeface="+mn-ea"/>
              </a:rPr>
              <a:t>L</a:t>
            </a:r>
            <a:r>
              <a:rPr lang="zh-CN" altLang="en-US" sz="2200" baseline="-25000" dirty="0">
                <a:latin typeface="+mn-ea"/>
              </a:rPr>
              <a:t>像</a:t>
            </a:r>
            <a:r>
              <a:rPr lang="en-US" altLang="zh-CN" sz="2200" dirty="0">
                <a:latin typeface="+mn-ea"/>
              </a:rPr>
              <a:t>/L</a:t>
            </a:r>
            <a:r>
              <a:rPr lang="zh-CN" altLang="en-US" sz="2200" baseline="-25000" dirty="0">
                <a:latin typeface="+mn-ea"/>
              </a:rPr>
              <a:t>物</a:t>
            </a:r>
            <a:r>
              <a:rPr lang="zh-CN" altLang="en-US" sz="2200" dirty="0">
                <a:latin typeface="+mn-ea"/>
              </a:rPr>
              <a:t>。</a:t>
            </a:r>
            <a:endParaRPr lang="en-US" altLang="zh-CN" sz="2200" dirty="0">
              <a:latin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200" dirty="0">
                <a:latin typeface="+mn-ea"/>
              </a:rPr>
              <a:t>6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（选做</a:t>
            </a:r>
            <a:r>
              <a:rPr lang="zh-CN" altLang="en-US" sz="2200" dirty="0">
                <a:solidFill>
                  <a:srgbClr val="FF0000"/>
                </a:solidFill>
              </a:rPr>
              <a:t>）</a:t>
            </a:r>
            <a:r>
              <a:rPr lang="zh-CN" altLang="en-US" sz="2200" dirty="0">
                <a:latin typeface="+mn-ea"/>
              </a:rPr>
              <a:t>自组显微镜，记录物体及各透镜位置，计算</a:t>
            </a:r>
            <a:r>
              <a:rPr lang="en-US" altLang="zh-CN" sz="2200" dirty="0">
                <a:latin typeface="+mn-ea"/>
              </a:rPr>
              <a:t>L</a:t>
            </a:r>
            <a:r>
              <a:rPr lang="zh-CN" altLang="en-US" sz="2200" baseline="-25000" dirty="0">
                <a:latin typeface="+mn-ea"/>
              </a:rPr>
              <a:t>像</a:t>
            </a:r>
            <a:r>
              <a:rPr lang="en-US" altLang="zh-CN" sz="2200" dirty="0">
                <a:latin typeface="+mn-ea"/>
              </a:rPr>
              <a:t>/L</a:t>
            </a:r>
            <a:r>
              <a:rPr lang="zh-CN" altLang="en-US" sz="2200" baseline="-25000" dirty="0">
                <a:latin typeface="+mn-ea"/>
              </a:rPr>
              <a:t>物</a:t>
            </a:r>
            <a:r>
              <a:rPr lang="zh-CN" altLang="en-US" sz="2200" dirty="0">
                <a:latin typeface="+mn-ea"/>
              </a:rPr>
              <a:t>。</a:t>
            </a:r>
            <a:endParaRPr lang="en-US" altLang="zh-CN" sz="2200" dirty="0">
              <a:latin typeface="+mn-ea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200" dirty="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（选做</a:t>
            </a:r>
            <a:r>
              <a:rPr lang="zh-CN" altLang="en-US" sz="2200" dirty="0">
                <a:solidFill>
                  <a:srgbClr val="FF0000"/>
                </a:solidFill>
              </a:rPr>
              <a:t>）</a:t>
            </a:r>
            <a:r>
              <a:rPr lang="zh-CN" altLang="en-US" sz="2200" dirty="0">
                <a:latin typeface="+mn-ea"/>
              </a:rPr>
              <a:t>自组</a:t>
            </a:r>
            <a:r>
              <a:rPr lang="zh-CN" altLang="en-US" sz="2200" dirty="0">
                <a:solidFill>
                  <a:srgbClr val="FF0000"/>
                </a:solidFill>
                <a:latin typeface="+mn-ea"/>
              </a:rPr>
              <a:t>伽利略</a:t>
            </a:r>
            <a:r>
              <a:rPr lang="zh-CN" altLang="en-US" sz="2200" dirty="0">
                <a:latin typeface="+mn-ea"/>
              </a:rPr>
              <a:t>望远镜，记录物体及各透镜位置，拍照，计算</a:t>
            </a:r>
            <a:r>
              <a:rPr lang="en-US" altLang="zh-CN" sz="2200" dirty="0">
                <a:latin typeface="+mn-ea"/>
              </a:rPr>
              <a:t>L</a:t>
            </a:r>
            <a:r>
              <a:rPr lang="zh-CN" altLang="en-US" sz="2200" baseline="-25000" dirty="0">
                <a:latin typeface="+mn-ea"/>
              </a:rPr>
              <a:t>像</a:t>
            </a:r>
            <a:r>
              <a:rPr lang="en-US" altLang="zh-CN" sz="2200" dirty="0">
                <a:latin typeface="+mn-ea"/>
              </a:rPr>
              <a:t>/L</a:t>
            </a:r>
            <a:r>
              <a:rPr lang="zh-CN" altLang="en-US" sz="2200" baseline="-25000" dirty="0">
                <a:latin typeface="+mn-ea"/>
              </a:rPr>
              <a:t>物</a:t>
            </a:r>
            <a:r>
              <a:rPr lang="zh-CN" altLang="en-US" sz="2200" dirty="0">
                <a:latin typeface="+mn-ea"/>
              </a:rPr>
              <a:t>。</a:t>
            </a:r>
            <a:endParaRPr lang="en-US" altLang="zh-CN" sz="2200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实验仪器整理如下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00" r="1963"/>
          <a:stretch/>
        </p:blipFill>
        <p:spPr>
          <a:xfrm>
            <a:off x="250930" y="1844824"/>
            <a:ext cx="8642139" cy="38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6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11574</TotalTime>
  <Words>445</Words>
  <Application>Microsoft Office PowerPoint</Application>
  <PresentationFormat>全屏显示(4:3)</PresentationFormat>
  <Paragraphs>96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Arial</vt:lpstr>
      <vt:lpstr>Calibri</vt:lpstr>
      <vt:lpstr>Cambria Math</vt:lpstr>
      <vt:lpstr>Franklin Gothic Book</vt:lpstr>
      <vt:lpstr>Franklin Gothic Medium</vt:lpstr>
      <vt:lpstr>Wingdings 2</vt:lpstr>
      <vt:lpstr>暗香扑面</vt:lpstr>
      <vt:lpstr>透镜与透镜组的特性及其应用</vt:lpstr>
      <vt:lpstr>一 常用透镜</vt:lpstr>
      <vt:lpstr>双凸透镜和双凹透镜</vt:lpstr>
      <vt:lpstr>透镜成像</vt:lpstr>
      <vt:lpstr>双凸薄透镜的焦距测量</vt:lpstr>
      <vt:lpstr>双凹薄透镜的焦距测量（成像法测量）</vt:lpstr>
      <vt:lpstr>二 透镜组合（多个透镜组合在一起）</vt:lpstr>
      <vt:lpstr>显微镜</vt:lpstr>
      <vt:lpstr>显微镜</vt:lpstr>
      <vt:lpstr>显微镜</vt:lpstr>
      <vt:lpstr>望远镜</vt:lpstr>
      <vt:lpstr>望远镜</vt:lpstr>
      <vt:lpstr>PowerPoint 演示文稿</vt:lpstr>
      <vt:lpstr>显微镜与望远镜</vt:lpstr>
      <vt:lpstr>三 实验仪器</vt:lpstr>
      <vt:lpstr>四 实验内容</vt:lpstr>
      <vt:lpstr>实验仪器整理如下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透镜与透镜组的特性及其应用</dc:title>
  <dc:creator>Lily Zhang</dc:creator>
  <cp:lastModifiedBy>wangda wangda</cp:lastModifiedBy>
  <cp:revision>95</cp:revision>
  <dcterms:created xsi:type="dcterms:W3CDTF">2021-03-18T12:43:00Z</dcterms:created>
  <dcterms:modified xsi:type="dcterms:W3CDTF">2026-07-07T08:53:07Z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10B5C019D20A4F43B72023DA9163B742</vt:lpwstr>
  </property>
  <property fmtid="{D5CDD505-2E9C-101B-9397-08002B2CF9AE}" pid="3" name="KSOProductBuildVer">
    <vt:lpwstr>2052-11.1.0.11405</vt:lpwstr>
  </property>
</Properties>
</file>