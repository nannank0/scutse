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42"/>
  </p:handoutMasterIdLst>
  <p:sldIdLst>
    <p:sldId id="651" r:id="rId3"/>
    <p:sldId id="812" r:id="rId4"/>
    <p:sldId id="882" r:id="rId5"/>
    <p:sldId id="883" r:id="rId6"/>
    <p:sldId id="884" r:id="rId8"/>
    <p:sldId id="885" r:id="rId9"/>
    <p:sldId id="886" r:id="rId10"/>
    <p:sldId id="887" r:id="rId11"/>
    <p:sldId id="888" r:id="rId12"/>
    <p:sldId id="889" r:id="rId13"/>
    <p:sldId id="890" r:id="rId14"/>
    <p:sldId id="891" r:id="rId15"/>
    <p:sldId id="892" r:id="rId16"/>
    <p:sldId id="893" r:id="rId17"/>
    <p:sldId id="920" r:id="rId18"/>
    <p:sldId id="924" r:id="rId19"/>
    <p:sldId id="894" r:id="rId20"/>
    <p:sldId id="921" r:id="rId21"/>
    <p:sldId id="896" r:id="rId22"/>
    <p:sldId id="897" r:id="rId23"/>
    <p:sldId id="922" r:id="rId24"/>
    <p:sldId id="898" r:id="rId25"/>
    <p:sldId id="899" r:id="rId26"/>
    <p:sldId id="923" r:id="rId27"/>
    <p:sldId id="900" r:id="rId28"/>
    <p:sldId id="901" r:id="rId29"/>
    <p:sldId id="902" r:id="rId30"/>
    <p:sldId id="903" r:id="rId31"/>
    <p:sldId id="904" r:id="rId32"/>
    <p:sldId id="925" r:id="rId33"/>
    <p:sldId id="906" r:id="rId34"/>
    <p:sldId id="909" r:id="rId35"/>
    <p:sldId id="927" r:id="rId36"/>
    <p:sldId id="926" r:id="rId37"/>
    <p:sldId id="910" r:id="rId38"/>
    <p:sldId id="912" r:id="rId39"/>
    <p:sldId id="908" r:id="rId40"/>
    <p:sldId id="810" r:id="rId41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5D26F8"/>
    <a:srgbClr val="CC0000"/>
    <a:srgbClr val="3A3AB9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>
      <p:cViewPr varScale="1">
        <p:scale>
          <a:sx n="85" d="100"/>
          <a:sy n="85" d="100"/>
        </p:scale>
        <p:origin x="277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ED621F-54EF-4661-8C6A-654F8D1B7D07}" type="slidenum">
              <a:rPr lang="en-US" altLang="zh-CN" sz="1200" smtClean="0">
                <a:latin typeface="Times New Roman" panose="02020603050405020304" pitchFamily="18" charset="0"/>
              </a:rPr>
            </a:fld>
            <a:endParaRPr lang="en-US" altLang="zh-CN" sz="1200" smtClean="0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0CAEB8-C8BE-4CB1-864D-17CF9049C16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A93C88-19E7-4008-80FB-9CD5A828B8B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0866AE-C5E8-49E8-B0A7-30DAC0A7FE5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06209C-CAB2-4BF8-9790-BF2660AA04D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2AE709-9D55-4410-8522-CEDA940D72B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3C628C-86AE-4058-95F3-D6FD7B6BD93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FFC24D-FD13-469C-B1CF-35CC3CDC377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B261DD-F3E9-4FB2-9D43-87A68FE8BB0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742C03-436E-4876-B76B-6D36131E6C9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841FF3-91DC-4033-AB7E-7E5325D161F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003F4-2379-4115-8F26-1CD6720D61B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AB48865B-49E5-4E97-BBA7-D6CB1E2E91C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Heaps &amp; Priority Queues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Sitka Small" panose="02000505000000020004" pitchFamily="2" charset="0"/>
              </a:rPr>
              <a:t>Content</a:t>
            </a:r>
            <a:endParaRPr lang="zh-CN" altLang="en-US" dirty="0">
              <a:latin typeface="Sitka Small" panose="02000505000000020004" pitchFamily="2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Binary Heaps</a:t>
            </a:r>
            <a:endParaRPr lang="en-US" altLang="zh-CN" sz="2800" dirty="0" smtClean="0">
              <a:latin typeface="Sitka Text" panose="02000505000000020004" pitchFamily="2" charset="0"/>
            </a:endParaRPr>
          </a:p>
          <a:p>
            <a:r>
              <a:rPr lang="en-US" altLang="zh-CN" sz="2800" dirty="0" smtClean="0">
                <a:latin typeface="Sitka Text" panose="02000505000000020004" pitchFamily="2" charset="0"/>
              </a:rPr>
              <a:t>Hashing</a:t>
            </a:r>
            <a:endParaRPr lang="zh-CN" altLang="en-US" sz="2800" dirty="0">
              <a:latin typeface="Sitka Text" panose="02000505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D8C2D9-939A-424E-98E7-C4F6DD3E8A3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14350" y="3714750"/>
            <a:ext cx="5829300" cy="857250"/>
          </a:xfrm>
        </p:spPr>
        <p:txBody>
          <a:bodyPr anchor="ctr"/>
          <a:lstStyle/>
          <a:p>
            <a:r>
              <a:rPr lang="en-US" altLang="zh-CN" sz="3300" dirty="0">
                <a:solidFill>
                  <a:srgbClr val="FF0000"/>
                </a:solidFill>
                <a:ea typeface="SimSun" panose="02010600030101010101" pitchFamily="2" charset="-122"/>
              </a:rPr>
              <a:t>Binary Heaps</a:t>
            </a:r>
            <a:endParaRPr lang="en-US" altLang="zh-CN" sz="3300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5123" name="副标题 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585979-157F-4E3C-9667-9A88C3A53C0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C5E99-FF6C-4780-942A-A4208192E1FE}" type="slidenum">
              <a:rPr lang="en-US" altLang="zh-CN" sz="1050"/>
            </a:fld>
            <a:endParaRPr lang="en-US" altLang="zh-CN" sz="105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Readings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anose="02010600030101010101" pitchFamily="2" charset="-122"/>
              </a:rPr>
              <a:t>Reading 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spcBef>
                <a:spcPts val="395"/>
              </a:spcBef>
              <a:spcAft>
                <a:spcPts val="395"/>
              </a:spcAft>
            </a:pPr>
            <a:r>
              <a:rPr lang="en-US" altLang="zh-CN" dirty="0">
                <a:ea typeface="SimSun" panose="02010600030101010101" pitchFamily="2" charset="-122"/>
              </a:rPr>
              <a:t>Sections 6.1-6.4</a:t>
            </a:r>
            <a:endParaRPr lang="en-US" altLang="zh-CN" sz="3200" dirty="0" smtClean="0">
              <a:ea typeface="SimSun" panose="02010600030101010101" pitchFamily="2" charset="-122"/>
            </a:endParaRPr>
          </a:p>
          <a:p>
            <a:pPr lvl="1">
              <a:spcBef>
                <a:spcPts val="395"/>
              </a:spcBef>
              <a:spcAft>
                <a:spcPts val="395"/>
              </a:spcAft>
            </a:pPr>
            <a:endParaRPr lang="en-US" altLang="zh-CN" sz="150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5E7B0E-9785-45E8-961A-14869ADC66B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0091D1-8DFC-4FD7-9E7E-3A522FC9B17F}" type="slidenum">
              <a:rPr lang="en-US" altLang="zh-CN" sz="1050"/>
            </a:fld>
            <a:endParaRPr lang="en-US" altLang="zh-CN" sz="105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Revisiting </a:t>
            </a:r>
            <a:r>
              <a:rPr lang="en-US" altLang="zh-CN" dirty="0" err="1" smtClean="0">
                <a:ea typeface="SimSun" panose="02010600030101010101" pitchFamily="2" charset="-122"/>
              </a:rPr>
              <a:t>FindMin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Application: Find the smallest ( or highest priority) item quickly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solidFill>
                  <a:srgbClr val="263AF8"/>
                </a:solidFill>
                <a:ea typeface="SimSun" panose="02010600030101010101" pitchFamily="2" charset="-122"/>
              </a:rPr>
              <a:t>Operating system </a:t>
            </a:r>
            <a:r>
              <a:rPr lang="en-US" altLang="zh-CN" dirty="0" smtClean="0">
                <a:ea typeface="SimSun" panose="02010600030101010101" pitchFamily="2" charset="-122"/>
              </a:rPr>
              <a:t>needs to schedule jobs according to priority instead of FIFO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solidFill>
                  <a:srgbClr val="263AF8"/>
                </a:solidFill>
                <a:ea typeface="SimSun" panose="02010600030101010101" pitchFamily="2" charset="-122"/>
              </a:rPr>
              <a:t>Event simulation </a:t>
            </a:r>
            <a:r>
              <a:rPr lang="en-US" altLang="zh-CN" dirty="0" smtClean="0">
                <a:ea typeface="SimSun" panose="02010600030101010101" pitchFamily="2" charset="-122"/>
              </a:rPr>
              <a:t>(bank customers arriving and departing, ordered according to when the event happened)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solidFill>
                  <a:srgbClr val="263AF8"/>
                </a:solidFill>
                <a:ea typeface="SimSun" panose="02010600030101010101" pitchFamily="2" charset="-122"/>
              </a:rPr>
              <a:t>Find</a:t>
            </a:r>
            <a:r>
              <a:rPr lang="en-US" altLang="zh-CN" dirty="0" smtClean="0">
                <a:ea typeface="SimSun" panose="02010600030101010101" pitchFamily="2" charset="-122"/>
              </a:rPr>
              <a:t> student with highest grade, employee with highest salary etc.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9BF3A0-A740-41D9-BD8D-7CD87184575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360EC3-4AFE-40FE-B882-E7951EA21CD0}" type="slidenum">
              <a:rPr lang="en-US" altLang="zh-CN" sz="1050"/>
            </a:fld>
            <a:endParaRPr lang="en-US" altLang="zh-CN" sz="105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Priority Queue ADT 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Priority Queue can efficiently do: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 (and </a:t>
            </a:r>
            <a:r>
              <a:rPr lang="en-US" altLang="zh-CN" dirty="0" err="1">
                <a:ea typeface="SimSun" panose="02010600030101010101" pitchFamily="2" charset="-122"/>
              </a:rPr>
              <a:t>DeleteMin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Insert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What if we use…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Lists:</a:t>
            </a:r>
            <a:r>
              <a:rPr lang="en-US" altLang="zh-CN" dirty="0">
                <a:ea typeface="SimSun" panose="02010600030101010101" pitchFamily="2" charset="-122"/>
              </a:rPr>
              <a:t> If sorted, what is the run time for Insert and </a:t>
            </a: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? Unsorted?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Binary Search Trees: </a:t>
            </a:r>
            <a:r>
              <a:rPr lang="en-US" altLang="zh-CN" dirty="0">
                <a:ea typeface="SimSun" panose="02010600030101010101" pitchFamily="2" charset="-122"/>
              </a:rPr>
              <a:t>What is the run time for Insert and </a:t>
            </a: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? 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Hash Tables: </a:t>
            </a:r>
            <a:r>
              <a:rPr lang="en-US" altLang="zh-CN" dirty="0">
                <a:ea typeface="SimSun" panose="02010600030101010101" pitchFamily="2" charset="-122"/>
              </a:rPr>
              <a:t>What is the run time for Insert and </a:t>
            </a: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? 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8F9A2-8BA6-4033-B48D-32F0DAA4CC5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5430E5-091D-4591-988C-3457A73FC108}" type="slidenum">
              <a:rPr lang="en-US" altLang="zh-CN" sz="1050"/>
            </a:fld>
            <a:endParaRPr lang="en-US" altLang="zh-CN" sz="105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Less flexibility </a:t>
            </a:r>
            <a:r>
              <a:rPr lang="en-US" altLang="zh-CN" dirty="0" smtClean="0">
                <a:ea typeface="SimSun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dirty="0" smtClean="0">
                <a:ea typeface="SimSun" panose="02010600030101010101" pitchFamily="2" charset="-122"/>
              </a:rPr>
              <a:t>More speed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2627784"/>
            <a:ext cx="6057900" cy="394446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Lists</a:t>
            </a:r>
            <a:endParaRPr lang="en-US" altLang="zh-CN" dirty="0">
              <a:solidFill>
                <a:srgbClr val="263AF8"/>
              </a:solidFill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If sorted: </a:t>
            </a: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 is O(1) but Insert is O(N)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If not sorted: Insert is O(1) but </a:t>
            </a: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 is O(N</a:t>
            </a:r>
            <a:r>
              <a:rPr lang="en-US" altLang="zh-CN" dirty="0" smtClean="0">
                <a:ea typeface="SimSun" panose="02010600030101010101" pitchFamily="2" charset="-122"/>
              </a:rPr>
              <a:t>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Balanced Binary Search Trees </a:t>
            </a:r>
            <a:r>
              <a:rPr lang="en-US" altLang="zh-CN" dirty="0">
                <a:ea typeface="SimSun" panose="02010600030101010101" pitchFamily="2" charset="-122"/>
              </a:rPr>
              <a:t>(BSTs)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Insert is O(log N) and </a:t>
            </a:r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 is O(log N</a:t>
            </a:r>
            <a:r>
              <a:rPr lang="en-US" altLang="zh-CN" dirty="0" smtClean="0">
                <a:ea typeface="SimSun" panose="02010600030101010101" pitchFamily="2" charset="-122"/>
              </a:rPr>
              <a:t>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Hash Tables</a:t>
            </a:r>
            <a:endParaRPr lang="en-US" altLang="zh-CN" dirty="0">
              <a:solidFill>
                <a:srgbClr val="263AF8"/>
              </a:solidFill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Insert O(1) but no hope for </a:t>
            </a:r>
            <a:r>
              <a:rPr lang="en-US" altLang="zh-CN" dirty="0" err="1" smtClean="0">
                <a:ea typeface="SimSun" panose="02010600030101010101" pitchFamily="2" charset="-122"/>
              </a:rPr>
              <a:t>FindMin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BSTs look good but…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BSTs are efficient for all Finds, not just </a:t>
            </a:r>
            <a:r>
              <a:rPr lang="en-US" altLang="zh-CN" dirty="0" err="1">
                <a:solidFill>
                  <a:srgbClr val="FF0000"/>
                </a:solidFill>
                <a:ea typeface="SimSun" panose="02010600030101010101" pitchFamily="2" charset="-122"/>
              </a:rPr>
              <a:t>FindMin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We only need </a:t>
            </a:r>
            <a:r>
              <a:rPr lang="en-US" altLang="zh-CN" dirty="0" err="1">
                <a:solidFill>
                  <a:srgbClr val="FF0000"/>
                </a:solidFill>
                <a:ea typeface="SimSun" panose="02010600030101010101" pitchFamily="2" charset="-122"/>
              </a:rPr>
              <a:t>FindMin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8FBCBA-119D-4412-ADFE-A10971790E0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85457C-8004-4CED-ACF5-35A75422645A}" type="slidenum">
              <a:rPr lang="en-US" altLang="zh-CN" sz="1050"/>
            </a:fld>
            <a:endParaRPr lang="en-US" altLang="zh-CN" sz="105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Better than a speeding BST</a:t>
            </a:r>
            <a:endParaRPr lang="en-US" altLang="zh-CN" smtClean="0">
              <a:ea typeface="SimSun" panose="02010600030101010101" pitchFamily="2" charset="-122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915816"/>
            <a:ext cx="5943600" cy="365643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We can do better than Balanced Binary Search Trees?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Very limited requirements: Insert, </a:t>
            </a:r>
            <a:r>
              <a:rPr lang="en-US" altLang="zh-CN" dirty="0" err="1" smtClean="0">
                <a:solidFill>
                  <a:srgbClr val="FF0000"/>
                </a:solidFill>
                <a:ea typeface="SimSun" panose="02010600030101010101" pitchFamily="2" charset="-122"/>
              </a:rPr>
              <a:t>FindMin</a:t>
            </a: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, </a:t>
            </a:r>
            <a:r>
              <a:rPr lang="en-US" altLang="zh-CN" dirty="0" err="1" smtClean="0">
                <a:solidFill>
                  <a:srgbClr val="FF0000"/>
                </a:solidFill>
                <a:ea typeface="SimSun" panose="02010600030101010101" pitchFamily="2" charset="-122"/>
              </a:rPr>
              <a:t>DeleteMin</a:t>
            </a:r>
            <a:r>
              <a:rPr lang="en-US" altLang="zh-CN" dirty="0" smtClean="0">
                <a:solidFill>
                  <a:srgbClr val="FFFF00"/>
                </a:solidFill>
                <a:ea typeface="SimSun" panose="02010600030101010101" pitchFamily="2" charset="-122"/>
              </a:rPr>
              <a:t>.</a:t>
            </a:r>
            <a:r>
              <a:rPr lang="en-US" altLang="zh-CN" dirty="0" smtClean="0">
                <a:ea typeface="SimSun" panose="02010600030101010101" pitchFamily="2" charset="-122"/>
              </a:rPr>
              <a:t> 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The goals are: </a:t>
            </a:r>
            <a:r>
              <a:rPr lang="en-US" altLang="zh-CN" dirty="0" err="1" smtClean="0">
                <a:solidFill>
                  <a:srgbClr val="263AF8"/>
                </a:solidFill>
                <a:ea typeface="SimSun" panose="02010600030101010101" pitchFamily="2" charset="-122"/>
              </a:rPr>
              <a:t>FindMin</a:t>
            </a:r>
            <a:r>
              <a:rPr lang="en-US" altLang="zh-CN" dirty="0" smtClean="0">
                <a:solidFill>
                  <a:srgbClr val="263AF8"/>
                </a:solidFill>
                <a:ea typeface="SimSun" panose="02010600030101010101" pitchFamily="2" charset="-122"/>
              </a:rPr>
              <a:t> is O(1)</a:t>
            </a:r>
            <a:endParaRPr lang="en-US" altLang="zh-CN" dirty="0" smtClean="0">
              <a:solidFill>
                <a:srgbClr val="263AF8"/>
              </a:solidFill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Insert is O(log N)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err="1" smtClean="0">
                <a:ea typeface="SimSun" panose="02010600030101010101" pitchFamily="2" charset="-122"/>
              </a:rPr>
              <a:t>DeleteMin</a:t>
            </a:r>
            <a:r>
              <a:rPr lang="en-US" altLang="zh-CN" dirty="0" smtClean="0">
                <a:ea typeface="SimSun" panose="02010600030101010101" pitchFamily="2" charset="-122"/>
              </a:rPr>
              <a:t> is O(log N)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SimSun" panose="02010600030101010101" pitchFamily="2" charset="-122"/>
            </a:endParaRPr>
          </a:p>
          <a:p>
            <a:endParaRPr lang="en-US" altLang="zh-CN" dirty="0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A07C84-5187-4E10-A7E4-AC7EE7F4DAF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49CD87-A909-44F0-B1BF-5470F45867E9}" type="slidenum">
              <a:rPr lang="en-US" altLang="zh-CN" sz="1050"/>
            </a:fld>
            <a:endParaRPr lang="en-US" altLang="zh-CN" sz="105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Binary Heaps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2771800"/>
            <a:ext cx="6229350" cy="380045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zh-CN" dirty="0">
                <a:ea typeface="SimSun" panose="02010600030101010101" pitchFamily="2" charset="-122"/>
              </a:rPr>
              <a:t>A binary heap is a binary tree (NOT a BST) that is:</a:t>
            </a:r>
            <a:endParaRPr lang="en-US" altLang="zh-CN" dirty="0">
              <a:ea typeface="SimSun" panose="02010600030101010101" pitchFamily="2" charset="-122"/>
            </a:endParaRPr>
          </a:p>
          <a:p>
            <a:pPr marL="714375" lvl="1" indent="-285750"/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Complete</a:t>
            </a:r>
            <a:r>
              <a:rPr lang="en-US" altLang="zh-CN" dirty="0">
                <a:ea typeface="SimSun" panose="02010600030101010101" pitchFamily="2" charset="-122"/>
              </a:rPr>
              <a:t>: the tree is completely filled except possibly the bottom level, which is filled from left to right</a:t>
            </a:r>
            <a:endParaRPr lang="en-US" altLang="zh-CN" dirty="0">
              <a:ea typeface="SimSun" panose="02010600030101010101" pitchFamily="2" charset="-122"/>
            </a:endParaRPr>
          </a:p>
          <a:p>
            <a:pPr marL="714375" lvl="1" indent="-285750"/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Satisfies the heap order property</a:t>
            </a:r>
            <a:endParaRPr lang="en-US" altLang="zh-CN" dirty="0">
              <a:solidFill>
                <a:srgbClr val="263AF8"/>
              </a:solidFill>
              <a:ea typeface="SimSun" panose="02010600030101010101" pitchFamily="2" charset="-122"/>
            </a:endParaRPr>
          </a:p>
          <a:p>
            <a:pPr marL="929005" lvl="2" indent="-285750"/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every node is less than or equal to its children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marL="929005" lvl="2" indent="-285750"/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or every node is greater than or equal to its children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marL="342900" indent="-342900"/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The root node is always the smallest node</a:t>
            </a:r>
            <a:endParaRPr lang="en-US" altLang="zh-CN" dirty="0">
              <a:solidFill>
                <a:srgbClr val="263AF8"/>
              </a:solidFill>
              <a:ea typeface="SimSun" panose="02010600030101010101" pitchFamily="2" charset="-122"/>
            </a:endParaRPr>
          </a:p>
          <a:p>
            <a:pPr marL="714375" lvl="1" indent="-285750"/>
            <a:r>
              <a:rPr lang="en-US" altLang="zh-CN" dirty="0">
                <a:ea typeface="SimSun" panose="02010600030101010101" pitchFamily="2" charset="-122"/>
              </a:rPr>
              <a:t>or the largest, depending on the heap order</a:t>
            </a:r>
            <a:endParaRPr lang="en-US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0CFCC0-6142-4C67-B903-C09B0CD20B1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BE8ACB-BDEB-491D-B26A-72D204192F3F}" type="slidenum">
              <a:rPr lang="en-US" altLang="zh-CN" sz="1050"/>
            </a:fld>
            <a:endParaRPr lang="en-US" altLang="zh-CN" sz="1050"/>
          </a:p>
        </p:txBody>
      </p:sp>
      <p:sp>
        <p:nvSpPr>
          <p:cNvPr id="1331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Heap order property</a:t>
            </a:r>
            <a:endParaRPr lang="en-US" altLang="zh-CN" dirty="0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133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00050" y="2471707"/>
            <a:ext cx="6057900" cy="2386043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A heap provides limited ordering information</a:t>
            </a:r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Each </a:t>
            </a:r>
            <a:r>
              <a:rPr lang="en-US" altLang="zh-CN" i="1" dirty="0">
                <a:solidFill>
                  <a:srgbClr val="263AF8"/>
                </a:solidFill>
                <a:ea typeface="SimSun" panose="02010600030101010101" pitchFamily="2" charset="-122"/>
              </a:rPr>
              <a:t>path</a:t>
            </a:r>
            <a:r>
              <a:rPr lang="en-US" altLang="zh-CN" dirty="0">
                <a:ea typeface="SimSun" panose="02010600030101010101" pitchFamily="2" charset="-122"/>
              </a:rPr>
              <a:t> is sorted, but the subtrees are not sorted relative to each other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A binary heap is NOT a binary search tree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51" name="Oval 1028"/>
          <p:cNvSpPr>
            <a:spLocks noChangeArrowheads="1"/>
          </p:cNvSpPr>
          <p:nvPr/>
        </p:nvSpPr>
        <p:spPr bwMode="auto">
          <a:xfrm>
            <a:off x="1330424" y="5412435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52" name="Text Box 1029"/>
          <p:cNvSpPr txBox="1">
            <a:spLocks noChangeArrowheads="1"/>
          </p:cNvSpPr>
          <p:nvPr/>
        </p:nvSpPr>
        <p:spPr bwMode="auto">
          <a:xfrm>
            <a:off x="1335187" y="535528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3" name="Line 1030"/>
          <p:cNvSpPr>
            <a:spLocks noChangeShapeType="1"/>
          </p:cNvSpPr>
          <p:nvPr/>
        </p:nvSpPr>
        <p:spPr bwMode="auto">
          <a:xfrm flipH="1">
            <a:off x="1187549" y="5720410"/>
            <a:ext cx="195263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1031"/>
          <p:cNvSpPr>
            <a:spLocks noChangeShapeType="1"/>
          </p:cNvSpPr>
          <p:nvPr/>
        </p:nvSpPr>
        <p:spPr bwMode="auto">
          <a:xfrm flipH="1" flipV="1">
            <a:off x="1608237" y="5718823"/>
            <a:ext cx="195262" cy="328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Oval 1032"/>
          <p:cNvSpPr>
            <a:spLocks noChangeArrowheads="1"/>
          </p:cNvSpPr>
          <p:nvPr/>
        </p:nvSpPr>
        <p:spPr bwMode="auto">
          <a:xfrm>
            <a:off x="917674" y="602679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56" name="Text Box 1033"/>
          <p:cNvSpPr txBox="1">
            <a:spLocks noChangeArrowheads="1"/>
          </p:cNvSpPr>
          <p:nvPr/>
        </p:nvSpPr>
        <p:spPr bwMode="auto">
          <a:xfrm>
            <a:off x="922437" y="596964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7" name="Oval 1034"/>
          <p:cNvSpPr>
            <a:spLocks noChangeArrowheads="1"/>
          </p:cNvSpPr>
          <p:nvPr/>
        </p:nvSpPr>
        <p:spPr bwMode="auto">
          <a:xfrm>
            <a:off x="1678087" y="600774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58" name="Text Box 1035"/>
          <p:cNvSpPr txBox="1">
            <a:spLocks noChangeArrowheads="1"/>
          </p:cNvSpPr>
          <p:nvPr/>
        </p:nvSpPr>
        <p:spPr bwMode="auto">
          <a:xfrm>
            <a:off x="1682849" y="595059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9" name="Oval 1036"/>
          <p:cNvSpPr>
            <a:spLocks noChangeArrowheads="1"/>
          </p:cNvSpPr>
          <p:nvPr/>
        </p:nvSpPr>
        <p:spPr bwMode="auto">
          <a:xfrm>
            <a:off x="608112" y="675704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60" name="Text Box 1037"/>
          <p:cNvSpPr txBox="1">
            <a:spLocks noChangeArrowheads="1"/>
          </p:cNvSpPr>
          <p:nvPr/>
        </p:nvSpPr>
        <p:spPr bwMode="auto">
          <a:xfrm>
            <a:off x="612874" y="669989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1" name="Line 1038"/>
          <p:cNvSpPr>
            <a:spLocks noChangeShapeType="1"/>
          </p:cNvSpPr>
          <p:nvPr/>
        </p:nvSpPr>
        <p:spPr bwMode="auto">
          <a:xfrm flipH="1">
            <a:off x="808137" y="6368110"/>
            <a:ext cx="246062" cy="411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Oval 1039"/>
          <p:cNvSpPr>
            <a:spLocks noChangeArrowheads="1"/>
          </p:cNvSpPr>
          <p:nvPr/>
        </p:nvSpPr>
        <p:spPr bwMode="auto">
          <a:xfrm>
            <a:off x="1103412" y="677609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63" name="Line 1040"/>
          <p:cNvSpPr>
            <a:spLocks noChangeShapeType="1"/>
          </p:cNvSpPr>
          <p:nvPr/>
        </p:nvSpPr>
        <p:spPr bwMode="auto">
          <a:xfrm>
            <a:off x="1084362" y="6377635"/>
            <a:ext cx="144462" cy="411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Text Box 1041"/>
          <p:cNvSpPr txBox="1">
            <a:spLocks noChangeArrowheads="1"/>
          </p:cNvSpPr>
          <p:nvPr/>
        </p:nvSpPr>
        <p:spPr bwMode="auto">
          <a:xfrm>
            <a:off x="1109762" y="670148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5" name="Oval 1042"/>
          <p:cNvSpPr>
            <a:spLocks noChangeArrowheads="1"/>
          </p:cNvSpPr>
          <p:nvPr/>
        </p:nvSpPr>
        <p:spPr bwMode="auto">
          <a:xfrm>
            <a:off x="3548956" y="520606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66" name="Text Box 1043"/>
          <p:cNvSpPr txBox="1">
            <a:spLocks noChangeArrowheads="1"/>
          </p:cNvSpPr>
          <p:nvPr/>
        </p:nvSpPr>
        <p:spPr bwMode="auto">
          <a:xfrm>
            <a:off x="3520381" y="5126685"/>
            <a:ext cx="560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-1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7" name="Line 1044"/>
          <p:cNvSpPr>
            <a:spLocks noChangeShapeType="1"/>
          </p:cNvSpPr>
          <p:nvPr/>
        </p:nvSpPr>
        <p:spPr bwMode="auto">
          <a:xfrm flipH="1">
            <a:off x="3406081" y="5514035"/>
            <a:ext cx="195262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045"/>
          <p:cNvSpPr>
            <a:spLocks noChangeShapeType="1"/>
          </p:cNvSpPr>
          <p:nvPr/>
        </p:nvSpPr>
        <p:spPr bwMode="auto">
          <a:xfrm flipH="1" flipV="1">
            <a:off x="3826768" y="5512448"/>
            <a:ext cx="195263" cy="328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Oval 1046"/>
          <p:cNvSpPr>
            <a:spLocks noChangeArrowheads="1"/>
          </p:cNvSpPr>
          <p:nvPr/>
        </p:nvSpPr>
        <p:spPr bwMode="auto">
          <a:xfrm>
            <a:off x="3136206" y="5820423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70" name="Text Box 1047"/>
          <p:cNvSpPr txBox="1">
            <a:spLocks noChangeArrowheads="1"/>
          </p:cNvSpPr>
          <p:nvPr/>
        </p:nvSpPr>
        <p:spPr bwMode="auto">
          <a:xfrm>
            <a:off x="3140968" y="5763273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1" name="Oval 1048"/>
          <p:cNvSpPr>
            <a:spLocks noChangeArrowheads="1"/>
          </p:cNvSpPr>
          <p:nvPr/>
        </p:nvSpPr>
        <p:spPr bwMode="auto">
          <a:xfrm>
            <a:off x="3896618" y="580137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72" name="Text Box 1049"/>
          <p:cNvSpPr txBox="1">
            <a:spLocks noChangeArrowheads="1"/>
          </p:cNvSpPr>
          <p:nvPr/>
        </p:nvSpPr>
        <p:spPr bwMode="auto">
          <a:xfrm>
            <a:off x="3901381" y="5744223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3" name="Oval 1050"/>
          <p:cNvSpPr>
            <a:spLocks noChangeArrowheads="1"/>
          </p:cNvSpPr>
          <p:nvPr/>
        </p:nvSpPr>
        <p:spPr bwMode="auto">
          <a:xfrm>
            <a:off x="2826643" y="655067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74" name="Text Box 1051"/>
          <p:cNvSpPr txBox="1">
            <a:spLocks noChangeArrowheads="1"/>
          </p:cNvSpPr>
          <p:nvPr/>
        </p:nvSpPr>
        <p:spPr bwMode="auto">
          <a:xfrm>
            <a:off x="2831406" y="6493523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5" name="Line 1052"/>
          <p:cNvSpPr>
            <a:spLocks noChangeShapeType="1"/>
          </p:cNvSpPr>
          <p:nvPr/>
        </p:nvSpPr>
        <p:spPr bwMode="auto">
          <a:xfrm flipH="1">
            <a:off x="3026668" y="6161735"/>
            <a:ext cx="246063" cy="411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Oval 1053"/>
          <p:cNvSpPr>
            <a:spLocks noChangeArrowheads="1"/>
          </p:cNvSpPr>
          <p:nvPr/>
        </p:nvSpPr>
        <p:spPr bwMode="auto">
          <a:xfrm>
            <a:off x="5465948" y="528384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77" name="Text Box 1054"/>
          <p:cNvSpPr txBox="1">
            <a:spLocks noChangeArrowheads="1"/>
          </p:cNvSpPr>
          <p:nvPr/>
        </p:nvSpPr>
        <p:spPr bwMode="auto">
          <a:xfrm>
            <a:off x="5470711" y="522669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8" name="Line 1055"/>
          <p:cNvSpPr>
            <a:spLocks noChangeShapeType="1"/>
          </p:cNvSpPr>
          <p:nvPr/>
        </p:nvSpPr>
        <p:spPr bwMode="auto">
          <a:xfrm flipH="1">
            <a:off x="5323073" y="5591823"/>
            <a:ext cx="195263" cy="328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1056"/>
          <p:cNvSpPr>
            <a:spLocks noChangeShapeType="1"/>
          </p:cNvSpPr>
          <p:nvPr/>
        </p:nvSpPr>
        <p:spPr bwMode="auto">
          <a:xfrm flipH="1" flipV="1">
            <a:off x="5743761" y="5590235"/>
            <a:ext cx="195262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Oval 1057"/>
          <p:cNvSpPr>
            <a:spLocks noChangeArrowheads="1"/>
          </p:cNvSpPr>
          <p:nvPr/>
        </p:nvSpPr>
        <p:spPr bwMode="auto">
          <a:xfrm>
            <a:off x="5053198" y="5898210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81" name="Text Box 1058"/>
          <p:cNvSpPr txBox="1">
            <a:spLocks noChangeArrowheads="1"/>
          </p:cNvSpPr>
          <p:nvPr/>
        </p:nvSpPr>
        <p:spPr bwMode="auto">
          <a:xfrm>
            <a:off x="5057961" y="5841060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2" name="Oval 1059"/>
          <p:cNvSpPr>
            <a:spLocks noChangeArrowheads="1"/>
          </p:cNvSpPr>
          <p:nvPr/>
        </p:nvSpPr>
        <p:spPr bwMode="auto">
          <a:xfrm>
            <a:off x="5813611" y="587916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83" name="Text Box 1060"/>
          <p:cNvSpPr txBox="1">
            <a:spLocks noChangeArrowheads="1"/>
          </p:cNvSpPr>
          <p:nvPr/>
        </p:nvSpPr>
        <p:spPr bwMode="auto">
          <a:xfrm>
            <a:off x="5818373" y="5822010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4" name="Oval 1061"/>
          <p:cNvSpPr>
            <a:spLocks noChangeArrowheads="1"/>
          </p:cNvSpPr>
          <p:nvPr/>
        </p:nvSpPr>
        <p:spPr bwMode="auto">
          <a:xfrm>
            <a:off x="4743636" y="662846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85" name="Text Box 1062"/>
          <p:cNvSpPr txBox="1">
            <a:spLocks noChangeArrowheads="1"/>
          </p:cNvSpPr>
          <p:nvPr/>
        </p:nvSpPr>
        <p:spPr bwMode="auto">
          <a:xfrm>
            <a:off x="4748398" y="6571310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6" name="Line 1063"/>
          <p:cNvSpPr>
            <a:spLocks noChangeShapeType="1"/>
          </p:cNvSpPr>
          <p:nvPr/>
        </p:nvSpPr>
        <p:spPr bwMode="auto">
          <a:xfrm flipH="1">
            <a:off x="4943661" y="6239523"/>
            <a:ext cx="246062" cy="411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Oval 1064"/>
          <p:cNvSpPr>
            <a:spLocks noChangeArrowheads="1"/>
          </p:cNvSpPr>
          <p:nvPr/>
        </p:nvSpPr>
        <p:spPr bwMode="auto">
          <a:xfrm>
            <a:off x="5238936" y="664751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88" name="Line 1065"/>
          <p:cNvSpPr>
            <a:spLocks noChangeShapeType="1"/>
          </p:cNvSpPr>
          <p:nvPr/>
        </p:nvSpPr>
        <p:spPr bwMode="auto">
          <a:xfrm>
            <a:off x="5219886" y="6249048"/>
            <a:ext cx="144462" cy="411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Text Box 1066"/>
          <p:cNvSpPr txBox="1">
            <a:spLocks noChangeArrowheads="1"/>
          </p:cNvSpPr>
          <p:nvPr/>
        </p:nvSpPr>
        <p:spPr bwMode="auto">
          <a:xfrm>
            <a:off x="5245286" y="657289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0" name="Oval 1067"/>
          <p:cNvSpPr>
            <a:spLocks noChangeArrowheads="1"/>
          </p:cNvSpPr>
          <p:nvPr/>
        </p:nvSpPr>
        <p:spPr bwMode="auto">
          <a:xfrm>
            <a:off x="5680261" y="665544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91" name="Text Box 1068"/>
          <p:cNvSpPr txBox="1">
            <a:spLocks noChangeArrowheads="1"/>
          </p:cNvSpPr>
          <p:nvPr/>
        </p:nvSpPr>
        <p:spPr bwMode="auto">
          <a:xfrm>
            <a:off x="5686611" y="658083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2" name="Line 1069"/>
          <p:cNvSpPr>
            <a:spLocks noChangeShapeType="1"/>
          </p:cNvSpPr>
          <p:nvPr/>
        </p:nvSpPr>
        <p:spPr bwMode="auto">
          <a:xfrm flipV="1">
            <a:off x="5853298" y="6217298"/>
            <a:ext cx="11112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071"/>
          <p:cNvSpPr/>
          <p:nvPr/>
        </p:nvSpPr>
        <p:spPr bwMode="auto">
          <a:xfrm>
            <a:off x="714474" y="5148910"/>
            <a:ext cx="1196975" cy="2266950"/>
          </a:xfrm>
          <a:custGeom>
            <a:avLst/>
            <a:gdLst>
              <a:gd name="T0" fmla="*/ 1640622513 w 754"/>
              <a:gd name="T1" fmla="*/ 194052825 h 1428"/>
              <a:gd name="T2" fmla="*/ 1098788125 w 754"/>
              <a:gd name="T3" fmla="*/ 105846563 h 1428"/>
              <a:gd name="T4" fmla="*/ 529232813 w 754"/>
              <a:gd name="T5" fmla="*/ 824091888 h 1428"/>
              <a:gd name="T6" fmla="*/ 20161250 w 754"/>
              <a:gd name="T7" fmla="*/ 1575098450 h 1428"/>
              <a:gd name="T8" fmla="*/ 408265313 w 754"/>
              <a:gd name="T9" fmla="*/ 2147483646 h 1428"/>
              <a:gd name="T10" fmla="*/ 650200313 w 754"/>
              <a:gd name="T11" fmla="*/ 2147483646 h 1428"/>
              <a:gd name="T12" fmla="*/ 1121470325 w 754"/>
              <a:gd name="T13" fmla="*/ 2147483646 h 1428"/>
              <a:gd name="T14" fmla="*/ 1444050325 w 754"/>
              <a:gd name="T15" fmla="*/ 2147483646 h 1428"/>
              <a:gd name="T16" fmla="*/ 1255037813 w 754"/>
              <a:gd name="T17" fmla="*/ 2147483646 h 1428"/>
              <a:gd name="T18" fmla="*/ 1134070313 w 754"/>
              <a:gd name="T19" fmla="*/ 1670864388 h 1428"/>
              <a:gd name="T20" fmla="*/ 1376005313 w 754"/>
              <a:gd name="T21" fmla="*/ 1186994388 h 1428"/>
              <a:gd name="T22" fmla="*/ 1769149688 w 754"/>
              <a:gd name="T23" fmla="*/ 884575638 h 1428"/>
              <a:gd name="T24" fmla="*/ 1877517200 w 754"/>
              <a:gd name="T25" fmla="*/ 516632825 h 1428"/>
              <a:gd name="T26" fmla="*/ 1640622513 w 754"/>
              <a:gd name="T27" fmla="*/ 194052825 h 142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754" h="1428">
                <a:moveTo>
                  <a:pt x="651" y="77"/>
                </a:moveTo>
                <a:cubicBezTo>
                  <a:pt x="600" y="48"/>
                  <a:pt x="509" y="0"/>
                  <a:pt x="436" y="42"/>
                </a:cubicBezTo>
                <a:cubicBezTo>
                  <a:pt x="363" y="84"/>
                  <a:pt x="281" y="230"/>
                  <a:pt x="210" y="327"/>
                </a:cubicBezTo>
                <a:cubicBezTo>
                  <a:pt x="139" y="424"/>
                  <a:pt x="16" y="521"/>
                  <a:pt x="8" y="625"/>
                </a:cubicBezTo>
                <a:cubicBezTo>
                  <a:pt x="0" y="729"/>
                  <a:pt x="120" y="833"/>
                  <a:pt x="162" y="951"/>
                </a:cubicBezTo>
                <a:cubicBezTo>
                  <a:pt x="204" y="1069"/>
                  <a:pt x="211" y="1258"/>
                  <a:pt x="258" y="1335"/>
                </a:cubicBezTo>
                <a:cubicBezTo>
                  <a:pt x="305" y="1412"/>
                  <a:pt x="393" y="1428"/>
                  <a:pt x="445" y="1414"/>
                </a:cubicBezTo>
                <a:cubicBezTo>
                  <a:pt x="497" y="1400"/>
                  <a:pt x="564" y="1336"/>
                  <a:pt x="573" y="1251"/>
                </a:cubicBezTo>
                <a:cubicBezTo>
                  <a:pt x="582" y="1166"/>
                  <a:pt x="518" y="1001"/>
                  <a:pt x="498" y="903"/>
                </a:cubicBezTo>
                <a:cubicBezTo>
                  <a:pt x="478" y="805"/>
                  <a:pt x="442" y="735"/>
                  <a:pt x="450" y="663"/>
                </a:cubicBezTo>
                <a:cubicBezTo>
                  <a:pt x="458" y="591"/>
                  <a:pt x="504" y="523"/>
                  <a:pt x="546" y="471"/>
                </a:cubicBezTo>
                <a:cubicBezTo>
                  <a:pt x="588" y="419"/>
                  <a:pt x="669" y="395"/>
                  <a:pt x="702" y="351"/>
                </a:cubicBezTo>
                <a:cubicBezTo>
                  <a:pt x="735" y="307"/>
                  <a:pt x="754" y="251"/>
                  <a:pt x="745" y="205"/>
                </a:cubicBezTo>
                <a:cubicBezTo>
                  <a:pt x="736" y="159"/>
                  <a:pt x="671" y="104"/>
                  <a:pt x="651" y="77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Text Box 1072"/>
          <p:cNvSpPr txBox="1">
            <a:spLocks noChangeArrowheads="1"/>
          </p:cNvSpPr>
          <p:nvPr/>
        </p:nvSpPr>
        <p:spPr bwMode="auto">
          <a:xfrm>
            <a:off x="1385655" y="7739587"/>
            <a:ext cx="4552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</a:rPr>
              <a:t>These are all valid binary heaps (minimum)</a:t>
            </a:r>
            <a:endParaRPr lang="en-US" altLang="zh-CN" sz="180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9D03CA-B55F-4A7B-B893-D1601F4E6A0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CA2ECE-A493-4BFC-86D1-A0F1F058FB65}" type="slidenum">
              <a:rPr lang="en-US" altLang="zh-CN" sz="1050"/>
            </a:fld>
            <a:endParaRPr lang="en-US" altLang="zh-CN" sz="1050"/>
          </a:p>
        </p:txBody>
      </p:sp>
      <p:sp>
        <p:nvSpPr>
          <p:cNvPr id="1434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59653" y="843440"/>
            <a:ext cx="6172200" cy="857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Binary Heap vs Binary Search Tree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30" name="Oval 1028"/>
          <p:cNvSpPr>
            <a:spLocks noChangeArrowheads="1"/>
          </p:cNvSpPr>
          <p:nvPr/>
        </p:nvSpPr>
        <p:spPr bwMode="auto">
          <a:xfrm>
            <a:off x="5341938" y="3435326"/>
            <a:ext cx="547687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" name="Oval 1029"/>
          <p:cNvSpPr>
            <a:spLocks noChangeArrowheads="1"/>
          </p:cNvSpPr>
          <p:nvPr/>
        </p:nvSpPr>
        <p:spPr bwMode="auto">
          <a:xfrm>
            <a:off x="4884738" y="4273526"/>
            <a:ext cx="547687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Oval 1030"/>
          <p:cNvSpPr>
            <a:spLocks noChangeArrowheads="1"/>
          </p:cNvSpPr>
          <p:nvPr/>
        </p:nvSpPr>
        <p:spPr bwMode="auto">
          <a:xfrm>
            <a:off x="5799138" y="4273526"/>
            <a:ext cx="547687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3" name="Oval 1031"/>
          <p:cNvSpPr>
            <a:spLocks noChangeArrowheads="1"/>
          </p:cNvSpPr>
          <p:nvPr/>
        </p:nvSpPr>
        <p:spPr bwMode="auto">
          <a:xfrm>
            <a:off x="4419600" y="5264126"/>
            <a:ext cx="547688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4" name="Oval 1032"/>
          <p:cNvSpPr>
            <a:spLocks noChangeArrowheads="1"/>
          </p:cNvSpPr>
          <p:nvPr/>
        </p:nvSpPr>
        <p:spPr bwMode="auto">
          <a:xfrm>
            <a:off x="5334000" y="5264126"/>
            <a:ext cx="547688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5" name="AutoShape 1035"/>
          <p:cNvCxnSpPr>
            <a:cxnSpLocks noChangeShapeType="1"/>
            <a:stCxn id="30" idx="3"/>
            <a:endCxn id="31" idx="0"/>
          </p:cNvCxnSpPr>
          <p:nvPr/>
        </p:nvCxnSpPr>
        <p:spPr bwMode="auto">
          <a:xfrm flipH="1">
            <a:off x="5159375" y="3902051"/>
            <a:ext cx="26352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1036"/>
          <p:cNvCxnSpPr>
            <a:cxnSpLocks noChangeShapeType="1"/>
            <a:stCxn id="30" idx="5"/>
            <a:endCxn id="32" idx="0"/>
          </p:cNvCxnSpPr>
          <p:nvPr/>
        </p:nvCxnSpPr>
        <p:spPr bwMode="auto">
          <a:xfrm>
            <a:off x="5808663" y="3902051"/>
            <a:ext cx="265112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1037"/>
          <p:cNvCxnSpPr>
            <a:cxnSpLocks noChangeShapeType="1"/>
            <a:stCxn id="31" idx="5"/>
            <a:endCxn id="34" idx="0"/>
          </p:cNvCxnSpPr>
          <p:nvPr/>
        </p:nvCxnSpPr>
        <p:spPr bwMode="auto">
          <a:xfrm>
            <a:off x="5351463" y="4740251"/>
            <a:ext cx="25717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AutoShape 1038"/>
          <p:cNvCxnSpPr>
            <a:cxnSpLocks noChangeShapeType="1"/>
            <a:stCxn id="31" idx="3"/>
            <a:endCxn id="33" idx="0"/>
          </p:cNvCxnSpPr>
          <p:nvPr/>
        </p:nvCxnSpPr>
        <p:spPr bwMode="auto">
          <a:xfrm flipH="1">
            <a:off x="4694238" y="4740251"/>
            <a:ext cx="271462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Oval 1042"/>
          <p:cNvSpPr>
            <a:spLocks noChangeArrowheads="1"/>
          </p:cNvSpPr>
          <p:nvPr/>
        </p:nvSpPr>
        <p:spPr bwMode="auto">
          <a:xfrm>
            <a:off x="1466851" y="3419872"/>
            <a:ext cx="547687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0" name="Oval 1043"/>
          <p:cNvSpPr>
            <a:spLocks noChangeArrowheads="1"/>
          </p:cNvSpPr>
          <p:nvPr/>
        </p:nvSpPr>
        <p:spPr bwMode="auto">
          <a:xfrm>
            <a:off x="1009651" y="4258072"/>
            <a:ext cx="547687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1" name="Oval 1044"/>
          <p:cNvSpPr>
            <a:spLocks noChangeArrowheads="1"/>
          </p:cNvSpPr>
          <p:nvPr/>
        </p:nvSpPr>
        <p:spPr bwMode="auto">
          <a:xfrm>
            <a:off x="1924051" y="4258072"/>
            <a:ext cx="547687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2" name="Oval 1045"/>
          <p:cNvSpPr>
            <a:spLocks noChangeArrowheads="1"/>
          </p:cNvSpPr>
          <p:nvPr/>
        </p:nvSpPr>
        <p:spPr bwMode="auto">
          <a:xfrm>
            <a:off x="544513" y="5248672"/>
            <a:ext cx="547688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3" name="Oval 1046"/>
          <p:cNvSpPr>
            <a:spLocks noChangeArrowheads="1"/>
          </p:cNvSpPr>
          <p:nvPr/>
        </p:nvSpPr>
        <p:spPr bwMode="auto">
          <a:xfrm>
            <a:off x="1458913" y="5248672"/>
            <a:ext cx="547688" cy="5476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4" name="AutoShape 1049"/>
          <p:cNvCxnSpPr>
            <a:cxnSpLocks noChangeShapeType="1"/>
            <a:stCxn id="39" idx="3"/>
            <a:endCxn id="40" idx="0"/>
          </p:cNvCxnSpPr>
          <p:nvPr/>
        </p:nvCxnSpPr>
        <p:spPr bwMode="auto">
          <a:xfrm flipH="1">
            <a:off x="1284288" y="3886597"/>
            <a:ext cx="26352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1050"/>
          <p:cNvCxnSpPr>
            <a:cxnSpLocks noChangeShapeType="1"/>
            <a:stCxn id="39" idx="5"/>
            <a:endCxn id="41" idx="0"/>
          </p:cNvCxnSpPr>
          <p:nvPr/>
        </p:nvCxnSpPr>
        <p:spPr bwMode="auto">
          <a:xfrm>
            <a:off x="1933576" y="3886597"/>
            <a:ext cx="265112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051"/>
          <p:cNvCxnSpPr>
            <a:cxnSpLocks noChangeShapeType="1"/>
            <a:stCxn id="40" idx="5"/>
            <a:endCxn id="43" idx="0"/>
          </p:cNvCxnSpPr>
          <p:nvPr/>
        </p:nvCxnSpPr>
        <p:spPr bwMode="auto">
          <a:xfrm>
            <a:off x="1476376" y="4724797"/>
            <a:ext cx="25717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1052"/>
          <p:cNvCxnSpPr>
            <a:cxnSpLocks noChangeShapeType="1"/>
            <a:stCxn id="40" idx="3"/>
            <a:endCxn id="42" idx="0"/>
          </p:cNvCxnSpPr>
          <p:nvPr/>
        </p:nvCxnSpPr>
        <p:spPr bwMode="auto">
          <a:xfrm flipH="1">
            <a:off x="819151" y="4724797"/>
            <a:ext cx="271462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Text Box 1055"/>
          <p:cNvSpPr txBox="1">
            <a:spLocks noChangeArrowheads="1"/>
          </p:cNvSpPr>
          <p:nvPr/>
        </p:nvSpPr>
        <p:spPr bwMode="auto">
          <a:xfrm>
            <a:off x="671513" y="2672159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SimSun" panose="02010600030101010101" pitchFamily="2" charset="-122"/>
              </a:rPr>
              <a:t>Binary Heap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9" name="Text Box 1056"/>
          <p:cNvSpPr txBox="1">
            <a:spLocks noChangeArrowheads="1"/>
          </p:cNvSpPr>
          <p:nvPr/>
        </p:nvSpPr>
        <p:spPr bwMode="auto">
          <a:xfrm>
            <a:off x="4046538" y="2687613"/>
            <a:ext cx="2811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ea typeface="SimSun" panose="02010600030101010101" pitchFamily="2" charset="-122"/>
              </a:rPr>
              <a:t>Binary Search Tree</a:t>
            </a:r>
            <a:endParaRPr lang="en-US" altLang="zh-CN" sz="2400">
              <a:ea typeface="SimSun" panose="02010600030101010101" pitchFamily="2" charset="-122"/>
            </a:endParaRPr>
          </a:p>
        </p:txBody>
      </p:sp>
      <p:sp>
        <p:nvSpPr>
          <p:cNvPr id="50" name="Text Box 1057"/>
          <p:cNvSpPr txBox="1">
            <a:spLocks noChangeArrowheads="1"/>
          </p:cNvSpPr>
          <p:nvPr/>
        </p:nvSpPr>
        <p:spPr bwMode="auto">
          <a:xfrm>
            <a:off x="3466567" y="6221099"/>
            <a:ext cx="31293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SimSun" panose="02010600030101010101" pitchFamily="2" charset="-122"/>
              </a:rPr>
              <a:t>Parent is greater than left 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SimSun" panose="02010600030101010101" pitchFamily="2" charset="-122"/>
              </a:rPr>
              <a:t>child, less than right child</a:t>
            </a:r>
            <a:endParaRPr lang="en-US" altLang="zh-CN" sz="2000" dirty="0">
              <a:ea typeface="SimSun" panose="02010600030101010101" pitchFamily="2" charset="-122"/>
            </a:endParaRPr>
          </a:p>
        </p:txBody>
      </p:sp>
      <p:sp>
        <p:nvSpPr>
          <p:cNvPr id="51" name="Text Box 1058"/>
          <p:cNvSpPr txBox="1">
            <a:spLocks noChangeArrowheads="1"/>
          </p:cNvSpPr>
          <p:nvPr/>
        </p:nvSpPr>
        <p:spPr bwMode="auto">
          <a:xfrm>
            <a:off x="331255" y="6205645"/>
            <a:ext cx="286168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SimSun" panose="02010600030101010101" pitchFamily="2" charset="-122"/>
              </a:rPr>
              <a:t>Parent is less than both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SimSun" panose="02010600030101010101" pitchFamily="2" charset="-122"/>
              </a:rPr>
              <a:t>left and right children</a:t>
            </a:r>
            <a:endParaRPr lang="en-US" altLang="zh-CN" sz="2000" dirty="0">
              <a:ea typeface="SimSun" panose="02010600030101010101" pitchFamily="2" charset="-122"/>
            </a:endParaRPr>
          </a:p>
        </p:txBody>
      </p:sp>
      <p:sp>
        <p:nvSpPr>
          <p:cNvPr id="52" name="AutoShape 1060"/>
          <p:cNvSpPr>
            <a:spLocks noChangeArrowheads="1"/>
          </p:cNvSpPr>
          <p:nvPr/>
        </p:nvSpPr>
        <p:spPr bwMode="auto">
          <a:xfrm>
            <a:off x="3146425" y="4590619"/>
            <a:ext cx="1370013" cy="908864"/>
          </a:xfrm>
          <a:prstGeom prst="wedgeEllipseCallout">
            <a:avLst>
              <a:gd name="adj1" fmla="val 42815"/>
              <a:gd name="adj2" fmla="val 82977"/>
            </a:avLst>
          </a:prstGeom>
          <a:solidFill>
            <a:srgbClr val="FFFFFF"/>
          </a:solidFill>
          <a:ln w="9525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</a:rPr>
              <a:t>min value</a:t>
            </a:r>
            <a:endParaRPr lang="en-US" altLang="zh-CN" sz="2800" dirty="0">
              <a:ea typeface="SimSun" panose="02010600030101010101" pitchFamily="2" charset="-122"/>
            </a:endParaRPr>
          </a:p>
        </p:txBody>
      </p:sp>
      <p:sp>
        <p:nvSpPr>
          <p:cNvPr id="53" name="AutoShape 1061"/>
          <p:cNvSpPr>
            <a:spLocks noChangeArrowheads="1"/>
          </p:cNvSpPr>
          <p:nvPr/>
        </p:nvSpPr>
        <p:spPr bwMode="auto">
          <a:xfrm>
            <a:off x="2373313" y="2898765"/>
            <a:ext cx="1447800" cy="908864"/>
          </a:xfrm>
          <a:prstGeom prst="wedgeEllipseCallout">
            <a:avLst>
              <a:gd name="adj1" fmla="val -75546"/>
              <a:gd name="adj2" fmla="val 64185"/>
            </a:avLst>
          </a:prstGeom>
          <a:solidFill>
            <a:srgbClr val="FFFFFF"/>
          </a:solidFill>
          <a:ln w="9525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min value</a:t>
            </a:r>
            <a:endParaRPr lang="en-US" altLang="zh-CN" sz="280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FC6854-5945-4721-A566-B079B166896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C8137D-EDC1-449E-A3C8-AFCC9ADF8648}" type="slidenum">
              <a:rPr lang="en-US" altLang="zh-CN" sz="1050"/>
            </a:fld>
            <a:endParaRPr lang="en-US" altLang="zh-CN" sz="105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Structure property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699792"/>
            <a:ext cx="6172200" cy="3872458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 binary heap is a complete tree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All nodes are in use except for possibly the right end of the bottom row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564" y="3790838"/>
            <a:ext cx="3694871" cy="1690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2454" y="5795336"/>
            <a:ext cx="60126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A 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</a:rPr>
              <a:t>complete binary tree of height h has between 2</a:t>
            </a:r>
            <a:r>
              <a:rPr lang="en-US" altLang="zh-CN" sz="2000" baseline="30000" dirty="0">
                <a:solidFill>
                  <a:srgbClr val="263AF8"/>
                </a:solidFill>
                <a:latin typeface="Sitka Text" panose="02000505000000020004" pitchFamily="2" charset="0"/>
              </a:rPr>
              <a:t>h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</a:rPr>
              <a:t> and 2</a:t>
            </a:r>
            <a:r>
              <a:rPr lang="en-US" altLang="zh-CN" sz="2000" baseline="30000" dirty="0">
                <a:solidFill>
                  <a:srgbClr val="263AF8"/>
                </a:solidFill>
                <a:latin typeface="Sitka Text" panose="02000505000000020004" pitchFamily="2" charset="0"/>
              </a:rPr>
              <a:t>h+1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</a:rPr>
              <a:t> − 1 nodes. </a:t>
            </a:r>
            <a:endParaRPr lang="en-US" altLang="zh-CN" sz="2000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pPr marL="0" lvl="1"/>
            <a:r>
              <a:rPr lang="en-US" altLang="zh-CN" sz="20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The 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</a:rPr>
              <a:t>height of a complete binary tree is 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  <a:sym typeface="Symbol" panose="05050102010706020507" pitchFamily="18" charset="2"/>
              </a:rPr>
              <a:t></a:t>
            </a:r>
            <a:r>
              <a:rPr lang="en-US" altLang="zh-CN" sz="2000" dirty="0" err="1" smtClean="0">
                <a:solidFill>
                  <a:srgbClr val="263AF8"/>
                </a:solidFill>
                <a:latin typeface="Sitka Text" panose="02000505000000020004" pitchFamily="2" charset="0"/>
              </a:rPr>
              <a:t>logN</a:t>
            </a:r>
            <a:r>
              <a:rPr lang="en-US" altLang="zh-CN" sz="2000" dirty="0" smtClean="0">
                <a:solidFill>
                  <a:srgbClr val="263AF8"/>
                </a:solidFill>
                <a:latin typeface="Sitka Text" panose="02000505000000020004" pitchFamily="2" charset="0"/>
                <a:sym typeface="Symbol" panose="05050102010706020507" pitchFamily="18" charset="2"/>
              </a:rPr>
              <a:t></a:t>
            </a:r>
            <a:endParaRPr lang="zh-CN" altLang="en-US" sz="2000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D15C88-ED13-43B5-805B-189DEAC262E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425434-E8F3-4A76-ACEE-3CF3EBAE2E5F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Examples</a:t>
            </a:r>
            <a:endParaRPr lang="en-US" altLang="zh-CN" smtClean="0">
              <a:ea typeface="SimSun" panose="02010600030101010101" pitchFamily="2" charset="-122"/>
            </a:endParaRPr>
          </a:p>
        </p:txBody>
      </p:sp>
      <p:sp>
        <p:nvSpPr>
          <p:cNvPr id="46" name="Oval 18"/>
          <p:cNvSpPr>
            <a:spLocks noChangeArrowheads="1"/>
          </p:cNvSpPr>
          <p:nvPr/>
        </p:nvSpPr>
        <p:spPr bwMode="auto">
          <a:xfrm>
            <a:off x="1147267" y="462717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7" name="Oval 20"/>
          <p:cNvSpPr>
            <a:spLocks noChangeArrowheads="1"/>
          </p:cNvSpPr>
          <p:nvPr/>
        </p:nvSpPr>
        <p:spPr bwMode="auto">
          <a:xfrm>
            <a:off x="1604467" y="516057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8" name="Oval 21"/>
          <p:cNvSpPr>
            <a:spLocks noChangeArrowheads="1"/>
          </p:cNvSpPr>
          <p:nvPr/>
        </p:nvSpPr>
        <p:spPr bwMode="auto">
          <a:xfrm>
            <a:off x="690067" y="516057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9" name="AutoShape 22"/>
          <p:cNvCxnSpPr>
            <a:cxnSpLocks noChangeShapeType="1"/>
            <a:stCxn id="46" idx="3"/>
            <a:endCxn id="48" idx="0"/>
          </p:cNvCxnSpPr>
          <p:nvPr/>
        </p:nvCxnSpPr>
        <p:spPr bwMode="auto">
          <a:xfrm flipH="1">
            <a:off x="863104" y="4920867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23"/>
          <p:cNvCxnSpPr>
            <a:cxnSpLocks noChangeShapeType="1"/>
            <a:stCxn id="46" idx="5"/>
            <a:endCxn id="47" idx="0"/>
          </p:cNvCxnSpPr>
          <p:nvPr/>
        </p:nvCxnSpPr>
        <p:spPr bwMode="auto">
          <a:xfrm>
            <a:off x="1440954" y="4920867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24"/>
          <p:cNvSpPr>
            <a:spLocks noChangeArrowheads="1"/>
          </p:cNvSpPr>
          <p:nvPr/>
        </p:nvSpPr>
        <p:spPr bwMode="auto">
          <a:xfrm>
            <a:off x="1110754" y="5730492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" name="Oval 25"/>
          <p:cNvSpPr>
            <a:spLocks noChangeArrowheads="1"/>
          </p:cNvSpPr>
          <p:nvPr/>
        </p:nvSpPr>
        <p:spPr bwMode="auto">
          <a:xfrm>
            <a:off x="196354" y="5730492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53" name="AutoShape 26"/>
          <p:cNvCxnSpPr>
            <a:cxnSpLocks noChangeShapeType="1"/>
            <a:stCxn id="48" idx="3"/>
            <a:endCxn id="52" idx="0"/>
          </p:cNvCxnSpPr>
          <p:nvPr/>
        </p:nvCxnSpPr>
        <p:spPr bwMode="auto">
          <a:xfrm flipH="1">
            <a:off x="369392" y="5454267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AutoShape 27"/>
          <p:cNvCxnSpPr>
            <a:cxnSpLocks noChangeShapeType="1"/>
            <a:stCxn id="48" idx="5"/>
            <a:endCxn id="51" idx="0"/>
          </p:cNvCxnSpPr>
          <p:nvPr/>
        </p:nvCxnSpPr>
        <p:spPr bwMode="auto">
          <a:xfrm>
            <a:off x="983754" y="5454267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Oval 28"/>
          <p:cNvSpPr>
            <a:spLocks noChangeArrowheads="1"/>
          </p:cNvSpPr>
          <p:nvPr/>
        </p:nvSpPr>
        <p:spPr bwMode="auto">
          <a:xfrm>
            <a:off x="5154116" y="24270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6" name="Oval 29"/>
          <p:cNvSpPr>
            <a:spLocks noChangeArrowheads="1"/>
          </p:cNvSpPr>
          <p:nvPr/>
        </p:nvSpPr>
        <p:spPr bwMode="auto">
          <a:xfrm>
            <a:off x="5611316" y="2960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7" name="Oval 30"/>
          <p:cNvSpPr>
            <a:spLocks noChangeArrowheads="1"/>
          </p:cNvSpPr>
          <p:nvPr/>
        </p:nvSpPr>
        <p:spPr bwMode="auto">
          <a:xfrm>
            <a:off x="4696916" y="2960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58" name="AutoShape 31"/>
          <p:cNvCxnSpPr>
            <a:cxnSpLocks noChangeShapeType="1"/>
            <a:stCxn id="55" idx="3"/>
            <a:endCxn id="57" idx="0"/>
          </p:cNvCxnSpPr>
          <p:nvPr/>
        </p:nvCxnSpPr>
        <p:spPr bwMode="auto">
          <a:xfrm flipH="1">
            <a:off x="4869954" y="2720734"/>
            <a:ext cx="3349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32"/>
          <p:cNvCxnSpPr>
            <a:cxnSpLocks noChangeShapeType="1"/>
            <a:stCxn id="55" idx="5"/>
            <a:endCxn id="56" idx="0"/>
          </p:cNvCxnSpPr>
          <p:nvPr/>
        </p:nvCxnSpPr>
        <p:spPr bwMode="auto">
          <a:xfrm>
            <a:off x="5447804" y="2720734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Oval 33"/>
          <p:cNvSpPr>
            <a:spLocks noChangeArrowheads="1"/>
          </p:cNvSpPr>
          <p:nvPr/>
        </p:nvSpPr>
        <p:spPr bwMode="auto">
          <a:xfrm>
            <a:off x="5117604" y="3530359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61" name="AutoShape 36"/>
          <p:cNvCxnSpPr>
            <a:cxnSpLocks noChangeShapeType="1"/>
            <a:stCxn id="57" idx="5"/>
            <a:endCxn id="60" idx="0"/>
          </p:cNvCxnSpPr>
          <p:nvPr/>
        </p:nvCxnSpPr>
        <p:spPr bwMode="auto">
          <a:xfrm>
            <a:off x="4990604" y="3254134"/>
            <a:ext cx="300037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 Box 37"/>
          <p:cNvSpPr txBox="1">
            <a:spLocks noChangeArrowheads="1"/>
          </p:cNvSpPr>
          <p:nvPr/>
        </p:nvSpPr>
        <p:spPr bwMode="auto">
          <a:xfrm>
            <a:off x="4771625" y="4087055"/>
            <a:ext cx="15888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not complete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63" name="Oval 38"/>
          <p:cNvSpPr>
            <a:spLocks noChangeArrowheads="1"/>
          </p:cNvSpPr>
          <p:nvPr/>
        </p:nvSpPr>
        <p:spPr bwMode="auto">
          <a:xfrm>
            <a:off x="2010867" y="261595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2468067" y="314935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5" name="Oval 40"/>
          <p:cNvSpPr>
            <a:spLocks noChangeArrowheads="1"/>
          </p:cNvSpPr>
          <p:nvPr/>
        </p:nvSpPr>
        <p:spPr bwMode="auto">
          <a:xfrm>
            <a:off x="1553667" y="314935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66" name="AutoShape 41"/>
          <p:cNvCxnSpPr>
            <a:cxnSpLocks noChangeShapeType="1"/>
            <a:stCxn id="63" idx="3"/>
            <a:endCxn id="65" idx="0"/>
          </p:cNvCxnSpPr>
          <p:nvPr/>
        </p:nvCxnSpPr>
        <p:spPr bwMode="auto">
          <a:xfrm flipH="1">
            <a:off x="1726704" y="2909646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42"/>
          <p:cNvCxnSpPr>
            <a:cxnSpLocks noChangeShapeType="1"/>
            <a:stCxn id="63" idx="5"/>
            <a:endCxn id="64" idx="0"/>
          </p:cNvCxnSpPr>
          <p:nvPr/>
        </p:nvCxnSpPr>
        <p:spPr bwMode="auto">
          <a:xfrm>
            <a:off x="2304554" y="2909646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Text Box 47"/>
          <p:cNvSpPr txBox="1">
            <a:spLocks noChangeArrowheads="1"/>
          </p:cNvSpPr>
          <p:nvPr/>
        </p:nvSpPr>
        <p:spPr bwMode="auto">
          <a:xfrm>
            <a:off x="1288554" y="3689793"/>
            <a:ext cx="2364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complete tree, 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heap order is "max"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424954" y="6194726"/>
            <a:ext cx="23278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complete tree, 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heap order is "min"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70" name="Oval 49"/>
          <p:cNvSpPr>
            <a:spLocks noChangeArrowheads="1"/>
          </p:cNvSpPr>
          <p:nvPr/>
        </p:nvSpPr>
        <p:spPr bwMode="auto">
          <a:xfrm>
            <a:off x="4488954" y="489455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1" name="Oval 50"/>
          <p:cNvSpPr>
            <a:spLocks noChangeArrowheads="1"/>
          </p:cNvSpPr>
          <p:nvPr/>
        </p:nvSpPr>
        <p:spPr bwMode="auto">
          <a:xfrm>
            <a:off x="4946154" y="542795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2" name="Oval 51"/>
          <p:cNvSpPr>
            <a:spLocks noChangeArrowheads="1"/>
          </p:cNvSpPr>
          <p:nvPr/>
        </p:nvSpPr>
        <p:spPr bwMode="auto">
          <a:xfrm>
            <a:off x="4031754" y="542795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73" name="AutoShape 52"/>
          <p:cNvCxnSpPr>
            <a:cxnSpLocks noChangeShapeType="1"/>
            <a:stCxn id="70" idx="3"/>
            <a:endCxn id="72" idx="0"/>
          </p:cNvCxnSpPr>
          <p:nvPr/>
        </p:nvCxnSpPr>
        <p:spPr bwMode="auto">
          <a:xfrm flipH="1">
            <a:off x="4204791" y="5188242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53"/>
          <p:cNvCxnSpPr>
            <a:cxnSpLocks noChangeShapeType="1"/>
            <a:stCxn id="70" idx="5"/>
            <a:endCxn id="71" idx="0"/>
          </p:cNvCxnSpPr>
          <p:nvPr/>
        </p:nvCxnSpPr>
        <p:spPr bwMode="auto">
          <a:xfrm>
            <a:off x="4782641" y="5188242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54"/>
          <p:cNvSpPr>
            <a:spLocks noChangeArrowheads="1"/>
          </p:cNvSpPr>
          <p:nvPr/>
        </p:nvSpPr>
        <p:spPr bwMode="auto">
          <a:xfrm>
            <a:off x="4452441" y="5997867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6" name="Oval 55"/>
          <p:cNvSpPr>
            <a:spLocks noChangeArrowheads="1"/>
          </p:cNvSpPr>
          <p:nvPr/>
        </p:nvSpPr>
        <p:spPr bwMode="auto">
          <a:xfrm>
            <a:off x="3538041" y="5997867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77" name="AutoShape 56"/>
          <p:cNvCxnSpPr>
            <a:cxnSpLocks noChangeShapeType="1"/>
            <a:stCxn id="72" idx="3"/>
            <a:endCxn id="76" idx="0"/>
          </p:cNvCxnSpPr>
          <p:nvPr/>
        </p:nvCxnSpPr>
        <p:spPr bwMode="auto">
          <a:xfrm flipH="1">
            <a:off x="3711079" y="5721642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57"/>
          <p:cNvCxnSpPr>
            <a:cxnSpLocks noChangeShapeType="1"/>
            <a:stCxn id="72" idx="5"/>
            <a:endCxn id="75" idx="0"/>
          </p:cNvCxnSpPr>
          <p:nvPr/>
        </p:nvCxnSpPr>
        <p:spPr bwMode="auto">
          <a:xfrm>
            <a:off x="4325441" y="5721642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Text Box 58"/>
          <p:cNvSpPr txBox="1">
            <a:spLocks noChangeArrowheads="1"/>
          </p:cNvSpPr>
          <p:nvPr/>
        </p:nvSpPr>
        <p:spPr bwMode="auto">
          <a:xfrm>
            <a:off x="4165104" y="6538301"/>
            <a:ext cx="26798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complete tree, but min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heap order is broken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80" name="Oval 59"/>
          <p:cNvSpPr>
            <a:spLocks noChangeArrowheads="1"/>
          </p:cNvSpPr>
          <p:nvPr/>
        </p:nvSpPr>
        <p:spPr bwMode="auto">
          <a:xfrm>
            <a:off x="4227016" y="3530359"/>
            <a:ext cx="344488" cy="344487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81" name="AutoShape 60"/>
          <p:cNvCxnSpPr>
            <a:cxnSpLocks noChangeShapeType="1"/>
            <a:stCxn id="57" idx="3"/>
            <a:endCxn id="80" idx="0"/>
          </p:cNvCxnSpPr>
          <p:nvPr/>
        </p:nvCxnSpPr>
        <p:spPr bwMode="auto">
          <a:xfrm flipH="1">
            <a:off x="4400054" y="3254134"/>
            <a:ext cx="347662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61"/>
          <p:cNvCxnSpPr>
            <a:cxnSpLocks noChangeShapeType="1"/>
            <a:stCxn id="79" idx="1"/>
            <a:endCxn id="72" idx="4"/>
          </p:cNvCxnSpPr>
          <p:nvPr/>
        </p:nvCxnSpPr>
        <p:spPr bwMode="auto">
          <a:xfrm rot="10800000" flipH="1">
            <a:off x="4165104" y="5772443"/>
            <a:ext cx="38894" cy="1089025"/>
          </a:xfrm>
          <a:prstGeom prst="curvedConnector4">
            <a:avLst>
              <a:gd name="adj1" fmla="val -587751"/>
              <a:gd name="adj2" fmla="val 64837"/>
            </a:avLst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AutoShape 62"/>
          <p:cNvCxnSpPr>
            <a:cxnSpLocks noChangeShapeType="1"/>
            <a:stCxn id="79" idx="1"/>
            <a:endCxn id="75" idx="2"/>
          </p:cNvCxnSpPr>
          <p:nvPr/>
        </p:nvCxnSpPr>
        <p:spPr bwMode="auto">
          <a:xfrm rot="10800000" flipH="1">
            <a:off x="4165103" y="6170111"/>
            <a:ext cx="287337" cy="691356"/>
          </a:xfrm>
          <a:prstGeom prst="curvedConnector3">
            <a:avLst>
              <a:gd name="adj1" fmla="val -79558"/>
            </a:avLst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63"/>
          <p:cNvCxnSpPr>
            <a:cxnSpLocks noChangeShapeType="1"/>
            <a:stCxn id="62" idx="1"/>
            <a:endCxn id="80" idx="6"/>
          </p:cNvCxnSpPr>
          <p:nvPr/>
        </p:nvCxnSpPr>
        <p:spPr bwMode="auto">
          <a:xfrm rot="10800000">
            <a:off x="4571505" y="3702603"/>
            <a:ext cx="200121" cy="56911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" name="Line 64"/>
          <p:cNvSpPr>
            <a:spLocks noChangeShapeType="1"/>
          </p:cNvSpPr>
          <p:nvPr/>
        </p:nvSpPr>
        <p:spPr bwMode="auto">
          <a:xfrm flipH="1">
            <a:off x="2863354" y="2615958"/>
            <a:ext cx="1225550" cy="4421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9B659D-F54C-480A-BAF2-F839507D091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AF9C29-6073-41E7-96D0-3DD2039CF609}" type="slidenum">
              <a:rPr lang="en-US" altLang="zh-CN" sz="1050"/>
            </a:fld>
            <a:endParaRPr lang="en-US" altLang="zh-CN" sz="105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Array Implementation of Heaps (Implicit Pointers)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466735"/>
            <a:ext cx="5659041" cy="2676765"/>
          </a:xfrm>
        </p:spPr>
        <p:txBody>
          <a:bodyPr>
            <a:normAutofit/>
          </a:bodyPr>
          <a:lstStyle/>
          <a:p>
            <a:r>
              <a:rPr lang="en-US" altLang="zh-CN" sz="2100" dirty="0"/>
              <a:t>Calculate the array indices of the various relatives of a node</a:t>
            </a:r>
            <a:endParaRPr lang="en-US" altLang="zh-CN" sz="2100" dirty="0"/>
          </a:p>
          <a:p>
            <a:pPr lvl="1"/>
            <a:r>
              <a:rPr lang="en-US" altLang="zh-CN" sz="1800" dirty="0" smtClean="0">
                <a:solidFill>
                  <a:srgbClr val="FF0000"/>
                </a:solidFill>
                <a:ea typeface="SimSun" panose="02010600030101010101" pitchFamily="2" charset="-122"/>
              </a:rPr>
              <a:t>Root </a:t>
            </a:r>
            <a:r>
              <a:rPr lang="en-US" altLang="zh-CN" sz="1800" dirty="0">
                <a:solidFill>
                  <a:srgbClr val="FF0000"/>
                </a:solidFill>
                <a:ea typeface="SimSun" panose="02010600030101010101" pitchFamily="2" charset="-122"/>
              </a:rPr>
              <a:t>node = A[1]</a:t>
            </a:r>
            <a:endParaRPr lang="en-US" altLang="zh-CN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/>
            <a:r>
              <a:rPr lang="en-US" altLang="zh-CN" sz="1800" dirty="0">
                <a:ea typeface="SimSun" panose="02010600030101010101" pitchFamily="2" charset="-122"/>
              </a:rPr>
              <a:t>Children of A[</a:t>
            </a:r>
            <a:r>
              <a:rPr lang="en-US" altLang="zh-CN" sz="1800" dirty="0" err="1">
                <a:ea typeface="SimSun" panose="02010600030101010101" pitchFamily="2" charset="-122"/>
              </a:rPr>
              <a:t>i</a:t>
            </a:r>
            <a:r>
              <a:rPr lang="en-US" altLang="zh-CN" sz="1800" dirty="0">
                <a:ea typeface="SimSun" panose="02010600030101010101" pitchFamily="2" charset="-122"/>
              </a:rPr>
              <a:t>] = A[2i], A[2i + 1]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 lvl="1"/>
            <a:r>
              <a:rPr lang="en-US" altLang="zh-CN" sz="1800" dirty="0">
                <a:ea typeface="SimSun" panose="02010600030101010101" pitchFamily="2" charset="-122"/>
              </a:rPr>
              <a:t>Parent of A[j] = A[j/2]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100" dirty="0">
                <a:ea typeface="SimSun" panose="02010600030101010101" pitchFamily="2" charset="-122"/>
              </a:rPr>
              <a:t>Keep track of current size N (number of nodes)</a:t>
            </a:r>
            <a:endParaRPr lang="en-US" altLang="zh-CN" sz="2100" dirty="0">
              <a:ea typeface="SimSun" panose="02010600030101010101" pitchFamily="2" charset="-122"/>
            </a:endParaRPr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 flipV="1">
            <a:off x="4595849" y="6159004"/>
            <a:ext cx="0" cy="301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32"/>
          <p:cNvSpPr txBox="1">
            <a:spLocks noChangeArrowheads="1"/>
          </p:cNvSpPr>
          <p:nvPr/>
        </p:nvSpPr>
        <p:spPr bwMode="auto">
          <a:xfrm>
            <a:off x="381639" y="5365224"/>
            <a:ext cx="827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value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45" name="Text Box 33"/>
          <p:cNvSpPr txBox="1">
            <a:spLocks noChangeArrowheads="1"/>
          </p:cNvSpPr>
          <p:nvPr/>
        </p:nvSpPr>
        <p:spPr bwMode="auto">
          <a:xfrm>
            <a:off x="366465" y="5777974"/>
            <a:ext cx="846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Sitka Text" panose="02000505000000020004" pitchFamily="2" charset="0"/>
                <a:ea typeface="SimSun" panose="02010600030101010101" pitchFamily="2" charset="-122"/>
              </a:rPr>
              <a:t>index</a:t>
            </a:r>
            <a:endParaRPr lang="en-US" altLang="zh-CN" sz="20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46" name="Oval 34"/>
          <p:cNvSpPr>
            <a:spLocks noChangeArrowheads="1"/>
          </p:cNvSpPr>
          <p:nvPr/>
        </p:nvSpPr>
        <p:spPr bwMode="auto">
          <a:xfrm>
            <a:off x="2388394" y="6720432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7" name="Oval 35"/>
          <p:cNvSpPr>
            <a:spLocks noChangeArrowheads="1"/>
          </p:cNvSpPr>
          <p:nvPr/>
        </p:nvSpPr>
        <p:spPr bwMode="auto">
          <a:xfrm>
            <a:off x="2845594" y="7253832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8" name="Oval 36"/>
          <p:cNvSpPr>
            <a:spLocks noChangeArrowheads="1"/>
          </p:cNvSpPr>
          <p:nvPr/>
        </p:nvSpPr>
        <p:spPr bwMode="auto">
          <a:xfrm>
            <a:off x="1931194" y="7253832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9" name="AutoShape 37"/>
          <p:cNvCxnSpPr>
            <a:cxnSpLocks noChangeShapeType="1"/>
            <a:stCxn id="46" idx="3"/>
            <a:endCxn id="48" idx="0"/>
          </p:cNvCxnSpPr>
          <p:nvPr/>
        </p:nvCxnSpPr>
        <p:spPr bwMode="auto">
          <a:xfrm flipH="1">
            <a:off x="2104231" y="7014120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38"/>
          <p:cNvCxnSpPr>
            <a:cxnSpLocks noChangeShapeType="1"/>
            <a:stCxn id="46" idx="5"/>
            <a:endCxn id="47" idx="0"/>
          </p:cNvCxnSpPr>
          <p:nvPr/>
        </p:nvCxnSpPr>
        <p:spPr bwMode="auto">
          <a:xfrm>
            <a:off x="2682081" y="7014120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39"/>
          <p:cNvSpPr>
            <a:spLocks noChangeArrowheads="1"/>
          </p:cNvSpPr>
          <p:nvPr/>
        </p:nvSpPr>
        <p:spPr bwMode="auto">
          <a:xfrm>
            <a:off x="2351881" y="7823745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" name="Oval 40"/>
          <p:cNvSpPr>
            <a:spLocks noChangeArrowheads="1"/>
          </p:cNvSpPr>
          <p:nvPr/>
        </p:nvSpPr>
        <p:spPr bwMode="auto">
          <a:xfrm>
            <a:off x="1437481" y="7823745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53" name="AutoShape 41"/>
          <p:cNvCxnSpPr>
            <a:cxnSpLocks noChangeShapeType="1"/>
            <a:stCxn id="48" idx="3"/>
            <a:endCxn id="52" idx="0"/>
          </p:cNvCxnSpPr>
          <p:nvPr/>
        </p:nvCxnSpPr>
        <p:spPr bwMode="auto">
          <a:xfrm flipH="1">
            <a:off x="1610519" y="7547520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AutoShape 42"/>
          <p:cNvCxnSpPr>
            <a:cxnSpLocks noChangeShapeType="1"/>
            <a:stCxn id="48" idx="5"/>
            <a:endCxn id="51" idx="0"/>
          </p:cNvCxnSpPr>
          <p:nvPr/>
        </p:nvCxnSpPr>
        <p:spPr bwMode="auto">
          <a:xfrm>
            <a:off x="2224881" y="7547520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1260511" y="5352554"/>
            <a:ext cx="609600" cy="457200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-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6" name="Text Box 44"/>
          <p:cNvSpPr txBox="1">
            <a:spLocks noChangeArrowheads="1"/>
          </p:cNvSpPr>
          <p:nvPr/>
        </p:nvSpPr>
        <p:spPr bwMode="auto">
          <a:xfrm>
            <a:off x="18701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7" name="Text Box 45"/>
          <p:cNvSpPr txBox="1">
            <a:spLocks noChangeArrowheads="1"/>
          </p:cNvSpPr>
          <p:nvPr/>
        </p:nvSpPr>
        <p:spPr bwMode="auto">
          <a:xfrm>
            <a:off x="24797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8" name="Text Box 46"/>
          <p:cNvSpPr txBox="1">
            <a:spLocks noChangeArrowheads="1"/>
          </p:cNvSpPr>
          <p:nvPr/>
        </p:nvSpPr>
        <p:spPr bwMode="auto">
          <a:xfrm>
            <a:off x="30893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9" name="Text Box 47"/>
          <p:cNvSpPr txBox="1">
            <a:spLocks noChangeArrowheads="1"/>
          </p:cNvSpPr>
          <p:nvPr/>
        </p:nvSpPr>
        <p:spPr bwMode="auto">
          <a:xfrm>
            <a:off x="36989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0" name="Text Box 48"/>
          <p:cNvSpPr txBox="1">
            <a:spLocks noChangeArrowheads="1"/>
          </p:cNvSpPr>
          <p:nvPr/>
        </p:nvSpPr>
        <p:spPr bwMode="auto">
          <a:xfrm>
            <a:off x="43085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1" name="Text Box 49"/>
          <p:cNvSpPr txBox="1">
            <a:spLocks noChangeArrowheads="1"/>
          </p:cNvSpPr>
          <p:nvPr/>
        </p:nvSpPr>
        <p:spPr bwMode="auto">
          <a:xfrm>
            <a:off x="49181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2" name="Text Box 50"/>
          <p:cNvSpPr txBox="1">
            <a:spLocks noChangeArrowheads="1"/>
          </p:cNvSpPr>
          <p:nvPr/>
        </p:nvSpPr>
        <p:spPr bwMode="auto">
          <a:xfrm>
            <a:off x="5527711" y="5352554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3" name="Text Box 51"/>
          <p:cNvSpPr txBox="1">
            <a:spLocks noChangeArrowheads="1"/>
          </p:cNvSpPr>
          <p:nvPr/>
        </p:nvSpPr>
        <p:spPr bwMode="auto">
          <a:xfrm>
            <a:off x="12605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0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64" name="Text Box 52"/>
          <p:cNvSpPr txBox="1">
            <a:spLocks noChangeArrowheads="1"/>
          </p:cNvSpPr>
          <p:nvPr/>
        </p:nvSpPr>
        <p:spPr bwMode="auto">
          <a:xfrm>
            <a:off x="18701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65" name="Text Box 53"/>
          <p:cNvSpPr txBox="1">
            <a:spLocks noChangeArrowheads="1"/>
          </p:cNvSpPr>
          <p:nvPr/>
        </p:nvSpPr>
        <p:spPr bwMode="auto">
          <a:xfrm>
            <a:off x="24797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2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66" name="Text Box 54"/>
          <p:cNvSpPr txBox="1">
            <a:spLocks noChangeArrowheads="1"/>
          </p:cNvSpPr>
          <p:nvPr/>
        </p:nvSpPr>
        <p:spPr bwMode="auto">
          <a:xfrm>
            <a:off x="30893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3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67" name="Text Box 55"/>
          <p:cNvSpPr txBox="1">
            <a:spLocks noChangeArrowheads="1"/>
          </p:cNvSpPr>
          <p:nvPr/>
        </p:nvSpPr>
        <p:spPr bwMode="auto">
          <a:xfrm>
            <a:off x="36989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4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68" name="Text Box 56"/>
          <p:cNvSpPr txBox="1">
            <a:spLocks noChangeArrowheads="1"/>
          </p:cNvSpPr>
          <p:nvPr/>
        </p:nvSpPr>
        <p:spPr bwMode="auto">
          <a:xfrm>
            <a:off x="43085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5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69" name="Text Box 57"/>
          <p:cNvSpPr txBox="1">
            <a:spLocks noChangeArrowheads="1"/>
          </p:cNvSpPr>
          <p:nvPr/>
        </p:nvSpPr>
        <p:spPr bwMode="auto">
          <a:xfrm>
            <a:off x="49181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6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70" name="Text Box 58"/>
          <p:cNvSpPr txBox="1">
            <a:spLocks noChangeArrowheads="1"/>
          </p:cNvSpPr>
          <p:nvPr/>
        </p:nvSpPr>
        <p:spPr bwMode="auto">
          <a:xfrm>
            <a:off x="5527711" y="5809754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7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cxnSp>
        <p:nvCxnSpPr>
          <p:cNvPr id="71" name="AutoShape 59"/>
          <p:cNvCxnSpPr>
            <a:cxnSpLocks noChangeShapeType="1"/>
            <a:stCxn id="57" idx="0"/>
            <a:endCxn id="59" idx="0"/>
          </p:cNvCxnSpPr>
          <p:nvPr/>
        </p:nvCxnSpPr>
        <p:spPr bwMode="auto">
          <a:xfrm rot="5400000" flipV="1">
            <a:off x="3393317" y="4743748"/>
            <a:ext cx="1588" cy="1219200"/>
          </a:xfrm>
          <a:prstGeom prst="curvedConnector3">
            <a:avLst>
              <a:gd name="adj1" fmla="val -14400000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60"/>
          <p:cNvCxnSpPr>
            <a:cxnSpLocks noChangeShapeType="1"/>
            <a:stCxn id="57" idx="0"/>
            <a:endCxn id="60" idx="0"/>
          </p:cNvCxnSpPr>
          <p:nvPr/>
        </p:nvCxnSpPr>
        <p:spPr bwMode="auto">
          <a:xfrm rot="5400000" flipV="1">
            <a:off x="3698117" y="4438948"/>
            <a:ext cx="1588" cy="1828800"/>
          </a:xfrm>
          <a:prstGeom prst="curvedConnector3">
            <a:avLst>
              <a:gd name="adj1" fmla="val -20400005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Text Box 61"/>
          <p:cNvSpPr txBox="1">
            <a:spLocks noChangeArrowheads="1"/>
          </p:cNvSpPr>
          <p:nvPr/>
        </p:nvSpPr>
        <p:spPr bwMode="auto">
          <a:xfrm>
            <a:off x="2702049" y="6392356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</a:rPr>
              <a:t>1</a:t>
            </a:r>
            <a:endParaRPr lang="en-US" altLang="zh-CN" sz="1800" dirty="0">
              <a:ea typeface="SimSun" panose="02010600030101010101" pitchFamily="2" charset="-122"/>
            </a:endParaRPr>
          </a:p>
        </p:txBody>
      </p:sp>
      <p:sp>
        <p:nvSpPr>
          <p:cNvPr id="74" name="Text Box 62"/>
          <p:cNvSpPr txBox="1">
            <a:spLocks noChangeArrowheads="1"/>
          </p:cNvSpPr>
          <p:nvPr/>
        </p:nvSpPr>
        <p:spPr bwMode="auto">
          <a:xfrm>
            <a:off x="2123281" y="80920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5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75" name="Text Box 63"/>
          <p:cNvSpPr txBox="1">
            <a:spLocks noChangeArrowheads="1"/>
          </p:cNvSpPr>
          <p:nvPr/>
        </p:nvSpPr>
        <p:spPr bwMode="auto">
          <a:xfrm>
            <a:off x="1208881" y="80920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4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76" name="Text Box 64"/>
          <p:cNvSpPr txBox="1">
            <a:spLocks noChangeArrowheads="1"/>
          </p:cNvSpPr>
          <p:nvPr/>
        </p:nvSpPr>
        <p:spPr bwMode="auto">
          <a:xfrm>
            <a:off x="3037681" y="69490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3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77" name="Text Box 65"/>
          <p:cNvSpPr txBox="1">
            <a:spLocks noChangeArrowheads="1"/>
          </p:cNvSpPr>
          <p:nvPr/>
        </p:nvSpPr>
        <p:spPr bwMode="auto">
          <a:xfrm>
            <a:off x="1666081" y="69490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2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78" name="Text Box 29"/>
          <p:cNvSpPr txBox="1">
            <a:spLocks noChangeArrowheads="1"/>
          </p:cNvSpPr>
          <p:nvPr/>
        </p:nvSpPr>
        <p:spPr bwMode="auto">
          <a:xfrm>
            <a:off x="4145756" y="6486599"/>
            <a:ext cx="9749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N = 5</a:t>
            </a:r>
            <a:endParaRPr lang="en-US" altLang="zh-CN" sz="2400" dirty="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 Implementation of Heaps</a:t>
            </a:r>
            <a:endParaRPr lang="zh-CN" altLang="en-US" dirty="0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263AF8"/>
                </a:solidFill>
              </a:rPr>
              <a:t>Another </a:t>
            </a:r>
            <a:r>
              <a:rPr lang="en-US" altLang="zh-CN" dirty="0" smtClean="0">
                <a:solidFill>
                  <a:srgbClr val="263AF8"/>
                </a:solidFill>
              </a:rPr>
              <a:t>calculation</a:t>
            </a:r>
            <a:endParaRPr lang="en-US" altLang="zh-CN" dirty="0">
              <a:solidFill>
                <a:srgbClr val="263AF8"/>
              </a:solidFill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Root node = </a:t>
            </a:r>
            <a:r>
              <a:rPr lang="en-US" altLang="zh-CN" dirty="0" smtClean="0">
                <a:solidFill>
                  <a:srgbClr val="FF0000"/>
                </a:solidFill>
              </a:rPr>
              <a:t>A[0]</a:t>
            </a:r>
            <a:endParaRPr lang="en-US" altLang="zh-CN" dirty="0" smtClean="0">
              <a:solidFill>
                <a:srgbClr val="FF0000"/>
              </a:solidFill>
              <a:latin typeface="Helvetica" pitchFamily="34" charset="0"/>
            </a:endParaRPr>
          </a:p>
          <a:p>
            <a:pPr lvl="1"/>
            <a:r>
              <a:rPr lang="en-US" altLang="zh-CN" dirty="0" smtClean="0"/>
              <a:t>Parent 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(r - 1) </a:t>
            </a:r>
            <a:r>
              <a:rPr lang="en-US" altLang="zh-CN" dirty="0" smtClean="0"/>
              <a:t>/2 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     if r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0 and r &lt; </a:t>
            </a:r>
            <a:r>
              <a:rPr lang="en-US" altLang="zh-CN" dirty="0" smtClean="0"/>
              <a:t>n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Left </a:t>
            </a:r>
            <a:r>
              <a:rPr lang="en-US" altLang="zh-CN" dirty="0"/>
              <a:t>child(</a:t>
            </a:r>
            <a:r>
              <a:rPr lang="en-US" altLang="zh-CN" i="1" dirty="0"/>
              <a:t>r</a:t>
            </a:r>
            <a:r>
              <a:rPr lang="en-US" altLang="zh-CN" dirty="0"/>
              <a:t>) = 2r + 1            if 2r+1 &lt; </a:t>
            </a:r>
            <a:r>
              <a:rPr lang="en-US" altLang="zh-CN" dirty="0" smtClean="0"/>
              <a:t>n</a:t>
            </a:r>
            <a:endParaRPr lang="en-US" altLang="zh-CN" dirty="0"/>
          </a:p>
          <a:p>
            <a:pPr lvl="1"/>
            <a:r>
              <a:rPr lang="en-US" altLang="zh-CN" dirty="0"/>
              <a:t>Right child(</a:t>
            </a:r>
            <a:r>
              <a:rPr lang="en-US" altLang="zh-CN" i="1" dirty="0"/>
              <a:t>r</a:t>
            </a:r>
            <a:r>
              <a:rPr lang="en-US" altLang="zh-CN" dirty="0"/>
              <a:t>) = 2r + 2         if 2r +2 &lt; </a:t>
            </a:r>
            <a:r>
              <a:rPr lang="en-US" altLang="zh-CN" dirty="0" smtClean="0"/>
              <a:t>n</a:t>
            </a:r>
            <a:endParaRPr lang="en-US" altLang="zh-CN" dirty="0"/>
          </a:p>
          <a:p>
            <a:pPr lvl="1"/>
            <a:r>
              <a:rPr lang="en-US" altLang="zh-CN" dirty="0"/>
              <a:t>Left sibling(</a:t>
            </a:r>
            <a:r>
              <a:rPr lang="en-US" altLang="zh-CN" i="1" dirty="0"/>
              <a:t>r</a:t>
            </a:r>
            <a:r>
              <a:rPr lang="en-US" altLang="zh-CN" dirty="0"/>
              <a:t>) = r - 1    </a:t>
            </a:r>
            <a:r>
              <a:rPr lang="en-US" altLang="zh-CN" dirty="0" smtClean="0"/>
              <a:t>if </a:t>
            </a:r>
            <a:r>
              <a:rPr lang="en-US" altLang="zh-CN" dirty="0"/>
              <a:t>r is even, r &gt; 0 and r &lt; n.</a:t>
            </a:r>
            <a:endParaRPr lang="en-US" altLang="zh-CN" dirty="0"/>
          </a:p>
          <a:p>
            <a:pPr lvl="1"/>
            <a:r>
              <a:rPr lang="en-US" altLang="zh-CN" dirty="0"/>
              <a:t>Right sibling(</a:t>
            </a:r>
            <a:r>
              <a:rPr lang="en-US" altLang="zh-CN" i="1" dirty="0"/>
              <a:t>r</a:t>
            </a:r>
            <a:r>
              <a:rPr lang="en-US" altLang="zh-CN" dirty="0"/>
              <a:t>) = r + 1    </a:t>
            </a:r>
            <a:r>
              <a:rPr lang="en-US" altLang="zh-CN" dirty="0" smtClean="0"/>
              <a:t>if </a:t>
            </a:r>
            <a:r>
              <a:rPr lang="en-US" altLang="zh-CN" dirty="0"/>
              <a:t>r is odd, r +1 &lt; </a:t>
            </a:r>
            <a:r>
              <a:rPr lang="en-US" altLang="zh-CN" dirty="0" smtClean="0"/>
              <a:t>n</a:t>
            </a:r>
            <a:endParaRPr lang="en-US" altLang="zh-CN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dirty="0" smtClean="0">
              <a:latin typeface="Helvetica" pitchFamily="34" charset="0"/>
            </a:endParaRPr>
          </a:p>
          <a:p>
            <a:endParaRPr lang="zh-CN" altLang="en-US" sz="2800" dirty="0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4CD2AE79-F541-4EDF-BA60-BC30E94B913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381639" y="5581248"/>
            <a:ext cx="827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value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" name="Text Box 33"/>
          <p:cNvSpPr txBox="1">
            <a:spLocks noChangeArrowheads="1"/>
          </p:cNvSpPr>
          <p:nvPr/>
        </p:nvSpPr>
        <p:spPr bwMode="auto">
          <a:xfrm>
            <a:off x="366465" y="5993998"/>
            <a:ext cx="846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Sitka Text" panose="02000505000000020004" pitchFamily="2" charset="0"/>
                <a:ea typeface="SimSun" panose="02010600030101010101" pitchFamily="2" charset="-122"/>
              </a:rPr>
              <a:t>index</a:t>
            </a:r>
            <a:endParaRPr lang="en-US" altLang="zh-CN" sz="20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0" name="Oval 34"/>
          <p:cNvSpPr>
            <a:spLocks noChangeArrowheads="1"/>
          </p:cNvSpPr>
          <p:nvPr/>
        </p:nvSpPr>
        <p:spPr bwMode="auto">
          <a:xfrm>
            <a:off x="2388394" y="687625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Oval 35"/>
          <p:cNvSpPr>
            <a:spLocks noChangeArrowheads="1"/>
          </p:cNvSpPr>
          <p:nvPr/>
        </p:nvSpPr>
        <p:spPr bwMode="auto">
          <a:xfrm>
            <a:off x="2845594" y="740965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Oval 36"/>
          <p:cNvSpPr>
            <a:spLocks noChangeArrowheads="1"/>
          </p:cNvSpPr>
          <p:nvPr/>
        </p:nvSpPr>
        <p:spPr bwMode="auto">
          <a:xfrm>
            <a:off x="1931194" y="740965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3" name="AutoShape 37"/>
          <p:cNvCxnSpPr>
            <a:cxnSpLocks noChangeShapeType="1"/>
            <a:stCxn id="10" idx="3"/>
            <a:endCxn id="12" idx="0"/>
          </p:cNvCxnSpPr>
          <p:nvPr/>
        </p:nvCxnSpPr>
        <p:spPr bwMode="auto">
          <a:xfrm flipH="1">
            <a:off x="2104231" y="7169944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38"/>
          <p:cNvCxnSpPr>
            <a:cxnSpLocks noChangeShapeType="1"/>
            <a:stCxn id="10" idx="5"/>
            <a:endCxn id="11" idx="0"/>
          </p:cNvCxnSpPr>
          <p:nvPr/>
        </p:nvCxnSpPr>
        <p:spPr bwMode="auto">
          <a:xfrm>
            <a:off x="2682081" y="7169944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39"/>
          <p:cNvSpPr>
            <a:spLocks noChangeArrowheads="1"/>
          </p:cNvSpPr>
          <p:nvPr/>
        </p:nvSpPr>
        <p:spPr bwMode="auto">
          <a:xfrm>
            <a:off x="2351881" y="7979569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Oval 40"/>
          <p:cNvSpPr>
            <a:spLocks noChangeArrowheads="1"/>
          </p:cNvSpPr>
          <p:nvPr/>
        </p:nvSpPr>
        <p:spPr bwMode="auto">
          <a:xfrm>
            <a:off x="1437481" y="7979569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7" name="AutoShape 41"/>
          <p:cNvCxnSpPr>
            <a:cxnSpLocks noChangeShapeType="1"/>
            <a:stCxn id="12" idx="3"/>
            <a:endCxn id="16" idx="0"/>
          </p:cNvCxnSpPr>
          <p:nvPr/>
        </p:nvCxnSpPr>
        <p:spPr bwMode="auto">
          <a:xfrm flipH="1">
            <a:off x="1610519" y="7703344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42"/>
          <p:cNvCxnSpPr>
            <a:cxnSpLocks noChangeShapeType="1"/>
            <a:stCxn id="12" idx="5"/>
            <a:endCxn id="15" idx="0"/>
          </p:cNvCxnSpPr>
          <p:nvPr/>
        </p:nvCxnSpPr>
        <p:spPr bwMode="auto">
          <a:xfrm>
            <a:off x="2224881" y="7703344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 Box 43"/>
          <p:cNvSpPr txBox="1">
            <a:spLocks noChangeArrowheads="1"/>
          </p:cNvSpPr>
          <p:nvPr/>
        </p:nvSpPr>
        <p:spPr bwMode="auto">
          <a:xfrm>
            <a:off x="12605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18701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Text Box 45"/>
          <p:cNvSpPr txBox="1">
            <a:spLocks noChangeArrowheads="1"/>
          </p:cNvSpPr>
          <p:nvPr/>
        </p:nvSpPr>
        <p:spPr bwMode="auto">
          <a:xfrm>
            <a:off x="24797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30893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3" name="Text Box 47"/>
          <p:cNvSpPr txBox="1">
            <a:spLocks noChangeArrowheads="1"/>
          </p:cNvSpPr>
          <p:nvPr/>
        </p:nvSpPr>
        <p:spPr bwMode="auto">
          <a:xfrm>
            <a:off x="36989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4" name="Text Box 48"/>
          <p:cNvSpPr txBox="1">
            <a:spLocks noChangeArrowheads="1"/>
          </p:cNvSpPr>
          <p:nvPr/>
        </p:nvSpPr>
        <p:spPr bwMode="auto">
          <a:xfrm>
            <a:off x="43085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5" name="Text Box 49"/>
          <p:cNvSpPr txBox="1">
            <a:spLocks noChangeArrowheads="1"/>
          </p:cNvSpPr>
          <p:nvPr/>
        </p:nvSpPr>
        <p:spPr bwMode="auto">
          <a:xfrm>
            <a:off x="49181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6" name="Text Box 50"/>
          <p:cNvSpPr txBox="1">
            <a:spLocks noChangeArrowheads="1"/>
          </p:cNvSpPr>
          <p:nvPr/>
        </p:nvSpPr>
        <p:spPr bwMode="auto">
          <a:xfrm>
            <a:off x="5527711" y="5568578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7" name="Text Box 51"/>
          <p:cNvSpPr txBox="1">
            <a:spLocks noChangeArrowheads="1"/>
          </p:cNvSpPr>
          <p:nvPr/>
        </p:nvSpPr>
        <p:spPr bwMode="auto">
          <a:xfrm>
            <a:off x="12605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0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18701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29" name="Text Box 53"/>
          <p:cNvSpPr txBox="1">
            <a:spLocks noChangeArrowheads="1"/>
          </p:cNvSpPr>
          <p:nvPr/>
        </p:nvSpPr>
        <p:spPr bwMode="auto">
          <a:xfrm>
            <a:off x="24797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2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30" name="Text Box 54"/>
          <p:cNvSpPr txBox="1">
            <a:spLocks noChangeArrowheads="1"/>
          </p:cNvSpPr>
          <p:nvPr/>
        </p:nvSpPr>
        <p:spPr bwMode="auto">
          <a:xfrm>
            <a:off x="30893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3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31" name="Text Box 55"/>
          <p:cNvSpPr txBox="1">
            <a:spLocks noChangeArrowheads="1"/>
          </p:cNvSpPr>
          <p:nvPr/>
        </p:nvSpPr>
        <p:spPr bwMode="auto">
          <a:xfrm>
            <a:off x="36989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4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32" name="Text Box 56"/>
          <p:cNvSpPr txBox="1">
            <a:spLocks noChangeArrowheads="1"/>
          </p:cNvSpPr>
          <p:nvPr/>
        </p:nvSpPr>
        <p:spPr bwMode="auto">
          <a:xfrm>
            <a:off x="43085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5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33" name="Text Box 57"/>
          <p:cNvSpPr txBox="1">
            <a:spLocks noChangeArrowheads="1"/>
          </p:cNvSpPr>
          <p:nvPr/>
        </p:nvSpPr>
        <p:spPr bwMode="auto">
          <a:xfrm>
            <a:off x="49181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6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34" name="Text Box 58"/>
          <p:cNvSpPr txBox="1">
            <a:spLocks noChangeArrowheads="1"/>
          </p:cNvSpPr>
          <p:nvPr/>
        </p:nvSpPr>
        <p:spPr bwMode="auto">
          <a:xfrm>
            <a:off x="5527711" y="602577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  <a:ea typeface="SimSun" panose="02010600030101010101" pitchFamily="2" charset="-122"/>
              </a:rPr>
              <a:t>7</a:t>
            </a:r>
            <a:endParaRPr lang="en-US" altLang="zh-CN" sz="1800" b="1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cxnSp>
        <p:nvCxnSpPr>
          <p:cNvPr id="35" name="AutoShape 59"/>
          <p:cNvCxnSpPr>
            <a:cxnSpLocks noChangeShapeType="1"/>
          </p:cNvCxnSpPr>
          <p:nvPr/>
        </p:nvCxnSpPr>
        <p:spPr bwMode="auto">
          <a:xfrm rot="5400000" flipV="1">
            <a:off x="2813670" y="4959772"/>
            <a:ext cx="1588" cy="1219200"/>
          </a:xfrm>
          <a:prstGeom prst="curvedConnector3">
            <a:avLst>
              <a:gd name="adj1" fmla="val -14400000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60"/>
          <p:cNvCxnSpPr>
            <a:cxnSpLocks noChangeShapeType="1"/>
          </p:cNvCxnSpPr>
          <p:nvPr/>
        </p:nvCxnSpPr>
        <p:spPr bwMode="auto">
          <a:xfrm rot="5400000" flipV="1">
            <a:off x="3118470" y="4654972"/>
            <a:ext cx="1588" cy="1828800"/>
          </a:xfrm>
          <a:prstGeom prst="curvedConnector3">
            <a:avLst>
              <a:gd name="adj1" fmla="val -20400005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 Box 61"/>
          <p:cNvSpPr txBox="1">
            <a:spLocks noChangeArrowheads="1"/>
          </p:cNvSpPr>
          <p:nvPr/>
        </p:nvSpPr>
        <p:spPr bwMode="auto">
          <a:xfrm>
            <a:off x="2702049" y="660838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</a:rPr>
              <a:t>1</a:t>
            </a:r>
            <a:endParaRPr lang="en-US" altLang="zh-CN" sz="1800" dirty="0">
              <a:ea typeface="SimSun" panose="02010600030101010101" pitchFamily="2" charset="-122"/>
            </a:endParaRPr>
          </a:p>
        </p:txBody>
      </p:sp>
      <p:sp>
        <p:nvSpPr>
          <p:cNvPr id="38" name="Text Box 62"/>
          <p:cNvSpPr txBox="1">
            <a:spLocks noChangeArrowheads="1"/>
          </p:cNvSpPr>
          <p:nvPr/>
        </p:nvSpPr>
        <p:spPr bwMode="auto">
          <a:xfrm>
            <a:off x="2123281" y="824785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5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39" name="Text Box 63"/>
          <p:cNvSpPr txBox="1">
            <a:spLocks noChangeArrowheads="1"/>
          </p:cNvSpPr>
          <p:nvPr/>
        </p:nvSpPr>
        <p:spPr bwMode="auto">
          <a:xfrm>
            <a:off x="1208881" y="824785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4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40" name="Text Box 64"/>
          <p:cNvSpPr txBox="1">
            <a:spLocks noChangeArrowheads="1"/>
          </p:cNvSpPr>
          <p:nvPr/>
        </p:nvSpPr>
        <p:spPr bwMode="auto">
          <a:xfrm>
            <a:off x="3037681" y="710485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3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41" name="Text Box 65"/>
          <p:cNvSpPr txBox="1">
            <a:spLocks noChangeArrowheads="1"/>
          </p:cNvSpPr>
          <p:nvPr/>
        </p:nvSpPr>
        <p:spPr bwMode="auto">
          <a:xfrm>
            <a:off x="1666081" y="710485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2</a:t>
            </a:r>
            <a:endParaRPr lang="en-US" altLang="zh-CN" sz="180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8F64-DB36-4B10-A2C9-AEBBF93CF55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107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 Implementation of Heaps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632" y="2627784"/>
            <a:ext cx="674136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template &lt;</a:t>
            </a:r>
            <a:r>
              <a:rPr lang="en-US" altLang="zh-CN" dirty="0" err="1">
                <a:latin typeface="Sitka Text" panose="02000505000000020004" pitchFamily="2" charset="0"/>
              </a:rPr>
              <a:t>typename</a:t>
            </a:r>
            <a:r>
              <a:rPr lang="en-US" altLang="zh-CN" dirty="0">
                <a:latin typeface="Sitka Text" panose="02000505000000020004" pitchFamily="2" charset="0"/>
              </a:rPr>
              <a:t> Comparable&gt;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class </a:t>
            </a:r>
            <a:r>
              <a:rPr lang="en-US" altLang="zh-CN" dirty="0" err="1" smtClean="0">
                <a:latin typeface="Sitka Text" panose="02000505000000020004" pitchFamily="2" charset="0"/>
              </a:rPr>
              <a:t>BinaryHeap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public</a:t>
            </a:r>
            <a:r>
              <a:rPr lang="en-US" altLang="zh-CN" dirty="0">
                <a:latin typeface="Sitka Text" panose="02000505000000020004" pitchFamily="2" charset="0"/>
              </a:rPr>
              <a:t>: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explicit </a:t>
            </a:r>
            <a:r>
              <a:rPr lang="en-US" altLang="zh-CN" dirty="0" err="1">
                <a:latin typeface="Sitka Text" panose="02000505000000020004" pitchFamily="2" charset="0"/>
              </a:rPr>
              <a:t>BinaryHeap</a:t>
            </a:r>
            <a:r>
              <a:rPr lang="en-US" altLang="zh-CN" dirty="0">
                <a:latin typeface="Sitka Text" panose="02000505000000020004" pitchFamily="2" charset="0"/>
              </a:rPr>
              <a:t>(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capacity = 100 );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explicit </a:t>
            </a:r>
            <a:r>
              <a:rPr lang="en-US" altLang="zh-CN" dirty="0" err="1">
                <a:latin typeface="Sitka Text" panose="02000505000000020004" pitchFamily="2" charset="0"/>
              </a:rPr>
              <a:t>BinaryHeap</a:t>
            </a:r>
            <a:r>
              <a:rPr lang="en-US" altLang="zh-CN" dirty="0">
                <a:latin typeface="Sitka Text" panose="02000505000000020004" pitchFamily="2" charset="0"/>
              </a:rPr>
              <a:t>( </a:t>
            </a:r>
            <a:r>
              <a:rPr lang="en-US" altLang="zh-CN" dirty="0" err="1">
                <a:latin typeface="Sitka Text" panose="02000505000000020004" pitchFamily="2" charset="0"/>
              </a:rPr>
              <a:t>const</a:t>
            </a:r>
            <a:r>
              <a:rPr lang="en-US" altLang="zh-CN" dirty="0">
                <a:latin typeface="Sitka Text" panose="02000505000000020004" pitchFamily="2" charset="0"/>
              </a:rPr>
              <a:t> vector&lt;Comparable&gt; &amp; items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</a:t>
            </a:r>
            <a:r>
              <a:rPr lang="en-US" altLang="zh-CN" dirty="0" err="1" smtClean="0">
                <a:latin typeface="Sitka Text" panose="02000505000000020004" pitchFamily="2" charset="0"/>
              </a:rPr>
              <a:t>const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Comparable &amp; </a:t>
            </a:r>
            <a:r>
              <a:rPr lang="en-US" altLang="zh-CN" dirty="0" err="1">
                <a:latin typeface="Sitka Text" panose="02000505000000020004" pitchFamily="2" charset="0"/>
              </a:rPr>
              <a:t>findMin</a:t>
            </a:r>
            <a:r>
              <a:rPr lang="en-US" altLang="zh-CN" dirty="0">
                <a:latin typeface="Sitka Text" panose="02000505000000020004" pitchFamily="2" charset="0"/>
              </a:rPr>
              <a:t>( ) </a:t>
            </a:r>
            <a:r>
              <a:rPr lang="en-US" altLang="zh-CN" dirty="0" err="1">
                <a:latin typeface="Sitka Text" panose="02000505000000020004" pitchFamily="2" charset="0"/>
              </a:rPr>
              <a:t>const</a:t>
            </a:r>
            <a:r>
              <a:rPr lang="en-US" altLang="zh-CN" dirty="0">
                <a:latin typeface="Sitka Text" panose="02000505000000020004" pitchFamily="2" charset="0"/>
              </a:rPr>
              <a:t>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void </a:t>
            </a:r>
            <a:r>
              <a:rPr lang="en-US" altLang="zh-CN" dirty="0">
                <a:latin typeface="Sitka Text" panose="02000505000000020004" pitchFamily="2" charset="0"/>
              </a:rPr>
              <a:t>insert( </a:t>
            </a:r>
            <a:r>
              <a:rPr lang="en-US" altLang="zh-CN" dirty="0" err="1">
                <a:latin typeface="Sitka Text" panose="02000505000000020004" pitchFamily="2" charset="0"/>
              </a:rPr>
              <a:t>const</a:t>
            </a:r>
            <a:r>
              <a:rPr lang="en-US" altLang="zh-CN" dirty="0">
                <a:latin typeface="Sitka Text" panose="02000505000000020004" pitchFamily="2" charset="0"/>
              </a:rPr>
              <a:t> Comparable &amp; x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void </a:t>
            </a:r>
            <a:r>
              <a:rPr lang="en-US" altLang="zh-CN" dirty="0">
                <a:latin typeface="Sitka Text" panose="02000505000000020004" pitchFamily="2" charset="0"/>
              </a:rPr>
              <a:t>insert( Comparable &amp;&amp; x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void </a:t>
            </a:r>
            <a:r>
              <a:rPr lang="en-US" altLang="zh-CN" dirty="0" err="1">
                <a:latin typeface="Sitka Text" panose="02000505000000020004" pitchFamily="2" charset="0"/>
              </a:rPr>
              <a:t>deleteMin</a:t>
            </a:r>
            <a:r>
              <a:rPr lang="en-US" altLang="zh-CN" dirty="0">
                <a:latin typeface="Sitka Text" panose="02000505000000020004" pitchFamily="2" charset="0"/>
              </a:rPr>
              <a:t>(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void </a:t>
            </a:r>
            <a:r>
              <a:rPr lang="en-US" altLang="zh-CN" dirty="0" err="1">
                <a:latin typeface="Sitka Text" panose="02000505000000020004" pitchFamily="2" charset="0"/>
              </a:rPr>
              <a:t>deleteMin</a:t>
            </a:r>
            <a:r>
              <a:rPr lang="en-US" altLang="zh-CN" dirty="0">
                <a:latin typeface="Sitka Text" panose="02000505000000020004" pitchFamily="2" charset="0"/>
              </a:rPr>
              <a:t>( Comparable &amp; </a:t>
            </a:r>
            <a:r>
              <a:rPr lang="en-US" altLang="zh-CN" dirty="0" err="1">
                <a:latin typeface="Sitka Text" panose="02000505000000020004" pitchFamily="2" charset="0"/>
              </a:rPr>
              <a:t>minItem</a:t>
            </a:r>
            <a:r>
              <a:rPr lang="en-US" altLang="zh-CN" dirty="0">
                <a:latin typeface="Sitka Text" panose="02000505000000020004" pitchFamily="2" charset="0"/>
              </a:rPr>
              <a:t> );</a:t>
            </a:r>
            <a:endParaRPr lang="en-US" altLang="zh-CN" dirty="0">
              <a:latin typeface="Sitka Text" panose="02000505000000020004" pitchFamily="2" charset="0"/>
            </a:endParaRPr>
          </a:p>
          <a:p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private</a:t>
            </a:r>
            <a:r>
              <a:rPr lang="en-US" altLang="zh-CN" dirty="0">
                <a:latin typeface="Sitka Text" panose="02000505000000020004" pitchFamily="2" charset="0"/>
              </a:rPr>
              <a:t>: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</a:t>
            </a:r>
            <a:r>
              <a:rPr lang="en-US" altLang="zh-CN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currentSize</a:t>
            </a:r>
            <a:r>
              <a:rPr lang="en-US" altLang="zh-CN" dirty="0">
                <a:latin typeface="Sitka Text" panose="02000505000000020004" pitchFamily="2" charset="0"/>
              </a:rPr>
              <a:t>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Number of elements in heap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vector&lt;Comparable</a:t>
            </a:r>
            <a:r>
              <a:rPr lang="en-US" altLang="zh-CN" dirty="0">
                <a:latin typeface="Sitka Text" panose="02000505000000020004" pitchFamily="2" charset="0"/>
              </a:rPr>
              <a:t>&gt; array;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The heap array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void </a:t>
            </a:r>
            <a:r>
              <a:rPr lang="en-US" altLang="zh-CN" dirty="0" err="1">
                <a:latin typeface="Sitka Text" panose="02000505000000020004" pitchFamily="2" charset="0"/>
              </a:rPr>
              <a:t>buildHeap</a:t>
            </a:r>
            <a:r>
              <a:rPr lang="en-US" altLang="zh-CN" dirty="0">
                <a:latin typeface="Sitka Text" panose="02000505000000020004" pitchFamily="2" charset="0"/>
              </a:rPr>
              <a:t>(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void </a:t>
            </a:r>
            <a:r>
              <a:rPr lang="en-US" altLang="zh-CN" dirty="0" err="1">
                <a:latin typeface="Sitka Text" panose="02000505000000020004" pitchFamily="2" charset="0"/>
              </a:rPr>
              <a:t>percolateDown</a:t>
            </a:r>
            <a:r>
              <a:rPr lang="en-US" altLang="zh-CN" dirty="0">
                <a:latin typeface="Sitka Text" panose="02000505000000020004" pitchFamily="2" charset="0"/>
              </a:rPr>
              <a:t>(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hole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};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5BFE72-69B8-43EF-8816-6B1ED9AD4B5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C8B2D5-0995-49D7-B6A0-7E4772A50A5C}" type="slidenum">
              <a:rPr lang="en-US" altLang="zh-CN" sz="1050"/>
            </a:fld>
            <a:endParaRPr lang="en-US" altLang="zh-CN" sz="105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anose="02010600030101010101" pitchFamily="2" charset="-122"/>
              </a:rPr>
              <a:t>FindMin</a:t>
            </a:r>
            <a:r>
              <a:rPr lang="en-US" altLang="zh-CN" dirty="0" smtClean="0">
                <a:ea typeface="SimSun" panose="02010600030101010101" pitchFamily="2" charset="-122"/>
              </a:rPr>
              <a:t> and </a:t>
            </a:r>
            <a:r>
              <a:rPr lang="en-US" altLang="zh-CN" dirty="0" err="1" smtClean="0">
                <a:ea typeface="SimSun" panose="02010600030101010101" pitchFamily="2" charset="-122"/>
              </a:rPr>
              <a:t>DeleteMin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555776"/>
            <a:ext cx="4328717" cy="5059784"/>
          </a:xfrm>
        </p:spPr>
        <p:txBody>
          <a:bodyPr>
            <a:normAutofit/>
          </a:bodyPr>
          <a:lstStyle/>
          <a:p>
            <a:r>
              <a:rPr lang="en-US" altLang="zh-CN" dirty="0" err="1" smtClean="0">
                <a:ea typeface="SimSun" panose="02010600030101010101" pitchFamily="2" charset="-122"/>
              </a:rPr>
              <a:t>FindMin</a:t>
            </a:r>
            <a:r>
              <a:rPr lang="en-US" altLang="zh-CN" dirty="0" smtClean="0">
                <a:ea typeface="SimSun" panose="02010600030101010101" pitchFamily="2" charset="-122"/>
              </a:rPr>
              <a:t>: Easy!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Return root value A[1]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Run time = ?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err="1" smtClean="0">
                <a:ea typeface="SimSun" panose="02010600030101010101" pitchFamily="2" charset="-122"/>
              </a:rPr>
              <a:t>DeleteMin</a:t>
            </a:r>
            <a:r>
              <a:rPr lang="en-US" altLang="zh-CN" dirty="0" smtClean="0">
                <a:ea typeface="SimSun" panose="02010600030101010101" pitchFamily="2" charset="-122"/>
              </a:rPr>
              <a:t>: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sz="2325" dirty="0">
                <a:ea typeface="SimSun" panose="02010600030101010101" pitchFamily="2" charset="-122"/>
              </a:rPr>
              <a:t>Delete (and return) value at root node</a:t>
            </a:r>
            <a:endParaRPr lang="en-US" altLang="zh-CN" sz="2325" dirty="0">
              <a:ea typeface="SimSun" panose="02010600030101010101" pitchFamily="2" charset="-122"/>
            </a:endParaRPr>
          </a:p>
        </p:txBody>
      </p:sp>
      <p:sp>
        <p:nvSpPr>
          <p:cNvPr id="30" name="Oval 36"/>
          <p:cNvSpPr>
            <a:spLocks noChangeArrowheads="1"/>
          </p:cNvSpPr>
          <p:nvPr/>
        </p:nvSpPr>
        <p:spPr bwMode="auto">
          <a:xfrm>
            <a:off x="4933555" y="3178608"/>
            <a:ext cx="344487" cy="344487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" name="Oval 37"/>
          <p:cNvSpPr>
            <a:spLocks noChangeArrowheads="1"/>
          </p:cNvSpPr>
          <p:nvPr/>
        </p:nvSpPr>
        <p:spPr bwMode="auto">
          <a:xfrm>
            <a:off x="5582842" y="371200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Oval 38"/>
          <p:cNvSpPr>
            <a:spLocks noChangeArrowheads="1"/>
          </p:cNvSpPr>
          <p:nvPr/>
        </p:nvSpPr>
        <p:spPr bwMode="auto">
          <a:xfrm>
            <a:off x="4284267" y="371200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3" name="Oval 39"/>
          <p:cNvSpPr>
            <a:spLocks noChangeArrowheads="1"/>
          </p:cNvSpPr>
          <p:nvPr/>
        </p:nvSpPr>
        <p:spPr bwMode="auto">
          <a:xfrm>
            <a:off x="5924155" y="424540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4" name="Oval 40"/>
          <p:cNvSpPr>
            <a:spLocks noChangeArrowheads="1"/>
          </p:cNvSpPr>
          <p:nvPr/>
        </p:nvSpPr>
        <p:spPr bwMode="auto">
          <a:xfrm>
            <a:off x="5238355" y="424540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5" name="Oval 41"/>
          <p:cNvSpPr>
            <a:spLocks noChangeArrowheads="1"/>
          </p:cNvSpPr>
          <p:nvPr/>
        </p:nvSpPr>
        <p:spPr bwMode="auto">
          <a:xfrm>
            <a:off x="4665267" y="424540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6" name="Oval 42"/>
          <p:cNvSpPr>
            <a:spLocks noChangeArrowheads="1"/>
          </p:cNvSpPr>
          <p:nvPr/>
        </p:nvSpPr>
        <p:spPr bwMode="auto">
          <a:xfrm>
            <a:off x="3866755" y="424540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7" name="Oval 43"/>
          <p:cNvSpPr>
            <a:spLocks noChangeArrowheads="1"/>
          </p:cNvSpPr>
          <p:nvPr/>
        </p:nvSpPr>
        <p:spPr bwMode="auto">
          <a:xfrm>
            <a:off x="4893867" y="485500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8" name="Oval 44"/>
          <p:cNvSpPr>
            <a:spLocks noChangeArrowheads="1"/>
          </p:cNvSpPr>
          <p:nvPr/>
        </p:nvSpPr>
        <p:spPr bwMode="auto">
          <a:xfrm>
            <a:off x="4476355" y="485500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9" name="Oval 45"/>
          <p:cNvSpPr>
            <a:spLocks noChangeArrowheads="1"/>
          </p:cNvSpPr>
          <p:nvPr/>
        </p:nvSpPr>
        <p:spPr bwMode="auto">
          <a:xfrm>
            <a:off x="4055667" y="4855008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0" name="Oval 46"/>
          <p:cNvSpPr>
            <a:spLocks noChangeArrowheads="1"/>
          </p:cNvSpPr>
          <p:nvPr/>
        </p:nvSpPr>
        <p:spPr bwMode="auto">
          <a:xfrm>
            <a:off x="3638155" y="4855008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1" name="AutoShape 47"/>
          <p:cNvCxnSpPr>
            <a:cxnSpLocks noChangeShapeType="1"/>
            <a:stCxn id="36" idx="3"/>
            <a:endCxn id="40" idx="0"/>
          </p:cNvCxnSpPr>
          <p:nvPr/>
        </p:nvCxnSpPr>
        <p:spPr bwMode="auto">
          <a:xfrm flipH="1">
            <a:off x="3811192" y="4539095"/>
            <a:ext cx="106363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48"/>
          <p:cNvCxnSpPr>
            <a:cxnSpLocks noChangeShapeType="1"/>
            <a:stCxn id="36" idx="5"/>
            <a:endCxn id="39" idx="0"/>
          </p:cNvCxnSpPr>
          <p:nvPr/>
        </p:nvCxnSpPr>
        <p:spPr bwMode="auto">
          <a:xfrm>
            <a:off x="4160442" y="4539095"/>
            <a:ext cx="68263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49"/>
          <p:cNvCxnSpPr>
            <a:cxnSpLocks noChangeShapeType="1"/>
            <a:stCxn id="35" idx="3"/>
            <a:endCxn id="38" idx="0"/>
          </p:cNvCxnSpPr>
          <p:nvPr/>
        </p:nvCxnSpPr>
        <p:spPr bwMode="auto">
          <a:xfrm flipH="1">
            <a:off x="4649392" y="4539095"/>
            <a:ext cx="66675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50"/>
          <p:cNvCxnSpPr>
            <a:cxnSpLocks noChangeShapeType="1"/>
            <a:stCxn id="35" idx="5"/>
            <a:endCxn id="37" idx="0"/>
          </p:cNvCxnSpPr>
          <p:nvPr/>
        </p:nvCxnSpPr>
        <p:spPr bwMode="auto">
          <a:xfrm>
            <a:off x="4958955" y="4539095"/>
            <a:ext cx="107950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51"/>
          <p:cNvCxnSpPr>
            <a:cxnSpLocks noChangeShapeType="1"/>
            <a:stCxn id="32" idx="3"/>
            <a:endCxn id="36" idx="0"/>
          </p:cNvCxnSpPr>
          <p:nvPr/>
        </p:nvCxnSpPr>
        <p:spPr bwMode="auto">
          <a:xfrm flipH="1">
            <a:off x="4039792" y="4005695"/>
            <a:ext cx="295275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52"/>
          <p:cNvCxnSpPr>
            <a:cxnSpLocks noChangeShapeType="1"/>
            <a:stCxn id="32" idx="5"/>
            <a:endCxn id="35" idx="0"/>
          </p:cNvCxnSpPr>
          <p:nvPr/>
        </p:nvCxnSpPr>
        <p:spPr bwMode="auto">
          <a:xfrm>
            <a:off x="4577955" y="4005695"/>
            <a:ext cx="26035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53"/>
          <p:cNvCxnSpPr>
            <a:cxnSpLocks noChangeShapeType="1"/>
            <a:stCxn id="31" idx="3"/>
            <a:endCxn id="34" idx="0"/>
          </p:cNvCxnSpPr>
          <p:nvPr/>
        </p:nvCxnSpPr>
        <p:spPr bwMode="auto">
          <a:xfrm flipH="1">
            <a:off x="5411392" y="4005695"/>
            <a:ext cx="22225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54"/>
          <p:cNvCxnSpPr>
            <a:cxnSpLocks noChangeShapeType="1"/>
            <a:stCxn id="31" idx="5"/>
            <a:endCxn id="33" idx="0"/>
          </p:cNvCxnSpPr>
          <p:nvPr/>
        </p:nvCxnSpPr>
        <p:spPr bwMode="auto">
          <a:xfrm>
            <a:off x="5876530" y="4005695"/>
            <a:ext cx="220662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55"/>
          <p:cNvCxnSpPr>
            <a:cxnSpLocks noChangeShapeType="1"/>
            <a:stCxn id="30" idx="3"/>
            <a:endCxn id="32" idx="0"/>
          </p:cNvCxnSpPr>
          <p:nvPr/>
        </p:nvCxnSpPr>
        <p:spPr bwMode="auto">
          <a:xfrm flipH="1">
            <a:off x="4457305" y="3491345"/>
            <a:ext cx="527050" cy="2206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56"/>
          <p:cNvCxnSpPr>
            <a:cxnSpLocks noChangeShapeType="1"/>
            <a:stCxn id="30" idx="5"/>
            <a:endCxn id="31" idx="0"/>
          </p:cNvCxnSpPr>
          <p:nvPr/>
        </p:nvCxnSpPr>
        <p:spPr bwMode="auto">
          <a:xfrm>
            <a:off x="5227242" y="3491345"/>
            <a:ext cx="528638" cy="2206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57"/>
          <p:cNvSpPr>
            <a:spLocks noChangeArrowheads="1"/>
          </p:cNvSpPr>
          <p:nvPr/>
        </p:nvSpPr>
        <p:spPr bwMode="auto">
          <a:xfrm>
            <a:off x="3694510" y="3288171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ea typeface="SimSun" panose="02010600030101010101" pitchFamily="2" charset="-122"/>
            </a:endParaRPr>
          </a:p>
        </p:txBody>
      </p:sp>
      <p:cxnSp>
        <p:nvCxnSpPr>
          <p:cNvPr id="52" name="AutoShape 58"/>
          <p:cNvCxnSpPr>
            <a:cxnSpLocks noChangeShapeType="1"/>
            <a:stCxn id="51" idx="6"/>
            <a:endCxn id="30" idx="2"/>
          </p:cNvCxnSpPr>
          <p:nvPr/>
        </p:nvCxnSpPr>
        <p:spPr bwMode="auto">
          <a:xfrm>
            <a:off x="3770710" y="3326271"/>
            <a:ext cx="1162845" cy="24581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Oval 43"/>
          <p:cNvSpPr>
            <a:spLocks noChangeArrowheads="1"/>
          </p:cNvSpPr>
          <p:nvPr/>
        </p:nvSpPr>
        <p:spPr bwMode="auto">
          <a:xfrm>
            <a:off x="5466954" y="653045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6" name="Oval 44"/>
          <p:cNvSpPr>
            <a:spLocks noChangeArrowheads="1"/>
          </p:cNvSpPr>
          <p:nvPr/>
        </p:nvSpPr>
        <p:spPr bwMode="auto">
          <a:xfrm>
            <a:off x="4168379" y="653045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7" name="Oval 45"/>
          <p:cNvSpPr>
            <a:spLocks noChangeArrowheads="1"/>
          </p:cNvSpPr>
          <p:nvPr/>
        </p:nvSpPr>
        <p:spPr bwMode="auto">
          <a:xfrm>
            <a:off x="5808267" y="706385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8" name="Oval 46"/>
          <p:cNvSpPr>
            <a:spLocks noChangeArrowheads="1"/>
          </p:cNvSpPr>
          <p:nvPr/>
        </p:nvSpPr>
        <p:spPr bwMode="auto">
          <a:xfrm>
            <a:off x="5122467" y="706385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9" name="Oval 47"/>
          <p:cNvSpPr>
            <a:spLocks noChangeArrowheads="1"/>
          </p:cNvSpPr>
          <p:nvPr/>
        </p:nvSpPr>
        <p:spPr bwMode="auto">
          <a:xfrm>
            <a:off x="4549379" y="706385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0" name="Oval 48"/>
          <p:cNvSpPr>
            <a:spLocks noChangeArrowheads="1"/>
          </p:cNvSpPr>
          <p:nvPr/>
        </p:nvSpPr>
        <p:spPr bwMode="auto">
          <a:xfrm>
            <a:off x="3750867" y="706385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1" name="Oval 49"/>
          <p:cNvSpPr>
            <a:spLocks noChangeArrowheads="1"/>
          </p:cNvSpPr>
          <p:nvPr/>
        </p:nvSpPr>
        <p:spPr bwMode="auto">
          <a:xfrm>
            <a:off x="4777979" y="767345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2" name="Oval 50"/>
          <p:cNvSpPr>
            <a:spLocks noChangeArrowheads="1"/>
          </p:cNvSpPr>
          <p:nvPr/>
        </p:nvSpPr>
        <p:spPr bwMode="auto">
          <a:xfrm>
            <a:off x="4360467" y="767345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3939779" y="767345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4" name="Oval 52"/>
          <p:cNvSpPr>
            <a:spLocks noChangeArrowheads="1"/>
          </p:cNvSpPr>
          <p:nvPr/>
        </p:nvSpPr>
        <p:spPr bwMode="auto">
          <a:xfrm>
            <a:off x="3522267" y="767345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65" name="AutoShape 53"/>
          <p:cNvCxnSpPr>
            <a:cxnSpLocks noChangeShapeType="1"/>
            <a:stCxn id="60" idx="3"/>
            <a:endCxn id="64" idx="0"/>
          </p:cNvCxnSpPr>
          <p:nvPr/>
        </p:nvCxnSpPr>
        <p:spPr bwMode="auto">
          <a:xfrm flipH="1">
            <a:off x="3695304" y="7357537"/>
            <a:ext cx="106363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54"/>
          <p:cNvCxnSpPr>
            <a:cxnSpLocks noChangeShapeType="1"/>
            <a:stCxn id="60" idx="5"/>
            <a:endCxn id="63" idx="0"/>
          </p:cNvCxnSpPr>
          <p:nvPr/>
        </p:nvCxnSpPr>
        <p:spPr bwMode="auto">
          <a:xfrm>
            <a:off x="4044554" y="7357537"/>
            <a:ext cx="68263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55"/>
          <p:cNvCxnSpPr>
            <a:cxnSpLocks noChangeShapeType="1"/>
            <a:stCxn id="59" idx="3"/>
            <a:endCxn id="62" idx="0"/>
          </p:cNvCxnSpPr>
          <p:nvPr/>
        </p:nvCxnSpPr>
        <p:spPr bwMode="auto">
          <a:xfrm flipH="1">
            <a:off x="4533504" y="7357537"/>
            <a:ext cx="66675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56"/>
          <p:cNvCxnSpPr>
            <a:cxnSpLocks noChangeShapeType="1"/>
            <a:stCxn id="59" idx="5"/>
            <a:endCxn id="61" idx="0"/>
          </p:cNvCxnSpPr>
          <p:nvPr/>
        </p:nvCxnSpPr>
        <p:spPr bwMode="auto">
          <a:xfrm>
            <a:off x="4843067" y="7357537"/>
            <a:ext cx="107950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57"/>
          <p:cNvCxnSpPr>
            <a:cxnSpLocks noChangeShapeType="1"/>
            <a:stCxn id="56" idx="3"/>
            <a:endCxn id="60" idx="0"/>
          </p:cNvCxnSpPr>
          <p:nvPr/>
        </p:nvCxnSpPr>
        <p:spPr bwMode="auto">
          <a:xfrm flipH="1">
            <a:off x="3923904" y="6824137"/>
            <a:ext cx="295275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58"/>
          <p:cNvCxnSpPr>
            <a:cxnSpLocks noChangeShapeType="1"/>
            <a:stCxn id="56" idx="5"/>
            <a:endCxn id="59" idx="0"/>
          </p:cNvCxnSpPr>
          <p:nvPr/>
        </p:nvCxnSpPr>
        <p:spPr bwMode="auto">
          <a:xfrm>
            <a:off x="4462067" y="6824137"/>
            <a:ext cx="26035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AutoShape 59"/>
          <p:cNvCxnSpPr>
            <a:cxnSpLocks noChangeShapeType="1"/>
            <a:stCxn id="55" idx="3"/>
            <a:endCxn id="58" idx="0"/>
          </p:cNvCxnSpPr>
          <p:nvPr/>
        </p:nvCxnSpPr>
        <p:spPr bwMode="auto">
          <a:xfrm flipH="1">
            <a:off x="5295504" y="6824137"/>
            <a:ext cx="22225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60"/>
          <p:cNvCxnSpPr>
            <a:cxnSpLocks noChangeShapeType="1"/>
            <a:stCxn id="55" idx="5"/>
            <a:endCxn id="57" idx="0"/>
          </p:cNvCxnSpPr>
          <p:nvPr/>
        </p:nvCxnSpPr>
        <p:spPr bwMode="auto">
          <a:xfrm>
            <a:off x="5760642" y="6824137"/>
            <a:ext cx="220662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61"/>
          <p:cNvCxnSpPr>
            <a:cxnSpLocks noChangeShapeType="1"/>
            <a:stCxn id="75" idx="3"/>
            <a:endCxn id="56" idx="0"/>
          </p:cNvCxnSpPr>
          <p:nvPr/>
        </p:nvCxnSpPr>
        <p:spPr bwMode="auto">
          <a:xfrm flipH="1">
            <a:off x="4341417" y="6233587"/>
            <a:ext cx="527050" cy="296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62"/>
          <p:cNvCxnSpPr>
            <a:cxnSpLocks noChangeShapeType="1"/>
            <a:stCxn id="75" idx="5"/>
            <a:endCxn id="55" idx="0"/>
          </p:cNvCxnSpPr>
          <p:nvPr/>
        </p:nvCxnSpPr>
        <p:spPr bwMode="auto">
          <a:xfrm>
            <a:off x="5111354" y="6233587"/>
            <a:ext cx="528638" cy="296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64"/>
          <p:cNvSpPr>
            <a:spLocks noChangeArrowheads="1"/>
          </p:cNvSpPr>
          <p:nvPr/>
        </p:nvSpPr>
        <p:spPr bwMode="auto">
          <a:xfrm>
            <a:off x="4817667" y="5920850"/>
            <a:ext cx="344487" cy="344487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86934" y="5721017"/>
            <a:ext cx="360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？</a:t>
            </a:r>
            <a:endParaRPr lang="zh-CN" altLang="en-US" sz="3200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7EE34E-5C95-4159-8EA6-5CDA7A16DF7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1297F-FCDD-46B9-A6EC-22C9CBF45D89}" type="slidenum">
              <a:rPr lang="en-US" altLang="zh-CN" sz="1050"/>
            </a:fld>
            <a:endParaRPr lang="en-US" altLang="zh-CN" sz="1050"/>
          </a:p>
        </p:txBody>
      </p:sp>
      <p:sp>
        <p:nvSpPr>
          <p:cNvPr id="20485" name="Rectangle 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Maintain the Structure Property</a:t>
            </a:r>
            <a:endParaRPr lang="en-US" altLang="zh-CN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20486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470298" y="2738438"/>
            <a:ext cx="6127054" cy="5577978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ea typeface="SimSun" panose="02010600030101010101" pitchFamily="2" charset="-122"/>
              </a:rPr>
              <a:t>We now have a “Hole” at the root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Need to fill the hole with another value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49" name="Oval 3"/>
          <p:cNvSpPr>
            <a:spLocks noChangeArrowheads="1"/>
          </p:cNvSpPr>
          <p:nvPr/>
        </p:nvSpPr>
        <p:spPr bwMode="auto">
          <a:xfrm>
            <a:off x="3791471" y="4427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Oval 4"/>
          <p:cNvSpPr>
            <a:spLocks noChangeArrowheads="1"/>
          </p:cNvSpPr>
          <p:nvPr/>
        </p:nvSpPr>
        <p:spPr bwMode="auto">
          <a:xfrm>
            <a:off x="2492896" y="4427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1" name="Oval 5"/>
          <p:cNvSpPr>
            <a:spLocks noChangeArrowheads="1"/>
          </p:cNvSpPr>
          <p:nvPr/>
        </p:nvSpPr>
        <p:spPr bwMode="auto">
          <a:xfrm>
            <a:off x="4132784" y="4961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10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2" name="Oval 6"/>
          <p:cNvSpPr>
            <a:spLocks noChangeArrowheads="1"/>
          </p:cNvSpPr>
          <p:nvPr/>
        </p:nvSpPr>
        <p:spPr bwMode="auto">
          <a:xfrm>
            <a:off x="3446984" y="4961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3" name="Oval 7"/>
          <p:cNvSpPr>
            <a:spLocks noChangeArrowheads="1"/>
          </p:cNvSpPr>
          <p:nvPr/>
        </p:nvSpPr>
        <p:spPr bwMode="auto">
          <a:xfrm>
            <a:off x="2873896" y="49613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Oval 8"/>
          <p:cNvSpPr>
            <a:spLocks noChangeArrowheads="1"/>
          </p:cNvSpPr>
          <p:nvPr/>
        </p:nvSpPr>
        <p:spPr bwMode="auto">
          <a:xfrm>
            <a:off x="2075384" y="4961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7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5" name="Oval 9"/>
          <p:cNvSpPr>
            <a:spLocks noChangeArrowheads="1"/>
          </p:cNvSpPr>
          <p:nvPr/>
        </p:nvSpPr>
        <p:spPr bwMode="auto">
          <a:xfrm>
            <a:off x="3102496" y="5570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14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6" name="Oval 10"/>
          <p:cNvSpPr>
            <a:spLocks noChangeArrowheads="1"/>
          </p:cNvSpPr>
          <p:nvPr/>
        </p:nvSpPr>
        <p:spPr bwMode="auto">
          <a:xfrm>
            <a:off x="2684984" y="55709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6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7" name="Oval 11"/>
          <p:cNvSpPr>
            <a:spLocks noChangeArrowheads="1"/>
          </p:cNvSpPr>
          <p:nvPr/>
        </p:nvSpPr>
        <p:spPr bwMode="auto">
          <a:xfrm>
            <a:off x="2264296" y="5570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9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8" name="Oval 12"/>
          <p:cNvSpPr>
            <a:spLocks noChangeArrowheads="1"/>
          </p:cNvSpPr>
          <p:nvPr/>
        </p:nvSpPr>
        <p:spPr bwMode="auto">
          <a:xfrm>
            <a:off x="1846784" y="55709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11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cxnSp>
        <p:nvCxnSpPr>
          <p:cNvPr id="59" name="AutoShape 13"/>
          <p:cNvCxnSpPr>
            <a:cxnSpLocks noChangeShapeType="1"/>
            <a:stCxn id="54" idx="3"/>
            <a:endCxn id="58" idx="0"/>
          </p:cNvCxnSpPr>
          <p:nvPr/>
        </p:nvCxnSpPr>
        <p:spPr bwMode="auto">
          <a:xfrm flipH="1">
            <a:off x="2019821" y="5255072"/>
            <a:ext cx="106363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14"/>
          <p:cNvCxnSpPr>
            <a:cxnSpLocks noChangeShapeType="1"/>
            <a:stCxn id="54" idx="5"/>
            <a:endCxn id="57" idx="0"/>
          </p:cNvCxnSpPr>
          <p:nvPr/>
        </p:nvCxnSpPr>
        <p:spPr bwMode="auto">
          <a:xfrm>
            <a:off x="2369071" y="5255072"/>
            <a:ext cx="68263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15"/>
          <p:cNvCxnSpPr>
            <a:cxnSpLocks noChangeShapeType="1"/>
            <a:stCxn id="53" idx="3"/>
            <a:endCxn id="56" idx="0"/>
          </p:cNvCxnSpPr>
          <p:nvPr/>
        </p:nvCxnSpPr>
        <p:spPr bwMode="auto">
          <a:xfrm flipH="1">
            <a:off x="2858021" y="5255072"/>
            <a:ext cx="66675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16"/>
          <p:cNvCxnSpPr>
            <a:cxnSpLocks noChangeShapeType="1"/>
            <a:stCxn id="53" idx="5"/>
            <a:endCxn id="55" idx="0"/>
          </p:cNvCxnSpPr>
          <p:nvPr/>
        </p:nvCxnSpPr>
        <p:spPr bwMode="auto">
          <a:xfrm>
            <a:off x="3167584" y="5255072"/>
            <a:ext cx="107950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17"/>
          <p:cNvCxnSpPr>
            <a:cxnSpLocks noChangeShapeType="1"/>
            <a:stCxn id="50" idx="3"/>
            <a:endCxn id="54" idx="0"/>
          </p:cNvCxnSpPr>
          <p:nvPr/>
        </p:nvCxnSpPr>
        <p:spPr bwMode="auto">
          <a:xfrm flipH="1">
            <a:off x="2248421" y="4721672"/>
            <a:ext cx="295275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18"/>
          <p:cNvCxnSpPr>
            <a:cxnSpLocks noChangeShapeType="1"/>
            <a:stCxn id="50" idx="5"/>
            <a:endCxn id="53" idx="0"/>
          </p:cNvCxnSpPr>
          <p:nvPr/>
        </p:nvCxnSpPr>
        <p:spPr bwMode="auto">
          <a:xfrm>
            <a:off x="2786584" y="4721672"/>
            <a:ext cx="260350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19"/>
          <p:cNvCxnSpPr>
            <a:cxnSpLocks noChangeShapeType="1"/>
            <a:stCxn id="49" idx="3"/>
            <a:endCxn id="52" idx="0"/>
          </p:cNvCxnSpPr>
          <p:nvPr/>
        </p:nvCxnSpPr>
        <p:spPr bwMode="auto">
          <a:xfrm flipH="1">
            <a:off x="3620021" y="4721672"/>
            <a:ext cx="222250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0"/>
          <p:cNvCxnSpPr>
            <a:cxnSpLocks noChangeShapeType="1"/>
            <a:stCxn id="49" idx="5"/>
            <a:endCxn id="51" idx="0"/>
          </p:cNvCxnSpPr>
          <p:nvPr/>
        </p:nvCxnSpPr>
        <p:spPr bwMode="auto">
          <a:xfrm>
            <a:off x="4085159" y="4721672"/>
            <a:ext cx="220662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21"/>
          <p:cNvCxnSpPr>
            <a:cxnSpLocks noChangeShapeType="1"/>
            <a:stCxn id="69" idx="3"/>
            <a:endCxn id="50" idx="0"/>
          </p:cNvCxnSpPr>
          <p:nvPr/>
        </p:nvCxnSpPr>
        <p:spPr bwMode="auto">
          <a:xfrm flipH="1">
            <a:off x="2665934" y="4131122"/>
            <a:ext cx="527050" cy="29686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22"/>
          <p:cNvCxnSpPr>
            <a:cxnSpLocks noChangeShapeType="1"/>
            <a:stCxn id="69" idx="5"/>
            <a:endCxn id="49" idx="0"/>
          </p:cNvCxnSpPr>
          <p:nvPr/>
        </p:nvCxnSpPr>
        <p:spPr bwMode="auto">
          <a:xfrm>
            <a:off x="3435871" y="4131122"/>
            <a:ext cx="528638" cy="29686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Oval 24"/>
          <p:cNvSpPr>
            <a:spLocks noChangeArrowheads="1"/>
          </p:cNvSpPr>
          <p:nvPr/>
        </p:nvSpPr>
        <p:spPr bwMode="auto">
          <a:xfrm>
            <a:off x="3142184" y="3818384"/>
            <a:ext cx="344487" cy="344488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zh-CN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7EE34E-5C95-4159-8EA6-5CDA7A16DF7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1297F-FCDD-46B9-A6EC-22C9CBF45D89}" type="slidenum">
              <a:rPr lang="en-US" altLang="zh-CN" sz="1050"/>
            </a:fld>
            <a:endParaRPr lang="en-US" altLang="zh-CN" sz="1050"/>
          </a:p>
        </p:txBody>
      </p:sp>
      <p:sp>
        <p:nvSpPr>
          <p:cNvPr id="20485" name="Rectangle 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Maintain the Structure Property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0486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470297" y="2738438"/>
            <a:ext cx="5947181" cy="3086100"/>
          </a:xfrm>
        </p:spPr>
        <p:txBody>
          <a:bodyPr/>
          <a:lstStyle/>
          <a:p>
            <a:r>
              <a:rPr lang="en-US" altLang="zh-CN" dirty="0"/>
              <a:t>When we get done, the tree will have one less node and must still be complete</a:t>
            </a:r>
            <a:endParaRPr lang="en-US" altLang="zh-CN" dirty="0"/>
          </a:p>
        </p:txBody>
      </p:sp>
      <p:sp>
        <p:nvSpPr>
          <p:cNvPr id="49" name="Oval 25"/>
          <p:cNvSpPr>
            <a:spLocks noChangeArrowheads="1"/>
          </p:cNvSpPr>
          <p:nvPr/>
        </p:nvSpPr>
        <p:spPr bwMode="auto">
          <a:xfrm>
            <a:off x="3891762" y="5201471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Oval 26"/>
          <p:cNvSpPr>
            <a:spLocks noChangeArrowheads="1"/>
          </p:cNvSpPr>
          <p:nvPr/>
        </p:nvSpPr>
        <p:spPr bwMode="auto">
          <a:xfrm>
            <a:off x="2593187" y="5201471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1" name="Oval 27"/>
          <p:cNvSpPr>
            <a:spLocks noChangeArrowheads="1"/>
          </p:cNvSpPr>
          <p:nvPr/>
        </p:nvSpPr>
        <p:spPr bwMode="auto">
          <a:xfrm>
            <a:off x="4233074" y="5734871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10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2" name="Oval 28"/>
          <p:cNvSpPr>
            <a:spLocks noChangeArrowheads="1"/>
          </p:cNvSpPr>
          <p:nvPr/>
        </p:nvSpPr>
        <p:spPr bwMode="auto">
          <a:xfrm>
            <a:off x="3547274" y="5734871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3" name="Oval 29"/>
          <p:cNvSpPr>
            <a:spLocks noChangeArrowheads="1"/>
          </p:cNvSpPr>
          <p:nvPr/>
        </p:nvSpPr>
        <p:spPr bwMode="auto">
          <a:xfrm>
            <a:off x="2974187" y="5734871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Oval 30"/>
          <p:cNvSpPr>
            <a:spLocks noChangeArrowheads="1"/>
          </p:cNvSpPr>
          <p:nvPr/>
        </p:nvSpPr>
        <p:spPr bwMode="auto">
          <a:xfrm>
            <a:off x="2175674" y="5734871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7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5" name="Oval 31"/>
          <p:cNvSpPr>
            <a:spLocks noChangeArrowheads="1"/>
          </p:cNvSpPr>
          <p:nvPr/>
        </p:nvSpPr>
        <p:spPr bwMode="auto">
          <a:xfrm>
            <a:off x="3242474" y="6344471"/>
            <a:ext cx="344488" cy="344488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</a:rPr>
              <a:t>14</a:t>
            </a:r>
            <a:endParaRPr lang="en-US" altLang="zh-CN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Oval 32"/>
          <p:cNvSpPr>
            <a:spLocks noChangeArrowheads="1"/>
          </p:cNvSpPr>
          <p:nvPr/>
        </p:nvSpPr>
        <p:spPr bwMode="auto">
          <a:xfrm>
            <a:off x="2785274" y="6344471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6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7" name="Oval 33"/>
          <p:cNvSpPr>
            <a:spLocks noChangeArrowheads="1"/>
          </p:cNvSpPr>
          <p:nvPr/>
        </p:nvSpPr>
        <p:spPr bwMode="auto">
          <a:xfrm>
            <a:off x="2364587" y="6344471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9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8" name="Oval 34"/>
          <p:cNvSpPr>
            <a:spLocks noChangeArrowheads="1"/>
          </p:cNvSpPr>
          <p:nvPr/>
        </p:nvSpPr>
        <p:spPr bwMode="auto">
          <a:xfrm>
            <a:off x="1947074" y="6344471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11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cxnSp>
        <p:nvCxnSpPr>
          <p:cNvPr id="59" name="AutoShape 35"/>
          <p:cNvCxnSpPr>
            <a:cxnSpLocks noChangeShapeType="1"/>
            <a:stCxn id="54" idx="3"/>
            <a:endCxn id="58" idx="0"/>
          </p:cNvCxnSpPr>
          <p:nvPr/>
        </p:nvCxnSpPr>
        <p:spPr bwMode="auto">
          <a:xfrm flipH="1">
            <a:off x="2120112" y="6028559"/>
            <a:ext cx="106362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36"/>
          <p:cNvCxnSpPr>
            <a:cxnSpLocks noChangeShapeType="1"/>
            <a:stCxn id="54" idx="5"/>
            <a:endCxn id="57" idx="0"/>
          </p:cNvCxnSpPr>
          <p:nvPr/>
        </p:nvCxnSpPr>
        <p:spPr bwMode="auto">
          <a:xfrm>
            <a:off x="2469362" y="6028559"/>
            <a:ext cx="68262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37"/>
          <p:cNvCxnSpPr>
            <a:cxnSpLocks noChangeShapeType="1"/>
            <a:stCxn id="53" idx="3"/>
            <a:endCxn id="56" idx="0"/>
          </p:cNvCxnSpPr>
          <p:nvPr/>
        </p:nvCxnSpPr>
        <p:spPr bwMode="auto">
          <a:xfrm flipH="1">
            <a:off x="2958312" y="6028559"/>
            <a:ext cx="66675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38"/>
          <p:cNvCxnSpPr>
            <a:cxnSpLocks noChangeShapeType="1"/>
            <a:stCxn id="53" idx="5"/>
            <a:endCxn id="55" idx="0"/>
          </p:cNvCxnSpPr>
          <p:nvPr/>
        </p:nvCxnSpPr>
        <p:spPr bwMode="auto">
          <a:xfrm>
            <a:off x="3267874" y="6028559"/>
            <a:ext cx="147638" cy="303212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39"/>
          <p:cNvCxnSpPr>
            <a:cxnSpLocks noChangeShapeType="1"/>
            <a:stCxn id="50" idx="3"/>
            <a:endCxn id="54" idx="0"/>
          </p:cNvCxnSpPr>
          <p:nvPr/>
        </p:nvCxnSpPr>
        <p:spPr bwMode="auto">
          <a:xfrm flipH="1">
            <a:off x="2348712" y="5495159"/>
            <a:ext cx="295275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40"/>
          <p:cNvCxnSpPr>
            <a:cxnSpLocks noChangeShapeType="1"/>
            <a:stCxn id="50" idx="5"/>
            <a:endCxn id="53" idx="0"/>
          </p:cNvCxnSpPr>
          <p:nvPr/>
        </p:nvCxnSpPr>
        <p:spPr bwMode="auto">
          <a:xfrm>
            <a:off x="2886874" y="5495159"/>
            <a:ext cx="260350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41"/>
          <p:cNvCxnSpPr>
            <a:cxnSpLocks noChangeShapeType="1"/>
            <a:stCxn id="49" idx="3"/>
            <a:endCxn id="52" idx="0"/>
          </p:cNvCxnSpPr>
          <p:nvPr/>
        </p:nvCxnSpPr>
        <p:spPr bwMode="auto">
          <a:xfrm flipH="1">
            <a:off x="3720312" y="5495159"/>
            <a:ext cx="222250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42"/>
          <p:cNvCxnSpPr>
            <a:cxnSpLocks noChangeShapeType="1"/>
            <a:stCxn id="49" idx="5"/>
            <a:endCxn id="51" idx="0"/>
          </p:cNvCxnSpPr>
          <p:nvPr/>
        </p:nvCxnSpPr>
        <p:spPr bwMode="auto">
          <a:xfrm>
            <a:off x="4185449" y="5495159"/>
            <a:ext cx="220663" cy="2397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43"/>
          <p:cNvCxnSpPr>
            <a:cxnSpLocks noChangeShapeType="1"/>
            <a:stCxn id="69" idx="3"/>
            <a:endCxn id="50" idx="0"/>
          </p:cNvCxnSpPr>
          <p:nvPr/>
        </p:nvCxnSpPr>
        <p:spPr bwMode="auto">
          <a:xfrm flipH="1">
            <a:off x="2766224" y="4885559"/>
            <a:ext cx="527050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44"/>
          <p:cNvCxnSpPr>
            <a:cxnSpLocks noChangeShapeType="1"/>
            <a:stCxn id="69" idx="5"/>
            <a:endCxn id="49" idx="0"/>
          </p:cNvCxnSpPr>
          <p:nvPr/>
        </p:nvCxnSpPr>
        <p:spPr bwMode="auto">
          <a:xfrm>
            <a:off x="3536162" y="4885559"/>
            <a:ext cx="528637" cy="3159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Oval 45"/>
          <p:cNvSpPr>
            <a:spLocks noChangeArrowheads="1"/>
          </p:cNvSpPr>
          <p:nvPr/>
        </p:nvSpPr>
        <p:spPr bwMode="auto">
          <a:xfrm>
            <a:off x="3242474" y="4591871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8F64-DB36-4B10-A2C9-AEBBF93CF55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107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Maintain the Heap Property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1510" name="Rectangle 1073"/>
          <p:cNvSpPr>
            <a:spLocks noGrp="1" noChangeArrowheads="1"/>
          </p:cNvSpPr>
          <p:nvPr>
            <p:ph type="body" idx="1"/>
          </p:nvPr>
        </p:nvSpPr>
        <p:spPr>
          <a:xfrm>
            <a:off x="548679" y="2627784"/>
            <a:ext cx="5868799" cy="308610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The last value has lost its node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 we need to find a new place for it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We can do a simple insertion sort operation to find the correct place for it in the tree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8" name="Oval 1049"/>
          <p:cNvSpPr>
            <a:spLocks noChangeArrowheads="1"/>
          </p:cNvSpPr>
          <p:nvPr/>
        </p:nvSpPr>
        <p:spPr bwMode="auto">
          <a:xfrm>
            <a:off x="3958718" y="615124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Oval 1050"/>
          <p:cNvSpPr>
            <a:spLocks noChangeArrowheads="1"/>
          </p:cNvSpPr>
          <p:nvPr/>
        </p:nvSpPr>
        <p:spPr bwMode="auto">
          <a:xfrm>
            <a:off x="2660143" y="615124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" name="Oval 1051"/>
          <p:cNvSpPr>
            <a:spLocks noChangeArrowheads="1"/>
          </p:cNvSpPr>
          <p:nvPr/>
        </p:nvSpPr>
        <p:spPr bwMode="auto">
          <a:xfrm>
            <a:off x="4300030" y="668464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10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" name="Oval 1052"/>
          <p:cNvSpPr>
            <a:spLocks noChangeArrowheads="1"/>
          </p:cNvSpPr>
          <p:nvPr/>
        </p:nvSpPr>
        <p:spPr bwMode="auto">
          <a:xfrm>
            <a:off x="3614230" y="668464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2" name="Oval 1053"/>
          <p:cNvSpPr>
            <a:spLocks noChangeArrowheads="1"/>
          </p:cNvSpPr>
          <p:nvPr/>
        </p:nvSpPr>
        <p:spPr bwMode="auto">
          <a:xfrm>
            <a:off x="3041143" y="668464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3" name="Oval 1054"/>
          <p:cNvSpPr>
            <a:spLocks noChangeArrowheads="1"/>
          </p:cNvSpPr>
          <p:nvPr/>
        </p:nvSpPr>
        <p:spPr bwMode="auto">
          <a:xfrm>
            <a:off x="2242630" y="668464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7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4" name="Oval 1055"/>
          <p:cNvSpPr>
            <a:spLocks noChangeArrowheads="1"/>
          </p:cNvSpPr>
          <p:nvPr/>
        </p:nvSpPr>
        <p:spPr bwMode="auto">
          <a:xfrm>
            <a:off x="3269743" y="4590727"/>
            <a:ext cx="344487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smtClean="0">
                <a:solidFill>
                  <a:srgbClr val="3333CC"/>
                </a:solidFill>
                <a:latin typeface="Times New Roman" panose="02020603050405020304" pitchFamily="18" charset="0"/>
              </a:rPr>
              <a:t>14</a:t>
            </a:r>
            <a:endParaRPr lang="en-US" altLang="zh-CN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Oval 1056"/>
          <p:cNvSpPr>
            <a:spLocks noChangeArrowheads="1"/>
          </p:cNvSpPr>
          <p:nvPr/>
        </p:nvSpPr>
        <p:spPr bwMode="auto">
          <a:xfrm>
            <a:off x="2852230" y="729424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6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6" name="Oval 1057"/>
          <p:cNvSpPr>
            <a:spLocks noChangeArrowheads="1"/>
          </p:cNvSpPr>
          <p:nvPr/>
        </p:nvSpPr>
        <p:spPr bwMode="auto">
          <a:xfrm>
            <a:off x="2431543" y="7294240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9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7" name="Oval 1058"/>
          <p:cNvSpPr>
            <a:spLocks noChangeArrowheads="1"/>
          </p:cNvSpPr>
          <p:nvPr/>
        </p:nvSpPr>
        <p:spPr bwMode="auto">
          <a:xfrm>
            <a:off x="2014030" y="729424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11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cxnSp>
        <p:nvCxnSpPr>
          <p:cNvPr id="38" name="AutoShape 1059"/>
          <p:cNvCxnSpPr>
            <a:cxnSpLocks noChangeShapeType="1"/>
            <a:stCxn id="33" idx="3"/>
            <a:endCxn id="37" idx="0"/>
          </p:cNvCxnSpPr>
          <p:nvPr/>
        </p:nvCxnSpPr>
        <p:spPr bwMode="auto">
          <a:xfrm flipH="1">
            <a:off x="2187068" y="6978327"/>
            <a:ext cx="106362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AutoShape 1060"/>
          <p:cNvCxnSpPr>
            <a:cxnSpLocks noChangeShapeType="1"/>
            <a:stCxn id="33" idx="5"/>
            <a:endCxn id="36" idx="0"/>
          </p:cNvCxnSpPr>
          <p:nvPr/>
        </p:nvCxnSpPr>
        <p:spPr bwMode="auto">
          <a:xfrm>
            <a:off x="2536318" y="6978327"/>
            <a:ext cx="68262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AutoShape 1061"/>
          <p:cNvCxnSpPr>
            <a:cxnSpLocks noChangeShapeType="1"/>
            <a:stCxn id="32" idx="3"/>
            <a:endCxn id="35" idx="0"/>
          </p:cNvCxnSpPr>
          <p:nvPr/>
        </p:nvCxnSpPr>
        <p:spPr bwMode="auto">
          <a:xfrm flipH="1">
            <a:off x="3025268" y="6978327"/>
            <a:ext cx="66675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1063"/>
          <p:cNvCxnSpPr>
            <a:cxnSpLocks noChangeShapeType="1"/>
            <a:stCxn id="29" idx="3"/>
            <a:endCxn id="33" idx="0"/>
          </p:cNvCxnSpPr>
          <p:nvPr/>
        </p:nvCxnSpPr>
        <p:spPr bwMode="auto">
          <a:xfrm flipH="1">
            <a:off x="2415668" y="6444927"/>
            <a:ext cx="295275" cy="2397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1064"/>
          <p:cNvCxnSpPr>
            <a:cxnSpLocks noChangeShapeType="1"/>
            <a:stCxn id="29" idx="5"/>
            <a:endCxn id="32" idx="0"/>
          </p:cNvCxnSpPr>
          <p:nvPr/>
        </p:nvCxnSpPr>
        <p:spPr bwMode="auto">
          <a:xfrm>
            <a:off x="2953830" y="6444927"/>
            <a:ext cx="260350" cy="2397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1065"/>
          <p:cNvCxnSpPr>
            <a:cxnSpLocks noChangeShapeType="1"/>
            <a:stCxn id="28" idx="3"/>
            <a:endCxn id="31" idx="0"/>
          </p:cNvCxnSpPr>
          <p:nvPr/>
        </p:nvCxnSpPr>
        <p:spPr bwMode="auto">
          <a:xfrm flipH="1">
            <a:off x="3787268" y="6444927"/>
            <a:ext cx="222250" cy="2397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066"/>
          <p:cNvCxnSpPr>
            <a:cxnSpLocks noChangeShapeType="1"/>
            <a:stCxn id="28" idx="5"/>
            <a:endCxn id="30" idx="0"/>
          </p:cNvCxnSpPr>
          <p:nvPr/>
        </p:nvCxnSpPr>
        <p:spPr bwMode="auto">
          <a:xfrm>
            <a:off x="4252405" y="6444927"/>
            <a:ext cx="220663" cy="2397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1067"/>
          <p:cNvCxnSpPr>
            <a:cxnSpLocks noChangeShapeType="1"/>
            <a:stCxn id="47" idx="3"/>
            <a:endCxn id="29" idx="0"/>
          </p:cNvCxnSpPr>
          <p:nvPr/>
        </p:nvCxnSpPr>
        <p:spPr bwMode="auto">
          <a:xfrm flipH="1">
            <a:off x="2833180" y="5835327"/>
            <a:ext cx="527050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068"/>
          <p:cNvCxnSpPr>
            <a:cxnSpLocks noChangeShapeType="1"/>
            <a:stCxn id="47" idx="5"/>
            <a:endCxn id="28" idx="0"/>
          </p:cNvCxnSpPr>
          <p:nvPr/>
        </p:nvCxnSpPr>
        <p:spPr bwMode="auto">
          <a:xfrm>
            <a:off x="3603118" y="5835327"/>
            <a:ext cx="528637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Oval 1069"/>
          <p:cNvSpPr>
            <a:spLocks noChangeArrowheads="1"/>
          </p:cNvSpPr>
          <p:nvPr/>
        </p:nvSpPr>
        <p:spPr bwMode="auto">
          <a:xfrm>
            <a:off x="3309430" y="5541640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8" name="Line 1070"/>
          <p:cNvSpPr>
            <a:spLocks noChangeShapeType="1"/>
          </p:cNvSpPr>
          <p:nvPr/>
        </p:nvSpPr>
        <p:spPr bwMode="auto">
          <a:xfrm>
            <a:off x="3461830" y="5047927"/>
            <a:ext cx="0" cy="304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8F64-DB36-4B10-A2C9-AEBBF93CF55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107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Maintain the Heap Property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0648" y="2627784"/>
            <a:ext cx="659735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Remove the minimum item and place it in 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</a:rPr>
              <a:t>minItem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Throws 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</a:rPr>
              <a:t>UnderflowException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if empty.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void </a:t>
            </a:r>
            <a:r>
              <a:rPr lang="en-US" altLang="zh-CN" sz="2000" dirty="0" err="1">
                <a:latin typeface="Sitka Text" panose="02000505000000020004" pitchFamily="2" charset="0"/>
              </a:rPr>
              <a:t>deleteMin</a:t>
            </a:r>
            <a:r>
              <a:rPr lang="en-US" altLang="zh-CN" sz="2000" dirty="0">
                <a:latin typeface="Sitka Text" panose="02000505000000020004" pitchFamily="2" charset="0"/>
              </a:rPr>
              <a:t>( Comparable &amp; </a:t>
            </a:r>
            <a:r>
              <a:rPr lang="en-US" altLang="zh-CN" sz="2000" dirty="0" err="1">
                <a:latin typeface="Sitka Text" panose="02000505000000020004" pitchFamily="2" charset="0"/>
              </a:rPr>
              <a:t>minItem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) </a:t>
            </a:r>
            <a:r>
              <a:rPr lang="en-US" altLang="zh-CN" sz="2000" dirty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if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isEmpty</a:t>
            </a:r>
            <a:r>
              <a:rPr lang="en-US" altLang="zh-CN" sz="2000" dirty="0">
                <a:latin typeface="Sitka Text" panose="02000505000000020004" pitchFamily="2" charset="0"/>
              </a:rPr>
              <a:t>( ) </a:t>
            </a:r>
            <a:r>
              <a:rPr lang="en-US" altLang="zh-CN" sz="2000" dirty="0" smtClean="0">
                <a:latin typeface="Sitka Text" panose="02000505000000020004" pitchFamily="2" charset="0"/>
              </a:rPr>
              <a:t>)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 throw </a:t>
            </a:r>
            <a:r>
              <a:rPr lang="en-US" altLang="zh-CN" sz="2000" dirty="0" err="1">
                <a:latin typeface="Sitka Text" panose="02000505000000020004" pitchFamily="2" charset="0"/>
              </a:rPr>
              <a:t>UnderflowException</a:t>
            </a:r>
            <a:r>
              <a:rPr lang="en-US" altLang="zh-CN" sz="2000" dirty="0">
                <a:latin typeface="Sitka Text" panose="02000505000000020004" pitchFamily="2" charset="0"/>
              </a:rPr>
              <a:t>{ };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minItem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>
                <a:latin typeface="Sitka Text" panose="02000505000000020004" pitchFamily="2" charset="0"/>
              </a:rPr>
              <a:t>= </a:t>
            </a:r>
            <a:r>
              <a:rPr lang="en-US" altLang="zh-CN" sz="2000" dirty="0" err="1">
                <a:latin typeface="Sitka Text" panose="02000505000000020004" pitchFamily="2" charset="0"/>
              </a:rPr>
              <a:t>std</a:t>
            </a:r>
            <a:r>
              <a:rPr lang="en-US" altLang="zh-CN" sz="2000" dirty="0">
                <a:latin typeface="Sitka Text" panose="02000505000000020004" pitchFamily="2" charset="0"/>
              </a:rPr>
              <a:t>::move( array[ 1 ]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array</a:t>
            </a:r>
            <a:r>
              <a:rPr lang="en-US" altLang="zh-CN" sz="2000" dirty="0">
                <a:latin typeface="Sitka Text" panose="02000505000000020004" pitchFamily="2" charset="0"/>
              </a:rPr>
              <a:t>[ 1 ] = </a:t>
            </a:r>
            <a:r>
              <a:rPr lang="en-US" altLang="zh-CN" sz="2000" dirty="0" err="1">
                <a:latin typeface="Sitka Text" panose="02000505000000020004" pitchFamily="2" charset="0"/>
              </a:rPr>
              <a:t>std</a:t>
            </a:r>
            <a:r>
              <a:rPr lang="en-US" altLang="zh-CN" sz="2000" dirty="0">
                <a:latin typeface="Sitka Text" panose="02000505000000020004" pitchFamily="2" charset="0"/>
              </a:rPr>
              <a:t>::move( array[ </a:t>
            </a:r>
            <a:r>
              <a:rPr lang="en-US" altLang="zh-CN" sz="2000" dirty="0" err="1">
                <a:latin typeface="Sitka Text" panose="02000505000000020004" pitchFamily="2" charset="0"/>
              </a:rPr>
              <a:t>currentSize</a:t>
            </a:r>
            <a:r>
              <a:rPr lang="en-US" altLang="zh-CN" sz="2000" dirty="0">
                <a:latin typeface="Sitka Text" panose="02000505000000020004" pitchFamily="2" charset="0"/>
              </a:rPr>
              <a:t>-- ]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percolateDown</a:t>
            </a:r>
            <a:r>
              <a:rPr lang="en-US" altLang="zh-CN" sz="2000" dirty="0">
                <a:latin typeface="Sitka Text" panose="02000505000000020004" pitchFamily="2" charset="0"/>
              </a:rPr>
              <a:t>( 1 );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5E99D3-3F35-423C-AFB2-B45DE281E34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8E75FF-CC2B-4CE0-84F7-419CDB66F9B4}" type="slidenum">
              <a:rPr lang="en-US" altLang="zh-CN" sz="1050"/>
            </a:fld>
            <a:endParaRPr lang="en-US" altLang="zh-CN" sz="105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rgbClr val="FF0000"/>
                </a:solidFill>
                <a:ea typeface="SimSun" panose="02010600030101010101" pitchFamily="2" charset="-122"/>
              </a:rPr>
              <a:t>DeleteMin</a:t>
            </a: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: Percolate Down</a:t>
            </a:r>
            <a:endParaRPr lang="en-US" altLang="zh-CN" dirty="0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22534" name="Line 95"/>
          <p:cNvSpPr>
            <a:spLocks noChangeShapeType="1"/>
          </p:cNvSpPr>
          <p:nvPr/>
        </p:nvSpPr>
        <p:spPr bwMode="auto">
          <a:xfrm>
            <a:off x="2387253" y="3649512"/>
            <a:ext cx="392906" cy="1191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535" name="Line 96"/>
          <p:cNvSpPr>
            <a:spLocks noChangeShapeType="1"/>
          </p:cNvSpPr>
          <p:nvPr/>
        </p:nvSpPr>
        <p:spPr bwMode="auto">
          <a:xfrm>
            <a:off x="4558953" y="3638797"/>
            <a:ext cx="392906" cy="119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536" name="Text Box 97"/>
          <p:cNvSpPr txBox="1">
            <a:spLocks noChangeArrowheads="1"/>
          </p:cNvSpPr>
          <p:nvPr/>
        </p:nvSpPr>
        <p:spPr bwMode="auto">
          <a:xfrm>
            <a:off x="332294" y="5585725"/>
            <a:ext cx="622809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Keep comparing with children A[2i] and A[2i + 1]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Copy smaller child up and go down one level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Done if both children are 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  <a:sym typeface="Symbol" panose="05050102010706020507" pitchFamily="18" charset="2"/>
              </a:rPr>
              <a:t> item or reached a leaf node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What is the run time?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2537" name="Oval 98"/>
          <p:cNvSpPr>
            <a:spLocks noChangeArrowheads="1"/>
          </p:cNvSpPr>
          <p:nvPr/>
        </p:nvSpPr>
        <p:spPr bwMode="auto">
          <a:xfrm>
            <a:off x="1774082" y="363522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38" name="Oval 99"/>
          <p:cNvSpPr>
            <a:spLocks noChangeArrowheads="1"/>
          </p:cNvSpPr>
          <p:nvPr/>
        </p:nvSpPr>
        <p:spPr bwMode="auto">
          <a:xfrm>
            <a:off x="800150" y="363522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39" name="Oval 100"/>
          <p:cNvSpPr>
            <a:spLocks noChangeArrowheads="1"/>
          </p:cNvSpPr>
          <p:nvPr/>
        </p:nvSpPr>
        <p:spPr bwMode="auto">
          <a:xfrm>
            <a:off x="2030065" y="40352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0" name="Oval 101"/>
          <p:cNvSpPr>
            <a:spLocks noChangeArrowheads="1"/>
          </p:cNvSpPr>
          <p:nvPr/>
        </p:nvSpPr>
        <p:spPr bwMode="auto">
          <a:xfrm>
            <a:off x="1515715" y="40352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1" name="Oval 102"/>
          <p:cNvSpPr>
            <a:spLocks noChangeArrowheads="1"/>
          </p:cNvSpPr>
          <p:nvPr/>
        </p:nvSpPr>
        <p:spPr bwMode="auto">
          <a:xfrm>
            <a:off x="1085900" y="40352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2" name="Oval 103"/>
          <p:cNvSpPr>
            <a:spLocks noChangeArrowheads="1"/>
          </p:cNvSpPr>
          <p:nvPr/>
        </p:nvSpPr>
        <p:spPr bwMode="auto">
          <a:xfrm>
            <a:off x="487015" y="40352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3" name="Oval 104"/>
          <p:cNvSpPr>
            <a:spLocks noChangeArrowheads="1"/>
          </p:cNvSpPr>
          <p:nvPr/>
        </p:nvSpPr>
        <p:spPr bwMode="auto">
          <a:xfrm>
            <a:off x="2258665" y="2892274"/>
            <a:ext cx="258366" cy="258366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180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4" name="Oval 105"/>
          <p:cNvSpPr>
            <a:spLocks noChangeArrowheads="1"/>
          </p:cNvSpPr>
          <p:nvPr/>
        </p:nvSpPr>
        <p:spPr bwMode="auto">
          <a:xfrm>
            <a:off x="944215" y="44924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5" name="Oval 106"/>
          <p:cNvSpPr>
            <a:spLocks noChangeArrowheads="1"/>
          </p:cNvSpPr>
          <p:nvPr/>
        </p:nvSpPr>
        <p:spPr bwMode="auto">
          <a:xfrm>
            <a:off x="628700" y="44924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46" name="Oval 107"/>
          <p:cNvSpPr>
            <a:spLocks noChangeArrowheads="1"/>
          </p:cNvSpPr>
          <p:nvPr/>
        </p:nvSpPr>
        <p:spPr bwMode="auto">
          <a:xfrm>
            <a:off x="315565" y="44924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22547" name="AutoShape 108"/>
          <p:cNvCxnSpPr>
            <a:cxnSpLocks noChangeShapeType="1"/>
            <a:stCxn id="22542" idx="3"/>
            <a:endCxn id="22546" idx="0"/>
          </p:cNvCxnSpPr>
          <p:nvPr/>
        </p:nvCxnSpPr>
        <p:spPr bwMode="auto">
          <a:xfrm flipH="1">
            <a:off x="445343" y="4255540"/>
            <a:ext cx="79772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8" name="AutoShape 109"/>
          <p:cNvCxnSpPr>
            <a:cxnSpLocks noChangeShapeType="1"/>
            <a:stCxn id="22542" idx="5"/>
            <a:endCxn id="22545" idx="0"/>
          </p:cNvCxnSpPr>
          <p:nvPr/>
        </p:nvCxnSpPr>
        <p:spPr bwMode="auto">
          <a:xfrm>
            <a:off x="707281" y="4255540"/>
            <a:ext cx="51197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9" name="AutoShape 110"/>
          <p:cNvCxnSpPr>
            <a:cxnSpLocks noChangeShapeType="1"/>
            <a:stCxn id="22541" idx="3"/>
            <a:endCxn id="22544" idx="0"/>
          </p:cNvCxnSpPr>
          <p:nvPr/>
        </p:nvCxnSpPr>
        <p:spPr bwMode="auto">
          <a:xfrm flipH="1">
            <a:off x="1073994" y="4255540"/>
            <a:ext cx="50006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0" name="AutoShape 111"/>
          <p:cNvCxnSpPr>
            <a:cxnSpLocks noChangeShapeType="1"/>
            <a:stCxn id="22538" idx="3"/>
            <a:endCxn id="22542" idx="0"/>
          </p:cNvCxnSpPr>
          <p:nvPr/>
        </p:nvCxnSpPr>
        <p:spPr bwMode="auto">
          <a:xfrm flipH="1">
            <a:off x="616794" y="3855490"/>
            <a:ext cx="221456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1" name="AutoShape 112"/>
          <p:cNvCxnSpPr>
            <a:cxnSpLocks noChangeShapeType="1"/>
            <a:stCxn id="22538" idx="5"/>
            <a:endCxn id="22541" idx="0"/>
          </p:cNvCxnSpPr>
          <p:nvPr/>
        </p:nvCxnSpPr>
        <p:spPr bwMode="auto">
          <a:xfrm>
            <a:off x="1020415" y="3855490"/>
            <a:ext cx="19526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2" name="AutoShape 113"/>
          <p:cNvCxnSpPr>
            <a:cxnSpLocks noChangeShapeType="1"/>
            <a:stCxn id="22537" idx="3"/>
            <a:endCxn id="22540" idx="0"/>
          </p:cNvCxnSpPr>
          <p:nvPr/>
        </p:nvCxnSpPr>
        <p:spPr bwMode="auto">
          <a:xfrm flipH="1">
            <a:off x="1645493" y="3855490"/>
            <a:ext cx="166688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3" name="AutoShape 114"/>
          <p:cNvCxnSpPr>
            <a:cxnSpLocks noChangeShapeType="1"/>
            <a:stCxn id="22537" idx="5"/>
            <a:endCxn id="22539" idx="0"/>
          </p:cNvCxnSpPr>
          <p:nvPr/>
        </p:nvCxnSpPr>
        <p:spPr bwMode="auto">
          <a:xfrm>
            <a:off x="1994347" y="3855490"/>
            <a:ext cx="165497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4" name="AutoShape 115"/>
          <p:cNvCxnSpPr>
            <a:cxnSpLocks noChangeShapeType="1"/>
            <a:stCxn id="22556" idx="3"/>
            <a:endCxn id="22538" idx="0"/>
          </p:cNvCxnSpPr>
          <p:nvPr/>
        </p:nvCxnSpPr>
        <p:spPr bwMode="auto">
          <a:xfrm flipH="1">
            <a:off x="929927" y="3398290"/>
            <a:ext cx="395288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5" name="AutoShape 116"/>
          <p:cNvCxnSpPr>
            <a:cxnSpLocks noChangeShapeType="1"/>
            <a:stCxn id="22556" idx="5"/>
            <a:endCxn id="22537" idx="0"/>
          </p:cNvCxnSpPr>
          <p:nvPr/>
        </p:nvCxnSpPr>
        <p:spPr bwMode="auto">
          <a:xfrm>
            <a:off x="1507381" y="3398290"/>
            <a:ext cx="396478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6" name="Oval 117"/>
          <p:cNvSpPr>
            <a:spLocks noChangeArrowheads="1"/>
          </p:cNvSpPr>
          <p:nvPr/>
        </p:nvSpPr>
        <p:spPr bwMode="auto">
          <a:xfrm>
            <a:off x="1287115" y="3178024"/>
            <a:ext cx="258366" cy="258366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22557" name="AutoShape 120"/>
          <p:cNvCxnSpPr>
            <a:cxnSpLocks noChangeShapeType="1"/>
            <a:endCxn id="22556" idx="6"/>
          </p:cNvCxnSpPr>
          <p:nvPr/>
        </p:nvCxnSpPr>
        <p:spPr bwMode="auto">
          <a:xfrm flipH="1">
            <a:off x="1545481" y="3120874"/>
            <a:ext cx="598884" cy="186929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8" name="Oval 122"/>
          <p:cNvSpPr>
            <a:spLocks noChangeArrowheads="1"/>
          </p:cNvSpPr>
          <p:nvPr/>
        </p:nvSpPr>
        <p:spPr bwMode="auto">
          <a:xfrm>
            <a:off x="3973165" y="3635224"/>
            <a:ext cx="258366" cy="258366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59" name="Oval 123"/>
          <p:cNvSpPr>
            <a:spLocks noChangeArrowheads="1"/>
          </p:cNvSpPr>
          <p:nvPr/>
        </p:nvSpPr>
        <p:spPr bwMode="auto">
          <a:xfrm>
            <a:off x="2999234" y="363522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0" name="Oval 124"/>
          <p:cNvSpPr>
            <a:spLocks noChangeArrowheads="1"/>
          </p:cNvSpPr>
          <p:nvPr/>
        </p:nvSpPr>
        <p:spPr bwMode="auto">
          <a:xfrm>
            <a:off x="4229150" y="40352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1" name="Oval 125"/>
          <p:cNvSpPr>
            <a:spLocks noChangeArrowheads="1"/>
          </p:cNvSpPr>
          <p:nvPr/>
        </p:nvSpPr>
        <p:spPr bwMode="auto">
          <a:xfrm>
            <a:off x="3714800" y="40352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2" name="Oval 126"/>
          <p:cNvSpPr>
            <a:spLocks noChangeArrowheads="1"/>
          </p:cNvSpPr>
          <p:nvPr/>
        </p:nvSpPr>
        <p:spPr bwMode="auto">
          <a:xfrm>
            <a:off x="3284984" y="40352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3" name="Oval 127"/>
          <p:cNvSpPr>
            <a:spLocks noChangeArrowheads="1"/>
          </p:cNvSpPr>
          <p:nvPr/>
        </p:nvSpPr>
        <p:spPr bwMode="auto">
          <a:xfrm>
            <a:off x="2686100" y="40352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4" name="Oval 128"/>
          <p:cNvSpPr>
            <a:spLocks noChangeArrowheads="1"/>
          </p:cNvSpPr>
          <p:nvPr/>
        </p:nvSpPr>
        <p:spPr bwMode="auto">
          <a:xfrm>
            <a:off x="4658965" y="3063724"/>
            <a:ext cx="258366" cy="258366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180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5" name="Oval 129"/>
          <p:cNvSpPr>
            <a:spLocks noChangeArrowheads="1"/>
          </p:cNvSpPr>
          <p:nvPr/>
        </p:nvSpPr>
        <p:spPr bwMode="auto">
          <a:xfrm>
            <a:off x="3143300" y="44924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6" name="Oval 130"/>
          <p:cNvSpPr>
            <a:spLocks noChangeArrowheads="1"/>
          </p:cNvSpPr>
          <p:nvPr/>
        </p:nvSpPr>
        <p:spPr bwMode="auto">
          <a:xfrm>
            <a:off x="2827784" y="4492474"/>
            <a:ext cx="258366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67" name="Oval 131"/>
          <p:cNvSpPr>
            <a:spLocks noChangeArrowheads="1"/>
          </p:cNvSpPr>
          <p:nvPr/>
        </p:nvSpPr>
        <p:spPr bwMode="auto">
          <a:xfrm>
            <a:off x="2514650" y="449247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22568" name="AutoShape 132"/>
          <p:cNvCxnSpPr>
            <a:cxnSpLocks noChangeShapeType="1"/>
            <a:stCxn id="22563" idx="3"/>
            <a:endCxn id="22567" idx="0"/>
          </p:cNvCxnSpPr>
          <p:nvPr/>
        </p:nvCxnSpPr>
        <p:spPr bwMode="auto">
          <a:xfrm flipH="1">
            <a:off x="2644428" y="4255540"/>
            <a:ext cx="79772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69" name="AutoShape 133"/>
          <p:cNvCxnSpPr>
            <a:cxnSpLocks noChangeShapeType="1"/>
            <a:stCxn id="22563" idx="5"/>
            <a:endCxn id="22566" idx="0"/>
          </p:cNvCxnSpPr>
          <p:nvPr/>
        </p:nvCxnSpPr>
        <p:spPr bwMode="auto">
          <a:xfrm>
            <a:off x="2906366" y="4255540"/>
            <a:ext cx="51197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0" name="AutoShape 134"/>
          <p:cNvCxnSpPr>
            <a:cxnSpLocks noChangeShapeType="1"/>
            <a:stCxn id="22562" idx="3"/>
            <a:endCxn id="22565" idx="0"/>
          </p:cNvCxnSpPr>
          <p:nvPr/>
        </p:nvCxnSpPr>
        <p:spPr bwMode="auto">
          <a:xfrm flipH="1">
            <a:off x="3273078" y="4255540"/>
            <a:ext cx="50006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1" name="AutoShape 135"/>
          <p:cNvCxnSpPr>
            <a:cxnSpLocks noChangeShapeType="1"/>
            <a:stCxn id="22559" idx="3"/>
            <a:endCxn id="22563" idx="0"/>
          </p:cNvCxnSpPr>
          <p:nvPr/>
        </p:nvCxnSpPr>
        <p:spPr bwMode="auto">
          <a:xfrm flipH="1">
            <a:off x="2815878" y="3855490"/>
            <a:ext cx="221456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2" name="AutoShape 136"/>
          <p:cNvCxnSpPr>
            <a:cxnSpLocks noChangeShapeType="1"/>
            <a:stCxn id="22559" idx="5"/>
            <a:endCxn id="22562" idx="0"/>
          </p:cNvCxnSpPr>
          <p:nvPr/>
        </p:nvCxnSpPr>
        <p:spPr bwMode="auto">
          <a:xfrm>
            <a:off x="3219500" y="3855490"/>
            <a:ext cx="19526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3" name="AutoShape 137"/>
          <p:cNvCxnSpPr>
            <a:cxnSpLocks noChangeShapeType="1"/>
            <a:stCxn id="22558" idx="3"/>
            <a:endCxn id="22561" idx="0"/>
          </p:cNvCxnSpPr>
          <p:nvPr/>
        </p:nvCxnSpPr>
        <p:spPr bwMode="auto">
          <a:xfrm flipH="1">
            <a:off x="3844577" y="3855490"/>
            <a:ext cx="166688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4" name="AutoShape 138"/>
          <p:cNvCxnSpPr>
            <a:cxnSpLocks noChangeShapeType="1"/>
            <a:stCxn id="22558" idx="5"/>
            <a:endCxn id="22560" idx="0"/>
          </p:cNvCxnSpPr>
          <p:nvPr/>
        </p:nvCxnSpPr>
        <p:spPr bwMode="auto">
          <a:xfrm>
            <a:off x="4193431" y="3855490"/>
            <a:ext cx="165497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5" name="AutoShape 139"/>
          <p:cNvCxnSpPr>
            <a:cxnSpLocks noChangeShapeType="1"/>
            <a:stCxn id="22577" idx="3"/>
            <a:endCxn id="22559" idx="0"/>
          </p:cNvCxnSpPr>
          <p:nvPr/>
        </p:nvCxnSpPr>
        <p:spPr bwMode="auto">
          <a:xfrm flipH="1">
            <a:off x="3129012" y="3398290"/>
            <a:ext cx="395288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6" name="AutoShape 140"/>
          <p:cNvCxnSpPr>
            <a:cxnSpLocks noChangeShapeType="1"/>
            <a:stCxn id="22577" idx="5"/>
            <a:endCxn id="22558" idx="0"/>
          </p:cNvCxnSpPr>
          <p:nvPr/>
        </p:nvCxnSpPr>
        <p:spPr bwMode="auto">
          <a:xfrm>
            <a:off x="3706465" y="3398290"/>
            <a:ext cx="396479" cy="2369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77" name="Oval 141"/>
          <p:cNvSpPr>
            <a:spLocks noChangeArrowheads="1"/>
          </p:cNvSpPr>
          <p:nvPr/>
        </p:nvSpPr>
        <p:spPr bwMode="auto">
          <a:xfrm>
            <a:off x="3486200" y="317802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22578" name="AutoShape 142"/>
          <p:cNvCxnSpPr>
            <a:cxnSpLocks noChangeShapeType="1"/>
          </p:cNvCxnSpPr>
          <p:nvPr/>
        </p:nvCxnSpPr>
        <p:spPr bwMode="auto">
          <a:xfrm flipH="1">
            <a:off x="4201765" y="3292324"/>
            <a:ext cx="457200" cy="342900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79" name="Oval 144"/>
          <p:cNvSpPr>
            <a:spLocks noChangeArrowheads="1"/>
          </p:cNvSpPr>
          <p:nvPr/>
        </p:nvSpPr>
        <p:spPr bwMode="auto">
          <a:xfrm>
            <a:off x="6174632" y="3634034"/>
            <a:ext cx="258365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0" name="Oval 145"/>
          <p:cNvSpPr>
            <a:spLocks noChangeArrowheads="1"/>
          </p:cNvSpPr>
          <p:nvPr/>
        </p:nvSpPr>
        <p:spPr bwMode="auto">
          <a:xfrm>
            <a:off x="5200700" y="3634034"/>
            <a:ext cx="258365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1" name="Oval 146"/>
          <p:cNvSpPr>
            <a:spLocks noChangeArrowheads="1"/>
          </p:cNvSpPr>
          <p:nvPr/>
        </p:nvSpPr>
        <p:spPr bwMode="auto">
          <a:xfrm>
            <a:off x="6430615" y="4034084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2" name="Oval 147"/>
          <p:cNvSpPr>
            <a:spLocks noChangeArrowheads="1"/>
          </p:cNvSpPr>
          <p:nvPr/>
        </p:nvSpPr>
        <p:spPr bwMode="auto">
          <a:xfrm>
            <a:off x="5916265" y="4034084"/>
            <a:ext cx="258366" cy="25836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3" name="Oval 148"/>
          <p:cNvSpPr>
            <a:spLocks noChangeArrowheads="1"/>
          </p:cNvSpPr>
          <p:nvPr/>
        </p:nvSpPr>
        <p:spPr bwMode="auto">
          <a:xfrm>
            <a:off x="5486450" y="4034084"/>
            <a:ext cx="258365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4" name="Oval 149"/>
          <p:cNvSpPr>
            <a:spLocks noChangeArrowheads="1"/>
          </p:cNvSpPr>
          <p:nvPr/>
        </p:nvSpPr>
        <p:spPr bwMode="auto">
          <a:xfrm>
            <a:off x="4887565" y="4034084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5" name="Oval 151"/>
          <p:cNvSpPr>
            <a:spLocks noChangeArrowheads="1"/>
          </p:cNvSpPr>
          <p:nvPr/>
        </p:nvSpPr>
        <p:spPr bwMode="auto">
          <a:xfrm>
            <a:off x="5344765" y="4491284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6" name="Oval 152"/>
          <p:cNvSpPr>
            <a:spLocks noChangeArrowheads="1"/>
          </p:cNvSpPr>
          <p:nvPr/>
        </p:nvSpPr>
        <p:spPr bwMode="auto">
          <a:xfrm>
            <a:off x="5029250" y="4491284"/>
            <a:ext cx="258365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87" name="Oval 153"/>
          <p:cNvSpPr>
            <a:spLocks noChangeArrowheads="1"/>
          </p:cNvSpPr>
          <p:nvPr/>
        </p:nvSpPr>
        <p:spPr bwMode="auto">
          <a:xfrm>
            <a:off x="4716115" y="4491284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22588" name="AutoShape 154"/>
          <p:cNvCxnSpPr>
            <a:cxnSpLocks noChangeShapeType="1"/>
            <a:stCxn id="22584" idx="3"/>
            <a:endCxn id="22587" idx="0"/>
          </p:cNvCxnSpPr>
          <p:nvPr/>
        </p:nvCxnSpPr>
        <p:spPr bwMode="auto">
          <a:xfrm flipH="1">
            <a:off x="4845893" y="4254349"/>
            <a:ext cx="79772" cy="2369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89" name="AutoShape 155"/>
          <p:cNvCxnSpPr>
            <a:cxnSpLocks noChangeShapeType="1"/>
            <a:stCxn id="22584" idx="5"/>
            <a:endCxn id="22586" idx="0"/>
          </p:cNvCxnSpPr>
          <p:nvPr/>
        </p:nvCxnSpPr>
        <p:spPr bwMode="auto">
          <a:xfrm>
            <a:off x="5107831" y="4254349"/>
            <a:ext cx="51197" cy="2369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0" name="AutoShape 156"/>
          <p:cNvCxnSpPr>
            <a:cxnSpLocks noChangeShapeType="1"/>
            <a:stCxn id="22583" idx="3"/>
            <a:endCxn id="22585" idx="0"/>
          </p:cNvCxnSpPr>
          <p:nvPr/>
        </p:nvCxnSpPr>
        <p:spPr bwMode="auto">
          <a:xfrm flipH="1">
            <a:off x="5474544" y="4254349"/>
            <a:ext cx="50006" cy="2369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1" name="AutoShape 157"/>
          <p:cNvCxnSpPr>
            <a:cxnSpLocks noChangeShapeType="1"/>
            <a:stCxn id="22580" idx="3"/>
            <a:endCxn id="22584" idx="0"/>
          </p:cNvCxnSpPr>
          <p:nvPr/>
        </p:nvCxnSpPr>
        <p:spPr bwMode="auto">
          <a:xfrm flipH="1">
            <a:off x="5017344" y="3854299"/>
            <a:ext cx="221456" cy="17978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2" name="AutoShape 158"/>
          <p:cNvCxnSpPr>
            <a:cxnSpLocks noChangeShapeType="1"/>
            <a:stCxn id="22580" idx="5"/>
            <a:endCxn id="22583" idx="0"/>
          </p:cNvCxnSpPr>
          <p:nvPr/>
        </p:nvCxnSpPr>
        <p:spPr bwMode="auto">
          <a:xfrm>
            <a:off x="5420965" y="3854299"/>
            <a:ext cx="195263" cy="17978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3" name="AutoShape 159"/>
          <p:cNvCxnSpPr>
            <a:cxnSpLocks noChangeShapeType="1"/>
            <a:stCxn id="22579" idx="3"/>
            <a:endCxn id="22582" idx="0"/>
          </p:cNvCxnSpPr>
          <p:nvPr/>
        </p:nvCxnSpPr>
        <p:spPr bwMode="auto">
          <a:xfrm flipH="1">
            <a:off x="6046043" y="3854299"/>
            <a:ext cx="166688" cy="17978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4" name="AutoShape 160"/>
          <p:cNvCxnSpPr>
            <a:cxnSpLocks noChangeShapeType="1"/>
            <a:stCxn id="22579" idx="5"/>
            <a:endCxn id="22581" idx="0"/>
          </p:cNvCxnSpPr>
          <p:nvPr/>
        </p:nvCxnSpPr>
        <p:spPr bwMode="auto">
          <a:xfrm>
            <a:off x="6394897" y="3854299"/>
            <a:ext cx="165497" cy="17978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5" name="AutoShape 161"/>
          <p:cNvCxnSpPr>
            <a:cxnSpLocks noChangeShapeType="1"/>
            <a:stCxn id="22597" idx="3"/>
            <a:endCxn id="22580" idx="0"/>
          </p:cNvCxnSpPr>
          <p:nvPr/>
        </p:nvCxnSpPr>
        <p:spPr bwMode="auto">
          <a:xfrm flipH="1">
            <a:off x="5330477" y="3397099"/>
            <a:ext cx="395288" cy="2369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96" name="AutoShape 162"/>
          <p:cNvCxnSpPr>
            <a:cxnSpLocks noChangeShapeType="1"/>
            <a:stCxn id="22597" idx="5"/>
            <a:endCxn id="22579" idx="0"/>
          </p:cNvCxnSpPr>
          <p:nvPr/>
        </p:nvCxnSpPr>
        <p:spPr bwMode="auto">
          <a:xfrm>
            <a:off x="5907931" y="3397099"/>
            <a:ext cx="396478" cy="2369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97" name="Oval 163"/>
          <p:cNvSpPr>
            <a:spLocks noChangeArrowheads="1"/>
          </p:cNvSpPr>
          <p:nvPr/>
        </p:nvSpPr>
        <p:spPr bwMode="auto">
          <a:xfrm>
            <a:off x="5687665" y="3176834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98" name="Oval 165"/>
          <p:cNvSpPr>
            <a:spLocks noChangeArrowheads="1"/>
          </p:cNvSpPr>
          <p:nvPr/>
        </p:nvSpPr>
        <p:spPr bwMode="auto">
          <a:xfrm>
            <a:off x="1744315" y="2949424"/>
            <a:ext cx="258366" cy="258366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?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99" name="Oval 166"/>
          <p:cNvSpPr>
            <a:spLocks noChangeArrowheads="1"/>
          </p:cNvSpPr>
          <p:nvPr/>
        </p:nvSpPr>
        <p:spPr bwMode="auto">
          <a:xfrm>
            <a:off x="4201765" y="3178024"/>
            <a:ext cx="258366" cy="258366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?</a:t>
            </a:r>
            <a:endParaRPr lang="en-US" altLang="zh-CN" sz="180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1A5756-154E-421E-91B6-04459E86576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824A9-D6D9-4915-B640-4AD293E383FD}" type="slidenum">
              <a:rPr lang="en-US" altLang="zh-CN" sz="1050"/>
            </a:fld>
            <a:endParaRPr lang="en-US" altLang="zh-CN" sz="105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Percolate Down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332656" y="3486151"/>
            <a:ext cx="652534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PercDown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(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i:integer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, x: integer): {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// N is the number elements, 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 is the hole,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   x is the value to insert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Case{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2i &gt; N : A[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] := x;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//at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bottom, no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children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2i = N : if A[2i] &lt; x </a:t>
            </a:r>
            <a:r>
              <a:rPr lang="en-US" altLang="zh-CN" sz="2000" dirty="0" smtClean="0">
                <a:latin typeface="Sitka Text" panose="02000505000000020004" pitchFamily="2" charset="0"/>
                <a:ea typeface="SimSun" panose="02010600030101010101" pitchFamily="2" charset="-122"/>
              </a:rPr>
              <a:t>then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//one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child at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the end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Sitka Text" panose="02000505000000020004" pitchFamily="2" charset="0"/>
                <a:ea typeface="SimSun" panose="02010600030101010101" pitchFamily="2" charset="-122"/>
              </a:rPr>
              <a:t>              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A[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] := A[2i]; A[2i] := x;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         else A[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] := x;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2i &lt; N : if A[2i] &lt; A[2i+1] then j := 2i; 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//2 children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         else j := 2i+1;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         if A[j] &lt; x then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            A[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] := A[j]; 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PercDown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(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j,x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           else A[</a:t>
            </a:r>
            <a:r>
              <a:rPr lang="en-US" altLang="zh-CN" sz="2000" dirty="0" err="1">
                <a:latin typeface="Sitka Text" panose="02000505000000020004" pitchFamily="2" charset="0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] := x;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tka Text" panose="02000505000000020004" pitchFamily="2" charset="0"/>
                <a:ea typeface="SimSun" panose="02010600030101010101" pitchFamily="2" charset="-122"/>
              </a:rPr>
              <a:t>}}</a:t>
            </a:r>
            <a:endParaRPr lang="en-US" altLang="zh-CN" sz="20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11163" y="2382056"/>
            <a:ext cx="2638425" cy="4064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263AF8"/>
                </a:solidFill>
                <a:ea typeface="SimSun" panose="02010600030101010101" pitchFamily="2" charset="-122"/>
              </a:rPr>
              <a:t>6 | 10 | 8 | 13 | 14 | 25</a:t>
            </a:r>
            <a:endParaRPr lang="en-US" altLang="zh-CN" sz="2000">
              <a:solidFill>
                <a:srgbClr val="263AF8"/>
              </a:solidFill>
              <a:ea typeface="SimSun" panose="02010600030101010101" pitchFamily="2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71488" y="2061381"/>
            <a:ext cx="2517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ea typeface="SimSun" panose="02010600030101010101" pitchFamily="2" charset="-122"/>
              </a:rPr>
              <a:t>1     2     3     4       5       6</a:t>
            </a:r>
            <a:endParaRPr lang="en-US" altLang="zh-CN" sz="1600" dirty="0">
              <a:ea typeface="SimSun" panose="02010600030101010101" pitchFamily="2" charset="-122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411163" y="2382056"/>
            <a:ext cx="3048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411163" y="2382056"/>
            <a:ext cx="3048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1A5756-154E-421E-91B6-04459E86576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824A9-D6D9-4915-B640-4AD293E383FD}" type="slidenum">
              <a:rPr lang="en-US" altLang="zh-CN" sz="1050"/>
            </a:fld>
            <a:endParaRPr lang="en-US" altLang="zh-CN" sz="105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Percolate Down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28315" y="2041870"/>
            <a:ext cx="2638425" cy="4064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263AF8"/>
                </a:solidFill>
                <a:ea typeface="SimSun" panose="02010600030101010101" pitchFamily="2" charset="-122"/>
              </a:rPr>
              <a:t>6 | 10 | 8 | 13 | 14 | 25</a:t>
            </a:r>
            <a:endParaRPr lang="en-US" altLang="zh-CN" sz="2000">
              <a:solidFill>
                <a:srgbClr val="263AF8"/>
              </a:solidFill>
              <a:ea typeface="SimSun" panose="02010600030101010101" pitchFamily="2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88640" y="1721195"/>
            <a:ext cx="2517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ea typeface="SimSun" panose="02010600030101010101" pitchFamily="2" charset="-122"/>
              </a:rPr>
              <a:t>1     2     3     4       5       6</a:t>
            </a:r>
            <a:endParaRPr lang="en-US" altLang="zh-CN" sz="1600" dirty="0">
              <a:ea typeface="SimSun" panose="02010600030101010101" pitchFamily="2" charset="-122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128315" y="2041870"/>
            <a:ext cx="3048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128315" y="2041870"/>
            <a:ext cx="3048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2729300"/>
            <a:ext cx="6858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Internal method to percolate down in the heap.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hole is the index at which the percolate begins.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*/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void </a:t>
            </a:r>
            <a:r>
              <a:rPr lang="en-US" altLang="zh-CN" dirty="0" err="1">
                <a:latin typeface="Sitka Text" panose="02000505000000020004" pitchFamily="2" charset="0"/>
              </a:rPr>
              <a:t>percolateDown</a:t>
            </a:r>
            <a:r>
              <a:rPr lang="en-US" altLang="zh-CN" dirty="0">
                <a:latin typeface="Sitka Text" panose="02000505000000020004" pitchFamily="2" charset="0"/>
              </a:rPr>
              <a:t>(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hole </a:t>
            </a:r>
            <a:r>
              <a:rPr lang="en-US" altLang="zh-CN" dirty="0" smtClean="0">
                <a:latin typeface="Sitka Text" panose="02000505000000020004" pitchFamily="2" charset="0"/>
              </a:rPr>
              <a:t>) </a:t>
            </a:r>
            <a:r>
              <a:rPr lang="en-US" altLang="zh-CN" dirty="0">
                <a:latin typeface="Sitka Text" panose="02000505000000020004" pitchFamily="2" charset="0"/>
              </a:rPr>
              <a:t>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</a:t>
            </a:r>
            <a:r>
              <a:rPr lang="en-US" altLang="zh-CN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child;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Comparable </a:t>
            </a:r>
            <a:r>
              <a:rPr lang="en-US" altLang="zh-CN" dirty="0" err="1">
                <a:latin typeface="Sitka Text" panose="02000505000000020004" pitchFamily="2" charset="0"/>
              </a:rPr>
              <a:t>tmp</a:t>
            </a:r>
            <a:r>
              <a:rPr lang="en-US" altLang="zh-CN" dirty="0">
                <a:latin typeface="Sitka Text" panose="02000505000000020004" pitchFamily="2" charset="0"/>
              </a:rPr>
              <a:t> = </a:t>
            </a:r>
            <a:r>
              <a:rPr lang="en-US" altLang="zh-CN" dirty="0" err="1">
                <a:latin typeface="Sitka Text" panose="02000505000000020004" pitchFamily="2" charset="0"/>
              </a:rPr>
              <a:t>std</a:t>
            </a:r>
            <a:r>
              <a:rPr lang="en-US" altLang="zh-CN" dirty="0">
                <a:latin typeface="Sitka Text" panose="02000505000000020004" pitchFamily="2" charset="0"/>
              </a:rPr>
              <a:t>::move( array[ hole ]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for</a:t>
            </a:r>
            <a:r>
              <a:rPr lang="en-US" altLang="zh-CN" dirty="0">
                <a:latin typeface="Sitka Text" panose="02000505000000020004" pitchFamily="2" charset="0"/>
              </a:rPr>
              <a:t>( ; hole * 2 &lt;= </a:t>
            </a:r>
            <a:r>
              <a:rPr lang="en-US" altLang="zh-CN" dirty="0" err="1">
                <a:latin typeface="Sitka Text" panose="02000505000000020004" pitchFamily="2" charset="0"/>
              </a:rPr>
              <a:t>currentSize</a:t>
            </a:r>
            <a:r>
              <a:rPr lang="en-US" altLang="zh-CN" dirty="0">
                <a:latin typeface="Sitka Text" panose="02000505000000020004" pitchFamily="2" charset="0"/>
              </a:rPr>
              <a:t>; hole = child </a:t>
            </a:r>
            <a:r>
              <a:rPr lang="en-US" altLang="zh-CN" dirty="0" smtClean="0">
                <a:latin typeface="Sitka Text" panose="02000505000000020004" pitchFamily="2" charset="0"/>
              </a:rPr>
              <a:t>) </a:t>
            </a:r>
            <a:r>
              <a:rPr lang="en-US" altLang="zh-CN" dirty="0">
                <a:latin typeface="Sitka Text" panose="02000505000000020004" pitchFamily="2" charset="0"/>
              </a:rPr>
              <a:t>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child </a:t>
            </a:r>
            <a:r>
              <a:rPr lang="en-US" altLang="zh-CN" dirty="0">
                <a:latin typeface="Sitka Text" panose="02000505000000020004" pitchFamily="2" charset="0"/>
              </a:rPr>
              <a:t>= hole * 2</a:t>
            </a:r>
            <a:r>
              <a:rPr lang="en-US" altLang="zh-CN" dirty="0" smtClean="0">
                <a:latin typeface="Sitka Text" panose="02000505000000020004" pitchFamily="2" charset="0"/>
              </a:rPr>
              <a:t>;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//child = </a:t>
            </a:r>
            <a:r>
              <a:rPr lang="en-US" altLang="zh-CN" dirty="0" err="1" smtClean="0">
                <a:solidFill>
                  <a:srgbClr val="008000"/>
                </a:solidFill>
                <a:latin typeface="Sitka Text" panose="02000505000000020004" pitchFamily="2" charset="0"/>
              </a:rPr>
              <a:t>leftchild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if</a:t>
            </a:r>
            <a:r>
              <a:rPr lang="en-US" altLang="zh-CN" dirty="0">
                <a:latin typeface="Sitka Text" panose="02000505000000020004" pitchFamily="2" charset="0"/>
              </a:rPr>
              <a:t>( child </a:t>
            </a:r>
            <a:r>
              <a:rPr lang="en-US" altLang="zh-CN" dirty="0" smtClean="0">
                <a:latin typeface="Sitka Text" panose="02000505000000020004" pitchFamily="2" charset="0"/>
              </a:rPr>
              <a:t>!=</a:t>
            </a:r>
            <a:r>
              <a:rPr lang="en-US" altLang="zh-CN" dirty="0" err="1" smtClean="0">
                <a:latin typeface="Sitka Text" panose="02000505000000020004" pitchFamily="2" charset="0"/>
              </a:rPr>
              <a:t>currentSize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&amp;&amp; array[ child + 1 </a:t>
            </a:r>
            <a:r>
              <a:rPr lang="en-US" altLang="zh-CN" dirty="0" smtClean="0">
                <a:latin typeface="Sitka Text" panose="02000505000000020004" pitchFamily="2" charset="0"/>
              </a:rPr>
              <a:t>]&lt;array</a:t>
            </a:r>
            <a:r>
              <a:rPr lang="en-US" altLang="zh-CN" dirty="0">
                <a:latin typeface="Sitka Text" panose="02000505000000020004" pitchFamily="2" charset="0"/>
              </a:rPr>
              <a:t>[ child ] 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++</a:t>
            </a:r>
            <a:r>
              <a:rPr lang="en-US" altLang="zh-CN" dirty="0">
                <a:latin typeface="Sitka Text" panose="02000505000000020004" pitchFamily="2" charset="0"/>
              </a:rPr>
              <a:t>child</a:t>
            </a:r>
            <a:r>
              <a:rPr lang="en-US" altLang="zh-CN" dirty="0" smtClean="0">
                <a:latin typeface="Sitka Text" panose="02000505000000020004" pitchFamily="2" charset="0"/>
              </a:rPr>
              <a:t>;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//child = </a:t>
            </a:r>
            <a:r>
              <a:rPr lang="en-US" altLang="zh-CN" dirty="0" err="1" smtClean="0">
                <a:solidFill>
                  <a:srgbClr val="008000"/>
                </a:solidFill>
                <a:latin typeface="Sitka Text" panose="02000505000000020004" pitchFamily="2" charset="0"/>
              </a:rPr>
              <a:t>rightchild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if</a:t>
            </a:r>
            <a:r>
              <a:rPr lang="en-US" altLang="zh-CN" dirty="0">
                <a:latin typeface="Sitka Text" panose="02000505000000020004" pitchFamily="2" charset="0"/>
              </a:rPr>
              <a:t>( array[ child ] &lt; </a:t>
            </a:r>
            <a:r>
              <a:rPr lang="en-US" altLang="zh-CN" dirty="0" err="1">
                <a:latin typeface="Sitka Text" panose="02000505000000020004" pitchFamily="2" charset="0"/>
              </a:rPr>
              <a:t>tmp</a:t>
            </a:r>
            <a:r>
              <a:rPr lang="en-US" altLang="zh-CN" dirty="0">
                <a:latin typeface="Sitka Text" panose="02000505000000020004" pitchFamily="2" charset="0"/>
              </a:rPr>
              <a:t> 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</a:t>
            </a:r>
            <a:r>
              <a:rPr lang="en-US" altLang="zh-CN" dirty="0">
                <a:latin typeface="Sitka Text" panose="02000505000000020004" pitchFamily="2" charset="0"/>
              </a:rPr>
              <a:t>array[ hole ] = </a:t>
            </a:r>
            <a:r>
              <a:rPr lang="en-US" altLang="zh-CN" dirty="0" err="1">
                <a:latin typeface="Sitka Text" panose="02000505000000020004" pitchFamily="2" charset="0"/>
              </a:rPr>
              <a:t>std</a:t>
            </a:r>
            <a:r>
              <a:rPr lang="en-US" altLang="zh-CN" dirty="0">
                <a:latin typeface="Sitka Text" panose="02000505000000020004" pitchFamily="2" charset="0"/>
              </a:rPr>
              <a:t>::move( array[ child ] </a:t>
            </a:r>
            <a:r>
              <a:rPr lang="en-US" altLang="zh-CN" dirty="0" smtClean="0">
                <a:latin typeface="Sitka Text" panose="02000505000000020004" pitchFamily="2" charset="0"/>
              </a:rPr>
              <a:t>);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go down 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else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break</a:t>
            </a:r>
            <a:r>
              <a:rPr lang="en-US" altLang="zh-CN" dirty="0">
                <a:latin typeface="Sitka Text" panose="02000505000000020004" pitchFamily="2" charset="0"/>
              </a:rPr>
              <a:t>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array</a:t>
            </a:r>
            <a:r>
              <a:rPr lang="en-US" altLang="zh-CN" dirty="0">
                <a:latin typeface="Sitka Text" panose="02000505000000020004" pitchFamily="2" charset="0"/>
              </a:rPr>
              <a:t>[ hole ] = </a:t>
            </a:r>
            <a:r>
              <a:rPr lang="en-US" altLang="zh-CN" dirty="0" err="1">
                <a:latin typeface="Sitka Text" panose="02000505000000020004" pitchFamily="2" charset="0"/>
              </a:rPr>
              <a:t>std</a:t>
            </a:r>
            <a:r>
              <a:rPr lang="en-US" altLang="zh-CN" dirty="0">
                <a:latin typeface="Sitka Text" panose="02000505000000020004" pitchFamily="2" charset="0"/>
              </a:rPr>
              <a:t>::move( </a:t>
            </a:r>
            <a:r>
              <a:rPr lang="en-US" altLang="zh-CN" dirty="0" err="1">
                <a:latin typeface="Sitka Text" panose="02000505000000020004" pitchFamily="2" charset="0"/>
              </a:rPr>
              <a:t>tmp</a:t>
            </a:r>
            <a:r>
              <a:rPr lang="en-US" altLang="zh-CN" dirty="0">
                <a:latin typeface="Sitka Text" panose="02000505000000020004" pitchFamily="2" charset="0"/>
              </a:rPr>
              <a:t>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F9E202-5371-4CB3-88C0-4875C742B9E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EE3F20-4C5C-4104-8656-25D4F188EF4E}" type="slidenum">
              <a:rPr lang="en-US" altLang="zh-CN" sz="1050"/>
            </a:fld>
            <a:endParaRPr lang="en-US" altLang="zh-CN" sz="105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anose="02010600030101010101" pitchFamily="2" charset="-122"/>
              </a:rPr>
              <a:t>DeleteMin</a:t>
            </a:r>
            <a:r>
              <a:rPr lang="en-US" altLang="zh-CN" dirty="0" smtClean="0">
                <a:ea typeface="SimSun" panose="02010600030101010101" pitchFamily="2" charset="-122"/>
              </a:rPr>
              <a:t>: Run Time Analysis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Run time is O(depth of heap)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A heap is a complete binary tree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Depth of a complete binary tree of N nodes?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  <a:sym typeface="Symbol" panose="05050102010706020507" pitchFamily="18" charset="2"/>
              </a:rPr>
              <a:t>depth = </a:t>
            </a:r>
            <a:r>
              <a:rPr lang="en-US" altLang="zh-CN" dirty="0" smtClean="0">
                <a:ea typeface="SimSun" panose="02010600030101010101" pitchFamily="2" charset="-122"/>
              </a:rPr>
              <a:t>log</a:t>
            </a:r>
            <a:r>
              <a:rPr lang="en-US" altLang="zh-CN" baseline="-25000" dirty="0" smtClean="0">
                <a:ea typeface="SimSun" panose="02010600030101010101" pitchFamily="2" charset="-122"/>
              </a:rPr>
              <a:t>2</a:t>
            </a:r>
            <a:r>
              <a:rPr lang="en-US" altLang="zh-CN" dirty="0" smtClean="0">
                <a:ea typeface="SimSun" panose="02010600030101010101" pitchFamily="2" charset="-122"/>
              </a:rPr>
              <a:t>(N)</a:t>
            </a:r>
            <a:r>
              <a:rPr lang="en-US" altLang="zh-CN" dirty="0" smtClean="0">
                <a:ea typeface="SimSun" panose="02010600030101010101" pitchFamily="2" charset="-122"/>
                <a:sym typeface="Symbol" panose="05050102010706020507" pitchFamily="18" charset="2"/>
              </a:rPr>
              <a:t></a:t>
            </a:r>
            <a:endParaRPr lang="en-US" altLang="zh-CN" dirty="0" smtClean="0">
              <a:solidFill>
                <a:srgbClr val="0000FF"/>
              </a:solidFill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Run time of </a:t>
            </a:r>
            <a:r>
              <a:rPr lang="en-US" altLang="zh-CN" dirty="0" err="1" smtClean="0">
                <a:ea typeface="SimSun" panose="02010600030101010101" pitchFamily="2" charset="-122"/>
              </a:rPr>
              <a:t>DeleteMin</a:t>
            </a:r>
            <a:r>
              <a:rPr lang="en-US" altLang="zh-CN" dirty="0" smtClean="0">
                <a:ea typeface="SimSun" panose="02010600030101010101" pitchFamily="2" charset="-122"/>
              </a:rPr>
              <a:t> is </a:t>
            </a:r>
            <a:r>
              <a:rPr lang="en-US" altLang="zh-CN" dirty="0" smtClean="0">
                <a:solidFill>
                  <a:srgbClr val="0000FF"/>
                </a:solidFill>
                <a:ea typeface="SimSun" panose="02010600030101010101" pitchFamily="2" charset="-122"/>
              </a:rPr>
              <a:t>O(log N)</a:t>
            </a:r>
            <a:endParaRPr lang="en-US" altLang="zh-CN" dirty="0" smtClean="0">
              <a:solidFill>
                <a:srgbClr val="0000FF"/>
              </a:solidFill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23CC45-EBAD-4957-AF46-721BCDFA724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CE457-DDD5-48A8-AC35-D7F0FDE5EAAD}" type="slidenum">
              <a:rPr lang="en-US" altLang="zh-CN" sz="1050"/>
            </a:fld>
            <a:endParaRPr lang="en-US" altLang="zh-CN" sz="1050"/>
          </a:p>
        </p:txBody>
      </p:sp>
      <p:sp>
        <p:nvSpPr>
          <p:cNvPr id="25605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Insert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5606" name="Rectangle 48"/>
          <p:cNvSpPr>
            <a:spLocks noGrp="1" noChangeArrowheads="1"/>
          </p:cNvSpPr>
          <p:nvPr>
            <p:ph type="body" idx="1"/>
          </p:nvPr>
        </p:nvSpPr>
        <p:spPr>
          <a:xfrm>
            <a:off x="560982" y="2495346"/>
            <a:ext cx="5964362" cy="308610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Add a value to the tree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Structure and heap order properties must still be correct when we are done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4173427" y="5581446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2874852" y="5581446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4514739" y="611484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828939" y="611484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3255852" y="6114846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2457339" y="611484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3066939" y="672444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2646252" y="6724446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2228739" y="672444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6" name="AutoShape 35"/>
          <p:cNvCxnSpPr>
            <a:cxnSpLocks noChangeShapeType="1"/>
            <a:stCxn id="32" idx="3"/>
            <a:endCxn id="35" idx="0"/>
          </p:cNvCxnSpPr>
          <p:nvPr/>
        </p:nvCxnSpPr>
        <p:spPr bwMode="auto">
          <a:xfrm flipH="1">
            <a:off x="2401777" y="6408533"/>
            <a:ext cx="106362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36"/>
          <p:cNvCxnSpPr>
            <a:cxnSpLocks noChangeShapeType="1"/>
            <a:stCxn id="32" idx="5"/>
            <a:endCxn id="34" idx="0"/>
          </p:cNvCxnSpPr>
          <p:nvPr/>
        </p:nvCxnSpPr>
        <p:spPr bwMode="auto">
          <a:xfrm>
            <a:off x="2751027" y="6408533"/>
            <a:ext cx="68262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AutoShape 37"/>
          <p:cNvCxnSpPr>
            <a:cxnSpLocks noChangeShapeType="1"/>
            <a:stCxn id="31" idx="3"/>
            <a:endCxn id="33" idx="0"/>
          </p:cNvCxnSpPr>
          <p:nvPr/>
        </p:nvCxnSpPr>
        <p:spPr bwMode="auto">
          <a:xfrm flipH="1">
            <a:off x="3239977" y="6408533"/>
            <a:ext cx="66675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AutoShape 38"/>
          <p:cNvCxnSpPr>
            <a:cxnSpLocks noChangeShapeType="1"/>
            <a:stCxn id="28" idx="3"/>
            <a:endCxn id="32" idx="0"/>
          </p:cNvCxnSpPr>
          <p:nvPr/>
        </p:nvCxnSpPr>
        <p:spPr bwMode="auto">
          <a:xfrm flipH="1">
            <a:off x="2630377" y="5875133"/>
            <a:ext cx="295275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AutoShape 39"/>
          <p:cNvCxnSpPr>
            <a:cxnSpLocks noChangeShapeType="1"/>
            <a:stCxn id="28" idx="5"/>
            <a:endCxn id="31" idx="0"/>
          </p:cNvCxnSpPr>
          <p:nvPr/>
        </p:nvCxnSpPr>
        <p:spPr bwMode="auto">
          <a:xfrm>
            <a:off x="3168539" y="5875133"/>
            <a:ext cx="26035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40"/>
          <p:cNvCxnSpPr>
            <a:cxnSpLocks noChangeShapeType="1"/>
            <a:stCxn id="27" idx="3"/>
            <a:endCxn id="30" idx="0"/>
          </p:cNvCxnSpPr>
          <p:nvPr/>
        </p:nvCxnSpPr>
        <p:spPr bwMode="auto">
          <a:xfrm flipH="1">
            <a:off x="4001977" y="5875133"/>
            <a:ext cx="22225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41"/>
          <p:cNvCxnSpPr>
            <a:cxnSpLocks noChangeShapeType="1"/>
            <a:stCxn id="27" idx="5"/>
            <a:endCxn id="29" idx="0"/>
          </p:cNvCxnSpPr>
          <p:nvPr/>
        </p:nvCxnSpPr>
        <p:spPr bwMode="auto">
          <a:xfrm>
            <a:off x="4467114" y="5875133"/>
            <a:ext cx="220663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42"/>
          <p:cNvCxnSpPr>
            <a:cxnSpLocks noChangeShapeType="1"/>
            <a:stCxn id="45" idx="3"/>
            <a:endCxn id="28" idx="0"/>
          </p:cNvCxnSpPr>
          <p:nvPr/>
        </p:nvCxnSpPr>
        <p:spPr bwMode="auto">
          <a:xfrm flipH="1">
            <a:off x="3047889" y="5265533"/>
            <a:ext cx="527050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43"/>
          <p:cNvCxnSpPr>
            <a:cxnSpLocks noChangeShapeType="1"/>
            <a:stCxn id="45" idx="5"/>
            <a:endCxn id="27" idx="0"/>
          </p:cNvCxnSpPr>
          <p:nvPr/>
        </p:nvCxnSpPr>
        <p:spPr bwMode="auto">
          <a:xfrm>
            <a:off x="3817827" y="5265533"/>
            <a:ext cx="528637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3524139" y="497184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6" name="AutoShape 46"/>
          <p:cNvSpPr>
            <a:spLocks noChangeArrowheads="1"/>
          </p:cNvSpPr>
          <p:nvPr/>
        </p:nvSpPr>
        <p:spPr bwMode="auto">
          <a:xfrm>
            <a:off x="2000139" y="4059033"/>
            <a:ext cx="838200" cy="762000"/>
          </a:xfrm>
          <a:prstGeom prst="cloudCallout">
            <a:avLst>
              <a:gd name="adj1" fmla="val 82009"/>
              <a:gd name="adj2" fmla="val 90833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F2203D-BB57-41DC-A772-AD71D00D0F8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D4050F-FC77-4706-B300-D1E9DCF7F6A5}" type="slidenum">
              <a:rPr lang="en-US" altLang="zh-CN" sz="1050"/>
            </a:fld>
            <a:endParaRPr lang="en-US" altLang="zh-CN" sz="1050"/>
          </a:p>
        </p:txBody>
      </p:sp>
      <p:sp>
        <p:nvSpPr>
          <p:cNvPr id="26629" name="Rectangle 6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Maintain the Structure Property</a:t>
            </a:r>
            <a:endParaRPr lang="en-US" altLang="zh-CN" smtClean="0">
              <a:ea typeface="SimSun" panose="02010600030101010101" pitchFamily="2" charset="-122"/>
            </a:endParaRPr>
          </a:p>
        </p:txBody>
      </p:sp>
      <p:sp>
        <p:nvSpPr>
          <p:cNvPr id="26630" name="Rectangle 70"/>
          <p:cNvSpPr>
            <a:spLocks noGrp="1" noChangeArrowheads="1"/>
          </p:cNvSpPr>
          <p:nvPr>
            <p:ph type="body" idx="1"/>
          </p:nvPr>
        </p:nvSpPr>
        <p:spPr>
          <a:xfrm>
            <a:off x="516731" y="2955727"/>
            <a:ext cx="5956698" cy="3086100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ea typeface="SimSun" panose="02010600030101010101" pitchFamily="2" charset="-122"/>
              </a:rPr>
              <a:t>The only valid place for a new node in a complete tree is at the end of the array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We need to decide on the correct value for the new node, and adjust the heap accordingly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9" name="Oval 24"/>
          <p:cNvSpPr>
            <a:spLocks noChangeArrowheads="1"/>
          </p:cNvSpPr>
          <p:nvPr/>
        </p:nvSpPr>
        <p:spPr bwMode="auto">
          <a:xfrm>
            <a:off x="3552246" y="7616676"/>
            <a:ext cx="344488" cy="344487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0" name="AutoShape 48"/>
          <p:cNvCxnSpPr>
            <a:cxnSpLocks noChangeShapeType="1"/>
            <a:stCxn id="35" idx="5"/>
            <a:endCxn id="29" idx="0"/>
          </p:cNvCxnSpPr>
          <p:nvPr/>
        </p:nvCxnSpPr>
        <p:spPr bwMode="auto">
          <a:xfrm>
            <a:off x="3577646" y="7299176"/>
            <a:ext cx="147638" cy="298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Oval 49"/>
          <p:cNvSpPr>
            <a:spLocks noChangeArrowheads="1"/>
          </p:cNvSpPr>
          <p:nvPr/>
        </p:nvSpPr>
        <p:spPr bwMode="auto">
          <a:xfrm>
            <a:off x="4201534" y="647208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Oval 50"/>
          <p:cNvSpPr>
            <a:spLocks noChangeArrowheads="1"/>
          </p:cNvSpPr>
          <p:nvPr/>
        </p:nvSpPr>
        <p:spPr bwMode="auto">
          <a:xfrm>
            <a:off x="2902959" y="647208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4542846" y="700548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4" name="Oval 52"/>
          <p:cNvSpPr>
            <a:spLocks noChangeArrowheads="1"/>
          </p:cNvSpPr>
          <p:nvPr/>
        </p:nvSpPr>
        <p:spPr bwMode="auto">
          <a:xfrm>
            <a:off x="3857046" y="700548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5" name="Oval 53"/>
          <p:cNvSpPr>
            <a:spLocks noChangeArrowheads="1"/>
          </p:cNvSpPr>
          <p:nvPr/>
        </p:nvSpPr>
        <p:spPr bwMode="auto">
          <a:xfrm>
            <a:off x="3283959" y="700548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6" name="Oval 54"/>
          <p:cNvSpPr>
            <a:spLocks noChangeArrowheads="1"/>
          </p:cNvSpPr>
          <p:nvPr/>
        </p:nvSpPr>
        <p:spPr bwMode="auto">
          <a:xfrm>
            <a:off x="2485446" y="700548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7" name="Oval 55"/>
          <p:cNvSpPr>
            <a:spLocks noChangeArrowheads="1"/>
          </p:cNvSpPr>
          <p:nvPr/>
        </p:nvSpPr>
        <p:spPr bwMode="auto">
          <a:xfrm>
            <a:off x="3095046" y="761508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8" name="Oval 56"/>
          <p:cNvSpPr>
            <a:spLocks noChangeArrowheads="1"/>
          </p:cNvSpPr>
          <p:nvPr/>
        </p:nvSpPr>
        <p:spPr bwMode="auto">
          <a:xfrm>
            <a:off x="2674359" y="761508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9" name="Oval 57"/>
          <p:cNvSpPr>
            <a:spLocks noChangeArrowheads="1"/>
          </p:cNvSpPr>
          <p:nvPr/>
        </p:nvSpPr>
        <p:spPr bwMode="auto">
          <a:xfrm>
            <a:off x="2256846" y="761508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0" name="AutoShape 58"/>
          <p:cNvCxnSpPr>
            <a:cxnSpLocks noChangeShapeType="1"/>
            <a:stCxn id="36" idx="3"/>
            <a:endCxn id="39" idx="0"/>
          </p:cNvCxnSpPr>
          <p:nvPr/>
        </p:nvCxnSpPr>
        <p:spPr bwMode="auto">
          <a:xfrm flipH="1">
            <a:off x="2429884" y="7299176"/>
            <a:ext cx="1063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59"/>
          <p:cNvCxnSpPr>
            <a:cxnSpLocks noChangeShapeType="1"/>
            <a:stCxn id="36" idx="5"/>
            <a:endCxn id="38" idx="0"/>
          </p:cNvCxnSpPr>
          <p:nvPr/>
        </p:nvCxnSpPr>
        <p:spPr bwMode="auto">
          <a:xfrm>
            <a:off x="2779134" y="7299176"/>
            <a:ext cx="682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60"/>
          <p:cNvCxnSpPr>
            <a:cxnSpLocks noChangeShapeType="1"/>
            <a:stCxn id="35" idx="3"/>
            <a:endCxn id="37" idx="0"/>
          </p:cNvCxnSpPr>
          <p:nvPr/>
        </p:nvCxnSpPr>
        <p:spPr bwMode="auto">
          <a:xfrm flipH="1">
            <a:off x="3268084" y="7299176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61"/>
          <p:cNvCxnSpPr>
            <a:cxnSpLocks noChangeShapeType="1"/>
            <a:stCxn id="32" idx="3"/>
            <a:endCxn id="36" idx="0"/>
          </p:cNvCxnSpPr>
          <p:nvPr/>
        </p:nvCxnSpPr>
        <p:spPr bwMode="auto">
          <a:xfrm flipH="1">
            <a:off x="2658484" y="6765776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62"/>
          <p:cNvCxnSpPr>
            <a:cxnSpLocks noChangeShapeType="1"/>
            <a:stCxn id="32" idx="5"/>
            <a:endCxn id="35" idx="0"/>
          </p:cNvCxnSpPr>
          <p:nvPr/>
        </p:nvCxnSpPr>
        <p:spPr bwMode="auto">
          <a:xfrm>
            <a:off x="3196646" y="6765776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63"/>
          <p:cNvCxnSpPr>
            <a:cxnSpLocks noChangeShapeType="1"/>
            <a:stCxn id="31" idx="3"/>
            <a:endCxn id="34" idx="0"/>
          </p:cNvCxnSpPr>
          <p:nvPr/>
        </p:nvCxnSpPr>
        <p:spPr bwMode="auto">
          <a:xfrm flipH="1">
            <a:off x="4030084" y="6765776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64"/>
          <p:cNvCxnSpPr>
            <a:cxnSpLocks noChangeShapeType="1"/>
            <a:stCxn id="31" idx="5"/>
            <a:endCxn id="33" idx="0"/>
          </p:cNvCxnSpPr>
          <p:nvPr/>
        </p:nvCxnSpPr>
        <p:spPr bwMode="auto">
          <a:xfrm>
            <a:off x="4495221" y="6765776"/>
            <a:ext cx="2206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65"/>
          <p:cNvCxnSpPr>
            <a:cxnSpLocks noChangeShapeType="1"/>
            <a:stCxn id="49" idx="3"/>
            <a:endCxn id="32" idx="0"/>
          </p:cNvCxnSpPr>
          <p:nvPr/>
        </p:nvCxnSpPr>
        <p:spPr bwMode="auto">
          <a:xfrm flipH="1">
            <a:off x="3075996" y="6156176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66"/>
          <p:cNvCxnSpPr>
            <a:cxnSpLocks noChangeShapeType="1"/>
            <a:stCxn id="49" idx="5"/>
            <a:endCxn id="31" idx="0"/>
          </p:cNvCxnSpPr>
          <p:nvPr/>
        </p:nvCxnSpPr>
        <p:spPr bwMode="auto">
          <a:xfrm>
            <a:off x="3845934" y="6156176"/>
            <a:ext cx="528637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Oval 67"/>
          <p:cNvSpPr>
            <a:spLocks noChangeArrowheads="1"/>
          </p:cNvSpPr>
          <p:nvPr/>
        </p:nvSpPr>
        <p:spPr bwMode="auto">
          <a:xfrm>
            <a:off x="3552246" y="586248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0" name="AutoShape 68"/>
          <p:cNvSpPr>
            <a:spLocks noChangeArrowheads="1"/>
          </p:cNvSpPr>
          <p:nvPr/>
        </p:nvSpPr>
        <p:spPr bwMode="auto">
          <a:xfrm>
            <a:off x="2485446" y="4989363"/>
            <a:ext cx="838200" cy="762000"/>
          </a:xfrm>
          <a:prstGeom prst="cloudCallout">
            <a:avLst>
              <a:gd name="adj1" fmla="val 27463"/>
              <a:gd name="adj2" fmla="val 85625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2D30B9-9CFB-4A02-9CAC-BDEF29F1A60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09CC88-948D-45E1-8BCF-0DF745B0BA53}" type="slidenum">
              <a:rPr lang="en-US" altLang="zh-CN" sz="1050"/>
            </a:fld>
            <a:endParaRPr lang="en-US" altLang="zh-CN" sz="105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Maintain the Heap Property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8384" y="2861668"/>
            <a:ext cx="6193631" cy="2114550"/>
          </a:xfrm>
          <a:noFill/>
        </p:spPr>
        <p:txBody>
          <a:bodyPr/>
          <a:lstStyle/>
          <a:p>
            <a:r>
              <a:rPr lang="en-US" altLang="zh-CN" sz="2625" dirty="0">
                <a:ea typeface="SimSun" panose="02010600030101010101" pitchFamily="2" charset="-122"/>
              </a:rPr>
              <a:t>The new value goes where?</a:t>
            </a:r>
            <a:endParaRPr lang="en-US" altLang="zh-CN" sz="2625" dirty="0">
              <a:ea typeface="SimSun" panose="02010600030101010101" pitchFamily="2" charset="-122"/>
            </a:endParaRPr>
          </a:p>
          <a:p>
            <a:r>
              <a:rPr lang="en-US" altLang="zh-CN" sz="2625" dirty="0">
                <a:ea typeface="SimSun" panose="02010600030101010101" pitchFamily="2" charset="-122"/>
              </a:rPr>
              <a:t>We can do a simple </a:t>
            </a:r>
            <a:r>
              <a:rPr lang="en-US" altLang="zh-CN" sz="2625" dirty="0">
                <a:solidFill>
                  <a:srgbClr val="263AF8"/>
                </a:solidFill>
                <a:ea typeface="SimSun" panose="02010600030101010101" pitchFamily="2" charset="-122"/>
              </a:rPr>
              <a:t>insertion sort </a:t>
            </a:r>
            <a:r>
              <a:rPr lang="en-US" altLang="zh-CN" sz="2625" dirty="0">
                <a:ea typeface="SimSun" panose="02010600030101010101" pitchFamily="2" charset="-122"/>
              </a:rPr>
              <a:t>operation to find the correct place for it in the tree</a:t>
            </a:r>
            <a:endParaRPr lang="en-US" altLang="zh-CN" sz="2625" dirty="0">
              <a:ea typeface="SimSun" panose="02010600030101010101" pitchFamily="2" charset="-122"/>
            </a:endParaRPr>
          </a:p>
        </p:txBody>
      </p:sp>
      <p:sp>
        <p:nvSpPr>
          <p:cNvPr id="31" name="Oval 10"/>
          <p:cNvSpPr>
            <a:spLocks noChangeArrowheads="1"/>
          </p:cNvSpPr>
          <p:nvPr/>
        </p:nvSpPr>
        <p:spPr bwMode="auto">
          <a:xfrm>
            <a:off x="3983360" y="7151093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Line 24"/>
          <p:cNvSpPr>
            <a:spLocks noChangeShapeType="1"/>
          </p:cNvSpPr>
          <p:nvPr/>
        </p:nvSpPr>
        <p:spPr bwMode="auto">
          <a:xfrm flipH="1" flipV="1">
            <a:off x="3678560" y="7151093"/>
            <a:ext cx="304800" cy="152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Freeform 25"/>
          <p:cNvSpPr/>
          <p:nvPr/>
        </p:nvSpPr>
        <p:spPr bwMode="auto">
          <a:xfrm>
            <a:off x="2205360" y="4814293"/>
            <a:ext cx="1393825" cy="2460625"/>
          </a:xfrm>
          <a:custGeom>
            <a:avLst/>
            <a:gdLst>
              <a:gd name="T0" fmla="*/ 2109371575 w 878"/>
              <a:gd name="T1" fmla="*/ 244455950 h 1550"/>
              <a:gd name="T2" fmla="*/ 1655743450 w 878"/>
              <a:gd name="T3" fmla="*/ 50403125 h 1550"/>
              <a:gd name="T4" fmla="*/ 965220638 w 878"/>
              <a:gd name="T5" fmla="*/ 546874700 h 1550"/>
              <a:gd name="T6" fmla="*/ 337700938 w 878"/>
              <a:gd name="T7" fmla="*/ 980341575 h 1550"/>
              <a:gd name="T8" fmla="*/ 35282188 w 878"/>
              <a:gd name="T9" fmla="*/ 1325602188 h 1550"/>
              <a:gd name="T10" fmla="*/ 123488450 w 878"/>
              <a:gd name="T11" fmla="*/ 1736388450 h 1550"/>
              <a:gd name="T12" fmla="*/ 554434375 w 878"/>
              <a:gd name="T13" fmla="*/ 2101810313 h 1550"/>
              <a:gd name="T14" fmla="*/ 1136591263 w 878"/>
              <a:gd name="T15" fmla="*/ 2147483646 h 1550"/>
              <a:gd name="T16" fmla="*/ 1396166563 w 878"/>
              <a:gd name="T17" fmla="*/ 2147483646 h 1550"/>
              <a:gd name="T18" fmla="*/ 1892638138 w 878"/>
              <a:gd name="T19" fmla="*/ 2147483646 h 1550"/>
              <a:gd name="T20" fmla="*/ 2132052188 w 878"/>
              <a:gd name="T21" fmla="*/ 2147483646 h 1550"/>
              <a:gd name="T22" fmla="*/ 1698585313 w 878"/>
              <a:gd name="T23" fmla="*/ 2147483646 h 1550"/>
              <a:gd name="T24" fmla="*/ 1181954075 w 878"/>
              <a:gd name="T25" fmla="*/ 1670864388 h 1550"/>
              <a:gd name="T26" fmla="*/ 1224795938 w 878"/>
              <a:gd name="T27" fmla="*/ 1174392813 h 1550"/>
              <a:gd name="T28" fmla="*/ 2066528125 w 878"/>
              <a:gd name="T29" fmla="*/ 806450000 h 1550"/>
              <a:gd name="T30" fmla="*/ 2109371575 w 878"/>
              <a:gd name="T31" fmla="*/ 244455950 h 15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78" h="1550">
                <a:moveTo>
                  <a:pt x="837" y="97"/>
                </a:moveTo>
                <a:cubicBezTo>
                  <a:pt x="810" y="47"/>
                  <a:pt x="733" y="0"/>
                  <a:pt x="657" y="20"/>
                </a:cubicBezTo>
                <a:cubicBezTo>
                  <a:pt x="581" y="40"/>
                  <a:pt x="470" y="156"/>
                  <a:pt x="383" y="217"/>
                </a:cubicBezTo>
                <a:cubicBezTo>
                  <a:pt x="296" y="278"/>
                  <a:pt x="196" y="338"/>
                  <a:pt x="134" y="389"/>
                </a:cubicBezTo>
                <a:cubicBezTo>
                  <a:pt x="72" y="440"/>
                  <a:pt x="28" y="476"/>
                  <a:pt x="14" y="526"/>
                </a:cubicBezTo>
                <a:cubicBezTo>
                  <a:pt x="0" y="576"/>
                  <a:pt x="15" y="638"/>
                  <a:pt x="49" y="689"/>
                </a:cubicBezTo>
                <a:cubicBezTo>
                  <a:pt x="83" y="740"/>
                  <a:pt x="153" y="758"/>
                  <a:pt x="220" y="834"/>
                </a:cubicBezTo>
                <a:cubicBezTo>
                  <a:pt x="287" y="910"/>
                  <a:pt x="395" y="1037"/>
                  <a:pt x="451" y="1143"/>
                </a:cubicBezTo>
                <a:cubicBezTo>
                  <a:pt x="507" y="1249"/>
                  <a:pt x="504" y="1405"/>
                  <a:pt x="554" y="1469"/>
                </a:cubicBezTo>
                <a:cubicBezTo>
                  <a:pt x="604" y="1533"/>
                  <a:pt x="702" y="1550"/>
                  <a:pt x="751" y="1529"/>
                </a:cubicBezTo>
                <a:cubicBezTo>
                  <a:pt x="800" y="1508"/>
                  <a:pt x="859" y="1449"/>
                  <a:pt x="846" y="1340"/>
                </a:cubicBezTo>
                <a:cubicBezTo>
                  <a:pt x="833" y="1231"/>
                  <a:pt x="737" y="990"/>
                  <a:pt x="674" y="877"/>
                </a:cubicBezTo>
                <a:cubicBezTo>
                  <a:pt x="611" y="764"/>
                  <a:pt x="500" y="731"/>
                  <a:pt x="469" y="663"/>
                </a:cubicBezTo>
                <a:cubicBezTo>
                  <a:pt x="438" y="595"/>
                  <a:pt x="428" y="523"/>
                  <a:pt x="486" y="466"/>
                </a:cubicBezTo>
                <a:cubicBezTo>
                  <a:pt x="544" y="409"/>
                  <a:pt x="762" y="381"/>
                  <a:pt x="820" y="320"/>
                </a:cubicBezTo>
                <a:cubicBezTo>
                  <a:pt x="878" y="259"/>
                  <a:pt x="864" y="147"/>
                  <a:pt x="837" y="97"/>
                </a:cubicBezTo>
                <a:close/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26"/>
          <p:cNvSpPr>
            <a:spLocks noChangeArrowheads="1"/>
          </p:cNvSpPr>
          <p:nvPr/>
        </p:nvSpPr>
        <p:spPr bwMode="auto">
          <a:xfrm>
            <a:off x="3068960" y="6730406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5" name="AutoShape 27"/>
          <p:cNvCxnSpPr>
            <a:cxnSpLocks noChangeShapeType="1"/>
            <a:stCxn id="40" idx="5"/>
            <a:endCxn id="34" idx="0"/>
          </p:cNvCxnSpPr>
          <p:nvPr/>
        </p:nvCxnSpPr>
        <p:spPr bwMode="auto">
          <a:xfrm>
            <a:off x="3094360" y="6412906"/>
            <a:ext cx="147638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Oval 28"/>
          <p:cNvSpPr>
            <a:spLocks noChangeArrowheads="1"/>
          </p:cNvSpPr>
          <p:nvPr/>
        </p:nvSpPr>
        <p:spPr bwMode="auto">
          <a:xfrm>
            <a:off x="3718248" y="558581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7" name="Oval 29"/>
          <p:cNvSpPr>
            <a:spLocks noChangeArrowheads="1"/>
          </p:cNvSpPr>
          <p:nvPr/>
        </p:nvSpPr>
        <p:spPr bwMode="auto">
          <a:xfrm>
            <a:off x="2419673" y="558581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8" name="Oval 30"/>
          <p:cNvSpPr>
            <a:spLocks noChangeArrowheads="1"/>
          </p:cNvSpPr>
          <p:nvPr/>
        </p:nvSpPr>
        <p:spPr bwMode="auto">
          <a:xfrm>
            <a:off x="4059560" y="611921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9" name="Oval 31"/>
          <p:cNvSpPr>
            <a:spLocks noChangeArrowheads="1"/>
          </p:cNvSpPr>
          <p:nvPr/>
        </p:nvSpPr>
        <p:spPr bwMode="auto">
          <a:xfrm>
            <a:off x="3373760" y="611921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0" name="Oval 32"/>
          <p:cNvSpPr>
            <a:spLocks noChangeArrowheads="1"/>
          </p:cNvSpPr>
          <p:nvPr/>
        </p:nvSpPr>
        <p:spPr bwMode="auto">
          <a:xfrm>
            <a:off x="2800673" y="611921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2002160" y="611921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2" name="Oval 34"/>
          <p:cNvSpPr>
            <a:spLocks noChangeArrowheads="1"/>
          </p:cNvSpPr>
          <p:nvPr/>
        </p:nvSpPr>
        <p:spPr bwMode="auto">
          <a:xfrm>
            <a:off x="2611760" y="672881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3" name="Oval 35"/>
          <p:cNvSpPr>
            <a:spLocks noChangeArrowheads="1"/>
          </p:cNvSpPr>
          <p:nvPr/>
        </p:nvSpPr>
        <p:spPr bwMode="auto">
          <a:xfrm>
            <a:off x="2191073" y="672881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4" name="Oval 36"/>
          <p:cNvSpPr>
            <a:spLocks noChangeArrowheads="1"/>
          </p:cNvSpPr>
          <p:nvPr/>
        </p:nvSpPr>
        <p:spPr bwMode="auto">
          <a:xfrm>
            <a:off x="1773560" y="672881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5" name="AutoShape 37"/>
          <p:cNvCxnSpPr>
            <a:cxnSpLocks noChangeShapeType="1"/>
            <a:stCxn id="41" idx="3"/>
            <a:endCxn id="44" idx="0"/>
          </p:cNvCxnSpPr>
          <p:nvPr/>
        </p:nvCxnSpPr>
        <p:spPr bwMode="auto">
          <a:xfrm flipH="1">
            <a:off x="1946598" y="6412906"/>
            <a:ext cx="1063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38"/>
          <p:cNvCxnSpPr>
            <a:cxnSpLocks noChangeShapeType="1"/>
            <a:stCxn id="41" idx="5"/>
            <a:endCxn id="43" idx="0"/>
          </p:cNvCxnSpPr>
          <p:nvPr/>
        </p:nvCxnSpPr>
        <p:spPr bwMode="auto">
          <a:xfrm>
            <a:off x="2295848" y="6412906"/>
            <a:ext cx="682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39"/>
          <p:cNvCxnSpPr>
            <a:cxnSpLocks noChangeShapeType="1"/>
            <a:stCxn id="40" idx="3"/>
            <a:endCxn id="42" idx="0"/>
          </p:cNvCxnSpPr>
          <p:nvPr/>
        </p:nvCxnSpPr>
        <p:spPr bwMode="auto">
          <a:xfrm flipH="1">
            <a:off x="2784798" y="6412906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40"/>
          <p:cNvCxnSpPr>
            <a:cxnSpLocks noChangeShapeType="1"/>
            <a:stCxn id="37" idx="3"/>
            <a:endCxn id="41" idx="0"/>
          </p:cNvCxnSpPr>
          <p:nvPr/>
        </p:nvCxnSpPr>
        <p:spPr bwMode="auto">
          <a:xfrm flipH="1">
            <a:off x="2175198" y="5879506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41"/>
          <p:cNvCxnSpPr>
            <a:cxnSpLocks noChangeShapeType="1"/>
            <a:stCxn id="37" idx="5"/>
            <a:endCxn id="40" idx="0"/>
          </p:cNvCxnSpPr>
          <p:nvPr/>
        </p:nvCxnSpPr>
        <p:spPr bwMode="auto">
          <a:xfrm>
            <a:off x="2713360" y="5879506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42"/>
          <p:cNvCxnSpPr>
            <a:cxnSpLocks noChangeShapeType="1"/>
            <a:stCxn id="36" idx="3"/>
            <a:endCxn id="39" idx="0"/>
          </p:cNvCxnSpPr>
          <p:nvPr/>
        </p:nvCxnSpPr>
        <p:spPr bwMode="auto">
          <a:xfrm flipH="1">
            <a:off x="3546798" y="5879506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AutoShape 43"/>
          <p:cNvCxnSpPr>
            <a:cxnSpLocks noChangeShapeType="1"/>
            <a:stCxn id="36" idx="5"/>
            <a:endCxn id="38" idx="0"/>
          </p:cNvCxnSpPr>
          <p:nvPr/>
        </p:nvCxnSpPr>
        <p:spPr bwMode="auto">
          <a:xfrm>
            <a:off x="4011935" y="5879506"/>
            <a:ext cx="2206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AutoShape 44"/>
          <p:cNvCxnSpPr>
            <a:cxnSpLocks noChangeShapeType="1"/>
            <a:stCxn id="54" idx="3"/>
            <a:endCxn id="37" idx="0"/>
          </p:cNvCxnSpPr>
          <p:nvPr/>
        </p:nvCxnSpPr>
        <p:spPr bwMode="auto">
          <a:xfrm flipH="1">
            <a:off x="2592710" y="5269906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AutoShape 45"/>
          <p:cNvCxnSpPr>
            <a:cxnSpLocks noChangeShapeType="1"/>
            <a:stCxn id="54" idx="5"/>
            <a:endCxn id="36" idx="0"/>
          </p:cNvCxnSpPr>
          <p:nvPr/>
        </p:nvCxnSpPr>
        <p:spPr bwMode="auto">
          <a:xfrm>
            <a:off x="3362648" y="5269906"/>
            <a:ext cx="528637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Oval 46"/>
          <p:cNvSpPr>
            <a:spLocks noChangeArrowheads="1"/>
          </p:cNvSpPr>
          <p:nvPr/>
        </p:nvSpPr>
        <p:spPr bwMode="auto">
          <a:xfrm>
            <a:off x="3068960" y="4976218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D98266-C03A-49A7-86EA-49B42C9933D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282AC5-D21F-4BDB-9DE5-811EDD8816A6}" type="slidenum">
              <a:rPr lang="en-US" altLang="zh-CN" sz="1050"/>
            </a:fld>
            <a:endParaRPr lang="en-US" altLang="zh-CN" sz="105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Insert: Percolate Up</a:t>
            </a:r>
            <a:endParaRPr lang="en-US" altLang="zh-CN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28702" name="Text Box 96"/>
          <p:cNvSpPr txBox="1">
            <a:spLocks noChangeArrowheads="1"/>
          </p:cNvSpPr>
          <p:nvPr/>
        </p:nvSpPr>
        <p:spPr bwMode="auto">
          <a:xfrm>
            <a:off x="572075" y="6075507"/>
            <a:ext cx="55108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dirty="0">
                <a:ea typeface="SimSun" panose="02010600030101010101" pitchFamily="2" charset="-122"/>
              </a:rPr>
              <a:t> Start at last node and keep comparing with parent A[</a:t>
            </a:r>
            <a:r>
              <a:rPr lang="en-US" altLang="zh-CN" sz="2000" dirty="0" err="1"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ea typeface="SimSun" panose="02010600030101010101" pitchFamily="2" charset="-122"/>
              </a:rPr>
              <a:t>/2]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ea typeface="SimSun" panose="02010600030101010101" pitchFamily="2" charset="-122"/>
              </a:rPr>
              <a:t> If parent larger, copy parent down and go up one level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ea typeface="SimSun" panose="02010600030101010101" pitchFamily="2" charset="-122"/>
              </a:rPr>
              <a:t> Done if </a:t>
            </a:r>
            <a:r>
              <a:rPr lang="en-US" altLang="zh-CN" sz="2000" dirty="0">
                <a:ea typeface="SimSun" panose="02010600030101010101" pitchFamily="2" charset="-122"/>
                <a:sym typeface="Symbol" panose="05050102010706020507" pitchFamily="18" charset="2"/>
              </a:rPr>
              <a:t>parent  item or reached top node A[1]</a:t>
            </a:r>
            <a:endParaRPr lang="en-US" altLang="zh-CN" sz="2000" dirty="0">
              <a:ea typeface="SimSun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ea typeface="SimSun" panose="02010600030101010101" pitchFamily="2" charset="-122"/>
              </a:rPr>
              <a:t> Run time?</a:t>
            </a:r>
            <a:endParaRPr lang="en-US" altLang="zh-CN" sz="2000" dirty="0">
              <a:ea typeface="SimSun" panose="02010600030101010101" pitchFamily="2" charset="-122"/>
            </a:endParaRPr>
          </a:p>
        </p:txBody>
      </p:sp>
      <p:sp>
        <p:nvSpPr>
          <p:cNvPr id="84" name="Oval 72"/>
          <p:cNvSpPr>
            <a:spLocks noChangeArrowheads="1"/>
          </p:cNvSpPr>
          <p:nvPr/>
        </p:nvSpPr>
        <p:spPr bwMode="auto">
          <a:xfrm>
            <a:off x="2451412" y="4943824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5" name="Freeform 74"/>
          <p:cNvSpPr/>
          <p:nvPr/>
        </p:nvSpPr>
        <p:spPr bwMode="auto">
          <a:xfrm>
            <a:off x="786125" y="2876899"/>
            <a:ext cx="1393825" cy="2460625"/>
          </a:xfrm>
          <a:custGeom>
            <a:avLst/>
            <a:gdLst>
              <a:gd name="T0" fmla="*/ 2109371575 w 878"/>
              <a:gd name="T1" fmla="*/ 244455950 h 1550"/>
              <a:gd name="T2" fmla="*/ 1655743450 w 878"/>
              <a:gd name="T3" fmla="*/ 50403125 h 1550"/>
              <a:gd name="T4" fmla="*/ 965220638 w 878"/>
              <a:gd name="T5" fmla="*/ 546874700 h 1550"/>
              <a:gd name="T6" fmla="*/ 337700938 w 878"/>
              <a:gd name="T7" fmla="*/ 980341575 h 1550"/>
              <a:gd name="T8" fmla="*/ 35282188 w 878"/>
              <a:gd name="T9" fmla="*/ 1325602188 h 1550"/>
              <a:gd name="T10" fmla="*/ 123488450 w 878"/>
              <a:gd name="T11" fmla="*/ 1736388450 h 1550"/>
              <a:gd name="T12" fmla="*/ 554434375 w 878"/>
              <a:gd name="T13" fmla="*/ 2101810313 h 1550"/>
              <a:gd name="T14" fmla="*/ 1136591263 w 878"/>
              <a:gd name="T15" fmla="*/ 2147483646 h 1550"/>
              <a:gd name="T16" fmla="*/ 1396166563 w 878"/>
              <a:gd name="T17" fmla="*/ 2147483646 h 1550"/>
              <a:gd name="T18" fmla="*/ 1892638138 w 878"/>
              <a:gd name="T19" fmla="*/ 2147483646 h 1550"/>
              <a:gd name="T20" fmla="*/ 2132052188 w 878"/>
              <a:gd name="T21" fmla="*/ 2147483646 h 1550"/>
              <a:gd name="T22" fmla="*/ 1698585313 w 878"/>
              <a:gd name="T23" fmla="*/ 2147483646 h 1550"/>
              <a:gd name="T24" fmla="*/ 1181954075 w 878"/>
              <a:gd name="T25" fmla="*/ 1670864388 h 1550"/>
              <a:gd name="T26" fmla="*/ 1224795938 w 878"/>
              <a:gd name="T27" fmla="*/ 1174392813 h 1550"/>
              <a:gd name="T28" fmla="*/ 2066528125 w 878"/>
              <a:gd name="T29" fmla="*/ 806450000 h 1550"/>
              <a:gd name="T30" fmla="*/ 2109371575 w 878"/>
              <a:gd name="T31" fmla="*/ 244455950 h 15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78" h="1550">
                <a:moveTo>
                  <a:pt x="837" y="97"/>
                </a:moveTo>
                <a:cubicBezTo>
                  <a:pt x="810" y="47"/>
                  <a:pt x="733" y="0"/>
                  <a:pt x="657" y="20"/>
                </a:cubicBezTo>
                <a:cubicBezTo>
                  <a:pt x="581" y="40"/>
                  <a:pt x="470" y="156"/>
                  <a:pt x="383" y="217"/>
                </a:cubicBezTo>
                <a:cubicBezTo>
                  <a:pt x="296" y="278"/>
                  <a:pt x="196" y="338"/>
                  <a:pt x="134" y="389"/>
                </a:cubicBezTo>
                <a:cubicBezTo>
                  <a:pt x="72" y="440"/>
                  <a:pt x="28" y="476"/>
                  <a:pt x="14" y="526"/>
                </a:cubicBezTo>
                <a:cubicBezTo>
                  <a:pt x="0" y="576"/>
                  <a:pt x="15" y="638"/>
                  <a:pt x="49" y="689"/>
                </a:cubicBezTo>
                <a:cubicBezTo>
                  <a:pt x="83" y="740"/>
                  <a:pt x="153" y="758"/>
                  <a:pt x="220" y="834"/>
                </a:cubicBezTo>
                <a:cubicBezTo>
                  <a:pt x="287" y="910"/>
                  <a:pt x="395" y="1037"/>
                  <a:pt x="451" y="1143"/>
                </a:cubicBezTo>
                <a:cubicBezTo>
                  <a:pt x="507" y="1249"/>
                  <a:pt x="504" y="1405"/>
                  <a:pt x="554" y="1469"/>
                </a:cubicBezTo>
                <a:cubicBezTo>
                  <a:pt x="604" y="1533"/>
                  <a:pt x="702" y="1550"/>
                  <a:pt x="751" y="1529"/>
                </a:cubicBezTo>
                <a:cubicBezTo>
                  <a:pt x="800" y="1508"/>
                  <a:pt x="859" y="1449"/>
                  <a:pt x="846" y="1340"/>
                </a:cubicBezTo>
                <a:cubicBezTo>
                  <a:pt x="833" y="1231"/>
                  <a:pt x="737" y="990"/>
                  <a:pt x="674" y="877"/>
                </a:cubicBezTo>
                <a:cubicBezTo>
                  <a:pt x="611" y="764"/>
                  <a:pt x="500" y="731"/>
                  <a:pt x="469" y="663"/>
                </a:cubicBezTo>
                <a:cubicBezTo>
                  <a:pt x="438" y="595"/>
                  <a:pt x="428" y="523"/>
                  <a:pt x="486" y="466"/>
                </a:cubicBezTo>
                <a:cubicBezTo>
                  <a:pt x="544" y="409"/>
                  <a:pt x="762" y="381"/>
                  <a:pt x="820" y="320"/>
                </a:cubicBezTo>
                <a:cubicBezTo>
                  <a:pt x="878" y="259"/>
                  <a:pt x="864" y="147"/>
                  <a:pt x="837" y="97"/>
                </a:cubicBezTo>
                <a:close/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Oval 75"/>
          <p:cNvSpPr>
            <a:spLocks noChangeArrowheads="1"/>
          </p:cNvSpPr>
          <p:nvPr/>
        </p:nvSpPr>
        <p:spPr bwMode="auto">
          <a:xfrm>
            <a:off x="1649725" y="4793012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87" name="AutoShape 76"/>
          <p:cNvCxnSpPr>
            <a:cxnSpLocks noChangeShapeType="1"/>
            <a:stCxn id="92" idx="5"/>
            <a:endCxn id="86" idx="0"/>
          </p:cNvCxnSpPr>
          <p:nvPr/>
        </p:nvCxnSpPr>
        <p:spPr bwMode="auto">
          <a:xfrm>
            <a:off x="1675125" y="4475512"/>
            <a:ext cx="147637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Oval 77"/>
          <p:cNvSpPr>
            <a:spLocks noChangeArrowheads="1"/>
          </p:cNvSpPr>
          <p:nvPr/>
        </p:nvSpPr>
        <p:spPr bwMode="auto">
          <a:xfrm>
            <a:off x="2299012" y="364842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9" name="Oval 78"/>
          <p:cNvSpPr>
            <a:spLocks noChangeArrowheads="1"/>
          </p:cNvSpPr>
          <p:nvPr/>
        </p:nvSpPr>
        <p:spPr bwMode="auto">
          <a:xfrm>
            <a:off x="1000437" y="364842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0" name="Oval 79"/>
          <p:cNvSpPr>
            <a:spLocks noChangeArrowheads="1"/>
          </p:cNvSpPr>
          <p:nvPr/>
        </p:nvSpPr>
        <p:spPr bwMode="auto">
          <a:xfrm>
            <a:off x="2640325" y="418182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1" name="Oval 80"/>
          <p:cNvSpPr>
            <a:spLocks noChangeArrowheads="1"/>
          </p:cNvSpPr>
          <p:nvPr/>
        </p:nvSpPr>
        <p:spPr bwMode="auto">
          <a:xfrm>
            <a:off x="1954525" y="418182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2" name="Oval 81"/>
          <p:cNvSpPr>
            <a:spLocks noChangeArrowheads="1"/>
          </p:cNvSpPr>
          <p:nvPr/>
        </p:nvSpPr>
        <p:spPr bwMode="auto">
          <a:xfrm>
            <a:off x="1381437" y="418182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3" name="Oval 82"/>
          <p:cNvSpPr>
            <a:spLocks noChangeArrowheads="1"/>
          </p:cNvSpPr>
          <p:nvPr/>
        </p:nvSpPr>
        <p:spPr bwMode="auto">
          <a:xfrm>
            <a:off x="582925" y="418182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4" name="Oval 83"/>
          <p:cNvSpPr>
            <a:spLocks noChangeArrowheads="1"/>
          </p:cNvSpPr>
          <p:nvPr/>
        </p:nvSpPr>
        <p:spPr bwMode="auto">
          <a:xfrm>
            <a:off x="1192525" y="479142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5" name="Oval 84"/>
          <p:cNvSpPr>
            <a:spLocks noChangeArrowheads="1"/>
          </p:cNvSpPr>
          <p:nvPr/>
        </p:nvSpPr>
        <p:spPr bwMode="auto">
          <a:xfrm>
            <a:off x="771837" y="479142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6" name="Oval 85"/>
          <p:cNvSpPr>
            <a:spLocks noChangeArrowheads="1"/>
          </p:cNvSpPr>
          <p:nvPr/>
        </p:nvSpPr>
        <p:spPr bwMode="auto">
          <a:xfrm>
            <a:off x="354325" y="479142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97" name="AutoShape 86"/>
          <p:cNvCxnSpPr>
            <a:cxnSpLocks noChangeShapeType="1"/>
            <a:stCxn id="93" idx="3"/>
            <a:endCxn id="96" idx="0"/>
          </p:cNvCxnSpPr>
          <p:nvPr/>
        </p:nvCxnSpPr>
        <p:spPr bwMode="auto">
          <a:xfrm flipH="1">
            <a:off x="527362" y="4475512"/>
            <a:ext cx="1063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AutoShape 87"/>
          <p:cNvCxnSpPr>
            <a:cxnSpLocks noChangeShapeType="1"/>
            <a:stCxn id="93" idx="5"/>
            <a:endCxn id="95" idx="0"/>
          </p:cNvCxnSpPr>
          <p:nvPr/>
        </p:nvCxnSpPr>
        <p:spPr bwMode="auto">
          <a:xfrm>
            <a:off x="876612" y="4475512"/>
            <a:ext cx="682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AutoShape 88"/>
          <p:cNvCxnSpPr>
            <a:cxnSpLocks noChangeShapeType="1"/>
            <a:stCxn id="92" idx="3"/>
            <a:endCxn id="94" idx="0"/>
          </p:cNvCxnSpPr>
          <p:nvPr/>
        </p:nvCxnSpPr>
        <p:spPr bwMode="auto">
          <a:xfrm flipH="1">
            <a:off x="1365562" y="4475512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89"/>
          <p:cNvCxnSpPr>
            <a:cxnSpLocks noChangeShapeType="1"/>
            <a:stCxn id="89" idx="3"/>
            <a:endCxn id="93" idx="0"/>
          </p:cNvCxnSpPr>
          <p:nvPr/>
        </p:nvCxnSpPr>
        <p:spPr bwMode="auto">
          <a:xfrm flipH="1">
            <a:off x="755962" y="3942112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90"/>
          <p:cNvCxnSpPr>
            <a:cxnSpLocks noChangeShapeType="1"/>
            <a:stCxn id="89" idx="5"/>
            <a:endCxn id="92" idx="0"/>
          </p:cNvCxnSpPr>
          <p:nvPr/>
        </p:nvCxnSpPr>
        <p:spPr bwMode="auto">
          <a:xfrm>
            <a:off x="1294125" y="3942112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91"/>
          <p:cNvCxnSpPr>
            <a:cxnSpLocks noChangeShapeType="1"/>
            <a:stCxn id="88" idx="3"/>
            <a:endCxn id="91" idx="0"/>
          </p:cNvCxnSpPr>
          <p:nvPr/>
        </p:nvCxnSpPr>
        <p:spPr bwMode="auto">
          <a:xfrm flipH="1">
            <a:off x="2127562" y="3942112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AutoShape 92"/>
          <p:cNvCxnSpPr>
            <a:cxnSpLocks noChangeShapeType="1"/>
            <a:stCxn id="88" idx="5"/>
            <a:endCxn id="90" idx="0"/>
          </p:cNvCxnSpPr>
          <p:nvPr/>
        </p:nvCxnSpPr>
        <p:spPr bwMode="auto">
          <a:xfrm>
            <a:off x="2592700" y="3942112"/>
            <a:ext cx="2206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AutoShape 93"/>
          <p:cNvCxnSpPr>
            <a:cxnSpLocks noChangeShapeType="1"/>
            <a:stCxn id="106" idx="3"/>
            <a:endCxn id="89" idx="0"/>
          </p:cNvCxnSpPr>
          <p:nvPr/>
        </p:nvCxnSpPr>
        <p:spPr bwMode="auto">
          <a:xfrm flipH="1">
            <a:off x="1173475" y="3332512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AutoShape 94"/>
          <p:cNvCxnSpPr>
            <a:cxnSpLocks noChangeShapeType="1"/>
            <a:stCxn id="106" idx="5"/>
            <a:endCxn id="88" idx="0"/>
          </p:cNvCxnSpPr>
          <p:nvPr/>
        </p:nvCxnSpPr>
        <p:spPr bwMode="auto">
          <a:xfrm>
            <a:off x="1943412" y="3332512"/>
            <a:ext cx="528638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Oval 95"/>
          <p:cNvSpPr>
            <a:spLocks noChangeArrowheads="1"/>
          </p:cNvSpPr>
          <p:nvPr/>
        </p:nvSpPr>
        <p:spPr bwMode="auto">
          <a:xfrm>
            <a:off x="1649725" y="303882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07" name="AutoShape 97"/>
          <p:cNvCxnSpPr>
            <a:cxnSpLocks noChangeShapeType="1"/>
            <a:stCxn id="84" idx="1"/>
            <a:endCxn id="86" idx="6"/>
          </p:cNvCxnSpPr>
          <p:nvPr/>
        </p:nvCxnSpPr>
        <p:spPr bwMode="auto">
          <a:xfrm flipH="1" flipV="1">
            <a:off x="1994212" y="4966049"/>
            <a:ext cx="508000" cy="28575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Oval 98"/>
          <p:cNvSpPr>
            <a:spLocks noChangeArrowheads="1"/>
          </p:cNvSpPr>
          <p:nvPr/>
        </p:nvSpPr>
        <p:spPr bwMode="auto">
          <a:xfrm>
            <a:off x="2146612" y="4486624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?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9" name="Oval 99"/>
          <p:cNvSpPr>
            <a:spLocks noChangeArrowheads="1"/>
          </p:cNvSpPr>
          <p:nvPr/>
        </p:nvSpPr>
        <p:spPr bwMode="auto">
          <a:xfrm>
            <a:off x="5347012" y="5020024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0" name="Freeform 100"/>
          <p:cNvSpPr/>
          <p:nvPr/>
        </p:nvSpPr>
        <p:spPr bwMode="auto">
          <a:xfrm>
            <a:off x="3910325" y="2886424"/>
            <a:ext cx="1393825" cy="2460625"/>
          </a:xfrm>
          <a:custGeom>
            <a:avLst/>
            <a:gdLst>
              <a:gd name="T0" fmla="*/ 2109371575 w 878"/>
              <a:gd name="T1" fmla="*/ 244455950 h 1550"/>
              <a:gd name="T2" fmla="*/ 1655743450 w 878"/>
              <a:gd name="T3" fmla="*/ 50403125 h 1550"/>
              <a:gd name="T4" fmla="*/ 965220638 w 878"/>
              <a:gd name="T5" fmla="*/ 546874700 h 1550"/>
              <a:gd name="T6" fmla="*/ 337700938 w 878"/>
              <a:gd name="T7" fmla="*/ 980341575 h 1550"/>
              <a:gd name="T8" fmla="*/ 35282188 w 878"/>
              <a:gd name="T9" fmla="*/ 1325602188 h 1550"/>
              <a:gd name="T10" fmla="*/ 123488450 w 878"/>
              <a:gd name="T11" fmla="*/ 1736388450 h 1550"/>
              <a:gd name="T12" fmla="*/ 554434375 w 878"/>
              <a:gd name="T13" fmla="*/ 2101810313 h 1550"/>
              <a:gd name="T14" fmla="*/ 1136591263 w 878"/>
              <a:gd name="T15" fmla="*/ 2147483646 h 1550"/>
              <a:gd name="T16" fmla="*/ 1396166563 w 878"/>
              <a:gd name="T17" fmla="*/ 2147483646 h 1550"/>
              <a:gd name="T18" fmla="*/ 1892638138 w 878"/>
              <a:gd name="T19" fmla="*/ 2147483646 h 1550"/>
              <a:gd name="T20" fmla="*/ 2132052188 w 878"/>
              <a:gd name="T21" fmla="*/ 2147483646 h 1550"/>
              <a:gd name="T22" fmla="*/ 1698585313 w 878"/>
              <a:gd name="T23" fmla="*/ 2147483646 h 1550"/>
              <a:gd name="T24" fmla="*/ 1181954075 w 878"/>
              <a:gd name="T25" fmla="*/ 1670864388 h 1550"/>
              <a:gd name="T26" fmla="*/ 1224795938 w 878"/>
              <a:gd name="T27" fmla="*/ 1174392813 h 1550"/>
              <a:gd name="T28" fmla="*/ 2066528125 w 878"/>
              <a:gd name="T29" fmla="*/ 806450000 h 1550"/>
              <a:gd name="T30" fmla="*/ 2109371575 w 878"/>
              <a:gd name="T31" fmla="*/ 244455950 h 15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78" h="1550">
                <a:moveTo>
                  <a:pt x="837" y="97"/>
                </a:moveTo>
                <a:cubicBezTo>
                  <a:pt x="810" y="47"/>
                  <a:pt x="733" y="0"/>
                  <a:pt x="657" y="20"/>
                </a:cubicBezTo>
                <a:cubicBezTo>
                  <a:pt x="581" y="40"/>
                  <a:pt x="470" y="156"/>
                  <a:pt x="383" y="217"/>
                </a:cubicBezTo>
                <a:cubicBezTo>
                  <a:pt x="296" y="278"/>
                  <a:pt x="196" y="338"/>
                  <a:pt x="134" y="389"/>
                </a:cubicBezTo>
                <a:cubicBezTo>
                  <a:pt x="72" y="440"/>
                  <a:pt x="28" y="476"/>
                  <a:pt x="14" y="526"/>
                </a:cubicBezTo>
                <a:cubicBezTo>
                  <a:pt x="0" y="576"/>
                  <a:pt x="15" y="638"/>
                  <a:pt x="49" y="689"/>
                </a:cubicBezTo>
                <a:cubicBezTo>
                  <a:pt x="83" y="740"/>
                  <a:pt x="153" y="758"/>
                  <a:pt x="220" y="834"/>
                </a:cubicBezTo>
                <a:cubicBezTo>
                  <a:pt x="287" y="910"/>
                  <a:pt x="395" y="1037"/>
                  <a:pt x="451" y="1143"/>
                </a:cubicBezTo>
                <a:cubicBezTo>
                  <a:pt x="507" y="1249"/>
                  <a:pt x="504" y="1405"/>
                  <a:pt x="554" y="1469"/>
                </a:cubicBezTo>
                <a:cubicBezTo>
                  <a:pt x="604" y="1533"/>
                  <a:pt x="702" y="1550"/>
                  <a:pt x="751" y="1529"/>
                </a:cubicBezTo>
                <a:cubicBezTo>
                  <a:pt x="800" y="1508"/>
                  <a:pt x="859" y="1449"/>
                  <a:pt x="846" y="1340"/>
                </a:cubicBezTo>
                <a:cubicBezTo>
                  <a:pt x="833" y="1231"/>
                  <a:pt x="737" y="990"/>
                  <a:pt x="674" y="877"/>
                </a:cubicBezTo>
                <a:cubicBezTo>
                  <a:pt x="611" y="764"/>
                  <a:pt x="500" y="731"/>
                  <a:pt x="469" y="663"/>
                </a:cubicBezTo>
                <a:cubicBezTo>
                  <a:pt x="438" y="595"/>
                  <a:pt x="428" y="523"/>
                  <a:pt x="486" y="466"/>
                </a:cubicBezTo>
                <a:cubicBezTo>
                  <a:pt x="544" y="409"/>
                  <a:pt x="762" y="381"/>
                  <a:pt x="820" y="320"/>
                </a:cubicBezTo>
                <a:cubicBezTo>
                  <a:pt x="878" y="259"/>
                  <a:pt x="864" y="147"/>
                  <a:pt x="837" y="97"/>
                </a:cubicBezTo>
                <a:close/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101"/>
          <p:cNvSpPr>
            <a:spLocks noChangeArrowheads="1"/>
          </p:cNvSpPr>
          <p:nvPr/>
        </p:nvSpPr>
        <p:spPr bwMode="auto">
          <a:xfrm>
            <a:off x="4773925" y="4802537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12" name="AutoShape 102"/>
          <p:cNvCxnSpPr>
            <a:cxnSpLocks noChangeShapeType="1"/>
            <a:stCxn id="117" idx="5"/>
            <a:endCxn id="111" idx="0"/>
          </p:cNvCxnSpPr>
          <p:nvPr/>
        </p:nvCxnSpPr>
        <p:spPr bwMode="auto">
          <a:xfrm>
            <a:off x="4799325" y="4485037"/>
            <a:ext cx="147637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" name="Oval 103"/>
          <p:cNvSpPr>
            <a:spLocks noChangeArrowheads="1"/>
          </p:cNvSpPr>
          <p:nvPr/>
        </p:nvSpPr>
        <p:spPr bwMode="auto">
          <a:xfrm>
            <a:off x="5423212" y="3657949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4" name="Oval 104"/>
          <p:cNvSpPr>
            <a:spLocks noChangeArrowheads="1"/>
          </p:cNvSpPr>
          <p:nvPr/>
        </p:nvSpPr>
        <p:spPr bwMode="auto">
          <a:xfrm>
            <a:off x="4124637" y="3657949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5" name="Oval 105"/>
          <p:cNvSpPr>
            <a:spLocks noChangeArrowheads="1"/>
          </p:cNvSpPr>
          <p:nvPr/>
        </p:nvSpPr>
        <p:spPr bwMode="auto">
          <a:xfrm>
            <a:off x="5764525" y="41913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6" name="Oval 106"/>
          <p:cNvSpPr>
            <a:spLocks noChangeArrowheads="1"/>
          </p:cNvSpPr>
          <p:nvPr/>
        </p:nvSpPr>
        <p:spPr bwMode="auto">
          <a:xfrm>
            <a:off x="5078725" y="41913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7" name="Oval 107"/>
          <p:cNvSpPr>
            <a:spLocks noChangeArrowheads="1"/>
          </p:cNvSpPr>
          <p:nvPr/>
        </p:nvSpPr>
        <p:spPr bwMode="auto">
          <a:xfrm>
            <a:off x="4505637" y="4191349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" name="Oval 108"/>
          <p:cNvSpPr>
            <a:spLocks noChangeArrowheads="1"/>
          </p:cNvSpPr>
          <p:nvPr/>
        </p:nvSpPr>
        <p:spPr bwMode="auto">
          <a:xfrm>
            <a:off x="3707125" y="41913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9" name="Oval 109"/>
          <p:cNvSpPr>
            <a:spLocks noChangeArrowheads="1"/>
          </p:cNvSpPr>
          <p:nvPr/>
        </p:nvSpPr>
        <p:spPr bwMode="auto">
          <a:xfrm>
            <a:off x="4316725" y="48009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0" name="Oval 110"/>
          <p:cNvSpPr>
            <a:spLocks noChangeArrowheads="1"/>
          </p:cNvSpPr>
          <p:nvPr/>
        </p:nvSpPr>
        <p:spPr bwMode="auto">
          <a:xfrm>
            <a:off x="3896037" y="4800949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1" name="Oval 111"/>
          <p:cNvSpPr>
            <a:spLocks noChangeArrowheads="1"/>
          </p:cNvSpPr>
          <p:nvPr/>
        </p:nvSpPr>
        <p:spPr bwMode="auto">
          <a:xfrm>
            <a:off x="3478525" y="48009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22" name="AutoShape 112"/>
          <p:cNvCxnSpPr>
            <a:cxnSpLocks noChangeShapeType="1"/>
            <a:stCxn id="118" idx="3"/>
            <a:endCxn id="121" idx="0"/>
          </p:cNvCxnSpPr>
          <p:nvPr/>
        </p:nvCxnSpPr>
        <p:spPr bwMode="auto">
          <a:xfrm flipH="1">
            <a:off x="3651562" y="4485037"/>
            <a:ext cx="1063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" name="AutoShape 113"/>
          <p:cNvCxnSpPr>
            <a:cxnSpLocks noChangeShapeType="1"/>
            <a:stCxn id="118" idx="5"/>
            <a:endCxn id="120" idx="0"/>
          </p:cNvCxnSpPr>
          <p:nvPr/>
        </p:nvCxnSpPr>
        <p:spPr bwMode="auto">
          <a:xfrm>
            <a:off x="4000812" y="4485037"/>
            <a:ext cx="682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AutoShape 114"/>
          <p:cNvCxnSpPr>
            <a:cxnSpLocks noChangeShapeType="1"/>
            <a:stCxn id="117" idx="3"/>
            <a:endCxn id="119" idx="0"/>
          </p:cNvCxnSpPr>
          <p:nvPr/>
        </p:nvCxnSpPr>
        <p:spPr bwMode="auto">
          <a:xfrm flipH="1">
            <a:off x="4489762" y="4485037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AutoShape 115"/>
          <p:cNvCxnSpPr>
            <a:cxnSpLocks noChangeShapeType="1"/>
            <a:stCxn id="114" idx="3"/>
            <a:endCxn id="118" idx="0"/>
          </p:cNvCxnSpPr>
          <p:nvPr/>
        </p:nvCxnSpPr>
        <p:spPr bwMode="auto">
          <a:xfrm flipH="1">
            <a:off x="3880162" y="3951637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6" name="AutoShape 116"/>
          <p:cNvCxnSpPr>
            <a:cxnSpLocks noChangeShapeType="1"/>
            <a:stCxn id="114" idx="5"/>
            <a:endCxn id="117" idx="0"/>
          </p:cNvCxnSpPr>
          <p:nvPr/>
        </p:nvCxnSpPr>
        <p:spPr bwMode="auto">
          <a:xfrm>
            <a:off x="4418325" y="3951637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AutoShape 117"/>
          <p:cNvCxnSpPr>
            <a:cxnSpLocks noChangeShapeType="1"/>
            <a:stCxn id="113" idx="3"/>
            <a:endCxn id="116" idx="0"/>
          </p:cNvCxnSpPr>
          <p:nvPr/>
        </p:nvCxnSpPr>
        <p:spPr bwMode="auto">
          <a:xfrm flipH="1">
            <a:off x="5251762" y="3951637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" name="AutoShape 118"/>
          <p:cNvCxnSpPr>
            <a:cxnSpLocks noChangeShapeType="1"/>
            <a:stCxn id="113" idx="5"/>
            <a:endCxn id="115" idx="0"/>
          </p:cNvCxnSpPr>
          <p:nvPr/>
        </p:nvCxnSpPr>
        <p:spPr bwMode="auto">
          <a:xfrm>
            <a:off x="5716900" y="3951637"/>
            <a:ext cx="2206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AutoShape 119"/>
          <p:cNvCxnSpPr>
            <a:cxnSpLocks noChangeShapeType="1"/>
            <a:stCxn id="131" idx="3"/>
            <a:endCxn id="114" idx="0"/>
          </p:cNvCxnSpPr>
          <p:nvPr/>
        </p:nvCxnSpPr>
        <p:spPr bwMode="auto">
          <a:xfrm flipH="1">
            <a:off x="4297675" y="3342037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AutoShape 120"/>
          <p:cNvCxnSpPr>
            <a:cxnSpLocks noChangeShapeType="1"/>
            <a:stCxn id="131" idx="5"/>
            <a:endCxn id="113" idx="0"/>
          </p:cNvCxnSpPr>
          <p:nvPr/>
        </p:nvCxnSpPr>
        <p:spPr bwMode="auto">
          <a:xfrm>
            <a:off x="5067612" y="3342037"/>
            <a:ext cx="528638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1" name="Oval 121"/>
          <p:cNvSpPr>
            <a:spLocks noChangeArrowheads="1"/>
          </p:cNvSpPr>
          <p:nvPr/>
        </p:nvSpPr>
        <p:spPr bwMode="auto">
          <a:xfrm>
            <a:off x="4773925" y="30483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32" name="AutoShape 122"/>
          <p:cNvCxnSpPr>
            <a:cxnSpLocks noChangeShapeType="1"/>
            <a:stCxn id="117" idx="5"/>
          </p:cNvCxnSpPr>
          <p:nvPr/>
        </p:nvCxnSpPr>
        <p:spPr bwMode="auto">
          <a:xfrm>
            <a:off x="4799325" y="4485037"/>
            <a:ext cx="606425" cy="606425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" name="Oval 123"/>
          <p:cNvSpPr>
            <a:spLocks noChangeArrowheads="1"/>
          </p:cNvSpPr>
          <p:nvPr/>
        </p:nvSpPr>
        <p:spPr bwMode="auto">
          <a:xfrm>
            <a:off x="5194612" y="4562824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?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4" name="Line 124"/>
          <p:cNvSpPr>
            <a:spLocks noChangeShapeType="1"/>
          </p:cNvSpPr>
          <p:nvPr/>
        </p:nvSpPr>
        <p:spPr bwMode="auto">
          <a:xfrm>
            <a:off x="3061012" y="3800824"/>
            <a:ext cx="523875" cy="1588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124"/>
          <p:cNvSpPr>
            <a:spLocks noChangeShapeType="1"/>
          </p:cNvSpPr>
          <p:nvPr/>
        </p:nvSpPr>
        <p:spPr bwMode="auto">
          <a:xfrm>
            <a:off x="6082904" y="3830193"/>
            <a:ext cx="523875" cy="1588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D98266-C03A-49A7-86EA-49B42C9933D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282AC5-D21F-4BDB-9DE5-811EDD8816A6}" type="slidenum">
              <a:rPr lang="en-US" altLang="zh-CN" sz="1050"/>
            </a:fld>
            <a:endParaRPr lang="en-US" altLang="zh-CN" sz="105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Insert: Percolate Up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8702" name="Text Box 96"/>
          <p:cNvSpPr txBox="1">
            <a:spLocks noChangeArrowheads="1"/>
          </p:cNvSpPr>
          <p:nvPr/>
        </p:nvSpPr>
        <p:spPr bwMode="auto">
          <a:xfrm>
            <a:off x="572075" y="6075507"/>
            <a:ext cx="55108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dirty="0" smtClean="0">
                <a:ea typeface="SimSun" panose="02010600030101010101" pitchFamily="2" charset="-122"/>
              </a:rPr>
              <a:t>Done </a:t>
            </a:r>
            <a:r>
              <a:rPr lang="en-US" altLang="zh-CN" sz="2000" dirty="0">
                <a:ea typeface="SimSun" panose="02010600030101010101" pitchFamily="2" charset="-122"/>
              </a:rPr>
              <a:t>if </a:t>
            </a:r>
            <a:r>
              <a:rPr lang="en-US" altLang="zh-CN" sz="2000" dirty="0">
                <a:ea typeface="SimSun" panose="02010600030101010101" pitchFamily="2" charset="-122"/>
                <a:sym typeface="Symbol" panose="05050102010706020507" pitchFamily="18" charset="2"/>
              </a:rPr>
              <a:t>parent  item or reached top node A[1]</a:t>
            </a:r>
            <a:endParaRPr lang="en-US" altLang="zh-CN" sz="2000" dirty="0">
              <a:ea typeface="SimSun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a typeface="SimSun" panose="02010600030101010101" pitchFamily="2" charset="-122"/>
              </a:rPr>
              <a:t>Run time?</a:t>
            </a:r>
            <a:endParaRPr lang="en-US" altLang="zh-CN" sz="2000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4" name="Line 5"/>
          <p:cNvSpPr>
            <a:spLocks noChangeShapeType="1"/>
          </p:cNvSpPr>
          <p:nvPr/>
        </p:nvSpPr>
        <p:spPr bwMode="auto">
          <a:xfrm>
            <a:off x="476062" y="3844084"/>
            <a:ext cx="523875" cy="1587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Oval 125"/>
          <p:cNvSpPr>
            <a:spLocks noChangeArrowheads="1"/>
          </p:cNvSpPr>
          <p:nvPr/>
        </p:nvSpPr>
        <p:spPr bwMode="auto">
          <a:xfrm>
            <a:off x="990412" y="2924921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6" name="Freeform 126"/>
          <p:cNvSpPr/>
          <p:nvPr/>
        </p:nvSpPr>
        <p:spPr bwMode="auto">
          <a:xfrm>
            <a:off x="1230125" y="2924921"/>
            <a:ext cx="1393825" cy="2460625"/>
          </a:xfrm>
          <a:custGeom>
            <a:avLst/>
            <a:gdLst>
              <a:gd name="T0" fmla="*/ 2109371575 w 878"/>
              <a:gd name="T1" fmla="*/ 244455950 h 1550"/>
              <a:gd name="T2" fmla="*/ 1655743450 w 878"/>
              <a:gd name="T3" fmla="*/ 50403125 h 1550"/>
              <a:gd name="T4" fmla="*/ 965220638 w 878"/>
              <a:gd name="T5" fmla="*/ 546874700 h 1550"/>
              <a:gd name="T6" fmla="*/ 337700938 w 878"/>
              <a:gd name="T7" fmla="*/ 980341575 h 1550"/>
              <a:gd name="T8" fmla="*/ 35282188 w 878"/>
              <a:gd name="T9" fmla="*/ 1325602188 h 1550"/>
              <a:gd name="T10" fmla="*/ 123488450 w 878"/>
              <a:gd name="T11" fmla="*/ 1736388450 h 1550"/>
              <a:gd name="T12" fmla="*/ 554434375 w 878"/>
              <a:gd name="T13" fmla="*/ 2101810313 h 1550"/>
              <a:gd name="T14" fmla="*/ 1136591263 w 878"/>
              <a:gd name="T15" fmla="*/ 2147483646 h 1550"/>
              <a:gd name="T16" fmla="*/ 1396166563 w 878"/>
              <a:gd name="T17" fmla="*/ 2147483646 h 1550"/>
              <a:gd name="T18" fmla="*/ 1892638138 w 878"/>
              <a:gd name="T19" fmla="*/ 2147483646 h 1550"/>
              <a:gd name="T20" fmla="*/ 2132052188 w 878"/>
              <a:gd name="T21" fmla="*/ 2147483646 h 1550"/>
              <a:gd name="T22" fmla="*/ 1698585313 w 878"/>
              <a:gd name="T23" fmla="*/ 2147483646 h 1550"/>
              <a:gd name="T24" fmla="*/ 1181954075 w 878"/>
              <a:gd name="T25" fmla="*/ 1670864388 h 1550"/>
              <a:gd name="T26" fmla="*/ 1224795938 w 878"/>
              <a:gd name="T27" fmla="*/ 1174392813 h 1550"/>
              <a:gd name="T28" fmla="*/ 2066528125 w 878"/>
              <a:gd name="T29" fmla="*/ 806450000 h 1550"/>
              <a:gd name="T30" fmla="*/ 2109371575 w 878"/>
              <a:gd name="T31" fmla="*/ 244455950 h 15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78" h="1550">
                <a:moveTo>
                  <a:pt x="837" y="97"/>
                </a:moveTo>
                <a:cubicBezTo>
                  <a:pt x="810" y="47"/>
                  <a:pt x="733" y="0"/>
                  <a:pt x="657" y="20"/>
                </a:cubicBezTo>
                <a:cubicBezTo>
                  <a:pt x="581" y="40"/>
                  <a:pt x="470" y="156"/>
                  <a:pt x="383" y="217"/>
                </a:cubicBezTo>
                <a:cubicBezTo>
                  <a:pt x="296" y="278"/>
                  <a:pt x="196" y="338"/>
                  <a:pt x="134" y="389"/>
                </a:cubicBezTo>
                <a:cubicBezTo>
                  <a:pt x="72" y="440"/>
                  <a:pt x="28" y="476"/>
                  <a:pt x="14" y="526"/>
                </a:cubicBezTo>
                <a:cubicBezTo>
                  <a:pt x="0" y="576"/>
                  <a:pt x="15" y="638"/>
                  <a:pt x="49" y="689"/>
                </a:cubicBezTo>
                <a:cubicBezTo>
                  <a:pt x="83" y="740"/>
                  <a:pt x="153" y="758"/>
                  <a:pt x="220" y="834"/>
                </a:cubicBezTo>
                <a:cubicBezTo>
                  <a:pt x="287" y="910"/>
                  <a:pt x="395" y="1037"/>
                  <a:pt x="451" y="1143"/>
                </a:cubicBezTo>
                <a:cubicBezTo>
                  <a:pt x="507" y="1249"/>
                  <a:pt x="504" y="1405"/>
                  <a:pt x="554" y="1469"/>
                </a:cubicBezTo>
                <a:cubicBezTo>
                  <a:pt x="604" y="1533"/>
                  <a:pt x="702" y="1550"/>
                  <a:pt x="751" y="1529"/>
                </a:cubicBezTo>
                <a:cubicBezTo>
                  <a:pt x="800" y="1508"/>
                  <a:pt x="859" y="1449"/>
                  <a:pt x="846" y="1340"/>
                </a:cubicBezTo>
                <a:cubicBezTo>
                  <a:pt x="833" y="1231"/>
                  <a:pt x="737" y="990"/>
                  <a:pt x="674" y="877"/>
                </a:cubicBezTo>
                <a:cubicBezTo>
                  <a:pt x="611" y="764"/>
                  <a:pt x="500" y="731"/>
                  <a:pt x="469" y="663"/>
                </a:cubicBezTo>
                <a:cubicBezTo>
                  <a:pt x="438" y="595"/>
                  <a:pt x="428" y="523"/>
                  <a:pt x="486" y="466"/>
                </a:cubicBezTo>
                <a:cubicBezTo>
                  <a:pt x="544" y="409"/>
                  <a:pt x="762" y="381"/>
                  <a:pt x="820" y="320"/>
                </a:cubicBezTo>
                <a:cubicBezTo>
                  <a:pt x="878" y="259"/>
                  <a:pt x="864" y="147"/>
                  <a:pt x="837" y="97"/>
                </a:cubicBezTo>
                <a:close/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Oval 127"/>
          <p:cNvSpPr>
            <a:spLocks noChangeArrowheads="1"/>
          </p:cNvSpPr>
          <p:nvPr/>
        </p:nvSpPr>
        <p:spPr bwMode="auto">
          <a:xfrm>
            <a:off x="2093725" y="4841034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88" name="AutoShape 128"/>
          <p:cNvCxnSpPr>
            <a:cxnSpLocks noChangeShapeType="1"/>
            <a:stCxn id="93" idx="5"/>
            <a:endCxn id="87" idx="0"/>
          </p:cNvCxnSpPr>
          <p:nvPr/>
        </p:nvCxnSpPr>
        <p:spPr bwMode="auto">
          <a:xfrm>
            <a:off x="2119125" y="4523534"/>
            <a:ext cx="147637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Oval 129"/>
          <p:cNvSpPr>
            <a:spLocks noChangeArrowheads="1"/>
          </p:cNvSpPr>
          <p:nvPr/>
        </p:nvSpPr>
        <p:spPr bwMode="auto">
          <a:xfrm>
            <a:off x="2743012" y="3696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0" name="Oval 130"/>
          <p:cNvSpPr>
            <a:spLocks noChangeArrowheads="1"/>
          </p:cNvSpPr>
          <p:nvPr/>
        </p:nvSpPr>
        <p:spPr bwMode="auto">
          <a:xfrm>
            <a:off x="1444437" y="3696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1" name="Oval 131"/>
          <p:cNvSpPr>
            <a:spLocks noChangeArrowheads="1"/>
          </p:cNvSpPr>
          <p:nvPr/>
        </p:nvSpPr>
        <p:spPr bwMode="auto">
          <a:xfrm>
            <a:off x="3084325" y="42298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2" name="Oval 132"/>
          <p:cNvSpPr>
            <a:spLocks noChangeArrowheads="1"/>
          </p:cNvSpPr>
          <p:nvPr/>
        </p:nvSpPr>
        <p:spPr bwMode="auto">
          <a:xfrm>
            <a:off x="2398525" y="42298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3" name="Oval 133"/>
          <p:cNvSpPr>
            <a:spLocks noChangeArrowheads="1"/>
          </p:cNvSpPr>
          <p:nvPr/>
        </p:nvSpPr>
        <p:spPr bwMode="auto">
          <a:xfrm>
            <a:off x="1825437" y="42298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4" name="Oval 134"/>
          <p:cNvSpPr>
            <a:spLocks noChangeArrowheads="1"/>
          </p:cNvSpPr>
          <p:nvPr/>
        </p:nvSpPr>
        <p:spPr bwMode="auto">
          <a:xfrm>
            <a:off x="1026925" y="42298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5" name="Oval 135"/>
          <p:cNvSpPr>
            <a:spLocks noChangeArrowheads="1"/>
          </p:cNvSpPr>
          <p:nvPr/>
        </p:nvSpPr>
        <p:spPr bwMode="auto">
          <a:xfrm>
            <a:off x="1636525" y="48394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6" name="Oval 136"/>
          <p:cNvSpPr>
            <a:spLocks noChangeArrowheads="1"/>
          </p:cNvSpPr>
          <p:nvPr/>
        </p:nvSpPr>
        <p:spPr bwMode="auto">
          <a:xfrm>
            <a:off x="1215837" y="4839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7" name="Oval 137"/>
          <p:cNvSpPr>
            <a:spLocks noChangeArrowheads="1"/>
          </p:cNvSpPr>
          <p:nvPr/>
        </p:nvSpPr>
        <p:spPr bwMode="auto">
          <a:xfrm>
            <a:off x="798325" y="48394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98" name="AutoShape 138"/>
          <p:cNvCxnSpPr>
            <a:cxnSpLocks noChangeShapeType="1"/>
            <a:stCxn id="94" idx="3"/>
            <a:endCxn id="97" idx="0"/>
          </p:cNvCxnSpPr>
          <p:nvPr/>
        </p:nvCxnSpPr>
        <p:spPr bwMode="auto">
          <a:xfrm flipH="1">
            <a:off x="971362" y="4523534"/>
            <a:ext cx="1063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AutoShape 139"/>
          <p:cNvCxnSpPr>
            <a:cxnSpLocks noChangeShapeType="1"/>
            <a:stCxn id="94" idx="5"/>
            <a:endCxn id="96" idx="0"/>
          </p:cNvCxnSpPr>
          <p:nvPr/>
        </p:nvCxnSpPr>
        <p:spPr bwMode="auto">
          <a:xfrm>
            <a:off x="1320612" y="4523534"/>
            <a:ext cx="682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140"/>
          <p:cNvCxnSpPr>
            <a:cxnSpLocks noChangeShapeType="1"/>
            <a:stCxn id="93" idx="3"/>
            <a:endCxn id="95" idx="0"/>
          </p:cNvCxnSpPr>
          <p:nvPr/>
        </p:nvCxnSpPr>
        <p:spPr bwMode="auto">
          <a:xfrm flipH="1">
            <a:off x="1809562" y="4523534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141"/>
          <p:cNvCxnSpPr>
            <a:cxnSpLocks noChangeShapeType="1"/>
            <a:stCxn id="90" idx="3"/>
            <a:endCxn id="94" idx="0"/>
          </p:cNvCxnSpPr>
          <p:nvPr/>
        </p:nvCxnSpPr>
        <p:spPr bwMode="auto">
          <a:xfrm flipH="1">
            <a:off x="1199962" y="3990134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142"/>
          <p:cNvCxnSpPr>
            <a:cxnSpLocks noChangeShapeType="1"/>
            <a:stCxn id="90" idx="5"/>
            <a:endCxn id="93" idx="0"/>
          </p:cNvCxnSpPr>
          <p:nvPr/>
        </p:nvCxnSpPr>
        <p:spPr bwMode="auto">
          <a:xfrm>
            <a:off x="1738125" y="3990134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AutoShape 143"/>
          <p:cNvCxnSpPr>
            <a:cxnSpLocks noChangeShapeType="1"/>
            <a:stCxn id="89" idx="3"/>
            <a:endCxn id="92" idx="0"/>
          </p:cNvCxnSpPr>
          <p:nvPr/>
        </p:nvCxnSpPr>
        <p:spPr bwMode="auto">
          <a:xfrm flipH="1">
            <a:off x="2571562" y="3990134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AutoShape 144"/>
          <p:cNvCxnSpPr>
            <a:cxnSpLocks noChangeShapeType="1"/>
            <a:stCxn id="89" idx="5"/>
            <a:endCxn id="91" idx="0"/>
          </p:cNvCxnSpPr>
          <p:nvPr/>
        </p:nvCxnSpPr>
        <p:spPr bwMode="auto">
          <a:xfrm>
            <a:off x="3036700" y="3990134"/>
            <a:ext cx="2206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AutoShape 145"/>
          <p:cNvCxnSpPr>
            <a:cxnSpLocks noChangeShapeType="1"/>
            <a:stCxn id="107" idx="3"/>
            <a:endCxn id="90" idx="0"/>
          </p:cNvCxnSpPr>
          <p:nvPr/>
        </p:nvCxnSpPr>
        <p:spPr bwMode="auto">
          <a:xfrm flipH="1">
            <a:off x="1617475" y="3380534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AutoShape 146"/>
          <p:cNvCxnSpPr>
            <a:cxnSpLocks noChangeShapeType="1"/>
            <a:stCxn id="107" idx="5"/>
            <a:endCxn id="89" idx="0"/>
          </p:cNvCxnSpPr>
          <p:nvPr/>
        </p:nvCxnSpPr>
        <p:spPr bwMode="auto">
          <a:xfrm>
            <a:off x="2387412" y="3380534"/>
            <a:ext cx="528638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Oval 147"/>
          <p:cNvSpPr>
            <a:spLocks noChangeArrowheads="1"/>
          </p:cNvSpPr>
          <p:nvPr/>
        </p:nvSpPr>
        <p:spPr bwMode="auto">
          <a:xfrm>
            <a:off x="2093725" y="30868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08" name="AutoShape 148"/>
          <p:cNvCxnSpPr>
            <a:cxnSpLocks noChangeShapeType="1"/>
          </p:cNvCxnSpPr>
          <p:nvPr/>
        </p:nvCxnSpPr>
        <p:spPr bwMode="auto">
          <a:xfrm>
            <a:off x="1219012" y="3229721"/>
            <a:ext cx="327025" cy="452438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9" name="Oval 149"/>
          <p:cNvSpPr>
            <a:spLocks noChangeArrowheads="1"/>
          </p:cNvSpPr>
          <p:nvPr/>
        </p:nvSpPr>
        <p:spPr bwMode="auto">
          <a:xfrm>
            <a:off x="1371412" y="3077321"/>
            <a:ext cx="344488" cy="34448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?</a:t>
            </a:r>
            <a:endParaRPr lang="en-US" altLang="zh-CN" sz="2400">
              <a:solidFill>
                <a:srgbClr val="263AF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0" name="Freeform 57"/>
          <p:cNvSpPr/>
          <p:nvPr/>
        </p:nvSpPr>
        <p:spPr bwMode="auto">
          <a:xfrm>
            <a:off x="4365104" y="2924921"/>
            <a:ext cx="1393825" cy="2460625"/>
          </a:xfrm>
          <a:custGeom>
            <a:avLst/>
            <a:gdLst>
              <a:gd name="T0" fmla="*/ 2109371575 w 878"/>
              <a:gd name="T1" fmla="*/ 244455950 h 1550"/>
              <a:gd name="T2" fmla="*/ 1655743450 w 878"/>
              <a:gd name="T3" fmla="*/ 50403125 h 1550"/>
              <a:gd name="T4" fmla="*/ 965220638 w 878"/>
              <a:gd name="T5" fmla="*/ 546874700 h 1550"/>
              <a:gd name="T6" fmla="*/ 337700938 w 878"/>
              <a:gd name="T7" fmla="*/ 980341575 h 1550"/>
              <a:gd name="T8" fmla="*/ 35282188 w 878"/>
              <a:gd name="T9" fmla="*/ 1325602188 h 1550"/>
              <a:gd name="T10" fmla="*/ 123488450 w 878"/>
              <a:gd name="T11" fmla="*/ 1736388450 h 1550"/>
              <a:gd name="T12" fmla="*/ 554434375 w 878"/>
              <a:gd name="T13" fmla="*/ 2101810313 h 1550"/>
              <a:gd name="T14" fmla="*/ 1136591263 w 878"/>
              <a:gd name="T15" fmla="*/ 2147483646 h 1550"/>
              <a:gd name="T16" fmla="*/ 1396166563 w 878"/>
              <a:gd name="T17" fmla="*/ 2147483646 h 1550"/>
              <a:gd name="T18" fmla="*/ 1892638138 w 878"/>
              <a:gd name="T19" fmla="*/ 2147483646 h 1550"/>
              <a:gd name="T20" fmla="*/ 2132052188 w 878"/>
              <a:gd name="T21" fmla="*/ 2147483646 h 1550"/>
              <a:gd name="T22" fmla="*/ 1698585313 w 878"/>
              <a:gd name="T23" fmla="*/ 2147483646 h 1550"/>
              <a:gd name="T24" fmla="*/ 1181954075 w 878"/>
              <a:gd name="T25" fmla="*/ 1670864388 h 1550"/>
              <a:gd name="T26" fmla="*/ 1224795938 w 878"/>
              <a:gd name="T27" fmla="*/ 1174392813 h 1550"/>
              <a:gd name="T28" fmla="*/ 2066528125 w 878"/>
              <a:gd name="T29" fmla="*/ 806450000 h 1550"/>
              <a:gd name="T30" fmla="*/ 2109371575 w 878"/>
              <a:gd name="T31" fmla="*/ 244455950 h 15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78" h="1550">
                <a:moveTo>
                  <a:pt x="837" y="97"/>
                </a:moveTo>
                <a:cubicBezTo>
                  <a:pt x="810" y="47"/>
                  <a:pt x="733" y="0"/>
                  <a:pt x="657" y="20"/>
                </a:cubicBezTo>
                <a:cubicBezTo>
                  <a:pt x="581" y="40"/>
                  <a:pt x="470" y="156"/>
                  <a:pt x="383" y="217"/>
                </a:cubicBezTo>
                <a:cubicBezTo>
                  <a:pt x="296" y="278"/>
                  <a:pt x="196" y="338"/>
                  <a:pt x="134" y="389"/>
                </a:cubicBezTo>
                <a:cubicBezTo>
                  <a:pt x="72" y="440"/>
                  <a:pt x="28" y="476"/>
                  <a:pt x="14" y="526"/>
                </a:cubicBezTo>
                <a:cubicBezTo>
                  <a:pt x="0" y="576"/>
                  <a:pt x="15" y="638"/>
                  <a:pt x="49" y="689"/>
                </a:cubicBezTo>
                <a:cubicBezTo>
                  <a:pt x="83" y="740"/>
                  <a:pt x="153" y="758"/>
                  <a:pt x="220" y="834"/>
                </a:cubicBezTo>
                <a:cubicBezTo>
                  <a:pt x="287" y="910"/>
                  <a:pt x="395" y="1037"/>
                  <a:pt x="451" y="1143"/>
                </a:cubicBezTo>
                <a:cubicBezTo>
                  <a:pt x="507" y="1249"/>
                  <a:pt x="504" y="1405"/>
                  <a:pt x="554" y="1469"/>
                </a:cubicBezTo>
                <a:cubicBezTo>
                  <a:pt x="604" y="1533"/>
                  <a:pt x="702" y="1550"/>
                  <a:pt x="751" y="1529"/>
                </a:cubicBezTo>
                <a:cubicBezTo>
                  <a:pt x="800" y="1508"/>
                  <a:pt x="859" y="1449"/>
                  <a:pt x="846" y="1340"/>
                </a:cubicBezTo>
                <a:cubicBezTo>
                  <a:pt x="833" y="1231"/>
                  <a:pt x="737" y="990"/>
                  <a:pt x="674" y="877"/>
                </a:cubicBezTo>
                <a:cubicBezTo>
                  <a:pt x="611" y="764"/>
                  <a:pt x="500" y="731"/>
                  <a:pt x="469" y="663"/>
                </a:cubicBezTo>
                <a:cubicBezTo>
                  <a:pt x="438" y="595"/>
                  <a:pt x="428" y="523"/>
                  <a:pt x="486" y="466"/>
                </a:cubicBezTo>
                <a:cubicBezTo>
                  <a:pt x="544" y="409"/>
                  <a:pt x="762" y="381"/>
                  <a:pt x="820" y="320"/>
                </a:cubicBezTo>
                <a:cubicBezTo>
                  <a:pt x="878" y="259"/>
                  <a:pt x="864" y="147"/>
                  <a:pt x="837" y="97"/>
                </a:cubicBezTo>
                <a:close/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58"/>
          <p:cNvSpPr>
            <a:spLocks noChangeArrowheads="1"/>
          </p:cNvSpPr>
          <p:nvPr/>
        </p:nvSpPr>
        <p:spPr bwMode="auto">
          <a:xfrm>
            <a:off x="5228704" y="4841034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12" name="AutoShape 59"/>
          <p:cNvCxnSpPr>
            <a:cxnSpLocks noChangeShapeType="1"/>
            <a:stCxn id="117" idx="5"/>
            <a:endCxn id="111" idx="0"/>
          </p:cNvCxnSpPr>
          <p:nvPr/>
        </p:nvCxnSpPr>
        <p:spPr bwMode="auto">
          <a:xfrm>
            <a:off x="5254104" y="4523534"/>
            <a:ext cx="147638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" name="Oval 60"/>
          <p:cNvSpPr>
            <a:spLocks noChangeArrowheads="1"/>
          </p:cNvSpPr>
          <p:nvPr/>
        </p:nvSpPr>
        <p:spPr bwMode="auto">
          <a:xfrm>
            <a:off x="5877992" y="36964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4" name="Oval 61"/>
          <p:cNvSpPr>
            <a:spLocks noChangeArrowheads="1"/>
          </p:cNvSpPr>
          <p:nvPr/>
        </p:nvSpPr>
        <p:spPr bwMode="auto">
          <a:xfrm>
            <a:off x="4579417" y="36964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5" name="Oval 62"/>
          <p:cNvSpPr>
            <a:spLocks noChangeArrowheads="1"/>
          </p:cNvSpPr>
          <p:nvPr/>
        </p:nvSpPr>
        <p:spPr bwMode="auto">
          <a:xfrm>
            <a:off x="6219304" y="42298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6" name="Oval 63"/>
          <p:cNvSpPr>
            <a:spLocks noChangeArrowheads="1"/>
          </p:cNvSpPr>
          <p:nvPr/>
        </p:nvSpPr>
        <p:spPr bwMode="auto">
          <a:xfrm>
            <a:off x="5533504" y="42298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7" name="Oval 64"/>
          <p:cNvSpPr>
            <a:spLocks noChangeArrowheads="1"/>
          </p:cNvSpPr>
          <p:nvPr/>
        </p:nvSpPr>
        <p:spPr bwMode="auto">
          <a:xfrm>
            <a:off x="4960417" y="42298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" name="Oval 65"/>
          <p:cNvSpPr>
            <a:spLocks noChangeArrowheads="1"/>
          </p:cNvSpPr>
          <p:nvPr/>
        </p:nvSpPr>
        <p:spPr bwMode="auto">
          <a:xfrm>
            <a:off x="4161904" y="42298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9" name="Oval 66"/>
          <p:cNvSpPr>
            <a:spLocks noChangeArrowheads="1"/>
          </p:cNvSpPr>
          <p:nvPr/>
        </p:nvSpPr>
        <p:spPr bwMode="auto">
          <a:xfrm>
            <a:off x="4771504" y="4839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0" name="Oval 67"/>
          <p:cNvSpPr>
            <a:spLocks noChangeArrowheads="1"/>
          </p:cNvSpPr>
          <p:nvPr/>
        </p:nvSpPr>
        <p:spPr bwMode="auto">
          <a:xfrm>
            <a:off x="4350817" y="483944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1" name="Oval 68"/>
          <p:cNvSpPr>
            <a:spLocks noChangeArrowheads="1"/>
          </p:cNvSpPr>
          <p:nvPr/>
        </p:nvSpPr>
        <p:spPr bwMode="auto">
          <a:xfrm>
            <a:off x="3933304" y="48394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22" name="AutoShape 69"/>
          <p:cNvCxnSpPr>
            <a:cxnSpLocks noChangeShapeType="1"/>
            <a:stCxn id="118" idx="3"/>
            <a:endCxn id="121" idx="0"/>
          </p:cNvCxnSpPr>
          <p:nvPr/>
        </p:nvCxnSpPr>
        <p:spPr bwMode="auto">
          <a:xfrm flipH="1">
            <a:off x="4106342" y="4523534"/>
            <a:ext cx="1063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" name="AutoShape 70"/>
          <p:cNvCxnSpPr>
            <a:cxnSpLocks noChangeShapeType="1"/>
            <a:stCxn id="118" idx="5"/>
            <a:endCxn id="120" idx="0"/>
          </p:cNvCxnSpPr>
          <p:nvPr/>
        </p:nvCxnSpPr>
        <p:spPr bwMode="auto">
          <a:xfrm>
            <a:off x="4455592" y="4523534"/>
            <a:ext cx="682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AutoShape 71"/>
          <p:cNvCxnSpPr>
            <a:cxnSpLocks noChangeShapeType="1"/>
            <a:stCxn id="117" idx="3"/>
            <a:endCxn id="119" idx="0"/>
          </p:cNvCxnSpPr>
          <p:nvPr/>
        </p:nvCxnSpPr>
        <p:spPr bwMode="auto">
          <a:xfrm flipH="1">
            <a:off x="4944542" y="4523534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AutoShape 72"/>
          <p:cNvCxnSpPr>
            <a:cxnSpLocks noChangeShapeType="1"/>
            <a:stCxn id="114" idx="3"/>
            <a:endCxn id="118" idx="0"/>
          </p:cNvCxnSpPr>
          <p:nvPr/>
        </p:nvCxnSpPr>
        <p:spPr bwMode="auto">
          <a:xfrm flipH="1">
            <a:off x="4334942" y="3990134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6" name="AutoShape 73"/>
          <p:cNvCxnSpPr>
            <a:cxnSpLocks noChangeShapeType="1"/>
            <a:stCxn id="114" idx="5"/>
            <a:endCxn id="117" idx="0"/>
          </p:cNvCxnSpPr>
          <p:nvPr/>
        </p:nvCxnSpPr>
        <p:spPr bwMode="auto">
          <a:xfrm>
            <a:off x="4873104" y="3990134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AutoShape 74"/>
          <p:cNvCxnSpPr>
            <a:cxnSpLocks noChangeShapeType="1"/>
            <a:stCxn id="113" idx="3"/>
            <a:endCxn id="116" idx="0"/>
          </p:cNvCxnSpPr>
          <p:nvPr/>
        </p:nvCxnSpPr>
        <p:spPr bwMode="auto">
          <a:xfrm flipH="1">
            <a:off x="5706542" y="3990134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" name="AutoShape 75"/>
          <p:cNvCxnSpPr>
            <a:cxnSpLocks noChangeShapeType="1"/>
            <a:stCxn id="113" idx="5"/>
            <a:endCxn id="115" idx="0"/>
          </p:cNvCxnSpPr>
          <p:nvPr/>
        </p:nvCxnSpPr>
        <p:spPr bwMode="auto">
          <a:xfrm>
            <a:off x="6171679" y="3990134"/>
            <a:ext cx="2206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AutoShape 76"/>
          <p:cNvCxnSpPr>
            <a:cxnSpLocks noChangeShapeType="1"/>
            <a:stCxn id="131" idx="3"/>
            <a:endCxn id="114" idx="0"/>
          </p:cNvCxnSpPr>
          <p:nvPr/>
        </p:nvCxnSpPr>
        <p:spPr bwMode="auto">
          <a:xfrm flipH="1">
            <a:off x="4752454" y="3380534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AutoShape 77"/>
          <p:cNvCxnSpPr>
            <a:cxnSpLocks noChangeShapeType="1"/>
            <a:stCxn id="131" idx="5"/>
            <a:endCxn id="113" idx="0"/>
          </p:cNvCxnSpPr>
          <p:nvPr/>
        </p:nvCxnSpPr>
        <p:spPr bwMode="auto">
          <a:xfrm>
            <a:off x="5522392" y="3380534"/>
            <a:ext cx="528637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1" name="Oval 78"/>
          <p:cNvSpPr>
            <a:spLocks noChangeArrowheads="1"/>
          </p:cNvSpPr>
          <p:nvPr/>
        </p:nvSpPr>
        <p:spPr bwMode="auto">
          <a:xfrm>
            <a:off x="5228704" y="3086846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2" name="Line 5"/>
          <p:cNvSpPr>
            <a:spLocks noChangeShapeType="1"/>
          </p:cNvSpPr>
          <p:nvPr/>
        </p:nvSpPr>
        <p:spPr bwMode="auto">
          <a:xfrm>
            <a:off x="3537124" y="3868690"/>
            <a:ext cx="523875" cy="1587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589217-F879-4509-85C1-0F573C18EDA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8102F5-E6C0-4BE9-98EF-C36012CF83B6}" type="slidenum">
              <a:rPr lang="en-US" altLang="zh-CN" sz="1050"/>
            </a:fld>
            <a:endParaRPr lang="en-US" altLang="zh-CN" sz="105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PercUp</a:t>
            </a:r>
            <a:endParaRPr lang="en-US" altLang="zh-CN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4438" y="2555776"/>
            <a:ext cx="639040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Insert item x, allowing duplicates.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void </a:t>
            </a:r>
            <a:r>
              <a:rPr lang="en-US" altLang="zh-CN" sz="2000" dirty="0">
                <a:latin typeface="Sitka Text" panose="02000505000000020004" pitchFamily="2" charset="0"/>
              </a:rPr>
              <a:t>insert( </a:t>
            </a:r>
            <a:r>
              <a:rPr lang="en-US" altLang="zh-CN" sz="2000" dirty="0" err="1">
                <a:latin typeface="Sitka Text" panose="02000505000000020004" pitchFamily="2" charset="0"/>
              </a:rPr>
              <a:t>const</a:t>
            </a:r>
            <a:r>
              <a:rPr lang="en-US" altLang="zh-CN" sz="2000" dirty="0">
                <a:latin typeface="Sitka Text" panose="02000505000000020004" pitchFamily="2" charset="0"/>
              </a:rPr>
              <a:t> Comparable &amp; x </a:t>
            </a:r>
            <a:r>
              <a:rPr lang="en-US" altLang="zh-CN" sz="2000" dirty="0" smtClean="0">
                <a:latin typeface="Sitka Text" panose="02000505000000020004" pitchFamily="2" charset="0"/>
              </a:rPr>
              <a:t>){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if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currentSize</a:t>
            </a:r>
            <a:r>
              <a:rPr lang="en-US" altLang="zh-CN" sz="2000" dirty="0">
                <a:latin typeface="Sitka Text" panose="02000505000000020004" pitchFamily="2" charset="0"/>
              </a:rPr>
              <a:t> == </a:t>
            </a:r>
            <a:r>
              <a:rPr lang="en-US" altLang="zh-CN" sz="2000" dirty="0" err="1">
                <a:latin typeface="Sitka Text" panose="02000505000000020004" pitchFamily="2" charset="0"/>
              </a:rPr>
              <a:t>array.size</a:t>
            </a:r>
            <a:r>
              <a:rPr lang="en-US" altLang="zh-CN" sz="2000" dirty="0">
                <a:latin typeface="Sitka Text" panose="02000505000000020004" pitchFamily="2" charset="0"/>
              </a:rPr>
              <a:t>( ) - 1 )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array.resize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array.size</a:t>
            </a:r>
            <a:r>
              <a:rPr lang="en-US" altLang="zh-CN" sz="2000" dirty="0">
                <a:latin typeface="Sitka Text" panose="02000505000000020004" pitchFamily="2" charset="0"/>
              </a:rPr>
              <a:t>( ) * 2 );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 //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Percolate up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>
                <a:latin typeface="Sitka Text" panose="02000505000000020004" pitchFamily="2" charset="0"/>
              </a:rPr>
              <a:t>hole = ++</a:t>
            </a:r>
            <a:r>
              <a:rPr lang="en-US" altLang="zh-CN" sz="2000" dirty="0" err="1">
                <a:latin typeface="Sitka Text" panose="02000505000000020004" pitchFamily="2" charset="0"/>
              </a:rPr>
              <a:t>currentSize</a:t>
            </a:r>
            <a:r>
              <a:rPr lang="en-US" altLang="zh-CN" sz="2000" dirty="0">
                <a:latin typeface="Sitka Text" panose="02000505000000020004" pitchFamily="2" charset="0"/>
              </a:rPr>
              <a:t>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Comparable </a:t>
            </a:r>
            <a:r>
              <a:rPr lang="en-US" altLang="zh-CN" sz="2000" dirty="0">
                <a:latin typeface="Sitka Text" panose="02000505000000020004" pitchFamily="2" charset="0"/>
              </a:rPr>
              <a:t>copy = x;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array</a:t>
            </a:r>
            <a:r>
              <a:rPr lang="en-US" altLang="zh-CN" sz="2000" dirty="0">
                <a:latin typeface="Sitka Text" panose="02000505000000020004" pitchFamily="2" charset="0"/>
              </a:rPr>
              <a:t>[ 0 ] = </a:t>
            </a:r>
            <a:r>
              <a:rPr lang="en-US" altLang="zh-CN" sz="2000" dirty="0" err="1">
                <a:latin typeface="Sitka Text" panose="02000505000000020004" pitchFamily="2" charset="0"/>
              </a:rPr>
              <a:t>std</a:t>
            </a:r>
            <a:r>
              <a:rPr lang="en-US" altLang="zh-CN" sz="2000" dirty="0">
                <a:latin typeface="Sitka Text" panose="02000505000000020004" pitchFamily="2" charset="0"/>
              </a:rPr>
              <a:t>::move( copy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for</a:t>
            </a:r>
            <a:r>
              <a:rPr lang="en-US" altLang="zh-CN" sz="2000" dirty="0">
                <a:latin typeface="Sitka Text" panose="02000505000000020004" pitchFamily="2" charset="0"/>
              </a:rPr>
              <a:t>( ; x &lt; array[ hole / 2 ]; hole /= 2 )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</a:t>
            </a:r>
            <a:r>
              <a:rPr lang="en-US" altLang="zh-CN" sz="2000" dirty="0">
                <a:latin typeface="Sitka Text" panose="02000505000000020004" pitchFamily="2" charset="0"/>
              </a:rPr>
              <a:t>array[ hole ] = </a:t>
            </a:r>
            <a:r>
              <a:rPr lang="en-US" altLang="zh-CN" sz="2000" dirty="0" err="1">
                <a:latin typeface="Sitka Text" panose="02000505000000020004" pitchFamily="2" charset="0"/>
              </a:rPr>
              <a:t>std</a:t>
            </a:r>
            <a:r>
              <a:rPr lang="en-US" altLang="zh-CN" sz="2000" dirty="0">
                <a:latin typeface="Sitka Text" panose="02000505000000020004" pitchFamily="2" charset="0"/>
              </a:rPr>
              <a:t>::move( array[ hole / 2 ]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array</a:t>
            </a:r>
            <a:r>
              <a:rPr lang="en-US" altLang="zh-CN" sz="2000" dirty="0">
                <a:latin typeface="Sitka Text" panose="02000505000000020004" pitchFamily="2" charset="0"/>
              </a:rPr>
              <a:t>[ hole ] = </a:t>
            </a:r>
            <a:r>
              <a:rPr lang="en-US" altLang="zh-CN" sz="2000" dirty="0" err="1">
                <a:latin typeface="Sitka Text" panose="02000505000000020004" pitchFamily="2" charset="0"/>
              </a:rPr>
              <a:t>std</a:t>
            </a:r>
            <a:r>
              <a:rPr lang="en-US" altLang="zh-CN" sz="2000" dirty="0">
                <a:latin typeface="Sitka Text" panose="02000505000000020004" pitchFamily="2" charset="0"/>
              </a:rPr>
              <a:t>::move( array[ 0 ]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AF198-0EF9-4DA1-B63E-00518C04D0C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548919-31EA-48F5-856C-7B65B10A3CC2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anose="02010600030101010101" pitchFamily="2" charset="-122"/>
              </a:rPr>
              <a:t>BuildHeap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62" name="Rectangle 3"/>
          <p:cNvSpPr txBox="1">
            <a:spLocks noChangeArrowheads="1"/>
          </p:cNvSpPr>
          <p:nvPr/>
        </p:nvSpPr>
        <p:spPr>
          <a:xfrm>
            <a:off x="408384" y="2627784"/>
            <a:ext cx="6193631" cy="2348434"/>
          </a:xfrm>
          <a:prstGeom prst="rect">
            <a:avLst/>
          </a:prstGeom>
          <a:noFill/>
        </p:spPr>
        <p:txBody>
          <a:bodyPr/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Sitka Text" panose="02000505000000020004" pitchFamily="2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Sitka Text" panose="02000505000000020004" pitchFamily="2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Sitka Text" panose="02000505000000020004" pitchFamily="2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Sitka Text" panose="02000505000000020004" pitchFamily="2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Sitka Text" panose="02000505000000020004" pitchFamily="2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The binary heap is sometimes constructed from an initial collection of </a:t>
            </a:r>
            <a:r>
              <a:rPr lang="en-US" altLang="zh-CN" dirty="0" smtClean="0"/>
              <a:t>items</a:t>
            </a:r>
            <a:endParaRPr lang="en-US" altLang="zh-CN" dirty="0" smtClean="0"/>
          </a:p>
          <a:p>
            <a:pPr lvl="1"/>
            <a:r>
              <a:rPr lang="en-US" altLang="zh-CN" dirty="0"/>
              <a:t>can </a:t>
            </a:r>
            <a:r>
              <a:rPr lang="en-US" altLang="zh-CN" dirty="0" smtClean="0"/>
              <a:t>be done </a:t>
            </a:r>
            <a:r>
              <a:rPr lang="en-US" altLang="zh-CN" dirty="0"/>
              <a:t>with </a:t>
            </a:r>
            <a:r>
              <a:rPr lang="en-US" altLang="zh-CN" i="1" dirty="0"/>
              <a:t>N </a:t>
            </a:r>
            <a:r>
              <a:rPr lang="en-US" altLang="zh-CN" dirty="0"/>
              <a:t>successive inserts</a:t>
            </a:r>
            <a:r>
              <a:rPr lang="en-US" altLang="zh-CN" dirty="0"/>
              <a:t>.(</a:t>
            </a:r>
            <a:r>
              <a:rPr lang="en-US" altLang="zh-CN" dirty="0">
                <a:solidFill>
                  <a:srgbClr val="263AF8"/>
                </a:solidFill>
              </a:rPr>
              <a:t>O(N) average </a:t>
            </a:r>
            <a:r>
              <a:rPr lang="en-US" altLang="zh-CN" dirty="0" smtClean="0">
                <a:solidFill>
                  <a:srgbClr val="263AF8"/>
                </a:solidFill>
              </a:rPr>
              <a:t>but O(N </a:t>
            </a:r>
            <a:r>
              <a:rPr lang="en-US" altLang="zh-CN" dirty="0" err="1">
                <a:solidFill>
                  <a:srgbClr val="263AF8"/>
                </a:solidFill>
              </a:rPr>
              <a:t>logN</a:t>
            </a:r>
            <a:r>
              <a:rPr lang="en-US" altLang="zh-CN" dirty="0">
                <a:solidFill>
                  <a:srgbClr val="263AF8"/>
                </a:solidFill>
              </a:rPr>
              <a:t>) </a:t>
            </a:r>
            <a:r>
              <a:rPr lang="en-US" altLang="zh-CN" dirty="0" smtClean="0">
                <a:solidFill>
                  <a:srgbClr val="263AF8"/>
                </a:solidFill>
              </a:rPr>
              <a:t>worst-case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/>
            <a:endParaRPr lang="en-US" altLang="zh-CN" sz="2225" dirty="0">
              <a:ea typeface="SimSun" panose="02010600030101010101" pitchFamily="2" charset="-122"/>
            </a:endParaRPr>
          </a:p>
          <a:p>
            <a:pPr lvl="1"/>
            <a:r>
              <a:rPr lang="en-US" altLang="zh-CN" sz="2225" dirty="0" err="1">
                <a:solidFill>
                  <a:srgbClr val="FF0000"/>
                </a:solidFill>
              </a:rPr>
              <a:t>buildHeap</a:t>
            </a:r>
            <a:r>
              <a:rPr lang="en-US" altLang="zh-CN" sz="2225" dirty="0"/>
              <a:t> routine</a:t>
            </a:r>
            <a:endParaRPr lang="en-US" altLang="zh-CN" sz="2225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AF198-0EF9-4DA1-B63E-00518C04D0C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548919-31EA-48F5-856C-7B65B10A3CC2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anose="02010600030101010101" pitchFamily="2" charset="-122"/>
              </a:rPr>
              <a:t>BuildHeap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2695" y="2740730"/>
            <a:ext cx="572478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4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sz="2400" dirty="0">
                <a:solidFill>
                  <a:srgbClr val="008000"/>
                </a:solidFill>
                <a:latin typeface="Sitka Text" panose="02000505000000020004" pitchFamily="2" charset="0"/>
              </a:rPr>
              <a:t>Establish heap order property from </a:t>
            </a:r>
            <a:r>
              <a:rPr lang="en-US" altLang="zh-CN" sz="24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an arbitrary arrangement </a:t>
            </a:r>
            <a:r>
              <a:rPr lang="en-US" altLang="zh-CN" sz="2400" dirty="0">
                <a:solidFill>
                  <a:srgbClr val="008000"/>
                </a:solidFill>
                <a:latin typeface="Sitka Text" panose="02000505000000020004" pitchFamily="2" charset="0"/>
              </a:rPr>
              <a:t>of items. </a:t>
            </a:r>
            <a:endParaRPr lang="en-US" altLang="zh-CN" sz="24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Runs </a:t>
            </a:r>
            <a:r>
              <a:rPr lang="en-US" altLang="zh-CN" sz="2400" dirty="0">
                <a:solidFill>
                  <a:srgbClr val="008000"/>
                </a:solidFill>
                <a:latin typeface="Sitka Text" panose="02000505000000020004" pitchFamily="2" charset="0"/>
              </a:rPr>
              <a:t>in linear time.</a:t>
            </a:r>
            <a:endParaRPr lang="en-US" altLang="zh-CN" sz="24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zh-CN" altLang="en-US" sz="24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sz="24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sz="24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400" dirty="0" smtClean="0">
                <a:latin typeface="Sitka Text" panose="02000505000000020004" pitchFamily="2" charset="0"/>
              </a:rPr>
              <a:t>void </a:t>
            </a:r>
            <a:r>
              <a:rPr lang="en-US" altLang="zh-CN" sz="2400" dirty="0" err="1">
                <a:latin typeface="Sitka Text" panose="02000505000000020004" pitchFamily="2" charset="0"/>
              </a:rPr>
              <a:t>buildHeap</a:t>
            </a:r>
            <a:r>
              <a:rPr lang="en-US" altLang="zh-CN" sz="2400" dirty="0">
                <a:latin typeface="Sitka Text" panose="02000505000000020004" pitchFamily="2" charset="0"/>
              </a:rPr>
              <a:t>( </a:t>
            </a:r>
            <a:r>
              <a:rPr lang="en-US" altLang="zh-CN" sz="2400" dirty="0" smtClean="0">
                <a:latin typeface="Sitka Text" panose="02000505000000020004" pitchFamily="2" charset="0"/>
              </a:rPr>
              <a:t>) </a:t>
            </a:r>
            <a:r>
              <a:rPr lang="en-US" altLang="zh-CN" sz="2400" dirty="0">
                <a:latin typeface="Sitka Text" panose="02000505000000020004" pitchFamily="2" charset="0"/>
              </a:rPr>
              <a:t>{</a:t>
            </a:r>
            <a:endParaRPr lang="en-US" altLang="zh-CN" sz="2400" dirty="0">
              <a:latin typeface="Sitka Text" panose="02000505000000020004" pitchFamily="2" charset="0"/>
            </a:endParaRPr>
          </a:p>
          <a:p>
            <a:r>
              <a:rPr lang="en-US" altLang="zh-CN" sz="2400" dirty="0" smtClean="0">
                <a:latin typeface="Sitka Text" panose="02000505000000020004" pitchFamily="2" charset="0"/>
              </a:rPr>
              <a:t>for</a:t>
            </a:r>
            <a:r>
              <a:rPr lang="en-US" altLang="zh-CN" sz="2400" dirty="0">
                <a:latin typeface="Sitka Text" panose="02000505000000020004" pitchFamily="2" charset="0"/>
              </a:rPr>
              <a:t>( </a:t>
            </a:r>
            <a:r>
              <a:rPr lang="en-US" altLang="zh-CN" sz="2400" dirty="0" err="1">
                <a:latin typeface="Sitka Text" panose="02000505000000020004" pitchFamily="2" charset="0"/>
              </a:rPr>
              <a:t>int</a:t>
            </a:r>
            <a:r>
              <a:rPr lang="en-US" altLang="zh-CN" sz="2400" dirty="0">
                <a:latin typeface="Sitka Text" panose="02000505000000020004" pitchFamily="2" charset="0"/>
              </a:rPr>
              <a:t> 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 = </a:t>
            </a:r>
            <a:r>
              <a:rPr lang="en-US" altLang="zh-CN" sz="2400" dirty="0" err="1">
                <a:latin typeface="Sitka Text" panose="02000505000000020004" pitchFamily="2" charset="0"/>
              </a:rPr>
              <a:t>currentSize</a:t>
            </a:r>
            <a:r>
              <a:rPr lang="en-US" altLang="zh-CN" sz="2400" dirty="0">
                <a:latin typeface="Sitka Text" panose="02000505000000020004" pitchFamily="2" charset="0"/>
              </a:rPr>
              <a:t> / 2; 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 &gt; 0; --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 )</a:t>
            </a:r>
            <a:endParaRPr lang="en-US" altLang="zh-CN" sz="2400" dirty="0">
              <a:latin typeface="Sitka Text" panose="02000505000000020004" pitchFamily="2" charset="0"/>
            </a:endParaRPr>
          </a:p>
          <a:p>
            <a:r>
              <a:rPr lang="en-US" altLang="zh-CN" sz="2400" dirty="0" smtClean="0">
                <a:latin typeface="Sitka Text" panose="02000505000000020004" pitchFamily="2" charset="0"/>
              </a:rPr>
              <a:t>    </a:t>
            </a:r>
            <a:r>
              <a:rPr lang="en-US" altLang="zh-CN" sz="2400" dirty="0" err="1" smtClean="0">
                <a:latin typeface="Sitka Text" panose="02000505000000020004" pitchFamily="2" charset="0"/>
              </a:rPr>
              <a:t>percolateDown</a:t>
            </a:r>
            <a:r>
              <a:rPr lang="en-US" altLang="zh-CN" sz="2400" dirty="0">
                <a:latin typeface="Sitka Text" panose="02000505000000020004" pitchFamily="2" charset="0"/>
              </a:rPr>
              <a:t>( 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 );</a:t>
            </a:r>
            <a:endParaRPr lang="en-US" altLang="zh-CN" sz="2400" dirty="0">
              <a:latin typeface="Sitka Text" panose="02000505000000020004" pitchFamily="2" charset="0"/>
            </a:endParaRPr>
          </a:p>
          <a:p>
            <a:r>
              <a:rPr lang="en-US" altLang="zh-CN" sz="2400" dirty="0" smtClean="0">
                <a:latin typeface="Sitka Text" panose="02000505000000020004" pitchFamily="2" charset="0"/>
              </a:rPr>
              <a:t>}</a:t>
            </a:r>
            <a:endParaRPr lang="zh-CN" altLang="en-US" sz="24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AF198-0EF9-4DA1-B63E-00518C04D0C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548919-31EA-48F5-856C-7B65B10A3CC2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anose="02010600030101010101" pitchFamily="2" charset="-122"/>
              </a:rPr>
              <a:t>BuildHeap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62" name="Oval 4"/>
          <p:cNvSpPr>
            <a:spLocks noChangeArrowheads="1"/>
          </p:cNvSpPr>
          <p:nvPr/>
        </p:nvSpPr>
        <p:spPr bwMode="auto">
          <a:xfrm>
            <a:off x="1841501" y="5537572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63" name="AutoShape 5"/>
          <p:cNvCxnSpPr>
            <a:cxnSpLocks noChangeShapeType="1"/>
            <a:stCxn id="68" idx="5"/>
            <a:endCxn id="62" idx="0"/>
          </p:cNvCxnSpPr>
          <p:nvPr/>
        </p:nvCxnSpPr>
        <p:spPr bwMode="auto">
          <a:xfrm>
            <a:off x="1866901" y="5220072"/>
            <a:ext cx="147637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6"/>
          <p:cNvSpPr>
            <a:spLocks noChangeArrowheads="1"/>
          </p:cNvSpPr>
          <p:nvPr/>
        </p:nvSpPr>
        <p:spPr bwMode="auto">
          <a:xfrm>
            <a:off x="2490788" y="4392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5" name="Oval 7"/>
          <p:cNvSpPr>
            <a:spLocks noChangeArrowheads="1"/>
          </p:cNvSpPr>
          <p:nvPr/>
        </p:nvSpPr>
        <p:spPr bwMode="auto">
          <a:xfrm>
            <a:off x="1192213" y="4392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6" name="Oval 8"/>
          <p:cNvSpPr>
            <a:spLocks noChangeArrowheads="1"/>
          </p:cNvSpPr>
          <p:nvPr/>
        </p:nvSpPr>
        <p:spPr bwMode="auto">
          <a:xfrm>
            <a:off x="2832101" y="4926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7" name="Oval 9"/>
          <p:cNvSpPr>
            <a:spLocks noChangeArrowheads="1"/>
          </p:cNvSpPr>
          <p:nvPr/>
        </p:nvSpPr>
        <p:spPr bwMode="auto">
          <a:xfrm>
            <a:off x="2146301" y="4926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8" name="Oval 10"/>
          <p:cNvSpPr>
            <a:spLocks noChangeArrowheads="1"/>
          </p:cNvSpPr>
          <p:nvPr/>
        </p:nvSpPr>
        <p:spPr bwMode="auto">
          <a:xfrm>
            <a:off x="1573213" y="4926384"/>
            <a:ext cx="344488" cy="3444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9" name="Oval 11"/>
          <p:cNvSpPr>
            <a:spLocks noChangeArrowheads="1"/>
          </p:cNvSpPr>
          <p:nvPr/>
        </p:nvSpPr>
        <p:spPr bwMode="auto">
          <a:xfrm>
            <a:off x="774701" y="4926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0" name="Oval 12"/>
          <p:cNvSpPr>
            <a:spLocks noChangeArrowheads="1"/>
          </p:cNvSpPr>
          <p:nvPr/>
        </p:nvSpPr>
        <p:spPr bwMode="auto">
          <a:xfrm>
            <a:off x="1384301" y="55359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1" name="Oval 13"/>
          <p:cNvSpPr>
            <a:spLocks noChangeArrowheads="1"/>
          </p:cNvSpPr>
          <p:nvPr/>
        </p:nvSpPr>
        <p:spPr bwMode="auto">
          <a:xfrm>
            <a:off x="963613" y="55359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2" name="Oval 14"/>
          <p:cNvSpPr>
            <a:spLocks noChangeArrowheads="1"/>
          </p:cNvSpPr>
          <p:nvPr/>
        </p:nvSpPr>
        <p:spPr bwMode="auto">
          <a:xfrm>
            <a:off x="546101" y="55359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73" name="AutoShape 15"/>
          <p:cNvCxnSpPr>
            <a:cxnSpLocks noChangeShapeType="1"/>
            <a:stCxn id="69" idx="3"/>
            <a:endCxn id="72" idx="0"/>
          </p:cNvCxnSpPr>
          <p:nvPr/>
        </p:nvCxnSpPr>
        <p:spPr bwMode="auto">
          <a:xfrm flipH="1">
            <a:off x="719138" y="5220072"/>
            <a:ext cx="1063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16"/>
          <p:cNvCxnSpPr>
            <a:cxnSpLocks noChangeShapeType="1"/>
            <a:stCxn id="69" idx="5"/>
            <a:endCxn id="71" idx="0"/>
          </p:cNvCxnSpPr>
          <p:nvPr/>
        </p:nvCxnSpPr>
        <p:spPr bwMode="auto">
          <a:xfrm>
            <a:off x="1068388" y="5220072"/>
            <a:ext cx="682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17"/>
          <p:cNvCxnSpPr>
            <a:cxnSpLocks noChangeShapeType="1"/>
            <a:stCxn id="68" idx="3"/>
            <a:endCxn id="70" idx="0"/>
          </p:cNvCxnSpPr>
          <p:nvPr/>
        </p:nvCxnSpPr>
        <p:spPr bwMode="auto">
          <a:xfrm flipH="1">
            <a:off x="1557338" y="5220072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18"/>
          <p:cNvCxnSpPr>
            <a:cxnSpLocks noChangeShapeType="1"/>
            <a:stCxn id="65" idx="3"/>
            <a:endCxn id="69" idx="0"/>
          </p:cNvCxnSpPr>
          <p:nvPr/>
        </p:nvCxnSpPr>
        <p:spPr bwMode="auto">
          <a:xfrm flipH="1">
            <a:off x="947738" y="4686672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AutoShape 19"/>
          <p:cNvCxnSpPr>
            <a:cxnSpLocks noChangeShapeType="1"/>
            <a:stCxn id="65" idx="5"/>
            <a:endCxn id="68" idx="0"/>
          </p:cNvCxnSpPr>
          <p:nvPr/>
        </p:nvCxnSpPr>
        <p:spPr bwMode="auto">
          <a:xfrm>
            <a:off x="1485901" y="4686672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20"/>
          <p:cNvCxnSpPr>
            <a:cxnSpLocks noChangeShapeType="1"/>
            <a:stCxn id="64" idx="3"/>
            <a:endCxn id="67" idx="0"/>
          </p:cNvCxnSpPr>
          <p:nvPr/>
        </p:nvCxnSpPr>
        <p:spPr bwMode="auto">
          <a:xfrm flipH="1">
            <a:off x="2319338" y="4686672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21"/>
          <p:cNvCxnSpPr>
            <a:cxnSpLocks noChangeShapeType="1"/>
            <a:stCxn id="64" idx="5"/>
            <a:endCxn id="66" idx="0"/>
          </p:cNvCxnSpPr>
          <p:nvPr/>
        </p:nvCxnSpPr>
        <p:spPr bwMode="auto">
          <a:xfrm>
            <a:off x="2784476" y="4686672"/>
            <a:ext cx="2206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22"/>
          <p:cNvCxnSpPr>
            <a:cxnSpLocks noChangeShapeType="1"/>
            <a:stCxn id="82" idx="3"/>
            <a:endCxn id="65" idx="0"/>
          </p:cNvCxnSpPr>
          <p:nvPr/>
        </p:nvCxnSpPr>
        <p:spPr bwMode="auto">
          <a:xfrm flipH="1">
            <a:off x="1365251" y="4077072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23"/>
          <p:cNvCxnSpPr>
            <a:cxnSpLocks noChangeShapeType="1"/>
            <a:stCxn id="82" idx="5"/>
            <a:endCxn id="64" idx="0"/>
          </p:cNvCxnSpPr>
          <p:nvPr/>
        </p:nvCxnSpPr>
        <p:spPr bwMode="auto">
          <a:xfrm>
            <a:off x="2135188" y="4077072"/>
            <a:ext cx="528638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" name="Oval 24"/>
          <p:cNvSpPr>
            <a:spLocks noChangeArrowheads="1"/>
          </p:cNvSpPr>
          <p:nvPr/>
        </p:nvSpPr>
        <p:spPr bwMode="auto">
          <a:xfrm>
            <a:off x="1841501" y="37833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3" name="Text Box 46"/>
          <p:cNvSpPr txBox="1">
            <a:spLocks noChangeArrowheads="1"/>
          </p:cNvSpPr>
          <p:nvPr/>
        </p:nvSpPr>
        <p:spPr bwMode="auto">
          <a:xfrm>
            <a:off x="1011238" y="2697534"/>
            <a:ext cx="9669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263AF8"/>
                </a:solidFill>
                <a:latin typeface="Sitka Small" panose="02000505000000020004" pitchFamily="2" charset="0"/>
                <a:ea typeface="SimSun" panose="02010600030101010101" pitchFamily="2" charset="-122"/>
              </a:rPr>
              <a:t>N=11</a:t>
            </a:r>
            <a:endParaRPr lang="en-US" altLang="zh-CN" sz="2400" dirty="0">
              <a:solidFill>
                <a:srgbClr val="263AF8"/>
              </a:solidFill>
              <a:latin typeface="Sitka Small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84" name="Oval 47"/>
          <p:cNvSpPr>
            <a:spLocks noChangeArrowheads="1"/>
          </p:cNvSpPr>
          <p:nvPr/>
        </p:nvSpPr>
        <p:spPr bwMode="auto">
          <a:xfrm>
            <a:off x="5307013" y="5613772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85" name="AutoShape 48"/>
          <p:cNvCxnSpPr>
            <a:cxnSpLocks noChangeShapeType="1"/>
            <a:stCxn id="90" idx="5"/>
            <a:endCxn id="84" idx="0"/>
          </p:cNvCxnSpPr>
          <p:nvPr/>
        </p:nvCxnSpPr>
        <p:spPr bwMode="auto">
          <a:xfrm>
            <a:off x="5332413" y="5296272"/>
            <a:ext cx="147638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Oval 49"/>
          <p:cNvSpPr>
            <a:spLocks noChangeArrowheads="1"/>
          </p:cNvSpPr>
          <p:nvPr/>
        </p:nvSpPr>
        <p:spPr bwMode="auto">
          <a:xfrm>
            <a:off x="5956301" y="44691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7" name="Oval 50"/>
          <p:cNvSpPr>
            <a:spLocks noChangeArrowheads="1"/>
          </p:cNvSpPr>
          <p:nvPr/>
        </p:nvSpPr>
        <p:spPr bwMode="auto">
          <a:xfrm>
            <a:off x="4657726" y="44691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8" name="Oval 51"/>
          <p:cNvSpPr>
            <a:spLocks noChangeArrowheads="1"/>
          </p:cNvSpPr>
          <p:nvPr/>
        </p:nvSpPr>
        <p:spPr bwMode="auto">
          <a:xfrm>
            <a:off x="6297613" y="50025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9" name="Oval 52"/>
          <p:cNvSpPr>
            <a:spLocks noChangeArrowheads="1"/>
          </p:cNvSpPr>
          <p:nvPr/>
        </p:nvSpPr>
        <p:spPr bwMode="auto">
          <a:xfrm>
            <a:off x="5611813" y="50025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0" name="Oval 53"/>
          <p:cNvSpPr>
            <a:spLocks noChangeArrowheads="1"/>
          </p:cNvSpPr>
          <p:nvPr/>
        </p:nvSpPr>
        <p:spPr bwMode="auto">
          <a:xfrm>
            <a:off x="5038726" y="50025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1" name="Oval 54"/>
          <p:cNvSpPr>
            <a:spLocks noChangeArrowheads="1"/>
          </p:cNvSpPr>
          <p:nvPr/>
        </p:nvSpPr>
        <p:spPr bwMode="auto">
          <a:xfrm>
            <a:off x="4240213" y="5002584"/>
            <a:ext cx="344488" cy="3444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2" name="Oval 55"/>
          <p:cNvSpPr>
            <a:spLocks noChangeArrowheads="1"/>
          </p:cNvSpPr>
          <p:nvPr/>
        </p:nvSpPr>
        <p:spPr bwMode="auto">
          <a:xfrm>
            <a:off x="4849813" y="56121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3" name="Oval 56"/>
          <p:cNvSpPr>
            <a:spLocks noChangeArrowheads="1"/>
          </p:cNvSpPr>
          <p:nvPr/>
        </p:nvSpPr>
        <p:spPr bwMode="auto">
          <a:xfrm>
            <a:off x="4429126" y="5612184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4" name="Oval 57"/>
          <p:cNvSpPr>
            <a:spLocks noChangeArrowheads="1"/>
          </p:cNvSpPr>
          <p:nvPr/>
        </p:nvSpPr>
        <p:spPr bwMode="auto">
          <a:xfrm>
            <a:off x="4011613" y="56121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95" name="AutoShape 58"/>
          <p:cNvCxnSpPr>
            <a:cxnSpLocks noChangeShapeType="1"/>
            <a:stCxn id="91" idx="3"/>
            <a:endCxn id="94" idx="0"/>
          </p:cNvCxnSpPr>
          <p:nvPr/>
        </p:nvCxnSpPr>
        <p:spPr bwMode="auto">
          <a:xfrm flipH="1">
            <a:off x="4184651" y="5296272"/>
            <a:ext cx="1063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AutoShape 59"/>
          <p:cNvCxnSpPr>
            <a:cxnSpLocks noChangeShapeType="1"/>
            <a:stCxn id="91" idx="5"/>
            <a:endCxn id="93" idx="0"/>
          </p:cNvCxnSpPr>
          <p:nvPr/>
        </p:nvCxnSpPr>
        <p:spPr bwMode="auto">
          <a:xfrm>
            <a:off x="4533901" y="5296272"/>
            <a:ext cx="682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AutoShape 60"/>
          <p:cNvCxnSpPr>
            <a:cxnSpLocks noChangeShapeType="1"/>
            <a:stCxn id="90" idx="3"/>
            <a:endCxn id="92" idx="0"/>
          </p:cNvCxnSpPr>
          <p:nvPr/>
        </p:nvCxnSpPr>
        <p:spPr bwMode="auto">
          <a:xfrm flipH="1">
            <a:off x="5022851" y="5296272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AutoShape 61"/>
          <p:cNvCxnSpPr>
            <a:cxnSpLocks noChangeShapeType="1"/>
            <a:stCxn id="87" idx="3"/>
            <a:endCxn id="91" idx="0"/>
          </p:cNvCxnSpPr>
          <p:nvPr/>
        </p:nvCxnSpPr>
        <p:spPr bwMode="auto">
          <a:xfrm flipH="1">
            <a:off x="4413251" y="4762872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AutoShape 62"/>
          <p:cNvCxnSpPr>
            <a:cxnSpLocks noChangeShapeType="1"/>
            <a:stCxn id="87" idx="5"/>
            <a:endCxn id="90" idx="0"/>
          </p:cNvCxnSpPr>
          <p:nvPr/>
        </p:nvCxnSpPr>
        <p:spPr bwMode="auto">
          <a:xfrm>
            <a:off x="4951413" y="4762872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63"/>
          <p:cNvCxnSpPr>
            <a:cxnSpLocks noChangeShapeType="1"/>
            <a:stCxn id="86" idx="3"/>
            <a:endCxn id="89" idx="0"/>
          </p:cNvCxnSpPr>
          <p:nvPr/>
        </p:nvCxnSpPr>
        <p:spPr bwMode="auto">
          <a:xfrm flipH="1">
            <a:off x="5784851" y="4762872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64"/>
          <p:cNvCxnSpPr>
            <a:cxnSpLocks noChangeShapeType="1"/>
            <a:stCxn id="86" idx="5"/>
            <a:endCxn id="88" idx="0"/>
          </p:cNvCxnSpPr>
          <p:nvPr/>
        </p:nvCxnSpPr>
        <p:spPr bwMode="auto">
          <a:xfrm>
            <a:off x="6249988" y="4762872"/>
            <a:ext cx="2206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65"/>
          <p:cNvCxnSpPr>
            <a:cxnSpLocks noChangeShapeType="1"/>
            <a:stCxn id="104" idx="3"/>
            <a:endCxn id="87" idx="0"/>
          </p:cNvCxnSpPr>
          <p:nvPr/>
        </p:nvCxnSpPr>
        <p:spPr bwMode="auto">
          <a:xfrm flipH="1">
            <a:off x="4830763" y="4153272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AutoShape 66"/>
          <p:cNvCxnSpPr>
            <a:cxnSpLocks noChangeShapeType="1"/>
            <a:stCxn id="104" idx="5"/>
            <a:endCxn id="86" idx="0"/>
          </p:cNvCxnSpPr>
          <p:nvPr/>
        </p:nvCxnSpPr>
        <p:spPr bwMode="auto">
          <a:xfrm>
            <a:off x="5600701" y="4153272"/>
            <a:ext cx="528637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Oval 67"/>
          <p:cNvSpPr>
            <a:spLocks noChangeArrowheads="1"/>
          </p:cNvSpPr>
          <p:nvPr/>
        </p:nvSpPr>
        <p:spPr bwMode="auto">
          <a:xfrm>
            <a:off x="5307013" y="3859584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5" name="Line 68"/>
          <p:cNvSpPr>
            <a:spLocks noChangeShapeType="1"/>
          </p:cNvSpPr>
          <p:nvPr/>
        </p:nvSpPr>
        <p:spPr bwMode="auto">
          <a:xfrm>
            <a:off x="3594101" y="454538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Text Box 69"/>
          <p:cNvSpPr txBox="1">
            <a:spLocks noChangeArrowheads="1"/>
          </p:cNvSpPr>
          <p:nvPr/>
        </p:nvSpPr>
        <p:spPr bwMode="auto">
          <a:xfrm>
            <a:off x="2090738" y="3515097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1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07" name="Text Box 70"/>
          <p:cNvSpPr txBox="1">
            <a:spLocks noChangeArrowheads="1"/>
          </p:cNvSpPr>
          <p:nvPr/>
        </p:nvSpPr>
        <p:spPr bwMode="auto">
          <a:xfrm>
            <a:off x="582613" y="46215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4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08" name="Text Box 71"/>
          <p:cNvSpPr txBox="1">
            <a:spLocks noChangeArrowheads="1"/>
          </p:cNvSpPr>
          <p:nvPr/>
        </p:nvSpPr>
        <p:spPr bwMode="auto">
          <a:xfrm>
            <a:off x="2792413" y="41643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3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09" name="Text Box 72"/>
          <p:cNvSpPr txBox="1">
            <a:spLocks noChangeArrowheads="1"/>
          </p:cNvSpPr>
          <p:nvPr/>
        </p:nvSpPr>
        <p:spPr bwMode="auto">
          <a:xfrm>
            <a:off x="963613" y="40881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2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0" name="Text Box 73"/>
          <p:cNvSpPr txBox="1">
            <a:spLocks noChangeArrowheads="1"/>
          </p:cNvSpPr>
          <p:nvPr/>
        </p:nvSpPr>
        <p:spPr bwMode="auto">
          <a:xfrm>
            <a:off x="1725613" y="46215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5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1" name="Text Box 74"/>
          <p:cNvSpPr txBox="1">
            <a:spLocks noChangeArrowheads="1"/>
          </p:cNvSpPr>
          <p:nvPr/>
        </p:nvSpPr>
        <p:spPr bwMode="auto">
          <a:xfrm>
            <a:off x="2106613" y="46215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6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2" name="Text Box 75"/>
          <p:cNvSpPr txBox="1">
            <a:spLocks noChangeArrowheads="1"/>
          </p:cNvSpPr>
          <p:nvPr/>
        </p:nvSpPr>
        <p:spPr bwMode="auto">
          <a:xfrm>
            <a:off x="2944813" y="46215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7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3" name="Text Box 76"/>
          <p:cNvSpPr txBox="1">
            <a:spLocks noChangeArrowheads="1"/>
          </p:cNvSpPr>
          <p:nvPr/>
        </p:nvSpPr>
        <p:spPr bwMode="auto">
          <a:xfrm>
            <a:off x="2182813" y="5688384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11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4" name="Text Box 77"/>
          <p:cNvSpPr txBox="1">
            <a:spLocks noChangeArrowheads="1"/>
          </p:cNvSpPr>
          <p:nvPr/>
        </p:nvSpPr>
        <p:spPr bwMode="auto">
          <a:xfrm>
            <a:off x="1497013" y="5840784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10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5" name="Text Box 78"/>
          <p:cNvSpPr txBox="1">
            <a:spLocks noChangeArrowheads="1"/>
          </p:cNvSpPr>
          <p:nvPr/>
        </p:nvSpPr>
        <p:spPr bwMode="auto">
          <a:xfrm>
            <a:off x="811213" y="58407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9</a:t>
            </a: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116" name="Text Box 79"/>
          <p:cNvSpPr txBox="1">
            <a:spLocks noChangeArrowheads="1"/>
          </p:cNvSpPr>
          <p:nvPr/>
        </p:nvSpPr>
        <p:spPr bwMode="auto">
          <a:xfrm>
            <a:off x="277813" y="568838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8</a:t>
            </a:r>
            <a:endParaRPr lang="en-US" altLang="zh-CN" sz="180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3F91C-81C0-4F6C-A894-0D203B29125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2A3AA-9836-496B-B4E5-2B9B81DAE825}" type="slidenum">
              <a:rPr lang="en-US" altLang="zh-CN" sz="1050"/>
            </a:fld>
            <a:endParaRPr lang="en-US" altLang="zh-CN" sz="105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Build Heap</a:t>
            </a:r>
            <a:endParaRPr lang="en-US" altLang="zh-CN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49" name="Oval 3"/>
          <p:cNvSpPr>
            <a:spLocks noChangeArrowheads="1"/>
          </p:cNvSpPr>
          <p:nvPr/>
        </p:nvSpPr>
        <p:spPr bwMode="auto">
          <a:xfrm>
            <a:off x="1700064" y="5663481"/>
            <a:ext cx="344487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50" name="AutoShape 4"/>
          <p:cNvCxnSpPr>
            <a:cxnSpLocks noChangeShapeType="1"/>
            <a:stCxn id="55" idx="5"/>
            <a:endCxn id="49" idx="0"/>
          </p:cNvCxnSpPr>
          <p:nvPr/>
        </p:nvCxnSpPr>
        <p:spPr bwMode="auto">
          <a:xfrm>
            <a:off x="1725464" y="5345981"/>
            <a:ext cx="147637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5"/>
          <p:cNvSpPr>
            <a:spLocks noChangeArrowheads="1"/>
          </p:cNvSpPr>
          <p:nvPr/>
        </p:nvSpPr>
        <p:spPr bwMode="auto">
          <a:xfrm>
            <a:off x="2349351" y="45188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" name="Oval 6"/>
          <p:cNvSpPr>
            <a:spLocks noChangeArrowheads="1"/>
          </p:cNvSpPr>
          <p:nvPr/>
        </p:nvSpPr>
        <p:spPr bwMode="auto">
          <a:xfrm>
            <a:off x="1050776" y="45188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3" name="Oval 7"/>
          <p:cNvSpPr>
            <a:spLocks noChangeArrowheads="1"/>
          </p:cNvSpPr>
          <p:nvPr/>
        </p:nvSpPr>
        <p:spPr bwMode="auto">
          <a:xfrm>
            <a:off x="2690664" y="50522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4" name="Oval 8"/>
          <p:cNvSpPr>
            <a:spLocks noChangeArrowheads="1"/>
          </p:cNvSpPr>
          <p:nvPr/>
        </p:nvSpPr>
        <p:spPr bwMode="auto">
          <a:xfrm>
            <a:off x="2004864" y="50522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5" name="Oval 9"/>
          <p:cNvSpPr>
            <a:spLocks noChangeArrowheads="1"/>
          </p:cNvSpPr>
          <p:nvPr/>
        </p:nvSpPr>
        <p:spPr bwMode="auto">
          <a:xfrm>
            <a:off x="1431776" y="50522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6" name="Oval 10"/>
          <p:cNvSpPr>
            <a:spLocks noChangeArrowheads="1"/>
          </p:cNvSpPr>
          <p:nvPr/>
        </p:nvSpPr>
        <p:spPr bwMode="auto">
          <a:xfrm>
            <a:off x="633264" y="50522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7" name="Oval 11"/>
          <p:cNvSpPr>
            <a:spLocks noChangeArrowheads="1"/>
          </p:cNvSpPr>
          <p:nvPr/>
        </p:nvSpPr>
        <p:spPr bwMode="auto">
          <a:xfrm>
            <a:off x="1242864" y="56618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8" name="Oval 12"/>
          <p:cNvSpPr>
            <a:spLocks noChangeArrowheads="1"/>
          </p:cNvSpPr>
          <p:nvPr/>
        </p:nvSpPr>
        <p:spPr bwMode="auto">
          <a:xfrm>
            <a:off x="822176" y="56618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9" name="Oval 13"/>
          <p:cNvSpPr>
            <a:spLocks noChangeArrowheads="1"/>
          </p:cNvSpPr>
          <p:nvPr/>
        </p:nvSpPr>
        <p:spPr bwMode="auto">
          <a:xfrm>
            <a:off x="404664" y="56618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60" name="AutoShape 14"/>
          <p:cNvCxnSpPr>
            <a:cxnSpLocks noChangeShapeType="1"/>
            <a:stCxn id="56" idx="3"/>
            <a:endCxn id="59" idx="0"/>
          </p:cNvCxnSpPr>
          <p:nvPr/>
        </p:nvCxnSpPr>
        <p:spPr bwMode="auto">
          <a:xfrm flipH="1">
            <a:off x="577701" y="5345981"/>
            <a:ext cx="1063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15"/>
          <p:cNvCxnSpPr>
            <a:cxnSpLocks noChangeShapeType="1"/>
            <a:stCxn id="56" idx="5"/>
            <a:endCxn id="58" idx="0"/>
          </p:cNvCxnSpPr>
          <p:nvPr/>
        </p:nvCxnSpPr>
        <p:spPr bwMode="auto">
          <a:xfrm>
            <a:off x="926951" y="5345981"/>
            <a:ext cx="68263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16"/>
          <p:cNvCxnSpPr>
            <a:cxnSpLocks noChangeShapeType="1"/>
            <a:stCxn id="55" idx="3"/>
            <a:endCxn id="57" idx="0"/>
          </p:cNvCxnSpPr>
          <p:nvPr/>
        </p:nvCxnSpPr>
        <p:spPr bwMode="auto">
          <a:xfrm flipH="1">
            <a:off x="1415901" y="5345981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17"/>
          <p:cNvCxnSpPr>
            <a:cxnSpLocks noChangeShapeType="1"/>
            <a:stCxn id="52" idx="3"/>
            <a:endCxn id="56" idx="0"/>
          </p:cNvCxnSpPr>
          <p:nvPr/>
        </p:nvCxnSpPr>
        <p:spPr bwMode="auto">
          <a:xfrm flipH="1">
            <a:off x="806301" y="4812581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18"/>
          <p:cNvCxnSpPr>
            <a:cxnSpLocks noChangeShapeType="1"/>
            <a:stCxn id="52" idx="5"/>
            <a:endCxn id="55" idx="0"/>
          </p:cNvCxnSpPr>
          <p:nvPr/>
        </p:nvCxnSpPr>
        <p:spPr bwMode="auto">
          <a:xfrm>
            <a:off x="1344464" y="4812581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19"/>
          <p:cNvCxnSpPr>
            <a:cxnSpLocks noChangeShapeType="1"/>
            <a:stCxn id="51" idx="3"/>
            <a:endCxn id="54" idx="0"/>
          </p:cNvCxnSpPr>
          <p:nvPr/>
        </p:nvCxnSpPr>
        <p:spPr bwMode="auto">
          <a:xfrm flipH="1">
            <a:off x="2177901" y="4812581"/>
            <a:ext cx="2222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0"/>
          <p:cNvCxnSpPr>
            <a:cxnSpLocks noChangeShapeType="1"/>
            <a:stCxn id="51" idx="5"/>
            <a:endCxn id="53" idx="0"/>
          </p:cNvCxnSpPr>
          <p:nvPr/>
        </p:nvCxnSpPr>
        <p:spPr bwMode="auto">
          <a:xfrm>
            <a:off x="2643039" y="4812581"/>
            <a:ext cx="2206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21"/>
          <p:cNvCxnSpPr>
            <a:cxnSpLocks noChangeShapeType="1"/>
            <a:stCxn id="69" idx="3"/>
            <a:endCxn id="52" idx="0"/>
          </p:cNvCxnSpPr>
          <p:nvPr/>
        </p:nvCxnSpPr>
        <p:spPr bwMode="auto">
          <a:xfrm flipH="1">
            <a:off x="1223814" y="4202981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22"/>
          <p:cNvCxnSpPr>
            <a:cxnSpLocks noChangeShapeType="1"/>
            <a:stCxn id="69" idx="5"/>
            <a:endCxn id="51" idx="0"/>
          </p:cNvCxnSpPr>
          <p:nvPr/>
        </p:nvCxnSpPr>
        <p:spPr bwMode="auto">
          <a:xfrm>
            <a:off x="1993751" y="4202981"/>
            <a:ext cx="528638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Oval 23"/>
          <p:cNvSpPr>
            <a:spLocks noChangeArrowheads="1"/>
          </p:cNvSpPr>
          <p:nvPr/>
        </p:nvSpPr>
        <p:spPr bwMode="auto">
          <a:xfrm>
            <a:off x="1700064" y="3909293"/>
            <a:ext cx="344487" cy="3444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0" name="Oval 24"/>
          <p:cNvSpPr>
            <a:spLocks noChangeArrowheads="1"/>
          </p:cNvSpPr>
          <p:nvPr/>
        </p:nvSpPr>
        <p:spPr bwMode="auto">
          <a:xfrm>
            <a:off x="5165576" y="5739681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11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71" name="AutoShape 25"/>
          <p:cNvCxnSpPr>
            <a:cxnSpLocks noChangeShapeType="1"/>
            <a:stCxn id="76" idx="5"/>
            <a:endCxn id="70" idx="0"/>
          </p:cNvCxnSpPr>
          <p:nvPr/>
        </p:nvCxnSpPr>
        <p:spPr bwMode="auto">
          <a:xfrm>
            <a:off x="5190976" y="5422181"/>
            <a:ext cx="147638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" name="Oval 26"/>
          <p:cNvSpPr>
            <a:spLocks noChangeArrowheads="1"/>
          </p:cNvSpPr>
          <p:nvPr/>
        </p:nvSpPr>
        <p:spPr bwMode="auto">
          <a:xfrm>
            <a:off x="5851376" y="45950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3" name="Oval 27"/>
          <p:cNvSpPr>
            <a:spLocks noChangeArrowheads="1"/>
          </p:cNvSpPr>
          <p:nvPr/>
        </p:nvSpPr>
        <p:spPr bwMode="auto">
          <a:xfrm>
            <a:off x="4516289" y="45950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4" name="Oval 28"/>
          <p:cNvSpPr>
            <a:spLocks noChangeArrowheads="1"/>
          </p:cNvSpPr>
          <p:nvPr/>
        </p:nvSpPr>
        <p:spPr bwMode="auto">
          <a:xfrm>
            <a:off x="6156176" y="51284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5" name="Oval 29"/>
          <p:cNvSpPr>
            <a:spLocks noChangeArrowheads="1"/>
          </p:cNvSpPr>
          <p:nvPr/>
        </p:nvSpPr>
        <p:spPr bwMode="auto">
          <a:xfrm>
            <a:off x="5470376" y="51284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6" name="Oval 30"/>
          <p:cNvSpPr>
            <a:spLocks noChangeArrowheads="1"/>
          </p:cNvSpPr>
          <p:nvPr/>
        </p:nvSpPr>
        <p:spPr bwMode="auto">
          <a:xfrm>
            <a:off x="4897289" y="51284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7" name="Oval 31"/>
          <p:cNvSpPr>
            <a:spLocks noChangeArrowheads="1"/>
          </p:cNvSpPr>
          <p:nvPr/>
        </p:nvSpPr>
        <p:spPr bwMode="auto">
          <a:xfrm>
            <a:off x="4098776" y="51284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8" name="Oval 32"/>
          <p:cNvSpPr>
            <a:spLocks noChangeArrowheads="1"/>
          </p:cNvSpPr>
          <p:nvPr/>
        </p:nvSpPr>
        <p:spPr bwMode="auto">
          <a:xfrm>
            <a:off x="4708376" y="57380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9" name="Oval 33"/>
          <p:cNvSpPr>
            <a:spLocks noChangeArrowheads="1"/>
          </p:cNvSpPr>
          <p:nvPr/>
        </p:nvSpPr>
        <p:spPr bwMode="auto">
          <a:xfrm>
            <a:off x="4287689" y="5738093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0" name="Oval 34"/>
          <p:cNvSpPr>
            <a:spLocks noChangeArrowheads="1"/>
          </p:cNvSpPr>
          <p:nvPr/>
        </p:nvSpPr>
        <p:spPr bwMode="auto">
          <a:xfrm>
            <a:off x="3870176" y="57380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81" name="AutoShape 35"/>
          <p:cNvCxnSpPr>
            <a:cxnSpLocks noChangeShapeType="1"/>
            <a:stCxn id="77" idx="3"/>
            <a:endCxn id="80" idx="0"/>
          </p:cNvCxnSpPr>
          <p:nvPr/>
        </p:nvCxnSpPr>
        <p:spPr bwMode="auto">
          <a:xfrm flipH="1">
            <a:off x="4043214" y="5422181"/>
            <a:ext cx="1063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36"/>
          <p:cNvCxnSpPr>
            <a:cxnSpLocks noChangeShapeType="1"/>
            <a:stCxn id="77" idx="5"/>
            <a:endCxn id="79" idx="0"/>
          </p:cNvCxnSpPr>
          <p:nvPr/>
        </p:nvCxnSpPr>
        <p:spPr bwMode="auto">
          <a:xfrm>
            <a:off x="4392464" y="5422181"/>
            <a:ext cx="68262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AutoShape 37"/>
          <p:cNvCxnSpPr>
            <a:cxnSpLocks noChangeShapeType="1"/>
            <a:stCxn id="76" idx="3"/>
            <a:endCxn id="78" idx="0"/>
          </p:cNvCxnSpPr>
          <p:nvPr/>
        </p:nvCxnSpPr>
        <p:spPr bwMode="auto">
          <a:xfrm flipH="1">
            <a:off x="4881414" y="5422181"/>
            <a:ext cx="66675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38"/>
          <p:cNvCxnSpPr>
            <a:cxnSpLocks noChangeShapeType="1"/>
            <a:stCxn id="73" idx="3"/>
            <a:endCxn id="77" idx="0"/>
          </p:cNvCxnSpPr>
          <p:nvPr/>
        </p:nvCxnSpPr>
        <p:spPr bwMode="auto">
          <a:xfrm flipH="1">
            <a:off x="4271814" y="4888781"/>
            <a:ext cx="295275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AutoShape 39"/>
          <p:cNvCxnSpPr>
            <a:cxnSpLocks noChangeShapeType="1"/>
            <a:stCxn id="73" idx="5"/>
            <a:endCxn id="76" idx="0"/>
          </p:cNvCxnSpPr>
          <p:nvPr/>
        </p:nvCxnSpPr>
        <p:spPr bwMode="auto">
          <a:xfrm>
            <a:off x="4809976" y="4888781"/>
            <a:ext cx="2603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AutoShape 40"/>
          <p:cNvCxnSpPr>
            <a:cxnSpLocks noChangeShapeType="1"/>
            <a:stCxn id="72" idx="3"/>
            <a:endCxn id="75" idx="0"/>
          </p:cNvCxnSpPr>
          <p:nvPr/>
        </p:nvCxnSpPr>
        <p:spPr bwMode="auto">
          <a:xfrm flipH="1">
            <a:off x="5643414" y="4888781"/>
            <a:ext cx="258762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AutoShape 41"/>
          <p:cNvCxnSpPr>
            <a:cxnSpLocks noChangeShapeType="1"/>
            <a:stCxn id="72" idx="5"/>
            <a:endCxn id="74" idx="0"/>
          </p:cNvCxnSpPr>
          <p:nvPr/>
        </p:nvCxnSpPr>
        <p:spPr bwMode="auto">
          <a:xfrm>
            <a:off x="6145064" y="4888781"/>
            <a:ext cx="1841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AutoShape 42"/>
          <p:cNvCxnSpPr>
            <a:cxnSpLocks noChangeShapeType="1"/>
            <a:stCxn id="90" idx="3"/>
            <a:endCxn id="73" idx="0"/>
          </p:cNvCxnSpPr>
          <p:nvPr/>
        </p:nvCxnSpPr>
        <p:spPr bwMode="auto">
          <a:xfrm flipH="1">
            <a:off x="4689326" y="4279181"/>
            <a:ext cx="5270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AutoShape 43"/>
          <p:cNvCxnSpPr>
            <a:cxnSpLocks noChangeShapeType="1"/>
            <a:stCxn id="90" idx="5"/>
            <a:endCxn id="72" idx="0"/>
          </p:cNvCxnSpPr>
          <p:nvPr/>
        </p:nvCxnSpPr>
        <p:spPr bwMode="auto">
          <a:xfrm>
            <a:off x="5459264" y="4279181"/>
            <a:ext cx="565150" cy="315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" name="Oval 44"/>
          <p:cNvSpPr>
            <a:spLocks noChangeArrowheads="1"/>
          </p:cNvSpPr>
          <p:nvPr/>
        </p:nvSpPr>
        <p:spPr bwMode="auto">
          <a:xfrm>
            <a:off x="5165576" y="3985493"/>
            <a:ext cx="344488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1" name="Line 45"/>
          <p:cNvSpPr>
            <a:spLocks noChangeShapeType="1"/>
          </p:cNvSpPr>
          <p:nvPr/>
        </p:nvSpPr>
        <p:spPr bwMode="auto">
          <a:xfrm>
            <a:off x="3452664" y="467129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743963-7A1D-42CE-9D72-BA251238EC1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789681-0BEF-478A-A255-8E27B609315A}" type="slidenum">
              <a:rPr lang="en-US" altLang="zh-CN" sz="1050"/>
            </a:fld>
            <a:endParaRPr lang="en-US" altLang="zh-CN" sz="105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Analysis of Build Heap</a:t>
            </a:r>
            <a:endParaRPr lang="en-US" altLang="zh-CN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3131840"/>
            <a:ext cx="5829300" cy="16573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Assume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N = 2</a:t>
            </a:r>
            <a:r>
              <a:rPr lang="en-US" altLang="zh-CN" baseline="30000" dirty="0">
                <a:solidFill>
                  <a:srgbClr val="263AF8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 –1</a:t>
            </a:r>
            <a:endParaRPr lang="en-US" altLang="zh-CN" dirty="0">
              <a:solidFill>
                <a:srgbClr val="263AF8"/>
              </a:solidFill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Level 1: k -1  steps for 1 item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Level 2: k - 2 steps for 2 items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Level 3: k - 3 steps for 4 items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Level 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: k - 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steps for 2</a:t>
            </a:r>
            <a:r>
              <a:rPr lang="en-US" altLang="zh-CN" baseline="30000" dirty="0">
                <a:ea typeface="SimSun" panose="02010600030101010101" pitchFamily="2" charset="-122"/>
              </a:rPr>
              <a:t>i-1</a:t>
            </a:r>
            <a:r>
              <a:rPr lang="en-US" altLang="zh-CN" dirty="0">
                <a:ea typeface="SimSun" panose="02010600030101010101" pitchFamily="2" charset="-122"/>
              </a:rPr>
              <a:t> items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graphicFrame>
        <p:nvGraphicFramePr>
          <p:cNvPr id="36871" name="Object 4"/>
          <p:cNvGraphicFramePr>
            <a:graphicFrameLocks noChangeAspect="1"/>
          </p:cNvGraphicFramePr>
          <p:nvPr/>
        </p:nvGraphicFramePr>
        <p:xfrm>
          <a:off x="836712" y="5296151"/>
          <a:ext cx="4565132" cy="1249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1" imgW="2413000" imgH="660400" progId="Equation.3">
                  <p:embed/>
                </p:oleObj>
              </mc:Choice>
              <mc:Fallback>
                <p:oleObj name="Equation" r:id="rId1" imgW="2413000" imgH="660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712" y="5296151"/>
                        <a:ext cx="4565132" cy="1249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36A9DC-844E-46D7-ACFD-DF17F2E6C41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050" smtClean="0"/>
              <a:t>Heaps&amp;Priority Queue - Lecture 6</a:t>
            </a:r>
            <a:endParaRPr lang="en-US" altLang="zh-CN" sz="1050"/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4231E7-C16E-4911-986E-A7EA0BE0FDB4}" type="slidenum">
              <a:rPr lang="en-US" altLang="zh-CN" sz="1050"/>
            </a:fld>
            <a:endParaRPr lang="en-US" altLang="zh-CN" sz="105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Binary Heap Analysis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12" y="2843808"/>
            <a:ext cx="6003131" cy="310515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5D26F8"/>
                </a:solidFill>
                <a:ea typeface="SimSun" panose="02010600030101010101" pitchFamily="2" charset="-122"/>
              </a:rPr>
              <a:t>Space needed for heap of N nodes: </a:t>
            </a:r>
            <a:r>
              <a:rPr lang="en-US" altLang="zh-CN" dirty="0">
                <a:ea typeface="SimSun" panose="02010600030101010101" pitchFamily="2" charset="-122"/>
              </a:rPr>
              <a:t>O(</a:t>
            </a:r>
            <a:r>
              <a:rPr lang="en-US" altLang="zh-CN" dirty="0" err="1">
                <a:ea typeface="SimSun" panose="02010600030101010101" pitchFamily="2" charset="-122"/>
              </a:rPr>
              <a:t>MaxN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An array of size </a:t>
            </a:r>
            <a:r>
              <a:rPr lang="en-US" altLang="zh-CN" dirty="0" err="1">
                <a:ea typeface="SimSun" panose="02010600030101010101" pitchFamily="2" charset="-122"/>
              </a:rPr>
              <a:t>MaxN</a:t>
            </a:r>
            <a:r>
              <a:rPr lang="en-US" altLang="zh-CN" dirty="0">
                <a:ea typeface="SimSun" panose="02010600030101010101" pitchFamily="2" charset="-122"/>
              </a:rPr>
              <a:t>, plus a variable to store the size </a:t>
            </a:r>
            <a:r>
              <a:rPr lang="en-US" altLang="zh-CN" dirty="0" smtClean="0">
                <a:ea typeface="SimSun" panose="02010600030101010101" pitchFamily="2" charset="-122"/>
              </a:rPr>
              <a:t>N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>
                <a:solidFill>
                  <a:srgbClr val="5D26F8"/>
                </a:solidFill>
                <a:ea typeface="SimSun" panose="02010600030101010101" pitchFamily="2" charset="-122"/>
              </a:rPr>
              <a:t>Time</a:t>
            </a:r>
            <a:endParaRPr lang="en-US" altLang="zh-CN" dirty="0">
              <a:solidFill>
                <a:srgbClr val="5D26F8"/>
              </a:solidFill>
              <a:ea typeface="SimSun" panose="02010600030101010101" pitchFamily="2" charset="-122"/>
            </a:endParaRPr>
          </a:p>
          <a:p>
            <a:pPr lvl="1"/>
            <a:r>
              <a:rPr lang="en-US" altLang="zh-CN" dirty="0" err="1">
                <a:ea typeface="SimSun" panose="02010600030101010101" pitchFamily="2" charset="-122"/>
              </a:rPr>
              <a:t>FindMin</a:t>
            </a:r>
            <a:r>
              <a:rPr lang="en-US" altLang="zh-CN" dirty="0">
                <a:ea typeface="SimSun" panose="02010600030101010101" pitchFamily="2" charset="-122"/>
              </a:rPr>
              <a:t>: O(1)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 err="1">
                <a:ea typeface="SimSun" panose="02010600030101010101" pitchFamily="2" charset="-122"/>
              </a:rPr>
              <a:t>DeleteMin</a:t>
            </a:r>
            <a:r>
              <a:rPr lang="en-US" altLang="zh-CN" dirty="0">
                <a:ea typeface="SimSun" panose="02010600030101010101" pitchFamily="2" charset="-122"/>
              </a:rPr>
              <a:t> and Insert: O(log N)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 err="1">
                <a:ea typeface="SimSun" panose="02010600030101010101" pitchFamily="2" charset="-122"/>
              </a:rPr>
              <a:t>BuildHeap</a:t>
            </a:r>
            <a:r>
              <a:rPr lang="en-US" altLang="zh-CN" dirty="0">
                <a:ea typeface="SimSun" panose="02010600030101010101" pitchFamily="2" charset="-122"/>
              </a:rPr>
              <a:t> from N inputs : O(N)</a:t>
            </a:r>
            <a:endParaRPr lang="en-US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Exercise 6.2, 6.3</a:t>
            </a:r>
            <a:r>
              <a:rPr lang="en-US" altLang="zh-CN" dirty="0"/>
              <a:t>, </a:t>
            </a:r>
            <a:r>
              <a:rPr lang="en-US" altLang="zh-CN" dirty="0" smtClean="0"/>
              <a:t>6.4</a:t>
            </a:r>
            <a:endParaRPr lang="en-US" altLang="zh-CN" dirty="0" smtClean="0"/>
          </a:p>
          <a:p>
            <a:r>
              <a:rPr lang="en-US" altLang="zh-CN" dirty="0" smtClean="0"/>
              <a:t>Deadline</a:t>
            </a:r>
            <a:r>
              <a:rPr lang="en-US" altLang="zh-CN" dirty="0"/>
              <a:t>: to be confirmed.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321805-AB81-4945-A581-6226B3D1086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Heaps&amp;Priority Queue - Lecture 6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9447</Words>
  <Application>WPS Presentation</Application>
  <PresentationFormat>全屏显示(4:3)</PresentationFormat>
  <Paragraphs>1208</Paragraphs>
  <Slides>38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61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SimSun</vt:lpstr>
      <vt:lpstr>宋体-简</vt:lpstr>
      <vt:lpstr>Symbol</vt:lpstr>
      <vt:lpstr>Courier New</vt:lpstr>
      <vt:lpstr>Helvetica</vt:lpstr>
      <vt:lpstr>Kingsoft Sign</vt:lpstr>
      <vt:lpstr>Microsoft YaHei</vt:lpstr>
      <vt:lpstr>汉仪旗黑</vt:lpstr>
      <vt:lpstr>Arial Unicode MS</vt:lpstr>
      <vt:lpstr>Calibri</vt:lpstr>
      <vt:lpstr>Helvetica Neue</vt:lpstr>
      <vt:lpstr>SimSun</vt:lpstr>
      <vt:lpstr>等线</vt:lpstr>
      <vt:lpstr>HDOfficeLightV0</vt:lpstr>
      <vt:lpstr>Equation.3</vt:lpstr>
      <vt:lpstr>Heaps &amp; Priority Queues</vt:lpstr>
      <vt:lpstr>Content</vt:lpstr>
      <vt:lpstr>Binary Heaps</vt:lpstr>
      <vt:lpstr>Readings</vt:lpstr>
      <vt:lpstr>Revisiting FindMin</vt:lpstr>
      <vt:lpstr>Priority Queue ADT </vt:lpstr>
      <vt:lpstr>Less flexibility  More speed</vt:lpstr>
      <vt:lpstr>Better than a speeding BST</vt:lpstr>
      <vt:lpstr>Binary Heaps</vt:lpstr>
      <vt:lpstr>Heap order property</vt:lpstr>
      <vt:lpstr>Binary Heap vs Binary Search Tree</vt:lpstr>
      <vt:lpstr>Structure property</vt:lpstr>
      <vt:lpstr>Examples</vt:lpstr>
      <vt:lpstr>Array Implementation of Heaps (Implicit Pointers)</vt:lpstr>
      <vt:lpstr>Array Implementation of Heaps</vt:lpstr>
      <vt:lpstr>Array Implementation of Heaps</vt:lpstr>
      <vt:lpstr>FindMin and DeleteMin</vt:lpstr>
      <vt:lpstr>Maintain the Structure Property</vt:lpstr>
      <vt:lpstr>Maintain the Structure Property</vt:lpstr>
      <vt:lpstr>Maintain the Heap Property</vt:lpstr>
      <vt:lpstr>Maintain the Heap Property</vt:lpstr>
      <vt:lpstr>DeleteMin: Percolate Down</vt:lpstr>
      <vt:lpstr>Percolate Down</vt:lpstr>
      <vt:lpstr>Percolate Down</vt:lpstr>
      <vt:lpstr>DeleteMin: Run Time Analysis</vt:lpstr>
      <vt:lpstr>Insert</vt:lpstr>
      <vt:lpstr>Maintain the Structure Property</vt:lpstr>
      <vt:lpstr>Maintain the Heap Property</vt:lpstr>
      <vt:lpstr>Insert: Percolate Up</vt:lpstr>
      <vt:lpstr>Insert: Percolate Up</vt:lpstr>
      <vt:lpstr>PercUp</vt:lpstr>
      <vt:lpstr>BuildHeap</vt:lpstr>
      <vt:lpstr>BuildHeap</vt:lpstr>
      <vt:lpstr>BuildHeap</vt:lpstr>
      <vt:lpstr>Build Heap</vt:lpstr>
      <vt:lpstr>Analysis of Build Heap</vt:lpstr>
      <vt:lpstr>Binary Heap Analysis</vt:lpstr>
      <vt:lpstr>Homework 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738</cp:revision>
  <dcterms:created xsi:type="dcterms:W3CDTF">2023-10-08T03:42:45Z</dcterms:created>
  <dcterms:modified xsi:type="dcterms:W3CDTF">2023-10-08T03:42:45Z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