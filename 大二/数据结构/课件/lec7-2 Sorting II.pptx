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1022" r:id="rId3"/>
    <p:sldId id="982" r:id="rId5"/>
    <p:sldId id="944" r:id="rId6"/>
    <p:sldId id="945" r:id="rId7"/>
    <p:sldId id="946" r:id="rId8"/>
    <p:sldId id="947" r:id="rId9"/>
    <p:sldId id="948" r:id="rId10"/>
    <p:sldId id="949" r:id="rId11"/>
    <p:sldId id="950" r:id="rId12"/>
    <p:sldId id="951" r:id="rId13"/>
    <p:sldId id="983" r:id="rId14"/>
    <p:sldId id="953" r:id="rId15"/>
    <p:sldId id="956" r:id="rId16"/>
    <p:sldId id="957" r:id="rId17"/>
    <p:sldId id="958" r:id="rId18"/>
    <p:sldId id="959" r:id="rId19"/>
    <p:sldId id="963" r:id="rId20"/>
    <p:sldId id="964" r:id="rId21"/>
    <p:sldId id="986" r:id="rId22"/>
    <p:sldId id="965" r:id="rId23"/>
    <p:sldId id="966" r:id="rId24"/>
    <p:sldId id="967" r:id="rId25"/>
    <p:sldId id="968" r:id="rId26"/>
    <p:sldId id="969" r:id="rId27"/>
    <p:sldId id="990" r:id="rId28"/>
    <p:sldId id="970" r:id="rId29"/>
    <p:sldId id="972" r:id="rId30"/>
    <p:sldId id="973" r:id="rId31"/>
    <p:sldId id="987" r:id="rId32"/>
    <p:sldId id="975" r:id="rId33"/>
    <p:sldId id="989" r:id="rId34"/>
    <p:sldId id="976" r:id="rId35"/>
    <p:sldId id="991" r:id="rId36"/>
    <p:sldId id="977" r:id="rId37"/>
    <p:sldId id="978" r:id="rId38"/>
    <p:sldId id="979" r:id="rId39"/>
    <p:sldId id="980" r:id="rId40"/>
    <p:sldId id="992" r:id="rId41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7" autoAdjust="0"/>
    <p:restoredTop sz="96429" autoAdjust="0"/>
  </p:normalViewPr>
  <p:slideViewPr>
    <p:cSldViewPr showGuides="1">
      <p:cViewPr varScale="1">
        <p:scale>
          <a:sx n="85" d="100"/>
          <a:sy n="85" d="100"/>
        </p:scale>
        <p:origin x="2778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F3FE6-94CA-489F-AF86-2A643E955FD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231D7C-9D65-42E2-ACD1-5FB86D27E7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E94083-4E96-46A7-93C8-B713535A5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DB2A9-5C9A-4E1E-8B31-40FEB4AF995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F56E0E-E226-41AB-A2CE-A0C4482D349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5EEFFD-E756-4FBD-8609-751F741C85E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1408F3-88E1-411E-9948-5BDE4FF4EF9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5F1A1C-2367-4D9C-B00C-E2DA1CD8DE0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E9B166-CD60-4954-BCF4-DA2549AB585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F06FA9-E4F1-47C4-917E-12977F68D8F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670C02-3069-4307-BB92-E00CCFFCED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DF7ED0-9384-4199-8951-AE1A98A8D4A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1444F48-4AE8-431D-9BAD-D74D4CDF28A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Sorting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 Sorting </a:t>
            </a:r>
            <a:r>
              <a:rPr lang="en-US" altLang="zh-CN" dirty="0"/>
              <a:t>Algorithms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21957E-8DDB-4EDD-90E3-B376C153ED0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EFD0BC56-9075-41B3-85B3-EA3CC620FE9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6AEE7ACF-7EE5-418A-B8F6-0824C353E2D0}" type="slidenum">
              <a:rPr lang="en-US" altLang="zh-CN" sz="1050"/>
            </a:fld>
            <a:endParaRPr lang="en-US" altLang="zh-CN" sz="105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Heap Sort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3896" y="2532791"/>
            <a:ext cx="5659041" cy="218327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We use a Max-Heap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Root node = A[1]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Children of A[</a:t>
            </a:r>
            <a:r>
              <a:rPr lang="en-US" altLang="zh-CN" dirty="0" err="1">
                <a:ea typeface="宋体" pitchFamily="2" charset="-122"/>
              </a:rPr>
              <a:t>i</a:t>
            </a:r>
            <a:r>
              <a:rPr lang="en-US" altLang="zh-CN" dirty="0">
                <a:ea typeface="宋体" pitchFamily="2" charset="-122"/>
              </a:rPr>
              <a:t>] = A[2i], A[2i+1]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Keep track of current size N (number of nodes)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471488" y="6138401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N = 5</a:t>
            </a:r>
            <a:endParaRPr lang="en-US" altLang="zh-CN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530803" y="5158873"/>
            <a:ext cx="827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value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515629" y="5571623"/>
            <a:ext cx="846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index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0" name="Oval 7"/>
          <p:cNvSpPr>
            <a:spLocks noChangeArrowheads="1"/>
          </p:cNvSpPr>
          <p:nvPr/>
        </p:nvSpPr>
        <p:spPr bwMode="auto">
          <a:xfrm>
            <a:off x="3419401" y="650857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" name="Oval 8"/>
          <p:cNvSpPr>
            <a:spLocks noChangeArrowheads="1"/>
          </p:cNvSpPr>
          <p:nvPr/>
        </p:nvSpPr>
        <p:spPr bwMode="auto">
          <a:xfrm>
            <a:off x="3876601" y="704197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2962201" y="7041976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3" name="AutoShape 10"/>
          <p:cNvCxnSpPr>
            <a:cxnSpLocks noChangeShapeType="1"/>
            <a:stCxn id="40" idx="3"/>
            <a:endCxn id="42" idx="0"/>
          </p:cNvCxnSpPr>
          <p:nvPr/>
        </p:nvCxnSpPr>
        <p:spPr bwMode="auto">
          <a:xfrm flipH="1">
            <a:off x="3135238" y="6802264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1"/>
          <p:cNvCxnSpPr>
            <a:cxnSpLocks noChangeShapeType="1"/>
            <a:stCxn id="40" idx="5"/>
            <a:endCxn id="41" idx="0"/>
          </p:cNvCxnSpPr>
          <p:nvPr/>
        </p:nvCxnSpPr>
        <p:spPr bwMode="auto">
          <a:xfrm>
            <a:off x="3713088" y="6802264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12"/>
          <p:cNvSpPr>
            <a:spLocks noChangeArrowheads="1"/>
          </p:cNvSpPr>
          <p:nvPr/>
        </p:nvSpPr>
        <p:spPr bwMode="auto">
          <a:xfrm>
            <a:off x="3382888" y="7611889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6" name="Oval 13"/>
          <p:cNvSpPr>
            <a:spLocks noChangeArrowheads="1"/>
          </p:cNvSpPr>
          <p:nvPr/>
        </p:nvSpPr>
        <p:spPr bwMode="auto">
          <a:xfrm>
            <a:off x="2468488" y="7611889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7" name="AutoShape 14"/>
          <p:cNvCxnSpPr>
            <a:cxnSpLocks noChangeShapeType="1"/>
            <a:stCxn id="42" idx="3"/>
            <a:endCxn id="46" idx="0"/>
          </p:cNvCxnSpPr>
          <p:nvPr/>
        </p:nvCxnSpPr>
        <p:spPr bwMode="auto">
          <a:xfrm flipH="1">
            <a:off x="2641526" y="7335664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15"/>
          <p:cNvCxnSpPr>
            <a:cxnSpLocks noChangeShapeType="1"/>
            <a:stCxn id="42" idx="5"/>
            <a:endCxn id="45" idx="0"/>
          </p:cNvCxnSpPr>
          <p:nvPr/>
        </p:nvCxnSpPr>
        <p:spPr bwMode="auto">
          <a:xfrm>
            <a:off x="3255888" y="7335664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Text Box 16"/>
          <p:cNvSpPr txBox="1">
            <a:spLocks noChangeArrowheads="1"/>
          </p:cNvSpPr>
          <p:nvPr/>
        </p:nvSpPr>
        <p:spPr bwMode="auto">
          <a:xfrm>
            <a:off x="14096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0" name="Text Box 17"/>
          <p:cNvSpPr txBox="1">
            <a:spLocks noChangeArrowheads="1"/>
          </p:cNvSpPr>
          <p:nvPr/>
        </p:nvSpPr>
        <p:spPr bwMode="auto">
          <a:xfrm>
            <a:off x="20192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1" name="Text Box 18"/>
          <p:cNvSpPr txBox="1">
            <a:spLocks noChangeArrowheads="1"/>
          </p:cNvSpPr>
          <p:nvPr/>
        </p:nvSpPr>
        <p:spPr bwMode="auto">
          <a:xfrm>
            <a:off x="26288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auto">
          <a:xfrm>
            <a:off x="32384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3" name="Text Box 20"/>
          <p:cNvSpPr txBox="1">
            <a:spLocks noChangeArrowheads="1"/>
          </p:cNvSpPr>
          <p:nvPr/>
        </p:nvSpPr>
        <p:spPr bwMode="auto">
          <a:xfrm>
            <a:off x="38480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44576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5" name="Text Box 22"/>
          <p:cNvSpPr txBox="1">
            <a:spLocks noChangeArrowheads="1"/>
          </p:cNvSpPr>
          <p:nvPr/>
        </p:nvSpPr>
        <p:spPr bwMode="auto">
          <a:xfrm>
            <a:off x="50672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6" name="Text Box 23"/>
          <p:cNvSpPr txBox="1">
            <a:spLocks noChangeArrowheads="1"/>
          </p:cNvSpPr>
          <p:nvPr/>
        </p:nvSpPr>
        <p:spPr bwMode="auto">
          <a:xfrm>
            <a:off x="5676875" y="5146203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14096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8" name="Text Box 26"/>
          <p:cNvSpPr txBox="1">
            <a:spLocks noChangeArrowheads="1"/>
          </p:cNvSpPr>
          <p:nvPr/>
        </p:nvSpPr>
        <p:spPr bwMode="auto">
          <a:xfrm>
            <a:off x="20192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9" name="Text Box 27"/>
          <p:cNvSpPr txBox="1">
            <a:spLocks noChangeArrowheads="1"/>
          </p:cNvSpPr>
          <p:nvPr/>
        </p:nvSpPr>
        <p:spPr bwMode="auto">
          <a:xfrm>
            <a:off x="26288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0" name="Text Box 28"/>
          <p:cNvSpPr txBox="1">
            <a:spLocks noChangeArrowheads="1"/>
          </p:cNvSpPr>
          <p:nvPr/>
        </p:nvSpPr>
        <p:spPr bwMode="auto">
          <a:xfrm>
            <a:off x="32384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1" name="Text Box 29"/>
          <p:cNvSpPr txBox="1">
            <a:spLocks noChangeArrowheads="1"/>
          </p:cNvSpPr>
          <p:nvPr/>
        </p:nvSpPr>
        <p:spPr bwMode="auto">
          <a:xfrm>
            <a:off x="38480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2" name="Text Box 30"/>
          <p:cNvSpPr txBox="1">
            <a:spLocks noChangeArrowheads="1"/>
          </p:cNvSpPr>
          <p:nvPr/>
        </p:nvSpPr>
        <p:spPr bwMode="auto">
          <a:xfrm>
            <a:off x="44576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3" name="Text Box 31"/>
          <p:cNvSpPr txBox="1">
            <a:spLocks noChangeArrowheads="1"/>
          </p:cNvSpPr>
          <p:nvPr/>
        </p:nvSpPr>
        <p:spPr bwMode="auto">
          <a:xfrm>
            <a:off x="50672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cxnSp>
        <p:nvCxnSpPr>
          <p:cNvPr id="64" name="AutoShape 32"/>
          <p:cNvCxnSpPr>
            <a:cxnSpLocks noChangeShapeType="1"/>
          </p:cNvCxnSpPr>
          <p:nvPr/>
        </p:nvCxnSpPr>
        <p:spPr bwMode="auto">
          <a:xfrm rot="5400000" flipV="1">
            <a:off x="2932881" y="4537397"/>
            <a:ext cx="1588" cy="1219200"/>
          </a:xfrm>
          <a:prstGeom prst="curvedConnector3">
            <a:avLst>
              <a:gd name="adj1" fmla="val -14400000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33"/>
          <p:cNvCxnSpPr>
            <a:cxnSpLocks noChangeShapeType="1"/>
          </p:cNvCxnSpPr>
          <p:nvPr/>
        </p:nvCxnSpPr>
        <p:spPr bwMode="auto">
          <a:xfrm rot="5400000" flipV="1">
            <a:off x="3237681" y="4232597"/>
            <a:ext cx="1588" cy="1828800"/>
          </a:xfrm>
          <a:prstGeom prst="curvedConnector3">
            <a:avLst>
              <a:gd name="adj1" fmla="val -20400005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Text Box 41"/>
          <p:cNvSpPr txBox="1">
            <a:spLocks noChangeArrowheads="1"/>
          </p:cNvSpPr>
          <p:nvPr/>
        </p:nvSpPr>
        <p:spPr bwMode="auto">
          <a:xfrm>
            <a:off x="5676875" y="560340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6BB27CC6-4E01-41D9-A846-B59A157BA20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F8A18E3D-6293-4F31-A856-86EBCCCA506F}" type="slidenum">
              <a:rPr lang="en-US" altLang="zh-CN" sz="1050"/>
            </a:fld>
            <a:endParaRPr lang="en-US" altLang="zh-CN" sz="105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Using Binary Heaps for Sorting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49" y="2555776"/>
            <a:ext cx="5876059" cy="40164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Build a </a:t>
            </a:r>
            <a:r>
              <a:rPr lang="en-US" altLang="zh-CN" u="sng" dirty="0">
                <a:solidFill>
                  <a:srgbClr val="0000FF"/>
                </a:solidFill>
                <a:ea typeface="宋体" pitchFamily="2" charset="-122"/>
              </a:rPr>
              <a:t>max-heap</a:t>
            </a:r>
            <a:endParaRPr lang="en-US" altLang="zh-CN" u="sng" dirty="0">
              <a:solidFill>
                <a:srgbClr val="0000FF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Do N </a:t>
            </a:r>
            <a:r>
              <a:rPr lang="en-US" altLang="zh-CN" u="sng" dirty="0" err="1">
                <a:solidFill>
                  <a:srgbClr val="0000FF"/>
                </a:solidFill>
                <a:ea typeface="宋体" pitchFamily="2" charset="-122"/>
              </a:rPr>
              <a:t>DeleteMax</a:t>
            </a:r>
            <a:r>
              <a:rPr lang="en-US" altLang="zh-CN" u="sng" dirty="0">
                <a:solidFill>
                  <a:srgbClr val="0000FF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operations and store each Max element as it comes out of the heap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Data comes out in largest to smallest order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Where can we put the elements as they are removed from the heap?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7" name="Line 4"/>
          <p:cNvSpPr>
            <a:spLocks noChangeShapeType="1"/>
          </p:cNvSpPr>
          <p:nvPr/>
        </p:nvSpPr>
        <p:spPr bwMode="auto">
          <a:xfrm>
            <a:off x="3212976" y="7185993"/>
            <a:ext cx="51955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1061536" y="5816578"/>
            <a:ext cx="1430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solidFill>
                  <a:srgbClr val="0000FF"/>
                </a:solidFill>
                <a:latin typeface="Sitka Text" panose="02000505000000020004" pitchFamily="2" charset="0"/>
                <a:ea typeface="宋体" pitchFamily="2" charset="-122"/>
              </a:rPr>
              <a:t>Build</a:t>
            </a:r>
            <a:endParaRPr lang="en-US" altLang="zh-CN" b="1" dirty="0">
              <a:solidFill>
                <a:srgbClr val="0000FF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Sitka Text" panose="02000505000000020004" pitchFamily="2" charset="0"/>
                <a:ea typeface="宋体" pitchFamily="2" charset="-122"/>
              </a:rPr>
              <a:t>Max-heap</a:t>
            </a:r>
            <a:endParaRPr lang="en-US" altLang="zh-CN" b="1" dirty="0">
              <a:solidFill>
                <a:srgbClr val="0000FF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4139629" y="5920849"/>
            <a:ext cx="15263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b="1" dirty="0" err="1">
                <a:solidFill>
                  <a:srgbClr val="0000FF"/>
                </a:solidFill>
                <a:latin typeface="Sitka Text" panose="02000505000000020004" pitchFamily="2" charset="0"/>
                <a:ea typeface="宋体" pitchFamily="2" charset="-122"/>
              </a:rPr>
              <a:t>DeleteMax</a:t>
            </a:r>
            <a:endParaRPr lang="en-US" altLang="zh-CN" b="1" dirty="0">
              <a:solidFill>
                <a:srgbClr val="0000FF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0" name="Oval 7"/>
          <p:cNvSpPr>
            <a:spLocks noChangeArrowheads="1"/>
          </p:cNvSpPr>
          <p:nvPr/>
        </p:nvSpPr>
        <p:spPr bwMode="auto">
          <a:xfrm>
            <a:off x="1826642" y="6652592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" name="Oval 8"/>
          <p:cNvSpPr>
            <a:spLocks noChangeArrowheads="1"/>
          </p:cNvSpPr>
          <p:nvPr/>
        </p:nvSpPr>
        <p:spPr bwMode="auto">
          <a:xfrm>
            <a:off x="2283842" y="7185992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2" name="Oval 9"/>
          <p:cNvSpPr>
            <a:spLocks noChangeArrowheads="1"/>
          </p:cNvSpPr>
          <p:nvPr/>
        </p:nvSpPr>
        <p:spPr bwMode="auto">
          <a:xfrm>
            <a:off x="1369442" y="7185992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33" name="AutoShape 10"/>
          <p:cNvCxnSpPr>
            <a:cxnSpLocks noChangeShapeType="1"/>
            <a:stCxn id="30" idx="3"/>
            <a:endCxn id="32" idx="0"/>
          </p:cNvCxnSpPr>
          <p:nvPr/>
        </p:nvCxnSpPr>
        <p:spPr bwMode="auto">
          <a:xfrm flipH="1">
            <a:off x="1542479" y="6946280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11"/>
          <p:cNvCxnSpPr>
            <a:cxnSpLocks noChangeShapeType="1"/>
            <a:stCxn id="30" idx="5"/>
            <a:endCxn id="31" idx="0"/>
          </p:cNvCxnSpPr>
          <p:nvPr/>
        </p:nvCxnSpPr>
        <p:spPr bwMode="auto">
          <a:xfrm>
            <a:off x="2120329" y="6946280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Oval 12"/>
          <p:cNvSpPr>
            <a:spLocks noChangeArrowheads="1"/>
          </p:cNvSpPr>
          <p:nvPr/>
        </p:nvSpPr>
        <p:spPr bwMode="auto">
          <a:xfrm>
            <a:off x="1790129" y="7755905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" name="Oval 13"/>
          <p:cNvSpPr>
            <a:spLocks noChangeArrowheads="1"/>
          </p:cNvSpPr>
          <p:nvPr/>
        </p:nvSpPr>
        <p:spPr bwMode="auto">
          <a:xfrm>
            <a:off x="875729" y="7755905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37" name="AutoShape 14"/>
          <p:cNvCxnSpPr>
            <a:cxnSpLocks noChangeShapeType="1"/>
            <a:stCxn id="32" idx="3"/>
            <a:endCxn id="36" idx="0"/>
          </p:cNvCxnSpPr>
          <p:nvPr/>
        </p:nvCxnSpPr>
        <p:spPr bwMode="auto">
          <a:xfrm flipH="1">
            <a:off x="1048767" y="7479680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AutoShape 15"/>
          <p:cNvCxnSpPr>
            <a:cxnSpLocks noChangeShapeType="1"/>
            <a:stCxn id="32" idx="5"/>
            <a:endCxn id="35" idx="0"/>
          </p:cNvCxnSpPr>
          <p:nvPr/>
        </p:nvCxnSpPr>
        <p:spPr bwMode="auto">
          <a:xfrm>
            <a:off x="1663129" y="7479680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Oval 16"/>
          <p:cNvSpPr>
            <a:spLocks noChangeArrowheads="1"/>
          </p:cNvSpPr>
          <p:nvPr/>
        </p:nvSpPr>
        <p:spPr bwMode="auto">
          <a:xfrm>
            <a:off x="4859561" y="653114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0" name="Oval 17"/>
          <p:cNvSpPr>
            <a:spLocks noChangeArrowheads="1"/>
          </p:cNvSpPr>
          <p:nvPr/>
        </p:nvSpPr>
        <p:spPr bwMode="auto">
          <a:xfrm>
            <a:off x="5316761" y="706454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" name="Oval 18"/>
          <p:cNvSpPr>
            <a:spLocks noChangeArrowheads="1"/>
          </p:cNvSpPr>
          <p:nvPr/>
        </p:nvSpPr>
        <p:spPr bwMode="auto">
          <a:xfrm>
            <a:off x="4402361" y="7064548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2" name="AutoShape 19"/>
          <p:cNvCxnSpPr>
            <a:cxnSpLocks noChangeShapeType="1"/>
            <a:stCxn id="39" idx="3"/>
            <a:endCxn id="41" idx="0"/>
          </p:cNvCxnSpPr>
          <p:nvPr/>
        </p:nvCxnSpPr>
        <p:spPr bwMode="auto">
          <a:xfrm flipH="1">
            <a:off x="4575398" y="6824836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20"/>
          <p:cNvCxnSpPr>
            <a:cxnSpLocks noChangeShapeType="1"/>
            <a:stCxn id="39" idx="5"/>
            <a:endCxn id="40" idx="0"/>
          </p:cNvCxnSpPr>
          <p:nvPr/>
        </p:nvCxnSpPr>
        <p:spPr bwMode="auto">
          <a:xfrm>
            <a:off x="5153248" y="6824836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Oval 21"/>
          <p:cNvSpPr>
            <a:spLocks noChangeArrowheads="1"/>
          </p:cNvSpPr>
          <p:nvPr/>
        </p:nvSpPr>
        <p:spPr bwMode="auto">
          <a:xfrm>
            <a:off x="4823048" y="7634461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5" name="Oval 22"/>
          <p:cNvSpPr>
            <a:spLocks noChangeArrowheads="1"/>
          </p:cNvSpPr>
          <p:nvPr/>
        </p:nvSpPr>
        <p:spPr bwMode="auto">
          <a:xfrm>
            <a:off x="3908648" y="7634461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6" name="AutoShape 23"/>
          <p:cNvCxnSpPr>
            <a:cxnSpLocks noChangeShapeType="1"/>
            <a:stCxn id="41" idx="3"/>
            <a:endCxn id="45" idx="0"/>
          </p:cNvCxnSpPr>
          <p:nvPr/>
        </p:nvCxnSpPr>
        <p:spPr bwMode="auto">
          <a:xfrm flipH="1">
            <a:off x="4081686" y="7358236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297CD48E-33D1-423C-A222-D0C2FDAD36D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A84BA667-5AC2-461E-ABE9-9FCE48B675E7}" type="slidenum">
              <a:rPr lang="en-US" altLang="zh-CN" sz="1050"/>
            </a:fld>
            <a:endParaRPr lang="en-US" altLang="zh-CN" sz="105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393432" y="467544"/>
            <a:ext cx="6131912" cy="1767416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1 Removal = 1 Addition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528648"/>
            <a:ext cx="5659041" cy="278630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Every time we do a </a:t>
            </a:r>
            <a:r>
              <a:rPr lang="en-US" altLang="zh-CN" dirty="0" err="1">
                <a:ea typeface="宋体" pitchFamily="2" charset="-122"/>
              </a:rPr>
              <a:t>DeleteMax</a:t>
            </a:r>
            <a:r>
              <a:rPr lang="en-US" altLang="zh-CN" dirty="0">
                <a:ea typeface="宋体" pitchFamily="2" charset="-122"/>
              </a:rPr>
              <a:t>, the heap gets smaller by one node, and we have one more node to store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Store the data at the end of the heap array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Not "in the heap" but it is in the heap array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471488" y="6335449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N = 4</a:t>
            </a:r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408606" y="5346407"/>
            <a:ext cx="827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value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393432" y="5759157"/>
            <a:ext cx="846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index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1287478" y="533373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897078" y="533373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2506678" y="533373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3116278" y="533373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725878" y="5333737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2" name="Text Box 12"/>
          <p:cNvSpPr txBox="1">
            <a:spLocks noChangeArrowheads="1"/>
          </p:cNvSpPr>
          <p:nvPr/>
        </p:nvSpPr>
        <p:spPr bwMode="auto">
          <a:xfrm>
            <a:off x="4335478" y="533373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4945078" y="533373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4" name="Text Box 14"/>
          <p:cNvSpPr txBox="1">
            <a:spLocks noChangeArrowheads="1"/>
          </p:cNvSpPr>
          <p:nvPr/>
        </p:nvSpPr>
        <p:spPr bwMode="auto">
          <a:xfrm>
            <a:off x="5554678" y="533373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12874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12874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7" name="Text Box 17"/>
          <p:cNvSpPr txBox="1">
            <a:spLocks noChangeArrowheads="1"/>
          </p:cNvSpPr>
          <p:nvPr/>
        </p:nvSpPr>
        <p:spPr bwMode="auto">
          <a:xfrm>
            <a:off x="18970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8" name="Text Box 18"/>
          <p:cNvSpPr txBox="1">
            <a:spLocks noChangeArrowheads="1"/>
          </p:cNvSpPr>
          <p:nvPr/>
        </p:nvSpPr>
        <p:spPr bwMode="auto">
          <a:xfrm>
            <a:off x="25066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9" name="Text Box 19"/>
          <p:cNvSpPr txBox="1">
            <a:spLocks noChangeArrowheads="1"/>
          </p:cNvSpPr>
          <p:nvPr/>
        </p:nvSpPr>
        <p:spPr bwMode="auto">
          <a:xfrm>
            <a:off x="31162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0" name="Text Box 20"/>
          <p:cNvSpPr txBox="1">
            <a:spLocks noChangeArrowheads="1"/>
          </p:cNvSpPr>
          <p:nvPr/>
        </p:nvSpPr>
        <p:spPr bwMode="auto">
          <a:xfrm>
            <a:off x="37258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43354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4945078" y="579093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 7    8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3" name="Oval 23"/>
          <p:cNvSpPr>
            <a:spLocks noChangeArrowheads="1"/>
          </p:cNvSpPr>
          <p:nvPr/>
        </p:nvSpPr>
        <p:spPr bwMode="auto">
          <a:xfrm>
            <a:off x="3775544" y="67926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4" name="Oval 24"/>
          <p:cNvSpPr>
            <a:spLocks noChangeArrowheads="1"/>
          </p:cNvSpPr>
          <p:nvPr/>
        </p:nvSpPr>
        <p:spPr bwMode="auto">
          <a:xfrm>
            <a:off x="4232744" y="73260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5" name="Oval 25"/>
          <p:cNvSpPr>
            <a:spLocks noChangeArrowheads="1"/>
          </p:cNvSpPr>
          <p:nvPr/>
        </p:nvSpPr>
        <p:spPr bwMode="auto">
          <a:xfrm>
            <a:off x="3318344" y="732604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56" name="AutoShape 26"/>
          <p:cNvCxnSpPr>
            <a:cxnSpLocks noChangeShapeType="1"/>
            <a:stCxn id="53" idx="3"/>
            <a:endCxn id="55" idx="0"/>
          </p:cNvCxnSpPr>
          <p:nvPr/>
        </p:nvCxnSpPr>
        <p:spPr bwMode="auto">
          <a:xfrm flipH="1">
            <a:off x="3491381" y="7086337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27"/>
          <p:cNvCxnSpPr>
            <a:cxnSpLocks noChangeShapeType="1"/>
            <a:stCxn id="53" idx="5"/>
            <a:endCxn id="54" idx="0"/>
          </p:cNvCxnSpPr>
          <p:nvPr/>
        </p:nvCxnSpPr>
        <p:spPr bwMode="auto">
          <a:xfrm>
            <a:off x="4069231" y="7086337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Oval 28"/>
          <p:cNvSpPr>
            <a:spLocks noChangeArrowheads="1"/>
          </p:cNvSpPr>
          <p:nvPr/>
        </p:nvSpPr>
        <p:spPr bwMode="auto">
          <a:xfrm>
            <a:off x="3739031" y="7895962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9" name="Oval 29"/>
          <p:cNvSpPr>
            <a:spLocks noChangeArrowheads="1"/>
          </p:cNvSpPr>
          <p:nvPr/>
        </p:nvSpPr>
        <p:spPr bwMode="auto">
          <a:xfrm>
            <a:off x="2824631" y="7895962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60" name="AutoShape 30"/>
          <p:cNvCxnSpPr>
            <a:cxnSpLocks noChangeShapeType="1"/>
            <a:stCxn id="55" idx="3"/>
            <a:endCxn id="59" idx="0"/>
          </p:cNvCxnSpPr>
          <p:nvPr/>
        </p:nvCxnSpPr>
        <p:spPr bwMode="auto">
          <a:xfrm flipH="1">
            <a:off x="2997669" y="7619737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13577D7E-EEDC-4E63-A1E1-28BFF193035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560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56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E01D6BA0-B574-4ACA-81DD-AB3298B87861}" type="slidenum">
              <a:rPr lang="en-US" altLang="zh-CN" sz="1050"/>
            </a:fld>
            <a:endParaRPr lang="en-US" altLang="zh-CN" sz="105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Repeated </a:t>
            </a:r>
            <a:r>
              <a:rPr lang="en-US" altLang="zh-CN" dirty="0" err="1" smtClean="0">
                <a:ea typeface="宋体" pitchFamily="2" charset="-122"/>
              </a:rPr>
              <a:t>DeleteMax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729665" y="3653350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N = 3</a:t>
            </a:r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884959" y="273900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1494559" y="273900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6" name="Text Box 6"/>
          <p:cNvSpPr txBox="1">
            <a:spLocks noChangeArrowheads="1"/>
          </p:cNvSpPr>
          <p:nvPr/>
        </p:nvSpPr>
        <p:spPr bwMode="auto">
          <a:xfrm>
            <a:off x="2104159" y="273900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2713759" y="2739008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3323359" y="2739008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9" name="Text Box 9"/>
          <p:cNvSpPr txBox="1">
            <a:spLocks noChangeArrowheads="1"/>
          </p:cNvSpPr>
          <p:nvPr/>
        </p:nvSpPr>
        <p:spPr bwMode="auto">
          <a:xfrm>
            <a:off x="3932959" y="273900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Text Box 10"/>
          <p:cNvSpPr txBox="1">
            <a:spLocks noChangeArrowheads="1"/>
          </p:cNvSpPr>
          <p:nvPr/>
        </p:nvSpPr>
        <p:spPr bwMode="auto">
          <a:xfrm>
            <a:off x="4542559" y="273900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1" name="Text Box 11"/>
          <p:cNvSpPr txBox="1">
            <a:spLocks noChangeArrowheads="1"/>
          </p:cNvSpPr>
          <p:nvPr/>
        </p:nvSpPr>
        <p:spPr bwMode="auto">
          <a:xfrm>
            <a:off x="5152159" y="273900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2" name="Text Box 12"/>
          <p:cNvSpPr txBox="1">
            <a:spLocks noChangeArrowheads="1"/>
          </p:cNvSpPr>
          <p:nvPr/>
        </p:nvSpPr>
        <p:spPr bwMode="auto">
          <a:xfrm>
            <a:off x="8849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3" name="Text Box 13"/>
          <p:cNvSpPr txBox="1">
            <a:spLocks noChangeArrowheads="1"/>
          </p:cNvSpPr>
          <p:nvPr/>
        </p:nvSpPr>
        <p:spPr bwMode="auto">
          <a:xfrm>
            <a:off x="8849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4" name="Text Box 14"/>
          <p:cNvSpPr txBox="1">
            <a:spLocks noChangeArrowheads="1"/>
          </p:cNvSpPr>
          <p:nvPr/>
        </p:nvSpPr>
        <p:spPr bwMode="auto">
          <a:xfrm>
            <a:off x="14945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5" name="Text Box 15"/>
          <p:cNvSpPr txBox="1">
            <a:spLocks noChangeArrowheads="1"/>
          </p:cNvSpPr>
          <p:nvPr/>
        </p:nvSpPr>
        <p:spPr bwMode="auto">
          <a:xfrm>
            <a:off x="21041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6" name="Text Box 16"/>
          <p:cNvSpPr txBox="1">
            <a:spLocks noChangeArrowheads="1"/>
          </p:cNvSpPr>
          <p:nvPr/>
        </p:nvSpPr>
        <p:spPr bwMode="auto">
          <a:xfrm>
            <a:off x="27137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7" name="Text Box 17"/>
          <p:cNvSpPr txBox="1">
            <a:spLocks noChangeArrowheads="1"/>
          </p:cNvSpPr>
          <p:nvPr/>
        </p:nvSpPr>
        <p:spPr bwMode="auto">
          <a:xfrm>
            <a:off x="33233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8" name="Text Box 18"/>
          <p:cNvSpPr txBox="1">
            <a:spLocks noChangeArrowheads="1"/>
          </p:cNvSpPr>
          <p:nvPr/>
        </p:nvSpPr>
        <p:spPr bwMode="auto">
          <a:xfrm>
            <a:off x="39329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9" name="Text Box 19"/>
          <p:cNvSpPr txBox="1">
            <a:spLocks noChangeArrowheads="1"/>
          </p:cNvSpPr>
          <p:nvPr/>
        </p:nvSpPr>
        <p:spPr bwMode="auto">
          <a:xfrm>
            <a:off x="4542559" y="319620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 7    8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0" name="Oval 20"/>
          <p:cNvSpPr>
            <a:spLocks noChangeArrowheads="1"/>
          </p:cNvSpPr>
          <p:nvPr/>
        </p:nvSpPr>
        <p:spPr bwMode="auto">
          <a:xfrm>
            <a:off x="3421888" y="365780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1" name="Oval 21"/>
          <p:cNvSpPr>
            <a:spLocks noChangeArrowheads="1"/>
          </p:cNvSpPr>
          <p:nvPr/>
        </p:nvSpPr>
        <p:spPr bwMode="auto">
          <a:xfrm>
            <a:off x="3879088" y="419120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2" name="Oval 22"/>
          <p:cNvSpPr>
            <a:spLocks noChangeArrowheads="1"/>
          </p:cNvSpPr>
          <p:nvPr/>
        </p:nvSpPr>
        <p:spPr bwMode="auto">
          <a:xfrm>
            <a:off x="2964688" y="4191209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73" name="AutoShape 23"/>
          <p:cNvCxnSpPr>
            <a:cxnSpLocks noChangeShapeType="1"/>
            <a:stCxn id="70" idx="3"/>
            <a:endCxn id="72" idx="0"/>
          </p:cNvCxnSpPr>
          <p:nvPr/>
        </p:nvCxnSpPr>
        <p:spPr bwMode="auto">
          <a:xfrm flipH="1">
            <a:off x="3137725" y="3951497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24"/>
          <p:cNvCxnSpPr>
            <a:cxnSpLocks noChangeShapeType="1"/>
            <a:stCxn id="70" idx="5"/>
            <a:endCxn id="71" idx="0"/>
          </p:cNvCxnSpPr>
          <p:nvPr/>
        </p:nvCxnSpPr>
        <p:spPr bwMode="auto">
          <a:xfrm>
            <a:off x="3715575" y="3951497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Oval 25"/>
          <p:cNvSpPr>
            <a:spLocks noChangeArrowheads="1"/>
          </p:cNvSpPr>
          <p:nvPr/>
        </p:nvSpPr>
        <p:spPr bwMode="auto">
          <a:xfrm>
            <a:off x="3385375" y="4761122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6" name="Oval 26"/>
          <p:cNvSpPr>
            <a:spLocks noChangeArrowheads="1"/>
          </p:cNvSpPr>
          <p:nvPr/>
        </p:nvSpPr>
        <p:spPr bwMode="auto">
          <a:xfrm>
            <a:off x="2470975" y="4761122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7" name="Text Box 28"/>
          <p:cNvSpPr txBox="1">
            <a:spLocks noChangeArrowheads="1"/>
          </p:cNvSpPr>
          <p:nvPr/>
        </p:nvSpPr>
        <p:spPr bwMode="auto">
          <a:xfrm>
            <a:off x="711232" y="6611787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N = 2</a:t>
            </a:r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78" name="Text Box 29"/>
          <p:cNvSpPr txBox="1">
            <a:spLocks noChangeArrowheads="1"/>
          </p:cNvSpPr>
          <p:nvPr/>
        </p:nvSpPr>
        <p:spPr bwMode="auto">
          <a:xfrm>
            <a:off x="866807" y="569738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9" name="Text Box 30"/>
          <p:cNvSpPr txBox="1">
            <a:spLocks noChangeArrowheads="1"/>
          </p:cNvSpPr>
          <p:nvPr/>
        </p:nvSpPr>
        <p:spPr bwMode="auto">
          <a:xfrm>
            <a:off x="1476407" y="569738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0" name="Text Box 31"/>
          <p:cNvSpPr txBox="1">
            <a:spLocks noChangeArrowheads="1"/>
          </p:cNvSpPr>
          <p:nvPr/>
        </p:nvSpPr>
        <p:spPr bwMode="auto">
          <a:xfrm>
            <a:off x="2086007" y="5697387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1" name="Text Box 32"/>
          <p:cNvSpPr txBox="1">
            <a:spLocks noChangeArrowheads="1"/>
          </p:cNvSpPr>
          <p:nvPr/>
        </p:nvSpPr>
        <p:spPr bwMode="auto">
          <a:xfrm>
            <a:off x="2695607" y="5697387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2" name="Text Box 33"/>
          <p:cNvSpPr txBox="1">
            <a:spLocks noChangeArrowheads="1"/>
          </p:cNvSpPr>
          <p:nvPr/>
        </p:nvSpPr>
        <p:spPr bwMode="auto">
          <a:xfrm>
            <a:off x="3305207" y="5697387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3" name="Text Box 34"/>
          <p:cNvSpPr txBox="1">
            <a:spLocks noChangeArrowheads="1"/>
          </p:cNvSpPr>
          <p:nvPr/>
        </p:nvSpPr>
        <p:spPr bwMode="auto">
          <a:xfrm>
            <a:off x="3914807" y="569738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4" name="Text Box 35"/>
          <p:cNvSpPr txBox="1">
            <a:spLocks noChangeArrowheads="1"/>
          </p:cNvSpPr>
          <p:nvPr/>
        </p:nvSpPr>
        <p:spPr bwMode="auto">
          <a:xfrm>
            <a:off x="4524407" y="569738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5" name="Text Box 36"/>
          <p:cNvSpPr txBox="1">
            <a:spLocks noChangeArrowheads="1"/>
          </p:cNvSpPr>
          <p:nvPr/>
        </p:nvSpPr>
        <p:spPr bwMode="auto">
          <a:xfrm>
            <a:off x="5134007" y="5697387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6" name="Text Box 37"/>
          <p:cNvSpPr txBox="1">
            <a:spLocks noChangeArrowheads="1"/>
          </p:cNvSpPr>
          <p:nvPr/>
        </p:nvSpPr>
        <p:spPr bwMode="auto">
          <a:xfrm>
            <a:off x="8668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7" name="Text Box 38"/>
          <p:cNvSpPr txBox="1">
            <a:spLocks noChangeArrowheads="1"/>
          </p:cNvSpPr>
          <p:nvPr/>
        </p:nvSpPr>
        <p:spPr bwMode="auto">
          <a:xfrm>
            <a:off x="8668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8" name="Text Box 39"/>
          <p:cNvSpPr txBox="1">
            <a:spLocks noChangeArrowheads="1"/>
          </p:cNvSpPr>
          <p:nvPr/>
        </p:nvSpPr>
        <p:spPr bwMode="auto">
          <a:xfrm>
            <a:off x="14764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9" name="Text Box 40"/>
          <p:cNvSpPr txBox="1">
            <a:spLocks noChangeArrowheads="1"/>
          </p:cNvSpPr>
          <p:nvPr/>
        </p:nvSpPr>
        <p:spPr bwMode="auto">
          <a:xfrm>
            <a:off x="20860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0" name="Text Box 41"/>
          <p:cNvSpPr txBox="1">
            <a:spLocks noChangeArrowheads="1"/>
          </p:cNvSpPr>
          <p:nvPr/>
        </p:nvSpPr>
        <p:spPr bwMode="auto">
          <a:xfrm>
            <a:off x="26956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1" name="Text Box 42"/>
          <p:cNvSpPr txBox="1">
            <a:spLocks noChangeArrowheads="1"/>
          </p:cNvSpPr>
          <p:nvPr/>
        </p:nvSpPr>
        <p:spPr bwMode="auto">
          <a:xfrm>
            <a:off x="33052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2" name="Text Box 43"/>
          <p:cNvSpPr txBox="1">
            <a:spLocks noChangeArrowheads="1"/>
          </p:cNvSpPr>
          <p:nvPr/>
        </p:nvSpPr>
        <p:spPr bwMode="auto">
          <a:xfrm>
            <a:off x="39148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3" name="Text Box 44"/>
          <p:cNvSpPr txBox="1">
            <a:spLocks noChangeArrowheads="1"/>
          </p:cNvSpPr>
          <p:nvPr/>
        </p:nvSpPr>
        <p:spPr bwMode="auto">
          <a:xfrm>
            <a:off x="4524407" y="6154587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 7    8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4" name="Oval 45"/>
          <p:cNvSpPr>
            <a:spLocks noChangeArrowheads="1"/>
          </p:cNvSpPr>
          <p:nvPr/>
        </p:nvSpPr>
        <p:spPr bwMode="auto">
          <a:xfrm>
            <a:off x="3323359" y="6796715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5" name="Oval 46"/>
          <p:cNvSpPr>
            <a:spLocks noChangeArrowheads="1"/>
          </p:cNvSpPr>
          <p:nvPr/>
        </p:nvSpPr>
        <p:spPr bwMode="auto">
          <a:xfrm>
            <a:off x="3780559" y="7330115"/>
            <a:ext cx="344487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6" name="Oval 47"/>
          <p:cNvSpPr>
            <a:spLocks noChangeArrowheads="1"/>
          </p:cNvSpPr>
          <p:nvPr/>
        </p:nvSpPr>
        <p:spPr bwMode="auto">
          <a:xfrm>
            <a:off x="2866159" y="7330115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97" name="AutoShape 48"/>
          <p:cNvCxnSpPr>
            <a:cxnSpLocks noChangeShapeType="1"/>
            <a:stCxn id="94" idx="3"/>
            <a:endCxn id="96" idx="0"/>
          </p:cNvCxnSpPr>
          <p:nvPr/>
        </p:nvCxnSpPr>
        <p:spPr bwMode="auto">
          <a:xfrm flipH="1">
            <a:off x="3039196" y="7090403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" name="Oval 50"/>
          <p:cNvSpPr>
            <a:spLocks noChangeArrowheads="1"/>
          </p:cNvSpPr>
          <p:nvPr/>
        </p:nvSpPr>
        <p:spPr bwMode="auto">
          <a:xfrm>
            <a:off x="3286846" y="7900028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2372446" y="7900028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7ED9096E-1CB0-43E5-88C1-E216ADE2ACB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C693DB98-9A12-42D4-81D3-5BCF3A17D8EB}" type="slidenum">
              <a:rPr lang="en-US" altLang="zh-CN" sz="1050"/>
            </a:fld>
            <a:endParaRPr lang="en-US" altLang="zh-CN" sz="105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 Heap Sort is In-place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608630"/>
            <a:ext cx="5659041" cy="156332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After all the </a:t>
            </a:r>
            <a:r>
              <a:rPr lang="en-US" altLang="zh-CN" dirty="0" err="1">
                <a:ea typeface="宋体" pitchFamily="2" charset="-122"/>
              </a:rPr>
              <a:t>DeleteMaxs</a:t>
            </a:r>
            <a:r>
              <a:rPr lang="en-US" altLang="zh-CN" dirty="0">
                <a:ea typeface="宋体" pitchFamily="2" charset="-122"/>
              </a:rPr>
              <a:t>, the heap is gone but the array is full and is in sorted order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514350" y="5242746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N = 0</a:t>
            </a:r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548712" y="4262818"/>
            <a:ext cx="827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value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533537" y="4675568"/>
            <a:ext cx="846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index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427584" y="4250148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2037184" y="4250148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2646784" y="4250148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3256384" y="4250148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3865984" y="4250148"/>
            <a:ext cx="609600" cy="4572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9" name="Text Box 12"/>
          <p:cNvSpPr txBox="1">
            <a:spLocks noChangeArrowheads="1"/>
          </p:cNvSpPr>
          <p:nvPr/>
        </p:nvSpPr>
        <p:spPr bwMode="auto">
          <a:xfrm>
            <a:off x="4475584" y="425014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0" name="Text Box 13"/>
          <p:cNvSpPr txBox="1">
            <a:spLocks noChangeArrowheads="1"/>
          </p:cNvSpPr>
          <p:nvPr/>
        </p:nvSpPr>
        <p:spPr bwMode="auto">
          <a:xfrm>
            <a:off x="5085184" y="425014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" name="Text Box 14"/>
          <p:cNvSpPr txBox="1">
            <a:spLocks noChangeArrowheads="1"/>
          </p:cNvSpPr>
          <p:nvPr/>
        </p:nvSpPr>
        <p:spPr bwMode="auto">
          <a:xfrm>
            <a:off x="5694784" y="4250148"/>
            <a:ext cx="609600" cy="4572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2" name="Text Box 15"/>
          <p:cNvSpPr txBox="1">
            <a:spLocks noChangeArrowheads="1"/>
          </p:cNvSpPr>
          <p:nvPr/>
        </p:nvSpPr>
        <p:spPr bwMode="auto">
          <a:xfrm>
            <a:off x="56947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14275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4" name="Text Box 17"/>
          <p:cNvSpPr txBox="1">
            <a:spLocks noChangeArrowheads="1"/>
          </p:cNvSpPr>
          <p:nvPr/>
        </p:nvSpPr>
        <p:spPr bwMode="auto">
          <a:xfrm>
            <a:off x="20371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26467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6" name="Text Box 19"/>
          <p:cNvSpPr txBox="1">
            <a:spLocks noChangeArrowheads="1"/>
          </p:cNvSpPr>
          <p:nvPr/>
        </p:nvSpPr>
        <p:spPr bwMode="auto">
          <a:xfrm>
            <a:off x="32563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7" name="Text Box 20"/>
          <p:cNvSpPr txBox="1">
            <a:spLocks noChangeArrowheads="1"/>
          </p:cNvSpPr>
          <p:nvPr/>
        </p:nvSpPr>
        <p:spPr bwMode="auto">
          <a:xfrm>
            <a:off x="38659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44755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5085184" y="470734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0" name="Oval 23"/>
          <p:cNvSpPr>
            <a:spLocks noChangeArrowheads="1"/>
          </p:cNvSpPr>
          <p:nvPr/>
        </p:nvSpPr>
        <p:spPr bwMode="auto">
          <a:xfrm>
            <a:off x="3640558" y="6108822"/>
            <a:ext cx="344488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1" name="Oval 24"/>
          <p:cNvSpPr>
            <a:spLocks noChangeArrowheads="1"/>
          </p:cNvSpPr>
          <p:nvPr/>
        </p:nvSpPr>
        <p:spPr bwMode="auto">
          <a:xfrm>
            <a:off x="4097758" y="6642222"/>
            <a:ext cx="344488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2" name="Oval 25"/>
          <p:cNvSpPr>
            <a:spLocks noChangeArrowheads="1"/>
          </p:cNvSpPr>
          <p:nvPr/>
        </p:nvSpPr>
        <p:spPr bwMode="auto">
          <a:xfrm>
            <a:off x="3183358" y="6642222"/>
            <a:ext cx="344488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3604046" y="7212135"/>
            <a:ext cx="344487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4" name="Oval 27"/>
          <p:cNvSpPr>
            <a:spLocks noChangeArrowheads="1"/>
          </p:cNvSpPr>
          <p:nvPr/>
        </p:nvSpPr>
        <p:spPr bwMode="auto">
          <a:xfrm>
            <a:off x="2689646" y="7212135"/>
            <a:ext cx="344487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73E710D9-152D-4D18-8CD1-B6B341E8488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13C795BC-2350-421D-802C-61CDB272A2BF}" type="slidenum">
              <a:rPr lang="en-US" altLang="zh-CN" sz="1050"/>
            </a:fld>
            <a:endParaRPr lang="en-US" altLang="zh-CN" sz="105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Heapsort: Analysis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699792"/>
            <a:ext cx="5829300" cy="3986758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Running time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time to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build</a:t>
            </a:r>
            <a:r>
              <a:rPr lang="en-US" altLang="zh-CN" dirty="0">
                <a:ea typeface="宋体" pitchFamily="2" charset="-122"/>
              </a:rPr>
              <a:t> max-heap is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O(N)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time for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N </a:t>
            </a:r>
            <a:r>
              <a:rPr lang="en-US" altLang="zh-CN" dirty="0" err="1">
                <a:solidFill>
                  <a:srgbClr val="FF0000"/>
                </a:solidFill>
                <a:ea typeface="宋体" pitchFamily="2" charset="-122"/>
              </a:rPr>
              <a:t>DeleteMax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operations is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N O(log N)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total time is 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O(N log N)</a:t>
            </a:r>
            <a:endParaRPr lang="en-US" altLang="zh-CN" b="1" dirty="0">
              <a:solidFill>
                <a:srgbClr val="FF0000"/>
              </a:solidFill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Can also show that running time is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(N log N) for some inputs, </a:t>
            </a:r>
            <a:endParaRPr lang="en-US" altLang="zh-CN" dirty="0">
              <a:ea typeface="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so </a:t>
            </a:r>
            <a:r>
              <a:rPr lang="en-US" altLang="zh-CN" i="1" dirty="0">
                <a:ea typeface="宋体" pitchFamily="2" charset="-122"/>
                <a:sym typeface="Symbol" panose="05050102010706020507" pitchFamily="18" charset="2"/>
              </a:rPr>
              <a:t>worst case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 is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itchFamily="2" charset="-122"/>
                <a:sym typeface="Symbol" panose="05050102010706020507" pitchFamily="18" charset="2"/>
              </a:rPr>
              <a:t>(N log N)</a:t>
            </a:r>
            <a:endParaRPr lang="en-US" altLang="zh-CN" b="1" dirty="0">
              <a:ea typeface="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i="1" dirty="0">
                <a:ea typeface="宋体" pitchFamily="2" charset="-122"/>
                <a:sym typeface="Symbol" panose="05050102010706020507" pitchFamily="18" charset="2"/>
              </a:rPr>
              <a:t>Average case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 running time is also O(N log N)</a:t>
            </a:r>
            <a:endParaRPr lang="en-US" altLang="zh-CN" dirty="0"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Heapsort is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  <a:sym typeface="Symbol" panose="05050102010706020507" pitchFamily="18" charset="2"/>
              </a:rPr>
              <a:t>in-place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 but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  <a:sym typeface="Symbol" panose="05050102010706020507" pitchFamily="18" charset="2"/>
              </a:rPr>
              <a:t>not stable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(why?)</a:t>
            </a:r>
            <a:endParaRPr lang="en-US" altLang="zh-CN" dirty="0"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D7FFA108-7FF5-4832-8BFD-ECA30D1533C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7E3813D0-C38E-4CE4-BF63-4137F47304ED}" type="slidenum">
              <a:rPr lang="en-US" altLang="zh-CN" sz="1050"/>
            </a:fld>
            <a:endParaRPr lang="en-US" altLang="zh-CN" sz="105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“Divide and Conquer”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altLang="zh-CN" dirty="0">
                <a:ea typeface="宋体" pitchFamily="2" charset="-122"/>
              </a:rPr>
              <a:t>Very important strategy in computer science:</a:t>
            </a:r>
            <a:endParaRPr lang="en-US" altLang="zh-CN" dirty="0">
              <a:ea typeface="宋体" pitchFamily="2" charset="-122"/>
            </a:endParaRPr>
          </a:p>
          <a:p>
            <a:pPr marL="628650" lvl="1" indent="-285750"/>
            <a:r>
              <a:rPr lang="en-US" altLang="zh-CN" dirty="0">
                <a:ea typeface="宋体" pitchFamily="2" charset="-122"/>
              </a:rPr>
              <a:t>Divide problem into smaller parts</a:t>
            </a:r>
            <a:endParaRPr lang="en-US" altLang="zh-CN" dirty="0">
              <a:ea typeface="宋体" pitchFamily="2" charset="-122"/>
            </a:endParaRPr>
          </a:p>
          <a:p>
            <a:pPr marL="628650" lvl="1" indent="-285750"/>
            <a:r>
              <a:rPr lang="en-US" altLang="zh-CN" dirty="0">
                <a:ea typeface="宋体" pitchFamily="2" charset="-122"/>
              </a:rPr>
              <a:t>Independently solve the parts</a:t>
            </a:r>
            <a:endParaRPr lang="en-US" altLang="zh-CN" dirty="0">
              <a:ea typeface="宋体" pitchFamily="2" charset="-122"/>
            </a:endParaRPr>
          </a:p>
          <a:p>
            <a:pPr marL="628650" lvl="1" indent="-285750"/>
            <a:r>
              <a:rPr lang="en-US" altLang="zh-CN" dirty="0">
                <a:ea typeface="宋体" pitchFamily="2" charset="-122"/>
              </a:rPr>
              <a:t>Combine these solutions to get overall solution</a:t>
            </a:r>
            <a:endParaRPr lang="en-US" altLang="zh-CN" dirty="0">
              <a:ea typeface="宋体" pitchFamily="2" charset="-122"/>
            </a:endParaRPr>
          </a:p>
          <a:p>
            <a:pPr marL="342900" indent="-342900"/>
            <a:r>
              <a:rPr lang="en-US" altLang="zh-CN" b="1" dirty="0">
                <a:solidFill>
                  <a:srgbClr val="0000FF"/>
                </a:solidFill>
                <a:ea typeface="宋体" pitchFamily="2" charset="-122"/>
              </a:rPr>
              <a:t>Idea 1</a:t>
            </a:r>
            <a:r>
              <a:rPr lang="en-US" altLang="zh-CN" dirty="0">
                <a:ea typeface="宋体" pitchFamily="2" charset="-122"/>
              </a:rPr>
              <a:t>: Divide array into two halves, </a:t>
            </a:r>
            <a:r>
              <a:rPr lang="en-US" altLang="zh-CN" i="1" dirty="0">
                <a:ea typeface="宋体" pitchFamily="2" charset="-122"/>
              </a:rPr>
              <a:t>recursively </a:t>
            </a:r>
            <a:r>
              <a:rPr lang="en-US" altLang="zh-CN" dirty="0">
                <a:ea typeface="宋体" pitchFamily="2" charset="-122"/>
              </a:rPr>
              <a:t>sort left and right halves, then </a:t>
            </a:r>
            <a:r>
              <a:rPr lang="en-US" altLang="zh-CN" i="1" dirty="0">
                <a:ea typeface="宋体" pitchFamily="2" charset="-122"/>
              </a:rPr>
              <a:t>merge</a:t>
            </a:r>
            <a:r>
              <a:rPr lang="en-US" altLang="zh-CN" dirty="0">
                <a:ea typeface="宋体" pitchFamily="2" charset="-122"/>
              </a:rPr>
              <a:t> two halves </a:t>
            </a:r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 </a:t>
            </a:r>
            <a:r>
              <a:rPr lang="en-US" altLang="zh-CN" dirty="0" err="1">
                <a:solidFill>
                  <a:srgbClr val="0000FF"/>
                </a:solidFill>
                <a:ea typeface="宋体" pitchFamily="2" charset="-122"/>
                <a:sym typeface="Wingdings" panose="05000000000000000000" pitchFamily="2" charset="2"/>
              </a:rPr>
              <a:t>Mergesort</a:t>
            </a:r>
            <a:endParaRPr lang="en-US" altLang="zh-CN" dirty="0">
              <a:solidFill>
                <a:srgbClr val="0000FF"/>
              </a:solidFill>
              <a:ea typeface="宋体" pitchFamily="2" charset="-122"/>
              <a:sym typeface="Wingdings" panose="05000000000000000000" pitchFamily="2" charset="2"/>
            </a:endParaRPr>
          </a:p>
          <a:p>
            <a:pPr marL="342900" indent="-342900"/>
            <a:r>
              <a:rPr lang="en-US" altLang="zh-CN" b="1" dirty="0">
                <a:solidFill>
                  <a:srgbClr val="0000FF"/>
                </a:solidFill>
                <a:ea typeface="宋体" pitchFamily="2" charset="-122"/>
                <a:sym typeface="Wingdings" panose="05000000000000000000" pitchFamily="2" charset="2"/>
              </a:rPr>
              <a:t>Idea 2 : </a:t>
            </a:r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Partition array into items that are “small” and items that are “large”, then recursively sort the two sets 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  <a:sym typeface="Wingdings" panose="05000000000000000000" pitchFamily="2" charset="2"/>
              </a:rPr>
              <a:t>Quicksort</a:t>
            </a:r>
            <a:r>
              <a:rPr lang="en-US" altLang="zh-CN" dirty="0">
                <a:solidFill>
                  <a:schemeClr val="accent2"/>
                </a:solidFill>
                <a:ea typeface="宋体" pitchFamily="2" charset="-122"/>
                <a:sym typeface="Wingdings" panose="05000000000000000000" pitchFamily="2" charset="2"/>
              </a:rPr>
              <a:t> </a:t>
            </a:r>
            <a:endParaRPr lang="en-US" altLang="zh-CN" dirty="0">
              <a:solidFill>
                <a:schemeClr val="accent2"/>
              </a:solidFill>
              <a:ea typeface="宋体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1361FFC4-455A-4E8E-AB32-7C094AA009F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53F2223E-8F25-44ED-AF17-CDC8B090C2A4}" type="slidenum">
              <a:rPr lang="en-US" altLang="zh-CN" sz="1050"/>
            </a:fld>
            <a:endParaRPr lang="en-US" altLang="zh-CN" sz="105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478" y="2447336"/>
            <a:ext cx="5915025" cy="5801783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zh-CN" dirty="0" smtClean="0">
                <a:ea typeface="宋体" pitchFamily="2" charset="-122"/>
              </a:rPr>
              <a:t>Divide it in two at the midpoint</a:t>
            </a:r>
            <a:endParaRPr lang="en-US" altLang="zh-CN" dirty="0" smtClean="0">
              <a:ea typeface="宋体" pitchFamily="2" charset="-122"/>
            </a:endParaRPr>
          </a:p>
          <a:p>
            <a:pPr marL="342900" indent="-342900"/>
            <a:r>
              <a:rPr lang="en-US" altLang="zh-CN" dirty="0" smtClean="0">
                <a:ea typeface="宋体" pitchFamily="2" charset="-122"/>
              </a:rPr>
              <a:t>Conquer each side in turn (by recursively sorting)</a:t>
            </a:r>
            <a:endParaRPr lang="en-US" altLang="zh-CN" dirty="0" smtClean="0">
              <a:ea typeface="宋体" pitchFamily="2" charset="-122"/>
            </a:endParaRPr>
          </a:p>
          <a:p>
            <a:pPr marL="342900" indent="-342900"/>
            <a:r>
              <a:rPr lang="en-US" altLang="zh-CN" dirty="0" smtClean="0">
                <a:ea typeface="宋体" pitchFamily="2" charset="-122"/>
              </a:rPr>
              <a:t>Merge two halves together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9703" name="Line 4"/>
          <p:cNvSpPr>
            <a:spLocks noChangeShapeType="1"/>
          </p:cNvSpPr>
          <p:nvPr/>
        </p:nvSpPr>
        <p:spPr bwMode="auto">
          <a:xfrm flipH="1" flipV="1">
            <a:off x="3356992" y="5404098"/>
            <a:ext cx="628650" cy="51435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  <p:sp>
        <p:nvSpPr>
          <p:cNvPr id="29704" name="Rectangle 5"/>
          <p:cNvSpPr>
            <a:spLocks noChangeArrowheads="1"/>
          </p:cNvSpPr>
          <p:nvPr/>
        </p:nvSpPr>
        <p:spPr bwMode="auto">
          <a:xfrm>
            <a:off x="175679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05" name="Rectangle 6"/>
          <p:cNvSpPr>
            <a:spLocks noChangeArrowheads="1"/>
          </p:cNvSpPr>
          <p:nvPr/>
        </p:nvSpPr>
        <p:spPr bwMode="auto">
          <a:xfrm>
            <a:off x="215684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06" name="Rectangle 7"/>
          <p:cNvSpPr>
            <a:spLocks noChangeArrowheads="1"/>
          </p:cNvSpPr>
          <p:nvPr/>
        </p:nvSpPr>
        <p:spPr bwMode="auto">
          <a:xfrm>
            <a:off x="255689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9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07" name="Rectangle 8"/>
          <p:cNvSpPr>
            <a:spLocks noChangeArrowheads="1"/>
          </p:cNvSpPr>
          <p:nvPr/>
        </p:nvSpPr>
        <p:spPr bwMode="auto">
          <a:xfrm>
            <a:off x="295694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08" name="Rectangle 9"/>
          <p:cNvSpPr>
            <a:spLocks noChangeArrowheads="1"/>
          </p:cNvSpPr>
          <p:nvPr/>
        </p:nvSpPr>
        <p:spPr bwMode="auto">
          <a:xfrm>
            <a:off x="335699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09" name="Rectangle 10"/>
          <p:cNvSpPr>
            <a:spLocks noChangeArrowheads="1"/>
          </p:cNvSpPr>
          <p:nvPr/>
        </p:nvSpPr>
        <p:spPr bwMode="auto">
          <a:xfrm>
            <a:off x="375704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10" name="Rectangle 11"/>
          <p:cNvSpPr>
            <a:spLocks noChangeArrowheads="1"/>
          </p:cNvSpPr>
          <p:nvPr/>
        </p:nvSpPr>
        <p:spPr bwMode="auto">
          <a:xfrm>
            <a:off x="415709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11" name="Rectangle 12"/>
          <p:cNvSpPr>
            <a:spLocks noChangeArrowheads="1"/>
          </p:cNvSpPr>
          <p:nvPr/>
        </p:nvSpPr>
        <p:spPr bwMode="auto">
          <a:xfrm>
            <a:off x="4557142" y="5004048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12" name="Line 13"/>
          <p:cNvSpPr>
            <a:spLocks noChangeShapeType="1"/>
          </p:cNvSpPr>
          <p:nvPr/>
        </p:nvSpPr>
        <p:spPr bwMode="auto">
          <a:xfrm>
            <a:off x="3356992" y="4775448"/>
            <a:ext cx="0" cy="85725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anose="02000505000000020004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 err="1" smtClean="0">
                <a:solidFill>
                  <a:srgbClr val="FF0000"/>
                </a:solidFill>
                <a:ea typeface="宋体" pitchFamily="2" charset="-122"/>
              </a:rPr>
              <a:t>MergeSort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ECAB74FC-7B78-4843-AF31-C671C403A3D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74413190-C75F-4225-B380-2CE2D72B653A}" type="slidenum">
              <a:rPr lang="en-US" altLang="zh-CN" sz="1050"/>
            </a:fld>
            <a:endParaRPr lang="en-US" altLang="zh-CN" sz="105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宋体" pitchFamily="2" charset="-122"/>
              </a:rPr>
              <a:t>Mergesort</a:t>
            </a:r>
            <a:r>
              <a:rPr lang="en-US" altLang="zh-CN" dirty="0" smtClean="0">
                <a:ea typeface="宋体" pitchFamily="2" charset="-122"/>
              </a:rPr>
              <a:t> Example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1986991" y="3190206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8  2   9   4</a:t>
            </a:r>
            <a:endParaRPr lang="en-US" altLang="zh-CN" sz="2400" b="1" u="sng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Text Box 4"/>
          <p:cNvSpPr txBox="1">
            <a:spLocks noChangeArrowheads="1"/>
          </p:cNvSpPr>
          <p:nvPr/>
        </p:nvSpPr>
        <p:spPr bwMode="auto">
          <a:xfrm>
            <a:off x="4613305" y="3226718"/>
            <a:ext cx="147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5   3   1   6</a:t>
            </a:r>
            <a:endParaRPr lang="en-US" altLang="zh-CN" sz="2400" b="1" u="sng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1" name="Text Box 5"/>
          <p:cNvSpPr txBox="1">
            <a:spLocks noChangeArrowheads="1"/>
          </p:cNvSpPr>
          <p:nvPr/>
        </p:nvSpPr>
        <p:spPr bwMode="auto">
          <a:xfrm>
            <a:off x="1643762" y="4007049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8   2</a:t>
            </a:r>
            <a:endParaRPr lang="en-US" altLang="zh-CN" sz="2400" b="1" u="sng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2" name="Text Box 6"/>
          <p:cNvSpPr txBox="1">
            <a:spLocks noChangeArrowheads="1"/>
          </p:cNvSpPr>
          <p:nvPr/>
        </p:nvSpPr>
        <p:spPr bwMode="auto">
          <a:xfrm>
            <a:off x="5601672" y="3997524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1   6</a:t>
            </a:r>
            <a:endParaRPr lang="en-US" altLang="zh-CN" sz="2400" b="1" u="sng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3" name="Text Box 7"/>
          <p:cNvSpPr txBox="1">
            <a:spLocks noChangeArrowheads="1"/>
          </p:cNvSpPr>
          <p:nvPr/>
        </p:nvSpPr>
        <p:spPr bwMode="auto">
          <a:xfrm>
            <a:off x="2917266" y="3995936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9   4</a:t>
            </a:r>
            <a:endParaRPr lang="en-US" altLang="zh-CN" sz="2400" b="1" u="sng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4" name="Text Box 8"/>
          <p:cNvSpPr txBox="1">
            <a:spLocks noChangeArrowheads="1"/>
          </p:cNvSpPr>
          <p:nvPr/>
        </p:nvSpPr>
        <p:spPr bwMode="auto">
          <a:xfrm>
            <a:off x="4422805" y="4014986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5   3</a:t>
            </a:r>
            <a:endParaRPr lang="en-US" altLang="zh-CN" sz="2400" b="1" u="sng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5" name="Text Box 9"/>
          <p:cNvSpPr txBox="1">
            <a:spLocks noChangeArrowheads="1"/>
          </p:cNvSpPr>
          <p:nvPr/>
        </p:nvSpPr>
        <p:spPr bwMode="auto">
          <a:xfrm>
            <a:off x="1411317" y="4868664"/>
            <a:ext cx="51860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8</a:t>
            </a:r>
            <a:r>
              <a:rPr lang="en-US" altLang="zh-CN" sz="24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     </a:t>
            </a:r>
            <a:r>
              <a:rPr lang="en-US" altLang="zh-CN" sz="2400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    </a:t>
            </a:r>
            <a:r>
              <a:rPr lang="en-US" altLang="zh-CN" sz="2400" b="1" u="sng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en-US" altLang="zh-CN" sz="2400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     </a:t>
            </a:r>
            <a:r>
              <a:rPr lang="en-US" altLang="zh-CN" sz="2400" b="1" u="sng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9</a:t>
            </a:r>
            <a:r>
              <a:rPr lang="en-US" altLang="zh-CN" sz="2400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en-US" altLang="zh-CN" sz="24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4</a:t>
            </a:r>
            <a:r>
              <a:rPr lang="en-US" altLang="zh-CN" sz="24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	</a:t>
            </a:r>
            <a:r>
              <a:rPr lang="en-US" altLang="zh-CN" sz="2400" b="1" u="sng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5</a:t>
            </a:r>
            <a:r>
              <a:rPr lang="en-US" altLang="zh-CN" sz="2400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en-US" altLang="zh-CN" sz="2400" b="1" u="sng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3</a:t>
            </a:r>
            <a:r>
              <a:rPr lang="en-US" altLang="zh-CN" sz="2400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     </a:t>
            </a:r>
            <a:r>
              <a:rPr lang="en-US" altLang="zh-CN" sz="2400" b="1" u="sng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1</a:t>
            </a:r>
            <a:r>
              <a:rPr lang="en-US" altLang="zh-CN" sz="2400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en-US" altLang="zh-CN" sz="2400" b="1" u="sng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 b="1" u="sng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6" name="Text Box 10"/>
          <p:cNvSpPr txBox="1">
            <a:spLocks noChangeArrowheads="1"/>
          </p:cNvSpPr>
          <p:nvPr/>
        </p:nvSpPr>
        <p:spPr bwMode="auto">
          <a:xfrm>
            <a:off x="1354470" y="5570339"/>
            <a:ext cx="50321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   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2   8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	 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       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4    </a:t>
            </a:r>
            <a:r>
              <a:rPr lang="en-US" altLang="zh-CN" sz="2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9 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3   5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	    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   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1   6</a:t>
            </a:r>
            <a:endParaRPr lang="en-US" altLang="zh-CN" sz="2400" b="1" u="sng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1441117" y="6312977"/>
            <a:ext cx="45704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2   4   8   </a:t>
            </a:r>
            <a:r>
              <a:rPr lang="en-US" altLang="zh-CN" sz="2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9   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           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1   3   5   6</a:t>
            </a:r>
            <a:endParaRPr lang="en-US" altLang="zh-CN" sz="2400" b="1" u="sng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8" name="Text Box 12"/>
          <p:cNvSpPr txBox="1">
            <a:spLocks noChangeArrowheads="1"/>
          </p:cNvSpPr>
          <p:nvPr/>
        </p:nvSpPr>
        <p:spPr bwMode="auto">
          <a:xfrm>
            <a:off x="2521545" y="7204883"/>
            <a:ext cx="30315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u="sng" dirty="0" smtClean="0">
                <a:latin typeface="Times New Roman" panose="02020603050405020304" pitchFamily="18" charset="0"/>
                <a:ea typeface="宋体" pitchFamily="2" charset="-122"/>
              </a:rPr>
              <a:t>1   </a:t>
            </a:r>
            <a:r>
              <a:rPr lang="en-US" altLang="zh-CN" sz="2400" b="1" u="sng" dirty="0">
                <a:latin typeface="Times New Roman" panose="02020603050405020304" pitchFamily="18" charset="0"/>
                <a:ea typeface="宋体" pitchFamily="2" charset="-122"/>
              </a:rPr>
              <a:t>2   3   4   5   6   8   9</a:t>
            </a:r>
            <a:endParaRPr lang="en-US" altLang="zh-CN" sz="2400" b="1" u="sng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9" name="Line 13"/>
          <p:cNvSpPr>
            <a:spLocks noChangeShapeType="1"/>
          </p:cNvSpPr>
          <p:nvPr/>
        </p:nvSpPr>
        <p:spPr bwMode="auto">
          <a:xfrm flipH="1">
            <a:off x="3578433" y="2991592"/>
            <a:ext cx="406567" cy="384604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14"/>
          <p:cNvSpPr>
            <a:spLocks noChangeShapeType="1"/>
          </p:cNvSpPr>
          <p:nvPr/>
        </p:nvSpPr>
        <p:spPr bwMode="auto">
          <a:xfrm>
            <a:off x="4097417" y="2980339"/>
            <a:ext cx="436865" cy="408734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7"/>
          <p:cNvSpPr>
            <a:spLocks noChangeShapeType="1"/>
          </p:cNvSpPr>
          <p:nvPr/>
        </p:nvSpPr>
        <p:spPr bwMode="auto">
          <a:xfrm flipH="1">
            <a:off x="4951744" y="3734255"/>
            <a:ext cx="282271" cy="336690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18"/>
          <p:cNvSpPr>
            <a:spLocks noChangeShapeType="1"/>
          </p:cNvSpPr>
          <p:nvPr/>
        </p:nvSpPr>
        <p:spPr bwMode="auto">
          <a:xfrm>
            <a:off x="5419705" y="3734256"/>
            <a:ext cx="325983" cy="30843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27"/>
          <p:cNvSpPr>
            <a:spLocks noChangeShapeType="1"/>
          </p:cNvSpPr>
          <p:nvPr/>
        </p:nvSpPr>
        <p:spPr bwMode="auto">
          <a:xfrm>
            <a:off x="1552310" y="5338896"/>
            <a:ext cx="220368" cy="2528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28"/>
          <p:cNvSpPr>
            <a:spLocks noChangeShapeType="1"/>
          </p:cNvSpPr>
          <p:nvPr/>
        </p:nvSpPr>
        <p:spPr bwMode="auto">
          <a:xfrm flipH="1">
            <a:off x="2158440" y="5338896"/>
            <a:ext cx="202871" cy="2444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35"/>
          <p:cNvSpPr>
            <a:spLocks noChangeShapeType="1"/>
          </p:cNvSpPr>
          <p:nvPr/>
        </p:nvSpPr>
        <p:spPr bwMode="auto">
          <a:xfrm>
            <a:off x="1923503" y="6029690"/>
            <a:ext cx="457188" cy="30979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Line 36"/>
          <p:cNvSpPr>
            <a:spLocks noChangeShapeType="1"/>
          </p:cNvSpPr>
          <p:nvPr/>
        </p:nvSpPr>
        <p:spPr bwMode="auto">
          <a:xfrm flipH="1">
            <a:off x="2949724" y="6021983"/>
            <a:ext cx="416804" cy="3311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Line 39"/>
          <p:cNvSpPr>
            <a:spLocks noChangeShapeType="1"/>
          </p:cNvSpPr>
          <p:nvPr/>
        </p:nvSpPr>
        <p:spPr bwMode="auto">
          <a:xfrm>
            <a:off x="2716193" y="6759902"/>
            <a:ext cx="1268807" cy="29491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Line 40"/>
          <p:cNvSpPr>
            <a:spLocks noChangeShapeType="1"/>
          </p:cNvSpPr>
          <p:nvPr/>
        </p:nvSpPr>
        <p:spPr bwMode="auto">
          <a:xfrm flipH="1">
            <a:off x="4075093" y="6759902"/>
            <a:ext cx="1158922" cy="29871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Text Box 41"/>
          <p:cNvSpPr txBox="1">
            <a:spLocks noChangeArrowheads="1"/>
          </p:cNvSpPr>
          <p:nvPr/>
        </p:nvSpPr>
        <p:spPr bwMode="auto">
          <a:xfrm>
            <a:off x="567908" y="5300996"/>
            <a:ext cx="97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Merge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8" name="Text Box 42"/>
          <p:cNvSpPr txBox="1">
            <a:spLocks noChangeArrowheads="1"/>
          </p:cNvSpPr>
          <p:nvPr/>
        </p:nvSpPr>
        <p:spPr bwMode="auto">
          <a:xfrm>
            <a:off x="806867" y="5998206"/>
            <a:ext cx="97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Merge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9" name="Text Box 43"/>
          <p:cNvSpPr txBox="1">
            <a:spLocks noChangeArrowheads="1"/>
          </p:cNvSpPr>
          <p:nvPr/>
        </p:nvSpPr>
        <p:spPr bwMode="auto">
          <a:xfrm>
            <a:off x="1223713" y="6729398"/>
            <a:ext cx="97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Merge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0" name="Text Box 44"/>
          <p:cNvSpPr txBox="1">
            <a:spLocks noChangeArrowheads="1"/>
          </p:cNvSpPr>
          <p:nvPr/>
        </p:nvSpPr>
        <p:spPr bwMode="auto">
          <a:xfrm>
            <a:off x="1162326" y="2871119"/>
            <a:ext cx="101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Divide</a:t>
            </a:r>
            <a:endParaRPr lang="en-US" altLang="zh-CN" sz="2400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1" name="Text Box 45"/>
          <p:cNvSpPr txBox="1">
            <a:spLocks noChangeArrowheads="1"/>
          </p:cNvSpPr>
          <p:nvPr/>
        </p:nvSpPr>
        <p:spPr bwMode="auto">
          <a:xfrm>
            <a:off x="980516" y="3555267"/>
            <a:ext cx="101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Divide</a:t>
            </a:r>
            <a:endParaRPr lang="en-US" altLang="zh-CN" sz="2400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2" name="Text Box 46"/>
          <p:cNvSpPr txBox="1">
            <a:spLocks noChangeArrowheads="1"/>
          </p:cNvSpPr>
          <p:nvPr/>
        </p:nvSpPr>
        <p:spPr bwMode="auto">
          <a:xfrm>
            <a:off x="619362" y="4385241"/>
            <a:ext cx="101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Divide</a:t>
            </a:r>
            <a:endParaRPr lang="en-US" altLang="zh-CN" sz="2400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3" name="Text Box 47"/>
          <p:cNvSpPr txBox="1">
            <a:spLocks noChangeArrowheads="1"/>
          </p:cNvSpPr>
          <p:nvPr/>
        </p:nvSpPr>
        <p:spPr bwMode="auto">
          <a:xfrm>
            <a:off x="39129" y="4845248"/>
            <a:ext cx="14398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</a:rPr>
              <a:t>1 element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4" name="Text Box 48"/>
          <p:cNvSpPr txBox="1">
            <a:spLocks noChangeArrowheads="1"/>
          </p:cNvSpPr>
          <p:nvPr/>
        </p:nvSpPr>
        <p:spPr bwMode="auto">
          <a:xfrm>
            <a:off x="2208545" y="2483768"/>
            <a:ext cx="457200" cy="384175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5" name="Text Box 49"/>
          <p:cNvSpPr txBox="1">
            <a:spLocks noChangeArrowheads="1"/>
          </p:cNvSpPr>
          <p:nvPr/>
        </p:nvSpPr>
        <p:spPr bwMode="auto">
          <a:xfrm>
            <a:off x="2665745" y="2483768"/>
            <a:ext cx="457200" cy="384175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6" name="Text Box 50"/>
          <p:cNvSpPr txBox="1">
            <a:spLocks noChangeArrowheads="1"/>
          </p:cNvSpPr>
          <p:nvPr/>
        </p:nvSpPr>
        <p:spPr bwMode="auto">
          <a:xfrm>
            <a:off x="3122945" y="2483768"/>
            <a:ext cx="457200" cy="384175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9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7" name="Text Box 51"/>
          <p:cNvSpPr txBox="1">
            <a:spLocks noChangeArrowheads="1"/>
          </p:cNvSpPr>
          <p:nvPr/>
        </p:nvSpPr>
        <p:spPr bwMode="auto">
          <a:xfrm>
            <a:off x="3580145" y="2483768"/>
            <a:ext cx="457200" cy="3810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8" name="Text Box 52"/>
          <p:cNvSpPr txBox="1">
            <a:spLocks noChangeArrowheads="1"/>
          </p:cNvSpPr>
          <p:nvPr/>
        </p:nvSpPr>
        <p:spPr bwMode="auto">
          <a:xfrm>
            <a:off x="4037345" y="2483768"/>
            <a:ext cx="457200" cy="3810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9" name="Text Box 53"/>
          <p:cNvSpPr txBox="1">
            <a:spLocks noChangeArrowheads="1"/>
          </p:cNvSpPr>
          <p:nvPr/>
        </p:nvSpPr>
        <p:spPr bwMode="auto">
          <a:xfrm>
            <a:off x="4494545" y="2483768"/>
            <a:ext cx="457200" cy="384175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0" name="Text Box 54"/>
          <p:cNvSpPr txBox="1">
            <a:spLocks noChangeArrowheads="1"/>
          </p:cNvSpPr>
          <p:nvPr/>
        </p:nvSpPr>
        <p:spPr bwMode="auto">
          <a:xfrm>
            <a:off x="4951745" y="2483768"/>
            <a:ext cx="457200" cy="3810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1" name="Text Box 55"/>
          <p:cNvSpPr txBox="1">
            <a:spLocks noChangeArrowheads="1"/>
          </p:cNvSpPr>
          <p:nvPr/>
        </p:nvSpPr>
        <p:spPr bwMode="auto">
          <a:xfrm>
            <a:off x="5408945" y="2483768"/>
            <a:ext cx="457200" cy="3810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" name="Line 17"/>
          <p:cNvSpPr>
            <a:spLocks noChangeShapeType="1"/>
          </p:cNvSpPr>
          <p:nvPr/>
        </p:nvSpPr>
        <p:spPr bwMode="auto">
          <a:xfrm flipH="1">
            <a:off x="2217296" y="3707904"/>
            <a:ext cx="282271" cy="336690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Line 18"/>
          <p:cNvSpPr>
            <a:spLocks noChangeShapeType="1"/>
          </p:cNvSpPr>
          <p:nvPr/>
        </p:nvSpPr>
        <p:spPr bwMode="auto">
          <a:xfrm>
            <a:off x="2685257" y="3707905"/>
            <a:ext cx="325983" cy="30843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Line 17"/>
          <p:cNvSpPr>
            <a:spLocks noChangeShapeType="1"/>
          </p:cNvSpPr>
          <p:nvPr/>
        </p:nvSpPr>
        <p:spPr bwMode="auto">
          <a:xfrm flipH="1">
            <a:off x="5601672" y="4523342"/>
            <a:ext cx="282271" cy="336690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Line 18"/>
          <p:cNvSpPr>
            <a:spLocks noChangeShapeType="1"/>
          </p:cNvSpPr>
          <p:nvPr/>
        </p:nvSpPr>
        <p:spPr bwMode="auto">
          <a:xfrm>
            <a:off x="6069633" y="4523343"/>
            <a:ext cx="325983" cy="30843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Line 17"/>
          <p:cNvSpPr>
            <a:spLocks noChangeShapeType="1"/>
          </p:cNvSpPr>
          <p:nvPr/>
        </p:nvSpPr>
        <p:spPr bwMode="auto">
          <a:xfrm flipH="1">
            <a:off x="4377536" y="4523342"/>
            <a:ext cx="282271" cy="336690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Line 18"/>
          <p:cNvSpPr>
            <a:spLocks noChangeShapeType="1"/>
          </p:cNvSpPr>
          <p:nvPr/>
        </p:nvSpPr>
        <p:spPr bwMode="auto">
          <a:xfrm>
            <a:off x="4845497" y="4523343"/>
            <a:ext cx="325983" cy="30843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 flipH="1">
            <a:off x="2935520" y="4507779"/>
            <a:ext cx="282271" cy="336690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Line 18"/>
          <p:cNvSpPr>
            <a:spLocks noChangeShapeType="1"/>
          </p:cNvSpPr>
          <p:nvPr/>
        </p:nvSpPr>
        <p:spPr bwMode="auto">
          <a:xfrm>
            <a:off x="3403481" y="4507780"/>
            <a:ext cx="325983" cy="30843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Line 17"/>
          <p:cNvSpPr>
            <a:spLocks noChangeShapeType="1"/>
          </p:cNvSpPr>
          <p:nvPr/>
        </p:nvSpPr>
        <p:spPr bwMode="auto">
          <a:xfrm flipH="1">
            <a:off x="1641232" y="4499992"/>
            <a:ext cx="282271" cy="336690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Line 18"/>
          <p:cNvSpPr>
            <a:spLocks noChangeShapeType="1"/>
          </p:cNvSpPr>
          <p:nvPr/>
        </p:nvSpPr>
        <p:spPr bwMode="auto">
          <a:xfrm>
            <a:off x="2109193" y="4499993"/>
            <a:ext cx="325983" cy="30843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Line 27"/>
          <p:cNvSpPr>
            <a:spLocks noChangeShapeType="1"/>
          </p:cNvSpPr>
          <p:nvPr/>
        </p:nvSpPr>
        <p:spPr bwMode="auto">
          <a:xfrm>
            <a:off x="2920463" y="5344539"/>
            <a:ext cx="220368" cy="2528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" name="Line 28"/>
          <p:cNvSpPr>
            <a:spLocks noChangeShapeType="1"/>
          </p:cNvSpPr>
          <p:nvPr/>
        </p:nvSpPr>
        <p:spPr bwMode="auto">
          <a:xfrm flipH="1">
            <a:off x="3526593" y="5344539"/>
            <a:ext cx="202871" cy="2444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" name="Line 27"/>
          <p:cNvSpPr>
            <a:spLocks noChangeShapeType="1"/>
          </p:cNvSpPr>
          <p:nvPr/>
        </p:nvSpPr>
        <p:spPr bwMode="auto">
          <a:xfrm>
            <a:off x="4278676" y="5314658"/>
            <a:ext cx="220368" cy="2528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" name="Line 28"/>
          <p:cNvSpPr>
            <a:spLocks noChangeShapeType="1"/>
          </p:cNvSpPr>
          <p:nvPr/>
        </p:nvSpPr>
        <p:spPr bwMode="auto">
          <a:xfrm flipH="1">
            <a:off x="4884806" y="5314658"/>
            <a:ext cx="202871" cy="2444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" name="Line 27"/>
          <p:cNvSpPr>
            <a:spLocks noChangeShapeType="1"/>
          </p:cNvSpPr>
          <p:nvPr/>
        </p:nvSpPr>
        <p:spPr bwMode="auto">
          <a:xfrm>
            <a:off x="5584759" y="5327238"/>
            <a:ext cx="220368" cy="2528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" name="Line 28"/>
          <p:cNvSpPr>
            <a:spLocks noChangeShapeType="1"/>
          </p:cNvSpPr>
          <p:nvPr/>
        </p:nvSpPr>
        <p:spPr bwMode="auto">
          <a:xfrm flipH="1">
            <a:off x="6190889" y="5327238"/>
            <a:ext cx="202871" cy="24447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" name="Line 35"/>
          <p:cNvSpPr>
            <a:spLocks noChangeShapeType="1"/>
          </p:cNvSpPr>
          <p:nvPr/>
        </p:nvSpPr>
        <p:spPr bwMode="auto">
          <a:xfrm>
            <a:off x="4613304" y="6012160"/>
            <a:ext cx="365435" cy="31750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" name="Line 36"/>
          <p:cNvSpPr>
            <a:spLocks noChangeShapeType="1"/>
          </p:cNvSpPr>
          <p:nvPr/>
        </p:nvSpPr>
        <p:spPr bwMode="auto">
          <a:xfrm flipH="1">
            <a:off x="5547773" y="6012160"/>
            <a:ext cx="416804" cy="3311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597F64E4-AB26-406D-8B83-97B0B27F659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793E9FAB-25F9-4DBE-940F-2032B2E81EF6}" type="slidenum">
              <a:rPr lang="en-US" altLang="zh-CN" sz="1050"/>
            </a:fld>
            <a:endParaRPr lang="en-US" altLang="zh-CN" sz="105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Auxiliary Array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The merging requires an auxiliary array.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165735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2" name="Rectangle 5"/>
          <p:cNvSpPr>
            <a:spLocks noChangeArrowheads="1"/>
          </p:cNvSpPr>
          <p:nvPr/>
        </p:nvSpPr>
        <p:spPr bwMode="auto">
          <a:xfrm>
            <a:off x="205740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3" name="Rectangle 6"/>
          <p:cNvSpPr>
            <a:spLocks noChangeArrowheads="1"/>
          </p:cNvSpPr>
          <p:nvPr/>
        </p:nvSpPr>
        <p:spPr bwMode="auto">
          <a:xfrm>
            <a:off x="245745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4" name="Rectangle 7"/>
          <p:cNvSpPr>
            <a:spLocks noChangeArrowheads="1"/>
          </p:cNvSpPr>
          <p:nvPr/>
        </p:nvSpPr>
        <p:spPr bwMode="auto">
          <a:xfrm>
            <a:off x="285750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9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5" name="Rectangle 8"/>
          <p:cNvSpPr>
            <a:spLocks noChangeArrowheads="1"/>
          </p:cNvSpPr>
          <p:nvPr/>
        </p:nvSpPr>
        <p:spPr bwMode="auto">
          <a:xfrm>
            <a:off x="325755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6" name="Rectangle 9"/>
          <p:cNvSpPr>
            <a:spLocks noChangeArrowheads="1"/>
          </p:cNvSpPr>
          <p:nvPr/>
        </p:nvSpPr>
        <p:spPr bwMode="auto">
          <a:xfrm>
            <a:off x="365760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7" name="Rectangle 10"/>
          <p:cNvSpPr>
            <a:spLocks noChangeArrowheads="1"/>
          </p:cNvSpPr>
          <p:nvPr/>
        </p:nvSpPr>
        <p:spPr bwMode="auto">
          <a:xfrm>
            <a:off x="405765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8" name="Rectangle 11"/>
          <p:cNvSpPr>
            <a:spLocks noChangeArrowheads="1"/>
          </p:cNvSpPr>
          <p:nvPr/>
        </p:nvSpPr>
        <p:spPr bwMode="auto">
          <a:xfrm>
            <a:off x="4457700" y="4171950"/>
            <a:ext cx="400050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59" name="Line 12"/>
          <p:cNvSpPr>
            <a:spLocks noChangeShapeType="1"/>
          </p:cNvSpPr>
          <p:nvPr/>
        </p:nvSpPr>
        <p:spPr bwMode="auto">
          <a:xfrm>
            <a:off x="3257550" y="4000500"/>
            <a:ext cx="0" cy="742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  <p:sp>
        <p:nvSpPr>
          <p:cNvPr id="31760" name="Line 13"/>
          <p:cNvSpPr>
            <a:spLocks noChangeShapeType="1"/>
          </p:cNvSpPr>
          <p:nvPr/>
        </p:nvSpPr>
        <p:spPr bwMode="auto">
          <a:xfrm flipV="1">
            <a:off x="1657350" y="4629150"/>
            <a:ext cx="171450" cy="22860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  <p:sp>
        <p:nvSpPr>
          <p:cNvPr id="31761" name="Line 14"/>
          <p:cNvSpPr>
            <a:spLocks noChangeShapeType="1"/>
          </p:cNvSpPr>
          <p:nvPr/>
        </p:nvSpPr>
        <p:spPr bwMode="auto">
          <a:xfrm flipV="1">
            <a:off x="3314700" y="4629150"/>
            <a:ext cx="171450" cy="22860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  <p:sp>
        <p:nvSpPr>
          <p:cNvPr id="31762" name="Rectangle 15"/>
          <p:cNvSpPr>
            <a:spLocks noChangeArrowheads="1"/>
          </p:cNvSpPr>
          <p:nvPr/>
        </p:nvSpPr>
        <p:spPr bwMode="auto">
          <a:xfrm>
            <a:off x="165735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63" name="Rectangle 16"/>
          <p:cNvSpPr>
            <a:spLocks noChangeArrowheads="1"/>
          </p:cNvSpPr>
          <p:nvPr/>
        </p:nvSpPr>
        <p:spPr bwMode="auto">
          <a:xfrm>
            <a:off x="205740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64" name="Rectangle 17"/>
          <p:cNvSpPr>
            <a:spLocks noChangeArrowheads="1"/>
          </p:cNvSpPr>
          <p:nvPr/>
        </p:nvSpPr>
        <p:spPr bwMode="auto">
          <a:xfrm>
            <a:off x="245745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65" name="Rectangle 18"/>
          <p:cNvSpPr>
            <a:spLocks noChangeArrowheads="1"/>
          </p:cNvSpPr>
          <p:nvPr/>
        </p:nvSpPr>
        <p:spPr bwMode="auto">
          <a:xfrm>
            <a:off x="285750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66" name="Rectangle 19"/>
          <p:cNvSpPr>
            <a:spLocks noChangeArrowheads="1"/>
          </p:cNvSpPr>
          <p:nvPr/>
        </p:nvSpPr>
        <p:spPr bwMode="auto">
          <a:xfrm>
            <a:off x="325755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67" name="Rectangle 20"/>
          <p:cNvSpPr>
            <a:spLocks noChangeArrowheads="1"/>
          </p:cNvSpPr>
          <p:nvPr/>
        </p:nvSpPr>
        <p:spPr bwMode="auto">
          <a:xfrm>
            <a:off x="365760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68" name="Rectangle 21"/>
          <p:cNvSpPr>
            <a:spLocks noChangeArrowheads="1"/>
          </p:cNvSpPr>
          <p:nvPr/>
        </p:nvSpPr>
        <p:spPr bwMode="auto">
          <a:xfrm>
            <a:off x="405765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69" name="Rectangle 22"/>
          <p:cNvSpPr>
            <a:spLocks noChangeArrowheads="1"/>
          </p:cNvSpPr>
          <p:nvPr/>
        </p:nvSpPr>
        <p:spPr bwMode="auto">
          <a:xfrm>
            <a:off x="4457700" y="5429250"/>
            <a:ext cx="400050" cy="4000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770" name="Text Box 23"/>
          <p:cNvSpPr txBox="1">
            <a:spLocks noChangeArrowheads="1"/>
          </p:cNvSpPr>
          <p:nvPr/>
        </p:nvSpPr>
        <p:spPr bwMode="auto">
          <a:xfrm>
            <a:off x="5074444" y="5380435"/>
            <a:ext cx="13159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Auxiliary array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1771" name="Line 24"/>
          <p:cNvSpPr>
            <a:spLocks noChangeShapeType="1"/>
          </p:cNvSpPr>
          <p:nvPr/>
        </p:nvSpPr>
        <p:spPr bwMode="auto">
          <a:xfrm flipV="1">
            <a:off x="1657350" y="5829300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165798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205803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0" name="Rectangle 17"/>
          <p:cNvSpPr>
            <a:spLocks noChangeArrowheads="1"/>
          </p:cNvSpPr>
          <p:nvPr/>
        </p:nvSpPr>
        <p:spPr bwMode="auto">
          <a:xfrm>
            <a:off x="245808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285813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325818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365823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4" name="Rectangle 21"/>
          <p:cNvSpPr>
            <a:spLocks noChangeArrowheads="1"/>
          </p:cNvSpPr>
          <p:nvPr/>
        </p:nvSpPr>
        <p:spPr bwMode="auto">
          <a:xfrm>
            <a:off x="405828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" name="Rectangle 22"/>
          <p:cNvSpPr>
            <a:spLocks noChangeArrowheads="1"/>
          </p:cNvSpPr>
          <p:nvPr/>
        </p:nvSpPr>
        <p:spPr bwMode="auto">
          <a:xfrm>
            <a:off x="4458334" y="5428953"/>
            <a:ext cx="4000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" name="Line 14"/>
          <p:cNvSpPr>
            <a:spLocks noChangeShapeType="1"/>
          </p:cNvSpPr>
          <p:nvPr/>
        </p:nvSpPr>
        <p:spPr bwMode="auto">
          <a:xfrm flipV="1">
            <a:off x="3662746" y="4644008"/>
            <a:ext cx="171450" cy="22860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  <p:sp>
        <p:nvSpPr>
          <p:cNvPr id="37" name="Line 24"/>
          <p:cNvSpPr>
            <a:spLocks noChangeShapeType="1"/>
          </p:cNvSpPr>
          <p:nvPr/>
        </p:nvSpPr>
        <p:spPr bwMode="auto">
          <a:xfrm flipV="1">
            <a:off x="2103262" y="5845566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2465462" y="4644008"/>
            <a:ext cx="171450" cy="22860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  <p:sp>
        <p:nvSpPr>
          <p:cNvPr id="39" name="Line 13"/>
          <p:cNvSpPr>
            <a:spLocks noChangeShapeType="1"/>
          </p:cNvSpPr>
          <p:nvPr/>
        </p:nvSpPr>
        <p:spPr bwMode="auto">
          <a:xfrm flipV="1">
            <a:off x="4769718" y="4644008"/>
            <a:ext cx="171450" cy="228600"/>
          </a:xfrm>
          <a:prstGeom prst="line">
            <a:avLst/>
          </a:prstGeom>
          <a:noFill/>
          <a:ln w="19050">
            <a:solidFill>
              <a:srgbClr val="263AF8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0" grpId="0" animBg="1"/>
      <p:bldP spid="31761" grpId="0" animBg="1"/>
      <p:bldP spid="31771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6" grpId="1" animBg="1"/>
      <p:bldP spid="37" grpId="0" animBg="1"/>
      <p:bldP spid="38" grpId="0" animBg="1"/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6B6B6EC8-CBA3-438F-8991-4B595C0048F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64069824-DF4F-45A3-87B4-A2D4E9D9A003}" type="slidenum">
              <a:rPr lang="en-US" altLang="zh-CN" sz="1050"/>
            </a:fld>
            <a:endParaRPr lang="en-US" altLang="zh-CN" sz="1050"/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1200150" y="4171950"/>
            <a:ext cx="2286000" cy="228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Merging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4823" name="Rectangle 4"/>
          <p:cNvSpPr>
            <a:spLocks noChangeArrowheads="1"/>
          </p:cNvSpPr>
          <p:nvPr/>
        </p:nvSpPr>
        <p:spPr bwMode="auto">
          <a:xfrm>
            <a:off x="1200150" y="3600450"/>
            <a:ext cx="18288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34824" name="Rectangle 5"/>
          <p:cNvSpPr>
            <a:spLocks noChangeArrowheads="1"/>
          </p:cNvSpPr>
          <p:nvPr/>
        </p:nvSpPr>
        <p:spPr bwMode="auto">
          <a:xfrm>
            <a:off x="3028950" y="3600450"/>
            <a:ext cx="18288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25" name="Rectangle 6"/>
          <p:cNvSpPr>
            <a:spLocks noChangeArrowheads="1"/>
          </p:cNvSpPr>
          <p:nvPr/>
        </p:nvSpPr>
        <p:spPr bwMode="auto">
          <a:xfrm>
            <a:off x="1200150" y="4171950"/>
            <a:ext cx="371475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34826" name="Rectangle 7"/>
          <p:cNvSpPr>
            <a:spLocks noChangeArrowheads="1"/>
          </p:cNvSpPr>
          <p:nvPr/>
        </p:nvSpPr>
        <p:spPr bwMode="auto">
          <a:xfrm>
            <a:off x="2686050" y="3600450"/>
            <a:ext cx="3429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27" name="Rectangle 8"/>
          <p:cNvSpPr>
            <a:spLocks noChangeArrowheads="1"/>
          </p:cNvSpPr>
          <p:nvPr/>
        </p:nvSpPr>
        <p:spPr bwMode="auto">
          <a:xfrm>
            <a:off x="3886200" y="3600450"/>
            <a:ext cx="97155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28" name="Line 9"/>
          <p:cNvSpPr>
            <a:spLocks noChangeShapeType="1"/>
          </p:cNvSpPr>
          <p:nvPr/>
        </p:nvSpPr>
        <p:spPr bwMode="auto">
          <a:xfrm>
            <a:off x="3028950" y="3429000"/>
            <a:ext cx="0" cy="5143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29" name="Line 10"/>
          <p:cNvSpPr>
            <a:spLocks noChangeShapeType="1"/>
          </p:cNvSpPr>
          <p:nvPr/>
        </p:nvSpPr>
        <p:spPr bwMode="auto">
          <a:xfrm flipV="1">
            <a:off x="2514600" y="382905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30" name="Line 11"/>
          <p:cNvSpPr>
            <a:spLocks noChangeShapeType="1"/>
          </p:cNvSpPr>
          <p:nvPr/>
        </p:nvSpPr>
        <p:spPr bwMode="auto">
          <a:xfrm flipV="1">
            <a:off x="3371850" y="440055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31" name="Line 12"/>
          <p:cNvSpPr>
            <a:spLocks noChangeShapeType="1"/>
          </p:cNvSpPr>
          <p:nvPr/>
        </p:nvSpPr>
        <p:spPr bwMode="auto">
          <a:xfrm flipV="1">
            <a:off x="3714750" y="382905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32" name="Text Box 13"/>
          <p:cNvSpPr txBox="1">
            <a:spLocks noChangeArrowheads="1"/>
          </p:cNvSpPr>
          <p:nvPr/>
        </p:nvSpPr>
        <p:spPr bwMode="auto">
          <a:xfrm>
            <a:off x="2274094" y="3837385"/>
            <a:ext cx="2503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i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33" name="Text Box 14"/>
          <p:cNvSpPr txBox="1">
            <a:spLocks noChangeArrowheads="1"/>
          </p:cNvSpPr>
          <p:nvPr/>
        </p:nvSpPr>
        <p:spPr bwMode="auto">
          <a:xfrm>
            <a:off x="3486150" y="3829050"/>
            <a:ext cx="2503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j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34" name="Text Box 15"/>
          <p:cNvSpPr txBox="1">
            <a:spLocks noChangeArrowheads="1"/>
          </p:cNvSpPr>
          <p:nvPr/>
        </p:nvSpPr>
        <p:spPr bwMode="auto">
          <a:xfrm>
            <a:off x="3086100" y="4572000"/>
            <a:ext cx="7649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target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35" name="Text Box 16"/>
          <p:cNvSpPr txBox="1">
            <a:spLocks noChangeArrowheads="1"/>
          </p:cNvSpPr>
          <p:nvPr/>
        </p:nvSpPr>
        <p:spPr bwMode="auto">
          <a:xfrm>
            <a:off x="5147331" y="3837385"/>
            <a:ext cx="87395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 dirty="0">
                <a:latin typeface="Sitka Text" panose="02000505000000020004" pitchFamily="2" charset="0"/>
                <a:ea typeface="宋体" pitchFamily="2" charset="-122"/>
              </a:rPr>
              <a:t>normal</a:t>
            </a:r>
            <a:endParaRPr lang="en-US" altLang="zh-CN" sz="16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36" name="Rectangle 17"/>
          <p:cNvSpPr>
            <a:spLocks noChangeArrowheads="1"/>
          </p:cNvSpPr>
          <p:nvPr/>
        </p:nvSpPr>
        <p:spPr bwMode="auto">
          <a:xfrm>
            <a:off x="1200150" y="5257800"/>
            <a:ext cx="18288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34837" name="Rectangle 18"/>
          <p:cNvSpPr>
            <a:spLocks noChangeArrowheads="1"/>
          </p:cNvSpPr>
          <p:nvPr/>
        </p:nvSpPr>
        <p:spPr bwMode="auto">
          <a:xfrm>
            <a:off x="3028950" y="5257800"/>
            <a:ext cx="18288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38" name="Rectangle 19"/>
          <p:cNvSpPr>
            <a:spLocks noChangeArrowheads="1"/>
          </p:cNvSpPr>
          <p:nvPr/>
        </p:nvSpPr>
        <p:spPr bwMode="auto">
          <a:xfrm>
            <a:off x="1200150" y="5829300"/>
            <a:ext cx="371475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34839" name="Rectangle 20"/>
          <p:cNvSpPr>
            <a:spLocks noChangeArrowheads="1"/>
          </p:cNvSpPr>
          <p:nvPr/>
        </p:nvSpPr>
        <p:spPr bwMode="auto">
          <a:xfrm>
            <a:off x="3886200" y="5257800"/>
            <a:ext cx="97155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40" name="Line 21"/>
          <p:cNvSpPr>
            <a:spLocks noChangeShapeType="1"/>
          </p:cNvSpPr>
          <p:nvPr/>
        </p:nvSpPr>
        <p:spPr bwMode="auto">
          <a:xfrm>
            <a:off x="3028950" y="5086350"/>
            <a:ext cx="0" cy="5143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41" name="Rectangle 22"/>
          <p:cNvSpPr>
            <a:spLocks noChangeArrowheads="1"/>
          </p:cNvSpPr>
          <p:nvPr/>
        </p:nvSpPr>
        <p:spPr bwMode="auto">
          <a:xfrm>
            <a:off x="1200150" y="5829300"/>
            <a:ext cx="2686050" cy="228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34842" name="Line 23"/>
          <p:cNvSpPr>
            <a:spLocks noChangeShapeType="1"/>
          </p:cNvSpPr>
          <p:nvPr/>
        </p:nvSpPr>
        <p:spPr bwMode="auto">
          <a:xfrm flipV="1">
            <a:off x="2914650" y="548640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43" name="Line 24"/>
          <p:cNvSpPr>
            <a:spLocks noChangeShapeType="1"/>
          </p:cNvSpPr>
          <p:nvPr/>
        </p:nvSpPr>
        <p:spPr bwMode="auto">
          <a:xfrm flipV="1">
            <a:off x="3771900" y="605790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44" name="Line 25"/>
          <p:cNvSpPr>
            <a:spLocks noChangeShapeType="1"/>
          </p:cNvSpPr>
          <p:nvPr/>
        </p:nvSpPr>
        <p:spPr bwMode="auto">
          <a:xfrm flipV="1">
            <a:off x="3714750" y="548640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845" name="Text Box 26"/>
          <p:cNvSpPr txBox="1">
            <a:spLocks noChangeArrowheads="1"/>
          </p:cNvSpPr>
          <p:nvPr/>
        </p:nvSpPr>
        <p:spPr bwMode="auto">
          <a:xfrm>
            <a:off x="2743200" y="5486400"/>
            <a:ext cx="2503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i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46" name="Text Box 27"/>
          <p:cNvSpPr txBox="1">
            <a:spLocks noChangeArrowheads="1"/>
          </p:cNvSpPr>
          <p:nvPr/>
        </p:nvSpPr>
        <p:spPr bwMode="auto">
          <a:xfrm>
            <a:off x="3486150" y="5486400"/>
            <a:ext cx="2503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j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47" name="Text Box 28"/>
          <p:cNvSpPr txBox="1">
            <a:spLocks noChangeArrowheads="1"/>
          </p:cNvSpPr>
          <p:nvPr/>
        </p:nvSpPr>
        <p:spPr bwMode="auto">
          <a:xfrm>
            <a:off x="3143250" y="6229350"/>
            <a:ext cx="7649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target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48" name="Text Box 29"/>
          <p:cNvSpPr txBox="1">
            <a:spLocks noChangeArrowheads="1"/>
          </p:cNvSpPr>
          <p:nvPr/>
        </p:nvSpPr>
        <p:spPr bwMode="auto">
          <a:xfrm>
            <a:off x="5013176" y="5380435"/>
            <a:ext cx="16177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 dirty="0">
                <a:latin typeface="Sitka Text" panose="02000505000000020004" pitchFamily="2" charset="0"/>
                <a:ea typeface="宋体" pitchFamily="2" charset="-122"/>
              </a:rPr>
              <a:t>Left completed</a:t>
            </a:r>
            <a:endParaRPr lang="en-US" altLang="zh-CN" sz="1600" dirty="0"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sz="1600" dirty="0">
                <a:latin typeface="Sitka Text" panose="02000505000000020004" pitchFamily="2" charset="0"/>
                <a:ea typeface="宋体" pitchFamily="2" charset="-122"/>
              </a:rPr>
              <a:t>first</a:t>
            </a:r>
            <a:endParaRPr lang="en-US" altLang="zh-CN" sz="16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49" name="AutoShape 30"/>
          <p:cNvSpPr>
            <a:spLocks noChangeArrowheads="1"/>
          </p:cNvSpPr>
          <p:nvPr/>
        </p:nvSpPr>
        <p:spPr bwMode="auto">
          <a:xfrm>
            <a:off x="2400300" y="5543550"/>
            <a:ext cx="114300" cy="228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4850" name="Text Box 31"/>
          <p:cNvSpPr txBox="1">
            <a:spLocks noChangeArrowheads="1"/>
          </p:cNvSpPr>
          <p:nvPr/>
        </p:nvSpPr>
        <p:spPr bwMode="auto">
          <a:xfrm>
            <a:off x="1844824" y="5508104"/>
            <a:ext cx="57419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400" dirty="0">
                <a:latin typeface="Sitka Text" panose="02000505000000020004" pitchFamily="2" charset="0"/>
                <a:ea typeface="宋体" pitchFamily="2" charset="-122"/>
              </a:rPr>
              <a:t>copy</a:t>
            </a:r>
            <a:endParaRPr lang="en-US" altLang="zh-CN" sz="14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99F949DF-CAD8-4AB7-8BBF-D8FAFBD0284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584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3584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1B74873E-7F23-4F89-9E86-839698092BE4}" type="slidenum">
              <a:rPr lang="en-US" altLang="zh-CN" sz="1050"/>
            </a:fld>
            <a:endParaRPr lang="en-US" altLang="zh-CN" sz="105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Merging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5846" name="Rectangle 3"/>
          <p:cNvSpPr>
            <a:spLocks noChangeArrowheads="1"/>
          </p:cNvSpPr>
          <p:nvPr/>
        </p:nvSpPr>
        <p:spPr bwMode="auto">
          <a:xfrm>
            <a:off x="1212056" y="3820716"/>
            <a:ext cx="18288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47" name="Rectangle 4"/>
          <p:cNvSpPr>
            <a:spLocks noChangeArrowheads="1"/>
          </p:cNvSpPr>
          <p:nvPr/>
        </p:nvSpPr>
        <p:spPr bwMode="auto">
          <a:xfrm>
            <a:off x="3040856" y="3820716"/>
            <a:ext cx="18288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48" name="Rectangle 5"/>
          <p:cNvSpPr>
            <a:spLocks noChangeArrowheads="1"/>
          </p:cNvSpPr>
          <p:nvPr/>
        </p:nvSpPr>
        <p:spPr bwMode="auto">
          <a:xfrm>
            <a:off x="1212056" y="4392216"/>
            <a:ext cx="371475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49" name="Rectangle 6"/>
          <p:cNvSpPr>
            <a:spLocks noChangeArrowheads="1"/>
          </p:cNvSpPr>
          <p:nvPr/>
        </p:nvSpPr>
        <p:spPr bwMode="auto">
          <a:xfrm>
            <a:off x="2697956" y="3820716"/>
            <a:ext cx="342900" cy="228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50" name="Line 7"/>
          <p:cNvSpPr>
            <a:spLocks noChangeShapeType="1"/>
          </p:cNvSpPr>
          <p:nvPr/>
        </p:nvSpPr>
        <p:spPr bwMode="auto">
          <a:xfrm>
            <a:off x="3040856" y="3649266"/>
            <a:ext cx="0" cy="5143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5851" name="Rectangle 8"/>
          <p:cNvSpPr>
            <a:spLocks noChangeArrowheads="1"/>
          </p:cNvSpPr>
          <p:nvPr/>
        </p:nvSpPr>
        <p:spPr bwMode="auto">
          <a:xfrm>
            <a:off x="1212057" y="4392216"/>
            <a:ext cx="3302794" cy="228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52" name="Line 9"/>
          <p:cNvSpPr>
            <a:spLocks noChangeShapeType="1"/>
          </p:cNvSpPr>
          <p:nvPr/>
        </p:nvSpPr>
        <p:spPr bwMode="auto">
          <a:xfrm flipV="1">
            <a:off x="2526506" y="4049316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5853" name="Line 10"/>
          <p:cNvSpPr>
            <a:spLocks noChangeShapeType="1"/>
          </p:cNvSpPr>
          <p:nvPr/>
        </p:nvSpPr>
        <p:spPr bwMode="auto">
          <a:xfrm flipV="1">
            <a:off x="4343400" y="462915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5854" name="Line 11"/>
          <p:cNvSpPr>
            <a:spLocks noChangeShapeType="1"/>
          </p:cNvSpPr>
          <p:nvPr/>
        </p:nvSpPr>
        <p:spPr bwMode="auto">
          <a:xfrm flipV="1">
            <a:off x="4698206" y="4049316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5855" name="Text Box 12"/>
          <p:cNvSpPr txBox="1">
            <a:spLocks noChangeArrowheads="1"/>
          </p:cNvSpPr>
          <p:nvPr/>
        </p:nvSpPr>
        <p:spPr bwMode="auto">
          <a:xfrm>
            <a:off x="2286000" y="4057650"/>
            <a:ext cx="2503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i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56" name="Text Box 13"/>
          <p:cNvSpPr txBox="1">
            <a:spLocks noChangeArrowheads="1"/>
          </p:cNvSpPr>
          <p:nvPr/>
        </p:nvSpPr>
        <p:spPr bwMode="auto">
          <a:xfrm>
            <a:off x="3498056" y="4049316"/>
            <a:ext cx="2503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j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57" name="Text Box 14"/>
          <p:cNvSpPr txBox="1">
            <a:spLocks noChangeArrowheads="1"/>
          </p:cNvSpPr>
          <p:nvPr/>
        </p:nvSpPr>
        <p:spPr bwMode="auto">
          <a:xfrm>
            <a:off x="3714750" y="4743450"/>
            <a:ext cx="7649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target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58" name="Text Box 15"/>
          <p:cNvSpPr txBox="1">
            <a:spLocks noChangeArrowheads="1"/>
          </p:cNvSpPr>
          <p:nvPr/>
        </p:nvSpPr>
        <p:spPr bwMode="auto">
          <a:xfrm>
            <a:off x="5062696" y="3883878"/>
            <a:ext cx="1750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sz="1600" dirty="0">
                <a:latin typeface="Sitka Text" panose="02000505000000020004" pitchFamily="2" charset="0"/>
                <a:ea typeface="宋体" pitchFamily="2" charset="-122"/>
              </a:rPr>
              <a:t>Right completed</a:t>
            </a:r>
            <a:endParaRPr lang="en-US" altLang="zh-CN" sz="1600" dirty="0"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sz="1600" dirty="0">
                <a:latin typeface="Sitka Text" panose="02000505000000020004" pitchFamily="2" charset="0"/>
                <a:ea typeface="宋体" pitchFamily="2" charset="-122"/>
              </a:rPr>
              <a:t>first</a:t>
            </a:r>
            <a:endParaRPr lang="en-US" altLang="zh-CN" sz="1600" dirty="0"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endParaRPr lang="en-US" altLang="zh-CN" sz="16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59" name="AutoShape 16"/>
          <p:cNvSpPr>
            <a:spLocks noChangeArrowheads="1"/>
          </p:cNvSpPr>
          <p:nvPr/>
        </p:nvSpPr>
        <p:spPr bwMode="auto">
          <a:xfrm>
            <a:off x="2057400" y="4114800"/>
            <a:ext cx="114300" cy="228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5860" name="AutoShape 17"/>
          <p:cNvSpPr>
            <a:spLocks noChangeArrowheads="1"/>
          </p:cNvSpPr>
          <p:nvPr/>
        </p:nvSpPr>
        <p:spPr bwMode="auto">
          <a:xfrm>
            <a:off x="2800350" y="3543300"/>
            <a:ext cx="1885950" cy="342900"/>
          </a:xfrm>
          <a:custGeom>
            <a:avLst/>
            <a:gdLst>
              <a:gd name="T0" fmla="*/ 1139021 w 21600"/>
              <a:gd name="T1" fmla="*/ 995 h 21600"/>
              <a:gd name="T2" fmla="*/ 69152 w 21600"/>
              <a:gd name="T3" fmla="*/ 228579 h 21600"/>
              <a:gd name="T4" fmla="*/ 1151943 w 21600"/>
              <a:gd name="T5" fmla="*/ 26035 h 21600"/>
              <a:gd name="T6" fmla="*/ 2801101 w 21600"/>
              <a:gd name="T7" fmla="*/ 175070 h 21600"/>
              <a:gd name="T8" fmla="*/ 2496206 w 21600"/>
              <a:gd name="T9" fmla="*/ 256625 h 21600"/>
              <a:gd name="T10" fmla="*/ 2047653 w 21600"/>
              <a:gd name="T11" fmla="*/ 201189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20241" y="9000"/>
                </a:moveTo>
                <a:cubicBezTo>
                  <a:pt x="19377" y="4467"/>
                  <a:pt x="15414" y="1188"/>
                  <a:pt x="10800" y="1188"/>
                </a:cubicBezTo>
                <a:cubicBezTo>
                  <a:pt x="5491" y="1188"/>
                  <a:pt x="1188" y="5491"/>
                  <a:pt x="1188" y="10799"/>
                </a:cubicBezTo>
                <a:lnTo>
                  <a:pt x="0" y="10799"/>
                </a:lnTo>
                <a:cubicBezTo>
                  <a:pt x="0" y="4835"/>
                  <a:pt x="4835" y="0"/>
                  <a:pt x="10800" y="0"/>
                </a:cubicBezTo>
                <a:cubicBezTo>
                  <a:pt x="15984" y="0"/>
                  <a:pt x="20438" y="3684"/>
                  <a:pt x="21408" y="8777"/>
                </a:cubicBezTo>
                <a:lnTo>
                  <a:pt x="24061" y="8271"/>
                </a:lnTo>
                <a:lnTo>
                  <a:pt x="21442" y="12124"/>
                </a:lnTo>
                <a:lnTo>
                  <a:pt x="17589" y="9505"/>
                </a:lnTo>
                <a:lnTo>
                  <a:pt x="20241" y="90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28800" y="4027874"/>
            <a:ext cx="465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②</a:t>
            </a:r>
            <a:endParaRPr lang="zh-CN" altLang="en-US" sz="20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4308203" y="3163778"/>
            <a:ext cx="416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①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518F686D-69C3-4DC9-AE55-EF66F549A37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686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3686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0E29D578-30E8-4D6D-981B-B3E11BBE8F98}" type="slidenum">
              <a:rPr lang="en-US" altLang="zh-CN" sz="1050"/>
            </a:fld>
            <a:endParaRPr lang="en-US" altLang="zh-CN" sz="105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Merging Algorithm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6870" name="Text Box 3"/>
          <p:cNvSpPr txBox="1">
            <a:spLocks noChangeArrowheads="1"/>
          </p:cNvSpPr>
          <p:nvPr/>
        </p:nvSpPr>
        <p:spPr bwMode="auto">
          <a:xfrm>
            <a:off x="361030" y="2234960"/>
            <a:ext cx="6197872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/**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* pseudo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code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for Merging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Algorithm in </a:t>
            </a:r>
            <a:r>
              <a:rPr lang="en-US" altLang="zh-CN" dirty="0" err="1" smtClean="0">
                <a:solidFill>
                  <a:srgbClr val="008000"/>
                </a:solidFill>
                <a:latin typeface="Sitka Text" panose="02000505000000020004" pitchFamily="2" charset="0"/>
              </a:rPr>
              <a:t>MergeSort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**/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Merge(A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[], T[] : integer array, left, right : integer)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{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mid, </a:t>
            </a:r>
            <a:r>
              <a:rPr lang="en-US" altLang="zh-CN" dirty="0" err="1"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, j, k, l, target : integer;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mid := (right + left)/2;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:= left; j := mid + 1; target := left;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while </a:t>
            </a:r>
            <a:r>
              <a:rPr lang="en-US" altLang="zh-CN" dirty="0" err="1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</a:t>
            </a:r>
            <a:r>
              <a:rPr lang="en-US" altLang="zh-CN" u="sng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&lt;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mid and j </a:t>
            </a:r>
            <a:r>
              <a:rPr lang="en-US" altLang="zh-CN" u="sng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&lt;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right do</a:t>
            </a:r>
            <a:endParaRPr lang="en-US" altLang="zh-CN" dirty="0">
              <a:solidFill>
                <a:srgbClr val="990099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   if A[</a:t>
            </a:r>
            <a:r>
              <a:rPr lang="en-US" altLang="zh-CN" dirty="0" err="1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] </a:t>
            </a:r>
            <a:r>
              <a:rPr lang="en-US" altLang="zh-CN" u="sng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&lt;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A[j] then T[target] := A[</a:t>
            </a:r>
            <a:r>
              <a:rPr lang="en-US" altLang="zh-CN" dirty="0" err="1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] ; i:= </a:t>
            </a:r>
            <a:r>
              <a:rPr lang="en-US" altLang="zh-CN" dirty="0" err="1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+ 1; </a:t>
            </a:r>
            <a:endParaRPr lang="en-US" altLang="zh-CN" dirty="0">
              <a:solidFill>
                <a:srgbClr val="990099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     else T[target] := A[j]; j := j + 1;</a:t>
            </a:r>
            <a:endParaRPr lang="en-US" altLang="zh-CN" dirty="0">
              <a:solidFill>
                <a:srgbClr val="990099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990099"/>
                </a:solidFill>
                <a:latin typeface="Sitka Text" panose="02000505000000020004" pitchFamily="2" charset="0"/>
                <a:ea typeface="宋体" pitchFamily="2" charset="-122"/>
              </a:rPr>
              <a:t>    target := target + 1;</a:t>
            </a:r>
            <a:endParaRPr lang="en-US" altLang="zh-CN" dirty="0">
              <a:solidFill>
                <a:srgbClr val="990099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if </a:t>
            </a:r>
            <a:r>
              <a:rPr lang="en-US" altLang="zh-CN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&gt; mid then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//left completed//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   for k := left to target-1 do A[k] := T[k];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if j &gt; right then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rPr>
              <a:t>//right completed//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    k : = mid; l := right;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990000"/>
                </a:solidFill>
                <a:latin typeface="Sitka Text" panose="02000505000000020004" pitchFamily="2" charset="0"/>
                <a:ea typeface="宋体" pitchFamily="2" charset="-122"/>
              </a:rPr>
              <a:t>   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while k </a:t>
            </a:r>
            <a:r>
              <a:rPr lang="en-US" altLang="zh-CN" u="sng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&gt;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</a:t>
            </a:r>
            <a:r>
              <a:rPr lang="en-US" altLang="zh-CN" dirty="0" err="1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do A[l] := A[k]; k := k-1; l := l-1;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    for k := left to target-1 do A[k] := T[k];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pPr algn="l"/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E2D649D7-13E7-4F8B-91F8-496EA98C918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789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289711AE-CC0E-4397-A29A-DD2EE9DF98B8}" type="slidenum">
              <a:rPr lang="en-US" altLang="zh-CN" sz="1050"/>
            </a:fld>
            <a:endParaRPr lang="en-US" altLang="zh-CN" sz="105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Recursive </a:t>
            </a:r>
            <a:r>
              <a:rPr lang="en-US" altLang="zh-CN" dirty="0" err="1" smtClean="0">
                <a:ea typeface="宋体" pitchFamily="2" charset="-122"/>
              </a:rPr>
              <a:t>Mergesort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7894" name="Text Box 3"/>
          <p:cNvSpPr txBox="1">
            <a:spLocks noChangeArrowheads="1"/>
          </p:cNvSpPr>
          <p:nvPr/>
        </p:nvSpPr>
        <p:spPr bwMode="auto">
          <a:xfrm>
            <a:off x="363622" y="2555776"/>
            <a:ext cx="619268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</a:defRPr>
            </a:lvl1pPr>
            <a:lvl2pPr marL="742950" indent="-285750" algn="ctr">
              <a:defRPr sz="2000">
                <a:latin typeface="Arial" panose="020B0604020202090204" pitchFamily="34" charset="0"/>
              </a:defRPr>
            </a:lvl2pPr>
            <a:lvl3pPr marL="1143000" indent="-228600" algn="ctr">
              <a:defRPr sz="2000">
                <a:latin typeface="Arial" panose="020B0604020202090204" pitchFamily="34" charset="0"/>
              </a:defRPr>
            </a:lvl3pPr>
            <a:lvl4pPr marL="1600200" indent="-228600" algn="ctr">
              <a:defRPr sz="2000">
                <a:latin typeface="Arial" panose="020B0604020202090204" pitchFamily="34" charset="0"/>
              </a:defRPr>
            </a:lvl4pPr>
            <a:lvl5pPr marL="2057400" indent="-228600" algn="ctr">
              <a:defRPr sz="2000"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/>
              <a:t>/**</a:t>
            </a:r>
            <a:endParaRPr lang="en-US" altLang="zh-CN" sz="1800" dirty="0" smtClean="0"/>
          </a:p>
          <a:p>
            <a:r>
              <a:rPr lang="en-US" altLang="zh-CN" sz="1800" dirty="0"/>
              <a:t>* </a:t>
            </a:r>
            <a:r>
              <a:rPr lang="en-US" altLang="zh-CN" sz="1800" dirty="0" smtClean="0"/>
              <a:t>Recursive implementation for </a:t>
            </a:r>
            <a:r>
              <a:rPr lang="en-US" altLang="zh-CN" sz="1800" dirty="0" err="1" smtClean="0"/>
              <a:t>Mergesort</a:t>
            </a:r>
            <a:endParaRPr lang="en-US" altLang="zh-CN" sz="1800" dirty="0" smtClean="0"/>
          </a:p>
          <a:p>
            <a:r>
              <a:rPr lang="en-US" altLang="zh-CN" sz="1800" dirty="0" smtClean="0"/>
              <a:t>**/</a:t>
            </a:r>
            <a:endParaRPr lang="en-US" altLang="zh-CN" sz="1800" dirty="0" smtClean="0"/>
          </a:p>
          <a:p>
            <a:r>
              <a:rPr lang="en-US" altLang="zh-CN" sz="1800" dirty="0" err="1" smtClean="0">
                <a:solidFill>
                  <a:schemeClr val="tx1"/>
                </a:solidFill>
              </a:rPr>
              <a:t>Mergesort</a:t>
            </a:r>
            <a:r>
              <a:rPr lang="en-US" altLang="zh-CN" sz="1800" dirty="0" smtClean="0">
                <a:solidFill>
                  <a:schemeClr val="tx1"/>
                </a:solidFill>
              </a:rPr>
              <a:t>(A</a:t>
            </a:r>
            <a:r>
              <a:rPr lang="en-US" altLang="zh-CN" sz="1800" dirty="0">
                <a:solidFill>
                  <a:schemeClr val="tx1"/>
                </a:solidFill>
              </a:rPr>
              <a:t>[], T[] : integer array, left, right : integer) : {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if left &lt; right then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  mid := (left + right)/2;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  </a:t>
            </a:r>
            <a:r>
              <a:rPr lang="en-US" altLang="zh-CN" sz="1800" dirty="0" err="1">
                <a:solidFill>
                  <a:schemeClr val="tx1"/>
                </a:solidFill>
              </a:rPr>
              <a:t>Mergesort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A,T,left,mid</a:t>
            </a:r>
            <a:r>
              <a:rPr lang="en-US" altLang="zh-CN" sz="1800" dirty="0">
                <a:solidFill>
                  <a:schemeClr val="tx1"/>
                </a:solidFill>
              </a:rPr>
              <a:t>);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  </a:t>
            </a:r>
            <a:r>
              <a:rPr lang="en-US" altLang="zh-CN" sz="1800" dirty="0" err="1">
                <a:solidFill>
                  <a:schemeClr val="tx1"/>
                </a:solidFill>
              </a:rPr>
              <a:t>Mergesort</a:t>
            </a:r>
            <a:r>
              <a:rPr lang="en-US" altLang="zh-CN" sz="1800" dirty="0">
                <a:solidFill>
                  <a:schemeClr val="tx1"/>
                </a:solidFill>
              </a:rPr>
              <a:t>(A,T,mid+1,right);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  Merge(</a:t>
            </a:r>
            <a:r>
              <a:rPr lang="en-US" altLang="zh-CN" sz="1800" dirty="0" err="1">
                <a:solidFill>
                  <a:schemeClr val="tx1"/>
                </a:solidFill>
              </a:rPr>
              <a:t>A,T,left,right</a:t>
            </a:r>
            <a:r>
              <a:rPr lang="en-US" altLang="zh-CN" sz="1800" dirty="0">
                <a:solidFill>
                  <a:schemeClr val="tx1"/>
                </a:solidFill>
              </a:rPr>
              <a:t>);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}</a:t>
            </a:r>
            <a:endParaRPr lang="en-US" altLang="zh-CN" sz="1800" dirty="0">
              <a:solidFill>
                <a:schemeClr val="tx1"/>
              </a:solidFill>
            </a:endParaRPr>
          </a:p>
          <a:p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/>
              <a:t>//Driver</a:t>
            </a:r>
            <a:endParaRPr lang="en-US" altLang="zh-CN" sz="1800" dirty="0"/>
          </a:p>
          <a:p>
            <a:r>
              <a:rPr lang="en-US" altLang="zh-CN" sz="1800" dirty="0" err="1">
                <a:solidFill>
                  <a:schemeClr val="tx1"/>
                </a:solidFill>
              </a:rPr>
              <a:t>MainMergesort</a:t>
            </a:r>
            <a:r>
              <a:rPr lang="en-US" altLang="zh-CN" sz="1800" dirty="0">
                <a:solidFill>
                  <a:schemeClr val="tx1"/>
                </a:solidFill>
              </a:rPr>
              <a:t>(A[1..n]: integer array, n : integer) : {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T[1..n]: integer array;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</a:t>
            </a:r>
            <a:r>
              <a:rPr lang="en-US" altLang="zh-CN" sz="1800" dirty="0" err="1">
                <a:solidFill>
                  <a:schemeClr val="tx1"/>
                </a:solidFill>
              </a:rPr>
              <a:t>Mergesort</a:t>
            </a:r>
            <a:r>
              <a:rPr lang="en-US" altLang="zh-CN" sz="1800" dirty="0">
                <a:solidFill>
                  <a:schemeClr val="tx1"/>
                </a:solidFill>
              </a:rPr>
              <a:t>[A,T,1,n];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}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1CCFE18A-D2BC-4A96-8FCD-0DC9859536D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2250D675-225F-4285-9C41-99ADC4EDC879}" type="slidenum">
              <a:rPr lang="en-US" altLang="zh-CN" sz="1050"/>
            </a:fld>
            <a:endParaRPr lang="en-US" altLang="zh-CN" sz="105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宋体" pitchFamily="2" charset="-122"/>
              </a:rPr>
              <a:t>Mergesort</a:t>
            </a:r>
            <a:r>
              <a:rPr lang="en-US" altLang="zh-CN" dirty="0" smtClean="0">
                <a:ea typeface="宋体" pitchFamily="2" charset="-122"/>
              </a:rPr>
              <a:t> Analysis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Let T(N) be the running time for an array of N elements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 smtClean="0">
                <a:ea typeface="宋体" pitchFamily="2" charset="-122"/>
              </a:rPr>
              <a:t>Mergesort</a:t>
            </a:r>
            <a:r>
              <a:rPr lang="en-US" altLang="zh-CN" dirty="0" smtClean="0">
                <a:ea typeface="宋体" pitchFamily="2" charset="-122"/>
              </a:rPr>
              <a:t> divides array in half and calls itself on the two halves. After returning, it merges both halves using a temporary array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Each recursive call takes T(N/2) and merging takes O(N)</a:t>
            </a:r>
            <a:endParaRPr lang="en-US" altLang="zh-CN" sz="2700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A6A7C9CD-373F-4209-B08F-877E41E5D8A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24A56FCE-F742-4BBD-A344-CEA29BE3F8A1}" type="slidenum">
              <a:rPr lang="en-US" altLang="zh-CN" sz="1050"/>
            </a:fld>
            <a:endParaRPr lang="en-US" altLang="zh-CN" sz="105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宋体" pitchFamily="2" charset="-122"/>
              </a:rPr>
              <a:t>Mergesort</a:t>
            </a:r>
            <a:r>
              <a:rPr lang="en-US" altLang="zh-CN" dirty="0" smtClean="0">
                <a:ea typeface="宋体" pitchFamily="2" charset="-122"/>
              </a:rPr>
              <a:t> Recurrence Relation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The recurrence relation for T(N) is: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ea typeface="宋体" pitchFamily="2" charset="-122"/>
              </a:rPr>
              <a:t>T(1) </a:t>
            </a:r>
            <a:r>
              <a:rPr lang="en-US" altLang="zh-CN" sz="2400" u="sng" dirty="0" smtClean="0">
                <a:ea typeface="宋体" pitchFamily="2" charset="-122"/>
              </a:rPr>
              <a:t>&lt;</a:t>
            </a:r>
            <a:r>
              <a:rPr lang="en-US" altLang="zh-CN" sz="2400" dirty="0" smtClean="0">
                <a:ea typeface="宋体" pitchFamily="2" charset="-122"/>
              </a:rPr>
              <a:t> a  </a:t>
            </a:r>
            <a:endParaRPr lang="en-US" altLang="zh-CN" sz="2400" dirty="0" smtClean="0">
              <a:ea typeface="宋体" pitchFamily="2" charset="-122"/>
            </a:endParaRPr>
          </a:p>
          <a:p>
            <a:pPr lvl="2"/>
            <a:r>
              <a:rPr lang="en-US" altLang="zh-CN" sz="2000" dirty="0">
                <a:ea typeface="宋体" pitchFamily="2" charset="-122"/>
              </a:rPr>
              <a:t>base case: 1 element array </a:t>
            </a:r>
            <a:r>
              <a:rPr lang="en-US" altLang="zh-CN" sz="2000" dirty="0">
                <a:ea typeface="宋体" pitchFamily="2" charset="-122"/>
                <a:sym typeface="Wingdings" panose="05000000000000000000" pitchFamily="2" charset="2"/>
              </a:rPr>
              <a:t> constant time</a:t>
            </a:r>
            <a:endParaRPr lang="en-US" altLang="zh-CN" sz="2000" dirty="0">
              <a:ea typeface="宋体" pitchFamily="2" charset="-122"/>
              <a:sym typeface="Wingdings" panose="05000000000000000000" pitchFamily="2" charset="2"/>
            </a:endParaRPr>
          </a:p>
          <a:p>
            <a:pPr lvl="1"/>
            <a:r>
              <a:rPr lang="en-US" altLang="zh-CN" sz="2400" dirty="0" smtClean="0">
                <a:ea typeface="宋体" pitchFamily="2" charset="-122"/>
                <a:sym typeface="Wingdings" panose="05000000000000000000" pitchFamily="2" charset="2"/>
              </a:rPr>
              <a:t>T(N) </a:t>
            </a:r>
            <a:r>
              <a:rPr lang="en-US" altLang="zh-CN" sz="2400" u="sng" dirty="0" smtClean="0">
                <a:ea typeface="宋体" pitchFamily="2" charset="-122"/>
                <a:sym typeface="Wingdings" panose="05000000000000000000" pitchFamily="2" charset="2"/>
              </a:rPr>
              <a:t>&lt;</a:t>
            </a:r>
            <a:r>
              <a:rPr lang="en-US" altLang="zh-CN" sz="2400" dirty="0" smtClean="0">
                <a:ea typeface="宋体" pitchFamily="2" charset="-122"/>
                <a:sym typeface="Wingdings" panose="05000000000000000000" pitchFamily="2" charset="2"/>
              </a:rPr>
              <a:t> 2T(N/2) + </a:t>
            </a:r>
            <a:r>
              <a:rPr lang="en-US" altLang="zh-CN" sz="2400" dirty="0" err="1" smtClean="0">
                <a:ea typeface="宋体" pitchFamily="2" charset="-122"/>
                <a:sym typeface="Wingdings" panose="05000000000000000000" pitchFamily="2" charset="2"/>
              </a:rPr>
              <a:t>bN</a:t>
            </a:r>
            <a:endParaRPr lang="en-US" altLang="zh-CN" sz="2400" dirty="0" smtClean="0">
              <a:ea typeface="宋体" pitchFamily="2" charset="-122"/>
              <a:sym typeface="Wingdings" panose="05000000000000000000" pitchFamily="2" charset="2"/>
            </a:endParaRPr>
          </a:p>
          <a:p>
            <a:pPr lvl="2"/>
            <a:r>
              <a:rPr lang="en-US" altLang="zh-CN" sz="2000" dirty="0" smtClean="0">
                <a:ea typeface="宋体" pitchFamily="2" charset="-122"/>
              </a:rPr>
              <a:t>Sorting N elements takes </a:t>
            </a:r>
            <a:endParaRPr lang="en-US" altLang="zh-CN" sz="2000" dirty="0" smtClean="0">
              <a:ea typeface="宋体" pitchFamily="2" charset="-122"/>
            </a:endParaRPr>
          </a:p>
          <a:p>
            <a:pPr lvl="3"/>
            <a:r>
              <a:rPr lang="en-US" altLang="zh-CN" sz="1800" dirty="0" smtClean="0">
                <a:ea typeface="宋体" pitchFamily="2" charset="-122"/>
              </a:rPr>
              <a:t>the time to sort the left half </a:t>
            </a:r>
            <a:endParaRPr lang="en-US" altLang="zh-CN" sz="1800" dirty="0" smtClean="0">
              <a:ea typeface="宋体" pitchFamily="2" charset="-122"/>
            </a:endParaRPr>
          </a:p>
          <a:p>
            <a:pPr lvl="3"/>
            <a:r>
              <a:rPr lang="en-US" altLang="zh-CN" sz="1800" dirty="0" smtClean="0">
                <a:ea typeface="宋体" pitchFamily="2" charset="-122"/>
              </a:rPr>
              <a:t>plus the time to sort the right half </a:t>
            </a:r>
            <a:endParaRPr lang="en-US" altLang="zh-CN" sz="1800" dirty="0" smtClean="0">
              <a:ea typeface="宋体" pitchFamily="2" charset="-122"/>
            </a:endParaRPr>
          </a:p>
          <a:p>
            <a:pPr lvl="3"/>
            <a:r>
              <a:rPr lang="en-US" altLang="zh-CN" sz="1800" dirty="0" smtClean="0">
                <a:ea typeface="宋体" pitchFamily="2" charset="-122"/>
              </a:rPr>
              <a:t>plus an O(N) time to merge the two halves</a:t>
            </a:r>
            <a:endParaRPr lang="en-US" altLang="zh-CN" sz="1800" dirty="0" smtClean="0">
              <a:ea typeface="宋体" pitchFamily="2" charset="-122"/>
            </a:endParaRPr>
          </a:p>
          <a:p>
            <a:r>
              <a:rPr lang="en-US" altLang="zh-CN" sz="2800" dirty="0" smtClean="0">
                <a:ea typeface="宋体" pitchFamily="2" charset="-122"/>
              </a:rPr>
              <a:t>How to calculate T(N) ?</a:t>
            </a:r>
            <a:endParaRPr lang="en-US" altLang="zh-CN" sz="2000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A6A7C9CD-373F-4209-B08F-877E41E5D8A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24A56FCE-F742-4BBD-A344-CEA29BE3F8A1}" type="slidenum">
              <a:rPr lang="en-US" altLang="zh-CN" sz="1050"/>
            </a:fld>
            <a:endParaRPr lang="en-US" altLang="zh-CN" sz="105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Mergesort</a:t>
            </a:r>
            <a:r>
              <a:rPr lang="en-US" altLang="zh-CN" dirty="0"/>
              <a:t> Analysis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01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02453" y="2051720"/>
                <a:ext cx="5915025" cy="654079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800" dirty="0" smtClean="0">
                    <a:ea typeface="宋体" pitchFamily="2" charset="-122"/>
                  </a:rPr>
                  <a:t>One calculation</a:t>
                </a:r>
                <a:endParaRPr lang="en-US" altLang="zh-CN" sz="2800" dirty="0" smtClean="0">
                  <a:ea typeface="宋体" pitchFamily="2" charset="-122"/>
                </a:endParaRPr>
              </a:p>
              <a:p>
                <a:pPr lvl="1"/>
                <a:r>
                  <a:rPr lang="en-US" altLang="zh-CN" dirty="0" smtClean="0"/>
                  <a:t>Divide </a:t>
                </a:r>
                <a:r>
                  <a:rPr lang="en-US" altLang="zh-CN" dirty="0"/>
                  <a:t>the </a:t>
                </a:r>
                <a:r>
                  <a:rPr lang="en-US" altLang="zh-CN" dirty="0" smtClean="0"/>
                  <a:t>T(N</a:t>
                </a:r>
                <a:r>
                  <a:rPr lang="en-US" altLang="zh-CN" dirty="0"/>
                  <a:t>) = 2T(N/2)+</a:t>
                </a:r>
                <a:r>
                  <a:rPr lang="en-US" altLang="zh-CN" dirty="0" err="1" smtClean="0"/>
                  <a:t>bN</a:t>
                </a:r>
                <a:r>
                  <a:rPr lang="en-US" altLang="zh-CN" dirty="0" smtClean="0"/>
                  <a:t> through </a:t>
                </a:r>
                <a:r>
                  <a:rPr lang="en-US" altLang="zh-CN" dirty="0"/>
                  <a:t>by </a:t>
                </a:r>
                <a:r>
                  <a:rPr lang="en-US" altLang="zh-CN" dirty="0" smtClean="0"/>
                  <a:t>N</a:t>
                </a:r>
                <a:endParaRPr lang="en-US" altLang="zh-CN" dirty="0" smtClean="0">
                  <a:ea typeface="宋体" pitchFamily="2" charset="-122"/>
                </a:endParaRPr>
              </a:p>
              <a:p>
                <a:pPr lvl="1"/>
                <a:endParaRPr lang="en-US" altLang="zh-CN" sz="2400" dirty="0" smtClean="0">
                  <a:ea typeface="宋体" pitchFamily="2" charset="-122"/>
                </a:endParaRPr>
              </a:p>
              <a:p>
                <a:pPr marL="2571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pPr marL="257175" lvl="1" indent="0">
                  <a:buNone/>
                </a:pPr>
                <a:endParaRPr lang="en-US" altLang="zh-CN" sz="500" i="1" dirty="0" smtClean="0">
                  <a:latin typeface="Cambria Math" panose="02040503050406030204" pitchFamily="18" charset="0"/>
                </a:endParaRPr>
              </a:p>
              <a:p>
                <a:pPr marL="2571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dirty="0" smtClean="0">
                  <a:ea typeface="宋体" pitchFamily="2" charset="-122"/>
                </a:endParaRPr>
              </a:p>
              <a:p>
                <a:pPr marL="257175" lvl="1" indent="0">
                  <a:buNone/>
                </a:pPr>
                <a:endParaRPr lang="en-US" altLang="zh-CN" sz="600" dirty="0" smtClean="0">
                  <a:ea typeface="宋体" pitchFamily="2" charset="-122"/>
                </a:endParaRPr>
              </a:p>
              <a:p>
                <a:pPr marL="2571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dirty="0" smtClean="0">
                  <a:ea typeface="宋体" pitchFamily="2" charset="-122"/>
                </a:endParaRPr>
              </a:p>
              <a:p>
                <a:pPr marL="257175" lvl="1" indent="0">
                  <a:buNone/>
                </a:pPr>
                <a:r>
                  <a:rPr lang="en-US" altLang="zh-CN" dirty="0" smtClean="0">
                    <a:ea typeface="宋体" pitchFamily="2" charset="-122"/>
                  </a:rPr>
                  <a:t>…</a:t>
                </a:r>
                <a:endParaRPr lang="en-US" altLang="zh-CN" dirty="0" smtClean="0">
                  <a:ea typeface="宋体" pitchFamily="2" charset="-122"/>
                </a:endParaRPr>
              </a:p>
              <a:p>
                <a:pPr marL="257175" lvl="1" indent="0">
                  <a:buNone/>
                </a:pPr>
                <a:endParaRPr lang="en-US" altLang="zh-CN" sz="400" dirty="0" smtClean="0">
                  <a:ea typeface="宋体" pitchFamily="2" charset="-122"/>
                </a:endParaRPr>
              </a:p>
              <a:p>
                <a:pPr marL="2571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pPr marL="257175" lvl="1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zh-CN" dirty="0"/>
                  <a:t>add up all the </a:t>
                </a:r>
                <a:r>
                  <a:rPr lang="en-US" altLang="zh-CN" dirty="0" err="1" smtClean="0"/>
                  <a:t>equations,then</a:t>
                </a:r>
                <a:endParaRPr lang="en-US" altLang="zh-CN" dirty="0" smtClean="0"/>
              </a:p>
              <a:p>
                <a:pPr lvl="1"/>
                <a:endParaRPr lang="en-US" altLang="zh-CN" dirty="0" smtClean="0"/>
              </a:p>
              <a:p>
                <a:pPr marL="2571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N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N</m:t>
                          </m:r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1</m:t>
                          </m:r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blogN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a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blogN</m:t>
                      </m:r>
                    </m:oMath>
                  </m:oMathPara>
                </a14:m>
                <a:endParaRPr lang="en-US" altLang="zh-CN" dirty="0" smtClean="0">
                  <a:latin typeface="Cambria Math" panose="02040503050406030204" pitchFamily="18" charset="0"/>
                  <a:ea typeface="宋体" pitchFamily="2" charset="-122"/>
                </a:endParaRPr>
              </a:p>
              <a:p>
                <a:pPr marL="257175" lvl="1" indent="0">
                  <a:buNone/>
                </a:pPr>
                <a:endParaRPr lang="en-US" altLang="zh-CN" sz="1100" dirty="0">
                  <a:latin typeface="Cambria Math" panose="02040503050406030204" pitchFamily="18" charset="0"/>
                  <a:ea typeface="宋体" pitchFamily="2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    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𝑇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d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𝑁</m:t>
                          </m:r>
                        </m:e>
                      </m:d>
                      <m: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aN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ea typeface="宋体" pitchFamily="2" charset="-122"/>
                        </a:rPr>
                        <m:t>bNlogN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ea typeface="宋体" pitchFamily="2" charset="-122"/>
                </a:endParaRPr>
              </a:p>
              <a:p>
                <a:r>
                  <a:rPr lang="en-US" altLang="zh-CN" sz="2800" dirty="0" smtClean="0">
                    <a:ea typeface="宋体" pitchFamily="2" charset="-122"/>
                  </a:rPr>
                  <a:t>So, T(N) = O(n log n) </a:t>
                </a:r>
                <a:endParaRPr lang="en-US" altLang="zh-CN" sz="2000" dirty="0">
                  <a:ea typeface="宋体" pitchFamily="2" charset="-122"/>
                </a:endParaRPr>
              </a:p>
            </p:txBody>
          </p:sp>
        </mc:Choice>
        <mc:Fallback>
          <p:sp>
            <p:nvSpPr>
              <p:cNvPr id="43014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2453" y="2051720"/>
                <a:ext cx="5915025" cy="6540790"/>
              </a:xfrm>
              <a:blipFill rotWithShape="1">
                <a:blip r:embed="rId1"/>
                <a:stretch>
                  <a:fillRect l="-3" t="-534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8599638F-3EBB-43FB-A498-A7B7BC3205C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A5548710-F44E-4FF9-994D-CB2FA37D1ADE}" type="slidenum">
              <a:rPr lang="en-US" altLang="zh-CN" sz="1050"/>
            </a:fld>
            <a:endParaRPr lang="en-US" altLang="zh-CN" sz="105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Properties of </a:t>
            </a:r>
            <a:r>
              <a:rPr lang="en-US" altLang="zh-CN" dirty="0" err="1" smtClean="0">
                <a:ea typeface="宋体" pitchFamily="2" charset="-122"/>
              </a:rPr>
              <a:t>Mergesort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Not in-place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Requires an auxiliary array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(O(n) extra space)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Stable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Make sure that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left</a:t>
            </a:r>
            <a:r>
              <a:rPr lang="en-US" altLang="zh-CN" dirty="0" smtClean="0">
                <a:ea typeface="宋体" pitchFamily="2" charset="-122"/>
              </a:rPr>
              <a:t> is sent to target on equal values.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FDA9698D-4CE6-4A64-886E-05B5EC88064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521E34A7-17E2-4A70-9AFC-1017C9E04886}" type="slidenum">
              <a:rPr lang="en-US" altLang="zh-CN" sz="1050"/>
            </a:fld>
            <a:endParaRPr lang="en-US" altLang="zh-CN" sz="105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Quicksort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Quicksort uses a divide and conquer strategy, but does not require the O(N) extra space that </a:t>
            </a:r>
            <a:r>
              <a:rPr lang="en-US" altLang="zh-CN" dirty="0" err="1">
                <a:ea typeface="宋体" pitchFamily="2" charset="-122"/>
                <a:sym typeface="Wingdings" panose="05000000000000000000" pitchFamily="2" charset="2"/>
              </a:rPr>
              <a:t>MergeSort</a:t>
            </a:r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 does</a:t>
            </a:r>
            <a:endParaRPr lang="en-US" altLang="zh-CN" dirty="0">
              <a:ea typeface="宋体" pitchFamily="2" charset="-122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Partition array into left and right sub-arrays</a:t>
            </a:r>
            <a:endParaRPr lang="en-US" altLang="zh-CN" dirty="0">
              <a:ea typeface="宋体" pitchFamily="2" charset="-122"/>
            </a:endParaRPr>
          </a:p>
          <a:p>
            <a:pPr lvl="2"/>
            <a:r>
              <a:rPr lang="en-US" altLang="zh-CN" dirty="0">
                <a:ea typeface="宋体" pitchFamily="2" charset="-122"/>
              </a:rPr>
              <a:t>Choose an element of the array, called 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pivot</a:t>
            </a:r>
            <a:endParaRPr lang="en-US" altLang="zh-CN" b="1" dirty="0">
              <a:solidFill>
                <a:srgbClr val="FF0000"/>
              </a:solidFill>
              <a:ea typeface="宋体" pitchFamily="2" charset="-122"/>
            </a:endParaRPr>
          </a:p>
          <a:p>
            <a:pPr lvl="2"/>
            <a:r>
              <a:rPr lang="en-US" altLang="zh-CN" dirty="0">
                <a:ea typeface="宋体" pitchFamily="2" charset="-122"/>
              </a:rPr>
              <a:t>the elements in left sub-array are all less than pivot</a:t>
            </a:r>
            <a:endParaRPr lang="en-US" altLang="zh-CN" dirty="0">
              <a:ea typeface="宋体" pitchFamily="2" charset="-122"/>
            </a:endParaRPr>
          </a:p>
          <a:p>
            <a:pPr lvl="2"/>
            <a:r>
              <a:rPr lang="en-US" altLang="zh-CN" dirty="0">
                <a:ea typeface="宋体" pitchFamily="2" charset="-122"/>
              </a:rPr>
              <a:t>elements in right sub-array are all greater than pivot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Recursively sort left and right sub-arrays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Concatenate left and right sub-arrays in </a:t>
            </a:r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O(1) time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C072B716-1D92-4316-AC95-F8C365D05B8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C6B135B3-37BF-45CF-8A40-E2E5753347A1}" type="slidenum">
              <a:rPr lang="en-US" altLang="zh-CN" sz="1050"/>
            </a:fld>
            <a:endParaRPr lang="en-US" altLang="zh-CN" sz="105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“Four easy steps”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To sort an array </a:t>
            </a:r>
            <a:r>
              <a:rPr lang="en-US" altLang="zh-CN" b="1" dirty="0" smtClean="0">
                <a:ea typeface="宋体" pitchFamily="2" charset="-122"/>
              </a:rPr>
              <a:t>S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dirty="0" smtClean="0">
                <a:ea typeface="宋体" pitchFamily="2" charset="-122"/>
              </a:rPr>
              <a:t>1. If the number of elements in </a:t>
            </a:r>
            <a:r>
              <a:rPr lang="en-US" altLang="zh-CN" b="1" dirty="0" smtClean="0">
                <a:ea typeface="宋体" pitchFamily="2" charset="-122"/>
              </a:rPr>
              <a:t>S</a:t>
            </a:r>
            <a:r>
              <a:rPr lang="en-US" altLang="zh-CN" dirty="0" smtClean="0">
                <a:ea typeface="宋体" pitchFamily="2" charset="-122"/>
              </a:rPr>
              <a:t> is 0 or 1, then return.  The array is sorted.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dirty="0" smtClean="0">
                <a:ea typeface="宋体" pitchFamily="2" charset="-122"/>
              </a:rPr>
              <a:t>2. Pick an element </a:t>
            </a:r>
            <a:r>
              <a:rPr lang="en-US" altLang="zh-CN" b="1" i="1" dirty="0" smtClean="0">
                <a:solidFill>
                  <a:srgbClr val="263AF8"/>
                </a:solidFill>
                <a:ea typeface="宋体" pitchFamily="2" charset="-122"/>
              </a:rPr>
              <a:t>v</a:t>
            </a:r>
            <a:r>
              <a:rPr lang="en-US" altLang="zh-CN" dirty="0" smtClean="0">
                <a:ea typeface="宋体" pitchFamily="2" charset="-122"/>
              </a:rPr>
              <a:t> in </a:t>
            </a:r>
            <a:r>
              <a:rPr lang="en-US" altLang="zh-CN" b="1" dirty="0" smtClean="0">
                <a:ea typeface="宋体" pitchFamily="2" charset="-122"/>
              </a:rPr>
              <a:t>S</a:t>
            </a:r>
            <a:r>
              <a:rPr lang="en-US" altLang="zh-CN" dirty="0" smtClean="0">
                <a:ea typeface="宋体" pitchFamily="2" charset="-122"/>
              </a:rPr>
              <a:t>.  This is the </a:t>
            </a:r>
            <a:r>
              <a:rPr lang="en-US" altLang="zh-CN" b="1" i="1" dirty="0" smtClean="0">
                <a:solidFill>
                  <a:srgbClr val="263AF8"/>
                </a:solidFill>
                <a:ea typeface="宋体" pitchFamily="2" charset="-122"/>
              </a:rPr>
              <a:t>pivot</a:t>
            </a:r>
            <a:r>
              <a:rPr lang="en-US" altLang="zh-CN" dirty="0" smtClean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value.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dirty="0" smtClean="0">
                <a:ea typeface="宋体" pitchFamily="2" charset="-122"/>
              </a:rPr>
              <a:t>3. Partition </a:t>
            </a:r>
            <a:r>
              <a:rPr lang="en-US" altLang="zh-CN" b="1" dirty="0" smtClean="0">
                <a:solidFill>
                  <a:srgbClr val="FF0000"/>
                </a:solidFill>
                <a:ea typeface="宋体" pitchFamily="2" charset="-122"/>
              </a:rPr>
              <a:t>S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-{</a:t>
            </a:r>
            <a:r>
              <a:rPr lang="en-US" altLang="zh-CN" b="1" i="1" dirty="0" smtClean="0">
                <a:solidFill>
                  <a:srgbClr val="FF0000"/>
                </a:solidFill>
                <a:ea typeface="宋体" pitchFamily="2" charset="-122"/>
              </a:rPr>
              <a:t>v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}</a:t>
            </a:r>
            <a:r>
              <a:rPr lang="en-US" altLang="zh-CN" dirty="0" smtClean="0">
                <a:ea typeface="宋体" pitchFamily="2" charset="-122"/>
              </a:rPr>
              <a:t> into two disjoint subsets, </a:t>
            </a:r>
            <a:r>
              <a:rPr lang="en-US" altLang="zh-CN" b="1" dirty="0" smtClean="0">
                <a:ea typeface="宋体" pitchFamily="2" charset="-122"/>
              </a:rPr>
              <a:t>S</a:t>
            </a:r>
            <a:r>
              <a:rPr lang="en-US" altLang="zh-CN" baseline="-25000" dirty="0" smtClean="0">
                <a:ea typeface="宋体" pitchFamily="2" charset="-122"/>
              </a:rPr>
              <a:t>1</a:t>
            </a:r>
            <a:r>
              <a:rPr lang="en-US" altLang="zh-CN" dirty="0" smtClean="0">
                <a:ea typeface="宋体" pitchFamily="2" charset="-122"/>
              </a:rPr>
              <a:t> = {all values </a:t>
            </a:r>
            <a:r>
              <a:rPr lang="en-US" altLang="zh-CN" i="1" dirty="0" err="1" smtClean="0">
                <a:ea typeface="宋体" pitchFamily="2" charset="-122"/>
              </a:rPr>
              <a:t>x</a:t>
            </a:r>
            <a:r>
              <a:rPr lang="en-US" altLang="zh-CN" dirty="0" err="1" smtClean="0">
                <a:ea typeface="宋体" pitchFamily="2" charset="-122"/>
                <a:sym typeface="Symbol" panose="05050102010706020507" pitchFamily="18" charset="2"/>
              </a:rPr>
              <a:t></a:t>
            </a:r>
            <a:r>
              <a:rPr lang="en-US" altLang="zh-CN" i="1" dirty="0" err="1" smtClean="0">
                <a:ea typeface="宋体" pitchFamily="2" charset="-122"/>
                <a:sym typeface="Symbol" panose="05050102010706020507" pitchFamily="18" charset="2"/>
              </a:rPr>
              <a:t>v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}, and </a:t>
            </a:r>
            <a:r>
              <a:rPr lang="en-US" altLang="zh-CN" b="1" dirty="0" smtClean="0">
                <a:ea typeface="宋体" pitchFamily="2" charset="-122"/>
                <a:sym typeface="Symbol" panose="05050102010706020507" pitchFamily="18" charset="2"/>
              </a:rPr>
              <a:t>S</a:t>
            </a:r>
            <a:r>
              <a:rPr lang="en-US" altLang="zh-CN" baseline="-25000" dirty="0" smtClean="0">
                <a:ea typeface="宋体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 = {all values </a:t>
            </a:r>
            <a:r>
              <a:rPr lang="en-US" altLang="zh-CN" i="1" dirty="0" err="1" smtClean="0">
                <a:ea typeface="宋体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 err="1" smtClean="0">
                <a:ea typeface="宋体" pitchFamily="2" charset="-122"/>
                <a:sym typeface="Symbol" panose="05050102010706020507" pitchFamily="18" charset="2"/>
              </a:rPr>
              <a:t></a:t>
            </a:r>
            <a:r>
              <a:rPr lang="en-US" altLang="zh-CN" i="1" dirty="0" err="1" smtClean="0">
                <a:ea typeface="宋体" pitchFamily="2" charset="-122"/>
                <a:sym typeface="Symbol" panose="05050102010706020507" pitchFamily="18" charset="2"/>
              </a:rPr>
              <a:t>v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}.</a:t>
            </a:r>
            <a:endParaRPr lang="en-US" altLang="zh-CN" dirty="0" smtClean="0">
              <a:ea typeface="宋体" pitchFamily="2" charset="-122"/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4. Return </a:t>
            </a:r>
            <a:r>
              <a:rPr lang="en-US" altLang="zh-CN" dirty="0" err="1" smtClean="0">
                <a:ea typeface="宋体" pitchFamily="2" charset="-122"/>
                <a:sym typeface="Symbol" panose="05050102010706020507" pitchFamily="18" charset="2"/>
              </a:rPr>
              <a:t>QuickSort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smtClean="0">
                <a:ea typeface="宋体" pitchFamily="2" charset="-122"/>
                <a:sym typeface="Symbol" panose="05050102010706020507" pitchFamily="18" charset="2"/>
              </a:rPr>
              <a:t>S</a:t>
            </a:r>
            <a:r>
              <a:rPr lang="en-US" altLang="zh-CN" baseline="-25000" dirty="0" smtClean="0">
                <a:ea typeface="宋体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), </a:t>
            </a:r>
            <a:r>
              <a:rPr lang="en-US" altLang="zh-CN" i="1" dirty="0" smtClean="0">
                <a:ea typeface="宋体" pitchFamily="2" charset="-122"/>
                <a:sym typeface="Symbol" panose="05050102010706020507" pitchFamily="18" charset="2"/>
              </a:rPr>
              <a:t>v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, </a:t>
            </a:r>
            <a:r>
              <a:rPr lang="en-US" altLang="zh-CN" dirty="0" err="1" smtClean="0">
                <a:ea typeface="宋体" pitchFamily="2" charset="-122"/>
                <a:sym typeface="Symbol" panose="05050102010706020507" pitchFamily="18" charset="2"/>
              </a:rPr>
              <a:t>QuickSort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smtClean="0">
                <a:ea typeface="宋体" pitchFamily="2" charset="-122"/>
                <a:sym typeface="Symbol" panose="05050102010706020507" pitchFamily="18" charset="2"/>
              </a:rPr>
              <a:t>S</a:t>
            </a:r>
            <a:r>
              <a:rPr lang="en-US" altLang="zh-CN" baseline="-25000" dirty="0" smtClean="0">
                <a:ea typeface="宋体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)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A8B95E8E-403D-42E1-B357-D68F32B2979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778705BC-21F1-488C-9473-EBFF443EAC5E}" type="slidenum">
              <a:rPr lang="en-US" altLang="zh-CN" sz="1050"/>
            </a:fld>
            <a:endParaRPr lang="en-US" altLang="zh-CN" sz="105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The steps of </a:t>
            </a:r>
            <a:r>
              <a:rPr lang="en-US" altLang="zh-CN" dirty="0" err="1" smtClean="0">
                <a:ea typeface="宋体" pitchFamily="2" charset="-122"/>
              </a:rPr>
              <a:t>QuickSort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70" name="Oval 3"/>
          <p:cNvSpPr>
            <a:spLocks noChangeArrowheads="1"/>
          </p:cNvSpPr>
          <p:nvPr/>
        </p:nvSpPr>
        <p:spPr bwMode="auto">
          <a:xfrm>
            <a:off x="424374" y="3131840"/>
            <a:ext cx="4724400" cy="9906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71" name="Text Box 4"/>
          <p:cNvSpPr txBox="1">
            <a:spLocks noChangeArrowheads="1"/>
          </p:cNvSpPr>
          <p:nvPr/>
        </p:nvSpPr>
        <p:spPr bwMode="auto">
          <a:xfrm>
            <a:off x="697560" y="34046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1307160" y="32522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81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3" name="Text Box 6"/>
          <p:cNvSpPr txBox="1">
            <a:spLocks noChangeArrowheads="1"/>
          </p:cNvSpPr>
          <p:nvPr/>
        </p:nvSpPr>
        <p:spPr bwMode="auto">
          <a:xfrm>
            <a:off x="1535760" y="35570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92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2069160" y="33284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43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5" name="Text Box 8"/>
          <p:cNvSpPr txBox="1">
            <a:spLocks noChangeArrowheads="1"/>
          </p:cNvSpPr>
          <p:nvPr/>
        </p:nvSpPr>
        <p:spPr bwMode="auto">
          <a:xfrm>
            <a:off x="2450160" y="37396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65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2678760" y="32522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3288360" y="32522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57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8" name="Text Box 11"/>
          <p:cNvSpPr txBox="1">
            <a:spLocks noChangeArrowheads="1"/>
          </p:cNvSpPr>
          <p:nvPr/>
        </p:nvSpPr>
        <p:spPr bwMode="auto">
          <a:xfrm>
            <a:off x="3593160" y="37094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9" name="Text Box 12"/>
          <p:cNvSpPr txBox="1">
            <a:spLocks noChangeArrowheads="1"/>
          </p:cNvSpPr>
          <p:nvPr/>
        </p:nvSpPr>
        <p:spPr bwMode="auto">
          <a:xfrm>
            <a:off x="3974160" y="34046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75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0" name="Text Box 13"/>
          <p:cNvSpPr txBox="1">
            <a:spLocks noChangeArrowheads="1"/>
          </p:cNvSpPr>
          <p:nvPr/>
        </p:nvSpPr>
        <p:spPr bwMode="auto">
          <a:xfrm>
            <a:off x="4523238" y="355708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1" name="Oval 14"/>
          <p:cNvSpPr>
            <a:spLocks noChangeArrowheads="1"/>
          </p:cNvSpPr>
          <p:nvPr/>
        </p:nvSpPr>
        <p:spPr bwMode="auto">
          <a:xfrm>
            <a:off x="2477012" y="3739853"/>
            <a:ext cx="384175" cy="3016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82" name="Text Box 15"/>
          <p:cNvSpPr txBox="1">
            <a:spLocks noChangeArrowheads="1"/>
          </p:cNvSpPr>
          <p:nvPr/>
        </p:nvSpPr>
        <p:spPr bwMode="auto">
          <a:xfrm>
            <a:off x="2706812" y="2508528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</a:rPr>
              <a:t>S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3" name="Text Box 16"/>
          <p:cNvSpPr txBox="1">
            <a:spLocks noChangeArrowheads="1"/>
          </p:cNvSpPr>
          <p:nvPr/>
        </p:nvSpPr>
        <p:spPr bwMode="auto">
          <a:xfrm>
            <a:off x="5356091" y="3273437"/>
            <a:ext cx="14655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select </a:t>
            </a:r>
            <a:r>
              <a:rPr lang="en-US" altLang="zh-CN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pivot</a:t>
            </a:r>
            <a:endParaRPr lang="en-US" altLang="zh-CN" b="1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4" name="Oval 17"/>
          <p:cNvSpPr>
            <a:spLocks noChangeArrowheads="1"/>
          </p:cNvSpPr>
          <p:nvPr/>
        </p:nvSpPr>
        <p:spPr bwMode="auto">
          <a:xfrm>
            <a:off x="500574" y="4427240"/>
            <a:ext cx="1981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85" name="Text Box 18"/>
          <p:cNvSpPr txBox="1">
            <a:spLocks noChangeArrowheads="1"/>
          </p:cNvSpPr>
          <p:nvPr/>
        </p:nvSpPr>
        <p:spPr bwMode="auto">
          <a:xfrm>
            <a:off x="545160" y="47000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6" name="Text Box 19"/>
          <p:cNvSpPr txBox="1">
            <a:spLocks noChangeArrowheads="1"/>
          </p:cNvSpPr>
          <p:nvPr/>
        </p:nvSpPr>
        <p:spPr bwMode="auto">
          <a:xfrm>
            <a:off x="4812360" y="47762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81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7" name="Text Box 20"/>
          <p:cNvSpPr txBox="1">
            <a:spLocks noChangeArrowheads="1"/>
          </p:cNvSpPr>
          <p:nvPr/>
        </p:nvSpPr>
        <p:spPr bwMode="auto">
          <a:xfrm>
            <a:off x="3821760" y="48524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92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8" name="Text Box 21"/>
          <p:cNvSpPr txBox="1">
            <a:spLocks noChangeArrowheads="1"/>
          </p:cNvSpPr>
          <p:nvPr/>
        </p:nvSpPr>
        <p:spPr bwMode="auto">
          <a:xfrm>
            <a:off x="1307160" y="46238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43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89" name="Text Box 22"/>
          <p:cNvSpPr txBox="1">
            <a:spLocks noChangeArrowheads="1"/>
          </p:cNvSpPr>
          <p:nvPr/>
        </p:nvSpPr>
        <p:spPr bwMode="auto">
          <a:xfrm>
            <a:off x="2835923" y="465563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65</a:t>
            </a:r>
            <a:endParaRPr lang="en-US" altLang="zh-CN" sz="1600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0" name="Text Box 23"/>
          <p:cNvSpPr txBox="1">
            <a:spLocks noChangeArrowheads="1"/>
          </p:cNvSpPr>
          <p:nvPr/>
        </p:nvSpPr>
        <p:spPr bwMode="auto">
          <a:xfrm>
            <a:off x="1840560" y="45476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1" name="Text Box 24"/>
          <p:cNvSpPr txBox="1">
            <a:spLocks noChangeArrowheads="1"/>
          </p:cNvSpPr>
          <p:nvPr/>
        </p:nvSpPr>
        <p:spPr bwMode="auto">
          <a:xfrm>
            <a:off x="1611960" y="49286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57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2" name="Text Box 25"/>
          <p:cNvSpPr txBox="1">
            <a:spLocks noChangeArrowheads="1"/>
          </p:cNvSpPr>
          <p:nvPr/>
        </p:nvSpPr>
        <p:spPr bwMode="auto">
          <a:xfrm>
            <a:off x="1002360" y="49286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3" name="Text Box 26"/>
          <p:cNvSpPr txBox="1">
            <a:spLocks noChangeArrowheads="1"/>
          </p:cNvSpPr>
          <p:nvPr/>
        </p:nvSpPr>
        <p:spPr bwMode="auto">
          <a:xfrm>
            <a:off x="4355160" y="454768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75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4" name="Text Box 27"/>
          <p:cNvSpPr txBox="1">
            <a:spLocks noChangeArrowheads="1"/>
          </p:cNvSpPr>
          <p:nvPr/>
        </p:nvSpPr>
        <p:spPr bwMode="auto">
          <a:xfrm>
            <a:off x="1018038" y="447148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5" name="Oval 28"/>
          <p:cNvSpPr>
            <a:spLocks noChangeArrowheads="1"/>
          </p:cNvSpPr>
          <p:nvPr/>
        </p:nvSpPr>
        <p:spPr bwMode="auto">
          <a:xfrm>
            <a:off x="2862774" y="4655840"/>
            <a:ext cx="384175" cy="301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 b="1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116632" y="4219826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7" name="Oval 30"/>
          <p:cNvSpPr>
            <a:spLocks noChangeArrowheads="1"/>
          </p:cNvSpPr>
          <p:nvPr/>
        </p:nvSpPr>
        <p:spPr bwMode="auto">
          <a:xfrm>
            <a:off x="3548574" y="4503440"/>
            <a:ext cx="1981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98" name="Text Box 31"/>
          <p:cNvSpPr txBox="1">
            <a:spLocks noChangeArrowheads="1"/>
          </p:cNvSpPr>
          <p:nvPr/>
        </p:nvSpPr>
        <p:spPr bwMode="auto">
          <a:xfrm>
            <a:off x="3318390" y="4272607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9" name="Text Box 32"/>
          <p:cNvSpPr txBox="1">
            <a:spLocks noChangeArrowheads="1"/>
          </p:cNvSpPr>
          <p:nvPr/>
        </p:nvSpPr>
        <p:spPr bwMode="auto">
          <a:xfrm>
            <a:off x="5487763" y="4456085"/>
            <a:ext cx="13580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partition S</a:t>
            </a:r>
            <a:endParaRPr lang="en-US" altLang="zh-CN" b="1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0" name="Oval 33"/>
          <p:cNvSpPr>
            <a:spLocks noChangeArrowheads="1"/>
          </p:cNvSpPr>
          <p:nvPr/>
        </p:nvSpPr>
        <p:spPr bwMode="auto">
          <a:xfrm>
            <a:off x="195774" y="5922665"/>
            <a:ext cx="23114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101" name="Text Box 34"/>
          <p:cNvSpPr txBox="1">
            <a:spLocks noChangeArrowheads="1"/>
          </p:cNvSpPr>
          <p:nvPr/>
        </p:nvSpPr>
        <p:spPr bwMode="auto">
          <a:xfrm>
            <a:off x="5832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2" name="Text Box 35"/>
          <p:cNvSpPr txBox="1">
            <a:spLocks noChangeArrowheads="1"/>
          </p:cNvSpPr>
          <p:nvPr/>
        </p:nvSpPr>
        <p:spPr bwMode="auto">
          <a:xfrm>
            <a:off x="14976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43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3" name="Text Box 36"/>
          <p:cNvSpPr txBox="1">
            <a:spLocks noChangeArrowheads="1"/>
          </p:cNvSpPr>
          <p:nvPr/>
        </p:nvSpPr>
        <p:spPr bwMode="auto">
          <a:xfrm>
            <a:off x="11801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4" name="Text Box 37"/>
          <p:cNvSpPr txBox="1">
            <a:spLocks noChangeArrowheads="1"/>
          </p:cNvSpPr>
          <p:nvPr/>
        </p:nvSpPr>
        <p:spPr bwMode="auto">
          <a:xfrm>
            <a:off x="18024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57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5" name="Text Box 38"/>
          <p:cNvSpPr txBox="1">
            <a:spLocks noChangeArrowheads="1"/>
          </p:cNvSpPr>
          <p:nvPr/>
        </p:nvSpPr>
        <p:spPr bwMode="auto">
          <a:xfrm>
            <a:off x="8753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6" name="Text Box 39"/>
          <p:cNvSpPr txBox="1">
            <a:spLocks noChangeArrowheads="1"/>
          </p:cNvSpPr>
          <p:nvPr/>
        </p:nvSpPr>
        <p:spPr bwMode="auto">
          <a:xfrm>
            <a:off x="386213" y="5949445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7" name="Text Box 40"/>
          <p:cNvSpPr txBox="1">
            <a:spLocks noChangeArrowheads="1"/>
          </p:cNvSpPr>
          <p:nvPr/>
        </p:nvSpPr>
        <p:spPr bwMode="auto">
          <a:xfrm>
            <a:off x="117991" y="5491808"/>
            <a:ext cx="4587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itchFamily="2" charset="-122"/>
              </a:rPr>
              <a:t>S</a:t>
            </a:r>
            <a:r>
              <a:rPr lang="en-US" altLang="zh-CN" sz="2400" baseline="-2500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24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8" name="Text Box 41"/>
          <p:cNvSpPr txBox="1">
            <a:spLocks noChangeArrowheads="1"/>
          </p:cNvSpPr>
          <p:nvPr/>
        </p:nvSpPr>
        <p:spPr bwMode="auto">
          <a:xfrm>
            <a:off x="40757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81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09" name="Text Box 42"/>
          <p:cNvSpPr txBox="1">
            <a:spLocks noChangeArrowheads="1"/>
          </p:cNvSpPr>
          <p:nvPr/>
        </p:nvSpPr>
        <p:spPr bwMode="auto">
          <a:xfrm>
            <a:off x="44567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92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10" name="Text Box 43"/>
          <p:cNvSpPr txBox="1">
            <a:spLocks noChangeArrowheads="1"/>
          </p:cNvSpPr>
          <p:nvPr/>
        </p:nvSpPr>
        <p:spPr bwMode="auto">
          <a:xfrm>
            <a:off x="3694760" y="59494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75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11" name="Oval 44"/>
          <p:cNvSpPr>
            <a:spLocks noChangeArrowheads="1"/>
          </p:cNvSpPr>
          <p:nvPr/>
        </p:nvSpPr>
        <p:spPr bwMode="auto">
          <a:xfrm>
            <a:off x="3497774" y="5875040"/>
            <a:ext cx="1600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112" name="Text Box 45"/>
          <p:cNvSpPr txBox="1">
            <a:spLocks noChangeArrowheads="1"/>
          </p:cNvSpPr>
          <p:nvPr/>
        </p:nvSpPr>
        <p:spPr bwMode="auto">
          <a:xfrm>
            <a:off x="2781948" y="5951033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65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13" name="Oval 46"/>
          <p:cNvSpPr>
            <a:spLocks noChangeArrowheads="1"/>
          </p:cNvSpPr>
          <p:nvPr/>
        </p:nvSpPr>
        <p:spPr bwMode="auto">
          <a:xfrm>
            <a:off x="2808799" y="5951240"/>
            <a:ext cx="384175" cy="301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114" name="Text Box 47"/>
          <p:cNvSpPr txBox="1">
            <a:spLocks noChangeArrowheads="1"/>
          </p:cNvSpPr>
          <p:nvPr/>
        </p:nvSpPr>
        <p:spPr bwMode="auto">
          <a:xfrm>
            <a:off x="3318391" y="5491808"/>
            <a:ext cx="4587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5" name="Text Box 48"/>
          <p:cNvSpPr txBox="1">
            <a:spLocks noChangeArrowheads="1"/>
          </p:cNvSpPr>
          <p:nvPr/>
        </p:nvSpPr>
        <p:spPr bwMode="auto">
          <a:xfrm>
            <a:off x="5228622" y="5436096"/>
            <a:ext cx="172877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err="1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QuickSort</a:t>
            </a:r>
            <a:r>
              <a:rPr lang="en-US" altLang="zh-CN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(S</a:t>
            </a:r>
            <a:r>
              <a:rPr lang="en-US" altLang="zh-CN" b="1" baseline="-25000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1</a:t>
            </a:r>
            <a:r>
              <a:rPr lang="en-US" altLang="zh-CN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) </a:t>
            </a:r>
            <a:r>
              <a:rPr lang="en-US" altLang="zh-CN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&amp;</a:t>
            </a:r>
            <a:endParaRPr lang="en-US" altLang="zh-CN" b="1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b="1" dirty="0" err="1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QuickSort</a:t>
            </a:r>
            <a:r>
              <a:rPr lang="en-US" altLang="zh-CN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(S</a:t>
            </a:r>
            <a:r>
              <a:rPr lang="en-US" altLang="zh-CN" b="1" baseline="-25000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en-US" altLang="zh-CN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)</a:t>
            </a:r>
            <a:endParaRPr lang="en-US" altLang="zh-CN" b="1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6" name="Oval 49"/>
          <p:cNvSpPr>
            <a:spLocks noChangeArrowheads="1"/>
          </p:cNvSpPr>
          <p:nvPr/>
        </p:nvSpPr>
        <p:spPr bwMode="auto">
          <a:xfrm>
            <a:off x="805374" y="6898978"/>
            <a:ext cx="3683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>
              <a:ea typeface="宋体" pitchFamily="2" charset="-122"/>
            </a:endParaRPr>
          </a:p>
        </p:txBody>
      </p:sp>
      <p:sp>
        <p:nvSpPr>
          <p:cNvPr id="117" name="Text Box 50"/>
          <p:cNvSpPr txBox="1">
            <a:spLocks noChangeArrowheads="1"/>
          </p:cNvSpPr>
          <p:nvPr/>
        </p:nvSpPr>
        <p:spPr bwMode="auto">
          <a:xfrm>
            <a:off x="11928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18" name="Text Box 51"/>
          <p:cNvSpPr txBox="1">
            <a:spLocks noChangeArrowheads="1"/>
          </p:cNvSpPr>
          <p:nvPr/>
        </p:nvSpPr>
        <p:spPr bwMode="auto">
          <a:xfrm>
            <a:off x="21072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43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19" name="Text Box 52"/>
          <p:cNvSpPr txBox="1">
            <a:spLocks noChangeArrowheads="1"/>
          </p:cNvSpPr>
          <p:nvPr/>
        </p:nvSpPr>
        <p:spPr bwMode="auto">
          <a:xfrm>
            <a:off x="17897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0" name="Text Box 53"/>
          <p:cNvSpPr txBox="1">
            <a:spLocks noChangeArrowheads="1"/>
          </p:cNvSpPr>
          <p:nvPr/>
        </p:nvSpPr>
        <p:spPr bwMode="auto">
          <a:xfrm>
            <a:off x="24120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57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1" name="Text Box 54"/>
          <p:cNvSpPr txBox="1">
            <a:spLocks noChangeArrowheads="1"/>
          </p:cNvSpPr>
          <p:nvPr/>
        </p:nvSpPr>
        <p:spPr bwMode="auto">
          <a:xfrm>
            <a:off x="14849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2" name="Text Box 55"/>
          <p:cNvSpPr txBox="1">
            <a:spLocks noChangeArrowheads="1"/>
          </p:cNvSpPr>
          <p:nvPr/>
        </p:nvSpPr>
        <p:spPr bwMode="auto">
          <a:xfrm>
            <a:off x="995813" y="6940045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3" name="Text Box 56"/>
          <p:cNvSpPr txBox="1">
            <a:spLocks noChangeArrowheads="1"/>
          </p:cNvSpPr>
          <p:nvPr/>
        </p:nvSpPr>
        <p:spPr bwMode="auto">
          <a:xfrm>
            <a:off x="27803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65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4" name="Text Box 57"/>
          <p:cNvSpPr txBox="1">
            <a:spLocks noChangeArrowheads="1"/>
          </p:cNvSpPr>
          <p:nvPr/>
        </p:nvSpPr>
        <p:spPr bwMode="auto">
          <a:xfrm>
            <a:off x="35550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81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5" name="Text Box 58"/>
          <p:cNvSpPr txBox="1">
            <a:spLocks noChangeArrowheads="1"/>
          </p:cNvSpPr>
          <p:nvPr/>
        </p:nvSpPr>
        <p:spPr bwMode="auto">
          <a:xfrm>
            <a:off x="39360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92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6" name="Text Box 59"/>
          <p:cNvSpPr txBox="1">
            <a:spLocks noChangeArrowheads="1"/>
          </p:cNvSpPr>
          <p:nvPr/>
        </p:nvSpPr>
        <p:spPr bwMode="auto">
          <a:xfrm>
            <a:off x="3174060" y="6940045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75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27" name="Text Box 60"/>
          <p:cNvSpPr txBox="1">
            <a:spLocks noChangeArrowheads="1"/>
          </p:cNvSpPr>
          <p:nvPr/>
        </p:nvSpPr>
        <p:spPr bwMode="auto">
          <a:xfrm>
            <a:off x="374074" y="6787208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</a:rPr>
              <a:t>S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8" name="Text Box 61"/>
          <p:cNvSpPr txBox="1">
            <a:spLocks noChangeArrowheads="1"/>
          </p:cNvSpPr>
          <p:nvPr/>
        </p:nvSpPr>
        <p:spPr bwMode="auto">
          <a:xfrm>
            <a:off x="5405306" y="6961673"/>
            <a:ext cx="13083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S </a:t>
            </a:r>
            <a:r>
              <a:rPr lang="en-US" altLang="zh-CN" b="1" dirty="0">
                <a:solidFill>
                  <a:srgbClr val="263AF8"/>
                </a:solidFill>
                <a:latin typeface="Times New Roman" panose="02020603050405020304" pitchFamily="18" charset="0"/>
                <a:ea typeface="宋体" pitchFamily="2" charset="-122"/>
              </a:rPr>
              <a:t>is sorted</a:t>
            </a:r>
            <a:endParaRPr lang="en-US" altLang="zh-CN" b="1" dirty="0">
              <a:solidFill>
                <a:srgbClr val="263AF8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0" name="Freeform 63"/>
          <p:cNvSpPr/>
          <p:nvPr/>
        </p:nvSpPr>
        <p:spPr bwMode="auto">
          <a:xfrm>
            <a:off x="2854837" y="3412718"/>
            <a:ext cx="2373785" cy="344598"/>
          </a:xfrm>
          <a:custGeom>
            <a:avLst/>
            <a:gdLst>
              <a:gd name="T0" fmla="*/ 2979737 w 1877"/>
              <a:gd name="T1" fmla="*/ 0 h 250"/>
              <a:gd name="T2" fmla="*/ 952500 w 1877"/>
              <a:gd name="T3" fmla="*/ 125413 h 250"/>
              <a:gd name="T4" fmla="*/ 0 w 1877"/>
              <a:gd name="T5" fmla="*/ 396875 h 2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7" h="250">
                <a:moveTo>
                  <a:pt x="1877" y="0"/>
                </a:moveTo>
                <a:cubicBezTo>
                  <a:pt x="1664" y="13"/>
                  <a:pt x="913" y="37"/>
                  <a:pt x="600" y="79"/>
                </a:cubicBezTo>
                <a:cubicBezTo>
                  <a:pt x="287" y="121"/>
                  <a:pt x="125" y="215"/>
                  <a:pt x="0" y="250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31" name="AutoShape 64"/>
          <p:cNvSpPr>
            <a:spLocks noChangeArrowheads="1"/>
          </p:cNvSpPr>
          <p:nvPr/>
        </p:nvSpPr>
        <p:spPr bwMode="auto">
          <a:xfrm>
            <a:off x="5901316" y="3991852"/>
            <a:ext cx="381000" cy="381000"/>
          </a:xfrm>
          <a:prstGeom prst="downArrow">
            <a:avLst>
              <a:gd name="adj1" fmla="val 50000"/>
              <a:gd name="adj2" fmla="val 35833"/>
            </a:avLst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 b="1">
              <a:ea typeface="宋体" pitchFamily="2" charset="-122"/>
            </a:endParaRPr>
          </a:p>
        </p:txBody>
      </p:sp>
      <p:sp>
        <p:nvSpPr>
          <p:cNvPr id="132" name="AutoShape 65"/>
          <p:cNvSpPr>
            <a:spLocks noChangeArrowheads="1"/>
          </p:cNvSpPr>
          <p:nvPr/>
        </p:nvSpPr>
        <p:spPr bwMode="auto">
          <a:xfrm>
            <a:off x="5868991" y="5004048"/>
            <a:ext cx="381000" cy="381000"/>
          </a:xfrm>
          <a:prstGeom prst="downArrow">
            <a:avLst>
              <a:gd name="adj1" fmla="val 50000"/>
              <a:gd name="adj2" fmla="val 35833"/>
            </a:avLst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 b="1">
              <a:solidFill>
                <a:srgbClr val="263AF8"/>
              </a:solidFill>
              <a:ea typeface="宋体" pitchFamily="2" charset="-122"/>
            </a:endParaRPr>
          </a:p>
        </p:txBody>
      </p:sp>
      <p:sp>
        <p:nvSpPr>
          <p:cNvPr id="133" name="AutoShape 66"/>
          <p:cNvSpPr>
            <a:spLocks noChangeArrowheads="1"/>
          </p:cNvSpPr>
          <p:nvPr/>
        </p:nvSpPr>
        <p:spPr bwMode="auto">
          <a:xfrm>
            <a:off x="5868991" y="6516216"/>
            <a:ext cx="381000" cy="381000"/>
          </a:xfrm>
          <a:prstGeom prst="downArrow">
            <a:avLst>
              <a:gd name="adj1" fmla="val 50000"/>
              <a:gd name="adj2" fmla="val 35833"/>
            </a:avLst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2800" b="1">
              <a:solidFill>
                <a:srgbClr val="263AF8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DAE42536-CBD8-4E39-8120-7157F988BC9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118A49A1-348E-41E6-90E8-3E952863AB13}" type="slidenum">
              <a:rPr lang="en-US" altLang="zh-CN" sz="1050"/>
            </a:fld>
            <a:endParaRPr lang="en-US" altLang="zh-CN" sz="105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Partitioning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483768"/>
            <a:ext cx="5829300" cy="4088482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Picking the pivot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want a value that will cause |S</a:t>
            </a:r>
            <a:r>
              <a:rPr lang="en-US" altLang="zh-CN" baseline="-25000" dirty="0" smtClean="0">
                <a:ea typeface="宋体" pitchFamily="2" charset="-122"/>
              </a:rPr>
              <a:t>1</a:t>
            </a:r>
            <a:r>
              <a:rPr lang="en-US" altLang="zh-CN" dirty="0" smtClean="0">
                <a:ea typeface="宋体" pitchFamily="2" charset="-122"/>
              </a:rPr>
              <a:t>| and |S</a:t>
            </a:r>
            <a:r>
              <a:rPr lang="en-US" altLang="zh-CN" baseline="-25000" dirty="0" smtClean="0">
                <a:ea typeface="宋体" pitchFamily="2" charset="-122"/>
              </a:rPr>
              <a:t>2</a:t>
            </a:r>
            <a:r>
              <a:rPr lang="en-US" altLang="zh-CN" dirty="0" smtClean="0">
                <a:ea typeface="宋体" pitchFamily="2" charset="-122"/>
              </a:rPr>
              <a:t>| to be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non-zero, and close to equal </a:t>
            </a:r>
            <a:r>
              <a:rPr lang="en-US" altLang="zh-CN" dirty="0" smtClean="0">
                <a:ea typeface="宋体" pitchFamily="2" charset="-122"/>
              </a:rPr>
              <a:t>in size if possible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/>
              <a:t>Partitioning Strategy</a:t>
            </a:r>
            <a:endParaRPr lang="en-US" altLang="zh-CN" dirty="0" smtClean="0"/>
          </a:p>
          <a:p>
            <a:pPr lvl="1"/>
            <a:r>
              <a:rPr lang="en-US" altLang="zh-CN" dirty="0"/>
              <a:t>How do the elements get to the correct partition</a:t>
            </a:r>
            <a:endParaRPr lang="en-US" altLang="zh-CN" dirty="0" smtClean="0"/>
          </a:p>
          <a:p>
            <a:pPr lvl="1"/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Select </a:t>
            </a:r>
            <a:r>
              <a:rPr lang="en-US" altLang="zh-CN" dirty="0"/>
              <a:t>pivot 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altLang="zh-CN" sz="2000" dirty="0">
                    <a:ea typeface="宋体" pitchFamily="2" charset="-122"/>
                  </a:rPr>
                  <a:t>The </a:t>
                </a:r>
                <a:r>
                  <a:rPr lang="en-US" altLang="zh-CN" sz="2000" dirty="0" smtClean="0">
                    <a:ea typeface="宋体" pitchFamily="2" charset="-122"/>
                  </a:rPr>
                  <a:t>find pivot </a:t>
                </a:r>
                <a:r>
                  <a:rPr lang="en-US" altLang="zh-CN" sz="2000" dirty="0">
                    <a:ea typeface="宋体" pitchFamily="2" charset="-122"/>
                  </a:rPr>
                  <a:t>function</a:t>
                </a:r>
                <a:endParaRPr lang="en-US" altLang="zh-CN" sz="2000" dirty="0">
                  <a:ea typeface="宋体" pitchFamily="2" charset="-122"/>
                </a:endParaRPr>
              </a:p>
              <a:p>
                <a:pPr lvl="1"/>
                <a:r>
                  <a:rPr lang="en-US" altLang="zh-CN" sz="1800" dirty="0">
                    <a:ea typeface="宋体" pitchFamily="2" charset="-122"/>
                  </a:rPr>
                  <a:t>Use </a:t>
                </a:r>
                <a:r>
                  <a:rPr lang="en-US" altLang="zh-CN" sz="1800" dirty="0" smtClean="0">
                    <a:ea typeface="宋体" pitchFamily="2" charset="-122"/>
                  </a:rPr>
                  <a:t>the </a:t>
                </a:r>
                <a:r>
                  <a:rPr lang="en-US" altLang="zh-CN" sz="1800" dirty="0">
                    <a:ea typeface="宋体" pitchFamily="2" charset="-122"/>
                  </a:rPr>
                  <a:t>value in the first position?</a:t>
                </a:r>
                <a:endParaRPr lang="en-US" altLang="zh-CN" sz="1800" dirty="0">
                  <a:ea typeface="宋体" pitchFamily="2" charset="-122"/>
                </a:endParaRPr>
              </a:p>
              <a:p>
                <a:pPr lvl="2"/>
                <a:r>
                  <a:rPr lang="en-US" altLang="zh-CN" sz="1600" dirty="0" smtClean="0">
                    <a:ea typeface="宋体" pitchFamily="2" charset="-122"/>
                  </a:rPr>
                  <a:t>poor </a:t>
                </a:r>
                <a:r>
                  <a:rPr lang="en-US" altLang="zh-CN" sz="1600" dirty="0">
                    <a:ea typeface="宋体" pitchFamily="2" charset="-122"/>
                  </a:rPr>
                  <a:t>partitioning if the input is sorted or reverse sorted.</a:t>
                </a:r>
                <a:endParaRPr lang="en-US" altLang="zh-CN" sz="1600" dirty="0">
                  <a:ea typeface="宋体" pitchFamily="2" charset="-122"/>
                </a:endParaRPr>
              </a:p>
              <a:p>
                <a:pPr lvl="1"/>
                <a:r>
                  <a:rPr lang="en-US" altLang="zh-CN" sz="1800" dirty="0">
                    <a:ea typeface="宋体" pitchFamily="2" charset="-122"/>
                  </a:rPr>
                  <a:t>Pick a value at random position?</a:t>
                </a:r>
                <a:endParaRPr lang="en-US" altLang="zh-CN" sz="1800" dirty="0">
                  <a:ea typeface="宋体" pitchFamily="2" charset="-122"/>
                </a:endParaRPr>
              </a:p>
              <a:p>
                <a:pPr lvl="2"/>
                <a:r>
                  <a:rPr lang="en-US" altLang="zh-CN" sz="1600" dirty="0" smtClean="0">
                    <a:ea typeface="宋体" pitchFamily="2" charset="-122"/>
                  </a:rPr>
                  <a:t>using </a:t>
                </a:r>
                <a:r>
                  <a:rPr lang="en-US" altLang="zh-CN" sz="1600" dirty="0">
                    <a:ea typeface="宋体" pitchFamily="2" charset="-122"/>
                  </a:rPr>
                  <a:t>a random number generator is expensive </a:t>
                </a:r>
                <a:endParaRPr lang="en-US" altLang="zh-CN" sz="1600" dirty="0">
                  <a:ea typeface="宋体" pitchFamily="2" charset="-122"/>
                </a:endParaRPr>
              </a:p>
              <a:p>
                <a:pPr lvl="1"/>
                <a:r>
                  <a:rPr lang="en-US" altLang="zh-CN" sz="1800" dirty="0">
                    <a:ea typeface="宋体" pitchFamily="2" charset="-122"/>
                  </a:rPr>
                  <a:t>Select the value in the middle position in the </a:t>
                </a:r>
                <a:r>
                  <a:rPr lang="en-US" altLang="zh-CN" sz="1800" dirty="0" smtClean="0">
                    <a:ea typeface="宋体" pitchFamily="2" charset="-122"/>
                  </a:rPr>
                  <a:t>array</a:t>
                </a:r>
                <a:endParaRPr lang="en-US" altLang="zh-CN" sz="1800" dirty="0" smtClean="0">
                  <a:ea typeface="宋体" pitchFamily="2" charset="-122"/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1600" dirty="0">
                            <a:latin typeface="DejaVu Math TeX Gyre" panose="02000503000000000000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1600" dirty="0">
                            <a:latin typeface="DejaVu Math TeX Gyre" panose="02000503000000000000" charset="0"/>
                          </a:rPr>
                          <m:t>left</m:t>
                        </m:r>
                        <m:r>
                          <m:rPr>
                            <m:nor/>
                          </m:rPr>
                          <a:rPr lang="en-US" altLang="zh-CN" sz="1600" dirty="0">
                            <a:latin typeface="DejaVu Math TeX Gyre" panose="02000503000000000000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altLang="zh-CN" sz="1600" dirty="0">
                            <a:latin typeface="DejaVu Math TeX Gyre" panose="02000503000000000000" charset="0"/>
                          </a:rPr>
                          <m:t>right</m:t>
                        </m:r>
                        <m:r>
                          <m:rPr>
                            <m:nor/>
                          </m:rPr>
                          <a:rPr lang="en-US" altLang="zh-CN" sz="1600" dirty="0">
                            <a:latin typeface="DejaVu Math TeX Gyre" panose="02000503000000000000" charset="0"/>
                          </a:rPr>
                          <m:t>)/</m:t>
                        </m:r>
                        <m:r>
                          <m:rPr>
                            <m:nor/>
                          </m:rPr>
                          <a:rPr lang="en-US" altLang="zh-CN" sz="1600" dirty="0">
                            <a:latin typeface="DejaVu Math TeX Gyre" panose="02000503000000000000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zh-CN" sz="1600" dirty="0" smtClean="0"/>
              </a:p>
              <a:p>
                <a:pPr lvl="1"/>
                <a:r>
                  <a:rPr lang="en-US" altLang="zh-CN" sz="1800" dirty="0">
                    <a:ea typeface="宋体" pitchFamily="2" charset="-122"/>
                  </a:rPr>
                  <a:t>The </a:t>
                </a:r>
                <a:r>
                  <a:rPr lang="en-US" altLang="zh-CN" sz="1800" dirty="0" err="1">
                    <a:ea typeface="宋体" pitchFamily="2" charset="-122"/>
                  </a:rPr>
                  <a:t>midian</a:t>
                </a:r>
                <a:r>
                  <a:rPr lang="en-US" altLang="zh-CN" sz="1800" dirty="0">
                    <a:ea typeface="宋体" pitchFamily="2" charset="-122"/>
                  </a:rPr>
                  <a:t> of the array</a:t>
                </a:r>
                <a:endParaRPr lang="en-US" altLang="zh-CN" sz="1800" dirty="0">
                  <a:ea typeface="宋体" pitchFamily="2" charset="-122"/>
                </a:endParaRPr>
              </a:p>
              <a:p>
                <a:pPr lvl="2"/>
                <a:r>
                  <a:rPr lang="en-US" altLang="zh-CN" sz="1600" dirty="0" smtClean="0">
                    <a:solidFill>
                      <a:srgbClr val="263AF8"/>
                    </a:solidFill>
                  </a:rPr>
                  <a:t>Median-of-Three</a:t>
                </a:r>
                <a:endParaRPr lang="en-US" altLang="zh-CN" sz="1600" dirty="0" smtClean="0">
                  <a:solidFill>
                    <a:srgbClr val="263AF8"/>
                  </a:solidFill>
                </a:endParaRPr>
              </a:p>
              <a:p>
                <a:pPr lvl="3"/>
                <a:r>
                  <a:rPr lang="en-US" altLang="zh-CN" sz="1600" dirty="0"/>
                  <a:t>Select the </a:t>
                </a:r>
                <a:r>
                  <a:rPr lang="en-US" altLang="zh-CN" sz="1600" dirty="0" smtClean="0"/>
                  <a:t>median </a:t>
                </a:r>
                <a:r>
                  <a:rPr lang="en-US" altLang="zh-CN" sz="1600" dirty="0"/>
                  <a:t>of </a:t>
                </a:r>
                <a:r>
                  <a:rPr lang="en-US" altLang="zh-CN" sz="1600" dirty="0" smtClean="0"/>
                  <a:t>the left</a:t>
                </a:r>
                <a:r>
                  <a:rPr lang="en-US" altLang="zh-CN" sz="1600" dirty="0"/>
                  <a:t>, right, and center elements.</a:t>
                </a:r>
                <a:endParaRPr lang="en-US" altLang="zh-CN" sz="2000" dirty="0">
                  <a:ea typeface="宋体" pitchFamily="2" charset="-122"/>
                </a:endParaRPr>
              </a:p>
              <a:p>
                <a:endParaRPr lang="zh-CN" altLang="en-US" sz="2000" dirty="0">
                  <a:ea typeface="宋体" pitchFamily="2" charset="-122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7" t="-208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3EDD041-6D2A-415B-BE33-C359C1000204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2E8C1D15-7276-4FCC-BD43-F54F9D62012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F256E71E-3D97-41A7-BBBF-C159DC631377}" type="slidenum">
              <a:rPr lang="en-US" altLang="zh-CN" sz="1050"/>
            </a:fld>
            <a:endParaRPr lang="en-US" altLang="zh-CN" sz="105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Partitioning </a:t>
            </a:r>
            <a:r>
              <a:rPr lang="en-US" altLang="zh-CN" dirty="0"/>
              <a:t>Strategy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2656" y="2339752"/>
            <a:ext cx="6457950" cy="4968552"/>
          </a:xfrm>
        </p:spPr>
        <p:txBody>
          <a:bodyPr>
            <a:noAutofit/>
          </a:bodyPr>
          <a:lstStyle/>
          <a:p>
            <a:pPr marL="371475" indent="-285750"/>
            <a:r>
              <a:rPr lang="en-US" altLang="zh-CN" sz="2000" dirty="0" smtClean="0"/>
              <a:t>Several </a:t>
            </a:r>
            <a:r>
              <a:rPr lang="en-US" altLang="zh-CN" sz="2000" dirty="0"/>
              <a:t>partitioning strategies used in </a:t>
            </a:r>
            <a:r>
              <a:rPr lang="en-US" altLang="zh-CN" sz="2000" dirty="0" smtClean="0"/>
              <a:t>practice</a:t>
            </a:r>
            <a:endParaRPr lang="en-US" altLang="zh-CN" sz="2000" dirty="0" smtClean="0"/>
          </a:p>
          <a:p>
            <a:pPr marL="628650" lvl="1" indent="-285750"/>
            <a:r>
              <a:rPr lang="en-US" altLang="zh-CN" sz="1800" dirty="0" smtClean="0"/>
              <a:t>Digging </a:t>
            </a:r>
            <a:r>
              <a:rPr lang="en-US" altLang="zh-CN" sz="1800" dirty="0"/>
              <a:t>and </a:t>
            </a:r>
            <a:r>
              <a:rPr lang="en-US" altLang="zh-CN" sz="1800" dirty="0" smtClean="0"/>
              <a:t>filling</a:t>
            </a:r>
            <a:endParaRPr lang="en-US" altLang="zh-CN" sz="1800" dirty="0" smtClean="0"/>
          </a:p>
          <a:p>
            <a:pPr marL="628650" lvl="1" indent="-285750"/>
            <a:r>
              <a:rPr lang="en-US" altLang="zh-CN" sz="1800" dirty="0"/>
              <a:t>3-way </a:t>
            </a:r>
            <a:r>
              <a:rPr lang="en-US" altLang="zh-CN" sz="1800" dirty="0" smtClean="0"/>
              <a:t>partitioning</a:t>
            </a:r>
            <a:endParaRPr lang="en-US" altLang="zh-CN" sz="1800" dirty="0" smtClean="0"/>
          </a:p>
          <a:p>
            <a:pPr marL="628650" lvl="1" indent="-285750"/>
            <a:r>
              <a:rPr lang="en-US" altLang="zh-CN" sz="1800" dirty="0" smtClean="0">
                <a:ea typeface="宋体" pitchFamily="2" charset="-122"/>
              </a:rPr>
              <a:t>……</a:t>
            </a:r>
            <a:endParaRPr lang="en-US" altLang="zh-CN" sz="1800" dirty="0" smtClean="0">
              <a:ea typeface="宋体" pitchFamily="2" charset="-122"/>
            </a:endParaRPr>
          </a:p>
          <a:p>
            <a:pPr marL="628650" lvl="1" indent="-285750"/>
            <a:r>
              <a:rPr lang="en-US" altLang="zh-CN" sz="1800" dirty="0"/>
              <a:t>2-way </a:t>
            </a:r>
            <a:r>
              <a:rPr lang="en-US" altLang="zh-CN" sz="1800" dirty="0" smtClean="0"/>
              <a:t>partitioning (we discuss)</a:t>
            </a:r>
            <a:endParaRPr lang="en-US" altLang="zh-CN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C33FBDEF-FA45-4357-9355-0518D7E839C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61BE70A2-FEDA-4E17-9896-EB0046228CD3}" type="slidenum">
              <a:rPr lang="en-US" altLang="zh-CN" sz="1050"/>
            </a:fld>
            <a:endParaRPr lang="en-US" altLang="zh-CN" sz="105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2-way partitioning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400" dirty="0" smtClean="0">
                <a:ea typeface="宋体" pitchFamily="2" charset="-122"/>
              </a:rPr>
              <a:t>Set pointers </a:t>
            </a:r>
            <a:r>
              <a:rPr lang="en-US" altLang="zh-CN" sz="2400" dirty="0" err="1" smtClean="0">
                <a:ea typeface="宋体" pitchFamily="2" charset="-122"/>
              </a:rPr>
              <a:t>i</a:t>
            </a:r>
            <a:r>
              <a:rPr lang="en-US" altLang="zh-CN" sz="2400" dirty="0" smtClean="0">
                <a:ea typeface="宋体" pitchFamily="2" charset="-122"/>
              </a:rPr>
              <a:t> and j to start and end of array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solidFill>
                  <a:srgbClr val="263AF8"/>
                </a:solidFill>
                <a:ea typeface="宋体" pitchFamily="2" charset="-122"/>
              </a:rPr>
              <a:t>Increment </a:t>
            </a:r>
            <a:r>
              <a:rPr lang="en-US" altLang="zh-CN" sz="2400" dirty="0" err="1" smtClean="0">
                <a:solidFill>
                  <a:srgbClr val="263AF8"/>
                </a:solidFill>
                <a:ea typeface="宋体" pitchFamily="2" charset="-122"/>
              </a:rPr>
              <a:t>i</a:t>
            </a:r>
            <a:r>
              <a:rPr lang="en-US" altLang="zh-CN" sz="2400" dirty="0" smtClean="0">
                <a:ea typeface="宋体" pitchFamily="2" charset="-122"/>
              </a:rPr>
              <a:t> until you hit element A[</a:t>
            </a:r>
            <a:r>
              <a:rPr lang="en-US" altLang="zh-CN" sz="2400" dirty="0" err="1" smtClean="0">
                <a:ea typeface="宋体" pitchFamily="2" charset="-122"/>
              </a:rPr>
              <a:t>i</a:t>
            </a:r>
            <a:r>
              <a:rPr lang="en-US" altLang="zh-CN" sz="2400" dirty="0" smtClean="0">
                <a:ea typeface="宋体" pitchFamily="2" charset="-122"/>
              </a:rPr>
              <a:t>] &gt; pivot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solidFill>
                  <a:srgbClr val="263AF8"/>
                </a:solidFill>
                <a:ea typeface="宋体" pitchFamily="2" charset="-122"/>
              </a:rPr>
              <a:t>Decrement j</a:t>
            </a:r>
            <a:r>
              <a:rPr lang="en-US" altLang="zh-CN" sz="2400" dirty="0" smtClean="0">
                <a:ea typeface="宋体" pitchFamily="2" charset="-122"/>
              </a:rPr>
              <a:t> until you hit element A[j] &lt; pivot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ea typeface="宋体" pitchFamily="2" charset="-122"/>
              </a:rPr>
              <a:t>Swap A[</a:t>
            </a:r>
            <a:r>
              <a:rPr lang="en-US" altLang="zh-CN" sz="2400" dirty="0" err="1" smtClean="0">
                <a:ea typeface="宋体" pitchFamily="2" charset="-122"/>
              </a:rPr>
              <a:t>i</a:t>
            </a:r>
            <a:r>
              <a:rPr lang="en-US" altLang="zh-CN" sz="2400" dirty="0" smtClean="0">
                <a:ea typeface="宋体" pitchFamily="2" charset="-122"/>
              </a:rPr>
              <a:t>] and A[j]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ea typeface="宋体" pitchFamily="2" charset="-122"/>
              </a:rPr>
              <a:t>Repeat until </a:t>
            </a:r>
            <a:r>
              <a:rPr lang="en-US" altLang="zh-CN" sz="2400" dirty="0" err="1" smtClean="0">
                <a:ea typeface="宋体" pitchFamily="2" charset="-122"/>
              </a:rPr>
              <a:t>i</a:t>
            </a:r>
            <a:r>
              <a:rPr lang="en-US" altLang="zh-CN" sz="2400" dirty="0" smtClean="0">
                <a:ea typeface="宋体" pitchFamily="2" charset="-122"/>
              </a:rPr>
              <a:t> and j cross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ea typeface="宋体" pitchFamily="2" charset="-122"/>
              </a:rPr>
              <a:t>Swap pivot (at A[N-1]) with A[</a:t>
            </a:r>
            <a:r>
              <a:rPr lang="en-US" altLang="zh-CN" sz="2400" dirty="0" err="1" smtClean="0">
                <a:ea typeface="宋体" pitchFamily="2" charset="-122"/>
              </a:rPr>
              <a:t>i</a:t>
            </a:r>
            <a:r>
              <a:rPr lang="en-US" altLang="zh-CN" sz="2400" dirty="0" smtClean="0">
                <a:ea typeface="宋体" pitchFamily="2" charset="-122"/>
              </a:rPr>
              <a:t>]</a:t>
            </a:r>
            <a:endParaRPr lang="en-US" altLang="zh-CN" sz="2400" dirty="0" smtClean="0">
              <a:ea typeface="宋体" pitchFamily="2" charset="-122"/>
            </a:endParaRPr>
          </a:p>
          <a:p>
            <a:endParaRPr lang="en-US" altLang="zh-CN" sz="28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9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Example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906052" y="5341004"/>
            <a:ext cx="51152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itka Text" panose="02000505000000020004" pitchFamily="2" charset="0"/>
                <a:ea typeface="宋体" pitchFamily="2" charset="-122"/>
              </a:defRPr>
            </a:lvl1pPr>
            <a:lvl2pPr marL="742950" indent="-285750" algn="ctr">
              <a:defRPr sz="2000">
                <a:latin typeface="Arial" panose="020B0604020202090204" pitchFamily="34" charset="0"/>
              </a:defRPr>
            </a:lvl2pPr>
            <a:lvl3pPr marL="1143000" indent="-228600" algn="ctr">
              <a:defRPr sz="2000">
                <a:latin typeface="Arial" panose="020B0604020202090204" pitchFamily="34" charset="0"/>
              </a:defRPr>
            </a:lvl3pPr>
            <a:lvl4pPr marL="1600200" indent="-228600" algn="ctr">
              <a:defRPr sz="2000">
                <a:latin typeface="Arial" panose="020B0604020202090204" pitchFamily="34" charset="0"/>
              </a:defRPr>
            </a:lvl4pPr>
            <a:lvl5pPr marL="2057400" indent="-228600" algn="ctr">
              <a:defRPr sz="2000"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90204" pitchFamily="34" charset="0"/>
              </a:defRPr>
            </a:lvl9pPr>
          </a:lstStyle>
          <a:p>
            <a:endParaRPr lang="en-US" altLang="zh-CN" dirty="0"/>
          </a:p>
          <a:p>
            <a:r>
              <a:rPr lang="en-US" altLang="zh-CN" dirty="0" smtClean="0"/>
              <a:t>Swap </a:t>
            </a:r>
            <a:r>
              <a:rPr lang="en-US" altLang="zh-CN" dirty="0"/>
              <a:t>the pivot</a:t>
            </a:r>
            <a:r>
              <a:rPr lang="en-US" altLang="zh-CN" dirty="0" smtClean="0"/>
              <a:t> with last element A[N-1].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2262" name="Rectangle 38"/>
          <p:cNvSpPr>
            <a:spLocks noChangeArrowheads="1"/>
          </p:cNvSpPr>
          <p:nvPr/>
        </p:nvSpPr>
        <p:spPr bwMode="auto">
          <a:xfrm>
            <a:off x="853742" y="3825138"/>
            <a:ext cx="50064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Choose the pivot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using 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Median-of-Three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B85A6B-B3BA-498A-8273-B2518EF2DD5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1451992" y="3204983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1832992" y="320498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2213992" y="320498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2594992" y="320498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6" name="Text Box 6"/>
          <p:cNvSpPr txBox="1">
            <a:spLocks noChangeArrowheads="1"/>
          </p:cNvSpPr>
          <p:nvPr/>
        </p:nvSpPr>
        <p:spPr bwMode="auto">
          <a:xfrm>
            <a:off x="2975992" y="3204983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3356992" y="320498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8" name="Text Box 8"/>
          <p:cNvSpPr txBox="1">
            <a:spLocks noChangeArrowheads="1"/>
          </p:cNvSpPr>
          <p:nvPr/>
        </p:nvSpPr>
        <p:spPr bwMode="auto">
          <a:xfrm>
            <a:off x="3737992" y="320498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4118992" y="320498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4499992" y="320498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1" name="Text Box 11"/>
          <p:cNvSpPr txBox="1">
            <a:spLocks noChangeArrowheads="1"/>
          </p:cNvSpPr>
          <p:nvPr/>
        </p:nvSpPr>
        <p:spPr bwMode="auto">
          <a:xfrm>
            <a:off x="4880992" y="3204983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b="1" dirty="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1451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3" name="Text Box 13"/>
          <p:cNvSpPr txBox="1">
            <a:spLocks noChangeArrowheads="1"/>
          </p:cNvSpPr>
          <p:nvPr/>
        </p:nvSpPr>
        <p:spPr bwMode="auto">
          <a:xfrm>
            <a:off x="1832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4" name="Text Box 14"/>
          <p:cNvSpPr txBox="1">
            <a:spLocks noChangeArrowheads="1"/>
          </p:cNvSpPr>
          <p:nvPr/>
        </p:nvSpPr>
        <p:spPr bwMode="auto">
          <a:xfrm>
            <a:off x="2213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5" name="Text Box 15"/>
          <p:cNvSpPr txBox="1">
            <a:spLocks noChangeArrowheads="1"/>
          </p:cNvSpPr>
          <p:nvPr/>
        </p:nvSpPr>
        <p:spPr bwMode="auto">
          <a:xfrm>
            <a:off x="2594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6" name="Text Box 16"/>
          <p:cNvSpPr txBox="1">
            <a:spLocks noChangeArrowheads="1"/>
          </p:cNvSpPr>
          <p:nvPr/>
        </p:nvSpPr>
        <p:spPr bwMode="auto">
          <a:xfrm>
            <a:off x="2975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7" name="Text Box 17"/>
          <p:cNvSpPr txBox="1">
            <a:spLocks noChangeArrowheads="1"/>
          </p:cNvSpPr>
          <p:nvPr/>
        </p:nvSpPr>
        <p:spPr bwMode="auto">
          <a:xfrm>
            <a:off x="3356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3737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9" name="Text Box 19"/>
          <p:cNvSpPr txBox="1">
            <a:spLocks noChangeArrowheads="1"/>
          </p:cNvSpPr>
          <p:nvPr/>
        </p:nvSpPr>
        <p:spPr bwMode="auto">
          <a:xfrm>
            <a:off x="4118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0" name="Text Box 20"/>
          <p:cNvSpPr txBox="1">
            <a:spLocks noChangeArrowheads="1"/>
          </p:cNvSpPr>
          <p:nvPr/>
        </p:nvSpPr>
        <p:spPr bwMode="auto">
          <a:xfrm>
            <a:off x="4499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1" name="Text Box 21"/>
          <p:cNvSpPr txBox="1">
            <a:spLocks noChangeArrowheads="1"/>
          </p:cNvSpPr>
          <p:nvPr/>
        </p:nvSpPr>
        <p:spPr bwMode="auto">
          <a:xfrm>
            <a:off x="4880992" y="2900183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2" name="Text Box 22"/>
          <p:cNvSpPr txBox="1">
            <a:spLocks noChangeArrowheads="1"/>
          </p:cNvSpPr>
          <p:nvPr/>
        </p:nvSpPr>
        <p:spPr bwMode="auto">
          <a:xfrm>
            <a:off x="1451992" y="4769504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3" name="Text Box 23"/>
          <p:cNvSpPr txBox="1">
            <a:spLocks noChangeArrowheads="1"/>
          </p:cNvSpPr>
          <p:nvPr/>
        </p:nvSpPr>
        <p:spPr bwMode="auto">
          <a:xfrm>
            <a:off x="1832992" y="476950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auto">
          <a:xfrm>
            <a:off x="2213992" y="476950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2594992" y="476950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6" name="Text Box 26"/>
          <p:cNvSpPr txBox="1">
            <a:spLocks noChangeArrowheads="1"/>
          </p:cNvSpPr>
          <p:nvPr/>
        </p:nvSpPr>
        <p:spPr bwMode="auto">
          <a:xfrm>
            <a:off x="2975992" y="4769504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7" name="Text Box 27"/>
          <p:cNvSpPr txBox="1">
            <a:spLocks noChangeArrowheads="1"/>
          </p:cNvSpPr>
          <p:nvPr/>
        </p:nvSpPr>
        <p:spPr bwMode="auto">
          <a:xfrm>
            <a:off x="3356992" y="476950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8" name="Text Box 28"/>
          <p:cNvSpPr txBox="1">
            <a:spLocks noChangeArrowheads="1"/>
          </p:cNvSpPr>
          <p:nvPr/>
        </p:nvSpPr>
        <p:spPr bwMode="auto">
          <a:xfrm>
            <a:off x="3737992" y="476950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9" name="Text Box 29"/>
          <p:cNvSpPr txBox="1">
            <a:spLocks noChangeArrowheads="1"/>
          </p:cNvSpPr>
          <p:nvPr/>
        </p:nvSpPr>
        <p:spPr bwMode="auto">
          <a:xfrm>
            <a:off x="4118992" y="476950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0" name="Text Box 30"/>
          <p:cNvSpPr txBox="1">
            <a:spLocks noChangeArrowheads="1"/>
          </p:cNvSpPr>
          <p:nvPr/>
        </p:nvSpPr>
        <p:spPr bwMode="auto">
          <a:xfrm>
            <a:off x="4499992" y="4769504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892281" y="4769504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2" name="Oval 32"/>
          <p:cNvSpPr>
            <a:spLocks noChangeArrowheads="1"/>
          </p:cNvSpPr>
          <p:nvPr/>
        </p:nvSpPr>
        <p:spPr bwMode="auto">
          <a:xfrm>
            <a:off x="4891738" y="4769504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73" name="Text Box 33"/>
          <p:cNvSpPr txBox="1">
            <a:spLocks noChangeArrowheads="1"/>
          </p:cNvSpPr>
          <p:nvPr/>
        </p:nvSpPr>
        <p:spPr bwMode="auto">
          <a:xfrm>
            <a:off x="1451992" y="5150504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4" name="Text Box 34"/>
          <p:cNvSpPr txBox="1">
            <a:spLocks noChangeArrowheads="1"/>
          </p:cNvSpPr>
          <p:nvPr/>
        </p:nvSpPr>
        <p:spPr bwMode="auto">
          <a:xfrm>
            <a:off x="4499992" y="5150504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9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Example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B85A6B-B3BA-498A-8273-B2518EF2DD5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2" name="Text Box 22"/>
          <p:cNvSpPr txBox="1">
            <a:spLocks noChangeArrowheads="1"/>
          </p:cNvSpPr>
          <p:nvPr/>
        </p:nvSpPr>
        <p:spPr bwMode="auto">
          <a:xfrm>
            <a:off x="1451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3" name="Text Box 23"/>
          <p:cNvSpPr txBox="1">
            <a:spLocks noChangeArrowheads="1"/>
          </p:cNvSpPr>
          <p:nvPr/>
        </p:nvSpPr>
        <p:spPr bwMode="auto">
          <a:xfrm>
            <a:off x="1832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auto">
          <a:xfrm>
            <a:off x="2213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2594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6" name="Text Box 26"/>
          <p:cNvSpPr txBox="1">
            <a:spLocks noChangeArrowheads="1"/>
          </p:cNvSpPr>
          <p:nvPr/>
        </p:nvSpPr>
        <p:spPr bwMode="auto">
          <a:xfrm>
            <a:off x="2975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7" name="Text Box 27"/>
          <p:cNvSpPr txBox="1">
            <a:spLocks noChangeArrowheads="1"/>
          </p:cNvSpPr>
          <p:nvPr/>
        </p:nvSpPr>
        <p:spPr bwMode="auto">
          <a:xfrm>
            <a:off x="3356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8" name="Text Box 28"/>
          <p:cNvSpPr txBox="1">
            <a:spLocks noChangeArrowheads="1"/>
          </p:cNvSpPr>
          <p:nvPr/>
        </p:nvSpPr>
        <p:spPr bwMode="auto">
          <a:xfrm>
            <a:off x="3737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9" name="Text Box 29"/>
          <p:cNvSpPr txBox="1">
            <a:spLocks noChangeArrowheads="1"/>
          </p:cNvSpPr>
          <p:nvPr/>
        </p:nvSpPr>
        <p:spPr bwMode="auto">
          <a:xfrm>
            <a:off x="4118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0" name="Text Box 30"/>
          <p:cNvSpPr txBox="1">
            <a:spLocks noChangeArrowheads="1"/>
          </p:cNvSpPr>
          <p:nvPr/>
        </p:nvSpPr>
        <p:spPr bwMode="auto">
          <a:xfrm>
            <a:off x="4499992" y="255577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892281" y="2555776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2" name="Oval 32"/>
          <p:cNvSpPr>
            <a:spLocks noChangeArrowheads="1"/>
          </p:cNvSpPr>
          <p:nvPr/>
        </p:nvSpPr>
        <p:spPr bwMode="auto">
          <a:xfrm>
            <a:off x="4891738" y="2555776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73" name="Text Box 33"/>
          <p:cNvSpPr txBox="1">
            <a:spLocks noChangeArrowheads="1"/>
          </p:cNvSpPr>
          <p:nvPr/>
        </p:nvSpPr>
        <p:spPr bwMode="auto">
          <a:xfrm>
            <a:off x="1451992" y="2936776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4" name="Text Box 34"/>
          <p:cNvSpPr txBox="1">
            <a:spLocks noChangeArrowheads="1"/>
          </p:cNvSpPr>
          <p:nvPr/>
        </p:nvSpPr>
        <p:spPr bwMode="auto">
          <a:xfrm>
            <a:off x="4499992" y="2936776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6" name="Text Box 3"/>
          <p:cNvSpPr txBox="1">
            <a:spLocks noChangeArrowheads="1"/>
          </p:cNvSpPr>
          <p:nvPr/>
        </p:nvSpPr>
        <p:spPr bwMode="auto">
          <a:xfrm>
            <a:off x="1419200" y="4168422"/>
            <a:ext cx="381000" cy="3810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7" name="Text Box 4"/>
          <p:cNvSpPr txBox="1">
            <a:spLocks noChangeArrowheads="1"/>
          </p:cNvSpPr>
          <p:nvPr/>
        </p:nvSpPr>
        <p:spPr bwMode="auto">
          <a:xfrm>
            <a:off x="1800200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8" name="Text Box 5"/>
          <p:cNvSpPr txBox="1">
            <a:spLocks noChangeArrowheads="1"/>
          </p:cNvSpPr>
          <p:nvPr/>
        </p:nvSpPr>
        <p:spPr bwMode="auto">
          <a:xfrm>
            <a:off x="2181200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9" name="Text Box 6"/>
          <p:cNvSpPr txBox="1">
            <a:spLocks noChangeArrowheads="1"/>
          </p:cNvSpPr>
          <p:nvPr/>
        </p:nvSpPr>
        <p:spPr bwMode="auto">
          <a:xfrm>
            <a:off x="2562200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0" name="Text Box 7"/>
          <p:cNvSpPr txBox="1">
            <a:spLocks noChangeArrowheads="1"/>
          </p:cNvSpPr>
          <p:nvPr/>
        </p:nvSpPr>
        <p:spPr bwMode="auto">
          <a:xfrm>
            <a:off x="2943200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1" name="Text Box 8"/>
          <p:cNvSpPr txBox="1">
            <a:spLocks noChangeArrowheads="1"/>
          </p:cNvSpPr>
          <p:nvPr/>
        </p:nvSpPr>
        <p:spPr bwMode="auto">
          <a:xfrm>
            <a:off x="3324200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2" name="Text Box 9"/>
          <p:cNvSpPr txBox="1">
            <a:spLocks noChangeArrowheads="1"/>
          </p:cNvSpPr>
          <p:nvPr/>
        </p:nvSpPr>
        <p:spPr bwMode="auto">
          <a:xfrm>
            <a:off x="3705200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3" name="Text Box 10"/>
          <p:cNvSpPr txBox="1">
            <a:spLocks noChangeArrowheads="1"/>
          </p:cNvSpPr>
          <p:nvPr/>
        </p:nvSpPr>
        <p:spPr bwMode="auto">
          <a:xfrm>
            <a:off x="4086200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4" name="Text Box 11"/>
          <p:cNvSpPr txBox="1">
            <a:spLocks noChangeArrowheads="1"/>
          </p:cNvSpPr>
          <p:nvPr/>
        </p:nvSpPr>
        <p:spPr bwMode="auto">
          <a:xfrm>
            <a:off x="4857871" y="4168586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5" name="Text Box 12"/>
          <p:cNvSpPr txBox="1">
            <a:spLocks noChangeArrowheads="1"/>
          </p:cNvSpPr>
          <p:nvPr/>
        </p:nvSpPr>
        <p:spPr bwMode="auto">
          <a:xfrm>
            <a:off x="4470979" y="4168422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6" name="Oval 13"/>
          <p:cNvSpPr>
            <a:spLocks noChangeArrowheads="1"/>
          </p:cNvSpPr>
          <p:nvPr/>
        </p:nvSpPr>
        <p:spPr bwMode="auto">
          <a:xfrm>
            <a:off x="4859489" y="4168422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90" name="Text Box 33"/>
          <p:cNvSpPr txBox="1">
            <a:spLocks noChangeArrowheads="1"/>
          </p:cNvSpPr>
          <p:nvPr/>
        </p:nvSpPr>
        <p:spPr bwMode="auto">
          <a:xfrm>
            <a:off x="1428339" y="455104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1" name="Text Box 34"/>
          <p:cNvSpPr txBox="1">
            <a:spLocks noChangeArrowheads="1"/>
          </p:cNvSpPr>
          <p:nvPr/>
        </p:nvSpPr>
        <p:spPr bwMode="auto">
          <a:xfrm>
            <a:off x="4476871" y="455104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94" name="Text Box 3"/>
          <p:cNvSpPr txBox="1">
            <a:spLocks noChangeArrowheads="1"/>
          </p:cNvSpPr>
          <p:nvPr/>
        </p:nvSpPr>
        <p:spPr bwMode="auto">
          <a:xfrm>
            <a:off x="1407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5" name="Text Box 4"/>
          <p:cNvSpPr txBox="1">
            <a:spLocks noChangeArrowheads="1"/>
          </p:cNvSpPr>
          <p:nvPr/>
        </p:nvSpPr>
        <p:spPr bwMode="auto">
          <a:xfrm>
            <a:off x="1788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6" name="Text Box 5"/>
          <p:cNvSpPr txBox="1">
            <a:spLocks noChangeArrowheads="1"/>
          </p:cNvSpPr>
          <p:nvPr/>
        </p:nvSpPr>
        <p:spPr bwMode="auto">
          <a:xfrm>
            <a:off x="2169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7" name="Text Box 6"/>
          <p:cNvSpPr txBox="1">
            <a:spLocks noChangeArrowheads="1"/>
          </p:cNvSpPr>
          <p:nvPr/>
        </p:nvSpPr>
        <p:spPr bwMode="auto">
          <a:xfrm>
            <a:off x="2550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8" name="Text Box 7"/>
          <p:cNvSpPr txBox="1">
            <a:spLocks noChangeArrowheads="1"/>
          </p:cNvSpPr>
          <p:nvPr/>
        </p:nvSpPr>
        <p:spPr bwMode="auto">
          <a:xfrm>
            <a:off x="2931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9" name="Text Box 8"/>
          <p:cNvSpPr txBox="1">
            <a:spLocks noChangeArrowheads="1"/>
          </p:cNvSpPr>
          <p:nvPr/>
        </p:nvSpPr>
        <p:spPr bwMode="auto">
          <a:xfrm>
            <a:off x="3312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0" name="Text Box 9"/>
          <p:cNvSpPr txBox="1">
            <a:spLocks noChangeArrowheads="1"/>
          </p:cNvSpPr>
          <p:nvPr/>
        </p:nvSpPr>
        <p:spPr bwMode="auto">
          <a:xfrm>
            <a:off x="3693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1" name="Text Box 10"/>
          <p:cNvSpPr txBox="1">
            <a:spLocks noChangeArrowheads="1"/>
          </p:cNvSpPr>
          <p:nvPr/>
        </p:nvSpPr>
        <p:spPr bwMode="auto">
          <a:xfrm>
            <a:off x="4074911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2" name="Text Box 11"/>
          <p:cNvSpPr txBox="1">
            <a:spLocks noChangeArrowheads="1"/>
          </p:cNvSpPr>
          <p:nvPr/>
        </p:nvSpPr>
        <p:spPr bwMode="auto">
          <a:xfrm>
            <a:off x="4846582" y="7264930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3" name="Text Box 12"/>
          <p:cNvSpPr txBox="1">
            <a:spLocks noChangeArrowheads="1"/>
          </p:cNvSpPr>
          <p:nvPr/>
        </p:nvSpPr>
        <p:spPr bwMode="auto">
          <a:xfrm>
            <a:off x="4459690" y="726476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4" name="Oval 13"/>
          <p:cNvSpPr>
            <a:spLocks noChangeArrowheads="1"/>
          </p:cNvSpPr>
          <p:nvPr/>
        </p:nvSpPr>
        <p:spPr bwMode="auto">
          <a:xfrm>
            <a:off x="4848200" y="7264766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105" name="Text Box 33"/>
          <p:cNvSpPr txBox="1">
            <a:spLocks noChangeArrowheads="1"/>
          </p:cNvSpPr>
          <p:nvPr/>
        </p:nvSpPr>
        <p:spPr bwMode="auto">
          <a:xfrm>
            <a:off x="1417050" y="7647384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6" name="Text Box 34"/>
          <p:cNvSpPr txBox="1">
            <a:spLocks noChangeArrowheads="1"/>
          </p:cNvSpPr>
          <p:nvPr/>
        </p:nvSpPr>
        <p:spPr bwMode="auto">
          <a:xfrm>
            <a:off x="4092635" y="7647384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5" name="Text Box 3"/>
          <p:cNvSpPr txBox="1">
            <a:spLocks noChangeArrowheads="1"/>
          </p:cNvSpPr>
          <p:nvPr/>
        </p:nvSpPr>
        <p:spPr bwMode="auto">
          <a:xfrm>
            <a:off x="1397213" y="5781068"/>
            <a:ext cx="381000" cy="3810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7" name="Text Box 4"/>
          <p:cNvSpPr txBox="1">
            <a:spLocks noChangeArrowheads="1"/>
          </p:cNvSpPr>
          <p:nvPr/>
        </p:nvSpPr>
        <p:spPr bwMode="auto">
          <a:xfrm>
            <a:off x="1778213" y="578106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8" name="Text Box 5"/>
          <p:cNvSpPr txBox="1">
            <a:spLocks noChangeArrowheads="1"/>
          </p:cNvSpPr>
          <p:nvPr/>
        </p:nvSpPr>
        <p:spPr bwMode="auto">
          <a:xfrm>
            <a:off x="2159213" y="578106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9" name="Text Box 6"/>
          <p:cNvSpPr txBox="1">
            <a:spLocks noChangeArrowheads="1"/>
          </p:cNvSpPr>
          <p:nvPr/>
        </p:nvSpPr>
        <p:spPr bwMode="auto">
          <a:xfrm>
            <a:off x="2540213" y="578106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2" name="Text Box 7"/>
          <p:cNvSpPr txBox="1">
            <a:spLocks noChangeArrowheads="1"/>
          </p:cNvSpPr>
          <p:nvPr/>
        </p:nvSpPr>
        <p:spPr bwMode="auto">
          <a:xfrm>
            <a:off x="2921213" y="578106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3" name="Text Box 8"/>
          <p:cNvSpPr txBox="1">
            <a:spLocks noChangeArrowheads="1"/>
          </p:cNvSpPr>
          <p:nvPr/>
        </p:nvSpPr>
        <p:spPr bwMode="auto">
          <a:xfrm>
            <a:off x="3302213" y="578106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8" name="Text Box 9"/>
          <p:cNvSpPr txBox="1">
            <a:spLocks noChangeArrowheads="1"/>
          </p:cNvSpPr>
          <p:nvPr/>
        </p:nvSpPr>
        <p:spPr bwMode="auto">
          <a:xfrm>
            <a:off x="3683213" y="578106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9" name="Text Box 10"/>
          <p:cNvSpPr txBox="1">
            <a:spLocks noChangeArrowheads="1"/>
          </p:cNvSpPr>
          <p:nvPr/>
        </p:nvSpPr>
        <p:spPr bwMode="auto">
          <a:xfrm>
            <a:off x="4064213" y="5781068"/>
            <a:ext cx="3810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0" name="Text Box 11"/>
          <p:cNvSpPr txBox="1">
            <a:spLocks noChangeArrowheads="1"/>
          </p:cNvSpPr>
          <p:nvPr/>
        </p:nvSpPr>
        <p:spPr bwMode="auto">
          <a:xfrm>
            <a:off x="4835884" y="5781232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1" name="Text Box 12"/>
          <p:cNvSpPr txBox="1">
            <a:spLocks noChangeArrowheads="1"/>
          </p:cNvSpPr>
          <p:nvPr/>
        </p:nvSpPr>
        <p:spPr bwMode="auto">
          <a:xfrm>
            <a:off x="4448992" y="578106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" name="Oval 13"/>
          <p:cNvSpPr>
            <a:spLocks noChangeArrowheads="1"/>
          </p:cNvSpPr>
          <p:nvPr/>
        </p:nvSpPr>
        <p:spPr bwMode="auto">
          <a:xfrm>
            <a:off x="4837502" y="5781068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113" name="Text Box 33"/>
          <p:cNvSpPr txBox="1">
            <a:spLocks noChangeArrowheads="1"/>
          </p:cNvSpPr>
          <p:nvPr/>
        </p:nvSpPr>
        <p:spPr bwMode="auto">
          <a:xfrm>
            <a:off x="1406352" y="6163686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4" name="Text Box 34"/>
          <p:cNvSpPr txBox="1">
            <a:spLocks noChangeArrowheads="1"/>
          </p:cNvSpPr>
          <p:nvPr/>
        </p:nvSpPr>
        <p:spPr bwMode="auto">
          <a:xfrm>
            <a:off x="4077072" y="6163686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77652" y="3554596"/>
            <a:ext cx="5522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Increment </a:t>
            </a:r>
            <a:r>
              <a:rPr lang="en-US" altLang="zh-CN" dirty="0" err="1">
                <a:solidFill>
                  <a:srgbClr val="263AF8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 until you hit element A[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] &gt; pivot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77652" y="5092346"/>
            <a:ext cx="58955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Decrement j </a:t>
            </a:r>
            <a:r>
              <a:rPr lang="en-US" altLang="zh-CN" dirty="0">
                <a:latin typeface="Sitka Text" panose="02000505000000020004" pitchFamily="2" charset="0"/>
              </a:rPr>
              <a:t>until you hit element A[j] &lt; pivot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72726" y="6622107"/>
            <a:ext cx="2667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Swap</a:t>
            </a:r>
            <a:r>
              <a:rPr lang="en-US" altLang="zh-CN" dirty="0">
                <a:latin typeface="Sitka Text" panose="02000505000000020004" pitchFamily="2" charset="0"/>
              </a:rPr>
              <a:t> A[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] and A[j]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57" name="Rectangle 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Example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4F456C-5BA1-4185-AF7C-FCD46D969EC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7-2 Sorting II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116" name="Text Box 28"/>
          <p:cNvSpPr txBox="1">
            <a:spLocks noChangeArrowheads="1"/>
          </p:cNvSpPr>
          <p:nvPr/>
        </p:nvSpPr>
        <p:spPr bwMode="auto">
          <a:xfrm>
            <a:off x="1481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7" name="Text Box 29"/>
          <p:cNvSpPr txBox="1">
            <a:spLocks noChangeArrowheads="1"/>
          </p:cNvSpPr>
          <p:nvPr/>
        </p:nvSpPr>
        <p:spPr bwMode="auto">
          <a:xfrm>
            <a:off x="1862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8" name="Text Box 30"/>
          <p:cNvSpPr txBox="1">
            <a:spLocks noChangeArrowheads="1"/>
          </p:cNvSpPr>
          <p:nvPr/>
        </p:nvSpPr>
        <p:spPr bwMode="auto">
          <a:xfrm>
            <a:off x="2243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9" name="Text Box 31"/>
          <p:cNvSpPr txBox="1">
            <a:spLocks noChangeArrowheads="1"/>
          </p:cNvSpPr>
          <p:nvPr/>
        </p:nvSpPr>
        <p:spPr bwMode="auto">
          <a:xfrm>
            <a:off x="2624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0" name="Text Box 32"/>
          <p:cNvSpPr txBox="1">
            <a:spLocks noChangeArrowheads="1"/>
          </p:cNvSpPr>
          <p:nvPr/>
        </p:nvSpPr>
        <p:spPr bwMode="auto">
          <a:xfrm>
            <a:off x="3005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1" name="Text Box 33"/>
          <p:cNvSpPr txBox="1">
            <a:spLocks noChangeArrowheads="1"/>
          </p:cNvSpPr>
          <p:nvPr/>
        </p:nvSpPr>
        <p:spPr bwMode="auto">
          <a:xfrm>
            <a:off x="3386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2" name="Text Box 34"/>
          <p:cNvSpPr txBox="1">
            <a:spLocks noChangeArrowheads="1"/>
          </p:cNvSpPr>
          <p:nvPr/>
        </p:nvSpPr>
        <p:spPr bwMode="auto">
          <a:xfrm>
            <a:off x="3767356" y="6063129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3" name="Text Box 35"/>
          <p:cNvSpPr txBox="1">
            <a:spLocks noChangeArrowheads="1"/>
          </p:cNvSpPr>
          <p:nvPr/>
        </p:nvSpPr>
        <p:spPr bwMode="auto">
          <a:xfrm>
            <a:off x="4148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4" name="Text Box 36"/>
          <p:cNvSpPr txBox="1">
            <a:spLocks noChangeArrowheads="1"/>
          </p:cNvSpPr>
          <p:nvPr/>
        </p:nvSpPr>
        <p:spPr bwMode="auto">
          <a:xfrm>
            <a:off x="4529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5" name="Text Box 37"/>
          <p:cNvSpPr txBox="1">
            <a:spLocks noChangeArrowheads="1"/>
          </p:cNvSpPr>
          <p:nvPr/>
        </p:nvSpPr>
        <p:spPr bwMode="auto">
          <a:xfrm>
            <a:off x="4910356" y="6063129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8" name="Text Box 40"/>
          <p:cNvSpPr txBox="1">
            <a:spLocks noChangeArrowheads="1"/>
          </p:cNvSpPr>
          <p:nvPr/>
        </p:nvSpPr>
        <p:spPr bwMode="auto">
          <a:xfrm>
            <a:off x="1875316" y="7023845"/>
            <a:ext cx="12266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宋体" pitchFamily="2" charset="-122"/>
              </a:rPr>
              <a:t>1</a:t>
            </a:r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 &lt; pivot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9" name="Text Box 41"/>
          <p:cNvSpPr txBox="1">
            <a:spLocks noChangeArrowheads="1"/>
          </p:cNvSpPr>
          <p:nvPr/>
        </p:nvSpPr>
        <p:spPr bwMode="auto">
          <a:xfrm>
            <a:off x="3267528" y="6976220"/>
            <a:ext cx="7393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pivot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0" name="Text Box 42"/>
          <p:cNvSpPr txBox="1">
            <a:spLocks noChangeArrowheads="1"/>
          </p:cNvSpPr>
          <p:nvPr/>
        </p:nvSpPr>
        <p:spPr bwMode="auto">
          <a:xfrm>
            <a:off x="4119162" y="7023845"/>
            <a:ext cx="12442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宋体" pitchFamily="2" charset="-122"/>
              </a:rPr>
              <a:t>2</a:t>
            </a:r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 &gt; pivot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1" name="AutoShape 43"/>
          <p:cNvSpPr/>
          <p:nvPr/>
        </p:nvSpPr>
        <p:spPr bwMode="auto">
          <a:xfrm rot="16200000">
            <a:off x="2395756" y="5563067"/>
            <a:ext cx="457200" cy="2286000"/>
          </a:xfrm>
          <a:prstGeom prst="leftBrace">
            <a:avLst>
              <a:gd name="adj1" fmla="val 41667"/>
              <a:gd name="adj2" fmla="val 50759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2" name="AutoShape 44"/>
          <p:cNvSpPr/>
          <p:nvPr/>
        </p:nvSpPr>
        <p:spPr bwMode="auto">
          <a:xfrm rot="16200000">
            <a:off x="4491256" y="6134567"/>
            <a:ext cx="457200" cy="1143000"/>
          </a:xfrm>
          <a:prstGeom prst="leftBrace">
            <a:avLst>
              <a:gd name="adj1" fmla="val 20833"/>
              <a:gd name="adj2" fmla="val 50759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3" name="Line 45"/>
          <p:cNvSpPr>
            <a:spLocks noChangeShapeType="1"/>
          </p:cNvSpPr>
          <p:nvPr/>
        </p:nvSpPr>
        <p:spPr bwMode="auto">
          <a:xfrm flipV="1">
            <a:off x="3767356" y="6477467"/>
            <a:ext cx="152400" cy="500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" name="Text Box 46"/>
          <p:cNvSpPr txBox="1">
            <a:spLocks noChangeArrowheads="1"/>
          </p:cNvSpPr>
          <p:nvPr/>
        </p:nvSpPr>
        <p:spPr bwMode="auto">
          <a:xfrm>
            <a:off x="1493912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5" name="Text Box 47"/>
          <p:cNvSpPr txBox="1">
            <a:spLocks noChangeArrowheads="1"/>
          </p:cNvSpPr>
          <p:nvPr/>
        </p:nvSpPr>
        <p:spPr bwMode="auto">
          <a:xfrm>
            <a:off x="1874912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6" name="Text Box 48"/>
          <p:cNvSpPr txBox="1">
            <a:spLocks noChangeArrowheads="1"/>
          </p:cNvSpPr>
          <p:nvPr/>
        </p:nvSpPr>
        <p:spPr bwMode="auto">
          <a:xfrm>
            <a:off x="2255912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7" name="Text Box 49"/>
          <p:cNvSpPr txBox="1">
            <a:spLocks noChangeArrowheads="1"/>
          </p:cNvSpPr>
          <p:nvPr/>
        </p:nvSpPr>
        <p:spPr bwMode="auto">
          <a:xfrm>
            <a:off x="2636912" y="2196616"/>
            <a:ext cx="3810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8" name="Text Box 50"/>
          <p:cNvSpPr txBox="1">
            <a:spLocks noChangeArrowheads="1"/>
          </p:cNvSpPr>
          <p:nvPr/>
        </p:nvSpPr>
        <p:spPr bwMode="auto">
          <a:xfrm>
            <a:off x="3017912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9" name="Text Box 51"/>
          <p:cNvSpPr txBox="1">
            <a:spLocks noChangeArrowheads="1"/>
          </p:cNvSpPr>
          <p:nvPr/>
        </p:nvSpPr>
        <p:spPr bwMode="auto">
          <a:xfrm>
            <a:off x="3398912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40" name="Text Box 52"/>
          <p:cNvSpPr txBox="1">
            <a:spLocks noChangeArrowheads="1"/>
          </p:cNvSpPr>
          <p:nvPr/>
        </p:nvSpPr>
        <p:spPr bwMode="auto">
          <a:xfrm>
            <a:off x="3779912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41" name="Text Box 53"/>
          <p:cNvSpPr txBox="1">
            <a:spLocks noChangeArrowheads="1"/>
          </p:cNvSpPr>
          <p:nvPr/>
        </p:nvSpPr>
        <p:spPr bwMode="auto">
          <a:xfrm>
            <a:off x="4160912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43" name="Text Box 55"/>
          <p:cNvSpPr txBox="1">
            <a:spLocks noChangeArrowheads="1"/>
          </p:cNvSpPr>
          <p:nvPr/>
        </p:nvSpPr>
        <p:spPr bwMode="auto">
          <a:xfrm>
            <a:off x="4542987" y="219661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73" name="Text Box 86"/>
          <p:cNvSpPr txBox="1">
            <a:spLocks noChangeArrowheads="1"/>
          </p:cNvSpPr>
          <p:nvPr/>
        </p:nvSpPr>
        <p:spPr bwMode="auto">
          <a:xfrm>
            <a:off x="4091698" y="5243458"/>
            <a:ext cx="205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Cross-over </a:t>
            </a:r>
            <a:r>
              <a:rPr lang="en-US" altLang="zh-CN" sz="1800" dirty="0" smtClean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l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&gt; </a:t>
            </a:r>
            <a:r>
              <a:rPr lang="en-US" altLang="zh-CN" sz="1800" dirty="0" smtClean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</a:rPr>
              <a:t>r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4" name="Text Box 11"/>
          <p:cNvSpPr txBox="1">
            <a:spLocks noChangeArrowheads="1"/>
          </p:cNvSpPr>
          <p:nvPr/>
        </p:nvSpPr>
        <p:spPr bwMode="auto">
          <a:xfrm>
            <a:off x="4924379" y="2195900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75" name="Oval 13"/>
          <p:cNvSpPr>
            <a:spLocks noChangeArrowheads="1"/>
          </p:cNvSpPr>
          <p:nvPr/>
        </p:nvSpPr>
        <p:spPr bwMode="auto">
          <a:xfrm>
            <a:off x="4925997" y="2195736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184" name="Text Box 33"/>
          <p:cNvSpPr txBox="1">
            <a:spLocks noChangeArrowheads="1"/>
          </p:cNvSpPr>
          <p:nvPr/>
        </p:nvSpPr>
        <p:spPr bwMode="auto">
          <a:xfrm>
            <a:off x="2638812" y="2583316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5" name="Text Box 34"/>
          <p:cNvSpPr txBox="1">
            <a:spLocks noChangeArrowheads="1"/>
          </p:cNvSpPr>
          <p:nvPr/>
        </p:nvSpPr>
        <p:spPr bwMode="auto">
          <a:xfrm>
            <a:off x="4164320" y="2583316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86" name="Text Box 46"/>
          <p:cNvSpPr txBox="1">
            <a:spLocks noChangeArrowheads="1"/>
          </p:cNvSpPr>
          <p:nvPr/>
        </p:nvSpPr>
        <p:spPr bwMode="auto">
          <a:xfrm>
            <a:off x="1481356" y="299632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7" name="Text Box 47"/>
          <p:cNvSpPr txBox="1">
            <a:spLocks noChangeArrowheads="1"/>
          </p:cNvSpPr>
          <p:nvPr/>
        </p:nvSpPr>
        <p:spPr bwMode="auto">
          <a:xfrm>
            <a:off x="1862356" y="299632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8" name="Text Box 48"/>
          <p:cNvSpPr txBox="1">
            <a:spLocks noChangeArrowheads="1"/>
          </p:cNvSpPr>
          <p:nvPr/>
        </p:nvSpPr>
        <p:spPr bwMode="auto">
          <a:xfrm>
            <a:off x="2243356" y="299632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9" name="Text Box 49"/>
          <p:cNvSpPr txBox="1">
            <a:spLocks noChangeArrowheads="1"/>
          </p:cNvSpPr>
          <p:nvPr/>
        </p:nvSpPr>
        <p:spPr bwMode="auto">
          <a:xfrm>
            <a:off x="2624356" y="2996324"/>
            <a:ext cx="3810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0" name="Text Box 50"/>
          <p:cNvSpPr txBox="1">
            <a:spLocks noChangeArrowheads="1"/>
          </p:cNvSpPr>
          <p:nvPr/>
        </p:nvSpPr>
        <p:spPr bwMode="auto">
          <a:xfrm>
            <a:off x="3005356" y="299632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1" name="Text Box 51"/>
          <p:cNvSpPr txBox="1">
            <a:spLocks noChangeArrowheads="1"/>
          </p:cNvSpPr>
          <p:nvPr/>
        </p:nvSpPr>
        <p:spPr bwMode="auto">
          <a:xfrm>
            <a:off x="3386356" y="299632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2" name="Text Box 52"/>
          <p:cNvSpPr txBox="1">
            <a:spLocks noChangeArrowheads="1"/>
          </p:cNvSpPr>
          <p:nvPr/>
        </p:nvSpPr>
        <p:spPr bwMode="auto">
          <a:xfrm>
            <a:off x="3767356" y="2996324"/>
            <a:ext cx="3810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3" name="Text Box 53"/>
          <p:cNvSpPr txBox="1">
            <a:spLocks noChangeArrowheads="1"/>
          </p:cNvSpPr>
          <p:nvPr/>
        </p:nvSpPr>
        <p:spPr bwMode="auto">
          <a:xfrm>
            <a:off x="4148356" y="299632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4" name="Text Box 55"/>
          <p:cNvSpPr txBox="1">
            <a:spLocks noChangeArrowheads="1"/>
          </p:cNvSpPr>
          <p:nvPr/>
        </p:nvSpPr>
        <p:spPr bwMode="auto">
          <a:xfrm>
            <a:off x="4530431" y="299632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5" name="Text Box 11"/>
          <p:cNvSpPr txBox="1">
            <a:spLocks noChangeArrowheads="1"/>
          </p:cNvSpPr>
          <p:nvPr/>
        </p:nvSpPr>
        <p:spPr bwMode="auto">
          <a:xfrm>
            <a:off x="4911823" y="2995608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6" name="Oval 13"/>
          <p:cNvSpPr>
            <a:spLocks noChangeArrowheads="1"/>
          </p:cNvSpPr>
          <p:nvPr/>
        </p:nvSpPr>
        <p:spPr bwMode="auto">
          <a:xfrm>
            <a:off x="4913441" y="2995444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197" name="Text Box 33"/>
          <p:cNvSpPr txBox="1">
            <a:spLocks noChangeArrowheads="1"/>
          </p:cNvSpPr>
          <p:nvPr/>
        </p:nvSpPr>
        <p:spPr bwMode="auto">
          <a:xfrm>
            <a:off x="2626256" y="3383024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8" name="Text Box 34"/>
          <p:cNvSpPr txBox="1">
            <a:spLocks noChangeArrowheads="1"/>
          </p:cNvSpPr>
          <p:nvPr/>
        </p:nvSpPr>
        <p:spPr bwMode="auto">
          <a:xfrm>
            <a:off x="3773800" y="3383024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99" name="Text Box 46"/>
          <p:cNvSpPr txBox="1">
            <a:spLocks noChangeArrowheads="1"/>
          </p:cNvSpPr>
          <p:nvPr/>
        </p:nvSpPr>
        <p:spPr bwMode="auto">
          <a:xfrm>
            <a:off x="1488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0" name="Text Box 47"/>
          <p:cNvSpPr txBox="1">
            <a:spLocks noChangeArrowheads="1"/>
          </p:cNvSpPr>
          <p:nvPr/>
        </p:nvSpPr>
        <p:spPr bwMode="auto">
          <a:xfrm>
            <a:off x="1869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1" name="Text Box 48"/>
          <p:cNvSpPr txBox="1">
            <a:spLocks noChangeArrowheads="1"/>
          </p:cNvSpPr>
          <p:nvPr/>
        </p:nvSpPr>
        <p:spPr bwMode="auto">
          <a:xfrm>
            <a:off x="2250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2" name="Text Box 49"/>
          <p:cNvSpPr txBox="1">
            <a:spLocks noChangeArrowheads="1"/>
          </p:cNvSpPr>
          <p:nvPr/>
        </p:nvSpPr>
        <p:spPr bwMode="auto">
          <a:xfrm>
            <a:off x="2631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3" name="Text Box 50"/>
          <p:cNvSpPr txBox="1">
            <a:spLocks noChangeArrowheads="1"/>
          </p:cNvSpPr>
          <p:nvPr/>
        </p:nvSpPr>
        <p:spPr bwMode="auto">
          <a:xfrm>
            <a:off x="3012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4" name="Text Box 51"/>
          <p:cNvSpPr txBox="1">
            <a:spLocks noChangeArrowheads="1"/>
          </p:cNvSpPr>
          <p:nvPr/>
        </p:nvSpPr>
        <p:spPr bwMode="auto">
          <a:xfrm>
            <a:off x="3393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5" name="Text Box 52"/>
          <p:cNvSpPr txBox="1">
            <a:spLocks noChangeArrowheads="1"/>
          </p:cNvSpPr>
          <p:nvPr/>
        </p:nvSpPr>
        <p:spPr bwMode="auto">
          <a:xfrm>
            <a:off x="3774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6" name="Text Box 53"/>
          <p:cNvSpPr txBox="1">
            <a:spLocks noChangeArrowheads="1"/>
          </p:cNvSpPr>
          <p:nvPr/>
        </p:nvSpPr>
        <p:spPr bwMode="auto">
          <a:xfrm>
            <a:off x="4155123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7" name="Text Box 55"/>
          <p:cNvSpPr txBox="1">
            <a:spLocks noChangeArrowheads="1"/>
          </p:cNvSpPr>
          <p:nvPr/>
        </p:nvSpPr>
        <p:spPr bwMode="auto">
          <a:xfrm>
            <a:off x="4537198" y="38043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8" name="Text Box 11"/>
          <p:cNvSpPr txBox="1">
            <a:spLocks noChangeArrowheads="1"/>
          </p:cNvSpPr>
          <p:nvPr/>
        </p:nvSpPr>
        <p:spPr bwMode="auto">
          <a:xfrm>
            <a:off x="4918590" y="3803584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9" name="Oval 13"/>
          <p:cNvSpPr>
            <a:spLocks noChangeArrowheads="1"/>
          </p:cNvSpPr>
          <p:nvPr/>
        </p:nvSpPr>
        <p:spPr bwMode="auto">
          <a:xfrm>
            <a:off x="4920208" y="380342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210" name="Text Box 33"/>
          <p:cNvSpPr txBox="1">
            <a:spLocks noChangeArrowheads="1"/>
          </p:cNvSpPr>
          <p:nvPr/>
        </p:nvSpPr>
        <p:spPr bwMode="auto">
          <a:xfrm>
            <a:off x="2633023" y="41910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1" name="Text Box 34"/>
          <p:cNvSpPr txBox="1">
            <a:spLocks noChangeArrowheads="1"/>
          </p:cNvSpPr>
          <p:nvPr/>
        </p:nvSpPr>
        <p:spPr bwMode="auto">
          <a:xfrm>
            <a:off x="3780567" y="41910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212" name="Text Box 46"/>
          <p:cNvSpPr txBox="1">
            <a:spLocks noChangeArrowheads="1"/>
          </p:cNvSpPr>
          <p:nvPr/>
        </p:nvSpPr>
        <p:spPr bwMode="auto">
          <a:xfrm>
            <a:off x="1494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3" name="Text Box 47"/>
          <p:cNvSpPr txBox="1">
            <a:spLocks noChangeArrowheads="1"/>
          </p:cNvSpPr>
          <p:nvPr/>
        </p:nvSpPr>
        <p:spPr bwMode="auto">
          <a:xfrm>
            <a:off x="1875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4" name="Text Box 48"/>
          <p:cNvSpPr txBox="1">
            <a:spLocks noChangeArrowheads="1"/>
          </p:cNvSpPr>
          <p:nvPr/>
        </p:nvSpPr>
        <p:spPr bwMode="auto">
          <a:xfrm>
            <a:off x="2256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36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5" name="Text Box 49"/>
          <p:cNvSpPr txBox="1">
            <a:spLocks noChangeArrowheads="1"/>
          </p:cNvSpPr>
          <p:nvPr/>
        </p:nvSpPr>
        <p:spPr bwMode="auto">
          <a:xfrm>
            <a:off x="2637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6" name="Text Box 50"/>
          <p:cNvSpPr txBox="1">
            <a:spLocks noChangeArrowheads="1"/>
          </p:cNvSpPr>
          <p:nvPr/>
        </p:nvSpPr>
        <p:spPr bwMode="auto">
          <a:xfrm>
            <a:off x="3018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7" name="Text Box 51"/>
          <p:cNvSpPr txBox="1">
            <a:spLocks noChangeArrowheads="1"/>
          </p:cNvSpPr>
          <p:nvPr/>
        </p:nvSpPr>
        <p:spPr bwMode="auto">
          <a:xfrm>
            <a:off x="3399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8" name="Text Box 52"/>
          <p:cNvSpPr txBox="1">
            <a:spLocks noChangeArrowheads="1"/>
          </p:cNvSpPr>
          <p:nvPr/>
        </p:nvSpPr>
        <p:spPr bwMode="auto">
          <a:xfrm>
            <a:off x="3780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9" name="Text Box 53"/>
          <p:cNvSpPr txBox="1">
            <a:spLocks noChangeArrowheads="1"/>
          </p:cNvSpPr>
          <p:nvPr/>
        </p:nvSpPr>
        <p:spPr bwMode="auto">
          <a:xfrm>
            <a:off x="4161567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0" name="Text Box 55"/>
          <p:cNvSpPr txBox="1">
            <a:spLocks noChangeArrowheads="1"/>
          </p:cNvSpPr>
          <p:nvPr/>
        </p:nvSpPr>
        <p:spPr bwMode="auto">
          <a:xfrm>
            <a:off x="4543642" y="479479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1" name="Text Box 11"/>
          <p:cNvSpPr txBox="1">
            <a:spLocks noChangeArrowheads="1"/>
          </p:cNvSpPr>
          <p:nvPr/>
        </p:nvSpPr>
        <p:spPr bwMode="auto">
          <a:xfrm>
            <a:off x="4925034" y="4794079"/>
            <a:ext cx="381000" cy="381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36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2" name="Oval 13"/>
          <p:cNvSpPr>
            <a:spLocks noChangeArrowheads="1"/>
          </p:cNvSpPr>
          <p:nvPr/>
        </p:nvSpPr>
        <p:spPr bwMode="auto">
          <a:xfrm>
            <a:off x="4926652" y="4793915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3200" b="1">
              <a:ea typeface="宋体" pitchFamily="2" charset="-122"/>
            </a:endParaRPr>
          </a:p>
        </p:txBody>
      </p:sp>
      <p:sp>
        <p:nvSpPr>
          <p:cNvPr id="223" name="Text Box 33"/>
          <p:cNvSpPr txBox="1">
            <a:spLocks noChangeArrowheads="1"/>
          </p:cNvSpPr>
          <p:nvPr/>
        </p:nvSpPr>
        <p:spPr bwMode="auto">
          <a:xfrm>
            <a:off x="3768403" y="5187136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l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24" name="Text Box 34"/>
          <p:cNvSpPr txBox="1">
            <a:spLocks noChangeArrowheads="1"/>
          </p:cNvSpPr>
          <p:nvPr/>
        </p:nvSpPr>
        <p:spPr bwMode="auto">
          <a:xfrm>
            <a:off x="3396699" y="5181495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</a:t>
            </a:r>
            <a:endParaRPr lang="en-US" altLang="zh-CN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DD155A0B-2646-48FE-AA5C-14BFF40712C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529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530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2968CDF4-17F7-4C9D-B8B4-D3A9A6ADC59D}" type="slidenum">
              <a:rPr lang="en-US" altLang="zh-CN" sz="1050"/>
            </a:fld>
            <a:endParaRPr lang="en-US" altLang="zh-CN" sz="105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Quicksort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1488" y="2843808"/>
            <a:ext cx="590465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</a:t>
            </a:r>
            <a:r>
              <a:rPr lang="en-US" altLang="zh-CN" sz="2000" dirty="0" err="1" smtClean="0">
                <a:solidFill>
                  <a:srgbClr val="008000"/>
                </a:solidFill>
                <a:latin typeface="Sitka Text" panose="02000505000000020004" pitchFamily="2" charset="0"/>
              </a:rPr>
              <a:t>QuickSort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template </a:t>
            </a:r>
            <a:r>
              <a:rPr lang="en-US" altLang="zh-CN" sz="2000" dirty="0">
                <a:latin typeface="Sitka Text" panose="02000505000000020004" pitchFamily="2" charset="0"/>
              </a:rPr>
              <a:t>&lt;</a:t>
            </a:r>
            <a:r>
              <a:rPr lang="en-US" altLang="zh-CN" sz="2000" dirty="0" err="1">
                <a:latin typeface="Sitka Text" panose="02000505000000020004" pitchFamily="2" charset="0"/>
              </a:rPr>
              <a:t>typename</a:t>
            </a:r>
            <a:r>
              <a:rPr lang="en-US" altLang="zh-CN" sz="2000" dirty="0">
                <a:latin typeface="Sitka Text" panose="02000505000000020004" pitchFamily="2" charset="0"/>
              </a:rPr>
              <a:t> E, </a:t>
            </a:r>
            <a:r>
              <a:rPr lang="en-US" altLang="zh-CN" sz="2000" dirty="0" err="1">
                <a:latin typeface="Sitka Text" panose="02000505000000020004" pitchFamily="2" charset="0"/>
              </a:rPr>
              <a:t>typename</a:t>
            </a:r>
            <a:r>
              <a:rPr lang="en-US" altLang="zh-CN" sz="2000" dirty="0">
                <a:latin typeface="Sitka Text" panose="02000505000000020004" pitchFamily="2" charset="0"/>
              </a:rPr>
              <a:t> Comp&gt;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void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quickSort</a:t>
            </a:r>
            <a:r>
              <a:rPr lang="en-US" altLang="zh-CN" sz="2000" dirty="0" smtClean="0">
                <a:latin typeface="Sitka Text" panose="02000505000000020004" pitchFamily="2" charset="0"/>
              </a:rPr>
              <a:t>(E </a:t>
            </a:r>
            <a:r>
              <a:rPr lang="en-US" altLang="zh-CN" sz="2000" dirty="0">
                <a:latin typeface="Sitka Text" panose="02000505000000020004" pitchFamily="2" charset="0"/>
              </a:rPr>
              <a:t>A[],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j) 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if </a:t>
            </a:r>
            <a:r>
              <a:rPr lang="en-US" altLang="zh-CN" sz="2000" dirty="0">
                <a:latin typeface="Sitka Text" panose="02000505000000020004" pitchFamily="2" charset="0"/>
              </a:rPr>
              <a:t>(j &lt;=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) return;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//List with 0 or 1 element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 err="1">
                <a:latin typeface="Sitka Text" panose="02000505000000020004" pitchFamily="2" charset="0"/>
              </a:rPr>
              <a:t>pivotindex</a:t>
            </a:r>
            <a:r>
              <a:rPr lang="en-US" altLang="zh-CN" sz="2000" dirty="0">
                <a:latin typeface="Sitka Text" panose="02000505000000020004" pitchFamily="2" charset="0"/>
              </a:rPr>
              <a:t> = </a:t>
            </a:r>
            <a:r>
              <a:rPr lang="en-US" altLang="zh-CN" sz="2000" dirty="0" err="1">
                <a:latin typeface="Sitka Text" panose="02000505000000020004" pitchFamily="2" charset="0"/>
              </a:rPr>
              <a:t>findpivot</a:t>
            </a:r>
            <a:r>
              <a:rPr lang="en-US" altLang="zh-CN" sz="2000" dirty="0">
                <a:latin typeface="Sitka Text" panose="02000505000000020004" pitchFamily="2" charset="0"/>
              </a:rPr>
              <a:t>(A,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, j</a:t>
            </a:r>
            <a:r>
              <a:rPr lang="en-US" altLang="zh-CN" sz="2000" dirty="0" smtClean="0">
                <a:latin typeface="Sitka Text" panose="02000505000000020004" pitchFamily="2" charset="0"/>
              </a:rPr>
              <a:t>);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//get pivot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swap(A</a:t>
            </a:r>
            <a:r>
              <a:rPr lang="en-US" altLang="zh-CN" sz="2000" dirty="0">
                <a:latin typeface="Sitka Text" panose="02000505000000020004" pitchFamily="2" charset="0"/>
              </a:rPr>
              <a:t>, </a:t>
            </a:r>
            <a:r>
              <a:rPr lang="en-US" altLang="zh-CN" sz="2000" dirty="0" err="1">
                <a:latin typeface="Sitka Text" panose="02000505000000020004" pitchFamily="2" charset="0"/>
              </a:rPr>
              <a:t>pivotindex</a:t>
            </a:r>
            <a:r>
              <a:rPr lang="en-US" altLang="zh-CN" sz="2000" dirty="0">
                <a:latin typeface="Sitka Text" panose="02000505000000020004" pitchFamily="2" charset="0"/>
              </a:rPr>
              <a:t>, j); 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//Put pivot at end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k will be the 1st position on right side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>
                <a:latin typeface="Sitka Text" panose="02000505000000020004" pitchFamily="2" charset="0"/>
              </a:rPr>
              <a:t>k = partition&lt;</a:t>
            </a:r>
            <a:r>
              <a:rPr lang="en-US" altLang="zh-CN" sz="2000" dirty="0" err="1">
                <a:latin typeface="Sitka Text" panose="02000505000000020004" pitchFamily="2" charset="0"/>
              </a:rPr>
              <a:t>E,Comp</a:t>
            </a:r>
            <a:r>
              <a:rPr lang="en-US" altLang="zh-CN" sz="2000" dirty="0">
                <a:latin typeface="Sitka Text" panose="02000505000000020004" pitchFamily="2" charset="0"/>
              </a:rPr>
              <a:t>&gt;(A, i-1, j, A[j]);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swap(A</a:t>
            </a:r>
            <a:r>
              <a:rPr lang="en-US" altLang="zh-CN" sz="2000" dirty="0">
                <a:latin typeface="Sitka Text" panose="02000505000000020004" pitchFamily="2" charset="0"/>
              </a:rPr>
              <a:t>, k, j);  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 Put pivot in place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quickSort</a:t>
            </a:r>
            <a:r>
              <a:rPr lang="en-US" altLang="zh-CN" sz="2000" dirty="0" smtClean="0">
                <a:latin typeface="Sitka Text" panose="02000505000000020004" pitchFamily="2" charset="0"/>
              </a:rPr>
              <a:t>&lt;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E,Comp</a:t>
            </a:r>
            <a:r>
              <a:rPr lang="en-US" altLang="zh-CN" sz="2000" dirty="0">
                <a:latin typeface="Sitka Text" panose="02000505000000020004" pitchFamily="2" charset="0"/>
              </a:rPr>
              <a:t>&gt;(A,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, k-1);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Recursively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quickSort</a:t>
            </a:r>
            <a:r>
              <a:rPr lang="en-US" altLang="zh-CN" sz="2000" dirty="0" smtClean="0">
                <a:latin typeface="Sitka Text" panose="02000505000000020004" pitchFamily="2" charset="0"/>
              </a:rPr>
              <a:t>&lt;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E,Comp</a:t>
            </a:r>
            <a:r>
              <a:rPr lang="en-US" altLang="zh-CN" sz="2000" dirty="0">
                <a:latin typeface="Sitka Text" panose="02000505000000020004" pitchFamily="2" charset="0"/>
              </a:rPr>
              <a:t>&gt;(A, k+1, j);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}</a:t>
            </a:r>
            <a:endParaRPr lang="en-US" altLang="zh-CN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DD155A0B-2646-48FE-AA5C-14BFF40712C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529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530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2968CDF4-17F7-4C9D-B8B4-D3A9A6ADC59D}" type="slidenum">
              <a:rPr lang="en-US" altLang="zh-CN" sz="1050"/>
            </a:fld>
            <a:endParaRPr lang="en-US" altLang="zh-CN" sz="105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Quicksort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688" y="2843808"/>
            <a:ext cx="568863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template &lt;</a:t>
            </a:r>
            <a:r>
              <a:rPr lang="en-US" altLang="zh-CN" sz="2000" dirty="0" err="1">
                <a:latin typeface="Sitka Text" panose="02000505000000020004" pitchFamily="2" charset="0"/>
              </a:rPr>
              <a:t>typename</a:t>
            </a:r>
            <a:r>
              <a:rPr lang="en-US" altLang="zh-CN" sz="2000" dirty="0">
                <a:latin typeface="Sitka Text" panose="02000505000000020004" pitchFamily="2" charset="0"/>
              </a:rPr>
              <a:t> E, </a:t>
            </a:r>
            <a:r>
              <a:rPr lang="en-US" altLang="zh-CN" sz="2000" dirty="0" err="1">
                <a:latin typeface="Sitka Text" panose="02000505000000020004" pitchFamily="2" charset="0"/>
              </a:rPr>
              <a:t>typename</a:t>
            </a:r>
            <a:r>
              <a:rPr lang="en-US" altLang="zh-CN" sz="2000" dirty="0">
                <a:latin typeface="Sitka Text" panose="02000505000000020004" pitchFamily="2" charset="0"/>
              </a:rPr>
              <a:t> Comp&gt;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partition(E A[],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l,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r, E&amp; pivot) 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do </a:t>
            </a:r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//Move the bounds inward until they meet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   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//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Move l right and r left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while </a:t>
            </a:r>
            <a:r>
              <a:rPr lang="en-US" altLang="zh-CN" sz="2000" dirty="0">
                <a:solidFill>
                  <a:srgbClr val="FF0000"/>
                </a:solidFill>
                <a:latin typeface="Sitka Text" panose="02000505000000020004" pitchFamily="2" charset="0"/>
              </a:rPr>
              <a:t>(Comp::prior(A[++l], pivot));</a:t>
            </a:r>
            <a:endParaRPr lang="en-US" altLang="zh-CN" sz="2000" dirty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while </a:t>
            </a:r>
            <a:r>
              <a:rPr lang="en-US" altLang="zh-CN" sz="2000" dirty="0">
                <a:solidFill>
                  <a:srgbClr val="FF0000"/>
                </a:solidFill>
                <a:latin typeface="Sitka Text" panose="02000505000000020004" pitchFamily="2" charset="0"/>
              </a:rPr>
              <a:t>((l&lt;r) &amp;&amp; Comp::prior(A[--r],pivot));</a:t>
            </a:r>
            <a:endParaRPr lang="en-US" altLang="zh-CN" sz="2000" dirty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Swap out-of-place values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swap(A</a:t>
            </a:r>
            <a:r>
              <a:rPr lang="en-US" altLang="zh-CN" sz="2000" dirty="0">
                <a:solidFill>
                  <a:srgbClr val="FF0000"/>
                </a:solidFill>
                <a:latin typeface="Sitka Text" panose="02000505000000020004" pitchFamily="2" charset="0"/>
              </a:rPr>
              <a:t>, l, r); </a:t>
            </a:r>
            <a:endParaRPr lang="en-US" altLang="zh-CN" sz="2000" dirty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} while (l &lt; r);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 Stop when they cross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swap(A, l, r);  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 Reverse last swap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return l; //Return 1st position in right part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}</a:t>
            </a:r>
            <a:endParaRPr lang="en-US" altLang="zh-CN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EBF3E1C5-9443-4879-A928-3CCA46E682D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3F819A47-83FE-42B0-9AAC-64E9932E5797}" type="slidenum">
              <a:rPr lang="en-US" altLang="zh-CN" sz="1050"/>
            </a:fld>
            <a:endParaRPr lang="en-US" altLang="zh-CN" sz="105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Optimizations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411760"/>
            <a:ext cx="5829300" cy="4331940"/>
          </a:xfrm>
        </p:spPr>
        <p:txBody>
          <a:bodyPr/>
          <a:lstStyle/>
          <a:p>
            <a:r>
              <a:rPr lang="en-US" altLang="zh-CN" dirty="0" smtClean="0"/>
              <a:t>Quicksort has more overhead for small arrays.</a:t>
            </a:r>
            <a:endParaRPr lang="en-US" altLang="zh-CN" dirty="0" smtClean="0"/>
          </a:p>
          <a:p>
            <a:pPr lvl="1"/>
            <a:r>
              <a:rPr lang="en-US" altLang="zh-CN" dirty="0"/>
              <a:t>A good cutoff range </a:t>
            </a:r>
            <a:r>
              <a:rPr lang="en-US" altLang="zh-CN" dirty="0" smtClean="0"/>
              <a:t>is 10.(Empirical  threshold)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Using insertion sort for small arrays.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en-US" altLang="zh-CN" dirty="0"/>
              <a:t>Reduce recursive calls</a:t>
            </a:r>
            <a:endParaRPr lang="en-US" altLang="zh-CN" dirty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EBF3E1C5-9443-4879-A928-3CCA46E682D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3F819A47-83FE-42B0-9AAC-64E9932E5797}" type="slidenum">
              <a:rPr lang="en-US" altLang="zh-CN" sz="1050"/>
            </a:fld>
            <a:endParaRPr lang="en-US" altLang="zh-CN" sz="105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 </a:t>
            </a:r>
            <a:r>
              <a:rPr lang="en-US" altLang="zh-CN" dirty="0"/>
              <a:t>of Quicksort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627784"/>
            <a:ext cx="5829300" cy="4115916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Assuming </a:t>
            </a:r>
            <a:r>
              <a:rPr lang="en-US" altLang="zh-CN" dirty="0"/>
              <a:t>a random pivot </a:t>
            </a:r>
            <a:r>
              <a:rPr lang="en-US" altLang="zh-CN" dirty="0" smtClean="0"/>
              <a:t>and </a:t>
            </a:r>
            <a:r>
              <a:rPr lang="en-US" altLang="zh-CN" dirty="0"/>
              <a:t>no cutoff for small arrays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/>
              <a:t>T(0) = T(1) = O(1)</a:t>
            </a:r>
            <a:endParaRPr lang="en-US" altLang="zh-CN" dirty="0"/>
          </a:p>
          <a:p>
            <a:pPr lvl="2"/>
            <a:r>
              <a:rPr lang="en-US" altLang="zh-CN" dirty="0"/>
              <a:t>constant time if 0 or 1 element</a:t>
            </a:r>
            <a:endParaRPr lang="en-US" altLang="zh-CN" dirty="0"/>
          </a:p>
          <a:p>
            <a:pPr lvl="1"/>
            <a:r>
              <a:rPr lang="en-US" altLang="zh-CN" dirty="0"/>
              <a:t>For N &gt; 1, 2 recursive calls plus linear time for </a:t>
            </a:r>
            <a:r>
              <a:rPr lang="en-US" altLang="zh-CN" dirty="0" smtClean="0"/>
              <a:t>partitioning</a:t>
            </a:r>
            <a:endParaRPr lang="en-US" altLang="zh-CN" dirty="0" smtClean="0"/>
          </a:p>
          <a:p>
            <a:pPr lvl="1"/>
            <a:r>
              <a:rPr lang="pt-BR" altLang="zh-CN" dirty="0"/>
              <a:t>T(N) = T(i) + T(N − i − 1) + cN</a:t>
            </a:r>
            <a:endParaRPr lang="en-US" altLang="zh-CN" dirty="0" smtClean="0"/>
          </a:p>
          <a:p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Best Case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Algorithm always chooses best pivot and splits sub-arrays in half at each recursion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T(N) = 2T(N/2) + O(N)</a:t>
            </a:r>
            <a:endParaRPr lang="en-US" altLang="zh-CN" dirty="0" smtClean="0">
              <a:ea typeface="宋体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Same recurrence relation as </a:t>
            </a:r>
            <a:r>
              <a:rPr lang="en-US" altLang="zh-CN" dirty="0" err="1" smtClean="0">
                <a:ea typeface="宋体" pitchFamily="2" charset="-122"/>
              </a:rPr>
              <a:t>Mergesort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T(N) = </a:t>
            </a:r>
            <a:r>
              <a:rPr lang="en-US" altLang="zh-CN" u="sng" dirty="0" smtClean="0">
                <a:solidFill>
                  <a:srgbClr val="0000FF"/>
                </a:solidFill>
                <a:ea typeface="宋体" pitchFamily="2" charset="-122"/>
              </a:rPr>
              <a:t>O(N log N)</a:t>
            </a:r>
            <a:endParaRPr lang="en-US" altLang="zh-CN" u="sng" dirty="0" smtClean="0">
              <a:solidFill>
                <a:srgbClr val="0000FF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C225E398-93D7-4FE7-8430-11E3B1F8D02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73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73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4CC35D8E-A442-4C83-A063-43CBA64CEC2C}" type="slidenum">
              <a:rPr lang="en-US" altLang="zh-CN" sz="1050"/>
            </a:fld>
            <a:endParaRPr lang="en-US" altLang="zh-CN" sz="1050"/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860" y="2411760"/>
            <a:ext cx="6003131" cy="4274790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Worst case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Algorithm </a:t>
            </a:r>
            <a:r>
              <a:rPr lang="en-US" altLang="zh-CN" dirty="0">
                <a:ea typeface="宋体" pitchFamily="2" charset="-122"/>
              </a:rPr>
              <a:t>always chooses the worst pivot – one sub-array is empty at each recursion</a:t>
            </a:r>
            <a:endParaRPr lang="en-US" altLang="zh-CN" dirty="0">
              <a:ea typeface="宋体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T(N</a:t>
            </a:r>
            <a:r>
              <a:rPr lang="en-US" altLang="zh-CN" dirty="0">
                <a:ea typeface="宋体" pitchFamily="2" charset="-122"/>
              </a:rPr>
              <a:t>)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=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T(N-1) + </a:t>
            </a:r>
            <a:r>
              <a:rPr lang="en-US" altLang="zh-CN" dirty="0" err="1">
                <a:ea typeface="宋体" pitchFamily="2" charset="-122"/>
              </a:rPr>
              <a:t>bN</a:t>
            </a:r>
            <a:endParaRPr lang="en-US" altLang="zh-CN" dirty="0">
              <a:ea typeface="宋体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dirty="0">
                <a:ea typeface="宋体" pitchFamily="2" charset="-122"/>
              </a:rPr>
              <a:t>       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=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T(N-2) + b(N-1) + </a:t>
            </a:r>
            <a:r>
              <a:rPr lang="en-US" altLang="zh-CN" dirty="0" err="1">
                <a:ea typeface="宋体" pitchFamily="2" charset="-122"/>
              </a:rPr>
              <a:t>bN</a:t>
            </a:r>
            <a:r>
              <a:rPr lang="en-US" altLang="zh-CN" dirty="0">
                <a:ea typeface="宋体" pitchFamily="2" charset="-122"/>
              </a:rPr>
              <a:t> </a:t>
            </a:r>
            <a:endParaRPr lang="en-US" altLang="zh-CN" dirty="0">
              <a:ea typeface="宋体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dirty="0">
                <a:ea typeface="宋体" pitchFamily="2" charset="-122"/>
              </a:rPr>
              <a:t>       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=</a:t>
            </a:r>
            <a:r>
              <a:rPr lang="en-US" altLang="zh-CN" dirty="0" smtClean="0">
                <a:ea typeface="宋体" pitchFamily="2" charset="-122"/>
              </a:rPr>
              <a:t> T(1) </a:t>
            </a:r>
            <a:r>
              <a:rPr lang="en-US" altLang="zh-CN" dirty="0">
                <a:ea typeface="宋体" pitchFamily="2" charset="-122"/>
              </a:rPr>
              <a:t>+ </a:t>
            </a:r>
            <a:r>
              <a:rPr lang="en-US" altLang="zh-CN" dirty="0" smtClean="0">
                <a:ea typeface="宋体" pitchFamily="2" charset="-122"/>
              </a:rPr>
              <a:t>b(1+ </a:t>
            </a:r>
            <a:r>
              <a:rPr lang="en-US" altLang="zh-CN" dirty="0">
                <a:ea typeface="宋体" pitchFamily="2" charset="-122"/>
              </a:rPr>
              <a:t>… </a:t>
            </a:r>
            <a:r>
              <a:rPr lang="en-US" altLang="zh-CN" dirty="0" smtClean="0">
                <a:ea typeface="宋体" pitchFamily="2" charset="-122"/>
              </a:rPr>
              <a:t>(N-1)+ </a:t>
            </a:r>
            <a:r>
              <a:rPr lang="en-US" altLang="zh-CN" dirty="0" smtClean="0"/>
              <a:t>N</a:t>
            </a:r>
            <a:r>
              <a:rPr lang="en-US" altLang="zh-CN" dirty="0"/>
              <a:t>)</a:t>
            </a:r>
            <a:endParaRPr lang="en-US" altLang="zh-CN" dirty="0">
              <a:ea typeface="宋体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dirty="0">
                <a:ea typeface="宋体" pitchFamily="2" charset="-122"/>
              </a:rPr>
              <a:t>       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= </a:t>
            </a:r>
            <a:r>
              <a:rPr lang="en-US" altLang="zh-CN" dirty="0"/>
              <a:t>O(1)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 +</a:t>
            </a:r>
            <a:r>
              <a:rPr lang="en-US" altLang="zh-CN" dirty="0"/>
              <a:t> </a:t>
            </a:r>
            <a:r>
              <a:rPr lang="en-US" altLang="zh-CN" dirty="0" smtClean="0"/>
              <a:t>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T(N) = </a:t>
            </a: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O(N</a:t>
            </a:r>
            <a:r>
              <a:rPr lang="en-US" altLang="zh-CN" baseline="30000" dirty="0" smtClean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)</a:t>
            </a:r>
            <a:endParaRPr lang="en-US" altLang="zh-CN" u="sng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spcBef>
                <a:spcPct val="10000"/>
              </a:spcBef>
            </a:pPr>
            <a:endParaRPr lang="en-US" altLang="zh-CN" dirty="0" smtClean="0">
              <a:ea typeface="宋体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Fortunately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average case performance </a:t>
            </a:r>
            <a:r>
              <a:rPr lang="en-US" altLang="zh-CN" dirty="0">
                <a:ea typeface="宋体" pitchFamily="2" charset="-122"/>
              </a:rPr>
              <a:t>is    O(N log N) (see text for proof)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Analysis </a:t>
            </a:r>
            <a:r>
              <a:rPr lang="en-US" altLang="zh-CN" dirty="0"/>
              <a:t>of Quicksort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5AC6AB32-29A8-49D2-8601-EF0D4AFEBE9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83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83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B935263F-129F-4BF8-8A0D-942B4BB4BD1A}" type="slidenum">
              <a:rPr lang="en-US" altLang="zh-CN" sz="1050"/>
            </a:fld>
            <a:endParaRPr lang="en-US" altLang="zh-CN" sz="105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Properties of Quicksort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Not stable because of long distance swapping.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Pure </a:t>
            </a:r>
            <a:r>
              <a:rPr lang="en-US" altLang="zh-CN" dirty="0">
                <a:ea typeface="宋体" pitchFamily="2" charset="-122"/>
              </a:rPr>
              <a:t>quicksort not good for small arrays.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“In-place”, but uses auxiliary storage because of recursive call (</a:t>
            </a:r>
            <a:r>
              <a:rPr lang="en-US" altLang="zh-CN" dirty="0" smtClean="0">
                <a:ea typeface="宋体" pitchFamily="2" charset="-122"/>
              </a:rPr>
              <a:t>O(</a:t>
            </a:r>
            <a:r>
              <a:rPr lang="en-US" altLang="zh-CN" dirty="0" err="1" smtClean="0">
                <a:ea typeface="宋体" pitchFamily="2" charset="-122"/>
              </a:rPr>
              <a:t>logN</a:t>
            </a:r>
            <a:r>
              <a:rPr lang="en-US" altLang="zh-CN" dirty="0" smtClean="0">
                <a:ea typeface="宋体" pitchFamily="2" charset="-122"/>
              </a:rPr>
              <a:t>) </a:t>
            </a:r>
            <a:r>
              <a:rPr lang="en-US" altLang="zh-CN" dirty="0">
                <a:ea typeface="宋体" pitchFamily="2" charset="-122"/>
              </a:rPr>
              <a:t>space).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O(N </a:t>
            </a:r>
            <a:r>
              <a:rPr lang="en-US" altLang="zh-CN" dirty="0" err="1" smtClean="0">
                <a:ea typeface="宋体" pitchFamily="2" charset="-122"/>
              </a:rPr>
              <a:t>logN</a:t>
            </a:r>
            <a:r>
              <a:rPr lang="en-US" altLang="zh-CN" dirty="0" smtClean="0">
                <a:ea typeface="宋体" pitchFamily="2" charset="-122"/>
              </a:rPr>
              <a:t>) </a:t>
            </a:r>
            <a:r>
              <a:rPr lang="en-US" altLang="zh-CN" dirty="0">
                <a:ea typeface="宋体" pitchFamily="2" charset="-122"/>
              </a:rPr>
              <a:t>average case performance, but </a:t>
            </a:r>
            <a:r>
              <a:rPr lang="en-US" altLang="zh-CN" dirty="0" smtClean="0">
                <a:ea typeface="宋体" pitchFamily="2" charset="-122"/>
              </a:rPr>
              <a:t>O(N</a:t>
            </a:r>
            <a:r>
              <a:rPr lang="en-US" altLang="zh-CN" baseline="30000" dirty="0" smtClean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) worst case performance.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3CA331A3-3628-4BBD-9AB0-184E464C4D8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93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593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CC13393D-9507-4105-A070-118E1AF39651}" type="slidenum">
              <a:rPr lang="en-US" altLang="zh-CN" sz="1050"/>
            </a:fld>
            <a:endParaRPr lang="en-US" altLang="zh-CN" sz="105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Folklore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“Quicksort is the best in-memory sorting algorithm.”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Truth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Quicksort uses very few comparisons on average.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Quicksort does have good performance in the memory hierarchy.</a:t>
            </a:r>
            <a:endParaRPr lang="en-US" altLang="zh-CN" dirty="0" smtClean="0">
              <a:ea typeface="宋体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Small footprint</a:t>
            </a:r>
            <a:endParaRPr lang="en-US" altLang="zh-CN" dirty="0" smtClean="0">
              <a:ea typeface="宋体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Good locality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5-2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T</a:t>
            </a:r>
            <a:r>
              <a:rPr lang="en-US" altLang="zh-CN" dirty="0" smtClean="0"/>
              <a:t>o Implement </a:t>
            </a:r>
            <a:r>
              <a:rPr lang="en-US" altLang="zh-CN" dirty="0"/>
              <a:t>all sorting algorithms </a:t>
            </a:r>
            <a:r>
              <a:rPr lang="en-US" altLang="zh-CN" dirty="0" smtClean="0"/>
              <a:t>discussed. (</a:t>
            </a:r>
            <a:r>
              <a:rPr lang="en-US" altLang="zh-CN" dirty="0" smtClean="0">
                <a:solidFill>
                  <a:srgbClr val="FF0000"/>
                </a:solidFill>
              </a:rPr>
              <a:t>The mission is not homework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en-US" altLang="zh-CN" dirty="0" smtClean="0"/>
              <a:t>Textbook exercises 7.11, 7.12, 7.15, 7.17, 7.19, 7.20, 7.28(not required)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B8533C-8186-4F96-AFFE-5B2D104E341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9592</Words>
  <Application>WPS 文字</Application>
  <PresentationFormat>全屏显示(4:3)</PresentationFormat>
  <Paragraphs>1289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61" baseType="lpstr">
      <vt:lpstr>Arial</vt:lpstr>
      <vt:lpstr>宋体</vt:lpstr>
      <vt:lpstr>Wingdings</vt:lpstr>
      <vt:lpstr>Sitka Small</vt:lpstr>
      <vt:lpstr>苹方-简</vt:lpstr>
      <vt:lpstr>Times New Roman</vt:lpstr>
      <vt:lpstr>Wingdings 2</vt:lpstr>
      <vt:lpstr>Sitka Text</vt:lpstr>
      <vt:lpstr>宋体-简</vt:lpstr>
      <vt:lpstr>Courier New</vt:lpstr>
      <vt:lpstr>Symbol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Cambria Math</vt:lpstr>
      <vt:lpstr>DejaVu Math TeX Gyre</vt:lpstr>
      <vt:lpstr>Kingsoft Sign</vt:lpstr>
      <vt:lpstr>Kingsoft Math</vt:lpstr>
      <vt:lpstr>HDOfficeLightV0</vt:lpstr>
      <vt:lpstr>Sorting</vt:lpstr>
      <vt:lpstr>O(NlogN) Sorting Algorithms </vt:lpstr>
      <vt:lpstr>Heap Sort</vt:lpstr>
      <vt:lpstr>Using Binary Heaps for Sorting</vt:lpstr>
      <vt:lpstr>1 Removal = 1 Addition</vt:lpstr>
      <vt:lpstr>Repeated DeleteMax</vt:lpstr>
      <vt:lpstr> Heap Sort is In-place</vt:lpstr>
      <vt:lpstr>Heapsort: Analysis</vt:lpstr>
      <vt:lpstr>“Divide and Conquer”</vt:lpstr>
      <vt:lpstr>PowerPoint 演示文稿</vt:lpstr>
      <vt:lpstr>Mergesort Example</vt:lpstr>
      <vt:lpstr>Auxiliary Array</vt:lpstr>
      <vt:lpstr>Merging</vt:lpstr>
      <vt:lpstr>Merging</vt:lpstr>
      <vt:lpstr>Merging Algorithm</vt:lpstr>
      <vt:lpstr>Recursive Mergesort</vt:lpstr>
      <vt:lpstr>Mergesort Analysis</vt:lpstr>
      <vt:lpstr>Mergesort Recurrence Relation</vt:lpstr>
      <vt:lpstr>Mergesort Analysis</vt:lpstr>
      <vt:lpstr>Properties of Mergesort</vt:lpstr>
      <vt:lpstr>Quicksort</vt:lpstr>
      <vt:lpstr>“Four easy steps”</vt:lpstr>
      <vt:lpstr>The steps of QuickSort</vt:lpstr>
      <vt:lpstr>Partitioning</vt:lpstr>
      <vt:lpstr>Select pivot </vt:lpstr>
      <vt:lpstr>Partitioning Strategy</vt:lpstr>
      <vt:lpstr>2-way partitioning</vt:lpstr>
      <vt:lpstr>Example</vt:lpstr>
      <vt:lpstr>Example</vt:lpstr>
      <vt:lpstr>Example</vt:lpstr>
      <vt:lpstr>Quicksort</vt:lpstr>
      <vt:lpstr>Quicksort</vt:lpstr>
      <vt:lpstr>Optimizations</vt:lpstr>
      <vt:lpstr>Analysis of Quicksort</vt:lpstr>
      <vt:lpstr>Analysis of Quicksort</vt:lpstr>
      <vt:lpstr>Properties of Quicksort</vt:lpstr>
      <vt:lpstr>Folklore</vt:lpstr>
      <vt:lpstr>Homework 5-2 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JXWang</cp:lastModifiedBy>
  <cp:revision>833</cp:revision>
  <dcterms:created xsi:type="dcterms:W3CDTF">2025-05-05T17:25:42Z</dcterms:created>
  <dcterms:modified xsi:type="dcterms:W3CDTF">2025-05-05T17:25:42Z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FFF3D3B0714AC68B9CED1868325D07F4_42</vt:lpwstr>
  </property>
</Properties>
</file>