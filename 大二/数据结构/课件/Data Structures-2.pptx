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3" r:id="rId3"/>
    <p:sldId id="262" r:id="rId5"/>
    <p:sldId id="300" r:id="rId6"/>
    <p:sldId id="301" r:id="rId7"/>
    <p:sldId id="302" r:id="rId8"/>
    <p:sldId id="268" r:id="rId9"/>
    <p:sldId id="259" r:id="rId10"/>
    <p:sldId id="275" r:id="rId11"/>
    <p:sldId id="264" r:id="rId12"/>
    <p:sldId id="270" r:id="rId13"/>
    <p:sldId id="271" r:id="rId14"/>
    <p:sldId id="272" r:id="rId15"/>
    <p:sldId id="350" r:id="rId16"/>
    <p:sldId id="337" r:id="rId17"/>
    <p:sldId id="279" r:id="rId18"/>
    <p:sldId id="277" r:id="rId19"/>
    <p:sldId id="276" r:id="rId20"/>
    <p:sldId id="280" r:id="rId21"/>
    <p:sldId id="274" r:id="rId22"/>
    <p:sldId id="281" r:id="rId23"/>
    <p:sldId id="316" r:id="rId24"/>
    <p:sldId id="294" r:id="rId25"/>
    <p:sldId id="295" r:id="rId26"/>
    <p:sldId id="317" r:id="rId27"/>
    <p:sldId id="318" r:id="rId28"/>
    <p:sldId id="319" r:id="rId29"/>
    <p:sldId id="320" r:id="rId30"/>
    <p:sldId id="321" r:id="rId31"/>
    <p:sldId id="322" r:id="rId32"/>
    <p:sldId id="342" r:id="rId33"/>
    <p:sldId id="324" r:id="rId34"/>
    <p:sldId id="325" r:id="rId35"/>
    <p:sldId id="326" r:id="rId36"/>
    <p:sldId id="327" r:id="rId37"/>
    <p:sldId id="328" r:id="rId38"/>
    <p:sldId id="329" r:id="rId39"/>
    <p:sldId id="330" r:id="rId40"/>
    <p:sldId id="331" r:id="rId41"/>
    <p:sldId id="332" r:id="rId42"/>
    <p:sldId id="333" r:id="rId43"/>
    <p:sldId id="33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C-A230" initials="P" lastIdx="1" clrIdx="0"/>
  <p:cmAuthor id="2" name="jiexin" initials="j" lastIdx="2" clrIdx="1"/>
  <p:cmAuthor id="3" name="静云 徐" initials="静云" lastIdx="1" clrIdx="2"/>
  <p:cmAuthor id="0" name="闫秀丽" initials="闫秀丽" lastIdx="0" clrIdx="0"/>
  <p:cmAuthor id="71" name="未定义" initials="未" lastIdx="1" clrIdx="1"/>
  <p:cmAuthor id="72" name="范作霖" initials="范" lastIdx="1" clrIdx="22"/>
  <p:cmAuthor id="73" name="张惠" initials="张" lastIdx="1" clrIdx="0"/>
  <p:cmAuthor id="74" name="panhong" initials="p" lastIdx="18" clrIdx="0"/>
  <p:cmAuthor id="4" name="廖绪才" initials="廖" lastIdx="1" clrIdx="0"/>
  <p:cmAuthor id="5" name="戴煌胜" initials="戴" lastIdx="1" clrIdx="0"/>
  <p:cmAuthor id="6" name="lenovo" initials="l" lastIdx="3" clrIdx="0"/>
  <p:cmAuthor id="7" name="范仁云" initials="范" lastIdx="0" clrIdx="0"/>
  <p:cmAuthor id="8" name="未知用户1" initials="未" lastIdx="1" clrIdx="0"/>
  <p:cmAuthor id="9" name="Microsoft 帐户" initials="M" lastIdx="1" clrIdx="1"/>
  <p:cmAuthor id="10" name="舒安" initials="舒" lastIdx="1" clrIdx="0"/>
  <p:cmAuthor id="11" name="朱明华" initials="m" lastIdx="2" clrIdx="3"/>
  <p:cmAuthor id="12" name="未知用户2" initials="未" lastIdx="1" clrIdx="0"/>
  <p:cmAuthor id="13" name="孙现民" initials="孙" lastIdx="1" clrIdx="0"/>
  <p:cmAuthor id="14" name="陈桂枝" initials="陈" lastIdx="1" clrIdx="0"/>
  <p:cmAuthor id="16" name="李威" initials="李" lastIdx="1" clrIdx="3"/>
  <p:cmAuthor id="19" name="未知用户3" initials="未" lastIdx="4" clrIdx="1"/>
  <p:cmAuthor id="21" name="thinkpad" initials="t" lastIdx="2" clrIdx="0"/>
  <p:cmAuthor id="22" name="刘传坤" initials="刘" lastIdx="14" clrIdx="0"/>
  <p:cmAuthor id="23" name="China" initials="C" lastIdx="8" clrIdx="1"/>
  <p:cmAuthor id="24" name="张立鑫" initials="张" lastIdx="1" clrIdx="23"/>
  <p:cmAuthor id="25" name="未知用户17" initials="未" lastIdx="1" clrIdx="1"/>
  <p:cmAuthor id="26" name="未知用户4" initials="未" lastIdx="4" clrIdx="1"/>
  <p:cmAuthor id="27" name="吴铭锐" initials="吴" lastIdx="2" clrIdx="0"/>
  <p:cmAuthor id="28" name="未知用户19" initials="未" lastIdx="1" clrIdx="0"/>
  <p:cmAuthor id="29" name="杨静" initials="杨" lastIdx="1" clrIdx="22"/>
  <p:cmAuthor id="30" name="包珊珊" initials="包" lastIdx="7" clrIdx="23"/>
  <p:cmAuthor id="31" name="YuQing" initials="Y" lastIdx="9" clrIdx="0"/>
  <p:cmAuthor id="32" name="Youwen Sun" initials="Y" lastIdx="3" clrIdx="1"/>
  <p:cmAuthor id="33" name="番茄花园" initials="番" lastIdx="1" clrIdx="0"/>
  <p:cmAuthor id="34" name="evil" initials="e" lastIdx="0" clrIdx="0"/>
  <p:cmAuthor id="35" name="未知" initials="未" lastIdx="1" clrIdx="0"/>
  <p:cmAuthor id="36" name="陶川" initials="陶" lastIdx="1" clrIdx="0"/>
  <p:cmAuthor id="37" name="张杰" initials="张" lastIdx="7" clrIdx="0"/>
  <p:cmAuthor id="38" name="周满红" initials="周" lastIdx="24" clrIdx="0"/>
  <p:cmAuthor id="39" name="未知用户5" initials="未" lastIdx="4" clrIdx="3"/>
  <p:cmAuthor id="41" name="未知用户7" initials="未" lastIdx="1" clrIdx="0"/>
  <p:cmAuthor id="42" name="未知用户8" initials="未" lastIdx="2" clrIdx="4"/>
  <p:cmAuthor id="43" name="未知用户9" initials="未" lastIdx="3" clrIdx="5"/>
  <p:cmAuthor id="44" name="未知用户10" initials="未" lastIdx="9" clrIdx="0"/>
  <p:cmAuthor id="45" name="未知用户11" initials="未" lastIdx="1" clrIdx="0"/>
  <p:cmAuthor id="46" name="未知用户23" initials="未" lastIdx="1" clrIdx="1"/>
  <p:cmAuthor id="47" name="未知用户24" initials="未" lastIdx="1" clrIdx="0"/>
  <p:cmAuthor id="48" name="未知用户25" initials="未" lastIdx="1" clrIdx="0"/>
  <p:cmAuthor id="49" name="未知用户26" initials="未" lastIdx="1" clrIdx="0"/>
  <p:cmAuthor id="50" name="未知用户27" initials="未" lastIdx="1" clrIdx="0"/>
  <p:cmAuthor id="51" name="未知用户28" initials="未" lastIdx="1" clrIdx="0"/>
  <p:cmAuthor id="52" name="未知用户29" initials="未" lastIdx="1" clrIdx="0"/>
  <p:cmAuthor id="53" name="未知用户30" initials="未" lastIdx="4" clrIdx="0"/>
  <p:cmAuthor id="54" name="yangkun" initials="y" lastIdx="0" clrIdx="0"/>
  <p:cmAuthor id="55" name="Lenovo User" initials="L" lastIdx="1" clrIdx="0"/>
  <p:cmAuthor id="56" name="hys2" initials="h" lastIdx="1" clrIdx="0"/>
  <p:cmAuthor id="57" name="朱绍春" initials="朱" lastIdx="13" clrIdx="0"/>
  <p:cmAuthor id="58" name="邹洋" initials="邹" lastIdx="2" clrIdx="0"/>
  <p:cmAuthor id="59" name="孟祥超" initials="孟" lastIdx="2" clrIdx="1"/>
  <p:cmAuthor id="60" name="贡鑫" initials="贡" lastIdx="2" clrIdx="0"/>
  <p:cmAuthor id="61" name="administrator1" initials="a" lastIdx="16" clrIdx="2"/>
  <p:cmAuthor id="62" name="杜雪梅" initials="杜" lastIdx="1" clrIdx="0"/>
  <p:cmAuthor id="63" name="lijin" initials="l" lastIdx="33" clrIdx="0"/>
  <p:cmAuthor id="64" name="未知用户22" initials="未" lastIdx="34" clrIdx="0"/>
  <p:cmAuthor id="66" name="rq fan" initials="r" lastIdx="3" clrIdx="1"/>
  <p:cmAuthor id="67" name="张雁" initials="张" lastIdx="1" clrIdx="19"/>
  <p:cmAuthor id="68" name="未知用户12" initials="未" lastIdx="1" clrIdx="0"/>
  <p:cmAuthor id="69" name="李百秋" initials="李" lastIdx="3" clrIdx="21"/>
  <p:cmAuthor id="70" name="刘艳龙" initials="刘" lastIdx="2" clrIdx="0"/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8" Type="http://schemas.openxmlformats.org/officeDocument/2006/relationships/commentAuthors" Target="commentAuthors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8E75EFC0-8494-4096-89F0-205425151EAA}" type="slidenum">
              <a:rPr lang="zh-CN" altLang="en-US" smtClean="0">
                <a:latin typeface="Times New Roman" panose="02020603050405020304" pitchFamily="18" charset="0"/>
              </a:rPr>
            </a:fld>
            <a:endParaRPr lang="zh-CN" altLang="en-US" smtClean="0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38363" y="688975"/>
            <a:ext cx="2582862" cy="3441700"/>
          </a:xfrm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smtClean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pt-BR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 dirty="0">
              <a:solidFill>
                <a:srgbClr val="FF33CC"/>
              </a:solidFill>
              <a:ea typeface="宋体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sym typeface="+mn-ea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38363" y="688975"/>
            <a:ext cx="2582862" cy="3441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9FFBA-DB68-401C-9E2D-88F5C46C45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33DD8C4-B727-4E57-B707-7F6169A13713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endParaRPr lang="zh-CN" altLang="en-US" smtClean="0"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5A4BA78-9167-47FB-B9A6-371D561CBD99}" type="slidenum">
              <a:rPr lang="en-CA" smtClean="0"/>
            </a:fld>
            <a:endParaRPr lang="en-CA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138363" y="688975"/>
            <a:ext cx="2582862" cy="34417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F9FFBA-DB68-401C-9E2D-88F5C46C45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8E75EFC0-8494-4096-89F0-205425151EAA}" type="slidenum">
              <a:rPr lang="zh-CN" altLang="en-US" smtClean="0">
                <a:latin typeface="Times New Roman" panose="02020603050405020304" pitchFamily="18" charset="0"/>
              </a:rPr>
            </a:fld>
            <a:endParaRPr lang="zh-CN" altLang="en-US" smtClean="0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38363" y="688975"/>
            <a:ext cx="2582862" cy="3441700"/>
          </a:xfrm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 sz="1200" dirty="0" smtClean="0">
              <a:solidFill>
                <a:srgbClr val="7030A0"/>
              </a:solidFill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8E75EFC0-8494-4096-89F0-205425151EAA}" type="slidenum">
              <a:rPr lang="zh-CN" altLang="en-US" smtClean="0">
                <a:latin typeface="Times New Roman" panose="02020603050405020304" pitchFamily="18" charset="0"/>
              </a:rPr>
            </a:fld>
            <a:endParaRPr lang="zh-CN" altLang="en-US" smtClean="0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38363" y="688975"/>
            <a:ext cx="2582862" cy="3441700"/>
          </a:xfrm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138363" y="688975"/>
            <a:ext cx="2582862" cy="3441700"/>
          </a:xfrm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2CEDEDAB-BCAD-4D36-84D4-1424A9A65929}" type="slidenum">
              <a:rPr lang="zh-CN" altLang="en-US" smtClean="0">
                <a:latin typeface="Times New Roman" panose="02020603050405020304" pitchFamily="18" charset="0"/>
              </a:rPr>
            </a:fld>
            <a:endParaRPr lang="zh-CN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B1C361A7-CA3D-4C6C-B91A-3F9F52CB6F89}" type="slidenum">
              <a:rPr lang="zh-CN" altLang="en-US" smtClean="0">
                <a:latin typeface="Times New Roman" panose="02020603050405020304" pitchFamily="18" charset="0"/>
              </a:rPr>
            </a:fld>
            <a:endParaRPr lang="zh-CN" altLang="en-US" smtClean="0">
              <a:latin typeface="Times New Roman" panose="02020603050405020304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38363" y="688975"/>
            <a:ext cx="2582862" cy="3441700"/>
          </a:xfrm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smtClean="0"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138363" y="688975"/>
            <a:ext cx="2582862" cy="3441700"/>
          </a:xfrm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2CEDEDAB-BCAD-4D36-84D4-1424A9A65929}" type="slidenum">
              <a:rPr lang="zh-CN" altLang="en-US" smtClean="0">
                <a:latin typeface="Times New Roman" panose="02020603050405020304" pitchFamily="18" charset="0"/>
              </a:rPr>
            </a:fld>
            <a:endParaRPr lang="zh-CN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138363" y="688975"/>
            <a:ext cx="2582862" cy="3441700"/>
          </a:xfrm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2CEDEDAB-BCAD-4D36-84D4-1424A9A65929}" type="slidenum">
              <a:rPr lang="zh-CN" altLang="en-US" smtClean="0">
                <a:latin typeface="Times New Roman" panose="02020603050405020304" pitchFamily="18" charset="0"/>
              </a:rPr>
            </a:fld>
            <a:endParaRPr lang="zh-CN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138363" y="688975"/>
            <a:ext cx="2582862" cy="3441700"/>
          </a:xfrm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2CEDEDAB-BCAD-4D36-84D4-1424A9A65929}" type="slidenum">
              <a:rPr lang="zh-CN" altLang="en-US" smtClean="0">
                <a:latin typeface="Times New Roman" panose="02020603050405020304" pitchFamily="18" charset="0"/>
              </a:rPr>
            </a:fld>
            <a:endParaRPr lang="zh-CN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138363" y="688975"/>
            <a:ext cx="2582862" cy="3441700"/>
          </a:xfrm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2CEDEDAB-BCAD-4D36-84D4-1424A9A65929}" type="slidenum">
              <a:rPr lang="zh-CN" altLang="en-US" smtClean="0">
                <a:latin typeface="Times New Roman" panose="02020603050405020304" pitchFamily="18" charset="0"/>
              </a:rPr>
            </a:fld>
            <a:endParaRPr lang="zh-CN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138363" y="688975"/>
            <a:ext cx="2582862" cy="3441700"/>
          </a:xfrm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2CEDEDAB-BCAD-4D36-84D4-1424A9A65929}" type="slidenum">
              <a:rPr lang="zh-CN" altLang="en-US" smtClean="0">
                <a:latin typeface="Times New Roman" panose="02020603050405020304" pitchFamily="18" charset="0"/>
              </a:rPr>
            </a:fld>
            <a:endParaRPr lang="zh-CN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8E75EFC0-8494-4096-89F0-205425151EAA}" type="slidenum">
              <a:rPr lang="zh-CN" altLang="en-US" smtClean="0">
                <a:latin typeface="Times New Roman" panose="02020603050405020304" pitchFamily="18" charset="0"/>
              </a:rPr>
            </a:fld>
            <a:endParaRPr lang="zh-CN" altLang="en-US" smtClean="0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38363" y="688975"/>
            <a:ext cx="2582862" cy="3441700"/>
          </a:xfrm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sz="1200" dirty="0" smtClean="0">
              <a:sym typeface="+mn-ea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138363" y="688975"/>
            <a:ext cx="2582862" cy="3441700"/>
          </a:xfrm>
        </p:spPr>
      </p:sp>
      <p:sp>
        <p:nvSpPr>
          <p:cNvPr id="74755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7475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2CEDEDAB-BCAD-4D36-84D4-1424A9A65929}" type="slidenum">
              <a:rPr lang="zh-CN" altLang="en-US" smtClean="0">
                <a:latin typeface="Times New Roman" panose="02020603050405020304" pitchFamily="18" charset="0"/>
              </a:rPr>
            </a:fld>
            <a:endParaRPr lang="zh-CN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wmf"/><Relationship Id="rId1" Type="http://schemas.openxmlformats.org/officeDocument/2006/relationships/oleObject" Target="../embeddings/oleObject1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2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1.wmf"/><Relationship Id="rId1" Type="http://schemas.openxmlformats.org/officeDocument/2006/relationships/oleObject" Target="../embeddings/oleObject2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6395" y="897255"/>
            <a:ext cx="9144000" cy="1924050"/>
          </a:xfrm>
        </p:spPr>
        <p:txBody>
          <a:bodyPr/>
          <a:p>
            <a:r>
              <a:rPr lang="en-US" altLang="zh-CN" dirty="0" smtClean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Structures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52140"/>
            <a:ext cx="9144000" cy="2526030"/>
          </a:xfrm>
        </p:spPr>
        <p:txBody>
          <a:bodyPr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algn="ctr" eaLnBrk="1" hangingPunct="1">
              <a:buFontTx/>
              <a:buNone/>
            </a:pPr>
            <a:endParaRPr lang="en-US" altLang="zh-CN" sz="32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Jiexin Wang</a:t>
            </a:r>
            <a:endParaRPr lang="en-US" altLang="zh-C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3200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School of Software Engineering</a:t>
            </a:r>
            <a:endParaRPr lang="en-US" altLang="zh-CN" sz="3200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Clr>
                <a:srgbClr val="330066"/>
              </a:buClr>
            </a:pPr>
            <a:r>
              <a:rPr lang="en-US" altLang="zh-CN" sz="3200" dirty="0">
                <a:solidFill>
                  <a:schemeClr val="accent4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South China University of Technology</a:t>
            </a:r>
            <a:endParaRPr lang="en-US" altLang="zh-CN" sz="3200" dirty="0">
              <a:solidFill>
                <a:schemeClr val="accent4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045" y="0"/>
            <a:ext cx="10515600" cy="1325563"/>
          </a:xfrm>
        </p:spPr>
        <p:txBody>
          <a:bodyPr/>
          <a:p>
            <a:r>
              <a:rPr lang="en-US"/>
              <a:t>Terminology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555" y="1325880"/>
            <a:ext cx="11593830" cy="5085715"/>
          </a:xfrm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ea typeface="宋体" pitchFamily="2" charset="-122"/>
                <a:sym typeface="+mn-ea"/>
              </a:rPr>
              <a:t>Abstract Data Type </a:t>
            </a:r>
            <a:r>
              <a:rPr lang="en-US" altLang="zh-CN" sz="2400" dirty="0">
                <a:ea typeface="宋体" pitchFamily="2" charset="-122"/>
                <a:sym typeface="+mn-ea"/>
              </a:rPr>
              <a:t>(ADT)</a:t>
            </a:r>
            <a:endParaRPr lang="en-US" altLang="zh-CN" sz="2400" dirty="0">
              <a:ea typeface="宋体" pitchFamily="2" charset="-122"/>
            </a:endParaRPr>
          </a:p>
          <a:p>
            <a:pPr lvl="1">
              <a:lnSpc>
                <a:spcPct val="90000"/>
              </a:lnSpc>
              <a:buFont typeface="Wingdings" panose="05000000000000000000" charset="0"/>
              <a:buChar char=""/>
            </a:pPr>
            <a:r>
              <a:rPr lang="en-US" altLang="zh-CN" sz="2000" dirty="0">
                <a:ea typeface="宋体" pitchFamily="2" charset="-122"/>
                <a:sym typeface="+mn-ea"/>
              </a:rPr>
              <a:t> Mathematical description of an object with set of operations on the object.  Useful building block</a:t>
            </a:r>
            <a:r>
              <a:rPr lang="en-US" altLang="zh-CN" sz="2000" dirty="0" smtClean="0">
                <a:ea typeface="宋体" pitchFamily="2" charset="-122"/>
                <a:sym typeface="+mn-ea"/>
              </a:rPr>
              <a:t>. </a:t>
            </a:r>
            <a:r>
              <a:rPr lang="zh-CN" altLang="en-US" sz="2000" dirty="0" smtClean="0">
                <a:ea typeface="宋体" pitchFamily="2" charset="-122"/>
                <a:sym typeface="+mn-ea"/>
              </a:rPr>
              <a:t>（</a:t>
            </a:r>
            <a:r>
              <a:rPr lang="en-US" sz="2000">
                <a:sym typeface="+mn-ea"/>
              </a:rPr>
              <a:t>Abstract Data Type(ADT) is a data type, where only behavior is defined but not implementation.</a:t>
            </a:r>
            <a:r>
              <a:rPr lang="zh-CN" altLang="en-US" sz="2000" dirty="0" smtClean="0">
                <a:ea typeface="宋体" pitchFamily="2" charset="-122"/>
                <a:sym typeface="+mn-ea"/>
              </a:rPr>
              <a:t>）</a:t>
            </a:r>
            <a:endParaRPr lang="en-US" altLang="zh-CN" sz="2000" dirty="0" smtClean="0">
              <a:ea typeface="宋体" pitchFamily="2" charset="-122"/>
              <a:sym typeface="+mn-ea"/>
            </a:endParaRPr>
          </a:p>
          <a:p>
            <a:pPr lvl="1">
              <a:lnSpc>
                <a:spcPct val="90000"/>
              </a:lnSpc>
              <a:buFont typeface="Wingdings" panose="05000000000000000000" charset="0"/>
              <a:buChar char=""/>
            </a:pPr>
            <a:r>
              <a:rPr lang="en-US" sz="2000">
                <a:sym typeface="+mn-ea"/>
              </a:rPr>
              <a:t> An abstract data type could be defined as a mathematical model with a collection of operations defined on it. A simple example is the set of integers together with the operations of union, intersection defined on the set.</a:t>
            </a:r>
            <a:endParaRPr lang="en-US" sz="2000">
              <a:sym typeface="+mn-ea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宋体" pitchFamily="2" charset="-122"/>
                <a:sym typeface="+mn-ea"/>
              </a:rPr>
              <a:t>Data structure</a:t>
            </a:r>
            <a:endParaRPr lang="en-US" altLang="zh-CN" sz="2400" dirty="0">
              <a:ea typeface="宋体" pitchFamily="2" charset="-122"/>
            </a:endParaRPr>
          </a:p>
          <a:p>
            <a:pPr lvl="1">
              <a:lnSpc>
                <a:spcPct val="90000"/>
              </a:lnSpc>
              <a:buFont typeface="Wingdings" panose="05000000000000000000" charset="0"/>
              <a:buChar char=""/>
            </a:pPr>
            <a:r>
              <a:rPr lang="en-US" altLang="zh-CN" sz="2000" dirty="0">
                <a:ea typeface="宋体" pitchFamily="2" charset="-122"/>
                <a:sym typeface="+mn-ea"/>
              </a:rPr>
              <a:t> A specific family of algorithms for implementing an abstract data type</a:t>
            </a:r>
            <a:r>
              <a:rPr lang="en-US" altLang="zh-CN" sz="2000" dirty="0" smtClean="0">
                <a:ea typeface="宋体" pitchFamily="2" charset="-122"/>
                <a:sym typeface="+mn-ea"/>
              </a:rPr>
              <a:t>.</a:t>
            </a:r>
            <a:endParaRPr lang="en-US" altLang="zh-CN" sz="2000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宋体" pitchFamily="2" charset="-122"/>
                <a:sym typeface="+mn-ea"/>
              </a:rPr>
              <a:t>Implementation of data structure</a:t>
            </a:r>
            <a:endParaRPr lang="en-US" altLang="zh-CN" sz="2400" dirty="0">
              <a:ea typeface="宋体" pitchFamily="2" charset="-122"/>
            </a:endParaRPr>
          </a:p>
          <a:p>
            <a:pPr lvl="1">
              <a:lnSpc>
                <a:spcPct val="90000"/>
              </a:lnSpc>
              <a:buFont typeface="Wingdings" panose="05000000000000000000" charset="0"/>
              <a:buChar char=""/>
            </a:pPr>
            <a:r>
              <a:rPr lang="en-US" altLang="zh-CN" sz="2000" dirty="0">
                <a:ea typeface="宋体" pitchFamily="2" charset="-122"/>
                <a:sym typeface="+mn-ea"/>
              </a:rPr>
              <a:t> A specific implementation in a specific language</a:t>
            </a:r>
            <a:endParaRPr lang="en-US" altLang="zh-CN" sz="2000" dirty="0">
              <a:ea typeface="宋体" pitchFamily="2" charset="-122"/>
              <a:sym typeface="+mn-ea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ea typeface="宋体" pitchFamily="2" charset="-122"/>
                <a:sym typeface="+mn-ea"/>
              </a:rPr>
              <a:t>Algorithm</a:t>
            </a:r>
            <a:endParaRPr lang="en-US" altLang="zh-CN" sz="2400" dirty="0">
              <a:ea typeface="宋体" pitchFamily="2" charset="-122"/>
            </a:endParaRPr>
          </a:p>
          <a:p>
            <a:pPr lvl="1">
              <a:lnSpc>
                <a:spcPct val="90000"/>
              </a:lnSpc>
              <a:buFont typeface="Wingdings" panose="05000000000000000000" charset="0"/>
              <a:buChar char=""/>
            </a:pPr>
            <a:r>
              <a:rPr lang="en-US" altLang="zh-CN" sz="2000" dirty="0">
                <a:ea typeface="宋体" pitchFamily="2" charset="-122"/>
                <a:sym typeface="+mn-ea"/>
              </a:rPr>
              <a:t> A high level, language independent, description of a step-by-step process</a:t>
            </a:r>
            <a:endParaRPr lang="en-US" altLang="zh-CN" sz="2000" dirty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endParaRPr lang="en-US" altLang="zh-CN" sz="2000" dirty="0">
              <a:ea typeface="宋体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Terminologies </a:t>
            </a:r>
            <a:r>
              <a:rPr lang="en-US" altLang="zh-CN" dirty="0" smtClean="0">
                <a:sym typeface="+mn-ea"/>
              </a:rPr>
              <a:t> (II)</a:t>
            </a:r>
            <a:endParaRPr lang="zh-CN" altLang="en-US" dirty="0" smtClean="0"/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1203325" y="1590675"/>
            <a:ext cx="9784715" cy="458978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/>
              <a:t>A 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data structure </a:t>
            </a:r>
            <a:r>
              <a:rPr lang="en-US" altLang="zh-CN" sz="2400" dirty="0" smtClean="0"/>
              <a:t>is the physical implementation for an ADT.</a:t>
            </a:r>
            <a:endParaRPr lang="en-US" altLang="zh-CN" sz="2400" dirty="0" smtClean="0"/>
          </a:p>
          <a:p>
            <a:pPr lvl="1">
              <a:lnSpc>
                <a:spcPct val="150000"/>
              </a:lnSpc>
            </a:pPr>
            <a:r>
              <a:rPr lang="en-US" altLang="zh-CN" sz="2200" dirty="0" smtClean="0"/>
              <a:t>(C++) An ADT and its implementation together make up a </a:t>
            </a:r>
            <a:r>
              <a:rPr lang="en-US" altLang="zh-CN" sz="2200" b="1" dirty="0" smtClean="0">
                <a:solidFill>
                  <a:srgbClr val="FF0000"/>
                </a:solidFill>
              </a:rPr>
              <a:t>class</a:t>
            </a:r>
            <a:r>
              <a:rPr lang="en-US" altLang="zh-CN" sz="2200" dirty="0" smtClean="0"/>
              <a:t>.</a:t>
            </a:r>
            <a:endParaRPr lang="en-US" altLang="zh-CN" sz="2200" dirty="0" smtClean="0"/>
          </a:p>
          <a:p>
            <a:pPr lvl="1">
              <a:lnSpc>
                <a:spcPct val="150000"/>
              </a:lnSpc>
            </a:pPr>
            <a:r>
              <a:rPr lang="en-US" altLang="zh-CN" sz="2200" dirty="0" smtClean="0"/>
              <a:t>Each operation associated with the ADT is implemented by a </a:t>
            </a:r>
            <a:r>
              <a:rPr lang="en-US" altLang="zh-CN" sz="2200" b="1" dirty="0" smtClean="0">
                <a:solidFill>
                  <a:srgbClr val="FF0000"/>
                </a:solidFill>
              </a:rPr>
              <a:t>member function </a:t>
            </a:r>
            <a:r>
              <a:rPr lang="en-US" altLang="zh-CN" sz="2200" dirty="0" smtClean="0"/>
              <a:t>or </a:t>
            </a:r>
            <a:r>
              <a:rPr lang="en-US" altLang="zh-CN" sz="2200" b="1" dirty="0" smtClean="0">
                <a:solidFill>
                  <a:srgbClr val="FF0000"/>
                </a:solidFill>
              </a:rPr>
              <a:t>method</a:t>
            </a:r>
            <a:r>
              <a:rPr lang="en-US" altLang="zh-CN" sz="2200" dirty="0" smtClean="0"/>
              <a:t>.</a:t>
            </a:r>
            <a:endParaRPr lang="en-US" altLang="zh-CN" sz="2200" dirty="0" smtClean="0"/>
          </a:p>
          <a:p>
            <a:pPr lvl="1">
              <a:lnSpc>
                <a:spcPct val="150000"/>
              </a:lnSpc>
            </a:pPr>
            <a:r>
              <a:rPr lang="en-US" altLang="zh-CN" sz="2200" dirty="0" smtClean="0"/>
              <a:t>The variables that define the space required by a data item are called </a:t>
            </a:r>
            <a:r>
              <a:rPr lang="en-US" altLang="zh-CN" sz="2200" b="1" dirty="0" smtClean="0">
                <a:solidFill>
                  <a:srgbClr val="FF0000"/>
                </a:solidFill>
              </a:rPr>
              <a:t>data members</a:t>
            </a:r>
            <a:r>
              <a:rPr lang="en-US" altLang="zh-CN" sz="2200" dirty="0" smtClean="0"/>
              <a:t>.</a:t>
            </a:r>
            <a:endParaRPr lang="en-US" altLang="zh-CN" sz="2200" dirty="0" smtClean="0"/>
          </a:p>
          <a:p>
            <a:pPr lvl="1">
              <a:lnSpc>
                <a:spcPct val="150000"/>
              </a:lnSpc>
            </a:pPr>
            <a:r>
              <a:rPr lang="en-US" altLang="zh-CN" sz="2200" dirty="0" smtClean="0"/>
              <a:t>An </a:t>
            </a:r>
            <a:r>
              <a:rPr lang="en-US" altLang="zh-CN" sz="2200" b="1" dirty="0" smtClean="0">
                <a:solidFill>
                  <a:srgbClr val="FF0000"/>
                </a:solidFill>
              </a:rPr>
              <a:t>object</a:t>
            </a:r>
            <a:r>
              <a:rPr lang="en-US" altLang="zh-CN" sz="2200" dirty="0" smtClean="0"/>
              <a:t> is an instance of a class – created during the execution of a computer program.</a:t>
            </a:r>
            <a:endParaRPr lang="en-US" altLang="zh-CN" sz="2200" dirty="0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868D6147-A4F2-4405-B843-C770A9BCAD87}" type="slidenum">
              <a:rPr lang="zh-CN" altLang="en-US" sz="900" smtClean="0"/>
            </a:fld>
            <a:endParaRPr lang="zh-CN" altLang="en-US" sz="9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Terminologies (III)</a:t>
            </a:r>
            <a:endParaRPr lang="zh-CN" altLang="en-US" dirty="0" smtClean="0"/>
          </a:p>
        </p:txBody>
      </p:sp>
      <p:sp>
        <p:nvSpPr>
          <p:cNvPr id="35843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A1683760-FA2E-4AD2-BD86-C05BFF87B51B}" type="slidenum">
              <a:rPr lang="zh-CN" altLang="en-US" sz="900" smtClean="0"/>
            </a:fld>
            <a:endParaRPr lang="zh-CN" altLang="en-US" sz="900" smtClean="0"/>
          </a:p>
        </p:txBody>
      </p:sp>
      <p:sp>
        <p:nvSpPr>
          <p:cNvPr id="5" name="Rectangle 4"/>
          <p:cNvSpPr/>
          <p:nvPr/>
        </p:nvSpPr>
        <p:spPr>
          <a:xfrm>
            <a:off x="6541770" y="574675"/>
            <a:ext cx="4812030" cy="57086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/* </a:t>
            </a:r>
            <a:r>
              <a:rPr lang="en-US" altLang="zh-CN" sz="1400" dirty="0">
                <a:latin typeface="Verdana" panose="020B0604030504040204" pitchFamily="34" charset="0"/>
              </a:rPr>
              <a:t>The ADT for a </a:t>
            </a:r>
            <a:r>
              <a:rPr lang="en-US" altLang="zh-CN" sz="1400" dirty="0" smtClean="0">
                <a:latin typeface="Verdana" panose="020B0604030504040204" pitchFamily="34" charset="0"/>
              </a:rPr>
              <a:t>list */</a:t>
            </a:r>
            <a:endParaRPr lang="en-US" altLang="zh-CN" sz="1400" dirty="0" smtClean="0">
              <a:latin typeface="Verdana" panose="020B0604030504040204" pitchFamily="34" charset="0"/>
            </a:endParaRPr>
          </a:p>
          <a:p>
            <a:pPr>
              <a:defRPr/>
            </a:pP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template </a:t>
            </a:r>
            <a:r>
              <a:rPr lang="en-US" altLang="zh-CN" sz="1400" dirty="0">
                <a:latin typeface="Verdana" panose="020B0604030504040204" pitchFamily="34" charset="0"/>
              </a:rPr>
              <a:t>&lt;</a:t>
            </a:r>
            <a:r>
              <a:rPr lang="en-US" altLang="zh-CN" sz="1400" dirty="0" err="1">
                <a:latin typeface="Verdana" panose="020B0604030504040204" pitchFamily="34" charset="0"/>
              </a:rPr>
              <a:t>typename</a:t>
            </a:r>
            <a:r>
              <a:rPr lang="en-US" altLang="zh-CN" sz="1400" dirty="0">
                <a:latin typeface="Verdana" panose="020B0604030504040204" pitchFamily="34" charset="0"/>
              </a:rPr>
              <a:t> E&gt; class List { // List ADT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>
                <a:latin typeface="Verdana" panose="020B0604030504040204" pitchFamily="34" charset="0"/>
              </a:rPr>
              <a:t> </a:t>
            </a:r>
            <a:r>
              <a:rPr lang="en-US" altLang="zh-CN" sz="1400" dirty="0" smtClean="0">
                <a:latin typeface="Verdana" panose="020B0604030504040204" pitchFamily="34" charset="0"/>
              </a:rPr>
              <a:t>   // Clear contents from the list, to make it empty.</a:t>
            </a:r>
            <a:endParaRPr lang="en-US" altLang="zh-CN" sz="1400" dirty="0" smtClean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    virtual </a:t>
            </a:r>
            <a:r>
              <a:rPr lang="en-US" altLang="zh-CN" sz="1400" dirty="0">
                <a:latin typeface="Verdana" panose="020B0604030504040204" pitchFamily="34" charset="0"/>
              </a:rPr>
              <a:t>void clear() = 0</a:t>
            </a:r>
            <a:r>
              <a:rPr lang="en-US" altLang="zh-CN" sz="1400" dirty="0" smtClean="0">
                <a:latin typeface="Verdana" panose="020B0604030504040204" pitchFamily="34" charset="0"/>
              </a:rPr>
              <a:t>;</a:t>
            </a:r>
            <a:endParaRPr lang="en-US" altLang="zh-CN" sz="1400" dirty="0" smtClean="0">
              <a:latin typeface="Verdana" panose="020B0604030504040204" pitchFamily="34" charset="0"/>
            </a:endParaRPr>
          </a:p>
          <a:p>
            <a:pPr>
              <a:defRPr/>
            </a:pP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    // </a:t>
            </a:r>
            <a:r>
              <a:rPr lang="en-US" altLang="zh-CN" sz="1400" dirty="0">
                <a:latin typeface="Verdana" panose="020B0604030504040204" pitchFamily="34" charset="0"/>
              </a:rPr>
              <a:t>Insert an element at the current location.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    // </a:t>
            </a:r>
            <a:r>
              <a:rPr lang="en-US" altLang="zh-CN" sz="1400" dirty="0">
                <a:latin typeface="Verdana" panose="020B0604030504040204" pitchFamily="34" charset="0"/>
              </a:rPr>
              <a:t>item: The element to be inserted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    virtual </a:t>
            </a:r>
            <a:r>
              <a:rPr lang="en-US" altLang="zh-CN" sz="1400" dirty="0">
                <a:latin typeface="Verdana" panose="020B0604030504040204" pitchFamily="34" charset="0"/>
              </a:rPr>
              <a:t>void insert(</a:t>
            </a:r>
            <a:r>
              <a:rPr lang="en-US" altLang="zh-CN" sz="1400" dirty="0" err="1">
                <a:latin typeface="Verdana" panose="020B0604030504040204" pitchFamily="34" charset="0"/>
              </a:rPr>
              <a:t>const</a:t>
            </a:r>
            <a:r>
              <a:rPr lang="en-US" altLang="zh-CN" sz="1400" dirty="0">
                <a:latin typeface="Verdana" panose="020B0604030504040204" pitchFamily="34" charset="0"/>
              </a:rPr>
              <a:t> E&amp; item) = 0</a:t>
            </a:r>
            <a:r>
              <a:rPr lang="en-US" altLang="zh-CN" sz="1400" dirty="0" smtClean="0">
                <a:latin typeface="Verdana" panose="020B0604030504040204" pitchFamily="34" charset="0"/>
              </a:rPr>
              <a:t>;</a:t>
            </a:r>
            <a:endParaRPr lang="en-US" altLang="zh-CN" sz="1400" dirty="0" smtClean="0">
              <a:latin typeface="Verdana" panose="020B0604030504040204" pitchFamily="34" charset="0"/>
            </a:endParaRPr>
          </a:p>
          <a:p>
            <a:pPr>
              <a:defRPr/>
            </a:pP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    // </a:t>
            </a:r>
            <a:r>
              <a:rPr lang="en-US" altLang="zh-CN" sz="1400" dirty="0">
                <a:latin typeface="Verdana" panose="020B0604030504040204" pitchFamily="34" charset="0"/>
              </a:rPr>
              <a:t>Remove and return the current element.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    // </a:t>
            </a:r>
            <a:r>
              <a:rPr lang="en-US" altLang="zh-CN" sz="1400" dirty="0">
                <a:latin typeface="Verdana" panose="020B0604030504040204" pitchFamily="34" charset="0"/>
              </a:rPr>
              <a:t>Return: the element that was removed.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    virtual </a:t>
            </a:r>
            <a:r>
              <a:rPr lang="en-US" altLang="zh-CN" sz="1400" dirty="0">
                <a:latin typeface="Verdana" panose="020B0604030504040204" pitchFamily="34" charset="0"/>
              </a:rPr>
              <a:t>E remove() = 0</a:t>
            </a:r>
            <a:r>
              <a:rPr lang="en-US" altLang="zh-CN" sz="1400" dirty="0" smtClean="0">
                <a:latin typeface="Verdana" panose="020B0604030504040204" pitchFamily="34" charset="0"/>
              </a:rPr>
              <a:t>;</a:t>
            </a:r>
            <a:endParaRPr lang="en-US" altLang="zh-CN" sz="1400" dirty="0" smtClean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 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    // </a:t>
            </a:r>
            <a:r>
              <a:rPr lang="en-US" altLang="zh-CN" sz="1400" dirty="0">
                <a:latin typeface="Verdana" panose="020B0604030504040204" pitchFamily="34" charset="0"/>
              </a:rPr>
              <a:t>Move the current position one step right. No change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    // </a:t>
            </a:r>
            <a:r>
              <a:rPr lang="en-US" altLang="zh-CN" sz="1400" dirty="0">
                <a:latin typeface="Verdana" panose="020B0604030504040204" pitchFamily="34" charset="0"/>
              </a:rPr>
              <a:t>if already at end.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    virtual </a:t>
            </a:r>
            <a:r>
              <a:rPr lang="en-US" altLang="zh-CN" sz="1400" dirty="0">
                <a:latin typeface="Verdana" panose="020B0604030504040204" pitchFamily="34" charset="0"/>
              </a:rPr>
              <a:t>void next() = 0</a:t>
            </a:r>
            <a:r>
              <a:rPr lang="en-US" altLang="zh-CN" sz="1400" dirty="0" smtClean="0">
                <a:latin typeface="Verdana" panose="020B0604030504040204" pitchFamily="34" charset="0"/>
              </a:rPr>
              <a:t>;</a:t>
            </a:r>
            <a:endParaRPr lang="en-US" altLang="zh-CN" sz="1400" dirty="0" smtClean="0">
              <a:latin typeface="Verdana" panose="020B0604030504040204" pitchFamily="34" charset="0"/>
            </a:endParaRPr>
          </a:p>
          <a:p>
            <a:pPr>
              <a:defRPr/>
            </a:pP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    // </a:t>
            </a:r>
            <a:r>
              <a:rPr lang="en-US" altLang="zh-CN" sz="1400" dirty="0">
                <a:latin typeface="Verdana" panose="020B0604030504040204" pitchFamily="34" charset="0"/>
              </a:rPr>
              <a:t>Return: The number of elements in the list.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    virtual </a:t>
            </a:r>
            <a:r>
              <a:rPr lang="en-US" altLang="zh-CN" sz="1400" dirty="0" err="1">
                <a:latin typeface="Verdana" panose="020B0604030504040204" pitchFamily="34" charset="0"/>
              </a:rPr>
              <a:t>int</a:t>
            </a:r>
            <a:r>
              <a:rPr lang="en-US" altLang="zh-CN" sz="1400" dirty="0">
                <a:latin typeface="Verdana" panose="020B0604030504040204" pitchFamily="34" charset="0"/>
              </a:rPr>
              <a:t> length() </a:t>
            </a:r>
            <a:r>
              <a:rPr lang="en-US" altLang="zh-CN" sz="1400" dirty="0" err="1">
                <a:latin typeface="Verdana" panose="020B0604030504040204" pitchFamily="34" charset="0"/>
              </a:rPr>
              <a:t>const</a:t>
            </a:r>
            <a:r>
              <a:rPr lang="en-US" altLang="zh-CN" sz="1400" dirty="0">
                <a:latin typeface="Verdana" panose="020B0604030504040204" pitchFamily="34" charset="0"/>
              </a:rPr>
              <a:t> = 0</a:t>
            </a:r>
            <a:r>
              <a:rPr lang="en-US" altLang="zh-CN" sz="1400" dirty="0" smtClean="0">
                <a:latin typeface="Verdana" panose="020B0604030504040204" pitchFamily="34" charset="0"/>
              </a:rPr>
              <a:t>;</a:t>
            </a:r>
            <a:endParaRPr lang="en-US" altLang="zh-CN" sz="1400" dirty="0" smtClean="0">
              <a:latin typeface="Verdana" panose="020B0604030504040204" pitchFamily="34" charset="0"/>
            </a:endParaRPr>
          </a:p>
          <a:p>
            <a:pPr>
              <a:defRPr/>
            </a:pP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    // </a:t>
            </a:r>
            <a:r>
              <a:rPr lang="en-US" altLang="zh-CN" sz="1400" dirty="0">
                <a:latin typeface="Verdana" panose="020B0604030504040204" pitchFamily="34" charset="0"/>
              </a:rPr>
              <a:t>Return: The position of the current element.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    virtual </a:t>
            </a:r>
            <a:r>
              <a:rPr lang="en-US" altLang="zh-CN" sz="1400" dirty="0" err="1">
                <a:latin typeface="Verdana" panose="020B0604030504040204" pitchFamily="34" charset="0"/>
              </a:rPr>
              <a:t>int</a:t>
            </a:r>
            <a:r>
              <a:rPr lang="en-US" altLang="zh-CN" sz="1400" dirty="0">
                <a:latin typeface="Verdana" panose="020B0604030504040204" pitchFamily="34" charset="0"/>
              </a:rPr>
              <a:t> </a:t>
            </a:r>
            <a:r>
              <a:rPr lang="en-US" altLang="zh-CN" sz="1400" dirty="0" err="1">
                <a:latin typeface="Verdana" panose="020B0604030504040204" pitchFamily="34" charset="0"/>
              </a:rPr>
              <a:t>currPos</a:t>
            </a:r>
            <a:r>
              <a:rPr lang="en-US" altLang="zh-CN" sz="1400" dirty="0">
                <a:latin typeface="Verdana" panose="020B0604030504040204" pitchFamily="34" charset="0"/>
              </a:rPr>
              <a:t>() </a:t>
            </a:r>
            <a:r>
              <a:rPr lang="en-US" altLang="zh-CN" sz="1400" dirty="0" err="1">
                <a:latin typeface="Verdana" panose="020B0604030504040204" pitchFamily="34" charset="0"/>
              </a:rPr>
              <a:t>const</a:t>
            </a:r>
            <a:r>
              <a:rPr lang="en-US" altLang="zh-CN" sz="1400" dirty="0">
                <a:latin typeface="Verdana" panose="020B0604030504040204" pitchFamily="34" charset="0"/>
              </a:rPr>
              <a:t> = 0;</a:t>
            </a:r>
            <a:endParaRPr lang="en-US" altLang="zh-CN" sz="1400" dirty="0">
              <a:latin typeface="Verdana" panose="020B0604030504040204" pitchFamily="34" charset="0"/>
            </a:endParaRPr>
          </a:p>
          <a:p>
            <a:pPr>
              <a:defRPr/>
            </a:pPr>
            <a:r>
              <a:rPr lang="en-US" altLang="zh-CN" sz="1400" dirty="0" smtClean="0">
                <a:latin typeface="Verdana" panose="020B0604030504040204" pitchFamily="34" charset="0"/>
              </a:rPr>
              <a:t>};</a:t>
            </a:r>
            <a:endParaRPr lang="en-US" altLang="zh-CN" sz="1400" dirty="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1435" tIns="25717" rIns="51435" bIns="25717" numCol="1" anchor="ctr" anchorCtr="0" compatLnSpc="1"/>
          <a:lstStyle/>
          <a:p>
            <a:r>
              <a:rPr lang="en-US" altLang="zh-CN" dirty="0"/>
              <a:t>Algorithms vs Programs</a:t>
            </a:r>
            <a:endParaRPr lang="en-US" altLang="zh-CN" dirty="0"/>
          </a:p>
        </p:txBody>
      </p:sp>
      <p:sp>
        <p:nvSpPr>
          <p:cNvPr id="2253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976755"/>
            <a:ext cx="10337165" cy="2904490"/>
          </a:xfrm>
        </p:spPr>
        <p:txBody>
          <a:bodyPr>
            <a:normAutofit fontScale="80000"/>
          </a:bodyPr>
          <a:lstStyle/>
          <a:p>
            <a:r>
              <a:rPr lang="en-US" altLang="zh-CN" sz="3000" dirty="0">
                <a:ea typeface="宋体" pitchFamily="2" charset="-122"/>
              </a:rPr>
              <a:t>Proving correctness of an algorithm is very important</a:t>
            </a:r>
            <a:endParaRPr lang="en-US" altLang="zh-CN" sz="3000" dirty="0">
              <a:ea typeface="宋体" pitchFamily="2" charset="-122"/>
            </a:endParaRPr>
          </a:p>
          <a:p>
            <a:pPr lvl="1"/>
            <a:r>
              <a:rPr lang="en-US" altLang="zh-CN" sz="2500" dirty="0">
                <a:ea typeface="宋体" pitchFamily="2" charset="-122"/>
              </a:rPr>
              <a:t>a well designed algorithm is guaranteed to work correctly and its performance can be </a:t>
            </a:r>
            <a:r>
              <a:rPr lang="en-US" altLang="zh-CN" sz="2500" dirty="0" smtClean="0">
                <a:ea typeface="宋体" pitchFamily="2" charset="-122"/>
              </a:rPr>
              <a:t>estimated</a:t>
            </a:r>
            <a:endParaRPr lang="en-US" altLang="zh-CN" sz="2500" dirty="0" smtClean="0">
              <a:ea typeface="宋体" pitchFamily="2" charset="-122"/>
            </a:endParaRPr>
          </a:p>
          <a:p>
            <a:pPr lvl="1"/>
            <a:endParaRPr lang="en-US" altLang="zh-CN" dirty="0">
              <a:ea typeface="宋体" pitchFamily="2" charset="-122"/>
            </a:endParaRPr>
          </a:p>
          <a:p>
            <a:r>
              <a:rPr lang="en-US" altLang="zh-CN" sz="3000" dirty="0">
                <a:ea typeface="宋体" pitchFamily="2" charset="-122"/>
              </a:rPr>
              <a:t>Proving correctness of a program (an implementation) is fraught with weird bugs</a:t>
            </a:r>
            <a:endParaRPr lang="en-US" altLang="zh-CN" sz="3000" dirty="0">
              <a:ea typeface="宋体" pitchFamily="2" charset="-122"/>
            </a:endParaRPr>
          </a:p>
          <a:p>
            <a:pPr lvl="1"/>
            <a:r>
              <a:rPr lang="en-US" altLang="zh-CN" sz="2500" dirty="0">
                <a:ea typeface="宋体" pitchFamily="2" charset="-122"/>
              </a:rPr>
              <a:t>Abstract Data Types are a way to bridge the gap between mathematical algorithms and programs</a:t>
            </a:r>
            <a:endParaRPr lang="en-US" altLang="zh-CN" sz="2500" dirty="0">
              <a:ea typeface="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49670E-BBDB-4967-A121-F48632970876}" type="datetime1">
              <a:rPr lang="zh-CN" altLang="en-US" sz="900"/>
            </a:fld>
            <a:endParaRPr lang="en-US" altLang="zh-CN" sz="9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94140E-7B38-4EF6-B9AC-F0A2F2BE827C}" type="slidenum">
              <a:rPr lang="en-US" altLang="zh-CN" sz="900"/>
            </a:fld>
            <a:endParaRPr lang="en-US" altLang="zh-CN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US"/>
              <a:t>Pseduocode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In the lectures algorithms will be presented in pseudocode</a:t>
            </a:r>
            <a:r>
              <a:rPr lang="zh-CN" altLang="en-US"/>
              <a:t>。</a:t>
            </a:r>
            <a:endParaRPr lang="zh-CN" altLang="en-US"/>
          </a:p>
          <a:p>
            <a:pPr lvl="1"/>
            <a:r>
              <a:rPr lang="en-US" altLang="zh-CN"/>
              <a:t>This is very common in the computer science </a:t>
            </a:r>
            <a:r>
              <a:rPr lang="en-US" altLang="zh-CN"/>
              <a:t>literature</a:t>
            </a:r>
            <a:endParaRPr lang="en-US" altLang="zh-CN"/>
          </a:p>
          <a:p>
            <a:pPr lvl="1"/>
            <a:r>
              <a:rPr lang="en-US" altLang="zh-CN"/>
              <a:t>Pseduocode is usually easily translated to real </a:t>
            </a:r>
            <a:r>
              <a:rPr lang="en-US" altLang="zh-CN"/>
              <a:t>code</a:t>
            </a:r>
            <a:endParaRPr lang="en-US" altLang="zh-CN"/>
          </a:p>
          <a:p>
            <a:pPr lvl="1"/>
            <a:r>
              <a:rPr lang="en-US" altLang="zh-CN"/>
              <a:t>This is programming language </a:t>
            </a:r>
            <a:r>
              <a:rPr lang="en-US" altLang="zh-CN"/>
              <a:t>independent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Self-reading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Chapters1- Programming: A general overview</a:t>
            </a:r>
            <a:endParaRPr lang="en-US"/>
          </a:p>
          <a:p>
            <a:endParaRPr lang="en-US"/>
          </a:p>
          <a:p>
            <a:r>
              <a:rPr lang="en-US"/>
              <a:t>Important sections:</a:t>
            </a:r>
            <a:endParaRPr lang="en-US"/>
          </a:p>
          <a:p>
            <a:pPr lvl="1"/>
            <a:r>
              <a:rPr lang="en-US"/>
              <a:t>Section 1.2 on Mathematic Review</a:t>
            </a:r>
            <a:endParaRPr lang="en-US"/>
          </a:p>
          <a:p>
            <a:pPr lvl="1"/>
            <a:r>
              <a:rPr lang="en-US"/>
              <a:t>Section 1.3 on Recursion</a:t>
            </a:r>
            <a:endParaRPr lang="en-US"/>
          </a:p>
          <a:p>
            <a:pPr lvl="1"/>
            <a:r>
              <a:rPr lang="en-US"/>
              <a:t>Section 1.6 on Templates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p>
            <a:r>
              <a:rPr lang="en-US"/>
              <a:t>Chapter 2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sz="3600"/>
              <a:t>Algorithm Analysis</a:t>
            </a:r>
            <a:endParaRPr lang="en-US"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Algorithm Analysis: Why?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90000"/>
              </a:lnSpc>
            </a:pPr>
            <a:r>
              <a:rPr lang="en-US" altLang="zh-CN" sz="2800" dirty="0" smtClean="0">
                <a:solidFill>
                  <a:srgbClr val="0000FF"/>
                </a:solidFill>
                <a:ea typeface="宋体" pitchFamily="2" charset="-122"/>
                <a:sym typeface="+mn-ea"/>
              </a:rPr>
              <a:t>Correctness:</a:t>
            </a:r>
            <a:r>
              <a:rPr lang="en-US" altLang="zh-CN" sz="2800" dirty="0" smtClean="0">
                <a:ea typeface="宋体" pitchFamily="2" charset="-122"/>
                <a:sym typeface="+mn-ea"/>
              </a:rPr>
              <a:t>  </a:t>
            </a:r>
            <a:endParaRPr lang="en-US" altLang="zh-CN" sz="2800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  <a:sym typeface="+mn-ea"/>
              </a:rPr>
              <a:t>Does the algorithm do what is intended.</a:t>
            </a:r>
            <a:endParaRPr lang="en-US" altLang="zh-CN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rgbClr val="0000FF"/>
                </a:solidFill>
                <a:ea typeface="宋体" pitchFamily="2" charset="-122"/>
                <a:sym typeface="+mn-ea"/>
              </a:rPr>
              <a:t>Performance:</a:t>
            </a:r>
            <a:endParaRPr lang="en-US" altLang="zh-CN" sz="2800" dirty="0">
              <a:solidFill>
                <a:srgbClr val="0000FF"/>
              </a:solidFill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  <a:sym typeface="+mn-ea"/>
              </a:rPr>
              <a:t>What is the running time of the algorithm.</a:t>
            </a:r>
            <a:endParaRPr lang="en-US" altLang="zh-CN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  <a:sym typeface="+mn-ea"/>
              </a:rPr>
              <a:t>How much storage does it consume.  (Recursion v.s Iteration)</a:t>
            </a:r>
            <a:endParaRPr lang="en-US" altLang="zh-CN" dirty="0" smtClean="0">
              <a:ea typeface="宋体" pitchFamily="2" charset="-122"/>
              <a:sym typeface="+mn-ea"/>
            </a:endParaRPr>
          </a:p>
          <a:p>
            <a:pPr lvl="1">
              <a:lnSpc>
                <a:spcPct val="90000"/>
              </a:lnSpc>
            </a:pPr>
            <a:endParaRPr lang="en-US" altLang="zh-CN" sz="2800" dirty="0" smtClean="0">
              <a:ea typeface="宋体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 smtClean="0">
                <a:ea typeface="宋体" pitchFamily="2" charset="-122"/>
                <a:sym typeface="+mn-ea"/>
              </a:rPr>
              <a:t>Different algorithms may correctly solve a given task</a:t>
            </a:r>
            <a:endParaRPr lang="en-US" altLang="zh-CN" sz="2800" dirty="0" smtClean="0">
              <a:ea typeface="宋体" pitchFamily="2" charset="-122"/>
            </a:endParaRPr>
          </a:p>
          <a:p>
            <a:pPr lvl="1">
              <a:lnSpc>
                <a:spcPct val="90000"/>
              </a:lnSpc>
            </a:pPr>
            <a:r>
              <a:rPr lang="en-US" altLang="zh-CN" dirty="0" smtClean="0">
                <a:ea typeface="宋体" pitchFamily="2" charset="-122"/>
                <a:sym typeface="+mn-ea"/>
              </a:rPr>
              <a:t>Which should I use?</a:t>
            </a:r>
            <a:endParaRPr lang="en-US" altLang="zh-CN" dirty="0" smtClean="0">
              <a:ea typeface="宋体" pitchFamily="2" charset="-122"/>
              <a:sym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1670" y="1338580"/>
            <a:ext cx="3662045" cy="2149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 smtClean="0">
                <a:sym typeface="+mn-ea"/>
              </a:rPr>
              <a:t>Algorithm Analysis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dirty="0">
                <a:sym typeface="+mn-ea"/>
              </a:rPr>
              <a:t>1. Why do we analyze </a:t>
            </a:r>
            <a:r>
              <a:rPr lang="en-US" altLang="zh-CN" dirty="0">
                <a:sym typeface="+mn-ea"/>
              </a:rPr>
              <a:t>algorithms</a:t>
            </a:r>
            <a:r>
              <a:rPr lang="en-US" altLang="zh-CN" dirty="0">
                <a:sym typeface="+mn-ea"/>
              </a:rPr>
              <a:t>?</a:t>
            </a:r>
            <a:endParaRPr lang="en-US" altLang="zh-CN" dirty="0"/>
          </a:p>
          <a:p>
            <a:pPr lvl="1"/>
            <a:r>
              <a:rPr lang="en-US" altLang="zh-CN" dirty="0" smtClean="0">
                <a:ea typeface="宋体" pitchFamily="2" charset="-122"/>
                <a:sym typeface="+mn-ea"/>
              </a:rPr>
              <a:t>Suppose you are given two algorithms A and B for solving a problem. </a:t>
            </a:r>
            <a:endParaRPr lang="en-US" altLang="zh-CN" dirty="0" smtClean="0">
              <a:ea typeface="宋体" pitchFamily="2" charset="-122"/>
            </a:endParaRPr>
          </a:p>
          <a:p>
            <a:pPr lvl="1"/>
            <a:r>
              <a:rPr lang="en-US" altLang="zh-CN" dirty="0" smtClean="0">
                <a:ea typeface="宋体" pitchFamily="2" charset="-122"/>
                <a:sym typeface="+mn-ea"/>
              </a:rPr>
              <a:t>The running times T</a:t>
            </a:r>
            <a:r>
              <a:rPr lang="en-US" altLang="zh-CN" baseline="-25000" dirty="0" smtClean="0">
                <a:ea typeface="宋体" pitchFamily="2" charset="-122"/>
                <a:sym typeface="+mn-ea"/>
              </a:rPr>
              <a:t>A</a:t>
            </a:r>
            <a:r>
              <a:rPr lang="en-US" altLang="zh-CN" dirty="0" smtClean="0">
                <a:ea typeface="宋体" pitchFamily="2" charset="-122"/>
                <a:sym typeface="+mn-ea"/>
              </a:rPr>
              <a:t>(N) and T</a:t>
            </a:r>
            <a:r>
              <a:rPr lang="en-US" altLang="zh-CN" baseline="-25000" dirty="0" smtClean="0">
                <a:ea typeface="宋体" pitchFamily="2" charset="-122"/>
                <a:sym typeface="+mn-ea"/>
              </a:rPr>
              <a:t>B</a:t>
            </a:r>
            <a:r>
              <a:rPr lang="en-US" altLang="zh-CN" dirty="0" smtClean="0">
                <a:ea typeface="宋体" pitchFamily="2" charset="-122"/>
                <a:sym typeface="+mn-ea"/>
              </a:rPr>
              <a:t>(N) of A and B as a function of input size N are given</a:t>
            </a:r>
            <a:endParaRPr lang="en-US"/>
          </a:p>
        </p:txBody>
      </p:sp>
      <p:grpSp>
        <p:nvGrpSpPr>
          <p:cNvPr id="6" name="Group 10"/>
          <p:cNvGrpSpPr/>
          <p:nvPr/>
        </p:nvGrpSpPr>
        <p:grpSpPr bwMode="auto">
          <a:xfrm>
            <a:off x="5655737" y="3100070"/>
            <a:ext cx="4408378" cy="3255001"/>
            <a:chOff x="2613" y="1296"/>
            <a:chExt cx="2827" cy="2272"/>
          </a:xfrm>
        </p:grpSpPr>
        <p:pic>
          <p:nvPicPr>
            <p:cNvPr id="7" name="Picture 5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00" t="4439" r="6667" b="4439"/>
            <a:stretch>
              <a:fillRect/>
            </a:stretch>
          </p:blipFill>
          <p:spPr bwMode="auto">
            <a:xfrm>
              <a:off x="2784" y="1296"/>
              <a:ext cx="2656" cy="2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4272" y="1679"/>
              <a:ext cx="345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800">
                  <a:ea typeface="宋体" pitchFamily="2" charset="-122"/>
                </a:rPr>
                <a:t>T</a:t>
              </a:r>
              <a:r>
                <a:rPr lang="en-US" altLang="zh-CN" sz="1800" baseline="-25000">
                  <a:ea typeface="宋体" pitchFamily="2" charset="-122"/>
                </a:rPr>
                <a:t>A</a:t>
              </a:r>
              <a:endParaRPr lang="en-US" altLang="zh-CN" sz="1800">
                <a:ea typeface="宋体" pitchFamily="2" charset="-122"/>
              </a:endParaRP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4896" y="2688"/>
              <a:ext cx="360" cy="2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800">
                  <a:ea typeface="宋体" pitchFamily="2" charset="-122"/>
                </a:rPr>
                <a:t>T</a:t>
              </a:r>
              <a:r>
                <a:rPr lang="en-US" altLang="zh-CN" sz="1800" baseline="-25000">
                  <a:ea typeface="宋体" pitchFamily="2" charset="-122"/>
                </a:rPr>
                <a:t>B</a:t>
              </a:r>
              <a:endParaRPr lang="en-US" altLang="zh-CN" sz="1800">
                <a:ea typeface="宋体" pitchFamily="2" charset="-122"/>
              </a:endParaRP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 rot="16211834">
              <a:off x="2320" y="2067"/>
              <a:ext cx="77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350">
                  <a:ea typeface="宋体" pitchFamily="2" charset="-122"/>
                </a:rPr>
                <a:t>Run Time</a:t>
              </a:r>
              <a:endParaRPr lang="en-US" altLang="zh-CN" sz="1350">
                <a:ea typeface="宋体" pitchFamily="2" charset="-122"/>
              </a:endParaRP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888" y="3359"/>
              <a:ext cx="947" cy="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350">
                  <a:ea typeface="宋体" pitchFamily="2" charset="-122"/>
                </a:rPr>
                <a:t>Input Size N</a:t>
              </a:r>
              <a:endParaRPr lang="en-US" altLang="zh-CN" sz="1350">
                <a:ea typeface="宋体" pitchFamily="2" charset="-122"/>
              </a:endParaRPr>
            </a:p>
          </p:txBody>
        </p:sp>
      </p:grp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7213283" y="6354814"/>
            <a:ext cx="200215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Which is better?</a:t>
            </a:r>
            <a:endParaRPr lang="en-US" altLang="zh-CN" dirty="0">
              <a:solidFill>
                <a:srgbClr val="FF0000"/>
              </a:solidFill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 smtClean="0">
                <a:sym typeface="+mn-ea"/>
              </a:rPr>
              <a:t>Algorithm Analysis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78940"/>
            <a:ext cx="10515600" cy="1144905"/>
          </a:xfrm>
        </p:spPr>
        <p:txBody>
          <a:bodyPr/>
          <a:p>
            <a:r>
              <a:rPr lang="en-US" altLang="zh-CN" dirty="0">
                <a:sym typeface="+mn-ea"/>
              </a:rPr>
              <a:t>1. Why do we analyze algorithms?</a:t>
            </a:r>
            <a:endParaRPr 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416468" y="2275047"/>
            <a:ext cx="5616624" cy="3398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28270" indent="-128270" algn="l" defTabSz="514350" rtl="0" eaLnBrk="1" latinLnBrk="0" hangingPunct="1">
              <a:lnSpc>
                <a:spcPct val="90000"/>
              </a:lnSpc>
              <a:spcBef>
                <a:spcPts val="565"/>
              </a:spcBef>
              <a:buFont typeface="Wingdings 2" panose="05020102010507070707" pitchFamily="18" charset="2"/>
              <a:buChar char="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385445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642620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899795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156970" indent="-128270" algn="l" defTabSz="514350" rtl="0" eaLnBrk="1" latinLnBrk="0" hangingPunct="1">
              <a:lnSpc>
                <a:spcPct val="90000"/>
              </a:lnSpc>
              <a:spcBef>
                <a:spcPts val="280"/>
              </a:spcBef>
              <a:buFont typeface="Wingdings 2" panose="05020102010507070707" pitchFamily="18" charset="2"/>
              <a:buChar char="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1414145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320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495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670" indent="-128270" algn="l" defTabSz="514350" rtl="0" eaLnBrk="1" latinLnBrk="0" hangingPunct="1">
              <a:spcBef>
                <a:spcPct val="20000"/>
              </a:spcBef>
              <a:buFont typeface="Wingdings 2" panose="05020102010507070707" pitchFamily="18" charset="2"/>
              <a:buChar char=""/>
              <a:defRPr sz="10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100" dirty="0"/>
              <a:t>For large N, the running time of A and B is:</a:t>
            </a:r>
            <a:endParaRPr lang="en-US" altLang="zh-CN" sz="2100" dirty="0"/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2971800" y="6242368"/>
            <a:ext cx="518731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Now which </a:t>
            </a:r>
            <a:r>
              <a:rPr lang="en-US" altLang="zh-CN" dirty="0" smtClean="0">
                <a:solidFill>
                  <a:srgbClr val="FF0000"/>
                </a:solidFill>
              </a:rPr>
              <a:t>algorithm </a:t>
            </a:r>
            <a:r>
              <a:rPr lang="en-US" altLang="zh-CN" dirty="0">
                <a:solidFill>
                  <a:srgbClr val="FF0000"/>
                </a:solidFill>
              </a:rPr>
              <a:t>would </a:t>
            </a:r>
            <a:r>
              <a:rPr lang="en-US" altLang="zh-CN" dirty="0" smtClean="0">
                <a:solidFill>
                  <a:srgbClr val="FF0000"/>
                </a:solidFill>
              </a:rPr>
              <a:t>you </a:t>
            </a:r>
            <a:r>
              <a:rPr lang="en-US" altLang="zh-CN" dirty="0">
                <a:solidFill>
                  <a:srgbClr val="FF0000"/>
                </a:solidFill>
              </a:rPr>
              <a:t>choose?</a:t>
            </a:r>
            <a:endParaRPr lang="en-US" altLang="zh-CN" dirty="0">
              <a:solidFill>
                <a:srgbClr val="FF0000"/>
              </a:solidFill>
            </a:endParaRPr>
          </a:p>
        </p:txBody>
      </p:sp>
      <p:grpSp>
        <p:nvGrpSpPr>
          <p:cNvPr id="13" name="Group 10"/>
          <p:cNvGrpSpPr/>
          <p:nvPr/>
        </p:nvGrpSpPr>
        <p:grpSpPr bwMode="auto">
          <a:xfrm>
            <a:off x="2585502" y="2670653"/>
            <a:ext cx="4850937" cy="3586328"/>
            <a:chOff x="421" y="1248"/>
            <a:chExt cx="3395" cy="2702"/>
          </a:xfrm>
        </p:grpSpPr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7" t="4439" r="6667" b="4439"/>
            <a:stretch>
              <a:fillRect/>
            </a:stretch>
          </p:blipFill>
          <p:spPr bwMode="auto">
            <a:xfrm>
              <a:off x="720" y="1248"/>
              <a:ext cx="3096" cy="2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 Box 5"/>
            <p:cNvSpPr txBox="1">
              <a:spLocks noChangeArrowheads="1"/>
            </p:cNvSpPr>
            <p:nvPr/>
          </p:nvSpPr>
          <p:spPr bwMode="auto">
            <a:xfrm rot="16211834">
              <a:off x="158" y="2233"/>
              <a:ext cx="77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350">
                  <a:ea typeface="宋体" pitchFamily="2" charset="-122"/>
                </a:rPr>
                <a:t>Run Time</a:t>
              </a:r>
              <a:endParaRPr lang="en-US" altLang="zh-CN" sz="1350">
                <a:ea typeface="宋体" pitchFamily="2" charset="-122"/>
              </a:endParaRPr>
            </a:p>
          </p:txBody>
        </p:sp>
        <p:sp>
          <p:nvSpPr>
            <p:cNvPr id="16" name="Text Box 6"/>
            <p:cNvSpPr txBox="1">
              <a:spLocks noChangeArrowheads="1"/>
            </p:cNvSpPr>
            <p:nvPr/>
          </p:nvSpPr>
          <p:spPr bwMode="auto">
            <a:xfrm>
              <a:off x="1991" y="3698"/>
              <a:ext cx="94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350">
                  <a:ea typeface="宋体" pitchFamily="2" charset="-122"/>
                </a:rPr>
                <a:t>Input Size N</a:t>
              </a:r>
              <a:endParaRPr lang="en-US" altLang="zh-CN" sz="1350">
                <a:ea typeface="宋体" pitchFamily="2" charset="-122"/>
              </a:endParaRPr>
            </a:p>
          </p:txBody>
        </p:sp>
        <p:sp>
          <p:nvSpPr>
            <p:cNvPr id="17" name="Text Box 8"/>
            <p:cNvSpPr txBox="1">
              <a:spLocks noChangeArrowheads="1"/>
            </p:cNvSpPr>
            <p:nvPr/>
          </p:nvSpPr>
          <p:spPr bwMode="auto">
            <a:xfrm>
              <a:off x="2605" y="2146"/>
              <a:ext cx="11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650">
                  <a:ea typeface="宋体" pitchFamily="2" charset="-122"/>
                </a:rPr>
                <a:t>T</a:t>
              </a:r>
              <a:r>
                <a:rPr lang="en-US" altLang="zh-CN" sz="1650" baseline="-25000">
                  <a:ea typeface="宋体" pitchFamily="2" charset="-122"/>
                </a:rPr>
                <a:t>A</a:t>
              </a:r>
              <a:r>
                <a:rPr lang="en-US" altLang="zh-CN" sz="1650">
                  <a:ea typeface="宋体" pitchFamily="2" charset="-122"/>
                </a:rPr>
                <a:t>(N) = 50N</a:t>
              </a:r>
              <a:endParaRPr lang="en-US" altLang="zh-CN" sz="1650">
                <a:ea typeface="宋体" pitchFamily="2" charset="-122"/>
              </a:endParaRPr>
            </a:p>
          </p:txBody>
        </p:sp>
        <p:sp>
          <p:nvSpPr>
            <p:cNvPr id="18" name="Text Box 9"/>
            <p:cNvSpPr txBox="1">
              <a:spLocks noChangeArrowheads="1"/>
            </p:cNvSpPr>
            <p:nvPr/>
          </p:nvSpPr>
          <p:spPr bwMode="auto">
            <a:xfrm>
              <a:off x="1893" y="2930"/>
              <a:ext cx="98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90204" pitchFamily="34" charset="0"/>
                </a:defRPr>
              </a:lvl9pPr>
            </a:lstStyle>
            <a:p>
              <a:r>
                <a:rPr lang="en-US" altLang="zh-CN" sz="1650" dirty="0">
                  <a:ea typeface="宋体" pitchFamily="2" charset="-122"/>
                </a:rPr>
                <a:t>T</a:t>
              </a:r>
              <a:r>
                <a:rPr lang="en-US" altLang="zh-CN" sz="1650" baseline="-25000" dirty="0">
                  <a:ea typeface="宋体" pitchFamily="2" charset="-122"/>
                </a:rPr>
                <a:t>B</a:t>
              </a:r>
              <a:r>
                <a:rPr lang="en-US" altLang="zh-CN" sz="1650" dirty="0">
                  <a:ea typeface="宋体" pitchFamily="2" charset="-122"/>
                </a:rPr>
                <a:t>(N) = N</a:t>
              </a:r>
              <a:r>
                <a:rPr lang="en-US" altLang="zh-CN" sz="1650" baseline="30000" dirty="0">
                  <a:ea typeface="宋体" pitchFamily="2" charset="-122"/>
                </a:rPr>
                <a:t>2</a:t>
              </a:r>
              <a:endParaRPr lang="en-US" altLang="zh-CN" sz="1650" dirty="0"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 smtClean="0">
                <a:sym typeface="+mn-ea"/>
              </a:rPr>
              <a:t>Algorithm Analysis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zh-CN" sz="2800" dirty="0">
                <a:sym typeface="+mn-ea"/>
              </a:rPr>
              <a:t>1. Why do we analyze algorithms</a:t>
            </a:r>
            <a:r>
              <a:rPr lang="en-US" altLang="zh-CN" sz="2800" dirty="0" smtClean="0">
                <a:sym typeface="+mn-ea"/>
              </a:rPr>
              <a:t>?</a:t>
            </a:r>
            <a:endParaRPr lang="en-US" altLang="zh-CN" sz="2800" dirty="0" smtClean="0"/>
          </a:p>
          <a:p>
            <a:endParaRPr lang="en-US" altLang="zh-CN" sz="2800" dirty="0"/>
          </a:p>
          <a:p>
            <a:r>
              <a:rPr lang="en-US" altLang="zh-CN" sz="2800" dirty="0">
                <a:solidFill>
                  <a:srgbClr val="FF0000"/>
                </a:solidFill>
                <a:sym typeface="+mn-ea"/>
              </a:rPr>
              <a:t>2. How do we measure the efficiency of an algorithm?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lvl="1"/>
            <a:r>
              <a:rPr lang="en-US" altLang="zh-CN" dirty="0">
                <a:sym typeface="+mn-ea"/>
              </a:rPr>
              <a:t>A. Time it on my computer</a:t>
            </a:r>
            <a:r>
              <a:rPr lang="en-US" altLang="zh-CN" dirty="0" smtClean="0">
                <a:sym typeface="+mn-ea"/>
              </a:rPr>
              <a:t>.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r>
              <a:rPr lang="en-US" altLang="zh-CN" dirty="0">
                <a:sym typeface="+mn-ea"/>
              </a:rPr>
              <a:t>B. Compare its time to that of another algorithm that has already been analyzed</a:t>
            </a:r>
            <a:r>
              <a:rPr lang="en-US" altLang="zh-CN" dirty="0" smtClean="0">
                <a:sym typeface="+mn-ea"/>
              </a:rPr>
              <a:t>.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>
                <a:sym typeface="+mn-ea"/>
              </a:rPr>
              <a:t>C</a:t>
            </a:r>
            <a:r>
              <a:rPr lang="en-US" altLang="zh-CN" dirty="0">
                <a:sym typeface="+mn-ea"/>
              </a:rPr>
              <a:t>. Count how many instructions it will execute for an arbitrary input data set.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 smtClean="0">
                <a:sym typeface="+mn-ea"/>
              </a:rPr>
              <a:t>Algorithm Analysis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17700"/>
          </a:xfrm>
        </p:spPr>
        <p:txBody>
          <a:bodyPr/>
          <a:p>
            <a:r>
              <a:rPr lang="en-US" altLang="zh-CN" dirty="0">
                <a:sym typeface="+mn-ea"/>
              </a:rPr>
              <a:t>Suppose there are n inputs. 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>
                <a:sym typeface="+mn-ea"/>
              </a:rPr>
              <a:t>We’d like to find a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time function 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T(n)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dirty="0">
                <a:sym typeface="+mn-ea"/>
              </a:rPr>
              <a:t>that shows how the execution time depends on 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n</a:t>
            </a:r>
            <a:r>
              <a:rPr lang="en-US" altLang="zh-CN" dirty="0">
                <a:sym typeface="+mn-ea"/>
              </a:rPr>
              <a:t>.</a:t>
            </a:r>
            <a:endParaRPr lang="en-US" altLang="zh-CN" dirty="0"/>
          </a:p>
          <a:p>
            <a:endParaRPr lang="en-US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703195" y="4375785"/>
            <a:ext cx="1949450" cy="460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r>
              <a:rPr lang="en-US" altLang="zh-CN" sz="2400" dirty="0">
                <a:solidFill>
                  <a:srgbClr val="006600"/>
                </a:solidFill>
                <a:ea typeface="宋体" pitchFamily="2" charset="-122"/>
              </a:rPr>
              <a:t>T(n) = 3n + 4</a:t>
            </a:r>
            <a:endParaRPr lang="en-US" altLang="zh-CN" sz="2400" dirty="0">
              <a:solidFill>
                <a:srgbClr val="006600"/>
              </a:solidFill>
              <a:ea typeface="宋体" pitchFamily="2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856486" y="4375999"/>
            <a:ext cx="1305165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r>
              <a:rPr lang="en-US" altLang="zh-CN" sz="2400" dirty="0">
                <a:solidFill>
                  <a:srgbClr val="006600"/>
                </a:solidFill>
                <a:ea typeface="宋体" pitchFamily="2" charset="-122"/>
              </a:rPr>
              <a:t>T(n) = </a:t>
            </a:r>
            <a:r>
              <a:rPr lang="en-US" altLang="zh-CN" sz="2400" dirty="0" err="1">
                <a:solidFill>
                  <a:srgbClr val="006600"/>
                </a:solidFill>
                <a:ea typeface="宋体" pitchFamily="2" charset="-122"/>
              </a:rPr>
              <a:t>e</a:t>
            </a:r>
            <a:r>
              <a:rPr lang="en-US" altLang="zh-CN" sz="2400" baseline="30000" dirty="0" err="1">
                <a:solidFill>
                  <a:srgbClr val="006600"/>
                </a:solidFill>
                <a:ea typeface="宋体" pitchFamily="2" charset="-122"/>
              </a:rPr>
              <a:t>n</a:t>
            </a:r>
            <a:r>
              <a:rPr lang="en-US" altLang="zh-CN" sz="2400" dirty="0">
                <a:solidFill>
                  <a:srgbClr val="006600"/>
                </a:solidFill>
                <a:ea typeface="宋体" pitchFamily="2" charset="-122"/>
              </a:rPr>
              <a:t> </a:t>
            </a:r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6365149" y="4375999"/>
            <a:ext cx="1130438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r>
              <a:rPr lang="en-US" altLang="zh-CN" sz="2400">
                <a:solidFill>
                  <a:srgbClr val="006600"/>
                </a:solidFill>
                <a:ea typeface="宋体" pitchFamily="2" charset="-122"/>
              </a:rPr>
              <a:t>T(n) = 2</a:t>
            </a:r>
            <a:endParaRPr lang="en-US" altLang="zh-CN" sz="240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8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701675" y="230505"/>
            <a:ext cx="10515600" cy="1325563"/>
          </a:xfrm>
        </p:spPr>
        <p:txBody>
          <a:bodyPr/>
          <a:lstStyle/>
          <a:p>
            <a:r>
              <a:rPr lang="en-US" altLang="zh-CN" dirty="0"/>
              <a:t>What to Analyze</a:t>
            </a:r>
            <a:endParaRPr lang="en-US" altLang="zh-CN" dirty="0"/>
          </a:p>
        </p:txBody>
      </p:sp>
      <p:sp>
        <p:nvSpPr>
          <p:cNvPr id="70659" name="内容占位符 4"/>
          <p:cNvSpPr>
            <a:spLocks noGrp="1"/>
          </p:cNvSpPr>
          <p:nvPr>
            <p:ph idx="1"/>
          </p:nvPr>
        </p:nvSpPr>
        <p:spPr>
          <a:xfrm>
            <a:off x="975360" y="1338580"/>
            <a:ext cx="10241915" cy="5382895"/>
          </a:xfrm>
        </p:spPr>
        <p:txBody>
          <a:bodyPr>
            <a:noAutofit/>
          </a:bodyPr>
          <a:lstStyle/>
          <a:p>
            <a:r>
              <a:rPr lang="en-US" altLang="zh-CN" dirty="0" smtClean="0"/>
              <a:t>What </a:t>
            </a:r>
            <a:r>
              <a:rPr lang="en-US" altLang="zh-CN" dirty="0"/>
              <a:t>to </a:t>
            </a:r>
            <a:r>
              <a:rPr lang="en-US" altLang="zh-CN" dirty="0" smtClean="0"/>
              <a:t>Analyze</a:t>
            </a:r>
            <a:endParaRPr lang="en-US" altLang="zh-CN" dirty="0" smtClean="0"/>
          </a:p>
          <a:p>
            <a:pPr lvl="1"/>
            <a:r>
              <a:rPr lang="en-US" altLang="zh-CN" dirty="0"/>
              <a:t>Running </a:t>
            </a:r>
            <a:r>
              <a:rPr lang="en-US" altLang="zh-CN" b="1" dirty="0">
                <a:solidFill>
                  <a:srgbClr val="FF0000"/>
                </a:solidFill>
              </a:rPr>
              <a:t>time</a:t>
            </a:r>
            <a:r>
              <a:rPr lang="en-US" altLang="zh-CN" dirty="0"/>
              <a:t> </a:t>
            </a:r>
            <a:r>
              <a:rPr lang="en-US" altLang="zh-CN" dirty="0" smtClean="0"/>
              <a:t>required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Memory or disk </a:t>
            </a:r>
            <a:r>
              <a:rPr lang="en-US" altLang="zh-CN" b="1" dirty="0">
                <a:solidFill>
                  <a:srgbClr val="FF0000"/>
                </a:solidFill>
              </a:rPr>
              <a:t>space</a:t>
            </a:r>
            <a:r>
              <a:rPr lang="en-US" altLang="zh-CN" dirty="0"/>
              <a:t> required to run the program and store the data structure</a:t>
            </a:r>
            <a:endParaRPr lang="en-US" altLang="zh-CN" dirty="0"/>
          </a:p>
          <a:p>
            <a:pPr lvl="1"/>
            <a:endParaRPr lang="en-US" altLang="zh-CN" dirty="0" smtClean="0"/>
          </a:p>
          <a:p>
            <a:r>
              <a:rPr lang="en-US" altLang="zh-CN" dirty="0" smtClean="0"/>
              <a:t>Main factors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the </a:t>
            </a:r>
            <a:r>
              <a:rPr lang="en-US" altLang="zh-CN" dirty="0"/>
              <a:t>algorithm used </a:t>
            </a:r>
            <a:endParaRPr lang="en-US" altLang="zh-CN" dirty="0" smtClean="0"/>
          </a:p>
          <a:p>
            <a:pPr lvl="1"/>
            <a:endParaRPr lang="en-US" altLang="zh-CN" sz="825" dirty="0"/>
          </a:p>
          <a:p>
            <a:pPr lvl="1"/>
            <a:r>
              <a:rPr lang="en-US" altLang="zh-CN" dirty="0" smtClean="0"/>
              <a:t>the </a:t>
            </a:r>
            <a:r>
              <a:rPr lang="en-US" altLang="zh-CN" b="1" dirty="0" smtClean="0">
                <a:solidFill>
                  <a:srgbClr val="CC0000"/>
                </a:solidFill>
              </a:rPr>
              <a:t>input</a:t>
            </a:r>
            <a:r>
              <a:rPr lang="en-US" altLang="zh-CN" dirty="0" smtClean="0"/>
              <a:t> to the algorithm</a:t>
            </a:r>
            <a:endParaRPr lang="en-US" altLang="zh-CN" dirty="0" smtClean="0"/>
          </a:p>
          <a:p>
            <a:pPr lvl="2"/>
            <a:endParaRPr lang="en-US" altLang="zh-CN" dirty="0" smtClean="0"/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Not include </a:t>
            </a:r>
            <a:r>
              <a:rPr lang="en-US" altLang="zh-CN" dirty="0"/>
              <a:t>the programming </a:t>
            </a:r>
            <a:r>
              <a:rPr lang="en-US" altLang="zh-CN" dirty="0" smtClean="0"/>
              <a:t>language, compiler,…</a:t>
            </a:r>
            <a:endParaRPr lang="en-US" altLang="zh-CN" dirty="0"/>
          </a:p>
          <a:p>
            <a:pPr lvl="2"/>
            <a:endParaRPr lang="en-US" altLang="zh-CN" dirty="0" smtClean="0">
              <a:solidFill>
                <a:srgbClr val="7030A0"/>
              </a:solidFill>
            </a:endParaRPr>
          </a:p>
          <a:p>
            <a:pPr lvl="2"/>
            <a:endParaRPr lang="en-US" altLang="zh-CN" dirty="0" smtClean="0"/>
          </a:p>
        </p:txBody>
      </p:sp>
      <p:sp>
        <p:nvSpPr>
          <p:cNvPr id="706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167FE05-B472-4BAE-8045-296709068849}" type="slidenum">
              <a:rPr lang="zh-CN" altLang="en-US" sz="900" smtClean="0"/>
            </a:fld>
            <a:endParaRPr lang="zh-CN" altLang="en-US" sz="900" smtClean="0"/>
          </a:p>
        </p:txBody>
      </p:sp>
      <p:sp>
        <p:nvSpPr>
          <p:cNvPr id="3" name="矩形 2"/>
          <p:cNvSpPr/>
          <p:nvPr/>
        </p:nvSpPr>
        <p:spPr>
          <a:xfrm>
            <a:off x="975360" y="6113780"/>
            <a:ext cx="5440680" cy="39878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5252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the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en-US" altLang="zh-CN" sz="2000" dirty="0">
                <a:solidFill>
                  <a:srgbClr val="5252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the </a:t>
            </a:r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dirty="0" smtClean="0">
                <a:sym typeface="+mn-ea"/>
              </a:rPr>
              <a:t>Mathematical Definitions</a:t>
            </a:r>
            <a:endParaRPr lang="en-US"/>
          </a:p>
        </p:txBody>
      </p:sp>
      <p:sp>
        <p:nvSpPr>
          <p:cNvPr id="67587" name="内容占位符 4"/>
          <p:cNvSpPr>
            <a:spLocks noGrp="1"/>
          </p:cNvSpPr>
          <p:nvPr>
            <p:ph idx="1"/>
          </p:nvPr>
        </p:nvSpPr>
        <p:spPr>
          <a:xfrm>
            <a:off x="1612265" y="1781175"/>
            <a:ext cx="5915025" cy="3949700"/>
          </a:xfrm>
        </p:spPr>
        <p:txBody>
          <a:bodyPr>
            <a:normAutofit/>
          </a:bodyPr>
          <a:p>
            <a:r>
              <a:rPr lang="en-US" altLang="zh-CN" b="1" dirty="0" smtClean="0">
                <a:solidFill>
                  <a:srgbClr val="FF0000"/>
                </a:solidFill>
              </a:rPr>
              <a:t>Big-Oh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endParaRPr lang="en-US" altLang="zh-CN" sz="1200" b="1" dirty="0">
              <a:solidFill>
                <a:srgbClr val="008000"/>
              </a:solidFill>
            </a:endParaRPr>
          </a:p>
          <a:p>
            <a:endParaRPr lang="en-US" altLang="zh-CN" sz="1200" b="1" dirty="0">
              <a:solidFill>
                <a:srgbClr val="008000"/>
              </a:solidFill>
            </a:endParaRPr>
          </a:p>
          <a:p>
            <a:r>
              <a:rPr lang="en-US" altLang="zh-CN" b="1" dirty="0" smtClean="0">
                <a:solidFill>
                  <a:srgbClr val="008000"/>
                </a:solidFill>
              </a:rPr>
              <a:t>Big-Omega</a:t>
            </a:r>
            <a:endParaRPr lang="en-US" altLang="zh-CN" b="1" dirty="0" smtClean="0">
              <a:solidFill>
                <a:srgbClr val="008000"/>
              </a:solidFill>
            </a:endParaRPr>
          </a:p>
          <a:p>
            <a:endParaRPr lang="en-US" altLang="zh-CN" sz="1200" b="1" dirty="0">
              <a:solidFill>
                <a:srgbClr val="7030A0"/>
              </a:solidFill>
            </a:endParaRPr>
          </a:p>
          <a:p>
            <a:r>
              <a:rPr lang="en-US" altLang="zh-CN" b="1" dirty="0" smtClean="0">
                <a:solidFill>
                  <a:srgbClr val="7030A0"/>
                </a:solidFill>
              </a:rPr>
              <a:t>Big-Theta</a:t>
            </a:r>
            <a:endParaRPr lang="en-US" altLang="zh-CN" b="1" dirty="0" smtClean="0">
              <a:solidFill>
                <a:srgbClr val="7030A0"/>
              </a:solidFill>
            </a:endParaRPr>
          </a:p>
          <a:p>
            <a:endParaRPr lang="en-US" altLang="zh-CN" sz="1200" b="1" dirty="0">
              <a:solidFill>
                <a:srgbClr val="FF0000"/>
              </a:solidFill>
            </a:endParaRPr>
          </a:p>
          <a:p>
            <a:endParaRPr lang="en-US" altLang="zh-CN" sz="1200" b="1" dirty="0">
              <a:solidFill>
                <a:srgbClr val="FF0000"/>
              </a:solidFill>
            </a:endParaRPr>
          </a:p>
          <a:p>
            <a:r>
              <a:rPr lang="en-US" altLang="zh-CN" b="1" dirty="0" smtClean="0"/>
              <a:t>Little-oh</a:t>
            </a:r>
            <a:endParaRPr lang="en-US" altLang="zh-CN" b="1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473787" y="1691031"/>
            <a:ext cx="5745675" cy="707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T(N) = O(f(N)) if there are positive constants c and n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such that T(N) 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cf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(N) when N  n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0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2"/>
          <p:cNvSpPr/>
          <p:nvPr/>
        </p:nvSpPr>
        <p:spPr>
          <a:xfrm>
            <a:off x="4473737" y="2712632"/>
            <a:ext cx="5772797" cy="707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T(N) = </a:t>
            </a:r>
            <a:r>
              <a:rPr lang="el-GR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Ω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(g(N)) if there are positive constants c and n0 such that T(N) ≥ cg(N) when N ≥ n0.</a:t>
            </a:r>
            <a:endParaRPr lang="zh-CN" altLang="en-US" sz="20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1"/>
          <p:cNvSpPr/>
          <p:nvPr/>
        </p:nvSpPr>
        <p:spPr>
          <a:xfrm>
            <a:off x="4473737" y="3734467"/>
            <a:ext cx="5786489" cy="707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r>
              <a:rPr lang="pt-BR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T(N) = </a:t>
            </a:r>
            <a:r>
              <a:rPr lang="el-GR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Θ</a:t>
            </a:r>
            <a:r>
              <a:rPr lang="pt-BR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(h(N)) if and only if T(N) = O(h(N)) and T(N) = </a:t>
            </a:r>
            <a:r>
              <a:rPr lang="el-GR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Ω</a:t>
            </a:r>
            <a:r>
              <a:rPr lang="pt-BR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(h(N)).</a:t>
            </a:r>
            <a:endParaRPr lang="zh-CN" altLang="en-US" sz="20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3"/>
          <p:cNvSpPr/>
          <p:nvPr/>
        </p:nvSpPr>
        <p:spPr>
          <a:xfrm>
            <a:off x="4459766" y="4679218"/>
            <a:ext cx="5786489" cy="7078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pPr algn="just"/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T(N) = o(p(N)) if, for all positive constants c, there exists an n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such that T(N) &lt; </a:t>
            </a:r>
            <a:r>
              <a:rPr lang="en-US" altLang="zh-CN" sz="20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cp</a:t>
            </a:r>
            <a:r>
              <a:rPr lang="en-US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(N) </a:t>
            </a:r>
            <a:r>
              <a:rPr lang="pt-BR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when N &gt; n</a:t>
            </a:r>
            <a:r>
              <a:rPr lang="pt-BR" altLang="zh-CN" sz="2000" baseline="-25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0</a:t>
            </a:r>
            <a:r>
              <a:rPr lang="pt-BR" altLang="zh-CN" sz="2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 </a:t>
            </a:r>
            <a:endParaRPr lang="zh-CN" altLang="en-US" sz="20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0602595" y="1722120"/>
            <a:ext cx="1023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upper </a:t>
            </a:r>
            <a:r>
              <a:rPr lang="en-US"/>
              <a:t>bound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10602595" y="2743835"/>
            <a:ext cx="1023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lower</a:t>
            </a:r>
            <a:endParaRPr lang="en-US"/>
          </a:p>
          <a:p>
            <a:r>
              <a:rPr lang="en-US"/>
              <a:t>bound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4" grpId="0" bldLvl="0" animBg="1"/>
      <p:bldP spid="5" grpId="0" bldLvl="0" animBg="1"/>
      <p:bldP spid="8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b="1" dirty="0">
                <a:solidFill>
                  <a:srgbClr val="FF3300"/>
                </a:solidFill>
                <a:sym typeface="+mn-ea"/>
              </a:rPr>
              <a:t>“Common Functions to Use”</a:t>
            </a:r>
            <a:endParaRPr lang="en-US"/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622464" y="2215158"/>
            <a:ext cx="3800475" cy="332295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>
              <a:lnSpc>
                <a:spcPct val="125000"/>
              </a:lnSpc>
            </a:pP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O(1)                     constant</a:t>
            </a:r>
            <a:endParaRPr lang="pt-BR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O(log n)               log base 2</a:t>
            </a:r>
            <a:endParaRPr lang="pt-BR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O(n)                     linear</a:t>
            </a:r>
            <a:endParaRPr lang="pt-BR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 log n)</a:t>
            </a:r>
            <a:endParaRPr lang="pt-BR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quadratic</a:t>
            </a:r>
            <a:endParaRPr lang="pt-BR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cubic</a:t>
            </a:r>
            <a:endParaRPr lang="pt-BR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O(2</a:t>
            </a:r>
            <a:r>
              <a:rPr lang="en-US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or O(e</a:t>
            </a:r>
            <a:r>
              <a:rPr lang="pt-BR" altLang="zh-C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exponential</a:t>
            </a:r>
            <a:endParaRPr lang="pt-BR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1700" y="2073910"/>
            <a:ext cx="7480300" cy="3263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0519" y="2948140"/>
            <a:ext cx="5367811" cy="374441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Growth Rates</a:t>
            </a:r>
            <a:endParaRPr lang="en-US"/>
          </a:p>
        </p:txBody>
      </p:sp>
      <p:sp>
        <p:nvSpPr>
          <p:cNvPr id="70659" name="内容占位符 4"/>
          <p:cNvSpPr>
            <a:spLocks noGrp="1"/>
          </p:cNvSpPr>
          <p:nvPr>
            <p:ph idx="1"/>
          </p:nvPr>
        </p:nvSpPr>
        <p:spPr>
          <a:xfrm>
            <a:off x="692785" y="2267585"/>
            <a:ext cx="9921875" cy="68072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2000" dirty="0"/>
              <a:t>The idea of the definitions is to establish a relative order among functions.</a:t>
            </a:r>
            <a:endParaRPr lang="en-US" altLang="zh-CN" sz="2000" dirty="0"/>
          </a:p>
        </p:txBody>
      </p:sp>
      <p:sp>
        <p:nvSpPr>
          <p:cNvPr id="8" name="矩形 7"/>
          <p:cNvSpPr/>
          <p:nvPr/>
        </p:nvSpPr>
        <p:spPr>
          <a:xfrm>
            <a:off x="692785" y="1779905"/>
            <a:ext cx="1051623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dirty="0"/>
              <a:t>The growth rate is the rate at which the cost of the algorithm grows as the input size grows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973455" y="295910"/>
            <a:ext cx="207137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r>
              <a:rPr lang="en-US" altLang="zh-CN" sz="3200" b="1" dirty="0">
                <a:solidFill>
                  <a:srgbClr val="FF3300"/>
                </a:solidFill>
                <a:ea typeface="宋体" pitchFamily="2" charset="-122"/>
              </a:rPr>
              <a:t>“Big-Oh”</a:t>
            </a:r>
            <a:endParaRPr lang="en-US" altLang="zh-CN" sz="3200" dirty="0">
              <a:ea typeface="宋体" pitchFamily="2" charset="-122"/>
            </a:endParaRP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3019426" y="1112810"/>
            <a:ext cx="5764720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T(N) = O(f(N)) if there are positive constants</a:t>
            </a:r>
            <a:endParaRPr lang="en-US" altLang="zh-CN" sz="24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 and n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such that T(N) </a:t>
            </a:r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cf</a:t>
            </a:r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(N) when N  n</a:t>
            </a:r>
            <a:r>
              <a:rPr lang="en-US" altLang="zh-CN" sz="2400" baseline="-250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2791461" y="2176782"/>
            <a:ext cx="38734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r>
              <a:rPr lang="en-US" altLang="zh-CN" sz="2400" dirty="0">
                <a:solidFill>
                  <a:srgbClr val="5252D4"/>
                </a:solidFill>
                <a:ea typeface="宋体" pitchFamily="2" charset="-122"/>
              </a:rPr>
              <a:t>We say “T(N) has order f(N).” </a:t>
            </a:r>
            <a:endParaRPr lang="en-US" altLang="zh-CN" sz="2400" dirty="0">
              <a:solidFill>
                <a:srgbClr val="5252D4"/>
              </a:solidFill>
              <a:ea typeface="宋体" pitchFamily="2" charset="-122"/>
            </a:endParaRP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1946910" y="3376295"/>
            <a:ext cx="882142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r>
              <a:rPr lang="en-US" altLang="zh-CN" sz="2400" dirty="0">
                <a:solidFill>
                  <a:srgbClr val="006600"/>
                </a:solidFill>
                <a:ea typeface="宋体" pitchFamily="2" charset="-122"/>
              </a:rPr>
              <a:t>We try to simplify T(N) into one or more </a:t>
            </a:r>
            <a:r>
              <a:rPr lang="en-US" altLang="zh-CN" sz="2400" b="1" dirty="0">
                <a:solidFill>
                  <a:srgbClr val="FF0000"/>
                </a:solidFill>
                <a:ea typeface="宋体" pitchFamily="2" charset="-122"/>
              </a:rPr>
              <a:t>common functions</a:t>
            </a:r>
            <a:r>
              <a:rPr lang="en-US" altLang="zh-CN" sz="2400" dirty="0">
                <a:solidFill>
                  <a:srgbClr val="006600"/>
                </a:solidFill>
                <a:ea typeface="宋体" pitchFamily="2" charset="-122"/>
              </a:rPr>
              <a:t>.</a:t>
            </a:r>
            <a:endParaRPr lang="en-US" altLang="zh-CN" sz="2400" dirty="0">
              <a:solidFill>
                <a:srgbClr val="006600"/>
              </a:solidFill>
              <a:ea typeface="宋体" pitchFamily="2" charset="-122"/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3044825" y="4112895"/>
            <a:ext cx="6087110" cy="2676525"/>
          </a:xfrm>
          <a:prstGeom prst="rect">
            <a:avLst/>
          </a:prstGeom>
          <a:noFill/>
          <a:ln w="9525">
            <a:solidFill>
              <a:srgbClr val="990099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</a:rPr>
              <a:t>Ex. 1  T(N) = 3N + 4</a:t>
            </a:r>
            <a:endParaRPr lang="en-US" altLang="zh-CN" sz="2400" dirty="0">
              <a:solidFill>
                <a:srgbClr val="990099"/>
              </a:solidFill>
              <a:ea typeface="宋体" pitchFamily="2" charset="-122"/>
            </a:endParaRPr>
          </a:p>
          <a:p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</a:rPr>
              <a:t>T(N) is linear.  Intuitively, f(N) should be N.</a:t>
            </a:r>
            <a:endParaRPr lang="en-US" altLang="zh-CN" sz="2400" dirty="0">
              <a:solidFill>
                <a:srgbClr val="990099"/>
              </a:solidFill>
              <a:ea typeface="宋体" pitchFamily="2" charset="-122"/>
            </a:endParaRPr>
          </a:p>
          <a:p>
            <a:endParaRPr lang="en-US" altLang="zh-CN" sz="2400" dirty="0">
              <a:solidFill>
                <a:srgbClr val="990099"/>
              </a:solidFill>
              <a:ea typeface="宋体" pitchFamily="2" charset="-122"/>
            </a:endParaRPr>
          </a:p>
          <a:p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</a:rPr>
              <a:t>More formally,</a:t>
            </a:r>
            <a:endParaRPr lang="en-US" altLang="zh-CN" sz="2400" dirty="0">
              <a:solidFill>
                <a:srgbClr val="990099"/>
              </a:solidFill>
              <a:ea typeface="宋体" pitchFamily="2" charset="-122"/>
            </a:endParaRPr>
          </a:p>
          <a:p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</a:rPr>
              <a:t>   T(N) = 3N + 4 </a:t>
            </a:r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  <a:sym typeface="Symbol" panose="05050102010706020507" pitchFamily="18" charset="2"/>
              </a:rPr>
              <a:t> 3N + 4N,  N  1</a:t>
            </a:r>
            <a:endParaRPr lang="en-US" altLang="zh-CN" sz="2400" dirty="0">
              <a:solidFill>
                <a:srgbClr val="990099"/>
              </a:solidFill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2400" dirty="0">
                <a:solidFill>
                  <a:srgbClr val="FF33CC"/>
                </a:solidFill>
                <a:ea typeface="宋体" pitchFamily="2" charset="-122"/>
                <a:sym typeface="Symbol" panose="05050102010706020507" pitchFamily="18" charset="2"/>
              </a:rPr>
              <a:t>T(N)  7N, N  1</a:t>
            </a:r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  <a:sym typeface="Symbol" panose="05050102010706020507" pitchFamily="18" charset="2"/>
              </a:rPr>
              <a:t> （c=7，</a:t>
            </a:r>
            <a:r>
              <a:rPr lang="en-US" altLang="zh-C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aseline="-250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a typeface="宋体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a typeface="宋体" pitchFamily="2" charset="-122"/>
                <a:sym typeface="+mn-ea"/>
              </a:rPr>
              <a:t>= </a:t>
            </a:r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  <a:sym typeface="+mn-ea"/>
              </a:rPr>
              <a:t>1</a:t>
            </a:r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  <a:sym typeface="Symbol" panose="05050102010706020507" pitchFamily="18" charset="2"/>
              </a:rPr>
              <a:t>）</a:t>
            </a:r>
            <a:endParaRPr lang="en-US" altLang="zh-CN" sz="2400" dirty="0">
              <a:solidFill>
                <a:srgbClr val="990099"/>
              </a:solidFill>
              <a:ea typeface="宋体" pitchFamily="2" charset="-122"/>
              <a:sym typeface="Symbol" panose="05050102010706020507" pitchFamily="18" charset="2"/>
            </a:endParaRPr>
          </a:p>
          <a:p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  <a:sym typeface="Symbol" panose="05050102010706020507" pitchFamily="18" charset="2"/>
              </a:rPr>
              <a:t>So T(N) is of order N.</a:t>
            </a:r>
            <a:endParaRPr lang="en-US" altLang="zh-CN" sz="2400" dirty="0">
              <a:solidFill>
                <a:srgbClr val="990099"/>
              </a:solidFill>
              <a:ea typeface="宋体" pitchFamily="2" charset="-122"/>
              <a:sym typeface="Symbol" panose="05050102010706020507" pitchFamily="18" charset="2"/>
            </a:endParaRPr>
          </a:p>
        </p:txBody>
      </p:sp>
      <p:sp>
        <p:nvSpPr>
          <p:cNvPr id="4" name="矩形 1"/>
          <p:cNvSpPr/>
          <p:nvPr/>
        </p:nvSpPr>
        <p:spPr>
          <a:xfrm>
            <a:off x="4853497" y="2638467"/>
            <a:ext cx="427873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r>
              <a:rPr lang="en-US" altLang="zh-CN" sz="2400" dirty="0">
                <a:solidFill>
                  <a:srgbClr val="5252D4"/>
                </a:solidFill>
                <a:ea typeface="宋体" pitchFamily="2" charset="-122"/>
              </a:rPr>
              <a:t>“f(N) is an </a:t>
            </a:r>
            <a:r>
              <a:rPr lang="en-US" altLang="zh-CN" sz="2400" b="1" dirty="0">
                <a:solidFill>
                  <a:srgbClr val="FF0000"/>
                </a:solidFill>
                <a:ea typeface="宋体" pitchFamily="2" charset="-122"/>
              </a:rPr>
              <a:t>upper bound </a:t>
            </a:r>
            <a:r>
              <a:rPr lang="en-US" altLang="zh-CN" sz="2400" dirty="0">
                <a:solidFill>
                  <a:srgbClr val="5252D4"/>
                </a:solidFill>
                <a:ea typeface="宋体" pitchFamily="2" charset="-122"/>
              </a:rPr>
              <a:t>on T(N)”</a:t>
            </a:r>
            <a:endParaRPr lang="zh-CN" altLang="en-US" sz="2400" dirty="0">
              <a:solidFill>
                <a:srgbClr val="5252D4"/>
              </a:solidFill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6" grpId="0" bldLvl="0" animBg="1"/>
      <p:bldP spid="20487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Growth Rates</a:t>
            </a:r>
            <a:endParaRPr lang="en-US"/>
          </a:p>
        </p:txBody>
      </p:sp>
      <p:sp>
        <p:nvSpPr>
          <p:cNvPr id="70659" name="内容占位符 4"/>
          <p:cNvSpPr>
            <a:spLocks noGrp="1"/>
          </p:cNvSpPr>
          <p:nvPr>
            <p:ph idx="1"/>
          </p:nvPr>
        </p:nvSpPr>
        <p:spPr>
          <a:xfrm>
            <a:off x="692785" y="2267585"/>
            <a:ext cx="9921875" cy="68072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zh-CN" sz="2000" dirty="0"/>
              <a:t>The idea of the definitions is to establish a relative order among functions.</a:t>
            </a:r>
            <a:endParaRPr lang="en-US" altLang="zh-CN" sz="2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881" y="2948077"/>
            <a:ext cx="5077333" cy="3607579"/>
          </a:xfrm>
          <a:prstGeom prst="rect">
            <a:avLst/>
          </a:prstGeom>
        </p:spPr>
      </p:pic>
      <p:sp>
        <p:nvSpPr>
          <p:cNvPr id="3" name="矩形 7"/>
          <p:cNvSpPr/>
          <p:nvPr/>
        </p:nvSpPr>
        <p:spPr>
          <a:xfrm>
            <a:off x="692785" y="1779905"/>
            <a:ext cx="1051623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000" dirty="0"/>
              <a:t>The growth rate is the rate at which the cost of the algorithm grows as the input size grows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1284605" y="484505"/>
            <a:ext cx="587565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p>
            <a:r>
              <a:rPr lang="en-US" altLang="zh-CN" sz="3600" b="1" dirty="0" smtClean="0">
                <a:solidFill>
                  <a:srgbClr val="FF3300"/>
                </a:solidFill>
              </a:rPr>
              <a:t>“simplifying rules”</a:t>
            </a:r>
            <a:endParaRPr lang="en-US" altLang="zh-CN" sz="3600" b="1" dirty="0" smtClean="0">
              <a:solidFill>
                <a:srgbClr val="FF3300"/>
              </a:solidFill>
              <a:ea typeface="宋体" pitchFamily="2" charset="-122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2572015" y="3857873"/>
            <a:ext cx="5796915" cy="224536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pPr algn="l"/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Suppose we get T</a:t>
            </a:r>
            <a:r>
              <a:rPr lang="en-US" altLang="zh-CN" sz="2000" baseline="-25000" dirty="0">
                <a:solidFill>
                  <a:srgbClr val="990099"/>
                </a:solidFill>
                <a:ea typeface="宋体" pitchFamily="2" charset="-122"/>
              </a:rPr>
              <a:t>1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(N) = O(f(N)) and T</a:t>
            </a:r>
            <a:r>
              <a:rPr lang="en-US" altLang="zh-CN" sz="2000" baseline="-25000" dirty="0">
                <a:solidFill>
                  <a:srgbClr val="990099"/>
                </a:solidFill>
                <a:ea typeface="宋体" pitchFamily="2" charset="-122"/>
              </a:rPr>
              <a:t>2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(N)=O(g(N)),</a:t>
            </a:r>
            <a:endParaRPr lang="en-US" altLang="zh-CN" sz="2000" dirty="0">
              <a:solidFill>
                <a:srgbClr val="990099"/>
              </a:solidFill>
              <a:ea typeface="宋体" pitchFamily="2" charset="-122"/>
            </a:endParaRPr>
          </a:p>
          <a:p>
            <a:pPr algn="l"/>
            <a:endParaRPr lang="en-US" altLang="zh-CN" sz="2000" dirty="0">
              <a:solidFill>
                <a:srgbClr val="990099"/>
              </a:solidFill>
            </a:endParaRPr>
          </a:p>
          <a:p>
            <a:pPr algn="l"/>
            <a:r>
              <a:rPr lang="en-US" altLang="zh-CN" sz="2000" dirty="0">
                <a:solidFill>
                  <a:srgbClr val="990099"/>
                </a:solidFill>
              </a:rPr>
              <a:t>f(N) = 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4N</a:t>
            </a:r>
            <a:r>
              <a:rPr lang="en-US" altLang="zh-CN" sz="2000" baseline="30000" dirty="0">
                <a:solidFill>
                  <a:srgbClr val="990099"/>
                </a:solidFill>
                <a:ea typeface="宋体" pitchFamily="2" charset="-122"/>
              </a:rPr>
              <a:t>2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 + 6, g(N) = </a:t>
            </a:r>
            <a:r>
              <a:rPr lang="en-US" altLang="zh-CN" sz="2000" dirty="0">
                <a:solidFill>
                  <a:srgbClr val="990099"/>
                </a:solidFill>
              </a:rPr>
              <a:t>3N , T(N) = T</a:t>
            </a:r>
            <a:r>
              <a:rPr lang="en-US" altLang="zh-CN" sz="2000" baseline="-25000" dirty="0">
                <a:solidFill>
                  <a:srgbClr val="990099"/>
                </a:solidFill>
              </a:rPr>
              <a:t>1</a:t>
            </a:r>
            <a:r>
              <a:rPr lang="en-US" altLang="zh-CN" sz="2000" dirty="0">
                <a:solidFill>
                  <a:srgbClr val="990099"/>
                </a:solidFill>
              </a:rPr>
              <a:t>(N)+T</a:t>
            </a:r>
            <a:r>
              <a:rPr lang="en-US" altLang="zh-CN" sz="2000" baseline="-25000" dirty="0">
                <a:solidFill>
                  <a:srgbClr val="990099"/>
                </a:solidFill>
              </a:rPr>
              <a:t>2</a:t>
            </a:r>
            <a:r>
              <a:rPr lang="en-US" altLang="zh-CN" sz="2000" dirty="0">
                <a:solidFill>
                  <a:srgbClr val="990099"/>
                </a:solidFill>
              </a:rPr>
              <a:t>(N) =?</a:t>
            </a:r>
            <a:endParaRPr lang="en-US" altLang="zh-CN" sz="2000" dirty="0">
              <a:solidFill>
                <a:srgbClr val="990099"/>
              </a:solidFill>
              <a:ea typeface="宋体" pitchFamily="2" charset="-122"/>
            </a:endParaRPr>
          </a:p>
          <a:p>
            <a:pPr algn="l"/>
            <a:endParaRPr lang="en-US" altLang="zh-CN" sz="2000" dirty="0">
              <a:solidFill>
                <a:srgbClr val="990099"/>
              </a:solidFill>
            </a:endParaRPr>
          </a:p>
          <a:p>
            <a:pPr algn="l"/>
            <a:r>
              <a:rPr lang="en-US" altLang="zh-CN" sz="2000" dirty="0">
                <a:solidFill>
                  <a:srgbClr val="990099"/>
                </a:solidFill>
              </a:rPr>
              <a:t>T(N) = T</a:t>
            </a:r>
            <a:r>
              <a:rPr lang="en-US" altLang="zh-CN" sz="2000" baseline="-25000" dirty="0">
                <a:solidFill>
                  <a:srgbClr val="990099"/>
                </a:solidFill>
              </a:rPr>
              <a:t>1</a:t>
            </a:r>
            <a:r>
              <a:rPr lang="en-US" altLang="zh-CN" sz="2000" dirty="0">
                <a:solidFill>
                  <a:srgbClr val="990099"/>
                </a:solidFill>
              </a:rPr>
              <a:t>(N)+T</a:t>
            </a:r>
            <a:r>
              <a:rPr lang="en-US" altLang="zh-CN" sz="2000" baseline="-25000" dirty="0">
                <a:solidFill>
                  <a:srgbClr val="990099"/>
                </a:solidFill>
              </a:rPr>
              <a:t>2</a:t>
            </a:r>
            <a:r>
              <a:rPr lang="en-US" altLang="zh-CN" sz="2000" dirty="0">
                <a:solidFill>
                  <a:srgbClr val="990099"/>
                </a:solidFill>
              </a:rPr>
              <a:t>(N) = 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O(</a:t>
            </a:r>
            <a:r>
              <a:rPr lang="en-US" altLang="zh-CN" sz="2000" dirty="0">
                <a:solidFill>
                  <a:srgbClr val="990099"/>
                </a:solidFill>
              </a:rPr>
              <a:t>f(N) + g(N)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)</a:t>
            </a:r>
            <a:endParaRPr lang="en-US" altLang="zh-CN" sz="2000" dirty="0">
              <a:solidFill>
                <a:srgbClr val="990099"/>
              </a:solidFill>
              <a:ea typeface="宋体" pitchFamily="2" charset="-122"/>
            </a:endParaRPr>
          </a:p>
          <a:p>
            <a:pPr algn="l"/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                                  = 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  <a:sym typeface="+mn-ea"/>
              </a:rPr>
              <a:t>O(</a:t>
            </a:r>
            <a:r>
              <a:rPr lang="en-US" altLang="zh-CN" sz="2000" dirty="0">
                <a:solidFill>
                  <a:srgbClr val="990099"/>
                </a:solidFill>
              </a:rPr>
              <a:t>4N</a:t>
            </a:r>
            <a:r>
              <a:rPr lang="en-US" altLang="zh-CN" sz="2000" baseline="30000" dirty="0">
                <a:solidFill>
                  <a:srgbClr val="990099"/>
                </a:solidFill>
              </a:rPr>
              <a:t>2</a:t>
            </a:r>
            <a:r>
              <a:rPr lang="en-US" altLang="zh-CN" sz="2000" dirty="0">
                <a:solidFill>
                  <a:srgbClr val="990099"/>
                </a:solidFill>
              </a:rPr>
              <a:t> + 3N + 6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  <a:sym typeface="+mn-ea"/>
              </a:rPr>
              <a:t>)</a:t>
            </a:r>
            <a:endParaRPr lang="en-US" altLang="zh-CN" sz="2000" dirty="0">
              <a:solidFill>
                <a:srgbClr val="990099"/>
              </a:solidFill>
            </a:endParaRPr>
          </a:p>
          <a:p>
            <a:pPr algn="l"/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                                  = O(N</a:t>
            </a:r>
            <a:r>
              <a:rPr lang="en-US" altLang="zh-CN" sz="2000" baseline="30000" dirty="0">
                <a:solidFill>
                  <a:srgbClr val="990099"/>
                </a:solidFill>
                <a:ea typeface="宋体" pitchFamily="2" charset="-122"/>
              </a:rPr>
              <a:t>2</a:t>
            </a:r>
            <a:r>
              <a:rPr lang="en-US" altLang="zh-CN" sz="2000" dirty="0">
                <a:solidFill>
                  <a:srgbClr val="990099"/>
                </a:solidFill>
              </a:rPr>
              <a:t>)</a:t>
            </a:r>
            <a:endParaRPr lang="en-US" altLang="zh-CN" sz="2000" dirty="0">
              <a:solidFill>
                <a:srgbClr val="008000"/>
              </a:solidFill>
              <a:ea typeface="宋体" pitchFamily="2" charset="-122"/>
            </a:endParaRPr>
          </a:p>
        </p:txBody>
      </p:sp>
      <p:sp>
        <p:nvSpPr>
          <p:cNvPr id="4" name="矩形 1"/>
          <p:cNvSpPr/>
          <p:nvPr/>
        </p:nvSpPr>
        <p:spPr>
          <a:xfrm>
            <a:off x="6527263" y="5735310"/>
            <a:ext cx="3246755" cy="39878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2000" dirty="0">
                <a:solidFill>
                  <a:srgbClr val="008000"/>
                </a:solidFill>
              </a:rPr>
              <a:t>intuitively O(max(f(N), g(N)))</a:t>
            </a:r>
            <a:endParaRPr lang="en-US" altLang="zh-CN" sz="2000" dirty="0">
              <a:solidFill>
                <a:srgbClr val="008000"/>
              </a:solidFill>
            </a:endParaRPr>
          </a:p>
        </p:txBody>
      </p:sp>
      <p:sp>
        <p:nvSpPr>
          <p:cNvPr id="5" name="矩形 2"/>
          <p:cNvSpPr/>
          <p:nvPr/>
        </p:nvSpPr>
        <p:spPr>
          <a:xfrm>
            <a:off x="1950720" y="1599565"/>
            <a:ext cx="7803515" cy="12604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r>
              <a:rPr lang="pt-BR" altLang="zh-CN" sz="2800" b="1" dirty="0" smtClean="0"/>
              <a:t>Rule 1:  </a:t>
            </a:r>
            <a:r>
              <a:rPr lang="pt-BR" altLang="zh-CN" sz="2400" dirty="0" smtClean="0"/>
              <a:t>If  T1(N</a:t>
            </a:r>
            <a:r>
              <a:rPr lang="pt-BR" altLang="zh-CN" sz="2400" dirty="0"/>
              <a:t>) = O(f (N)) and T2(N) = O(g(N)), then</a:t>
            </a:r>
            <a:endParaRPr lang="pt-BR" altLang="zh-CN" sz="2400" dirty="0"/>
          </a:p>
          <a:p>
            <a:pPr marL="800100" lvl="1" indent="-342900">
              <a:buAutoNum type="alphaLcParenBoth"/>
            </a:pPr>
            <a:r>
              <a:rPr lang="pt-BR" altLang="zh-CN" sz="2400" dirty="0" smtClean="0"/>
              <a:t> T1(N</a:t>
            </a:r>
            <a:r>
              <a:rPr lang="pt-BR" altLang="zh-CN" sz="2400" dirty="0"/>
              <a:t>) + T2(N) = O(f (N) + g(N)) </a:t>
            </a:r>
            <a:endParaRPr lang="pt-BR" altLang="zh-CN" sz="2400" dirty="0" smtClean="0"/>
          </a:p>
          <a:p>
            <a:pPr marL="800100" lvl="1" indent="-342900">
              <a:buAutoNum type="alphaLcParenBoth"/>
            </a:pPr>
            <a:r>
              <a:rPr lang="pt-BR" altLang="zh-CN" sz="2400" dirty="0" smtClean="0"/>
              <a:t> T1(N</a:t>
            </a:r>
            <a:r>
              <a:rPr lang="pt-BR" altLang="zh-CN" sz="2400" dirty="0"/>
              <a:t>) ∗ T2(N) = O(f (N) ∗ g(N)).</a:t>
            </a:r>
            <a:endParaRPr lang="pt-BR" altLang="zh-CN" sz="2400" dirty="0"/>
          </a:p>
        </p:txBody>
      </p:sp>
      <p:cxnSp>
        <p:nvCxnSpPr>
          <p:cNvPr id="2" name="Elbow Connector 1"/>
          <p:cNvCxnSpPr/>
          <p:nvPr/>
        </p:nvCxnSpPr>
        <p:spPr>
          <a:xfrm rot="5400000" flipV="1">
            <a:off x="6066790" y="3258185"/>
            <a:ext cx="3410585" cy="1471930"/>
          </a:xfrm>
          <a:prstGeom prst="bentConnector3">
            <a:avLst>
              <a:gd name="adj1" fmla="val 716"/>
            </a:avLst>
          </a:prstGeom>
          <a:ln w="190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2234565" y="6285230"/>
            <a:ext cx="6918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dirty="0">
                <a:solidFill>
                  <a:schemeClr val="accent2"/>
                </a:solidFill>
              </a:rPr>
              <a:t>比如</a:t>
            </a:r>
            <a:r>
              <a:rPr lang="en-US" altLang="zh-CN" sz="2000" dirty="0">
                <a:solidFill>
                  <a:schemeClr val="accent2"/>
                </a:solidFill>
                <a:sym typeface="+mn-ea"/>
              </a:rPr>
              <a:t>4</a:t>
            </a:r>
            <a:r>
              <a:rPr lang="en-US" altLang="zh-CN" sz="2000" dirty="0">
                <a:solidFill>
                  <a:schemeClr val="accent2"/>
                </a:solidFill>
                <a:ea typeface="宋体" pitchFamily="2" charset="-122"/>
                <a:sym typeface="+mn-ea"/>
              </a:rPr>
              <a:t>N</a:t>
            </a:r>
            <a:r>
              <a:rPr lang="en-US" altLang="zh-CN" sz="2000" baseline="30000" dirty="0">
                <a:solidFill>
                  <a:schemeClr val="accent2"/>
                </a:solidFill>
                <a:ea typeface="宋体" pitchFamily="2" charset="-122"/>
                <a:sym typeface="+mn-ea"/>
              </a:rPr>
              <a:t>2</a:t>
            </a:r>
            <a:r>
              <a:rPr lang="en-US" altLang="zh-CN" sz="2000" dirty="0">
                <a:solidFill>
                  <a:schemeClr val="accent2"/>
                </a:solidFill>
                <a:sym typeface="+mn-ea"/>
              </a:rPr>
              <a:t> + N + 2&lt;</a:t>
            </a:r>
            <a:r>
              <a:rPr lang="en-US" altLang="zh-CN" sz="2000" dirty="0">
                <a:solidFill>
                  <a:schemeClr val="accent2"/>
                </a:solidFill>
              </a:rPr>
              <a:t>=5</a:t>
            </a:r>
            <a:r>
              <a:rPr lang="en-US" altLang="zh-CN" sz="2000" dirty="0">
                <a:solidFill>
                  <a:schemeClr val="accent2"/>
                </a:solidFill>
                <a:ea typeface="宋体" pitchFamily="2" charset="-122"/>
                <a:sym typeface="+mn-ea"/>
              </a:rPr>
              <a:t>N</a:t>
            </a:r>
            <a:r>
              <a:rPr lang="en-US" altLang="zh-CN" sz="2000" baseline="30000" dirty="0">
                <a:solidFill>
                  <a:schemeClr val="accent2"/>
                </a:solidFill>
                <a:ea typeface="宋体" pitchFamily="2" charset="-122"/>
                <a:sym typeface="+mn-ea"/>
              </a:rPr>
              <a:t>2</a:t>
            </a:r>
            <a:r>
              <a:rPr lang="en-US" altLang="zh-CN" sz="2000" dirty="0">
                <a:solidFill>
                  <a:schemeClr val="accent2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chemeClr val="accent2"/>
                </a:solidFill>
                <a:sym typeface="+mn-ea"/>
              </a:rPr>
              <a:t>, when N&gt;=2;  i.e., c=5, </a:t>
            </a:r>
            <a:r>
              <a:rPr lang="en-US" altLang="zh-CN" sz="2000" dirty="0">
                <a:solidFill>
                  <a:schemeClr val="accent2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000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2000" dirty="0">
                <a:solidFill>
                  <a:schemeClr val="accent2"/>
                </a:solidFill>
                <a:ea typeface="宋体" pitchFamily="2" charset="-122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chemeClr val="accent2"/>
                </a:solidFill>
                <a:sym typeface="+mn-ea"/>
              </a:rPr>
              <a:t>= 2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）</a:t>
            </a:r>
            <a:endParaRPr lang="en-US" altLang="zh-CN" sz="2000" dirty="0">
              <a:solidFill>
                <a:schemeClr val="accent2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3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1868804" y="746728"/>
            <a:ext cx="415988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 dirty="0" smtClean="0">
                <a:solidFill>
                  <a:srgbClr val="FF3300"/>
                </a:solidFill>
              </a:rPr>
              <a:t>“simplifying rules”</a:t>
            </a:r>
            <a:endParaRPr lang="en-US" altLang="zh-CN" sz="3600" b="1" dirty="0" smtClean="0">
              <a:solidFill>
                <a:srgbClr val="FF3300"/>
              </a:solidFill>
              <a:ea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437255" y="1856740"/>
            <a:ext cx="5503545" cy="7683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altLang="zh-CN" sz="2400" b="1" dirty="0" smtClean="0"/>
              <a:t>Rule 2:  </a:t>
            </a:r>
            <a:r>
              <a:rPr lang="en-US" altLang="zh-CN" sz="2000" dirty="0"/>
              <a:t>If T(N) is a polynomial of degree k, then </a:t>
            </a:r>
            <a:r>
              <a:rPr lang="en-US" altLang="zh-CN" sz="2000" dirty="0" smtClean="0"/>
              <a:t>T(N</a:t>
            </a:r>
            <a:r>
              <a:rPr lang="en-US" altLang="zh-CN" sz="2000" dirty="0"/>
              <a:t>) = </a:t>
            </a:r>
            <a:r>
              <a:rPr lang="el-GR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 </a:t>
            </a:r>
            <a:r>
              <a:rPr lang="en-US" altLang="zh-CN" sz="2000" dirty="0" smtClean="0"/>
              <a:t>(</a:t>
            </a:r>
            <a:r>
              <a:rPr lang="en-US" altLang="zh-CN" sz="2000" dirty="0" err="1"/>
              <a:t>N</a:t>
            </a:r>
            <a:r>
              <a:rPr lang="en-US" altLang="zh-CN" sz="2000" baseline="30000" dirty="0" err="1"/>
              <a:t>k</a:t>
            </a:r>
            <a:r>
              <a:rPr lang="en-US" altLang="zh-CN" sz="2000" dirty="0"/>
              <a:t>).</a:t>
            </a:r>
            <a:endParaRPr lang="en-US" altLang="zh-CN" sz="2000" dirty="0"/>
          </a:p>
        </p:txBody>
      </p:sp>
      <p:sp>
        <p:nvSpPr>
          <p:cNvPr id="4" name="矩形 3"/>
          <p:cNvSpPr/>
          <p:nvPr/>
        </p:nvSpPr>
        <p:spPr>
          <a:xfrm>
            <a:off x="3437255" y="3023870"/>
            <a:ext cx="5503545" cy="46037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altLang="zh-CN" sz="2400" b="1" dirty="0"/>
              <a:t>Rule 3: </a:t>
            </a:r>
            <a:r>
              <a:rPr lang="pt-BR" altLang="zh-CN" sz="2000" dirty="0" smtClean="0"/>
              <a:t>log</a:t>
            </a:r>
            <a:r>
              <a:rPr lang="pt-BR" altLang="zh-CN" sz="2000" baseline="30000" dirty="0" smtClean="0"/>
              <a:t>k</a:t>
            </a:r>
            <a:r>
              <a:rPr lang="pt-BR" altLang="zh-CN" sz="2000" dirty="0" smtClean="0"/>
              <a:t>N </a:t>
            </a:r>
            <a:r>
              <a:rPr lang="pt-BR" altLang="zh-CN" sz="2000" dirty="0"/>
              <a:t>= O(N) for any constant k.</a:t>
            </a:r>
            <a:endParaRPr lang="pt-BR" altLang="zh-CN" sz="2000" dirty="0"/>
          </a:p>
        </p:txBody>
      </p:sp>
      <p:sp>
        <p:nvSpPr>
          <p:cNvPr id="5" name="矩形 4"/>
          <p:cNvSpPr/>
          <p:nvPr/>
        </p:nvSpPr>
        <p:spPr>
          <a:xfrm>
            <a:off x="3437255" y="5124450"/>
            <a:ext cx="5504180" cy="7683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altLang="zh-CN" sz="2400" b="1" dirty="0"/>
              <a:t>Rule </a:t>
            </a:r>
            <a:r>
              <a:rPr lang="pt-BR" altLang="zh-CN" sz="2400" b="1" dirty="0" smtClean="0"/>
              <a:t>5: </a:t>
            </a:r>
            <a:r>
              <a:rPr lang="en-US" altLang="zh-CN" sz="2000" dirty="0"/>
              <a:t>If </a:t>
            </a:r>
            <a:r>
              <a:rPr lang="en-US" altLang="zh-CN" sz="2000" dirty="0" smtClean="0"/>
              <a:t>T(n</a:t>
            </a:r>
            <a:r>
              <a:rPr lang="en-US" altLang="zh-CN" sz="2000" dirty="0"/>
              <a:t>) </a:t>
            </a:r>
            <a:r>
              <a:rPr lang="en-US" altLang="zh-CN" sz="2000" dirty="0" smtClean="0"/>
              <a:t>= O(kg(n</a:t>
            </a:r>
            <a:r>
              <a:rPr lang="en-US" altLang="zh-CN" sz="2000" dirty="0"/>
              <a:t>)) for any constant k &gt; 0, then </a:t>
            </a:r>
            <a:r>
              <a:rPr lang="en-US" altLang="zh-CN" sz="2000" dirty="0" smtClean="0"/>
              <a:t>T(n</a:t>
            </a:r>
            <a:r>
              <a:rPr lang="en-US" altLang="zh-CN" sz="2000" dirty="0"/>
              <a:t>) </a:t>
            </a:r>
            <a:r>
              <a:rPr lang="en-US" altLang="zh-CN" sz="2000" dirty="0" smtClean="0"/>
              <a:t>= O(g(n)). </a:t>
            </a:r>
            <a:r>
              <a:rPr lang="en-US" altLang="zh-CN" sz="2000" dirty="0" smtClean="0">
                <a:solidFill>
                  <a:srgbClr val="008000"/>
                </a:solidFill>
              </a:rPr>
              <a:t>– </a:t>
            </a:r>
            <a:r>
              <a:rPr lang="en-US" altLang="zh-CN" sz="2000" dirty="0">
                <a:solidFill>
                  <a:srgbClr val="008000"/>
                </a:solidFill>
              </a:rPr>
              <a:t>ignore the </a:t>
            </a:r>
            <a:r>
              <a:rPr lang="en-US" altLang="zh-CN" sz="2000" dirty="0" smtClean="0">
                <a:solidFill>
                  <a:srgbClr val="008000"/>
                </a:solidFill>
              </a:rPr>
              <a:t>constant*</a:t>
            </a:r>
            <a:r>
              <a:rPr lang="en-US" altLang="zh-CN" sz="2000" dirty="0" smtClean="0"/>
              <a:t>.</a:t>
            </a:r>
            <a:endParaRPr lang="en-US" altLang="zh-CN" sz="2000" dirty="0" smtClean="0"/>
          </a:p>
        </p:txBody>
      </p:sp>
      <p:sp>
        <p:nvSpPr>
          <p:cNvPr id="6" name="矩形 5"/>
          <p:cNvSpPr/>
          <p:nvPr/>
        </p:nvSpPr>
        <p:spPr>
          <a:xfrm>
            <a:off x="3437255" y="3935730"/>
            <a:ext cx="5504180" cy="7683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altLang="zh-CN" sz="2400" b="1" dirty="0" smtClean="0"/>
              <a:t>Rule 4: </a:t>
            </a:r>
            <a:r>
              <a:rPr lang="en-US" altLang="zh-CN" sz="2000" dirty="0"/>
              <a:t>If </a:t>
            </a:r>
            <a:r>
              <a:rPr lang="en-US" altLang="zh-CN" sz="2000" dirty="0" smtClean="0"/>
              <a:t>T(n</a:t>
            </a:r>
            <a:r>
              <a:rPr lang="en-US" altLang="zh-CN" sz="2000" dirty="0"/>
              <a:t>) </a:t>
            </a:r>
            <a:r>
              <a:rPr lang="en-US" altLang="zh-CN" sz="2000" dirty="0" smtClean="0"/>
              <a:t>= O(g(n</a:t>
            </a:r>
            <a:r>
              <a:rPr lang="en-US" altLang="zh-CN" sz="2000" dirty="0"/>
              <a:t>)) and g(n) </a:t>
            </a:r>
            <a:r>
              <a:rPr lang="en-US" altLang="zh-CN" sz="2000" dirty="0" smtClean="0"/>
              <a:t>= O(h(n</a:t>
            </a:r>
            <a:r>
              <a:rPr lang="en-US" altLang="zh-CN" sz="2000" dirty="0"/>
              <a:t>)), then </a:t>
            </a:r>
            <a:r>
              <a:rPr lang="en-US" altLang="zh-CN" sz="2000" dirty="0" smtClean="0"/>
              <a:t>T(n</a:t>
            </a:r>
            <a:r>
              <a:rPr lang="en-US" altLang="zh-CN" sz="2000" dirty="0"/>
              <a:t>) </a:t>
            </a:r>
            <a:r>
              <a:rPr lang="en-US" altLang="zh-CN" sz="2000" dirty="0" smtClean="0"/>
              <a:t>= O(h(n)). </a:t>
            </a:r>
            <a:r>
              <a:rPr lang="en-US" altLang="zh-CN" sz="2000" dirty="0">
                <a:solidFill>
                  <a:srgbClr val="FF0000"/>
                </a:solidFill>
              </a:rPr>
              <a:t>– </a:t>
            </a:r>
            <a:r>
              <a:rPr lang="en-US" altLang="zh-CN" sz="2000" dirty="0" smtClean="0">
                <a:solidFill>
                  <a:srgbClr val="FF0000"/>
                </a:solidFill>
              </a:rPr>
              <a:t>transitive*</a:t>
            </a:r>
            <a:endParaRPr lang="en-US" altLang="zh-CN" sz="20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3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793282" y="3401447"/>
            <a:ext cx="6381750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90204" pitchFamily="34" charset="0"/>
              <a:buNone/>
            </a:pPr>
            <a:r>
              <a:rPr lang="en-US" smtClean="0">
                <a:latin typeface="Arial" panose="020B0604020202090204" pitchFamily="34" charset="0"/>
                <a:cs typeface="Arial" panose="020B0604020202090204" pitchFamily="34" charset="0"/>
              </a:rPr>
              <a:t>	To demonstrate with another example,</a:t>
            </a:r>
            <a:endParaRPr lang="en-US" smtClean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>
              <a:buFontTx/>
              <a:buNone/>
            </a:pPr>
            <a:r>
              <a:rPr lang="en-US" smtClean="0">
                <a:latin typeface="Arial" panose="020B0604020202090204" pitchFamily="34" charset="0"/>
                <a:cs typeface="Arial" panose="020B0604020202090204" pitchFamily="34" charset="0"/>
              </a:rPr>
              <a:t>  </a:t>
            </a:r>
            <a:r>
              <a:rPr lang="en-US" smtClean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f(</a:t>
            </a:r>
            <a:r>
              <a:rPr lang="en-US" i="1" smtClean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n</a:t>
            </a:r>
            <a:r>
              <a:rPr lang="en-US" smtClean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) = </a:t>
            </a:r>
            <a:r>
              <a:rPr lang="en-US" i="1" smtClean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n</a:t>
            </a:r>
            <a:r>
              <a:rPr lang="en-US" baseline="30000" smtClean="0">
                <a:solidFill>
                  <a:srgbClr val="FF0000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6</a:t>
            </a:r>
            <a:r>
              <a:rPr lang="en-US" smtClean="0">
                <a:latin typeface="Arial" panose="020B0604020202090204" pitchFamily="34" charset="0"/>
                <a:cs typeface="Arial" panose="020B0604020202090204" pitchFamily="34" charset="0"/>
              </a:rPr>
              <a:t>   and    </a:t>
            </a:r>
            <a:r>
              <a:rPr lang="en-US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g(</a:t>
            </a:r>
            <a:r>
              <a:rPr lang="en-US" i="1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n</a:t>
            </a:r>
            <a:r>
              <a:rPr lang="en-US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) = </a:t>
            </a:r>
            <a:r>
              <a:rPr lang="en-US" i="1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n</a:t>
            </a:r>
            <a:r>
              <a:rPr lang="en-US" baseline="30000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6</a:t>
            </a:r>
            <a:r>
              <a:rPr lang="en-US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 – 23</a:t>
            </a:r>
            <a:r>
              <a:rPr lang="en-US" i="1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n</a:t>
            </a:r>
            <a:r>
              <a:rPr lang="en-US" baseline="30000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5</a:t>
            </a:r>
            <a:r>
              <a:rPr lang="en-US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+193</a:t>
            </a:r>
            <a:r>
              <a:rPr lang="en-US" i="1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n</a:t>
            </a:r>
            <a:r>
              <a:rPr lang="en-US" baseline="30000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4</a:t>
            </a:r>
            <a:r>
              <a:rPr lang="en-US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 –729</a:t>
            </a:r>
            <a:r>
              <a:rPr lang="en-US" i="1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n</a:t>
            </a:r>
            <a:r>
              <a:rPr lang="en-US" baseline="30000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3</a:t>
            </a:r>
            <a:r>
              <a:rPr lang="en-US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+1206</a:t>
            </a:r>
            <a:r>
              <a:rPr lang="en-US" i="1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n</a:t>
            </a:r>
            <a:r>
              <a:rPr lang="en-US" baseline="30000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2</a:t>
            </a:r>
            <a:r>
              <a:rPr lang="en-US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 – 648</a:t>
            </a:r>
            <a:r>
              <a:rPr lang="en-US" i="1" smtClean="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90204" pitchFamily="34" charset="0"/>
              </a:rPr>
              <a:t>n</a:t>
            </a:r>
            <a:endParaRPr lang="en-US" smtClean="0">
              <a:solidFill>
                <a:srgbClr val="3333CC"/>
              </a:solidFill>
              <a:latin typeface="Times New Roman" panose="02020603050405020304" pitchFamily="18" charset="0"/>
              <a:cs typeface="Arial" panose="020B0604020202090204" pitchFamily="34" charset="0"/>
            </a:endParaRPr>
          </a:p>
          <a:p>
            <a:pPr>
              <a:buFont typeface="Arial" panose="020B0604020202090204" pitchFamily="34" charset="0"/>
              <a:buNone/>
            </a:pPr>
            <a:r>
              <a:rPr lang="en-US" smtClean="0">
                <a:latin typeface="Arial" panose="020B0604020202090204" pitchFamily="34" charset="0"/>
                <a:cs typeface="Arial" panose="020B0604020202090204" pitchFamily="34" charset="0"/>
              </a:rPr>
              <a:t>	Around </a:t>
            </a:r>
            <a:r>
              <a:rPr lang="en-US" i="1" smtClean="0">
                <a:latin typeface="Times New Roman" panose="02020603050405020304" pitchFamily="18" charset="0"/>
                <a:cs typeface="Arial" panose="020B0604020202090204" pitchFamily="34" charset="0"/>
              </a:rPr>
              <a:t>n</a:t>
            </a:r>
            <a:r>
              <a:rPr lang="en-US" smtClean="0">
                <a:latin typeface="Times New Roman" panose="02020603050405020304" pitchFamily="18" charset="0"/>
                <a:cs typeface="Arial" panose="020B0604020202090204" pitchFamily="34" charset="0"/>
              </a:rPr>
              <a:t> = 0</a:t>
            </a:r>
            <a:r>
              <a:rPr lang="en-US" smtClean="0">
                <a:latin typeface="Arial" panose="020B0604020202090204" pitchFamily="34" charset="0"/>
                <a:cs typeface="Arial" panose="020B0604020202090204" pitchFamily="34" charset="0"/>
              </a:rPr>
              <a:t>, they are very different</a:t>
            </a:r>
            <a:endParaRPr lang="en-US" smtClean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Growth Rates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90204" pitchFamily="34" charset="0"/>
              <a:buNone/>
            </a:pPr>
            <a:r>
              <a:rPr lang="en-US" dirty="0" smtClean="0">
                <a:latin typeface="Arial" panose="020B0604020202090204" pitchFamily="34" charset="0"/>
                <a:cs typeface="Arial" panose="020B0604020202090204" pitchFamily="34" charset="0"/>
              </a:rPr>
              <a:t>	Still, around </a:t>
            </a:r>
            <a:r>
              <a:rPr lang="en-US" i="1" dirty="0" smtClean="0">
                <a:latin typeface="Times New Roman" panose="02020603050405020304" pitchFamily="18" charset="0"/>
                <a:cs typeface="Arial" panose="020B0604020202090204" pitchFamily="34" charset="0"/>
              </a:rPr>
              <a:t>n</a:t>
            </a:r>
            <a:r>
              <a:rPr lang="en-US" dirty="0" smtClean="0">
                <a:latin typeface="Times New Roman" panose="02020603050405020304" pitchFamily="18" charset="0"/>
                <a:cs typeface="Arial" panose="020B0604020202090204" pitchFamily="34" charset="0"/>
              </a:rPr>
              <a:t> = 1000</a:t>
            </a:r>
            <a:r>
              <a:rPr lang="en-US" dirty="0" smtClean="0">
                <a:latin typeface="Arial" panose="020B0604020202090204" pitchFamily="34" charset="0"/>
                <a:cs typeface="Arial" panose="020B0604020202090204" pitchFamily="34" charset="0"/>
              </a:rPr>
              <a:t>, the relative difference is less than </a:t>
            </a:r>
            <a:r>
              <a:rPr lang="en-US" dirty="0" smtClean="0">
                <a:latin typeface="Times New Roman" panose="02020603050405020304" pitchFamily="18" charset="0"/>
                <a:cs typeface="Arial" panose="020B0604020202090204" pitchFamily="34" charset="0"/>
              </a:rPr>
              <a:t>3%</a:t>
            </a:r>
            <a:endParaRPr lang="en-US" dirty="0" smtClean="0">
              <a:latin typeface="Times New Roman" panose="02020603050405020304" pitchFamily="18" charset="0"/>
              <a:cs typeface="Arial" panose="020B0604020202090204" pitchFamily="34" charset="0"/>
            </a:endParaRPr>
          </a:p>
        </p:txBody>
      </p:sp>
      <p:pic>
        <p:nvPicPr>
          <p:cNvPr id="17817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61168" y="2625795"/>
            <a:ext cx="6353175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Growth Rates</a:t>
            </a:r>
            <a:endParaRPr lang="en-US"/>
          </a:p>
        </p:txBody>
      </p:sp>
      <p:sp>
        <p:nvSpPr>
          <p:cNvPr id="2" name="矩形 2"/>
          <p:cNvSpPr/>
          <p:nvPr/>
        </p:nvSpPr>
        <p:spPr>
          <a:xfrm>
            <a:off x="6688455" y="2482850"/>
            <a:ext cx="5503545" cy="7683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r>
              <a:rPr lang="pt-BR" altLang="zh-CN" sz="2400" b="1" dirty="0" smtClean="0"/>
              <a:t>Rule 2:  </a:t>
            </a:r>
            <a:r>
              <a:rPr lang="en-US" altLang="zh-CN" sz="2000" dirty="0"/>
              <a:t>If T(N) is a polynomial of degree k, then </a:t>
            </a:r>
            <a:r>
              <a:rPr lang="en-US" altLang="zh-CN" sz="2000" dirty="0" smtClean="0"/>
              <a:t>T(N</a:t>
            </a:r>
            <a:r>
              <a:rPr lang="en-US" altLang="zh-CN" sz="2000" dirty="0"/>
              <a:t>) = </a:t>
            </a:r>
            <a:r>
              <a:rPr lang="el-GR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 </a:t>
            </a:r>
            <a:r>
              <a:rPr lang="en-US" altLang="zh-CN" sz="2000" dirty="0" smtClean="0"/>
              <a:t>(</a:t>
            </a:r>
            <a:r>
              <a:rPr lang="en-US" altLang="zh-CN" sz="2000" dirty="0" err="1"/>
              <a:t>N</a:t>
            </a:r>
            <a:r>
              <a:rPr lang="en-US" altLang="zh-CN" sz="2000" baseline="30000" dirty="0" err="1"/>
              <a:t>k</a:t>
            </a:r>
            <a:r>
              <a:rPr lang="en-US" altLang="zh-CN" sz="2000" dirty="0"/>
              <a:t>).</a:t>
            </a:r>
            <a:endParaRPr lang="en-US" altLang="zh-CN" sz="2000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7825383" y="3520209"/>
            <a:ext cx="4292600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r>
              <a:rPr lang="en-US" altLang="zh-CN" dirty="0">
                <a:ea typeface="宋体" pitchFamily="2" charset="-122"/>
              </a:rPr>
              <a:t>If   T(N) = </a:t>
            </a:r>
            <a:r>
              <a:rPr lang="en-US" altLang="zh-CN" dirty="0" err="1">
                <a:ea typeface="宋体" pitchFamily="2" charset="-122"/>
              </a:rPr>
              <a:t>c</a:t>
            </a:r>
            <a:r>
              <a:rPr lang="en-US" altLang="zh-CN" baseline="-25000" dirty="0" err="1">
                <a:ea typeface="宋体" pitchFamily="2" charset="-122"/>
              </a:rPr>
              <a:t>k</a:t>
            </a:r>
            <a:r>
              <a:rPr lang="en-US" altLang="zh-CN" dirty="0" err="1">
                <a:ea typeface="宋体" pitchFamily="2" charset="-122"/>
              </a:rPr>
              <a:t>N</a:t>
            </a:r>
            <a:r>
              <a:rPr lang="en-US" altLang="zh-CN" baseline="30000" dirty="0" err="1">
                <a:ea typeface="宋体" pitchFamily="2" charset="-122"/>
              </a:rPr>
              <a:t>k</a:t>
            </a:r>
            <a:r>
              <a:rPr lang="en-US" altLang="zh-CN" dirty="0">
                <a:ea typeface="宋体" pitchFamily="2" charset="-122"/>
              </a:rPr>
              <a:t>   + c</a:t>
            </a:r>
            <a:r>
              <a:rPr lang="en-US" altLang="zh-CN" baseline="-25000" dirty="0">
                <a:ea typeface="宋体" pitchFamily="2" charset="-122"/>
              </a:rPr>
              <a:t>k-1</a:t>
            </a:r>
            <a:r>
              <a:rPr lang="en-US" altLang="zh-CN" dirty="0">
                <a:ea typeface="宋体" pitchFamily="2" charset="-122"/>
              </a:rPr>
              <a:t>N</a:t>
            </a:r>
            <a:r>
              <a:rPr lang="en-US" altLang="zh-CN" baseline="30000" dirty="0">
                <a:ea typeface="宋体" pitchFamily="2" charset="-122"/>
              </a:rPr>
              <a:t>k-1</a:t>
            </a:r>
            <a:r>
              <a:rPr lang="en-US" altLang="zh-CN" dirty="0">
                <a:ea typeface="宋体" pitchFamily="2" charset="-122"/>
              </a:rPr>
              <a:t>    +   ...   +  c</a:t>
            </a:r>
            <a:r>
              <a:rPr lang="en-US" altLang="zh-CN" baseline="-25000" dirty="0">
                <a:ea typeface="宋体" pitchFamily="2" charset="-122"/>
              </a:rPr>
              <a:t>0</a:t>
            </a:r>
            <a:r>
              <a:rPr lang="en-US" altLang="zh-CN" dirty="0">
                <a:ea typeface="宋体" pitchFamily="2" charset="-122"/>
              </a:rPr>
              <a:t> .</a:t>
            </a:r>
            <a:endParaRPr lang="en-US" altLang="zh-CN" dirty="0">
              <a:ea typeface="宋体" pitchFamily="2" charset="-122"/>
            </a:endParaRPr>
          </a:p>
          <a:p>
            <a:endParaRPr lang="en-US" altLang="zh-CN" dirty="0">
              <a:ea typeface="宋体" pitchFamily="2" charset="-122"/>
            </a:endParaRPr>
          </a:p>
          <a:p>
            <a:r>
              <a:rPr lang="en-US" altLang="zh-CN" dirty="0">
                <a:ea typeface="宋体" pitchFamily="2" charset="-122"/>
              </a:rPr>
              <a:t>T(N) = O(</a:t>
            </a:r>
            <a:r>
              <a:rPr lang="en-US" altLang="zh-CN" dirty="0" err="1">
                <a:ea typeface="宋体" pitchFamily="2" charset="-122"/>
              </a:rPr>
              <a:t>N</a:t>
            </a:r>
            <a:r>
              <a:rPr lang="en-US" altLang="zh-CN" baseline="30000" dirty="0" err="1">
                <a:ea typeface="宋体" pitchFamily="2" charset="-122"/>
              </a:rPr>
              <a:t>k</a:t>
            </a:r>
            <a:r>
              <a:rPr lang="en-US" altLang="zh-CN" dirty="0">
                <a:ea typeface="宋体" pitchFamily="2" charset="-122"/>
              </a:rPr>
              <a:t>).</a:t>
            </a:r>
            <a:endParaRPr lang="en-US" altLang="zh-CN" dirty="0">
              <a:ea typeface="宋体" pitchFamily="2" charset="-122"/>
            </a:endParaRPr>
          </a:p>
          <a:p>
            <a:endParaRPr lang="en-US" altLang="zh-CN" dirty="0">
              <a:ea typeface="宋体" pitchFamily="2" charset="-122"/>
            </a:endParaRPr>
          </a:p>
          <a:p>
            <a:r>
              <a:rPr lang="en-US" altLang="zh-CN" dirty="0" err="1">
                <a:ea typeface="宋体" pitchFamily="2" charset="-122"/>
              </a:rPr>
              <a:t>N</a:t>
            </a:r>
            <a:r>
              <a:rPr lang="en-US" altLang="zh-CN" baseline="30000" dirty="0" err="1">
                <a:ea typeface="宋体" pitchFamily="2" charset="-122"/>
              </a:rPr>
              <a:t>k</a:t>
            </a:r>
            <a:r>
              <a:rPr lang="en-US" altLang="zh-CN" dirty="0">
                <a:ea typeface="宋体" pitchFamily="2" charset="-122"/>
              </a:rPr>
              <a:t> is the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dominant term</a:t>
            </a:r>
            <a:r>
              <a:rPr lang="en-US" altLang="zh-CN" dirty="0">
                <a:ea typeface="宋体" pitchFamily="2" charset="-122"/>
              </a:rPr>
              <a:t>.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6" grpId="0" animBg="1"/>
      <p:bldP spid="6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1627644" y="588056"/>
            <a:ext cx="642175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600" b="1" dirty="0">
                <a:solidFill>
                  <a:srgbClr val="FF3300"/>
                </a:solidFill>
              </a:rPr>
              <a:t>“Common Functions to Use”</a:t>
            </a:r>
            <a:endParaRPr lang="en-US" altLang="zh-CN" sz="3600" b="1" dirty="0">
              <a:solidFill>
                <a:srgbClr val="FF3300"/>
              </a:solidFill>
              <a:ea typeface="宋体" pitchFamily="2" charset="-122"/>
            </a:endParaRP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3528820" y="1464527"/>
            <a:ext cx="4396105" cy="1630045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Suppose we get T(N) = 4N</a:t>
            </a:r>
            <a:r>
              <a:rPr lang="en-US" altLang="zh-CN" sz="2000" baseline="30000" dirty="0">
                <a:solidFill>
                  <a:srgbClr val="990099"/>
                </a:solidFill>
                <a:ea typeface="宋体" pitchFamily="2" charset="-122"/>
              </a:rPr>
              <a:t>2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 + 3N + 6.</a:t>
            </a:r>
            <a:endParaRPr lang="en-US" altLang="zh-CN" sz="2000" dirty="0">
              <a:solidFill>
                <a:srgbClr val="990099"/>
              </a:solidFill>
              <a:ea typeface="宋体" pitchFamily="2" charset="-122"/>
            </a:endParaRPr>
          </a:p>
          <a:p>
            <a:endParaRPr lang="en-US" altLang="zh-CN" sz="2000" dirty="0">
              <a:solidFill>
                <a:srgbClr val="990099"/>
              </a:solidFill>
              <a:ea typeface="宋体" pitchFamily="2" charset="-122"/>
            </a:endParaRPr>
          </a:p>
          <a:p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Is T(N) = O(N</a:t>
            </a:r>
            <a:r>
              <a:rPr lang="en-US" altLang="zh-CN" sz="2000" baseline="30000" dirty="0">
                <a:solidFill>
                  <a:srgbClr val="990099"/>
                </a:solidFill>
                <a:ea typeface="宋体" pitchFamily="2" charset="-122"/>
              </a:rPr>
              <a:t>2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)?</a:t>
            </a:r>
            <a:endParaRPr lang="en-US" altLang="zh-CN" sz="2000" dirty="0">
              <a:solidFill>
                <a:srgbClr val="990099"/>
              </a:solidFill>
              <a:ea typeface="宋体" pitchFamily="2" charset="-122"/>
            </a:endParaRPr>
          </a:p>
          <a:p>
            <a:endParaRPr lang="en-US" altLang="zh-CN" sz="2000" dirty="0">
              <a:solidFill>
                <a:srgbClr val="990099"/>
              </a:solidFill>
              <a:ea typeface="宋体" pitchFamily="2" charset="-122"/>
            </a:endParaRPr>
          </a:p>
          <a:p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Is T(N) = O(N</a:t>
            </a:r>
            <a:r>
              <a:rPr lang="en-US" altLang="zh-CN" sz="2000" baseline="30000" dirty="0">
                <a:solidFill>
                  <a:srgbClr val="990099"/>
                </a:solidFill>
                <a:ea typeface="宋体" pitchFamily="2" charset="-122"/>
              </a:rPr>
              <a:t>3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)?</a:t>
            </a:r>
            <a:endParaRPr lang="en-US" altLang="zh-CN" sz="2000" dirty="0">
              <a:solidFill>
                <a:srgbClr val="990099"/>
              </a:solidFill>
              <a:ea typeface="宋体" pitchFamily="2" charset="-12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092450" y="3500120"/>
            <a:ext cx="6186805" cy="857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3333CC"/>
                </a:solidFill>
                <a:latin typeface="Times New Roman" panose="02020603050405020304" pitchFamily="18" charset="0"/>
              </a:rPr>
              <a:t>Generally, we look for the </a:t>
            </a:r>
            <a:r>
              <a:rPr lang="en-US" altLang="zh-CN" sz="2000" dirty="0">
                <a:solidFill>
                  <a:srgbClr val="FF3300"/>
                </a:solidFill>
                <a:latin typeface="Times New Roman" panose="02020603050405020304" pitchFamily="18" charset="0"/>
              </a:rPr>
              <a:t>smallest</a:t>
            </a:r>
            <a:r>
              <a:rPr lang="en-US" altLang="zh-CN" sz="2000" dirty="0">
                <a:solidFill>
                  <a:srgbClr val="3333CC"/>
                </a:solidFill>
                <a:latin typeface="Times New Roman" panose="02020603050405020304" pitchFamily="18" charset="0"/>
              </a:rPr>
              <a:t> f(N) that bounds T(N).</a:t>
            </a:r>
            <a:endParaRPr lang="en-US" altLang="zh-CN" sz="2000" dirty="0">
              <a:solidFill>
                <a:srgbClr val="3333CC"/>
              </a:solidFill>
              <a:latin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980" dirty="0">
              <a:solidFill>
                <a:srgbClr val="3333CC"/>
              </a:solidFill>
              <a:latin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3333CC"/>
                </a:solidFill>
                <a:latin typeface="Times New Roman" panose="02020603050405020304" pitchFamily="18" charset="0"/>
              </a:rPr>
              <a:t>We want a common function that is a </a:t>
            </a:r>
            <a:r>
              <a:rPr lang="en-US" altLang="zh-CN" sz="2000" dirty="0">
                <a:solidFill>
                  <a:srgbClr val="FF3300"/>
                </a:solidFill>
                <a:latin typeface="Times New Roman" panose="02020603050405020304" pitchFamily="18" charset="0"/>
              </a:rPr>
              <a:t>least upper bound.</a:t>
            </a:r>
            <a:endParaRPr lang="en-US" altLang="zh-CN" sz="2000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5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How </a:t>
            </a:r>
            <a:r>
              <a:rPr lang="en-US" altLang="zh-CN" dirty="0"/>
              <a:t>to Analyze</a:t>
            </a:r>
            <a:endParaRPr lang="en-US" altLang="zh-CN" dirty="0"/>
          </a:p>
        </p:txBody>
      </p:sp>
      <p:sp>
        <p:nvSpPr>
          <p:cNvPr id="70659" name="内容占位符 4"/>
          <p:cNvSpPr>
            <a:spLocks noGrp="1"/>
          </p:cNvSpPr>
          <p:nvPr>
            <p:ph idx="1"/>
          </p:nvPr>
        </p:nvSpPr>
        <p:spPr>
          <a:xfrm>
            <a:off x="2268220" y="1583055"/>
            <a:ext cx="8710930" cy="1742440"/>
          </a:xfrm>
        </p:spPr>
        <p:txBody>
          <a:bodyPr>
            <a:noAutofit/>
          </a:bodyPr>
          <a:lstStyle/>
          <a:p>
            <a:r>
              <a:rPr lang="en-US" altLang="zh-CN" dirty="0" smtClean="0"/>
              <a:t>How to analyze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Asymptotic </a:t>
            </a:r>
            <a:r>
              <a:rPr lang="en-US" altLang="zh-CN" dirty="0"/>
              <a:t>algorithm analysis</a:t>
            </a:r>
            <a:endParaRPr lang="en-US" altLang="zh-CN" dirty="0"/>
          </a:p>
          <a:p>
            <a:pPr lvl="2"/>
            <a:r>
              <a:rPr lang="en-US" altLang="zh-CN" dirty="0"/>
              <a:t>Measures the efficiency of an algorithm, </a:t>
            </a:r>
            <a:r>
              <a:rPr lang="en-US" altLang="zh-CN" dirty="0" smtClean="0"/>
              <a:t>as </a:t>
            </a:r>
            <a:r>
              <a:rPr lang="en-US" altLang="zh-CN" dirty="0"/>
              <a:t>the input size becomes large – </a:t>
            </a:r>
            <a:r>
              <a:rPr lang="en-US" altLang="zh-CN" dirty="0">
                <a:solidFill>
                  <a:srgbClr val="FF0000"/>
                </a:solidFill>
              </a:rPr>
              <a:t>growth rate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pPr lvl="2"/>
            <a:endParaRPr lang="en-US" altLang="zh-CN" dirty="0"/>
          </a:p>
          <a:p>
            <a:pPr lvl="2"/>
            <a:r>
              <a:rPr lang="en-US" altLang="zh-CN" dirty="0">
                <a:solidFill>
                  <a:srgbClr val="008000"/>
                </a:solidFill>
              </a:rPr>
              <a:t>best-case</a:t>
            </a:r>
            <a:endParaRPr lang="en-US" altLang="zh-CN" dirty="0">
              <a:solidFill>
                <a:srgbClr val="008000"/>
              </a:solidFill>
            </a:endParaRPr>
          </a:p>
          <a:p>
            <a:pPr lvl="2"/>
            <a:endParaRPr lang="en-US" altLang="zh-CN" sz="750" dirty="0">
              <a:solidFill>
                <a:srgbClr val="008000"/>
              </a:solidFill>
            </a:endParaRPr>
          </a:p>
          <a:p>
            <a:pPr lvl="2"/>
            <a:r>
              <a:rPr lang="en-US" altLang="zh-CN" dirty="0" smtClean="0">
                <a:solidFill>
                  <a:srgbClr val="5252D4"/>
                </a:solidFill>
              </a:rPr>
              <a:t>average-case</a:t>
            </a:r>
            <a:endParaRPr lang="en-US" altLang="zh-CN" dirty="0" smtClean="0">
              <a:solidFill>
                <a:srgbClr val="5252D4"/>
              </a:solidFill>
            </a:endParaRPr>
          </a:p>
          <a:p>
            <a:pPr lvl="2"/>
            <a:endParaRPr lang="en-US" altLang="zh-CN" sz="750" dirty="0"/>
          </a:p>
          <a:p>
            <a:pPr lvl="2"/>
            <a:r>
              <a:rPr lang="en-US" altLang="zh-CN" dirty="0" smtClean="0">
                <a:solidFill>
                  <a:srgbClr val="7030A0"/>
                </a:solidFill>
              </a:rPr>
              <a:t>worst-case</a:t>
            </a:r>
            <a:endParaRPr lang="en-US" altLang="zh-CN" dirty="0"/>
          </a:p>
          <a:p>
            <a:pPr lvl="2"/>
            <a:endParaRPr lang="en-US" altLang="zh-CN" dirty="0"/>
          </a:p>
          <a:p>
            <a:pPr lvl="4"/>
            <a:endParaRPr lang="en-US" altLang="zh-CN" sz="1200" dirty="0"/>
          </a:p>
        </p:txBody>
      </p:sp>
      <p:sp>
        <p:nvSpPr>
          <p:cNvPr id="706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167FE05-B472-4BAE-8045-296709068849}" type="slidenum">
              <a:rPr lang="zh-CN" altLang="en-US" sz="900" smtClean="0"/>
            </a:fld>
            <a:endParaRPr lang="zh-CN" altLang="en-US" sz="900" smtClean="0"/>
          </a:p>
        </p:txBody>
      </p:sp>
      <p:sp>
        <p:nvSpPr>
          <p:cNvPr id="5" name="矩形 4"/>
          <p:cNvSpPr/>
          <p:nvPr/>
        </p:nvSpPr>
        <p:spPr>
          <a:xfrm>
            <a:off x="5170789" y="3385179"/>
            <a:ext cx="244729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often of little interest</a:t>
            </a:r>
            <a:endParaRPr lang="en-US" altLang="zh-CN" sz="20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49850" y="3788410"/>
            <a:ext cx="34607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5252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often </a:t>
            </a:r>
            <a:r>
              <a:rPr lang="en-US" altLang="zh-CN" sz="2000" dirty="0">
                <a:solidFill>
                  <a:srgbClr val="5252D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reflects typical behavior</a:t>
            </a:r>
            <a:endParaRPr lang="en-US" altLang="zh-CN" sz="2000" dirty="0">
              <a:solidFill>
                <a:srgbClr val="5252D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49850" y="4264025"/>
            <a:ext cx="443801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represents </a:t>
            </a:r>
            <a:r>
              <a:rPr lang="en-US" altLang="zh-C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0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guarantee for </a:t>
            </a:r>
            <a:r>
              <a:rPr lang="en-US" altLang="zh-CN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on any possible input.</a:t>
            </a:r>
            <a:endParaRPr lang="en-US" altLang="zh-CN"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185160" y="5367655"/>
            <a:ext cx="5530215" cy="706755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Need to know enough about the input data distribution </a:t>
            </a:r>
            <a:r>
              <a:rPr lang="en-US" altLang="zh-CN" sz="2000" dirty="0" smtClean="0">
                <a:solidFill>
                  <a:srgbClr val="FF0000"/>
                </a:solidFill>
              </a:rPr>
              <a:t>to do average-case analysis</a:t>
            </a:r>
            <a:endParaRPr lang="en-US" altLang="zh-CN" sz="20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4" grpId="0"/>
      <p:bldP spid="6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557530" y="198120"/>
            <a:ext cx="10515600" cy="1325563"/>
          </a:xfrm>
        </p:spPr>
        <p:txBody>
          <a:bodyPr/>
          <a:lstStyle/>
          <a:p>
            <a:r>
              <a:rPr lang="en-US" altLang="zh-CN" dirty="0" smtClean="0"/>
              <a:t>How </a:t>
            </a:r>
            <a:r>
              <a:rPr lang="en-US" altLang="zh-CN" dirty="0"/>
              <a:t>to Analyze</a:t>
            </a:r>
            <a:endParaRPr lang="en-US" altLang="zh-CN" dirty="0"/>
          </a:p>
        </p:txBody>
      </p:sp>
      <p:sp>
        <p:nvSpPr>
          <p:cNvPr id="706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167FE05-B472-4BAE-8045-296709068849}" type="slidenum">
              <a:rPr lang="zh-CN" altLang="en-US" sz="900" smtClean="0"/>
            </a:fld>
            <a:endParaRPr lang="zh-CN" altLang="en-US" sz="900" smtClean="0"/>
          </a:p>
        </p:txBody>
      </p:sp>
      <p:sp>
        <p:nvSpPr>
          <p:cNvPr id="2" name="矩形 1"/>
          <p:cNvSpPr/>
          <p:nvPr/>
        </p:nvSpPr>
        <p:spPr>
          <a:xfrm>
            <a:off x="557530" y="1309370"/>
            <a:ext cx="11301095" cy="5481955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</a:rPr>
              <a:t>Given an array containing </a:t>
            </a:r>
            <a:r>
              <a:rPr lang="en-US" altLang="zh-CN" sz="2400" b="1" dirty="0">
                <a:solidFill>
                  <a:srgbClr val="008000"/>
                </a:solidFill>
                <a:ea typeface="宋体" pitchFamily="2" charset="-122"/>
              </a:rPr>
              <a:t>n</a:t>
            </a:r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</a:rPr>
              <a:t> integers, suppose the sequential search algorithm is </a:t>
            </a:r>
            <a:r>
              <a:rPr lang="en-US" altLang="zh-CN" sz="2400" dirty="0" smtClean="0">
                <a:solidFill>
                  <a:srgbClr val="990099"/>
                </a:solidFill>
                <a:ea typeface="宋体" pitchFamily="2" charset="-122"/>
              </a:rPr>
              <a:t>adopted</a:t>
            </a:r>
            <a:r>
              <a:rPr lang="zh-CN" altLang="en-US" sz="2400" dirty="0" smtClean="0">
                <a:solidFill>
                  <a:srgbClr val="990099"/>
                </a:solidFill>
                <a:ea typeface="宋体" pitchFamily="2" charset="-122"/>
              </a:rPr>
              <a:t>；c</a:t>
            </a:r>
            <a:r>
              <a:rPr lang="en-US" altLang="zh-CN" sz="2400" dirty="0" smtClean="0">
                <a:solidFill>
                  <a:srgbClr val="990099"/>
                </a:solidFill>
                <a:ea typeface="宋体" pitchFamily="2" charset="-122"/>
              </a:rPr>
              <a:t> is</a:t>
            </a:r>
            <a:r>
              <a:rPr lang="zh-CN" altLang="en-US" sz="2400" dirty="0" smtClean="0">
                <a:solidFill>
                  <a:srgbClr val="990099"/>
                </a:solidFill>
                <a:ea typeface="宋体" pitchFamily="2" charset="-122"/>
              </a:rPr>
              <a:t> the amount of time required to compare two integers。</a:t>
            </a:r>
            <a:endParaRPr lang="en-US" altLang="zh-CN" sz="2400" dirty="0" smtClean="0">
              <a:solidFill>
                <a:srgbClr val="990099"/>
              </a:solidFill>
              <a:ea typeface="宋体" pitchFamily="2" charset="-122"/>
            </a:endParaRPr>
          </a:p>
          <a:p>
            <a:endParaRPr lang="en-US" altLang="zh-CN" sz="2400" dirty="0">
              <a:solidFill>
                <a:srgbClr val="990099"/>
              </a:solidFill>
              <a:ea typeface="宋体" pitchFamily="2" charset="-122"/>
            </a:endParaRPr>
          </a:p>
          <a:p>
            <a:r>
              <a:rPr lang="en-US" altLang="zh-CN" sz="2400" dirty="0" smtClean="0">
                <a:solidFill>
                  <a:srgbClr val="990099"/>
                </a:solidFill>
              </a:rPr>
              <a:t>Q1: The </a:t>
            </a:r>
            <a:r>
              <a:rPr lang="en-US" altLang="zh-CN" sz="2400" dirty="0">
                <a:solidFill>
                  <a:srgbClr val="990099"/>
                </a:solidFill>
              </a:rPr>
              <a:t>cost of finding the largest value </a:t>
            </a:r>
            <a:endParaRPr lang="en-US" altLang="zh-CN" sz="2400" dirty="0" smtClean="0">
              <a:solidFill>
                <a:srgbClr val="990099"/>
              </a:solidFill>
            </a:endParaRPr>
          </a:p>
          <a:p>
            <a:r>
              <a:rPr lang="en-US" altLang="zh-CN" sz="2400" dirty="0" smtClean="0">
                <a:solidFill>
                  <a:srgbClr val="990099"/>
                </a:solidFill>
                <a:ea typeface="宋体" pitchFamily="2" charset="-122"/>
              </a:rPr>
              <a:t>     </a:t>
            </a:r>
            <a:r>
              <a:rPr lang="en-US" altLang="zh-CN" sz="2800" dirty="0" smtClean="0">
                <a:solidFill>
                  <a:srgbClr val="990099"/>
                </a:solidFill>
                <a:ea typeface="宋体" pitchFamily="2" charset="-122"/>
              </a:rPr>
              <a:t>  </a:t>
            </a:r>
            <a:r>
              <a:rPr lang="en-US" altLang="zh-CN" sz="2000" dirty="0" smtClean="0">
                <a:solidFill>
                  <a:srgbClr val="008000"/>
                </a:solidFill>
              </a:rPr>
              <a:t>Always </a:t>
            </a:r>
            <a:r>
              <a:rPr lang="en-US" altLang="zh-CN" sz="2000" i="1" dirty="0" smtClean="0">
                <a:solidFill>
                  <a:srgbClr val="008000"/>
                </a:solidFill>
              </a:rPr>
              <a:t>c*</a:t>
            </a:r>
            <a:r>
              <a:rPr lang="en-US" altLang="zh-CN" sz="2000" dirty="0" smtClean="0">
                <a:solidFill>
                  <a:srgbClr val="008000"/>
                </a:solidFill>
              </a:rPr>
              <a:t>n</a:t>
            </a:r>
            <a:endParaRPr lang="en-US" altLang="zh-CN" dirty="0">
              <a:solidFill>
                <a:srgbClr val="008000"/>
              </a:solidFill>
              <a:ea typeface="宋体" pitchFamily="2" charset="-122"/>
            </a:endParaRPr>
          </a:p>
          <a:p>
            <a:endParaRPr lang="en-US" altLang="zh-CN" sz="2400" dirty="0">
              <a:solidFill>
                <a:srgbClr val="990099"/>
              </a:solidFill>
              <a:ea typeface="宋体" pitchFamily="2" charset="-122"/>
            </a:endParaRPr>
          </a:p>
          <a:p>
            <a:pPr marL="0" lvl="1"/>
            <a:r>
              <a:rPr lang="en-US" altLang="zh-CN" sz="2400" dirty="0" smtClean="0">
                <a:solidFill>
                  <a:srgbClr val="990099"/>
                </a:solidFill>
              </a:rPr>
              <a:t>Q2: The </a:t>
            </a:r>
            <a:r>
              <a:rPr lang="en-US" altLang="zh-CN" sz="2400" dirty="0">
                <a:solidFill>
                  <a:srgbClr val="990099"/>
                </a:solidFill>
              </a:rPr>
              <a:t>cost for finding a particular value K</a:t>
            </a:r>
            <a:endParaRPr lang="en-US" altLang="zh-CN" sz="2400" dirty="0">
              <a:solidFill>
                <a:srgbClr val="990099"/>
              </a:solidFill>
            </a:endParaRPr>
          </a:p>
          <a:p>
            <a:pPr lvl="1"/>
            <a:r>
              <a:rPr lang="en-US" altLang="zh-CN" sz="2000" dirty="0" smtClean="0">
                <a:solidFill>
                  <a:srgbClr val="008000"/>
                </a:solidFill>
              </a:rPr>
              <a:t>May </a:t>
            </a:r>
            <a:r>
              <a:rPr lang="en-US" altLang="zh-CN" sz="2000" dirty="0">
                <a:solidFill>
                  <a:srgbClr val="008000"/>
                </a:solidFill>
              </a:rPr>
              <a:t>be different for different </a:t>
            </a:r>
            <a:r>
              <a:rPr lang="en-US" altLang="zh-CN" sz="2000" dirty="0" smtClean="0">
                <a:solidFill>
                  <a:srgbClr val="008000"/>
                </a:solidFill>
              </a:rPr>
              <a:t>inputs</a:t>
            </a:r>
            <a:endParaRPr lang="en-US" altLang="zh-CN" sz="2000" dirty="0" smtClean="0">
              <a:solidFill>
                <a:srgbClr val="008000"/>
              </a:solidFill>
            </a:endParaRPr>
          </a:p>
          <a:p>
            <a:r>
              <a:rPr lang="en-US" altLang="zh-CN" sz="680" dirty="0" smtClean="0">
                <a:solidFill>
                  <a:srgbClr val="FF0000"/>
                </a:solidFill>
              </a:rPr>
              <a:t>        </a:t>
            </a:r>
            <a:endParaRPr lang="en-US" altLang="zh-CN" sz="680" dirty="0" smtClean="0">
              <a:solidFill>
                <a:srgbClr val="FF0000"/>
              </a:solidFill>
            </a:endParaRPr>
          </a:p>
          <a:p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      Best </a:t>
            </a:r>
            <a:r>
              <a:rPr lang="en-US" altLang="zh-CN" sz="2000" dirty="0">
                <a:solidFill>
                  <a:srgbClr val="FF0000"/>
                </a:solidFill>
              </a:rPr>
              <a:t>case: 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if the first integer is K – </a:t>
            </a:r>
            <a:r>
              <a:rPr lang="en-US" altLang="zh-CN" dirty="0">
                <a:solidFill>
                  <a:srgbClr val="FF0000"/>
                </a:solidFill>
              </a:rPr>
              <a:t>examine 1 value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sz="900" dirty="0" smtClean="0"/>
              <a:t>         </a:t>
            </a:r>
            <a:endParaRPr lang="en-US" altLang="zh-CN" sz="900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r>
              <a:rPr lang="en-US" altLang="zh-CN" sz="2000" dirty="0" smtClean="0">
                <a:solidFill>
                  <a:srgbClr val="5252D4"/>
                </a:solidFill>
              </a:rPr>
              <a:t>Worst </a:t>
            </a:r>
            <a:r>
              <a:rPr lang="en-US" altLang="zh-CN" sz="2000" dirty="0">
                <a:solidFill>
                  <a:srgbClr val="5252D4"/>
                </a:solidFill>
              </a:rPr>
              <a:t>case: </a:t>
            </a:r>
            <a:endParaRPr lang="en-US" altLang="zh-CN" dirty="0">
              <a:solidFill>
                <a:srgbClr val="5252D4"/>
              </a:solidFill>
            </a:endParaRPr>
          </a:p>
          <a:p>
            <a:pPr lvl="1"/>
            <a:r>
              <a:rPr lang="en-US" altLang="zh-CN" dirty="0"/>
              <a:t>if only the last integer is K – </a:t>
            </a:r>
            <a:r>
              <a:rPr lang="en-US" altLang="zh-CN" dirty="0">
                <a:solidFill>
                  <a:srgbClr val="FF0000"/>
                </a:solidFill>
              </a:rPr>
              <a:t>examine n values</a:t>
            </a:r>
            <a:r>
              <a:rPr lang="en-US" altLang="zh-CN" dirty="0"/>
              <a:t> </a:t>
            </a:r>
            <a:endParaRPr lang="en-US" altLang="zh-CN" dirty="0"/>
          </a:p>
          <a:p>
            <a:endParaRPr lang="en-US" altLang="zh-CN" sz="1050" dirty="0" smtClean="0"/>
          </a:p>
          <a:p>
            <a:r>
              <a:rPr lang="en-US" altLang="zh-CN" dirty="0" smtClean="0"/>
              <a:t>      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rgbClr val="CC0000"/>
                </a:solidFill>
              </a:rPr>
              <a:t>Average case:</a:t>
            </a:r>
            <a:endParaRPr lang="en-US" altLang="zh-CN" dirty="0">
              <a:solidFill>
                <a:srgbClr val="CC0000"/>
              </a:solidFill>
            </a:endParaRPr>
          </a:p>
          <a:p>
            <a:pPr lvl="1"/>
            <a:r>
              <a:rPr lang="en-US" altLang="zh-CN" dirty="0"/>
              <a:t>If the sequential search is performed on different inputs for many times – </a:t>
            </a:r>
            <a:r>
              <a:rPr lang="en-US" altLang="zh-CN" dirty="0">
                <a:solidFill>
                  <a:srgbClr val="FF0000"/>
                </a:solidFill>
              </a:rPr>
              <a:t>examine n/2 values on average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</a:t>
            </a:r>
            <a:r>
              <a:rPr lang="en-US" altLang="zh-CN" dirty="0" smtClean="0"/>
              <a:t>Analyze</a:t>
            </a:r>
            <a:endParaRPr lang="zh-CN" altLang="en-US" dirty="0" smtClean="0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FAAB01A5-5DC3-4A33-B607-6D7D7EB27709}" type="slidenum">
              <a:rPr lang="zh-CN" altLang="en-US" sz="900" smtClean="0"/>
            </a:fld>
            <a:endParaRPr lang="zh-CN" altLang="en-US" sz="900" smtClean="0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3141345" y="1586230"/>
            <a:ext cx="5120005" cy="9220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  <a:ea typeface="宋体" pitchFamily="2" charset="-122"/>
              </a:rPr>
              <a:t>Step 1.  </a:t>
            </a:r>
            <a:r>
              <a:rPr lang="en-US" altLang="zh-CN" sz="2000" dirty="0">
                <a:solidFill>
                  <a:srgbClr val="008000"/>
                </a:solidFill>
                <a:ea typeface="宋体" pitchFamily="2" charset="-122"/>
              </a:rPr>
              <a:t>Calculate T(N)</a:t>
            </a:r>
            <a:endParaRPr lang="en-US" altLang="zh-CN" sz="2000" dirty="0">
              <a:solidFill>
                <a:srgbClr val="008000"/>
              </a:solidFill>
              <a:ea typeface="宋体" pitchFamily="2" charset="-122"/>
            </a:endParaRPr>
          </a:p>
          <a:p>
            <a:endParaRPr lang="en-US" altLang="zh-CN" sz="1400" dirty="0">
              <a:ea typeface="宋体" pitchFamily="2" charset="-122"/>
            </a:endParaRPr>
          </a:p>
          <a:p>
            <a:r>
              <a:rPr lang="en-US" altLang="zh-CN" sz="2000" dirty="0">
                <a:solidFill>
                  <a:srgbClr val="5252D4"/>
                </a:solidFill>
                <a:ea typeface="宋体" pitchFamily="2" charset="-122"/>
              </a:rPr>
              <a:t>Step 2.  Simplifying O(f(N))</a:t>
            </a:r>
            <a:endParaRPr lang="en-US" altLang="zh-CN" sz="2000" dirty="0">
              <a:solidFill>
                <a:srgbClr val="5252D4"/>
              </a:solidFill>
              <a:ea typeface="宋体" pitchFamily="2" charset="-122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3542665" y="2596515"/>
            <a:ext cx="4497705" cy="224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ea typeface="宋体" pitchFamily="2" charset="-122"/>
              </a:rPr>
              <a:t>//Loop</a:t>
            </a:r>
            <a:endParaRPr lang="en-US" altLang="zh-CN" sz="2000" dirty="0">
              <a:ea typeface="宋体" pitchFamily="2" charset="-122"/>
            </a:endParaRPr>
          </a:p>
          <a:p>
            <a:r>
              <a:rPr lang="en-US" altLang="zh-CN" sz="2000" dirty="0" err="1">
                <a:solidFill>
                  <a:srgbClr val="990099"/>
                </a:solidFill>
                <a:ea typeface="宋体" pitchFamily="2" charset="-122"/>
              </a:rPr>
              <a:t>int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 </a:t>
            </a:r>
            <a:r>
              <a:rPr lang="en-US" altLang="zh-CN" sz="2000" dirty="0" err="1">
                <a:solidFill>
                  <a:srgbClr val="990099"/>
                </a:solidFill>
                <a:ea typeface="宋体" pitchFamily="2" charset="-122"/>
              </a:rPr>
              <a:t>sumit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( </a:t>
            </a:r>
            <a:r>
              <a:rPr lang="en-US" altLang="zh-CN" sz="2000" dirty="0" err="1">
                <a:solidFill>
                  <a:srgbClr val="990099"/>
                </a:solidFill>
                <a:ea typeface="宋体" pitchFamily="2" charset="-122"/>
              </a:rPr>
              <a:t>int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 v[ ],  </a:t>
            </a:r>
            <a:r>
              <a:rPr lang="en-US" altLang="zh-CN" sz="2000" dirty="0" err="1">
                <a:solidFill>
                  <a:srgbClr val="990099"/>
                </a:solidFill>
                <a:ea typeface="宋体" pitchFamily="2" charset="-122"/>
              </a:rPr>
              <a:t>int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 </a:t>
            </a:r>
            <a:r>
              <a:rPr lang="en-US" altLang="zh-CN" sz="2000" dirty="0" err="1">
                <a:solidFill>
                  <a:srgbClr val="990099"/>
                </a:solidFill>
                <a:ea typeface="宋体" pitchFamily="2" charset="-122"/>
              </a:rPr>
              <a:t>num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)  {</a:t>
            </a:r>
            <a:endParaRPr lang="en-US" altLang="zh-CN" sz="2000" dirty="0">
              <a:solidFill>
                <a:srgbClr val="990099"/>
              </a:solidFill>
              <a:ea typeface="宋体" pitchFamily="2" charset="-122"/>
            </a:endParaRPr>
          </a:p>
          <a:p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   sum = 0; </a:t>
            </a:r>
            <a:r>
              <a:rPr lang="en-US" altLang="zh-CN" sz="2000" dirty="0" smtClean="0">
                <a:solidFill>
                  <a:srgbClr val="990099"/>
                </a:solidFill>
                <a:ea typeface="宋体" pitchFamily="2" charset="-122"/>
              </a:rPr>
              <a:t>                                           </a:t>
            </a:r>
            <a:endParaRPr lang="en-US" altLang="zh-CN" sz="2000" dirty="0" smtClean="0">
              <a:solidFill>
                <a:srgbClr val="008000"/>
              </a:solidFill>
              <a:ea typeface="宋体" pitchFamily="2" charset="-122"/>
            </a:endParaRPr>
          </a:p>
          <a:p>
            <a:r>
              <a:rPr lang="en-US" altLang="zh-CN" sz="2000" dirty="0" smtClean="0">
                <a:solidFill>
                  <a:srgbClr val="990099"/>
                </a:solidFill>
                <a:ea typeface="宋体" pitchFamily="2" charset="-122"/>
              </a:rPr>
              <a:t>   for (</a:t>
            </a:r>
            <a:r>
              <a:rPr lang="en-US" altLang="zh-CN" sz="2000" dirty="0" err="1" smtClean="0">
                <a:solidFill>
                  <a:srgbClr val="990099"/>
                </a:solidFill>
                <a:ea typeface="宋体" pitchFamily="2" charset="-122"/>
              </a:rPr>
              <a:t>i</a:t>
            </a:r>
            <a:r>
              <a:rPr lang="en-US" altLang="zh-CN" sz="2000" dirty="0" smtClean="0">
                <a:solidFill>
                  <a:srgbClr val="990099"/>
                </a:solidFill>
                <a:ea typeface="宋体" pitchFamily="2" charset="-122"/>
              </a:rPr>
              <a:t> = 0;  </a:t>
            </a:r>
            <a:r>
              <a:rPr lang="en-US" altLang="zh-CN" sz="2000" dirty="0" err="1" smtClean="0">
                <a:solidFill>
                  <a:srgbClr val="990099"/>
                </a:solidFill>
                <a:ea typeface="宋体" pitchFamily="2" charset="-122"/>
              </a:rPr>
              <a:t>i</a:t>
            </a:r>
            <a:r>
              <a:rPr lang="en-US" altLang="zh-CN" sz="2000" dirty="0" smtClean="0">
                <a:solidFill>
                  <a:srgbClr val="990099"/>
                </a:solidFill>
                <a:ea typeface="宋体" pitchFamily="2" charset="-122"/>
              </a:rPr>
              <a:t>  &lt;  </a:t>
            </a:r>
            <a:r>
              <a:rPr lang="en-US" altLang="zh-CN" sz="2000" dirty="0" err="1" smtClean="0">
                <a:solidFill>
                  <a:srgbClr val="990099"/>
                </a:solidFill>
                <a:ea typeface="宋体" pitchFamily="2" charset="-122"/>
              </a:rPr>
              <a:t>num</a:t>
            </a:r>
            <a:r>
              <a:rPr lang="en-US" altLang="zh-CN" sz="2000" dirty="0" smtClean="0">
                <a:solidFill>
                  <a:srgbClr val="990099"/>
                </a:solidFill>
                <a:ea typeface="宋体" pitchFamily="2" charset="-122"/>
              </a:rPr>
              <a:t>;  </a:t>
            </a:r>
            <a:r>
              <a:rPr lang="en-US" altLang="zh-CN" sz="2000" dirty="0" err="1" smtClean="0">
                <a:solidFill>
                  <a:srgbClr val="990099"/>
                </a:solidFill>
                <a:ea typeface="宋体" pitchFamily="2" charset="-122"/>
              </a:rPr>
              <a:t>i</a:t>
            </a:r>
            <a:r>
              <a:rPr lang="en-US" altLang="zh-CN" sz="2000" dirty="0" smtClean="0">
                <a:solidFill>
                  <a:srgbClr val="990099"/>
                </a:solidFill>
                <a:ea typeface="宋体" pitchFamily="2" charset="-122"/>
              </a:rPr>
              <a:t>++) </a:t>
            </a:r>
            <a:endParaRPr lang="en-US" altLang="zh-CN" sz="2000" dirty="0" smtClean="0">
              <a:solidFill>
                <a:srgbClr val="008000"/>
              </a:solidFill>
              <a:ea typeface="宋体" pitchFamily="2" charset="-122"/>
            </a:endParaRPr>
          </a:p>
          <a:p>
            <a:r>
              <a:rPr lang="en-US" altLang="zh-CN" sz="2000" dirty="0" smtClean="0">
                <a:solidFill>
                  <a:srgbClr val="990099"/>
                </a:solidFill>
                <a:ea typeface="宋体" pitchFamily="2" charset="-122"/>
              </a:rPr>
              <a:t>      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sum = sum + v[</a:t>
            </a:r>
            <a:r>
              <a:rPr lang="en-US" altLang="zh-CN" sz="2000" dirty="0" err="1">
                <a:solidFill>
                  <a:srgbClr val="990099"/>
                </a:solidFill>
                <a:ea typeface="宋体" pitchFamily="2" charset="-122"/>
              </a:rPr>
              <a:t>i</a:t>
            </a:r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]; </a:t>
            </a:r>
            <a:endParaRPr lang="en-US" altLang="zh-CN" sz="2000" dirty="0">
              <a:solidFill>
                <a:srgbClr val="008000"/>
              </a:solidFill>
              <a:ea typeface="宋体" pitchFamily="2" charset="-122"/>
            </a:endParaRPr>
          </a:p>
          <a:p>
            <a:r>
              <a:rPr lang="en-US" altLang="zh-CN" sz="2000" dirty="0">
                <a:solidFill>
                  <a:srgbClr val="990099"/>
                </a:solidFill>
                <a:ea typeface="宋体" pitchFamily="2" charset="-122"/>
              </a:rPr>
              <a:t>   return </a:t>
            </a:r>
            <a:r>
              <a:rPr lang="en-US" altLang="zh-CN" sz="2000" dirty="0" smtClean="0">
                <a:solidFill>
                  <a:srgbClr val="990099"/>
                </a:solidFill>
                <a:ea typeface="宋体" pitchFamily="2" charset="-122"/>
              </a:rPr>
              <a:t>sum</a:t>
            </a:r>
            <a:endParaRPr lang="en-US" altLang="zh-CN" sz="2000" dirty="0" smtClean="0">
              <a:solidFill>
                <a:srgbClr val="990099"/>
              </a:solidFill>
              <a:ea typeface="宋体" pitchFamily="2" charset="-122"/>
            </a:endParaRPr>
          </a:p>
          <a:p>
            <a:r>
              <a:rPr lang="en-US" altLang="zh-CN" sz="2000" dirty="0" smtClean="0">
                <a:solidFill>
                  <a:srgbClr val="990099"/>
                </a:solidFill>
                <a:ea typeface="宋体" pitchFamily="2" charset="-122"/>
              </a:rPr>
              <a:t>}</a:t>
            </a:r>
            <a:endParaRPr lang="en-US" altLang="zh-CN" sz="2000" dirty="0" smtClean="0">
              <a:solidFill>
                <a:srgbClr val="990099"/>
              </a:solidFill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73743" y="4871775"/>
            <a:ext cx="3386027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T(</a:t>
            </a:r>
            <a:r>
              <a:rPr lang="en-US" altLang="zh-CN" sz="2000" b="1" dirty="0" err="1">
                <a:solidFill>
                  <a:srgbClr val="FF0000"/>
                </a:solidFill>
              </a:rPr>
              <a:t>num</a:t>
            </a:r>
            <a:r>
              <a:rPr lang="en-US" altLang="zh-CN" sz="2000" b="1" dirty="0">
                <a:solidFill>
                  <a:srgbClr val="FF0000"/>
                </a:solidFill>
              </a:rPr>
              <a:t>) = (c2 + c3)* </a:t>
            </a:r>
            <a:r>
              <a:rPr lang="en-US" altLang="zh-CN" sz="2000" b="1" dirty="0" err="1">
                <a:solidFill>
                  <a:srgbClr val="FF0000"/>
                </a:solidFill>
              </a:rPr>
              <a:t>num</a:t>
            </a:r>
            <a:r>
              <a:rPr lang="en-US" altLang="zh-CN" sz="2000" b="1" dirty="0">
                <a:solidFill>
                  <a:srgbClr val="FF0000"/>
                </a:solidFill>
              </a:rPr>
              <a:t> + (c1 + c4)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en-US" altLang="zh-CN" sz="2000" b="1" dirty="0">
                <a:solidFill>
                  <a:srgbClr val="FF0000"/>
                </a:solidFill>
              </a:rPr>
              <a:t>          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</a:rPr>
              <a:t>=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 k1 </a:t>
            </a:r>
            <a:r>
              <a:rPr lang="en-US" altLang="zh-CN" sz="2000" b="1" dirty="0">
                <a:solidFill>
                  <a:srgbClr val="FF0000"/>
                </a:solidFill>
              </a:rPr>
              <a:t>* </a:t>
            </a:r>
            <a:r>
              <a:rPr lang="en-US" altLang="zh-CN" sz="2000" b="1" dirty="0" err="1">
                <a:solidFill>
                  <a:srgbClr val="FF0000"/>
                </a:solidFill>
              </a:rPr>
              <a:t>num</a:t>
            </a:r>
            <a:r>
              <a:rPr lang="en-US" altLang="zh-CN" sz="2000" b="1" dirty="0">
                <a:solidFill>
                  <a:srgbClr val="FF0000"/>
                </a:solidFill>
              </a:rPr>
              <a:t>  +  k2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en-US" altLang="zh-CN" sz="2000" b="1" dirty="0">
                <a:solidFill>
                  <a:srgbClr val="FF0000"/>
                </a:solidFill>
              </a:rPr>
              <a:t>            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=  O(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num</a:t>
            </a:r>
            <a:r>
              <a:rPr lang="en-US" altLang="zh-CN" sz="2000" b="1" dirty="0">
                <a:solidFill>
                  <a:srgbClr val="FF0000"/>
                </a:solidFill>
              </a:rPr>
              <a:t>)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81495" y="3232150"/>
            <a:ext cx="1642110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</a:rPr>
              <a:t>c1</a:t>
            </a:r>
            <a:endParaRPr lang="en-US" altLang="zh-CN" sz="2000" dirty="0">
              <a:solidFill>
                <a:srgbClr val="008000"/>
              </a:solidFill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</a:rPr>
              <a:t>c2*</a:t>
            </a:r>
            <a:r>
              <a:rPr lang="en-US" altLang="zh-CN" sz="2000" dirty="0" err="1" smtClean="0">
                <a:solidFill>
                  <a:srgbClr val="008000"/>
                </a:solidFill>
              </a:rPr>
              <a:t>num</a:t>
            </a:r>
            <a:endParaRPr lang="en-US" altLang="zh-CN" sz="2000" dirty="0">
              <a:solidFill>
                <a:srgbClr val="008000"/>
              </a:solidFill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</a:rPr>
              <a:t>c3*</a:t>
            </a:r>
            <a:r>
              <a:rPr lang="en-US" altLang="zh-CN" sz="2000" dirty="0" err="1" smtClean="0">
                <a:solidFill>
                  <a:srgbClr val="008000"/>
                </a:solidFill>
              </a:rPr>
              <a:t>num</a:t>
            </a:r>
            <a:endParaRPr lang="en-US" altLang="zh-CN" sz="2000" dirty="0">
              <a:solidFill>
                <a:srgbClr val="008000"/>
              </a:solidFill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</a:rPr>
              <a:t>c4</a:t>
            </a:r>
            <a:endParaRPr lang="en-US" altLang="zh-CN" sz="2000" dirty="0" smtClean="0">
              <a:solidFill>
                <a:srgbClr val="008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46129" y="5245945"/>
            <a:ext cx="2970330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008000"/>
                </a:solidFill>
              </a:rPr>
              <a:t>throw </a:t>
            </a:r>
            <a:r>
              <a:rPr lang="en-US" altLang="zh-CN" sz="2000" dirty="0">
                <a:solidFill>
                  <a:srgbClr val="008000"/>
                </a:solidFill>
              </a:rPr>
              <a:t>away leading </a:t>
            </a:r>
            <a:r>
              <a:rPr lang="en-US" altLang="zh-CN" sz="2000" dirty="0" smtClean="0">
                <a:solidFill>
                  <a:srgbClr val="008000"/>
                </a:solidFill>
              </a:rPr>
              <a:t>constants</a:t>
            </a:r>
            <a:endParaRPr lang="en-US" altLang="zh-CN" sz="2000" dirty="0" smtClean="0">
              <a:solidFill>
                <a:srgbClr val="008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457858" y="6334496"/>
            <a:ext cx="463994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/>
              <a:t>We say T(n) of the </a:t>
            </a:r>
            <a:r>
              <a:rPr lang="en-US" altLang="zh-CN" sz="2000" dirty="0"/>
              <a:t>algorithm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is in ≈</a:t>
            </a:r>
            <a:r>
              <a:rPr lang="en-US" altLang="zh-CN" sz="2000" dirty="0" smtClean="0"/>
              <a:t>O(n) </a:t>
            </a:r>
            <a:endParaRPr lang="en-US" altLang="zh-CN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Analyze</a:t>
            </a:r>
            <a:endParaRPr lang="en-US" altLang="zh-CN" dirty="0" smtClean="0"/>
          </a:p>
        </p:txBody>
      </p:sp>
      <p:sp>
        <p:nvSpPr>
          <p:cNvPr id="757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71766795-742E-46CC-A8CC-FBCC33E73A1E}" type="slidenum">
              <a:rPr lang="zh-CN" altLang="en-US" sz="900" smtClean="0"/>
            </a:fld>
            <a:endParaRPr lang="zh-CN" altLang="en-US" sz="900" smtClean="0"/>
          </a:p>
        </p:txBody>
      </p:sp>
      <p:sp>
        <p:nvSpPr>
          <p:cNvPr id="75781" name="TextBox 5"/>
          <p:cNvSpPr txBox="1">
            <a:spLocks noChangeArrowheads="1"/>
          </p:cNvSpPr>
          <p:nvPr/>
        </p:nvSpPr>
        <p:spPr bwMode="auto">
          <a:xfrm>
            <a:off x="3989766" y="1862826"/>
            <a:ext cx="2997696" cy="2553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ea typeface="宋体" pitchFamily="2" charset="-122"/>
              </a:defRPr>
            </a:lvl1pPr>
          </a:lstStyle>
          <a:p>
            <a:r>
              <a:rPr lang="en-US" altLang="zh-CN" dirty="0">
                <a:solidFill>
                  <a:srgbClr val="008000"/>
                </a:solidFill>
              </a:rPr>
              <a:t>// Nested </a:t>
            </a:r>
            <a:r>
              <a:rPr lang="en-US" altLang="zh-CN" dirty="0" smtClean="0">
                <a:solidFill>
                  <a:srgbClr val="008000"/>
                </a:solidFill>
              </a:rPr>
              <a:t>Loops</a:t>
            </a:r>
            <a:endParaRPr lang="en-US" altLang="zh-CN" dirty="0" smtClean="0">
              <a:solidFill>
                <a:srgbClr val="008000"/>
              </a:solidFill>
            </a:endParaRPr>
          </a:p>
          <a:p>
            <a:endParaRPr lang="en-US" altLang="zh-CN" dirty="0">
              <a:solidFill>
                <a:srgbClr val="008000"/>
              </a:solidFill>
            </a:endParaRPr>
          </a:p>
          <a:p>
            <a:r>
              <a:rPr lang="en-US" altLang="zh-CN" dirty="0" err="1" smtClean="0">
                <a:solidFill>
                  <a:srgbClr val="990099"/>
                </a:solidFill>
              </a:rPr>
              <a:t>int</a:t>
            </a:r>
            <a:r>
              <a:rPr lang="en-US" altLang="zh-CN" dirty="0" smtClean="0">
                <a:solidFill>
                  <a:srgbClr val="990099"/>
                </a:solidFill>
              </a:rPr>
              <a:t> sum(</a:t>
            </a:r>
            <a:r>
              <a:rPr lang="en-US" altLang="zh-CN" dirty="0" err="1" smtClean="0">
                <a:solidFill>
                  <a:srgbClr val="990099"/>
                </a:solidFill>
              </a:rPr>
              <a:t>int</a:t>
            </a:r>
            <a:r>
              <a:rPr lang="en-US" altLang="zh-CN" dirty="0" smtClean="0">
                <a:solidFill>
                  <a:srgbClr val="990099"/>
                </a:solidFill>
              </a:rPr>
              <a:t> n) {</a:t>
            </a:r>
            <a:endParaRPr lang="en-US" altLang="zh-CN" dirty="0" smtClean="0">
              <a:solidFill>
                <a:srgbClr val="990099"/>
              </a:solidFill>
            </a:endParaRPr>
          </a:p>
          <a:p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</a:t>
            </a:r>
            <a:r>
              <a:rPr lang="en-US" altLang="zh-CN" dirty="0" err="1" smtClean="0">
                <a:solidFill>
                  <a:srgbClr val="990099"/>
                </a:solidFill>
              </a:rPr>
              <a:t>int</a:t>
            </a:r>
            <a:r>
              <a:rPr lang="en-US" altLang="zh-CN" dirty="0" smtClean="0">
                <a:solidFill>
                  <a:srgbClr val="990099"/>
                </a:solidFill>
              </a:rPr>
              <a:t> sum = 0;</a:t>
            </a:r>
            <a:endParaRPr lang="en-US" altLang="zh-CN" dirty="0" smtClean="0">
              <a:solidFill>
                <a:srgbClr val="990099"/>
              </a:solidFill>
            </a:endParaRPr>
          </a:p>
          <a:p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for (</a:t>
            </a:r>
            <a:r>
              <a:rPr lang="en-US" altLang="zh-CN" dirty="0" err="1" smtClean="0">
                <a:solidFill>
                  <a:srgbClr val="990099"/>
                </a:solidFill>
              </a:rPr>
              <a:t>i</a:t>
            </a:r>
            <a:r>
              <a:rPr lang="en-US" altLang="zh-CN" dirty="0" smtClean="0">
                <a:solidFill>
                  <a:srgbClr val="990099"/>
                </a:solidFill>
              </a:rPr>
              <a:t>=1; </a:t>
            </a:r>
            <a:r>
              <a:rPr lang="en-US" altLang="zh-CN" dirty="0" err="1" smtClean="0">
                <a:solidFill>
                  <a:srgbClr val="990099"/>
                </a:solidFill>
              </a:rPr>
              <a:t>i</a:t>
            </a:r>
            <a:r>
              <a:rPr lang="en-US" altLang="zh-CN" dirty="0" smtClean="0">
                <a:solidFill>
                  <a:srgbClr val="990099"/>
                </a:solidFill>
              </a:rPr>
              <a:t>&lt;=n; </a:t>
            </a:r>
            <a:r>
              <a:rPr lang="en-US" altLang="zh-CN" dirty="0" err="1" smtClean="0">
                <a:solidFill>
                  <a:srgbClr val="990099"/>
                </a:solidFill>
              </a:rPr>
              <a:t>i</a:t>
            </a:r>
            <a:r>
              <a:rPr lang="en-US" altLang="zh-CN" dirty="0" smtClean="0">
                <a:solidFill>
                  <a:srgbClr val="990099"/>
                </a:solidFill>
              </a:rPr>
              <a:t>++)</a:t>
            </a:r>
            <a:endParaRPr lang="en-US" altLang="zh-CN" dirty="0" smtClean="0">
              <a:solidFill>
                <a:srgbClr val="990099"/>
              </a:solidFill>
            </a:endParaRPr>
          </a:p>
          <a:p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for (j=1; j&lt;=n; </a:t>
            </a:r>
            <a:r>
              <a:rPr lang="en-US" altLang="zh-CN" dirty="0" err="1" smtClean="0">
                <a:solidFill>
                  <a:srgbClr val="990099"/>
                </a:solidFill>
              </a:rPr>
              <a:t>j++</a:t>
            </a:r>
            <a:r>
              <a:rPr lang="en-US" altLang="zh-CN" dirty="0" smtClean="0">
                <a:solidFill>
                  <a:srgbClr val="990099"/>
                </a:solidFill>
              </a:rPr>
              <a:t>)</a:t>
            </a:r>
            <a:endParaRPr lang="en-US" altLang="zh-CN" dirty="0" smtClean="0">
              <a:solidFill>
                <a:srgbClr val="990099"/>
              </a:solidFill>
            </a:endParaRPr>
          </a:p>
          <a:p>
            <a:r>
              <a:rPr lang="en-US" altLang="zh-CN" dirty="0">
                <a:solidFill>
                  <a:srgbClr val="990099"/>
                </a:solidFill>
              </a:rPr>
              <a:t> </a:t>
            </a:r>
            <a:r>
              <a:rPr lang="en-US" altLang="zh-CN" dirty="0" smtClean="0">
                <a:solidFill>
                  <a:srgbClr val="990099"/>
                </a:solidFill>
              </a:rPr>
              <a:t>     sum++;</a:t>
            </a:r>
            <a:endParaRPr lang="en-US" altLang="zh-CN" dirty="0" smtClean="0">
              <a:solidFill>
                <a:srgbClr val="990099"/>
              </a:solidFill>
            </a:endParaRPr>
          </a:p>
          <a:p>
            <a:r>
              <a:rPr lang="en-US" altLang="zh-CN" dirty="0" smtClean="0">
                <a:solidFill>
                  <a:srgbClr val="990099"/>
                </a:solidFill>
              </a:rPr>
              <a:t>}</a:t>
            </a:r>
            <a:endParaRPr lang="en-US" altLang="zh-CN" dirty="0" smtClean="0">
              <a:solidFill>
                <a:srgbClr val="990099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777103" y="4515253"/>
            <a:ext cx="397637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sz="2000" b="1" dirty="0">
                <a:solidFill>
                  <a:srgbClr val="FF0000"/>
                </a:solidFill>
              </a:rPr>
              <a:t>T(n)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 = c1 + c2</a:t>
            </a:r>
            <a:r>
              <a:rPr lang="en-US" altLang="zh-CN" sz="2000" b="1" dirty="0" smtClean="0">
                <a:solidFill>
                  <a:srgbClr val="FF0000"/>
                </a:solidFill>
                <a:sym typeface="+mn-ea"/>
              </a:rPr>
              <a:t>*n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 + c3*n</a:t>
            </a:r>
            <a:r>
              <a:rPr lang="en-US" altLang="zh-CN" sz="2000" b="1" baseline="30000" dirty="0" smtClean="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 + c4*n</a:t>
            </a:r>
            <a:r>
              <a:rPr lang="en-US" altLang="zh-CN" sz="2000" b="1" baseline="30000" dirty="0" smtClean="0">
                <a:solidFill>
                  <a:srgbClr val="FF0000"/>
                </a:solidFill>
              </a:rPr>
              <a:t>2</a:t>
            </a:r>
            <a:endParaRPr lang="en-US" altLang="zh-CN" sz="2000" b="1" baseline="30000" dirty="0" smtClean="0">
              <a:solidFill>
                <a:srgbClr val="FF0000"/>
              </a:solidFill>
            </a:endParaRPr>
          </a:p>
          <a:p>
            <a:pPr algn="l"/>
            <a:r>
              <a:rPr lang="en-US" altLang="zh-CN" sz="2000" b="1" dirty="0" smtClean="0">
                <a:solidFill>
                  <a:srgbClr val="FF0000"/>
                </a:solidFill>
              </a:rPr>
              <a:t>         = O(n</a:t>
            </a:r>
            <a:r>
              <a:rPr lang="en-US" altLang="zh-CN" sz="2000" b="1" baseline="30000" dirty="0" smtClean="0">
                <a:solidFill>
                  <a:srgbClr val="FF0000"/>
                </a:solidFill>
              </a:rPr>
              <a:t>2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) </a:t>
            </a:r>
            <a:endParaRPr lang="en-US" altLang="zh-CN" sz="2000" b="1" dirty="0" smtClean="0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6848840" y="2767797"/>
            <a:ext cx="962440" cy="1322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8000"/>
                </a:solidFill>
              </a:rPr>
              <a:t>c1</a:t>
            </a:r>
            <a:endParaRPr lang="en-US" altLang="zh-CN" sz="2000" dirty="0">
              <a:solidFill>
                <a:srgbClr val="008000"/>
              </a:solidFill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</a:rPr>
              <a:t>c2*n</a:t>
            </a:r>
            <a:endParaRPr lang="en-US" altLang="zh-CN" sz="2000" dirty="0" smtClean="0">
              <a:solidFill>
                <a:srgbClr val="008000"/>
              </a:solidFill>
            </a:endParaRPr>
          </a:p>
          <a:p>
            <a:r>
              <a:rPr lang="en-US" altLang="zh-CN" sz="2000" dirty="0" smtClean="0">
                <a:solidFill>
                  <a:srgbClr val="008000"/>
                </a:solidFill>
              </a:rPr>
              <a:t>c3*n</a:t>
            </a:r>
            <a:r>
              <a:rPr lang="en-US" altLang="zh-CN" sz="2000" baseline="30000" dirty="0" smtClean="0">
                <a:solidFill>
                  <a:srgbClr val="008000"/>
                </a:solidFill>
                <a:sym typeface="+mn-ea"/>
              </a:rPr>
              <a:t>2</a:t>
            </a:r>
            <a:endParaRPr lang="en-US" altLang="zh-CN" sz="2000" dirty="0">
              <a:solidFill>
                <a:srgbClr val="008000"/>
              </a:solidFill>
            </a:endParaRPr>
          </a:p>
          <a:p>
            <a:r>
              <a:rPr lang="en-US" altLang="zh-CN" sz="2000" dirty="0">
                <a:solidFill>
                  <a:srgbClr val="008000"/>
                </a:solidFill>
              </a:rPr>
              <a:t>c</a:t>
            </a:r>
            <a:r>
              <a:rPr lang="en-US" altLang="zh-CN" sz="2000" dirty="0" smtClean="0">
                <a:solidFill>
                  <a:srgbClr val="008000"/>
                </a:solidFill>
              </a:rPr>
              <a:t>4*n</a:t>
            </a:r>
            <a:r>
              <a:rPr lang="en-US" altLang="zh-CN" sz="2000" baseline="30000" dirty="0" smtClean="0">
                <a:solidFill>
                  <a:srgbClr val="008000"/>
                </a:solidFill>
              </a:rPr>
              <a:t>2</a:t>
            </a:r>
            <a:endParaRPr lang="en-US" altLang="zh-CN" sz="2000" baseline="30000" dirty="0" smtClean="0">
              <a:solidFill>
                <a:srgbClr val="008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811490" y="4545918"/>
            <a:ext cx="2862319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rgbClr val="008000"/>
                </a:solidFill>
              </a:rPr>
              <a:t>throw </a:t>
            </a:r>
            <a:r>
              <a:rPr lang="en-US" altLang="zh-CN" sz="2000" dirty="0">
                <a:solidFill>
                  <a:srgbClr val="008000"/>
                </a:solidFill>
              </a:rPr>
              <a:t>away </a:t>
            </a:r>
            <a:r>
              <a:rPr lang="en-US" altLang="zh-CN" sz="2000" dirty="0" smtClean="0">
                <a:solidFill>
                  <a:srgbClr val="008000"/>
                </a:solidFill>
              </a:rPr>
              <a:t>low order terms</a:t>
            </a:r>
            <a:endParaRPr lang="en-US" altLang="zh-CN" sz="2000" dirty="0" smtClean="0">
              <a:solidFill>
                <a:srgbClr val="008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76772" y="5481975"/>
            <a:ext cx="457962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/>
              <a:t>We say T(n) of the </a:t>
            </a:r>
            <a:r>
              <a:rPr lang="en-US" altLang="zh-CN" sz="2000" dirty="0"/>
              <a:t>algorithm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is in O(n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) </a:t>
            </a:r>
            <a:endParaRPr lang="en-US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</a:t>
            </a:r>
            <a:r>
              <a:rPr lang="en-US" altLang="zh-CN" dirty="0" smtClean="0"/>
              <a:t>Analyze</a:t>
            </a:r>
            <a:endParaRPr lang="zh-CN" altLang="en-US" dirty="0" smtClean="0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FAAB01A5-5DC3-4A33-B607-6D7D7EB27709}" type="slidenum">
              <a:rPr lang="zh-CN" altLang="en-US" sz="900" smtClean="0"/>
            </a:fld>
            <a:endParaRPr lang="zh-CN" altLang="en-US" sz="900" smtClean="0"/>
          </a:p>
        </p:txBody>
      </p:sp>
      <p:sp>
        <p:nvSpPr>
          <p:cNvPr id="4" name="矩形 3"/>
          <p:cNvSpPr/>
          <p:nvPr/>
        </p:nvSpPr>
        <p:spPr>
          <a:xfrm>
            <a:off x="1957070" y="1691005"/>
            <a:ext cx="6176010" cy="1938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ea typeface="宋体" pitchFamily="2" charset="-122"/>
              </a:rPr>
              <a:t>// compare </a:t>
            </a:r>
            <a:r>
              <a:rPr lang="en-US" altLang="zh-CN" sz="2400" dirty="0">
                <a:ea typeface="宋体" pitchFamily="2" charset="-122"/>
              </a:rPr>
              <a:t>the cost of the two loop codes</a:t>
            </a:r>
            <a:endParaRPr lang="en-US" altLang="zh-CN" sz="2400" dirty="0">
              <a:ea typeface="宋体" pitchFamily="2" charset="-122"/>
            </a:endParaRPr>
          </a:p>
          <a:p>
            <a:r>
              <a:rPr lang="en-US" altLang="zh-CN" sz="2400" dirty="0" smtClean="0">
                <a:solidFill>
                  <a:srgbClr val="990099"/>
                </a:solidFill>
                <a:ea typeface="宋体" pitchFamily="2" charset="-122"/>
              </a:rPr>
              <a:t>sum </a:t>
            </a:r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</a:rPr>
              <a:t>= 0;</a:t>
            </a:r>
            <a:endParaRPr lang="en-US" altLang="zh-CN" sz="2400" dirty="0">
              <a:solidFill>
                <a:srgbClr val="990099"/>
              </a:solidFill>
              <a:ea typeface="宋体" pitchFamily="2" charset="-122"/>
            </a:endParaRPr>
          </a:p>
          <a:p>
            <a:r>
              <a:rPr lang="en-US" altLang="zh-CN" sz="2400" dirty="0" smtClean="0">
                <a:solidFill>
                  <a:srgbClr val="990099"/>
                </a:solidFill>
                <a:ea typeface="宋体" pitchFamily="2" charset="-122"/>
              </a:rPr>
              <a:t>for(k=1</a:t>
            </a:r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</a:rPr>
              <a:t>; k&lt;=n;</a:t>
            </a:r>
            <a:r>
              <a:rPr lang="en-US" altLang="zh-CN" sz="2400" dirty="0" smtClean="0">
                <a:solidFill>
                  <a:srgbClr val="990099"/>
                </a:solidFill>
                <a:ea typeface="宋体" pitchFamily="2" charset="-122"/>
              </a:rPr>
              <a:t> k*=2)  </a:t>
            </a:r>
            <a:endParaRPr lang="en-US" altLang="zh-CN" sz="2400" dirty="0" smtClean="0">
              <a:solidFill>
                <a:srgbClr val="990099"/>
              </a:solidFill>
              <a:ea typeface="宋体" pitchFamily="2" charset="-122"/>
            </a:endParaRPr>
          </a:p>
          <a:p>
            <a:r>
              <a:rPr lang="en-US" altLang="zh-CN" sz="2400" dirty="0" smtClean="0">
                <a:solidFill>
                  <a:srgbClr val="990099"/>
                </a:solidFill>
                <a:ea typeface="宋体" pitchFamily="2" charset="-122"/>
              </a:rPr>
              <a:t>   for(j=1; j&lt;=n; j+</a:t>
            </a:r>
            <a:r>
              <a:rPr lang="en-US" altLang="zh-CN" sz="2400" dirty="0" err="1" smtClean="0">
                <a:solidFill>
                  <a:srgbClr val="990099"/>
                </a:solidFill>
                <a:ea typeface="宋体" pitchFamily="2" charset="-122"/>
              </a:rPr>
              <a:t>+</a:t>
            </a:r>
            <a:r>
              <a:rPr lang="en-US" altLang="zh-CN" sz="2400" dirty="0" smtClean="0">
                <a:solidFill>
                  <a:srgbClr val="990099"/>
                </a:solidFill>
                <a:ea typeface="宋体" pitchFamily="2" charset="-122"/>
              </a:rPr>
              <a:t>)   </a:t>
            </a:r>
            <a:endParaRPr lang="en-US" altLang="zh-CN" sz="2400" dirty="0">
              <a:solidFill>
                <a:srgbClr val="990099"/>
              </a:solidFill>
              <a:ea typeface="宋体" pitchFamily="2" charset="-122"/>
            </a:endParaRPr>
          </a:p>
          <a:p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</a:rPr>
              <a:t>     </a:t>
            </a:r>
            <a:r>
              <a:rPr lang="en-US" altLang="zh-CN" sz="2400" dirty="0" smtClean="0">
                <a:solidFill>
                  <a:srgbClr val="990099"/>
                </a:solidFill>
                <a:ea typeface="宋体" pitchFamily="2" charset="-122"/>
              </a:rPr>
              <a:t>sum++;</a:t>
            </a:r>
            <a:endParaRPr lang="en-US" altLang="zh-CN" sz="2400" dirty="0" smtClean="0">
              <a:solidFill>
                <a:srgbClr val="990099"/>
              </a:solidFill>
              <a:ea typeface="宋体" pitchFamily="2" charset="-122"/>
            </a:endParaRPr>
          </a:p>
        </p:txBody>
      </p:sp>
      <p:graphicFrame>
        <p:nvGraphicFramePr>
          <p:cNvPr id="13" name="Object 7"/>
          <p:cNvGraphicFramePr>
            <a:graphicFrameLocks noChangeAspect="1"/>
          </p:cNvGraphicFramePr>
          <p:nvPr/>
        </p:nvGraphicFramePr>
        <p:xfrm>
          <a:off x="3291205" y="4436110"/>
          <a:ext cx="3507105" cy="702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74" name="公式" r:id="rId1" imgW="36271200" imgH="8534400" progId="Equation.3">
                  <p:embed/>
                </p:oleObj>
              </mc:Choice>
              <mc:Fallback>
                <p:oleObj name="公式" r:id="rId1" imgW="36271200" imgH="8534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1205" y="4436110"/>
                        <a:ext cx="3507105" cy="702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2353310" y="3963035"/>
            <a:ext cx="37922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000" dirty="0" smtClean="0">
                <a:solidFill>
                  <a:srgbClr val="FF0000"/>
                </a:solidFill>
              </a:rPr>
              <a:t>In this </a:t>
            </a:r>
            <a:r>
              <a:rPr lang="en-US" altLang="zh-CN" sz="2000" dirty="0">
                <a:solidFill>
                  <a:srgbClr val="FF0000"/>
                </a:solidFill>
              </a:rPr>
              <a:t>double loop, the cost is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790" y="4496435"/>
            <a:ext cx="255270" cy="438150"/>
          </a:xfrm>
          <a:prstGeom prst="rect">
            <a:avLst/>
          </a:prstGeom>
        </p:spPr>
      </p:pic>
      <p:sp>
        <p:nvSpPr>
          <p:cNvPr id="5" name="矩形 3"/>
          <p:cNvSpPr/>
          <p:nvPr/>
        </p:nvSpPr>
        <p:spPr>
          <a:xfrm>
            <a:off x="3776772" y="5481975"/>
            <a:ext cx="3429635" cy="39878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2000" dirty="0" smtClean="0"/>
              <a:t>The </a:t>
            </a:r>
            <a:r>
              <a:rPr lang="en-US" altLang="zh-CN" sz="2000" dirty="0"/>
              <a:t>algorithm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is in O(n log</a:t>
            </a:r>
            <a:r>
              <a:rPr lang="en-US" altLang="zh-CN" sz="2000" dirty="0"/>
              <a:t>n) </a:t>
            </a:r>
            <a:endParaRPr lang="en-US" altLang="zh-CN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785" y="4568190"/>
            <a:ext cx="255270" cy="4381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899025" y="247459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 smtClean="0">
                <a:solidFill>
                  <a:srgbClr val="990099"/>
                </a:solidFill>
                <a:ea typeface="宋体" pitchFamily="2" charset="-122"/>
                <a:sym typeface="+mn-ea"/>
              </a:rPr>
              <a:t>//</a:t>
            </a:r>
            <a:r>
              <a:rPr lang="en-US" altLang="zh-CN" dirty="0">
                <a:solidFill>
                  <a:srgbClr val="990099"/>
                </a:solidFill>
                <a:ea typeface="宋体" pitchFamily="2" charset="-122"/>
                <a:sym typeface="+mn-ea"/>
              </a:rPr>
              <a:t>do log(n) times</a:t>
            </a:r>
            <a:endParaRPr lang="en-US" altLang="zh-CN" dirty="0">
              <a:solidFill>
                <a:srgbClr val="990099"/>
              </a:solidFill>
              <a:ea typeface="宋体" pitchFamily="2" charset="-122"/>
              <a:sym typeface="+mn-ea"/>
            </a:endParaRPr>
          </a:p>
          <a:p>
            <a:r>
              <a:rPr lang="en-US" altLang="zh-CN" dirty="0" smtClean="0">
                <a:solidFill>
                  <a:srgbClr val="990099"/>
                </a:solidFill>
                <a:ea typeface="宋体" pitchFamily="2" charset="-122"/>
                <a:sym typeface="+mn-ea"/>
              </a:rPr>
              <a:t>//</a:t>
            </a:r>
            <a:r>
              <a:rPr lang="en-US" altLang="zh-CN" dirty="0">
                <a:solidFill>
                  <a:srgbClr val="990099"/>
                </a:solidFill>
                <a:ea typeface="宋体" pitchFamily="2" charset="-122"/>
                <a:sym typeface="+mn-ea"/>
              </a:rPr>
              <a:t>do n times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2" grpId="0"/>
      <p:bldP spid="2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</a:t>
            </a:r>
            <a:r>
              <a:rPr lang="en-US" altLang="zh-CN" dirty="0" smtClean="0"/>
              <a:t>Analyze</a:t>
            </a:r>
            <a:endParaRPr lang="zh-CN" altLang="en-US" dirty="0" smtClean="0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FAAB01A5-5DC3-4A33-B607-6D7D7EB27709}" type="slidenum">
              <a:rPr lang="zh-CN" altLang="en-US" sz="900" smtClean="0"/>
            </a:fld>
            <a:endParaRPr lang="zh-CN" altLang="en-US" sz="900" smtClean="0"/>
          </a:p>
        </p:txBody>
      </p:sp>
      <p:sp>
        <p:nvSpPr>
          <p:cNvPr id="4" name="矩形 3"/>
          <p:cNvSpPr/>
          <p:nvPr/>
        </p:nvSpPr>
        <p:spPr>
          <a:xfrm>
            <a:off x="1485265" y="1844040"/>
            <a:ext cx="6495415" cy="1938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ea typeface="宋体" pitchFamily="2" charset="-122"/>
              </a:rPr>
              <a:t>// compare </a:t>
            </a:r>
            <a:r>
              <a:rPr lang="en-US" altLang="zh-CN" sz="2400" dirty="0">
                <a:ea typeface="宋体" pitchFamily="2" charset="-122"/>
              </a:rPr>
              <a:t>the cost of the two loop codes</a:t>
            </a:r>
            <a:endParaRPr lang="en-US" altLang="zh-CN" sz="2400" dirty="0">
              <a:ea typeface="宋体" pitchFamily="2" charset="-122"/>
            </a:endParaRPr>
          </a:p>
          <a:p>
            <a:r>
              <a:rPr lang="en-US" altLang="zh-CN" sz="2400" dirty="0" smtClean="0">
                <a:solidFill>
                  <a:srgbClr val="990099"/>
                </a:solidFill>
                <a:ea typeface="宋体" pitchFamily="2" charset="-122"/>
              </a:rPr>
              <a:t>sum </a:t>
            </a:r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</a:rPr>
              <a:t>= 0;</a:t>
            </a:r>
            <a:endParaRPr lang="en-US" altLang="zh-CN" sz="2400" dirty="0">
              <a:solidFill>
                <a:srgbClr val="990099"/>
              </a:solidFill>
              <a:ea typeface="宋体" pitchFamily="2" charset="-122"/>
            </a:endParaRPr>
          </a:p>
          <a:p>
            <a:r>
              <a:rPr lang="en-US" altLang="zh-CN" sz="2400" dirty="0" smtClean="0">
                <a:solidFill>
                  <a:srgbClr val="990099"/>
                </a:solidFill>
                <a:ea typeface="宋体" pitchFamily="2" charset="-122"/>
              </a:rPr>
              <a:t>for(k=1</a:t>
            </a:r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</a:rPr>
              <a:t>; k&lt;=n; k*=2) </a:t>
            </a:r>
            <a:r>
              <a:rPr lang="en-US" altLang="zh-CN" sz="2400" dirty="0" smtClean="0">
                <a:solidFill>
                  <a:srgbClr val="990099"/>
                </a:solidFill>
                <a:ea typeface="宋体" pitchFamily="2" charset="-122"/>
              </a:rPr>
              <a:t> </a:t>
            </a:r>
            <a:endParaRPr lang="en-US" altLang="zh-CN" sz="2400" dirty="0">
              <a:solidFill>
                <a:srgbClr val="990099"/>
              </a:solidFill>
              <a:ea typeface="宋体" pitchFamily="2" charset="-122"/>
            </a:endParaRPr>
          </a:p>
          <a:p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</a:rPr>
              <a:t>   </a:t>
            </a:r>
            <a:r>
              <a:rPr lang="en-US" altLang="zh-CN" sz="2400" dirty="0" smtClean="0">
                <a:solidFill>
                  <a:srgbClr val="990099"/>
                </a:solidFill>
                <a:ea typeface="宋体" pitchFamily="2" charset="-122"/>
              </a:rPr>
              <a:t>for(j=</a:t>
            </a:r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</a:rPr>
              <a:t>1; j&lt;=k; j+</a:t>
            </a:r>
            <a:r>
              <a:rPr lang="en-US" altLang="zh-CN" sz="2400" dirty="0" err="1" smtClean="0">
                <a:solidFill>
                  <a:srgbClr val="990099"/>
                </a:solidFill>
                <a:ea typeface="宋体" pitchFamily="2" charset="-122"/>
              </a:rPr>
              <a:t>+</a:t>
            </a:r>
            <a:r>
              <a:rPr lang="en-US" altLang="zh-CN" sz="2400" dirty="0" smtClean="0">
                <a:solidFill>
                  <a:srgbClr val="990099"/>
                </a:solidFill>
                <a:ea typeface="宋体" pitchFamily="2" charset="-122"/>
              </a:rPr>
              <a:t>)  </a:t>
            </a:r>
            <a:endParaRPr lang="en-US" altLang="zh-CN" sz="2400" dirty="0">
              <a:solidFill>
                <a:srgbClr val="990099"/>
              </a:solidFill>
              <a:ea typeface="宋体" pitchFamily="2" charset="-122"/>
            </a:endParaRPr>
          </a:p>
          <a:p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</a:rPr>
              <a:t>     </a:t>
            </a:r>
            <a:r>
              <a:rPr lang="en-US" altLang="zh-CN" sz="2400" dirty="0" smtClean="0">
                <a:solidFill>
                  <a:srgbClr val="990099"/>
                </a:solidFill>
                <a:ea typeface="宋体" pitchFamily="2" charset="-122"/>
              </a:rPr>
              <a:t>sum++;</a:t>
            </a:r>
            <a:endParaRPr lang="en-US" altLang="zh-CN" sz="2400" dirty="0" smtClean="0">
              <a:solidFill>
                <a:srgbClr val="990099"/>
              </a:solidFill>
              <a:ea typeface="宋体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85010" y="3935095"/>
            <a:ext cx="379222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000" dirty="0" smtClean="0">
                <a:solidFill>
                  <a:srgbClr val="FF0000"/>
                </a:solidFill>
              </a:rPr>
              <a:t>In this </a:t>
            </a:r>
            <a:r>
              <a:rPr lang="en-US" altLang="zh-CN" sz="2000" dirty="0">
                <a:solidFill>
                  <a:srgbClr val="FF0000"/>
                </a:solidFill>
              </a:rPr>
              <a:t>double loop, the cost is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833370" y="4491989"/>
          <a:ext cx="3799986" cy="925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415" name="公式" r:id="rId1" imgW="35052000" imgH="8534400" progId="Equation.3">
                  <p:embed/>
                </p:oleObj>
              </mc:Choice>
              <mc:Fallback>
                <p:oleObj name="公式" r:id="rId1" imgW="35052000" imgH="8534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370" y="4491989"/>
                        <a:ext cx="3799986" cy="9250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8"/>
          <p:cNvGraphicFramePr>
            <a:graphicFrameLocks noChangeAspect="1"/>
          </p:cNvGraphicFramePr>
          <p:nvPr/>
        </p:nvGraphicFramePr>
        <p:xfrm>
          <a:off x="3104416" y="5867102"/>
          <a:ext cx="3528392" cy="780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3" imgW="34442400" imgH="7620000" progId="Equation.3">
                  <p:embed/>
                </p:oleObj>
              </mc:Choice>
              <mc:Fallback>
                <p:oleObj name="公式" r:id="rId3" imgW="34442400" imgH="7620000" progId="Equation.3">
                  <p:embed/>
                  <p:pic>
                    <p:nvPicPr>
                      <p:cNvPr id="0" name="对象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04416" y="5867102"/>
                        <a:ext cx="3528392" cy="7806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3"/>
          <p:cNvSpPr/>
          <p:nvPr/>
        </p:nvSpPr>
        <p:spPr>
          <a:xfrm>
            <a:off x="7980472" y="4580275"/>
            <a:ext cx="2869565" cy="39878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en-US" altLang="zh-CN" sz="2000" dirty="0" smtClean="0"/>
              <a:t>The </a:t>
            </a:r>
            <a:r>
              <a:rPr lang="en-US" altLang="zh-CN" sz="2000" dirty="0"/>
              <a:t>algorithm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is in O(n) </a:t>
            </a:r>
            <a:endParaRPr lang="en-US" altLang="zh-CN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0870" y="4735195"/>
            <a:ext cx="259080" cy="4381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3370" y="4735195"/>
            <a:ext cx="255270" cy="438150"/>
          </a:xfrm>
          <a:prstGeom prst="rect">
            <a:avLst/>
          </a:prstGeom>
        </p:spPr>
      </p:pic>
      <p:sp>
        <p:nvSpPr>
          <p:cNvPr id="10" name="Up Arrow 9"/>
          <p:cNvSpPr/>
          <p:nvPr/>
        </p:nvSpPr>
        <p:spPr>
          <a:xfrm>
            <a:off x="4670425" y="5504815"/>
            <a:ext cx="243205" cy="45085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文本框 10"/>
          <p:cNvSpPr txBox="1"/>
          <p:nvPr/>
        </p:nvSpPr>
        <p:spPr>
          <a:xfrm>
            <a:off x="4670425" y="26746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 smtClean="0">
                <a:solidFill>
                  <a:srgbClr val="990099"/>
                </a:solidFill>
                <a:ea typeface="宋体" pitchFamily="2" charset="-122"/>
                <a:sym typeface="+mn-ea"/>
              </a:rPr>
              <a:t>//</a:t>
            </a:r>
            <a:r>
              <a:rPr lang="en-US" altLang="zh-CN" dirty="0">
                <a:solidFill>
                  <a:srgbClr val="990099"/>
                </a:solidFill>
                <a:ea typeface="宋体" pitchFamily="2" charset="-122"/>
                <a:sym typeface="+mn-ea"/>
              </a:rPr>
              <a:t>do log(n) times</a:t>
            </a:r>
            <a:endParaRPr lang="en-US" altLang="zh-CN" dirty="0">
              <a:solidFill>
                <a:srgbClr val="990099"/>
              </a:solidFill>
              <a:ea typeface="宋体" pitchFamily="2" charset="-122"/>
              <a:sym typeface="+mn-ea"/>
            </a:endParaRPr>
          </a:p>
          <a:p>
            <a:r>
              <a:rPr lang="en-US" altLang="zh-CN" dirty="0" smtClean="0">
                <a:solidFill>
                  <a:srgbClr val="990099"/>
                </a:solidFill>
                <a:ea typeface="宋体" pitchFamily="2" charset="-122"/>
                <a:sym typeface="+mn-ea"/>
              </a:rPr>
              <a:t>//</a:t>
            </a:r>
            <a:r>
              <a:rPr lang="en-US" altLang="zh-CN" dirty="0">
                <a:solidFill>
                  <a:srgbClr val="990099"/>
                </a:solidFill>
                <a:ea typeface="宋体" pitchFamily="2" charset="-122"/>
                <a:sym typeface="+mn-ea"/>
              </a:rPr>
              <a:t>do </a:t>
            </a:r>
            <a:r>
              <a:rPr lang="en-US" altLang="zh-CN" dirty="0">
                <a:solidFill>
                  <a:srgbClr val="990099"/>
                </a:solidFill>
                <a:ea typeface="宋体" pitchFamily="2" charset="-122"/>
                <a:sym typeface="+mn-ea"/>
              </a:rPr>
              <a:t>k times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1" grpId="0"/>
      <p:bldP spid="11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</a:t>
            </a:r>
            <a:r>
              <a:rPr lang="en-US" altLang="zh-CN" dirty="0" smtClean="0"/>
              <a:t>Analyze</a:t>
            </a:r>
            <a:endParaRPr lang="zh-CN" altLang="en-US" dirty="0" smtClean="0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FAAB01A5-5DC3-4A33-B607-6D7D7EB27709}" type="slidenum">
              <a:rPr lang="zh-CN" altLang="en-US" sz="900" smtClean="0"/>
            </a:fld>
            <a:endParaRPr lang="zh-CN" altLang="en-US" sz="900" smtClean="0"/>
          </a:p>
        </p:txBody>
      </p:sp>
      <p:sp>
        <p:nvSpPr>
          <p:cNvPr id="4" name="矩形 3"/>
          <p:cNvSpPr/>
          <p:nvPr/>
        </p:nvSpPr>
        <p:spPr>
          <a:xfrm>
            <a:off x="2953385" y="1804670"/>
            <a:ext cx="5657215" cy="3046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ea typeface="宋体" pitchFamily="2" charset="-122"/>
              </a:rPr>
              <a:t>// </a:t>
            </a:r>
            <a:r>
              <a:rPr lang="en-US" altLang="zh-CN" sz="2400" dirty="0" smtClean="0"/>
              <a:t>assume </a:t>
            </a:r>
            <a:r>
              <a:rPr lang="en-US" altLang="zh-CN" sz="2400" dirty="0"/>
              <a:t>array A contains n values, </a:t>
            </a:r>
            <a:endParaRPr lang="en-US" altLang="zh-CN" sz="2400" dirty="0" smtClean="0"/>
          </a:p>
          <a:p>
            <a:r>
              <a:rPr lang="en-US" altLang="zh-CN" sz="2400" dirty="0" smtClean="0"/>
              <a:t>//  random </a:t>
            </a:r>
            <a:r>
              <a:rPr lang="en-US" altLang="zh-CN" sz="2400" dirty="0"/>
              <a:t>takes constant time </a:t>
            </a:r>
            <a:r>
              <a:rPr lang="en-US" altLang="zh-CN" sz="2400" dirty="0" smtClean="0"/>
              <a:t>c</a:t>
            </a:r>
            <a:r>
              <a:rPr lang="en-US" altLang="zh-CN" sz="2400" baseline="-25000" dirty="0" smtClean="0"/>
              <a:t>1</a:t>
            </a:r>
            <a:r>
              <a:rPr lang="en-US" altLang="zh-CN" sz="2400" dirty="0" smtClean="0"/>
              <a:t> and </a:t>
            </a:r>
            <a:endParaRPr lang="en-US" altLang="zh-CN" sz="2400" dirty="0" smtClean="0"/>
          </a:p>
          <a:p>
            <a:r>
              <a:rPr lang="en-US" altLang="zh-CN" sz="2400" dirty="0" smtClean="0"/>
              <a:t>// sort </a:t>
            </a:r>
            <a:r>
              <a:rPr lang="en-US" altLang="zh-CN" sz="2400" dirty="0"/>
              <a:t>takes </a:t>
            </a:r>
            <a:r>
              <a:rPr lang="en-US" altLang="zh-CN" sz="2400" dirty="0" err="1"/>
              <a:t>cnlogn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steps</a:t>
            </a:r>
            <a:endParaRPr lang="en-US" altLang="zh-CN" sz="2400" dirty="0" smtClean="0"/>
          </a:p>
          <a:p>
            <a:r>
              <a:rPr lang="pt-BR" altLang="zh-CN" sz="2400" dirty="0">
                <a:solidFill>
                  <a:srgbClr val="990099"/>
                </a:solidFill>
              </a:rPr>
              <a:t>for (i=0; i&lt;n; i++) {</a:t>
            </a:r>
            <a:endParaRPr lang="pt-BR" altLang="zh-CN" sz="2400" dirty="0">
              <a:solidFill>
                <a:srgbClr val="990099"/>
              </a:solidFill>
            </a:endParaRPr>
          </a:p>
          <a:p>
            <a:r>
              <a:rPr lang="pt-BR" altLang="zh-CN" sz="2400" dirty="0" smtClean="0">
                <a:solidFill>
                  <a:srgbClr val="990099"/>
                </a:solidFill>
              </a:rPr>
              <a:t>  for </a:t>
            </a:r>
            <a:r>
              <a:rPr lang="pt-BR" altLang="zh-CN" sz="2400" dirty="0">
                <a:solidFill>
                  <a:srgbClr val="990099"/>
                </a:solidFill>
              </a:rPr>
              <a:t>(j=0; j&lt;n; j++) </a:t>
            </a:r>
            <a:endParaRPr lang="pt-BR" altLang="zh-CN" sz="2400" dirty="0">
              <a:solidFill>
                <a:srgbClr val="990099"/>
              </a:solidFill>
            </a:endParaRPr>
          </a:p>
          <a:p>
            <a:r>
              <a:rPr lang="pt-BR" altLang="zh-CN" sz="2400" dirty="0" smtClean="0">
                <a:solidFill>
                  <a:srgbClr val="990099"/>
                </a:solidFill>
              </a:rPr>
              <a:t>    A[j</a:t>
            </a:r>
            <a:r>
              <a:rPr lang="pt-BR" altLang="zh-CN" sz="2400" dirty="0">
                <a:solidFill>
                  <a:srgbClr val="990099"/>
                </a:solidFill>
              </a:rPr>
              <a:t>] = </a:t>
            </a:r>
            <a:r>
              <a:rPr lang="pt-BR" altLang="zh-CN" sz="2400" dirty="0" smtClean="0">
                <a:solidFill>
                  <a:srgbClr val="990099"/>
                </a:solidFill>
              </a:rPr>
              <a:t>random(n);</a:t>
            </a:r>
            <a:endParaRPr lang="pt-BR" altLang="zh-CN" sz="2400" dirty="0" smtClean="0">
              <a:solidFill>
                <a:srgbClr val="990099"/>
              </a:solidFill>
            </a:endParaRPr>
          </a:p>
          <a:p>
            <a:r>
              <a:rPr lang="pt-BR" altLang="zh-CN" sz="2400" dirty="0" smtClean="0">
                <a:solidFill>
                  <a:srgbClr val="990099"/>
                </a:solidFill>
              </a:rPr>
              <a:t>  sort(A</a:t>
            </a:r>
            <a:r>
              <a:rPr lang="pt-BR" altLang="zh-CN" sz="2400" dirty="0">
                <a:solidFill>
                  <a:srgbClr val="990099"/>
                </a:solidFill>
              </a:rPr>
              <a:t>, n);</a:t>
            </a:r>
            <a:endParaRPr lang="pt-BR" altLang="zh-CN" sz="2400" dirty="0">
              <a:solidFill>
                <a:srgbClr val="990099"/>
              </a:solidFill>
            </a:endParaRPr>
          </a:p>
          <a:p>
            <a:r>
              <a:rPr lang="pt-BR" altLang="zh-CN" sz="2400" dirty="0" smtClean="0">
                <a:solidFill>
                  <a:srgbClr val="990099"/>
                </a:solidFill>
              </a:rPr>
              <a:t>}</a:t>
            </a:r>
            <a:endParaRPr lang="pt-BR" altLang="zh-CN" sz="2400" dirty="0" smtClean="0">
              <a:solidFill>
                <a:srgbClr val="990099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59970" y="5220078"/>
            <a:ext cx="346964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Determine </a:t>
            </a:r>
            <a:r>
              <a:rPr lang="en-US" altLang="zh-CN" sz="2000" dirty="0">
                <a:solidFill>
                  <a:srgbClr val="FF0000"/>
                </a:solidFill>
                <a:latin typeface="Helvetica" pitchFamily="34" charset="0"/>
                <a:sym typeface="Symbol" panose="05050102010706020507" pitchFamily="18" charset="2"/>
              </a:rPr>
              <a:t> in average case</a:t>
            </a:r>
            <a:endParaRPr lang="en-US" altLang="zh-CN" sz="2000" dirty="0">
              <a:solidFill>
                <a:srgbClr val="FF0000"/>
              </a:solidFill>
              <a:latin typeface="Helvetica" pitchFamily="34" charset="0"/>
              <a:sym typeface="Symbol" panose="05050102010706020507" pitchFamily="18" charset="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59838" y="5853477"/>
            <a:ext cx="333057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Helvetica" pitchFamily="34" charset="0"/>
                <a:sym typeface="Symbol" panose="05050102010706020507" pitchFamily="18" charset="2"/>
              </a:rPr>
              <a:t></a:t>
            </a:r>
            <a:r>
              <a:rPr lang="en-US" altLang="zh-CN" sz="2000" dirty="0" smtClean="0">
                <a:solidFill>
                  <a:srgbClr val="FF0000"/>
                </a:solidFill>
              </a:rPr>
              <a:t>(</a:t>
            </a:r>
            <a:r>
              <a:rPr lang="en-US" altLang="zh-CN" sz="2000" dirty="0">
                <a:solidFill>
                  <a:srgbClr val="FF0000"/>
                </a:solidFill>
              </a:rPr>
              <a:t>n(c</a:t>
            </a:r>
            <a:r>
              <a:rPr lang="en-US" altLang="zh-CN" sz="2000" baseline="-25000" dirty="0">
                <a:solidFill>
                  <a:srgbClr val="FF0000"/>
                </a:solidFill>
              </a:rPr>
              <a:t>1</a:t>
            </a:r>
            <a:r>
              <a:rPr lang="en-US" altLang="zh-CN" sz="2000" dirty="0">
                <a:solidFill>
                  <a:srgbClr val="FF0000"/>
                </a:solidFill>
              </a:rPr>
              <a:t>n+cnlogn))= </a:t>
            </a:r>
            <a:r>
              <a:rPr lang="en-US" altLang="zh-CN" sz="2000" dirty="0">
                <a:solidFill>
                  <a:srgbClr val="FF0000"/>
                </a:solidFill>
                <a:latin typeface="Helvetica" pitchFamily="34" charset="0"/>
                <a:sym typeface="Symbol" panose="05050102010706020507" pitchFamily="18" charset="2"/>
              </a:rPr>
              <a:t></a:t>
            </a:r>
            <a:r>
              <a:rPr lang="en-US" altLang="zh-CN" sz="2000" dirty="0" smtClean="0">
                <a:solidFill>
                  <a:srgbClr val="FF0000"/>
                </a:solidFill>
              </a:rPr>
              <a:t>(</a:t>
            </a:r>
            <a:r>
              <a:rPr lang="en-US" altLang="zh-CN" sz="2000" dirty="0">
                <a:solidFill>
                  <a:srgbClr val="FF0000"/>
                </a:solidFill>
              </a:rPr>
              <a:t>n</a:t>
            </a:r>
            <a:r>
              <a:rPr lang="en-US" altLang="zh-CN" sz="2000" baseline="30000" dirty="0">
                <a:solidFill>
                  <a:srgbClr val="FF0000"/>
                </a:solidFill>
              </a:rPr>
              <a:t>2</a:t>
            </a:r>
            <a:r>
              <a:rPr lang="en-US" altLang="zh-CN" sz="2000" dirty="0">
                <a:solidFill>
                  <a:srgbClr val="FF0000"/>
                </a:solidFill>
              </a:rPr>
              <a:t>logn)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</a:t>
            </a:r>
            <a:r>
              <a:rPr lang="en-US" altLang="zh-CN" dirty="0" smtClean="0"/>
              <a:t>Analyze</a:t>
            </a:r>
            <a:endParaRPr lang="zh-CN" altLang="en-US" dirty="0" smtClean="0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FAAB01A5-5DC3-4A33-B607-6D7D7EB27709}" type="slidenum">
              <a:rPr lang="zh-CN" altLang="en-US" sz="900" smtClean="0"/>
            </a:fld>
            <a:endParaRPr lang="zh-CN" altLang="en-US" sz="900" smtClean="0"/>
          </a:p>
        </p:txBody>
      </p:sp>
      <p:sp>
        <p:nvSpPr>
          <p:cNvPr id="4" name="矩形 3"/>
          <p:cNvSpPr/>
          <p:nvPr/>
        </p:nvSpPr>
        <p:spPr>
          <a:xfrm>
            <a:off x="2784475" y="1659890"/>
            <a:ext cx="6525895" cy="230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ea typeface="宋体" pitchFamily="2" charset="-122"/>
              </a:rPr>
              <a:t>// </a:t>
            </a:r>
            <a:r>
              <a:rPr lang="en-US" altLang="zh-CN" sz="2400" dirty="0"/>
              <a:t>assume </a:t>
            </a:r>
            <a:r>
              <a:rPr lang="en-US" altLang="zh-CN" sz="2400" dirty="0" smtClean="0"/>
              <a:t>A[] </a:t>
            </a:r>
            <a:r>
              <a:rPr lang="en-US" altLang="zh-CN" sz="2400" dirty="0"/>
              <a:t>contains a random </a:t>
            </a:r>
            <a:r>
              <a:rPr lang="en-US" altLang="zh-CN" sz="2400" dirty="0" smtClean="0"/>
              <a:t>permutation</a:t>
            </a:r>
            <a:endParaRPr lang="en-US" altLang="zh-CN" sz="2400" dirty="0" smtClean="0"/>
          </a:p>
          <a:p>
            <a:r>
              <a:rPr lang="en-US" altLang="zh-CN" sz="2400" dirty="0" smtClean="0"/>
              <a:t>// </a:t>
            </a:r>
            <a:r>
              <a:rPr lang="en-US" altLang="zh-CN" sz="2400" dirty="0"/>
              <a:t>of the values from 0 to </a:t>
            </a:r>
            <a:r>
              <a:rPr lang="en-US" altLang="zh-CN" sz="2400" dirty="0" smtClean="0"/>
              <a:t>n-1</a:t>
            </a:r>
            <a:endParaRPr lang="en-US" altLang="zh-CN" sz="2400" dirty="0" smtClean="0"/>
          </a:p>
          <a:p>
            <a:r>
              <a:rPr lang="nn-NO" altLang="zh-CN" sz="2400" dirty="0">
                <a:solidFill>
                  <a:srgbClr val="990099"/>
                </a:solidFill>
              </a:rPr>
              <a:t>sum=0;</a:t>
            </a:r>
            <a:endParaRPr lang="nn-NO" altLang="zh-CN" sz="2400" dirty="0">
              <a:solidFill>
                <a:srgbClr val="990099"/>
              </a:solidFill>
            </a:endParaRPr>
          </a:p>
          <a:p>
            <a:r>
              <a:rPr lang="nn-NO" altLang="zh-CN" sz="2400" dirty="0" smtClean="0">
                <a:solidFill>
                  <a:srgbClr val="990099"/>
                </a:solidFill>
              </a:rPr>
              <a:t>for(i=0</a:t>
            </a:r>
            <a:r>
              <a:rPr lang="nn-NO" altLang="zh-CN" sz="2400" dirty="0">
                <a:solidFill>
                  <a:srgbClr val="990099"/>
                </a:solidFill>
              </a:rPr>
              <a:t>; i&lt;n; i++)</a:t>
            </a:r>
            <a:endParaRPr lang="nn-NO" altLang="zh-CN" sz="2400" dirty="0">
              <a:solidFill>
                <a:srgbClr val="990099"/>
              </a:solidFill>
            </a:endParaRPr>
          </a:p>
          <a:p>
            <a:r>
              <a:rPr lang="nn-NO" altLang="zh-CN" sz="2400" dirty="0" smtClean="0">
                <a:solidFill>
                  <a:srgbClr val="990099"/>
                </a:solidFill>
              </a:rPr>
              <a:t>  for(j=0</a:t>
            </a:r>
            <a:r>
              <a:rPr lang="nn-NO" altLang="zh-CN" sz="2400" dirty="0">
                <a:solidFill>
                  <a:srgbClr val="990099"/>
                </a:solidFill>
              </a:rPr>
              <a:t>; </a:t>
            </a:r>
            <a:r>
              <a:rPr lang="nn-NO" altLang="zh-CN" sz="2400" dirty="0">
                <a:solidFill>
                  <a:srgbClr val="008000"/>
                </a:solidFill>
              </a:rPr>
              <a:t>A[j] !=i</a:t>
            </a:r>
            <a:r>
              <a:rPr lang="nn-NO" altLang="zh-CN" sz="2400" dirty="0">
                <a:solidFill>
                  <a:srgbClr val="990099"/>
                </a:solidFill>
              </a:rPr>
              <a:t>; j++)</a:t>
            </a:r>
            <a:endParaRPr lang="nn-NO" altLang="zh-CN" sz="2400" dirty="0">
              <a:solidFill>
                <a:srgbClr val="990099"/>
              </a:solidFill>
            </a:endParaRPr>
          </a:p>
          <a:p>
            <a:r>
              <a:rPr lang="nn-NO" altLang="zh-CN" sz="2400" dirty="0" smtClean="0">
                <a:solidFill>
                  <a:srgbClr val="990099"/>
                </a:solidFill>
              </a:rPr>
              <a:t>    sum</a:t>
            </a:r>
            <a:r>
              <a:rPr lang="nn-NO" altLang="zh-CN" sz="2400" dirty="0">
                <a:solidFill>
                  <a:srgbClr val="990099"/>
                </a:solidFill>
              </a:rPr>
              <a:t>++;</a:t>
            </a:r>
            <a:endParaRPr lang="nn-NO" altLang="zh-CN" sz="2400" dirty="0">
              <a:solidFill>
                <a:srgbClr val="990099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01581" y="4863372"/>
            <a:ext cx="346964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Determine </a:t>
            </a:r>
            <a:r>
              <a:rPr lang="en-US" altLang="zh-CN" sz="2000" dirty="0">
                <a:solidFill>
                  <a:srgbClr val="FF0000"/>
                </a:solidFill>
                <a:latin typeface="Helvetica" pitchFamily="34" charset="0"/>
                <a:sym typeface="Symbol" panose="05050102010706020507" pitchFamily="18" charset="2"/>
              </a:rPr>
              <a:t> in average case</a:t>
            </a:r>
            <a:endParaRPr lang="en-US" altLang="zh-CN" sz="2000" dirty="0">
              <a:solidFill>
                <a:srgbClr val="FF0000"/>
              </a:solidFill>
              <a:latin typeface="Helvetica" pitchFamily="34" charset="0"/>
              <a:sym typeface="Symbol" panose="05050102010706020507" pitchFamily="18" charset="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391535" y="5264150"/>
            <a:ext cx="248285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Helvetica" pitchFamily="34" charset="0"/>
                <a:sym typeface="Symbol" panose="05050102010706020507" pitchFamily="18" charset="2"/>
              </a:rPr>
              <a:t>(n*n/2)=(n</a:t>
            </a:r>
            <a:r>
              <a:rPr lang="en-US" altLang="zh-CN" sz="2000" baseline="30000" dirty="0">
                <a:solidFill>
                  <a:srgbClr val="FF0000"/>
                </a:solidFill>
                <a:latin typeface="Helvetica" pitchFamily="34" charset="0"/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olidFill>
                  <a:srgbClr val="FF0000"/>
                </a:solidFill>
                <a:latin typeface="Helvetica" pitchFamily="34" charset="0"/>
                <a:sym typeface="Symbol" panose="05050102010706020507" pitchFamily="18" charset="2"/>
              </a:rPr>
              <a:t>)</a:t>
            </a:r>
            <a:endParaRPr lang="en-US" altLang="zh-CN" sz="2000" dirty="0">
              <a:solidFill>
                <a:srgbClr val="FF0000"/>
              </a:solidFill>
              <a:latin typeface="Helvetica" pitchFamily="34" charset="0"/>
              <a:sym typeface="Symbol" panose="05050102010706020507" pitchFamily="18" charset="2"/>
            </a:endParaRPr>
          </a:p>
        </p:txBody>
      </p:sp>
      <p:graphicFrame>
        <p:nvGraphicFramePr>
          <p:cNvPr id="7" name="Table 1"/>
          <p:cNvGraphicFramePr>
            <a:graphicFrameLocks noGrp="1"/>
          </p:cNvGraphicFramePr>
          <p:nvPr/>
        </p:nvGraphicFramePr>
        <p:xfrm>
          <a:off x="5393922" y="3690039"/>
          <a:ext cx="2738120" cy="342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265"/>
                <a:gridCol w="342265"/>
                <a:gridCol w="342265"/>
                <a:gridCol w="342265"/>
                <a:gridCol w="342265"/>
                <a:gridCol w="342265"/>
                <a:gridCol w="342265"/>
                <a:gridCol w="342265"/>
              </a:tblGrid>
              <a:tr h="342900"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CN" alt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8" name="Group 6"/>
          <p:cNvGrpSpPr/>
          <p:nvPr/>
        </p:nvGrpSpPr>
        <p:grpSpPr>
          <a:xfrm>
            <a:off x="5296448" y="4032939"/>
            <a:ext cx="575443" cy="749486"/>
            <a:chOff x="5172895" y="2852936"/>
            <a:chExt cx="767257" cy="999315"/>
          </a:xfrm>
        </p:grpSpPr>
        <p:cxnSp>
          <p:nvCxnSpPr>
            <p:cNvPr id="9" name="Straight Arrow Connector 4"/>
            <p:cNvCxnSpPr/>
            <p:nvPr/>
          </p:nvCxnSpPr>
          <p:spPr>
            <a:xfrm flipV="1">
              <a:off x="5436096" y="2852936"/>
              <a:ext cx="0" cy="5040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5"/>
            <p:cNvSpPr txBox="1"/>
            <p:nvPr/>
          </p:nvSpPr>
          <p:spPr>
            <a:xfrm>
              <a:off x="5172895" y="3361184"/>
              <a:ext cx="767257" cy="491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cs typeface="Arial" panose="020B0604020202090204" pitchFamily="34" charset="0"/>
                </a:rPr>
                <a:t>j=0</a:t>
              </a:r>
              <a:endParaRPr lang="en-US" altLang="zh-CN" dirty="0" smtClean="0">
                <a:cs typeface="Arial" panose="020B0604020202090204" pitchFamily="34" charset="0"/>
              </a:endParaRPr>
            </a:p>
          </p:txBody>
        </p:sp>
      </p:grpSp>
      <p:grpSp>
        <p:nvGrpSpPr>
          <p:cNvPr id="11" name="Group 15"/>
          <p:cNvGrpSpPr/>
          <p:nvPr/>
        </p:nvGrpSpPr>
        <p:grpSpPr>
          <a:xfrm>
            <a:off x="5676537" y="4032939"/>
            <a:ext cx="575443" cy="749486"/>
            <a:chOff x="5172895" y="2852936"/>
            <a:chExt cx="767257" cy="999315"/>
          </a:xfrm>
        </p:grpSpPr>
        <p:cxnSp>
          <p:nvCxnSpPr>
            <p:cNvPr id="12" name="Straight Arrow Connector 16"/>
            <p:cNvCxnSpPr/>
            <p:nvPr/>
          </p:nvCxnSpPr>
          <p:spPr>
            <a:xfrm flipV="1">
              <a:off x="5436096" y="2852936"/>
              <a:ext cx="0" cy="5040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7"/>
            <p:cNvSpPr txBox="1"/>
            <p:nvPr/>
          </p:nvSpPr>
          <p:spPr>
            <a:xfrm>
              <a:off x="5172895" y="3361184"/>
              <a:ext cx="767257" cy="491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cs typeface="Arial" panose="020B0604020202090204" pitchFamily="34" charset="0"/>
                </a:rPr>
                <a:t>j=1</a:t>
              </a:r>
              <a:endParaRPr lang="en-US" altLang="zh-CN" dirty="0" smtClean="0">
                <a:cs typeface="Arial" panose="020B0604020202090204" pitchFamily="34" charset="0"/>
              </a:endParaRPr>
            </a:p>
          </p:txBody>
        </p:sp>
      </p:grpSp>
      <p:grpSp>
        <p:nvGrpSpPr>
          <p:cNvPr id="14" name="Group 18"/>
          <p:cNvGrpSpPr/>
          <p:nvPr/>
        </p:nvGrpSpPr>
        <p:grpSpPr>
          <a:xfrm>
            <a:off x="6698960" y="4032939"/>
            <a:ext cx="575443" cy="749486"/>
            <a:chOff x="5172895" y="2852936"/>
            <a:chExt cx="767257" cy="999315"/>
          </a:xfrm>
        </p:grpSpPr>
        <p:cxnSp>
          <p:nvCxnSpPr>
            <p:cNvPr id="15" name="Straight Arrow Connector 19"/>
            <p:cNvCxnSpPr/>
            <p:nvPr/>
          </p:nvCxnSpPr>
          <p:spPr>
            <a:xfrm flipV="1">
              <a:off x="5436096" y="2852936"/>
              <a:ext cx="0" cy="50405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0"/>
            <p:cNvSpPr txBox="1"/>
            <p:nvPr/>
          </p:nvSpPr>
          <p:spPr>
            <a:xfrm>
              <a:off x="5172895" y="3361184"/>
              <a:ext cx="767257" cy="4910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cs typeface="Arial" panose="020B0604020202090204" pitchFamily="34" charset="0"/>
                </a:rPr>
                <a:t>j=4</a:t>
              </a:r>
              <a:endParaRPr lang="en-US" altLang="zh-CN" dirty="0" smtClean="0">
                <a:cs typeface="Arial" panose="020B060402020209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</a:t>
            </a:r>
            <a:r>
              <a:rPr lang="en-US" altLang="zh-CN" dirty="0" smtClean="0"/>
              <a:t>Analyze</a:t>
            </a:r>
            <a:endParaRPr lang="zh-CN" altLang="en-US" dirty="0" smtClean="0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FAAB01A5-5DC3-4A33-B607-6D7D7EB27709}" type="slidenum">
              <a:rPr lang="zh-CN" altLang="en-US" sz="900" smtClean="0"/>
            </a:fld>
            <a:endParaRPr lang="zh-CN" altLang="en-US" sz="900" smtClean="0"/>
          </a:p>
        </p:txBody>
      </p:sp>
      <p:sp>
        <p:nvSpPr>
          <p:cNvPr id="2" name="矩形 1"/>
          <p:cNvSpPr/>
          <p:nvPr/>
        </p:nvSpPr>
        <p:spPr>
          <a:xfrm>
            <a:off x="3653790" y="2163445"/>
            <a:ext cx="4043045" cy="119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ea typeface="宋体" pitchFamily="2" charset="-122"/>
              </a:rPr>
              <a:t>// A </a:t>
            </a:r>
            <a:r>
              <a:rPr lang="en-US" altLang="zh-CN" sz="2400" dirty="0">
                <a:ea typeface="宋体" pitchFamily="2" charset="-122"/>
              </a:rPr>
              <a:t>simple assignment to </a:t>
            </a:r>
            <a:r>
              <a:rPr lang="en-US" altLang="zh-CN" sz="2400" dirty="0" smtClean="0">
                <a:ea typeface="宋体" pitchFamily="2" charset="-122"/>
              </a:rPr>
              <a:t>// an </a:t>
            </a:r>
            <a:r>
              <a:rPr lang="en-US" altLang="zh-CN" sz="2400" dirty="0">
                <a:ea typeface="宋体" pitchFamily="2" charset="-122"/>
              </a:rPr>
              <a:t>integer variable</a:t>
            </a:r>
            <a:br>
              <a:rPr lang="en-US" altLang="zh-CN" sz="2400" dirty="0">
                <a:ea typeface="宋体" pitchFamily="2" charset="-122"/>
              </a:rPr>
            </a:br>
            <a:r>
              <a:rPr lang="en-US" altLang="zh-CN" sz="2400" dirty="0" smtClean="0">
                <a:solidFill>
                  <a:srgbClr val="990099"/>
                </a:solidFill>
                <a:ea typeface="宋体" pitchFamily="2" charset="-122"/>
              </a:rPr>
              <a:t>a </a:t>
            </a:r>
            <a:r>
              <a:rPr lang="en-US" altLang="zh-CN" sz="2400" dirty="0">
                <a:solidFill>
                  <a:srgbClr val="990099"/>
                </a:solidFill>
                <a:ea typeface="宋体" pitchFamily="2" charset="-122"/>
              </a:rPr>
              <a:t>= b;</a:t>
            </a:r>
            <a:endParaRPr lang="en-US" altLang="zh-CN" sz="2400" dirty="0">
              <a:solidFill>
                <a:srgbClr val="990099"/>
              </a:solidFill>
              <a:ea typeface="宋体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12723" y="3504221"/>
            <a:ext cx="271423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T(N) </a:t>
            </a:r>
            <a:r>
              <a:rPr lang="en-US" altLang="zh-CN" sz="2000" b="1" dirty="0">
                <a:solidFill>
                  <a:srgbClr val="FF0000"/>
                </a:solidFill>
              </a:rPr>
              <a:t>= </a:t>
            </a:r>
            <a:r>
              <a:rPr lang="el-GR" altLang="zh-CN" sz="2000" b="1" dirty="0">
                <a:solidFill>
                  <a:srgbClr val="FF0000"/>
                </a:solidFill>
              </a:rPr>
              <a:t>Θ</a:t>
            </a:r>
            <a:r>
              <a:rPr lang="en-US" altLang="zh-CN" sz="2000" b="1" dirty="0">
                <a:solidFill>
                  <a:srgbClr val="FF0000"/>
                </a:solidFill>
              </a:rPr>
              <a:t>(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1</a:t>
            </a:r>
            <a:r>
              <a:rPr lang="en-US" altLang="zh-CN" sz="2000" b="1" dirty="0">
                <a:solidFill>
                  <a:srgbClr val="FF0000"/>
                </a:solidFill>
              </a:rPr>
              <a:t>)</a:t>
            </a:r>
            <a:endParaRPr lang="en-US" altLang="zh-CN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How </a:t>
            </a:r>
            <a:r>
              <a:rPr lang="en-US" altLang="zh-CN" dirty="0"/>
              <a:t>to Analyze</a:t>
            </a:r>
            <a:endParaRPr lang="en-US" altLang="zh-CN" dirty="0"/>
          </a:p>
        </p:txBody>
      </p:sp>
      <p:sp>
        <p:nvSpPr>
          <p:cNvPr id="70659" name="内容占位符 4"/>
          <p:cNvSpPr>
            <a:spLocks noGrp="1"/>
          </p:cNvSpPr>
          <p:nvPr>
            <p:ph idx="1"/>
          </p:nvPr>
        </p:nvSpPr>
        <p:spPr>
          <a:xfrm>
            <a:off x="2044700" y="1681480"/>
            <a:ext cx="8013700" cy="4674235"/>
          </a:xfrm>
        </p:spPr>
        <p:txBody>
          <a:bodyPr>
            <a:noAutofit/>
          </a:bodyPr>
          <a:lstStyle/>
          <a:p>
            <a:r>
              <a:rPr lang="en-US" altLang="zh-CN" dirty="0">
                <a:solidFill>
                  <a:srgbClr val="008000"/>
                </a:solidFill>
              </a:rPr>
              <a:t>While loop </a:t>
            </a:r>
            <a:r>
              <a:rPr lang="en-US" altLang="zh-CN" dirty="0"/>
              <a:t>– similar to for </a:t>
            </a:r>
            <a:r>
              <a:rPr lang="en-US" altLang="zh-CN" dirty="0" smtClean="0"/>
              <a:t>loop</a:t>
            </a:r>
            <a:endParaRPr lang="en-US" altLang="zh-CN" dirty="0" smtClean="0"/>
          </a:p>
          <a:p>
            <a:endParaRPr lang="en-US" altLang="zh-CN" sz="100" dirty="0"/>
          </a:p>
          <a:p>
            <a:r>
              <a:rPr lang="en-US" altLang="zh-CN" dirty="0">
                <a:solidFill>
                  <a:srgbClr val="5252D4"/>
                </a:solidFill>
              </a:rPr>
              <a:t>If-then-else statement </a:t>
            </a:r>
            <a:r>
              <a:rPr lang="en-US" altLang="zh-CN" dirty="0"/>
              <a:t>– the greater of the costs for the then and else clauses</a:t>
            </a:r>
            <a:r>
              <a:rPr lang="en-US" altLang="zh-CN" dirty="0" smtClean="0"/>
              <a:t>.</a:t>
            </a:r>
            <a:endParaRPr lang="en-US" altLang="zh-CN" dirty="0" smtClean="0"/>
          </a:p>
          <a:p>
            <a:endParaRPr lang="en-US" altLang="zh-CN" sz="100" dirty="0"/>
          </a:p>
          <a:p>
            <a:r>
              <a:rPr lang="en-US" altLang="zh-CN" dirty="0">
                <a:solidFill>
                  <a:srgbClr val="CC0000"/>
                </a:solidFill>
              </a:rPr>
              <a:t>Switch statement </a:t>
            </a:r>
            <a:r>
              <a:rPr lang="en-US" altLang="zh-CN" dirty="0"/>
              <a:t>– the most expensive </a:t>
            </a:r>
            <a:r>
              <a:rPr lang="en-US" altLang="zh-CN" dirty="0" smtClean="0"/>
              <a:t>branch</a:t>
            </a:r>
            <a:endParaRPr lang="en-US" altLang="zh-CN" dirty="0" smtClean="0"/>
          </a:p>
          <a:p>
            <a:endParaRPr lang="en-US" altLang="zh-CN" sz="100" dirty="0"/>
          </a:p>
          <a:p>
            <a:r>
              <a:rPr lang="en-US" altLang="zh-CN" dirty="0">
                <a:solidFill>
                  <a:srgbClr val="7030A0"/>
                </a:solidFill>
              </a:rPr>
              <a:t>Subroutine call </a:t>
            </a:r>
            <a:r>
              <a:rPr lang="en-US" altLang="zh-CN" dirty="0"/>
              <a:t>– add the cost of </a:t>
            </a:r>
            <a:r>
              <a:rPr lang="en-US" altLang="zh-CN" dirty="0" smtClean="0"/>
              <a:t>subroutine</a:t>
            </a:r>
            <a:endParaRPr lang="en-US" altLang="zh-CN" dirty="0" smtClean="0"/>
          </a:p>
          <a:p>
            <a:endParaRPr lang="en-US" altLang="zh-CN" sz="100" dirty="0"/>
          </a:p>
          <a:p>
            <a:r>
              <a:rPr lang="en-US" altLang="zh-CN" dirty="0"/>
              <a:t>Recursive subroutine – express the cost by a recurrence relation and then find the closed-form solution.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706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9167FE05-B472-4BAE-8045-296709068849}" type="slidenum">
              <a:rPr lang="zh-CN" altLang="en-US" sz="900" smtClean="0"/>
            </a:fld>
            <a:endParaRPr lang="zh-CN" altLang="en-US" sz="9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</a:t>
            </a:r>
            <a:r>
              <a:rPr lang="en-US" altLang="zh-CN" dirty="0" smtClean="0"/>
              <a:t>Analyze</a:t>
            </a:r>
            <a:endParaRPr lang="zh-CN" altLang="en-US" dirty="0" smtClean="0"/>
          </a:p>
        </p:txBody>
      </p:sp>
      <p:sp>
        <p:nvSpPr>
          <p:cNvPr id="7373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FAAB01A5-5DC3-4A33-B607-6D7D7EB27709}" type="slidenum">
              <a:rPr lang="zh-CN" altLang="en-US" sz="900" smtClean="0"/>
            </a:fld>
            <a:endParaRPr lang="zh-CN" altLang="en-US" sz="900" smtClean="0"/>
          </a:p>
        </p:txBody>
      </p:sp>
      <p:sp>
        <p:nvSpPr>
          <p:cNvPr id="2" name="矩形 1"/>
          <p:cNvSpPr/>
          <p:nvPr/>
        </p:nvSpPr>
        <p:spPr>
          <a:xfrm>
            <a:off x="2585720" y="1926590"/>
            <a:ext cx="7020560" cy="1938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ea typeface="宋体" pitchFamily="2" charset="-122"/>
              </a:rPr>
              <a:t>// </a:t>
            </a:r>
            <a:r>
              <a:rPr lang="en-US" altLang="zh-CN" sz="2400" dirty="0" smtClean="0"/>
              <a:t>Here </a:t>
            </a:r>
            <a:r>
              <a:rPr lang="en-US" altLang="zh-CN" sz="2400" dirty="0"/>
              <a:t>|| is the string concatenation </a:t>
            </a:r>
            <a:r>
              <a:rPr lang="en-US" altLang="zh-CN" sz="2400" dirty="0" smtClean="0"/>
              <a:t>operator</a:t>
            </a:r>
            <a:endParaRPr lang="en-US" altLang="zh-CN" sz="2400" dirty="0" smtClean="0"/>
          </a:p>
          <a:p>
            <a:r>
              <a:rPr lang="en-US" altLang="zh-CN" sz="2400" dirty="0" smtClean="0">
                <a:solidFill>
                  <a:srgbClr val="990099"/>
                </a:solidFill>
              </a:rPr>
              <a:t>string </a:t>
            </a:r>
            <a:r>
              <a:rPr lang="en-US" altLang="zh-CN" sz="2400" dirty="0">
                <a:solidFill>
                  <a:srgbClr val="990099"/>
                </a:solidFill>
              </a:rPr>
              <a:t>t (</a:t>
            </a:r>
            <a:r>
              <a:rPr lang="en-US" altLang="zh-CN" sz="2400" dirty="0" err="1">
                <a:solidFill>
                  <a:srgbClr val="990099"/>
                </a:solidFill>
              </a:rPr>
              <a:t>int</a:t>
            </a:r>
            <a:r>
              <a:rPr lang="en-US" altLang="zh-CN" sz="2400" dirty="0">
                <a:solidFill>
                  <a:srgbClr val="990099"/>
                </a:solidFill>
              </a:rPr>
              <a:t> n</a:t>
            </a:r>
            <a:r>
              <a:rPr lang="en-US" altLang="zh-CN" sz="2400" dirty="0" smtClean="0">
                <a:solidFill>
                  <a:srgbClr val="990099"/>
                </a:solidFill>
              </a:rPr>
              <a:t>){</a:t>
            </a:r>
            <a:endParaRPr lang="en-US" altLang="zh-CN" sz="2400" dirty="0">
              <a:solidFill>
                <a:srgbClr val="990099"/>
              </a:solidFill>
            </a:endParaRPr>
          </a:p>
          <a:p>
            <a:r>
              <a:rPr lang="en-US" altLang="zh-CN" sz="2400" dirty="0">
                <a:solidFill>
                  <a:srgbClr val="990099"/>
                </a:solidFill>
              </a:rPr>
              <a:t>   if (n == 1) return ‘(1) ‘;</a:t>
            </a:r>
            <a:endParaRPr lang="en-US" altLang="zh-CN" sz="2400" dirty="0">
              <a:solidFill>
                <a:srgbClr val="990099"/>
              </a:solidFill>
            </a:endParaRPr>
          </a:p>
          <a:p>
            <a:r>
              <a:rPr lang="en-US" altLang="zh-CN" sz="2400" dirty="0">
                <a:solidFill>
                  <a:srgbClr val="990099"/>
                </a:solidFill>
              </a:rPr>
              <a:t>   else return ‘(‘ || n || t(n - 1) </a:t>
            </a:r>
            <a:r>
              <a:rPr lang="en-US" altLang="zh-CN" sz="2400" dirty="0" smtClean="0">
                <a:solidFill>
                  <a:srgbClr val="990099"/>
                </a:solidFill>
              </a:rPr>
              <a:t>|| </a:t>
            </a:r>
            <a:r>
              <a:rPr lang="en-US" altLang="zh-CN" sz="2400" dirty="0">
                <a:solidFill>
                  <a:srgbClr val="990099"/>
                </a:solidFill>
              </a:rPr>
              <a:t>‘) ‘</a:t>
            </a:r>
            <a:endParaRPr lang="en-US" altLang="zh-CN" sz="2400" dirty="0">
              <a:solidFill>
                <a:srgbClr val="990099"/>
              </a:solidFill>
            </a:endParaRPr>
          </a:p>
          <a:p>
            <a:r>
              <a:rPr lang="en-US" altLang="zh-CN" sz="2400" dirty="0" smtClean="0">
                <a:solidFill>
                  <a:srgbClr val="990099"/>
                </a:solidFill>
              </a:rPr>
              <a:t>}</a:t>
            </a:r>
            <a:endParaRPr lang="en-US" altLang="zh-CN" sz="2400" dirty="0" smtClean="0">
              <a:solidFill>
                <a:srgbClr val="990099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48610" y="4258945"/>
            <a:ext cx="59982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T(n) </a:t>
            </a:r>
            <a:r>
              <a:rPr lang="en-US" altLang="zh-CN" sz="2400" b="1" dirty="0">
                <a:solidFill>
                  <a:srgbClr val="FF0000"/>
                </a:solidFill>
              </a:rPr>
              <a:t>= 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T(n-1) +</a:t>
            </a:r>
            <a:r>
              <a:rPr lang="en-US" altLang="zh-CN" sz="2400" b="1" dirty="0">
                <a:solidFill>
                  <a:srgbClr val="FF0000"/>
                </a:solidFill>
              </a:rPr>
              <a:t> c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 , for n&gt;1, with T(1) = c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  </a:t>
            </a:r>
            <a:endParaRPr lang="en-US" altLang="zh-CN" sz="2400" b="1" dirty="0" smtClean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72435" y="5113655"/>
            <a:ext cx="410019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That is ,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r>
              <a:rPr lang="en-US" altLang="zh-CN" sz="2400" b="1" dirty="0" smtClean="0">
                <a:solidFill>
                  <a:srgbClr val="FF0000"/>
                </a:solidFill>
              </a:rPr>
              <a:t>T(n) </a:t>
            </a:r>
            <a:r>
              <a:rPr lang="en-US" altLang="zh-CN" sz="2400" b="1" dirty="0">
                <a:solidFill>
                  <a:srgbClr val="FF0000"/>
                </a:solidFill>
              </a:rPr>
              <a:t>= 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c*(n-1) + c</a:t>
            </a:r>
            <a:r>
              <a:rPr lang="en-US" altLang="zh-CN" sz="2400" b="1" baseline="-25000" dirty="0" smtClean="0">
                <a:solidFill>
                  <a:srgbClr val="FF0000"/>
                </a:solidFill>
              </a:rPr>
              <a:t>1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 = </a:t>
            </a:r>
            <a:r>
              <a:rPr lang="el-GR" altLang="zh-CN" sz="2400" b="1" dirty="0">
                <a:solidFill>
                  <a:srgbClr val="FF0000"/>
                </a:solidFill>
              </a:rPr>
              <a:t>Θ</a:t>
            </a:r>
            <a:r>
              <a:rPr lang="en-US" altLang="zh-CN" sz="2400" b="1" dirty="0">
                <a:solidFill>
                  <a:srgbClr val="FF0000"/>
                </a:solidFill>
              </a:rPr>
              <a:t>(n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)</a:t>
            </a:r>
            <a:endParaRPr lang="en-US" altLang="zh-CN" sz="2400" b="1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Analyze</a:t>
            </a:r>
            <a:endParaRPr lang="zh-CN" alt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0200" y="1505585"/>
            <a:ext cx="7058660" cy="473329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indent="0" defTabSz="914400">
              <a:buNone/>
            </a:pPr>
            <a:r>
              <a:rPr lang="en-US" altLang="zh-CN" sz="2000" dirty="0">
                <a:latin typeface="+mn-lt"/>
                <a:cs typeface="+mn-cs"/>
              </a:rPr>
              <a:t>//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  <a:cs typeface="+mn-cs"/>
              </a:rPr>
              <a:t>Multiple Parameters</a:t>
            </a:r>
            <a:endParaRPr lang="en-US" altLang="zh-CN" sz="2000" dirty="0" smtClean="0">
              <a:solidFill>
                <a:srgbClr val="FF0000"/>
              </a:solidFill>
              <a:latin typeface="+mn-lt"/>
              <a:ea typeface="宋体" pitchFamily="2" charset="-122"/>
              <a:cs typeface="+mn-cs"/>
            </a:endParaRPr>
          </a:p>
          <a:p>
            <a:pPr marL="0" indent="0" defTabSz="914400">
              <a:buNone/>
            </a:pPr>
            <a:r>
              <a:rPr lang="en-US" altLang="zh-CN" sz="2000" dirty="0" smtClean="0">
                <a:latin typeface="+mn-lt"/>
                <a:ea typeface="宋体" pitchFamily="2" charset="-122"/>
                <a:cs typeface="+mn-cs"/>
              </a:rPr>
              <a:t>// A </a:t>
            </a:r>
            <a:r>
              <a:rPr lang="en-US" altLang="zh-CN" sz="2000" dirty="0">
                <a:latin typeface="+mn-lt"/>
                <a:ea typeface="宋体" pitchFamily="2" charset="-122"/>
                <a:cs typeface="+mn-cs"/>
              </a:rPr>
              <a:t>picture with P pixels; each pixel take one of C color </a:t>
            </a:r>
            <a:endParaRPr lang="en-US" altLang="zh-CN" sz="2000" dirty="0" smtClean="0">
              <a:latin typeface="+mn-lt"/>
              <a:ea typeface="宋体" pitchFamily="2" charset="-122"/>
              <a:cs typeface="+mn-cs"/>
            </a:endParaRPr>
          </a:p>
          <a:p>
            <a:pPr marL="0" indent="0" defTabSz="914400">
              <a:buNone/>
            </a:pPr>
            <a:r>
              <a:rPr lang="en-US" altLang="zh-CN" sz="2000" dirty="0" smtClean="0">
                <a:latin typeface="+mn-lt"/>
                <a:ea typeface="宋体" pitchFamily="2" charset="-122"/>
                <a:cs typeface="+mn-cs"/>
              </a:rPr>
              <a:t>// values; Sort </a:t>
            </a:r>
            <a:r>
              <a:rPr lang="en-US" altLang="zh-CN" sz="2000" dirty="0">
                <a:latin typeface="+mn-lt"/>
                <a:ea typeface="宋体" pitchFamily="2" charset="-122"/>
                <a:cs typeface="+mn-cs"/>
              </a:rPr>
              <a:t>the colors w.r.t. the number of pixels with </a:t>
            </a:r>
            <a:endParaRPr lang="en-US" altLang="zh-CN" sz="2000" dirty="0" smtClean="0">
              <a:latin typeface="+mn-lt"/>
              <a:ea typeface="宋体" pitchFamily="2" charset="-122"/>
              <a:cs typeface="+mn-cs"/>
            </a:endParaRPr>
          </a:p>
          <a:p>
            <a:pPr marL="0" indent="0" defTabSz="914400">
              <a:buNone/>
            </a:pPr>
            <a:r>
              <a:rPr lang="en-US" altLang="zh-CN" sz="2000" dirty="0" smtClean="0">
                <a:latin typeface="+mn-lt"/>
                <a:ea typeface="宋体" pitchFamily="2" charset="-122"/>
                <a:cs typeface="+mn-cs"/>
              </a:rPr>
              <a:t>// the color (</a:t>
            </a:r>
            <a:r>
              <a:rPr lang="en-US" altLang="zh-CN" sz="2000" dirty="0"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(C log C) </a:t>
            </a:r>
            <a:r>
              <a:rPr lang="en-US" altLang="zh-CN" sz="2000" dirty="0" smtClean="0">
                <a:latin typeface="+mn-lt"/>
                <a:ea typeface="宋体" pitchFamily="2" charset="-122"/>
                <a:cs typeface="+mn-cs"/>
              </a:rPr>
              <a:t>)</a:t>
            </a:r>
            <a:endParaRPr lang="en-US" altLang="zh-CN" sz="2000" dirty="0">
              <a:latin typeface="+mn-lt"/>
              <a:ea typeface="宋体" pitchFamily="2" charset="-122"/>
              <a:cs typeface="+mn-cs"/>
            </a:endParaRPr>
          </a:p>
          <a:p>
            <a:pPr marL="457200" lvl="1" defTabSz="914400"/>
            <a:endParaRPr lang="en-US" altLang="zh-CN" sz="1800" dirty="0">
              <a:latin typeface="+mn-lt"/>
              <a:cs typeface="+mn-cs"/>
            </a:endParaRPr>
          </a:p>
          <a:p>
            <a:pPr marL="0" indent="0" defTabSz="914400">
              <a:buNone/>
            </a:pPr>
            <a:r>
              <a:rPr lang="en-US" altLang="zh-CN" sz="2000" dirty="0" smtClean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for 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=0; </a:t>
            </a:r>
            <a:r>
              <a:rPr lang="en-US" altLang="zh-CN" sz="2000" dirty="0" err="1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&lt;C; </a:t>
            </a:r>
            <a:r>
              <a:rPr lang="en-US" altLang="zh-CN" sz="2000" dirty="0" err="1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++)  // Initialize count</a:t>
            </a:r>
            <a:endParaRPr lang="en-US" altLang="zh-CN" sz="2000" dirty="0">
              <a:solidFill>
                <a:srgbClr val="7030A0"/>
              </a:solidFill>
              <a:latin typeface="+mn-lt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marL="0" indent="0" defTabSz="914400">
              <a:buNone/>
            </a:pPr>
            <a:r>
              <a:rPr lang="en-US" altLang="zh-CN" sz="2000" dirty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lang="en-US" altLang="zh-CN" sz="2000" dirty="0" smtClean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  count[</a:t>
            </a:r>
            <a:r>
              <a:rPr lang="en-US" altLang="zh-CN" sz="2000" dirty="0" err="1" smtClean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] = 0;</a:t>
            </a:r>
            <a:endParaRPr lang="en-US" altLang="zh-CN" sz="2000" dirty="0">
              <a:solidFill>
                <a:srgbClr val="7030A0"/>
              </a:solidFill>
              <a:latin typeface="+mn-lt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marL="0" indent="0" defTabSz="914400">
              <a:buNone/>
            </a:pPr>
            <a:r>
              <a:rPr lang="en-US" altLang="zh-CN" sz="2000" dirty="0" smtClean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for 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=0; </a:t>
            </a:r>
            <a:r>
              <a:rPr lang="en-US" altLang="zh-CN" sz="2000" dirty="0" err="1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&lt;P; </a:t>
            </a:r>
            <a:r>
              <a:rPr lang="en-US" altLang="zh-CN" sz="2000" dirty="0" err="1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++)  // Look at all pixels</a:t>
            </a:r>
            <a:endParaRPr lang="en-US" altLang="zh-CN" sz="2000" dirty="0">
              <a:solidFill>
                <a:srgbClr val="7030A0"/>
              </a:solidFill>
              <a:latin typeface="+mn-lt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marL="0" indent="0" defTabSz="914400">
              <a:buNone/>
            </a:pPr>
            <a:r>
              <a:rPr lang="en-US" altLang="zh-CN" sz="2000" dirty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lang="en-US" altLang="zh-CN" sz="2000" dirty="0" smtClean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  count[value(</a:t>
            </a:r>
            <a:r>
              <a:rPr lang="en-US" altLang="zh-CN" sz="2000" dirty="0" err="1" smtClean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i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)]++; // Increment count</a:t>
            </a:r>
            <a:endParaRPr lang="en-US" altLang="zh-CN" sz="2000" dirty="0">
              <a:solidFill>
                <a:srgbClr val="7030A0"/>
              </a:solidFill>
              <a:latin typeface="+mn-lt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marL="0" indent="0" defTabSz="914400">
              <a:buNone/>
            </a:pPr>
            <a:r>
              <a:rPr lang="en-US" altLang="zh-CN" sz="2000" dirty="0" smtClean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sort(count</a:t>
            </a:r>
            <a:r>
              <a:rPr lang="en-US" altLang="zh-CN" sz="2000" dirty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);         // Sort pixel </a:t>
            </a:r>
            <a:r>
              <a:rPr lang="en-US" altLang="zh-CN" sz="2000" dirty="0" smtClean="0">
                <a:solidFill>
                  <a:srgbClr val="7030A0"/>
                </a:solidFill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counts </a:t>
            </a:r>
            <a:endParaRPr lang="en-US" altLang="zh-CN" sz="2000" dirty="0">
              <a:solidFill>
                <a:srgbClr val="7030A0"/>
              </a:solidFill>
              <a:latin typeface="+mn-lt"/>
              <a:ea typeface="宋体" pitchFamily="2" charset="-122"/>
              <a:cs typeface="+mn-cs"/>
              <a:sym typeface="Symbol" panose="05050102010706020507" pitchFamily="18" charset="2"/>
            </a:endParaRPr>
          </a:p>
          <a:p>
            <a:pPr marL="0" defTabSz="914400"/>
            <a:endParaRPr lang="en-US" altLang="zh-CN" sz="2000" dirty="0">
              <a:latin typeface="+mn-lt"/>
              <a:ea typeface="宋体" pitchFamily="2" charset="-122"/>
              <a:cs typeface="+mn-cs"/>
            </a:endParaRPr>
          </a:p>
          <a:p>
            <a:pPr marL="0" defTabSz="914400"/>
            <a:endParaRPr lang="en-US" altLang="zh-CN" sz="2000" dirty="0"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83BA4D31-9771-40CA-A8AD-B7C4A5BAD5E2}" type="slidenum">
              <a:rPr lang="zh-CN" altLang="en-US" sz="900" smtClean="0"/>
            </a:fld>
            <a:endParaRPr lang="zh-CN" altLang="en-US" sz="900" smtClean="0"/>
          </a:p>
        </p:txBody>
      </p:sp>
      <p:sp>
        <p:nvSpPr>
          <p:cNvPr id="2" name="矩形 1"/>
          <p:cNvSpPr/>
          <p:nvPr/>
        </p:nvSpPr>
        <p:spPr>
          <a:xfrm>
            <a:off x="3249930" y="5754370"/>
            <a:ext cx="569214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The cost is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 (C) + (P) + (C log C) = (P + C log C</a:t>
            </a:r>
            <a:r>
              <a:rPr lang="en-US" altLang="zh-CN" dirty="0" smtClean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endParaRPr lang="en-US" altLang="zh-CN" dirty="0" smtClean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33750" y="6238875"/>
            <a:ext cx="428307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2"/>
            <a:r>
              <a:rPr lang="en-US" altLang="zh-CN" sz="2000" dirty="0">
                <a:solidFill>
                  <a:srgbClr val="008000"/>
                </a:solidFill>
                <a:sym typeface="Symbol" panose="05050102010706020507" pitchFamily="18" charset="2"/>
              </a:rPr>
              <a:t>Can we drop (P) or (C log C)? </a:t>
            </a:r>
            <a:endParaRPr lang="en-US" altLang="zh-CN" sz="2000" dirty="0">
              <a:solidFill>
                <a:srgbClr val="008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Note</a:t>
            </a:r>
            <a:r>
              <a:rPr lang="en-US" altLang="zh-CN" dirty="0" smtClean="0"/>
              <a:t>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50720" y="3188970"/>
            <a:ext cx="8920480" cy="3075305"/>
          </a:xfrm>
        </p:spPr>
        <p:txBody>
          <a:bodyPr>
            <a:noAutofit/>
          </a:bodyPr>
          <a:lstStyle/>
          <a:p>
            <a:r>
              <a:rPr lang="en-US" altLang="zh-CN" sz="2000" dirty="0"/>
              <a:t>U/L bounds refer to the algorithm’s growth rate</a:t>
            </a:r>
            <a:r>
              <a:rPr lang="en-US" altLang="zh-CN" sz="2000" dirty="0" smtClean="0"/>
              <a:t>.</a:t>
            </a:r>
            <a:endParaRPr lang="en-US" altLang="zh-CN" sz="2000" dirty="0" smtClean="0"/>
          </a:p>
          <a:p>
            <a:endParaRPr lang="en-US" altLang="zh-CN" sz="2000" dirty="0"/>
          </a:p>
          <a:p>
            <a:r>
              <a:rPr lang="en-US" altLang="zh-CN" sz="2000" dirty="0" smtClean="0"/>
              <a:t>B/W/A </a:t>
            </a:r>
            <a:r>
              <a:rPr lang="en-US" altLang="zh-CN" sz="2000" dirty="0"/>
              <a:t>cases refer to a certain type of inputs which cause the shortest/average/longest running time among all the inputs in study</a:t>
            </a:r>
            <a:r>
              <a:rPr lang="en-US" altLang="zh-CN" sz="2000" dirty="0" smtClean="0"/>
              <a:t>.</a:t>
            </a:r>
            <a:endParaRPr lang="en-US" altLang="zh-CN" sz="2000" dirty="0" smtClean="0"/>
          </a:p>
          <a:p>
            <a:endParaRPr lang="en-US" altLang="zh-CN" sz="2000" dirty="0"/>
          </a:p>
          <a:p>
            <a:r>
              <a:rPr lang="en-US" altLang="zh-CN" sz="2000" dirty="0" smtClean="0"/>
              <a:t>U/L bounds </a:t>
            </a:r>
            <a:r>
              <a:rPr lang="en-US" altLang="zh-CN" sz="2000" dirty="0"/>
              <a:t>can be used to describe the running time of an algorithm in its [best, worst, average] case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4D89D-F5C8-4ADB-91AC-94D7A8C47A12}" type="slidenum">
              <a:rPr lang="zh-CN" altLang="en-US" sz="900" smtClean="0"/>
            </a:fld>
            <a:endParaRPr lang="zh-CN" altLang="en-US" sz="90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907155" y="1691005"/>
            <a:ext cx="4609465" cy="11988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Best, Worst, Average-Cases </a:t>
            </a:r>
            <a:endParaRPr lang="en-US" altLang="zh-CN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Upper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Bounds</a:t>
            </a:r>
            <a:endParaRPr lang="en-US" altLang="zh-CN" sz="2400" dirty="0" smtClean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Notes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94305" y="1468120"/>
            <a:ext cx="7720330" cy="4208145"/>
          </a:xfrm>
        </p:spPr>
        <p:txBody>
          <a:bodyPr vert="horz" lIns="68580" tIns="34290" rIns="68580" bIns="34290" rtlCol="0">
            <a:noAutofit/>
          </a:bodyPr>
          <a:lstStyle/>
          <a:p>
            <a:r>
              <a:rPr lang="en-US" altLang="zh-CN" sz="2400" dirty="0">
                <a:solidFill>
                  <a:srgbClr val="008000"/>
                </a:solidFill>
              </a:rPr>
              <a:t>For an algorithm with T(n) = c</a:t>
            </a:r>
            <a:r>
              <a:rPr lang="en-US" altLang="zh-CN" sz="2400" baseline="-25000" dirty="0">
                <a:solidFill>
                  <a:srgbClr val="008000"/>
                </a:solidFill>
              </a:rPr>
              <a:t>1</a:t>
            </a:r>
            <a:r>
              <a:rPr lang="en-US" altLang="zh-CN" sz="2400" dirty="0">
                <a:solidFill>
                  <a:srgbClr val="008000"/>
                </a:solidFill>
              </a:rPr>
              <a:t>n</a:t>
            </a:r>
            <a:r>
              <a:rPr lang="en-US" altLang="zh-CN" sz="2400" baseline="30000" dirty="0">
                <a:solidFill>
                  <a:srgbClr val="008000"/>
                </a:solidFill>
              </a:rPr>
              <a:t>2</a:t>
            </a:r>
            <a:r>
              <a:rPr lang="en-US" altLang="zh-CN" sz="2400" dirty="0">
                <a:solidFill>
                  <a:srgbClr val="008000"/>
                </a:solidFill>
              </a:rPr>
              <a:t>+c</a:t>
            </a:r>
            <a:r>
              <a:rPr lang="en-US" altLang="zh-CN" sz="2400" baseline="-25000" dirty="0">
                <a:solidFill>
                  <a:srgbClr val="008000"/>
                </a:solidFill>
              </a:rPr>
              <a:t>2</a:t>
            </a:r>
            <a:r>
              <a:rPr lang="en-US" altLang="zh-CN" sz="2400" dirty="0">
                <a:solidFill>
                  <a:srgbClr val="008000"/>
                </a:solidFill>
              </a:rPr>
              <a:t>n in the average case (c</a:t>
            </a:r>
            <a:r>
              <a:rPr lang="en-US" altLang="zh-CN" sz="2400" baseline="-25000" dirty="0">
                <a:solidFill>
                  <a:srgbClr val="008000"/>
                </a:solidFill>
              </a:rPr>
              <a:t>1</a:t>
            </a:r>
            <a:r>
              <a:rPr lang="en-US" altLang="zh-CN" sz="2400" dirty="0">
                <a:solidFill>
                  <a:srgbClr val="008000"/>
                </a:solidFill>
              </a:rPr>
              <a:t>, c</a:t>
            </a:r>
            <a:r>
              <a:rPr lang="en-US" altLang="zh-CN" sz="2400" baseline="-25000" dirty="0">
                <a:solidFill>
                  <a:srgbClr val="008000"/>
                </a:solidFill>
              </a:rPr>
              <a:t>2</a:t>
            </a:r>
            <a:r>
              <a:rPr lang="en-US" altLang="zh-CN" sz="2400" dirty="0">
                <a:solidFill>
                  <a:srgbClr val="008000"/>
                </a:solidFill>
              </a:rPr>
              <a:t>&gt;0) , </a:t>
            </a:r>
            <a:endParaRPr lang="en-US" altLang="zh-CN" sz="2400" dirty="0">
              <a:solidFill>
                <a:srgbClr val="008000"/>
              </a:solidFill>
            </a:endParaRPr>
          </a:p>
          <a:p>
            <a:pPr lvl="1"/>
            <a:r>
              <a:rPr lang="en-US" altLang="zh-CN" sz="2000" dirty="0" smtClean="0"/>
              <a:t>c</a:t>
            </a:r>
            <a:r>
              <a:rPr lang="en-US" altLang="zh-CN" sz="2000" baseline="-25000" dirty="0" smtClean="0"/>
              <a:t>1</a:t>
            </a:r>
            <a:r>
              <a:rPr lang="en-US" altLang="zh-CN" sz="2000" dirty="0" smtClean="0"/>
              <a:t>n</a:t>
            </a:r>
            <a:r>
              <a:rPr lang="en-US" altLang="zh-CN" sz="2000" baseline="30000" dirty="0" smtClean="0"/>
              <a:t>2</a:t>
            </a:r>
            <a:r>
              <a:rPr lang="en-US" altLang="zh-CN" sz="2000" dirty="0" smtClean="0"/>
              <a:t>+c</a:t>
            </a:r>
            <a:r>
              <a:rPr lang="en-US" altLang="zh-CN" sz="2000" baseline="-25000" dirty="0" smtClean="0"/>
              <a:t>2</a:t>
            </a:r>
            <a:r>
              <a:rPr lang="en-US" altLang="zh-CN" sz="2000" dirty="0" smtClean="0"/>
              <a:t>n </a:t>
            </a:r>
            <a:r>
              <a:rPr lang="en-US" altLang="zh-CN" sz="2000" dirty="0"/>
              <a:t>&lt;= (c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+c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)n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 for all n&gt;1, </a:t>
            </a:r>
            <a:r>
              <a:rPr lang="en-US" altLang="zh-CN" sz="2000" dirty="0" smtClean="0"/>
              <a:t>T(n</a:t>
            </a:r>
            <a:r>
              <a:rPr lang="en-US" altLang="zh-CN" sz="2000" dirty="0"/>
              <a:t>) &lt;= cn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 for c=c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+c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 and n</a:t>
            </a:r>
            <a:r>
              <a:rPr lang="en-US" altLang="zh-CN" sz="2000" baseline="-25000" dirty="0"/>
              <a:t>0</a:t>
            </a:r>
            <a:r>
              <a:rPr lang="en-US" altLang="zh-CN" sz="2000" dirty="0"/>
              <a:t>=1</a:t>
            </a:r>
            <a:r>
              <a:rPr lang="en-US" altLang="zh-CN" sz="2000" dirty="0" smtClean="0"/>
              <a:t>. </a:t>
            </a:r>
            <a:endParaRPr lang="en-US" altLang="zh-CN" sz="2000" dirty="0" smtClean="0"/>
          </a:p>
          <a:p>
            <a:pPr lvl="1"/>
            <a:r>
              <a:rPr lang="en-US" altLang="zh-CN" sz="2000" dirty="0"/>
              <a:t>c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n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+c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n </a:t>
            </a:r>
            <a:r>
              <a:rPr lang="en-US" altLang="zh-CN" sz="2000" dirty="0" smtClean="0"/>
              <a:t>&gt;= c</a:t>
            </a:r>
            <a:r>
              <a:rPr lang="en-US" altLang="zh-CN" sz="2000" baseline="-25000" dirty="0" smtClean="0"/>
              <a:t>1</a:t>
            </a:r>
            <a:r>
              <a:rPr lang="en-US" altLang="zh-CN" sz="2000" dirty="0" smtClean="0"/>
              <a:t>n</a:t>
            </a:r>
            <a:r>
              <a:rPr lang="en-US" altLang="zh-CN" sz="2000" baseline="30000" dirty="0" smtClean="0"/>
              <a:t>2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for all n&gt;1, T(n) </a:t>
            </a:r>
            <a:r>
              <a:rPr lang="en-US" altLang="zh-CN" sz="2000" dirty="0" smtClean="0"/>
              <a:t>&gt;= c</a:t>
            </a:r>
            <a:r>
              <a:rPr lang="en-US" altLang="zh-CN" sz="2000" baseline="-25000" dirty="0" smtClean="0"/>
              <a:t>1</a:t>
            </a:r>
            <a:r>
              <a:rPr lang="en-US" altLang="zh-CN" sz="2000" dirty="0" smtClean="0"/>
              <a:t>n</a:t>
            </a:r>
            <a:r>
              <a:rPr lang="en-US" altLang="zh-CN" sz="2000" baseline="30000" dirty="0" smtClean="0"/>
              <a:t>2</a:t>
            </a:r>
            <a:r>
              <a:rPr lang="en-US" altLang="zh-CN" sz="2000" dirty="0" smtClean="0"/>
              <a:t> </a:t>
            </a:r>
            <a:r>
              <a:rPr lang="en-US" altLang="zh-CN" sz="2000" dirty="0"/>
              <a:t>for </a:t>
            </a:r>
            <a:r>
              <a:rPr lang="en-US" altLang="zh-CN" sz="2000" dirty="0" smtClean="0"/>
              <a:t>n</a:t>
            </a:r>
            <a:r>
              <a:rPr lang="en-US" altLang="zh-CN" sz="2000" baseline="-25000" dirty="0" smtClean="0"/>
              <a:t>0</a:t>
            </a:r>
            <a:r>
              <a:rPr lang="en-US" altLang="zh-CN" sz="2000" dirty="0" smtClean="0"/>
              <a:t>=1</a:t>
            </a:r>
            <a:r>
              <a:rPr lang="en-US" altLang="zh-CN" sz="2000" dirty="0"/>
              <a:t>.</a:t>
            </a:r>
            <a:endParaRPr lang="en-US" altLang="zh-CN" sz="2000" dirty="0"/>
          </a:p>
          <a:p>
            <a:pPr lvl="1"/>
            <a:r>
              <a:rPr lang="en-US" altLang="zh-CN" sz="2000" dirty="0" smtClean="0"/>
              <a:t>T(n</a:t>
            </a:r>
            <a:r>
              <a:rPr lang="en-US" altLang="zh-CN" sz="2000" dirty="0"/>
              <a:t>) is in </a:t>
            </a:r>
            <a:r>
              <a:rPr lang="en-US" altLang="zh-CN" sz="2000" dirty="0">
                <a:solidFill>
                  <a:srgbClr val="FF0000"/>
                </a:solidFill>
                <a:sym typeface="Symbol" panose="05050102010706020507" pitchFamily="18" charset="2"/>
              </a:rPr>
              <a:t></a:t>
            </a:r>
            <a:r>
              <a:rPr lang="en-US" altLang="zh-CN" sz="2000" dirty="0" smtClean="0">
                <a:solidFill>
                  <a:srgbClr val="FF0000"/>
                </a:solidFill>
              </a:rPr>
              <a:t>(</a:t>
            </a:r>
            <a:r>
              <a:rPr lang="en-US" altLang="zh-CN" sz="2000" dirty="0">
                <a:solidFill>
                  <a:srgbClr val="FF0000"/>
                </a:solidFill>
              </a:rPr>
              <a:t>n</a:t>
            </a:r>
            <a:r>
              <a:rPr lang="en-US" altLang="zh-CN" sz="2000" baseline="30000" dirty="0">
                <a:solidFill>
                  <a:srgbClr val="FF0000"/>
                </a:solidFill>
              </a:rPr>
              <a:t>2</a:t>
            </a:r>
            <a:r>
              <a:rPr lang="en-US" altLang="zh-CN" sz="2000" dirty="0">
                <a:solidFill>
                  <a:srgbClr val="FF0000"/>
                </a:solidFill>
              </a:rPr>
              <a:t>) </a:t>
            </a:r>
            <a:r>
              <a:rPr lang="en-US" altLang="zh-CN" sz="2000" dirty="0"/>
              <a:t>in </a:t>
            </a:r>
            <a:r>
              <a:rPr lang="en-US" altLang="zh-CN" sz="2000" dirty="0">
                <a:solidFill>
                  <a:srgbClr val="FF0000"/>
                </a:solidFill>
              </a:rPr>
              <a:t>the average case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4"/>
            <a:endParaRPr lang="en-US" altLang="zh-CN" sz="1400" dirty="0" smtClean="0"/>
          </a:p>
          <a:p>
            <a:pPr lvl="4"/>
            <a:endParaRPr lang="en-US" altLang="zh-CN" sz="1400" dirty="0"/>
          </a:p>
          <a:p>
            <a:r>
              <a:rPr lang="en-US" altLang="zh-CN" sz="2400" dirty="0">
                <a:solidFill>
                  <a:srgbClr val="008000"/>
                </a:solidFill>
              </a:rPr>
              <a:t>Reading the value from the first position in an array takes constant time regardless of the size of the array.</a:t>
            </a:r>
            <a:endParaRPr lang="en-US" altLang="zh-CN" sz="2400" dirty="0">
              <a:solidFill>
                <a:srgbClr val="008000"/>
              </a:solidFill>
            </a:endParaRPr>
          </a:p>
          <a:p>
            <a:pPr lvl="1"/>
            <a:r>
              <a:rPr lang="en-US" altLang="zh-CN" sz="2000" dirty="0" smtClean="0"/>
              <a:t>T(n</a:t>
            </a:r>
            <a:r>
              <a:rPr lang="en-US" altLang="zh-CN" sz="2000" dirty="0"/>
              <a:t>) = c for the (best, worst, and average) cases.</a:t>
            </a:r>
            <a:endParaRPr lang="en-US" altLang="zh-CN" sz="2000" dirty="0"/>
          </a:p>
          <a:p>
            <a:pPr lvl="1"/>
            <a:r>
              <a:rPr lang="en-US" altLang="zh-CN" sz="2000" dirty="0"/>
              <a:t>Traditionally, we say that the algorithm is in </a:t>
            </a:r>
            <a:r>
              <a:rPr lang="en-US" altLang="zh-CN" sz="2000" dirty="0" smtClean="0"/>
              <a:t>O(1</a:t>
            </a:r>
            <a:r>
              <a:rPr lang="en-US" altLang="zh-CN" sz="2000" dirty="0"/>
              <a:t>).</a:t>
            </a:r>
            <a:endParaRPr lang="en-US" altLang="zh-CN" sz="2000" dirty="0"/>
          </a:p>
          <a:p>
            <a:pPr lvl="1"/>
            <a:endParaRPr lang="en-US" altLang="zh-CN" sz="2000" dirty="0">
              <a:solidFill>
                <a:srgbClr val="008000"/>
              </a:solidFill>
            </a:endParaRPr>
          </a:p>
        </p:txBody>
      </p:sp>
      <p:sp>
        <p:nvSpPr>
          <p:cNvPr id="8806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B559304A-E1A4-471D-A4AD-D24B581EDAC8}" type="slidenum">
              <a:rPr lang="zh-CN" altLang="en-US" sz="900" smtClean="0"/>
            </a:fld>
            <a:endParaRPr lang="zh-CN" altLang="en-US" sz="9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Notes</a:t>
            </a:r>
            <a:endParaRPr lang="zh-CN" altLang="en-US" dirty="0" smtClean="0"/>
          </a:p>
        </p:txBody>
      </p:sp>
      <p:sp>
        <p:nvSpPr>
          <p:cNvPr id="104451" name="Content Placeholder 2"/>
          <p:cNvSpPr>
            <a:spLocks noGrp="1"/>
          </p:cNvSpPr>
          <p:nvPr>
            <p:ph idx="1"/>
          </p:nvPr>
        </p:nvSpPr>
        <p:spPr>
          <a:xfrm>
            <a:off x="2365375" y="3333750"/>
            <a:ext cx="7760970" cy="2481580"/>
          </a:xfrm>
        </p:spPr>
        <p:txBody>
          <a:bodyPr vert="horz" lIns="68580" tIns="34290" rIns="68580" bIns="34290" rtlCol="0">
            <a:noAutofit/>
          </a:bodyPr>
          <a:lstStyle/>
          <a:p>
            <a:r>
              <a:rPr lang="en-US" altLang="zh-CN" sz="2400" dirty="0" smtClean="0"/>
              <a:t>The </a:t>
            </a:r>
            <a:r>
              <a:rPr lang="en-US" altLang="zh-CN" sz="2400" dirty="0"/>
              <a:t>upper bound for a problem cannot be worse than the upper bound for the best known algorithm</a:t>
            </a:r>
            <a:endParaRPr lang="en-US" altLang="zh-CN" sz="2400" dirty="0"/>
          </a:p>
          <a:p>
            <a:pPr lvl="5"/>
            <a:endParaRPr lang="en-US" altLang="zh-CN" sz="1600" dirty="0"/>
          </a:p>
          <a:p>
            <a:r>
              <a:rPr lang="en-US" altLang="zh-CN" sz="2400" dirty="0" smtClean="0"/>
              <a:t>If </a:t>
            </a:r>
            <a:r>
              <a:rPr lang="en-US" altLang="zh-CN" sz="2400" dirty="0"/>
              <a:t>a problem is in </a:t>
            </a:r>
            <a:r>
              <a:rPr lang="el-GR" altLang="zh-CN" sz="2400" dirty="0"/>
              <a:t>Ω</a:t>
            </a:r>
            <a:r>
              <a:rPr lang="en-US" altLang="zh-CN" sz="2400" dirty="0"/>
              <a:t>(f(n)), every algorithm that solves the problem is in </a:t>
            </a:r>
            <a:r>
              <a:rPr lang="el-GR" altLang="zh-CN" sz="2400" dirty="0"/>
              <a:t>Ω</a:t>
            </a:r>
            <a:r>
              <a:rPr lang="en-US" altLang="zh-CN" sz="2400" dirty="0"/>
              <a:t>(f(n)), even algorithms that we have not thought of.</a:t>
            </a:r>
            <a:endParaRPr lang="en-US" altLang="zh-CN" sz="2400" dirty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386D30A2-99A5-4CD8-9E65-5B932DBB7BFE}" type="slidenum">
              <a:rPr lang="zh-CN" altLang="en-US" sz="900" smtClean="0"/>
            </a:fld>
            <a:endParaRPr lang="zh-CN" altLang="en-US" sz="900" smtClean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3301365" y="1754505"/>
            <a:ext cx="5201285" cy="1383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an algorithm  </a:t>
            </a:r>
            <a:endParaRPr lang="en-US" altLang="zh-CN" sz="28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800" dirty="0" smtClean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problem</a:t>
            </a:r>
            <a:endParaRPr lang="en-US" altLang="zh-CN" sz="2800" dirty="0">
              <a:solidFill>
                <a:srgbClr val="008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Notes</a:t>
            </a:r>
            <a:endParaRPr lang="zh-CN" altLang="en-US" dirty="0" smtClean="0"/>
          </a:p>
        </p:txBody>
      </p:sp>
      <p:sp>
        <p:nvSpPr>
          <p:cNvPr id="104451" name="Content Placeholder 2"/>
          <p:cNvSpPr>
            <a:spLocks noGrp="1"/>
          </p:cNvSpPr>
          <p:nvPr>
            <p:ph idx="1"/>
          </p:nvPr>
        </p:nvSpPr>
        <p:spPr>
          <a:xfrm>
            <a:off x="2810510" y="1986280"/>
            <a:ext cx="6172835" cy="2884805"/>
          </a:xfrm>
        </p:spPr>
        <p:txBody>
          <a:bodyPr vert="horz" lIns="68580" tIns="34290" rIns="68580" bIns="34290" rtlCol="0">
            <a:normAutofit/>
          </a:bodyPr>
          <a:lstStyle/>
          <a:p>
            <a:r>
              <a:rPr lang="en-US" altLang="zh-CN" sz="3200" dirty="0" smtClean="0"/>
              <a:t>Other kinds of analysis</a:t>
            </a:r>
            <a:endParaRPr lang="en-US" altLang="zh-CN" sz="3200" dirty="0" smtClean="0"/>
          </a:p>
          <a:p>
            <a:pPr lvl="1"/>
            <a:r>
              <a:rPr lang="en-US" altLang="zh-CN" sz="2800" dirty="0" smtClean="0"/>
              <a:t>Amortized –worst case averaged over a sequential operations </a:t>
            </a:r>
            <a:endParaRPr lang="en-US" altLang="zh-CN" sz="2800" dirty="0" smtClean="0"/>
          </a:p>
          <a:p>
            <a:pPr lvl="1"/>
            <a:r>
              <a:rPr lang="en-US" altLang="zh-CN" sz="2800" dirty="0" smtClean="0"/>
              <a:t>Textbook Chapter 11</a:t>
            </a:r>
            <a:endParaRPr lang="en-US" altLang="zh-CN" sz="2800" dirty="0" smtClean="0"/>
          </a:p>
          <a:p>
            <a:pPr lvl="1"/>
            <a:endParaRPr lang="en-US" altLang="zh-CN" sz="2800" dirty="0" smtClean="0"/>
          </a:p>
          <a:p>
            <a:pPr lvl="1"/>
            <a:r>
              <a:rPr lang="en-US" altLang="zh-CN" sz="2800" dirty="0" smtClean="0"/>
              <a:t>Common case – 80%-20%</a:t>
            </a:r>
            <a:endParaRPr lang="en-US" altLang="zh-CN" sz="2800" dirty="0" smtClean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386D30A2-99A5-4CD8-9E65-5B932DBB7BFE}" type="slidenum">
              <a:rPr lang="zh-CN" altLang="en-US" sz="900" smtClean="0"/>
            </a:fld>
            <a:endParaRPr lang="zh-CN" altLang="en-US" sz="9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Homework </a:t>
            </a:r>
            <a:endParaRPr lang="zh-CN" altLang="en-US" dirty="0" smtClean="0"/>
          </a:p>
        </p:txBody>
      </p:sp>
      <p:sp>
        <p:nvSpPr>
          <p:cNvPr id="104451" name="Content Placeholder 2"/>
          <p:cNvSpPr>
            <a:spLocks noGrp="1"/>
          </p:cNvSpPr>
          <p:nvPr>
            <p:ph idx="1"/>
          </p:nvPr>
        </p:nvSpPr>
        <p:spPr>
          <a:xfrm>
            <a:off x="2018665" y="1486535"/>
            <a:ext cx="8531860" cy="5036820"/>
          </a:xfrm>
        </p:spPr>
        <p:txBody>
          <a:bodyPr vert="horz" lIns="68580" tIns="34290" rIns="68580" bIns="34290" rtlCol="0">
            <a:noAutofit/>
          </a:bodyPr>
          <a:lstStyle/>
          <a:p>
            <a:r>
              <a:rPr lang="en-US" altLang="zh-CN" dirty="0" smtClean="0"/>
              <a:t>Read textbook Ch2. Please pay more attention on section 2.4.3 “</a:t>
            </a:r>
            <a:r>
              <a:rPr lang="en-US" altLang="zh-CN" dirty="0"/>
              <a:t>the Maximum </a:t>
            </a:r>
            <a:r>
              <a:rPr lang="en-US" altLang="zh-CN" dirty="0" smtClean="0"/>
              <a:t>Subsequence Sum </a:t>
            </a:r>
            <a:r>
              <a:rPr lang="en-US" altLang="zh-CN" dirty="0"/>
              <a:t>Problem</a:t>
            </a:r>
            <a:r>
              <a:rPr lang="en-US" altLang="zh-CN" dirty="0" smtClean="0"/>
              <a:t>”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分别使用</a:t>
            </a:r>
            <a:r>
              <a:rPr lang="zh-CN" altLang="en-US">
                <a:sym typeface="+mn-ea"/>
              </a:rPr>
              <a:t>递归以及循环两种方法</a:t>
            </a:r>
            <a:r>
              <a:rPr lang="zh-CN" altLang="en-US" dirty="0" smtClean="0"/>
              <a:t>实现斐波那契数列</a:t>
            </a:r>
            <a:r>
              <a:rPr lang="zh-CN" altLang="en-US">
                <a:sym typeface="+mn-ea"/>
              </a:rPr>
              <a:t>，并进行</a:t>
            </a:r>
            <a:r>
              <a:rPr lang="zh-CN" altLang="en-US" dirty="0" smtClean="0">
                <a:sym typeface="+mn-ea"/>
              </a:rPr>
              <a:t>时间</a:t>
            </a:r>
            <a:r>
              <a:rPr lang="zh-CN" altLang="en-US" dirty="0" smtClean="0">
                <a:sym typeface="+mn-ea"/>
              </a:rPr>
              <a:t>复杂度分析</a:t>
            </a:r>
            <a:r>
              <a:rPr lang="en-US" altLang="zh-CN" dirty="0" smtClean="0">
                <a:sym typeface="+mn-ea"/>
              </a:rPr>
              <a:t>（</a:t>
            </a:r>
            <a:r>
              <a:rPr lang="zh-CN" altLang="en-US" dirty="0" smtClean="0">
                <a:sym typeface="+mn-ea"/>
              </a:rPr>
              <a:t>使用大</a:t>
            </a:r>
            <a:r>
              <a:rPr lang="en-US" altLang="zh-CN" dirty="0" smtClean="0">
                <a:sym typeface="+mn-ea"/>
              </a:rPr>
              <a:t>O）</a:t>
            </a:r>
            <a:endParaRPr lang="zh-CN" altLang="en-US">
              <a:sym typeface="+mn-ea"/>
            </a:endParaRPr>
          </a:p>
          <a:p>
            <a:r>
              <a:rPr lang="en-US" altLang="zh-CN" dirty="0" smtClean="0"/>
              <a:t>Exercise 2.7：</a:t>
            </a:r>
            <a:r>
              <a:rPr lang="zh-CN" altLang="en-US" dirty="0" smtClean="0"/>
              <a:t>运行时间分析</a:t>
            </a:r>
            <a:r>
              <a:rPr lang="en-US" altLang="zh-CN" dirty="0" smtClean="0"/>
              <a:t>（</a:t>
            </a:r>
            <a:r>
              <a:rPr lang="zh-CN" altLang="en-US" dirty="0" smtClean="0"/>
              <a:t>使用大</a:t>
            </a:r>
            <a:r>
              <a:rPr lang="en-US" altLang="zh-CN" dirty="0" smtClean="0"/>
              <a:t>O）</a:t>
            </a:r>
            <a:endParaRPr lang="en-US" altLang="zh-CN" dirty="0"/>
          </a:p>
          <a:p>
            <a:r>
              <a:rPr lang="en-US" altLang="zh-CN" dirty="0"/>
              <a:t>Exercise </a:t>
            </a:r>
            <a:r>
              <a:rPr lang="en-US" altLang="zh-CN" dirty="0" smtClean="0"/>
              <a:t>2.20</a:t>
            </a:r>
            <a:endParaRPr lang="en-US" altLang="zh-CN" dirty="0"/>
          </a:p>
          <a:p>
            <a:r>
              <a:rPr lang="zh-CN" altLang="en-US" dirty="0"/>
              <a:t>提交：一个</a:t>
            </a:r>
            <a:r>
              <a:rPr lang="en-US" altLang="zh-CN" dirty="0"/>
              <a:t>word</a:t>
            </a:r>
            <a:r>
              <a:rPr lang="zh-CN" altLang="en-US" dirty="0"/>
              <a:t>文件或者</a:t>
            </a:r>
            <a:r>
              <a:rPr lang="en-US" altLang="zh-CN" dirty="0"/>
              <a:t>markdown</a:t>
            </a:r>
            <a:r>
              <a:rPr lang="zh-CN" altLang="en-US" dirty="0"/>
              <a:t>文件（包含题目内容，解答，注意</a:t>
            </a:r>
            <a:r>
              <a:rPr lang="en-US" altLang="zh-CN" dirty="0"/>
              <a:t>2.20</a:t>
            </a:r>
            <a:r>
              <a:rPr lang="zh-CN" altLang="en-US" dirty="0"/>
              <a:t>的判断素数函数代码也一起包含在</a:t>
            </a:r>
            <a:r>
              <a:rPr lang="en-US" altLang="zh-CN" dirty="0"/>
              <a:t>word/markdown</a:t>
            </a:r>
            <a:r>
              <a:rPr lang="zh-CN" altLang="en-US" dirty="0"/>
              <a:t>文件里）。</a:t>
            </a:r>
            <a:endParaRPr lang="zh-CN" altLang="en-US" dirty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556895" indent="-213995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8572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2001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1543050" indent="-1714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fld id="{386D30A2-99A5-4CD8-9E65-5B932DBB7BFE}" type="slidenum">
              <a:rPr lang="zh-CN" altLang="en-US" sz="900" smtClean="0"/>
            </a:fld>
            <a:endParaRPr lang="zh-CN" altLang="en-US" sz="9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11784</Words>
  <Application>WPS 演示</Application>
  <PresentationFormat>Widescreen</PresentationFormat>
  <Paragraphs>611</Paragraphs>
  <Slides>41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41</vt:i4>
      </vt:variant>
    </vt:vector>
  </HeadingPairs>
  <TitlesOfParts>
    <vt:vector size="63" baseType="lpstr">
      <vt:lpstr>Arial</vt:lpstr>
      <vt:lpstr>宋体</vt:lpstr>
      <vt:lpstr>Wingdings</vt:lpstr>
      <vt:lpstr>Times New Roman</vt:lpstr>
      <vt:lpstr>宋体-简</vt:lpstr>
      <vt:lpstr>Wingdings</vt:lpstr>
      <vt:lpstr>Verdana</vt:lpstr>
      <vt:lpstr>Calibri Light</vt:lpstr>
      <vt:lpstr>Helvetica Neue</vt:lpstr>
      <vt:lpstr>微软雅黑</vt:lpstr>
      <vt:lpstr>汉仪旗黑</vt:lpstr>
      <vt:lpstr>宋体</vt:lpstr>
      <vt:lpstr>Arial Unicode MS</vt:lpstr>
      <vt:lpstr>Calibri</vt:lpstr>
      <vt:lpstr>Wingdings 2</vt:lpstr>
      <vt:lpstr>Symbol</vt:lpstr>
      <vt:lpstr>Helvetica</vt:lpstr>
      <vt:lpstr>Kingsoft Sign</vt:lpstr>
      <vt:lpstr>Office Theme</vt:lpstr>
      <vt:lpstr>Equation.3</vt:lpstr>
      <vt:lpstr>Equation.3</vt:lpstr>
      <vt:lpstr>Equation.3</vt:lpstr>
      <vt:lpstr>Data Structures</vt:lpstr>
      <vt:lpstr>Terminology</vt:lpstr>
      <vt:lpstr>Terminologies  (II)</vt:lpstr>
      <vt:lpstr>Terminologies (III)</vt:lpstr>
      <vt:lpstr>Algorithms vs Programs</vt:lpstr>
      <vt:lpstr>Pseduocode</vt:lpstr>
      <vt:lpstr>Self-reading </vt:lpstr>
      <vt:lpstr>Chapter 2</vt:lpstr>
      <vt:lpstr>Algorithm Analysis: Why?</vt:lpstr>
      <vt:lpstr>Algorithm Analysis</vt:lpstr>
      <vt:lpstr>Algorithm Analysis</vt:lpstr>
      <vt:lpstr>Algorithm Analysis</vt:lpstr>
      <vt:lpstr>Algorithm Analysis</vt:lpstr>
      <vt:lpstr>What to Analyze</vt:lpstr>
      <vt:lpstr>Mathematical Definitions</vt:lpstr>
      <vt:lpstr>“Common Functions to Use”</vt:lpstr>
      <vt:lpstr>Growth Rates</vt:lpstr>
      <vt:lpstr>PowerPoint 演示文稿</vt:lpstr>
      <vt:lpstr>Growth Rates</vt:lpstr>
      <vt:lpstr>PowerPoint 演示文稿</vt:lpstr>
      <vt:lpstr>PowerPoint 演示文稿</vt:lpstr>
      <vt:lpstr>Growth Rates</vt:lpstr>
      <vt:lpstr>Growth Rates</vt:lpstr>
      <vt:lpstr>PowerPoint 演示文稿</vt:lpstr>
      <vt:lpstr>How to Analyze</vt:lpstr>
      <vt:lpstr>How to Analyze</vt:lpstr>
      <vt:lpstr>How to Analyze</vt:lpstr>
      <vt:lpstr>How to Analyze</vt:lpstr>
      <vt:lpstr>How to Analyze</vt:lpstr>
      <vt:lpstr>How to Analyze</vt:lpstr>
      <vt:lpstr>How to Analyze</vt:lpstr>
      <vt:lpstr>How to Analyze</vt:lpstr>
      <vt:lpstr>How to Analyze</vt:lpstr>
      <vt:lpstr>How to Analyze</vt:lpstr>
      <vt:lpstr>How to Analyze</vt:lpstr>
      <vt:lpstr>How to Analyze</vt:lpstr>
      <vt:lpstr>Notes</vt:lpstr>
      <vt:lpstr>Notes</vt:lpstr>
      <vt:lpstr>Notes</vt:lpstr>
      <vt:lpstr>Notes</vt:lpstr>
      <vt:lpstr>Homework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jiexin</dc:creator>
  <cp:lastModifiedBy>jiexin</cp:lastModifiedBy>
  <cp:revision>212</cp:revision>
  <dcterms:created xsi:type="dcterms:W3CDTF">2025-09-04T08:31:43Z</dcterms:created>
  <dcterms:modified xsi:type="dcterms:W3CDTF">2025-09-04T08:31:43Z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2052-6.12.0.8652</vt:lpwstr>
  </property>
  <property fmtid="{D5CDD505-2E9C-101B-9397-08002B2CF9AE}" pid="3" name="ICV">
    <vt:lpwstr>B2EA024A0C93A1240436EA67EC45DC23_43</vt:lpwstr>
  </property>
</Properties>
</file>