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651" r:id="rId3"/>
    <p:sldId id="1009" r:id="rId5"/>
    <p:sldId id="981" r:id="rId6"/>
    <p:sldId id="982" r:id="rId7"/>
    <p:sldId id="983" r:id="rId8"/>
    <p:sldId id="984" r:id="rId9"/>
    <p:sldId id="930" r:id="rId10"/>
    <p:sldId id="931" r:id="rId11"/>
    <p:sldId id="933" r:id="rId12"/>
    <p:sldId id="932" r:id="rId13"/>
    <p:sldId id="985" r:id="rId14"/>
    <p:sldId id="934" r:id="rId15"/>
    <p:sldId id="986" r:id="rId16"/>
    <p:sldId id="935" r:id="rId17"/>
    <p:sldId id="938" r:id="rId18"/>
    <p:sldId id="990" r:id="rId19"/>
    <p:sldId id="991" r:id="rId20"/>
    <p:sldId id="992" r:id="rId21"/>
    <p:sldId id="993" r:id="rId22"/>
    <p:sldId id="939" r:id="rId23"/>
    <p:sldId id="995" r:id="rId24"/>
    <p:sldId id="996" r:id="rId25"/>
    <p:sldId id="997" r:id="rId26"/>
    <p:sldId id="998" r:id="rId27"/>
    <p:sldId id="943" r:id="rId28"/>
    <p:sldId id="1000" r:id="rId29"/>
    <p:sldId id="1001" r:id="rId30"/>
    <p:sldId id="1016" r:id="rId31"/>
    <p:sldId id="1002" r:id="rId32"/>
    <p:sldId id="1019" r:id="rId33"/>
    <p:sldId id="1004" r:id="rId34"/>
    <p:sldId id="1006" r:id="rId35"/>
    <p:sldId id="1007" r:id="rId36"/>
    <p:sldId id="1008" r:id="rId37"/>
    <p:sldId id="1017" r:id="rId38"/>
    <p:sldId id="1013" r:id="rId39"/>
    <p:sldId id="1018" r:id="rId40"/>
    <p:sldId id="810" r:id="rId41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77" autoAdjust="0"/>
    <p:restoredTop sz="96429" autoAdjust="0"/>
  </p:normalViewPr>
  <p:slideViewPr>
    <p:cSldViewPr showGuides="1">
      <p:cViewPr varScale="1">
        <p:scale>
          <a:sx n="85" d="100"/>
          <a:sy n="85" d="100"/>
        </p:scale>
        <p:origin x="2778" y="96"/>
      </p:cViewPr>
      <p:guideLst>
        <p:guide orient="horz" pos="2852"/>
        <p:guide pos="21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55D2ED-7028-411C-BD8D-0F9AD83723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E32FE9-9228-450F-938E-EAC7E38259F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292AC-F21E-4655-AFFA-77D65D08396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691D71-4D81-4089-9A00-9901D191F20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01F00A-8DCE-4FA6-AD5F-E8543A7B262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20E78E-DCF3-4DFD-92E8-2D87C8212B2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102E4B-8F38-41CF-844D-FB1994F39BF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171DA-9259-487F-9103-10F5E6A4753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5BB4BF-6752-42DE-BEBB-6563A4E6CB0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B11695-226F-4A9C-B7D7-425DF5ADDC7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23E088-D387-4BA4-BCA0-64E5E3BBD78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51738B4B-C2D8-4C64-B106-67A9E32A5F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Sorting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contents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Introduction</a:t>
            </a:r>
            <a:endParaRPr lang="en-US" altLang="zh-CN" dirty="0" smtClean="0"/>
          </a:p>
          <a:p>
            <a:r>
              <a:rPr lang="el-GR" altLang="zh-CN" dirty="0"/>
              <a:t>Θ(</a:t>
            </a:r>
            <a:r>
              <a:rPr lang="en-US" altLang="zh-CN" dirty="0"/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) Sorting Algorithms </a:t>
            </a:r>
            <a:endParaRPr lang="en-US" altLang="zh-CN" dirty="0" smtClean="0"/>
          </a:p>
          <a:p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 </a:t>
            </a:r>
            <a:r>
              <a:rPr lang="en-US" altLang="zh-CN" dirty="0"/>
              <a:t>Sorting </a:t>
            </a:r>
            <a:r>
              <a:rPr lang="en-US" altLang="zh-CN" dirty="0" smtClean="0"/>
              <a:t>Algorithms</a:t>
            </a:r>
            <a:endParaRPr lang="en-US" altLang="zh-CN" dirty="0" smtClean="0"/>
          </a:p>
          <a:p>
            <a:r>
              <a:rPr lang="en-US" altLang="zh-CN" dirty="0"/>
              <a:t>Linear-Time </a:t>
            </a:r>
            <a:r>
              <a:rPr lang="en-US" altLang="zh-CN" dirty="0" smtClean="0"/>
              <a:t>Sorts</a:t>
            </a:r>
            <a:endParaRPr lang="en-US" altLang="zh-CN" dirty="0" smtClean="0"/>
          </a:p>
          <a:p>
            <a:r>
              <a:rPr lang="en-US" altLang="zh-CN" dirty="0" smtClean="0"/>
              <a:t>External sorting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E32FE9-9228-450F-938E-EAC7E38259F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Sorting</a:t>
            </a:r>
            <a:endParaRPr lang="zh-CN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Sorting is a central problem in computer science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It has been studied intensively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Many algorithms have been designed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New algorithms are still being developed</a:t>
            </a:r>
            <a:endParaRPr lang="en-US" altLang="zh-CN" dirty="0"/>
          </a:p>
          <a:p>
            <a:pPr lvl="1" eaLnBrk="1" hangingPunct="1"/>
            <a:endParaRPr lang="en-US" altLang="zh-CN" sz="1800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6703E90E-AAEE-4035-BF02-0C7596E28A0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FD1F7C-DF1F-4A33-BAC0-CDEA91E15AC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Terminology and Notation</a:t>
            </a:r>
            <a:endParaRPr lang="zh-CN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57172" y="2483768"/>
            <a:ext cx="6605588" cy="330874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dirty="0"/>
              <a:t>Sorting problem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Given a set of records r</a:t>
            </a:r>
            <a:r>
              <a:rPr lang="en-US" altLang="zh-CN" baseline="-25000" dirty="0"/>
              <a:t>1</a:t>
            </a:r>
            <a:r>
              <a:rPr lang="en-US" altLang="zh-CN" dirty="0"/>
              <a:t> , r</a:t>
            </a:r>
            <a:r>
              <a:rPr lang="en-US" altLang="zh-CN" baseline="-25000" dirty="0"/>
              <a:t>2</a:t>
            </a:r>
            <a:r>
              <a:rPr lang="en-US" altLang="zh-CN" dirty="0"/>
              <a:t> , … , 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n</a:t>
            </a:r>
            <a:r>
              <a:rPr lang="en-US" altLang="zh-CN" dirty="0"/>
              <a:t> with key values k</a:t>
            </a:r>
            <a:r>
              <a:rPr lang="en-US" altLang="zh-CN" baseline="-25000" dirty="0"/>
              <a:t>1</a:t>
            </a:r>
            <a:r>
              <a:rPr lang="en-US" altLang="zh-CN" dirty="0"/>
              <a:t> , k</a:t>
            </a:r>
            <a:r>
              <a:rPr lang="en-US" altLang="zh-CN" baseline="-25000" dirty="0"/>
              <a:t>2</a:t>
            </a:r>
            <a:r>
              <a:rPr lang="en-US" altLang="zh-CN" dirty="0"/>
              <a:t> ,… ,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n</a:t>
            </a:r>
            <a:r>
              <a:rPr lang="en-US" altLang="zh-CN" dirty="0"/>
              <a:t>,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Arrange the records into any order </a:t>
            </a:r>
            <a:r>
              <a:rPr lang="en-US" altLang="zh-CN" i="1" dirty="0"/>
              <a:t>s </a:t>
            </a:r>
            <a:r>
              <a:rPr lang="en-US" altLang="zh-CN" dirty="0"/>
              <a:t>such that records r</a:t>
            </a:r>
            <a:r>
              <a:rPr lang="en-US" altLang="zh-CN" baseline="-25000" dirty="0"/>
              <a:t>s1</a:t>
            </a:r>
            <a:r>
              <a:rPr lang="en-US" altLang="zh-CN" dirty="0"/>
              <a:t>, r</a:t>
            </a:r>
            <a:r>
              <a:rPr lang="en-US" altLang="zh-CN" baseline="-25000" dirty="0"/>
              <a:t>s2</a:t>
            </a:r>
            <a:r>
              <a:rPr lang="en-US" altLang="zh-CN" dirty="0"/>
              <a:t>, …, 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sn</a:t>
            </a:r>
            <a:r>
              <a:rPr lang="en-US" altLang="zh-CN" dirty="0"/>
              <a:t> have keys obeying the property k</a:t>
            </a:r>
            <a:r>
              <a:rPr lang="en-US" altLang="zh-CN" baseline="-25000" dirty="0"/>
              <a:t>s1</a:t>
            </a:r>
            <a:r>
              <a:rPr lang="en-US" altLang="zh-CN" dirty="0"/>
              <a:t> ≤ k</a:t>
            </a:r>
            <a:r>
              <a:rPr lang="en-US" altLang="zh-CN" baseline="-25000" dirty="0"/>
              <a:t>s2</a:t>
            </a:r>
            <a:r>
              <a:rPr lang="en-US" altLang="zh-CN" dirty="0"/>
              <a:t> ≤  … ≤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sn</a:t>
            </a:r>
            <a:r>
              <a:rPr lang="en-US" altLang="zh-CN" dirty="0"/>
              <a:t>. </a:t>
            </a:r>
            <a:endParaRPr lang="en-US" altLang="zh-CN" dirty="0"/>
          </a:p>
          <a:p>
            <a:pPr lvl="2" eaLnBrk="1" hangingPunct="1"/>
            <a:r>
              <a:rPr lang="en-US" altLang="zh-CN" sz="1600" dirty="0"/>
              <a:t>Key value can or cannot have duplicate values depending on the application requirements</a:t>
            </a:r>
            <a:endParaRPr lang="en-US" altLang="zh-CN" sz="1600" dirty="0"/>
          </a:p>
          <a:p>
            <a:endParaRPr lang="en-US" altLang="zh-CN" b="1" dirty="0">
              <a:latin typeface="Courier New" panose="02070609020205090404" pitchFamily="49" charset="0"/>
              <a:cs typeface="Courier New" panose="02070609020205090404" pitchFamily="49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5ADBE0B-9E60-4D86-95B7-467D8B59016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0A9C1-38D8-4F7A-9B05-3EBBDF86105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Terminology and Notation</a:t>
            </a:r>
            <a:endParaRPr lang="zh-CN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57172" y="2483768"/>
            <a:ext cx="6605588" cy="3308747"/>
          </a:xfrm>
        </p:spPr>
        <p:txBody>
          <a:bodyPr>
            <a:noAutofit/>
          </a:bodyPr>
          <a:lstStyle/>
          <a:p>
            <a:r>
              <a:rPr lang="en-US" altLang="zh-CN" dirty="0"/>
              <a:t>comparison-based sorting</a:t>
            </a:r>
            <a:endParaRPr lang="en-US" altLang="zh-CN" dirty="0"/>
          </a:p>
          <a:p>
            <a:pPr lvl="1"/>
            <a:r>
              <a:rPr lang="en-US" altLang="zh-CN" dirty="0" smtClean="0"/>
              <a:t>Inputs</a:t>
            </a:r>
            <a:r>
              <a:rPr lang="en-US" altLang="zh-CN" dirty="0"/>
              <a:t>: 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 </a:t>
            </a:r>
            <a:r>
              <a:rPr lang="en-US" altLang="zh-CN" dirty="0"/>
              <a:t>collection of records stored in an </a:t>
            </a:r>
            <a:r>
              <a:rPr lang="en-US" altLang="zh-CN" dirty="0" smtClean="0"/>
              <a:t>array A</a:t>
            </a:r>
            <a:endParaRPr lang="en-US" altLang="zh-CN" dirty="0"/>
          </a:p>
          <a:p>
            <a:pPr lvl="2"/>
            <a:r>
              <a:rPr lang="en-US" altLang="zh-CN" dirty="0"/>
              <a:t>Each record has a key field </a:t>
            </a:r>
            <a:endParaRPr lang="en-US" altLang="zh-CN" dirty="0"/>
          </a:p>
          <a:p>
            <a:pPr lvl="2"/>
            <a:r>
              <a:rPr lang="en-US" altLang="zh-CN" dirty="0"/>
              <a:t>a </a:t>
            </a:r>
            <a:r>
              <a:rPr lang="en-US" altLang="zh-CN" dirty="0">
                <a:solidFill>
                  <a:srgbClr val="FF0000"/>
                </a:solidFill>
              </a:rPr>
              <a:t>comparison function </a:t>
            </a:r>
            <a:r>
              <a:rPr lang="en-US" altLang="zh-CN" dirty="0"/>
              <a:t>which imposes a consistent ordering on the keys</a:t>
            </a:r>
            <a:r>
              <a:rPr lang="en-US" altLang="zh-CN" sz="1400" dirty="0"/>
              <a:t> </a:t>
            </a:r>
            <a:endParaRPr lang="en-US" altLang="zh-CN" sz="1400" dirty="0" smtClean="0"/>
          </a:p>
          <a:p>
            <a:pPr lvl="1"/>
            <a:r>
              <a:rPr lang="en-US" altLang="zh-CN" dirty="0" smtClean="0"/>
              <a:t>Output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reorganize </a:t>
            </a:r>
            <a:r>
              <a:rPr lang="en-US" altLang="zh-CN" dirty="0"/>
              <a:t>the elements of A such that</a:t>
            </a:r>
            <a:endParaRPr lang="en-US" altLang="zh-CN" dirty="0"/>
          </a:p>
          <a:p>
            <a:pPr lvl="3"/>
            <a:r>
              <a:rPr lang="en-US" altLang="zh-CN" dirty="0"/>
              <a:t>For any </a:t>
            </a:r>
            <a:r>
              <a:rPr lang="en-US" altLang="zh-CN" dirty="0" err="1"/>
              <a:t>i</a:t>
            </a:r>
            <a:r>
              <a:rPr lang="en-US" altLang="zh-CN" dirty="0"/>
              <a:t> and j, if </a:t>
            </a:r>
            <a:r>
              <a:rPr lang="en-US" altLang="zh-CN" dirty="0" err="1"/>
              <a:t>i</a:t>
            </a:r>
            <a:r>
              <a:rPr lang="en-US" altLang="zh-CN" dirty="0"/>
              <a:t> &lt; j then A[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en-US" altLang="zh-CN" dirty="0" smtClean="0"/>
              <a:t>&lt; </a:t>
            </a:r>
            <a:r>
              <a:rPr lang="en-US" altLang="zh-CN" dirty="0"/>
              <a:t>A[j]</a:t>
            </a:r>
            <a:endParaRPr lang="en-US" altLang="zh-CN" dirty="0"/>
          </a:p>
          <a:p>
            <a:pPr lvl="3"/>
            <a:endParaRPr lang="en-US" altLang="zh-CN" b="1" dirty="0" smtClean="0">
              <a:latin typeface="Courier New" panose="02070609020205090404" pitchFamily="49" charset="0"/>
              <a:cs typeface="Courier New" panose="02070609020205090404" pitchFamily="49" charset="0"/>
            </a:endParaRPr>
          </a:p>
          <a:p>
            <a:endParaRPr lang="en-US" altLang="zh-CN" b="1" dirty="0">
              <a:latin typeface="Courier New" panose="02070609020205090404" pitchFamily="49" charset="0"/>
              <a:cs typeface="Courier New" panose="02070609020205090404" pitchFamily="49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5ADBE0B-9E60-4D86-95B7-467D8B59016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E60A2C-4DAD-4B42-8C72-05D8AE7AB5F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Terminology and Notation</a:t>
            </a:r>
            <a:endParaRPr lang="zh-CN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57172" y="2483768"/>
            <a:ext cx="6605588" cy="3308747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Internal sorting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External sorting</a:t>
            </a:r>
            <a:endParaRPr lang="en-US" altLang="zh-CN" b="1" dirty="0" smtClean="0">
              <a:latin typeface="Courier New" panose="02070609020205090404" pitchFamily="49" charset="0"/>
              <a:cs typeface="Courier New" panose="02070609020205090404" pitchFamily="49" charset="0"/>
            </a:endParaRPr>
          </a:p>
          <a:p>
            <a:endParaRPr lang="en-US" altLang="zh-CN" b="1" dirty="0">
              <a:latin typeface="Courier New" panose="02070609020205090404" pitchFamily="49" charset="0"/>
              <a:cs typeface="Courier New" panose="02070609020205090404" pitchFamily="49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5ADBE0B-9E60-4D86-95B7-467D8B59016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DCF08A-CA92-4EF9-A638-55D1E04733FA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B3B6E24B-650B-45D7-AD28-D31BF0E809B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4F6D0931-BC00-46AA-9130-9BA41F919A40}" type="slidenum">
              <a:rPr lang="en-US" altLang="zh-CN" sz="1050"/>
            </a:fld>
            <a:endParaRPr lang="en-US" altLang="zh-CN" sz="1050"/>
          </a:p>
        </p:txBody>
      </p:sp>
      <p:sp>
        <p:nvSpPr>
          <p:cNvPr id="819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Space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19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altLang="zh-CN" dirty="0">
                <a:ea typeface="宋体" pitchFamily="2" charset="-122"/>
              </a:rPr>
              <a:t>How much space does the sorting algorithm require in order to sort the collection of items?</a:t>
            </a:r>
            <a:endParaRPr lang="en-GB" altLang="zh-CN" dirty="0">
              <a:ea typeface="宋体" pitchFamily="2" charset="-122"/>
            </a:endParaRPr>
          </a:p>
          <a:p>
            <a:pPr lvl="1"/>
            <a:r>
              <a:rPr lang="en-GB" altLang="zh-CN" dirty="0">
                <a:ea typeface="宋体" pitchFamily="2" charset="-122"/>
              </a:rPr>
              <a:t>Is copying needed? O(n) additional space</a:t>
            </a:r>
            <a:endParaRPr lang="en-GB" altLang="zh-CN" dirty="0">
              <a:ea typeface="宋体" pitchFamily="2" charset="-122"/>
            </a:endParaRPr>
          </a:p>
          <a:p>
            <a:pPr lvl="1"/>
            <a:r>
              <a:rPr lang="en-GB" altLang="zh-CN" dirty="0">
                <a:solidFill>
                  <a:srgbClr val="263AF8"/>
                </a:solidFill>
                <a:ea typeface="宋体" pitchFamily="2" charset="-122"/>
              </a:rPr>
              <a:t>In-place sorting </a:t>
            </a:r>
            <a:r>
              <a:rPr lang="en-GB" altLang="zh-CN" dirty="0">
                <a:ea typeface="宋体" pitchFamily="2" charset="-122"/>
              </a:rPr>
              <a:t>– no copying – O(1) additional space</a:t>
            </a:r>
            <a:endParaRPr lang="en-GB" altLang="zh-CN" dirty="0">
              <a:ea typeface="宋体" pitchFamily="2" charset="-122"/>
            </a:endParaRPr>
          </a:p>
          <a:p>
            <a:pPr lvl="1"/>
            <a:r>
              <a:rPr lang="en-GB" altLang="zh-CN" dirty="0">
                <a:ea typeface="宋体" pitchFamily="2" charset="-122"/>
              </a:rPr>
              <a:t>Somewhere in between for “temporary”, e.g. O(</a:t>
            </a:r>
            <a:r>
              <a:rPr lang="en-GB" altLang="zh-CN" dirty="0" err="1">
                <a:ea typeface="宋体" pitchFamily="2" charset="-122"/>
              </a:rPr>
              <a:t>logn</a:t>
            </a:r>
            <a:r>
              <a:rPr lang="en-GB" altLang="zh-CN" dirty="0">
                <a:ea typeface="宋体" pitchFamily="2" charset="-122"/>
              </a:rPr>
              <a:t>) space</a:t>
            </a:r>
            <a:endParaRPr lang="en-GB" altLang="zh-CN" dirty="0">
              <a:ea typeface="宋体" pitchFamily="2" charset="-122"/>
            </a:endParaRPr>
          </a:p>
          <a:p>
            <a:pPr lvl="1"/>
            <a:r>
              <a:rPr lang="en-GB" altLang="zh-CN" dirty="0">
                <a:solidFill>
                  <a:srgbClr val="263AF8"/>
                </a:solidFill>
                <a:ea typeface="宋体" pitchFamily="2" charset="-122"/>
              </a:rPr>
              <a:t>External memory sorting </a:t>
            </a:r>
            <a:r>
              <a:rPr lang="en-GB" altLang="zh-CN" dirty="0">
                <a:ea typeface="宋体" pitchFamily="2" charset="-122"/>
              </a:rPr>
              <a:t>– data so large that does not fit in memory</a:t>
            </a:r>
            <a:endParaRPr lang="en-GB" altLang="zh-CN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50752800-5573-4EF7-B7FE-93BC11FF236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CEF06D79-CD64-4E5C-89AD-6C4B3CA4CE86}" type="slidenum">
              <a:rPr lang="en-US" altLang="zh-CN" sz="1050"/>
            </a:fld>
            <a:endParaRPr lang="en-US" altLang="zh-CN" sz="1050"/>
          </a:p>
        </p:txBody>
      </p:sp>
      <p:sp>
        <p:nvSpPr>
          <p:cNvPr id="922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Time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22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2100" dirty="0">
                <a:ea typeface="宋体" pitchFamily="2" charset="-122"/>
              </a:rPr>
              <a:t>How fast is the algorithm?</a:t>
            </a:r>
            <a:endParaRPr lang="en-GB" altLang="zh-CN" sz="21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The definition of a sorted array A says that for any </a:t>
            </a:r>
            <a:r>
              <a:rPr lang="en-US" altLang="zh-CN" sz="1800" dirty="0" err="1">
                <a:ea typeface="宋体" pitchFamily="2" charset="-122"/>
              </a:rPr>
              <a:t>i</a:t>
            </a:r>
            <a:r>
              <a:rPr lang="en-US" altLang="zh-CN" sz="1800" dirty="0">
                <a:ea typeface="宋体" pitchFamily="2" charset="-122"/>
              </a:rPr>
              <a:t>&lt;j, A[</a:t>
            </a:r>
            <a:r>
              <a:rPr lang="en-US" altLang="zh-CN" sz="1800" dirty="0" err="1">
                <a:ea typeface="宋体" pitchFamily="2" charset="-122"/>
              </a:rPr>
              <a:t>i</a:t>
            </a:r>
            <a:r>
              <a:rPr lang="en-US" altLang="zh-CN" sz="1800" dirty="0">
                <a:ea typeface="宋体" pitchFamily="2" charset="-122"/>
              </a:rPr>
              <a:t>] &lt; A[j]</a:t>
            </a:r>
            <a:endParaRPr lang="en-US" altLang="zh-CN" sz="18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This means that you need to at least check on each element at the very minimum, </a:t>
            </a:r>
            <a:r>
              <a:rPr lang="en-US" altLang="zh-CN" sz="1800" dirty="0" smtClean="0">
                <a:ea typeface="宋体" pitchFamily="2" charset="-122"/>
              </a:rPr>
              <a:t>i.e</a:t>
            </a:r>
            <a:r>
              <a:rPr lang="en-US" altLang="zh-CN" sz="1800" dirty="0">
                <a:ea typeface="宋体" pitchFamily="2" charset="-122"/>
              </a:rPr>
              <a:t>., at least O(N)</a:t>
            </a:r>
            <a:endParaRPr lang="en-US" altLang="zh-CN" sz="18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And you could end up checking each element against every other element, which is O(N</a:t>
            </a:r>
            <a:r>
              <a:rPr lang="en-US" altLang="zh-CN" sz="1800" baseline="30000" dirty="0">
                <a:ea typeface="宋体" pitchFamily="2" charset="-122"/>
              </a:rPr>
              <a:t>2</a:t>
            </a:r>
            <a:r>
              <a:rPr lang="en-US" altLang="zh-CN" sz="1800" dirty="0">
                <a:ea typeface="宋体" pitchFamily="2" charset="-122"/>
              </a:rPr>
              <a:t>)</a:t>
            </a:r>
            <a:endParaRPr lang="en-US" altLang="zh-CN" sz="18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The big question is: How close to O(N) can you get?</a:t>
            </a:r>
            <a:endParaRPr lang="en-US" altLang="zh-CN" sz="1800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50106" y="2343151"/>
            <a:ext cx="5157788" cy="4479131"/>
            <a:chOff x="850106" y="2343151"/>
            <a:chExt cx="5157788" cy="4479131"/>
          </a:xfrm>
        </p:grpSpPr>
        <p:pic>
          <p:nvPicPr>
            <p:cNvPr id="11266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106" y="2343151"/>
              <a:ext cx="5157788" cy="4479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267" name="Text Box 5"/>
            <p:cNvSpPr txBox="1">
              <a:spLocks noChangeArrowheads="1"/>
            </p:cNvSpPr>
            <p:nvPr/>
          </p:nvSpPr>
          <p:spPr bwMode="auto">
            <a:xfrm>
              <a:off x="1575993" y="2637116"/>
              <a:ext cx="3770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n</a:t>
              </a:r>
              <a:r>
                <a:rPr lang="en-US" altLang="zh-CN" sz="1800" baseline="30000">
                  <a:latin typeface="Times New Roman" panose="02020603050405020304" pitchFamily="18" charset="0"/>
                  <a:ea typeface="宋体" pitchFamily="2" charset="-122"/>
                </a:rPr>
                <a:t>2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268" name="Text Box 6"/>
            <p:cNvSpPr txBox="1">
              <a:spLocks noChangeArrowheads="1"/>
            </p:cNvSpPr>
            <p:nvPr/>
          </p:nvSpPr>
          <p:spPr bwMode="auto">
            <a:xfrm>
              <a:off x="1960986" y="2922866"/>
              <a:ext cx="86434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n·log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itchFamily="2" charset="-122"/>
                </a:rPr>
                <a:t>2</a:t>
              </a:r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n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269" name="Text Box 7"/>
            <p:cNvSpPr txBox="1">
              <a:spLocks noChangeArrowheads="1"/>
            </p:cNvSpPr>
            <p:nvPr/>
          </p:nvSpPr>
          <p:spPr bwMode="auto">
            <a:xfrm>
              <a:off x="4090965" y="3780116"/>
              <a:ext cx="30008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n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270" name="Text Box 8"/>
            <p:cNvSpPr txBox="1">
              <a:spLocks noChangeArrowheads="1"/>
            </p:cNvSpPr>
            <p:nvPr/>
          </p:nvSpPr>
          <p:spPr bwMode="auto">
            <a:xfrm>
              <a:off x="3542472" y="5941101"/>
              <a:ext cx="67198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log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itchFamily="2" charset="-122"/>
                </a:rPr>
                <a:t>2</a:t>
              </a:r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n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271" name="Freeform 12"/>
            <p:cNvSpPr/>
            <p:nvPr/>
          </p:nvSpPr>
          <p:spPr bwMode="auto">
            <a:xfrm>
              <a:off x="1691879" y="3507581"/>
              <a:ext cx="1485900" cy="628650"/>
            </a:xfrm>
            <a:custGeom>
              <a:avLst/>
              <a:gdLst>
                <a:gd name="T0" fmla="*/ 0 w 1248"/>
                <a:gd name="T1" fmla="*/ 0 h 528"/>
                <a:gd name="T2" fmla="*/ 642938 w 1248"/>
                <a:gd name="T3" fmla="*/ 163513 h 528"/>
                <a:gd name="T4" fmla="*/ 1404938 w 1248"/>
                <a:gd name="T5" fmla="*/ 461963 h 528"/>
                <a:gd name="T6" fmla="*/ 1981200 w 1248"/>
                <a:gd name="T7" fmla="*/ 838200 h 5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8" h="528">
                  <a:moveTo>
                    <a:pt x="0" y="0"/>
                  </a:moveTo>
                  <a:cubicBezTo>
                    <a:pt x="67" y="17"/>
                    <a:pt x="258" y="55"/>
                    <a:pt x="405" y="103"/>
                  </a:cubicBezTo>
                  <a:cubicBezTo>
                    <a:pt x="552" y="151"/>
                    <a:pt x="745" y="220"/>
                    <a:pt x="885" y="291"/>
                  </a:cubicBezTo>
                  <a:cubicBezTo>
                    <a:pt x="1025" y="362"/>
                    <a:pt x="1172" y="479"/>
                    <a:pt x="1248" y="528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272" name="Text Box 13"/>
            <p:cNvSpPr txBox="1">
              <a:spLocks noChangeArrowheads="1"/>
            </p:cNvSpPr>
            <p:nvPr/>
          </p:nvSpPr>
          <p:spPr bwMode="auto">
            <a:xfrm>
              <a:off x="1799249" y="4123016"/>
              <a:ext cx="17450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</a:rPr>
                <a:t>Faster is better!</a:t>
              </a:r>
              <a:endPara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A54367-A242-47A1-A714-47CAF95A3C6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C3D83D1A-6DE4-4B7D-8FB6-E989F3670D4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BB13BCDB-A3BF-4888-8881-217BC31BF05C}" type="slidenum">
              <a:rPr lang="en-US" altLang="zh-CN" sz="1050"/>
            </a:fld>
            <a:endParaRPr lang="en-US" altLang="zh-CN" sz="105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Stability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2100" dirty="0">
                <a:ea typeface="宋体" pitchFamily="2" charset="-122"/>
              </a:rPr>
              <a:t>Stability: Does it rearrange the order of input data records which have the same key value (duplicates)? </a:t>
            </a:r>
            <a:endParaRPr lang="en-GB" altLang="zh-CN" sz="2100" dirty="0">
              <a:ea typeface="宋体" pitchFamily="2" charset="-122"/>
            </a:endParaRPr>
          </a:p>
          <a:p>
            <a:pPr lvl="1"/>
            <a:r>
              <a:rPr lang="en-GB" altLang="zh-CN" sz="1800" dirty="0" smtClean="0">
                <a:ea typeface="宋体" pitchFamily="2" charset="-122"/>
              </a:rPr>
              <a:t>e.g</a:t>
            </a:r>
            <a:r>
              <a:rPr lang="en-GB" altLang="zh-CN" sz="1800" dirty="0">
                <a:ea typeface="宋体" pitchFamily="2" charset="-122"/>
              </a:rPr>
              <a:t>. Phone book sorted by name. Now sort by county – is the list still sorted by name within each county?</a:t>
            </a:r>
            <a:endParaRPr lang="en-GB" altLang="zh-CN" sz="1800" dirty="0">
              <a:ea typeface="宋体" pitchFamily="2" charset="-122"/>
            </a:endParaRPr>
          </a:p>
          <a:p>
            <a:pPr lvl="1"/>
            <a:r>
              <a:rPr lang="en-GB" altLang="zh-CN" sz="1800" dirty="0">
                <a:ea typeface="宋体" pitchFamily="2" charset="-122"/>
              </a:rPr>
              <a:t>Extremely important property for databases </a:t>
            </a:r>
            <a:endParaRPr lang="en-GB" altLang="zh-CN" sz="1800" dirty="0">
              <a:ea typeface="宋体" pitchFamily="2" charset="-122"/>
            </a:endParaRPr>
          </a:p>
          <a:p>
            <a:pPr lvl="1"/>
            <a:r>
              <a:rPr lang="en-GB" altLang="zh-CN" sz="1800" dirty="0">
                <a:ea typeface="宋体" pitchFamily="2" charset="-122"/>
              </a:rPr>
              <a:t>A </a:t>
            </a:r>
            <a:r>
              <a:rPr lang="en-GB" altLang="zh-CN" sz="1800" dirty="0">
                <a:solidFill>
                  <a:srgbClr val="263AF8"/>
                </a:solidFill>
                <a:ea typeface="宋体" pitchFamily="2" charset="-122"/>
              </a:rPr>
              <a:t>stable sorting algorithm </a:t>
            </a:r>
            <a:r>
              <a:rPr lang="en-GB" altLang="zh-CN" sz="1800" dirty="0">
                <a:ea typeface="宋体" pitchFamily="2" charset="-122"/>
              </a:rPr>
              <a:t>is one which does not rearrange the order of duplicate </a:t>
            </a:r>
            <a:r>
              <a:rPr lang="en-GB" altLang="zh-CN" sz="1800" dirty="0" smtClean="0">
                <a:ea typeface="宋体" pitchFamily="2" charset="-122"/>
              </a:rPr>
              <a:t>keys</a:t>
            </a:r>
            <a:endParaRPr lang="en-GB" altLang="zh-CN" sz="1800" dirty="0" smtClean="0">
              <a:ea typeface="宋体" pitchFamily="2" charset="-122"/>
            </a:endParaRPr>
          </a:p>
          <a:p>
            <a:pPr lvl="1"/>
            <a:endParaRPr lang="en-GB" altLang="zh-CN" sz="1800" dirty="0">
              <a:ea typeface="宋体" pitchFamily="2" charset="-122"/>
            </a:endParaRPr>
          </a:p>
          <a:p>
            <a:r>
              <a:rPr lang="en-US" altLang="zh-CN" dirty="0"/>
              <a:t>Given 5 records  r</a:t>
            </a:r>
            <a:r>
              <a:rPr lang="en-US" altLang="zh-CN" baseline="-25000" dirty="0"/>
              <a:t>1</a:t>
            </a:r>
            <a:r>
              <a:rPr lang="en-US" altLang="zh-CN" dirty="0"/>
              <a:t>(7), r</a:t>
            </a:r>
            <a:r>
              <a:rPr lang="en-US" altLang="zh-CN" baseline="-25000" dirty="0"/>
              <a:t>2</a:t>
            </a:r>
            <a:r>
              <a:rPr lang="en-US" altLang="zh-CN" dirty="0"/>
              <a:t>(5), r</a:t>
            </a:r>
            <a:r>
              <a:rPr lang="en-US" altLang="zh-CN" baseline="-25000" dirty="0"/>
              <a:t>3</a:t>
            </a:r>
            <a:r>
              <a:rPr lang="en-US" altLang="zh-CN" dirty="0"/>
              <a:t>(8), r</a:t>
            </a:r>
            <a:r>
              <a:rPr lang="en-US" altLang="zh-CN" baseline="-25000" dirty="0"/>
              <a:t>4</a:t>
            </a:r>
            <a:r>
              <a:rPr lang="en-US" altLang="zh-CN" dirty="0"/>
              <a:t>(3), and r</a:t>
            </a:r>
            <a:r>
              <a:rPr lang="en-US" altLang="zh-CN" baseline="-25000" dirty="0"/>
              <a:t>5</a:t>
            </a:r>
            <a:r>
              <a:rPr lang="en-US" altLang="zh-CN" dirty="0"/>
              <a:t>(7) to be sorted, which of the following output is generated by a stable sorting algorithm?</a:t>
            </a:r>
            <a:endParaRPr lang="en-US" altLang="zh-CN" dirty="0"/>
          </a:p>
          <a:p>
            <a:pPr lvl="1"/>
            <a:r>
              <a:rPr lang="en-US" altLang="zh-CN" dirty="0"/>
              <a:t>Case 1: </a:t>
            </a:r>
            <a:r>
              <a:rPr lang="en-US" altLang="zh-CN" dirty="0">
                <a:solidFill>
                  <a:srgbClr val="263AF8"/>
                </a:solidFill>
              </a:rPr>
              <a:t>r</a:t>
            </a:r>
            <a:r>
              <a:rPr lang="en-US" altLang="zh-CN" baseline="-25000" dirty="0">
                <a:solidFill>
                  <a:srgbClr val="263AF8"/>
                </a:solidFill>
              </a:rPr>
              <a:t>4</a:t>
            </a:r>
            <a:r>
              <a:rPr lang="en-US" altLang="zh-CN" dirty="0">
                <a:solidFill>
                  <a:srgbClr val="263AF8"/>
                </a:solidFill>
              </a:rPr>
              <a:t>(3)  r</a:t>
            </a:r>
            <a:r>
              <a:rPr lang="en-US" altLang="zh-CN" baseline="-25000" dirty="0">
                <a:solidFill>
                  <a:srgbClr val="263AF8"/>
                </a:solidFill>
              </a:rPr>
              <a:t>2</a:t>
            </a:r>
            <a:r>
              <a:rPr lang="en-US" altLang="zh-CN" dirty="0">
                <a:solidFill>
                  <a:srgbClr val="263AF8"/>
                </a:solidFill>
              </a:rPr>
              <a:t>(5)  r</a:t>
            </a:r>
            <a:r>
              <a:rPr lang="en-US" altLang="zh-CN" baseline="-25000" dirty="0">
                <a:solidFill>
                  <a:srgbClr val="263AF8"/>
                </a:solidFill>
              </a:rPr>
              <a:t>1</a:t>
            </a:r>
            <a:r>
              <a:rPr lang="en-US" altLang="zh-CN" dirty="0">
                <a:solidFill>
                  <a:srgbClr val="263AF8"/>
                </a:solidFill>
              </a:rPr>
              <a:t>(7)  r</a:t>
            </a:r>
            <a:r>
              <a:rPr lang="en-US" altLang="zh-CN" baseline="-25000" dirty="0">
                <a:solidFill>
                  <a:srgbClr val="263AF8"/>
                </a:solidFill>
              </a:rPr>
              <a:t>5</a:t>
            </a:r>
            <a:r>
              <a:rPr lang="en-US" altLang="zh-CN" dirty="0">
                <a:solidFill>
                  <a:srgbClr val="263AF8"/>
                </a:solidFill>
              </a:rPr>
              <a:t>(7)  r</a:t>
            </a:r>
            <a:r>
              <a:rPr lang="en-US" altLang="zh-CN" baseline="-25000" dirty="0">
                <a:solidFill>
                  <a:srgbClr val="263AF8"/>
                </a:solidFill>
              </a:rPr>
              <a:t>3</a:t>
            </a:r>
            <a:r>
              <a:rPr lang="en-US" altLang="zh-CN" dirty="0">
                <a:solidFill>
                  <a:srgbClr val="263AF8"/>
                </a:solidFill>
              </a:rPr>
              <a:t>(8)</a:t>
            </a:r>
            <a:endParaRPr lang="en-US" altLang="zh-CN" dirty="0">
              <a:solidFill>
                <a:srgbClr val="263AF8"/>
              </a:solidFill>
            </a:endParaRPr>
          </a:p>
          <a:p>
            <a:pPr lvl="1"/>
            <a:r>
              <a:rPr lang="en-US" altLang="zh-CN" dirty="0"/>
              <a:t>Case 2: r</a:t>
            </a:r>
            <a:r>
              <a:rPr lang="en-US" altLang="zh-CN" baseline="-25000" dirty="0"/>
              <a:t>4</a:t>
            </a:r>
            <a:r>
              <a:rPr lang="en-US" altLang="zh-CN" dirty="0"/>
              <a:t>(3)  r</a:t>
            </a:r>
            <a:r>
              <a:rPr lang="en-US" altLang="zh-CN" baseline="-25000" dirty="0"/>
              <a:t>2</a:t>
            </a:r>
            <a:r>
              <a:rPr lang="en-US" altLang="zh-CN" dirty="0"/>
              <a:t>(5)  r</a:t>
            </a:r>
            <a:r>
              <a:rPr lang="en-US" altLang="zh-CN" baseline="-25000" dirty="0"/>
              <a:t>5</a:t>
            </a:r>
            <a:r>
              <a:rPr lang="en-US" altLang="zh-CN" dirty="0"/>
              <a:t>(7)  r</a:t>
            </a:r>
            <a:r>
              <a:rPr lang="en-US" altLang="zh-CN" baseline="-25000" dirty="0"/>
              <a:t>1</a:t>
            </a:r>
            <a:r>
              <a:rPr lang="en-US" altLang="zh-CN" dirty="0"/>
              <a:t>(7)  r</a:t>
            </a:r>
            <a:r>
              <a:rPr lang="en-US" altLang="zh-CN" baseline="-25000" dirty="0"/>
              <a:t>3</a:t>
            </a:r>
            <a:r>
              <a:rPr lang="en-US" altLang="zh-CN" dirty="0"/>
              <a:t>(8)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sz="1800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zh-CN" dirty="0"/>
              <a:t>Θ(</a:t>
            </a:r>
            <a:r>
              <a:rPr lang="en-US" altLang="zh-CN" dirty="0"/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) Sorting Algorithms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ADE995-BBFE-48F3-96D0-38D64E7CD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0F52ABD9-170F-4E8E-BE1F-DBC66BC7BEB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F6F692E3-9014-48EF-85A2-A6B63F2993D1}" type="slidenum">
              <a:rPr lang="en-US" altLang="zh-CN" sz="1050"/>
            </a:fld>
            <a:endParaRPr lang="en-US" altLang="zh-CN" sz="1050"/>
          </a:p>
        </p:txBody>
      </p:sp>
      <p:sp>
        <p:nvSpPr>
          <p:cNvPr id="122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Bubble Sort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229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“Bubble” elements to </a:t>
            </a:r>
            <a:r>
              <a:rPr lang="en-US" altLang="zh-CN" dirty="0" smtClean="0">
                <a:ea typeface="宋体" pitchFamily="2" charset="-122"/>
              </a:rPr>
              <a:t>their </a:t>
            </a:r>
            <a:r>
              <a:rPr lang="en-US" altLang="zh-CN" dirty="0">
                <a:ea typeface="宋体" pitchFamily="2" charset="-122"/>
              </a:rPr>
              <a:t>proper place in the array by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comparing</a:t>
            </a:r>
            <a:r>
              <a:rPr lang="en-US" altLang="zh-CN" dirty="0">
                <a:ea typeface="宋体" pitchFamily="2" charset="-122"/>
              </a:rPr>
              <a:t> elements </a:t>
            </a:r>
            <a:r>
              <a:rPr lang="en-US" altLang="zh-CN" dirty="0" err="1">
                <a:ea typeface="宋体" pitchFamily="2" charset="-122"/>
              </a:rPr>
              <a:t>i</a:t>
            </a:r>
            <a:r>
              <a:rPr lang="en-US" altLang="zh-CN" dirty="0">
                <a:ea typeface="宋体" pitchFamily="2" charset="-122"/>
              </a:rPr>
              <a:t> and i+1, and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swapping</a:t>
            </a:r>
            <a:r>
              <a:rPr lang="en-US" altLang="zh-CN" dirty="0">
                <a:ea typeface="宋体" pitchFamily="2" charset="-122"/>
              </a:rPr>
              <a:t> if A[</a:t>
            </a:r>
            <a:r>
              <a:rPr lang="en-US" altLang="zh-CN" dirty="0" err="1">
                <a:ea typeface="宋体" pitchFamily="2" charset="-122"/>
              </a:rPr>
              <a:t>i</a:t>
            </a:r>
            <a:r>
              <a:rPr lang="en-US" altLang="zh-CN" dirty="0">
                <a:ea typeface="宋体" pitchFamily="2" charset="-122"/>
              </a:rPr>
              <a:t>] &gt; A[i+1]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Bubble every element towards its correct position</a:t>
            </a:r>
            <a:endParaRPr lang="en-US" altLang="zh-CN" dirty="0">
              <a:ea typeface="宋体" pitchFamily="2" charset="-122"/>
            </a:endParaRPr>
          </a:p>
          <a:p>
            <a:pPr lvl="2"/>
            <a:r>
              <a:rPr lang="en-US" altLang="zh-CN" sz="1600" dirty="0">
                <a:ea typeface="宋体" pitchFamily="2" charset="-122"/>
              </a:rPr>
              <a:t>last position has the largest element</a:t>
            </a:r>
            <a:endParaRPr lang="en-US" altLang="zh-CN" sz="1600" dirty="0">
              <a:ea typeface="宋体" pitchFamily="2" charset="-122"/>
            </a:endParaRPr>
          </a:p>
          <a:p>
            <a:pPr lvl="2"/>
            <a:r>
              <a:rPr lang="en-US" altLang="zh-CN" sz="1600" dirty="0">
                <a:ea typeface="宋体" pitchFamily="2" charset="-122"/>
              </a:rPr>
              <a:t>then bubble every element except the last one towards its correct position</a:t>
            </a:r>
            <a:endParaRPr lang="en-US" altLang="zh-CN" sz="1600" dirty="0">
              <a:ea typeface="宋体" pitchFamily="2" charset="-122"/>
            </a:endParaRPr>
          </a:p>
          <a:p>
            <a:pPr lvl="2"/>
            <a:r>
              <a:rPr lang="en-US" altLang="zh-CN" sz="1600" dirty="0">
                <a:ea typeface="宋体" pitchFamily="2" charset="-122"/>
              </a:rPr>
              <a:t>then repeat until </a:t>
            </a:r>
            <a:r>
              <a:rPr lang="en-US" altLang="zh-CN" sz="1600" dirty="0" smtClean="0">
                <a:ea typeface="宋体" pitchFamily="2" charset="-122"/>
              </a:rPr>
              <a:t>done</a:t>
            </a:r>
            <a:endParaRPr lang="en-US" altLang="zh-CN" sz="1600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Bubble Sort</a:t>
            </a:r>
            <a:endParaRPr lang="zh-CN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4"/>
            <a:endParaRPr lang="en-US" altLang="zh-CN" sz="1050" dirty="0"/>
          </a:p>
          <a:p>
            <a:pPr>
              <a:lnSpc>
                <a:spcPct val="70000"/>
              </a:lnSpc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/</a:t>
            </a:r>
            <a:r>
              <a:rPr lang="zh-CN" altLang="en-US" sz="1800" dirty="0" smtClean="0">
                <a:solidFill>
                  <a:srgbClr val="008000"/>
                </a:solidFill>
              </a:rPr>
              <a:t>* </a:t>
            </a:r>
            <a:r>
              <a:rPr lang="en-US" altLang="zh-CN" sz="1800" dirty="0" err="1" smtClean="0">
                <a:solidFill>
                  <a:srgbClr val="008000"/>
                </a:solidFill>
              </a:rPr>
              <a:t>Bubblesort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 </a:t>
            </a:r>
            <a:r>
              <a:rPr lang="zh-CN" altLang="en-US" sz="1800" dirty="0" smtClean="0">
                <a:solidFill>
                  <a:srgbClr val="008000"/>
                </a:solidFill>
              </a:rPr>
              <a:t>* </a:t>
            </a:r>
            <a:r>
              <a:rPr lang="en-US" altLang="zh-CN" sz="1800" dirty="0" smtClean="0">
                <a:solidFill>
                  <a:srgbClr val="008000"/>
                </a:solidFill>
              </a:rPr>
              <a:t>At </a:t>
            </a:r>
            <a:r>
              <a:rPr lang="en-US" altLang="zh-CN" sz="1800" dirty="0">
                <a:solidFill>
                  <a:srgbClr val="008000"/>
                </a:solidFill>
              </a:rPr>
              <a:t>the </a:t>
            </a:r>
            <a:r>
              <a:rPr lang="en-US" altLang="zh-CN" sz="1800" i="1" dirty="0" err="1">
                <a:solidFill>
                  <a:srgbClr val="008000"/>
                </a:solidFill>
              </a:rPr>
              <a:t>i</a:t>
            </a:r>
            <a:r>
              <a:rPr lang="en-US" altLang="zh-CN" sz="1800" dirty="0" err="1">
                <a:solidFill>
                  <a:srgbClr val="008000"/>
                </a:solidFill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</a:rPr>
              <a:t> iteration, it keeps bubbling up the </a:t>
            </a:r>
            <a:r>
              <a:rPr lang="en-US" altLang="zh-CN" sz="1800" i="1" dirty="0" err="1">
                <a:solidFill>
                  <a:srgbClr val="008000"/>
                </a:solidFill>
              </a:rPr>
              <a:t>i</a:t>
            </a:r>
            <a:r>
              <a:rPr lang="en-US" altLang="zh-CN" sz="1800" dirty="0" err="1">
                <a:solidFill>
                  <a:srgbClr val="008000"/>
                </a:solidFill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</a:rPr>
              <a:t> 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 </a:t>
            </a:r>
            <a:r>
              <a:rPr lang="zh-CN" altLang="en-US" sz="1800" dirty="0" smtClean="0">
                <a:solidFill>
                  <a:srgbClr val="008000"/>
                </a:solidFill>
              </a:rPr>
              <a:t>*  </a:t>
            </a:r>
            <a:r>
              <a:rPr lang="en-US" altLang="zh-CN" sz="1800" dirty="0" smtClean="0">
                <a:solidFill>
                  <a:srgbClr val="008000"/>
                </a:solidFill>
              </a:rPr>
              <a:t>smallest </a:t>
            </a:r>
            <a:r>
              <a:rPr lang="en-US" altLang="zh-CN" sz="1800" dirty="0">
                <a:solidFill>
                  <a:srgbClr val="008000"/>
                </a:solidFill>
              </a:rPr>
              <a:t>value to position </a:t>
            </a:r>
            <a:r>
              <a:rPr lang="en-US" altLang="zh-CN" sz="1800" i="1" dirty="0" err="1">
                <a:solidFill>
                  <a:srgbClr val="008000"/>
                </a:solidFill>
              </a:rPr>
              <a:t>i</a:t>
            </a:r>
            <a:r>
              <a:rPr lang="en-US" altLang="zh-CN" sz="1800" dirty="0">
                <a:solidFill>
                  <a:srgbClr val="008000"/>
                </a:solidFill>
              </a:rPr>
              <a:t> in the array.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zh-CN" altLang="en-US" sz="1800" dirty="0" smtClean="0">
                <a:solidFill>
                  <a:srgbClr val="008000"/>
                </a:solidFill>
              </a:rPr>
              <a:t>*</a:t>
            </a:r>
            <a:r>
              <a:rPr lang="en-US" altLang="zh-CN" sz="1800" dirty="0" smtClean="0">
                <a:solidFill>
                  <a:srgbClr val="008000"/>
                </a:solidFill>
              </a:rPr>
              <a:t>/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 smtClean="0"/>
              <a:t>template 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E, 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Comp&gt;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b="1" dirty="0" err="1">
                <a:solidFill>
                  <a:srgbClr val="FF0000"/>
                </a:solidFill>
              </a:rPr>
              <a:t>bubsort</a:t>
            </a:r>
            <a:r>
              <a:rPr lang="en-US" altLang="zh-CN" sz="1800" dirty="0"/>
              <a:t>(E 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 {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&lt;n-1;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j=n-1; j&gt;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 j--)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  if (Comp::prior(A[j], A[j-1</a:t>
            </a:r>
            <a:r>
              <a:rPr lang="en-US" altLang="zh-CN" sz="1800" dirty="0" smtClean="0"/>
              <a:t>])) </a:t>
            </a:r>
            <a:r>
              <a:rPr lang="en-US" altLang="zh-CN" sz="1800" dirty="0">
                <a:solidFill>
                  <a:srgbClr val="008000"/>
                </a:solidFill>
              </a:rPr>
              <a:t>//</a:t>
            </a:r>
            <a:r>
              <a:rPr lang="en-US" altLang="zh-CN" sz="1800" dirty="0" smtClean="0">
                <a:solidFill>
                  <a:srgbClr val="008000"/>
                </a:solidFill>
              </a:rPr>
              <a:t>compare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    swap(A, j, j-1</a:t>
            </a:r>
            <a:r>
              <a:rPr lang="en-US" altLang="zh-CN" sz="1800" dirty="0" smtClean="0"/>
              <a:t>); </a:t>
            </a:r>
            <a:r>
              <a:rPr lang="en-US" altLang="zh-CN" sz="1800" dirty="0">
                <a:solidFill>
                  <a:srgbClr val="008000"/>
                </a:solidFill>
              </a:rPr>
              <a:t>//swap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} </a:t>
            </a:r>
            <a:endParaRPr lang="zh-CN" altLang="en-US" sz="1800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E2E48F5-1742-4E5D-8DEE-183EB580FCA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C299CB-D5F6-4042-9B91-9C4747DDC18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22699" y="6172854"/>
            <a:ext cx="522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=0    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j=7    j=6    j=5     j=4    j=3    j=2     j=1</a:t>
            </a:r>
            <a:endParaRPr lang="zh-CN" altLang="en-US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1F55F9FE-4960-4A80-BCEB-ED485E038CA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8ACAB4A7-80BD-459A-9AA0-301B31E669ED}" type="slidenum">
              <a:rPr lang="en-US" altLang="zh-CN" sz="1050"/>
            </a:fld>
            <a:endParaRPr lang="en-US" altLang="zh-CN" sz="105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宋体" pitchFamily="2" charset="-122"/>
              </a:rPr>
              <a:t>Bubblesort</a:t>
            </a:r>
            <a:endParaRPr lang="en-US" altLang="zh-CN" dirty="0" smtClean="0">
              <a:ea typeface="宋体" pitchFamily="2" charset="-122"/>
            </a:endParaRPr>
          </a:p>
        </p:txBody>
      </p:sp>
      <p:graphicFrame>
        <p:nvGraphicFramePr>
          <p:cNvPr id="57" name="Content Placeholder 6"/>
          <p:cNvGraphicFramePr>
            <a:graphicFrameLocks noGrp="1"/>
          </p:cNvGraphicFramePr>
          <p:nvPr>
            <p:ph idx="1"/>
          </p:nvPr>
        </p:nvGraphicFramePr>
        <p:xfrm>
          <a:off x="809624" y="2555776"/>
          <a:ext cx="5238752" cy="365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44"/>
                <a:gridCol w="654844"/>
                <a:gridCol w="654844"/>
                <a:gridCol w="654844"/>
                <a:gridCol w="654844"/>
                <a:gridCol w="654844"/>
                <a:gridCol w="654844"/>
                <a:gridCol w="654844"/>
              </a:tblGrid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42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42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42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42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42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42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42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20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20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20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20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20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20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17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17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17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17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17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13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13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13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28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28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28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14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14</a:t>
                      </a:r>
                      <a:endParaRPr lang="zh-CN" altLang="en-US" sz="2400" dirty="0"/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14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14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23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15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8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rgbClr val="00B050"/>
                          </a:solidFill>
                        </a:rPr>
                        <a:t>15</a:t>
                      </a:r>
                      <a:endParaRPr lang="zh-CN" alt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8" name="Table 13"/>
          <p:cNvGraphicFramePr>
            <a:graphicFrameLocks noGrp="1"/>
          </p:cNvGraphicFramePr>
          <p:nvPr/>
        </p:nvGraphicFramePr>
        <p:xfrm>
          <a:off x="1556792" y="5307514"/>
          <a:ext cx="548579" cy="9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579"/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23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5"/>
          <p:cNvGraphicFramePr>
            <a:graphicFrameLocks noGrp="1"/>
          </p:cNvGraphicFramePr>
          <p:nvPr/>
        </p:nvGraphicFramePr>
        <p:xfrm>
          <a:off x="2778352" y="4394076"/>
          <a:ext cx="578639" cy="9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8639"/>
              </a:tblGrid>
              <a:tr h="370682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28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Table 16"/>
          <p:cNvGraphicFramePr>
            <a:graphicFrameLocks noGrp="1"/>
          </p:cNvGraphicFramePr>
          <p:nvPr/>
        </p:nvGraphicFramePr>
        <p:xfrm>
          <a:off x="4089772" y="3486106"/>
          <a:ext cx="635371" cy="9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371"/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6"/>
          <p:cNvGraphicFramePr>
            <a:graphicFrameLocks noGrp="1"/>
          </p:cNvGraphicFramePr>
          <p:nvPr/>
        </p:nvGraphicFramePr>
        <p:xfrm>
          <a:off x="4751388" y="3028946"/>
          <a:ext cx="635371" cy="9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371"/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Table 16"/>
          <p:cNvGraphicFramePr>
            <a:graphicFrameLocks noGrp="1"/>
          </p:cNvGraphicFramePr>
          <p:nvPr/>
        </p:nvGraphicFramePr>
        <p:xfrm>
          <a:off x="5379367" y="2575234"/>
          <a:ext cx="635371" cy="9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371"/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0000"/>
                          </a:solidFill>
                        </a:rPr>
                        <a:t>42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325718" y="2555776"/>
            <a:ext cx="722657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558012" y="2624432"/>
            <a:ext cx="722657" cy="403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3918921" y="2555776"/>
            <a:ext cx="722657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3305428" y="2555776"/>
            <a:ext cx="722657" cy="432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637378" y="2575234"/>
            <a:ext cx="722657" cy="4301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098118" y="2512408"/>
            <a:ext cx="722657" cy="4507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437079" y="2555776"/>
            <a:ext cx="722657" cy="4464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641202" y="2015753"/>
            <a:ext cx="915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n=8</a:t>
            </a:r>
            <a:endParaRPr lang="zh-CN" altLang="en-US" sz="2400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2656" y="2483768"/>
            <a:ext cx="3085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0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1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2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3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4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5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263AF8"/>
                </a:solidFill>
              </a:rPr>
              <a:t>6</a:t>
            </a:r>
            <a:endParaRPr lang="en-US" altLang="zh-CN" sz="2000" dirty="0" smtClean="0">
              <a:solidFill>
                <a:srgbClr val="263AF8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263AF8"/>
                </a:solidFill>
              </a:rPr>
              <a:t>7</a:t>
            </a:r>
            <a:endParaRPr lang="zh-CN" altLang="en-US" sz="2000" dirty="0">
              <a:solidFill>
                <a:srgbClr val="263AF8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22699" y="6714394"/>
            <a:ext cx="5225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=1     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j=7    j=6    j=5    j=4     j=3    j=2     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=2     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j=7    j=6    j=5   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j=4    j=3</a:t>
            </a:r>
            <a:endParaRPr lang="zh-CN" altLang="en-US" dirty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=3     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j=7    j=6    j=5   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j=4</a:t>
            </a:r>
            <a:endParaRPr lang="zh-CN" altLang="en-US" dirty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=4     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j=7    j=6   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j=5</a:t>
            </a:r>
            <a:endParaRPr lang="zh-CN" altLang="en-US" dirty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=5     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j=7    j=6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=6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    j=7 </a:t>
            </a:r>
            <a:endParaRPr lang="zh-CN" altLang="en-US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4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6C415CAE-B937-40CB-98FE-0FA078D503A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B4357E2E-A7C8-4A7E-A13E-F1C23C9E36EE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Bubble 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305" y="2269764"/>
            <a:ext cx="6172200" cy="5902636"/>
          </a:xfrm>
        </p:spPr>
        <p:txBody>
          <a:bodyPr>
            <a:normAutofit lnSpcReduction="10000"/>
          </a:bodyPr>
          <a:lstStyle/>
          <a:p>
            <a:r>
              <a:rPr lang="en-US" altLang="zh-CN" sz="2200" dirty="0" smtClean="0">
                <a:ea typeface="宋体" pitchFamily="2" charset="-122"/>
              </a:rPr>
              <a:t>“Bubble” elements to </a:t>
            </a:r>
            <a:r>
              <a:rPr lang="en-US" altLang="zh-CN" sz="2200" dirty="0" err="1" smtClean="0">
                <a:ea typeface="宋体" pitchFamily="2" charset="-122"/>
              </a:rPr>
              <a:t>to</a:t>
            </a:r>
            <a:r>
              <a:rPr lang="en-US" altLang="zh-CN" sz="2200" dirty="0" smtClean="0">
                <a:ea typeface="宋体" pitchFamily="2" charset="-122"/>
              </a:rPr>
              <a:t> their proper place in the array by </a:t>
            </a:r>
            <a:r>
              <a:rPr lang="en-US" altLang="zh-CN" sz="2200" dirty="0" smtClean="0">
                <a:solidFill>
                  <a:srgbClr val="FF0000"/>
                </a:solidFill>
                <a:ea typeface="宋体" pitchFamily="2" charset="-122"/>
              </a:rPr>
              <a:t>comparing </a:t>
            </a:r>
            <a:r>
              <a:rPr lang="en-US" altLang="zh-CN" sz="2200" dirty="0" smtClean="0">
                <a:ea typeface="宋体" pitchFamily="2" charset="-122"/>
              </a:rPr>
              <a:t>elements </a:t>
            </a:r>
            <a:r>
              <a:rPr lang="en-US" altLang="zh-CN" sz="2200" dirty="0" err="1" smtClean="0">
                <a:ea typeface="宋体" pitchFamily="2" charset="-122"/>
              </a:rPr>
              <a:t>i</a:t>
            </a:r>
            <a:r>
              <a:rPr lang="en-US" altLang="zh-CN" sz="2200" dirty="0" smtClean="0">
                <a:ea typeface="宋体" pitchFamily="2" charset="-122"/>
              </a:rPr>
              <a:t> and i+1, and </a:t>
            </a:r>
            <a:r>
              <a:rPr lang="en-US" altLang="zh-CN" sz="2200" dirty="0" smtClean="0">
                <a:solidFill>
                  <a:srgbClr val="FF0000"/>
                </a:solidFill>
                <a:ea typeface="宋体" pitchFamily="2" charset="-122"/>
              </a:rPr>
              <a:t>swapping</a:t>
            </a:r>
            <a:r>
              <a:rPr lang="en-US" altLang="zh-CN" sz="2200" dirty="0" smtClean="0">
                <a:ea typeface="宋体" pitchFamily="2" charset="-122"/>
              </a:rPr>
              <a:t> if A[</a:t>
            </a:r>
            <a:r>
              <a:rPr lang="en-US" altLang="zh-CN" sz="2200" dirty="0" err="1" smtClean="0">
                <a:ea typeface="宋体" pitchFamily="2" charset="-122"/>
              </a:rPr>
              <a:t>i</a:t>
            </a:r>
            <a:r>
              <a:rPr lang="en-US" altLang="zh-CN" sz="2200" dirty="0" smtClean="0">
                <a:ea typeface="宋体" pitchFamily="2" charset="-122"/>
              </a:rPr>
              <a:t>] &gt; A[i+1]</a:t>
            </a:r>
            <a:endParaRPr lang="en-US" altLang="zh-CN" sz="2200" dirty="0" smtClean="0">
              <a:ea typeface="宋体" pitchFamily="2" charset="-122"/>
            </a:endParaRPr>
          </a:p>
          <a:p>
            <a:r>
              <a:rPr lang="en-US" altLang="zh-CN" sz="2200" dirty="0" smtClean="0">
                <a:ea typeface="宋体" pitchFamily="2" charset="-122"/>
              </a:rPr>
              <a:t>We </a:t>
            </a:r>
            <a:r>
              <a:rPr lang="en-US" altLang="zh-CN" sz="2200" dirty="0" err="1" smtClean="0">
                <a:ea typeface="宋体" pitchFamily="2" charset="-122"/>
              </a:rPr>
              <a:t>bubblize</a:t>
            </a:r>
            <a:r>
              <a:rPr lang="en-US" altLang="zh-CN" sz="2200" dirty="0" smtClean="0">
                <a:ea typeface="宋体" pitchFamily="2" charset="-122"/>
              </a:rPr>
              <a:t> for </a:t>
            </a:r>
            <a:r>
              <a:rPr lang="en-US" altLang="zh-CN" sz="2200" dirty="0" err="1" smtClean="0">
                <a:ea typeface="宋体" pitchFamily="2" charset="-122"/>
              </a:rPr>
              <a:t>i</a:t>
            </a:r>
            <a:r>
              <a:rPr lang="en-US" altLang="zh-CN" sz="2200" dirty="0" smtClean="0">
                <a:ea typeface="宋体" pitchFamily="2" charset="-122"/>
              </a:rPr>
              <a:t>=1 to n (</a:t>
            </a:r>
            <a:r>
              <a:rPr lang="en-US" altLang="zh-CN" sz="2200" dirty="0" err="1" smtClean="0">
                <a:ea typeface="宋体" pitchFamily="2" charset="-122"/>
              </a:rPr>
              <a:t>i.e</a:t>
            </a:r>
            <a:r>
              <a:rPr lang="en-US" altLang="zh-CN" sz="2200" dirty="0" smtClean="0">
                <a:ea typeface="宋体" pitchFamily="2" charset="-122"/>
              </a:rPr>
              <a:t>, n times)</a:t>
            </a:r>
            <a:endParaRPr lang="en-US" altLang="zh-CN" sz="2200" dirty="0" smtClean="0">
              <a:ea typeface="宋体" pitchFamily="2" charset="-122"/>
            </a:endParaRPr>
          </a:p>
          <a:p>
            <a:r>
              <a:rPr lang="en-US" altLang="zh-CN" sz="2200" dirty="0" smtClean="0">
                <a:ea typeface="宋体" pitchFamily="2" charset="-122"/>
              </a:rPr>
              <a:t>Each </a:t>
            </a:r>
            <a:r>
              <a:rPr lang="en-US" altLang="zh-CN" sz="2200" dirty="0" err="1" smtClean="0">
                <a:ea typeface="宋体" pitchFamily="2" charset="-122"/>
              </a:rPr>
              <a:t>bubblization</a:t>
            </a:r>
            <a:r>
              <a:rPr lang="en-US" altLang="zh-CN" sz="2200" dirty="0" smtClean="0">
                <a:ea typeface="宋体" pitchFamily="2" charset="-122"/>
              </a:rPr>
              <a:t> is a loop that makes n-</a:t>
            </a:r>
            <a:r>
              <a:rPr lang="en-US" altLang="zh-CN" sz="2200" dirty="0" err="1" smtClean="0">
                <a:ea typeface="宋体" pitchFamily="2" charset="-122"/>
              </a:rPr>
              <a:t>i</a:t>
            </a:r>
            <a:r>
              <a:rPr lang="en-US" altLang="zh-CN" sz="2200" dirty="0" smtClean="0">
                <a:ea typeface="宋体" pitchFamily="2" charset="-122"/>
              </a:rPr>
              <a:t> comparisons.</a:t>
            </a:r>
            <a:endParaRPr lang="en-US" altLang="zh-CN" sz="2200" dirty="0" smtClean="0">
              <a:ea typeface="宋体" pitchFamily="2" charset="-122"/>
            </a:endParaRPr>
          </a:p>
          <a:p>
            <a:pPr lvl="1"/>
            <a:r>
              <a:rPr lang="en-US" altLang="zh-CN" sz="1900" dirty="0" smtClean="0"/>
              <a:t>The </a:t>
            </a:r>
            <a:r>
              <a:rPr lang="en-US" altLang="zh-CN" sz="1900" dirty="0"/>
              <a:t>total number of comparisons will </a:t>
            </a:r>
            <a:r>
              <a:rPr lang="en-US" altLang="zh-CN" sz="1900" dirty="0" smtClean="0"/>
              <a:t>be </a:t>
            </a:r>
            <a:endParaRPr lang="en-US" altLang="zh-CN" sz="1900" dirty="0" smtClean="0"/>
          </a:p>
          <a:p>
            <a:endParaRPr lang="en-US" altLang="zh-CN" sz="2000" dirty="0" smtClean="0">
              <a:ea typeface="宋体" pitchFamily="2" charset="-122"/>
            </a:endParaRPr>
          </a:p>
          <a:p>
            <a:endParaRPr lang="en-US" altLang="zh-CN" sz="20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2200" dirty="0" smtClean="0"/>
              <a:t>  </a:t>
            </a:r>
            <a:endParaRPr lang="en-US" altLang="zh-CN" sz="2200" dirty="0" smtClean="0"/>
          </a:p>
          <a:p>
            <a:pPr marL="0" indent="0"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1900" dirty="0" smtClean="0"/>
              <a:t>roughly </a:t>
            </a:r>
            <a:r>
              <a:rPr lang="en-US" altLang="zh-CN" sz="1900" dirty="0"/>
              <a:t>the same in the best, average, and </a:t>
            </a:r>
            <a:r>
              <a:rPr lang="en-US" altLang="zh-CN" sz="1900" dirty="0" smtClean="0"/>
              <a:t>worst cases</a:t>
            </a:r>
            <a:r>
              <a:rPr lang="en-US" altLang="zh-CN" sz="1900" dirty="0"/>
              <a:t>.</a:t>
            </a:r>
            <a:endParaRPr lang="en-US" altLang="zh-CN" sz="1900" dirty="0" smtClean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The number of </a:t>
            </a:r>
            <a:r>
              <a:rPr lang="en-US" altLang="zh-CN" sz="2000" dirty="0"/>
              <a:t>swaps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can </a:t>
            </a:r>
            <a:r>
              <a:rPr lang="en-US" altLang="zh-CN" sz="2000" dirty="0" smtClean="0"/>
              <a:t>be expected about half </a:t>
            </a:r>
            <a:r>
              <a:rPr lang="en-US" altLang="zh-CN" sz="2000" dirty="0"/>
              <a:t>the comparisons in the average case, leading to O </a:t>
            </a:r>
            <a:r>
              <a:rPr lang="en-US" altLang="zh-CN" sz="2000" dirty="0" smtClean="0"/>
              <a:t>(</a:t>
            </a:r>
            <a:r>
              <a:rPr lang="en-US" altLang="zh-CN" sz="2000" dirty="0"/>
              <a:t>n</a:t>
            </a:r>
            <a:r>
              <a:rPr lang="en-US" altLang="zh-CN" sz="2000" baseline="30000" dirty="0"/>
              <a:t>2</a:t>
            </a:r>
            <a:r>
              <a:rPr lang="en-US" altLang="zh-CN" sz="2000" dirty="0" smtClean="0"/>
              <a:t>),</a:t>
            </a:r>
            <a:r>
              <a:rPr lang="en-US" altLang="zh-CN" sz="1800" dirty="0"/>
              <a:t> </a:t>
            </a:r>
            <a:r>
              <a:rPr lang="en-US" altLang="zh-CN" sz="2000" dirty="0"/>
              <a:t>in the average and worst </a:t>
            </a:r>
            <a:r>
              <a:rPr lang="en-US" altLang="zh-CN" sz="2000" dirty="0" smtClean="0"/>
              <a:t>cases. </a:t>
            </a:r>
            <a:r>
              <a:rPr lang="en-US" altLang="zh-CN" sz="2000" dirty="0"/>
              <a:t>0</a:t>
            </a:r>
            <a:r>
              <a:rPr lang="en-US" altLang="zh-CN" sz="2000" b="1" dirty="0"/>
              <a:t> </a:t>
            </a:r>
            <a:r>
              <a:rPr lang="en-US" altLang="zh-CN" sz="2000" dirty="0"/>
              <a:t>swaps in the best </a:t>
            </a:r>
            <a:r>
              <a:rPr lang="en-US" altLang="zh-CN" sz="2000" dirty="0" smtClean="0"/>
              <a:t>case.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b="1" dirty="0" smtClean="0"/>
              <a:t> </a:t>
            </a:r>
            <a:endParaRPr lang="en-US" altLang="zh-CN" sz="2000" dirty="0"/>
          </a:p>
          <a:p>
            <a:r>
              <a:rPr lang="en-US" altLang="zh-CN" sz="2000" dirty="0"/>
              <a:t>Bubble Sort </a:t>
            </a:r>
            <a:r>
              <a:rPr lang="en-US" altLang="zh-CN" sz="2000" dirty="0" smtClean="0">
                <a:ea typeface="宋体" pitchFamily="2" charset="-122"/>
              </a:rPr>
              <a:t>is O(n</a:t>
            </a:r>
            <a:r>
              <a:rPr lang="en-US" altLang="zh-CN" sz="2000" baseline="30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)</a:t>
            </a:r>
            <a:endParaRPr lang="en-US" altLang="zh-CN" sz="2000" dirty="0" smtClean="0">
              <a:ea typeface="宋体" pitchFamily="2" charset="-122"/>
            </a:endParaRPr>
          </a:p>
        </p:txBody>
      </p:sp>
      <p:graphicFrame>
        <p:nvGraphicFramePr>
          <p:cNvPr id="16391" name="Object 4"/>
          <p:cNvGraphicFramePr>
            <a:graphicFrameLocks noChangeAspect="1"/>
          </p:cNvGraphicFramePr>
          <p:nvPr/>
        </p:nvGraphicFramePr>
        <p:xfrm>
          <a:off x="3386138" y="4491038"/>
          <a:ext cx="84535" cy="16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1" imgW="114300" imgH="215900" progId="Equation.3">
                  <p:embed/>
                </p:oleObj>
              </mc:Choice>
              <mc:Fallback>
                <p:oleObj name="Equation" r:id="rId1" imgW="114300" imgH="215900" progId="Equation.3">
                  <p:embed/>
                  <p:pic>
                    <p:nvPicPr>
                      <p:cNvPr id="0" name="Picture 30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4491038"/>
                        <a:ext cx="84535" cy="160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713" y="4427857"/>
            <a:ext cx="2021383" cy="7684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Selection Sort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dirty="0"/>
              <a:t>In the </a:t>
            </a:r>
            <a:r>
              <a:rPr lang="en-US" altLang="zh-CN" sz="2100" i="1" dirty="0" err="1"/>
              <a:t>i</a:t>
            </a:r>
            <a:r>
              <a:rPr lang="en-US" altLang="zh-CN" sz="2100" dirty="0" err="1"/>
              <a:t>th</a:t>
            </a:r>
            <a:r>
              <a:rPr lang="en-US" altLang="zh-CN" sz="2100" dirty="0"/>
              <a:t> </a:t>
            </a:r>
            <a:r>
              <a:rPr lang="en-US" altLang="zh-CN" sz="2100" dirty="0" smtClean="0"/>
              <a:t>pass </a:t>
            </a:r>
            <a:r>
              <a:rPr lang="en-US" altLang="zh-CN" sz="2100" dirty="0"/>
              <a:t>of selection sort, the </a:t>
            </a:r>
            <a:r>
              <a:rPr lang="en-US" altLang="zh-CN" sz="2100" i="1" dirty="0" err="1"/>
              <a:t>i</a:t>
            </a:r>
            <a:r>
              <a:rPr lang="en-US" altLang="zh-CN" sz="2100" dirty="0" err="1"/>
              <a:t>th</a:t>
            </a:r>
            <a:r>
              <a:rPr lang="en-US" altLang="zh-CN" sz="2100" dirty="0"/>
              <a:t> smallest key in the array is selected and placed into position </a:t>
            </a:r>
            <a:r>
              <a:rPr lang="en-US" altLang="zh-CN" sz="2100" dirty="0" err="1"/>
              <a:t>i</a:t>
            </a:r>
            <a:r>
              <a:rPr lang="en-US" altLang="zh-CN" sz="2100" dirty="0"/>
              <a:t>.</a:t>
            </a:r>
            <a:endParaRPr lang="en-US" altLang="zh-CN" sz="2100" dirty="0"/>
          </a:p>
          <a:p>
            <a:pPr lvl="1"/>
            <a:r>
              <a:rPr lang="en-US" altLang="zh-CN" sz="1800" dirty="0"/>
              <a:t>It searches through the entire unsorted portion to find the next smallest key value;</a:t>
            </a:r>
            <a:endParaRPr lang="en-US" altLang="zh-CN" sz="1800" dirty="0"/>
          </a:p>
          <a:p>
            <a:pPr lvl="1"/>
            <a:r>
              <a:rPr lang="en-US" altLang="zh-CN" sz="1800" dirty="0"/>
              <a:t>Only require </a:t>
            </a:r>
            <a:r>
              <a:rPr lang="en-US" altLang="zh-CN" sz="1800" dirty="0">
                <a:solidFill>
                  <a:srgbClr val="FF0000"/>
                </a:solidFill>
              </a:rPr>
              <a:t>one swap </a:t>
            </a:r>
            <a:r>
              <a:rPr lang="en-US" altLang="zh-CN" sz="1800" dirty="0"/>
              <a:t>to put the record in place</a:t>
            </a:r>
            <a:endParaRPr lang="en-US" altLang="zh-CN" sz="1800" dirty="0"/>
          </a:p>
          <a:p>
            <a:pPr lvl="2"/>
            <a:r>
              <a:rPr lang="en-US" altLang="zh-CN" sz="1575" dirty="0"/>
              <a:t>The total number of swaps required will be n-1.</a:t>
            </a:r>
            <a:endParaRPr lang="en-US" altLang="zh-CN" sz="1575" dirty="0"/>
          </a:p>
          <a:p>
            <a:endParaRPr lang="en-US" altLang="zh-CN" sz="2100" dirty="0"/>
          </a:p>
          <a:p>
            <a:r>
              <a:rPr lang="en-US" altLang="zh-CN" sz="2100" dirty="0"/>
              <a:t>It is similar to Bubble Sort but requires much fewer swaps.</a:t>
            </a:r>
            <a:endParaRPr lang="en-US" altLang="zh-CN" sz="2100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F39DC1A-7A7D-4F5E-ADB5-AC3ACEF18749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Selection Sort</a:t>
            </a:r>
            <a:endParaRPr lang="zh-CN" altLang="en-US" dirty="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32656" y="2234960"/>
            <a:ext cx="6483682" cy="3308747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/</a:t>
            </a:r>
            <a:r>
              <a:rPr lang="zh-CN" altLang="en-US" sz="1800" dirty="0">
                <a:solidFill>
                  <a:srgbClr val="008000"/>
                </a:solidFill>
              </a:rPr>
              <a:t>*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zh-CN" altLang="en-US" sz="1800" dirty="0">
                <a:solidFill>
                  <a:srgbClr val="008000"/>
                </a:solidFill>
              </a:rPr>
              <a:t>*  </a:t>
            </a:r>
            <a:r>
              <a:rPr lang="en-US" altLang="zh-CN" sz="1800" dirty="0">
                <a:solidFill>
                  <a:srgbClr val="008000"/>
                </a:solidFill>
              </a:rPr>
              <a:t>Selection Sort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zh-CN" altLang="en-US" sz="1800" dirty="0">
                <a:solidFill>
                  <a:srgbClr val="008000"/>
                </a:solidFill>
              </a:rPr>
              <a:t>*  </a:t>
            </a:r>
            <a:r>
              <a:rPr lang="en-US" altLang="zh-CN" sz="1800" dirty="0">
                <a:solidFill>
                  <a:srgbClr val="008000"/>
                </a:solidFill>
              </a:rPr>
              <a:t>In the </a:t>
            </a:r>
            <a:r>
              <a:rPr lang="en-US" altLang="zh-CN" sz="1800" dirty="0" err="1">
                <a:solidFill>
                  <a:srgbClr val="008000"/>
                </a:solidFill>
              </a:rPr>
              <a:t>ith</a:t>
            </a:r>
            <a:r>
              <a:rPr lang="en-US" altLang="zh-CN" sz="1800" dirty="0">
                <a:solidFill>
                  <a:srgbClr val="008000"/>
                </a:solidFill>
              </a:rPr>
              <a:t> pass, the </a:t>
            </a:r>
            <a:r>
              <a:rPr lang="en-US" altLang="zh-CN" sz="1800" dirty="0" err="1">
                <a:solidFill>
                  <a:srgbClr val="008000"/>
                </a:solidFill>
              </a:rPr>
              <a:t>ith</a:t>
            </a:r>
            <a:r>
              <a:rPr lang="en-US" altLang="zh-CN" sz="1800" dirty="0">
                <a:solidFill>
                  <a:srgbClr val="008000"/>
                </a:solidFill>
              </a:rPr>
              <a:t> smallest key in the array is selected </a:t>
            </a:r>
            <a:r>
              <a:rPr lang="zh-CN" altLang="en-US" sz="1800" dirty="0">
                <a:solidFill>
                  <a:srgbClr val="008000"/>
                </a:solidFill>
              </a:rPr>
              <a:t>* </a:t>
            </a:r>
            <a:r>
              <a:rPr lang="en-US" altLang="zh-CN" sz="1800" dirty="0">
                <a:solidFill>
                  <a:srgbClr val="008000"/>
                </a:solidFill>
              </a:rPr>
              <a:t>and placed into position </a:t>
            </a:r>
            <a:r>
              <a:rPr lang="en-US" altLang="zh-CN" sz="1800" dirty="0" err="1">
                <a:solidFill>
                  <a:srgbClr val="008000"/>
                </a:solidFill>
              </a:rPr>
              <a:t>i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70000"/>
              </a:lnSpc>
              <a:buNone/>
            </a:pPr>
            <a:r>
              <a:rPr lang="zh-CN" altLang="en-US" sz="1800" dirty="0">
                <a:solidFill>
                  <a:srgbClr val="008000"/>
                </a:solidFill>
              </a:rPr>
              <a:t>*</a:t>
            </a:r>
            <a:r>
              <a:rPr lang="en-US" altLang="zh-CN" sz="1800" dirty="0">
                <a:solidFill>
                  <a:srgbClr val="008000"/>
                </a:solidFill>
              </a:rPr>
              <a:t>/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template 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E, 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Comp&gt;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b="1" dirty="0" err="1">
                <a:solidFill>
                  <a:srgbClr val="FF0000"/>
                </a:solidFill>
              </a:rPr>
              <a:t>selsort</a:t>
            </a:r>
            <a:r>
              <a:rPr lang="en-US" altLang="zh-CN" sz="1800" dirty="0"/>
              <a:t>(E 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 {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&lt;n-1;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 </a:t>
            </a:r>
            <a:r>
              <a:rPr lang="en-US" altLang="zh-CN" sz="1800" dirty="0" smtClean="0"/>
              <a:t>{ </a:t>
            </a:r>
            <a:r>
              <a:rPr lang="en-US" altLang="zh-CN" sz="1800" dirty="0" smtClean="0">
                <a:solidFill>
                  <a:srgbClr val="008000"/>
                </a:solidFill>
              </a:rPr>
              <a:t>//</a:t>
            </a:r>
            <a:r>
              <a:rPr lang="en-US" altLang="zh-CN" sz="1800" dirty="0">
                <a:solidFill>
                  <a:srgbClr val="008000"/>
                </a:solidFill>
              </a:rPr>
              <a:t>select </a:t>
            </a:r>
            <a:r>
              <a:rPr lang="en-US" altLang="zh-CN" sz="1800" i="1" dirty="0" err="1">
                <a:solidFill>
                  <a:srgbClr val="008000"/>
                </a:solidFill>
              </a:rPr>
              <a:t>i</a:t>
            </a:r>
            <a:r>
              <a:rPr lang="en-US" altLang="zh-CN" sz="1800" dirty="0" err="1">
                <a:solidFill>
                  <a:srgbClr val="008000"/>
                </a:solidFill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</a:rPr>
              <a:t> record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lowindex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 </a:t>
            </a:r>
            <a:r>
              <a:rPr lang="en-US" altLang="zh-CN" sz="1800" dirty="0">
                <a:solidFill>
                  <a:srgbClr val="008000"/>
                </a:solidFill>
              </a:rPr>
              <a:t>//Remember its index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j=n-1; j&gt;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 j--) </a:t>
            </a:r>
            <a:r>
              <a:rPr lang="en-US" altLang="zh-CN" sz="1800" dirty="0">
                <a:solidFill>
                  <a:srgbClr val="008000"/>
                </a:solidFill>
              </a:rPr>
              <a:t>//Find least value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  if (Comp::</a:t>
            </a:r>
            <a:r>
              <a:rPr lang="en-US" altLang="zh-CN" sz="1800" dirty="0" err="1"/>
              <a:t>lt</a:t>
            </a:r>
            <a:r>
              <a:rPr lang="en-US" altLang="zh-CN" sz="1800" dirty="0"/>
              <a:t>(A[j], A[</a:t>
            </a:r>
            <a:r>
              <a:rPr lang="en-US" altLang="zh-CN" sz="1800" dirty="0" err="1"/>
              <a:t>lowindex</a:t>
            </a:r>
            <a:r>
              <a:rPr lang="en-US" altLang="zh-CN" sz="1800" dirty="0"/>
              <a:t>]))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lowindex</a:t>
            </a:r>
            <a:r>
              <a:rPr lang="en-US" altLang="zh-CN" sz="1800" dirty="0"/>
              <a:t> = j; </a:t>
            </a:r>
            <a:r>
              <a:rPr lang="en-US" altLang="zh-CN" sz="1800" dirty="0">
                <a:solidFill>
                  <a:srgbClr val="008000"/>
                </a:solidFill>
              </a:rPr>
              <a:t>// Put it in place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  swap(A,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lowindex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  }</a:t>
            </a:r>
            <a:endParaRPr lang="en-US" altLang="zh-CN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9FB4B9D-EE13-4781-A75D-DFB33B5ACC91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Selection Sort</a:t>
            </a:r>
            <a:endParaRPr lang="zh-CN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665E4D3-C733-41D8-9716-2DB79450ECE2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24581" name="Picture 4" descr="C:\Shaffer\CS2604\Figs\SelSort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" t="1370" r="4837" b="2740"/>
          <a:stretch>
            <a:fillRect/>
          </a:stretch>
        </p:blipFill>
        <p:spPr bwMode="auto">
          <a:xfrm>
            <a:off x="346797" y="3347864"/>
            <a:ext cx="6172200" cy="2799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Selection Sort</a:t>
            </a:r>
            <a:endParaRPr lang="zh-CN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78033" y="2555776"/>
            <a:ext cx="6163866" cy="3308747"/>
          </a:xfrm>
        </p:spPr>
        <p:txBody>
          <a:bodyPr>
            <a:normAutofit/>
          </a:bodyPr>
          <a:lstStyle/>
          <a:p>
            <a:r>
              <a:rPr lang="en-US" altLang="zh-CN" dirty="0"/>
              <a:t>Time complexity analysis</a:t>
            </a:r>
            <a:endParaRPr lang="en-US" altLang="zh-CN" dirty="0"/>
          </a:p>
          <a:p>
            <a:pPr lvl="1"/>
            <a:r>
              <a:rPr lang="en-US" altLang="zh-CN" dirty="0"/>
              <a:t>The number of comparisons is </a:t>
            </a:r>
            <a:r>
              <a:rPr lang="el-GR" altLang="zh-CN" b="1" dirty="0"/>
              <a:t>Θ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i="1" baseline="30000" dirty="0"/>
              <a:t>2</a:t>
            </a:r>
            <a:r>
              <a:rPr lang="en-US" altLang="zh-CN" b="1" dirty="0"/>
              <a:t>)</a:t>
            </a:r>
            <a:r>
              <a:rPr lang="en-US" altLang="zh-CN" dirty="0"/>
              <a:t> in the best, worst, and average cases</a:t>
            </a:r>
            <a:endParaRPr lang="en-US" altLang="zh-CN" dirty="0"/>
          </a:p>
          <a:p>
            <a:pPr lvl="2"/>
            <a:endParaRPr lang="en-US" altLang="zh-CN" sz="1600" dirty="0"/>
          </a:p>
          <a:p>
            <a:pPr lvl="1"/>
            <a:r>
              <a:rPr lang="en-US" altLang="zh-CN" dirty="0"/>
              <a:t>The number of swaps is</a:t>
            </a:r>
            <a:endParaRPr lang="en-US" altLang="zh-CN" dirty="0"/>
          </a:p>
          <a:p>
            <a:pPr lvl="2"/>
            <a:r>
              <a:rPr lang="en-US" altLang="zh-CN" sz="1600" dirty="0"/>
              <a:t>0 in the best case</a:t>
            </a:r>
            <a:endParaRPr lang="en-US" altLang="zh-CN" sz="1600" dirty="0"/>
          </a:p>
          <a:p>
            <a:pPr lvl="2"/>
            <a:r>
              <a:rPr lang="en-US" altLang="zh-CN" sz="1600" dirty="0"/>
              <a:t>n-1 in the worst case</a:t>
            </a:r>
            <a:endParaRPr lang="en-US" altLang="zh-CN" sz="1600" dirty="0"/>
          </a:p>
          <a:p>
            <a:pPr lvl="2"/>
            <a:r>
              <a:rPr lang="el-GR" altLang="zh-CN" sz="1600" b="1" dirty="0"/>
              <a:t>Θ</a:t>
            </a:r>
            <a:r>
              <a:rPr lang="en-US" altLang="zh-CN" sz="1600" b="1" dirty="0"/>
              <a:t>(</a:t>
            </a:r>
            <a:r>
              <a:rPr lang="en-US" altLang="zh-CN" sz="1600" b="1" i="1" dirty="0"/>
              <a:t>n</a:t>
            </a:r>
            <a:r>
              <a:rPr lang="en-US" altLang="zh-CN" sz="1600" b="1" dirty="0"/>
              <a:t>)</a:t>
            </a:r>
            <a:r>
              <a:rPr lang="en-US" altLang="zh-CN" sz="1600" dirty="0"/>
              <a:t> in the average case</a:t>
            </a:r>
            <a:endParaRPr lang="en-US" altLang="zh-CN" sz="1600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9BE8267-FE38-4399-9CE2-66FB12054DD1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40BEEC35-AAE0-41B4-B8C6-3301069C97A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DE3BCA64-3554-4ACE-85DE-178E598CEA8B}" type="slidenum">
              <a:rPr lang="en-US" altLang="zh-CN" sz="1050"/>
            </a:fld>
            <a:endParaRPr lang="en-US" altLang="zh-CN" sz="105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Insertion Sort</a:t>
            </a:r>
            <a:r>
              <a:rPr lang="en-US" altLang="zh-CN" smtClean="0">
                <a:ea typeface="宋体" pitchFamily="2" charset="-122"/>
              </a:rPr>
              <a:t> 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483768"/>
            <a:ext cx="6172200" cy="40884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What if first </a:t>
            </a:r>
            <a:r>
              <a:rPr lang="en-US" altLang="zh-CN" i="1" dirty="0" smtClean="0">
                <a:ea typeface="宋体" pitchFamily="2" charset="-122"/>
              </a:rPr>
              <a:t>k</a:t>
            </a:r>
            <a:r>
              <a:rPr lang="en-US" altLang="zh-CN" dirty="0" smtClean="0">
                <a:ea typeface="宋体" pitchFamily="2" charset="-122"/>
              </a:rPr>
              <a:t> elements of array are already sorted?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u="sng" dirty="0">
                <a:solidFill>
                  <a:srgbClr val="0000FF"/>
                </a:solidFill>
                <a:ea typeface="宋体" pitchFamily="2" charset="-122"/>
              </a:rPr>
              <a:t>4, 7, 12,</a:t>
            </a:r>
            <a:r>
              <a:rPr lang="en-US" altLang="zh-CN" sz="2400" dirty="0"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5</a:t>
            </a:r>
            <a:r>
              <a:rPr lang="en-US" altLang="zh-CN" sz="2400" dirty="0">
                <a:ea typeface="宋体" pitchFamily="2" charset="-122"/>
              </a:rPr>
              <a:t>, 19, 16</a:t>
            </a: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We can shift the tail of the sorted elements list down and then </a:t>
            </a:r>
            <a:r>
              <a:rPr lang="en-US" altLang="zh-CN" i="1" dirty="0" smtClean="0">
                <a:ea typeface="宋体" pitchFamily="2" charset="-122"/>
              </a:rPr>
              <a:t>insert</a:t>
            </a:r>
            <a:r>
              <a:rPr lang="en-US" altLang="zh-CN" dirty="0" smtClean="0">
                <a:ea typeface="宋体" pitchFamily="2" charset="-122"/>
              </a:rPr>
              <a:t> next element into proper position and we get k+1 sorted elements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u="sng" dirty="0">
                <a:solidFill>
                  <a:srgbClr val="0000FF"/>
                </a:solidFill>
                <a:ea typeface="宋体" pitchFamily="2" charset="-122"/>
              </a:rPr>
              <a:t>4, </a:t>
            </a:r>
            <a:r>
              <a:rPr lang="en-US" altLang="zh-CN" sz="2400" u="sng" dirty="0">
                <a:solidFill>
                  <a:srgbClr val="FF0000"/>
                </a:solidFill>
                <a:ea typeface="宋体" pitchFamily="2" charset="-122"/>
              </a:rPr>
              <a:t>5</a:t>
            </a:r>
            <a:r>
              <a:rPr lang="en-US" altLang="zh-CN" sz="2400" u="sng" dirty="0">
                <a:solidFill>
                  <a:srgbClr val="0000FF"/>
                </a:solidFill>
                <a:ea typeface="宋体" pitchFamily="2" charset="-122"/>
              </a:rPr>
              <a:t>, 7, 12,</a:t>
            </a:r>
            <a:r>
              <a:rPr lang="en-US" altLang="zh-CN" sz="2400" dirty="0">
                <a:ea typeface="宋体" pitchFamily="2" charset="-122"/>
              </a:rPr>
              <a:t> 19, 16</a:t>
            </a:r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Insertion Sort</a:t>
            </a:r>
            <a:endParaRPr lang="zh-CN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5D8B8794-450A-422B-9A06-32503BA7BBE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" name="矩形 2"/>
          <p:cNvSpPr/>
          <p:nvPr/>
        </p:nvSpPr>
        <p:spPr>
          <a:xfrm>
            <a:off x="476419" y="2772091"/>
            <a:ext cx="62389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r>
              <a:rPr lang="zh-CN" altLang="en-US" dirty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dirty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Insertion sort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Each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record is inserted in turn at the correct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position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within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a sorted list composed of those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records already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processed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template &lt;</a:t>
            </a:r>
            <a:r>
              <a:rPr lang="en-US" altLang="zh-CN" dirty="0" err="1">
                <a:latin typeface="Sitka Text" panose="02000505000000020004" pitchFamily="2" charset="0"/>
              </a:rPr>
              <a:t>typename</a:t>
            </a:r>
            <a:r>
              <a:rPr lang="en-US" altLang="zh-CN" dirty="0">
                <a:latin typeface="Sitka Text" panose="02000505000000020004" pitchFamily="2" charset="0"/>
              </a:rPr>
              <a:t> E, </a:t>
            </a:r>
            <a:r>
              <a:rPr lang="en-US" altLang="zh-CN" dirty="0" err="1">
                <a:latin typeface="Sitka Text" panose="02000505000000020004" pitchFamily="2" charset="0"/>
              </a:rPr>
              <a:t>typename</a:t>
            </a:r>
            <a:r>
              <a:rPr lang="en-US" altLang="zh-CN" dirty="0">
                <a:latin typeface="Sitka Text" panose="02000505000000020004" pitchFamily="2" charset="0"/>
              </a:rPr>
              <a:t> Comp&gt;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void </a:t>
            </a:r>
            <a:r>
              <a:rPr lang="en-US" altLang="zh-CN" b="1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insertionSort</a:t>
            </a:r>
            <a:r>
              <a:rPr lang="en-US" altLang="zh-CN" dirty="0" smtClean="0">
                <a:latin typeface="Sitka Text" panose="02000505000000020004" pitchFamily="2" charset="0"/>
              </a:rPr>
              <a:t>(E </a:t>
            </a:r>
            <a:r>
              <a:rPr lang="en-US" altLang="zh-CN" dirty="0">
                <a:latin typeface="Sitka Text" panose="02000505000000020004" pitchFamily="2" charset="0"/>
              </a:rPr>
              <a:t>A[],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n) {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for (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=1;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&lt;n;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++)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//insert </a:t>
            </a:r>
            <a:r>
              <a:rPr lang="en-US" altLang="zh-CN" dirty="0" err="1">
                <a:solidFill>
                  <a:srgbClr val="008000"/>
                </a:solidFill>
                <a:latin typeface="Sitka Text" panose="02000505000000020004" pitchFamily="2" charset="0"/>
              </a:rPr>
              <a:t>i’th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 record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for (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j=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; (j&gt;0) </a:t>
            </a:r>
            <a:r>
              <a:rPr lang="en-US" altLang="zh-CN" dirty="0" smtClean="0">
                <a:latin typeface="Sitka Text" panose="02000505000000020004" pitchFamily="2" charset="0"/>
              </a:rPr>
              <a:t>&amp;&amp; (</a:t>
            </a:r>
            <a:r>
              <a:rPr lang="en-US" altLang="zh-CN" dirty="0">
                <a:latin typeface="Sitka Text" panose="02000505000000020004" pitchFamily="2" charset="0"/>
              </a:rPr>
              <a:t>Comp::prior(A[j], A[j-1])); j--)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 swap(A, j, j-1);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Insertion Sort </a:t>
            </a:r>
            <a:endParaRPr lang="zh-CN" altLang="en-US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Input: an array of 8 records with key values</a:t>
            </a:r>
            <a:br>
              <a:rPr lang="en-US" altLang="zh-CN" sz="2000" dirty="0" smtClean="0"/>
            </a:br>
            <a:r>
              <a:rPr lang="en-US" altLang="zh-CN" sz="2000" dirty="0" smtClean="0"/>
              <a:t>42 20 17 13 28 14 23 15</a:t>
            </a:r>
            <a:endParaRPr lang="en-US" altLang="zh-CN" sz="2000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A993913-D4F7-435C-8C67-200C75C091A2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13317" name="Picture 4" descr="C:\Shaffer\CS2604\Figs\InsSort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" t="2644" r="5397" b="5289"/>
          <a:stretch>
            <a:fillRect/>
          </a:stretch>
        </p:blipFill>
        <p:spPr bwMode="auto">
          <a:xfrm>
            <a:off x="346797" y="3707904"/>
            <a:ext cx="6172200" cy="281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Insertion Sort</a:t>
            </a:r>
            <a:endParaRPr lang="zh-CN" altLang="en-US" dirty="0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Time complexity analysis</a:t>
            </a:r>
            <a:endParaRPr lang="en-US" altLang="zh-CN" dirty="0"/>
          </a:p>
          <a:p>
            <a:pPr lvl="1"/>
            <a:r>
              <a:rPr lang="en-US" altLang="zh-CN" dirty="0"/>
              <a:t>Two nested </a:t>
            </a:r>
            <a:r>
              <a:rPr lang="en-US" altLang="zh-CN" b="1" dirty="0">
                <a:latin typeface="Courier New" panose="02070609020205090404" pitchFamily="49" charset="0"/>
                <a:cs typeface="Courier New" panose="02070609020205090404" pitchFamily="49" charset="0"/>
              </a:rPr>
              <a:t>for</a:t>
            </a:r>
            <a:r>
              <a:rPr lang="en-US" altLang="zh-CN" dirty="0"/>
              <a:t> loops</a:t>
            </a:r>
            <a:endParaRPr lang="en-US" altLang="zh-CN" dirty="0"/>
          </a:p>
          <a:p>
            <a:pPr lvl="2"/>
            <a:r>
              <a:rPr lang="en-US" altLang="zh-CN" dirty="0"/>
              <a:t>Outer </a:t>
            </a:r>
            <a:r>
              <a:rPr lang="en-US" altLang="zh-CN" b="1" dirty="0">
                <a:latin typeface="Courier New" panose="02070609020205090404" pitchFamily="49" charset="0"/>
                <a:cs typeface="Courier New" panose="02070609020205090404" pitchFamily="49" charset="0"/>
              </a:rPr>
              <a:t>for</a:t>
            </a:r>
            <a:r>
              <a:rPr lang="en-US" altLang="zh-CN" dirty="0"/>
              <a:t> loop executes n-1 times</a:t>
            </a:r>
            <a:endParaRPr lang="en-US" altLang="zh-CN" dirty="0"/>
          </a:p>
          <a:p>
            <a:pPr lvl="2"/>
            <a:r>
              <a:rPr lang="en-US" altLang="zh-CN" dirty="0"/>
              <a:t>Inner </a:t>
            </a:r>
            <a:r>
              <a:rPr lang="en-US" altLang="zh-CN" b="1" dirty="0">
                <a:latin typeface="Courier New" panose="02070609020205090404" pitchFamily="49" charset="0"/>
                <a:cs typeface="Courier New" panose="02070609020205090404" pitchFamily="49" charset="0"/>
              </a:rPr>
              <a:t>for</a:t>
            </a:r>
            <a:r>
              <a:rPr lang="en-US" altLang="zh-CN" dirty="0"/>
              <a:t> loop: depends on the number of keys in positions 1 to i-1 that are smaller than the key in position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lvl="1"/>
            <a:r>
              <a:rPr lang="en-US" altLang="zh-CN" sz="1800" dirty="0">
                <a:solidFill>
                  <a:srgbClr val="263AF8"/>
                </a:solidFill>
              </a:rPr>
              <a:t>Worst case</a:t>
            </a:r>
            <a:r>
              <a:rPr lang="en-US" altLang="zh-CN" sz="1800" dirty="0"/>
              <a:t>: the input records are initially arranged in the reverse of the sorted order</a:t>
            </a:r>
            <a:endParaRPr lang="en-US" altLang="zh-CN" sz="1800" dirty="0"/>
          </a:p>
          <a:p>
            <a:pPr lvl="2"/>
            <a:r>
              <a:rPr lang="en-US" altLang="zh-CN" dirty="0" smtClean="0"/>
              <a:t>The number comparisons </a:t>
            </a:r>
            <a:r>
              <a:rPr lang="en-US" altLang="zh-CN" dirty="0"/>
              <a:t>is </a:t>
            </a:r>
            <a:r>
              <a:rPr lang="el-GR" altLang="zh-CN" b="1" i="1" dirty="0"/>
              <a:t>Σ</a:t>
            </a:r>
            <a:r>
              <a:rPr lang="en-US" altLang="zh-CN" b="1" i="1" baseline="-25000" dirty="0" err="1"/>
              <a:t>i</a:t>
            </a:r>
            <a:r>
              <a:rPr lang="en-US" altLang="zh-CN" b="1" i="1" baseline="-25000" dirty="0"/>
              <a:t>=2</a:t>
            </a:r>
            <a:r>
              <a:rPr lang="en-US" altLang="zh-CN" b="1" i="1" dirty="0"/>
              <a:t> </a:t>
            </a:r>
            <a:r>
              <a:rPr lang="en-US" altLang="zh-CN" b="1" i="1" baseline="30000" dirty="0"/>
              <a:t>n</a:t>
            </a:r>
            <a:r>
              <a:rPr lang="en-US" altLang="zh-CN" b="1" i="1" dirty="0"/>
              <a:t> </a:t>
            </a:r>
            <a:r>
              <a:rPr lang="en-US" altLang="zh-CN" b="1" i="1" dirty="0" err="1"/>
              <a:t>i</a:t>
            </a:r>
            <a:r>
              <a:rPr lang="en-US" altLang="zh-CN" b="1" i="1" dirty="0"/>
              <a:t> ≈ n</a:t>
            </a:r>
            <a:r>
              <a:rPr lang="en-US" altLang="zh-CN" b="1" i="1" baseline="30000" dirty="0"/>
              <a:t>2</a:t>
            </a:r>
            <a:r>
              <a:rPr lang="en-US" altLang="zh-CN" b="1" i="1" dirty="0"/>
              <a:t>/2 = </a:t>
            </a:r>
            <a:r>
              <a:rPr lang="el-GR" altLang="zh-CN" b="1" i="1" dirty="0"/>
              <a:t>Θ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i="1" baseline="30000" dirty="0"/>
              <a:t>2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 lvl="2"/>
            <a:r>
              <a:rPr lang="en-US" altLang="zh-CN" dirty="0"/>
              <a:t>T</a:t>
            </a:r>
            <a:r>
              <a:rPr lang="en-US" altLang="zh-CN" dirty="0" smtClean="0">
                <a:sym typeface="+mn-ea"/>
              </a:rPr>
              <a:t>he number swaps </a:t>
            </a:r>
            <a:r>
              <a:rPr lang="en-US" altLang="zh-CN" dirty="0">
                <a:sym typeface="+mn-ea"/>
              </a:rPr>
              <a:t>is </a:t>
            </a:r>
            <a:r>
              <a:rPr lang="en-US" altLang="el-GR" i="1" dirty="0">
                <a:sym typeface="+mn-ea"/>
              </a:rPr>
              <a:t>also </a:t>
            </a:r>
            <a:r>
              <a:rPr lang="el-GR" altLang="zh-CN" b="1" i="1" dirty="0">
                <a:sym typeface="+mn-ea"/>
              </a:rPr>
              <a:t>Θ</a:t>
            </a:r>
            <a:r>
              <a:rPr lang="en-US" altLang="zh-CN" b="1" dirty="0">
                <a:sym typeface="+mn-ea"/>
              </a:rPr>
              <a:t>(</a:t>
            </a:r>
            <a:r>
              <a:rPr lang="en-US" altLang="zh-CN" b="1" i="1" dirty="0">
                <a:sym typeface="+mn-ea"/>
              </a:rPr>
              <a:t>n</a:t>
            </a:r>
            <a:r>
              <a:rPr lang="en-US" altLang="zh-CN" b="1" i="1" baseline="30000" dirty="0">
                <a:sym typeface="+mn-ea"/>
              </a:rPr>
              <a:t>2</a:t>
            </a:r>
            <a:r>
              <a:rPr lang="en-US" altLang="zh-CN" b="1" dirty="0">
                <a:sym typeface="+mn-ea"/>
              </a:rPr>
              <a:t>)</a:t>
            </a:r>
            <a:endParaRPr lang="en-US" altLang="zh-CN" b="1" dirty="0"/>
          </a:p>
          <a:p>
            <a:pPr lvl="1"/>
            <a:r>
              <a:rPr lang="en-US" altLang="zh-CN" sz="1800" dirty="0">
                <a:solidFill>
                  <a:srgbClr val="FF0000"/>
                </a:solidFill>
              </a:rPr>
              <a:t>Best case</a:t>
            </a:r>
            <a:r>
              <a:rPr lang="en-US" altLang="zh-CN" sz="1800" dirty="0"/>
              <a:t>: the input records are already in sorted order</a:t>
            </a:r>
            <a:endParaRPr lang="en-US" altLang="zh-CN" sz="1800" dirty="0"/>
          </a:p>
          <a:p>
            <a:pPr lvl="2"/>
            <a:r>
              <a:rPr lang="en-US" altLang="zh-CN" dirty="0"/>
              <a:t>Every pass through the inner for loop fails immediately</a:t>
            </a:r>
            <a:endParaRPr lang="en-US" altLang="zh-CN" dirty="0"/>
          </a:p>
          <a:p>
            <a:pPr lvl="2"/>
            <a:r>
              <a:rPr lang="en-US" altLang="zh-CN" dirty="0"/>
              <a:t>The number comparisons </a:t>
            </a:r>
            <a:r>
              <a:rPr lang="en-US" altLang="zh-CN" dirty="0" smtClean="0"/>
              <a:t>is </a:t>
            </a:r>
            <a:r>
              <a:rPr lang="en-US" altLang="zh-CN" b="1" i="1" dirty="0" smtClean="0"/>
              <a:t>n</a:t>
            </a:r>
            <a:r>
              <a:rPr lang="en-US" altLang="zh-CN" b="1" dirty="0" smtClean="0"/>
              <a:t>-1 </a:t>
            </a:r>
            <a:r>
              <a:rPr lang="en-US" altLang="zh-CN" b="1" dirty="0"/>
              <a:t>= </a:t>
            </a:r>
            <a:r>
              <a:rPr lang="el-GR" altLang="zh-CN" b="1" i="1" dirty="0"/>
              <a:t>Θ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 lvl="2"/>
            <a:r>
              <a:rPr lang="en-US" altLang="zh-CN" b="1" dirty="0"/>
              <a:t>0</a:t>
            </a:r>
            <a:r>
              <a:rPr lang="en-US" altLang="zh-CN" dirty="0"/>
              <a:t> swap</a:t>
            </a:r>
            <a:r>
              <a:rPr lang="en-US" altLang="zh-CN" dirty="0"/>
              <a:t>s</a:t>
            </a:r>
            <a:endParaRPr lang="en-US" altLang="zh-CN" dirty="0"/>
          </a:p>
          <a:p>
            <a:pPr lvl="2"/>
            <a:endParaRPr lang="en-US" altLang="zh-CN" sz="1600" dirty="0"/>
          </a:p>
          <a:p>
            <a:pPr lvl="2"/>
            <a:endParaRPr lang="zh-CN" altLang="en-US" sz="1600" i="1" baseline="30000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15FA63A-8DD0-4509-9A8F-C61280CB09ED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Insertion Sort </a:t>
            </a:r>
            <a:endParaRPr lang="zh-CN" altLang="en-US" dirty="0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342901" y="2339752"/>
            <a:ext cx="6326981" cy="4258693"/>
          </a:xfrm>
        </p:spPr>
        <p:txBody>
          <a:bodyPr/>
          <a:lstStyle/>
          <a:p>
            <a:r>
              <a:rPr lang="en-US" altLang="zh-CN" sz="2100" dirty="0"/>
              <a:t>The number of comparisons and swaps is determined by the number of </a:t>
            </a:r>
            <a:r>
              <a:rPr lang="en-US" altLang="zh-CN" sz="2100" dirty="0">
                <a:solidFill>
                  <a:srgbClr val="FF0000"/>
                </a:solidFill>
              </a:rPr>
              <a:t>inversions</a:t>
            </a:r>
            <a:r>
              <a:rPr lang="en-US" altLang="zh-CN" sz="2100" dirty="0"/>
              <a:t> in the input records</a:t>
            </a:r>
            <a:endParaRPr lang="en-US" altLang="zh-CN" sz="2100" dirty="0"/>
          </a:p>
          <a:p>
            <a:pPr lvl="1"/>
            <a:r>
              <a:rPr lang="en-US" altLang="zh-CN" sz="1800" dirty="0"/>
              <a:t>Inversion: a value is greater than a given value and also occurs prior to it in the array</a:t>
            </a:r>
            <a:endParaRPr lang="en-US" altLang="zh-CN" sz="1800" dirty="0"/>
          </a:p>
          <a:p>
            <a:pPr lvl="4"/>
            <a:endParaRPr lang="en-US" altLang="zh-CN" sz="1350" dirty="0"/>
          </a:p>
          <a:p>
            <a:r>
              <a:rPr lang="en-US" altLang="zh-CN" sz="2100" dirty="0"/>
              <a:t>We expect on average that half of the keys in the first i-1 array positions will have a value greater than that of the key at position </a:t>
            </a:r>
            <a:r>
              <a:rPr lang="en-US" altLang="zh-CN" sz="2100" dirty="0" err="1"/>
              <a:t>i</a:t>
            </a:r>
            <a:endParaRPr lang="en-US" altLang="zh-CN" sz="2100" dirty="0"/>
          </a:p>
          <a:p>
            <a:pPr lvl="1"/>
            <a:r>
              <a:rPr lang="en-US" altLang="zh-CN" sz="1800" dirty="0"/>
              <a:t>The average-case cost is about half of the worst-case cost, i.e., around </a:t>
            </a:r>
            <a:r>
              <a:rPr lang="en-US" altLang="zh-CN" sz="1800" b="1" dirty="0"/>
              <a:t>n</a:t>
            </a:r>
            <a:r>
              <a:rPr lang="en-US" altLang="zh-CN" sz="1800" b="1" baseline="30000" dirty="0"/>
              <a:t>2</a:t>
            </a:r>
            <a:r>
              <a:rPr lang="en-US" altLang="zh-CN" sz="1800" b="1" dirty="0"/>
              <a:t>/4=</a:t>
            </a:r>
            <a:r>
              <a:rPr lang="el-GR" altLang="zh-CN" sz="1800" b="1" dirty="0"/>
              <a:t>Θ</a:t>
            </a:r>
            <a:r>
              <a:rPr lang="en-US" altLang="zh-CN" sz="1800" b="1" dirty="0"/>
              <a:t>(</a:t>
            </a:r>
            <a:r>
              <a:rPr lang="en-US" altLang="zh-CN" sz="1800" b="1" i="1" dirty="0"/>
              <a:t>n</a:t>
            </a:r>
            <a:r>
              <a:rPr lang="en-US" altLang="zh-CN" sz="1800" b="1" i="1" baseline="30000" dirty="0"/>
              <a:t>2</a:t>
            </a:r>
            <a:r>
              <a:rPr lang="en-US" altLang="zh-CN" sz="1800" b="1" dirty="0"/>
              <a:t>)</a:t>
            </a:r>
            <a:endParaRPr lang="zh-CN" altLang="en-US" sz="1800" b="1" dirty="0"/>
          </a:p>
          <a:p>
            <a:pPr lvl="1"/>
            <a:endParaRPr lang="zh-CN" altLang="en-US" sz="18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37742F6-48AF-4FB3-B1BA-3591114A9361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86A4E0BA-5221-4C49-9DCA-8D4644F44B2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Lec7 Sorting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82243A6D-BE18-45D0-A18C-C9CA5DF7DBDF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Insertion Sort Characteristics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627784"/>
            <a:ext cx="5829300" cy="4058766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In place and Stable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Running time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Worst case </a:t>
            </a:r>
            <a:r>
              <a:rPr lang="en-US" altLang="zh-CN" dirty="0" smtClean="0">
                <a:ea typeface="宋体" pitchFamily="2" charset="-122"/>
                <a:sym typeface="Wingdings" panose="05000000000000000000" pitchFamily="2" charset="2"/>
              </a:rPr>
              <a:t>is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O(N</a:t>
            </a:r>
            <a:r>
              <a:rPr lang="en-US" altLang="zh-CN" baseline="30000" dirty="0" smtClean="0">
                <a:ea typeface="宋体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)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reverse order input</a:t>
            </a:r>
            <a:endParaRPr lang="en-US" altLang="zh-CN" dirty="0" smtClean="0">
              <a:ea typeface="宋体" pitchFamily="2" charset="-122"/>
            </a:endParaRPr>
          </a:p>
          <a:p>
            <a:pPr lvl="2"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</a:rPr>
              <a:t>must copy every element every time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Good sorting algorithm for almost sorted data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Each item is close to where it belongs in sorted order.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Cost of Exchange Sorting</a:t>
            </a:r>
            <a:endParaRPr lang="zh-CN" altLang="en-US" dirty="0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Comparison of the three algorithms</a:t>
            </a:r>
            <a:endParaRPr lang="zh-CN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04ADBC1-4C78-4B37-B177-C208C7536B3D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404813" y="3721894"/>
          <a:ext cx="6110290" cy="3183133"/>
        </p:xfrm>
        <a:graphic>
          <a:graphicData uri="http://schemas.openxmlformats.org/drawingml/2006/table">
            <a:tbl>
              <a:tblPr/>
              <a:tblGrid>
                <a:gridCol w="2182246"/>
                <a:gridCol w="1371698"/>
                <a:gridCol w="1184648"/>
                <a:gridCol w="1371698"/>
              </a:tblGrid>
              <a:tr h="3381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Insertion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Bubble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Selection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Comparisons: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Best Case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Average Case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Worst Case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0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Swaps:</a:t>
                      </a:r>
                      <a:endParaRPr kumimoji="1" lang="en-US" altLang="zh-CN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Best Case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0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0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Average Case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Worst Case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  <a:sym typeface="Symbol" panose="05050102010706020507" pitchFamily="18" charset="2"/>
                        </a:rPr>
                        <a:t>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  <a:ea typeface="宋体" pitchFamily="2" charset="-122"/>
                        </a:rPr>
                        <a:t>)</a:t>
                      </a:r>
                      <a:endParaRPr kumimoji="1" lang="en-US" altLang="zh-CN" sz="2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宋体" pitchFamily="2" charset="-122"/>
                      </a:endParaRPr>
                    </a:p>
                  </a:txBody>
                  <a:tcPr marL="68579" marR="68579" marT="34296" marB="342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85" y="2555776"/>
            <a:ext cx="5915025" cy="568441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The crucial bottleneck of the three algorithm is that </a:t>
            </a:r>
            <a:r>
              <a:rPr lang="en-US" altLang="zh-CN" sz="2000" dirty="0">
                <a:solidFill>
                  <a:srgbClr val="FF0000"/>
                </a:solidFill>
              </a:rPr>
              <a:t>only adjacent records are compared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lvl="1"/>
            <a:r>
              <a:rPr lang="en-US" altLang="zh-CN" sz="1600" dirty="0"/>
              <a:t>Comparisons and moves are by single steps.</a:t>
            </a:r>
            <a:endParaRPr lang="en-US" altLang="zh-CN" sz="1600" dirty="0"/>
          </a:p>
          <a:p>
            <a:pPr lvl="1"/>
            <a:r>
              <a:rPr lang="en-US" altLang="zh-CN" sz="1600" dirty="0"/>
              <a:t>Swapping happens between adjacent records – </a:t>
            </a:r>
            <a:r>
              <a:rPr lang="en-US" altLang="zh-CN" sz="1600" dirty="0">
                <a:solidFill>
                  <a:srgbClr val="FF0000"/>
                </a:solidFill>
              </a:rPr>
              <a:t>exchange sorts</a:t>
            </a:r>
            <a:r>
              <a:rPr lang="en-US" altLang="zh-CN" sz="1600" dirty="0"/>
              <a:t>.</a:t>
            </a:r>
            <a:endParaRPr lang="en-US" altLang="zh-CN" sz="1600" dirty="0"/>
          </a:p>
          <a:p>
            <a:pPr lvl="3"/>
            <a:endParaRPr lang="en-US" altLang="zh-CN" dirty="0"/>
          </a:p>
          <a:p>
            <a:r>
              <a:rPr lang="en-US" altLang="zh-CN" sz="2000" dirty="0"/>
              <a:t>What is the average number of exchanges required when sorting a list L? </a:t>
            </a:r>
            <a:endParaRPr lang="en-US" altLang="zh-CN" sz="2000" dirty="0"/>
          </a:p>
          <a:p>
            <a:pPr lvl="1"/>
            <a:r>
              <a:rPr lang="en-US" altLang="zh-CN" sz="1600" dirty="0"/>
              <a:t>An </a:t>
            </a:r>
            <a:r>
              <a:rPr lang="en-US" altLang="zh-CN" sz="1600" dirty="0">
                <a:solidFill>
                  <a:srgbClr val="263AF8"/>
                </a:solidFill>
              </a:rPr>
              <a:t>inversion</a:t>
            </a:r>
            <a:r>
              <a:rPr lang="en-US" altLang="zh-CN" sz="1600" dirty="0"/>
              <a:t> in an array of numbers is any ordered pair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, j) having the property that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</a:t>
            </a:r>
            <a:r>
              <a:rPr lang="en-US" altLang="zh-CN" sz="1600" dirty="0" smtClean="0"/>
              <a:t>j but </a:t>
            </a:r>
            <a:r>
              <a:rPr lang="en-US" altLang="zh-CN" sz="1600" dirty="0"/>
              <a:t>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&gt; a[j</a:t>
            </a:r>
            <a:r>
              <a:rPr lang="en-US" altLang="zh-CN" sz="1600" dirty="0" smtClean="0"/>
              <a:t>].</a:t>
            </a:r>
            <a:endParaRPr lang="en-US" altLang="zh-CN" sz="1600" dirty="0" smtClean="0"/>
          </a:p>
          <a:p>
            <a:pPr lvl="1"/>
            <a:r>
              <a:rPr lang="en-US" altLang="zh-CN" sz="1600" dirty="0"/>
              <a:t>The average number of inversions in an array of N distinct elements is </a:t>
            </a:r>
            <a:r>
              <a:rPr lang="en-US" altLang="zh-CN" sz="1600" dirty="0" smtClean="0">
                <a:solidFill>
                  <a:srgbClr val="263AF8"/>
                </a:solidFill>
              </a:rPr>
              <a:t>n(n </a:t>
            </a:r>
            <a:r>
              <a:rPr lang="en-US" altLang="zh-CN" sz="1600" dirty="0">
                <a:solidFill>
                  <a:srgbClr val="263AF8"/>
                </a:solidFill>
              </a:rPr>
              <a:t>− 1)/4</a:t>
            </a:r>
            <a:r>
              <a:rPr lang="en-US" altLang="zh-CN" sz="1600" dirty="0"/>
              <a:t>.</a:t>
            </a:r>
            <a:endParaRPr lang="en-US" altLang="zh-CN" sz="1600" dirty="0" smtClean="0"/>
          </a:p>
          <a:p>
            <a:pPr lvl="2"/>
            <a:r>
              <a:rPr lang="en-US" altLang="zh-CN" sz="1400" dirty="0" smtClean="0"/>
              <a:t>Define </a:t>
            </a:r>
            <a:r>
              <a:rPr lang="en-US" altLang="zh-CN" sz="1400" dirty="0"/>
              <a:t>L</a:t>
            </a:r>
            <a:r>
              <a:rPr lang="en-US" altLang="zh-CN" sz="1400" baseline="-25000" dirty="0"/>
              <a:t>R</a:t>
            </a:r>
            <a:r>
              <a:rPr lang="en-US" altLang="zh-CN" sz="1400" dirty="0"/>
              <a:t> to be the inverse of L. There are </a:t>
            </a:r>
            <a:r>
              <a:rPr lang="en-US" altLang="zh-CN" sz="1400" b="1" dirty="0"/>
              <a:t>n(n-1)/2 </a:t>
            </a:r>
            <a:r>
              <a:rPr lang="en-US" altLang="zh-CN" sz="1400" dirty="0"/>
              <a:t>distinct pairs of values in L (L</a:t>
            </a:r>
            <a:r>
              <a:rPr lang="en-US" altLang="zh-CN" sz="1400" baseline="-25000" dirty="0"/>
              <a:t>R</a:t>
            </a:r>
            <a:r>
              <a:rPr lang="en-US" altLang="zh-CN" sz="1400" dirty="0"/>
              <a:t>) </a:t>
            </a:r>
            <a:endParaRPr lang="en-US" altLang="zh-CN" sz="1400" dirty="0"/>
          </a:p>
          <a:p>
            <a:pPr lvl="2"/>
            <a:r>
              <a:rPr lang="en-US" altLang="zh-CN" sz="1400" dirty="0"/>
              <a:t>For each pair, it must either be an inversion in L or in L</a:t>
            </a:r>
            <a:r>
              <a:rPr lang="en-US" altLang="zh-CN" sz="1400" baseline="-25000" dirty="0"/>
              <a:t>R</a:t>
            </a:r>
            <a:r>
              <a:rPr lang="en-US" altLang="zh-CN" sz="1400" dirty="0"/>
              <a:t>. </a:t>
            </a:r>
            <a:endParaRPr lang="en-US" altLang="zh-CN" sz="1400" dirty="0"/>
          </a:p>
          <a:p>
            <a:pPr lvl="2"/>
            <a:r>
              <a:rPr lang="en-US" altLang="zh-CN" sz="1400" dirty="0"/>
              <a:t>The total number of inversions in L and L</a:t>
            </a:r>
            <a:r>
              <a:rPr lang="en-US" altLang="zh-CN" sz="1400" baseline="-25000" dirty="0"/>
              <a:t>R</a:t>
            </a:r>
            <a:r>
              <a:rPr lang="en-US" altLang="zh-CN" sz="1400" dirty="0"/>
              <a:t> is </a:t>
            </a:r>
            <a:r>
              <a:rPr lang="en-US" altLang="zh-CN" sz="1400" b="1" dirty="0"/>
              <a:t>n(n-1)/2 </a:t>
            </a:r>
            <a:r>
              <a:rPr lang="en-US" altLang="zh-CN" sz="1400" dirty="0"/>
              <a:t>for an average of </a:t>
            </a:r>
            <a:r>
              <a:rPr lang="en-US" altLang="zh-CN" sz="1400" b="1" dirty="0"/>
              <a:t>n(n-1)/4 </a:t>
            </a:r>
            <a:r>
              <a:rPr lang="en-US" altLang="zh-CN" sz="1400" dirty="0"/>
              <a:t>per list</a:t>
            </a:r>
            <a:r>
              <a:rPr lang="en-US" altLang="zh-CN" sz="1400" dirty="0" smtClean="0"/>
              <a:t>.</a:t>
            </a:r>
            <a:endParaRPr lang="en-US" altLang="zh-CN" sz="1400" dirty="0" smtClean="0"/>
          </a:p>
          <a:p>
            <a:endParaRPr lang="en-US" altLang="zh-CN" sz="2000" dirty="0"/>
          </a:p>
          <a:p>
            <a:r>
              <a:rPr lang="en-US" altLang="zh-CN" sz="2000" dirty="0"/>
              <a:t>Any algorithm that sorts by exchanging adjacent elements requires </a:t>
            </a:r>
            <a:r>
              <a:rPr lang="el-GR" altLang="zh-CN" sz="2000" dirty="0" smtClean="0">
                <a:solidFill>
                  <a:srgbClr val="FF0000"/>
                </a:solidFill>
              </a:rPr>
              <a:t>Ω</a:t>
            </a:r>
            <a:r>
              <a:rPr lang="en-US" altLang="zh-CN" sz="2000" dirty="0" smtClean="0">
                <a:solidFill>
                  <a:srgbClr val="FF0000"/>
                </a:solidFill>
              </a:rPr>
              <a:t>(n</a:t>
            </a:r>
            <a:r>
              <a:rPr lang="en-US" altLang="zh-CN" sz="20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) </a:t>
            </a:r>
            <a:r>
              <a:rPr lang="en-US" altLang="zh-CN" sz="2000" dirty="0"/>
              <a:t>time </a:t>
            </a:r>
            <a:r>
              <a:rPr lang="en-US" altLang="zh-CN" sz="2000" dirty="0" smtClean="0"/>
              <a:t>on average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BA89062-3C06-49BE-8B21-82B428B19EF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The Cost of Exchange Sorting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8599638F-3EBB-43FB-A498-A7B7BC3205C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A5548710-F44E-4FF9-994D-CB2FA37D1ADE}" type="slidenum">
              <a:rPr lang="en-US" altLang="zh-CN" sz="1050"/>
            </a:fld>
            <a:endParaRPr lang="en-US" altLang="zh-CN" sz="105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Properties of Bubble, Selection &amp; Insertion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zh-CN" sz="2800" dirty="0" smtClean="0">
                <a:ea typeface="宋体" pitchFamily="2" charset="-122"/>
              </a:rPr>
              <a:t>All three are in-place</a:t>
            </a:r>
            <a:endParaRPr lang="en-US" altLang="zh-CN" sz="2800" dirty="0" smtClean="0">
              <a:ea typeface="宋体" pitchFamily="2" charset="-122"/>
            </a:endParaRPr>
          </a:p>
          <a:p>
            <a:endParaRPr lang="en-US" altLang="zh-CN" sz="2800" dirty="0" smtClean="0">
              <a:ea typeface="宋体" pitchFamily="2" charset="-122"/>
            </a:endParaRPr>
          </a:p>
          <a:p>
            <a:r>
              <a:rPr lang="en-US" altLang="zh-CN" sz="2800" dirty="0" smtClean="0">
                <a:ea typeface="宋体" pitchFamily="2" charset="-122"/>
              </a:rPr>
              <a:t>Stable</a:t>
            </a:r>
            <a:endParaRPr lang="en-US" altLang="zh-CN" sz="2800" dirty="0" smtClean="0">
              <a:ea typeface="宋体" pitchFamily="2" charset="-122"/>
            </a:endParaRPr>
          </a:p>
          <a:p>
            <a:pPr lvl="1"/>
            <a:r>
              <a:rPr lang="en-US" altLang="zh-CN" sz="2400" dirty="0" err="1" smtClean="0"/>
              <a:t>BubbleSort</a:t>
            </a:r>
            <a:r>
              <a:rPr lang="en-US" altLang="zh-CN" sz="2400" dirty="0" smtClean="0"/>
              <a:t> is stable</a:t>
            </a:r>
            <a:endParaRPr lang="en-US" altLang="zh-CN" sz="2400" dirty="0" smtClean="0"/>
          </a:p>
          <a:p>
            <a:pPr lvl="1"/>
            <a:r>
              <a:rPr lang="en-US" altLang="zh-CN" sz="2400" dirty="0" err="1" smtClean="0"/>
              <a:t>SelectionSort</a:t>
            </a:r>
            <a:r>
              <a:rPr lang="en-US" altLang="zh-CN" sz="2400" dirty="0" smtClean="0"/>
              <a:t> is not stable</a:t>
            </a:r>
            <a:endParaRPr lang="en-US" altLang="zh-CN" sz="2400" dirty="0" smtClean="0"/>
          </a:p>
          <a:p>
            <a:pPr lvl="2"/>
            <a:r>
              <a:rPr lang="en-US" altLang="zh-CN" sz="2000" dirty="0" smtClean="0"/>
              <a:t>e.g. 3 9 3 </a:t>
            </a:r>
            <a:r>
              <a:rPr lang="en-US" altLang="zh-CN" sz="2000" dirty="0"/>
              <a:t>2 </a:t>
            </a:r>
            <a:r>
              <a:rPr lang="en-US" altLang="zh-CN" sz="2000" dirty="0" smtClean="0"/>
              <a:t>5</a:t>
            </a:r>
            <a:endParaRPr lang="en-US" altLang="zh-CN" sz="2000" dirty="0"/>
          </a:p>
          <a:p>
            <a:pPr lvl="1"/>
            <a:endParaRPr lang="en-US" altLang="zh-CN" sz="2400" dirty="0" smtClean="0"/>
          </a:p>
          <a:p>
            <a:pPr lvl="1"/>
            <a:r>
              <a:rPr lang="en-US" altLang="zh-CN" sz="2400" dirty="0" err="1" smtClean="0"/>
              <a:t>InsertionSort</a:t>
            </a:r>
            <a:r>
              <a:rPr lang="en-US" altLang="zh-CN" sz="2400" dirty="0" smtClean="0"/>
              <a:t> is stable.</a:t>
            </a:r>
            <a:endParaRPr lang="en-US" altLang="zh-CN" sz="24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Shellsort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75385" y="2234961"/>
            <a:ext cx="5915025" cy="6005226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Shellsort</a:t>
            </a:r>
            <a:r>
              <a:rPr lang="en-US" altLang="zh-CN" dirty="0"/>
              <a:t> makes comparisons and swaps between </a:t>
            </a:r>
            <a:r>
              <a:rPr lang="en-US" altLang="zh-CN" dirty="0">
                <a:solidFill>
                  <a:srgbClr val="FF0000"/>
                </a:solidFill>
              </a:rPr>
              <a:t>non-adjacent elements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It tries to make the list “</a:t>
            </a:r>
            <a:r>
              <a:rPr lang="en-US" altLang="zh-CN" dirty="0">
                <a:solidFill>
                  <a:srgbClr val="FF0000"/>
                </a:solidFill>
              </a:rPr>
              <a:t>mostly sorted</a:t>
            </a:r>
            <a:r>
              <a:rPr lang="en-US" altLang="zh-CN" dirty="0"/>
              <a:t>” so that a final insertion sort can finish the job.</a:t>
            </a:r>
            <a:endParaRPr lang="en-US" altLang="zh-CN" dirty="0"/>
          </a:p>
          <a:p>
            <a:pPr lvl="1"/>
            <a:r>
              <a:rPr lang="en-US" altLang="zh-CN" sz="1800" dirty="0"/>
              <a:t>Better performance than </a:t>
            </a:r>
            <a:r>
              <a:rPr lang="el-GR" altLang="zh-CN" sz="1800" dirty="0"/>
              <a:t>Θ</a:t>
            </a:r>
            <a:r>
              <a:rPr lang="en-US" altLang="zh-CN" sz="1800" dirty="0"/>
              <a:t>(n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 in the worst case.</a:t>
            </a:r>
            <a:endParaRPr lang="en-US" altLang="zh-CN" sz="1800" dirty="0"/>
          </a:p>
          <a:p>
            <a:endParaRPr lang="en-US" altLang="zh-CN" dirty="0"/>
          </a:p>
          <a:p>
            <a:r>
              <a:rPr lang="en-US" altLang="zh-CN" dirty="0"/>
              <a:t>Central idea: divide and conquer</a:t>
            </a:r>
            <a:endParaRPr lang="en-US" altLang="zh-CN" dirty="0"/>
          </a:p>
          <a:p>
            <a:pPr lvl="1"/>
            <a:r>
              <a:rPr lang="en-US" altLang="zh-CN" sz="1800" dirty="0"/>
              <a:t>Break the list into </a:t>
            </a:r>
            <a:r>
              <a:rPr lang="en-US" altLang="zh-CN" sz="1800" dirty="0" err="1"/>
              <a:t>sublists</a:t>
            </a:r>
            <a:endParaRPr lang="en-US" altLang="zh-CN" sz="1800" dirty="0"/>
          </a:p>
          <a:p>
            <a:pPr lvl="1"/>
            <a:r>
              <a:rPr lang="en-US" altLang="zh-CN" sz="1800" dirty="0"/>
              <a:t>Sort </a:t>
            </a:r>
            <a:r>
              <a:rPr lang="en-US" altLang="zh-CN" sz="1800" dirty="0" err="1"/>
              <a:t>sublists</a:t>
            </a:r>
            <a:r>
              <a:rPr lang="en-US" altLang="zh-CN" sz="1800" dirty="0"/>
              <a:t> individually</a:t>
            </a:r>
            <a:endParaRPr lang="en-US" altLang="zh-CN" sz="1800" dirty="0"/>
          </a:p>
          <a:p>
            <a:pPr lvl="1"/>
            <a:r>
              <a:rPr lang="en-US" altLang="zh-CN" sz="1800" dirty="0"/>
              <a:t>Recombine the </a:t>
            </a:r>
            <a:r>
              <a:rPr lang="en-US" altLang="zh-CN" sz="1800" dirty="0" err="1"/>
              <a:t>sublists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12029F1-5A8F-4802-873E-2A0BE12CF08C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Shellsort</a:t>
            </a:r>
            <a:endParaRPr lang="zh-CN" altLang="en-US" dirty="0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75615" y="1619885"/>
            <a:ext cx="6243955" cy="3810635"/>
          </a:xfrm>
        </p:spPr>
        <p:txBody>
          <a:bodyPr>
            <a:normAutofit/>
          </a:bodyPr>
          <a:lstStyle/>
          <a:p>
            <a:r>
              <a:rPr lang="en-US" altLang="zh-CN" dirty="0" err="1" smtClean="0"/>
              <a:t>Shellsort</a:t>
            </a:r>
            <a:r>
              <a:rPr lang="en-US" altLang="zh-CN" dirty="0" smtClean="0"/>
              <a:t> </a:t>
            </a:r>
            <a:r>
              <a:rPr lang="en-US" altLang="zh-CN" dirty="0"/>
              <a:t>is </a:t>
            </a:r>
            <a:r>
              <a:rPr lang="en-US" altLang="zh-CN" dirty="0" smtClean="0"/>
              <a:t>also </a:t>
            </a:r>
            <a:r>
              <a:rPr lang="en-US" altLang="zh-CN" dirty="0" err="1" smtClean="0"/>
              <a:t>calld</a:t>
            </a:r>
            <a:r>
              <a:rPr lang="en-US" altLang="zh-CN" dirty="0" smtClean="0"/>
              <a:t> as </a:t>
            </a:r>
            <a:r>
              <a:rPr lang="en-US" altLang="zh-CN" dirty="0"/>
              <a:t>diminishing increment </a:t>
            </a:r>
            <a:r>
              <a:rPr lang="en-US" altLang="zh-CN" dirty="0" smtClean="0"/>
              <a:t>sort. 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sz="2800" dirty="0" smtClean="0">
                <a:solidFill>
                  <a:srgbClr val="FF0000"/>
                </a:solidFill>
              </a:rPr>
              <a:t>Increment sequence </a:t>
            </a:r>
            <a:r>
              <a:rPr lang="en-US" altLang="zh-CN" sz="2800" i="1" dirty="0"/>
              <a:t>h</a:t>
            </a:r>
            <a:r>
              <a:rPr lang="en-US" altLang="zh-CN" sz="2800" i="1" baseline="-25000" dirty="0"/>
              <a:t>1</a:t>
            </a:r>
            <a:r>
              <a:rPr lang="en-US" altLang="zh-CN" sz="2800" i="1" dirty="0"/>
              <a:t>, h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, </a:t>
            </a:r>
            <a:r>
              <a:rPr lang="en-US" altLang="zh-CN" sz="2800" i="1" dirty="0">
                <a:sym typeface="+mn-ea"/>
              </a:rPr>
              <a:t>h</a:t>
            </a:r>
            <a:r>
              <a:rPr lang="en-US" altLang="zh-CN" sz="2800" i="1" baseline="-25000" dirty="0">
                <a:sym typeface="+mn-ea"/>
              </a:rPr>
              <a:t>3</a:t>
            </a:r>
            <a:r>
              <a:rPr lang="en-US" altLang="zh-CN" sz="2800" i="1" dirty="0"/>
              <a:t>. . . , </a:t>
            </a:r>
            <a:r>
              <a:rPr lang="en-US" altLang="zh-CN" sz="2800" i="1" dirty="0" err="1"/>
              <a:t>1</a:t>
            </a:r>
            <a:endParaRPr lang="en-US" altLang="zh-CN" sz="2800" i="1" baseline="-25000" dirty="0"/>
          </a:p>
          <a:p>
            <a:pPr lvl="1"/>
            <a:r>
              <a:rPr lang="en-US" altLang="zh-CN" dirty="0"/>
              <a:t>After a phase, using some increment 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k</a:t>
            </a:r>
            <a:r>
              <a:rPr lang="en-US" altLang="zh-CN" dirty="0"/>
              <a:t>, for every </a:t>
            </a:r>
            <a:r>
              <a:rPr lang="en-US" altLang="zh-CN" dirty="0" err="1"/>
              <a:t>i</a:t>
            </a:r>
            <a:r>
              <a:rPr lang="en-US" altLang="zh-CN" dirty="0"/>
              <a:t>, we </a:t>
            </a:r>
            <a:r>
              <a:rPr lang="en-US" altLang="zh-CN" dirty="0" smtClean="0"/>
              <a:t>have a[</a:t>
            </a:r>
            <a:r>
              <a:rPr lang="en-US" altLang="zh-CN" dirty="0" err="1" smtClean="0"/>
              <a:t>i</a:t>
            </a:r>
            <a:r>
              <a:rPr lang="en-US" altLang="zh-CN" dirty="0"/>
              <a:t>] ≤ a[</a:t>
            </a:r>
            <a:r>
              <a:rPr lang="en-US" altLang="zh-CN" dirty="0" err="1"/>
              <a:t>i</a:t>
            </a:r>
            <a:r>
              <a:rPr lang="en-US" altLang="zh-CN" dirty="0"/>
              <a:t> + </a:t>
            </a:r>
            <a:r>
              <a:rPr lang="en-US" altLang="zh-CN" i="1" dirty="0" err="1"/>
              <a:t>h</a:t>
            </a:r>
            <a:r>
              <a:rPr lang="en-US" altLang="zh-CN" i="1" baseline="-25000" dirty="0" err="1"/>
              <a:t>k</a:t>
            </a:r>
            <a:r>
              <a:rPr lang="en-US" altLang="zh-CN" dirty="0" smtClean="0"/>
              <a:t>]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All </a:t>
            </a:r>
            <a:r>
              <a:rPr lang="en-US" altLang="zh-CN" dirty="0"/>
              <a:t>elements spaced </a:t>
            </a:r>
            <a:r>
              <a:rPr lang="en-US" altLang="zh-CN" i="1" dirty="0" err="1"/>
              <a:t>hk</a:t>
            </a:r>
            <a:r>
              <a:rPr lang="en-US" altLang="zh-CN" dirty="0"/>
              <a:t> apart are </a:t>
            </a:r>
            <a:r>
              <a:rPr lang="en-US" altLang="zh-CN" dirty="0" smtClean="0"/>
              <a:t>sorted, </a:t>
            </a:r>
            <a:r>
              <a:rPr lang="en-US" altLang="zh-CN" b="1" i="1" dirty="0" err="1" smtClean="0"/>
              <a:t>h</a:t>
            </a:r>
            <a:r>
              <a:rPr lang="en-US" altLang="zh-CN" b="1" i="1" baseline="-25000" dirty="0" err="1" smtClean="0"/>
              <a:t>k</a:t>
            </a:r>
            <a:r>
              <a:rPr lang="en-US" altLang="zh-CN" b="1" dirty="0" smtClean="0"/>
              <a:t>-sorted</a:t>
            </a:r>
            <a:endParaRPr lang="en-US" altLang="zh-CN" b="1" dirty="0" smtClean="0"/>
          </a:p>
          <a:p>
            <a:pPr lvl="1"/>
            <a:r>
              <a:rPr lang="en-US" altLang="zh-CN" dirty="0" smtClean="0"/>
              <a:t>An </a:t>
            </a:r>
            <a:r>
              <a:rPr lang="en-US" altLang="zh-CN" i="1" dirty="0" err="1" smtClean="0"/>
              <a:t>h</a:t>
            </a:r>
            <a:r>
              <a:rPr lang="en-US" altLang="zh-CN" i="1" baseline="-25000" dirty="0" err="1" smtClean="0"/>
              <a:t>k</a:t>
            </a:r>
            <a:r>
              <a:rPr lang="en-US" altLang="zh-CN" dirty="0" smtClean="0"/>
              <a:t>-sorted </a:t>
            </a:r>
            <a:r>
              <a:rPr lang="en-US" altLang="zh-CN" dirty="0"/>
              <a:t>file that is </a:t>
            </a:r>
            <a:r>
              <a:rPr lang="en-US" altLang="zh-CN" dirty="0" smtClean="0"/>
              <a:t>then </a:t>
            </a:r>
            <a:r>
              <a:rPr lang="en-US" altLang="zh-CN" i="1" dirty="0" smtClean="0"/>
              <a:t>h</a:t>
            </a:r>
            <a:r>
              <a:rPr lang="en-US" altLang="zh-CN" i="1" baseline="-25000" dirty="0" smtClean="0"/>
              <a:t>k</a:t>
            </a:r>
            <a:r>
              <a:rPr lang="en-US" altLang="zh-CN" i="1" baseline="-25000" dirty="0"/>
              <a:t>−1</a:t>
            </a:r>
            <a:r>
              <a:rPr lang="en-US" altLang="zh-CN" dirty="0"/>
              <a:t>-sorted remains </a:t>
            </a:r>
            <a:r>
              <a:rPr lang="en-US" altLang="zh-CN" i="1" dirty="0" err="1" smtClean="0"/>
              <a:t>h</a:t>
            </a:r>
            <a:r>
              <a:rPr lang="en-US" altLang="zh-CN" i="1" baseline="-25000" dirty="0" err="1" smtClean="0"/>
              <a:t>k</a:t>
            </a:r>
            <a:r>
              <a:rPr lang="en-US" altLang="zh-CN" dirty="0" smtClean="0"/>
              <a:t>-sorted</a:t>
            </a:r>
            <a:endParaRPr lang="en-US" altLang="zh-CN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12029F1-5A8F-4802-873E-2A0BE12CF08C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2200"/>
            <a:ext cx="6858000" cy="124811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52830" y="5147310"/>
            <a:ext cx="577088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0      1     2     3     4     5     6     7      8     9    10   11  12</a:t>
            </a:r>
            <a:endParaRPr lang="en-US" altLang="zh-CN"/>
          </a:p>
          <a:p>
            <a:r>
              <a:rPr lang="en-US" altLang="zh-CN">
                <a:solidFill>
                  <a:schemeClr val="accent2"/>
                </a:solidFill>
                <a:sym typeface="+mn-ea"/>
              </a:rPr>
              <a:t>0</a:t>
            </a:r>
            <a:r>
              <a:rPr lang="en-US" altLang="zh-CN">
                <a:sym typeface="+mn-ea"/>
              </a:rPr>
              <a:t>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 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2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3     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4</a:t>
            </a:r>
            <a:r>
              <a:rPr lang="en-US" altLang="zh-CN">
                <a:sym typeface="+mn-ea"/>
              </a:rPr>
              <a:t>     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5</a:t>
            </a:r>
            <a:r>
              <a:rPr lang="en-US" altLang="zh-CN">
                <a:sym typeface="+mn-ea"/>
              </a:rPr>
              <a:t>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6</a:t>
            </a:r>
            <a:r>
              <a:rPr lang="en-US" altLang="zh-CN">
                <a:sym typeface="+mn-ea"/>
              </a:rPr>
              <a:t>     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7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8     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9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10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11  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12</a:t>
            </a:r>
            <a:endParaRPr lang="en-US" altLang="zh-CN"/>
          </a:p>
          <a:p>
            <a:r>
              <a:rPr lang="en-US" altLang="zh-CN">
                <a:solidFill>
                  <a:schemeClr val="accent2"/>
                </a:solidFill>
                <a:sym typeface="+mn-ea"/>
              </a:rPr>
              <a:t>0 </a:t>
            </a:r>
            <a:r>
              <a:rPr lang="en-US" altLang="zh-CN">
                <a:sym typeface="+mn-ea"/>
              </a:rPr>
              <a:t>     </a:t>
            </a:r>
            <a:r>
              <a:rPr lang="en-US" altLang="zh-CN">
                <a:solidFill>
                  <a:schemeClr val="accent5"/>
                </a:solidFill>
                <a:sym typeface="+mn-ea"/>
              </a:rPr>
              <a:t>1 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2   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3 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chemeClr val="accent5"/>
                </a:solidFill>
                <a:sym typeface="+mn-ea"/>
              </a:rPr>
              <a:t>4  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5   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6 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chemeClr val="accent5"/>
                </a:solidFill>
                <a:sym typeface="+mn-ea"/>
              </a:rPr>
              <a:t>7  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8     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9 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chemeClr val="accent5"/>
                </a:solidFill>
                <a:sym typeface="+mn-ea"/>
              </a:rPr>
              <a:t>10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11  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12</a:t>
            </a:r>
            <a:endParaRPr lang="en-US" altLang="zh-CN">
              <a:solidFill>
                <a:schemeClr val="accent2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0      1     2     3     4     5     6     7      8     9    10   11  12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635" y="5159375"/>
            <a:ext cx="113728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Original</a:t>
            </a:r>
            <a:endParaRPr lang="en-US" altLang="zh-CN"/>
          </a:p>
          <a:p>
            <a:r>
              <a:rPr lang="en-US" altLang="zh-CN"/>
              <a:t>5-</a:t>
            </a:r>
            <a:r>
              <a:rPr lang="en-US" altLang="zh-CN"/>
              <a:t>sort</a:t>
            </a:r>
            <a:endParaRPr lang="en-US" altLang="zh-CN"/>
          </a:p>
          <a:p>
            <a:r>
              <a:rPr lang="en-US" altLang="zh-CN"/>
              <a:t>3-</a:t>
            </a:r>
            <a:r>
              <a:rPr lang="en-US" altLang="zh-CN"/>
              <a:t>sort</a:t>
            </a:r>
            <a:endParaRPr lang="en-US" altLang="zh-CN"/>
          </a:p>
          <a:p>
            <a:r>
              <a:rPr lang="en-US" altLang="zh-CN"/>
              <a:t>1-</a:t>
            </a:r>
            <a:r>
              <a:rPr lang="en-US" altLang="zh-CN"/>
              <a:t>sort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Shellsort</a:t>
            </a:r>
            <a:endParaRPr lang="zh-CN" altLang="en-US" dirty="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42900" y="2234960"/>
            <a:ext cx="6380560" cy="6240177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Modified version of Insertion Sort for varying increments</a:t>
            </a:r>
            <a:endParaRPr lang="en-US" altLang="zh-CN" sz="2000" dirty="0"/>
          </a:p>
          <a:p>
            <a:pPr lvl="1"/>
            <a:r>
              <a:rPr lang="en-US" altLang="zh-CN" sz="1800" dirty="0"/>
              <a:t>Insertion Sort among a set of elements with </a:t>
            </a:r>
            <a:r>
              <a:rPr lang="en-US" altLang="zh-CN" sz="1800" dirty="0">
                <a:solidFill>
                  <a:srgbClr val="FF0000"/>
                </a:solidFill>
              </a:rPr>
              <a:t>gapped positions.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//</a:t>
            </a:r>
            <a:r>
              <a:rPr lang="en-US" altLang="zh-CN" sz="1800" dirty="0">
                <a:solidFill>
                  <a:srgbClr val="008000"/>
                </a:solidFill>
              </a:rPr>
              <a:t> Modified version of Insertion Sort 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smtClean="0"/>
              <a:t>template 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E, 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Comp&gt;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>
                <a:solidFill>
                  <a:srgbClr val="FF0000"/>
                </a:solidFill>
              </a:rPr>
              <a:t>inssort2</a:t>
            </a:r>
            <a:r>
              <a:rPr lang="en-US" altLang="zh-CN" sz="1800" dirty="0"/>
              <a:t>(E 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incr</a:t>
            </a:r>
            <a:r>
              <a:rPr lang="en-US" altLang="zh-CN" sz="1800" dirty="0"/>
              <a:t>) {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</a:t>
            </a:r>
            <a:r>
              <a:rPr lang="en-US" altLang="zh-CN" sz="1800" dirty="0" err="1"/>
              <a:t>incr</a:t>
            </a:r>
            <a:r>
              <a:rPr lang="en-US" altLang="zh-CN" sz="1800" dirty="0"/>
              <a:t>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&lt;n;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+=</a:t>
            </a:r>
            <a:r>
              <a:rPr lang="en-US" altLang="zh-CN" sz="1800" dirty="0" err="1"/>
              <a:t>incr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j=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 (j&gt;=</a:t>
            </a:r>
            <a:r>
              <a:rPr lang="en-US" altLang="zh-CN" sz="1800" dirty="0" err="1"/>
              <a:t>incr</a:t>
            </a:r>
            <a:r>
              <a:rPr lang="en-US" altLang="zh-CN" sz="1800" dirty="0"/>
              <a:t>) &amp;&amp; </a:t>
            </a:r>
            <a:r>
              <a:rPr lang="en-US" altLang="zh-CN" sz="1800" dirty="0" smtClean="0"/>
              <a:t>(</a:t>
            </a:r>
            <a:r>
              <a:rPr lang="en-US" altLang="zh-CN" sz="1800" dirty="0"/>
              <a:t>Comp::prior(A[j], A[j-</a:t>
            </a:r>
            <a:r>
              <a:rPr lang="en-US" altLang="zh-CN" sz="1800" dirty="0" err="1"/>
              <a:t>incr</a:t>
            </a:r>
            <a:r>
              <a:rPr lang="en-US" altLang="zh-CN" sz="1800" dirty="0" smtClean="0"/>
              <a:t>]));        </a:t>
            </a:r>
            <a:endParaRPr lang="en-US" altLang="zh-CN" sz="18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     j-</a:t>
            </a:r>
            <a:r>
              <a:rPr lang="en-US" altLang="zh-CN" sz="1800" dirty="0"/>
              <a:t>=</a:t>
            </a:r>
            <a:r>
              <a:rPr lang="en-US" altLang="zh-CN" sz="1800" dirty="0" err="1"/>
              <a:t>incr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     swap(A, j, j-</a:t>
            </a:r>
            <a:r>
              <a:rPr lang="en-US" altLang="zh-CN" sz="1800" dirty="0" err="1"/>
              <a:t>incr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smtClean="0"/>
              <a:t>}</a:t>
            </a:r>
            <a:endParaRPr lang="en-US" altLang="zh-CN" sz="18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//</a:t>
            </a:r>
            <a:r>
              <a:rPr lang="en-US" altLang="zh-CN" sz="1800" dirty="0" err="1" smtClean="0">
                <a:solidFill>
                  <a:srgbClr val="008000"/>
                </a:solidFill>
              </a:rPr>
              <a:t>Shellsort</a:t>
            </a:r>
            <a:endParaRPr lang="en-US" altLang="zh-CN" sz="1050" dirty="0"/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template 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E, 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Comp&gt;</a:t>
            </a:r>
            <a:endParaRPr lang="en-US" altLang="zh-CN" sz="1800" dirty="0"/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>
                <a:solidFill>
                  <a:srgbClr val="FF0000"/>
                </a:solidFill>
              </a:rPr>
              <a:t>shellsort</a:t>
            </a:r>
            <a:r>
              <a:rPr lang="en-US" altLang="zh-CN" sz="1800" dirty="0"/>
              <a:t>(E 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 { 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=n/2;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&gt;2;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/=2) </a:t>
            </a:r>
            <a:r>
              <a:rPr lang="en-US" altLang="zh-CN" sz="1800" dirty="0">
                <a:solidFill>
                  <a:srgbClr val="00B050"/>
                </a:solidFill>
              </a:rPr>
              <a:t>//For each increment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j=0; j&lt;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 </a:t>
            </a:r>
            <a:r>
              <a:rPr lang="en-US" altLang="zh-CN" sz="1800" dirty="0" err="1"/>
              <a:t>j++</a:t>
            </a:r>
            <a:r>
              <a:rPr lang="en-US" altLang="zh-CN" sz="1800" dirty="0"/>
              <a:t>) </a:t>
            </a:r>
            <a:r>
              <a:rPr lang="en-US" altLang="zh-CN" sz="1800" dirty="0">
                <a:solidFill>
                  <a:srgbClr val="00B050"/>
                </a:solidFill>
              </a:rPr>
              <a:t>//Sort each </a:t>
            </a:r>
            <a:r>
              <a:rPr lang="en-US" altLang="zh-CN" sz="1800" dirty="0" err="1">
                <a:solidFill>
                  <a:srgbClr val="00B050"/>
                </a:solidFill>
              </a:rPr>
              <a:t>sublist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</a:t>
            </a:r>
            <a:r>
              <a:rPr lang="en-US" altLang="zh-CN" sz="1800" dirty="0">
                <a:solidFill>
                  <a:srgbClr val="FF0000"/>
                </a:solidFill>
              </a:rPr>
              <a:t>inssort2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E,Comp</a:t>
            </a:r>
            <a:r>
              <a:rPr lang="en-US" altLang="zh-CN" sz="1800" dirty="0"/>
              <a:t>&gt;(&amp;A[j], n-j,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</a:t>
            </a:r>
            <a:r>
              <a:rPr lang="en-US" altLang="zh-CN" sz="1800" dirty="0">
                <a:solidFill>
                  <a:srgbClr val="00B050"/>
                </a:solidFill>
              </a:rPr>
              <a:t>//Normal insertion sort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</a:t>
            </a:r>
            <a:r>
              <a:rPr lang="en-US" altLang="zh-CN" sz="1800" dirty="0">
                <a:solidFill>
                  <a:srgbClr val="FF0000"/>
                </a:solidFill>
              </a:rPr>
              <a:t>inssort2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E,Comp</a:t>
            </a:r>
            <a:r>
              <a:rPr lang="en-US" altLang="zh-CN" sz="1800" dirty="0"/>
              <a:t>&gt;(A, n, 1);</a:t>
            </a:r>
            <a:endParaRPr lang="en-US" altLang="zh-CN" sz="1800" dirty="0"/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7CB4537-232C-482A-8694-C264B326D679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Shellsort</a:t>
            </a:r>
            <a:endParaRPr lang="zh-CN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ADBD88A-8EED-4F8A-8BAD-D471F4EDDAF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4821" name="Rectangle 1"/>
          <p:cNvSpPr>
            <a:spLocks noChangeArrowheads="1"/>
          </p:cNvSpPr>
          <p:nvPr/>
        </p:nvSpPr>
        <p:spPr bwMode="auto">
          <a:xfrm>
            <a:off x="1400714" y="2207419"/>
            <a:ext cx="5392993" cy="6463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Courier New" panose="02070609020205090404" pitchFamily="49" charset="0"/>
              </a:rPr>
              <a:t>for (</a:t>
            </a:r>
            <a:r>
              <a:rPr lang="en-US" altLang="zh-CN" b="1" dirty="0" err="1">
                <a:latin typeface="Courier New" panose="02070609020205090404" pitchFamily="49" charset="0"/>
              </a:rPr>
              <a:t>int</a:t>
            </a:r>
            <a:r>
              <a:rPr lang="en-US" altLang="zh-CN" b="1" dirty="0">
                <a:latin typeface="Courier New" panose="02070609020205090404" pitchFamily="49" charset="0"/>
              </a:rPr>
              <a:t> j=0; j&lt;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; </a:t>
            </a:r>
            <a:r>
              <a:rPr lang="en-US" altLang="zh-CN" b="1" dirty="0" err="1">
                <a:latin typeface="Courier New" panose="02070609020205090404" pitchFamily="49" charset="0"/>
              </a:rPr>
              <a:t>j++</a:t>
            </a:r>
            <a:r>
              <a:rPr lang="en-US" altLang="zh-CN" b="1" dirty="0">
                <a:latin typeface="Courier New" panose="02070609020205090404" pitchFamily="49" charset="0"/>
              </a:rPr>
              <a:t>) </a:t>
            </a:r>
            <a:r>
              <a:rPr lang="en-US" altLang="zh-CN" b="1" dirty="0">
                <a:solidFill>
                  <a:srgbClr val="00B050"/>
                </a:solidFill>
                <a:latin typeface="Courier New" panose="02070609020205090404" pitchFamily="49" charset="0"/>
              </a:rPr>
              <a:t>//for 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609020205090404" pitchFamily="49" charset="0"/>
              </a:rPr>
              <a:t>sublist</a:t>
            </a:r>
            <a:endParaRPr lang="en-US" altLang="zh-CN" b="1" dirty="0">
              <a:solidFill>
                <a:srgbClr val="00B050"/>
              </a:solidFill>
              <a:latin typeface="Courier New" panose="02070609020205090404" pitchFamily="49" charset="0"/>
            </a:endParaRPr>
          </a:p>
          <a:p>
            <a:pPr eaLnBrk="1" hangingPunct="1"/>
            <a:r>
              <a:rPr lang="en-US" altLang="zh-CN" b="1" dirty="0">
                <a:latin typeface="Courier New" panose="02070609020205090404" pitchFamily="49" charset="0"/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  <a:latin typeface="Courier New" panose="02070609020205090404" pitchFamily="49" charset="0"/>
              </a:rPr>
              <a:t>inssort2</a:t>
            </a:r>
            <a:r>
              <a:rPr lang="en-US" altLang="zh-CN" b="1" dirty="0">
                <a:latin typeface="Courier New" panose="02070609020205090404" pitchFamily="49" charset="0"/>
              </a:rPr>
              <a:t>&lt;</a:t>
            </a:r>
            <a:r>
              <a:rPr lang="en-US" altLang="zh-CN" b="1" dirty="0" err="1">
                <a:latin typeface="Courier New" panose="02070609020205090404" pitchFamily="49" charset="0"/>
              </a:rPr>
              <a:t>E,Comp</a:t>
            </a:r>
            <a:r>
              <a:rPr lang="en-US" altLang="zh-CN" b="1" dirty="0">
                <a:latin typeface="Courier New" panose="02070609020205090404" pitchFamily="49" charset="0"/>
              </a:rPr>
              <a:t>&gt;(&amp;A[j], n-j, 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);</a:t>
            </a:r>
            <a:endParaRPr lang="zh-CN" altLang="en-US" b="1" dirty="0"/>
          </a:p>
        </p:txBody>
      </p:sp>
      <p:grpSp>
        <p:nvGrpSpPr>
          <p:cNvPr id="20" name="Group 19"/>
          <p:cNvGrpSpPr/>
          <p:nvPr/>
        </p:nvGrpSpPr>
        <p:grpSpPr bwMode="auto">
          <a:xfrm>
            <a:off x="296466" y="3509491"/>
            <a:ext cx="6172200" cy="996553"/>
            <a:chOff x="395536" y="1340768"/>
            <a:chExt cx="8229600" cy="1329506"/>
          </a:xfrm>
        </p:grpSpPr>
        <p:pic>
          <p:nvPicPr>
            <p:cNvPr id="34854" name="Picture 4" descr="C:\Shaffer\CS2604\Figs\ShelSort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" t="27557" r="2472" b="49010"/>
            <a:stretch>
              <a:fillRect/>
            </a:stretch>
          </p:blipFill>
          <p:spPr bwMode="auto">
            <a:xfrm>
              <a:off x="395536" y="1412776"/>
              <a:ext cx="8229600" cy="125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val 5"/>
            <p:cNvSpPr/>
            <p:nvPr/>
          </p:nvSpPr>
          <p:spPr>
            <a:xfrm>
              <a:off x="466973" y="1340768"/>
              <a:ext cx="504825" cy="8641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7" name="Oval 6"/>
            <p:cNvSpPr/>
            <p:nvPr/>
          </p:nvSpPr>
          <p:spPr>
            <a:xfrm>
              <a:off x="4356348" y="1358240"/>
              <a:ext cx="503238" cy="846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1" name="Oval 20"/>
            <p:cNvSpPr/>
            <p:nvPr/>
          </p:nvSpPr>
          <p:spPr>
            <a:xfrm>
              <a:off x="2483098" y="1343945"/>
              <a:ext cx="504825" cy="86251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2" name="Oval 21"/>
            <p:cNvSpPr/>
            <p:nvPr/>
          </p:nvSpPr>
          <p:spPr>
            <a:xfrm>
              <a:off x="6372473" y="1361417"/>
              <a:ext cx="503238" cy="84503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pSp>
        <p:nvGrpSpPr>
          <p:cNvPr id="5" name="Group 4"/>
          <p:cNvGrpSpPr/>
          <p:nvPr/>
        </p:nvGrpSpPr>
        <p:grpSpPr bwMode="auto">
          <a:xfrm>
            <a:off x="296466" y="4342928"/>
            <a:ext cx="6172200" cy="1027509"/>
            <a:chOff x="467544" y="2922886"/>
            <a:chExt cx="8229600" cy="1370210"/>
          </a:xfrm>
        </p:grpSpPr>
        <p:pic>
          <p:nvPicPr>
            <p:cNvPr id="34845" name="Picture 4" descr="C:\Shaffer\CS2604\Figs\ShelSort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" t="27557" r="2472" b="49010"/>
            <a:stretch>
              <a:fillRect/>
            </a:stretch>
          </p:blipFill>
          <p:spPr bwMode="auto">
            <a:xfrm>
              <a:off x="467544" y="3035598"/>
              <a:ext cx="8229600" cy="125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46" name="TextBox 3"/>
            <p:cNvSpPr txBox="1">
              <a:spLocks noChangeArrowheads="1"/>
            </p:cNvSpPr>
            <p:nvPr/>
          </p:nvSpPr>
          <p:spPr bwMode="auto">
            <a:xfrm>
              <a:off x="2647753" y="3174752"/>
              <a:ext cx="277688" cy="277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36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47" name="TextBox 24"/>
            <p:cNvSpPr txBox="1">
              <a:spLocks noChangeArrowheads="1"/>
            </p:cNvSpPr>
            <p:nvPr/>
          </p:nvSpPr>
          <p:spPr bwMode="auto">
            <a:xfrm>
              <a:off x="697655" y="3158733"/>
              <a:ext cx="277688" cy="277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28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48" name="TextBox 25"/>
            <p:cNvSpPr txBox="1">
              <a:spLocks noChangeArrowheads="1"/>
            </p:cNvSpPr>
            <p:nvPr/>
          </p:nvSpPr>
          <p:spPr bwMode="auto">
            <a:xfrm>
              <a:off x="4572000" y="3144519"/>
              <a:ext cx="277688" cy="277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59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49" name="TextBox 26"/>
            <p:cNvSpPr txBox="1">
              <a:spLocks noChangeArrowheads="1"/>
            </p:cNvSpPr>
            <p:nvPr/>
          </p:nvSpPr>
          <p:spPr bwMode="auto">
            <a:xfrm>
              <a:off x="6598568" y="3140968"/>
              <a:ext cx="277688" cy="277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65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1043806" y="2922886"/>
              <a:ext cx="504825" cy="8637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9" name="Oval 28"/>
            <p:cNvSpPr/>
            <p:nvPr/>
          </p:nvSpPr>
          <p:spPr>
            <a:xfrm>
              <a:off x="5004619" y="2940351"/>
              <a:ext cx="503237" cy="8462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0" name="Oval 29"/>
            <p:cNvSpPr/>
            <p:nvPr/>
          </p:nvSpPr>
          <p:spPr>
            <a:xfrm>
              <a:off x="2988494" y="2926061"/>
              <a:ext cx="504825" cy="8637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1" name="Oval 30"/>
            <p:cNvSpPr/>
            <p:nvPr/>
          </p:nvSpPr>
          <p:spPr>
            <a:xfrm>
              <a:off x="6949306" y="2943526"/>
              <a:ext cx="503238" cy="8462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pSp>
        <p:nvGrpSpPr>
          <p:cNvPr id="33" name="Group 32"/>
          <p:cNvGrpSpPr/>
          <p:nvPr/>
        </p:nvGrpSpPr>
        <p:grpSpPr bwMode="auto">
          <a:xfrm>
            <a:off x="296466" y="5315668"/>
            <a:ext cx="6172200" cy="1028700"/>
            <a:chOff x="467544" y="2922886"/>
            <a:chExt cx="8229600" cy="1370210"/>
          </a:xfrm>
        </p:grpSpPr>
        <p:pic>
          <p:nvPicPr>
            <p:cNvPr id="34836" name="Picture 4" descr="C:\Shaffer\CS2604\Figs\ShelSort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" t="27557" r="2472" b="49010"/>
            <a:stretch>
              <a:fillRect/>
            </a:stretch>
          </p:blipFill>
          <p:spPr bwMode="auto">
            <a:xfrm>
              <a:off x="467544" y="3035598"/>
              <a:ext cx="8229600" cy="125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37" name="TextBox 34"/>
            <p:cNvSpPr txBox="1">
              <a:spLocks noChangeArrowheads="1"/>
            </p:cNvSpPr>
            <p:nvPr/>
          </p:nvSpPr>
          <p:spPr bwMode="auto">
            <a:xfrm>
              <a:off x="2647752" y="3174752"/>
              <a:ext cx="833784" cy="276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 dirty="0">
                  <a:solidFill>
                    <a:srgbClr val="00B050"/>
                  </a:solidFill>
                </a:rPr>
                <a:t>36     20</a:t>
              </a:r>
              <a:endParaRPr lang="zh-CN" altLang="en-US" sz="1350" b="1" dirty="0">
                <a:solidFill>
                  <a:srgbClr val="00B050"/>
                </a:solidFill>
              </a:endParaRPr>
            </a:p>
          </p:txBody>
        </p:sp>
        <p:sp>
          <p:nvSpPr>
            <p:cNvPr id="34838" name="TextBox 35"/>
            <p:cNvSpPr txBox="1">
              <a:spLocks noChangeArrowheads="1"/>
            </p:cNvSpPr>
            <p:nvPr/>
          </p:nvSpPr>
          <p:spPr bwMode="auto">
            <a:xfrm>
              <a:off x="683568" y="3140967"/>
              <a:ext cx="853752" cy="276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28     14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39" name="TextBox 36"/>
            <p:cNvSpPr txBox="1">
              <a:spLocks noChangeArrowheads="1"/>
            </p:cNvSpPr>
            <p:nvPr/>
          </p:nvSpPr>
          <p:spPr bwMode="auto">
            <a:xfrm>
              <a:off x="4572000" y="3144520"/>
              <a:ext cx="864096" cy="276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59     41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40" name="TextBox 37"/>
            <p:cNvSpPr txBox="1">
              <a:spLocks noChangeArrowheads="1"/>
            </p:cNvSpPr>
            <p:nvPr/>
          </p:nvSpPr>
          <p:spPr bwMode="auto">
            <a:xfrm>
              <a:off x="6598567" y="3140967"/>
              <a:ext cx="844227" cy="276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65     98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1547044" y="2922886"/>
              <a:ext cx="504825" cy="86431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0" name="Oval 39"/>
            <p:cNvSpPr/>
            <p:nvPr/>
          </p:nvSpPr>
          <p:spPr>
            <a:xfrm>
              <a:off x="5509444" y="2940331"/>
              <a:ext cx="503237" cy="84686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1" name="Oval 40"/>
            <p:cNvSpPr/>
            <p:nvPr/>
          </p:nvSpPr>
          <p:spPr>
            <a:xfrm>
              <a:off x="3491731" y="2926058"/>
              <a:ext cx="504825" cy="8627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544" y="2943503"/>
              <a:ext cx="503237" cy="84528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pSp>
        <p:nvGrpSpPr>
          <p:cNvPr id="53" name="Group 52"/>
          <p:cNvGrpSpPr/>
          <p:nvPr/>
        </p:nvGrpSpPr>
        <p:grpSpPr bwMode="auto">
          <a:xfrm>
            <a:off x="280988" y="6234831"/>
            <a:ext cx="6172200" cy="1027510"/>
            <a:chOff x="467544" y="2922886"/>
            <a:chExt cx="8229600" cy="1370210"/>
          </a:xfrm>
        </p:grpSpPr>
        <p:pic>
          <p:nvPicPr>
            <p:cNvPr id="34827" name="Picture 4" descr="C:\Shaffer\CS2604\Figs\ShelSort.gi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" t="27557" r="2472" b="49010"/>
            <a:stretch>
              <a:fillRect/>
            </a:stretch>
          </p:blipFill>
          <p:spPr bwMode="auto">
            <a:xfrm>
              <a:off x="467544" y="3035598"/>
              <a:ext cx="8229600" cy="125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8" name="TextBox 54"/>
            <p:cNvSpPr txBox="1">
              <a:spLocks noChangeArrowheads="1"/>
            </p:cNvSpPr>
            <p:nvPr/>
          </p:nvSpPr>
          <p:spPr bwMode="auto">
            <a:xfrm>
              <a:off x="2647751" y="3174751"/>
              <a:ext cx="1347367" cy="277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36     20   17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29" name="TextBox 55"/>
            <p:cNvSpPr txBox="1">
              <a:spLocks noChangeArrowheads="1"/>
            </p:cNvSpPr>
            <p:nvPr/>
          </p:nvSpPr>
          <p:spPr bwMode="auto">
            <a:xfrm>
              <a:off x="683567" y="3140968"/>
              <a:ext cx="1276945" cy="277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28     14   11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30" name="TextBox 56"/>
            <p:cNvSpPr txBox="1">
              <a:spLocks noChangeArrowheads="1"/>
            </p:cNvSpPr>
            <p:nvPr/>
          </p:nvSpPr>
          <p:spPr bwMode="auto">
            <a:xfrm>
              <a:off x="4572000" y="3144520"/>
              <a:ext cx="1358628" cy="277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59     41    23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34831" name="TextBox 57"/>
            <p:cNvSpPr txBox="1">
              <a:spLocks noChangeArrowheads="1"/>
            </p:cNvSpPr>
            <p:nvPr/>
          </p:nvSpPr>
          <p:spPr bwMode="auto">
            <a:xfrm>
              <a:off x="6598567" y="3140968"/>
              <a:ext cx="1348284" cy="277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350" b="1">
                  <a:solidFill>
                    <a:srgbClr val="00B050"/>
                  </a:solidFill>
                </a:rPr>
                <a:t>65     98    42</a:t>
              </a:r>
              <a:endParaRPr lang="zh-CN" altLang="en-US" sz="1350" b="1">
                <a:solidFill>
                  <a:srgbClr val="00B050"/>
                </a:solidFill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2051869" y="2922886"/>
              <a:ext cx="504825" cy="8637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60" name="Oval 59"/>
            <p:cNvSpPr/>
            <p:nvPr/>
          </p:nvSpPr>
          <p:spPr>
            <a:xfrm>
              <a:off x="6012682" y="2940352"/>
              <a:ext cx="503237" cy="84625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61" name="Oval 60"/>
            <p:cNvSpPr/>
            <p:nvPr/>
          </p:nvSpPr>
          <p:spPr>
            <a:xfrm>
              <a:off x="3996557" y="2926061"/>
              <a:ext cx="504825" cy="8637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62" name="Oval 61"/>
            <p:cNvSpPr/>
            <p:nvPr/>
          </p:nvSpPr>
          <p:spPr>
            <a:xfrm>
              <a:off x="7957369" y="2943527"/>
              <a:ext cx="503238" cy="84625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pic>
        <p:nvPicPr>
          <p:cNvPr id="63" name="Picture 4" descr="C:\Shaffer\CS2604\Figs\ShelSort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" t="53455" r="2879" b="33128"/>
          <a:stretch>
            <a:fillRect/>
          </a:stretch>
        </p:blipFill>
        <p:spPr bwMode="auto">
          <a:xfrm>
            <a:off x="242888" y="7127800"/>
            <a:ext cx="6172200" cy="540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Shellsort</a:t>
            </a:r>
            <a:r>
              <a:rPr lang="en-US" altLang="zh-CN" dirty="0" smtClean="0"/>
              <a:t> (VI)</a:t>
            </a:r>
            <a:endParaRPr lang="zh-CN" alt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7CC46D7-D21F-488E-8B8E-80E9256D9CEF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33797" name="Picture 4" descr="C:\Shaffer\CS2604\Figs\ShelSort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" t="1842" r="2879" b="920"/>
          <a:stretch>
            <a:fillRect/>
          </a:stretch>
        </p:blipFill>
        <p:spPr bwMode="auto">
          <a:xfrm>
            <a:off x="342900" y="3898776"/>
            <a:ext cx="6172200" cy="3913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458391" y="3870201"/>
            <a:ext cx="378619" cy="15513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7" name="Oval 6"/>
          <p:cNvSpPr/>
          <p:nvPr/>
        </p:nvSpPr>
        <p:spPr>
          <a:xfrm>
            <a:off x="3375423" y="3883297"/>
            <a:ext cx="377428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8" name="Oval 7"/>
          <p:cNvSpPr/>
          <p:nvPr/>
        </p:nvSpPr>
        <p:spPr>
          <a:xfrm>
            <a:off x="458391" y="4870326"/>
            <a:ext cx="378619" cy="15513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9" name="Oval 8"/>
          <p:cNvSpPr/>
          <p:nvPr/>
        </p:nvSpPr>
        <p:spPr>
          <a:xfrm>
            <a:off x="1916906" y="4895328"/>
            <a:ext cx="377429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0" name="Oval 9"/>
          <p:cNvSpPr/>
          <p:nvPr/>
        </p:nvSpPr>
        <p:spPr>
          <a:xfrm>
            <a:off x="3375423" y="4895328"/>
            <a:ext cx="377428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1" name="Oval 10"/>
          <p:cNvSpPr/>
          <p:nvPr/>
        </p:nvSpPr>
        <p:spPr>
          <a:xfrm>
            <a:off x="4887516" y="4895328"/>
            <a:ext cx="377428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2" name="Oval 11"/>
          <p:cNvSpPr/>
          <p:nvPr/>
        </p:nvSpPr>
        <p:spPr>
          <a:xfrm>
            <a:off x="458391" y="5747816"/>
            <a:ext cx="378619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3" name="Oval 12"/>
          <p:cNvSpPr/>
          <p:nvPr/>
        </p:nvSpPr>
        <p:spPr>
          <a:xfrm>
            <a:off x="1916906" y="5774010"/>
            <a:ext cx="377429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4" name="Oval 13"/>
          <p:cNvSpPr/>
          <p:nvPr/>
        </p:nvSpPr>
        <p:spPr>
          <a:xfrm>
            <a:off x="3375423" y="5774010"/>
            <a:ext cx="377428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5" name="Oval 14"/>
          <p:cNvSpPr/>
          <p:nvPr/>
        </p:nvSpPr>
        <p:spPr>
          <a:xfrm>
            <a:off x="4887516" y="5774010"/>
            <a:ext cx="377428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6" name="Oval 15"/>
          <p:cNvSpPr/>
          <p:nvPr/>
        </p:nvSpPr>
        <p:spPr>
          <a:xfrm>
            <a:off x="1214438" y="5747816"/>
            <a:ext cx="378619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7" name="Oval 16"/>
          <p:cNvSpPr/>
          <p:nvPr/>
        </p:nvSpPr>
        <p:spPr>
          <a:xfrm>
            <a:off x="2672954" y="5774010"/>
            <a:ext cx="377428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8" name="Oval 17"/>
          <p:cNvSpPr/>
          <p:nvPr/>
        </p:nvSpPr>
        <p:spPr>
          <a:xfrm>
            <a:off x="4131469" y="5774010"/>
            <a:ext cx="377429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9" name="Oval 18"/>
          <p:cNvSpPr/>
          <p:nvPr/>
        </p:nvSpPr>
        <p:spPr>
          <a:xfrm>
            <a:off x="5643562" y="5774010"/>
            <a:ext cx="377429" cy="1552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33812" name="Rectangle 1"/>
          <p:cNvSpPr>
            <a:spLocks noChangeArrowheads="1"/>
          </p:cNvSpPr>
          <p:nvPr/>
        </p:nvSpPr>
        <p:spPr bwMode="auto">
          <a:xfrm>
            <a:off x="1340768" y="2033587"/>
            <a:ext cx="5491039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Courier New" panose="02070609020205090404" pitchFamily="49" charset="0"/>
              </a:rPr>
              <a:t>for (</a:t>
            </a:r>
            <a:r>
              <a:rPr lang="en-US" altLang="zh-CN" b="1" dirty="0" err="1">
                <a:latin typeface="Courier New" panose="02070609020205090404" pitchFamily="49" charset="0"/>
              </a:rPr>
              <a:t>int</a:t>
            </a:r>
            <a:r>
              <a:rPr lang="en-US" altLang="zh-CN" b="1" dirty="0">
                <a:latin typeface="Courier New" panose="02070609020205090404" pitchFamily="49" charset="0"/>
              </a:rPr>
              <a:t> 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=n/2; 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&gt;2; 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/=2) </a:t>
            </a:r>
            <a:endParaRPr lang="en-US" altLang="zh-CN" b="1" dirty="0">
              <a:latin typeface="Courier New" panose="02070609020205090404" pitchFamily="49" charset="0"/>
            </a:endParaRPr>
          </a:p>
          <a:p>
            <a:pPr eaLnBrk="1" hangingPunct="1"/>
            <a:r>
              <a:rPr lang="en-US" altLang="zh-CN" b="1" dirty="0">
                <a:latin typeface="Courier New" panose="02070609020205090404" pitchFamily="49" charset="0"/>
              </a:rPr>
              <a:t>  for (</a:t>
            </a:r>
            <a:r>
              <a:rPr lang="en-US" altLang="zh-CN" b="1" dirty="0" err="1">
                <a:latin typeface="Courier New" panose="02070609020205090404" pitchFamily="49" charset="0"/>
              </a:rPr>
              <a:t>int</a:t>
            </a:r>
            <a:r>
              <a:rPr lang="en-US" altLang="zh-CN" b="1" dirty="0">
                <a:latin typeface="Courier New" panose="02070609020205090404" pitchFamily="49" charset="0"/>
              </a:rPr>
              <a:t> j=0; j&lt;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; </a:t>
            </a:r>
            <a:r>
              <a:rPr lang="en-US" altLang="zh-CN" b="1" dirty="0" err="1">
                <a:latin typeface="Courier New" panose="02070609020205090404" pitchFamily="49" charset="0"/>
              </a:rPr>
              <a:t>j++</a:t>
            </a:r>
            <a:r>
              <a:rPr lang="en-US" altLang="zh-CN" b="1" dirty="0">
                <a:latin typeface="Courier New" panose="02070609020205090404" pitchFamily="49" charset="0"/>
              </a:rPr>
              <a:t>)        </a:t>
            </a:r>
            <a:endParaRPr lang="en-US" altLang="zh-CN" b="1" dirty="0">
              <a:latin typeface="Courier New" panose="02070609020205090404" pitchFamily="49" charset="0"/>
            </a:endParaRP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Courier New" panose="02070609020205090404" pitchFamily="49" charset="0"/>
              </a:rPr>
              <a:t>     inssort2</a:t>
            </a:r>
            <a:r>
              <a:rPr lang="en-US" altLang="zh-CN" b="1" dirty="0">
                <a:latin typeface="Courier New" panose="02070609020205090404" pitchFamily="49" charset="0"/>
              </a:rPr>
              <a:t>&lt;</a:t>
            </a:r>
            <a:r>
              <a:rPr lang="en-US" altLang="zh-CN" b="1" dirty="0" err="1">
                <a:latin typeface="Courier New" panose="02070609020205090404" pitchFamily="49" charset="0"/>
              </a:rPr>
              <a:t>E,Comp</a:t>
            </a:r>
            <a:r>
              <a:rPr lang="en-US" altLang="zh-CN" b="1" dirty="0">
                <a:latin typeface="Courier New" panose="02070609020205090404" pitchFamily="49" charset="0"/>
              </a:rPr>
              <a:t>&gt;(&amp;A[j], n-j, </a:t>
            </a:r>
            <a:r>
              <a:rPr lang="en-US" altLang="zh-CN" b="1" dirty="0" err="1">
                <a:latin typeface="Courier New" panose="02070609020205090404" pitchFamily="49" charset="0"/>
              </a:rPr>
              <a:t>i</a:t>
            </a:r>
            <a:r>
              <a:rPr lang="en-US" altLang="zh-CN" b="1" dirty="0">
                <a:latin typeface="Courier New" panose="02070609020205090404" pitchFamily="49" charset="0"/>
              </a:rPr>
              <a:t>);</a:t>
            </a:r>
            <a:endParaRPr lang="en-US" altLang="zh-CN" b="1" dirty="0">
              <a:latin typeface="Courier New" panose="02070609020205090404" pitchFamily="49" charset="0"/>
            </a:endParaRP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Courier New" panose="02070609020205090404" pitchFamily="49" charset="0"/>
              </a:rPr>
              <a:t>inssort2</a:t>
            </a:r>
            <a:r>
              <a:rPr lang="en-US" altLang="zh-CN" b="1" dirty="0">
                <a:latin typeface="Courier New" panose="02070609020205090404" pitchFamily="49" charset="0"/>
              </a:rPr>
              <a:t>&lt;</a:t>
            </a:r>
            <a:r>
              <a:rPr lang="en-US" altLang="zh-CN" b="1" dirty="0" err="1">
                <a:latin typeface="Courier New" panose="02070609020205090404" pitchFamily="49" charset="0"/>
              </a:rPr>
              <a:t>E,Comp</a:t>
            </a:r>
            <a:r>
              <a:rPr lang="en-US" altLang="zh-CN" b="1" dirty="0">
                <a:latin typeface="Courier New" panose="02070609020205090404" pitchFamily="49" charset="0"/>
              </a:rPr>
              <a:t>&gt;(A, n, 1);</a:t>
            </a:r>
            <a:endParaRPr lang="en-US" altLang="zh-CN" b="1" dirty="0">
              <a:latin typeface="Courier New" panose="0207060902020509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Shellsort</a:t>
            </a:r>
            <a:r>
              <a:rPr lang="en-US" altLang="zh-CN" dirty="0" smtClean="0"/>
              <a:t> 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Shellsort</a:t>
            </a:r>
            <a:r>
              <a:rPr lang="en-US" altLang="zh-CN" dirty="0"/>
              <a:t> conclude with a regular Insertion Sort</a:t>
            </a:r>
            <a:endParaRPr lang="en-US" altLang="zh-CN" dirty="0"/>
          </a:p>
          <a:p>
            <a:pPr lvl="1"/>
            <a:r>
              <a:rPr lang="en-US" altLang="zh-CN" dirty="0"/>
              <a:t>The complexity will be at least the complexity of Insertion Sort?</a:t>
            </a:r>
            <a:endParaRPr lang="en-US" altLang="zh-CN" dirty="0"/>
          </a:p>
          <a:p>
            <a:pPr lvl="1"/>
            <a:r>
              <a:rPr lang="en-US" altLang="zh-CN" dirty="0"/>
              <a:t>Each of the </a:t>
            </a:r>
            <a:r>
              <a:rPr lang="en-US" altLang="zh-CN" dirty="0" err="1"/>
              <a:t>sublist</a:t>
            </a:r>
            <a:r>
              <a:rPr lang="en-US" altLang="zh-CN" dirty="0"/>
              <a:t> sorts will make the list “</a:t>
            </a:r>
            <a:r>
              <a:rPr lang="en-US" altLang="zh-CN" dirty="0">
                <a:solidFill>
                  <a:srgbClr val="FF0000"/>
                </a:solidFill>
              </a:rPr>
              <a:t>more sorted</a:t>
            </a:r>
            <a:r>
              <a:rPr lang="en-US" altLang="zh-CN" dirty="0"/>
              <a:t>” than it was before, which leads to </a:t>
            </a:r>
            <a:r>
              <a:rPr lang="en-US" altLang="zh-CN" dirty="0">
                <a:solidFill>
                  <a:srgbClr val="FF0000"/>
                </a:solidFill>
              </a:rPr>
              <a:t>a relatively cheap final Insertion Sort pass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en-US" altLang="zh-CN" dirty="0"/>
              <a:t>Choice of increments also influences the efficiency</a:t>
            </a:r>
            <a:endParaRPr lang="en-US" altLang="zh-CN" dirty="0"/>
          </a:p>
          <a:p>
            <a:pPr lvl="1"/>
            <a:endParaRPr lang="en-US" altLang="zh-CN" sz="1800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8627DBB-62CE-46F5-A796-3F281D176D42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 </a:t>
            </a:r>
            <a:r>
              <a:rPr lang="en-US" altLang="zh-CN" dirty="0"/>
              <a:t>of </a:t>
            </a:r>
            <a:r>
              <a:rPr lang="en-US" altLang="zh-CN" dirty="0" err="1"/>
              <a:t>Shellsort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85" y="2234961"/>
            <a:ext cx="5915025" cy="6005226"/>
          </a:xfrm>
        </p:spPr>
        <p:txBody>
          <a:bodyPr>
            <a:noAutofit/>
          </a:bodyPr>
          <a:lstStyle/>
          <a:p>
            <a:r>
              <a:rPr lang="en-US" altLang="zh-CN" dirty="0" err="1"/>
              <a:t>Shellsort</a:t>
            </a:r>
            <a:r>
              <a:rPr lang="en-US" altLang="zh-CN" dirty="0"/>
              <a:t> </a:t>
            </a:r>
            <a:r>
              <a:rPr lang="en-US" altLang="zh-CN" dirty="0" smtClean="0"/>
              <a:t>is a very </a:t>
            </a:r>
            <a:r>
              <a:rPr lang="en-US" altLang="zh-CN" dirty="0"/>
              <a:t>simple algorithm with an extremely complex analysis.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The </a:t>
            </a:r>
            <a:r>
              <a:rPr lang="en-US" altLang="zh-CN" dirty="0"/>
              <a:t>worst-case running time of </a:t>
            </a:r>
            <a:r>
              <a:rPr lang="en-US" altLang="zh-CN" dirty="0" err="1"/>
              <a:t>Shellsort</a:t>
            </a:r>
            <a:r>
              <a:rPr lang="en-US" altLang="zh-CN" dirty="0"/>
              <a:t> using Shell’s </a:t>
            </a:r>
            <a:r>
              <a:rPr lang="en-US" altLang="zh-CN" dirty="0" smtClean="0"/>
              <a:t>increments </a:t>
            </a:r>
            <a:r>
              <a:rPr lang="en-US" altLang="zh-CN" dirty="0"/>
              <a:t>is </a:t>
            </a:r>
            <a:r>
              <a:rPr lang="el-GR" altLang="zh-CN" dirty="0" smtClean="0"/>
              <a:t>Θ</a:t>
            </a:r>
            <a:r>
              <a:rPr lang="en-US" altLang="zh-CN" dirty="0" smtClean="0"/>
              <a:t>(N</a:t>
            </a:r>
            <a:r>
              <a:rPr lang="en-US" altLang="zh-CN" baseline="30000" dirty="0" smtClean="0"/>
              <a:t>2</a:t>
            </a:r>
            <a:r>
              <a:rPr lang="en-US" altLang="zh-CN" dirty="0"/>
              <a:t>).</a:t>
            </a:r>
            <a:endParaRPr lang="en-US" altLang="zh-CN" dirty="0"/>
          </a:p>
          <a:p>
            <a:pPr lvl="1"/>
            <a:r>
              <a:rPr lang="en-US" altLang="zh-CN" dirty="0"/>
              <a:t>Shell’s </a:t>
            </a:r>
            <a:r>
              <a:rPr lang="en-US" altLang="zh-CN" dirty="0" smtClean="0"/>
              <a:t>increments: </a:t>
            </a:r>
            <a:r>
              <a:rPr lang="en-US" altLang="zh-CN" dirty="0" err="1" smtClean="0"/>
              <a:t>h</a:t>
            </a:r>
            <a:r>
              <a:rPr lang="en-US" altLang="zh-CN" baseline="-25000" dirty="0" err="1" smtClean="0"/>
              <a:t>k</a:t>
            </a:r>
            <a:r>
              <a:rPr lang="en-US" altLang="zh-CN" dirty="0" smtClean="0"/>
              <a:t>=floor(N/2</a:t>
            </a:r>
            <a:r>
              <a:rPr lang="en-US" altLang="zh-CN" dirty="0"/>
              <a:t>), 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k</a:t>
            </a:r>
            <a:r>
              <a:rPr lang="en-US" altLang="zh-CN" dirty="0"/>
              <a:t>=floor( h</a:t>
            </a:r>
            <a:r>
              <a:rPr lang="en-US" altLang="zh-CN" baseline="-25000" dirty="0"/>
              <a:t>k+1</a:t>
            </a:r>
            <a:r>
              <a:rPr lang="en-US" altLang="zh-CN" dirty="0"/>
              <a:t>/2)</a:t>
            </a:r>
            <a:endParaRPr lang="en-US" altLang="zh-CN" dirty="0"/>
          </a:p>
          <a:p>
            <a:pPr lvl="1"/>
            <a:endParaRPr lang="en-US" altLang="zh-CN" baseline="-25000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8627DBB-62CE-46F5-A796-3F281D176D42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 </a:t>
            </a:r>
            <a:r>
              <a:rPr lang="en-US" altLang="zh-CN" dirty="0"/>
              <a:t>of </a:t>
            </a:r>
            <a:r>
              <a:rPr lang="en-US" altLang="zh-CN" dirty="0" err="1"/>
              <a:t>Shellsort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85" y="2234961"/>
            <a:ext cx="5915025" cy="6005226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The </a:t>
            </a:r>
            <a:r>
              <a:rPr lang="en-US" altLang="zh-CN" dirty="0"/>
              <a:t>worst-case running time of </a:t>
            </a:r>
            <a:r>
              <a:rPr lang="en-US" altLang="zh-CN" dirty="0" err="1"/>
              <a:t>Shellsort</a:t>
            </a:r>
            <a:r>
              <a:rPr lang="en-US" altLang="zh-CN" dirty="0"/>
              <a:t> using Hibbard’s increments is </a:t>
            </a:r>
            <a:r>
              <a:rPr lang="el-GR" altLang="zh-CN" dirty="0"/>
              <a:t>Θ </a:t>
            </a:r>
            <a:r>
              <a:rPr lang="en-US" altLang="zh-CN" dirty="0" smtClean="0"/>
              <a:t>(</a:t>
            </a:r>
            <a:r>
              <a:rPr lang="en-US" altLang="zh-CN" dirty="0"/>
              <a:t>N</a:t>
            </a:r>
            <a:r>
              <a:rPr lang="en-US" altLang="zh-CN" baseline="30000" dirty="0"/>
              <a:t>3/2</a:t>
            </a:r>
            <a:r>
              <a:rPr lang="en-US" altLang="zh-CN" dirty="0" smtClean="0"/>
              <a:t>).</a:t>
            </a:r>
            <a:endParaRPr lang="en-US" altLang="zh-CN" dirty="0" smtClean="0"/>
          </a:p>
          <a:p>
            <a:pPr lvl="1"/>
            <a:r>
              <a:rPr lang="en-US" altLang="zh-CN" sz="1800" dirty="0"/>
              <a:t>Hibbard’s increments: 1, 3, 7, . . . , 2</a:t>
            </a:r>
            <a:r>
              <a:rPr lang="en-US" altLang="zh-CN" sz="1800" baseline="30000" dirty="0"/>
              <a:t>k</a:t>
            </a:r>
            <a:r>
              <a:rPr lang="en-US" altLang="zh-CN" sz="1800" dirty="0"/>
              <a:t> − </a:t>
            </a:r>
            <a:r>
              <a:rPr lang="en-US" altLang="zh-CN" sz="1800" dirty="0" smtClean="0"/>
              <a:t>1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The </a:t>
            </a:r>
            <a:r>
              <a:rPr lang="en-US" altLang="zh-CN" sz="1800" dirty="0"/>
              <a:t>key difference is that consecutive increments have no common </a:t>
            </a:r>
            <a:r>
              <a:rPr lang="en-US" altLang="zh-CN" sz="1800" dirty="0" smtClean="0"/>
              <a:t>factors</a:t>
            </a:r>
            <a:endParaRPr lang="en-US" altLang="zh-CN" sz="1800" dirty="0" smtClean="0"/>
          </a:p>
          <a:p>
            <a:pPr lvl="1"/>
            <a:r>
              <a:rPr lang="en-US" altLang="zh-CN" sz="1800" dirty="0"/>
              <a:t>The average-case running time of </a:t>
            </a:r>
            <a:r>
              <a:rPr lang="en-US" altLang="zh-CN" sz="1800" dirty="0" err="1"/>
              <a:t>Shellsort</a:t>
            </a:r>
            <a:r>
              <a:rPr lang="en-US" altLang="zh-CN" sz="1800" dirty="0"/>
              <a:t>, using Hibbard’s increments, is thought </a:t>
            </a:r>
            <a:r>
              <a:rPr lang="en-US" altLang="zh-CN" sz="1800" dirty="0" smtClean="0"/>
              <a:t>to be </a:t>
            </a:r>
            <a:r>
              <a:rPr lang="en-US" altLang="zh-CN" sz="1800" dirty="0"/>
              <a:t>O(N</a:t>
            </a:r>
            <a:r>
              <a:rPr lang="en-US" altLang="zh-CN" sz="1800" baseline="30000" dirty="0"/>
              <a:t>5/4</a:t>
            </a:r>
            <a:r>
              <a:rPr lang="en-US" altLang="zh-CN" sz="1800" dirty="0" smtClean="0"/>
              <a:t>).(</a:t>
            </a:r>
            <a:r>
              <a:rPr lang="en-US" altLang="zh-CN" sz="1800" dirty="0" smtClean="0">
                <a:solidFill>
                  <a:srgbClr val="008000"/>
                </a:solidFill>
              </a:rPr>
              <a:t>not proven</a:t>
            </a:r>
            <a:r>
              <a:rPr lang="en-US" altLang="zh-CN" sz="1800" dirty="0" smtClean="0"/>
              <a:t>)</a:t>
            </a:r>
            <a:endParaRPr lang="en-US" altLang="zh-CN" sz="1800" dirty="0"/>
          </a:p>
          <a:p>
            <a:endParaRPr lang="en-US" altLang="zh-CN" dirty="0" smtClean="0"/>
          </a:p>
          <a:p>
            <a:r>
              <a:rPr lang="en-US" altLang="zh-CN" dirty="0"/>
              <a:t>The worst-case running time of </a:t>
            </a:r>
            <a:r>
              <a:rPr lang="en-US" altLang="zh-CN" dirty="0" err="1"/>
              <a:t>Shellsort</a:t>
            </a:r>
            <a:r>
              <a:rPr lang="en-US" altLang="zh-CN" dirty="0"/>
              <a:t> using Sedgewick’s increments is </a:t>
            </a:r>
            <a:r>
              <a:rPr lang="en-US" altLang="zh-CN" dirty="0" smtClean="0"/>
              <a:t>O(N</a:t>
            </a:r>
            <a:r>
              <a:rPr lang="en-US" altLang="zh-CN" baseline="30000" dirty="0" smtClean="0"/>
              <a:t>4/3</a:t>
            </a:r>
            <a:r>
              <a:rPr lang="en-US" altLang="zh-CN" dirty="0" smtClean="0"/>
              <a:t>), </a:t>
            </a:r>
            <a:r>
              <a:rPr lang="en-US" altLang="zh-CN" dirty="0"/>
              <a:t>O(N</a:t>
            </a:r>
            <a:r>
              <a:rPr lang="en-US" altLang="zh-CN" baseline="30000" dirty="0"/>
              <a:t>7/6</a:t>
            </a:r>
            <a:r>
              <a:rPr lang="en-US" altLang="zh-CN" dirty="0" smtClean="0"/>
              <a:t>) for the average-case.</a:t>
            </a:r>
            <a:endParaRPr lang="en-US" altLang="zh-CN" dirty="0"/>
          </a:p>
          <a:p>
            <a:pPr lvl="1"/>
            <a:r>
              <a:rPr lang="en-US" altLang="zh-CN" sz="1800" dirty="0" smtClean="0"/>
              <a:t>Sedgewick’s increments: 1, 5, 19, 41, 109, . . ., (</a:t>
            </a:r>
            <a:r>
              <a:rPr lang="nn-NO" altLang="zh-CN" sz="1800" dirty="0"/>
              <a:t>9 · 4</a:t>
            </a:r>
            <a:r>
              <a:rPr lang="nn-NO" altLang="zh-CN" sz="1800" baseline="30000" dirty="0"/>
              <a:t>i </a:t>
            </a:r>
            <a:r>
              <a:rPr lang="nn-NO" altLang="zh-CN" sz="1800" dirty="0"/>
              <a:t>− 9 · 2</a:t>
            </a:r>
            <a:r>
              <a:rPr lang="nn-NO" altLang="zh-CN" sz="1800" baseline="30000" dirty="0"/>
              <a:t>i</a:t>
            </a:r>
            <a:r>
              <a:rPr lang="nn-NO" altLang="zh-CN" sz="1800" dirty="0"/>
              <a:t> + 1 </a:t>
            </a:r>
            <a:r>
              <a:rPr lang="nn-NO" altLang="zh-CN" sz="1800" dirty="0" smtClean="0"/>
              <a:t>or 4</a:t>
            </a:r>
            <a:r>
              <a:rPr lang="nn-NO" altLang="zh-CN" sz="1800" baseline="30000" dirty="0" smtClean="0"/>
              <a:t>i</a:t>
            </a:r>
            <a:r>
              <a:rPr lang="nn-NO" altLang="zh-CN" sz="1800" dirty="0" smtClean="0"/>
              <a:t> </a:t>
            </a:r>
            <a:r>
              <a:rPr lang="nn-NO" altLang="zh-CN" sz="1800" dirty="0"/>
              <a:t>− 3 · 2</a:t>
            </a:r>
            <a:r>
              <a:rPr lang="nn-NO" altLang="zh-CN" sz="1800" baseline="30000" dirty="0"/>
              <a:t>i</a:t>
            </a:r>
            <a:r>
              <a:rPr lang="nn-NO" altLang="zh-CN" sz="1800" dirty="0"/>
              <a:t> + 1</a:t>
            </a:r>
            <a:r>
              <a:rPr lang="en-US" altLang="zh-CN" sz="1800" dirty="0"/>
              <a:t>). (</a:t>
            </a:r>
            <a:r>
              <a:rPr lang="en-US" altLang="zh-CN" sz="1800" dirty="0">
                <a:solidFill>
                  <a:srgbClr val="008000"/>
                </a:solidFill>
              </a:rPr>
              <a:t>best known in practice</a:t>
            </a:r>
            <a:r>
              <a:rPr lang="en-US" altLang="zh-CN" sz="1800" dirty="0"/>
              <a:t>)</a:t>
            </a:r>
            <a:endParaRPr lang="en-US" altLang="zh-CN" sz="1800" dirty="0" smtClean="0"/>
          </a:p>
          <a:p>
            <a:pPr lvl="1"/>
            <a:endParaRPr lang="en-US" altLang="zh-CN" sz="1800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8627DBB-62CE-46F5-A796-3F281D176D42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fld id="{8599638F-3EBB-43FB-A498-A7B7BC3205C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 7-2 Sorting II</a:t>
            </a:r>
            <a:endParaRPr lang="en-US" altLang="zh-CN" sz="105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A5548710-F44E-4FF9-994D-CB2FA37D1ADE}" type="slidenum">
              <a:rPr lang="en-US" altLang="zh-CN" sz="1050"/>
            </a:fld>
            <a:endParaRPr lang="en-US" altLang="zh-CN" sz="105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Properties of </a:t>
            </a:r>
            <a:r>
              <a:rPr lang="en-US" altLang="zh-CN" dirty="0" err="1" smtClean="0">
                <a:ea typeface="宋体" pitchFamily="2" charset="-122"/>
              </a:rPr>
              <a:t>Shellsort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zh-CN" sz="2800" dirty="0" err="1" smtClean="0">
                <a:ea typeface="宋体" pitchFamily="2" charset="-122"/>
              </a:rPr>
              <a:t>Shellsort</a:t>
            </a:r>
            <a:r>
              <a:rPr lang="en-US" altLang="zh-CN" sz="2800" dirty="0" smtClean="0">
                <a:ea typeface="宋体" pitchFamily="2" charset="-122"/>
              </a:rPr>
              <a:t> is in-place</a:t>
            </a:r>
            <a:endParaRPr lang="en-US" altLang="zh-CN" sz="2800" dirty="0" smtClean="0">
              <a:ea typeface="宋体" pitchFamily="2" charset="-122"/>
            </a:endParaRPr>
          </a:p>
          <a:p>
            <a:endParaRPr lang="en-US" altLang="zh-CN" sz="2800" dirty="0" smtClean="0">
              <a:ea typeface="宋体" pitchFamily="2" charset="-122"/>
            </a:endParaRPr>
          </a:p>
          <a:p>
            <a:r>
              <a:rPr lang="en-US" altLang="zh-CN" sz="2800" dirty="0" err="1" smtClean="0"/>
              <a:t>Shellsort</a:t>
            </a:r>
            <a:r>
              <a:rPr lang="en-US" altLang="zh-CN" sz="2800" dirty="0" smtClean="0"/>
              <a:t> is not stable</a:t>
            </a:r>
            <a:endParaRPr lang="en-US" altLang="zh-CN" sz="2800" dirty="0" smtClean="0"/>
          </a:p>
          <a:p>
            <a:pPr lvl="1"/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Homework 5-1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T</a:t>
            </a:r>
            <a:r>
              <a:rPr lang="en-US" altLang="zh-CN" dirty="0" smtClean="0"/>
              <a:t>o Implement </a:t>
            </a:r>
            <a:r>
              <a:rPr lang="en-US" altLang="zh-CN" dirty="0"/>
              <a:t>all sorting algorithms </a:t>
            </a:r>
            <a:r>
              <a:rPr lang="en-US" altLang="zh-CN" dirty="0" smtClean="0"/>
              <a:t>discussed. (</a:t>
            </a:r>
            <a:r>
              <a:rPr lang="en-US" altLang="zh-CN" dirty="0" smtClean="0">
                <a:solidFill>
                  <a:srgbClr val="FF0000"/>
                </a:solidFill>
              </a:rPr>
              <a:t>The mission is not homework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en-US" altLang="zh-CN" dirty="0" smtClean="0"/>
              <a:t>Textbook exercises 7.2, 7.4, 7.9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8533C-8186-4F96-AFFE-5B2D104E341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11390</Words>
  <Application>WPS 文字</Application>
  <PresentationFormat>全屏显示(4:3)</PresentationFormat>
  <Paragraphs>771</Paragraphs>
  <Slides>38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9" baseType="lpstr">
      <vt:lpstr>Arial</vt:lpstr>
      <vt:lpstr>宋体</vt:lpstr>
      <vt:lpstr>Wingdings</vt:lpstr>
      <vt:lpstr>Sitka Small</vt:lpstr>
      <vt:lpstr>苹方-简</vt:lpstr>
      <vt:lpstr>Times New Roman</vt:lpstr>
      <vt:lpstr>Wingdings 2</vt:lpstr>
      <vt:lpstr>Sitka Text</vt:lpstr>
      <vt:lpstr>宋体-简</vt:lpstr>
      <vt:lpstr>Courier New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Symbol</vt:lpstr>
      <vt:lpstr>Kingsoft Sign</vt:lpstr>
      <vt:lpstr>HDOfficeLightV0</vt:lpstr>
      <vt:lpstr>Equation.3</vt:lpstr>
      <vt:lpstr>Sorting</vt:lpstr>
      <vt:lpstr>contents</vt:lpstr>
      <vt:lpstr>Sorting</vt:lpstr>
      <vt:lpstr>Terminology and Notation</vt:lpstr>
      <vt:lpstr>Terminology and Notation</vt:lpstr>
      <vt:lpstr>Terminology and Notation</vt:lpstr>
      <vt:lpstr>Space</vt:lpstr>
      <vt:lpstr>Time</vt:lpstr>
      <vt:lpstr>PowerPoint 演示文稿</vt:lpstr>
      <vt:lpstr>Stability</vt:lpstr>
      <vt:lpstr>Θ(n2) Sorting Algorithms </vt:lpstr>
      <vt:lpstr>Bubble Sort</vt:lpstr>
      <vt:lpstr>Bubble Sort</vt:lpstr>
      <vt:lpstr>Bubblesort</vt:lpstr>
      <vt:lpstr>Bubble Sort</vt:lpstr>
      <vt:lpstr>Selection Sort</vt:lpstr>
      <vt:lpstr>Selection Sort</vt:lpstr>
      <vt:lpstr>Selection Sort</vt:lpstr>
      <vt:lpstr>Selection Sort</vt:lpstr>
      <vt:lpstr>Insertion Sort </vt:lpstr>
      <vt:lpstr>Insertion Sort</vt:lpstr>
      <vt:lpstr>Insertion Sort </vt:lpstr>
      <vt:lpstr>Insertion Sort</vt:lpstr>
      <vt:lpstr>Insertion Sort </vt:lpstr>
      <vt:lpstr>Insertion Sort Characteristics</vt:lpstr>
      <vt:lpstr>The Cost of Exchange Sorting</vt:lpstr>
      <vt:lpstr>The Cost of Exchange Sorting</vt:lpstr>
      <vt:lpstr>Properties of Bubble, Selection &amp; Insertion</vt:lpstr>
      <vt:lpstr>Shellsort</vt:lpstr>
      <vt:lpstr>Shellsort</vt:lpstr>
      <vt:lpstr>Shellsort</vt:lpstr>
      <vt:lpstr>Shellsort</vt:lpstr>
      <vt:lpstr>Shellsort (VI)</vt:lpstr>
      <vt:lpstr>Shellsort </vt:lpstr>
      <vt:lpstr>Analysis of Shellsort</vt:lpstr>
      <vt:lpstr>Analysis of Shellsort</vt:lpstr>
      <vt:lpstr>Properties of Shellsort</vt:lpstr>
      <vt:lpstr>Homework 5-1 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JXWang</cp:lastModifiedBy>
  <cp:revision>845</cp:revision>
  <dcterms:created xsi:type="dcterms:W3CDTF">2025-05-05T13:13:48Z</dcterms:created>
  <dcterms:modified xsi:type="dcterms:W3CDTF">2025-05-05T13:13:48Z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C828AC48A80053849EB41868EF1D81F1_43</vt:lpwstr>
  </property>
</Properties>
</file>