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651" r:id="rId3"/>
    <p:sldId id="1297" r:id="rId5"/>
    <p:sldId id="1173" r:id="rId6"/>
    <p:sldId id="1174" r:id="rId7"/>
    <p:sldId id="1175" r:id="rId8"/>
    <p:sldId id="1176" r:id="rId9"/>
    <p:sldId id="1177" r:id="rId10"/>
    <p:sldId id="1178" r:id="rId11"/>
    <p:sldId id="1179" r:id="rId12"/>
    <p:sldId id="1180" r:id="rId13"/>
    <p:sldId id="1181" r:id="rId14"/>
    <p:sldId id="1336" r:id="rId15"/>
    <p:sldId id="1182" r:id="rId16"/>
    <p:sldId id="1183" r:id="rId17"/>
    <p:sldId id="1184" r:id="rId18"/>
    <p:sldId id="1185" r:id="rId19"/>
    <p:sldId id="1186" r:id="rId20"/>
    <p:sldId id="1187" r:id="rId21"/>
    <p:sldId id="1189" r:id="rId22"/>
    <p:sldId id="1305" r:id="rId23"/>
    <p:sldId id="1298" r:id="rId24"/>
    <p:sldId id="1306" r:id="rId25"/>
    <p:sldId id="1299" r:id="rId26"/>
    <p:sldId id="1308" r:id="rId27"/>
    <p:sldId id="1311" r:id="rId28"/>
    <p:sldId id="1312" r:id="rId29"/>
    <p:sldId id="1313" r:id="rId30"/>
    <p:sldId id="1314" r:id="rId31"/>
    <p:sldId id="1315" r:id="rId32"/>
    <p:sldId id="1316" r:id="rId33"/>
    <p:sldId id="1323" r:id="rId34"/>
    <p:sldId id="1318" r:id="rId35"/>
    <p:sldId id="1320" r:id="rId36"/>
    <p:sldId id="1321" r:id="rId37"/>
    <p:sldId id="1319" r:id="rId38"/>
    <p:sldId id="1201" r:id="rId39"/>
    <p:sldId id="1202" r:id="rId40"/>
    <p:sldId id="1203" r:id="rId41"/>
    <p:sldId id="1325" r:id="rId42"/>
    <p:sldId id="1204" r:id="rId43"/>
    <p:sldId id="1326" r:id="rId44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008000"/>
    <a:srgbClr val="DDDDDD"/>
    <a:srgbClr val="99CCFF"/>
    <a:srgbClr val="3A3AB9"/>
    <a:srgbClr val="5D26F8"/>
    <a:srgbClr val="CC0000"/>
    <a:srgbClr val="5252D4"/>
    <a:srgbClr val="B545B5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6429" autoAdjust="0"/>
  </p:normalViewPr>
  <p:slideViewPr>
    <p:cSldViewPr>
      <p:cViewPr varScale="1">
        <p:scale>
          <a:sx n="82" d="100"/>
          <a:sy n="82" d="100"/>
        </p:scale>
        <p:origin x="2844" y="90"/>
      </p:cViewPr>
      <p:guideLst>
        <p:guide orient="horz" pos="2814"/>
        <p:guide pos="21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881D9A-ACAD-45B8-9573-A20562D56295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5D908C-E78D-4B91-B420-AF63C54C43FE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9913"/>
            <a:ext cx="5083175" cy="4148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endParaRPr lang="en-US" altLang="zh-CN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222861-7220-4421-AEEF-83A837934C8A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96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89075" y="4379913"/>
            <a:ext cx="5087938" cy="4148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endParaRPr lang="en-US" altLang="zh-CN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smtClean="0">
              <a:ea typeface="SimSun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2C9209-3240-4D7F-80CB-7A12F77A47F0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08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7450" y="4379913"/>
            <a:ext cx="5084763" cy="4148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endParaRPr lang="en-US" altLang="zh-CN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C7499190-FDCA-4FF9-AF70-A5A53BA2D8EA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F8A0E6-8DFD-4D60-A5EF-FB2C5F22BB17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9913"/>
            <a:ext cx="5083175" cy="4148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DE5293-2A87-4370-86FE-991F49912763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79913"/>
            <a:ext cx="5083175" cy="4148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61" tIns="45032" rIns="90061" bIns="45032"/>
          <a:lstStyle/>
          <a:p>
            <a:r>
              <a:rPr lang="en-US" altLang="zh-CN" dirty="0" smtClean="0">
                <a:ea typeface="SimSun" pitchFamily="2" charset="-122"/>
              </a:rPr>
              <a:t>To polish this off, note that it’s an inductive proof.</a:t>
            </a:r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Proof of 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Dijkstra's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algorithm is constructed by induction on the number of visited nodes.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Invariant hypothesis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: For each node v,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 is the shortest distance from source to v when traveling via visited nodes only, or infinity if no such path exists. (Note: we do not assume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 is the actual shortest distance for unvisited nodes.)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base case is when there is just one visited node, namely the initial node source, in which case the hypothesis is trivial.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Otherwise, assume the hypothesis for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n-1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visited nodes. In which case, we choose an edge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v,u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where u has the least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 of any unvisited nodes and the edge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v,u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is such that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 =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 + length[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v,u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].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 is considered to be the shortest distance from source to u because if there were a shorter path, and if w was the first unvisited node on that path then by the original hypothesis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[w] &gt;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 which creates a contradiction. Similarly if there were a shorter path to u without using unvisited nodes, and if the last but one node on that path were w, then we would have had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[u] =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[w] + length[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w,u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], also a contradiction.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After processing u it will still be true that for each unvisited node w,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[w] will be the shortest distance from source to w using visited nodes only, because if there were a shorter path that doesn't go by u we would have found it previously, and if there were a shorter path using u we would have updated it when processing u.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After all nodes are visited, the shortest path from source to any node v consists only of visited nodes, therefore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dist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[v] is the shortest distance.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 dirty="0" smtClean="0">
              <a:ea typeface="SimSun" pitchFamily="2" charset="-122"/>
            </a:endParaRPr>
          </a:p>
          <a:p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Here’s the other problem with negative weights. </a:t>
            </a:r>
            <a:endParaRPr lang="en-US" altLang="zh-CN" dirty="0" smtClean="0">
              <a:ea typeface="SimSun" pitchFamily="2" charset="-122"/>
            </a:endParaRPr>
          </a:p>
          <a:p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A negative weight could make it actually better to wander outside the cloud for a while instead of going straight to a new unknown node.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02CC33-474D-41B4-A331-35D74BCD4E3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AB26A0-6B1E-49B3-9926-4931363C3B0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FD216C-29CE-4EFB-8E59-60BC06D9525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CCCCD8-C732-404F-B4A0-F8E87E87076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2D087-416F-4201-8BBC-5C9C4352BC7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9C05E4-B627-4D01-878C-F02F9BC4359C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810087-9B4F-4C82-8B49-6F68EBE9CCD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E7DB05-5C1F-4531-81EB-AC383C45396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C64339-BA88-4071-93CA-5AE606BC290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76E96-2959-4228-A59D-5B0897F27C9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C5D008-4AE4-4C01-A0BA-953F2C76ABE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F69B8F7-957F-4AAD-A3EF-76AAD11061C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Graph Algorithms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425"/>
            <a:ext cx="5143500" cy="205867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Shortest-Path </a:t>
            </a:r>
            <a:r>
              <a:rPr lang="en-US" altLang="zh-CN" dirty="0"/>
              <a:t>Algorithms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Section 9.3 </a:t>
            </a:r>
            <a:endParaRPr lang="zh-CN" altLang="en-US" sz="2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634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3CD81C-F7E6-4487-A152-A33534F825D2}" type="slidenum">
              <a:rPr lang="en-US" altLang="zh-CN" sz="1050"/>
            </a:fld>
            <a:endParaRPr lang="en-US" altLang="zh-CN" sz="1050"/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2869138"/>
            <a:ext cx="5981700" cy="13409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Path cost</a:t>
            </a:r>
            <a:r>
              <a:rPr lang="en-US" altLang="zh-CN" sz="2100" dirty="0">
                <a:ea typeface="SimSun" pitchFamily="2" charset="-122"/>
              </a:rPr>
              <a:t>: the sum of the costs of each edge</a:t>
            </a:r>
            <a:endParaRPr lang="en-US" altLang="zh-CN" sz="21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Path length</a:t>
            </a:r>
            <a:r>
              <a:rPr lang="en-US" altLang="zh-CN" sz="2100" dirty="0">
                <a:ea typeface="SimSun" pitchFamily="2" charset="-122"/>
              </a:rPr>
              <a:t>: the number of edges in the path</a:t>
            </a:r>
            <a:endParaRPr lang="en-US" altLang="zh-CN" sz="2100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SimSun" pitchFamily="2" charset="-122"/>
              </a:rPr>
              <a:t>Path length is the unweighted path cost</a:t>
            </a:r>
            <a:endParaRPr lang="en-US" altLang="zh-CN" sz="1800" dirty="0">
              <a:ea typeface="SimSun" pitchFamily="2" charset="-122"/>
            </a:endParaRPr>
          </a:p>
        </p:txBody>
      </p:sp>
      <p:sp>
        <p:nvSpPr>
          <p:cNvPr id="63495" name="Oval 4"/>
          <p:cNvSpPr>
            <a:spLocks noChangeAspect="1" noChangeArrowheads="1"/>
          </p:cNvSpPr>
          <p:nvPr/>
        </p:nvSpPr>
        <p:spPr bwMode="auto">
          <a:xfrm>
            <a:off x="1928813" y="5943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496" name="Oval 5"/>
          <p:cNvSpPr>
            <a:spLocks noChangeAspect="1" noChangeArrowheads="1"/>
          </p:cNvSpPr>
          <p:nvPr/>
        </p:nvSpPr>
        <p:spPr bwMode="auto">
          <a:xfrm>
            <a:off x="1757363" y="4731544"/>
            <a:ext cx="285750" cy="2857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Sitka Text" panose="02000505000000020004" pitchFamily="2" charset="0"/>
              <a:ea typeface="SimSun" pitchFamily="2" charset="-122"/>
            </a:endParaRPr>
          </a:p>
        </p:txBody>
      </p:sp>
      <p:cxnSp>
        <p:nvCxnSpPr>
          <p:cNvPr id="63497" name="AutoShape 6"/>
          <p:cNvCxnSpPr>
            <a:cxnSpLocks noChangeShapeType="1"/>
            <a:stCxn id="63495" idx="0"/>
            <a:endCxn id="63496" idx="4"/>
          </p:cNvCxnSpPr>
          <p:nvPr/>
        </p:nvCxnSpPr>
        <p:spPr bwMode="auto">
          <a:xfrm flipH="1" flipV="1">
            <a:off x="1900238" y="5031581"/>
            <a:ext cx="171450" cy="901304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498" name="Oval 7"/>
          <p:cNvSpPr>
            <a:spLocks noChangeAspect="1" noChangeArrowheads="1"/>
          </p:cNvSpPr>
          <p:nvPr/>
        </p:nvSpPr>
        <p:spPr bwMode="auto">
          <a:xfrm>
            <a:off x="3028950" y="53721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499" name="Oval 8"/>
          <p:cNvSpPr>
            <a:spLocks noChangeAspect="1" noChangeArrowheads="1"/>
          </p:cNvSpPr>
          <p:nvPr/>
        </p:nvSpPr>
        <p:spPr bwMode="auto">
          <a:xfrm>
            <a:off x="4386263" y="61722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00" name="Oval 9"/>
          <p:cNvSpPr>
            <a:spLocks noChangeAspect="1" noChangeArrowheads="1"/>
          </p:cNvSpPr>
          <p:nvPr/>
        </p:nvSpPr>
        <p:spPr bwMode="auto">
          <a:xfrm>
            <a:off x="5186363" y="4960144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Sitka Text" panose="02000505000000020004" pitchFamily="2" charset="0"/>
              <a:ea typeface="SimSun" pitchFamily="2" charset="-122"/>
            </a:endParaRPr>
          </a:p>
        </p:txBody>
      </p:sp>
      <p:cxnSp>
        <p:nvCxnSpPr>
          <p:cNvPr id="63501" name="AutoShape 10"/>
          <p:cNvCxnSpPr>
            <a:cxnSpLocks noChangeShapeType="1"/>
            <a:stCxn id="63500" idx="4"/>
            <a:endCxn id="63499" idx="7"/>
          </p:cNvCxnSpPr>
          <p:nvPr/>
        </p:nvCxnSpPr>
        <p:spPr bwMode="auto">
          <a:xfrm flipH="1">
            <a:off x="4630341" y="5256610"/>
            <a:ext cx="698897" cy="946547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2" name="AutoShape 11"/>
          <p:cNvCxnSpPr>
            <a:cxnSpLocks noChangeShapeType="1"/>
            <a:stCxn id="63500" idx="2"/>
            <a:endCxn id="63496" idx="6"/>
          </p:cNvCxnSpPr>
          <p:nvPr/>
        </p:nvCxnSpPr>
        <p:spPr bwMode="auto">
          <a:xfrm flipH="1" flipV="1">
            <a:off x="2057401" y="4874419"/>
            <a:ext cx="3118247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3" name="AutoShape 12"/>
          <p:cNvCxnSpPr>
            <a:cxnSpLocks noChangeShapeType="1"/>
            <a:stCxn id="63496" idx="5"/>
            <a:endCxn id="63498" idx="1"/>
          </p:cNvCxnSpPr>
          <p:nvPr/>
        </p:nvCxnSpPr>
        <p:spPr bwMode="auto">
          <a:xfrm>
            <a:off x="2001442" y="4989910"/>
            <a:ext cx="1069181" cy="413147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4" name="AutoShape 13"/>
          <p:cNvCxnSpPr>
            <a:cxnSpLocks noChangeShapeType="1"/>
            <a:stCxn id="63495" idx="7"/>
            <a:endCxn id="63498" idx="3"/>
          </p:cNvCxnSpPr>
          <p:nvPr/>
        </p:nvCxnSpPr>
        <p:spPr bwMode="auto">
          <a:xfrm flipV="1">
            <a:off x="2172892" y="5626894"/>
            <a:ext cx="897731" cy="347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5" name="AutoShape 14"/>
          <p:cNvCxnSpPr>
            <a:cxnSpLocks noChangeShapeType="1"/>
            <a:stCxn id="63498" idx="5"/>
            <a:endCxn id="63499" idx="1"/>
          </p:cNvCxnSpPr>
          <p:nvPr/>
        </p:nvCxnSpPr>
        <p:spPr bwMode="auto">
          <a:xfrm>
            <a:off x="3273029" y="5626894"/>
            <a:ext cx="1154906" cy="576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6" name="AutoShape 15"/>
          <p:cNvCxnSpPr>
            <a:cxnSpLocks noChangeShapeType="1"/>
            <a:stCxn id="63498" idx="7"/>
            <a:endCxn id="63500" idx="3"/>
          </p:cNvCxnSpPr>
          <p:nvPr/>
        </p:nvCxnSpPr>
        <p:spPr bwMode="auto">
          <a:xfrm flipV="1">
            <a:off x="3273029" y="5214938"/>
            <a:ext cx="1955006" cy="188119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7" name="AutoShape 16"/>
          <p:cNvCxnSpPr>
            <a:cxnSpLocks noChangeShapeType="1"/>
            <a:stCxn id="63499" idx="2"/>
            <a:endCxn id="63495" idx="6"/>
          </p:cNvCxnSpPr>
          <p:nvPr/>
        </p:nvCxnSpPr>
        <p:spPr bwMode="auto">
          <a:xfrm flipH="1" flipV="1">
            <a:off x="2225279" y="6086475"/>
            <a:ext cx="2150269" cy="228600"/>
          </a:xfrm>
          <a:prstGeom prst="straightConnector1">
            <a:avLst/>
          </a:prstGeom>
          <a:noFill/>
          <a:ln w="3810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508" name="Text Box 17"/>
          <p:cNvSpPr txBox="1">
            <a:spLocks noChangeArrowheads="1"/>
          </p:cNvSpPr>
          <p:nvPr/>
        </p:nvSpPr>
        <p:spPr bwMode="auto">
          <a:xfrm>
            <a:off x="881704" y="4674394"/>
            <a:ext cx="9108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Peking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09" name="Text Box 18"/>
          <p:cNvSpPr txBox="1">
            <a:spLocks noChangeArrowheads="1"/>
          </p:cNvSpPr>
          <p:nvPr/>
        </p:nvSpPr>
        <p:spPr bwMode="auto">
          <a:xfrm>
            <a:off x="1526335" y="6305551"/>
            <a:ext cx="6735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Xian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0" name="Text Box 19"/>
          <p:cNvSpPr txBox="1">
            <a:spLocks noChangeArrowheads="1"/>
          </p:cNvSpPr>
          <p:nvPr/>
        </p:nvSpPr>
        <p:spPr bwMode="auto">
          <a:xfrm>
            <a:off x="4214813" y="6457950"/>
            <a:ext cx="13901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Guangzhou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1" name="Text Box 20"/>
          <p:cNvSpPr txBox="1">
            <a:spLocks noChangeArrowheads="1"/>
          </p:cNvSpPr>
          <p:nvPr/>
        </p:nvSpPr>
        <p:spPr bwMode="auto">
          <a:xfrm>
            <a:off x="5157645" y="4540806"/>
            <a:ext cx="11817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Shanghai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2" name="Text Box 21"/>
          <p:cNvSpPr txBox="1">
            <a:spLocks noChangeArrowheads="1"/>
          </p:cNvSpPr>
          <p:nvPr/>
        </p:nvSpPr>
        <p:spPr bwMode="auto">
          <a:xfrm>
            <a:off x="3365898" y="5386150"/>
            <a:ext cx="1016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Wuhan 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3" name="Text Box 22"/>
          <p:cNvSpPr txBox="1">
            <a:spLocks noChangeArrowheads="1"/>
          </p:cNvSpPr>
          <p:nvPr/>
        </p:nvSpPr>
        <p:spPr bwMode="auto">
          <a:xfrm>
            <a:off x="3459956" y="4685110"/>
            <a:ext cx="30008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4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4" name="Text Box 23"/>
          <p:cNvSpPr txBox="1">
            <a:spLocks noChangeArrowheads="1"/>
          </p:cNvSpPr>
          <p:nvPr/>
        </p:nvSpPr>
        <p:spPr bwMode="auto">
          <a:xfrm>
            <a:off x="2743200" y="5029200"/>
            <a:ext cx="29367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2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5" name="Text Box 24"/>
          <p:cNvSpPr txBox="1">
            <a:spLocks noChangeArrowheads="1"/>
          </p:cNvSpPr>
          <p:nvPr/>
        </p:nvSpPr>
        <p:spPr bwMode="auto">
          <a:xfrm>
            <a:off x="3943350" y="5086350"/>
            <a:ext cx="29367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2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6" name="Text Box 25"/>
          <p:cNvSpPr txBox="1">
            <a:spLocks noChangeArrowheads="1"/>
          </p:cNvSpPr>
          <p:nvPr/>
        </p:nvSpPr>
        <p:spPr bwMode="auto">
          <a:xfrm>
            <a:off x="5004197" y="5707857"/>
            <a:ext cx="29367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2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7" name="Text Box 26"/>
          <p:cNvSpPr txBox="1">
            <a:spLocks noChangeArrowheads="1"/>
          </p:cNvSpPr>
          <p:nvPr/>
        </p:nvSpPr>
        <p:spPr bwMode="auto">
          <a:xfrm>
            <a:off x="2957512" y="5886450"/>
            <a:ext cx="29206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3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8" name="Text Box 27"/>
          <p:cNvSpPr txBox="1">
            <a:spLocks noChangeArrowheads="1"/>
          </p:cNvSpPr>
          <p:nvPr/>
        </p:nvSpPr>
        <p:spPr bwMode="auto">
          <a:xfrm>
            <a:off x="1757362" y="5412582"/>
            <a:ext cx="29367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2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19" name="Text Box 28"/>
          <p:cNvSpPr txBox="1">
            <a:spLocks noChangeArrowheads="1"/>
          </p:cNvSpPr>
          <p:nvPr/>
        </p:nvSpPr>
        <p:spPr bwMode="auto">
          <a:xfrm>
            <a:off x="2457450" y="5486400"/>
            <a:ext cx="29367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2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20" name="Text Box 29"/>
          <p:cNvSpPr txBox="1">
            <a:spLocks noChangeArrowheads="1"/>
          </p:cNvSpPr>
          <p:nvPr/>
        </p:nvSpPr>
        <p:spPr bwMode="auto">
          <a:xfrm>
            <a:off x="3886200" y="5715000"/>
            <a:ext cx="29206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latin typeface="Sitka Text" panose="02000505000000020004" pitchFamily="2" charset="0"/>
                <a:ea typeface="SimSun" pitchFamily="2" charset="-122"/>
              </a:rPr>
              <a:t>3</a:t>
            </a:r>
            <a:endParaRPr lang="en-US" altLang="zh-CN" sz="150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21" name="Text Box 30"/>
          <p:cNvSpPr txBox="1">
            <a:spLocks noChangeArrowheads="1"/>
          </p:cNvSpPr>
          <p:nvPr/>
        </p:nvSpPr>
        <p:spPr bwMode="auto">
          <a:xfrm>
            <a:off x="2474037" y="7104980"/>
            <a:ext cx="16161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Sitka Text" panose="02000505000000020004" pitchFamily="2" charset="0"/>
                <a:ea typeface="SimSun" pitchFamily="2" charset="-122"/>
              </a:rPr>
              <a:t>length(p) = 5</a:t>
            </a:r>
            <a:endParaRPr lang="en-US" altLang="zh-CN" sz="1800" dirty="0">
              <a:solidFill>
                <a:srgbClr val="0000FF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63522" name="Text Box 31"/>
          <p:cNvSpPr txBox="1">
            <a:spLocks noChangeArrowheads="1"/>
          </p:cNvSpPr>
          <p:nvPr/>
        </p:nvSpPr>
        <p:spPr bwMode="auto">
          <a:xfrm>
            <a:off x="2512220" y="7488138"/>
            <a:ext cx="14494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Sitka Text" panose="02000505000000020004" pitchFamily="2" charset="0"/>
                <a:ea typeface="SimSun" pitchFamily="2" charset="-122"/>
              </a:rPr>
              <a:t>cost(p) = 11</a:t>
            </a:r>
            <a:endParaRPr lang="en-US" altLang="zh-CN" sz="1800" dirty="0">
              <a:solidFill>
                <a:srgbClr val="0000FF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Path cost ,Path length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655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CCD7DA-03A6-4EF3-83D5-A4EFD5774D36}" type="slidenum">
              <a:rPr lang="en-US" altLang="zh-CN" sz="1050"/>
            </a:fld>
            <a:endParaRPr lang="en-US" altLang="zh-CN" sz="105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Shortest Path Problems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627784"/>
            <a:ext cx="6172200" cy="3944466"/>
          </a:xfrm>
        </p:spPr>
        <p:txBody>
          <a:bodyPr/>
          <a:lstStyle/>
          <a:p>
            <a:pPr>
              <a:lnSpc>
                <a:spcPct val="95000"/>
              </a:lnSpc>
            </a:pPr>
            <a:r>
              <a:rPr lang="en-US" altLang="zh-CN" sz="2100" dirty="0">
                <a:ea typeface="SimSun" pitchFamily="2" charset="-122"/>
              </a:rPr>
              <a:t>Given a graph G = (</a:t>
            </a:r>
            <a:r>
              <a:rPr lang="en-US" altLang="zh-CN" sz="2100" i="1" dirty="0">
                <a:ea typeface="SimSun" pitchFamily="2" charset="-122"/>
              </a:rPr>
              <a:t>V, E</a:t>
            </a:r>
            <a:r>
              <a:rPr lang="en-US" altLang="zh-CN" sz="2100" dirty="0">
                <a:ea typeface="SimSun" pitchFamily="2" charset="-122"/>
              </a:rPr>
              <a:t>) and a “source” vertex </a:t>
            </a:r>
            <a:r>
              <a:rPr lang="en-US" altLang="zh-CN" sz="2100" i="1" dirty="0">
                <a:ea typeface="SimSun" pitchFamily="2" charset="-122"/>
              </a:rPr>
              <a:t>s</a:t>
            </a:r>
            <a:r>
              <a:rPr lang="en-US" altLang="zh-CN" sz="2100" dirty="0">
                <a:ea typeface="SimSun" pitchFamily="2" charset="-122"/>
              </a:rPr>
              <a:t> in </a:t>
            </a:r>
            <a:r>
              <a:rPr lang="en-US" altLang="zh-CN" sz="2100" i="1" dirty="0">
                <a:ea typeface="SimSun" pitchFamily="2" charset="-122"/>
              </a:rPr>
              <a:t>V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, find the </a:t>
            </a:r>
            <a:r>
              <a:rPr lang="en-US" altLang="zh-CN" sz="2100" u="sng" dirty="0">
                <a:solidFill>
                  <a:srgbClr val="0000FF"/>
                </a:solidFill>
                <a:ea typeface="SimSun" pitchFamily="2" charset="-122"/>
                <a:sym typeface="Symbol" panose="05050102010706020507" pitchFamily="18" charset="2"/>
              </a:rPr>
              <a:t>minimum cost paths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 from </a:t>
            </a:r>
            <a:r>
              <a:rPr lang="en-US" altLang="zh-CN" sz="2100" i="1" dirty="0">
                <a:ea typeface="SimSun" pitchFamily="2" charset="-122"/>
                <a:sym typeface="Symbol" panose="05050102010706020507" pitchFamily="18" charset="2"/>
              </a:rPr>
              <a:t>s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 to every vertex in </a:t>
            </a:r>
            <a:r>
              <a:rPr lang="en-US" altLang="zh-CN" sz="2100" i="1" dirty="0">
                <a:ea typeface="SimSun" pitchFamily="2" charset="-122"/>
              </a:rPr>
              <a:t>V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 </a:t>
            </a:r>
            <a:endParaRPr lang="en-US" altLang="zh-CN" sz="2100" dirty="0" smtClean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5000"/>
              </a:lnSpc>
            </a:pPr>
            <a:r>
              <a:rPr lang="en-US" altLang="zh-CN" sz="1800" dirty="0">
                <a:sym typeface="Symbol" panose="05050102010706020507" pitchFamily="18" charset="2"/>
              </a:rPr>
              <a:t>Single-Source Shortest Paths </a:t>
            </a:r>
            <a:r>
              <a:rPr lang="en-US" altLang="zh-CN" sz="1800" dirty="0" smtClean="0">
                <a:sym typeface="Symbol" panose="05050102010706020507" pitchFamily="18" charset="2"/>
              </a:rPr>
              <a:t>problem</a:t>
            </a:r>
            <a:endParaRPr lang="en-US" altLang="zh-CN" sz="1800" dirty="0" smtClean="0">
              <a:sym typeface="Symbol" panose="05050102010706020507" pitchFamily="18" charset="2"/>
            </a:endParaRPr>
          </a:p>
          <a:p>
            <a:pPr lvl="1">
              <a:lnSpc>
                <a:spcPct val="95000"/>
              </a:lnSpc>
            </a:pPr>
            <a:endParaRPr lang="en-US" altLang="zh-CN" sz="1700" dirty="0">
              <a:ea typeface="SimSun" pitchFamily="2" charset="-122"/>
              <a:sym typeface="Symbol" panose="05050102010706020507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zh-CN" sz="2100" u="sng" dirty="0">
                <a:solidFill>
                  <a:srgbClr val="0000FF"/>
                </a:solidFill>
                <a:ea typeface="SimSun" pitchFamily="2" charset="-122"/>
                <a:sym typeface="Symbol" panose="05050102010706020507" pitchFamily="18" charset="2"/>
              </a:rPr>
              <a:t>Many variations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:</a:t>
            </a:r>
            <a:endParaRPr lang="en-US" altLang="zh-CN" sz="2100" dirty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5000"/>
              </a:lnSpc>
            </a:pPr>
            <a:r>
              <a:rPr lang="en-US" altLang="zh-CN" dirty="0" smtClean="0">
                <a:ea typeface="SimSun" pitchFamily="2" charset="-122"/>
              </a:rPr>
              <a:t>unweighted vs. weighted</a:t>
            </a:r>
            <a:endParaRPr lang="en-US" altLang="zh-CN" dirty="0" smtClean="0">
              <a:ea typeface="SimSun" pitchFamily="2" charset="-122"/>
            </a:endParaRPr>
          </a:p>
          <a:p>
            <a:pPr lvl="1">
              <a:lnSpc>
                <a:spcPct val="95000"/>
              </a:lnSpc>
            </a:pPr>
            <a:r>
              <a:rPr lang="en-US" altLang="zh-CN" dirty="0" smtClean="0">
                <a:ea typeface="SimSun" pitchFamily="2" charset="-122"/>
              </a:rPr>
              <a:t>cyclic vs. acyclic</a:t>
            </a:r>
            <a:endParaRPr lang="en-US" altLang="zh-CN" dirty="0" smtClean="0">
              <a:ea typeface="SimSun" pitchFamily="2" charset="-122"/>
            </a:endParaRPr>
          </a:p>
          <a:p>
            <a:pPr lvl="1">
              <a:lnSpc>
                <a:spcPct val="95000"/>
              </a:lnSpc>
            </a:pPr>
            <a:r>
              <a:rPr lang="en-US" altLang="zh-CN" dirty="0" smtClean="0">
                <a:ea typeface="SimSun" pitchFamily="2" charset="-122"/>
              </a:rPr>
              <a:t>pos. weights only vs. pos. and neg. weights </a:t>
            </a:r>
            <a:endParaRPr lang="en-US" altLang="zh-CN" dirty="0" smtClean="0">
              <a:ea typeface="SimSun" pitchFamily="2" charset="-122"/>
            </a:endParaRPr>
          </a:p>
          <a:p>
            <a:pPr lvl="1">
              <a:lnSpc>
                <a:spcPct val="95000"/>
              </a:lnSpc>
            </a:pPr>
            <a:r>
              <a:rPr lang="en-US" altLang="zh-CN" dirty="0" err="1" smtClean="0">
                <a:ea typeface="SimSun" pitchFamily="2" charset="-122"/>
              </a:rPr>
              <a:t>etc</a:t>
            </a:r>
            <a:endParaRPr lang="en-US" altLang="zh-CN" dirty="0" smtClean="0">
              <a:ea typeface="SimSun" pitchFamily="2" charset="-122"/>
            </a:endParaRP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" t="17889" b="12601"/>
          <a:stretch>
            <a:fillRect/>
          </a:stretch>
        </p:blipFill>
        <p:spPr bwMode="auto">
          <a:xfrm>
            <a:off x="1340768" y="6168103"/>
            <a:ext cx="4369591" cy="2331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onut 3"/>
          <p:cNvSpPr/>
          <p:nvPr/>
        </p:nvSpPr>
        <p:spPr>
          <a:xfrm>
            <a:off x="2276872" y="7333842"/>
            <a:ext cx="576263" cy="420290"/>
          </a:xfrm>
          <a:prstGeom prst="donut">
            <a:avLst>
              <a:gd name="adj" fmla="val 678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675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E8564F-A7D5-40B3-BB3D-4927E4A219FE}" type="slidenum">
              <a:rPr lang="en-US" altLang="zh-CN" sz="1050"/>
            </a:fld>
            <a:endParaRPr lang="en-US" altLang="zh-CN" sz="1050"/>
          </a:p>
        </p:txBody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843808"/>
            <a:ext cx="6172200" cy="3728442"/>
          </a:xfrm>
        </p:spPr>
        <p:txBody>
          <a:bodyPr/>
          <a:lstStyle/>
          <a:p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Traveling on a budget: </a:t>
            </a:r>
            <a:r>
              <a:rPr lang="en-US" altLang="zh-CN" sz="2100" dirty="0">
                <a:ea typeface="SimSun" pitchFamily="2" charset="-122"/>
              </a:rPr>
              <a:t>What is the cheapest airline schedule from </a:t>
            </a:r>
            <a:r>
              <a:rPr lang="en-US" altLang="zh-CN" sz="2100" dirty="0" smtClean="0">
                <a:ea typeface="SimSun" pitchFamily="2" charset="-122"/>
              </a:rPr>
              <a:t>Guangzhou </a:t>
            </a:r>
            <a:r>
              <a:rPr lang="en-US" altLang="zh-CN" sz="2100" dirty="0">
                <a:ea typeface="SimSun" pitchFamily="2" charset="-122"/>
              </a:rPr>
              <a:t>to city X?</a:t>
            </a:r>
            <a:endParaRPr lang="en-US" altLang="zh-CN" sz="2100" dirty="0">
              <a:ea typeface="SimSun" pitchFamily="2" charset="-122"/>
            </a:endParaRPr>
          </a:p>
          <a:p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Optimizing routing of packets on the internet:</a:t>
            </a:r>
            <a:endParaRPr lang="en-US" altLang="zh-CN" sz="2100" dirty="0">
              <a:solidFill>
                <a:srgbClr val="263AF8"/>
              </a:solidFill>
              <a:ea typeface="SimSun" pitchFamily="2" charset="-122"/>
            </a:endParaRPr>
          </a:p>
          <a:p>
            <a:pPr lvl="1"/>
            <a:r>
              <a:rPr lang="en-US" altLang="zh-CN" sz="1800" dirty="0">
                <a:ea typeface="SimSun" pitchFamily="2" charset="-122"/>
              </a:rPr>
              <a:t>Vertices are routers and edges are network links with different delays.  What is the routing path with smallest total delay?</a:t>
            </a:r>
            <a:endParaRPr lang="en-US" altLang="zh-CN" sz="1800" dirty="0">
              <a:ea typeface="SimSun" pitchFamily="2" charset="-122"/>
            </a:endParaRPr>
          </a:p>
          <a:p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</a:rPr>
              <a:t>Shipping:</a:t>
            </a:r>
            <a:r>
              <a:rPr lang="en-US" altLang="zh-CN" sz="2100" dirty="0">
                <a:ea typeface="SimSun" pitchFamily="2" charset="-122"/>
              </a:rPr>
              <a:t> Find which highways and roads to take to minimize total delay due to traffic</a:t>
            </a:r>
            <a:endParaRPr lang="en-US" altLang="zh-CN" sz="2100" dirty="0">
              <a:ea typeface="SimSun" pitchFamily="2" charset="-122"/>
            </a:endParaRPr>
          </a:p>
          <a:p>
            <a:r>
              <a:rPr lang="en-US" altLang="zh-CN" sz="2100" dirty="0">
                <a:ea typeface="SimSun" pitchFamily="2" charset="-122"/>
              </a:rPr>
              <a:t>etc.</a:t>
            </a:r>
            <a:endParaRPr lang="en-US" altLang="zh-CN" sz="2100" dirty="0">
              <a:ea typeface="SimSun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study shortest path problems?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686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A13BD1-D1C9-4A92-BC0C-6F3879884B4E}" type="slidenum">
              <a:rPr lang="en-US" altLang="zh-CN" sz="1050"/>
            </a:fld>
            <a:endParaRPr lang="en-US" altLang="zh-CN" sz="1050"/>
          </a:p>
        </p:txBody>
      </p:sp>
      <p:sp>
        <p:nvSpPr>
          <p:cNvPr id="6861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14350" y="2429799"/>
            <a:ext cx="5829300" cy="45904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ea typeface="SimSun" pitchFamily="2" charset="-122"/>
              </a:rPr>
              <a:t>Problem</a:t>
            </a:r>
            <a:r>
              <a:rPr lang="en-US" altLang="zh-CN" sz="2000" dirty="0">
                <a:ea typeface="SimSun" pitchFamily="2" charset="-122"/>
              </a:rPr>
              <a:t>: Given a “source” vertex </a:t>
            </a:r>
            <a:r>
              <a:rPr lang="en-US" altLang="zh-CN" sz="2000" i="1" dirty="0">
                <a:ea typeface="SimSun" pitchFamily="2" charset="-122"/>
              </a:rPr>
              <a:t>s</a:t>
            </a:r>
            <a:r>
              <a:rPr lang="en-US" altLang="zh-CN" sz="2000" dirty="0">
                <a:ea typeface="SimSun" pitchFamily="2" charset="-122"/>
              </a:rPr>
              <a:t> in an unweighted </a:t>
            </a:r>
            <a:r>
              <a:rPr lang="en-US" altLang="zh-CN" sz="2000" dirty="0" smtClean="0">
                <a:ea typeface="SimSun" pitchFamily="2" charset="-122"/>
              </a:rPr>
              <a:t>directed/undirected </a:t>
            </a:r>
            <a:r>
              <a:rPr lang="en-US" altLang="zh-CN" sz="2000" dirty="0">
                <a:ea typeface="SimSun" pitchFamily="2" charset="-122"/>
              </a:rPr>
              <a:t>graph </a:t>
            </a:r>
            <a:endParaRPr lang="en-US" altLang="zh-CN" sz="2000" dirty="0">
              <a:ea typeface="SimSun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ea typeface="SimSun" pitchFamily="2" charset="-122"/>
              </a:rPr>
              <a:t>G = (</a:t>
            </a:r>
            <a:r>
              <a:rPr lang="en-US" altLang="zh-CN" sz="2000" i="1" dirty="0">
                <a:ea typeface="SimSun" pitchFamily="2" charset="-122"/>
              </a:rPr>
              <a:t>V</a:t>
            </a:r>
            <a:r>
              <a:rPr lang="en-US" altLang="zh-CN" sz="2000" dirty="0">
                <a:ea typeface="SimSun" pitchFamily="2" charset="-122"/>
              </a:rPr>
              <a:t>,</a:t>
            </a:r>
            <a:r>
              <a:rPr lang="en-US" altLang="zh-CN" sz="2000" i="1" dirty="0">
                <a:ea typeface="SimSun" pitchFamily="2" charset="-122"/>
              </a:rPr>
              <a:t>E</a:t>
            </a:r>
            <a:r>
              <a:rPr lang="en-US" altLang="zh-CN" sz="2000" dirty="0">
                <a:ea typeface="SimSun" pitchFamily="2" charset="-122"/>
              </a:rPr>
              <a:t>), find the shortest path </a:t>
            </a:r>
            <a:r>
              <a:rPr lang="en-US" altLang="zh-CN" sz="2000" dirty="0">
                <a:solidFill>
                  <a:srgbClr val="263AF8"/>
                </a:solidFill>
                <a:ea typeface="SimSun" pitchFamily="2" charset="-122"/>
              </a:rPr>
              <a:t>from </a:t>
            </a:r>
            <a:r>
              <a:rPr lang="en-US" altLang="zh-CN" sz="2000" i="1" dirty="0">
                <a:solidFill>
                  <a:srgbClr val="263AF8"/>
                </a:solidFill>
                <a:ea typeface="SimSun" pitchFamily="2" charset="-122"/>
              </a:rPr>
              <a:t>s</a:t>
            </a:r>
            <a:r>
              <a:rPr lang="en-US" altLang="zh-CN" sz="2000" dirty="0">
                <a:solidFill>
                  <a:srgbClr val="263AF8"/>
                </a:solidFill>
                <a:ea typeface="SimSun" pitchFamily="2" charset="-122"/>
              </a:rPr>
              <a:t> to all </a:t>
            </a:r>
            <a:r>
              <a:rPr lang="en-US" altLang="zh-CN" sz="2000" dirty="0">
                <a:ea typeface="SimSun" pitchFamily="2" charset="-122"/>
              </a:rPr>
              <a:t>vertices in G</a:t>
            </a:r>
            <a:endParaRPr lang="en-US" altLang="zh-CN" sz="2000" dirty="0">
              <a:ea typeface="SimSun" pitchFamily="2" charset="-122"/>
            </a:endParaRPr>
          </a:p>
        </p:txBody>
      </p:sp>
      <p:sp>
        <p:nvSpPr>
          <p:cNvPr id="68615" name="Oval 1028"/>
          <p:cNvSpPr>
            <a:spLocks noChangeAspect="1" noChangeArrowheads="1"/>
          </p:cNvSpPr>
          <p:nvPr/>
        </p:nvSpPr>
        <p:spPr bwMode="auto">
          <a:xfrm>
            <a:off x="1854994" y="4800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616" name="Oval 1029"/>
          <p:cNvSpPr>
            <a:spLocks noChangeAspect="1" noChangeArrowheads="1"/>
          </p:cNvSpPr>
          <p:nvPr/>
        </p:nvSpPr>
        <p:spPr bwMode="auto">
          <a:xfrm>
            <a:off x="3112294" y="56578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solidFill>
                  <a:srgbClr val="0000FF"/>
                </a:solidFill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solidFill>
                <a:srgbClr val="0000FF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617" name="Oval 1030"/>
          <p:cNvSpPr>
            <a:spLocks noChangeAspect="1" noChangeArrowheads="1"/>
          </p:cNvSpPr>
          <p:nvPr/>
        </p:nvSpPr>
        <p:spPr bwMode="auto">
          <a:xfrm>
            <a:off x="3143250" y="47434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618" name="Oval 1031"/>
          <p:cNvSpPr>
            <a:spLocks noChangeAspect="1" noChangeArrowheads="1"/>
          </p:cNvSpPr>
          <p:nvPr/>
        </p:nvSpPr>
        <p:spPr bwMode="auto">
          <a:xfrm>
            <a:off x="1740694" y="5943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619" name="Oval 1032"/>
          <p:cNvSpPr>
            <a:spLocks noChangeAspect="1" noChangeArrowheads="1"/>
          </p:cNvSpPr>
          <p:nvPr/>
        </p:nvSpPr>
        <p:spPr bwMode="auto">
          <a:xfrm>
            <a:off x="4426744" y="4800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620" name="Oval 1033"/>
          <p:cNvSpPr>
            <a:spLocks noChangeAspect="1" noChangeArrowheads="1"/>
          </p:cNvSpPr>
          <p:nvPr/>
        </p:nvSpPr>
        <p:spPr bwMode="auto">
          <a:xfrm>
            <a:off x="5283994" y="48006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621" name="Oval 1034"/>
          <p:cNvSpPr>
            <a:spLocks noChangeAspect="1" noChangeArrowheads="1"/>
          </p:cNvSpPr>
          <p:nvPr/>
        </p:nvSpPr>
        <p:spPr bwMode="auto">
          <a:xfrm>
            <a:off x="4769644" y="54864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622" name="Oval 1035"/>
          <p:cNvSpPr>
            <a:spLocks noChangeAspect="1" noChangeArrowheads="1"/>
          </p:cNvSpPr>
          <p:nvPr/>
        </p:nvSpPr>
        <p:spPr bwMode="auto">
          <a:xfrm>
            <a:off x="4198144" y="61722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68623" name="AutoShape 1036"/>
          <p:cNvCxnSpPr>
            <a:cxnSpLocks noChangeShapeType="1"/>
            <a:stCxn id="68615" idx="6"/>
            <a:endCxn id="68616" idx="0"/>
          </p:cNvCxnSpPr>
          <p:nvPr/>
        </p:nvCxnSpPr>
        <p:spPr bwMode="auto">
          <a:xfrm>
            <a:off x="2151460" y="49434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24" name="AutoShape 1037"/>
          <p:cNvCxnSpPr>
            <a:cxnSpLocks noChangeShapeType="1"/>
            <a:stCxn id="68616" idx="2"/>
            <a:endCxn id="68615" idx="4"/>
          </p:cNvCxnSpPr>
          <p:nvPr/>
        </p:nvCxnSpPr>
        <p:spPr bwMode="auto">
          <a:xfrm rot="10800000">
            <a:off x="1997869" y="50970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25" name="AutoShape 1038"/>
          <p:cNvCxnSpPr>
            <a:cxnSpLocks noChangeShapeType="1"/>
            <a:stCxn id="68615" idx="7"/>
            <a:endCxn id="68617" idx="2"/>
          </p:cNvCxnSpPr>
          <p:nvPr/>
        </p:nvCxnSpPr>
        <p:spPr bwMode="auto">
          <a:xfrm>
            <a:off x="2099072" y="4831557"/>
            <a:ext cx="1033463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26" name="AutoShape 1039"/>
          <p:cNvCxnSpPr>
            <a:cxnSpLocks noChangeShapeType="1"/>
            <a:stCxn id="68617" idx="5"/>
            <a:endCxn id="68616" idx="7"/>
          </p:cNvCxnSpPr>
          <p:nvPr/>
        </p:nvCxnSpPr>
        <p:spPr bwMode="auto">
          <a:xfrm flipH="1">
            <a:off x="3356373" y="4998244"/>
            <a:ext cx="30956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27" name="AutoShape 1040"/>
          <p:cNvCxnSpPr>
            <a:cxnSpLocks noChangeShapeType="1"/>
            <a:stCxn id="68618" idx="6"/>
            <a:endCxn id="68616" idx="3"/>
          </p:cNvCxnSpPr>
          <p:nvPr/>
        </p:nvCxnSpPr>
        <p:spPr bwMode="auto">
          <a:xfrm flipV="1">
            <a:off x="2037160" y="59126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28" name="AutoShape 1041"/>
          <p:cNvCxnSpPr>
            <a:cxnSpLocks noChangeShapeType="1"/>
            <a:stCxn id="68615" idx="3"/>
            <a:endCxn id="68618" idx="0"/>
          </p:cNvCxnSpPr>
          <p:nvPr/>
        </p:nvCxnSpPr>
        <p:spPr bwMode="auto">
          <a:xfrm flipH="1">
            <a:off x="1883569" y="50553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29" name="AutoShape 1042"/>
          <p:cNvCxnSpPr>
            <a:cxnSpLocks noChangeShapeType="1"/>
            <a:stCxn id="68616" idx="5"/>
            <a:endCxn id="68622" idx="1"/>
          </p:cNvCxnSpPr>
          <p:nvPr/>
        </p:nvCxnSpPr>
        <p:spPr bwMode="auto">
          <a:xfrm>
            <a:off x="3356373" y="59126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0" name="AutoShape 1043"/>
          <p:cNvCxnSpPr>
            <a:cxnSpLocks noChangeShapeType="1"/>
            <a:stCxn id="68622" idx="2"/>
            <a:endCxn id="68618" idx="5"/>
          </p:cNvCxnSpPr>
          <p:nvPr/>
        </p:nvCxnSpPr>
        <p:spPr bwMode="auto">
          <a:xfrm flipH="1" flipV="1">
            <a:off x="1984773" y="61983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1" name="AutoShape 1044"/>
          <p:cNvCxnSpPr>
            <a:cxnSpLocks noChangeShapeType="1"/>
            <a:stCxn id="68621" idx="1"/>
            <a:endCxn id="68619" idx="4"/>
          </p:cNvCxnSpPr>
          <p:nvPr/>
        </p:nvCxnSpPr>
        <p:spPr bwMode="auto">
          <a:xfrm flipH="1" flipV="1">
            <a:off x="4569619" y="50970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2" name="AutoShape 1045"/>
          <p:cNvCxnSpPr>
            <a:cxnSpLocks noChangeShapeType="1"/>
            <a:stCxn id="68619" idx="6"/>
            <a:endCxn id="68620" idx="2"/>
          </p:cNvCxnSpPr>
          <p:nvPr/>
        </p:nvCxnSpPr>
        <p:spPr bwMode="auto">
          <a:xfrm>
            <a:off x="4723210" y="49434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3" name="AutoShape 1046"/>
          <p:cNvCxnSpPr>
            <a:cxnSpLocks noChangeShapeType="1"/>
            <a:stCxn id="68620" idx="4"/>
            <a:endCxn id="68621" idx="7"/>
          </p:cNvCxnSpPr>
          <p:nvPr/>
        </p:nvCxnSpPr>
        <p:spPr bwMode="auto">
          <a:xfrm flipH="1">
            <a:off x="5013722" y="50970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4" name="AutoShape 1047"/>
          <p:cNvCxnSpPr>
            <a:cxnSpLocks noChangeShapeType="1"/>
            <a:stCxn id="68621" idx="2"/>
            <a:endCxn id="68622" idx="0"/>
          </p:cNvCxnSpPr>
          <p:nvPr/>
        </p:nvCxnSpPr>
        <p:spPr bwMode="auto">
          <a:xfrm rot="10800000" flipV="1">
            <a:off x="4341019" y="56292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5" name="AutoShape 1048"/>
          <p:cNvCxnSpPr>
            <a:cxnSpLocks noChangeShapeType="1"/>
            <a:stCxn id="68622" idx="6"/>
            <a:endCxn id="68621" idx="4"/>
          </p:cNvCxnSpPr>
          <p:nvPr/>
        </p:nvCxnSpPr>
        <p:spPr bwMode="auto">
          <a:xfrm flipV="1">
            <a:off x="4494610" y="57828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636" name="Text Box 1049"/>
          <p:cNvSpPr txBox="1">
            <a:spLocks noChangeArrowheads="1"/>
          </p:cNvSpPr>
          <p:nvPr/>
        </p:nvSpPr>
        <p:spPr bwMode="auto">
          <a:xfrm>
            <a:off x="3390901" y="5568554"/>
            <a:ext cx="8258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FF"/>
                </a:solidFill>
                <a:latin typeface="Times New Roman" panose="02020603050405020304" pitchFamily="18" charset="0"/>
                <a:ea typeface="SimSun" pitchFamily="2" charset="-122"/>
              </a:rPr>
              <a:t>Source</a:t>
            </a:r>
            <a:endParaRPr lang="en-US" altLang="zh-CN" sz="1800">
              <a:solidFill>
                <a:srgbClr val="0000FF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8637" name="Text Box 1051"/>
          <p:cNvSpPr txBox="1">
            <a:spLocks noChangeArrowheads="1"/>
          </p:cNvSpPr>
          <p:nvPr/>
        </p:nvSpPr>
        <p:spPr bwMode="auto">
          <a:xfrm>
            <a:off x="69280" y="4056529"/>
            <a:ext cx="44027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Only </a:t>
            </a:r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interested in 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path lengths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Unweighted Shortest Path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06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301121-4ED0-4E07-88DF-EE4BA2CBECD8}" type="slidenum">
              <a:rPr lang="en-US" altLang="zh-CN" sz="1050"/>
            </a:fld>
            <a:endParaRPr lang="en-US" altLang="zh-CN" sz="1050"/>
          </a:p>
        </p:txBody>
      </p:sp>
      <p:sp>
        <p:nvSpPr>
          <p:cNvPr id="7066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Breadth-First Search Solution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066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14350" y="2557195"/>
            <a:ext cx="5829300" cy="184335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100" dirty="0">
                <a:solidFill>
                  <a:srgbClr val="0000FF"/>
                </a:solidFill>
                <a:ea typeface="SimSun" pitchFamily="2" charset="-122"/>
              </a:rPr>
              <a:t>Basic Idea</a:t>
            </a:r>
            <a:r>
              <a:rPr lang="en-US" altLang="zh-CN" sz="2100" dirty="0">
                <a:ea typeface="SimSun" pitchFamily="2" charset="-122"/>
              </a:rPr>
              <a:t>: Starting at node s, find vertices that can be reached using 0, 1, 2, 3, …, N-1 edges  (works even for cyclic graphs!)</a:t>
            </a:r>
            <a:endParaRPr lang="en-US" altLang="zh-CN" sz="21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100" dirty="0">
              <a:ea typeface="SimSun" pitchFamily="2" charset="-122"/>
            </a:endParaRPr>
          </a:p>
        </p:txBody>
      </p:sp>
      <p:sp>
        <p:nvSpPr>
          <p:cNvPr id="70663" name="Oval 1028"/>
          <p:cNvSpPr>
            <a:spLocks noChangeAspect="1" noChangeArrowheads="1"/>
          </p:cNvSpPr>
          <p:nvPr/>
        </p:nvSpPr>
        <p:spPr bwMode="auto">
          <a:xfrm>
            <a:off x="1771650" y="47434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664" name="Oval 1029"/>
          <p:cNvSpPr>
            <a:spLocks noChangeAspect="1" noChangeArrowheads="1"/>
          </p:cNvSpPr>
          <p:nvPr/>
        </p:nvSpPr>
        <p:spPr bwMode="auto">
          <a:xfrm>
            <a:off x="3028950" y="56007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solidFill>
                  <a:srgbClr val="0000FF"/>
                </a:solidFill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solidFill>
                <a:srgbClr val="0000FF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665" name="Oval 1030"/>
          <p:cNvSpPr>
            <a:spLocks noChangeAspect="1" noChangeArrowheads="1"/>
          </p:cNvSpPr>
          <p:nvPr/>
        </p:nvSpPr>
        <p:spPr bwMode="auto">
          <a:xfrm>
            <a:off x="3028950" y="46863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666" name="Oval 1031"/>
          <p:cNvSpPr>
            <a:spLocks noChangeAspect="1" noChangeArrowheads="1"/>
          </p:cNvSpPr>
          <p:nvPr/>
        </p:nvSpPr>
        <p:spPr bwMode="auto">
          <a:xfrm>
            <a:off x="1657350" y="58864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667" name="Oval 1032"/>
          <p:cNvSpPr>
            <a:spLocks noChangeAspect="1" noChangeArrowheads="1"/>
          </p:cNvSpPr>
          <p:nvPr/>
        </p:nvSpPr>
        <p:spPr bwMode="auto">
          <a:xfrm>
            <a:off x="4343400" y="47434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668" name="Oval 1033"/>
          <p:cNvSpPr>
            <a:spLocks noChangeAspect="1" noChangeArrowheads="1"/>
          </p:cNvSpPr>
          <p:nvPr/>
        </p:nvSpPr>
        <p:spPr bwMode="auto">
          <a:xfrm>
            <a:off x="5200650" y="47434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669" name="Oval 1034"/>
          <p:cNvSpPr>
            <a:spLocks noChangeAspect="1" noChangeArrowheads="1"/>
          </p:cNvSpPr>
          <p:nvPr/>
        </p:nvSpPr>
        <p:spPr bwMode="auto">
          <a:xfrm>
            <a:off x="4686300" y="54292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670" name="Oval 1035"/>
          <p:cNvSpPr>
            <a:spLocks noChangeAspect="1" noChangeArrowheads="1"/>
          </p:cNvSpPr>
          <p:nvPr/>
        </p:nvSpPr>
        <p:spPr bwMode="auto">
          <a:xfrm>
            <a:off x="4114800" y="61150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0671" name="AutoShape 1036"/>
          <p:cNvCxnSpPr>
            <a:cxnSpLocks noChangeShapeType="1"/>
            <a:stCxn id="70663" idx="6"/>
            <a:endCxn id="70664" idx="0"/>
          </p:cNvCxnSpPr>
          <p:nvPr/>
        </p:nvCxnSpPr>
        <p:spPr bwMode="auto">
          <a:xfrm>
            <a:off x="2068116" y="488632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2" name="AutoShape 1037"/>
          <p:cNvCxnSpPr>
            <a:cxnSpLocks noChangeShapeType="1"/>
            <a:stCxn id="70664" idx="2"/>
            <a:endCxn id="70663" idx="4"/>
          </p:cNvCxnSpPr>
          <p:nvPr/>
        </p:nvCxnSpPr>
        <p:spPr bwMode="auto">
          <a:xfrm rot="10800000">
            <a:off x="1914525" y="503991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3" name="AutoShape 1038"/>
          <p:cNvCxnSpPr>
            <a:cxnSpLocks noChangeShapeType="1"/>
            <a:stCxn id="70663" idx="7"/>
            <a:endCxn id="70665" idx="2"/>
          </p:cNvCxnSpPr>
          <p:nvPr/>
        </p:nvCxnSpPr>
        <p:spPr bwMode="auto">
          <a:xfrm>
            <a:off x="2015729" y="477440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4" name="AutoShape 1039"/>
          <p:cNvCxnSpPr>
            <a:cxnSpLocks noChangeShapeType="1"/>
            <a:stCxn id="70665" idx="5"/>
            <a:endCxn id="70664" idx="7"/>
          </p:cNvCxnSpPr>
          <p:nvPr/>
        </p:nvCxnSpPr>
        <p:spPr bwMode="auto">
          <a:xfrm>
            <a:off x="3273029" y="494109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5" name="AutoShape 1040"/>
          <p:cNvCxnSpPr>
            <a:cxnSpLocks noChangeShapeType="1"/>
            <a:stCxn id="70666" idx="6"/>
            <a:endCxn id="70664" idx="3"/>
          </p:cNvCxnSpPr>
          <p:nvPr/>
        </p:nvCxnSpPr>
        <p:spPr bwMode="auto">
          <a:xfrm flipV="1">
            <a:off x="1953817" y="585549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6" name="AutoShape 1041"/>
          <p:cNvCxnSpPr>
            <a:cxnSpLocks noChangeShapeType="1"/>
            <a:stCxn id="70663" idx="3"/>
            <a:endCxn id="70666" idx="0"/>
          </p:cNvCxnSpPr>
          <p:nvPr/>
        </p:nvCxnSpPr>
        <p:spPr bwMode="auto">
          <a:xfrm flipH="1">
            <a:off x="1800226" y="499824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7" name="AutoShape 1042"/>
          <p:cNvCxnSpPr>
            <a:cxnSpLocks noChangeShapeType="1"/>
            <a:stCxn id="70664" idx="5"/>
            <a:endCxn id="70670" idx="1"/>
          </p:cNvCxnSpPr>
          <p:nvPr/>
        </p:nvCxnSpPr>
        <p:spPr bwMode="auto">
          <a:xfrm>
            <a:off x="3273029" y="585549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8" name="AutoShape 1043"/>
          <p:cNvCxnSpPr>
            <a:cxnSpLocks noChangeShapeType="1"/>
            <a:stCxn id="70670" idx="2"/>
            <a:endCxn id="70666" idx="5"/>
          </p:cNvCxnSpPr>
          <p:nvPr/>
        </p:nvCxnSpPr>
        <p:spPr bwMode="auto">
          <a:xfrm flipH="1" flipV="1">
            <a:off x="1901429" y="614124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79" name="AutoShape 1044"/>
          <p:cNvCxnSpPr>
            <a:cxnSpLocks noChangeShapeType="1"/>
            <a:stCxn id="70669" idx="1"/>
            <a:endCxn id="70667" idx="4"/>
          </p:cNvCxnSpPr>
          <p:nvPr/>
        </p:nvCxnSpPr>
        <p:spPr bwMode="auto">
          <a:xfrm flipH="1" flipV="1">
            <a:off x="4486276" y="503991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80" name="AutoShape 1045"/>
          <p:cNvCxnSpPr>
            <a:cxnSpLocks noChangeShapeType="1"/>
            <a:stCxn id="70667" idx="6"/>
            <a:endCxn id="70668" idx="2"/>
          </p:cNvCxnSpPr>
          <p:nvPr/>
        </p:nvCxnSpPr>
        <p:spPr bwMode="auto">
          <a:xfrm>
            <a:off x="4639866" y="488632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81" name="AutoShape 1046"/>
          <p:cNvCxnSpPr>
            <a:cxnSpLocks noChangeShapeType="1"/>
            <a:stCxn id="70668" idx="4"/>
            <a:endCxn id="70669" idx="7"/>
          </p:cNvCxnSpPr>
          <p:nvPr/>
        </p:nvCxnSpPr>
        <p:spPr bwMode="auto">
          <a:xfrm flipH="1">
            <a:off x="4930378" y="503991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82" name="AutoShape 1047"/>
          <p:cNvCxnSpPr>
            <a:cxnSpLocks noChangeShapeType="1"/>
            <a:stCxn id="70669" idx="2"/>
            <a:endCxn id="70670" idx="0"/>
          </p:cNvCxnSpPr>
          <p:nvPr/>
        </p:nvCxnSpPr>
        <p:spPr bwMode="auto">
          <a:xfrm rot="10800000" flipV="1">
            <a:off x="4257675" y="557212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83" name="AutoShape 1048"/>
          <p:cNvCxnSpPr>
            <a:cxnSpLocks noChangeShapeType="1"/>
            <a:stCxn id="70670" idx="6"/>
            <a:endCxn id="70669" idx="4"/>
          </p:cNvCxnSpPr>
          <p:nvPr/>
        </p:nvCxnSpPr>
        <p:spPr bwMode="auto">
          <a:xfrm flipV="1">
            <a:off x="4411266" y="572571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16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900004-1660-49BB-953F-9536FF83E634}" type="slidenum">
              <a:rPr lang="en-US" altLang="zh-CN" sz="1050"/>
            </a:fld>
            <a:endParaRPr lang="en-US" altLang="zh-CN" sz="1050"/>
          </a:p>
        </p:txBody>
      </p:sp>
      <p:sp>
        <p:nvSpPr>
          <p:cNvPr id="7168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Breadth-First Search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16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5750" y="2483768"/>
            <a:ext cx="6376988" cy="5112568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zh-CN" sz="2100" dirty="0">
                <a:ea typeface="SimSun" pitchFamily="2" charset="-122"/>
              </a:rPr>
              <a:t>Uses a queue to track vertices that are “nearby”</a:t>
            </a:r>
            <a:endParaRPr lang="en-US" altLang="zh-CN" sz="2100" dirty="0">
              <a:ea typeface="SimSun" pitchFamily="2" charset="-122"/>
            </a:endParaRPr>
          </a:p>
          <a:p>
            <a:pPr marL="342900" indent="-342900"/>
            <a:r>
              <a:rPr lang="en-US" altLang="zh-CN" sz="2100" dirty="0">
                <a:ea typeface="SimSun" pitchFamily="2" charset="-122"/>
              </a:rPr>
              <a:t>source vertex is </a:t>
            </a:r>
            <a:r>
              <a:rPr lang="en-US" altLang="zh-CN" sz="2100" b="1" dirty="0" smtClean="0">
                <a:latin typeface="Courier New" panose="02070309020205020404" pitchFamily="49" charset="0"/>
                <a:ea typeface="SimSun" pitchFamily="2" charset="-122"/>
              </a:rPr>
              <a:t>s</a:t>
            </a:r>
            <a:endParaRPr lang="en-US" altLang="zh-CN" sz="1800" dirty="0">
              <a:ea typeface="SimSun" pitchFamily="2" charset="-122"/>
            </a:endParaRPr>
          </a:p>
          <a:p>
            <a:pPr marL="342900" indent="-342900"/>
            <a:r>
              <a:rPr lang="en-US" altLang="zh-CN" sz="2100" dirty="0" smtClean="0">
                <a:ea typeface="SimSun" pitchFamily="2" charset="-122"/>
              </a:rPr>
              <a:t>Running </a:t>
            </a:r>
            <a:r>
              <a:rPr lang="en-US" altLang="zh-CN" sz="2100" dirty="0">
                <a:ea typeface="SimSun" pitchFamily="2" charset="-122"/>
              </a:rPr>
              <a:t>time = </a:t>
            </a:r>
            <a:r>
              <a:rPr lang="en-US" altLang="zh-CN" sz="2100" dirty="0">
                <a:solidFill>
                  <a:srgbClr val="0000FF"/>
                </a:solidFill>
                <a:ea typeface="SimSun" pitchFamily="2" charset="-122"/>
              </a:rPr>
              <a:t>O(|</a:t>
            </a:r>
            <a:r>
              <a:rPr lang="en-US" altLang="zh-CN" sz="2100" i="1" dirty="0">
                <a:solidFill>
                  <a:srgbClr val="0000FF"/>
                </a:solidFill>
                <a:ea typeface="SimSun" pitchFamily="2" charset="-122"/>
              </a:rPr>
              <a:t>V</a:t>
            </a:r>
            <a:r>
              <a:rPr lang="en-US" altLang="zh-CN" sz="2100" dirty="0">
                <a:solidFill>
                  <a:srgbClr val="0000FF"/>
                </a:solidFill>
                <a:ea typeface="SimSun" pitchFamily="2" charset="-122"/>
              </a:rPr>
              <a:t>| + |</a:t>
            </a:r>
            <a:r>
              <a:rPr lang="en-US" altLang="zh-CN" sz="2100" i="1" dirty="0">
                <a:solidFill>
                  <a:srgbClr val="0000FF"/>
                </a:solidFill>
                <a:ea typeface="SimSun" pitchFamily="2" charset="-122"/>
              </a:rPr>
              <a:t>E</a:t>
            </a:r>
            <a:r>
              <a:rPr lang="en-US" altLang="zh-CN" sz="2100" dirty="0">
                <a:solidFill>
                  <a:srgbClr val="0000FF"/>
                </a:solidFill>
                <a:ea typeface="SimSun" pitchFamily="2" charset="-122"/>
              </a:rPr>
              <a:t>|)</a:t>
            </a:r>
            <a:endParaRPr lang="en-US" altLang="zh-CN" sz="2100" dirty="0">
              <a:solidFill>
                <a:srgbClr val="0000FF"/>
              </a:solidFill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8941" y="4283968"/>
            <a:ext cx="60420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buNone/>
            </a:pPr>
            <a:r>
              <a:rPr lang="en-US" altLang="zh-CN" dirty="0">
                <a:latin typeface="Sitka Text" panose="02000505000000020004" pitchFamily="2" charset="0"/>
              </a:rPr>
              <a:t>Distance[s] := 0</a:t>
            </a:r>
            <a:endParaRPr lang="en-US" altLang="zh-CN" dirty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 err="1">
                <a:latin typeface="Sitka Text" panose="02000505000000020004" pitchFamily="2" charset="0"/>
              </a:rPr>
              <a:t>Enqueue</a:t>
            </a:r>
            <a:r>
              <a:rPr lang="en-US" altLang="zh-CN" dirty="0">
                <a:latin typeface="Sitka Text" panose="02000505000000020004" pitchFamily="2" charset="0"/>
              </a:rPr>
              <a:t>(Q,s);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 smtClean="0">
                <a:latin typeface="Sitka Text" panose="02000505000000020004" pitchFamily="2" charset="0"/>
              </a:rPr>
              <a:t>Mark(s);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After a vertex is marked once 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            //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it won’t be </a:t>
            </a:r>
            <a:r>
              <a:rPr lang="en-US" altLang="zh-CN" dirty="0" err="1">
                <a:solidFill>
                  <a:srgbClr val="008000"/>
                </a:solidFill>
                <a:latin typeface="Sitka Text" panose="02000505000000020004" pitchFamily="2" charset="0"/>
              </a:rPr>
              <a:t>enqueued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 again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>
                <a:latin typeface="Sitka Text" panose="02000505000000020004" pitchFamily="2" charset="0"/>
              </a:rPr>
              <a:t>while queue is not empty do</a:t>
            </a:r>
            <a:endParaRPr lang="en-US" altLang="zh-CN" dirty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 smtClean="0">
                <a:latin typeface="Sitka Text" panose="02000505000000020004" pitchFamily="2" charset="0"/>
              </a:rPr>
              <a:t>    X </a:t>
            </a:r>
            <a:r>
              <a:rPr lang="en-US" altLang="zh-CN" dirty="0">
                <a:latin typeface="Sitka Text" panose="02000505000000020004" pitchFamily="2" charset="0"/>
              </a:rPr>
              <a:t>:= </a:t>
            </a:r>
            <a:r>
              <a:rPr lang="en-US" altLang="zh-CN" dirty="0" err="1">
                <a:latin typeface="Sitka Text" panose="02000505000000020004" pitchFamily="2" charset="0"/>
              </a:rPr>
              <a:t>Dequeue</a:t>
            </a:r>
            <a:r>
              <a:rPr lang="en-US" altLang="zh-CN" dirty="0">
                <a:latin typeface="Sitka Text" panose="02000505000000020004" pitchFamily="2" charset="0"/>
              </a:rPr>
              <a:t>(Q);</a:t>
            </a:r>
            <a:endParaRPr lang="en-US" altLang="zh-CN" dirty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 smtClean="0">
                <a:latin typeface="Sitka Text" panose="02000505000000020004" pitchFamily="2" charset="0"/>
              </a:rPr>
              <a:t>   for </a:t>
            </a:r>
            <a:r>
              <a:rPr lang="en-US" altLang="zh-CN" dirty="0">
                <a:latin typeface="Sitka Text" panose="02000505000000020004" pitchFamily="2" charset="0"/>
              </a:rPr>
              <a:t>each vertex Y adjacent to X do</a:t>
            </a:r>
            <a:endParaRPr lang="en-US" altLang="zh-CN" dirty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>
                <a:latin typeface="Sitka Text" panose="02000505000000020004" pitchFamily="2" charset="0"/>
              </a:rPr>
              <a:t>   </a:t>
            </a:r>
            <a:r>
              <a:rPr lang="en-US" altLang="zh-CN" dirty="0" smtClean="0">
                <a:latin typeface="Sitka Text" panose="02000505000000020004" pitchFamily="2" charset="0"/>
              </a:rPr>
              <a:t>    if </a:t>
            </a:r>
            <a:r>
              <a:rPr lang="en-US" altLang="zh-CN" dirty="0">
                <a:latin typeface="Sitka Text" panose="02000505000000020004" pitchFamily="2" charset="0"/>
              </a:rPr>
              <a:t>Y is unmarked then</a:t>
            </a:r>
            <a:endParaRPr lang="en-US" altLang="zh-CN" dirty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 smtClean="0">
                <a:latin typeface="Sitka Text" panose="02000505000000020004" pitchFamily="2" charset="0"/>
              </a:rPr>
              <a:t>     Distance[Y</a:t>
            </a:r>
            <a:r>
              <a:rPr lang="en-US" altLang="zh-CN" dirty="0">
                <a:latin typeface="Sitka Text" panose="02000505000000020004" pitchFamily="2" charset="0"/>
              </a:rPr>
              <a:t>] := Distance[X] + 1;</a:t>
            </a:r>
            <a:endParaRPr lang="en-US" altLang="zh-CN" dirty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 smtClean="0">
                <a:latin typeface="Sitka Text" panose="02000505000000020004" pitchFamily="2" charset="0"/>
              </a:rPr>
              <a:t>     Previous[Y</a:t>
            </a:r>
            <a:r>
              <a:rPr lang="en-US" altLang="zh-CN" dirty="0">
                <a:latin typeface="Sitka Text" panose="02000505000000020004" pitchFamily="2" charset="0"/>
              </a:rPr>
              <a:t>] := </a:t>
            </a:r>
            <a:r>
              <a:rPr lang="en-US" altLang="zh-CN" dirty="0" smtClean="0">
                <a:latin typeface="Sitka Text" panose="02000505000000020004" pitchFamily="2" charset="0"/>
              </a:rPr>
              <a:t>X;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//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if we want to record paths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 smtClean="0">
                <a:latin typeface="Sitka Text" panose="02000505000000020004" pitchFamily="2" charset="0"/>
              </a:rPr>
              <a:t>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Enqueue</a:t>
            </a:r>
            <a:r>
              <a:rPr lang="en-US" altLang="zh-CN" dirty="0" smtClean="0">
                <a:latin typeface="Sitka Text" panose="02000505000000020004" pitchFamily="2" charset="0"/>
              </a:rPr>
              <a:t>(Q,Y</a:t>
            </a:r>
            <a:r>
              <a:rPr lang="en-US" altLang="zh-CN" dirty="0">
                <a:latin typeface="Sitka Text" panose="02000505000000020004" pitchFamily="2" charset="0"/>
              </a:rPr>
              <a:t>);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pPr marL="0" lvl="2"/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       Mark(Y</a:t>
            </a:r>
            <a:r>
              <a:rPr lang="en-US" altLang="zh-CN" dirty="0">
                <a:latin typeface="Sitka Text" panose="02000505000000020004" pitchFamily="2" charset="0"/>
              </a:rPr>
              <a:t>);</a:t>
            </a:r>
            <a:endParaRPr lang="zh-CN" altLang="en-US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270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979E4B-6AF8-4C32-B8F3-BFA1463CF6D8}" type="slidenum">
              <a:rPr lang="en-US" altLang="zh-CN" sz="1050"/>
            </a:fld>
            <a:endParaRPr lang="en-US" altLang="zh-CN" sz="1050"/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Example: Shortest Path length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2710" name="Oval 3"/>
          <p:cNvSpPr>
            <a:spLocks noChangeAspect="1" noChangeArrowheads="1"/>
          </p:cNvSpPr>
          <p:nvPr/>
        </p:nvSpPr>
        <p:spPr bwMode="auto">
          <a:xfrm>
            <a:off x="165735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2711" name="Oval 4"/>
          <p:cNvSpPr>
            <a:spLocks noChangeAspect="1" noChangeArrowheads="1"/>
          </p:cNvSpPr>
          <p:nvPr/>
        </p:nvSpPr>
        <p:spPr bwMode="auto">
          <a:xfrm>
            <a:off x="2914650" y="48577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2712" name="Oval 5"/>
          <p:cNvSpPr>
            <a:spLocks noChangeAspect="1" noChangeArrowheads="1"/>
          </p:cNvSpPr>
          <p:nvPr/>
        </p:nvSpPr>
        <p:spPr bwMode="auto">
          <a:xfrm>
            <a:off x="2914650" y="39433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2713" name="Oval 6"/>
          <p:cNvSpPr>
            <a:spLocks noChangeAspect="1" noChangeArrowheads="1"/>
          </p:cNvSpPr>
          <p:nvPr/>
        </p:nvSpPr>
        <p:spPr bwMode="auto">
          <a:xfrm>
            <a:off x="1543050" y="5143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2714" name="Oval 7"/>
          <p:cNvSpPr>
            <a:spLocks noChangeAspect="1" noChangeArrowheads="1"/>
          </p:cNvSpPr>
          <p:nvPr/>
        </p:nvSpPr>
        <p:spPr bwMode="auto">
          <a:xfrm>
            <a:off x="422910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2715" name="Oval 8"/>
          <p:cNvSpPr>
            <a:spLocks noChangeAspect="1" noChangeArrowheads="1"/>
          </p:cNvSpPr>
          <p:nvPr/>
        </p:nvSpPr>
        <p:spPr bwMode="auto">
          <a:xfrm>
            <a:off x="508635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2716" name="Oval 9"/>
          <p:cNvSpPr>
            <a:spLocks noChangeAspect="1" noChangeArrowheads="1"/>
          </p:cNvSpPr>
          <p:nvPr/>
        </p:nvSpPr>
        <p:spPr bwMode="auto">
          <a:xfrm>
            <a:off x="4572000" y="46863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2717" name="Oval 10"/>
          <p:cNvSpPr>
            <a:spLocks noChangeAspect="1" noChangeArrowheads="1"/>
          </p:cNvSpPr>
          <p:nvPr/>
        </p:nvSpPr>
        <p:spPr bwMode="auto">
          <a:xfrm>
            <a:off x="4000500" y="53721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2718" name="AutoShape 11"/>
          <p:cNvCxnSpPr>
            <a:cxnSpLocks noChangeShapeType="1"/>
            <a:stCxn id="72710" idx="6"/>
            <a:endCxn id="72711" idx="0"/>
          </p:cNvCxnSpPr>
          <p:nvPr/>
        </p:nvCxnSpPr>
        <p:spPr bwMode="auto">
          <a:xfrm>
            <a:off x="1953816" y="41433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19" name="AutoShape 12"/>
          <p:cNvCxnSpPr>
            <a:cxnSpLocks noChangeShapeType="1"/>
            <a:stCxn id="72711" idx="2"/>
            <a:endCxn id="72710" idx="4"/>
          </p:cNvCxnSpPr>
          <p:nvPr/>
        </p:nvCxnSpPr>
        <p:spPr bwMode="auto">
          <a:xfrm rot="10800000">
            <a:off x="1800225" y="42969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0" name="AutoShape 13"/>
          <p:cNvCxnSpPr>
            <a:cxnSpLocks noChangeShapeType="1"/>
            <a:stCxn id="72710" idx="7"/>
            <a:endCxn id="72712" idx="2"/>
          </p:cNvCxnSpPr>
          <p:nvPr/>
        </p:nvCxnSpPr>
        <p:spPr bwMode="auto">
          <a:xfrm>
            <a:off x="1901429" y="403145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1" name="AutoShape 14"/>
          <p:cNvCxnSpPr>
            <a:cxnSpLocks noChangeShapeType="1"/>
            <a:stCxn id="72712" idx="5"/>
            <a:endCxn id="72711" idx="7"/>
          </p:cNvCxnSpPr>
          <p:nvPr/>
        </p:nvCxnSpPr>
        <p:spPr bwMode="auto">
          <a:xfrm>
            <a:off x="3158729" y="419814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2" name="AutoShape 15"/>
          <p:cNvCxnSpPr>
            <a:cxnSpLocks noChangeShapeType="1"/>
            <a:stCxn id="72713" idx="6"/>
            <a:endCxn id="72711" idx="3"/>
          </p:cNvCxnSpPr>
          <p:nvPr/>
        </p:nvCxnSpPr>
        <p:spPr bwMode="auto">
          <a:xfrm flipV="1">
            <a:off x="1839517" y="51125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3" name="AutoShape 16"/>
          <p:cNvCxnSpPr>
            <a:cxnSpLocks noChangeShapeType="1"/>
            <a:stCxn id="72710" idx="3"/>
            <a:endCxn id="72713" idx="0"/>
          </p:cNvCxnSpPr>
          <p:nvPr/>
        </p:nvCxnSpPr>
        <p:spPr bwMode="auto">
          <a:xfrm flipH="1">
            <a:off x="1685926" y="42552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4" name="AutoShape 17"/>
          <p:cNvCxnSpPr>
            <a:cxnSpLocks noChangeShapeType="1"/>
            <a:stCxn id="72711" idx="5"/>
            <a:endCxn id="72717" idx="1"/>
          </p:cNvCxnSpPr>
          <p:nvPr/>
        </p:nvCxnSpPr>
        <p:spPr bwMode="auto">
          <a:xfrm>
            <a:off x="3158729" y="51125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5" name="AutoShape 18"/>
          <p:cNvCxnSpPr>
            <a:cxnSpLocks noChangeShapeType="1"/>
            <a:stCxn id="72717" idx="2"/>
            <a:endCxn id="72713" idx="5"/>
          </p:cNvCxnSpPr>
          <p:nvPr/>
        </p:nvCxnSpPr>
        <p:spPr bwMode="auto">
          <a:xfrm flipH="1" flipV="1">
            <a:off x="1787129" y="53982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6" name="AutoShape 19"/>
          <p:cNvCxnSpPr>
            <a:cxnSpLocks noChangeShapeType="1"/>
            <a:stCxn id="72716" idx="1"/>
            <a:endCxn id="72714" idx="4"/>
          </p:cNvCxnSpPr>
          <p:nvPr/>
        </p:nvCxnSpPr>
        <p:spPr bwMode="auto">
          <a:xfrm flipH="1" flipV="1">
            <a:off x="4371976" y="42969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7" name="AutoShape 20"/>
          <p:cNvCxnSpPr>
            <a:cxnSpLocks noChangeShapeType="1"/>
            <a:stCxn id="72714" idx="6"/>
            <a:endCxn id="72715" idx="2"/>
          </p:cNvCxnSpPr>
          <p:nvPr/>
        </p:nvCxnSpPr>
        <p:spPr bwMode="auto">
          <a:xfrm>
            <a:off x="4525566" y="41433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8" name="AutoShape 21"/>
          <p:cNvCxnSpPr>
            <a:cxnSpLocks noChangeShapeType="1"/>
            <a:stCxn id="72715" idx="4"/>
            <a:endCxn id="72716" idx="7"/>
          </p:cNvCxnSpPr>
          <p:nvPr/>
        </p:nvCxnSpPr>
        <p:spPr bwMode="auto">
          <a:xfrm flipH="1">
            <a:off x="4816078" y="42969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29" name="AutoShape 22"/>
          <p:cNvCxnSpPr>
            <a:cxnSpLocks noChangeShapeType="1"/>
            <a:stCxn id="72716" idx="2"/>
            <a:endCxn id="72717" idx="0"/>
          </p:cNvCxnSpPr>
          <p:nvPr/>
        </p:nvCxnSpPr>
        <p:spPr bwMode="auto">
          <a:xfrm rot="10800000" flipV="1">
            <a:off x="4143375" y="48291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730" name="AutoShape 23"/>
          <p:cNvCxnSpPr>
            <a:cxnSpLocks noChangeShapeType="1"/>
            <a:stCxn id="72717" idx="6"/>
            <a:endCxn id="72716" idx="4"/>
          </p:cNvCxnSpPr>
          <p:nvPr/>
        </p:nvCxnSpPr>
        <p:spPr bwMode="auto">
          <a:xfrm flipV="1">
            <a:off x="4296966" y="49827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731" name="Text Box 24"/>
          <p:cNvSpPr txBox="1">
            <a:spLocks noChangeArrowheads="1"/>
          </p:cNvSpPr>
          <p:nvPr/>
        </p:nvSpPr>
        <p:spPr bwMode="auto">
          <a:xfrm>
            <a:off x="325755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0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2732" name="Text Box 25"/>
          <p:cNvSpPr txBox="1">
            <a:spLocks noChangeArrowheads="1"/>
          </p:cNvSpPr>
          <p:nvPr/>
        </p:nvSpPr>
        <p:spPr bwMode="auto">
          <a:xfrm>
            <a:off x="1473994" y="5951935"/>
            <a:ext cx="324739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Queue Q =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C</a:t>
            </a:r>
            <a:r>
              <a:rPr lang="zh-CN" altLang="en-US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，</a:t>
            </a:r>
            <a:r>
              <a:rPr lang="en-US" sz="1800">
                <a:sym typeface="+mn-ea"/>
              </a:rPr>
              <a:t>Distance[C]=0</a:t>
            </a:r>
            <a:endParaRPr lang="zh-CN" altLang="en-US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373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5D52EC-3CF2-40A7-875F-41FADD5D333B}" type="slidenum">
              <a:rPr lang="en-US" altLang="zh-CN" sz="1050"/>
            </a:fld>
            <a:endParaRPr lang="en-US" altLang="zh-CN" sz="1050"/>
          </a:p>
        </p:txBody>
      </p:sp>
      <p:sp>
        <p:nvSpPr>
          <p:cNvPr id="7373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 (</a:t>
            </a:r>
            <a:r>
              <a:rPr lang="en-US" altLang="zh-CN" dirty="0" err="1" smtClean="0">
                <a:ea typeface="SimSun" pitchFamily="2" charset="-122"/>
              </a:rPr>
              <a:t>ct’d</a:t>
            </a:r>
            <a:r>
              <a:rPr lang="en-US" altLang="zh-CN" dirty="0" smtClean="0">
                <a:ea typeface="SimSun" pitchFamily="2" charset="-122"/>
              </a:rPr>
              <a:t>)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3734" name="Oval 1027"/>
          <p:cNvSpPr>
            <a:spLocks noChangeAspect="1" noChangeArrowheads="1"/>
          </p:cNvSpPr>
          <p:nvPr/>
        </p:nvSpPr>
        <p:spPr bwMode="auto">
          <a:xfrm>
            <a:off x="165735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35" name="Oval 1028"/>
          <p:cNvSpPr>
            <a:spLocks noChangeAspect="1" noChangeArrowheads="1"/>
          </p:cNvSpPr>
          <p:nvPr/>
        </p:nvSpPr>
        <p:spPr bwMode="auto">
          <a:xfrm>
            <a:off x="2914650" y="48577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36" name="Oval 1029"/>
          <p:cNvSpPr>
            <a:spLocks noChangeAspect="1" noChangeArrowheads="1"/>
          </p:cNvSpPr>
          <p:nvPr/>
        </p:nvSpPr>
        <p:spPr bwMode="auto">
          <a:xfrm>
            <a:off x="2914650" y="394335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37" name="Oval 1030"/>
          <p:cNvSpPr>
            <a:spLocks noChangeAspect="1" noChangeArrowheads="1"/>
          </p:cNvSpPr>
          <p:nvPr/>
        </p:nvSpPr>
        <p:spPr bwMode="auto">
          <a:xfrm>
            <a:off x="1543050" y="5143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38" name="Oval 1031"/>
          <p:cNvSpPr>
            <a:spLocks noChangeAspect="1" noChangeArrowheads="1"/>
          </p:cNvSpPr>
          <p:nvPr/>
        </p:nvSpPr>
        <p:spPr bwMode="auto">
          <a:xfrm>
            <a:off x="422910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39" name="Oval 1032"/>
          <p:cNvSpPr>
            <a:spLocks noChangeAspect="1" noChangeArrowheads="1"/>
          </p:cNvSpPr>
          <p:nvPr/>
        </p:nvSpPr>
        <p:spPr bwMode="auto">
          <a:xfrm>
            <a:off x="508635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40" name="Oval 1033"/>
          <p:cNvSpPr>
            <a:spLocks noChangeAspect="1" noChangeArrowheads="1"/>
          </p:cNvSpPr>
          <p:nvPr/>
        </p:nvSpPr>
        <p:spPr bwMode="auto">
          <a:xfrm>
            <a:off x="4572000" y="46863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41" name="Oval 1034"/>
          <p:cNvSpPr>
            <a:spLocks noChangeAspect="1" noChangeArrowheads="1"/>
          </p:cNvSpPr>
          <p:nvPr/>
        </p:nvSpPr>
        <p:spPr bwMode="auto">
          <a:xfrm>
            <a:off x="4000500" y="53721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3742" name="AutoShape 1035"/>
          <p:cNvCxnSpPr>
            <a:cxnSpLocks noChangeShapeType="1"/>
            <a:stCxn id="73734" idx="6"/>
            <a:endCxn id="73735" idx="0"/>
          </p:cNvCxnSpPr>
          <p:nvPr/>
        </p:nvCxnSpPr>
        <p:spPr bwMode="auto">
          <a:xfrm>
            <a:off x="1953816" y="41433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3" name="AutoShape 1036"/>
          <p:cNvCxnSpPr>
            <a:cxnSpLocks noChangeShapeType="1"/>
            <a:stCxn id="73735" idx="2"/>
            <a:endCxn id="73734" idx="4"/>
          </p:cNvCxnSpPr>
          <p:nvPr/>
        </p:nvCxnSpPr>
        <p:spPr bwMode="auto">
          <a:xfrm rot="10800000">
            <a:off x="1800225" y="42969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4" name="AutoShape 1037"/>
          <p:cNvCxnSpPr>
            <a:cxnSpLocks noChangeShapeType="1"/>
            <a:stCxn id="73734" idx="7"/>
            <a:endCxn id="73736" idx="2"/>
          </p:cNvCxnSpPr>
          <p:nvPr/>
        </p:nvCxnSpPr>
        <p:spPr bwMode="auto">
          <a:xfrm>
            <a:off x="1901429" y="403145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5" name="AutoShape 1038"/>
          <p:cNvCxnSpPr>
            <a:cxnSpLocks noChangeShapeType="1"/>
            <a:stCxn id="73736" idx="5"/>
            <a:endCxn id="73735" idx="7"/>
          </p:cNvCxnSpPr>
          <p:nvPr/>
        </p:nvCxnSpPr>
        <p:spPr bwMode="auto">
          <a:xfrm>
            <a:off x="3158729" y="419814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6" name="AutoShape 1039"/>
          <p:cNvCxnSpPr>
            <a:cxnSpLocks noChangeShapeType="1"/>
            <a:stCxn id="73737" idx="6"/>
            <a:endCxn id="73735" idx="3"/>
          </p:cNvCxnSpPr>
          <p:nvPr/>
        </p:nvCxnSpPr>
        <p:spPr bwMode="auto">
          <a:xfrm flipV="1">
            <a:off x="1839517" y="51125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7" name="AutoShape 1040"/>
          <p:cNvCxnSpPr>
            <a:cxnSpLocks noChangeShapeType="1"/>
            <a:stCxn id="73734" idx="3"/>
            <a:endCxn id="73737" idx="0"/>
          </p:cNvCxnSpPr>
          <p:nvPr/>
        </p:nvCxnSpPr>
        <p:spPr bwMode="auto">
          <a:xfrm flipH="1">
            <a:off x="1685926" y="42552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8" name="AutoShape 1041"/>
          <p:cNvCxnSpPr>
            <a:cxnSpLocks noChangeShapeType="1"/>
            <a:stCxn id="73735" idx="5"/>
            <a:endCxn id="73741" idx="1"/>
          </p:cNvCxnSpPr>
          <p:nvPr/>
        </p:nvCxnSpPr>
        <p:spPr bwMode="auto">
          <a:xfrm>
            <a:off x="3158729" y="51125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49" name="AutoShape 1042"/>
          <p:cNvCxnSpPr>
            <a:cxnSpLocks noChangeShapeType="1"/>
            <a:stCxn id="73741" idx="2"/>
            <a:endCxn id="73737" idx="5"/>
          </p:cNvCxnSpPr>
          <p:nvPr/>
        </p:nvCxnSpPr>
        <p:spPr bwMode="auto">
          <a:xfrm flipH="1" flipV="1">
            <a:off x="1787129" y="53982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0" name="AutoShape 1043"/>
          <p:cNvCxnSpPr>
            <a:cxnSpLocks noChangeShapeType="1"/>
            <a:stCxn id="73740" idx="1"/>
            <a:endCxn id="73738" idx="4"/>
          </p:cNvCxnSpPr>
          <p:nvPr/>
        </p:nvCxnSpPr>
        <p:spPr bwMode="auto">
          <a:xfrm flipH="1" flipV="1">
            <a:off x="4371976" y="42969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1" name="AutoShape 1044"/>
          <p:cNvCxnSpPr>
            <a:cxnSpLocks noChangeShapeType="1"/>
            <a:stCxn id="73738" idx="6"/>
            <a:endCxn id="73739" idx="2"/>
          </p:cNvCxnSpPr>
          <p:nvPr/>
        </p:nvCxnSpPr>
        <p:spPr bwMode="auto">
          <a:xfrm>
            <a:off x="4525566" y="41433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2" name="AutoShape 1045"/>
          <p:cNvCxnSpPr>
            <a:cxnSpLocks noChangeShapeType="1"/>
            <a:stCxn id="73739" idx="4"/>
            <a:endCxn id="73740" idx="7"/>
          </p:cNvCxnSpPr>
          <p:nvPr/>
        </p:nvCxnSpPr>
        <p:spPr bwMode="auto">
          <a:xfrm flipH="1">
            <a:off x="4816078" y="42969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3" name="AutoShape 1046"/>
          <p:cNvCxnSpPr>
            <a:cxnSpLocks noChangeShapeType="1"/>
            <a:stCxn id="73740" idx="2"/>
            <a:endCxn id="73741" idx="0"/>
          </p:cNvCxnSpPr>
          <p:nvPr/>
        </p:nvCxnSpPr>
        <p:spPr bwMode="auto">
          <a:xfrm rot="10800000" flipV="1">
            <a:off x="4143375" y="48291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754" name="AutoShape 1047"/>
          <p:cNvCxnSpPr>
            <a:cxnSpLocks noChangeShapeType="1"/>
            <a:stCxn id="73741" idx="6"/>
            <a:endCxn id="73740" idx="4"/>
          </p:cNvCxnSpPr>
          <p:nvPr/>
        </p:nvCxnSpPr>
        <p:spPr bwMode="auto">
          <a:xfrm flipV="1">
            <a:off x="4296966" y="49827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755" name="Text Box 1048"/>
          <p:cNvSpPr txBox="1">
            <a:spLocks noChangeArrowheads="1"/>
          </p:cNvSpPr>
          <p:nvPr/>
        </p:nvSpPr>
        <p:spPr bwMode="auto">
          <a:xfrm>
            <a:off x="325755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0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3756" name="Text Box 1049"/>
          <p:cNvSpPr txBox="1">
            <a:spLocks noChangeArrowheads="1"/>
          </p:cNvSpPr>
          <p:nvPr/>
        </p:nvSpPr>
        <p:spPr bwMode="auto">
          <a:xfrm>
            <a:off x="1473994" y="5951935"/>
            <a:ext cx="3630930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Queue Q =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A D E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  <a:p>
            <a:pPr algn="l"/>
            <a:r>
              <a:rPr lang="en-US" sz="1800">
                <a:sym typeface="+mn-ea"/>
              </a:rPr>
              <a:t>Distance[A/D/E]=Distance[C]+1=1</a:t>
            </a:r>
            <a:endParaRPr lang="en-US" sz="1800">
              <a:sym typeface="+mn-ea"/>
            </a:endParaRPr>
          </a:p>
          <a:p>
            <a:pPr algn="l"/>
            <a:r>
              <a:rPr lang="en-US" altLang="zh-CN" sz="1800">
                <a:sym typeface="+mn-ea"/>
              </a:rPr>
              <a:t>Previous</a:t>
            </a:r>
            <a:r>
              <a:rPr lang="en-US" sz="1800">
                <a:sym typeface="+mn-ea"/>
              </a:rPr>
              <a:t>[A/D/E]=C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73757" name="Text Box 1050"/>
          <p:cNvSpPr txBox="1">
            <a:spLocks noChangeArrowheads="1"/>
          </p:cNvSpPr>
          <p:nvPr/>
        </p:nvSpPr>
        <p:spPr bwMode="auto">
          <a:xfrm>
            <a:off x="4286250" y="55435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3758" name="Text Box 1051"/>
          <p:cNvSpPr txBox="1">
            <a:spLocks noChangeArrowheads="1"/>
          </p:cNvSpPr>
          <p:nvPr/>
        </p:nvSpPr>
        <p:spPr bwMode="auto">
          <a:xfrm>
            <a:off x="1428750" y="38290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3759" name="Text Box 1052"/>
          <p:cNvSpPr txBox="1">
            <a:spLocks noChangeArrowheads="1"/>
          </p:cNvSpPr>
          <p:nvPr/>
        </p:nvSpPr>
        <p:spPr bwMode="auto">
          <a:xfrm>
            <a:off x="1314450" y="49149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3760" name="Line 1053"/>
          <p:cNvSpPr>
            <a:spLocks noChangeShapeType="1"/>
          </p:cNvSpPr>
          <p:nvPr/>
        </p:nvSpPr>
        <p:spPr bwMode="auto">
          <a:xfrm flipH="1" flipV="1">
            <a:off x="3143250" y="5200650"/>
            <a:ext cx="8001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3761" name="Line 1054"/>
          <p:cNvSpPr>
            <a:spLocks noChangeShapeType="1"/>
          </p:cNvSpPr>
          <p:nvPr/>
        </p:nvSpPr>
        <p:spPr bwMode="auto">
          <a:xfrm flipV="1">
            <a:off x="5257800" y="7718047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3762" name="Text Box 1055"/>
          <p:cNvSpPr txBox="1">
            <a:spLocks noChangeArrowheads="1"/>
          </p:cNvSpPr>
          <p:nvPr/>
        </p:nvSpPr>
        <p:spPr bwMode="auto">
          <a:xfrm>
            <a:off x="3570568" y="7556465"/>
            <a:ext cx="156352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 smtClean="0">
                <a:ea typeface="SimSun" pitchFamily="2" charset="-122"/>
              </a:rPr>
              <a:t>Previous pointer</a:t>
            </a:r>
            <a:endParaRPr lang="en-US" altLang="zh-CN" sz="1500" dirty="0">
              <a:ea typeface="SimSun" pitchFamily="2" charset="-122"/>
            </a:endParaRPr>
          </a:p>
        </p:txBody>
      </p:sp>
      <p:sp>
        <p:nvSpPr>
          <p:cNvPr id="73763" name="Line 1056"/>
          <p:cNvSpPr>
            <a:spLocks noChangeShapeType="1"/>
          </p:cNvSpPr>
          <p:nvPr/>
        </p:nvSpPr>
        <p:spPr bwMode="auto">
          <a:xfrm flipV="1">
            <a:off x="1828800" y="5029200"/>
            <a:ext cx="1028700" cy="171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3764" name="Line 1057"/>
          <p:cNvSpPr>
            <a:spLocks noChangeShapeType="1"/>
          </p:cNvSpPr>
          <p:nvPr/>
        </p:nvSpPr>
        <p:spPr bwMode="auto">
          <a:xfrm>
            <a:off x="1943100" y="4229100"/>
            <a:ext cx="971550" cy="628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3765" name="Oval 1058"/>
          <p:cNvSpPr>
            <a:spLocks noChangeAspect="1" noChangeArrowheads="1"/>
          </p:cNvSpPr>
          <p:nvPr/>
        </p:nvSpPr>
        <p:spPr bwMode="auto">
          <a:xfrm>
            <a:off x="5257800" y="7055986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3766" name="Text Box 1059"/>
          <p:cNvSpPr txBox="1">
            <a:spLocks noChangeArrowheads="1"/>
          </p:cNvSpPr>
          <p:nvPr/>
        </p:nvSpPr>
        <p:spPr bwMode="auto">
          <a:xfrm>
            <a:off x="2428875" y="7084829"/>
            <a:ext cx="27414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500" dirty="0">
                <a:ea typeface="SimSun" pitchFamily="2" charset="-122"/>
              </a:rPr>
              <a:t>Indicates the vertex is marked</a:t>
            </a:r>
            <a:endParaRPr lang="en-US" altLang="zh-CN" sz="1500" dirty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47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B94B79-5B8F-4479-A356-B64C9350C91F}" type="slidenum">
              <a:rPr lang="en-US" altLang="zh-CN" sz="1050"/>
            </a:fld>
            <a:endParaRPr lang="en-US" altLang="zh-CN" sz="1050"/>
          </a:p>
        </p:txBody>
      </p:sp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 (</a:t>
            </a:r>
            <a:r>
              <a:rPr lang="en-US" altLang="zh-CN" dirty="0" err="1" smtClean="0">
                <a:ea typeface="SimSun" pitchFamily="2" charset="-122"/>
              </a:rPr>
              <a:t>ct’d</a:t>
            </a:r>
            <a:r>
              <a:rPr lang="en-US" altLang="zh-CN" dirty="0" smtClean="0">
                <a:ea typeface="SimSun" pitchFamily="2" charset="-122"/>
              </a:rPr>
              <a:t>)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4758" name="Oval 3"/>
          <p:cNvSpPr>
            <a:spLocks noChangeAspect="1" noChangeArrowheads="1"/>
          </p:cNvSpPr>
          <p:nvPr/>
        </p:nvSpPr>
        <p:spPr bwMode="auto">
          <a:xfrm>
            <a:off x="165735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59" name="Oval 4"/>
          <p:cNvSpPr>
            <a:spLocks noChangeAspect="1" noChangeArrowheads="1"/>
          </p:cNvSpPr>
          <p:nvPr/>
        </p:nvSpPr>
        <p:spPr bwMode="auto">
          <a:xfrm>
            <a:off x="2914650" y="48577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0" name="Oval 5"/>
          <p:cNvSpPr>
            <a:spLocks noChangeAspect="1" noChangeArrowheads="1"/>
          </p:cNvSpPr>
          <p:nvPr/>
        </p:nvSpPr>
        <p:spPr bwMode="auto">
          <a:xfrm>
            <a:off x="2914650" y="39433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1" name="Oval 6"/>
          <p:cNvSpPr>
            <a:spLocks noChangeAspect="1" noChangeArrowheads="1"/>
          </p:cNvSpPr>
          <p:nvPr/>
        </p:nvSpPr>
        <p:spPr bwMode="auto">
          <a:xfrm>
            <a:off x="1543050" y="5143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2" name="Oval 7"/>
          <p:cNvSpPr>
            <a:spLocks noChangeAspect="1" noChangeArrowheads="1"/>
          </p:cNvSpPr>
          <p:nvPr/>
        </p:nvSpPr>
        <p:spPr bwMode="auto">
          <a:xfrm>
            <a:off x="422910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3" name="Oval 8"/>
          <p:cNvSpPr>
            <a:spLocks noChangeAspect="1" noChangeArrowheads="1"/>
          </p:cNvSpPr>
          <p:nvPr/>
        </p:nvSpPr>
        <p:spPr bwMode="auto">
          <a:xfrm>
            <a:off x="508635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4" name="Oval 9"/>
          <p:cNvSpPr>
            <a:spLocks noChangeAspect="1" noChangeArrowheads="1"/>
          </p:cNvSpPr>
          <p:nvPr/>
        </p:nvSpPr>
        <p:spPr bwMode="auto">
          <a:xfrm>
            <a:off x="4572000" y="46863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5" name="Oval 10"/>
          <p:cNvSpPr>
            <a:spLocks noChangeAspect="1" noChangeArrowheads="1"/>
          </p:cNvSpPr>
          <p:nvPr/>
        </p:nvSpPr>
        <p:spPr bwMode="auto">
          <a:xfrm>
            <a:off x="4000500" y="53721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4766" name="AutoShape 11"/>
          <p:cNvCxnSpPr>
            <a:cxnSpLocks noChangeShapeType="1"/>
            <a:stCxn id="74758" idx="6"/>
            <a:endCxn id="74759" idx="0"/>
          </p:cNvCxnSpPr>
          <p:nvPr/>
        </p:nvCxnSpPr>
        <p:spPr bwMode="auto">
          <a:xfrm>
            <a:off x="1953816" y="41433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7" name="AutoShape 12"/>
          <p:cNvCxnSpPr>
            <a:cxnSpLocks noChangeShapeType="1"/>
            <a:stCxn id="74759" idx="2"/>
            <a:endCxn id="74758" idx="4"/>
          </p:cNvCxnSpPr>
          <p:nvPr/>
        </p:nvCxnSpPr>
        <p:spPr bwMode="auto">
          <a:xfrm rot="10800000">
            <a:off x="1800225" y="42969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8" name="AutoShape 13"/>
          <p:cNvCxnSpPr>
            <a:cxnSpLocks noChangeShapeType="1"/>
            <a:stCxn id="74758" idx="7"/>
            <a:endCxn id="74760" idx="2"/>
          </p:cNvCxnSpPr>
          <p:nvPr/>
        </p:nvCxnSpPr>
        <p:spPr bwMode="auto">
          <a:xfrm>
            <a:off x="1901429" y="403145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9" name="AutoShape 14"/>
          <p:cNvCxnSpPr>
            <a:cxnSpLocks noChangeShapeType="1"/>
            <a:stCxn id="74760" idx="5"/>
            <a:endCxn id="74759" idx="7"/>
          </p:cNvCxnSpPr>
          <p:nvPr/>
        </p:nvCxnSpPr>
        <p:spPr bwMode="auto">
          <a:xfrm>
            <a:off x="3158729" y="419814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0" name="AutoShape 15"/>
          <p:cNvCxnSpPr>
            <a:cxnSpLocks noChangeShapeType="1"/>
            <a:stCxn id="74761" idx="6"/>
            <a:endCxn id="74759" idx="3"/>
          </p:cNvCxnSpPr>
          <p:nvPr/>
        </p:nvCxnSpPr>
        <p:spPr bwMode="auto">
          <a:xfrm flipV="1">
            <a:off x="1839517" y="51125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1" name="AutoShape 16"/>
          <p:cNvCxnSpPr>
            <a:cxnSpLocks noChangeShapeType="1"/>
            <a:stCxn id="74758" idx="3"/>
            <a:endCxn id="74761" idx="0"/>
          </p:cNvCxnSpPr>
          <p:nvPr/>
        </p:nvCxnSpPr>
        <p:spPr bwMode="auto">
          <a:xfrm flipH="1">
            <a:off x="1685926" y="42552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2" name="AutoShape 17"/>
          <p:cNvCxnSpPr>
            <a:cxnSpLocks noChangeShapeType="1"/>
            <a:stCxn id="74759" idx="5"/>
            <a:endCxn id="74765" idx="1"/>
          </p:cNvCxnSpPr>
          <p:nvPr/>
        </p:nvCxnSpPr>
        <p:spPr bwMode="auto">
          <a:xfrm>
            <a:off x="3158729" y="51125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3" name="AutoShape 18"/>
          <p:cNvCxnSpPr>
            <a:cxnSpLocks noChangeShapeType="1"/>
            <a:stCxn id="74765" idx="2"/>
            <a:endCxn id="74761" idx="5"/>
          </p:cNvCxnSpPr>
          <p:nvPr/>
        </p:nvCxnSpPr>
        <p:spPr bwMode="auto">
          <a:xfrm flipH="1" flipV="1">
            <a:off x="1787129" y="53982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4" name="AutoShape 19"/>
          <p:cNvCxnSpPr>
            <a:cxnSpLocks noChangeShapeType="1"/>
            <a:stCxn id="74764" idx="1"/>
            <a:endCxn id="74762" idx="4"/>
          </p:cNvCxnSpPr>
          <p:nvPr/>
        </p:nvCxnSpPr>
        <p:spPr bwMode="auto">
          <a:xfrm flipH="1" flipV="1">
            <a:off x="4371976" y="42969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5" name="AutoShape 20"/>
          <p:cNvCxnSpPr>
            <a:cxnSpLocks noChangeShapeType="1"/>
            <a:stCxn id="74762" idx="6"/>
            <a:endCxn id="74763" idx="2"/>
          </p:cNvCxnSpPr>
          <p:nvPr/>
        </p:nvCxnSpPr>
        <p:spPr bwMode="auto">
          <a:xfrm>
            <a:off x="4525566" y="41433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6" name="AutoShape 21"/>
          <p:cNvCxnSpPr>
            <a:cxnSpLocks noChangeShapeType="1"/>
            <a:stCxn id="74763" idx="4"/>
            <a:endCxn id="74764" idx="7"/>
          </p:cNvCxnSpPr>
          <p:nvPr/>
        </p:nvCxnSpPr>
        <p:spPr bwMode="auto">
          <a:xfrm flipH="1">
            <a:off x="4816078" y="42969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7" name="AutoShape 22"/>
          <p:cNvCxnSpPr>
            <a:cxnSpLocks noChangeShapeType="1"/>
            <a:stCxn id="74764" idx="2"/>
            <a:endCxn id="74765" idx="0"/>
          </p:cNvCxnSpPr>
          <p:nvPr/>
        </p:nvCxnSpPr>
        <p:spPr bwMode="auto">
          <a:xfrm rot="10800000" flipV="1">
            <a:off x="4143375" y="48291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8" name="AutoShape 23"/>
          <p:cNvCxnSpPr>
            <a:cxnSpLocks noChangeShapeType="1"/>
            <a:stCxn id="74765" idx="6"/>
            <a:endCxn id="74764" idx="4"/>
          </p:cNvCxnSpPr>
          <p:nvPr/>
        </p:nvCxnSpPr>
        <p:spPr bwMode="auto">
          <a:xfrm flipV="1">
            <a:off x="4296966" y="49827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779" name="Text Box 24"/>
          <p:cNvSpPr txBox="1">
            <a:spLocks noChangeArrowheads="1"/>
          </p:cNvSpPr>
          <p:nvPr/>
        </p:nvSpPr>
        <p:spPr bwMode="auto">
          <a:xfrm>
            <a:off x="325755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0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0" name="Text Box 25"/>
          <p:cNvSpPr txBox="1">
            <a:spLocks noChangeArrowheads="1"/>
          </p:cNvSpPr>
          <p:nvPr/>
        </p:nvSpPr>
        <p:spPr bwMode="auto">
          <a:xfrm>
            <a:off x="1485424" y="5939870"/>
            <a:ext cx="317373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Q =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D E B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  <a:p>
            <a:pPr algn="l"/>
            <a:r>
              <a:rPr lang="en-US" sz="1800">
                <a:sym typeface="+mn-ea"/>
              </a:rPr>
              <a:t>Distance[B]=Distance[</a:t>
            </a:r>
            <a:r>
              <a:rPr lang="en-US" sz="1800">
                <a:sym typeface="+mn-ea"/>
              </a:rPr>
              <a:t>A]+1=2</a:t>
            </a:r>
            <a:endParaRPr lang="en-US" sz="1800">
              <a:sym typeface="+mn-ea"/>
            </a:endParaRPr>
          </a:p>
          <a:p>
            <a:pPr algn="l"/>
            <a:r>
              <a:rPr lang="en-US" altLang="zh-CN" sz="1800">
                <a:sym typeface="+mn-ea"/>
              </a:rPr>
              <a:t>Previous</a:t>
            </a:r>
            <a:r>
              <a:rPr lang="en-US" sz="1800">
                <a:sym typeface="+mn-ea"/>
              </a:rPr>
              <a:t>[</a:t>
            </a:r>
            <a:r>
              <a:rPr lang="en-US" sz="1800">
                <a:sym typeface="+mn-ea"/>
              </a:rPr>
              <a:t>B]=A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  <a:p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74781" name="Text Box 26"/>
          <p:cNvSpPr txBox="1">
            <a:spLocks noChangeArrowheads="1"/>
          </p:cNvSpPr>
          <p:nvPr/>
        </p:nvSpPr>
        <p:spPr bwMode="auto">
          <a:xfrm>
            <a:off x="4286250" y="55435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2" name="Text Box 27"/>
          <p:cNvSpPr txBox="1">
            <a:spLocks noChangeArrowheads="1"/>
          </p:cNvSpPr>
          <p:nvPr/>
        </p:nvSpPr>
        <p:spPr bwMode="auto">
          <a:xfrm>
            <a:off x="1428750" y="38290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3" name="Text Box 28"/>
          <p:cNvSpPr txBox="1">
            <a:spLocks noChangeArrowheads="1"/>
          </p:cNvSpPr>
          <p:nvPr/>
        </p:nvSpPr>
        <p:spPr bwMode="auto">
          <a:xfrm>
            <a:off x="1314450" y="49149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4" name="Text Box 29"/>
          <p:cNvSpPr txBox="1">
            <a:spLocks noChangeArrowheads="1"/>
          </p:cNvSpPr>
          <p:nvPr/>
        </p:nvSpPr>
        <p:spPr bwMode="auto">
          <a:xfrm>
            <a:off x="3200400" y="37147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5" name="Line 30"/>
          <p:cNvSpPr>
            <a:spLocks noChangeShapeType="1"/>
          </p:cNvSpPr>
          <p:nvPr/>
        </p:nvSpPr>
        <p:spPr bwMode="auto">
          <a:xfrm flipH="1" flipV="1">
            <a:off x="3143250" y="5200650"/>
            <a:ext cx="8001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786" name="Line 31"/>
          <p:cNvSpPr>
            <a:spLocks noChangeShapeType="1"/>
          </p:cNvSpPr>
          <p:nvPr/>
        </p:nvSpPr>
        <p:spPr bwMode="auto">
          <a:xfrm flipV="1">
            <a:off x="1828800" y="5029200"/>
            <a:ext cx="1028700" cy="171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787" name="Line 32"/>
          <p:cNvSpPr>
            <a:spLocks noChangeShapeType="1"/>
          </p:cNvSpPr>
          <p:nvPr/>
        </p:nvSpPr>
        <p:spPr bwMode="auto">
          <a:xfrm>
            <a:off x="1943100" y="4229100"/>
            <a:ext cx="971550" cy="628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788" name="Line 33"/>
          <p:cNvSpPr>
            <a:spLocks noChangeShapeType="1"/>
          </p:cNvSpPr>
          <p:nvPr/>
        </p:nvSpPr>
        <p:spPr bwMode="auto">
          <a:xfrm flipH="1">
            <a:off x="1943100" y="3943350"/>
            <a:ext cx="9715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47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B94B79-5B8F-4479-A356-B64C9350C91F}" type="slidenum">
              <a:rPr lang="en-US" altLang="zh-CN" sz="1050"/>
            </a:fld>
            <a:endParaRPr lang="en-US" altLang="zh-CN" sz="1050"/>
          </a:p>
        </p:txBody>
      </p:sp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 (</a:t>
            </a:r>
            <a:r>
              <a:rPr lang="en-US" altLang="zh-CN" dirty="0" err="1" smtClean="0">
                <a:ea typeface="SimSun" pitchFamily="2" charset="-122"/>
              </a:rPr>
              <a:t>ct’d</a:t>
            </a:r>
            <a:r>
              <a:rPr lang="en-US" altLang="zh-CN" dirty="0" smtClean="0">
                <a:ea typeface="SimSun" pitchFamily="2" charset="-122"/>
              </a:rPr>
              <a:t>)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4758" name="Oval 3"/>
          <p:cNvSpPr>
            <a:spLocks noChangeAspect="1" noChangeArrowheads="1"/>
          </p:cNvSpPr>
          <p:nvPr/>
        </p:nvSpPr>
        <p:spPr bwMode="auto">
          <a:xfrm>
            <a:off x="165735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59" name="Oval 4"/>
          <p:cNvSpPr>
            <a:spLocks noChangeAspect="1" noChangeArrowheads="1"/>
          </p:cNvSpPr>
          <p:nvPr/>
        </p:nvSpPr>
        <p:spPr bwMode="auto">
          <a:xfrm>
            <a:off x="2914650" y="48577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0" name="Oval 5"/>
          <p:cNvSpPr>
            <a:spLocks noChangeAspect="1" noChangeArrowheads="1"/>
          </p:cNvSpPr>
          <p:nvPr/>
        </p:nvSpPr>
        <p:spPr bwMode="auto">
          <a:xfrm>
            <a:off x="2914650" y="39433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1" name="Oval 6"/>
          <p:cNvSpPr>
            <a:spLocks noChangeAspect="1" noChangeArrowheads="1"/>
          </p:cNvSpPr>
          <p:nvPr/>
        </p:nvSpPr>
        <p:spPr bwMode="auto">
          <a:xfrm>
            <a:off x="1543050" y="5143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2" name="Oval 7"/>
          <p:cNvSpPr>
            <a:spLocks noChangeAspect="1" noChangeArrowheads="1"/>
          </p:cNvSpPr>
          <p:nvPr/>
        </p:nvSpPr>
        <p:spPr bwMode="auto">
          <a:xfrm>
            <a:off x="422910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3" name="Oval 8"/>
          <p:cNvSpPr>
            <a:spLocks noChangeAspect="1" noChangeArrowheads="1"/>
          </p:cNvSpPr>
          <p:nvPr/>
        </p:nvSpPr>
        <p:spPr bwMode="auto">
          <a:xfrm>
            <a:off x="508635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4" name="Oval 9"/>
          <p:cNvSpPr>
            <a:spLocks noChangeAspect="1" noChangeArrowheads="1"/>
          </p:cNvSpPr>
          <p:nvPr/>
        </p:nvSpPr>
        <p:spPr bwMode="auto">
          <a:xfrm>
            <a:off x="4572000" y="46863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4765" name="Oval 10"/>
          <p:cNvSpPr>
            <a:spLocks noChangeAspect="1" noChangeArrowheads="1"/>
          </p:cNvSpPr>
          <p:nvPr/>
        </p:nvSpPr>
        <p:spPr bwMode="auto">
          <a:xfrm>
            <a:off x="4000500" y="53721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4766" name="AutoShape 11"/>
          <p:cNvCxnSpPr>
            <a:cxnSpLocks noChangeShapeType="1"/>
            <a:stCxn id="74758" idx="6"/>
            <a:endCxn id="74759" idx="0"/>
          </p:cNvCxnSpPr>
          <p:nvPr/>
        </p:nvCxnSpPr>
        <p:spPr bwMode="auto">
          <a:xfrm>
            <a:off x="1953816" y="41433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7" name="AutoShape 12"/>
          <p:cNvCxnSpPr>
            <a:cxnSpLocks noChangeShapeType="1"/>
            <a:stCxn id="74759" idx="2"/>
            <a:endCxn id="74758" idx="4"/>
          </p:cNvCxnSpPr>
          <p:nvPr/>
        </p:nvCxnSpPr>
        <p:spPr bwMode="auto">
          <a:xfrm rot="10800000">
            <a:off x="1800225" y="42969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8" name="AutoShape 13"/>
          <p:cNvCxnSpPr>
            <a:cxnSpLocks noChangeShapeType="1"/>
            <a:stCxn id="74758" idx="7"/>
            <a:endCxn id="74760" idx="2"/>
          </p:cNvCxnSpPr>
          <p:nvPr/>
        </p:nvCxnSpPr>
        <p:spPr bwMode="auto">
          <a:xfrm>
            <a:off x="1901429" y="403145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69" name="AutoShape 14"/>
          <p:cNvCxnSpPr>
            <a:cxnSpLocks noChangeShapeType="1"/>
            <a:stCxn id="74760" idx="5"/>
            <a:endCxn id="74759" idx="7"/>
          </p:cNvCxnSpPr>
          <p:nvPr/>
        </p:nvCxnSpPr>
        <p:spPr bwMode="auto">
          <a:xfrm>
            <a:off x="3158729" y="419814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0" name="AutoShape 15"/>
          <p:cNvCxnSpPr>
            <a:cxnSpLocks noChangeShapeType="1"/>
            <a:stCxn id="74761" idx="6"/>
            <a:endCxn id="74759" idx="3"/>
          </p:cNvCxnSpPr>
          <p:nvPr/>
        </p:nvCxnSpPr>
        <p:spPr bwMode="auto">
          <a:xfrm flipV="1">
            <a:off x="1839517" y="51125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1" name="AutoShape 16"/>
          <p:cNvCxnSpPr>
            <a:cxnSpLocks noChangeShapeType="1"/>
            <a:stCxn id="74758" idx="3"/>
            <a:endCxn id="74761" idx="0"/>
          </p:cNvCxnSpPr>
          <p:nvPr/>
        </p:nvCxnSpPr>
        <p:spPr bwMode="auto">
          <a:xfrm flipH="1">
            <a:off x="1685926" y="42552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2" name="AutoShape 17"/>
          <p:cNvCxnSpPr>
            <a:cxnSpLocks noChangeShapeType="1"/>
            <a:stCxn id="74759" idx="5"/>
            <a:endCxn id="74765" idx="1"/>
          </p:cNvCxnSpPr>
          <p:nvPr/>
        </p:nvCxnSpPr>
        <p:spPr bwMode="auto">
          <a:xfrm>
            <a:off x="3158729" y="51125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3" name="AutoShape 18"/>
          <p:cNvCxnSpPr>
            <a:cxnSpLocks noChangeShapeType="1"/>
            <a:stCxn id="74765" idx="2"/>
            <a:endCxn id="74761" idx="5"/>
          </p:cNvCxnSpPr>
          <p:nvPr/>
        </p:nvCxnSpPr>
        <p:spPr bwMode="auto">
          <a:xfrm flipH="1" flipV="1">
            <a:off x="1787129" y="53982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4" name="AutoShape 19"/>
          <p:cNvCxnSpPr>
            <a:cxnSpLocks noChangeShapeType="1"/>
            <a:stCxn id="74764" idx="1"/>
            <a:endCxn id="74762" idx="4"/>
          </p:cNvCxnSpPr>
          <p:nvPr/>
        </p:nvCxnSpPr>
        <p:spPr bwMode="auto">
          <a:xfrm flipH="1" flipV="1">
            <a:off x="4371976" y="42969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5" name="AutoShape 20"/>
          <p:cNvCxnSpPr>
            <a:cxnSpLocks noChangeShapeType="1"/>
            <a:stCxn id="74762" idx="6"/>
            <a:endCxn id="74763" idx="2"/>
          </p:cNvCxnSpPr>
          <p:nvPr/>
        </p:nvCxnSpPr>
        <p:spPr bwMode="auto">
          <a:xfrm>
            <a:off x="4525566" y="41433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6" name="AutoShape 21"/>
          <p:cNvCxnSpPr>
            <a:cxnSpLocks noChangeShapeType="1"/>
            <a:stCxn id="74763" idx="4"/>
            <a:endCxn id="74764" idx="7"/>
          </p:cNvCxnSpPr>
          <p:nvPr/>
        </p:nvCxnSpPr>
        <p:spPr bwMode="auto">
          <a:xfrm flipH="1">
            <a:off x="4816078" y="42969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7" name="AutoShape 22"/>
          <p:cNvCxnSpPr>
            <a:cxnSpLocks noChangeShapeType="1"/>
            <a:stCxn id="74764" idx="2"/>
            <a:endCxn id="74765" idx="0"/>
          </p:cNvCxnSpPr>
          <p:nvPr/>
        </p:nvCxnSpPr>
        <p:spPr bwMode="auto">
          <a:xfrm rot="10800000" flipV="1">
            <a:off x="4143375" y="48291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778" name="AutoShape 23"/>
          <p:cNvCxnSpPr>
            <a:cxnSpLocks noChangeShapeType="1"/>
            <a:stCxn id="74765" idx="6"/>
            <a:endCxn id="74764" idx="4"/>
          </p:cNvCxnSpPr>
          <p:nvPr/>
        </p:nvCxnSpPr>
        <p:spPr bwMode="auto">
          <a:xfrm flipV="1">
            <a:off x="4296966" y="49827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779" name="Text Box 24"/>
          <p:cNvSpPr txBox="1">
            <a:spLocks noChangeArrowheads="1"/>
          </p:cNvSpPr>
          <p:nvPr/>
        </p:nvSpPr>
        <p:spPr bwMode="auto">
          <a:xfrm>
            <a:off x="325755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0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0" name="Text Box 25"/>
          <p:cNvSpPr txBox="1">
            <a:spLocks noChangeArrowheads="1"/>
          </p:cNvSpPr>
          <p:nvPr/>
        </p:nvSpPr>
        <p:spPr bwMode="auto">
          <a:xfrm>
            <a:off x="1485424" y="5939870"/>
            <a:ext cx="102552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Q =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E B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  <a:p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74781" name="Text Box 26"/>
          <p:cNvSpPr txBox="1">
            <a:spLocks noChangeArrowheads="1"/>
          </p:cNvSpPr>
          <p:nvPr/>
        </p:nvSpPr>
        <p:spPr bwMode="auto">
          <a:xfrm>
            <a:off x="4286250" y="55435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2" name="Text Box 27"/>
          <p:cNvSpPr txBox="1">
            <a:spLocks noChangeArrowheads="1"/>
          </p:cNvSpPr>
          <p:nvPr/>
        </p:nvSpPr>
        <p:spPr bwMode="auto">
          <a:xfrm>
            <a:off x="1428750" y="38290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3" name="Text Box 28"/>
          <p:cNvSpPr txBox="1">
            <a:spLocks noChangeArrowheads="1"/>
          </p:cNvSpPr>
          <p:nvPr/>
        </p:nvSpPr>
        <p:spPr bwMode="auto">
          <a:xfrm>
            <a:off x="1314450" y="49149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4" name="Text Box 29"/>
          <p:cNvSpPr txBox="1">
            <a:spLocks noChangeArrowheads="1"/>
          </p:cNvSpPr>
          <p:nvPr/>
        </p:nvSpPr>
        <p:spPr bwMode="auto">
          <a:xfrm>
            <a:off x="3200400" y="37147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4785" name="Line 30"/>
          <p:cNvSpPr>
            <a:spLocks noChangeShapeType="1"/>
          </p:cNvSpPr>
          <p:nvPr/>
        </p:nvSpPr>
        <p:spPr bwMode="auto">
          <a:xfrm flipH="1" flipV="1">
            <a:off x="3143250" y="5200650"/>
            <a:ext cx="8001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786" name="Line 31"/>
          <p:cNvSpPr>
            <a:spLocks noChangeShapeType="1"/>
          </p:cNvSpPr>
          <p:nvPr/>
        </p:nvSpPr>
        <p:spPr bwMode="auto">
          <a:xfrm flipV="1">
            <a:off x="1828800" y="5029200"/>
            <a:ext cx="1028700" cy="171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787" name="Line 32"/>
          <p:cNvSpPr>
            <a:spLocks noChangeShapeType="1"/>
          </p:cNvSpPr>
          <p:nvPr/>
        </p:nvSpPr>
        <p:spPr bwMode="auto">
          <a:xfrm>
            <a:off x="1943100" y="4229100"/>
            <a:ext cx="971550" cy="628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4788" name="Line 33"/>
          <p:cNvSpPr>
            <a:spLocks noChangeShapeType="1"/>
          </p:cNvSpPr>
          <p:nvPr/>
        </p:nvSpPr>
        <p:spPr bwMode="auto">
          <a:xfrm flipH="1">
            <a:off x="1943100" y="3943350"/>
            <a:ext cx="9715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57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7E7095-BF93-4F82-B9F1-A526464FCB22}" type="slidenum">
              <a:rPr lang="en-US" altLang="zh-CN" sz="1050"/>
            </a:fld>
            <a:endParaRPr lang="en-US" altLang="zh-CN" sz="1050"/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 (</a:t>
            </a:r>
            <a:r>
              <a:rPr lang="en-US" altLang="zh-CN" dirty="0" err="1" smtClean="0">
                <a:ea typeface="SimSun" pitchFamily="2" charset="-122"/>
              </a:rPr>
              <a:t>ct’d</a:t>
            </a:r>
            <a:r>
              <a:rPr lang="en-US" altLang="zh-CN" dirty="0" smtClean="0">
                <a:ea typeface="SimSun" pitchFamily="2" charset="-122"/>
              </a:rPr>
              <a:t>)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5782" name="Oval 3"/>
          <p:cNvSpPr>
            <a:spLocks noChangeAspect="1" noChangeArrowheads="1"/>
          </p:cNvSpPr>
          <p:nvPr/>
        </p:nvSpPr>
        <p:spPr bwMode="auto">
          <a:xfrm>
            <a:off x="165735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5783" name="Oval 4"/>
          <p:cNvSpPr>
            <a:spLocks noChangeAspect="1" noChangeArrowheads="1"/>
          </p:cNvSpPr>
          <p:nvPr/>
        </p:nvSpPr>
        <p:spPr bwMode="auto">
          <a:xfrm>
            <a:off x="2914650" y="48577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5784" name="Oval 5"/>
          <p:cNvSpPr>
            <a:spLocks noChangeAspect="1" noChangeArrowheads="1"/>
          </p:cNvSpPr>
          <p:nvPr/>
        </p:nvSpPr>
        <p:spPr bwMode="auto">
          <a:xfrm>
            <a:off x="2914650" y="39433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5785" name="Oval 6"/>
          <p:cNvSpPr>
            <a:spLocks noChangeAspect="1" noChangeArrowheads="1"/>
          </p:cNvSpPr>
          <p:nvPr/>
        </p:nvSpPr>
        <p:spPr bwMode="auto">
          <a:xfrm>
            <a:off x="1543050" y="5143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5786" name="Oval 7"/>
          <p:cNvSpPr>
            <a:spLocks noChangeAspect="1" noChangeArrowheads="1"/>
          </p:cNvSpPr>
          <p:nvPr/>
        </p:nvSpPr>
        <p:spPr bwMode="auto">
          <a:xfrm>
            <a:off x="422910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5787" name="Oval 8"/>
          <p:cNvSpPr>
            <a:spLocks noChangeAspect="1" noChangeArrowheads="1"/>
          </p:cNvSpPr>
          <p:nvPr/>
        </p:nvSpPr>
        <p:spPr bwMode="auto">
          <a:xfrm>
            <a:off x="508635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5788" name="Oval 9"/>
          <p:cNvSpPr>
            <a:spLocks noChangeAspect="1" noChangeArrowheads="1"/>
          </p:cNvSpPr>
          <p:nvPr/>
        </p:nvSpPr>
        <p:spPr bwMode="auto">
          <a:xfrm>
            <a:off x="4572000" y="46863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5789" name="Oval 10"/>
          <p:cNvSpPr>
            <a:spLocks noChangeAspect="1" noChangeArrowheads="1"/>
          </p:cNvSpPr>
          <p:nvPr/>
        </p:nvSpPr>
        <p:spPr bwMode="auto">
          <a:xfrm>
            <a:off x="4000500" y="53721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5790" name="AutoShape 11"/>
          <p:cNvCxnSpPr>
            <a:cxnSpLocks noChangeShapeType="1"/>
            <a:stCxn id="75782" idx="6"/>
            <a:endCxn id="75783" idx="0"/>
          </p:cNvCxnSpPr>
          <p:nvPr/>
        </p:nvCxnSpPr>
        <p:spPr bwMode="auto">
          <a:xfrm>
            <a:off x="1953816" y="41433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1" name="AutoShape 12"/>
          <p:cNvCxnSpPr>
            <a:cxnSpLocks noChangeShapeType="1"/>
            <a:stCxn id="75783" idx="2"/>
            <a:endCxn id="75782" idx="4"/>
          </p:cNvCxnSpPr>
          <p:nvPr/>
        </p:nvCxnSpPr>
        <p:spPr bwMode="auto">
          <a:xfrm rot="10800000">
            <a:off x="1800225" y="42969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2" name="AutoShape 13"/>
          <p:cNvCxnSpPr>
            <a:cxnSpLocks noChangeShapeType="1"/>
            <a:stCxn id="75782" idx="7"/>
            <a:endCxn id="75784" idx="2"/>
          </p:cNvCxnSpPr>
          <p:nvPr/>
        </p:nvCxnSpPr>
        <p:spPr bwMode="auto">
          <a:xfrm>
            <a:off x="1901429" y="403145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3" name="AutoShape 14"/>
          <p:cNvCxnSpPr>
            <a:cxnSpLocks noChangeShapeType="1"/>
            <a:stCxn id="75784" idx="5"/>
            <a:endCxn id="75783" idx="7"/>
          </p:cNvCxnSpPr>
          <p:nvPr/>
        </p:nvCxnSpPr>
        <p:spPr bwMode="auto">
          <a:xfrm>
            <a:off x="3158729" y="419814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4" name="AutoShape 15"/>
          <p:cNvCxnSpPr>
            <a:cxnSpLocks noChangeShapeType="1"/>
            <a:stCxn id="75785" idx="6"/>
            <a:endCxn id="75783" idx="3"/>
          </p:cNvCxnSpPr>
          <p:nvPr/>
        </p:nvCxnSpPr>
        <p:spPr bwMode="auto">
          <a:xfrm flipV="1">
            <a:off x="1839517" y="51125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5" name="AutoShape 16"/>
          <p:cNvCxnSpPr>
            <a:cxnSpLocks noChangeShapeType="1"/>
            <a:stCxn id="75782" idx="3"/>
            <a:endCxn id="75785" idx="0"/>
          </p:cNvCxnSpPr>
          <p:nvPr/>
        </p:nvCxnSpPr>
        <p:spPr bwMode="auto">
          <a:xfrm flipH="1">
            <a:off x="1685926" y="42552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6" name="AutoShape 17"/>
          <p:cNvCxnSpPr>
            <a:cxnSpLocks noChangeShapeType="1"/>
            <a:stCxn id="75783" idx="5"/>
            <a:endCxn id="75789" idx="1"/>
          </p:cNvCxnSpPr>
          <p:nvPr/>
        </p:nvCxnSpPr>
        <p:spPr bwMode="auto">
          <a:xfrm>
            <a:off x="3158729" y="51125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7" name="AutoShape 18"/>
          <p:cNvCxnSpPr>
            <a:cxnSpLocks noChangeShapeType="1"/>
            <a:stCxn id="75789" idx="2"/>
            <a:endCxn id="75785" idx="5"/>
          </p:cNvCxnSpPr>
          <p:nvPr/>
        </p:nvCxnSpPr>
        <p:spPr bwMode="auto">
          <a:xfrm flipH="1" flipV="1">
            <a:off x="1787129" y="53982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8" name="AutoShape 19"/>
          <p:cNvCxnSpPr>
            <a:cxnSpLocks noChangeShapeType="1"/>
            <a:stCxn id="75788" idx="1"/>
            <a:endCxn id="75786" idx="4"/>
          </p:cNvCxnSpPr>
          <p:nvPr/>
        </p:nvCxnSpPr>
        <p:spPr bwMode="auto">
          <a:xfrm flipH="1" flipV="1">
            <a:off x="4371976" y="42969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99" name="AutoShape 20"/>
          <p:cNvCxnSpPr>
            <a:cxnSpLocks noChangeShapeType="1"/>
            <a:stCxn id="75786" idx="6"/>
            <a:endCxn id="75787" idx="2"/>
          </p:cNvCxnSpPr>
          <p:nvPr/>
        </p:nvCxnSpPr>
        <p:spPr bwMode="auto">
          <a:xfrm>
            <a:off x="4525566" y="41433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800" name="AutoShape 21"/>
          <p:cNvCxnSpPr>
            <a:cxnSpLocks noChangeShapeType="1"/>
            <a:stCxn id="75787" idx="4"/>
            <a:endCxn id="75788" idx="7"/>
          </p:cNvCxnSpPr>
          <p:nvPr/>
        </p:nvCxnSpPr>
        <p:spPr bwMode="auto">
          <a:xfrm flipH="1">
            <a:off x="4816078" y="42969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801" name="AutoShape 22"/>
          <p:cNvCxnSpPr>
            <a:cxnSpLocks noChangeShapeType="1"/>
            <a:stCxn id="75788" idx="2"/>
            <a:endCxn id="75789" idx="0"/>
          </p:cNvCxnSpPr>
          <p:nvPr/>
        </p:nvCxnSpPr>
        <p:spPr bwMode="auto">
          <a:xfrm rot="10800000" flipV="1">
            <a:off x="4143375" y="48291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802" name="AutoShape 23"/>
          <p:cNvCxnSpPr>
            <a:cxnSpLocks noChangeShapeType="1"/>
            <a:stCxn id="75789" idx="6"/>
            <a:endCxn id="75788" idx="4"/>
          </p:cNvCxnSpPr>
          <p:nvPr/>
        </p:nvCxnSpPr>
        <p:spPr bwMode="auto">
          <a:xfrm flipV="1">
            <a:off x="4296966" y="49827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803" name="Text Box 24"/>
          <p:cNvSpPr txBox="1">
            <a:spLocks noChangeArrowheads="1"/>
          </p:cNvSpPr>
          <p:nvPr/>
        </p:nvSpPr>
        <p:spPr bwMode="auto">
          <a:xfrm>
            <a:off x="325755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0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5804" name="Text Box 25"/>
          <p:cNvSpPr txBox="1">
            <a:spLocks noChangeArrowheads="1"/>
          </p:cNvSpPr>
          <p:nvPr/>
        </p:nvSpPr>
        <p:spPr bwMode="auto">
          <a:xfrm>
            <a:off x="1473994" y="5951935"/>
            <a:ext cx="3199130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Q =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B G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  <a:p>
            <a:pPr algn="l"/>
            <a:r>
              <a:rPr lang="en-US" sz="1800">
                <a:sym typeface="+mn-ea"/>
              </a:rPr>
              <a:t>Distance[G]=Distance[</a:t>
            </a:r>
            <a:r>
              <a:rPr lang="en-US" sz="1800">
                <a:sym typeface="+mn-ea"/>
              </a:rPr>
              <a:t>E]+1=2</a:t>
            </a:r>
            <a:endParaRPr lang="en-US" sz="1800">
              <a:sym typeface="+mn-ea"/>
            </a:endParaRPr>
          </a:p>
          <a:p>
            <a:pPr algn="l"/>
            <a:r>
              <a:rPr lang="en-US" altLang="zh-CN" sz="1800">
                <a:sym typeface="+mn-ea"/>
              </a:rPr>
              <a:t>Previous</a:t>
            </a:r>
            <a:r>
              <a:rPr lang="en-US" sz="1800">
                <a:sym typeface="+mn-ea"/>
              </a:rPr>
              <a:t>[G]=</a:t>
            </a:r>
            <a:r>
              <a:rPr lang="en-US" sz="1800">
                <a:sym typeface="+mn-ea"/>
              </a:rPr>
              <a:t>E</a:t>
            </a:r>
            <a:endParaRPr lang="en-US" sz="1800">
              <a:sym typeface="+mn-ea"/>
            </a:endParaRPr>
          </a:p>
        </p:txBody>
      </p:sp>
      <p:sp>
        <p:nvSpPr>
          <p:cNvPr id="75805" name="Text Box 26"/>
          <p:cNvSpPr txBox="1">
            <a:spLocks noChangeArrowheads="1"/>
          </p:cNvSpPr>
          <p:nvPr/>
        </p:nvSpPr>
        <p:spPr bwMode="auto">
          <a:xfrm>
            <a:off x="4286250" y="55435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5806" name="Text Box 27"/>
          <p:cNvSpPr txBox="1">
            <a:spLocks noChangeArrowheads="1"/>
          </p:cNvSpPr>
          <p:nvPr/>
        </p:nvSpPr>
        <p:spPr bwMode="auto">
          <a:xfrm>
            <a:off x="1428750" y="38290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5807" name="Text Box 28"/>
          <p:cNvSpPr txBox="1">
            <a:spLocks noChangeArrowheads="1"/>
          </p:cNvSpPr>
          <p:nvPr/>
        </p:nvSpPr>
        <p:spPr bwMode="auto">
          <a:xfrm>
            <a:off x="1314450" y="49149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5808" name="Text Box 29"/>
          <p:cNvSpPr txBox="1">
            <a:spLocks noChangeArrowheads="1"/>
          </p:cNvSpPr>
          <p:nvPr/>
        </p:nvSpPr>
        <p:spPr bwMode="auto">
          <a:xfrm>
            <a:off x="3200400" y="37147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5809" name="Text Box 30"/>
          <p:cNvSpPr txBox="1">
            <a:spLocks noChangeArrowheads="1"/>
          </p:cNvSpPr>
          <p:nvPr/>
        </p:nvSpPr>
        <p:spPr bwMode="auto">
          <a:xfrm>
            <a:off x="491490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5810" name="Line 31"/>
          <p:cNvSpPr>
            <a:spLocks noChangeShapeType="1"/>
          </p:cNvSpPr>
          <p:nvPr/>
        </p:nvSpPr>
        <p:spPr bwMode="auto">
          <a:xfrm flipH="1" flipV="1">
            <a:off x="3143250" y="5200650"/>
            <a:ext cx="8001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5811" name="Line 32"/>
          <p:cNvSpPr>
            <a:spLocks noChangeShapeType="1"/>
          </p:cNvSpPr>
          <p:nvPr/>
        </p:nvSpPr>
        <p:spPr bwMode="auto">
          <a:xfrm flipV="1">
            <a:off x="1828800" y="5029200"/>
            <a:ext cx="1028700" cy="171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5812" name="Line 33"/>
          <p:cNvSpPr>
            <a:spLocks noChangeShapeType="1"/>
          </p:cNvSpPr>
          <p:nvPr/>
        </p:nvSpPr>
        <p:spPr bwMode="auto">
          <a:xfrm>
            <a:off x="1943100" y="4229100"/>
            <a:ext cx="971550" cy="628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5813" name="Line 34"/>
          <p:cNvSpPr>
            <a:spLocks noChangeShapeType="1"/>
          </p:cNvSpPr>
          <p:nvPr/>
        </p:nvSpPr>
        <p:spPr bwMode="auto">
          <a:xfrm flipH="1">
            <a:off x="1943100" y="3943350"/>
            <a:ext cx="9715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5814" name="Line 35"/>
          <p:cNvSpPr>
            <a:spLocks noChangeShapeType="1"/>
          </p:cNvSpPr>
          <p:nvPr/>
        </p:nvSpPr>
        <p:spPr bwMode="auto">
          <a:xfrm flipH="1">
            <a:off x="4286250" y="4972050"/>
            <a:ext cx="285750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68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1DF558-CD95-4D53-B435-B94D69AAF28E}" type="slidenum">
              <a:rPr lang="en-US" altLang="zh-CN" sz="1050"/>
            </a:fld>
            <a:endParaRPr lang="en-US" altLang="zh-CN" sz="1050"/>
          </a:p>
        </p:txBody>
      </p:sp>
      <p:sp>
        <p:nvSpPr>
          <p:cNvPr id="7680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 (</a:t>
            </a:r>
            <a:r>
              <a:rPr lang="en-US" altLang="zh-CN" dirty="0" err="1" smtClean="0">
                <a:ea typeface="SimSun" pitchFamily="2" charset="-122"/>
              </a:rPr>
              <a:t>ct’d</a:t>
            </a:r>
            <a:r>
              <a:rPr lang="en-US" altLang="zh-CN" dirty="0" smtClean="0">
                <a:ea typeface="SimSun" pitchFamily="2" charset="-122"/>
              </a:rPr>
              <a:t>)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6806" name="Oval 1027"/>
          <p:cNvSpPr>
            <a:spLocks noChangeAspect="1" noChangeArrowheads="1"/>
          </p:cNvSpPr>
          <p:nvPr/>
        </p:nvSpPr>
        <p:spPr bwMode="auto">
          <a:xfrm>
            <a:off x="165735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6807" name="Oval 1028"/>
          <p:cNvSpPr>
            <a:spLocks noChangeAspect="1" noChangeArrowheads="1"/>
          </p:cNvSpPr>
          <p:nvPr/>
        </p:nvSpPr>
        <p:spPr bwMode="auto">
          <a:xfrm>
            <a:off x="2914650" y="48577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6808" name="Oval 1029"/>
          <p:cNvSpPr>
            <a:spLocks noChangeAspect="1" noChangeArrowheads="1"/>
          </p:cNvSpPr>
          <p:nvPr/>
        </p:nvSpPr>
        <p:spPr bwMode="auto">
          <a:xfrm>
            <a:off x="2914650" y="39433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6809" name="Oval 1030"/>
          <p:cNvSpPr>
            <a:spLocks noChangeAspect="1" noChangeArrowheads="1"/>
          </p:cNvSpPr>
          <p:nvPr/>
        </p:nvSpPr>
        <p:spPr bwMode="auto">
          <a:xfrm>
            <a:off x="1543050" y="5143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6810" name="Oval 1031"/>
          <p:cNvSpPr>
            <a:spLocks noChangeAspect="1" noChangeArrowheads="1"/>
          </p:cNvSpPr>
          <p:nvPr/>
        </p:nvSpPr>
        <p:spPr bwMode="auto">
          <a:xfrm>
            <a:off x="422910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6811" name="Oval 1032"/>
          <p:cNvSpPr>
            <a:spLocks noChangeAspect="1" noChangeArrowheads="1"/>
          </p:cNvSpPr>
          <p:nvPr/>
        </p:nvSpPr>
        <p:spPr bwMode="auto">
          <a:xfrm>
            <a:off x="508635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6812" name="Oval 1033"/>
          <p:cNvSpPr>
            <a:spLocks noChangeAspect="1" noChangeArrowheads="1"/>
          </p:cNvSpPr>
          <p:nvPr/>
        </p:nvSpPr>
        <p:spPr bwMode="auto">
          <a:xfrm>
            <a:off x="4572000" y="46863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6813" name="Oval 1034"/>
          <p:cNvSpPr>
            <a:spLocks noChangeAspect="1" noChangeArrowheads="1"/>
          </p:cNvSpPr>
          <p:nvPr/>
        </p:nvSpPr>
        <p:spPr bwMode="auto">
          <a:xfrm>
            <a:off x="4000500" y="53721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6814" name="AutoShape 1035"/>
          <p:cNvCxnSpPr>
            <a:cxnSpLocks noChangeShapeType="1"/>
            <a:stCxn id="76806" idx="6"/>
            <a:endCxn id="76807" idx="0"/>
          </p:cNvCxnSpPr>
          <p:nvPr/>
        </p:nvCxnSpPr>
        <p:spPr bwMode="auto">
          <a:xfrm>
            <a:off x="1953816" y="41433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5" name="AutoShape 1036"/>
          <p:cNvCxnSpPr>
            <a:cxnSpLocks noChangeShapeType="1"/>
            <a:stCxn id="76807" idx="2"/>
            <a:endCxn id="76806" idx="4"/>
          </p:cNvCxnSpPr>
          <p:nvPr/>
        </p:nvCxnSpPr>
        <p:spPr bwMode="auto">
          <a:xfrm rot="10800000">
            <a:off x="1800225" y="42969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6" name="AutoShape 1037"/>
          <p:cNvCxnSpPr>
            <a:cxnSpLocks noChangeShapeType="1"/>
            <a:stCxn id="76806" idx="7"/>
            <a:endCxn id="76808" idx="2"/>
          </p:cNvCxnSpPr>
          <p:nvPr/>
        </p:nvCxnSpPr>
        <p:spPr bwMode="auto">
          <a:xfrm>
            <a:off x="1901429" y="403145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7" name="AutoShape 1038"/>
          <p:cNvCxnSpPr>
            <a:cxnSpLocks noChangeShapeType="1"/>
            <a:stCxn id="76808" idx="5"/>
            <a:endCxn id="76807" idx="7"/>
          </p:cNvCxnSpPr>
          <p:nvPr/>
        </p:nvCxnSpPr>
        <p:spPr bwMode="auto">
          <a:xfrm>
            <a:off x="3158729" y="419814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8" name="AutoShape 1039"/>
          <p:cNvCxnSpPr>
            <a:cxnSpLocks noChangeShapeType="1"/>
            <a:stCxn id="76809" idx="6"/>
            <a:endCxn id="76807" idx="3"/>
          </p:cNvCxnSpPr>
          <p:nvPr/>
        </p:nvCxnSpPr>
        <p:spPr bwMode="auto">
          <a:xfrm flipV="1">
            <a:off x="1839517" y="51125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9" name="AutoShape 1040"/>
          <p:cNvCxnSpPr>
            <a:cxnSpLocks noChangeShapeType="1"/>
            <a:stCxn id="76806" idx="3"/>
            <a:endCxn id="76809" idx="0"/>
          </p:cNvCxnSpPr>
          <p:nvPr/>
        </p:nvCxnSpPr>
        <p:spPr bwMode="auto">
          <a:xfrm flipH="1">
            <a:off x="1685926" y="42552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0" name="AutoShape 1041"/>
          <p:cNvCxnSpPr>
            <a:cxnSpLocks noChangeShapeType="1"/>
            <a:stCxn id="76807" idx="5"/>
            <a:endCxn id="76813" idx="1"/>
          </p:cNvCxnSpPr>
          <p:nvPr/>
        </p:nvCxnSpPr>
        <p:spPr bwMode="auto">
          <a:xfrm>
            <a:off x="3158729" y="51125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1" name="AutoShape 1042"/>
          <p:cNvCxnSpPr>
            <a:cxnSpLocks noChangeShapeType="1"/>
            <a:stCxn id="76813" idx="2"/>
            <a:endCxn id="76809" idx="5"/>
          </p:cNvCxnSpPr>
          <p:nvPr/>
        </p:nvCxnSpPr>
        <p:spPr bwMode="auto">
          <a:xfrm flipH="1" flipV="1">
            <a:off x="1787129" y="53982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2" name="AutoShape 1043"/>
          <p:cNvCxnSpPr>
            <a:cxnSpLocks noChangeShapeType="1"/>
            <a:stCxn id="76812" idx="1"/>
            <a:endCxn id="76810" idx="4"/>
          </p:cNvCxnSpPr>
          <p:nvPr/>
        </p:nvCxnSpPr>
        <p:spPr bwMode="auto">
          <a:xfrm flipH="1" flipV="1">
            <a:off x="4371976" y="42969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3" name="AutoShape 1044"/>
          <p:cNvCxnSpPr>
            <a:cxnSpLocks noChangeShapeType="1"/>
            <a:stCxn id="76810" idx="6"/>
            <a:endCxn id="76811" idx="2"/>
          </p:cNvCxnSpPr>
          <p:nvPr/>
        </p:nvCxnSpPr>
        <p:spPr bwMode="auto">
          <a:xfrm>
            <a:off x="4525566" y="41433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4" name="AutoShape 1045"/>
          <p:cNvCxnSpPr>
            <a:cxnSpLocks noChangeShapeType="1"/>
            <a:stCxn id="76811" idx="4"/>
            <a:endCxn id="76812" idx="7"/>
          </p:cNvCxnSpPr>
          <p:nvPr/>
        </p:nvCxnSpPr>
        <p:spPr bwMode="auto">
          <a:xfrm flipH="1">
            <a:off x="4816078" y="42969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5" name="AutoShape 1046"/>
          <p:cNvCxnSpPr>
            <a:cxnSpLocks noChangeShapeType="1"/>
            <a:stCxn id="76812" idx="2"/>
            <a:endCxn id="76813" idx="0"/>
          </p:cNvCxnSpPr>
          <p:nvPr/>
        </p:nvCxnSpPr>
        <p:spPr bwMode="auto">
          <a:xfrm rot="10800000" flipV="1">
            <a:off x="4143375" y="48291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26" name="AutoShape 1047"/>
          <p:cNvCxnSpPr>
            <a:cxnSpLocks noChangeShapeType="1"/>
            <a:stCxn id="76813" idx="6"/>
            <a:endCxn id="76812" idx="4"/>
          </p:cNvCxnSpPr>
          <p:nvPr/>
        </p:nvCxnSpPr>
        <p:spPr bwMode="auto">
          <a:xfrm flipV="1">
            <a:off x="4296966" y="49827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827" name="Text Box 1048"/>
          <p:cNvSpPr txBox="1">
            <a:spLocks noChangeArrowheads="1"/>
          </p:cNvSpPr>
          <p:nvPr/>
        </p:nvSpPr>
        <p:spPr bwMode="auto">
          <a:xfrm>
            <a:off x="325755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0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28" name="Text Box 1049"/>
          <p:cNvSpPr txBox="1">
            <a:spLocks noChangeArrowheads="1"/>
          </p:cNvSpPr>
          <p:nvPr/>
        </p:nvSpPr>
        <p:spPr bwMode="auto">
          <a:xfrm>
            <a:off x="1473994" y="5951935"/>
            <a:ext cx="7681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Q =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F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76829" name="Text Box 1050"/>
          <p:cNvSpPr txBox="1">
            <a:spLocks noChangeArrowheads="1"/>
          </p:cNvSpPr>
          <p:nvPr/>
        </p:nvSpPr>
        <p:spPr bwMode="auto">
          <a:xfrm>
            <a:off x="4286250" y="55435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30" name="Text Box 1051"/>
          <p:cNvSpPr txBox="1">
            <a:spLocks noChangeArrowheads="1"/>
          </p:cNvSpPr>
          <p:nvPr/>
        </p:nvSpPr>
        <p:spPr bwMode="auto">
          <a:xfrm>
            <a:off x="1428750" y="38290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31" name="Text Box 1052"/>
          <p:cNvSpPr txBox="1">
            <a:spLocks noChangeArrowheads="1"/>
          </p:cNvSpPr>
          <p:nvPr/>
        </p:nvSpPr>
        <p:spPr bwMode="auto">
          <a:xfrm>
            <a:off x="1314450" y="49149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32" name="Text Box 1053"/>
          <p:cNvSpPr txBox="1">
            <a:spLocks noChangeArrowheads="1"/>
          </p:cNvSpPr>
          <p:nvPr/>
        </p:nvSpPr>
        <p:spPr bwMode="auto">
          <a:xfrm>
            <a:off x="3200400" y="37147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33" name="Text Box 1054"/>
          <p:cNvSpPr txBox="1">
            <a:spLocks noChangeArrowheads="1"/>
          </p:cNvSpPr>
          <p:nvPr/>
        </p:nvSpPr>
        <p:spPr bwMode="auto">
          <a:xfrm>
            <a:off x="491490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34" name="Text Box 1055"/>
          <p:cNvSpPr txBox="1">
            <a:spLocks noChangeArrowheads="1"/>
          </p:cNvSpPr>
          <p:nvPr/>
        </p:nvSpPr>
        <p:spPr bwMode="auto">
          <a:xfrm>
            <a:off x="4171950" y="36576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3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35" name="Text Box 1056"/>
          <p:cNvSpPr txBox="1">
            <a:spLocks noChangeArrowheads="1"/>
          </p:cNvSpPr>
          <p:nvPr/>
        </p:nvSpPr>
        <p:spPr bwMode="auto">
          <a:xfrm>
            <a:off x="5314950" y="37147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4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6836" name="Line 1057"/>
          <p:cNvSpPr>
            <a:spLocks noChangeShapeType="1"/>
          </p:cNvSpPr>
          <p:nvPr/>
        </p:nvSpPr>
        <p:spPr bwMode="auto">
          <a:xfrm flipH="1" flipV="1">
            <a:off x="3143250" y="5200650"/>
            <a:ext cx="8001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837" name="Line 1058"/>
          <p:cNvSpPr>
            <a:spLocks noChangeShapeType="1"/>
          </p:cNvSpPr>
          <p:nvPr/>
        </p:nvSpPr>
        <p:spPr bwMode="auto">
          <a:xfrm flipV="1">
            <a:off x="1828800" y="5029200"/>
            <a:ext cx="1028700" cy="171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838" name="Line 1059"/>
          <p:cNvSpPr>
            <a:spLocks noChangeShapeType="1"/>
          </p:cNvSpPr>
          <p:nvPr/>
        </p:nvSpPr>
        <p:spPr bwMode="auto">
          <a:xfrm>
            <a:off x="1943100" y="4229100"/>
            <a:ext cx="971550" cy="628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839" name="Line 1060"/>
          <p:cNvSpPr>
            <a:spLocks noChangeShapeType="1"/>
          </p:cNvSpPr>
          <p:nvPr/>
        </p:nvSpPr>
        <p:spPr bwMode="auto">
          <a:xfrm flipH="1">
            <a:off x="1943100" y="3943350"/>
            <a:ext cx="9715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840" name="Line 1061"/>
          <p:cNvSpPr>
            <a:spLocks noChangeShapeType="1"/>
          </p:cNvSpPr>
          <p:nvPr/>
        </p:nvSpPr>
        <p:spPr bwMode="auto">
          <a:xfrm flipH="1">
            <a:off x="4286250" y="4972050"/>
            <a:ext cx="285750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841" name="Line 1062"/>
          <p:cNvSpPr>
            <a:spLocks noChangeShapeType="1"/>
          </p:cNvSpPr>
          <p:nvPr/>
        </p:nvSpPr>
        <p:spPr bwMode="auto">
          <a:xfrm>
            <a:off x="4286250" y="4343400"/>
            <a:ext cx="228600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842" name="Line 1063"/>
          <p:cNvSpPr>
            <a:spLocks noChangeShapeType="1"/>
          </p:cNvSpPr>
          <p:nvPr/>
        </p:nvSpPr>
        <p:spPr bwMode="auto">
          <a:xfrm flipH="1">
            <a:off x="4572000" y="4000500"/>
            <a:ext cx="514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782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1CF30A-FB8F-48BB-98C6-86BFBDD60BA7}" type="slidenum">
              <a:rPr lang="en-US" altLang="zh-CN" sz="1050"/>
            </a:fld>
            <a:endParaRPr lang="en-US" altLang="zh-CN" sz="1050"/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Example (ct’d)</a:t>
            </a:r>
            <a:endParaRPr lang="en-US" altLang="zh-CN" smtClean="0">
              <a:ea typeface="SimSun" pitchFamily="2" charset="-122"/>
            </a:endParaRPr>
          </a:p>
        </p:txBody>
      </p:sp>
      <p:sp>
        <p:nvSpPr>
          <p:cNvPr id="77830" name="Oval 3"/>
          <p:cNvSpPr>
            <a:spLocks noChangeAspect="1" noChangeArrowheads="1"/>
          </p:cNvSpPr>
          <p:nvPr/>
        </p:nvSpPr>
        <p:spPr bwMode="auto">
          <a:xfrm>
            <a:off x="165735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7831" name="Oval 4"/>
          <p:cNvSpPr>
            <a:spLocks noChangeAspect="1" noChangeArrowheads="1"/>
          </p:cNvSpPr>
          <p:nvPr/>
        </p:nvSpPr>
        <p:spPr bwMode="auto">
          <a:xfrm>
            <a:off x="2914650" y="48577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7832" name="Oval 5"/>
          <p:cNvSpPr>
            <a:spLocks noChangeAspect="1" noChangeArrowheads="1"/>
          </p:cNvSpPr>
          <p:nvPr/>
        </p:nvSpPr>
        <p:spPr bwMode="auto">
          <a:xfrm>
            <a:off x="2914650" y="394335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7833" name="Oval 6"/>
          <p:cNvSpPr>
            <a:spLocks noChangeAspect="1" noChangeArrowheads="1"/>
          </p:cNvSpPr>
          <p:nvPr/>
        </p:nvSpPr>
        <p:spPr bwMode="auto">
          <a:xfrm>
            <a:off x="1543050" y="5143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7834" name="Oval 7"/>
          <p:cNvSpPr>
            <a:spLocks noChangeAspect="1" noChangeArrowheads="1"/>
          </p:cNvSpPr>
          <p:nvPr/>
        </p:nvSpPr>
        <p:spPr bwMode="auto">
          <a:xfrm>
            <a:off x="4229100" y="40005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7835" name="Oval 8"/>
          <p:cNvSpPr>
            <a:spLocks noChangeAspect="1" noChangeArrowheads="1"/>
          </p:cNvSpPr>
          <p:nvPr/>
        </p:nvSpPr>
        <p:spPr bwMode="auto">
          <a:xfrm>
            <a:off x="5086350" y="4000500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7836" name="Oval 9"/>
          <p:cNvSpPr>
            <a:spLocks noChangeAspect="1" noChangeArrowheads="1"/>
          </p:cNvSpPr>
          <p:nvPr/>
        </p:nvSpPr>
        <p:spPr bwMode="auto">
          <a:xfrm>
            <a:off x="4572000" y="46863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7837" name="Oval 10"/>
          <p:cNvSpPr>
            <a:spLocks noChangeAspect="1" noChangeArrowheads="1"/>
          </p:cNvSpPr>
          <p:nvPr/>
        </p:nvSpPr>
        <p:spPr bwMode="auto">
          <a:xfrm>
            <a:off x="4000500" y="5372100"/>
            <a:ext cx="285750" cy="28575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7838" name="AutoShape 11"/>
          <p:cNvCxnSpPr>
            <a:cxnSpLocks noChangeShapeType="1"/>
            <a:stCxn id="77830" idx="6"/>
            <a:endCxn id="77831" idx="0"/>
          </p:cNvCxnSpPr>
          <p:nvPr/>
        </p:nvCxnSpPr>
        <p:spPr bwMode="auto">
          <a:xfrm>
            <a:off x="1953816" y="4143375"/>
            <a:ext cx="1103709" cy="70366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39" name="AutoShape 12"/>
          <p:cNvCxnSpPr>
            <a:cxnSpLocks noChangeShapeType="1"/>
            <a:stCxn id="77831" idx="2"/>
            <a:endCxn id="77830" idx="4"/>
          </p:cNvCxnSpPr>
          <p:nvPr/>
        </p:nvCxnSpPr>
        <p:spPr bwMode="auto">
          <a:xfrm rot="10800000">
            <a:off x="1800225" y="4296966"/>
            <a:ext cx="1103710" cy="70365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0" name="AutoShape 13"/>
          <p:cNvCxnSpPr>
            <a:cxnSpLocks noChangeShapeType="1"/>
            <a:stCxn id="77830" idx="7"/>
            <a:endCxn id="77832" idx="2"/>
          </p:cNvCxnSpPr>
          <p:nvPr/>
        </p:nvCxnSpPr>
        <p:spPr bwMode="auto">
          <a:xfrm>
            <a:off x="1901429" y="4031457"/>
            <a:ext cx="10025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1" name="AutoShape 14"/>
          <p:cNvCxnSpPr>
            <a:cxnSpLocks noChangeShapeType="1"/>
            <a:stCxn id="77832" idx="5"/>
            <a:endCxn id="77831" idx="7"/>
          </p:cNvCxnSpPr>
          <p:nvPr/>
        </p:nvCxnSpPr>
        <p:spPr bwMode="auto">
          <a:xfrm>
            <a:off x="3158729" y="4198144"/>
            <a:ext cx="0" cy="6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2" name="AutoShape 15"/>
          <p:cNvCxnSpPr>
            <a:cxnSpLocks noChangeShapeType="1"/>
            <a:stCxn id="77833" idx="6"/>
            <a:endCxn id="77831" idx="3"/>
          </p:cNvCxnSpPr>
          <p:nvPr/>
        </p:nvCxnSpPr>
        <p:spPr bwMode="auto">
          <a:xfrm flipV="1">
            <a:off x="1839517" y="5112544"/>
            <a:ext cx="1116806" cy="17383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3" name="AutoShape 16"/>
          <p:cNvCxnSpPr>
            <a:cxnSpLocks noChangeShapeType="1"/>
            <a:stCxn id="77830" idx="3"/>
            <a:endCxn id="77833" idx="0"/>
          </p:cNvCxnSpPr>
          <p:nvPr/>
        </p:nvCxnSpPr>
        <p:spPr bwMode="auto">
          <a:xfrm flipH="1">
            <a:off x="1685926" y="4255294"/>
            <a:ext cx="13097" cy="87749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4" name="AutoShape 17"/>
          <p:cNvCxnSpPr>
            <a:cxnSpLocks noChangeShapeType="1"/>
            <a:stCxn id="77831" idx="5"/>
            <a:endCxn id="77837" idx="1"/>
          </p:cNvCxnSpPr>
          <p:nvPr/>
        </p:nvCxnSpPr>
        <p:spPr bwMode="auto">
          <a:xfrm>
            <a:off x="3158729" y="5112544"/>
            <a:ext cx="883444" cy="290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5" name="AutoShape 18"/>
          <p:cNvCxnSpPr>
            <a:cxnSpLocks noChangeShapeType="1"/>
            <a:stCxn id="77837" idx="2"/>
            <a:endCxn id="77833" idx="5"/>
          </p:cNvCxnSpPr>
          <p:nvPr/>
        </p:nvCxnSpPr>
        <p:spPr bwMode="auto">
          <a:xfrm flipH="1" flipV="1">
            <a:off x="1787129" y="5398294"/>
            <a:ext cx="2202656" cy="11668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6" name="AutoShape 19"/>
          <p:cNvCxnSpPr>
            <a:cxnSpLocks noChangeShapeType="1"/>
            <a:stCxn id="77836" idx="1"/>
            <a:endCxn id="77834" idx="4"/>
          </p:cNvCxnSpPr>
          <p:nvPr/>
        </p:nvCxnSpPr>
        <p:spPr bwMode="auto">
          <a:xfrm flipH="1" flipV="1">
            <a:off x="4371976" y="4296967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7" name="AutoShape 20"/>
          <p:cNvCxnSpPr>
            <a:cxnSpLocks noChangeShapeType="1"/>
            <a:stCxn id="77834" idx="6"/>
            <a:endCxn id="77835" idx="2"/>
          </p:cNvCxnSpPr>
          <p:nvPr/>
        </p:nvCxnSpPr>
        <p:spPr bwMode="auto">
          <a:xfrm>
            <a:off x="4525566" y="4143375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8" name="AutoShape 21"/>
          <p:cNvCxnSpPr>
            <a:cxnSpLocks noChangeShapeType="1"/>
            <a:stCxn id="77835" idx="4"/>
            <a:endCxn id="77836" idx="7"/>
          </p:cNvCxnSpPr>
          <p:nvPr/>
        </p:nvCxnSpPr>
        <p:spPr bwMode="auto">
          <a:xfrm flipH="1">
            <a:off x="4816078" y="4296967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49" name="AutoShape 22"/>
          <p:cNvCxnSpPr>
            <a:cxnSpLocks noChangeShapeType="1"/>
            <a:stCxn id="77836" idx="2"/>
            <a:endCxn id="77837" idx="0"/>
          </p:cNvCxnSpPr>
          <p:nvPr/>
        </p:nvCxnSpPr>
        <p:spPr bwMode="auto">
          <a:xfrm rot="10800000" flipV="1">
            <a:off x="4143375" y="4829175"/>
            <a:ext cx="417910" cy="5322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50" name="AutoShape 23"/>
          <p:cNvCxnSpPr>
            <a:cxnSpLocks noChangeShapeType="1"/>
            <a:stCxn id="77837" idx="6"/>
            <a:endCxn id="77836" idx="4"/>
          </p:cNvCxnSpPr>
          <p:nvPr/>
        </p:nvCxnSpPr>
        <p:spPr bwMode="auto">
          <a:xfrm flipV="1">
            <a:off x="4296966" y="4982766"/>
            <a:ext cx="417909" cy="5322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851" name="Text Box 24"/>
          <p:cNvSpPr txBox="1">
            <a:spLocks noChangeArrowheads="1"/>
          </p:cNvSpPr>
          <p:nvPr/>
        </p:nvSpPr>
        <p:spPr bwMode="auto">
          <a:xfrm>
            <a:off x="325755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0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7852" name="Text Box 25"/>
          <p:cNvSpPr txBox="1">
            <a:spLocks noChangeArrowheads="1"/>
          </p:cNvSpPr>
          <p:nvPr/>
        </p:nvSpPr>
        <p:spPr bwMode="auto">
          <a:xfrm>
            <a:off x="1473994" y="5951935"/>
            <a:ext cx="8114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Q =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 H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77853" name="Text Box 26"/>
          <p:cNvSpPr txBox="1">
            <a:spLocks noChangeArrowheads="1"/>
          </p:cNvSpPr>
          <p:nvPr/>
        </p:nvSpPr>
        <p:spPr bwMode="auto">
          <a:xfrm>
            <a:off x="4286250" y="55435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7854" name="Text Box 27"/>
          <p:cNvSpPr txBox="1">
            <a:spLocks noChangeArrowheads="1"/>
          </p:cNvSpPr>
          <p:nvPr/>
        </p:nvSpPr>
        <p:spPr bwMode="auto">
          <a:xfrm>
            <a:off x="1428750" y="38290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7855" name="Text Box 28"/>
          <p:cNvSpPr txBox="1">
            <a:spLocks noChangeArrowheads="1"/>
          </p:cNvSpPr>
          <p:nvPr/>
        </p:nvSpPr>
        <p:spPr bwMode="auto">
          <a:xfrm>
            <a:off x="1314450" y="49149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1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7856" name="Text Box 29"/>
          <p:cNvSpPr txBox="1">
            <a:spLocks noChangeArrowheads="1"/>
          </p:cNvSpPr>
          <p:nvPr/>
        </p:nvSpPr>
        <p:spPr bwMode="auto">
          <a:xfrm>
            <a:off x="3200400" y="371475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7857" name="Text Box 30"/>
          <p:cNvSpPr txBox="1">
            <a:spLocks noChangeArrowheads="1"/>
          </p:cNvSpPr>
          <p:nvPr/>
        </p:nvSpPr>
        <p:spPr bwMode="auto">
          <a:xfrm>
            <a:off x="4914900" y="46863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2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7858" name="Text Box 31"/>
          <p:cNvSpPr txBox="1">
            <a:spLocks noChangeArrowheads="1"/>
          </p:cNvSpPr>
          <p:nvPr/>
        </p:nvSpPr>
        <p:spPr bwMode="auto">
          <a:xfrm>
            <a:off x="4171950" y="3657600"/>
            <a:ext cx="292068" cy="32316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SimSun" pitchFamily="2" charset="-122"/>
              </a:rPr>
              <a:t>3</a:t>
            </a:r>
            <a:endParaRPr lang="en-US" altLang="zh-CN" sz="1500">
              <a:ea typeface="SimSun" pitchFamily="2" charset="-122"/>
            </a:endParaRPr>
          </a:p>
        </p:txBody>
      </p:sp>
      <p:sp>
        <p:nvSpPr>
          <p:cNvPr id="77859" name="Line 32"/>
          <p:cNvSpPr>
            <a:spLocks noChangeShapeType="1"/>
          </p:cNvSpPr>
          <p:nvPr/>
        </p:nvSpPr>
        <p:spPr bwMode="auto">
          <a:xfrm flipH="1" flipV="1">
            <a:off x="3143250" y="5200650"/>
            <a:ext cx="8001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7860" name="Line 33"/>
          <p:cNvSpPr>
            <a:spLocks noChangeShapeType="1"/>
          </p:cNvSpPr>
          <p:nvPr/>
        </p:nvSpPr>
        <p:spPr bwMode="auto">
          <a:xfrm flipV="1">
            <a:off x="1828800" y="5029200"/>
            <a:ext cx="1028700" cy="171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7861" name="Line 34"/>
          <p:cNvSpPr>
            <a:spLocks noChangeShapeType="1"/>
          </p:cNvSpPr>
          <p:nvPr/>
        </p:nvSpPr>
        <p:spPr bwMode="auto">
          <a:xfrm>
            <a:off x="1943100" y="4229100"/>
            <a:ext cx="971550" cy="628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7862" name="Line 35"/>
          <p:cNvSpPr>
            <a:spLocks noChangeShapeType="1"/>
          </p:cNvSpPr>
          <p:nvPr/>
        </p:nvSpPr>
        <p:spPr bwMode="auto">
          <a:xfrm flipH="1">
            <a:off x="1943100" y="3943350"/>
            <a:ext cx="9715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7863" name="Line 36"/>
          <p:cNvSpPr>
            <a:spLocks noChangeShapeType="1"/>
          </p:cNvSpPr>
          <p:nvPr/>
        </p:nvSpPr>
        <p:spPr bwMode="auto">
          <a:xfrm flipH="1">
            <a:off x="4286250" y="4972050"/>
            <a:ext cx="285750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7864" name="Line 37"/>
          <p:cNvSpPr>
            <a:spLocks noChangeShapeType="1"/>
          </p:cNvSpPr>
          <p:nvPr/>
        </p:nvSpPr>
        <p:spPr bwMode="auto">
          <a:xfrm>
            <a:off x="4286250" y="4343400"/>
            <a:ext cx="228600" cy="342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88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D6AF20-174C-4690-B641-2FA6EB719B2E}" type="slidenum">
              <a:rPr lang="en-US" altLang="zh-CN" sz="1050"/>
            </a:fld>
            <a:endParaRPr lang="en-US" altLang="zh-CN" sz="1050"/>
          </a:p>
        </p:txBody>
      </p:sp>
      <p:sp>
        <p:nvSpPr>
          <p:cNvPr id="78854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342900" y="2447657"/>
            <a:ext cx="6172200" cy="1983850"/>
          </a:xfrm>
        </p:spPr>
        <p:txBody>
          <a:bodyPr>
            <a:normAutofit/>
          </a:bodyPr>
          <a:lstStyle/>
          <a:p>
            <a:r>
              <a:rPr lang="en-US" altLang="zh-CN" dirty="0"/>
              <a:t>What if edges have weights?</a:t>
            </a:r>
            <a:endParaRPr lang="en-US" altLang="zh-CN" dirty="0"/>
          </a:p>
          <a:p>
            <a:r>
              <a:rPr lang="en-US" altLang="zh-CN" dirty="0" smtClean="0">
                <a:ea typeface="SimSun" pitchFamily="2" charset="-122"/>
              </a:rPr>
              <a:t>Breadth </a:t>
            </a:r>
            <a:r>
              <a:rPr lang="en-US" altLang="zh-CN" dirty="0">
                <a:ea typeface="SimSun" pitchFamily="2" charset="-122"/>
              </a:rPr>
              <a:t>First Search does not work anymore </a:t>
            </a:r>
            <a:endParaRPr lang="en-US" altLang="zh-CN" dirty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minimum </a:t>
            </a:r>
            <a:r>
              <a:rPr lang="en-US" altLang="zh-CN" i="1" dirty="0" smtClean="0">
                <a:ea typeface="SimSun" pitchFamily="2" charset="-122"/>
              </a:rPr>
              <a:t>cost</a:t>
            </a:r>
            <a:r>
              <a:rPr lang="en-US" altLang="zh-CN" dirty="0" smtClean="0">
                <a:ea typeface="SimSun" pitchFamily="2" charset="-122"/>
              </a:rPr>
              <a:t> path may have more edges than minimum </a:t>
            </a:r>
            <a:r>
              <a:rPr lang="en-US" altLang="zh-CN" i="1" dirty="0" smtClean="0">
                <a:ea typeface="SimSun" pitchFamily="2" charset="-122"/>
              </a:rPr>
              <a:t>length</a:t>
            </a:r>
            <a:r>
              <a:rPr lang="en-US" altLang="zh-CN" dirty="0" smtClean="0">
                <a:ea typeface="SimSun" pitchFamily="2" charset="-122"/>
              </a:rPr>
              <a:t> path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78855" name="Oval 2052"/>
          <p:cNvSpPr>
            <a:spLocks noChangeAspect="1" noChangeArrowheads="1"/>
          </p:cNvSpPr>
          <p:nvPr/>
        </p:nvSpPr>
        <p:spPr bwMode="auto">
          <a:xfrm>
            <a:off x="1630115" y="464557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A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8856" name="Oval 2053"/>
          <p:cNvSpPr>
            <a:spLocks noChangeAspect="1" noChangeArrowheads="1"/>
          </p:cNvSpPr>
          <p:nvPr/>
        </p:nvSpPr>
        <p:spPr bwMode="auto">
          <a:xfrm>
            <a:off x="2887415" y="555997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solidFill>
                  <a:srgbClr val="0000FF"/>
                </a:solidFill>
                <a:latin typeface="Courier New" panose="02070309020205020404" pitchFamily="49" charset="0"/>
                <a:ea typeface="SimSun" pitchFamily="2" charset="-122"/>
              </a:rPr>
              <a:t>C</a:t>
            </a:r>
            <a:endParaRPr lang="en-US" altLang="zh-CN" sz="1650" b="1">
              <a:solidFill>
                <a:srgbClr val="0000FF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8857" name="Oval 2054"/>
          <p:cNvSpPr>
            <a:spLocks noChangeAspect="1" noChangeArrowheads="1"/>
          </p:cNvSpPr>
          <p:nvPr/>
        </p:nvSpPr>
        <p:spPr bwMode="auto">
          <a:xfrm>
            <a:off x="3116015" y="458842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B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8858" name="Oval 2055"/>
          <p:cNvSpPr>
            <a:spLocks noChangeAspect="1" noChangeArrowheads="1"/>
          </p:cNvSpPr>
          <p:nvPr/>
        </p:nvSpPr>
        <p:spPr bwMode="auto">
          <a:xfrm>
            <a:off x="1515815" y="578857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D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8859" name="Oval 2056"/>
          <p:cNvSpPr>
            <a:spLocks noChangeAspect="1" noChangeArrowheads="1"/>
          </p:cNvSpPr>
          <p:nvPr/>
        </p:nvSpPr>
        <p:spPr bwMode="auto">
          <a:xfrm>
            <a:off x="4201865" y="464557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F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8860" name="Oval 2057"/>
          <p:cNvSpPr>
            <a:spLocks noChangeAspect="1" noChangeArrowheads="1"/>
          </p:cNvSpPr>
          <p:nvPr/>
        </p:nvSpPr>
        <p:spPr bwMode="auto">
          <a:xfrm>
            <a:off x="5059115" y="464557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H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8861" name="Oval 2058"/>
          <p:cNvSpPr>
            <a:spLocks noChangeAspect="1" noChangeArrowheads="1"/>
          </p:cNvSpPr>
          <p:nvPr/>
        </p:nvSpPr>
        <p:spPr bwMode="auto">
          <a:xfrm>
            <a:off x="4544765" y="533137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8862" name="Oval 2059"/>
          <p:cNvSpPr>
            <a:spLocks noChangeAspect="1" noChangeArrowheads="1"/>
          </p:cNvSpPr>
          <p:nvPr/>
        </p:nvSpPr>
        <p:spPr bwMode="auto">
          <a:xfrm>
            <a:off x="3858965" y="5902871"/>
            <a:ext cx="285750" cy="285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50" b="1">
                <a:latin typeface="Courier New" panose="02070309020205020404" pitchFamily="49" charset="0"/>
                <a:ea typeface="SimSun" pitchFamily="2" charset="-122"/>
              </a:rPr>
              <a:t>E</a:t>
            </a:r>
            <a:endParaRPr lang="en-US" altLang="zh-CN" sz="165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78863" name="AutoShape 2060"/>
          <p:cNvCxnSpPr>
            <a:cxnSpLocks noChangeShapeType="1"/>
            <a:stCxn id="78855" idx="6"/>
            <a:endCxn id="78856" idx="1"/>
          </p:cNvCxnSpPr>
          <p:nvPr/>
        </p:nvCxnSpPr>
        <p:spPr bwMode="auto">
          <a:xfrm>
            <a:off x="1926581" y="4788447"/>
            <a:ext cx="1002506" cy="802481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4" name="AutoShape 2061"/>
          <p:cNvCxnSpPr>
            <a:cxnSpLocks noChangeShapeType="1"/>
            <a:stCxn id="78856" idx="2"/>
            <a:endCxn id="78855" idx="4"/>
          </p:cNvCxnSpPr>
          <p:nvPr/>
        </p:nvCxnSpPr>
        <p:spPr bwMode="auto">
          <a:xfrm rot="10800000">
            <a:off x="1772990" y="4942037"/>
            <a:ext cx="1103709" cy="760809"/>
          </a:xfrm>
          <a:prstGeom prst="curvedConnector2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5" name="AutoShape 2062"/>
          <p:cNvCxnSpPr>
            <a:cxnSpLocks noChangeShapeType="1"/>
            <a:stCxn id="78855" idx="7"/>
            <a:endCxn id="78857" idx="2"/>
          </p:cNvCxnSpPr>
          <p:nvPr/>
        </p:nvCxnSpPr>
        <p:spPr bwMode="auto">
          <a:xfrm>
            <a:off x="1874193" y="4676528"/>
            <a:ext cx="1231106" cy="547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6" name="AutoShape 2063"/>
          <p:cNvCxnSpPr>
            <a:cxnSpLocks noChangeShapeType="1"/>
            <a:stCxn id="78857" idx="4"/>
            <a:endCxn id="78856" idx="0"/>
          </p:cNvCxnSpPr>
          <p:nvPr/>
        </p:nvCxnSpPr>
        <p:spPr bwMode="auto">
          <a:xfrm flipH="1">
            <a:off x="3030290" y="4884887"/>
            <a:ext cx="228600" cy="6643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7" name="AutoShape 2064"/>
          <p:cNvCxnSpPr>
            <a:cxnSpLocks noChangeShapeType="1"/>
            <a:stCxn id="78858" idx="6"/>
            <a:endCxn id="78856" idx="3"/>
          </p:cNvCxnSpPr>
          <p:nvPr/>
        </p:nvCxnSpPr>
        <p:spPr bwMode="auto">
          <a:xfrm flipV="1">
            <a:off x="1812281" y="5814765"/>
            <a:ext cx="1116806" cy="11668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8" name="AutoShape 2065"/>
          <p:cNvCxnSpPr>
            <a:cxnSpLocks noChangeShapeType="1"/>
            <a:stCxn id="78855" idx="3"/>
            <a:endCxn id="78858" idx="0"/>
          </p:cNvCxnSpPr>
          <p:nvPr/>
        </p:nvCxnSpPr>
        <p:spPr bwMode="auto">
          <a:xfrm flipH="1">
            <a:off x="1658690" y="4900365"/>
            <a:ext cx="13097" cy="877491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9" name="AutoShape 2066"/>
          <p:cNvCxnSpPr>
            <a:cxnSpLocks noChangeShapeType="1"/>
            <a:stCxn id="78856" idx="5"/>
            <a:endCxn id="78862" idx="2"/>
          </p:cNvCxnSpPr>
          <p:nvPr/>
        </p:nvCxnSpPr>
        <p:spPr bwMode="auto">
          <a:xfrm>
            <a:off x="3131493" y="5814765"/>
            <a:ext cx="716756" cy="230981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0" name="AutoShape 2067"/>
          <p:cNvCxnSpPr>
            <a:cxnSpLocks noChangeShapeType="1"/>
            <a:stCxn id="78862" idx="3"/>
            <a:endCxn id="78858" idx="5"/>
          </p:cNvCxnSpPr>
          <p:nvPr/>
        </p:nvCxnSpPr>
        <p:spPr bwMode="auto">
          <a:xfrm flipH="1" flipV="1">
            <a:off x="1759893" y="6043365"/>
            <a:ext cx="2140744" cy="114300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1" name="AutoShape 2068"/>
          <p:cNvCxnSpPr>
            <a:cxnSpLocks noChangeShapeType="1"/>
            <a:stCxn id="78861" idx="1"/>
            <a:endCxn id="78859" idx="4"/>
          </p:cNvCxnSpPr>
          <p:nvPr/>
        </p:nvCxnSpPr>
        <p:spPr bwMode="auto">
          <a:xfrm flipH="1" flipV="1">
            <a:off x="4344740" y="4942038"/>
            <a:ext cx="24169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2" name="AutoShape 2069"/>
          <p:cNvCxnSpPr>
            <a:cxnSpLocks noChangeShapeType="1"/>
            <a:stCxn id="78859" idx="6"/>
            <a:endCxn id="78860" idx="2"/>
          </p:cNvCxnSpPr>
          <p:nvPr/>
        </p:nvCxnSpPr>
        <p:spPr bwMode="auto">
          <a:xfrm>
            <a:off x="4498331" y="4788446"/>
            <a:ext cx="55006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3" name="AutoShape 2070"/>
          <p:cNvCxnSpPr>
            <a:cxnSpLocks noChangeShapeType="1"/>
            <a:stCxn id="78860" idx="4"/>
            <a:endCxn id="78861" idx="7"/>
          </p:cNvCxnSpPr>
          <p:nvPr/>
        </p:nvCxnSpPr>
        <p:spPr bwMode="auto">
          <a:xfrm flipH="1">
            <a:off x="4788843" y="4942038"/>
            <a:ext cx="413147" cy="42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4" name="AutoShape 2071"/>
          <p:cNvCxnSpPr>
            <a:cxnSpLocks noChangeShapeType="1"/>
            <a:stCxn id="78861" idx="2"/>
            <a:endCxn id="78862" idx="0"/>
          </p:cNvCxnSpPr>
          <p:nvPr/>
        </p:nvCxnSpPr>
        <p:spPr bwMode="auto">
          <a:xfrm rot="10800000" flipV="1">
            <a:off x="4001840" y="5474246"/>
            <a:ext cx="532209" cy="41791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75" name="AutoShape 2072"/>
          <p:cNvCxnSpPr>
            <a:cxnSpLocks noChangeShapeType="1"/>
            <a:stCxn id="78862" idx="6"/>
            <a:endCxn id="78861" idx="4"/>
          </p:cNvCxnSpPr>
          <p:nvPr/>
        </p:nvCxnSpPr>
        <p:spPr bwMode="auto">
          <a:xfrm flipV="1">
            <a:off x="4155431" y="5627837"/>
            <a:ext cx="532210" cy="417909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876" name="Text Box 2073"/>
          <p:cNvSpPr txBox="1">
            <a:spLocks noChangeArrowheads="1"/>
          </p:cNvSpPr>
          <p:nvPr/>
        </p:nvSpPr>
        <p:spPr bwMode="auto">
          <a:xfrm>
            <a:off x="2189709" y="4427687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7" name="Text Box 2074"/>
          <p:cNvSpPr txBox="1">
            <a:spLocks noChangeArrowheads="1"/>
          </p:cNvSpPr>
          <p:nvPr/>
        </p:nvSpPr>
        <p:spPr bwMode="auto">
          <a:xfrm>
            <a:off x="4601915" y="453127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8" name="Text Box 2075"/>
          <p:cNvSpPr txBox="1">
            <a:spLocks noChangeArrowheads="1"/>
          </p:cNvSpPr>
          <p:nvPr/>
        </p:nvSpPr>
        <p:spPr bwMode="auto">
          <a:xfrm>
            <a:off x="4430465" y="493132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79" name="Text Box 2076"/>
          <p:cNvSpPr txBox="1">
            <a:spLocks noChangeArrowheads="1"/>
          </p:cNvSpPr>
          <p:nvPr/>
        </p:nvSpPr>
        <p:spPr bwMode="auto">
          <a:xfrm>
            <a:off x="4997202" y="504562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0" name="Text Box 2077"/>
          <p:cNvSpPr txBox="1">
            <a:spLocks noChangeArrowheads="1"/>
          </p:cNvSpPr>
          <p:nvPr/>
        </p:nvSpPr>
        <p:spPr bwMode="auto">
          <a:xfrm>
            <a:off x="4487615" y="584572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1" name="Text Box 2078"/>
          <p:cNvSpPr txBox="1">
            <a:spLocks noChangeArrowheads="1"/>
          </p:cNvSpPr>
          <p:nvPr/>
        </p:nvSpPr>
        <p:spPr bwMode="auto">
          <a:xfrm>
            <a:off x="4030415" y="5319465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2" name="Text Box 2079"/>
          <p:cNvSpPr txBox="1">
            <a:spLocks noChangeArrowheads="1"/>
          </p:cNvSpPr>
          <p:nvPr/>
        </p:nvSpPr>
        <p:spPr bwMode="auto">
          <a:xfrm>
            <a:off x="3287465" y="561712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3" name="Text Box 2080"/>
          <p:cNvSpPr txBox="1">
            <a:spLocks noChangeArrowheads="1"/>
          </p:cNvSpPr>
          <p:nvPr/>
        </p:nvSpPr>
        <p:spPr bwMode="auto">
          <a:xfrm>
            <a:off x="2996952" y="493132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4" name="Text Box 2081"/>
          <p:cNvSpPr txBox="1">
            <a:spLocks noChangeArrowheads="1"/>
          </p:cNvSpPr>
          <p:nvPr/>
        </p:nvSpPr>
        <p:spPr bwMode="auto">
          <a:xfrm>
            <a:off x="2596902" y="481702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5" name="Text Box 2082"/>
          <p:cNvSpPr txBox="1">
            <a:spLocks noChangeArrowheads="1"/>
          </p:cNvSpPr>
          <p:nvPr/>
        </p:nvSpPr>
        <p:spPr bwMode="auto">
          <a:xfrm>
            <a:off x="2087315" y="5217071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9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6" name="Text Box 2083"/>
          <p:cNvSpPr txBox="1">
            <a:spLocks noChangeArrowheads="1"/>
          </p:cNvSpPr>
          <p:nvPr/>
        </p:nvSpPr>
        <p:spPr bwMode="auto">
          <a:xfrm>
            <a:off x="1426518" y="5165875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7" name="Text Box 2084"/>
          <p:cNvSpPr txBox="1">
            <a:spLocks noChangeArrowheads="1"/>
          </p:cNvSpPr>
          <p:nvPr/>
        </p:nvSpPr>
        <p:spPr bwMode="auto">
          <a:xfrm>
            <a:off x="2030165" y="5600453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8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8" name="Text Box 2085"/>
          <p:cNvSpPr txBox="1">
            <a:spLocks noChangeArrowheads="1"/>
          </p:cNvSpPr>
          <p:nvPr/>
        </p:nvSpPr>
        <p:spPr bwMode="auto">
          <a:xfrm>
            <a:off x="2621905" y="6081465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78889" name="Text Box 2086"/>
          <p:cNvSpPr txBox="1">
            <a:spLocks noChangeArrowheads="1"/>
          </p:cNvSpPr>
          <p:nvPr/>
        </p:nvSpPr>
        <p:spPr bwMode="auto">
          <a:xfrm>
            <a:off x="1052736" y="6626245"/>
            <a:ext cx="51981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</a:rPr>
              <a:t>from C to A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sz="1800" dirty="0" smtClean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Shortest 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path (length</a:t>
            </a:r>
            <a:r>
              <a:rPr lang="en-US" altLang="zh-CN" sz="1800" dirty="0" smtClean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) </a:t>
            </a:r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=</a:t>
            </a:r>
            <a:r>
              <a:rPr lang="en-US" altLang="zh-CN" sz="1800" dirty="0" smtClean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 </a:t>
            </a:r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C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  <a:sym typeface="Wingdings" panose="05000000000000000000" pitchFamily="2" charset="2"/>
              </a:rPr>
              <a:t>A (cost = 9)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  <a:sym typeface="Wingdings" panose="05000000000000000000" pitchFamily="2" charset="2"/>
            </a:endParaRPr>
          </a:p>
          <a:p>
            <a:endParaRPr lang="en-US" altLang="zh-CN" sz="1800" dirty="0">
              <a:latin typeface="Sitka Text" panose="02000505000000020004" pitchFamily="2" charset="0"/>
              <a:ea typeface="SimSun" pitchFamily="2" charset="-122"/>
              <a:sym typeface="Wingdings" panose="05000000000000000000" pitchFamily="2" charset="2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Sitka Text" panose="02000505000000020004" pitchFamily="2" charset="0"/>
                <a:ea typeface="SimSun" pitchFamily="2" charset="-122"/>
                <a:sym typeface="Wingdings" panose="05000000000000000000" pitchFamily="2" charset="2"/>
              </a:rPr>
              <a:t>Minimum Cost </a:t>
            </a:r>
            <a:r>
              <a:rPr lang="en-US" altLang="zh-CN" sz="1800" dirty="0" smtClean="0">
                <a:solidFill>
                  <a:srgbClr val="0000FF"/>
                </a:solidFill>
                <a:latin typeface="Sitka Text" panose="02000505000000020004" pitchFamily="2" charset="0"/>
                <a:ea typeface="SimSun" pitchFamily="2" charset="-122"/>
                <a:sym typeface="Wingdings" panose="05000000000000000000" pitchFamily="2" charset="2"/>
              </a:rPr>
              <a:t>Path</a:t>
            </a:r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  <a:sym typeface="Wingdings" panose="05000000000000000000" pitchFamily="2" charset="2"/>
              </a:rPr>
              <a:t>= CED</a:t>
            </a:r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  <a:sym typeface="Wingdings" panose="05000000000000000000" pitchFamily="2" charset="2"/>
              </a:rPr>
              <a:t>A (cost = 8)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Weighted </a:t>
            </a:r>
            <a:r>
              <a:rPr lang="en-US" altLang="zh-CN" dirty="0"/>
              <a:t>Shortest Path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798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872529-BE0C-49CF-9B94-6BB8156A9398}" type="slidenum">
              <a:rPr lang="en-US" altLang="zh-CN" sz="1050"/>
            </a:fld>
            <a:endParaRPr lang="en-US" altLang="zh-CN" sz="1050"/>
          </a:p>
        </p:txBody>
      </p:sp>
      <p:sp>
        <p:nvSpPr>
          <p:cNvPr id="7987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itchFamily="2" charset="-122"/>
              </a:rPr>
              <a:t>Dijkstra’s</a:t>
            </a:r>
            <a:r>
              <a:rPr lang="en-US" altLang="zh-CN" dirty="0" smtClean="0">
                <a:ea typeface="SimSun" pitchFamily="2" charset="-122"/>
              </a:rPr>
              <a:t>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79878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Classic algorithm for solving </a:t>
            </a:r>
            <a:r>
              <a:rPr lang="en-US" altLang="zh-CN" dirty="0">
                <a:ea typeface="SimSun" pitchFamily="2" charset="-122"/>
              </a:rPr>
              <a:t>Single-Source Shortest Paths in weighted </a:t>
            </a:r>
            <a:r>
              <a:rPr lang="en-US" altLang="zh-CN" dirty="0" smtClean="0">
                <a:ea typeface="SimSun" pitchFamily="2" charset="-122"/>
              </a:rPr>
              <a:t>graphs (without negative </a:t>
            </a:r>
            <a:r>
              <a:rPr lang="en-US" altLang="zh-CN" dirty="0">
                <a:ea typeface="SimSun" pitchFamily="2" charset="-122"/>
              </a:rPr>
              <a:t>weights</a:t>
            </a:r>
            <a:r>
              <a:rPr lang="en-US" altLang="zh-CN" dirty="0" smtClean="0">
                <a:ea typeface="SimSun" pitchFamily="2" charset="-122"/>
              </a:rPr>
              <a:t>)</a:t>
            </a:r>
            <a:endParaRPr lang="en-US" altLang="zh-CN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itchFamily="2" charset="-122"/>
              </a:rPr>
              <a:t>A </a:t>
            </a:r>
            <a:r>
              <a:rPr lang="en-US" altLang="zh-CN" dirty="0" smtClean="0">
                <a:solidFill>
                  <a:srgbClr val="263AF8"/>
                </a:solidFill>
                <a:ea typeface="SimSun" pitchFamily="2" charset="-122"/>
              </a:rPr>
              <a:t>greedy algorithm </a:t>
            </a:r>
            <a:r>
              <a:rPr lang="en-US" altLang="zh-CN" dirty="0" smtClean="0">
                <a:ea typeface="SimSun" pitchFamily="2" charset="-122"/>
              </a:rPr>
              <a:t>(irrevocably makes decisions without considering future consequences)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19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0C3669-F1CF-4B7D-B0B9-38F5AD2D63FB}" type="slidenum">
              <a:rPr lang="en-US" altLang="zh-CN" sz="1050"/>
            </a:fld>
            <a:endParaRPr lang="en-US" altLang="zh-CN" sz="1050"/>
          </a:p>
        </p:txBody>
      </p:sp>
      <p:sp>
        <p:nvSpPr>
          <p:cNvPr id="819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Basic Idea of </a:t>
            </a:r>
            <a:r>
              <a:rPr lang="en-US" altLang="zh-CN" dirty="0" err="1" smtClean="0">
                <a:ea typeface="SimSun" pitchFamily="2" charset="-122"/>
              </a:rPr>
              <a:t>Dijkstra’s</a:t>
            </a:r>
            <a:r>
              <a:rPr lang="en-US" altLang="zh-CN" dirty="0" smtClean="0">
                <a:ea typeface="SimSun" pitchFamily="2" charset="-122"/>
              </a:rPr>
              <a:t> Algorithm 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Find the vertex with smallest cost that has not been “</a:t>
            </a:r>
            <a:r>
              <a:rPr lang="en-US" altLang="zh-CN" sz="2100" dirty="0">
                <a:solidFill>
                  <a:srgbClr val="263AF8"/>
                </a:solidFill>
                <a:ea typeface="SimSun" pitchFamily="2" charset="-122"/>
                <a:sym typeface="Symbol" panose="05050102010706020507" pitchFamily="18" charset="2"/>
              </a:rPr>
              <a:t>marked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” yet.</a:t>
            </a:r>
            <a:endParaRPr lang="en-US" altLang="zh-CN" sz="2100" dirty="0">
              <a:ea typeface="SimSun" pitchFamily="2" charset="-122"/>
              <a:sym typeface="Symbol" panose="05050102010706020507" pitchFamily="18" charset="2"/>
            </a:endParaRPr>
          </a:p>
          <a:p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Mark it and compute the cost of its neighbors.</a:t>
            </a:r>
            <a:endParaRPr lang="en-US" altLang="zh-CN" sz="2100" dirty="0">
              <a:ea typeface="SimSun" pitchFamily="2" charset="-122"/>
              <a:sym typeface="Symbol" panose="05050102010706020507" pitchFamily="18" charset="2"/>
            </a:endParaRPr>
          </a:p>
          <a:p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Do this until all vertices are marked.</a:t>
            </a:r>
            <a:endParaRPr lang="en-US" altLang="zh-CN" sz="2100" dirty="0">
              <a:ea typeface="SimSun" pitchFamily="2" charset="-122"/>
              <a:sym typeface="Symbol" panose="05050102010706020507" pitchFamily="18" charset="2"/>
            </a:endParaRPr>
          </a:p>
          <a:p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Note that each step of the algorithm we are marking one vertex and we won’t change our decision: hence the term “greedy” algorithm</a:t>
            </a:r>
            <a:endParaRPr lang="en-US" altLang="zh-CN" sz="2100" dirty="0">
              <a:ea typeface="SimSun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39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C9B3BD-4C22-4FC8-8A52-9342A1130C7C}" type="slidenum">
              <a:rPr lang="en-US" altLang="zh-CN" sz="1050"/>
            </a:fld>
            <a:endParaRPr lang="en-US" altLang="zh-CN" sz="1050"/>
          </a:p>
        </p:txBody>
      </p:sp>
      <p:sp>
        <p:nvSpPr>
          <p:cNvPr id="839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SimSun" pitchFamily="2" charset="-122"/>
              </a:rPr>
              <a:t>Dijkstra’s</a:t>
            </a:r>
            <a:r>
              <a:rPr lang="en-US" altLang="zh-CN" dirty="0" smtClean="0">
                <a:ea typeface="SimSun" pitchFamily="2" charset="-122"/>
              </a:rPr>
              <a:t> Shortest Path Algorithm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397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00050" y="2555776"/>
            <a:ext cx="6172200" cy="40164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100" dirty="0">
                <a:ea typeface="SimSun" pitchFamily="2" charset="-122"/>
              </a:rPr>
              <a:t>Initialize the cost of s to 0, and all the rest of the nodes to 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21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100" dirty="0">
                <a:ea typeface="SimSun" pitchFamily="2" charset="-122"/>
              </a:rPr>
              <a:t>Initialize set S to be </a:t>
            </a:r>
            <a:r>
              <a:rPr lang="en-US" altLang="zh-CN" sz="2100" dirty="0">
                <a:ea typeface="SimSun" pitchFamily="2" charset="-122"/>
                <a:sym typeface="Symbol" panose="05050102010706020507" pitchFamily="18" charset="2"/>
              </a:rPr>
              <a:t></a:t>
            </a:r>
            <a:endParaRPr lang="en-US" altLang="zh-CN" sz="2100" dirty="0">
              <a:ea typeface="SimSun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solidFill>
                  <a:srgbClr val="263AF8"/>
                </a:solidFill>
                <a:ea typeface="SimSun" pitchFamily="2" charset="-122"/>
                <a:sym typeface="Symbol" panose="05050102010706020507" pitchFamily="18" charset="2"/>
              </a:rPr>
              <a:t>S is the set of nodes to which we have a shortest path </a:t>
            </a:r>
            <a:endParaRPr lang="en-US" altLang="zh-CN" sz="1800" dirty="0">
              <a:solidFill>
                <a:srgbClr val="263AF8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100" dirty="0">
                <a:ea typeface="SimSun" pitchFamily="2" charset="-122"/>
              </a:rPr>
              <a:t>While S is not all vertices</a:t>
            </a:r>
            <a:endParaRPr lang="en-US" altLang="zh-CN" sz="2100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SimSun" pitchFamily="2" charset="-122"/>
              </a:rPr>
              <a:t>Select the node A with the lowest cost that is not in S and identify the node as now being in S</a:t>
            </a:r>
            <a:endParaRPr lang="en-US" altLang="zh-CN" sz="1800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SimSun" pitchFamily="2" charset="-122"/>
              </a:rPr>
              <a:t>for each node B adjacent to A</a:t>
            </a:r>
            <a:endParaRPr lang="en-US" altLang="zh-CN" sz="1800" dirty="0">
              <a:ea typeface="SimSun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SimSun" pitchFamily="2" charset="-122"/>
              </a:rPr>
              <a:t>if cost(A)+cost(A,B) &lt; B’s currently known cost</a:t>
            </a:r>
            <a:endParaRPr lang="en-US" altLang="zh-CN" dirty="0">
              <a:solidFill>
                <a:srgbClr val="FF0000"/>
              </a:solidFill>
              <a:ea typeface="SimSun" pitchFamily="2" charset="-122"/>
            </a:endParaRPr>
          </a:p>
          <a:p>
            <a:pPr lvl="3">
              <a:lnSpc>
                <a:spcPct val="90000"/>
              </a:lnSpc>
            </a:pPr>
            <a:r>
              <a:rPr lang="en-US" altLang="zh-CN" sz="1600" dirty="0">
                <a:solidFill>
                  <a:srgbClr val="FF0000"/>
                </a:solidFill>
                <a:ea typeface="SimSun" pitchFamily="2" charset="-122"/>
              </a:rPr>
              <a:t>set cost(B) = cost(A)+cost(A,B)</a:t>
            </a:r>
            <a:endParaRPr lang="en-US" altLang="zh-CN" sz="1600" dirty="0">
              <a:solidFill>
                <a:srgbClr val="FF0000"/>
              </a:solidFill>
              <a:ea typeface="SimSun" pitchFamily="2" charset="-122"/>
            </a:endParaRPr>
          </a:p>
          <a:p>
            <a:pPr lvl="3">
              <a:lnSpc>
                <a:spcPct val="90000"/>
              </a:lnSpc>
            </a:pPr>
            <a:r>
              <a:rPr lang="en-US" altLang="zh-CN" sz="1600" dirty="0">
                <a:solidFill>
                  <a:srgbClr val="FF0000"/>
                </a:solidFill>
                <a:ea typeface="SimSun" pitchFamily="2" charset="-122"/>
              </a:rPr>
              <a:t>set  previous(B) = A so that we can remember the path</a:t>
            </a:r>
            <a:endParaRPr lang="en-US" altLang="zh-CN" sz="1600" dirty="0">
              <a:solidFill>
                <a:srgbClr val="FF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Example: Initialization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4" name="Text Box 43"/>
          <p:cNvSpPr txBox="1">
            <a:spLocks noChangeArrowheads="1"/>
          </p:cNvSpPr>
          <p:nvPr/>
        </p:nvSpPr>
        <p:spPr bwMode="auto">
          <a:xfrm>
            <a:off x="469594" y="5492479"/>
            <a:ext cx="56525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Pick 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vertex not in S with lowest </a:t>
            </a:r>
            <a:r>
              <a:rPr lang="en-US" altLang="zh-CN" sz="1800" dirty="0" smtClean="0">
                <a:latin typeface="Sitka Text" panose="02000505000000020004" pitchFamily="2" charset="0"/>
                <a:ea typeface="SimSun" pitchFamily="2" charset="-122"/>
              </a:rPr>
              <a:t>cost in every step.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7" name="Text Box 46"/>
          <p:cNvSpPr txBox="1">
            <a:spLocks noChangeArrowheads="1"/>
          </p:cNvSpPr>
          <p:nvPr/>
        </p:nvSpPr>
        <p:spPr bwMode="auto">
          <a:xfrm>
            <a:off x="438349" y="2485580"/>
            <a:ext cx="16002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Cost(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v1) = 0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85038" name="Line 47"/>
          <p:cNvSpPr>
            <a:spLocks noChangeShapeType="1"/>
          </p:cNvSpPr>
          <p:nvPr/>
        </p:nvSpPr>
        <p:spPr bwMode="auto">
          <a:xfrm>
            <a:off x="2095699" y="2662982"/>
            <a:ext cx="22860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5039" name="Text Box 48"/>
          <p:cNvSpPr txBox="1">
            <a:spLocks noChangeArrowheads="1"/>
          </p:cNvSpPr>
          <p:nvPr/>
        </p:nvSpPr>
        <p:spPr bwMode="auto">
          <a:xfrm>
            <a:off x="4553148" y="2491532"/>
            <a:ext cx="19721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Cost(all vertices but source) = 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85040" name="Text Box 50"/>
          <p:cNvSpPr txBox="1">
            <a:spLocks noChangeArrowheads="1"/>
          </p:cNvSpPr>
          <p:nvPr/>
        </p:nvSpPr>
        <p:spPr bwMode="auto">
          <a:xfrm>
            <a:off x="6055224" y="2771800"/>
            <a:ext cx="3497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624" y="6372200"/>
            <a:ext cx="7585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initial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42744" y="5959700"/>
          <a:ext cx="575867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 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Example: </a:t>
            </a:r>
            <a:r>
              <a:rPr lang="en-US" altLang="zh-CN" dirty="0"/>
              <a:t>Update Cost neighbors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4" name="Text Box 43"/>
          <p:cNvSpPr txBox="1">
            <a:spLocks noChangeArrowheads="1"/>
          </p:cNvSpPr>
          <p:nvPr/>
        </p:nvSpPr>
        <p:spPr bwMode="auto">
          <a:xfrm>
            <a:off x="4848395" y="2444506"/>
            <a:ext cx="20736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anose="02000505000000020004" pitchFamily="2" charset="0"/>
              </a:rPr>
              <a:t>Update Cost </a:t>
            </a:r>
            <a:r>
              <a:rPr lang="en-US" altLang="zh-CN" sz="1600" dirty="0" smtClean="0">
                <a:latin typeface="Sitka Text" panose="02000505000000020004" pitchFamily="2" charset="0"/>
              </a:rPr>
              <a:t>neighbors of the picked vertex V1</a:t>
            </a:r>
            <a:r>
              <a:rPr lang="en-US" altLang="zh-CN" sz="1600" dirty="0" smtClean="0">
                <a:latin typeface="Sitka Text" panose="02000505000000020004" pitchFamily="2" charset="0"/>
                <a:ea typeface="SimSun" pitchFamily="2" charset="-122"/>
              </a:rPr>
              <a:t>.</a:t>
            </a:r>
            <a:endParaRPr lang="en-US" altLang="zh-CN" sz="16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1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4388385" y="2606221"/>
            <a:ext cx="458974" cy="935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47"/>
          <p:cNvSpPr txBox="1">
            <a:spLocks noChangeArrowheads="1"/>
          </p:cNvSpPr>
          <p:nvPr/>
        </p:nvSpPr>
        <p:spPr bwMode="auto">
          <a:xfrm>
            <a:off x="5123198" y="4074273"/>
            <a:ext cx="152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Sitka Text" panose="02000505000000020004" pitchFamily="2" charset="0"/>
              </a:defRPr>
            </a:lvl1pPr>
            <a:lvl2pPr marL="742950" indent="-285750">
              <a:defRPr sz="2000">
                <a:latin typeface="Arial" panose="020B0604020202020204" pitchFamily="34" charset="0"/>
              </a:defRPr>
            </a:lvl2pPr>
            <a:lvl3pPr marL="1143000" indent="-228600">
              <a:defRPr sz="2000">
                <a:latin typeface="Arial" panose="020B0604020202020204" pitchFamily="34" charset="0"/>
              </a:defRPr>
            </a:lvl3pPr>
            <a:lvl4pPr marL="1600200" indent="-228600">
              <a:defRPr sz="2000">
                <a:latin typeface="Arial" panose="020B0604020202020204" pitchFamily="34" charset="0"/>
              </a:defRPr>
            </a:lvl4pPr>
            <a:lvl5pPr marL="2057400" indent="-228600">
              <a:defRPr sz="20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Cost(v2) = 2</a:t>
            </a:r>
            <a:endParaRPr lang="en-US" altLang="zh-CN" dirty="0"/>
          </a:p>
          <a:p>
            <a:r>
              <a:rPr lang="en-US" altLang="zh-CN" dirty="0"/>
              <a:t>Cost(v4) = 1</a:t>
            </a:r>
            <a:endParaRPr lang="en-US" altLang="zh-CN" dirty="0"/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260648" y="5383926"/>
          <a:ext cx="640667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 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5037" name="Text Box 46"/>
          <p:cNvSpPr txBox="1">
            <a:spLocks noChangeArrowheads="1"/>
          </p:cNvSpPr>
          <p:nvPr/>
        </p:nvSpPr>
        <p:spPr bwMode="auto">
          <a:xfrm>
            <a:off x="438349" y="2485580"/>
            <a:ext cx="16002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Cost(</a:t>
            </a:r>
            <a:r>
              <a:rPr lang="en-US" altLang="zh-CN" sz="1800" dirty="0">
                <a:latin typeface="Sitka Text" panose="02000505000000020004" pitchFamily="2" charset="0"/>
                <a:ea typeface="SimSun" pitchFamily="2" charset="-122"/>
              </a:rPr>
              <a:t>v1) = 0</a:t>
            </a:r>
            <a:endParaRPr lang="en-US" altLang="zh-CN" sz="1800" dirty="0">
              <a:latin typeface="Sitka Text" panose="02000505000000020004" pitchFamily="2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4" name="Text Box 43"/>
          <p:cNvSpPr txBox="1">
            <a:spLocks noChangeArrowheads="1"/>
          </p:cNvSpPr>
          <p:nvPr/>
        </p:nvSpPr>
        <p:spPr bwMode="auto">
          <a:xfrm>
            <a:off x="4848395" y="2444506"/>
            <a:ext cx="20736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dirty="0">
                <a:latin typeface="Sitka Text" panose="02000505000000020004" pitchFamily="2" charset="0"/>
              </a:rPr>
              <a:t>pick vertex with lowest cost and add it to S</a:t>
            </a:r>
            <a:endParaRPr lang="en-US" altLang="zh-CN" sz="1600" dirty="0"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49776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</a:t>
            </a:r>
            <a:endParaRPr lang="en-US" altLang="zh-CN" sz="18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0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1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3573016" y="2699793"/>
            <a:ext cx="1274343" cy="9275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260648" y="5383926"/>
          <a:ext cx="640667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9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5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3457272" y="3838324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3400122" y="3952624"/>
            <a:ext cx="4000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2771472" y="3952624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1971372" y="3838324"/>
            <a:ext cx="1085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" name="矩形 2"/>
          <p:cNvSpPr/>
          <p:nvPr/>
        </p:nvSpPr>
        <p:spPr>
          <a:xfrm>
            <a:off x="4905449" y="3023096"/>
            <a:ext cx="1851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update neighbors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sp>
        <p:nvSpPr>
          <p:cNvPr id="59" name="Text Box 49"/>
          <p:cNvSpPr txBox="1">
            <a:spLocks noChangeArrowheads="1"/>
          </p:cNvSpPr>
          <p:nvPr/>
        </p:nvSpPr>
        <p:spPr bwMode="auto">
          <a:xfrm>
            <a:off x="4774395" y="4083782"/>
            <a:ext cx="2117887" cy="107721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>
                <a:latin typeface="Sitka Text" panose="02000505000000020004" pitchFamily="2" charset="0"/>
              </a:defRPr>
            </a:lvl1pPr>
          </a:lstStyle>
          <a:p>
            <a:r>
              <a:rPr lang="en-US" altLang="zh-CN" dirty="0"/>
              <a:t>Cost(v3) = 1 + 2 = </a:t>
            </a:r>
            <a:r>
              <a:rPr lang="en-US" altLang="zh-CN" dirty="0" smtClean="0"/>
              <a:t>3</a:t>
            </a:r>
            <a:endParaRPr lang="en-US" altLang="zh-CN" dirty="0" smtClean="0"/>
          </a:p>
          <a:p>
            <a:r>
              <a:rPr lang="en-US" altLang="zh-CN" dirty="0" smtClean="0"/>
              <a:t>Cost(v5</a:t>
            </a:r>
            <a:r>
              <a:rPr lang="en-US" altLang="zh-CN" dirty="0"/>
              <a:t>) = 1 + 2 = </a:t>
            </a:r>
            <a:r>
              <a:rPr lang="en-US" altLang="zh-CN" dirty="0" smtClean="0"/>
              <a:t>3</a:t>
            </a:r>
            <a:endParaRPr lang="en-US" altLang="zh-CN" dirty="0" smtClean="0"/>
          </a:p>
          <a:p>
            <a:r>
              <a:rPr lang="en-US" altLang="zh-CN" dirty="0" smtClean="0"/>
              <a:t>Cost(v6</a:t>
            </a:r>
            <a:r>
              <a:rPr lang="en-US" altLang="zh-CN" dirty="0"/>
              <a:t>) = 1 + 8 = </a:t>
            </a:r>
            <a:r>
              <a:rPr lang="en-US" altLang="zh-CN" dirty="0" smtClean="0"/>
              <a:t>9</a:t>
            </a:r>
            <a:endParaRPr lang="en-US" altLang="zh-CN" dirty="0" smtClean="0"/>
          </a:p>
          <a:p>
            <a:r>
              <a:rPr lang="en-US" altLang="zh-CN" dirty="0" smtClean="0"/>
              <a:t>Cost(v7</a:t>
            </a:r>
            <a:r>
              <a:rPr lang="en-US" altLang="zh-CN" dirty="0"/>
              <a:t>) = 1 + 4 = 5</a:t>
            </a:r>
            <a:endParaRPr lang="en-US" altLang="zh-CN" dirty="0"/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60648" y="5383926"/>
          <a:ext cx="640667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9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5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3457272" y="3838324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3400122" y="3952624"/>
            <a:ext cx="4000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2771472" y="3952624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1971372" y="3838324"/>
            <a:ext cx="1085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" name="矩形 2"/>
          <p:cNvSpPr/>
          <p:nvPr/>
        </p:nvSpPr>
        <p:spPr>
          <a:xfrm>
            <a:off x="4905449" y="3023096"/>
            <a:ext cx="1851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update neighbors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60648" y="5383926"/>
          <a:ext cx="640667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none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9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5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3457272" y="3838324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3400122" y="3952624"/>
            <a:ext cx="4000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2771472" y="3952624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1971372" y="3838324"/>
            <a:ext cx="1085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" name="矩形 58"/>
          <p:cNvSpPr/>
          <p:nvPr/>
        </p:nvSpPr>
        <p:spPr>
          <a:xfrm>
            <a:off x="4935844" y="4193875"/>
            <a:ext cx="1366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No updating</a:t>
            </a:r>
            <a:endParaRPr lang="en-US" altLang="zh-CN" sz="1600" dirty="0">
              <a:latin typeface="Sitka Text" panose="02000505000000020004" pitchFamily="2" charset="0"/>
            </a:endParaRP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60648" y="5383926"/>
          <a:ext cx="640667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none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8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5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3457272" y="3838324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3400122" y="3952624"/>
            <a:ext cx="4000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2771472" y="3952624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1971372" y="3838324"/>
            <a:ext cx="1085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 flipH="1" flipV="1">
            <a:off x="2020838" y="3898776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" name="矩形 58"/>
          <p:cNvSpPr/>
          <p:nvPr/>
        </p:nvSpPr>
        <p:spPr>
          <a:xfrm>
            <a:off x="96610" y="4355341"/>
            <a:ext cx="1851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update neighbors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60648" y="5383926"/>
          <a:ext cx="640667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none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8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6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5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3457272" y="3838324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3400122" y="3952624"/>
            <a:ext cx="4000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2771472" y="3952624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1971372" y="3838324"/>
            <a:ext cx="1085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 flipH="1" flipV="1">
            <a:off x="2020838" y="3898776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" name="矩形 58"/>
          <p:cNvSpPr/>
          <p:nvPr/>
        </p:nvSpPr>
        <p:spPr>
          <a:xfrm>
            <a:off x="96610" y="4355341"/>
            <a:ext cx="1851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update neighbors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sp>
        <p:nvSpPr>
          <p:cNvPr id="60" name="Line 44"/>
          <p:cNvSpPr>
            <a:spLocks noChangeShapeType="1"/>
          </p:cNvSpPr>
          <p:nvPr/>
        </p:nvSpPr>
        <p:spPr bwMode="auto">
          <a:xfrm flipV="1">
            <a:off x="2780928" y="4716016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260648" y="5383926"/>
          <a:ext cx="640667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none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8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{1,4,2,5,3,7}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6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45434D-B9FE-4267-937C-348F2145D37B}" type="slidenum">
              <a:rPr lang="en-US" altLang="zh-CN" sz="1050"/>
            </a:fld>
            <a:endParaRPr lang="en-US" altLang="zh-CN" sz="105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Example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4998" name="Oval 3"/>
          <p:cNvSpPr>
            <a:spLocks noChangeArrowheads="1"/>
          </p:cNvSpPr>
          <p:nvPr/>
        </p:nvSpPr>
        <p:spPr bwMode="auto">
          <a:xfrm>
            <a:off x="232429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4999" name="Oval 4"/>
          <p:cNvSpPr>
            <a:spLocks noChangeArrowheads="1"/>
          </p:cNvSpPr>
          <p:nvPr/>
        </p:nvSpPr>
        <p:spPr bwMode="auto">
          <a:xfrm>
            <a:off x="3867349" y="44346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7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0" name="Oval 5"/>
          <p:cNvSpPr>
            <a:spLocks noChangeArrowheads="1"/>
          </p:cNvSpPr>
          <p:nvPr/>
        </p:nvSpPr>
        <p:spPr bwMode="auto">
          <a:xfrm>
            <a:off x="2324299" y="44346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6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1" name="AutoShape 6"/>
          <p:cNvCxnSpPr>
            <a:cxnSpLocks noChangeShapeType="1"/>
            <a:stCxn id="84999" idx="2"/>
            <a:endCxn id="85000" idx="6"/>
          </p:cNvCxnSpPr>
          <p:nvPr/>
        </p:nvCxnSpPr>
        <p:spPr bwMode="auto">
          <a:xfrm flipH="1">
            <a:off x="2667199" y="46060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2" name="AutoShape 7"/>
          <p:cNvCxnSpPr>
            <a:cxnSpLocks noChangeShapeType="1"/>
            <a:stCxn id="85014" idx="2"/>
            <a:endCxn id="85011" idx="6"/>
          </p:cNvCxnSpPr>
          <p:nvPr/>
        </p:nvCxnSpPr>
        <p:spPr bwMode="auto">
          <a:xfrm flipH="1">
            <a:off x="1924249" y="374883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AutoShape 8"/>
          <p:cNvCxnSpPr>
            <a:cxnSpLocks noChangeShapeType="1"/>
            <a:stCxn id="84998" idx="6"/>
            <a:endCxn id="85004" idx="2"/>
          </p:cNvCxnSpPr>
          <p:nvPr/>
        </p:nvCxnSpPr>
        <p:spPr bwMode="auto">
          <a:xfrm>
            <a:off x="2667199" y="2891582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4" name="Oval 9"/>
          <p:cNvSpPr>
            <a:spLocks noChangeArrowheads="1"/>
          </p:cNvSpPr>
          <p:nvPr/>
        </p:nvSpPr>
        <p:spPr bwMode="auto">
          <a:xfrm>
            <a:off x="3867349" y="272013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85005" name="Oval 10"/>
          <p:cNvSpPr>
            <a:spLocks noChangeArrowheads="1"/>
          </p:cNvSpPr>
          <p:nvPr/>
        </p:nvSpPr>
        <p:spPr bwMode="auto">
          <a:xfrm>
            <a:off x="455314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06" name="AutoShape 11"/>
          <p:cNvCxnSpPr>
            <a:cxnSpLocks noChangeShapeType="1"/>
            <a:stCxn id="85005" idx="2"/>
            <a:endCxn id="85014" idx="6"/>
          </p:cNvCxnSpPr>
          <p:nvPr/>
        </p:nvCxnSpPr>
        <p:spPr bwMode="auto">
          <a:xfrm flipH="1">
            <a:off x="3467299" y="3748832"/>
            <a:ext cx="10858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2"/>
          <p:cNvCxnSpPr>
            <a:cxnSpLocks noChangeShapeType="1"/>
            <a:stCxn id="85005" idx="1"/>
            <a:endCxn id="85004" idx="5"/>
          </p:cNvCxnSpPr>
          <p:nvPr/>
        </p:nvCxnSpPr>
        <p:spPr bwMode="auto">
          <a:xfrm flipH="1" flipV="1">
            <a:off x="4160243" y="301302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8" name="AutoShape 13"/>
          <p:cNvCxnSpPr>
            <a:cxnSpLocks noChangeShapeType="1"/>
            <a:stCxn id="84999" idx="7"/>
            <a:endCxn id="85005" idx="3"/>
          </p:cNvCxnSpPr>
          <p:nvPr/>
        </p:nvCxnSpPr>
        <p:spPr bwMode="auto">
          <a:xfrm flipV="1">
            <a:off x="4160243" y="3870276"/>
            <a:ext cx="4429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9" name="AutoShape 14"/>
          <p:cNvCxnSpPr>
            <a:cxnSpLocks noChangeShapeType="1"/>
            <a:stCxn id="84998" idx="5"/>
            <a:endCxn id="85014" idx="1"/>
          </p:cNvCxnSpPr>
          <p:nvPr/>
        </p:nvCxnSpPr>
        <p:spPr bwMode="auto">
          <a:xfrm>
            <a:off x="2617193" y="301302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0" name="AutoShape 15"/>
          <p:cNvCxnSpPr>
            <a:cxnSpLocks noChangeShapeType="1"/>
            <a:stCxn id="85004" idx="3"/>
            <a:endCxn id="85014" idx="7"/>
          </p:cNvCxnSpPr>
          <p:nvPr/>
        </p:nvCxnSpPr>
        <p:spPr bwMode="auto">
          <a:xfrm flipH="1">
            <a:off x="341729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1" name="Oval 16"/>
          <p:cNvSpPr>
            <a:spLocks noChangeArrowheads="1"/>
          </p:cNvSpPr>
          <p:nvPr/>
        </p:nvSpPr>
        <p:spPr bwMode="auto">
          <a:xfrm>
            <a:off x="158134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2" name="AutoShape 17"/>
          <p:cNvCxnSpPr>
            <a:cxnSpLocks noChangeShapeType="1"/>
            <a:stCxn id="85011" idx="7"/>
            <a:endCxn id="84998" idx="3"/>
          </p:cNvCxnSpPr>
          <p:nvPr/>
        </p:nvCxnSpPr>
        <p:spPr bwMode="auto">
          <a:xfrm flipV="1">
            <a:off x="1874243" y="301302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3" name="AutoShape 18"/>
          <p:cNvCxnSpPr>
            <a:cxnSpLocks noChangeShapeType="1"/>
            <a:stCxn id="85000" idx="1"/>
            <a:endCxn id="85011" idx="5"/>
          </p:cNvCxnSpPr>
          <p:nvPr/>
        </p:nvCxnSpPr>
        <p:spPr bwMode="auto">
          <a:xfrm flipH="1" flipV="1">
            <a:off x="187424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4" name="Oval 19"/>
          <p:cNvSpPr>
            <a:spLocks noChangeArrowheads="1"/>
          </p:cNvSpPr>
          <p:nvPr/>
        </p:nvSpPr>
        <p:spPr bwMode="auto">
          <a:xfrm>
            <a:off x="3124399" y="3577382"/>
            <a:ext cx="342900" cy="34290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85015" name="AutoShape 20"/>
          <p:cNvCxnSpPr>
            <a:cxnSpLocks noChangeShapeType="1"/>
            <a:stCxn id="84999" idx="1"/>
            <a:endCxn id="85014" idx="5"/>
          </p:cNvCxnSpPr>
          <p:nvPr/>
        </p:nvCxnSpPr>
        <p:spPr bwMode="auto">
          <a:xfrm flipH="1" flipV="1">
            <a:off x="3417293" y="3870276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6" name="AutoShape 21"/>
          <p:cNvCxnSpPr>
            <a:cxnSpLocks noChangeShapeType="1"/>
            <a:stCxn id="85000" idx="7"/>
            <a:endCxn id="85014" idx="3"/>
          </p:cNvCxnSpPr>
          <p:nvPr/>
        </p:nvCxnSpPr>
        <p:spPr bwMode="auto">
          <a:xfrm flipV="1">
            <a:off x="2617193" y="3870276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7" name="Text Box 22"/>
          <p:cNvSpPr txBox="1">
            <a:spLocks noChangeArrowheads="1"/>
          </p:cNvSpPr>
          <p:nvPr/>
        </p:nvSpPr>
        <p:spPr bwMode="auto">
          <a:xfrm>
            <a:off x="1827351" y="308604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8" name="Text Box 23"/>
          <p:cNvSpPr txBox="1">
            <a:spLocks noChangeArrowheads="1"/>
          </p:cNvSpPr>
          <p:nvPr/>
        </p:nvSpPr>
        <p:spPr bwMode="auto">
          <a:xfrm>
            <a:off x="2809616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19" name="Text Box 24"/>
          <p:cNvSpPr txBox="1">
            <a:spLocks noChangeArrowheads="1"/>
          </p:cNvSpPr>
          <p:nvPr/>
        </p:nvSpPr>
        <p:spPr bwMode="auto">
          <a:xfrm>
            <a:off x="3131085" y="26062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0" name="Text Box 25"/>
          <p:cNvSpPr txBox="1">
            <a:spLocks noChangeArrowheads="1"/>
          </p:cNvSpPr>
          <p:nvPr/>
        </p:nvSpPr>
        <p:spPr bwMode="auto">
          <a:xfrm>
            <a:off x="4293615" y="3075328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1" name="Text Box 26"/>
          <p:cNvSpPr txBox="1">
            <a:spLocks noChangeArrowheads="1"/>
          </p:cNvSpPr>
          <p:nvPr/>
        </p:nvSpPr>
        <p:spPr bwMode="auto">
          <a:xfrm>
            <a:off x="3451363" y="3075328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3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2" name="Text Box 27"/>
          <p:cNvSpPr txBox="1">
            <a:spLocks noChangeArrowheads="1"/>
          </p:cNvSpPr>
          <p:nvPr/>
        </p:nvSpPr>
        <p:spPr bwMode="auto">
          <a:xfrm>
            <a:off x="4388385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6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3" name="Text Box 28"/>
          <p:cNvSpPr txBox="1">
            <a:spLocks noChangeArrowheads="1"/>
          </p:cNvSpPr>
          <p:nvPr/>
        </p:nvSpPr>
        <p:spPr bwMode="auto">
          <a:xfrm>
            <a:off x="364543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4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4" name="Text Box 29"/>
          <p:cNvSpPr txBox="1">
            <a:spLocks noChangeArrowheads="1"/>
          </p:cNvSpPr>
          <p:nvPr/>
        </p:nvSpPr>
        <p:spPr bwMode="auto">
          <a:xfrm>
            <a:off x="387403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5" name="Text Box 30"/>
          <p:cNvSpPr txBox="1">
            <a:spLocks noChangeArrowheads="1"/>
          </p:cNvSpPr>
          <p:nvPr/>
        </p:nvSpPr>
        <p:spPr bwMode="auto">
          <a:xfrm>
            <a:off x="2330985" y="346347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2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6" name="Text Box 31"/>
          <p:cNvSpPr txBox="1">
            <a:spLocks noChangeArrowheads="1"/>
          </p:cNvSpPr>
          <p:nvPr/>
        </p:nvSpPr>
        <p:spPr bwMode="auto">
          <a:xfrm>
            <a:off x="2673885" y="3943293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8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7" name="Text Box 32"/>
          <p:cNvSpPr txBox="1">
            <a:spLocks noChangeArrowheads="1"/>
          </p:cNvSpPr>
          <p:nvPr/>
        </p:nvSpPr>
        <p:spPr bwMode="auto">
          <a:xfrm>
            <a:off x="1844824" y="4089430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SimSun" pitchFamily="2" charset="-122"/>
              </a:rPr>
              <a:t>5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8" name="Text Box 33"/>
          <p:cNvSpPr txBox="1">
            <a:spLocks noChangeArrowheads="1"/>
          </p:cNvSpPr>
          <p:nvPr/>
        </p:nvSpPr>
        <p:spPr bwMode="auto">
          <a:xfrm>
            <a:off x="3188235" y="4320721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SimSun" pitchFamily="2" charset="-122"/>
              </a:rPr>
              <a:t>1</a:t>
            </a:r>
            <a:endParaRPr lang="en-US" altLang="zh-CN" sz="16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29" name="Text Box 34"/>
          <p:cNvSpPr txBox="1">
            <a:spLocks noChangeArrowheads="1"/>
          </p:cNvSpPr>
          <p:nvPr/>
        </p:nvSpPr>
        <p:spPr bwMode="auto">
          <a:xfrm>
            <a:off x="2492896" y="233975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</a:rPr>
              <a:t>0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0" name="Text Box 35"/>
          <p:cNvSpPr txBox="1">
            <a:spLocks noChangeArrowheads="1"/>
          </p:cNvSpPr>
          <p:nvPr/>
        </p:nvSpPr>
        <p:spPr bwMode="auto">
          <a:xfrm>
            <a:off x="3943320" y="2330460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2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1" name="Text Box 38"/>
          <p:cNvSpPr txBox="1">
            <a:spLocks noChangeArrowheads="1"/>
          </p:cNvSpPr>
          <p:nvPr/>
        </p:nvSpPr>
        <p:spPr bwMode="auto">
          <a:xfrm>
            <a:off x="1190824" y="36345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2" name="Text Box 39"/>
          <p:cNvSpPr txBox="1">
            <a:spLocks noChangeArrowheads="1"/>
          </p:cNvSpPr>
          <p:nvPr/>
        </p:nvSpPr>
        <p:spPr bwMode="auto">
          <a:xfrm>
            <a:off x="4951432" y="35773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3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3" name="Text Box 40"/>
          <p:cNvSpPr txBox="1">
            <a:spLocks noChangeArrowheads="1"/>
          </p:cNvSpPr>
          <p:nvPr/>
        </p:nvSpPr>
        <p:spPr bwMode="auto">
          <a:xfrm>
            <a:off x="3076774" y="397743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1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227667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6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3819724" y="4834682"/>
            <a:ext cx="322524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 smtClean="0">
                <a:latin typeface="Courier New" panose="02070309020205020404" pitchFamily="49" charset="0"/>
                <a:ea typeface="SimSun" pitchFamily="2" charset="-122"/>
                <a:sym typeface="Symbol" panose="05050102010706020507" pitchFamily="18" charset="2"/>
              </a:rPr>
              <a:t>5</a:t>
            </a:r>
            <a:endParaRPr lang="en-US" altLang="zh-CN" sz="18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60648" y="5383926"/>
          <a:ext cx="6406679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7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2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1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3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none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9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Sitka Text" panose="02000505000000020004" pitchFamily="2" charset="0"/>
                        </a:rPr>
                        <a:t>8</a:t>
                      </a:r>
                      <a:endParaRPr lang="zh-CN" altLang="en-US" sz="1600" b="1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{1,4,2,5,3,7}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6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5</a:t>
                      </a:r>
                      <a:endParaRPr lang="zh-CN" altLang="en-US" sz="1600" b="1" u="sng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{1,4,2,5,3,7,6}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2" name="Line 45"/>
          <p:cNvSpPr>
            <a:spLocks noChangeShapeType="1"/>
          </p:cNvSpPr>
          <p:nvPr/>
        </p:nvSpPr>
        <p:spPr bwMode="auto">
          <a:xfrm flipH="1" flipV="1">
            <a:off x="3457272" y="3838324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 flipV="1">
            <a:off x="3400122" y="3952624"/>
            <a:ext cx="4000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Line 47"/>
          <p:cNvSpPr>
            <a:spLocks noChangeShapeType="1"/>
          </p:cNvSpPr>
          <p:nvPr/>
        </p:nvSpPr>
        <p:spPr bwMode="auto">
          <a:xfrm flipV="1">
            <a:off x="2771472" y="3952624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Line 48"/>
          <p:cNvSpPr>
            <a:spLocks noChangeShapeType="1"/>
          </p:cNvSpPr>
          <p:nvPr/>
        </p:nvSpPr>
        <p:spPr bwMode="auto">
          <a:xfrm flipV="1">
            <a:off x="1971372" y="3838324"/>
            <a:ext cx="10858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 flipH="1" flipV="1">
            <a:off x="2540521" y="3134891"/>
            <a:ext cx="514350" cy="514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 flipH="1" flipV="1">
            <a:off x="2769121" y="2963441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8" name="Line 44"/>
          <p:cNvSpPr>
            <a:spLocks noChangeShapeType="1"/>
          </p:cNvSpPr>
          <p:nvPr/>
        </p:nvSpPr>
        <p:spPr bwMode="auto">
          <a:xfrm flipH="1" flipV="1">
            <a:off x="2020838" y="3898776"/>
            <a:ext cx="40005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" name="矩形 58"/>
          <p:cNvSpPr/>
          <p:nvPr/>
        </p:nvSpPr>
        <p:spPr>
          <a:xfrm>
            <a:off x="96610" y="4355341"/>
            <a:ext cx="1851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Sitka Text" panose="02000505000000020004" pitchFamily="2" charset="0"/>
              </a:rPr>
              <a:t>update neighbors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sp>
        <p:nvSpPr>
          <p:cNvPr id="60" name="Line 44"/>
          <p:cNvSpPr>
            <a:spLocks noChangeShapeType="1"/>
          </p:cNvSpPr>
          <p:nvPr/>
        </p:nvSpPr>
        <p:spPr bwMode="auto">
          <a:xfrm flipV="1">
            <a:off x="2780928" y="4716016"/>
            <a:ext cx="1028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648" y="2555777"/>
            <a:ext cx="6461051" cy="4042668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zh-CN" sz="2000" dirty="0" smtClean="0">
                <a:solidFill>
                  <a:srgbClr val="008000"/>
                </a:solidFill>
              </a:rPr>
              <a:t>//Implementation </a:t>
            </a:r>
            <a:r>
              <a:rPr lang="en-US" altLang="zh-CN" sz="2000" dirty="0">
                <a:solidFill>
                  <a:srgbClr val="008000"/>
                </a:solidFill>
              </a:rPr>
              <a:t>of </a:t>
            </a:r>
            <a:r>
              <a:rPr lang="en-US" altLang="zh-CN" sz="2000" dirty="0" err="1">
                <a:solidFill>
                  <a:srgbClr val="008000"/>
                </a:solidFill>
              </a:rPr>
              <a:t>Dijkstra’s</a:t>
            </a:r>
            <a:r>
              <a:rPr lang="en-US" altLang="zh-CN" sz="2000" dirty="0">
                <a:solidFill>
                  <a:srgbClr val="008000"/>
                </a:solidFill>
              </a:rPr>
              <a:t> algorithm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//compute shortest path </a:t>
            </a:r>
            <a:r>
              <a:rPr lang="en-US" altLang="zh-CN" sz="2000" dirty="0" err="1">
                <a:solidFill>
                  <a:srgbClr val="008000"/>
                </a:solidFill>
                <a:cs typeface="Courier New" panose="02070309020205020404" pitchFamily="49" charset="0"/>
              </a:rPr>
              <a:t>dists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 from “s</a:t>
            </a:r>
            <a:r>
              <a:rPr lang="en-US" altLang="zh-CN" sz="2000" dirty="0" smtClean="0">
                <a:solidFill>
                  <a:srgbClr val="008000"/>
                </a:solidFill>
                <a:cs typeface="Courier New" panose="02070309020205020404" pitchFamily="49" charset="0"/>
              </a:rPr>
              <a:t>”</a:t>
            </a:r>
            <a:endParaRPr lang="en-US" altLang="zh-CN" sz="20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FF0000"/>
                </a:solidFill>
                <a:cs typeface="Courier New" panose="02070309020205020404" pitchFamily="49" charset="0"/>
              </a:rPr>
              <a:t>Dijkstra</a:t>
            </a:r>
            <a:r>
              <a:rPr lang="en-US" altLang="zh-CN" sz="2000" dirty="0">
                <a:cs typeface="Courier New" panose="02070309020205020404" pitchFamily="49" charset="0"/>
              </a:rPr>
              <a:t>(Graph* G,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* D,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s) {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, v, w</a:t>
            </a:r>
            <a:r>
              <a:rPr lang="en-US" altLang="zh-CN" sz="2000" dirty="0" smtClean="0">
                <a:cs typeface="Courier New" panose="02070309020205020404" pitchFamily="49" charset="0"/>
              </a:rPr>
              <a:t>;</a:t>
            </a:r>
            <a:endParaRPr lang="en-US" altLang="zh-CN" sz="2000" dirty="0" smtClean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cs typeface="Courier New" panose="02070309020205020404" pitchFamily="49" charset="0"/>
              </a:rPr>
              <a:t>  for </a:t>
            </a:r>
            <a:r>
              <a:rPr lang="en-US" altLang="zh-CN" sz="2000" dirty="0"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=0;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&lt;G-&gt;n();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++) 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 Initialize</a:t>
            </a:r>
            <a:endParaRPr lang="en-US" altLang="zh-CN" sz="20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cs typeface="Courier New" panose="02070309020205020404" pitchFamily="49" charset="0"/>
              </a:rPr>
              <a:t>      D[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] = INFINITY;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cs typeface="Courier New" panose="02070309020205020404" pitchFamily="49" charset="0"/>
              </a:rPr>
              <a:t>  D[0</a:t>
            </a:r>
            <a:r>
              <a:rPr lang="en-US" altLang="zh-CN" sz="2000" dirty="0">
                <a:cs typeface="Courier New" panose="02070309020205020404" pitchFamily="49" charset="0"/>
              </a:rPr>
              <a:t>] = 0;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for (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=0;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&lt;G-&gt;n();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++) { </a:t>
            </a:r>
            <a:r>
              <a:rPr lang="en-US" altLang="zh-CN" sz="2000" dirty="0">
                <a:solidFill>
                  <a:srgbClr val="008000"/>
                </a:solidFill>
              </a:rPr>
              <a:t>//process vertices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B050"/>
                </a:solidFill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</a:rPr>
              <a:t>//find the unvisited vertex with min </a:t>
            </a:r>
            <a:r>
              <a:rPr lang="en-US" altLang="zh-CN" sz="2000" dirty="0" err="1">
                <a:solidFill>
                  <a:srgbClr val="008000"/>
                </a:solidFill>
              </a:rPr>
              <a:t>dist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v = </a:t>
            </a:r>
            <a:r>
              <a:rPr lang="en-US" altLang="zh-CN" sz="2000" dirty="0" err="1">
                <a:solidFill>
                  <a:srgbClr val="FF0000"/>
                </a:solidFill>
                <a:cs typeface="Courier New" panose="02070309020205020404" pitchFamily="49" charset="0"/>
              </a:rPr>
              <a:t>minVertex</a:t>
            </a:r>
            <a:r>
              <a:rPr lang="en-US" altLang="zh-CN" sz="2000" dirty="0">
                <a:cs typeface="Courier New" panose="02070309020205020404" pitchFamily="49" charset="0"/>
              </a:rPr>
              <a:t>(G, D); 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if (D[v] == INFINITY) return; </a:t>
            </a:r>
            <a:r>
              <a:rPr lang="en-US" altLang="zh-CN" sz="2000" dirty="0">
                <a:solidFill>
                  <a:srgbClr val="008000"/>
                </a:solidFill>
              </a:rPr>
              <a:t>//v is unreachable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spcBef>
                <a:spcPts val="0"/>
              </a:spcBef>
              <a:buNone/>
              <a:defRPr/>
            </a:pP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	  G-&gt;</a:t>
            </a:r>
            <a:r>
              <a:rPr lang="en-US" altLang="zh-CN" sz="2000" dirty="0" err="1">
                <a:cs typeface="Courier New" panose="02070309020205020404" pitchFamily="49" charset="0"/>
              </a:rPr>
              <a:t>setMark</a:t>
            </a:r>
            <a:r>
              <a:rPr lang="en-US" altLang="zh-CN" sz="2000" dirty="0">
                <a:cs typeface="Courier New" panose="02070309020205020404" pitchFamily="49" charset="0"/>
              </a:rPr>
              <a:t>(v, VISITED);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</a:rPr>
              <a:t>//update the distance of v’s neighbors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for (w=G-&gt;first(v); w&lt;G-&gt;n(); w = G-&gt;next(</a:t>
            </a:r>
            <a:r>
              <a:rPr lang="en-US" altLang="zh-CN" sz="2000" dirty="0" err="1">
                <a:cs typeface="Courier New" panose="02070309020205020404" pitchFamily="49" charset="0"/>
              </a:rPr>
              <a:t>v,w</a:t>
            </a:r>
            <a:r>
              <a:rPr lang="en-US" altLang="zh-CN" sz="2000" dirty="0">
                <a:cs typeface="Courier New" panose="02070309020205020404" pitchFamily="49" charset="0"/>
              </a:rPr>
              <a:t>))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  if (D[w] &gt; (D[v] + G-&gt;weight(v, w)))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D[w] = D[v] + G-&gt;weight(v, w)</a:t>
            </a:r>
            <a:r>
              <a:rPr lang="en-US" altLang="zh-CN" sz="2000" dirty="0">
                <a:cs typeface="Courier New" panose="02070309020205020404" pitchFamily="49" charset="0"/>
              </a:rPr>
              <a:t>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}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}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AF5292F2-701C-4E20-95C6-6366E45ED92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" name="Rectangle 4"/>
          <p:cNvSpPr/>
          <p:nvPr/>
        </p:nvSpPr>
        <p:spPr>
          <a:xfrm>
            <a:off x="404664" y="4482007"/>
            <a:ext cx="6197872" cy="1225799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6" name="Rectangle 5"/>
          <p:cNvSpPr/>
          <p:nvPr/>
        </p:nvSpPr>
        <p:spPr>
          <a:xfrm>
            <a:off x="404664" y="6148585"/>
            <a:ext cx="6242447" cy="1303735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Dijkstra’s</a:t>
            </a:r>
            <a:r>
              <a:rPr lang="en-US" altLang="zh-CN" dirty="0"/>
              <a:t> Algorithm - Implementation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188119" y="2627785"/>
            <a:ext cx="6605588" cy="3970660"/>
          </a:xfrm>
        </p:spPr>
        <p:txBody>
          <a:bodyPr vert="horz" lIns="91440" tIns="45720" rIns="0" bIns="45720" rtlCol="0">
            <a:no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minVertex</a:t>
            </a:r>
            <a:r>
              <a:rPr lang="en-US" altLang="zh-CN" sz="2000" dirty="0"/>
              <a:t> – find the unvisited vertex with minimum distance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263AF8"/>
                </a:solidFill>
              </a:rPr>
              <a:t>Method 1:</a:t>
            </a:r>
            <a:r>
              <a:rPr lang="en-US" altLang="zh-CN" sz="2000" dirty="0"/>
              <a:t> scan through the list of |V| vertices searching for the minimum </a:t>
            </a:r>
            <a:r>
              <a:rPr lang="en-US" altLang="zh-CN" sz="2000" dirty="0" smtClean="0"/>
              <a:t>value</a:t>
            </a:r>
            <a:endParaRPr lang="en-US" altLang="zh-CN" sz="1100" dirty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16A1020B-3F84-48DB-B381-E41EF4A13547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" name="Rectangle 4"/>
          <p:cNvSpPr/>
          <p:nvPr/>
        </p:nvSpPr>
        <p:spPr>
          <a:xfrm>
            <a:off x="188120" y="5052603"/>
            <a:ext cx="6276384" cy="1319597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6" name="Rectangle 5"/>
          <p:cNvSpPr/>
          <p:nvPr/>
        </p:nvSpPr>
        <p:spPr>
          <a:xfrm>
            <a:off x="188118" y="6446640"/>
            <a:ext cx="6605589" cy="1585601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err="1"/>
              <a:t>Dijkstra’s</a:t>
            </a:r>
            <a:r>
              <a:rPr lang="en-US" altLang="zh-CN" dirty="0"/>
              <a:t> Algorithm - Implementation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625" y="4287827"/>
            <a:ext cx="674908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Sitka Text" panose="02000505000000020004" pitchFamily="2" charset="0"/>
              </a:rPr>
              <a:t>minVertex</a:t>
            </a:r>
            <a:r>
              <a:rPr lang="en-US" altLang="zh-CN" sz="2000" dirty="0">
                <a:latin typeface="Sitka Text" panose="02000505000000020004" pitchFamily="2" charset="0"/>
              </a:rPr>
              <a:t>(Graph* G,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* D) {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, v = -1;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>
                <a:solidFill>
                  <a:srgbClr val="00B050"/>
                </a:solidFill>
                <a:latin typeface="Sitka Text" panose="02000505000000020004" pitchFamily="2" charset="0"/>
              </a:rPr>
              <a:t>//initialize v to some unvisited vertex</a:t>
            </a:r>
            <a:endParaRPr lang="en-US" altLang="zh-CN" sz="2000" dirty="0">
              <a:solidFill>
                <a:srgbClr val="00B05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for (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=0;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&lt;G-&gt;n();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++)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  if (G-&gt;</a:t>
            </a:r>
            <a:r>
              <a:rPr lang="en-US" altLang="zh-CN" sz="2000" dirty="0" err="1">
                <a:latin typeface="Sitka Text" panose="02000505000000020004" pitchFamily="2" charset="0"/>
              </a:rPr>
              <a:t>getMark</a:t>
            </a:r>
            <a:r>
              <a:rPr lang="en-US" altLang="zh-CN" sz="2000" dirty="0">
                <a:latin typeface="Sitka Text" panose="02000505000000020004" pitchFamily="2" charset="0"/>
              </a:rPr>
              <a:t>(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) == UNVISITED) { 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     v </a:t>
            </a:r>
            <a:r>
              <a:rPr lang="en-US" altLang="zh-CN" sz="2000" dirty="0">
                <a:latin typeface="Sitka Text" panose="02000505000000020004" pitchFamily="2" charset="0"/>
              </a:rPr>
              <a:t>=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; 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       break</a:t>
            </a:r>
            <a:r>
              <a:rPr lang="en-US" altLang="zh-CN" sz="2000" dirty="0">
                <a:latin typeface="Sitka Text" panose="02000505000000020004" pitchFamily="2" charset="0"/>
              </a:rPr>
              <a:t>; }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>
                <a:solidFill>
                  <a:srgbClr val="00B050"/>
                </a:solidFill>
                <a:latin typeface="Sitka Text" panose="02000505000000020004" pitchFamily="2" charset="0"/>
              </a:rPr>
              <a:t>// Now find smallest D value</a:t>
            </a:r>
            <a:endParaRPr lang="en-US" altLang="zh-CN" sz="2000" dirty="0">
              <a:solidFill>
                <a:srgbClr val="00B05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for (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++;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&lt;G-&gt;n();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++)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  if ((G-&gt;</a:t>
            </a:r>
            <a:r>
              <a:rPr lang="en-US" altLang="zh-CN" sz="2000" dirty="0" err="1">
                <a:latin typeface="Sitka Text" panose="02000505000000020004" pitchFamily="2" charset="0"/>
              </a:rPr>
              <a:t>getMark</a:t>
            </a:r>
            <a:r>
              <a:rPr lang="en-US" altLang="zh-CN" sz="2000" dirty="0">
                <a:latin typeface="Sitka Text" panose="02000505000000020004" pitchFamily="2" charset="0"/>
              </a:rPr>
              <a:t>(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) == UNVISITED) &amp;&amp; (</a:t>
            </a:r>
            <a:r>
              <a:rPr lang="en-US" altLang="zh-CN" sz="2000" dirty="0">
                <a:solidFill>
                  <a:srgbClr val="FF0000"/>
                </a:solidFill>
                <a:latin typeface="Sitka Text" panose="02000505000000020004" pitchFamily="2" charset="0"/>
              </a:rPr>
              <a:t>D[</a:t>
            </a:r>
            <a:r>
              <a:rPr lang="en-US" altLang="zh-CN" sz="2000" dirty="0" err="1">
                <a:solidFill>
                  <a:srgbClr val="FF0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Sitka Text" panose="02000505000000020004" pitchFamily="2" charset="0"/>
              </a:rPr>
              <a:t>] &lt; D[v]</a:t>
            </a:r>
            <a:r>
              <a:rPr lang="en-US" altLang="zh-CN" sz="2000" dirty="0">
                <a:latin typeface="Sitka Text" panose="02000505000000020004" pitchFamily="2" charset="0"/>
              </a:rPr>
              <a:t>))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    v =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  return v;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 dirty="0">
                <a:latin typeface="Sitka Text" panose="02000505000000020004" pitchFamily="2" charset="0"/>
              </a:rPr>
              <a:t>}</a:t>
            </a:r>
            <a:endParaRPr lang="en-US" altLang="zh-CN" sz="2000" dirty="0">
              <a:latin typeface="Sitka Text" panose="02000505000000020004" pitchFamily="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332655" y="2627785"/>
            <a:ext cx="6084823" cy="3970660"/>
          </a:xfrm>
        </p:spPr>
        <p:txBody>
          <a:bodyPr vert="horz" lIns="91440" tIns="45720" rIns="0" bIns="45720" rtlCol="0">
            <a:noAutofit/>
          </a:bodyPr>
          <a:lstStyle/>
          <a:p>
            <a:r>
              <a:rPr lang="en-US" altLang="zh-CN" dirty="0"/>
              <a:t>Complexity analysis of </a:t>
            </a:r>
            <a:r>
              <a:rPr lang="en-US" altLang="zh-CN" dirty="0">
                <a:solidFill>
                  <a:srgbClr val="263AF8"/>
                </a:solidFill>
              </a:rPr>
              <a:t>method 1</a:t>
            </a:r>
            <a:endParaRPr lang="en-US" altLang="zh-CN" dirty="0">
              <a:solidFill>
                <a:srgbClr val="263AF8"/>
              </a:solidFill>
            </a:endParaRPr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minVertex</a:t>
            </a:r>
            <a:r>
              <a:rPr lang="en-US" altLang="zh-CN" dirty="0"/>
              <a:t> executes |V| times, and it scans the list of |V| vertices each time. </a:t>
            </a:r>
            <a:endParaRPr lang="en-US" altLang="zh-CN" dirty="0"/>
          </a:p>
          <a:p>
            <a:pPr lvl="1"/>
            <a:r>
              <a:rPr lang="en-US" altLang="zh-CN" dirty="0"/>
              <a:t>The cost is </a:t>
            </a:r>
            <a:r>
              <a:rPr lang="el-GR" altLang="zh-CN" dirty="0" smtClean="0"/>
              <a:t>Θ </a:t>
            </a:r>
            <a:r>
              <a:rPr lang="en-US" altLang="zh-CN" dirty="0" smtClean="0"/>
              <a:t>(|</a:t>
            </a:r>
            <a:r>
              <a:rPr lang="en-US" altLang="zh-CN" dirty="0"/>
              <a:t>V|</a:t>
            </a:r>
            <a:r>
              <a:rPr lang="en-US" altLang="zh-CN" baseline="30000" dirty="0"/>
              <a:t>2</a:t>
            </a:r>
            <a:r>
              <a:rPr lang="en-US" altLang="zh-CN" dirty="0" smtClean="0"/>
              <a:t>)</a:t>
            </a:r>
            <a:endParaRPr lang="en-US" altLang="zh-CN" sz="3200" dirty="0"/>
          </a:p>
          <a:p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edges are processed </a:t>
            </a:r>
            <a:r>
              <a:rPr lang="el-GR" altLang="zh-CN" dirty="0" smtClean="0"/>
              <a:t>Θ </a:t>
            </a:r>
            <a:r>
              <a:rPr lang="en-US" altLang="zh-CN" dirty="0" smtClean="0"/>
              <a:t>(|</a:t>
            </a:r>
            <a:r>
              <a:rPr lang="en-US" altLang="zh-CN" dirty="0"/>
              <a:t>E|) times, and each visit to an edge may cause a constant-time update to the array D.</a:t>
            </a:r>
            <a:endParaRPr lang="en-US" altLang="zh-CN" dirty="0"/>
          </a:p>
          <a:p>
            <a:pPr lvl="1"/>
            <a:r>
              <a:rPr lang="en-US" altLang="zh-CN" dirty="0"/>
              <a:t>The cost is </a:t>
            </a:r>
            <a:r>
              <a:rPr lang="el-GR" altLang="zh-CN" dirty="0"/>
              <a:t>Θ </a:t>
            </a:r>
            <a:r>
              <a:rPr lang="en-US" altLang="zh-CN" dirty="0" smtClean="0"/>
              <a:t>(|</a:t>
            </a:r>
            <a:r>
              <a:rPr lang="en-US" altLang="zh-CN" dirty="0"/>
              <a:t>E|)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total, the cost is </a:t>
            </a:r>
            <a:r>
              <a:rPr lang="el-GR" altLang="zh-CN" dirty="0">
                <a:solidFill>
                  <a:srgbClr val="FF0000"/>
                </a:solidFill>
              </a:rPr>
              <a:t>Θ </a:t>
            </a:r>
            <a:r>
              <a:rPr lang="en-US" altLang="zh-CN" dirty="0" smtClean="0">
                <a:solidFill>
                  <a:srgbClr val="FF0000"/>
                </a:solidFill>
              </a:rPr>
              <a:t>(|</a:t>
            </a:r>
            <a:r>
              <a:rPr lang="en-US" altLang="zh-CN" dirty="0">
                <a:solidFill>
                  <a:srgbClr val="FF0000"/>
                </a:solidFill>
              </a:rPr>
              <a:t>V|</a:t>
            </a:r>
            <a:r>
              <a:rPr lang="en-US" altLang="zh-CN" baseline="30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+|E|)= </a:t>
            </a:r>
            <a:r>
              <a:rPr lang="el-GR" altLang="zh-CN" dirty="0">
                <a:solidFill>
                  <a:srgbClr val="FF0000"/>
                </a:solidFill>
              </a:rPr>
              <a:t>Θ </a:t>
            </a:r>
            <a:r>
              <a:rPr lang="en-US" altLang="zh-CN" dirty="0" smtClean="0">
                <a:solidFill>
                  <a:srgbClr val="FF0000"/>
                </a:solidFill>
              </a:rPr>
              <a:t>(|</a:t>
            </a:r>
            <a:r>
              <a:rPr lang="en-US" altLang="zh-CN" dirty="0">
                <a:solidFill>
                  <a:srgbClr val="FF0000"/>
                </a:solidFill>
              </a:rPr>
              <a:t>V|</a:t>
            </a:r>
            <a:r>
              <a:rPr lang="en-US" altLang="zh-CN" baseline="30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16A1020B-3F84-48DB-B381-E41EF4A13547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err="1"/>
              <a:t>Dijkstra’s</a:t>
            </a:r>
            <a:r>
              <a:rPr lang="en-US" altLang="zh-CN" dirty="0"/>
              <a:t> Algorithm - Implementation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2771801"/>
            <a:ext cx="6326981" cy="382664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263AF8"/>
                </a:solidFill>
              </a:rPr>
              <a:t>Method 2: </a:t>
            </a:r>
            <a:endParaRPr lang="en-US" altLang="zh-CN" dirty="0">
              <a:solidFill>
                <a:srgbClr val="263AF8"/>
              </a:solidFill>
            </a:endParaRPr>
          </a:p>
          <a:p>
            <a:pPr lvl="1">
              <a:defRPr/>
            </a:pPr>
            <a:r>
              <a:rPr lang="en-US" altLang="zh-CN" dirty="0"/>
              <a:t>Store unprocessed vertices in a </a:t>
            </a:r>
            <a:r>
              <a:rPr lang="en-US" altLang="zh-CN" dirty="0">
                <a:solidFill>
                  <a:srgbClr val="FF0000"/>
                </a:solidFill>
              </a:rPr>
              <a:t>priority-queue</a:t>
            </a:r>
            <a:r>
              <a:rPr lang="en-US" altLang="zh-CN" dirty="0"/>
              <a:t> (implemented using a </a:t>
            </a:r>
            <a:r>
              <a:rPr lang="en-US" altLang="zh-CN" dirty="0">
                <a:solidFill>
                  <a:srgbClr val="FF0000"/>
                </a:solidFill>
              </a:rPr>
              <a:t>min-heap</a:t>
            </a:r>
            <a:r>
              <a:rPr lang="en-US" altLang="zh-CN" dirty="0"/>
              <a:t>) ordered by </a:t>
            </a:r>
            <a:r>
              <a:rPr lang="en-US" altLang="zh-CN" dirty="0">
                <a:solidFill>
                  <a:srgbClr val="FF0000"/>
                </a:solidFill>
              </a:rPr>
              <a:t>distance values.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zh-CN" dirty="0"/>
              <a:t>The next-closest vertex can be found in the heap in </a:t>
            </a:r>
            <a:r>
              <a:rPr lang="el-GR" altLang="zh-CN" dirty="0">
                <a:solidFill>
                  <a:srgbClr val="FF0000"/>
                </a:solidFill>
              </a:rPr>
              <a:t>Θ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dirty="0" err="1" smtClean="0">
                <a:solidFill>
                  <a:srgbClr val="FF0000"/>
                </a:solidFill>
              </a:rPr>
              <a:t>log|</a:t>
            </a:r>
            <a:r>
              <a:rPr lang="en-US" altLang="zh-CN" b="1" dirty="0" err="1" smtClean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|) </a:t>
            </a:r>
            <a:r>
              <a:rPr lang="en-US" altLang="zh-CN" dirty="0"/>
              <a:t>time</a:t>
            </a:r>
            <a:endParaRPr lang="en-US" altLang="zh-CN" dirty="0"/>
          </a:p>
          <a:p>
            <a:pPr lvl="4">
              <a:defRPr/>
            </a:pPr>
            <a:endParaRPr lang="en-US" altLang="zh-CN" sz="900" dirty="0"/>
          </a:p>
          <a:p>
            <a:pPr>
              <a:defRPr/>
            </a:pPr>
            <a:r>
              <a:rPr lang="en-US" altLang="zh-CN" dirty="0"/>
              <a:t>Every time D(</a:t>
            </a:r>
            <a:r>
              <a:rPr lang="en-US" altLang="zh-CN" b="1" i="1" dirty="0"/>
              <a:t>x</a:t>
            </a:r>
            <a:r>
              <a:rPr lang="en-US" altLang="zh-CN" dirty="0"/>
              <a:t>) is updated, 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Reordered </a:t>
            </a:r>
            <a:r>
              <a:rPr lang="en-US" altLang="zh-CN" b="1" i="1" dirty="0"/>
              <a:t>x</a:t>
            </a:r>
            <a:r>
              <a:rPr lang="en-US" altLang="zh-CN" dirty="0"/>
              <a:t> in the heap by </a:t>
            </a:r>
            <a:r>
              <a:rPr lang="en-US" altLang="zh-CN" dirty="0">
                <a:solidFill>
                  <a:srgbClr val="FF0000"/>
                </a:solidFill>
              </a:rPr>
              <a:t>deleting and reinserting </a:t>
            </a:r>
            <a:r>
              <a:rPr lang="en-US" altLang="zh-CN" dirty="0"/>
              <a:t>it.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Or, add the new smaller distance value for </a:t>
            </a:r>
            <a:r>
              <a:rPr lang="en-US" altLang="zh-CN" b="1" i="1" dirty="0"/>
              <a:t>x</a:t>
            </a:r>
            <a:r>
              <a:rPr lang="en-US" altLang="zh-CN" dirty="0"/>
              <a:t> as </a:t>
            </a:r>
            <a:r>
              <a:rPr lang="en-US" altLang="zh-CN" dirty="0">
                <a:solidFill>
                  <a:srgbClr val="FF0000"/>
                </a:solidFill>
              </a:rPr>
              <a:t>a new record </a:t>
            </a:r>
            <a:r>
              <a:rPr lang="en-US" altLang="zh-CN" dirty="0"/>
              <a:t>in the heap</a:t>
            </a:r>
            <a:endParaRPr lang="en-US" altLang="zh-CN" dirty="0"/>
          </a:p>
          <a:p>
            <a:pPr lvl="2">
              <a:defRPr/>
            </a:pPr>
            <a:r>
              <a:rPr lang="en-US" altLang="zh-CN" dirty="0"/>
              <a:t>The greater distance values found later will be </a:t>
            </a:r>
            <a:r>
              <a:rPr lang="en-US" altLang="zh-CN" dirty="0">
                <a:solidFill>
                  <a:srgbClr val="FF0000"/>
                </a:solidFill>
              </a:rPr>
              <a:t>ignored</a:t>
            </a:r>
            <a:r>
              <a:rPr lang="en-US" altLang="zh-CN" dirty="0"/>
              <a:t> because the vertex will already be marked as </a:t>
            </a:r>
            <a:r>
              <a:rPr lang="en-US" altLang="zh-CN" b="1" dirty="0"/>
              <a:t>VISITED</a:t>
            </a:r>
            <a:endParaRPr lang="en-US" altLang="zh-CN" b="1" dirty="0"/>
          </a:p>
          <a:p>
            <a:pPr lvl="3">
              <a:defRPr/>
            </a:pPr>
            <a:endParaRPr lang="en-US" altLang="zh-CN" sz="900" dirty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32FAEEC3-A51A-4A09-9CB9-C5F7C951B96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Dijkstra’s</a:t>
            </a:r>
            <a:r>
              <a:rPr lang="en-US" altLang="zh-CN" dirty="0"/>
              <a:t> Algorithm – Implementation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C2004B02-BA93-40B6-AF9B-678C1AFF243F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Dijkstra’s</a:t>
            </a:r>
            <a:r>
              <a:rPr lang="en-US" altLang="zh-CN" dirty="0"/>
              <a:t> Algorithm – Implementation 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2656" y="3275856"/>
            <a:ext cx="640871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// Implementation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using the priority queue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// Class for elements in the heap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 smtClean="0">
                <a:latin typeface="Sitka Text" panose="02000505000000020004" pitchFamily="2" charset="0"/>
                <a:cs typeface="Courier New" panose="02070309020205020404" pitchFamily="49" charset="0"/>
              </a:rPr>
              <a:t>Class </a:t>
            </a:r>
            <a:r>
              <a:rPr lang="en-US" altLang="zh-CN" sz="2000" dirty="0" err="1">
                <a:latin typeface="Sitka Text" panose="02000505000000020004" pitchFamily="2" charset="0"/>
                <a:cs typeface="Courier New" panose="02070309020205020404" pitchFamily="49" charset="0"/>
              </a:rPr>
              <a:t>DijkElem</a:t>
            </a: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{</a:t>
            </a:r>
            <a:endParaRPr lang="en-US" altLang="zh-CN" sz="2000" dirty="0"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Public:</a:t>
            </a:r>
            <a:endParaRPr lang="en-US" altLang="zh-CN" sz="2000" dirty="0"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latin typeface="Sitka Text" panose="02000505000000020004" pitchFamily="2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vertex, </a:t>
            </a:r>
            <a:r>
              <a:rPr lang="en-US" altLang="zh-CN" sz="2000" dirty="0">
                <a:solidFill>
                  <a:srgbClr val="FF0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distance</a:t>
            </a: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;</a:t>
            </a:r>
            <a:endParaRPr lang="en-US" altLang="zh-CN" sz="2000" dirty="0"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</a:t>
            </a:r>
            <a:endParaRPr lang="en-US" altLang="zh-CN" sz="2000" dirty="0"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latin typeface="Sitka Text" panose="02000505000000020004" pitchFamily="2" charset="0"/>
                <a:cs typeface="Courier New" panose="02070309020205020404" pitchFamily="49" charset="0"/>
              </a:rPr>
              <a:t>DijkElem</a:t>
            </a: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() {vertex = -1; distance = -1;}</a:t>
            </a:r>
            <a:endParaRPr lang="en-US" altLang="zh-CN" sz="2000" dirty="0"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</a:t>
            </a:r>
            <a:endParaRPr lang="en-US" altLang="zh-CN" sz="2000" dirty="0"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latin typeface="Sitka Text" panose="02000505000000020004" pitchFamily="2" charset="0"/>
                <a:cs typeface="Courier New" panose="02070309020205020404" pitchFamily="49" charset="0"/>
              </a:rPr>
              <a:t>DijkElem</a:t>
            </a: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latin typeface="Sitka Text" panose="02000505000000020004" pitchFamily="2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v, </a:t>
            </a:r>
            <a:r>
              <a:rPr lang="en-US" altLang="zh-CN" sz="2000" dirty="0" err="1">
                <a:latin typeface="Sitka Text" panose="02000505000000020004" pitchFamily="2" charset="0"/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  <a:cs typeface="Courier New" panose="02070309020205020404" pitchFamily="49" charset="0"/>
              </a:rPr>
              <a:t> d) {vertex = v; distance = d};</a:t>
            </a:r>
            <a:endParaRPr lang="en-US" altLang="zh-CN" sz="2000" dirty="0"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400" dirty="0">
                <a:latin typeface="Sitka Text" panose="02000505000000020004" pitchFamily="2" charset="0"/>
                <a:cs typeface="Courier New" panose="02070309020205020404" pitchFamily="49" charset="0"/>
              </a:rPr>
              <a:t>};</a:t>
            </a:r>
            <a:endParaRPr lang="zh-CN" altLang="en-US" sz="2400" dirty="0">
              <a:latin typeface="Sitka Text" panose="02000505000000020004" pitchFamily="2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70224E2B-BE6E-47B3-8213-A2C4E2F24A1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22907" y="892069"/>
            <a:ext cx="6012185" cy="8291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//Implementation of </a:t>
            </a:r>
            <a:r>
              <a:rPr lang="en-US" altLang="zh-CN" dirty="0" err="1">
                <a:solidFill>
                  <a:srgbClr val="008000"/>
                </a:solidFill>
                <a:latin typeface="Sitka Text" panose="02000505000000020004" pitchFamily="2" charset="0"/>
              </a:rPr>
              <a:t>Dijkstra’s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 algorithm 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void </a:t>
            </a:r>
            <a:r>
              <a:rPr lang="en-US" altLang="zh-CN" b="1" dirty="0" err="1">
                <a:solidFill>
                  <a:srgbClr val="FF0000"/>
                </a:solidFill>
                <a:latin typeface="Sitka Text" panose="02000505000000020004" pitchFamily="2" charset="0"/>
              </a:rPr>
              <a:t>Dijkstra</a:t>
            </a:r>
            <a:r>
              <a:rPr lang="en-US" altLang="zh-CN" dirty="0">
                <a:latin typeface="Sitka Text" panose="02000505000000020004" pitchFamily="2" charset="0"/>
              </a:rPr>
              <a:t>(Graph* G,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* D,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s) {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r>
              <a:rPr lang="en-US" altLang="zh-CN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, v, w;      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v is current vertex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r>
              <a:rPr lang="en-US" altLang="zh-CN" dirty="0" err="1" smtClean="0">
                <a:latin typeface="Sitka Text" panose="02000505000000020004" pitchFamily="2" charset="0"/>
              </a:rPr>
              <a:t>DijkElem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temp;  </a:t>
            </a:r>
            <a:r>
              <a:rPr lang="en-US" altLang="zh-CN" dirty="0" err="1" smtClean="0">
                <a:latin typeface="Sitka Text" panose="02000505000000020004" pitchFamily="2" charset="0"/>
              </a:rPr>
              <a:t>DijkElem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E[G-&gt;e()];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Heap array  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dirty="0" smtClean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for (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=0;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&lt;G-&gt;n();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++)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Initialize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   D[</a:t>
            </a:r>
            <a:r>
              <a:rPr lang="en-US" altLang="zh-CN" dirty="0" err="1" smtClean="0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] = INFINITY;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D[0</a:t>
            </a:r>
            <a:r>
              <a:rPr lang="en-US" altLang="zh-CN" dirty="0">
                <a:latin typeface="Sitka Text" panose="02000505000000020004" pitchFamily="2" charset="0"/>
              </a:rPr>
              <a:t>] = 0;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   //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Initialize heap array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r>
              <a:rPr lang="en-US" altLang="zh-CN" dirty="0" err="1" smtClean="0">
                <a:latin typeface="Sitka Text" panose="02000505000000020004" pitchFamily="2" charset="0"/>
              </a:rPr>
              <a:t>temp.distance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= 0; </a:t>
            </a:r>
            <a:r>
              <a:rPr lang="en-US" altLang="zh-CN" dirty="0" err="1">
                <a:latin typeface="Sitka Text" panose="02000505000000020004" pitchFamily="2" charset="0"/>
              </a:rPr>
              <a:t>temp.vertex</a:t>
            </a:r>
            <a:r>
              <a:rPr lang="en-US" altLang="zh-CN" dirty="0">
                <a:latin typeface="Sitka Text" panose="02000505000000020004" pitchFamily="2" charset="0"/>
              </a:rPr>
              <a:t> = </a:t>
            </a:r>
            <a:r>
              <a:rPr lang="en-US" altLang="zh-CN" b="1" dirty="0">
                <a:latin typeface="Sitka Text" panose="02000505000000020004" pitchFamily="2" charset="0"/>
              </a:rPr>
              <a:t>s</a:t>
            </a:r>
            <a:r>
              <a:rPr lang="en-US" altLang="zh-CN" dirty="0">
                <a:latin typeface="Sitka Text" panose="02000505000000020004" pitchFamily="2" charset="0"/>
              </a:rPr>
              <a:t>; 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E[0</a:t>
            </a:r>
            <a:r>
              <a:rPr lang="en-US" altLang="zh-CN" dirty="0">
                <a:latin typeface="Sitka Text" panose="02000505000000020004" pitchFamily="2" charset="0"/>
              </a:rPr>
              <a:t>] = temp;     </a:t>
            </a:r>
            <a:endParaRPr lang="en-US" altLang="zh-CN" dirty="0">
              <a:solidFill>
                <a:srgbClr val="00B05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heap&lt;</a:t>
            </a:r>
            <a:r>
              <a:rPr lang="en-US" altLang="zh-CN" dirty="0" err="1" smtClean="0">
                <a:latin typeface="Sitka Text" panose="02000505000000020004" pitchFamily="2" charset="0"/>
              </a:rPr>
              <a:t>DijkElem</a:t>
            </a:r>
            <a:r>
              <a:rPr lang="en-US" altLang="zh-CN" dirty="0">
                <a:latin typeface="Sitka Text" panose="02000505000000020004" pitchFamily="2" charset="0"/>
              </a:rPr>
              <a:t>, </a:t>
            </a:r>
            <a:r>
              <a:rPr lang="en-US" altLang="zh-CN" dirty="0" err="1">
                <a:latin typeface="Sitka Text" panose="02000505000000020004" pitchFamily="2" charset="0"/>
              </a:rPr>
              <a:t>DDComp</a:t>
            </a:r>
            <a:r>
              <a:rPr lang="en-US" altLang="zh-CN" dirty="0">
                <a:latin typeface="Sitka Text" panose="02000505000000020004" pitchFamily="2" charset="0"/>
              </a:rPr>
              <a:t>&gt; H(</a:t>
            </a:r>
            <a:r>
              <a:rPr lang="en-US" altLang="zh-CN" b="1" dirty="0">
                <a:latin typeface="Sitka Text" panose="02000505000000020004" pitchFamily="2" charset="0"/>
              </a:rPr>
              <a:t>E, 1, G-&gt;e()</a:t>
            </a:r>
            <a:r>
              <a:rPr lang="en-US" altLang="zh-CN" dirty="0">
                <a:latin typeface="Sitka Text" panose="02000505000000020004" pitchFamily="2" charset="0"/>
              </a:rPr>
              <a:t>); 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solidFill>
                  <a:srgbClr val="00B050"/>
                </a:solidFill>
                <a:latin typeface="Sitka Text" panose="02000505000000020004" pitchFamily="2" charset="0"/>
              </a:rPr>
              <a:t>   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get an unvisited vertex with smallest distance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for </a:t>
            </a:r>
            <a:r>
              <a:rPr lang="en-US" altLang="zh-CN" dirty="0">
                <a:latin typeface="Sitka Text" panose="02000505000000020004" pitchFamily="2" charset="0"/>
              </a:rPr>
              <a:t>(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=0;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&lt;G-&gt;n(); </a:t>
            </a:r>
            <a:r>
              <a:rPr lang="en-US" altLang="zh-CN" dirty="0" err="1">
                <a:latin typeface="Sitka Text" panose="02000505000000020004" pitchFamily="2" charset="0"/>
              </a:rPr>
              <a:t>i</a:t>
            </a:r>
            <a:r>
              <a:rPr lang="en-US" altLang="zh-CN" dirty="0">
                <a:latin typeface="Sitka Text" panose="02000505000000020004" pitchFamily="2" charset="0"/>
              </a:rPr>
              <a:t>++) {</a:t>
            </a:r>
            <a:endParaRPr lang="en-US" altLang="zh-CN" dirty="0">
              <a:solidFill>
                <a:srgbClr val="00B05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    do { 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        if(</a:t>
            </a:r>
            <a:r>
              <a:rPr lang="en-US" altLang="zh-CN" dirty="0" err="1" smtClean="0">
                <a:latin typeface="Sitka Text" panose="02000505000000020004" pitchFamily="2" charset="0"/>
              </a:rPr>
              <a:t>H.size</a:t>
            </a:r>
            <a:r>
              <a:rPr lang="en-US" altLang="zh-CN" dirty="0" smtClean="0">
                <a:latin typeface="Sitka Text" panose="02000505000000020004" pitchFamily="2" charset="0"/>
              </a:rPr>
              <a:t>() == 0) </a:t>
            </a:r>
            <a:r>
              <a:rPr lang="en-US" altLang="zh-CN" dirty="0">
                <a:latin typeface="Sitka Text" panose="02000505000000020004" pitchFamily="2" charset="0"/>
              </a:rPr>
              <a:t>return;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Nothing to remove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        temp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err="1">
                <a:latin typeface="Sitka Text" panose="02000505000000020004" pitchFamily="2" charset="0"/>
              </a:rPr>
              <a:t>H.</a:t>
            </a:r>
            <a:r>
              <a:rPr lang="en-US" altLang="zh-CN" dirty="0" err="1">
                <a:solidFill>
                  <a:srgbClr val="FF0000"/>
                </a:solidFill>
                <a:latin typeface="Sitka Text" panose="02000505000000020004" pitchFamily="2" charset="0"/>
              </a:rPr>
              <a:t>removefirst</a:t>
            </a:r>
            <a:r>
              <a:rPr lang="en-US" altLang="zh-CN" dirty="0">
                <a:latin typeface="Sitka Text" panose="02000505000000020004" pitchFamily="2" charset="0"/>
              </a:rPr>
              <a:t>();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</a:t>
            </a:r>
            <a:r>
              <a:rPr lang="en-US" altLang="zh-CN" dirty="0" err="1">
                <a:solidFill>
                  <a:srgbClr val="008000"/>
                </a:solidFill>
                <a:latin typeface="Sitka Text" panose="02000505000000020004" pitchFamily="2" charset="0"/>
              </a:rPr>
              <a:t>delmin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</a:rPr>
              <a:t>     </a:t>
            </a:r>
            <a:r>
              <a:rPr lang="en-US" altLang="zh-CN" dirty="0" smtClean="0">
                <a:latin typeface="Sitka Text" panose="02000505000000020004" pitchFamily="2" charset="0"/>
              </a:rPr>
              <a:t>v </a:t>
            </a:r>
            <a:r>
              <a:rPr lang="en-US" altLang="zh-CN" dirty="0">
                <a:latin typeface="Sitka Text" panose="02000505000000020004" pitchFamily="2" charset="0"/>
              </a:rPr>
              <a:t>= </a:t>
            </a:r>
            <a:r>
              <a:rPr lang="en-US" altLang="zh-CN" dirty="0" err="1">
                <a:latin typeface="Sitka Text" panose="02000505000000020004" pitchFamily="2" charset="0"/>
              </a:rPr>
              <a:t>temp.vertex</a:t>
            </a:r>
            <a:r>
              <a:rPr lang="en-US" altLang="zh-CN" dirty="0">
                <a:latin typeface="Sitka Text" panose="02000505000000020004" pitchFamily="2" charset="0"/>
              </a:rPr>
              <a:t>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    } </a:t>
            </a:r>
            <a:r>
              <a:rPr lang="en-US" altLang="zh-CN" dirty="0">
                <a:latin typeface="Sitka Text" panose="02000505000000020004" pitchFamily="2" charset="0"/>
              </a:rPr>
              <a:t>while (G-&gt;</a:t>
            </a:r>
            <a:r>
              <a:rPr lang="en-US" altLang="zh-CN" dirty="0" err="1">
                <a:latin typeface="Sitka Text" panose="02000505000000020004" pitchFamily="2" charset="0"/>
              </a:rPr>
              <a:t>getMark</a:t>
            </a:r>
            <a:r>
              <a:rPr lang="en-US" altLang="zh-CN" dirty="0">
                <a:latin typeface="Sitka Text" panose="02000505000000020004" pitchFamily="2" charset="0"/>
              </a:rPr>
              <a:t>(v) == VISITED</a:t>
            </a:r>
            <a:r>
              <a:rPr lang="en-US" altLang="zh-CN" dirty="0" smtClean="0">
                <a:latin typeface="Sitka Text" panose="02000505000000020004" pitchFamily="2" charset="0"/>
              </a:rPr>
              <a:t>);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    G-</a:t>
            </a:r>
            <a:r>
              <a:rPr lang="en-US" altLang="zh-CN" dirty="0">
                <a:latin typeface="Sitka Text" panose="02000505000000020004" pitchFamily="2" charset="0"/>
              </a:rPr>
              <a:t>&gt;</a:t>
            </a:r>
            <a:r>
              <a:rPr lang="en-US" altLang="zh-CN" dirty="0" err="1">
                <a:latin typeface="Sitka Text" panose="02000505000000020004" pitchFamily="2" charset="0"/>
              </a:rPr>
              <a:t>setMark</a:t>
            </a:r>
            <a:r>
              <a:rPr lang="en-US" altLang="zh-CN" dirty="0">
                <a:latin typeface="Sitka Text" panose="02000505000000020004" pitchFamily="2" charset="0"/>
              </a:rPr>
              <a:t>(v, VISITED); 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//mark the vertex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</a:t>
            </a:r>
            <a:r>
              <a:rPr lang="en-US" altLang="zh-CN" dirty="0" smtClean="0">
                <a:latin typeface="Sitka Text" panose="02000505000000020004" pitchFamily="2" charset="0"/>
              </a:rPr>
              <a:t>     if </a:t>
            </a:r>
            <a:r>
              <a:rPr lang="en-US" altLang="zh-CN" dirty="0">
                <a:latin typeface="Sitka Text" panose="02000505000000020004" pitchFamily="2" charset="0"/>
              </a:rPr>
              <a:t>(D[v] == INFINITY) return;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//unreachable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</a:t>
            </a:r>
            <a:r>
              <a:rPr lang="en-US" altLang="zh-CN" dirty="0" smtClean="0">
                <a:latin typeface="Sitka Text" panose="02000505000000020004" pitchFamily="2" charset="0"/>
              </a:rPr>
              <a:t>     for(w=G-</a:t>
            </a:r>
            <a:r>
              <a:rPr lang="en-US" altLang="zh-CN" dirty="0">
                <a:latin typeface="Sitka Text" panose="02000505000000020004" pitchFamily="2" charset="0"/>
              </a:rPr>
              <a:t>&gt;first(v); w&lt;G-&gt;n(); w=G-&gt;next(</a:t>
            </a:r>
            <a:r>
              <a:rPr lang="en-US" altLang="zh-CN" dirty="0" err="1">
                <a:latin typeface="Sitka Text" panose="02000505000000020004" pitchFamily="2" charset="0"/>
              </a:rPr>
              <a:t>v,w</a:t>
            </a:r>
            <a:r>
              <a:rPr lang="en-US" altLang="zh-CN" dirty="0">
                <a:latin typeface="Sitka Text" panose="02000505000000020004" pitchFamily="2" charset="0"/>
              </a:rPr>
              <a:t>))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 </a:t>
            </a:r>
            <a:r>
              <a:rPr lang="en-US" altLang="zh-CN" dirty="0" smtClean="0">
                <a:latin typeface="Sitka Text" panose="02000505000000020004" pitchFamily="2" charset="0"/>
              </a:rPr>
              <a:t>     if </a:t>
            </a:r>
            <a:r>
              <a:rPr lang="en-US" altLang="zh-CN" dirty="0">
                <a:latin typeface="Sitka Text" panose="02000505000000020004" pitchFamily="2" charset="0"/>
              </a:rPr>
              <a:t>(D[w] &gt; (D[v] + G-&gt;weight(v, w))) {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         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update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D</a:t>
            </a:r>
            <a:r>
              <a:rPr lang="en-US" altLang="zh-CN" dirty="0" smtClean="0">
                <a:latin typeface="Sitka Text" panose="02000505000000020004" pitchFamily="2" charset="0"/>
              </a:rPr>
              <a:t>      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   </a:t>
            </a:r>
            <a:r>
              <a:rPr lang="en-US" altLang="zh-CN" dirty="0" smtClean="0">
                <a:latin typeface="Sitka Text" panose="02000505000000020004" pitchFamily="2" charset="0"/>
              </a:rPr>
              <a:t>       D[w</a:t>
            </a:r>
            <a:r>
              <a:rPr lang="en-US" altLang="zh-CN" dirty="0">
                <a:latin typeface="Sitka Text" panose="02000505000000020004" pitchFamily="2" charset="0"/>
              </a:rPr>
              <a:t>] = D[v] + G-&gt;weight(v, w</a:t>
            </a:r>
            <a:r>
              <a:rPr lang="en-US" altLang="zh-CN" dirty="0" smtClean="0">
                <a:latin typeface="Sitka Text" panose="02000505000000020004" pitchFamily="2" charset="0"/>
              </a:rPr>
              <a:t>);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   </a:t>
            </a:r>
            <a:r>
              <a:rPr lang="en-US" altLang="zh-CN" dirty="0" smtClean="0">
                <a:latin typeface="Sitka Text" panose="02000505000000020004" pitchFamily="2" charset="0"/>
              </a:rPr>
              <a:t>  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temp.distance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= D[w]; </a:t>
            </a:r>
            <a:r>
              <a:rPr lang="en-US" altLang="zh-CN" dirty="0" err="1">
                <a:latin typeface="Sitka Text" panose="02000505000000020004" pitchFamily="2" charset="0"/>
              </a:rPr>
              <a:t>temp.vertex</a:t>
            </a:r>
            <a:r>
              <a:rPr lang="en-US" altLang="zh-CN" dirty="0">
                <a:latin typeface="Sitka Text" panose="02000505000000020004" pitchFamily="2" charset="0"/>
              </a:rPr>
              <a:t> = w;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  </a:t>
            </a:r>
            <a:r>
              <a:rPr lang="en-US" altLang="zh-CN" dirty="0" smtClean="0">
                <a:latin typeface="Sitka Text" panose="02000505000000020004" pitchFamily="2" charset="0"/>
              </a:rPr>
              <a:t>       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 Insert new distance in heap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       </a:t>
            </a:r>
            <a:r>
              <a:rPr lang="en-US" altLang="zh-CN" dirty="0" smtClean="0">
                <a:latin typeface="Sitka Text" panose="02000505000000020004" pitchFamily="2" charset="0"/>
              </a:rPr>
              <a:t>  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H.insert</a:t>
            </a:r>
            <a:r>
              <a:rPr lang="en-US" altLang="zh-CN" dirty="0" smtClean="0">
                <a:latin typeface="Sitka Text" panose="02000505000000020004" pitchFamily="2" charset="0"/>
              </a:rPr>
              <a:t>(temp</a:t>
            </a:r>
            <a:r>
              <a:rPr lang="en-US" altLang="zh-CN" dirty="0">
                <a:latin typeface="Sitka Text" panose="02000505000000020004" pitchFamily="2" charset="0"/>
              </a:rPr>
              <a:t>); 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      }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 smtClean="0">
                <a:latin typeface="Sitka Text" panose="02000505000000020004" pitchFamily="2" charset="0"/>
              </a:rPr>
              <a:t>    }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dirty="0">
                <a:latin typeface="Sitka Text" panose="02000505000000020004" pitchFamily="2" charset="0"/>
              </a:rPr>
              <a:t>}</a:t>
            </a:r>
            <a:endParaRPr lang="en-US" altLang="zh-CN" dirty="0">
              <a:latin typeface="Sitka Text" panose="02000505000000020004" pitchFamily="2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260649" y="2438403"/>
            <a:ext cx="6336704" cy="5801783"/>
          </a:xfrm>
        </p:spPr>
        <p:txBody>
          <a:bodyPr>
            <a:normAutofit/>
          </a:bodyPr>
          <a:lstStyle/>
          <a:p>
            <a:r>
              <a:rPr lang="en-US" altLang="zh-CN" dirty="0"/>
              <a:t>Complexity analysis of </a:t>
            </a:r>
            <a:r>
              <a:rPr lang="en-US" altLang="zh-CN" dirty="0">
                <a:solidFill>
                  <a:srgbClr val="263AF8"/>
                </a:solidFill>
              </a:rPr>
              <a:t>method 2</a:t>
            </a:r>
            <a:endParaRPr lang="en-US" altLang="zh-CN" dirty="0">
              <a:solidFill>
                <a:srgbClr val="263AF8"/>
              </a:solidFill>
            </a:endParaRPr>
          </a:p>
          <a:p>
            <a:pPr lvl="1"/>
            <a:r>
              <a:rPr lang="en-US" altLang="zh-CN" dirty="0"/>
              <a:t>If the vertex with a smaller distance is inserted as a new record, the cost for finding the minimum value using the min-heap becomes </a:t>
            </a:r>
            <a:r>
              <a:rPr lang="el-GR" altLang="zh-CN" dirty="0">
                <a:solidFill>
                  <a:srgbClr val="FF0000"/>
                </a:solidFill>
              </a:rPr>
              <a:t>Θ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dirty="0" err="1" smtClean="0">
                <a:solidFill>
                  <a:srgbClr val="FF0000"/>
                </a:solidFill>
              </a:rPr>
              <a:t>log|</a:t>
            </a:r>
            <a:r>
              <a:rPr lang="en-US" altLang="zh-CN" b="1" dirty="0" err="1" smtClean="0">
                <a:solidFill>
                  <a:srgbClr val="FF0000"/>
                </a:solidFill>
              </a:rPr>
              <a:t>E</a:t>
            </a:r>
            <a:r>
              <a:rPr lang="en-US" altLang="zh-CN" dirty="0">
                <a:solidFill>
                  <a:srgbClr val="FF0000"/>
                </a:solidFill>
              </a:rPr>
              <a:t>|) 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It executes V times, and the cost is </a:t>
            </a:r>
            <a:r>
              <a:rPr lang="el-GR" altLang="zh-CN" dirty="0">
                <a:solidFill>
                  <a:srgbClr val="FF0000"/>
                </a:solidFill>
              </a:rPr>
              <a:t>Θ </a:t>
            </a:r>
            <a:r>
              <a:rPr lang="en-US" altLang="zh-CN" dirty="0" smtClean="0">
                <a:solidFill>
                  <a:srgbClr val="FF0000"/>
                </a:solidFill>
              </a:rPr>
              <a:t>(|</a:t>
            </a:r>
            <a:r>
              <a:rPr lang="en-US" altLang="zh-CN" b="1" dirty="0" err="1">
                <a:solidFill>
                  <a:srgbClr val="FF0000"/>
                </a:solidFill>
              </a:rPr>
              <a:t>V</a:t>
            </a:r>
            <a:r>
              <a:rPr lang="en-US" altLang="zh-CN" dirty="0" err="1">
                <a:solidFill>
                  <a:srgbClr val="FF0000"/>
                </a:solidFill>
              </a:rPr>
              <a:t>|log|</a:t>
            </a:r>
            <a:r>
              <a:rPr lang="en-US" altLang="zh-CN" b="1" dirty="0" err="1">
                <a:solidFill>
                  <a:srgbClr val="FF0000"/>
                </a:solidFill>
              </a:rPr>
              <a:t>E</a:t>
            </a:r>
            <a:r>
              <a:rPr lang="en-US" altLang="zh-CN" dirty="0">
                <a:solidFill>
                  <a:srgbClr val="FF0000"/>
                </a:solidFill>
              </a:rPr>
              <a:t>|) 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endParaRPr lang="en-US" altLang="zh-CN" dirty="0"/>
          </a:p>
          <a:p>
            <a:pPr lvl="1"/>
            <a:r>
              <a:rPr lang="en-US" altLang="zh-CN" dirty="0"/>
              <a:t>Every visit to an edge cause an update to D and also the min-heap. </a:t>
            </a:r>
            <a:endParaRPr lang="en-US" altLang="zh-CN" dirty="0"/>
          </a:p>
          <a:p>
            <a:pPr lvl="1"/>
            <a:r>
              <a:rPr lang="en-US" altLang="zh-CN" dirty="0"/>
              <a:t>The cost is </a:t>
            </a:r>
            <a:r>
              <a:rPr lang="el-GR" altLang="zh-CN" dirty="0">
                <a:solidFill>
                  <a:srgbClr val="FF0000"/>
                </a:solidFill>
              </a:rPr>
              <a:t>Θ </a:t>
            </a:r>
            <a:r>
              <a:rPr lang="en-US" altLang="zh-CN" dirty="0" smtClean="0">
                <a:solidFill>
                  <a:srgbClr val="FF0000"/>
                </a:solidFill>
              </a:rPr>
              <a:t>(|</a:t>
            </a:r>
            <a:r>
              <a:rPr lang="en-US" altLang="zh-CN" b="1" dirty="0" err="1">
                <a:solidFill>
                  <a:srgbClr val="FF0000"/>
                </a:solidFill>
              </a:rPr>
              <a:t>E</a:t>
            </a:r>
            <a:r>
              <a:rPr lang="en-US" altLang="zh-CN" dirty="0" err="1">
                <a:solidFill>
                  <a:srgbClr val="FF0000"/>
                </a:solidFill>
              </a:rPr>
              <a:t>|log|</a:t>
            </a:r>
            <a:r>
              <a:rPr lang="en-US" altLang="zh-CN" b="1" dirty="0" err="1">
                <a:solidFill>
                  <a:srgbClr val="FF0000"/>
                </a:solidFill>
              </a:rPr>
              <a:t>E</a:t>
            </a:r>
            <a:r>
              <a:rPr lang="en-US" altLang="zh-CN" dirty="0">
                <a:solidFill>
                  <a:srgbClr val="FF0000"/>
                </a:solidFill>
              </a:rPr>
              <a:t>|)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r>
              <a:rPr lang="en-US" altLang="zh-CN" dirty="0"/>
              <a:t>In total, the cost </a:t>
            </a:r>
            <a:r>
              <a:rPr lang="el-GR" altLang="zh-CN" dirty="0">
                <a:solidFill>
                  <a:srgbClr val="FF0000"/>
                </a:solidFill>
              </a:rPr>
              <a:t>Θ </a:t>
            </a:r>
            <a:r>
              <a:rPr lang="en-US" altLang="zh-CN" dirty="0" smtClean="0">
                <a:solidFill>
                  <a:srgbClr val="FF0000"/>
                </a:solidFill>
              </a:rPr>
              <a:t>((|</a:t>
            </a:r>
            <a:r>
              <a:rPr lang="en-US" altLang="zh-CN" b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|+|</a:t>
            </a:r>
            <a:r>
              <a:rPr lang="en-US" altLang="zh-CN" b="1" dirty="0">
                <a:solidFill>
                  <a:srgbClr val="FF0000"/>
                </a:solidFill>
              </a:rPr>
              <a:t>E</a:t>
            </a:r>
            <a:r>
              <a:rPr lang="en-US" altLang="zh-CN" dirty="0">
                <a:solidFill>
                  <a:srgbClr val="FF0000"/>
                </a:solidFill>
              </a:rPr>
              <a:t>|)</a:t>
            </a:r>
            <a:r>
              <a:rPr lang="en-US" altLang="zh-CN" dirty="0" err="1">
                <a:solidFill>
                  <a:srgbClr val="FF0000"/>
                </a:solidFill>
              </a:rPr>
              <a:t>log|</a:t>
            </a:r>
            <a:r>
              <a:rPr lang="en-US" altLang="zh-CN" b="1" dirty="0" err="1">
                <a:solidFill>
                  <a:srgbClr val="FF0000"/>
                </a:solidFill>
              </a:rPr>
              <a:t>E</a:t>
            </a:r>
            <a:r>
              <a:rPr lang="en-US" altLang="zh-CN" dirty="0">
                <a:solidFill>
                  <a:srgbClr val="FF0000"/>
                </a:solidFill>
              </a:rPr>
              <a:t>|)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3473609E-BD05-4631-A0C3-0F70057437D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mtClean="0"/>
              <a:t>Lecture 9-3 Graph Algorithms III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Dijkstra’s</a:t>
            </a:r>
            <a:r>
              <a:rPr lang="en-US" altLang="zh-CN" dirty="0"/>
              <a:t> Algorithm – Implementation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962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050047-DD88-4CEF-B661-B333B60E745B}" type="slidenum">
              <a:rPr lang="en-US" altLang="zh-CN" sz="1050"/>
            </a:fld>
            <a:endParaRPr lang="en-US" altLang="zh-CN" sz="1050"/>
          </a:p>
        </p:txBody>
      </p:sp>
      <p:sp>
        <p:nvSpPr>
          <p:cNvPr id="9626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Correctness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9626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85750" y="2699792"/>
            <a:ext cx="6286500" cy="375815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 err="1">
                <a:ea typeface="SimSun" pitchFamily="2" charset="-122"/>
              </a:rPr>
              <a:t>Dijkstra’s</a:t>
            </a:r>
            <a:r>
              <a:rPr lang="en-US" altLang="zh-CN" dirty="0">
                <a:ea typeface="SimSun" pitchFamily="2" charset="-122"/>
              </a:rPr>
              <a:t> algorithm is an example of a greedy algorithm</a:t>
            </a:r>
            <a:endParaRPr lang="en-US" altLang="zh-CN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Greedy algorithms always make choices that currently seem the best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Short-sighted – no consideration of long-term or global issues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Locally optimal does not always mean globally optimal</a:t>
            </a:r>
            <a:endParaRPr lang="en-US" altLang="zh-CN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In </a:t>
            </a:r>
            <a:r>
              <a:rPr lang="en-US" altLang="zh-CN" dirty="0" err="1">
                <a:ea typeface="SimSun" pitchFamily="2" charset="-122"/>
              </a:rPr>
              <a:t>Dijkstra’s</a:t>
            </a:r>
            <a:r>
              <a:rPr lang="en-US" altLang="zh-CN" dirty="0">
                <a:ea typeface="SimSun" pitchFamily="2" charset="-122"/>
              </a:rPr>
              <a:t> case – choose the least cost node, but what if there is another path through other vertices that is cheaper?</a:t>
            </a:r>
            <a:endParaRPr lang="en-US" altLang="zh-CN" dirty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972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48DFEF-B49F-479D-9888-7A964CBCB728}" type="slidenum">
              <a:rPr lang="en-US" altLang="zh-CN" sz="1050"/>
            </a:fld>
            <a:endParaRPr lang="en-US" altLang="zh-CN" sz="1050"/>
          </a:p>
        </p:txBody>
      </p:sp>
      <p:sp>
        <p:nvSpPr>
          <p:cNvPr id="97294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“Cloudy” Proof: The Idea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97295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471488" y="6287493"/>
            <a:ext cx="5829300" cy="1190693"/>
          </a:xfrm>
        </p:spPr>
        <p:txBody>
          <a:bodyPr>
            <a:noAutofit/>
          </a:bodyPr>
          <a:lstStyle/>
          <a:p>
            <a:r>
              <a:rPr lang="en-US" altLang="zh-CN" sz="2000" dirty="0">
                <a:ea typeface="SimSun" pitchFamily="2" charset="-122"/>
              </a:rPr>
              <a:t>If the path to G is the next shortest path, the path to P must be at least as long. Therefore, any path through P to G cannot be shorter!</a:t>
            </a:r>
            <a:endParaRPr lang="en-US" altLang="zh-CN" sz="2000" dirty="0">
              <a:ea typeface="SimSun" pitchFamily="2" charset="-122"/>
            </a:endParaRPr>
          </a:p>
        </p:txBody>
      </p:sp>
      <p:sp>
        <p:nvSpPr>
          <p:cNvPr id="21" name="AutoShape 2"/>
          <p:cNvSpPr>
            <a:spLocks noChangeArrowheads="1"/>
          </p:cNvSpPr>
          <p:nvPr/>
        </p:nvSpPr>
        <p:spPr bwMode="auto">
          <a:xfrm>
            <a:off x="1556792" y="3585430"/>
            <a:ext cx="4114800" cy="1905000"/>
          </a:xfrm>
          <a:prstGeom prst="cloudCallout">
            <a:avLst>
              <a:gd name="adj1" fmla="val 32792"/>
              <a:gd name="adj2" fmla="val -3425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800" b="1" dirty="0">
                <a:ea typeface="SimSun" pitchFamily="2" charset="-122"/>
              </a:rPr>
              <a:t>THE </a:t>
            </a:r>
            <a:r>
              <a:rPr lang="en-US" altLang="zh-CN" sz="2800" b="1" dirty="0" smtClean="0">
                <a:ea typeface="SimSun" pitchFamily="2" charset="-122"/>
              </a:rPr>
              <a:t>MARKED</a:t>
            </a:r>
            <a:endParaRPr lang="en-US" altLang="zh-CN" sz="2800" b="1" dirty="0">
              <a:ea typeface="SimSun" pitchFamily="2" charset="-122"/>
            </a:endParaRPr>
          </a:p>
          <a:p>
            <a:pPr algn="ctr"/>
            <a:r>
              <a:rPr lang="en-US" altLang="zh-CN" sz="2800" b="1" dirty="0">
                <a:ea typeface="SimSun" pitchFamily="2" charset="-122"/>
              </a:rPr>
              <a:t>CLOUD</a:t>
            </a:r>
            <a:endParaRPr lang="en-US" altLang="zh-CN" sz="2800" b="1" dirty="0">
              <a:ea typeface="SimSun" pitchFamily="2" charset="-122"/>
            </a:endParaRPr>
          </a:p>
        </p:txBody>
      </p:sp>
      <p:sp>
        <p:nvSpPr>
          <p:cNvPr id="22" name="Oval 3"/>
          <p:cNvSpPr>
            <a:spLocks noChangeArrowheads="1"/>
          </p:cNvSpPr>
          <p:nvPr/>
        </p:nvSpPr>
        <p:spPr bwMode="auto">
          <a:xfrm>
            <a:off x="4452392" y="4728430"/>
            <a:ext cx="228600" cy="228600"/>
          </a:xfrm>
          <a:prstGeom prst="ellipse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itchFamily="2" charset="-122"/>
            </a:endParaRPr>
          </a:p>
        </p:txBody>
      </p:sp>
      <p:sp>
        <p:nvSpPr>
          <p:cNvPr id="23" name="Oval 4"/>
          <p:cNvSpPr>
            <a:spLocks noChangeAspect="1" noChangeArrowheads="1"/>
          </p:cNvSpPr>
          <p:nvPr/>
        </p:nvSpPr>
        <p:spPr bwMode="auto">
          <a:xfrm>
            <a:off x="2394992" y="274723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200" b="1">
                <a:latin typeface="Courier New" panose="02070309020205020404" pitchFamily="49" charset="0"/>
                <a:ea typeface="SimSun" pitchFamily="2" charset="-122"/>
              </a:rPr>
              <a:t>G</a:t>
            </a:r>
            <a:endParaRPr lang="en-US" altLang="zh-CN" sz="2200" b="1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3607842" y="2594830"/>
            <a:ext cx="31550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Next shortest path from </a:t>
            </a:r>
            <a:b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</a:b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inside the known cloud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cxnSp>
        <p:nvCxnSpPr>
          <p:cNvPr id="25" name="AutoShape 6"/>
          <p:cNvCxnSpPr>
            <a:cxnSpLocks noChangeShapeType="1"/>
            <a:stCxn id="21" idx="3"/>
            <a:endCxn id="23" idx="5"/>
          </p:cNvCxnSpPr>
          <p:nvPr/>
        </p:nvCxnSpPr>
        <p:spPr bwMode="auto">
          <a:xfrm flipH="1" flipV="1">
            <a:off x="2720429" y="3086955"/>
            <a:ext cx="893763" cy="608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3234779" y="3433030"/>
            <a:ext cx="5476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7" name="AutoShape 8"/>
          <p:cNvCxnSpPr>
            <a:cxnSpLocks noChangeShapeType="1"/>
            <a:endCxn id="26" idx="0"/>
          </p:cNvCxnSpPr>
          <p:nvPr/>
        </p:nvCxnSpPr>
        <p:spPr bwMode="auto">
          <a:xfrm rot="10800000" flipV="1">
            <a:off x="3234779" y="3079018"/>
            <a:ext cx="373063" cy="354012"/>
          </a:xfrm>
          <a:prstGeom prst="curvedConnector2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Oval 9"/>
          <p:cNvSpPr>
            <a:spLocks noChangeAspect="1" noChangeArrowheads="1"/>
          </p:cNvSpPr>
          <p:nvPr/>
        </p:nvSpPr>
        <p:spPr bwMode="auto">
          <a:xfrm>
            <a:off x="510629" y="4379180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200" b="1">
                <a:latin typeface="Courier New" panose="02070309020205020404" pitchFamily="49" charset="0"/>
                <a:ea typeface="SimSun" pitchFamily="2" charset="-122"/>
              </a:rPr>
              <a:t>P</a:t>
            </a:r>
            <a:endParaRPr lang="en-US" altLang="zh-CN" sz="2200" b="1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29" name="AutoShape 12"/>
          <p:cNvCxnSpPr>
            <a:cxnSpLocks noChangeShapeType="1"/>
            <a:stCxn id="28" idx="0"/>
            <a:endCxn id="23" idx="3"/>
          </p:cNvCxnSpPr>
          <p:nvPr/>
        </p:nvCxnSpPr>
        <p:spPr bwMode="auto">
          <a:xfrm rot="16200000">
            <a:off x="936873" y="2851211"/>
            <a:ext cx="1277938" cy="1749425"/>
          </a:xfrm>
          <a:prstGeom prst="curvedConnector3">
            <a:avLst>
              <a:gd name="adj1" fmla="val 47824"/>
            </a:avLst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5327104" y="5033230"/>
            <a:ext cx="1030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rgbClr val="008000"/>
                </a:solidFill>
                <a:latin typeface="Times New Roman" panose="02020603050405020304" pitchFamily="18" charset="0"/>
                <a:ea typeface="SimSun" pitchFamily="2" charset="-122"/>
              </a:rPr>
              <a:t>Source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31" name="AutoShape 18"/>
          <p:cNvCxnSpPr>
            <a:cxnSpLocks noChangeShapeType="1"/>
            <a:stCxn id="30" idx="1"/>
            <a:endCxn id="22" idx="4"/>
          </p:cNvCxnSpPr>
          <p:nvPr/>
        </p:nvCxnSpPr>
        <p:spPr bwMode="auto">
          <a:xfrm rot="10800000">
            <a:off x="4566692" y="4957030"/>
            <a:ext cx="760412" cy="304800"/>
          </a:xfrm>
          <a:prstGeom prst="curvedConnector2">
            <a:avLst/>
          </a:prstGeom>
          <a:noFill/>
          <a:ln w="952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231079" y="2641038"/>
            <a:ext cx="20345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Sitka Text" panose="02000505000000020004" pitchFamily="2" charset="0"/>
                <a:ea typeface="SimSun" pitchFamily="2" charset="-122"/>
              </a:rPr>
              <a:t>Least cost node</a:t>
            </a:r>
            <a:endParaRPr lang="en-US" altLang="zh-CN" dirty="0">
              <a:solidFill>
                <a:srgbClr val="0000FF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  <p:sp>
        <p:nvSpPr>
          <p:cNvPr id="33" name="Freeform 20"/>
          <p:cNvSpPr/>
          <p:nvPr/>
        </p:nvSpPr>
        <p:spPr bwMode="auto">
          <a:xfrm>
            <a:off x="663029" y="4760180"/>
            <a:ext cx="3205163" cy="996950"/>
          </a:xfrm>
          <a:custGeom>
            <a:avLst/>
            <a:gdLst>
              <a:gd name="T0" fmla="*/ 3205163 w 2019"/>
              <a:gd name="T1" fmla="*/ 404813 h 628"/>
              <a:gd name="T2" fmla="*/ 1858963 w 2019"/>
              <a:gd name="T3" fmla="*/ 949325 h 628"/>
              <a:gd name="T4" fmla="*/ 538163 w 2019"/>
              <a:gd name="T5" fmla="*/ 690563 h 628"/>
              <a:gd name="T6" fmla="*/ 0 w 2019"/>
              <a:gd name="T7" fmla="*/ 0 h 6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19" h="628">
                <a:moveTo>
                  <a:pt x="2019" y="255"/>
                </a:moveTo>
                <a:cubicBezTo>
                  <a:pt x="1878" y="311"/>
                  <a:pt x="1451" y="568"/>
                  <a:pt x="1171" y="598"/>
                </a:cubicBezTo>
                <a:cubicBezTo>
                  <a:pt x="891" y="628"/>
                  <a:pt x="534" y="535"/>
                  <a:pt x="339" y="435"/>
                </a:cubicBezTo>
                <a:cubicBezTo>
                  <a:pt x="144" y="335"/>
                  <a:pt x="71" y="91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0" y="4979988"/>
            <a:ext cx="15039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itchFamily="2" charset="-122"/>
              </a:rPr>
              <a:t>competitor</a:t>
            </a:r>
            <a:endParaRPr lang="en-US" altLang="zh-CN" dirty="0">
              <a:solidFill>
                <a:srgbClr val="263AF8"/>
              </a:solidFill>
              <a:latin typeface="Sitka Text" panose="02000505000000020004" pitchFamily="2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993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0E02F9-0A3F-4F80-9644-D2F718BEF52B}" type="slidenum">
              <a:rPr lang="en-US" altLang="zh-CN" sz="1050"/>
            </a:fld>
            <a:endParaRPr lang="en-US" altLang="zh-CN" sz="1050"/>
          </a:p>
        </p:txBody>
      </p:sp>
      <p:sp>
        <p:nvSpPr>
          <p:cNvPr id="9933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itchFamily="2" charset="-122"/>
              </a:rPr>
              <a:t>Inside the Cloud (Proof)</a:t>
            </a:r>
            <a:endParaRPr lang="en-US" altLang="zh-CN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9933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Everything inside the cloud has the correct shortest path</a:t>
            </a:r>
            <a:endParaRPr lang="en-US" altLang="zh-CN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Proof is by </a:t>
            </a:r>
            <a:r>
              <a:rPr lang="en-US" altLang="zh-CN" dirty="0">
                <a:solidFill>
                  <a:srgbClr val="FF0000"/>
                </a:solidFill>
                <a:ea typeface="SimSun" pitchFamily="2" charset="-122"/>
              </a:rPr>
              <a:t>induction</a:t>
            </a:r>
            <a:r>
              <a:rPr lang="en-US" altLang="zh-CN" dirty="0">
                <a:ea typeface="SimSun" pitchFamily="2" charset="-122"/>
              </a:rPr>
              <a:t> on the number of nodes in the cloud: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itchFamily="2" charset="-122"/>
              </a:rPr>
              <a:t>Base case: </a:t>
            </a:r>
            <a:r>
              <a:rPr lang="en-US" altLang="zh-CN" dirty="0">
                <a:ea typeface="SimSun" pitchFamily="2" charset="-122"/>
              </a:rPr>
              <a:t>Initial cloud is just the source </a:t>
            </a:r>
            <a:r>
              <a:rPr lang="en-US" altLang="zh-CN" dirty="0">
                <a:solidFill>
                  <a:srgbClr val="263AF8"/>
                </a:solidFill>
                <a:ea typeface="SimSun" pitchFamily="2" charset="-122"/>
              </a:rPr>
              <a:t>s</a:t>
            </a:r>
            <a:r>
              <a:rPr lang="en-US" altLang="zh-CN" dirty="0">
                <a:ea typeface="SimSun" pitchFamily="2" charset="-122"/>
              </a:rPr>
              <a:t> with shortest path 0.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itchFamily="2" charset="-122"/>
              </a:rPr>
              <a:t>Inductive hypothesis: </a:t>
            </a:r>
            <a:r>
              <a:rPr lang="en-US" altLang="zh-CN" dirty="0">
                <a:ea typeface="SimSun" pitchFamily="2" charset="-122"/>
              </a:rPr>
              <a:t>Assume that a cloud of k-1 nodes all have shortest paths.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itchFamily="2" charset="-122"/>
              </a:rPr>
              <a:t>Inductive step: </a:t>
            </a:r>
            <a:r>
              <a:rPr lang="en-US" altLang="zh-CN" dirty="0">
                <a:ea typeface="SimSun" pitchFamily="2" charset="-122"/>
              </a:rPr>
              <a:t>choose the least cost node G </a:t>
            </a:r>
            <a:r>
              <a:rPr lang="en-US" altLang="zh-CN" dirty="0">
                <a:ea typeface="SimSun" pitchFamily="2" charset="-122"/>
                <a:sym typeface="Wingdings" panose="05000000000000000000" pitchFamily="2" charset="2"/>
              </a:rPr>
              <a:t> has to be the shortest path to G (previous slide). </a:t>
            </a:r>
            <a:r>
              <a:rPr lang="en-US" altLang="zh-CN" dirty="0">
                <a:ea typeface="SimSun" pitchFamily="2" charset="-122"/>
              </a:rPr>
              <a:t>Add k-</a:t>
            </a:r>
            <a:r>
              <a:rPr lang="en-US" altLang="zh-CN" dirty="0" err="1">
                <a:ea typeface="SimSun" pitchFamily="2" charset="-122"/>
              </a:rPr>
              <a:t>th</a:t>
            </a:r>
            <a:r>
              <a:rPr lang="en-US" altLang="zh-CN" dirty="0">
                <a:ea typeface="SimSun" pitchFamily="2" charset="-122"/>
              </a:rPr>
              <a:t> node G to the cloud</a:t>
            </a:r>
            <a:r>
              <a:rPr lang="en-US" altLang="zh-CN" dirty="0" smtClean="0">
                <a:ea typeface="SimSun" pitchFamily="2" charset="-122"/>
              </a:rPr>
              <a:t>.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sz="1800" dirty="0" smtClean="0">
                <a:ea typeface="SimSun" pitchFamily="2" charset="-122"/>
              </a:rPr>
              <a:t>Reference</a:t>
            </a:r>
            <a:r>
              <a:rPr lang="zh-CN" altLang="en-US" sz="1800" dirty="0" smtClean="0">
                <a:ea typeface="SimSun" pitchFamily="2" charset="-122"/>
              </a:rPr>
              <a:t>：</a:t>
            </a:r>
            <a:r>
              <a:rPr lang="en-US" altLang="zh-CN" sz="1800" dirty="0"/>
              <a:t>https://en.wikipedia.org/wiki/Dijkstra's_algorithm#Proof_of_correctness</a:t>
            </a:r>
            <a:endParaRPr lang="en-US" altLang="zh-CN" sz="1800" dirty="0"/>
          </a:p>
          <a:p>
            <a:pPr lvl="1">
              <a:lnSpc>
                <a:spcPct val="90000"/>
              </a:lnSpc>
            </a:pPr>
            <a:endParaRPr lang="en-US" altLang="zh-CN" dirty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1013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3ECC1-E1D1-4018-8255-F8BE7BACD96A}" type="slidenum">
              <a:rPr lang="en-US" altLang="zh-CN" sz="1050"/>
            </a:fld>
            <a:endParaRPr lang="en-US" altLang="zh-CN" sz="1050"/>
          </a:p>
        </p:txBody>
      </p:sp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Graphs with Negative Edge </a:t>
            </a:r>
            <a:r>
              <a:rPr lang="en-US" altLang="zh-CN" dirty="0" smtClean="0">
                <a:solidFill>
                  <a:srgbClr val="FF0000"/>
                </a:solidFill>
              </a:rPr>
              <a:t>Costs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9971" y="2307977"/>
            <a:ext cx="5829300" cy="1015519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If the graph has negative edge costs, then </a:t>
            </a:r>
            <a:r>
              <a:rPr lang="en-US" altLang="zh-CN" sz="2000" dirty="0" err="1"/>
              <a:t>Dijkstra’s</a:t>
            </a:r>
            <a:r>
              <a:rPr lang="en-US" altLang="zh-CN" sz="2000" dirty="0"/>
              <a:t> algorithm does not work</a:t>
            </a:r>
            <a:r>
              <a:rPr lang="en-US" altLang="zh-CN" sz="2000" dirty="0" smtClean="0"/>
              <a:t>. </a:t>
            </a:r>
            <a:endParaRPr lang="en-US" altLang="zh-CN" sz="2000" dirty="0">
              <a:ea typeface="SimSun" pitchFamily="2" charset="-122"/>
            </a:endParaRPr>
          </a:p>
        </p:txBody>
      </p:sp>
      <p:sp>
        <p:nvSpPr>
          <p:cNvPr id="48" name="Oval 3"/>
          <p:cNvSpPr>
            <a:spLocks noChangeArrowheads="1"/>
          </p:cNvSpPr>
          <p:nvPr/>
        </p:nvSpPr>
        <p:spPr bwMode="auto">
          <a:xfrm>
            <a:off x="2333265" y="3101735"/>
            <a:ext cx="342900" cy="3429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1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3" name="AutoShape 8"/>
          <p:cNvCxnSpPr>
            <a:cxnSpLocks noChangeShapeType="1"/>
            <a:stCxn id="48" idx="6"/>
            <a:endCxn id="54" idx="2"/>
          </p:cNvCxnSpPr>
          <p:nvPr/>
        </p:nvCxnSpPr>
        <p:spPr bwMode="auto">
          <a:xfrm>
            <a:off x="2676165" y="3273185"/>
            <a:ext cx="12001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Oval 9"/>
          <p:cNvSpPr>
            <a:spLocks noChangeArrowheads="1"/>
          </p:cNvSpPr>
          <p:nvPr/>
        </p:nvSpPr>
        <p:spPr bwMode="auto">
          <a:xfrm>
            <a:off x="3876315" y="310173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>
                <a:latin typeface="Times New Roman" panose="02020603050405020304" pitchFamily="18" charset="0"/>
                <a:ea typeface="SimSun" pitchFamily="2" charset="-122"/>
              </a:rPr>
              <a:t>2</a:t>
            </a:r>
            <a:endParaRPr lang="en-US" altLang="zh-CN" sz="1800" b="1" baseline="-2500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55" name="Oval 10"/>
          <p:cNvSpPr>
            <a:spLocks noChangeArrowheads="1"/>
          </p:cNvSpPr>
          <p:nvPr/>
        </p:nvSpPr>
        <p:spPr bwMode="auto">
          <a:xfrm>
            <a:off x="4423216" y="4816701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 dirty="0" smtClean="0">
                <a:latin typeface="Times New Roman" panose="02020603050405020304" pitchFamily="18" charset="0"/>
                <a:ea typeface="SimSun" pitchFamily="2" charset="-122"/>
              </a:rPr>
              <a:t>3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57" name="AutoShape 12"/>
          <p:cNvCxnSpPr>
            <a:cxnSpLocks noChangeShapeType="1"/>
            <a:stCxn id="55" idx="0"/>
            <a:endCxn id="54" idx="4"/>
          </p:cNvCxnSpPr>
          <p:nvPr/>
        </p:nvCxnSpPr>
        <p:spPr bwMode="auto">
          <a:xfrm flipH="1" flipV="1">
            <a:off x="4047765" y="3444635"/>
            <a:ext cx="546901" cy="1372066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14"/>
          <p:cNvCxnSpPr>
            <a:cxnSpLocks noChangeShapeType="1"/>
            <a:stCxn id="48" idx="5"/>
            <a:endCxn id="64" idx="1"/>
          </p:cNvCxnSpPr>
          <p:nvPr/>
        </p:nvCxnSpPr>
        <p:spPr bwMode="auto">
          <a:xfrm>
            <a:off x="2626159" y="3394629"/>
            <a:ext cx="55721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15"/>
          <p:cNvCxnSpPr>
            <a:cxnSpLocks noChangeShapeType="1"/>
            <a:stCxn id="54" idx="3"/>
            <a:endCxn id="64" idx="7"/>
          </p:cNvCxnSpPr>
          <p:nvPr/>
        </p:nvCxnSpPr>
        <p:spPr bwMode="auto">
          <a:xfrm flipH="1">
            <a:off x="3426259" y="3394629"/>
            <a:ext cx="500063" cy="614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" name="Oval 16"/>
          <p:cNvSpPr>
            <a:spLocks noChangeArrowheads="1"/>
          </p:cNvSpPr>
          <p:nvPr/>
        </p:nvSpPr>
        <p:spPr bwMode="auto">
          <a:xfrm>
            <a:off x="2283259" y="4716406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 smtClean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 dirty="0" smtClean="0">
                <a:latin typeface="Times New Roman" panose="02020603050405020304" pitchFamily="18" charset="0"/>
                <a:ea typeface="SimSun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cxnSp>
        <p:nvCxnSpPr>
          <p:cNvPr id="62" name="AutoShape 17"/>
          <p:cNvCxnSpPr>
            <a:cxnSpLocks noChangeShapeType="1"/>
            <a:stCxn id="61" idx="0"/>
            <a:endCxn id="48" idx="4"/>
          </p:cNvCxnSpPr>
          <p:nvPr/>
        </p:nvCxnSpPr>
        <p:spPr bwMode="auto">
          <a:xfrm flipV="1">
            <a:off x="2454709" y="3444635"/>
            <a:ext cx="50006" cy="127177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Oval 19"/>
          <p:cNvSpPr>
            <a:spLocks noChangeArrowheads="1"/>
          </p:cNvSpPr>
          <p:nvPr/>
        </p:nvSpPr>
        <p:spPr bwMode="auto">
          <a:xfrm>
            <a:off x="3133365" y="3958985"/>
            <a:ext cx="342900" cy="342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SimSun" pitchFamily="2" charset="-122"/>
              </a:rPr>
              <a:t>v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SimSun" pitchFamily="2" charset="-122"/>
              </a:rPr>
              <a:t>4</a:t>
            </a:r>
            <a:endParaRPr lang="en-US" altLang="zh-CN" sz="1800" b="1" baseline="-25000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sp>
        <p:nvSpPr>
          <p:cNvPr id="67" name="Text Box 22"/>
          <p:cNvSpPr txBox="1">
            <a:spLocks noChangeArrowheads="1"/>
          </p:cNvSpPr>
          <p:nvPr/>
        </p:nvSpPr>
        <p:spPr bwMode="auto">
          <a:xfrm>
            <a:off x="1975724" y="3995595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8" name="Text Box 23"/>
          <p:cNvSpPr txBox="1">
            <a:spLocks noChangeArrowheads="1"/>
          </p:cNvSpPr>
          <p:nvPr/>
        </p:nvSpPr>
        <p:spPr bwMode="auto">
          <a:xfrm>
            <a:off x="2767292" y="3398045"/>
            <a:ext cx="5549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69" name="Text Box 24"/>
          <p:cNvSpPr txBox="1">
            <a:spLocks noChangeArrowheads="1"/>
          </p:cNvSpPr>
          <p:nvPr/>
        </p:nvSpPr>
        <p:spPr bwMode="auto">
          <a:xfrm>
            <a:off x="3016620" y="2987824"/>
            <a:ext cx="5549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0" name="Text Box 25"/>
          <p:cNvSpPr txBox="1">
            <a:spLocks noChangeArrowheads="1"/>
          </p:cNvSpPr>
          <p:nvPr/>
        </p:nvSpPr>
        <p:spPr bwMode="auto">
          <a:xfrm>
            <a:off x="4394705" y="3941127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20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sp>
        <p:nvSpPr>
          <p:cNvPr id="71" name="Text Box 26"/>
          <p:cNvSpPr txBox="1">
            <a:spLocks noChangeArrowheads="1"/>
          </p:cNvSpPr>
          <p:nvPr/>
        </p:nvSpPr>
        <p:spPr bwMode="auto">
          <a:xfrm>
            <a:off x="3480625" y="3721457"/>
            <a:ext cx="6783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-150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14343" name="直接箭头连接符 14342"/>
          <p:cNvCxnSpPr>
            <a:stCxn id="64" idx="3"/>
            <a:endCxn id="61" idx="7"/>
          </p:cNvCxnSpPr>
          <p:nvPr/>
        </p:nvCxnSpPr>
        <p:spPr>
          <a:xfrm flipH="1">
            <a:off x="2575942" y="4251668"/>
            <a:ext cx="607640" cy="5149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" name="Text Box 22"/>
          <p:cNvSpPr txBox="1">
            <a:spLocks noChangeArrowheads="1"/>
          </p:cNvSpPr>
          <p:nvPr/>
        </p:nvSpPr>
        <p:spPr bwMode="auto">
          <a:xfrm>
            <a:off x="2695804" y="4147995"/>
            <a:ext cx="4315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60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14345" name="直接箭头连接符 14344"/>
          <p:cNvCxnSpPr>
            <a:stCxn id="55" idx="2"/>
            <a:endCxn id="61" idx="6"/>
          </p:cNvCxnSpPr>
          <p:nvPr/>
        </p:nvCxnSpPr>
        <p:spPr>
          <a:xfrm flipH="1" flipV="1">
            <a:off x="2626159" y="4887856"/>
            <a:ext cx="1797057" cy="10029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Text Box 25"/>
          <p:cNvSpPr txBox="1">
            <a:spLocks noChangeArrowheads="1"/>
          </p:cNvSpPr>
          <p:nvPr/>
        </p:nvSpPr>
        <p:spPr bwMode="auto">
          <a:xfrm>
            <a:off x="3487372" y="5003707"/>
            <a:ext cx="4315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10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cxnSp>
        <p:nvCxnSpPr>
          <p:cNvPr id="14347" name="直接箭头连接符 14346"/>
          <p:cNvCxnSpPr>
            <a:stCxn id="64" idx="5"/>
            <a:endCxn id="55" idx="1"/>
          </p:cNvCxnSpPr>
          <p:nvPr/>
        </p:nvCxnSpPr>
        <p:spPr>
          <a:xfrm>
            <a:off x="3426048" y="4251668"/>
            <a:ext cx="1047385" cy="615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Text Box 25"/>
          <p:cNvSpPr txBox="1">
            <a:spLocks noChangeArrowheads="1"/>
          </p:cNvSpPr>
          <p:nvPr/>
        </p:nvSpPr>
        <p:spPr bwMode="auto">
          <a:xfrm>
            <a:off x="3631388" y="4190133"/>
            <a:ext cx="5549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 smtClean="0">
                <a:latin typeface="Courier New" panose="02070309020205020404" pitchFamily="49" charset="0"/>
                <a:ea typeface="SimSun" pitchFamily="2" charset="-122"/>
              </a:rPr>
              <a:t>-30</a:t>
            </a:r>
            <a:endParaRPr lang="en-US" altLang="zh-CN" sz="1600" b="1" dirty="0">
              <a:latin typeface="Courier New" panose="02070309020205020404" pitchFamily="49" charset="0"/>
              <a:ea typeface="SimSun" pitchFamily="2" charset="-122"/>
            </a:endParaRPr>
          </a:p>
        </p:txBody>
      </p:sp>
      <p:graphicFrame>
        <p:nvGraphicFramePr>
          <p:cNvPr id="109" name="表格 108"/>
          <p:cNvGraphicFramePr>
            <a:graphicFrameLocks noGrp="1"/>
          </p:cNvGraphicFramePr>
          <p:nvPr/>
        </p:nvGraphicFramePr>
        <p:xfrm>
          <a:off x="967022" y="5436096"/>
          <a:ext cx="501848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694097"/>
                <a:gridCol w="694097"/>
                <a:gridCol w="694097"/>
                <a:gridCol w="694097"/>
                <a:gridCol w="694097"/>
              </a:tblGrid>
              <a:tr h="37084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dirty="0" smtClean="0">
                        <a:latin typeface="Courier New" panose="020703090202050204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dirty="0" smtClean="0">
                          <a:latin typeface="Courier New" panose="02070309020205020404" pitchFamily="49" charset="0"/>
                          <a:ea typeface="+mn-ea"/>
                          <a:sym typeface="Symbol" panose="05050102010706020507" pitchFamily="18" charset="2"/>
                        </a:rPr>
                        <a:t>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210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100</a:t>
                      </a:r>
                      <a:endParaRPr lang="zh-CN" altLang="en-US" sz="1600" b="1" u="none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20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210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</a:t>
                      </a:r>
                      <a:endParaRPr lang="en-US" altLang="zh-CN" sz="1600" b="1" kern="1200" dirty="0" smtClean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u="sng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</a:rPr>
                        <a:t>100</a:t>
                      </a:r>
                      <a:endParaRPr lang="zh-CN" altLang="en-US" sz="1600" b="1" u="sng" dirty="0">
                        <a:solidFill>
                          <a:srgbClr val="FF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</a:rPr>
                        <a:t>20</a:t>
                      </a:r>
                      <a:endParaRPr lang="zh-CN" altLang="en-US" sz="1600" b="1" dirty="0">
                        <a:solidFill>
                          <a:srgbClr val="008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{1,5,4}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210</a:t>
                      </a:r>
                      <a:endParaRPr lang="zh-CN" altLang="en-US" sz="1600" b="1" u="none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70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100</a:t>
                      </a:r>
                      <a:endParaRPr lang="zh-CN" altLang="en-US" sz="1600" b="1" u="none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20</a:t>
                      </a:r>
                      <a:endParaRPr lang="zh-CN" altLang="en-US" sz="1600" b="1" u="none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{1,5,4,3}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210</a:t>
                      </a:r>
                      <a:endParaRPr lang="zh-CN" altLang="en-US" sz="1600" b="1" u="sng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70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100</a:t>
                      </a:r>
                      <a:endParaRPr lang="zh-CN" altLang="en-US" sz="1600" b="1" u="none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20</a:t>
                      </a:r>
                      <a:endParaRPr lang="zh-CN" altLang="en-US" sz="1600" b="1" u="none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600" b="0" kern="1200" dirty="0" smtClean="0">
                          <a:solidFill>
                            <a:schemeClr val="dk1"/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{1,5,4,3,2}</a:t>
                      </a:r>
                      <a:endParaRPr lang="zh-CN" altLang="en-US" sz="1600" b="0" kern="1200" dirty="0">
                        <a:solidFill>
                          <a:schemeClr val="dk1"/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sng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210</a:t>
                      </a:r>
                      <a:endParaRPr lang="zh-CN" altLang="en-US" sz="1600" b="1" u="sng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70</a:t>
                      </a:r>
                      <a:endParaRPr lang="zh-CN" altLang="en-US" sz="1600" b="1" u="none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100</a:t>
                      </a:r>
                      <a:endParaRPr lang="zh-CN" altLang="en-US" sz="1600" b="1" u="none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600" b="1" u="none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20</a:t>
                      </a:r>
                      <a:endParaRPr lang="zh-CN" altLang="en-US" sz="1600" b="1" u="none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348" name="椭圆 14347"/>
          <p:cNvSpPr/>
          <p:nvPr/>
        </p:nvSpPr>
        <p:spPr>
          <a:xfrm>
            <a:off x="4610469" y="7596336"/>
            <a:ext cx="669178" cy="640757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60</a:t>
            </a:r>
            <a:endParaRPr lang="zh-CN" altLang="en-US" sz="1600" b="1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1050" smtClean="0"/>
              <a:t>Lecture 9-3 Graph Algorithms III</a:t>
            </a:r>
            <a:endParaRPr lang="en-US" altLang="zh-CN" sz="1050"/>
          </a:p>
        </p:txBody>
      </p:sp>
      <p:sp>
        <p:nvSpPr>
          <p:cNvPr id="1013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3ECC1-E1D1-4018-8255-F8BE7BACD96A}" type="slidenum">
              <a:rPr lang="en-US" altLang="zh-CN" sz="1050"/>
            </a:fld>
            <a:endParaRPr lang="en-US" altLang="zh-CN" sz="1050"/>
          </a:p>
        </p:txBody>
      </p:sp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itchFamily="2" charset="-122"/>
              </a:rPr>
              <a:t>All Pairs Shortest Path</a:t>
            </a:r>
            <a:endParaRPr lang="en-US" altLang="zh-CN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9971" y="2307977"/>
            <a:ext cx="5829300" cy="101551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ea typeface="SimSun" pitchFamily="2" charset="-122"/>
              </a:rPr>
              <a:t>Given a edge weighted directed graph G = (V,E) </a:t>
            </a:r>
            <a:r>
              <a:rPr lang="en-US" altLang="zh-CN" sz="2000" dirty="0" smtClean="0">
                <a:ea typeface="SimSun" pitchFamily="2" charset="-122"/>
              </a:rPr>
              <a:t>, find </a:t>
            </a:r>
            <a:r>
              <a:rPr lang="en-US" altLang="zh-CN" sz="2000" dirty="0">
                <a:ea typeface="SimSun" pitchFamily="2" charset="-122"/>
              </a:rPr>
              <a:t>for all </a:t>
            </a:r>
            <a:r>
              <a:rPr lang="en-US" altLang="zh-CN" sz="2000" dirty="0" err="1">
                <a:ea typeface="SimSun" pitchFamily="2" charset="-122"/>
              </a:rPr>
              <a:t>u,v</a:t>
            </a:r>
            <a:r>
              <a:rPr lang="en-US" altLang="zh-CN" sz="2000" dirty="0">
                <a:ea typeface="SimSun" pitchFamily="2" charset="-122"/>
              </a:rPr>
              <a:t> in V the length of the shortest path from u to v.  </a:t>
            </a:r>
            <a:endParaRPr lang="en-US" altLang="zh-CN" sz="20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ea typeface="SimSun" pitchFamily="2" charset="-122"/>
            </a:endParaRPr>
          </a:p>
          <a:p>
            <a:r>
              <a:rPr lang="en-US" altLang="zh-CN" sz="2000" dirty="0" smtClean="0"/>
              <a:t>Could run </a:t>
            </a:r>
            <a:r>
              <a:rPr lang="en-US" altLang="zh-CN" sz="2000" dirty="0"/>
              <a:t>the appropriate single-source algorithm |V| </a:t>
            </a:r>
            <a:r>
              <a:rPr lang="en-US" altLang="zh-CN" sz="2000" dirty="0" smtClean="0"/>
              <a:t>times.</a:t>
            </a:r>
            <a:endParaRPr lang="en-US" altLang="zh-CN" sz="2000" dirty="0" smtClean="0"/>
          </a:p>
          <a:p>
            <a:pPr lvl="1"/>
            <a:r>
              <a:rPr lang="en-US" altLang="zh-CN" sz="1800" dirty="0"/>
              <a:t>On sparse graphs, </a:t>
            </a:r>
            <a:r>
              <a:rPr lang="en-US" altLang="zh-CN" sz="1800" dirty="0" smtClean="0"/>
              <a:t>it </a:t>
            </a:r>
            <a:r>
              <a:rPr lang="en-US" altLang="zh-CN" sz="1800" dirty="0"/>
              <a:t>is </a:t>
            </a:r>
            <a:r>
              <a:rPr lang="en-US" altLang="zh-CN" sz="1800" dirty="0" smtClean="0"/>
              <a:t>fast to </a:t>
            </a:r>
            <a:r>
              <a:rPr lang="en-US" altLang="zh-CN" sz="1800" dirty="0"/>
              <a:t>run |V| </a:t>
            </a:r>
            <a:r>
              <a:rPr lang="en-US" altLang="zh-CN" sz="1800" dirty="0" err="1"/>
              <a:t>Dijkstra’s</a:t>
            </a:r>
            <a:r>
              <a:rPr lang="en-US" altLang="zh-CN" sz="1800" dirty="0"/>
              <a:t> algorithms coded with priority </a:t>
            </a:r>
            <a:r>
              <a:rPr lang="en-US" altLang="zh-CN" sz="1800" dirty="0" smtClean="0"/>
              <a:t>queues</a:t>
            </a:r>
            <a:endParaRPr lang="en-US" altLang="zh-CN" sz="1800" dirty="0" smtClean="0"/>
          </a:p>
          <a:p>
            <a:pPr lvl="1"/>
            <a:r>
              <a:rPr lang="en-US" altLang="zh-CN" sz="1800" dirty="0" smtClean="0">
                <a:ea typeface="SimSun" pitchFamily="2" charset="-122"/>
              </a:rPr>
              <a:t>On dense graphs, </a:t>
            </a:r>
            <a:r>
              <a:rPr lang="en-US" altLang="zh-CN" sz="1800" dirty="0"/>
              <a:t>the </a:t>
            </a:r>
            <a:r>
              <a:rPr lang="en-US" altLang="zh-CN" sz="1800" dirty="0" smtClean="0"/>
              <a:t>algorithm in </a:t>
            </a:r>
            <a:r>
              <a:rPr lang="en-US" altLang="zh-CN" sz="1800" dirty="0"/>
              <a:t>textbook section </a:t>
            </a:r>
            <a:r>
              <a:rPr lang="en-US" altLang="zh-CN" sz="1800" dirty="0" smtClean="0"/>
              <a:t>10.3.4 more faster in practice</a:t>
            </a:r>
            <a:endParaRPr lang="en-US" altLang="zh-CN" sz="1800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7-2</a:t>
            </a:r>
            <a:endParaRPr lang="zh-CN" altLang="en-US" dirty="0" smtClean="0"/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Textbook </a:t>
            </a:r>
            <a:r>
              <a:rPr lang="en-US" altLang="zh-CN" sz="2800" dirty="0" smtClean="0"/>
              <a:t>Exercises </a:t>
            </a:r>
            <a:r>
              <a:rPr lang="en-US" altLang="zh-CN" sz="2800" dirty="0" smtClean="0"/>
              <a:t>9.5</a:t>
            </a:r>
            <a:endParaRPr lang="zh-CN" altLang="en-US" sz="2800" dirty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971CEBBB-5C13-4167-AA25-0755E87E6100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11669</Words>
  <Application>WPS Presentation</Application>
  <PresentationFormat>全屏显示(4:3)</PresentationFormat>
  <Paragraphs>2160</Paragraphs>
  <Slides>41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SimSun</vt:lpstr>
      <vt:lpstr>Wingdings</vt:lpstr>
      <vt:lpstr>Sitka Small</vt:lpstr>
      <vt:lpstr>苹方-简</vt:lpstr>
      <vt:lpstr>Times New Roman</vt:lpstr>
      <vt:lpstr>Wingdings 2</vt:lpstr>
      <vt:lpstr>Sitka Text</vt:lpstr>
      <vt:lpstr>宋体-简</vt:lpstr>
      <vt:lpstr>Symbol</vt:lpstr>
      <vt:lpstr>Courier New</vt:lpstr>
      <vt:lpstr>Bodoni MT Black</vt:lpstr>
      <vt:lpstr>Microsoft YaHei</vt:lpstr>
      <vt:lpstr>汉仪旗黑</vt:lpstr>
      <vt:lpstr>Arial Unicode MS</vt:lpstr>
      <vt:lpstr>Calibri</vt:lpstr>
      <vt:lpstr>Helvetica Neue</vt:lpstr>
      <vt:lpstr>SimSun</vt:lpstr>
      <vt:lpstr>等线</vt:lpstr>
      <vt:lpstr>Kingsoft Sign</vt:lpstr>
      <vt:lpstr>HDOfficeLightV0</vt:lpstr>
      <vt:lpstr>Graph Algorithms</vt:lpstr>
      <vt:lpstr>Shortest-Path Algorithms</vt:lpstr>
      <vt:lpstr>Recall Path cost ,Path length</vt:lpstr>
      <vt:lpstr>Shortest Path Problems</vt:lpstr>
      <vt:lpstr>Why study shortest path problems?</vt:lpstr>
      <vt:lpstr>Unweighted Shortest Path</vt:lpstr>
      <vt:lpstr>Breadth-First Search Solution</vt:lpstr>
      <vt:lpstr>Breadth-First Search Algorithm</vt:lpstr>
      <vt:lpstr>Example: Shortest Path length</vt:lpstr>
      <vt:lpstr>Example (ct’d)</vt:lpstr>
      <vt:lpstr>Example (ct’d)</vt:lpstr>
      <vt:lpstr>Example (ct’d)</vt:lpstr>
      <vt:lpstr>Example (ct’d)</vt:lpstr>
      <vt:lpstr>Example (ct’d)</vt:lpstr>
      <vt:lpstr>Example (ct’d)</vt:lpstr>
      <vt:lpstr>Weighted Shortest Path</vt:lpstr>
      <vt:lpstr>Dijkstra’s Algorithm</vt:lpstr>
      <vt:lpstr>Basic Idea of Dijkstra’s Algorithm </vt:lpstr>
      <vt:lpstr>Dijkstra’s Shortest Path Algorithm</vt:lpstr>
      <vt:lpstr>Example: Initialization</vt:lpstr>
      <vt:lpstr>Example: Update Cost neighbors</vt:lpstr>
      <vt:lpstr>Example</vt:lpstr>
      <vt:lpstr>Example</vt:lpstr>
      <vt:lpstr>Example</vt:lpstr>
      <vt:lpstr>Example</vt:lpstr>
      <vt:lpstr>Example</vt:lpstr>
      <vt:lpstr>Example</vt:lpstr>
      <vt:lpstr>Example</vt:lpstr>
      <vt:lpstr>Dijkstra’s Algorithm - Implementation</vt:lpstr>
      <vt:lpstr>Dijkstra’s Algorithm - Implementation</vt:lpstr>
      <vt:lpstr>Dijkstra’s Algorithm - Implementation</vt:lpstr>
      <vt:lpstr>Dijkstra’s Algorithm – Implementation </vt:lpstr>
      <vt:lpstr>Dijkstra’s Algorithm – Implementation </vt:lpstr>
      <vt:lpstr>PowerPoint 演示文稿</vt:lpstr>
      <vt:lpstr>Dijkstra’s Algorithm – Implementation </vt:lpstr>
      <vt:lpstr>Correctness</vt:lpstr>
      <vt:lpstr>“Cloudy” Proof: The Idea</vt:lpstr>
      <vt:lpstr>Inside the Cloud (Proof)</vt:lpstr>
      <vt:lpstr>Graphs with Negative Edge Costs</vt:lpstr>
      <vt:lpstr>All Pairs Shortest Path</vt:lpstr>
      <vt:lpstr>Homework 7-2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jiexin</cp:lastModifiedBy>
  <cp:revision>1024</cp:revision>
  <dcterms:created xsi:type="dcterms:W3CDTF">2023-11-03T06:30:49Z</dcterms:created>
  <dcterms:modified xsi:type="dcterms:W3CDTF">2023-11-03T06:30:49Z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