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651" r:id="rId3"/>
    <p:sldId id="1281" r:id="rId4"/>
    <p:sldId id="1122" r:id="rId5"/>
    <p:sldId id="1124" r:id="rId6"/>
    <p:sldId id="1125" r:id="rId7"/>
    <p:sldId id="1127" r:id="rId8"/>
    <p:sldId id="1128" r:id="rId9"/>
    <p:sldId id="1129" r:id="rId10"/>
    <p:sldId id="1130" r:id="rId11"/>
    <p:sldId id="1131" r:id="rId12"/>
    <p:sldId id="1132" r:id="rId13"/>
    <p:sldId id="1133" r:id="rId14"/>
    <p:sldId id="1134" r:id="rId15"/>
    <p:sldId id="1135" r:id="rId16"/>
    <p:sldId id="1136" r:id="rId17"/>
    <p:sldId id="1137" r:id="rId18"/>
    <p:sldId id="1138" r:id="rId19"/>
    <p:sldId id="1139" r:id="rId20"/>
    <p:sldId id="1140" r:id="rId21"/>
    <p:sldId id="1275" r:id="rId22"/>
    <p:sldId id="1274" r:id="rId23"/>
    <p:sldId id="1141" r:id="rId24"/>
    <p:sldId id="1276" r:id="rId25"/>
    <p:sldId id="1143" r:id="rId26"/>
    <p:sldId id="1144" r:id="rId27"/>
    <p:sldId id="1277" r:id="rId28"/>
    <p:sldId id="1278" r:id="rId29"/>
    <p:sldId id="1279" r:id="rId30"/>
    <p:sldId id="1280" r:id="rId31"/>
    <p:sldId id="1282" r:id="rId32"/>
    <p:sldId id="1291" r:id="rId33"/>
    <p:sldId id="1284" r:id="rId34"/>
    <p:sldId id="1285" r:id="rId35"/>
    <p:sldId id="1286" r:id="rId36"/>
    <p:sldId id="1287" r:id="rId37"/>
    <p:sldId id="1288" r:id="rId38"/>
    <p:sldId id="1289" r:id="rId39"/>
    <p:sldId id="1290" r:id="rId40"/>
  </p:sldIdLst>
  <p:sldSz cx="6858000" cy="9144000" type="screen4x3"/>
  <p:notesSz cx="6858000" cy="91801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263AF8"/>
    <a:srgbClr val="99CCFF"/>
    <a:srgbClr val="3A3AB9"/>
    <a:srgbClr val="5D26F8"/>
    <a:srgbClr val="CC0000"/>
    <a:srgbClr val="5252D4"/>
    <a:srgbClr val="B545B5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429" autoAdjust="0"/>
  </p:normalViewPr>
  <p:slideViewPr>
    <p:cSldViewPr>
      <p:cViewPr varScale="1">
        <p:scale>
          <a:sx n="85" d="100"/>
          <a:sy n="85" d="100"/>
        </p:scale>
        <p:origin x="2868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38363" y="688975"/>
            <a:ext cx="2582862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1499373"/>
            <a:ext cx="5143500" cy="318346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4802717"/>
            <a:ext cx="51435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 algn="ctr">
              <a:buNone/>
              <a:defRPr sz="1575"/>
            </a:lvl2pPr>
            <a:lvl3pPr marL="514350" indent="0" algn="ctr">
              <a:buNone/>
              <a:defRPr sz="135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9A7A27-7BB5-443E-AB85-AF286397078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956" y="179512"/>
            <a:ext cx="1083469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Sitka Small" panose="02000505000000020004" pitchFamily="2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>
                <a:latin typeface="Sitka Text" panose="02000505000000020004" pitchFamily="2" charset="0"/>
              </a:defRPr>
            </a:lvl1pPr>
            <a:lvl2pPr>
              <a:defRPr sz="2000">
                <a:latin typeface="Sitka Text" panose="02000505000000020004" pitchFamily="2" charset="0"/>
              </a:defRPr>
            </a:lvl2pPr>
            <a:lvl3pPr>
              <a:defRPr sz="1800">
                <a:latin typeface="Sitka Text" panose="02000505000000020004" pitchFamily="2" charset="0"/>
              </a:defRPr>
            </a:lvl3pPr>
            <a:lvl4pPr>
              <a:defRPr sz="1400">
                <a:latin typeface="Sitka Text" panose="02000505000000020004" pitchFamily="2" charset="0"/>
              </a:defRPr>
            </a:lvl4pPr>
            <a:lvl5pPr>
              <a:defRPr sz="1400">
                <a:latin typeface="Sitka Text" panose="02000505000000020004" pitchFamily="2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5CEE31-1C27-4D04-9602-687964FDD92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283233"/>
            <a:ext cx="5915025" cy="3801611"/>
          </a:xfrm>
        </p:spPr>
        <p:txBody>
          <a:bodyPr anchor="b">
            <a:normAutofit/>
          </a:bodyPr>
          <a:lstStyle>
            <a:lvl1pPr>
              <a:defRPr sz="3375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8" y="6070181"/>
            <a:ext cx="5915025" cy="2000249"/>
          </a:xfrm>
        </p:spPr>
        <p:txBody>
          <a:bodyPr anchor="t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2402B8-055D-4BEC-94CF-554172AFCAE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5384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438403"/>
            <a:ext cx="2914650" cy="580178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9EE3A6-99B5-4A29-9F69-D38FE9A1906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5386" y="2242467"/>
            <a:ext cx="2900363" cy="110093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5386" y="3343403"/>
            <a:ext cx="2900363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5" y="2242469"/>
            <a:ext cx="2914651" cy="1100931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5" y="3343403"/>
            <a:ext cx="2914651" cy="490736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BFE86C-C8CD-4D03-A1F2-E5E27E1ACD3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E8B85B-5858-469A-8DE3-3611C591E9A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B5689FD-881A-4F89-A165-1A3455C7A82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3"/>
            <a:ext cx="2211705" cy="2133596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199"/>
            <a:ext cx="2211705" cy="508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6A1B98-F7C6-43B8-AB8B-25578EB1FDE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4" y="609600"/>
            <a:ext cx="2211705" cy="2133600"/>
          </a:xfrm>
        </p:spPr>
        <p:txBody>
          <a:bodyPr anchor="b">
            <a:normAutofit/>
          </a:bodyPr>
          <a:lstStyle>
            <a:lvl1pPr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14652" y="1320800"/>
            <a:ext cx="3471863" cy="65024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3204" y="2743200"/>
            <a:ext cx="2211705" cy="508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5"/>
            </a:lvl3pPr>
            <a:lvl4pPr marL="771525" indent="0">
              <a:buNone/>
              <a:defRPr sz="505"/>
            </a:lvl4pPr>
            <a:lvl5pPr marL="1028700" indent="0">
              <a:buNone/>
              <a:defRPr sz="505"/>
            </a:lvl5pPr>
            <a:lvl6pPr marL="1285875" indent="0">
              <a:buNone/>
              <a:defRPr sz="505"/>
            </a:lvl6pPr>
            <a:lvl7pPr marL="1543050" indent="0">
              <a:buNone/>
              <a:defRPr sz="505"/>
            </a:lvl7pPr>
            <a:lvl8pPr marL="1800225" indent="0">
              <a:buNone/>
              <a:defRPr sz="505"/>
            </a:lvl8pPr>
            <a:lvl9pPr marL="2057400" indent="0">
              <a:buNone/>
              <a:defRPr sz="50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BEF8E-846C-4893-AB5A-12CBC3657F92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AE136-B9E8-4550-9307-1466EB4BFB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8" y="480484"/>
            <a:ext cx="1478756" cy="77491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9" y="480483"/>
            <a:ext cx="4350544" cy="7749116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ACDBB4-F205-43A0-A070-87FFD3E0891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454" y="467544"/>
            <a:ext cx="5915025" cy="1767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385" y="2438403"/>
            <a:ext cx="5915025" cy="5801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F8139FDF-DCBD-44FB-9F55-9507351AC55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7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7359" y="8475137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Sitka Small" panose="02000505000000020004" pitchFamily="2" charset="0"/>
          <a:ea typeface="+mj-ea"/>
          <a:cs typeface="Times New Roman" panose="02020603050405020304" pitchFamily="18" charset="0"/>
        </a:defRPr>
      </a:lvl1pPr>
    </p:titleStyle>
    <p:bodyStyle>
      <a:lvl1pPr marL="128270" indent="-128270" algn="l" defTabSz="514350" rtl="0" eaLnBrk="1" latinLnBrk="0" hangingPunct="1">
        <a:lnSpc>
          <a:spcPct val="90000"/>
        </a:lnSpc>
        <a:spcBef>
          <a:spcPts val="565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1pPr>
      <a:lvl2pPr marL="38544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2pPr>
      <a:lvl3pPr marL="64262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3pPr>
      <a:lvl4pPr marL="899795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4pPr>
      <a:lvl5pPr marL="1156970" indent="-128270" algn="l" defTabSz="514350" rtl="0" eaLnBrk="1" latinLnBrk="0" hangingPunct="1">
        <a:lnSpc>
          <a:spcPct val="90000"/>
        </a:lnSpc>
        <a:spcBef>
          <a:spcPts val="280"/>
        </a:spcBef>
        <a:buFont typeface="Wingdings 2" panose="05020102010507070707" pitchFamily="18" charset="2"/>
        <a:buChar char=""/>
        <a:defRPr sz="1400" kern="1200">
          <a:solidFill>
            <a:schemeClr val="tx1"/>
          </a:solidFill>
          <a:latin typeface="Sitka Text" panose="02000505000000020004" pitchFamily="2" charset="0"/>
          <a:ea typeface="+mn-ea"/>
          <a:cs typeface="Times New Roman" panose="02020603050405020304" pitchFamily="18" charset="0"/>
        </a:defRPr>
      </a:lvl5pPr>
      <a:lvl6pPr marL="141414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32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8495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5670" indent="-128270" algn="l" defTabSz="51435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2350296"/>
            <a:ext cx="6858000" cy="11858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Graph Algorithms</a:t>
            </a:r>
            <a:endParaRPr lang="zh-CN" altLang="en-US" dirty="0" smtClean="0">
              <a:latin typeface="Sitka Small" panose="02000505000000020004" pitchFamily="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57250" y="4416425"/>
            <a:ext cx="5143500" cy="205867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Definitions &amp;</a:t>
            </a:r>
            <a:br>
              <a:rPr lang="en-US" altLang="zh-CN" dirty="0" smtClean="0"/>
            </a:br>
            <a:r>
              <a:rPr lang="en-US" altLang="zh-CN" dirty="0" smtClean="0"/>
              <a:t>Representations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Section 9.1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2402B8-055D-4BEC-94CF-554172AFCAE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EE6E9D-973A-4304-BCA5-6BCA6D526A4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2389A3-8534-4D2E-BA70-1D5605BD1674}" type="slidenum">
              <a:rPr lang="en-US" altLang="zh-CN" sz="1050"/>
            </a:fld>
            <a:endParaRPr lang="en-US" altLang="zh-CN" sz="105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Graphs 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2447685"/>
            <a:ext cx="5829300" cy="2295765"/>
          </a:xfrm>
        </p:spPr>
        <p:txBody>
          <a:bodyPr>
            <a:normAutofit/>
          </a:bodyPr>
          <a:lstStyle/>
          <a:p>
            <a:r>
              <a:rPr lang="en-US" altLang="zh-CN" dirty="0" smtClean="0">
                <a:ea typeface="SimSun" panose="02010600030101010101" pitchFamily="2" charset="-122"/>
              </a:rPr>
              <a:t>Graphs are composed of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Nodes (vertices)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2"/>
            <a:r>
              <a:rPr lang="en-US" altLang="zh-CN" dirty="0"/>
              <a:t>Labeled or </a:t>
            </a:r>
            <a:r>
              <a:rPr lang="en-US" altLang="zh-CN" dirty="0" smtClean="0"/>
              <a:t>unlabeled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 smtClean="0">
                <a:ea typeface="SimSun" panose="02010600030101010101" pitchFamily="2" charset="-122"/>
              </a:rPr>
              <a:t>Edges (arcs)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2"/>
            <a:r>
              <a:rPr lang="en-US" altLang="zh-CN" dirty="0">
                <a:solidFill>
                  <a:srgbClr val="263AF8"/>
                </a:solidFill>
              </a:rPr>
              <a:t>Directed</a:t>
            </a:r>
            <a:r>
              <a:rPr lang="en-US" altLang="zh-CN" dirty="0"/>
              <a:t> or </a:t>
            </a:r>
            <a:r>
              <a:rPr lang="en-US" altLang="zh-CN" dirty="0">
                <a:solidFill>
                  <a:srgbClr val="263AF8"/>
                </a:solidFill>
              </a:rPr>
              <a:t>undirected</a:t>
            </a:r>
            <a:endParaRPr lang="en-US" altLang="zh-CN" dirty="0">
              <a:solidFill>
                <a:srgbClr val="263AF8"/>
              </a:solidFill>
            </a:endParaRPr>
          </a:p>
          <a:p>
            <a:pPr lvl="2"/>
            <a:r>
              <a:rPr lang="en-US" altLang="zh-CN" dirty="0"/>
              <a:t>Labeled or unlabeled</a:t>
            </a:r>
            <a:endParaRPr lang="en-US" altLang="zh-CN" dirty="0"/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  <a:p>
            <a:pPr lvl="2"/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0" name="Oval 4"/>
          <p:cNvSpPr>
            <a:spLocks noChangeArrowheads="1"/>
          </p:cNvSpPr>
          <p:nvPr/>
        </p:nvSpPr>
        <p:spPr bwMode="auto">
          <a:xfrm>
            <a:off x="2044047" y="6152093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1" name="Oval 5"/>
          <p:cNvSpPr>
            <a:spLocks noChangeArrowheads="1"/>
          </p:cNvSpPr>
          <p:nvPr/>
        </p:nvSpPr>
        <p:spPr bwMode="auto">
          <a:xfrm>
            <a:off x="3110847" y="5466293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2" name="Oval 6"/>
          <p:cNvSpPr>
            <a:spLocks noChangeArrowheads="1"/>
          </p:cNvSpPr>
          <p:nvPr/>
        </p:nvSpPr>
        <p:spPr bwMode="auto">
          <a:xfrm>
            <a:off x="3949047" y="6152093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3" name="Oval 7"/>
          <p:cNvSpPr>
            <a:spLocks noChangeArrowheads="1"/>
          </p:cNvSpPr>
          <p:nvPr/>
        </p:nvSpPr>
        <p:spPr bwMode="auto">
          <a:xfrm>
            <a:off x="3187047" y="6990293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4" name="Oval 8"/>
          <p:cNvSpPr>
            <a:spLocks noChangeArrowheads="1"/>
          </p:cNvSpPr>
          <p:nvPr/>
        </p:nvSpPr>
        <p:spPr bwMode="auto">
          <a:xfrm>
            <a:off x="2882247" y="6380693"/>
            <a:ext cx="304800" cy="304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 flipV="1">
            <a:off x="2272647" y="5694893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3415647" y="5618693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3263247" y="5771093"/>
            <a:ext cx="76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 flipV="1">
            <a:off x="3187047" y="6380693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13"/>
          <p:cNvSpPr>
            <a:spLocks noChangeShapeType="1"/>
          </p:cNvSpPr>
          <p:nvPr/>
        </p:nvSpPr>
        <p:spPr bwMode="auto">
          <a:xfrm flipV="1">
            <a:off x="3491847" y="6456893"/>
            <a:ext cx="533400" cy="6060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3187047" y="5009093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node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31" name="Text Box 17"/>
          <p:cNvSpPr txBox="1">
            <a:spLocks noChangeArrowheads="1"/>
          </p:cNvSpPr>
          <p:nvPr/>
        </p:nvSpPr>
        <p:spPr bwMode="auto">
          <a:xfrm>
            <a:off x="3644247" y="6761693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SimSun" panose="02010600030101010101" pitchFamily="2" charset="-122"/>
              </a:rPr>
              <a:t>edge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32" name="Line 18"/>
          <p:cNvSpPr>
            <a:spLocks noChangeShapeType="1"/>
          </p:cNvSpPr>
          <p:nvPr/>
        </p:nvSpPr>
        <p:spPr bwMode="auto">
          <a:xfrm>
            <a:off x="2348847" y="6380693"/>
            <a:ext cx="533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A842D0-334B-4EEC-8B89-3F837D0B59EA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8D0E3C-76A2-4F33-BC4B-26913BC45780}" type="slidenum">
              <a:rPr lang="en-US" altLang="zh-CN" sz="1050"/>
            </a:fld>
            <a:endParaRPr lang="en-US" altLang="zh-CN" sz="105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Motivation for Graphs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2411760"/>
            <a:ext cx="3607594" cy="496855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ea typeface="SimSun" panose="02010600030101010101" pitchFamily="2" charset="-122"/>
              </a:rPr>
              <a:t>Consider the data structures we have looked at so far…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u="sng" dirty="0">
                <a:solidFill>
                  <a:srgbClr val="0000FF"/>
                </a:solidFill>
                <a:ea typeface="SimSun" panose="02010600030101010101" pitchFamily="2" charset="-122"/>
              </a:rPr>
              <a:t>Linked list</a:t>
            </a:r>
            <a:r>
              <a:rPr lang="en-US" altLang="zh-CN" sz="2000" dirty="0">
                <a:ea typeface="SimSun" panose="02010600030101010101" pitchFamily="2" charset="-122"/>
              </a:rPr>
              <a:t>: nodes with 1 incoming edge + 1 outgoing edge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u="sng" dirty="0">
                <a:solidFill>
                  <a:srgbClr val="0000FF"/>
                </a:solidFill>
                <a:ea typeface="SimSun" panose="02010600030101010101" pitchFamily="2" charset="-122"/>
              </a:rPr>
              <a:t>Binary trees/heaps</a:t>
            </a:r>
            <a:r>
              <a:rPr lang="en-US" altLang="zh-CN" sz="2000" dirty="0">
                <a:ea typeface="SimSun" panose="02010600030101010101" pitchFamily="2" charset="-122"/>
              </a:rPr>
              <a:t>: nodes with 1 incoming edge + 2 outgoing edges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u="sng" dirty="0">
                <a:solidFill>
                  <a:srgbClr val="0000FF"/>
                </a:solidFill>
                <a:ea typeface="SimSun" panose="02010600030101010101" pitchFamily="2" charset="-122"/>
              </a:rPr>
              <a:t>B-trees</a:t>
            </a:r>
            <a:r>
              <a:rPr lang="en-US" altLang="zh-CN" sz="2000" dirty="0">
                <a:ea typeface="SimSun" panose="02010600030101010101" pitchFamily="2" charset="-122"/>
              </a:rPr>
              <a:t>: nodes with 1 incoming edge + multiple outgoing edges</a:t>
            </a:r>
            <a:endParaRPr lang="en-US" altLang="zh-CN" sz="2000" dirty="0">
              <a:ea typeface="SimSun" panose="02010600030101010101" pitchFamily="2" charset="-122"/>
            </a:endParaRPr>
          </a:p>
        </p:txBody>
      </p:sp>
      <p:sp>
        <p:nvSpPr>
          <p:cNvPr id="11285" name="Rectangle 26"/>
          <p:cNvSpPr>
            <a:spLocks noChangeArrowheads="1"/>
          </p:cNvSpPr>
          <p:nvPr/>
        </p:nvSpPr>
        <p:spPr bwMode="auto">
          <a:xfrm>
            <a:off x="4093369" y="3543300"/>
            <a:ext cx="572691" cy="4572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11286" name="Rectangle 27"/>
          <p:cNvSpPr>
            <a:spLocks noChangeArrowheads="1"/>
          </p:cNvSpPr>
          <p:nvPr/>
        </p:nvSpPr>
        <p:spPr bwMode="auto">
          <a:xfrm>
            <a:off x="4676775" y="3543300"/>
            <a:ext cx="504825" cy="4572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11287" name="Text Box 28"/>
          <p:cNvSpPr txBox="1">
            <a:spLocks noChangeArrowheads="1"/>
          </p:cNvSpPr>
          <p:nvPr/>
        </p:nvSpPr>
        <p:spPr bwMode="auto">
          <a:xfrm>
            <a:off x="4058842" y="3564732"/>
            <a:ext cx="68698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>
                <a:ea typeface="SimSun" panose="02010600030101010101" pitchFamily="2" charset="-122"/>
              </a:rPr>
              <a:t>Value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88" name="Text Box 29"/>
          <p:cNvSpPr txBox="1">
            <a:spLocks noChangeArrowheads="1"/>
          </p:cNvSpPr>
          <p:nvPr/>
        </p:nvSpPr>
        <p:spPr bwMode="auto">
          <a:xfrm>
            <a:off x="4655344" y="3543300"/>
            <a:ext cx="6030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>
                <a:ea typeface="SimSun" panose="02010600030101010101" pitchFamily="2" charset="-122"/>
              </a:rPr>
              <a:t>Next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89" name="Text Box 30"/>
          <p:cNvSpPr txBox="1">
            <a:spLocks noChangeArrowheads="1"/>
          </p:cNvSpPr>
          <p:nvPr/>
        </p:nvSpPr>
        <p:spPr bwMode="auto">
          <a:xfrm>
            <a:off x="4360069" y="3278982"/>
            <a:ext cx="6431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>
                <a:ea typeface="SimSun" panose="02010600030101010101" pitchFamily="2" charset="-122"/>
              </a:rPr>
              <a:t>node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90" name="Oval 31"/>
          <p:cNvSpPr>
            <a:spLocks noChangeArrowheads="1"/>
          </p:cNvSpPr>
          <p:nvPr/>
        </p:nvSpPr>
        <p:spPr bwMode="auto">
          <a:xfrm>
            <a:off x="4883944" y="3829050"/>
            <a:ext cx="114300" cy="114300"/>
          </a:xfrm>
          <a:prstGeom prst="ellipse">
            <a:avLst/>
          </a:prstGeom>
          <a:solidFill>
            <a:srgbClr val="063DE8"/>
          </a:solidFill>
          <a:ln w="12700">
            <a:solidFill>
              <a:srgbClr val="063DE8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FC012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91" name="Rectangle 32"/>
          <p:cNvSpPr>
            <a:spLocks noChangeArrowheads="1"/>
          </p:cNvSpPr>
          <p:nvPr/>
        </p:nvSpPr>
        <p:spPr bwMode="auto">
          <a:xfrm>
            <a:off x="5556648" y="3533775"/>
            <a:ext cx="572690" cy="4572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11292" name="Rectangle 33"/>
          <p:cNvSpPr>
            <a:spLocks noChangeArrowheads="1"/>
          </p:cNvSpPr>
          <p:nvPr/>
        </p:nvSpPr>
        <p:spPr bwMode="auto">
          <a:xfrm>
            <a:off x="6140054" y="3533775"/>
            <a:ext cx="504825" cy="4572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11293" name="Text Box 34"/>
          <p:cNvSpPr txBox="1">
            <a:spLocks noChangeArrowheads="1"/>
          </p:cNvSpPr>
          <p:nvPr/>
        </p:nvSpPr>
        <p:spPr bwMode="auto">
          <a:xfrm>
            <a:off x="5522119" y="3555207"/>
            <a:ext cx="68698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>
                <a:ea typeface="SimSun" panose="02010600030101010101" pitchFamily="2" charset="-122"/>
              </a:rPr>
              <a:t>Value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94" name="Text Box 35"/>
          <p:cNvSpPr txBox="1">
            <a:spLocks noChangeArrowheads="1"/>
          </p:cNvSpPr>
          <p:nvPr/>
        </p:nvSpPr>
        <p:spPr bwMode="auto">
          <a:xfrm>
            <a:off x="6118622" y="3533775"/>
            <a:ext cx="6030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>
                <a:ea typeface="SimSun" panose="02010600030101010101" pitchFamily="2" charset="-122"/>
              </a:rPr>
              <a:t>Next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95" name="Text Box 36"/>
          <p:cNvSpPr txBox="1">
            <a:spLocks noChangeArrowheads="1"/>
          </p:cNvSpPr>
          <p:nvPr/>
        </p:nvSpPr>
        <p:spPr bwMode="auto">
          <a:xfrm>
            <a:off x="5823348" y="3269457"/>
            <a:ext cx="64312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>
                <a:ea typeface="SimSun" panose="02010600030101010101" pitchFamily="2" charset="-122"/>
              </a:rPr>
              <a:t>node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96" name="Oval 37"/>
          <p:cNvSpPr>
            <a:spLocks noChangeArrowheads="1"/>
          </p:cNvSpPr>
          <p:nvPr/>
        </p:nvSpPr>
        <p:spPr bwMode="auto">
          <a:xfrm>
            <a:off x="6347222" y="3819525"/>
            <a:ext cx="114300" cy="114300"/>
          </a:xfrm>
          <a:prstGeom prst="ellipse">
            <a:avLst/>
          </a:prstGeom>
          <a:solidFill>
            <a:srgbClr val="063DE8"/>
          </a:solidFill>
          <a:ln w="12700">
            <a:solidFill>
              <a:srgbClr val="063DE8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FC0128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297" name="Line 38"/>
          <p:cNvSpPr>
            <a:spLocks noChangeShapeType="1"/>
          </p:cNvSpPr>
          <p:nvPr/>
        </p:nvSpPr>
        <p:spPr bwMode="auto">
          <a:xfrm>
            <a:off x="4957762" y="3896916"/>
            <a:ext cx="596504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8" name="Oval 12"/>
          <p:cNvSpPr>
            <a:spLocks noChangeArrowheads="1"/>
          </p:cNvSpPr>
          <p:nvPr/>
        </p:nvSpPr>
        <p:spPr bwMode="auto">
          <a:xfrm>
            <a:off x="5033540" y="43021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39" name="Oval 13"/>
          <p:cNvSpPr>
            <a:spLocks noChangeArrowheads="1"/>
          </p:cNvSpPr>
          <p:nvPr/>
        </p:nvSpPr>
        <p:spPr bwMode="auto">
          <a:xfrm>
            <a:off x="4576340" y="54451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5490740" y="5445168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1" name="Line 15"/>
          <p:cNvSpPr>
            <a:spLocks noChangeShapeType="1"/>
          </p:cNvSpPr>
          <p:nvPr/>
        </p:nvSpPr>
        <p:spPr bwMode="auto">
          <a:xfrm flipH="1">
            <a:off x="4804940" y="4759368"/>
            <a:ext cx="4572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6"/>
          <p:cNvSpPr>
            <a:spLocks noChangeShapeType="1"/>
          </p:cNvSpPr>
          <p:nvPr/>
        </p:nvSpPr>
        <p:spPr bwMode="auto">
          <a:xfrm>
            <a:off x="5262140" y="4759368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 Box 17"/>
          <p:cNvSpPr txBox="1">
            <a:spLocks noChangeArrowheads="1"/>
          </p:cNvSpPr>
          <p:nvPr/>
        </p:nvSpPr>
        <p:spPr bwMode="auto">
          <a:xfrm>
            <a:off x="4565228" y="5424531"/>
            <a:ext cx="498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10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4" name="Oval 18"/>
          <p:cNvSpPr>
            <a:spLocks noChangeArrowheads="1"/>
          </p:cNvSpPr>
          <p:nvPr/>
        </p:nvSpPr>
        <p:spPr bwMode="auto">
          <a:xfrm>
            <a:off x="5046240" y="6573881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5" name="Oval 19"/>
          <p:cNvSpPr>
            <a:spLocks noChangeArrowheads="1"/>
          </p:cNvSpPr>
          <p:nvPr/>
        </p:nvSpPr>
        <p:spPr bwMode="auto">
          <a:xfrm>
            <a:off x="5960640" y="6573881"/>
            <a:ext cx="457200" cy="4572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46" name="Line 20"/>
          <p:cNvSpPr>
            <a:spLocks noChangeShapeType="1"/>
          </p:cNvSpPr>
          <p:nvPr/>
        </p:nvSpPr>
        <p:spPr bwMode="auto">
          <a:xfrm flipH="1">
            <a:off x="5274840" y="5888081"/>
            <a:ext cx="4572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Line 21"/>
          <p:cNvSpPr>
            <a:spLocks noChangeShapeType="1"/>
          </p:cNvSpPr>
          <p:nvPr/>
        </p:nvSpPr>
        <p:spPr bwMode="auto">
          <a:xfrm>
            <a:off x="5732040" y="5888081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5024015" y="6561181"/>
            <a:ext cx="519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96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9" name="Text Box 23"/>
          <p:cNvSpPr txBox="1">
            <a:spLocks noChangeArrowheads="1"/>
          </p:cNvSpPr>
          <p:nvPr/>
        </p:nvSpPr>
        <p:spPr bwMode="auto">
          <a:xfrm>
            <a:off x="5938415" y="6584993"/>
            <a:ext cx="538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99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0" name="Text Box 24"/>
          <p:cNvSpPr txBox="1">
            <a:spLocks noChangeArrowheads="1"/>
          </p:cNvSpPr>
          <p:nvPr/>
        </p:nvSpPr>
        <p:spPr bwMode="auto">
          <a:xfrm>
            <a:off x="5017665" y="4284706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94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1" name="Text Box 25"/>
          <p:cNvSpPr txBox="1">
            <a:spLocks noChangeArrowheads="1"/>
          </p:cNvSpPr>
          <p:nvPr/>
        </p:nvSpPr>
        <p:spPr bwMode="auto">
          <a:xfrm>
            <a:off x="5476453" y="54197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</a:rPr>
              <a:t>97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2" name="Oval 39"/>
          <p:cNvSpPr>
            <a:spLocks noChangeArrowheads="1"/>
          </p:cNvSpPr>
          <p:nvPr/>
        </p:nvSpPr>
        <p:spPr bwMode="auto">
          <a:xfrm>
            <a:off x="2942035" y="7203824"/>
            <a:ext cx="1371600" cy="3048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SimSun" panose="02010600030101010101" pitchFamily="2" charset="-122"/>
              </a:rPr>
              <a:t>3    5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53" name="Line 41"/>
          <p:cNvSpPr>
            <a:spLocks noChangeShapeType="1"/>
          </p:cNvSpPr>
          <p:nvPr/>
        </p:nvSpPr>
        <p:spPr bwMode="auto">
          <a:xfrm flipH="1">
            <a:off x="2942035" y="7356224"/>
            <a:ext cx="3048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Line 42"/>
          <p:cNvSpPr>
            <a:spLocks noChangeShapeType="1"/>
          </p:cNvSpPr>
          <p:nvPr/>
        </p:nvSpPr>
        <p:spPr bwMode="auto">
          <a:xfrm>
            <a:off x="3627835" y="7356224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" name="Line 43"/>
          <p:cNvSpPr>
            <a:spLocks noChangeShapeType="1"/>
          </p:cNvSpPr>
          <p:nvPr/>
        </p:nvSpPr>
        <p:spPr bwMode="auto">
          <a:xfrm>
            <a:off x="4085035" y="7356224"/>
            <a:ext cx="1524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AAB748-ED7B-451B-A1CB-80FA82DB370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39009A-502F-413F-A3D0-4BC013DA92FD}" type="slidenum">
              <a:rPr lang="en-US" altLang="zh-CN" sz="1050"/>
            </a:fld>
            <a:endParaRPr lang="en-US" altLang="zh-CN" sz="105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Motivation for Graphs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3131840"/>
            <a:ext cx="6172200" cy="3440410"/>
          </a:xfrm>
        </p:spPr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How can you generalize these data structures?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Consider data structures for representing the following problems…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endParaRPr lang="en-US" altLang="zh-CN" dirty="0" smtClean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74EEA5-87FE-4E6B-B393-3E237736C0BB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B980D3-74AF-4462-AD58-555F03175CAF}" type="slidenum">
              <a:rPr lang="en-US" altLang="zh-CN" sz="1050"/>
            </a:fld>
            <a:endParaRPr lang="en-US" altLang="zh-CN" sz="1050"/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Representing a Maze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4377" name="Text Box 42"/>
          <p:cNvSpPr txBox="1">
            <a:spLocks noChangeArrowheads="1"/>
          </p:cNvSpPr>
          <p:nvPr/>
        </p:nvSpPr>
        <p:spPr bwMode="auto">
          <a:xfrm>
            <a:off x="2000250" y="5770960"/>
            <a:ext cx="298831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Nodes = rooms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Edge = door or passage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56" name="Line 2"/>
          <p:cNvSpPr>
            <a:spLocks noChangeShapeType="1"/>
          </p:cNvSpPr>
          <p:nvPr/>
        </p:nvSpPr>
        <p:spPr bwMode="auto">
          <a:xfrm>
            <a:off x="3614166" y="3923928"/>
            <a:ext cx="80010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7" name="Line 4"/>
          <p:cNvSpPr>
            <a:spLocks noChangeShapeType="1"/>
          </p:cNvSpPr>
          <p:nvPr/>
        </p:nvSpPr>
        <p:spPr bwMode="auto">
          <a:xfrm>
            <a:off x="801909" y="3125415"/>
            <a:ext cx="1588" cy="53657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8" name="Line 5"/>
          <p:cNvSpPr>
            <a:spLocks noChangeShapeType="1"/>
          </p:cNvSpPr>
          <p:nvPr/>
        </p:nvSpPr>
        <p:spPr bwMode="auto">
          <a:xfrm>
            <a:off x="219297" y="4727203"/>
            <a:ext cx="1746250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59" name="Line 6"/>
          <p:cNvSpPr>
            <a:spLocks noChangeShapeType="1"/>
          </p:cNvSpPr>
          <p:nvPr/>
        </p:nvSpPr>
        <p:spPr bwMode="auto">
          <a:xfrm>
            <a:off x="1965547" y="4144590"/>
            <a:ext cx="1587" cy="582613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0" name="Line 7"/>
          <p:cNvSpPr>
            <a:spLocks noChangeShapeType="1"/>
          </p:cNvSpPr>
          <p:nvPr/>
        </p:nvSpPr>
        <p:spPr bwMode="auto">
          <a:xfrm>
            <a:off x="801909" y="4144590"/>
            <a:ext cx="582613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1" name="Line 8"/>
          <p:cNvSpPr>
            <a:spLocks noChangeShapeType="1"/>
          </p:cNvSpPr>
          <p:nvPr/>
        </p:nvSpPr>
        <p:spPr bwMode="auto">
          <a:xfrm>
            <a:off x="1965547" y="3561978"/>
            <a:ext cx="582612" cy="1587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2" name="Line 9"/>
          <p:cNvSpPr>
            <a:spLocks noChangeShapeType="1"/>
          </p:cNvSpPr>
          <p:nvPr/>
        </p:nvSpPr>
        <p:spPr bwMode="auto">
          <a:xfrm flipV="1">
            <a:off x="2548159" y="3561978"/>
            <a:ext cx="1588" cy="116522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3" name="Line 10"/>
          <p:cNvSpPr>
            <a:spLocks noChangeShapeType="1"/>
          </p:cNvSpPr>
          <p:nvPr/>
        </p:nvSpPr>
        <p:spPr bwMode="auto">
          <a:xfrm flipV="1">
            <a:off x="1384522" y="3125415"/>
            <a:ext cx="1587" cy="436563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4" name="Line 11"/>
          <p:cNvSpPr>
            <a:spLocks noChangeShapeType="1"/>
          </p:cNvSpPr>
          <p:nvPr/>
        </p:nvSpPr>
        <p:spPr bwMode="auto">
          <a:xfrm>
            <a:off x="1384522" y="3561978"/>
            <a:ext cx="1587" cy="58261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5" name="Line 12"/>
          <p:cNvSpPr>
            <a:spLocks noChangeShapeType="1"/>
          </p:cNvSpPr>
          <p:nvPr/>
        </p:nvSpPr>
        <p:spPr bwMode="auto">
          <a:xfrm>
            <a:off x="219297" y="3125415"/>
            <a:ext cx="582612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6" name="Line 13"/>
          <p:cNvSpPr>
            <a:spLocks noChangeShapeType="1"/>
          </p:cNvSpPr>
          <p:nvPr/>
        </p:nvSpPr>
        <p:spPr bwMode="auto">
          <a:xfrm flipH="1" flipV="1">
            <a:off x="211359" y="3495303"/>
            <a:ext cx="7938" cy="123190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7" name="Line 14"/>
          <p:cNvSpPr>
            <a:spLocks noChangeShapeType="1"/>
          </p:cNvSpPr>
          <p:nvPr/>
        </p:nvSpPr>
        <p:spPr bwMode="auto">
          <a:xfrm>
            <a:off x="801909" y="3125415"/>
            <a:ext cx="1746250" cy="15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8" name="Line 15"/>
          <p:cNvSpPr>
            <a:spLocks noChangeShapeType="1"/>
          </p:cNvSpPr>
          <p:nvPr/>
        </p:nvSpPr>
        <p:spPr bwMode="auto">
          <a:xfrm flipV="1">
            <a:off x="2548159" y="3125415"/>
            <a:ext cx="1588" cy="436563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69" name="Line 18"/>
          <p:cNvSpPr>
            <a:spLocks noChangeShapeType="1"/>
          </p:cNvSpPr>
          <p:nvPr/>
        </p:nvSpPr>
        <p:spPr bwMode="auto">
          <a:xfrm>
            <a:off x="3607816" y="3125415"/>
            <a:ext cx="1587" cy="800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0" name="Line 19"/>
          <p:cNvSpPr>
            <a:spLocks noChangeShapeType="1"/>
          </p:cNvSpPr>
          <p:nvPr/>
        </p:nvSpPr>
        <p:spPr bwMode="auto">
          <a:xfrm flipV="1">
            <a:off x="3607816" y="3925515"/>
            <a:ext cx="1587" cy="801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1" name="Line 20"/>
          <p:cNvSpPr>
            <a:spLocks noChangeShapeType="1"/>
          </p:cNvSpPr>
          <p:nvPr/>
        </p:nvSpPr>
        <p:spPr bwMode="auto">
          <a:xfrm flipH="1">
            <a:off x="3607816" y="4727203"/>
            <a:ext cx="800100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21"/>
          <p:cNvSpPr>
            <a:spLocks noChangeShapeType="1"/>
          </p:cNvSpPr>
          <p:nvPr/>
        </p:nvSpPr>
        <p:spPr bwMode="auto">
          <a:xfrm flipH="1">
            <a:off x="4407916" y="4727203"/>
            <a:ext cx="801687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22"/>
          <p:cNvSpPr>
            <a:spLocks noChangeShapeType="1"/>
          </p:cNvSpPr>
          <p:nvPr/>
        </p:nvSpPr>
        <p:spPr bwMode="auto">
          <a:xfrm>
            <a:off x="5209603" y="3925515"/>
            <a:ext cx="1588" cy="801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Line 23"/>
          <p:cNvSpPr>
            <a:spLocks noChangeShapeType="1"/>
          </p:cNvSpPr>
          <p:nvPr/>
        </p:nvSpPr>
        <p:spPr bwMode="auto">
          <a:xfrm>
            <a:off x="5209603" y="3125415"/>
            <a:ext cx="1588" cy="800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5" name="Line 24"/>
          <p:cNvSpPr>
            <a:spLocks noChangeShapeType="1"/>
          </p:cNvSpPr>
          <p:nvPr/>
        </p:nvSpPr>
        <p:spPr bwMode="auto">
          <a:xfrm flipH="1" flipV="1">
            <a:off x="5209603" y="3090490"/>
            <a:ext cx="800100" cy="34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6" name="Line 25"/>
          <p:cNvSpPr>
            <a:spLocks noChangeShapeType="1"/>
          </p:cNvSpPr>
          <p:nvPr/>
        </p:nvSpPr>
        <p:spPr bwMode="auto">
          <a:xfrm>
            <a:off x="5209603" y="3925515"/>
            <a:ext cx="8001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7" name="Line 26"/>
          <p:cNvSpPr>
            <a:spLocks noChangeShapeType="1"/>
          </p:cNvSpPr>
          <p:nvPr/>
        </p:nvSpPr>
        <p:spPr bwMode="auto">
          <a:xfrm flipH="1" flipV="1">
            <a:off x="6047803" y="392869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8" name="Line 27"/>
          <p:cNvSpPr>
            <a:spLocks noChangeShapeType="1"/>
          </p:cNvSpPr>
          <p:nvPr/>
        </p:nvSpPr>
        <p:spPr bwMode="auto">
          <a:xfrm>
            <a:off x="4407916" y="3125415"/>
            <a:ext cx="1587" cy="800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9" name="Freeform 28"/>
          <p:cNvSpPr/>
          <p:nvPr/>
        </p:nvSpPr>
        <p:spPr bwMode="auto">
          <a:xfrm>
            <a:off x="3417316" y="3735015"/>
            <a:ext cx="381000" cy="382588"/>
          </a:xfrm>
          <a:custGeom>
            <a:avLst/>
            <a:gdLst>
              <a:gd name="T0" fmla="*/ 0 w 864"/>
              <a:gd name="T1" fmla="*/ 191294 h 866"/>
              <a:gd name="T2" fmla="*/ 882 w 864"/>
              <a:gd name="T3" fmla="*/ 165670 h 866"/>
              <a:gd name="T4" fmla="*/ 5733 w 864"/>
              <a:gd name="T5" fmla="*/ 140930 h 866"/>
              <a:gd name="T6" fmla="*/ 14111 w 864"/>
              <a:gd name="T7" fmla="*/ 117957 h 866"/>
              <a:gd name="T8" fmla="*/ 25135 w 864"/>
              <a:gd name="T9" fmla="*/ 94984 h 866"/>
              <a:gd name="T10" fmla="*/ 38806 w 864"/>
              <a:gd name="T11" fmla="*/ 74662 h 866"/>
              <a:gd name="T12" fmla="*/ 55122 w 864"/>
              <a:gd name="T13" fmla="*/ 56107 h 866"/>
              <a:gd name="T14" fmla="*/ 74524 w 864"/>
              <a:gd name="T15" fmla="*/ 39319 h 866"/>
              <a:gd name="T16" fmla="*/ 94809 w 864"/>
              <a:gd name="T17" fmla="*/ 25624 h 866"/>
              <a:gd name="T18" fmla="*/ 116858 w 864"/>
              <a:gd name="T19" fmla="*/ 14579 h 866"/>
              <a:gd name="T20" fmla="*/ 140670 w 864"/>
              <a:gd name="T21" fmla="*/ 6185 h 866"/>
              <a:gd name="T22" fmla="*/ 164924 w 864"/>
              <a:gd name="T23" fmla="*/ 1767 h 866"/>
              <a:gd name="T24" fmla="*/ 190500 w 864"/>
              <a:gd name="T25" fmla="*/ 0 h 866"/>
              <a:gd name="T26" fmla="*/ 215194 w 864"/>
              <a:gd name="T27" fmla="*/ 1767 h 866"/>
              <a:gd name="T28" fmla="*/ 239448 w 864"/>
              <a:gd name="T29" fmla="*/ 6185 h 866"/>
              <a:gd name="T30" fmla="*/ 263260 w 864"/>
              <a:gd name="T31" fmla="*/ 14579 h 866"/>
              <a:gd name="T32" fmla="*/ 285309 w 864"/>
              <a:gd name="T33" fmla="*/ 25624 h 866"/>
              <a:gd name="T34" fmla="*/ 305594 w 864"/>
              <a:gd name="T35" fmla="*/ 39319 h 866"/>
              <a:gd name="T36" fmla="*/ 325438 w 864"/>
              <a:gd name="T37" fmla="*/ 56107 h 866"/>
              <a:gd name="T38" fmla="*/ 341313 w 864"/>
              <a:gd name="T39" fmla="*/ 74662 h 866"/>
              <a:gd name="T40" fmla="*/ 354983 w 864"/>
              <a:gd name="T41" fmla="*/ 94984 h 866"/>
              <a:gd name="T42" fmla="*/ 366007 w 864"/>
              <a:gd name="T43" fmla="*/ 117957 h 866"/>
              <a:gd name="T44" fmla="*/ 374385 w 864"/>
              <a:gd name="T45" fmla="*/ 140930 h 866"/>
              <a:gd name="T46" fmla="*/ 379677 w 864"/>
              <a:gd name="T47" fmla="*/ 165670 h 866"/>
              <a:gd name="T48" fmla="*/ 381000 w 864"/>
              <a:gd name="T49" fmla="*/ 191294 h 866"/>
              <a:gd name="T50" fmla="*/ 379677 w 864"/>
              <a:gd name="T51" fmla="*/ 216034 h 866"/>
              <a:gd name="T52" fmla="*/ 374385 w 864"/>
              <a:gd name="T53" fmla="*/ 240332 h 866"/>
              <a:gd name="T54" fmla="*/ 366007 w 864"/>
              <a:gd name="T55" fmla="*/ 264189 h 866"/>
              <a:gd name="T56" fmla="*/ 354983 w 864"/>
              <a:gd name="T57" fmla="*/ 286278 h 866"/>
              <a:gd name="T58" fmla="*/ 341313 w 864"/>
              <a:gd name="T59" fmla="*/ 307484 h 866"/>
              <a:gd name="T60" fmla="*/ 325438 w 864"/>
              <a:gd name="T61" fmla="*/ 326481 h 866"/>
              <a:gd name="T62" fmla="*/ 305594 w 864"/>
              <a:gd name="T63" fmla="*/ 342385 h 866"/>
              <a:gd name="T64" fmla="*/ 285309 w 864"/>
              <a:gd name="T65" fmla="*/ 356964 h 866"/>
              <a:gd name="T66" fmla="*/ 263260 w 864"/>
              <a:gd name="T67" fmla="*/ 368009 h 866"/>
              <a:gd name="T68" fmla="*/ 239448 w 864"/>
              <a:gd name="T69" fmla="*/ 375519 h 866"/>
              <a:gd name="T70" fmla="*/ 215194 w 864"/>
              <a:gd name="T71" fmla="*/ 380821 h 866"/>
              <a:gd name="T72" fmla="*/ 190500 w 864"/>
              <a:gd name="T73" fmla="*/ 382588 h 866"/>
              <a:gd name="T74" fmla="*/ 164924 w 864"/>
              <a:gd name="T75" fmla="*/ 380821 h 866"/>
              <a:gd name="T76" fmla="*/ 140670 w 864"/>
              <a:gd name="T77" fmla="*/ 375519 h 866"/>
              <a:gd name="T78" fmla="*/ 116858 w 864"/>
              <a:gd name="T79" fmla="*/ 368009 h 866"/>
              <a:gd name="T80" fmla="*/ 94809 w 864"/>
              <a:gd name="T81" fmla="*/ 356964 h 866"/>
              <a:gd name="T82" fmla="*/ 74524 w 864"/>
              <a:gd name="T83" fmla="*/ 342385 h 866"/>
              <a:gd name="T84" fmla="*/ 55122 w 864"/>
              <a:gd name="T85" fmla="*/ 326481 h 866"/>
              <a:gd name="T86" fmla="*/ 38806 w 864"/>
              <a:gd name="T87" fmla="*/ 307484 h 866"/>
              <a:gd name="T88" fmla="*/ 25135 w 864"/>
              <a:gd name="T89" fmla="*/ 286278 h 866"/>
              <a:gd name="T90" fmla="*/ 14111 w 864"/>
              <a:gd name="T91" fmla="*/ 264189 h 866"/>
              <a:gd name="T92" fmla="*/ 5733 w 864"/>
              <a:gd name="T93" fmla="*/ 240332 h 866"/>
              <a:gd name="T94" fmla="*/ 882 w 864"/>
              <a:gd name="T95" fmla="*/ 216034 h 866"/>
              <a:gd name="T96" fmla="*/ 0 w 864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4" h="866">
                <a:moveTo>
                  <a:pt x="0" y="433"/>
                </a:moveTo>
                <a:lnTo>
                  <a:pt x="2" y="375"/>
                </a:lnTo>
                <a:lnTo>
                  <a:pt x="13" y="319"/>
                </a:lnTo>
                <a:lnTo>
                  <a:pt x="32" y="267"/>
                </a:lnTo>
                <a:lnTo>
                  <a:pt x="57" y="215"/>
                </a:lnTo>
                <a:lnTo>
                  <a:pt x="88" y="169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4" y="4"/>
                </a:lnTo>
                <a:lnTo>
                  <a:pt x="432" y="0"/>
                </a:lnTo>
                <a:lnTo>
                  <a:pt x="488" y="4"/>
                </a:lnTo>
                <a:lnTo>
                  <a:pt x="543" y="14"/>
                </a:lnTo>
                <a:lnTo>
                  <a:pt x="597" y="33"/>
                </a:lnTo>
                <a:lnTo>
                  <a:pt x="647" y="58"/>
                </a:lnTo>
                <a:lnTo>
                  <a:pt x="693" y="89"/>
                </a:lnTo>
                <a:lnTo>
                  <a:pt x="738" y="127"/>
                </a:lnTo>
                <a:lnTo>
                  <a:pt x="774" y="169"/>
                </a:lnTo>
                <a:lnTo>
                  <a:pt x="805" y="215"/>
                </a:lnTo>
                <a:lnTo>
                  <a:pt x="830" y="267"/>
                </a:lnTo>
                <a:lnTo>
                  <a:pt x="849" y="319"/>
                </a:lnTo>
                <a:lnTo>
                  <a:pt x="861" y="375"/>
                </a:lnTo>
                <a:lnTo>
                  <a:pt x="864" y="433"/>
                </a:lnTo>
                <a:lnTo>
                  <a:pt x="861" y="489"/>
                </a:lnTo>
                <a:lnTo>
                  <a:pt x="849" y="544"/>
                </a:lnTo>
                <a:lnTo>
                  <a:pt x="830" y="598"/>
                </a:lnTo>
                <a:lnTo>
                  <a:pt x="805" y="648"/>
                </a:lnTo>
                <a:lnTo>
                  <a:pt x="774" y="696"/>
                </a:lnTo>
                <a:lnTo>
                  <a:pt x="738" y="739"/>
                </a:lnTo>
                <a:lnTo>
                  <a:pt x="693" y="775"/>
                </a:lnTo>
                <a:lnTo>
                  <a:pt x="647" y="808"/>
                </a:lnTo>
                <a:lnTo>
                  <a:pt x="597" y="833"/>
                </a:lnTo>
                <a:lnTo>
                  <a:pt x="543" y="850"/>
                </a:lnTo>
                <a:lnTo>
                  <a:pt x="488" y="862"/>
                </a:lnTo>
                <a:lnTo>
                  <a:pt x="432" y="866"/>
                </a:lnTo>
                <a:lnTo>
                  <a:pt x="374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6"/>
                </a:lnTo>
                <a:lnTo>
                  <a:pt x="57" y="648"/>
                </a:lnTo>
                <a:lnTo>
                  <a:pt x="32" y="598"/>
                </a:lnTo>
                <a:lnTo>
                  <a:pt x="13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0" name="Freeform 29"/>
          <p:cNvSpPr/>
          <p:nvPr/>
        </p:nvSpPr>
        <p:spPr bwMode="auto">
          <a:xfrm>
            <a:off x="3377628" y="2933328"/>
            <a:ext cx="384175" cy="385762"/>
          </a:xfrm>
          <a:custGeom>
            <a:avLst/>
            <a:gdLst>
              <a:gd name="T0" fmla="*/ 0 w 864"/>
              <a:gd name="T1" fmla="*/ 192881 h 866"/>
              <a:gd name="T2" fmla="*/ 889 w 864"/>
              <a:gd name="T3" fmla="*/ 167045 h 866"/>
              <a:gd name="T4" fmla="*/ 5780 w 864"/>
              <a:gd name="T5" fmla="*/ 142545 h 866"/>
              <a:gd name="T6" fmla="*/ 14229 w 864"/>
              <a:gd name="T7" fmla="*/ 119381 h 866"/>
              <a:gd name="T8" fmla="*/ 25345 w 864"/>
              <a:gd name="T9" fmla="*/ 96218 h 866"/>
              <a:gd name="T10" fmla="*/ 39129 w 864"/>
              <a:gd name="T11" fmla="*/ 75727 h 866"/>
              <a:gd name="T12" fmla="*/ 55581 w 864"/>
              <a:gd name="T13" fmla="*/ 56572 h 866"/>
              <a:gd name="T14" fmla="*/ 75145 w 864"/>
              <a:gd name="T15" fmla="*/ 39645 h 866"/>
              <a:gd name="T16" fmla="*/ 95599 w 864"/>
              <a:gd name="T17" fmla="*/ 25836 h 866"/>
              <a:gd name="T18" fmla="*/ 117831 w 864"/>
              <a:gd name="T19" fmla="*/ 14700 h 866"/>
              <a:gd name="T20" fmla="*/ 141842 w 864"/>
              <a:gd name="T21" fmla="*/ 6236 h 866"/>
              <a:gd name="T22" fmla="*/ 166298 w 864"/>
              <a:gd name="T23" fmla="*/ 1782 h 866"/>
              <a:gd name="T24" fmla="*/ 192088 w 864"/>
              <a:gd name="T25" fmla="*/ 0 h 866"/>
              <a:gd name="T26" fmla="*/ 216988 w 864"/>
              <a:gd name="T27" fmla="*/ 1782 h 866"/>
              <a:gd name="T28" fmla="*/ 241443 w 864"/>
              <a:gd name="T29" fmla="*/ 6236 h 866"/>
              <a:gd name="T30" fmla="*/ 265454 w 864"/>
              <a:gd name="T31" fmla="*/ 14700 h 866"/>
              <a:gd name="T32" fmla="*/ 287687 w 864"/>
              <a:gd name="T33" fmla="*/ 25836 h 866"/>
              <a:gd name="T34" fmla="*/ 308140 w 864"/>
              <a:gd name="T35" fmla="*/ 39645 h 866"/>
              <a:gd name="T36" fmla="*/ 328149 w 864"/>
              <a:gd name="T37" fmla="*/ 56572 h 866"/>
              <a:gd name="T38" fmla="*/ 344157 w 864"/>
              <a:gd name="T39" fmla="*/ 75727 h 866"/>
              <a:gd name="T40" fmla="*/ 357941 w 864"/>
              <a:gd name="T41" fmla="*/ 96218 h 866"/>
              <a:gd name="T42" fmla="*/ 369057 w 864"/>
              <a:gd name="T43" fmla="*/ 119381 h 866"/>
              <a:gd name="T44" fmla="*/ 377505 w 864"/>
              <a:gd name="T45" fmla="*/ 142545 h 866"/>
              <a:gd name="T46" fmla="*/ 382841 w 864"/>
              <a:gd name="T47" fmla="*/ 167045 h 866"/>
              <a:gd name="T48" fmla="*/ 384175 w 864"/>
              <a:gd name="T49" fmla="*/ 192881 h 866"/>
              <a:gd name="T50" fmla="*/ 382841 w 864"/>
              <a:gd name="T51" fmla="*/ 217826 h 866"/>
              <a:gd name="T52" fmla="*/ 377505 w 864"/>
              <a:gd name="T53" fmla="*/ 242772 h 866"/>
              <a:gd name="T54" fmla="*/ 369057 w 864"/>
              <a:gd name="T55" fmla="*/ 266381 h 866"/>
              <a:gd name="T56" fmla="*/ 357941 w 864"/>
              <a:gd name="T57" fmla="*/ 288653 h 866"/>
              <a:gd name="T58" fmla="*/ 344157 w 864"/>
              <a:gd name="T59" fmla="*/ 310481 h 866"/>
              <a:gd name="T60" fmla="*/ 328149 w 864"/>
              <a:gd name="T61" fmla="*/ 329190 h 866"/>
              <a:gd name="T62" fmla="*/ 308140 w 864"/>
              <a:gd name="T63" fmla="*/ 345226 h 866"/>
              <a:gd name="T64" fmla="*/ 287687 w 864"/>
              <a:gd name="T65" fmla="*/ 359926 h 866"/>
              <a:gd name="T66" fmla="*/ 265454 w 864"/>
              <a:gd name="T67" fmla="*/ 371062 h 866"/>
              <a:gd name="T68" fmla="*/ 241443 w 864"/>
              <a:gd name="T69" fmla="*/ 378635 h 866"/>
              <a:gd name="T70" fmla="*/ 216988 w 864"/>
              <a:gd name="T71" fmla="*/ 383980 h 866"/>
              <a:gd name="T72" fmla="*/ 192088 w 864"/>
              <a:gd name="T73" fmla="*/ 385762 h 866"/>
              <a:gd name="T74" fmla="*/ 166298 w 864"/>
              <a:gd name="T75" fmla="*/ 383980 h 866"/>
              <a:gd name="T76" fmla="*/ 141842 w 864"/>
              <a:gd name="T77" fmla="*/ 378635 h 866"/>
              <a:gd name="T78" fmla="*/ 117831 w 864"/>
              <a:gd name="T79" fmla="*/ 371062 h 866"/>
              <a:gd name="T80" fmla="*/ 95599 w 864"/>
              <a:gd name="T81" fmla="*/ 359926 h 866"/>
              <a:gd name="T82" fmla="*/ 75145 w 864"/>
              <a:gd name="T83" fmla="*/ 345226 h 866"/>
              <a:gd name="T84" fmla="*/ 55581 w 864"/>
              <a:gd name="T85" fmla="*/ 329190 h 866"/>
              <a:gd name="T86" fmla="*/ 39129 w 864"/>
              <a:gd name="T87" fmla="*/ 310481 h 866"/>
              <a:gd name="T88" fmla="*/ 25345 w 864"/>
              <a:gd name="T89" fmla="*/ 288653 h 866"/>
              <a:gd name="T90" fmla="*/ 14229 w 864"/>
              <a:gd name="T91" fmla="*/ 266381 h 866"/>
              <a:gd name="T92" fmla="*/ 5780 w 864"/>
              <a:gd name="T93" fmla="*/ 242772 h 866"/>
              <a:gd name="T94" fmla="*/ 889 w 864"/>
              <a:gd name="T95" fmla="*/ 217826 h 866"/>
              <a:gd name="T96" fmla="*/ 0 w 864"/>
              <a:gd name="T97" fmla="*/ 192881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4" h="866">
                <a:moveTo>
                  <a:pt x="0" y="433"/>
                </a:moveTo>
                <a:lnTo>
                  <a:pt x="2" y="375"/>
                </a:lnTo>
                <a:lnTo>
                  <a:pt x="13" y="320"/>
                </a:lnTo>
                <a:lnTo>
                  <a:pt x="32" y="268"/>
                </a:lnTo>
                <a:lnTo>
                  <a:pt x="57" y="216"/>
                </a:lnTo>
                <a:lnTo>
                  <a:pt x="88" y="170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4" y="4"/>
                </a:lnTo>
                <a:lnTo>
                  <a:pt x="432" y="0"/>
                </a:lnTo>
                <a:lnTo>
                  <a:pt x="488" y="4"/>
                </a:lnTo>
                <a:lnTo>
                  <a:pt x="543" y="14"/>
                </a:lnTo>
                <a:lnTo>
                  <a:pt x="597" y="33"/>
                </a:lnTo>
                <a:lnTo>
                  <a:pt x="647" y="58"/>
                </a:lnTo>
                <a:lnTo>
                  <a:pt x="693" y="89"/>
                </a:lnTo>
                <a:lnTo>
                  <a:pt x="738" y="127"/>
                </a:lnTo>
                <a:lnTo>
                  <a:pt x="774" y="170"/>
                </a:lnTo>
                <a:lnTo>
                  <a:pt x="805" y="216"/>
                </a:lnTo>
                <a:lnTo>
                  <a:pt x="830" y="268"/>
                </a:lnTo>
                <a:lnTo>
                  <a:pt x="849" y="320"/>
                </a:lnTo>
                <a:lnTo>
                  <a:pt x="861" y="375"/>
                </a:lnTo>
                <a:lnTo>
                  <a:pt x="864" y="433"/>
                </a:lnTo>
                <a:lnTo>
                  <a:pt x="861" y="489"/>
                </a:lnTo>
                <a:lnTo>
                  <a:pt x="849" y="545"/>
                </a:lnTo>
                <a:lnTo>
                  <a:pt x="830" y="598"/>
                </a:lnTo>
                <a:lnTo>
                  <a:pt x="805" y="648"/>
                </a:lnTo>
                <a:lnTo>
                  <a:pt x="774" y="697"/>
                </a:lnTo>
                <a:lnTo>
                  <a:pt x="738" y="739"/>
                </a:lnTo>
                <a:lnTo>
                  <a:pt x="693" y="775"/>
                </a:lnTo>
                <a:lnTo>
                  <a:pt x="647" y="808"/>
                </a:lnTo>
                <a:lnTo>
                  <a:pt x="597" y="833"/>
                </a:lnTo>
                <a:lnTo>
                  <a:pt x="543" y="850"/>
                </a:lnTo>
                <a:lnTo>
                  <a:pt x="488" y="862"/>
                </a:lnTo>
                <a:lnTo>
                  <a:pt x="432" y="866"/>
                </a:lnTo>
                <a:lnTo>
                  <a:pt x="374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7"/>
                </a:lnTo>
                <a:lnTo>
                  <a:pt x="57" y="648"/>
                </a:lnTo>
                <a:lnTo>
                  <a:pt x="32" y="598"/>
                </a:lnTo>
                <a:lnTo>
                  <a:pt x="13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3457003" y="3014290"/>
            <a:ext cx="1298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82" name="Freeform 31"/>
          <p:cNvSpPr/>
          <p:nvPr/>
        </p:nvSpPr>
        <p:spPr bwMode="auto">
          <a:xfrm>
            <a:off x="3417316" y="4536703"/>
            <a:ext cx="381000" cy="382587"/>
          </a:xfrm>
          <a:custGeom>
            <a:avLst/>
            <a:gdLst>
              <a:gd name="T0" fmla="*/ 0 w 864"/>
              <a:gd name="T1" fmla="*/ 191515 h 865"/>
              <a:gd name="T2" fmla="*/ 882 w 864"/>
              <a:gd name="T3" fmla="*/ 165861 h 865"/>
              <a:gd name="T4" fmla="*/ 5733 w 864"/>
              <a:gd name="T5" fmla="*/ 141093 h 865"/>
              <a:gd name="T6" fmla="*/ 14111 w 864"/>
              <a:gd name="T7" fmla="*/ 118093 h 865"/>
              <a:gd name="T8" fmla="*/ 25135 w 864"/>
              <a:gd name="T9" fmla="*/ 95094 h 865"/>
              <a:gd name="T10" fmla="*/ 38806 w 864"/>
              <a:gd name="T11" fmla="*/ 74748 h 865"/>
              <a:gd name="T12" fmla="*/ 55122 w 864"/>
              <a:gd name="T13" fmla="*/ 56172 h 865"/>
              <a:gd name="T14" fmla="*/ 74524 w 864"/>
              <a:gd name="T15" fmla="*/ 38922 h 865"/>
              <a:gd name="T16" fmla="*/ 94809 w 864"/>
              <a:gd name="T17" fmla="*/ 25653 h 865"/>
              <a:gd name="T18" fmla="*/ 116858 w 864"/>
              <a:gd name="T19" fmla="*/ 14596 h 865"/>
              <a:gd name="T20" fmla="*/ 140670 w 864"/>
              <a:gd name="T21" fmla="*/ 5750 h 865"/>
              <a:gd name="T22" fmla="*/ 164924 w 864"/>
              <a:gd name="T23" fmla="*/ 1769 h 865"/>
              <a:gd name="T24" fmla="*/ 190500 w 864"/>
              <a:gd name="T25" fmla="*/ 0 h 865"/>
              <a:gd name="T26" fmla="*/ 215194 w 864"/>
              <a:gd name="T27" fmla="*/ 1769 h 865"/>
              <a:gd name="T28" fmla="*/ 239448 w 864"/>
              <a:gd name="T29" fmla="*/ 5750 h 865"/>
              <a:gd name="T30" fmla="*/ 263260 w 864"/>
              <a:gd name="T31" fmla="*/ 14596 h 865"/>
              <a:gd name="T32" fmla="*/ 285309 w 864"/>
              <a:gd name="T33" fmla="*/ 25653 h 865"/>
              <a:gd name="T34" fmla="*/ 305594 w 864"/>
              <a:gd name="T35" fmla="*/ 38922 h 865"/>
              <a:gd name="T36" fmla="*/ 325438 w 864"/>
              <a:gd name="T37" fmla="*/ 56172 h 865"/>
              <a:gd name="T38" fmla="*/ 341313 w 864"/>
              <a:gd name="T39" fmla="*/ 74748 h 865"/>
              <a:gd name="T40" fmla="*/ 354983 w 864"/>
              <a:gd name="T41" fmla="*/ 95094 h 865"/>
              <a:gd name="T42" fmla="*/ 366007 w 864"/>
              <a:gd name="T43" fmla="*/ 118093 h 865"/>
              <a:gd name="T44" fmla="*/ 374385 w 864"/>
              <a:gd name="T45" fmla="*/ 141093 h 865"/>
              <a:gd name="T46" fmla="*/ 379677 w 864"/>
              <a:gd name="T47" fmla="*/ 165861 h 865"/>
              <a:gd name="T48" fmla="*/ 381000 w 864"/>
              <a:gd name="T49" fmla="*/ 191515 h 865"/>
              <a:gd name="T50" fmla="*/ 379677 w 864"/>
              <a:gd name="T51" fmla="*/ 215841 h 865"/>
              <a:gd name="T52" fmla="*/ 374385 w 864"/>
              <a:gd name="T53" fmla="*/ 240610 h 865"/>
              <a:gd name="T54" fmla="*/ 366007 w 864"/>
              <a:gd name="T55" fmla="*/ 264494 h 865"/>
              <a:gd name="T56" fmla="*/ 354983 w 864"/>
              <a:gd name="T57" fmla="*/ 286609 h 865"/>
              <a:gd name="T58" fmla="*/ 341313 w 864"/>
              <a:gd name="T59" fmla="*/ 307839 h 865"/>
              <a:gd name="T60" fmla="*/ 325438 w 864"/>
              <a:gd name="T61" fmla="*/ 326415 h 865"/>
              <a:gd name="T62" fmla="*/ 305594 w 864"/>
              <a:gd name="T63" fmla="*/ 342780 h 865"/>
              <a:gd name="T64" fmla="*/ 285309 w 864"/>
              <a:gd name="T65" fmla="*/ 357376 h 865"/>
              <a:gd name="T66" fmla="*/ 263260 w 864"/>
              <a:gd name="T67" fmla="*/ 368433 h 865"/>
              <a:gd name="T68" fmla="*/ 239448 w 864"/>
              <a:gd name="T69" fmla="*/ 375953 h 865"/>
              <a:gd name="T70" fmla="*/ 215194 w 864"/>
              <a:gd name="T71" fmla="*/ 381260 h 865"/>
              <a:gd name="T72" fmla="*/ 190500 w 864"/>
              <a:gd name="T73" fmla="*/ 382587 h 865"/>
              <a:gd name="T74" fmla="*/ 164924 w 864"/>
              <a:gd name="T75" fmla="*/ 381260 h 865"/>
              <a:gd name="T76" fmla="*/ 140670 w 864"/>
              <a:gd name="T77" fmla="*/ 375953 h 865"/>
              <a:gd name="T78" fmla="*/ 116858 w 864"/>
              <a:gd name="T79" fmla="*/ 368433 h 865"/>
              <a:gd name="T80" fmla="*/ 94809 w 864"/>
              <a:gd name="T81" fmla="*/ 357376 h 865"/>
              <a:gd name="T82" fmla="*/ 74524 w 864"/>
              <a:gd name="T83" fmla="*/ 342780 h 865"/>
              <a:gd name="T84" fmla="*/ 55122 w 864"/>
              <a:gd name="T85" fmla="*/ 326415 h 865"/>
              <a:gd name="T86" fmla="*/ 38806 w 864"/>
              <a:gd name="T87" fmla="*/ 307839 h 865"/>
              <a:gd name="T88" fmla="*/ 25135 w 864"/>
              <a:gd name="T89" fmla="*/ 286609 h 865"/>
              <a:gd name="T90" fmla="*/ 14111 w 864"/>
              <a:gd name="T91" fmla="*/ 264494 h 865"/>
              <a:gd name="T92" fmla="*/ 5733 w 864"/>
              <a:gd name="T93" fmla="*/ 240610 h 865"/>
              <a:gd name="T94" fmla="*/ 882 w 864"/>
              <a:gd name="T95" fmla="*/ 215841 h 865"/>
              <a:gd name="T96" fmla="*/ 0 w 864"/>
              <a:gd name="T97" fmla="*/ 191515 h 8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4" h="865">
                <a:moveTo>
                  <a:pt x="0" y="433"/>
                </a:moveTo>
                <a:lnTo>
                  <a:pt x="2" y="375"/>
                </a:lnTo>
                <a:lnTo>
                  <a:pt x="13" y="319"/>
                </a:lnTo>
                <a:lnTo>
                  <a:pt x="32" y="267"/>
                </a:lnTo>
                <a:lnTo>
                  <a:pt x="57" y="215"/>
                </a:lnTo>
                <a:lnTo>
                  <a:pt x="88" y="169"/>
                </a:lnTo>
                <a:lnTo>
                  <a:pt x="125" y="127"/>
                </a:lnTo>
                <a:lnTo>
                  <a:pt x="169" y="88"/>
                </a:lnTo>
                <a:lnTo>
                  <a:pt x="215" y="58"/>
                </a:lnTo>
                <a:lnTo>
                  <a:pt x="265" y="33"/>
                </a:lnTo>
                <a:lnTo>
                  <a:pt x="319" y="13"/>
                </a:lnTo>
                <a:lnTo>
                  <a:pt x="374" y="4"/>
                </a:lnTo>
                <a:lnTo>
                  <a:pt x="432" y="0"/>
                </a:lnTo>
                <a:lnTo>
                  <a:pt x="488" y="4"/>
                </a:lnTo>
                <a:lnTo>
                  <a:pt x="543" y="13"/>
                </a:lnTo>
                <a:lnTo>
                  <a:pt x="597" y="33"/>
                </a:lnTo>
                <a:lnTo>
                  <a:pt x="647" y="58"/>
                </a:lnTo>
                <a:lnTo>
                  <a:pt x="693" y="88"/>
                </a:lnTo>
                <a:lnTo>
                  <a:pt x="738" y="127"/>
                </a:lnTo>
                <a:lnTo>
                  <a:pt x="774" y="169"/>
                </a:lnTo>
                <a:lnTo>
                  <a:pt x="805" y="215"/>
                </a:lnTo>
                <a:lnTo>
                  <a:pt x="830" y="267"/>
                </a:lnTo>
                <a:lnTo>
                  <a:pt x="849" y="319"/>
                </a:lnTo>
                <a:lnTo>
                  <a:pt x="861" y="375"/>
                </a:lnTo>
                <a:lnTo>
                  <a:pt x="864" y="433"/>
                </a:lnTo>
                <a:lnTo>
                  <a:pt x="861" y="488"/>
                </a:lnTo>
                <a:lnTo>
                  <a:pt x="849" y="544"/>
                </a:lnTo>
                <a:lnTo>
                  <a:pt x="830" y="598"/>
                </a:lnTo>
                <a:lnTo>
                  <a:pt x="805" y="648"/>
                </a:lnTo>
                <a:lnTo>
                  <a:pt x="774" y="696"/>
                </a:lnTo>
                <a:lnTo>
                  <a:pt x="738" y="738"/>
                </a:lnTo>
                <a:lnTo>
                  <a:pt x="693" y="775"/>
                </a:lnTo>
                <a:lnTo>
                  <a:pt x="647" y="808"/>
                </a:lnTo>
                <a:lnTo>
                  <a:pt x="597" y="833"/>
                </a:lnTo>
                <a:lnTo>
                  <a:pt x="543" y="850"/>
                </a:lnTo>
                <a:lnTo>
                  <a:pt x="488" y="862"/>
                </a:lnTo>
                <a:lnTo>
                  <a:pt x="432" y="865"/>
                </a:lnTo>
                <a:lnTo>
                  <a:pt x="374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8"/>
                </a:lnTo>
                <a:lnTo>
                  <a:pt x="88" y="696"/>
                </a:lnTo>
                <a:lnTo>
                  <a:pt x="57" y="648"/>
                </a:lnTo>
                <a:lnTo>
                  <a:pt x="32" y="598"/>
                </a:lnTo>
                <a:lnTo>
                  <a:pt x="13" y="544"/>
                </a:lnTo>
                <a:lnTo>
                  <a:pt x="2" y="488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3" name="Freeform 32"/>
          <p:cNvSpPr/>
          <p:nvPr/>
        </p:nvSpPr>
        <p:spPr bwMode="auto">
          <a:xfrm>
            <a:off x="4217416" y="4536703"/>
            <a:ext cx="382587" cy="382587"/>
          </a:xfrm>
          <a:custGeom>
            <a:avLst/>
            <a:gdLst>
              <a:gd name="T0" fmla="*/ 0 w 865"/>
              <a:gd name="T1" fmla="*/ 191515 h 865"/>
              <a:gd name="T2" fmla="*/ 885 w 865"/>
              <a:gd name="T3" fmla="*/ 165861 h 865"/>
              <a:gd name="T4" fmla="*/ 6192 w 865"/>
              <a:gd name="T5" fmla="*/ 141093 h 865"/>
              <a:gd name="T6" fmla="*/ 14596 w 865"/>
              <a:gd name="T7" fmla="*/ 118093 h 865"/>
              <a:gd name="T8" fmla="*/ 25653 w 865"/>
              <a:gd name="T9" fmla="*/ 95094 h 865"/>
              <a:gd name="T10" fmla="*/ 39364 w 865"/>
              <a:gd name="T11" fmla="*/ 74748 h 865"/>
              <a:gd name="T12" fmla="*/ 55287 w 865"/>
              <a:gd name="T13" fmla="*/ 56172 h 865"/>
              <a:gd name="T14" fmla="*/ 75191 w 865"/>
              <a:gd name="T15" fmla="*/ 38922 h 865"/>
              <a:gd name="T16" fmla="*/ 95536 w 865"/>
              <a:gd name="T17" fmla="*/ 25653 h 865"/>
              <a:gd name="T18" fmla="*/ 117651 w 865"/>
              <a:gd name="T19" fmla="*/ 14596 h 865"/>
              <a:gd name="T20" fmla="*/ 141093 w 865"/>
              <a:gd name="T21" fmla="*/ 5750 h 865"/>
              <a:gd name="T22" fmla="*/ 165861 w 865"/>
              <a:gd name="T23" fmla="*/ 1769 h 865"/>
              <a:gd name="T24" fmla="*/ 191515 w 865"/>
              <a:gd name="T25" fmla="*/ 0 h 865"/>
              <a:gd name="T26" fmla="*/ 216283 w 865"/>
              <a:gd name="T27" fmla="*/ 1769 h 865"/>
              <a:gd name="T28" fmla="*/ 240610 w 865"/>
              <a:gd name="T29" fmla="*/ 5750 h 865"/>
              <a:gd name="T30" fmla="*/ 264494 w 865"/>
              <a:gd name="T31" fmla="*/ 14596 h 865"/>
              <a:gd name="T32" fmla="*/ 286609 w 865"/>
              <a:gd name="T33" fmla="*/ 25653 h 865"/>
              <a:gd name="T34" fmla="*/ 306954 w 865"/>
              <a:gd name="T35" fmla="*/ 38922 h 865"/>
              <a:gd name="T36" fmla="*/ 326415 w 865"/>
              <a:gd name="T37" fmla="*/ 56172 h 865"/>
              <a:gd name="T38" fmla="*/ 342780 w 865"/>
              <a:gd name="T39" fmla="*/ 74748 h 865"/>
              <a:gd name="T40" fmla="*/ 356491 w 865"/>
              <a:gd name="T41" fmla="*/ 95094 h 865"/>
              <a:gd name="T42" fmla="*/ 367549 w 865"/>
              <a:gd name="T43" fmla="*/ 118093 h 865"/>
              <a:gd name="T44" fmla="*/ 375953 w 865"/>
              <a:gd name="T45" fmla="*/ 141093 h 865"/>
              <a:gd name="T46" fmla="*/ 380818 w 865"/>
              <a:gd name="T47" fmla="*/ 165861 h 865"/>
              <a:gd name="T48" fmla="*/ 382587 w 865"/>
              <a:gd name="T49" fmla="*/ 191515 h 865"/>
              <a:gd name="T50" fmla="*/ 380818 w 865"/>
              <a:gd name="T51" fmla="*/ 215841 h 865"/>
              <a:gd name="T52" fmla="*/ 375953 w 865"/>
              <a:gd name="T53" fmla="*/ 240610 h 865"/>
              <a:gd name="T54" fmla="*/ 367549 w 865"/>
              <a:gd name="T55" fmla="*/ 264494 h 865"/>
              <a:gd name="T56" fmla="*/ 356491 w 865"/>
              <a:gd name="T57" fmla="*/ 286609 h 865"/>
              <a:gd name="T58" fmla="*/ 342780 w 865"/>
              <a:gd name="T59" fmla="*/ 307839 h 865"/>
              <a:gd name="T60" fmla="*/ 326415 w 865"/>
              <a:gd name="T61" fmla="*/ 326415 h 865"/>
              <a:gd name="T62" fmla="*/ 306954 w 865"/>
              <a:gd name="T63" fmla="*/ 342780 h 865"/>
              <a:gd name="T64" fmla="*/ 286609 w 865"/>
              <a:gd name="T65" fmla="*/ 357376 h 865"/>
              <a:gd name="T66" fmla="*/ 264494 w 865"/>
              <a:gd name="T67" fmla="*/ 368433 h 865"/>
              <a:gd name="T68" fmla="*/ 240610 w 865"/>
              <a:gd name="T69" fmla="*/ 375953 h 865"/>
              <a:gd name="T70" fmla="*/ 216283 w 865"/>
              <a:gd name="T71" fmla="*/ 381260 h 865"/>
              <a:gd name="T72" fmla="*/ 191515 w 865"/>
              <a:gd name="T73" fmla="*/ 382587 h 865"/>
              <a:gd name="T74" fmla="*/ 165861 w 865"/>
              <a:gd name="T75" fmla="*/ 381260 h 865"/>
              <a:gd name="T76" fmla="*/ 141093 w 865"/>
              <a:gd name="T77" fmla="*/ 375953 h 865"/>
              <a:gd name="T78" fmla="*/ 117651 w 865"/>
              <a:gd name="T79" fmla="*/ 368433 h 865"/>
              <a:gd name="T80" fmla="*/ 95536 w 865"/>
              <a:gd name="T81" fmla="*/ 357376 h 865"/>
              <a:gd name="T82" fmla="*/ 75191 w 865"/>
              <a:gd name="T83" fmla="*/ 342780 h 865"/>
              <a:gd name="T84" fmla="*/ 55287 w 865"/>
              <a:gd name="T85" fmla="*/ 326415 h 865"/>
              <a:gd name="T86" fmla="*/ 39364 w 865"/>
              <a:gd name="T87" fmla="*/ 307839 h 865"/>
              <a:gd name="T88" fmla="*/ 25653 w 865"/>
              <a:gd name="T89" fmla="*/ 286609 h 865"/>
              <a:gd name="T90" fmla="*/ 14596 w 865"/>
              <a:gd name="T91" fmla="*/ 264494 h 865"/>
              <a:gd name="T92" fmla="*/ 6192 w 865"/>
              <a:gd name="T93" fmla="*/ 240610 h 865"/>
              <a:gd name="T94" fmla="*/ 885 w 865"/>
              <a:gd name="T95" fmla="*/ 215841 h 865"/>
              <a:gd name="T96" fmla="*/ 0 w 865"/>
              <a:gd name="T97" fmla="*/ 191515 h 8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5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70" y="88"/>
                </a:lnTo>
                <a:lnTo>
                  <a:pt x="216" y="58"/>
                </a:lnTo>
                <a:lnTo>
                  <a:pt x="266" y="33"/>
                </a:lnTo>
                <a:lnTo>
                  <a:pt x="319" y="13"/>
                </a:lnTo>
                <a:lnTo>
                  <a:pt x="375" y="4"/>
                </a:lnTo>
                <a:lnTo>
                  <a:pt x="433" y="0"/>
                </a:lnTo>
                <a:lnTo>
                  <a:pt x="489" y="4"/>
                </a:lnTo>
                <a:lnTo>
                  <a:pt x="544" y="13"/>
                </a:lnTo>
                <a:lnTo>
                  <a:pt x="598" y="33"/>
                </a:lnTo>
                <a:lnTo>
                  <a:pt x="648" y="58"/>
                </a:lnTo>
                <a:lnTo>
                  <a:pt x="694" y="88"/>
                </a:lnTo>
                <a:lnTo>
                  <a:pt x="738" y="127"/>
                </a:lnTo>
                <a:lnTo>
                  <a:pt x="775" y="169"/>
                </a:lnTo>
                <a:lnTo>
                  <a:pt x="806" y="215"/>
                </a:lnTo>
                <a:lnTo>
                  <a:pt x="831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8"/>
                </a:lnTo>
                <a:lnTo>
                  <a:pt x="850" y="544"/>
                </a:lnTo>
                <a:lnTo>
                  <a:pt x="831" y="598"/>
                </a:lnTo>
                <a:lnTo>
                  <a:pt x="806" y="648"/>
                </a:lnTo>
                <a:lnTo>
                  <a:pt x="775" y="696"/>
                </a:lnTo>
                <a:lnTo>
                  <a:pt x="738" y="738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9" y="862"/>
                </a:lnTo>
                <a:lnTo>
                  <a:pt x="433" y="865"/>
                </a:lnTo>
                <a:lnTo>
                  <a:pt x="375" y="862"/>
                </a:lnTo>
                <a:lnTo>
                  <a:pt x="319" y="850"/>
                </a:lnTo>
                <a:lnTo>
                  <a:pt x="266" y="833"/>
                </a:lnTo>
                <a:lnTo>
                  <a:pt x="216" y="808"/>
                </a:lnTo>
                <a:lnTo>
                  <a:pt x="170" y="775"/>
                </a:lnTo>
                <a:lnTo>
                  <a:pt x="125" y="738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8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4" name="Freeform 33"/>
          <p:cNvSpPr/>
          <p:nvPr/>
        </p:nvSpPr>
        <p:spPr bwMode="auto">
          <a:xfrm>
            <a:off x="4217416" y="3735015"/>
            <a:ext cx="382587" cy="382588"/>
          </a:xfrm>
          <a:custGeom>
            <a:avLst/>
            <a:gdLst>
              <a:gd name="T0" fmla="*/ 0 w 865"/>
              <a:gd name="T1" fmla="*/ 191294 h 866"/>
              <a:gd name="T2" fmla="*/ 885 w 865"/>
              <a:gd name="T3" fmla="*/ 165670 h 866"/>
              <a:gd name="T4" fmla="*/ 6192 w 865"/>
              <a:gd name="T5" fmla="*/ 140930 h 866"/>
              <a:gd name="T6" fmla="*/ 14596 w 865"/>
              <a:gd name="T7" fmla="*/ 117957 h 866"/>
              <a:gd name="T8" fmla="*/ 25653 w 865"/>
              <a:gd name="T9" fmla="*/ 94984 h 866"/>
              <a:gd name="T10" fmla="*/ 39364 w 865"/>
              <a:gd name="T11" fmla="*/ 74662 h 866"/>
              <a:gd name="T12" fmla="*/ 55287 w 865"/>
              <a:gd name="T13" fmla="*/ 56107 h 866"/>
              <a:gd name="T14" fmla="*/ 75191 w 865"/>
              <a:gd name="T15" fmla="*/ 39319 h 866"/>
              <a:gd name="T16" fmla="*/ 95536 w 865"/>
              <a:gd name="T17" fmla="*/ 25624 h 866"/>
              <a:gd name="T18" fmla="*/ 117651 w 865"/>
              <a:gd name="T19" fmla="*/ 14579 h 866"/>
              <a:gd name="T20" fmla="*/ 141093 w 865"/>
              <a:gd name="T21" fmla="*/ 6185 h 866"/>
              <a:gd name="T22" fmla="*/ 165861 w 865"/>
              <a:gd name="T23" fmla="*/ 1767 h 866"/>
              <a:gd name="T24" fmla="*/ 191515 w 865"/>
              <a:gd name="T25" fmla="*/ 0 h 866"/>
              <a:gd name="T26" fmla="*/ 216283 w 865"/>
              <a:gd name="T27" fmla="*/ 1767 h 866"/>
              <a:gd name="T28" fmla="*/ 240610 w 865"/>
              <a:gd name="T29" fmla="*/ 6185 h 866"/>
              <a:gd name="T30" fmla="*/ 264494 w 865"/>
              <a:gd name="T31" fmla="*/ 14579 h 866"/>
              <a:gd name="T32" fmla="*/ 286609 w 865"/>
              <a:gd name="T33" fmla="*/ 25624 h 866"/>
              <a:gd name="T34" fmla="*/ 306954 w 865"/>
              <a:gd name="T35" fmla="*/ 39319 h 866"/>
              <a:gd name="T36" fmla="*/ 326415 w 865"/>
              <a:gd name="T37" fmla="*/ 56107 h 866"/>
              <a:gd name="T38" fmla="*/ 342780 w 865"/>
              <a:gd name="T39" fmla="*/ 74662 h 866"/>
              <a:gd name="T40" fmla="*/ 356491 w 865"/>
              <a:gd name="T41" fmla="*/ 94984 h 866"/>
              <a:gd name="T42" fmla="*/ 367549 w 865"/>
              <a:gd name="T43" fmla="*/ 117957 h 866"/>
              <a:gd name="T44" fmla="*/ 375953 w 865"/>
              <a:gd name="T45" fmla="*/ 140930 h 866"/>
              <a:gd name="T46" fmla="*/ 380818 w 865"/>
              <a:gd name="T47" fmla="*/ 165670 h 866"/>
              <a:gd name="T48" fmla="*/ 382587 w 865"/>
              <a:gd name="T49" fmla="*/ 191294 h 866"/>
              <a:gd name="T50" fmla="*/ 380818 w 865"/>
              <a:gd name="T51" fmla="*/ 216034 h 866"/>
              <a:gd name="T52" fmla="*/ 375953 w 865"/>
              <a:gd name="T53" fmla="*/ 240332 h 866"/>
              <a:gd name="T54" fmla="*/ 367549 w 865"/>
              <a:gd name="T55" fmla="*/ 264189 h 866"/>
              <a:gd name="T56" fmla="*/ 356491 w 865"/>
              <a:gd name="T57" fmla="*/ 286278 h 866"/>
              <a:gd name="T58" fmla="*/ 342780 w 865"/>
              <a:gd name="T59" fmla="*/ 307484 h 866"/>
              <a:gd name="T60" fmla="*/ 326415 w 865"/>
              <a:gd name="T61" fmla="*/ 326481 h 866"/>
              <a:gd name="T62" fmla="*/ 306954 w 865"/>
              <a:gd name="T63" fmla="*/ 342385 h 866"/>
              <a:gd name="T64" fmla="*/ 286609 w 865"/>
              <a:gd name="T65" fmla="*/ 356964 h 866"/>
              <a:gd name="T66" fmla="*/ 264494 w 865"/>
              <a:gd name="T67" fmla="*/ 368009 h 866"/>
              <a:gd name="T68" fmla="*/ 240610 w 865"/>
              <a:gd name="T69" fmla="*/ 375519 h 866"/>
              <a:gd name="T70" fmla="*/ 216283 w 865"/>
              <a:gd name="T71" fmla="*/ 380821 h 866"/>
              <a:gd name="T72" fmla="*/ 191515 w 865"/>
              <a:gd name="T73" fmla="*/ 382588 h 866"/>
              <a:gd name="T74" fmla="*/ 165861 w 865"/>
              <a:gd name="T75" fmla="*/ 380821 h 866"/>
              <a:gd name="T76" fmla="*/ 141093 w 865"/>
              <a:gd name="T77" fmla="*/ 375519 h 866"/>
              <a:gd name="T78" fmla="*/ 117651 w 865"/>
              <a:gd name="T79" fmla="*/ 368009 h 866"/>
              <a:gd name="T80" fmla="*/ 95536 w 865"/>
              <a:gd name="T81" fmla="*/ 356964 h 866"/>
              <a:gd name="T82" fmla="*/ 75191 w 865"/>
              <a:gd name="T83" fmla="*/ 342385 h 866"/>
              <a:gd name="T84" fmla="*/ 55287 w 865"/>
              <a:gd name="T85" fmla="*/ 326481 h 866"/>
              <a:gd name="T86" fmla="*/ 39364 w 865"/>
              <a:gd name="T87" fmla="*/ 307484 h 866"/>
              <a:gd name="T88" fmla="*/ 25653 w 865"/>
              <a:gd name="T89" fmla="*/ 286278 h 866"/>
              <a:gd name="T90" fmla="*/ 14596 w 865"/>
              <a:gd name="T91" fmla="*/ 264189 h 866"/>
              <a:gd name="T92" fmla="*/ 6192 w 865"/>
              <a:gd name="T93" fmla="*/ 240332 h 866"/>
              <a:gd name="T94" fmla="*/ 885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70" y="89"/>
                </a:lnTo>
                <a:lnTo>
                  <a:pt x="216" y="58"/>
                </a:lnTo>
                <a:lnTo>
                  <a:pt x="266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9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69"/>
                </a:lnTo>
                <a:lnTo>
                  <a:pt x="806" y="215"/>
                </a:lnTo>
                <a:lnTo>
                  <a:pt x="831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4"/>
                </a:lnTo>
                <a:lnTo>
                  <a:pt x="831" y="598"/>
                </a:lnTo>
                <a:lnTo>
                  <a:pt x="806" y="648"/>
                </a:lnTo>
                <a:lnTo>
                  <a:pt x="775" y="696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9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6" y="833"/>
                </a:lnTo>
                <a:lnTo>
                  <a:pt x="216" y="808"/>
                </a:lnTo>
                <a:lnTo>
                  <a:pt x="170" y="775"/>
                </a:lnTo>
                <a:lnTo>
                  <a:pt x="125" y="739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5" name="Freeform 34"/>
          <p:cNvSpPr/>
          <p:nvPr/>
        </p:nvSpPr>
        <p:spPr bwMode="auto">
          <a:xfrm>
            <a:off x="4217416" y="2933328"/>
            <a:ext cx="382587" cy="382587"/>
          </a:xfrm>
          <a:custGeom>
            <a:avLst/>
            <a:gdLst>
              <a:gd name="T0" fmla="*/ 0 w 865"/>
              <a:gd name="T1" fmla="*/ 191294 h 866"/>
              <a:gd name="T2" fmla="*/ 885 w 865"/>
              <a:gd name="T3" fmla="*/ 165670 h 866"/>
              <a:gd name="T4" fmla="*/ 6192 w 865"/>
              <a:gd name="T5" fmla="*/ 141372 h 866"/>
              <a:gd name="T6" fmla="*/ 14596 w 865"/>
              <a:gd name="T7" fmla="*/ 118399 h 866"/>
              <a:gd name="T8" fmla="*/ 25653 w 865"/>
              <a:gd name="T9" fmla="*/ 95426 h 866"/>
              <a:gd name="T10" fmla="*/ 39364 w 865"/>
              <a:gd name="T11" fmla="*/ 75104 h 866"/>
              <a:gd name="T12" fmla="*/ 55287 w 865"/>
              <a:gd name="T13" fmla="*/ 56107 h 866"/>
              <a:gd name="T14" fmla="*/ 75191 w 865"/>
              <a:gd name="T15" fmla="*/ 39319 h 866"/>
              <a:gd name="T16" fmla="*/ 95536 w 865"/>
              <a:gd name="T17" fmla="*/ 25624 h 866"/>
              <a:gd name="T18" fmla="*/ 117651 w 865"/>
              <a:gd name="T19" fmla="*/ 14579 h 866"/>
              <a:gd name="T20" fmla="*/ 141093 w 865"/>
              <a:gd name="T21" fmla="*/ 6185 h 866"/>
              <a:gd name="T22" fmla="*/ 165861 w 865"/>
              <a:gd name="T23" fmla="*/ 1767 h 866"/>
              <a:gd name="T24" fmla="*/ 191515 w 865"/>
              <a:gd name="T25" fmla="*/ 0 h 866"/>
              <a:gd name="T26" fmla="*/ 216283 w 865"/>
              <a:gd name="T27" fmla="*/ 1767 h 866"/>
              <a:gd name="T28" fmla="*/ 240610 w 865"/>
              <a:gd name="T29" fmla="*/ 6185 h 866"/>
              <a:gd name="T30" fmla="*/ 264494 w 865"/>
              <a:gd name="T31" fmla="*/ 14579 h 866"/>
              <a:gd name="T32" fmla="*/ 286609 w 865"/>
              <a:gd name="T33" fmla="*/ 25624 h 866"/>
              <a:gd name="T34" fmla="*/ 306954 w 865"/>
              <a:gd name="T35" fmla="*/ 39319 h 866"/>
              <a:gd name="T36" fmla="*/ 326415 w 865"/>
              <a:gd name="T37" fmla="*/ 56107 h 866"/>
              <a:gd name="T38" fmla="*/ 342780 w 865"/>
              <a:gd name="T39" fmla="*/ 75104 h 866"/>
              <a:gd name="T40" fmla="*/ 356491 w 865"/>
              <a:gd name="T41" fmla="*/ 95426 h 866"/>
              <a:gd name="T42" fmla="*/ 367549 w 865"/>
              <a:gd name="T43" fmla="*/ 118399 h 866"/>
              <a:gd name="T44" fmla="*/ 375953 w 865"/>
              <a:gd name="T45" fmla="*/ 141372 h 866"/>
              <a:gd name="T46" fmla="*/ 380818 w 865"/>
              <a:gd name="T47" fmla="*/ 165670 h 866"/>
              <a:gd name="T48" fmla="*/ 382587 w 865"/>
              <a:gd name="T49" fmla="*/ 191294 h 866"/>
              <a:gd name="T50" fmla="*/ 380818 w 865"/>
              <a:gd name="T51" fmla="*/ 216034 h 866"/>
              <a:gd name="T52" fmla="*/ 375953 w 865"/>
              <a:gd name="T53" fmla="*/ 240774 h 866"/>
              <a:gd name="T54" fmla="*/ 367549 w 865"/>
              <a:gd name="T55" fmla="*/ 264188 h 866"/>
              <a:gd name="T56" fmla="*/ 356491 w 865"/>
              <a:gd name="T57" fmla="*/ 286278 h 866"/>
              <a:gd name="T58" fmla="*/ 342780 w 865"/>
              <a:gd name="T59" fmla="*/ 307925 h 866"/>
              <a:gd name="T60" fmla="*/ 326415 w 865"/>
              <a:gd name="T61" fmla="*/ 326480 h 866"/>
              <a:gd name="T62" fmla="*/ 306954 w 865"/>
              <a:gd name="T63" fmla="*/ 342384 h 866"/>
              <a:gd name="T64" fmla="*/ 286609 w 865"/>
              <a:gd name="T65" fmla="*/ 356963 h 866"/>
              <a:gd name="T66" fmla="*/ 264494 w 865"/>
              <a:gd name="T67" fmla="*/ 368008 h 866"/>
              <a:gd name="T68" fmla="*/ 240610 w 865"/>
              <a:gd name="T69" fmla="*/ 375518 h 866"/>
              <a:gd name="T70" fmla="*/ 216283 w 865"/>
              <a:gd name="T71" fmla="*/ 380820 h 866"/>
              <a:gd name="T72" fmla="*/ 191515 w 865"/>
              <a:gd name="T73" fmla="*/ 382587 h 866"/>
              <a:gd name="T74" fmla="*/ 165861 w 865"/>
              <a:gd name="T75" fmla="*/ 380820 h 866"/>
              <a:gd name="T76" fmla="*/ 141093 w 865"/>
              <a:gd name="T77" fmla="*/ 375518 h 866"/>
              <a:gd name="T78" fmla="*/ 117651 w 865"/>
              <a:gd name="T79" fmla="*/ 368008 h 866"/>
              <a:gd name="T80" fmla="*/ 95536 w 865"/>
              <a:gd name="T81" fmla="*/ 356963 h 866"/>
              <a:gd name="T82" fmla="*/ 75191 w 865"/>
              <a:gd name="T83" fmla="*/ 342384 h 866"/>
              <a:gd name="T84" fmla="*/ 55287 w 865"/>
              <a:gd name="T85" fmla="*/ 326480 h 866"/>
              <a:gd name="T86" fmla="*/ 39364 w 865"/>
              <a:gd name="T87" fmla="*/ 307925 h 866"/>
              <a:gd name="T88" fmla="*/ 25653 w 865"/>
              <a:gd name="T89" fmla="*/ 286278 h 866"/>
              <a:gd name="T90" fmla="*/ 14596 w 865"/>
              <a:gd name="T91" fmla="*/ 264188 h 866"/>
              <a:gd name="T92" fmla="*/ 6192 w 865"/>
              <a:gd name="T93" fmla="*/ 240774 h 866"/>
              <a:gd name="T94" fmla="*/ 885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20"/>
                </a:lnTo>
                <a:lnTo>
                  <a:pt x="33" y="268"/>
                </a:lnTo>
                <a:lnTo>
                  <a:pt x="58" y="216"/>
                </a:lnTo>
                <a:lnTo>
                  <a:pt x="89" y="170"/>
                </a:lnTo>
                <a:lnTo>
                  <a:pt x="125" y="127"/>
                </a:lnTo>
                <a:lnTo>
                  <a:pt x="170" y="89"/>
                </a:lnTo>
                <a:lnTo>
                  <a:pt x="216" y="58"/>
                </a:lnTo>
                <a:lnTo>
                  <a:pt x="266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9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70"/>
                </a:lnTo>
                <a:lnTo>
                  <a:pt x="806" y="216"/>
                </a:lnTo>
                <a:lnTo>
                  <a:pt x="831" y="268"/>
                </a:lnTo>
                <a:lnTo>
                  <a:pt x="850" y="320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5"/>
                </a:lnTo>
                <a:lnTo>
                  <a:pt x="831" y="598"/>
                </a:lnTo>
                <a:lnTo>
                  <a:pt x="806" y="648"/>
                </a:lnTo>
                <a:lnTo>
                  <a:pt x="775" y="697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9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6" y="833"/>
                </a:lnTo>
                <a:lnTo>
                  <a:pt x="216" y="808"/>
                </a:lnTo>
                <a:lnTo>
                  <a:pt x="170" y="775"/>
                </a:lnTo>
                <a:lnTo>
                  <a:pt x="125" y="739"/>
                </a:lnTo>
                <a:lnTo>
                  <a:pt x="89" y="697"/>
                </a:lnTo>
                <a:lnTo>
                  <a:pt x="58" y="648"/>
                </a:lnTo>
                <a:lnTo>
                  <a:pt x="33" y="598"/>
                </a:lnTo>
                <a:lnTo>
                  <a:pt x="14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6" name="Freeform 35"/>
          <p:cNvSpPr/>
          <p:nvPr/>
        </p:nvSpPr>
        <p:spPr bwMode="auto">
          <a:xfrm>
            <a:off x="5019103" y="3735015"/>
            <a:ext cx="381000" cy="382588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6166 w 865"/>
              <a:gd name="T5" fmla="*/ 140930 h 866"/>
              <a:gd name="T6" fmla="*/ 14535 w 865"/>
              <a:gd name="T7" fmla="*/ 117957 h 866"/>
              <a:gd name="T8" fmla="*/ 25547 w 865"/>
              <a:gd name="T9" fmla="*/ 94984 h 866"/>
              <a:gd name="T10" fmla="*/ 39201 w 865"/>
              <a:gd name="T11" fmla="*/ 74662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72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1358 w 865"/>
              <a:gd name="T39" fmla="*/ 74662 h 866"/>
              <a:gd name="T40" fmla="*/ 354572 w 865"/>
              <a:gd name="T41" fmla="*/ 94984 h 866"/>
              <a:gd name="T42" fmla="*/ 365584 w 865"/>
              <a:gd name="T43" fmla="*/ 117957 h 866"/>
              <a:gd name="T44" fmla="*/ 374393 w 865"/>
              <a:gd name="T45" fmla="*/ 140930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4393 w 865"/>
              <a:gd name="T53" fmla="*/ 240332 h 866"/>
              <a:gd name="T54" fmla="*/ 365584 w 865"/>
              <a:gd name="T55" fmla="*/ 264189 h 866"/>
              <a:gd name="T56" fmla="*/ 354572 w 865"/>
              <a:gd name="T57" fmla="*/ 286278 h 866"/>
              <a:gd name="T58" fmla="*/ 341358 w 865"/>
              <a:gd name="T59" fmla="*/ 307484 h 866"/>
              <a:gd name="T60" fmla="*/ 325061 w 865"/>
              <a:gd name="T61" fmla="*/ 326481 h 866"/>
              <a:gd name="T62" fmla="*/ 305681 w 865"/>
              <a:gd name="T63" fmla="*/ 342385 h 866"/>
              <a:gd name="T64" fmla="*/ 285420 w 865"/>
              <a:gd name="T65" fmla="*/ 356964 h 866"/>
              <a:gd name="T66" fmla="*/ 263397 w 865"/>
              <a:gd name="T67" fmla="*/ 368009 h 866"/>
              <a:gd name="T68" fmla="*/ 239612 w 865"/>
              <a:gd name="T69" fmla="*/ 375519 h 866"/>
              <a:gd name="T70" fmla="*/ 214946 w 865"/>
              <a:gd name="T71" fmla="*/ 380821 h 866"/>
              <a:gd name="T72" fmla="*/ 190720 w 865"/>
              <a:gd name="T73" fmla="*/ 382588 h 866"/>
              <a:gd name="T74" fmla="*/ 165173 w 865"/>
              <a:gd name="T75" fmla="*/ 380821 h 866"/>
              <a:gd name="T76" fmla="*/ 140508 w 865"/>
              <a:gd name="T77" fmla="*/ 375519 h 866"/>
              <a:gd name="T78" fmla="*/ 116723 w 865"/>
              <a:gd name="T79" fmla="*/ 368009 h 866"/>
              <a:gd name="T80" fmla="*/ 94699 w 865"/>
              <a:gd name="T81" fmla="*/ 356964 h 866"/>
              <a:gd name="T82" fmla="*/ 74438 w 865"/>
              <a:gd name="T83" fmla="*/ 342385 h 866"/>
              <a:gd name="T84" fmla="*/ 55058 w 865"/>
              <a:gd name="T85" fmla="*/ 326481 h 866"/>
              <a:gd name="T86" fmla="*/ 39201 w 865"/>
              <a:gd name="T87" fmla="*/ 307484 h 866"/>
              <a:gd name="T88" fmla="*/ 25547 w 865"/>
              <a:gd name="T89" fmla="*/ 286278 h 866"/>
              <a:gd name="T90" fmla="*/ 14535 w 865"/>
              <a:gd name="T91" fmla="*/ 264189 h 866"/>
              <a:gd name="T92" fmla="*/ 6166 w 865"/>
              <a:gd name="T93" fmla="*/ 240332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69"/>
                </a:lnTo>
                <a:lnTo>
                  <a:pt x="805" y="215"/>
                </a:lnTo>
                <a:lnTo>
                  <a:pt x="830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4"/>
                </a:lnTo>
                <a:lnTo>
                  <a:pt x="830" y="598"/>
                </a:lnTo>
                <a:lnTo>
                  <a:pt x="805" y="648"/>
                </a:lnTo>
                <a:lnTo>
                  <a:pt x="775" y="696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7" name="Freeform 36"/>
          <p:cNvSpPr/>
          <p:nvPr/>
        </p:nvSpPr>
        <p:spPr bwMode="auto">
          <a:xfrm>
            <a:off x="5019103" y="2933328"/>
            <a:ext cx="381000" cy="382587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6166 w 865"/>
              <a:gd name="T5" fmla="*/ 141372 h 866"/>
              <a:gd name="T6" fmla="*/ 14535 w 865"/>
              <a:gd name="T7" fmla="*/ 118399 h 866"/>
              <a:gd name="T8" fmla="*/ 25547 w 865"/>
              <a:gd name="T9" fmla="*/ 95426 h 866"/>
              <a:gd name="T10" fmla="*/ 39201 w 865"/>
              <a:gd name="T11" fmla="*/ 75104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72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1358 w 865"/>
              <a:gd name="T39" fmla="*/ 75104 h 866"/>
              <a:gd name="T40" fmla="*/ 354572 w 865"/>
              <a:gd name="T41" fmla="*/ 95426 h 866"/>
              <a:gd name="T42" fmla="*/ 365584 w 865"/>
              <a:gd name="T43" fmla="*/ 118399 h 866"/>
              <a:gd name="T44" fmla="*/ 374393 w 865"/>
              <a:gd name="T45" fmla="*/ 141372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4393 w 865"/>
              <a:gd name="T53" fmla="*/ 240774 h 866"/>
              <a:gd name="T54" fmla="*/ 365584 w 865"/>
              <a:gd name="T55" fmla="*/ 264188 h 866"/>
              <a:gd name="T56" fmla="*/ 354572 w 865"/>
              <a:gd name="T57" fmla="*/ 286278 h 866"/>
              <a:gd name="T58" fmla="*/ 341358 w 865"/>
              <a:gd name="T59" fmla="*/ 307925 h 866"/>
              <a:gd name="T60" fmla="*/ 325061 w 865"/>
              <a:gd name="T61" fmla="*/ 326480 h 866"/>
              <a:gd name="T62" fmla="*/ 305681 w 865"/>
              <a:gd name="T63" fmla="*/ 342384 h 866"/>
              <a:gd name="T64" fmla="*/ 285420 w 865"/>
              <a:gd name="T65" fmla="*/ 356963 h 866"/>
              <a:gd name="T66" fmla="*/ 263397 w 865"/>
              <a:gd name="T67" fmla="*/ 368008 h 866"/>
              <a:gd name="T68" fmla="*/ 239612 w 865"/>
              <a:gd name="T69" fmla="*/ 375518 h 866"/>
              <a:gd name="T70" fmla="*/ 214946 w 865"/>
              <a:gd name="T71" fmla="*/ 380820 h 866"/>
              <a:gd name="T72" fmla="*/ 190720 w 865"/>
              <a:gd name="T73" fmla="*/ 382587 h 866"/>
              <a:gd name="T74" fmla="*/ 165173 w 865"/>
              <a:gd name="T75" fmla="*/ 380820 h 866"/>
              <a:gd name="T76" fmla="*/ 140508 w 865"/>
              <a:gd name="T77" fmla="*/ 375518 h 866"/>
              <a:gd name="T78" fmla="*/ 116723 w 865"/>
              <a:gd name="T79" fmla="*/ 368008 h 866"/>
              <a:gd name="T80" fmla="*/ 94699 w 865"/>
              <a:gd name="T81" fmla="*/ 356963 h 866"/>
              <a:gd name="T82" fmla="*/ 74438 w 865"/>
              <a:gd name="T83" fmla="*/ 342384 h 866"/>
              <a:gd name="T84" fmla="*/ 55058 w 865"/>
              <a:gd name="T85" fmla="*/ 326480 h 866"/>
              <a:gd name="T86" fmla="*/ 39201 w 865"/>
              <a:gd name="T87" fmla="*/ 307925 h 866"/>
              <a:gd name="T88" fmla="*/ 25547 w 865"/>
              <a:gd name="T89" fmla="*/ 286278 h 866"/>
              <a:gd name="T90" fmla="*/ 14535 w 865"/>
              <a:gd name="T91" fmla="*/ 264188 h 866"/>
              <a:gd name="T92" fmla="*/ 6166 w 865"/>
              <a:gd name="T93" fmla="*/ 240774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4" y="320"/>
                </a:lnTo>
                <a:lnTo>
                  <a:pt x="33" y="268"/>
                </a:lnTo>
                <a:lnTo>
                  <a:pt x="58" y="216"/>
                </a:lnTo>
                <a:lnTo>
                  <a:pt x="89" y="170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3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5" y="170"/>
                </a:lnTo>
                <a:lnTo>
                  <a:pt x="805" y="216"/>
                </a:lnTo>
                <a:lnTo>
                  <a:pt x="830" y="268"/>
                </a:lnTo>
                <a:lnTo>
                  <a:pt x="850" y="320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50" y="545"/>
                </a:lnTo>
                <a:lnTo>
                  <a:pt x="830" y="598"/>
                </a:lnTo>
                <a:lnTo>
                  <a:pt x="805" y="648"/>
                </a:lnTo>
                <a:lnTo>
                  <a:pt x="775" y="697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3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9" y="697"/>
                </a:lnTo>
                <a:lnTo>
                  <a:pt x="58" y="648"/>
                </a:lnTo>
                <a:lnTo>
                  <a:pt x="33" y="598"/>
                </a:lnTo>
                <a:lnTo>
                  <a:pt x="14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8" name="Freeform 37"/>
          <p:cNvSpPr/>
          <p:nvPr/>
        </p:nvSpPr>
        <p:spPr bwMode="auto">
          <a:xfrm>
            <a:off x="5019103" y="4536703"/>
            <a:ext cx="381000" cy="382587"/>
          </a:xfrm>
          <a:custGeom>
            <a:avLst/>
            <a:gdLst>
              <a:gd name="T0" fmla="*/ 0 w 865"/>
              <a:gd name="T1" fmla="*/ 191515 h 865"/>
              <a:gd name="T2" fmla="*/ 881 w 865"/>
              <a:gd name="T3" fmla="*/ 165861 h 865"/>
              <a:gd name="T4" fmla="*/ 6166 w 865"/>
              <a:gd name="T5" fmla="*/ 141093 h 865"/>
              <a:gd name="T6" fmla="*/ 14535 w 865"/>
              <a:gd name="T7" fmla="*/ 118093 h 865"/>
              <a:gd name="T8" fmla="*/ 25547 w 865"/>
              <a:gd name="T9" fmla="*/ 95094 h 865"/>
              <a:gd name="T10" fmla="*/ 39201 w 865"/>
              <a:gd name="T11" fmla="*/ 74748 h 865"/>
              <a:gd name="T12" fmla="*/ 55058 w 865"/>
              <a:gd name="T13" fmla="*/ 56172 h 865"/>
              <a:gd name="T14" fmla="*/ 74438 w 865"/>
              <a:gd name="T15" fmla="*/ 38922 h 865"/>
              <a:gd name="T16" fmla="*/ 94699 w 865"/>
              <a:gd name="T17" fmla="*/ 25653 h 865"/>
              <a:gd name="T18" fmla="*/ 116723 w 865"/>
              <a:gd name="T19" fmla="*/ 14596 h 865"/>
              <a:gd name="T20" fmla="*/ 140508 w 865"/>
              <a:gd name="T21" fmla="*/ 5750 h 865"/>
              <a:gd name="T22" fmla="*/ 165173 w 865"/>
              <a:gd name="T23" fmla="*/ 1769 h 865"/>
              <a:gd name="T24" fmla="*/ 190720 w 865"/>
              <a:gd name="T25" fmla="*/ 0 h 865"/>
              <a:gd name="T26" fmla="*/ 214946 w 865"/>
              <a:gd name="T27" fmla="*/ 1769 h 865"/>
              <a:gd name="T28" fmla="*/ 239612 w 865"/>
              <a:gd name="T29" fmla="*/ 5750 h 865"/>
              <a:gd name="T30" fmla="*/ 263397 w 865"/>
              <a:gd name="T31" fmla="*/ 14596 h 865"/>
              <a:gd name="T32" fmla="*/ 285420 w 865"/>
              <a:gd name="T33" fmla="*/ 25653 h 865"/>
              <a:gd name="T34" fmla="*/ 305681 w 865"/>
              <a:gd name="T35" fmla="*/ 38922 h 865"/>
              <a:gd name="T36" fmla="*/ 325061 w 865"/>
              <a:gd name="T37" fmla="*/ 56172 h 865"/>
              <a:gd name="T38" fmla="*/ 341358 w 865"/>
              <a:gd name="T39" fmla="*/ 74748 h 865"/>
              <a:gd name="T40" fmla="*/ 354572 w 865"/>
              <a:gd name="T41" fmla="*/ 95094 h 865"/>
              <a:gd name="T42" fmla="*/ 365584 w 865"/>
              <a:gd name="T43" fmla="*/ 118093 h 865"/>
              <a:gd name="T44" fmla="*/ 374393 w 865"/>
              <a:gd name="T45" fmla="*/ 141093 h 865"/>
              <a:gd name="T46" fmla="*/ 379238 w 865"/>
              <a:gd name="T47" fmla="*/ 165861 h 865"/>
              <a:gd name="T48" fmla="*/ 381000 w 865"/>
              <a:gd name="T49" fmla="*/ 191515 h 865"/>
              <a:gd name="T50" fmla="*/ 379238 w 865"/>
              <a:gd name="T51" fmla="*/ 215841 h 865"/>
              <a:gd name="T52" fmla="*/ 374393 w 865"/>
              <a:gd name="T53" fmla="*/ 240610 h 865"/>
              <a:gd name="T54" fmla="*/ 365584 w 865"/>
              <a:gd name="T55" fmla="*/ 264494 h 865"/>
              <a:gd name="T56" fmla="*/ 354572 w 865"/>
              <a:gd name="T57" fmla="*/ 286609 h 865"/>
              <a:gd name="T58" fmla="*/ 341358 w 865"/>
              <a:gd name="T59" fmla="*/ 307839 h 865"/>
              <a:gd name="T60" fmla="*/ 325061 w 865"/>
              <a:gd name="T61" fmla="*/ 326415 h 865"/>
              <a:gd name="T62" fmla="*/ 305681 w 865"/>
              <a:gd name="T63" fmla="*/ 342780 h 865"/>
              <a:gd name="T64" fmla="*/ 285420 w 865"/>
              <a:gd name="T65" fmla="*/ 357376 h 865"/>
              <a:gd name="T66" fmla="*/ 263397 w 865"/>
              <a:gd name="T67" fmla="*/ 368433 h 865"/>
              <a:gd name="T68" fmla="*/ 239612 w 865"/>
              <a:gd name="T69" fmla="*/ 375953 h 865"/>
              <a:gd name="T70" fmla="*/ 214946 w 865"/>
              <a:gd name="T71" fmla="*/ 381260 h 865"/>
              <a:gd name="T72" fmla="*/ 190720 w 865"/>
              <a:gd name="T73" fmla="*/ 382587 h 865"/>
              <a:gd name="T74" fmla="*/ 165173 w 865"/>
              <a:gd name="T75" fmla="*/ 381260 h 865"/>
              <a:gd name="T76" fmla="*/ 140508 w 865"/>
              <a:gd name="T77" fmla="*/ 375953 h 865"/>
              <a:gd name="T78" fmla="*/ 116723 w 865"/>
              <a:gd name="T79" fmla="*/ 368433 h 865"/>
              <a:gd name="T80" fmla="*/ 94699 w 865"/>
              <a:gd name="T81" fmla="*/ 357376 h 865"/>
              <a:gd name="T82" fmla="*/ 74438 w 865"/>
              <a:gd name="T83" fmla="*/ 342780 h 865"/>
              <a:gd name="T84" fmla="*/ 55058 w 865"/>
              <a:gd name="T85" fmla="*/ 326415 h 865"/>
              <a:gd name="T86" fmla="*/ 39201 w 865"/>
              <a:gd name="T87" fmla="*/ 307839 h 865"/>
              <a:gd name="T88" fmla="*/ 25547 w 865"/>
              <a:gd name="T89" fmla="*/ 286609 h 865"/>
              <a:gd name="T90" fmla="*/ 14535 w 865"/>
              <a:gd name="T91" fmla="*/ 264494 h 865"/>
              <a:gd name="T92" fmla="*/ 6166 w 865"/>
              <a:gd name="T93" fmla="*/ 240610 h 865"/>
              <a:gd name="T94" fmla="*/ 881 w 865"/>
              <a:gd name="T95" fmla="*/ 215841 h 865"/>
              <a:gd name="T96" fmla="*/ 0 w 865"/>
              <a:gd name="T97" fmla="*/ 191515 h 865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5">
                <a:moveTo>
                  <a:pt x="0" y="433"/>
                </a:moveTo>
                <a:lnTo>
                  <a:pt x="2" y="375"/>
                </a:lnTo>
                <a:lnTo>
                  <a:pt x="14" y="319"/>
                </a:lnTo>
                <a:lnTo>
                  <a:pt x="33" y="267"/>
                </a:lnTo>
                <a:lnTo>
                  <a:pt x="58" y="215"/>
                </a:lnTo>
                <a:lnTo>
                  <a:pt x="89" y="169"/>
                </a:lnTo>
                <a:lnTo>
                  <a:pt x="125" y="127"/>
                </a:lnTo>
                <a:lnTo>
                  <a:pt x="169" y="88"/>
                </a:lnTo>
                <a:lnTo>
                  <a:pt x="215" y="58"/>
                </a:lnTo>
                <a:lnTo>
                  <a:pt x="265" y="33"/>
                </a:lnTo>
                <a:lnTo>
                  <a:pt x="319" y="13"/>
                </a:lnTo>
                <a:lnTo>
                  <a:pt x="375" y="4"/>
                </a:lnTo>
                <a:lnTo>
                  <a:pt x="433" y="0"/>
                </a:lnTo>
                <a:lnTo>
                  <a:pt x="488" y="4"/>
                </a:lnTo>
                <a:lnTo>
                  <a:pt x="544" y="13"/>
                </a:lnTo>
                <a:lnTo>
                  <a:pt x="598" y="33"/>
                </a:lnTo>
                <a:lnTo>
                  <a:pt x="648" y="58"/>
                </a:lnTo>
                <a:lnTo>
                  <a:pt x="694" y="88"/>
                </a:lnTo>
                <a:lnTo>
                  <a:pt x="738" y="127"/>
                </a:lnTo>
                <a:lnTo>
                  <a:pt x="775" y="169"/>
                </a:lnTo>
                <a:lnTo>
                  <a:pt x="805" y="215"/>
                </a:lnTo>
                <a:lnTo>
                  <a:pt x="830" y="267"/>
                </a:lnTo>
                <a:lnTo>
                  <a:pt x="850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8"/>
                </a:lnTo>
                <a:lnTo>
                  <a:pt x="850" y="544"/>
                </a:lnTo>
                <a:lnTo>
                  <a:pt x="830" y="598"/>
                </a:lnTo>
                <a:lnTo>
                  <a:pt x="805" y="648"/>
                </a:lnTo>
                <a:lnTo>
                  <a:pt x="775" y="696"/>
                </a:lnTo>
                <a:lnTo>
                  <a:pt x="738" y="738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3" y="865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8"/>
                </a:lnTo>
                <a:lnTo>
                  <a:pt x="89" y="696"/>
                </a:lnTo>
                <a:lnTo>
                  <a:pt x="58" y="648"/>
                </a:lnTo>
                <a:lnTo>
                  <a:pt x="33" y="598"/>
                </a:lnTo>
                <a:lnTo>
                  <a:pt x="14" y="544"/>
                </a:lnTo>
                <a:lnTo>
                  <a:pt x="2" y="488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9" name="Freeform 40"/>
          <p:cNvSpPr/>
          <p:nvPr/>
        </p:nvSpPr>
        <p:spPr bwMode="auto">
          <a:xfrm>
            <a:off x="5819203" y="3735015"/>
            <a:ext cx="381000" cy="382588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5726 w 865"/>
              <a:gd name="T5" fmla="*/ 140930 h 866"/>
              <a:gd name="T6" fmla="*/ 14535 w 865"/>
              <a:gd name="T7" fmla="*/ 117957 h 866"/>
              <a:gd name="T8" fmla="*/ 25547 w 865"/>
              <a:gd name="T9" fmla="*/ 94984 h 866"/>
              <a:gd name="T10" fmla="*/ 38761 w 865"/>
              <a:gd name="T11" fmla="*/ 74662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28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0918 w 865"/>
              <a:gd name="T39" fmla="*/ 74662 h 866"/>
              <a:gd name="T40" fmla="*/ 354572 w 865"/>
              <a:gd name="T41" fmla="*/ 94984 h 866"/>
              <a:gd name="T42" fmla="*/ 365584 w 865"/>
              <a:gd name="T43" fmla="*/ 117957 h 866"/>
              <a:gd name="T44" fmla="*/ 373953 w 865"/>
              <a:gd name="T45" fmla="*/ 140930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3953 w 865"/>
              <a:gd name="T53" fmla="*/ 240332 h 866"/>
              <a:gd name="T54" fmla="*/ 365584 w 865"/>
              <a:gd name="T55" fmla="*/ 264189 h 866"/>
              <a:gd name="T56" fmla="*/ 354572 w 865"/>
              <a:gd name="T57" fmla="*/ 286278 h 866"/>
              <a:gd name="T58" fmla="*/ 340918 w 865"/>
              <a:gd name="T59" fmla="*/ 307484 h 866"/>
              <a:gd name="T60" fmla="*/ 325061 w 865"/>
              <a:gd name="T61" fmla="*/ 326481 h 866"/>
              <a:gd name="T62" fmla="*/ 305681 w 865"/>
              <a:gd name="T63" fmla="*/ 342385 h 866"/>
              <a:gd name="T64" fmla="*/ 285420 w 865"/>
              <a:gd name="T65" fmla="*/ 356964 h 866"/>
              <a:gd name="T66" fmla="*/ 263397 w 865"/>
              <a:gd name="T67" fmla="*/ 368009 h 866"/>
              <a:gd name="T68" fmla="*/ 239612 w 865"/>
              <a:gd name="T69" fmla="*/ 375519 h 866"/>
              <a:gd name="T70" fmla="*/ 214946 w 865"/>
              <a:gd name="T71" fmla="*/ 380821 h 866"/>
              <a:gd name="T72" fmla="*/ 190280 w 865"/>
              <a:gd name="T73" fmla="*/ 382588 h 866"/>
              <a:gd name="T74" fmla="*/ 165173 w 865"/>
              <a:gd name="T75" fmla="*/ 380821 h 866"/>
              <a:gd name="T76" fmla="*/ 140508 w 865"/>
              <a:gd name="T77" fmla="*/ 375519 h 866"/>
              <a:gd name="T78" fmla="*/ 116723 w 865"/>
              <a:gd name="T79" fmla="*/ 368009 h 866"/>
              <a:gd name="T80" fmla="*/ 94699 w 865"/>
              <a:gd name="T81" fmla="*/ 356964 h 866"/>
              <a:gd name="T82" fmla="*/ 74438 w 865"/>
              <a:gd name="T83" fmla="*/ 342385 h 866"/>
              <a:gd name="T84" fmla="*/ 55058 w 865"/>
              <a:gd name="T85" fmla="*/ 326481 h 866"/>
              <a:gd name="T86" fmla="*/ 38761 w 865"/>
              <a:gd name="T87" fmla="*/ 307484 h 866"/>
              <a:gd name="T88" fmla="*/ 25547 w 865"/>
              <a:gd name="T89" fmla="*/ 286278 h 866"/>
              <a:gd name="T90" fmla="*/ 14535 w 865"/>
              <a:gd name="T91" fmla="*/ 264189 h 866"/>
              <a:gd name="T92" fmla="*/ 5726 w 865"/>
              <a:gd name="T93" fmla="*/ 240332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3" y="319"/>
                </a:lnTo>
                <a:lnTo>
                  <a:pt x="33" y="267"/>
                </a:lnTo>
                <a:lnTo>
                  <a:pt x="58" y="215"/>
                </a:lnTo>
                <a:lnTo>
                  <a:pt x="88" y="169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2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4" y="169"/>
                </a:lnTo>
                <a:lnTo>
                  <a:pt x="805" y="215"/>
                </a:lnTo>
                <a:lnTo>
                  <a:pt x="830" y="267"/>
                </a:lnTo>
                <a:lnTo>
                  <a:pt x="849" y="319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49" y="544"/>
                </a:lnTo>
                <a:lnTo>
                  <a:pt x="830" y="598"/>
                </a:lnTo>
                <a:lnTo>
                  <a:pt x="805" y="648"/>
                </a:lnTo>
                <a:lnTo>
                  <a:pt x="774" y="696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2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6"/>
                </a:lnTo>
                <a:lnTo>
                  <a:pt x="58" y="648"/>
                </a:lnTo>
                <a:lnTo>
                  <a:pt x="33" y="598"/>
                </a:lnTo>
                <a:lnTo>
                  <a:pt x="13" y="544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0" name="Freeform 41"/>
          <p:cNvSpPr/>
          <p:nvPr/>
        </p:nvSpPr>
        <p:spPr bwMode="auto">
          <a:xfrm>
            <a:off x="5819203" y="2936503"/>
            <a:ext cx="381000" cy="382587"/>
          </a:xfrm>
          <a:custGeom>
            <a:avLst/>
            <a:gdLst>
              <a:gd name="T0" fmla="*/ 0 w 865"/>
              <a:gd name="T1" fmla="*/ 191294 h 866"/>
              <a:gd name="T2" fmla="*/ 881 w 865"/>
              <a:gd name="T3" fmla="*/ 165670 h 866"/>
              <a:gd name="T4" fmla="*/ 5726 w 865"/>
              <a:gd name="T5" fmla="*/ 141372 h 866"/>
              <a:gd name="T6" fmla="*/ 14535 w 865"/>
              <a:gd name="T7" fmla="*/ 118399 h 866"/>
              <a:gd name="T8" fmla="*/ 25547 w 865"/>
              <a:gd name="T9" fmla="*/ 95426 h 866"/>
              <a:gd name="T10" fmla="*/ 38761 w 865"/>
              <a:gd name="T11" fmla="*/ 75104 h 866"/>
              <a:gd name="T12" fmla="*/ 55058 w 865"/>
              <a:gd name="T13" fmla="*/ 56107 h 866"/>
              <a:gd name="T14" fmla="*/ 74438 w 865"/>
              <a:gd name="T15" fmla="*/ 39319 h 866"/>
              <a:gd name="T16" fmla="*/ 94699 w 865"/>
              <a:gd name="T17" fmla="*/ 25624 h 866"/>
              <a:gd name="T18" fmla="*/ 116723 w 865"/>
              <a:gd name="T19" fmla="*/ 14579 h 866"/>
              <a:gd name="T20" fmla="*/ 140508 w 865"/>
              <a:gd name="T21" fmla="*/ 6185 h 866"/>
              <a:gd name="T22" fmla="*/ 165173 w 865"/>
              <a:gd name="T23" fmla="*/ 1767 h 866"/>
              <a:gd name="T24" fmla="*/ 190280 w 865"/>
              <a:gd name="T25" fmla="*/ 0 h 866"/>
              <a:gd name="T26" fmla="*/ 214946 w 865"/>
              <a:gd name="T27" fmla="*/ 1767 h 866"/>
              <a:gd name="T28" fmla="*/ 239612 w 865"/>
              <a:gd name="T29" fmla="*/ 6185 h 866"/>
              <a:gd name="T30" fmla="*/ 263397 w 865"/>
              <a:gd name="T31" fmla="*/ 14579 h 866"/>
              <a:gd name="T32" fmla="*/ 285420 w 865"/>
              <a:gd name="T33" fmla="*/ 25624 h 866"/>
              <a:gd name="T34" fmla="*/ 305681 w 865"/>
              <a:gd name="T35" fmla="*/ 39319 h 866"/>
              <a:gd name="T36" fmla="*/ 325061 w 865"/>
              <a:gd name="T37" fmla="*/ 56107 h 866"/>
              <a:gd name="T38" fmla="*/ 340918 w 865"/>
              <a:gd name="T39" fmla="*/ 75104 h 866"/>
              <a:gd name="T40" fmla="*/ 354572 w 865"/>
              <a:gd name="T41" fmla="*/ 95426 h 866"/>
              <a:gd name="T42" fmla="*/ 365584 w 865"/>
              <a:gd name="T43" fmla="*/ 118399 h 866"/>
              <a:gd name="T44" fmla="*/ 373953 w 865"/>
              <a:gd name="T45" fmla="*/ 141372 h 866"/>
              <a:gd name="T46" fmla="*/ 379238 w 865"/>
              <a:gd name="T47" fmla="*/ 165670 h 866"/>
              <a:gd name="T48" fmla="*/ 381000 w 865"/>
              <a:gd name="T49" fmla="*/ 191294 h 866"/>
              <a:gd name="T50" fmla="*/ 379238 w 865"/>
              <a:gd name="T51" fmla="*/ 216034 h 866"/>
              <a:gd name="T52" fmla="*/ 373953 w 865"/>
              <a:gd name="T53" fmla="*/ 240774 h 866"/>
              <a:gd name="T54" fmla="*/ 365584 w 865"/>
              <a:gd name="T55" fmla="*/ 264188 h 866"/>
              <a:gd name="T56" fmla="*/ 354572 w 865"/>
              <a:gd name="T57" fmla="*/ 286278 h 866"/>
              <a:gd name="T58" fmla="*/ 340918 w 865"/>
              <a:gd name="T59" fmla="*/ 307925 h 866"/>
              <a:gd name="T60" fmla="*/ 325061 w 865"/>
              <a:gd name="T61" fmla="*/ 326480 h 866"/>
              <a:gd name="T62" fmla="*/ 305681 w 865"/>
              <a:gd name="T63" fmla="*/ 342384 h 866"/>
              <a:gd name="T64" fmla="*/ 285420 w 865"/>
              <a:gd name="T65" fmla="*/ 356963 h 866"/>
              <a:gd name="T66" fmla="*/ 263397 w 865"/>
              <a:gd name="T67" fmla="*/ 368008 h 866"/>
              <a:gd name="T68" fmla="*/ 239612 w 865"/>
              <a:gd name="T69" fmla="*/ 375518 h 866"/>
              <a:gd name="T70" fmla="*/ 214946 w 865"/>
              <a:gd name="T71" fmla="*/ 380820 h 866"/>
              <a:gd name="T72" fmla="*/ 190280 w 865"/>
              <a:gd name="T73" fmla="*/ 382587 h 866"/>
              <a:gd name="T74" fmla="*/ 165173 w 865"/>
              <a:gd name="T75" fmla="*/ 380820 h 866"/>
              <a:gd name="T76" fmla="*/ 140508 w 865"/>
              <a:gd name="T77" fmla="*/ 375518 h 866"/>
              <a:gd name="T78" fmla="*/ 116723 w 865"/>
              <a:gd name="T79" fmla="*/ 368008 h 866"/>
              <a:gd name="T80" fmla="*/ 94699 w 865"/>
              <a:gd name="T81" fmla="*/ 356963 h 866"/>
              <a:gd name="T82" fmla="*/ 74438 w 865"/>
              <a:gd name="T83" fmla="*/ 342384 h 866"/>
              <a:gd name="T84" fmla="*/ 55058 w 865"/>
              <a:gd name="T85" fmla="*/ 326480 h 866"/>
              <a:gd name="T86" fmla="*/ 38761 w 865"/>
              <a:gd name="T87" fmla="*/ 307925 h 866"/>
              <a:gd name="T88" fmla="*/ 25547 w 865"/>
              <a:gd name="T89" fmla="*/ 286278 h 866"/>
              <a:gd name="T90" fmla="*/ 14535 w 865"/>
              <a:gd name="T91" fmla="*/ 264188 h 866"/>
              <a:gd name="T92" fmla="*/ 5726 w 865"/>
              <a:gd name="T93" fmla="*/ 240774 h 866"/>
              <a:gd name="T94" fmla="*/ 881 w 865"/>
              <a:gd name="T95" fmla="*/ 216034 h 866"/>
              <a:gd name="T96" fmla="*/ 0 w 865"/>
              <a:gd name="T97" fmla="*/ 191294 h 8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865" h="866">
                <a:moveTo>
                  <a:pt x="0" y="433"/>
                </a:moveTo>
                <a:lnTo>
                  <a:pt x="2" y="375"/>
                </a:lnTo>
                <a:lnTo>
                  <a:pt x="13" y="320"/>
                </a:lnTo>
                <a:lnTo>
                  <a:pt x="33" y="268"/>
                </a:lnTo>
                <a:lnTo>
                  <a:pt x="58" y="216"/>
                </a:lnTo>
                <a:lnTo>
                  <a:pt x="88" y="170"/>
                </a:lnTo>
                <a:lnTo>
                  <a:pt x="125" y="127"/>
                </a:lnTo>
                <a:lnTo>
                  <a:pt x="169" y="89"/>
                </a:lnTo>
                <a:lnTo>
                  <a:pt x="215" y="58"/>
                </a:lnTo>
                <a:lnTo>
                  <a:pt x="265" y="33"/>
                </a:lnTo>
                <a:lnTo>
                  <a:pt x="319" y="14"/>
                </a:lnTo>
                <a:lnTo>
                  <a:pt x="375" y="4"/>
                </a:lnTo>
                <a:lnTo>
                  <a:pt x="432" y="0"/>
                </a:lnTo>
                <a:lnTo>
                  <a:pt x="488" y="4"/>
                </a:lnTo>
                <a:lnTo>
                  <a:pt x="544" y="14"/>
                </a:lnTo>
                <a:lnTo>
                  <a:pt x="598" y="33"/>
                </a:lnTo>
                <a:lnTo>
                  <a:pt x="648" y="58"/>
                </a:lnTo>
                <a:lnTo>
                  <a:pt x="694" y="89"/>
                </a:lnTo>
                <a:lnTo>
                  <a:pt x="738" y="127"/>
                </a:lnTo>
                <a:lnTo>
                  <a:pt x="774" y="170"/>
                </a:lnTo>
                <a:lnTo>
                  <a:pt x="805" y="216"/>
                </a:lnTo>
                <a:lnTo>
                  <a:pt x="830" y="268"/>
                </a:lnTo>
                <a:lnTo>
                  <a:pt x="849" y="320"/>
                </a:lnTo>
                <a:lnTo>
                  <a:pt x="861" y="375"/>
                </a:lnTo>
                <a:lnTo>
                  <a:pt x="865" y="433"/>
                </a:lnTo>
                <a:lnTo>
                  <a:pt x="861" y="489"/>
                </a:lnTo>
                <a:lnTo>
                  <a:pt x="849" y="545"/>
                </a:lnTo>
                <a:lnTo>
                  <a:pt x="830" y="598"/>
                </a:lnTo>
                <a:lnTo>
                  <a:pt x="805" y="648"/>
                </a:lnTo>
                <a:lnTo>
                  <a:pt x="774" y="697"/>
                </a:lnTo>
                <a:lnTo>
                  <a:pt x="738" y="739"/>
                </a:lnTo>
                <a:lnTo>
                  <a:pt x="694" y="775"/>
                </a:lnTo>
                <a:lnTo>
                  <a:pt x="648" y="808"/>
                </a:lnTo>
                <a:lnTo>
                  <a:pt x="598" y="833"/>
                </a:lnTo>
                <a:lnTo>
                  <a:pt x="544" y="850"/>
                </a:lnTo>
                <a:lnTo>
                  <a:pt x="488" y="862"/>
                </a:lnTo>
                <a:lnTo>
                  <a:pt x="432" y="866"/>
                </a:lnTo>
                <a:lnTo>
                  <a:pt x="375" y="862"/>
                </a:lnTo>
                <a:lnTo>
                  <a:pt x="319" y="850"/>
                </a:lnTo>
                <a:lnTo>
                  <a:pt x="265" y="833"/>
                </a:lnTo>
                <a:lnTo>
                  <a:pt x="215" y="808"/>
                </a:lnTo>
                <a:lnTo>
                  <a:pt x="169" y="775"/>
                </a:lnTo>
                <a:lnTo>
                  <a:pt x="125" y="739"/>
                </a:lnTo>
                <a:lnTo>
                  <a:pt x="88" y="697"/>
                </a:lnTo>
                <a:lnTo>
                  <a:pt x="58" y="648"/>
                </a:lnTo>
                <a:lnTo>
                  <a:pt x="33" y="598"/>
                </a:lnTo>
                <a:lnTo>
                  <a:pt x="13" y="545"/>
                </a:lnTo>
                <a:lnTo>
                  <a:pt x="2" y="489"/>
                </a:lnTo>
                <a:lnTo>
                  <a:pt x="0" y="433"/>
                </a:lnTo>
                <a:close/>
              </a:path>
            </a:pathLst>
          </a:custGeom>
          <a:solidFill>
            <a:srgbClr val="FFFFFF"/>
          </a:solidFill>
          <a:ln w="12700" cmpd="sng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438372" y="3254003"/>
            <a:ext cx="1298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2" name="Rectangle 44"/>
          <p:cNvSpPr>
            <a:spLocks noChangeArrowheads="1"/>
          </p:cNvSpPr>
          <p:nvPr/>
        </p:nvSpPr>
        <p:spPr bwMode="auto">
          <a:xfrm>
            <a:off x="2170334" y="4385890"/>
            <a:ext cx="1458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E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grpSp>
        <p:nvGrpSpPr>
          <p:cNvPr id="93" name="Group 54"/>
          <p:cNvGrpSpPr/>
          <p:nvPr/>
        </p:nvGrpSpPr>
        <p:grpSpPr bwMode="auto">
          <a:xfrm>
            <a:off x="3152203" y="2633290"/>
            <a:ext cx="3276600" cy="2514600"/>
            <a:chOff x="3072" y="1344"/>
            <a:chExt cx="2064" cy="1584"/>
          </a:xfrm>
        </p:grpSpPr>
        <p:sp>
          <p:nvSpPr>
            <p:cNvPr id="94" name="Line 45"/>
            <p:cNvSpPr>
              <a:spLocks noChangeShapeType="1"/>
            </p:cNvSpPr>
            <p:nvPr/>
          </p:nvSpPr>
          <p:spPr bwMode="auto">
            <a:xfrm>
              <a:off x="3072" y="1344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95" name="Line 46"/>
            <p:cNvSpPr>
              <a:spLocks noChangeShapeType="1"/>
            </p:cNvSpPr>
            <p:nvPr/>
          </p:nvSpPr>
          <p:spPr bwMode="auto">
            <a:xfrm flipV="1">
              <a:off x="4608" y="1912"/>
              <a:ext cx="528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96" name="Line 47"/>
            <p:cNvSpPr>
              <a:spLocks noChangeShapeType="1"/>
            </p:cNvSpPr>
            <p:nvPr/>
          </p:nvSpPr>
          <p:spPr bwMode="auto">
            <a:xfrm flipV="1">
              <a:off x="5136" y="1344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97" name="Line 48"/>
            <p:cNvSpPr>
              <a:spLocks noChangeShapeType="1"/>
            </p:cNvSpPr>
            <p:nvPr/>
          </p:nvSpPr>
          <p:spPr bwMode="auto">
            <a:xfrm flipV="1">
              <a:off x="3072" y="1920"/>
              <a:ext cx="0" cy="10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98" name="Line 49"/>
            <p:cNvSpPr>
              <a:spLocks noChangeShapeType="1"/>
            </p:cNvSpPr>
            <p:nvPr/>
          </p:nvSpPr>
          <p:spPr bwMode="auto">
            <a:xfrm>
              <a:off x="3072" y="292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99" name="Line 50"/>
            <p:cNvSpPr>
              <a:spLocks noChangeShapeType="1"/>
            </p:cNvSpPr>
            <p:nvPr/>
          </p:nvSpPr>
          <p:spPr bwMode="auto">
            <a:xfrm>
              <a:off x="3648" y="2400"/>
              <a:ext cx="4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100" name="Line 51"/>
            <p:cNvSpPr>
              <a:spLocks noChangeShapeType="1"/>
            </p:cNvSpPr>
            <p:nvPr/>
          </p:nvSpPr>
          <p:spPr bwMode="auto">
            <a:xfrm flipV="1">
              <a:off x="4128" y="1344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101" name="Line 52"/>
            <p:cNvSpPr>
              <a:spLocks noChangeShapeType="1"/>
            </p:cNvSpPr>
            <p:nvPr/>
          </p:nvSpPr>
          <p:spPr bwMode="auto">
            <a:xfrm flipV="1">
              <a:off x="3616" y="1344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  <p:sp>
          <p:nvSpPr>
            <p:cNvPr id="102" name="Line 53"/>
            <p:cNvSpPr>
              <a:spLocks noChangeShapeType="1"/>
            </p:cNvSpPr>
            <p:nvPr/>
          </p:nvSpPr>
          <p:spPr bwMode="auto">
            <a:xfrm flipV="1">
              <a:off x="4624" y="2400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Sitka Text" panose="02000505000000020004" pitchFamily="2" charset="0"/>
              </a:endParaRPr>
            </a:p>
          </p:txBody>
        </p:sp>
      </p:grpSp>
      <p:sp>
        <p:nvSpPr>
          <p:cNvPr id="104" name="Oval 59"/>
          <p:cNvSpPr>
            <a:spLocks noChangeArrowheads="1"/>
          </p:cNvSpPr>
          <p:nvPr/>
        </p:nvSpPr>
        <p:spPr bwMode="auto">
          <a:xfrm>
            <a:off x="5819203" y="453829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E</a:t>
            </a:r>
            <a:endParaRPr lang="en-US" altLang="zh-CN" sz="1800">
              <a:solidFill>
                <a:srgbClr val="000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AE60E7-A4B7-45E9-8EAF-823ACA037E6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E60958-E497-476C-8525-23C3FCB0BF50}" type="slidenum">
              <a:rPr lang="en-US" altLang="zh-CN" sz="1050"/>
            </a:fld>
            <a:endParaRPr lang="en-US" altLang="zh-CN" sz="1050"/>
          </a:p>
        </p:txBody>
      </p:sp>
      <p:sp>
        <p:nvSpPr>
          <p:cNvPr id="15366" name="Freeform 3"/>
          <p:cNvSpPr/>
          <p:nvPr/>
        </p:nvSpPr>
        <p:spPr bwMode="auto">
          <a:xfrm>
            <a:off x="2957711" y="4394176"/>
            <a:ext cx="569119" cy="227410"/>
          </a:xfrm>
          <a:custGeom>
            <a:avLst/>
            <a:gdLst>
              <a:gd name="T0" fmla="*/ 0 w 955"/>
              <a:gd name="T1" fmla="*/ 152794 h 383"/>
              <a:gd name="T2" fmla="*/ 61977 w 955"/>
              <a:gd name="T3" fmla="*/ 0 h 383"/>
              <a:gd name="T4" fmla="*/ 189110 w 955"/>
              <a:gd name="T5" fmla="*/ 303213 h 383"/>
              <a:gd name="T6" fmla="*/ 315449 w 955"/>
              <a:gd name="T7" fmla="*/ 0 h 383"/>
              <a:gd name="T8" fmla="*/ 442582 w 955"/>
              <a:gd name="T9" fmla="*/ 303213 h 383"/>
              <a:gd name="T10" fmla="*/ 568920 w 955"/>
              <a:gd name="T11" fmla="*/ 0 h 383"/>
              <a:gd name="T12" fmla="*/ 694464 w 955"/>
              <a:gd name="T13" fmla="*/ 303213 h 383"/>
              <a:gd name="T14" fmla="*/ 758825 w 955"/>
              <a:gd name="T15" fmla="*/ 152794 h 3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5" h="383">
                <a:moveTo>
                  <a:pt x="0" y="193"/>
                </a:moveTo>
                <a:lnTo>
                  <a:pt x="78" y="0"/>
                </a:lnTo>
                <a:lnTo>
                  <a:pt x="238" y="383"/>
                </a:lnTo>
                <a:lnTo>
                  <a:pt x="397" y="0"/>
                </a:lnTo>
                <a:lnTo>
                  <a:pt x="557" y="383"/>
                </a:lnTo>
                <a:lnTo>
                  <a:pt x="716" y="0"/>
                </a:lnTo>
                <a:lnTo>
                  <a:pt x="874" y="383"/>
                </a:lnTo>
                <a:lnTo>
                  <a:pt x="955" y="193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67" name="Line 4"/>
          <p:cNvSpPr>
            <a:spLocks noChangeShapeType="1"/>
          </p:cNvSpPr>
          <p:nvPr/>
        </p:nvSpPr>
        <p:spPr bwMode="auto">
          <a:xfrm>
            <a:off x="1442046" y="5024017"/>
            <a:ext cx="114300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68" name="Line 5"/>
          <p:cNvSpPr>
            <a:spLocks noChangeShapeType="1"/>
          </p:cNvSpPr>
          <p:nvPr/>
        </p:nvSpPr>
        <p:spPr bwMode="auto">
          <a:xfrm>
            <a:off x="1384896" y="4966867"/>
            <a:ext cx="228600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69" name="Line 6"/>
          <p:cNvSpPr>
            <a:spLocks noChangeShapeType="1"/>
          </p:cNvSpPr>
          <p:nvPr/>
        </p:nvSpPr>
        <p:spPr bwMode="auto">
          <a:xfrm>
            <a:off x="1327746" y="4909717"/>
            <a:ext cx="342900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0" name="Line 7"/>
          <p:cNvSpPr>
            <a:spLocks noChangeShapeType="1"/>
          </p:cNvSpPr>
          <p:nvPr/>
        </p:nvSpPr>
        <p:spPr bwMode="auto">
          <a:xfrm>
            <a:off x="1499196" y="4337026"/>
            <a:ext cx="1190" cy="57269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1" name="Line 8"/>
          <p:cNvSpPr>
            <a:spLocks noChangeShapeType="1"/>
          </p:cNvSpPr>
          <p:nvPr/>
        </p:nvSpPr>
        <p:spPr bwMode="auto">
          <a:xfrm>
            <a:off x="1929011" y="3729807"/>
            <a:ext cx="763191" cy="119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2" name="Line 9"/>
          <p:cNvSpPr>
            <a:spLocks noChangeShapeType="1"/>
          </p:cNvSpPr>
          <p:nvPr/>
        </p:nvSpPr>
        <p:spPr bwMode="auto">
          <a:xfrm>
            <a:off x="2794596" y="3729807"/>
            <a:ext cx="764381" cy="119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3" name="Line 10"/>
          <p:cNvSpPr>
            <a:spLocks noChangeShapeType="1"/>
          </p:cNvSpPr>
          <p:nvPr/>
        </p:nvSpPr>
        <p:spPr bwMode="auto">
          <a:xfrm>
            <a:off x="2692203" y="3425007"/>
            <a:ext cx="1190" cy="61079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4" name="Line 11"/>
          <p:cNvSpPr>
            <a:spLocks noChangeShapeType="1"/>
          </p:cNvSpPr>
          <p:nvPr/>
        </p:nvSpPr>
        <p:spPr bwMode="auto">
          <a:xfrm flipH="1">
            <a:off x="2788642" y="3564310"/>
            <a:ext cx="5954" cy="385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5" name="Line 12"/>
          <p:cNvSpPr>
            <a:spLocks noChangeShapeType="1"/>
          </p:cNvSpPr>
          <p:nvPr/>
        </p:nvSpPr>
        <p:spPr bwMode="auto">
          <a:xfrm>
            <a:off x="2590999" y="3485729"/>
            <a:ext cx="1191" cy="8215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6" name="Line 13"/>
          <p:cNvSpPr>
            <a:spLocks noChangeShapeType="1"/>
          </p:cNvSpPr>
          <p:nvPr/>
        </p:nvSpPr>
        <p:spPr bwMode="auto">
          <a:xfrm>
            <a:off x="2549327" y="3526211"/>
            <a:ext cx="82153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7" name="Line 14"/>
          <p:cNvSpPr>
            <a:spLocks noChangeShapeType="1"/>
          </p:cNvSpPr>
          <p:nvPr/>
        </p:nvSpPr>
        <p:spPr bwMode="auto">
          <a:xfrm>
            <a:off x="2855317" y="3526211"/>
            <a:ext cx="82154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8" name="Freeform 15"/>
          <p:cNvSpPr/>
          <p:nvPr/>
        </p:nvSpPr>
        <p:spPr bwMode="auto">
          <a:xfrm>
            <a:off x="3418484" y="5539557"/>
            <a:ext cx="569119" cy="226219"/>
          </a:xfrm>
          <a:custGeom>
            <a:avLst/>
            <a:gdLst>
              <a:gd name="T0" fmla="*/ 0 w 955"/>
              <a:gd name="T1" fmla="*/ 150813 h 380"/>
              <a:gd name="T2" fmla="*/ 64361 w 955"/>
              <a:gd name="T3" fmla="*/ 0 h 380"/>
              <a:gd name="T4" fmla="*/ 189110 w 955"/>
              <a:gd name="T5" fmla="*/ 301625 h 380"/>
              <a:gd name="T6" fmla="*/ 316243 w 955"/>
              <a:gd name="T7" fmla="*/ 0 h 380"/>
              <a:gd name="T8" fmla="*/ 442582 w 955"/>
              <a:gd name="T9" fmla="*/ 301625 h 380"/>
              <a:gd name="T10" fmla="*/ 569715 w 955"/>
              <a:gd name="T11" fmla="*/ 0 h 380"/>
              <a:gd name="T12" fmla="*/ 696053 w 955"/>
              <a:gd name="T13" fmla="*/ 301625 h 380"/>
              <a:gd name="T14" fmla="*/ 758825 w 955"/>
              <a:gd name="T15" fmla="*/ 150813 h 3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5" h="380">
                <a:moveTo>
                  <a:pt x="0" y="190"/>
                </a:moveTo>
                <a:lnTo>
                  <a:pt x="81" y="0"/>
                </a:lnTo>
                <a:lnTo>
                  <a:pt x="238" y="380"/>
                </a:lnTo>
                <a:lnTo>
                  <a:pt x="398" y="0"/>
                </a:lnTo>
                <a:lnTo>
                  <a:pt x="557" y="380"/>
                </a:lnTo>
                <a:lnTo>
                  <a:pt x="717" y="0"/>
                </a:lnTo>
                <a:lnTo>
                  <a:pt x="876" y="380"/>
                </a:lnTo>
                <a:lnTo>
                  <a:pt x="955" y="19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79" name="Line 16"/>
          <p:cNvSpPr>
            <a:spLocks noChangeShapeType="1"/>
          </p:cNvSpPr>
          <p:nvPr/>
        </p:nvSpPr>
        <p:spPr bwMode="auto">
          <a:xfrm flipH="1">
            <a:off x="4261446" y="4365601"/>
            <a:ext cx="139303" cy="119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0" name="Freeform 17"/>
          <p:cNvSpPr/>
          <p:nvPr/>
        </p:nvSpPr>
        <p:spPr bwMode="auto">
          <a:xfrm>
            <a:off x="4261446" y="4401319"/>
            <a:ext cx="139303" cy="34529"/>
          </a:xfrm>
          <a:custGeom>
            <a:avLst/>
            <a:gdLst>
              <a:gd name="T0" fmla="*/ 0 w 235"/>
              <a:gd name="T1" fmla="*/ 46038 h 57"/>
              <a:gd name="T2" fmla="*/ 16598 w 235"/>
              <a:gd name="T3" fmla="*/ 29077 h 57"/>
              <a:gd name="T4" fmla="*/ 34776 w 235"/>
              <a:gd name="T5" fmla="*/ 15346 h 57"/>
              <a:gd name="T6" fmla="*/ 57697 w 235"/>
              <a:gd name="T7" fmla="*/ 5654 h 57"/>
              <a:gd name="T8" fmla="*/ 80618 w 235"/>
              <a:gd name="T9" fmla="*/ 0 h 57"/>
              <a:gd name="T10" fmla="*/ 105119 w 235"/>
              <a:gd name="T11" fmla="*/ 0 h 57"/>
              <a:gd name="T12" fmla="*/ 128040 w 235"/>
              <a:gd name="T13" fmla="*/ 5654 h 57"/>
              <a:gd name="T14" fmla="*/ 150170 w 235"/>
              <a:gd name="T15" fmla="*/ 15346 h 57"/>
              <a:gd name="T16" fmla="*/ 168349 w 235"/>
              <a:gd name="T17" fmla="*/ 29077 h 57"/>
              <a:gd name="T18" fmla="*/ 185737 w 235"/>
              <a:gd name="T19" fmla="*/ 46038 h 5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35" h="57">
                <a:moveTo>
                  <a:pt x="0" y="57"/>
                </a:moveTo>
                <a:lnTo>
                  <a:pt x="21" y="36"/>
                </a:lnTo>
                <a:lnTo>
                  <a:pt x="44" y="19"/>
                </a:lnTo>
                <a:lnTo>
                  <a:pt x="73" y="7"/>
                </a:lnTo>
                <a:lnTo>
                  <a:pt x="102" y="0"/>
                </a:lnTo>
                <a:lnTo>
                  <a:pt x="133" y="0"/>
                </a:lnTo>
                <a:lnTo>
                  <a:pt x="162" y="7"/>
                </a:lnTo>
                <a:lnTo>
                  <a:pt x="190" y="19"/>
                </a:lnTo>
                <a:lnTo>
                  <a:pt x="213" y="36"/>
                </a:lnTo>
                <a:lnTo>
                  <a:pt x="235" y="57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1" name="Line 18"/>
          <p:cNvSpPr>
            <a:spLocks noChangeShapeType="1"/>
          </p:cNvSpPr>
          <p:nvPr/>
        </p:nvSpPr>
        <p:spPr bwMode="auto">
          <a:xfrm flipV="1">
            <a:off x="4330503" y="4401320"/>
            <a:ext cx="1190" cy="2797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2" name="Line 19"/>
          <p:cNvSpPr>
            <a:spLocks noChangeShapeType="1"/>
          </p:cNvSpPr>
          <p:nvPr/>
        </p:nvSpPr>
        <p:spPr bwMode="auto">
          <a:xfrm flipV="1">
            <a:off x="4330503" y="4121523"/>
            <a:ext cx="1190" cy="24407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3" name="Line 20"/>
          <p:cNvSpPr>
            <a:spLocks noChangeShapeType="1"/>
          </p:cNvSpPr>
          <p:nvPr/>
        </p:nvSpPr>
        <p:spPr bwMode="auto">
          <a:xfrm>
            <a:off x="4330502" y="3885780"/>
            <a:ext cx="252413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4" name="Line 21"/>
          <p:cNvSpPr>
            <a:spLocks noChangeShapeType="1"/>
          </p:cNvSpPr>
          <p:nvPr/>
        </p:nvSpPr>
        <p:spPr bwMode="auto">
          <a:xfrm>
            <a:off x="5065117" y="3885780"/>
            <a:ext cx="252413" cy="119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5" name="Freeform 22"/>
          <p:cNvSpPr>
            <a:spLocks noEditPoints="1"/>
          </p:cNvSpPr>
          <p:nvPr/>
        </p:nvSpPr>
        <p:spPr bwMode="auto">
          <a:xfrm>
            <a:off x="4582915" y="3859585"/>
            <a:ext cx="482203" cy="52388"/>
          </a:xfrm>
          <a:custGeom>
            <a:avLst/>
            <a:gdLst>
              <a:gd name="T0" fmla="*/ 571588 w 811"/>
              <a:gd name="T1" fmla="*/ 34925 h 88"/>
              <a:gd name="T2" fmla="*/ 608055 w 811"/>
              <a:gd name="T3" fmla="*/ 34925 h 88"/>
              <a:gd name="T4" fmla="*/ 642937 w 811"/>
              <a:gd name="T5" fmla="*/ 34925 h 88"/>
              <a:gd name="T6" fmla="*/ 571588 w 811"/>
              <a:gd name="T7" fmla="*/ 34925 h 88"/>
              <a:gd name="T8" fmla="*/ 0 w 811"/>
              <a:gd name="T9" fmla="*/ 34925 h 88"/>
              <a:gd name="T10" fmla="*/ 3171 w 811"/>
              <a:gd name="T11" fmla="*/ 23019 h 88"/>
              <a:gd name="T12" fmla="*/ 10306 w 811"/>
              <a:gd name="T13" fmla="*/ 10319 h 88"/>
              <a:gd name="T14" fmla="*/ 22990 w 811"/>
              <a:gd name="T15" fmla="*/ 3175 h 88"/>
              <a:gd name="T16" fmla="*/ 36467 w 811"/>
              <a:gd name="T17" fmla="*/ 0 h 88"/>
              <a:gd name="T18" fmla="*/ 49945 w 811"/>
              <a:gd name="T19" fmla="*/ 3175 h 88"/>
              <a:gd name="T20" fmla="*/ 61043 w 811"/>
              <a:gd name="T21" fmla="*/ 10319 h 88"/>
              <a:gd name="T22" fmla="*/ 68971 w 811"/>
              <a:gd name="T23" fmla="*/ 23019 h 88"/>
              <a:gd name="T24" fmla="*/ 71349 w 811"/>
              <a:gd name="T25" fmla="*/ 34925 h 88"/>
              <a:gd name="T26" fmla="*/ 68971 w 811"/>
              <a:gd name="T27" fmla="*/ 49213 h 88"/>
              <a:gd name="T28" fmla="*/ 61043 w 811"/>
              <a:gd name="T29" fmla="*/ 61119 h 88"/>
              <a:gd name="T30" fmla="*/ 49945 w 811"/>
              <a:gd name="T31" fmla="*/ 69056 h 88"/>
              <a:gd name="T32" fmla="*/ 36467 w 811"/>
              <a:gd name="T33" fmla="*/ 69850 h 88"/>
              <a:gd name="T34" fmla="*/ 22990 w 811"/>
              <a:gd name="T35" fmla="*/ 69056 h 88"/>
              <a:gd name="T36" fmla="*/ 10306 w 811"/>
              <a:gd name="T37" fmla="*/ 61119 h 88"/>
              <a:gd name="T38" fmla="*/ 3171 w 811"/>
              <a:gd name="T39" fmla="*/ 49213 h 88"/>
              <a:gd name="T40" fmla="*/ 0 w 811"/>
              <a:gd name="T41" fmla="*/ 34925 h 8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811" h="88">
                <a:moveTo>
                  <a:pt x="721" y="44"/>
                </a:moveTo>
                <a:lnTo>
                  <a:pt x="767" y="44"/>
                </a:lnTo>
                <a:lnTo>
                  <a:pt x="811" y="44"/>
                </a:lnTo>
                <a:lnTo>
                  <a:pt x="721" y="44"/>
                </a:lnTo>
                <a:close/>
                <a:moveTo>
                  <a:pt x="0" y="44"/>
                </a:moveTo>
                <a:lnTo>
                  <a:pt x="4" y="29"/>
                </a:lnTo>
                <a:lnTo>
                  <a:pt x="13" y="13"/>
                </a:lnTo>
                <a:lnTo>
                  <a:pt x="29" y="4"/>
                </a:lnTo>
                <a:lnTo>
                  <a:pt x="46" y="0"/>
                </a:lnTo>
                <a:lnTo>
                  <a:pt x="63" y="4"/>
                </a:lnTo>
                <a:lnTo>
                  <a:pt x="77" y="13"/>
                </a:lnTo>
                <a:lnTo>
                  <a:pt x="87" y="29"/>
                </a:lnTo>
                <a:lnTo>
                  <a:pt x="90" y="44"/>
                </a:lnTo>
                <a:lnTo>
                  <a:pt x="87" y="62"/>
                </a:lnTo>
                <a:lnTo>
                  <a:pt x="77" y="77"/>
                </a:lnTo>
                <a:lnTo>
                  <a:pt x="63" y="87"/>
                </a:lnTo>
                <a:lnTo>
                  <a:pt x="46" y="88"/>
                </a:lnTo>
                <a:lnTo>
                  <a:pt x="29" y="87"/>
                </a:lnTo>
                <a:lnTo>
                  <a:pt x="13" y="77"/>
                </a:lnTo>
                <a:lnTo>
                  <a:pt x="4" y="62"/>
                </a:lnTo>
                <a:lnTo>
                  <a:pt x="0" y="44"/>
                </a:ln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6" name="Line 23"/>
          <p:cNvSpPr>
            <a:spLocks noChangeShapeType="1"/>
          </p:cNvSpPr>
          <p:nvPr/>
        </p:nvSpPr>
        <p:spPr bwMode="auto">
          <a:xfrm flipV="1">
            <a:off x="4635302" y="3752429"/>
            <a:ext cx="350044" cy="12263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7" name="Freeform 24"/>
          <p:cNvSpPr/>
          <p:nvPr/>
        </p:nvSpPr>
        <p:spPr bwMode="auto">
          <a:xfrm>
            <a:off x="5011540" y="3832200"/>
            <a:ext cx="53578" cy="53579"/>
          </a:xfrm>
          <a:custGeom>
            <a:avLst/>
            <a:gdLst>
              <a:gd name="T0" fmla="*/ 0 w 90"/>
              <a:gd name="T1" fmla="*/ 71438 h 90"/>
              <a:gd name="T2" fmla="*/ 71437 w 90"/>
              <a:gd name="T3" fmla="*/ 71438 h 90"/>
              <a:gd name="T4" fmla="*/ 36512 w 90"/>
              <a:gd name="T5" fmla="*/ 0 h 90"/>
              <a:gd name="T6" fmla="*/ 0 w 90"/>
              <a:gd name="T7" fmla="*/ 71438 h 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0" h="90">
                <a:moveTo>
                  <a:pt x="0" y="90"/>
                </a:moveTo>
                <a:lnTo>
                  <a:pt x="90" y="90"/>
                </a:lnTo>
                <a:lnTo>
                  <a:pt x="46" y="0"/>
                </a:lnTo>
                <a:lnTo>
                  <a:pt x="0" y="90"/>
                </a:lnTo>
                <a:close/>
              </a:path>
            </a:pathLst>
          </a:custGeom>
          <a:solidFill>
            <a:srgbClr val="000000"/>
          </a:solidFill>
          <a:ln w="19050" cmpd="sng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8" name="Line 25"/>
          <p:cNvSpPr>
            <a:spLocks noChangeShapeType="1"/>
          </p:cNvSpPr>
          <p:nvPr/>
        </p:nvSpPr>
        <p:spPr bwMode="auto">
          <a:xfrm flipH="1">
            <a:off x="1499196" y="3729807"/>
            <a:ext cx="429815" cy="60721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89" name="Line 26"/>
          <p:cNvSpPr>
            <a:spLocks noChangeShapeType="1"/>
          </p:cNvSpPr>
          <p:nvPr/>
        </p:nvSpPr>
        <p:spPr bwMode="auto">
          <a:xfrm flipH="1" flipV="1">
            <a:off x="1929011" y="3729807"/>
            <a:ext cx="1028700" cy="77866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90" name="Line 27"/>
          <p:cNvSpPr>
            <a:spLocks noChangeShapeType="1"/>
          </p:cNvSpPr>
          <p:nvPr/>
        </p:nvSpPr>
        <p:spPr bwMode="auto">
          <a:xfrm flipH="1" flipV="1">
            <a:off x="1929012" y="3729807"/>
            <a:ext cx="1489472" cy="192286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91" name="Line 28"/>
          <p:cNvSpPr>
            <a:spLocks noChangeShapeType="1"/>
          </p:cNvSpPr>
          <p:nvPr/>
        </p:nvSpPr>
        <p:spPr bwMode="auto">
          <a:xfrm>
            <a:off x="3558977" y="3729807"/>
            <a:ext cx="771525" cy="39171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92" name="Line 29"/>
          <p:cNvSpPr>
            <a:spLocks noChangeShapeType="1"/>
          </p:cNvSpPr>
          <p:nvPr/>
        </p:nvSpPr>
        <p:spPr bwMode="auto">
          <a:xfrm flipH="1" flipV="1">
            <a:off x="3526830" y="4508476"/>
            <a:ext cx="803672" cy="17264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93" name="Line 30"/>
          <p:cNvSpPr>
            <a:spLocks noChangeShapeType="1"/>
          </p:cNvSpPr>
          <p:nvPr/>
        </p:nvSpPr>
        <p:spPr bwMode="auto">
          <a:xfrm flipH="1" flipV="1">
            <a:off x="3558977" y="3729807"/>
            <a:ext cx="771525" cy="15597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94" name="Line 31"/>
          <p:cNvSpPr>
            <a:spLocks noChangeShapeType="1"/>
          </p:cNvSpPr>
          <p:nvPr/>
        </p:nvSpPr>
        <p:spPr bwMode="auto">
          <a:xfrm flipH="1">
            <a:off x="3987602" y="3885779"/>
            <a:ext cx="1329928" cy="17668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5395" name="Text Box 32"/>
          <p:cNvSpPr txBox="1">
            <a:spLocks noChangeArrowheads="1"/>
          </p:cNvSpPr>
          <p:nvPr/>
        </p:nvSpPr>
        <p:spPr bwMode="auto">
          <a:xfrm>
            <a:off x="1175624" y="6615559"/>
            <a:ext cx="47163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Nodes = battery, switch, resistor, etc.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Edges = connections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396" name="Oval 33"/>
          <p:cNvSpPr>
            <a:spLocks noChangeArrowheads="1"/>
          </p:cNvSpPr>
          <p:nvPr/>
        </p:nvSpPr>
        <p:spPr bwMode="auto">
          <a:xfrm>
            <a:off x="2852936" y="4067944"/>
            <a:ext cx="763191" cy="763191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397" name="Oval 34"/>
          <p:cNvSpPr>
            <a:spLocks noChangeArrowheads="1"/>
          </p:cNvSpPr>
          <p:nvPr/>
        </p:nvSpPr>
        <p:spPr bwMode="auto">
          <a:xfrm>
            <a:off x="3305374" y="5268094"/>
            <a:ext cx="763191" cy="763191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398" name="Oval 35"/>
          <p:cNvSpPr>
            <a:spLocks noChangeArrowheads="1"/>
          </p:cNvSpPr>
          <p:nvPr/>
        </p:nvSpPr>
        <p:spPr bwMode="auto">
          <a:xfrm>
            <a:off x="2365971" y="3349998"/>
            <a:ext cx="763190" cy="7631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399" name="Oval 36"/>
          <p:cNvSpPr>
            <a:spLocks noChangeArrowheads="1"/>
          </p:cNvSpPr>
          <p:nvPr/>
        </p:nvSpPr>
        <p:spPr bwMode="auto">
          <a:xfrm>
            <a:off x="4445992" y="3463107"/>
            <a:ext cx="763191" cy="763191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400" name="Oval 37"/>
          <p:cNvSpPr>
            <a:spLocks noChangeArrowheads="1"/>
          </p:cNvSpPr>
          <p:nvPr/>
        </p:nvSpPr>
        <p:spPr bwMode="auto">
          <a:xfrm>
            <a:off x="3866159" y="4031036"/>
            <a:ext cx="763190" cy="7631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401" name="Oval 38"/>
          <p:cNvSpPr>
            <a:spLocks noChangeArrowheads="1"/>
          </p:cNvSpPr>
          <p:nvPr/>
        </p:nvSpPr>
        <p:spPr bwMode="auto">
          <a:xfrm>
            <a:off x="1131292" y="4571580"/>
            <a:ext cx="763191" cy="76319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zh-CN" sz="1800">
              <a:solidFill>
                <a:srgbClr val="0000FF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402" name="Text Box 39"/>
          <p:cNvSpPr txBox="1">
            <a:spLocks noChangeArrowheads="1"/>
          </p:cNvSpPr>
          <p:nvPr/>
        </p:nvSpPr>
        <p:spPr bwMode="auto">
          <a:xfrm>
            <a:off x="1536234" y="3004557"/>
            <a:ext cx="9829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Battery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403" name="Text Box 40"/>
          <p:cNvSpPr txBox="1">
            <a:spLocks noChangeArrowheads="1"/>
          </p:cNvSpPr>
          <p:nvPr/>
        </p:nvSpPr>
        <p:spPr bwMode="auto">
          <a:xfrm>
            <a:off x="4192343" y="2953916"/>
            <a:ext cx="9204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Switch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5404" name="Text Box 41"/>
          <p:cNvSpPr txBox="1">
            <a:spLocks noChangeArrowheads="1"/>
          </p:cNvSpPr>
          <p:nvPr/>
        </p:nvSpPr>
        <p:spPr bwMode="auto">
          <a:xfrm>
            <a:off x="3991174" y="5783635"/>
            <a:ext cx="10695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Resistor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Representing Electrical Circuits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029327-4BEE-4E72-9938-25D49C27CAA6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ED8883-E58A-4092-B1CA-65EC3410F9E7}" type="slidenum">
              <a:rPr lang="en-US" altLang="zh-CN" sz="1050"/>
            </a:fld>
            <a:endParaRPr lang="en-US" altLang="zh-CN" sz="105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Program statements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16400" name="Rectangle 13"/>
          <p:cNvSpPr>
            <a:spLocks noChangeArrowheads="1"/>
          </p:cNvSpPr>
          <p:nvPr/>
        </p:nvSpPr>
        <p:spPr bwMode="auto">
          <a:xfrm>
            <a:off x="764704" y="2730010"/>
            <a:ext cx="1150956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smtClean="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x1=</a:t>
            </a:r>
            <a:r>
              <a:rPr lang="en-US" altLang="zh-CN" dirty="0" err="1" smtClean="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q+y</a:t>
            </a:r>
            <a:r>
              <a:rPr lang="en-US" altLang="zh-CN" dirty="0" smtClean="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*z</a:t>
            </a:r>
            <a:endParaRPr lang="en-US" altLang="zh-CN" dirty="0" smtClean="0">
              <a:solidFill>
                <a:srgbClr val="000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x2=y*z-q</a:t>
            </a:r>
            <a:endParaRPr lang="en-US" altLang="zh-CN" dirty="0">
              <a:solidFill>
                <a:srgbClr val="000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endParaRPr lang="en-US" altLang="zh-CN" sz="32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6453" name="Text Box 66"/>
          <p:cNvSpPr txBox="1">
            <a:spLocks noChangeArrowheads="1"/>
          </p:cNvSpPr>
          <p:nvPr/>
        </p:nvSpPr>
        <p:spPr bwMode="auto">
          <a:xfrm>
            <a:off x="1676298" y="7160687"/>
            <a:ext cx="35060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Nodes = symbols/operators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Edges = relationships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71" name="Line 3"/>
          <p:cNvSpPr>
            <a:spLocks noChangeShapeType="1"/>
          </p:cNvSpPr>
          <p:nvPr/>
        </p:nvSpPr>
        <p:spPr bwMode="auto">
          <a:xfrm flipV="1">
            <a:off x="4010099" y="3986336"/>
            <a:ext cx="973138" cy="571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2" name="Line 4"/>
          <p:cNvSpPr>
            <a:spLocks noChangeShapeType="1"/>
          </p:cNvSpPr>
          <p:nvPr/>
        </p:nvSpPr>
        <p:spPr bwMode="auto">
          <a:xfrm flipV="1">
            <a:off x="4868937" y="3986336"/>
            <a:ext cx="114300" cy="571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3" name="Line 5"/>
          <p:cNvSpPr>
            <a:spLocks noChangeShapeType="1"/>
          </p:cNvSpPr>
          <p:nvPr/>
        </p:nvSpPr>
        <p:spPr bwMode="auto">
          <a:xfrm flipH="1" flipV="1">
            <a:off x="4010099" y="3986336"/>
            <a:ext cx="858838" cy="571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4" name="Line 6"/>
          <p:cNvSpPr>
            <a:spLocks noChangeShapeType="1"/>
          </p:cNvSpPr>
          <p:nvPr/>
        </p:nvSpPr>
        <p:spPr bwMode="auto">
          <a:xfrm flipV="1">
            <a:off x="4010099" y="3986336"/>
            <a:ext cx="1588" cy="571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5" name="Line 7"/>
          <p:cNvSpPr>
            <a:spLocks noChangeShapeType="1"/>
          </p:cNvSpPr>
          <p:nvPr/>
        </p:nvSpPr>
        <p:spPr bwMode="auto">
          <a:xfrm flipV="1">
            <a:off x="3267149" y="3527549"/>
            <a:ext cx="342900" cy="514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6" name="Line 8"/>
          <p:cNvSpPr>
            <a:spLocks noChangeShapeType="1"/>
          </p:cNvSpPr>
          <p:nvPr/>
        </p:nvSpPr>
        <p:spPr bwMode="auto">
          <a:xfrm flipH="1" flipV="1">
            <a:off x="3610049" y="3527549"/>
            <a:ext cx="400050" cy="458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7" name="Line 9"/>
          <p:cNvSpPr>
            <a:spLocks noChangeShapeType="1"/>
          </p:cNvSpPr>
          <p:nvPr/>
        </p:nvSpPr>
        <p:spPr bwMode="auto">
          <a:xfrm flipV="1">
            <a:off x="4983237" y="3527549"/>
            <a:ext cx="457200" cy="458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8" name="Line 10"/>
          <p:cNvSpPr>
            <a:spLocks noChangeShapeType="1"/>
          </p:cNvSpPr>
          <p:nvPr/>
        </p:nvSpPr>
        <p:spPr bwMode="auto">
          <a:xfrm flipH="1" flipV="1">
            <a:off x="5440437" y="3527549"/>
            <a:ext cx="457200" cy="458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79" name="Line 11"/>
          <p:cNvSpPr>
            <a:spLocks noChangeShapeType="1"/>
          </p:cNvSpPr>
          <p:nvPr/>
        </p:nvSpPr>
        <p:spPr bwMode="auto">
          <a:xfrm flipV="1">
            <a:off x="3610049" y="2956049"/>
            <a:ext cx="1588" cy="571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0" name="Line 12"/>
          <p:cNvSpPr>
            <a:spLocks noChangeShapeType="1"/>
          </p:cNvSpPr>
          <p:nvPr/>
        </p:nvSpPr>
        <p:spPr bwMode="auto">
          <a:xfrm flipV="1">
            <a:off x="5440437" y="2956049"/>
            <a:ext cx="1587" cy="5715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1" name="Line 15"/>
          <p:cNvSpPr>
            <a:spLocks noChangeShapeType="1"/>
          </p:cNvSpPr>
          <p:nvPr/>
        </p:nvSpPr>
        <p:spPr bwMode="auto">
          <a:xfrm flipH="1" flipV="1">
            <a:off x="4295849" y="5932611"/>
            <a:ext cx="573088" cy="514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2" name="Line 16"/>
          <p:cNvSpPr>
            <a:spLocks noChangeShapeType="1"/>
          </p:cNvSpPr>
          <p:nvPr/>
        </p:nvSpPr>
        <p:spPr bwMode="auto">
          <a:xfrm flipV="1">
            <a:off x="3781499" y="5932611"/>
            <a:ext cx="514350" cy="514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3" name="Line 17"/>
          <p:cNvSpPr>
            <a:spLocks noChangeShapeType="1"/>
          </p:cNvSpPr>
          <p:nvPr/>
        </p:nvSpPr>
        <p:spPr bwMode="auto">
          <a:xfrm flipV="1">
            <a:off x="3267149" y="5530974"/>
            <a:ext cx="400050" cy="401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4" name="Line 18"/>
          <p:cNvSpPr>
            <a:spLocks noChangeShapeType="1"/>
          </p:cNvSpPr>
          <p:nvPr/>
        </p:nvSpPr>
        <p:spPr bwMode="auto">
          <a:xfrm flipH="1" flipV="1">
            <a:off x="3667199" y="5530974"/>
            <a:ext cx="628650" cy="401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5" name="Line 19"/>
          <p:cNvSpPr>
            <a:spLocks noChangeShapeType="1"/>
          </p:cNvSpPr>
          <p:nvPr/>
        </p:nvSpPr>
        <p:spPr bwMode="auto">
          <a:xfrm flipV="1">
            <a:off x="4295849" y="5530974"/>
            <a:ext cx="573088" cy="4016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6" name="Line 20"/>
          <p:cNvSpPr>
            <a:spLocks noChangeShapeType="1"/>
          </p:cNvSpPr>
          <p:nvPr/>
        </p:nvSpPr>
        <p:spPr bwMode="auto">
          <a:xfrm flipH="1" flipV="1">
            <a:off x="4868937" y="5530974"/>
            <a:ext cx="512762" cy="458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7" name="Line 21"/>
          <p:cNvSpPr>
            <a:spLocks noChangeShapeType="1"/>
          </p:cNvSpPr>
          <p:nvPr/>
        </p:nvSpPr>
        <p:spPr bwMode="auto">
          <a:xfrm flipV="1">
            <a:off x="3667199" y="5072186"/>
            <a:ext cx="1588" cy="4587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8" name="Line 22"/>
          <p:cNvSpPr>
            <a:spLocks noChangeShapeType="1"/>
          </p:cNvSpPr>
          <p:nvPr/>
        </p:nvSpPr>
        <p:spPr bwMode="auto">
          <a:xfrm flipV="1">
            <a:off x="4868937" y="5072186"/>
            <a:ext cx="1587" cy="4587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89" name="Line 23"/>
          <p:cNvSpPr>
            <a:spLocks noChangeShapeType="1"/>
          </p:cNvSpPr>
          <p:nvPr/>
        </p:nvSpPr>
        <p:spPr bwMode="auto">
          <a:xfrm>
            <a:off x="2636912" y="4788024"/>
            <a:ext cx="3432175" cy="1587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0" name="Rectangle 24"/>
          <p:cNvSpPr>
            <a:spLocks noChangeArrowheads="1"/>
          </p:cNvSpPr>
          <p:nvPr/>
        </p:nvSpPr>
        <p:spPr bwMode="auto">
          <a:xfrm>
            <a:off x="1876499" y="3733924"/>
            <a:ext cx="7053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Naive: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1" name="Rectangle 25"/>
          <p:cNvSpPr>
            <a:spLocks noChangeArrowheads="1"/>
          </p:cNvSpPr>
          <p:nvPr/>
        </p:nvSpPr>
        <p:spPr bwMode="auto">
          <a:xfrm>
            <a:off x="1762199" y="5100761"/>
            <a:ext cx="920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common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2" name="Rectangle 26"/>
          <p:cNvSpPr>
            <a:spLocks noChangeArrowheads="1"/>
          </p:cNvSpPr>
          <p:nvPr/>
        </p:nvSpPr>
        <p:spPr bwMode="auto">
          <a:xfrm>
            <a:off x="1168474" y="5375399"/>
            <a:ext cx="154208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subexpression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3" name="Rectangle 27"/>
          <p:cNvSpPr>
            <a:spLocks noChangeArrowheads="1"/>
          </p:cNvSpPr>
          <p:nvPr/>
        </p:nvSpPr>
        <p:spPr bwMode="auto">
          <a:xfrm>
            <a:off x="1535187" y="5650036"/>
            <a:ext cx="123912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eliminated: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4" name="Freeform 28"/>
          <p:cNvSpPr/>
          <p:nvPr/>
        </p:nvSpPr>
        <p:spPr bwMode="auto">
          <a:xfrm>
            <a:off x="3838649" y="4387974"/>
            <a:ext cx="342900" cy="341312"/>
          </a:xfrm>
          <a:custGeom>
            <a:avLst/>
            <a:gdLst>
              <a:gd name="T0" fmla="*/ 0 w 433"/>
              <a:gd name="T1" fmla="*/ 171052 h 431"/>
              <a:gd name="T2" fmla="*/ 1584 w 433"/>
              <a:gd name="T3" fmla="*/ 138584 h 431"/>
              <a:gd name="T4" fmla="*/ 11087 w 433"/>
              <a:gd name="T5" fmla="*/ 108491 h 431"/>
              <a:gd name="T6" fmla="*/ 24549 w 433"/>
              <a:gd name="T7" fmla="*/ 79191 h 431"/>
              <a:gd name="T8" fmla="*/ 44347 w 433"/>
              <a:gd name="T9" fmla="*/ 55434 h 431"/>
              <a:gd name="T10" fmla="*/ 67313 w 433"/>
              <a:gd name="T11" fmla="*/ 34052 h 431"/>
              <a:gd name="T12" fmla="*/ 95030 w 433"/>
              <a:gd name="T13" fmla="*/ 17422 h 431"/>
              <a:gd name="T14" fmla="*/ 123539 w 433"/>
              <a:gd name="T15" fmla="*/ 4751 h 431"/>
              <a:gd name="T16" fmla="*/ 155216 w 433"/>
              <a:gd name="T17" fmla="*/ 0 h 431"/>
              <a:gd name="T18" fmla="*/ 186100 w 433"/>
              <a:gd name="T19" fmla="*/ 0 h 431"/>
              <a:gd name="T20" fmla="*/ 217777 w 433"/>
              <a:gd name="T21" fmla="*/ 4751 h 431"/>
              <a:gd name="T22" fmla="*/ 247078 w 433"/>
              <a:gd name="T23" fmla="*/ 17422 h 431"/>
              <a:gd name="T24" fmla="*/ 274003 w 433"/>
              <a:gd name="T25" fmla="*/ 34052 h 431"/>
              <a:gd name="T26" fmla="*/ 296969 w 433"/>
              <a:gd name="T27" fmla="*/ 55434 h 431"/>
              <a:gd name="T28" fmla="*/ 316767 w 433"/>
              <a:gd name="T29" fmla="*/ 79191 h 431"/>
              <a:gd name="T30" fmla="*/ 330229 w 433"/>
              <a:gd name="T31" fmla="*/ 108491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4 h 431"/>
              <a:gd name="T38" fmla="*/ 330229 w 433"/>
              <a:gd name="T39" fmla="*/ 232029 h 431"/>
              <a:gd name="T40" fmla="*/ 316767 w 433"/>
              <a:gd name="T41" fmla="*/ 260537 h 431"/>
              <a:gd name="T42" fmla="*/ 296969 w 433"/>
              <a:gd name="T43" fmla="*/ 285087 h 431"/>
              <a:gd name="T44" fmla="*/ 274003 w 433"/>
              <a:gd name="T45" fmla="*/ 306468 h 431"/>
              <a:gd name="T46" fmla="*/ 247078 w 433"/>
              <a:gd name="T47" fmla="*/ 323098 h 431"/>
              <a:gd name="T48" fmla="*/ 217777 w 433"/>
              <a:gd name="T49" fmla="*/ 335769 h 431"/>
              <a:gd name="T50" fmla="*/ 186100 w 433"/>
              <a:gd name="T51" fmla="*/ 341312 h 431"/>
              <a:gd name="T52" fmla="*/ 155216 w 433"/>
              <a:gd name="T53" fmla="*/ 341312 h 431"/>
              <a:gd name="T54" fmla="*/ 123539 w 433"/>
              <a:gd name="T55" fmla="*/ 335769 h 431"/>
              <a:gd name="T56" fmla="*/ 95030 w 433"/>
              <a:gd name="T57" fmla="*/ 323098 h 431"/>
              <a:gd name="T58" fmla="*/ 67313 w 433"/>
              <a:gd name="T59" fmla="*/ 306468 h 431"/>
              <a:gd name="T60" fmla="*/ 44347 w 433"/>
              <a:gd name="T61" fmla="*/ 285087 h 431"/>
              <a:gd name="T62" fmla="*/ 24549 w 433"/>
              <a:gd name="T63" fmla="*/ 260537 h 431"/>
              <a:gd name="T64" fmla="*/ 11087 w 433"/>
              <a:gd name="T65" fmla="*/ 232029 h 431"/>
              <a:gd name="T66" fmla="*/ 1584 w 433"/>
              <a:gd name="T67" fmla="*/ 201144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2" y="175"/>
                </a:lnTo>
                <a:lnTo>
                  <a:pt x="14" y="137"/>
                </a:lnTo>
                <a:lnTo>
                  <a:pt x="31" y="100"/>
                </a:lnTo>
                <a:lnTo>
                  <a:pt x="56" y="70"/>
                </a:lnTo>
                <a:lnTo>
                  <a:pt x="85" y="43"/>
                </a:lnTo>
                <a:lnTo>
                  <a:pt x="120" y="22"/>
                </a:lnTo>
                <a:lnTo>
                  <a:pt x="156" y="6"/>
                </a:lnTo>
                <a:lnTo>
                  <a:pt x="196" y="0"/>
                </a:lnTo>
                <a:lnTo>
                  <a:pt x="235" y="0"/>
                </a:lnTo>
                <a:lnTo>
                  <a:pt x="275" y="6"/>
                </a:lnTo>
                <a:lnTo>
                  <a:pt x="312" y="22"/>
                </a:lnTo>
                <a:lnTo>
                  <a:pt x="346" y="43"/>
                </a:lnTo>
                <a:lnTo>
                  <a:pt x="375" y="70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3"/>
                </a:lnTo>
                <a:lnTo>
                  <a:pt x="400" y="329"/>
                </a:lnTo>
                <a:lnTo>
                  <a:pt x="375" y="360"/>
                </a:lnTo>
                <a:lnTo>
                  <a:pt x="346" y="387"/>
                </a:lnTo>
                <a:lnTo>
                  <a:pt x="312" y="408"/>
                </a:lnTo>
                <a:lnTo>
                  <a:pt x="275" y="424"/>
                </a:lnTo>
                <a:lnTo>
                  <a:pt x="235" y="431"/>
                </a:lnTo>
                <a:lnTo>
                  <a:pt x="196" y="431"/>
                </a:lnTo>
                <a:lnTo>
                  <a:pt x="156" y="424"/>
                </a:lnTo>
                <a:lnTo>
                  <a:pt x="120" y="408"/>
                </a:lnTo>
                <a:lnTo>
                  <a:pt x="85" y="387"/>
                </a:lnTo>
                <a:lnTo>
                  <a:pt x="56" y="360"/>
                </a:lnTo>
                <a:lnTo>
                  <a:pt x="31" y="329"/>
                </a:lnTo>
                <a:lnTo>
                  <a:pt x="14" y="293"/>
                </a:lnTo>
                <a:lnTo>
                  <a:pt x="2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5" name="Rectangle 29"/>
          <p:cNvSpPr>
            <a:spLocks noChangeArrowheads="1"/>
          </p:cNvSpPr>
          <p:nvPr/>
        </p:nvSpPr>
        <p:spPr bwMode="auto">
          <a:xfrm>
            <a:off x="3952949" y="4421311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y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6" name="Freeform 30"/>
          <p:cNvSpPr/>
          <p:nvPr/>
        </p:nvSpPr>
        <p:spPr bwMode="auto">
          <a:xfrm>
            <a:off x="4695899" y="4387974"/>
            <a:ext cx="342900" cy="341312"/>
          </a:xfrm>
          <a:custGeom>
            <a:avLst/>
            <a:gdLst>
              <a:gd name="T0" fmla="*/ 0 w 433"/>
              <a:gd name="T1" fmla="*/ 171052 h 431"/>
              <a:gd name="T2" fmla="*/ 3168 w 433"/>
              <a:gd name="T3" fmla="*/ 138584 h 431"/>
              <a:gd name="T4" fmla="*/ 12671 w 433"/>
              <a:gd name="T5" fmla="*/ 108491 h 431"/>
              <a:gd name="T6" fmla="*/ 26133 w 433"/>
              <a:gd name="T7" fmla="*/ 79191 h 431"/>
              <a:gd name="T8" fmla="*/ 44347 w 433"/>
              <a:gd name="T9" fmla="*/ 55434 h 431"/>
              <a:gd name="T10" fmla="*/ 68897 w 433"/>
              <a:gd name="T11" fmla="*/ 34052 h 431"/>
              <a:gd name="T12" fmla="*/ 94238 w 433"/>
              <a:gd name="T13" fmla="*/ 17422 h 431"/>
              <a:gd name="T14" fmla="*/ 125123 w 433"/>
              <a:gd name="T15" fmla="*/ 4751 h 431"/>
              <a:gd name="T16" fmla="*/ 155216 w 433"/>
              <a:gd name="T17" fmla="*/ 0 h 431"/>
              <a:gd name="T18" fmla="*/ 187684 w 433"/>
              <a:gd name="T19" fmla="*/ 0 h 431"/>
              <a:gd name="T20" fmla="*/ 217777 w 433"/>
              <a:gd name="T21" fmla="*/ 4751 h 431"/>
              <a:gd name="T22" fmla="*/ 248662 w 433"/>
              <a:gd name="T23" fmla="*/ 17422 h 431"/>
              <a:gd name="T24" fmla="*/ 274003 w 433"/>
              <a:gd name="T25" fmla="*/ 34052 h 431"/>
              <a:gd name="T26" fmla="*/ 298553 w 433"/>
              <a:gd name="T27" fmla="*/ 55434 h 431"/>
              <a:gd name="T28" fmla="*/ 316767 w 433"/>
              <a:gd name="T29" fmla="*/ 79191 h 431"/>
              <a:gd name="T30" fmla="*/ 330229 w 433"/>
              <a:gd name="T31" fmla="*/ 108491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4 h 431"/>
              <a:gd name="T38" fmla="*/ 330229 w 433"/>
              <a:gd name="T39" fmla="*/ 232029 h 431"/>
              <a:gd name="T40" fmla="*/ 316767 w 433"/>
              <a:gd name="T41" fmla="*/ 260537 h 431"/>
              <a:gd name="T42" fmla="*/ 298553 w 433"/>
              <a:gd name="T43" fmla="*/ 285087 h 431"/>
              <a:gd name="T44" fmla="*/ 274003 w 433"/>
              <a:gd name="T45" fmla="*/ 306468 h 431"/>
              <a:gd name="T46" fmla="*/ 248662 w 433"/>
              <a:gd name="T47" fmla="*/ 323098 h 431"/>
              <a:gd name="T48" fmla="*/ 217777 w 433"/>
              <a:gd name="T49" fmla="*/ 335769 h 431"/>
              <a:gd name="T50" fmla="*/ 187684 w 433"/>
              <a:gd name="T51" fmla="*/ 341312 h 431"/>
              <a:gd name="T52" fmla="*/ 155216 w 433"/>
              <a:gd name="T53" fmla="*/ 341312 h 431"/>
              <a:gd name="T54" fmla="*/ 125123 w 433"/>
              <a:gd name="T55" fmla="*/ 335769 h 431"/>
              <a:gd name="T56" fmla="*/ 94238 w 433"/>
              <a:gd name="T57" fmla="*/ 323098 h 431"/>
              <a:gd name="T58" fmla="*/ 68897 w 433"/>
              <a:gd name="T59" fmla="*/ 306468 h 431"/>
              <a:gd name="T60" fmla="*/ 44347 w 433"/>
              <a:gd name="T61" fmla="*/ 285087 h 431"/>
              <a:gd name="T62" fmla="*/ 26133 w 433"/>
              <a:gd name="T63" fmla="*/ 260537 h 431"/>
              <a:gd name="T64" fmla="*/ 12671 w 433"/>
              <a:gd name="T65" fmla="*/ 232029 h 431"/>
              <a:gd name="T66" fmla="*/ 3168 w 433"/>
              <a:gd name="T67" fmla="*/ 201144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70"/>
                </a:lnTo>
                <a:lnTo>
                  <a:pt x="87" y="43"/>
                </a:lnTo>
                <a:lnTo>
                  <a:pt x="119" y="22"/>
                </a:lnTo>
                <a:lnTo>
                  <a:pt x="158" y="6"/>
                </a:lnTo>
                <a:lnTo>
                  <a:pt x="196" y="0"/>
                </a:lnTo>
                <a:lnTo>
                  <a:pt x="237" y="0"/>
                </a:lnTo>
                <a:lnTo>
                  <a:pt x="275" y="6"/>
                </a:lnTo>
                <a:lnTo>
                  <a:pt x="314" y="22"/>
                </a:lnTo>
                <a:lnTo>
                  <a:pt x="346" y="43"/>
                </a:lnTo>
                <a:lnTo>
                  <a:pt x="377" y="70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3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4" y="408"/>
                </a:lnTo>
                <a:lnTo>
                  <a:pt x="275" y="424"/>
                </a:lnTo>
                <a:lnTo>
                  <a:pt x="237" y="431"/>
                </a:lnTo>
                <a:lnTo>
                  <a:pt x="196" y="431"/>
                </a:lnTo>
                <a:lnTo>
                  <a:pt x="158" y="424"/>
                </a:lnTo>
                <a:lnTo>
                  <a:pt x="119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3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7" name="Rectangle 31"/>
          <p:cNvSpPr>
            <a:spLocks noChangeArrowheads="1"/>
          </p:cNvSpPr>
          <p:nvPr/>
        </p:nvSpPr>
        <p:spPr bwMode="auto">
          <a:xfrm>
            <a:off x="4810199" y="4421311"/>
            <a:ext cx="114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z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98" name="Freeform 32"/>
          <p:cNvSpPr/>
          <p:nvPr/>
        </p:nvSpPr>
        <p:spPr bwMode="auto">
          <a:xfrm>
            <a:off x="4810199" y="3814886"/>
            <a:ext cx="342900" cy="341313"/>
          </a:xfrm>
          <a:custGeom>
            <a:avLst/>
            <a:gdLst>
              <a:gd name="T0" fmla="*/ 0 w 433"/>
              <a:gd name="T1" fmla="*/ 171052 h 431"/>
              <a:gd name="T2" fmla="*/ 3168 w 433"/>
              <a:gd name="T3" fmla="*/ 138584 h 431"/>
              <a:gd name="T4" fmla="*/ 12671 w 433"/>
              <a:gd name="T5" fmla="*/ 108492 h 431"/>
              <a:gd name="T6" fmla="*/ 26133 w 433"/>
              <a:gd name="T7" fmla="*/ 79191 h 431"/>
              <a:gd name="T8" fmla="*/ 44347 w 433"/>
              <a:gd name="T9" fmla="*/ 54642 h 431"/>
              <a:gd name="T10" fmla="*/ 68897 w 433"/>
              <a:gd name="T11" fmla="*/ 33260 h 431"/>
              <a:gd name="T12" fmla="*/ 95030 w 433"/>
              <a:gd name="T13" fmla="*/ 16630 h 431"/>
              <a:gd name="T14" fmla="*/ 125123 w 433"/>
              <a:gd name="T15" fmla="*/ 4751 h 431"/>
              <a:gd name="T16" fmla="*/ 155216 w 433"/>
              <a:gd name="T17" fmla="*/ 0 h 431"/>
              <a:gd name="T18" fmla="*/ 187684 w 433"/>
              <a:gd name="T19" fmla="*/ 0 h 431"/>
              <a:gd name="T20" fmla="*/ 217777 w 433"/>
              <a:gd name="T21" fmla="*/ 4751 h 431"/>
              <a:gd name="T22" fmla="*/ 248662 w 433"/>
              <a:gd name="T23" fmla="*/ 16630 h 431"/>
              <a:gd name="T24" fmla="*/ 274003 w 433"/>
              <a:gd name="T25" fmla="*/ 33260 h 431"/>
              <a:gd name="T26" fmla="*/ 298553 w 433"/>
              <a:gd name="T27" fmla="*/ 54642 h 431"/>
              <a:gd name="T28" fmla="*/ 316767 w 433"/>
              <a:gd name="T29" fmla="*/ 79191 h 431"/>
              <a:gd name="T30" fmla="*/ 330229 w 433"/>
              <a:gd name="T31" fmla="*/ 108492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5 h 431"/>
              <a:gd name="T38" fmla="*/ 330229 w 433"/>
              <a:gd name="T39" fmla="*/ 231238 h 431"/>
              <a:gd name="T40" fmla="*/ 316767 w 433"/>
              <a:gd name="T41" fmla="*/ 260538 h 431"/>
              <a:gd name="T42" fmla="*/ 298553 w 433"/>
              <a:gd name="T43" fmla="*/ 285087 h 431"/>
              <a:gd name="T44" fmla="*/ 274003 w 433"/>
              <a:gd name="T45" fmla="*/ 306469 h 431"/>
              <a:gd name="T46" fmla="*/ 248662 w 433"/>
              <a:gd name="T47" fmla="*/ 323099 h 431"/>
              <a:gd name="T48" fmla="*/ 217777 w 433"/>
              <a:gd name="T49" fmla="*/ 334978 h 431"/>
              <a:gd name="T50" fmla="*/ 187684 w 433"/>
              <a:gd name="T51" fmla="*/ 341313 h 431"/>
              <a:gd name="T52" fmla="*/ 155216 w 433"/>
              <a:gd name="T53" fmla="*/ 341313 h 431"/>
              <a:gd name="T54" fmla="*/ 125123 w 433"/>
              <a:gd name="T55" fmla="*/ 334978 h 431"/>
              <a:gd name="T56" fmla="*/ 95030 w 433"/>
              <a:gd name="T57" fmla="*/ 323099 h 431"/>
              <a:gd name="T58" fmla="*/ 68897 w 433"/>
              <a:gd name="T59" fmla="*/ 306469 h 431"/>
              <a:gd name="T60" fmla="*/ 44347 w 433"/>
              <a:gd name="T61" fmla="*/ 285087 h 431"/>
              <a:gd name="T62" fmla="*/ 26133 w 433"/>
              <a:gd name="T63" fmla="*/ 260538 h 431"/>
              <a:gd name="T64" fmla="*/ 12671 w 433"/>
              <a:gd name="T65" fmla="*/ 231238 h 431"/>
              <a:gd name="T66" fmla="*/ 3168 w 433"/>
              <a:gd name="T67" fmla="*/ 201145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20" y="21"/>
                </a:lnTo>
                <a:lnTo>
                  <a:pt x="158" y="6"/>
                </a:lnTo>
                <a:lnTo>
                  <a:pt x="196" y="0"/>
                </a:lnTo>
                <a:lnTo>
                  <a:pt x="237" y="0"/>
                </a:lnTo>
                <a:lnTo>
                  <a:pt x="275" y="6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4" y="408"/>
                </a:lnTo>
                <a:lnTo>
                  <a:pt x="275" y="423"/>
                </a:lnTo>
                <a:lnTo>
                  <a:pt x="237" y="431"/>
                </a:lnTo>
                <a:lnTo>
                  <a:pt x="196" y="431"/>
                </a:lnTo>
                <a:lnTo>
                  <a:pt x="158" y="423"/>
                </a:lnTo>
                <a:lnTo>
                  <a:pt x="120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99" name="Rectangle 33"/>
          <p:cNvSpPr>
            <a:spLocks noChangeArrowheads="1"/>
          </p:cNvSpPr>
          <p:nvPr/>
        </p:nvSpPr>
        <p:spPr bwMode="auto">
          <a:xfrm>
            <a:off x="4937199" y="3848224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*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00" name="Freeform 34"/>
          <p:cNvSpPr/>
          <p:nvPr/>
        </p:nvSpPr>
        <p:spPr bwMode="auto">
          <a:xfrm>
            <a:off x="5267399" y="3357686"/>
            <a:ext cx="344488" cy="341313"/>
          </a:xfrm>
          <a:custGeom>
            <a:avLst/>
            <a:gdLst>
              <a:gd name="T0" fmla="*/ 0 w 432"/>
              <a:gd name="T1" fmla="*/ 171052 h 431"/>
              <a:gd name="T2" fmla="*/ 3190 w 432"/>
              <a:gd name="T3" fmla="*/ 138584 h 431"/>
              <a:gd name="T4" fmla="*/ 11961 w 432"/>
              <a:gd name="T5" fmla="*/ 108492 h 431"/>
              <a:gd name="T6" fmla="*/ 26315 w 432"/>
              <a:gd name="T7" fmla="*/ 79191 h 431"/>
              <a:gd name="T8" fmla="*/ 44656 w 432"/>
              <a:gd name="T9" fmla="*/ 54642 h 431"/>
              <a:gd name="T10" fmla="*/ 68579 w 432"/>
              <a:gd name="T11" fmla="*/ 33260 h 431"/>
              <a:gd name="T12" fmla="*/ 94894 w 432"/>
              <a:gd name="T13" fmla="*/ 16630 h 431"/>
              <a:gd name="T14" fmla="*/ 125196 w 432"/>
              <a:gd name="T15" fmla="*/ 4751 h 431"/>
              <a:gd name="T16" fmla="*/ 156295 w 432"/>
              <a:gd name="T17" fmla="*/ 0 h 431"/>
              <a:gd name="T18" fmla="*/ 188193 w 432"/>
              <a:gd name="T19" fmla="*/ 0 h 431"/>
              <a:gd name="T20" fmla="*/ 219292 w 432"/>
              <a:gd name="T21" fmla="*/ 4751 h 431"/>
              <a:gd name="T22" fmla="*/ 249594 w 432"/>
              <a:gd name="T23" fmla="*/ 16630 h 431"/>
              <a:gd name="T24" fmla="*/ 275909 w 432"/>
              <a:gd name="T25" fmla="*/ 33260 h 431"/>
              <a:gd name="T26" fmla="*/ 299832 w 432"/>
              <a:gd name="T27" fmla="*/ 54642 h 431"/>
              <a:gd name="T28" fmla="*/ 318970 w 432"/>
              <a:gd name="T29" fmla="*/ 79191 h 431"/>
              <a:gd name="T30" fmla="*/ 332527 w 432"/>
              <a:gd name="T31" fmla="*/ 108492 h 431"/>
              <a:gd name="T32" fmla="*/ 341298 w 432"/>
              <a:gd name="T33" fmla="*/ 138584 h 431"/>
              <a:gd name="T34" fmla="*/ 344488 w 432"/>
              <a:gd name="T35" fmla="*/ 171052 h 431"/>
              <a:gd name="T36" fmla="*/ 341298 w 432"/>
              <a:gd name="T37" fmla="*/ 201145 h 431"/>
              <a:gd name="T38" fmla="*/ 332527 w 432"/>
              <a:gd name="T39" fmla="*/ 231238 h 431"/>
              <a:gd name="T40" fmla="*/ 318970 w 432"/>
              <a:gd name="T41" fmla="*/ 260538 h 431"/>
              <a:gd name="T42" fmla="*/ 299832 w 432"/>
              <a:gd name="T43" fmla="*/ 285087 h 431"/>
              <a:gd name="T44" fmla="*/ 275909 w 432"/>
              <a:gd name="T45" fmla="*/ 306469 h 431"/>
              <a:gd name="T46" fmla="*/ 249594 w 432"/>
              <a:gd name="T47" fmla="*/ 323099 h 431"/>
              <a:gd name="T48" fmla="*/ 219292 w 432"/>
              <a:gd name="T49" fmla="*/ 334978 h 431"/>
              <a:gd name="T50" fmla="*/ 188193 w 432"/>
              <a:gd name="T51" fmla="*/ 341313 h 431"/>
              <a:gd name="T52" fmla="*/ 156295 w 432"/>
              <a:gd name="T53" fmla="*/ 341313 h 431"/>
              <a:gd name="T54" fmla="*/ 125196 w 432"/>
              <a:gd name="T55" fmla="*/ 334978 h 431"/>
              <a:gd name="T56" fmla="*/ 94894 w 432"/>
              <a:gd name="T57" fmla="*/ 323099 h 431"/>
              <a:gd name="T58" fmla="*/ 68579 w 432"/>
              <a:gd name="T59" fmla="*/ 306469 h 431"/>
              <a:gd name="T60" fmla="*/ 44656 w 432"/>
              <a:gd name="T61" fmla="*/ 285087 h 431"/>
              <a:gd name="T62" fmla="*/ 26315 w 432"/>
              <a:gd name="T63" fmla="*/ 260538 h 431"/>
              <a:gd name="T64" fmla="*/ 11961 w 432"/>
              <a:gd name="T65" fmla="*/ 231238 h 431"/>
              <a:gd name="T66" fmla="*/ 3190 w 432"/>
              <a:gd name="T67" fmla="*/ 201145 h 431"/>
              <a:gd name="T68" fmla="*/ 0 w 432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5" y="137"/>
                </a:lnTo>
                <a:lnTo>
                  <a:pt x="33" y="100"/>
                </a:lnTo>
                <a:lnTo>
                  <a:pt x="56" y="69"/>
                </a:lnTo>
                <a:lnTo>
                  <a:pt x="86" y="42"/>
                </a:lnTo>
                <a:lnTo>
                  <a:pt x="119" y="21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6" y="69"/>
                </a:lnTo>
                <a:lnTo>
                  <a:pt x="400" y="100"/>
                </a:lnTo>
                <a:lnTo>
                  <a:pt x="417" y="137"/>
                </a:lnTo>
                <a:lnTo>
                  <a:pt x="428" y="175"/>
                </a:lnTo>
                <a:lnTo>
                  <a:pt x="432" y="216"/>
                </a:lnTo>
                <a:lnTo>
                  <a:pt x="428" y="254"/>
                </a:lnTo>
                <a:lnTo>
                  <a:pt x="417" y="292"/>
                </a:lnTo>
                <a:lnTo>
                  <a:pt x="400" y="329"/>
                </a:lnTo>
                <a:lnTo>
                  <a:pt x="376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7" y="423"/>
                </a:lnTo>
                <a:lnTo>
                  <a:pt x="119" y="408"/>
                </a:lnTo>
                <a:lnTo>
                  <a:pt x="86" y="387"/>
                </a:lnTo>
                <a:lnTo>
                  <a:pt x="56" y="360"/>
                </a:lnTo>
                <a:lnTo>
                  <a:pt x="33" y="329"/>
                </a:lnTo>
                <a:lnTo>
                  <a:pt x="15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1" name="Rectangle 35"/>
          <p:cNvSpPr>
            <a:spLocks noChangeArrowheads="1"/>
          </p:cNvSpPr>
          <p:nvPr/>
        </p:nvSpPr>
        <p:spPr bwMode="auto">
          <a:xfrm>
            <a:off x="5400749" y="3391024"/>
            <a:ext cx="88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-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02" name="Freeform 36"/>
          <p:cNvSpPr/>
          <p:nvPr/>
        </p:nvSpPr>
        <p:spPr bwMode="auto">
          <a:xfrm>
            <a:off x="5726187" y="3814886"/>
            <a:ext cx="342900" cy="341313"/>
          </a:xfrm>
          <a:custGeom>
            <a:avLst/>
            <a:gdLst>
              <a:gd name="T0" fmla="*/ 0 w 433"/>
              <a:gd name="T1" fmla="*/ 171052 h 431"/>
              <a:gd name="T2" fmla="*/ 3168 w 433"/>
              <a:gd name="T3" fmla="*/ 138584 h 431"/>
              <a:gd name="T4" fmla="*/ 12671 w 433"/>
              <a:gd name="T5" fmla="*/ 108492 h 431"/>
              <a:gd name="T6" fmla="*/ 26133 w 433"/>
              <a:gd name="T7" fmla="*/ 79191 h 431"/>
              <a:gd name="T8" fmla="*/ 44347 w 433"/>
              <a:gd name="T9" fmla="*/ 54642 h 431"/>
              <a:gd name="T10" fmla="*/ 68897 w 433"/>
              <a:gd name="T11" fmla="*/ 33260 h 431"/>
              <a:gd name="T12" fmla="*/ 94238 w 433"/>
              <a:gd name="T13" fmla="*/ 16630 h 431"/>
              <a:gd name="T14" fmla="*/ 125123 w 433"/>
              <a:gd name="T15" fmla="*/ 4751 h 431"/>
              <a:gd name="T16" fmla="*/ 155216 w 433"/>
              <a:gd name="T17" fmla="*/ 0 h 431"/>
              <a:gd name="T18" fmla="*/ 187684 w 433"/>
              <a:gd name="T19" fmla="*/ 0 h 431"/>
              <a:gd name="T20" fmla="*/ 217777 w 433"/>
              <a:gd name="T21" fmla="*/ 4751 h 431"/>
              <a:gd name="T22" fmla="*/ 247870 w 433"/>
              <a:gd name="T23" fmla="*/ 16630 h 431"/>
              <a:gd name="T24" fmla="*/ 274003 w 433"/>
              <a:gd name="T25" fmla="*/ 33260 h 431"/>
              <a:gd name="T26" fmla="*/ 298553 w 433"/>
              <a:gd name="T27" fmla="*/ 54642 h 431"/>
              <a:gd name="T28" fmla="*/ 316767 w 433"/>
              <a:gd name="T29" fmla="*/ 79191 h 431"/>
              <a:gd name="T30" fmla="*/ 330229 w 433"/>
              <a:gd name="T31" fmla="*/ 108492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5 h 431"/>
              <a:gd name="T38" fmla="*/ 330229 w 433"/>
              <a:gd name="T39" fmla="*/ 231238 h 431"/>
              <a:gd name="T40" fmla="*/ 316767 w 433"/>
              <a:gd name="T41" fmla="*/ 260538 h 431"/>
              <a:gd name="T42" fmla="*/ 298553 w 433"/>
              <a:gd name="T43" fmla="*/ 285087 h 431"/>
              <a:gd name="T44" fmla="*/ 274003 w 433"/>
              <a:gd name="T45" fmla="*/ 306469 h 431"/>
              <a:gd name="T46" fmla="*/ 247870 w 433"/>
              <a:gd name="T47" fmla="*/ 323099 h 431"/>
              <a:gd name="T48" fmla="*/ 217777 w 433"/>
              <a:gd name="T49" fmla="*/ 334978 h 431"/>
              <a:gd name="T50" fmla="*/ 187684 w 433"/>
              <a:gd name="T51" fmla="*/ 341313 h 431"/>
              <a:gd name="T52" fmla="*/ 155216 w 433"/>
              <a:gd name="T53" fmla="*/ 341313 h 431"/>
              <a:gd name="T54" fmla="*/ 125123 w 433"/>
              <a:gd name="T55" fmla="*/ 334978 h 431"/>
              <a:gd name="T56" fmla="*/ 94238 w 433"/>
              <a:gd name="T57" fmla="*/ 323099 h 431"/>
              <a:gd name="T58" fmla="*/ 68897 w 433"/>
              <a:gd name="T59" fmla="*/ 306469 h 431"/>
              <a:gd name="T60" fmla="*/ 44347 w 433"/>
              <a:gd name="T61" fmla="*/ 285087 h 431"/>
              <a:gd name="T62" fmla="*/ 26133 w 433"/>
              <a:gd name="T63" fmla="*/ 260538 h 431"/>
              <a:gd name="T64" fmla="*/ 12671 w 433"/>
              <a:gd name="T65" fmla="*/ 231238 h 431"/>
              <a:gd name="T66" fmla="*/ 3168 w 433"/>
              <a:gd name="T67" fmla="*/ 201145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6"/>
                </a:lnTo>
                <a:lnTo>
                  <a:pt x="196" y="0"/>
                </a:lnTo>
                <a:lnTo>
                  <a:pt x="237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3"/>
                </a:lnTo>
                <a:lnTo>
                  <a:pt x="237" y="431"/>
                </a:lnTo>
                <a:lnTo>
                  <a:pt x="196" y="431"/>
                </a:lnTo>
                <a:lnTo>
                  <a:pt x="158" y="423"/>
                </a:lnTo>
                <a:lnTo>
                  <a:pt x="119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3" name="Rectangle 37"/>
          <p:cNvSpPr>
            <a:spLocks noChangeArrowheads="1"/>
          </p:cNvSpPr>
          <p:nvPr/>
        </p:nvSpPr>
        <p:spPr bwMode="auto">
          <a:xfrm>
            <a:off x="5834137" y="3848224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q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04" name="Freeform 38"/>
          <p:cNvSpPr/>
          <p:nvPr/>
        </p:nvSpPr>
        <p:spPr bwMode="auto">
          <a:xfrm>
            <a:off x="3438599" y="3357686"/>
            <a:ext cx="342900" cy="341313"/>
          </a:xfrm>
          <a:custGeom>
            <a:avLst/>
            <a:gdLst>
              <a:gd name="T0" fmla="*/ 0 w 432"/>
              <a:gd name="T1" fmla="*/ 171052 h 431"/>
              <a:gd name="T2" fmla="*/ 3175 w 432"/>
              <a:gd name="T3" fmla="*/ 138584 h 431"/>
              <a:gd name="T4" fmla="*/ 12700 w 432"/>
              <a:gd name="T5" fmla="*/ 108492 h 431"/>
              <a:gd name="T6" fmla="*/ 26194 w 432"/>
              <a:gd name="T7" fmla="*/ 79191 h 431"/>
              <a:gd name="T8" fmla="*/ 44450 w 432"/>
              <a:gd name="T9" fmla="*/ 54642 h 431"/>
              <a:gd name="T10" fmla="*/ 69056 w 432"/>
              <a:gd name="T11" fmla="*/ 33260 h 431"/>
              <a:gd name="T12" fmla="*/ 94456 w 432"/>
              <a:gd name="T13" fmla="*/ 16630 h 431"/>
              <a:gd name="T14" fmla="*/ 125413 w 432"/>
              <a:gd name="T15" fmla="*/ 4751 h 431"/>
              <a:gd name="T16" fmla="*/ 155575 w 432"/>
              <a:gd name="T17" fmla="*/ 0 h 431"/>
              <a:gd name="T18" fmla="*/ 187325 w 432"/>
              <a:gd name="T19" fmla="*/ 0 h 431"/>
              <a:gd name="T20" fmla="*/ 218281 w 432"/>
              <a:gd name="T21" fmla="*/ 4751 h 431"/>
              <a:gd name="T22" fmla="*/ 248444 w 432"/>
              <a:gd name="T23" fmla="*/ 16630 h 431"/>
              <a:gd name="T24" fmla="*/ 274638 w 432"/>
              <a:gd name="T25" fmla="*/ 33260 h 431"/>
              <a:gd name="T26" fmla="*/ 299244 w 432"/>
              <a:gd name="T27" fmla="*/ 54642 h 431"/>
              <a:gd name="T28" fmla="*/ 317500 w 432"/>
              <a:gd name="T29" fmla="*/ 79191 h 431"/>
              <a:gd name="T30" fmla="*/ 330994 w 432"/>
              <a:gd name="T31" fmla="*/ 108492 h 431"/>
              <a:gd name="T32" fmla="*/ 340519 w 432"/>
              <a:gd name="T33" fmla="*/ 138584 h 431"/>
              <a:gd name="T34" fmla="*/ 342900 w 432"/>
              <a:gd name="T35" fmla="*/ 171052 h 431"/>
              <a:gd name="T36" fmla="*/ 340519 w 432"/>
              <a:gd name="T37" fmla="*/ 201145 h 431"/>
              <a:gd name="T38" fmla="*/ 330994 w 432"/>
              <a:gd name="T39" fmla="*/ 231238 h 431"/>
              <a:gd name="T40" fmla="*/ 317500 w 432"/>
              <a:gd name="T41" fmla="*/ 260538 h 431"/>
              <a:gd name="T42" fmla="*/ 299244 w 432"/>
              <a:gd name="T43" fmla="*/ 285087 h 431"/>
              <a:gd name="T44" fmla="*/ 274638 w 432"/>
              <a:gd name="T45" fmla="*/ 306469 h 431"/>
              <a:gd name="T46" fmla="*/ 248444 w 432"/>
              <a:gd name="T47" fmla="*/ 323099 h 431"/>
              <a:gd name="T48" fmla="*/ 218281 w 432"/>
              <a:gd name="T49" fmla="*/ 334978 h 431"/>
              <a:gd name="T50" fmla="*/ 187325 w 432"/>
              <a:gd name="T51" fmla="*/ 341313 h 431"/>
              <a:gd name="T52" fmla="*/ 155575 w 432"/>
              <a:gd name="T53" fmla="*/ 341313 h 431"/>
              <a:gd name="T54" fmla="*/ 125413 w 432"/>
              <a:gd name="T55" fmla="*/ 334978 h 431"/>
              <a:gd name="T56" fmla="*/ 94456 w 432"/>
              <a:gd name="T57" fmla="*/ 323099 h 431"/>
              <a:gd name="T58" fmla="*/ 69056 w 432"/>
              <a:gd name="T59" fmla="*/ 306469 h 431"/>
              <a:gd name="T60" fmla="*/ 44450 w 432"/>
              <a:gd name="T61" fmla="*/ 285087 h 431"/>
              <a:gd name="T62" fmla="*/ 26194 w 432"/>
              <a:gd name="T63" fmla="*/ 260538 h 431"/>
              <a:gd name="T64" fmla="*/ 12700 w 432"/>
              <a:gd name="T65" fmla="*/ 231238 h 431"/>
              <a:gd name="T66" fmla="*/ 3175 w 432"/>
              <a:gd name="T67" fmla="*/ 201145 h 431"/>
              <a:gd name="T68" fmla="*/ 0 w 432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6" y="137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2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8" y="423"/>
                </a:lnTo>
                <a:lnTo>
                  <a:pt x="119" y="408"/>
                </a:lnTo>
                <a:lnTo>
                  <a:pt x="87" y="387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5" name="Rectangle 39"/>
          <p:cNvSpPr>
            <a:spLocks noChangeArrowheads="1"/>
          </p:cNvSpPr>
          <p:nvPr/>
        </p:nvSpPr>
        <p:spPr bwMode="auto">
          <a:xfrm>
            <a:off x="3541787" y="3391024"/>
            <a:ext cx="155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+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06" name="Freeform 40"/>
          <p:cNvSpPr/>
          <p:nvPr/>
        </p:nvSpPr>
        <p:spPr bwMode="auto">
          <a:xfrm>
            <a:off x="3094112" y="3872036"/>
            <a:ext cx="344487" cy="341313"/>
          </a:xfrm>
          <a:custGeom>
            <a:avLst/>
            <a:gdLst>
              <a:gd name="T0" fmla="*/ 0 w 432"/>
              <a:gd name="T1" fmla="*/ 171052 h 431"/>
              <a:gd name="T2" fmla="*/ 3190 w 432"/>
              <a:gd name="T3" fmla="*/ 140168 h 431"/>
              <a:gd name="T4" fmla="*/ 11961 w 432"/>
              <a:gd name="T5" fmla="*/ 110075 h 431"/>
              <a:gd name="T6" fmla="*/ 25518 w 432"/>
              <a:gd name="T7" fmla="*/ 80775 h 431"/>
              <a:gd name="T8" fmla="*/ 44656 w 432"/>
              <a:gd name="T9" fmla="*/ 55434 h 431"/>
              <a:gd name="T10" fmla="*/ 68578 w 432"/>
              <a:gd name="T11" fmla="*/ 34052 h 431"/>
              <a:gd name="T12" fmla="*/ 94893 w 432"/>
              <a:gd name="T13" fmla="*/ 16630 h 431"/>
              <a:gd name="T14" fmla="*/ 125196 w 432"/>
              <a:gd name="T15" fmla="*/ 6335 h 431"/>
              <a:gd name="T16" fmla="*/ 156295 w 432"/>
              <a:gd name="T17" fmla="*/ 0 h 431"/>
              <a:gd name="T18" fmla="*/ 188192 w 432"/>
              <a:gd name="T19" fmla="*/ 0 h 431"/>
              <a:gd name="T20" fmla="*/ 219291 w 432"/>
              <a:gd name="T21" fmla="*/ 6335 h 431"/>
              <a:gd name="T22" fmla="*/ 249594 w 432"/>
              <a:gd name="T23" fmla="*/ 16630 h 431"/>
              <a:gd name="T24" fmla="*/ 275909 w 432"/>
              <a:gd name="T25" fmla="*/ 34052 h 431"/>
              <a:gd name="T26" fmla="*/ 299831 w 432"/>
              <a:gd name="T27" fmla="*/ 55434 h 431"/>
              <a:gd name="T28" fmla="*/ 318172 w 432"/>
              <a:gd name="T29" fmla="*/ 80775 h 431"/>
              <a:gd name="T30" fmla="*/ 332526 w 432"/>
              <a:gd name="T31" fmla="*/ 110075 h 431"/>
              <a:gd name="T32" fmla="*/ 341297 w 432"/>
              <a:gd name="T33" fmla="*/ 140168 h 431"/>
              <a:gd name="T34" fmla="*/ 344487 w 432"/>
              <a:gd name="T35" fmla="*/ 171052 h 431"/>
              <a:gd name="T36" fmla="*/ 341297 w 432"/>
              <a:gd name="T37" fmla="*/ 202729 h 431"/>
              <a:gd name="T38" fmla="*/ 332526 w 432"/>
              <a:gd name="T39" fmla="*/ 233613 h 431"/>
              <a:gd name="T40" fmla="*/ 318172 w 432"/>
              <a:gd name="T41" fmla="*/ 260538 h 431"/>
              <a:gd name="T42" fmla="*/ 299831 w 432"/>
              <a:gd name="T43" fmla="*/ 286671 h 431"/>
              <a:gd name="T44" fmla="*/ 275909 w 432"/>
              <a:gd name="T45" fmla="*/ 308053 h 431"/>
              <a:gd name="T46" fmla="*/ 249594 w 432"/>
              <a:gd name="T47" fmla="*/ 324683 h 431"/>
              <a:gd name="T48" fmla="*/ 219291 w 432"/>
              <a:gd name="T49" fmla="*/ 334978 h 431"/>
              <a:gd name="T50" fmla="*/ 188192 w 432"/>
              <a:gd name="T51" fmla="*/ 341313 h 431"/>
              <a:gd name="T52" fmla="*/ 156295 w 432"/>
              <a:gd name="T53" fmla="*/ 341313 h 431"/>
              <a:gd name="T54" fmla="*/ 125196 w 432"/>
              <a:gd name="T55" fmla="*/ 334978 h 431"/>
              <a:gd name="T56" fmla="*/ 94893 w 432"/>
              <a:gd name="T57" fmla="*/ 324683 h 431"/>
              <a:gd name="T58" fmla="*/ 68578 w 432"/>
              <a:gd name="T59" fmla="*/ 308053 h 431"/>
              <a:gd name="T60" fmla="*/ 44656 w 432"/>
              <a:gd name="T61" fmla="*/ 286671 h 431"/>
              <a:gd name="T62" fmla="*/ 25518 w 432"/>
              <a:gd name="T63" fmla="*/ 260538 h 431"/>
              <a:gd name="T64" fmla="*/ 11961 w 432"/>
              <a:gd name="T65" fmla="*/ 233613 h 431"/>
              <a:gd name="T66" fmla="*/ 3190 w 432"/>
              <a:gd name="T67" fmla="*/ 202729 h 431"/>
              <a:gd name="T68" fmla="*/ 0 w 432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7"/>
                </a:lnTo>
                <a:lnTo>
                  <a:pt x="15" y="139"/>
                </a:lnTo>
                <a:lnTo>
                  <a:pt x="32" y="102"/>
                </a:lnTo>
                <a:lnTo>
                  <a:pt x="56" y="70"/>
                </a:lnTo>
                <a:lnTo>
                  <a:pt x="86" y="43"/>
                </a:lnTo>
                <a:lnTo>
                  <a:pt x="119" y="21"/>
                </a:lnTo>
                <a:lnTo>
                  <a:pt x="157" y="8"/>
                </a:lnTo>
                <a:lnTo>
                  <a:pt x="196" y="0"/>
                </a:lnTo>
                <a:lnTo>
                  <a:pt x="236" y="0"/>
                </a:lnTo>
                <a:lnTo>
                  <a:pt x="275" y="8"/>
                </a:lnTo>
                <a:lnTo>
                  <a:pt x="313" y="21"/>
                </a:lnTo>
                <a:lnTo>
                  <a:pt x="346" y="43"/>
                </a:lnTo>
                <a:lnTo>
                  <a:pt x="376" y="70"/>
                </a:lnTo>
                <a:lnTo>
                  <a:pt x="399" y="102"/>
                </a:lnTo>
                <a:lnTo>
                  <a:pt x="417" y="139"/>
                </a:lnTo>
                <a:lnTo>
                  <a:pt x="428" y="177"/>
                </a:lnTo>
                <a:lnTo>
                  <a:pt x="432" y="216"/>
                </a:lnTo>
                <a:lnTo>
                  <a:pt x="428" y="256"/>
                </a:lnTo>
                <a:lnTo>
                  <a:pt x="417" y="295"/>
                </a:lnTo>
                <a:lnTo>
                  <a:pt x="399" y="329"/>
                </a:lnTo>
                <a:lnTo>
                  <a:pt x="376" y="362"/>
                </a:lnTo>
                <a:lnTo>
                  <a:pt x="346" y="389"/>
                </a:lnTo>
                <a:lnTo>
                  <a:pt x="313" y="410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7" y="423"/>
                </a:lnTo>
                <a:lnTo>
                  <a:pt x="119" y="410"/>
                </a:lnTo>
                <a:lnTo>
                  <a:pt x="86" y="389"/>
                </a:lnTo>
                <a:lnTo>
                  <a:pt x="56" y="362"/>
                </a:lnTo>
                <a:lnTo>
                  <a:pt x="32" y="329"/>
                </a:lnTo>
                <a:lnTo>
                  <a:pt x="15" y="295"/>
                </a:lnTo>
                <a:lnTo>
                  <a:pt x="4" y="256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7" name="Rectangle 41"/>
          <p:cNvSpPr>
            <a:spLocks noChangeArrowheads="1"/>
          </p:cNvSpPr>
          <p:nvPr/>
        </p:nvSpPr>
        <p:spPr bwMode="auto">
          <a:xfrm>
            <a:off x="3203649" y="3905374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q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08" name="Freeform 42"/>
          <p:cNvSpPr/>
          <p:nvPr/>
        </p:nvSpPr>
        <p:spPr bwMode="auto">
          <a:xfrm>
            <a:off x="3838649" y="3814886"/>
            <a:ext cx="342900" cy="341313"/>
          </a:xfrm>
          <a:custGeom>
            <a:avLst/>
            <a:gdLst>
              <a:gd name="T0" fmla="*/ 0 w 433"/>
              <a:gd name="T1" fmla="*/ 171052 h 431"/>
              <a:gd name="T2" fmla="*/ 1584 w 433"/>
              <a:gd name="T3" fmla="*/ 138584 h 431"/>
              <a:gd name="T4" fmla="*/ 11087 w 433"/>
              <a:gd name="T5" fmla="*/ 108492 h 431"/>
              <a:gd name="T6" fmla="*/ 24549 w 433"/>
              <a:gd name="T7" fmla="*/ 79191 h 431"/>
              <a:gd name="T8" fmla="*/ 44347 w 433"/>
              <a:gd name="T9" fmla="*/ 54642 h 431"/>
              <a:gd name="T10" fmla="*/ 67313 w 433"/>
              <a:gd name="T11" fmla="*/ 33260 h 431"/>
              <a:gd name="T12" fmla="*/ 95030 w 433"/>
              <a:gd name="T13" fmla="*/ 16630 h 431"/>
              <a:gd name="T14" fmla="*/ 123539 w 433"/>
              <a:gd name="T15" fmla="*/ 4751 h 431"/>
              <a:gd name="T16" fmla="*/ 155216 w 433"/>
              <a:gd name="T17" fmla="*/ 0 h 431"/>
              <a:gd name="T18" fmla="*/ 186100 w 433"/>
              <a:gd name="T19" fmla="*/ 0 h 431"/>
              <a:gd name="T20" fmla="*/ 217777 w 433"/>
              <a:gd name="T21" fmla="*/ 4751 h 431"/>
              <a:gd name="T22" fmla="*/ 247078 w 433"/>
              <a:gd name="T23" fmla="*/ 16630 h 431"/>
              <a:gd name="T24" fmla="*/ 274003 w 433"/>
              <a:gd name="T25" fmla="*/ 33260 h 431"/>
              <a:gd name="T26" fmla="*/ 296969 w 433"/>
              <a:gd name="T27" fmla="*/ 54642 h 431"/>
              <a:gd name="T28" fmla="*/ 316767 w 433"/>
              <a:gd name="T29" fmla="*/ 79191 h 431"/>
              <a:gd name="T30" fmla="*/ 330229 w 433"/>
              <a:gd name="T31" fmla="*/ 108492 h 431"/>
              <a:gd name="T32" fmla="*/ 339732 w 433"/>
              <a:gd name="T33" fmla="*/ 138584 h 431"/>
              <a:gd name="T34" fmla="*/ 342900 w 433"/>
              <a:gd name="T35" fmla="*/ 171052 h 431"/>
              <a:gd name="T36" fmla="*/ 339732 w 433"/>
              <a:gd name="T37" fmla="*/ 201145 h 431"/>
              <a:gd name="T38" fmla="*/ 330229 w 433"/>
              <a:gd name="T39" fmla="*/ 231238 h 431"/>
              <a:gd name="T40" fmla="*/ 316767 w 433"/>
              <a:gd name="T41" fmla="*/ 260538 h 431"/>
              <a:gd name="T42" fmla="*/ 296969 w 433"/>
              <a:gd name="T43" fmla="*/ 285087 h 431"/>
              <a:gd name="T44" fmla="*/ 274003 w 433"/>
              <a:gd name="T45" fmla="*/ 306469 h 431"/>
              <a:gd name="T46" fmla="*/ 247078 w 433"/>
              <a:gd name="T47" fmla="*/ 323099 h 431"/>
              <a:gd name="T48" fmla="*/ 217777 w 433"/>
              <a:gd name="T49" fmla="*/ 334978 h 431"/>
              <a:gd name="T50" fmla="*/ 186100 w 433"/>
              <a:gd name="T51" fmla="*/ 341313 h 431"/>
              <a:gd name="T52" fmla="*/ 155216 w 433"/>
              <a:gd name="T53" fmla="*/ 341313 h 431"/>
              <a:gd name="T54" fmla="*/ 123539 w 433"/>
              <a:gd name="T55" fmla="*/ 334978 h 431"/>
              <a:gd name="T56" fmla="*/ 95030 w 433"/>
              <a:gd name="T57" fmla="*/ 323099 h 431"/>
              <a:gd name="T58" fmla="*/ 67313 w 433"/>
              <a:gd name="T59" fmla="*/ 306469 h 431"/>
              <a:gd name="T60" fmla="*/ 44347 w 433"/>
              <a:gd name="T61" fmla="*/ 285087 h 431"/>
              <a:gd name="T62" fmla="*/ 24549 w 433"/>
              <a:gd name="T63" fmla="*/ 260538 h 431"/>
              <a:gd name="T64" fmla="*/ 11087 w 433"/>
              <a:gd name="T65" fmla="*/ 231238 h 431"/>
              <a:gd name="T66" fmla="*/ 1584 w 433"/>
              <a:gd name="T67" fmla="*/ 201145 h 431"/>
              <a:gd name="T68" fmla="*/ 0 w 433"/>
              <a:gd name="T69" fmla="*/ 171052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1">
                <a:moveTo>
                  <a:pt x="0" y="216"/>
                </a:moveTo>
                <a:lnTo>
                  <a:pt x="2" y="175"/>
                </a:lnTo>
                <a:lnTo>
                  <a:pt x="14" y="137"/>
                </a:lnTo>
                <a:lnTo>
                  <a:pt x="31" y="100"/>
                </a:lnTo>
                <a:lnTo>
                  <a:pt x="56" y="69"/>
                </a:lnTo>
                <a:lnTo>
                  <a:pt x="85" y="42"/>
                </a:lnTo>
                <a:lnTo>
                  <a:pt x="120" y="21"/>
                </a:lnTo>
                <a:lnTo>
                  <a:pt x="156" y="6"/>
                </a:lnTo>
                <a:lnTo>
                  <a:pt x="196" y="0"/>
                </a:lnTo>
                <a:lnTo>
                  <a:pt x="235" y="0"/>
                </a:lnTo>
                <a:lnTo>
                  <a:pt x="275" y="6"/>
                </a:lnTo>
                <a:lnTo>
                  <a:pt x="312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0"/>
                </a:lnTo>
                <a:lnTo>
                  <a:pt x="417" y="137"/>
                </a:lnTo>
                <a:lnTo>
                  <a:pt x="429" y="175"/>
                </a:lnTo>
                <a:lnTo>
                  <a:pt x="433" y="216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5" y="360"/>
                </a:lnTo>
                <a:lnTo>
                  <a:pt x="346" y="387"/>
                </a:lnTo>
                <a:lnTo>
                  <a:pt x="312" y="408"/>
                </a:lnTo>
                <a:lnTo>
                  <a:pt x="275" y="423"/>
                </a:lnTo>
                <a:lnTo>
                  <a:pt x="235" y="431"/>
                </a:lnTo>
                <a:lnTo>
                  <a:pt x="196" y="431"/>
                </a:lnTo>
                <a:lnTo>
                  <a:pt x="156" y="423"/>
                </a:lnTo>
                <a:lnTo>
                  <a:pt x="120" y="408"/>
                </a:lnTo>
                <a:lnTo>
                  <a:pt x="85" y="387"/>
                </a:lnTo>
                <a:lnTo>
                  <a:pt x="56" y="360"/>
                </a:lnTo>
                <a:lnTo>
                  <a:pt x="31" y="329"/>
                </a:lnTo>
                <a:lnTo>
                  <a:pt x="14" y="292"/>
                </a:lnTo>
                <a:lnTo>
                  <a:pt x="2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09" name="Rectangle 43"/>
          <p:cNvSpPr>
            <a:spLocks noChangeArrowheads="1"/>
          </p:cNvSpPr>
          <p:nvPr/>
        </p:nvSpPr>
        <p:spPr bwMode="auto">
          <a:xfrm>
            <a:off x="3965649" y="3848224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*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10" name="Freeform 44"/>
          <p:cNvSpPr/>
          <p:nvPr/>
        </p:nvSpPr>
        <p:spPr bwMode="auto">
          <a:xfrm>
            <a:off x="3438599" y="2784599"/>
            <a:ext cx="342900" cy="341312"/>
          </a:xfrm>
          <a:custGeom>
            <a:avLst/>
            <a:gdLst>
              <a:gd name="T0" fmla="*/ 0 w 432"/>
              <a:gd name="T1" fmla="*/ 170260 h 431"/>
              <a:gd name="T2" fmla="*/ 3175 w 432"/>
              <a:gd name="T3" fmla="*/ 138584 h 431"/>
              <a:gd name="T4" fmla="*/ 12700 w 432"/>
              <a:gd name="T5" fmla="*/ 107699 h 431"/>
              <a:gd name="T6" fmla="*/ 26194 w 432"/>
              <a:gd name="T7" fmla="*/ 79191 h 431"/>
              <a:gd name="T8" fmla="*/ 44450 w 432"/>
              <a:gd name="T9" fmla="*/ 54642 h 431"/>
              <a:gd name="T10" fmla="*/ 69056 w 432"/>
              <a:gd name="T11" fmla="*/ 33260 h 431"/>
              <a:gd name="T12" fmla="*/ 94456 w 432"/>
              <a:gd name="T13" fmla="*/ 16630 h 431"/>
              <a:gd name="T14" fmla="*/ 125413 w 432"/>
              <a:gd name="T15" fmla="*/ 4751 h 431"/>
              <a:gd name="T16" fmla="*/ 155575 w 432"/>
              <a:gd name="T17" fmla="*/ 0 h 431"/>
              <a:gd name="T18" fmla="*/ 187325 w 432"/>
              <a:gd name="T19" fmla="*/ 0 h 431"/>
              <a:gd name="T20" fmla="*/ 218281 w 432"/>
              <a:gd name="T21" fmla="*/ 4751 h 431"/>
              <a:gd name="T22" fmla="*/ 248444 w 432"/>
              <a:gd name="T23" fmla="*/ 16630 h 431"/>
              <a:gd name="T24" fmla="*/ 274638 w 432"/>
              <a:gd name="T25" fmla="*/ 33260 h 431"/>
              <a:gd name="T26" fmla="*/ 299244 w 432"/>
              <a:gd name="T27" fmla="*/ 54642 h 431"/>
              <a:gd name="T28" fmla="*/ 317500 w 432"/>
              <a:gd name="T29" fmla="*/ 79191 h 431"/>
              <a:gd name="T30" fmla="*/ 330994 w 432"/>
              <a:gd name="T31" fmla="*/ 107699 h 431"/>
              <a:gd name="T32" fmla="*/ 340519 w 432"/>
              <a:gd name="T33" fmla="*/ 138584 h 431"/>
              <a:gd name="T34" fmla="*/ 342900 w 432"/>
              <a:gd name="T35" fmla="*/ 170260 h 431"/>
              <a:gd name="T36" fmla="*/ 340519 w 432"/>
              <a:gd name="T37" fmla="*/ 201144 h 431"/>
              <a:gd name="T38" fmla="*/ 330994 w 432"/>
              <a:gd name="T39" fmla="*/ 231237 h 431"/>
              <a:gd name="T40" fmla="*/ 317500 w 432"/>
              <a:gd name="T41" fmla="*/ 260537 h 431"/>
              <a:gd name="T42" fmla="*/ 299244 w 432"/>
              <a:gd name="T43" fmla="*/ 285087 h 431"/>
              <a:gd name="T44" fmla="*/ 274638 w 432"/>
              <a:gd name="T45" fmla="*/ 305676 h 431"/>
              <a:gd name="T46" fmla="*/ 248444 w 432"/>
              <a:gd name="T47" fmla="*/ 323098 h 431"/>
              <a:gd name="T48" fmla="*/ 218281 w 432"/>
              <a:gd name="T49" fmla="*/ 334977 h 431"/>
              <a:gd name="T50" fmla="*/ 187325 w 432"/>
              <a:gd name="T51" fmla="*/ 341312 h 431"/>
              <a:gd name="T52" fmla="*/ 155575 w 432"/>
              <a:gd name="T53" fmla="*/ 341312 h 431"/>
              <a:gd name="T54" fmla="*/ 125413 w 432"/>
              <a:gd name="T55" fmla="*/ 334977 h 431"/>
              <a:gd name="T56" fmla="*/ 94456 w 432"/>
              <a:gd name="T57" fmla="*/ 323098 h 431"/>
              <a:gd name="T58" fmla="*/ 69056 w 432"/>
              <a:gd name="T59" fmla="*/ 305676 h 431"/>
              <a:gd name="T60" fmla="*/ 44450 w 432"/>
              <a:gd name="T61" fmla="*/ 285087 h 431"/>
              <a:gd name="T62" fmla="*/ 26194 w 432"/>
              <a:gd name="T63" fmla="*/ 260537 h 431"/>
              <a:gd name="T64" fmla="*/ 12700 w 432"/>
              <a:gd name="T65" fmla="*/ 231237 h 431"/>
              <a:gd name="T66" fmla="*/ 3175 w 432"/>
              <a:gd name="T67" fmla="*/ 201144 h 431"/>
              <a:gd name="T68" fmla="*/ 0 w 432"/>
              <a:gd name="T69" fmla="*/ 170260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5"/>
                </a:moveTo>
                <a:lnTo>
                  <a:pt x="4" y="175"/>
                </a:lnTo>
                <a:lnTo>
                  <a:pt x="16" y="136"/>
                </a:lnTo>
                <a:lnTo>
                  <a:pt x="33" y="100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0"/>
                </a:lnTo>
                <a:lnTo>
                  <a:pt x="417" y="136"/>
                </a:lnTo>
                <a:lnTo>
                  <a:pt x="429" y="175"/>
                </a:lnTo>
                <a:lnTo>
                  <a:pt x="432" y="215"/>
                </a:lnTo>
                <a:lnTo>
                  <a:pt x="429" y="254"/>
                </a:lnTo>
                <a:lnTo>
                  <a:pt x="417" y="292"/>
                </a:lnTo>
                <a:lnTo>
                  <a:pt x="400" y="329"/>
                </a:lnTo>
                <a:lnTo>
                  <a:pt x="377" y="360"/>
                </a:lnTo>
                <a:lnTo>
                  <a:pt x="346" y="386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8" y="423"/>
                </a:lnTo>
                <a:lnTo>
                  <a:pt x="119" y="408"/>
                </a:lnTo>
                <a:lnTo>
                  <a:pt x="87" y="386"/>
                </a:lnTo>
                <a:lnTo>
                  <a:pt x="56" y="360"/>
                </a:lnTo>
                <a:lnTo>
                  <a:pt x="33" y="329"/>
                </a:lnTo>
                <a:lnTo>
                  <a:pt x="16" y="292"/>
                </a:lnTo>
                <a:lnTo>
                  <a:pt x="4" y="254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1" name="Rectangle 45"/>
          <p:cNvSpPr>
            <a:spLocks noChangeArrowheads="1"/>
          </p:cNvSpPr>
          <p:nvPr/>
        </p:nvSpPr>
        <p:spPr bwMode="auto">
          <a:xfrm>
            <a:off x="3489399" y="2817936"/>
            <a:ext cx="24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x1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12" name="Freeform 46"/>
          <p:cNvSpPr/>
          <p:nvPr/>
        </p:nvSpPr>
        <p:spPr bwMode="auto">
          <a:xfrm>
            <a:off x="5267399" y="2784599"/>
            <a:ext cx="344488" cy="341312"/>
          </a:xfrm>
          <a:custGeom>
            <a:avLst/>
            <a:gdLst>
              <a:gd name="T0" fmla="*/ 0 w 432"/>
              <a:gd name="T1" fmla="*/ 170260 h 431"/>
              <a:gd name="T2" fmla="*/ 3190 w 432"/>
              <a:gd name="T3" fmla="*/ 138584 h 431"/>
              <a:gd name="T4" fmla="*/ 11961 w 432"/>
              <a:gd name="T5" fmla="*/ 107699 h 431"/>
              <a:gd name="T6" fmla="*/ 26315 w 432"/>
              <a:gd name="T7" fmla="*/ 79191 h 431"/>
              <a:gd name="T8" fmla="*/ 44656 w 432"/>
              <a:gd name="T9" fmla="*/ 54642 h 431"/>
              <a:gd name="T10" fmla="*/ 68579 w 432"/>
              <a:gd name="T11" fmla="*/ 33260 h 431"/>
              <a:gd name="T12" fmla="*/ 94894 w 432"/>
              <a:gd name="T13" fmla="*/ 16630 h 431"/>
              <a:gd name="T14" fmla="*/ 125196 w 432"/>
              <a:gd name="T15" fmla="*/ 4751 h 431"/>
              <a:gd name="T16" fmla="*/ 156295 w 432"/>
              <a:gd name="T17" fmla="*/ 0 h 431"/>
              <a:gd name="T18" fmla="*/ 188193 w 432"/>
              <a:gd name="T19" fmla="*/ 0 h 431"/>
              <a:gd name="T20" fmla="*/ 219292 w 432"/>
              <a:gd name="T21" fmla="*/ 4751 h 431"/>
              <a:gd name="T22" fmla="*/ 249594 w 432"/>
              <a:gd name="T23" fmla="*/ 16630 h 431"/>
              <a:gd name="T24" fmla="*/ 275909 w 432"/>
              <a:gd name="T25" fmla="*/ 33260 h 431"/>
              <a:gd name="T26" fmla="*/ 299832 w 432"/>
              <a:gd name="T27" fmla="*/ 54642 h 431"/>
              <a:gd name="T28" fmla="*/ 318970 w 432"/>
              <a:gd name="T29" fmla="*/ 79191 h 431"/>
              <a:gd name="T30" fmla="*/ 332527 w 432"/>
              <a:gd name="T31" fmla="*/ 107699 h 431"/>
              <a:gd name="T32" fmla="*/ 341298 w 432"/>
              <a:gd name="T33" fmla="*/ 138584 h 431"/>
              <a:gd name="T34" fmla="*/ 344488 w 432"/>
              <a:gd name="T35" fmla="*/ 170260 h 431"/>
              <a:gd name="T36" fmla="*/ 341298 w 432"/>
              <a:gd name="T37" fmla="*/ 201144 h 431"/>
              <a:gd name="T38" fmla="*/ 332527 w 432"/>
              <a:gd name="T39" fmla="*/ 231237 h 431"/>
              <a:gd name="T40" fmla="*/ 318970 w 432"/>
              <a:gd name="T41" fmla="*/ 260537 h 431"/>
              <a:gd name="T42" fmla="*/ 299832 w 432"/>
              <a:gd name="T43" fmla="*/ 285087 h 431"/>
              <a:gd name="T44" fmla="*/ 275909 w 432"/>
              <a:gd name="T45" fmla="*/ 305676 h 431"/>
              <a:gd name="T46" fmla="*/ 249594 w 432"/>
              <a:gd name="T47" fmla="*/ 323098 h 431"/>
              <a:gd name="T48" fmla="*/ 219292 w 432"/>
              <a:gd name="T49" fmla="*/ 334977 h 431"/>
              <a:gd name="T50" fmla="*/ 188193 w 432"/>
              <a:gd name="T51" fmla="*/ 341312 h 431"/>
              <a:gd name="T52" fmla="*/ 156295 w 432"/>
              <a:gd name="T53" fmla="*/ 341312 h 431"/>
              <a:gd name="T54" fmla="*/ 125196 w 432"/>
              <a:gd name="T55" fmla="*/ 334977 h 431"/>
              <a:gd name="T56" fmla="*/ 94894 w 432"/>
              <a:gd name="T57" fmla="*/ 323098 h 431"/>
              <a:gd name="T58" fmla="*/ 68579 w 432"/>
              <a:gd name="T59" fmla="*/ 305676 h 431"/>
              <a:gd name="T60" fmla="*/ 44656 w 432"/>
              <a:gd name="T61" fmla="*/ 285087 h 431"/>
              <a:gd name="T62" fmla="*/ 26315 w 432"/>
              <a:gd name="T63" fmla="*/ 260537 h 431"/>
              <a:gd name="T64" fmla="*/ 11961 w 432"/>
              <a:gd name="T65" fmla="*/ 231237 h 431"/>
              <a:gd name="T66" fmla="*/ 3190 w 432"/>
              <a:gd name="T67" fmla="*/ 201144 h 431"/>
              <a:gd name="T68" fmla="*/ 0 w 432"/>
              <a:gd name="T69" fmla="*/ 170260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5"/>
                </a:moveTo>
                <a:lnTo>
                  <a:pt x="4" y="175"/>
                </a:lnTo>
                <a:lnTo>
                  <a:pt x="15" y="136"/>
                </a:lnTo>
                <a:lnTo>
                  <a:pt x="33" y="100"/>
                </a:lnTo>
                <a:lnTo>
                  <a:pt x="56" y="69"/>
                </a:lnTo>
                <a:lnTo>
                  <a:pt x="86" y="42"/>
                </a:lnTo>
                <a:lnTo>
                  <a:pt x="119" y="21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1"/>
                </a:lnTo>
                <a:lnTo>
                  <a:pt x="346" y="42"/>
                </a:lnTo>
                <a:lnTo>
                  <a:pt x="376" y="69"/>
                </a:lnTo>
                <a:lnTo>
                  <a:pt x="400" y="100"/>
                </a:lnTo>
                <a:lnTo>
                  <a:pt x="417" y="136"/>
                </a:lnTo>
                <a:lnTo>
                  <a:pt x="428" y="175"/>
                </a:lnTo>
                <a:lnTo>
                  <a:pt x="432" y="215"/>
                </a:lnTo>
                <a:lnTo>
                  <a:pt x="428" y="254"/>
                </a:lnTo>
                <a:lnTo>
                  <a:pt x="417" y="292"/>
                </a:lnTo>
                <a:lnTo>
                  <a:pt x="400" y="329"/>
                </a:lnTo>
                <a:lnTo>
                  <a:pt x="376" y="360"/>
                </a:lnTo>
                <a:lnTo>
                  <a:pt x="346" y="386"/>
                </a:lnTo>
                <a:lnTo>
                  <a:pt x="313" y="408"/>
                </a:lnTo>
                <a:lnTo>
                  <a:pt x="275" y="423"/>
                </a:lnTo>
                <a:lnTo>
                  <a:pt x="236" y="431"/>
                </a:lnTo>
                <a:lnTo>
                  <a:pt x="196" y="431"/>
                </a:lnTo>
                <a:lnTo>
                  <a:pt x="157" y="423"/>
                </a:lnTo>
                <a:lnTo>
                  <a:pt x="119" y="408"/>
                </a:lnTo>
                <a:lnTo>
                  <a:pt x="86" y="386"/>
                </a:lnTo>
                <a:lnTo>
                  <a:pt x="56" y="360"/>
                </a:lnTo>
                <a:lnTo>
                  <a:pt x="33" y="329"/>
                </a:lnTo>
                <a:lnTo>
                  <a:pt x="15" y="292"/>
                </a:lnTo>
                <a:lnTo>
                  <a:pt x="4" y="254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3" name="Rectangle 47"/>
          <p:cNvSpPr>
            <a:spLocks noChangeArrowheads="1"/>
          </p:cNvSpPr>
          <p:nvPr/>
        </p:nvSpPr>
        <p:spPr bwMode="auto">
          <a:xfrm>
            <a:off x="5319787" y="2817936"/>
            <a:ext cx="2580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x2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14" name="Freeform 48"/>
          <p:cNvSpPr/>
          <p:nvPr/>
        </p:nvSpPr>
        <p:spPr bwMode="auto">
          <a:xfrm>
            <a:off x="3610049" y="6275511"/>
            <a:ext cx="342900" cy="342900"/>
          </a:xfrm>
          <a:custGeom>
            <a:avLst/>
            <a:gdLst>
              <a:gd name="T0" fmla="*/ 0 w 433"/>
              <a:gd name="T1" fmla="*/ 171450 h 430"/>
              <a:gd name="T2" fmla="*/ 1584 w 433"/>
              <a:gd name="T3" fmla="*/ 141147 h 430"/>
              <a:gd name="T4" fmla="*/ 11087 w 433"/>
              <a:gd name="T5" fmla="*/ 110047 h 430"/>
              <a:gd name="T6" fmla="*/ 24549 w 433"/>
              <a:gd name="T7" fmla="*/ 81339 h 430"/>
              <a:gd name="T8" fmla="*/ 44347 w 433"/>
              <a:gd name="T9" fmla="*/ 55023 h 430"/>
              <a:gd name="T10" fmla="*/ 67313 w 433"/>
              <a:gd name="T11" fmla="*/ 33493 h 430"/>
              <a:gd name="T12" fmla="*/ 94238 w 433"/>
              <a:gd name="T13" fmla="*/ 16746 h 430"/>
              <a:gd name="T14" fmla="*/ 123539 w 433"/>
              <a:gd name="T15" fmla="*/ 5582 h 430"/>
              <a:gd name="T16" fmla="*/ 155216 w 433"/>
              <a:gd name="T17" fmla="*/ 0 h 430"/>
              <a:gd name="T18" fmla="*/ 186100 w 433"/>
              <a:gd name="T19" fmla="*/ 0 h 430"/>
              <a:gd name="T20" fmla="*/ 217777 w 433"/>
              <a:gd name="T21" fmla="*/ 5582 h 430"/>
              <a:gd name="T22" fmla="*/ 247078 w 433"/>
              <a:gd name="T23" fmla="*/ 16746 h 430"/>
              <a:gd name="T24" fmla="*/ 274003 w 433"/>
              <a:gd name="T25" fmla="*/ 33493 h 430"/>
              <a:gd name="T26" fmla="*/ 296969 w 433"/>
              <a:gd name="T27" fmla="*/ 55023 h 430"/>
              <a:gd name="T28" fmla="*/ 316767 w 433"/>
              <a:gd name="T29" fmla="*/ 81339 h 430"/>
              <a:gd name="T30" fmla="*/ 330229 w 433"/>
              <a:gd name="T31" fmla="*/ 110047 h 430"/>
              <a:gd name="T32" fmla="*/ 339732 w 433"/>
              <a:gd name="T33" fmla="*/ 141147 h 430"/>
              <a:gd name="T34" fmla="*/ 342900 w 433"/>
              <a:gd name="T35" fmla="*/ 171450 h 430"/>
              <a:gd name="T36" fmla="*/ 339732 w 433"/>
              <a:gd name="T37" fmla="*/ 203348 h 430"/>
              <a:gd name="T38" fmla="*/ 330229 w 433"/>
              <a:gd name="T39" fmla="*/ 234448 h 430"/>
              <a:gd name="T40" fmla="*/ 316767 w 433"/>
              <a:gd name="T41" fmla="*/ 262358 h 430"/>
              <a:gd name="T42" fmla="*/ 296969 w 433"/>
              <a:gd name="T43" fmla="*/ 287877 h 430"/>
              <a:gd name="T44" fmla="*/ 274003 w 433"/>
              <a:gd name="T45" fmla="*/ 309407 h 430"/>
              <a:gd name="T46" fmla="*/ 247078 w 433"/>
              <a:gd name="T47" fmla="*/ 326154 h 430"/>
              <a:gd name="T48" fmla="*/ 217777 w 433"/>
              <a:gd name="T49" fmla="*/ 337318 h 430"/>
              <a:gd name="T50" fmla="*/ 186100 w 433"/>
              <a:gd name="T51" fmla="*/ 342900 h 430"/>
              <a:gd name="T52" fmla="*/ 155216 w 433"/>
              <a:gd name="T53" fmla="*/ 342900 h 430"/>
              <a:gd name="T54" fmla="*/ 123539 w 433"/>
              <a:gd name="T55" fmla="*/ 337318 h 430"/>
              <a:gd name="T56" fmla="*/ 94238 w 433"/>
              <a:gd name="T57" fmla="*/ 326154 h 430"/>
              <a:gd name="T58" fmla="*/ 67313 w 433"/>
              <a:gd name="T59" fmla="*/ 309407 h 430"/>
              <a:gd name="T60" fmla="*/ 44347 w 433"/>
              <a:gd name="T61" fmla="*/ 287877 h 430"/>
              <a:gd name="T62" fmla="*/ 24549 w 433"/>
              <a:gd name="T63" fmla="*/ 262358 h 430"/>
              <a:gd name="T64" fmla="*/ 11087 w 433"/>
              <a:gd name="T65" fmla="*/ 234448 h 430"/>
              <a:gd name="T66" fmla="*/ 1584 w 433"/>
              <a:gd name="T67" fmla="*/ 203348 h 430"/>
              <a:gd name="T68" fmla="*/ 0 w 433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2" y="177"/>
                </a:lnTo>
                <a:lnTo>
                  <a:pt x="14" y="138"/>
                </a:lnTo>
                <a:lnTo>
                  <a:pt x="31" y="102"/>
                </a:lnTo>
                <a:lnTo>
                  <a:pt x="56" y="69"/>
                </a:lnTo>
                <a:lnTo>
                  <a:pt x="85" y="42"/>
                </a:lnTo>
                <a:lnTo>
                  <a:pt x="119" y="21"/>
                </a:lnTo>
                <a:lnTo>
                  <a:pt x="156" y="7"/>
                </a:lnTo>
                <a:lnTo>
                  <a:pt x="196" y="0"/>
                </a:lnTo>
                <a:lnTo>
                  <a:pt x="235" y="0"/>
                </a:lnTo>
                <a:lnTo>
                  <a:pt x="275" y="7"/>
                </a:lnTo>
                <a:lnTo>
                  <a:pt x="312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9"/>
                </a:lnTo>
                <a:lnTo>
                  <a:pt x="375" y="361"/>
                </a:lnTo>
                <a:lnTo>
                  <a:pt x="346" y="388"/>
                </a:lnTo>
                <a:lnTo>
                  <a:pt x="312" y="409"/>
                </a:lnTo>
                <a:lnTo>
                  <a:pt x="275" y="423"/>
                </a:lnTo>
                <a:lnTo>
                  <a:pt x="235" y="430"/>
                </a:lnTo>
                <a:lnTo>
                  <a:pt x="196" y="430"/>
                </a:lnTo>
                <a:lnTo>
                  <a:pt x="156" y="423"/>
                </a:lnTo>
                <a:lnTo>
                  <a:pt x="119" y="409"/>
                </a:lnTo>
                <a:lnTo>
                  <a:pt x="85" y="388"/>
                </a:lnTo>
                <a:lnTo>
                  <a:pt x="56" y="361"/>
                </a:lnTo>
                <a:lnTo>
                  <a:pt x="31" y="329"/>
                </a:lnTo>
                <a:lnTo>
                  <a:pt x="14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5" name="Rectangle 49"/>
          <p:cNvSpPr>
            <a:spLocks noChangeArrowheads="1"/>
          </p:cNvSpPr>
          <p:nvPr/>
        </p:nvSpPr>
        <p:spPr bwMode="auto">
          <a:xfrm>
            <a:off x="3724349" y="6308849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y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16" name="Freeform 50"/>
          <p:cNvSpPr/>
          <p:nvPr/>
        </p:nvSpPr>
        <p:spPr bwMode="auto">
          <a:xfrm>
            <a:off x="4695899" y="6275511"/>
            <a:ext cx="342900" cy="342900"/>
          </a:xfrm>
          <a:custGeom>
            <a:avLst/>
            <a:gdLst>
              <a:gd name="T0" fmla="*/ 0 w 433"/>
              <a:gd name="T1" fmla="*/ 171450 h 430"/>
              <a:gd name="T2" fmla="*/ 3168 w 433"/>
              <a:gd name="T3" fmla="*/ 141147 h 430"/>
              <a:gd name="T4" fmla="*/ 12671 w 433"/>
              <a:gd name="T5" fmla="*/ 110047 h 430"/>
              <a:gd name="T6" fmla="*/ 26133 w 433"/>
              <a:gd name="T7" fmla="*/ 81339 h 430"/>
              <a:gd name="T8" fmla="*/ 44347 w 433"/>
              <a:gd name="T9" fmla="*/ 55023 h 430"/>
              <a:gd name="T10" fmla="*/ 68897 w 433"/>
              <a:gd name="T11" fmla="*/ 33493 h 430"/>
              <a:gd name="T12" fmla="*/ 94238 w 433"/>
              <a:gd name="T13" fmla="*/ 16746 h 430"/>
              <a:gd name="T14" fmla="*/ 125123 w 433"/>
              <a:gd name="T15" fmla="*/ 5582 h 430"/>
              <a:gd name="T16" fmla="*/ 155216 w 433"/>
              <a:gd name="T17" fmla="*/ 0 h 430"/>
              <a:gd name="T18" fmla="*/ 187684 w 433"/>
              <a:gd name="T19" fmla="*/ 0 h 430"/>
              <a:gd name="T20" fmla="*/ 217777 w 433"/>
              <a:gd name="T21" fmla="*/ 5582 h 430"/>
              <a:gd name="T22" fmla="*/ 248662 w 433"/>
              <a:gd name="T23" fmla="*/ 16746 h 430"/>
              <a:gd name="T24" fmla="*/ 274003 w 433"/>
              <a:gd name="T25" fmla="*/ 33493 h 430"/>
              <a:gd name="T26" fmla="*/ 298553 w 433"/>
              <a:gd name="T27" fmla="*/ 55023 h 430"/>
              <a:gd name="T28" fmla="*/ 316767 w 433"/>
              <a:gd name="T29" fmla="*/ 81339 h 430"/>
              <a:gd name="T30" fmla="*/ 330229 w 433"/>
              <a:gd name="T31" fmla="*/ 110047 h 430"/>
              <a:gd name="T32" fmla="*/ 339732 w 433"/>
              <a:gd name="T33" fmla="*/ 141147 h 430"/>
              <a:gd name="T34" fmla="*/ 342900 w 433"/>
              <a:gd name="T35" fmla="*/ 171450 h 430"/>
              <a:gd name="T36" fmla="*/ 339732 w 433"/>
              <a:gd name="T37" fmla="*/ 203348 h 430"/>
              <a:gd name="T38" fmla="*/ 330229 w 433"/>
              <a:gd name="T39" fmla="*/ 234448 h 430"/>
              <a:gd name="T40" fmla="*/ 316767 w 433"/>
              <a:gd name="T41" fmla="*/ 262358 h 430"/>
              <a:gd name="T42" fmla="*/ 298553 w 433"/>
              <a:gd name="T43" fmla="*/ 287877 h 430"/>
              <a:gd name="T44" fmla="*/ 274003 w 433"/>
              <a:gd name="T45" fmla="*/ 309407 h 430"/>
              <a:gd name="T46" fmla="*/ 248662 w 433"/>
              <a:gd name="T47" fmla="*/ 326154 h 430"/>
              <a:gd name="T48" fmla="*/ 217777 w 433"/>
              <a:gd name="T49" fmla="*/ 337318 h 430"/>
              <a:gd name="T50" fmla="*/ 187684 w 433"/>
              <a:gd name="T51" fmla="*/ 342900 h 430"/>
              <a:gd name="T52" fmla="*/ 155216 w 433"/>
              <a:gd name="T53" fmla="*/ 342900 h 430"/>
              <a:gd name="T54" fmla="*/ 125123 w 433"/>
              <a:gd name="T55" fmla="*/ 337318 h 430"/>
              <a:gd name="T56" fmla="*/ 94238 w 433"/>
              <a:gd name="T57" fmla="*/ 326154 h 430"/>
              <a:gd name="T58" fmla="*/ 68897 w 433"/>
              <a:gd name="T59" fmla="*/ 309407 h 430"/>
              <a:gd name="T60" fmla="*/ 44347 w 433"/>
              <a:gd name="T61" fmla="*/ 287877 h 430"/>
              <a:gd name="T62" fmla="*/ 26133 w 433"/>
              <a:gd name="T63" fmla="*/ 262358 h 430"/>
              <a:gd name="T64" fmla="*/ 12671 w 433"/>
              <a:gd name="T65" fmla="*/ 234448 h 430"/>
              <a:gd name="T66" fmla="*/ 3168 w 433"/>
              <a:gd name="T67" fmla="*/ 203348 h 430"/>
              <a:gd name="T68" fmla="*/ 0 w 433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4" y="177"/>
                </a:lnTo>
                <a:lnTo>
                  <a:pt x="16" y="138"/>
                </a:lnTo>
                <a:lnTo>
                  <a:pt x="33" y="102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7"/>
                </a:lnTo>
                <a:lnTo>
                  <a:pt x="196" y="0"/>
                </a:lnTo>
                <a:lnTo>
                  <a:pt x="237" y="0"/>
                </a:lnTo>
                <a:lnTo>
                  <a:pt x="275" y="7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9"/>
                </a:lnTo>
                <a:lnTo>
                  <a:pt x="377" y="361"/>
                </a:lnTo>
                <a:lnTo>
                  <a:pt x="346" y="388"/>
                </a:lnTo>
                <a:lnTo>
                  <a:pt x="314" y="409"/>
                </a:lnTo>
                <a:lnTo>
                  <a:pt x="275" y="423"/>
                </a:lnTo>
                <a:lnTo>
                  <a:pt x="237" y="430"/>
                </a:lnTo>
                <a:lnTo>
                  <a:pt x="196" y="430"/>
                </a:lnTo>
                <a:lnTo>
                  <a:pt x="158" y="423"/>
                </a:lnTo>
                <a:lnTo>
                  <a:pt x="119" y="409"/>
                </a:lnTo>
                <a:lnTo>
                  <a:pt x="87" y="388"/>
                </a:lnTo>
                <a:lnTo>
                  <a:pt x="56" y="361"/>
                </a:lnTo>
                <a:lnTo>
                  <a:pt x="33" y="329"/>
                </a:lnTo>
                <a:lnTo>
                  <a:pt x="16" y="294"/>
                </a:lnTo>
                <a:lnTo>
                  <a:pt x="4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7" name="Rectangle 51"/>
          <p:cNvSpPr>
            <a:spLocks noChangeArrowheads="1"/>
          </p:cNvSpPr>
          <p:nvPr/>
        </p:nvSpPr>
        <p:spPr bwMode="auto">
          <a:xfrm>
            <a:off x="4810199" y="6308849"/>
            <a:ext cx="114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z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18" name="Freeform 52"/>
          <p:cNvSpPr/>
          <p:nvPr/>
        </p:nvSpPr>
        <p:spPr bwMode="auto">
          <a:xfrm>
            <a:off x="4695899" y="5359524"/>
            <a:ext cx="342900" cy="342900"/>
          </a:xfrm>
          <a:custGeom>
            <a:avLst/>
            <a:gdLst>
              <a:gd name="T0" fmla="*/ 0 w 433"/>
              <a:gd name="T1" fmla="*/ 171450 h 430"/>
              <a:gd name="T2" fmla="*/ 3168 w 433"/>
              <a:gd name="T3" fmla="*/ 141147 h 430"/>
              <a:gd name="T4" fmla="*/ 12671 w 433"/>
              <a:gd name="T5" fmla="*/ 110047 h 430"/>
              <a:gd name="T6" fmla="*/ 26133 w 433"/>
              <a:gd name="T7" fmla="*/ 81339 h 430"/>
              <a:gd name="T8" fmla="*/ 44347 w 433"/>
              <a:gd name="T9" fmla="*/ 55023 h 430"/>
              <a:gd name="T10" fmla="*/ 68897 w 433"/>
              <a:gd name="T11" fmla="*/ 33493 h 430"/>
              <a:gd name="T12" fmla="*/ 94238 w 433"/>
              <a:gd name="T13" fmla="*/ 16746 h 430"/>
              <a:gd name="T14" fmla="*/ 125123 w 433"/>
              <a:gd name="T15" fmla="*/ 5582 h 430"/>
              <a:gd name="T16" fmla="*/ 155216 w 433"/>
              <a:gd name="T17" fmla="*/ 0 h 430"/>
              <a:gd name="T18" fmla="*/ 187684 w 433"/>
              <a:gd name="T19" fmla="*/ 0 h 430"/>
              <a:gd name="T20" fmla="*/ 217777 w 433"/>
              <a:gd name="T21" fmla="*/ 5582 h 430"/>
              <a:gd name="T22" fmla="*/ 248662 w 433"/>
              <a:gd name="T23" fmla="*/ 16746 h 430"/>
              <a:gd name="T24" fmla="*/ 274003 w 433"/>
              <a:gd name="T25" fmla="*/ 33493 h 430"/>
              <a:gd name="T26" fmla="*/ 298553 w 433"/>
              <a:gd name="T27" fmla="*/ 55023 h 430"/>
              <a:gd name="T28" fmla="*/ 316767 w 433"/>
              <a:gd name="T29" fmla="*/ 81339 h 430"/>
              <a:gd name="T30" fmla="*/ 330229 w 433"/>
              <a:gd name="T31" fmla="*/ 110047 h 430"/>
              <a:gd name="T32" fmla="*/ 339732 w 433"/>
              <a:gd name="T33" fmla="*/ 141147 h 430"/>
              <a:gd name="T34" fmla="*/ 342900 w 433"/>
              <a:gd name="T35" fmla="*/ 171450 h 430"/>
              <a:gd name="T36" fmla="*/ 339732 w 433"/>
              <a:gd name="T37" fmla="*/ 203348 h 430"/>
              <a:gd name="T38" fmla="*/ 330229 w 433"/>
              <a:gd name="T39" fmla="*/ 234448 h 430"/>
              <a:gd name="T40" fmla="*/ 316767 w 433"/>
              <a:gd name="T41" fmla="*/ 261561 h 430"/>
              <a:gd name="T42" fmla="*/ 298553 w 433"/>
              <a:gd name="T43" fmla="*/ 287877 h 430"/>
              <a:gd name="T44" fmla="*/ 274003 w 433"/>
              <a:gd name="T45" fmla="*/ 309407 h 430"/>
              <a:gd name="T46" fmla="*/ 248662 w 433"/>
              <a:gd name="T47" fmla="*/ 326154 h 430"/>
              <a:gd name="T48" fmla="*/ 217777 w 433"/>
              <a:gd name="T49" fmla="*/ 337318 h 430"/>
              <a:gd name="T50" fmla="*/ 187684 w 433"/>
              <a:gd name="T51" fmla="*/ 342900 h 430"/>
              <a:gd name="T52" fmla="*/ 155216 w 433"/>
              <a:gd name="T53" fmla="*/ 342900 h 430"/>
              <a:gd name="T54" fmla="*/ 125123 w 433"/>
              <a:gd name="T55" fmla="*/ 337318 h 430"/>
              <a:gd name="T56" fmla="*/ 94238 w 433"/>
              <a:gd name="T57" fmla="*/ 326154 h 430"/>
              <a:gd name="T58" fmla="*/ 68897 w 433"/>
              <a:gd name="T59" fmla="*/ 309407 h 430"/>
              <a:gd name="T60" fmla="*/ 44347 w 433"/>
              <a:gd name="T61" fmla="*/ 287877 h 430"/>
              <a:gd name="T62" fmla="*/ 26133 w 433"/>
              <a:gd name="T63" fmla="*/ 261561 h 430"/>
              <a:gd name="T64" fmla="*/ 12671 w 433"/>
              <a:gd name="T65" fmla="*/ 234448 h 430"/>
              <a:gd name="T66" fmla="*/ 3168 w 433"/>
              <a:gd name="T67" fmla="*/ 203348 h 430"/>
              <a:gd name="T68" fmla="*/ 0 w 433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4" y="177"/>
                </a:lnTo>
                <a:lnTo>
                  <a:pt x="16" y="138"/>
                </a:lnTo>
                <a:lnTo>
                  <a:pt x="33" y="102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7"/>
                </a:lnTo>
                <a:lnTo>
                  <a:pt x="196" y="0"/>
                </a:lnTo>
                <a:lnTo>
                  <a:pt x="237" y="0"/>
                </a:lnTo>
                <a:lnTo>
                  <a:pt x="275" y="7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7" y="361"/>
                </a:lnTo>
                <a:lnTo>
                  <a:pt x="346" y="388"/>
                </a:lnTo>
                <a:lnTo>
                  <a:pt x="314" y="409"/>
                </a:lnTo>
                <a:lnTo>
                  <a:pt x="275" y="423"/>
                </a:lnTo>
                <a:lnTo>
                  <a:pt x="237" y="430"/>
                </a:lnTo>
                <a:lnTo>
                  <a:pt x="196" y="430"/>
                </a:lnTo>
                <a:lnTo>
                  <a:pt x="158" y="423"/>
                </a:lnTo>
                <a:lnTo>
                  <a:pt x="119" y="409"/>
                </a:lnTo>
                <a:lnTo>
                  <a:pt x="87" y="388"/>
                </a:lnTo>
                <a:lnTo>
                  <a:pt x="56" y="361"/>
                </a:lnTo>
                <a:lnTo>
                  <a:pt x="33" y="328"/>
                </a:lnTo>
                <a:lnTo>
                  <a:pt x="16" y="294"/>
                </a:lnTo>
                <a:lnTo>
                  <a:pt x="4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19" name="Rectangle 53"/>
          <p:cNvSpPr>
            <a:spLocks noChangeArrowheads="1"/>
          </p:cNvSpPr>
          <p:nvPr/>
        </p:nvSpPr>
        <p:spPr bwMode="auto">
          <a:xfrm>
            <a:off x="4829249" y="5392861"/>
            <a:ext cx="88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-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20" name="Freeform 54"/>
          <p:cNvSpPr/>
          <p:nvPr/>
        </p:nvSpPr>
        <p:spPr bwMode="auto">
          <a:xfrm>
            <a:off x="5211837" y="5818311"/>
            <a:ext cx="342900" cy="341313"/>
          </a:xfrm>
          <a:custGeom>
            <a:avLst/>
            <a:gdLst>
              <a:gd name="T0" fmla="*/ 0 w 432"/>
              <a:gd name="T1" fmla="*/ 170657 h 430"/>
              <a:gd name="T2" fmla="*/ 1588 w 432"/>
              <a:gd name="T3" fmla="*/ 140494 h 430"/>
              <a:gd name="T4" fmla="*/ 10319 w 432"/>
              <a:gd name="T5" fmla="*/ 109538 h 430"/>
              <a:gd name="T6" fmla="*/ 24606 w 432"/>
              <a:gd name="T7" fmla="*/ 80963 h 430"/>
              <a:gd name="T8" fmla="*/ 43656 w 432"/>
              <a:gd name="T9" fmla="*/ 54769 h 430"/>
              <a:gd name="T10" fmla="*/ 66675 w 432"/>
              <a:gd name="T11" fmla="*/ 33338 h 430"/>
              <a:gd name="T12" fmla="*/ 94456 w 432"/>
              <a:gd name="T13" fmla="*/ 16669 h 430"/>
              <a:gd name="T14" fmla="*/ 123031 w 432"/>
              <a:gd name="T15" fmla="*/ 5556 h 430"/>
              <a:gd name="T16" fmla="*/ 155575 w 432"/>
              <a:gd name="T17" fmla="*/ 0 h 430"/>
              <a:gd name="T18" fmla="*/ 185738 w 432"/>
              <a:gd name="T19" fmla="*/ 0 h 430"/>
              <a:gd name="T20" fmla="*/ 218281 w 432"/>
              <a:gd name="T21" fmla="*/ 5556 h 430"/>
              <a:gd name="T22" fmla="*/ 246856 w 432"/>
              <a:gd name="T23" fmla="*/ 16669 h 430"/>
              <a:gd name="T24" fmla="*/ 274638 w 432"/>
              <a:gd name="T25" fmla="*/ 33338 h 430"/>
              <a:gd name="T26" fmla="*/ 296863 w 432"/>
              <a:gd name="T27" fmla="*/ 54769 h 430"/>
              <a:gd name="T28" fmla="*/ 316706 w 432"/>
              <a:gd name="T29" fmla="*/ 80963 h 430"/>
              <a:gd name="T30" fmla="*/ 330994 w 432"/>
              <a:gd name="T31" fmla="*/ 109538 h 430"/>
              <a:gd name="T32" fmla="*/ 339725 w 432"/>
              <a:gd name="T33" fmla="*/ 140494 h 430"/>
              <a:gd name="T34" fmla="*/ 342900 w 432"/>
              <a:gd name="T35" fmla="*/ 170657 h 430"/>
              <a:gd name="T36" fmla="*/ 339725 w 432"/>
              <a:gd name="T37" fmla="*/ 202407 h 430"/>
              <a:gd name="T38" fmla="*/ 330994 w 432"/>
              <a:gd name="T39" fmla="*/ 233363 h 430"/>
              <a:gd name="T40" fmla="*/ 316706 w 432"/>
              <a:gd name="T41" fmla="*/ 260350 h 430"/>
              <a:gd name="T42" fmla="*/ 296863 w 432"/>
              <a:gd name="T43" fmla="*/ 286544 h 430"/>
              <a:gd name="T44" fmla="*/ 274638 w 432"/>
              <a:gd name="T45" fmla="*/ 307975 h 430"/>
              <a:gd name="T46" fmla="*/ 246856 w 432"/>
              <a:gd name="T47" fmla="*/ 324644 h 430"/>
              <a:gd name="T48" fmla="*/ 218281 w 432"/>
              <a:gd name="T49" fmla="*/ 335757 h 430"/>
              <a:gd name="T50" fmla="*/ 185738 w 432"/>
              <a:gd name="T51" fmla="*/ 341313 h 430"/>
              <a:gd name="T52" fmla="*/ 155575 w 432"/>
              <a:gd name="T53" fmla="*/ 341313 h 430"/>
              <a:gd name="T54" fmla="*/ 123031 w 432"/>
              <a:gd name="T55" fmla="*/ 335757 h 430"/>
              <a:gd name="T56" fmla="*/ 94456 w 432"/>
              <a:gd name="T57" fmla="*/ 324644 h 430"/>
              <a:gd name="T58" fmla="*/ 66675 w 432"/>
              <a:gd name="T59" fmla="*/ 307975 h 430"/>
              <a:gd name="T60" fmla="*/ 43656 w 432"/>
              <a:gd name="T61" fmla="*/ 286544 h 430"/>
              <a:gd name="T62" fmla="*/ 24606 w 432"/>
              <a:gd name="T63" fmla="*/ 260350 h 430"/>
              <a:gd name="T64" fmla="*/ 10319 w 432"/>
              <a:gd name="T65" fmla="*/ 233363 h 430"/>
              <a:gd name="T66" fmla="*/ 1588 w 432"/>
              <a:gd name="T67" fmla="*/ 202407 h 430"/>
              <a:gd name="T68" fmla="*/ 0 w 432"/>
              <a:gd name="T69" fmla="*/ 170657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0">
                <a:moveTo>
                  <a:pt x="0" y="215"/>
                </a:moveTo>
                <a:lnTo>
                  <a:pt x="2" y="177"/>
                </a:lnTo>
                <a:lnTo>
                  <a:pt x="13" y="138"/>
                </a:lnTo>
                <a:lnTo>
                  <a:pt x="31" y="102"/>
                </a:lnTo>
                <a:lnTo>
                  <a:pt x="55" y="69"/>
                </a:lnTo>
                <a:lnTo>
                  <a:pt x="84" y="42"/>
                </a:lnTo>
                <a:lnTo>
                  <a:pt x="119" y="21"/>
                </a:lnTo>
                <a:lnTo>
                  <a:pt x="155" y="7"/>
                </a:lnTo>
                <a:lnTo>
                  <a:pt x="196" y="0"/>
                </a:lnTo>
                <a:lnTo>
                  <a:pt x="234" y="0"/>
                </a:lnTo>
                <a:lnTo>
                  <a:pt x="275" y="7"/>
                </a:lnTo>
                <a:lnTo>
                  <a:pt x="311" y="21"/>
                </a:lnTo>
                <a:lnTo>
                  <a:pt x="346" y="42"/>
                </a:lnTo>
                <a:lnTo>
                  <a:pt x="374" y="69"/>
                </a:lnTo>
                <a:lnTo>
                  <a:pt x="399" y="102"/>
                </a:lnTo>
                <a:lnTo>
                  <a:pt x="417" y="138"/>
                </a:lnTo>
                <a:lnTo>
                  <a:pt x="428" y="177"/>
                </a:lnTo>
                <a:lnTo>
                  <a:pt x="432" y="215"/>
                </a:lnTo>
                <a:lnTo>
                  <a:pt x="428" y="255"/>
                </a:lnTo>
                <a:lnTo>
                  <a:pt x="417" y="294"/>
                </a:lnTo>
                <a:lnTo>
                  <a:pt x="399" y="328"/>
                </a:lnTo>
                <a:lnTo>
                  <a:pt x="374" y="361"/>
                </a:lnTo>
                <a:lnTo>
                  <a:pt x="346" y="388"/>
                </a:lnTo>
                <a:lnTo>
                  <a:pt x="311" y="409"/>
                </a:lnTo>
                <a:lnTo>
                  <a:pt x="275" y="423"/>
                </a:lnTo>
                <a:lnTo>
                  <a:pt x="234" y="430"/>
                </a:lnTo>
                <a:lnTo>
                  <a:pt x="196" y="430"/>
                </a:lnTo>
                <a:lnTo>
                  <a:pt x="155" y="423"/>
                </a:lnTo>
                <a:lnTo>
                  <a:pt x="119" y="409"/>
                </a:lnTo>
                <a:lnTo>
                  <a:pt x="84" y="388"/>
                </a:lnTo>
                <a:lnTo>
                  <a:pt x="55" y="361"/>
                </a:lnTo>
                <a:lnTo>
                  <a:pt x="31" y="328"/>
                </a:lnTo>
                <a:lnTo>
                  <a:pt x="13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1" name="Rectangle 55"/>
          <p:cNvSpPr>
            <a:spLocks noChangeArrowheads="1"/>
          </p:cNvSpPr>
          <p:nvPr/>
        </p:nvSpPr>
        <p:spPr bwMode="auto">
          <a:xfrm>
            <a:off x="5318199" y="5851649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q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22" name="Freeform 56"/>
          <p:cNvSpPr/>
          <p:nvPr/>
        </p:nvSpPr>
        <p:spPr bwMode="auto">
          <a:xfrm>
            <a:off x="3495749" y="5359524"/>
            <a:ext cx="342900" cy="342900"/>
          </a:xfrm>
          <a:custGeom>
            <a:avLst/>
            <a:gdLst>
              <a:gd name="T0" fmla="*/ 0 w 432"/>
              <a:gd name="T1" fmla="*/ 171450 h 430"/>
              <a:gd name="T2" fmla="*/ 1588 w 432"/>
              <a:gd name="T3" fmla="*/ 141147 h 430"/>
              <a:gd name="T4" fmla="*/ 11113 w 432"/>
              <a:gd name="T5" fmla="*/ 110047 h 430"/>
              <a:gd name="T6" fmla="*/ 24606 w 432"/>
              <a:gd name="T7" fmla="*/ 81339 h 430"/>
              <a:gd name="T8" fmla="*/ 44450 w 432"/>
              <a:gd name="T9" fmla="*/ 55023 h 430"/>
              <a:gd name="T10" fmla="*/ 67469 w 432"/>
              <a:gd name="T11" fmla="*/ 33493 h 430"/>
              <a:gd name="T12" fmla="*/ 94456 w 432"/>
              <a:gd name="T13" fmla="*/ 16746 h 430"/>
              <a:gd name="T14" fmla="*/ 123825 w 432"/>
              <a:gd name="T15" fmla="*/ 5582 h 430"/>
              <a:gd name="T16" fmla="*/ 155575 w 432"/>
              <a:gd name="T17" fmla="*/ 0 h 430"/>
              <a:gd name="T18" fmla="*/ 186531 w 432"/>
              <a:gd name="T19" fmla="*/ 0 h 430"/>
              <a:gd name="T20" fmla="*/ 218281 w 432"/>
              <a:gd name="T21" fmla="*/ 5582 h 430"/>
              <a:gd name="T22" fmla="*/ 246856 w 432"/>
              <a:gd name="T23" fmla="*/ 16746 h 430"/>
              <a:gd name="T24" fmla="*/ 274638 w 432"/>
              <a:gd name="T25" fmla="*/ 33493 h 430"/>
              <a:gd name="T26" fmla="*/ 297656 w 432"/>
              <a:gd name="T27" fmla="*/ 55023 h 430"/>
              <a:gd name="T28" fmla="*/ 317500 w 432"/>
              <a:gd name="T29" fmla="*/ 81339 h 430"/>
              <a:gd name="T30" fmla="*/ 330994 w 432"/>
              <a:gd name="T31" fmla="*/ 110047 h 430"/>
              <a:gd name="T32" fmla="*/ 340519 w 432"/>
              <a:gd name="T33" fmla="*/ 141147 h 430"/>
              <a:gd name="T34" fmla="*/ 342900 w 432"/>
              <a:gd name="T35" fmla="*/ 171450 h 430"/>
              <a:gd name="T36" fmla="*/ 340519 w 432"/>
              <a:gd name="T37" fmla="*/ 203348 h 430"/>
              <a:gd name="T38" fmla="*/ 330994 w 432"/>
              <a:gd name="T39" fmla="*/ 234448 h 430"/>
              <a:gd name="T40" fmla="*/ 317500 w 432"/>
              <a:gd name="T41" fmla="*/ 261561 h 430"/>
              <a:gd name="T42" fmla="*/ 297656 w 432"/>
              <a:gd name="T43" fmla="*/ 287877 h 430"/>
              <a:gd name="T44" fmla="*/ 274638 w 432"/>
              <a:gd name="T45" fmla="*/ 309407 h 430"/>
              <a:gd name="T46" fmla="*/ 246856 w 432"/>
              <a:gd name="T47" fmla="*/ 326154 h 430"/>
              <a:gd name="T48" fmla="*/ 218281 w 432"/>
              <a:gd name="T49" fmla="*/ 337318 h 430"/>
              <a:gd name="T50" fmla="*/ 186531 w 432"/>
              <a:gd name="T51" fmla="*/ 342900 h 430"/>
              <a:gd name="T52" fmla="*/ 155575 w 432"/>
              <a:gd name="T53" fmla="*/ 342900 h 430"/>
              <a:gd name="T54" fmla="*/ 123825 w 432"/>
              <a:gd name="T55" fmla="*/ 337318 h 430"/>
              <a:gd name="T56" fmla="*/ 94456 w 432"/>
              <a:gd name="T57" fmla="*/ 326154 h 430"/>
              <a:gd name="T58" fmla="*/ 67469 w 432"/>
              <a:gd name="T59" fmla="*/ 309407 h 430"/>
              <a:gd name="T60" fmla="*/ 44450 w 432"/>
              <a:gd name="T61" fmla="*/ 287877 h 430"/>
              <a:gd name="T62" fmla="*/ 24606 w 432"/>
              <a:gd name="T63" fmla="*/ 261561 h 430"/>
              <a:gd name="T64" fmla="*/ 11113 w 432"/>
              <a:gd name="T65" fmla="*/ 234448 h 430"/>
              <a:gd name="T66" fmla="*/ 1588 w 432"/>
              <a:gd name="T67" fmla="*/ 203348 h 430"/>
              <a:gd name="T68" fmla="*/ 0 w 432"/>
              <a:gd name="T69" fmla="*/ 171450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0">
                <a:moveTo>
                  <a:pt x="0" y="215"/>
                </a:moveTo>
                <a:lnTo>
                  <a:pt x="2" y="177"/>
                </a:lnTo>
                <a:lnTo>
                  <a:pt x="14" y="138"/>
                </a:lnTo>
                <a:lnTo>
                  <a:pt x="31" y="102"/>
                </a:lnTo>
                <a:lnTo>
                  <a:pt x="56" y="69"/>
                </a:lnTo>
                <a:lnTo>
                  <a:pt x="85" y="42"/>
                </a:lnTo>
                <a:lnTo>
                  <a:pt x="119" y="21"/>
                </a:lnTo>
                <a:lnTo>
                  <a:pt x="156" y="7"/>
                </a:lnTo>
                <a:lnTo>
                  <a:pt x="196" y="0"/>
                </a:lnTo>
                <a:lnTo>
                  <a:pt x="235" y="0"/>
                </a:lnTo>
                <a:lnTo>
                  <a:pt x="275" y="7"/>
                </a:lnTo>
                <a:lnTo>
                  <a:pt x="311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2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5" y="361"/>
                </a:lnTo>
                <a:lnTo>
                  <a:pt x="346" y="388"/>
                </a:lnTo>
                <a:lnTo>
                  <a:pt x="311" y="409"/>
                </a:lnTo>
                <a:lnTo>
                  <a:pt x="275" y="423"/>
                </a:lnTo>
                <a:lnTo>
                  <a:pt x="235" y="430"/>
                </a:lnTo>
                <a:lnTo>
                  <a:pt x="196" y="430"/>
                </a:lnTo>
                <a:lnTo>
                  <a:pt x="156" y="423"/>
                </a:lnTo>
                <a:lnTo>
                  <a:pt x="119" y="409"/>
                </a:lnTo>
                <a:lnTo>
                  <a:pt x="85" y="388"/>
                </a:lnTo>
                <a:lnTo>
                  <a:pt x="56" y="361"/>
                </a:lnTo>
                <a:lnTo>
                  <a:pt x="31" y="328"/>
                </a:lnTo>
                <a:lnTo>
                  <a:pt x="14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3" name="Rectangle 57"/>
          <p:cNvSpPr>
            <a:spLocks noChangeArrowheads="1"/>
          </p:cNvSpPr>
          <p:nvPr/>
        </p:nvSpPr>
        <p:spPr bwMode="auto">
          <a:xfrm>
            <a:off x="3598937" y="5392861"/>
            <a:ext cx="155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+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24" name="Freeform 58"/>
          <p:cNvSpPr/>
          <p:nvPr/>
        </p:nvSpPr>
        <p:spPr bwMode="auto">
          <a:xfrm>
            <a:off x="3094112" y="5761161"/>
            <a:ext cx="344487" cy="342900"/>
          </a:xfrm>
          <a:custGeom>
            <a:avLst/>
            <a:gdLst>
              <a:gd name="T0" fmla="*/ 0 w 432"/>
              <a:gd name="T1" fmla="*/ 171848 h 431"/>
              <a:gd name="T2" fmla="*/ 3190 w 432"/>
              <a:gd name="T3" fmla="*/ 139229 h 431"/>
              <a:gd name="T4" fmla="*/ 11961 w 432"/>
              <a:gd name="T5" fmla="*/ 108996 h 431"/>
              <a:gd name="T6" fmla="*/ 25518 w 432"/>
              <a:gd name="T7" fmla="*/ 79559 h 431"/>
              <a:gd name="T8" fmla="*/ 44656 w 432"/>
              <a:gd name="T9" fmla="*/ 55691 h 431"/>
              <a:gd name="T10" fmla="*/ 68578 w 432"/>
              <a:gd name="T11" fmla="*/ 34210 h 431"/>
              <a:gd name="T12" fmla="*/ 94893 w 432"/>
              <a:gd name="T13" fmla="*/ 17503 h 431"/>
              <a:gd name="T14" fmla="*/ 125196 w 432"/>
              <a:gd name="T15" fmla="*/ 4774 h 431"/>
              <a:gd name="T16" fmla="*/ 156295 w 432"/>
              <a:gd name="T17" fmla="*/ 0 h 431"/>
              <a:gd name="T18" fmla="*/ 188192 w 432"/>
              <a:gd name="T19" fmla="*/ 0 h 431"/>
              <a:gd name="T20" fmla="*/ 219291 w 432"/>
              <a:gd name="T21" fmla="*/ 4774 h 431"/>
              <a:gd name="T22" fmla="*/ 249594 w 432"/>
              <a:gd name="T23" fmla="*/ 17503 h 431"/>
              <a:gd name="T24" fmla="*/ 275909 w 432"/>
              <a:gd name="T25" fmla="*/ 34210 h 431"/>
              <a:gd name="T26" fmla="*/ 299831 w 432"/>
              <a:gd name="T27" fmla="*/ 55691 h 431"/>
              <a:gd name="T28" fmla="*/ 318172 w 432"/>
              <a:gd name="T29" fmla="*/ 79559 h 431"/>
              <a:gd name="T30" fmla="*/ 332526 w 432"/>
              <a:gd name="T31" fmla="*/ 108996 h 431"/>
              <a:gd name="T32" fmla="*/ 341297 w 432"/>
              <a:gd name="T33" fmla="*/ 139229 h 431"/>
              <a:gd name="T34" fmla="*/ 344487 w 432"/>
              <a:gd name="T35" fmla="*/ 171848 h 431"/>
              <a:gd name="T36" fmla="*/ 341297 w 432"/>
              <a:gd name="T37" fmla="*/ 202080 h 431"/>
              <a:gd name="T38" fmla="*/ 332526 w 432"/>
              <a:gd name="T39" fmla="*/ 233108 h 431"/>
              <a:gd name="T40" fmla="*/ 318172 w 432"/>
              <a:gd name="T41" fmla="*/ 261750 h 431"/>
              <a:gd name="T42" fmla="*/ 299831 w 432"/>
              <a:gd name="T43" fmla="*/ 286413 h 431"/>
              <a:gd name="T44" fmla="*/ 275909 w 432"/>
              <a:gd name="T45" fmla="*/ 307894 h 431"/>
              <a:gd name="T46" fmla="*/ 249594 w 432"/>
              <a:gd name="T47" fmla="*/ 324601 h 431"/>
              <a:gd name="T48" fmla="*/ 219291 w 432"/>
              <a:gd name="T49" fmla="*/ 337331 h 431"/>
              <a:gd name="T50" fmla="*/ 188192 w 432"/>
              <a:gd name="T51" fmla="*/ 342900 h 431"/>
              <a:gd name="T52" fmla="*/ 156295 w 432"/>
              <a:gd name="T53" fmla="*/ 342900 h 431"/>
              <a:gd name="T54" fmla="*/ 125196 w 432"/>
              <a:gd name="T55" fmla="*/ 337331 h 431"/>
              <a:gd name="T56" fmla="*/ 94893 w 432"/>
              <a:gd name="T57" fmla="*/ 324601 h 431"/>
              <a:gd name="T58" fmla="*/ 68578 w 432"/>
              <a:gd name="T59" fmla="*/ 307894 h 431"/>
              <a:gd name="T60" fmla="*/ 44656 w 432"/>
              <a:gd name="T61" fmla="*/ 286413 h 431"/>
              <a:gd name="T62" fmla="*/ 25518 w 432"/>
              <a:gd name="T63" fmla="*/ 261750 h 431"/>
              <a:gd name="T64" fmla="*/ 11961 w 432"/>
              <a:gd name="T65" fmla="*/ 233108 h 431"/>
              <a:gd name="T66" fmla="*/ 3190 w 432"/>
              <a:gd name="T67" fmla="*/ 202080 h 431"/>
              <a:gd name="T68" fmla="*/ 0 w 432"/>
              <a:gd name="T69" fmla="*/ 171848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5" y="137"/>
                </a:lnTo>
                <a:lnTo>
                  <a:pt x="32" y="100"/>
                </a:lnTo>
                <a:lnTo>
                  <a:pt x="56" y="70"/>
                </a:lnTo>
                <a:lnTo>
                  <a:pt x="86" y="43"/>
                </a:lnTo>
                <a:lnTo>
                  <a:pt x="119" y="22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2"/>
                </a:lnTo>
                <a:lnTo>
                  <a:pt x="346" y="43"/>
                </a:lnTo>
                <a:lnTo>
                  <a:pt x="376" y="70"/>
                </a:lnTo>
                <a:lnTo>
                  <a:pt x="399" y="100"/>
                </a:lnTo>
                <a:lnTo>
                  <a:pt x="417" y="137"/>
                </a:lnTo>
                <a:lnTo>
                  <a:pt x="428" y="175"/>
                </a:lnTo>
                <a:lnTo>
                  <a:pt x="432" y="216"/>
                </a:lnTo>
                <a:lnTo>
                  <a:pt x="428" y="254"/>
                </a:lnTo>
                <a:lnTo>
                  <a:pt x="417" y="293"/>
                </a:lnTo>
                <a:lnTo>
                  <a:pt x="399" y="329"/>
                </a:lnTo>
                <a:lnTo>
                  <a:pt x="376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4"/>
                </a:lnTo>
                <a:lnTo>
                  <a:pt x="236" y="431"/>
                </a:lnTo>
                <a:lnTo>
                  <a:pt x="196" y="431"/>
                </a:lnTo>
                <a:lnTo>
                  <a:pt x="157" y="424"/>
                </a:lnTo>
                <a:lnTo>
                  <a:pt x="119" y="408"/>
                </a:lnTo>
                <a:lnTo>
                  <a:pt x="86" y="387"/>
                </a:lnTo>
                <a:lnTo>
                  <a:pt x="56" y="360"/>
                </a:lnTo>
                <a:lnTo>
                  <a:pt x="32" y="329"/>
                </a:lnTo>
                <a:lnTo>
                  <a:pt x="15" y="293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5" name="Rectangle 59"/>
          <p:cNvSpPr>
            <a:spLocks noChangeArrowheads="1"/>
          </p:cNvSpPr>
          <p:nvPr/>
        </p:nvSpPr>
        <p:spPr bwMode="auto">
          <a:xfrm>
            <a:off x="3203649" y="5794499"/>
            <a:ext cx="13144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q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26" name="Freeform 60"/>
          <p:cNvSpPr/>
          <p:nvPr/>
        </p:nvSpPr>
        <p:spPr bwMode="auto">
          <a:xfrm>
            <a:off x="4124399" y="5761161"/>
            <a:ext cx="342900" cy="342900"/>
          </a:xfrm>
          <a:custGeom>
            <a:avLst/>
            <a:gdLst>
              <a:gd name="T0" fmla="*/ 0 w 432"/>
              <a:gd name="T1" fmla="*/ 171848 h 431"/>
              <a:gd name="T2" fmla="*/ 3175 w 432"/>
              <a:gd name="T3" fmla="*/ 139229 h 431"/>
              <a:gd name="T4" fmla="*/ 11906 w 432"/>
              <a:gd name="T5" fmla="*/ 108996 h 431"/>
              <a:gd name="T6" fmla="*/ 25400 w 432"/>
              <a:gd name="T7" fmla="*/ 79559 h 431"/>
              <a:gd name="T8" fmla="*/ 44450 w 432"/>
              <a:gd name="T9" fmla="*/ 55691 h 431"/>
              <a:gd name="T10" fmla="*/ 68263 w 432"/>
              <a:gd name="T11" fmla="*/ 34210 h 431"/>
              <a:gd name="T12" fmla="*/ 94456 w 432"/>
              <a:gd name="T13" fmla="*/ 17503 h 431"/>
              <a:gd name="T14" fmla="*/ 124619 w 432"/>
              <a:gd name="T15" fmla="*/ 4774 h 431"/>
              <a:gd name="T16" fmla="*/ 155575 w 432"/>
              <a:gd name="T17" fmla="*/ 0 h 431"/>
              <a:gd name="T18" fmla="*/ 187325 w 432"/>
              <a:gd name="T19" fmla="*/ 0 h 431"/>
              <a:gd name="T20" fmla="*/ 218281 w 432"/>
              <a:gd name="T21" fmla="*/ 4774 h 431"/>
              <a:gd name="T22" fmla="*/ 248444 w 432"/>
              <a:gd name="T23" fmla="*/ 17503 h 431"/>
              <a:gd name="T24" fmla="*/ 274638 w 432"/>
              <a:gd name="T25" fmla="*/ 34210 h 431"/>
              <a:gd name="T26" fmla="*/ 298450 w 432"/>
              <a:gd name="T27" fmla="*/ 55691 h 431"/>
              <a:gd name="T28" fmla="*/ 316706 w 432"/>
              <a:gd name="T29" fmla="*/ 79559 h 431"/>
              <a:gd name="T30" fmla="*/ 330994 w 432"/>
              <a:gd name="T31" fmla="*/ 108996 h 431"/>
              <a:gd name="T32" fmla="*/ 339725 w 432"/>
              <a:gd name="T33" fmla="*/ 139229 h 431"/>
              <a:gd name="T34" fmla="*/ 342900 w 432"/>
              <a:gd name="T35" fmla="*/ 171848 h 431"/>
              <a:gd name="T36" fmla="*/ 339725 w 432"/>
              <a:gd name="T37" fmla="*/ 202080 h 431"/>
              <a:gd name="T38" fmla="*/ 330994 w 432"/>
              <a:gd name="T39" fmla="*/ 233108 h 431"/>
              <a:gd name="T40" fmla="*/ 316706 w 432"/>
              <a:gd name="T41" fmla="*/ 261750 h 431"/>
              <a:gd name="T42" fmla="*/ 298450 w 432"/>
              <a:gd name="T43" fmla="*/ 286413 h 431"/>
              <a:gd name="T44" fmla="*/ 274638 w 432"/>
              <a:gd name="T45" fmla="*/ 307894 h 431"/>
              <a:gd name="T46" fmla="*/ 248444 w 432"/>
              <a:gd name="T47" fmla="*/ 324601 h 431"/>
              <a:gd name="T48" fmla="*/ 218281 w 432"/>
              <a:gd name="T49" fmla="*/ 337331 h 431"/>
              <a:gd name="T50" fmla="*/ 187325 w 432"/>
              <a:gd name="T51" fmla="*/ 342900 h 431"/>
              <a:gd name="T52" fmla="*/ 155575 w 432"/>
              <a:gd name="T53" fmla="*/ 342900 h 431"/>
              <a:gd name="T54" fmla="*/ 124619 w 432"/>
              <a:gd name="T55" fmla="*/ 337331 h 431"/>
              <a:gd name="T56" fmla="*/ 94456 w 432"/>
              <a:gd name="T57" fmla="*/ 324601 h 431"/>
              <a:gd name="T58" fmla="*/ 68263 w 432"/>
              <a:gd name="T59" fmla="*/ 307894 h 431"/>
              <a:gd name="T60" fmla="*/ 44450 w 432"/>
              <a:gd name="T61" fmla="*/ 286413 h 431"/>
              <a:gd name="T62" fmla="*/ 25400 w 432"/>
              <a:gd name="T63" fmla="*/ 261750 h 431"/>
              <a:gd name="T64" fmla="*/ 11906 w 432"/>
              <a:gd name="T65" fmla="*/ 233108 h 431"/>
              <a:gd name="T66" fmla="*/ 3175 w 432"/>
              <a:gd name="T67" fmla="*/ 202080 h 431"/>
              <a:gd name="T68" fmla="*/ 0 w 432"/>
              <a:gd name="T69" fmla="*/ 171848 h 431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1">
                <a:moveTo>
                  <a:pt x="0" y="216"/>
                </a:moveTo>
                <a:lnTo>
                  <a:pt x="4" y="175"/>
                </a:lnTo>
                <a:lnTo>
                  <a:pt x="15" y="137"/>
                </a:lnTo>
                <a:lnTo>
                  <a:pt x="32" y="100"/>
                </a:lnTo>
                <a:lnTo>
                  <a:pt x="56" y="70"/>
                </a:lnTo>
                <a:lnTo>
                  <a:pt x="86" y="43"/>
                </a:lnTo>
                <a:lnTo>
                  <a:pt x="119" y="22"/>
                </a:lnTo>
                <a:lnTo>
                  <a:pt x="157" y="6"/>
                </a:lnTo>
                <a:lnTo>
                  <a:pt x="196" y="0"/>
                </a:lnTo>
                <a:lnTo>
                  <a:pt x="236" y="0"/>
                </a:lnTo>
                <a:lnTo>
                  <a:pt x="275" y="6"/>
                </a:lnTo>
                <a:lnTo>
                  <a:pt x="313" y="22"/>
                </a:lnTo>
                <a:lnTo>
                  <a:pt x="346" y="43"/>
                </a:lnTo>
                <a:lnTo>
                  <a:pt x="376" y="70"/>
                </a:lnTo>
                <a:lnTo>
                  <a:pt x="399" y="100"/>
                </a:lnTo>
                <a:lnTo>
                  <a:pt x="417" y="137"/>
                </a:lnTo>
                <a:lnTo>
                  <a:pt x="428" y="175"/>
                </a:lnTo>
                <a:lnTo>
                  <a:pt x="432" y="216"/>
                </a:lnTo>
                <a:lnTo>
                  <a:pt x="428" y="254"/>
                </a:lnTo>
                <a:lnTo>
                  <a:pt x="417" y="293"/>
                </a:lnTo>
                <a:lnTo>
                  <a:pt x="399" y="329"/>
                </a:lnTo>
                <a:lnTo>
                  <a:pt x="376" y="360"/>
                </a:lnTo>
                <a:lnTo>
                  <a:pt x="346" y="387"/>
                </a:lnTo>
                <a:lnTo>
                  <a:pt x="313" y="408"/>
                </a:lnTo>
                <a:lnTo>
                  <a:pt x="275" y="424"/>
                </a:lnTo>
                <a:lnTo>
                  <a:pt x="236" y="431"/>
                </a:lnTo>
                <a:lnTo>
                  <a:pt x="196" y="431"/>
                </a:lnTo>
                <a:lnTo>
                  <a:pt x="157" y="424"/>
                </a:lnTo>
                <a:lnTo>
                  <a:pt x="119" y="408"/>
                </a:lnTo>
                <a:lnTo>
                  <a:pt x="86" y="387"/>
                </a:lnTo>
                <a:lnTo>
                  <a:pt x="56" y="360"/>
                </a:lnTo>
                <a:lnTo>
                  <a:pt x="32" y="329"/>
                </a:lnTo>
                <a:lnTo>
                  <a:pt x="15" y="293"/>
                </a:lnTo>
                <a:lnTo>
                  <a:pt x="4" y="254"/>
                </a:lnTo>
                <a:lnTo>
                  <a:pt x="0" y="216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7" name="Rectangle 61"/>
          <p:cNvSpPr>
            <a:spLocks noChangeArrowheads="1"/>
          </p:cNvSpPr>
          <p:nvPr/>
        </p:nvSpPr>
        <p:spPr bwMode="auto">
          <a:xfrm>
            <a:off x="4251399" y="5794499"/>
            <a:ext cx="1250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*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28" name="Freeform 62"/>
          <p:cNvSpPr/>
          <p:nvPr/>
        </p:nvSpPr>
        <p:spPr bwMode="auto">
          <a:xfrm>
            <a:off x="3495749" y="4902324"/>
            <a:ext cx="342900" cy="341312"/>
          </a:xfrm>
          <a:custGeom>
            <a:avLst/>
            <a:gdLst>
              <a:gd name="T0" fmla="*/ 0 w 432"/>
              <a:gd name="T1" fmla="*/ 170656 h 430"/>
              <a:gd name="T2" fmla="*/ 1588 w 432"/>
              <a:gd name="T3" fmla="*/ 140494 h 430"/>
              <a:gd name="T4" fmla="*/ 11113 w 432"/>
              <a:gd name="T5" fmla="*/ 109537 h 430"/>
              <a:gd name="T6" fmla="*/ 24606 w 432"/>
              <a:gd name="T7" fmla="*/ 80962 h 430"/>
              <a:gd name="T8" fmla="*/ 44450 w 432"/>
              <a:gd name="T9" fmla="*/ 54769 h 430"/>
              <a:gd name="T10" fmla="*/ 67469 w 432"/>
              <a:gd name="T11" fmla="*/ 33337 h 430"/>
              <a:gd name="T12" fmla="*/ 94456 w 432"/>
              <a:gd name="T13" fmla="*/ 16669 h 430"/>
              <a:gd name="T14" fmla="*/ 123825 w 432"/>
              <a:gd name="T15" fmla="*/ 5556 h 430"/>
              <a:gd name="T16" fmla="*/ 155575 w 432"/>
              <a:gd name="T17" fmla="*/ 0 h 430"/>
              <a:gd name="T18" fmla="*/ 186531 w 432"/>
              <a:gd name="T19" fmla="*/ 0 h 430"/>
              <a:gd name="T20" fmla="*/ 218281 w 432"/>
              <a:gd name="T21" fmla="*/ 5556 h 430"/>
              <a:gd name="T22" fmla="*/ 246856 w 432"/>
              <a:gd name="T23" fmla="*/ 16669 h 430"/>
              <a:gd name="T24" fmla="*/ 274638 w 432"/>
              <a:gd name="T25" fmla="*/ 33337 h 430"/>
              <a:gd name="T26" fmla="*/ 297656 w 432"/>
              <a:gd name="T27" fmla="*/ 54769 h 430"/>
              <a:gd name="T28" fmla="*/ 317500 w 432"/>
              <a:gd name="T29" fmla="*/ 80962 h 430"/>
              <a:gd name="T30" fmla="*/ 330994 w 432"/>
              <a:gd name="T31" fmla="*/ 109537 h 430"/>
              <a:gd name="T32" fmla="*/ 340519 w 432"/>
              <a:gd name="T33" fmla="*/ 140494 h 430"/>
              <a:gd name="T34" fmla="*/ 342900 w 432"/>
              <a:gd name="T35" fmla="*/ 170656 h 430"/>
              <a:gd name="T36" fmla="*/ 340519 w 432"/>
              <a:gd name="T37" fmla="*/ 202406 h 430"/>
              <a:gd name="T38" fmla="*/ 330994 w 432"/>
              <a:gd name="T39" fmla="*/ 233362 h 430"/>
              <a:gd name="T40" fmla="*/ 317500 w 432"/>
              <a:gd name="T41" fmla="*/ 260350 h 430"/>
              <a:gd name="T42" fmla="*/ 297656 w 432"/>
              <a:gd name="T43" fmla="*/ 286543 h 430"/>
              <a:gd name="T44" fmla="*/ 274638 w 432"/>
              <a:gd name="T45" fmla="*/ 307975 h 430"/>
              <a:gd name="T46" fmla="*/ 246856 w 432"/>
              <a:gd name="T47" fmla="*/ 324643 h 430"/>
              <a:gd name="T48" fmla="*/ 218281 w 432"/>
              <a:gd name="T49" fmla="*/ 335756 h 430"/>
              <a:gd name="T50" fmla="*/ 186531 w 432"/>
              <a:gd name="T51" fmla="*/ 341312 h 430"/>
              <a:gd name="T52" fmla="*/ 155575 w 432"/>
              <a:gd name="T53" fmla="*/ 341312 h 430"/>
              <a:gd name="T54" fmla="*/ 123825 w 432"/>
              <a:gd name="T55" fmla="*/ 335756 h 430"/>
              <a:gd name="T56" fmla="*/ 94456 w 432"/>
              <a:gd name="T57" fmla="*/ 324643 h 430"/>
              <a:gd name="T58" fmla="*/ 67469 w 432"/>
              <a:gd name="T59" fmla="*/ 307975 h 430"/>
              <a:gd name="T60" fmla="*/ 44450 w 432"/>
              <a:gd name="T61" fmla="*/ 286543 h 430"/>
              <a:gd name="T62" fmla="*/ 24606 w 432"/>
              <a:gd name="T63" fmla="*/ 260350 h 430"/>
              <a:gd name="T64" fmla="*/ 11113 w 432"/>
              <a:gd name="T65" fmla="*/ 233362 h 430"/>
              <a:gd name="T66" fmla="*/ 1588 w 432"/>
              <a:gd name="T67" fmla="*/ 202406 h 430"/>
              <a:gd name="T68" fmla="*/ 0 w 432"/>
              <a:gd name="T69" fmla="*/ 170656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2" h="430">
                <a:moveTo>
                  <a:pt x="0" y="215"/>
                </a:moveTo>
                <a:lnTo>
                  <a:pt x="2" y="177"/>
                </a:lnTo>
                <a:lnTo>
                  <a:pt x="14" y="138"/>
                </a:lnTo>
                <a:lnTo>
                  <a:pt x="31" y="102"/>
                </a:lnTo>
                <a:lnTo>
                  <a:pt x="56" y="69"/>
                </a:lnTo>
                <a:lnTo>
                  <a:pt x="85" y="42"/>
                </a:lnTo>
                <a:lnTo>
                  <a:pt x="119" y="21"/>
                </a:lnTo>
                <a:lnTo>
                  <a:pt x="156" y="7"/>
                </a:lnTo>
                <a:lnTo>
                  <a:pt x="196" y="0"/>
                </a:lnTo>
                <a:lnTo>
                  <a:pt x="235" y="0"/>
                </a:lnTo>
                <a:lnTo>
                  <a:pt x="275" y="7"/>
                </a:lnTo>
                <a:lnTo>
                  <a:pt x="311" y="21"/>
                </a:lnTo>
                <a:lnTo>
                  <a:pt x="346" y="42"/>
                </a:lnTo>
                <a:lnTo>
                  <a:pt x="375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2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5" y="361"/>
                </a:lnTo>
                <a:lnTo>
                  <a:pt x="346" y="388"/>
                </a:lnTo>
                <a:lnTo>
                  <a:pt x="311" y="409"/>
                </a:lnTo>
                <a:lnTo>
                  <a:pt x="275" y="423"/>
                </a:lnTo>
                <a:lnTo>
                  <a:pt x="235" y="430"/>
                </a:lnTo>
                <a:lnTo>
                  <a:pt x="196" y="430"/>
                </a:lnTo>
                <a:lnTo>
                  <a:pt x="156" y="423"/>
                </a:lnTo>
                <a:lnTo>
                  <a:pt x="119" y="409"/>
                </a:lnTo>
                <a:lnTo>
                  <a:pt x="85" y="388"/>
                </a:lnTo>
                <a:lnTo>
                  <a:pt x="56" y="361"/>
                </a:lnTo>
                <a:lnTo>
                  <a:pt x="31" y="328"/>
                </a:lnTo>
                <a:lnTo>
                  <a:pt x="14" y="294"/>
                </a:lnTo>
                <a:lnTo>
                  <a:pt x="2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29" name="Rectangle 63"/>
          <p:cNvSpPr>
            <a:spLocks noChangeArrowheads="1"/>
          </p:cNvSpPr>
          <p:nvPr/>
        </p:nvSpPr>
        <p:spPr bwMode="auto">
          <a:xfrm>
            <a:off x="3546549" y="4935661"/>
            <a:ext cx="241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x1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30" name="Freeform 64"/>
          <p:cNvSpPr/>
          <p:nvPr/>
        </p:nvSpPr>
        <p:spPr bwMode="auto">
          <a:xfrm>
            <a:off x="4695899" y="4902324"/>
            <a:ext cx="342900" cy="341312"/>
          </a:xfrm>
          <a:custGeom>
            <a:avLst/>
            <a:gdLst>
              <a:gd name="T0" fmla="*/ 0 w 433"/>
              <a:gd name="T1" fmla="*/ 170656 h 430"/>
              <a:gd name="T2" fmla="*/ 3168 w 433"/>
              <a:gd name="T3" fmla="*/ 140494 h 430"/>
              <a:gd name="T4" fmla="*/ 12671 w 433"/>
              <a:gd name="T5" fmla="*/ 109537 h 430"/>
              <a:gd name="T6" fmla="*/ 26133 w 433"/>
              <a:gd name="T7" fmla="*/ 80962 h 430"/>
              <a:gd name="T8" fmla="*/ 44347 w 433"/>
              <a:gd name="T9" fmla="*/ 54769 h 430"/>
              <a:gd name="T10" fmla="*/ 68897 w 433"/>
              <a:gd name="T11" fmla="*/ 33337 h 430"/>
              <a:gd name="T12" fmla="*/ 94238 w 433"/>
              <a:gd name="T13" fmla="*/ 16669 h 430"/>
              <a:gd name="T14" fmla="*/ 125123 w 433"/>
              <a:gd name="T15" fmla="*/ 5556 h 430"/>
              <a:gd name="T16" fmla="*/ 155216 w 433"/>
              <a:gd name="T17" fmla="*/ 0 h 430"/>
              <a:gd name="T18" fmla="*/ 187684 w 433"/>
              <a:gd name="T19" fmla="*/ 0 h 430"/>
              <a:gd name="T20" fmla="*/ 217777 w 433"/>
              <a:gd name="T21" fmla="*/ 5556 h 430"/>
              <a:gd name="T22" fmla="*/ 248662 w 433"/>
              <a:gd name="T23" fmla="*/ 16669 h 430"/>
              <a:gd name="T24" fmla="*/ 274003 w 433"/>
              <a:gd name="T25" fmla="*/ 33337 h 430"/>
              <a:gd name="T26" fmla="*/ 298553 w 433"/>
              <a:gd name="T27" fmla="*/ 54769 h 430"/>
              <a:gd name="T28" fmla="*/ 316767 w 433"/>
              <a:gd name="T29" fmla="*/ 80962 h 430"/>
              <a:gd name="T30" fmla="*/ 330229 w 433"/>
              <a:gd name="T31" fmla="*/ 109537 h 430"/>
              <a:gd name="T32" fmla="*/ 339732 w 433"/>
              <a:gd name="T33" fmla="*/ 140494 h 430"/>
              <a:gd name="T34" fmla="*/ 342900 w 433"/>
              <a:gd name="T35" fmla="*/ 170656 h 430"/>
              <a:gd name="T36" fmla="*/ 339732 w 433"/>
              <a:gd name="T37" fmla="*/ 202406 h 430"/>
              <a:gd name="T38" fmla="*/ 330229 w 433"/>
              <a:gd name="T39" fmla="*/ 233362 h 430"/>
              <a:gd name="T40" fmla="*/ 316767 w 433"/>
              <a:gd name="T41" fmla="*/ 260350 h 430"/>
              <a:gd name="T42" fmla="*/ 298553 w 433"/>
              <a:gd name="T43" fmla="*/ 286543 h 430"/>
              <a:gd name="T44" fmla="*/ 274003 w 433"/>
              <a:gd name="T45" fmla="*/ 307975 h 430"/>
              <a:gd name="T46" fmla="*/ 248662 w 433"/>
              <a:gd name="T47" fmla="*/ 324643 h 430"/>
              <a:gd name="T48" fmla="*/ 217777 w 433"/>
              <a:gd name="T49" fmla="*/ 335756 h 430"/>
              <a:gd name="T50" fmla="*/ 187684 w 433"/>
              <a:gd name="T51" fmla="*/ 341312 h 430"/>
              <a:gd name="T52" fmla="*/ 155216 w 433"/>
              <a:gd name="T53" fmla="*/ 341312 h 430"/>
              <a:gd name="T54" fmla="*/ 125123 w 433"/>
              <a:gd name="T55" fmla="*/ 335756 h 430"/>
              <a:gd name="T56" fmla="*/ 94238 w 433"/>
              <a:gd name="T57" fmla="*/ 324643 h 430"/>
              <a:gd name="T58" fmla="*/ 68897 w 433"/>
              <a:gd name="T59" fmla="*/ 307975 h 430"/>
              <a:gd name="T60" fmla="*/ 44347 w 433"/>
              <a:gd name="T61" fmla="*/ 286543 h 430"/>
              <a:gd name="T62" fmla="*/ 26133 w 433"/>
              <a:gd name="T63" fmla="*/ 260350 h 430"/>
              <a:gd name="T64" fmla="*/ 12671 w 433"/>
              <a:gd name="T65" fmla="*/ 233362 h 430"/>
              <a:gd name="T66" fmla="*/ 3168 w 433"/>
              <a:gd name="T67" fmla="*/ 202406 h 430"/>
              <a:gd name="T68" fmla="*/ 0 w 433"/>
              <a:gd name="T69" fmla="*/ 170656 h 43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433" h="430">
                <a:moveTo>
                  <a:pt x="0" y="215"/>
                </a:moveTo>
                <a:lnTo>
                  <a:pt x="4" y="177"/>
                </a:lnTo>
                <a:lnTo>
                  <a:pt x="16" y="138"/>
                </a:lnTo>
                <a:lnTo>
                  <a:pt x="33" y="102"/>
                </a:lnTo>
                <a:lnTo>
                  <a:pt x="56" y="69"/>
                </a:lnTo>
                <a:lnTo>
                  <a:pt x="87" y="42"/>
                </a:lnTo>
                <a:lnTo>
                  <a:pt x="119" y="21"/>
                </a:lnTo>
                <a:lnTo>
                  <a:pt x="158" y="7"/>
                </a:lnTo>
                <a:lnTo>
                  <a:pt x="196" y="0"/>
                </a:lnTo>
                <a:lnTo>
                  <a:pt x="237" y="0"/>
                </a:lnTo>
                <a:lnTo>
                  <a:pt x="275" y="7"/>
                </a:lnTo>
                <a:lnTo>
                  <a:pt x="314" y="21"/>
                </a:lnTo>
                <a:lnTo>
                  <a:pt x="346" y="42"/>
                </a:lnTo>
                <a:lnTo>
                  <a:pt x="377" y="69"/>
                </a:lnTo>
                <a:lnTo>
                  <a:pt x="400" y="102"/>
                </a:lnTo>
                <a:lnTo>
                  <a:pt x="417" y="138"/>
                </a:lnTo>
                <a:lnTo>
                  <a:pt x="429" y="177"/>
                </a:lnTo>
                <a:lnTo>
                  <a:pt x="433" y="215"/>
                </a:lnTo>
                <a:lnTo>
                  <a:pt x="429" y="255"/>
                </a:lnTo>
                <a:lnTo>
                  <a:pt x="417" y="294"/>
                </a:lnTo>
                <a:lnTo>
                  <a:pt x="400" y="328"/>
                </a:lnTo>
                <a:lnTo>
                  <a:pt x="377" y="361"/>
                </a:lnTo>
                <a:lnTo>
                  <a:pt x="346" y="388"/>
                </a:lnTo>
                <a:lnTo>
                  <a:pt x="314" y="409"/>
                </a:lnTo>
                <a:lnTo>
                  <a:pt x="275" y="423"/>
                </a:lnTo>
                <a:lnTo>
                  <a:pt x="237" y="430"/>
                </a:lnTo>
                <a:lnTo>
                  <a:pt x="196" y="430"/>
                </a:lnTo>
                <a:lnTo>
                  <a:pt x="158" y="423"/>
                </a:lnTo>
                <a:lnTo>
                  <a:pt x="119" y="409"/>
                </a:lnTo>
                <a:lnTo>
                  <a:pt x="87" y="388"/>
                </a:lnTo>
                <a:lnTo>
                  <a:pt x="56" y="361"/>
                </a:lnTo>
                <a:lnTo>
                  <a:pt x="33" y="328"/>
                </a:lnTo>
                <a:lnTo>
                  <a:pt x="16" y="294"/>
                </a:lnTo>
                <a:lnTo>
                  <a:pt x="4" y="255"/>
                </a:lnTo>
                <a:lnTo>
                  <a:pt x="0" y="215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131" name="Rectangle 65"/>
          <p:cNvSpPr>
            <a:spLocks noChangeArrowheads="1"/>
          </p:cNvSpPr>
          <p:nvPr/>
        </p:nvSpPr>
        <p:spPr bwMode="auto">
          <a:xfrm>
            <a:off x="4748287" y="4935661"/>
            <a:ext cx="2580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x2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32" name="Text Box 67"/>
          <p:cNvSpPr txBox="1">
            <a:spLocks noChangeArrowheads="1"/>
          </p:cNvSpPr>
          <p:nvPr/>
        </p:nvSpPr>
        <p:spPr bwMode="auto">
          <a:xfrm>
            <a:off x="1104974" y="4387974"/>
            <a:ext cx="23631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solidFill>
                  <a:srgbClr val="FF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y*z calculated twice</a:t>
            </a:r>
            <a:endParaRPr lang="en-US" altLang="zh-CN" sz="1800" dirty="0">
              <a:solidFill>
                <a:srgbClr val="FF00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38B633-1EA6-4F5F-B277-3C04A31B8A7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56FB2B-4561-4815-B583-5332F9F42222}" type="slidenum">
              <a:rPr lang="en-US" altLang="zh-CN" sz="1050"/>
            </a:fld>
            <a:endParaRPr lang="en-US" altLang="zh-CN" sz="105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Precedence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471488" y="2402259"/>
            <a:ext cx="1917700" cy="193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SimSun" panose="02010600030101010101" pitchFamily="2" charset="-122"/>
              </a:rPr>
              <a:t>1</a:t>
            </a: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	a=0;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SimSun" panose="02010600030101010101" pitchFamily="2" charset="-122"/>
              </a:rPr>
              <a:t>2</a:t>
            </a: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	b=1;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SimSun" panose="02010600030101010101" pitchFamily="2" charset="-122"/>
              </a:rPr>
              <a:t>3</a:t>
            </a: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	c=a+1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SimSun" panose="02010600030101010101" pitchFamily="2" charset="-122"/>
              </a:rPr>
              <a:t>4</a:t>
            </a: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	d=b+a;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SimSun" panose="02010600030101010101" pitchFamily="2" charset="-122"/>
              </a:rPr>
              <a:t>5</a:t>
            </a: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	e=d+1;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r>
              <a:rPr lang="en-US" altLang="zh-CN" sz="1800" baseline="-25000">
                <a:latin typeface="Sitka Text" panose="02000505000000020004" pitchFamily="2" charset="0"/>
                <a:ea typeface="SimSun" panose="02010600030101010101" pitchFamily="2" charset="-122"/>
              </a:rPr>
              <a:t>6</a:t>
            </a:r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	e=c+d;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71713" y="3390551"/>
            <a:ext cx="2862263" cy="4206646"/>
            <a:chOff x="3275335" y="1907704"/>
            <a:chExt cx="2862263" cy="4206646"/>
          </a:xfrm>
        </p:grpSpPr>
        <p:sp>
          <p:nvSpPr>
            <p:cNvPr id="32" name="Oval 4"/>
            <p:cNvSpPr>
              <a:spLocks noChangeArrowheads="1"/>
            </p:cNvSpPr>
            <p:nvPr/>
          </p:nvSpPr>
          <p:spPr bwMode="auto">
            <a:xfrm>
              <a:off x="3837310" y="43294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3" name="Oval 5"/>
            <p:cNvSpPr>
              <a:spLocks noChangeArrowheads="1"/>
            </p:cNvSpPr>
            <p:nvPr/>
          </p:nvSpPr>
          <p:spPr bwMode="auto">
            <a:xfrm>
              <a:off x="3837310" y="56248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4" name="Oval 6"/>
            <p:cNvSpPr>
              <a:spLocks noChangeArrowheads="1"/>
            </p:cNvSpPr>
            <p:nvPr/>
          </p:nvSpPr>
          <p:spPr bwMode="auto">
            <a:xfrm>
              <a:off x="5666110" y="56248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5" name="Oval 7"/>
            <p:cNvSpPr>
              <a:spLocks noChangeArrowheads="1"/>
            </p:cNvSpPr>
            <p:nvPr/>
          </p:nvSpPr>
          <p:spPr bwMode="auto">
            <a:xfrm>
              <a:off x="3746823" y="22720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6" name="Oval 8"/>
            <p:cNvSpPr>
              <a:spLocks noChangeArrowheads="1"/>
            </p:cNvSpPr>
            <p:nvPr/>
          </p:nvSpPr>
          <p:spPr bwMode="auto">
            <a:xfrm>
              <a:off x="5666110" y="28816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5666110" y="4177084"/>
              <a:ext cx="152400" cy="1524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28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cxnSp>
          <p:nvCxnSpPr>
            <p:cNvPr id="38" name="AutoShape 10"/>
            <p:cNvCxnSpPr>
              <a:cxnSpLocks noChangeShapeType="1"/>
              <a:stCxn id="32" idx="4"/>
              <a:endCxn id="33" idx="0"/>
            </p:cNvCxnSpPr>
            <p:nvPr/>
          </p:nvCxnSpPr>
          <p:spPr bwMode="auto">
            <a:xfrm>
              <a:off x="3913510" y="4481884"/>
              <a:ext cx="0" cy="1143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11"/>
            <p:cNvCxnSpPr>
              <a:cxnSpLocks noChangeShapeType="1"/>
              <a:stCxn id="32" idx="0"/>
              <a:endCxn id="35" idx="4"/>
            </p:cNvCxnSpPr>
            <p:nvPr/>
          </p:nvCxnSpPr>
          <p:spPr bwMode="auto">
            <a:xfrm flipH="1" flipV="1">
              <a:off x="3823023" y="2424484"/>
              <a:ext cx="90487" cy="1905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12"/>
            <p:cNvCxnSpPr>
              <a:cxnSpLocks noChangeShapeType="1"/>
              <a:stCxn id="37" idx="3"/>
              <a:endCxn id="33" idx="7"/>
            </p:cNvCxnSpPr>
            <p:nvPr/>
          </p:nvCxnSpPr>
          <p:spPr bwMode="auto">
            <a:xfrm flipH="1">
              <a:off x="3967485" y="4307259"/>
              <a:ext cx="1720850" cy="1339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13"/>
            <p:cNvCxnSpPr>
              <a:cxnSpLocks noChangeShapeType="1"/>
              <a:stCxn id="36" idx="3"/>
              <a:endCxn id="33" idx="7"/>
            </p:cNvCxnSpPr>
            <p:nvPr/>
          </p:nvCxnSpPr>
          <p:spPr bwMode="auto">
            <a:xfrm flipH="1">
              <a:off x="3967485" y="3011859"/>
              <a:ext cx="1720850" cy="26352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AutoShape 14"/>
            <p:cNvCxnSpPr>
              <a:cxnSpLocks noChangeShapeType="1"/>
              <a:stCxn id="34" idx="1"/>
              <a:endCxn id="35" idx="5"/>
            </p:cNvCxnSpPr>
            <p:nvPr/>
          </p:nvCxnSpPr>
          <p:spPr bwMode="auto">
            <a:xfrm flipH="1" flipV="1">
              <a:off x="3876998" y="2402259"/>
              <a:ext cx="1811337" cy="3244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15"/>
            <p:cNvCxnSpPr>
              <a:cxnSpLocks noChangeShapeType="1"/>
              <a:stCxn id="35" idx="5"/>
              <a:endCxn id="37" idx="1"/>
            </p:cNvCxnSpPr>
            <p:nvPr/>
          </p:nvCxnSpPr>
          <p:spPr bwMode="auto">
            <a:xfrm>
              <a:off x="3876998" y="2402259"/>
              <a:ext cx="1811337" cy="1797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16"/>
            <p:cNvCxnSpPr>
              <a:cxnSpLocks noChangeShapeType="1"/>
              <a:stCxn id="36" idx="4"/>
              <a:endCxn id="37" idx="0"/>
            </p:cNvCxnSpPr>
            <p:nvPr/>
          </p:nvCxnSpPr>
          <p:spPr bwMode="auto">
            <a:xfrm>
              <a:off x="5742310" y="3034084"/>
              <a:ext cx="0" cy="1143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17"/>
            <p:cNvCxnSpPr>
              <a:cxnSpLocks noChangeShapeType="1"/>
              <a:stCxn id="37" idx="4"/>
              <a:endCxn id="34" idx="0"/>
            </p:cNvCxnSpPr>
            <p:nvPr/>
          </p:nvCxnSpPr>
          <p:spPr bwMode="auto">
            <a:xfrm>
              <a:off x="5742310" y="4329484"/>
              <a:ext cx="0" cy="1295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3973705" y="4221018"/>
              <a:ext cx="32252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Sitka Text" panose="02000505000000020004" pitchFamily="2" charset="0"/>
                  <a:ea typeface="SimSun" panose="02010600030101010101" pitchFamily="2" charset="-122"/>
                </a:rPr>
                <a:t>3</a:t>
              </a:r>
              <a:endParaRPr lang="en-US" altLang="zh-CN" sz="1800" b="1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3760333" y="5745018"/>
              <a:ext cx="29206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Sitka Text" panose="02000505000000020004" pitchFamily="2" charset="0"/>
                  <a:ea typeface="SimSun" panose="02010600030101010101" pitchFamily="2" charset="-122"/>
                </a:rPr>
                <a:t>1</a:t>
              </a:r>
              <a:endParaRPr lang="en-US" altLang="zh-CN" sz="1800" b="1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8" name="Text Box 20"/>
            <p:cNvSpPr txBox="1">
              <a:spLocks noChangeArrowheads="1"/>
            </p:cNvSpPr>
            <p:nvPr/>
          </p:nvSpPr>
          <p:spPr bwMode="auto">
            <a:xfrm>
              <a:off x="5802505" y="5668818"/>
              <a:ext cx="32252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Sitka Text" panose="02000505000000020004" pitchFamily="2" charset="0"/>
                  <a:ea typeface="SimSun" panose="02010600030101010101" pitchFamily="2" charset="-122"/>
                </a:rPr>
                <a:t>2</a:t>
              </a:r>
              <a:endParaRPr lang="en-US" altLang="zh-CN" sz="1800" b="1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49" name="Text Box 21"/>
            <p:cNvSpPr txBox="1">
              <a:spLocks noChangeArrowheads="1"/>
            </p:cNvSpPr>
            <p:nvPr/>
          </p:nvSpPr>
          <p:spPr bwMode="auto">
            <a:xfrm>
              <a:off x="3666500" y="1907704"/>
              <a:ext cx="32733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 dirty="0">
                  <a:latin typeface="Sitka Text" panose="02000505000000020004" pitchFamily="2" charset="0"/>
                  <a:ea typeface="SimSun" panose="02010600030101010101" pitchFamily="2" charset="-122"/>
                </a:rPr>
                <a:t>6</a:t>
              </a:r>
              <a:endParaRPr lang="en-US" altLang="zh-CN" sz="1800" b="1" dirty="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5726305" y="2483768"/>
              <a:ext cx="32252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Sitka Text" panose="02000505000000020004" pitchFamily="2" charset="0"/>
                  <a:ea typeface="SimSun" panose="02010600030101010101" pitchFamily="2" charset="-122"/>
                </a:rPr>
                <a:t>5</a:t>
              </a:r>
              <a:endParaRPr lang="en-US" altLang="zh-CN" sz="1800" b="1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5800100" y="4068618"/>
              <a:ext cx="32733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latin typeface="Sitka Text" panose="02000505000000020004" pitchFamily="2" charset="0"/>
                  <a:ea typeface="SimSun" panose="02010600030101010101" pitchFamily="2" charset="-122"/>
                </a:rPr>
                <a:t>4</a:t>
              </a:r>
              <a:endParaRPr lang="en-US" altLang="zh-CN" sz="1800" b="1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52" name="Freeform 24"/>
            <p:cNvSpPr/>
            <p:nvPr/>
          </p:nvSpPr>
          <p:spPr bwMode="auto">
            <a:xfrm>
              <a:off x="3275335" y="2421309"/>
              <a:ext cx="598488" cy="3214688"/>
            </a:xfrm>
            <a:custGeom>
              <a:avLst/>
              <a:gdLst>
                <a:gd name="T0" fmla="*/ 598488 w 377"/>
                <a:gd name="T1" fmla="*/ 3214688 h 2025"/>
                <a:gd name="T2" fmla="*/ 15875 w 377"/>
                <a:gd name="T3" fmla="*/ 2009775 h 2025"/>
                <a:gd name="T4" fmla="*/ 506413 w 377"/>
                <a:gd name="T5" fmla="*/ 0 h 20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7" h="2025">
                  <a:moveTo>
                    <a:pt x="377" y="2025"/>
                  </a:moveTo>
                  <a:cubicBezTo>
                    <a:pt x="316" y="1899"/>
                    <a:pt x="20" y="1604"/>
                    <a:pt x="10" y="1266"/>
                  </a:cubicBezTo>
                  <a:cubicBezTo>
                    <a:pt x="0" y="928"/>
                    <a:pt x="255" y="264"/>
                    <a:pt x="319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Sitka Text" panose="02000505000000020004" pitchFamily="2" charset="0"/>
              </a:endParaRPr>
            </a:p>
          </p:txBody>
        </p:sp>
        <p:sp>
          <p:nvSpPr>
            <p:cNvPr id="53" name="Freeform 25"/>
            <p:cNvSpPr/>
            <p:nvPr/>
          </p:nvSpPr>
          <p:spPr bwMode="auto">
            <a:xfrm>
              <a:off x="5805810" y="3029322"/>
              <a:ext cx="331788" cy="2632075"/>
            </a:xfrm>
            <a:custGeom>
              <a:avLst/>
              <a:gdLst>
                <a:gd name="T0" fmla="*/ 12700 w 209"/>
                <a:gd name="T1" fmla="*/ 2632075 h 1658"/>
                <a:gd name="T2" fmla="*/ 330200 w 209"/>
                <a:gd name="T3" fmla="*/ 1190625 h 1658"/>
                <a:gd name="T4" fmla="*/ 0 w 209"/>
                <a:gd name="T5" fmla="*/ 0 h 16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9" h="1658">
                  <a:moveTo>
                    <a:pt x="8" y="1658"/>
                  </a:moveTo>
                  <a:cubicBezTo>
                    <a:pt x="41" y="1507"/>
                    <a:pt x="209" y="1026"/>
                    <a:pt x="208" y="750"/>
                  </a:cubicBezTo>
                  <a:cubicBezTo>
                    <a:pt x="207" y="474"/>
                    <a:pt x="43" y="156"/>
                    <a:pt x="0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Sitka Text" panose="02000505000000020004" pitchFamily="2" charset="0"/>
              </a:endParaRPr>
            </a:p>
          </p:txBody>
        </p:sp>
      </p:grp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3238696" y="2627302"/>
            <a:ext cx="3115564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Which statements must execute before S</a:t>
            </a:r>
            <a:r>
              <a:rPr lang="en-US" altLang="zh-CN" sz="1800" baseline="-250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6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?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S</a:t>
            </a:r>
            <a:r>
              <a:rPr lang="en-US" altLang="zh-CN" sz="1800" baseline="-250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1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, S</a:t>
            </a:r>
            <a:r>
              <a:rPr lang="en-US" altLang="zh-CN" sz="1800" baseline="-250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, S</a:t>
            </a:r>
            <a:r>
              <a:rPr lang="en-US" altLang="zh-CN" sz="1800" baseline="-250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3</a:t>
            </a:r>
            <a:r>
              <a:rPr lang="en-US" altLang="zh-CN" sz="18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, S</a:t>
            </a:r>
            <a:r>
              <a:rPr lang="en-US" altLang="zh-CN" sz="1800" baseline="-250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4</a:t>
            </a:r>
            <a:endParaRPr lang="en-US" altLang="zh-CN" sz="1800" dirty="0">
              <a:solidFill>
                <a:srgbClr val="263AF8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55" name="Text Box 27"/>
          <p:cNvSpPr txBox="1">
            <a:spLocks noChangeArrowheads="1"/>
          </p:cNvSpPr>
          <p:nvPr/>
        </p:nvSpPr>
        <p:spPr bwMode="auto">
          <a:xfrm>
            <a:off x="1505236" y="7596336"/>
            <a:ext cx="42546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>
                <a:latin typeface="Sitka Text" panose="02000505000000020004" pitchFamily="2" charset="0"/>
                <a:ea typeface="SimSun" panose="02010600030101010101" pitchFamily="2" charset="-122"/>
              </a:defRPr>
            </a:lvl1pPr>
            <a:lvl2pPr marL="742950" indent="-285750">
              <a:defRPr sz="2000">
                <a:latin typeface="Arial" panose="020B0604020202020204" pitchFamily="34" charset="0"/>
              </a:defRPr>
            </a:lvl2pPr>
            <a:lvl3pPr marL="1143000" indent="-228600">
              <a:defRPr sz="2000">
                <a:latin typeface="Arial" panose="020B0604020202020204" pitchFamily="34" charset="0"/>
              </a:defRPr>
            </a:lvl3pPr>
            <a:lvl4pPr marL="1600200" indent="-228600">
              <a:defRPr sz="2000">
                <a:latin typeface="Arial" panose="020B0604020202020204" pitchFamily="34" charset="0"/>
              </a:defRPr>
            </a:lvl4pPr>
            <a:lvl5pPr marL="2057400" indent="-228600">
              <a:defRPr sz="2000"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latin typeface="Arial" panose="020B0604020202020204" pitchFamily="34" charset="0"/>
              </a:defRPr>
            </a:lvl9pPr>
          </a:lstStyle>
          <a:p>
            <a:r>
              <a:rPr lang="en-US" altLang="zh-CN" sz="2000" dirty="0"/>
              <a:t>Nodes = statements</a:t>
            </a:r>
            <a:endParaRPr lang="en-US" altLang="zh-CN" sz="2000" dirty="0"/>
          </a:p>
          <a:p>
            <a:r>
              <a:rPr lang="en-US" altLang="zh-CN" sz="2000" dirty="0"/>
              <a:t>Edges = precedence requirements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69B78A-6FBD-4979-9C47-76DE788080F1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9AD39A-093B-4E24-821B-7B391BE978BE}" type="slidenum">
              <a:rPr lang="en-US" altLang="zh-CN" sz="1050"/>
            </a:fld>
            <a:endParaRPr lang="en-US" altLang="zh-CN" sz="1050"/>
          </a:p>
        </p:txBody>
      </p:sp>
      <p:sp>
        <p:nvSpPr>
          <p:cNvPr id="18438" name="Line 3"/>
          <p:cNvSpPr>
            <a:spLocks noChangeShapeType="1"/>
          </p:cNvSpPr>
          <p:nvPr/>
        </p:nvSpPr>
        <p:spPr bwMode="auto">
          <a:xfrm>
            <a:off x="3902148" y="4341669"/>
            <a:ext cx="2149079" cy="5596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39" name="Line 4"/>
          <p:cNvSpPr>
            <a:spLocks noChangeShapeType="1"/>
          </p:cNvSpPr>
          <p:nvPr/>
        </p:nvSpPr>
        <p:spPr bwMode="auto">
          <a:xfrm flipH="1" flipV="1">
            <a:off x="3902149" y="4341669"/>
            <a:ext cx="113110" cy="1019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0" name="Line 5"/>
          <p:cNvSpPr>
            <a:spLocks noChangeShapeType="1"/>
          </p:cNvSpPr>
          <p:nvPr/>
        </p:nvSpPr>
        <p:spPr bwMode="auto">
          <a:xfrm flipV="1">
            <a:off x="1753071" y="4341669"/>
            <a:ext cx="2149078" cy="1245394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1" name="Line 6"/>
          <p:cNvSpPr>
            <a:spLocks noChangeShapeType="1"/>
          </p:cNvSpPr>
          <p:nvPr/>
        </p:nvSpPr>
        <p:spPr bwMode="auto">
          <a:xfrm flipH="1">
            <a:off x="1753071" y="4002341"/>
            <a:ext cx="113109" cy="158472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2" name="Line 7"/>
          <p:cNvSpPr>
            <a:spLocks noChangeShapeType="1"/>
          </p:cNvSpPr>
          <p:nvPr/>
        </p:nvSpPr>
        <p:spPr bwMode="auto">
          <a:xfrm>
            <a:off x="1074415" y="3776123"/>
            <a:ext cx="791765" cy="226219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3" name="Freeform 8"/>
          <p:cNvSpPr/>
          <p:nvPr/>
        </p:nvSpPr>
        <p:spPr bwMode="auto">
          <a:xfrm>
            <a:off x="4115271" y="4355957"/>
            <a:ext cx="70247" cy="28575"/>
          </a:xfrm>
          <a:custGeom>
            <a:avLst/>
            <a:gdLst>
              <a:gd name="T0" fmla="*/ 55562 w 59"/>
              <a:gd name="T1" fmla="*/ 38100 h 24"/>
              <a:gd name="T2" fmla="*/ 93662 w 59"/>
              <a:gd name="T3" fmla="*/ 0 h 24"/>
              <a:gd name="T4" fmla="*/ 0 w 59"/>
              <a:gd name="T5" fmla="*/ 0 h 24"/>
              <a:gd name="T6" fmla="*/ 55562 w 59"/>
              <a:gd name="T7" fmla="*/ 38100 h 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4">
                <a:moveTo>
                  <a:pt x="35" y="24"/>
                </a:moveTo>
                <a:lnTo>
                  <a:pt x="59" y="0"/>
                </a:lnTo>
                <a:lnTo>
                  <a:pt x="0" y="0"/>
                </a:lnTo>
                <a:lnTo>
                  <a:pt x="35" y="2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4" name="Freeform 9"/>
          <p:cNvSpPr/>
          <p:nvPr/>
        </p:nvSpPr>
        <p:spPr bwMode="auto">
          <a:xfrm>
            <a:off x="3675930" y="4358338"/>
            <a:ext cx="113110" cy="54769"/>
          </a:xfrm>
          <a:custGeom>
            <a:avLst/>
            <a:gdLst>
              <a:gd name="T0" fmla="*/ 150813 w 95"/>
              <a:gd name="T1" fmla="*/ 73025 h 46"/>
              <a:gd name="T2" fmla="*/ 69850 w 95"/>
              <a:gd name="T3" fmla="*/ 0 h 46"/>
              <a:gd name="T4" fmla="*/ 0 w 95"/>
              <a:gd name="T5" fmla="*/ 73025 h 46"/>
              <a:gd name="T6" fmla="*/ 150813 w 95"/>
              <a:gd name="T7" fmla="*/ 73025 h 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6">
                <a:moveTo>
                  <a:pt x="95" y="46"/>
                </a:moveTo>
                <a:lnTo>
                  <a:pt x="44" y="0"/>
                </a:lnTo>
                <a:lnTo>
                  <a:pt x="0" y="46"/>
                </a:lnTo>
                <a:lnTo>
                  <a:pt x="95" y="46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5" name="Freeform 10"/>
          <p:cNvSpPr/>
          <p:nvPr/>
        </p:nvSpPr>
        <p:spPr bwMode="auto">
          <a:xfrm>
            <a:off x="3733080" y="4355957"/>
            <a:ext cx="429816" cy="57150"/>
          </a:xfrm>
          <a:custGeom>
            <a:avLst/>
            <a:gdLst>
              <a:gd name="T0" fmla="*/ 573088 w 361"/>
              <a:gd name="T1" fmla="*/ 26988 h 48"/>
              <a:gd name="T2" fmla="*/ 517525 w 361"/>
              <a:gd name="T3" fmla="*/ 0 h 48"/>
              <a:gd name="T4" fmla="*/ 74613 w 361"/>
              <a:gd name="T5" fmla="*/ 0 h 48"/>
              <a:gd name="T6" fmla="*/ 0 w 361"/>
              <a:gd name="T7" fmla="*/ 38100 h 48"/>
              <a:gd name="T8" fmla="*/ 74613 w 361"/>
              <a:gd name="T9" fmla="*/ 76200 h 48"/>
              <a:gd name="T10" fmla="*/ 527050 w 361"/>
              <a:gd name="T11" fmla="*/ 76200 h 48"/>
              <a:gd name="T12" fmla="*/ 573088 w 361"/>
              <a:gd name="T13" fmla="*/ 26988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8">
                <a:moveTo>
                  <a:pt x="361" y="17"/>
                </a:moveTo>
                <a:lnTo>
                  <a:pt x="326" y="0"/>
                </a:lnTo>
                <a:lnTo>
                  <a:pt x="47" y="0"/>
                </a:lnTo>
                <a:lnTo>
                  <a:pt x="0" y="24"/>
                </a:lnTo>
                <a:lnTo>
                  <a:pt x="47" y="48"/>
                </a:lnTo>
                <a:lnTo>
                  <a:pt x="332" y="48"/>
                </a:lnTo>
                <a:lnTo>
                  <a:pt x="361" y="1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6" name="Freeform 11"/>
          <p:cNvSpPr/>
          <p:nvPr/>
        </p:nvSpPr>
        <p:spPr bwMode="auto">
          <a:xfrm>
            <a:off x="3802136" y="4391676"/>
            <a:ext cx="255985" cy="16669"/>
          </a:xfrm>
          <a:custGeom>
            <a:avLst/>
            <a:gdLst>
              <a:gd name="T0" fmla="*/ 341313 w 215"/>
              <a:gd name="T1" fmla="*/ 0 h 14"/>
              <a:gd name="T2" fmla="*/ 341313 w 215"/>
              <a:gd name="T3" fmla="*/ 22225 h 14"/>
              <a:gd name="T4" fmla="*/ 0 w 215"/>
              <a:gd name="T5" fmla="*/ 22225 h 14"/>
              <a:gd name="T6" fmla="*/ 0 w 215"/>
              <a:gd name="T7" fmla="*/ 22225 h 14"/>
              <a:gd name="T8" fmla="*/ 49213 w 215"/>
              <a:gd name="T9" fmla="*/ 22225 h 14"/>
              <a:gd name="T10" fmla="*/ 95250 w 215"/>
              <a:gd name="T11" fmla="*/ 20638 h 14"/>
              <a:gd name="T12" fmla="*/ 139700 w 215"/>
              <a:gd name="T13" fmla="*/ 20638 h 14"/>
              <a:gd name="T14" fmla="*/ 179388 w 215"/>
              <a:gd name="T15" fmla="*/ 17463 h 14"/>
              <a:gd name="T16" fmla="*/ 217488 w 215"/>
              <a:gd name="T17" fmla="*/ 15875 h 14"/>
              <a:gd name="T18" fmla="*/ 252413 w 215"/>
              <a:gd name="T19" fmla="*/ 14288 h 14"/>
              <a:gd name="T20" fmla="*/ 280988 w 215"/>
              <a:gd name="T21" fmla="*/ 12700 h 14"/>
              <a:gd name="T22" fmla="*/ 301625 w 215"/>
              <a:gd name="T23" fmla="*/ 7938 h 14"/>
              <a:gd name="T24" fmla="*/ 319088 w 215"/>
              <a:gd name="T25" fmla="*/ 6350 h 14"/>
              <a:gd name="T26" fmla="*/ 328613 w 215"/>
              <a:gd name="T27" fmla="*/ 1588 h 14"/>
              <a:gd name="T28" fmla="*/ 331788 w 215"/>
              <a:gd name="T29" fmla="*/ 0 h 14"/>
              <a:gd name="T30" fmla="*/ 341313 w 215"/>
              <a:gd name="T31" fmla="*/ 0 h 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15" h="14">
                <a:moveTo>
                  <a:pt x="215" y="0"/>
                </a:moveTo>
                <a:lnTo>
                  <a:pt x="215" y="14"/>
                </a:lnTo>
                <a:lnTo>
                  <a:pt x="0" y="14"/>
                </a:lnTo>
                <a:lnTo>
                  <a:pt x="31" y="14"/>
                </a:lnTo>
                <a:lnTo>
                  <a:pt x="60" y="13"/>
                </a:lnTo>
                <a:lnTo>
                  <a:pt x="88" y="13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7" y="8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15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7" name="Freeform 12"/>
          <p:cNvSpPr/>
          <p:nvPr/>
        </p:nvSpPr>
        <p:spPr bwMode="auto">
          <a:xfrm>
            <a:off x="3802136" y="4391676"/>
            <a:ext cx="248841" cy="16669"/>
          </a:xfrm>
          <a:custGeom>
            <a:avLst/>
            <a:gdLst>
              <a:gd name="T0" fmla="*/ 0 w 209"/>
              <a:gd name="T1" fmla="*/ 22225 h 14"/>
              <a:gd name="T2" fmla="*/ 49213 w 209"/>
              <a:gd name="T3" fmla="*/ 22225 h 14"/>
              <a:gd name="T4" fmla="*/ 95250 w 209"/>
              <a:gd name="T5" fmla="*/ 20638 h 14"/>
              <a:gd name="T6" fmla="*/ 139700 w 209"/>
              <a:gd name="T7" fmla="*/ 20638 h 14"/>
              <a:gd name="T8" fmla="*/ 179388 w 209"/>
              <a:gd name="T9" fmla="*/ 17463 h 14"/>
              <a:gd name="T10" fmla="*/ 217488 w 209"/>
              <a:gd name="T11" fmla="*/ 15875 h 14"/>
              <a:gd name="T12" fmla="*/ 252413 w 209"/>
              <a:gd name="T13" fmla="*/ 14288 h 14"/>
              <a:gd name="T14" fmla="*/ 280988 w 209"/>
              <a:gd name="T15" fmla="*/ 12700 h 14"/>
              <a:gd name="T16" fmla="*/ 301625 w 209"/>
              <a:gd name="T17" fmla="*/ 7938 h 14"/>
              <a:gd name="T18" fmla="*/ 319088 w 209"/>
              <a:gd name="T19" fmla="*/ 6350 h 14"/>
              <a:gd name="T20" fmla="*/ 328613 w 209"/>
              <a:gd name="T21" fmla="*/ 1588 h 14"/>
              <a:gd name="T22" fmla="*/ 331788 w 209"/>
              <a:gd name="T23" fmla="*/ 0 h 14"/>
              <a:gd name="T24" fmla="*/ 323850 w 209"/>
              <a:gd name="T25" fmla="*/ 0 h 14"/>
              <a:gd name="T26" fmla="*/ 320675 w 209"/>
              <a:gd name="T27" fmla="*/ 1588 h 14"/>
              <a:gd name="T28" fmla="*/ 307975 w 209"/>
              <a:gd name="T29" fmla="*/ 6350 h 14"/>
              <a:gd name="T30" fmla="*/ 290513 w 209"/>
              <a:gd name="T31" fmla="*/ 9525 h 14"/>
              <a:gd name="T32" fmla="*/ 261938 w 209"/>
              <a:gd name="T33" fmla="*/ 12700 h 14"/>
              <a:gd name="T34" fmla="*/ 230188 w 209"/>
              <a:gd name="T35" fmla="*/ 14288 h 14"/>
              <a:gd name="T36" fmla="*/ 192088 w 209"/>
              <a:gd name="T37" fmla="*/ 17463 h 14"/>
              <a:gd name="T38" fmla="*/ 147638 w 209"/>
              <a:gd name="T39" fmla="*/ 17463 h 14"/>
              <a:gd name="T40" fmla="*/ 101600 w 209"/>
              <a:gd name="T41" fmla="*/ 20638 h 14"/>
              <a:gd name="T42" fmla="*/ 52388 w 209"/>
              <a:gd name="T43" fmla="*/ 22225 h 14"/>
              <a:gd name="T44" fmla="*/ 0 w 209"/>
              <a:gd name="T45" fmla="*/ 22225 h 14"/>
              <a:gd name="T46" fmla="*/ 0 w 209"/>
              <a:gd name="T47" fmla="*/ 22225 h 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09" h="14">
                <a:moveTo>
                  <a:pt x="0" y="14"/>
                </a:moveTo>
                <a:lnTo>
                  <a:pt x="31" y="14"/>
                </a:lnTo>
                <a:lnTo>
                  <a:pt x="60" y="13"/>
                </a:lnTo>
                <a:lnTo>
                  <a:pt x="88" y="13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7" y="8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04" y="0"/>
                </a:ln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8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3"/>
                </a:lnTo>
                <a:lnTo>
                  <a:pt x="3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BBBB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8" name="Freeform 13"/>
          <p:cNvSpPr/>
          <p:nvPr/>
        </p:nvSpPr>
        <p:spPr bwMode="auto">
          <a:xfrm>
            <a:off x="3802136" y="4391676"/>
            <a:ext cx="242888" cy="16669"/>
          </a:xfrm>
          <a:custGeom>
            <a:avLst/>
            <a:gdLst>
              <a:gd name="T0" fmla="*/ 323850 w 204"/>
              <a:gd name="T1" fmla="*/ 0 h 14"/>
              <a:gd name="T2" fmla="*/ 320675 w 204"/>
              <a:gd name="T3" fmla="*/ 1588 h 14"/>
              <a:gd name="T4" fmla="*/ 307975 w 204"/>
              <a:gd name="T5" fmla="*/ 6350 h 14"/>
              <a:gd name="T6" fmla="*/ 290513 w 204"/>
              <a:gd name="T7" fmla="*/ 9525 h 14"/>
              <a:gd name="T8" fmla="*/ 261938 w 204"/>
              <a:gd name="T9" fmla="*/ 12700 h 14"/>
              <a:gd name="T10" fmla="*/ 230188 w 204"/>
              <a:gd name="T11" fmla="*/ 14288 h 14"/>
              <a:gd name="T12" fmla="*/ 192088 w 204"/>
              <a:gd name="T13" fmla="*/ 17463 h 14"/>
              <a:gd name="T14" fmla="*/ 147638 w 204"/>
              <a:gd name="T15" fmla="*/ 17463 h 14"/>
              <a:gd name="T16" fmla="*/ 101600 w 204"/>
              <a:gd name="T17" fmla="*/ 20638 h 14"/>
              <a:gd name="T18" fmla="*/ 52388 w 204"/>
              <a:gd name="T19" fmla="*/ 22225 h 14"/>
              <a:gd name="T20" fmla="*/ 0 w 204"/>
              <a:gd name="T21" fmla="*/ 22225 h 14"/>
              <a:gd name="T22" fmla="*/ 0 w 204"/>
              <a:gd name="T23" fmla="*/ 20638 h 14"/>
              <a:gd name="T24" fmla="*/ 50800 w 204"/>
              <a:gd name="T25" fmla="*/ 20638 h 14"/>
              <a:gd name="T26" fmla="*/ 100013 w 204"/>
              <a:gd name="T27" fmla="*/ 20638 h 14"/>
              <a:gd name="T28" fmla="*/ 142875 w 204"/>
              <a:gd name="T29" fmla="*/ 17463 h 14"/>
              <a:gd name="T30" fmla="*/ 185738 w 204"/>
              <a:gd name="T31" fmla="*/ 15875 h 14"/>
              <a:gd name="T32" fmla="*/ 223838 w 204"/>
              <a:gd name="T33" fmla="*/ 14288 h 14"/>
              <a:gd name="T34" fmla="*/ 255588 w 204"/>
              <a:gd name="T35" fmla="*/ 12700 h 14"/>
              <a:gd name="T36" fmla="*/ 282575 w 204"/>
              <a:gd name="T37" fmla="*/ 7938 h 14"/>
              <a:gd name="T38" fmla="*/ 300038 w 204"/>
              <a:gd name="T39" fmla="*/ 6350 h 14"/>
              <a:gd name="T40" fmla="*/ 312738 w 204"/>
              <a:gd name="T41" fmla="*/ 1588 h 14"/>
              <a:gd name="T42" fmla="*/ 315913 w 204"/>
              <a:gd name="T43" fmla="*/ 0 h 14"/>
              <a:gd name="T44" fmla="*/ 323850 w 204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4" h="14">
                <a:moveTo>
                  <a:pt x="204" y="0"/>
                </a:move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8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3"/>
                </a:lnTo>
                <a:lnTo>
                  <a:pt x="33" y="14"/>
                </a:lnTo>
                <a:lnTo>
                  <a:pt x="0" y="14"/>
                </a:lnTo>
                <a:lnTo>
                  <a:pt x="0" y="13"/>
                </a:lnTo>
                <a:lnTo>
                  <a:pt x="32" y="13"/>
                </a:lnTo>
                <a:lnTo>
                  <a:pt x="63" y="13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8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204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49" name="Freeform 14"/>
          <p:cNvSpPr/>
          <p:nvPr/>
        </p:nvSpPr>
        <p:spPr bwMode="auto">
          <a:xfrm>
            <a:off x="3802136" y="4391675"/>
            <a:ext cx="236935" cy="15479"/>
          </a:xfrm>
          <a:custGeom>
            <a:avLst/>
            <a:gdLst>
              <a:gd name="T0" fmla="*/ 0 w 199"/>
              <a:gd name="T1" fmla="*/ 20638 h 13"/>
              <a:gd name="T2" fmla="*/ 50800 w 199"/>
              <a:gd name="T3" fmla="*/ 20638 h 13"/>
              <a:gd name="T4" fmla="*/ 100013 w 199"/>
              <a:gd name="T5" fmla="*/ 20638 h 13"/>
              <a:gd name="T6" fmla="*/ 142875 w 199"/>
              <a:gd name="T7" fmla="*/ 17463 h 13"/>
              <a:gd name="T8" fmla="*/ 185738 w 199"/>
              <a:gd name="T9" fmla="*/ 15875 h 13"/>
              <a:gd name="T10" fmla="*/ 223838 w 199"/>
              <a:gd name="T11" fmla="*/ 14288 h 13"/>
              <a:gd name="T12" fmla="*/ 255588 w 199"/>
              <a:gd name="T13" fmla="*/ 12700 h 13"/>
              <a:gd name="T14" fmla="*/ 282575 w 199"/>
              <a:gd name="T15" fmla="*/ 7938 h 13"/>
              <a:gd name="T16" fmla="*/ 300038 w 199"/>
              <a:gd name="T17" fmla="*/ 6350 h 13"/>
              <a:gd name="T18" fmla="*/ 312738 w 199"/>
              <a:gd name="T19" fmla="*/ 1588 h 13"/>
              <a:gd name="T20" fmla="*/ 315913 w 199"/>
              <a:gd name="T21" fmla="*/ 0 h 13"/>
              <a:gd name="T22" fmla="*/ 306388 w 199"/>
              <a:gd name="T23" fmla="*/ 0 h 13"/>
              <a:gd name="T24" fmla="*/ 301625 w 199"/>
              <a:gd name="T25" fmla="*/ 1588 h 13"/>
              <a:gd name="T26" fmla="*/ 292100 w 199"/>
              <a:gd name="T27" fmla="*/ 6350 h 13"/>
              <a:gd name="T28" fmla="*/ 274638 w 199"/>
              <a:gd name="T29" fmla="*/ 7938 h 13"/>
              <a:gd name="T30" fmla="*/ 247650 w 199"/>
              <a:gd name="T31" fmla="*/ 12700 h 13"/>
              <a:gd name="T32" fmla="*/ 217488 w 199"/>
              <a:gd name="T33" fmla="*/ 14288 h 13"/>
              <a:gd name="T34" fmla="*/ 180975 w 199"/>
              <a:gd name="T35" fmla="*/ 15875 h 13"/>
              <a:gd name="T36" fmla="*/ 139700 w 199"/>
              <a:gd name="T37" fmla="*/ 17463 h 13"/>
              <a:gd name="T38" fmla="*/ 95250 w 199"/>
              <a:gd name="T39" fmla="*/ 20638 h 13"/>
              <a:gd name="T40" fmla="*/ 49213 w 199"/>
              <a:gd name="T41" fmla="*/ 20638 h 13"/>
              <a:gd name="T42" fmla="*/ 0 w 199"/>
              <a:gd name="T43" fmla="*/ 20638 h 13"/>
              <a:gd name="T44" fmla="*/ 0 w 199"/>
              <a:gd name="T45" fmla="*/ 20638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9" h="13">
                <a:moveTo>
                  <a:pt x="0" y="13"/>
                </a:moveTo>
                <a:lnTo>
                  <a:pt x="32" y="13"/>
                </a:lnTo>
                <a:lnTo>
                  <a:pt x="63" y="13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8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193" y="0"/>
                </a:ln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8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3"/>
                </a:lnTo>
                <a:lnTo>
                  <a:pt x="31" y="13"/>
                </a:lnTo>
                <a:lnTo>
                  <a:pt x="0" y="13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0" name="Freeform 15"/>
          <p:cNvSpPr/>
          <p:nvPr/>
        </p:nvSpPr>
        <p:spPr bwMode="auto">
          <a:xfrm>
            <a:off x="3802136" y="4391675"/>
            <a:ext cx="229791" cy="15479"/>
          </a:xfrm>
          <a:custGeom>
            <a:avLst/>
            <a:gdLst>
              <a:gd name="T0" fmla="*/ 306388 w 193"/>
              <a:gd name="T1" fmla="*/ 0 h 13"/>
              <a:gd name="T2" fmla="*/ 301625 w 193"/>
              <a:gd name="T3" fmla="*/ 1588 h 13"/>
              <a:gd name="T4" fmla="*/ 292100 w 193"/>
              <a:gd name="T5" fmla="*/ 6350 h 13"/>
              <a:gd name="T6" fmla="*/ 274638 w 193"/>
              <a:gd name="T7" fmla="*/ 7938 h 13"/>
              <a:gd name="T8" fmla="*/ 247650 w 193"/>
              <a:gd name="T9" fmla="*/ 12700 h 13"/>
              <a:gd name="T10" fmla="*/ 217488 w 193"/>
              <a:gd name="T11" fmla="*/ 14288 h 13"/>
              <a:gd name="T12" fmla="*/ 180975 w 193"/>
              <a:gd name="T13" fmla="*/ 15875 h 13"/>
              <a:gd name="T14" fmla="*/ 139700 w 193"/>
              <a:gd name="T15" fmla="*/ 17463 h 13"/>
              <a:gd name="T16" fmla="*/ 95250 w 193"/>
              <a:gd name="T17" fmla="*/ 20638 h 13"/>
              <a:gd name="T18" fmla="*/ 49213 w 193"/>
              <a:gd name="T19" fmla="*/ 20638 h 13"/>
              <a:gd name="T20" fmla="*/ 0 w 193"/>
              <a:gd name="T21" fmla="*/ 20638 h 13"/>
              <a:gd name="T22" fmla="*/ 0 w 193"/>
              <a:gd name="T23" fmla="*/ 20638 h 13"/>
              <a:gd name="T24" fmla="*/ 47625 w 193"/>
              <a:gd name="T25" fmla="*/ 20638 h 13"/>
              <a:gd name="T26" fmla="*/ 93663 w 193"/>
              <a:gd name="T27" fmla="*/ 17463 h 13"/>
              <a:gd name="T28" fmla="*/ 134938 w 193"/>
              <a:gd name="T29" fmla="*/ 17463 h 13"/>
              <a:gd name="T30" fmla="*/ 176213 w 193"/>
              <a:gd name="T31" fmla="*/ 15875 h 13"/>
              <a:gd name="T32" fmla="*/ 209550 w 193"/>
              <a:gd name="T33" fmla="*/ 14288 h 13"/>
              <a:gd name="T34" fmla="*/ 239713 w 193"/>
              <a:gd name="T35" fmla="*/ 12700 h 13"/>
              <a:gd name="T36" fmla="*/ 263525 w 193"/>
              <a:gd name="T37" fmla="*/ 7938 h 13"/>
              <a:gd name="T38" fmla="*/ 282575 w 193"/>
              <a:gd name="T39" fmla="*/ 6350 h 13"/>
              <a:gd name="T40" fmla="*/ 293688 w 193"/>
              <a:gd name="T41" fmla="*/ 1588 h 13"/>
              <a:gd name="T42" fmla="*/ 296863 w 193"/>
              <a:gd name="T43" fmla="*/ 0 h 13"/>
              <a:gd name="T44" fmla="*/ 306388 w 193"/>
              <a:gd name="T45" fmla="*/ 0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3" h="13">
                <a:moveTo>
                  <a:pt x="193" y="0"/>
                </a:move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8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3"/>
                </a:lnTo>
                <a:lnTo>
                  <a:pt x="31" y="13"/>
                </a:lnTo>
                <a:lnTo>
                  <a:pt x="0" y="13"/>
                </a:lnTo>
                <a:lnTo>
                  <a:pt x="30" y="13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8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93" y="0"/>
                </a:lnTo>
                <a:close/>
              </a:path>
            </a:pathLst>
          </a:custGeom>
          <a:solidFill>
            <a:srgbClr val="AFAF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1" name="Freeform 16"/>
          <p:cNvSpPr/>
          <p:nvPr/>
        </p:nvSpPr>
        <p:spPr bwMode="auto">
          <a:xfrm>
            <a:off x="3802137" y="4391675"/>
            <a:ext cx="222647" cy="15479"/>
          </a:xfrm>
          <a:custGeom>
            <a:avLst/>
            <a:gdLst>
              <a:gd name="T0" fmla="*/ 0 w 187"/>
              <a:gd name="T1" fmla="*/ 20638 h 13"/>
              <a:gd name="T2" fmla="*/ 47625 w 187"/>
              <a:gd name="T3" fmla="*/ 20638 h 13"/>
              <a:gd name="T4" fmla="*/ 93663 w 187"/>
              <a:gd name="T5" fmla="*/ 17463 h 13"/>
              <a:gd name="T6" fmla="*/ 134938 w 187"/>
              <a:gd name="T7" fmla="*/ 17463 h 13"/>
              <a:gd name="T8" fmla="*/ 176213 w 187"/>
              <a:gd name="T9" fmla="*/ 15875 h 13"/>
              <a:gd name="T10" fmla="*/ 209550 w 187"/>
              <a:gd name="T11" fmla="*/ 14288 h 13"/>
              <a:gd name="T12" fmla="*/ 239713 w 187"/>
              <a:gd name="T13" fmla="*/ 12700 h 13"/>
              <a:gd name="T14" fmla="*/ 263525 w 187"/>
              <a:gd name="T15" fmla="*/ 7938 h 13"/>
              <a:gd name="T16" fmla="*/ 282575 w 187"/>
              <a:gd name="T17" fmla="*/ 6350 h 13"/>
              <a:gd name="T18" fmla="*/ 293688 w 187"/>
              <a:gd name="T19" fmla="*/ 1588 h 13"/>
              <a:gd name="T20" fmla="*/ 296863 w 187"/>
              <a:gd name="T21" fmla="*/ 0 h 13"/>
              <a:gd name="T22" fmla="*/ 285750 w 187"/>
              <a:gd name="T23" fmla="*/ 0 h 13"/>
              <a:gd name="T24" fmla="*/ 284163 w 187"/>
              <a:gd name="T25" fmla="*/ 1588 h 13"/>
              <a:gd name="T26" fmla="*/ 271463 w 187"/>
              <a:gd name="T27" fmla="*/ 6350 h 13"/>
              <a:gd name="T28" fmla="*/ 255588 w 187"/>
              <a:gd name="T29" fmla="*/ 7938 h 13"/>
              <a:gd name="T30" fmla="*/ 231775 w 187"/>
              <a:gd name="T31" fmla="*/ 9525 h 13"/>
              <a:gd name="T32" fmla="*/ 203200 w 187"/>
              <a:gd name="T33" fmla="*/ 12700 h 13"/>
              <a:gd name="T34" fmla="*/ 169863 w 187"/>
              <a:gd name="T35" fmla="*/ 14288 h 13"/>
              <a:gd name="T36" fmla="*/ 131763 w 187"/>
              <a:gd name="T37" fmla="*/ 15875 h 13"/>
              <a:gd name="T38" fmla="*/ 88900 w 187"/>
              <a:gd name="T39" fmla="*/ 17463 h 13"/>
              <a:gd name="T40" fmla="*/ 47625 w 187"/>
              <a:gd name="T41" fmla="*/ 17463 h 13"/>
              <a:gd name="T42" fmla="*/ 0 w 187"/>
              <a:gd name="T43" fmla="*/ 17463 h 13"/>
              <a:gd name="T44" fmla="*/ 0 w 187"/>
              <a:gd name="T45" fmla="*/ 20638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7" h="13">
                <a:moveTo>
                  <a:pt x="0" y="13"/>
                </a:moveTo>
                <a:lnTo>
                  <a:pt x="30" y="13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8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80" y="0"/>
                </a:ln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8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0" y="13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2" name="Freeform 17"/>
          <p:cNvSpPr/>
          <p:nvPr/>
        </p:nvSpPr>
        <p:spPr bwMode="auto">
          <a:xfrm>
            <a:off x="3802136" y="4391676"/>
            <a:ext cx="214313" cy="13097"/>
          </a:xfrm>
          <a:custGeom>
            <a:avLst/>
            <a:gdLst>
              <a:gd name="T0" fmla="*/ 285750 w 180"/>
              <a:gd name="T1" fmla="*/ 0 h 11"/>
              <a:gd name="T2" fmla="*/ 284163 w 180"/>
              <a:gd name="T3" fmla="*/ 1588 h 11"/>
              <a:gd name="T4" fmla="*/ 271463 w 180"/>
              <a:gd name="T5" fmla="*/ 6350 h 11"/>
              <a:gd name="T6" fmla="*/ 255588 w 180"/>
              <a:gd name="T7" fmla="*/ 7938 h 11"/>
              <a:gd name="T8" fmla="*/ 231775 w 180"/>
              <a:gd name="T9" fmla="*/ 9525 h 11"/>
              <a:gd name="T10" fmla="*/ 203200 w 180"/>
              <a:gd name="T11" fmla="*/ 12700 h 11"/>
              <a:gd name="T12" fmla="*/ 169863 w 180"/>
              <a:gd name="T13" fmla="*/ 14288 h 11"/>
              <a:gd name="T14" fmla="*/ 131763 w 180"/>
              <a:gd name="T15" fmla="*/ 15875 h 11"/>
              <a:gd name="T16" fmla="*/ 88900 w 180"/>
              <a:gd name="T17" fmla="*/ 17463 h 11"/>
              <a:gd name="T18" fmla="*/ 47625 w 180"/>
              <a:gd name="T19" fmla="*/ 17463 h 11"/>
              <a:gd name="T20" fmla="*/ 0 w 180"/>
              <a:gd name="T21" fmla="*/ 17463 h 11"/>
              <a:gd name="T22" fmla="*/ 0 w 180"/>
              <a:gd name="T23" fmla="*/ 17463 h 11"/>
              <a:gd name="T24" fmla="*/ 44450 w 180"/>
              <a:gd name="T25" fmla="*/ 17463 h 11"/>
              <a:gd name="T26" fmla="*/ 87313 w 180"/>
              <a:gd name="T27" fmla="*/ 17463 h 11"/>
              <a:gd name="T28" fmla="*/ 125413 w 180"/>
              <a:gd name="T29" fmla="*/ 15875 h 11"/>
              <a:gd name="T30" fmla="*/ 163513 w 180"/>
              <a:gd name="T31" fmla="*/ 14288 h 11"/>
              <a:gd name="T32" fmla="*/ 195263 w 180"/>
              <a:gd name="T33" fmla="*/ 12700 h 11"/>
              <a:gd name="T34" fmla="*/ 223838 w 180"/>
              <a:gd name="T35" fmla="*/ 9525 h 11"/>
              <a:gd name="T36" fmla="*/ 246063 w 180"/>
              <a:gd name="T37" fmla="*/ 7938 h 11"/>
              <a:gd name="T38" fmla="*/ 261938 w 180"/>
              <a:gd name="T39" fmla="*/ 4763 h 11"/>
              <a:gd name="T40" fmla="*/ 271463 w 180"/>
              <a:gd name="T41" fmla="*/ 1588 h 11"/>
              <a:gd name="T42" fmla="*/ 276225 w 180"/>
              <a:gd name="T43" fmla="*/ 0 h 11"/>
              <a:gd name="T44" fmla="*/ 285750 w 180"/>
              <a:gd name="T45" fmla="*/ 0 h 11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0" h="11">
                <a:moveTo>
                  <a:pt x="180" y="0"/>
                </a:move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8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8"/>
                </a:lnTo>
                <a:lnTo>
                  <a:pt x="141" y="6"/>
                </a:lnTo>
                <a:lnTo>
                  <a:pt x="155" y="5"/>
                </a:lnTo>
                <a:lnTo>
                  <a:pt x="165" y="3"/>
                </a:lnTo>
                <a:lnTo>
                  <a:pt x="171" y="1"/>
                </a:lnTo>
                <a:lnTo>
                  <a:pt x="174" y="0"/>
                </a:lnTo>
                <a:lnTo>
                  <a:pt x="18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3" name="Freeform 18"/>
          <p:cNvSpPr/>
          <p:nvPr/>
        </p:nvSpPr>
        <p:spPr bwMode="auto">
          <a:xfrm>
            <a:off x="3802136" y="4391676"/>
            <a:ext cx="207169" cy="13097"/>
          </a:xfrm>
          <a:custGeom>
            <a:avLst/>
            <a:gdLst>
              <a:gd name="T0" fmla="*/ 0 w 174"/>
              <a:gd name="T1" fmla="*/ 17463 h 11"/>
              <a:gd name="T2" fmla="*/ 44450 w 174"/>
              <a:gd name="T3" fmla="*/ 17463 h 11"/>
              <a:gd name="T4" fmla="*/ 87313 w 174"/>
              <a:gd name="T5" fmla="*/ 17463 h 11"/>
              <a:gd name="T6" fmla="*/ 125413 w 174"/>
              <a:gd name="T7" fmla="*/ 15875 h 11"/>
              <a:gd name="T8" fmla="*/ 163513 w 174"/>
              <a:gd name="T9" fmla="*/ 14288 h 11"/>
              <a:gd name="T10" fmla="*/ 195263 w 174"/>
              <a:gd name="T11" fmla="*/ 12700 h 11"/>
              <a:gd name="T12" fmla="*/ 223838 w 174"/>
              <a:gd name="T13" fmla="*/ 9525 h 11"/>
              <a:gd name="T14" fmla="*/ 246063 w 174"/>
              <a:gd name="T15" fmla="*/ 7938 h 11"/>
              <a:gd name="T16" fmla="*/ 261938 w 174"/>
              <a:gd name="T17" fmla="*/ 4763 h 11"/>
              <a:gd name="T18" fmla="*/ 271463 w 174"/>
              <a:gd name="T19" fmla="*/ 1588 h 11"/>
              <a:gd name="T20" fmla="*/ 276225 w 174"/>
              <a:gd name="T21" fmla="*/ 0 h 11"/>
              <a:gd name="T22" fmla="*/ 263525 w 174"/>
              <a:gd name="T23" fmla="*/ 0 h 11"/>
              <a:gd name="T24" fmla="*/ 260350 w 174"/>
              <a:gd name="T25" fmla="*/ 1588 h 11"/>
              <a:gd name="T26" fmla="*/ 247650 w 174"/>
              <a:gd name="T27" fmla="*/ 6350 h 11"/>
              <a:gd name="T28" fmla="*/ 230188 w 174"/>
              <a:gd name="T29" fmla="*/ 7938 h 11"/>
              <a:gd name="T30" fmla="*/ 203200 w 174"/>
              <a:gd name="T31" fmla="*/ 9525 h 11"/>
              <a:gd name="T32" fmla="*/ 171450 w 174"/>
              <a:gd name="T33" fmla="*/ 12700 h 11"/>
              <a:gd name="T34" fmla="*/ 133350 w 174"/>
              <a:gd name="T35" fmla="*/ 14288 h 11"/>
              <a:gd name="T36" fmla="*/ 90488 w 174"/>
              <a:gd name="T37" fmla="*/ 15875 h 11"/>
              <a:gd name="T38" fmla="*/ 47625 w 174"/>
              <a:gd name="T39" fmla="*/ 15875 h 11"/>
              <a:gd name="T40" fmla="*/ 0 w 174"/>
              <a:gd name="T41" fmla="*/ 17463 h 11"/>
              <a:gd name="T42" fmla="*/ 0 w 174"/>
              <a:gd name="T43" fmla="*/ 17463 h 1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74" h="11">
                <a:moveTo>
                  <a:pt x="0" y="11"/>
                </a:move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8"/>
                </a:lnTo>
                <a:lnTo>
                  <a:pt x="141" y="6"/>
                </a:lnTo>
                <a:lnTo>
                  <a:pt x="155" y="5"/>
                </a:lnTo>
                <a:lnTo>
                  <a:pt x="165" y="3"/>
                </a:lnTo>
                <a:lnTo>
                  <a:pt x="171" y="1"/>
                </a:lnTo>
                <a:lnTo>
                  <a:pt x="174" y="0"/>
                </a:lnTo>
                <a:lnTo>
                  <a:pt x="166" y="0"/>
                </a:ln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8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4" name="Freeform 19"/>
          <p:cNvSpPr/>
          <p:nvPr/>
        </p:nvSpPr>
        <p:spPr bwMode="auto">
          <a:xfrm>
            <a:off x="3802136" y="4391676"/>
            <a:ext cx="197644" cy="13097"/>
          </a:xfrm>
          <a:custGeom>
            <a:avLst/>
            <a:gdLst>
              <a:gd name="T0" fmla="*/ 263525 w 166"/>
              <a:gd name="T1" fmla="*/ 0 h 11"/>
              <a:gd name="T2" fmla="*/ 260350 w 166"/>
              <a:gd name="T3" fmla="*/ 1588 h 11"/>
              <a:gd name="T4" fmla="*/ 247650 w 166"/>
              <a:gd name="T5" fmla="*/ 6350 h 11"/>
              <a:gd name="T6" fmla="*/ 230188 w 166"/>
              <a:gd name="T7" fmla="*/ 7938 h 11"/>
              <a:gd name="T8" fmla="*/ 203200 w 166"/>
              <a:gd name="T9" fmla="*/ 9525 h 11"/>
              <a:gd name="T10" fmla="*/ 171450 w 166"/>
              <a:gd name="T11" fmla="*/ 12700 h 11"/>
              <a:gd name="T12" fmla="*/ 133350 w 166"/>
              <a:gd name="T13" fmla="*/ 14288 h 11"/>
              <a:gd name="T14" fmla="*/ 90488 w 166"/>
              <a:gd name="T15" fmla="*/ 15875 h 11"/>
              <a:gd name="T16" fmla="*/ 47625 w 166"/>
              <a:gd name="T17" fmla="*/ 15875 h 11"/>
              <a:gd name="T18" fmla="*/ 0 w 166"/>
              <a:gd name="T19" fmla="*/ 17463 h 11"/>
              <a:gd name="T20" fmla="*/ 0 w 166"/>
              <a:gd name="T21" fmla="*/ 15875 h 11"/>
              <a:gd name="T22" fmla="*/ 44450 w 166"/>
              <a:gd name="T23" fmla="*/ 15875 h 11"/>
              <a:gd name="T24" fmla="*/ 87313 w 166"/>
              <a:gd name="T25" fmla="*/ 15875 h 11"/>
              <a:gd name="T26" fmla="*/ 127000 w 166"/>
              <a:gd name="T27" fmla="*/ 14288 h 11"/>
              <a:gd name="T28" fmla="*/ 163513 w 166"/>
              <a:gd name="T29" fmla="*/ 12700 h 11"/>
              <a:gd name="T30" fmla="*/ 193675 w 166"/>
              <a:gd name="T31" fmla="*/ 9525 h 11"/>
              <a:gd name="T32" fmla="*/ 220663 w 166"/>
              <a:gd name="T33" fmla="*/ 7938 h 11"/>
              <a:gd name="T34" fmla="*/ 238125 w 166"/>
              <a:gd name="T35" fmla="*/ 4763 h 11"/>
              <a:gd name="T36" fmla="*/ 250825 w 166"/>
              <a:gd name="T37" fmla="*/ 1588 h 11"/>
              <a:gd name="T38" fmla="*/ 252413 w 166"/>
              <a:gd name="T39" fmla="*/ 0 h 11"/>
              <a:gd name="T40" fmla="*/ 263525 w 166"/>
              <a:gd name="T41" fmla="*/ 0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66" h="11">
                <a:moveTo>
                  <a:pt x="166" y="0"/>
                </a:move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8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lnTo>
                  <a:pt x="0" y="10"/>
                </a:ln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8"/>
                </a:lnTo>
                <a:lnTo>
                  <a:pt x="122" y="6"/>
                </a:lnTo>
                <a:lnTo>
                  <a:pt x="139" y="5"/>
                </a:lnTo>
                <a:lnTo>
                  <a:pt x="150" y="3"/>
                </a:lnTo>
                <a:lnTo>
                  <a:pt x="158" y="1"/>
                </a:lnTo>
                <a:lnTo>
                  <a:pt x="159" y="0"/>
                </a:lnTo>
                <a:lnTo>
                  <a:pt x="166" y="0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5" name="Freeform 20"/>
          <p:cNvSpPr/>
          <p:nvPr/>
        </p:nvSpPr>
        <p:spPr bwMode="auto">
          <a:xfrm>
            <a:off x="3802136" y="4391676"/>
            <a:ext cx="189310" cy="11906"/>
          </a:xfrm>
          <a:custGeom>
            <a:avLst/>
            <a:gdLst>
              <a:gd name="T0" fmla="*/ 0 w 159"/>
              <a:gd name="T1" fmla="*/ 15875 h 10"/>
              <a:gd name="T2" fmla="*/ 44450 w 159"/>
              <a:gd name="T3" fmla="*/ 15875 h 10"/>
              <a:gd name="T4" fmla="*/ 87313 w 159"/>
              <a:gd name="T5" fmla="*/ 15875 h 10"/>
              <a:gd name="T6" fmla="*/ 127000 w 159"/>
              <a:gd name="T7" fmla="*/ 14288 h 10"/>
              <a:gd name="T8" fmla="*/ 163513 w 159"/>
              <a:gd name="T9" fmla="*/ 12700 h 10"/>
              <a:gd name="T10" fmla="*/ 193675 w 159"/>
              <a:gd name="T11" fmla="*/ 9525 h 10"/>
              <a:gd name="T12" fmla="*/ 220663 w 159"/>
              <a:gd name="T13" fmla="*/ 7938 h 10"/>
              <a:gd name="T14" fmla="*/ 238125 w 159"/>
              <a:gd name="T15" fmla="*/ 4763 h 10"/>
              <a:gd name="T16" fmla="*/ 250825 w 159"/>
              <a:gd name="T17" fmla="*/ 1588 h 10"/>
              <a:gd name="T18" fmla="*/ 252413 w 159"/>
              <a:gd name="T19" fmla="*/ 0 h 10"/>
              <a:gd name="T20" fmla="*/ 239713 w 159"/>
              <a:gd name="T21" fmla="*/ 0 h 10"/>
              <a:gd name="T22" fmla="*/ 236538 w 159"/>
              <a:gd name="T23" fmla="*/ 1588 h 10"/>
              <a:gd name="T24" fmla="*/ 225425 w 159"/>
              <a:gd name="T25" fmla="*/ 4763 h 10"/>
              <a:gd name="T26" fmla="*/ 207963 w 159"/>
              <a:gd name="T27" fmla="*/ 7938 h 10"/>
              <a:gd name="T28" fmla="*/ 184150 w 159"/>
              <a:gd name="T29" fmla="*/ 9525 h 10"/>
              <a:gd name="T30" fmla="*/ 155575 w 159"/>
              <a:gd name="T31" fmla="*/ 12700 h 10"/>
              <a:gd name="T32" fmla="*/ 120650 w 159"/>
              <a:gd name="T33" fmla="*/ 14288 h 10"/>
              <a:gd name="T34" fmla="*/ 82550 w 159"/>
              <a:gd name="T35" fmla="*/ 14288 h 10"/>
              <a:gd name="T36" fmla="*/ 42863 w 159"/>
              <a:gd name="T37" fmla="*/ 15875 h 10"/>
              <a:gd name="T38" fmla="*/ 0 w 159"/>
              <a:gd name="T39" fmla="*/ 15875 h 10"/>
              <a:gd name="T40" fmla="*/ 0 w 159"/>
              <a:gd name="T41" fmla="*/ 15875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9" h="10">
                <a:moveTo>
                  <a:pt x="0" y="10"/>
                </a:move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8"/>
                </a:lnTo>
                <a:lnTo>
                  <a:pt x="122" y="6"/>
                </a:lnTo>
                <a:lnTo>
                  <a:pt x="139" y="5"/>
                </a:lnTo>
                <a:lnTo>
                  <a:pt x="150" y="3"/>
                </a:lnTo>
                <a:lnTo>
                  <a:pt x="158" y="1"/>
                </a:lnTo>
                <a:lnTo>
                  <a:pt x="159" y="0"/>
                </a:lnTo>
                <a:lnTo>
                  <a:pt x="151" y="0"/>
                </a:lnTo>
                <a:lnTo>
                  <a:pt x="149" y="1"/>
                </a:lnTo>
                <a:lnTo>
                  <a:pt x="142" y="3"/>
                </a:lnTo>
                <a:lnTo>
                  <a:pt x="131" y="5"/>
                </a:lnTo>
                <a:lnTo>
                  <a:pt x="116" y="6"/>
                </a:lnTo>
                <a:lnTo>
                  <a:pt x="98" y="8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6" name="Freeform 21"/>
          <p:cNvSpPr/>
          <p:nvPr/>
        </p:nvSpPr>
        <p:spPr bwMode="auto">
          <a:xfrm>
            <a:off x="3802136" y="4391676"/>
            <a:ext cx="179785" cy="11906"/>
          </a:xfrm>
          <a:custGeom>
            <a:avLst/>
            <a:gdLst>
              <a:gd name="T0" fmla="*/ 239713 w 151"/>
              <a:gd name="T1" fmla="*/ 0 h 10"/>
              <a:gd name="T2" fmla="*/ 236538 w 151"/>
              <a:gd name="T3" fmla="*/ 1588 h 10"/>
              <a:gd name="T4" fmla="*/ 225425 w 151"/>
              <a:gd name="T5" fmla="*/ 4763 h 10"/>
              <a:gd name="T6" fmla="*/ 207963 w 151"/>
              <a:gd name="T7" fmla="*/ 7938 h 10"/>
              <a:gd name="T8" fmla="*/ 184150 w 151"/>
              <a:gd name="T9" fmla="*/ 9525 h 10"/>
              <a:gd name="T10" fmla="*/ 155575 w 151"/>
              <a:gd name="T11" fmla="*/ 12700 h 10"/>
              <a:gd name="T12" fmla="*/ 120650 w 151"/>
              <a:gd name="T13" fmla="*/ 14288 h 10"/>
              <a:gd name="T14" fmla="*/ 82550 w 151"/>
              <a:gd name="T15" fmla="*/ 14288 h 10"/>
              <a:gd name="T16" fmla="*/ 42863 w 151"/>
              <a:gd name="T17" fmla="*/ 15875 h 10"/>
              <a:gd name="T18" fmla="*/ 0 w 151"/>
              <a:gd name="T19" fmla="*/ 15875 h 10"/>
              <a:gd name="T20" fmla="*/ 0 w 151"/>
              <a:gd name="T21" fmla="*/ 14288 h 10"/>
              <a:gd name="T22" fmla="*/ 41275 w 151"/>
              <a:gd name="T23" fmla="*/ 14288 h 10"/>
              <a:gd name="T24" fmla="*/ 79375 w 151"/>
              <a:gd name="T25" fmla="*/ 14288 h 10"/>
              <a:gd name="T26" fmla="*/ 112713 w 151"/>
              <a:gd name="T27" fmla="*/ 12700 h 10"/>
              <a:gd name="T28" fmla="*/ 146050 w 151"/>
              <a:gd name="T29" fmla="*/ 9525 h 10"/>
              <a:gd name="T30" fmla="*/ 173038 w 151"/>
              <a:gd name="T31" fmla="*/ 9525 h 10"/>
              <a:gd name="T32" fmla="*/ 198438 w 151"/>
              <a:gd name="T33" fmla="*/ 6350 h 10"/>
              <a:gd name="T34" fmla="*/ 214313 w 151"/>
              <a:gd name="T35" fmla="*/ 4763 h 10"/>
              <a:gd name="T36" fmla="*/ 223838 w 151"/>
              <a:gd name="T37" fmla="*/ 1588 h 10"/>
              <a:gd name="T38" fmla="*/ 228600 w 151"/>
              <a:gd name="T39" fmla="*/ 0 h 10"/>
              <a:gd name="T40" fmla="*/ 239713 w 151"/>
              <a:gd name="T41" fmla="*/ 0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1" h="10">
                <a:moveTo>
                  <a:pt x="151" y="0"/>
                </a:moveTo>
                <a:lnTo>
                  <a:pt x="149" y="1"/>
                </a:lnTo>
                <a:lnTo>
                  <a:pt x="142" y="3"/>
                </a:lnTo>
                <a:lnTo>
                  <a:pt x="131" y="5"/>
                </a:lnTo>
                <a:lnTo>
                  <a:pt x="116" y="6"/>
                </a:lnTo>
                <a:lnTo>
                  <a:pt x="98" y="8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lnTo>
                  <a:pt x="0" y="9"/>
                </a:lnTo>
                <a:lnTo>
                  <a:pt x="26" y="9"/>
                </a:lnTo>
                <a:lnTo>
                  <a:pt x="50" y="9"/>
                </a:lnTo>
                <a:lnTo>
                  <a:pt x="71" y="8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3"/>
                </a:lnTo>
                <a:lnTo>
                  <a:pt x="141" y="1"/>
                </a:lnTo>
                <a:lnTo>
                  <a:pt x="144" y="0"/>
                </a:lnTo>
                <a:lnTo>
                  <a:pt x="151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7" name="Freeform 22"/>
          <p:cNvSpPr/>
          <p:nvPr/>
        </p:nvSpPr>
        <p:spPr bwMode="auto">
          <a:xfrm>
            <a:off x="3802136" y="4391675"/>
            <a:ext cx="171450" cy="10716"/>
          </a:xfrm>
          <a:custGeom>
            <a:avLst/>
            <a:gdLst>
              <a:gd name="T0" fmla="*/ 0 w 144"/>
              <a:gd name="T1" fmla="*/ 14288 h 9"/>
              <a:gd name="T2" fmla="*/ 41275 w 144"/>
              <a:gd name="T3" fmla="*/ 14288 h 9"/>
              <a:gd name="T4" fmla="*/ 79375 w 144"/>
              <a:gd name="T5" fmla="*/ 14288 h 9"/>
              <a:gd name="T6" fmla="*/ 112713 w 144"/>
              <a:gd name="T7" fmla="*/ 12700 h 9"/>
              <a:gd name="T8" fmla="*/ 146050 w 144"/>
              <a:gd name="T9" fmla="*/ 9525 h 9"/>
              <a:gd name="T10" fmla="*/ 173038 w 144"/>
              <a:gd name="T11" fmla="*/ 9525 h 9"/>
              <a:gd name="T12" fmla="*/ 198438 w 144"/>
              <a:gd name="T13" fmla="*/ 6350 h 9"/>
              <a:gd name="T14" fmla="*/ 214313 w 144"/>
              <a:gd name="T15" fmla="*/ 4763 h 9"/>
              <a:gd name="T16" fmla="*/ 223838 w 144"/>
              <a:gd name="T17" fmla="*/ 1588 h 9"/>
              <a:gd name="T18" fmla="*/ 228600 w 144"/>
              <a:gd name="T19" fmla="*/ 0 h 9"/>
              <a:gd name="T20" fmla="*/ 211138 w 144"/>
              <a:gd name="T21" fmla="*/ 0 h 9"/>
              <a:gd name="T22" fmla="*/ 209550 w 144"/>
              <a:gd name="T23" fmla="*/ 1588 h 9"/>
              <a:gd name="T24" fmla="*/ 200025 w 144"/>
              <a:gd name="T25" fmla="*/ 4763 h 9"/>
              <a:gd name="T26" fmla="*/ 184150 w 144"/>
              <a:gd name="T27" fmla="*/ 6350 h 9"/>
              <a:gd name="T28" fmla="*/ 163513 w 144"/>
              <a:gd name="T29" fmla="*/ 7938 h 9"/>
              <a:gd name="T30" fmla="*/ 138113 w 144"/>
              <a:gd name="T31" fmla="*/ 9525 h 9"/>
              <a:gd name="T32" fmla="*/ 107950 w 144"/>
              <a:gd name="T33" fmla="*/ 12700 h 9"/>
              <a:gd name="T34" fmla="*/ 73025 w 144"/>
              <a:gd name="T35" fmla="*/ 12700 h 9"/>
              <a:gd name="T36" fmla="*/ 39688 w 144"/>
              <a:gd name="T37" fmla="*/ 14288 h 9"/>
              <a:gd name="T38" fmla="*/ 0 w 144"/>
              <a:gd name="T39" fmla="*/ 14288 h 9"/>
              <a:gd name="T40" fmla="*/ 0 w 144"/>
              <a:gd name="T41" fmla="*/ 14288 h 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4" h="9">
                <a:moveTo>
                  <a:pt x="0" y="9"/>
                </a:moveTo>
                <a:lnTo>
                  <a:pt x="26" y="9"/>
                </a:lnTo>
                <a:lnTo>
                  <a:pt x="50" y="9"/>
                </a:lnTo>
                <a:lnTo>
                  <a:pt x="71" y="8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3"/>
                </a:lnTo>
                <a:lnTo>
                  <a:pt x="141" y="1"/>
                </a:lnTo>
                <a:lnTo>
                  <a:pt x="144" y="0"/>
                </a:lnTo>
                <a:lnTo>
                  <a:pt x="133" y="0"/>
                </a:lnTo>
                <a:lnTo>
                  <a:pt x="132" y="1"/>
                </a:lnTo>
                <a:lnTo>
                  <a:pt x="126" y="3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8"/>
                </a:lnTo>
                <a:lnTo>
                  <a:pt x="46" y="8"/>
                </a:lnTo>
                <a:lnTo>
                  <a:pt x="25" y="9"/>
                </a:lnTo>
                <a:lnTo>
                  <a:pt x="0" y="9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8" name="Freeform 23"/>
          <p:cNvSpPr/>
          <p:nvPr/>
        </p:nvSpPr>
        <p:spPr bwMode="auto">
          <a:xfrm>
            <a:off x="3802136" y="4391675"/>
            <a:ext cx="158354" cy="10716"/>
          </a:xfrm>
          <a:custGeom>
            <a:avLst/>
            <a:gdLst>
              <a:gd name="T0" fmla="*/ 211138 w 133"/>
              <a:gd name="T1" fmla="*/ 0 h 9"/>
              <a:gd name="T2" fmla="*/ 209550 w 133"/>
              <a:gd name="T3" fmla="*/ 1588 h 9"/>
              <a:gd name="T4" fmla="*/ 200025 w 133"/>
              <a:gd name="T5" fmla="*/ 4763 h 9"/>
              <a:gd name="T6" fmla="*/ 184150 w 133"/>
              <a:gd name="T7" fmla="*/ 6350 h 9"/>
              <a:gd name="T8" fmla="*/ 163513 w 133"/>
              <a:gd name="T9" fmla="*/ 7938 h 9"/>
              <a:gd name="T10" fmla="*/ 138113 w 133"/>
              <a:gd name="T11" fmla="*/ 9525 h 9"/>
              <a:gd name="T12" fmla="*/ 107950 w 133"/>
              <a:gd name="T13" fmla="*/ 12700 h 9"/>
              <a:gd name="T14" fmla="*/ 73025 w 133"/>
              <a:gd name="T15" fmla="*/ 12700 h 9"/>
              <a:gd name="T16" fmla="*/ 39688 w 133"/>
              <a:gd name="T17" fmla="*/ 14288 h 9"/>
              <a:gd name="T18" fmla="*/ 0 w 133"/>
              <a:gd name="T19" fmla="*/ 14288 h 9"/>
              <a:gd name="T20" fmla="*/ 0 w 133"/>
              <a:gd name="T21" fmla="*/ 12700 h 9"/>
              <a:gd name="T22" fmla="*/ 39688 w 133"/>
              <a:gd name="T23" fmla="*/ 12700 h 9"/>
              <a:gd name="T24" fmla="*/ 77788 w 133"/>
              <a:gd name="T25" fmla="*/ 12700 h 9"/>
              <a:gd name="T26" fmla="*/ 111125 w 133"/>
              <a:gd name="T27" fmla="*/ 9525 h 9"/>
              <a:gd name="T28" fmla="*/ 139700 w 133"/>
              <a:gd name="T29" fmla="*/ 7938 h 9"/>
              <a:gd name="T30" fmla="*/ 165100 w 133"/>
              <a:gd name="T31" fmla="*/ 6350 h 9"/>
              <a:gd name="T32" fmla="*/ 184150 w 133"/>
              <a:gd name="T33" fmla="*/ 4763 h 9"/>
              <a:gd name="T34" fmla="*/ 193675 w 133"/>
              <a:gd name="T35" fmla="*/ 1588 h 9"/>
              <a:gd name="T36" fmla="*/ 198438 w 133"/>
              <a:gd name="T37" fmla="*/ 0 h 9"/>
              <a:gd name="T38" fmla="*/ 211138 w 133"/>
              <a:gd name="T39" fmla="*/ 0 h 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33" h="9">
                <a:moveTo>
                  <a:pt x="133" y="0"/>
                </a:moveTo>
                <a:lnTo>
                  <a:pt x="132" y="1"/>
                </a:lnTo>
                <a:lnTo>
                  <a:pt x="126" y="3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8"/>
                </a:lnTo>
                <a:lnTo>
                  <a:pt x="46" y="8"/>
                </a:lnTo>
                <a:lnTo>
                  <a:pt x="25" y="9"/>
                </a:lnTo>
                <a:lnTo>
                  <a:pt x="0" y="9"/>
                </a:lnTo>
                <a:lnTo>
                  <a:pt x="0" y="8"/>
                </a:lnTo>
                <a:lnTo>
                  <a:pt x="25" y="8"/>
                </a:lnTo>
                <a:lnTo>
                  <a:pt x="49" y="8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3"/>
                </a:lnTo>
                <a:lnTo>
                  <a:pt x="122" y="1"/>
                </a:lnTo>
                <a:lnTo>
                  <a:pt x="125" y="0"/>
                </a:lnTo>
                <a:lnTo>
                  <a:pt x="133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59" name="Freeform 24"/>
          <p:cNvSpPr/>
          <p:nvPr/>
        </p:nvSpPr>
        <p:spPr bwMode="auto">
          <a:xfrm>
            <a:off x="3802136" y="4391675"/>
            <a:ext cx="148829" cy="9525"/>
          </a:xfrm>
          <a:custGeom>
            <a:avLst/>
            <a:gdLst>
              <a:gd name="T0" fmla="*/ 0 w 125"/>
              <a:gd name="T1" fmla="*/ 12700 h 8"/>
              <a:gd name="T2" fmla="*/ 39688 w 125"/>
              <a:gd name="T3" fmla="*/ 12700 h 8"/>
              <a:gd name="T4" fmla="*/ 77788 w 125"/>
              <a:gd name="T5" fmla="*/ 12700 h 8"/>
              <a:gd name="T6" fmla="*/ 111125 w 125"/>
              <a:gd name="T7" fmla="*/ 9525 h 8"/>
              <a:gd name="T8" fmla="*/ 139700 w 125"/>
              <a:gd name="T9" fmla="*/ 7938 h 8"/>
              <a:gd name="T10" fmla="*/ 165100 w 125"/>
              <a:gd name="T11" fmla="*/ 6350 h 8"/>
              <a:gd name="T12" fmla="*/ 184150 w 125"/>
              <a:gd name="T13" fmla="*/ 4763 h 8"/>
              <a:gd name="T14" fmla="*/ 193675 w 125"/>
              <a:gd name="T15" fmla="*/ 1588 h 8"/>
              <a:gd name="T16" fmla="*/ 198438 w 125"/>
              <a:gd name="T17" fmla="*/ 0 h 8"/>
              <a:gd name="T18" fmla="*/ 180975 w 125"/>
              <a:gd name="T19" fmla="*/ 0 h 8"/>
              <a:gd name="T20" fmla="*/ 177800 w 125"/>
              <a:gd name="T21" fmla="*/ 1588 h 8"/>
              <a:gd name="T22" fmla="*/ 168275 w 125"/>
              <a:gd name="T23" fmla="*/ 4763 h 8"/>
              <a:gd name="T24" fmla="*/ 150813 w 125"/>
              <a:gd name="T25" fmla="*/ 6350 h 8"/>
              <a:gd name="T26" fmla="*/ 130175 w 125"/>
              <a:gd name="T27" fmla="*/ 7938 h 8"/>
              <a:gd name="T28" fmla="*/ 101600 w 125"/>
              <a:gd name="T29" fmla="*/ 9525 h 8"/>
              <a:gd name="T30" fmla="*/ 71438 w 125"/>
              <a:gd name="T31" fmla="*/ 9525 h 8"/>
              <a:gd name="T32" fmla="*/ 36513 w 125"/>
              <a:gd name="T33" fmla="*/ 12700 h 8"/>
              <a:gd name="T34" fmla="*/ 0 w 125"/>
              <a:gd name="T35" fmla="*/ 12700 h 8"/>
              <a:gd name="T36" fmla="*/ 0 w 125"/>
              <a:gd name="T37" fmla="*/ 12700 h 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25" h="8">
                <a:moveTo>
                  <a:pt x="0" y="8"/>
                </a:moveTo>
                <a:lnTo>
                  <a:pt x="25" y="8"/>
                </a:lnTo>
                <a:lnTo>
                  <a:pt x="49" y="8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3"/>
                </a:lnTo>
                <a:lnTo>
                  <a:pt x="122" y="1"/>
                </a:lnTo>
                <a:lnTo>
                  <a:pt x="125" y="0"/>
                </a:lnTo>
                <a:lnTo>
                  <a:pt x="114" y="0"/>
                </a:lnTo>
                <a:lnTo>
                  <a:pt x="112" y="1"/>
                </a:lnTo>
                <a:lnTo>
                  <a:pt x="106" y="3"/>
                </a:lnTo>
                <a:lnTo>
                  <a:pt x="95" y="4"/>
                </a:lnTo>
                <a:lnTo>
                  <a:pt x="82" y="5"/>
                </a:lnTo>
                <a:lnTo>
                  <a:pt x="64" y="6"/>
                </a:lnTo>
                <a:lnTo>
                  <a:pt x="45" y="6"/>
                </a:lnTo>
                <a:lnTo>
                  <a:pt x="23" y="8"/>
                </a:lnTo>
                <a:lnTo>
                  <a:pt x="0" y="8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0" name="Freeform 25"/>
          <p:cNvSpPr/>
          <p:nvPr/>
        </p:nvSpPr>
        <p:spPr bwMode="auto">
          <a:xfrm>
            <a:off x="3802137" y="4391675"/>
            <a:ext cx="135731" cy="9525"/>
          </a:xfrm>
          <a:custGeom>
            <a:avLst/>
            <a:gdLst>
              <a:gd name="T0" fmla="*/ 180975 w 114"/>
              <a:gd name="T1" fmla="*/ 0 h 8"/>
              <a:gd name="T2" fmla="*/ 177800 w 114"/>
              <a:gd name="T3" fmla="*/ 1588 h 8"/>
              <a:gd name="T4" fmla="*/ 168275 w 114"/>
              <a:gd name="T5" fmla="*/ 4763 h 8"/>
              <a:gd name="T6" fmla="*/ 150813 w 114"/>
              <a:gd name="T7" fmla="*/ 6350 h 8"/>
              <a:gd name="T8" fmla="*/ 130175 w 114"/>
              <a:gd name="T9" fmla="*/ 7938 h 8"/>
              <a:gd name="T10" fmla="*/ 101600 w 114"/>
              <a:gd name="T11" fmla="*/ 9525 h 8"/>
              <a:gd name="T12" fmla="*/ 71438 w 114"/>
              <a:gd name="T13" fmla="*/ 9525 h 8"/>
              <a:gd name="T14" fmla="*/ 36513 w 114"/>
              <a:gd name="T15" fmla="*/ 12700 h 8"/>
              <a:gd name="T16" fmla="*/ 0 w 114"/>
              <a:gd name="T17" fmla="*/ 12700 h 8"/>
              <a:gd name="T18" fmla="*/ 0 w 114"/>
              <a:gd name="T19" fmla="*/ 9525 h 8"/>
              <a:gd name="T20" fmla="*/ 33338 w 114"/>
              <a:gd name="T21" fmla="*/ 9525 h 8"/>
              <a:gd name="T22" fmla="*/ 63500 w 114"/>
              <a:gd name="T23" fmla="*/ 9525 h 8"/>
              <a:gd name="T24" fmla="*/ 90488 w 114"/>
              <a:gd name="T25" fmla="*/ 7938 h 8"/>
              <a:gd name="T26" fmla="*/ 117475 w 114"/>
              <a:gd name="T27" fmla="*/ 6350 h 8"/>
              <a:gd name="T28" fmla="*/ 138113 w 114"/>
              <a:gd name="T29" fmla="*/ 6350 h 8"/>
              <a:gd name="T30" fmla="*/ 150813 w 114"/>
              <a:gd name="T31" fmla="*/ 4763 h 8"/>
              <a:gd name="T32" fmla="*/ 161925 w 114"/>
              <a:gd name="T33" fmla="*/ 1588 h 8"/>
              <a:gd name="T34" fmla="*/ 163513 w 114"/>
              <a:gd name="T35" fmla="*/ 0 h 8"/>
              <a:gd name="T36" fmla="*/ 180975 w 114"/>
              <a:gd name="T37" fmla="*/ 0 h 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14" h="8">
                <a:moveTo>
                  <a:pt x="114" y="0"/>
                </a:moveTo>
                <a:lnTo>
                  <a:pt x="112" y="1"/>
                </a:lnTo>
                <a:lnTo>
                  <a:pt x="106" y="3"/>
                </a:lnTo>
                <a:lnTo>
                  <a:pt x="95" y="4"/>
                </a:lnTo>
                <a:lnTo>
                  <a:pt x="82" y="5"/>
                </a:lnTo>
                <a:lnTo>
                  <a:pt x="64" y="6"/>
                </a:lnTo>
                <a:lnTo>
                  <a:pt x="45" y="6"/>
                </a:lnTo>
                <a:lnTo>
                  <a:pt x="23" y="8"/>
                </a:lnTo>
                <a:lnTo>
                  <a:pt x="0" y="8"/>
                </a:lnTo>
                <a:lnTo>
                  <a:pt x="0" y="6"/>
                </a:ln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3"/>
                </a:lnTo>
                <a:lnTo>
                  <a:pt x="102" y="1"/>
                </a:lnTo>
                <a:lnTo>
                  <a:pt x="103" y="0"/>
                </a:lnTo>
                <a:lnTo>
                  <a:pt x="114" y="0"/>
                </a:lnTo>
                <a:close/>
              </a:path>
            </a:pathLst>
          </a:custGeom>
          <a:solidFill>
            <a:srgbClr val="84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1" name="Freeform 26"/>
          <p:cNvSpPr/>
          <p:nvPr/>
        </p:nvSpPr>
        <p:spPr bwMode="auto">
          <a:xfrm>
            <a:off x="3802136" y="4391676"/>
            <a:ext cx="122635" cy="7144"/>
          </a:xfrm>
          <a:custGeom>
            <a:avLst/>
            <a:gdLst>
              <a:gd name="T0" fmla="*/ 0 w 103"/>
              <a:gd name="T1" fmla="*/ 9525 h 6"/>
              <a:gd name="T2" fmla="*/ 33338 w 103"/>
              <a:gd name="T3" fmla="*/ 9525 h 6"/>
              <a:gd name="T4" fmla="*/ 63500 w 103"/>
              <a:gd name="T5" fmla="*/ 9525 h 6"/>
              <a:gd name="T6" fmla="*/ 90488 w 103"/>
              <a:gd name="T7" fmla="*/ 7938 h 6"/>
              <a:gd name="T8" fmla="*/ 117475 w 103"/>
              <a:gd name="T9" fmla="*/ 6350 h 6"/>
              <a:gd name="T10" fmla="*/ 138113 w 103"/>
              <a:gd name="T11" fmla="*/ 6350 h 6"/>
              <a:gd name="T12" fmla="*/ 150813 w 103"/>
              <a:gd name="T13" fmla="*/ 4763 h 6"/>
              <a:gd name="T14" fmla="*/ 161925 w 103"/>
              <a:gd name="T15" fmla="*/ 1588 h 6"/>
              <a:gd name="T16" fmla="*/ 163513 w 103"/>
              <a:gd name="T17" fmla="*/ 0 h 6"/>
              <a:gd name="T18" fmla="*/ 146050 w 103"/>
              <a:gd name="T19" fmla="*/ 0 h 6"/>
              <a:gd name="T20" fmla="*/ 142875 w 103"/>
              <a:gd name="T21" fmla="*/ 1588 h 6"/>
              <a:gd name="T22" fmla="*/ 131763 w 103"/>
              <a:gd name="T23" fmla="*/ 4763 h 6"/>
              <a:gd name="T24" fmla="*/ 115888 w 103"/>
              <a:gd name="T25" fmla="*/ 6350 h 6"/>
              <a:gd name="T26" fmla="*/ 90488 w 103"/>
              <a:gd name="T27" fmla="*/ 6350 h 6"/>
              <a:gd name="T28" fmla="*/ 65088 w 103"/>
              <a:gd name="T29" fmla="*/ 7938 h 6"/>
              <a:gd name="T30" fmla="*/ 33338 w 103"/>
              <a:gd name="T31" fmla="*/ 7938 h 6"/>
              <a:gd name="T32" fmla="*/ 0 w 103"/>
              <a:gd name="T33" fmla="*/ 9525 h 6"/>
              <a:gd name="T34" fmla="*/ 0 w 103"/>
              <a:gd name="T35" fmla="*/ 9525 h 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" h="6">
                <a:moveTo>
                  <a:pt x="0" y="6"/>
                </a:move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3"/>
                </a:lnTo>
                <a:lnTo>
                  <a:pt x="102" y="1"/>
                </a:lnTo>
                <a:lnTo>
                  <a:pt x="103" y="0"/>
                </a:lnTo>
                <a:lnTo>
                  <a:pt x="92" y="0"/>
                </a:lnTo>
                <a:lnTo>
                  <a:pt x="90" y="1"/>
                </a:lnTo>
                <a:lnTo>
                  <a:pt x="83" y="3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2" name="Freeform 27"/>
          <p:cNvSpPr/>
          <p:nvPr/>
        </p:nvSpPr>
        <p:spPr bwMode="auto">
          <a:xfrm>
            <a:off x="3802136" y="4391676"/>
            <a:ext cx="109538" cy="7144"/>
          </a:xfrm>
          <a:custGeom>
            <a:avLst/>
            <a:gdLst>
              <a:gd name="T0" fmla="*/ 146050 w 92"/>
              <a:gd name="T1" fmla="*/ 0 h 6"/>
              <a:gd name="T2" fmla="*/ 142875 w 92"/>
              <a:gd name="T3" fmla="*/ 1588 h 6"/>
              <a:gd name="T4" fmla="*/ 131763 w 92"/>
              <a:gd name="T5" fmla="*/ 4763 h 6"/>
              <a:gd name="T6" fmla="*/ 115888 w 92"/>
              <a:gd name="T7" fmla="*/ 6350 h 6"/>
              <a:gd name="T8" fmla="*/ 90488 w 92"/>
              <a:gd name="T9" fmla="*/ 6350 h 6"/>
              <a:gd name="T10" fmla="*/ 65088 w 92"/>
              <a:gd name="T11" fmla="*/ 7938 h 6"/>
              <a:gd name="T12" fmla="*/ 33338 w 92"/>
              <a:gd name="T13" fmla="*/ 7938 h 6"/>
              <a:gd name="T14" fmla="*/ 0 w 92"/>
              <a:gd name="T15" fmla="*/ 9525 h 6"/>
              <a:gd name="T16" fmla="*/ 0 w 92"/>
              <a:gd name="T17" fmla="*/ 7938 h 6"/>
              <a:gd name="T18" fmla="*/ 28575 w 92"/>
              <a:gd name="T19" fmla="*/ 7938 h 6"/>
              <a:gd name="T20" fmla="*/ 55563 w 92"/>
              <a:gd name="T21" fmla="*/ 6350 h 6"/>
              <a:gd name="T22" fmla="*/ 79375 w 92"/>
              <a:gd name="T23" fmla="*/ 6350 h 6"/>
              <a:gd name="T24" fmla="*/ 100013 w 92"/>
              <a:gd name="T25" fmla="*/ 4763 h 6"/>
              <a:gd name="T26" fmla="*/ 112713 w 92"/>
              <a:gd name="T27" fmla="*/ 1588 h 6"/>
              <a:gd name="T28" fmla="*/ 123825 w 92"/>
              <a:gd name="T29" fmla="*/ 0 h 6"/>
              <a:gd name="T30" fmla="*/ 127000 w 92"/>
              <a:gd name="T31" fmla="*/ 0 h 6"/>
              <a:gd name="T32" fmla="*/ 146050 w 92"/>
              <a:gd name="T33" fmla="*/ 0 h 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92" h="6">
                <a:moveTo>
                  <a:pt x="92" y="0"/>
                </a:moveTo>
                <a:lnTo>
                  <a:pt x="90" y="1"/>
                </a:lnTo>
                <a:lnTo>
                  <a:pt x="83" y="3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lnTo>
                  <a:pt x="0" y="5"/>
                </a:ln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3" y="3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92" y="0"/>
                </a:lnTo>
                <a:close/>
              </a:path>
            </a:pathLst>
          </a:custGeom>
          <a:solidFill>
            <a:srgbClr val="7B7B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3" name="Freeform 28"/>
          <p:cNvSpPr/>
          <p:nvPr/>
        </p:nvSpPr>
        <p:spPr bwMode="auto">
          <a:xfrm>
            <a:off x="3802136" y="4391675"/>
            <a:ext cx="95250" cy="5954"/>
          </a:xfrm>
          <a:custGeom>
            <a:avLst/>
            <a:gdLst>
              <a:gd name="T0" fmla="*/ 0 w 80"/>
              <a:gd name="T1" fmla="*/ 7938 h 5"/>
              <a:gd name="T2" fmla="*/ 28575 w 80"/>
              <a:gd name="T3" fmla="*/ 7938 h 5"/>
              <a:gd name="T4" fmla="*/ 55563 w 80"/>
              <a:gd name="T5" fmla="*/ 6350 h 5"/>
              <a:gd name="T6" fmla="*/ 79375 w 80"/>
              <a:gd name="T7" fmla="*/ 6350 h 5"/>
              <a:gd name="T8" fmla="*/ 100013 w 80"/>
              <a:gd name="T9" fmla="*/ 4763 h 5"/>
              <a:gd name="T10" fmla="*/ 112713 w 80"/>
              <a:gd name="T11" fmla="*/ 1588 h 5"/>
              <a:gd name="T12" fmla="*/ 123825 w 80"/>
              <a:gd name="T13" fmla="*/ 0 h 5"/>
              <a:gd name="T14" fmla="*/ 127000 w 80"/>
              <a:gd name="T15" fmla="*/ 0 h 5"/>
              <a:gd name="T16" fmla="*/ 104775 w 80"/>
              <a:gd name="T17" fmla="*/ 0 h 5"/>
              <a:gd name="T18" fmla="*/ 101600 w 80"/>
              <a:gd name="T19" fmla="*/ 0 h 5"/>
              <a:gd name="T20" fmla="*/ 90488 w 80"/>
              <a:gd name="T21" fmla="*/ 1588 h 5"/>
              <a:gd name="T22" fmla="*/ 74613 w 80"/>
              <a:gd name="T23" fmla="*/ 4763 h 5"/>
              <a:gd name="T24" fmla="*/ 52388 w 80"/>
              <a:gd name="T25" fmla="*/ 6350 h 5"/>
              <a:gd name="T26" fmla="*/ 28575 w 80"/>
              <a:gd name="T27" fmla="*/ 6350 h 5"/>
              <a:gd name="T28" fmla="*/ 0 w 80"/>
              <a:gd name="T29" fmla="*/ 6350 h 5"/>
              <a:gd name="T30" fmla="*/ 0 w 80"/>
              <a:gd name="T31" fmla="*/ 7938 h 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0" h="5">
                <a:moveTo>
                  <a:pt x="0" y="5"/>
                </a:move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3" y="3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66" y="0"/>
                </a:lnTo>
                <a:lnTo>
                  <a:pt x="64" y="0"/>
                </a:lnTo>
                <a:lnTo>
                  <a:pt x="57" y="1"/>
                </a:lnTo>
                <a:lnTo>
                  <a:pt x="47" y="3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5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4" name="Freeform 29"/>
          <p:cNvSpPr/>
          <p:nvPr/>
        </p:nvSpPr>
        <p:spPr bwMode="auto">
          <a:xfrm>
            <a:off x="3802137" y="4391675"/>
            <a:ext cx="78581" cy="4763"/>
          </a:xfrm>
          <a:custGeom>
            <a:avLst/>
            <a:gdLst>
              <a:gd name="T0" fmla="*/ 104775 w 66"/>
              <a:gd name="T1" fmla="*/ 0 h 4"/>
              <a:gd name="T2" fmla="*/ 101600 w 66"/>
              <a:gd name="T3" fmla="*/ 0 h 4"/>
              <a:gd name="T4" fmla="*/ 90488 w 66"/>
              <a:gd name="T5" fmla="*/ 1588 h 4"/>
              <a:gd name="T6" fmla="*/ 74613 w 66"/>
              <a:gd name="T7" fmla="*/ 4763 h 4"/>
              <a:gd name="T8" fmla="*/ 52388 w 66"/>
              <a:gd name="T9" fmla="*/ 6350 h 4"/>
              <a:gd name="T10" fmla="*/ 28575 w 66"/>
              <a:gd name="T11" fmla="*/ 6350 h 4"/>
              <a:gd name="T12" fmla="*/ 0 w 66"/>
              <a:gd name="T13" fmla="*/ 6350 h 4"/>
              <a:gd name="T14" fmla="*/ 0 w 66"/>
              <a:gd name="T15" fmla="*/ 4763 h 4"/>
              <a:gd name="T16" fmla="*/ 26988 w 66"/>
              <a:gd name="T17" fmla="*/ 4763 h 4"/>
              <a:gd name="T18" fmla="*/ 49213 w 66"/>
              <a:gd name="T19" fmla="*/ 4763 h 4"/>
              <a:gd name="T20" fmla="*/ 66675 w 66"/>
              <a:gd name="T21" fmla="*/ 1588 h 4"/>
              <a:gd name="T22" fmla="*/ 79375 w 66"/>
              <a:gd name="T23" fmla="*/ 0 h 4"/>
              <a:gd name="T24" fmla="*/ 82550 w 66"/>
              <a:gd name="T25" fmla="*/ 0 h 4"/>
              <a:gd name="T26" fmla="*/ 104775 w 66"/>
              <a:gd name="T27" fmla="*/ 0 h 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6" h="4">
                <a:moveTo>
                  <a:pt x="66" y="0"/>
                </a:moveTo>
                <a:lnTo>
                  <a:pt x="64" y="0"/>
                </a:lnTo>
                <a:lnTo>
                  <a:pt x="57" y="1"/>
                </a:lnTo>
                <a:lnTo>
                  <a:pt x="47" y="3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3"/>
                </a:lnTo>
                <a:lnTo>
                  <a:pt x="17" y="3"/>
                </a:lnTo>
                <a:lnTo>
                  <a:pt x="31" y="3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66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5" name="Freeform 30"/>
          <p:cNvSpPr/>
          <p:nvPr/>
        </p:nvSpPr>
        <p:spPr bwMode="auto">
          <a:xfrm>
            <a:off x="3802136" y="4391676"/>
            <a:ext cx="61913" cy="3572"/>
          </a:xfrm>
          <a:custGeom>
            <a:avLst/>
            <a:gdLst>
              <a:gd name="T0" fmla="*/ 0 w 52"/>
              <a:gd name="T1" fmla="*/ 4763 h 3"/>
              <a:gd name="T2" fmla="*/ 26988 w 52"/>
              <a:gd name="T3" fmla="*/ 4763 h 3"/>
              <a:gd name="T4" fmla="*/ 49213 w 52"/>
              <a:gd name="T5" fmla="*/ 4763 h 3"/>
              <a:gd name="T6" fmla="*/ 66675 w 52"/>
              <a:gd name="T7" fmla="*/ 1588 h 3"/>
              <a:gd name="T8" fmla="*/ 79375 w 52"/>
              <a:gd name="T9" fmla="*/ 0 h 3"/>
              <a:gd name="T10" fmla="*/ 82550 w 52"/>
              <a:gd name="T11" fmla="*/ 0 h 3"/>
              <a:gd name="T12" fmla="*/ 57150 w 52"/>
              <a:gd name="T13" fmla="*/ 0 h 3"/>
              <a:gd name="T14" fmla="*/ 55563 w 52"/>
              <a:gd name="T15" fmla="*/ 0 h 3"/>
              <a:gd name="T16" fmla="*/ 47625 w 52"/>
              <a:gd name="T17" fmla="*/ 1588 h 3"/>
              <a:gd name="T18" fmla="*/ 34925 w 52"/>
              <a:gd name="T19" fmla="*/ 1588 h 3"/>
              <a:gd name="T20" fmla="*/ 19050 w 52"/>
              <a:gd name="T21" fmla="*/ 1588 h 3"/>
              <a:gd name="T22" fmla="*/ 0 w 52"/>
              <a:gd name="T23" fmla="*/ 1588 h 3"/>
              <a:gd name="T24" fmla="*/ 0 w 52"/>
              <a:gd name="T25" fmla="*/ 4763 h 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2" h="3">
                <a:moveTo>
                  <a:pt x="0" y="3"/>
                </a:moveTo>
                <a:lnTo>
                  <a:pt x="17" y="3"/>
                </a:lnTo>
                <a:lnTo>
                  <a:pt x="31" y="3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36" y="0"/>
                </a:ln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0" y="3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6" name="Freeform 31"/>
          <p:cNvSpPr/>
          <p:nvPr/>
        </p:nvSpPr>
        <p:spPr bwMode="auto">
          <a:xfrm>
            <a:off x="3802136" y="4391675"/>
            <a:ext cx="42863" cy="1191"/>
          </a:xfrm>
          <a:custGeom>
            <a:avLst/>
            <a:gdLst>
              <a:gd name="T0" fmla="*/ 57150 w 36"/>
              <a:gd name="T1" fmla="*/ 0 h 1"/>
              <a:gd name="T2" fmla="*/ 55563 w 36"/>
              <a:gd name="T3" fmla="*/ 0 h 1"/>
              <a:gd name="T4" fmla="*/ 47625 w 36"/>
              <a:gd name="T5" fmla="*/ 1588 h 1"/>
              <a:gd name="T6" fmla="*/ 34925 w 36"/>
              <a:gd name="T7" fmla="*/ 1588 h 1"/>
              <a:gd name="T8" fmla="*/ 19050 w 36"/>
              <a:gd name="T9" fmla="*/ 1588 h 1"/>
              <a:gd name="T10" fmla="*/ 0 w 36"/>
              <a:gd name="T11" fmla="*/ 1588 h 1"/>
              <a:gd name="T12" fmla="*/ 0 w 36"/>
              <a:gd name="T13" fmla="*/ 1588 h 1"/>
              <a:gd name="T14" fmla="*/ 12700 w 36"/>
              <a:gd name="T15" fmla="*/ 0 h 1"/>
              <a:gd name="T16" fmla="*/ 22225 w 36"/>
              <a:gd name="T17" fmla="*/ 0 h 1"/>
              <a:gd name="T18" fmla="*/ 28575 w 36"/>
              <a:gd name="T19" fmla="*/ 0 h 1"/>
              <a:gd name="T20" fmla="*/ 30163 w 36"/>
              <a:gd name="T21" fmla="*/ 0 h 1"/>
              <a:gd name="T22" fmla="*/ 57150 w 36"/>
              <a:gd name="T23" fmla="*/ 0 h 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6" h="1">
                <a:moveTo>
                  <a:pt x="36" y="0"/>
                </a:move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36" y="0"/>
                </a:lnTo>
                <a:close/>
              </a:path>
            </a:pathLst>
          </a:custGeom>
          <a:solidFill>
            <a:srgbClr val="6A6A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7" name="Freeform 32"/>
          <p:cNvSpPr/>
          <p:nvPr/>
        </p:nvSpPr>
        <p:spPr bwMode="auto">
          <a:xfrm>
            <a:off x="3802137" y="4391675"/>
            <a:ext cx="22622" cy="1191"/>
          </a:xfrm>
          <a:custGeom>
            <a:avLst/>
            <a:gdLst>
              <a:gd name="T0" fmla="*/ 0 w 19"/>
              <a:gd name="T1" fmla="*/ 1588 h 1"/>
              <a:gd name="T2" fmla="*/ 12700 w 19"/>
              <a:gd name="T3" fmla="*/ 0 h 1"/>
              <a:gd name="T4" fmla="*/ 22225 w 19"/>
              <a:gd name="T5" fmla="*/ 0 h 1"/>
              <a:gd name="T6" fmla="*/ 28575 w 19"/>
              <a:gd name="T7" fmla="*/ 0 h 1"/>
              <a:gd name="T8" fmla="*/ 30163 w 19"/>
              <a:gd name="T9" fmla="*/ 0 h 1"/>
              <a:gd name="T10" fmla="*/ 3175 w 19"/>
              <a:gd name="T11" fmla="*/ 0 h 1"/>
              <a:gd name="T12" fmla="*/ 0 w 19"/>
              <a:gd name="T13" fmla="*/ 0 h 1"/>
              <a:gd name="T14" fmla="*/ 0 w 19"/>
              <a:gd name="T15" fmla="*/ 1588 h 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" h="1">
                <a:moveTo>
                  <a:pt x="0" y="1"/>
                </a:move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8" name="Freeform 33"/>
          <p:cNvSpPr/>
          <p:nvPr/>
        </p:nvSpPr>
        <p:spPr bwMode="auto">
          <a:xfrm>
            <a:off x="3802137" y="4391675"/>
            <a:ext cx="2381" cy="1191"/>
          </a:xfrm>
          <a:custGeom>
            <a:avLst/>
            <a:gdLst>
              <a:gd name="T0" fmla="*/ 3175 w 2"/>
              <a:gd name="T1" fmla="*/ 0 h 1588"/>
              <a:gd name="T2" fmla="*/ 0 w 2"/>
              <a:gd name="T3" fmla="*/ 0 h 1588"/>
              <a:gd name="T4" fmla="*/ 0 w 2"/>
              <a:gd name="T5" fmla="*/ 0 h 1588"/>
              <a:gd name="T6" fmla="*/ 0 w 2"/>
              <a:gd name="T7" fmla="*/ 0 h 1588"/>
              <a:gd name="T8" fmla="*/ 3175 w 2"/>
              <a:gd name="T9" fmla="*/ 0 h 15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" h="1588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69" name="Freeform 34"/>
          <p:cNvSpPr/>
          <p:nvPr/>
        </p:nvSpPr>
        <p:spPr bwMode="auto">
          <a:xfrm>
            <a:off x="4128367" y="4355957"/>
            <a:ext cx="57150" cy="211931"/>
          </a:xfrm>
          <a:custGeom>
            <a:avLst/>
            <a:gdLst>
              <a:gd name="T0" fmla="*/ 0 w 48"/>
              <a:gd name="T1" fmla="*/ 76200 h 178"/>
              <a:gd name="T2" fmla="*/ 76200 w 48"/>
              <a:gd name="T3" fmla="*/ 0 h 178"/>
              <a:gd name="T4" fmla="*/ 76200 w 48"/>
              <a:gd name="T5" fmla="*/ 206375 h 178"/>
              <a:gd name="T6" fmla="*/ 0 w 48"/>
              <a:gd name="T7" fmla="*/ 282575 h 178"/>
              <a:gd name="T8" fmla="*/ 0 w 48"/>
              <a:gd name="T9" fmla="*/ 76200 h 1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78">
                <a:moveTo>
                  <a:pt x="0" y="48"/>
                </a:moveTo>
                <a:lnTo>
                  <a:pt x="48" y="0"/>
                </a:lnTo>
                <a:lnTo>
                  <a:pt x="48" y="130"/>
                </a:lnTo>
                <a:lnTo>
                  <a:pt x="0" y="178"/>
                </a:lnTo>
                <a:lnTo>
                  <a:pt x="0" y="4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70" name="Rectangle 35"/>
          <p:cNvSpPr>
            <a:spLocks noChangeArrowheads="1"/>
          </p:cNvSpPr>
          <p:nvPr/>
        </p:nvSpPr>
        <p:spPr bwMode="auto">
          <a:xfrm>
            <a:off x="3675930" y="4413107"/>
            <a:ext cx="452438" cy="12382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471" name="Freeform 36"/>
          <p:cNvSpPr/>
          <p:nvPr/>
        </p:nvSpPr>
        <p:spPr bwMode="auto">
          <a:xfrm>
            <a:off x="3817615" y="4413107"/>
            <a:ext cx="5953" cy="123825"/>
          </a:xfrm>
          <a:custGeom>
            <a:avLst/>
            <a:gdLst>
              <a:gd name="T0" fmla="*/ 7937 w 5"/>
              <a:gd name="T1" fmla="*/ 0 h 104"/>
              <a:gd name="T2" fmla="*/ 1587 w 5"/>
              <a:gd name="T3" fmla="*/ 39688 h 104"/>
              <a:gd name="T4" fmla="*/ 0 w 5"/>
              <a:gd name="T5" fmla="*/ 82550 h 104"/>
              <a:gd name="T6" fmla="*/ 1587 w 5"/>
              <a:gd name="T7" fmla="*/ 122238 h 104"/>
              <a:gd name="T8" fmla="*/ 7937 w 5"/>
              <a:gd name="T9" fmla="*/ 16510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" h="104">
                <a:moveTo>
                  <a:pt x="5" y="0"/>
                </a:moveTo>
                <a:lnTo>
                  <a:pt x="1" y="25"/>
                </a:lnTo>
                <a:lnTo>
                  <a:pt x="0" y="52"/>
                </a:lnTo>
                <a:lnTo>
                  <a:pt x="1" y="77"/>
                </a:lnTo>
                <a:lnTo>
                  <a:pt x="5" y="10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72" name="Rectangle 37"/>
          <p:cNvSpPr>
            <a:spLocks noChangeArrowheads="1"/>
          </p:cNvSpPr>
          <p:nvPr/>
        </p:nvSpPr>
        <p:spPr bwMode="auto">
          <a:xfrm>
            <a:off x="3675930" y="4536932"/>
            <a:ext cx="452438" cy="30956"/>
          </a:xfrm>
          <a:prstGeom prst="rect">
            <a:avLst/>
          </a:prstGeom>
          <a:solidFill>
            <a:srgbClr val="9A9A9A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473" name="Rectangle 38"/>
          <p:cNvSpPr>
            <a:spLocks noChangeArrowheads="1"/>
          </p:cNvSpPr>
          <p:nvPr/>
        </p:nvSpPr>
        <p:spPr bwMode="auto">
          <a:xfrm>
            <a:off x="4024783" y="4450017"/>
            <a:ext cx="17859" cy="5953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474" name="Freeform 39"/>
          <p:cNvSpPr>
            <a:spLocks noEditPoints="1"/>
          </p:cNvSpPr>
          <p:nvPr/>
        </p:nvSpPr>
        <p:spPr bwMode="auto">
          <a:xfrm>
            <a:off x="3839046" y="4440492"/>
            <a:ext cx="73819" cy="7144"/>
          </a:xfrm>
          <a:custGeom>
            <a:avLst/>
            <a:gdLst>
              <a:gd name="T0" fmla="*/ 0 w 62"/>
              <a:gd name="T1" fmla="*/ 9525 h 6"/>
              <a:gd name="T2" fmla="*/ 28575 w 62"/>
              <a:gd name="T3" fmla="*/ 9525 h 6"/>
              <a:gd name="T4" fmla="*/ 28575 w 62"/>
              <a:gd name="T5" fmla="*/ 0 h 6"/>
              <a:gd name="T6" fmla="*/ 0 w 62"/>
              <a:gd name="T7" fmla="*/ 0 h 6"/>
              <a:gd name="T8" fmla="*/ 0 w 62"/>
              <a:gd name="T9" fmla="*/ 9525 h 6"/>
              <a:gd name="T10" fmla="*/ 41275 w 62"/>
              <a:gd name="T11" fmla="*/ 9525 h 6"/>
              <a:gd name="T12" fmla="*/ 55563 w 62"/>
              <a:gd name="T13" fmla="*/ 9525 h 6"/>
              <a:gd name="T14" fmla="*/ 55563 w 62"/>
              <a:gd name="T15" fmla="*/ 0 h 6"/>
              <a:gd name="T16" fmla="*/ 41275 w 62"/>
              <a:gd name="T17" fmla="*/ 0 h 6"/>
              <a:gd name="T18" fmla="*/ 41275 w 62"/>
              <a:gd name="T19" fmla="*/ 9525 h 6"/>
              <a:gd name="T20" fmla="*/ 69850 w 62"/>
              <a:gd name="T21" fmla="*/ 9525 h 6"/>
              <a:gd name="T22" fmla="*/ 98425 w 62"/>
              <a:gd name="T23" fmla="*/ 9525 h 6"/>
              <a:gd name="T24" fmla="*/ 98425 w 62"/>
              <a:gd name="T25" fmla="*/ 0 h 6"/>
              <a:gd name="T26" fmla="*/ 69850 w 62"/>
              <a:gd name="T27" fmla="*/ 0 h 6"/>
              <a:gd name="T28" fmla="*/ 69850 w 62"/>
              <a:gd name="T29" fmla="*/ 9525 h 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62" h="6">
                <a:moveTo>
                  <a:pt x="0" y="6"/>
                </a:moveTo>
                <a:lnTo>
                  <a:pt x="18" y="6"/>
                </a:lnTo>
                <a:lnTo>
                  <a:pt x="18" y="0"/>
                </a:lnTo>
                <a:lnTo>
                  <a:pt x="0" y="0"/>
                </a:lnTo>
                <a:lnTo>
                  <a:pt x="0" y="6"/>
                </a:lnTo>
                <a:close/>
                <a:moveTo>
                  <a:pt x="26" y="6"/>
                </a:moveTo>
                <a:lnTo>
                  <a:pt x="35" y="6"/>
                </a:lnTo>
                <a:lnTo>
                  <a:pt x="35" y="0"/>
                </a:lnTo>
                <a:lnTo>
                  <a:pt x="26" y="0"/>
                </a:lnTo>
                <a:lnTo>
                  <a:pt x="26" y="6"/>
                </a:lnTo>
                <a:close/>
                <a:moveTo>
                  <a:pt x="44" y="6"/>
                </a:moveTo>
                <a:lnTo>
                  <a:pt x="62" y="6"/>
                </a:lnTo>
                <a:lnTo>
                  <a:pt x="62" y="0"/>
                </a:lnTo>
                <a:lnTo>
                  <a:pt x="44" y="0"/>
                </a:lnTo>
                <a:lnTo>
                  <a:pt x="44" y="6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75" name="Freeform 40"/>
          <p:cNvSpPr>
            <a:spLocks noEditPoints="1"/>
          </p:cNvSpPr>
          <p:nvPr/>
        </p:nvSpPr>
        <p:spPr bwMode="auto">
          <a:xfrm>
            <a:off x="3689027" y="4425013"/>
            <a:ext cx="327422" cy="47625"/>
          </a:xfrm>
          <a:custGeom>
            <a:avLst/>
            <a:gdLst>
              <a:gd name="T0" fmla="*/ 0 w 275"/>
              <a:gd name="T1" fmla="*/ 63500 h 40"/>
              <a:gd name="T2" fmla="*/ 58737 w 275"/>
              <a:gd name="T3" fmla="*/ 63500 h 40"/>
              <a:gd name="T4" fmla="*/ 58737 w 275"/>
              <a:gd name="T5" fmla="*/ 0 h 40"/>
              <a:gd name="T6" fmla="*/ 0 w 275"/>
              <a:gd name="T7" fmla="*/ 0 h 40"/>
              <a:gd name="T8" fmla="*/ 0 w 275"/>
              <a:gd name="T9" fmla="*/ 63500 h 40"/>
              <a:gd name="T10" fmla="*/ 387350 w 275"/>
              <a:gd name="T11" fmla="*/ 46038 h 40"/>
              <a:gd name="T12" fmla="*/ 436562 w 275"/>
              <a:gd name="T13" fmla="*/ 46038 h 40"/>
              <a:gd name="T14" fmla="*/ 436562 w 275"/>
              <a:gd name="T15" fmla="*/ 14288 h 40"/>
              <a:gd name="T16" fmla="*/ 387350 w 275"/>
              <a:gd name="T17" fmla="*/ 14288 h 40"/>
              <a:gd name="T18" fmla="*/ 387350 w 275"/>
              <a:gd name="T19" fmla="*/ 46038 h 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5" h="40">
                <a:moveTo>
                  <a:pt x="0" y="40"/>
                </a:moveTo>
                <a:lnTo>
                  <a:pt x="37" y="40"/>
                </a:lnTo>
                <a:lnTo>
                  <a:pt x="37" y="0"/>
                </a:lnTo>
                <a:lnTo>
                  <a:pt x="0" y="0"/>
                </a:lnTo>
                <a:lnTo>
                  <a:pt x="0" y="40"/>
                </a:lnTo>
                <a:close/>
                <a:moveTo>
                  <a:pt x="244" y="29"/>
                </a:moveTo>
                <a:lnTo>
                  <a:pt x="275" y="29"/>
                </a:lnTo>
                <a:lnTo>
                  <a:pt x="275" y="9"/>
                </a:lnTo>
                <a:lnTo>
                  <a:pt x="244" y="9"/>
                </a:lnTo>
                <a:lnTo>
                  <a:pt x="244" y="2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76" name="Freeform 41"/>
          <p:cNvSpPr>
            <a:spLocks noEditPoints="1"/>
          </p:cNvSpPr>
          <p:nvPr/>
        </p:nvSpPr>
        <p:spPr bwMode="auto">
          <a:xfrm>
            <a:off x="3679502" y="4419060"/>
            <a:ext cx="446484" cy="140494"/>
          </a:xfrm>
          <a:custGeom>
            <a:avLst/>
            <a:gdLst>
              <a:gd name="T0" fmla="*/ 204787 w 375"/>
              <a:gd name="T1" fmla="*/ 149225 h 118"/>
              <a:gd name="T2" fmla="*/ 590550 w 375"/>
              <a:gd name="T3" fmla="*/ 149225 h 118"/>
              <a:gd name="T4" fmla="*/ 590550 w 375"/>
              <a:gd name="T5" fmla="*/ 0 h 118"/>
              <a:gd name="T6" fmla="*/ 204787 w 375"/>
              <a:gd name="T7" fmla="*/ 0 h 118"/>
              <a:gd name="T8" fmla="*/ 198437 w 375"/>
              <a:gd name="T9" fmla="*/ 36513 h 118"/>
              <a:gd name="T10" fmla="*/ 196850 w 375"/>
              <a:gd name="T11" fmla="*/ 74613 h 118"/>
              <a:gd name="T12" fmla="*/ 198437 w 375"/>
              <a:gd name="T13" fmla="*/ 111125 h 118"/>
              <a:gd name="T14" fmla="*/ 204787 w 375"/>
              <a:gd name="T15" fmla="*/ 149225 h 118"/>
              <a:gd name="T16" fmla="*/ 349250 w 375"/>
              <a:gd name="T17" fmla="*/ 130175 h 118"/>
              <a:gd name="T18" fmla="*/ 569912 w 375"/>
              <a:gd name="T19" fmla="*/ 130175 h 118"/>
              <a:gd name="T20" fmla="*/ 569912 w 375"/>
              <a:gd name="T21" fmla="*/ 17463 h 118"/>
              <a:gd name="T22" fmla="*/ 349250 w 375"/>
              <a:gd name="T23" fmla="*/ 17463 h 118"/>
              <a:gd name="T24" fmla="*/ 349250 w 375"/>
              <a:gd name="T25" fmla="*/ 130175 h 118"/>
              <a:gd name="T26" fmla="*/ 538162 w 375"/>
              <a:gd name="T27" fmla="*/ 187325 h 118"/>
              <a:gd name="T28" fmla="*/ 584200 w 375"/>
              <a:gd name="T29" fmla="*/ 187325 h 118"/>
              <a:gd name="T30" fmla="*/ 590550 w 375"/>
              <a:gd name="T31" fmla="*/ 184150 h 118"/>
              <a:gd name="T32" fmla="*/ 595312 w 375"/>
              <a:gd name="T33" fmla="*/ 176213 h 118"/>
              <a:gd name="T34" fmla="*/ 590550 w 375"/>
              <a:gd name="T35" fmla="*/ 171450 h 118"/>
              <a:gd name="T36" fmla="*/ 584200 w 375"/>
              <a:gd name="T37" fmla="*/ 168275 h 118"/>
              <a:gd name="T38" fmla="*/ 538162 w 375"/>
              <a:gd name="T39" fmla="*/ 168275 h 118"/>
              <a:gd name="T40" fmla="*/ 538162 w 375"/>
              <a:gd name="T41" fmla="*/ 187325 h 118"/>
              <a:gd name="T42" fmla="*/ 55562 w 375"/>
              <a:gd name="T43" fmla="*/ 187325 h 118"/>
              <a:gd name="T44" fmla="*/ 9525 w 375"/>
              <a:gd name="T45" fmla="*/ 187325 h 118"/>
              <a:gd name="T46" fmla="*/ 3175 w 375"/>
              <a:gd name="T47" fmla="*/ 184150 h 118"/>
              <a:gd name="T48" fmla="*/ 0 w 375"/>
              <a:gd name="T49" fmla="*/ 176213 h 118"/>
              <a:gd name="T50" fmla="*/ 3175 w 375"/>
              <a:gd name="T51" fmla="*/ 171450 h 118"/>
              <a:gd name="T52" fmla="*/ 9525 w 375"/>
              <a:gd name="T53" fmla="*/ 168275 h 118"/>
              <a:gd name="T54" fmla="*/ 55562 w 375"/>
              <a:gd name="T55" fmla="*/ 168275 h 118"/>
              <a:gd name="T56" fmla="*/ 55562 w 375"/>
              <a:gd name="T57" fmla="*/ 187325 h 118"/>
              <a:gd name="T58" fmla="*/ 212725 w 375"/>
              <a:gd name="T59" fmla="*/ 38100 h 118"/>
              <a:gd name="T60" fmla="*/ 311150 w 375"/>
              <a:gd name="T61" fmla="*/ 38100 h 118"/>
              <a:gd name="T62" fmla="*/ 311150 w 375"/>
              <a:gd name="T63" fmla="*/ 28575 h 118"/>
              <a:gd name="T64" fmla="*/ 212725 w 375"/>
              <a:gd name="T65" fmla="*/ 28575 h 118"/>
              <a:gd name="T66" fmla="*/ 212725 w 375"/>
              <a:gd name="T67" fmla="*/ 38100 h 11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75" h="118">
                <a:moveTo>
                  <a:pt x="129" y="94"/>
                </a:moveTo>
                <a:lnTo>
                  <a:pt x="372" y="94"/>
                </a:lnTo>
                <a:lnTo>
                  <a:pt x="372" y="0"/>
                </a:lnTo>
                <a:lnTo>
                  <a:pt x="129" y="0"/>
                </a:lnTo>
                <a:lnTo>
                  <a:pt x="125" y="23"/>
                </a:lnTo>
                <a:lnTo>
                  <a:pt x="124" y="47"/>
                </a:lnTo>
                <a:lnTo>
                  <a:pt x="125" y="70"/>
                </a:lnTo>
                <a:lnTo>
                  <a:pt x="129" y="94"/>
                </a:lnTo>
                <a:close/>
                <a:moveTo>
                  <a:pt x="220" y="82"/>
                </a:moveTo>
                <a:lnTo>
                  <a:pt x="359" y="82"/>
                </a:lnTo>
                <a:lnTo>
                  <a:pt x="359" y="11"/>
                </a:lnTo>
                <a:lnTo>
                  <a:pt x="220" y="11"/>
                </a:lnTo>
                <a:lnTo>
                  <a:pt x="220" y="82"/>
                </a:lnTo>
                <a:close/>
                <a:moveTo>
                  <a:pt x="339" y="118"/>
                </a:moveTo>
                <a:lnTo>
                  <a:pt x="368" y="118"/>
                </a:lnTo>
                <a:lnTo>
                  <a:pt x="372" y="116"/>
                </a:lnTo>
                <a:lnTo>
                  <a:pt x="375" y="111"/>
                </a:lnTo>
                <a:lnTo>
                  <a:pt x="372" y="108"/>
                </a:lnTo>
                <a:lnTo>
                  <a:pt x="368" y="106"/>
                </a:lnTo>
                <a:lnTo>
                  <a:pt x="339" y="106"/>
                </a:lnTo>
                <a:lnTo>
                  <a:pt x="339" y="118"/>
                </a:lnTo>
                <a:close/>
                <a:moveTo>
                  <a:pt x="35" y="118"/>
                </a:moveTo>
                <a:lnTo>
                  <a:pt x="6" y="118"/>
                </a:lnTo>
                <a:lnTo>
                  <a:pt x="2" y="116"/>
                </a:lnTo>
                <a:lnTo>
                  <a:pt x="0" y="111"/>
                </a:lnTo>
                <a:lnTo>
                  <a:pt x="2" y="108"/>
                </a:lnTo>
                <a:lnTo>
                  <a:pt x="6" y="106"/>
                </a:lnTo>
                <a:lnTo>
                  <a:pt x="35" y="106"/>
                </a:lnTo>
                <a:lnTo>
                  <a:pt x="35" y="118"/>
                </a:lnTo>
                <a:close/>
                <a:moveTo>
                  <a:pt x="134" y="24"/>
                </a:moveTo>
                <a:lnTo>
                  <a:pt x="196" y="24"/>
                </a:lnTo>
                <a:lnTo>
                  <a:pt x="196" y="18"/>
                </a:lnTo>
                <a:lnTo>
                  <a:pt x="134" y="18"/>
                </a:lnTo>
                <a:lnTo>
                  <a:pt x="134" y="24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77" name="Line 42"/>
          <p:cNvSpPr>
            <a:spLocks noChangeShapeType="1"/>
          </p:cNvSpPr>
          <p:nvPr/>
        </p:nvSpPr>
        <p:spPr bwMode="auto">
          <a:xfrm>
            <a:off x="3915246" y="4419060"/>
            <a:ext cx="1190" cy="11191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78" name="Line 43"/>
          <p:cNvSpPr>
            <a:spLocks noChangeShapeType="1"/>
          </p:cNvSpPr>
          <p:nvPr/>
        </p:nvSpPr>
        <p:spPr bwMode="auto">
          <a:xfrm flipH="1">
            <a:off x="3827140" y="4455969"/>
            <a:ext cx="88106" cy="1191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79" name="Line 44"/>
          <p:cNvSpPr>
            <a:spLocks noChangeShapeType="1"/>
          </p:cNvSpPr>
          <p:nvPr/>
        </p:nvSpPr>
        <p:spPr bwMode="auto">
          <a:xfrm flipH="1">
            <a:off x="3827140" y="4492879"/>
            <a:ext cx="88106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0" name="Line 45"/>
          <p:cNvSpPr>
            <a:spLocks noChangeShapeType="1"/>
          </p:cNvSpPr>
          <p:nvPr/>
        </p:nvSpPr>
        <p:spPr bwMode="auto">
          <a:xfrm>
            <a:off x="4054549" y="4432157"/>
            <a:ext cx="1191" cy="32147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1" name="Line 46"/>
          <p:cNvSpPr>
            <a:spLocks noChangeShapeType="1"/>
          </p:cNvSpPr>
          <p:nvPr/>
        </p:nvSpPr>
        <p:spPr bwMode="auto">
          <a:xfrm>
            <a:off x="3941439" y="4464304"/>
            <a:ext cx="165497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2" name="Line 47"/>
          <p:cNvSpPr>
            <a:spLocks noChangeShapeType="1"/>
          </p:cNvSpPr>
          <p:nvPr/>
        </p:nvSpPr>
        <p:spPr bwMode="auto">
          <a:xfrm flipV="1">
            <a:off x="3839046" y="4413106"/>
            <a:ext cx="1190" cy="4763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3" name="Line 48"/>
          <p:cNvSpPr>
            <a:spLocks noChangeShapeType="1"/>
          </p:cNvSpPr>
          <p:nvPr/>
        </p:nvSpPr>
        <p:spPr bwMode="auto">
          <a:xfrm flipV="1">
            <a:off x="3839046" y="4530979"/>
            <a:ext cx="1190" cy="5953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4" name="Line 49"/>
          <p:cNvSpPr>
            <a:spLocks noChangeShapeType="1"/>
          </p:cNvSpPr>
          <p:nvPr/>
        </p:nvSpPr>
        <p:spPr bwMode="auto">
          <a:xfrm>
            <a:off x="3841427" y="4475019"/>
            <a:ext cx="5953" cy="1191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5" name="Line 50"/>
          <p:cNvSpPr>
            <a:spLocks noChangeShapeType="1"/>
          </p:cNvSpPr>
          <p:nvPr/>
        </p:nvSpPr>
        <p:spPr bwMode="auto">
          <a:xfrm>
            <a:off x="3841427" y="4444063"/>
            <a:ext cx="5953" cy="1191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6" name="Line 51"/>
          <p:cNvSpPr>
            <a:spLocks noChangeShapeType="1"/>
          </p:cNvSpPr>
          <p:nvPr/>
        </p:nvSpPr>
        <p:spPr bwMode="auto">
          <a:xfrm>
            <a:off x="3895005" y="4444063"/>
            <a:ext cx="5954" cy="1191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7" name="Line 52"/>
          <p:cNvSpPr>
            <a:spLocks noChangeShapeType="1"/>
          </p:cNvSpPr>
          <p:nvPr/>
        </p:nvSpPr>
        <p:spPr bwMode="auto">
          <a:xfrm>
            <a:off x="3962871" y="4455969"/>
            <a:ext cx="7144" cy="1191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8" name="Freeform 53"/>
          <p:cNvSpPr/>
          <p:nvPr/>
        </p:nvSpPr>
        <p:spPr bwMode="auto">
          <a:xfrm>
            <a:off x="4072408" y="4058300"/>
            <a:ext cx="55959" cy="333375"/>
          </a:xfrm>
          <a:custGeom>
            <a:avLst/>
            <a:gdLst>
              <a:gd name="T0" fmla="*/ 0 w 47"/>
              <a:gd name="T1" fmla="*/ 444500 h 280"/>
              <a:gd name="T2" fmla="*/ 57150 w 47"/>
              <a:gd name="T3" fmla="*/ 385763 h 280"/>
              <a:gd name="T4" fmla="*/ 57150 w 47"/>
              <a:gd name="T5" fmla="*/ 284163 h 280"/>
              <a:gd name="T6" fmla="*/ 74612 w 47"/>
              <a:gd name="T7" fmla="*/ 227013 h 280"/>
              <a:gd name="T8" fmla="*/ 74612 w 47"/>
              <a:gd name="T9" fmla="*/ 0 h 280"/>
              <a:gd name="T10" fmla="*/ 0 w 47"/>
              <a:gd name="T11" fmla="*/ 76200 h 280"/>
              <a:gd name="T12" fmla="*/ 0 w 47"/>
              <a:gd name="T13" fmla="*/ 444500 h 2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" h="280">
                <a:moveTo>
                  <a:pt x="0" y="280"/>
                </a:moveTo>
                <a:lnTo>
                  <a:pt x="36" y="243"/>
                </a:lnTo>
                <a:lnTo>
                  <a:pt x="36" y="179"/>
                </a:lnTo>
                <a:lnTo>
                  <a:pt x="47" y="143"/>
                </a:lnTo>
                <a:lnTo>
                  <a:pt x="47" y="0"/>
                </a:lnTo>
                <a:lnTo>
                  <a:pt x="0" y="48"/>
                </a:lnTo>
                <a:lnTo>
                  <a:pt x="0" y="28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89" name="Freeform 54"/>
          <p:cNvSpPr/>
          <p:nvPr/>
        </p:nvSpPr>
        <p:spPr bwMode="auto">
          <a:xfrm>
            <a:off x="3733080" y="4058300"/>
            <a:ext cx="395288" cy="57150"/>
          </a:xfrm>
          <a:custGeom>
            <a:avLst/>
            <a:gdLst>
              <a:gd name="T0" fmla="*/ 527050 w 332"/>
              <a:gd name="T1" fmla="*/ 0 h 48"/>
              <a:gd name="T2" fmla="*/ 74613 w 332"/>
              <a:gd name="T3" fmla="*/ 0 h 48"/>
              <a:gd name="T4" fmla="*/ 0 w 332"/>
              <a:gd name="T5" fmla="*/ 76200 h 48"/>
              <a:gd name="T6" fmla="*/ 452438 w 332"/>
              <a:gd name="T7" fmla="*/ 76200 h 48"/>
              <a:gd name="T8" fmla="*/ 527050 w 332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2" h="48">
                <a:moveTo>
                  <a:pt x="332" y="0"/>
                </a:moveTo>
                <a:lnTo>
                  <a:pt x="47" y="0"/>
                </a:lnTo>
                <a:lnTo>
                  <a:pt x="0" y="48"/>
                </a:lnTo>
                <a:lnTo>
                  <a:pt x="285" y="48"/>
                </a:lnTo>
                <a:lnTo>
                  <a:pt x="332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0" name="Rectangle 55"/>
          <p:cNvSpPr>
            <a:spLocks noChangeArrowheads="1"/>
          </p:cNvSpPr>
          <p:nvPr/>
        </p:nvSpPr>
        <p:spPr bwMode="auto">
          <a:xfrm>
            <a:off x="3733080" y="4115451"/>
            <a:ext cx="339329" cy="27503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491" name="Rectangle 56"/>
          <p:cNvSpPr>
            <a:spLocks noChangeArrowheads="1"/>
          </p:cNvSpPr>
          <p:nvPr/>
        </p:nvSpPr>
        <p:spPr bwMode="auto">
          <a:xfrm>
            <a:off x="4037880" y="4355957"/>
            <a:ext cx="16669" cy="8335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492" name="Freeform 57"/>
          <p:cNvSpPr/>
          <p:nvPr/>
        </p:nvSpPr>
        <p:spPr bwMode="auto">
          <a:xfrm>
            <a:off x="3781896" y="4157123"/>
            <a:ext cx="240506" cy="169069"/>
          </a:xfrm>
          <a:custGeom>
            <a:avLst/>
            <a:gdLst>
              <a:gd name="T0" fmla="*/ 0 w 202"/>
              <a:gd name="T1" fmla="*/ 225425 h 142"/>
              <a:gd name="T2" fmla="*/ 320675 w 202"/>
              <a:gd name="T3" fmla="*/ 225425 h 142"/>
              <a:gd name="T4" fmla="*/ 320675 w 202"/>
              <a:gd name="T5" fmla="*/ 0 h 142"/>
              <a:gd name="T6" fmla="*/ 312738 w 202"/>
              <a:gd name="T7" fmla="*/ 0 h 142"/>
              <a:gd name="T8" fmla="*/ 312738 w 202"/>
              <a:gd name="T9" fmla="*/ 220663 h 142"/>
              <a:gd name="T10" fmla="*/ 0 w 202"/>
              <a:gd name="T11" fmla="*/ 220663 h 142"/>
              <a:gd name="T12" fmla="*/ 0 w 202"/>
              <a:gd name="T13" fmla="*/ 225425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2" h="142">
                <a:moveTo>
                  <a:pt x="0" y="142"/>
                </a:moveTo>
                <a:lnTo>
                  <a:pt x="202" y="142"/>
                </a:lnTo>
                <a:lnTo>
                  <a:pt x="202" y="0"/>
                </a:lnTo>
                <a:lnTo>
                  <a:pt x="197" y="0"/>
                </a:lnTo>
                <a:lnTo>
                  <a:pt x="197" y="139"/>
                </a:lnTo>
                <a:lnTo>
                  <a:pt x="0" y="139"/>
                </a:lnTo>
                <a:lnTo>
                  <a:pt x="0" y="142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3" name="Freeform 58"/>
          <p:cNvSpPr/>
          <p:nvPr/>
        </p:nvSpPr>
        <p:spPr bwMode="auto">
          <a:xfrm>
            <a:off x="3781896" y="4157122"/>
            <a:ext cx="234553" cy="165497"/>
          </a:xfrm>
          <a:custGeom>
            <a:avLst/>
            <a:gdLst>
              <a:gd name="T0" fmla="*/ 0 w 197"/>
              <a:gd name="T1" fmla="*/ 220662 h 139"/>
              <a:gd name="T2" fmla="*/ 312737 w 197"/>
              <a:gd name="T3" fmla="*/ 220662 h 139"/>
              <a:gd name="T4" fmla="*/ 312737 w 197"/>
              <a:gd name="T5" fmla="*/ 0 h 139"/>
              <a:gd name="T6" fmla="*/ 307975 w 197"/>
              <a:gd name="T7" fmla="*/ 0 h 139"/>
              <a:gd name="T8" fmla="*/ 307975 w 197"/>
              <a:gd name="T9" fmla="*/ 215900 h 139"/>
              <a:gd name="T10" fmla="*/ 0 w 197"/>
              <a:gd name="T11" fmla="*/ 215900 h 139"/>
              <a:gd name="T12" fmla="*/ 0 w 197"/>
              <a:gd name="T13" fmla="*/ 220662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7" h="139">
                <a:moveTo>
                  <a:pt x="0" y="139"/>
                </a:moveTo>
                <a:lnTo>
                  <a:pt x="197" y="139"/>
                </a:lnTo>
                <a:lnTo>
                  <a:pt x="197" y="0"/>
                </a:lnTo>
                <a:lnTo>
                  <a:pt x="194" y="0"/>
                </a:lnTo>
                <a:lnTo>
                  <a:pt x="194" y="136"/>
                </a:lnTo>
                <a:lnTo>
                  <a:pt x="0" y="136"/>
                </a:lnTo>
                <a:lnTo>
                  <a:pt x="0" y="139"/>
                </a:lnTo>
                <a:close/>
              </a:path>
            </a:pathLst>
          </a:custGeom>
          <a:solidFill>
            <a:srgbClr val="8E8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4" name="Freeform 59"/>
          <p:cNvSpPr/>
          <p:nvPr/>
        </p:nvSpPr>
        <p:spPr bwMode="auto">
          <a:xfrm>
            <a:off x="3781896" y="4157123"/>
            <a:ext cx="230981" cy="161925"/>
          </a:xfrm>
          <a:custGeom>
            <a:avLst/>
            <a:gdLst>
              <a:gd name="T0" fmla="*/ 0 w 194"/>
              <a:gd name="T1" fmla="*/ 215900 h 136"/>
              <a:gd name="T2" fmla="*/ 307975 w 194"/>
              <a:gd name="T3" fmla="*/ 215900 h 136"/>
              <a:gd name="T4" fmla="*/ 307975 w 194"/>
              <a:gd name="T5" fmla="*/ 0 h 136"/>
              <a:gd name="T6" fmla="*/ 301625 w 194"/>
              <a:gd name="T7" fmla="*/ 0 h 136"/>
              <a:gd name="T8" fmla="*/ 301625 w 194"/>
              <a:gd name="T9" fmla="*/ 212725 h 136"/>
              <a:gd name="T10" fmla="*/ 0 w 194"/>
              <a:gd name="T11" fmla="*/ 212725 h 136"/>
              <a:gd name="T12" fmla="*/ 0 w 194"/>
              <a:gd name="T13" fmla="*/ 215900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4" h="136">
                <a:moveTo>
                  <a:pt x="0" y="136"/>
                </a:moveTo>
                <a:lnTo>
                  <a:pt x="194" y="136"/>
                </a:lnTo>
                <a:lnTo>
                  <a:pt x="194" y="0"/>
                </a:lnTo>
                <a:lnTo>
                  <a:pt x="190" y="0"/>
                </a:lnTo>
                <a:lnTo>
                  <a:pt x="190" y="134"/>
                </a:lnTo>
                <a:lnTo>
                  <a:pt x="0" y="134"/>
                </a:lnTo>
                <a:lnTo>
                  <a:pt x="0" y="136"/>
                </a:lnTo>
                <a:close/>
              </a:path>
            </a:pathLst>
          </a:custGeom>
          <a:solidFill>
            <a:srgbClr val="929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5" name="Freeform 60"/>
          <p:cNvSpPr/>
          <p:nvPr/>
        </p:nvSpPr>
        <p:spPr bwMode="auto">
          <a:xfrm>
            <a:off x="3781896" y="4157123"/>
            <a:ext cx="226219" cy="159544"/>
          </a:xfrm>
          <a:custGeom>
            <a:avLst/>
            <a:gdLst>
              <a:gd name="T0" fmla="*/ 0 w 190"/>
              <a:gd name="T1" fmla="*/ 212725 h 134"/>
              <a:gd name="T2" fmla="*/ 301625 w 190"/>
              <a:gd name="T3" fmla="*/ 212725 h 134"/>
              <a:gd name="T4" fmla="*/ 301625 w 190"/>
              <a:gd name="T5" fmla="*/ 0 h 134"/>
              <a:gd name="T6" fmla="*/ 295275 w 190"/>
              <a:gd name="T7" fmla="*/ 0 h 134"/>
              <a:gd name="T8" fmla="*/ 295275 w 190"/>
              <a:gd name="T9" fmla="*/ 207963 h 134"/>
              <a:gd name="T10" fmla="*/ 0 w 190"/>
              <a:gd name="T11" fmla="*/ 207963 h 134"/>
              <a:gd name="T12" fmla="*/ 0 w 190"/>
              <a:gd name="T13" fmla="*/ 212725 h 1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0" h="134">
                <a:moveTo>
                  <a:pt x="0" y="134"/>
                </a:moveTo>
                <a:lnTo>
                  <a:pt x="190" y="134"/>
                </a:lnTo>
                <a:lnTo>
                  <a:pt x="190" y="0"/>
                </a:lnTo>
                <a:lnTo>
                  <a:pt x="186" y="0"/>
                </a:lnTo>
                <a:lnTo>
                  <a:pt x="186" y="131"/>
                </a:lnTo>
                <a:lnTo>
                  <a:pt x="0" y="131"/>
                </a:lnTo>
                <a:lnTo>
                  <a:pt x="0" y="134"/>
                </a:lnTo>
                <a:close/>
              </a:path>
            </a:pathLst>
          </a:custGeom>
          <a:solidFill>
            <a:srgbClr val="969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6" name="Freeform 61"/>
          <p:cNvSpPr/>
          <p:nvPr/>
        </p:nvSpPr>
        <p:spPr bwMode="auto">
          <a:xfrm>
            <a:off x="3781896" y="4157122"/>
            <a:ext cx="221456" cy="155972"/>
          </a:xfrm>
          <a:custGeom>
            <a:avLst/>
            <a:gdLst>
              <a:gd name="T0" fmla="*/ 0 w 186"/>
              <a:gd name="T1" fmla="*/ 207962 h 131"/>
              <a:gd name="T2" fmla="*/ 295275 w 186"/>
              <a:gd name="T3" fmla="*/ 207962 h 131"/>
              <a:gd name="T4" fmla="*/ 295275 w 186"/>
              <a:gd name="T5" fmla="*/ 0 h 131"/>
              <a:gd name="T6" fmla="*/ 288925 w 186"/>
              <a:gd name="T7" fmla="*/ 0 h 131"/>
              <a:gd name="T8" fmla="*/ 288925 w 186"/>
              <a:gd name="T9" fmla="*/ 204787 h 131"/>
              <a:gd name="T10" fmla="*/ 0 w 186"/>
              <a:gd name="T11" fmla="*/ 204787 h 131"/>
              <a:gd name="T12" fmla="*/ 0 w 186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1">
                <a:moveTo>
                  <a:pt x="0" y="131"/>
                </a:moveTo>
                <a:lnTo>
                  <a:pt x="186" y="131"/>
                </a:lnTo>
                <a:lnTo>
                  <a:pt x="186" y="0"/>
                </a:lnTo>
                <a:lnTo>
                  <a:pt x="182" y="0"/>
                </a:lnTo>
                <a:lnTo>
                  <a:pt x="182" y="129"/>
                </a:lnTo>
                <a:lnTo>
                  <a:pt x="0" y="129"/>
                </a:lnTo>
                <a:lnTo>
                  <a:pt x="0" y="131"/>
                </a:lnTo>
                <a:close/>
              </a:path>
            </a:pathLst>
          </a:custGeom>
          <a:solidFill>
            <a:srgbClr val="9A9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7" name="Freeform 62"/>
          <p:cNvSpPr/>
          <p:nvPr/>
        </p:nvSpPr>
        <p:spPr bwMode="auto">
          <a:xfrm>
            <a:off x="3781896" y="4157123"/>
            <a:ext cx="216694" cy="153590"/>
          </a:xfrm>
          <a:custGeom>
            <a:avLst/>
            <a:gdLst>
              <a:gd name="T0" fmla="*/ 0 w 182"/>
              <a:gd name="T1" fmla="*/ 204787 h 129"/>
              <a:gd name="T2" fmla="*/ 288925 w 182"/>
              <a:gd name="T3" fmla="*/ 204787 h 129"/>
              <a:gd name="T4" fmla="*/ 288925 w 182"/>
              <a:gd name="T5" fmla="*/ 0 h 129"/>
              <a:gd name="T6" fmla="*/ 282575 w 182"/>
              <a:gd name="T7" fmla="*/ 0 h 129"/>
              <a:gd name="T8" fmla="*/ 282575 w 182"/>
              <a:gd name="T9" fmla="*/ 200025 h 129"/>
              <a:gd name="T10" fmla="*/ 0 w 182"/>
              <a:gd name="T11" fmla="*/ 200025 h 129"/>
              <a:gd name="T12" fmla="*/ 0 w 182"/>
              <a:gd name="T13" fmla="*/ 204787 h 1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2" h="129">
                <a:moveTo>
                  <a:pt x="0" y="129"/>
                </a:moveTo>
                <a:lnTo>
                  <a:pt x="182" y="129"/>
                </a:lnTo>
                <a:lnTo>
                  <a:pt x="182" y="0"/>
                </a:lnTo>
                <a:lnTo>
                  <a:pt x="178" y="0"/>
                </a:lnTo>
                <a:lnTo>
                  <a:pt x="178" y="126"/>
                </a:lnTo>
                <a:lnTo>
                  <a:pt x="0" y="126"/>
                </a:lnTo>
                <a:lnTo>
                  <a:pt x="0" y="129"/>
                </a:lnTo>
                <a:close/>
              </a:path>
            </a:pathLst>
          </a:custGeom>
          <a:solidFill>
            <a:srgbClr val="9E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8" name="Freeform 63"/>
          <p:cNvSpPr/>
          <p:nvPr/>
        </p:nvSpPr>
        <p:spPr bwMode="auto">
          <a:xfrm>
            <a:off x="3781896" y="4157123"/>
            <a:ext cx="211931" cy="150019"/>
          </a:xfrm>
          <a:custGeom>
            <a:avLst/>
            <a:gdLst>
              <a:gd name="T0" fmla="*/ 0 w 178"/>
              <a:gd name="T1" fmla="*/ 200025 h 126"/>
              <a:gd name="T2" fmla="*/ 282575 w 178"/>
              <a:gd name="T3" fmla="*/ 200025 h 126"/>
              <a:gd name="T4" fmla="*/ 282575 w 178"/>
              <a:gd name="T5" fmla="*/ 0 h 126"/>
              <a:gd name="T6" fmla="*/ 277813 w 178"/>
              <a:gd name="T7" fmla="*/ 0 h 126"/>
              <a:gd name="T8" fmla="*/ 277813 w 178"/>
              <a:gd name="T9" fmla="*/ 195263 h 126"/>
              <a:gd name="T10" fmla="*/ 0 w 178"/>
              <a:gd name="T11" fmla="*/ 195263 h 126"/>
              <a:gd name="T12" fmla="*/ 0 w 178"/>
              <a:gd name="T13" fmla="*/ 200025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8" h="126">
                <a:moveTo>
                  <a:pt x="0" y="126"/>
                </a:moveTo>
                <a:lnTo>
                  <a:pt x="178" y="126"/>
                </a:lnTo>
                <a:lnTo>
                  <a:pt x="178" y="0"/>
                </a:lnTo>
                <a:lnTo>
                  <a:pt x="175" y="0"/>
                </a:lnTo>
                <a:lnTo>
                  <a:pt x="175" y="123"/>
                </a:lnTo>
                <a:lnTo>
                  <a:pt x="0" y="123"/>
                </a:lnTo>
                <a:lnTo>
                  <a:pt x="0" y="126"/>
                </a:lnTo>
                <a:close/>
              </a:path>
            </a:pathLst>
          </a:custGeom>
          <a:solidFill>
            <a:srgbClr val="A2A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499" name="Freeform 64"/>
          <p:cNvSpPr/>
          <p:nvPr/>
        </p:nvSpPr>
        <p:spPr bwMode="auto">
          <a:xfrm>
            <a:off x="3781896" y="4157122"/>
            <a:ext cx="208359" cy="146447"/>
          </a:xfrm>
          <a:custGeom>
            <a:avLst/>
            <a:gdLst>
              <a:gd name="T0" fmla="*/ 0 w 175"/>
              <a:gd name="T1" fmla="*/ 195262 h 123"/>
              <a:gd name="T2" fmla="*/ 277812 w 175"/>
              <a:gd name="T3" fmla="*/ 195262 h 123"/>
              <a:gd name="T4" fmla="*/ 277812 w 175"/>
              <a:gd name="T5" fmla="*/ 0 h 123"/>
              <a:gd name="T6" fmla="*/ 271462 w 175"/>
              <a:gd name="T7" fmla="*/ 0 h 123"/>
              <a:gd name="T8" fmla="*/ 271462 w 175"/>
              <a:gd name="T9" fmla="*/ 190500 h 123"/>
              <a:gd name="T10" fmla="*/ 0 w 175"/>
              <a:gd name="T11" fmla="*/ 190500 h 123"/>
              <a:gd name="T12" fmla="*/ 0 w 175"/>
              <a:gd name="T13" fmla="*/ 1952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5" h="123">
                <a:moveTo>
                  <a:pt x="0" y="123"/>
                </a:moveTo>
                <a:lnTo>
                  <a:pt x="175" y="123"/>
                </a:lnTo>
                <a:lnTo>
                  <a:pt x="175" y="0"/>
                </a:lnTo>
                <a:lnTo>
                  <a:pt x="171" y="0"/>
                </a:lnTo>
                <a:lnTo>
                  <a:pt x="171" y="120"/>
                </a:lnTo>
                <a:lnTo>
                  <a:pt x="0" y="120"/>
                </a:lnTo>
                <a:lnTo>
                  <a:pt x="0" y="123"/>
                </a:lnTo>
                <a:close/>
              </a:path>
            </a:pathLst>
          </a:custGeom>
          <a:solidFill>
            <a:srgbClr val="A5A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0" name="Freeform 65"/>
          <p:cNvSpPr/>
          <p:nvPr/>
        </p:nvSpPr>
        <p:spPr bwMode="auto">
          <a:xfrm>
            <a:off x="3781896" y="4157123"/>
            <a:ext cx="203597" cy="142875"/>
          </a:xfrm>
          <a:custGeom>
            <a:avLst/>
            <a:gdLst>
              <a:gd name="T0" fmla="*/ 0 w 171"/>
              <a:gd name="T1" fmla="*/ 190500 h 120"/>
              <a:gd name="T2" fmla="*/ 271462 w 171"/>
              <a:gd name="T3" fmla="*/ 190500 h 120"/>
              <a:gd name="T4" fmla="*/ 271462 w 171"/>
              <a:gd name="T5" fmla="*/ 0 h 120"/>
              <a:gd name="T6" fmla="*/ 265112 w 171"/>
              <a:gd name="T7" fmla="*/ 0 h 120"/>
              <a:gd name="T8" fmla="*/ 265112 w 171"/>
              <a:gd name="T9" fmla="*/ 185738 h 120"/>
              <a:gd name="T10" fmla="*/ 0 w 171"/>
              <a:gd name="T11" fmla="*/ 185738 h 120"/>
              <a:gd name="T12" fmla="*/ 0 w 171"/>
              <a:gd name="T13" fmla="*/ 190500 h 1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20">
                <a:moveTo>
                  <a:pt x="0" y="120"/>
                </a:moveTo>
                <a:lnTo>
                  <a:pt x="171" y="120"/>
                </a:lnTo>
                <a:lnTo>
                  <a:pt x="171" y="0"/>
                </a:lnTo>
                <a:lnTo>
                  <a:pt x="167" y="0"/>
                </a:lnTo>
                <a:lnTo>
                  <a:pt x="167" y="117"/>
                </a:lnTo>
                <a:lnTo>
                  <a:pt x="0" y="117"/>
                </a:lnTo>
                <a:lnTo>
                  <a:pt x="0" y="120"/>
                </a:lnTo>
                <a:close/>
              </a:path>
            </a:pathLst>
          </a:custGeom>
          <a:solidFill>
            <a:srgbClr val="A9A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1" name="Freeform 66"/>
          <p:cNvSpPr/>
          <p:nvPr/>
        </p:nvSpPr>
        <p:spPr bwMode="auto">
          <a:xfrm>
            <a:off x="3781896" y="4157123"/>
            <a:ext cx="198834" cy="139303"/>
          </a:xfrm>
          <a:custGeom>
            <a:avLst/>
            <a:gdLst>
              <a:gd name="T0" fmla="*/ 0 w 167"/>
              <a:gd name="T1" fmla="*/ 185737 h 117"/>
              <a:gd name="T2" fmla="*/ 265112 w 167"/>
              <a:gd name="T3" fmla="*/ 185737 h 117"/>
              <a:gd name="T4" fmla="*/ 265112 w 167"/>
              <a:gd name="T5" fmla="*/ 0 h 117"/>
              <a:gd name="T6" fmla="*/ 257175 w 167"/>
              <a:gd name="T7" fmla="*/ 0 h 117"/>
              <a:gd name="T8" fmla="*/ 257175 w 167"/>
              <a:gd name="T9" fmla="*/ 182562 h 117"/>
              <a:gd name="T10" fmla="*/ 0 w 167"/>
              <a:gd name="T11" fmla="*/ 182562 h 117"/>
              <a:gd name="T12" fmla="*/ 0 w 167"/>
              <a:gd name="T13" fmla="*/ 185737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7" h="117">
                <a:moveTo>
                  <a:pt x="0" y="117"/>
                </a:moveTo>
                <a:lnTo>
                  <a:pt x="167" y="117"/>
                </a:lnTo>
                <a:lnTo>
                  <a:pt x="167" y="0"/>
                </a:lnTo>
                <a:lnTo>
                  <a:pt x="162" y="0"/>
                </a:lnTo>
                <a:lnTo>
                  <a:pt x="162" y="115"/>
                </a:lnTo>
                <a:lnTo>
                  <a:pt x="0" y="115"/>
                </a:lnTo>
                <a:lnTo>
                  <a:pt x="0" y="117"/>
                </a:lnTo>
                <a:close/>
              </a:path>
            </a:pathLst>
          </a:custGeom>
          <a:solidFill>
            <a:srgbClr val="ADA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2" name="Freeform 67"/>
          <p:cNvSpPr/>
          <p:nvPr/>
        </p:nvSpPr>
        <p:spPr bwMode="auto">
          <a:xfrm>
            <a:off x="3781896" y="4157122"/>
            <a:ext cx="192881" cy="136922"/>
          </a:xfrm>
          <a:custGeom>
            <a:avLst/>
            <a:gdLst>
              <a:gd name="T0" fmla="*/ 0 w 162"/>
              <a:gd name="T1" fmla="*/ 182562 h 115"/>
              <a:gd name="T2" fmla="*/ 257175 w 162"/>
              <a:gd name="T3" fmla="*/ 182562 h 115"/>
              <a:gd name="T4" fmla="*/ 257175 w 162"/>
              <a:gd name="T5" fmla="*/ 0 h 115"/>
              <a:gd name="T6" fmla="*/ 250825 w 162"/>
              <a:gd name="T7" fmla="*/ 0 h 115"/>
              <a:gd name="T8" fmla="*/ 250825 w 162"/>
              <a:gd name="T9" fmla="*/ 176212 h 115"/>
              <a:gd name="T10" fmla="*/ 0 w 162"/>
              <a:gd name="T11" fmla="*/ 176212 h 115"/>
              <a:gd name="T12" fmla="*/ 0 w 162"/>
              <a:gd name="T13" fmla="*/ 182562 h 11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15">
                <a:moveTo>
                  <a:pt x="0" y="115"/>
                </a:moveTo>
                <a:lnTo>
                  <a:pt x="162" y="115"/>
                </a:lnTo>
                <a:lnTo>
                  <a:pt x="162" y="0"/>
                </a:lnTo>
                <a:lnTo>
                  <a:pt x="158" y="0"/>
                </a:lnTo>
                <a:lnTo>
                  <a:pt x="158" y="111"/>
                </a:lnTo>
                <a:lnTo>
                  <a:pt x="0" y="111"/>
                </a:lnTo>
                <a:lnTo>
                  <a:pt x="0" y="115"/>
                </a:lnTo>
                <a:close/>
              </a:path>
            </a:pathLst>
          </a:custGeom>
          <a:solidFill>
            <a:srgbClr val="B0B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3" name="Freeform 68"/>
          <p:cNvSpPr/>
          <p:nvPr/>
        </p:nvSpPr>
        <p:spPr bwMode="auto">
          <a:xfrm>
            <a:off x="3781896" y="4157123"/>
            <a:ext cx="188119" cy="132159"/>
          </a:xfrm>
          <a:custGeom>
            <a:avLst/>
            <a:gdLst>
              <a:gd name="T0" fmla="*/ 0 w 158"/>
              <a:gd name="T1" fmla="*/ 176212 h 111"/>
              <a:gd name="T2" fmla="*/ 250825 w 158"/>
              <a:gd name="T3" fmla="*/ 176212 h 111"/>
              <a:gd name="T4" fmla="*/ 250825 w 158"/>
              <a:gd name="T5" fmla="*/ 0 h 111"/>
              <a:gd name="T6" fmla="*/ 242888 w 158"/>
              <a:gd name="T7" fmla="*/ 0 h 111"/>
              <a:gd name="T8" fmla="*/ 242888 w 158"/>
              <a:gd name="T9" fmla="*/ 171450 h 111"/>
              <a:gd name="T10" fmla="*/ 0 w 158"/>
              <a:gd name="T11" fmla="*/ 171450 h 111"/>
              <a:gd name="T12" fmla="*/ 0 w 158"/>
              <a:gd name="T13" fmla="*/ 176212 h 11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1">
                <a:moveTo>
                  <a:pt x="0" y="111"/>
                </a:moveTo>
                <a:lnTo>
                  <a:pt x="158" y="111"/>
                </a:lnTo>
                <a:lnTo>
                  <a:pt x="158" y="0"/>
                </a:lnTo>
                <a:lnTo>
                  <a:pt x="153" y="0"/>
                </a:lnTo>
                <a:lnTo>
                  <a:pt x="153" y="108"/>
                </a:lnTo>
                <a:lnTo>
                  <a:pt x="0" y="108"/>
                </a:lnTo>
                <a:lnTo>
                  <a:pt x="0" y="111"/>
                </a:lnTo>
                <a:close/>
              </a:path>
            </a:pathLst>
          </a:custGeom>
          <a:solidFill>
            <a:srgbClr val="B4B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4" name="Freeform 69"/>
          <p:cNvSpPr/>
          <p:nvPr/>
        </p:nvSpPr>
        <p:spPr bwMode="auto">
          <a:xfrm>
            <a:off x="3781896" y="4157122"/>
            <a:ext cx="182165" cy="128588"/>
          </a:xfrm>
          <a:custGeom>
            <a:avLst/>
            <a:gdLst>
              <a:gd name="T0" fmla="*/ 0 w 153"/>
              <a:gd name="T1" fmla="*/ 171450 h 108"/>
              <a:gd name="T2" fmla="*/ 242887 w 153"/>
              <a:gd name="T3" fmla="*/ 171450 h 108"/>
              <a:gd name="T4" fmla="*/ 242887 w 153"/>
              <a:gd name="T5" fmla="*/ 0 h 108"/>
              <a:gd name="T6" fmla="*/ 234950 w 153"/>
              <a:gd name="T7" fmla="*/ 0 h 108"/>
              <a:gd name="T8" fmla="*/ 234950 w 153"/>
              <a:gd name="T9" fmla="*/ 165100 h 108"/>
              <a:gd name="T10" fmla="*/ 0 w 153"/>
              <a:gd name="T11" fmla="*/ 165100 h 108"/>
              <a:gd name="T12" fmla="*/ 0 w 153"/>
              <a:gd name="T13" fmla="*/ 17145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108">
                <a:moveTo>
                  <a:pt x="0" y="108"/>
                </a:moveTo>
                <a:lnTo>
                  <a:pt x="153" y="108"/>
                </a:lnTo>
                <a:lnTo>
                  <a:pt x="153" y="0"/>
                </a:lnTo>
                <a:lnTo>
                  <a:pt x="148" y="0"/>
                </a:lnTo>
                <a:lnTo>
                  <a:pt x="148" y="104"/>
                </a:lnTo>
                <a:lnTo>
                  <a:pt x="0" y="104"/>
                </a:lnTo>
                <a:lnTo>
                  <a:pt x="0" y="108"/>
                </a:lnTo>
                <a:close/>
              </a:path>
            </a:pathLst>
          </a:custGeom>
          <a:solidFill>
            <a:srgbClr val="B8B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5" name="Freeform 70"/>
          <p:cNvSpPr/>
          <p:nvPr/>
        </p:nvSpPr>
        <p:spPr bwMode="auto">
          <a:xfrm>
            <a:off x="3781896" y="4157123"/>
            <a:ext cx="176213" cy="123825"/>
          </a:xfrm>
          <a:custGeom>
            <a:avLst/>
            <a:gdLst>
              <a:gd name="T0" fmla="*/ 0 w 148"/>
              <a:gd name="T1" fmla="*/ 165100 h 104"/>
              <a:gd name="T2" fmla="*/ 234950 w 148"/>
              <a:gd name="T3" fmla="*/ 165100 h 104"/>
              <a:gd name="T4" fmla="*/ 234950 w 148"/>
              <a:gd name="T5" fmla="*/ 0 h 104"/>
              <a:gd name="T6" fmla="*/ 227013 w 148"/>
              <a:gd name="T7" fmla="*/ 0 h 104"/>
              <a:gd name="T8" fmla="*/ 227013 w 148"/>
              <a:gd name="T9" fmla="*/ 160338 h 104"/>
              <a:gd name="T10" fmla="*/ 0 w 148"/>
              <a:gd name="T11" fmla="*/ 160338 h 104"/>
              <a:gd name="T12" fmla="*/ 0 w 148"/>
              <a:gd name="T13" fmla="*/ 165100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8" h="104">
                <a:moveTo>
                  <a:pt x="0" y="104"/>
                </a:moveTo>
                <a:lnTo>
                  <a:pt x="148" y="104"/>
                </a:lnTo>
                <a:lnTo>
                  <a:pt x="148" y="0"/>
                </a:lnTo>
                <a:lnTo>
                  <a:pt x="143" y="0"/>
                </a:lnTo>
                <a:lnTo>
                  <a:pt x="143" y="101"/>
                </a:lnTo>
                <a:lnTo>
                  <a:pt x="0" y="101"/>
                </a:lnTo>
                <a:lnTo>
                  <a:pt x="0" y="104"/>
                </a:lnTo>
                <a:close/>
              </a:path>
            </a:pathLst>
          </a:custGeom>
          <a:solidFill>
            <a:srgbClr val="BBB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6" name="Freeform 71"/>
          <p:cNvSpPr/>
          <p:nvPr/>
        </p:nvSpPr>
        <p:spPr bwMode="auto">
          <a:xfrm>
            <a:off x="3781896" y="4157123"/>
            <a:ext cx="170259" cy="120253"/>
          </a:xfrm>
          <a:custGeom>
            <a:avLst/>
            <a:gdLst>
              <a:gd name="T0" fmla="*/ 0 w 143"/>
              <a:gd name="T1" fmla="*/ 160337 h 101"/>
              <a:gd name="T2" fmla="*/ 227012 w 143"/>
              <a:gd name="T3" fmla="*/ 160337 h 101"/>
              <a:gd name="T4" fmla="*/ 227012 w 143"/>
              <a:gd name="T5" fmla="*/ 0 h 101"/>
              <a:gd name="T6" fmla="*/ 219075 w 143"/>
              <a:gd name="T7" fmla="*/ 0 h 101"/>
              <a:gd name="T8" fmla="*/ 219075 w 143"/>
              <a:gd name="T9" fmla="*/ 153987 h 101"/>
              <a:gd name="T10" fmla="*/ 0 w 143"/>
              <a:gd name="T11" fmla="*/ 153987 h 101"/>
              <a:gd name="T12" fmla="*/ 0 w 143"/>
              <a:gd name="T13" fmla="*/ 160337 h 10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3" h="101">
                <a:moveTo>
                  <a:pt x="0" y="101"/>
                </a:moveTo>
                <a:lnTo>
                  <a:pt x="143" y="101"/>
                </a:lnTo>
                <a:lnTo>
                  <a:pt x="143" y="0"/>
                </a:lnTo>
                <a:lnTo>
                  <a:pt x="138" y="0"/>
                </a:lnTo>
                <a:lnTo>
                  <a:pt x="138" y="97"/>
                </a:lnTo>
                <a:lnTo>
                  <a:pt x="0" y="97"/>
                </a:lnTo>
                <a:lnTo>
                  <a:pt x="0" y="101"/>
                </a:lnTo>
                <a:close/>
              </a:path>
            </a:pathLst>
          </a:custGeom>
          <a:solidFill>
            <a:srgbClr val="BFB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7" name="Freeform 72"/>
          <p:cNvSpPr/>
          <p:nvPr/>
        </p:nvSpPr>
        <p:spPr bwMode="auto">
          <a:xfrm>
            <a:off x="3781896" y="4157123"/>
            <a:ext cx="164306" cy="115490"/>
          </a:xfrm>
          <a:custGeom>
            <a:avLst/>
            <a:gdLst>
              <a:gd name="T0" fmla="*/ 0 w 138"/>
              <a:gd name="T1" fmla="*/ 153987 h 97"/>
              <a:gd name="T2" fmla="*/ 219075 w 138"/>
              <a:gd name="T3" fmla="*/ 153987 h 97"/>
              <a:gd name="T4" fmla="*/ 219075 w 138"/>
              <a:gd name="T5" fmla="*/ 0 h 97"/>
              <a:gd name="T6" fmla="*/ 211138 w 138"/>
              <a:gd name="T7" fmla="*/ 0 h 97"/>
              <a:gd name="T8" fmla="*/ 211138 w 138"/>
              <a:gd name="T9" fmla="*/ 147637 h 97"/>
              <a:gd name="T10" fmla="*/ 0 w 138"/>
              <a:gd name="T11" fmla="*/ 147637 h 97"/>
              <a:gd name="T12" fmla="*/ 0 w 138"/>
              <a:gd name="T13" fmla="*/ 153987 h 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97">
                <a:moveTo>
                  <a:pt x="0" y="97"/>
                </a:moveTo>
                <a:lnTo>
                  <a:pt x="138" y="97"/>
                </a:lnTo>
                <a:lnTo>
                  <a:pt x="138" y="0"/>
                </a:lnTo>
                <a:lnTo>
                  <a:pt x="133" y="0"/>
                </a:lnTo>
                <a:lnTo>
                  <a:pt x="133" y="93"/>
                </a:lnTo>
                <a:lnTo>
                  <a:pt x="0" y="93"/>
                </a:lnTo>
                <a:lnTo>
                  <a:pt x="0" y="97"/>
                </a:lnTo>
                <a:close/>
              </a:path>
            </a:pathLst>
          </a:custGeom>
          <a:solidFill>
            <a:srgbClr val="C3C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8" name="Freeform 73"/>
          <p:cNvSpPr/>
          <p:nvPr/>
        </p:nvSpPr>
        <p:spPr bwMode="auto">
          <a:xfrm>
            <a:off x="3781896" y="4157123"/>
            <a:ext cx="158353" cy="110728"/>
          </a:xfrm>
          <a:custGeom>
            <a:avLst/>
            <a:gdLst>
              <a:gd name="T0" fmla="*/ 0 w 133"/>
              <a:gd name="T1" fmla="*/ 147637 h 93"/>
              <a:gd name="T2" fmla="*/ 211137 w 133"/>
              <a:gd name="T3" fmla="*/ 147637 h 93"/>
              <a:gd name="T4" fmla="*/ 211137 w 133"/>
              <a:gd name="T5" fmla="*/ 0 h 93"/>
              <a:gd name="T6" fmla="*/ 200025 w 133"/>
              <a:gd name="T7" fmla="*/ 0 h 93"/>
              <a:gd name="T8" fmla="*/ 200025 w 133"/>
              <a:gd name="T9" fmla="*/ 141287 h 93"/>
              <a:gd name="T10" fmla="*/ 0 w 133"/>
              <a:gd name="T11" fmla="*/ 141287 h 93"/>
              <a:gd name="T12" fmla="*/ 0 w 133"/>
              <a:gd name="T13" fmla="*/ 147637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3" h="93">
                <a:moveTo>
                  <a:pt x="0" y="93"/>
                </a:moveTo>
                <a:lnTo>
                  <a:pt x="133" y="93"/>
                </a:lnTo>
                <a:lnTo>
                  <a:pt x="133" y="0"/>
                </a:lnTo>
                <a:lnTo>
                  <a:pt x="126" y="0"/>
                </a:lnTo>
                <a:lnTo>
                  <a:pt x="126" y="89"/>
                </a:lnTo>
                <a:lnTo>
                  <a:pt x="0" y="89"/>
                </a:lnTo>
                <a:lnTo>
                  <a:pt x="0" y="93"/>
                </a:lnTo>
                <a:close/>
              </a:path>
            </a:pathLst>
          </a:custGeom>
          <a:solidFill>
            <a:srgbClr val="C6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09" name="Freeform 74"/>
          <p:cNvSpPr/>
          <p:nvPr/>
        </p:nvSpPr>
        <p:spPr bwMode="auto">
          <a:xfrm>
            <a:off x="3781896" y="4157123"/>
            <a:ext cx="150019" cy="105965"/>
          </a:xfrm>
          <a:custGeom>
            <a:avLst/>
            <a:gdLst>
              <a:gd name="T0" fmla="*/ 0 w 126"/>
              <a:gd name="T1" fmla="*/ 141287 h 89"/>
              <a:gd name="T2" fmla="*/ 200025 w 126"/>
              <a:gd name="T3" fmla="*/ 141287 h 89"/>
              <a:gd name="T4" fmla="*/ 200025 w 126"/>
              <a:gd name="T5" fmla="*/ 0 h 89"/>
              <a:gd name="T6" fmla="*/ 192088 w 126"/>
              <a:gd name="T7" fmla="*/ 0 h 89"/>
              <a:gd name="T8" fmla="*/ 192088 w 126"/>
              <a:gd name="T9" fmla="*/ 134937 h 89"/>
              <a:gd name="T10" fmla="*/ 0 w 126"/>
              <a:gd name="T11" fmla="*/ 134937 h 89"/>
              <a:gd name="T12" fmla="*/ 0 w 126"/>
              <a:gd name="T13" fmla="*/ 141287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89">
                <a:moveTo>
                  <a:pt x="0" y="89"/>
                </a:moveTo>
                <a:lnTo>
                  <a:pt x="126" y="89"/>
                </a:lnTo>
                <a:lnTo>
                  <a:pt x="126" y="0"/>
                </a:lnTo>
                <a:lnTo>
                  <a:pt x="121" y="0"/>
                </a:lnTo>
                <a:lnTo>
                  <a:pt x="121" y="85"/>
                </a:lnTo>
                <a:lnTo>
                  <a:pt x="0" y="85"/>
                </a:lnTo>
                <a:lnTo>
                  <a:pt x="0" y="89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0" name="Freeform 75"/>
          <p:cNvSpPr/>
          <p:nvPr/>
        </p:nvSpPr>
        <p:spPr bwMode="auto">
          <a:xfrm>
            <a:off x="3781896" y="4157123"/>
            <a:ext cx="144065" cy="101203"/>
          </a:xfrm>
          <a:custGeom>
            <a:avLst/>
            <a:gdLst>
              <a:gd name="T0" fmla="*/ 0 w 121"/>
              <a:gd name="T1" fmla="*/ 134937 h 85"/>
              <a:gd name="T2" fmla="*/ 192087 w 121"/>
              <a:gd name="T3" fmla="*/ 134937 h 85"/>
              <a:gd name="T4" fmla="*/ 192087 w 121"/>
              <a:gd name="T5" fmla="*/ 0 h 85"/>
              <a:gd name="T6" fmla="*/ 182562 w 121"/>
              <a:gd name="T7" fmla="*/ 0 h 85"/>
              <a:gd name="T8" fmla="*/ 182562 w 121"/>
              <a:gd name="T9" fmla="*/ 127000 h 85"/>
              <a:gd name="T10" fmla="*/ 0 w 121"/>
              <a:gd name="T11" fmla="*/ 127000 h 85"/>
              <a:gd name="T12" fmla="*/ 0 w 121"/>
              <a:gd name="T13" fmla="*/ 134937 h 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1" h="85">
                <a:moveTo>
                  <a:pt x="0" y="85"/>
                </a:moveTo>
                <a:lnTo>
                  <a:pt x="121" y="85"/>
                </a:lnTo>
                <a:lnTo>
                  <a:pt x="121" y="0"/>
                </a:lnTo>
                <a:lnTo>
                  <a:pt x="115" y="0"/>
                </a:lnTo>
                <a:lnTo>
                  <a:pt x="115" y="80"/>
                </a:lnTo>
                <a:lnTo>
                  <a:pt x="0" y="80"/>
                </a:lnTo>
                <a:lnTo>
                  <a:pt x="0" y="85"/>
                </a:lnTo>
                <a:close/>
              </a:path>
            </a:pathLst>
          </a:custGeom>
          <a:solidFill>
            <a:srgbClr val="CEC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1" name="Freeform 76"/>
          <p:cNvSpPr/>
          <p:nvPr/>
        </p:nvSpPr>
        <p:spPr bwMode="auto">
          <a:xfrm>
            <a:off x="3781896" y="4157123"/>
            <a:ext cx="136922" cy="95250"/>
          </a:xfrm>
          <a:custGeom>
            <a:avLst/>
            <a:gdLst>
              <a:gd name="T0" fmla="*/ 0 w 115"/>
              <a:gd name="T1" fmla="*/ 127000 h 80"/>
              <a:gd name="T2" fmla="*/ 182562 w 115"/>
              <a:gd name="T3" fmla="*/ 127000 h 80"/>
              <a:gd name="T4" fmla="*/ 182562 w 115"/>
              <a:gd name="T5" fmla="*/ 0 h 80"/>
              <a:gd name="T6" fmla="*/ 173037 w 115"/>
              <a:gd name="T7" fmla="*/ 0 h 80"/>
              <a:gd name="T8" fmla="*/ 173037 w 115"/>
              <a:gd name="T9" fmla="*/ 122238 h 80"/>
              <a:gd name="T10" fmla="*/ 0 w 115"/>
              <a:gd name="T11" fmla="*/ 122238 h 80"/>
              <a:gd name="T12" fmla="*/ 0 w 115"/>
              <a:gd name="T13" fmla="*/ 127000 h 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5" h="80">
                <a:moveTo>
                  <a:pt x="0" y="80"/>
                </a:moveTo>
                <a:lnTo>
                  <a:pt x="115" y="80"/>
                </a:lnTo>
                <a:lnTo>
                  <a:pt x="115" y="0"/>
                </a:lnTo>
                <a:lnTo>
                  <a:pt x="109" y="0"/>
                </a:lnTo>
                <a:lnTo>
                  <a:pt x="109" y="77"/>
                </a:lnTo>
                <a:lnTo>
                  <a:pt x="0" y="77"/>
                </a:lnTo>
                <a:lnTo>
                  <a:pt x="0" y="80"/>
                </a:lnTo>
                <a:close/>
              </a:path>
            </a:pathLst>
          </a:custGeom>
          <a:solidFill>
            <a:srgbClr val="D1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2" name="Freeform 77"/>
          <p:cNvSpPr/>
          <p:nvPr/>
        </p:nvSpPr>
        <p:spPr bwMode="auto">
          <a:xfrm>
            <a:off x="3781896" y="4157123"/>
            <a:ext cx="129778" cy="91678"/>
          </a:xfrm>
          <a:custGeom>
            <a:avLst/>
            <a:gdLst>
              <a:gd name="T0" fmla="*/ 0 w 109"/>
              <a:gd name="T1" fmla="*/ 122237 h 77"/>
              <a:gd name="T2" fmla="*/ 173037 w 109"/>
              <a:gd name="T3" fmla="*/ 122237 h 77"/>
              <a:gd name="T4" fmla="*/ 173037 w 109"/>
              <a:gd name="T5" fmla="*/ 0 h 77"/>
              <a:gd name="T6" fmla="*/ 160337 w 109"/>
              <a:gd name="T7" fmla="*/ 0 h 77"/>
              <a:gd name="T8" fmla="*/ 160337 w 109"/>
              <a:gd name="T9" fmla="*/ 112712 h 77"/>
              <a:gd name="T10" fmla="*/ 0 w 109"/>
              <a:gd name="T11" fmla="*/ 112712 h 77"/>
              <a:gd name="T12" fmla="*/ 0 w 109"/>
              <a:gd name="T13" fmla="*/ 122237 h 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" h="77">
                <a:moveTo>
                  <a:pt x="0" y="77"/>
                </a:moveTo>
                <a:lnTo>
                  <a:pt x="109" y="77"/>
                </a:lnTo>
                <a:lnTo>
                  <a:pt x="109" y="0"/>
                </a:lnTo>
                <a:lnTo>
                  <a:pt x="101" y="0"/>
                </a:lnTo>
                <a:lnTo>
                  <a:pt x="101" y="71"/>
                </a:lnTo>
                <a:lnTo>
                  <a:pt x="0" y="71"/>
                </a:lnTo>
                <a:lnTo>
                  <a:pt x="0" y="77"/>
                </a:lnTo>
                <a:close/>
              </a:path>
            </a:pathLst>
          </a:custGeom>
          <a:solidFill>
            <a:srgbClr val="D5D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3" name="Freeform 78"/>
          <p:cNvSpPr/>
          <p:nvPr/>
        </p:nvSpPr>
        <p:spPr bwMode="auto">
          <a:xfrm>
            <a:off x="3779515" y="4155932"/>
            <a:ext cx="122634" cy="85725"/>
          </a:xfrm>
          <a:custGeom>
            <a:avLst/>
            <a:gdLst>
              <a:gd name="T0" fmla="*/ 3175 w 103"/>
              <a:gd name="T1" fmla="*/ 114300 h 72"/>
              <a:gd name="T2" fmla="*/ 163512 w 103"/>
              <a:gd name="T3" fmla="*/ 114300 h 72"/>
              <a:gd name="T4" fmla="*/ 163512 w 103"/>
              <a:gd name="T5" fmla="*/ 1588 h 72"/>
              <a:gd name="T6" fmla="*/ 153987 w 103"/>
              <a:gd name="T7" fmla="*/ 0 h 72"/>
              <a:gd name="T8" fmla="*/ 153987 w 103"/>
              <a:gd name="T9" fmla="*/ 106363 h 72"/>
              <a:gd name="T10" fmla="*/ 0 w 103"/>
              <a:gd name="T11" fmla="*/ 106363 h 72"/>
              <a:gd name="T12" fmla="*/ 3175 w 103"/>
              <a:gd name="T13" fmla="*/ 114300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3" h="72">
                <a:moveTo>
                  <a:pt x="2" y="72"/>
                </a:moveTo>
                <a:lnTo>
                  <a:pt x="103" y="72"/>
                </a:lnTo>
                <a:lnTo>
                  <a:pt x="103" y="1"/>
                </a:lnTo>
                <a:lnTo>
                  <a:pt x="97" y="0"/>
                </a:lnTo>
                <a:lnTo>
                  <a:pt x="97" y="67"/>
                </a:lnTo>
                <a:lnTo>
                  <a:pt x="0" y="67"/>
                </a:lnTo>
                <a:lnTo>
                  <a:pt x="2" y="72"/>
                </a:lnTo>
                <a:close/>
              </a:path>
            </a:pathLst>
          </a:custGeom>
          <a:solidFill>
            <a:srgbClr val="D9D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4" name="Freeform 79"/>
          <p:cNvSpPr/>
          <p:nvPr/>
        </p:nvSpPr>
        <p:spPr bwMode="auto">
          <a:xfrm>
            <a:off x="3779515" y="4155932"/>
            <a:ext cx="115490" cy="79772"/>
          </a:xfrm>
          <a:custGeom>
            <a:avLst/>
            <a:gdLst>
              <a:gd name="T0" fmla="*/ 0 w 97"/>
              <a:gd name="T1" fmla="*/ 106363 h 67"/>
              <a:gd name="T2" fmla="*/ 153987 w 97"/>
              <a:gd name="T3" fmla="*/ 106363 h 67"/>
              <a:gd name="T4" fmla="*/ 153987 w 97"/>
              <a:gd name="T5" fmla="*/ 0 h 67"/>
              <a:gd name="T6" fmla="*/ 141287 w 97"/>
              <a:gd name="T7" fmla="*/ 1588 h 67"/>
              <a:gd name="T8" fmla="*/ 141287 w 97"/>
              <a:gd name="T9" fmla="*/ 98425 h 67"/>
              <a:gd name="T10" fmla="*/ 3175 w 97"/>
              <a:gd name="T11" fmla="*/ 98425 h 67"/>
              <a:gd name="T12" fmla="*/ 0 w 97"/>
              <a:gd name="T13" fmla="*/ 106363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7" h="67">
                <a:moveTo>
                  <a:pt x="0" y="67"/>
                </a:moveTo>
                <a:lnTo>
                  <a:pt x="97" y="67"/>
                </a:lnTo>
                <a:lnTo>
                  <a:pt x="97" y="0"/>
                </a:lnTo>
                <a:lnTo>
                  <a:pt x="89" y="1"/>
                </a:lnTo>
                <a:lnTo>
                  <a:pt x="89" y="62"/>
                </a:lnTo>
                <a:lnTo>
                  <a:pt x="2" y="62"/>
                </a:lnTo>
                <a:lnTo>
                  <a:pt x="0" y="67"/>
                </a:lnTo>
                <a:close/>
              </a:path>
            </a:pathLst>
          </a:custGeom>
          <a:solidFill>
            <a:srgbClr val="DDD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5" name="Freeform 80"/>
          <p:cNvSpPr/>
          <p:nvPr/>
        </p:nvSpPr>
        <p:spPr bwMode="auto">
          <a:xfrm>
            <a:off x="3781896" y="4157123"/>
            <a:ext cx="103584" cy="72628"/>
          </a:xfrm>
          <a:custGeom>
            <a:avLst/>
            <a:gdLst>
              <a:gd name="T0" fmla="*/ 0 w 87"/>
              <a:gd name="T1" fmla="*/ 96837 h 61"/>
              <a:gd name="T2" fmla="*/ 138112 w 87"/>
              <a:gd name="T3" fmla="*/ 96837 h 61"/>
              <a:gd name="T4" fmla="*/ 138112 w 87"/>
              <a:gd name="T5" fmla="*/ 0 h 61"/>
              <a:gd name="T6" fmla="*/ 127000 w 87"/>
              <a:gd name="T7" fmla="*/ 0 h 61"/>
              <a:gd name="T8" fmla="*/ 127000 w 87"/>
              <a:gd name="T9" fmla="*/ 88900 h 61"/>
              <a:gd name="T10" fmla="*/ 0 w 87"/>
              <a:gd name="T11" fmla="*/ 88900 h 61"/>
              <a:gd name="T12" fmla="*/ 0 w 87"/>
              <a:gd name="T13" fmla="*/ 96837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" h="61">
                <a:moveTo>
                  <a:pt x="0" y="61"/>
                </a:moveTo>
                <a:lnTo>
                  <a:pt x="87" y="61"/>
                </a:lnTo>
                <a:lnTo>
                  <a:pt x="87" y="0"/>
                </a:lnTo>
                <a:lnTo>
                  <a:pt x="80" y="0"/>
                </a:lnTo>
                <a:lnTo>
                  <a:pt x="80" y="56"/>
                </a:lnTo>
                <a:lnTo>
                  <a:pt x="0" y="56"/>
                </a:lnTo>
                <a:lnTo>
                  <a:pt x="0" y="61"/>
                </a:lnTo>
                <a:close/>
              </a:path>
            </a:pathLst>
          </a:custGeom>
          <a:solidFill>
            <a:srgbClr val="E0E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6" name="Freeform 81"/>
          <p:cNvSpPr/>
          <p:nvPr/>
        </p:nvSpPr>
        <p:spPr bwMode="auto">
          <a:xfrm>
            <a:off x="3781896" y="4157123"/>
            <a:ext cx="95250" cy="66675"/>
          </a:xfrm>
          <a:custGeom>
            <a:avLst/>
            <a:gdLst>
              <a:gd name="T0" fmla="*/ 0 w 80"/>
              <a:gd name="T1" fmla="*/ 88900 h 56"/>
              <a:gd name="T2" fmla="*/ 127000 w 80"/>
              <a:gd name="T3" fmla="*/ 88900 h 56"/>
              <a:gd name="T4" fmla="*/ 127000 w 80"/>
              <a:gd name="T5" fmla="*/ 0 h 56"/>
              <a:gd name="T6" fmla="*/ 112713 w 80"/>
              <a:gd name="T7" fmla="*/ 0 h 56"/>
              <a:gd name="T8" fmla="*/ 112713 w 80"/>
              <a:gd name="T9" fmla="*/ 79375 h 56"/>
              <a:gd name="T10" fmla="*/ 0 w 80"/>
              <a:gd name="T11" fmla="*/ 79375 h 56"/>
              <a:gd name="T12" fmla="*/ 0 w 80"/>
              <a:gd name="T13" fmla="*/ 889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0" h="56">
                <a:moveTo>
                  <a:pt x="0" y="56"/>
                </a:moveTo>
                <a:lnTo>
                  <a:pt x="80" y="56"/>
                </a:lnTo>
                <a:lnTo>
                  <a:pt x="80" y="0"/>
                </a:lnTo>
                <a:lnTo>
                  <a:pt x="71" y="0"/>
                </a:lnTo>
                <a:lnTo>
                  <a:pt x="71" y="50"/>
                </a:lnTo>
                <a:lnTo>
                  <a:pt x="0" y="50"/>
                </a:lnTo>
                <a:lnTo>
                  <a:pt x="0" y="56"/>
                </a:lnTo>
                <a:close/>
              </a:path>
            </a:pathLst>
          </a:custGeom>
          <a:solidFill>
            <a:srgbClr val="E4E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7" name="Freeform 82"/>
          <p:cNvSpPr/>
          <p:nvPr/>
        </p:nvSpPr>
        <p:spPr bwMode="auto">
          <a:xfrm>
            <a:off x="3781896" y="4157123"/>
            <a:ext cx="84534" cy="59531"/>
          </a:xfrm>
          <a:custGeom>
            <a:avLst/>
            <a:gdLst>
              <a:gd name="T0" fmla="*/ 0 w 71"/>
              <a:gd name="T1" fmla="*/ 79375 h 50"/>
              <a:gd name="T2" fmla="*/ 112712 w 71"/>
              <a:gd name="T3" fmla="*/ 79375 h 50"/>
              <a:gd name="T4" fmla="*/ 112712 w 71"/>
              <a:gd name="T5" fmla="*/ 0 h 50"/>
              <a:gd name="T6" fmla="*/ 98425 w 71"/>
              <a:gd name="T7" fmla="*/ 0 h 50"/>
              <a:gd name="T8" fmla="*/ 98425 w 71"/>
              <a:gd name="T9" fmla="*/ 69850 h 50"/>
              <a:gd name="T10" fmla="*/ 0 w 71"/>
              <a:gd name="T11" fmla="*/ 69850 h 50"/>
              <a:gd name="T12" fmla="*/ 0 w 71"/>
              <a:gd name="T13" fmla="*/ 79375 h 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0">
                <a:moveTo>
                  <a:pt x="0" y="50"/>
                </a:moveTo>
                <a:lnTo>
                  <a:pt x="71" y="50"/>
                </a:lnTo>
                <a:lnTo>
                  <a:pt x="71" y="0"/>
                </a:lnTo>
                <a:lnTo>
                  <a:pt x="62" y="0"/>
                </a:lnTo>
                <a:lnTo>
                  <a:pt x="62" y="44"/>
                </a:lnTo>
                <a:lnTo>
                  <a:pt x="0" y="44"/>
                </a:lnTo>
                <a:lnTo>
                  <a:pt x="0" y="50"/>
                </a:lnTo>
                <a:close/>
              </a:path>
            </a:pathLst>
          </a:custGeom>
          <a:solidFill>
            <a:srgbClr val="E8E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8" name="Freeform 83"/>
          <p:cNvSpPr/>
          <p:nvPr/>
        </p:nvSpPr>
        <p:spPr bwMode="auto">
          <a:xfrm>
            <a:off x="3781896" y="4157122"/>
            <a:ext cx="73819" cy="52388"/>
          </a:xfrm>
          <a:custGeom>
            <a:avLst/>
            <a:gdLst>
              <a:gd name="T0" fmla="*/ 0 w 62"/>
              <a:gd name="T1" fmla="*/ 69850 h 44"/>
              <a:gd name="T2" fmla="*/ 98425 w 62"/>
              <a:gd name="T3" fmla="*/ 69850 h 44"/>
              <a:gd name="T4" fmla="*/ 98425 w 62"/>
              <a:gd name="T5" fmla="*/ 0 h 44"/>
              <a:gd name="T6" fmla="*/ 84138 w 62"/>
              <a:gd name="T7" fmla="*/ 0 h 44"/>
              <a:gd name="T8" fmla="*/ 84138 w 62"/>
              <a:gd name="T9" fmla="*/ 58738 h 44"/>
              <a:gd name="T10" fmla="*/ 0 w 62"/>
              <a:gd name="T11" fmla="*/ 58738 h 44"/>
              <a:gd name="T12" fmla="*/ 0 w 62"/>
              <a:gd name="T13" fmla="*/ 6985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2" h="44">
                <a:moveTo>
                  <a:pt x="0" y="44"/>
                </a:moveTo>
                <a:lnTo>
                  <a:pt x="62" y="44"/>
                </a:lnTo>
                <a:lnTo>
                  <a:pt x="62" y="0"/>
                </a:lnTo>
                <a:lnTo>
                  <a:pt x="53" y="0"/>
                </a:lnTo>
                <a:lnTo>
                  <a:pt x="53" y="37"/>
                </a:lnTo>
                <a:lnTo>
                  <a:pt x="0" y="37"/>
                </a:lnTo>
                <a:lnTo>
                  <a:pt x="0" y="44"/>
                </a:lnTo>
                <a:close/>
              </a:path>
            </a:pathLst>
          </a:cu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19" name="Freeform 84"/>
          <p:cNvSpPr/>
          <p:nvPr/>
        </p:nvSpPr>
        <p:spPr bwMode="auto">
          <a:xfrm>
            <a:off x="3781896" y="4157123"/>
            <a:ext cx="63103" cy="44053"/>
          </a:xfrm>
          <a:custGeom>
            <a:avLst/>
            <a:gdLst>
              <a:gd name="T0" fmla="*/ 0 w 53"/>
              <a:gd name="T1" fmla="*/ 58737 h 37"/>
              <a:gd name="T2" fmla="*/ 84137 w 53"/>
              <a:gd name="T3" fmla="*/ 58737 h 37"/>
              <a:gd name="T4" fmla="*/ 84137 w 53"/>
              <a:gd name="T5" fmla="*/ 0 h 37"/>
              <a:gd name="T6" fmla="*/ 69850 w 53"/>
              <a:gd name="T7" fmla="*/ 0 h 37"/>
              <a:gd name="T8" fmla="*/ 69850 w 53"/>
              <a:gd name="T9" fmla="*/ 49212 h 37"/>
              <a:gd name="T10" fmla="*/ 0 w 53"/>
              <a:gd name="T11" fmla="*/ 49212 h 37"/>
              <a:gd name="T12" fmla="*/ 0 w 53"/>
              <a:gd name="T13" fmla="*/ 58737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" h="37">
                <a:moveTo>
                  <a:pt x="0" y="37"/>
                </a:moveTo>
                <a:lnTo>
                  <a:pt x="53" y="37"/>
                </a:lnTo>
                <a:lnTo>
                  <a:pt x="53" y="0"/>
                </a:lnTo>
                <a:lnTo>
                  <a:pt x="44" y="0"/>
                </a:lnTo>
                <a:lnTo>
                  <a:pt x="44" y="31"/>
                </a:lnTo>
                <a:lnTo>
                  <a:pt x="0" y="31"/>
                </a:lnTo>
                <a:lnTo>
                  <a:pt x="0" y="37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0" name="Freeform 85"/>
          <p:cNvSpPr/>
          <p:nvPr/>
        </p:nvSpPr>
        <p:spPr bwMode="auto">
          <a:xfrm>
            <a:off x="3781896" y="4157123"/>
            <a:ext cx="52388" cy="36909"/>
          </a:xfrm>
          <a:custGeom>
            <a:avLst/>
            <a:gdLst>
              <a:gd name="T0" fmla="*/ 0 w 44"/>
              <a:gd name="T1" fmla="*/ 49212 h 31"/>
              <a:gd name="T2" fmla="*/ 69850 w 44"/>
              <a:gd name="T3" fmla="*/ 49212 h 31"/>
              <a:gd name="T4" fmla="*/ 69850 w 44"/>
              <a:gd name="T5" fmla="*/ 0 h 31"/>
              <a:gd name="T6" fmla="*/ 53975 w 44"/>
              <a:gd name="T7" fmla="*/ 0 h 31"/>
              <a:gd name="T8" fmla="*/ 53975 w 44"/>
              <a:gd name="T9" fmla="*/ 39687 h 31"/>
              <a:gd name="T10" fmla="*/ 0 w 44"/>
              <a:gd name="T11" fmla="*/ 39687 h 31"/>
              <a:gd name="T12" fmla="*/ 0 w 44"/>
              <a:gd name="T13" fmla="*/ 49212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44" y="0"/>
                </a:lnTo>
                <a:lnTo>
                  <a:pt x="34" y="0"/>
                </a:lnTo>
                <a:lnTo>
                  <a:pt x="34" y="25"/>
                </a:lnTo>
                <a:lnTo>
                  <a:pt x="0" y="25"/>
                </a:lnTo>
                <a:lnTo>
                  <a:pt x="0" y="31"/>
                </a:lnTo>
                <a:close/>
              </a:path>
            </a:pathLst>
          </a:custGeom>
          <a:solidFill>
            <a:srgbClr val="F3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1" name="Freeform 86"/>
          <p:cNvSpPr/>
          <p:nvPr/>
        </p:nvSpPr>
        <p:spPr bwMode="auto">
          <a:xfrm>
            <a:off x="3779514" y="4155932"/>
            <a:ext cx="42863" cy="30956"/>
          </a:xfrm>
          <a:custGeom>
            <a:avLst/>
            <a:gdLst>
              <a:gd name="T0" fmla="*/ 3175 w 36"/>
              <a:gd name="T1" fmla="*/ 41275 h 26"/>
              <a:gd name="T2" fmla="*/ 57150 w 36"/>
              <a:gd name="T3" fmla="*/ 41275 h 26"/>
              <a:gd name="T4" fmla="*/ 57150 w 36"/>
              <a:gd name="T5" fmla="*/ 1588 h 26"/>
              <a:gd name="T6" fmla="*/ 41275 w 36"/>
              <a:gd name="T7" fmla="*/ 0 h 26"/>
              <a:gd name="T8" fmla="*/ 41275 w 36"/>
              <a:gd name="T9" fmla="*/ 28575 h 26"/>
              <a:gd name="T10" fmla="*/ 0 w 36"/>
              <a:gd name="T11" fmla="*/ 28575 h 26"/>
              <a:gd name="T12" fmla="*/ 3175 w 36"/>
              <a:gd name="T13" fmla="*/ 41275 h 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26">
                <a:moveTo>
                  <a:pt x="2" y="26"/>
                </a:moveTo>
                <a:lnTo>
                  <a:pt x="36" y="26"/>
                </a:lnTo>
                <a:lnTo>
                  <a:pt x="36" y="1"/>
                </a:lnTo>
                <a:lnTo>
                  <a:pt x="26" y="0"/>
                </a:lnTo>
                <a:lnTo>
                  <a:pt x="26" y="18"/>
                </a:lnTo>
                <a:lnTo>
                  <a:pt x="0" y="18"/>
                </a:lnTo>
                <a:lnTo>
                  <a:pt x="2" y="26"/>
                </a:lnTo>
                <a:close/>
              </a:path>
            </a:pathLst>
          </a:custGeom>
          <a:solidFill>
            <a:srgbClr val="F7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2" name="Freeform 87"/>
          <p:cNvSpPr/>
          <p:nvPr/>
        </p:nvSpPr>
        <p:spPr bwMode="auto">
          <a:xfrm>
            <a:off x="3779515" y="4155932"/>
            <a:ext cx="30956" cy="21431"/>
          </a:xfrm>
          <a:custGeom>
            <a:avLst/>
            <a:gdLst>
              <a:gd name="T0" fmla="*/ 0 w 26"/>
              <a:gd name="T1" fmla="*/ 28575 h 18"/>
              <a:gd name="T2" fmla="*/ 41275 w 26"/>
              <a:gd name="T3" fmla="*/ 28575 h 18"/>
              <a:gd name="T4" fmla="*/ 41275 w 26"/>
              <a:gd name="T5" fmla="*/ 0 h 18"/>
              <a:gd name="T6" fmla="*/ 22225 w 26"/>
              <a:gd name="T7" fmla="*/ 1588 h 18"/>
              <a:gd name="T8" fmla="*/ 22225 w 26"/>
              <a:gd name="T9" fmla="*/ 15875 h 18"/>
              <a:gd name="T10" fmla="*/ 3175 w 26"/>
              <a:gd name="T11" fmla="*/ 15875 h 18"/>
              <a:gd name="T12" fmla="*/ 0 w 26"/>
              <a:gd name="T13" fmla="*/ 28575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18">
                <a:moveTo>
                  <a:pt x="0" y="18"/>
                </a:moveTo>
                <a:lnTo>
                  <a:pt x="26" y="18"/>
                </a:lnTo>
                <a:lnTo>
                  <a:pt x="26" y="0"/>
                </a:lnTo>
                <a:lnTo>
                  <a:pt x="14" y="1"/>
                </a:lnTo>
                <a:lnTo>
                  <a:pt x="14" y="10"/>
                </a:lnTo>
                <a:lnTo>
                  <a:pt x="2" y="10"/>
                </a:lnTo>
                <a:lnTo>
                  <a:pt x="0" y="18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3" name="Freeform 88"/>
          <p:cNvSpPr/>
          <p:nvPr/>
        </p:nvSpPr>
        <p:spPr bwMode="auto">
          <a:xfrm>
            <a:off x="3779515" y="4155932"/>
            <a:ext cx="16669" cy="11906"/>
          </a:xfrm>
          <a:custGeom>
            <a:avLst/>
            <a:gdLst>
              <a:gd name="T0" fmla="*/ 3175 w 14"/>
              <a:gd name="T1" fmla="*/ 15875 h 10"/>
              <a:gd name="T2" fmla="*/ 22225 w 14"/>
              <a:gd name="T3" fmla="*/ 15875 h 10"/>
              <a:gd name="T4" fmla="*/ 22225 w 14"/>
              <a:gd name="T5" fmla="*/ 1588 h 10"/>
              <a:gd name="T6" fmla="*/ 3175 w 14"/>
              <a:gd name="T7" fmla="*/ 0 h 10"/>
              <a:gd name="T8" fmla="*/ 3175 w 14"/>
              <a:gd name="T9" fmla="*/ 1588 h 10"/>
              <a:gd name="T10" fmla="*/ 0 w 14"/>
              <a:gd name="T11" fmla="*/ 1588 h 10"/>
              <a:gd name="T12" fmla="*/ 3175 w 14"/>
              <a:gd name="T13" fmla="*/ 15875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2" y="10"/>
                </a:moveTo>
                <a:lnTo>
                  <a:pt x="14" y="10"/>
                </a:lnTo>
                <a:lnTo>
                  <a:pt x="14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2" y="1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4" name="Freeform 89"/>
          <p:cNvSpPr/>
          <p:nvPr/>
        </p:nvSpPr>
        <p:spPr bwMode="auto">
          <a:xfrm>
            <a:off x="3779515" y="4155932"/>
            <a:ext cx="2381" cy="1191"/>
          </a:xfrm>
          <a:custGeom>
            <a:avLst/>
            <a:gdLst>
              <a:gd name="T0" fmla="*/ 0 w 2"/>
              <a:gd name="T1" fmla="*/ 1588 h 1"/>
              <a:gd name="T2" fmla="*/ 3175 w 2"/>
              <a:gd name="T3" fmla="*/ 1588 h 1"/>
              <a:gd name="T4" fmla="*/ 3175 w 2"/>
              <a:gd name="T5" fmla="*/ 0 h 1"/>
              <a:gd name="T6" fmla="*/ 3175 w 2"/>
              <a:gd name="T7" fmla="*/ 1588 h 1"/>
              <a:gd name="T8" fmla="*/ 3175 w 2"/>
              <a:gd name="T9" fmla="*/ 1588 h 1"/>
              <a:gd name="T10" fmla="*/ 3175 w 2"/>
              <a:gd name="T11" fmla="*/ 1588 h 1"/>
              <a:gd name="T12" fmla="*/ 0 w 2"/>
              <a:gd name="T13" fmla="*/ 1588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5" name="Freeform 90"/>
          <p:cNvSpPr/>
          <p:nvPr/>
        </p:nvSpPr>
        <p:spPr bwMode="auto">
          <a:xfrm>
            <a:off x="3765227" y="4142835"/>
            <a:ext cx="273844" cy="203597"/>
          </a:xfrm>
          <a:custGeom>
            <a:avLst/>
            <a:gdLst>
              <a:gd name="T0" fmla="*/ 365125 w 230"/>
              <a:gd name="T1" fmla="*/ 0 h 171"/>
              <a:gd name="T2" fmla="*/ 0 w 230"/>
              <a:gd name="T3" fmla="*/ 0 h 171"/>
              <a:gd name="T4" fmla="*/ 0 w 230"/>
              <a:gd name="T5" fmla="*/ 271462 h 171"/>
              <a:gd name="T6" fmla="*/ 6350 w 230"/>
              <a:gd name="T7" fmla="*/ 271462 h 171"/>
              <a:gd name="T8" fmla="*/ 6350 w 230"/>
              <a:gd name="T9" fmla="*/ 3175 h 171"/>
              <a:gd name="T10" fmla="*/ 365125 w 230"/>
              <a:gd name="T11" fmla="*/ 3175 h 171"/>
              <a:gd name="T12" fmla="*/ 365125 w 230"/>
              <a:gd name="T13" fmla="*/ 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0" h="171">
                <a:moveTo>
                  <a:pt x="230" y="0"/>
                </a:moveTo>
                <a:lnTo>
                  <a:pt x="0" y="0"/>
                </a:lnTo>
                <a:lnTo>
                  <a:pt x="0" y="171"/>
                </a:lnTo>
                <a:lnTo>
                  <a:pt x="4" y="171"/>
                </a:lnTo>
                <a:lnTo>
                  <a:pt x="4" y="2"/>
                </a:lnTo>
                <a:lnTo>
                  <a:pt x="230" y="2"/>
                </a:lnTo>
                <a:lnTo>
                  <a:pt x="23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6" name="Freeform 91"/>
          <p:cNvSpPr/>
          <p:nvPr/>
        </p:nvSpPr>
        <p:spPr bwMode="auto">
          <a:xfrm>
            <a:off x="3769990" y="4145217"/>
            <a:ext cx="269081" cy="201215"/>
          </a:xfrm>
          <a:custGeom>
            <a:avLst/>
            <a:gdLst>
              <a:gd name="T0" fmla="*/ 358775 w 226"/>
              <a:gd name="T1" fmla="*/ 0 h 169"/>
              <a:gd name="T2" fmla="*/ 0 w 226"/>
              <a:gd name="T3" fmla="*/ 0 h 169"/>
              <a:gd name="T4" fmla="*/ 0 w 226"/>
              <a:gd name="T5" fmla="*/ 268287 h 169"/>
              <a:gd name="T6" fmla="*/ 7938 w 226"/>
              <a:gd name="T7" fmla="*/ 268287 h 169"/>
              <a:gd name="T8" fmla="*/ 7938 w 226"/>
              <a:gd name="T9" fmla="*/ 6350 h 169"/>
              <a:gd name="T10" fmla="*/ 358775 w 226"/>
              <a:gd name="T11" fmla="*/ 6350 h 169"/>
              <a:gd name="T12" fmla="*/ 358775 w 226"/>
              <a:gd name="T13" fmla="*/ 0 h 1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" h="169">
                <a:moveTo>
                  <a:pt x="226" y="0"/>
                </a:moveTo>
                <a:lnTo>
                  <a:pt x="0" y="0"/>
                </a:lnTo>
                <a:lnTo>
                  <a:pt x="0" y="169"/>
                </a:lnTo>
                <a:lnTo>
                  <a:pt x="5" y="169"/>
                </a:lnTo>
                <a:lnTo>
                  <a:pt x="5" y="4"/>
                </a:lnTo>
                <a:lnTo>
                  <a:pt x="226" y="4"/>
                </a:lnTo>
                <a:lnTo>
                  <a:pt x="226" y="0"/>
                </a:lnTo>
                <a:close/>
              </a:path>
            </a:pathLst>
          </a:custGeom>
          <a:solidFill>
            <a:srgbClr val="9D9D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7" name="Freeform 92"/>
          <p:cNvSpPr/>
          <p:nvPr/>
        </p:nvSpPr>
        <p:spPr bwMode="auto">
          <a:xfrm>
            <a:off x="3775942" y="4149979"/>
            <a:ext cx="263129" cy="196453"/>
          </a:xfrm>
          <a:custGeom>
            <a:avLst/>
            <a:gdLst>
              <a:gd name="T0" fmla="*/ 350838 w 221"/>
              <a:gd name="T1" fmla="*/ 0 h 165"/>
              <a:gd name="T2" fmla="*/ 0 w 221"/>
              <a:gd name="T3" fmla="*/ 0 h 165"/>
              <a:gd name="T4" fmla="*/ 0 w 221"/>
              <a:gd name="T5" fmla="*/ 261937 h 165"/>
              <a:gd name="T6" fmla="*/ 7938 w 221"/>
              <a:gd name="T7" fmla="*/ 261937 h 165"/>
              <a:gd name="T8" fmla="*/ 7938 w 221"/>
              <a:gd name="T9" fmla="*/ 6350 h 165"/>
              <a:gd name="T10" fmla="*/ 350838 w 221"/>
              <a:gd name="T11" fmla="*/ 6350 h 165"/>
              <a:gd name="T12" fmla="*/ 350838 w 221"/>
              <a:gd name="T13" fmla="*/ 0 h 1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1" h="165">
                <a:moveTo>
                  <a:pt x="221" y="0"/>
                </a:moveTo>
                <a:lnTo>
                  <a:pt x="0" y="0"/>
                </a:lnTo>
                <a:lnTo>
                  <a:pt x="0" y="165"/>
                </a:lnTo>
                <a:lnTo>
                  <a:pt x="5" y="165"/>
                </a:lnTo>
                <a:lnTo>
                  <a:pt x="5" y="4"/>
                </a:lnTo>
                <a:lnTo>
                  <a:pt x="221" y="4"/>
                </a:lnTo>
                <a:lnTo>
                  <a:pt x="221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8" name="Freeform 93"/>
          <p:cNvSpPr/>
          <p:nvPr/>
        </p:nvSpPr>
        <p:spPr bwMode="auto">
          <a:xfrm>
            <a:off x="3781896" y="4154742"/>
            <a:ext cx="257175" cy="191690"/>
          </a:xfrm>
          <a:custGeom>
            <a:avLst/>
            <a:gdLst>
              <a:gd name="T0" fmla="*/ 342900 w 216"/>
              <a:gd name="T1" fmla="*/ 0 h 161"/>
              <a:gd name="T2" fmla="*/ 0 w 216"/>
              <a:gd name="T3" fmla="*/ 0 h 161"/>
              <a:gd name="T4" fmla="*/ 0 w 216"/>
              <a:gd name="T5" fmla="*/ 255587 h 161"/>
              <a:gd name="T6" fmla="*/ 7938 w 216"/>
              <a:gd name="T7" fmla="*/ 255587 h 161"/>
              <a:gd name="T8" fmla="*/ 7938 w 216"/>
              <a:gd name="T9" fmla="*/ 6350 h 161"/>
              <a:gd name="T10" fmla="*/ 342900 w 216"/>
              <a:gd name="T11" fmla="*/ 6350 h 161"/>
              <a:gd name="T12" fmla="*/ 342900 w 216"/>
              <a:gd name="T13" fmla="*/ 0 h 1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61">
                <a:moveTo>
                  <a:pt x="216" y="0"/>
                </a:moveTo>
                <a:lnTo>
                  <a:pt x="0" y="0"/>
                </a:lnTo>
                <a:lnTo>
                  <a:pt x="0" y="161"/>
                </a:lnTo>
                <a:lnTo>
                  <a:pt x="5" y="161"/>
                </a:lnTo>
                <a:lnTo>
                  <a:pt x="5" y="4"/>
                </a:lnTo>
                <a:lnTo>
                  <a:pt x="216" y="4"/>
                </a:lnTo>
                <a:lnTo>
                  <a:pt x="216" y="0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29" name="Freeform 94"/>
          <p:cNvSpPr/>
          <p:nvPr/>
        </p:nvSpPr>
        <p:spPr bwMode="auto">
          <a:xfrm>
            <a:off x="3787849" y="4159504"/>
            <a:ext cx="251222" cy="186928"/>
          </a:xfrm>
          <a:custGeom>
            <a:avLst/>
            <a:gdLst>
              <a:gd name="T0" fmla="*/ 334963 w 211"/>
              <a:gd name="T1" fmla="*/ 0 h 157"/>
              <a:gd name="T2" fmla="*/ 0 w 211"/>
              <a:gd name="T3" fmla="*/ 0 h 157"/>
              <a:gd name="T4" fmla="*/ 0 w 211"/>
              <a:gd name="T5" fmla="*/ 249237 h 157"/>
              <a:gd name="T6" fmla="*/ 7938 w 211"/>
              <a:gd name="T7" fmla="*/ 249237 h 157"/>
              <a:gd name="T8" fmla="*/ 7938 w 211"/>
              <a:gd name="T9" fmla="*/ 6350 h 157"/>
              <a:gd name="T10" fmla="*/ 334963 w 211"/>
              <a:gd name="T11" fmla="*/ 6350 h 157"/>
              <a:gd name="T12" fmla="*/ 334963 w 211"/>
              <a:gd name="T13" fmla="*/ 0 h 1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1" h="157">
                <a:moveTo>
                  <a:pt x="211" y="0"/>
                </a:moveTo>
                <a:lnTo>
                  <a:pt x="0" y="0"/>
                </a:lnTo>
                <a:lnTo>
                  <a:pt x="0" y="157"/>
                </a:lnTo>
                <a:lnTo>
                  <a:pt x="5" y="157"/>
                </a:lnTo>
                <a:lnTo>
                  <a:pt x="5" y="4"/>
                </a:lnTo>
                <a:lnTo>
                  <a:pt x="211" y="4"/>
                </a:lnTo>
                <a:lnTo>
                  <a:pt x="21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0" name="Freeform 95"/>
          <p:cNvSpPr/>
          <p:nvPr/>
        </p:nvSpPr>
        <p:spPr bwMode="auto">
          <a:xfrm>
            <a:off x="3793802" y="4164267"/>
            <a:ext cx="245269" cy="182165"/>
          </a:xfrm>
          <a:custGeom>
            <a:avLst/>
            <a:gdLst>
              <a:gd name="T0" fmla="*/ 327025 w 206"/>
              <a:gd name="T1" fmla="*/ 0 h 153"/>
              <a:gd name="T2" fmla="*/ 0 w 206"/>
              <a:gd name="T3" fmla="*/ 0 h 153"/>
              <a:gd name="T4" fmla="*/ 0 w 206"/>
              <a:gd name="T5" fmla="*/ 242887 h 153"/>
              <a:gd name="T6" fmla="*/ 7938 w 206"/>
              <a:gd name="T7" fmla="*/ 242887 h 153"/>
              <a:gd name="T8" fmla="*/ 7938 w 206"/>
              <a:gd name="T9" fmla="*/ 4762 h 153"/>
              <a:gd name="T10" fmla="*/ 327025 w 206"/>
              <a:gd name="T11" fmla="*/ 4762 h 153"/>
              <a:gd name="T12" fmla="*/ 327025 w 206"/>
              <a:gd name="T13" fmla="*/ 0 h 1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6" h="153">
                <a:moveTo>
                  <a:pt x="206" y="0"/>
                </a:moveTo>
                <a:lnTo>
                  <a:pt x="0" y="0"/>
                </a:lnTo>
                <a:lnTo>
                  <a:pt x="0" y="153"/>
                </a:lnTo>
                <a:lnTo>
                  <a:pt x="5" y="153"/>
                </a:lnTo>
                <a:lnTo>
                  <a:pt x="5" y="3"/>
                </a:lnTo>
                <a:lnTo>
                  <a:pt x="206" y="3"/>
                </a:lnTo>
                <a:lnTo>
                  <a:pt x="206" y="0"/>
                </a:lnTo>
                <a:close/>
              </a:path>
            </a:pathLst>
          </a:custGeom>
          <a:solidFill>
            <a:srgbClr val="A9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1" name="Freeform 96"/>
          <p:cNvSpPr/>
          <p:nvPr/>
        </p:nvSpPr>
        <p:spPr bwMode="auto">
          <a:xfrm>
            <a:off x="3799755" y="4167838"/>
            <a:ext cx="239316" cy="178594"/>
          </a:xfrm>
          <a:custGeom>
            <a:avLst/>
            <a:gdLst>
              <a:gd name="T0" fmla="*/ 319088 w 201"/>
              <a:gd name="T1" fmla="*/ 0 h 150"/>
              <a:gd name="T2" fmla="*/ 0 w 201"/>
              <a:gd name="T3" fmla="*/ 0 h 150"/>
              <a:gd name="T4" fmla="*/ 0 w 201"/>
              <a:gd name="T5" fmla="*/ 238125 h 150"/>
              <a:gd name="T6" fmla="*/ 7938 w 201"/>
              <a:gd name="T7" fmla="*/ 238125 h 150"/>
              <a:gd name="T8" fmla="*/ 7938 w 201"/>
              <a:gd name="T9" fmla="*/ 6350 h 150"/>
              <a:gd name="T10" fmla="*/ 319088 w 201"/>
              <a:gd name="T11" fmla="*/ 6350 h 150"/>
              <a:gd name="T12" fmla="*/ 319088 w 201"/>
              <a:gd name="T13" fmla="*/ 0 h 1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1" h="150">
                <a:moveTo>
                  <a:pt x="201" y="0"/>
                </a:moveTo>
                <a:lnTo>
                  <a:pt x="0" y="0"/>
                </a:lnTo>
                <a:lnTo>
                  <a:pt x="0" y="150"/>
                </a:lnTo>
                <a:lnTo>
                  <a:pt x="5" y="150"/>
                </a:lnTo>
                <a:lnTo>
                  <a:pt x="5" y="4"/>
                </a:lnTo>
                <a:lnTo>
                  <a:pt x="201" y="4"/>
                </a:lnTo>
                <a:lnTo>
                  <a:pt x="201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2" name="Freeform 97"/>
          <p:cNvSpPr/>
          <p:nvPr/>
        </p:nvSpPr>
        <p:spPr bwMode="auto">
          <a:xfrm>
            <a:off x="3805708" y="4172601"/>
            <a:ext cx="233363" cy="173831"/>
          </a:xfrm>
          <a:custGeom>
            <a:avLst/>
            <a:gdLst>
              <a:gd name="T0" fmla="*/ 311150 w 196"/>
              <a:gd name="T1" fmla="*/ 0 h 146"/>
              <a:gd name="T2" fmla="*/ 0 w 196"/>
              <a:gd name="T3" fmla="*/ 0 h 146"/>
              <a:gd name="T4" fmla="*/ 0 w 196"/>
              <a:gd name="T5" fmla="*/ 231775 h 146"/>
              <a:gd name="T6" fmla="*/ 7938 w 196"/>
              <a:gd name="T7" fmla="*/ 231775 h 146"/>
              <a:gd name="T8" fmla="*/ 7938 w 196"/>
              <a:gd name="T9" fmla="*/ 6350 h 146"/>
              <a:gd name="T10" fmla="*/ 311150 w 196"/>
              <a:gd name="T11" fmla="*/ 6350 h 146"/>
              <a:gd name="T12" fmla="*/ 311150 w 196"/>
              <a:gd name="T13" fmla="*/ 0 h 1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6" h="146">
                <a:moveTo>
                  <a:pt x="196" y="0"/>
                </a:moveTo>
                <a:lnTo>
                  <a:pt x="0" y="0"/>
                </a:lnTo>
                <a:lnTo>
                  <a:pt x="0" y="146"/>
                </a:lnTo>
                <a:lnTo>
                  <a:pt x="5" y="146"/>
                </a:lnTo>
                <a:lnTo>
                  <a:pt x="5" y="4"/>
                </a:lnTo>
                <a:lnTo>
                  <a:pt x="196" y="4"/>
                </a:lnTo>
                <a:lnTo>
                  <a:pt x="196" y="0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3" name="Freeform 98"/>
          <p:cNvSpPr/>
          <p:nvPr/>
        </p:nvSpPr>
        <p:spPr bwMode="auto">
          <a:xfrm>
            <a:off x="3811661" y="4177363"/>
            <a:ext cx="227410" cy="169069"/>
          </a:xfrm>
          <a:custGeom>
            <a:avLst/>
            <a:gdLst>
              <a:gd name="T0" fmla="*/ 303213 w 191"/>
              <a:gd name="T1" fmla="*/ 0 h 142"/>
              <a:gd name="T2" fmla="*/ 0 w 191"/>
              <a:gd name="T3" fmla="*/ 0 h 142"/>
              <a:gd name="T4" fmla="*/ 0 w 191"/>
              <a:gd name="T5" fmla="*/ 225425 h 142"/>
              <a:gd name="T6" fmla="*/ 7938 w 191"/>
              <a:gd name="T7" fmla="*/ 225425 h 142"/>
              <a:gd name="T8" fmla="*/ 7938 w 191"/>
              <a:gd name="T9" fmla="*/ 6350 h 142"/>
              <a:gd name="T10" fmla="*/ 303213 w 191"/>
              <a:gd name="T11" fmla="*/ 6350 h 142"/>
              <a:gd name="T12" fmla="*/ 303213 w 191"/>
              <a:gd name="T13" fmla="*/ 0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1" h="142">
                <a:moveTo>
                  <a:pt x="191" y="0"/>
                </a:moveTo>
                <a:lnTo>
                  <a:pt x="0" y="0"/>
                </a:lnTo>
                <a:lnTo>
                  <a:pt x="0" y="142"/>
                </a:lnTo>
                <a:lnTo>
                  <a:pt x="5" y="142"/>
                </a:lnTo>
                <a:lnTo>
                  <a:pt x="5" y="4"/>
                </a:lnTo>
                <a:lnTo>
                  <a:pt x="191" y="4"/>
                </a:lnTo>
                <a:lnTo>
                  <a:pt x="191" y="0"/>
                </a:lnTo>
                <a:close/>
              </a:path>
            </a:pathLst>
          </a:custGeom>
          <a:solidFill>
            <a:srgbClr val="B1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4" name="Freeform 99"/>
          <p:cNvSpPr/>
          <p:nvPr/>
        </p:nvSpPr>
        <p:spPr bwMode="auto">
          <a:xfrm>
            <a:off x="3817615" y="4182126"/>
            <a:ext cx="221456" cy="164306"/>
          </a:xfrm>
          <a:custGeom>
            <a:avLst/>
            <a:gdLst>
              <a:gd name="T0" fmla="*/ 295275 w 186"/>
              <a:gd name="T1" fmla="*/ 0 h 138"/>
              <a:gd name="T2" fmla="*/ 0 w 186"/>
              <a:gd name="T3" fmla="*/ 0 h 138"/>
              <a:gd name="T4" fmla="*/ 0 w 186"/>
              <a:gd name="T5" fmla="*/ 219075 h 138"/>
              <a:gd name="T6" fmla="*/ 7938 w 186"/>
              <a:gd name="T7" fmla="*/ 219075 h 138"/>
              <a:gd name="T8" fmla="*/ 7938 w 186"/>
              <a:gd name="T9" fmla="*/ 6350 h 138"/>
              <a:gd name="T10" fmla="*/ 295275 w 186"/>
              <a:gd name="T11" fmla="*/ 6350 h 138"/>
              <a:gd name="T12" fmla="*/ 295275 w 186"/>
              <a:gd name="T13" fmla="*/ 0 h 1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8">
                <a:moveTo>
                  <a:pt x="186" y="0"/>
                </a:moveTo>
                <a:lnTo>
                  <a:pt x="0" y="0"/>
                </a:lnTo>
                <a:lnTo>
                  <a:pt x="0" y="138"/>
                </a:lnTo>
                <a:lnTo>
                  <a:pt x="5" y="138"/>
                </a:lnTo>
                <a:lnTo>
                  <a:pt x="5" y="4"/>
                </a:lnTo>
                <a:lnTo>
                  <a:pt x="186" y="4"/>
                </a:lnTo>
                <a:lnTo>
                  <a:pt x="186" y="0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5" name="Freeform 100"/>
          <p:cNvSpPr/>
          <p:nvPr/>
        </p:nvSpPr>
        <p:spPr bwMode="auto">
          <a:xfrm>
            <a:off x="3823567" y="4186888"/>
            <a:ext cx="215504" cy="159544"/>
          </a:xfrm>
          <a:custGeom>
            <a:avLst/>
            <a:gdLst>
              <a:gd name="T0" fmla="*/ 287338 w 181"/>
              <a:gd name="T1" fmla="*/ 0 h 134"/>
              <a:gd name="T2" fmla="*/ 0 w 181"/>
              <a:gd name="T3" fmla="*/ 0 h 134"/>
              <a:gd name="T4" fmla="*/ 0 w 181"/>
              <a:gd name="T5" fmla="*/ 212725 h 134"/>
              <a:gd name="T6" fmla="*/ 11113 w 181"/>
              <a:gd name="T7" fmla="*/ 212725 h 134"/>
              <a:gd name="T8" fmla="*/ 11113 w 181"/>
              <a:gd name="T9" fmla="*/ 4763 h 134"/>
              <a:gd name="T10" fmla="*/ 287338 w 181"/>
              <a:gd name="T11" fmla="*/ 4763 h 134"/>
              <a:gd name="T12" fmla="*/ 287338 w 181"/>
              <a:gd name="T13" fmla="*/ 0 h 1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1" h="134">
                <a:moveTo>
                  <a:pt x="181" y="0"/>
                </a:moveTo>
                <a:lnTo>
                  <a:pt x="0" y="0"/>
                </a:lnTo>
                <a:lnTo>
                  <a:pt x="0" y="134"/>
                </a:lnTo>
                <a:lnTo>
                  <a:pt x="7" y="134"/>
                </a:lnTo>
                <a:lnTo>
                  <a:pt x="7" y="3"/>
                </a:lnTo>
                <a:lnTo>
                  <a:pt x="181" y="3"/>
                </a:lnTo>
                <a:lnTo>
                  <a:pt x="181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6" name="Freeform 101"/>
          <p:cNvSpPr/>
          <p:nvPr/>
        </p:nvSpPr>
        <p:spPr bwMode="auto">
          <a:xfrm>
            <a:off x="3831902" y="4190460"/>
            <a:ext cx="207169" cy="155972"/>
          </a:xfrm>
          <a:custGeom>
            <a:avLst/>
            <a:gdLst>
              <a:gd name="T0" fmla="*/ 276225 w 174"/>
              <a:gd name="T1" fmla="*/ 0 h 131"/>
              <a:gd name="T2" fmla="*/ 0 w 174"/>
              <a:gd name="T3" fmla="*/ 0 h 131"/>
              <a:gd name="T4" fmla="*/ 0 w 174"/>
              <a:gd name="T5" fmla="*/ 207962 h 131"/>
              <a:gd name="T6" fmla="*/ 7938 w 174"/>
              <a:gd name="T7" fmla="*/ 207962 h 131"/>
              <a:gd name="T8" fmla="*/ 7938 w 174"/>
              <a:gd name="T9" fmla="*/ 6350 h 131"/>
              <a:gd name="T10" fmla="*/ 276225 w 174"/>
              <a:gd name="T11" fmla="*/ 6350 h 131"/>
              <a:gd name="T12" fmla="*/ 276225 w 174"/>
              <a:gd name="T13" fmla="*/ 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4" h="131">
                <a:moveTo>
                  <a:pt x="174" y="0"/>
                </a:moveTo>
                <a:lnTo>
                  <a:pt x="0" y="0"/>
                </a:lnTo>
                <a:lnTo>
                  <a:pt x="0" y="131"/>
                </a:lnTo>
                <a:lnTo>
                  <a:pt x="5" y="131"/>
                </a:lnTo>
                <a:lnTo>
                  <a:pt x="5" y="4"/>
                </a:lnTo>
                <a:lnTo>
                  <a:pt x="174" y="4"/>
                </a:lnTo>
                <a:lnTo>
                  <a:pt x="174" y="0"/>
                </a:lnTo>
                <a:close/>
              </a:path>
            </a:pathLst>
          </a:custGeom>
          <a:solidFill>
            <a:srgbClr val="B8B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7" name="Freeform 102"/>
          <p:cNvSpPr/>
          <p:nvPr/>
        </p:nvSpPr>
        <p:spPr bwMode="auto">
          <a:xfrm>
            <a:off x="3837855" y="4195223"/>
            <a:ext cx="201216" cy="151209"/>
          </a:xfrm>
          <a:custGeom>
            <a:avLst/>
            <a:gdLst>
              <a:gd name="T0" fmla="*/ 268288 w 169"/>
              <a:gd name="T1" fmla="*/ 0 h 127"/>
              <a:gd name="T2" fmla="*/ 0 w 169"/>
              <a:gd name="T3" fmla="*/ 0 h 127"/>
              <a:gd name="T4" fmla="*/ 0 w 169"/>
              <a:gd name="T5" fmla="*/ 201612 h 127"/>
              <a:gd name="T6" fmla="*/ 9525 w 169"/>
              <a:gd name="T7" fmla="*/ 201612 h 127"/>
              <a:gd name="T8" fmla="*/ 9525 w 169"/>
              <a:gd name="T9" fmla="*/ 7937 h 127"/>
              <a:gd name="T10" fmla="*/ 268288 w 169"/>
              <a:gd name="T11" fmla="*/ 7937 h 127"/>
              <a:gd name="T12" fmla="*/ 268288 w 169"/>
              <a:gd name="T13" fmla="*/ 0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9" h="127">
                <a:moveTo>
                  <a:pt x="169" y="0"/>
                </a:moveTo>
                <a:lnTo>
                  <a:pt x="0" y="0"/>
                </a:lnTo>
                <a:lnTo>
                  <a:pt x="0" y="127"/>
                </a:lnTo>
                <a:lnTo>
                  <a:pt x="6" y="127"/>
                </a:lnTo>
                <a:lnTo>
                  <a:pt x="6" y="5"/>
                </a:lnTo>
                <a:lnTo>
                  <a:pt x="169" y="5"/>
                </a:lnTo>
                <a:lnTo>
                  <a:pt x="169" y="0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8" name="Freeform 103"/>
          <p:cNvSpPr/>
          <p:nvPr/>
        </p:nvSpPr>
        <p:spPr bwMode="auto">
          <a:xfrm>
            <a:off x="3844999" y="4201176"/>
            <a:ext cx="194072" cy="145256"/>
          </a:xfrm>
          <a:custGeom>
            <a:avLst/>
            <a:gdLst>
              <a:gd name="T0" fmla="*/ 258763 w 163"/>
              <a:gd name="T1" fmla="*/ 0 h 122"/>
              <a:gd name="T2" fmla="*/ 0 w 163"/>
              <a:gd name="T3" fmla="*/ 0 h 122"/>
              <a:gd name="T4" fmla="*/ 0 w 163"/>
              <a:gd name="T5" fmla="*/ 193675 h 122"/>
              <a:gd name="T6" fmla="*/ 7938 w 163"/>
              <a:gd name="T7" fmla="*/ 193675 h 122"/>
              <a:gd name="T8" fmla="*/ 7938 w 163"/>
              <a:gd name="T9" fmla="*/ 6350 h 122"/>
              <a:gd name="T10" fmla="*/ 258763 w 163"/>
              <a:gd name="T11" fmla="*/ 6350 h 122"/>
              <a:gd name="T12" fmla="*/ 258763 w 163"/>
              <a:gd name="T13" fmla="*/ 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3" h="122">
                <a:moveTo>
                  <a:pt x="163" y="0"/>
                </a:moveTo>
                <a:lnTo>
                  <a:pt x="0" y="0"/>
                </a:lnTo>
                <a:lnTo>
                  <a:pt x="0" y="122"/>
                </a:lnTo>
                <a:lnTo>
                  <a:pt x="5" y="122"/>
                </a:lnTo>
                <a:lnTo>
                  <a:pt x="5" y="4"/>
                </a:lnTo>
                <a:lnTo>
                  <a:pt x="163" y="4"/>
                </a:lnTo>
                <a:lnTo>
                  <a:pt x="16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39" name="Freeform 104"/>
          <p:cNvSpPr/>
          <p:nvPr/>
        </p:nvSpPr>
        <p:spPr bwMode="auto">
          <a:xfrm>
            <a:off x="3850952" y="4205938"/>
            <a:ext cx="188119" cy="140494"/>
          </a:xfrm>
          <a:custGeom>
            <a:avLst/>
            <a:gdLst>
              <a:gd name="T0" fmla="*/ 250825 w 158"/>
              <a:gd name="T1" fmla="*/ 0 h 118"/>
              <a:gd name="T2" fmla="*/ 0 w 158"/>
              <a:gd name="T3" fmla="*/ 0 h 118"/>
              <a:gd name="T4" fmla="*/ 0 w 158"/>
              <a:gd name="T5" fmla="*/ 187325 h 118"/>
              <a:gd name="T6" fmla="*/ 9525 w 158"/>
              <a:gd name="T7" fmla="*/ 187325 h 118"/>
              <a:gd name="T8" fmla="*/ 9525 w 158"/>
              <a:gd name="T9" fmla="*/ 7938 h 118"/>
              <a:gd name="T10" fmla="*/ 250825 w 158"/>
              <a:gd name="T11" fmla="*/ 7938 h 118"/>
              <a:gd name="T12" fmla="*/ 250825 w 158"/>
              <a:gd name="T13" fmla="*/ 0 h 1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8">
                <a:moveTo>
                  <a:pt x="158" y="0"/>
                </a:moveTo>
                <a:lnTo>
                  <a:pt x="0" y="0"/>
                </a:lnTo>
                <a:lnTo>
                  <a:pt x="0" y="118"/>
                </a:lnTo>
                <a:lnTo>
                  <a:pt x="6" y="118"/>
                </a:lnTo>
                <a:lnTo>
                  <a:pt x="6" y="5"/>
                </a:lnTo>
                <a:lnTo>
                  <a:pt x="158" y="5"/>
                </a:lnTo>
                <a:lnTo>
                  <a:pt x="158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0" name="Freeform 105"/>
          <p:cNvSpPr/>
          <p:nvPr/>
        </p:nvSpPr>
        <p:spPr bwMode="auto">
          <a:xfrm>
            <a:off x="3858096" y="4211892"/>
            <a:ext cx="180975" cy="134540"/>
          </a:xfrm>
          <a:custGeom>
            <a:avLst/>
            <a:gdLst>
              <a:gd name="T0" fmla="*/ 241300 w 152"/>
              <a:gd name="T1" fmla="*/ 0 h 113"/>
              <a:gd name="T2" fmla="*/ 0 w 152"/>
              <a:gd name="T3" fmla="*/ 0 h 113"/>
              <a:gd name="T4" fmla="*/ 0 w 152"/>
              <a:gd name="T5" fmla="*/ 179387 h 113"/>
              <a:gd name="T6" fmla="*/ 11113 w 152"/>
              <a:gd name="T7" fmla="*/ 179387 h 113"/>
              <a:gd name="T8" fmla="*/ 11113 w 152"/>
              <a:gd name="T9" fmla="*/ 7937 h 113"/>
              <a:gd name="T10" fmla="*/ 241300 w 152"/>
              <a:gd name="T11" fmla="*/ 7937 h 113"/>
              <a:gd name="T12" fmla="*/ 241300 w 152"/>
              <a:gd name="T13" fmla="*/ 0 h 1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2" h="113">
                <a:moveTo>
                  <a:pt x="152" y="0"/>
                </a:moveTo>
                <a:lnTo>
                  <a:pt x="0" y="0"/>
                </a:lnTo>
                <a:lnTo>
                  <a:pt x="0" y="113"/>
                </a:lnTo>
                <a:lnTo>
                  <a:pt x="7" y="113"/>
                </a:lnTo>
                <a:lnTo>
                  <a:pt x="7" y="5"/>
                </a:lnTo>
                <a:lnTo>
                  <a:pt x="152" y="5"/>
                </a:lnTo>
                <a:lnTo>
                  <a:pt x="152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1" name="Freeform 106"/>
          <p:cNvSpPr/>
          <p:nvPr/>
        </p:nvSpPr>
        <p:spPr bwMode="auto">
          <a:xfrm>
            <a:off x="3866430" y="4217844"/>
            <a:ext cx="172641" cy="128588"/>
          </a:xfrm>
          <a:custGeom>
            <a:avLst/>
            <a:gdLst>
              <a:gd name="T0" fmla="*/ 230188 w 145"/>
              <a:gd name="T1" fmla="*/ 0 h 108"/>
              <a:gd name="T2" fmla="*/ 0 w 145"/>
              <a:gd name="T3" fmla="*/ 0 h 108"/>
              <a:gd name="T4" fmla="*/ 0 w 145"/>
              <a:gd name="T5" fmla="*/ 171450 h 108"/>
              <a:gd name="T6" fmla="*/ 11113 w 145"/>
              <a:gd name="T7" fmla="*/ 171450 h 108"/>
              <a:gd name="T8" fmla="*/ 11113 w 145"/>
              <a:gd name="T9" fmla="*/ 7938 h 108"/>
              <a:gd name="T10" fmla="*/ 230188 w 145"/>
              <a:gd name="T11" fmla="*/ 7938 h 108"/>
              <a:gd name="T12" fmla="*/ 230188 w 145"/>
              <a:gd name="T13" fmla="*/ 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" h="108">
                <a:moveTo>
                  <a:pt x="145" y="0"/>
                </a:moveTo>
                <a:lnTo>
                  <a:pt x="0" y="0"/>
                </a:lnTo>
                <a:lnTo>
                  <a:pt x="0" y="108"/>
                </a:lnTo>
                <a:lnTo>
                  <a:pt x="7" y="108"/>
                </a:lnTo>
                <a:lnTo>
                  <a:pt x="7" y="5"/>
                </a:lnTo>
                <a:lnTo>
                  <a:pt x="145" y="5"/>
                </a:lnTo>
                <a:lnTo>
                  <a:pt x="145" y="0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2" name="Freeform 107"/>
          <p:cNvSpPr/>
          <p:nvPr/>
        </p:nvSpPr>
        <p:spPr bwMode="auto">
          <a:xfrm>
            <a:off x="3874765" y="4223798"/>
            <a:ext cx="164306" cy="122634"/>
          </a:xfrm>
          <a:custGeom>
            <a:avLst/>
            <a:gdLst>
              <a:gd name="T0" fmla="*/ 219075 w 138"/>
              <a:gd name="T1" fmla="*/ 0 h 103"/>
              <a:gd name="T2" fmla="*/ 0 w 138"/>
              <a:gd name="T3" fmla="*/ 0 h 103"/>
              <a:gd name="T4" fmla="*/ 0 w 138"/>
              <a:gd name="T5" fmla="*/ 163512 h 103"/>
              <a:gd name="T6" fmla="*/ 11113 w 138"/>
              <a:gd name="T7" fmla="*/ 163512 h 103"/>
              <a:gd name="T8" fmla="*/ 11113 w 138"/>
              <a:gd name="T9" fmla="*/ 7937 h 103"/>
              <a:gd name="T10" fmla="*/ 219075 w 138"/>
              <a:gd name="T11" fmla="*/ 7937 h 103"/>
              <a:gd name="T12" fmla="*/ 219075 w 138"/>
              <a:gd name="T13" fmla="*/ 0 h 1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3">
                <a:moveTo>
                  <a:pt x="138" y="0"/>
                </a:moveTo>
                <a:lnTo>
                  <a:pt x="0" y="0"/>
                </a:lnTo>
                <a:lnTo>
                  <a:pt x="0" y="103"/>
                </a:lnTo>
                <a:lnTo>
                  <a:pt x="7" y="103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3" name="Freeform 108"/>
          <p:cNvSpPr/>
          <p:nvPr/>
        </p:nvSpPr>
        <p:spPr bwMode="auto">
          <a:xfrm>
            <a:off x="3883099" y="4229751"/>
            <a:ext cx="155972" cy="116681"/>
          </a:xfrm>
          <a:custGeom>
            <a:avLst/>
            <a:gdLst>
              <a:gd name="T0" fmla="*/ 207963 w 131"/>
              <a:gd name="T1" fmla="*/ 0 h 98"/>
              <a:gd name="T2" fmla="*/ 0 w 131"/>
              <a:gd name="T3" fmla="*/ 0 h 98"/>
              <a:gd name="T4" fmla="*/ 0 w 131"/>
              <a:gd name="T5" fmla="*/ 155575 h 98"/>
              <a:gd name="T6" fmla="*/ 11113 w 131"/>
              <a:gd name="T7" fmla="*/ 155575 h 98"/>
              <a:gd name="T8" fmla="*/ 11113 w 131"/>
              <a:gd name="T9" fmla="*/ 7938 h 98"/>
              <a:gd name="T10" fmla="*/ 207963 w 131"/>
              <a:gd name="T11" fmla="*/ 7938 h 98"/>
              <a:gd name="T12" fmla="*/ 207963 w 131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8">
                <a:moveTo>
                  <a:pt x="131" y="0"/>
                </a:moveTo>
                <a:lnTo>
                  <a:pt x="0" y="0"/>
                </a:lnTo>
                <a:lnTo>
                  <a:pt x="0" y="98"/>
                </a:lnTo>
                <a:lnTo>
                  <a:pt x="7" y="98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4" name="Freeform 109"/>
          <p:cNvSpPr/>
          <p:nvPr/>
        </p:nvSpPr>
        <p:spPr bwMode="auto">
          <a:xfrm>
            <a:off x="3891433" y="4235704"/>
            <a:ext cx="147638" cy="110728"/>
          </a:xfrm>
          <a:custGeom>
            <a:avLst/>
            <a:gdLst>
              <a:gd name="T0" fmla="*/ 196850 w 124"/>
              <a:gd name="T1" fmla="*/ 0 h 93"/>
              <a:gd name="T2" fmla="*/ 0 w 124"/>
              <a:gd name="T3" fmla="*/ 0 h 93"/>
              <a:gd name="T4" fmla="*/ 0 w 124"/>
              <a:gd name="T5" fmla="*/ 147637 h 93"/>
              <a:gd name="T6" fmla="*/ 12700 w 124"/>
              <a:gd name="T7" fmla="*/ 147637 h 93"/>
              <a:gd name="T8" fmla="*/ 12700 w 124"/>
              <a:gd name="T9" fmla="*/ 11112 h 93"/>
              <a:gd name="T10" fmla="*/ 196850 w 124"/>
              <a:gd name="T11" fmla="*/ 11112 h 93"/>
              <a:gd name="T12" fmla="*/ 196850 w 124"/>
              <a:gd name="T13" fmla="*/ 0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3">
                <a:moveTo>
                  <a:pt x="124" y="0"/>
                </a:moveTo>
                <a:lnTo>
                  <a:pt x="0" y="0"/>
                </a:lnTo>
                <a:lnTo>
                  <a:pt x="0" y="93"/>
                </a:lnTo>
                <a:lnTo>
                  <a:pt x="8" y="93"/>
                </a:lnTo>
                <a:lnTo>
                  <a:pt x="8" y="7"/>
                </a:lnTo>
                <a:lnTo>
                  <a:pt x="124" y="7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5" name="Freeform 110"/>
          <p:cNvSpPr/>
          <p:nvPr/>
        </p:nvSpPr>
        <p:spPr bwMode="auto">
          <a:xfrm>
            <a:off x="3900958" y="4244038"/>
            <a:ext cx="138113" cy="102394"/>
          </a:xfrm>
          <a:custGeom>
            <a:avLst/>
            <a:gdLst>
              <a:gd name="T0" fmla="*/ 184150 w 116"/>
              <a:gd name="T1" fmla="*/ 0 h 86"/>
              <a:gd name="T2" fmla="*/ 0 w 116"/>
              <a:gd name="T3" fmla="*/ 0 h 86"/>
              <a:gd name="T4" fmla="*/ 0 w 116"/>
              <a:gd name="T5" fmla="*/ 136525 h 86"/>
              <a:gd name="T6" fmla="*/ 14288 w 116"/>
              <a:gd name="T7" fmla="*/ 134938 h 86"/>
              <a:gd name="T8" fmla="*/ 14288 w 116"/>
              <a:gd name="T9" fmla="*/ 9525 h 86"/>
              <a:gd name="T10" fmla="*/ 182563 w 116"/>
              <a:gd name="T11" fmla="*/ 9525 h 86"/>
              <a:gd name="T12" fmla="*/ 184150 w 116"/>
              <a:gd name="T13" fmla="*/ 0 h 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6">
                <a:moveTo>
                  <a:pt x="116" y="0"/>
                </a:moveTo>
                <a:lnTo>
                  <a:pt x="0" y="0"/>
                </a:lnTo>
                <a:lnTo>
                  <a:pt x="0" y="86"/>
                </a:lnTo>
                <a:lnTo>
                  <a:pt x="9" y="85"/>
                </a:lnTo>
                <a:lnTo>
                  <a:pt x="9" y="6"/>
                </a:lnTo>
                <a:lnTo>
                  <a:pt x="115" y="6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6" name="Freeform 111"/>
          <p:cNvSpPr/>
          <p:nvPr/>
        </p:nvSpPr>
        <p:spPr bwMode="auto">
          <a:xfrm>
            <a:off x="3911674" y="4251182"/>
            <a:ext cx="126206" cy="94060"/>
          </a:xfrm>
          <a:custGeom>
            <a:avLst/>
            <a:gdLst>
              <a:gd name="T0" fmla="*/ 168275 w 106"/>
              <a:gd name="T1" fmla="*/ 0 h 79"/>
              <a:gd name="T2" fmla="*/ 0 w 106"/>
              <a:gd name="T3" fmla="*/ 0 h 79"/>
              <a:gd name="T4" fmla="*/ 0 w 106"/>
              <a:gd name="T5" fmla="*/ 125413 h 79"/>
              <a:gd name="T6" fmla="*/ 11113 w 106"/>
              <a:gd name="T7" fmla="*/ 125413 h 79"/>
              <a:gd name="T8" fmla="*/ 11113 w 106"/>
              <a:gd name="T9" fmla="*/ 9525 h 79"/>
              <a:gd name="T10" fmla="*/ 168275 w 106"/>
              <a:gd name="T11" fmla="*/ 9525 h 79"/>
              <a:gd name="T12" fmla="*/ 168275 w 106"/>
              <a:gd name="T13" fmla="*/ 0 h 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9">
                <a:moveTo>
                  <a:pt x="106" y="0"/>
                </a:moveTo>
                <a:lnTo>
                  <a:pt x="0" y="0"/>
                </a:lnTo>
                <a:lnTo>
                  <a:pt x="0" y="79"/>
                </a:lnTo>
                <a:lnTo>
                  <a:pt x="7" y="79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7" name="Freeform 112"/>
          <p:cNvSpPr/>
          <p:nvPr/>
        </p:nvSpPr>
        <p:spPr bwMode="auto">
          <a:xfrm>
            <a:off x="3920008" y="4258326"/>
            <a:ext cx="119063" cy="88106"/>
          </a:xfrm>
          <a:custGeom>
            <a:avLst/>
            <a:gdLst>
              <a:gd name="T0" fmla="*/ 157163 w 100"/>
              <a:gd name="T1" fmla="*/ 0 h 74"/>
              <a:gd name="T2" fmla="*/ 0 w 100"/>
              <a:gd name="T3" fmla="*/ 0 h 74"/>
              <a:gd name="T4" fmla="*/ 0 w 100"/>
              <a:gd name="T5" fmla="*/ 115888 h 74"/>
              <a:gd name="T6" fmla="*/ 14288 w 100"/>
              <a:gd name="T7" fmla="*/ 117475 h 74"/>
              <a:gd name="T8" fmla="*/ 14288 w 100"/>
              <a:gd name="T9" fmla="*/ 11113 h 74"/>
              <a:gd name="T10" fmla="*/ 158750 w 100"/>
              <a:gd name="T11" fmla="*/ 11113 h 74"/>
              <a:gd name="T12" fmla="*/ 157163 w 100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4">
                <a:moveTo>
                  <a:pt x="99" y="0"/>
                </a:moveTo>
                <a:lnTo>
                  <a:pt x="0" y="0"/>
                </a:lnTo>
                <a:lnTo>
                  <a:pt x="0" y="73"/>
                </a:lnTo>
                <a:lnTo>
                  <a:pt x="9" y="74"/>
                </a:lnTo>
                <a:lnTo>
                  <a:pt x="9" y="7"/>
                </a:lnTo>
                <a:lnTo>
                  <a:pt x="100" y="7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8" name="Freeform 113"/>
          <p:cNvSpPr/>
          <p:nvPr/>
        </p:nvSpPr>
        <p:spPr bwMode="auto">
          <a:xfrm>
            <a:off x="3930724" y="4266660"/>
            <a:ext cx="108347" cy="79772"/>
          </a:xfrm>
          <a:custGeom>
            <a:avLst/>
            <a:gdLst>
              <a:gd name="T0" fmla="*/ 144463 w 91"/>
              <a:gd name="T1" fmla="*/ 0 h 67"/>
              <a:gd name="T2" fmla="*/ 0 w 91"/>
              <a:gd name="T3" fmla="*/ 0 h 67"/>
              <a:gd name="T4" fmla="*/ 0 w 91"/>
              <a:gd name="T5" fmla="*/ 106362 h 67"/>
              <a:gd name="T6" fmla="*/ 15875 w 91"/>
              <a:gd name="T7" fmla="*/ 104775 h 67"/>
              <a:gd name="T8" fmla="*/ 15875 w 91"/>
              <a:gd name="T9" fmla="*/ 9525 h 67"/>
              <a:gd name="T10" fmla="*/ 142875 w 91"/>
              <a:gd name="T11" fmla="*/ 9525 h 67"/>
              <a:gd name="T12" fmla="*/ 144463 w 91"/>
              <a:gd name="T13" fmla="*/ 0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7">
                <a:moveTo>
                  <a:pt x="91" y="0"/>
                </a:moveTo>
                <a:lnTo>
                  <a:pt x="0" y="0"/>
                </a:lnTo>
                <a:lnTo>
                  <a:pt x="0" y="67"/>
                </a:lnTo>
                <a:lnTo>
                  <a:pt x="10" y="66"/>
                </a:lnTo>
                <a:lnTo>
                  <a:pt x="10" y="6"/>
                </a:lnTo>
                <a:lnTo>
                  <a:pt x="90" y="6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49" name="Freeform 114"/>
          <p:cNvSpPr/>
          <p:nvPr/>
        </p:nvSpPr>
        <p:spPr bwMode="auto">
          <a:xfrm>
            <a:off x="3942630" y="4273804"/>
            <a:ext cx="96441" cy="72628"/>
          </a:xfrm>
          <a:custGeom>
            <a:avLst/>
            <a:gdLst>
              <a:gd name="T0" fmla="*/ 127000 w 81"/>
              <a:gd name="T1" fmla="*/ 0 h 61"/>
              <a:gd name="T2" fmla="*/ 0 w 81"/>
              <a:gd name="T3" fmla="*/ 0 h 61"/>
              <a:gd name="T4" fmla="*/ 0 w 81"/>
              <a:gd name="T5" fmla="*/ 95250 h 61"/>
              <a:gd name="T6" fmla="*/ 15875 w 81"/>
              <a:gd name="T7" fmla="*/ 96837 h 61"/>
              <a:gd name="T8" fmla="*/ 15875 w 81"/>
              <a:gd name="T9" fmla="*/ 12700 h 61"/>
              <a:gd name="T10" fmla="*/ 128588 w 81"/>
              <a:gd name="T11" fmla="*/ 12700 h 61"/>
              <a:gd name="T12" fmla="*/ 127000 w 8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1">
                <a:moveTo>
                  <a:pt x="80" y="0"/>
                </a:moveTo>
                <a:lnTo>
                  <a:pt x="0" y="0"/>
                </a:lnTo>
                <a:lnTo>
                  <a:pt x="0" y="60"/>
                </a:lnTo>
                <a:lnTo>
                  <a:pt x="10" y="61"/>
                </a:lnTo>
                <a:lnTo>
                  <a:pt x="10" y="8"/>
                </a:lnTo>
                <a:lnTo>
                  <a:pt x="81" y="8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0" name="Freeform 115"/>
          <p:cNvSpPr/>
          <p:nvPr/>
        </p:nvSpPr>
        <p:spPr bwMode="auto">
          <a:xfrm>
            <a:off x="3954536" y="4283329"/>
            <a:ext cx="84535" cy="63103"/>
          </a:xfrm>
          <a:custGeom>
            <a:avLst/>
            <a:gdLst>
              <a:gd name="T0" fmla="*/ 112713 w 71"/>
              <a:gd name="T1" fmla="*/ 0 h 53"/>
              <a:gd name="T2" fmla="*/ 0 w 71"/>
              <a:gd name="T3" fmla="*/ 0 h 53"/>
              <a:gd name="T4" fmla="*/ 0 w 71"/>
              <a:gd name="T5" fmla="*/ 84137 h 53"/>
              <a:gd name="T6" fmla="*/ 17463 w 71"/>
              <a:gd name="T7" fmla="*/ 82550 h 53"/>
              <a:gd name="T8" fmla="*/ 17463 w 71"/>
              <a:gd name="T9" fmla="*/ 11112 h 53"/>
              <a:gd name="T10" fmla="*/ 111125 w 71"/>
              <a:gd name="T11" fmla="*/ 11112 h 53"/>
              <a:gd name="T12" fmla="*/ 112713 w 71"/>
              <a:gd name="T13" fmla="*/ 0 h 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3">
                <a:moveTo>
                  <a:pt x="71" y="0"/>
                </a:moveTo>
                <a:lnTo>
                  <a:pt x="0" y="0"/>
                </a:lnTo>
                <a:lnTo>
                  <a:pt x="0" y="53"/>
                </a:lnTo>
                <a:lnTo>
                  <a:pt x="11" y="52"/>
                </a:lnTo>
                <a:lnTo>
                  <a:pt x="11" y="7"/>
                </a:lnTo>
                <a:lnTo>
                  <a:pt x="70" y="7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1" name="Freeform 116"/>
          <p:cNvSpPr/>
          <p:nvPr/>
        </p:nvSpPr>
        <p:spPr bwMode="auto">
          <a:xfrm>
            <a:off x="3967633" y="4291663"/>
            <a:ext cx="70247" cy="53579"/>
          </a:xfrm>
          <a:custGeom>
            <a:avLst/>
            <a:gdLst>
              <a:gd name="T0" fmla="*/ 93662 w 59"/>
              <a:gd name="T1" fmla="*/ 0 h 45"/>
              <a:gd name="T2" fmla="*/ 0 w 59"/>
              <a:gd name="T3" fmla="*/ 0 h 45"/>
              <a:gd name="T4" fmla="*/ 0 w 59"/>
              <a:gd name="T5" fmla="*/ 71438 h 45"/>
              <a:gd name="T6" fmla="*/ 15875 w 59"/>
              <a:gd name="T7" fmla="*/ 71438 h 45"/>
              <a:gd name="T8" fmla="*/ 15875 w 59"/>
              <a:gd name="T9" fmla="*/ 12700 h 45"/>
              <a:gd name="T10" fmla="*/ 93662 w 59"/>
              <a:gd name="T11" fmla="*/ 12700 h 45"/>
              <a:gd name="T12" fmla="*/ 93662 w 59"/>
              <a:gd name="T13" fmla="*/ 0 h 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9" h="45">
                <a:moveTo>
                  <a:pt x="59" y="0"/>
                </a:moveTo>
                <a:lnTo>
                  <a:pt x="0" y="0"/>
                </a:lnTo>
                <a:lnTo>
                  <a:pt x="0" y="45"/>
                </a:lnTo>
                <a:lnTo>
                  <a:pt x="10" y="45"/>
                </a:lnTo>
                <a:lnTo>
                  <a:pt x="10" y="8"/>
                </a:lnTo>
                <a:lnTo>
                  <a:pt x="59" y="8"/>
                </a:lnTo>
                <a:lnTo>
                  <a:pt x="59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2" name="Freeform 117"/>
          <p:cNvSpPr/>
          <p:nvPr/>
        </p:nvSpPr>
        <p:spPr bwMode="auto">
          <a:xfrm>
            <a:off x="3979540" y="4301188"/>
            <a:ext cx="58340" cy="44054"/>
          </a:xfrm>
          <a:custGeom>
            <a:avLst/>
            <a:gdLst>
              <a:gd name="T0" fmla="*/ 77787 w 49"/>
              <a:gd name="T1" fmla="*/ 0 h 37"/>
              <a:gd name="T2" fmla="*/ 0 w 49"/>
              <a:gd name="T3" fmla="*/ 0 h 37"/>
              <a:gd name="T4" fmla="*/ 0 w 49"/>
              <a:gd name="T5" fmla="*/ 58738 h 37"/>
              <a:gd name="T6" fmla="*/ 17462 w 49"/>
              <a:gd name="T7" fmla="*/ 58738 h 37"/>
              <a:gd name="T8" fmla="*/ 17462 w 49"/>
              <a:gd name="T9" fmla="*/ 14288 h 37"/>
              <a:gd name="T10" fmla="*/ 77787 w 49"/>
              <a:gd name="T11" fmla="*/ 14288 h 37"/>
              <a:gd name="T12" fmla="*/ 77787 w 49"/>
              <a:gd name="T13" fmla="*/ 0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7">
                <a:moveTo>
                  <a:pt x="49" y="0"/>
                </a:moveTo>
                <a:lnTo>
                  <a:pt x="0" y="0"/>
                </a:lnTo>
                <a:lnTo>
                  <a:pt x="0" y="37"/>
                </a:lnTo>
                <a:lnTo>
                  <a:pt x="11" y="37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3" name="Freeform 118"/>
          <p:cNvSpPr/>
          <p:nvPr/>
        </p:nvSpPr>
        <p:spPr bwMode="auto">
          <a:xfrm>
            <a:off x="3992636" y="4311904"/>
            <a:ext cx="46435" cy="34528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4450 h 29"/>
              <a:gd name="T6" fmla="*/ 20638 w 39"/>
              <a:gd name="T7" fmla="*/ 46037 h 29"/>
              <a:gd name="T8" fmla="*/ 20638 w 39"/>
              <a:gd name="T9" fmla="*/ 14287 h 29"/>
              <a:gd name="T10" fmla="*/ 61913 w 39"/>
              <a:gd name="T11" fmla="*/ 14287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8"/>
                </a:lnTo>
                <a:lnTo>
                  <a:pt x="13" y="29"/>
                </a:lnTo>
                <a:lnTo>
                  <a:pt x="13" y="9"/>
                </a:lnTo>
                <a:lnTo>
                  <a:pt x="39" y="9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4" name="Freeform 119"/>
          <p:cNvSpPr/>
          <p:nvPr/>
        </p:nvSpPr>
        <p:spPr bwMode="auto">
          <a:xfrm>
            <a:off x="4008115" y="4322619"/>
            <a:ext cx="30956" cy="23813"/>
          </a:xfrm>
          <a:custGeom>
            <a:avLst/>
            <a:gdLst>
              <a:gd name="T0" fmla="*/ 41275 w 26"/>
              <a:gd name="T1" fmla="*/ 0 h 20"/>
              <a:gd name="T2" fmla="*/ 0 w 26"/>
              <a:gd name="T3" fmla="*/ 0 h 20"/>
              <a:gd name="T4" fmla="*/ 0 w 26"/>
              <a:gd name="T5" fmla="*/ 31750 h 20"/>
              <a:gd name="T6" fmla="*/ 19050 w 26"/>
              <a:gd name="T7" fmla="*/ 30163 h 20"/>
              <a:gd name="T8" fmla="*/ 19050 w 26"/>
              <a:gd name="T9" fmla="*/ 15875 h 20"/>
              <a:gd name="T10" fmla="*/ 39688 w 26"/>
              <a:gd name="T11" fmla="*/ 15875 h 20"/>
              <a:gd name="T12" fmla="*/ 41275 w 26"/>
              <a:gd name="T13" fmla="*/ 0 h 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0">
                <a:moveTo>
                  <a:pt x="26" y="0"/>
                </a:moveTo>
                <a:lnTo>
                  <a:pt x="0" y="0"/>
                </a:lnTo>
                <a:lnTo>
                  <a:pt x="0" y="20"/>
                </a:lnTo>
                <a:lnTo>
                  <a:pt x="12" y="19"/>
                </a:lnTo>
                <a:lnTo>
                  <a:pt x="12" y="10"/>
                </a:lnTo>
                <a:lnTo>
                  <a:pt x="25" y="10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5" name="Freeform 120"/>
          <p:cNvSpPr/>
          <p:nvPr/>
        </p:nvSpPr>
        <p:spPr bwMode="auto">
          <a:xfrm>
            <a:off x="4022402" y="4334526"/>
            <a:ext cx="16669" cy="11906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4288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9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6" name="Line 121"/>
          <p:cNvSpPr>
            <a:spLocks noChangeShapeType="1"/>
          </p:cNvSpPr>
          <p:nvPr/>
        </p:nvSpPr>
        <p:spPr bwMode="auto">
          <a:xfrm>
            <a:off x="3824759" y="4373817"/>
            <a:ext cx="1190" cy="1666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7" name="Line 122"/>
          <p:cNvSpPr>
            <a:spLocks noChangeShapeType="1"/>
          </p:cNvSpPr>
          <p:nvPr/>
        </p:nvSpPr>
        <p:spPr bwMode="auto">
          <a:xfrm>
            <a:off x="3783086" y="4373817"/>
            <a:ext cx="1191" cy="1666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8" name="Line 123"/>
          <p:cNvSpPr>
            <a:spLocks noChangeShapeType="1"/>
          </p:cNvSpPr>
          <p:nvPr/>
        </p:nvSpPr>
        <p:spPr bwMode="auto">
          <a:xfrm>
            <a:off x="3733080" y="4373817"/>
            <a:ext cx="339329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59" name="Rectangle 124"/>
          <p:cNvSpPr>
            <a:spLocks noChangeArrowheads="1"/>
          </p:cNvSpPr>
          <p:nvPr/>
        </p:nvSpPr>
        <p:spPr bwMode="auto">
          <a:xfrm>
            <a:off x="3991446" y="4450016"/>
            <a:ext cx="41672" cy="3572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0" name="Rectangle 125"/>
          <p:cNvSpPr>
            <a:spLocks noChangeArrowheads="1"/>
          </p:cNvSpPr>
          <p:nvPr/>
        </p:nvSpPr>
        <p:spPr bwMode="auto">
          <a:xfrm>
            <a:off x="3991446" y="4448825"/>
            <a:ext cx="41672" cy="1191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1" name="Rectangle 126"/>
          <p:cNvSpPr>
            <a:spLocks noChangeArrowheads="1"/>
          </p:cNvSpPr>
          <p:nvPr/>
        </p:nvSpPr>
        <p:spPr bwMode="auto">
          <a:xfrm>
            <a:off x="3991446" y="4447636"/>
            <a:ext cx="41672" cy="1190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2" name="Rectangle 127"/>
          <p:cNvSpPr>
            <a:spLocks noChangeArrowheads="1"/>
          </p:cNvSpPr>
          <p:nvPr/>
        </p:nvSpPr>
        <p:spPr bwMode="auto">
          <a:xfrm>
            <a:off x="3991446" y="4446444"/>
            <a:ext cx="41672" cy="1191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3" name="Rectangle 128"/>
          <p:cNvSpPr>
            <a:spLocks noChangeArrowheads="1"/>
          </p:cNvSpPr>
          <p:nvPr/>
        </p:nvSpPr>
        <p:spPr bwMode="auto">
          <a:xfrm>
            <a:off x="3991446" y="4444063"/>
            <a:ext cx="41672" cy="2381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4" name="Rectangle 129"/>
          <p:cNvSpPr>
            <a:spLocks noChangeArrowheads="1"/>
          </p:cNvSpPr>
          <p:nvPr/>
        </p:nvSpPr>
        <p:spPr bwMode="auto">
          <a:xfrm>
            <a:off x="3991446" y="4442873"/>
            <a:ext cx="41672" cy="1190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5" name="Rectangle 130"/>
          <p:cNvSpPr>
            <a:spLocks noChangeArrowheads="1"/>
          </p:cNvSpPr>
          <p:nvPr/>
        </p:nvSpPr>
        <p:spPr bwMode="auto">
          <a:xfrm>
            <a:off x="3991446" y="4441682"/>
            <a:ext cx="41672" cy="1191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6" name="Freeform 131"/>
          <p:cNvSpPr/>
          <p:nvPr/>
        </p:nvSpPr>
        <p:spPr bwMode="auto">
          <a:xfrm>
            <a:off x="3990255" y="4440492"/>
            <a:ext cx="42863" cy="1190"/>
          </a:xfrm>
          <a:custGeom>
            <a:avLst/>
            <a:gdLst>
              <a:gd name="T0" fmla="*/ 1588 w 36"/>
              <a:gd name="T1" fmla="*/ 1587 h 1"/>
              <a:gd name="T2" fmla="*/ 57150 w 36"/>
              <a:gd name="T3" fmla="*/ 1587 h 1"/>
              <a:gd name="T4" fmla="*/ 55563 w 36"/>
              <a:gd name="T5" fmla="*/ 0 h 1"/>
              <a:gd name="T6" fmla="*/ 0 w 36"/>
              <a:gd name="T7" fmla="*/ 0 h 1"/>
              <a:gd name="T8" fmla="*/ 1588 w 36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">
                <a:moveTo>
                  <a:pt x="1" y="1"/>
                </a:moveTo>
                <a:lnTo>
                  <a:pt x="36" y="1"/>
                </a:lnTo>
                <a:lnTo>
                  <a:pt x="35" y="0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67" name="Rectangle 132"/>
          <p:cNvSpPr>
            <a:spLocks noChangeArrowheads="1"/>
          </p:cNvSpPr>
          <p:nvPr/>
        </p:nvSpPr>
        <p:spPr bwMode="auto">
          <a:xfrm>
            <a:off x="3990255" y="4438111"/>
            <a:ext cx="41672" cy="2381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68" name="Freeform 133"/>
          <p:cNvSpPr/>
          <p:nvPr/>
        </p:nvSpPr>
        <p:spPr bwMode="auto">
          <a:xfrm>
            <a:off x="3990255" y="4436919"/>
            <a:ext cx="42863" cy="1191"/>
          </a:xfrm>
          <a:custGeom>
            <a:avLst/>
            <a:gdLst>
              <a:gd name="T0" fmla="*/ 0 w 36"/>
              <a:gd name="T1" fmla="*/ 1588 h 1"/>
              <a:gd name="T2" fmla="*/ 55563 w 36"/>
              <a:gd name="T3" fmla="*/ 1588 h 1"/>
              <a:gd name="T4" fmla="*/ 57150 w 36"/>
              <a:gd name="T5" fmla="*/ 0 h 1"/>
              <a:gd name="T6" fmla="*/ 1588 w 36"/>
              <a:gd name="T7" fmla="*/ 0 h 1"/>
              <a:gd name="T8" fmla="*/ 0 w 36"/>
              <a:gd name="T9" fmla="*/ 1588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">
                <a:moveTo>
                  <a:pt x="0" y="1"/>
                </a:moveTo>
                <a:lnTo>
                  <a:pt x="35" y="1"/>
                </a:lnTo>
                <a:lnTo>
                  <a:pt x="36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69" name="Rectangle 134"/>
          <p:cNvSpPr>
            <a:spLocks noChangeArrowheads="1"/>
          </p:cNvSpPr>
          <p:nvPr/>
        </p:nvSpPr>
        <p:spPr bwMode="auto">
          <a:xfrm>
            <a:off x="3991446" y="4436919"/>
            <a:ext cx="41672" cy="1191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70" name="Rectangle 135"/>
          <p:cNvSpPr>
            <a:spLocks noChangeArrowheads="1"/>
          </p:cNvSpPr>
          <p:nvPr/>
        </p:nvSpPr>
        <p:spPr bwMode="auto">
          <a:xfrm>
            <a:off x="3952155" y="4441681"/>
            <a:ext cx="97631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71" name="Freeform 136"/>
          <p:cNvSpPr>
            <a:spLocks noEditPoints="1"/>
          </p:cNvSpPr>
          <p:nvPr/>
        </p:nvSpPr>
        <p:spPr bwMode="auto">
          <a:xfrm>
            <a:off x="3689027" y="4426204"/>
            <a:ext cx="54769" cy="28575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9850 w 46"/>
              <a:gd name="T15" fmla="*/ 38100 h 24"/>
              <a:gd name="T16" fmla="*/ 69850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4" y="24"/>
                </a:lnTo>
                <a:lnTo>
                  <a:pt x="44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2" name="Freeform 137"/>
          <p:cNvSpPr>
            <a:spLocks noEditPoints="1"/>
          </p:cNvSpPr>
          <p:nvPr/>
        </p:nvSpPr>
        <p:spPr bwMode="auto">
          <a:xfrm>
            <a:off x="3691409" y="4426204"/>
            <a:ext cx="50006" cy="28575"/>
          </a:xfrm>
          <a:custGeom>
            <a:avLst/>
            <a:gdLst>
              <a:gd name="T0" fmla="*/ 0 w 42"/>
              <a:gd name="T1" fmla="*/ 38100 h 24"/>
              <a:gd name="T2" fmla="*/ 0 w 42"/>
              <a:gd name="T3" fmla="*/ 0 h 24"/>
              <a:gd name="T4" fmla="*/ 1588 w 42"/>
              <a:gd name="T5" fmla="*/ 0 h 24"/>
              <a:gd name="T6" fmla="*/ 1588 w 42"/>
              <a:gd name="T7" fmla="*/ 38100 h 24"/>
              <a:gd name="T8" fmla="*/ 0 w 42"/>
              <a:gd name="T9" fmla="*/ 38100 h 24"/>
              <a:gd name="T10" fmla="*/ 66675 w 42"/>
              <a:gd name="T11" fmla="*/ 0 h 24"/>
              <a:gd name="T12" fmla="*/ 66675 w 42"/>
              <a:gd name="T13" fmla="*/ 38100 h 24"/>
              <a:gd name="T14" fmla="*/ 63500 w 42"/>
              <a:gd name="T15" fmla="*/ 38100 h 24"/>
              <a:gd name="T16" fmla="*/ 63500 w 42"/>
              <a:gd name="T17" fmla="*/ 0 h 24"/>
              <a:gd name="T18" fmla="*/ 66675 w 42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2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2" y="0"/>
                </a:moveTo>
                <a:lnTo>
                  <a:pt x="42" y="24"/>
                </a:lnTo>
                <a:lnTo>
                  <a:pt x="40" y="24"/>
                </a:lnTo>
                <a:lnTo>
                  <a:pt x="40" y="0"/>
                </a:lnTo>
                <a:lnTo>
                  <a:pt x="42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3" name="Freeform 138"/>
          <p:cNvSpPr>
            <a:spLocks noEditPoints="1"/>
          </p:cNvSpPr>
          <p:nvPr/>
        </p:nvSpPr>
        <p:spPr bwMode="auto">
          <a:xfrm>
            <a:off x="3692599" y="4426204"/>
            <a:ext cx="46435" cy="28575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8 w 39"/>
              <a:gd name="T5" fmla="*/ 0 h 24"/>
              <a:gd name="T6" fmla="*/ 1588 w 39"/>
              <a:gd name="T7" fmla="*/ 38100 h 24"/>
              <a:gd name="T8" fmla="*/ 0 w 39"/>
              <a:gd name="T9" fmla="*/ 38100 h 24"/>
              <a:gd name="T10" fmla="*/ 61913 w 39"/>
              <a:gd name="T11" fmla="*/ 0 h 24"/>
              <a:gd name="T12" fmla="*/ 61913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3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4" name="Freeform 139"/>
          <p:cNvSpPr>
            <a:spLocks noEditPoints="1"/>
          </p:cNvSpPr>
          <p:nvPr/>
        </p:nvSpPr>
        <p:spPr bwMode="auto">
          <a:xfrm>
            <a:off x="3693790" y="4426204"/>
            <a:ext cx="44053" cy="28575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3175 w 37"/>
              <a:gd name="T5" fmla="*/ 0 h 24"/>
              <a:gd name="T6" fmla="*/ 3175 w 37"/>
              <a:gd name="T7" fmla="*/ 38100 h 24"/>
              <a:gd name="T8" fmla="*/ 0 w 37"/>
              <a:gd name="T9" fmla="*/ 38100 h 24"/>
              <a:gd name="T10" fmla="*/ 58737 w 37"/>
              <a:gd name="T11" fmla="*/ 0 h 24"/>
              <a:gd name="T12" fmla="*/ 58737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7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5" name="Freeform 140"/>
          <p:cNvSpPr>
            <a:spLocks noEditPoints="1"/>
          </p:cNvSpPr>
          <p:nvPr/>
        </p:nvSpPr>
        <p:spPr bwMode="auto">
          <a:xfrm>
            <a:off x="3696171" y="4426204"/>
            <a:ext cx="40481" cy="28575"/>
          </a:xfrm>
          <a:custGeom>
            <a:avLst/>
            <a:gdLst>
              <a:gd name="T0" fmla="*/ 0 w 34"/>
              <a:gd name="T1" fmla="*/ 38100 h 24"/>
              <a:gd name="T2" fmla="*/ 0 w 34"/>
              <a:gd name="T3" fmla="*/ 0 h 24"/>
              <a:gd name="T4" fmla="*/ 1588 w 34"/>
              <a:gd name="T5" fmla="*/ 0 h 24"/>
              <a:gd name="T6" fmla="*/ 1588 w 34"/>
              <a:gd name="T7" fmla="*/ 38100 h 24"/>
              <a:gd name="T8" fmla="*/ 0 w 34"/>
              <a:gd name="T9" fmla="*/ 38100 h 24"/>
              <a:gd name="T10" fmla="*/ 53975 w 34"/>
              <a:gd name="T11" fmla="*/ 0 h 24"/>
              <a:gd name="T12" fmla="*/ 53975 w 34"/>
              <a:gd name="T13" fmla="*/ 38100 h 24"/>
              <a:gd name="T14" fmla="*/ 50800 w 34"/>
              <a:gd name="T15" fmla="*/ 38100 h 24"/>
              <a:gd name="T16" fmla="*/ 50800 w 34"/>
              <a:gd name="T17" fmla="*/ 0 h 24"/>
              <a:gd name="T18" fmla="*/ 53975 w 3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4" y="0"/>
                </a:moveTo>
                <a:lnTo>
                  <a:pt x="34" y="24"/>
                </a:lnTo>
                <a:lnTo>
                  <a:pt x="32" y="24"/>
                </a:lnTo>
                <a:lnTo>
                  <a:pt x="32" y="0"/>
                </a:lnTo>
                <a:lnTo>
                  <a:pt x="34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6" name="Freeform 141"/>
          <p:cNvSpPr>
            <a:spLocks noEditPoints="1"/>
          </p:cNvSpPr>
          <p:nvPr/>
        </p:nvSpPr>
        <p:spPr bwMode="auto">
          <a:xfrm>
            <a:off x="3697361" y="4426204"/>
            <a:ext cx="36910" cy="28575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8 w 31"/>
              <a:gd name="T5" fmla="*/ 0 h 24"/>
              <a:gd name="T6" fmla="*/ 1588 w 31"/>
              <a:gd name="T7" fmla="*/ 38100 h 24"/>
              <a:gd name="T8" fmla="*/ 0 w 31"/>
              <a:gd name="T9" fmla="*/ 38100 h 24"/>
              <a:gd name="T10" fmla="*/ 49213 w 31"/>
              <a:gd name="T11" fmla="*/ 0 h 24"/>
              <a:gd name="T12" fmla="*/ 49213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3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7" name="Freeform 142"/>
          <p:cNvSpPr>
            <a:spLocks noEditPoints="1"/>
          </p:cNvSpPr>
          <p:nvPr/>
        </p:nvSpPr>
        <p:spPr bwMode="auto">
          <a:xfrm>
            <a:off x="3698552" y="4426204"/>
            <a:ext cx="34528" cy="28575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7 w 29"/>
              <a:gd name="T5" fmla="*/ 0 h 24"/>
              <a:gd name="T6" fmla="*/ 1587 w 29"/>
              <a:gd name="T7" fmla="*/ 38100 h 24"/>
              <a:gd name="T8" fmla="*/ 0 w 29"/>
              <a:gd name="T9" fmla="*/ 38100 h 24"/>
              <a:gd name="T10" fmla="*/ 46037 w 29"/>
              <a:gd name="T11" fmla="*/ 0 h 24"/>
              <a:gd name="T12" fmla="*/ 46037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7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8" name="Freeform 143"/>
          <p:cNvSpPr>
            <a:spLocks noEditPoints="1"/>
          </p:cNvSpPr>
          <p:nvPr/>
        </p:nvSpPr>
        <p:spPr bwMode="auto">
          <a:xfrm>
            <a:off x="3699743" y="4426204"/>
            <a:ext cx="32147" cy="28575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3 w 27"/>
              <a:gd name="T11" fmla="*/ 0 h 24"/>
              <a:gd name="T12" fmla="*/ 42863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3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79" name="Freeform 144"/>
          <p:cNvSpPr>
            <a:spLocks noEditPoints="1"/>
          </p:cNvSpPr>
          <p:nvPr/>
        </p:nvSpPr>
        <p:spPr bwMode="auto">
          <a:xfrm>
            <a:off x="3702124" y="4426204"/>
            <a:ext cx="28575" cy="28575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0" name="Freeform 145"/>
          <p:cNvSpPr>
            <a:spLocks noEditPoints="1"/>
          </p:cNvSpPr>
          <p:nvPr/>
        </p:nvSpPr>
        <p:spPr bwMode="auto">
          <a:xfrm>
            <a:off x="3703315" y="4426204"/>
            <a:ext cx="25003" cy="28575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7 w 21"/>
              <a:gd name="T5" fmla="*/ 0 h 24"/>
              <a:gd name="T6" fmla="*/ 1587 w 21"/>
              <a:gd name="T7" fmla="*/ 38100 h 24"/>
              <a:gd name="T8" fmla="*/ 0 w 21"/>
              <a:gd name="T9" fmla="*/ 38100 h 24"/>
              <a:gd name="T10" fmla="*/ 33337 w 21"/>
              <a:gd name="T11" fmla="*/ 0 h 24"/>
              <a:gd name="T12" fmla="*/ 33337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7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1" name="Freeform 146"/>
          <p:cNvSpPr>
            <a:spLocks noEditPoints="1"/>
          </p:cNvSpPr>
          <p:nvPr/>
        </p:nvSpPr>
        <p:spPr bwMode="auto">
          <a:xfrm>
            <a:off x="3704505" y="4426204"/>
            <a:ext cx="22622" cy="28575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8 w 19"/>
              <a:gd name="T5" fmla="*/ 0 h 24"/>
              <a:gd name="T6" fmla="*/ 1588 w 19"/>
              <a:gd name="T7" fmla="*/ 38100 h 24"/>
              <a:gd name="T8" fmla="*/ 0 w 19"/>
              <a:gd name="T9" fmla="*/ 38100 h 24"/>
              <a:gd name="T10" fmla="*/ 30163 w 19"/>
              <a:gd name="T11" fmla="*/ 0 h 24"/>
              <a:gd name="T12" fmla="*/ 30163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3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2" name="Freeform 147"/>
          <p:cNvSpPr>
            <a:spLocks noEditPoints="1"/>
          </p:cNvSpPr>
          <p:nvPr/>
        </p:nvSpPr>
        <p:spPr bwMode="auto">
          <a:xfrm>
            <a:off x="3705696" y="4426204"/>
            <a:ext cx="20240" cy="28575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7 w 17"/>
              <a:gd name="T11" fmla="*/ 0 h 24"/>
              <a:gd name="T12" fmla="*/ 26987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7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3" name="Freeform 148"/>
          <p:cNvSpPr>
            <a:spLocks noEditPoints="1"/>
          </p:cNvSpPr>
          <p:nvPr/>
        </p:nvSpPr>
        <p:spPr bwMode="auto">
          <a:xfrm>
            <a:off x="3708077" y="4425013"/>
            <a:ext cx="16669" cy="29766"/>
          </a:xfrm>
          <a:custGeom>
            <a:avLst/>
            <a:gdLst>
              <a:gd name="T0" fmla="*/ 0 w 14"/>
              <a:gd name="T1" fmla="*/ 39688 h 25"/>
              <a:gd name="T2" fmla="*/ 0 w 14"/>
              <a:gd name="T3" fmla="*/ 1588 h 25"/>
              <a:gd name="T4" fmla="*/ 1588 w 14"/>
              <a:gd name="T5" fmla="*/ 0 h 25"/>
              <a:gd name="T6" fmla="*/ 1588 w 14"/>
              <a:gd name="T7" fmla="*/ 38100 h 25"/>
              <a:gd name="T8" fmla="*/ 0 w 14"/>
              <a:gd name="T9" fmla="*/ 39688 h 25"/>
              <a:gd name="T10" fmla="*/ 22225 w 14"/>
              <a:gd name="T11" fmla="*/ 1588 h 25"/>
              <a:gd name="T12" fmla="*/ 22225 w 14"/>
              <a:gd name="T13" fmla="*/ 39688 h 25"/>
              <a:gd name="T14" fmla="*/ 19050 w 14"/>
              <a:gd name="T15" fmla="*/ 38100 h 25"/>
              <a:gd name="T16" fmla="*/ 19050 w 14"/>
              <a:gd name="T17" fmla="*/ 0 h 25"/>
              <a:gd name="T18" fmla="*/ 22225 w 14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14" y="1"/>
                </a:moveTo>
                <a:lnTo>
                  <a:pt x="14" y="25"/>
                </a:lnTo>
                <a:lnTo>
                  <a:pt x="12" y="24"/>
                </a:lnTo>
                <a:lnTo>
                  <a:pt x="12" y="0"/>
                </a:lnTo>
                <a:lnTo>
                  <a:pt x="14" y="1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4" name="Freeform 149"/>
          <p:cNvSpPr>
            <a:spLocks noEditPoints="1"/>
          </p:cNvSpPr>
          <p:nvPr/>
        </p:nvSpPr>
        <p:spPr bwMode="auto">
          <a:xfrm>
            <a:off x="3709268" y="4425013"/>
            <a:ext cx="13097" cy="29766"/>
          </a:xfrm>
          <a:custGeom>
            <a:avLst/>
            <a:gdLst>
              <a:gd name="T0" fmla="*/ 0 w 11"/>
              <a:gd name="T1" fmla="*/ 38100 h 25"/>
              <a:gd name="T2" fmla="*/ 0 w 11"/>
              <a:gd name="T3" fmla="*/ 0 h 25"/>
              <a:gd name="T4" fmla="*/ 1588 w 11"/>
              <a:gd name="T5" fmla="*/ 1588 h 25"/>
              <a:gd name="T6" fmla="*/ 1588 w 11"/>
              <a:gd name="T7" fmla="*/ 39688 h 25"/>
              <a:gd name="T8" fmla="*/ 0 w 11"/>
              <a:gd name="T9" fmla="*/ 38100 h 25"/>
              <a:gd name="T10" fmla="*/ 17463 w 11"/>
              <a:gd name="T11" fmla="*/ 0 h 25"/>
              <a:gd name="T12" fmla="*/ 17463 w 11"/>
              <a:gd name="T13" fmla="*/ 38100 h 25"/>
              <a:gd name="T14" fmla="*/ 15875 w 11"/>
              <a:gd name="T15" fmla="*/ 39688 h 25"/>
              <a:gd name="T16" fmla="*/ 15875 w 11"/>
              <a:gd name="T17" fmla="*/ 1588 h 25"/>
              <a:gd name="T18" fmla="*/ 17463 w 11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5">
                <a:moveTo>
                  <a:pt x="0" y="24"/>
                </a:moveTo>
                <a:lnTo>
                  <a:pt x="0" y="0"/>
                </a:lnTo>
                <a:lnTo>
                  <a:pt x="1" y="1"/>
                </a:lnTo>
                <a:lnTo>
                  <a:pt x="1" y="25"/>
                </a:lnTo>
                <a:lnTo>
                  <a:pt x="0" y="24"/>
                </a:lnTo>
                <a:close/>
                <a:moveTo>
                  <a:pt x="11" y="0"/>
                </a:moveTo>
                <a:lnTo>
                  <a:pt x="11" y="24"/>
                </a:lnTo>
                <a:lnTo>
                  <a:pt x="10" y="25"/>
                </a:lnTo>
                <a:lnTo>
                  <a:pt x="10" y="1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5" name="Freeform 150"/>
          <p:cNvSpPr>
            <a:spLocks noEditPoints="1"/>
          </p:cNvSpPr>
          <p:nvPr/>
        </p:nvSpPr>
        <p:spPr bwMode="auto">
          <a:xfrm>
            <a:off x="3710459" y="4425013"/>
            <a:ext cx="10715" cy="29766"/>
          </a:xfrm>
          <a:custGeom>
            <a:avLst/>
            <a:gdLst>
              <a:gd name="T0" fmla="*/ 0 w 9"/>
              <a:gd name="T1" fmla="*/ 39688 h 25"/>
              <a:gd name="T2" fmla="*/ 0 w 9"/>
              <a:gd name="T3" fmla="*/ 1588 h 25"/>
              <a:gd name="T4" fmla="*/ 1587 w 9"/>
              <a:gd name="T5" fmla="*/ 0 h 25"/>
              <a:gd name="T6" fmla="*/ 1587 w 9"/>
              <a:gd name="T7" fmla="*/ 38100 h 25"/>
              <a:gd name="T8" fmla="*/ 0 w 9"/>
              <a:gd name="T9" fmla="*/ 39688 h 25"/>
              <a:gd name="T10" fmla="*/ 14287 w 9"/>
              <a:gd name="T11" fmla="*/ 1588 h 25"/>
              <a:gd name="T12" fmla="*/ 14287 w 9"/>
              <a:gd name="T13" fmla="*/ 39688 h 25"/>
              <a:gd name="T14" fmla="*/ 12700 w 9"/>
              <a:gd name="T15" fmla="*/ 38100 h 25"/>
              <a:gd name="T16" fmla="*/ 12700 w 9"/>
              <a:gd name="T17" fmla="*/ 0 h 25"/>
              <a:gd name="T18" fmla="*/ 14287 w 9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9" y="1"/>
                </a:moveTo>
                <a:lnTo>
                  <a:pt x="9" y="25"/>
                </a:lnTo>
                <a:lnTo>
                  <a:pt x="8" y="24"/>
                </a:lnTo>
                <a:lnTo>
                  <a:pt x="8" y="0"/>
                </a:lnTo>
                <a:lnTo>
                  <a:pt x="9" y="1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6" name="Freeform 151"/>
          <p:cNvSpPr>
            <a:spLocks noEditPoints="1"/>
          </p:cNvSpPr>
          <p:nvPr/>
        </p:nvSpPr>
        <p:spPr bwMode="auto">
          <a:xfrm>
            <a:off x="3711649" y="4425013"/>
            <a:ext cx="8335" cy="29766"/>
          </a:xfrm>
          <a:custGeom>
            <a:avLst/>
            <a:gdLst>
              <a:gd name="T0" fmla="*/ 0 w 7"/>
              <a:gd name="T1" fmla="*/ 38100 h 25"/>
              <a:gd name="T2" fmla="*/ 0 w 7"/>
              <a:gd name="T3" fmla="*/ 0 h 25"/>
              <a:gd name="T4" fmla="*/ 3175 w 7"/>
              <a:gd name="T5" fmla="*/ 1588 h 25"/>
              <a:gd name="T6" fmla="*/ 3175 w 7"/>
              <a:gd name="T7" fmla="*/ 39688 h 25"/>
              <a:gd name="T8" fmla="*/ 0 w 7"/>
              <a:gd name="T9" fmla="*/ 38100 h 25"/>
              <a:gd name="T10" fmla="*/ 11113 w 7"/>
              <a:gd name="T11" fmla="*/ 0 h 25"/>
              <a:gd name="T12" fmla="*/ 11113 w 7"/>
              <a:gd name="T13" fmla="*/ 38100 h 25"/>
              <a:gd name="T14" fmla="*/ 9525 w 7"/>
              <a:gd name="T15" fmla="*/ 39688 h 25"/>
              <a:gd name="T16" fmla="*/ 9525 w 7"/>
              <a:gd name="T17" fmla="*/ 1588 h 25"/>
              <a:gd name="T18" fmla="*/ 11113 w 7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5">
                <a:moveTo>
                  <a:pt x="0" y="24"/>
                </a:moveTo>
                <a:lnTo>
                  <a:pt x="0" y="0"/>
                </a:lnTo>
                <a:lnTo>
                  <a:pt x="2" y="1"/>
                </a:lnTo>
                <a:lnTo>
                  <a:pt x="2" y="25"/>
                </a:lnTo>
                <a:lnTo>
                  <a:pt x="0" y="24"/>
                </a:lnTo>
                <a:close/>
                <a:moveTo>
                  <a:pt x="7" y="0"/>
                </a:moveTo>
                <a:lnTo>
                  <a:pt x="7" y="24"/>
                </a:lnTo>
                <a:lnTo>
                  <a:pt x="6" y="25"/>
                </a:lnTo>
                <a:lnTo>
                  <a:pt x="6" y="1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7" name="Freeform 152"/>
          <p:cNvSpPr>
            <a:spLocks noEditPoints="1"/>
          </p:cNvSpPr>
          <p:nvPr/>
        </p:nvSpPr>
        <p:spPr bwMode="auto">
          <a:xfrm>
            <a:off x="3714030" y="4426204"/>
            <a:ext cx="4763" cy="28575"/>
          </a:xfrm>
          <a:custGeom>
            <a:avLst/>
            <a:gdLst>
              <a:gd name="T0" fmla="*/ 0 w 4"/>
              <a:gd name="T1" fmla="*/ 38100 h 24"/>
              <a:gd name="T2" fmla="*/ 0 w 4"/>
              <a:gd name="T3" fmla="*/ 0 h 24"/>
              <a:gd name="T4" fmla="*/ 1588 w 4"/>
              <a:gd name="T5" fmla="*/ 0 h 24"/>
              <a:gd name="T6" fmla="*/ 1588 w 4"/>
              <a:gd name="T7" fmla="*/ 38100 h 24"/>
              <a:gd name="T8" fmla="*/ 0 w 4"/>
              <a:gd name="T9" fmla="*/ 38100 h 24"/>
              <a:gd name="T10" fmla="*/ 6350 w 4"/>
              <a:gd name="T11" fmla="*/ 0 h 24"/>
              <a:gd name="T12" fmla="*/ 6350 w 4"/>
              <a:gd name="T13" fmla="*/ 38100 h 24"/>
              <a:gd name="T14" fmla="*/ 3175 w 4"/>
              <a:gd name="T15" fmla="*/ 38100 h 24"/>
              <a:gd name="T16" fmla="*/ 3175 w 4"/>
              <a:gd name="T17" fmla="*/ 0 h 24"/>
              <a:gd name="T18" fmla="*/ 6350 w 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" y="0"/>
                </a:moveTo>
                <a:lnTo>
                  <a:pt x="4" y="24"/>
                </a:lnTo>
                <a:lnTo>
                  <a:pt x="2" y="24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8" name="Freeform 153"/>
          <p:cNvSpPr>
            <a:spLocks noEditPoints="1"/>
          </p:cNvSpPr>
          <p:nvPr/>
        </p:nvSpPr>
        <p:spPr bwMode="auto">
          <a:xfrm>
            <a:off x="3715221" y="4426204"/>
            <a:ext cx="1190" cy="28575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7 w 1"/>
              <a:gd name="T5" fmla="*/ 0 h 24"/>
              <a:gd name="T6" fmla="*/ 1587 w 1"/>
              <a:gd name="T7" fmla="*/ 38100 h 24"/>
              <a:gd name="T8" fmla="*/ 0 w 1"/>
              <a:gd name="T9" fmla="*/ 38100 h 24"/>
              <a:gd name="T10" fmla="*/ 1587 w 1"/>
              <a:gd name="T11" fmla="*/ 0 h 24"/>
              <a:gd name="T12" fmla="*/ 1587 w 1"/>
              <a:gd name="T13" fmla="*/ 38100 h 24"/>
              <a:gd name="T14" fmla="*/ 1587 w 1"/>
              <a:gd name="T15" fmla="*/ 38100 h 24"/>
              <a:gd name="T16" fmla="*/ 1587 w 1"/>
              <a:gd name="T17" fmla="*/ 0 h 24"/>
              <a:gd name="T18" fmla="*/ 1587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89" name="Freeform 154"/>
          <p:cNvSpPr/>
          <p:nvPr/>
        </p:nvSpPr>
        <p:spPr bwMode="auto">
          <a:xfrm>
            <a:off x="3675930" y="4058300"/>
            <a:ext cx="509588" cy="509588"/>
          </a:xfrm>
          <a:custGeom>
            <a:avLst/>
            <a:gdLst>
              <a:gd name="T0" fmla="*/ 0 w 428"/>
              <a:gd name="T1" fmla="*/ 679450 h 428"/>
              <a:gd name="T2" fmla="*/ 0 w 428"/>
              <a:gd name="T3" fmla="*/ 473075 h 428"/>
              <a:gd name="T4" fmla="*/ 69850 w 428"/>
              <a:gd name="T5" fmla="*/ 400050 h 428"/>
              <a:gd name="T6" fmla="*/ 76200 w 428"/>
              <a:gd name="T7" fmla="*/ 400050 h 428"/>
              <a:gd name="T8" fmla="*/ 76200 w 428"/>
              <a:gd name="T9" fmla="*/ 76200 h 428"/>
              <a:gd name="T10" fmla="*/ 150813 w 428"/>
              <a:gd name="T11" fmla="*/ 0 h 428"/>
              <a:gd name="T12" fmla="*/ 603250 w 428"/>
              <a:gd name="T13" fmla="*/ 0 h 428"/>
              <a:gd name="T14" fmla="*/ 603250 w 428"/>
              <a:gd name="T15" fmla="*/ 227013 h 428"/>
              <a:gd name="T16" fmla="*/ 585788 w 428"/>
              <a:gd name="T17" fmla="*/ 284163 h 428"/>
              <a:gd name="T18" fmla="*/ 585788 w 428"/>
              <a:gd name="T19" fmla="*/ 385763 h 428"/>
              <a:gd name="T20" fmla="*/ 574675 w 428"/>
              <a:gd name="T21" fmla="*/ 396875 h 428"/>
              <a:gd name="T22" fmla="*/ 679450 w 428"/>
              <a:gd name="T23" fmla="*/ 396875 h 428"/>
              <a:gd name="T24" fmla="*/ 679450 w 428"/>
              <a:gd name="T25" fmla="*/ 603250 h 428"/>
              <a:gd name="T26" fmla="*/ 603250 w 428"/>
              <a:gd name="T27" fmla="*/ 679450 h 428"/>
              <a:gd name="T28" fmla="*/ 0 w 428"/>
              <a:gd name="T29" fmla="*/ 679450 h 4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8">
                <a:moveTo>
                  <a:pt x="0" y="428"/>
                </a:moveTo>
                <a:lnTo>
                  <a:pt x="0" y="298"/>
                </a:lnTo>
                <a:lnTo>
                  <a:pt x="44" y="252"/>
                </a:lnTo>
                <a:lnTo>
                  <a:pt x="48" y="252"/>
                </a:lnTo>
                <a:lnTo>
                  <a:pt x="48" y="48"/>
                </a:lnTo>
                <a:lnTo>
                  <a:pt x="95" y="0"/>
                </a:lnTo>
                <a:lnTo>
                  <a:pt x="380" y="0"/>
                </a:lnTo>
                <a:lnTo>
                  <a:pt x="380" y="143"/>
                </a:lnTo>
                <a:lnTo>
                  <a:pt x="369" y="179"/>
                </a:lnTo>
                <a:lnTo>
                  <a:pt x="369" y="243"/>
                </a:lnTo>
                <a:lnTo>
                  <a:pt x="362" y="250"/>
                </a:lnTo>
                <a:lnTo>
                  <a:pt x="428" y="250"/>
                </a:lnTo>
                <a:lnTo>
                  <a:pt x="428" y="380"/>
                </a:lnTo>
                <a:lnTo>
                  <a:pt x="380" y="428"/>
                </a:lnTo>
                <a:lnTo>
                  <a:pt x="0" y="42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0" name="Rectangle 155"/>
          <p:cNvSpPr>
            <a:spLocks noChangeArrowheads="1"/>
          </p:cNvSpPr>
          <p:nvPr/>
        </p:nvSpPr>
        <p:spPr bwMode="auto">
          <a:xfrm>
            <a:off x="3597349" y="3752311"/>
            <a:ext cx="76623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Wuhan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591" name="Freeform 156"/>
          <p:cNvSpPr/>
          <p:nvPr/>
        </p:nvSpPr>
        <p:spPr bwMode="auto">
          <a:xfrm>
            <a:off x="6264349" y="4413107"/>
            <a:ext cx="70247" cy="27385"/>
          </a:xfrm>
          <a:custGeom>
            <a:avLst/>
            <a:gdLst>
              <a:gd name="T0" fmla="*/ 55563 w 59"/>
              <a:gd name="T1" fmla="*/ 36513 h 23"/>
              <a:gd name="T2" fmla="*/ 93663 w 59"/>
              <a:gd name="T3" fmla="*/ 0 h 23"/>
              <a:gd name="T4" fmla="*/ 0 w 59"/>
              <a:gd name="T5" fmla="*/ 0 h 23"/>
              <a:gd name="T6" fmla="*/ 55563 w 59"/>
              <a:gd name="T7" fmla="*/ 36513 h 2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3">
                <a:moveTo>
                  <a:pt x="35" y="23"/>
                </a:moveTo>
                <a:lnTo>
                  <a:pt x="59" y="0"/>
                </a:lnTo>
                <a:lnTo>
                  <a:pt x="0" y="0"/>
                </a:lnTo>
                <a:lnTo>
                  <a:pt x="35" y="23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2" name="Freeform 157"/>
          <p:cNvSpPr/>
          <p:nvPr/>
        </p:nvSpPr>
        <p:spPr bwMode="auto">
          <a:xfrm>
            <a:off x="5825008" y="4415488"/>
            <a:ext cx="113109" cy="53579"/>
          </a:xfrm>
          <a:custGeom>
            <a:avLst/>
            <a:gdLst>
              <a:gd name="T0" fmla="*/ 150812 w 95"/>
              <a:gd name="T1" fmla="*/ 71438 h 45"/>
              <a:gd name="T2" fmla="*/ 69850 w 95"/>
              <a:gd name="T3" fmla="*/ 0 h 45"/>
              <a:gd name="T4" fmla="*/ 0 w 95"/>
              <a:gd name="T5" fmla="*/ 71438 h 45"/>
              <a:gd name="T6" fmla="*/ 150812 w 95"/>
              <a:gd name="T7" fmla="*/ 71438 h 4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5">
                <a:moveTo>
                  <a:pt x="95" y="45"/>
                </a:moveTo>
                <a:lnTo>
                  <a:pt x="44" y="0"/>
                </a:lnTo>
                <a:lnTo>
                  <a:pt x="0" y="45"/>
                </a:lnTo>
                <a:lnTo>
                  <a:pt x="95" y="4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3" name="Freeform 158"/>
          <p:cNvSpPr/>
          <p:nvPr/>
        </p:nvSpPr>
        <p:spPr bwMode="auto">
          <a:xfrm>
            <a:off x="5882159" y="4413107"/>
            <a:ext cx="429815" cy="55960"/>
          </a:xfrm>
          <a:custGeom>
            <a:avLst/>
            <a:gdLst>
              <a:gd name="T0" fmla="*/ 573087 w 361"/>
              <a:gd name="T1" fmla="*/ 26988 h 47"/>
              <a:gd name="T2" fmla="*/ 517525 w 361"/>
              <a:gd name="T3" fmla="*/ 0 h 47"/>
              <a:gd name="T4" fmla="*/ 74612 w 361"/>
              <a:gd name="T5" fmla="*/ 0 h 47"/>
              <a:gd name="T6" fmla="*/ 0 w 361"/>
              <a:gd name="T7" fmla="*/ 36513 h 47"/>
              <a:gd name="T8" fmla="*/ 74612 w 361"/>
              <a:gd name="T9" fmla="*/ 74613 h 47"/>
              <a:gd name="T10" fmla="*/ 527050 w 361"/>
              <a:gd name="T11" fmla="*/ 74613 h 47"/>
              <a:gd name="T12" fmla="*/ 573087 w 361"/>
              <a:gd name="T13" fmla="*/ 26988 h 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7">
                <a:moveTo>
                  <a:pt x="361" y="17"/>
                </a:moveTo>
                <a:lnTo>
                  <a:pt x="326" y="0"/>
                </a:lnTo>
                <a:lnTo>
                  <a:pt x="47" y="0"/>
                </a:lnTo>
                <a:lnTo>
                  <a:pt x="0" y="23"/>
                </a:lnTo>
                <a:lnTo>
                  <a:pt x="47" y="47"/>
                </a:lnTo>
                <a:lnTo>
                  <a:pt x="332" y="47"/>
                </a:lnTo>
                <a:lnTo>
                  <a:pt x="361" y="1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4" name="Freeform 159"/>
          <p:cNvSpPr/>
          <p:nvPr/>
        </p:nvSpPr>
        <p:spPr bwMode="auto">
          <a:xfrm>
            <a:off x="5952405" y="4447635"/>
            <a:ext cx="254794" cy="17859"/>
          </a:xfrm>
          <a:custGeom>
            <a:avLst/>
            <a:gdLst>
              <a:gd name="T0" fmla="*/ 339725 w 214"/>
              <a:gd name="T1" fmla="*/ 0 h 15"/>
              <a:gd name="T2" fmla="*/ 339725 w 214"/>
              <a:gd name="T3" fmla="*/ 23812 h 15"/>
              <a:gd name="T4" fmla="*/ 0 w 214"/>
              <a:gd name="T5" fmla="*/ 23812 h 15"/>
              <a:gd name="T6" fmla="*/ 0 w 214"/>
              <a:gd name="T7" fmla="*/ 22225 h 15"/>
              <a:gd name="T8" fmla="*/ 47625 w 214"/>
              <a:gd name="T9" fmla="*/ 22225 h 15"/>
              <a:gd name="T10" fmla="*/ 93663 w 214"/>
              <a:gd name="T11" fmla="*/ 22225 h 15"/>
              <a:gd name="T12" fmla="*/ 138113 w 214"/>
              <a:gd name="T13" fmla="*/ 20637 h 15"/>
              <a:gd name="T14" fmla="*/ 177800 w 214"/>
              <a:gd name="T15" fmla="*/ 20637 h 15"/>
              <a:gd name="T16" fmla="*/ 215900 w 214"/>
              <a:gd name="T17" fmla="*/ 17462 h 15"/>
              <a:gd name="T18" fmla="*/ 250825 w 214"/>
              <a:gd name="T19" fmla="*/ 14287 h 15"/>
              <a:gd name="T20" fmla="*/ 279400 w 214"/>
              <a:gd name="T21" fmla="*/ 11112 h 15"/>
              <a:gd name="T22" fmla="*/ 301625 w 214"/>
              <a:gd name="T23" fmla="*/ 9525 h 15"/>
              <a:gd name="T24" fmla="*/ 317500 w 214"/>
              <a:gd name="T25" fmla="*/ 6350 h 15"/>
              <a:gd name="T26" fmla="*/ 327025 w 214"/>
              <a:gd name="T27" fmla="*/ 3175 h 15"/>
              <a:gd name="T28" fmla="*/ 331788 w 214"/>
              <a:gd name="T29" fmla="*/ 0 h 15"/>
              <a:gd name="T30" fmla="*/ 339725 w 214"/>
              <a:gd name="T31" fmla="*/ 0 h 1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14" h="15">
                <a:moveTo>
                  <a:pt x="214" y="0"/>
                </a:moveTo>
                <a:lnTo>
                  <a:pt x="214" y="15"/>
                </a:lnTo>
                <a:lnTo>
                  <a:pt x="0" y="15"/>
                </a:lnTo>
                <a:lnTo>
                  <a:pt x="0" y="14"/>
                </a:lnTo>
                <a:lnTo>
                  <a:pt x="30" y="14"/>
                </a:lnTo>
                <a:lnTo>
                  <a:pt x="59" y="14"/>
                </a:lnTo>
                <a:lnTo>
                  <a:pt x="87" y="13"/>
                </a:lnTo>
                <a:lnTo>
                  <a:pt x="112" y="13"/>
                </a:lnTo>
                <a:lnTo>
                  <a:pt x="136" y="11"/>
                </a:lnTo>
                <a:lnTo>
                  <a:pt x="158" y="9"/>
                </a:lnTo>
                <a:lnTo>
                  <a:pt x="176" y="7"/>
                </a:lnTo>
                <a:lnTo>
                  <a:pt x="190" y="6"/>
                </a:lnTo>
                <a:lnTo>
                  <a:pt x="200" y="4"/>
                </a:lnTo>
                <a:lnTo>
                  <a:pt x="206" y="2"/>
                </a:lnTo>
                <a:lnTo>
                  <a:pt x="209" y="0"/>
                </a:lnTo>
                <a:lnTo>
                  <a:pt x="214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5" name="Freeform 160"/>
          <p:cNvSpPr/>
          <p:nvPr/>
        </p:nvSpPr>
        <p:spPr bwMode="auto">
          <a:xfrm>
            <a:off x="5952405" y="4447635"/>
            <a:ext cx="248841" cy="16669"/>
          </a:xfrm>
          <a:custGeom>
            <a:avLst/>
            <a:gdLst>
              <a:gd name="T0" fmla="*/ 0 w 209"/>
              <a:gd name="T1" fmla="*/ 22225 h 14"/>
              <a:gd name="T2" fmla="*/ 47625 w 209"/>
              <a:gd name="T3" fmla="*/ 22225 h 14"/>
              <a:gd name="T4" fmla="*/ 93663 w 209"/>
              <a:gd name="T5" fmla="*/ 22225 h 14"/>
              <a:gd name="T6" fmla="*/ 138113 w 209"/>
              <a:gd name="T7" fmla="*/ 20638 h 14"/>
              <a:gd name="T8" fmla="*/ 177800 w 209"/>
              <a:gd name="T9" fmla="*/ 20638 h 14"/>
              <a:gd name="T10" fmla="*/ 215900 w 209"/>
              <a:gd name="T11" fmla="*/ 17463 h 14"/>
              <a:gd name="T12" fmla="*/ 250825 w 209"/>
              <a:gd name="T13" fmla="*/ 14288 h 14"/>
              <a:gd name="T14" fmla="*/ 279400 w 209"/>
              <a:gd name="T15" fmla="*/ 11113 h 14"/>
              <a:gd name="T16" fmla="*/ 301625 w 209"/>
              <a:gd name="T17" fmla="*/ 9525 h 14"/>
              <a:gd name="T18" fmla="*/ 317500 w 209"/>
              <a:gd name="T19" fmla="*/ 6350 h 14"/>
              <a:gd name="T20" fmla="*/ 327025 w 209"/>
              <a:gd name="T21" fmla="*/ 3175 h 14"/>
              <a:gd name="T22" fmla="*/ 331788 w 209"/>
              <a:gd name="T23" fmla="*/ 0 h 14"/>
              <a:gd name="T24" fmla="*/ 322263 w 209"/>
              <a:gd name="T25" fmla="*/ 0 h 14"/>
              <a:gd name="T26" fmla="*/ 319088 w 209"/>
              <a:gd name="T27" fmla="*/ 3175 h 14"/>
              <a:gd name="T28" fmla="*/ 306388 w 209"/>
              <a:gd name="T29" fmla="*/ 6350 h 14"/>
              <a:gd name="T30" fmla="*/ 288925 w 209"/>
              <a:gd name="T31" fmla="*/ 9525 h 14"/>
              <a:gd name="T32" fmla="*/ 260350 w 209"/>
              <a:gd name="T33" fmla="*/ 14288 h 14"/>
              <a:gd name="T34" fmla="*/ 228600 w 209"/>
              <a:gd name="T35" fmla="*/ 15875 h 14"/>
              <a:gd name="T36" fmla="*/ 190500 w 209"/>
              <a:gd name="T37" fmla="*/ 17463 h 14"/>
              <a:gd name="T38" fmla="*/ 146050 w 209"/>
              <a:gd name="T39" fmla="*/ 20638 h 14"/>
              <a:gd name="T40" fmla="*/ 100013 w 209"/>
              <a:gd name="T41" fmla="*/ 22225 h 14"/>
              <a:gd name="T42" fmla="*/ 50800 w 209"/>
              <a:gd name="T43" fmla="*/ 22225 h 14"/>
              <a:gd name="T44" fmla="*/ 0 w 209"/>
              <a:gd name="T45" fmla="*/ 22225 h 14"/>
              <a:gd name="T46" fmla="*/ 0 w 209"/>
              <a:gd name="T47" fmla="*/ 22225 h 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09" h="14">
                <a:moveTo>
                  <a:pt x="0" y="14"/>
                </a:moveTo>
                <a:lnTo>
                  <a:pt x="30" y="14"/>
                </a:lnTo>
                <a:lnTo>
                  <a:pt x="59" y="14"/>
                </a:lnTo>
                <a:lnTo>
                  <a:pt x="87" y="13"/>
                </a:lnTo>
                <a:lnTo>
                  <a:pt x="112" y="13"/>
                </a:lnTo>
                <a:lnTo>
                  <a:pt x="136" y="11"/>
                </a:lnTo>
                <a:lnTo>
                  <a:pt x="158" y="9"/>
                </a:lnTo>
                <a:lnTo>
                  <a:pt x="176" y="7"/>
                </a:lnTo>
                <a:lnTo>
                  <a:pt x="190" y="6"/>
                </a:lnTo>
                <a:lnTo>
                  <a:pt x="200" y="4"/>
                </a:lnTo>
                <a:lnTo>
                  <a:pt x="206" y="2"/>
                </a:lnTo>
                <a:lnTo>
                  <a:pt x="209" y="0"/>
                </a:lnTo>
                <a:lnTo>
                  <a:pt x="203" y="0"/>
                </a:lnTo>
                <a:lnTo>
                  <a:pt x="201" y="2"/>
                </a:lnTo>
                <a:lnTo>
                  <a:pt x="193" y="4"/>
                </a:lnTo>
                <a:lnTo>
                  <a:pt x="182" y="6"/>
                </a:lnTo>
                <a:lnTo>
                  <a:pt x="164" y="9"/>
                </a:lnTo>
                <a:lnTo>
                  <a:pt x="144" y="10"/>
                </a:lnTo>
                <a:lnTo>
                  <a:pt x="120" y="11"/>
                </a:lnTo>
                <a:lnTo>
                  <a:pt x="92" y="13"/>
                </a:lnTo>
                <a:lnTo>
                  <a:pt x="63" y="14"/>
                </a:lnTo>
                <a:lnTo>
                  <a:pt x="32" y="14"/>
                </a:lnTo>
                <a:lnTo>
                  <a:pt x="0" y="14"/>
                </a:lnTo>
                <a:close/>
              </a:path>
            </a:pathLst>
          </a:custGeom>
          <a:solidFill>
            <a:srgbClr val="BBBB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6" name="Freeform 161"/>
          <p:cNvSpPr/>
          <p:nvPr/>
        </p:nvSpPr>
        <p:spPr bwMode="auto">
          <a:xfrm>
            <a:off x="5952405" y="4447635"/>
            <a:ext cx="241697" cy="16669"/>
          </a:xfrm>
          <a:custGeom>
            <a:avLst/>
            <a:gdLst>
              <a:gd name="T0" fmla="*/ 322263 w 203"/>
              <a:gd name="T1" fmla="*/ 0 h 14"/>
              <a:gd name="T2" fmla="*/ 319088 w 203"/>
              <a:gd name="T3" fmla="*/ 3175 h 14"/>
              <a:gd name="T4" fmla="*/ 306388 w 203"/>
              <a:gd name="T5" fmla="*/ 6350 h 14"/>
              <a:gd name="T6" fmla="*/ 288925 w 203"/>
              <a:gd name="T7" fmla="*/ 9525 h 14"/>
              <a:gd name="T8" fmla="*/ 260350 w 203"/>
              <a:gd name="T9" fmla="*/ 14288 h 14"/>
              <a:gd name="T10" fmla="*/ 228600 w 203"/>
              <a:gd name="T11" fmla="*/ 15875 h 14"/>
              <a:gd name="T12" fmla="*/ 190500 w 203"/>
              <a:gd name="T13" fmla="*/ 17463 h 14"/>
              <a:gd name="T14" fmla="*/ 146050 w 203"/>
              <a:gd name="T15" fmla="*/ 20638 h 14"/>
              <a:gd name="T16" fmla="*/ 100013 w 203"/>
              <a:gd name="T17" fmla="*/ 22225 h 14"/>
              <a:gd name="T18" fmla="*/ 50800 w 203"/>
              <a:gd name="T19" fmla="*/ 22225 h 14"/>
              <a:gd name="T20" fmla="*/ 0 w 203"/>
              <a:gd name="T21" fmla="*/ 22225 h 14"/>
              <a:gd name="T22" fmla="*/ 0 w 203"/>
              <a:gd name="T23" fmla="*/ 22225 h 14"/>
              <a:gd name="T24" fmla="*/ 49213 w 203"/>
              <a:gd name="T25" fmla="*/ 22225 h 14"/>
              <a:gd name="T26" fmla="*/ 98425 w 203"/>
              <a:gd name="T27" fmla="*/ 20638 h 14"/>
              <a:gd name="T28" fmla="*/ 141288 w 203"/>
              <a:gd name="T29" fmla="*/ 20638 h 14"/>
              <a:gd name="T30" fmla="*/ 184150 w 203"/>
              <a:gd name="T31" fmla="*/ 17463 h 14"/>
              <a:gd name="T32" fmla="*/ 222250 w 203"/>
              <a:gd name="T33" fmla="*/ 15875 h 14"/>
              <a:gd name="T34" fmla="*/ 254000 w 203"/>
              <a:gd name="T35" fmla="*/ 11113 h 14"/>
              <a:gd name="T36" fmla="*/ 280988 w 203"/>
              <a:gd name="T37" fmla="*/ 9525 h 14"/>
              <a:gd name="T38" fmla="*/ 298450 w 203"/>
              <a:gd name="T39" fmla="*/ 6350 h 14"/>
              <a:gd name="T40" fmla="*/ 311150 w 203"/>
              <a:gd name="T41" fmla="*/ 3175 h 14"/>
              <a:gd name="T42" fmla="*/ 314325 w 203"/>
              <a:gd name="T43" fmla="*/ 0 h 14"/>
              <a:gd name="T44" fmla="*/ 322263 w 203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3" h="14">
                <a:moveTo>
                  <a:pt x="203" y="0"/>
                </a:moveTo>
                <a:lnTo>
                  <a:pt x="201" y="2"/>
                </a:lnTo>
                <a:lnTo>
                  <a:pt x="193" y="4"/>
                </a:lnTo>
                <a:lnTo>
                  <a:pt x="182" y="6"/>
                </a:lnTo>
                <a:lnTo>
                  <a:pt x="164" y="9"/>
                </a:lnTo>
                <a:lnTo>
                  <a:pt x="144" y="10"/>
                </a:lnTo>
                <a:lnTo>
                  <a:pt x="120" y="11"/>
                </a:lnTo>
                <a:lnTo>
                  <a:pt x="92" y="13"/>
                </a:lnTo>
                <a:lnTo>
                  <a:pt x="63" y="14"/>
                </a:lnTo>
                <a:lnTo>
                  <a:pt x="32" y="14"/>
                </a:lnTo>
                <a:lnTo>
                  <a:pt x="0" y="14"/>
                </a:lnTo>
                <a:lnTo>
                  <a:pt x="31" y="14"/>
                </a:lnTo>
                <a:lnTo>
                  <a:pt x="62" y="13"/>
                </a:lnTo>
                <a:lnTo>
                  <a:pt x="89" y="13"/>
                </a:lnTo>
                <a:lnTo>
                  <a:pt x="116" y="11"/>
                </a:lnTo>
                <a:lnTo>
                  <a:pt x="140" y="10"/>
                </a:lnTo>
                <a:lnTo>
                  <a:pt x="160" y="7"/>
                </a:lnTo>
                <a:lnTo>
                  <a:pt x="177" y="6"/>
                </a:lnTo>
                <a:lnTo>
                  <a:pt x="188" y="4"/>
                </a:lnTo>
                <a:lnTo>
                  <a:pt x="196" y="2"/>
                </a:lnTo>
                <a:lnTo>
                  <a:pt x="198" y="0"/>
                </a:lnTo>
                <a:lnTo>
                  <a:pt x="203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7" name="Freeform 162"/>
          <p:cNvSpPr/>
          <p:nvPr/>
        </p:nvSpPr>
        <p:spPr bwMode="auto">
          <a:xfrm>
            <a:off x="5952405" y="4447635"/>
            <a:ext cx="235744" cy="16669"/>
          </a:xfrm>
          <a:custGeom>
            <a:avLst/>
            <a:gdLst>
              <a:gd name="T0" fmla="*/ 0 w 198"/>
              <a:gd name="T1" fmla="*/ 22225 h 14"/>
              <a:gd name="T2" fmla="*/ 49213 w 198"/>
              <a:gd name="T3" fmla="*/ 22225 h 14"/>
              <a:gd name="T4" fmla="*/ 98425 w 198"/>
              <a:gd name="T5" fmla="*/ 20638 h 14"/>
              <a:gd name="T6" fmla="*/ 141288 w 198"/>
              <a:gd name="T7" fmla="*/ 20638 h 14"/>
              <a:gd name="T8" fmla="*/ 184150 w 198"/>
              <a:gd name="T9" fmla="*/ 17463 h 14"/>
              <a:gd name="T10" fmla="*/ 222250 w 198"/>
              <a:gd name="T11" fmla="*/ 15875 h 14"/>
              <a:gd name="T12" fmla="*/ 254000 w 198"/>
              <a:gd name="T13" fmla="*/ 11113 h 14"/>
              <a:gd name="T14" fmla="*/ 280988 w 198"/>
              <a:gd name="T15" fmla="*/ 9525 h 14"/>
              <a:gd name="T16" fmla="*/ 298450 w 198"/>
              <a:gd name="T17" fmla="*/ 6350 h 14"/>
              <a:gd name="T18" fmla="*/ 311150 w 198"/>
              <a:gd name="T19" fmla="*/ 3175 h 14"/>
              <a:gd name="T20" fmla="*/ 314325 w 198"/>
              <a:gd name="T21" fmla="*/ 0 h 14"/>
              <a:gd name="T22" fmla="*/ 304800 w 198"/>
              <a:gd name="T23" fmla="*/ 0 h 14"/>
              <a:gd name="T24" fmla="*/ 301625 w 198"/>
              <a:gd name="T25" fmla="*/ 3175 h 14"/>
              <a:gd name="T26" fmla="*/ 290513 w 198"/>
              <a:gd name="T27" fmla="*/ 6350 h 14"/>
              <a:gd name="T28" fmla="*/ 273050 w 198"/>
              <a:gd name="T29" fmla="*/ 9525 h 14"/>
              <a:gd name="T30" fmla="*/ 246063 w 198"/>
              <a:gd name="T31" fmla="*/ 11113 h 14"/>
              <a:gd name="T32" fmla="*/ 215900 w 198"/>
              <a:gd name="T33" fmla="*/ 14288 h 14"/>
              <a:gd name="T34" fmla="*/ 180975 w 198"/>
              <a:gd name="T35" fmla="*/ 17463 h 14"/>
              <a:gd name="T36" fmla="*/ 138113 w 198"/>
              <a:gd name="T37" fmla="*/ 17463 h 14"/>
              <a:gd name="T38" fmla="*/ 93663 w 198"/>
              <a:gd name="T39" fmla="*/ 20638 h 14"/>
              <a:gd name="T40" fmla="*/ 47625 w 198"/>
              <a:gd name="T41" fmla="*/ 20638 h 14"/>
              <a:gd name="T42" fmla="*/ 0 w 198"/>
              <a:gd name="T43" fmla="*/ 22225 h 14"/>
              <a:gd name="T44" fmla="*/ 0 w 198"/>
              <a:gd name="T45" fmla="*/ 22225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8" h="14">
                <a:moveTo>
                  <a:pt x="0" y="14"/>
                </a:moveTo>
                <a:lnTo>
                  <a:pt x="31" y="14"/>
                </a:lnTo>
                <a:lnTo>
                  <a:pt x="62" y="13"/>
                </a:lnTo>
                <a:lnTo>
                  <a:pt x="89" y="13"/>
                </a:lnTo>
                <a:lnTo>
                  <a:pt x="116" y="11"/>
                </a:lnTo>
                <a:lnTo>
                  <a:pt x="140" y="10"/>
                </a:lnTo>
                <a:lnTo>
                  <a:pt x="160" y="7"/>
                </a:lnTo>
                <a:lnTo>
                  <a:pt x="177" y="6"/>
                </a:lnTo>
                <a:lnTo>
                  <a:pt x="188" y="4"/>
                </a:lnTo>
                <a:lnTo>
                  <a:pt x="196" y="2"/>
                </a:lnTo>
                <a:lnTo>
                  <a:pt x="198" y="0"/>
                </a:lnTo>
                <a:lnTo>
                  <a:pt x="192" y="0"/>
                </a:lnTo>
                <a:lnTo>
                  <a:pt x="190" y="2"/>
                </a:lnTo>
                <a:lnTo>
                  <a:pt x="183" y="4"/>
                </a:lnTo>
                <a:lnTo>
                  <a:pt x="172" y="6"/>
                </a:lnTo>
                <a:lnTo>
                  <a:pt x="155" y="7"/>
                </a:lnTo>
                <a:lnTo>
                  <a:pt x="136" y="9"/>
                </a:lnTo>
                <a:lnTo>
                  <a:pt x="114" y="11"/>
                </a:lnTo>
                <a:lnTo>
                  <a:pt x="87" y="11"/>
                </a:lnTo>
                <a:lnTo>
                  <a:pt x="59" y="13"/>
                </a:lnTo>
                <a:lnTo>
                  <a:pt x="30" y="13"/>
                </a:lnTo>
                <a:lnTo>
                  <a:pt x="0" y="14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8" name="Freeform 163"/>
          <p:cNvSpPr/>
          <p:nvPr/>
        </p:nvSpPr>
        <p:spPr bwMode="auto">
          <a:xfrm>
            <a:off x="5952405" y="4447635"/>
            <a:ext cx="228600" cy="16669"/>
          </a:xfrm>
          <a:custGeom>
            <a:avLst/>
            <a:gdLst>
              <a:gd name="T0" fmla="*/ 304800 w 192"/>
              <a:gd name="T1" fmla="*/ 0 h 14"/>
              <a:gd name="T2" fmla="*/ 301625 w 192"/>
              <a:gd name="T3" fmla="*/ 3175 h 14"/>
              <a:gd name="T4" fmla="*/ 290513 w 192"/>
              <a:gd name="T5" fmla="*/ 6350 h 14"/>
              <a:gd name="T6" fmla="*/ 273050 w 192"/>
              <a:gd name="T7" fmla="*/ 9525 h 14"/>
              <a:gd name="T8" fmla="*/ 246063 w 192"/>
              <a:gd name="T9" fmla="*/ 11113 h 14"/>
              <a:gd name="T10" fmla="*/ 215900 w 192"/>
              <a:gd name="T11" fmla="*/ 14288 h 14"/>
              <a:gd name="T12" fmla="*/ 180975 w 192"/>
              <a:gd name="T13" fmla="*/ 17463 h 14"/>
              <a:gd name="T14" fmla="*/ 138113 w 192"/>
              <a:gd name="T15" fmla="*/ 17463 h 14"/>
              <a:gd name="T16" fmla="*/ 93663 w 192"/>
              <a:gd name="T17" fmla="*/ 20638 h 14"/>
              <a:gd name="T18" fmla="*/ 47625 w 192"/>
              <a:gd name="T19" fmla="*/ 20638 h 14"/>
              <a:gd name="T20" fmla="*/ 0 w 192"/>
              <a:gd name="T21" fmla="*/ 22225 h 14"/>
              <a:gd name="T22" fmla="*/ 0 w 192"/>
              <a:gd name="T23" fmla="*/ 20638 h 14"/>
              <a:gd name="T24" fmla="*/ 46038 w 192"/>
              <a:gd name="T25" fmla="*/ 20638 h 14"/>
              <a:gd name="T26" fmla="*/ 92075 w 192"/>
              <a:gd name="T27" fmla="*/ 20638 h 14"/>
              <a:gd name="T28" fmla="*/ 133350 w 192"/>
              <a:gd name="T29" fmla="*/ 17463 h 14"/>
              <a:gd name="T30" fmla="*/ 174625 w 192"/>
              <a:gd name="T31" fmla="*/ 15875 h 14"/>
              <a:gd name="T32" fmla="*/ 207963 w 192"/>
              <a:gd name="T33" fmla="*/ 14288 h 14"/>
              <a:gd name="T34" fmla="*/ 238125 w 192"/>
              <a:gd name="T35" fmla="*/ 11113 h 14"/>
              <a:gd name="T36" fmla="*/ 261938 w 192"/>
              <a:gd name="T37" fmla="*/ 9525 h 14"/>
              <a:gd name="T38" fmla="*/ 280988 w 192"/>
              <a:gd name="T39" fmla="*/ 6350 h 14"/>
              <a:gd name="T40" fmla="*/ 292100 w 192"/>
              <a:gd name="T41" fmla="*/ 3175 h 14"/>
              <a:gd name="T42" fmla="*/ 295275 w 192"/>
              <a:gd name="T43" fmla="*/ 0 h 14"/>
              <a:gd name="T44" fmla="*/ 304800 w 192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2" h="14">
                <a:moveTo>
                  <a:pt x="192" y="0"/>
                </a:moveTo>
                <a:lnTo>
                  <a:pt x="190" y="2"/>
                </a:lnTo>
                <a:lnTo>
                  <a:pt x="183" y="4"/>
                </a:lnTo>
                <a:lnTo>
                  <a:pt x="172" y="6"/>
                </a:lnTo>
                <a:lnTo>
                  <a:pt x="155" y="7"/>
                </a:lnTo>
                <a:lnTo>
                  <a:pt x="136" y="9"/>
                </a:lnTo>
                <a:lnTo>
                  <a:pt x="114" y="11"/>
                </a:lnTo>
                <a:lnTo>
                  <a:pt x="87" y="11"/>
                </a:lnTo>
                <a:lnTo>
                  <a:pt x="59" y="13"/>
                </a:lnTo>
                <a:lnTo>
                  <a:pt x="30" y="13"/>
                </a:lnTo>
                <a:lnTo>
                  <a:pt x="0" y="14"/>
                </a:lnTo>
                <a:lnTo>
                  <a:pt x="0" y="13"/>
                </a:lnTo>
                <a:lnTo>
                  <a:pt x="29" y="13"/>
                </a:lnTo>
                <a:lnTo>
                  <a:pt x="58" y="13"/>
                </a:lnTo>
                <a:lnTo>
                  <a:pt x="84" y="11"/>
                </a:lnTo>
                <a:lnTo>
                  <a:pt x="110" y="10"/>
                </a:lnTo>
                <a:lnTo>
                  <a:pt x="131" y="9"/>
                </a:lnTo>
                <a:lnTo>
                  <a:pt x="150" y="7"/>
                </a:lnTo>
                <a:lnTo>
                  <a:pt x="165" y="6"/>
                </a:lnTo>
                <a:lnTo>
                  <a:pt x="177" y="4"/>
                </a:lnTo>
                <a:lnTo>
                  <a:pt x="184" y="2"/>
                </a:lnTo>
                <a:lnTo>
                  <a:pt x="186" y="0"/>
                </a:lnTo>
                <a:lnTo>
                  <a:pt x="192" y="0"/>
                </a:lnTo>
                <a:close/>
              </a:path>
            </a:pathLst>
          </a:custGeom>
          <a:solidFill>
            <a:srgbClr val="AFAF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599" name="Freeform 164"/>
          <p:cNvSpPr/>
          <p:nvPr/>
        </p:nvSpPr>
        <p:spPr bwMode="auto">
          <a:xfrm>
            <a:off x="5952405" y="4447635"/>
            <a:ext cx="221456" cy="15478"/>
          </a:xfrm>
          <a:custGeom>
            <a:avLst/>
            <a:gdLst>
              <a:gd name="T0" fmla="*/ 0 w 186"/>
              <a:gd name="T1" fmla="*/ 20637 h 13"/>
              <a:gd name="T2" fmla="*/ 46038 w 186"/>
              <a:gd name="T3" fmla="*/ 20637 h 13"/>
              <a:gd name="T4" fmla="*/ 92075 w 186"/>
              <a:gd name="T5" fmla="*/ 20637 h 13"/>
              <a:gd name="T6" fmla="*/ 133350 w 186"/>
              <a:gd name="T7" fmla="*/ 17462 h 13"/>
              <a:gd name="T8" fmla="*/ 174625 w 186"/>
              <a:gd name="T9" fmla="*/ 15875 h 13"/>
              <a:gd name="T10" fmla="*/ 207963 w 186"/>
              <a:gd name="T11" fmla="*/ 14287 h 13"/>
              <a:gd name="T12" fmla="*/ 238125 w 186"/>
              <a:gd name="T13" fmla="*/ 11112 h 13"/>
              <a:gd name="T14" fmla="*/ 261938 w 186"/>
              <a:gd name="T15" fmla="*/ 9525 h 13"/>
              <a:gd name="T16" fmla="*/ 280988 w 186"/>
              <a:gd name="T17" fmla="*/ 6350 h 13"/>
              <a:gd name="T18" fmla="*/ 292100 w 186"/>
              <a:gd name="T19" fmla="*/ 3175 h 13"/>
              <a:gd name="T20" fmla="*/ 295275 w 186"/>
              <a:gd name="T21" fmla="*/ 0 h 13"/>
              <a:gd name="T22" fmla="*/ 284163 w 186"/>
              <a:gd name="T23" fmla="*/ 0 h 13"/>
              <a:gd name="T24" fmla="*/ 282575 w 186"/>
              <a:gd name="T25" fmla="*/ 3175 h 13"/>
              <a:gd name="T26" fmla="*/ 271463 w 186"/>
              <a:gd name="T27" fmla="*/ 6350 h 13"/>
              <a:gd name="T28" fmla="*/ 254000 w 186"/>
              <a:gd name="T29" fmla="*/ 7937 h 13"/>
              <a:gd name="T30" fmla="*/ 230188 w 186"/>
              <a:gd name="T31" fmla="*/ 11112 h 13"/>
              <a:gd name="T32" fmla="*/ 201613 w 186"/>
              <a:gd name="T33" fmla="*/ 14287 h 13"/>
              <a:gd name="T34" fmla="*/ 168275 w 186"/>
              <a:gd name="T35" fmla="*/ 15875 h 13"/>
              <a:gd name="T36" fmla="*/ 130175 w 186"/>
              <a:gd name="T37" fmla="*/ 17462 h 13"/>
              <a:gd name="T38" fmla="*/ 87313 w 186"/>
              <a:gd name="T39" fmla="*/ 17462 h 13"/>
              <a:gd name="T40" fmla="*/ 46038 w 186"/>
              <a:gd name="T41" fmla="*/ 20637 h 13"/>
              <a:gd name="T42" fmla="*/ 0 w 186"/>
              <a:gd name="T43" fmla="*/ 20637 h 13"/>
              <a:gd name="T44" fmla="*/ 0 w 186"/>
              <a:gd name="T45" fmla="*/ 20637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6" h="13">
                <a:moveTo>
                  <a:pt x="0" y="13"/>
                </a:moveTo>
                <a:lnTo>
                  <a:pt x="29" y="13"/>
                </a:lnTo>
                <a:lnTo>
                  <a:pt x="58" y="13"/>
                </a:lnTo>
                <a:lnTo>
                  <a:pt x="84" y="11"/>
                </a:lnTo>
                <a:lnTo>
                  <a:pt x="110" y="10"/>
                </a:lnTo>
                <a:lnTo>
                  <a:pt x="131" y="9"/>
                </a:lnTo>
                <a:lnTo>
                  <a:pt x="150" y="7"/>
                </a:lnTo>
                <a:lnTo>
                  <a:pt x="165" y="6"/>
                </a:lnTo>
                <a:lnTo>
                  <a:pt x="177" y="4"/>
                </a:lnTo>
                <a:lnTo>
                  <a:pt x="184" y="2"/>
                </a:lnTo>
                <a:lnTo>
                  <a:pt x="186" y="0"/>
                </a:lnTo>
                <a:lnTo>
                  <a:pt x="179" y="0"/>
                </a:lnTo>
                <a:lnTo>
                  <a:pt x="178" y="2"/>
                </a:lnTo>
                <a:lnTo>
                  <a:pt x="171" y="4"/>
                </a:lnTo>
                <a:lnTo>
                  <a:pt x="160" y="5"/>
                </a:lnTo>
                <a:lnTo>
                  <a:pt x="145" y="7"/>
                </a:lnTo>
                <a:lnTo>
                  <a:pt x="127" y="9"/>
                </a:lnTo>
                <a:lnTo>
                  <a:pt x="106" y="10"/>
                </a:lnTo>
                <a:lnTo>
                  <a:pt x="82" y="11"/>
                </a:lnTo>
                <a:lnTo>
                  <a:pt x="55" y="11"/>
                </a:lnTo>
                <a:lnTo>
                  <a:pt x="29" y="13"/>
                </a:lnTo>
                <a:lnTo>
                  <a:pt x="0" y="13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0" name="Freeform 165"/>
          <p:cNvSpPr/>
          <p:nvPr/>
        </p:nvSpPr>
        <p:spPr bwMode="auto">
          <a:xfrm>
            <a:off x="5952405" y="4447635"/>
            <a:ext cx="213122" cy="15478"/>
          </a:xfrm>
          <a:custGeom>
            <a:avLst/>
            <a:gdLst>
              <a:gd name="T0" fmla="*/ 284163 w 179"/>
              <a:gd name="T1" fmla="*/ 0 h 13"/>
              <a:gd name="T2" fmla="*/ 282575 w 179"/>
              <a:gd name="T3" fmla="*/ 3175 h 13"/>
              <a:gd name="T4" fmla="*/ 271463 w 179"/>
              <a:gd name="T5" fmla="*/ 6350 h 13"/>
              <a:gd name="T6" fmla="*/ 254000 w 179"/>
              <a:gd name="T7" fmla="*/ 7937 h 13"/>
              <a:gd name="T8" fmla="*/ 230188 w 179"/>
              <a:gd name="T9" fmla="*/ 11112 h 13"/>
              <a:gd name="T10" fmla="*/ 201613 w 179"/>
              <a:gd name="T11" fmla="*/ 14287 h 13"/>
              <a:gd name="T12" fmla="*/ 168275 w 179"/>
              <a:gd name="T13" fmla="*/ 15875 h 13"/>
              <a:gd name="T14" fmla="*/ 130175 w 179"/>
              <a:gd name="T15" fmla="*/ 17462 h 13"/>
              <a:gd name="T16" fmla="*/ 87313 w 179"/>
              <a:gd name="T17" fmla="*/ 17462 h 13"/>
              <a:gd name="T18" fmla="*/ 46038 w 179"/>
              <a:gd name="T19" fmla="*/ 20637 h 13"/>
              <a:gd name="T20" fmla="*/ 0 w 179"/>
              <a:gd name="T21" fmla="*/ 20637 h 13"/>
              <a:gd name="T22" fmla="*/ 0 w 179"/>
              <a:gd name="T23" fmla="*/ 17462 h 13"/>
              <a:gd name="T24" fmla="*/ 42863 w 179"/>
              <a:gd name="T25" fmla="*/ 17462 h 13"/>
              <a:gd name="T26" fmla="*/ 85725 w 179"/>
              <a:gd name="T27" fmla="*/ 17462 h 13"/>
              <a:gd name="T28" fmla="*/ 123825 w 179"/>
              <a:gd name="T29" fmla="*/ 15875 h 13"/>
              <a:gd name="T30" fmla="*/ 161925 w 179"/>
              <a:gd name="T31" fmla="*/ 15875 h 13"/>
              <a:gd name="T32" fmla="*/ 193675 w 179"/>
              <a:gd name="T33" fmla="*/ 14287 h 13"/>
              <a:gd name="T34" fmla="*/ 222250 w 179"/>
              <a:gd name="T35" fmla="*/ 11112 h 13"/>
              <a:gd name="T36" fmla="*/ 244475 w 179"/>
              <a:gd name="T37" fmla="*/ 7937 h 13"/>
              <a:gd name="T38" fmla="*/ 260350 w 179"/>
              <a:gd name="T39" fmla="*/ 6350 h 13"/>
              <a:gd name="T40" fmla="*/ 271463 w 179"/>
              <a:gd name="T41" fmla="*/ 1587 h 13"/>
              <a:gd name="T42" fmla="*/ 274638 w 179"/>
              <a:gd name="T43" fmla="*/ 0 h 13"/>
              <a:gd name="T44" fmla="*/ 284163 w 179"/>
              <a:gd name="T45" fmla="*/ 0 h 1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79" h="13">
                <a:moveTo>
                  <a:pt x="179" y="0"/>
                </a:moveTo>
                <a:lnTo>
                  <a:pt x="178" y="2"/>
                </a:lnTo>
                <a:lnTo>
                  <a:pt x="171" y="4"/>
                </a:lnTo>
                <a:lnTo>
                  <a:pt x="160" y="5"/>
                </a:lnTo>
                <a:lnTo>
                  <a:pt x="145" y="7"/>
                </a:lnTo>
                <a:lnTo>
                  <a:pt x="127" y="9"/>
                </a:lnTo>
                <a:lnTo>
                  <a:pt x="106" y="10"/>
                </a:lnTo>
                <a:lnTo>
                  <a:pt x="82" y="11"/>
                </a:lnTo>
                <a:lnTo>
                  <a:pt x="55" y="11"/>
                </a:lnTo>
                <a:lnTo>
                  <a:pt x="29" y="13"/>
                </a:lnTo>
                <a:lnTo>
                  <a:pt x="0" y="13"/>
                </a:lnTo>
                <a:lnTo>
                  <a:pt x="0" y="11"/>
                </a:lnTo>
                <a:lnTo>
                  <a:pt x="27" y="11"/>
                </a:lnTo>
                <a:lnTo>
                  <a:pt x="54" y="11"/>
                </a:lnTo>
                <a:lnTo>
                  <a:pt x="78" y="10"/>
                </a:lnTo>
                <a:lnTo>
                  <a:pt x="102" y="10"/>
                </a:lnTo>
                <a:lnTo>
                  <a:pt x="122" y="9"/>
                </a:lnTo>
                <a:lnTo>
                  <a:pt x="140" y="7"/>
                </a:lnTo>
                <a:lnTo>
                  <a:pt x="154" y="5"/>
                </a:lnTo>
                <a:lnTo>
                  <a:pt x="164" y="4"/>
                </a:lnTo>
                <a:lnTo>
                  <a:pt x="171" y="1"/>
                </a:lnTo>
                <a:lnTo>
                  <a:pt x="173" y="0"/>
                </a:lnTo>
                <a:lnTo>
                  <a:pt x="179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1" name="Freeform 166"/>
          <p:cNvSpPr/>
          <p:nvPr/>
        </p:nvSpPr>
        <p:spPr bwMode="auto">
          <a:xfrm>
            <a:off x="5952405" y="4447635"/>
            <a:ext cx="205979" cy="13097"/>
          </a:xfrm>
          <a:custGeom>
            <a:avLst/>
            <a:gdLst>
              <a:gd name="T0" fmla="*/ 0 w 173"/>
              <a:gd name="T1" fmla="*/ 17462 h 11"/>
              <a:gd name="T2" fmla="*/ 42863 w 173"/>
              <a:gd name="T3" fmla="*/ 17462 h 11"/>
              <a:gd name="T4" fmla="*/ 85725 w 173"/>
              <a:gd name="T5" fmla="*/ 17462 h 11"/>
              <a:gd name="T6" fmla="*/ 123825 w 173"/>
              <a:gd name="T7" fmla="*/ 15875 h 11"/>
              <a:gd name="T8" fmla="*/ 161925 w 173"/>
              <a:gd name="T9" fmla="*/ 15875 h 11"/>
              <a:gd name="T10" fmla="*/ 193675 w 173"/>
              <a:gd name="T11" fmla="*/ 14287 h 11"/>
              <a:gd name="T12" fmla="*/ 222250 w 173"/>
              <a:gd name="T13" fmla="*/ 11112 h 11"/>
              <a:gd name="T14" fmla="*/ 244475 w 173"/>
              <a:gd name="T15" fmla="*/ 7937 h 11"/>
              <a:gd name="T16" fmla="*/ 260350 w 173"/>
              <a:gd name="T17" fmla="*/ 6350 h 11"/>
              <a:gd name="T18" fmla="*/ 271463 w 173"/>
              <a:gd name="T19" fmla="*/ 1587 h 11"/>
              <a:gd name="T20" fmla="*/ 274638 w 173"/>
              <a:gd name="T21" fmla="*/ 0 h 11"/>
              <a:gd name="T22" fmla="*/ 261938 w 173"/>
              <a:gd name="T23" fmla="*/ 0 h 11"/>
              <a:gd name="T24" fmla="*/ 258763 w 173"/>
              <a:gd name="T25" fmla="*/ 3175 h 11"/>
              <a:gd name="T26" fmla="*/ 246063 w 173"/>
              <a:gd name="T27" fmla="*/ 6350 h 11"/>
              <a:gd name="T28" fmla="*/ 228600 w 173"/>
              <a:gd name="T29" fmla="*/ 9525 h 11"/>
              <a:gd name="T30" fmla="*/ 201613 w 173"/>
              <a:gd name="T31" fmla="*/ 11112 h 11"/>
              <a:gd name="T32" fmla="*/ 169863 w 173"/>
              <a:gd name="T33" fmla="*/ 14287 h 11"/>
              <a:gd name="T34" fmla="*/ 131763 w 173"/>
              <a:gd name="T35" fmla="*/ 15875 h 11"/>
              <a:gd name="T36" fmla="*/ 90488 w 173"/>
              <a:gd name="T37" fmla="*/ 17462 h 11"/>
              <a:gd name="T38" fmla="*/ 46038 w 173"/>
              <a:gd name="T39" fmla="*/ 17462 h 11"/>
              <a:gd name="T40" fmla="*/ 0 w 173"/>
              <a:gd name="T41" fmla="*/ 17462 h 11"/>
              <a:gd name="T42" fmla="*/ 0 w 173"/>
              <a:gd name="T43" fmla="*/ 17462 h 1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73" h="11">
                <a:moveTo>
                  <a:pt x="0" y="11"/>
                </a:moveTo>
                <a:lnTo>
                  <a:pt x="27" y="11"/>
                </a:lnTo>
                <a:lnTo>
                  <a:pt x="54" y="11"/>
                </a:lnTo>
                <a:lnTo>
                  <a:pt x="78" y="10"/>
                </a:lnTo>
                <a:lnTo>
                  <a:pt x="102" y="10"/>
                </a:lnTo>
                <a:lnTo>
                  <a:pt x="122" y="9"/>
                </a:lnTo>
                <a:lnTo>
                  <a:pt x="140" y="7"/>
                </a:lnTo>
                <a:lnTo>
                  <a:pt x="154" y="5"/>
                </a:lnTo>
                <a:lnTo>
                  <a:pt x="164" y="4"/>
                </a:lnTo>
                <a:lnTo>
                  <a:pt x="171" y="1"/>
                </a:lnTo>
                <a:lnTo>
                  <a:pt x="173" y="0"/>
                </a:lnTo>
                <a:lnTo>
                  <a:pt x="165" y="0"/>
                </a:lnTo>
                <a:lnTo>
                  <a:pt x="163" y="2"/>
                </a:lnTo>
                <a:lnTo>
                  <a:pt x="155" y="4"/>
                </a:lnTo>
                <a:lnTo>
                  <a:pt x="144" y="6"/>
                </a:lnTo>
                <a:lnTo>
                  <a:pt x="127" y="7"/>
                </a:lnTo>
                <a:lnTo>
                  <a:pt x="107" y="9"/>
                </a:lnTo>
                <a:lnTo>
                  <a:pt x="83" y="10"/>
                </a:lnTo>
                <a:lnTo>
                  <a:pt x="57" y="11"/>
                </a:lnTo>
                <a:lnTo>
                  <a:pt x="29" y="11"/>
                </a:lnTo>
                <a:lnTo>
                  <a:pt x="0" y="11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2" name="Freeform 167"/>
          <p:cNvSpPr/>
          <p:nvPr/>
        </p:nvSpPr>
        <p:spPr bwMode="auto">
          <a:xfrm>
            <a:off x="5952405" y="4447635"/>
            <a:ext cx="196454" cy="13097"/>
          </a:xfrm>
          <a:custGeom>
            <a:avLst/>
            <a:gdLst>
              <a:gd name="T0" fmla="*/ 261938 w 165"/>
              <a:gd name="T1" fmla="*/ 0 h 11"/>
              <a:gd name="T2" fmla="*/ 258763 w 165"/>
              <a:gd name="T3" fmla="*/ 3175 h 11"/>
              <a:gd name="T4" fmla="*/ 246063 w 165"/>
              <a:gd name="T5" fmla="*/ 6350 h 11"/>
              <a:gd name="T6" fmla="*/ 228600 w 165"/>
              <a:gd name="T7" fmla="*/ 9525 h 11"/>
              <a:gd name="T8" fmla="*/ 201613 w 165"/>
              <a:gd name="T9" fmla="*/ 11112 h 11"/>
              <a:gd name="T10" fmla="*/ 169863 w 165"/>
              <a:gd name="T11" fmla="*/ 14287 h 11"/>
              <a:gd name="T12" fmla="*/ 131763 w 165"/>
              <a:gd name="T13" fmla="*/ 15875 h 11"/>
              <a:gd name="T14" fmla="*/ 90488 w 165"/>
              <a:gd name="T15" fmla="*/ 17462 h 11"/>
              <a:gd name="T16" fmla="*/ 46038 w 165"/>
              <a:gd name="T17" fmla="*/ 17462 h 11"/>
              <a:gd name="T18" fmla="*/ 0 w 165"/>
              <a:gd name="T19" fmla="*/ 17462 h 11"/>
              <a:gd name="T20" fmla="*/ 0 w 165"/>
              <a:gd name="T21" fmla="*/ 17462 h 11"/>
              <a:gd name="T22" fmla="*/ 42863 w 165"/>
              <a:gd name="T23" fmla="*/ 17462 h 11"/>
              <a:gd name="T24" fmla="*/ 85725 w 165"/>
              <a:gd name="T25" fmla="*/ 15875 h 11"/>
              <a:gd name="T26" fmla="*/ 125413 w 165"/>
              <a:gd name="T27" fmla="*/ 15875 h 11"/>
              <a:gd name="T28" fmla="*/ 161925 w 165"/>
              <a:gd name="T29" fmla="*/ 14287 h 11"/>
              <a:gd name="T30" fmla="*/ 192088 w 165"/>
              <a:gd name="T31" fmla="*/ 11112 h 11"/>
              <a:gd name="T32" fmla="*/ 219075 w 165"/>
              <a:gd name="T33" fmla="*/ 7937 h 11"/>
              <a:gd name="T34" fmla="*/ 236538 w 165"/>
              <a:gd name="T35" fmla="*/ 6350 h 11"/>
              <a:gd name="T36" fmla="*/ 249238 w 165"/>
              <a:gd name="T37" fmla="*/ 3175 h 11"/>
              <a:gd name="T38" fmla="*/ 250825 w 165"/>
              <a:gd name="T39" fmla="*/ 0 h 11"/>
              <a:gd name="T40" fmla="*/ 261938 w 165"/>
              <a:gd name="T41" fmla="*/ 0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65" h="11">
                <a:moveTo>
                  <a:pt x="165" y="0"/>
                </a:moveTo>
                <a:lnTo>
                  <a:pt x="163" y="2"/>
                </a:lnTo>
                <a:lnTo>
                  <a:pt x="155" y="4"/>
                </a:lnTo>
                <a:lnTo>
                  <a:pt x="144" y="6"/>
                </a:lnTo>
                <a:lnTo>
                  <a:pt x="127" y="7"/>
                </a:lnTo>
                <a:lnTo>
                  <a:pt x="107" y="9"/>
                </a:lnTo>
                <a:lnTo>
                  <a:pt x="83" y="10"/>
                </a:lnTo>
                <a:lnTo>
                  <a:pt x="57" y="11"/>
                </a:lnTo>
                <a:lnTo>
                  <a:pt x="29" y="11"/>
                </a:lnTo>
                <a:lnTo>
                  <a:pt x="0" y="11"/>
                </a:lnTo>
                <a:lnTo>
                  <a:pt x="27" y="11"/>
                </a:lnTo>
                <a:lnTo>
                  <a:pt x="54" y="10"/>
                </a:lnTo>
                <a:lnTo>
                  <a:pt x="79" y="10"/>
                </a:lnTo>
                <a:lnTo>
                  <a:pt x="102" y="9"/>
                </a:lnTo>
                <a:lnTo>
                  <a:pt x="121" y="7"/>
                </a:lnTo>
                <a:lnTo>
                  <a:pt x="138" y="5"/>
                </a:lnTo>
                <a:lnTo>
                  <a:pt x="149" y="4"/>
                </a:lnTo>
                <a:lnTo>
                  <a:pt x="157" y="2"/>
                </a:lnTo>
                <a:lnTo>
                  <a:pt x="158" y="0"/>
                </a:lnTo>
                <a:lnTo>
                  <a:pt x="165" y="0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3" name="Freeform 168"/>
          <p:cNvSpPr/>
          <p:nvPr/>
        </p:nvSpPr>
        <p:spPr bwMode="auto">
          <a:xfrm>
            <a:off x="5952405" y="4447635"/>
            <a:ext cx="188119" cy="13097"/>
          </a:xfrm>
          <a:custGeom>
            <a:avLst/>
            <a:gdLst>
              <a:gd name="T0" fmla="*/ 0 w 158"/>
              <a:gd name="T1" fmla="*/ 17462 h 11"/>
              <a:gd name="T2" fmla="*/ 42863 w 158"/>
              <a:gd name="T3" fmla="*/ 17462 h 11"/>
              <a:gd name="T4" fmla="*/ 85725 w 158"/>
              <a:gd name="T5" fmla="*/ 15875 h 11"/>
              <a:gd name="T6" fmla="*/ 125413 w 158"/>
              <a:gd name="T7" fmla="*/ 15875 h 11"/>
              <a:gd name="T8" fmla="*/ 161925 w 158"/>
              <a:gd name="T9" fmla="*/ 14287 h 11"/>
              <a:gd name="T10" fmla="*/ 192088 w 158"/>
              <a:gd name="T11" fmla="*/ 11112 h 11"/>
              <a:gd name="T12" fmla="*/ 219075 w 158"/>
              <a:gd name="T13" fmla="*/ 7937 h 11"/>
              <a:gd name="T14" fmla="*/ 236538 w 158"/>
              <a:gd name="T15" fmla="*/ 6350 h 11"/>
              <a:gd name="T16" fmla="*/ 249238 w 158"/>
              <a:gd name="T17" fmla="*/ 3175 h 11"/>
              <a:gd name="T18" fmla="*/ 250825 w 158"/>
              <a:gd name="T19" fmla="*/ 0 h 11"/>
              <a:gd name="T20" fmla="*/ 238125 w 158"/>
              <a:gd name="T21" fmla="*/ 0 h 11"/>
              <a:gd name="T22" fmla="*/ 234950 w 158"/>
              <a:gd name="T23" fmla="*/ 1587 h 11"/>
              <a:gd name="T24" fmla="*/ 223838 w 158"/>
              <a:gd name="T25" fmla="*/ 6350 h 11"/>
              <a:gd name="T26" fmla="*/ 206375 w 158"/>
              <a:gd name="T27" fmla="*/ 7937 h 11"/>
              <a:gd name="T28" fmla="*/ 182563 w 158"/>
              <a:gd name="T29" fmla="*/ 9525 h 11"/>
              <a:gd name="T30" fmla="*/ 153988 w 158"/>
              <a:gd name="T31" fmla="*/ 11112 h 11"/>
              <a:gd name="T32" fmla="*/ 120650 w 158"/>
              <a:gd name="T33" fmla="*/ 14287 h 11"/>
              <a:gd name="T34" fmla="*/ 80963 w 158"/>
              <a:gd name="T35" fmla="*/ 15875 h 11"/>
              <a:gd name="T36" fmla="*/ 41275 w 158"/>
              <a:gd name="T37" fmla="*/ 15875 h 11"/>
              <a:gd name="T38" fmla="*/ 0 w 158"/>
              <a:gd name="T39" fmla="*/ 15875 h 11"/>
              <a:gd name="T40" fmla="*/ 0 w 158"/>
              <a:gd name="T41" fmla="*/ 17462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8" h="11">
                <a:moveTo>
                  <a:pt x="0" y="11"/>
                </a:moveTo>
                <a:lnTo>
                  <a:pt x="27" y="11"/>
                </a:lnTo>
                <a:lnTo>
                  <a:pt x="54" y="10"/>
                </a:lnTo>
                <a:lnTo>
                  <a:pt x="79" y="10"/>
                </a:lnTo>
                <a:lnTo>
                  <a:pt x="102" y="9"/>
                </a:lnTo>
                <a:lnTo>
                  <a:pt x="121" y="7"/>
                </a:lnTo>
                <a:lnTo>
                  <a:pt x="138" y="5"/>
                </a:lnTo>
                <a:lnTo>
                  <a:pt x="149" y="4"/>
                </a:lnTo>
                <a:lnTo>
                  <a:pt x="157" y="2"/>
                </a:lnTo>
                <a:lnTo>
                  <a:pt x="158" y="0"/>
                </a:lnTo>
                <a:lnTo>
                  <a:pt x="150" y="0"/>
                </a:lnTo>
                <a:lnTo>
                  <a:pt x="148" y="1"/>
                </a:lnTo>
                <a:lnTo>
                  <a:pt x="141" y="4"/>
                </a:lnTo>
                <a:lnTo>
                  <a:pt x="130" y="5"/>
                </a:lnTo>
                <a:lnTo>
                  <a:pt x="115" y="6"/>
                </a:lnTo>
                <a:lnTo>
                  <a:pt x="97" y="7"/>
                </a:lnTo>
                <a:lnTo>
                  <a:pt x="76" y="9"/>
                </a:lnTo>
                <a:lnTo>
                  <a:pt x="51" y="10"/>
                </a:lnTo>
                <a:lnTo>
                  <a:pt x="26" y="10"/>
                </a:lnTo>
                <a:lnTo>
                  <a:pt x="0" y="10"/>
                </a:lnTo>
                <a:lnTo>
                  <a:pt x="0" y="11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4" name="Freeform 169"/>
          <p:cNvSpPr/>
          <p:nvPr/>
        </p:nvSpPr>
        <p:spPr bwMode="auto">
          <a:xfrm>
            <a:off x="5952405" y="4447636"/>
            <a:ext cx="178594" cy="11906"/>
          </a:xfrm>
          <a:custGeom>
            <a:avLst/>
            <a:gdLst>
              <a:gd name="T0" fmla="*/ 238125 w 150"/>
              <a:gd name="T1" fmla="*/ 0 h 10"/>
              <a:gd name="T2" fmla="*/ 234950 w 150"/>
              <a:gd name="T3" fmla="*/ 1588 h 10"/>
              <a:gd name="T4" fmla="*/ 223838 w 150"/>
              <a:gd name="T5" fmla="*/ 6350 h 10"/>
              <a:gd name="T6" fmla="*/ 206375 w 150"/>
              <a:gd name="T7" fmla="*/ 7938 h 10"/>
              <a:gd name="T8" fmla="*/ 182563 w 150"/>
              <a:gd name="T9" fmla="*/ 9525 h 10"/>
              <a:gd name="T10" fmla="*/ 153988 w 150"/>
              <a:gd name="T11" fmla="*/ 11113 h 10"/>
              <a:gd name="T12" fmla="*/ 120650 w 150"/>
              <a:gd name="T13" fmla="*/ 14288 h 10"/>
              <a:gd name="T14" fmla="*/ 80963 w 150"/>
              <a:gd name="T15" fmla="*/ 15875 h 10"/>
              <a:gd name="T16" fmla="*/ 41275 w 150"/>
              <a:gd name="T17" fmla="*/ 15875 h 10"/>
              <a:gd name="T18" fmla="*/ 0 w 150"/>
              <a:gd name="T19" fmla="*/ 15875 h 10"/>
              <a:gd name="T20" fmla="*/ 0 w 150"/>
              <a:gd name="T21" fmla="*/ 15875 h 10"/>
              <a:gd name="T22" fmla="*/ 39688 w 150"/>
              <a:gd name="T23" fmla="*/ 15875 h 10"/>
              <a:gd name="T24" fmla="*/ 77788 w 150"/>
              <a:gd name="T25" fmla="*/ 14288 h 10"/>
              <a:gd name="T26" fmla="*/ 111125 w 150"/>
              <a:gd name="T27" fmla="*/ 14288 h 10"/>
              <a:gd name="T28" fmla="*/ 144463 w 150"/>
              <a:gd name="T29" fmla="*/ 11113 h 10"/>
              <a:gd name="T30" fmla="*/ 171450 w 150"/>
              <a:gd name="T31" fmla="*/ 9525 h 10"/>
              <a:gd name="T32" fmla="*/ 196850 w 150"/>
              <a:gd name="T33" fmla="*/ 7938 h 10"/>
              <a:gd name="T34" fmla="*/ 212725 w 150"/>
              <a:gd name="T35" fmla="*/ 6350 h 10"/>
              <a:gd name="T36" fmla="*/ 222250 w 150"/>
              <a:gd name="T37" fmla="*/ 1588 h 10"/>
              <a:gd name="T38" fmla="*/ 227013 w 150"/>
              <a:gd name="T39" fmla="*/ 0 h 10"/>
              <a:gd name="T40" fmla="*/ 238125 w 150"/>
              <a:gd name="T41" fmla="*/ 0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0" h="10">
                <a:moveTo>
                  <a:pt x="150" y="0"/>
                </a:moveTo>
                <a:lnTo>
                  <a:pt x="148" y="1"/>
                </a:lnTo>
                <a:lnTo>
                  <a:pt x="141" y="4"/>
                </a:lnTo>
                <a:lnTo>
                  <a:pt x="130" y="5"/>
                </a:lnTo>
                <a:lnTo>
                  <a:pt x="115" y="6"/>
                </a:lnTo>
                <a:lnTo>
                  <a:pt x="97" y="7"/>
                </a:lnTo>
                <a:lnTo>
                  <a:pt x="76" y="9"/>
                </a:lnTo>
                <a:lnTo>
                  <a:pt x="51" y="10"/>
                </a:lnTo>
                <a:lnTo>
                  <a:pt x="26" y="10"/>
                </a:lnTo>
                <a:lnTo>
                  <a:pt x="0" y="10"/>
                </a:lnTo>
                <a:lnTo>
                  <a:pt x="25" y="10"/>
                </a:lnTo>
                <a:lnTo>
                  <a:pt x="49" y="9"/>
                </a:lnTo>
                <a:lnTo>
                  <a:pt x="70" y="9"/>
                </a:lnTo>
                <a:lnTo>
                  <a:pt x="91" y="7"/>
                </a:lnTo>
                <a:lnTo>
                  <a:pt x="108" y="6"/>
                </a:lnTo>
                <a:lnTo>
                  <a:pt x="124" y="5"/>
                </a:lnTo>
                <a:lnTo>
                  <a:pt x="134" y="4"/>
                </a:lnTo>
                <a:lnTo>
                  <a:pt x="140" y="1"/>
                </a:lnTo>
                <a:lnTo>
                  <a:pt x="143" y="0"/>
                </a:lnTo>
                <a:lnTo>
                  <a:pt x="150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5" name="Freeform 170"/>
          <p:cNvSpPr/>
          <p:nvPr/>
        </p:nvSpPr>
        <p:spPr bwMode="auto">
          <a:xfrm>
            <a:off x="5952405" y="4447636"/>
            <a:ext cx="170260" cy="11906"/>
          </a:xfrm>
          <a:custGeom>
            <a:avLst/>
            <a:gdLst>
              <a:gd name="T0" fmla="*/ 0 w 143"/>
              <a:gd name="T1" fmla="*/ 15875 h 10"/>
              <a:gd name="T2" fmla="*/ 39688 w 143"/>
              <a:gd name="T3" fmla="*/ 15875 h 10"/>
              <a:gd name="T4" fmla="*/ 77788 w 143"/>
              <a:gd name="T5" fmla="*/ 14288 h 10"/>
              <a:gd name="T6" fmla="*/ 111125 w 143"/>
              <a:gd name="T7" fmla="*/ 14288 h 10"/>
              <a:gd name="T8" fmla="*/ 144463 w 143"/>
              <a:gd name="T9" fmla="*/ 11113 h 10"/>
              <a:gd name="T10" fmla="*/ 171450 w 143"/>
              <a:gd name="T11" fmla="*/ 9525 h 10"/>
              <a:gd name="T12" fmla="*/ 196850 w 143"/>
              <a:gd name="T13" fmla="*/ 7938 h 10"/>
              <a:gd name="T14" fmla="*/ 212725 w 143"/>
              <a:gd name="T15" fmla="*/ 6350 h 10"/>
              <a:gd name="T16" fmla="*/ 222250 w 143"/>
              <a:gd name="T17" fmla="*/ 1588 h 10"/>
              <a:gd name="T18" fmla="*/ 227013 w 143"/>
              <a:gd name="T19" fmla="*/ 0 h 10"/>
              <a:gd name="T20" fmla="*/ 211138 w 143"/>
              <a:gd name="T21" fmla="*/ 0 h 10"/>
              <a:gd name="T22" fmla="*/ 207963 w 143"/>
              <a:gd name="T23" fmla="*/ 1588 h 10"/>
              <a:gd name="T24" fmla="*/ 198438 w 143"/>
              <a:gd name="T25" fmla="*/ 6350 h 10"/>
              <a:gd name="T26" fmla="*/ 182563 w 143"/>
              <a:gd name="T27" fmla="*/ 7938 h 10"/>
              <a:gd name="T28" fmla="*/ 161925 w 143"/>
              <a:gd name="T29" fmla="*/ 9525 h 10"/>
              <a:gd name="T30" fmla="*/ 136525 w 143"/>
              <a:gd name="T31" fmla="*/ 11113 h 10"/>
              <a:gd name="T32" fmla="*/ 106363 w 143"/>
              <a:gd name="T33" fmla="*/ 11113 h 10"/>
              <a:gd name="T34" fmla="*/ 71438 w 143"/>
              <a:gd name="T35" fmla="*/ 14288 h 10"/>
              <a:gd name="T36" fmla="*/ 38100 w 143"/>
              <a:gd name="T37" fmla="*/ 14288 h 10"/>
              <a:gd name="T38" fmla="*/ 0 w 143"/>
              <a:gd name="T39" fmla="*/ 14288 h 10"/>
              <a:gd name="T40" fmla="*/ 0 w 143"/>
              <a:gd name="T41" fmla="*/ 15875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3" h="10">
                <a:moveTo>
                  <a:pt x="0" y="10"/>
                </a:moveTo>
                <a:lnTo>
                  <a:pt x="25" y="10"/>
                </a:lnTo>
                <a:lnTo>
                  <a:pt x="49" y="9"/>
                </a:lnTo>
                <a:lnTo>
                  <a:pt x="70" y="9"/>
                </a:lnTo>
                <a:lnTo>
                  <a:pt x="91" y="7"/>
                </a:lnTo>
                <a:lnTo>
                  <a:pt x="108" y="6"/>
                </a:lnTo>
                <a:lnTo>
                  <a:pt x="124" y="5"/>
                </a:lnTo>
                <a:lnTo>
                  <a:pt x="134" y="4"/>
                </a:lnTo>
                <a:lnTo>
                  <a:pt x="140" y="1"/>
                </a:lnTo>
                <a:lnTo>
                  <a:pt x="143" y="0"/>
                </a:lnTo>
                <a:lnTo>
                  <a:pt x="133" y="0"/>
                </a:lnTo>
                <a:lnTo>
                  <a:pt x="131" y="1"/>
                </a:lnTo>
                <a:lnTo>
                  <a:pt x="125" y="4"/>
                </a:lnTo>
                <a:lnTo>
                  <a:pt x="115" y="5"/>
                </a:lnTo>
                <a:lnTo>
                  <a:pt x="102" y="6"/>
                </a:lnTo>
                <a:lnTo>
                  <a:pt x="86" y="7"/>
                </a:lnTo>
                <a:lnTo>
                  <a:pt x="67" y="7"/>
                </a:lnTo>
                <a:lnTo>
                  <a:pt x="45" y="9"/>
                </a:lnTo>
                <a:lnTo>
                  <a:pt x="24" y="9"/>
                </a:lnTo>
                <a:lnTo>
                  <a:pt x="0" y="9"/>
                </a:lnTo>
                <a:lnTo>
                  <a:pt x="0" y="10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6" name="Freeform 171"/>
          <p:cNvSpPr/>
          <p:nvPr/>
        </p:nvSpPr>
        <p:spPr bwMode="auto">
          <a:xfrm>
            <a:off x="5952405" y="4447636"/>
            <a:ext cx="158354" cy="10715"/>
          </a:xfrm>
          <a:custGeom>
            <a:avLst/>
            <a:gdLst>
              <a:gd name="T0" fmla="*/ 211138 w 133"/>
              <a:gd name="T1" fmla="*/ 0 h 9"/>
              <a:gd name="T2" fmla="*/ 207963 w 133"/>
              <a:gd name="T3" fmla="*/ 1587 h 9"/>
              <a:gd name="T4" fmla="*/ 198438 w 133"/>
              <a:gd name="T5" fmla="*/ 6350 h 9"/>
              <a:gd name="T6" fmla="*/ 182563 w 133"/>
              <a:gd name="T7" fmla="*/ 7937 h 9"/>
              <a:gd name="T8" fmla="*/ 161925 w 133"/>
              <a:gd name="T9" fmla="*/ 9525 h 9"/>
              <a:gd name="T10" fmla="*/ 136525 w 133"/>
              <a:gd name="T11" fmla="*/ 11112 h 9"/>
              <a:gd name="T12" fmla="*/ 106363 w 133"/>
              <a:gd name="T13" fmla="*/ 11112 h 9"/>
              <a:gd name="T14" fmla="*/ 71438 w 133"/>
              <a:gd name="T15" fmla="*/ 14287 h 9"/>
              <a:gd name="T16" fmla="*/ 38100 w 133"/>
              <a:gd name="T17" fmla="*/ 14287 h 9"/>
              <a:gd name="T18" fmla="*/ 0 w 133"/>
              <a:gd name="T19" fmla="*/ 14287 h 9"/>
              <a:gd name="T20" fmla="*/ 0 w 133"/>
              <a:gd name="T21" fmla="*/ 14287 h 9"/>
              <a:gd name="T22" fmla="*/ 38100 w 133"/>
              <a:gd name="T23" fmla="*/ 14287 h 9"/>
              <a:gd name="T24" fmla="*/ 76200 w 133"/>
              <a:gd name="T25" fmla="*/ 11112 h 9"/>
              <a:gd name="T26" fmla="*/ 109538 w 133"/>
              <a:gd name="T27" fmla="*/ 11112 h 9"/>
              <a:gd name="T28" fmla="*/ 138113 w 133"/>
              <a:gd name="T29" fmla="*/ 9525 h 9"/>
              <a:gd name="T30" fmla="*/ 163513 w 133"/>
              <a:gd name="T31" fmla="*/ 7937 h 9"/>
              <a:gd name="T32" fmla="*/ 182563 w 133"/>
              <a:gd name="T33" fmla="*/ 6350 h 9"/>
              <a:gd name="T34" fmla="*/ 192088 w 133"/>
              <a:gd name="T35" fmla="*/ 1587 h 9"/>
              <a:gd name="T36" fmla="*/ 196850 w 133"/>
              <a:gd name="T37" fmla="*/ 0 h 9"/>
              <a:gd name="T38" fmla="*/ 211138 w 133"/>
              <a:gd name="T39" fmla="*/ 0 h 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33" h="9">
                <a:moveTo>
                  <a:pt x="133" y="0"/>
                </a:moveTo>
                <a:lnTo>
                  <a:pt x="131" y="1"/>
                </a:lnTo>
                <a:lnTo>
                  <a:pt x="125" y="4"/>
                </a:lnTo>
                <a:lnTo>
                  <a:pt x="115" y="5"/>
                </a:lnTo>
                <a:lnTo>
                  <a:pt x="102" y="6"/>
                </a:lnTo>
                <a:lnTo>
                  <a:pt x="86" y="7"/>
                </a:lnTo>
                <a:lnTo>
                  <a:pt x="67" y="7"/>
                </a:lnTo>
                <a:lnTo>
                  <a:pt x="45" y="9"/>
                </a:lnTo>
                <a:lnTo>
                  <a:pt x="24" y="9"/>
                </a:lnTo>
                <a:lnTo>
                  <a:pt x="0" y="9"/>
                </a:lnTo>
                <a:lnTo>
                  <a:pt x="24" y="9"/>
                </a:lnTo>
                <a:lnTo>
                  <a:pt x="48" y="7"/>
                </a:lnTo>
                <a:lnTo>
                  <a:pt x="69" y="7"/>
                </a:lnTo>
                <a:lnTo>
                  <a:pt x="87" y="6"/>
                </a:lnTo>
                <a:lnTo>
                  <a:pt x="103" y="5"/>
                </a:lnTo>
                <a:lnTo>
                  <a:pt x="115" y="4"/>
                </a:lnTo>
                <a:lnTo>
                  <a:pt x="121" y="1"/>
                </a:lnTo>
                <a:lnTo>
                  <a:pt x="124" y="0"/>
                </a:lnTo>
                <a:lnTo>
                  <a:pt x="133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7" name="Freeform 172"/>
          <p:cNvSpPr/>
          <p:nvPr/>
        </p:nvSpPr>
        <p:spPr bwMode="auto">
          <a:xfrm>
            <a:off x="5952405" y="4447636"/>
            <a:ext cx="147638" cy="10715"/>
          </a:xfrm>
          <a:custGeom>
            <a:avLst/>
            <a:gdLst>
              <a:gd name="T0" fmla="*/ 0 w 124"/>
              <a:gd name="T1" fmla="*/ 14287 h 9"/>
              <a:gd name="T2" fmla="*/ 38100 w 124"/>
              <a:gd name="T3" fmla="*/ 14287 h 9"/>
              <a:gd name="T4" fmla="*/ 76200 w 124"/>
              <a:gd name="T5" fmla="*/ 11112 h 9"/>
              <a:gd name="T6" fmla="*/ 109538 w 124"/>
              <a:gd name="T7" fmla="*/ 11112 h 9"/>
              <a:gd name="T8" fmla="*/ 138113 w 124"/>
              <a:gd name="T9" fmla="*/ 9525 h 9"/>
              <a:gd name="T10" fmla="*/ 163513 w 124"/>
              <a:gd name="T11" fmla="*/ 7937 h 9"/>
              <a:gd name="T12" fmla="*/ 182563 w 124"/>
              <a:gd name="T13" fmla="*/ 6350 h 9"/>
              <a:gd name="T14" fmla="*/ 192088 w 124"/>
              <a:gd name="T15" fmla="*/ 1587 h 9"/>
              <a:gd name="T16" fmla="*/ 196850 w 124"/>
              <a:gd name="T17" fmla="*/ 0 h 9"/>
              <a:gd name="T18" fmla="*/ 180975 w 124"/>
              <a:gd name="T19" fmla="*/ 0 h 9"/>
              <a:gd name="T20" fmla="*/ 176213 w 124"/>
              <a:gd name="T21" fmla="*/ 1587 h 9"/>
              <a:gd name="T22" fmla="*/ 166688 w 124"/>
              <a:gd name="T23" fmla="*/ 3175 h 9"/>
              <a:gd name="T24" fmla="*/ 150813 w 124"/>
              <a:gd name="T25" fmla="*/ 6350 h 9"/>
              <a:gd name="T26" fmla="*/ 128588 w 124"/>
              <a:gd name="T27" fmla="*/ 7937 h 9"/>
              <a:gd name="T28" fmla="*/ 100013 w 124"/>
              <a:gd name="T29" fmla="*/ 9525 h 9"/>
              <a:gd name="T30" fmla="*/ 69850 w 124"/>
              <a:gd name="T31" fmla="*/ 11112 h 9"/>
              <a:gd name="T32" fmla="*/ 34925 w 124"/>
              <a:gd name="T33" fmla="*/ 11112 h 9"/>
              <a:gd name="T34" fmla="*/ 0 w 124"/>
              <a:gd name="T35" fmla="*/ 11112 h 9"/>
              <a:gd name="T36" fmla="*/ 0 w 124"/>
              <a:gd name="T37" fmla="*/ 14287 h 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24" h="9">
                <a:moveTo>
                  <a:pt x="0" y="9"/>
                </a:moveTo>
                <a:lnTo>
                  <a:pt x="24" y="9"/>
                </a:lnTo>
                <a:lnTo>
                  <a:pt x="48" y="7"/>
                </a:lnTo>
                <a:lnTo>
                  <a:pt x="69" y="7"/>
                </a:lnTo>
                <a:lnTo>
                  <a:pt x="87" y="6"/>
                </a:lnTo>
                <a:lnTo>
                  <a:pt x="103" y="5"/>
                </a:lnTo>
                <a:lnTo>
                  <a:pt x="115" y="4"/>
                </a:lnTo>
                <a:lnTo>
                  <a:pt x="121" y="1"/>
                </a:lnTo>
                <a:lnTo>
                  <a:pt x="124" y="0"/>
                </a:lnTo>
                <a:lnTo>
                  <a:pt x="114" y="0"/>
                </a:lnTo>
                <a:lnTo>
                  <a:pt x="111" y="1"/>
                </a:lnTo>
                <a:lnTo>
                  <a:pt x="105" y="2"/>
                </a:lnTo>
                <a:lnTo>
                  <a:pt x="95" y="4"/>
                </a:lnTo>
                <a:lnTo>
                  <a:pt x="81" y="5"/>
                </a:lnTo>
                <a:lnTo>
                  <a:pt x="63" y="6"/>
                </a:lnTo>
                <a:lnTo>
                  <a:pt x="44" y="7"/>
                </a:lnTo>
                <a:lnTo>
                  <a:pt x="22" y="7"/>
                </a:lnTo>
                <a:lnTo>
                  <a:pt x="0" y="7"/>
                </a:lnTo>
                <a:lnTo>
                  <a:pt x="0" y="9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8" name="Freeform 173"/>
          <p:cNvSpPr/>
          <p:nvPr/>
        </p:nvSpPr>
        <p:spPr bwMode="auto">
          <a:xfrm>
            <a:off x="5952405" y="4447635"/>
            <a:ext cx="135731" cy="8334"/>
          </a:xfrm>
          <a:custGeom>
            <a:avLst/>
            <a:gdLst>
              <a:gd name="T0" fmla="*/ 180975 w 114"/>
              <a:gd name="T1" fmla="*/ 0 h 7"/>
              <a:gd name="T2" fmla="*/ 176213 w 114"/>
              <a:gd name="T3" fmla="*/ 1587 h 7"/>
              <a:gd name="T4" fmla="*/ 166688 w 114"/>
              <a:gd name="T5" fmla="*/ 3175 h 7"/>
              <a:gd name="T6" fmla="*/ 150813 w 114"/>
              <a:gd name="T7" fmla="*/ 6350 h 7"/>
              <a:gd name="T8" fmla="*/ 128588 w 114"/>
              <a:gd name="T9" fmla="*/ 7937 h 7"/>
              <a:gd name="T10" fmla="*/ 100013 w 114"/>
              <a:gd name="T11" fmla="*/ 9525 h 7"/>
              <a:gd name="T12" fmla="*/ 69850 w 114"/>
              <a:gd name="T13" fmla="*/ 11112 h 7"/>
              <a:gd name="T14" fmla="*/ 34925 w 114"/>
              <a:gd name="T15" fmla="*/ 11112 h 7"/>
              <a:gd name="T16" fmla="*/ 0 w 114"/>
              <a:gd name="T17" fmla="*/ 11112 h 7"/>
              <a:gd name="T18" fmla="*/ 0 w 114"/>
              <a:gd name="T19" fmla="*/ 11112 h 7"/>
              <a:gd name="T20" fmla="*/ 31750 w 114"/>
              <a:gd name="T21" fmla="*/ 11112 h 7"/>
              <a:gd name="T22" fmla="*/ 61913 w 114"/>
              <a:gd name="T23" fmla="*/ 9525 h 7"/>
              <a:gd name="T24" fmla="*/ 90488 w 114"/>
              <a:gd name="T25" fmla="*/ 9525 h 7"/>
              <a:gd name="T26" fmla="*/ 115888 w 114"/>
              <a:gd name="T27" fmla="*/ 7937 h 7"/>
              <a:gd name="T28" fmla="*/ 136525 w 114"/>
              <a:gd name="T29" fmla="*/ 6350 h 7"/>
              <a:gd name="T30" fmla="*/ 150813 w 114"/>
              <a:gd name="T31" fmla="*/ 3175 h 7"/>
              <a:gd name="T32" fmla="*/ 160338 w 114"/>
              <a:gd name="T33" fmla="*/ 1587 h 7"/>
              <a:gd name="T34" fmla="*/ 161925 w 114"/>
              <a:gd name="T35" fmla="*/ 0 h 7"/>
              <a:gd name="T36" fmla="*/ 180975 w 114"/>
              <a:gd name="T37" fmla="*/ 0 h 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14" h="7">
                <a:moveTo>
                  <a:pt x="114" y="0"/>
                </a:moveTo>
                <a:lnTo>
                  <a:pt x="111" y="1"/>
                </a:lnTo>
                <a:lnTo>
                  <a:pt x="105" y="2"/>
                </a:lnTo>
                <a:lnTo>
                  <a:pt x="95" y="4"/>
                </a:lnTo>
                <a:lnTo>
                  <a:pt x="81" y="5"/>
                </a:lnTo>
                <a:lnTo>
                  <a:pt x="63" y="6"/>
                </a:lnTo>
                <a:lnTo>
                  <a:pt x="44" y="7"/>
                </a:lnTo>
                <a:lnTo>
                  <a:pt x="22" y="7"/>
                </a:lnTo>
                <a:lnTo>
                  <a:pt x="0" y="7"/>
                </a:lnTo>
                <a:lnTo>
                  <a:pt x="20" y="7"/>
                </a:lnTo>
                <a:lnTo>
                  <a:pt x="39" y="6"/>
                </a:lnTo>
                <a:lnTo>
                  <a:pt x="57" y="6"/>
                </a:lnTo>
                <a:lnTo>
                  <a:pt x="73" y="5"/>
                </a:lnTo>
                <a:lnTo>
                  <a:pt x="86" y="4"/>
                </a:lnTo>
                <a:lnTo>
                  <a:pt x="95" y="2"/>
                </a:lnTo>
                <a:lnTo>
                  <a:pt x="101" y="1"/>
                </a:lnTo>
                <a:lnTo>
                  <a:pt x="102" y="0"/>
                </a:lnTo>
                <a:lnTo>
                  <a:pt x="114" y="0"/>
                </a:lnTo>
                <a:close/>
              </a:path>
            </a:pathLst>
          </a:custGeom>
          <a:solidFill>
            <a:srgbClr val="84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09" name="Freeform 174"/>
          <p:cNvSpPr/>
          <p:nvPr/>
        </p:nvSpPr>
        <p:spPr bwMode="auto">
          <a:xfrm>
            <a:off x="5952405" y="4447635"/>
            <a:ext cx="121444" cy="8334"/>
          </a:xfrm>
          <a:custGeom>
            <a:avLst/>
            <a:gdLst>
              <a:gd name="T0" fmla="*/ 0 w 102"/>
              <a:gd name="T1" fmla="*/ 11112 h 7"/>
              <a:gd name="T2" fmla="*/ 31750 w 102"/>
              <a:gd name="T3" fmla="*/ 11112 h 7"/>
              <a:gd name="T4" fmla="*/ 61913 w 102"/>
              <a:gd name="T5" fmla="*/ 9525 h 7"/>
              <a:gd name="T6" fmla="*/ 90488 w 102"/>
              <a:gd name="T7" fmla="*/ 9525 h 7"/>
              <a:gd name="T8" fmla="*/ 115888 w 102"/>
              <a:gd name="T9" fmla="*/ 7937 h 7"/>
              <a:gd name="T10" fmla="*/ 136525 w 102"/>
              <a:gd name="T11" fmla="*/ 6350 h 7"/>
              <a:gd name="T12" fmla="*/ 150813 w 102"/>
              <a:gd name="T13" fmla="*/ 3175 h 7"/>
              <a:gd name="T14" fmla="*/ 160338 w 102"/>
              <a:gd name="T15" fmla="*/ 1587 h 7"/>
              <a:gd name="T16" fmla="*/ 161925 w 102"/>
              <a:gd name="T17" fmla="*/ 0 h 7"/>
              <a:gd name="T18" fmla="*/ 144463 w 102"/>
              <a:gd name="T19" fmla="*/ 0 h 7"/>
              <a:gd name="T20" fmla="*/ 141288 w 102"/>
              <a:gd name="T21" fmla="*/ 1587 h 7"/>
              <a:gd name="T22" fmla="*/ 130175 w 102"/>
              <a:gd name="T23" fmla="*/ 3175 h 7"/>
              <a:gd name="T24" fmla="*/ 114300 w 102"/>
              <a:gd name="T25" fmla="*/ 6350 h 7"/>
              <a:gd name="T26" fmla="*/ 90488 w 102"/>
              <a:gd name="T27" fmla="*/ 7937 h 7"/>
              <a:gd name="T28" fmla="*/ 63500 w 102"/>
              <a:gd name="T29" fmla="*/ 9525 h 7"/>
              <a:gd name="T30" fmla="*/ 31750 w 102"/>
              <a:gd name="T31" fmla="*/ 9525 h 7"/>
              <a:gd name="T32" fmla="*/ 0 w 102"/>
              <a:gd name="T33" fmla="*/ 9525 h 7"/>
              <a:gd name="T34" fmla="*/ 0 w 102"/>
              <a:gd name="T35" fmla="*/ 11112 h 7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2" h="7">
                <a:moveTo>
                  <a:pt x="0" y="7"/>
                </a:moveTo>
                <a:lnTo>
                  <a:pt x="20" y="7"/>
                </a:lnTo>
                <a:lnTo>
                  <a:pt x="39" y="6"/>
                </a:lnTo>
                <a:lnTo>
                  <a:pt x="57" y="6"/>
                </a:lnTo>
                <a:lnTo>
                  <a:pt x="73" y="5"/>
                </a:lnTo>
                <a:lnTo>
                  <a:pt x="86" y="4"/>
                </a:lnTo>
                <a:lnTo>
                  <a:pt x="95" y="2"/>
                </a:lnTo>
                <a:lnTo>
                  <a:pt x="101" y="1"/>
                </a:lnTo>
                <a:lnTo>
                  <a:pt x="102" y="0"/>
                </a:lnTo>
                <a:lnTo>
                  <a:pt x="91" y="0"/>
                </a:lnTo>
                <a:lnTo>
                  <a:pt x="89" y="1"/>
                </a:lnTo>
                <a:lnTo>
                  <a:pt x="82" y="2"/>
                </a:lnTo>
                <a:lnTo>
                  <a:pt x="72" y="4"/>
                </a:lnTo>
                <a:lnTo>
                  <a:pt x="57" y="5"/>
                </a:lnTo>
                <a:lnTo>
                  <a:pt x="40" y="6"/>
                </a:lnTo>
                <a:lnTo>
                  <a:pt x="20" y="6"/>
                </a:lnTo>
                <a:lnTo>
                  <a:pt x="0" y="6"/>
                </a:lnTo>
                <a:lnTo>
                  <a:pt x="0" y="7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0" name="Freeform 175"/>
          <p:cNvSpPr/>
          <p:nvPr/>
        </p:nvSpPr>
        <p:spPr bwMode="auto">
          <a:xfrm>
            <a:off x="5952405" y="4447635"/>
            <a:ext cx="108347" cy="7144"/>
          </a:xfrm>
          <a:custGeom>
            <a:avLst/>
            <a:gdLst>
              <a:gd name="T0" fmla="*/ 144463 w 91"/>
              <a:gd name="T1" fmla="*/ 0 h 6"/>
              <a:gd name="T2" fmla="*/ 141288 w 91"/>
              <a:gd name="T3" fmla="*/ 1588 h 6"/>
              <a:gd name="T4" fmla="*/ 130175 w 91"/>
              <a:gd name="T5" fmla="*/ 3175 h 6"/>
              <a:gd name="T6" fmla="*/ 114300 w 91"/>
              <a:gd name="T7" fmla="*/ 6350 h 6"/>
              <a:gd name="T8" fmla="*/ 90488 w 91"/>
              <a:gd name="T9" fmla="*/ 7938 h 6"/>
              <a:gd name="T10" fmla="*/ 63500 w 91"/>
              <a:gd name="T11" fmla="*/ 9525 h 6"/>
              <a:gd name="T12" fmla="*/ 31750 w 91"/>
              <a:gd name="T13" fmla="*/ 9525 h 6"/>
              <a:gd name="T14" fmla="*/ 0 w 91"/>
              <a:gd name="T15" fmla="*/ 9525 h 6"/>
              <a:gd name="T16" fmla="*/ 0 w 91"/>
              <a:gd name="T17" fmla="*/ 7938 h 6"/>
              <a:gd name="T18" fmla="*/ 26988 w 91"/>
              <a:gd name="T19" fmla="*/ 7938 h 6"/>
              <a:gd name="T20" fmla="*/ 53975 w 91"/>
              <a:gd name="T21" fmla="*/ 7938 h 6"/>
              <a:gd name="T22" fmla="*/ 77788 w 91"/>
              <a:gd name="T23" fmla="*/ 6350 h 6"/>
              <a:gd name="T24" fmla="*/ 98425 w 91"/>
              <a:gd name="T25" fmla="*/ 6350 h 6"/>
              <a:gd name="T26" fmla="*/ 111125 w 91"/>
              <a:gd name="T27" fmla="*/ 3175 h 6"/>
              <a:gd name="T28" fmla="*/ 122238 w 91"/>
              <a:gd name="T29" fmla="*/ 1588 h 6"/>
              <a:gd name="T30" fmla="*/ 125413 w 91"/>
              <a:gd name="T31" fmla="*/ 0 h 6"/>
              <a:gd name="T32" fmla="*/ 144463 w 91"/>
              <a:gd name="T33" fmla="*/ 0 h 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91" h="6">
                <a:moveTo>
                  <a:pt x="91" y="0"/>
                </a:moveTo>
                <a:lnTo>
                  <a:pt x="89" y="1"/>
                </a:lnTo>
                <a:lnTo>
                  <a:pt x="82" y="2"/>
                </a:lnTo>
                <a:lnTo>
                  <a:pt x="72" y="4"/>
                </a:lnTo>
                <a:lnTo>
                  <a:pt x="57" y="5"/>
                </a:lnTo>
                <a:lnTo>
                  <a:pt x="40" y="6"/>
                </a:lnTo>
                <a:lnTo>
                  <a:pt x="20" y="6"/>
                </a:lnTo>
                <a:lnTo>
                  <a:pt x="0" y="6"/>
                </a:lnTo>
                <a:lnTo>
                  <a:pt x="0" y="5"/>
                </a:lnTo>
                <a:lnTo>
                  <a:pt x="17" y="5"/>
                </a:lnTo>
                <a:lnTo>
                  <a:pt x="34" y="5"/>
                </a:lnTo>
                <a:lnTo>
                  <a:pt x="49" y="4"/>
                </a:lnTo>
                <a:lnTo>
                  <a:pt x="62" y="4"/>
                </a:lnTo>
                <a:lnTo>
                  <a:pt x="70" y="2"/>
                </a:lnTo>
                <a:lnTo>
                  <a:pt x="77" y="1"/>
                </a:lnTo>
                <a:lnTo>
                  <a:pt x="79" y="0"/>
                </a:lnTo>
                <a:lnTo>
                  <a:pt x="91" y="0"/>
                </a:lnTo>
                <a:close/>
              </a:path>
            </a:pathLst>
          </a:custGeom>
          <a:solidFill>
            <a:srgbClr val="7B7B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1" name="Freeform 176"/>
          <p:cNvSpPr/>
          <p:nvPr/>
        </p:nvSpPr>
        <p:spPr bwMode="auto">
          <a:xfrm>
            <a:off x="5952405" y="4447635"/>
            <a:ext cx="94060" cy="5953"/>
          </a:xfrm>
          <a:custGeom>
            <a:avLst/>
            <a:gdLst>
              <a:gd name="T0" fmla="*/ 0 w 79"/>
              <a:gd name="T1" fmla="*/ 7937 h 5"/>
              <a:gd name="T2" fmla="*/ 26988 w 79"/>
              <a:gd name="T3" fmla="*/ 7937 h 5"/>
              <a:gd name="T4" fmla="*/ 53975 w 79"/>
              <a:gd name="T5" fmla="*/ 7937 h 5"/>
              <a:gd name="T6" fmla="*/ 77788 w 79"/>
              <a:gd name="T7" fmla="*/ 6350 h 5"/>
              <a:gd name="T8" fmla="*/ 98425 w 79"/>
              <a:gd name="T9" fmla="*/ 6350 h 5"/>
              <a:gd name="T10" fmla="*/ 111125 w 79"/>
              <a:gd name="T11" fmla="*/ 3175 h 5"/>
              <a:gd name="T12" fmla="*/ 122238 w 79"/>
              <a:gd name="T13" fmla="*/ 1587 h 5"/>
              <a:gd name="T14" fmla="*/ 125413 w 79"/>
              <a:gd name="T15" fmla="*/ 0 h 5"/>
              <a:gd name="T16" fmla="*/ 103188 w 79"/>
              <a:gd name="T17" fmla="*/ 0 h 5"/>
              <a:gd name="T18" fmla="*/ 100013 w 79"/>
              <a:gd name="T19" fmla="*/ 1587 h 5"/>
              <a:gd name="T20" fmla="*/ 90488 w 79"/>
              <a:gd name="T21" fmla="*/ 3175 h 5"/>
              <a:gd name="T22" fmla="*/ 73025 w 79"/>
              <a:gd name="T23" fmla="*/ 6350 h 5"/>
              <a:gd name="T24" fmla="*/ 50800 w 79"/>
              <a:gd name="T25" fmla="*/ 6350 h 5"/>
              <a:gd name="T26" fmla="*/ 26988 w 79"/>
              <a:gd name="T27" fmla="*/ 6350 h 5"/>
              <a:gd name="T28" fmla="*/ 0 w 79"/>
              <a:gd name="T29" fmla="*/ 7937 h 5"/>
              <a:gd name="T30" fmla="*/ 0 w 79"/>
              <a:gd name="T31" fmla="*/ 7937 h 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79" h="5">
                <a:moveTo>
                  <a:pt x="0" y="5"/>
                </a:moveTo>
                <a:lnTo>
                  <a:pt x="17" y="5"/>
                </a:lnTo>
                <a:lnTo>
                  <a:pt x="34" y="5"/>
                </a:lnTo>
                <a:lnTo>
                  <a:pt x="49" y="4"/>
                </a:lnTo>
                <a:lnTo>
                  <a:pt x="62" y="4"/>
                </a:lnTo>
                <a:lnTo>
                  <a:pt x="70" y="2"/>
                </a:lnTo>
                <a:lnTo>
                  <a:pt x="77" y="1"/>
                </a:lnTo>
                <a:lnTo>
                  <a:pt x="79" y="0"/>
                </a:lnTo>
                <a:lnTo>
                  <a:pt x="65" y="0"/>
                </a:lnTo>
                <a:lnTo>
                  <a:pt x="63" y="1"/>
                </a:lnTo>
                <a:lnTo>
                  <a:pt x="57" y="2"/>
                </a:lnTo>
                <a:lnTo>
                  <a:pt x="46" y="4"/>
                </a:lnTo>
                <a:lnTo>
                  <a:pt x="32" y="4"/>
                </a:lnTo>
                <a:lnTo>
                  <a:pt x="17" y="4"/>
                </a:lnTo>
                <a:lnTo>
                  <a:pt x="0" y="5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2" name="Freeform 177"/>
          <p:cNvSpPr/>
          <p:nvPr/>
        </p:nvSpPr>
        <p:spPr bwMode="auto">
          <a:xfrm>
            <a:off x="5952405" y="4447635"/>
            <a:ext cx="77391" cy="5953"/>
          </a:xfrm>
          <a:custGeom>
            <a:avLst/>
            <a:gdLst>
              <a:gd name="T0" fmla="*/ 103188 w 65"/>
              <a:gd name="T1" fmla="*/ 0 h 5"/>
              <a:gd name="T2" fmla="*/ 100013 w 65"/>
              <a:gd name="T3" fmla="*/ 1587 h 5"/>
              <a:gd name="T4" fmla="*/ 90488 w 65"/>
              <a:gd name="T5" fmla="*/ 3175 h 5"/>
              <a:gd name="T6" fmla="*/ 73025 w 65"/>
              <a:gd name="T7" fmla="*/ 6350 h 5"/>
              <a:gd name="T8" fmla="*/ 50800 w 65"/>
              <a:gd name="T9" fmla="*/ 6350 h 5"/>
              <a:gd name="T10" fmla="*/ 26988 w 65"/>
              <a:gd name="T11" fmla="*/ 6350 h 5"/>
              <a:gd name="T12" fmla="*/ 0 w 65"/>
              <a:gd name="T13" fmla="*/ 7937 h 5"/>
              <a:gd name="T14" fmla="*/ 0 w 65"/>
              <a:gd name="T15" fmla="*/ 6350 h 5"/>
              <a:gd name="T16" fmla="*/ 25400 w 65"/>
              <a:gd name="T17" fmla="*/ 6350 h 5"/>
              <a:gd name="T18" fmla="*/ 47625 w 65"/>
              <a:gd name="T19" fmla="*/ 3175 h 5"/>
              <a:gd name="T20" fmla="*/ 65088 w 65"/>
              <a:gd name="T21" fmla="*/ 3175 h 5"/>
              <a:gd name="T22" fmla="*/ 77788 w 65"/>
              <a:gd name="T23" fmla="*/ 1587 h 5"/>
              <a:gd name="T24" fmla="*/ 80963 w 65"/>
              <a:gd name="T25" fmla="*/ 0 h 5"/>
              <a:gd name="T26" fmla="*/ 103188 w 65"/>
              <a:gd name="T27" fmla="*/ 0 h 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5" h="5">
                <a:moveTo>
                  <a:pt x="65" y="0"/>
                </a:moveTo>
                <a:lnTo>
                  <a:pt x="63" y="1"/>
                </a:lnTo>
                <a:lnTo>
                  <a:pt x="57" y="2"/>
                </a:lnTo>
                <a:lnTo>
                  <a:pt x="46" y="4"/>
                </a:lnTo>
                <a:lnTo>
                  <a:pt x="32" y="4"/>
                </a:lnTo>
                <a:lnTo>
                  <a:pt x="17" y="4"/>
                </a:lnTo>
                <a:lnTo>
                  <a:pt x="0" y="5"/>
                </a:lnTo>
                <a:lnTo>
                  <a:pt x="0" y="4"/>
                </a:lnTo>
                <a:lnTo>
                  <a:pt x="16" y="4"/>
                </a:lnTo>
                <a:lnTo>
                  <a:pt x="30" y="2"/>
                </a:lnTo>
                <a:lnTo>
                  <a:pt x="41" y="2"/>
                </a:lnTo>
                <a:lnTo>
                  <a:pt x="49" y="1"/>
                </a:lnTo>
                <a:lnTo>
                  <a:pt x="51" y="0"/>
                </a:lnTo>
                <a:lnTo>
                  <a:pt x="65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3" name="Freeform 178"/>
          <p:cNvSpPr/>
          <p:nvPr/>
        </p:nvSpPr>
        <p:spPr bwMode="auto">
          <a:xfrm>
            <a:off x="5952405" y="4447635"/>
            <a:ext cx="60722" cy="4763"/>
          </a:xfrm>
          <a:custGeom>
            <a:avLst/>
            <a:gdLst>
              <a:gd name="T0" fmla="*/ 0 w 51"/>
              <a:gd name="T1" fmla="*/ 6350 h 4"/>
              <a:gd name="T2" fmla="*/ 25400 w 51"/>
              <a:gd name="T3" fmla="*/ 6350 h 4"/>
              <a:gd name="T4" fmla="*/ 47625 w 51"/>
              <a:gd name="T5" fmla="*/ 3175 h 4"/>
              <a:gd name="T6" fmla="*/ 65088 w 51"/>
              <a:gd name="T7" fmla="*/ 3175 h 4"/>
              <a:gd name="T8" fmla="*/ 77788 w 51"/>
              <a:gd name="T9" fmla="*/ 1588 h 4"/>
              <a:gd name="T10" fmla="*/ 80963 w 51"/>
              <a:gd name="T11" fmla="*/ 0 h 4"/>
              <a:gd name="T12" fmla="*/ 55563 w 51"/>
              <a:gd name="T13" fmla="*/ 0 h 4"/>
              <a:gd name="T14" fmla="*/ 53975 w 51"/>
              <a:gd name="T15" fmla="*/ 1588 h 4"/>
              <a:gd name="T16" fmla="*/ 46038 w 51"/>
              <a:gd name="T17" fmla="*/ 1588 h 4"/>
              <a:gd name="T18" fmla="*/ 33338 w 51"/>
              <a:gd name="T19" fmla="*/ 3175 h 4"/>
              <a:gd name="T20" fmla="*/ 17463 w 51"/>
              <a:gd name="T21" fmla="*/ 3175 h 4"/>
              <a:gd name="T22" fmla="*/ 0 w 51"/>
              <a:gd name="T23" fmla="*/ 3175 h 4"/>
              <a:gd name="T24" fmla="*/ 0 w 51"/>
              <a:gd name="T25" fmla="*/ 6350 h 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1" h="4">
                <a:moveTo>
                  <a:pt x="0" y="4"/>
                </a:moveTo>
                <a:lnTo>
                  <a:pt x="16" y="4"/>
                </a:lnTo>
                <a:lnTo>
                  <a:pt x="30" y="2"/>
                </a:lnTo>
                <a:lnTo>
                  <a:pt x="41" y="2"/>
                </a:lnTo>
                <a:lnTo>
                  <a:pt x="49" y="1"/>
                </a:lnTo>
                <a:lnTo>
                  <a:pt x="51" y="0"/>
                </a:lnTo>
                <a:lnTo>
                  <a:pt x="35" y="0"/>
                </a:lnTo>
                <a:lnTo>
                  <a:pt x="34" y="1"/>
                </a:lnTo>
                <a:lnTo>
                  <a:pt x="29" y="1"/>
                </a:lnTo>
                <a:lnTo>
                  <a:pt x="21" y="2"/>
                </a:lnTo>
                <a:lnTo>
                  <a:pt x="11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4" name="Freeform 179"/>
          <p:cNvSpPr/>
          <p:nvPr/>
        </p:nvSpPr>
        <p:spPr bwMode="auto">
          <a:xfrm>
            <a:off x="5952405" y="4447636"/>
            <a:ext cx="41672" cy="2381"/>
          </a:xfrm>
          <a:custGeom>
            <a:avLst/>
            <a:gdLst>
              <a:gd name="T0" fmla="*/ 55563 w 35"/>
              <a:gd name="T1" fmla="*/ 0 h 2"/>
              <a:gd name="T2" fmla="*/ 53975 w 35"/>
              <a:gd name="T3" fmla="*/ 1588 h 2"/>
              <a:gd name="T4" fmla="*/ 46038 w 35"/>
              <a:gd name="T5" fmla="*/ 1588 h 2"/>
              <a:gd name="T6" fmla="*/ 33338 w 35"/>
              <a:gd name="T7" fmla="*/ 3175 h 2"/>
              <a:gd name="T8" fmla="*/ 17463 w 35"/>
              <a:gd name="T9" fmla="*/ 3175 h 2"/>
              <a:gd name="T10" fmla="*/ 0 w 35"/>
              <a:gd name="T11" fmla="*/ 3175 h 2"/>
              <a:gd name="T12" fmla="*/ 0 w 35"/>
              <a:gd name="T13" fmla="*/ 1588 h 2"/>
              <a:gd name="T14" fmla="*/ 11113 w 35"/>
              <a:gd name="T15" fmla="*/ 1588 h 2"/>
              <a:gd name="T16" fmla="*/ 20638 w 35"/>
              <a:gd name="T17" fmla="*/ 1588 h 2"/>
              <a:gd name="T18" fmla="*/ 26988 w 35"/>
              <a:gd name="T19" fmla="*/ 0 h 2"/>
              <a:gd name="T20" fmla="*/ 30163 w 35"/>
              <a:gd name="T21" fmla="*/ 0 h 2"/>
              <a:gd name="T22" fmla="*/ 55563 w 35"/>
              <a:gd name="T23" fmla="*/ 0 h 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5" h="2">
                <a:moveTo>
                  <a:pt x="35" y="0"/>
                </a:moveTo>
                <a:lnTo>
                  <a:pt x="34" y="1"/>
                </a:lnTo>
                <a:lnTo>
                  <a:pt x="29" y="1"/>
                </a:lnTo>
                <a:lnTo>
                  <a:pt x="21" y="2"/>
                </a:lnTo>
                <a:lnTo>
                  <a:pt x="11" y="2"/>
                </a:lnTo>
                <a:lnTo>
                  <a:pt x="0" y="2"/>
                </a:lnTo>
                <a:lnTo>
                  <a:pt x="0" y="1"/>
                </a:lnTo>
                <a:lnTo>
                  <a:pt x="7" y="1"/>
                </a:lnTo>
                <a:lnTo>
                  <a:pt x="13" y="1"/>
                </a:lnTo>
                <a:lnTo>
                  <a:pt x="17" y="0"/>
                </a:lnTo>
                <a:lnTo>
                  <a:pt x="19" y="0"/>
                </a:lnTo>
                <a:lnTo>
                  <a:pt x="35" y="0"/>
                </a:lnTo>
                <a:close/>
              </a:path>
            </a:pathLst>
          </a:custGeom>
          <a:solidFill>
            <a:srgbClr val="6A6A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5" name="Freeform 180"/>
          <p:cNvSpPr/>
          <p:nvPr/>
        </p:nvSpPr>
        <p:spPr bwMode="auto">
          <a:xfrm>
            <a:off x="5952405" y="4447636"/>
            <a:ext cx="22622" cy="1190"/>
          </a:xfrm>
          <a:custGeom>
            <a:avLst/>
            <a:gdLst>
              <a:gd name="T0" fmla="*/ 0 w 19"/>
              <a:gd name="T1" fmla="*/ 1587 h 1"/>
              <a:gd name="T2" fmla="*/ 11113 w 19"/>
              <a:gd name="T3" fmla="*/ 1587 h 1"/>
              <a:gd name="T4" fmla="*/ 20638 w 19"/>
              <a:gd name="T5" fmla="*/ 1587 h 1"/>
              <a:gd name="T6" fmla="*/ 26988 w 19"/>
              <a:gd name="T7" fmla="*/ 0 h 1"/>
              <a:gd name="T8" fmla="*/ 30163 w 19"/>
              <a:gd name="T9" fmla="*/ 0 h 1"/>
              <a:gd name="T10" fmla="*/ 1588 w 19"/>
              <a:gd name="T11" fmla="*/ 0 h 1"/>
              <a:gd name="T12" fmla="*/ 0 w 19"/>
              <a:gd name="T13" fmla="*/ 0 h 1"/>
              <a:gd name="T14" fmla="*/ 0 w 19"/>
              <a:gd name="T15" fmla="*/ 1587 h 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" h="1">
                <a:moveTo>
                  <a:pt x="0" y="1"/>
                </a:moveTo>
                <a:lnTo>
                  <a:pt x="7" y="1"/>
                </a:lnTo>
                <a:lnTo>
                  <a:pt x="13" y="1"/>
                </a:lnTo>
                <a:lnTo>
                  <a:pt x="17" y="0"/>
                </a:lnTo>
                <a:lnTo>
                  <a:pt x="19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6" name="Freeform 181"/>
          <p:cNvSpPr/>
          <p:nvPr/>
        </p:nvSpPr>
        <p:spPr bwMode="auto">
          <a:xfrm>
            <a:off x="5952405" y="4447636"/>
            <a:ext cx="1191" cy="1190"/>
          </a:xfrm>
          <a:custGeom>
            <a:avLst/>
            <a:gdLst>
              <a:gd name="T0" fmla="*/ 1588 w 1"/>
              <a:gd name="T1" fmla="*/ 0 h 1587"/>
              <a:gd name="T2" fmla="*/ 0 w 1"/>
              <a:gd name="T3" fmla="*/ 0 h 1587"/>
              <a:gd name="T4" fmla="*/ 0 w 1"/>
              <a:gd name="T5" fmla="*/ 0 h 1587"/>
              <a:gd name="T6" fmla="*/ 0 w 1"/>
              <a:gd name="T7" fmla="*/ 0 h 1587"/>
              <a:gd name="T8" fmla="*/ 1588 w 1"/>
              <a:gd name="T9" fmla="*/ 0 h 15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" h="1587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7" name="Freeform 182"/>
          <p:cNvSpPr/>
          <p:nvPr/>
        </p:nvSpPr>
        <p:spPr bwMode="auto">
          <a:xfrm>
            <a:off x="6277446" y="4413107"/>
            <a:ext cx="57150" cy="210741"/>
          </a:xfrm>
          <a:custGeom>
            <a:avLst/>
            <a:gdLst>
              <a:gd name="T0" fmla="*/ 0 w 48"/>
              <a:gd name="T1" fmla="*/ 74613 h 177"/>
              <a:gd name="T2" fmla="*/ 76200 w 48"/>
              <a:gd name="T3" fmla="*/ 0 h 177"/>
              <a:gd name="T4" fmla="*/ 76200 w 48"/>
              <a:gd name="T5" fmla="*/ 206375 h 177"/>
              <a:gd name="T6" fmla="*/ 0 w 48"/>
              <a:gd name="T7" fmla="*/ 280988 h 177"/>
              <a:gd name="T8" fmla="*/ 0 w 48"/>
              <a:gd name="T9" fmla="*/ 74613 h 1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77">
                <a:moveTo>
                  <a:pt x="0" y="47"/>
                </a:moveTo>
                <a:lnTo>
                  <a:pt x="48" y="0"/>
                </a:lnTo>
                <a:lnTo>
                  <a:pt x="48" y="130"/>
                </a:lnTo>
                <a:lnTo>
                  <a:pt x="0" y="177"/>
                </a:lnTo>
                <a:lnTo>
                  <a:pt x="0" y="4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18" name="Rectangle 183"/>
          <p:cNvSpPr>
            <a:spLocks noChangeArrowheads="1"/>
          </p:cNvSpPr>
          <p:nvPr/>
        </p:nvSpPr>
        <p:spPr bwMode="auto">
          <a:xfrm>
            <a:off x="5825008" y="4469066"/>
            <a:ext cx="452438" cy="12382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19" name="Freeform 184"/>
          <p:cNvSpPr/>
          <p:nvPr/>
        </p:nvSpPr>
        <p:spPr bwMode="auto">
          <a:xfrm>
            <a:off x="5966692" y="4469066"/>
            <a:ext cx="5954" cy="123825"/>
          </a:xfrm>
          <a:custGeom>
            <a:avLst/>
            <a:gdLst>
              <a:gd name="T0" fmla="*/ 7938 w 5"/>
              <a:gd name="T1" fmla="*/ 0 h 104"/>
              <a:gd name="T2" fmla="*/ 1588 w 5"/>
              <a:gd name="T3" fmla="*/ 41275 h 104"/>
              <a:gd name="T4" fmla="*/ 0 w 5"/>
              <a:gd name="T5" fmla="*/ 82550 h 104"/>
              <a:gd name="T6" fmla="*/ 1588 w 5"/>
              <a:gd name="T7" fmla="*/ 123825 h 104"/>
              <a:gd name="T8" fmla="*/ 7938 w 5"/>
              <a:gd name="T9" fmla="*/ 16510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" h="104">
                <a:moveTo>
                  <a:pt x="5" y="0"/>
                </a:moveTo>
                <a:lnTo>
                  <a:pt x="1" y="26"/>
                </a:lnTo>
                <a:lnTo>
                  <a:pt x="0" y="52"/>
                </a:lnTo>
                <a:lnTo>
                  <a:pt x="1" y="78"/>
                </a:lnTo>
                <a:lnTo>
                  <a:pt x="5" y="10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0" name="Rectangle 185"/>
          <p:cNvSpPr>
            <a:spLocks noChangeArrowheads="1"/>
          </p:cNvSpPr>
          <p:nvPr/>
        </p:nvSpPr>
        <p:spPr bwMode="auto">
          <a:xfrm>
            <a:off x="5825008" y="4592892"/>
            <a:ext cx="452438" cy="30956"/>
          </a:xfrm>
          <a:prstGeom prst="rect">
            <a:avLst/>
          </a:prstGeom>
          <a:solidFill>
            <a:srgbClr val="9A9A9A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21" name="Rectangle 186"/>
          <p:cNvSpPr>
            <a:spLocks noChangeArrowheads="1"/>
          </p:cNvSpPr>
          <p:nvPr/>
        </p:nvSpPr>
        <p:spPr bwMode="auto">
          <a:xfrm>
            <a:off x="6173861" y="4508356"/>
            <a:ext cx="17860" cy="5954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22" name="Freeform 187"/>
          <p:cNvSpPr>
            <a:spLocks noEditPoints="1"/>
          </p:cNvSpPr>
          <p:nvPr/>
        </p:nvSpPr>
        <p:spPr bwMode="auto">
          <a:xfrm>
            <a:off x="5988124" y="4497642"/>
            <a:ext cx="73819" cy="7144"/>
          </a:xfrm>
          <a:custGeom>
            <a:avLst/>
            <a:gdLst>
              <a:gd name="T0" fmla="*/ 0 w 62"/>
              <a:gd name="T1" fmla="*/ 9525 h 6"/>
              <a:gd name="T2" fmla="*/ 28575 w 62"/>
              <a:gd name="T3" fmla="*/ 9525 h 6"/>
              <a:gd name="T4" fmla="*/ 28575 w 62"/>
              <a:gd name="T5" fmla="*/ 0 h 6"/>
              <a:gd name="T6" fmla="*/ 0 w 62"/>
              <a:gd name="T7" fmla="*/ 0 h 6"/>
              <a:gd name="T8" fmla="*/ 0 w 62"/>
              <a:gd name="T9" fmla="*/ 9525 h 6"/>
              <a:gd name="T10" fmla="*/ 42863 w 62"/>
              <a:gd name="T11" fmla="*/ 9525 h 6"/>
              <a:gd name="T12" fmla="*/ 55563 w 62"/>
              <a:gd name="T13" fmla="*/ 9525 h 6"/>
              <a:gd name="T14" fmla="*/ 55563 w 62"/>
              <a:gd name="T15" fmla="*/ 0 h 6"/>
              <a:gd name="T16" fmla="*/ 42863 w 62"/>
              <a:gd name="T17" fmla="*/ 0 h 6"/>
              <a:gd name="T18" fmla="*/ 42863 w 62"/>
              <a:gd name="T19" fmla="*/ 9525 h 6"/>
              <a:gd name="T20" fmla="*/ 69850 w 62"/>
              <a:gd name="T21" fmla="*/ 9525 h 6"/>
              <a:gd name="T22" fmla="*/ 98425 w 62"/>
              <a:gd name="T23" fmla="*/ 9525 h 6"/>
              <a:gd name="T24" fmla="*/ 98425 w 62"/>
              <a:gd name="T25" fmla="*/ 0 h 6"/>
              <a:gd name="T26" fmla="*/ 69850 w 62"/>
              <a:gd name="T27" fmla="*/ 0 h 6"/>
              <a:gd name="T28" fmla="*/ 69850 w 62"/>
              <a:gd name="T29" fmla="*/ 9525 h 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62" h="6">
                <a:moveTo>
                  <a:pt x="0" y="6"/>
                </a:moveTo>
                <a:lnTo>
                  <a:pt x="18" y="6"/>
                </a:lnTo>
                <a:lnTo>
                  <a:pt x="18" y="0"/>
                </a:lnTo>
                <a:lnTo>
                  <a:pt x="0" y="0"/>
                </a:lnTo>
                <a:lnTo>
                  <a:pt x="0" y="6"/>
                </a:lnTo>
                <a:close/>
                <a:moveTo>
                  <a:pt x="27" y="6"/>
                </a:moveTo>
                <a:lnTo>
                  <a:pt x="35" y="6"/>
                </a:lnTo>
                <a:lnTo>
                  <a:pt x="35" y="0"/>
                </a:lnTo>
                <a:lnTo>
                  <a:pt x="27" y="0"/>
                </a:lnTo>
                <a:lnTo>
                  <a:pt x="27" y="6"/>
                </a:lnTo>
                <a:close/>
                <a:moveTo>
                  <a:pt x="44" y="6"/>
                </a:moveTo>
                <a:lnTo>
                  <a:pt x="62" y="6"/>
                </a:lnTo>
                <a:lnTo>
                  <a:pt x="62" y="0"/>
                </a:lnTo>
                <a:lnTo>
                  <a:pt x="44" y="0"/>
                </a:lnTo>
                <a:lnTo>
                  <a:pt x="44" y="6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3" name="Freeform 188"/>
          <p:cNvSpPr>
            <a:spLocks noEditPoints="1"/>
          </p:cNvSpPr>
          <p:nvPr/>
        </p:nvSpPr>
        <p:spPr bwMode="auto">
          <a:xfrm>
            <a:off x="5839296" y="4482163"/>
            <a:ext cx="326231" cy="46435"/>
          </a:xfrm>
          <a:custGeom>
            <a:avLst/>
            <a:gdLst>
              <a:gd name="T0" fmla="*/ 0 w 274"/>
              <a:gd name="T1" fmla="*/ 61913 h 39"/>
              <a:gd name="T2" fmla="*/ 57150 w 274"/>
              <a:gd name="T3" fmla="*/ 61913 h 39"/>
              <a:gd name="T4" fmla="*/ 57150 w 274"/>
              <a:gd name="T5" fmla="*/ 0 h 39"/>
              <a:gd name="T6" fmla="*/ 0 w 274"/>
              <a:gd name="T7" fmla="*/ 0 h 39"/>
              <a:gd name="T8" fmla="*/ 0 w 274"/>
              <a:gd name="T9" fmla="*/ 61913 h 39"/>
              <a:gd name="T10" fmla="*/ 385763 w 274"/>
              <a:gd name="T11" fmla="*/ 46038 h 39"/>
              <a:gd name="T12" fmla="*/ 434975 w 274"/>
              <a:gd name="T13" fmla="*/ 46038 h 39"/>
              <a:gd name="T14" fmla="*/ 434975 w 274"/>
              <a:gd name="T15" fmla="*/ 14288 h 39"/>
              <a:gd name="T16" fmla="*/ 385763 w 274"/>
              <a:gd name="T17" fmla="*/ 14288 h 39"/>
              <a:gd name="T18" fmla="*/ 385763 w 274"/>
              <a:gd name="T19" fmla="*/ 46038 h 3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4" h="39">
                <a:moveTo>
                  <a:pt x="0" y="39"/>
                </a:moveTo>
                <a:lnTo>
                  <a:pt x="36" y="39"/>
                </a:lnTo>
                <a:lnTo>
                  <a:pt x="36" y="0"/>
                </a:lnTo>
                <a:lnTo>
                  <a:pt x="0" y="0"/>
                </a:lnTo>
                <a:lnTo>
                  <a:pt x="0" y="39"/>
                </a:lnTo>
                <a:close/>
                <a:moveTo>
                  <a:pt x="243" y="29"/>
                </a:moveTo>
                <a:lnTo>
                  <a:pt x="274" y="29"/>
                </a:lnTo>
                <a:lnTo>
                  <a:pt x="274" y="9"/>
                </a:lnTo>
                <a:lnTo>
                  <a:pt x="243" y="9"/>
                </a:lnTo>
                <a:lnTo>
                  <a:pt x="243" y="2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4" name="Freeform 189"/>
          <p:cNvSpPr>
            <a:spLocks noEditPoints="1"/>
          </p:cNvSpPr>
          <p:nvPr/>
        </p:nvSpPr>
        <p:spPr bwMode="auto">
          <a:xfrm>
            <a:off x="5828580" y="4475019"/>
            <a:ext cx="446485" cy="140494"/>
          </a:xfrm>
          <a:custGeom>
            <a:avLst/>
            <a:gdLst>
              <a:gd name="T0" fmla="*/ 204788 w 375"/>
              <a:gd name="T1" fmla="*/ 149225 h 118"/>
              <a:gd name="T2" fmla="*/ 590550 w 375"/>
              <a:gd name="T3" fmla="*/ 149225 h 118"/>
              <a:gd name="T4" fmla="*/ 590550 w 375"/>
              <a:gd name="T5" fmla="*/ 0 h 118"/>
              <a:gd name="T6" fmla="*/ 204788 w 375"/>
              <a:gd name="T7" fmla="*/ 0 h 118"/>
              <a:gd name="T8" fmla="*/ 198438 w 375"/>
              <a:gd name="T9" fmla="*/ 36513 h 118"/>
              <a:gd name="T10" fmla="*/ 196850 w 375"/>
              <a:gd name="T11" fmla="*/ 74613 h 118"/>
              <a:gd name="T12" fmla="*/ 198438 w 375"/>
              <a:gd name="T13" fmla="*/ 112713 h 118"/>
              <a:gd name="T14" fmla="*/ 204788 w 375"/>
              <a:gd name="T15" fmla="*/ 149225 h 118"/>
              <a:gd name="T16" fmla="*/ 349250 w 375"/>
              <a:gd name="T17" fmla="*/ 130175 h 118"/>
              <a:gd name="T18" fmla="*/ 569913 w 375"/>
              <a:gd name="T19" fmla="*/ 130175 h 118"/>
              <a:gd name="T20" fmla="*/ 569913 w 375"/>
              <a:gd name="T21" fmla="*/ 19050 h 118"/>
              <a:gd name="T22" fmla="*/ 349250 w 375"/>
              <a:gd name="T23" fmla="*/ 19050 h 118"/>
              <a:gd name="T24" fmla="*/ 349250 w 375"/>
              <a:gd name="T25" fmla="*/ 130175 h 118"/>
              <a:gd name="T26" fmla="*/ 538163 w 375"/>
              <a:gd name="T27" fmla="*/ 187325 h 118"/>
              <a:gd name="T28" fmla="*/ 584200 w 375"/>
              <a:gd name="T29" fmla="*/ 187325 h 118"/>
              <a:gd name="T30" fmla="*/ 590550 w 375"/>
              <a:gd name="T31" fmla="*/ 184150 h 118"/>
              <a:gd name="T32" fmla="*/ 595313 w 375"/>
              <a:gd name="T33" fmla="*/ 179388 h 118"/>
              <a:gd name="T34" fmla="*/ 590550 w 375"/>
              <a:gd name="T35" fmla="*/ 169863 h 118"/>
              <a:gd name="T36" fmla="*/ 584200 w 375"/>
              <a:gd name="T37" fmla="*/ 168275 h 118"/>
              <a:gd name="T38" fmla="*/ 538163 w 375"/>
              <a:gd name="T39" fmla="*/ 168275 h 118"/>
              <a:gd name="T40" fmla="*/ 538163 w 375"/>
              <a:gd name="T41" fmla="*/ 187325 h 118"/>
              <a:gd name="T42" fmla="*/ 55563 w 375"/>
              <a:gd name="T43" fmla="*/ 187325 h 118"/>
              <a:gd name="T44" fmla="*/ 9525 w 375"/>
              <a:gd name="T45" fmla="*/ 187325 h 118"/>
              <a:gd name="T46" fmla="*/ 3175 w 375"/>
              <a:gd name="T47" fmla="*/ 184150 h 118"/>
              <a:gd name="T48" fmla="*/ 0 w 375"/>
              <a:gd name="T49" fmla="*/ 179388 h 118"/>
              <a:gd name="T50" fmla="*/ 3175 w 375"/>
              <a:gd name="T51" fmla="*/ 169863 h 118"/>
              <a:gd name="T52" fmla="*/ 9525 w 375"/>
              <a:gd name="T53" fmla="*/ 168275 h 118"/>
              <a:gd name="T54" fmla="*/ 55563 w 375"/>
              <a:gd name="T55" fmla="*/ 168275 h 118"/>
              <a:gd name="T56" fmla="*/ 55563 w 375"/>
              <a:gd name="T57" fmla="*/ 187325 h 118"/>
              <a:gd name="T58" fmla="*/ 212725 w 375"/>
              <a:gd name="T59" fmla="*/ 39688 h 118"/>
              <a:gd name="T60" fmla="*/ 311150 w 375"/>
              <a:gd name="T61" fmla="*/ 39688 h 118"/>
              <a:gd name="T62" fmla="*/ 311150 w 375"/>
              <a:gd name="T63" fmla="*/ 30163 h 118"/>
              <a:gd name="T64" fmla="*/ 212725 w 375"/>
              <a:gd name="T65" fmla="*/ 30163 h 118"/>
              <a:gd name="T66" fmla="*/ 212725 w 375"/>
              <a:gd name="T67" fmla="*/ 39688 h 11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75" h="118">
                <a:moveTo>
                  <a:pt x="129" y="94"/>
                </a:moveTo>
                <a:lnTo>
                  <a:pt x="372" y="94"/>
                </a:lnTo>
                <a:lnTo>
                  <a:pt x="372" y="0"/>
                </a:lnTo>
                <a:lnTo>
                  <a:pt x="129" y="0"/>
                </a:lnTo>
                <a:lnTo>
                  <a:pt x="125" y="23"/>
                </a:lnTo>
                <a:lnTo>
                  <a:pt x="124" y="47"/>
                </a:lnTo>
                <a:lnTo>
                  <a:pt x="125" y="71"/>
                </a:lnTo>
                <a:lnTo>
                  <a:pt x="129" y="94"/>
                </a:lnTo>
                <a:close/>
                <a:moveTo>
                  <a:pt x="220" y="82"/>
                </a:moveTo>
                <a:lnTo>
                  <a:pt x="359" y="82"/>
                </a:lnTo>
                <a:lnTo>
                  <a:pt x="359" y="12"/>
                </a:lnTo>
                <a:lnTo>
                  <a:pt x="220" y="12"/>
                </a:lnTo>
                <a:lnTo>
                  <a:pt x="220" y="82"/>
                </a:lnTo>
                <a:close/>
                <a:moveTo>
                  <a:pt x="339" y="118"/>
                </a:moveTo>
                <a:lnTo>
                  <a:pt x="368" y="118"/>
                </a:lnTo>
                <a:lnTo>
                  <a:pt x="372" y="116"/>
                </a:lnTo>
                <a:lnTo>
                  <a:pt x="375" y="113"/>
                </a:lnTo>
                <a:lnTo>
                  <a:pt x="372" y="107"/>
                </a:lnTo>
                <a:lnTo>
                  <a:pt x="368" y="106"/>
                </a:lnTo>
                <a:lnTo>
                  <a:pt x="339" y="106"/>
                </a:lnTo>
                <a:lnTo>
                  <a:pt x="339" y="118"/>
                </a:lnTo>
                <a:close/>
                <a:moveTo>
                  <a:pt x="35" y="118"/>
                </a:moveTo>
                <a:lnTo>
                  <a:pt x="6" y="118"/>
                </a:lnTo>
                <a:lnTo>
                  <a:pt x="2" y="116"/>
                </a:lnTo>
                <a:lnTo>
                  <a:pt x="0" y="113"/>
                </a:lnTo>
                <a:lnTo>
                  <a:pt x="2" y="107"/>
                </a:lnTo>
                <a:lnTo>
                  <a:pt x="6" y="106"/>
                </a:lnTo>
                <a:lnTo>
                  <a:pt x="35" y="106"/>
                </a:lnTo>
                <a:lnTo>
                  <a:pt x="35" y="118"/>
                </a:lnTo>
                <a:close/>
                <a:moveTo>
                  <a:pt x="134" y="25"/>
                </a:moveTo>
                <a:lnTo>
                  <a:pt x="196" y="25"/>
                </a:lnTo>
                <a:lnTo>
                  <a:pt x="196" y="19"/>
                </a:lnTo>
                <a:lnTo>
                  <a:pt x="134" y="19"/>
                </a:lnTo>
                <a:lnTo>
                  <a:pt x="134" y="25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5" name="Line 190"/>
          <p:cNvSpPr>
            <a:spLocks noChangeShapeType="1"/>
          </p:cNvSpPr>
          <p:nvPr/>
        </p:nvSpPr>
        <p:spPr bwMode="auto">
          <a:xfrm>
            <a:off x="6065515" y="4475019"/>
            <a:ext cx="1190" cy="11191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6" name="Line 191"/>
          <p:cNvSpPr>
            <a:spLocks noChangeShapeType="1"/>
          </p:cNvSpPr>
          <p:nvPr/>
        </p:nvSpPr>
        <p:spPr bwMode="auto">
          <a:xfrm flipH="1">
            <a:off x="5976218" y="4511929"/>
            <a:ext cx="89297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7" name="Line 192"/>
          <p:cNvSpPr>
            <a:spLocks noChangeShapeType="1"/>
          </p:cNvSpPr>
          <p:nvPr/>
        </p:nvSpPr>
        <p:spPr bwMode="auto">
          <a:xfrm flipH="1">
            <a:off x="5976218" y="4550029"/>
            <a:ext cx="89297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8" name="Line 193"/>
          <p:cNvSpPr>
            <a:spLocks noChangeShapeType="1"/>
          </p:cNvSpPr>
          <p:nvPr/>
        </p:nvSpPr>
        <p:spPr bwMode="auto">
          <a:xfrm>
            <a:off x="6203628" y="4489307"/>
            <a:ext cx="1190" cy="32147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29" name="Line 194"/>
          <p:cNvSpPr>
            <a:spLocks noChangeShapeType="1"/>
          </p:cNvSpPr>
          <p:nvPr/>
        </p:nvSpPr>
        <p:spPr bwMode="auto">
          <a:xfrm>
            <a:off x="6090518" y="4521454"/>
            <a:ext cx="165497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0" name="Line 195"/>
          <p:cNvSpPr>
            <a:spLocks noChangeShapeType="1"/>
          </p:cNvSpPr>
          <p:nvPr/>
        </p:nvSpPr>
        <p:spPr bwMode="auto">
          <a:xfrm flipV="1">
            <a:off x="5988124" y="4469067"/>
            <a:ext cx="1191" cy="5953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1" name="Line 196"/>
          <p:cNvSpPr>
            <a:spLocks noChangeShapeType="1"/>
          </p:cNvSpPr>
          <p:nvPr/>
        </p:nvSpPr>
        <p:spPr bwMode="auto">
          <a:xfrm flipV="1">
            <a:off x="5988124" y="4586938"/>
            <a:ext cx="1191" cy="5954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2" name="Line 197"/>
          <p:cNvSpPr>
            <a:spLocks noChangeShapeType="1"/>
          </p:cNvSpPr>
          <p:nvPr/>
        </p:nvSpPr>
        <p:spPr bwMode="auto">
          <a:xfrm>
            <a:off x="5990505" y="4532169"/>
            <a:ext cx="7144" cy="1191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3" name="Line 198"/>
          <p:cNvSpPr>
            <a:spLocks noChangeShapeType="1"/>
          </p:cNvSpPr>
          <p:nvPr/>
        </p:nvSpPr>
        <p:spPr bwMode="auto">
          <a:xfrm>
            <a:off x="5990505" y="4500023"/>
            <a:ext cx="7144" cy="119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4" name="Line 199"/>
          <p:cNvSpPr>
            <a:spLocks noChangeShapeType="1"/>
          </p:cNvSpPr>
          <p:nvPr/>
        </p:nvSpPr>
        <p:spPr bwMode="auto">
          <a:xfrm>
            <a:off x="6044084" y="4500023"/>
            <a:ext cx="5953" cy="119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5" name="Line 200"/>
          <p:cNvSpPr>
            <a:spLocks noChangeShapeType="1"/>
          </p:cNvSpPr>
          <p:nvPr/>
        </p:nvSpPr>
        <p:spPr bwMode="auto">
          <a:xfrm>
            <a:off x="6111949" y="4511929"/>
            <a:ext cx="7144" cy="119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6" name="Freeform 201"/>
          <p:cNvSpPr/>
          <p:nvPr/>
        </p:nvSpPr>
        <p:spPr bwMode="auto">
          <a:xfrm>
            <a:off x="6221486" y="4115451"/>
            <a:ext cx="55960" cy="332185"/>
          </a:xfrm>
          <a:custGeom>
            <a:avLst/>
            <a:gdLst>
              <a:gd name="T0" fmla="*/ 0 w 47"/>
              <a:gd name="T1" fmla="*/ 442913 h 279"/>
              <a:gd name="T2" fmla="*/ 57150 w 47"/>
              <a:gd name="T3" fmla="*/ 385763 h 279"/>
              <a:gd name="T4" fmla="*/ 57150 w 47"/>
              <a:gd name="T5" fmla="*/ 280988 h 279"/>
              <a:gd name="T6" fmla="*/ 74613 w 47"/>
              <a:gd name="T7" fmla="*/ 225425 h 279"/>
              <a:gd name="T8" fmla="*/ 74613 w 47"/>
              <a:gd name="T9" fmla="*/ 0 h 279"/>
              <a:gd name="T10" fmla="*/ 0 w 47"/>
              <a:gd name="T11" fmla="*/ 74613 h 279"/>
              <a:gd name="T12" fmla="*/ 0 w 47"/>
              <a:gd name="T13" fmla="*/ 442913 h 2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" h="279">
                <a:moveTo>
                  <a:pt x="0" y="279"/>
                </a:moveTo>
                <a:lnTo>
                  <a:pt x="36" y="243"/>
                </a:lnTo>
                <a:lnTo>
                  <a:pt x="36" y="177"/>
                </a:lnTo>
                <a:lnTo>
                  <a:pt x="47" y="142"/>
                </a:lnTo>
                <a:lnTo>
                  <a:pt x="47" y="0"/>
                </a:lnTo>
                <a:lnTo>
                  <a:pt x="0" y="47"/>
                </a:lnTo>
                <a:lnTo>
                  <a:pt x="0" y="279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37" name="Freeform 202"/>
          <p:cNvSpPr/>
          <p:nvPr/>
        </p:nvSpPr>
        <p:spPr bwMode="auto">
          <a:xfrm>
            <a:off x="5882158" y="4115451"/>
            <a:ext cx="395288" cy="55960"/>
          </a:xfrm>
          <a:custGeom>
            <a:avLst/>
            <a:gdLst>
              <a:gd name="T0" fmla="*/ 527050 w 332"/>
              <a:gd name="T1" fmla="*/ 0 h 47"/>
              <a:gd name="T2" fmla="*/ 74613 w 332"/>
              <a:gd name="T3" fmla="*/ 0 h 47"/>
              <a:gd name="T4" fmla="*/ 0 w 332"/>
              <a:gd name="T5" fmla="*/ 74613 h 47"/>
              <a:gd name="T6" fmla="*/ 452438 w 332"/>
              <a:gd name="T7" fmla="*/ 74613 h 47"/>
              <a:gd name="T8" fmla="*/ 527050 w 332"/>
              <a:gd name="T9" fmla="*/ 0 h 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2" h="47">
                <a:moveTo>
                  <a:pt x="332" y="0"/>
                </a:moveTo>
                <a:lnTo>
                  <a:pt x="47" y="0"/>
                </a:lnTo>
                <a:lnTo>
                  <a:pt x="0" y="47"/>
                </a:lnTo>
                <a:lnTo>
                  <a:pt x="285" y="47"/>
                </a:lnTo>
                <a:lnTo>
                  <a:pt x="332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grpSp>
        <p:nvGrpSpPr>
          <p:cNvPr id="18638" name="Group 203"/>
          <p:cNvGrpSpPr/>
          <p:nvPr/>
        </p:nvGrpSpPr>
        <p:grpSpPr bwMode="auto">
          <a:xfrm>
            <a:off x="3789040" y="4115450"/>
            <a:ext cx="2771774" cy="1471613"/>
            <a:chOff x="2797" y="1754"/>
            <a:chExt cx="2328" cy="1236"/>
          </a:xfrm>
        </p:grpSpPr>
        <p:sp>
          <p:nvSpPr>
            <p:cNvPr id="19141" name="Rectangle 204"/>
            <p:cNvSpPr>
              <a:spLocks noChangeArrowheads="1"/>
            </p:cNvSpPr>
            <p:nvPr/>
          </p:nvSpPr>
          <p:spPr bwMode="auto">
            <a:xfrm>
              <a:off x="4555" y="1801"/>
              <a:ext cx="285" cy="232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142" name="Rectangle 205"/>
            <p:cNvSpPr>
              <a:spLocks noChangeArrowheads="1"/>
            </p:cNvSpPr>
            <p:nvPr/>
          </p:nvSpPr>
          <p:spPr bwMode="auto">
            <a:xfrm>
              <a:off x="4811" y="2004"/>
              <a:ext cx="14" cy="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143" name="Freeform 206"/>
            <p:cNvSpPr/>
            <p:nvPr/>
          </p:nvSpPr>
          <p:spPr bwMode="auto">
            <a:xfrm>
              <a:off x="4596" y="1836"/>
              <a:ext cx="202" cy="144"/>
            </a:xfrm>
            <a:custGeom>
              <a:avLst/>
              <a:gdLst>
                <a:gd name="T0" fmla="*/ 0 w 202"/>
                <a:gd name="T1" fmla="*/ 144 h 144"/>
                <a:gd name="T2" fmla="*/ 202 w 202"/>
                <a:gd name="T3" fmla="*/ 144 h 144"/>
                <a:gd name="T4" fmla="*/ 202 w 202"/>
                <a:gd name="T5" fmla="*/ 0 h 144"/>
                <a:gd name="T6" fmla="*/ 197 w 202"/>
                <a:gd name="T7" fmla="*/ 0 h 144"/>
                <a:gd name="T8" fmla="*/ 197 w 202"/>
                <a:gd name="T9" fmla="*/ 140 h 144"/>
                <a:gd name="T10" fmla="*/ 0 w 202"/>
                <a:gd name="T11" fmla="*/ 140 h 144"/>
                <a:gd name="T12" fmla="*/ 0 w 202"/>
                <a:gd name="T13" fmla="*/ 144 h 1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4">
                  <a:moveTo>
                    <a:pt x="0" y="144"/>
                  </a:moveTo>
                  <a:lnTo>
                    <a:pt x="202" y="144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40"/>
                  </a:lnTo>
                  <a:lnTo>
                    <a:pt x="0" y="14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44" name="Freeform 207"/>
            <p:cNvSpPr/>
            <p:nvPr/>
          </p:nvSpPr>
          <p:spPr bwMode="auto">
            <a:xfrm>
              <a:off x="4596" y="1836"/>
              <a:ext cx="197" cy="140"/>
            </a:xfrm>
            <a:custGeom>
              <a:avLst/>
              <a:gdLst>
                <a:gd name="T0" fmla="*/ 0 w 197"/>
                <a:gd name="T1" fmla="*/ 140 h 140"/>
                <a:gd name="T2" fmla="*/ 197 w 197"/>
                <a:gd name="T3" fmla="*/ 140 h 140"/>
                <a:gd name="T4" fmla="*/ 197 w 197"/>
                <a:gd name="T5" fmla="*/ 0 h 140"/>
                <a:gd name="T6" fmla="*/ 194 w 197"/>
                <a:gd name="T7" fmla="*/ 0 h 140"/>
                <a:gd name="T8" fmla="*/ 194 w 197"/>
                <a:gd name="T9" fmla="*/ 137 h 140"/>
                <a:gd name="T10" fmla="*/ 0 w 197"/>
                <a:gd name="T11" fmla="*/ 137 h 140"/>
                <a:gd name="T12" fmla="*/ 0 w 197"/>
                <a:gd name="T13" fmla="*/ 140 h 1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40">
                  <a:moveTo>
                    <a:pt x="0" y="140"/>
                  </a:moveTo>
                  <a:lnTo>
                    <a:pt x="197" y="140"/>
                  </a:lnTo>
                  <a:lnTo>
                    <a:pt x="197" y="0"/>
                  </a:lnTo>
                  <a:lnTo>
                    <a:pt x="194" y="0"/>
                  </a:lnTo>
                  <a:lnTo>
                    <a:pt x="194" y="137"/>
                  </a:lnTo>
                  <a:lnTo>
                    <a:pt x="0" y="137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45" name="Freeform 208"/>
            <p:cNvSpPr/>
            <p:nvPr/>
          </p:nvSpPr>
          <p:spPr bwMode="auto">
            <a:xfrm>
              <a:off x="4596" y="1836"/>
              <a:ext cx="194" cy="137"/>
            </a:xfrm>
            <a:custGeom>
              <a:avLst/>
              <a:gdLst>
                <a:gd name="T0" fmla="*/ 0 w 194"/>
                <a:gd name="T1" fmla="*/ 137 h 137"/>
                <a:gd name="T2" fmla="*/ 194 w 194"/>
                <a:gd name="T3" fmla="*/ 137 h 137"/>
                <a:gd name="T4" fmla="*/ 194 w 194"/>
                <a:gd name="T5" fmla="*/ 0 h 137"/>
                <a:gd name="T6" fmla="*/ 190 w 194"/>
                <a:gd name="T7" fmla="*/ 0 h 137"/>
                <a:gd name="T8" fmla="*/ 190 w 194"/>
                <a:gd name="T9" fmla="*/ 135 h 137"/>
                <a:gd name="T10" fmla="*/ 0 w 194"/>
                <a:gd name="T11" fmla="*/ 135 h 137"/>
                <a:gd name="T12" fmla="*/ 0 w 194"/>
                <a:gd name="T13" fmla="*/ 137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4" h="137">
                  <a:moveTo>
                    <a:pt x="0" y="137"/>
                  </a:moveTo>
                  <a:lnTo>
                    <a:pt x="194" y="137"/>
                  </a:lnTo>
                  <a:lnTo>
                    <a:pt x="194" y="0"/>
                  </a:lnTo>
                  <a:lnTo>
                    <a:pt x="190" y="0"/>
                  </a:lnTo>
                  <a:lnTo>
                    <a:pt x="190" y="135"/>
                  </a:lnTo>
                  <a:lnTo>
                    <a:pt x="0" y="135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46" name="Freeform 209"/>
            <p:cNvSpPr/>
            <p:nvPr/>
          </p:nvSpPr>
          <p:spPr bwMode="auto">
            <a:xfrm>
              <a:off x="4596" y="1836"/>
              <a:ext cx="190" cy="135"/>
            </a:xfrm>
            <a:custGeom>
              <a:avLst/>
              <a:gdLst>
                <a:gd name="T0" fmla="*/ 0 w 190"/>
                <a:gd name="T1" fmla="*/ 135 h 135"/>
                <a:gd name="T2" fmla="*/ 190 w 190"/>
                <a:gd name="T3" fmla="*/ 135 h 135"/>
                <a:gd name="T4" fmla="*/ 190 w 190"/>
                <a:gd name="T5" fmla="*/ 0 h 135"/>
                <a:gd name="T6" fmla="*/ 186 w 190"/>
                <a:gd name="T7" fmla="*/ 0 h 135"/>
                <a:gd name="T8" fmla="*/ 186 w 190"/>
                <a:gd name="T9" fmla="*/ 132 h 135"/>
                <a:gd name="T10" fmla="*/ 0 w 190"/>
                <a:gd name="T11" fmla="*/ 132 h 135"/>
                <a:gd name="T12" fmla="*/ 0 w 190"/>
                <a:gd name="T13" fmla="*/ 135 h 1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5">
                  <a:moveTo>
                    <a:pt x="0" y="135"/>
                  </a:moveTo>
                  <a:lnTo>
                    <a:pt x="190" y="135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2"/>
                  </a:lnTo>
                  <a:lnTo>
                    <a:pt x="0" y="132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47" name="Freeform 210"/>
            <p:cNvSpPr/>
            <p:nvPr/>
          </p:nvSpPr>
          <p:spPr bwMode="auto">
            <a:xfrm>
              <a:off x="4596" y="1836"/>
              <a:ext cx="186" cy="132"/>
            </a:xfrm>
            <a:custGeom>
              <a:avLst/>
              <a:gdLst>
                <a:gd name="T0" fmla="*/ 0 w 186"/>
                <a:gd name="T1" fmla="*/ 132 h 132"/>
                <a:gd name="T2" fmla="*/ 186 w 186"/>
                <a:gd name="T3" fmla="*/ 132 h 132"/>
                <a:gd name="T4" fmla="*/ 186 w 186"/>
                <a:gd name="T5" fmla="*/ 0 h 132"/>
                <a:gd name="T6" fmla="*/ 182 w 186"/>
                <a:gd name="T7" fmla="*/ 0 h 132"/>
                <a:gd name="T8" fmla="*/ 182 w 186"/>
                <a:gd name="T9" fmla="*/ 130 h 132"/>
                <a:gd name="T10" fmla="*/ 0 w 186"/>
                <a:gd name="T11" fmla="*/ 130 h 132"/>
                <a:gd name="T12" fmla="*/ 0 w 186"/>
                <a:gd name="T13" fmla="*/ 132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2">
                  <a:moveTo>
                    <a:pt x="0" y="132"/>
                  </a:moveTo>
                  <a:lnTo>
                    <a:pt x="186" y="132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30"/>
                  </a:lnTo>
                  <a:lnTo>
                    <a:pt x="0" y="130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48" name="Freeform 211"/>
            <p:cNvSpPr/>
            <p:nvPr/>
          </p:nvSpPr>
          <p:spPr bwMode="auto">
            <a:xfrm>
              <a:off x="4596" y="1836"/>
              <a:ext cx="182" cy="130"/>
            </a:xfrm>
            <a:custGeom>
              <a:avLst/>
              <a:gdLst>
                <a:gd name="T0" fmla="*/ 0 w 182"/>
                <a:gd name="T1" fmla="*/ 130 h 130"/>
                <a:gd name="T2" fmla="*/ 182 w 182"/>
                <a:gd name="T3" fmla="*/ 130 h 130"/>
                <a:gd name="T4" fmla="*/ 182 w 182"/>
                <a:gd name="T5" fmla="*/ 0 h 130"/>
                <a:gd name="T6" fmla="*/ 178 w 182"/>
                <a:gd name="T7" fmla="*/ 0 h 130"/>
                <a:gd name="T8" fmla="*/ 178 w 182"/>
                <a:gd name="T9" fmla="*/ 127 h 130"/>
                <a:gd name="T10" fmla="*/ 0 w 182"/>
                <a:gd name="T11" fmla="*/ 127 h 130"/>
                <a:gd name="T12" fmla="*/ 0 w 182"/>
                <a:gd name="T13" fmla="*/ 130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30">
                  <a:moveTo>
                    <a:pt x="0" y="130"/>
                  </a:moveTo>
                  <a:lnTo>
                    <a:pt x="182" y="13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7"/>
                  </a:lnTo>
                  <a:lnTo>
                    <a:pt x="0" y="127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49" name="Freeform 212"/>
            <p:cNvSpPr/>
            <p:nvPr/>
          </p:nvSpPr>
          <p:spPr bwMode="auto">
            <a:xfrm>
              <a:off x="4596" y="1836"/>
              <a:ext cx="178" cy="127"/>
            </a:xfrm>
            <a:custGeom>
              <a:avLst/>
              <a:gdLst>
                <a:gd name="T0" fmla="*/ 0 w 178"/>
                <a:gd name="T1" fmla="*/ 127 h 127"/>
                <a:gd name="T2" fmla="*/ 178 w 178"/>
                <a:gd name="T3" fmla="*/ 127 h 127"/>
                <a:gd name="T4" fmla="*/ 178 w 178"/>
                <a:gd name="T5" fmla="*/ 0 h 127"/>
                <a:gd name="T6" fmla="*/ 175 w 178"/>
                <a:gd name="T7" fmla="*/ 0 h 127"/>
                <a:gd name="T8" fmla="*/ 175 w 178"/>
                <a:gd name="T9" fmla="*/ 125 h 127"/>
                <a:gd name="T10" fmla="*/ 0 w 178"/>
                <a:gd name="T11" fmla="*/ 125 h 127"/>
                <a:gd name="T12" fmla="*/ 0 w 178"/>
                <a:gd name="T13" fmla="*/ 127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127">
                  <a:moveTo>
                    <a:pt x="0" y="127"/>
                  </a:moveTo>
                  <a:lnTo>
                    <a:pt x="178" y="127"/>
                  </a:lnTo>
                  <a:lnTo>
                    <a:pt x="178" y="0"/>
                  </a:lnTo>
                  <a:lnTo>
                    <a:pt x="175" y="0"/>
                  </a:lnTo>
                  <a:lnTo>
                    <a:pt x="175" y="125"/>
                  </a:lnTo>
                  <a:lnTo>
                    <a:pt x="0" y="125"/>
                  </a:lnTo>
                  <a:lnTo>
                    <a:pt x="0" y="127"/>
                  </a:lnTo>
                  <a:close/>
                </a:path>
              </a:pathLst>
            </a:custGeom>
            <a:solidFill>
              <a:srgbClr val="A2A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0" name="Freeform 213"/>
            <p:cNvSpPr/>
            <p:nvPr/>
          </p:nvSpPr>
          <p:spPr bwMode="auto">
            <a:xfrm>
              <a:off x="4596" y="1836"/>
              <a:ext cx="175" cy="125"/>
            </a:xfrm>
            <a:custGeom>
              <a:avLst/>
              <a:gdLst>
                <a:gd name="T0" fmla="*/ 0 w 175"/>
                <a:gd name="T1" fmla="*/ 125 h 125"/>
                <a:gd name="T2" fmla="*/ 175 w 175"/>
                <a:gd name="T3" fmla="*/ 125 h 125"/>
                <a:gd name="T4" fmla="*/ 175 w 175"/>
                <a:gd name="T5" fmla="*/ 0 h 125"/>
                <a:gd name="T6" fmla="*/ 171 w 175"/>
                <a:gd name="T7" fmla="*/ 0 h 125"/>
                <a:gd name="T8" fmla="*/ 171 w 175"/>
                <a:gd name="T9" fmla="*/ 121 h 125"/>
                <a:gd name="T10" fmla="*/ 0 w 175"/>
                <a:gd name="T11" fmla="*/ 121 h 125"/>
                <a:gd name="T12" fmla="*/ 0 w 175"/>
                <a:gd name="T13" fmla="*/ 125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125">
                  <a:moveTo>
                    <a:pt x="0" y="125"/>
                  </a:moveTo>
                  <a:lnTo>
                    <a:pt x="175" y="125"/>
                  </a:lnTo>
                  <a:lnTo>
                    <a:pt x="175" y="0"/>
                  </a:lnTo>
                  <a:lnTo>
                    <a:pt x="171" y="0"/>
                  </a:lnTo>
                  <a:lnTo>
                    <a:pt x="171" y="121"/>
                  </a:lnTo>
                  <a:lnTo>
                    <a:pt x="0" y="121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A5A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1" name="Freeform 214"/>
            <p:cNvSpPr/>
            <p:nvPr/>
          </p:nvSpPr>
          <p:spPr bwMode="auto">
            <a:xfrm>
              <a:off x="4596" y="1836"/>
              <a:ext cx="171" cy="121"/>
            </a:xfrm>
            <a:custGeom>
              <a:avLst/>
              <a:gdLst>
                <a:gd name="T0" fmla="*/ 0 w 171"/>
                <a:gd name="T1" fmla="*/ 121 h 121"/>
                <a:gd name="T2" fmla="*/ 171 w 171"/>
                <a:gd name="T3" fmla="*/ 121 h 121"/>
                <a:gd name="T4" fmla="*/ 171 w 171"/>
                <a:gd name="T5" fmla="*/ 0 h 121"/>
                <a:gd name="T6" fmla="*/ 167 w 171"/>
                <a:gd name="T7" fmla="*/ 0 h 121"/>
                <a:gd name="T8" fmla="*/ 167 w 171"/>
                <a:gd name="T9" fmla="*/ 118 h 121"/>
                <a:gd name="T10" fmla="*/ 0 w 171"/>
                <a:gd name="T11" fmla="*/ 118 h 121"/>
                <a:gd name="T12" fmla="*/ 0 w 171"/>
                <a:gd name="T13" fmla="*/ 121 h 1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21">
                  <a:moveTo>
                    <a:pt x="0" y="121"/>
                  </a:moveTo>
                  <a:lnTo>
                    <a:pt x="171" y="121"/>
                  </a:lnTo>
                  <a:lnTo>
                    <a:pt x="171" y="0"/>
                  </a:lnTo>
                  <a:lnTo>
                    <a:pt x="167" y="0"/>
                  </a:lnTo>
                  <a:lnTo>
                    <a:pt x="167" y="118"/>
                  </a:lnTo>
                  <a:lnTo>
                    <a:pt x="0" y="118"/>
                  </a:lnTo>
                  <a:lnTo>
                    <a:pt x="0" y="121"/>
                  </a:lnTo>
                  <a:close/>
                </a:path>
              </a:pathLst>
            </a:custGeom>
            <a:solidFill>
              <a:srgbClr val="A9A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2" name="Freeform 215"/>
            <p:cNvSpPr/>
            <p:nvPr/>
          </p:nvSpPr>
          <p:spPr bwMode="auto">
            <a:xfrm>
              <a:off x="4596" y="1836"/>
              <a:ext cx="167" cy="118"/>
            </a:xfrm>
            <a:custGeom>
              <a:avLst/>
              <a:gdLst>
                <a:gd name="T0" fmla="*/ 0 w 167"/>
                <a:gd name="T1" fmla="*/ 118 h 118"/>
                <a:gd name="T2" fmla="*/ 167 w 167"/>
                <a:gd name="T3" fmla="*/ 118 h 118"/>
                <a:gd name="T4" fmla="*/ 167 w 167"/>
                <a:gd name="T5" fmla="*/ 0 h 118"/>
                <a:gd name="T6" fmla="*/ 162 w 167"/>
                <a:gd name="T7" fmla="*/ 0 h 118"/>
                <a:gd name="T8" fmla="*/ 162 w 167"/>
                <a:gd name="T9" fmla="*/ 116 h 118"/>
                <a:gd name="T10" fmla="*/ 0 w 167"/>
                <a:gd name="T11" fmla="*/ 116 h 118"/>
                <a:gd name="T12" fmla="*/ 0 w 167"/>
                <a:gd name="T13" fmla="*/ 118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8">
                  <a:moveTo>
                    <a:pt x="0" y="118"/>
                  </a:moveTo>
                  <a:lnTo>
                    <a:pt x="167" y="118"/>
                  </a:lnTo>
                  <a:lnTo>
                    <a:pt x="167" y="0"/>
                  </a:lnTo>
                  <a:lnTo>
                    <a:pt x="162" y="0"/>
                  </a:lnTo>
                  <a:lnTo>
                    <a:pt x="162" y="116"/>
                  </a:lnTo>
                  <a:lnTo>
                    <a:pt x="0" y="116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ADA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3" name="Freeform 216"/>
            <p:cNvSpPr/>
            <p:nvPr/>
          </p:nvSpPr>
          <p:spPr bwMode="auto">
            <a:xfrm>
              <a:off x="4596" y="1836"/>
              <a:ext cx="162" cy="116"/>
            </a:xfrm>
            <a:custGeom>
              <a:avLst/>
              <a:gdLst>
                <a:gd name="T0" fmla="*/ 0 w 162"/>
                <a:gd name="T1" fmla="*/ 116 h 116"/>
                <a:gd name="T2" fmla="*/ 162 w 162"/>
                <a:gd name="T3" fmla="*/ 116 h 116"/>
                <a:gd name="T4" fmla="*/ 162 w 162"/>
                <a:gd name="T5" fmla="*/ 0 h 116"/>
                <a:gd name="T6" fmla="*/ 158 w 162"/>
                <a:gd name="T7" fmla="*/ 0 h 116"/>
                <a:gd name="T8" fmla="*/ 158 w 162"/>
                <a:gd name="T9" fmla="*/ 112 h 116"/>
                <a:gd name="T10" fmla="*/ 0 w 162"/>
                <a:gd name="T11" fmla="*/ 112 h 116"/>
                <a:gd name="T12" fmla="*/ 0 w 162"/>
                <a:gd name="T13" fmla="*/ 116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16">
                  <a:moveTo>
                    <a:pt x="0" y="116"/>
                  </a:moveTo>
                  <a:lnTo>
                    <a:pt x="162" y="116"/>
                  </a:lnTo>
                  <a:lnTo>
                    <a:pt x="162" y="0"/>
                  </a:lnTo>
                  <a:lnTo>
                    <a:pt x="158" y="0"/>
                  </a:lnTo>
                  <a:lnTo>
                    <a:pt x="158" y="112"/>
                  </a:lnTo>
                  <a:lnTo>
                    <a:pt x="0" y="112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B0B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4" name="Freeform 217"/>
            <p:cNvSpPr/>
            <p:nvPr/>
          </p:nvSpPr>
          <p:spPr bwMode="auto">
            <a:xfrm>
              <a:off x="4596" y="1836"/>
              <a:ext cx="158" cy="112"/>
            </a:xfrm>
            <a:custGeom>
              <a:avLst/>
              <a:gdLst>
                <a:gd name="T0" fmla="*/ 0 w 158"/>
                <a:gd name="T1" fmla="*/ 112 h 112"/>
                <a:gd name="T2" fmla="*/ 158 w 158"/>
                <a:gd name="T3" fmla="*/ 112 h 112"/>
                <a:gd name="T4" fmla="*/ 158 w 158"/>
                <a:gd name="T5" fmla="*/ 0 h 112"/>
                <a:gd name="T6" fmla="*/ 153 w 158"/>
                <a:gd name="T7" fmla="*/ 0 h 112"/>
                <a:gd name="T8" fmla="*/ 153 w 158"/>
                <a:gd name="T9" fmla="*/ 108 h 112"/>
                <a:gd name="T10" fmla="*/ 0 w 158"/>
                <a:gd name="T11" fmla="*/ 108 h 112"/>
                <a:gd name="T12" fmla="*/ 0 w 158"/>
                <a:gd name="T13" fmla="*/ 112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2">
                  <a:moveTo>
                    <a:pt x="0" y="112"/>
                  </a:moveTo>
                  <a:lnTo>
                    <a:pt x="158" y="112"/>
                  </a:lnTo>
                  <a:lnTo>
                    <a:pt x="158" y="0"/>
                  </a:lnTo>
                  <a:lnTo>
                    <a:pt x="153" y="0"/>
                  </a:lnTo>
                  <a:lnTo>
                    <a:pt x="153" y="108"/>
                  </a:lnTo>
                  <a:lnTo>
                    <a:pt x="0" y="10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B4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5" name="Freeform 218"/>
            <p:cNvSpPr/>
            <p:nvPr/>
          </p:nvSpPr>
          <p:spPr bwMode="auto">
            <a:xfrm>
              <a:off x="4596" y="1836"/>
              <a:ext cx="153" cy="108"/>
            </a:xfrm>
            <a:custGeom>
              <a:avLst/>
              <a:gdLst>
                <a:gd name="T0" fmla="*/ 0 w 153"/>
                <a:gd name="T1" fmla="*/ 108 h 108"/>
                <a:gd name="T2" fmla="*/ 153 w 153"/>
                <a:gd name="T3" fmla="*/ 108 h 108"/>
                <a:gd name="T4" fmla="*/ 153 w 153"/>
                <a:gd name="T5" fmla="*/ 0 h 108"/>
                <a:gd name="T6" fmla="*/ 148 w 153"/>
                <a:gd name="T7" fmla="*/ 0 h 108"/>
                <a:gd name="T8" fmla="*/ 148 w 153"/>
                <a:gd name="T9" fmla="*/ 106 h 108"/>
                <a:gd name="T10" fmla="*/ 0 w 153"/>
                <a:gd name="T11" fmla="*/ 106 h 108"/>
                <a:gd name="T12" fmla="*/ 0 w 153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108">
                  <a:moveTo>
                    <a:pt x="0" y="108"/>
                  </a:moveTo>
                  <a:lnTo>
                    <a:pt x="153" y="108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8" y="106"/>
                  </a:lnTo>
                  <a:lnTo>
                    <a:pt x="0" y="106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B8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6" name="Freeform 219"/>
            <p:cNvSpPr/>
            <p:nvPr/>
          </p:nvSpPr>
          <p:spPr bwMode="auto">
            <a:xfrm>
              <a:off x="4596" y="1836"/>
              <a:ext cx="148" cy="106"/>
            </a:xfrm>
            <a:custGeom>
              <a:avLst/>
              <a:gdLst>
                <a:gd name="T0" fmla="*/ 0 w 148"/>
                <a:gd name="T1" fmla="*/ 106 h 106"/>
                <a:gd name="T2" fmla="*/ 148 w 148"/>
                <a:gd name="T3" fmla="*/ 106 h 106"/>
                <a:gd name="T4" fmla="*/ 148 w 148"/>
                <a:gd name="T5" fmla="*/ 0 h 106"/>
                <a:gd name="T6" fmla="*/ 143 w 148"/>
                <a:gd name="T7" fmla="*/ 0 h 106"/>
                <a:gd name="T8" fmla="*/ 143 w 148"/>
                <a:gd name="T9" fmla="*/ 102 h 106"/>
                <a:gd name="T10" fmla="*/ 0 w 148"/>
                <a:gd name="T11" fmla="*/ 102 h 106"/>
                <a:gd name="T12" fmla="*/ 0 w 148"/>
                <a:gd name="T13" fmla="*/ 106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106">
                  <a:moveTo>
                    <a:pt x="0" y="106"/>
                  </a:moveTo>
                  <a:lnTo>
                    <a:pt x="148" y="106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143" y="102"/>
                  </a:lnTo>
                  <a:lnTo>
                    <a:pt x="0" y="102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BBB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7" name="Freeform 220"/>
            <p:cNvSpPr/>
            <p:nvPr/>
          </p:nvSpPr>
          <p:spPr bwMode="auto">
            <a:xfrm>
              <a:off x="4596" y="1836"/>
              <a:ext cx="143" cy="102"/>
            </a:xfrm>
            <a:custGeom>
              <a:avLst/>
              <a:gdLst>
                <a:gd name="T0" fmla="*/ 0 w 143"/>
                <a:gd name="T1" fmla="*/ 102 h 102"/>
                <a:gd name="T2" fmla="*/ 143 w 143"/>
                <a:gd name="T3" fmla="*/ 102 h 102"/>
                <a:gd name="T4" fmla="*/ 143 w 143"/>
                <a:gd name="T5" fmla="*/ 0 h 102"/>
                <a:gd name="T6" fmla="*/ 138 w 143"/>
                <a:gd name="T7" fmla="*/ 0 h 102"/>
                <a:gd name="T8" fmla="*/ 138 w 143"/>
                <a:gd name="T9" fmla="*/ 98 h 102"/>
                <a:gd name="T10" fmla="*/ 0 w 143"/>
                <a:gd name="T11" fmla="*/ 98 h 102"/>
                <a:gd name="T12" fmla="*/ 0 w 143"/>
                <a:gd name="T13" fmla="*/ 102 h 1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102">
                  <a:moveTo>
                    <a:pt x="0" y="102"/>
                  </a:moveTo>
                  <a:lnTo>
                    <a:pt x="143" y="102"/>
                  </a:lnTo>
                  <a:lnTo>
                    <a:pt x="143" y="0"/>
                  </a:lnTo>
                  <a:lnTo>
                    <a:pt x="138" y="0"/>
                  </a:lnTo>
                  <a:lnTo>
                    <a:pt x="138" y="98"/>
                  </a:lnTo>
                  <a:lnTo>
                    <a:pt x="0" y="98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8" name="Freeform 221"/>
            <p:cNvSpPr/>
            <p:nvPr/>
          </p:nvSpPr>
          <p:spPr bwMode="auto">
            <a:xfrm>
              <a:off x="4596" y="1836"/>
              <a:ext cx="138" cy="98"/>
            </a:xfrm>
            <a:custGeom>
              <a:avLst/>
              <a:gdLst>
                <a:gd name="T0" fmla="*/ 0 w 138"/>
                <a:gd name="T1" fmla="*/ 98 h 98"/>
                <a:gd name="T2" fmla="*/ 138 w 138"/>
                <a:gd name="T3" fmla="*/ 98 h 98"/>
                <a:gd name="T4" fmla="*/ 138 w 138"/>
                <a:gd name="T5" fmla="*/ 0 h 98"/>
                <a:gd name="T6" fmla="*/ 133 w 138"/>
                <a:gd name="T7" fmla="*/ 0 h 98"/>
                <a:gd name="T8" fmla="*/ 133 w 138"/>
                <a:gd name="T9" fmla="*/ 94 h 98"/>
                <a:gd name="T10" fmla="*/ 0 w 138"/>
                <a:gd name="T11" fmla="*/ 94 h 98"/>
                <a:gd name="T12" fmla="*/ 0 w 138"/>
                <a:gd name="T13" fmla="*/ 98 h 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98">
                  <a:moveTo>
                    <a:pt x="0" y="98"/>
                  </a:moveTo>
                  <a:lnTo>
                    <a:pt x="138" y="98"/>
                  </a:lnTo>
                  <a:lnTo>
                    <a:pt x="138" y="0"/>
                  </a:lnTo>
                  <a:lnTo>
                    <a:pt x="133" y="0"/>
                  </a:lnTo>
                  <a:lnTo>
                    <a:pt x="133" y="94"/>
                  </a:lnTo>
                  <a:lnTo>
                    <a:pt x="0" y="94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C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59" name="Freeform 222"/>
            <p:cNvSpPr/>
            <p:nvPr/>
          </p:nvSpPr>
          <p:spPr bwMode="auto">
            <a:xfrm>
              <a:off x="4596" y="1836"/>
              <a:ext cx="133" cy="94"/>
            </a:xfrm>
            <a:custGeom>
              <a:avLst/>
              <a:gdLst>
                <a:gd name="T0" fmla="*/ 0 w 133"/>
                <a:gd name="T1" fmla="*/ 94 h 94"/>
                <a:gd name="T2" fmla="*/ 133 w 133"/>
                <a:gd name="T3" fmla="*/ 94 h 94"/>
                <a:gd name="T4" fmla="*/ 133 w 133"/>
                <a:gd name="T5" fmla="*/ 0 h 94"/>
                <a:gd name="T6" fmla="*/ 126 w 133"/>
                <a:gd name="T7" fmla="*/ 0 h 94"/>
                <a:gd name="T8" fmla="*/ 126 w 133"/>
                <a:gd name="T9" fmla="*/ 90 h 94"/>
                <a:gd name="T10" fmla="*/ 0 w 133"/>
                <a:gd name="T11" fmla="*/ 90 h 94"/>
                <a:gd name="T12" fmla="*/ 0 w 133"/>
                <a:gd name="T13" fmla="*/ 94 h 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94">
                  <a:moveTo>
                    <a:pt x="0" y="94"/>
                  </a:moveTo>
                  <a:lnTo>
                    <a:pt x="133" y="94"/>
                  </a:lnTo>
                  <a:lnTo>
                    <a:pt x="133" y="0"/>
                  </a:lnTo>
                  <a:lnTo>
                    <a:pt x="126" y="0"/>
                  </a:lnTo>
                  <a:lnTo>
                    <a:pt x="126" y="90"/>
                  </a:lnTo>
                  <a:lnTo>
                    <a:pt x="0" y="90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C6C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0" name="Freeform 223"/>
            <p:cNvSpPr/>
            <p:nvPr/>
          </p:nvSpPr>
          <p:spPr bwMode="auto">
            <a:xfrm>
              <a:off x="4596" y="1836"/>
              <a:ext cx="126" cy="90"/>
            </a:xfrm>
            <a:custGeom>
              <a:avLst/>
              <a:gdLst>
                <a:gd name="T0" fmla="*/ 0 w 126"/>
                <a:gd name="T1" fmla="*/ 90 h 90"/>
                <a:gd name="T2" fmla="*/ 126 w 126"/>
                <a:gd name="T3" fmla="*/ 90 h 90"/>
                <a:gd name="T4" fmla="*/ 126 w 126"/>
                <a:gd name="T5" fmla="*/ 0 h 90"/>
                <a:gd name="T6" fmla="*/ 121 w 126"/>
                <a:gd name="T7" fmla="*/ 0 h 90"/>
                <a:gd name="T8" fmla="*/ 121 w 126"/>
                <a:gd name="T9" fmla="*/ 85 h 90"/>
                <a:gd name="T10" fmla="*/ 0 w 126"/>
                <a:gd name="T11" fmla="*/ 85 h 90"/>
                <a:gd name="T12" fmla="*/ 0 w 126"/>
                <a:gd name="T13" fmla="*/ 90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90">
                  <a:moveTo>
                    <a:pt x="0" y="90"/>
                  </a:moveTo>
                  <a:lnTo>
                    <a:pt x="126" y="90"/>
                  </a:lnTo>
                  <a:lnTo>
                    <a:pt x="126" y="0"/>
                  </a:lnTo>
                  <a:lnTo>
                    <a:pt x="121" y="0"/>
                  </a:lnTo>
                  <a:lnTo>
                    <a:pt x="121" y="85"/>
                  </a:lnTo>
                  <a:lnTo>
                    <a:pt x="0" y="85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CAC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1" name="Freeform 224"/>
            <p:cNvSpPr/>
            <p:nvPr/>
          </p:nvSpPr>
          <p:spPr bwMode="auto">
            <a:xfrm>
              <a:off x="4596" y="1836"/>
              <a:ext cx="121" cy="85"/>
            </a:xfrm>
            <a:custGeom>
              <a:avLst/>
              <a:gdLst>
                <a:gd name="T0" fmla="*/ 0 w 121"/>
                <a:gd name="T1" fmla="*/ 85 h 85"/>
                <a:gd name="T2" fmla="*/ 121 w 121"/>
                <a:gd name="T3" fmla="*/ 85 h 85"/>
                <a:gd name="T4" fmla="*/ 121 w 121"/>
                <a:gd name="T5" fmla="*/ 0 h 85"/>
                <a:gd name="T6" fmla="*/ 115 w 121"/>
                <a:gd name="T7" fmla="*/ 0 h 85"/>
                <a:gd name="T8" fmla="*/ 115 w 121"/>
                <a:gd name="T9" fmla="*/ 82 h 85"/>
                <a:gd name="T10" fmla="*/ 0 w 121"/>
                <a:gd name="T11" fmla="*/ 82 h 85"/>
                <a:gd name="T12" fmla="*/ 0 w 121"/>
                <a:gd name="T13" fmla="*/ 85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85">
                  <a:moveTo>
                    <a:pt x="0" y="85"/>
                  </a:moveTo>
                  <a:lnTo>
                    <a:pt x="121" y="85"/>
                  </a:lnTo>
                  <a:lnTo>
                    <a:pt x="121" y="0"/>
                  </a:lnTo>
                  <a:lnTo>
                    <a:pt x="115" y="0"/>
                  </a:lnTo>
                  <a:lnTo>
                    <a:pt x="115" y="82"/>
                  </a:lnTo>
                  <a:lnTo>
                    <a:pt x="0" y="82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CE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2" name="Freeform 225"/>
            <p:cNvSpPr/>
            <p:nvPr/>
          </p:nvSpPr>
          <p:spPr bwMode="auto">
            <a:xfrm>
              <a:off x="4596" y="1836"/>
              <a:ext cx="115" cy="82"/>
            </a:xfrm>
            <a:custGeom>
              <a:avLst/>
              <a:gdLst>
                <a:gd name="T0" fmla="*/ 0 w 115"/>
                <a:gd name="T1" fmla="*/ 82 h 82"/>
                <a:gd name="T2" fmla="*/ 115 w 115"/>
                <a:gd name="T3" fmla="*/ 82 h 82"/>
                <a:gd name="T4" fmla="*/ 115 w 115"/>
                <a:gd name="T5" fmla="*/ 0 h 82"/>
                <a:gd name="T6" fmla="*/ 109 w 115"/>
                <a:gd name="T7" fmla="*/ 0 h 82"/>
                <a:gd name="T8" fmla="*/ 109 w 115"/>
                <a:gd name="T9" fmla="*/ 76 h 82"/>
                <a:gd name="T10" fmla="*/ 0 w 115"/>
                <a:gd name="T11" fmla="*/ 76 h 82"/>
                <a:gd name="T12" fmla="*/ 0 w 115"/>
                <a:gd name="T13" fmla="*/ 82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82">
                  <a:moveTo>
                    <a:pt x="0" y="82"/>
                  </a:moveTo>
                  <a:lnTo>
                    <a:pt x="115" y="82"/>
                  </a:lnTo>
                  <a:lnTo>
                    <a:pt x="115" y="0"/>
                  </a:lnTo>
                  <a:lnTo>
                    <a:pt x="109" y="0"/>
                  </a:lnTo>
                  <a:lnTo>
                    <a:pt x="109" y="76"/>
                  </a:lnTo>
                  <a:lnTo>
                    <a:pt x="0" y="76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D1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3" name="Freeform 226"/>
            <p:cNvSpPr/>
            <p:nvPr/>
          </p:nvSpPr>
          <p:spPr bwMode="auto">
            <a:xfrm>
              <a:off x="4596" y="1836"/>
              <a:ext cx="109" cy="76"/>
            </a:xfrm>
            <a:custGeom>
              <a:avLst/>
              <a:gdLst>
                <a:gd name="T0" fmla="*/ 0 w 109"/>
                <a:gd name="T1" fmla="*/ 76 h 76"/>
                <a:gd name="T2" fmla="*/ 109 w 109"/>
                <a:gd name="T3" fmla="*/ 76 h 76"/>
                <a:gd name="T4" fmla="*/ 109 w 109"/>
                <a:gd name="T5" fmla="*/ 0 h 76"/>
                <a:gd name="T6" fmla="*/ 101 w 109"/>
                <a:gd name="T7" fmla="*/ 0 h 76"/>
                <a:gd name="T8" fmla="*/ 101 w 109"/>
                <a:gd name="T9" fmla="*/ 73 h 76"/>
                <a:gd name="T10" fmla="*/ 0 w 109"/>
                <a:gd name="T11" fmla="*/ 73 h 76"/>
                <a:gd name="T12" fmla="*/ 0 w 109"/>
                <a:gd name="T13" fmla="*/ 7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76">
                  <a:moveTo>
                    <a:pt x="0" y="76"/>
                  </a:moveTo>
                  <a:lnTo>
                    <a:pt x="109" y="76"/>
                  </a:lnTo>
                  <a:lnTo>
                    <a:pt x="109" y="0"/>
                  </a:lnTo>
                  <a:lnTo>
                    <a:pt x="101" y="0"/>
                  </a:lnTo>
                  <a:lnTo>
                    <a:pt x="101" y="73"/>
                  </a:lnTo>
                  <a:lnTo>
                    <a:pt x="0" y="73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D5D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4" name="Freeform 227"/>
            <p:cNvSpPr/>
            <p:nvPr/>
          </p:nvSpPr>
          <p:spPr bwMode="auto">
            <a:xfrm>
              <a:off x="4595" y="1835"/>
              <a:ext cx="102" cy="74"/>
            </a:xfrm>
            <a:custGeom>
              <a:avLst/>
              <a:gdLst>
                <a:gd name="T0" fmla="*/ 1 w 102"/>
                <a:gd name="T1" fmla="*/ 74 h 74"/>
                <a:gd name="T2" fmla="*/ 102 w 102"/>
                <a:gd name="T3" fmla="*/ 74 h 74"/>
                <a:gd name="T4" fmla="*/ 102 w 102"/>
                <a:gd name="T5" fmla="*/ 1 h 74"/>
                <a:gd name="T6" fmla="*/ 96 w 102"/>
                <a:gd name="T7" fmla="*/ 0 h 74"/>
                <a:gd name="T8" fmla="*/ 96 w 102"/>
                <a:gd name="T9" fmla="*/ 69 h 74"/>
                <a:gd name="T10" fmla="*/ 0 w 102"/>
                <a:gd name="T11" fmla="*/ 69 h 74"/>
                <a:gd name="T12" fmla="*/ 1 w 102"/>
                <a:gd name="T13" fmla="*/ 74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2" h="74">
                  <a:moveTo>
                    <a:pt x="1" y="74"/>
                  </a:moveTo>
                  <a:lnTo>
                    <a:pt x="102" y="74"/>
                  </a:lnTo>
                  <a:lnTo>
                    <a:pt x="102" y="1"/>
                  </a:lnTo>
                  <a:lnTo>
                    <a:pt x="96" y="0"/>
                  </a:lnTo>
                  <a:lnTo>
                    <a:pt x="96" y="69"/>
                  </a:lnTo>
                  <a:lnTo>
                    <a:pt x="0" y="69"/>
                  </a:lnTo>
                  <a:lnTo>
                    <a:pt x="1" y="74"/>
                  </a:lnTo>
                  <a:close/>
                </a:path>
              </a:pathLst>
            </a:custGeom>
            <a:solidFill>
              <a:srgbClr val="D9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5" name="Freeform 228"/>
            <p:cNvSpPr/>
            <p:nvPr/>
          </p:nvSpPr>
          <p:spPr bwMode="auto">
            <a:xfrm>
              <a:off x="4595" y="1835"/>
              <a:ext cx="96" cy="69"/>
            </a:xfrm>
            <a:custGeom>
              <a:avLst/>
              <a:gdLst>
                <a:gd name="T0" fmla="*/ 0 w 96"/>
                <a:gd name="T1" fmla="*/ 69 h 69"/>
                <a:gd name="T2" fmla="*/ 96 w 96"/>
                <a:gd name="T3" fmla="*/ 69 h 69"/>
                <a:gd name="T4" fmla="*/ 96 w 96"/>
                <a:gd name="T5" fmla="*/ 0 h 69"/>
                <a:gd name="T6" fmla="*/ 88 w 96"/>
                <a:gd name="T7" fmla="*/ 1 h 69"/>
                <a:gd name="T8" fmla="*/ 88 w 96"/>
                <a:gd name="T9" fmla="*/ 62 h 69"/>
                <a:gd name="T10" fmla="*/ 1 w 96"/>
                <a:gd name="T11" fmla="*/ 62 h 69"/>
                <a:gd name="T12" fmla="*/ 0 w 96"/>
                <a:gd name="T13" fmla="*/ 6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69">
                  <a:moveTo>
                    <a:pt x="0" y="69"/>
                  </a:moveTo>
                  <a:lnTo>
                    <a:pt x="96" y="69"/>
                  </a:lnTo>
                  <a:lnTo>
                    <a:pt x="96" y="0"/>
                  </a:lnTo>
                  <a:lnTo>
                    <a:pt x="88" y="1"/>
                  </a:lnTo>
                  <a:lnTo>
                    <a:pt x="88" y="62"/>
                  </a:lnTo>
                  <a:lnTo>
                    <a:pt x="1" y="6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DDD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6" name="Freeform 229"/>
            <p:cNvSpPr/>
            <p:nvPr/>
          </p:nvSpPr>
          <p:spPr bwMode="auto">
            <a:xfrm>
              <a:off x="4596" y="1836"/>
              <a:ext cx="87" cy="61"/>
            </a:xfrm>
            <a:custGeom>
              <a:avLst/>
              <a:gdLst>
                <a:gd name="T0" fmla="*/ 0 w 87"/>
                <a:gd name="T1" fmla="*/ 61 h 61"/>
                <a:gd name="T2" fmla="*/ 87 w 87"/>
                <a:gd name="T3" fmla="*/ 61 h 61"/>
                <a:gd name="T4" fmla="*/ 87 w 87"/>
                <a:gd name="T5" fmla="*/ 0 h 61"/>
                <a:gd name="T6" fmla="*/ 80 w 87"/>
                <a:gd name="T7" fmla="*/ 0 h 61"/>
                <a:gd name="T8" fmla="*/ 80 w 87"/>
                <a:gd name="T9" fmla="*/ 56 h 61"/>
                <a:gd name="T10" fmla="*/ 0 w 87"/>
                <a:gd name="T11" fmla="*/ 56 h 61"/>
                <a:gd name="T12" fmla="*/ 0 w 87"/>
                <a:gd name="T13" fmla="*/ 6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61">
                  <a:moveTo>
                    <a:pt x="0" y="61"/>
                  </a:moveTo>
                  <a:lnTo>
                    <a:pt x="87" y="61"/>
                  </a:lnTo>
                  <a:lnTo>
                    <a:pt x="87" y="0"/>
                  </a:lnTo>
                  <a:lnTo>
                    <a:pt x="80" y="0"/>
                  </a:lnTo>
                  <a:lnTo>
                    <a:pt x="80" y="56"/>
                  </a:lnTo>
                  <a:lnTo>
                    <a:pt x="0" y="56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0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7" name="Freeform 230"/>
            <p:cNvSpPr/>
            <p:nvPr/>
          </p:nvSpPr>
          <p:spPr bwMode="auto">
            <a:xfrm>
              <a:off x="4596" y="1836"/>
              <a:ext cx="80" cy="56"/>
            </a:xfrm>
            <a:custGeom>
              <a:avLst/>
              <a:gdLst>
                <a:gd name="T0" fmla="*/ 0 w 80"/>
                <a:gd name="T1" fmla="*/ 56 h 56"/>
                <a:gd name="T2" fmla="*/ 80 w 80"/>
                <a:gd name="T3" fmla="*/ 56 h 56"/>
                <a:gd name="T4" fmla="*/ 80 w 80"/>
                <a:gd name="T5" fmla="*/ 0 h 56"/>
                <a:gd name="T6" fmla="*/ 71 w 80"/>
                <a:gd name="T7" fmla="*/ 0 h 56"/>
                <a:gd name="T8" fmla="*/ 71 w 80"/>
                <a:gd name="T9" fmla="*/ 51 h 56"/>
                <a:gd name="T10" fmla="*/ 0 w 80"/>
                <a:gd name="T11" fmla="*/ 51 h 56"/>
                <a:gd name="T12" fmla="*/ 0 w 80"/>
                <a:gd name="T13" fmla="*/ 56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56">
                  <a:moveTo>
                    <a:pt x="0" y="56"/>
                  </a:moveTo>
                  <a:lnTo>
                    <a:pt x="80" y="56"/>
                  </a:lnTo>
                  <a:lnTo>
                    <a:pt x="80" y="0"/>
                  </a:lnTo>
                  <a:lnTo>
                    <a:pt x="71" y="0"/>
                  </a:lnTo>
                  <a:lnTo>
                    <a:pt x="71" y="51"/>
                  </a:lnTo>
                  <a:lnTo>
                    <a:pt x="0" y="51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4E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8" name="Freeform 231"/>
            <p:cNvSpPr/>
            <p:nvPr/>
          </p:nvSpPr>
          <p:spPr bwMode="auto">
            <a:xfrm>
              <a:off x="4596" y="1836"/>
              <a:ext cx="71" cy="51"/>
            </a:xfrm>
            <a:custGeom>
              <a:avLst/>
              <a:gdLst>
                <a:gd name="T0" fmla="*/ 0 w 71"/>
                <a:gd name="T1" fmla="*/ 51 h 51"/>
                <a:gd name="T2" fmla="*/ 71 w 71"/>
                <a:gd name="T3" fmla="*/ 51 h 51"/>
                <a:gd name="T4" fmla="*/ 71 w 71"/>
                <a:gd name="T5" fmla="*/ 0 h 51"/>
                <a:gd name="T6" fmla="*/ 62 w 71"/>
                <a:gd name="T7" fmla="*/ 0 h 51"/>
                <a:gd name="T8" fmla="*/ 62 w 71"/>
                <a:gd name="T9" fmla="*/ 45 h 51"/>
                <a:gd name="T10" fmla="*/ 0 w 71"/>
                <a:gd name="T11" fmla="*/ 45 h 51"/>
                <a:gd name="T12" fmla="*/ 0 w 71"/>
                <a:gd name="T13" fmla="*/ 5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1">
                  <a:moveTo>
                    <a:pt x="0" y="51"/>
                  </a:moveTo>
                  <a:lnTo>
                    <a:pt x="71" y="51"/>
                  </a:lnTo>
                  <a:lnTo>
                    <a:pt x="71" y="0"/>
                  </a:lnTo>
                  <a:lnTo>
                    <a:pt x="62" y="0"/>
                  </a:lnTo>
                  <a:lnTo>
                    <a:pt x="62" y="45"/>
                  </a:lnTo>
                  <a:lnTo>
                    <a:pt x="0" y="45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E8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69" name="Freeform 232"/>
            <p:cNvSpPr/>
            <p:nvPr/>
          </p:nvSpPr>
          <p:spPr bwMode="auto">
            <a:xfrm>
              <a:off x="4596" y="1836"/>
              <a:ext cx="62" cy="45"/>
            </a:xfrm>
            <a:custGeom>
              <a:avLst/>
              <a:gdLst>
                <a:gd name="T0" fmla="*/ 0 w 62"/>
                <a:gd name="T1" fmla="*/ 45 h 45"/>
                <a:gd name="T2" fmla="*/ 62 w 62"/>
                <a:gd name="T3" fmla="*/ 45 h 45"/>
                <a:gd name="T4" fmla="*/ 62 w 62"/>
                <a:gd name="T5" fmla="*/ 0 h 45"/>
                <a:gd name="T6" fmla="*/ 53 w 62"/>
                <a:gd name="T7" fmla="*/ 0 h 45"/>
                <a:gd name="T8" fmla="*/ 53 w 62"/>
                <a:gd name="T9" fmla="*/ 38 h 45"/>
                <a:gd name="T10" fmla="*/ 0 w 62"/>
                <a:gd name="T11" fmla="*/ 38 h 45"/>
                <a:gd name="T12" fmla="*/ 0 w 62"/>
                <a:gd name="T13" fmla="*/ 45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5">
                  <a:moveTo>
                    <a:pt x="0" y="45"/>
                  </a:moveTo>
                  <a:lnTo>
                    <a:pt x="62" y="45"/>
                  </a:lnTo>
                  <a:lnTo>
                    <a:pt x="62" y="0"/>
                  </a:lnTo>
                  <a:lnTo>
                    <a:pt x="53" y="0"/>
                  </a:lnTo>
                  <a:lnTo>
                    <a:pt x="53" y="38"/>
                  </a:lnTo>
                  <a:lnTo>
                    <a:pt x="0" y="38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EB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0" name="Freeform 233"/>
            <p:cNvSpPr/>
            <p:nvPr/>
          </p:nvSpPr>
          <p:spPr bwMode="auto">
            <a:xfrm>
              <a:off x="4596" y="1836"/>
              <a:ext cx="53" cy="38"/>
            </a:xfrm>
            <a:custGeom>
              <a:avLst/>
              <a:gdLst>
                <a:gd name="T0" fmla="*/ 0 w 53"/>
                <a:gd name="T1" fmla="*/ 38 h 38"/>
                <a:gd name="T2" fmla="*/ 53 w 53"/>
                <a:gd name="T3" fmla="*/ 38 h 38"/>
                <a:gd name="T4" fmla="*/ 53 w 53"/>
                <a:gd name="T5" fmla="*/ 0 h 38"/>
                <a:gd name="T6" fmla="*/ 44 w 53"/>
                <a:gd name="T7" fmla="*/ 0 h 38"/>
                <a:gd name="T8" fmla="*/ 44 w 53"/>
                <a:gd name="T9" fmla="*/ 31 h 38"/>
                <a:gd name="T10" fmla="*/ 0 w 53"/>
                <a:gd name="T11" fmla="*/ 31 h 38"/>
                <a:gd name="T12" fmla="*/ 0 w 53"/>
                <a:gd name="T13" fmla="*/ 3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8">
                  <a:moveTo>
                    <a:pt x="0" y="38"/>
                  </a:moveTo>
                  <a:lnTo>
                    <a:pt x="53" y="38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44" y="31"/>
                  </a:lnTo>
                  <a:lnTo>
                    <a:pt x="0" y="31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EFE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1" name="Freeform 234"/>
            <p:cNvSpPr/>
            <p:nvPr/>
          </p:nvSpPr>
          <p:spPr bwMode="auto">
            <a:xfrm>
              <a:off x="4596" y="1836"/>
              <a:ext cx="44" cy="31"/>
            </a:xfrm>
            <a:custGeom>
              <a:avLst/>
              <a:gdLst>
                <a:gd name="T0" fmla="*/ 0 w 44"/>
                <a:gd name="T1" fmla="*/ 31 h 31"/>
                <a:gd name="T2" fmla="*/ 44 w 44"/>
                <a:gd name="T3" fmla="*/ 31 h 31"/>
                <a:gd name="T4" fmla="*/ 44 w 44"/>
                <a:gd name="T5" fmla="*/ 0 h 31"/>
                <a:gd name="T6" fmla="*/ 34 w 44"/>
                <a:gd name="T7" fmla="*/ 0 h 31"/>
                <a:gd name="T8" fmla="*/ 34 w 44"/>
                <a:gd name="T9" fmla="*/ 24 h 31"/>
                <a:gd name="T10" fmla="*/ 0 w 44"/>
                <a:gd name="T11" fmla="*/ 24 h 31"/>
                <a:gd name="T12" fmla="*/ 0 w 44"/>
                <a:gd name="T13" fmla="*/ 3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1">
                  <a:moveTo>
                    <a:pt x="0" y="31"/>
                  </a:moveTo>
                  <a:lnTo>
                    <a:pt x="44" y="31"/>
                  </a:lnTo>
                  <a:lnTo>
                    <a:pt x="44" y="0"/>
                  </a:lnTo>
                  <a:lnTo>
                    <a:pt x="34" y="0"/>
                  </a:lnTo>
                  <a:lnTo>
                    <a:pt x="34" y="24"/>
                  </a:lnTo>
                  <a:lnTo>
                    <a:pt x="0" y="2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3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2" name="Freeform 235"/>
            <p:cNvSpPr/>
            <p:nvPr/>
          </p:nvSpPr>
          <p:spPr bwMode="auto">
            <a:xfrm>
              <a:off x="4595" y="1835"/>
              <a:ext cx="35" cy="25"/>
            </a:xfrm>
            <a:custGeom>
              <a:avLst/>
              <a:gdLst>
                <a:gd name="T0" fmla="*/ 1 w 35"/>
                <a:gd name="T1" fmla="*/ 25 h 25"/>
                <a:gd name="T2" fmla="*/ 35 w 35"/>
                <a:gd name="T3" fmla="*/ 25 h 25"/>
                <a:gd name="T4" fmla="*/ 35 w 35"/>
                <a:gd name="T5" fmla="*/ 1 h 25"/>
                <a:gd name="T6" fmla="*/ 25 w 35"/>
                <a:gd name="T7" fmla="*/ 0 h 25"/>
                <a:gd name="T8" fmla="*/ 25 w 35"/>
                <a:gd name="T9" fmla="*/ 18 h 25"/>
                <a:gd name="T10" fmla="*/ 0 w 35"/>
                <a:gd name="T11" fmla="*/ 18 h 25"/>
                <a:gd name="T12" fmla="*/ 1 w 35"/>
                <a:gd name="T13" fmla="*/ 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25">
                  <a:moveTo>
                    <a:pt x="1" y="25"/>
                  </a:moveTo>
                  <a:lnTo>
                    <a:pt x="35" y="25"/>
                  </a:lnTo>
                  <a:lnTo>
                    <a:pt x="35" y="1"/>
                  </a:lnTo>
                  <a:lnTo>
                    <a:pt x="25" y="0"/>
                  </a:lnTo>
                  <a:lnTo>
                    <a:pt x="25" y="18"/>
                  </a:lnTo>
                  <a:lnTo>
                    <a:pt x="0" y="18"/>
                  </a:lnTo>
                  <a:lnTo>
                    <a:pt x="1" y="25"/>
                  </a:ln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3" name="Freeform 236"/>
            <p:cNvSpPr/>
            <p:nvPr/>
          </p:nvSpPr>
          <p:spPr bwMode="auto">
            <a:xfrm>
              <a:off x="4595" y="1835"/>
              <a:ext cx="25" cy="18"/>
            </a:xfrm>
            <a:custGeom>
              <a:avLst/>
              <a:gdLst>
                <a:gd name="T0" fmla="*/ 0 w 25"/>
                <a:gd name="T1" fmla="*/ 18 h 18"/>
                <a:gd name="T2" fmla="*/ 25 w 25"/>
                <a:gd name="T3" fmla="*/ 18 h 18"/>
                <a:gd name="T4" fmla="*/ 25 w 25"/>
                <a:gd name="T5" fmla="*/ 0 h 18"/>
                <a:gd name="T6" fmla="*/ 13 w 25"/>
                <a:gd name="T7" fmla="*/ 1 h 18"/>
                <a:gd name="T8" fmla="*/ 13 w 25"/>
                <a:gd name="T9" fmla="*/ 10 h 18"/>
                <a:gd name="T10" fmla="*/ 1 w 25"/>
                <a:gd name="T11" fmla="*/ 10 h 18"/>
                <a:gd name="T12" fmla="*/ 0 w 25"/>
                <a:gd name="T13" fmla="*/ 1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8">
                  <a:moveTo>
                    <a:pt x="0" y="18"/>
                  </a:moveTo>
                  <a:lnTo>
                    <a:pt x="25" y="18"/>
                  </a:lnTo>
                  <a:lnTo>
                    <a:pt x="25" y="0"/>
                  </a:lnTo>
                  <a:lnTo>
                    <a:pt x="13" y="1"/>
                  </a:lnTo>
                  <a:lnTo>
                    <a:pt x="13" y="10"/>
                  </a:lnTo>
                  <a:lnTo>
                    <a:pt x="1" y="1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4" name="Freeform 237"/>
            <p:cNvSpPr/>
            <p:nvPr/>
          </p:nvSpPr>
          <p:spPr bwMode="auto">
            <a:xfrm>
              <a:off x="4595" y="1835"/>
              <a:ext cx="13" cy="10"/>
            </a:xfrm>
            <a:custGeom>
              <a:avLst/>
              <a:gdLst>
                <a:gd name="T0" fmla="*/ 1 w 13"/>
                <a:gd name="T1" fmla="*/ 10 h 10"/>
                <a:gd name="T2" fmla="*/ 13 w 13"/>
                <a:gd name="T3" fmla="*/ 10 h 10"/>
                <a:gd name="T4" fmla="*/ 13 w 13"/>
                <a:gd name="T5" fmla="*/ 1 h 10"/>
                <a:gd name="T6" fmla="*/ 1 w 13"/>
                <a:gd name="T7" fmla="*/ 0 h 10"/>
                <a:gd name="T8" fmla="*/ 1 w 13"/>
                <a:gd name="T9" fmla="*/ 1 h 10"/>
                <a:gd name="T10" fmla="*/ 0 w 13"/>
                <a:gd name="T11" fmla="*/ 1 h 10"/>
                <a:gd name="T12" fmla="*/ 1 w 13"/>
                <a:gd name="T13" fmla="*/ 1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10">
                  <a:moveTo>
                    <a:pt x="1" y="10"/>
                  </a:moveTo>
                  <a:lnTo>
                    <a:pt x="13" y="10"/>
                  </a:lnTo>
                  <a:lnTo>
                    <a:pt x="13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rgbClr val="FE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5" name="Freeform 238"/>
            <p:cNvSpPr/>
            <p:nvPr/>
          </p:nvSpPr>
          <p:spPr bwMode="auto">
            <a:xfrm>
              <a:off x="4595" y="1835"/>
              <a:ext cx="1" cy="1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1 h 1"/>
                <a:gd name="T4" fmla="*/ 1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0 w 1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1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6" name="Freeform 239"/>
            <p:cNvSpPr/>
            <p:nvPr/>
          </p:nvSpPr>
          <p:spPr bwMode="auto">
            <a:xfrm>
              <a:off x="4582" y="1824"/>
              <a:ext cx="230" cy="172"/>
            </a:xfrm>
            <a:custGeom>
              <a:avLst/>
              <a:gdLst>
                <a:gd name="T0" fmla="*/ 230 w 230"/>
                <a:gd name="T1" fmla="*/ 0 h 172"/>
                <a:gd name="T2" fmla="*/ 0 w 230"/>
                <a:gd name="T3" fmla="*/ 0 h 172"/>
                <a:gd name="T4" fmla="*/ 0 w 230"/>
                <a:gd name="T5" fmla="*/ 172 h 172"/>
                <a:gd name="T6" fmla="*/ 4 w 230"/>
                <a:gd name="T7" fmla="*/ 172 h 172"/>
                <a:gd name="T8" fmla="*/ 4 w 230"/>
                <a:gd name="T9" fmla="*/ 2 h 172"/>
                <a:gd name="T10" fmla="*/ 230 w 230"/>
                <a:gd name="T11" fmla="*/ 2 h 172"/>
                <a:gd name="T12" fmla="*/ 230 w 230"/>
                <a:gd name="T13" fmla="*/ 0 h 1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0" h="172">
                  <a:moveTo>
                    <a:pt x="230" y="0"/>
                  </a:moveTo>
                  <a:lnTo>
                    <a:pt x="0" y="0"/>
                  </a:lnTo>
                  <a:lnTo>
                    <a:pt x="0" y="172"/>
                  </a:lnTo>
                  <a:lnTo>
                    <a:pt x="4" y="172"/>
                  </a:lnTo>
                  <a:lnTo>
                    <a:pt x="4" y="2"/>
                  </a:lnTo>
                  <a:lnTo>
                    <a:pt x="230" y="2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7" name="Freeform 240"/>
            <p:cNvSpPr/>
            <p:nvPr/>
          </p:nvSpPr>
          <p:spPr bwMode="auto">
            <a:xfrm>
              <a:off x="4586" y="1826"/>
              <a:ext cx="226" cy="170"/>
            </a:xfrm>
            <a:custGeom>
              <a:avLst/>
              <a:gdLst>
                <a:gd name="T0" fmla="*/ 226 w 226"/>
                <a:gd name="T1" fmla="*/ 0 h 170"/>
                <a:gd name="T2" fmla="*/ 0 w 226"/>
                <a:gd name="T3" fmla="*/ 0 h 170"/>
                <a:gd name="T4" fmla="*/ 0 w 226"/>
                <a:gd name="T5" fmla="*/ 170 h 170"/>
                <a:gd name="T6" fmla="*/ 5 w 226"/>
                <a:gd name="T7" fmla="*/ 170 h 170"/>
                <a:gd name="T8" fmla="*/ 5 w 226"/>
                <a:gd name="T9" fmla="*/ 4 h 170"/>
                <a:gd name="T10" fmla="*/ 226 w 226"/>
                <a:gd name="T11" fmla="*/ 4 h 170"/>
                <a:gd name="T12" fmla="*/ 226 w 226"/>
                <a:gd name="T13" fmla="*/ 0 h 1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70">
                  <a:moveTo>
                    <a:pt x="226" y="0"/>
                  </a:moveTo>
                  <a:lnTo>
                    <a:pt x="0" y="0"/>
                  </a:lnTo>
                  <a:lnTo>
                    <a:pt x="0" y="170"/>
                  </a:lnTo>
                  <a:lnTo>
                    <a:pt x="5" y="170"/>
                  </a:lnTo>
                  <a:lnTo>
                    <a:pt x="5" y="4"/>
                  </a:lnTo>
                  <a:lnTo>
                    <a:pt x="226" y="4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8" name="Freeform 241"/>
            <p:cNvSpPr/>
            <p:nvPr/>
          </p:nvSpPr>
          <p:spPr bwMode="auto">
            <a:xfrm>
              <a:off x="4591" y="1830"/>
              <a:ext cx="221" cy="166"/>
            </a:xfrm>
            <a:custGeom>
              <a:avLst/>
              <a:gdLst>
                <a:gd name="T0" fmla="*/ 221 w 221"/>
                <a:gd name="T1" fmla="*/ 0 h 166"/>
                <a:gd name="T2" fmla="*/ 0 w 221"/>
                <a:gd name="T3" fmla="*/ 0 h 166"/>
                <a:gd name="T4" fmla="*/ 0 w 221"/>
                <a:gd name="T5" fmla="*/ 166 h 166"/>
                <a:gd name="T6" fmla="*/ 5 w 221"/>
                <a:gd name="T7" fmla="*/ 166 h 166"/>
                <a:gd name="T8" fmla="*/ 5 w 221"/>
                <a:gd name="T9" fmla="*/ 4 h 166"/>
                <a:gd name="T10" fmla="*/ 221 w 221"/>
                <a:gd name="T11" fmla="*/ 4 h 166"/>
                <a:gd name="T12" fmla="*/ 221 w 221"/>
                <a:gd name="T13" fmla="*/ 0 h 1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1" h="166">
                  <a:moveTo>
                    <a:pt x="221" y="0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5" y="166"/>
                  </a:lnTo>
                  <a:lnTo>
                    <a:pt x="5" y="4"/>
                  </a:lnTo>
                  <a:lnTo>
                    <a:pt x="221" y="4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79" name="Freeform 242"/>
            <p:cNvSpPr/>
            <p:nvPr/>
          </p:nvSpPr>
          <p:spPr bwMode="auto">
            <a:xfrm>
              <a:off x="4596" y="1834"/>
              <a:ext cx="216" cy="162"/>
            </a:xfrm>
            <a:custGeom>
              <a:avLst/>
              <a:gdLst>
                <a:gd name="T0" fmla="*/ 216 w 216"/>
                <a:gd name="T1" fmla="*/ 0 h 162"/>
                <a:gd name="T2" fmla="*/ 0 w 216"/>
                <a:gd name="T3" fmla="*/ 0 h 162"/>
                <a:gd name="T4" fmla="*/ 0 w 216"/>
                <a:gd name="T5" fmla="*/ 162 h 162"/>
                <a:gd name="T6" fmla="*/ 5 w 216"/>
                <a:gd name="T7" fmla="*/ 162 h 162"/>
                <a:gd name="T8" fmla="*/ 5 w 216"/>
                <a:gd name="T9" fmla="*/ 4 h 162"/>
                <a:gd name="T10" fmla="*/ 216 w 216"/>
                <a:gd name="T11" fmla="*/ 4 h 162"/>
                <a:gd name="T12" fmla="*/ 216 w 216"/>
                <a:gd name="T13" fmla="*/ 0 h 1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162">
                  <a:moveTo>
                    <a:pt x="216" y="0"/>
                  </a:moveTo>
                  <a:lnTo>
                    <a:pt x="0" y="0"/>
                  </a:lnTo>
                  <a:lnTo>
                    <a:pt x="0" y="162"/>
                  </a:lnTo>
                  <a:lnTo>
                    <a:pt x="5" y="162"/>
                  </a:lnTo>
                  <a:lnTo>
                    <a:pt x="5" y="4"/>
                  </a:lnTo>
                  <a:lnTo>
                    <a:pt x="216" y="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0" name="Freeform 243"/>
            <p:cNvSpPr/>
            <p:nvPr/>
          </p:nvSpPr>
          <p:spPr bwMode="auto">
            <a:xfrm>
              <a:off x="4601" y="1838"/>
              <a:ext cx="211" cy="158"/>
            </a:xfrm>
            <a:custGeom>
              <a:avLst/>
              <a:gdLst>
                <a:gd name="T0" fmla="*/ 211 w 211"/>
                <a:gd name="T1" fmla="*/ 0 h 158"/>
                <a:gd name="T2" fmla="*/ 0 w 211"/>
                <a:gd name="T3" fmla="*/ 0 h 158"/>
                <a:gd name="T4" fmla="*/ 0 w 211"/>
                <a:gd name="T5" fmla="*/ 158 h 158"/>
                <a:gd name="T6" fmla="*/ 5 w 211"/>
                <a:gd name="T7" fmla="*/ 158 h 158"/>
                <a:gd name="T8" fmla="*/ 5 w 211"/>
                <a:gd name="T9" fmla="*/ 3 h 158"/>
                <a:gd name="T10" fmla="*/ 211 w 211"/>
                <a:gd name="T11" fmla="*/ 3 h 158"/>
                <a:gd name="T12" fmla="*/ 211 w 211"/>
                <a:gd name="T13" fmla="*/ 0 h 1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58">
                  <a:moveTo>
                    <a:pt x="211" y="0"/>
                  </a:moveTo>
                  <a:lnTo>
                    <a:pt x="0" y="0"/>
                  </a:lnTo>
                  <a:lnTo>
                    <a:pt x="0" y="158"/>
                  </a:lnTo>
                  <a:lnTo>
                    <a:pt x="5" y="158"/>
                  </a:lnTo>
                  <a:lnTo>
                    <a:pt x="5" y="3"/>
                  </a:lnTo>
                  <a:lnTo>
                    <a:pt x="211" y="3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1" name="Freeform 244"/>
            <p:cNvSpPr/>
            <p:nvPr/>
          </p:nvSpPr>
          <p:spPr bwMode="auto">
            <a:xfrm>
              <a:off x="4606" y="1841"/>
              <a:ext cx="206" cy="155"/>
            </a:xfrm>
            <a:custGeom>
              <a:avLst/>
              <a:gdLst>
                <a:gd name="T0" fmla="*/ 206 w 206"/>
                <a:gd name="T1" fmla="*/ 0 h 155"/>
                <a:gd name="T2" fmla="*/ 0 w 206"/>
                <a:gd name="T3" fmla="*/ 0 h 155"/>
                <a:gd name="T4" fmla="*/ 0 w 206"/>
                <a:gd name="T5" fmla="*/ 155 h 155"/>
                <a:gd name="T6" fmla="*/ 5 w 206"/>
                <a:gd name="T7" fmla="*/ 155 h 155"/>
                <a:gd name="T8" fmla="*/ 5 w 206"/>
                <a:gd name="T9" fmla="*/ 4 h 155"/>
                <a:gd name="T10" fmla="*/ 206 w 206"/>
                <a:gd name="T11" fmla="*/ 4 h 155"/>
                <a:gd name="T12" fmla="*/ 206 w 206"/>
                <a:gd name="T13" fmla="*/ 0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155">
                  <a:moveTo>
                    <a:pt x="206" y="0"/>
                  </a:moveTo>
                  <a:lnTo>
                    <a:pt x="0" y="0"/>
                  </a:lnTo>
                  <a:lnTo>
                    <a:pt x="0" y="155"/>
                  </a:lnTo>
                  <a:lnTo>
                    <a:pt x="5" y="155"/>
                  </a:lnTo>
                  <a:lnTo>
                    <a:pt x="5" y="4"/>
                  </a:lnTo>
                  <a:lnTo>
                    <a:pt x="206" y="4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A9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2" name="Freeform 245"/>
            <p:cNvSpPr/>
            <p:nvPr/>
          </p:nvSpPr>
          <p:spPr bwMode="auto">
            <a:xfrm>
              <a:off x="4611" y="1845"/>
              <a:ext cx="201" cy="151"/>
            </a:xfrm>
            <a:custGeom>
              <a:avLst/>
              <a:gdLst>
                <a:gd name="T0" fmla="*/ 201 w 201"/>
                <a:gd name="T1" fmla="*/ 0 h 151"/>
                <a:gd name="T2" fmla="*/ 0 w 201"/>
                <a:gd name="T3" fmla="*/ 0 h 151"/>
                <a:gd name="T4" fmla="*/ 0 w 201"/>
                <a:gd name="T5" fmla="*/ 151 h 151"/>
                <a:gd name="T6" fmla="*/ 5 w 201"/>
                <a:gd name="T7" fmla="*/ 151 h 151"/>
                <a:gd name="T8" fmla="*/ 5 w 201"/>
                <a:gd name="T9" fmla="*/ 4 h 151"/>
                <a:gd name="T10" fmla="*/ 201 w 201"/>
                <a:gd name="T11" fmla="*/ 4 h 151"/>
                <a:gd name="T12" fmla="*/ 201 w 201"/>
                <a:gd name="T13" fmla="*/ 0 h 1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151">
                  <a:moveTo>
                    <a:pt x="201" y="0"/>
                  </a:moveTo>
                  <a:lnTo>
                    <a:pt x="0" y="0"/>
                  </a:lnTo>
                  <a:lnTo>
                    <a:pt x="0" y="151"/>
                  </a:lnTo>
                  <a:lnTo>
                    <a:pt x="5" y="151"/>
                  </a:lnTo>
                  <a:lnTo>
                    <a:pt x="5" y="4"/>
                  </a:lnTo>
                  <a:lnTo>
                    <a:pt x="201" y="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3" name="Freeform 246"/>
            <p:cNvSpPr/>
            <p:nvPr/>
          </p:nvSpPr>
          <p:spPr bwMode="auto">
            <a:xfrm>
              <a:off x="4616" y="1849"/>
              <a:ext cx="196" cy="147"/>
            </a:xfrm>
            <a:custGeom>
              <a:avLst/>
              <a:gdLst>
                <a:gd name="T0" fmla="*/ 196 w 196"/>
                <a:gd name="T1" fmla="*/ 0 h 147"/>
                <a:gd name="T2" fmla="*/ 0 w 196"/>
                <a:gd name="T3" fmla="*/ 0 h 147"/>
                <a:gd name="T4" fmla="*/ 0 w 196"/>
                <a:gd name="T5" fmla="*/ 147 h 147"/>
                <a:gd name="T6" fmla="*/ 5 w 196"/>
                <a:gd name="T7" fmla="*/ 147 h 147"/>
                <a:gd name="T8" fmla="*/ 5 w 196"/>
                <a:gd name="T9" fmla="*/ 4 h 147"/>
                <a:gd name="T10" fmla="*/ 196 w 196"/>
                <a:gd name="T11" fmla="*/ 4 h 147"/>
                <a:gd name="T12" fmla="*/ 196 w 196"/>
                <a:gd name="T13" fmla="*/ 0 h 1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147">
                  <a:moveTo>
                    <a:pt x="196" y="0"/>
                  </a:moveTo>
                  <a:lnTo>
                    <a:pt x="0" y="0"/>
                  </a:lnTo>
                  <a:lnTo>
                    <a:pt x="0" y="147"/>
                  </a:lnTo>
                  <a:lnTo>
                    <a:pt x="5" y="147"/>
                  </a:lnTo>
                  <a:lnTo>
                    <a:pt x="5" y="4"/>
                  </a:lnTo>
                  <a:lnTo>
                    <a:pt x="196" y="4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4" name="Freeform 247"/>
            <p:cNvSpPr/>
            <p:nvPr/>
          </p:nvSpPr>
          <p:spPr bwMode="auto">
            <a:xfrm>
              <a:off x="4621" y="1853"/>
              <a:ext cx="191" cy="143"/>
            </a:xfrm>
            <a:custGeom>
              <a:avLst/>
              <a:gdLst>
                <a:gd name="T0" fmla="*/ 191 w 191"/>
                <a:gd name="T1" fmla="*/ 0 h 143"/>
                <a:gd name="T2" fmla="*/ 0 w 191"/>
                <a:gd name="T3" fmla="*/ 0 h 143"/>
                <a:gd name="T4" fmla="*/ 0 w 191"/>
                <a:gd name="T5" fmla="*/ 143 h 143"/>
                <a:gd name="T6" fmla="*/ 5 w 191"/>
                <a:gd name="T7" fmla="*/ 143 h 143"/>
                <a:gd name="T8" fmla="*/ 5 w 191"/>
                <a:gd name="T9" fmla="*/ 4 h 143"/>
                <a:gd name="T10" fmla="*/ 191 w 191"/>
                <a:gd name="T11" fmla="*/ 4 h 143"/>
                <a:gd name="T12" fmla="*/ 191 w 191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" h="143">
                  <a:moveTo>
                    <a:pt x="191" y="0"/>
                  </a:moveTo>
                  <a:lnTo>
                    <a:pt x="0" y="0"/>
                  </a:lnTo>
                  <a:lnTo>
                    <a:pt x="0" y="143"/>
                  </a:lnTo>
                  <a:lnTo>
                    <a:pt x="5" y="143"/>
                  </a:lnTo>
                  <a:lnTo>
                    <a:pt x="5" y="4"/>
                  </a:lnTo>
                  <a:lnTo>
                    <a:pt x="191" y="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5" name="Freeform 248"/>
            <p:cNvSpPr/>
            <p:nvPr/>
          </p:nvSpPr>
          <p:spPr bwMode="auto">
            <a:xfrm>
              <a:off x="4626" y="1857"/>
              <a:ext cx="186" cy="139"/>
            </a:xfrm>
            <a:custGeom>
              <a:avLst/>
              <a:gdLst>
                <a:gd name="T0" fmla="*/ 186 w 186"/>
                <a:gd name="T1" fmla="*/ 0 h 139"/>
                <a:gd name="T2" fmla="*/ 0 w 186"/>
                <a:gd name="T3" fmla="*/ 0 h 139"/>
                <a:gd name="T4" fmla="*/ 0 w 186"/>
                <a:gd name="T5" fmla="*/ 139 h 139"/>
                <a:gd name="T6" fmla="*/ 5 w 186"/>
                <a:gd name="T7" fmla="*/ 139 h 139"/>
                <a:gd name="T8" fmla="*/ 5 w 186"/>
                <a:gd name="T9" fmla="*/ 3 h 139"/>
                <a:gd name="T10" fmla="*/ 186 w 186"/>
                <a:gd name="T11" fmla="*/ 3 h 139"/>
                <a:gd name="T12" fmla="*/ 186 w 186"/>
                <a:gd name="T13" fmla="*/ 0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9">
                  <a:moveTo>
                    <a:pt x="186" y="0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5" y="139"/>
                  </a:lnTo>
                  <a:lnTo>
                    <a:pt x="5" y="3"/>
                  </a:lnTo>
                  <a:lnTo>
                    <a:pt x="186" y="3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6" name="Freeform 249"/>
            <p:cNvSpPr/>
            <p:nvPr/>
          </p:nvSpPr>
          <p:spPr bwMode="auto">
            <a:xfrm>
              <a:off x="4631" y="1860"/>
              <a:ext cx="181" cy="136"/>
            </a:xfrm>
            <a:custGeom>
              <a:avLst/>
              <a:gdLst>
                <a:gd name="T0" fmla="*/ 181 w 181"/>
                <a:gd name="T1" fmla="*/ 0 h 136"/>
                <a:gd name="T2" fmla="*/ 0 w 181"/>
                <a:gd name="T3" fmla="*/ 0 h 136"/>
                <a:gd name="T4" fmla="*/ 0 w 181"/>
                <a:gd name="T5" fmla="*/ 136 h 136"/>
                <a:gd name="T6" fmla="*/ 7 w 181"/>
                <a:gd name="T7" fmla="*/ 136 h 136"/>
                <a:gd name="T8" fmla="*/ 7 w 181"/>
                <a:gd name="T9" fmla="*/ 4 h 136"/>
                <a:gd name="T10" fmla="*/ 181 w 181"/>
                <a:gd name="T11" fmla="*/ 4 h 136"/>
                <a:gd name="T12" fmla="*/ 181 w 181"/>
                <a:gd name="T13" fmla="*/ 0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36">
                  <a:moveTo>
                    <a:pt x="181" y="0"/>
                  </a:moveTo>
                  <a:lnTo>
                    <a:pt x="0" y="0"/>
                  </a:lnTo>
                  <a:lnTo>
                    <a:pt x="0" y="136"/>
                  </a:lnTo>
                  <a:lnTo>
                    <a:pt x="7" y="136"/>
                  </a:lnTo>
                  <a:lnTo>
                    <a:pt x="7" y="4"/>
                  </a:lnTo>
                  <a:lnTo>
                    <a:pt x="181" y="4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7" name="Freeform 250"/>
            <p:cNvSpPr/>
            <p:nvPr/>
          </p:nvSpPr>
          <p:spPr bwMode="auto">
            <a:xfrm>
              <a:off x="4638" y="1864"/>
              <a:ext cx="174" cy="132"/>
            </a:xfrm>
            <a:custGeom>
              <a:avLst/>
              <a:gdLst>
                <a:gd name="T0" fmla="*/ 174 w 174"/>
                <a:gd name="T1" fmla="*/ 0 h 132"/>
                <a:gd name="T2" fmla="*/ 0 w 174"/>
                <a:gd name="T3" fmla="*/ 0 h 132"/>
                <a:gd name="T4" fmla="*/ 0 w 174"/>
                <a:gd name="T5" fmla="*/ 132 h 132"/>
                <a:gd name="T6" fmla="*/ 5 w 174"/>
                <a:gd name="T7" fmla="*/ 132 h 132"/>
                <a:gd name="T8" fmla="*/ 5 w 174"/>
                <a:gd name="T9" fmla="*/ 5 h 132"/>
                <a:gd name="T10" fmla="*/ 174 w 174"/>
                <a:gd name="T11" fmla="*/ 5 h 132"/>
                <a:gd name="T12" fmla="*/ 174 w 174"/>
                <a:gd name="T13" fmla="*/ 0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132">
                  <a:moveTo>
                    <a:pt x="174" y="0"/>
                  </a:moveTo>
                  <a:lnTo>
                    <a:pt x="0" y="0"/>
                  </a:lnTo>
                  <a:lnTo>
                    <a:pt x="0" y="132"/>
                  </a:lnTo>
                  <a:lnTo>
                    <a:pt x="5" y="132"/>
                  </a:lnTo>
                  <a:lnTo>
                    <a:pt x="5" y="5"/>
                  </a:lnTo>
                  <a:lnTo>
                    <a:pt x="174" y="5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8" name="Freeform 251"/>
            <p:cNvSpPr/>
            <p:nvPr/>
          </p:nvSpPr>
          <p:spPr bwMode="auto">
            <a:xfrm>
              <a:off x="4643" y="1869"/>
              <a:ext cx="169" cy="127"/>
            </a:xfrm>
            <a:custGeom>
              <a:avLst/>
              <a:gdLst>
                <a:gd name="T0" fmla="*/ 169 w 169"/>
                <a:gd name="T1" fmla="*/ 0 h 127"/>
                <a:gd name="T2" fmla="*/ 0 w 169"/>
                <a:gd name="T3" fmla="*/ 0 h 127"/>
                <a:gd name="T4" fmla="*/ 0 w 169"/>
                <a:gd name="T5" fmla="*/ 127 h 127"/>
                <a:gd name="T6" fmla="*/ 6 w 169"/>
                <a:gd name="T7" fmla="*/ 127 h 127"/>
                <a:gd name="T8" fmla="*/ 6 w 169"/>
                <a:gd name="T9" fmla="*/ 4 h 127"/>
                <a:gd name="T10" fmla="*/ 169 w 169"/>
                <a:gd name="T11" fmla="*/ 4 h 127"/>
                <a:gd name="T12" fmla="*/ 169 w 169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127">
                  <a:moveTo>
                    <a:pt x="169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6" y="127"/>
                  </a:lnTo>
                  <a:lnTo>
                    <a:pt x="6" y="4"/>
                  </a:lnTo>
                  <a:lnTo>
                    <a:pt x="169" y="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89" name="Freeform 252"/>
            <p:cNvSpPr/>
            <p:nvPr/>
          </p:nvSpPr>
          <p:spPr bwMode="auto">
            <a:xfrm>
              <a:off x="4649" y="1873"/>
              <a:ext cx="163" cy="123"/>
            </a:xfrm>
            <a:custGeom>
              <a:avLst/>
              <a:gdLst>
                <a:gd name="T0" fmla="*/ 163 w 163"/>
                <a:gd name="T1" fmla="*/ 0 h 123"/>
                <a:gd name="T2" fmla="*/ 0 w 163"/>
                <a:gd name="T3" fmla="*/ 0 h 123"/>
                <a:gd name="T4" fmla="*/ 0 w 163"/>
                <a:gd name="T5" fmla="*/ 123 h 123"/>
                <a:gd name="T6" fmla="*/ 5 w 163"/>
                <a:gd name="T7" fmla="*/ 123 h 123"/>
                <a:gd name="T8" fmla="*/ 5 w 163"/>
                <a:gd name="T9" fmla="*/ 5 h 123"/>
                <a:gd name="T10" fmla="*/ 163 w 163"/>
                <a:gd name="T11" fmla="*/ 5 h 123"/>
                <a:gd name="T12" fmla="*/ 163 w 163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123">
                  <a:moveTo>
                    <a:pt x="163" y="0"/>
                  </a:moveTo>
                  <a:lnTo>
                    <a:pt x="0" y="0"/>
                  </a:lnTo>
                  <a:lnTo>
                    <a:pt x="0" y="123"/>
                  </a:lnTo>
                  <a:lnTo>
                    <a:pt x="5" y="123"/>
                  </a:lnTo>
                  <a:lnTo>
                    <a:pt x="5" y="5"/>
                  </a:lnTo>
                  <a:lnTo>
                    <a:pt x="163" y="5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0" name="Freeform 253"/>
            <p:cNvSpPr/>
            <p:nvPr/>
          </p:nvSpPr>
          <p:spPr bwMode="auto">
            <a:xfrm>
              <a:off x="4654" y="1878"/>
              <a:ext cx="158" cy="118"/>
            </a:xfrm>
            <a:custGeom>
              <a:avLst/>
              <a:gdLst>
                <a:gd name="T0" fmla="*/ 158 w 158"/>
                <a:gd name="T1" fmla="*/ 0 h 118"/>
                <a:gd name="T2" fmla="*/ 0 w 158"/>
                <a:gd name="T3" fmla="*/ 0 h 118"/>
                <a:gd name="T4" fmla="*/ 0 w 158"/>
                <a:gd name="T5" fmla="*/ 118 h 118"/>
                <a:gd name="T6" fmla="*/ 6 w 158"/>
                <a:gd name="T7" fmla="*/ 118 h 118"/>
                <a:gd name="T8" fmla="*/ 6 w 158"/>
                <a:gd name="T9" fmla="*/ 4 h 118"/>
                <a:gd name="T10" fmla="*/ 158 w 158"/>
                <a:gd name="T11" fmla="*/ 4 h 118"/>
                <a:gd name="T12" fmla="*/ 158 w 15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8">
                  <a:moveTo>
                    <a:pt x="158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6" y="118"/>
                  </a:lnTo>
                  <a:lnTo>
                    <a:pt x="6" y="4"/>
                  </a:lnTo>
                  <a:lnTo>
                    <a:pt x="158" y="4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1" name="Freeform 254"/>
            <p:cNvSpPr/>
            <p:nvPr/>
          </p:nvSpPr>
          <p:spPr bwMode="auto">
            <a:xfrm>
              <a:off x="4660" y="1882"/>
              <a:ext cx="152" cy="114"/>
            </a:xfrm>
            <a:custGeom>
              <a:avLst/>
              <a:gdLst>
                <a:gd name="T0" fmla="*/ 152 w 152"/>
                <a:gd name="T1" fmla="*/ 0 h 114"/>
                <a:gd name="T2" fmla="*/ 0 w 152"/>
                <a:gd name="T3" fmla="*/ 0 h 114"/>
                <a:gd name="T4" fmla="*/ 0 w 152"/>
                <a:gd name="T5" fmla="*/ 114 h 114"/>
                <a:gd name="T6" fmla="*/ 7 w 152"/>
                <a:gd name="T7" fmla="*/ 114 h 114"/>
                <a:gd name="T8" fmla="*/ 7 w 152"/>
                <a:gd name="T9" fmla="*/ 5 h 114"/>
                <a:gd name="T10" fmla="*/ 152 w 152"/>
                <a:gd name="T11" fmla="*/ 5 h 114"/>
                <a:gd name="T12" fmla="*/ 152 w 152"/>
                <a:gd name="T13" fmla="*/ 0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2" h="114">
                  <a:moveTo>
                    <a:pt x="152" y="0"/>
                  </a:moveTo>
                  <a:lnTo>
                    <a:pt x="0" y="0"/>
                  </a:lnTo>
                  <a:lnTo>
                    <a:pt x="0" y="114"/>
                  </a:lnTo>
                  <a:lnTo>
                    <a:pt x="7" y="114"/>
                  </a:lnTo>
                  <a:lnTo>
                    <a:pt x="7" y="5"/>
                  </a:lnTo>
                  <a:lnTo>
                    <a:pt x="152" y="5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2" name="Freeform 255"/>
            <p:cNvSpPr/>
            <p:nvPr/>
          </p:nvSpPr>
          <p:spPr bwMode="auto">
            <a:xfrm>
              <a:off x="4667" y="1887"/>
              <a:ext cx="145" cy="109"/>
            </a:xfrm>
            <a:custGeom>
              <a:avLst/>
              <a:gdLst>
                <a:gd name="T0" fmla="*/ 145 w 145"/>
                <a:gd name="T1" fmla="*/ 0 h 109"/>
                <a:gd name="T2" fmla="*/ 0 w 145"/>
                <a:gd name="T3" fmla="*/ 0 h 109"/>
                <a:gd name="T4" fmla="*/ 0 w 145"/>
                <a:gd name="T5" fmla="*/ 109 h 109"/>
                <a:gd name="T6" fmla="*/ 7 w 145"/>
                <a:gd name="T7" fmla="*/ 109 h 109"/>
                <a:gd name="T8" fmla="*/ 7 w 145"/>
                <a:gd name="T9" fmla="*/ 5 h 109"/>
                <a:gd name="T10" fmla="*/ 145 w 145"/>
                <a:gd name="T11" fmla="*/ 5 h 109"/>
                <a:gd name="T12" fmla="*/ 145 w 145"/>
                <a:gd name="T13" fmla="*/ 0 h 1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5" h="109">
                  <a:moveTo>
                    <a:pt x="145" y="0"/>
                  </a:moveTo>
                  <a:lnTo>
                    <a:pt x="0" y="0"/>
                  </a:lnTo>
                  <a:lnTo>
                    <a:pt x="0" y="109"/>
                  </a:lnTo>
                  <a:lnTo>
                    <a:pt x="7" y="109"/>
                  </a:lnTo>
                  <a:lnTo>
                    <a:pt x="7" y="5"/>
                  </a:lnTo>
                  <a:lnTo>
                    <a:pt x="145" y="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3" name="Freeform 256"/>
            <p:cNvSpPr/>
            <p:nvPr/>
          </p:nvSpPr>
          <p:spPr bwMode="auto">
            <a:xfrm>
              <a:off x="4674" y="1892"/>
              <a:ext cx="138" cy="104"/>
            </a:xfrm>
            <a:custGeom>
              <a:avLst/>
              <a:gdLst>
                <a:gd name="T0" fmla="*/ 138 w 138"/>
                <a:gd name="T1" fmla="*/ 0 h 104"/>
                <a:gd name="T2" fmla="*/ 0 w 138"/>
                <a:gd name="T3" fmla="*/ 0 h 104"/>
                <a:gd name="T4" fmla="*/ 0 w 138"/>
                <a:gd name="T5" fmla="*/ 104 h 104"/>
                <a:gd name="T6" fmla="*/ 7 w 138"/>
                <a:gd name="T7" fmla="*/ 104 h 104"/>
                <a:gd name="T8" fmla="*/ 7 w 138"/>
                <a:gd name="T9" fmla="*/ 5 h 104"/>
                <a:gd name="T10" fmla="*/ 138 w 138"/>
                <a:gd name="T11" fmla="*/ 5 h 104"/>
                <a:gd name="T12" fmla="*/ 138 w 138"/>
                <a:gd name="T13" fmla="*/ 0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104">
                  <a:moveTo>
                    <a:pt x="138" y="0"/>
                  </a:moveTo>
                  <a:lnTo>
                    <a:pt x="0" y="0"/>
                  </a:lnTo>
                  <a:lnTo>
                    <a:pt x="0" y="104"/>
                  </a:lnTo>
                  <a:lnTo>
                    <a:pt x="7" y="104"/>
                  </a:lnTo>
                  <a:lnTo>
                    <a:pt x="7" y="5"/>
                  </a:lnTo>
                  <a:lnTo>
                    <a:pt x="138" y="5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4" name="Freeform 257"/>
            <p:cNvSpPr/>
            <p:nvPr/>
          </p:nvSpPr>
          <p:spPr bwMode="auto">
            <a:xfrm>
              <a:off x="4681" y="1897"/>
              <a:ext cx="131" cy="99"/>
            </a:xfrm>
            <a:custGeom>
              <a:avLst/>
              <a:gdLst>
                <a:gd name="T0" fmla="*/ 131 w 131"/>
                <a:gd name="T1" fmla="*/ 0 h 99"/>
                <a:gd name="T2" fmla="*/ 0 w 131"/>
                <a:gd name="T3" fmla="*/ 0 h 99"/>
                <a:gd name="T4" fmla="*/ 0 w 131"/>
                <a:gd name="T5" fmla="*/ 99 h 99"/>
                <a:gd name="T6" fmla="*/ 7 w 131"/>
                <a:gd name="T7" fmla="*/ 99 h 99"/>
                <a:gd name="T8" fmla="*/ 7 w 131"/>
                <a:gd name="T9" fmla="*/ 7 h 99"/>
                <a:gd name="T10" fmla="*/ 131 w 131"/>
                <a:gd name="T11" fmla="*/ 7 h 99"/>
                <a:gd name="T12" fmla="*/ 131 w 131"/>
                <a:gd name="T13" fmla="*/ 0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1" h="99">
                  <a:moveTo>
                    <a:pt x="131" y="0"/>
                  </a:moveTo>
                  <a:lnTo>
                    <a:pt x="0" y="0"/>
                  </a:lnTo>
                  <a:lnTo>
                    <a:pt x="0" y="99"/>
                  </a:lnTo>
                  <a:lnTo>
                    <a:pt x="7" y="99"/>
                  </a:lnTo>
                  <a:lnTo>
                    <a:pt x="7" y="7"/>
                  </a:lnTo>
                  <a:lnTo>
                    <a:pt x="131" y="7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5" name="Freeform 258"/>
            <p:cNvSpPr/>
            <p:nvPr/>
          </p:nvSpPr>
          <p:spPr bwMode="auto">
            <a:xfrm>
              <a:off x="4688" y="1904"/>
              <a:ext cx="124" cy="92"/>
            </a:xfrm>
            <a:custGeom>
              <a:avLst/>
              <a:gdLst>
                <a:gd name="T0" fmla="*/ 124 w 124"/>
                <a:gd name="T1" fmla="*/ 0 h 92"/>
                <a:gd name="T2" fmla="*/ 0 w 124"/>
                <a:gd name="T3" fmla="*/ 0 h 92"/>
                <a:gd name="T4" fmla="*/ 0 w 124"/>
                <a:gd name="T5" fmla="*/ 92 h 92"/>
                <a:gd name="T6" fmla="*/ 8 w 124"/>
                <a:gd name="T7" fmla="*/ 92 h 92"/>
                <a:gd name="T8" fmla="*/ 8 w 124"/>
                <a:gd name="T9" fmla="*/ 5 h 92"/>
                <a:gd name="T10" fmla="*/ 124 w 124"/>
                <a:gd name="T11" fmla="*/ 5 h 92"/>
                <a:gd name="T12" fmla="*/ 124 w 124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92">
                  <a:moveTo>
                    <a:pt x="124" y="0"/>
                  </a:moveTo>
                  <a:lnTo>
                    <a:pt x="0" y="0"/>
                  </a:lnTo>
                  <a:lnTo>
                    <a:pt x="0" y="92"/>
                  </a:lnTo>
                  <a:lnTo>
                    <a:pt x="8" y="92"/>
                  </a:lnTo>
                  <a:lnTo>
                    <a:pt x="8" y="5"/>
                  </a:lnTo>
                  <a:lnTo>
                    <a:pt x="124" y="5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6" name="Freeform 259"/>
            <p:cNvSpPr/>
            <p:nvPr/>
          </p:nvSpPr>
          <p:spPr bwMode="auto">
            <a:xfrm>
              <a:off x="4696" y="1909"/>
              <a:ext cx="116" cy="87"/>
            </a:xfrm>
            <a:custGeom>
              <a:avLst/>
              <a:gdLst>
                <a:gd name="T0" fmla="*/ 116 w 116"/>
                <a:gd name="T1" fmla="*/ 0 h 87"/>
                <a:gd name="T2" fmla="*/ 0 w 116"/>
                <a:gd name="T3" fmla="*/ 0 h 87"/>
                <a:gd name="T4" fmla="*/ 0 w 116"/>
                <a:gd name="T5" fmla="*/ 87 h 87"/>
                <a:gd name="T6" fmla="*/ 9 w 116"/>
                <a:gd name="T7" fmla="*/ 86 h 87"/>
                <a:gd name="T8" fmla="*/ 9 w 116"/>
                <a:gd name="T9" fmla="*/ 6 h 87"/>
                <a:gd name="T10" fmla="*/ 115 w 116"/>
                <a:gd name="T11" fmla="*/ 6 h 87"/>
                <a:gd name="T12" fmla="*/ 116 w 116"/>
                <a:gd name="T13" fmla="*/ 0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6" h="87">
                  <a:moveTo>
                    <a:pt x="116" y="0"/>
                  </a:moveTo>
                  <a:lnTo>
                    <a:pt x="0" y="0"/>
                  </a:lnTo>
                  <a:lnTo>
                    <a:pt x="0" y="87"/>
                  </a:lnTo>
                  <a:lnTo>
                    <a:pt x="9" y="86"/>
                  </a:lnTo>
                  <a:lnTo>
                    <a:pt x="9" y="6"/>
                  </a:lnTo>
                  <a:lnTo>
                    <a:pt x="115" y="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7" name="Freeform 260"/>
            <p:cNvSpPr/>
            <p:nvPr/>
          </p:nvSpPr>
          <p:spPr bwMode="auto">
            <a:xfrm>
              <a:off x="4705" y="1915"/>
              <a:ext cx="106" cy="80"/>
            </a:xfrm>
            <a:custGeom>
              <a:avLst/>
              <a:gdLst>
                <a:gd name="T0" fmla="*/ 106 w 106"/>
                <a:gd name="T1" fmla="*/ 0 h 80"/>
                <a:gd name="T2" fmla="*/ 0 w 106"/>
                <a:gd name="T3" fmla="*/ 0 h 80"/>
                <a:gd name="T4" fmla="*/ 0 w 106"/>
                <a:gd name="T5" fmla="*/ 80 h 80"/>
                <a:gd name="T6" fmla="*/ 7 w 106"/>
                <a:gd name="T7" fmla="*/ 80 h 80"/>
                <a:gd name="T8" fmla="*/ 7 w 106"/>
                <a:gd name="T9" fmla="*/ 6 h 80"/>
                <a:gd name="T10" fmla="*/ 106 w 106"/>
                <a:gd name="T11" fmla="*/ 6 h 80"/>
                <a:gd name="T12" fmla="*/ 106 w 106"/>
                <a:gd name="T13" fmla="*/ 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80">
                  <a:moveTo>
                    <a:pt x="106" y="0"/>
                  </a:moveTo>
                  <a:lnTo>
                    <a:pt x="0" y="0"/>
                  </a:lnTo>
                  <a:lnTo>
                    <a:pt x="0" y="80"/>
                  </a:lnTo>
                  <a:lnTo>
                    <a:pt x="7" y="80"/>
                  </a:lnTo>
                  <a:lnTo>
                    <a:pt x="7" y="6"/>
                  </a:lnTo>
                  <a:lnTo>
                    <a:pt x="106" y="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8" name="Freeform 261"/>
            <p:cNvSpPr/>
            <p:nvPr/>
          </p:nvSpPr>
          <p:spPr bwMode="auto">
            <a:xfrm>
              <a:off x="4712" y="1921"/>
              <a:ext cx="100" cy="75"/>
            </a:xfrm>
            <a:custGeom>
              <a:avLst/>
              <a:gdLst>
                <a:gd name="T0" fmla="*/ 99 w 100"/>
                <a:gd name="T1" fmla="*/ 0 h 75"/>
                <a:gd name="T2" fmla="*/ 0 w 100"/>
                <a:gd name="T3" fmla="*/ 0 h 75"/>
                <a:gd name="T4" fmla="*/ 0 w 100"/>
                <a:gd name="T5" fmla="*/ 74 h 75"/>
                <a:gd name="T6" fmla="*/ 9 w 100"/>
                <a:gd name="T7" fmla="*/ 75 h 75"/>
                <a:gd name="T8" fmla="*/ 9 w 100"/>
                <a:gd name="T9" fmla="*/ 7 h 75"/>
                <a:gd name="T10" fmla="*/ 100 w 100"/>
                <a:gd name="T11" fmla="*/ 7 h 75"/>
                <a:gd name="T12" fmla="*/ 99 w 100"/>
                <a:gd name="T13" fmla="*/ 0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75">
                  <a:moveTo>
                    <a:pt x="99" y="0"/>
                  </a:moveTo>
                  <a:lnTo>
                    <a:pt x="0" y="0"/>
                  </a:lnTo>
                  <a:lnTo>
                    <a:pt x="0" y="74"/>
                  </a:lnTo>
                  <a:lnTo>
                    <a:pt x="9" y="75"/>
                  </a:lnTo>
                  <a:lnTo>
                    <a:pt x="9" y="7"/>
                  </a:lnTo>
                  <a:lnTo>
                    <a:pt x="100" y="7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99" name="Freeform 262"/>
            <p:cNvSpPr/>
            <p:nvPr/>
          </p:nvSpPr>
          <p:spPr bwMode="auto">
            <a:xfrm>
              <a:off x="4721" y="1928"/>
              <a:ext cx="91" cy="68"/>
            </a:xfrm>
            <a:custGeom>
              <a:avLst/>
              <a:gdLst>
                <a:gd name="T0" fmla="*/ 91 w 91"/>
                <a:gd name="T1" fmla="*/ 0 h 68"/>
                <a:gd name="T2" fmla="*/ 0 w 91"/>
                <a:gd name="T3" fmla="*/ 0 h 68"/>
                <a:gd name="T4" fmla="*/ 0 w 91"/>
                <a:gd name="T5" fmla="*/ 68 h 68"/>
                <a:gd name="T6" fmla="*/ 10 w 91"/>
                <a:gd name="T7" fmla="*/ 67 h 68"/>
                <a:gd name="T8" fmla="*/ 10 w 91"/>
                <a:gd name="T9" fmla="*/ 7 h 68"/>
                <a:gd name="T10" fmla="*/ 90 w 91"/>
                <a:gd name="T11" fmla="*/ 7 h 68"/>
                <a:gd name="T12" fmla="*/ 91 w 91"/>
                <a:gd name="T13" fmla="*/ 0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68">
                  <a:moveTo>
                    <a:pt x="91" y="0"/>
                  </a:moveTo>
                  <a:lnTo>
                    <a:pt x="0" y="0"/>
                  </a:lnTo>
                  <a:lnTo>
                    <a:pt x="0" y="68"/>
                  </a:lnTo>
                  <a:lnTo>
                    <a:pt x="10" y="67"/>
                  </a:lnTo>
                  <a:lnTo>
                    <a:pt x="10" y="7"/>
                  </a:lnTo>
                  <a:lnTo>
                    <a:pt x="90" y="7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0" name="Freeform 263"/>
            <p:cNvSpPr/>
            <p:nvPr/>
          </p:nvSpPr>
          <p:spPr bwMode="auto">
            <a:xfrm>
              <a:off x="4731" y="1935"/>
              <a:ext cx="81" cy="61"/>
            </a:xfrm>
            <a:custGeom>
              <a:avLst/>
              <a:gdLst>
                <a:gd name="T0" fmla="*/ 80 w 81"/>
                <a:gd name="T1" fmla="*/ 0 h 61"/>
                <a:gd name="T2" fmla="*/ 0 w 81"/>
                <a:gd name="T3" fmla="*/ 0 h 61"/>
                <a:gd name="T4" fmla="*/ 0 w 81"/>
                <a:gd name="T5" fmla="*/ 60 h 61"/>
                <a:gd name="T6" fmla="*/ 10 w 81"/>
                <a:gd name="T7" fmla="*/ 61 h 61"/>
                <a:gd name="T8" fmla="*/ 10 w 81"/>
                <a:gd name="T9" fmla="*/ 8 h 61"/>
                <a:gd name="T10" fmla="*/ 81 w 81"/>
                <a:gd name="T11" fmla="*/ 8 h 61"/>
                <a:gd name="T12" fmla="*/ 80 w 81"/>
                <a:gd name="T13" fmla="*/ 0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61">
                  <a:moveTo>
                    <a:pt x="80" y="0"/>
                  </a:moveTo>
                  <a:lnTo>
                    <a:pt x="0" y="0"/>
                  </a:lnTo>
                  <a:lnTo>
                    <a:pt x="0" y="60"/>
                  </a:lnTo>
                  <a:lnTo>
                    <a:pt x="10" y="61"/>
                  </a:lnTo>
                  <a:lnTo>
                    <a:pt x="10" y="8"/>
                  </a:lnTo>
                  <a:lnTo>
                    <a:pt x="81" y="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1" name="Freeform 264"/>
            <p:cNvSpPr/>
            <p:nvPr/>
          </p:nvSpPr>
          <p:spPr bwMode="auto">
            <a:xfrm>
              <a:off x="4741" y="1943"/>
              <a:ext cx="71" cy="53"/>
            </a:xfrm>
            <a:custGeom>
              <a:avLst/>
              <a:gdLst>
                <a:gd name="T0" fmla="*/ 71 w 71"/>
                <a:gd name="T1" fmla="*/ 0 h 53"/>
                <a:gd name="T2" fmla="*/ 0 w 71"/>
                <a:gd name="T3" fmla="*/ 0 h 53"/>
                <a:gd name="T4" fmla="*/ 0 w 71"/>
                <a:gd name="T5" fmla="*/ 53 h 53"/>
                <a:gd name="T6" fmla="*/ 11 w 71"/>
                <a:gd name="T7" fmla="*/ 52 h 53"/>
                <a:gd name="T8" fmla="*/ 11 w 71"/>
                <a:gd name="T9" fmla="*/ 7 h 53"/>
                <a:gd name="T10" fmla="*/ 70 w 71"/>
                <a:gd name="T11" fmla="*/ 7 h 53"/>
                <a:gd name="T12" fmla="*/ 71 w 71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3">
                  <a:moveTo>
                    <a:pt x="71" y="0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1" y="52"/>
                  </a:lnTo>
                  <a:lnTo>
                    <a:pt x="11" y="7"/>
                  </a:lnTo>
                  <a:lnTo>
                    <a:pt x="70" y="7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2" name="Freeform 265"/>
            <p:cNvSpPr/>
            <p:nvPr/>
          </p:nvSpPr>
          <p:spPr bwMode="auto">
            <a:xfrm>
              <a:off x="4752" y="1950"/>
              <a:ext cx="59" cy="45"/>
            </a:xfrm>
            <a:custGeom>
              <a:avLst/>
              <a:gdLst>
                <a:gd name="T0" fmla="*/ 59 w 59"/>
                <a:gd name="T1" fmla="*/ 0 h 45"/>
                <a:gd name="T2" fmla="*/ 0 w 59"/>
                <a:gd name="T3" fmla="*/ 0 h 45"/>
                <a:gd name="T4" fmla="*/ 0 w 59"/>
                <a:gd name="T5" fmla="*/ 45 h 45"/>
                <a:gd name="T6" fmla="*/ 10 w 59"/>
                <a:gd name="T7" fmla="*/ 45 h 45"/>
                <a:gd name="T8" fmla="*/ 10 w 59"/>
                <a:gd name="T9" fmla="*/ 8 h 45"/>
                <a:gd name="T10" fmla="*/ 59 w 59"/>
                <a:gd name="T11" fmla="*/ 8 h 45"/>
                <a:gd name="T12" fmla="*/ 59 w 59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45">
                  <a:moveTo>
                    <a:pt x="59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10" y="45"/>
                  </a:lnTo>
                  <a:lnTo>
                    <a:pt x="10" y="8"/>
                  </a:lnTo>
                  <a:lnTo>
                    <a:pt x="59" y="8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3" name="Freeform 266"/>
            <p:cNvSpPr/>
            <p:nvPr/>
          </p:nvSpPr>
          <p:spPr bwMode="auto">
            <a:xfrm>
              <a:off x="4762" y="1958"/>
              <a:ext cx="49" cy="37"/>
            </a:xfrm>
            <a:custGeom>
              <a:avLst/>
              <a:gdLst>
                <a:gd name="T0" fmla="*/ 49 w 49"/>
                <a:gd name="T1" fmla="*/ 0 h 37"/>
                <a:gd name="T2" fmla="*/ 0 w 49"/>
                <a:gd name="T3" fmla="*/ 0 h 37"/>
                <a:gd name="T4" fmla="*/ 0 w 49"/>
                <a:gd name="T5" fmla="*/ 37 h 37"/>
                <a:gd name="T6" fmla="*/ 11 w 49"/>
                <a:gd name="T7" fmla="*/ 37 h 37"/>
                <a:gd name="T8" fmla="*/ 11 w 49"/>
                <a:gd name="T9" fmla="*/ 9 h 37"/>
                <a:gd name="T10" fmla="*/ 49 w 49"/>
                <a:gd name="T11" fmla="*/ 9 h 37"/>
                <a:gd name="T12" fmla="*/ 49 w 49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7">
                  <a:moveTo>
                    <a:pt x="49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11" y="37"/>
                  </a:lnTo>
                  <a:lnTo>
                    <a:pt x="11" y="9"/>
                  </a:lnTo>
                  <a:lnTo>
                    <a:pt x="49" y="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4" name="Freeform 267"/>
            <p:cNvSpPr/>
            <p:nvPr/>
          </p:nvSpPr>
          <p:spPr bwMode="auto">
            <a:xfrm>
              <a:off x="4773" y="1967"/>
              <a:ext cx="39" cy="29"/>
            </a:xfrm>
            <a:custGeom>
              <a:avLst/>
              <a:gdLst>
                <a:gd name="T0" fmla="*/ 38 w 39"/>
                <a:gd name="T1" fmla="*/ 0 h 29"/>
                <a:gd name="T2" fmla="*/ 0 w 39"/>
                <a:gd name="T3" fmla="*/ 0 h 29"/>
                <a:gd name="T4" fmla="*/ 0 w 39"/>
                <a:gd name="T5" fmla="*/ 28 h 29"/>
                <a:gd name="T6" fmla="*/ 13 w 39"/>
                <a:gd name="T7" fmla="*/ 29 h 29"/>
                <a:gd name="T8" fmla="*/ 13 w 39"/>
                <a:gd name="T9" fmla="*/ 9 h 29"/>
                <a:gd name="T10" fmla="*/ 39 w 39"/>
                <a:gd name="T11" fmla="*/ 9 h 29"/>
                <a:gd name="T12" fmla="*/ 38 w 39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9">
                  <a:moveTo>
                    <a:pt x="38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3" y="29"/>
                  </a:lnTo>
                  <a:lnTo>
                    <a:pt x="13" y="9"/>
                  </a:lnTo>
                  <a:lnTo>
                    <a:pt x="39" y="9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5" name="Freeform 268"/>
            <p:cNvSpPr/>
            <p:nvPr/>
          </p:nvSpPr>
          <p:spPr bwMode="auto">
            <a:xfrm>
              <a:off x="4786" y="1976"/>
              <a:ext cx="26" cy="20"/>
            </a:xfrm>
            <a:custGeom>
              <a:avLst/>
              <a:gdLst>
                <a:gd name="T0" fmla="*/ 26 w 26"/>
                <a:gd name="T1" fmla="*/ 0 h 20"/>
                <a:gd name="T2" fmla="*/ 0 w 26"/>
                <a:gd name="T3" fmla="*/ 0 h 20"/>
                <a:gd name="T4" fmla="*/ 0 w 26"/>
                <a:gd name="T5" fmla="*/ 20 h 20"/>
                <a:gd name="T6" fmla="*/ 12 w 26"/>
                <a:gd name="T7" fmla="*/ 19 h 20"/>
                <a:gd name="T8" fmla="*/ 12 w 26"/>
                <a:gd name="T9" fmla="*/ 10 h 20"/>
                <a:gd name="T10" fmla="*/ 25 w 26"/>
                <a:gd name="T11" fmla="*/ 10 h 20"/>
                <a:gd name="T12" fmla="*/ 26 w 26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0">
                  <a:moveTo>
                    <a:pt x="26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25" y="1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6" name="Freeform 269"/>
            <p:cNvSpPr/>
            <p:nvPr/>
          </p:nvSpPr>
          <p:spPr bwMode="auto">
            <a:xfrm>
              <a:off x="4798" y="1986"/>
              <a:ext cx="14" cy="10"/>
            </a:xfrm>
            <a:custGeom>
              <a:avLst/>
              <a:gdLst>
                <a:gd name="T0" fmla="*/ 13 w 14"/>
                <a:gd name="T1" fmla="*/ 0 h 10"/>
                <a:gd name="T2" fmla="*/ 0 w 14"/>
                <a:gd name="T3" fmla="*/ 0 h 10"/>
                <a:gd name="T4" fmla="*/ 0 w 14"/>
                <a:gd name="T5" fmla="*/ 9 h 10"/>
                <a:gd name="T6" fmla="*/ 14 w 14"/>
                <a:gd name="T7" fmla="*/ 10 h 10"/>
                <a:gd name="T8" fmla="*/ 14 w 14"/>
                <a:gd name="T9" fmla="*/ 10 h 10"/>
                <a:gd name="T10" fmla="*/ 14 w 14"/>
                <a:gd name="T11" fmla="*/ 10 h 10"/>
                <a:gd name="T12" fmla="*/ 13 w 14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4" y="1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7" name="Line 270"/>
            <p:cNvSpPr>
              <a:spLocks noChangeShapeType="1"/>
            </p:cNvSpPr>
            <p:nvPr/>
          </p:nvSpPr>
          <p:spPr bwMode="auto">
            <a:xfrm>
              <a:off x="4633" y="2018"/>
              <a:ext cx="1" cy="1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8" name="Line 271"/>
            <p:cNvSpPr>
              <a:spLocks noChangeShapeType="1"/>
            </p:cNvSpPr>
            <p:nvPr/>
          </p:nvSpPr>
          <p:spPr bwMode="auto">
            <a:xfrm>
              <a:off x="4597" y="2018"/>
              <a:ext cx="1" cy="1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09" name="Line 272"/>
            <p:cNvSpPr>
              <a:spLocks noChangeShapeType="1"/>
            </p:cNvSpPr>
            <p:nvPr/>
          </p:nvSpPr>
          <p:spPr bwMode="auto">
            <a:xfrm>
              <a:off x="4555" y="2018"/>
              <a:ext cx="28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10" name="Rectangle 273"/>
            <p:cNvSpPr>
              <a:spLocks noChangeArrowheads="1"/>
            </p:cNvSpPr>
            <p:nvPr/>
          </p:nvSpPr>
          <p:spPr bwMode="auto">
            <a:xfrm>
              <a:off x="4772" y="2082"/>
              <a:ext cx="35" cy="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1" name="Rectangle 274"/>
            <p:cNvSpPr>
              <a:spLocks noChangeArrowheads="1"/>
            </p:cNvSpPr>
            <p:nvPr/>
          </p:nvSpPr>
          <p:spPr bwMode="auto">
            <a:xfrm>
              <a:off x="4772" y="2081"/>
              <a:ext cx="35" cy="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2" name="Rectangle 275"/>
            <p:cNvSpPr>
              <a:spLocks noChangeArrowheads="1"/>
            </p:cNvSpPr>
            <p:nvPr/>
          </p:nvSpPr>
          <p:spPr bwMode="auto">
            <a:xfrm>
              <a:off x="4772" y="2080"/>
              <a:ext cx="35" cy="1"/>
            </a:xfrm>
            <a:prstGeom prst="rect">
              <a:avLst/>
            </a:pr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3" name="Rectangle 276"/>
            <p:cNvSpPr>
              <a:spLocks noChangeArrowheads="1"/>
            </p:cNvSpPr>
            <p:nvPr/>
          </p:nvSpPr>
          <p:spPr bwMode="auto">
            <a:xfrm>
              <a:off x="4772" y="2079"/>
              <a:ext cx="35" cy="1"/>
            </a:xfrm>
            <a:prstGeom prst="rect">
              <a:avLst/>
            </a:pr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4" name="Rectangle 277"/>
            <p:cNvSpPr>
              <a:spLocks noChangeArrowheads="1"/>
            </p:cNvSpPr>
            <p:nvPr/>
          </p:nvSpPr>
          <p:spPr bwMode="auto">
            <a:xfrm>
              <a:off x="4772" y="2077"/>
              <a:ext cx="35" cy="2"/>
            </a:xfrm>
            <a:prstGeom prst="rect">
              <a:avLst/>
            </a:pr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5" name="Rectangle 278"/>
            <p:cNvSpPr>
              <a:spLocks noChangeArrowheads="1"/>
            </p:cNvSpPr>
            <p:nvPr/>
          </p:nvSpPr>
          <p:spPr bwMode="auto">
            <a:xfrm>
              <a:off x="4772" y="2076"/>
              <a:ext cx="35" cy="1"/>
            </a:xfrm>
            <a:prstGeom prst="rect">
              <a:avLst/>
            </a:prstGeom>
            <a:solidFill>
              <a:srgbClr val="BE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6" name="Rectangle 279"/>
            <p:cNvSpPr>
              <a:spLocks noChangeArrowheads="1"/>
            </p:cNvSpPr>
            <p:nvPr/>
          </p:nvSpPr>
          <p:spPr bwMode="auto">
            <a:xfrm>
              <a:off x="4772" y="2075"/>
              <a:ext cx="35" cy="1"/>
            </a:xfrm>
            <a:prstGeom prst="rect">
              <a:avLst/>
            </a:prstGeom>
            <a:solidFill>
              <a:srgbClr val="B6B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7" name="Freeform 280"/>
            <p:cNvSpPr/>
            <p:nvPr/>
          </p:nvSpPr>
          <p:spPr bwMode="auto">
            <a:xfrm>
              <a:off x="4771" y="2073"/>
              <a:ext cx="36" cy="2"/>
            </a:xfrm>
            <a:custGeom>
              <a:avLst/>
              <a:gdLst>
                <a:gd name="T0" fmla="*/ 1 w 36"/>
                <a:gd name="T1" fmla="*/ 2 h 2"/>
                <a:gd name="T2" fmla="*/ 36 w 36"/>
                <a:gd name="T3" fmla="*/ 2 h 2"/>
                <a:gd name="T4" fmla="*/ 35 w 36"/>
                <a:gd name="T5" fmla="*/ 0 h 2"/>
                <a:gd name="T6" fmla="*/ 0 w 36"/>
                <a:gd name="T7" fmla="*/ 0 h 2"/>
                <a:gd name="T8" fmla="*/ 1 w 36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">
                  <a:moveTo>
                    <a:pt x="1" y="2"/>
                  </a:moveTo>
                  <a:lnTo>
                    <a:pt x="36" y="2"/>
                  </a:lnTo>
                  <a:lnTo>
                    <a:pt x="35" y="0"/>
                  </a:lnTo>
                  <a:lnTo>
                    <a:pt x="0" y="0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18" name="Rectangle 281"/>
            <p:cNvSpPr>
              <a:spLocks noChangeArrowheads="1"/>
            </p:cNvSpPr>
            <p:nvPr/>
          </p:nvSpPr>
          <p:spPr bwMode="auto">
            <a:xfrm>
              <a:off x="4771" y="2072"/>
              <a:ext cx="35" cy="1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19" name="Freeform 282"/>
            <p:cNvSpPr/>
            <p:nvPr/>
          </p:nvSpPr>
          <p:spPr bwMode="auto">
            <a:xfrm>
              <a:off x="4771" y="2071"/>
              <a:ext cx="36" cy="1"/>
            </a:xfrm>
            <a:custGeom>
              <a:avLst/>
              <a:gdLst>
                <a:gd name="T0" fmla="*/ 0 w 36"/>
                <a:gd name="T1" fmla="*/ 1 h 1"/>
                <a:gd name="T2" fmla="*/ 35 w 36"/>
                <a:gd name="T3" fmla="*/ 1 h 1"/>
                <a:gd name="T4" fmla="*/ 36 w 36"/>
                <a:gd name="T5" fmla="*/ 0 h 1"/>
                <a:gd name="T6" fmla="*/ 1 w 36"/>
                <a:gd name="T7" fmla="*/ 0 h 1"/>
                <a:gd name="T8" fmla="*/ 0 w 36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35" y="1"/>
                  </a:lnTo>
                  <a:lnTo>
                    <a:pt x="36" y="0"/>
                  </a:lnTo>
                  <a:lnTo>
                    <a:pt x="1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0" name="Rectangle 283"/>
            <p:cNvSpPr>
              <a:spLocks noChangeArrowheads="1"/>
            </p:cNvSpPr>
            <p:nvPr/>
          </p:nvSpPr>
          <p:spPr bwMode="auto">
            <a:xfrm>
              <a:off x="4772" y="2071"/>
              <a:ext cx="35" cy="1"/>
            </a:xfrm>
            <a:prstGeom prst="rect">
              <a:avLst/>
            </a:pr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21" name="Rectangle 284"/>
            <p:cNvSpPr>
              <a:spLocks noChangeArrowheads="1"/>
            </p:cNvSpPr>
            <p:nvPr/>
          </p:nvSpPr>
          <p:spPr bwMode="auto">
            <a:xfrm>
              <a:off x="4739" y="2076"/>
              <a:ext cx="8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22" name="Freeform 285"/>
            <p:cNvSpPr>
              <a:spLocks noEditPoints="1"/>
            </p:cNvSpPr>
            <p:nvPr/>
          </p:nvSpPr>
          <p:spPr bwMode="auto">
            <a:xfrm>
              <a:off x="4519" y="2062"/>
              <a:ext cx="45" cy="24"/>
            </a:xfrm>
            <a:custGeom>
              <a:avLst/>
              <a:gdLst>
                <a:gd name="T0" fmla="*/ 0 w 45"/>
                <a:gd name="T1" fmla="*/ 24 h 24"/>
                <a:gd name="T2" fmla="*/ 0 w 45"/>
                <a:gd name="T3" fmla="*/ 0 h 24"/>
                <a:gd name="T4" fmla="*/ 1 w 45"/>
                <a:gd name="T5" fmla="*/ 0 h 24"/>
                <a:gd name="T6" fmla="*/ 1 w 45"/>
                <a:gd name="T7" fmla="*/ 24 h 24"/>
                <a:gd name="T8" fmla="*/ 0 w 45"/>
                <a:gd name="T9" fmla="*/ 24 h 24"/>
                <a:gd name="T10" fmla="*/ 45 w 45"/>
                <a:gd name="T11" fmla="*/ 0 h 24"/>
                <a:gd name="T12" fmla="*/ 45 w 45"/>
                <a:gd name="T13" fmla="*/ 24 h 24"/>
                <a:gd name="T14" fmla="*/ 43 w 45"/>
                <a:gd name="T15" fmla="*/ 24 h 24"/>
                <a:gd name="T16" fmla="*/ 43 w 45"/>
                <a:gd name="T17" fmla="*/ 0 h 24"/>
                <a:gd name="T18" fmla="*/ 45 w 45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5" y="0"/>
                  </a:moveTo>
                  <a:lnTo>
                    <a:pt x="45" y="24"/>
                  </a:lnTo>
                  <a:lnTo>
                    <a:pt x="43" y="24"/>
                  </a:lnTo>
                  <a:lnTo>
                    <a:pt x="43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3" name="Freeform 286"/>
            <p:cNvSpPr>
              <a:spLocks noEditPoints="1"/>
            </p:cNvSpPr>
            <p:nvPr/>
          </p:nvSpPr>
          <p:spPr bwMode="auto">
            <a:xfrm>
              <a:off x="4520" y="2062"/>
              <a:ext cx="42" cy="24"/>
            </a:xfrm>
            <a:custGeom>
              <a:avLst/>
              <a:gdLst>
                <a:gd name="T0" fmla="*/ 0 w 42"/>
                <a:gd name="T1" fmla="*/ 24 h 24"/>
                <a:gd name="T2" fmla="*/ 0 w 42"/>
                <a:gd name="T3" fmla="*/ 0 h 24"/>
                <a:gd name="T4" fmla="*/ 1 w 42"/>
                <a:gd name="T5" fmla="*/ 0 h 24"/>
                <a:gd name="T6" fmla="*/ 1 w 42"/>
                <a:gd name="T7" fmla="*/ 24 h 24"/>
                <a:gd name="T8" fmla="*/ 0 w 42"/>
                <a:gd name="T9" fmla="*/ 24 h 24"/>
                <a:gd name="T10" fmla="*/ 42 w 42"/>
                <a:gd name="T11" fmla="*/ 0 h 24"/>
                <a:gd name="T12" fmla="*/ 42 w 42"/>
                <a:gd name="T13" fmla="*/ 24 h 24"/>
                <a:gd name="T14" fmla="*/ 40 w 42"/>
                <a:gd name="T15" fmla="*/ 24 h 24"/>
                <a:gd name="T16" fmla="*/ 40 w 42"/>
                <a:gd name="T17" fmla="*/ 0 h 24"/>
                <a:gd name="T18" fmla="*/ 42 w 42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2" y="0"/>
                  </a:moveTo>
                  <a:lnTo>
                    <a:pt x="42" y="24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7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4" name="Freeform 287"/>
            <p:cNvSpPr>
              <a:spLocks noEditPoints="1"/>
            </p:cNvSpPr>
            <p:nvPr/>
          </p:nvSpPr>
          <p:spPr bwMode="auto">
            <a:xfrm>
              <a:off x="4521" y="2062"/>
              <a:ext cx="39" cy="24"/>
            </a:xfrm>
            <a:custGeom>
              <a:avLst/>
              <a:gdLst>
                <a:gd name="T0" fmla="*/ 0 w 39"/>
                <a:gd name="T1" fmla="*/ 24 h 24"/>
                <a:gd name="T2" fmla="*/ 0 w 39"/>
                <a:gd name="T3" fmla="*/ 0 h 24"/>
                <a:gd name="T4" fmla="*/ 1 w 39"/>
                <a:gd name="T5" fmla="*/ 0 h 24"/>
                <a:gd name="T6" fmla="*/ 1 w 39"/>
                <a:gd name="T7" fmla="*/ 24 h 24"/>
                <a:gd name="T8" fmla="*/ 0 w 39"/>
                <a:gd name="T9" fmla="*/ 24 h 24"/>
                <a:gd name="T10" fmla="*/ 39 w 39"/>
                <a:gd name="T11" fmla="*/ 0 h 24"/>
                <a:gd name="T12" fmla="*/ 39 w 39"/>
                <a:gd name="T13" fmla="*/ 24 h 24"/>
                <a:gd name="T14" fmla="*/ 38 w 39"/>
                <a:gd name="T15" fmla="*/ 24 h 24"/>
                <a:gd name="T16" fmla="*/ 38 w 39"/>
                <a:gd name="T17" fmla="*/ 0 h 24"/>
                <a:gd name="T18" fmla="*/ 39 w 3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9" y="0"/>
                  </a:moveTo>
                  <a:lnTo>
                    <a:pt x="39" y="24"/>
                  </a:lnTo>
                  <a:lnTo>
                    <a:pt x="38" y="24"/>
                  </a:lnTo>
                  <a:lnTo>
                    <a:pt x="38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D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5" name="Freeform 288"/>
            <p:cNvSpPr>
              <a:spLocks noEditPoints="1"/>
            </p:cNvSpPr>
            <p:nvPr/>
          </p:nvSpPr>
          <p:spPr bwMode="auto">
            <a:xfrm>
              <a:off x="4522" y="2062"/>
              <a:ext cx="37" cy="24"/>
            </a:xfrm>
            <a:custGeom>
              <a:avLst/>
              <a:gdLst>
                <a:gd name="T0" fmla="*/ 0 w 37"/>
                <a:gd name="T1" fmla="*/ 24 h 24"/>
                <a:gd name="T2" fmla="*/ 0 w 37"/>
                <a:gd name="T3" fmla="*/ 0 h 24"/>
                <a:gd name="T4" fmla="*/ 2 w 37"/>
                <a:gd name="T5" fmla="*/ 0 h 24"/>
                <a:gd name="T6" fmla="*/ 2 w 37"/>
                <a:gd name="T7" fmla="*/ 24 h 24"/>
                <a:gd name="T8" fmla="*/ 0 w 37"/>
                <a:gd name="T9" fmla="*/ 24 h 24"/>
                <a:gd name="T10" fmla="*/ 37 w 37"/>
                <a:gd name="T11" fmla="*/ 0 h 24"/>
                <a:gd name="T12" fmla="*/ 37 w 37"/>
                <a:gd name="T13" fmla="*/ 24 h 24"/>
                <a:gd name="T14" fmla="*/ 36 w 37"/>
                <a:gd name="T15" fmla="*/ 24 h 24"/>
                <a:gd name="T16" fmla="*/ 36 w 37"/>
                <a:gd name="T17" fmla="*/ 0 h 24"/>
                <a:gd name="T18" fmla="*/ 37 w 3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37" y="0"/>
                  </a:moveTo>
                  <a:lnTo>
                    <a:pt x="37" y="24"/>
                  </a:lnTo>
                  <a:lnTo>
                    <a:pt x="36" y="24"/>
                  </a:lnTo>
                  <a:lnTo>
                    <a:pt x="36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3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6" name="Freeform 289"/>
            <p:cNvSpPr>
              <a:spLocks noEditPoints="1"/>
            </p:cNvSpPr>
            <p:nvPr/>
          </p:nvSpPr>
          <p:spPr bwMode="auto">
            <a:xfrm>
              <a:off x="4524" y="2062"/>
              <a:ext cx="34" cy="24"/>
            </a:xfrm>
            <a:custGeom>
              <a:avLst/>
              <a:gdLst>
                <a:gd name="T0" fmla="*/ 0 w 34"/>
                <a:gd name="T1" fmla="*/ 24 h 24"/>
                <a:gd name="T2" fmla="*/ 0 w 34"/>
                <a:gd name="T3" fmla="*/ 0 h 24"/>
                <a:gd name="T4" fmla="*/ 1 w 34"/>
                <a:gd name="T5" fmla="*/ 0 h 24"/>
                <a:gd name="T6" fmla="*/ 1 w 34"/>
                <a:gd name="T7" fmla="*/ 24 h 24"/>
                <a:gd name="T8" fmla="*/ 0 w 34"/>
                <a:gd name="T9" fmla="*/ 24 h 24"/>
                <a:gd name="T10" fmla="*/ 34 w 34"/>
                <a:gd name="T11" fmla="*/ 0 h 24"/>
                <a:gd name="T12" fmla="*/ 34 w 34"/>
                <a:gd name="T13" fmla="*/ 24 h 24"/>
                <a:gd name="T14" fmla="*/ 33 w 34"/>
                <a:gd name="T15" fmla="*/ 24 h 24"/>
                <a:gd name="T16" fmla="*/ 33 w 34"/>
                <a:gd name="T17" fmla="*/ 0 h 24"/>
                <a:gd name="T18" fmla="*/ 34 w 3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4" y="0"/>
                  </a:moveTo>
                  <a:lnTo>
                    <a:pt x="34" y="24"/>
                  </a:lnTo>
                  <a:lnTo>
                    <a:pt x="33" y="24"/>
                  </a:lnTo>
                  <a:lnTo>
                    <a:pt x="33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D8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7" name="Freeform 290"/>
            <p:cNvSpPr>
              <a:spLocks noEditPoints="1"/>
            </p:cNvSpPr>
            <p:nvPr/>
          </p:nvSpPr>
          <p:spPr bwMode="auto">
            <a:xfrm>
              <a:off x="4525" y="2062"/>
              <a:ext cx="32" cy="24"/>
            </a:xfrm>
            <a:custGeom>
              <a:avLst/>
              <a:gdLst>
                <a:gd name="T0" fmla="*/ 0 w 32"/>
                <a:gd name="T1" fmla="*/ 24 h 24"/>
                <a:gd name="T2" fmla="*/ 0 w 32"/>
                <a:gd name="T3" fmla="*/ 0 h 24"/>
                <a:gd name="T4" fmla="*/ 1 w 32"/>
                <a:gd name="T5" fmla="*/ 0 h 24"/>
                <a:gd name="T6" fmla="*/ 1 w 32"/>
                <a:gd name="T7" fmla="*/ 24 h 24"/>
                <a:gd name="T8" fmla="*/ 0 w 32"/>
                <a:gd name="T9" fmla="*/ 24 h 24"/>
                <a:gd name="T10" fmla="*/ 32 w 32"/>
                <a:gd name="T11" fmla="*/ 0 h 24"/>
                <a:gd name="T12" fmla="*/ 32 w 32"/>
                <a:gd name="T13" fmla="*/ 24 h 24"/>
                <a:gd name="T14" fmla="*/ 30 w 32"/>
                <a:gd name="T15" fmla="*/ 24 h 24"/>
                <a:gd name="T16" fmla="*/ 30 w 32"/>
                <a:gd name="T17" fmla="*/ 0 h 24"/>
                <a:gd name="T18" fmla="*/ 32 w 32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2" y="0"/>
                  </a:moveTo>
                  <a:lnTo>
                    <a:pt x="32" y="24"/>
                  </a:lnTo>
                  <a:lnTo>
                    <a:pt x="30" y="24"/>
                  </a:lnTo>
                  <a:lnTo>
                    <a:pt x="30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D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8" name="Freeform 291"/>
            <p:cNvSpPr>
              <a:spLocks noEditPoints="1"/>
            </p:cNvSpPr>
            <p:nvPr/>
          </p:nvSpPr>
          <p:spPr bwMode="auto">
            <a:xfrm>
              <a:off x="4526" y="2062"/>
              <a:ext cx="29" cy="24"/>
            </a:xfrm>
            <a:custGeom>
              <a:avLst/>
              <a:gdLst>
                <a:gd name="T0" fmla="*/ 0 w 29"/>
                <a:gd name="T1" fmla="*/ 24 h 24"/>
                <a:gd name="T2" fmla="*/ 0 w 29"/>
                <a:gd name="T3" fmla="*/ 0 h 24"/>
                <a:gd name="T4" fmla="*/ 1 w 29"/>
                <a:gd name="T5" fmla="*/ 0 h 24"/>
                <a:gd name="T6" fmla="*/ 1 w 29"/>
                <a:gd name="T7" fmla="*/ 24 h 24"/>
                <a:gd name="T8" fmla="*/ 0 w 29"/>
                <a:gd name="T9" fmla="*/ 24 h 24"/>
                <a:gd name="T10" fmla="*/ 29 w 29"/>
                <a:gd name="T11" fmla="*/ 0 h 24"/>
                <a:gd name="T12" fmla="*/ 29 w 29"/>
                <a:gd name="T13" fmla="*/ 24 h 24"/>
                <a:gd name="T14" fmla="*/ 28 w 29"/>
                <a:gd name="T15" fmla="*/ 24 h 24"/>
                <a:gd name="T16" fmla="*/ 28 w 29"/>
                <a:gd name="T17" fmla="*/ 0 h 24"/>
                <a:gd name="T18" fmla="*/ 29 w 2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9" y="0"/>
                  </a:moveTo>
                  <a:lnTo>
                    <a:pt x="29" y="24"/>
                  </a:lnTo>
                  <a:lnTo>
                    <a:pt x="28" y="24"/>
                  </a:lnTo>
                  <a:lnTo>
                    <a:pt x="28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E1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29" name="Freeform 292"/>
            <p:cNvSpPr>
              <a:spLocks noEditPoints="1"/>
            </p:cNvSpPr>
            <p:nvPr/>
          </p:nvSpPr>
          <p:spPr bwMode="auto">
            <a:xfrm>
              <a:off x="4527" y="2062"/>
              <a:ext cx="27" cy="24"/>
            </a:xfrm>
            <a:custGeom>
              <a:avLst/>
              <a:gdLst>
                <a:gd name="T0" fmla="*/ 0 w 27"/>
                <a:gd name="T1" fmla="*/ 24 h 24"/>
                <a:gd name="T2" fmla="*/ 0 w 27"/>
                <a:gd name="T3" fmla="*/ 0 h 24"/>
                <a:gd name="T4" fmla="*/ 2 w 27"/>
                <a:gd name="T5" fmla="*/ 0 h 24"/>
                <a:gd name="T6" fmla="*/ 2 w 27"/>
                <a:gd name="T7" fmla="*/ 24 h 24"/>
                <a:gd name="T8" fmla="*/ 0 w 27"/>
                <a:gd name="T9" fmla="*/ 24 h 24"/>
                <a:gd name="T10" fmla="*/ 27 w 27"/>
                <a:gd name="T11" fmla="*/ 0 h 24"/>
                <a:gd name="T12" fmla="*/ 27 w 27"/>
                <a:gd name="T13" fmla="*/ 24 h 24"/>
                <a:gd name="T14" fmla="*/ 26 w 27"/>
                <a:gd name="T15" fmla="*/ 24 h 24"/>
                <a:gd name="T16" fmla="*/ 26 w 27"/>
                <a:gd name="T17" fmla="*/ 0 h 24"/>
                <a:gd name="T18" fmla="*/ 27 w 2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27" y="0"/>
                  </a:moveTo>
                  <a:lnTo>
                    <a:pt x="27" y="24"/>
                  </a:lnTo>
                  <a:lnTo>
                    <a:pt x="26" y="24"/>
                  </a:lnTo>
                  <a:lnTo>
                    <a:pt x="26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E5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0" name="Freeform 293"/>
            <p:cNvSpPr>
              <a:spLocks noEditPoints="1"/>
            </p:cNvSpPr>
            <p:nvPr/>
          </p:nvSpPr>
          <p:spPr bwMode="auto">
            <a:xfrm>
              <a:off x="4529" y="2062"/>
              <a:ext cx="24" cy="24"/>
            </a:xfrm>
            <a:custGeom>
              <a:avLst/>
              <a:gdLst>
                <a:gd name="T0" fmla="*/ 0 w 24"/>
                <a:gd name="T1" fmla="*/ 24 h 24"/>
                <a:gd name="T2" fmla="*/ 0 w 24"/>
                <a:gd name="T3" fmla="*/ 0 h 24"/>
                <a:gd name="T4" fmla="*/ 1 w 24"/>
                <a:gd name="T5" fmla="*/ 0 h 24"/>
                <a:gd name="T6" fmla="*/ 1 w 24"/>
                <a:gd name="T7" fmla="*/ 24 h 24"/>
                <a:gd name="T8" fmla="*/ 0 w 24"/>
                <a:gd name="T9" fmla="*/ 24 h 24"/>
                <a:gd name="T10" fmla="*/ 24 w 24"/>
                <a:gd name="T11" fmla="*/ 0 h 24"/>
                <a:gd name="T12" fmla="*/ 24 w 24"/>
                <a:gd name="T13" fmla="*/ 24 h 24"/>
                <a:gd name="T14" fmla="*/ 22 w 24"/>
                <a:gd name="T15" fmla="*/ 24 h 24"/>
                <a:gd name="T16" fmla="*/ 22 w 24"/>
                <a:gd name="T17" fmla="*/ 0 h 24"/>
                <a:gd name="T18" fmla="*/ 24 w 2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4" y="0"/>
                  </a:moveTo>
                  <a:lnTo>
                    <a:pt x="24" y="24"/>
                  </a:lnTo>
                  <a:lnTo>
                    <a:pt x="22" y="24"/>
                  </a:lnTo>
                  <a:lnTo>
                    <a:pt x="2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E9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1" name="Freeform 294"/>
            <p:cNvSpPr>
              <a:spLocks noEditPoints="1"/>
            </p:cNvSpPr>
            <p:nvPr/>
          </p:nvSpPr>
          <p:spPr bwMode="auto">
            <a:xfrm>
              <a:off x="4530" y="2062"/>
              <a:ext cx="21" cy="24"/>
            </a:xfrm>
            <a:custGeom>
              <a:avLst/>
              <a:gdLst>
                <a:gd name="T0" fmla="*/ 0 w 21"/>
                <a:gd name="T1" fmla="*/ 24 h 24"/>
                <a:gd name="T2" fmla="*/ 0 w 21"/>
                <a:gd name="T3" fmla="*/ 0 h 24"/>
                <a:gd name="T4" fmla="*/ 1 w 21"/>
                <a:gd name="T5" fmla="*/ 0 h 24"/>
                <a:gd name="T6" fmla="*/ 1 w 21"/>
                <a:gd name="T7" fmla="*/ 24 h 24"/>
                <a:gd name="T8" fmla="*/ 0 w 21"/>
                <a:gd name="T9" fmla="*/ 24 h 24"/>
                <a:gd name="T10" fmla="*/ 21 w 21"/>
                <a:gd name="T11" fmla="*/ 0 h 24"/>
                <a:gd name="T12" fmla="*/ 21 w 21"/>
                <a:gd name="T13" fmla="*/ 24 h 24"/>
                <a:gd name="T14" fmla="*/ 20 w 21"/>
                <a:gd name="T15" fmla="*/ 24 h 24"/>
                <a:gd name="T16" fmla="*/ 20 w 21"/>
                <a:gd name="T17" fmla="*/ 0 h 24"/>
                <a:gd name="T18" fmla="*/ 21 w 2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1" y="0"/>
                  </a:moveTo>
                  <a:lnTo>
                    <a:pt x="21" y="24"/>
                  </a:lnTo>
                  <a:lnTo>
                    <a:pt x="20" y="24"/>
                  </a:lnTo>
                  <a:lnTo>
                    <a:pt x="20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C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2" name="Freeform 295"/>
            <p:cNvSpPr>
              <a:spLocks noEditPoints="1"/>
            </p:cNvSpPr>
            <p:nvPr/>
          </p:nvSpPr>
          <p:spPr bwMode="auto">
            <a:xfrm>
              <a:off x="4531" y="2062"/>
              <a:ext cx="19" cy="24"/>
            </a:xfrm>
            <a:custGeom>
              <a:avLst/>
              <a:gdLst>
                <a:gd name="T0" fmla="*/ 0 w 19"/>
                <a:gd name="T1" fmla="*/ 24 h 24"/>
                <a:gd name="T2" fmla="*/ 0 w 19"/>
                <a:gd name="T3" fmla="*/ 0 h 24"/>
                <a:gd name="T4" fmla="*/ 1 w 19"/>
                <a:gd name="T5" fmla="*/ 0 h 24"/>
                <a:gd name="T6" fmla="*/ 1 w 19"/>
                <a:gd name="T7" fmla="*/ 24 h 24"/>
                <a:gd name="T8" fmla="*/ 0 w 19"/>
                <a:gd name="T9" fmla="*/ 24 h 24"/>
                <a:gd name="T10" fmla="*/ 19 w 19"/>
                <a:gd name="T11" fmla="*/ 0 h 24"/>
                <a:gd name="T12" fmla="*/ 19 w 19"/>
                <a:gd name="T13" fmla="*/ 24 h 24"/>
                <a:gd name="T14" fmla="*/ 18 w 19"/>
                <a:gd name="T15" fmla="*/ 24 h 24"/>
                <a:gd name="T16" fmla="*/ 18 w 19"/>
                <a:gd name="T17" fmla="*/ 0 h 24"/>
                <a:gd name="T18" fmla="*/ 19 w 1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9" y="0"/>
                  </a:moveTo>
                  <a:lnTo>
                    <a:pt x="19" y="24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EF2F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3" name="Freeform 296"/>
            <p:cNvSpPr>
              <a:spLocks noEditPoints="1"/>
            </p:cNvSpPr>
            <p:nvPr/>
          </p:nvSpPr>
          <p:spPr bwMode="auto">
            <a:xfrm>
              <a:off x="4532" y="2062"/>
              <a:ext cx="17" cy="24"/>
            </a:xfrm>
            <a:custGeom>
              <a:avLst/>
              <a:gdLst>
                <a:gd name="T0" fmla="*/ 0 w 17"/>
                <a:gd name="T1" fmla="*/ 24 h 24"/>
                <a:gd name="T2" fmla="*/ 0 w 17"/>
                <a:gd name="T3" fmla="*/ 0 h 24"/>
                <a:gd name="T4" fmla="*/ 2 w 17"/>
                <a:gd name="T5" fmla="*/ 0 h 24"/>
                <a:gd name="T6" fmla="*/ 2 w 17"/>
                <a:gd name="T7" fmla="*/ 24 h 24"/>
                <a:gd name="T8" fmla="*/ 0 w 17"/>
                <a:gd name="T9" fmla="*/ 24 h 24"/>
                <a:gd name="T10" fmla="*/ 17 w 17"/>
                <a:gd name="T11" fmla="*/ 0 h 24"/>
                <a:gd name="T12" fmla="*/ 17 w 17"/>
                <a:gd name="T13" fmla="*/ 24 h 24"/>
                <a:gd name="T14" fmla="*/ 16 w 17"/>
                <a:gd name="T15" fmla="*/ 24 h 24"/>
                <a:gd name="T16" fmla="*/ 16 w 17"/>
                <a:gd name="T17" fmla="*/ 0 h 24"/>
                <a:gd name="T18" fmla="*/ 17 w 1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17" y="0"/>
                  </a:moveTo>
                  <a:lnTo>
                    <a:pt x="17" y="24"/>
                  </a:lnTo>
                  <a:lnTo>
                    <a:pt x="16" y="24"/>
                  </a:lnTo>
                  <a:lnTo>
                    <a:pt x="16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2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4" name="Freeform 297"/>
            <p:cNvSpPr>
              <a:spLocks noEditPoints="1"/>
            </p:cNvSpPr>
            <p:nvPr/>
          </p:nvSpPr>
          <p:spPr bwMode="auto">
            <a:xfrm>
              <a:off x="4534" y="2061"/>
              <a:ext cx="14" cy="25"/>
            </a:xfrm>
            <a:custGeom>
              <a:avLst/>
              <a:gdLst>
                <a:gd name="T0" fmla="*/ 0 w 14"/>
                <a:gd name="T1" fmla="*/ 25 h 25"/>
                <a:gd name="T2" fmla="*/ 0 w 14"/>
                <a:gd name="T3" fmla="*/ 1 h 25"/>
                <a:gd name="T4" fmla="*/ 1 w 14"/>
                <a:gd name="T5" fmla="*/ 0 h 25"/>
                <a:gd name="T6" fmla="*/ 1 w 14"/>
                <a:gd name="T7" fmla="*/ 24 h 25"/>
                <a:gd name="T8" fmla="*/ 0 w 14"/>
                <a:gd name="T9" fmla="*/ 25 h 25"/>
                <a:gd name="T10" fmla="*/ 14 w 14"/>
                <a:gd name="T11" fmla="*/ 1 h 25"/>
                <a:gd name="T12" fmla="*/ 14 w 14"/>
                <a:gd name="T13" fmla="*/ 25 h 25"/>
                <a:gd name="T14" fmla="*/ 12 w 14"/>
                <a:gd name="T15" fmla="*/ 24 h 25"/>
                <a:gd name="T16" fmla="*/ 12 w 14"/>
                <a:gd name="T17" fmla="*/ 0 h 25"/>
                <a:gd name="T18" fmla="*/ 14 w 14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25">
                  <a:moveTo>
                    <a:pt x="0" y="25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5"/>
                  </a:lnTo>
                  <a:close/>
                  <a:moveTo>
                    <a:pt x="14" y="1"/>
                  </a:moveTo>
                  <a:lnTo>
                    <a:pt x="14" y="25"/>
                  </a:lnTo>
                  <a:lnTo>
                    <a:pt x="12" y="24"/>
                  </a:lnTo>
                  <a:lnTo>
                    <a:pt x="12" y="0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F4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5" name="Freeform 298"/>
            <p:cNvSpPr>
              <a:spLocks noEditPoints="1"/>
            </p:cNvSpPr>
            <p:nvPr/>
          </p:nvSpPr>
          <p:spPr bwMode="auto">
            <a:xfrm>
              <a:off x="4535" y="2061"/>
              <a:ext cx="11" cy="25"/>
            </a:xfrm>
            <a:custGeom>
              <a:avLst/>
              <a:gdLst>
                <a:gd name="T0" fmla="*/ 0 w 11"/>
                <a:gd name="T1" fmla="*/ 24 h 25"/>
                <a:gd name="T2" fmla="*/ 0 w 11"/>
                <a:gd name="T3" fmla="*/ 0 h 25"/>
                <a:gd name="T4" fmla="*/ 1 w 11"/>
                <a:gd name="T5" fmla="*/ 1 h 25"/>
                <a:gd name="T6" fmla="*/ 1 w 11"/>
                <a:gd name="T7" fmla="*/ 25 h 25"/>
                <a:gd name="T8" fmla="*/ 0 w 11"/>
                <a:gd name="T9" fmla="*/ 24 h 25"/>
                <a:gd name="T10" fmla="*/ 11 w 11"/>
                <a:gd name="T11" fmla="*/ 0 h 25"/>
                <a:gd name="T12" fmla="*/ 11 w 11"/>
                <a:gd name="T13" fmla="*/ 24 h 25"/>
                <a:gd name="T14" fmla="*/ 10 w 11"/>
                <a:gd name="T15" fmla="*/ 25 h 25"/>
                <a:gd name="T16" fmla="*/ 10 w 11"/>
                <a:gd name="T17" fmla="*/ 1 h 25"/>
                <a:gd name="T18" fmla="*/ 11 w 11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25">
                  <a:moveTo>
                    <a:pt x="0" y="24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25"/>
                  </a:lnTo>
                  <a:lnTo>
                    <a:pt x="0" y="24"/>
                  </a:lnTo>
                  <a:close/>
                  <a:moveTo>
                    <a:pt x="11" y="0"/>
                  </a:moveTo>
                  <a:lnTo>
                    <a:pt x="11" y="24"/>
                  </a:lnTo>
                  <a:lnTo>
                    <a:pt x="10" y="25"/>
                  </a:lnTo>
                  <a:lnTo>
                    <a:pt x="10" y="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7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6" name="Freeform 299"/>
            <p:cNvSpPr>
              <a:spLocks noEditPoints="1"/>
            </p:cNvSpPr>
            <p:nvPr/>
          </p:nvSpPr>
          <p:spPr bwMode="auto">
            <a:xfrm>
              <a:off x="4536" y="2061"/>
              <a:ext cx="9" cy="25"/>
            </a:xfrm>
            <a:custGeom>
              <a:avLst/>
              <a:gdLst>
                <a:gd name="T0" fmla="*/ 0 w 9"/>
                <a:gd name="T1" fmla="*/ 25 h 25"/>
                <a:gd name="T2" fmla="*/ 0 w 9"/>
                <a:gd name="T3" fmla="*/ 1 h 25"/>
                <a:gd name="T4" fmla="*/ 2 w 9"/>
                <a:gd name="T5" fmla="*/ 0 h 25"/>
                <a:gd name="T6" fmla="*/ 2 w 9"/>
                <a:gd name="T7" fmla="*/ 24 h 25"/>
                <a:gd name="T8" fmla="*/ 0 w 9"/>
                <a:gd name="T9" fmla="*/ 25 h 25"/>
                <a:gd name="T10" fmla="*/ 9 w 9"/>
                <a:gd name="T11" fmla="*/ 1 h 25"/>
                <a:gd name="T12" fmla="*/ 9 w 9"/>
                <a:gd name="T13" fmla="*/ 25 h 25"/>
                <a:gd name="T14" fmla="*/ 8 w 9"/>
                <a:gd name="T15" fmla="*/ 24 h 25"/>
                <a:gd name="T16" fmla="*/ 8 w 9"/>
                <a:gd name="T17" fmla="*/ 0 h 25"/>
                <a:gd name="T18" fmla="*/ 9 w 9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25">
                  <a:moveTo>
                    <a:pt x="0" y="25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5"/>
                  </a:lnTo>
                  <a:close/>
                  <a:moveTo>
                    <a:pt x="9" y="1"/>
                  </a:moveTo>
                  <a:lnTo>
                    <a:pt x="9" y="25"/>
                  </a:lnTo>
                  <a:lnTo>
                    <a:pt x="8" y="24"/>
                  </a:lnTo>
                  <a:lnTo>
                    <a:pt x="8" y="0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9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7" name="Freeform 300"/>
            <p:cNvSpPr>
              <a:spLocks noEditPoints="1"/>
            </p:cNvSpPr>
            <p:nvPr/>
          </p:nvSpPr>
          <p:spPr bwMode="auto">
            <a:xfrm>
              <a:off x="4538" y="2061"/>
              <a:ext cx="6" cy="25"/>
            </a:xfrm>
            <a:custGeom>
              <a:avLst/>
              <a:gdLst>
                <a:gd name="T0" fmla="*/ 0 w 6"/>
                <a:gd name="T1" fmla="*/ 24 h 25"/>
                <a:gd name="T2" fmla="*/ 0 w 6"/>
                <a:gd name="T3" fmla="*/ 0 h 25"/>
                <a:gd name="T4" fmla="*/ 1 w 6"/>
                <a:gd name="T5" fmla="*/ 1 h 25"/>
                <a:gd name="T6" fmla="*/ 1 w 6"/>
                <a:gd name="T7" fmla="*/ 25 h 25"/>
                <a:gd name="T8" fmla="*/ 0 w 6"/>
                <a:gd name="T9" fmla="*/ 24 h 25"/>
                <a:gd name="T10" fmla="*/ 6 w 6"/>
                <a:gd name="T11" fmla="*/ 0 h 25"/>
                <a:gd name="T12" fmla="*/ 6 w 6"/>
                <a:gd name="T13" fmla="*/ 24 h 25"/>
                <a:gd name="T14" fmla="*/ 5 w 6"/>
                <a:gd name="T15" fmla="*/ 25 h 25"/>
                <a:gd name="T16" fmla="*/ 5 w 6"/>
                <a:gd name="T17" fmla="*/ 1 h 25"/>
                <a:gd name="T18" fmla="*/ 6 w 6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" h="25">
                  <a:moveTo>
                    <a:pt x="0" y="24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25"/>
                  </a:lnTo>
                  <a:lnTo>
                    <a:pt x="0" y="24"/>
                  </a:lnTo>
                  <a:close/>
                  <a:moveTo>
                    <a:pt x="6" y="0"/>
                  </a:moveTo>
                  <a:lnTo>
                    <a:pt x="6" y="24"/>
                  </a:lnTo>
                  <a:lnTo>
                    <a:pt x="5" y="25"/>
                  </a:lnTo>
                  <a:lnTo>
                    <a:pt x="5" y="1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B09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8" name="Freeform 301"/>
            <p:cNvSpPr>
              <a:spLocks noEditPoints="1"/>
            </p:cNvSpPr>
            <p:nvPr/>
          </p:nvSpPr>
          <p:spPr bwMode="auto">
            <a:xfrm>
              <a:off x="4539" y="2062"/>
              <a:ext cx="4" cy="24"/>
            </a:xfrm>
            <a:custGeom>
              <a:avLst/>
              <a:gdLst>
                <a:gd name="T0" fmla="*/ 0 w 4"/>
                <a:gd name="T1" fmla="*/ 24 h 24"/>
                <a:gd name="T2" fmla="*/ 0 w 4"/>
                <a:gd name="T3" fmla="*/ 0 h 24"/>
                <a:gd name="T4" fmla="*/ 1 w 4"/>
                <a:gd name="T5" fmla="*/ 0 h 24"/>
                <a:gd name="T6" fmla="*/ 1 w 4"/>
                <a:gd name="T7" fmla="*/ 24 h 24"/>
                <a:gd name="T8" fmla="*/ 0 w 4"/>
                <a:gd name="T9" fmla="*/ 24 h 24"/>
                <a:gd name="T10" fmla="*/ 4 w 4"/>
                <a:gd name="T11" fmla="*/ 0 h 24"/>
                <a:gd name="T12" fmla="*/ 4 w 4"/>
                <a:gd name="T13" fmla="*/ 24 h 24"/>
                <a:gd name="T14" fmla="*/ 2 w 4"/>
                <a:gd name="T15" fmla="*/ 24 h 24"/>
                <a:gd name="T16" fmla="*/ 2 w 4"/>
                <a:gd name="T17" fmla="*/ 0 h 24"/>
                <a:gd name="T18" fmla="*/ 4 w 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" y="0"/>
                  </a:moveTo>
                  <a:lnTo>
                    <a:pt x="4" y="24"/>
                  </a:lnTo>
                  <a:lnTo>
                    <a:pt x="2" y="24"/>
                  </a:lnTo>
                  <a:lnTo>
                    <a:pt x="2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D03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39" name="Freeform 302"/>
            <p:cNvSpPr>
              <a:spLocks noEditPoints="1"/>
            </p:cNvSpPr>
            <p:nvPr/>
          </p:nvSpPr>
          <p:spPr bwMode="auto">
            <a:xfrm>
              <a:off x="4540" y="2062"/>
              <a:ext cx="1" cy="24"/>
            </a:xfrm>
            <a:custGeom>
              <a:avLst/>
              <a:gdLst>
                <a:gd name="T0" fmla="*/ 0 w 1"/>
                <a:gd name="T1" fmla="*/ 24 h 24"/>
                <a:gd name="T2" fmla="*/ 0 w 1"/>
                <a:gd name="T3" fmla="*/ 0 h 24"/>
                <a:gd name="T4" fmla="*/ 1 w 1"/>
                <a:gd name="T5" fmla="*/ 0 h 24"/>
                <a:gd name="T6" fmla="*/ 1 w 1"/>
                <a:gd name="T7" fmla="*/ 24 h 24"/>
                <a:gd name="T8" fmla="*/ 0 w 1"/>
                <a:gd name="T9" fmla="*/ 24 h 24"/>
                <a:gd name="T10" fmla="*/ 1 w 1"/>
                <a:gd name="T11" fmla="*/ 0 h 24"/>
                <a:gd name="T12" fmla="*/ 1 w 1"/>
                <a:gd name="T13" fmla="*/ 24 h 24"/>
                <a:gd name="T14" fmla="*/ 1 w 1"/>
                <a:gd name="T15" fmla="*/ 24 h 24"/>
                <a:gd name="T16" fmla="*/ 1 w 1"/>
                <a:gd name="T17" fmla="*/ 0 h 24"/>
                <a:gd name="T18" fmla="*/ 1 w 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" y="0"/>
                  </a:moveTo>
                  <a:lnTo>
                    <a:pt x="1" y="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0" name="Freeform 303"/>
            <p:cNvSpPr/>
            <p:nvPr/>
          </p:nvSpPr>
          <p:spPr bwMode="auto">
            <a:xfrm>
              <a:off x="4507" y="1754"/>
              <a:ext cx="428" cy="427"/>
            </a:xfrm>
            <a:custGeom>
              <a:avLst/>
              <a:gdLst>
                <a:gd name="T0" fmla="*/ 0 w 428"/>
                <a:gd name="T1" fmla="*/ 427 h 427"/>
                <a:gd name="T2" fmla="*/ 0 w 428"/>
                <a:gd name="T3" fmla="*/ 297 h 427"/>
                <a:gd name="T4" fmla="*/ 44 w 428"/>
                <a:gd name="T5" fmla="*/ 252 h 427"/>
                <a:gd name="T6" fmla="*/ 48 w 428"/>
                <a:gd name="T7" fmla="*/ 252 h 427"/>
                <a:gd name="T8" fmla="*/ 48 w 428"/>
                <a:gd name="T9" fmla="*/ 47 h 427"/>
                <a:gd name="T10" fmla="*/ 95 w 428"/>
                <a:gd name="T11" fmla="*/ 0 h 427"/>
                <a:gd name="T12" fmla="*/ 380 w 428"/>
                <a:gd name="T13" fmla="*/ 0 h 427"/>
                <a:gd name="T14" fmla="*/ 380 w 428"/>
                <a:gd name="T15" fmla="*/ 142 h 427"/>
                <a:gd name="T16" fmla="*/ 369 w 428"/>
                <a:gd name="T17" fmla="*/ 177 h 427"/>
                <a:gd name="T18" fmla="*/ 369 w 428"/>
                <a:gd name="T19" fmla="*/ 243 h 427"/>
                <a:gd name="T20" fmla="*/ 362 w 428"/>
                <a:gd name="T21" fmla="*/ 250 h 427"/>
                <a:gd name="T22" fmla="*/ 428 w 428"/>
                <a:gd name="T23" fmla="*/ 250 h 427"/>
                <a:gd name="T24" fmla="*/ 428 w 428"/>
                <a:gd name="T25" fmla="*/ 380 h 427"/>
                <a:gd name="T26" fmla="*/ 380 w 428"/>
                <a:gd name="T27" fmla="*/ 427 h 427"/>
                <a:gd name="T28" fmla="*/ 0 w 428"/>
                <a:gd name="T29" fmla="*/ 427 h 42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8" h="427">
                  <a:moveTo>
                    <a:pt x="0" y="427"/>
                  </a:moveTo>
                  <a:lnTo>
                    <a:pt x="0" y="297"/>
                  </a:lnTo>
                  <a:lnTo>
                    <a:pt x="44" y="252"/>
                  </a:lnTo>
                  <a:lnTo>
                    <a:pt x="48" y="252"/>
                  </a:lnTo>
                  <a:lnTo>
                    <a:pt x="48" y="47"/>
                  </a:lnTo>
                  <a:lnTo>
                    <a:pt x="95" y="0"/>
                  </a:lnTo>
                  <a:lnTo>
                    <a:pt x="380" y="0"/>
                  </a:lnTo>
                  <a:lnTo>
                    <a:pt x="380" y="142"/>
                  </a:lnTo>
                  <a:lnTo>
                    <a:pt x="369" y="177"/>
                  </a:lnTo>
                  <a:lnTo>
                    <a:pt x="369" y="243"/>
                  </a:lnTo>
                  <a:lnTo>
                    <a:pt x="362" y="250"/>
                  </a:lnTo>
                  <a:lnTo>
                    <a:pt x="428" y="250"/>
                  </a:lnTo>
                  <a:lnTo>
                    <a:pt x="428" y="380"/>
                  </a:lnTo>
                  <a:lnTo>
                    <a:pt x="380" y="427"/>
                  </a:lnTo>
                  <a:lnTo>
                    <a:pt x="0" y="42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1" name="Rectangle 304"/>
            <p:cNvSpPr>
              <a:spLocks noChangeArrowheads="1"/>
            </p:cNvSpPr>
            <p:nvPr/>
          </p:nvSpPr>
          <p:spPr bwMode="auto">
            <a:xfrm>
              <a:off x="4288" y="2203"/>
              <a:ext cx="83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 smtClean="0">
                  <a:solidFill>
                    <a:srgbClr val="000000"/>
                  </a:solidFill>
                  <a:latin typeface="Sitka Text" panose="02000505000000020004" pitchFamily="2" charset="0"/>
                  <a:ea typeface="SimSun" panose="02010600030101010101" pitchFamily="2" charset="-122"/>
                </a:rPr>
                <a:t>Shanghai</a:t>
              </a:r>
              <a:endPara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42" name="Freeform 305"/>
            <p:cNvSpPr/>
            <p:nvPr/>
          </p:nvSpPr>
          <p:spPr bwMode="auto">
            <a:xfrm>
              <a:off x="3166" y="2811"/>
              <a:ext cx="59" cy="24"/>
            </a:xfrm>
            <a:custGeom>
              <a:avLst/>
              <a:gdLst>
                <a:gd name="T0" fmla="*/ 35 w 59"/>
                <a:gd name="T1" fmla="*/ 24 h 24"/>
                <a:gd name="T2" fmla="*/ 59 w 59"/>
                <a:gd name="T3" fmla="*/ 0 h 24"/>
                <a:gd name="T4" fmla="*/ 0 w 59"/>
                <a:gd name="T5" fmla="*/ 0 h 24"/>
                <a:gd name="T6" fmla="*/ 35 w 59"/>
                <a:gd name="T7" fmla="*/ 2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4">
                  <a:moveTo>
                    <a:pt x="35" y="24"/>
                  </a:moveTo>
                  <a:lnTo>
                    <a:pt x="59" y="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3" name="Freeform 306"/>
            <p:cNvSpPr/>
            <p:nvPr/>
          </p:nvSpPr>
          <p:spPr bwMode="auto">
            <a:xfrm>
              <a:off x="2797" y="2814"/>
              <a:ext cx="95" cy="46"/>
            </a:xfrm>
            <a:custGeom>
              <a:avLst/>
              <a:gdLst>
                <a:gd name="T0" fmla="*/ 95 w 95"/>
                <a:gd name="T1" fmla="*/ 46 h 46"/>
                <a:gd name="T2" fmla="*/ 44 w 95"/>
                <a:gd name="T3" fmla="*/ 0 h 46"/>
                <a:gd name="T4" fmla="*/ 0 w 95"/>
                <a:gd name="T5" fmla="*/ 46 h 46"/>
                <a:gd name="T6" fmla="*/ 95 w 95"/>
                <a:gd name="T7" fmla="*/ 46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46">
                  <a:moveTo>
                    <a:pt x="95" y="46"/>
                  </a:moveTo>
                  <a:lnTo>
                    <a:pt x="44" y="0"/>
                  </a:lnTo>
                  <a:lnTo>
                    <a:pt x="0" y="46"/>
                  </a:lnTo>
                  <a:lnTo>
                    <a:pt x="95" y="46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4" name="Freeform 307"/>
            <p:cNvSpPr/>
            <p:nvPr/>
          </p:nvSpPr>
          <p:spPr bwMode="auto">
            <a:xfrm>
              <a:off x="2845" y="2811"/>
              <a:ext cx="361" cy="49"/>
            </a:xfrm>
            <a:custGeom>
              <a:avLst/>
              <a:gdLst>
                <a:gd name="T0" fmla="*/ 361 w 361"/>
                <a:gd name="T1" fmla="*/ 18 h 49"/>
                <a:gd name="T2" fmla="*/ 326 w 361"/>
                <a:gd name="T3" fmla="*/ 0 h 49"/>
                <a:gd name="T4" fmla="*/ 47 w 361"/>
                <a:gd name="T5" fmla="*/ 0 h 49"/>
                <a:gd name="T6" fmla="*/ 0 w 361"/>
                <a:gd name="T7" fmla="*/ 24 h 49"/>
                <a:gd name="T8" fmla="*/ 47 w 361"/>
                <a:gd name="T9" fmla="*/ 49 h 49"/>
                <a:gd name="T10" fmla="*/ 332 w 361"/>
                <a:gd name="T11" fmla="*/ 49 h 49"/>
                <a:gd name="T12" fmla="*/ 361 w 361"/>
                <a:gd name="T13" fmla="*/ 18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1" h="49">
                  <a:moveTo>
                    <a:pt x="361" y="18"/>
                  </a:moveTo>
                  <a:lnTo>
                    <a:pt x="326" y="0"/>
                  </a:lnTo>
                  <a:lnTo>
                    <a:pt x="47" y="0"/>
                  </a:lnTo>
                  <a:lnTo>
                    <a:pt x="0" y="24"/>
                  </a:lnTo>
                  <a:lnTo>
                    <a:pt x="47" y="49"/>
                  </a:lnTo>
                  <a:lnTo>
                    <a:pt x="332" y="49"/>
                  </a:lnTo>
                  <a:lnTo>
                    <a:pt x="361" y="1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5" name="Freeform 308"/>
            <p:cNvSpPr/>
            <p:nvPr/>
          </p:nvSpPr>
          <p:spPr bwMode="auto">
            <a:xfrm>
              <a:off x="2903" y="2842"/>
              <a:ext cx="215" cy="14"/>
            </a:xfrm>
            <a:custGeom>
              <a:avLst/>
              <a:gdLst>
                <a:gd name="T0" fmla="*/ 215 w 215"/>
                <a:gd name="T1" fmla="*/ 0 h 14"/>
                <a:gd name="T2" fmla="*/ 215 w 215"/>
                <a:gd name="T3" fmla="*/ 14 h 14"/>
                <a:gd name="T4" fmla="*/ 0 w 215"/>
                <a:gd name="T5" fmla="*/ 14 h 14"/>
                <a:gd name="T6" fmla="*/ 0 w 215"/>
                <a:gd name="T7" fmla="*/ 14 h 14"/>
                <a:gd name="T8" fmla="*/ 31 w 215"/>
                <a:gd name="T9" fmla="*/ 14 h 14"/>
                <a:gd name="T10" fmla="*/ 60 w 215"/>
                <a:gd name="T11" fmla="*/ 12 h 14"/>
                <a:gd name="T12" fmla="*/ 88 w 215"/>
                <a:gd name="T13" fmla="*/ 12 h 14"/>
                <a:gd name="T14" fmla="*/ 113 w 215"/>
                <a:gd name="T15" fmla="*/ 11 h 14"/>
                <a:gd name="T16" fmla="*/ 137 w 215"/>
                <a:gd name="T17" fmla="*/ 10 h 14"/>
                <a:gd name="T18" fmla="*/ 159 w 215"/>
                <a:gd name="T19" fmla="*/ 9 h 14"/>
                <a:gd name="T20" fmla="*/ 177 w 215"/>
                <a:gd name="T21" fmla="*/ 7 h 14"/>
                <a:gd name="T22" fmla="*/ 190 w 215"/>
                <a:gd name="T23" fmla="*/ 5 h 14"/>
                <a:gd name="T24" fmla="*/ 201 w 215"/>
                <a:gd name="T25" fmla="*/ 4 h 14"/>
                <a:gd name="T26" fmla="*/ 207 w 215"/>
                <a:gd name="T27" fmla="*/ 1 h 14"/>
                <a:gd name="T28" fmla="*/ 209 w 215"/>
                <a:gd name="T29" fmla="*/ 0 h 14"/>
                <a:gd name="T30" fmla="*/ 215 w 215"/>
                <a:gd name="T31" fmla="*/ 0 h 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5" h="14">
                  <a:moveTo>
                    <a:pt x="215" y="0"/>
                  </a:moveTo>
                  <a:lnTo>
                    <a:pt x="215" y="14"/>
                  </a:lnTo>
                  <a:lnTo>
                    <a:pt x="0" y="14"/>
                  </a:lnTo>
                  <a:lnTo>
                    <a:pt x="31" y="14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7" y="7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6" name="Freeform 309"/>
            <p:cNvSpPr/>
            <p:nvPr/>
          </p:nvSpPr>
          <p:spPr bwMode="auto">
            <a:xfrm>
              <a:off x="2903" y="2842"/>
              <a:ext cx="209" cy="14"/>
            </a:xfrm>
            <a:custGeom>
              <a:avLst/>
              <a:gdLst>
                <a:gd name="T0" fmla="*/ 0 w 209"/>
                <a:gd name="T1" fmla="*/ 14 h 14"/>
                <a:gd name="T2" fmla="*/ 31 w 209"/>
                <a:gd name="T3" fmla="*/ 14 h 14"/>
                <a:gd name="T4" fmla="*/ 60 w 209"/>
                <a:gd name="T5" fmla="*/ 12 h 14"/>
                <a:gd name="T6" fmla="*/ 88 w 209"/>
                <a:gd name="T7" fmla="*/ 12 h 14"/>
                <a:gd name="T8" fmla="*/ 113 w 209"/>
                <a:gd name="T9" fmla="*/ 11 h 14"/>
                <a:gd name="T10" fmla="*/ 137 w 209"/>
                <a:gd name="T11" fmla="*/ 10 h 14"/>
                <a:gd name="T12" fmla="*/ 159 w 209"/>
                <a:gd name="T13" fmla="*/ 9 h 14"/>
                <a:gd name="T14" fmla="*/ 177 w 209"/>
                <a:gd name="T15" fmla="*/ 7 h 14"/>
                <a:gd name="T16" fmla="*/ 190 w 209"/>
                <a:gd name="T17" fmla="*/ 5 h 14"/>
                <a:gd name="T18" fmla="*/ 201 w 209"/>
                <a:gd name="T19" fmla="*/ 4 h 14"/>
                <a:gd name="T20" fmla="*/ 207 w 209"/>
                <a:gd name="T21" fmla="*/ 1 h 14"/>
                <a:gd name="T22" fmla="*/ 209 w 209"/>
                <a:gd name="T23" fmla="*/ 0 h 14"/>
                <a:gd name="T24" fmla="*/ 204 w 209"/>
                <a:gd name="T25" fmla="*/ 0 h 14"/>
                <a:gd name="T26" fmla="*/ 202 w 209"/>
                <a:gd name="T27" fmla="*/ 1 h 14"/>
                <a:gd name="T28" fmla="*/ 194 w 209"/>
                <a:gd name="T29" fmla="*/ 4 h 14"/>
                <a:gd name="T30" fmla="*/ 183 w 209"/>
                <a:gd name="T31" fmla="*/ 6 h 14"/>
                <a:gd name="T32" fmla="*/ 165 w 209"/>
                <a:gd name="T33" fmla="*/ 7 h 14"/>
                <a:gd name="T34" fmla="*/ 145 w 209"/>
                <a:gd name="T35" fmla="*/ 9 h 14"/>
                <a:gd name="T36" fmla="*/ 121 w 209"/>
                <a:gd name="T37" fmla="*/ 11 h 14"/>
                <a:gd name="T38" fmla="*/ 93 w 209"/>
                <a:gd name="T39" fmla="*/ 11 h 14"/>
                <a:gd name="T40" fmla="*/ 64 w 209"/>
                <a:gd name="T41" fmla="*/ 12 h 14"/>
                <a:gd name="T42" fmla="*/ 33 w 209"/>
                <a:gd name="T43" fmla="*/ 14 h 14"/>
                <a:gd name="T44" fmla="*/ 0 w 209"/>
                <a:gd name="T45" fmla="*/ 14 h 14"/>
                <a:gd name="T46" fmla="*/ 0 w 209"/>
                <a:gd name="T47" fmla="*/ 14 h 1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9" h="14">
                  <a:moveTo>
                    <a:pt x="0" y="14"/>
                  </a:moveTo>
                  <a:lnTo>
                    <a:pt x="31" y="14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7" y="7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04" y="0"/>
                  </a:ln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7" name="Freeform 310"/>
            <p:cNvSpPr/>
            <p:nvPr/>
          </p:nvSpPr>
          <p:spPr bwMode="auto">
            <a:xfrm>
              <a:off x="2903" y="2842"/>
              <a:ext cx="204" cy="14"/>
            </a:xfrm>
            <a:custGeom>
              <a:avLst/>
              <a:gdLst>
                <a:gd name="T0" fmla="*/ 204 w 204"/>
                <a:gd name="T1" fmla="*/ 0 h 14"/>
                <a:gd name="T2" fmla="*/ 202 w 204"/>
                <a:gd name="T3" fmla="*/ 1 h 14"/>
                <a:gd name="T4" fmla="*/ 194 w 204"/>
                <a:gd name="T5" fmla="*/ 4 h 14"/>
                <a:gd name="T6" fmla="*/ 183 w 204"/>
                <a:gd name="T7" fmla="*/ 6 h 14"/>
                <a:gd name="T8" fmla="*/ 165 w 204"/>
                <a:gd name="T9" fmla="*/ 7 h 14"/>
                <a:gd name="T10" fmla="*/ 145 w 204"/>
                <a:gd name="T11" fmla="*/ 9 h 14"/>
                <a:gd name="T12" fmla="*/ 121 w 204"/>
                <a:gd name="T13" fmla="*/ 11 h 14"/>
                <a:gd name="T14" fmla="*/ 93 w 204"/>
                <a:gd name="T15" fmla="*/ 11 h 14"/>
                <a:gd name="T16" fmla="*/ 64 w 204"/>
                <a:gd name="T17" fmla="*/ 12 h 14"/>
                <a:gd name="T18" fmla="*/ 33 w 204"/>
                <a:gd name="T19" fmla="*/ 14 h 14"/>
                <a:gd name="T20" fmla="*/ 0 w 204"/>
                <a:gd name="T21" fmla="*/ 14 h 14"/>
                <a:gd name="T22" fmla="*/ 0 w 204"/>
                <a:gd name="T23" fmla="*/ 12 h 14"/>
                <a:gd name="T24" fmla="*/ 32 w 204"/>
                <a:gd name="T25" fmla="*/ 12 h 14"/>
                <a:gd name="T26" fmla="*/ 63 w 204"/>
                <a:gd name="T27" fmla="*/ 12 h 14"/>
                <a:gd name="T28" fmla="*/ 90 w 204"/>
                <a:gd name="T29" fmla="*/ 11 h 14"/>
                <a:gd name="T30" fmla="*/ 117 w 204"/>
                <a:gd name="T31" fmla="*/ 10 h 14"/>
                <a:gd name="T32" fmla="*/ 141 w 204"/>
                <a:gd name="T33" fmla="*/ 9 h 14"/>
                <a:gd name="T34" fmla="*/ 161 w 204"/>
                <a:gd name="T35" fmla="*/ 7 h 14"/>
                <a:gd name="T36" fmla="*/ 178 w 204"/>
                <a:gd name="T37" fmla="*/ 5 h 14"/>
                <a:gd name="T38" fmla="*/ 189 w 204"/>
                <a:gd name="T39" fmla="*/ 4 h 14"/>
                <a:gd name="T40" fmla="*/ 197 w 204"/>
                <a:gd name="T41" fmla="*/ 1 h 14"/>
                <a:gd name="T42" fmla="*/ 199 w 204"/>
                <a:gd name="T43" fmla="*/ 0 h 14"/>
                <a:gd name="T44" fmla="*/ 204 w 204"/>
                <a:gd name="T45" fmla="*/ 0 h 1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4" h="14">
                  <a:moveTo>
                    <a:pt x="204" y="0"/>
                  </a:move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63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8" name="Freeform 311"/>
            <p:cNvSpPr/>
            <p:nvPr/>
          </p:nvSpPr>
          <p:spPr bwMode="auto">
            <a:xfrm>
              <a:off x="2903" y="2842"/>
              <a:ext cx="199" cy="12"/>
            </a:xfrm>
            <a:custGeom>
              <a:avLst/>
              <a:gdLst>
                <a:gd name="T0" fmla="*/ 0 w 199"/>
                <a:gd name="T1" fmla="*/ 12 h 12"/>
                <a:gd name="T2" fmla="*/ 32 w 199"/>
                <a:gd name="T3" fmla="*/ 12 h 12"/>
                <a:gd name="T4" fmla="*/ 63 w 199"/>
                <a:gd name="T5" fmla="*/ 12 h 12"/>
                <a:gd name="T6" fmla="*/ 90 w 199"/>
                <a:gd name="T7" fmla="*/ 11 h 12"/>
                <a:gd name="T8" fmla="*/ 117 w 199"/>
                <a:gd name="T9" fmla="*/ 10 h 12"/>
                <a:gd name="T10" fmla="*/ 141 w 199"/>
                <a:gd name="T11" fmla="*/ 9 h 12"/>
                <a:gd name="T12" fmla="*/ 161 w 199"/>
                <a:gd name="T13" fmla="*/ 7 h 12"/>
                <a:gd name="T14" fmla="*/ 178 w 199"/>
                <a:gd name="T15" fmla="*/ 5 h 12"/>
                <a:gd name="T16" fmla="*/ 189 w 199"/>
                <a:gd name="T17" fmla="*/ 4 h 12"/>
                <a:gd name="T18" fmla="*/ 197 w 199"/>
                <a:gd name="T19" fmla="*/ 1 h 12"/>
                <a:gd name="T20" fmla="*/ 199 w 199"/>
                <a:gd name="T21" fmla="*/ 0 h 12"/>
                <a:gd name="T22" fmla="*/ 193 w 199"/>
                <a:gd name="T23" fmla="*/ 0 h 12"/>
                <a:gd name="T24" fmla="*/ 190 w 199"/>
                <a:gd name="T25" fmla="*/ 1 h 12"/>
                <a:gd name="T26" fmla="*/ 184 w 199"/>
                <a:gd name="T27" fmla="*/ 4 h 12"/>
                <a:gd name="T28" fmla="*/ 173 w 199"/>
                <a:gd name="T29" fmla="*/ 5 h 12"/>
                <a:gd name="T30" fmla="*/ 156 w 199"/>
                <a:gd name="T31" fmla="*/ 7 h 12"/>
                <a:gd name="T32" fmla="*/ 137 w 199"/>
                <a:gd name="T33" fmla="*/ 9 h 12"/>
                <a:gd name="T34" fmla="*/ 114 w 199"/>
                <a:gd name="T35" fmla="*/ 10 h 12"/>
                <a:gd name="T36" fmla="*/ 88 w 199"/>
                <a:gd name="T37" fmla="*/ 11 h 12"/>
                <a:gd name="T38" fmla="*/ 60 w 199"/>
                <a:gd name="T39" fmla="*/ 12 h 12"/>
                <a:gd name="T40" fmla="*/ 31 w 199"/>
                <a:gd name="T41" fmla="*/ 12 h 12"/>
                <a:gd name="T42" fmla="*/ 0 w 199"/>
                <a:gd name="T43" fmla="*/ 12 h 12"/>
                <a:gd name="T44" fmla="*/ 0 w 199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9" h="12">
                  <a:moveTo>
                    <a:pt x="0" y="12"/>
                  </a:moveTo>
                  <a:lnTo>
                    <a:pt x="32" y="12"/>
                  </a:lnTo>
                  <a:lnTo>
                    <a:pt x="63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193" y="0"/>
                  </a:ln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49" name="Freeform 312"/>
            <p:cNvSpPr/>
            <p:nvPr/>
          </p:nvSpPr>
          <p:spPr bwMode="auto">
            <a:xfrm>
              <a:off x="2903" y="2842"/>
              <a:ext cx="193" cy="12"/>
            </a:xfrm>
            <a:custGeom>
              <a:avLst/>
              <a:gdLst>
                <a:gd name="T0" fmla="*/ 193 w 193"/>
                <a:gd name="T1" fmla="*/ 0 h 12"/>
                <a:gd name="T2" fmla="*/ 190 w 193"/>
                <a:gd name="T3" fmla="*/ 1 h 12"/>
                <a:gd name="T4" fmla="*/ 184 w 193"/>
                <a:gd name="T5" fmla="*/ 4 h 12"/>
                <a:gd name="T6" fmla="*/ 173 w 193"/>
                <a:gd name="T7" fmla="*/ 5 h 12"/>
                <a:gd name="T8" fmla="*/ 156 w 193"/>
                <a:gd name="T9" fmla="*/ 7 h 12"/>
                <a:gd name="T10" fmla="*/ 137 w 193"/>
                <a:gd name="T11" fmla="*/ 9 h 12"/>
                <a:gd name="T12" fmla="*/ 114 w 193"/>
                <a:gd name="T13" fmla="*/ 10 h 12"/>
                <a:gd name="T14" fmla="*/ 88 w 193"/>
                <a:gd name="T15" fmla="*/ 11 h 12"/>
                <a:gd name="T16" fmla="*/ 60 w 193"/>
                <a:gd name="T17" fmla="*/ 12 h 12"/>
                <a:gd name="T18" fmla="*/ 31 w 193"/>
                <a:gd name="T19" fmla="*/ 12 h 12"/>
                <a:gd name="T20" fmla="*/ 0 w 193"/>
                <a:gd name="T21" fmla="*/ 12 h 12"/>
                <a:gd name="T22" fmla="*/ 0 w 193"/>
                <a:gd name="T23" fmla="*/ 12 h 12"/>
                <a:gd name="T24" fmla="*/ 30 w 193"/>
                <a:gd name="T25" fmla="*/ 12 h 12"/>
                <a:gd name="T26" fmla="*/ 59 w 193"/>
                <a:gd name="T27" fmla="*/ 11 h 12"/>
                <a:gd name="T28" fmla="*/ 85 w 193"/>
                <a:gd name="T29" fmla="*/ 11 h 12"/>
                <a:gd name="T30" fmla="*/ 111 w 193"/>
                <a:gd name="T31" fmla="*/ 10 h 12"/>
                <a:gd name="T32" fmla="*/ 132 w 193"/>
                <a:gd name="T33" fmla="*/ 9 h 12"/>
                <a:gd name="T34" fmla="*/ 151 w 193"/>
                <a:gd name="T35" fmla="*/ 7 h 12"/>
                <a:gd name="T36" fmla="*/ 166 w 193"/>
                <a:gd name="T37" fmla="*/ 5 h 12"/>
                <a:gd name="T38" fmla="*/ 178 w 193"/>
                <a:gd name="T39" fmla="*/ 4 h 12"/>
                <a:gd name="T40" fmla="*/ 185 w 193"/>
                <a:gd name="T41" fmla="*/ 1 h 12"/>
                <a:gd name="T42" fmla="*/ 187 w 193"/>
                <a:gd name="T43" fmla="*/ 0 h 12"/>
                <a:gd name="T44" fmla="*/ 193 w 193"/>
                <a:gd name="T45" fmla="*/ 0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3" h="12">
                  <a:moveTo>
                    <a:pt x="193" y="0"/>
                  </a:move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0" name="Freeform 313"/>
            <p:cNvSpPr/>
            <p:nvPr/>
          </p:nvSpPr>
          <p:spPr bwMode="auto">
            <a:xfrm>
              <a:off x="2903" y="2842"/>
              <a:ext cx="187" cy="12"/>
            </a:xfrm>
            <a:custGeom>
              <a:avLst/>
              <a:gdLst>
                <a:gd name="T0" fmla="*/ 0 w 187"/>
                <a:gd name="T1" fmla="*/ 12 h 12"/>
                <a:gd name="T2" fmla="*/ 30 w 187"/>
                <a:gd name="T3" fmla="*/ 12 h 12"/>
                <a:gd name="T4" fmla="*/ 59 w 187"/>
                <a:gd name="T5" fmla="*/ 11 h 12"/>
                <a:gd name="T6" fmla="*/ 85 w 187"/>
                <a:gd name="T7" fmla="*/ 11 h 12"/>
                <a:gd name="T8" fmla="*/ 111 w 187"/>
                <a:gd name="T9" fmla="*/ 10 h 12"/>
                <a:gd name="T10" fmla="*/ 132 w 187"/>
                <a:gd name="T11" fmla="*/ 9 h 12"/>
                <a:gd name="T12" fmla="*/ 151 w 187"/>
                <a:gd name="T13" fmla="*/ 7 h 12"/>
                <a:gd name="T14" fmla="*/ 166 w 187"/>
                <a:gd name="T15" fmla="*/ 5 h 12"/>
                <a:gd name="T16" fmla="*/ 178 w 187"/>
                <a:gd name="T17" fmla="*/ 4 h 12"/>
                <a:gd name="T18" fmla="*/ 185 w 187"/>
                <a:gd name="T19" fmla="*/ 1 h 12"/>
                <a:gd name="T20" fmla="*/ 187 w 187"/>
                <a:gd name="T21" fmla="*/ 0 h 12"/>
                <a:gd name="T22" fmla="*/ 180 w 187"/>
                <a:gd name="T23" fmla="*/ 0 h 12"/>
                <a:gd name="T24" fmla="*/ 179 w 187"/>
                <a:gd name="T25" fmla="*/ 1 h 12"/>
                <a:gd name="T26" fmla="*/ 171 w 187"/>
                <a:gd name="T27" fmla="*/ 4 h 12"/>
                <a:gd name="T28" fmla="*/ 161 w 187"/>
                <a:gd name="T29" fmla="*/ 5 h 12"/>
                <a:gd name="T30" fmla="*/ 146 w 187"/>
                <a:gd name="T31" fmla="*/ 6 h 12"/>
                <a:gd name="T32" fmla="*/ 128 w 187"/>
                <a:gd name="T33" fmla="*/ 7 h 12"/>
                <a:gd name="T34" fmla="*/ 107 w 187"/>
                <a:gd name="T35" fmla="*/ 9 h 12"/>
                <a:gd name="T36" fmla="*/ 83 w 187"/>
                <a:gd name="T37" fmla="*/ 10 h 12"/>
                <a:gd name="T38" fmla="*/ 56 w 187"/>
                <a:gd name="T39" fmla="*/ 11 h 12"/>
                <a:gd name="T40" fmla="*/ 30 w 187"/>
                <a:gd name="T41" fmla="*/ 11 h 12"/>
                <a:gd name="T42" fmla="*/ 0 w 187"/>
                <a:gd name="T43" fmla="*/ 11 h 12"/>
                <a:gd name="T44" fmla="*/ 0 w 187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7" h="12">
                  <a:moveTo>
                    <a:pt x="0" y="12"/>
                  </a:move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80" y="0"/>
                  </a:ln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1" name="Freeform 314"/>
            <p:cNvSpPr/>
            <p:nvPr/>
          </p:nvSpPr>
          <p:spPr bwMode="auto">
            <a:xfrm>
              <a:off x="2903" y="2842"/>
              <a:ext cx="180" cy="11"/>
            </a:xfrm>
            <a:custGeom>
              <a:avLst/>
              <a:gdLst>
                <a:gd name="T0" fmla="*/ 180 w 180"/>
                <a:gd name="T1" fmla="*/ 0 h 11"/>
                <a:gd name="T2" fmla="*/ 179 w 180"/>
                <a:gd name="T3" fmla="*/ 1 h 11"/>
                <a:gd name="T4" fmla="*/ 171 w 180"/>
                <a:gd name="T5" fmla="*/ 4 h 11"/>
                <a:gd name="T6" fmla="*/ 161 w 180"/>
                <a:gd name="T7" fmla="*/ 5 h 11"/>
                <a:gd name="T8" fmla="*/ 146 w 180"/>
                <a:gd name="T9" fmla="*/ 6 h 11"/>
                <a:gd name="T10" fmla="*/ 128 w 180"/>
                <a:gd name="T11" fmla="*/ 7 h 11"/>
                <a:gd name="T12" fmla="*/ 107 w 180"/>
                <a:gd name="T13" fmla="*/ 9 h 11"/>
                <a:gd name="T14" fmla="*/ 83 w 180"/>
                <a:gd name="T15" fmla="*/ 10 h 11"/>
                <a:gd name="T16" fmla="*/ 56 w 180"/>
                <a:gd name="T17" fmla="*/ 11 h 11"/>
                <a:gd name="T18" fmla="*/ 30 w 180"/>
                <a:gd name="T19" fmla="*/ 11 h 11"/>
                <a:gd name="T20" fmla="*/ 0 w 180"/>
                <a:gd name="T21" fmla="*/ 11 h 11"/>
                <a:gd name="T22" fmla="*/ 0 w 180"/>
                <a:gd name="T23" fmla="*/ 11 h 11"/>
                <a:gd name="T24" fmla="*/ 28 w 180"/>
                <a:gd name="T25" fmla="*/ 11 h 11"/>
                <a:gd name="T26" fmla="*/ 55 w 180"/>
                <a:gd name="T27" fmla="*/ 11 h 11"/>
                <a:gd name="T28" fmla="*/ 79 w 180"/>
                <a:gd name="T29" fmla="*/ 10 h 11"/>
                <a:gd name="T30" fmla="*/ 103 w 180"/>
                <a:gd name="T31" fmla="*/ 9 h 11"/>
                <a:gd name="T32" fmla="*/ 123 w 180"/>
                <a:gd name="T33" fmla="*/ 7 h 11"/>
                <a:gd name="T34" fmla="*/ 141 w 180"/>
                <a:gd name="T35" fmla="*/ 6 h 11"/>
                <a:gd name="T36" fmla="*/ 155 w 180"/>
                <a:gd name="T37" fmla="*/ 5 h 11"/>
                <a:gd name="T38" fmla="*/ 165 w 180"/>
                <a:gd name="T39" fmla="*/ 2 h 11"/>
                <a:gd name="T40" fmla="*/ 171 w 180"/>
                <a:gd name="T41" fmla="*/ 1 h 11"/>
                <a:gd name="T42" fmla="*/ 174 w 180"/>
                <a:gd name="T43" fmla="*/ 0 h 11"/>
                <a:gd name="T44" fmla="*/ 180 w 180"/>
                <a:gd name="T45" fmla="*/ 0 h 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0" h="11">
                  <a:moveTo>
                    <a:pt x="180" y="0"/>
                  </a:move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2" name="Freeform 315"/>
            <p:cNvSpPr/>
            <p:nvPr/>
          </p:nvSpPr>
          <p:spPr bwMode="auto">
            <a:xfrm>
              <a:off x="2903" y="2842"/>
              <a:ext cx="174" cy="11"/>
            </a:xfrm>
            <a:custGeom>
              <a:avLst/>
              <a:gdLst>
                <a:gd name="T0" fmla="*/ 0 w 174"/>
                <a:gd name="T1" fmla="*/ 11 h 11"/>
                <a:gd name="T2" fmla="*/ 28 w 174"/>
                <a:gd name="T3" fmla="*/ 11 h 11"/>
                <a:gd name="T4" fmla="*/ 55 w 174"/>
                <a:gd name="T5" fmla="*/ 11 h 11"/>
                <a:gd name="T6" fmla="*/ 79 w 174"/>
                <a:gd name="T7" fmla="*/ 10 h 11"/>
                <a:gd name="T8" fmla="*/ 103 w 174"/>
                <a:gd name="T9" fmla="*/ 9 h 11"/>
                <a:gd name="T10" fmla="*/ 123 w 174"/>
                <a:gd name="T11" fmla="*/ 7 h 11"/>
                <a:gd name="T12" fmla="*/ 141 w 174"/>
                <a:gd name="T13" fmla="*/ 6 h 11"/>
                <a:gd name="T14" fmla="*/ 155 w 174"/>
                <a:gd name="T15" fmla="*/ 5 h 11"/>
                <a:gd name="T16" fmla="*/ 165 w 174"/>
                <a:gd name="T17" fmla="*/ 2 h 11"/>
                <a:gd name="T18" fmla="*/ 171 w 174"/>
                <a:gd name="T19" fmla="*/ 1 h 11"/>
                <a:gd name="T20" fmla="*/ 174 w 174"/>
                <a:gd name="T21" fmla="*/ 0 h 11"/>
                <a:gd name="T22" fmla="*/ 166 w 174"/>
                <a:gd name="T23" fmla="*/ 0 h 11"/>
                <a:gd name="T24" fmla="*/ 164 w 174"/>
                <a:gd name="T25" fmla="*/ 1 h 11"/>
                <a:gd name="T26" fmla="*/ 156 w 174"/>
                <a:gd name="T27" fmla="*/ 4 h 11"/>
                <a:gd name="T28" fmla="*/ 145 w 174"/>
                <a:gd name="T29" fmla="*/ 5 h 11"/>
                <a:gd name="T30" fmla="*/ 128 w 174"/>
                <a:gd name="T31" fmla="*/ 6 h 11"/>
                <a:gd name="T32" fmla="*/ 108 w 174"/>
                <a:gd name="T33" fmla="*/ 7 h 11"/>
                <a:gd name="T34" fmla="*/ 84 w 174"/>
                <a:gd name="T35" fmla="*/ 9 h 11"/>
                <a:gd name="T36" fmla="*/ 57 w 174"/>
                <a:gd name="T37" fmla="*/ 10 h 11"/>
                <a:gd name="T38" fmla="*/ 30 w 174"/>
                <a:gd name="T39" fmla="*/ 10 h 11"/>
                <a:gd name="T40" fmla="*/ 0 w 174"/>
                <a:gd name="T41" fmla="*/ 11 h 11"/>
                <a:gd name="T42" fmla="*/ 0 w 174"/>
                <a:gd name="T43" fmla="*/ 11 h 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1">
                  <a:moveTo>
                    <a:pt x="0" y="11"/>
                  </a:move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66" y="0"/>
                  </a:ln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3" name="Freeform 316"/>
            <p:cNvSpPr/>
            <p:nvPr/>
          </p:nvSpPr>
          <p:spPr bwMode="auto">
            <a:xfrm>
              <a:off x="2903" y="2842"/>
              <a:ext cx="166" cy="11"/>
            </a:xfrm>
            <a:custGeom>
              <a:avLst/>
              <a:gdLst>
                <a:gd name="T0" fmla="*/ 166 w 166"/>
                <a:gd name="T1" fmla="*/ 0 h 11"/>
                <a:gd name="T2" fmla="*/ 164 w 166"/>
                <a:gd name="T3" fmla="*/ 1 h 11"/>
                <a:gd name="T4" fmla="*/ 156 w 166"/>
                <a:gd name="T5" fmla="*/ 4 h 11"/>
                <a:gd name="T6" fmla="*/ 145 w 166"/>
                <a:gd name="T7" fmla="*/ 5 h 11"/>
                <a:gd name="T8" fmla="*/ 128 w 166"/>
                <a:gd name="T9" fmla="*/ 6 h 11"/>
                <a:gd name="T10" fmla="*/ 108 w 166"/>
                <a:gd name="T11" fmla="*/ 7 h 11"/>
                <a:gd name="T12" fmla="*/ 84 w 166"/>
                <a:gd name="T13" fmla="*/ 9 h 11"/>
                <a:gd name="T14" fmla="*/ 57 w 166"/>
                <a:gd name="T15" fmla="*/ 10 h 11"/>
                <a:gd name="T16" fmla="*/ 30 w 166"/>
                <a:gd name="T17" fmla="*/ 10 h 11"/>
                <a:gd name="T18" fmla="*/ 0 w 166"/>
                <a:gd name="T19" fmla="*/ 11 h 11"/>
                <a:gd name="T20" fmla="*/ 0 w 166"/>
                <a:gd name="T21" fmla="*/ 10 h 11"/>
                <a:gd name="T22" fmla="*/ 28 w 166"/>
                <a:gd name="T23" fmla="*/ 10 h 11"/>
                <a:gd name="T24" fmla="*/ 55 w 166"/>
                <a:gd name="T25" fmla="*/ 10 h 11"/>
                <a:gd name="T26" fmla="*/ 80 w 166"/>
                <a:gd name="T27" fmla="*/ 9 h 11"/>
                <a:gd name="T28" fmla="*/ 103 w 166"/>
                <a:gd name="T29" fmla="*/ 7 h 11"/>
                <a:gd name="T30" fmla="*/ 122 w 166"/>
                <a:gd name="T31" fmla="*/ 6 h 11"/>
                <a:gd name="T32" fmla="*/ 139 w 166"/>
                <a:gd name="T33" fmla="*/ 5 h 11"/>
                <a:gd name="T34" fmla="*/ 150 w 166"/>
                <a:gd name="T35" fmla="*/ 2 h 11"/>
                <a:gd name="T36" fmla="*/ 158 w 166"/>
                <a:gd name="T37" fmla="*/ 1 h 11"/>
                <a:gd name="T38" fmla="*/ 159 w 166"/>
                <a:gd name="T39" fmla="*/ 0 h 11"/>
                <a:gd name="T40" fmla="*/ 166 w 166"/>
                <a:gd name="T41" fmla="*/ 0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6" h="11">
                  <a:moveTo>
                    <a:pt x="166" y="0"/>
                  </a:move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9" y="5"/>
                  </a:lnTo>
                  <a:lnTo>
                    <a:pt x="150" y="2"/>
                  </a:lnTo>
                  <a:lnTo>
                    <a:pt x="158" y="1"/>
                  </a:lnTo>
                  <a:lnTo>
                    <a:pt x="15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4" name="Freeform 317"/>
            <p:cNvSpPr/>
            <p:nvPr/>
          </p:nvSpPr>
          <p:spPr bwMode="auto">
            <a:xfrm>
              <a:off x="2903" y="2842"/>
              <a:ext cx="159" cy="10"/>
            </a:xfrm>
            <a:custGeom>
              <a:avLst/>
              <a:gdLst>
                <a:gd name="T0" fmla="*/ 0 w 159"/>
                <a:gd name="T1" fmla="*/ 10 h 10"/>
                <a:gd name="T2" fmla="*/ 28 w 159"/>
                <a:gd name="T3" fmla="*/ 10 h 10"/>
                <a:gd name="T4" fmla="*/ 55 w 159"/>
                <a:gd name="T5" fmla="*/ 10 h 10"/>
                <a:gd name="T6" fmla="*/ 80 w 159"/>
                <a:gd name="T7" fmla="*/ 9 h 10"/>
                <a:gd name="T8" fmla="*/ 103 w 159"/>
                <a:gd name="T9" fmla="*/ 7 h 10"/>
                <a:gd name="T10" fmla="*/ 122 w 159"/>
                <a:gd name="T11" fmla="*/ 6 h 10"/>
                <a:gd name="T12" fmla="*/ 139 w 159"/>
                <a:gd name="T13" fmla="*/ 5 h 10"/>
                <a:gd name="T14" fmla="*/ 150 w 159"/>
                <a:gd name="T15" fmla="*/ 2 h 10"/>
                <a:gd name="T16" fmla="*/ 158 w 159"/>
                <a:gd name="T17" fmla="*/ 1 h 10"/>
                <a:gd name="T18" fmla="*/ 159 w 159"/>
                <a:gd name="T19" fmla="*/ 0 h 10"/>
                <a:gd name="T20" fmla="*/ 151 w 159"/>
                <a:gd name="T21" fmla="*/ 0 h 10"/>
                <a:gd name="T22" fmla="*/ 149 w 159"/>
                <a:gd name="T23" fmla="*/ 1 h 10"/>
                <a:gd name="T24" fmla="*/ 142 w 159"/>
                <a:gd name="T25" fmla="*/ 2 h 10"/>
                <a:gd name="T26" fmla="*/ 131 w 159"/>
                <a:gd name="T27" fmla="*/ 5 h 10"/>
                <a:gd name="T28" fmla="*/ 116 w 159"/>
                <a:gd name="T29" fmla="*/ 6 h 10"/>
                <a:gd name="T30" fmla="*/ 98 w 159"/>
                <a:gd name="T31" fmla="*/ 7 h 10"/>
                <a:gd name="T32" fmla="*/ 76 w 159"/>
                <a:gd name="T33" fmla="*/ 9 h 10"/>
                <a:gd name="T34" fmla="*/ 52 w 159"/>
                <a:gd name="T35" fmla="*/ 9 h 10"/>
                <a:gd name="T36" fmla="*/ 27 w 159"/>
                <a:gd name="T37" fmla="*/ 10 h 10"/>
                <a:gd name="T38" fmla="*/ 0 w 159"/>
                <a:gd name="T39" fmla="*/ 10 h 10"/>
                <a:gd name="T40" fmla="*/ 0 w 159"/>
                <a:gd name="T41" fmla="*/ 1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9" h="10">
                  <a:moveTo>
                    <a:pt x="0" y="10"/>
                  </a:move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9" y="5"/>
                  </a:lnTo>
                  <a:lnTo>
                    <a:pt x="150" y="2"/>
                  </a:lnTo>
                  <a:lnTo>
                    <a:pt x="158" y="1"/>
                  </a:lnTo>
                  <a:lnTo>
                    <a:pt x="159" y="0"/>
                  </a:lnTo>
                  <a:lnTo>
                    <a:pt x="151" y="0"/>
                  </a:ln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5" name="Freeform 318"/>
            <p:cNvSpPr/>
            <p:nvPr/>
          </p:nvSpPr>
          <p:spPr bwMode="auto">
            <a:xfrm>
              <a:off x="2903" y="2842"/>
              <a:ext cx="151" cy="10"/>
            </a:xfrm>
            <a:custGeom>
              <a:avLst/>
              <a:gdLst>
                <a:gd name="T0" fmla="*/ 151 w 151"/>
                <a:gd name="T1" fmla="*/ 0 h 10"/>
                <a:gd name="T2" fmla="*/ 149 w 151"/>
                <a:gd name="T3" fmla="*/ 1 h 10"/>
                <a:gd name="T4" fmla="*/ 142 w 151"/>
                <a:gd name="T5" fmla="*/ 2 h 10"/>
                <a:gd name="T6" fmla="*/ 131 w 151"/>
                <a:gd name="T7" fmla="*/ 5 h 10"/>
                <a:gd name="T8" fmla="*/ 116 w 151"/>
                <a:gd name="T9" fmla="*/ 6 h 10"/>
                <a:gd name="T10" fmla="*/ 98 w 151"/>
                <a:gd name="T11" fmla="*/ 7 h 10"/>
                <a:gd name="T12" fmla="*/ 76 w 151"/>
                <a:gd name="T13" fmla="*/ 9 h 10"/>
                <a:gd name="T14" fmla="*/ 52 w 151"/>
                <a:gd name="T15" fmla="*/ 9 h 10"/>
                <a:gd name="T16" fmla="*/ 27 w 151"/>
                <a:gd name="T17" fmla="*/ 10 h 10"/>
                <a:gd name="T18" fmla="*/ 0 w 151"/>
                <a:gd name="T19" fmla="*/ 10 h 10"/>
                <a:gd name="T20" fmla="*/ 0 w 151"/>
                <a:gd name="T21" fmla="*/ 9 h 10"/>
                <a:gd name="T22" fmla="*/ 26 w 151"/>
                <a:gd name="T23" fmla="*/ 9 h 10"/>
                <a:gd name="T24" fmla="*/ 50 w 151"/>
                <a:gd name="T25" fmla="*/ 9 h 10"/>
                <a:gd name="T26" fmla="*/ 71 w 151"/>
                <a:gd name="T27" fmla="*/ 7 h 10"/>
                <a:gd name="T28" fmla="*/ 92 w 151"/>
                <a:gd name="T29" fmla="*/ 6 h 10"/>
                <a:gd name="T30" fmla="*/ 109 w 151"/>
                <a:gd name="T31" fmla="*/ 6 h 10"/>
                <a:gd name="T32" fmla="*/ 125 w 151"/>
                <a:gd name="T33" fmla="*/ 4 h 10"/>
                <a:gd name="T34" fmla="*/ 135 w 151"/>
                <a:gd name="T35" fmla="*/ 2 h 10"/>
                <a:gd name="T36" fmla="*/ 141 w 151"/>
                <a:gd name="T37" fmla="*/ 1 h 10"/>
                <a:gd name="T38" fmla="*/ 144 w 151"/>
                <a:gd name="T39" fmla="*/ 0 h 10"/>
                <a:gd name="T40" fmla="*/ 151 w 151"/>
                <a:gd name="T41" fmla="*/ 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1" h="10">
                  <a:moveTo>
                    <a:pt x="151" y="0"/>
                  </a:move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26" y="9"/>
                  </a:lnTo>
                  <a:lnTo>
                    <a:pt x="50" y="9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6" name="Freeform 319"/>
            <p:cNvSpPr/>
            <p:nvPr/>
          </p:nvSpPr>
          <p:spPr bwMode="auto">
            <a:xfrm>
              <a:off x="2903" y="2842"/>
              <a:ext cx="144" cy="9"/>
            </a:xfrm>
            <a:custGeom>
              <a:avLst/>
              <a:gdLst>
                <a:gd name="T0" fmla="*/ 0 w 144"/>
                <a:gd name="T1" fmla="*/ 9 h 9"/>
                <a:gd name="T2" fmla="*/ 26 w 144"/>
                <a:gd name="T3" fmla="*/ 9 h 9"/>
                <a:gd name="T4" fmla="*/ 50 w 144"/>
                <a:gd name="T5" fmla="*/ 9 h 9"/>
                <a:gd name="T6" fmla="*/ 71 w 144"/>
                <a:gd name="T7" fmla="*/ 7 h 9"/>
                <a:gd name="T8" fmla="*/ 92 w 144"/>
                <a:gd name="T9" fmla="*/ 6 h 9"/>
                <a:gd name="T10" fmla="*/ 109 w 144"/>
                <a:gd name="T11" fmla="*/ 6 h 9"/>
                <a:gd name="T12" fmla="*/ 125 w 144"/>
                <a:gd name="T13" fmla="*/ 4 h 9"/>
                <a:gd name="T14" fmla="*/ 135 w 144"/>
                <a:gd name="T15" fmla="*/ 2 h 9"/>
                <a:gd name="T16" fmla="*/ 141 w 144"/>
                <a:gd name="T17" fmla="*/ 1 h 9"/>
                <a:gd name="T18" fmla="*/ 144 w 144"/>
                <a:gd name="T19" fmla="*/ 0 h 9"/>
                <a:gd name="T20" fmla="*/ 133 w 144"/>
                <a:gd name="T21" fmla="*/ 0 h 9"/>
                <a:gd name="T22" fmla="*/ 132 w 144"/>
                <a:gd name="T23" fmla="*/ 1 h 9"/>
                <a:gd name="T24" fmla="*/ 126 w 144"/>
                <a:gd name="T25" fmla="*/ 2 h 9"/>
                <a:gd name="T26" fmla="*/ 116 w 144"/>
                <a:gd name="T27" fmla="*/ 4 h 9"/>
                <a:gd name="T28" fmla="*/ 103 w 144"/>
                <a:gd name="T29" fmla="*/ 5 h 9"/>
                <a:gd name="T30" fmla="*/ 87 w 144"/>
                <a:gd name="T31" fmla="*/ 6 h 9"/>
                <a:gd name="T32" fmla="*/ 68 w 144"/>
                <a:gd name="T33" fmla="*/ 7 h 9"/>
                <a:gd name="T34" fmla="*/ 46 w 144"/>
                <a:gd name="T35" fmla="*/ 7 h 9"/>
                <a:gd name="T36" fmla="*/ 25 w 144"/>
                <a:gd name="T37" fmla="*/ 9 h 9"/>
                <a:gd name="T38" fmla="*/ 0 w 144"/>
                <a:gd name="T39" fmla="*/ 9 h 9"/>
                <a:gd name="T40" fmla="*/ 0 w 144"/>
                <a:gd name="T41" fmla="*/ 9 h 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4" h="9">
                  <a:moveTo>
                    <a:pt x="0" y="9"/>
                  </a:moveTo>
                  <a:lnTo>
                    <a:pt x="26" y="9"/>
                  </a:lnTo>
                  <a:lnTo>
                    <a:pt x="50" y="9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33" y="0"/>
                  </a:ln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5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7" name="Freeform 320"/>
            <p:cNvSpPr/>
            <p:nvPr/>
          </p:nvSpPr>
          <p:spPr bwMode="auto">
            <a:xfrm>
              <a:off x="2903" y="2842"/>
              <a:ext cx="133" cy="9"/>
            </a:xfrm>
            <a:custGeom>
              <a:avLst/>
              <a:gdLst>
                <a:gd name="T0" fmla="*/ 133 w 133"/>
                <a:gd name="T1" fmla="*/ 0 h 9"/>
                <a:gd name="T2" fmla="*/ 132 w 133"/>
                <a:gd name="T3" fmla="*/ 1 h 9"/>
                <a:gd name="T4" fmla="*/ 126 w 133"/>
                <a:gd name="T5" fmla="*/ 2 h 9"/>
                <a:gd name="T6" fmla="*/ 116 w 133"/>
                <a:gd name="T7" fmla="*/ 4 h 9"/>
                <a:gd name="T8" fmla="*/ 103 w 133"/>
                <a:gd name="T9" fmla="*/ 5 h 9"/>
                <a:gd name="T10" fmla="*/ 87 w 133"/>
                <a:gd name="T11" fmla="*/ 6 h 9"/>
                <a:gd name="T12" fmla="*/ 68 w 133"/>
                <a:gd name="T13" fmla="*/ 7 h 9"/>
                <a:gd name="T14" fmla="*/ 46 w 133"/>
                <a:gd name="T15" fmla="*/ 7 h 9"/>
                <a:gd name="T16" fmla="*/ 25 w 133"/>
                <a:gd name="T17" fmla="*/ 9 h 9"/>
                <a:gd name="T18" fmla="*/ 0 w 133"/>
                <a:gd name="T19" fmla="*/ 9 h 9"/>
                <a:gd name="T20" fmla="*/ 0 w 133"/>
                <a:gd name="T21" fmla="*/ 7 h 9"/>
                <a:gd name="T22" fmla="*/ 25 w 133"/>
                <a:gd name="T23" fmla="*/ 7 h 9"/>
                <a:gd name="T24" fmla="*/ 49 w 133"/>
                <a:gd name="T25" fmla="*/ 7 h 9"/>
                <a:gd name="T26" fmla="*/ 70 w 133"/>
                <a:gd name="T27" fmla="*/ 6 h 9"/>
                <a:gd name="T28" fmla="*/ 88 w 133"/>
                <a:gd name="T29" fmla="*/ 5 h 9"/>
                <a:gd name="T30" fmla="*/ 104 w 133"/>
                <a:gd name="T31" fmla="*/ 4 h 9"/>
                <a:gd name="T32" fmla="*/ 116 w 133"/>
                <a:gd name="T33" fmla="*/ 2 h 9"/>
                <a:gd name="T34" fmla="*/ 122 w 133"/>
                <a:gd name="T35" fmla="*/ 1 h 9"/>
                <a:gd name="T36" fmla="*/ 125 w 133"/>
                <a:gd name="T37" fmla="*/ 0 h 9"/>
                <a:gd name="T38" fmla="*/ 133 w 133"/>
                <a:gd name="T39" fmla="*/ 0 h 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3" h="9">
                  <a:moveTo>
                    <a:pt x="133" y="0"/>
                  </a:move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5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25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8" name="Freeform 321"/>
            <p:cNvSpPr/>
            <p:nvPr/>
          </p:nvSpPr>
          <p:spPr bwMode="auto">
            <a:xfrm>
              <a:off x="2903" y="2842"/>
              <a:ext cx="125" cy="7"/>
            </a:xfrm>
            <a:custGeom>
              <a:avLst/>
              <a:gdLst>
                <a:gd name="T0" fmla="*/ 0 w 125"/>
                <a:gd name="T1" fmla="*/ 7 h 7"/>
                <a:gd name="T2" fmla="*/ 25 w 125"/>
                <a:gd name="T3" fmla="*/ 7 h 7"/>
                <a:gd name="T4" fmla="*/ 49 w 125"/>
                <a:gd name="T5" fmla="*/ 7 h 7"/>
                <a:gd name="T6" fmla="*/ 70 w 125"/>
                <a:gd name="T7" fmla="*/ 6 h 7"/>
                <a:gd name="T8" fmla="*/ 88 w 125"/>
                <a:gd name="T9" fmla="*/ 5 h 7"/>
                <a:gd name="T10" fmla="*/ 104 w 125"/>
                <a:gd name="T11" fmla="*/ 4 h 7"/>
                <a:gd name="T12" fmla="*/ 116 w 125"/>
                <a:gd name="T13" fmla="*/ 2 h 7"/>
                <a:gd name="T14" fmla="*/ 122 w 125"/>
                <a:gd name="T15" fmla="*/ 1 h 7"/>
                <a:gd name="T16" fmla="*/ 125 w 125"/>
                <a:gd name="T17" fmla="*/ 0 h 7"/>
                <a:gd name="T18" fmla="*/ 114 w 125"/>
                <a:gd name="T19" fmla="*/ 0 h 7"/>
                <a:gd name="T20" fmla="*/ 112 w 125"/>
                <a:gd name="T21" fmla="*/ 1 h 7"/>
                <a:gd name="T22" fmla="*/ 106 w 125"/>
                <a:gd name="T23" fmla="*/ 2 h 7"/>
                <a:gd name="T24" fmla="*/ 95 w 125"/>
                <a:gd name="T25" fmla="*/ 4 h 7"/>
                <a:gd name="T26" fmla="*/ 82 w 125"/>
                <a:gd name="T27" fmla="*/ 5 h 7"/>
                <a:gd name="T28" fmla="*/ 64 w 125"/>
                <a:gd name="T29" fmla="*/ 6 h 7"/>
                <a:gd name="T30" fmla="*/ 45 w 125"/>
                <a:gd name="T31" fmla="*/ 6 h 7"/>
                <a:gd name="T32" fmla="*/ 23 w 125"/>
                <a:gd name="T33" fmla="*/ 7 h 7"/>
                <a:gd name="T34" fmla="*/ 0 w 125"/>
                <a:gd name="T35" fmla="*/ 7 h 7"/>
                <a:gd name="T36" fmla="*/ 0 w 125"/>
                <a:gd name="T37" fmla="*/ 7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5" h="7">
                  <a:moveTo>
                    <a:pt x="0" y="7"/>
                  </a:moveTo>
                  <a:lnTo>
                    <a:pt x="25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14" y="0"/>
                  </a:ln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2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59" name="Freeform 322"/>
            <p:cNvSpPr/>
            <p:nvPr/>
          </p:nvSpPr>
          <p:spPr bwMode="auto">
            <a:xfrm>
              <a:off x="2903" y="2842"/>
              <a:ext cx="114" cy="7"/>
            </a:xfrm>
            <a:custGeom>
              <a:avLst/>
              <a:gdLst>
                <a:gd name="T0" fmla="*/ 114 w 114"/>
                <a:gd name="T1" fmla="*/ 0 h 7"/>
                <a:gd name="T2" fmla="*/ 112 w 114"/>
                <a:gd name="T3" fmla="*/ 1 h 7"/>
                <a:gd name="T4" fmla="*/ 106 w 114"/>
                <a:gd name="T5" fmla="*/ 2 h 7"/>
                <a:gd name="T6" fmla="*/ 95 w 114"/>
                <a:gd name="T7" fmla="*/ 4 h 7"/>
                <a:gd name="T8" fmla="*/ 82 w 114"/>
                <a:gd name="T9" fmla="*/ 5 h 7"/>
                <a:gd name="T10" fmla="*/ 64 w 114"/>
                <a:gd name="T11" fmla="*/ 6 h 7"/>
                <a:gd name="T12" fmla="*/ 45 w 114"/>
                <a:gd name="T13" fmla="*/ 6 h 7"/>
                <a:gd name="T14" fmla="*/ 23 w 114"/>
                <a:gd name="T15" fmla="*/ 7 h 7"/>
                <a:gd name="T16" fmla="*/ 0 w 114"/>
                <a:gd name="T17" fmla="*/ 7 h 7"/>
                <a:gd name="T18" fmla="*/ 0 w 114"/>
                <a:gd name="T19" fmla="*/ 6 h 7"/>
                <a:gd name="T20" fmla="*/ 21 w 114"/>
                <a:gd name="T21" fmla="*/ 6 h 7"/>
                <a:gd name="T22" fmla="*/ 40 w 114"/>
                <a:gd name="T23" fmla="*/ 6 h 7"/>
                <a:gd name="T24" fmla="*/ 57 w 114"/>
                <a:gd name="T25" fmla="*/ 5 h 7"/>
                <a:gd name="T26" fmla="*/ 74 w 114"/>
                <a:gd name="T27" fmla="*/ 4 h 7"/>
                <a:gd name="T28" fmla="*/ 87 w 114"/>
                <a:gd name="T29" fmla="*/ 4 h 7"/>
                <a:gd name="T30" fmla="*/ 95 w 114"/>
                <a:gd name="T31" fmla="*/ 2 h 7"/>
                <a:gd name="T32" fmla="*/ 102 w 114"/>
                <a:gd name="T33" fmla="*/ 1 h 7"/>
                <a:gd name="T34" fmla="*/ 103 w 114"/>
                <a:gd name="T35" fmla="*/ 0 h 7"/>
                <a:gd name="T36" fmla="*/ 114 w 114"/>
                <a:gd name="T37" fmla="*/ 0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7">
                  <a:moveTo>
                    <a:pt x="114" y="0"/>
                  </a:move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2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0" name="Freeform 323"/>
            <p:cNvSpPr/>
            <p:nvPr/>
          </p:nvSpPr>
          <p:spPr bwMode="auto">
            <a:xfrm>
              <a:off x="2903" y="2842"/>
              <a:ext cx="103" cy="6"/>
            </a:xfrm>
            <a:custGeom>
              <a:avLst/>
              <a:gdLst>
                <a:gd name="T0" fmla="*/ 0 w 103"/>
                <a:gd name="T1" fmla="*/ 6 h 6"/>
                <a:gd name="T2" fmla="*/ 21 w 103"/>
                <a:gd name="T3" fmla="*/ 6 h 6"/>
                <a:gd name="T4" fmla="*/ 40 w 103"/>
                <a:gd name="T5" fmla="*/ 6 h 6"/>
                <a:gd name="T6" fmla="*/ 57 w 103"/>
                <a:gd name="T7" fmla="*/ 5 h 6"/>
                <a:gd name="T8" fmla="*/ 74 w 103"/>
                <a:gd name="T9" fmla="*/ 4 h 6"/>
                <a:gd name="T10" fmla="*/ 87 w 103"/>
                <a:gd name="T11" fmla="*/ 4 h 6"/>
                <a:gd name="T12" fmla="*/ 95 w 103"/>
                <a:gd name="T13" fmla="*/ 2 h 6"/>
                <a:gd name="T14" fmla="*/ 102 w 103"/>
                <a:gd name="T15" fmla="*/ 1 h 6"/>
                <a:gd name="T16" fmla="*/ 103 w 103"/>
                <a:gd name="T17" fmla="*/ 0 h 6"/>
                <a:gd name="T18" fmla="*/ 92 w 103"/>
                <a:gd name="T19" fmla="*/ 0 h 6"/>
                <a:gd name="T20" fmla="*/ 90 w 103"/>
                <a:gd name="T21" fmla="*/ 1 h 6"/>
                <a:gd name="T22" fmla="*/ 83 w 103"/>
                <a:gd name="T23" fmla="*/ 2 h 6"/>
                <a:gd name="T24" fmla="*/ 73 w 103"/>
                <a:gd name="T25" fmla="*/ 4 h 6"/>
                <a:gd name="T26" fmla="*/ 57 w 103"/>
                <a:gd name="T27" fmla="*/ 4 h 6"/>
                <a:gd name="T28" fmla="*/ 41 w 103"/>
                <a:gd name="T29" fmla="*/ 5 h 6"/>
                <a:gd name="T30" fmla="*/ 21 w 103"/>
                <a:gd name="T31" fmla="*/ 5 h 6"/>
                <a:gd name="T32" fmla="*/ 0 w 103"/>
                <a:gd name="T33" fmla="*/ 6 h 6"/>
                <a:gd name="T34" fmla="*/ 0 w 103"/>
                <a:gd name="T35" fmla="*/ 6 h 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" h="6">
                  <a:moveTo>
                    <a:pt x="0" y="6"/>
                  </a:move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92" y="0"/>
                  </a:ln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1" name="Freeform 324"/>
            <p:cNvSpPr/>
            <p:nvPr/>
          </p:nvSpPr>
          <p:spPr bwMode="auto">
            <a:xfrm>
              <a:off x="2903" y="2842"/>
              <a:ext cx="92" cy="6"/>
            </a:xfrm>
            <a:custGeom>
              <a:avLst/>
              <a:gdLst>
                <a:gd name="T0" fmla="*/ 92 w 92"/>
                <a:gd name="T1" fmla="*/ 0 h 6"/>
                <a:gd name="T2" fmla="*/ 90 w 92"/>
                <a:gd name="T3" fmla="*/ 1 h 6"/>
                <a:gd name="T4" fmla="*/ 83 w 92"/>
                <a:gd name="T5" fmla="*/ 2 h 6"/>
                <a:gd name="T6" fmla="*/ 73 w 92"/>
                <a:gd name="T7" fmla="*/ 4 h 6"/>
                <a:gd name="T8" fmla="*/ 57 w 92"/>
                <a:gd name="T9" fmla="*/ 4 h 6"/>
                <a:gd name="T10" fmla="*/ 41 w 92"/>
                <a:gd name="T11" fmla="*/ 5 h 6"/>
                <a:gd name="T12" fmla="*/ 21 w 92"/>
                <a:gd name="T13" fmla="*/ 5 h 6"/>
                <a:gd name="T14" fmla="*/ 0 w 92"/>
                <a:gd name="T15" fmla="*/ 6 h 6"/>
                <a:gd name="T16" fmla="*/ 0 w 92"/>
                <a:gd name="T17" fmla="*/ 5 h 6"/>
                <a:gd name="T18" fmla="*/ 18 w 92"/>
                <a:gd name="T19" fmla="*/ 5 h 6"/>
                <a:gd name="T20" fmla="*/ 35 w 92"/>
                <a:gd name="T21" fmla="*/ 4 h 6"/>
                <a:gd name="T22" fmla="*/ 50 w 92"/>
                <a:gd name="T23" fmla="*/ 4 h 6"/>
                <a:gd name="T24" fmla="*/ 63 w 92"/>
                <a:gd name="T25" fmla="*/ 2 h 6"/>
                <a:gd name="T26" fmla="*/ 71 w 92"/>
                <a:gd name="T27" fmla="*/ 1 h 6"/>
                <a:gd name="T28" fmla="*/ 78 w 92"/>
                <a:gd name="T29" fmla="*/ 0 h 6"/>
                <a:gd name="T30" fmla="*/ 80 w 92"/>
                <a:gd name="T31" fmla="*/ 0 h 6"/>
                <a:gd name="T32" fmla="*/ 92 w 92"/>
                <a:gd name="T33" fmla="*/ 0 h 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2" h="6">
                  <a:moveTo>
                    <a:pt x="92" y="0"/>
                  </a:move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3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2" name="Freeform 325"/>
            <p:cNvSpPr/>
            <p:nvPr/>
          </p:nvSpPr>
          <p:spPr bwMode="auto">
            <a:xfrm>
              <a:off x="2903" y="2842"/>
              <a:ext cx="80" cy="5"/>
            </a:xfrm>
            <a:custGeom>
              <a:avLst/>
              <a:gdLst>
                <a:gd name="T0" fmla="*/ 0 w 80"/>
                <a:gd name="T1" fmla="*/ 5 h 5"/>
                <a:gd name="T2" fmla="*/ 18 w 80"/>
                <a:gd name="T3" fmla="*/ 5 h 5"/>
                <a:gd name="T4" fmla="*/ 35 w 80"/>
                <a:gd name="T5" fmla="*/ 4 h 5"/>
                <a:gd name="T6" fmla="*/ 50 w 80"/>
                <a:gd name="T7" fmla="*/ 4 h 5"/>
                <a:gd name="T8" fmla="*/ 63 w 80"/>
                <a:gd name="T9" fmla="*/ 2 h 5"/>
                <a:gd name="T10" fmla="*/ 71 w 80"/>
                <a:gd name="T11" fmla="*/ 1 h 5"/>
                <a:gd name="T12" fmla="*/ 78 w 80"/>
                <a:gd name="T13" fmla="*/ 0 h 5"/>
                <a:gd name="T14" fmla="*/ 80 w 80"/>
                <a:gd name="T15" fmla="*/ 0 h 5"/>
                <a:gd name="T16" fmla="*/ 66 w 80"/>
                <a:gd name="T17" fmla="*/ 0 h 5"/>
                <a:gd name="T18" fmla="*/ 64 w 80"/>
                <a:gd name="T19" fmla="*/ 0 h 5"/>
                <a:gd name="T20" fmla="*/ 57 w 80"/>
                <a:gd name="T21" fmla="*/ 1 h 5"/>
                <a:gd name="T22" fmla="*/ 47 w 80"/>
                <a:gd name="T23" fmla="*/ 2 h 5"/>
                <a:gd name="T24" fmla="*/ 33 w 80"/>
                <a:gd name="T25" fmla="*/ 4 h 5"/>
                <a:gd name="T26" fmla="*/ 18 w 80"/>
                <a:gd name="T27" fmla="*/ 4 h 5"/>
                <a:gd name="T28" fmla="*/ 0 w 80"/>
                <a:gd name="T29" fmla="*/ 4 h 5"/>
                <a:gd name="T30" fmla="*/ 0 w 80"/>
                <a:gd name="T31" fmla="*/ 5 h 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0" h="5">
                  <a:moveTo>
                    <a:pt x="0" y="5"/>
                  </a:move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3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3" name="Freeform 326"/>
            <p:cNvSpPr/>
            <p:nvPr/>
          </p:nvSpPr>
          <p:spPr bwMode="auto">
            <a:xfrm>
              <a:off x="2903" y="2842"/>
              <a:ext cx="66" cy="4"/>
            </a:xfrm>
            <a:custGeom>
              <a:avLst/>
              <a:gdLst>
                <a:gd name="T0" fmla="*/ 66 w 66"/>
                <a:gd name="T1" fmla="*/ 0 h 4"/>
                <a:gd name="T2" fmla="*/ 64 w 66"/>
                <a:gd name="T3" fmla="*/ 0 h 4"/>
                <a:gd name="T4" fmla="*/ 57 w 66"/>
                <a:gd name="T5" fmla="*/ 1 h 4"/>
                <a:gd name="T6" fmla="*/ 47 w 66"/>
                <a:gd name="T7" fmla="*/ 2 h 4"/>
                <a:gd name="T8" fmla="*/ 33 w 66"/>
                <a:gd name="T9" fmla="*/ 4 h 4"/>
                <a:gd name="T10" fmla="*/ 18 w 66"/>
                <a:gd name="T11" fmla="*/ 4 h 4"/>
                <a:gd name="T12" fmla="*/ 0 w 66"/>
                <a:gd name="T13" fmla="*/ 4 h 4"/>
                <a:gd name="T14" fmla="*/ 0 w 66"/>
                <a:gd name="T15" fmla="*/ 2 h 4"/>
                <a:gd name="T16" fmla="*/ 17 w 66"/>
                <a:gd name="T17" fmla="*/ 2 h 4"/>
                <a:gd name="T18" fmla="*/ 31 w 66"/>
                <a:gd name="T19" fmla="*/ 2 h 4"/>
                <a:gd name="T20" fmla="*/ 42 w 66"/>
                <a:gd name="T21" fmla="*/ 1 h 4"/>
                <a:gd name="T22" fmla="*/ 50 w 66"/>
                <a:gd name="T23" fmla="*/ 0 h 4"/>
                <a:gd name="T24" fmla="*/ 52 w 66"/>
                <a:gd name="T25" fmla="*/ 0 h 4"/>
                <a:gd name="T26" fmla="*/ 66 w 66"/>
                <a:gd name="T27" fmla="*/ 0 h 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6" h="4">
                  <a:moveTo>
                    <a:pt x="66" y="0"/>
                  </a:move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4" name="Freeform 327"/>
            <p:cNvSpPr/>
            <p:nvPr/>
          </p:nvSpPr>
          <p:spPr bwMode="auto">
            <a:xfrm>
              <a:off x="2903" y="2842"/>
              <a:ext cx="52" cy="2"/>
            </a:xfrm>
            <a:custGeom>
              <a:avLst/>
              <a:gdLst>
                <a:gd name="T0" fmla="*/ 0 w 52"/>
                <a:gd name="T1" fmla="*/ 2 h 2"/>
                <a:gd name="T2" fmla="*/ 17 w 52"/>
                <a:gd name="T3" fmla="*/ 2 h 2"/>
                <a:gd name="T4" fmla="*/ 31 w 52"/>
                <a:gd name="T5" fmla="*/ 2 h 2"/>
                <a:gd name="T6" fmla="*/ 42 w 52"/>
                <a:gd name="T7" fmla="*/ 1 h 2"/>
                <a:gd name="T8" fmla="*/ 50 w 52"/>
                <a:gd name="T9" fmla="*/ 0 h 2"/>
                <a:gd name="T10" fmla="*/ 52 w 52"/>
                <a:gd name="T11" fmla="*/ 0 h 2"/>
                <a:gd name="T12" fmla="*/ 36 w 52"/>
                <a:gd name="T13" fmla="*/ 0 h 2"/>
                <a:gd name="T14" fmla="*/ 35 w 52"/>
                <a:gd name="T15" fmla="*/ 0 h 2"/>
                <a:gd name="T16" fmla="*/ 30 w 52"/>
                <a:gd name="T17" fmla="*/ 1 h 2"/>
                <a:gd name="T18" fmla="*/ 22 w 52"/>
                <a:gd name="T19" fmla="*/ 1 h 2"/>
                <a:gd name="T20" fmla="*/ 12 w 52"/>
                <a:gd name="T21" fmla="*/ 1 h 2"/>
                <a:gd name="T22" fmla="*/ 0 w 52"/>
                <a:gd name="T23" fmla="*/ 1 h 2"/>
                <a:gd name="T24" fmla="*/ 0 w 52"/>
                <a:gd name="T25" fmla="*/ 2 h 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">
                  <a:moveTo>
                    <a:pt x="0" y="2"/>
                  </a:move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5" name="Freeform 328"/>
            <p:cNvSpPr/>
            <p:nvPr/>
          </p:nvSpPr>
          <p:spPr bwMode="auto">
            <a:xfrm>
              <a:off x="2903" y="2842"/>
              <a:ext cx="36" cy="1"/>
            </a:xfrm>
            <a:custGeom>
              <a:avLst/>
              <a:gdLst>
                <a:gd name="T0" fmla="*/ 36 w 36"/>
                <a:gd name="T1" fmla="*/ 0 h 1"/>
                <a:gd name="T2" fmla="*/ 35 w 36"/>
                <a:gd name="T3" fmla="*/ 0 h 1"/>
                <a:gd name="T4" fmla="*/ 30 w 36"/>
                <a:gd name="T5" fmla="*/ 1 h 1"/>
                <a:gd name="T6" fmla="*/ 22 w 36"/>
                <a:gd name="T7" fmla="*/ 1 h 1"/>
                <a:gd name="T8" fmla="*/ 12 w 36"/>
                <a:gd name="T9" fmla="*/ 1 h 1"/>
                <a:gd name="T10" fmla="*/ 0 w 36"/>
                <a:gd name="T11" fmla="*/ 1 h 1"/>
                <a:gd name="T12" fmla="*/ 0 w 36"/>
                <a:gd name="T13" fmla="*/ 1 h 1"/>
                <a:gd name="T14" fmla="*/ 8 w 36"/>
                <a:gd name="T15" fmla="*/ 0 h 1"/>
                <a:gd name="T16" fmla="*/ 14 w 36"/>
                <a:gd name="T17" fmla="*/ 0 h 1"/>
                <a:gd name="T18" fmla="*/ 18 w 36"/>
                <a:gd name="T19" fmla="*/ 0 h 1"/>
                <a:gd name="T20" fmla="*/ 19 w 36"/>
                <a:gd name="T21" fmla="*/ 0 h 1"/>
                <a:gd name="T22" fmla="*/ 36 w 36"/>
                <a:gd name="T23" fmla="*/ 0 h 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1">
                  <a:moveTo>
                    <a:pt x="36" y="0"/>
                  </a:move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A6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6" name="Freeform 329"/>
            <p:cNvSpPr/>
            <p:nvPr/>
          </p:nvSpPr>
          <p:spPr bwMode="auto">
            <a:xfrm>
              <a:off x="2903" y="2842"/>
              <a:ext cx="19" cy="1"/>
            </a:xfrm>
            <a:custGeom>
              <a:avLst/>
              <a:gdLst>
                <a:gd name="T0" fmla="*/ 0 w 19"/>
                <a:gd name="T1" fmla="*/ 1 h 1"/>
                <a:gd name="T2" fmla="*/ 8 w 19"/>
                <a:gd name="T3" fmla="*/ 0 h 1"/>
                <a:gd name="T4" fmla="*/ 14 w 19"/>
                <a:gd name="T5" fmla="*/ 0 h 1"/>
                <a:gd name="T6" fmla="*/ 18 w 19"/>
                <a:gd name="T7" fmla="*/ 0 h 1"/>
                <a:gd name="T8" fmla="*/ 19 w 19"/>
                <a:gd name="T9" fmla="*/ 0 h 1"/>
                <a:gd name="T10" fmla="*/ 2 w 19"/>
                <a:gd name="T11" fmla="*/ 0 h 1"/>
                <a:gd name="T12" fmla="*/ 0 w 19"/>
                <a:gd name="T13" fmla="*/ 0 h 1"/>
                <a:gd name="T14" fmla="*/ 0 w 19"/>
                <a:gd name="T15" fmla="*/ 1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">
                  <a:moveTo>
                    <a:pt x="0" y="1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7" name="Freeform 330"/>
            <p:cNvSpPr/>
            <p:nvPr/>
          </p:nvSpPr>
          <p:spPr bwMode="auto">
            <a:xfrm>
              <a:off x="2903" y="2842"/>
              <a:ext cx="2" cy="1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0 w 2"/>
                <a:gd name="T7" fmla="*/ 0 h 1"/>
                <a:gd name="T8" fmla="*/ 2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8" name="Freeform 331"/>
            <p:cNvSpPr/>
            <p:nvPr/>
          </p:nvSpPr>
          <p:spPr bwMode="auto">
            <a:xfrm>
              <a:off x="3177" y="2811"/>
              <a:ext cx="48" cy="179"/>
            </a:xfrm>
            <a:custGeom>
              <a:avLst/>
              <a:gdLst>
                <a:gd name="T0" fmla="*/ 0 w 48"/>
                <a:gd name="T1" fmla="*/ 49 h 179"/>
                <a:gd name="T2" fmla="*/ 48 w 48"/>
                <a:gd name="T3" fmla="*/ 0 h 179"/>
                <a:gd name="T4" fmla="*/ 48 w 48"/>
                <a:gd name="T5" fmla="*/ 131 h 179"/>
                <a:gd name="T6" fmla="*/ 0 w 48"/>
                <a:gd name="T7" fmla="*/ 179 h 179"/>
                <a:gd name="T8" fmla="*/ 0 w 48"/>
                <a:gd name="T9" fmla="*/ 49 h 1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79">
                  <a:moveTo>
                    <a:pt x="0" y="49"/>
                  </a:moveTo>
                  <a:lnTo>
                    <a:pt x="48" y="0"/>
                  </a:lnTo>
                  <a:lnTo>
                    <a:pt x="48" y="131"/>
                  </a:lnTo>
                  <a:lnTo>
                    <a:pt x="0" y="179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69" name="Rectangle 332"/>
            <p:cNvSpPr>
              <a:spLocks noChangeArrowheads="1"/>
            </p:cNvSpPr>
            <p:nvPr/>
          </p:nvSpPr>
          <p:spPr bwMode="auto">
            <a:xfrm>
              <a:off x="2797" y="2860"/>
              <a:ext cx="380" cy="103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70" name="Freeform 333"/>
            <p:cNvSpPr/>
            <p:nvPr/>
          </p:nvSpPr>
          <p:spPr bwMode="auto">
            <a:xfrm>
              <a:off x="2916" y="2860"/>
              <a:ext cx="5" cy="103"/>
            </a:xfrm>
            <a:custGeom>
              <a:avLst/>
              <a:gdLst>
                <a:gd name="T0" fmla="*/ 5 w 5"/>
                <a:gd name="T1" fmla="*/ 0 h 103"/>
                <a:gd name="T2" fmla="*/ 1 w 5"/>
                <a:gd name="T3" fmla="*/ 25 h 103"/>
                <a:gd name="T4" fmla="*/ 0 w 5"/>
                <a:gd name="T5" fmla="*/ 51 h 103"/>
                <a:gd name="T6" fmla="*/ 1 w 5"/>
                <a:gd name="T7" fmla="*/ 77 h 103"/>
                <a:gd name="T8" fmla="*/ 5 w 5"/>
                <a:gd name="T9" fmla="*/ 103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03">
                  <a:moveTo>
                    <a:pt x="5" y="0"/>
                  </a:moveTo>
                  <a:lnTo>
                    <a:pt x="1" y="25"/>
                  </a:lnTo>
                  <a:lnTo>
                    <a:pt x="0" y="51"/>
                  </a:lnTo>
                  <a:lnTo>
                    <a:pt x="1" y="77"/>
                  </a:lnTo>
                  <a:lnTo>
                    <a:pt x="5" y="103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71" name="Rectangle 334"/>
            <p:cNvSpPr>
              <a:spLocks noChangeArrowheads="1"/>
            </p:cNvSpPr>
            <p:nvPr/>
          </p:nvSpPr>
          <p:spPr bwMode="auto">
            <a:xfrm>
              <a:off x="2797" y="2963"/>
              <a:ext cx="380" cy="27"/>
            </a:xfrm>
            <a:prstGeom prst="rect">
              <a:avLst/>
            </a:prstGeom>
            <a:solidFill>
              <a:srgbClr val="9A9A9A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72" name="Rectangle 335"/>
            <p:cNvSpPr>
              <a:spLocks noChangeArrowheads="1"/>
            </p:cNvSpPr>
            <p:nvPr/>
          </p:nvSpPr>
          <p:spPr bwMode="auto">
            <a:xfrm>
              <a:off x="3090" y="2891"/>
              <a:ext cx="15" cy="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73" name="Freeform 336"/>
            <p:cNvSpPr>
              <a:spLocks noEditPoints="1"/>
            </p:cNvSpPr>
            <p:nvPr/>
          </p:nvSpPr>
          <p:spPr bwMode="auto">
            <a:xfrm>
              <a:off x="2934" y="2882"/>
              <a:ext cx="62" cy="7"/>
            </a:xfrm>
            <a:custGeom>
              <a:avLst/>
              <a:gdLst>
                <a:gd name="T0" fmla="*/ 0 w 62"/>
                <a:gd name="T1" fmla="*/ 7 h 7"/>
                <a:gd name="T2" fmla="*/ 18 w 62"/>
                <a:gd name="T3" fmla="*/ 7 h 7"/>
                <a:gd name="T4" fmla="*/ 18 w 62"/>
                <a:gd name="T5" fmla="*/ 0 h 7"/>
                <a:gd name="T6" fmla="*/ 0 w 62"/>
                <a:gd name="T7" fmla="*/ 0 h 7"/>
                <a:gd name="T8" fmla="*/ 0 w 62"/>
                <a:gd name="T9" fmla="*/ 7 h 7"/>
                <a:gd name="T10" fmla="*/ 26 w 62"/>
                <a:gd name="T11" fmla="*/ 7 h 7"/>
                <a:gd name="T12" fmla="*/ 35 w 62"/>
                <a:gd name="T13" fmla="*/ 7 h 7"/>
                <a:gd name="T14" fmla="*/ 35 w 62"/>
                <a:gd name="T15" fmla="*/ 0 h 7"/>
                <a:gd name="T16" fmla="*/ 26 w 62"/>
                <a:gd name="T17" fmla="*/ 0 h 7"/>
                <a:gd name="T18" fmla="*/ 26 w 62"/>
                <a:gd name="T19" fmla="*/ 7 h 7"/>
                <a:gd name="T20" fmla="*/ 44 w 62"/>
                <a:gd name="T21" fmla="*/ 7 h 7"/>
                <a:gd name="T22" fmla="*/ 62 w 62"/>
                <a:gd name="T23" fmla="*/ 7 h 7"/>
                <a:gd name="T24" fmla="*/ 62 w 62"/>
                <a:gd name="T25" fmla="*/ 0 h 7"/>
                <a:gd name="T26" fmla="*/ 44 w 62"/>
                <a:gd name="T27" fmla="*/ 0 h 7"/>
                <a:gd name="T28" fmla="*/ 44 w 62"/>
                <a:gd name="T29" fmla="*/ 7 h 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7">
                  <a:moveTo>
                    <a:pt x="0" y="7"/>
                  </a:moveTo>
                  <a:lnTo>
                    <a:pt x="18" y="7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7"/>
                  </a:lnTo>
                  <a:close/>
                  <a:moveTo>
                    <a:pt x="26" y="7"/>
                  </a:moveTo>
                  <a:lnTo>
                    <a:pt x="35" y="7"/>
                  </a:lnTo>
                  <a:lnTo>
                    <a:pt x="35" y="0"/>
                  </a:lnTo>
                  <a:lnTo>
                    <a:pt x="26" y="0"/>
                  </a:lnTo>
                  <a:lnTo>
                    <a:pt x="26" y="7"/>
                  </a:lnTo>
                  <a:close/>
                  <a:moveTo>
                    <a:pt x="44" y="7"/>
                  </a:moveTo>
                  <a:lnTo>
                    <a:pt x="62" y="7"/>
                  </a:lnTo>
                  <a:lnTo>
                    <a:pt x="62" y="0"/>
                  </a:lnTo>
                  <a:lnTo>
                    <a:pt x="44" y="0"/>
                  </a:lnTo>
                  <a:lnTo>
                    <a:pt x="44" y="7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74" name="Freeform 337"/>
            <p:cNvSpPr>
              <a:spLocks noEditPoints="1"/>
            </p:cNvSpPr>
            <p:nvPr/>
          </p:nvSpPr>
          <p:spPr bwMode="auto">
            <a:xfrm>
              <a:off x="2808" y="2870"/>
              <a:ext cx="275" cy="40"/>
            </a:xfrm>
            <a:custGeom>
              <a:avLst/>
              <a:gdLst>
                <a:gd name="T0" fmla="*/ 0 w 275"/>
                <a:gd name="T1" fmla="*/ 40 h 40"/>
                <a:gd name="T2" fmla="*/ 37 w 275"/>
                <a:gd name="T3" fmla="*/ 40 h 40"/>
                <a:gd name="T4" fmla="*/ 37 w 275"/>
                <a:gd name="T5" fmla="*/ 0 h 40"/>
                <a:gd name="T6" fmla="*/ 0 w 275"/>
                <a:gd name="T7" fmla="*/ 0 h 40"/>
                <a:gd name="T8" fmla="*/ 0 w 275"/>
                <a:gd name="T9" fmla="*/ 40 h 40"/>
                <a:gd name="T10" fmla="*/ 244 w 275"/>
                <a:gd name="T11" fmla="*/ 29 h 40"/>
                <a:gd name="T12" fmla="*/ 275 w 275"/>
                <a:gd name="T13" fmla="*/ 29 h 40"/>
                <a:gd name="T14" fmla="*/ 275 w 275"/>
                <a:gd name="T15" fmla="*/ 9 h 40"/>
                <a:gd name="T16" fmla="*/ 244 w 275"/>
                <a:gd name="T17" fmla="*/ 9 h 40"/>
                <a:gd name="T18" fmla="*/ 244 w 275"/>
                <a:gd name="T19" fmla="*/ 29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5" h="40">
                  <a:moveTo>
                    <a:pt x="0" y="40"/>
                  </a:moveTo>
                  <a:lnTo>
                    <a:pt x="37" y="40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40"/>
                  </a:lnTo>
                  <a:close/>
                  <a:moveTo>
                    <a:pt x="244" y="29"/>
                  </a:moveTo>
                  <a:lnTo>
                    <a:pt x="275" y="29"/>
                  </a:lnTo>
                  <a:lnTo>
                    <a:pt x="275" y="9"/>
                  </a:lnTo>
                  <a:lnTo>
                    <a:pt x="244" y="9"/>
                  </a:lnTo>
                  <a:lnTo>
                    <a:pt x="244" y="29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75" name="Freeform 338"/>
            <p:cNvSpPr>
              <a:spLocks noEditPoints="1"/>
            </p:cNvSpPr>
            <p:nvPr/>
          </p:nvSpPr>
          <p:spPr bwMode="auto">
            <a:xfrm>
              <a:off x="2800" y="2865"/>
              <a:ext cx="375" cy="117"/>
            </a:xfrm>
            <a:custGeom>
              <a:avLst/>
              <a:gdLst>
                <a:gd name="T0" fmla="*/ 129 w 375"/>
                <a:gd name="T1" fmla="*/ 93 h 117"/>
                <a:gd name="T2" fmla="*/ 372 w 375"/>
                <a:gd name="T3" fmla="*/ 93 h 117"/>
                <a:gd name="T4" fmla="*/ 372 w 375"/>
                <a:gd name="T5" fmla="*/ 0 h 117"/>
                <a:gd name="T6" fmla="*/ 129 w 375"/>
                <a:gd name="T7" fmla="*/ 0 h 117"/>
                <a:gd name="T8" fmla="*/ 125 w 375"/>
                <a:gd name="T9" fmla="*/ 22 h 117"/>
                <a:gd name="T10" fmla="*/ 124 w 375"/>
                <a:gd name="T11" fmla="*/ 46 h 117"/>
                <a:gd name="T12" fmla="*/ 125 w 375"/>
                <a:gd name="T13" fmla="*/ 69 h 117"/>
                <a:gd name="T14" fmla="*/ 129 w 375"/>
                <a:gd name="T15" fmla="*/ 93 h 117"/>
                <a:gd name="T16" fmla="*/ 220 w 375"/>
                <a:gd name="T17" fmla="*/ 82 h 117"/>
                <a:gd name="T18" fmla="*/ 359 w 375"/>
                <a:gd name="T19" fmla="*/ 82 h 117"/>
                <a:gd name="T20" fmla="*/ 359 w 375"/>
                <a:gd name="T21" fmla="*/ 11 h 117"/>
                <a:gd name="T22" fmla="*/ 220 w 375"/>
                <a:gd name="T23" fmla="*/ 11 h 117"/>
                <a:gd name="T24" fmla="*/ 220 w 375"/>
                <a:gd name="T25" fmla="*/ 82 h 117"/>
                <a:gd name="T26" fmla="*/ 339 w 375"/>
                <a:gd name="T27" fmla="*/ 117 h 117"/>
                <a:gd name="T28" fmla="*/ 368 w 375"/>
                <a:gd name="T29" fmla="*/ 117 h 117"/>
                <a:gd name="T30" fmla="*/ 372 w 375"/>
                <a:gd name="T31" fmla="*/ 116 h 117"/>
                <a:gd name="T32" fmla="*/ 375 w 375"/>
                <a:gd name="T33" fmla="*/ 111 h 117"/>
                <a:gd name="T34" fmla="*/ 372 w 375"/>
                <a:gd name="T35" fmla="*/ 107 h 117"/>
                <a:gd name="T36" fmla="*/ 368 w 375"/>
                <a:gd name="T37" fmla="*/ 106 h 117"/>
                <a:gd name="T38" fmla="*/ 339 w 375"/>
                <a:gd name="T39" fmla="*/ 106 h 117"/>
                <a:gd name="T40" fmla="*/ 339 w 375"/>
                <a:gd name="T41" fmla="*/ 117 h 117"/>
                <a:gd name="T42" fmla="*/ 35 w 375"/>
                <a:gd name="T43" fmla="*/ 117 h 117"/>
                <a:gd name="T44" fmla="*/ 6 w 375"/>
                <a:gd name="T45" fmla="*/ 117 h 117"/>
                <a:gd name="T46" fmla="*/ 2 w 375"/>
                <a:gd name="T47" fmla="*/ 116 h 117"/>
                <a:gd name="T48" fmla="*/ 0 w 375"/>
                <a:gd name="T49" fmla="*/ 111 h 117"/>
                <a:gd name="T50" fmla="*/ 2 w 375"/>
                <a:gd name="T51" fmla="*/ 107 h 117"/>
                <a:gd name="T52" fmla="*/ 6 w 375"/>
                <a:gd name="T53" fmla="*/ 106 h 117"/>
                <a:gd name="T54" fmla="*/ 35 w 375"/>
                <a:gd name="T55" fmla="*/ 106 h 117"/>
                <a:gd name="T56" fmla="*/ 35 w 375"/>
                <a:gd name="T57" fmla="*/ 117 h 117"/>
                <a:gd name="T58" fmla="*/ 134 w 375"/>
                <a:gd name="T59" fmla="*/ 24 h 117"/>
                <a:gd name="T60" fmla="*/ 196 w 375"/>
                <a:gd name="T61" fmla="*/ 24 h 117"/>
                <a:gd name="T62" fmla="*/ 196 w 375"/>
                <a:gd name="T63" fmla="*/ 17 h 117"/>
                <a:gd name="T64" fmla="*/ 134 w 375"/>
                <a:gd name="T65" fmla="*/ 17 h 117"/>
                <a:gd name="T66" fmla="*/ 134 w 375"/>
                <a:gd name="T67" fmla="*/ 24 h 1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75" h="117">
                  <a:moveTo>
                    <a:pt x="129" y="93"/>
                  </a:moveTo>
                  <a:lnTo>
                    <a:pt x="372" y="93"/>
                  </a:lnTo>
                  <a:lnTo>
                    <a:pt x="372" y="0"/>
                  </a:lnTo>
                  <a:lnTo>
                    <a:pt x="129" y="0"/>
                  </a:lnTo>
                  <a:lnTo>
                    <a:pt x="125" y="22"/>
                  </a:lnTo>
                  <a:lnTo>
                    <a:pt x="124" y="46"/>
                  </a:lnTo>
                  <a:lnTo>
                    <a:pt x="125" y="69"/>
                  </a:lnTo>
                  <a:lnTo>
                    <a:pt x="129" y="93"/>
                  </a:lnTo>
                  <a:close/>
                  <a:moveTo>
                    <a:pt x="220" y="82"/>
                  </a:moveTo>
                  <a:lnTo>
                    <a:pt x="359" y="82"/>
                  </a:lnTo>
                  <a:lnTo>
                    <a:pt x="359" y="11"/>
                  </a:lnTo>
                  <a:lnTo>
                    <a:pt x="220" y="11"/>
                  </a:lnTo>
                  <a:lnTo>
                    <a:pt x="220" y="82"/>
                  </a:lnTo>
                  <a:close/>
                  <a:moveTo>
                    <a:pt x="339" y="117"/>
                  </a:moveTo>
                  <a:lnTo>
                    <a:pt x="368" y="117"/>
                  </a:lnTo>
                  <a:lnTo>
                    <a:pt x="372" y="116"/>
                  </a:lnTo>
                  <a:lnTo>
                    <a:pt x="375" y="111"/>
                  </a:lnTo>
                  <a:lnTo>
                    <a:pt x="372" y="107"/>
                  </a:lnTo>
                  <a:lnTo>
                    <a:pt x="368" y="106"/>
                  </a:lnTo>
                  <a:lnTo>
                    <a:pt x="339" y="106"/>
                  </a:lnTo>
                  <a:lnTo>
                    <a:pt x="339" y="117"/>
                  </a:lnTo>
                  <a:close/>
                  <a:moveTo>
                    <a:pt x="35" y="117"/>
                  </a:moveTo>
                  <a:lnTo>
                    <a:pt x="6" y="117"/>
                  </a:lnTo>
                  <a:lnTo>
                    <a:pt x="2" y="116"/>
                  </a:lnTo>
                  <a:lnTo>
                    <a:pt x="0" y="111"/>
                  </a:lnTo>
                  <a:lnTo>
                    <a:pt x="2" y="107"/>
                  </a:lnTo>
                  <a:lnTo>
                    <a:pt x="6" y="106"/>
                  </a:lnTo>
                  <a:lnTo>
                    <a:pt x="35" y="106"/>
                  </a:lnTo>
                  <a:lnTo>
                    <a:pt x="35" y="117"/>
                  </a:lnTo>
                  <a:close/>
                  <a:moveTo>
                    <a:pt x="134" y="24"/>
                  </a:moveTo>
                  <a:lnTo>
                    <a:pt x="196" y="24"/>
                  </a:lnTo>
                  <a:lnTo>
                    <a:pt x="196" y="17"/>
                  </a:lnTo>
                  <a:lnTo>
                    <a:pt x="134" y="17"/>
                  </a:lnTo>
                  <a:lnTo>
                    <a:pt x="134" y="24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76" name="Line 339"/>
            <p:cNvSpPr>
              <a:spLocks noChangeShapeType="1"/>
            </p:cNvSpPr>
            <p:nvPr/>
          </p:nvSpPr>
          <p:spPr bwMode="auto">
            <a:xfrm>
              <a:off x="2998" y="2865"/>
              <a:ext cx="1" cy="9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77" name="Line 340"/>
            <p:cNvSpPr>
              <a:spLocks noChangeShapeType="1"/>
            </p:cNvSpPr>
            <p:nvPr/>
          </p:nvSpPr>
          <p:spPr bwMode="auto">
            <a:xfrm flipH="1">
              <a:off x="2924" y="2896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78" name="Line 341"/>
            <p:cNvSpPr>
              <a:spLocks noChangeShapeType="1"/>
            </p:cNvSpPr>
            <p:nvPr/>
          </p:nvSpPr>
          <p:spPr bwMode="auto">
            <a:xfrm flipH="1">
              <a:off x="2924" y="2927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79" name="Line 342"/>
            <p:cNvSpPr>
              <a:spLocks noChangeShapeType="1"/>
            </p:cNvSpPr>
            <p:nvPr/>
          </p:nvSpPr>
          <p:spPr bwMode="auto">
            <a:xfrm>
              <a:off x="3115" y="2876"/>
              <a:ext cx="1" cy="2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0" name="Line 343"/>
            <p:cNvSpPr>
              <a:spLocks noChangeShapeType="1"/>
            </p:cNvSpPr>
            <p:nvPr/>
          </p:nvSpPr>
          <p:spPr bwMode="auto">
            <a:xfrm>
              <a:off x="3020" y="2903"/>
              <a:ext cx="13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1" name="Line 344"/>
            <p:cNvSpPr>
              <a:spLocks noChangeShapeType="1"/>
            </p:cNvSpPr>
            <p:nvPr/>
          </p:nvSpPr>
          <p:spPr bwMode="auto">
            <a:xfrm flipV="1">
              <a:off x="2934" y="286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2" name="Line 345"/>
            <p:cNvSpPr>
              <a:spLocks noChangeShapeType="1"/>
            </p:cNvSpPr>
            <p:nvPr/>
          </p:nvSpPr>
          <p:spPr bwMode="auto">
            <a:xfrm flipV="1">
              <a:off x="2934" y="2958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3" name="Line 346"/>
            <p:cNvSpPr>
              <a:spLocks noChangeShapeType="1"/>
            </p:cNvSpPr>
            <p:nvPr/>
          </p:nvSpPr>
          <p:spPr bwMode="auto">
            <a:xfrm>
              <a:off x="2936" y="2911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4" name="Line 347"/>
            <p:cNvSpPr>
              <a:spLocks noChangeShapeType="1"/>
            </p:cNvSpPr>
            <p:nvPr/>
          </p:nvSpPr>
          <p:spPr bwMode="auto">
            <a:xfrm>
              <a:off x="2936" y="288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5" name="Line 348"/>
            <p:cNvSpPr>
              <a:spLocks noChangeShapeType="1"/>
            </p:cNvSpPr>
            <p:nvPr/>
          </p:nvSpPr>
          <p:spPr bwMode="auto">
            <a:xfrm>
              <a:off x="2981" y="288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6" name="Line 349"/>
            <p:cNvSpPr>
              <a:spLocks noChangeShapeType="1"/>
            </p:cNvSpPr>
            <p:nvPr/>
          </p:nvSpPr>
          <p:spPr bwMode="auto">
            <a:xfrm>
              <a:off x="3038" y="2896"/>
              <a:ext cx="6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7" name="Freeform 350"/>
            <p:cNvSpPr/>
            <p:nvPr/>
          </p:nvSpPr>
          <p:spPr bwMode="auto">
            <a:xfrm>
              <a:off x="3130" y="2562"/>
              <a:ext cx="47" cy="280"/>
            </a:xfrm>
            <a:custGeom>
              <a:avLst/>
              <a:gdLst>
                <a:gd name="T0" fmla="*/ 0 w 47"/>
                <a:gd name="T1" fmla="*/ 280 h 280"/>
                <a:gd name="T2" fmla="*/ 36 w 47"/>
                <a:gd name="T3" fmla="*/ 243 h 280"/>
                <a:gd name="T4" fmla="*/ 36 w 47"/>
                <a:gd name="T5" fmla="*/ 178 h 280"/>
                <a:gd name="T6" fmla="*/ 47 w 47"/>
                <a:gd name="T7" fmla="*/ 143 h 280"/>
                <a:gd name="T8" fmla="*/ 47 w 47"/>
                <a:gd name="T9" fmla="*/ 0 h 280"/>
                <a:gd name="T10" fmla="*/ 0 w 47"/>
                <a:gd name="T11" fmla="*/ 48 h 280"/>
                <a:gd name="T12" fmla="*/ 0 w 47"/>
                <a:gd name="T13" fmla="*/ 280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80">
                  <a:moveTo>
                    <a:pt x="0" y="280"/>
                  </a:moveTo>
                  <a:lnTo>
                    <a:pt x="36" y="243"/>
                  </a:lnTo>
                  <a:lnTo>
                    <a:pt x="36" y="178"/>
                  </a:lnTo>
                  <a:lnTo>
                    <a:pt x="47" y="143"/>
                  </a:lnTo>
                  <a:lnTo>
                    <a:pt x="47" y="0"/>
                  </a:lnTo>
                  <a:lnTo>
                    <a:pt x="0" y="48"/>
                  </a:lnTo>
                  <a:lnTo>
                    <a:pt x="0" y="28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8" name="Freeform 351"/>
            <p:cNvSpPr/>
            <p:nvPr/>
          </p:nvSpPr>
          <p:spPr bwMode="auto">
            <a:xfrm>
              <a:off x="2845" y="2562"/>
              <a:ext cx="332" cy="48"/>
            </a:xfrm>
            <a:custGeom>
              <a:avLst/>
              <a:gdLst>
                <a:gd name="T0" fmla="*/ 332 w 332"/>
                <a:gd name="T1" fmla="*/ 0 h 48"/>
                <a:gd name="T2" fmla="*/ 47 w 332"/>
                <a:gd name="T3" fmla="*/ 0 h 48"/>
                <a:gd name="T4" fmla="*/ 0 w 332"/>
                <a:gd name="T5" fmla="*/ 48 h 48"/>
                <a:gd name="T6" fmla="*/ 285 w 332"/>
                <a:gd name="T7" fmla="*/ 48 h 48"/>
                <a:gd name="T8" fmla="*/ 332 w 332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2" h="48">
                  <a:moveTo>
                    <a:pt x="332" y="0"/>
                  </a:moveTo>
                  <a:lnTo>
                    <a:pt x="47" y="0"/>
                  </a:lnTo>
                  <a:lnTo>
                    <a:pt x="0" y="48"/>
                  </a:lnTo>
                  <a:lnTo>
                    <a:pt x="285" y="48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89" name="Rectangle 352"/>
            <p:cNvSpPr>
              <a:spLocks noChangeArrowheads="1"/>
            </p:cNvSpPr>
            <p:nvPr/>
          </p:nvSpPr>
          <p:spPr bwMode="auto">
            <a:xfrm>
              <a:off x="2845" y="2610"/>
              <a:ext cx="285" cy="230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90" name="Rectangle 353"/>
            <p:cNvSpPr>
              <a:spLocks noChangeArrowheads="1"/>
            </p:cNvSpPr>
            <p:nvPr/>
          </p:nvSpPr>
          <p:spPr bwMode="auto">
            <a:xfrm>
              <a:off x="3101" y="2811"/>
              <a:ext cx="14" cy="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291" name="Freeform 354"/>
            <p:cNvSpPr/>
            <p:nvPr/>
          </p:nvSpPr>
          <p:spPr bwMode="auto">
            <a:xfrm>
              <a:off x="2886" y="2645"/>
              <a:ext cx="202" cy="142"/>
            </a:xfrm>
            <a:custGeom>
              <a:avLst/>
              <a:gdLst>
                <a:gd name="T0" fmla="*/ 0 w 202"/>
                <a:gd name="T1" fmla="*/ 142 h 142"/>
                <a:gd name="T2" fmla="*/ 202 w 202"/>
                <a:gd name="T3" fmla="*/ 142 h 142"/>
                <a:gd name="T4" fmla="*/ 202 w 202"/>
                <a:gd name="T5" fmla="*/ 0 h 142"/>
                <a:gd name="T6" fmla="*/ 197 w 202"/>
                <a:gd name="T7" fmla="*/ 0 h 142"/>
                <a:gd name="T8" fmla="*/ 197 w 202"/>
                <a:gd name="T9" fmla="*/ 138 h 142"/>
                <a:gd name="T10" fmla="*/ 0 w 202"/>
                <a:gd name="T11" fmla="*/ 138 h 142"/>
                <a:gd name="T12" fmla="*/ 0 w 202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2">
                  <a:moveTo>
                    <a:pt x="0" y="142"/>
                  </a:moveTo>
                  <a:lnTo>
                    <a:pt x="202" y="142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38"/>
                  </a:lnTo>
                  <a:lnTo>
                    <a:pt x="0" y="138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2" name="Freeform 355"/>
            <p:cNvSpPr/>
            <p:nvPr/>
          </p:nvSpPr>
          <p:spPr bwMode="auto">
            <a:xfrm>
              <a:off x="2886" y="2645"/>
              <a:ext cx="197" cy="138"/>
            </a:xfrm>
            <a:custGeom>
              <a:avLst/>
              <a:gdLst>
                <a:gd name="T0" fmla="*/ 0 w 197"/>
                <a:gd name="T1" fmla="*/ 138 h 138"/>
                <a:gd name="T2" fmla="*/ 197 w 197"/>
                <a:gd name="T3" fmla="*/ 138 h 138"/>
                <a:gd name="T4" fmla="*/ 197 w 197"/>
                <a:gd name="T5" fmla="*/ 0 h 138"/>
                <a:gd name="T6" fmla="*/ 194 w 197"/>
                <a:gd name="T7" fmla="*/ 0 h 138"/>
                <a:gd name="T8" fmla="*/ 194 w 197"/>
                <a:gd name="T9" fmla="*/ 136 h 138"/>
                <a:gd name="T10" fmla="*/ 0 w 197"/>
                <a:gd name="T11" fmla="*/ 136 h 138"/>
                <a:gd name="T12" fmla="*/ 0 w 197"/>
                <a:gd name="T13" fmla="*/ 138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38">
                  <a:moveTo>
                    <a:pt x="0" y="138"/>
                  </a:moveTo>
                  <a:lnTo>
                    <a:pt x="197" y="138"/>
                  </a:lnTo>
                  <a:lnTo>
                    <a:pt x="197" y="0"/>
                  </a:lnTo>
                  <a:lnTo>
                    <a:pt x="194" y="0"/>
                  </a:lnTo>
                  <a:lnTo>
                    <a:pt x="194" y="136"/>
                  </a:lnTo>
                  <a:lnTo>
                    <a:pt x="0" y="136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3" name="Freeform 356"/>
            <p:cNvSpPr/>
            <p:nvPr/>
          </p:nvSpPr>
          <p:spPr bwMode="auto">
            <a:xfrm>
              <a:off x="2886" y="2645"/>
              <a:ext cx="194" cy="136"/>
            </a:xfrm>
            <a:custGeom>
              <a:avLst/>
              <a:gdLst>
                <a:gd name="T0" fmla="*/ 0 w 194"/>
                <a:gd name="T1" fmla="*/ 136 h 136"/>
                <a:gd name="T2" fmla="*/ 194 w 194"/>
                <a:gd name="T3" fmla="*/ 136 h 136"/>
                <a:gd name="T4" fmla="*/ 194 w 194"/>
                <a:gd name="T5" fmla="*/ 0 h 136"/>
                <a:gd name="T6" fmla="*/ 190 w 194"/>
                <a:gd name="T7" fmla="*/ 0 h 136"/>
                <a:gd name="T8" fmla="*/ 190 w 194"/>
                <a:gd name="T9" fmla="*/ 133 h 136"/>
                <a:gd name="T10" fmla="*/ 0 w 194"/>
                <a:gd name="T11" fmla="*/ 133 h 136"/>
                <a:gd name="T12" fmla="*/ 0 w 194"/>
                <a:gd name="T13" fmla="*/ 136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4" h="136">
                  <a:moveTo>
                    <a:pt x="0" y="136"/>
                  </a:moveTo>
                  <a:lnTo>
                    <a:pt x="194" y="136"/>
                  </a:lnTo>
                  <a:lnTo>
                    <a:pt x="194" y="0"/>
                  </a:lnTo>
                  <a:lnTo>
                    <a:pt x="190" y="0"/>
                  </a:lnTo>
                  <a:lnTo>
                    <a:pt x="190" y="133"/>
                  </a:lnTo>
                  <a:lnTo>
                    <a:pt x="0" y="13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4" name="Freeform 357"/>
            <p:cNvSpPr/>
            <p:nvPr/>
          </p:nvSpPr>
          <p:spPr bwMode="auto">
            <a:xfrm>
              <a:off x="2886" y="2645"/>
              <a:ext cx="190" cy="133"/>
            </a:xfrm>
            <a:custGeom>
              <a:avLst/>
              <a:gdLst>
                <a:gd name="T0" fmla="*/ 0 w 190"/>
                <a:gd name="T1" fmla="*/ 133 h 133"/>
                <a:gd name="T2" fmla="*/ 190 w 190"/>
                <a:gd name="T3" fmla="*/ 133 h 133"/>
                <a:gd name="T4" fmla="*/ 190 w 190"/>
                <a:gd name="T5" fmla="*/ 0 h 133"/>
                <a:gd name="T6" fmla="*/ 186 w 190"/>
                <a:gd name="T7" fmla="*/ 0 h 133"/>
                <a:gd name="T8" fmla="*/ 186 w 190"/>
                <a:gd name="T9" fmla="*/ 131 h 133"/>
                <a:gd name="T10" fmla="*/ 0 w 190"/>
                <a:gd name="T11" fmla="*/ 131 h 133"/>
                <a:gd name="T12" fmla="*/ 0 w 190"/>
                <a:gd name="T13" fmla="*/ 133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3">
                  <a:moveTo>
                    <a:pt x="0" y="133"/>
                  </a:moveTo>
                  <a:lnTo>
                    <a:pt x="190" y="133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1"/>
                  </a:lnTo>
                  <a:lnTo>
                    <a:pt x="0" y="131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5" name="Freeform 358"/>
            <p:cNvSpPr/>
            <p:nvPr/>
          </p:nvSpPr>
          <p:spPr bwMode="auto">
            <a:xfrm>
              <a:off x="2886" y="2645"/>
              <a:ext cx="186" cy="131"/>
            </a:xfrm>
            <a:custGeom>
              <a:avLst/>
              <a:gdLst>
                <a:gd name="T0" fmla="*/ 0 w 186"/>
                <a:gd name="T1" fmla="*/ 131 h 131"/>
                <a:gd name="T2" fmla="*/ 186 w 186"/>
                <a:gd name="T3" fmla="*/ 131 h 131"/>
                <a:gd name="T4" fmla="*/ 186 w 186"/>
                <a:gd name="T5" fmla="*/ 0 h 131"/>
                <a:gd name="T6" fmla="*/ 182 w 186"/>
                <a:gd name="T7" fmla="*/ 0 h 131"/>
                <a:gd name="T8" fmla="*/ 182 w 186"/>
                <a:gd name="T9" fmla="*/ 128 h 131"/>
                <a:gd name="T10" fmla="*/ 0 w 186"/>
                <a:gd name="T11" fmla="*/ 128 h 131"/>
                <a:gd name="T12" fmla="*/ 0 w 186"/>
                <a:gd name="T13" fmla="*/ 131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1">
                  <a:moveTo>
                    <a:pt x="0" y="131"/>
                  </a:moveTo>
                  <a:lnTo>
                    <a:pt x="186" y="131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28"/>
                  </a:lnTo>
                  <a:lnTo>
                    <a:pt x="0" y="128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6" name="Freeform 359"/>
            <p:cNvSpPr/>
            <p:nvPr/>
          </p:nvSpPr>
          <p:spPr bwMode="auto">
            <a:xfrm>
              <a:off x="2886" y="2645"/>
              <a:ext cx="182" cy="128"/>
            </a:xfrm>
            <a:custGeom>
              <a:avLst/>
              <a:gdLst>
                <a:gd name="T0" fmla="*/ 0 w 182"/>
                <a:gd name="T1" fmla="*/ 128 h 128"/>
                <a:gd name="T2" fmla="*/ 182 w 182"/>
                <a:gd name="T3" fmla="*/ 128 h 128"/>
                <a:gd name="T4" fmla="*/ 182 w 182"/>
                <a:gd name="T5" fmla="*/ 0 h 128"/>
                <a:gd name="T6" fmla="*/ 178 w 182"/>
                <a:gd name="T7" fmla="*/ 0 h 128"/>
                <a:gd name="T8" fmla="*/ 178 w 182"/>
                <a:gd name="T9" fmla="*/ 126 h 128"/>
                <a:gd name="T10" fmla="*/ 0 w 182"/>
                <a:gd name="T11" fmla="*/ 126 h 128"/>
                <a:gd name="T12" fmla="*/ 0 w 182"/>
                <a:gd name="T13" fmla="*/ 12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28">
                  <a:moveTo>
                    <a:pt x="0" y="128"/>
                  </a:moveTo>
                  <a:lnTo>
                    <a:pt x="182" y="128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6"/>
                  </a:lnTo>
                  <a:lnTo>
                    <a:pt x="0" y="126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7" name="Freeform 360"/>
            <p:cNvSpPr/>
            <p:nvPr/>
          </p:nvSpPr>
          <p:spPr bwMode="auto">
            <a:xfrm>
              <a:off x="2886" y="2645"/>
              <a:ext cx="178" cy="126"/>
            </a:xfrm>
            <a:custGeom>
              <a:avLst/>
              <a:gdLst>
                <a:gd name="T0" fmla="*/ 0 w 178"/>
                <a:gd name="T1" fmla="*/ 126 h 126"/>
                <a:gd name="T2" fmla="*/ 178 w 178"/>
                <a:gd name="T3" fmla="*/ 126 h 126"/>
                <a:gd name="T4" fmla="*/ 178 w 178"/>
                <a:gd name="T5" fmla="*/ 0 h 126"/>
                <a:gd name="T6" fmla="*/ 175 w 178"/>
                <a:gd name="T7" fmla="*/ 0 h 126"/>
                <a:gd name="T8" fmla="*/ 175 w 178"/>
                <a:gd name="T9" fmla="*/ 123 h 126"/>
                <a:gd name="T10" fmla="*/ 0 w 178"/>
                <a:gd name="T11" fmla="*/ 123 h 126"/>
                <a:gd name="T12" fmla="*/ 0 w 178"/>
                <a:gd name="T13" fmla="*/ 126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126">
                  <a:moveTo>
                    <a:pt x="0" y="126"/>
                  </a:moveTo>
                  <a:lnTo>
                    <a:pt x="178" y="126"/>
                  </a:lnTo>
                  <a:lnTo>
                    <a:pt x="178" y="0"/>
                  </a:lnTo>
                  <a:lnTo>
                    <a:pt x="175" y="0"/>
                  </a:lnTo>
                  <a:lnTo>
                    <a:pt x="175" y="123"/>
                  </a:lnTo>
                  <a:lnTo>
                    <a:pt x="0" y="123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A2A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8" name="Freeform 361"/>
            <p:cNvSpPr/>
            <p:nvPr/>
          </p:nvSpPr>
          <p:spPr bwMode="auto">
            <a:xfrm>
              <a:off x="2886" y="2645"/>
              <a:ext cx="175" cy="123"/>
            </a:xfrm>
            <a:custGeom>
              <a:avLst/>
              <a:gdLst>
                <a:gd name="T0" fmla="*/ 0 w 175"/>
                <a:gd name="T1" fmla="*/ 123 h 123"/>
                <a:gd name="T2" fmla="*/ 175 w 175"/>
                <a:gd name="T3" fmla="*/ 123 h 123"/>
                <a:gd name="T4" fmla="*/ 175 w 175"/>
                <a:gd name="T5" fmla="*/ 0 h 123"/>
                <a:gd name="T6" fmla="*/ 171 w 175"/>
                <a:gd name="T7" fmla="*/ 0 h 123"/>
                <a:gd name="T8" fmla="*/ 171 w 175"/>
                <a:gd name="T9" fmla="*/ 119 h 123"/>
                <a:gd name="T10" fmla="*/ 0 w 175"/>
                <a:gd name="T11" fmla="*/ 119 h 123"/>
                <a:gd name="T12" fmla="*/ 0 w 175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123">
                  <a:moveTo>
                    <a:pt x="0" y="123"/>
                  </a:moveTo>
                  <a:lnTo>
                    <a:pt x="175" y="123"/>
                  </a:lnTo>
                  <a:lnTo>
                    <a:pt x="175" y="0"/>
                  </a:lnTo>
                  <a:lnTo>
                    <a:pt x="171" y="0"/>
                  </a:lnTo>
                  <a:lnTo>
                    <a:pt x="171" y="119"/>
                  </a:lnTo>
                  <a:lnTo>
                    <a:pt x="0" y="119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A5A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299" name="Freeform 362"/>
            <p:cNvSpPr/>
            <p:nvPr/>
          </p:nvSpPr>
          <p:spPr bwMode="auto">
            <a:xfrm>
              <a:off x="2886" y="2645"/>
              <a:ext cx="171" cy="119"/>
            </a:xfrm>
            <a:custGeom>
              <a:avLst/>
              <a:gdLst>
                <a:gd name="T0" fmla="*/ 0 w 171"/>
                <a:gd name="T1" fmla="*/ 119 h 119"/>
                <a:gd name="T2" fmla="*/ 171 w 171"/>
                <a:gd name="T3" fmla="*/ 119 h 119"/>
                <a:gd name="T4" fmla="*/ 171 w 171"/>
                <a:gd name="T5" fmla="*/ 0 h 119"/>
                <a:gd name="T6" fmla="*/ 167 w 171"/>
                <a:gd name="T7" fmla="*/ 0 h 119"/>
                <a:gd name="T8" fmla="*/ 167 w 171"/>
                <a:gd name="T9" fmla="*/ 117 h 119"/>
                <a:gd name="T10" fmla="*/ 0 w 171"/>
                <a:gd name="T11" fmla="*/ 117 h 119"/>
                <a:gd name="T12" fmla="*/ 0 w 171"/>
                <a:gd name="T13" fmla="*/ 119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19">
                  <a:moveTo>
                    <a:pt x="0" y="119"/>
                  </a:moveTo>
                  <a:lnTo>
                    <a:pt x="171" y="119"/>
                  </a:lnTo>
                  <a:lnTo>
                    <a:pt x="171" y="0"/>
                  </a:lnTo>
                  <a:lnTo>
                    <a:pt x="167" y="0"/>
                  </a:lnTo>
                  <a:lnTo>
                    <a:pt x="167" y="117"/>
                  </a:lnTo>
                  <a:lnTo>
                    <a:pt x="0" y="117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A9A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0" name="Freeform 363"/>
            <p:cNvSpPr/>
            <p:nvPr/>
          </p:nvSpPr>
          <p:spPr bwMode="auto">
            <a:xfrm>
              <a:off x="2886" y="2645"/>
              <a:ext cx="167" cy="117"/>
            </a:xfrm>
            <a:custGeom>
              <a:avLst/>
              <a:gdLst>
                <a:gd name="T0" fmla="*/ 0 w 167"/>
                <a:gd name="T1" fmla="*/ 117 h 117"/>
                <a:gd name="T2" fmla="*/ 167 w 167"/>
                <a:gd name="T3" fmla="*/ 117 h 117"/>
                <a:gd name="T4" fmla="*/ 167 w 167"/>
                <a:gd name="T5" fmla="*/ 0 h 117"/>
                <a:gd name="T6" fmla="*/ 162 w 167"/>
                <a:gd name="T7" fmla="*/ 0 h 117"/>
                <a:gd name="T8" fmla="*/ 162 w 167"/>
                <a:gd name="T9" fmla="*/ 114 h 117"/>
                <a:gd name="T10" fmla="*/ 0 w 167"/>
                <a:gd name="T11" fmla="*/ 114 h 117"/>
                <a:gd name="T12" fmla="*/ 0 w 167"/>
                <a:gd name="T13" fmla="*/ 117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7">
                  <a:moveTo>
                    <a:pt x="0" y="117"/>
                  </a:moveTo>
                  <a:lnTo>
                    <a:pt x="167" y="117"/>
                  </a:lnTo>
                  <a:lnTo>
                    <a:pt x="167" y="0"/>
                  </a:lnTo>
                  <a:lnTo>
                    <a:pt x="162" y="0"/>
                  </a:lnTo>
                  <a:lnTo>
                    <a:pt x="162" y="114"/>
                  </a:lnTo>
                  <a:lnTo>
                    <a:pt x="0" y="114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ADA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1" name="Freeform 364"/>
            <p:cNvSpPr/>
            <p:nvPr/>
          </p:nvSpPr>
          <p:spPr bwMode="auto">
            <a:xfrm>
              <a:off x="2886" y="2645"/>
              <a:ext cx="162" cy="114"/>
            </a:xfrm>
            <a:custGeom>
              <a:avLst/>
              <a:gdLst>
                <a:gd name="T0" fmla="*/ 0 w 162"/>
                <a:gd name="T1" fmla="*/ 114 h 114"/>
                <a:gd name="T2" fmla="*/ 162 w 162"/>
                <a:gd name="T3" fmla="*/ 114 h 114"/>
                <a:gd name="T4" fmla="*/ 162 w 162"/>
                <a:gd name="T5" fmla="*/ 0 h 114"/>
                <a:gd name="T6" fmla="*/ 158 w 162"/>
                <a:gd name="T7" fmla="*/ 0 h 114"/>
                <a:gd name="T8" fmla="*/ 158 w 162"/>
                <a:gd name="T9" fmla="*/ 111 h 114"/>
                <a:gd name="T10" fmla="*/ 0 w 162"/>
                <a:gd name="T11" fmla="*/ 111 h 114"/>
                <a:gd name="T12" fmla="*/ 0 w 162"/>
                <a:gd name="T13" fmla="*/ 114 h 1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14">
                  <a:moveTo>
                    <a:pt x="0" y="114"/>
                  </a:moveTo>
                  <a:lnTo>
                    <a:pt x="162" y="114"/>
                  </a:lnTo>
                  <a:lnTo>
                    <a:pt x="162" y="0"/>
                  </a:lnTo>
                  <a:lnTo>
                    <a:pt x="158" y="0"/>
                  </a:lnTo>
                  <a:lnTo>
                    <a:pt x="158" y="111"/>
                  </a:lnTo>
                  <a:lnTo>
                    <a:pt x="0" y="111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B0B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2" name="Freeform 365"/>
            <p:cNvSpPr/>
            <p:nvPr/>
          </p:nvSpPr>
          <p:spPr bwMode="auto">
            <a:xfrm>
              <a:off x="2886" y="2645"/>
              <a:ext cx="158" cy="111"/>
            </a:xfrm>
            <a:custGeom>
              <a:avLst/>
              <a:gdLst>
                <a:gd name="T0" fmla="*/ 0 w 158"/>
                <a:gd name="T1" fmla="*/ 111 h 111"/>
                <a:gd name="T2" fmla="*/ 158 w 158"/>
                <a:gd name="T3" fmla="*/ 111 h 111"/>
                <a:gd name="T4" fmla="*/ 158 w 158"/>
                <a:gd name="T5" fmla="*/ 0 h 111"/>
                <a:gd name="T6" fmla="*/ 153 w 158"/>
                <a:gd name="T7" fmla="*/ 0 h 111"/>
                <a:gd name="T8" fmla="*/ 153 w 158"/>
                <a:gd name="T9" fmla="*/ 108 h 111"/>
                <a:gd name="T10" fmla="*/ 0 w 158"/>
                <a:gd name="T11" fmla="*/ 108 h 111"/>
                <a:gd name="T12" fmla="*/ 0 w 158"/>
                <a:gd name="T13" fmla="*/ 111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1">
                  <a:moveTo>
                    <a:pt x="0" y="111"/>
                  </a:moveTo>
                  <a:lnTo>
                    <a:pt x="158" y="111"/>
                  </a:lnTo>
                  <a:lnTo>
                    <a:pt x="158" y="0"/>
                  </a:lnTo>
                  <a:lnTo>
                    <a:pt x="153" y="0"/>
                  </a:lnTo>
                  <a:lnTo>
                    <a:pt x="153" y="108"/>
                  </a:lnTo>
                  <a:lnTo>
                    <a:pt x="0" y="10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4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3" name="Freeform 366"/>
            <p:cNvSpPr/>
            <p:nvPr/>
          </p:nvSpPr>
          <p:spPr bwMode="auto">
            <a:xfrm>
              <a:off x="2886" y="2645"/>
              <a:ext cx="153" cy="108"/>
            </a:xfrm>
            <a:custGeom>
              <a:avLst/>
              <a:gdLst>
                <a:gd name="T0" fmla="*/ 0 w 153"/>
                <a:gd name="T1" fmla="*/ 108 h 108"/>
                <a:gd name="T2" fmla="*/ 153 w 153"/>
                <a:gd name="T3" fmla="*/ 108 h 108"/>
                <a:gd name="T4" fmla="*/ 153 w 153"/>
                <a:gd name="T5" fmla="*/ 0 h 108"/>
                <a:gd name="T6" fmla="*/ 148 w 153"/>
                <a:gd name="T7" fmla="*/ 0 h 108"/>
                <a:gd name="T8" fmla="*/ 148 w 153"/>
                <a:gd name="T9" fmla="*/ 104 h 108"/>
                <a:gd name="T10" fmla="*/ 0 w 153"/>
                <a:gd name="T11" fmla="*/ 104 h 108"/>
                <a:gd name="T12" fmla="*/ 0 w 153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108">
                  <a:moveTo>
                    <a:pt x="0" y="108"/>
                  </a:moveTo>
                  <a:lnTo>
                    <a:pt x="153" y="108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8" y="104"/>
                  </a:lnTo>
                  <a:lnTo>
                    <a:pt x="0" y="104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B8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4" name="Freeform 367"/>
            <p:cNvSpPr/>
            <p:nvPr/>
          </p:nvSpPr>
          <p:spPr bwMode="auto">
            <a:xfrm>
              <a:off x="2886" y="2645"/>
              <a:ext cx="148" cy="104"/>
            </a:xfrm>
            <a:custGeom>
              <a:avLst/>
              <a:gdLst>
                <a:gd name="T0" fmla="*/ 0 w 148"/>
                <a:gd name="T1" fmla="*/ 104 h 104"/>
                <a:gd name="T2" fmla="*/ 148 w 148"/>
                <a:gd name="T3" fmla="*/ 104 h 104"/>
                <a:gd name="T4" fmla="*/ 148 w 148"/>
                <a:gd name="T5" fmla="*/ 0 h 104"/>
                <a:gd name="T6" fmla="*/ 143 w 148"/>
                <a:gd name="T7" fmla="*/ 0 h 104"/>
                <a:gd name="T8" fmla="*/ 143 w 148"/>
                <a:gd name="T9" fmla="*/ 100 h 104"/>
                <a:gd name="T10" fmla="*/ 0 w 148"/>
                <a:gd name="T11" fmla="*/ 100 h 104"/>
                <a:gd name="T12" fmla="*/ 0 w 148"/>
                <a:gd name="T13" fmla="*/ 104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104">
                  <a:moveTo>
                    <a:pt x="0" y="104"/>
                  </a:moveTo>
                  <a:lnTo>
                    <a:pt x="148" y="104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143" y="100"/>
                  </a:lnTo>
                  <a:lnTo>
                    <a:pt x="0" y="100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BBB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5" name="Freeform 368"/>
            <p:cNvSpPr/>
            <p:nvPr/>
          </p:nvSpPr>
          <p:spPr bwMode="auto">
            <a:xfrm>
              <a:off x="2886" y="2645"/>
              <a:ext cx="143" cy="100"/>
            </a:xfrm>
            <a:custGeom>
              <a:avLst/>
              <a:gdLst>
                <a:gd name="T0" fmla="*/ 0 w 143"/>
                <a:gd name="T1" fmla="*/ 100 h 100"/>
                <a:gd name="T2" fmla="*/ 143 w 143"/>
                <a:gd name="T3" fmla="*/ 100 h 100"/>
                <a:gd name="T4" fmla="*/ 143 w 143"/>
                <a:gd name="T5" fmla="*/ 0 h 100"/>
                <a:gd name="T6" fmla="*/ 138 w 143"/>
                <a:gd name="T7" fmla="*/ 0 h 100"/>
                <a:gd name="T8" fmla="*/ 138 w 143"/>
                <a:gd name="T9" fmla="*/ 97 h 100"/>
                <a:gd name="T10" fmla="*/ 0 w 143"/>
                <a:gd name="T11" fmla="*/ 97 h 100"/>
                <a:gd name="T12" fmla="*/ 0 w 143"/>
                <a:gd name="T13" fmla="*/ 100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100">
                  <a:moveTo>
                    <a:pt x="0" y="100"/>
                  </a:moveTo>
                  <a:lnTo>
                    <a:pt x="143" y="100"/>
                  </a:lnTo>
                  <a:lnTo>
                    <a:pt x="143" y="0"/>
                  </a:lnTo>
                  <a:lnTo>
                    <a:pt x="138" y="0"/>
                  </a:lnTo>
                  <a:lnTo>
                    <a:pt x="138" y="97"/>
                  </a:lnTo>
                  <a:lnTo>
                    <a:pt x="0" y="97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6" name="Freeform 369"/>
            <p:cNvSpPr/>
            <p:nvPr/>
          </p:nvSpPr>
          <p:spPr bwMode="auto">
            <a:xfrm>
              <a:off x="2886" y="2645"/>
              <a:ext cx="138" cy="97"/>
            </a:xfrm>
            <a:custGeom>
              <a:avLst/>
              <a:gdLst>
                <a:gd name="T0" fmla="*/ 0 w 138"/>
                <a:gd name="T1" fmla="*/ 97 h 97"/>
                <a:gd name="T2" fmla="*/ 138 w 138"/>
                <a:gd name="T3" fmla="*/ 97 h 97"/>
                <a:gd name="T4" fmla="*/ 138 w 138"/>
                <a:gd name="T5" fmla="*/ 0 h 97"/>
                <a:gd name="T6" fmla="*/ 133 w 138"/>
                <a:gd name="T7" fmla="*/ 0 h 97"/>
                <a:gd name="T8" fmla="*/ 133 w 138"/>
                <a:gd name="T9" fmla="*/ 93 h 97"/>
                <a:gd name="T10" fmla="*/ 0 w 138"/>
                <a:gd name="T11" fmla="*/ 93 h 97"/>
                <a:gd name="T12" fmla="*/ 0 w 138"/>
                <a:gd name="T13" fmla="*/ 97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97">
                  <a:moveTo>
                    <a:pt x="0" y="97"/>
                  </a:moveTo>
                  <a:lnTo>
                    <a:pt x="138" y="97"/>
                  </a:lnTo>
                  <a:lnTo>
                    <a:pt x="138" y="0"/>
                  </a:lnTo>
                  <a:lnTo>
                    <a:pt x="133" y="0"/>
                  </a:lnTo>
                  <a:lnTo>
                    <a:pt x="133" y="93"/>
                  </a:lnTo>
                  <a:lnTo>
                    <a:pt x="0" y="93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C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7" name="Freeform 370"/>
            <p:cNvSpPr/>
            <p:nvPr/>
          </p:nvSpPr>
          <p:spPr bwMode="auto">
            <a:xfrm>
              <a:off x="2886" y="2645"/>
              <a:ext cx="133" cy="93"/>
            </a:xfrm>
            <a:custGeom>
              <a:avLst/>
              <a:gdLst>
                <a:gd name="T0" fmla="*/ 0 w 133"/>
                <a:gd name="T1" fmla="*/ 93 h 93"/>
                <a:gd name="T2" fmla="*/ 133 w 133"/>
                <a:gd name="T3" fmla="*/ 93 h 93"/>
                <a:gd name="T4" fmla="*/ 133 w 133"/>
                <a:gd name="T5" fmla="*/ 0 h 93"/>
                <a:gd name="T6" fmla="*/ 126 w 133"/>
                <a:gd name="T7" fmla="*/ 0 h 93"/>
                <a:gd name="T8" fmla="*/ 126 w 133"/>
                <a:gd name="T9" fmla="*/ 89 h 93"/>
                <a:gd name="T10" fmla="*/ 0 w 133"/>
                <a:gd name="T11" fmla="*/ 89 h 93"/>
                <a:gd name="T12" fmla="*/ 0 w 133"/>
                <a:gd name="T13" fmla="*/ 93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93">
                  <a:moveTo>
                    <a:pt x="0" y="93"/>
                  </a:moveTo>
                  <a:lnTo>
                    <a:pt x="133" y="93"/>
                  </a:lnTo>
                  <a:lnTo>
                    <a:pt x="133" y="0"/>
                  </a:lnTo>
                  <a:lnTo>
                    <a:pt x="126" y="0"/>
                  </a:lnTo>
                  <a:lnTo>
                    <a:pt x="126" y="89"/>
                  </a:lnTo>
                  <a:lnTo>
                    <a:pt x="0" y="89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C6C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8" name="Freeform 371"/>
            <p:cNvSpPr/>
            <p:nvPr/>
          </p:nvSpPr>
          <p:spPr bwMode="auto">
            <a:xfrm>
              <a:off x="2886" y="2645"/>
              <a:ext cx="126" cy="89"/>
            </a:xfrm>
            <a:custGeom>
              <a:avLst/>
              <a:gdLst>
                <a:gd name="T0" fmla="*/ 0 w 126"/>
                <a:gd name="T1" fmla="*/ 89 h 89"/>
                <a:gd name="T2" fmla="*/ 126 w 126"/>
                <a:gd name="T3" fmla="*/ 89 h 89"/>
                <a:gd name="T4" fmla="*/ 126 w 126"/>
                <a:gd name="T5" fmla="*/ 0 h 89"/>
                <a:gd name="T6" fmla="*/ 121 w 126"/>
                <a:gd name="T7" fmla="*/ 0 h 89"/>
                <a:gd name="T8" fmla="*/ 121 w 126"/>
                <a:gd name="T9" fmla="*/ 85 h 89"/>
                <a:gd name="T10" fmla="*/ 0 w 126"/>
                <a:gd name="T11" fmla="*/ 85 h 89"/>
                <a:gd name="T12" fmla="*/ 0 w 126"/>
                <a:gd name="T13" fmla="*/ 89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89">
                  <a:moveTo>
                    <a:pt x="0" y="89"/>
                  </a:moveTo>
                  <a:lnTo>
                    <a:pt x="126" y="89"/>
                  </a:lnTo>
                  <a:lnTo>
                    <a:pt x="126" y="0"/>
                  </a:lnTo>
                  <a:lnTo>
                    <a:pt x="121" y="0"/>
                  </a:lnTo>
                  <a:lnTo>
                    <a:pt x="121" y="85"/>
                  </a:lnTo>
                  <a:lnTo>
                    <a:pt x="0" y="85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CAC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09" name="Freeform 372"/>
            <p:cNvSpPr/>
            <p:nvPr/>
          </p:nvSpPr>
          <p:spPr bwMode="auto">
            <a:xfrm>
              <a:off x="2886" y="2645"/>
              <a:ext cx="121" cy="85"/>
            </a:xfrm>
            <a:custGeom>
              <a:avLst/>
              <a:gdLst>
                <a:gd name="T0" fmla="*/ 0 w 121"/>
                <a:gd name="T1" fmla="*/ 85 h 85"/>
                <a:gd name="T2" fmla="*/ 121 w 121"/>
                <a:gd name="T3" fmla="*/ 85 h 85"/>
                <a:gd name="T4" fmla="*/ 121 w 121"/>
                <a:gd name="T5" fmla="*/ 0 h 85"/>
                <a:gd name="T6" fmla="*/ 115 w 121"/>
                <a:gd name="T7" fmla="*/ 0 h 85"/>
                <a:gd name="T8" fmla="*/ 115 w 121"/>
                <a:gd name="T9" fmla="*/ 80 h 85"/>
                <a:gd name="T10" fmla="*/ 0 w 121"/>
                <a:gd name="T11" fmla="*/ 80 h 85"/>
                <a:gd name="T12" fmla="*/ 0 w 121"/>
                <a:gd name="T13" fmla="*/ 85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85">
                  <a:moveTo>
                    <a:pt x="0" y="85"/>
                  </a:moveTo>
                  <a:lnTo>
                    <a:pt x="121" y="85"/>
                  </a:lnTo>
                  <a:lnTo>
                    <a:pt x="121" y="0"/>
                  </a:lnTo>
                  <a:lnTo>
                    <a:pt x="115" y="0"/>
                  </a:lnTo>
                  <a:lnTo>
                    <a:pt x="115" y="80"/>
                  </a:lnTo>
                  <a:lnTo>
                    <a:pt x="0" y="8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CE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0" name="Freeform 373"/>
            <p:cNvSpPr/>
            <p:nvPr/>
          </p:nvSpPr>
          <p:spPr bwMode="auto">
            <a:xfrm>
              <a:off x="2886" y="2645"/>
              <a:ext cx="115" cy="80"/>
            </a:xfrm>
            <a:custGeom>
              <a:avLst/>
              <a:gdLst>
                <a:gd name="T0" fmla="*/ 0 w 115"/>
                <a:gd name="T1" fmla="*/ 80 h 80"/>
                <a:gd name="T2" fmla="*/ 115 w 115"/>
                <a:gd name="T3" fmla="*/ 80 h 80"/>
                <a:gd name="T4" fmla="*/ 115 w 115"/>
                <a:gd name="T5" fmla="*/ 0 h 80"/>
                <a:gd name="T6" fmla="*/ 109 w 115"/>
                <a:gd name="T7" fmla="*/ 0 h 80"/>
                <a:gd name="T8" fmla="*/ 109 w 115"/>
                <a:gd name="T9" fmla="*/ 76 h 80"/>
                <a:gd name="T10" fmla="*/ 0 w 115"/>
                <a:gd name="T11" fmla="*/ 76 h 80"/>
                <a:gd name="T12" fmla="*/ 0 w 115"/>
                <a:gd name="T13" fmla="*/ 8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80">
                  <a:moveTo>
                    <a:pt x="0" y="80"/>
                  </a:moveTo>
                  <a:lnTo>
                    <a:pt x="115" y="80"/>
                  </a:lnTo>
                  <a:lnTo>
                    <a:pt x="115" y="0"/>
                  </a:lnTo>
                  <a:lnTo>
                    <a:pt x="109" y="0"/>
                  </a:lnTo>
                  <a:lnTo>
                    <a:pt x="109" y="76"/>
                  </a:lnTo>
                  <a:lnTo>
                    <a:pt x="0" y="76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D1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1" name="Freeform 374"/>
            <p:cNvSpPr/>
            <p:nvPr/>
          </p:nvSpPr>
          <p:spPr bwMode="auto">
            <a:xfrm>
              <a:off x="2886" y="2645"/>
              <a:ext cx="109" cy="76"/>
            </a:xfrm>
            <a:custGeom>
              <a:avLst/>
              <a:gdLst>
                <a:gd name="T0" fmla="*/ 0 w 109"/>
                <a:gd name="T1" fmla="*/ 76 h 76"/>
                <a:gd name="T2" fmla="*/ 109 w 109"/>
                <a:gd name="T3" fmla="*/ 76 h 76"/>
                <a:gd name="T4" fmla="*/ 109 w 109"/>
                <a:gd name="T5" fmla="*/ 0 h 76"/>
                <a:gd name="T6" fmla="*/ 101 w 109"/>
                <a:gd name="T7" fmla="*/ 0 h 76"/>
                <a:gd name="T8" fmla="*/ 101 w 109"/>
                <a:gd name="T9" fmla="*/ 71 h 76"/>
                <a:gd name="T10" fmla="*/ 0 w 109"/>
                <a:gd name="T11" fmla="*/ 71 h 76"/>
                <a:gd name="T12" fmla="*/ 0 w 109"/>
                <a:gd name="T13" fmla="*/ 7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76">
                  <a:moveTo>
                    <a:pt x="0" y="76"/>
                  </a:moveTo>
                  <a:lnTo>
                    <a:pt x="109" y="76"/>
                  </a:lnTo>
                  <a:lnTo>
                    <a:pt x="109" y="0"/>
                  </a:lnTo>
                  <a:lnTo>
                    <a:pt x="101" y="0"/>
                  </a:lnTo>
                  <a:lnTo>
                    <a:pt x="101" y="71"/>
                  </a:lnTo>
                  <a:lnTo>
                    <a:pt x="0" y="71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D5D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2" name="Freeform 375"/>
            <p:cNvSpPr/>
            <p:nvPr/>
          </p:nvSpPr>
          <p:spPr bwMode="auto">
            <a:xfrm>
              <a:off x="2884" y="2644"/>
              <a:ext cx="103" cy="72"/>
            </a:xfrm>
            <a:custGeom>
              <a:avLst/>
              <a:gdLst>
                <a:gd name="T0" fmla="*/ 2 w 103"/>
                <a:gd name="T1" fmla="*/ 72 h 72"/>
                <a:gd name="T2" fmla="*/ 103 w 103"/>
                <a:gd name="T3" fmla="*/ 72 h 72"/>
                <a:gd name="T4" fmla="*/ 103 w 103"/>
                <a:gd name="T5" fmla="*/ 1 h 72"/>
                <a:gd name="T6" fmla="*/ 97 w 103"/>
                <a:gd name="T7" fmla="*/ 0 h 72"/>
                <a:gd name="T8" fmla="*/ 97 w 103"/>
                <a:gd name="T9" fmla="*/ 67 h 72"/>
                <a:gd name="T10" fmla="*/ 0 w 103"/>
                <a:gd name="T11" fmla="*/ 67 h 72"/>
                <a:gd name="T12" fmla="*/ 2 w 103"/>
                <a:gd name="T13" fmla="*/ 72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72">
                  <a:moveTo>
                    <a:pt x="2" y="72"/>
                  </a:moveTo>
                  <a:lnTo>
                    <a:pt x="103" y="72"/>
                  </a:lnTo>
                  <a:lnTo>
                    <a:pt x="103" y="1"/>
                  </a:lnTo>
                  <a:lnTo>
                    <a:pt x="97" y="0"/>
                  </a:lnTo>
                  <a:lnTo>
                    <a:pt x="97" y="67"/>
                  </a:lnTo>
                  <a:lnTo>
                    <a:pt x="0" y="67"/>
                  </a:lnTo>
                  <a:lnTo>
                    <a:pt x="2" y="72"/>
                  </a:lnTo>
                  <a:close/>
                </a:path>
              </a:pathLst>
            </a:custGeom>
            <a:solidFill>
              <a:srgbClr val="D9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3" name="Freeform 376"/>
            <p:cNvSpPr/>
            <p:nvPr/>
          </p:nvSpPr>
          <p:spPr bwMode="auto">
            <a:xfrm>
              <a:off x="2884" y="2644"/>
              <a:ext cx="97" cy="67"/>
            </a:xfrm>
            <a:custGeom>
              <a:avLst/>
              <a:gdLst>
                <a:gd name="T0" fmla="*/ 0 w 97"/>
                <a:gd name="T1" fmla="*/ 67 h 67"/>
                <a:gd name="T2" fmla="*/ 97 w 97"/>
                <a:gd name="T3" fmla="*/ 67 h 67"/>
                <a:gd name="T4" fmla="*/ 97 w 97"/>
                <a:gd name="T5" fmla="*/ 0 h 67"/>
                <a:gd name="T6" fmla="*/ 89 w 97"/>
                <a:gd name="T7" fmla="*/ 1 h 67"/>
                <a:gd name="T8" fmla="*/ 89 w 97"/>
                <a:gd name="T9" fmla="*/ 62 h 67"/>
                <a:gd name="T10" fmla="*/ 2 w 97"/>
                <a:gd name="T11" fmla="*/ 62 h 67"/>
                <a:gd name="T12" fmla="*/ 0 w 97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67">
                  <a:moveTo>
                    <a:pt x="0" y="67"/>
                  </a:moveTo>
                  <a:lnTo>
                    <a:pt x="97" y="67"/>
                  </a:lnTo>
                  <a:lnTo>
                    <a:pt x="97" y="0"/>
                  </a:lnTo>
                  <a:lnTo>
                    <a:pt x="89" y="1"/>
                  </a:lnTo>
                  <a:lnTo>
                    <a:pt x="89" y="62"/>
                  </a:lnTo>
                  <a:lnTo>
                    <a:pt x="2" y="62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DDD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4" name="Freeform 377"/>
            <p:cNvSpPr/>
            <p:nvPr/>
          </p:nvSpPr>
          <p:spPr bwMode="auto">
            <a:xfrm>
              <a:off x="2886" y="2645"/>
              <a:ext cx="87" cy="61"/>
            </a:xfrm>
            <a:custGeom>
              <a:avLst/>
              <a:gdLst>
                <a:gd name="T0" fmla="*/ 0 w 87"/>
                <a:gd name="T1" fmla="*/ 61 h 61"/>
                <a:gd name="T2" fmla="*/ 87 w 87"/>
                <a:gd name="T3" fmla="*/ 61 h 61"/>
                <a:gd name="T4" fmla="*/ 87 w 87"/>
                <a:gd name="T5" fmla="*/ 0 h 61"/>
                <a:gd name="T6" fmla="*/ 80 w 87"/>
                <a:gd name="T7" fmla="*/ 0 h 61"/>
                <a:gd name="T8" fmla="*/ 80 w 87"/>
                <a:gd name="T9" fmla="*/ 56 h 61"/>
                <a:gd name="T10" fmla="*/ 0 w 87"/>
                <a:gd name="T11" fmla="*/ 56 h 61"/>
                <a:gd name="T12" fmla="*/ 0 w 87"/>
                <a:gd name="T13" fmla="*/ 6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61">
                  <a:moveTo>
                    <a:pt x="0" y="61"/>
                  </a:moveTo>
                  <a:lnTo>
                    <a:pt x="87" y="61"/>
                  </a:lnTo>
                  <a:lnTo>
                    <a:pt x="87" y="0"/>
                  </a:lnTo>
                  <a:lnTo>
                    <a:pt x="80" y="0"/>
                  </a:lnTo>
                  <a:lnTo>
                    <a:pt x="80" y="56"/>
                  </a:lnTo>
                  <a:lnTo>
                    <a:pt x="0" y="56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0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5" name="Freeform 378"/>
            <p:cNvSpPr/>
            <p:nvPr/>
          </p:nvSpPr>
          <p:spPr bwMode="auto">
            <a:xfrm>
              <a:off x="2886" y="2645"/>
              <a:ext cx="80" cy="56"/>
            </a:xfrm>
            <a:custGeom>
              <a:avLst/>
              <a:gdLst>
                <a:gd name="T0" fmla="*/ 0 w 80"/>
                <a:gd name="T1" fmla="*/ 56 h 56"/>
                <a:gd name="T2" fmla="*/ 80 w 80"/>
                <a:gd name="T3" fmla="*/ 56 h 56"/>
                <a:gd name="T4" fmla="*/ 80 w 80"/>
                <a:gd name="T5" fmla="*/ 0 h 56"/>
                <a:gd name="T6" fmla="*/ 71 w 80"/>
                <a:gd name="T7" fmla="*/ 0 h 56"/>
                <a:gd name="T8" fmla="*/ 71 w 80"/>
                <a:gd name="T9" fmla="*/ 50 h 56"/>
                <a:gd name="T10" fmla="*/ 0 w 80"/>
                <a:gd name="T11" fmla="*/ 50 h 56"/>
                <a:gd name="T12" fmla="*/ 0 w 80"/>
                <a:gd name="T13" fmla="*/ 56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56">
                  <a:moveTo>
                    <a:pt x="0" y="56"/>
                  </a:moveTo>
                  <a:lnTo>
                    <a:pt x="80" y="56"/>
                  </a:lnTo>
                  <a:lnTo>
                    <a:pt x="80" y="0"/>
                  </a:lnTo>
                  <a:lnTo>
                    <a:pt x="71" y="0"/>
                  </a:lnTo>
                  <a:lnTo>
                    <a:pt x="71" y="50"/>
                  </a:lnTo>
                  <a:lnTo>
                    <a:pt x="0" y="5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4E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6" name="Freeform 379"/>
            <p:cNvSpPr/>
            <p:nvPr/>
          </p:nvSpPr>
          <p:spPr bwMode="auto">
            <a:xfrm>
              <a:off x="2886" y="2645"/>
              <a:ext cx="71" cy="50"/>
            </a:xfrm>
            <a:custGeom>
              <a:avLst/>
              <a:gdLst>
                <a:gd name="T0" fmla="*/ 0 w 71"/>
                <a:gd name="T1" fmla="*/ 50 h 50"/>
                <a:gd name="T2" fmla="*/ 71 w 71"/>
                <a:gd name="T3" fmla="*/ 50 h 50"/>
                <a:gd name="T4" fmla="*/ 71 w 71"/>
                <a:gd name="T5" fmla="*/ 0 h 50"/>
                <a:gd name="T6" fmla="*/ 62 w 71"/>
                <a:gd name="T7" fmla="*/ 0 h 50"/>
                <a:gd name="T8" fmla="*/ 62 w 71"/>
                <a:gd name="T9" fmla="*/ 43 h 50"/>
                <a:gd name="T10" fmla="*/ 0 w 71"/>
                <a:gd name="T11" fmla="*/ 43 h 50"/>
                <a:gd name="T12" fmla="*/ 0 w 71"/>
                <a:gd name="T13" fmla="*/ 5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0">
                  <a:moveTo>
                    <a:pt x="0" y="50"/>
                  </a:moveTo>
                  <a:lnTo>
                    <a:pt x="71" y="50"/>
                  </a:lnTo>
                  <a:lnTo>
                    <a:pt x="71" y="0"/>
                  </a:lnTo>
                  <a:lnTo>
                    <a:pt x="62" y="0"/>
                  </a:lnTo>
                  <a:lnTo>
                    <a:pt x="62" y="43"/>
                  </a:lnTo>
                  <a:lnTo>
                    <a:pt x="0" y="43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E8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7" name="Freeform 380"/>
            <p:cNvSpPr/>
            <p:nvPr/>
          </p:nvSpPr>
          <p:spPr bwMode="auto">
            <a:xfrm>
              <a:off x="2886" y="2645"/>
              <a:ext cx="62" cy="43"/>
            </a:xfrm>
            <a:custGeom>
              <a:avLst/>
              <a:gdLst>
                <a:gd name="T0" fmla="*/ 0 w 62"/>
                <a:gd name="T1" fmla="*/ 43 h 43"/>
                <a:gd name="T2" fmla="*/ 62 w 62"/>
                <a:gd name="T3" fmla="*/ 43 h 43"/>
                <a:gd name="T4" fmla="*/ 62 w 62"/>
                <a:gd name="T5" fmla="*/ 0 h 43"/>
                <a:gd name="T6" fmla="*/ 53 w 62"/>
                <a:gd name="T7" fmla="*/ 0 h 43"/>
                <a:gd name="T8" fmla="*/ 53 w 62"/>
                <a:gd name="T9" fmla="*/ 37 h 43"/>
                <a:gd name="T10" fmla="*/ 0 w 62"/>
                <a:gd name="T11" fmla="*/ 37 h 43"/>
                <a:gd name="T12" fmla="*/ 0 w 62"/>
                <a:gd name="T13" fmla="*/ 43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3">
                  <a:moveTo>
                    <a:pt x="0" y="43"/>
                  </a:moveTo>
                  <a:lnTo>
                    <a:pt x="62" y="43"/>
                  </a:lnTo>
                  <a:lnTo>
                    <a:pt x="62" y="0"/>
                  </a:lnTo>
                  <a:lnTo>
                    <a:pt x="53" y="0"/>
                  </a:lnTo>
                  <a:lnTo>
                    <a:pt x="53" y="37"/>
                  </a:lnTo>
                  <a:lnTo>
                    <a:pt x="0" y="37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EB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8" name="Freeform 381"/>
            <p:cNvSpPr/>
            <p:nvPr/>
          </p:nvSpPr>
          <p:spPr bwMode="auto">
            <a:xfrm>
              <a:off x="2886" y="2645"/>
              <a:ext cx="53" cy="37"/>
            </a:xfrm>
            <a:custGeom>
              <a:avLst/>
              <a:gdLst>
                <a:gd name="T0" fmla="*/ 0 w 53"/>
                <a:gd name="T1" fmla="*/ 37 h 37"/>
                <a:gd name="T2" fmla="*/ 53 w 53"/>
                <a:gd name="T3" fmla="*/ 37 h 37"/>
                <a:gd name="T4" fmla="*/ 53 w 53"/>
                <a:gd name="T5" fmla="*/ 0 h 37"/>
                <a:gd name="T6" fmla="*/ 44 w 53"/>
                <a:gd name="T7" fmla="*/ 0 h 37"/>
                <a:gd name="T8" fmla="*/ 44 w 53"/>
                <a:gd name="T9" fmla="*/ 31 h 37"/>
                <a:gd name="T10" fmla="*/ 0 w 53"/>
                <a:gd name="T11" fmla="*/ 31 h 37"/>
                <a:gd name="T12" fmla="*/ 0 w 53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7">
                  <a:moveTo>
                    <a:pt x="0" y="37"/>
                  </a:moveTo>
                  <a:lnTo>
                    <a:pt x="53" y="37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44" y="31"/>
                  </a:lnTo>
                  <a:lnTo>
                    <a:pt x="0" y="3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EFE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19" name="Freeform 382"/>
            <p:cNvSpPr/>
            <p:nvPr/>
          </p:nvSpPr>
          <p:spPr bwMode="auto">
            <a:xfrm>
              <a:off x="2886" y="2645"/>
              <a:ext cx="44" cy="31"/>
            </a:xfrm>
            <a:custGeom>
              <a:avLst/>
              <a:gdLst>
                <a:gd name="T0" fmla="*/ 0 w 44"/>
                <a:gd name="T1" fmla="*/ 31 h 31"/>
                <a:gd name="T2" fmla="*/ 44 w 44"/>
                <a:gd name="T3" fmla="*/ 31 h 31"/>
                <a:gd name="T4" fmla="*/ 44 w 44"/>
                <a:gd name="T5" fmla="*/ 0 h 31"/>
                <a:gd name="T6" fmla="*/ 34 w 44"/>
                <a:gd name="T7" fmla="*/ 0 h 31"/>
                <a:gd name="T8" fmla="*/ 34 w 44"/>
                <a:gd name="T9" fmla="*/ 24 h 31"/>
                <a:gd name="T10" fmla="*/ 0 w 44"/>
                <a:gd name="T11" fmla="*/ 24 h 31"/>
                <a:gd name="T12" fmla="*/ 0 w 44"/>
                <a:gd name="T13" fmla="*/ 3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1">
                  <a:moveTo>
                    <a:pt x="0" y="31"/>
                  </a:moveTo>
                  <a:lnTo>
                    <a:pt x="44" y="31"/>
                  </a:lnTo>
                  <a:lnTo>
                    <a:pt x="44" y="0"/>
                  </a:lnTo>
                  <a:lnTo>
                    <a:pt x="34" y="0"/>
                  </a:lnTo>
                  <a:lnTo>
                    <a:pt x="34" y="24"/>
                  </a:lnTo>
                  <a:lnTo>
                    <a:pt x="0" y="2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3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0" name="Freeform 383"/>
            <p:cNvSpPr/>
            <p:nvPr/>
          </p:nvSpPr>
          <p:spPr bwMode="auto">
            <a:xfrm>
              <a:off x="2884" y="2644"/>
              <a:ext cx="36" cy="25"/>
            </a:xfrm>
            <a:custGeom>
              <a:avLst/>
              <a:gdLst>
                <a:gd name="T0" fmla="*/ 2 w 36"/>
                <a:gd name="T1" fmla="*/ 25 h 25"/>
                <a:gd name="T2" fmla="*/ 36 w 36"/>
                <a:gd name="T3" fmla="*/ 25 h 25"/>
                <a:gd name="T4" fmla="*/ 36 w 36"/>
                <a:gd name="T5" fmla="*/ 1 h 25"/>
                <a:gd name="T6" fmla="*/ 26 w 36"/>
                <a:gd name="T7" fmla="*/ 0 h 25"/>
                <a:gd name="T8" fmla="*/ 26 w 36"/>
                <a:gd name="T9" fmla="*/ 18 h 25"/>
                <a:gd name="T10" fmla="*/ 0 w 36"/>
                <a:gd name="T11" fmla="*/ 18 h 25"/>
                <a:gd name="T12" fmla="*/ 2 w 36"/>
                <a:gd name="T13" fmla="*/ 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25">
                  <a:moveTo>
                    <a:pt x="2" y="25"/>
                  </a:moveTo>
                  <a:lnTo>
                    <a:pt x="36" y="25"/>
                  </a:lnTo>
                  <a:lnTo>
                    <a:pt x="36" y="1"/>
                  </a:lnTo>
                  <a:lnTo>
                    <a:pt x="26" y="0"/>
                  </a:lnTo>
                  <a:lnTo>
                    <a:pt x="26" y="18"/>
                  </a:lnTo>
                  <a:lnTo>
                    <a:pt x="0" y="18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1" name="Freeform 384"/>
            <p:cNvSpPr/>
            <p:nvPr/>
          </p:nvSpPr>
          <p:spPr bwMode="auto">
            <a:xfrm>
              <a:off x="2884" y="2644"/>
              <a:ext cx="26" cy="18"/>
            </a:xfrm>
            <a:custGeom>
              <a:avLst/>
              <a:gdLst>
                <a:gd name="T0" fmla="*/ 0 w 26"/>
                <a:gd name="T1" fmla="*/ 18 h 18"/>
                <a:gd name="T2" fmla="*/ 26 w 26"/>
                <a:gd name="T3" fmla="*/ 18 h 18"/>
                <a:gd name="T4" fmla="*/ 26 w 26"/>
                <a:gd name="T5" fmla="*/ 0 h 18"/>
                <a:gd name="T6" fmla="*/ 14 w 26"/>
                <a:gd name="T7" fmla="*/ 1 h 18"/>
                <a:gd name="T8" fmla="*/ 14 w 26"/>
                <a:gd name="T9" fmla="*/ 10 h 18"/>
                <a:gd name="T10" fmla="*/ 2 w 26"/>
                <a:gd name="T11" fmla="*/ 10 h 18"/>
                <a:gd name="T12" fmla="*/ 0 w 26"/>
                <a:gd name="T13" fmla="*/ 1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8">
                  <a:moveTo>
                    <a:pt x="0" y="18"/>
                  </a:moveTo>
                  <a:lnTo>
                    <a:pt x="26" y="18"/>
                  </a:lnTo>
                  <a:lnTo>
                    <a:pt x="26" y="0"/>
                  </a:lnTo>
                  <a:lnTo>
                    <a:pt x="14" y="1"/>
                  </a:lnTo>
                  <a:lnTo>
                    <a:pt x="14" y="10"/>
                  </a:lnTo>
                  <a:lnTo>
                    <a:pt x="2" y="1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2" name="Freeform 385"/>
            <p:cNvSpPr/>
            <p:nvPr/>
          </p:nvSpPr>
          <p:spPr bwMode="auto">
            <a:xfrm>
              <a:off x="2884" y="2644"/>
              <a:ext cx="14" cy="10"/>
            </a:xfrm>
            <a:custGeom>
              <a:avLst/>
              <a:gdLst>
                <a:gd name="T0" fmla="*/ 2 w 14"/>
                <a:gd name="T1" fmla="*/ 10 h 10"/>
                <a:gd name="T2" fmla="*/ 14 w 14"/>
                <a:gd name="T3" fmla="*/ 10 h 10"/>
                <a:gd name="T4" fmla="*/ 14 w 14"/>
                <a:gd name="T5" fmla="*/ 1 h 10"/>
                <a:gd name="T6" fmla="*/ 2 w 14"/>
                <a:gd name="T7" fmla="*/ 0 h 10"/>
                <a:gd name="T8" fmla="*/ 2 w 14"/>
                <a:gd name="T9" fmla="*/ 1 h 10"/>
                <a:gd name="T10" fmla="*/ 0 w 14"/>
                <a:gd name="T11" fmla="*/ 1 h 10"/>
                <a:gd name="T12" fmla="*/ 2 w 14"/>
                <a:gd name="T13" fmla="*/ 1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2" y="10"/>
                  </a:moveTo>
                  <a:lnTo>
                    <a:pt x="14" y="10"/>
                  </a:lnTo>
                  <a:lnTo>
                    <a:pt x="14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FE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3" name="Freeform 386"/>
            <p:cNvSpPr/>
            <p:nvPr/>
          </p:nvSpPr>
          <p:spPr bwMode="auto">
            <a:xfrm>
              <a:off x="2884" y="2644"/>
              <a:ext cx="2" cy="1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1 h 1"/>
                <a:gd name="T4" fmla="*/ 2 w 2"/>
                <a:gd name="T5" fmla="*/ 0 h 1"/>
                <a:gd name="T6" fmla="*/ 2 w 2"/>
                <a:gd name="T7" fmla="*/ 1 h 1"/>
                <a:gd name="T8" fmla="*/ 2 w 2"/>
                <a:gd name="T9" fmla="*/ 1 h 1"/>
                <a:gd name="T10" fmla="*/ 2 w 2"/>
                <a:gd name="T11" fmla="*/ 1 h 1"/>
                <a:gd name="T12" fmla="*/ 0 w 2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4" name="Freeform 387"/>
            <p:cNvSpPr/>
            <p:nvPr/>
          </p:nvSpPr>
          <p:spPr bwMode="auto">
            <a:xfrm>
              <a:off x="2872" y="2633"/>
              <a:ext cx="230" cy="171"/>
            </a:xfrm>
            <a:custGeom>
              <a:avLst/>
              <a:gdLst>
                <a:gd name="T0" fmla="*/ 230 w 230"/>
                <a:gd name="T1" fmla="*/ 0 h 171"/>
                <a:gd name="T2" fmla="*/ 0 w 230"/>
                <a:gd name="T3" fmla="*/ 0 h 171"/>
                <a:gd name="T4" fmla="*/ 0 w 230"/>
                <a:gd name="T5" fmla="*/ 171 h 171"/>
                <a:gd name="T6" fmla="*/ 4 w 230"/>
                <a:gd name="T7" fmla="*/ 171 h 171"/>
                <a:gd name="T8" fmla="*/ 4 w 230"/>
                <a:gd name="T9" fmla="*/ 2 h 171"/>
                <a:gd name="T10" fmla="*/ 230 w 230"/>
                <a:gd name="T11" fmla="*/ 2 h 171"/>
                <a:gd name="T12" fmla="*/ 230 w 230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0" h="171">
                  <a:moveTo>
                    <a:pt x="230" y="0"/>
                  </a:moveTo>
                  <a:lnTo>
                    <a:pt x="0" y="0"/>
                  </a:lnTo>
                  <a:lnTo>
                    <a:pt x="0" y="171"/>
                  </a:lnTo>
                  <a:lnTo>
                    <a:pt x="4" y="171"/>
                  </a:lnTo>
                  <a:lnTo>
                    <a:pt x="4" y="2"/>
                  </a:lnTo>
                  <a:lnTo>
                    <a:pt x="230" y="2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5" name="Freeform 388"/>
            <p:cNvSpPr/>
            <p:nvPr/>
          </p:nvSpPr>
          <p:spPr bwMode="auto">
            <a:xfrm>
              <a:off x="2876" y="2635"/>
              <a:ext cx="226" cy="169"/>
            </a:xfrm>
            <a:custGeom>
              <a:avLst/>
              <a:gdLst>
                <a:gd name="T0" fmla="*/ 226 w 226"/>
                <a:gd name="T1" fmla="*/ 0 h 169"/>
                <a:gd name="T2" fmla="*/ 0 w 226"/>
                <a:gd name="T3" fmla="*/ 0 h 169"/>
                <a:gd name="T4" fmla="*/ 0 w 226"/>
                <a:gd name="T5" fmla="*/ 169 h 169"/>
                <a:gd name="T6" fmla="*/ 5 w 226"/>
                <a:gd name="T7" fmla="*/ 169 h 169"/>
                <a:gd name="T8" fmla="*/ 5 w 226"/>
                <a:gd name="T9" fmla="*/ 4 h 169"/>
                <a:gd name="T10" fmla="*/ 226 w 226"/>
                <a:gd name="T11" fmla="*/ 4 h 169"/>
                <a:gd name="T12" fmla="*/ 226 w 226"/>
                <a:gd name="T13" fmla="*/ 0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69">
                  <a:moveTo>
                    <a:pt x="226" y="0"/>
                  </a:moveTo>
                  <a:lnTo>
                    <a:pt x="0" y="0"/>
                  </a:lnTo>
                  <a:lnTo>
                    <a:pt x="0" y="169"/>
                  </a:lnTo>
                  <a:lnTo>
                    <a:pt x="5" y="169"/>
                  </a:lnTo>
                  <a:lnTo>
                    <a:pt x="5" y="4"/>
                  </a:lnTo>
                  <a:lnTo>
                    <a:pt x="226" y="4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6" name="Freeform 389"/>
            <p:cNvSpPr/>
            <p:nvPr/>
          </p:nvSpPr>
          <p:spPr bwMode="auto">
            <a:xfrm>
              <a:off x="2881" y="2639"/>
              <a:ext cx="221" cy="165"/>
            </a:xfrm>
            <a:custGeom>
              <a:avLst/>
              <a:gdLst>
                <a:gd name="T0" fmla="*/ 221 w 221"/>
                <a:gd name="T1" fmla="*/ 0 h 165"/>
                <a:gd name="T2" fmla="*/ 0 w 221"/>
                <a:gd name="T3" fmla="*/ 0 h 165"/>
                <a:gd name="T4" fmla="*/ 0 w 221"/>
                <a:gd name="T5" fmla="*/ 165 h 165"/>
                <a:gd name="T6" fmla="*/ 5 w 221"/>
                <a:gd name="T7" fmla="*/ 165 h 165"/>
                <a:gd name="T8" fmla="*/ 5 w 221"/>
                <a:gd name="T9" fmla="*/ 4 h 165"/>
                <a:gd name="T10" fmla="*/ 221 w 221"/>
                <a:gd name="T11" fmla="*/ 4 h 165"/>
                <a:gd name="T12" fmla="*/ 221 w 221"/>
                <a:gd name="T13" fmla="*/ 0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1" h="165">
                  <a:moveTo>
                    <a:pt x="221" y="0"/>
                  </a:moveTo>
                  <a:lnTo>
                    <a:pt x="0" y="0"/>
                  </a:lnTo>
                  <a:lnTo>
                    <a:pt x="0" y="165"/>
                  </a:lnTo>
                  <a:lnTo>
                    <a:pt x="5" y="165"/>
                  </a:lnTo>
                  <a:lnTo>
                    <a:pt x="5" y="4"/>
                  </a:lnTo>
                  <a:lnTo>
                    <a:pt x="221" y="4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7" name="Freeform 390"/>
            <p:cNvSpPr/>
            <p:nvPr/>
          </p:nvSpPr>
          <p:spPr bwMode="auto">
            <a:xfrm>
              <a:off x="2886" y="2643"/>
              <a:ext cx="216" cy="161"/>
            </a:xfrm>
            <a:custGeom>
              <a:avLst/>
              <a:gdLst>
                <a:gd name="T0" fmla="*/ 216 w 216"/>
                <a:gd name="T1" fmla="*/ 0 h 161"/>
                <a:gd name="T2" fmla="*/ 0 w 216"/>
                <a:gd name="T3" fmla="*/ 0 h 161"/>
                <a:gd name="T4" fmla="*/ 0 w 216"/>
                <a:gd name="T5" fmla="*/ 161 h 161"/>
                <a:gd name="T6" fmla="*/ 5 w 216"/>
                <a:gd name="T7" fmla="*/ 161 h 161"/>
                <a:gd name="T8" fmla="*/ 5 w 216"/>
                <a:gd name="T9" fmla="*/ 4 h 161"/>
                <a:gd name="T10" fmla="*/ 216 w 216"/>
                <a:gd name="T11" fmla="*/ 4 h 161"/>
                <a:gd name="T12" fmla="*/ 216 w 216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161">
                  <a:moveTo>
                    <a:pt x="216" y="0"/>
                  </a:moveTo>
                  <a:lnTo>
                    <a:pt x="0" y="0"/>
                  </a:lnTo>
                  <a:lnTo>
                    <a:pt x="0" y="161"/>
                  </a:lnTo>
                  <a:lnTo>
                    <a:pt x="5" y="161"/>
                  </a:lnTo>
                  <a:lnTo>
                    <a:pt x="5" y="4"/>
                  </a:lnTo>
                  <a:lnTo>
                    <a:pt x="216" y="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8" name="Freeform 391"/>
            <p:cNvSpPr/>
            <p:nvPr/>
          </p:nvSpPr>
          <p:spPr bwMode="auto">
            <a:xfrm>
              <a:off x="2891" y="2647"/>
              <a:ext cx="211" cy="157"/>
            </a:xfrm>
            <a:custGeom>
              <a:avLst/>
              <a:gdLst>
                <a:gd name="T0" fmla="*/ 211 w 211"/>
                <a:gd name="T1" fmla="*/ 0 h 157"/>
                <a:gd name="T2" fmla="*/ 0 w 211"/>
                <a:gd name="T3" fmla="*/ 0 h 157"/>
                <a:gd name="T4" fmla="*/ 0 w 211"/>
                <a:gd name="T5" fmla="*/ 157 h 157"/>
                <a:gd name="T6" fmla="*/ 5 w 211"/>
                <a:gd name="T7" fmla="*/ 157 h 157"/>
                <a:gd name="T8" fmla="*/ 5 w 211"/>
                <a:gd name="T9" fmla="*/ 3 h 157"/>
                <a:gd name="T10" fmla="*/ 211 w 211"/>
                <a:gd name="T11" fmla="*/ 3 h 157"/>
                <a:gd name="T12" fmla="*/ 211 w 211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57">
                  <a:moveTo>
                    <a:pt x="211" y="0"/>
                  </a:moveTo>
                  <a:lnTo>
                    <a:pt x="0" y="0"/>
                  </a:lnTo>
                  <a:lnTo>
                    <a:pt x="0" y="157"/>
                  </a:lnTo>
                  <a:lnTo>
                    <a:pt x="5" y="157"/>
                  </a:lnTo>
                  <a:lnTo>
                    <a:pt x="5" y="3"/>
                  </a:lnTo>
                  <a:lnTo>
                    <a:pt x="211" y="3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29" name="Freeform 392"/>
            <p:cNvSpPr/>
            <p:nvPr/>
          </p:nvSpPr>
          <p:spPr bwMode="auto">
            <a:xfrm>
              <a:off x="2896" y="2650"/>
              <a:ext cx="206" cy="154"/>
            </a:xfrm>
            <a:custGeom>
              <a:avLst/>
              <a:gdLst>
                <a:gd name="T0" fmla="*/ 206 w 206"/>
                <a:gd name="T1" fmla="*/ 0 h 154"/>
                <a:gd name="T2" fmla="*/ 0 w 206"/>
                <a:gd name="T3" fmla="*/ 0 h 154"/>
                <a:gd name="T4" fmla="*/ 0 w 206"/>
                <a:gd name="T5" fmla="*/ 154 h 154"/>
                <a:gd name="T6" fmla="*/ 5 w 206"/>
                <a:gd name="T7" fmla="*/ 154 h 154"/>
                <a:gd name="T8" fmla="*/ 5 w 206"/>
                <a:gd name="T9" fmla="*/ 4 h 154"/>
                <a:gd name="T10" fmla="*/ 206 w 206"/>
                <a:gd name="T11" fmla="*/ 4 h 154"/>
                <a:gd name="T12" fmla="*/ 206 w 206"/>
                <a:gd name="T13" fmla="*/ 0 h 1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154">
                  <a:moveTo>
                    <a:pt x="206" y="0"/>
                  </a:moveTo>
                  <a:lnTo>
                    <a:pt x="0" y="0"/>
                  </a:lnTo>
                  <a:lnTo>
                    <a:pt x="0" y="154"/>
                  </a:lnTo>
                  <a:lnTo>
                    <a:pt x="5" y="154"/>
                  </a:lnTo>
                  <a:lnTo>
                    <a:pt x="5" y="4"/>
                  </a:lnTo>
                  <a:lnTo>
                    <a:pt x="206" y="4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A9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0" name="Freeform 393"/>
            <p:cNvSpPr/>
            <p:nvPr/>
          </p:nvSpPr>
          <p:spPr bwMode="auto">
            <a:xfrm>
              <a:off x="2901" y="2654"/>
              <a:ext cx="201" cy="150"/>
            </a:xfrm>
            <a:custGeom>
              <a:avLst/>
              <a:gdLst>
                <a:gd name="T0" fmla="*/ 201 w 201"/>
                <a:gd name="T1" fmla="*/ 0 h 150"/>
                <a:gd name="T2" fmla="*/ 0 w 201"/>
                <a:gd name="T3" fmla="*/ 0 h 150"/>
                <a:gd name="T4" fmla="*/ 0 w 201"/>
                <a:gd name="T5" fmla="*/ 150 h 150"/>
                <a:gd name="T6" fmla="*/ 5 w 201"/>
                <a:gd name="T7" fmla="*/ 150 h 150"/>
                <a:gd name="T8" fmla="*/ 5 w 201"/>
                <a:gd name="T9" fmla="*/ 4 h 150"/>
                <a:gd name="T10" fmla="*/ 201 w 201"/>
                <a:gd name="T11" fmla="*/ 4 h 150"/>
                <a:gd name="T12" fmla="*/ 201 w 201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150">
                  <a:moveTo>
                    <a:pt x="201" y="0"/>
                  </a:moveTo>
                  <a:lnTo>
                    <a:pt x="0" y="0"/>
                  </a:lnTo>
                  <a:lnTo>
                    <a:pt x="0" y="150"/>
                  </a:lnTo>
                  <a:lnTo>
                    <a:pt x="5" y="150"/>
                  </a:lnTo>
                  <a:lnTo>
                    <a:pt x="5" y="4"/>
                  </a:lnTo>
                  <a:lnTo>
                    <a:pt x="201" y="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1" name="Freeform 394"/>
            <p:cNvSpPr/>
            <p:nvPr/>
          </p:nvSpPr>
          <p:spPr bwMode="auto">
            <a:xfrm>
              <a:off x="2906" y="2658"/>
              <a:ext cx="196" cy="146"/>
            </a:xfrm>
            <a:custGeom>
              <a:avLst/>
              <a:gdLst>
                <a:gd name="T0" fmla="*/ 196 w 196"/>
                <a:gd name="T1" fmla="*/ 0 h 146"/>
                <a:gd name="T2" fmla="*/ 0 w 196"/>
                <a:gd name="T3" fmla="*/ 0 h 146"/>
                <a:gd name="T4" fmla="*/ 0 w 196"/>
                <a:gd name="T5" fmla="*/ 146 h 146"/>
                <a:gd name="T6" fmla="*/ 5 w 196"/>
                <a:gd name="T7" fmla="*/ 146 h 146"/>
                <a:gd name="T8" fmla="*/ 5 w 196"/>
                <a:gd name="T9" fmla="*/ 4 h 146"/>
                <a:gd name="T10" fmla="*/ 196 w 196"/>
                <a:gd name="T11" fmla="*/ 4 h 146"/>
                <a:gd name="T12" fmla="*/ 196 w 196"/>
                <a:gd name="T13" fmla="*/ 0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146">
                  <a:moveTo>
                    <a:pt x="196" y="0"/>
                  </a:moveTo>
                  <a:lnTo>
                    <a:pt x="0" y="0"/>
                  </a:lnTo>
                  <a:lnTo>
                    <a:pt x="0" y="146"/>
                  </a:lnTo>
                  <a:lnTo>
                    <a:pt x="5" y="146"/>
                  </a:lnTo>
                  <a:lnTo>
                    <a:pt x="5" y="4"/>
                  </a:lnTo>
                  <a:lnTo>
                    <a:pt x="196" y="4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2" name="Freeform 395"/>
            <p:cNvSpPr/>
            <p:nvPr/>
          </p:nvSpPr>
          <p:spPr bwMode="auto">
            <a:xfrm>
              <a:off x="2911" y="2662"/>
              <a:ext cx="191" cy="142"/>
            </a:xfrm>
            <a:custGeom>
              <a:avLst/>
              <a:gdLst>
                <a:gd name="T0" fmla="*/ 191 w 191"/>
                <a:gd name="T1" fmla="*/ 0 h 142"/>
                <a:gd name="T2" fmla="*/ 0 w 191"/>
                <a:gd name="T3" fmla="*/ 0 h 142"/>
                <a:gd name="T4" fmla="*/ 0 w 191"/>
                <a:gd name="T5" fmla="*/ 142 h 142"/>
                <a:gd name="T6" fmla="*/ 5 w 191"/>
                <a:gd name="T7" fmla="*/ 142 h 142"/>
                <a:gd name="T8" fmla="*/ 5 w 191"/>
                <a:gd name="T9" fmla="*/ 4 h 142"/>
                <a:gd name="T10" fmla="*/ 191 w 191"/>
                <a:gd name="T11" fmla="*/ 4 h 142"/>
                <a:gd name="T12" fmla="*/ 191 w 191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" h="142">
                  <a:moveTo>
                    <a:pt x="191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5" y="142"/>
                  </a:lnTo>
                  <a:lnTo>
                    <a:pt x="5" y="4"/>
                  </a:lnTo>
                  <a:lnTo>
                    <a:pt x="191" y="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3" name="Freeform 396"/>
            <p:cNvSpPr/>
            <p:nvPr/>
          </p:nvSpPr>
          <p:spPr bwMode="auto">
            <a:xfrm>
              <a:off x="2916" y="2666"/>
              <a:ext cx="186" cy="138"/>
            </a:xfrm>
            <a:custGeom>
              <a:avLst/>
              <a:gdLst>
                <a:gd name="T0" fmla="*/ 186 w 186"/>
                <a:gd name="T1" fmla="*/ 0 h 138"/>
                <a:gd name="T2" fmla="*/ 0 w 186"/>
                <a:gd name="T3" fmla="*/ 0 h 138"/>
                <a:gd name="T4" fmla="*/ 0 w 186"/>
                <a:gd name="T5" fmla="*/ 138 h 138"/>
                <a:gd name="T6" fmla="*/ 5 w 186"/>
                <a:gd name="T7" fmla="*/ 138 h 138"/>
                <a:gd name="T8" fmla="*/ 5 w 186"/>
                <a:gd name="T9" fmla="*/ 3 h 138"/>
                <a:gd name="T10" fmla="*/ 186 w 186"/>
                <a:gd name="T11" fmla="*/ 3 h 138"/>
                <a:gd name="T12" fmla="*/ 186 w 186"/>
                <a:gd name="T13" fmla="*/ 0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8">
                  <a:moveTo>
                    <a:pt x="186" y="0"/>
                  </a:moveTo>
                  <a:lnTo>
                    <a:pt x="0" y="0"/>
                  </a:lnTo>
                  <a:lnTo>
                    <a:pt x="0" y="138"/>
                  </a:lnTo>
                  <a:lnTo>
                    <a:pt x="5" y="138"/>
                  </a:lnTo>
                  <a:lnTo>
                    <a:pt x="5" y="3"/>
                  </a:lnTo>
                  <a:lnTo>
                    <a:pt x="186" y="3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4" name="Freeform 397"/>
            <p:cNvSpPr/>
            <p:nvPr/>
          </p:nvSpPr>
          <p:spPr bwMode="auto">
            <a:xfrm>
              <a:off x="2921" y="2669"/>
              <a:ext cx="181" cy="135"/>
            </a:xfrm>
            <a:custGeom>
              <a:avLst/>
              <a:gdLst>
                <a:gd name="T0" fmla="*/ 181 w 181"/>
                <a:gd name="T1" fmla="*/ 0 h 135"/>
                <a:gd name="T2" fmla="*/ 0 w 181"/>
                <a:gd name="T3" fmla="*/ 0 h 135"/>
                <a:gd name="T4" fmla="*/ 0 w 181"/>
                <a:gd name="T5" fmla="*/ 135 h 135"/>
                <a:gd name="T6" fmla="*/ 7 w 181"/>
                <a:gd name="T7" fmla="*/ 135 h 135"/>
                <a:gd name="T8" fmla="*/ 7 w 181"/>
                <a:gd name="T9" fmla="*/ 4 h 135"/>
                <a:gd name="T10" fmla="*/ 181 w 181"/>
                <a:gd name="T11" fmla="*/ 4 h 135"/>
                <a:gd name="T12" fmla="*/ 181 w 181"/>
                <a:gd name="T13" fmla="*/ 0 h 1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35">
                  <a:moveTo>
                    <a:pt x="181" y="0"/>
                  </a:moveTo>
                  <a:lnTo>
                    <a:pt x="0" y="0"/>
                  </a:lnTo>
                  <a:lnTo>
                    <a:pt x="0" y="135"/>
                  </a:lnTo>
                  <a:lnTo>
                    <a:pt x="7" y="135"/>
                  </a:lnTo>
                  <a:lnTo>
                    <a:pt x="7" y="4"/>
                  </a:lnTo>
                  <a:lnTo>
                    <a:pt x="181" y="4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5" name="Freeform 398"/>
            <p:cNvSpPr/>
            <p:nvPr/>
          </p:nvSpPr>
          <p:spPr bwMode="auto">
            <a:xfrm>
              <a:off x="2928" y="2673"/>
              <a:ext cx="174" cy="131"/>
            </a:xfrm>
            <a:custGeom>
              <a:avLst/>
              <a:gdLst>
                <a:gd name="T0" fmla="*/ 174 w 174"/>
                <a:gd name="T1" fmla="*/ 0 h 131"/>
                <a:gd name="T2" fmla="*/ 0 w 174"/>
                <a:gd name="T3" fmla="*/ 0 h 131"/>
                <a:gd name="T4" fmla="*/ 0 w 174"/>
                <a:gd name="T5" fmla="*/ 131 h 131"/>
                <a:gd name="T6" fmla="*/ 5 w 174"/>
                <a:gd name="T7" fmla="*/ 131 h 131"/>
                <a:gd name="T8" fmla="*/ 5 w 174"/>
                <a:gd name="T9" fmla="*/ 4 h 131"/>
                <a:gd name="T10" fmla="*/ 174 w 174"/>
                <a:gd name="T11" fmla="*/ 4 h 131"/>
                <a:gd name="T12" fmla="*/ 174 w 174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131">
                  <a:moveTo>
                    <a:pt x="174" y="0"/>
                  </a:moveTo>
                  <a:lnTo>
                    <a:pt x="0" y="0"/>
                  </a:lnTo>
                  <a:lnTo>
                    <a:pt x="0" y="131"/>
                  </a:lnTo>
                  <a:lnTo>
                    <a:pt x="5" y="131"/>
                  </a:lnTo>
                  <a:lnTo>
                    <a:pt x="5" y="4"/>
                  </a:lnTo>
                  <a:lnTo>
                    <a:pt x="174" y="4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6" name="Freeform 399"/>
            <p:cNvSpPr/>
            <p:nvPr/>
          </p:nvSpPr>
          <p:spPr bwMode="auto">
            <a:xfrm>
              <a:off x="2933" y="2677"/>
              <a:ext cx="169" cy="127"/>
            </a:xfrm>
            <a:custGeom>
              <a:avLst/>
              <a:gdLst>
                <a:gd name="T0" fmla="*/ 169 w 169"/>
                <a:gd name="T1" fmla="*/ 0 h 127"/>
                <a:gd name="T2" fmla="*/ 0 w 169"/>
                <a:gd name="T3" fmla="*/ 0 h 127"/>
                <a:gd name="T4" fmla="*/ 0 w 169"/>
                <a:gd name="T5" fmla="*/ 127 h 127"/>
                <a:gd name="T6" fmla="*/ 6 w 169"/>
                <a:gd name="T7" fmla="*/ 127 h 127"/>
                <a:gd name="T8" fmla="*/ 6 w 169"/>
                <a:gd name="T9" fmla="*/ 5 h 127"/>
                <a:gd name="T10" fmla="*/ 169 w 169"/>
                <a:gd name="T11" fmla="*/ 5 h 127"/>
                <a:gd name="T12" fmla="*/ 169 w 169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127">
                  <a:moveTo>
                    <a:pt x="169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6" y="127"/>
                  </a:lnTo>
                  <a:lnTo>
                    <a:pt x="6" y="5"/>
                  </a:lnTo>
                  <a:lnTo>
                    <a:pt x="169" y="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7" name="Freeform 400"/>
            <p:cNvSpPr/>
            <p:nvPr/>
          </p:nvSpPr>
          <p:spPr bwMode="auto">
            <a:xfrm>
              <a:off x="2939" y="2682"/>
              <a:ext cx="163" cy="122"/>
            </a:xfrm>
            <a:custGeom>
              <a:avLst/>
              <a:gdLst>
                <a:gd name="T0" fmla="*/ 163 w 163"/>
                <a:gd name="T1" fmla="*/ 0 h 122"/>
                <a:gd name="T2" fmla="*/ 0 w 163"/>
                <a:gd name="T3" fmla="*/ 0 h 122"/>
                <a:gd name="T4" fmla="*/ 0 w 163"/>
                <a:gd name="T5" fmla="*/ 122 h 122"/>
                <a:gd name="T6" fmla="*/ 5 w 163"/>
                <a:gd name="T7" fmla="*/ 122 h 122"/>
                <a:gd name="T8" fmla="*/ 5 w 163"/>
                <a:gd name="T9" fmla="*/ 4 h 122"/>
                <a:gd name="T10" fmla="*/ 163 w 163"/>
                <a:gd name="T11" fmla="*/ 4 h 122"/>
                <a:gd name="T12" fmla="*/ 163 w 163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122">
                  <a:moveTo>
                    <a:pt x="163" y="0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5" y="122"/>
                  </a:lnTo>
                  <a:lnTo>
                    <a:pt x="5" y="4"/>
                  </a:lnTo>
                  <a:lnTo>
                    <a:pt x="163" y="4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8" name="Freeform 401"/>
            <p:cNvSpPr/>
            <p:nvPr/>
          </p:nvSpPr>
          <p:spPr bwMode="auto">
            <a:xfrm>
              <a:off x="2944" y="2686"/>
              <a:ext cx="158" cy="118"/>
            </a:xfrm>
            <a:custGeom>
              <a:avLst/>
              <a:gdLst>
                <a:gd name="T0" fmla="*/ 158 w 158"/>
                <a:gd name="T1" fmla="*/ 0 h 118"/>
                <a:gd name="T2" fmla="*/ 0 w 158"/>
                <a:gd name="T3" fmla="*/ 0 h 118"/>
                <a:gd name="T4" fmla="*/ 0 w 158"/>
                <a:gd name="T5" fmla="*/ 118 h 118"/>
                <a:gd name="T6" fmla="*/ 6 w 158"/>
                <a:gd name="T7" fmla="*/ 118 h 118"/>
                <a:gd name="T8" fmla="*/ 6 w 158"/>
                <a:gd name="T9" fmla="*/ 5 h 118"/>
                <a:gd name="T10" fmla="*/ 158 w 158"/>
                <a:gd name="T11" fmla="*/ 5 h 118"/>
                <a:gd name="T12" fmla="*/ 158 w 15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8">
                  <a:moveTo>
                    <a:pt x="158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6" y="118"/>
                  </a:lnTo>
                  <a:lnTo>
                    <a:pt x="6" y="5"/>
                  </a:lnTo>
                  <a:lnTo>
                    <a:pt x="158" y="5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39" name="Freeform 402"/>
            <p:cNvSpPr/>
            <p:nvPr/>
          </p:nvSpPr>
          <p:spPr bwMode="auto">
            <a:xfrm>
              <a:off x="2950" y="2691"/>
              <a:ext cx="152" cy="113"/>
            </a:xfrm>
            <a:custGeom>
              <a:avLst/>
              <a:gdLst>
                <a:gd name="T0" fmla="*/ 152 w 152"/>
                <a:gd name="T1" fmla="*/ 0 h 113"/>
                <a:gd name="T2" fmla="*/ 0 w 152"/>
                <a:gd name="T3" fmla="*/ 0 h 113"/>
                <a:gd name="T4" fmla="*/ 0 w 152"/>
                <a:gd name="T5" fmla="*/ 113 h 113"/>
                <a:gd name="T6" fmla="*/ 7 w 152"/>
                <a:gd name="T7" fmla="*/ 113 h 113"/>
                <a:gd name="T8" fmla="*/ 7 w 152"/>
                <a:gd name="T9" fmla="*/ 5 h 113"/>
                <a:gd name="T10" fmla="*/ 152 w 152"/>
                <a:gd name="T11" fmla="*/ 5 h 113"/>
                <a:gd name="T12" fmla="*/ 152 w 152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2" h="113">
                  <a:moveTo>
                    <a:pt x="15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7" y="113"/>
                  </a:lnTo>
                  <a:lnTo>
                    <a:pt x="7" y="5"/>
                  </a:lnTo>
                  <a:lnTo>
                    <a:pt x="152" y="5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340" name="Freeform 403"/>
            <p:cNvSpPr/>
            <p:nvPr/>
          </p:nvSpPr>
          <p:spPr bwMode="auto">
            <a:xfrm>
              <a:off x="2957" y="2696"/>
              <a:ext cx="145" cy="108"/>
            </a:xfrm>
            <a:custGeom>
              <a:avLst/>
              <a:gdLst>
                <a:gd name="T0" fmla="*/ 145 w 145"/>
                <a:gd name="T1" fmla="*/ 0 h 108"/>
                <a:gd name="T2" fmla="*/ 0 w 145"/>
                <a:gd name="T3" fmla="*/ 0 h 108"/>
                <a:gd name="T4" fmla="*/ 0 w 145"/>
                <a:gd name="T5" fmla="*/ 108 h 108"/>
                <a:gd name="T6" fmla="*/ 7 w 145"/>
                <a:gd name="T7" fmla="*/ 108 h 108"/>
                <a:gd name="T8" fmla="*/ 7 w 145"/>
                <a:gd name="T9" fmla="*/ 5 h 108"/>
                <a:gd name="T10" fmla="*/ 145 w 145"/>
                <a:gd name="T11" fmla="*/ 5 h 108"/>
                <a:gd name="T12" fmla="*/ 145 w 145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5" h="108">
                  <a:moveTo>
                    <a:pt x="145" y="0"/>
                  </a:moveTo>
                  <a:lnTo>
                    <a:pt x="0" y="0"/>
                  </a:lnTo>
                  <a:lnTo>
                    <a:pt x="0" y="108"/>
                  </a:lnTo>
                  <a:lnTo>
                    <a:pt x="7" y="108"/>
                  </a:lnTo>
                  <a:lnTo>
                    <a:pt x="7" y="5"/>
                  </a:lnTo>
                  <a:lnTo>
                    <a:pt x="145" y="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</p:grpSp>
      <p:sp>
        <p:nvSpPr>
          <p:cNvPr id="18639" name="Freeform 404"/>
          <p:cNvSpPr/>
          <p:nvPr/>
        </p:nvSpPr>
        <p:spPr bwMode="auto">
          <a:xfrm>
            <a:off x="3987874" y="5242973"/>
            <a:ext cx="164306" cy="122634"/>
          </a:xfrm>
          <a:custGeom>
            <a:avLst/>
            <a:gdLst>
              <a:gd name="T0" fmla="*/ 219075 w 138"/>
              <a:gd name="T1" fmla="*/ 0 h 103"/>
              <a:gd name="T2" fmla="*/ 0 w 138"/>
              <a:gd name="T3" fmla="*/ 0 h 103"/>
              <a:gd name="T4" fmla="*/ 0 w 138"/>
              <a:gd name="T5" fmla="*/ 163512 h 103"/>
              <a:gd name="T6" fmla="*/ 11113 w 138"/>
              <a:gd name="T7" fmla="*/ 163512 h 103"/>
              <a:gd name="T8" fmla="*/ 11113 w 138"/>
              <a:gd name="T9" fmla="*/ 7937 h 103"/>
              <a:gd name="T10" fmla="*/ 219075 w 138"/>
              <a:gd name="T11" fmla="*/ 7937 h 103"/>
              <a:gd name="T12" fmla="*/ 219075 w 138"/>
              <a:gd name="T13" fmla="*/ 0 h 1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3">
                <a:moveTo>
                  <a:pt x="138" y="0"/>
                </a:moveTo>
                <a:lnTo>
                  <a:pt x="0" y="0"/>
                </a:lnTo>
                <a:lnTo>
                  <a:pt x="0" y="103"/>
                </a:lnTo>
                <a:lnTo>
                  <a:pt x="7" y="103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0" name="Freeform 405"/>
          <p:cNvSpPr/>
          <p:nvPr/>
        </p:nvSpPr>
        <p:spPr bwMode="auto">
          <a:xfrm>
            <a:off x="3996208" y="5248926"/>
            <a:ext cx="155972" cy="116681"/>
          </a:xfrm>
          <a:custGeom>
            <a:avLst/>
            <a:gdLst>
              <a:gd name="T0" fmla="*/ 207962 w 131"/>
              <a:gd name="T1" fmla="*/ 0 h 98"/>
              <a:gd name="T2" fmla="*/ 0 w 131"/>
              <a:gd name="T3" fmla="*/ 0 h 98"/>
              <a:gd name="T4" fmla="*/ 0 w 131"/>
              <a:gd name="T5" fmla="*/ 155575 h 98"/>
              <a:gd name="T6" fmla="*/ 11112 w 131"/>
              <a:gd name="T7" fmla="*/ 155575 h 98"/>
              <a:gd name="T8" fmla="*/ 11112 w 131"/>
              <a:gd name="T9" fmla="*/ 7938 h 98"/>
              <a:gd name="T10" fmla="*/ 207962 w 131"/>
              <a:gd name="T11" fmla="*/ 7938 h 98"/>
              <a:gd name="T12" fmla="*/ 207962 w 131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8">
                <a:moveTo>
                  <a:pt x="131" y="0"/>
                </a:moveTo>
                <a:lnTo>
                  <a:pt x="0" y="0"/>
                </a:lnTo>
                <a:lnTo>
                  <a:pt x="0" y="98"/>
                </a:lnTo>
                <a:lnTo>
                  <a:pt x="7" y="98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1" name="Freeform 406"/>
          <p:cNvSpPr/>
          <p:nvPr/>
        </p:nvSpPr>
        <p:spPr bwMode="auto">
          <a:xfrm>
            <a:off x="4004542" y="5254879"/>
            <a:ext cx="147638" cy="110728"/>
          </a:xfrm>
          <a:custGeom>
            <a:avLst/>
            <a:gdLst>
              <a:gd name="T0" fmla="*/ 196850 w 124"/>
              <a:gd name="T1" fmla="*/ 0 h 93"/>
              <a:gd name="T2" fmla="*/ 0 w 124"/>
              <a:gd name="T3" fmla="*/ 0 h 93"/>
              <a:gd name="T4" fmla="*/ 0 w 124"/>
              <a:gd name="T5" fmla="*/ 147637 h 93"/>
              <a:gd name="T6" fmla="*/ 12700 w 124"/>
              <a:gd name="T7" fmla="*/ 147637 h 93"/>
              <a:gd name="T8" fmla="*/ 12700 w 124"/>
              <a:gd name="T9" fmla="*/ 11112 h 93"/>
              <a:gd name="T10" fmla="*/ 196850 w 124"/>
              <a:gd name="T11" fmla="*/ 11112 h 93"/>
              <a:gd name="T12" fmla="*/ 196850 w 124"/>
              <a:gd name="T13" fmla="*/ 0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3">
                <a:moveTo>
                  <a:pt x="124" y="0"/>
                </a:moveTo>
                <a:lnTo>
                  <a:pt x="0" y="0"/>
                </a:lnTo>
                <a:lnTo>
                  <a:pt x="0" y="93"/>
                </a:lnTo>
                <a:lnTo>
                  <a:pt x="8" y="93"/>
                </a:lnTo>
                <a:lnTo>
                  <a:pt x="8" y="7"/>
                </a:lnTo>
                <a:lnTo>
                  <a:pt x="124" y="7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2" name="Freeform 407"/>
          <p:cNvSpPr/>
          <p:nvPr/>
        </p:nvSpPr>
        <p:spPr bwMode="auto">
          <a:xfrm>
            <a:off x="4014067" y="5263213"/>
            <a:ext cx="138113" cy="102394"/>
          </a:xfrm>
          <a:custGeom>
            <a:avLst/>
            <a:gdLst>
              <a:gd name="T0" fmla="*/ 184150 w 116"/>
              <a:gd name="T1" fmla="*/ 0 h 86"/>
              <a:gd name="T2" fmla="*/ 0 w 116"/>
              <a:gd name="T3" fmla="*/ 0 h 86"/>
              <a:gd name="T4" fmla="*/ 0 w 116"/>
              <a:gd name="T5" fmla="*/ 136525 h 86"/>
              <a:gd name="T6" fmla="*/ 14288 w 116"/>
              <a:gd name="T7" fmla="*/ 133350 h 86"/>
              <a:gd name="T8" fmla="*/ 14288 w 116"/>
              <a:gd name="T9" fmla="*/ 9525 h 86"/>
              <a:gd name="T10" fmla="*/ 182563 w 116"/>
              <a:gd name="T11" fmla="*/ 9525 h 86"/>
              <a:gd name="T12" fmla="*/ 184150 w 116"/>
              <a:gd name="T13" fmla="*/ 0 h 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6">
                <a:moveTo>
                  <a:pt x="116" y="0"/>
                </a:moveTo>
                <a:lnTo>
                  <a:pt x="0" y="0"/>
                </a:lnTo>
                <a:lnTo>
                  <a:pt x="0" y="86"/>
                </a:lnTo>
                <a:lnTo>
                  <a:pt x="9" y="84"/>
                </a:lnTo>
                <a:lnTo>
                  <a:pt x="9" y="6"/>
                </a:lnTo>
                <a:lnTo>
                  <a:pt x="115" y="6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3" name="Freeform 408"/>
          <p:cNvSpPr/>
          <p:nvPr/>
        </p:nvSpPr>
        <p:spPr bwMode="auto">
          <a:xfrm>
            <a:off x="4024784" y="5270357"/>
            <a:ext cx="126206" cy="92869"/>
          </a:xfrm>
          <a:custGeom>
            <a:avLst/>
            <a:gdLst>
              <a:gd name="T0" fmla="*/ 168275 w 106"/>
              <a:gd name="T1" fmla="*/ 0 h 78"/>
              <a:gd name="T2" fmla="*/ 0 w 106"/>
              <a:gd name="T3" fmla="*/ 0 h 78"/>
              <a:gd name="T4" fmla="*/ 0 w 106"/>
              <a:gd name="T5" fmla="*/ 123825 h 78"/>
              <a:gd name="T6" fmla="*/ 11113 w 106"/>
              <a:gd name="T7" fmla="*/ 123825 h 78"/>
              <a:gd name="T8" fmla="*/ 11113 w 106"/>
              <a:gd name="T9" fmla="*/ 9525 h 78"/>
              <a:gd name="T10" fmla="*/ 168275 w 106"/>
              <a:gd name="T11" fmla="*/ 9525 h 78"/>
              <a:gd name="T12" fmla="*/ 168275 w 106"/>
              <a:gd name="T13" fmla="*/ 0 h 7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8">
                <a:moveTo>
                  <a:pt x="106" y="0"/>
                </a:moveTo>
                <a:lnTo>
                  <a:pt x="0" y="0"/>
                </a:lnTo>
                <a:lnTo>
                  <a:pt x="0" y="78"/>
                </a:lnTo>
                <a:lnTo>
                  <a:pt x="7" y="78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4" name="Freeform 409"/>
          <p:cNvSpPr/>
          <p:nvPr/>
        </p:nvSpPr>
        <p:spPr bwMode="auto">
          <a:xfrm>
            <a:off x="4033117" y="5277501"/>
            <a:ext cx="119063" cy="88106"/>
          </a:xfrm>
          <a:custGeom>
            <a:avLst/>
            <a:gdLst>
              <a:gd name="T0" fmla="*/ 157163 w 100"/>
              <a:gd name="T1" fmla="*/ 0 h 74"/>
              <a:gd name="T2" fmla="*/ 0 w 100"/>
              <a:gd name="T3" fmla="*/ 0 h 74"/>
              <a:gd name="T4" fmla="*/ 0 w 100"/>
              <a:gd name="T5" fmla="*/ 114300 h 74"/>
              <a:gd name="T6" fmla="*/ 14288 w 100"/>
              <a:gd name="T7" fmla="*/ 117475 h 74"/>
              <a:gd name="T8" fmla="*/ 14288 w 100"/>
              <a:gd name="T9" fmla="*/ 11113 h 74"/>
              <a:gd name="T10" fmla="*/ 158750 w 100"/>
              <a:gd name="T11" fmla="*/ 11113 h 74"/>
              <a:gd name="T12" fmla="*/ 157163 w 100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4">
                <a:moveTo>
                  <a:pt x="99" y="0"/>
                </a:moveTo>
                <a:lnTo>
                  <a:pt x="0" y="0"/>
                </a:lnTo>
                <a:lnTo>
                  <a:pt x="0" y="72"/>
                </a:lnTo>
                <a:lnTo>
                  <a:pt x="9" y="74"/>
                </a:lnTo>
                <a:lnTo>
                  <a:pt x="9" y="7"/>
                </a:lnTo>
                <a:lnTo>
                  <a:pt x="100" y="7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5" name="Freeform 410"/>
          <p:cNvSpPr/>
          <p:nvPr/>
        </p:nvSpPr>
        <p:spPr bwMode="auto">
          <a:xfrm>
            <a:off x="4043833" y="5285835"/>
            <a:ext cx="108347" cy="79772"/>
          </a:xfrm>
          <a:custGeom>
            <a:avLst/>
            <a:gdLst>
              <a:gd name="T0" fmla="*/ 144462 w 91"/>
              <a:gd name="T1" fmla="*/ 0 h 67"/>
              <a:gd name="T2" fmla="*/ 0 w 91"/>
              <a:gd name="T3" fmla="*/ 0 h 67"/>
              <a:gd name="T4" fmla="*/ 0 w 91"/>
              <a:gd name="T5" fmla="*/ 106362 h 67"/>
              <a:gd name="T6" fmla="*/ 15875 w 91"/>
              <a:gd name="T7" fmla="*/ 103187 h 67"/>
              <a:gd name="T8" fmla="*/ 15875 w 91"/>
              <a:gd name="T9" fmla="*/ 9525 h 67"/>
              <a:gd name="T10" fmla="*/ 142875 w 91"/>
              <a:gd name="T11" fmla="*/ 9525 h 67"/>
              <a:gd name="T12" fmla="*/ 144462 w 91"/>
              <a:gd name="T13" fmla="*/ 0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7">
                <a:moveTo>
                  <a:pt x="91" y="0"/>
                </a:moveTo>
                <a:lnTo>
                  <a:pt x="0" y="0"/>
                </a:lnTo>
                <a:lnTo>
                  <a:pt x="0" y="67"/>
                </a:lnTo>
                <a:lnTo>
                  <a:pt x="10" y="65"/>
                </a:lnTo>
                <a:lnTo>
                  <a:pt x="10" y="6"/>
                </a:lnTo>
                <a:lnTo>
                  <a:pt x="90" y="6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6" name="Freeform 411"/>
          <p:cNvSpPr/>
          <p:nvPr/>
        </p:nvSpPr>
        <p:spPr bwMode="auto">
          <a:xfrm>
            <a:off x="4055740" y="5292979"/>
            <a:ext cx="96440" cy="72628"/>
          </a:xfrm>
          <a:custGeom>
            <a:avLst/>
            <a:gdLst>
              <a:gd name="T0" fmla="*/ 127000 w 81"/>
              <a:gd name="T1" fmla="*/ 0 h 61"/>
              <a:gd name="T2" fmla="*/ 0 w 81"/>
              <a:gd name="T3" fmla="*/ 0 h 61"/>
              <a:gd name="T4" fmla="*/ 0 w 81"/>
              <a:gd name="T5" fmla="*/ 93662 h 61"/>
              <a:gd name="T6" fmla="*/ 15875 w 81"/>
              <a:gd name="T7" fmla="*/ 96837 h 61"/>
              <a:gd name="T8" fmla="*/ 15875 w 81"/>
              <a:gd name="T9" fmla="*/ 11112 h 61"/>
              <a:gd name="T10" fmla="*/ 128587 w 81"/>
              <a:gd name="T11" fmla="*/ 11112 h 61"/>
              <a:gd name="T12" fmla="*/ 127000 w 8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1">
                <a:moveTo>
                  <a:pt x="80" y="0"/>
                </a:moveTo>
                <a:lnTo>
                  <a:pt x="0" y="0"/>
                </a:lnTo>
                <a:lnTo>
                  <a:pt x="0" y="59"/>
                </a:lnTo>
                <a:lnTo>
                  <a:pt x="10" y="61"/>
                </a:lnTo>
                <a:lnTo>
                  <a:pt x="10" y="7"/>
                </a:lnTo>
                <a:lnTo>
                  <a:pt x="81" y="7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7" name="Freeform 412"/>
          <p:cNvSpPr/>
          <p:nvPr/>
        </p:nvSpPr>
        <p:spPr bwMode="auto">
          <a:xfrm>
            <a:off x="4067646" y="5301313"/>
            <a:ext cx="84534" cy="64294"/>
          </a:xfrm>
          <a:custGeom>
            <a:avLst/>
            <a:gdLst>
              <a:gd name="T0" fmla="*/ 112712 w 71"/>
              <a:gd name="T1" fmla="*/ 0 h 54"/>
              <a:gd name="T2" fmla="*/ 0 w 71"/>
              <a:gd name="T3" fmla="*/ 0 h 54"/>
              <a:gd name="T4" fmla="*/ 0 w 71"/>
              <a:gd name="T5" fmla="*/ 85725 h 54"/>
              <a:gd name="T6" fmla="*/ 17462 w 71"/>
              <a:gd name="T7" fmla="*/ 82550 h 54"/>
              <a:gd name="T8" fmla="*/ 17462 w 71"/>
              <a:gd name="T9" fmla="*/ 12700 h 54"/>
              <a:gd name="T10" fmla="*/ 111125 w 71"/>
              <a:gd name="T11" fmla="*/ 12700 h 54"/>
              <a:gd name="T12" fmla="*/ 112712 w 71"/>
              <a:gd name="T13" fmla="*/ 0 h 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4">
                <a:moveTo>
                  <a:pt x="71" y="0"/>
                </a:moveTo>
                <a:lnTo>
                  <a:pt x="0" y="0"/>
                </a:lnTo>
                <a:lnTo>
                  <a:pt x="0" y="54"/>
                </a:lnTo>
                <a:lnTo>
                  <a:pt x="11" y="52"/>
                </a:lnTo>
                <a:lnTo>
                  <a:pt x="11" y="8"/>
                </a:lnTo>
                <a:lnTo>
                  <a:pt x="70" y="8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8" name="Freeform 413"/>
          <p:cNvSpPr/>
          <p:nvPr/>
        </p:nvSpPr>
        <p:spPr bwMode="auto">
          <a:xfrm>
            <a:off x="4080743" y="5310838"/>
            <a:ext cx="70247" cy="52388"/>
          </a:xfrm>
          <a:custGeom>
            <a:avLst/>
            <a:gdLst>
              <a:gd name="T0" fmla="*/ 93663 w 59"/>
              <a:gd name="T1" fmla="*/ 0 h 44"/>
              <a:gd name="T2" fmla="*/ 0 w 59"/>
              <a:gd name="T3" fmla="*/ 0 h 44"/>
              <a:gd name="T4" fmla="*/ 0 w 59"/>
              <a:gd name="T5" fmla="*/ 69850 h 44"/>
              <a:gd name="T6" fmla="*/ 15875 w 59"/>
              <a:gd name="T7" fmla="*/ 69850 h 44"/>
              <a:gd name="T8" fmla="*/ 15875 w 59"/>
              <a:gd name="T9" fmla="*/ 12700 h 44"/>
              <a:gd name="T10" fmla="*/ 93663 w 59"/>
              <a:gd name="T11" fmla="*/ 12700 h 44"/>
              <a:gd name="T12" fmla="*/ 93663 w 59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9" h="44">
                <a:moveTo>
                  <a:pt x="59" y="0"/>
                </a:moveTo>
                <a:lnTo>
                  <a:pt x="0" y="0"/>
                </a:lnTo>
                <a:lnTo>
                  <a:pt x="0" y="44"/>
                </a:lnTo>
                <a:lnTo>
                  <a:pt x="10" y="44"/>
                </a:lnTo>
                <a:lnTo>
                  <a:pt x="10" y="8"/>
                </a:lnTo>
                <a:lnTo>
                  <a:pt x="59" y="8"/>
                </a:lnTo>
                <a:lnTo>
                  <a:pt x="59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49" name="Freeform 414"/>
          <p:cNvSpPr/>
          <p:nvPr/>
        </p:nvSpPr>
        <p:spPr bwMode="auto">
          <a:xfrm>
            <a:off x="4092649" y="5320363"/>
            <a:ext cx="58341" cy="42863"/>
          </a:xfrm>
          <a:custGeom>
            <a:avLst/>
            <a:gdLst>
              <a:gd name="T0" fmla="*/ 77788 w 49"/>
              <a:gd name="T1" fmla="*/ 0 h 36"/>
              <a:gd name="T2" fmla="*/ 0 w 49"/>
              <a:gd name="T3" fmla="*/ 0 h 36"/>
              <a:gd name="T4" fmla="*/ 0 w 49"/>
              <a:gd name="T5" fmla="*/ 57150 h 36"/>
              <a:gd name="T6" fmla="*/ 17463 w 49"/>
              <a:gd name="T7" fmla="*/ 57150 h 36"/>
              <a:gd name="T8" fmla="*/ 17463 w 49"/>
              <a:gd name="T9" fmla="*/ 14288 h 36"/>
              <a:gd name="T10" fmla="*/ 77788 w 49"/>
              <a:gd name="T11" fmla="*/ 14288 h 36"/>
              <a:gd name="T12" fmla="*/ 77788 w 49"/>
              <a:gd name="T13" fmla="*/ 0 h 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6">
                <a:moveTo>
                  <a:pt x="49" y="0"/>
                </a:moveTo>
                <a:lnTo>
                  <a:pt x="0" y="0"/>
                </a:lnTo>
                <a:lnTo>
                  <a:pt x="0" y="36"/>
                </a:lnTo>
                <a:lnTo>
                  <a:pt x="11" y="36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50" name="Freeform 415"/>
          <p:cNvSpPr/>
          <p:nvPr/>
        </p:nvSpPr>
        <p:spPr bwMode="auto">
          <a:xfrm>
            <a:off x="4105746" y="5331079"/>
            <a:ext cx="46434" cy="34528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2862 h 29"/>
              <a:gd name="T6" fmla="*/ 20637 w 39"/>
              <a:gd name="T7" fmla="*/ 46037 h 29"/>
              <a:gd name="T8" fmla="*/ 20637 w 39"/>
              <a:gd name="T9" fmla="*/ 12700 h 29"/>
              <a:gd name="T10" fmla="*/ 61912 w 39"/>
              <a:gd name="T11" fmla="*/ 12700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7"/>
                </a:lnTo>
                <a:lnTo>
                  <a:pt x="13" y="29"/>
                </a:lnTo>
                <a:lnTo>
                  <a:pt x="13" y="8"/>
                </a:lnTo>
                <a:lnTo>
                  <a:pt x="39" y="8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51" name="Freeform 416"/>
          <p:cNvSpPr/>
          <p:nvPr/>
        </p:nvSpPr>
        <p:spPr bwMode="auto">
          <a:xfrm>
            <a:off x="4121224" y="5340604"/>
            <a:ext cx="30956" cy="25003"/>
          </a:xfrm>
          <a:custGeom>
            <a:avLst/>
            <a:gdLst>
              <a:gd name="T0" fmla="*/ 41275 w 26"/>
              <a:gd name="T1" fmla="*/ 0 h 21"/>
              <a:gd name="T2" fmla="*/ 0 w 26"/>
              <a:gd name="T3" fmla="*/ 0 h 21"/>
              <a:gd name="T4" fmla="*/ 0 w 26"/>
              <a:gd name="T5" fmla="*/ 33337 h 21"/>
              <a:gd name="T6" fmla="*/ 19050 w 26"/>
              <a:gd name="T7" fmla="*/ 30162 h 21"/>
              <a:gd name="T8" fmla="*/ 19050 w 26"/>
              <a:gd name="T9" fmla="*/ 17462 h 21"/>
              <a:gd name="T10" fmla="*/ 39688 w 26"/>
              <a:gd name="T11" fmla="*/ 17462 h 21"/>
              <a:gd name="T12" fmla="*/ 41275 w 26"/>
              <a:gd name="T13" fmla="*/ 0 h 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1">
                <a:moveTo>
                  <a:pt x="26" y="0"/>
                </a:moveTo>
                <a:lnTo>
                  <a:pt x="0" y="0"/>
                </a:lnTo>
                <a:lnTo>
                  <a:pt x="0" y="21"/>
                </a:lnTo>
                <a:lnTo>
                  <a:pt x="12" y="19"/>
                </a:lnTo>
                <a:lnTo>
                  <a:pt x="12" y="11"/>
                </a:lnTo>
                <a:lnTo>
                  <a:pt x="25" y="11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52" name="Freeform 417"/>
          <p:cNvSpPr/>
          <p:nvPr/>
        </p:nvSpPr>
        <p:spPr bwMode="auto">
          <a:xfrm>
            <a:off x="4135511" y="5353701"/>
            <a:ext cx="16669" cy="11906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2700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8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53" name="Line 418"/>
          <p:cNvSpPr>
            <a:spLocks noChangeShapeType="1"/>
          </p:cNvSpPr>
          <p:nvPr/>
        </p:nvSpPr>
        <p:spPr bwMode="auto">
          <a:xfrm>
            <a:off x="3937867" y="5392992"/>
            <a:ext cx="1191" cy="15478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54" name="Line 419"/>
          <p:cNvSpPr>
            <a:spLocks noChangeShapeType="1"/>
          </p:cNvSpPr>
          <p:nvPr/>
        </p:nvSpPr>
        <p:spPr bwMode="auto">
          <a:xfrm>
            <a:off x="3896196" y="5392992"/>
            <a:ext cx="1190" cy="15478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55" name="Line 420"/>
          <p:cNvSpPr>
            <a:spLocks noChangeShapeType="1"/>
          </p:cNvSpPr>
          <p:nvPr/>
        </p:nvSpPr>
        <p:spPr bwMode="auto">
          <a:xfrm>
            <a:off x="3846190" y="5392992"/>
            <a:ext cx="339328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56" name="Rectangle 421"/>
          <p:cNvSpPr>
            <a:spLocks noChangeArrowheads="1"/>
          </p:cNvSpPr>
          <p:nvPr/>
        </p:nvSpPr>
        <p:spPr bwMode="auto">
          <a:xfrm>
            <a:off x="4104555" y="5469191"/>
            <a:ext cx="41672" cy="3572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57" name="Rectangle 422"/>
          <p:cNvSpPr>
            <a:spLocks noChangeArrowheads="1"/>
          </p:cNvSpPr>
          <p:nvPr/>
        </p:nvSpPr>
        <p:spPr bwMode="auto">
          <a:xfrm>
            <a:off x="4104555" y="5468000"/>
            <a:ext cx="41672" cy="1191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58" name="Rectangle 423"/>
          <p:cNvSpPr>
            <a:spLocks noChangeArrowheads="1"/>
          </p:cNvSpPr>
          <p:nvPr/>
        </p:nvSpPr>
        <p:spPr bwMode="auto">
          <a:xfrm>
            <a:off x="4104555" y="5466811"/>
            <a:ext cx="41672" cy="1190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59" name="Rectangle 424"/>
          <p:cNvSpPr>
            <a:spLocks noChangeArrowheads="1"/>
          </p:cNvSpPr>
          <p:nvPr/>
        </p:nvSpPr>
        <p:spPr bwMode="auto">
          <a:xfrm>
            <a:off x="4104555" y="5464429"/>
            <a:ext cx="41672" cy="2381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60" name="Rectangle 425"/>
          <p:cNvSpPr>
            <a:spLocks noChangeArrowheads="1"/>
          </p:cNvSpPr>
          <p:nvPr/>
        </p:nvSpPr>
        <p:spPr bwMode="auto">
          <a:xfrm>
            <a:off x="4104555" y="5463238"/>
            <a:ext cx="41672" cy="1191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61" name="Rectangle 426"/>
          <p:cNvSpPr>
            <a:spLocks noChangeArrowheads="1"/>
          </p:cNvSpPr>
          <p:nvPr/>
        </p:nvSpPr>
        <p:spPr bwMode="auto">
          <a:xfrm>
            <a:off x="4104555" y="5462048"/>
            <a:ext cx="41672" cy="1190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62" name="Rectangle 427"/>
          <p:cNvSpPr>
            <a:spLocks noChangeArrowheads="1"/>
          </p:cNvSpPr>
          <p:nvPr/>
        </p:nvSpPr>
        <p:spPr bwMode="auto">
          <a:xfrm>
            <a:off x="4104555" y="5460857"/>
            <a:ext cx="41672" cy="1191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63" name="Freeform 428"/>
          <p:cNvSpPr/>
          <p:nvPr/>
        </p:nvSpPr>
        <p:spPr bwMode="auto">
          <a:xfrm>
            <a:off x="4103364" y="5458476"/>
            <a:ext cx="42863" cy="2381"/>
          </a:xfrm>
          <a:custGeom>
            <a:avLst/>
            <a:gdLst>
              <a:gd name="T0" fmla="*/ 1588 w 36"/>
              <a:gd name="T1" fmla="*/ 3175 h 2"/>
              <a:gd name="T2" fmla="*/ 57150 w 36"/>
              <a:gd name="T3" fmla="*/ 3175 h 2"/>
              <a:gd name="T4" fmla="*/ 55563 w 36"/>
              <a:gd name="T5" fmla="*/ 0 h 2"/>
              <a:gd name="T6" fmla="*/ 0 w 36"/>
              <a:gd name="T7" fmla="*/ 0 h 2"/>
              <a:gd name="T8" fmla="*/ 1588 w 36"/>
              <a:gd name="T9" fmla="*/ 3175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2">
                <a:moveTo>
                  <a:pt x="1" y="2"/>
                </a:moveTo>
                <a:lnTo>
                  <a:pt x="36" y="2"/>
                </a:lnTo>
                <a:lnTo>
                  <a:pt x="35" y="0"/>
                </a:lnTo>
                <a:lnTo>
                  <a:pt x="0" y="0"/>
                </a:lnTo>
                <a:lnTo>
                  <a:pt x="1" y="2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64" name="Rectangle 429"/>
          <p:cNvSpPr>
            <a:spLocks noChangeArrowheads="1"/>
          </p:cNvSpPr>
          <p:nvPr/>
        </p:nvSpPr>
        <p:spPr bwMode="auto">
          <a:xfrm>
            <a:off x="4103364" y="5457286"/>
            <a:ext cx="41672" cy="1190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65" name="Freeform 430"/>
          <p:cNvSpPr/>
          <p:nvPr/>
        </p:nvSpPr>
        <p:spPr bwMode="auto">
          <a:xfrm>
            <a:off x="4103364" y="5456094"/>
            <a:ext cx="42863" cy="1191"/>
          </a:xfrm>
          <a:custGeom>
            <a:avLst/>
            <a:gdLst>
              <a:gd name="T0" fmla="*/ 0 w 36"/>
              <a:gd name="T1" fmla="*/ 1588 h 1"/>
              <a:gd name="T2" fmla="*/ 55563 w 36"/>
              <a:gd name="T3" fmla="*/ 1588 h 1"/>
              <a:gd name="T4" fmla="*/ 57150 w 36"/>
              <a:gd name="T5" fmla="*/ 0 h 1"/>
              <a:gd name="T6" fmla="*/ 1588 w 36"/>
              <a:gd name="T7" fmla="*/ 0 h 1"/>
              <a:gd name="T8" fmla="*/ 0 w 36"/>
              <a:gd name="T9" fmla="*/ 1588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" h="1">
                <a:moveTo>
                  <a:pt x="0" y="1"/>
                </a:moveTo>
                <a:lnTo>
                  <a:pt x="35" y="1"/>
                </a:lnTo>
                <a:lnTo>
                  <a:pt x="36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66" name="Rectangle 431"/>
          <p:cNvSpPr>
            <a:spLocks noChangeArrowheads="1"/>
          </p:cNvSpPr>
          <p:nvPr/>
        </p:nvSpPr>
        <p:spPr bwMode="auto">
          <a:xfrm>
            <a:off x="4104555" y="5456094"/>
            <a:ext cx="41672" cy="1191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67" name="Rectangle 432"/>
          <p:cNvSpPr>
            <a:spLocks noChangeArrowheads="1"/>
          </p:cNvSpPr>
          <p:nvPr/>
        </p:nvSpPr>
        <p:spPr bwMode="auto">
          <a:xfrm>
            <a:off x="4065265" y="5460856"/>
            <a:ext cx="97631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68" name="Freeform 433"/>
          <p:cNvSpPr>
            <a:spLocks noEditPoints="1"/>
          </p:cNvSpPr>
          <p:nvPr/>
        </p:nvSpPr>
        <p:spPr bwMode="auto">
          <a:xfrm>
            <a:off x="3802136" y="5445379"/>
            <a:ext cx="54769" cy="28575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9850 w 46"/>
              <a:gd name="T15" fmla="*/ 38100 h 24"/>
              <a:gd name="T16" fmla="*/ 69850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4" y="24"/>
                </a:lnTo>
                <a:lnTo>
                  <a:pt x="44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69" name="Freeform 434"/>
          <p:cNvSpPr>
            <a:spLocks noEditPoints="1"/>
          </p:cNvSpPr>
          <p:nvPr/>
        </p:nvSpPr>
        <p:spPr bwMode="auto">
          <a:xfrm>
            <a:off x="3804518" y="5445379"/>
            <a:ext cx="50006" cy="28575"/>
          </a:xfrm>
          <a:custGeom>
            <a:avLst/>
            <a:gdLst>
              <a:gd name="T0" fmla="*/ 0 w 42"/>
              <a:gd name="T1" fmla="*/ 38100 h 24"/>
              <a:gd name="T2" fmla="*/ 0 w 42"/>
              <a:gd name="T3" fmla="*/ 0 h 24"/>
              <a:gd name="T4" fmla="*/ 1588 w 42"/>
              <a:gd name="T5" fmla="*/ 0 h 24"/>
              <a:gd name="T6" fmla="*/ 1588 w 42"/>
              <a:gd name="T7" fmla="*/ 38100 h 24"/>
              <a:gd name="T8" fmla="*/ 0 w 42"/>
              <a:gd name="T9" fmla="*/ 38100 h 24"/>
              <a:gd name="T10" fmla="*/ 66675 w 42"/>
              <a:gd name="T11" fmla="*/ 0 h 24"/>
              <a:gd name="T12" fmla="*/ 66675 w 42"/>
              <a:gd name="T13" fmla="*/ 38100 h 24"/>
              <a:gd name="T14" fmla="*/ 63500 w 42"/>
              <a:gd name="T15" fmla="*/ 38100 h 24"/>
              <a:gd name="T16" fmla="*/ 63500 w 42"/>
              <a:gd name="T17" fmla="*/ 0 h 24"/>
              <a:gd name="T18" fmla="*/ 66675 w 42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2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2" y="0"/>
                </a:moveTo>
                <a:lnTo>
                  <a:pt x="42" y="24"/>
                </a:lnTo>
                <a:lnTo>
                  <a:pt x="40" y="24"/>
                </a:lnTo>
                <a:lnTo>
                  <a:pt x="40" y="0"/>
                </a:lnTo>
                <a:lnTo>
                  <a:pt x="42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0" name="Freeform 435"/>
          <p:cNvSpPr>
            <a:spLocks noEditPoints="1"/>
          </p:cNvSpPr>
          <p:nvPr/>
        </p:nvSpPr>
        <p:spPr bwMode="auto">
          <a:xfrm>
            <a:off x="3805708" y="5445379"/>
            <a:ext cx="46434" cy="28575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7 w 39"/>
              <a:gd name="T5" fmla="*/ 0 h 24"/>
              <a:gd name="T6" fmla="*/ 1587 w 39"/>
              <a:gd name="T7" fmla="*/ 38100 h 24"/>
              <a:gd name="T8" fmla="*/ 0 w 39"/>
              <a:gd name="T9" fmla="*/ 38100 h 24"/>
              <a:gd name="T10" fmla="*/ 61912 w 39"/>
              <a:gd name="T11" fmla="*/ 0 h 24"/>
              <a:gd name="T12" fmla="*/ 61912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2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1" name="Freeform 436"/>
          <p:cNvSpPr>
            <a:spLocks noEditPoints="1"/>
          </p:cNvSpPr>
          <p:nvPr/>
        </p:nvSpPr>
        <p:spPr bwMode="auto">
          <a:xfrm>
            <a:off x="3806898" y="5445379"/>
            <a:ext cx="44054" cy="28575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3175 w 37"/>
              <a:gd name="T5" fmla="*/ 0 h 24"/>
              <a:gd name="T6" fmla="*/ 3175 w 37"/>
              <a:gd name="T7" fmla="*/ 38100 h 24"/>
              <a:gd name="T8" fmla="*/ 0 w 37"/>
              <a:gd name="T9" fmla="*/ 38100 h 24"/>
              <a:gd name="T10" fmla="*/ 58738 w 37"/>
              <a:gd name="T11" fmla="*/ 0 h 24"/>
              <a:gd name="T12" fmla="*/ 58738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8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2" name="Freeform 437"/>
          <p:cNvSpPr>
            <a:spLocks noEditPoints="1"/>
          </p:cNvSpPr>
          <p:nvPr/>
        </p:nvSpPr>
        <p:spPr bwMode="auto">
          <a:xfrm>
            <a:off x="3809280" y="5445379"/>
            <a:ext cx="40481" cy="28575"/>
          </a:xfrm>
          <a:custGeom>
            <a:avLst/>
            <a:gdLst>
              <a:gd name="T0" fmla="*/ 0 w 34"/>
              <a:gd name="T1" fmla="*/ 38100 h 24"/>
              <a:gd name="T2" fmla="*/ 0 w 34"/>
              <a:gd name="T3" fmla="*/ 0 h 24"/>
              <a:gd name="T4" fmla="*/ 1588 w 34"/>
              <a:gd name="T5" fmla="*/ 0 h 24"/>
              <a:gd name="T6" fmla="*/ 1588 w 34"/>
              <a:gd name="T7" fmla="*/ 38100 h 24"/>
              <a:gd name="T8" fmla="*/ 0 w 34"/>
              <a:gd name="T9" fmla="*/ 38100 h 24"/>
              <a:gd name="T10" fmla="*/ 53975 w 34"/>
              <a:gd name="T11" fmla="*/ 0 h 24"/>
              <a:gd name="T12" fmla="*/ 53975 w 34"/>
              <a:gd name="T13" fmla="*/ 38100 h 24"/>
              <a:gd name="T14" fmla="*/ 50800 w 34"/>
              <a:gd name="T15" fmla="*/ 38100 h 24"/>
              <a:gd name="T16" fmla="*/ 50800 w 34"/>
              <a:gd name="T17" fmla="*/ 0 h 24"/>
              <a:gd name="T18" fmla="*/ 53975 w 3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4" y="0"/>
                </a:moveTo>
                <a:lnTo>
                  <a:pt x="34" y="24"/>
                </a:lnTo>
                <a:lnTo>
                  <a:pt x="32" y="24"/>
                </a:lnTo>
                <a:lnTo>
                  <a:pt x="32" y="0"/>
                </a:lnTo>
                <a:lnTo>
                  <a:pt x="34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3" name="Freeform 438"/>
          <p:cNvSpPr>
            <a:spLocks noEditPoints="1"/>
          </p:cNvSpPr>
          <p:nvPr/>
        </p:nvSpPr>
        <p:spPr bwMode="auto">
          <a:xfrm>
            <a:off x="3810471" y="5445379"/>
            <a:ext cx="36909" cy="28575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7 w 31"/>
              <a:gd name="T5" fmla="*/ 0 h 24"/>
              <a:gd name="T6" fmla="*/ 1587 w 31"/>
              <a:gd name="T7" fmla="*/ 38100 h 24"/>
              <a:gd name="T8" fmla="*/ 0 w 31"/>
              <a:gd name="T9" fmla="*/ 38100 h 24"/>
              <a:gd name="T10" fmla="*/ 49212 w 31"/>
              <a:gd name="T11" fmla="*/ 0 h 24"/>
              <a:gd name="T12" fmla="*/ 49212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2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4" name="Freeform 439"/>
          <p:cNvSpPr>
            <a:spLocks noEditPoints="1"/>
          </p:cNvSpPr>
          <p:nvPr/>
        </p:nvSpPr>
        <p:spPr bwMode="auto">
          <a:xfrm>
            <a:off x="3811661" y="5445379"/>
            <a:ext cx="34529" cy="28575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8 w 29"/>
              <a:gd name="T5" fmla="*/ 0 h 24"/>
              <a:gd name="T6" fmla="*/ 1588 w 29"/>
              <a:gd name="T7" fmla="*/ 38100 h 24"/>
              <a:gd name="T8" fmla="*/ 0 w 29"/>
              <a:gd name="T9" fmla="*/ 38100 h 24"/>
              <a:gd name="T10" fmla="*/ 46038 w 29"/>
              <a:gd name="T11" fmla="*/ 0 h 24"/>
              <a:gd name="T12" fmla="*/ 46038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8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5" name="Freeform 440"/>
          <p:cNvSpPr>
            <a:spLocks noEditPoints="1"/>
          </p:cNvSpPr>
          <p:nvPr/>
        </p:nvSpPr>
        <p:spPr bwMode="auto">
          <a:xfrm>
            <a:off x="3812852" y="5445379"/>
            <a:ext cx="32147" cy="28575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2 w 27"/>
              <a:gd name="T11" fmla="*/ 0 h 24"/>
              <a:gd name="T12" fmla="*/ 42862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2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6" name="Freeform 441"/>
          <p:cNvSpPr>
            <a:spLocks noEditPoints="1"/>
          </p:cNvSpPr>
          <p:nvPr/>
        </p:nvSpPr>
        <p:spPr bwMode="auto">
          <a:xfrm>
            <a:off x="3815233" y="5445379"/>
            <a:ext cx="28575" cy="28575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7" name="Freeform 442"/>
          <p:cNvSpPr>
            <a:spLocks noEditPoints="1"/>
          </p:cNvSpPr>
          <p:nvPr/>
        </p:nvSpPr>
        <p:spPr bwMode="auto">
          <a:xfrm>
            <a:off x="3816423" y="5445379"/>
            <a:ext cx="25004" cy="28575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8 w 21"/>
              <a:gd name="T5" fmla="*/ 0 h 24"/>
              <a:gd name="T6" fmla="*/ 1588 w 21"/>
              <a:gd name="T7" fmla="*/ 38100 h 24"/>
              <a:gd name="T8" fmla="*/ 0 w 21"/>
              <a:gd name="T9" fmla="*/ 38100 h 24"/>
              <a:gd name="T10" fmla="*/ 33338 w 21"/>
              <a:gd name="T11" fmla="*/ 0 h 24"/>
              <a:gd name="T12" fmla="*/ 33338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8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8" name="Freeform 443"/>
          <p:cNvSpPr>
            <a:spLocks noEditPoints="1"/>
          </p:cNvSpPr>
          <p:nvPr/>
        </p:nvSpPr>
        <p:spPr bwMode="auto">
          <a:xfrm>
            <a:off x="3817614" y="5445379"/>
            <a:ext cx="22622" cy="28575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7 w 19"/>
              <a:gd name="T5" fmla="*/ 0 h 24"/>
              <a:gd name="T6" fmla="*/ 1587 w 19"/>
              <a:gd name="T7" fmla="*/ 38100 h 24"/>
              <a:gd name="T8" fmla="*/ 0 w 19"/>
              <a:gd name="T9" fmla="*/ 38100 h 24"/>
              <a:gd name="T10" fmla="*/ 30162 w 19"/>
              <a:gd name="T11" fmla="*/ 0 h 24"/>
              <a:gd name="T12" fmla="*/ 30162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2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79" name="Freeform 444"/>
          <p:cNvSpPr>
            <a:spLocks noEditPoints="1"/>
          </p:cNvSpPr>
          <p:nvPr/>
        </p:nvSpPr>
        <p:spPr bwMode="auto">
          <a:xfrm>
            <a:off x="3818805" y="5445379"/>
            <a:ext cx="20241" cy="28575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8 w 17"/>
              <a:gd name="T11" fmla="*/ 0 h 24"/>
              <a:gd name="T12" fmla="*/ 26988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8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0" name="Freeform 445"/>
          <p:cNvSpPr>
            <a:spLocks noEditPoints="1"/>
          </p:cNvSpPr>
          <p:nvPr/>
        </p:nvSpPr>
        <p:spPr bwMode="auto">
          <a:xfrm>
            <a:off x="3821186" y="5444188"/>
            <a:ext cx="16669" cy="29766"/>
          </a:xfrm>
          <a:custGeom>
            <a:avLst/>
            <a:gdLst>
              <a:gd name="T0" fmla="*/ 0 w 14"/>
              <a:gd name="T1" fmla="*/ 39688 h 25"/>
              <a:gd name="T2" fmla="*/ 0 w 14"/>
              <a:gd name="T3" fmla="*/ 1588 h 25"/>
              <a:gd name="T4" fmla="*/ 1588 w 14"/>
              <a:gd name="T5" fmla="*/ 0 h 25"/>
              <a:gd name="T6" fmla="*/ 1588 w 14"/>
              <a:gd name="T7" fmla="*/ 38100 h 25"/>
              <a:gd name="T8" fmla="*/ 0 w 14"/>
              <a:gd name="T9" fmla="*/ 39688 h 25"/>
              <a:gd name="T10" fmla="*/ 22225 w 14"/>
              <a:gd name="T11" fmla="*/ 1588 h 25"/>
              <a:gd name="T12" fmla="*/ 22225 w 14"/>
              <a:gd name="T13" fmla="*/ 39688 h 25"/>
              <a:gd name="T14" fmla="*/ 19050 w 14"/>
              <a:gd name="T15" fmla="*/ 38100 h 25"/>
              <a:gd name="T16" fmla="*/ 19050 w 14"/>
              <a:gd name="T17" fmla="*/ 0 h 25"/>
              <a:gd name="T18" fmla="*/ 22225 w 14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14" y="1"/>
                </a:moveTo>
                <a:lnTo>
                  <a:pt x="14" y="25"/>
                </a:lnTo>
                <a:lnTo>
                  <a:pt x="12" y="24"/>
                </a:lnTo>
                <a:lnTo>
                  <a:pt x="12" y="0"/>
                </a:lnTo>
                <a:lnTo>
                  <a:pt x="14" y="1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1" name="Freeform 446"/>
          <p:cNvSpPr>
            <a:spLocks noEditPoints="1"/>
          </p:cNvSpPr>
          <p:nvPr/>
        </p:nvSpPr>
        <p:spPr bwMode="auto">
          <a:xfrm>
            <a:off x="3822377" y="5444188"/>
            <a:ext cx="13097" cy="29766"/>
          </a:xfrm>
          <a:custGeom>
            <a:avLst/>
            <a:gdLst>
              <a:gd name="T0" fmla="*/ 0 w 11"/>
              <a:gd name="T1" fmla="*/ 38100 h 25"/>
              <a:gd name="T2" fmla="*/ 0 w 11"/>
              <a:gd name="T3" fmla="*/ 0 h 25"/>
              <a:gd name="T4" fmla="*/ 1587 w 11"/>
              <a:gd name="T5" fmla="*/ 1588 h 25"/>
              <a:gd name="T6" fmla="*/ 1587 w 11"/>
              <a:gd name="T7" fmla="*/ 39688 h 25"/>
              <a:gd name="T8" fmla="*/ 0 w 11"/>
              <a:gd name="T9" fmla="*/ 38100 h 25"/>
              <a:gd name="T10" fmla="*/ 17462 w 11"/>
              <a:gd name="T11" fmla="*/ 0 h 25"/>
              <a:gd name="T12" fmla="*/ 17462 w 11"/>
              <a:gd name="T13" fmla="*/ 38100 h 25"/>
              <a:gd name="T14" fmla="*/ 15875 w 11"/>
              <a:gd name="T15" fmla="*/ 39688 h 25"/>
              <a:gd name="T16" fmla="*/ 15875 w 11"/>
              <a:gd name="T17" fmla="*/ 1588 h 25"/>
              <a:gd name="T18" fmla="*/ 17462 w 11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5">
                <a:moveTo>
                  <a:pt x="0" y="24"/>
                </a:moveTo>
                <a:lnTo>
                  <a:pt x="0" y="0"/>
                </a:lnTo>
                <a:lnTo>
                  <a:pt x="1" y="1"/>
                </a:lnTo>
                <a:lnTo>
                  <a:pt x="1" y="25"/>
                </a:lnTo>
                <a:lnTo>
                  <a:pt x="0" y="24"/>
                </a:lnTo>
                <a:close/>
                <a:moveTo>
                  <a:pt x="11" y="0"/>
                </a:moveTo>
                <a:lnTo>
                  <a:pt x="11" y="24"/>
                </a:lnTo>
                <a:lnTo>
                  <a:pt x="10" y="25"/>
                </a:lnTo>
                <a:lnTo>
                  <a:pt x="10" y="1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2" name="Freeform 447"/>
          <p:cNvSpPr>
            <a:spLocks noEditPoints="1"/>
          </p:cNvSpPr>
          <p:nvPr/>
        </p:nvSpPr>
        <p:spPr bwMode="auto">
          <a:xfrm>
            <a:off x="3823567" y="5444188"/>
            <a:ext cx="10716" cy="29766"/>
          </a:xfrm>
          <a:custGeom>
            <a:avLst/>
            <a:gdLst>
              <a:gd name="T0" fmla="*/ 0 w 9"/>
              <a:gd name="T1" fmla="*/ 39688 h 25"/>
              <a:gd name="T2" fmla="*/ 0 w 9"/>
              <a:gd name="T3" fmla="*/ 1588 h 25"/>
              <a:gd name="T4" fmla="*/ 1588 w 9"/>
              <a:gd name="T5" fmla="*/ 0 h 25"/>
              <a:gd name="T6" fmla="*/ 1588 w 9"/>
              <a:gd name="T7" fmla="*/ 38100 h 25"/>
              <a:gd name="T8" fmla="*/ 0 w 9"/>
              <a:gd name="T9" fmla="*/ 39688 h 25"/>
              <a:gd name="T10" fmla="*/ 14288 w 9"/>
              <a:gd name="T11" fmla="*/ 1588 h 25"/>
              <a:gd name="T12" fmla="*/ 14288 w 9"/>
              <a:gd name="T13" fmla="*/ 39688 h 25"/>
              <a:gd name="T14" fmla="*/ 12700 w 9"/>
              <a:gd name="T15" fmla="*/ 38100 h 25"/>
              <a:gd name="T16" fmla="*/ 12700 w 9"/>
              <a:gd name="T17" fmla="*/ 0 h 25"/>
              <a:gd name="T18" fmla="*/ 14288 w 9"/>
              <a:gd name="T19" fmla="*/ 1588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9" y="1"/>
                </a:moveTo>
                <a:lnTo>
                  <a:pt x="9" y="25"/>
                </a:lnTo>
                <a:lnTo>
                  <a:pt x="8" y="24"/>
                </a:lnTo>
                <a:lnTo>
                  <a:pt x="8" y="0"/>
                </a:lnTo>
                <a:lnTo>
                  <a:pt x="9" y="1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3" name="Freeform 448"/>
          <p:cNvSpPr>
            <a:spLocks noEditPoints="1"/>
          </p:cNvSpPr>
          <p:nvPr/>
        </p:nvSpPr>
        <p:spPr bwMode="auto">
          <a:xfrm>
            <a:off x="3824758" y="5444188"/>
            <a:ext cx="8334" cy="29766"/>
          </a:xfrm>
          <a:custGeom>
            <a:avLst/>
            <a:gdLst>
              <a:gd name="T0" fmla="*/ 0 w 7"/>
              <a:gd name="T1" fmla="*/ 38100 h 25"/>
              <a:gd name="T2" fmla="*/ 0 w 7"/>
              <a:gd name="T3" fmla="*/ 0 h 25"/>
              <a:gd name="T4" fmla="*/ 3175 w 7"/>
              <a:gd name="T5" fmla="*/ 1588 h 25"/>
              <a:gd name="T6" fmla="*/ 3175 w 7"/>
              <a:gd name="T7" fmla="*/ 39688 h 25"/>
              <a:gd name="T8" fmla="*/ 0 w 7"/>
              <a:gd name="T9" fmla="*/ 38100 h 25"/>
              <a:gd name="T10" fmla="*/ 11112 w 7"/>
              <a:gd name="T11" fmla="*/ 0 h 25"/>
              <a:gd name="T12" fmla="*/ 11112 w 7"/>
              <a:gd name="T13" fmla="*/ 38100 h 25"/>
              <a:gd name="T14" fmla="*/ 9525 w 7"/>
              <a:gd name="T15" fmla="*/ 39688 h 25"/>
              <a:gd name="T16" fmla="*/ 9525 w 7"/>
              <a:gd name="T17" fmla="*/ 1588 h 25"/>
              <a:gd name="T18" fmla="*/ 11112 w 7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5">
                <a:moveTo>
                  <a:pt x="0" y="24"/>
                </a:moveTo>
                <a:lnTo>
                  <a:pt x="0" y="0"/>
                </a:lnTo>
                <a:lnTo>
                  <a:pt x="2" y="1"/>
                </a:lnTo>
                <a:lnTo>
                  <a:pt x="2" y="25"/>
                </a:lnTo>
                <a:lnTo>
                  <a:pt x="0" y="24"/>
                </a:lnTo>
                <a:close/>
                <a:moveTo>
                  <a:pt x="7" y="0"/>
                </a:moveTo>
                <a:lnTo>
                  <a:pt x="7" y="24"/>
                </a:lnTo>
                <a:lnTo>
                  <a:pt x="6" y="25"/>
                </a:lnTo>
                <a:lnTo>
                  <a:pt x="6" y="1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4" name="Freeform 449"/>
          <p:cNvSpPr>
            <a:spLocks noEditPoints="1"/>
          </p:cNvSpPr>
          <p:nvPr/>
        </p:nvSpPr>
        <p:spPr bwMode="auto">
          <a:xfrm>
            <a:off x="3827139" y="5445379"/>
            <a:ext cx="4763" cy="28575"/>
          </a:xfrm>
          <a:custGeom>
            <a:avLst/>
            <a:gdLst>
              <a:gd name="T0" fmla="*/ 0 w 4"/>
              <a:gd name="T1" fmla="*/ 38100 h 24"/>
              <a:gd name="T2" fmla="*/ 0 w 4"/>
              <a:gd name="T3" fmla="*/ 0 h 24"/>
              <a:gd name="T4" fmla="*/ 1588 w 4"/>
              <a:gd name="T5" fmla="*/ 0 h 24"/>
              <a:gd name="T6" fmla="*/ 1588 w 4"/>
              <a:gd name="T7" fmla="*/ 38100 h 24"/>
              <a:gd name="T8" fmla="*/ 0 w 4"/>
              <a:gd name="T9" fmla="*/ 38100 h 24"/>
              <a:gd name="T10" fmla="*/ 6350 w 4"/>
              <a:gd name="T11" fmla="*/ 0 h 24"/>
              <a:gd name="T12" fmla="*/ 6350 w 4"/>
              <a:gd name="T13" fmla="*/ 38100 h 24"/>
              <a:gd name="T14" fmla="*/ 3175 w 4"/>
              <a:gd name="T15" fmla="*/ 38100 h 24"/>
              <a:gd name="T16" fmla="*/ 3175 w 4"/>
              <a:gd name="T17" fmla="*/ 0 h 24"/>
              <a:gd name="T18" fmla="*/ 6350 w 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" y="0"/>
                </a:moveTo>
                <a:lnTo>
                  <a:pt x="4" y="24"/>
                </a:lnTo>
                <a:lnTo>
                  <a:pt x="2" y="24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5" name="Freeform 450"/>
          <p:cNvSpPr>
            <a:spLocks noEditPoints="1"/>
          </p:cNvSpPr>
          <p:nvPr/>
        </p:nvSpPr>
        <p:spPr bwMode="auto">
          <a:xfrm>
            <a:off x="3828330" y="5445379"/>
            <a:ext cx="1191" cy="28575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8 w 1"/>
              <a:gd name="T5" fmla="*/ 0 h 24"/>
              <a:gd name="T6" fmla="*/ 1588 w 1"/>
              <a:gd name="T7" fmla="*/ 38100 h 24"/>
              <a:gd name="T8" fmla="*/ 0 w 1"/>
              <a:gd name="T9" fmla="*/ 38100 h 24"/>
              <a:gd name="T10" fmla="*/ 1588 w 1"/>
              <a:gd name="T11" fmla="*/ 0 h 24"/>
              <a:gd name="T12" fmla="*/ 1588 w 1"/>
              <a:gd name="T13" fmla="*/ 38100 h 24"/>
              <a:gd name="T14" fmla="*/ 1588 w 1"/>
              <a:gd name="T15" fmla="*/ 38100 h 24"/>
              <a:gd name="T16" fmla="*/ 1588 w 1"/>
              <a:gd name="T17" fmla="*/ 0 h 24"/>
              <a:gd name="T18" fmla="*/ 1588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6" name="Freeform 451"/>
          <p:cNvSpPr/>
          <p:nvPr/>
        </p:nvSpPr>
        <p:spPr bwMode="auto">
          <a:xfrm>
            <a:off x="3789039" y="5077475"/>
            <a:ext cx="509588" cy="509588"/>
          </a:xfrm>
          <a:custGeom>
            <a:avLst/>
            <a:gdLst>
              <a:gd name="T0" fmla="*/ 0 w 428"/>
              <a:gd name="T1" fmla="*/ 679450 h 428"/>
              <a:gd name="T2" fmla="*/ 0 w 428"/>
              <a:gd name="T3" fmla="*/ 473075 h 428"/>
              <a:gd name="T4" fmla="*/ 69850 w 428"/>
              <a:gd name="T5" fmla="*/ 400050 h 428"/>
              <a:gd name="T6" fmla="*/ 76200 w 428"/>
              <a:gd name="T7" fmla="*/ 400050 h 428"/>
              <a:gd name="T8" fmla="*/ 76200 w 428"/>
              <a:gd name="T9" fmla="*/ 76200 h 428"/>
              <a:gd name="T10" fmla="*/ 150813 w 428"/>
              <a:gd name="T11" fmla="*/ 0 h 428"/>
              <a:gd name="T12" fmla="*/ 603250 w 428"/>
              <a:gd name="T13" fmla="*/ 0 h 428"/>
              <a:gd name="T14" fmla="*/ 603250 w 428"/>
              <a:gd name="T15" fmla="*/ 227013 h 428"/>
              <a:gd name="T16" fmla="*/ 585788 w 428"/>
              <a:gd name="T17" fmla="*/ 282575 h 428"/>
              <a:gd name="T18" fmla="*/ 585788 w 428"/>
              <a:gd name="T19" fmla="*/ 385763 h 428"/>
              <a:gd name="T20" fmla="*/ 574675 w 428"/>
              <a:gd name="T21" fmla="*/ 395288 h 428"/>
              <a:gd name="T22" fmla="*/ 679450 w 428"/>
              <a:gd name="T23" fmla="*/ 395288 h 428"/>
              <a:gd name="T24" fmla="*/ 679450 w 428"/>
              <a:gd name="T25" fmla="*/ 603250 h 428"/>
              <a:gd name="T26" fmla="*/ 603250 w 428"/>
              <a:gd name="T27" fmla="*/ 679450 h 428"/>
              <a:gd name="T28" fmla="*/ 0 w 428"/>
              <a:gd name="T29" fmla="*/ 679450 h 4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8">
                <a:moveTo>
                  <a:pt x="0" y="428"/>
                </a:moveTo>
                <a:lnTo>
                  <a:pt x="0" y="298"/>
                </a:lnTo>
                <a:lnTo>
                  <a:pt x="44" y="252"/>
                </a:lnTo>
                <a:lnTo>
                  <a:pt x="48" y="252"/>
                </a:lnTo>
                <a:lnTo>
                  <a:pt x="48" y="48"/>
                </a:lnTo>
                <a:lnTo>
                  <a:pt x="95" y="0"/>
                </a:lnTo>
                <a:lnTo>
                  <a:pt x="380" y="0"/>
                </a:lnTo>
                <a:lnTo>
                  <a:pt x="380" y="143"/>
                </a:lnTo>
                <a:lnTo>
                  <a:pt x="369" y="178"/>
                </a:lnTo>
                <a:lnTo>
                  <a:pt x="369" y="243"/>
                </a:lnTo>
                <a:lnTo>
                  <a:pt x="362" y="249"/>
                </a:lnTo>
                <a:lnTo>
                  <a:pt x="428" y="249"/>
                </a:lnTo>
                <a:lnTo>
                  <a:pt x="428" y="380"/>
                </a:lnTo>
                <a:lnTo>
                  <a:pt x="380" y="428"/>
                </a:lnTo>
                <a:lnTo>
                  <a:pt x="0" y="42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7" name="Rectangle 452"/>
          <p:cNvSpPr>
            <a:spLocks noChangeArrowheads="1"/>
          </p:cNvSpPr>
          <p:nvPr/>
        </p:nvSpPr>
        <p:spPr bwMode="auto">
          <a:xfrm>
            <a:off x="3815234" y="5612067"/>
            <a:ext cx="1240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anose="02010600030101010101" pitchFamily="2" charset="-122"/>
              </a:rPr>
              <a:t>Guangzhou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688" name="Freeform 453"/>
          <p:cNvSpPr/>
          <p:nvPr/>
        </p:nvSpPr>
        <p:spPr bwMode="auto">
          <a:xfrm>
            <a:off x="2079302" y="4015438"/>
            <a:ext cx="70247" cy="28575"/>
          </a:xfrm>
          <a:custGeom>
            <a:avLst/>
            <a:gdLst>
              <a:gd name="T0" fmla="*/ 55562 w 59"/>
              <a:gd name="T1" fmla="*/ 38100 h 24"/>
              <a:gd name="T2" fmla="*/ 93662 w 59"/>
              <a:gd name="T3" fmla="*/ 0 h 24"/>
              <a:gd name="T4" fmla="*/ 0 w 59"/>
              <a:gd name="T5" fmla="*/ 0 h 24"/>
              <a:gd name="T6" fmla="*/ 55562 w 59"/>
              <a:gd name="T7" fmla="*/ 38100 h 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4">
                <a:moveTo>
                  <a:pt x="35" y="24"/>
                </a:moveTo>
                <a:lnTo>
                  <a:pt x="59" y="0"/>
                </a:lnTo>
                <a:lnTo>
                  <a:pt x="0" y="0"/>
                </a:lnTo>
                <a:lnTo>
                  <a:pt x="35" y="2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89" name="Freeform 454"/>
          <p:cNvSpPr/>
          <p:nvPr/>
        </p:nvSpPr>
        <p:spPr bwMode="auto">
          <a:xfrm>
            <a:off x="1639961" y="4019010"/>
            <a:ext cx="113110" cy="53578"/>
          </a:xfrm>
          <a:custGeom>
            <a:avLst/>
            <a:gdLst>
              <a:gd name="T0" fmla="*/ 150813 w 95"/>
              <a:gd name="T1" fmla="*/ 71437 h 45"/>
              <a:gd name="T2" fmla="*/ 69850 w 95"/>
              <a:gd name="T3" fmla="*/ 0 h 45"/>
              <a:gd name="T4" fmla="*/ 0 w 95"/>
              <a:gd name="T5" fmla="*/ 71437 h 45"/>
              <a:gd name="T6" fmla="*/ 150813 w 95"/>
              <a:gd name="T7" fmla="*/ 71437 h 4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5">
                <a:moveTo>
                  <a:pt x="95" y="45"/>
                </a:moveTo>
                <a:lnTo>
                  <a:pt x="44" y="0"/>
                </a:lnTo>
                <a:lnTo>
                  <a:pt x="0" y="45"/>
                </a:lnTo>
                <a:lnTo>
                  <a:pt x="95" y="4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0" name="Freeform 455"/>
          <p:cNvSpPr/>
          <p:nvPr/>
        </p:nvSpPr>
        <p:spPr bwMode="auto">
          <a:xfrm>
            <a:off x="1697111" y="4015438"/>
            <a:ext cx="429816" cy="57150"/>
          </a:xfrm>
          <a:custGeom>
            <a:avLst/>
            <a:gdLst>
              <a:gd name="T0" fmla="*/ 573088 w 361"/>
              <a:gd name="T1" fmla="*/ 28575 h 48"/>
              <a:gd name="T2" fmla="*/ 517525 w 361"/>
              <a:gd name="T3" fmla="*/ 0 h 48"/>
              <a:gd name="T4" fmla="*/ 74613 w 361"/>
              <a:gd name="T5" fmla="*/ 0 h 48"/>
              <a:gd name="T6" fmla="*/ 0 w 361"/>
              <a:gd name="T7" fmla="*/ 38100 h 48"/>
              <a:gd name="T8" fmla="*/ 74613 w 361"/>
              <a:gd name="T9" fmla="*/ 76200 h 48"/>
              <a:gd name="T10" fmla="*/ 527050 w 361"/>
              <a:gd name="T11" fmla="*/ 76200 h 48"/>
              <a:gd name="T12" fmla="*/ 573088 w 361"/>
              <a:gd name="T13" fmla="*/ 28575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8">
                <a:moveTo>
                  <a:pt x="361" y="18"/>
                </a:moveTo>
                <a:lnTo>
                  <a:pt x="326" y="0"/>
                </a:lnTo>
                <a:lnTo>
                  <a:pt x="47" y="0"/>
                </a:lnTo>
                <a:lnTo>
                  <a:pt x="0" y="24"/>
                </a:lnTo>
                <a:lnTo>
                  <a:pt x="47" y="48"/>
                </a:lnTo>
                <a:lnTo>
                  <a:pt x="332" y="48"/>
                </a:lnTo>
                <a:lnTo>
                  <a:pt x="361" y="1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1" name="Freeform 456"/>
          <p:cNvSpPr/>
          <p:nvPr/>
        </p:nvSpPr>
        <p:spPr bwMode="auto">
          <a:xfrm>
            <a:off x="1766168" y="4052348"/>
            <a:ext cx="254794" cy="16669"/>
          </a:xfrm>
          <a:custGeom>
            <a:avLst/>
            <a:gdLst>
              <a:gd name="T0" fmla="*/ 339725 w 214"/>
              <a:gd name="T1" fmla="*/ 0 h 14"/>
              <a:gd name="T2" fmla="*/ 339725 w 214"/>
              <a:gd name="T3" fmla="*/ 22225 h 14"/>
              <a:gd name="T4" fmla="*/ 0 w 214"/>
              <a:gd name="T5" fmla="*/ 22225 h 14"/>
              <a:gd name="T6" fmla="*/ 0 w 214"/>
              <a:gd name="T7" fmla="*/ 22225 h 14"/>
              <a:gd name="T8" fmla="*/ 49213 w 214"/>
              <a:gd name="T9" fmla="*/ 22225 h 14"/>
              <a:gd name="T10" fmla="*/ 95250 w 214"/>
              <a:gd name="T11" fmla="*/ 19050 h 14"/>
              <a:gd name="T12" fmla="*/ 139700 w 214"/>
              <a:gd name="T13" fmla="*/ 19050 h 14"/>
              <a:gd name="T14" fmla="*/ 179388 w 214"/>
              <a:gd name="T15" fmla="*/ 17463 h 14"/>
              <a:gd name="T16" fmla="*/ 217488 w 214"/>
              <a:gd name="T17" fmla="*/ 15875 h 14"/>
              <a:gd name="T18" fmla="*/ 252413 w 214"/>
              <a:gd name="T19" fmla="*/ 14288 h 14"/>
              <a:gd name="T20" fmla="*/ 279400 w 214"/>
              <a:gd name="T21" fmla="*/ 11113 h 14"/>
              <a:gd name="T22" fmla="*/ 301625 w 214"/>
              <a:gd name="T23" fmla="*/ 7938 h 14"/>
              <a:gd name="T24" fmla="*/ 319088 w 214"/>
              <a:gd name="T25" fmla="*/ 6350 h 14"/>
              <a:gd name="T26" fmla="*/ 328613 w 214"/>
              <a:gd name="T27" fmla="*/ 1588 h 14"/>
              <a:gd name="T28" fmla="*/ 331788 w 214"/>
              <a:gd name="T29" fmla="*/ 0 h 14"/>
              <a:gd name="T30" fmla="*/ 339725 w 214"/>
              <a:gd name="T31" fmla="*/ 0 h 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14" h="14">
                <a:moveTo>
                  <a:pt x="214" y="0"/>
                </a:moveTo>
                <a:lnTo>
                  <a:pt x="214" y="14"/>
                </a:lnTo>
                <a:lnTo>
                  <a:pt x="0" y="14"/>
                </a:lnTo>
                <a:lnTo>
                  <a:pt x="31" y="14"/>
                </a:lnTo>
                <a:lnTo>
                  <a:pt x="60" y="12"/>
                </a:lnTo>
                <a:lnTo>
                  <a:pt x="88" y="12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6" y="7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14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2" name="Freeform 457"/>
          <p:cNvSpPr/>
          <p:nvPr/>
        </p:nvSpPr>
        <p:spPr bwMode="auto">
          <a:xfrm>
            <a:off x="1766167" y="4052348"/>
            <a:ext cx="248841" cy="16669"/>
          </a:xfrm>
          <a:custGeom>
            <a:avLst/>
            <a:gdLst>
              <a:gd name="T0" fmla="*/ 0 w 209"/>
              <a:gd name="T1" fmla="*/ 22225 h 14"/>
              <a:gd name="T2" fmla="*/ 49213 w 209"/>
              <a:gd name="T3" fmla="*/ 22225 h 14"/>
              <a:gd name="T4" fmla="*/ 95250 w 209"/>
              <a:gd name="T5" fmla="*/ 19050 h 14"/>
              <a:gd name="T6" fmla="*/ 139700 w 209"/>
              <a:gd name="T7" fmla="*/ 19050 h 14"/>
              <a:gd name="T8" fmla="*/ 179388 w 209"/>
              <a:gd name="T9" fmla="*/ 17463 h 14"/>
              <a:gd name="T10" fmla="*/ 217488 w 209"/>
              <a:gd name="T11" fmla="*/ 15875 h 14"/>
              <a:gd name="T12" fmla="*/ 252413 w 209"/>
              <a:gd name="T13" fmla="*/ 14288 h 14"/>
              <a:gd name="T14" fmla="*/ 279400 w 209"/>
              <a:gd name="T15" fmla="*/ 11113 h 14"/>
              <a:gd name="T16" fmla="*/ 301625 w 209"/>
              <a:gd name="T17" fmla="*/ 7938 h 14"/>
              <a:gd name="T18" fmla="*/ 319088 w 209"/>
              <a:gd name="T19" fmla="*/ 6350 h 14"/>
              <a:gd name="T20" fmla="*/ 328613 w 209"/>
              <a:gd name="T21" fmla="*/ 1588 h 14"/>
              <a:gd name="T22" fmla="*/ 331788 w 209"/>
              <a:gd name="T23" fmla="*/ 0 h 14"/>
              <a:gd name="T24" fmla="*/ 323850 w 209"/>
              <a:gd name="T25" fmla="*/ 0 h 14"/>
              <a:gd name="T26" fmla="*/ 320675 w 209"/>
              <a:gd name="T27" fmla="*/ 1588 h 14"/>
              <a:gd name="T28" fmla="*/ 307975 w 209"/>
              <a:gd name="T29" fmla="*/ 6350 h 14"/>
              <a:gd name="T30" fmla="*/ 290513 w 209"/>
              <a:gd name="T31" fmla="*/ 9525 h 14"/>
              <a:gd name="T32" fmla="*/ 261938 w 209"/>
              <a:gd name="T33" fmla="*/ 11113 h 14"/>
              <a:gd name="T34" fmla="*/ 230188 w 209"/>
              <a:gd name="T35" fmla="*/ 14288 h 14"/>
              <a:gd name="T36" fmla="*/ 192088 w 209"/>
              <a:gd name="T37" fmla="*/ 17463 h 14"/>
              <a:gd name="T38" fmla="*/ 147638 w 209"/>
              <a:gd name="T39" fmla="*/ 17463 h 14"/>
              <a:gd name="T40" fmla="*/ 101600 w 209"/>
              <a:gd name="T41" fmla="*/ 19050 h 14"/>
              <a:gd name="T42" fmla="*/ 52388 w 209"/>
              <a:gd name="T43" fmla="*/ 22225 h 14"/>
              <a:gd name="T44" fmla="*/ 0 w 209"/>
              <a:gd name="T45" fmla="*/ 22225 h 14"/>
              <a:gd name="T46" fmla="*/ 0 w 209"/>
              <a:gd name="T47" fmla="*/ 22225 h 14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09" h="14">
                <a:moveTo>
                  <a:pt x="0" y="14"/>
                </a:moveTo>
                <a:lnTo>
                  <a:pt x="31" y="14"/>
                </a:lnTo>
                <a:lnTo>
                  <a:pt x="60" y="12"/>
                </a:lnTo>
                <a:lnTo>
                  <a:pt x="88" y="12"/>
                </a:lnTo>
                <a:lnTo>
                  <a:pt x="113" y="11"/>
                </a:lnTo>
                <a:lnTo>
                  <a:pt x="137" y="10"/>
                </a:lnTo>
                <a:lnTo>
                  <a:pt x="159" y="9"/>
                </a:lnTo>
                <a:lnTo>
                  <a:pt x="176" y="7"/>
                </a:lnTo>
                <a:lnTo>
                  <a:pt x="190" y="5"/>
                </a:lnTo>
                <a:lnTo>
                  <a:pt x="201" y="4"/>
                </a:lnTo>
                <a:lnTo>
                  <a:pt x="207" y="1"/>
                </a:lnTo>
                <a:lnTo>
                  <a:pt x="209" y="0"/>
                </a:lnTo>
                <a:lnTo>
                  <a:pt x="204" y="0"/>
                </a:ln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7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2"/>
                </a:lnTo>
                <a:lnTo>
                  <a:pt x="33" y="14"/>
                </a:lnTo>
                <a:lnTo>
                  <a:pt x="0" y="14"/>
                </a:lnTo>
                <a:close/>
              </a:path>
            </a:pathLst>
          </a:custGeom>
          <a:solidFill>
            <a:srgbClr val="BBBB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3" name="Freeform 458"/>
          <p:cNvSpPr/>
          <p:nvPr/>
        </p:nvSpPr>
        <p:spPr bwMode="auto">
          <a:xfrm>
            <a:off x="1766167" y="4052348"/>
            <a:ext cx="242888" cy="16669"/>
          </a:xfrm>
          <a:custGeom>
            <a:avLst/>
            <a:gdLst>
              <a:gd name="T0" fmla="*/ 323850 w 204"/>
              <a:gd name="T1" fmla="*/ 0 h 14"/>
              <a:gd name="T2" fmla="*/ 320675 w 204"/>
              <a:gd name="T3" fmla="*/ 1588 h 14"/>
              <a:gd name="T4" fmla="*/ 307975 w 204"/>
              <a:gd name="T5" fmla="*/ 6350 h 14"/>
              <a:gd name="T6" fmla="*/ 290513 w 204"/>
              <a:gd name="T7" fmla="*/ 9525 h 14"/>
              <a:gd name="T8" fmla="*/ 261938 w 204"/>
              <a:gd name="T9" fmla="*/ 11113 h 14"/>
              <a:gd name="T10" fmla="*/ 230188 w 204"/>
              <a:gd name="T11" fmla="*/ 14288 h 14"/>
              <a:gd name="T12" fmla="*/ 192088 w 204"/>
              <a:gd name="T13" fmla="*/ 17463 h 14"/>
              <a:gd name="T14" fmla="*/ 147638 w 204"/>
              <a:gd name="T15" fmla="*/ 17463 h 14"/>
              <a:gd name="T16" fmla="*/ 101600 w 204"/>
              <a:gd name="T17" fmla="*/ 19050 h 14"/>
              <a:gd name="T18" fmla="*/ 52388 w 204"/>
              <a:gd name="T19" fmla="*/ 22225 h 14"/>
              <a:gd name="T20" fmla="*/ 0 w 204"/>
              <a:gd name="T21" fmla="*/ 22225 h 14"/>
              <a:gd name="T22" fmla="*/ 0 w 204"/>
              <a:gd name="T23" fmla="*/ 19050 h 14"/>
              <a:gd name="T24" fmla="*/ 50800 w 204"/>
              <a:gd name="T25" fmla="*/ 19050 h 14"/>
              <a:gd name="T26" fmla="*/ 98425 w 204"/>
              <a:gd name="T27" fmla="*/ 19050 h 14"/>
              <a:gd name="T28" fmla="*/ 142875 w 204"/>
              <a:gd name="T29" fmla="*/ 17463 h 14"/>
              <a:gd name="T30" fmla="*/ 185738 w 204"/>
              <a:gd name="T31" fmla="*/ 15875 h 14"/>
              <a:gd name="T32" fmla="*/ 223838 w 204"/>
              <a:gd name="T33" fmla="*/ 14288 h 14"/>
              <a:gd name="T34" fmla="*/ 255588 w 204"/>
              <a:gd name="T35" fmla="*/ 11113 h 14"/>
              <a:gd name="T36" fmla="*/ 282575 w 204"/>
              <a:gd name="T37" fmla="*/ 7938 h 14"/>
              <a:gd name="T38" fmla="*/ 300038 w 204"/>
              <a:gd name="T39" fmla="*/ 6350 h 14"/>
              <a:gd name="T40" fmla="*/ 312738 w 204"/>
              <a:gd name="T41" fmla="*/ 1588 h 14"/>
              <a:gd name="T42" fmla="*/ 315913 w 204"/>
              <a:gd name="T43" fmla="*/ 0 h 14"/>
              <a:gd name="T44" fmla="*/ 323850 w 204"/>
              <a:gd name="T45" fmla="*/ 0 h 14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04" h="14">
                <a:moveTo>
                  <a:pt x="204" y="0"/>
                </a:moveTo>
                <a:lnTo>
                  <a:pt x="202" y="1"/>
                </a:lnTo>
                <a:lnTo>
                  <a:pt x="194" y="4"/>
                </a:lnTo>
                <a:lnTo>
                  <a:pt x="183" y="6"/>
                </a:lnTo>
                <a:lnTo>
                  <a:pt x="165" y="7"/>
                </a:lnTo>
                <a:lnTo>
                  <a:pt x="145" y="9"/>
                </a:lnTo>
                <a:lnTo>
                  <a:pt x="121" y="11"/>
                </a:lnTo>
                <a:lnTo>
                  <a:pt x="93" y="11"/>
                </a:lnTo>
                <a:lnTo>
                  <a:pt x="64" y="12"/>
                </a:lnTo>
                <a:lnTo>
                  <a:pt x="33" y="14"/>
                </a:lnTo>
                <a:lnTo>
                  <a:pt x="0" y="14"/>
                </a:lnTo>
                <a:lnTo>
                  <a:pt x="0" y="12"/>
                </a:lnTo>
                <a:lnTo>
                  <a:pt x="32" y="12"/>
                </a:lnTo>
                <a:lnTo>
                  <a:pt x="62" y="12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7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204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4" name="Freeform 459"/>
          <p:cNvSpPr/>
          <p:nvPr/>
        </p:nvSpPr>
        <p:spPr bwMode="auto">
          <a:xfrm>
            <a:off x="1766168" y="4052347"/>
            <a:ext cx="236935" cy="14288"/>
          </a:xfrm>
          <a:custGeom>
            <a:avLst/>
            <a:gdLst>
              <a:gd name="T0" fmla="*/ 0 w 199"/>
              <a:gd name="T1" fmla="*/ 19050 h 12"/>
              <a:gd name="T2" fmla="*/ 50800 w 199"/>
              <a:gd name="T3" fmla="*/ 19050 h 12"/>
              <a:gd name="T4" fmla="*/ 98425 w 199"/>
              <a:gd name="T5" fmla="*/ 19050 h 12"/>
              <a:gd name="T6" fmla="*/ 142875 w 199"/>
              <a:gd name="T7" fmla="*/ 17463 h 12"/>
              <a:gd name="T8" fmla="*/ 185738 w 199"/>
              <a:gd name="T9" fmla="*/ 15875 h 12"/>
              <a:gd name="T10" fmla="*/ 223838 w 199"/>
              <a:gd name="T11" fmla="*/ 14288 h 12"/>
              <a:gd name="T12" fmla="*/ 255588 w 199"/>
              <a:gd name="T13" fmla="*/ 11113 h 12"/>
              <a:gd name="T14" fmla="*/ 282575 w 199"/>
              <a:gd name="T15" fmla="*/ 7938 h 12"/>
              <a:gd name="T16" fmla="*/ 300038 w 199"/>
              <a:gd name="T17" fmla="*/ 6350 h 12"/>
              <a:gd name="T18" fmla="*/ 312738 w 199"/>
              <a:gd name="T19" fmla="*/ 1588 h 12"/>
              <a:gd name="T20" fmla="*/ 315913 w 199"/>
              <a:gd name="T21" fmla="*/ 0 h 12"/>
              <a:gd name="T22" fmla="*/ 306388 w 199"/>
              <a:gd name="T23" fmla="*/ 0 h 12"/>
              <a:gd name="T24" fmla="*/ 301625 w 199"/>
              <a:gd name="T25" fmla="*/ 1588 h 12"/>
              <a:gd name="T26" fmla="*/ 292100 w 199"/>
              <a:gd name="T27" fmla="*/ 6350 h 12"/>
              <a:gd name="T28" fmla="*/ 274638 w 199"/>
              <a:gd name="T29" fmla="*/ 7938 h 12"/>
              <a:gd name="T30" fmla="*/ 247650 w 199"/>
              <a:gd name="T31" fmla="*/ 11113 h 12"/>
              <a:gd name="T32" fmla="*/ 217488 w 199"/>
              <a:gd name="T33" fmla="*/ 14288 h 12"/>
              <a:gd name="T34" fmla="*/ 180975 w 199"/>
              <a:gd name="T35" fmla="*/ 15875 h 12"/>
              <a:gd name="T36" fmla="*/ 139700 w 199"/>
              <a:gd name="T37" fmla="*/ 17463 h 12"/>
              <a:gd name="T38" fmla="*/ 95250 w 199"/>
              <a:gd name="T39" fmla="*/ 19050 h 12"/>
              <a:gd name="T40" fmla="*/ 49213 w 199"/>
              <a:gd name="T41" fmla="*/ 19050 h 12"/>
              <a:gd name="T42" fmla="*/ 0 w 199"/>
              <a:gd name="T43" fmla="*/ 19050 h 12"/>
              <a:gd name="T44" fmla="*/ 0 w 199"/>
              <a:gd name="T45" fmla="*/ 19050 h 1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9" h="12">
                <a:moveTo>
                  <a:pt x="0" y="12"/>
                </a:moveTo>
                <a:lnTo>
                  <a:pt x="32" y="12"/>
                </a:lnTo>
                <a:lnTo>
                  <a:pt x="62" y="12"/>
                </a:lnTo>
                <a:lnTo>
                  <a:pt x="90" y="11"/>
                </a:lnTo>
                <a:lnTo>
                  <a:pt x="117" y="10"/>
                </a:lnTo>
                <a:lnTo>
                  <a:pt x="141" y="9"/>
                </a:lnTo>
                <a:lnTo>
                  <a:pt x="161" y="7"/>
                </a:lnTo>
                <a:lnTo>
                  <a:pt x="178" y="5"/>
                </a:lnTo>
                <a:lnTo>
                  <a:pt x="189" y="4"/>
                </a:lnTo>
                <a:lnTo>
                  <a:pt x="197" y="1"/>
                </a:lnTo>
                <a:lnTo>
                  <a:pt x="199" y="0"/>
                </a:lnTo>
                <a:lnTo>
                  <a:pt x="193" y="0"/>
                </a:ln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7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2"/>
                </a:lnTo>
                <a:lnTo>
                  <a:pt x="31" y="12"/>
                </a:lnTo>
                <a:lnTo>
                  <a:pt x="0" y="12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5" name="Freeform 460"/>
          <p:cNvSpPr/>
          <p:nvPr/>
        </p:nvSpPr>
        <p:spPr bwMode="auto">
          <a:xfrm>
            <a:off x="1766167" y="4052347"/>
            <a:ext cx="229791" cy="14288"/>
          </a:xfrm>
          <a:custGeom>
            <a:avLst/>
            <a:gdLst>
              <a:gd name="T0" fmla="*/ 306388 w 193"/>
              <a:gd name="T1" fmla="*/ 0 h 12"/>
              <a:gd name="T2" fmla="*/ 301625 w 193"/>
              <a:gd name="T3" fmla="*/ 1588 h 12"/>
              <a:gd name="T4" fmla="*/ 292100 w 193"/>
              <a:gd name="T5" fmla="*/ 6350 h 12"/>
              <a:gd name="T6" fmla="*/ 274638 w 193"/>
              <a:gd name="T7" fmla="*/ 7938 h 12"/>
              <a:gd name="T8" fmla="*/ 247650 w 193"/>
              <a:gd name="T9" fmla="*/ 11113 h 12"/>
              <a:gd name="T10" fmla="*/ 217488 w 193"/>
              <a:gd name="T11" fmla="*/ 14288 h 12"/>
              <a:gd name="T12" fmla="*/ 180975 w 193"/>
              <a:gd name="T13" fmla="*/ 15875 h 12"/>
              <a:gd name="T14" fmla="*/ 139700 w 193"/>
              <a:gd name="T15" fmla="*/ 17463 h 12"/>
              <a:gd name="T16" fmla="*/ 95250 w 193"/>
              <a:gd name="T17" fmla="*/ 19050 h 12"/>
              <a:gd name="T18" fmla="*/ 49213 w 193"/>
              <a:gd name="T19" fmla="*/ 19050 h 12"/>
              <a:gd name="T20" fmla="*/ 0 w 193"/>
              <a:gd name="T21" fmla="*/ 19050 h 12"/>
              <a:gd name="T22" fmla="*/ 0 w 193"/>
              <a:gd name="T23" fmla="*/ 19050 h 12"/>
              <a:gd name="T24" fmla="*/ 47625 w 193"/>
              <a:gd name="T25" fmla="*/ 19050 h 12"/>
              <a:gd name="T26" fmla="*/ 93663 w 193"/>
              <a:gd name="T27" fmla="*/ 17463 h 12"/>
              <a:gd name="T28" fmla="*/ 134938 w 193"/>
              <a:gd name="T29" fmla="*/ 17463 h 12"/>
              <a:gd name="T30" fmla="*/ 176213 w 193"/>
              <a:gd name="T31" fmla="*/ 15875 h 12"/>
              <a:gd name="T32" fmla="*/ 209550 w 193"/>
              <a:gd name="T33" fmla="*/ 14288 h 12"/>
              <a:gd name="T34" fmla="*/ 239713 w 193"/>
              <a:gd name="T35" fmla="*/ 11113 h 12"/>
              <a:gd name="T36" fmla="*/ 263525 w 193"/>
              <a:gd name="T37" fmla="*/ 7938 h 12"/>
              <a:gd name="T38" fmla="*/ 282575 w 193"/>
              <a:gd name="T39" fmla="*/ 6350 h 12"/>
              <a:gd name="T40" fmla="*/ 293688 w 193"/>
              <a:gd name="T41" fmla="*/ 1588 h 12"/>
              <a:gd name="T42" fmla="*/ 296863 w 193"/>
              <a:gd name="T43" fmla="*/ 0 h 12"/>
              <a:gd name="T44" fmla="*/ 306388 w 193"/>
              <a:gd name="T45" fmla="*/ 0 h 1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93" h="12">
                <a:moveTo>
                  <a:pt x="193" y="0"/>
                </a:moveTo>
                <a:lnTo>
                  <a:pt x="190" y="1"/>
                </a:lnTo>
                <a:lnTo>
                  <a:pt x="184" y="4"/>
                </a:lnTo>
                <a:lnTo>
                  <a:pt x="173" y="5"/>
                </a:lnTo>
                <a:lnTo>
                  <a:pt x="156" y="7"/>
                </a:lnTo>
                <a:lnTo>
                  <a:pt x="137" y="9"/>
                </a:lnTo>
                <a:lnTo>
                  <a:pt x="114" y="10"/>
                </a:lnTo>
                <a:lnTo>
                  <a:pt x="88" y="11"/>
                </a:lnTo>
                <a:lnTo>
                  <a:pt x="60" y="12"/>
                </a:lnTo>
                <a:lnTo>
                  <a:pt x="31" y="12"/>
                </a:lnTo>
                <a:lnTo>
                  <a:pt x="0" y="12"/>
                </a:lnTo>
                <a:lnTo>
                  <a:pt x="30" y="12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7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93" y="0"/>
                </a:lnTo>
                <a:close/>
              </a:path>
            </a:pathLst>
          </a:custGeom>
          <a:solidFill>
            <a:srgbClr val="AFAF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6" name="Freeform 461"/>
          <p:cNvSpPr/>
          <p:nvPr/>
        </p:nvSpPr>
        <p:spPr bwMode="auto">
          <a:xfrm>
            <a:off x="1766168" y="4052347"/>
            <a:ext cx="222647" cy="14288"/>
          </a:xfrm>
          <a:custGeom>
            <a:avLst/>
            <a:gdLst>
              <a:gd name="T0" fmla="*/ 0 w 187"/>
              <a:gd name="T1" fmla="*/ 19050 h 12"/>
              <a:gd name="T2" fmla="*/ 47625 w 187"/>
              <a:gd name="T3" fmla="*/ 19050 h 12"/>
              <a:gd name="T4" fmla="*/ 93663 w 187"/>
              <a:gd name="T5" fmla="*/ 17463 h 12"/>
              <a:gd name="T6" fmla="*/ 134938 w 187"/>
              <a:gd name="T7" fmla="*/ 17463 h 12"/>
              <a:gd name="T8" fmla="*/ 176213 w 187"/>
              <a:gd name="T9" fmla="*/ 15875 h 12"/>
              <a:gd name="T10" fmla="*/ 209550 w 187"/>
              <a:gd name="T11" fmla="*/ 14288 h 12"/>
              <a:gd name="T12" fmla="*/ 239713 w 187"/>
              <a:gd name="T13" fmla="*/ 11113 h 12"/>
              <a:gd name="T14" fmla="*/ 263525 w 187"/>
              <a:gd name="T15" fmla="*/ 7938 h 12"/>
              <a:gd name="T16" fmla="*/ 282575 w 187"/>
              <a:gd name="T17" fmla="*/ 6350 h 12"/>
              <a:gd name="T18" fmla="*/ 293688 w 187"/>
              <a:gd name="T19" fmla="*/ 1588 h 12"/>
              <a:gd name="T20" fmla="*/ 296863 w 187"/>
              <a:gd name="T21" fmla="*/ 0 h 12"/>
              <a:gd name="T22" fmla="*/ 285750 w 187"/>
              <a:gd name="T23" fmla="*/ 0 h 12"/>
              <a:gd name="T24" fmla="*/ 284163 w 187"/>
              <a:gd name="T25" fmla="*/ 1588 h 12"/>
              <a:gd name="T26" fmla="*/ 271463 w 187"/>
              <a:gd name="T27" fmla="*/ 6350 h 12"/>
              <a:gd name="T28" fmla="*/ 255588 w 187"/>
              <a:gd name="T29" fmla="*/ 7938 h 12"/>
              <a:gd name="T30" fmla="*/ 231775 w 187"/>
              <a:gd name="T31" fmla="*/ 9525 h 12"/>
              <a:gd name="T32" fmla="*/ 203200 w 187"/>
              <a:gd name="T33" fmla="*/ 11113 h 12"/>
              <a:gd name="T34" fmla="*/ 169863 w 187"/>
              <a:gd name="T35" fmla="*/ 14288 h 12"/>
              <a:gd name="T36" fmla="*/ 131763 w 187"/>
              <a:gd name="T37" fmla="*/ 15875 h 12"/>
              <a:gd name="T38" fmla="*/ 88900 w 187"/>
              <a:gd name="T39" fmla="*/ 17463 h 12"/>
              <a:gd name="T40" fmla="*/ 47625 w 187"/>
              <a:gd name="T41" fmla="*/ 17463 h 12"/>
              <a:gd name="T42" fmla="*/ 0 w 187"/>
              <a:gd name="T43" fmla="*/ 17463 h 12"/>
              <a:gd name="T44" fmla="*/ 0 w 187"/>
              <a:gd name="T45" fmla="*/ 19050 h 1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7" h="12">
                <a:moveTo>
                  <a:pt x="0" y="12"/>
                </a:moveTo>
                <a:lnTo>
                  <a:pt x="30" y="12"/>
                </a:lnTo>
                <a:lnTo>
                  <a:pt x="59" y="11"/>
                </a:lnTo>
                <a:lnTo>
                  <a:pt x="85" y="11"/>
                </a:lnTo>
                <a:lnTo>
                  <a:pt x="111" y="10"/>
                </a:lnTo>
                <a:lnTo>
                  <a:pt x="132" y="9"/>
                </a:lnTo>
                <a:lnTo>
                  <a:pt x="151" y="7"/>
                </a:lnTo>
                <a:lnTo>
                  <a:pt x="166" y="5"/>
                </a:lnTo>
                <a:lnTo>
                  <a:pt x="178" y="4"/>
                </a:lnTo>
                <a:lnTo>
                  <a:pt x="185" y="1"/>
                </a:lnTo>
                <a:lnTo>
                  <a:pt x="187" y="0"/>
                </a:lnTo>
                <a:lnTo>
                  <a:pt x="180" y="0"/>
                </a:ln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7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0" y="12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7" name="Freeform 462"/>
          <p:cNvSpPr/>
          <p:nvPr/>
        </p:nvSpPr>
        <p:spPr bwMode="auto">
          <a:xfrm>
            <a:off x="1766167" y="4052347"/>
            <a:ext cx="214313" cy="13097"/>
          </a:xfrm>
          <a:custGeom>
            <a:avLst/>
            <a:gdLst>
              <a:gd name="T0" fmla="*/ 285750 w 180"/>
              <a:gd name="T1" fmla="*/ 0 h 11"/>
              <a:gd name="T2" fmla="*/ 284163 w 180"/>
              <a:gd name="T3" fmla="*/ 1587 h 11"/>
              <a:gd name="T4" fmla="*/ 271463 w 180"/>
              <a:gd name="T5" fmla="*/ 6350 h 11"/>
              <a:gd name="T6" fmla="*/ 255588 w 180"/>
              <a:gd name="T7" fmla="*/ 7937 h 11"/>
              <a:gd name="T8" fmla="*/ 231775 w 180"/>
              <a:gd name="T9" fmla="*/ 9525 h 11"/>
              <a:gd name="T10" fmla="*/ 203200 w 180"/>
              <a:gd name="T11" fmla="*/ 11112 h 11"/>
              <a:gd name="T12" fmla="*/ 169863 w 180"/>
              <a:gd name="T13" fmla="*/ 14287 h 11"/>
              <a:gd name="T14" fmla="*/ 131763 w 180"/>
              <a:gd name="T15" fmla="*/ 15875 h 11"/>
              <a:gd name="T16" fmla="*/ 88900 w 180"/>
              <a:gd name="T17" fmla="*/ 17462 h 11"/>
              <a:gd name="T18" fmla="*/ 47625 w 180"/>
              <a:gd name="T19" fmla="*/ 17462 h 11"/>
              <a:gd name="T20" fmla="*/ 0 w 180"/>
              <a:gd name="T21" fmla="*/ 17462 h 11"/>
              <a:gd name="T22" fmla="*/ 0 w 180"/>
              <a:gd name="T23" fmla="*/ 17462 h 11"/>
              <a:gd name="T24" fmla="*/ 44450 w 180"/>
              <a:gd name="T25" fmla="*/ 17462 h 11"/>
              <a:gd name="T26" fmla="*/ 87313 w 180"/>
              <a:gd name="T27" fmla="*/ 17462 h 11"/>
              <a:gd name="T28" fmla="*/ 125413 w 180"/>
              <a:gd name="T29" fmla="*/ 15875 h 11"/>
              <a:gd name="T30" fmla="*/ 163513 w 180"/>
              <a:gd name="T31" fmla="*/ 14287 h 11"/>
              <a:gd name="T32" fmla="*/ 195263 w 180"/>
              <a:gd name="T33" fmla="*/ 11112 h 11"/>
              <a:gd name="T34" fmla="*/ 223838 w 180"/>
              <a:gd name="T35" fmla="*/ 9525 h 11"/>
              <a:gd name="T36" fmla="*/ 246063 w 180"/>
              <a:gd name="T37" fmla="*/ 7937 h 11"/>
              <a:gd name="T38" fmla="*/ 261938 w 180"/>
              <a:gd name="T39" fmla="*/ 3175 h 11"/>
              <a:gd name="T40" fmla="*/ 271463 w 180"/>
              <a:gd name="T41" fmla="*/ 1587 h 11"/>
              <a:gd name="T42" fmla="*/ 276225 w 180"/>
              <a:gd name="T43" fmla="*/ 0 h 11"/>
              <a:gd name="T44" fmla="*/ 285750 w 180"/>
              <a:gd name="T45" fmla="*/ 0 h 11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80" h="11">
                <a:moveTo>
                  <a:pt x="180" y="0"/>
                </a:moveTo>
                <a:lnTo>
                  <a:pt x="179" y="1"/>
                </a:lnTo>
                <a:lnTo>
                  <a:pt x="171" y="4"/>
                </a:lnTo>
                <a:lnTo>
                  <a:pt x="161" y="5"/>
                </a:lnTo>
                <a:lnTo>
                  <a:pt x="146" y="6"/>
                </a:lnTo>
                <a:lnTo>
                  <a:pt x="128" y="7"/>
                </a:lnTo>
                <a:lnTo>
                  <a:pt x="107" y="9"/>
                </a:lnTo>
                <a:lnTo>
                  <a:pt x="83" y="10"/>
                </a:lnTo>
                <a:lnTo>
                  <a:pt x="56" y="11"/>
                </a:lnTo>
                <a:lnTo>
                  <a:pt x="30" y="11"/>
                </a:lnTo>
                <a:lnTo>
                  <a:pt x="0" y="11"/>
                </a:ln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7"/>
                </a:lnTo>
                <a:lnTo>
                  <a:pt x="141" y="6"/>
                </a:lnTo>
                <a:lnTo>
                  <a:pt x="155" y="5"/>
                </a:lnTo>
                <a:lnTo>
                  <a:pt x="165" y="2"/>
                </a:lnTo>
                <a:lnTo>
                  <a:pt x="171" y="1"/>
                </a:lnTo>
                <a:lnTo>
                  <a:pt x="174" y="0"/>
                </a:lnTo>
                <a:lnTo>
                  <a:pt x="18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8" name="Freeform 463"/>
          <p:cNvSpPr/>
          <p:nvPr/>
        </p:nvSpPr>
        <p:spPr bwMode="auto">
          <a:xfrm>
            <a:off x="1766168" y="4052347"/>
            <a:ext cx="207169" cy="13097"/>
          </a:xfrm>
          <a:custGeom>
            <a:avLst/>
            <a:gdLst>
              <a:gd name="T0" fmla="*/ 0 w 174"/>
              <a:gd name="T1" fmla="*/ 17462 h 11"/>
              <a:gd name="T2" fmla="*/ 44450 w 174"/>
              <a:gd name="T3" fmla="*/ 17462 h 11"/>
              <a:gd name="T4" fmla="*/ 87313 w 174"/>
              <a:gd name="T5" fmla="*/ 17462 h 11"/>
              <a:gd name="T6" fmla="*/ 125413 w 174"/>
              <a:gd name="T7" fmla="*/ 15875 h 11"/>
              <a:gd name="T8" fmla="*/ 163513 w 174"/>
              <a:gd name="T9" fmla="*/ 14287 h 11"/>
              <a:gd name="T10" fmla="*/ 195263 w 174"/>
              <a:gd name="T11" fmla="*/ 11112 h 11"/>
              <a:gd name="T12" fmla="*/ 223838 w 174"/>
              <a:gd name="T13" fmla="*/ 9525 h 11"/>
              <a:gd name="T14" fmla="*/ 246063 w 174"/>
              <a:gd name="T15" fmla="*/ 7937 h 11"/>
              <a:gd name="T16" fmla="*/ 261938 w 174"/>
              <a:gd name="T17" fmla="*/ 3175 h 11"/>
              <a:gd name="T18" fmla="*/ 271463 w 174"/>
              <a:gd name="T19" fmla="*/ 1587 h 11"/>
              <a:gd name="T20" fmla="*/ 276225 w 174"/>
              <a:gd name="T21" fmla="*/ 0 h 11"/>
              <a:gd name="T22" fmla="*/ 263525 w 174"/>
              <a:gd name="T23" fmla="*/ 0 h 11"/>
              <a:gd name="T24" fmla="*/ 260350 w 174"/>
              <a:gd name="T25" fmla="*/ 1587 h 11"/>
              <a:gd name="T26" fmla="*/ 247650 w 174"/>
              <a:gd name="T27" fmla="*/ 6350 h 11"/>
              <a:gd name="T28" fmla="*/ 230188 w 174"/>
              <a:gd name="T29" fmla="*/ 7937 h 11"/>
              <a:gd name="T30" fmla="*/ 203200 w 174"/>
              <a:gd name="T31" fmla="*/ 9525 h 11"/>
              <a:gd name="T32" fmla="*/ 171450 w 174"/>
              <a:gd name="T33" fmla="*/ 11112 h 11"/>
              <a:gd name="T34" fmla="*/ 133350 w 174"/>
              <a:gd name="T35" fmla="*/ 14287 h 11"/>
              <a:gd name="T36" fmla="*/ 90488 w 174"/>
              <a:gd name="T37" fmla="*/ 15875 h 11"/>
              <a:gd name="T38" fmla="*/ 47625 w 174"/>
              <a:gd name="T39" fmla="*/ 15875 h 11"/>
              <a:gd name="T40" fmla="*/ 0 w 174"/>
              <a:gd name="T41" fmla="*/ 17462 h 11"/>
              <a:gd name="T42" fmla="*/ 0 w 174"/>
              <a:gd name="T43" fmla="*/ 17462 h 11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74" h="11">
                <a:moveTo>
                  <a:pt x="0" y="11"/>
                </a:moveTo>
                <a:lnTo>
                  <a:pt x="28" y="11"/>
                </a:lnTo>
                <a:lnTo>
                  <a:pt x="55" y="11"/>
                </a:lnTo>
                <a:lnTo>
                  <a:pt x="79" y="10"/>
                </a:lnTo>
                <a:lnTo>
                  <a:pt x="103" y="9"/>
                </a:lnTo>
                <a:lnTo>
                  <a:pt x="123" y="7"/>
                </a:lnTo>
                <a:lnTo>
                  <a:pt x="141" y="6"/>
                </a:lnTo>
                <a:lnTo>
                  <a:pt x="155" y="5"/>
                </a:lnTo>
                <a:lnTo>
                  <a:pt x="165" y="2"/>
                </a:lnTo>
                <a:lnTo>
                  <a:pt x="171" y="1"/>
                </a:lnTo>
                <a:lnTo>
                  <a:pt x="174" y="0"/>
                </a:lnTo>
                <a:lnTo>
                  <a:pt x="166" y="0"/>
                </a:ln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7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699" name="Freeform 464"/>
          <p:cNvSpPr/>
          <p:nvPr/>
        </p:nvSpPr>
        <p:spPr bwMode="auto">
          <a:xfrm>
            <a:off x="1766168" y="4052347"/>
            <a:ext cx="197644" cy="13097"/>
          </a:xfrm>
          <a:custGeom>
            <a:avLst/>
            <a:gdLst>
              <a:gd name="T0" fmla="*/ 263525 w 166"/>
              <a:gd name="T1" fmla="*/ 0 h 11"/>
              <a:gd name="T2" fmla="*/ 260350 w 166"/>
              <a:gd name="T3" fmla="*/ 1587 h 11"/>
              <a:gd name="T4" fmla="*/ 247650 w 166"/>
              <a:gd name="T5" fmla="*/ 6350 h 11"/>
              <a:gd name="T6" fmla="*/ 230188 w 166"/>
              <a:gd name="T7" fmla="*/ 7937 h 11"/>
              <a:gd name="T8" fmla="*/ 203200 w 166"/>
              <a:gd name="T9" fmla="*/ 9525 h 11"/>
              <a:gd name="T10" fmla="*/ 171450 w 166"/>
              <a:gd name="T11" fmla="*/ 11112 h 11"/>
              <a:gd name="T12" fmla="*/ 133350 w 166"/>
              <a:gd name="T13" fmla="*/ 14287 h 11"/>
              <a:gd name="T14" fmla="*/ 90488 w 166"/>
              <a:gd name="T15" fmla="*/ 15875 h 11"/>
              <a:gd name="T16" fmla="*/ 47625 w 166"/>
              <a:gd name="T17" fmla="*/ 15875 h 11"/>
              <a:gd name="T18" fmla="*/ 0 w 166"/>
              <a:gd name="T19" fmla="*/ 17462 h 11"/>
              <a:gd name="T20" fmla="*/ 0 w 166"/>
              <a:gd name="T21" fmla="*/ 15875 h 11"/>
              <a:gd name="T22" fmla="*/ 44450 w 166"/>
              <a:gd name="T23" fmla="*/ 15875 h 11"/>
              <a:gd name="T24" fmla="*/ 87313 w 166"/>
              <a:gd name="T25" fmla="*/ 15875 h 11"/>
              <a:gd name="T26" fmla="*/ 127000 w 166"/>
              <a:gd name="T27" fmla="*/ 14287 h 11"/>
              <a:gd name="T28" fmla="*/ 163513 w 166"/>
              <a:gd name="T29" fmla="*/ 11112 h 11"/>
              <a:gd name="T30" fmla="*/ 193675 w 166"/>
              <a:gd name="T31" fmla="*/ 9525 h 11"/>
              <a:gd name="T32" fmla="*/ 219075 w 166"/>
              <a:gd name="T33" fmla="*/ 7937 h 11"/>
              <a:gd name="T34" fmla="*/ 238125 w 166"/>
              <a:gd name="T35" fmla="*/ 3175 h 11"/>
              <a:gd name="T36" fmla="*/ 249238 w 166"/>
              <a:gd name="T37" fmla="*/ 1587 h 11"/>
              <a:gd name="T38" fmla="*/ 252413 w 166"/>
              <a:gd name="T39" fmla="*/ 0 h 11"/>
              <a:gd name="T40" fmla="*/ 263525 w 166"/>
              <a:gd name="T41" fmla="*/ 0 h 11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66" h="11">
                <a:moveTo>
                  <a:pt x="166" y="0"/>
                </a:moveTo>
                <a:lnTo>
                  <a:pt x="164" y="1"/>
                </a:lnTo>
                <a:lnTo>
                  <a:pt x="156" y="4"/>
                </a:lnTo>
                <a:lnTo>
                  <a:pt x="145" y="5"/>
                </a:lnTo>
                <a:lnTo>
                  <a:pt x="128" y="6"/>
                </a:lnTo>
                <a:lnTo>
                  <a:pt x="108" y="7"/>
                </a:lnTo>
                <a:lnTo>
                  <a:pt x="84" y="9"/>
                </a:lnTo>
                <a:lnTo>
                  <a:pt x="57" y="10"/>
                </a:lnTo>
                <a:lnTo>
                  <a:pt x="30" y="10"/>
                </a:lnTo>
                <a:lnTo>
                  <a:pt x="0" y="11"/>
                </a:lnTo>
                <a:lnTo>
                  <a:pt x="0" y="10"/>
                </a:ln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7"/>
                </a:lnTo>
                <a:lnTo>
                  <a:pt x="122" y="6"/>
                </a:lnTo>
                <a:lnTo>
                  <a:pt x="138" y="5"/>
                </a:lnTo>
                <a:lnTo>
                  <a:pt x="150" y="2"/>
                </a:lnTo>
                <a:lnTo>
                  <a:pt x="157" y="1"/>
                </a:lnTo>
                <a:lnTo>
                  <a:pt x="159" y="0"/>
                </a:lnTo>
                <a:lnTo>
                  <a:pt x="166" y="0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0" name="Freeform 465"/>
          <p:cNvSpPr/>
          <p:nvPr/>
        </p:nvSpPr>
        <p:spPr bwMode="auto">
          <a:xfrm>
            <a:off x="1766168" y="4052348"/>
            <a:ext cx="189310" cy="11906"/>
          </a:xfrm>
          <a:custGeom>
            <a:avLst/>
            <a:gdLst>
              <a:gd name="T0" fmla="*/ 0 w 159"/>
              <a:gd name="T1" fmla="*/ 15875 h 10"/>
              <a:gd name="T2" fmla="*/ 44450 w 159"/>
              <a:gd name="T3" fmla="*/ 15875 h 10"/>
              <a:gd name="T4" fmla="*/ 87313 w 159"/>
              <a:gd name="T5" fmla="*/ 15875 h 10"/>
              <a:gd name="T6" fmla="*/ 127000 w 159"/>
              <a:gd name="T7" fmla="*/ 14288 h 10"/>
              <a:gd name="T8" fmla="*/ 163513 w 159"/>
              <a:gd name="T9" fmla="*/ 11113 h 10"/>
              <a:gd name="T10" fmla="*/ 193675 w 159"/>
              <a:gd name="T11" fmla="*/ 9525 h 10"/>
              <a:gd name="T12" fmla="*/ 219075 w 159"/>
              <a:gd name="T13" fmla="*/ 7938 h 10"/>
              <a:gd name="T14" fmla="*/ 238125 w 159"/>
              <a:gd name="T15" fmla="*/ 3175 h 10"/>
              <a:gd name="T16" fmla="*/ 249238 w 159"/>
              <a:gd name="T17" fmla="*/ 1588 h 10"/>
              <a:gd name="T18" fmla="*/ 252413 w 159"/>
              <a:gd name="T19" fmla="*/ 0 h 10"/>
              <a:gd name="T20" fmla="*/ 239713 w 159"/>
              <a:gd name="T21" fmla="*/ 0 h 10"/>
              <a:gd name="T22" fmla="*/ 236538 w 159"/>
              <a:gd name="T23" fmla="*/ 1588 h 10"/>
              <a:gd name="T24" fmla="*/ 225425 w 159"/>
              <a:gd name="T25" fmla="*/ 3175 h 10"/>
              <a:gd name="T26" fmla="*/ 207963 w 159"/>
              <a:gd name="T27" fmla="*/ 7938 h 10"/>
              <a:gd name="T28" fmla="*/ 184150 w 159"/>
              <a:gd name="T29" fmla="*/ 9525 h 10"/>
              <a:gd name="T30" fmla="*/ 155575 w 159"/>
              <a:gd name="T31" fmla="*/ 11113 h 10"/>
              <a:gd name="T32" fmla="*/ 120650 w 159"/>
              <a:gd name="T33" fmla="*/ 14288 h 10"/>
              <a:gd name="T34" fmla="*/ 82550 w 159"/>
              <a:gd name="T35" fmla="*/ 14288 h 10"/>
              <a:gd name="T36" fmla="*/ 42863 w 159"/>
              <a:gd name="T37" fmla="*/ 15875 h 10"/>
              <a:gd name="T38" fmla="*/ 0 w 159"/>
              <a:gd name="T39" fmla="*/ 15875 h 10"/>
              <a:gd name="T40" fmla="*/ 0 w 159"/>
              <a:gd name="T41" fmla="*/ 15875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9" h="10">
                <a:moveTo>
                  <a:pt x="0" y="10"/>
                </a:moveTo>
                <a:lnTo>
                  <a:pt x="28" y="10"/>
                </a:lnTo>
                <a:lnTo>
                  <a:pt x="55" y="10"/>
                </a:lnTo>
                <a:lnTo>
                  <a:pt x="80" y="9"/>
                </a:lnTo>
                <a:lnTo>
                  <a:pt x="103" y="7"/>
                </a:lnTo>
                <a:lnTo>
                  <a:pt x="122" y="6"/>
                </a:lnTo>
                <a:lnTo>
                  <a:pt x="138" y="5"/>
                </a:lnTo>
                <a:lnTo>
                  <a:pt x="150" y="2"/>
                </a:lnTo>
                <a:lnTo>
                  <a:pt x="157" y="1"/>
                </a:lnTo>
                <a:lnTo>
                  <a:pt x="159" y="0"/>
                </a:lnTo>
                <a:lnTo>
                  <a:pt x="151" y="0"/>
                </a:lnTo>
                <a:lnTo>
                  <a:pt x="149" y="1"/>
                </a:lnTo>
                <a:lnTo>
                  <a:pt x="142" y="2"/>
                </a:lnTo>
                <a:lnTo>
                  <a:pt x="131" y="5"/>
                </a:lnTo>
                <a:lnTo>
                  <a:pt x="116" y="6"/>
                </a:lnTo>
                <a:lnTo>
                  <a:pt x="98" y="7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1" name="Freeform 466"/>
          <p:cNvSpPr/>
          <p:nvPr/>
        </p:nvSpPr>
        <p:spPr bwMode="auto">
          <a:xfrm>
            <a:off x="1766168" y="4052348"/>
            <a:ext cx="179785" cy="11906"/>
          </a:xfrm>
          <a:custGeom>
            <a:avLst/>
            <a:gdLst>
              <a:gd name="T0" fmla="*/ 239713 w 151"/>
              <a:gd name="T1" fmla="*/ 0 h 10"/>
              <a:gd name="T2" fmla="*/ 236538 w 151"/>
              <a:gd name="T3" fmla="*/ 1588 h 10"/>
              <a:gd name="T4" fmla="*/ 225425 w 151"/>
              <a:gd name="T5" fmla="*/ 3175 h 10"/>
              <a:gd name="T6" fmla="*/ 207963 w 151"/>
              <a:gd name="T7" fmla="*/ 7938 h 10"/>
              <a:gd name="T8" fmla="*/ 184150 w 151"/>
              <a:gd name="T9" fmla="*/ 9525 h 10"/>
              <a:gd name="T10" fmla="*/ 155575 w 151"/>
              <a:gd name="T11" fmla="*/ 11113 h 10"/>
              <a:gd name="T12" fmla="*/ 120650 w 151"/>
              <a:gd name="T13" fmla="*/ 14288 h 10"/>
              <a:gd name="T14" fmla="*/ 82550 w 151"/>
              <a:gd name="T15" fmla="*/ 14288 h 10"/>
              <a:gd name="T16" fmla="*/ 42863 w 151"/>
              <a:gd name="T17" fmla="*/ 15875 h 10"/>
              <a:gd name="T18" fmla="*/ 0 w 151"/>
              <a:gd name="T19" fmla="*/ 15875 h 10"/>
              <a:gd name="T20" fmla="*/ 0 w 151"/>
              <a:gd name="T21" fmla="*/ 14288 h 10"/>
              <a:gd name="T22" fmla="*/ 41275 w 151"/>
              <a:gd name="T23" fmla="*/ 14288 h 10"/>
              <a:gd name="T24" fmla="*/ 79375 w 151"/>
              <a:gd name="T25" fmla="*/ 14288 h 10"/>
              <a:gd name="T26" fmla="*/ 112713 w 151"/>
              <a:gd name="T27" fmla="*/ 11113 h 10"/>
              <a:gd name="T28" fmla="*/ 146050 w 151"/>
              <a:gd name="T29" fmla="*/ 9525 h 10"/>
              <a:gd name="T30" fmla="*/ 173038 w 151"/>
              <a:gd name="T31" fmla="*/ 9525 h 10"/>
              <a:gd name="T32" fmla="*/ 198438 w 151"/>
              <a:gd name="T33" fmla="*/ 6350 h 10"/>
              <a:gd name="T34" fmla="*/ 214313 w 151"/>
              <a:gd name="T35" fmla="*/ 3175 h 10"/>
              <a:gd name="T36" fmla="*/ 223838 w 151"/>
              <a:gd name="T37" fmla="*/ 1588 h 10"/>
              <a:gd name="T38" fmla="*/ 228600 w 151"/>
              <a:gd name="T39" fmla="*/ 0 h 10"/>
              <a:gd name="T40" fmla="*/ 239713 w 151"/>
              <a:gd name="T41" fmla="*/ 0 h 10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51" h="10">
                <a:moveTo>
                  <a:pt x="151" y="0"/>
                </a:moveTo>
                <a:lnTo>
                  <a:pt x="149" y="1"/>
                </a:lnTo>
                <a:lnTo>
                  <a:pt x="142" y="2"/>
                </a:lnTo>
                <a:lnTo>
                  <a:pt x="131" y="5"/>
                </a:lnTo>
                <a:lnTo>
                  <a:pt x="116" y="6"/>
                </a:lnTo>
                <a:lnTo>
                  <a:pt x="98" y="7"/>
                </a:lnTo>
                <a:lnTo>
                  <a:pt x="76" y="9"/>
                </a:lnTo>
                <a:lnTo>
                  <a:pt x="52" y="9"/>
                </a:lnTo>
                <a:lnTo>
                  <a:pt x="27" y="10"/>
                </a:lnTo>
                <a:lnTo>
                  <a:pt x="0" y="10"/>
                </a:lnTo>
                <a:lnTo>
                  <a:pt x="0" y="9"/>
                </a:lnTo>
                <a:lnTo>
                  <a:pt x="26" y="9"/>
                </a:lnTo>
                <a:lnTo>
                  <a:pt x="50" y="9"/>
                </a:lnTo>
                <a:lnTo>
                  <a:pt x="71" y="7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2"/>
                </a:lnTo>
                <a:lnTo>
                  <a:pt x="141" y="1"/>
                </a:lnTo>
                <a:lnTo>
                  <a:pt x="144" y="0"/>
                </a:lnTo>
                <a:lnTo>
                  <a:pt x="151" y="0"/>
                </a:lnTo>
                <a:close/>
              </a:path>
            </a:pathLst>
          </a:custGeom>
          <a:solidFill>
            <a:srgbClr val="9595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2" name="Freeform 467"/>
          <p:cNvSpPr/>
          <p:nvPr/>
        </p:nvSpPr>
        <p:spPr bwMode="auto">
          <a:xfrm>
            <a:off x="1766167" y="4052348"/>
            <a:ext cx="171450" cy="10715"/>
          </a:xfrm>
          <a:custGeom>
            <a:avLst/>
            <a:gdLst>
              <a:gd name="T0" fmla="*/ 0 w 144"/>
              <a:gd name="T1" fmla="*/ 14287 h 9"/>
              <a:gd name="T2" fmla="*/ 41275 w 144"/>
              <a:gd name="T3" fmla="*/ 14287 h 9"/>
              <a:gd name="T4" fmla="*/ 79375 w 144"/>
              <a:gd name="T5" fmla="*/ 14287 h 9"/>
              <a:gd name="T6" fmla="*/ 112713 w 144"/>
              <a:gd name="T7" fmla="*/ 11112 h 9"/>
              <a:gd name="T8" fmla="*/ 146050 w 144"/>
              <a:gd name="T9" fmla="*/ 9525 h 9"/>
              <a:gd name="T10" fmla="*/ 173038 w 144"/>
              <a:gd name="T11" fmla="*/ 9525 h 9"/>
              <a:gd name="T12" fmla="*/ 198438 w 144"/>
              <a:gd name="T13" fmla="*/ 6350 h 9"/>
              <a:gd name="T14" fmla="*/ 214313 w 144"/>
              <a:gd name="T15" fmla="*/ 3175 h 9"/>
              <a:gd name="T16" fmla="*/ 223838 w 144"/>
              <a:gd name="T17" fmla="*/ 1587 h 9"/>
              <a:gd name="T18" fmla="*/ 228600 w 144"/>
              <a:gd name="T19" fmla="*/ 0 h 9"/>
              <a:gd name="T20" fmla="*/ 211138 w 144"/>
              <a:gd name="T21" fmla="*/ 0 h 9"/>
              <a:gd name="T22" fmla="*/ 209550 w 144"/>
              <a:gd name="T23" fmla="*/ 1587 h 9"/>
              <a:gd name="T24" fmla="*/ 200025 w 144"/>
              <a:gd name="T25" fmla="*/ 3175 h 9"/>
              <a:gd name="T26" fmla="*/ 184150 w 144"/>
              <a:gd name="T27" fmla="*/ 6350 h 9"/>
              <a:gd name="T28" fmla="*/ 163513 w 144"/>
              <a:gd name="T29" fmla="*/ 7937 h 9"/>
              <a:gd name="T30" fmla="*/ 138113 w 144"/>
              <a:gd name="T31" fmla="*/ 9525 h 9"/>
              <a:gd name="T32" fmla="*/ 107950 w 144"/>
              <a:gd name="T33" fmla="*/ 11112 h 9"/>
              <a:gd name="T34" fmla="*/ 73025 w 144"/>
              <a:gd name="T35" fmla="*/ 11112 h 9"/>
              <a:gd name="T36" fmla="*/ 38100 w 144"/>
              <a:gd name="T37" fmla="*/ 14287 h 9"/>
              <a:gd name="T38" fmla="*/ 0 w 144"/>
              <a:gd name="T39" fmla="*/ 14287 h 9"/>
              <a:gd name="T40" fmla="*/ 0 w 144"/>
              <a:gd name="T41" fmla="*/ 14287 h 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4" h="9">
                <a:moveTo>
                  <a:pt x="0" y="9"/>
                </a:moveTo>
                <a:lnTo>
                  <a:pt x="26" y="9"/>
                </a:lnTo>
                <a:lnTo>
                  <a:pt x="50" y="9"/>
                </a:lnTo>
                <a:lnTo>
                  <a:pt x="71" y="7"/>
                </a:lnTo>
                <a:lnTo>
                  <a:pt x="92" y="6"/>
                </a:lnTo>
                <a:lnTo>
                  <a:pt x="109" y="6"/>
                </a:lnTo>
                <a:lnTo>
                  <a:pt x="125" y="4"/>
                </a:lnTo>
                <a:lnTo>
                  <a:pt x="135" y="2"/>
                </a:lnTo>
                <a:lnTo>
                  <a:pt x="141" y="1"/>
                </a:lnTo>
                <a:lnTo>
                  <a:pt x="144" y="0"/>
                </a:lnTo>
                <a:lnTo>
                  <a:pt x="133" y="0"/>
                </a:lnTo>
                <a:lnTo>
                  <a:pt x="132" y="1"/>
                </a:lnTo>
                <a:lnTo>
                  <a:pt x="126" y="2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7"/>
                </a:lnTo>
                <a:lnTo>
                  <a:pt x="46" y="7"/>
                </a:lnTo>
                <a:lnTo>
                  <a:pt x="24" y="9"/>
                </a:lnTo>
                <a:lnTo>
                  <a:pt x="0" y="9"/>
                </a:lnTo>
                <a:close/>
              </a:path>
            </a:pathLst>
          </a:custGeom>
          <a:solidFill>
            <a:srgbClr val="9191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3" name="Freeform 468"/>
          <p:cNvSpPr/>
          <p:nvPr/>
        </p:nvSpPr>
        <p:spPr bwMode="auto">
          <a:xfrm>
            <a:off x="1766167" y="4052348"/>
            <a:ext cx="158354" cy="10715"/>
          </a:xfrm>
          <a:custGeom>
            <a:avLst/>
            <a:gdLst>
              <a:gd name="T0" fmla="*/ 211138 w 133"/>
              <a:gd name="T1" fmla="*/ 0 h 9"/>
              <a:gd name="T2" fmla="*/ 209550 w 133"/>
              <a:gd name="T3" fmla="*/ 1587 h 9"/>
              <a:gd name="T4" fmla="*/ 200025 w 133"/>
              <a:gd name="T5" fmla="*/ 3175 h 9"/>
              <a:gd name="T6" fmla="*/ 184150 w 133"/>
              <a:gd name="T7" fmla="*/ 6350 h 9"/>
              <a:gd name="T8" fmla="*/ 163513 w 133"/>
              <a:gd name="T9" fmla="*/ 7937 h 9"/>
              <a:gd name="T10" fmla="*/ 138113 w 133"/>
              <a:gd name="T11" fmla="*/ 9525 h 9"/>
              <a:gd name="T12" fmla="*/ 107950 w 133"/>
              <a:gd name="T13" fmla="*/ 11112 h 9"/>
              <a:gd name="T14" fmla="*/ 73025 w 133"/>
              <a:gd name="T15" fmla="*/ 11112 h 9"/>
              <a:gd name="T16" fmla="*/ 38100 w 133"/>
              <a:gd name="T17" fmla="*/ 14287 h 9"/>
              <a:gd name="T18" fmla="*/ 0 w 133"/>
              <a:gd name="T19" fmla="*/ 14287 h 9"/>
              <a:gd name="T20" fmla="*/ 0 w 133"/>
              <a:gd name="T21" fmla="*/ 11112 h 9"/>
              <a:gd name="T22" fmla="*/ 38100 w 133"/>
              <a:gd name="T23" fmla="*/ 11112 h 9"/>
              <a:gd name="T24" fmla="*/ 77788 w 133"/>
              <a:gd name="T25" fmla="*/ 11112 h 9"/>
              <a:gd name="T26" fmla="*/ 111125 w 133"/>
              <a:gd name="T27" fmla="*/ 9525 h 9"/>
              <a:gd name="T28" fmla="*/ 139700 w 133"/>
              <a:gd name="T29" fmla="*/ 7937 h 9"/>
              <a:gd name="T30" fmla="*/ 165100 w 133"/>
              <a:gd name="T31" fmla="*/ 6350 h 9"/>
              <a:gd name="T32" fmla="*/ 184150 w 133"/>
              <a:gd name="T33" fmla="*/ 3175 h 9"/>
              <a:gd name="T34" fmla="*/ 193675 w 133"/>
              <a:gd name="T35" fmla="*/ 1587 h 9"/>
              <a:gd name="T36" fmla="*/ 198438 w 133"/>
              <a:gd name="T37" fmla="*/ 0 h 9"/>
              <a:gd name="T38" fmla="*/ 211138 w 133"/>
              <a:gd name="T39" fmla="*/ 0 h 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33" h="9">
                <a:moveTo>
                  <a:pt x="133" y="0"/>
                </a:moveTo>
                <a:lnTo>
                  <a:pt x="132" y="1"/>
                </a:lnTo>
                <a:lnTo>
                  <a:pt x="126" y="2"/>
                </a:lnTo>
                <a:lnTo>
                  <a:pt x="116" y="4"/>
                </a:lnTo>
                <a:lnTo>
                  <a:pt x="103" y="5"/>
                </a:lnTo>
                <a:lnTo>
                  <a:pt x="87" y="6"/>
                </a:lnTo>
                <a:lnTo>
                  <a:pt x="68" y="7"/>
                </a:lnTo>
                <a:lnTo>
                  <a:pt x="46" y="7"/>
                </a:lnTo>
                <a:lnTo>
                  <a:pt x="24" y="9"/>
                </a:lnTo>
                <a:lnTo>
                  <a:pt x="0" y="9"/>
                </a:lnTo>
                <a:lnTo>
                  <a:pt x="0" y="7"/>
                </a:lnTo>
                <a:lnTo>
                  <a:pt x="24" y="7"/>
                </a:lnTo>
                <a:lnTo>
                  <a:pt x="49" y="7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2"/>
                </a:lnTo>
                <a:lnTo>
                  <a:pt x="122" y="1"/>
                </a:lnTo>
                <a:lnTo>
                  <a:pt x="125" y="0"/>
                </a:lnTo>
                <a:lnTo>
                  <a:pt x="133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4" name="Freeform 469"/>
          <p:cNvSpPr/>
          <p:nvPr/>
        </p:nvSpPr>
        <p:spPr bwMode="auto">
          <a:xfrm>
            <a:off x="1766167" y="4052348"/>
            <a:ext cx="148829" cy="8334"/>
          </a:xfrm>
          <a:custGeom>
            <a:avLst/>
            <a:gdLst>
              <a:gd name="T0" fmla="*/ 0 w 125"/>
              <a:gd name="T1" fmla="*/ 11112 h 7"/>
              <a:gd name="T2" fmla="*/ 38100 w 125"/>
              <a:gd name="T3" fmla="*/ 11112 h 7"/>
              <a:gd name="T4" fmla="*/ 77788 w 125"/>
              <a:gd name="T5" fmla="*/ 11112 h 7"/>
              <a:gd name="T6" fmla="*/ 111125 w 125"/>
              <a:gd name="T7" fmla="*/ 9525 h 7"/>
              <a:gd name="T8" fmla="*/ 139700 w 125"/>
              <a:gd name="T9" fmla="*/ 7937 h 7"/>
              <a:gd name="T10" fmla="*/ 165100 w 125"/>
              <a:gd name="T11" fmla="*/ 6350 h 7"/>
              <a:gd name="T12" fmla="*/ 184150 w 125"/>
              <a:gd name="T13" fmla="*/ 3175 h 7"/>
              <a:gd name="T14" fmla="*/ 193675 w 125"/>
              <a:gd name="T15" fmla="*/ 1587 h 7"/>
              <a:gd name="T16" fmla="*/ 198438 w 125"/>
              <a:gd name="T17" fmla="*/ 0 h 7"/>
              <a:gd name="T18" fmla="*/ 180975 w 125"/>
              <a:gd name="T19" fmla="*/ 0 h 7"/>
              <a:gd name="T20" fmla="*/ 177800 w 125"/>
              <a:gd name="T21" fmla="*/ 1587 h 7"/>
              <a:gd name="T22" fmla="*/ 168275 w 125"/>
              <a:gd name="T23" fmla="*/ 3175 h 7"/>
              <a:gd name="T24" fmla="*/ 150813 w 125"/>
              <a:gd name="T25" fmla="*/ 6350 h 7"/>
              <a:gd name="T26" fmla="*/ 128588 w 125"/>
              <a:gd name="T27" fmla="*/ 7937 h 7"/>
              <a:gd name="T28" fmla="*/ 101600 w 125"/>
              <a:gd name="T29" fmla="*/ 9525 h 7"/>
              <a:gd name="T30" fmla="*/ 71438 w 125"/>
              <a:gd name="T31" fmla="*/ 9525 h 7"/>
              <a:gd name="T32" fmla="*/ 36513 w 125"/>
              <a:gd name="T33" fmla="*/ 11112 h 7"/>
              <a:gd name="T34" fmla="*/ 0 w 125"/>
              <a:gd name="T35" fmla="*/ 11112 h 7"/>
              <a:gd name="T36" fmla="*/ 0 w 125"/>
              <a:gd name="T37" fmla="*/ 11112 h 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25" h="7">
                <a:moveTo>
                  <a:pt x="0" y="7"/>
                </a:moveTo>
                <a:lnTo>
                  <a:pt x="24" y="7"/>
                </a:lnTo>
                <a:lnTo>
                  <a:pt x="49" y="7"/>
                </a:lnTo>
                <a:lnTo>
                  <a:pt x="70" y="6"/>
                </a:lnTo>
                <a:lnTo>
                  <a:pt x="88" y="5"/>
                </a:lnTo>
                <a:lnTo>
                  <a:pt x="104" y="4"/>
                </a:lnTo>
                <a:lnTo>
                  <a:pt x="116" y="2"/>
                </a:lnTo>
                <a:lnTo>
                  <a:pt x="122" y="1"/>
                </a:lnTo>
                <a:lnTo>
                  <a:pt x="125" y="0"/>
                </a:lnTo>
                <a:lnTo>
                  <a:pt x="114" y="0"/>
                </a:lnTo>
                <a:lnTo>
                  <a:pt x="112" y="1"/>
                </a:lnTo>
                <a:lnTo>
                  <a:pt x="106" y="2"/>
                </a:lnTo>
                <a:lnTo>
                  <a:pt x="95" y="4"/>
                </a:lnTo>
                <a:lnTo>
                  <a:pt x="81" y="5"/>
                </a:lnTo>
                <a:lnTo>
                  <a:pt x="64" y="6"/>
                </a:lnTo>
                <a:lnTo>
                  <a:pt x="45" y="6"/>
                </a:lnTo>
                <a:lnTo>
                  <a:pt x="23" y="7"/>
                </a:lnTo>
                <a:lnTo>
                  <a:pt x="0" y="7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5" name="Freeform 470"/>
          <p:cNvSpPr/>
          <p:nvPr/>
        </p:nvSpPr>
        <p:spPr bwMode="auto">
          <a:xfrm>
            <a:off x="1766168" y="4052348"/>
            <a:ext cx="135731" cy="8334"/>
          </a:xfrm>
          <a:custGeom>
            <a:avLst/>
            <a:gdLst>
              <a:gd name="T0" fmla="*/ 180975 w 114"/>
              <a:gd name="T1" fmla="*/ 0 h 7"/>
              <a:gd name="T2" fmla="*/ 177800 w 114"/>
              <a:gd name="T3" fmla="*/ 1587 h 7"/>
              <a:gd name="T4" fmla="*/ 168275 w 114"/>
              <a:gd name="T5" fmla="*/ 3175 h 7"/>
              <a:gd name="T6" fmla="*/ 150813 w 114"/>
              <a:gd name="T7" fmla="*/ 6350 h 7"/>
              <a:gd name="T8" fmla="*/ 128588 w 114"/>
              <a:gd name="T9" fmla="*/ 7937 h 7"/>
              <a:gd name="T10" fmla="*/ 101600 w 114"/>
              <a:gd name="T11" fmla="*/ 9525 h 7"/>
              <a:gd name="T12" fmla="*/ 71438 w 114"/>
              <a:gd name="T13" fmla="*/ 9525 h 7"/>
              <a:gd name="T14" fmla="*/ 36513 w 114"/>
              <a:gd name="T15" fmla="*/ 11112 h 7"/>
              <a:gd name="T16" fmla="*/ 0 w 114"/>
              <a:gd name="T17" fmla="*/ 11112 h 7"/>
              <a:gd name="T18" fmla="*/ 0 w 114"/>
              <a:gd name="T19" fmla="*/ 9525 h 7"/>
              <a:gd name="T20" fmla="*/ 33338 w 114"/>
              <a:gd name="T21" fmla="*/ 9525 h 7"/>
              <a:gd name="T22" fmla="*/ 63500 w 114"/>
              <a:gd name="T23" fmla="*/ 9525 h 7"/>
              <a:gd name="T24" fmla="*/ 90488 w 114"/>
              <a:gd name="T25" fmla="*/ 7937 h 7"/>
              <a:gd name="T26" fmla="*/ 117475 w 114"/>
              <a:gd name="T27" fmla="*/ 6350 h 7"/>
              <a:gd name="T28" fmla="*/ 138113 w 114"/>
              <a:gd name="T29" fmla="*/ 6350 h 7"/>
              <a:gd name="T30" fmla="*/ 150813 w 114"/>
              <a:gd name="T31" fmla="*/ 3175 h 7"/>
              <a:gd name="T32" fmla="*/ 161925 w 114"/>
              <a:gd name="T33" fmla="*/ 1587 h 7"/>
              <a:gd name="T34" fmla="*/ 163513 w 114"/>
              <a:gd name="T35" fmla="*/ 0 h 7"/>
              <a:gd name="T36" fmla="*/ 180975 w 114"/>
              <a:gd name="T37" fmla="*/ 0 h 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114" h="7">
                <a:moveTo>
                  <a:pt x="114" y="0"/>
                </a:moveTo>
                <a:lnTo>
                  <a:pt x="112" y="1"/>
                </a:lnTo>
                <a:lnTo>
                  <a:pt x="106" y="2"/>
                </a:lnTo>
                <a:lnTo>
                  <a:pt x="95" y="4"/>
                </a:lnTo>
                <a:lnTo>
                  <a:pt x="81" y="5"/>
                </a:lnTo>
                <a:lnTo>
                  <a:pt x="64" y="6"/>
                </a:lnTo>
                <a:lnTo>
                  <a:pt x="45" y="6"/>
                </a:lnTo>
                <a:lnTo>
                  <a:pt x="23" y="7"/>
                </a:lnTo>
                <a:lnTo>
                  <a:pt x="0" y="7"/>
                </a:lnTo>
                <a:lnTo>
                  <a:pt x="0" y="6"/>
                </a:ln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2"/>
                </a:lnTo>
                <a:lnTo>
                  <a:pt x="102" y="1"/>
                </a:lnTo>
                <a:lnTo>
                  <a:pt x="103" y="0"/>
                </a:lnTo>
                <a:lnTo>
                  <a:pt x="114" y="0"/>
                </a:lnTo>
                <a:close/>
              </a:path>
            </a:pathLst>
          </a:custGeom>
          <a:solidFill>
            <a:srgbClr val="84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6" name="Freeform 471"/>
          <p:cNvSpPr/>
          <p:nvPr/>
        </p:nvSpPr>
        <p:spPr bwMode="auto">
          <a:xfrm>
            <a:off x="1766168" y="4052348"/>
            <a:ext cx="122635" cy="7144"/>
          </a:xfrm>
          <a:custGeom>
            <a:avLst/>
            <a:gdLst>
              <a:gd name="T0" fmla="*/ 0 w 103"/>
              <a:gd name="T1" fmla="*/ 9525 h 6"/>
              <a:gd name="T2" fmla="*/ 33338 w 103"/>
              <a:gd name="T3" fmla="*/ 9525 h 6"/>
              <a:gd name="T4" fmla="*/ 63500 w 103"/>
              <a:gd name="T5" fmla="*/ 9525 h 6"/>
              <a:gd name="T6" fmla="*/ 90488 w 103"/>
              <a:gd name="T7" fmla="*/ 7938 h 6"/>
              <a:gd name="T8" fmla="*/ 117475 w 103"/>
              <a:gd name="T9" fmla="*/ 6350 h 6"/>
              <a:gd name="T10" fmla="*/ 138113 w 103"/>
              <a:gd name="T11" fmla="*/ 6350 h 6"/>
              <a:gd name="T12" fmla="*/ 150813 w 103"/>
              <a:gd name="T13" fmla="*/ 3175 h 6"/>
              <a:gd name="T14" fmla="*/ 161925 w 103"/>
              <a:gd name="T15" fmla="*/ 1588 h 6"/>
              <a:gd name="T16" fmla="*/ 163513 w 103"/>
              <a:gd name="T17" fmla="*/ 0 h 6"/>
              <a:gd name="T18" fmla="*/ 146050 w 103"/>
              <a:gd name="T19" fmla="*/ 0 h 6"/>
              <a:gd name="T20" fmla="*/ 142875 w 103"/>
              <a:gd name="T21" fmla="*/ 1588 h 6"/>
              <a:gd name="T22" fmla="*/ 131763 w 103"/>
              <a:gd name="T23" fmla="*/ 3175 h 6"/>
              <a:gd name="T24" fmla="*/ 115888 w 103"/>
              <a:gd name="T25" fmla="*/ 6350 h 6"/>
              <a:gd name="T26" fmla="*/ 90488 w 103"/>
              <a:gd name="T27" fmla="*/ 6350 h 6"/>
              <a:gd name="T28" fmla="*/ 65088 w 103"/>
              <a:gd name="T29" fmla="*/ 7938 h 6"/>
              <a:gd name="T30" fmla="*/ 33338 w 103"/>
              <a:gd name="T31" fmla="*/ 7938 h 6"/>
              <a:gd name="T32" fmla="*/ 0 w 103"/>
              <a:gd name="T33" fmla="*/ 9525 h 6"/>
              <a:gd name="T34" fmla="*/ 0 w 103"/>
              <a:gd name="T35" fmla="*/ 9525 h 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" h="6">
                <a:moveTo>
                  <a:pt x="0" y="6"/>
                </a:moveTo>
                <a:lnTo>
                  <a:pt x="21" y="6"/>
                </a:lnTo>
                <a:lnTo>
                  <a:pt x="40" y="6"/>
                </a:lnTo>
                <a:lnTo>
                  <a:pt x="57" y="5"/>
                </a:lnTo>
                <a:lnTo>
                  <a:pt x="74" y="4"/>
                </a:lnTo>
                <a:lnTo>
                  <a:pt x="87" y="4"/>
                </a:lnTo>
                <a:lnTo>
                  <a:pt x="95" y="2"/>
                </a:lnTo>
                <a:lnTo>
                  <a:pt x="102" y="1"/>
                </a:lnTo>
                <a:lnTo>
                  <a:pt x="103" y="0"/>
                </a:lnTo>
                <a:lnTo>
                  <a:pt x="92" y="0"/>
                </a:lnTo>
                <a:lnTo>
                  <a:pt x="90" y="1"/>
                </a:lnTo>
                <a:lnTo>
                  <a:pt x="83" y="2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7" name="Freeform 472"/>
          <p:cNvSpPr/>
          <p:nvPr/>
        </p:nvSpPr>
        <p:spPr bwMode="auto">
          <a:xfrm>
            <a:off x="1766167" y="4052348"/>
            <a:ext cx="109538" cy="7144"/>
          </a:xfrm>
          <a:custGeom>
            <a:avLst/>
            <a:gdLst>
              <a:gd name="T0" fmla="*/ 146050 w 92"/>
              <a:gd name="T1" fmla="*/ 0 h 6"/>
              <a:gd name="T2" fmla="*/ 142875 w 92"/>
              <a:gd name="T3" fmla="*/ 1588 h 6"/>
              <a:gd name="T4" fmla="*/ 131763 w 92"/>
              <a:gd name="T5" fmla="*/ 3175 h 6"/>
              <a:gd name="T6" fmla="*/ 115888 w 92"/>
              <a:gd name="T7" fmla="*/ 6350 h 6"/>
              <a:gd name="T8" fmla="*/ 90488 w 92"/>
              <a:gd name="T9" fmla="*/ 6350 h 6"/>
              <a:gd name="T10" fmla="*/ 65088 w 92"/>
              <a:gd name="T11" fmla="*/ 7938 h 6"/>
              <a:gd name="T12" fmla="*/ 33338 w 92"/>
              <a:gd name="T13" fmla="*/ 7938 h 6"/>
              <a:gd name="T14" fmla="*/ 0 w 92"/>
              <a:gd name="T15" fmla="*/ 9525 h 6"/>
              <a:gd name="T16" fmla="*/ 0 w 92"/>
              <a:gd name="T17" fmla="*/ 7938 h 6"/>
              <a:gd name="T18" fmla="*/ 28575 w 92"/>
              <a:gd name="T19" fmla="*/ 7938 h 6"/>
              <a:gd name="T20" fmla="*/ 55563 w 92"/>
              <a:gd name="T21" fmla="*/ 6350 h 6"/>
              <a:gd name="T22" fmla="*/ 79375 w 92"/>
              <a:gd name="T23" fmla="*/ 6350 h 6"/>
              <a:gd name="T24" fmla="*/ 98425 w 92"/>
              <a:gd name="T25" fmla="*/ 3175 h 6"/>
              <a:gd name="T26" fmla="*/ 112713 w 92"/>
              <a:gd name="T27" fmla="*/ 1588 h 6"/>
              <a:gd name="T28" fmla="*/ 123825 w 92"/>
              <a:gd name="T29" fmla="*/ 0 h 6"/>
              <a:gd name="T30" fmla="*/ 127000 w 92"/>
              <a:gd name="T31" fmla="*/ 0 h 6"/>
              <a:gd name="T32" fmla="*/ 146050 w 92"/>
              <a:gd name="T33" fmla="*/ 0 h 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92" h="6">
                <a:moveTo>
                  <a:pt x="92" y="0"/>
                </a:moveTo>
                <a:lnTo>
                  <a:pt x="90" y="1"/>
                </a:lnTo>
                <a:lnTo>
                  <a:pt x="83" y="2"/>
                </a:lnTo>
                <a:lnTo>
                  <a:pt x="73" y="4"/>
                </a:lnTo>
                <a:lnTo>
                  <a:pt x="57" y="4"/>
                </a:lnTo>
                <a:lnTo>
                  <a:pt x="41" y="5"/>
                </a:lnTo>
                <a:lnTo>
                  <a:pt x="21" y="5"/>
                </a:lnTo>
                <a:lnTo>
                  <a:pt x="0" y="6"/>
                </a:lnTo>
                <a:lnTo>
                  <a:pt x="0" y="5"/>
                </a:ln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2" y="2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92" y="0"/>
                </a:lnTo>
                <a:close/>
              </a:path>
            </a:pathLst>
          </a:custGeom>
          <a:solidFill>
            <a:srgbClr val="7B7B7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8" name="Freeform 473"/>
          <p:cNvSpPr/>
          <p:nvPr/>
        </p:nvSpPr>
        <p:spPr bwMode="auto">
          <a:xfrm>
            <a:off x="1766167" y="4052348"/>
            <a:ext cx="95250" cy="5953"/>
          </a:xfrm>
          <a:custGeom>
            <a:avLst/>
            <a:gdLst>
              <a:gd name="T0" fmla="*/ 0 w 80"/>
              <a:gd name="T1" fmla="*/ 7937 h 5"/>
              <a:gd name="T2" fmla="*/ 28575 w 80"/>
              <a:gd name="T3" fmla="*/ 7937 h 5"/>
              <a:gd name="T4" fmla="*/ 55563 w 80"/>
              <a:gd name="T5" fmla="*/ 6350 h 5"/>
              <a:gd name="T6" fmla="*/ 79375 w 80"/>
              <a:gd name="T7" fmla="*/ 6350 h 5"/>
              <a:gd name="T8" fmla="*/ 98425 w 80"/>
              <a:gd name="T9" fmla="*/ 3175 h 5"/>
              <a:gd name="T10" fmla="*/ 112713 w 80"/>
              <a:gd name="T11" fmla="*/ 1587 h 5"/>
              <a:gd name="T12" fmla="*/ 123825 w 80"/>
              <a:gd name="T13" fmla="*/ 0 h 5"/>
              <a:gd name="T14" fmla="*/ 127000 w 80"/>
              <a:gd name="T15" fmla="*/ 0 h 5"/>
              <a:gd name="T16" fmla="*/ 104775 w 80"/>
              <a:gd name="T17" fmla="*/ 0 h 5"/>
              <a:gd name="T18" fmla="*/ 101600 w 80"/>
              <a:gd name="T19" fmla="*/ 0 h 5"/>
              <a:gd name="T20" fmla="*/ 90488 w 80"/>
              <a:gd name="T21" fmla="*/ 1587 h 5"/>
              <a:gd name="T22" fmla="*/ 74613 w 80"/>
              <a:gd name="T23" fmla="*/ 3175 h 5"/>
              <a:gd name="T24" fmla="*/ 52388 w 80"/>
              <a:gd name="T25" fmla="*/ 6350 h 5"/>
              <a:gd name="T26" fmla="*/ 28575 w 80"/>
              <a:gd name="T27" fmla="*/ 6350 h 5"/>
              <a:gd name="T28" fmla="*/ 0 w 80"/>
              <a:gd name="T29" fmla="*/ 6350 h 5"/>
              <a:gd name="T30" fmla="*/ 0 w 80"/>
              <a:gd name="T31" fmla="*/ 7937 h 5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80" h="5">
                <a:moveTo>
                  <a:pt x="0" y="5"/>
                </a:moveTo>
                <a:lnTo>
                  <a:pt x="18" y="5"/>
                </a:lnTo>
                <a:lnTo>
                  <a:pt x="35" y="4"/>
                </a:lnTo>
                <a:lnTo>
                  <a:pt x="50" y="4"/>
                </a:lnTo>
                <a:lnTo>
                  <a:pt x="62" y="2"/>
                </a:lnTo>
                <a:lnTo>
                  <a:pt x="71" y="1"/>
                </a:lnTo>
                <a:lnTo>
                  <a:pt x="78" y="0"/>
                </a:lnTo>
                <a:lnTo>
                  <a:pt x="80" y="0"/>
                </a:lnTo>
                <a:lnTo>
                  <a:pt x="66" y="0"/>
                </a:lnTo>
                <a:lnTo>
                  <a:pt x="64" y="0"/>
                </a:lnTo>
                <a:lnTo>
                  <a:pt x="57" y="1"/>
                </a:lnTo>
                <a:lnTo>
                  <a:pt x="47" y="2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5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09" name="Freeform 474"/>
          <p:cNvSpPr/>
          <p:nvPr/>
        </p:nvSpPr>
        <p:spPr bwMode="auto">
          <a:xfrm>
            <a:off x="1766168" y="4052347"/>
            <a:ext cx="78581" cy="4763"/>
          </a:xfrm>
          <a:custGeom>
            <a:avLst/>
            <a:gdLst>
              <a:gd name="T0" fmla="*/ 104775 w 66"/>
              <a:gd name="T1" fmla="*/ 0 h 4"/>
              <a:gd name="T2" fmla="*/ 101600 w 66"/>
              <a:gd name="T3" fmla="*/ 0 h 4"/>
              <a:gd name="T4" fmla="*/ 90488 w 66"/>
              <a:gd name="T5" fmla="*/ 1588 h 4"/>
              <a:gd name="T6" fmla="*/ 74613 w 66"/>
              <a:gd name="T7" fmla="*/ 3175 h 4"/>
              <a:gd name="T8" fmla="*/ 52388 w 66"/>
              <a:gd name="T9" fmla="*/ 6350 h 4"/>
              <a:gd name="T10" fmla="*/ 28575 w 66"/>
              <a:gd name="T11" fmla="*/ 6350 h 4"/>
              <a:gd name="T12" fmla="*/ 0 w 66"/>
              <a:gd name="T13" fmla="*/ 6350 h 4"/>
              <a:gd name="T14" fmla="*/ 0 w 66"/>
              <a:gd name="T15" fmla="*/ 3175 h 4"/>
              <a:gd name="T16" fmla="*/ 26988 w 66"/>
              <a:gd name="T17" fmla="*/ 3175 h 4"/>
              <a:gd name="T18" fmla="*/ 49213 w 66"/>
              <a:gd name="T19" fmla="*/ 3175 h 4"/>
              <a:gd name="T20" fmla="*/ 66675 w 66"/>
              <a:gd name="T21" fmla="*/ 1588 h 4"/>
              <a:gd name="T22" fmla="*/ 79375 w 66"/>
              <a:gd name="T23" fmla="*/ 0 h 4"/>
              <a:gd name="T24" fmla="*/ 82550 w 66"/>
              <a:gd name="T25" fmla="*/ 0 h 4"/>
              <a:gd name="T26" fmla="*/ 104775 w 66"/>
              <a:gd name="T27" fmla="*/ 0 h 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66" h="4">
                <a:moveTo>
                  <a:pt x="66" y="0"/>
                </a:moveTo>
                <a:lnTo>
                  <a:pt x="64" y="0"/>
                </a:lnTo>
                <a:lnTo>
                  <a:pt x="57" y="1"/>
                </a:lnTo>
                <a:lnTo>
                  <a:pt x="47" y="2"/>
                </a:lnTo>
                <a:lnTo>
                  <a:pt x="33" y="4"/>
                </a:lnTo>
                <a:lnTo>
                  <a:pt x="18" y="4"/>
                </a:lnTo>
                <a:lnTo>
                  <a:pt x="0" y="4"/>
                </a:lnTo>
                <a:lnTo>
                  <a:pt x="0" y="2"/>
                </a:lnTo>
                <a:lnTo>
                  <a:pt x="17" y="2"/>
                </a:lnTo>
                <a:lnTo>
                  <a:pt x="31" y="2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66" y="0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10" name="Freeform 475"/>
          <p:cNvSpPr/>
          <p:nvPr/>
        </p:nvSpPr>
        <p:spPr bwMode="auto">
          <a:xfrm>
            <a:off x="1766167" y="4052348"/>
            <a:ext cx="61913" cy="2381"/>
          </a:xfrm>
          <a:custGeom>
            <a:avLst/>
            <a:gdLst>
              <a:gd name="T0" fmla="*/ 0 w 52"/>
              <a:gd name="T1" fmla="*/ 3175 h 2"/>
              <a:gd name="T2" fmla="*/ 26988 w 52"/>
              <a:gd name="T3" fmla="*/ 3175 h 2"/>
              <a:gd name="T4" fmla="*/ 49213 w 52"/>
              <a:gd name="T5" fmla="*/ 3175 h 2"/>
              <a:gd name="T6" fmla="*/ 66675 w 52"/>
              <a:gd name="T7" fmla="*/ 1588 h 2"/>
              <a:gd name="T8" fmla="*/ 79375 w 52"/>
              <a:gd name="T9" fmla="*/ 0 h 2"/>
              <a:gd name="T10" fmla="*/ 82550 w 52"/>
              <a:gd name="T11" fmla="*/ 0 h 2"/>
              <a:gd name="T12" fmla="*/ 57150 w 52"/>
              <a:gd name="T13" fmla="*/ 0 h 2"/>
              <a:gd name="T14" fmla="*/ 55563 w 52"/>
              <a:gd name="T15" fmla="*/ 0 h 2"/>
              <a:gd name="T16" fmla="*/ 47625 w 52"/>
              <a:gd name="T17" fmla="*/ 1588 h 2"/>
              <a:gd name="T18" fmla="*/ 34925 w 52"/>
              <a:gd name="T19" fmla="*/ 1588 h 2"/>
              <a:gd name="T20" fmla="*/ 19050 w 52"/>
              <a:gd name="T21" fmla="*/ 1588 h 2"/>
              <a:gd name="T22" fmla="*/ 0 w 52"/>
              <a:gd name="T23" fmla="*/ 1588 h 2"/>
              <a:gd name="T24" fmla="*/ 0 w 52"/>
              <a:gd name="T25" fmla="*/ 3175 h 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52" h="2">
                <a:moveTo>
                  <a:pt x="0" y="2"/>
                </a:moveTo>
                <a:lnTo>
                  <a:pt x="17" y="2"/>
                </a:lnTo>
                <a:lnTo>
                  <a:pt x="31" y="2"/>
                </a:lnTo>
                <a:lnTo>
                  <a:pt x="42" y="1"/>
                </a:lnTo>
                <a:lnTo>
                  <a:pt x="50" y="0"/>
                </a:lnTo>
                <a:lnTo>
                  <a:pt x="52" y="0"/>
                </a:lnTo>
                <a:lnTo>
                  <a:pt x="36" y="0"/>
                </a:ln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11" name="Freeform 476"/>
          <p:cNvSpPr/>
          <p:nvPr/>
        </p:nvSpPr>
        <p:spPr bwMode="auto">
          <a:xfrm>
            <a:off x="1766167" y="4052348"/>
            <a:ext cx="42863" cy="1190"/>
          </a:xfrm>
          <a:custGeom>
            <a:avLst/>
            <a:gdLst>
              <a:gd name="T0" fmla="*/ 57150 w 36"/>
              <a:gd name="T1" fmla="*/ 0 h 1"/>
              <a:gd name="T2" fmla="*/ 55563 w 36"/>
              <a:gd name="T3" fmla="*/ 0 h 1"/>
              <a:gd name="T4" fmla="*/ 47625 w 36"/>
              <a:gd name="T5" fmla="*/ 1587 h 1"/>
              <a:gd name="T6" fmla="*/ 34925 w 36"/>
              <a:gd name="T7" fmla="*/ 1587 h 1"/>
              <a:gd name="T8" fmla="*/ 19050 w 36"/>
              <a:gd name="T9" fmla="*/ 1587 h 1"/>
              <a:gd name="T10" fmla="*/ 0 w 36"/>
              <a:gd name="T11" fmla="*/ 1587 h 1"/>
              <a:gd name="T12" fmla="*/ 0 w 36"/>
              <a:gd name="T13" fmla="*/ 1587 h 1"/>
              <a:gd name="T14" fmla="*/ 12700 w 36"/>
              <a:gd name="T15" fmla="*/ 0 h 1"/>
              <a:gd name="T16" fmla="*/ 22225 w 36"/>
              <a:gd name="T17" fmla="*/ 0 h 1"/>
              <a:gd name="T18" fmla="*/ 28575 w 36"/>
              <a:gd name="T19" fmla="*/ 0 h 1"/>
              <a:gd name="T20" fmla="*/ 30163 w 36"/>
              <a:gd name="T21" fmla="*/ 0 h 1"/>
              <a:gd name="T22" fmla="*/ 57150 w 36"/>
              <a:gd name="T23" fmla="*/ 0 h 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36" h="1">
                <a:moveTo>
                  <a:pt x="36" y="0"/>
                </a:moveTo>
                <a:lnTo>
                  <a:pt x="35" y="0"/>
                </a:lnTo>
                <a:lnTo>
                  <a:pt x="30" y="1"/>
                </a:lnTo>
                <a:lnTo>
                  <a:pt x="22" y="1"/>
                </a:lnTo>
                <a:lnTo>
                  <a:pt x="12" y="1"/>
                </a:lnTo>
                <a:lnTo>
                  <a:pt x="0" y="1"/>
                </a:ln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36" y="0"/>
                </a:lnTo>
                <a:close/>
              </a:path>
            </a:pathLst>
          </a:custGeom>
          <a:solidFill>
            <a:srgbClr val="6A6A6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12" name="Freeform 477"/>
          <p:cNvSpPr/>
          <p:nvPr/>
        </p:nvSpPr>
        <p:spPr bwMode="auto">
          <a:xfrm>
            <a:off x="1766168" y="4052348"/>
            <a:ext cx="22622" cy="1190"/>
          </a:xfrm>
          <a:custGeom>
            <a:avLst/>
            <a:gdLst>
              <a:gd name="T0" fmla="*/ 0 w 19"/>
              <a:gd name="T1" fmla="*/ 1587 h 1"/>
              <a:gd name="T2" fmla="*/ 12700 w 19"/>
              <a:gd name="T3" fmla="*/ 0 h 1"/>
              <a:gd name="T4" fmla="*/ 22225 w 19"/>
              <a:gd name="T5" fmla="*/ 0 h 1"/>
              <a:gd name="T6" fmla="*/ 28575 w 19"/>
              <a:gd name="T7" fmla="*/ 0 h 1"/>
              <a:gd name="T8" fmla="*/ 30163 w 19"/>
              <a:gd name="T9" fmla="*/ 0 h 1"/>
              <a:gd name="T10" fmla="*/ 3175 w 19"/>
              <a:gd name="T11" fmla="*/ 0 h 1"/>
              <a:gd name="T12" fmla="*/ 0 w 19"/>
              <a:gd name="T13" fmla="*/ 0 h 1"/>
              <a:gd name="T14" fmla="*/ 0 w 19"/>
              <a:gd name="T15" fmla="*/ 1587 h 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" h="1">
                <a:moveTo>
                  <a:pt x="0" y="1"/>
                </a:moveTo>
                <a:lnTo>
                  <a:pt x="8" y="0"/>
                </a:lnTo>
                <a:lnTo>
                  <a:pt x="14" y="0"/>
                </a:lnTo>
                <a:lnTo>
                  <a:pt x="18" y="0"/>
                </a:lnTo>
                <a:lnTo>
                  <a:pt x="19" y="0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13" name="Freeform 478"/>
          <p:cNvSpPr/>
          <p:nvPr/>
        </p:nvSpPr>
        <p:spPr bwMode="auto">
          <a:xfrm>
            <a:off x="1766168" y="4052348"/>
            <a:ext cx="2381" cy="1190"/>
          </a:xfrm>
          <a:custGeom>
            <a:avLst/>
            <a:gdLst>
              <a:gd name="T0" fmla="*/ 3175 w 2"/>
              <a:gd name="T1" fmla="*/ 0 h 1587"/>
              <a:gd name="T2" fmla="*/ 0 w 2"/>
              <a:gd name="T3" fmla="*/ 0 h 1587"/>
              <a:gd name="T4" fmla="*/ 0 w 2"/>
              <a:gd name="T5" fmla="*/ 0 h 1587"/>
              <a:gd name="T6" fmla="*/ 0 w 2"/>
              <a:gd name="T7" fmla="*/ 0 h 1587"/>
              <a:gd name="T8" fmla="*/ 3175 w 2"/>
              <a:gd name="T9" fmla="*/ 0 h 15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" h="1587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14" name="Freeform 479"/>
          <p:cNvSpPr/>
          <p:nvPr/>
        </p:nvSpPr>
        <p:spPr bwMode="auto">
          <a:xfrm>
            <a:off x="2092399" y="4015438"/>
            <a:ext cx="57150" cy="213122"/>
          </a:xfrm>
          <a:custGeom>
            <a:avLst/>
            <a:gdLst>
              <a:gd name="T0" fmla="*/ 0 w 48"/>
              <a:gd name="T1" fmla="*/ 76200 h 179"/>
              <a:gd name="T2" fmla="*/ 76200 w 48"/>
              <a:gd name="T3" fmla="*/ 0 h 179"/>
              <a:gd name="T4" fmla="*/ 76200 w 48"/>
              <a:gd name="T5" fmla="*/ 207963 h 179"/>
              <a:gd name="T6" fmla="*/ 0 w 48"/>
              <a:gd name="T7" fmla="*/ 284163 h 179"/>
              <a:gd name="T8" fmla="*/ 0 w 48"/>
              <a:gd name="T9" fmla="*/ 76200 h 1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" h="179">
                <a:moveTo>
                  <a:pt x="0" y="48"/>
                </a:moveTo>
                <a:lnTo>
                  <a:pt x="48" y="0"/>
                </a:lnTo>
                <a:lnTo>
                  <a:pt x="48" y="131"/>
                </a:lnTo>
                <a:lnTo>
                  <a:pt x="0" y="179"/>
                </a:lnTo>
                <a:lnTo>
                  <a:pt x="0" y="4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15" name="Rectangle 480"/>
          <p:cNvSpPr>
            <a:spLocks noChangeArrowheads="1"/>
          </p:cNvSpPr>
          <p:nvPr/>
        </p:nvSpPr>
        <p:spPr bwMode="auto">
          <a:xfrm>
            <a:off x="1639961" y="4072588"/>
            <a:ext cx="452438" cy="123825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716" name="Freeform 481"/>
          <p:cNvSpPr/>
          <p:nvPr/>
        </p:nvSpPr>
        <p:spPr bwMode="auto">
          <a:xfrm>
            <a:off x="1781646" y="4072588"/>
            <a:ext cx="5953" cy="123825"/>
          </a:xfrm>
          <a:custGeom>
            <a:avLst/>
            <a:gdLst>
              <a:gd name="T0" fmla="*/ 7937 w 5"/>
              <a:gd name="T1" fmla="*/ 0 h 104"/>
              <a:gd name="T2" fmla="*/ 1587 w 5"/>
              <a:gd name="T3" fmla="*/ 41275 h 104"/>
              <a:gd name="T4" fmla="*/ 0 w 5"/>
              <a:gd name="T5" fmla="*/ 82550 h 104"/>
              <a:gd name="T6" fmla="*/ 1587 w 5"/>
              <a:gd name="T7" fmla="*/ 123825 h 104"/>
              <a:gd name="T8" fmla="*/ 7937 w 5"/>
              <a:gd name="T9" fmla="*/ 165100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" h="104">
                <a:moveTo>
                  <a:pt x="5" y="0"/>
                </a:moveTo>
                <a:lnTo>
                  <a:pt x="1" y="26"/>
                </a:lnTo>
                <a:lnTo>
                  <a:pt x="0" y="52"/>
                </a:lnTo>
                <a:lnTo>
                  <a:pt x="1" y="78"/>
                </a:lnTo>
                <a:lnTo>
                  <a:pt x="5" y="104"/>
                </a:lnTo>
              </a:path>
            </a:pathLst>
          </a:custGeom>
          <a:noFill/>
          <a:ln w="4763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17" name="Rectangle 482"/>
          <p:cNvSpPr>
            <a:spLocks noChangeArrowheads="1"/>
          </p:cNvSpPr>
          <p:nvPr/>
        </p:nvSpPr>
        <p:spPr bwMode="auto">
          <a:xfrm>
            <a:off x="1639961" y="4196413"/>
            <a:ext cx="452438" cy="32147"/>
          </a:xfrm>
          <a:prstGeom prst="rect">
            <a:avLst/>
          </a:prstGeom>
          <a:solidFill>
            <a:srgbClr val="9A9A9A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718" name="Rectangle 483"/>
          <p:cNvSpPr>
            <a:spLocks noChangeArrowheads="1"/>
          </p:cNvSpPr>
          <p:nvPr/>
        </p:nvSpPr>
        <p:spPr bwMode="auto">
          <a:xfrm>
            <a:off x="1988815" y="4110688"/>
            <a:ext cx="17859" cy="5954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719" name="Freeform 484"/>
          <p:cNvSpPr>
            <a:spLocks noEditPoints="1"/>
          </p:cNvSpPr>
          <p:nvPr/>
        </p:nvSpPr>
        <p:spPr bwMode="auto">
          <a:xfrm>
            <a:off x="1803077" y="4099973"/>
            <a:ext cx="73819" cy="8334"/>
          </a:xfrm>
          <a:custGeom>
            <a:avLst/>
            <a:gdLst>
              <a:gd name="T0" fmla="*/ 0 w 62"/>
              <a:gd name="T1" fmla="*/ 11112 h 7"/>
              <a:gd name="T2" fmla="*/ 28575 w 62"/>
              <a:gd name="T3" fmla="*/ 11112 h 7"/>
              <a:gd name="T4" fmla="*/ 28575 w 62"/>
              <a:gd name="T5" fmla="*/ 0 h 7"/>
              <a:gd name="T6" fmla="*/ 0 w 62"/>
              <a:gd name="T7" fmla="*/ 0 h 7"/>
              <a:gd name="T8" fmla="*/ 0 w 62"/>
              <a:gd name="T9" fmla="*/ 11112 h 7"/>
              <a:gd name="T10" fmla="*/ 41275 w 62"/>
              <a:gd name="T11" fmla="*/ 11112 h 7"/>
              <a:gd name="T12" fmla="*/ 55563 w 62"/>
              <a:gd name="T13" fmla="*/ 11112 h 7"/>
              <a:gd name="T14" fmla="*/ 55563 w 62"/>
              <a:gd name="T15" fmla="*/ 0 h 7"/>
              <a:gd name="T16" fmla="*/ 41275 w 62"/>
              <a:gd name="T17" fmla="*/ 0 h 7"/>
              <a:gd name="T18" fmla="*/ 41275 w 62"/>
              <a:gd name="T19" fmla="*/ 11112 h 7"/>
              <a:gd name="T20" fmla="*/ 69850 w 62"/>
              <a:gd name="T21" fmla="*/ 11112 h 7"/>
              <a:gd name="T22" fmla="*/ 98425 w 62"/>
              <a:gd name="T23" fmla="*/ 11112 h 7"/>
              <a:gd name="T24" fmla="*/ 98425 w 62"/>
              <a:gd name="T25" fmla="*/ 0 h 7"/>
              <a:gd name="T26" fmla="*/ 69850 w 62"/>
              <a:gd name="T27" fmla="*/ 0 h 7"/>
              <a:gd name="T28" fmla="*/ 69850 w 62"/>
              <a:gd name="T29" fmla="*/ 11112 h 7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62" h="7">
                <a:moveTo>
                  <a:pt x="0" y="7"/>
                </a:moveTo>
                <a:lnTo>
                  <a:pt x="18" y="7"/>
                </a:lnTo>
                <a:lnTo>
                  <a:pt x="18" y="0"/>
                </a:lnTo>
                <a:lnTo>
                  <a:pt x="0" y="0"/>
                </a:lnTo>
                <a:lnTo>
                  <a:pt x="0" y="7"/>
                </a:lnTo>
                <a:close/>
                <a:moveTo>
                  <a:pt x="26" y="7"/>
                </a:moveTo>
                <a:lnTo>
                  <a:pt x="35" y="7"/>
                </a:lnTo>
                <a:lnTo>
                  <a:pt x="35" y="0"/>
                </a:lnTo>
                <a:lnTo>
                  <a:pt x="26" y="0"/>
                </a:lnTo>
                <a:lnTo>
                  <a:pt x="26" y="7"/>
                </a:lnTo>
                <a:close/>
                <a:moveTo>
                  <a:pt x="44" y="7"/>
                </a:moveTo>
                <a:lnTo>
                  <a:pt x="62" y="7"/>
                </a:lnTo>
                <a:lnTo>
                  <a:pt x="62" y="0"/>
                </a:lnTo>
                <a:lnTo>
                  <a:pt x="44" y="0"/>
                </a:lnTo>
                <a:lnTo>
                  <a:pt x="44" y="7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0" name="Freeform 485"/>
          <p:cNvSpPr>
            <a:spLocks noEditPoints="1"/>
          </p:cNvSpPr>
          <p:nvPr/>
        </p:nvSpPr>
        <p:spPr bwMode="auto">
          <a:xfrm>
            <a:off x="1653058" y="4085685"/>
            <a:ext cx="327422" cy="47625"/>
          </a:xfrm>
          <a:custGeom>
            <a:avLst/>
            <a:gdLst>
              <a:gd name="T0" fmla="*/ 0 w 275"/>
              <a:gd name="T1" fmla="*/ 63500 h 40"/>
              <a:gd name="T2" fmla="*/ 58737 w 275"/>
              <a:gd name="T3" fmla="*/ 63500 h 40"/>
              <a:gd name="T4" fmla="*/ 58737 w 275"/>
              <a:gd name="T5" fmla="*/ 0 h 40"/>
              <a:gd name="T6" fmla="*/ 0 w 275"/>
              <a:gd name="T7" fmla="*/ 0 h 40"/>
              <a:gd name="T8" fmla="*/ 0 w 275"/>
              <a:gd name="T9" fmla="*/ 63500 h 40"/>
              <a:gd name="T10" fmla="*/ 387350 w 275"/>
              <a:gd name="T11" fmla="*/ 46038 h 40"/>
              <a:gd name="T12" fmla="*/ 436562 w 275"/>
              <a:gd name="T13" fmla="*/ 46038 h 40"/>
              <a:gd name="T14" fmla="*/ 436562 w 275"/>
              <a:gd name="T15" fmla="*/ 12700 h 40"/>
              <a:gd name="T16" fmla="*/ 387350 w 275"/>
              <a:gd name="T17" fmla="*/ 12700 h 40"/>
              <a:gd name="T18" fmla="*/ 387350 w 275"/>
              <a:gd name="T19" fmla="*/ 46038 h 4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5" h="40">
                <a:moveTo>
                  <a:pt x="0" y="40"/>
                </a:moveTo>
                <a:lnTo>
                  <a:pt x="37" y="40"/>
                </a:lnTo>
                <a:lnTo>
                  <a:pt x="37" y="0"/>
                </a:lnTo>
                <a:lnTo>
                  <a:pt x="0" y="0"/>
                </a:lnTo>
                <a:lnTo>
                  <a:pt x="0" y="40"/>
                </a:lnTo>
                <a:close/>
                <a:moveTo>
                  <a:pt x="244" y="29"/>
                </a:moveTo>
                <a:lnTo>
                  <a:pt x="275" y="29"/>
                </a:lnTo>
                <a:lnTo>
                  <a:pt x="275" y="8"/>
                </a:lnTo>
                <a:lnTo>
                  <a:pt x="244" y="8"/>
                </a:lnTo>
                <a:lnTo>
                  <a:pt x="244" y="29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1" name="Freeform 486"/>
          <p:cNvSpPr>
            <a:spLocks noEditPoints="1"/>
          </p:cNvSpPr>
          <p:nvPr/>
        </p:nvSpPr>
        <p:spPr bwMode="auto">
          <a:xfrm>
            <a:off x="1643534" y="4079731"/>
            <a:ext cx="445294" cy="139304"/>
          </a:xfrm>
          <a:custGeom>
            <a:avLst/>
            <a:gdLst>
              <a:gd name="T0" fmla="*/ 204788 w 374"/>
              <a:gd name="T1" fmla="*/ 147638 h 117"/>
              <a:gd name="T2" fmla="*/ 590550 w 374"/>
              <a:gd name="T3" fmla="*/ 147638 h 117"/>
              <a:gd name="T4" fmla="*/ 590550 w 374"/>
              <a:gd name="T5" fmla="*/ 0 h 117"/>
              <a:gd name="T6" fmla="*/ 204788 w 374"/>
              <a:gd name="T7" fmla="*/ 0 h 117"/>
              <a:gd name="T8" fmla="*/ 198438 w 374"/>
              <a:gd name="T9" fmla="*/ 34925 h 117"/>
              <a:gd name="T10" fmla="*/ 196850 w 374"/>
              <a:gd name="T11" fmla="*/ 73025 h 117"/>
              <a:gd name="T12" fmla="*/ 198438 w 374"/>
              <a:gd name="T13" fmla="*/ 109538 h 117"/>
              <a:gd name="T14" fmla="*/ 204788 w 374"/>
              <a:gd name="T15" fmla="*/ 147638 h 117"/>
              <a:gd name="T16" fmla="*/ 349250 w 374"/>
              <a:gd name="T17" fmla="*/ 130175 h 117"/>
              <a:gd name="T18" fmla="*/ 569913 w 374"/>
              <a:gd name="T19" fmla="*/ 130175 h 117"/>
              <a:gd name="T20" fmla="*/ 569913 w 374"/>
              <a:gd name="T21" fmla="*/ 17463 h 117"/>
              <a:gd name="T22" fmla="*/ 349250 w 374"/>
              <a:gd name="T23" fmla="*/ 17463 h 117"/>
              <a:gd name="T24" fmla="*/ 349250 w 374"/>
              <a:gd name="T25" fmla="*/ 130175 h 117"/>
              <a:gd name="T26" fmla="*/ 538163 w 374"/>
              <a:gd name="T27" fmla="*/ 185738 h 117"/>
              <a:gd name="T28" fmla="*/ 584200 w 374"/>
              <a:gd name="T29" fmla="*/ 185738 h 117"/>
              <a:gd name="T30" fmla="*/ 590550 w 374"/>
              <a:gd name="T31" fmla="*/ 184150 h 117"/>
              <a:gd name="T32" fmla="*/ 593725 w 374"/>
              <a:gd name="T33" fmla="*/ 176213 h 117"/>
              <a:gd name="T34" fmla="*/ 590550 w 374"/>
              <a:gd name="T35" fmla="*/ 169863 h 117"/>
              <a:gd name="T36" fmla="*/ 584200 w 374"/>
              <a:gd name="T37" fmla="*/ 168275 h 117"/>
              <a:gd name="T38" fmla="*/ 538163 w 374"/>
              <a:gd name="T39" fmla="*/ 168275 h 117"/>
              <a:gd name="T40" fmla="*/ 538163 w 374"/>
              <a:gd name="T41" fmla="*/ 185738 h 117"/>
              <a:gd name="T42" fmla="*/ 55563 w 374"/>
              <a:gd name="T43" fmla="*/ 185738 h 117"/>
              <a:gd name="T44" fmla="*/ 9525 w 374"/>
              <a:gd name="T45" fmla="*/ 185738 h 117"/>
              <a:gd name="T46" fmla="*/ 3175 w 374"/>
              <a:gd name="T47" fmla="*/ 184150 h 117"/>
              <a:gd name="T48" fmla="*/ 0 w 374"/>
              <a:gd name="T49" fmla="*/ 176213 h 117"/>
              <a:gd name="T50" fmla="*/ 3175 w 374"/>
              <a:gd name="T51" fmla="*/ 169863 h 117"/>
              <a:gd name="T52" fmla="*/ 9525 w 374"/>
              <a:gd name="T53" fmla="*/ 168275 h 117"/>
              <a:gd name="T54" fmla="*/ 55563 w 374"/>
              <a:gd name="T55" fmla="*/ 168275 h 117"/>
              <a:gd name="T56" fmla="*/ 55563 w 374"/>
              <a:gd name="T57" fmla="*/ 185738 h 117"/>
              <a:gd name="T58" fmla="*/ 212725 w 374"/>
              <a:gd name="T59" fmla="*/ 38100 h 117"/>
              <a:gd name="T60" fmla="*/ 311150 w 374"/>
              <a:gd name="T61" fmla="*/ 38100 h 117"/>
              <a:gd name="T62" fmla="*/ 311150 w 374"/>
              <a:gd name="T63" fmla="*/ 26988 h 117"/>
              <a:gd name="T64" fmla="*/ 212725 w 374"/>
              <a:gd name="T65" fmla="*/ 26988 h 117"/>
              <a:gd name="T66" fmla="*/ 212725 w 374"/>
              <a:gd name="T67" fmla="*/ 38100 h 11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74" h="117">
                <a:moveTo>
                  <a:pt x="129" y="93"/>
                </a:moveTo>
                <a:lnTo>
                  <a:pt x="372" y="93"/>
                </a:lnTo>
                <a:lnTo>
                  <a:pt x="372" y="0"/>
                </a:lnTo>
                <a:lnTo>
                  <a:pt x="129" y="0"/>
                </a:lnTo>
                <a:lnTo>
                  <a:pt x="125" y="22"/>
                </a:lnTo>
                <a:lnTo>
                  <a:pt x="124" y="46"/>
                </a:lnTo>
                <a:lnTo>
                  <a:pt x="125" y="69"/>
                </a:lnTo>
                <a:lnTo>
                  <a:pt x="129" y="93"/>
                </a:lnTo>
                <a:close/>
                <a:moveTo>
                  <a:pt x="220" y="82"/>
                </a:moveTo>
                <a:lnTo>
                  <a:pt x="359" y="82"/>
                </a:lnTo>
                <a:lnTo>
                  <a:pt x="359" y="11"/>
                </a:lnTo>
                <a:lnTo>
                  <a:pt x="220" y="11"/>
                </a:lnTo>
                <a:lnTo>
                  <a:pt x="220" y="82"/>
                </a:lnTo>
                <a:close/>
                <a:moveTo>
                  <a:pt x="339" y="117"/>
                </a:moveTo>
                <a:lnTo>
                  <a:pt x="368" y="117"/>
                </a:lnTo>
                <a:lnTo>
                  <a:pt x="372" y="116"/>
                </a:lnTo>
                <a:lnTo>
                  <a:pt x="374" y="111"/>
                </a:lnTo>
                <a:lnTo>
                  <a:pt x="372" y="107"/>
                </a:lnTo>
                <a:lnTo>
                  <a:pt x="368" y="106"/>
                </a:lnTo>
                <a:lnTo>
                  <a:pt x="339" y="106"/>
                </a:lnTo>
                <a:lnTo>
                  <a:pt x="339" y="117"/>
                </a:lnTo>
                <a:close/>
                <a:moveTo>
                  <a:pt x="35" y="117"/>
                </a:moveTo>
                <a:lnTo>
                  <a:pt x="6" y="117"/>
                </a:lnTo>
                <a:lnTo>
                  <a:pt x="2" y="116"/>
                </a:lnTo>
                <a:lnTo>
                  <a:pt x="0" y="111"/>
                </a:lnTo>
                <a:lnTo>
                  <a:pt x="2" y="107"/>
                </a:lnTo>
                <a:lnTo>
                  <a:pt x="6" y="106"/>
                </a:lnTo>
                <a:lnTo>
                  <a:pt x="35" y="106"/>
                </a:lnTo>
                <a:lnTo>
                  <a:pt x="35" y="117"/>
                </a:lnTo>
                <a:close/>
                <a:moveTo>
                  <a:pt x="134" y="24"/>
                </a:moveTo>
                <a:lnTo>
                  <a:pt x="196" y="24"/>
                </a:lnTo>
                <a:lnTo>
                  <a:pt x="196" y="17"/>
                </a:lnTo>
                <a:lnTo>
                  <a:pt x="134" y="17"/>
                </a:lnTo>
                <a:lnTo>
                  <a:pt x="134" y="24"/>
                </a:lnTo>
                <a:close/>
              </a:path>
            </a:pathLst>
          </a:custGeom>
          <a:solidFill>
            <a:srgbClr val="C0C0C0"/>
          </a:solidFill>
          <a:ln w="1588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2" name="Line 487"/>
          <p:cNvSpPr>
            <a:spLocks noChangeShapeType="1"/>
          </p:cNvSpPr>
          <p:nvPr/>
        </p:nvSpPr>
        <p:spPr bwMode="auto">
          <a:xfrm>
            <a:off x="1879278" y="4079731"/>
            <a:ext cx="1190" cy="11072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3" name="Line 488"/>
          <p:cNvSpPr>
            <a:spLocks noChangeShapeType="1"/>
          </p:cNvSpPr>
          <p:nvPr/>
        </p:nvSpPr>
        <p:spPr bwMode="auto">
          <a:xfrm flipH="1">
            <a:off x="1791171" y="4116642"/>
            <a:ext cx="88106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4" name="Line 489"/>
          <p:cNvSpPr>
            <a:spLocks noChangeShapeType="1"/>
          </p:cNvSpPr>
          <p:nvPr/>
        </p:nvSpPr>
        <p:spPr bwMode="auto">
          <a:xfrm flipH="1">
            <a:off x="1791171" y="4153550"/>
            <a:ext cx="88106" cy="1191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5" name="Line 490"/>
          <p:cNvSpPr>
            <a:spLocks noChangeShapeType="1"/>
          </p:cNvSpPr>
          <p:nvPr/>
        </p:nvSpPr>
        <p:spPr bwMode="auto">
          <a:xfrm>
            <a:off x="2018580" y="4092829"/>
            <a:ext cx="1191" cy="32147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6" name="Line 491"/>
          <p:cNvSpPr>
            <a:spLocks noChangeShapeType="1"/>
          </p:cNvSpPr>
          <p:nvPr/>
        </p:nvSpPr>
        <p:spPr bwMode="auto">
          <a:xfrm>
            <a:off x="1905471" y="4124975"/>
            <a:ext cx="165497" cy="1191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7" name="Line 492"/>
          <p:cNvSpPr>
            <a:spLocks noChangeShapeType="1"/>
          </p:cNvSpPr>
          <p:nvPr/>
        </p:nvSpPr>
        <p:spPr bwMode="auto">
          <a:xfrm flipV="1">
            <a:off x="1803078" y="4072588"/>
            <a:ext cx="1190" cy="4763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8" name="Line 493"/>
          <p:cNvSpPr>
            <a:spLocks noChangeShapeType="1"/>
          </p:cNvSpPr>
          <p:nvPr/>
        </p:nvSpPr>
        <p:spPr bwMode="auto">
          <a:xfrm flipV="1">
            <a:off x="1803078" y="4190460"/>
            <a:ext cx="1190" cy="5953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29" name="Line 494"/>
          <p:cNvSpPr>
            <a:spLocks noChangeShapeType="1"/>
          </p:cNvSpPr>
          <p:nvPr/>
        </p:nvSpPr>
        <p:spPr bwMode="auto">
          <a:xfrm>
            <a:off x="1805459" y="4134500"/>
            <a:ext cx="5953" cy="1191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0" name="Line 495"/>
          <p:cNvSpPr>
            <a:spLocks noChangeShapeType="1"/>
          </p:cNvSpPr>
          <p:nvPr/>
        </p:nvSpPr>
        <p:spPr bwMode="auto">
          <a:xfrm>
            <a:off x="1805459" y="4104736"/>
            <a:ext cx="5953" cy="119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1" name="Line 496"/>
          <p:cNvSpPr>
            <a:spLocks noChangeShapeType="1"/>
          </p:cNvSpPr>
          <p:nvPr/>
        </p:nvSpPr>
        <p:spPr bwMode="auto">
          <a:xfrm>
            <a:off x="1859036" y="4104736"/>
            <a:ext cx="5954" cy="119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2" name="Line 497"/>
          <p:cNvSpPr>
            <a:spLocks noChangeShapeType="1"/>
          </p:cNvSpPr>
          <p:nvPr/>
        </p:nvSpPr>
        <p:spPr bwMode="auto">
          <a:xfrm>
            <a:off x="1926902" y="4116642"/>
            <a:ext cx="7144" cy="1190"/>
          </a:xfrm>
          <a:prstGeom prst="line">
            <a:avLst/>
          </a:prstGeom>
          <a:noFill/>
          <a:ln w="4763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3" name="Freeform 498"/>
          <p:cNvSpPr/>
          <p:nvPr/>
        </p:nvSpPr>
        <p:spPr bwMode="auto">
          <a:xfrm>
            <a:off x="2036440" y="3718973"/>
            <a:ext cx="55959" cy="333375"/>
          </a:xfrm>
          <a:custGeom>
            <a:avLst/>
            <a:gdLst>
              <a:gd name="T0" fmla="*/ 0 w 47"/>
              <a:gd name="T1" fmla="*/ 444500 h 280"/>
              <a:gd name="T2" fmla="*/ 57150 w 47"/>
              <a:gd name="T3" fmla="*/ 385763 h 280"/>
              <a:gd name="T4" fmla="*/ 57150 w 47"/>
              <a:gd name="T5" fmla="*/ 282575 h 280"/>
              <a:gd name="T6" fmla="*/ 74612 w 47"/>
              <a:gd name="T7" fmla="*/ 227013 h 280"/>
              <a:gd name="T8" fmla="*/ 74612 w 47"/>
              <a:gd name="T9" fmla="*/ 0 h 280"/>
              <a:gd name="T10" fmla="*/ 0 w 47"/>
              <a:gd name="T11" fmla="*/ 76200 h 280"/>
              <a:gd name="T12" fmla="*/ 0 w 47"/>
              <a:gd name="T13" fmla="*/ 444500 h 2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" h="280">
                <a:moveTo>
                  <a:pt x="0" y="280"/>
                </a:moveTo>
                <a:lnTo>
                  <a:pt x="36" y="243"/>
                </a:lnTo>
                <a:lnTo>
                  <a:pt x="36" y="178"/>
                </a:lnTo>
                <a:lnTo>
                  <a:pt x="47" y="143"/>
                </a:lnTo>
                <a:lnTo>
                  <a:pt x="47" y="0"/>
                </a:lnTo>
                <a:lnTo>
                  <a:pt x="0" y="48"/>
                </a:lnTo>
                <a:lnTo>
                  <a:pt x="0" y="28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4" name="Freeform 499"/>
          <p:cNvSpPr/>
          <p:nvPr/>
        </p:nvSpPr>
        <p:spPr bwMode="auto">
          <a:xfrm>
            <a:off x="1697111" y="3718973"/>
            <a:ext cx="395288" cy="57150"/>
          </a:xfrm>
          <a:custGeom>
            <a:avLst/>
            <a:gdLst>
              <a:gd name="T0" fmla="*/ 527050 w 332"/>
              <a:gd name="T1" fmla="*/ 0 h 48"/>
              <a:gd name="T2" fmla="*/ 74613 w 332"/>
              <a:gd name="T3" fmla="*/ 0 h 48"/>
              <a:gd name="T4" fmla="*/ 0 w 332"/>
              <a:gd name="T5" fmla="*/ 76200 h 48"/>
              <a:gd name="T6" fmla="*/ 452438 w 332"/>
              <a:gd name="T7" fmla="*/ 76200 h 48"/>
              <a:gd name="T8" fmla="*/ 527050 w 332"/>
              <a:gd name="T9" fmla="*/ 0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32" h="48">
                <a:moveTo>
                  <a:pt x="332" y="0"/>
                </a:moveTo>
                <a:lnTo>
                  <a:pt x="47" y="0"/>
                </a:lnTo>
                <a:lnTo>
                  <a:pt x="0" y="48"/>
                </a:lnTo>
                <a:lnTo>
                  <a:pt x="285" y="48"/>
                </a:lnTo>
                <a:lnTo>
                  <a:pt x="332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5" name="Rectangle 500"/>
          <p:cNvSpPr>
            <a:spLocks noChangeArrowheads="1"/>
          </p:cNvSpPr>
          <p:nvPr/>
        </p:nvSpPr>
        <p:spPr bwMode="auto">
          <a:xfrm>
            <a:off x="1697111" y="3776123"/>
            <a:ext cx="339329" cy="273844"/>
          </a:xfrm>
          <a:prstGeom prst="rect">
            <a:avLst/>
          </a:prstGeom>
          <a:solidFill>
            <a:srgbClr val="C0C0C0"/>
          </a:solidFill>
          <a:ln w="4763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736" name="Rectangle 501"/>
          <p:cNvSpPr>
            <a:spLocks noChangeArrowheads="1"/>
          </p:cNvSpPr>
          <p:nvPr/>
        </p:nvSpPr>
        <p:spPr bwMode="auto">
          <a:xfrm>
            <a:off x="2001911" y="4015438"/>
            <a:ext cx="16669" cy="9525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737" name="Freeform 502"/>
          <p:cNvSpPr/>
          <p:nvPr/>
        </p:nvSpPr>
        <p:spPr bwMode="auto">
          <a:xfrm>
            <a:off x="1745928" y="3817794"/>
            <a:ext cx="240506" cy="169069"/>
          </a:xfrm>
          <a:custGeom>
            <a:avLst/>
            <a:gdLst>
              <a:gd name="T0" fmla="*/ 0 w 202"/>
              <a:gd name="T1" fmla="*/ 225425 h 142"/>
              <a:gd name="T2" fmla="*/ 320675 w 202"/>
              <a:gd name="T3" fmla="*/ 225425 h 142"/>
              <a:gd name="T4" fmla="*/ 320675 w 202"/>
              <a:gd name="T5" fmla="*/ 0 h 142"/>
              <a:gd name="T6" fmla="*/ 312738 w 202"/>
              <a:gd name="T7" fmla="*/ 0 h 142"/>
              <a:gd name="T8" fmla="*/ 312738 w 202"/>
              <a:gd name="T9" fmla="*/ 219075 h 142"/>
              <a:gd name="T10" fmla="*/ 0 w 202"/>
              <a:gd name="T11" fmla="*/ 219075 h 142"/>
              <a:gd name="T12" fmla="*/ 0 w 202"/>
              <a:gd name="T13" fmla="*/ 225425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2" h="142">
                <a:moveTo>
                  <a:pt x="0" y="142"/>
                </a:moveTo>
                <a:lnTo>
                  <a:pt x="202" y="142"/>
                </a:lnTo>
                <a:lnTo>
                  <a:pt x="202" y="0"/>
                </a:lnTo>
                <a:lnTo>
                  <a:pt x="197" y="0"/>
                </a:lnTo>
                <a:lnTo>
                  <a:pt x="197" y="138"/>
                </a:lnTo>
                <a:lnTo>
                  <a:pt x="0" y="138"/>
                </a:lnTo>
                <a:lnTo>
                  <a:pt x="0" y="142"/>
                </a:lnTo>
                <a:close/>
              </a:path>
            </a:pathLst>
          </a:custGeom>
          <a:solidFill>
            <a:srgbClr val="8A8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8" name="Freeform 503"/>
          <p:cNvSpPr/>
          <p:nvPr/>
        </p:nvSpPr>
        <p:spPr bwMode="auto">
          <a:xfrm>
            <a:off x="1745927" y="3817795"/>
            <a:ext cx="234553" cy="164306"/>
          </a:xfrm>
          <a:custGeom>
            <a:avLst/>
            <a:gdLst>
              <a:gd name="T0" fmla="*/ 0 w 197"/>
              <a:gd name="T1" fmla="*/ 219075 h 138"/>
              <a:gd name="T2" fmla="*/ 312737 w 197"/>
              <a:gd name="T3" fmla="*/ 219075 h 138"/>
              <a:gd name="T4" fmla="*/ 312737 w 197"/>
              <a:gd name="T5" fmla="*/ 0 h 138"/>
              <a:gd name="T6" fmla="*/ 306387 w 197"/>
              <a:gd name="T7" fmla="*/ 0 h 138"/>
              <a:gd name="T8" fmla="*/ 306387 w 197"/>
              <a:gd name="T9" fmla="*/ 215900 h 138"/>
              <a:gd name="T10" fmla="*/ 0 w 197"/>
              <a:gd name="T11" fmla="*/ 215900 h 138"/>
              <a:gd name="T12" fmla="*/ 0 w 197"/>
              <a:gd name="T13" fmla="*/ 219075 h 1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7" h="138">
                <a:moveTo>
                  <a:pt x="0" y="138"/>
                </a:moveTo>
                <a:lnTo>
                  <a:pt x="197" y="138"/>
                </a:lnTo>
                <a:lnTo>
                  <a:pt x="197" y="0"/>
                </a:lnTo>
                <a:lnTo>
                  <a:pt x="193" y="0"/>
                </a:lnTo>
                <a:lnTo>
                  <a:pt x="193" y="136"/>
                </a:lnTo>
                <a:lnTo>
                  <a:pt x="0" y="136"/>
                </a:lnTo>
                <a:lnTo>
                  <a:pt x="0" y="138"/>
                </a:lnTo>
                <a:close/>
              </a:path>
            </a:pathLst>
          </a:custGeom>
          <a:solidFill>
            <a:srgbClr val="8E8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39" name="Freeform 504"/>
          <p:cNvSpPr/>
          <p:nvPr/>
        </p:nvSpPr>
        <p:spPr bwMode="auto">
          <a:xfrm>
            <a:off x="1745928" y="3817794"/>
            <a:ext cx="229790" cy="161925"/>
          </a:xfrm>
          <a:custGeom>
            <a:avLst/>
            <a:gdLst>
              <a:gd name="T0" fmla="*/ 0 w 193"/>
              <a:gd name="T1" fmla="*/ 215900 h 136"/>
              <a:gd name="T2" fmla="*/ 306387 w 193"/>
              <a:gd name="T3" fmla="*/ 215900 h 136"/>
              <a:gd name="T4" fmla="*/ 306387 w 193"/>
              <a:gd name="T5" fmla="*/ 0 h 136"/>
              <a:gd name="T6" fmla="*/ 301625 w 193"/>
              <a:gd name="T7" fmla="*/ 0 h 136"/>
              <a:gd name="T8" fmla="*/ 301625 w 193"/>
              <a:gd name="T9" fmla="*/ 211138 h 136"/>
              <a:gd name="T10" fmla="*/ 0 w 193"/>
              <a:gd name="T11" fmla="*/ 211138 h 136"/>
              <a:gd name="T12" fmla="*/ 0 w 193"/>
              <a:gd name="T13" fmla="*/ 215900 h 1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3" h="136">
                <a:moveTo>
                  <a:pt x="0" y="136"/>
                </a:moveTo>
                <a:lnTo>
                  <a:pt x="193" y="136"/>
                </a:lnTo>
                <a:lnTo>
                  <a:pt x="193" y="0"/>
                </a:lnTo>
                <a:lnTo>
                  <a:pt x="190" y="0"/>
                </a:lnTo>
                <a:lnTo>
                  <a:pt x="190" y="133"/>
                </a:lnTo>
                <a:lnTo>
                  <a:pt x="0" y="133"/>
                </a:lnTo>
                <a:lnTo>
                  <a:pt x="0" y="136"/>
                </a:lnTo>
                <a:close/>
              </a:path>
            </a:pathLst>
          </a:custGeom>
          <a:solidFill>
            <a:srgbClr val="929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0" name="Freeform 505"/>
          <p:cNvSpPr/>
          <p:nvPr/>
        </p:nvSpPr>
        <p:spPr bwMode="auto">
          <a:xfrm>
            <a:off x="1745927" y="3817794"/>
            <a:ext cx="226219" cy="158354"/>
          </a:xfrm>
          <a:custGeom>
            <a:avLst/>
            <a:gdLst>
              <a:gd name="T0" fmla="*/ 0 w 190"/>
              <a:gd name="T1" fmla="*/ 211138 h 133"/>
              <a:gd name="T2" fmla="*/ 301625 w 190"/>
              <a:gd name="T3" fmla="*/ 211138 h 133"/>
              <a:gd name="T4" fmla="*/ 301625 w 190"/>
              <a:gd name="T5" fmla="*/ 0 h 133"/>
              <a:gd name="T6" fmla="*/ 295275 w 190"/>
              <a:gd name="T7" fmla="*/ 0 h 133"/>
              <a:gd name="T8" fmla="*/ 295275 w 190"/>
              <a:gd name="T9" fmla="*/ 207963 h 133"/>
              <a:gd name="T10" fmla="*/ 0 w 190"/>
              <a:gd name="T11" fmla="*/ 207963 h 133"/>
              <a:gd name="T12" fmla="*/ 0 w 190"/>
              <a:gd name="T13" fmla="*/ 211138 h 1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0" h="133">
                <a:moveTo>
                  <a:pt x="0" y="133"/>
                </a:moveTo>
                <a:lnTo>
                  <a:pt x="190" y="133"/>
                </a:lnTo>
                <a:lnTo>
                  <a:pt x="190" y="0"/>
                </a:lnTo>
                <a:lnTo>
                  <a:pt x="186" y="0"/>
                </a:lnTo>
                <a:lnTo>
                  <a:pt x="186" y="131"/>
                </a:lnTo>
                <a:lnTo>
                  <a:pt x="0" y="131"/>
                </a:lnTo>
                <a:lnTo>
                  <a:pt x="0" y="133"/>
                </a:lnTo>
                <a:close/>
              </a:path>
            </a:pathLst>
          </a:custGeom>
          <a:solidFill>
            <a:srgbClr val="969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1" name="Freeform 506"/>
          <p:cNvSpPr/>
          <p:nvPr/>
        </p:nvSpPr>
        <p:spPr bwMode="auto">
          <a:xfrm>
            <a:off x="1745928" y="3817795"/>
            <a:ext cx="221456" cy="155972"/>
          </a:xfrm>
          <a:custGeom>
            <a:avLst/>
            <a:gdLst>
              <a:gd name="T0" fmla="*/ 0 w 186"/>
              <a:gd name="T1" fmla="*/ 207963 h 131"/>
              <a:gd name="T2" fmla="*/ 295275 w 186"/>
              <a:gd name="T3" fmla="*/ 207963 h 131"/>
              <a:gd name="T4" fmla="*/ 295275 w 186"/>
              <a:gd name="T5" fmla="*/ 0 h 131"/>
              <a:gd name="T6" fmla="*/ 288925 w 186"/>
              <a:gd name="T7" fmla="*/ 0 h 131"/>
              <a:gd name="T8" fmla="*/ 288925 w 186"/>
              <a:gd name="T9" fmla="*/ 203200 h 131"/>
              <a:gd name="T10" fmla="*/ 0 w 186"/>
              <a:gd name="T11" fmla="*/ 203200 h 131"/>
              <a:gd name="T12" fmla="*/ 0 w 186"/>
              <a:gd name="T13" fmla="*/ 207963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1">
                <a:moveTo>
                  <a:pt x="0" y="131"/>
                </a:moveTo>
                <a:lnTo>
                  <a:pt x="186" y="131"/>
                </a:lnTo>
                <a:lnTo>
                  <a:pt x="186" y="0"/>
                </a:lnTo>
                <a:lnTo>
                  <a:pt x="182" y="0"/>
                </a:lnTo>
                <a:lnTo>
                  <a:pt x="182" y="128"/>
                </a:lnTo>
                <a:lnTo>
                  <a:pt x="0" y="128"/>
                </a:lnTo>
                <a:lnTo>
                  <a:pt x="0" y="131"/>
                </a:lnTo>
                <a:close/>
              </a:path>
            </a:pathLst>
          </a:custGeom>
          <a:solidFill>
            <a:srgbClr val="9A9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2" name="Freeform 507"/>
          <p:cNvSpPr/>
          <p:nvPr/>
        </p:nvSpPr>
        <p:spPr bwMode="auto">
          <a:xfrm>
            <a:off x="1745927" y="3817794"/>
            <a:ext cx="216694" cy="152400"/>
          </a:xfrm>
          <a:custGeom>
            <a:avLst/>
            <a:gdLst>
              <a:gd name="T0" fmla="*/ 0 w 182"/>
              <a:gd name="T1" fmla="*/ 203200 h 128"/>
              <a:gd name="T2" fmla="*/ 288925 w 182"/>
              <a:gd name="T3" fmla="*/ 203200 h 128"/>
              <a:gd name="T4" fmla="*/ 288925 w 182"/>
              <a:gd name="T5" fmla="*/ 0 h 128"/>
              <a:gd name="T6" fmla="*/ 282575 w 182"/>
              <a:gd name="T7" fmla="*/ 0 h 128"/>
              <a:gd name="T8" fmla="*/ 282575 w 182"/>
              <a:gd name="T9" fmla="*/ 200025 h 128"/>
              <a:gd name="T10" fmla="*/ 0 w 182"/>
              <a:gd name="T11" fmla="*/ 200025 h 128"/>
              <a:gd name="T12" fmla="*/ 0 w 182"/>
              <a:gd name="T13" fmla="*/ 203200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2" h="128">
                <a:moveTo>
                  <a:pt x="0" y="128"/>
                </a:moveTo>
                <a:lnTo>
                  <a:pt x="182" y="128"/>
                </a:lnTo>
                <a:lnTo>
                  <a:pt x="182" y="0"/>
                </a:lnTo>
                <a:lnTo>
                  <a:pt x="178" y="0"/>
                </a:lnTo>
                <a:lnTo>
                  <a:pt x="178" y="126"/>
                </a:lnTo>
                <a:lnTo>
                  <a:pt x="0" y="126"/>
                </a:lnTo>
                <a:lnTo>
                  <a:pt x="0" y="128"/>
                </a:lnTo>
                <a:close/>
              </a:path>
            </a:pathLst>
          </a:custGeom>
          <a:solidFill>
            <a:srgbClr val="9E9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3" name="Freeform 508"/>
          <p:cNvSpPr/>
          <p:nvPr/>
        </p:nvSpPr>
        <p:spPr bwMode="auto">
          <a:xfrm>
            <a:off x="1745928" y="3817794"/>
            <a:ext cx="211931" cy="150019"/>
          </a:xfrm>
          <a:custGeom>
            <a:avLst/>
            <a:gdLst>
              <a:gd name="T0" fmla="*/ 0 w 178"/>
              <a:gd name="T1" fmla="*/ 200025 h 126"/>
              <a:gd name="T2" fmla="*/ 282575 w 178"/>
              <a:gd name="T3" fmla="*/ 200025 h 126"/>
              <a:gd name="T4" fmla="*/ 282575 w 178"/>
              <a:gd name="T5" fmla="*/ 0 h 126"/>
              <a:gd name="T6" fmla="*/ 276225 w 178"/>
              <a:gd name="T7" fmla="*/ 0 h 126"/>
              <a:gd name="T8" fmla="*/ 276225 w 178"/>
              <a:gd name="T9" fmla="*/ 195263 h 126"/>
              <a:gd name="T10" fmla="*/ 0 w 178"/>
              <a:gd name="T11" fmla="*/ 195263 h 126"/>
              <a:gd name="T12" fmla="*/ 0 w 178"/>
              <a:gd name="T13" fmla="*/ 200025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8" h="126">
                <a:moveTo>
                  <a:pt x="0" y="126"/>
                </a:moveTo>
                <a:lnTo>
                  <a:pt x="178" y="126"/>
                </a:lnTo>
                <a:lnTo>
                  <a:pt x="178" y="0"/>
                </a:lnTo>
                <a:lnTo>
                  <a:pt x="174" y="0"/>
                </a:lnTo>
                <a:lnTo>
                  <a:pt x="174" y="123"/>
                </a:lnTo>
                <a:lnTo>
                  <a:pt x="0" y="123"/>
                </a:lnTo>
                <a:lnTo>
                  <a:pt x="0" y="126"/>
                </a:lnTo>
                <a:close/>
              </a:path>
            </a:pathLst>
          </a:custGeom>
          <a:solidFill>
            <a:srgbClr val="A2A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4" name="Freeform 509"/>
          <p:cNvSpPr/>
          <p:nvPr/>
        </p:nvSpPr>
        <p:spPr bwMode="auto">
          <a:xfrm>
            <a:off x="1745927" y="3817795"/>
            <a:ext cx="207169" cy="146447"/>
          </a:xfrm>
          <a:custGeom>
            <a:avLst/>
            <a:gdLst>
              <a:gd name="T0" fmla="*/ 0 w 174"/>
              <a:gd name="T1" fmla="*/ 195263 h 123"/>
              <a:gd name="T2" fmla="*/ 276225 w 174"/>
              <a:gd name="T3" fmla="*/ 195263 h 123"/>
              <a:gd name="T4" fmla="*/ 276225 w 174"/>
              <a:gd name="T5" fmla="*/ 0 h 123"/>
              <a:gd name="T6" fmla="*/ 271463 w 174"/>
              <a:gd name="T7" fmla="*/ 0 h 123"/>
              <a:gd name="T8" fmla="*/ 271463 w 174"/>
              <a:gd name="T9" fmla="*/ 188913 h 123"/>
              <a:gd name="T10" fmla="*/ 0 w 174"/>
              <a:gd name="T11" fmla="*/ 188913 h 123"/>
              <a:gd name="T12" fmla="*/ 0 w 174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4" h="123">
                <a:moveTo>
                  <a:pt x="0" y="123"/>
                </a:moveTo>
                <a:lnTo>
                  <a:pt x="174" y="123"/>
                </a:lnTo>
                <a:lnTo>
                  <a:pt x="174" y="0"/>
                </a:lnTo>
                <a:lnTo>
                  <a:pt x="171" y="0"/>
                </a:lnTo>
                <a:lnTo>
                  <a:pt x="171" y="119"/>
                </a:lnTo>
                <a:lnTo>
                  <a:pt x="0" y="119"/>
                </a:lnTo>
                <a:lnTo>
                  <a:pt x="0" y="123"/>
                </a:lnTo>
                <a:close/>
              </a:path>
            </a:pathLst>
          </a:custGeom>
          <a:solidFill>
            <a:srgbClr val="A5A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5" name="Freeform 510"/>
          <p:cNvSpPr/>
          <p:nvPr/>
        </p:nvSpPr>
        <p:spPr bwMode="auto">
          <a:xfrm>
            <a:off x="1745927" y="3817794"/>
            <a:ext cx="203597" cy="141685"/>
          </a:xfrm>
          <a:custGeom>
            <a:avLst/>
            <a:gdLst>
              <a:gd name="T0" fmla="*/ 0 w 171"/>
              <a:gd name="T1" fmla="*/ 188913 h 119"/>
              <a:gd name="T2" fmla="*/ 271462 w 171"/>
              <a:gd name="T3" fmla="*/ 188913 h 119"/>
              <a:gd name="T4" fmla="*/ 271462 w 171"/>
              <a:gd name="T5" fmla="*/ 0 h 119"/>
              <a:gd name="T6" fmla="*/ 265112 w 171"/>
              <a:gd name="T7" fmla="*/ 0 h 119"/>
              <a:gd name="T8" fmla="*/ 265112 w 171"/>
              <a:gd name="T9" fmla="*/ 185738 h 119"/>
              <a:gd name="T10" fmla="*/ 0 w 171"/>
              <a:gd name="T11" fmla="*/ 185738 h 119"/>
              <a:gd name="T12" fmla="*/ 0 w 171"/>
              <a:gd name="T13" fmla="*/ 188913 h 1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19">
                <a:moveTo>
                  <a:pt x="0" y="119"/>
                </a:moveTo>
                <a:lnTo>
                  <a:pt x="171" y="119"/>
                </a:lnTo>
                <a:lnTo>
                  <a:pt x="171" y="0"/>
                </a:lnTo>
                <a:lnTo>
                  <a:pt x="167" y="0"/>
                </a:lnTo>
                <a:lnTo>
                  <a:pt x="167" y="117"/>
                </a:lnTo>
                <a:lnTo>
                  <a:pt x="0" y="117"/>
                </a:lnTo>
                <a:lnTo>
                  <a:pt x="0" y="119"/>
                </a:lnTo>
                <a:close/>
              </a:path>
            </a:pathLst>
          </a:custGeom>
          <a:solidFill>
            <a:srgbClr val="A9A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6" name="Freeform 511"/>
          <p:cNvSpPr/>
          <p:nvPr/>
        </p:nvSpPr>
        <p:spPr bwMode="auto">
          <a:xfrm>
            <a:off x="1745927" y="3817794"/>
            <a:ext cx="198834" cy="139304"/>
          </a:xfrm>
          <a:custGeom>
            <a:avLst/>
            <a:gdLst>
              <a:gd name="T0" fmla="*/ 0 w 167"/>
              <a:gd name="T1" fmla="*/ 185738 h 117"/>
              <a:gd name="T2" fmla="*/ 265112 w 167"/>
              <a:gd name="T3" fmla="*/ 185738 h 117"/>
              <a:gd name="T4" fmla="*/ 265112 w 167"/>
              <a:gd name="T5" fmla="*/ 0 h 117"/>
              <a:gd name="T6" fmla="*/ 257175 w 167"/>
              <a:gd name="T7" fmla="*/ 0 h 117"/>
              <a:gd name="T8" fmla="*/ 257175 w 167"/>
              <a:gd name="T9" fmla="*/ 180975 h 117"/>
              <a:gd name="T10" fmla="*/ 0 w 167"/>
              <a:gd name="T11" fmla="*/ 180975 h 117"/>
              <a:gd name="T12" fmla="*/ 0 w 167"/>
              <a:gd name="T13" fmla="*/ 185738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7" h="117">
                <a:moveTo>
                  <a:pt x="0" y="117"/>
                </a:moveTo>
                <a:lnTo>
                  <a:pt x="167" y="117"/>
                </a:lnTo>
                <a:lnTo>
                  <a:pt x="167" y="0"/>
                </a:lnTo>
                <a:lnTo>
                  <a:pt x="162" y="0"/>
                </a:lnTo>
                <a:lnTo>
                  <a:pt x="162" y="114"/>
                </a:lnTo>
                <a:lnTo>
                  <a:pt x="0" y="114"/>
                </a:lnTo>
                <a:lnTo>
                  <a:pt x="0" y="117"/>
                </a:lnTo>
                <a:close/>
              </a:path>
            </a:pathLst>
          </a:custGeom>
          <a:solidFill>
            <a:srgbClr val="ADA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7" name="Freeform 512"/>
          <p:cNvSpPr/>
          <p:nvPr/>
        </p:nvSpPr>
        <p:spPr bwMode="auto">
          <a:xfrm>
            <a:off x="1745928" y="3817795"/>
            <a:ext cx="192881" cy="135731"/>
          </a:xfrm>
          <a:custGeom>
            <a:avLst/>
            <a:gdLst>
              <a:gd name="T0" fmla="*/ 0 w 162"/>
              <a:gd name="T1" fmla="*/ 180975 h 114"/>
              <a:gd name="T2" fmla="*/ 257175 w 162"/>
              <a:gd name="T3" fmla="*/ 180975 h 114"/>
              <a:gd name="T4" fmla="*/ 257175 w 162"/>
              <a:gd name="T5" fmla="*/ 0 h 114"/>
              <a:gd name="T6" fmla="*/ 250825 w 162"/>
              <a:gd name="T7" fmla="*/ 0 h 114"/>
              <a:gd name="T8" fmla="*/ 250825 w 162"/>
              <a:gd name="T9" fmla="*/ 174625 h 114"/>
              <a:gd name="T10" fmla="*/ 0 w 162"/>
              <a:gd name="T11" fmla="*/ 174625 h 114"/>
              <a:gd name="T12" fmla="*/ 0 w 162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14">
                <a:moveTo>
                  <a:pt x="0" y="114"/>
                </a:moveTo>
                <a:lnTo>
                  <a:pt x="162" y="114"/>
                </a:lnTo>
                <a:lnTo>
                  <a:pt x="162" y="0"/>
                </a:lnTo>
                <a:lnTo>
                  <a:pt x="158" y="0"/>
                </a:lnTo>
                <a:lnTo>
                  <a:pt x="158" y="110"/>
                </a:lnTo>
                <a:lnTo>
                  <a:pt x="0" y="110"/>
                </a:lnTo>
                <a:lnTo>
                  <a:pt x="0" y="114"/>
                </a:lnTo>
                <a:close/>
              </a:path>
            </a:pathLst>
          </a:custGeom>
          <a:solidFill>
            <a:srgbClr val="B0B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8" name="Freeform 513"/>
          <p:cNvSpPr/>
          <p:nvPr/>
        </p:nvSpPr>
        <p:spPr bwMode="auto">
          <a:xfrm>
            <a:off x="1745927" y="3817794"/>
            <a:ext cx="188119" cy="130969"/>
          </a:xfrm>
          <a:custGeom>
            <a:avLst/>
            <a:gdLst>
              <a:gd name="T0" fmla="*/ 0 w 158"/>
              <a:gd name="T1" fmla="*/ 174625 h 110"/>
              <a:gd name="T2" fmla="*/ 250825 w 158"/>
              <a:gd name="T3" fmla="*/ 174625 h 110"/>
              <a:gd name="T4" fmla="*/ 250825 w 158"/>
              <a:gd name="T5" fmla="*/ 0 h 110"/>
              <a:gd name="T6" fmla="*/ 242888 w 158"/>
              <a:gd name="T7" fmla="*/ 0 h 110"/>
              <a:gd name="T8" fmla="*/ 242888 w 158"/>
              <a:gd name="T9" fmla="*/ 171450 h 110"/>
              <a:gd name="T10" fmla="*/ 0 w 158"/>
              <a:gd name="T11" fmla="*/ 171450 h 110"/>
              <a:gd name="T12" fmla="*/ 0 w 158"/>
              <a:gd name="T13" fmla="*/ 174625 h 1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0">
                <a:moveTo>
                  <a:pt x="0" y="110"/>
                </a:moveTo>
                <a:lnTo>
                  <a:pt x="158" y="110"/>
                </a:lnTo>
                <a:lnTo>
                  <a:pt x="158" y="0"/>
                </a:lnTo>
                <a:lnTo>
                  <a:pt x="153" y="0"/>
                </a:lnTo>
                <a:lnTo>
                  <a:pt x="153" y="108"/>
                </a:lnTo>
                <a:lnTo>
                  <a:pt x="0" y="108"/>
                </a:lnTo>
                <a:lnTo>
                  <a:pt x="0" y="110"/>
                </a:lnTo>
                <a:close/>
              </a:path>
            </a:pathLst>
          </a:custGeom>
          <a:solidFill>
            <a:srgbClr val="B4B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49" name="Freeform 514"/>
          <p:cNvSpPr/>
          <p:nvPr/>
        </p:nvSpPr>
        <p:spPr bwMode="auto">
          <a:xfrm>
            <a:off x="1745928" y="3817794"/>
            <a:ext cx="182165" cy="128588"/>
          </a:xfrm>
          <a:custGeom>
            <a:avLst/>
            <a:gdLst>
              <a:gd name="T0" fmla="*/ 0 w 153"/>
              <a:gd name="T1" fmla="*/ 171450 h 108"/>
              <a:gd name="T2" fmla="*/ 242887 w 153"/>
              <a:gd name="T3" fmla="*/ 171450 h 108"/>
              <a:gd name="T4" fmla="*/ 242887 w 153"/>
              <a:gd name="T5" fmla="*/ 0 h 108"/>
              <a:gd name="T6" fmla="*/ 234950 w 153"/>
              <a:gd name="T7" fmla="*/ 0 h 108"/>
              <a:gd name="T8" fmla="*/ 234950 w 153"/>
              <a:gd name="T9" fmla="*/ 165100 h 108"/>
              <a:gd name="T10" fmla="*/ 0 w 153"/>
              <a:gd name="T11" fmla="*/ 165100 h 108"/>
              <a:gd name="T12" fmla="*/ 0 w 153"/>
              <a:gd name="T13" fmla="*/ 17145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108">
                <a:moveTo>
                  <a:pt x="0" y="108"/>
                </a:moveTo>
                <a:lnTo>
                  <a:pt x="153" y="108"/>
                </a:lnTo>
                <a:lnTo>
                  <a:pt x="153" y="0"/>
                </a:lnTo>
                <a:lnTo>
                  <a:pt x="148" y="0"/>
                </a:lnTo>
                <a:lnTo>
                  <a:pt x="148" y="104"/>
                </a:lnTo>
                <a:lnTo>
                  <a:pt x="0" y="104"/>
                </a:lnTo>
                <a:lnTo>
                  <a:pt x="0" y="108"/>
                </a:lnTo>
                <a:close/>
              </a:path>
            </a:pathLst>
          </a:custGeom>
          <a:solidFill>
            <a:srgbClr val="B8B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0" name="Freeform 515"/>
          <p:cNvSpPr/>
          <p:nvPr/>
        </p:nvSpPr>
        <p:spPr bwMode="auto">
          <a:xfrm>
            <a:off x="1745927" y="3817794"/>
            <a:ext cx="176213" cy="123825"/>
          </a:xfrm>
          <a:custGeom>
            <a:avLst/>
            <a:gdLst>
              <a:gd name="T0" fmla="*/ 0 w 148"/>
              <a:gd name="T1" fmla="*/ 165100 h 104"/>
              <a:gd name="T2" fmla="*/ 234950 w 148"/>
              <a:gd name="T3" fmla="*/ 165100 h 104"/>
              <a:gd name="T4" fmla="*/ 234950 w 148"/>
              <a:gd name="T5" fmla="*/ 0 h 104"/>
              <a:gd name="T6" fmla="*/ 227013 w 148"/>
              <a:gd name="T7" fmla="*/ 0 h 104"/>
              <a:gd name="T8" fmla="*/ 227013 w 148"/>
              <a:gd name="T9" fmla="*/ 158750 h 104"/>
              <a:gd name="T10" fmla="*/ 0 w 148"/>
              <a:gd name="T11" fmla="*/ 158750 h 104"/>
              <a:gd name="T12" fmla="*/ 0 w 148"/>
              <a:gd name="T13" fmla="*/ 165100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8" h="104">
                <a:moveTo>
                  <a:pt x="0" y="104"/>
                </a:moveTo>
                <a:lnTo>
                  <a:pt x="148" y="104"/>
                </a:lnTo>
                <a:lnTo>
                  <a:pt x="148" y="0"/>
                </a:lnTo>
                <a:lnTo>
                  <a:pt x="143" y="0"/>
                </a:lnTo>
                <a:lnTo>
                  <a:pt x="143" y="100"/>
                </a:lnTo>
                <a:lnTo>
                  <a:pt x="0" y="100"/>
                </a:lnTo>
                <a:lnTo>
                  <a:pt x="0" y="104"/>
                </a:lnTo>
                <a:close/>
              </a:path>
            </a:pathLst>
          </a:custGeom>
          <a:solidFill>
            <a:srgbClr val="BBB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1" name="Freeform 516"/>
          <p:cNvSpPr/>
          <p:nvPr/>
        </p:nvSpPr>
        <p:spPr bwMode="auto">
          <a:xfrm>
            <a:off x="1745927" y="3817794"/>
            <a:ext cx="170259" cy="119063"/>
          </a:xfrm>
          <a:custGeom>
            <a:avLst/>
            <a:gdLst>
              <a:gd name="T0" fmla="*/ 0 w 143"/>
              <a:gd name="T1" fmla="*/ 158750 h 100"/>
              <a:gd name="T2" fmla="*/ 227012 w 143"/>
              <a:gd name="T3" fmla="*/ 158750 h 100"/>
              <a:gd name="T4" fmla="*/ 227012 w 143"/>
              <a:gd name="T5" fmla="*/ 0 h 100"/>
              <a:gd name="T6" fmla="*/ 219075 w 143"/>
              <a:gd name="T7" fmla="*/ 0 h 100"/>
              <a:gd name="T8" fmla="*/ 219075 w 143"/>
              <a:gd name="T9" fmla="*/ 153988 h 100"/>
              <a:gd name="T10" fmla="*/ 0 w 143"/>
              <a:gd name="T11" fmla="*/ 153988 h 100"/>
              <a:gd name="T12" fmla="*/ 0 w 143"/>
              <a:gd name="T13" fmla="*/ 158750 h 1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3" h="100">
                <a:moveTo>
                  <a:pt x="0" y="100"/>
                </a:moveTo>
                <a:lnTo>
                  <a:pt x="143" y="100"/>
                </a:lnTo>
                <a:lnTo>
                  <a:pt x="143" y="0"/>
                </a:lnTo>
                <a:lnTo>
                  <a:pt x="138" y="0"/>
                </a:lnTo>
                <a:lnTo>
                  <a:pt x="138" y="97"/>
                </a:lnTo>
                <a:lnTo>
                  <a:pt x="0" y="97"/>
                </a:lnTo>
                <a:lnTo>
                  <a:pt x="0" y="100"/>
                </a:lnTo>
                <a:close/>
              </a:path>
            </a:pathLst>
          </a:custGeom>
          <a:solidFill>
            <a:srgbClr val="BFB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2" name="Freeform 517"/>
          <p:cNvSpPr/>
          <p:nvPr/>
        </p:nvSpPr>
        <p:spPr bwMode="auto">
          <a:xfrm>
            <a:off x="1745928" y="3817794"/>
            <a:ext cx="164306" cy="115491"/>
          </a:xfrm>
          <a:custGeom>
            <a:avLst/>
            <a:gdLst>
              <a:gd name="T0" fmla="*/ 0 w 138"/>
              <a:gd name="T1" fmla="*/ 153988 h 97"/>
              <a:gd name="T2" fmla="*/ 219075 w 138"/>
              <a:gd name="T3" fmla="*/ 153988 h 97"/>
              <a:gd name="T4" fmla="*/ 219075 w 138"/>
              <a:gd name="T5" fmla="*/ 0 h 97"/>
              <a:gd name="T6" fmla="*/ 211138 w 138"/>
              <a:gd name="T7" fmla="*/ 0 h 97"/>
              <a:gd name="T8" fmla="*/ 211138 w 138"/>
              <a:gd name="T9" fmla="*/ 147638 h 97"/>
              <a:gd name="T10" fmla="*/ 0 w 138"/>
              <a:gd name="T11" fmla="*/ 147638 h 97"/>
              <a:gd name="T12" fmla="*/ 0 w 138"/>
              <a:gd name="T13" fmla="*/ 153988 h 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97">
                <a:moveTo>
                  <a:pt x="0" y="97"/>
                </a:moveTo>
                <a:lnTo>
                  <a:pt x="138" y="97"/>
                </a:lnTo>
                <a:lnTo>
                  <a:pt x="138" y="0"/>
                </a:lnTo>
                <a:lnTo>
                  <a:pt x="133" y="0"/>
                </a:lnTo>
                <a:lnTo>
                  <a:pt x="133" y="93"/>
                </a:lnTo>
                <a:lnTo>
                  <a:pt x="0" y="93"/>
                </a:lnTo>
                <a:lnTo>
                  <a:pt x="0" y="97"/>
                </a:lnTo>
                <a:close/>
              </a:path>
            </a:pathLst>
          </a:custGeom>
          <a:solidFill>
            <a:srgbClr val="C3C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3" name="Freeform 518"/>
          <p:cNvSpPr/>
          <p:nvPr/>
        </p:nvSpPr>
        <p:spPr bwMode="auto">
          <a:xfrm>
            <a:off x="1745927" y="3817794"/>
            <a:ext cx="158353" cy="110729"/>
          </a:xfrm>
          <a:custGeom>
            <a:avLst/>
            <a:gdLst>
              <a:gd name="T0" fmla="*/ 0 w 133"/>
              <a:gd name="T1" fmla="*/ 147638 h 93"/>
              <a:gd name="T2" fmla="*/ 211137 w 133"/>
              <a:gd name="T3" fmla="*/ 147638 h 93"/>
              <a:gd name="T4" fmla="*/ 211137 w 133"/>
              <a:gd name="T5" fmla="*/ 0 h 93"/>
              <a:gd name="T6" fmla="*/ 200025 w 133"/>
              <a:gd name="T7" fmla="*/ 0 h 93"/>
              <a:gd name="T8" fmla="*/ 200025 w 133"/>
              <a:gd name="T9" fmla="*/ 141288 h 93"/>
              <a:gd name="T10" fmla="*/ 0 w 133"/>
              <a:gd name="T11" fmla="*/ 141288 h 93"/>
              <a:gd name="T12" fmla="*/ 0 w 133"/>
              <a:gd name="T13" fmla="*/ 147638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3" h="93">
                <a:moveTo>
                  <a:pt x="0" y="93"/>
                </a:moveTo>
                <a:lnTo>
                  <a:pt x="133" y="93"/>
                </a:lnTo>
                <a:lnTo>
                  <a:pt x="133" y="0"/>
                </a:lnTo>
                <a:lnTo>
                  <a:pt x="126" y="0"/>
                </a:lnTo>
                <a:lnTo>
                  <a:pt x="126" y="89"/>
                </a:lnTo>
                <a:lnTo>
                  <a:pt x="0" y="89"/>
                </a:lnTo>
                <a:lnTo>
                  <a:pt x="0" y="93"/>
                </a:lnTo>
                <a:close/>
              </a:path>
            </a:pathLst>
          </a:custGeom>
          <a:solidFill>
            <a:srgbClr val="C6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4" name="Freeform 519"/>
          <p:cNvSpPr/>
          <p:nvPr/>
        </p:nvSpPr>
        <p:spPr bwMode="auto">
          <a:xfrm>
            <a:off x="1745927" y="3817794"/>
            <a:ext cx="150019" cy="105966"/>
          </a:xfrm>
          <a:custGeom>
            <a:avLst/>
            <a:gdLst>
              <a:gd name="T0" fmla="*/ 0 w 126"/>
              <a:gd name="T1" fmla="*/ 141288 h 89"/>
              <a:gd name="T2" fmla="*/ 200025 w 126"/>
              <a:gd name="T3" fmla="*/ 141288 h 89"/>
              <a:gd name="T4" fmla="*/ 200025 w 126"/>
              <a:gd name="T5" fmla="*/ 0 h 89"/>
              <a:gd name="T6" fmla="*/ 192088 w 126"/>
              <a:gd name="T7" fmla="*/ 0 h 89"/>
              <a:gd name="T8" fmla="*/ 192088 w 126"/>
              <a:gd name="T9" fmla="*/ 134938 h 89"/>
              <a:gd name="T10" fmla="*/ 0 w 126"/>
              <a:gd name="T11" fmla="*/ 134938 h 89"/>
              <a:gd name="T12" fmla="*/ 0 w 126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89">
                <a:moveTo>
                  <a:pt x="0" y="89"/>
                </a:moveTo>
                <a:lnTo>
                  <a:pt x="126" y="89"/>
                </a:lnTo>
                <a:lnTo>
                  <a:pt x="126" y="0"/>
                </a:lnTo>
                <a:lnTo>
                  <a:pt x="121" y="0"/>
                </a:lnTo>
                <a:lnTo>
                  <a:pt x="121" y="85"/>
                </a:lnTo>
                <a:lnTo>
                  <a:pt x="0" y="85"/>
                </a:lnTo>
                <a:lnTo>
                  <a:pt x="0" y="89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5" name="Freeform 520"/>
          <p:cNvSpPr/>
          <p:nvPr/>
        </p:nvSpPr>
        <p:spPr bwMode="auto">
          <a:xfrm>
            <a:off x="1745928" y="3817794"/>
            <a:ext cx="144065" cy="101204"/>
          </a:xfrm>
          <a:custGeom>
            <a:avLst/>
            <a:gdLst>
              <a:gd name="T0" fmla="*/ 0 w 121"/>
              <a:gd name="T1" fmla="*/ 134938 h 85"/>
              <a:gd name="T2" fmla="*/ 192087 w 121"/>
              <a:gd name="T3" fmla="*/ 134938 h 85"/>
              <a:gd name="T4" fmla="*/ 192087 w 121"/>
              <a:gd name="T5" fmla="*/ 0 h 85"/>
              <a:gd name="T6" fmla="*/ 182562 w 121"/>
              <a:gd name="T7" fmla="*/ 0 h 85"/>
              <a:gd name="T8" fmla="*/ 182562 w 121"/>
              <a:gd name="T9" fmla="*/ 127000 h 85"/>
              <a:gd name="T10" fmla="*/ 0 w 121"/>
              <a:gd name="T11" fmla="*/ 127000 h 85"/>
              <a:gd name="T12" fmla="*/ 0 w 121"/>
              <a:gd name="T13" fmla="*/ 134938 h 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1" h="85">
                <a:moveTo>
                  <a:pt x="0" y="85"/>
                </a:moveTo>
                <a:lnTo>
                  <a:pt x="121" y="85"/>
                </a:lnTo>
                <a:lnTo>
                  <a:pt x="121" y="0"/>
                </a:lnTo>
                <a:lnTo>
                  <a:pt x="115" y="0"/>
                </a:lnTo>
                <a:lnTo>
                  <a:pt x="115" y="80"/>
                </a:lnTo>
                <a:lnTo>
                  <a:pt x="0" y="80"/>
                </a:lnTo>
                <a:lnTo>
                  <a:pt x="0" y="85"/>
                </a:lnTo>
                <a:close/>
              </a:path>
            </a:pathLst>
          </a:custGeom>
          <a:solidFill>
            <a:srgbClr val="CEC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6" name="Freeform 521"/>
          <p:cNvSpPr/>
          <p:nvPr/>
        </p:nvSpPr>
        <p:spPr bwMode="auto">
          <a:xfrm>
            <a:off x="1745927" y="3817794"/>
            <a:ext cx="136922" cy="95250"/>
          </a:xfrm>
          <a:custGeom>
            <a:avLst/>
            <a:gdLst>
              <a:gd name="T0" fmla="*/ 0 w 115"/>
              <a:gd name="T1" fmla="*/ 127000 h 80"/>
              <a:gd name="T2" fmla="*/ 182562 w 115"/>
              <a:gd name="T3" fmla="*/ 127000 h 80"/>
              <a:gd name="T4" fmla="*/ 182562 w 115"/>
              <a:gd name="T5" fmla="*/ 0 h 80"/>
              <a:gd name="T6" fmla="*/ 173037 w 115"/>
              <a:gd name="T7" fmla="*/ 0 h 80"/>
              <a:gd name="T8" fmla="*/ 173037 w 115"/>
              <a:gd name="T9" fmla="*/ 120650 h 80"/>
              <a:gd name="T10" fmla="*/ 0 w 115"/>
              <a:gd name="T11" fmla="*/ 120650 h 80"/>
              <a:gd name="T12" fmla="*/ 0 w 115"/>
              <a:gd name="T13" fmla="*/ 127000 h 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5" h="80">
                <a:moveTo>
                  <a:pt x="0" y="80"/>
                </a:moveTo>
                <a:lnTo>
                  <a:pt x="115" y="80"/>
                </a:lnTo>
                <a:lnTo>
                  <a:pt x="115" y="0"/>
                </a:lnTo>
                <a:lnTo>
                  <a:pt x="109" y="0"/>
                </a:lnTo>
                <a:lnTo>
                  <a:pt x="109" y="76"/>
                </a:lnTo>
                <a:lnTo>
                  <a:pt x="0" y="76"/>
                </a:lnTo>
                <a:lnTo>
                  <a:pt x="0" y="80"/>
                </a:lnTo>
                <a:close/>
              </a:path>
            </a:pathLst>
          </a:custGeom>
          <a:solidFill>
            <a:srgbClr val="D1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7" name="Freeform 522"/>
          <p:cNvSpPr/>
          <p:nvPr/>
        </p:nvSpPr>
        <p:spPr bwMode="auto">
          <a:xfrm>
            <a:off x="1745927" y="3817794"/>
            <a:ext cx="129778" cy="90488"/>
          </a:xfrm>
          <a:custGeom>
            <a:avLst/>
            <a:gdLst>
              <a:gd name="T0" fmla="*/ 0 w 109"/>
              <a:gd name="T1" fmla="*/ 120650 h 76"/>
              <a:gd name="T2" fmla="*/ 173037 w 109"/>
              <a:gd name="T3" fmla="*/ 120650 h 76"/>
              <a:gd name="T4" fmla="*/ 173037 w 109"/>
              <a:gd name="T5" fmla="*/ 0 h 76"/>
              <a:gd name="T6" fmla="*/ 160337 w 109"/>
              <a:gd name="T7" fmla="*/ 0 h 76"/>
              <a:gd name="T8" fmla="*/ 160337 w 109"/>
              <a:gd name="T9" fmla="*/ 112713 h 76"/>
              <a:gd name="T10" fmla="*/ 0 w 109"/>
              <a:gd name="T11" fmla="*/ 112713 h 76"/>
              <a:gd name="T12" fmla="*/ 0 w 109"/>
              <a:gd name="T13" fmla="*/ 120650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" h="76">
                <a:moveTo>
                  <a:pt x="0" y="76"/>
                </a:moveTo>
                <a:lnTo>
                  <a:pt x="109" y="76"/>
                </a:lnTo>
                <a:lnTo>
                  <a:pt x="109" y="0"/>
                </a:lnTo>
                <a:lnTo>
                  <a:pt x="101" y="0"/>
                </a:lnTo>
                <a:lnTo>
                  <a:pt x="101" y="71"/>
                </a:lnTo>
                <a:lnTo>
                  <a:pt x="0" y="71"/>
                </a:lnTo>
                <a:lnTo>
                  <a:pt x="0" y="76"/>
                </a:lnTo>
                <a:close/>
              </a:path>
            </a:pathLst>
          </a:custGeom>
          <a:solidFill>
            <a:srgbClr val="D5D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8" name="Freeform 523"/>
          <p:cNvSpPr/>
          <p:nvPr/>
        </p:nvSpPr>
        <p:spPr bwMode="auto">
          <a:xfrm>
            <a:off x="1743546" y="3816604"/>
            <a:ext cx="122634" cy="85725"/>
          </a:xfrm>
          <a:custGeom>
            <a:avLst/>
            <a:gdLst>
              <a:gd name="T0" fmla="*/ 3175 w 103"/>
              <a:gd name="T1" fmla="*/ 114300 h 72"/>
              <a:gd name="T2" fmla="*/ 163512 w 103"/>
              <a:gd name="T3" fmla="*/ 114300 h 72"/>
              <a:gd name="T4" fmla="*/ 163512 w 103"/>
              <a:gd name="T5" fmla="*/ 1588 h 72"/>
              <a:gd name="T6" fmla="*/ 153987 w 103"/>
              <a:gd name="T7" fmla="*/ 0 h 72"/>
              <a:gd name="T8" fmla="*/ 153987 w 103"/>
              <a:gd name="T9" fmla="*/ 106363 h 72"/>
              <a:gd name="T10" fmla="*/ 0 w 103"/>
              <a:gd name="T11" fmla="*/ 106363 h 72"/>
              <a:gd name="T12" fmla="*/ 3175 w 103"/>
              <a:gd name="T13" fmla="*/ 114300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3" h="72">
                <a:moveTo>
                  <a:pt x="2" y="72"/>
                </a:moveTo>
                <a:lnTo>
                  <a:pt x="103" y="72"/>
                </a:lnTo>
                <a:lnTo>
                  <a:pt x="103" y="1"/>
                </a:lnTo>
                <a:lnTo>
                  <a:pt x="97" y="0"/>
                </a:lnTo>
                <a:lnTo>
                  <a:pt x="97" y="67"/>
                </a:lnTo>
                <a:lnTo>
                  <a:pt x="0" y="67"/>
                </a:lnTo>
                <a:lnTo>
                  <a:pt x="2" y="72"/>
                </a:lnTo>
                <a:close/>
              </a:path>
            </a:pathLst>
          </a:custGeom>
          <a:solidFill>
            <a:srgbClr val="D9D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59" name="Freeform 524"/>
          <p:cNvSpPr/>
          <p:nvPr/>
        </p:nvSpPr>
        <p:spPr bwMode="auto">
          <a:xfrm>
            <a:off x="1743546" y="3816604"/>
            <a:ext cx="115490" cy="79772"/>
          </a:xfrm>
          <a:custGeom>
            <a:avLst/>
            <a:gdLst>
              <a:gd name="T0" fmla="*/ 0 w 97"/>
              <a:gd name="T1" fmla="*/ 106362 h 67"/>
              <a:gd name="T2" fmla="*/ 153987 w 97"/>
              <a:gd name="T3" fmla="*/ 106362 h 67"/>
              <a:gd name="T4" fmla="*/ 153987 w 97"/>
              <a:gd name="T5" fmla="*/ 0 h 67"/>
              <a:gd name="T6" fmla="*/ 141287 w 97"/>
              <a:gd name="T7" fmla="*/ 1587 h 67"/>
              <a:gd name="T8" fmla="*/ 141287 w 97"/>
              <a:gd name="T9" fmla="*/ 98425 h 67"/>
              <a:gd name="T10" fmla="*/ 3175 w 97"/>
              <a:gd name="T11" fmla="*/ 98425 h 67"/>
              <a:gd name="T12" fmla="*/ 0 w 97"/>
              <a:gd name="T13" fmla="*/ 106362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7" h="67">
                <a:moveTo>
                  <a:pt x="0" y="67"/>
                </a:moveTo>
                <a:lnTo>
                  <a:pt x="97" y="67"/>
                </a:lnTo>
                <a:lnTo>
                  <a:pt x="97" y="0"/>
                </a:lnTo>
                <a:lnTo>
                  <a:pt x="89" y="1"/>
                </a:lnTo>
                <a:lnTo>
                  <a:pt x="89" y="62"/>
                </a:lnTo>
                <a:lnTo>
                  <a:pt x="2" y="62"/>
                </a:lnTo>
                <a:lnTo>
                  <a:pt x="0" y="67"/>
                </a:lnTo>
                <a:close/>
              </a:path>
            </a:pathLst>
          </a:custGeom>
          <a:solidFill>
            <a:srgbClr val="DDD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0" name="Freeform 525"/>
          <p:cNvSpPr/>
          <p:nvPr/>
        </p:nvSpPr>
        <p:spPr bwMode="auto">
          <a:xfrm>
            <a:off x="1745927" y="3817794"/>
            <a:ext cx="103584" cy="72629"/>
          </a:xfrm>
          <a:custGeom>
            <a:avLst/>
            <a:gdLst>
              <a:gd name="T0" fmla="*/ 0 w 87"/>
              <a:gd name="T1" fmla="*/ 96838 h 61"/>
              <a:gd name="T2" fmla="*/ 138112 w 87"/>
              <a:gd name="T3" fmla="*/ 96838 h 61"/>
              <a:gd name="T4" fmla="*/ 138112 w 87"/>
              <a:gd name="T5" fmla="*/ 0 h 61"/>
              <a:gd name="T6" fmla="*/ 125412 w 87"/>
              <a:gd name="T7" fmla="*/ 0 h 61"/>
              <a:gd name="T8" fmla="*/ 125412 w 87"/>
              <a:gd name="T9" fmla="*/ 88900 h 61"/>
              <a:gd name="T10" fmla="*/ 0 w 87"/>
              <a:gd name="T11" fmla="*/ 88900 h 61"/>
              <a:gd name="T12" fmla="*/ 0 w 87"/>
              <a:gd name="T13" fmla="*/ 96838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" h="61">
                <a:moveTo>
                  <a:pt x="0" y="61"/>
                </a:moveTo>
                <a:lnTo>
                  <a:pt x="87" y="61"/>
                </a:lnTo>
                <a:lnTo>
                  <a:pt x="87" y="0"/>
                </a:lnTo>
                <a:lnTo>
                  <a:pt x="79" y="0"/>
                </a:lnTo>
                <a:lnTo>
                  <a:pt x="79" y="56"/>
                </a:lnTo>
                <a:lnTo>
                  <a:pt x="0" y="56"/>
                </a:lnTo>
                <a:lnTo>
                  <a:pt x="0" y="61"/>
                </a:lnTo>
                <a:close/>
              </a:path>
            </a:pathLst>
          </a:custGeom>
          <a:solidFill>
            <a:srgbClr val="E0E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1" name="Freeform 526"/>
          <p:cNvSpPr/>
          <p:nvPr/>
        </p:nvSpPr>
        <p:spPr bwMode="auto">
          <a:xfrm>
            <a:off x="1745927" y="3817794"/>
            <a:ext cx="94059" cy="66675"/>
          </a:xfrm>
          <a:custGeom>
            <a:avLst/>
            <a:gdLst>
              <a:gd name="T0" fmla="*/ 0 w 79"/>
              <a:gd name="T1" fmla="*/ 88900 h 56"/>
              <a:gd name="T2" fmla="*/ 125412 w 79"/>
              <a:gd name="T3" fmla="*/ 88900 h 56"/>
              <a:gd name="T4" fmla="*/ 125412 w 79"/>
              <a:gd name="T5" fmla="*/ 0 h 56"/>
              <a:gd name="T6" fmla="*/ 112712 w 79"/>
              <a:gd name="T7" fmla="*/ 0 h 56"/>
              <a:gd name="T8" fmla="*/ 112712 w 79"/>
              <a:gd name="T9" fmla="*/ 79375 h 56"/>
              <a:gd name="T10" fmla="*/ 0 w 79"/>
              <a:gd name="T11" fmla="*/ 79375 h 56"/>
              <a:gd name="T12" fmla="*/ 0 w 79"/>
              <a:gd name="T13" fmla="*/ 889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9" h="56">
                <a:moveTo>
                  <a:pt x="0" y="56"/>
                </a:moveTo>
                <a:lnTo>
                  <a:pt x="79" y="56"/>
                </a:lnTo>
                <a:lnTo>
                  <a:pt x="79" y="0"/>
                </a:lnTo>
                <a:lnTo>
                  <a:pt x="71" y="0"/>
                </a:lnTo>
                <a:lnTo>
                  <a:pt x="71" y="50"/>
                </a:lnTo>
                <a:lnTo>
                  <a:pt x="0" y="50"/>
                </a:lnTo>
                <a:lnTo>
                  <a:pt x="0" y="56"/>
                </a:lnTo>
                <a:close/>
              </a:path>
            </a:pathLst>
          </a:custGeom>
          <a:solidFill>
            <a:srgbClr val="E4E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2" name="Freeform 527"/>
          <p:cNvSpPr/>
          <p:nvPr/>
        </p:nvSpPr>
        <p:spPr bwMode="auto">
          <a:xfrm>
            <a:off x="1745927" y="3817795"/>
            <a:ext cx="84534" cy="59531"/>
          </a:xfrm>
          <a:custGeom>
            <a:avLst/>
            <a:gdLst>
              <a:gd name="T0" fmla="*/ 0 w 71"/>
              <a:gd name="T1" fmla="*/ 79375 h 50"/>
              <a:gd name="T2" fmla="*/ 112712 w 71"/>
              <a:gd name="T3" fmla="*/ 79375 h 50"/>
              <a:gd name="T4" fmla="*/ 112712 w 71"/>
              <a:gd name="T5" fmla="*/ 0 h 50"/>
              <a:gd name="T6" fmla="*/ 98425 w 71"/>
              <a:gd name="T7" fmla="*/ 0 h 50"/>
              <a:gd name="T8" fmla="*/ 98425 w 71"/>
              <a:gd name="T9" fmla="*/ 68263 h 50"/>
              <a:gd name="T10" fmla="*/ 0 w 71"/>
              <a:gd name="T11" fmla="*/ 68263 h 50"/>
              <a:gd name="T12" fmla="*/ 0 w 71"/>
              <a:gd name="T13" fmla="*/ 79375 h 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0">
                <a:moveTo>
                  <a:pt x="0" y="50"/>
                </a:moveTo>
                <a:lnTo>
                  <a:pt x="71" y="50"/>
                </a:lnTo>
                <a:lnTo>
                  <a:pt x="71" y="0"/>
                </a:lnTo>
                <a:lnTo>
                  <a:pt x="62" y="0"/>
                </a:lnTo>
                <a:lnTo>
                  <a:pt x="62" y="43"/>
                </a:lnTo>
                <a:lnTo>
                  <a:pt x="0" y="43"/>
                </a:lnTo>
                <a:lnTo>
                  <a:pt x="0" y="50"/>
                </a:lnTo>
                <a:close/>
              </a:path>
            </a:pathLst>
          </a:custGeom>
          <a:solidFill>
            <a:srgbClr val="E8E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3" name="Freeform 528"/>
          <p:cNvSpPr/>
          <p:nvPr/>
        </p:nvSpPr>
        <p:spPr bwMode="auto">
          <a:xfrm>
            <a:off x="1745927" y="3817795"/>
            <a:ext cx="73819" cy="51197"/>
          </a:xfrm>
          <a:custGeom>
            <a:avLst/>
            <a:gdLst>
              <a:gd name="T0" fmla="*/ 0 w 62"/>
              <a:gd name="T1" fmla="*/ 68263 h 43"/>
              <a:gd name="T2" fmla="*/ 98425 w 62"/>
              <a:gd name="T3" fmla="*/ 68263 h 43"/>
              <a:gd name="T4" fmla="*/ 98425 w 62"/>
              <a:gd name="T5" fmla="*/ 0 h 43"/>
              <a:gd name="T6" fmla="*/ 84138 w 62"/>
              <a:gd name="T7" fmla="*/ 0 h 43"/>
              <a:gd name="T8" fmla="*/ 84138 w 62"/>
              <a:gd name="T9" fmla="*/ 58738 h 43"/>
              <a:gd name="T10" fmla="*/ 0 w 62"/>
              <a:gd name="T11" fmla="*/ 58738 h 43"/>
              <a:gd name="T12" fmla="*/ 0 w 62"/>
              <a:gd name="T13" fmla="*/ 68263 h 4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2" h="43">
                <a:moveTo>
                  <a:pt x="0" y="43"/>
                </a:moveTo>
                <a:lnTo>
                  <a:pt x="62" y="43"/>
                </a:lnTo>
                <a:lnTo>
                  <a:pt x="62" y="0"/>
                </a:lnTo>
                <a:lnTo>
                  <a:pt x="53" y="0"/>
                </a:lnTo>
                <a:lnTo>
                  <a:pt x="53" y="37"/>
                </a:lnTo>
                <a:lnTo>
                  <a:pt x="0" y="37"/>
                </a:lnTo>
                <a:lnTo>
                  <a:pt x="0" y="43"/>
                </a:lnTo>
                <a:close/>
              </a:path>
            </a:pathLst>
          </a:cu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4" name="Freeform 529"/>
          <p:cNvSpPr/>
          <p:nvPr/>
        </p:nvSpPr>
        <p:spPr bwMode="auto">
          <a:xfrm>
            <a:off x="1745927" y="3817794"/>
            <a:ext cx="63103" cy="44054"/>
          </a:xfrm>
          <a:custGeom>
            <a:avLst/>
            <a:gdLst>
              <a:gd name="T0" fmla="*/ 0 w 53"/>
              <a:gd name="T1" fmla="*/ 58738 h 37"/>
              <a:gd name="T2" fmla="*/ 84137 w 53"/>
              <a:gd name="T3" fmla="*/ 58738 h 37"/>
              <a:gd name="T4" fmla="*/ 84137 w 53"/>
              <a:gd name="T5" fmla="*/ 0 h 37"/>
              <a:gd name="T6" fmla="*/ 69850 w 53"/>
              <a:gd name="T7" fmla="*/ 0 h 37"/>
              <a:gd name="T8" fmla="*/ 69850 w 53"/>
              <a:gd name="T9" fmla="*/ 49213 h 37"/>
              <a:gd name="T10" fmla="*/ 0 w 53"/>
              <a:gd name="T11" fmla="*/ 49213 h 37"/>
              <a:gd name="T12" fmla="*/ 0 w 53"/>
              <a:gd name="T13" fmla="*/ 58738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" h="37">
                <a:moveTo>
                  <a:pt x="0" y="37"/>
                </a:moveTo>
                <a:lnTo>
                  <a:pt x="53" y="37"/>
                </a:lnTo>
                <a:lnTo>
                  <a:pt x="53" y="0"/>
                </a:lnTo>
                <a:lnTo>
                  <a:pt x="44" y="0"/>
                </a:lnTo>
                <a:lnTo>
                  <a:pt x="44" y="31"/>
                </a:lnTo>
                <a:lnTo>
                  <a:pt x="0" y="31"/>
                </a:lnTo>
                <a:lnTo>
                  <a:pt x="0" y="37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5" name="Freeform 530"/>
          <p:cNvSpPr/>
          <p:nvPr/>
        </p:nvSpPr>
        <p:spPr bwMode="auto">
          <a:xfrm>
            <a:off x="1745927" y="3817794"/>
            <a:ext cx="52388" cy="36910"/>
          </a:xfrm>
          <a:custGeom>
            <a:avLst/>
            <a:gdLst>
              <a:gd name="T0" fmla="*/ 0 w 44"/>
              <a:gd name="T1" fmla="*/ 49213 h 31"/>
              <a:gd name="T2" fmla="*/ 69850 w 44"/>
              <a:gd name="T3" fmla="*/ 49213 h 31"/>
              <a:gd name="T4" fmla="*/ 69850 w 44"/>
              <a:gd name="T5" fmla="*/ 0 h 31"/>
              <a:gd name="T6" fmla="*/ 53975 w 44"/>
              <a:gd name="T7" fmla="*/ 0 h 31"/>
              <a:gd name="T8" fmla="*/ 53975 w 44"/>
              <a:gd name="T9" fmla="*/ 38100 h 31"/>
              <a:gd name="T10" fmla="*/ 0 w 44"/>
              <a:gd name="T11" fmla="*/ 38100 h 31"/>
              <a:gd name="T12" fmla="*/ 0 w 44"/>
              <a:gd name="T13" fmla="*/ 49213 h 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44" y="0"/>
                </a:lnTo>
                <a:lnTo>
                  <a:pt x="34" y="0"/>
                </a:lnTo>
                <a:lnTo>
                  <a:pt x="34" y="24"/>
                </a:lnTo>
                <a:lnTo>
                  <a:pt x="0" y="24"/>
                </a:lnTo>
                <a:lnTo>
                  <a:pt x="0" y="31"/>
                </a:lnTo>
                <a:close/>
              </a:path>
            </a:pathLst>
          </a:custGeom>
          <a:solidFill>
            <a:srgbClr val="F3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6" name="Freeform 531"/>
          <p:cNvSpPr/>
          <p:nvPr/>
        </p:nvSpPr>
        <p:spPr bwMode="auto">
          <a:xfrm>
            <a:off x="1743546" y="3816604"/>
            <a:ext cx="42863" cy="29765"/>
          </a:xfrm>
          <a:custGeom>
            <a:avLst/>
            <a:gdLst>
              <a:gd name="T0" fmla="*/ 3175 w 36"/>
              <a:gd name="T1" fmla="*/ 39687 h 25"/>
              <a:gd name="T2" fmla="*/ 57150 w 36"/>
              <a:gd name="T3" fmla="*/ 39687 h 25"/>
              <a:gd name="T4" fmla="*/ 57150 w 36"/>
              <a:gd name="T5" fmla="*/ 1587 h 25"/>
              <a:gd name="T6" fmla="*/ 41275 w 36"/>
              <a:gd name="T7" fmla="*/ 0 h 25"/>
              <a:gd name="T8" fmla="*/ 41275 w 36"/>
              <a:gd name="T9" fmla="*/ 28575 h 25"/>
              <a:gd name="T10" fmla="*/ 0 w 36"/>
              <a:gd name="T11" fmla="*/ 28575 h 25"/>
              <a:gd name="T12" fmla="*/ 3175 w 36"/>
              <a:gd name="T13" fmla="*/ 39687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25">
                <a:moveTo>
                  <a:pt x="2" y="25"/>
                </a:moveTo>
                <a:lnTo>
                  <a:pt x="36" y="25"/>
                </a:lnTo>
                <a:lnTo>
                  <a:pt x="36" y="1"/>
                </a:lnTo>
                <a:lnTo>
                  <a:pt x="26" y="0"/>
                </a:lnTo>
                <a:lnTo>
                  <a:pt x="26" y="18"/>
                </a:lnTo>
                <a:lnTo>
                  <a:pt x="0" y="18"/>
                </a:lnTo>
                <a:lnTo>
                  <a:pt x="2" y="25"/>
                </a:lnTo>
                <a:close/>
              </a:path>
            </a:pathLst>
          </a:custGeom>
          <a:solidFill>
            <a:srgbClr val="F7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7" name="Freeform 532"/>
          <p:cNvSpPr/>
          <p:nvPr/>
        </p:nvSpPr>
        <p:spPr bwMode="auto">
          <a:xfrm>
            <a:off x="1743546" y="3816604"/>
            <a:ext cx="30956" cy="21431"/>
          </a:xfrm>
          <a:custGeom>
            <a:avLst/>
            <a:gdLst>
              <a:gd name="T0" fmla="*/ 0 w 26"/>
              <a:gd name="T1" fmla="*/ 28575 h 18"/>
              <a:gd name="T2" fmla="*/ 41275 w 26"/>
              <a:gd name="T3" fmla="*/ 28575 h 18"/>
              <a:gd name="T4" fmla="*/ 41275 w 26"/>
              <a:gd name="T5" fmla="*/ 0 h 18"/>
              <a:gd name="T6" fmla="*/ 22225 w 26"/>
              <a:gd name="T7" fmla="*/ 1588 h 18"/>
              <a:gd name="T8" fmla="*/ 22225 w 26"/>
              <a:gd name="T9" fmla="*/ 15875 h 18"/>
              <a:gd name="T10" fmla="*/ 3175 w 26"/>
              <a:gd name="T11" fmla="*/ 15875 h 18"/>
              <a:gd name="T12" fmla="*/ 0 w 26"/>
              <a:gd name="T13" fmla="*/ 28575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18">
                <a:moveTo>
                  <a:pt x="0" y="18"/>
                </a:moveTo>
                <a:lnTo>
                  <a:pt x="26" y="18"/>
                </a:lnTo>
                <a:lnTo>
                  <a:pt x="26" y="0"/>
                </a:lnTo>
                <a:lnTo>
                  <a:pt x="14" y="1"/>
                </a:lnTo>
                <a:lnTo>
                  <a:pt x="14" y="10"/>
                </a:lnTo>
                <a:lnTo>
                  <a:pt x="2" y="10"/>
                </a:lnTo>
                <a:lnTo>
                  <a:pt x="0" y="18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8" name="Freeform 533"/>
          <p:cNvSpPr/>
          <p:nvPr/>
        </p:nvSpPr>
        <p:spPr bwMode="auto">
          <a:xfrm>
            <a:off x="1743546" y="3816604"/>
            <a:ext cx="16669" cy="11906"/>
          </a:xfrm>
          <a:custGeom>
            <a:avLst/>
            <a:gdLst>
              <a:gd name="T0" fmla="*/ 3175 w 14"/>
              <a:gd name="T1" fmla="*/ 15875 h 10"/>
              <a:gd name="T2" fmla="*/ 22225 w 14"/>
              <a:gd name="T3" fmla="*/ 15875 h 10"/>
              <a:gd name="T4" fmla="*/ 22225 w 14"/>
              <a:gd name="T5" fmla="*/ 1588 h 10"/>
              <a:gd name="T6" fmla="*/ 3175 w 14"/>
              <a:gd name="T7" fmla="*/ 0 h 10"/>
              <a:gd name="T8" fmla="*/ 3175 w 14"/>
              <a:gd name="T9" fmla="*/ 1588 h 10"/>
              <a:gd name="T10" fmla="*/ 0 w 14"/>
              <a:gd name="T11" fmla="*/ 1588 h 10"/>
              <a:gd name="T12" fmla="*/ 3175 w 14"/>
              <a:gd name="T13" fmla="*/ 15875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2" y="10"/>
                </a:moveTo>
                <a:lnTo>
                  <a:pt x="14" y="10"/>
                </a:lnTo>
                <a:lnTo>
                  <a:pt x="14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2" y="1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69" name="Freeform 534"/>
          <p:cNvSpPr/>
          <p:nvPr/>
        </p:nvSpPr>
        <p:spPr bwMode="auto">
          <a:xfrm>
            <a:off x="1743546" y="3816604"/>
            <a:ext cx="2381" cy="1190"/>
          </a:xfrm>
          <a:custGeom>
            <a:avLst/>
            <a:gdLst>
              <a:gd name="T0" fmla="*/ 0 w 2"/>
              <a:gd name="T1" fmla="*/ 1587 h 1"/>
              <a:gd name="T2" fmla="*/ 3175 w 2"/>
              <a:gd name="T3" fmla="*/ 1587 h 1"/>
              <a:gd name="T4" fmla="*/ 3175 w 2"/>
              <a:gd name="T5" fmla="*/ 0 h 1"/>
              <a:gd name="T6" fmla="*/ 3175 w 2"/>
              <a:gd name="T7" fmla="*/ 1587 h 1"/>
              <a:gd name="T8" fmla="*/ 3175 w 2"/>
              <a:gd name="T9" fmla="*/ 1587 h 1"/>
              <a:gd name="T10" fmla="*/ 3175 w 2"/>
              <a:gd name="T11" fmla="*/ 1587 h 1"/>
              <a:gd name="T12" fmla="*/ 0 w 2"/>
              <a:gd name="T13" fmla="*/ 1587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0" name="Freeform 535"/>
          <p:cNvSpPr/>
          <p:nvPr/>
        </p:nvSpPr>
        <p:spPr bwMode="auto">
          <a:xfrm>
            <a:off x="1729259" y="3803507"/>
            <a:ext cx="273844" cy="203597"/>
          </a:xfrm>
          <a:custGeom>
            <a:avLst/>
            <a:gdLst>
              <a:gd name="T0" fmla="*/ 365125 w 230"/>
              <a:gd name="T1" fmla="*/ 0 h 171"/>
              <a:gd name="T2" fmla="*/ 0 w 230"/>
              <a:gd name="T3" fmla="*/ 0 h 171"/>
              <a:gd name="T4" fmla="*/ 0 w 230"/>
              <a:gd name="T5" fmla="*/ 271463 h 171"/>
              <a:gd name="T6" fmla="*/ 6350 w 230"/>
              <a:gd name="T7" fmla="*/ 271463 h 171"/>
              <a:gd name="T8" fmla="*/ 6350 w 230"/>
              <a:gd name="T9" fmla="*/ 3175 h 171"/>
              <a:gd name="T10" fmla="*/ 365125 w 230"/>
              <a:gd name="T11" fmla="*/ 3175 h 171"/>
              <a:gd name="T12" fmla="*/ 365125 w 230"/>
              <a:gd name="T13" fmla="*/ 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0" h="171">
                <a:moveTo>
                  <a:pt x="230" y="0"/>
                </a:moveTo>
                <a:lnTo>
                  <a:pt x="0" y="0"/>
                </a:lnTo>
                <a:lnTo>
                  <a:pt x="0" y="171"/>
                </a:lnTo>
                <a:lnTo>
                  <a:pt x="4" y="171"/>
                </a:lnTo>
                <a:lnTo>
                  <a:pt x="4" y="2"/>
                </a:lnTo>
                <a:lnTo>
                  <a:pt x="230" y="2"/>
                </a:lnTo>
                <a:lnTo>
                  <a:pt x="23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1" name="Freeform 536"/>
          <p:cNvSpPr/>
          <p:nvPr/>
        </p:nvSpPr>
        <p:spPr bwMode="auto">
          <a:xfrm>
            <a:off x="1734021" y="3805888"/>
            <a:ext cx="269081" cy="201216"/>
          </a:xfrm>
          <a:custGeom>
            <a:avLst/>
            <a:gdLst>
              <a:gd name="T0" fmla="*/ 358775 w 226"/>
              <a:gd name="T1" fmla="*/ 0 h 169"/>
              <a:gd name="T2" fmla="*/ 0 w 226"/>
              <a:gd name="T3" fmla="*/ 0 h 169"/>
              <a:gd name="T4" fmla="*/ 0 w 226"/>
              <a:gd name="T5" fmla="*/ 268288 h 169"/>
              <a:gd name="T6" fmla="*/ 7938 w 226"/>
              <a:gd name="T7" fmla="*/ 268288 h 169"/>
              <a:gd name="T8" fmla="*/ 7938 w 226"/>
              <a:gd name="T9" fmla="*/ 6350 h 169"/>
              <a:gd name="T10" fmla="*/ 358775 w 226"/>
              <a:gd name="T11" fmla="*/ 6350 h 169"/>
              <a:gd name="T12" fmla="*/ 358775 w 226"/>
              <a:gd name="T13" fmla="*/ 0 h 1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" h="169">
                <a:moveTo>
                  <a:pt x="226" y="0"/>
                </a:moveTo>
                <a:lnTo>
                  <a:pt x="0" y="0"/>
                </a:lnTo>
                <a:lnTo>
                  <a:pt x="0" y="169"/>
                </a:lnTo>
                <a:lnTo>
                  <a:pt x="5" y="169"/>
                </a:lnTo>
                <a:lnTo>
                  <a:pt x="5" y="4"/>
                </a:lnTo>
                <a:lnTo>
                  <a:pt x="226" y="4"/>
                </a:lnTo>
                <a:lnTo>
                  <a:pt x="226" y="0"/>
                </a:lnTo>
                <a:close/>
              </a:path>
            </a:pathLst>
          </a:custGeom>
          <a:solidFill>
            <a:srgbClr val="9D9D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2" name="Freeform 537"/>
          <p:cNvSpPr/>
          <p:nvPr/>
        </p:nvSpPr>
        <p:spPr bwMode="auto">
          <a:xfrm>
            <a:off x="1739973" y="3810650"/>
            <a:ext cx="263129" cy="196454"/>
          </a:xfrm>
          <a:custGeom>
            <a:avLst/>
            <a:gdLst>
              <a:gd name="T0" fmla="*/ 350838 w 221"/>
              <a:gd name="T1" fmla="*/ 0 h 165"/>
              <a:gd name="T2" fmla="*/ 0 w 221"/>
              <a:gd name="T3" fmla="*/ 0 h 165"/>
              <a:gd name="T4" fmla="*/ 0 w 221"/>
              <a:gd name="T5" fmla="*/ 261938 h 165"/>
              <a:gd name="T6" fmla="*/ 7938 w 221"/>
              <a:gd name="T7" fmla="*/ 261938 h 165"/>
              <a:gd name="T8" fmla="*/ 7938 w 221"/>
              <a:gd name="T9" fmla="*/ 6350 h 165"/>
              <a:gd name="T10" fmla="*/ 350838 w 221"/>
              <a:gd name="T11" fmla="*/ 6350 h 165"/>
              <a:gd name="T12" fmla="*/ 350838 w 221"/>
              <a:gd name="T13" fmla="*/ 0 h 1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1" h="165">
                <a:moveTo>
                  <a:pt x="221" y="0"/>
                </a:moveTo>
                <a:lnTo>
                  <a:pt x="0" y="0"/>
                </a:lnTo>
                <a:lnTo>
                  <a:pt x="0" y="165"/>
                </a:lnTo>
                <a:lnTo>
                  <a:pt x="5" y="165"/>
                </a:lnTo>
                <a:lnTo>
                  <a:pt x="5" y="4"/>
                </a:lnTo>
                <a:lnTo>
                  <a:pt x="221" y="4"/>
                </a:lnTo>
                <a:lnTo>
                  <a:pt x="221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3" name="Freeform 538"/>
          <p:cNvSpPr/>
          <p:nvPr/>
        </p:nvSpPr>
        <p:spPr bwMode="auto">
          <a:xfrm>
            <a:off x="1745927" y="3815413"/>
            <a:ext cx="257175" cy="191691"/>
          </a:xfrm>
          <a:custGeom>
            <a:avLst/>
            <a:gdLst>
              <a:gd name="T0" fmla="*/ 342900 w 216"/>
              <a:gd name="T1" fmla="*/ 0 h 161"/>
              <a:gd name="T2" fmla="*/ 0 w 216"/>
              <a:gd name="T3" fmla="*/ 0 h 161"/>
              <a:gd name="T4" fmla="*/ 0 w 216"/>
              <a:gd name="T5" fmla="*/ 255588 h 161"/>
              <a:gd name="T6" fmla="*/ 7938 w 216"/>
              <a:gd name="T7" fmla="*/ 255588 h 161"/>
              <a:gd name="T8" fmla="*/ 7938 w 216"/>
              <a:gd name="T9" fmla="*/ 4763 h 161"/>
              <a:gd name="T10" fmla="*/ 342900 w 216"/>
              <a:gd name="T11" fmla="*/ 4763 h 161"/>
              <a:gd name="T12" fmla="*/ 342900 w 216"/>
              <a:gd name="T13" fmla="*/ 0 h 1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61">
                <a:moveTo>
                  <a:pt x="216" y="0"/>
                </a:moveTo>
                <a:lnTo>
                  <a:pt x="0" y="0"/>
                </a:lnTo>
                <a:lnTo>
                  <a:pt x="0" y="161"/>
                </a:lnTo>
                <a:lnTo>
                  <a:pt x="5" y="161"/>
                </a:lnTo>
                <a:lnTo>
                  <a:pt x="5" y="3"/>
                </a:lnTo>
                <a:lnTo>
                  <a:pt x="216" y="3"/>
                </a:lnTo>
                <a:lnTo>
                  <a:pt x="216" y="0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4" name="Freeform 539"/>
          <p:cNvSpPr/>
          <p:nvPr/>
        </p:nvSpPr>
        <p:spPr bwMode="auto">
          <a:xfrm>
            <a:off x="1751880" y="3818985"/>
            <a:ext cx="251222" cy="188119"/>
          </a:xfrm>
          <a:custGeom>
            <a:avLst/>
            <a:gdLst>
              <a:gd name="T0" fmla="*/ 334963 w 211"/>
              <a:gd name="T1" fmla="*/ 0 h 158"/>
              <a:gd name="T2" fmla="*/ 0 w 211"/>
              <a:gd name="T3" fmla="*/ 0 h 158"/>
              <a:gd name="T4" fmla="*/ 0 w 211"/>
              <a:gd name="T5" fmla="*/ 250825 h 158"/>
              <a:gd name="T6" fmla="*/ 7938 w 211"/>
              <a:gd name="T7" fmla="*/ 250825 h 158"/>
              <a:gd name="T8" fmla="*/ 7938 w 211"/>
              <a:gd name="T9" fmla="*/ 6350 h 158"/>
              <a:gd name="T10" fmla="*/ 334963 w 211"/>
              <a:gd name="T11" fmla="*/ 6350 h 158"/>
              <a:gd name="T12" fmla="*/ 334963 w 211"/>
              <a:gd name="T13" fmla="*/ 0 h 15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1" h="158">
                <a:moveTo>
                  <a:pt x="211" y="0"/>
                </a:moveTo>
                <a:lnTo>
                  <a:pt x="0" y="0"/>
                </a:lnTo>
                <a:lnTo>
                  <a:pt x="0" y="158"/>
                </a:lnTo>
                <a:lnTo>
                  <a:pt x="5" y="158"/>
                </a:lnTo>
                <a:lnTo>
                  <a:pt x="5" y="4"/>
                </a:lnTo>
                <a:lnTo>
                  <a:pt x="211" y="4"/>
                </a:lnTo>
                <a:lnTo>
                  <a:pt x="21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5" name="Freeform 540"/>
          <p:cNvSpPr/>
          <p:nvPr/>
        </p:nvSpPr>
        <p:spPr bwMode="auto">
          <a:xfrm>
            <a:off x="1757834" y="3823748"/>
            <a:ext cx="245269" cy="183356"/>
          </a:xfrm>
          <a:custGeom>
            <a:avLst/>
            <a:gdLst>
              <a:gd name="T0" fmla="*/ 327025 w 206"/>
              <a:gd name="T1" fmla="*/ 0 h 154"/>
              <a:gd name="T2" fmla="*/ 0 w 206"/>
              <a:gd name="T3" fmla="*/ 0 h 154"/>
              <a:gd name="T4" fmla="*/ 0 w 206"/>
              <a:gd name="T5" fmla="*/ 244475 h 154"/>
              <a:gd name="T6" fmla="*/ 7938 w 206"/>
              <a:gd name="T7" fmla="*/ 244475 h 154"/>
              <a:gd name="T8" fmla="*/ 7938 w 206"/>
              <a:gd name="T9" fmla="*/ 6350 h 154"/>
              <a:gd name="T10" fmla="*/ 327025 w 206"/>
              <a:gd name="T11" fmla="*/ 6350 h 154"/>
              <a:gd name="T12" fmla="*/ 327025 w 206"/>
              <a:gd name="T13" fmla="*/ 0 h 1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6" h="154">
                <a:moveTo>
                  <a:pt x="206" y="0"/>
                </a:moveTo>
                <a:lnTo>
                  <a:pt x="0" y="0"/>
                </a:lnTo>
                <a:lnTo>
                  <a:pt x="0" y="154"/>
                </a:lnTo>
                <a:lnTo>
                  <a:pt x="5" y="154"/>
                </a:lnTo>
                <a:lnTo>
                  <a:pt x="5" y="4"/>
                </a:lnTo>
                <a:lnTo>
                  <a:pt x="206" y="4"/>
                </a:lnTo>
                <a:lnTo>
                  <a:pt x="206" y="0"/>
                </a:lnTo>
                <a:close/>
              </a:path>
            </a:pathLst>
          </a:custGeom>
          <a:solidFill>
            <a:srgbClr val="A9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6" name="Freeform 541"/>
          <p:cNvSpPr/>
          <p:nvPr/>
        </p:nvSpPr>
        <p:spPr bwMode="auto">
          <a:xfrm>
            <a:off x="1763786" y="3828510"/>
            <a:ext cx="239316" cy="178594"/>
          </a:xfrm>
          <a:custGeom>
            <a:avLst/>
            <a:gdLst>
              <a:gd name="T0" fmla="*/ 319088 w 201"/>
              <a:gd name="T1" fmla="*/ 0 h 150"/>
              <a:gd name="T2" fmla="*/ 0 w 201"/>
              <a:gd name="T3" fmla="*/ 0 h 150"/>
              <a:gd name="T4" fmla="*/ 0 w 201"/>
              <a:gd name="T5" fmla="*/ 238125 h 150"/>
              <a:gd name="T6" fmla="*/ 7938 w 201"/>
              <a:gd name="T7" fmla="*/ 238125 h 150"/>
              <a:gd name="T8" fmla="*/ 7938 w 201"/>
              <a:gd name="T9" fmla="*/ 6350 h 150"/>
              <a:gd name="T10" fmla="*/ 319088 w 201"/>
              <a:gd name="T11" fmla="*/ 6350 h 150"/>
              <a:gd name="T12" fmla="*/ 319088 w 201"/>
              <a:gd name="T13" fmla="*/ 0 h 15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1" h="150">
                <a:moveTo>
                  <a:pt x="201" y="0"/>
                </a:moveTo>
                <a:lnTo>
                  <a:pt x="0" y="0"/>
                </a:lnTo>
                <a:lnTo>
                  <a:pt x="0" y="150"/>
                </a:lnTo>
                <a:lnTo>
                  <a:pt x="5" y="150"/>
                </a:lnTo>
                <a:lnTo>
                  <a:pt x="5" y="4"/>
                </a:lnTo>
                <a:lnTo>
                  <a:pt x="201" y="4"/>
                </a:lnTo>
                <a:lnTo>
                  <a:pt x="201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7" name="Freeform 542"/>
          <p:cNvSpPr/>
          <p:nvPr/>
        </p:nvSpPr>
        <p:spPr bwMode="auto">
          <a:xfrm>
            <a:off x="1769739" y="3833273"/>
            <a:ext cx="233363" cy="173831"/>
          </a:xfrm>
          <a:custGeom>
            <a:avLst/>
            <a:gdLst>
              <a:gd name="T0" fmla="*/ 311150 w 196"/>
              <a:gd name="T1" fmla="*/ 0 h 146"/>
              <a:gd name="T2" fmla="*/ 0 w 196"/>
              <a:gd name="T3" fmla="*/ 0 h 146"/>
              <a:gd name="T4" fmla="*/ 0 w 196"/>
              <a:gd name="T5" fmla="*/ 231775 h 146"/>
              <a:gd name="T6" fmla="*/ 7938 w 196"/>
              <a:gd name="T7" fmla="*/ 231775 h 146"/>
              <a:gd name="T8" fmla="*/ 7938 w 196"/>
              <a:gd name="T9" fmla="*/ 6350 h 146"/>
              <a:gd name="T10" fmla="*/ 311150 w 196"/>
              <a:gd name="T11" fmla="*/ 6350 h 146"/>
              <a:gd name="T12" fmla="*/ 311150 w 196"/>
              <a:gd name="T13" fmla="*/ 0 h 1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6" h="146">
                <a:moveTo>
                  <a:pt x="196" y="0"/>
                </a:moveTo>
                <a:lnTo>
                  <a:pt x="0" y="0"/>
                </a:lnTo>
                <a:lnTo>
                  <a:pt x="0" y="146"/>
                </a:lnTo>
                <a:lnTo>
                  <a:pt x="5" y="146"/>
                </a:lnTo>
                <a:lnTo>
                  <a:pt x="5" y="4"/>
                </a:lnTo>
                <a:lnTo>
                  <a:pt x="196" y="4"/>
                </a:lnTo>
                <a:lnTo>
                  <a:pt x="196" y="0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8" name="Freeform 543"/>
          <p:cNvSpPr/>
          <p:nvPr/>
        </p:nvSpPr>
        <p:spPr bwMode="auto">
          <a:xfrm>
            <a:off x="1775693" y="3838035"/>
            <a:ext cx="227410" cy="169069"/>
          </a:xfrm>
          <a:custGeom>
            <a:avLst/>
            <a:gdLst>
              <a:gd name="T0" fmla="*/ 303213 w 191"/>
              <a:gd name="T1" fmla="*/ 0 h 142"/>
              <a:gd name="T2" fmla="*/ 0 w 191"/>
              <a:gd name="T3" fmla="*/ 0 h 142"/>
              <a:gd name="T4" fmla="*/ 0 w 191"/>
              <a:gd name="T5" fmla="*/ 225425 h 142"/>
              <a:gd name="T6" fmla="*/ 7938 w 191"/>
              <a:gd name="T7" fmla="*/ 225425 h 142"/>
              <a:gd name="T8" fmla="*/ 7938 w 191"/>
              <a:gd name="T9" fmla="*/ 4763 h 142"/>
              <a:gd name="T10" fmla="*/ 303213 w 191"/>
              <a:gd name="T11" fmla="*/ 4763 h 142"/>
              <a:gd name="T12" fmla="*/ 303213 w 191"/>
              <a:gd name="T13" fmla="*/ 0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1" h="142">
                <a:moveTo>
                  <a:pt x="191" y="0"/>
                </a:moveTo>
                <a:lnTo>
                  <a:pt x="0" y="0"/>
                </a:lnTo>
                <a:lnTo>
                  <a:pt x="0" y="142"/>
                </a:lnTo>
                <a:lnTo>
                  <a:pt x="5" y="142"/>
                </a:lnTo>
                <a:lnTo>
                  <a:pt x="5" y="3"/>
                </a:lnTo>
                <a:lnTo>
                  <a:pt x="191" y="3"/>
                </a:lnTo>
                <a:lnTo>
                  <a:pt x="191" y="0"/>
                </a:lnTo>
                <a:close/>
              </a:path>
            </a:pathLst>
          </a:custGeom>
          <a:solidFill>
            <a:srgbClr val="B1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79" name="Freeform 544"/>
          <p:cNvSpPr/>
          <p:nvPr/>
        </p:nvSpPr>
        <p:spPr bwMode="auto">
          <a:xfrm>
            <a:off x="1781646" y="3841607"/>
            <a:ext cx="221456" cy="165497"/>
          </a:xfrm>
          <a:custGeom>
            <a:avLst/>
            <a:gdLst>
              <a:gd name="T0" fmla="*/ 295275 w 186"/>
              <a:gd name="T1" fmla="*/ 0 h 139"/>
              <a:gd name="T2" fmla="*/ 0 w 186"/>
              <a:gd name="T3" fmla="*/ 0 h 139"/>
              <a:gd name="T4" fmla="*/ 0 w 186"/>
              <a:gd name="T5" fmla="*/ 220663 h 139"/>
              <a:gd name="T6" fmla="*/ 7938 w 186"/>
              <a:gd name="T7" fmla="*/ 220663 h 139"/>
              <a:gd name="T8" fmla="*/ 7938 w 186"/>
              <a:gd name="T9" fmla="*/ 6350 h 139"/>
              <a:gd name="T10" fmla="*/ 295275 w 186"/>
              <a:gd name="T11" fmla="*/ 6350 h 139"/>
              <a:gd name="T12" fmla="*/ 295275 w 186"/>
              <a:gd name="T13" fmla="*/ 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9">
                <a:moveTo>
                  <a:pt x="186" y="0"/>
                </a:moveTo>
                <a:lnTo>
                  <a:pt x="0" y="0"/>
                </a:lnTo>
                <a:lnTo>
                  <a:pt x="0" y="139"/>
                </a:lnTo>
                <a:lnTo>
                  <a:pt x="5" y="139"/>
                </a:lnTo>
                <a:lnTo>
                  <a:pt x="5" y="4"/>
                </a:lnTo>
                <a:lnTo>
                  <a:pt x="186" y="4"/>
                </a:lnTo>
                <a:lnTo>
                  <a:pt x="186" y="0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0" name="Freeform 545"/>
          <p:cNvSpPr/>
          <p:nvPr/>
        </p:nvSpPr>
        <p:spPr bwMode="auto">
          <a:xfrm>
            <a:off x="1787598" y="3846369"/>
            <a:ext cx="215504" cy="160735"/>
          </a:xfrm>
          <a:custGeom>
            <a:avLst/>
            <a:gdLst>
              <a:gd name="T0" fmla="*/ 287338 w 181"/>
              <a:gd name="T1" fmla="*/ 0 h 135"/>
              <a:gd name="T2" fmla="*/ 0 w 181"/>
              <a:gd name="T3" fmla="*/ 0 h 135"/>
              <a:gd name="T4" fmla="*/ 0 w 181"/>
              <a:gd name="T5" fmla="*/ 214313 h 135"/>
              <a:gd name="T6" fmla="*/ 9525 w 181"/>
              <a:gd name="T7" fmla="*/ 214313 h 135"/>
              <a:gd name="T8" fmla="*/ 9525 w 181"/>
              <a:gd name="T9" fmla="*/ 6350 h 135"/>
              <a:gd name="T10" fmla="*/ 287338 w 181"/>
              <a:gd name="T11" fmla="*/ 6350 h 135"/>
              <a:gd name="T12" fmla="*/ 287338 w 181"/>
              <a:gd name="T13" fmla="*/ 0 h 13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1" h="135">
                <a:moveTo>
                  <a:pt x="181" y="0"/>
                </a:moveTo>
                <a:lnTo>
                  <a:pt x="0" y="0"/>
                </a:lnTo>
                <a:lnTo>
                  <a:pt x="0" y="135"/>
                </a:lnTo>
                <a:lnTo>
                  <a:pt x="6" y="135"/>
                </a:lnTo>
                <a:lnTo>
                  <a:pt x="6" y="4"/>
                </a:lnTo>
                <a:lnTo>
                  <a:pt x="181" y="4"/>
                </a:lnTo>
                <a:lnTo>
                  <a:pt x="181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1" name="Freeform 546"/>
          <p:cNvSpPr/>
          <p:nvPr/>
        </p:nvSpPr>
        <p:spPr bwMode="auto">
          <a:xfrm>
            <a:off x="1794743" y="3851132"/>
            <a:ext cx="208360" cy="155972"/>
          </a:xfrm>
          <a:custGeom>
            <a:avLst/>
            <a:gdLst>
              <a:gd name="T0" fmla="*/ 277813 w 175"/>
              <a:gd name="T1" fmla="*/ 0 h 131"/>
              <a:gd name="T2" fmla="*/ 0 w 175"/>
              <a:gd name="T3" fmla="*/ 0 h 131"/>
              <a:gd name="T4" fmla="*/ 0 w 175"/>
              <a:gd name="T5" fmla="*/ 207963 h 131"/>
              <a:gd name="T6" fmla="*/ 9525 w 175"/>
              <a:gd name="T7" fmla="*/ 207963 h 131"/>
              <a:gd name="T8" fmla="*/ 9525 w 175"/>
              <a:gd name="T9" fmla="*/ 6350 h 131"/>
              <a:gd name="T10" fmla="*/ 277813 w 175"/>
              <a:gd name="T11" fmla="*/ 6350 h 131"/>
              <a:gd name="T12" fmla="*/ 277813 w 175"/>
              <a:gd name="T13" fmla="*/ 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5" h="131">
                <a:moveTo>
                  <a:pt x="175" y="0"/>
                </a:moveTo>
                <a:lnTo>
                  <a:pt x="0" y="0"/>
                </a:lnTo>
                <a:lnTo>
                  <a:pt x="0" y="131"/>
                </a:lnTo>
                <a:lnTo>
                  <a:pt x="6" y="131"/>
                </a:lnTo>
                <a:lnTo>
                  <a:pt x="6" y="4"/>
                </a:lnTo>
                <a:lnTo>
                  <a:pt x="175" y="4"/>
                </a:lnTo>
                <a:lnTo>
                  <a:pt x="175" y="0"/>
                </a:lnTo>
                <a:close/>
              </a:path>
            </a:pathLst>
          </a:custGeom>
          <a:solidFill>
            <a:srgbClr val="B8B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2" name="Freeform 547"/>
          <p:cNvSpPr/>
          <p:nvPr/>
        </p:nvSpPr>
        <p:spPr bwMode="auto">
          <a:xfrm>
            <a:off x="1801886" y="3855894"/>
            <a:ext cx="201216" cy="151210"/>
          </a:xfrm>
          <a:custGeom>
            <a:avLst/>
            <a:gdLst>
              <a:gd name="T0" fmla="*/ 268288 w 169"/>
              <a:gd name="T1" fmla="*/ 0 h 127"/>
              <a:gd name="T2" fmla="*/ 0 w 169"/>
              <a:gd name="T3" fmla="*/ 0 h 127"/>
              <a:gd name="T4" fmla="*/ 0 w 169"/>
              <a:gd name="T5" fmla="*/ 201613 h 127"/>
              <a:gd name="T6" fmla="*/ 9525 w 169"/>
              <a:gd name="T7" fmla="*/ 201613 h 127"/>
              <a:gd name="T8" fmla="*/ 9525 w 169"/>
              <a:gd name="T9" fmla="*/ 7938 h 127"/>
              <a:gd name="T10" fmla="*/ 268288 w 169"/>
              <a:gd name="T11" fmla="*/ 7938 h 127"/>
              <a:gd name="T12" fmla="*/ 268288 w 169"/>
              <a:gd name="T13" fmla="*/ 0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9" h="127">
                <a:moveTo>
                  <a:pt x="169" y="0"/>
                </a:moveTo>
                <a:lnTo>
                  <a:pt x="0" y="0"/>
                </a:lnTo>
                <a:lnTo>
                  <a:pt x="0" y="127"/>
                </a:lnTo>
                <a:lnTo>
                  <a:pt x="6" y="127"/>
                </a:lnTo>
                <a:lnTo>
                  <a:pt x="6" y="5"/>
                </a:lnTo>
                <a:lnTo>
                  <a:pt x="169" y="5"/>
                </a:lnTo>
                <a:lnTo>
                  <a:pt x="169" y="0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3" name="Freeform 548"/>
          <p:cNvSpPr/>
          <p:nvPr/>
        </p:nvSpPr>
        <p:spPr bwMode="auto">
          <a:xfrm>
            <a:off x="1809030" y="3861848"/>
            <a:ext cx="194072" cy="145256"/>
          </a:xfrm>
          <a:custGeom>
            <a:avLst/>
            <a:gdLst>
              <a:gd name="T0" fmla="*/ 258763 w 163"/>
              <a:gd name="T1" fmla="*/ 0 h 122"/>
              <a:gd name="T2" fmla="*/ 0 w 163"/>
              <a:gd name="T3" fmla="*/ 0 h 122"/>
              <a:gd name="T4" fmla="*/ 0 w 163"/>
              <a:gd name="T5" fmla="*/ 193675 h 122"/>
              <a:gd name="T6" fmla="*/ 7938 w 163"/>
              <a:gd name="T7" fmla="*/ 193675 h 122"/>
              <a:gd name="T8" fmla="*/ 7938 w 163"/>
              <a:gd name="T9" fmla="*/ 6350 h 122"/>
              <a:gd name="T10" fmla="*/ 258763 w 163"/>
              <a:gd name="T11" fmla="*/ 6350 h 122"/>
              <a:gd name="T12" fmla="*/ 258763 w 163"/>
              <a:gd name="T13" fmla="*/ 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3" h="122">
                <a:moveTo>
                  <a:pt x="163" y="0"/>
                </a:moveTo>
                <a:lnTo>
                  <a:pt x="0" y="0"/>
                </a:lnTo>
                <a:lnTo>
                  <a:pt x="0" y="122"/>
                </a:lnTo>
                <a:lnTo>
                  <a:pt x="5" y="122"/>
                </a:lnTo>
                <a:lnTo>
                  <a:pt x="5" y="4"/>
                </a:lnTo>
                <a:lnTo>
                  <a:pt x="163" y="4"/>
                </a:lnTo>
                <a:lnTo>
                  <a:pt x="16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4" name="Freeform 549"/>
          <p:cNvSpPr/>
          <p:nvPr/>
        </p:nvSpPr>
        <p:spPr bwMode="auto">
          <a:xfrm>
            <a:off x="1814984" y="3866610"/>
            <a:ext cx="188119" cy="140494"/>
          </a:xfrm>
          <a:custGeom>
            <a:avLst/>
            <a:gdLst>
              <a:gd name="T0" fmla="*/ 250825 w 158"/>
              <a:gd name="T1" fmla="*/ 0 h 118"/>
              <a:gd name="T2" fmla="*/ 0 w 158"/>
              <a:gd name="T3" fmla="*/ 0 h 118"/>
              <a:gd name="T4" fmla="*/ 0 w 158"/>
              <a:gd name="T5" fmla="*/ 187325 h 118"/>
              <a:gd name="T6" fmla="*/ 9525 w 158"/>
              <a:gd name="T7" fmla="*/ 187325 h 118"/>
              <a:gd name="T8" fmla="*/ 9525 w 158"/>
              <a:gd name="T9" fmla="*/ 7938 h 118"/>
              <a:gd name="T10" fmla="*/ 250825 w 158"/>
              <a:gd name="T11" fmla="*/ 7938 h 118"/>
              <a:gd name="T12" fmla="*/ 250825 w 158"/>
              <a:gd name="T13" fmla="*/ 0 h 1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8">
                <a:moveTo>
                  <a:pt x="158" y="0"/>
                </a:moveTo>
                <a:lnTo>
                  <a:pt x="0" y="0"/>
                </a:lnTo>
                <a:lnTo>
                  <a:pt x="0" y="118"/>
                </a:lnTo>
                <a:lnTo>
                  <a:pt x="6" y="118"/>
                </a:lnTo>
                <a:lnTo>
                  <a:pt x="6" y="5"/>
                </a:lnTo>
                <a:lnTo>
                  <a:pt x="158" y="5"/>
                </a:lnTo>
                <a:lnTo>
                  <a:pt x="158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5" name="Freeform 550"/>
          <p:cNvSpPr/>
          <p:nvPr/>
        </p:nvSpPr>
        <p:spPr bwMode="auto">
          <a:xfrm>
            <a:off x="1822127" y="3872563"/>
            <a:ext cx="180975" cy="134541"/>
          </a:xfrm>
          <a:custGeom>
            <a:avLst/>
            <a:gdLst>
              <a:gd name="T0" fmla="*/ 241300 w 152"/>
              <a:gd name="T1" fmla="*/ 0 h 113"/>
              <a:gd name="T2" fmla="*/ 0 w 152"/>
              <a:gd name="T3" fmla="*/ 0 h 113"/>
              <a:gd name="T4" fmla="*/ 0 w 152"/>
              <a:gd name="T5" fmla="*/ 179388 h 113"/>
              <a:gd name="T6" fmla="*/ 11113 w 152"/>
              <a:gd name="T7" fmla="*/ 179388 h 113"/>
              <a:gd name="T8" fmla="*/ 11113 w 152"/>
              <a:gd name="T9" fmla="*/ 7938 h 113"/>
              <a:gd name="T10" fmla="*/ 241300 w 152"/>
              <a:gd name="T11" fmla="*/ 7938 h 113"/>
              <a:gd name="T12" fmla="*/ 241300 w 152"/>
              <a:gd name="T13" fmla="*/ 0 h 1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2" h="113">
                <a:moveTo>
                  <a:pt x="152" y="0"/>
                </a:moveTo>
                <a:lnTo>
                  <a:pt x="0" y="0"/>
                </a:lnTo>
                <a:lnTo>
                  <a:pt x="0" y="113"/>
                </a:lnTo>
                <a:lnTo>
                  <a:pt x="7" y="113"/>
                </a:lnTo>
                <a:lnTo>
                  <a:pt x="7" y="5"/>
                </a:lnTo>
                <a:lnTo>
                  <a:pt x="152" y="5"/>
                </a:lnTo>
                <a:lnTo>
                  <a:pt x="152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6" name="Freeform 551"/>
          <p:cNvSpPr/>
          <p:nvPr/>
        </p:nvSpPr>
        <p:spPr bwMode="auto">
          <a:xfrm>
            <a:off x="1830461" y="3878516"/>
            <a:ext cx="172641" cy="128588"/>
          </a:xfrm>
          <a:custGeom>
            <a:avLst/>
            <a:gdLst>
              <a:gd name="T0" fmla="*/ 230188 w 145"/>
              <a:gd name="T1" fmla="*/ 0 h 108"/>
              <a:gd name="T2" fmla="*/ 0 w 145"/>
              <a:gd name="T3" fmla="*/ 0 h 108"/>
              <a:gd name="T4" fmla="*/ 0 w 145"/>
              <a:gd name="T5" fmla="*/ 171450 h 108"/>
              <a:gd name="T6" fmla="*/ 11113 w 145"/>
              <a:gd name="T7" fmla="*/ 171450 h 108"/>
              <a:gd name="T8" fmla="*/ 11113 w 145"/>
              <a:gd name="T9" fmla="*/ 7938 h 108"/>
              <a:gd name="T10" fmla="*/ 230188 w 145"/>
              <a:gd name="T11" fmla="*/ 7938 h 108"/>
              <a:gd name="T12" fmla="*/ 230188 w 145"/>
              <a:gd name="T13" fmla="*/ 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" h="108">
                <a:moveTo>
                  <a:pt x="145" y="0"/>
                </a:moveTo>
                <a:lnTo>
                  <a:pt x="0" y="0"/>
                </a:lnTo>
                <a:lnTo>
                  <a:pt x="0" y="108"/>
                </a:lnTo>
                <a:lnTo>
                  <a:pt x="7" y="108"/>
                </a:lnTo>
                <a:lnTo>
                  <a:pt x="7" y="5"/>
                </a:lnTo>
                <a:lnTo>
                  <a:pt x="145" y="5"/>
                </a:lnTo>
                <a:lnTo>
                  <a:pt x="145" y="0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7" name="Freeform 552"/>
          <p:cNvSpPr/>
          <p:nvPr/>
        </p:nvSpPr>
        <p:spPr bwMode="auto">
          <a:xfrm>
            <a:off x="1838796" y="3884469"/>
            <a:ext cx="164306" cy="122635"/>
          </a:xfrm>
          <a:custGeom>
            <a:avLst/>
            <a:gdLst>
              <a:gd name="T0" fmla="*/ 219075 w 138"/>
              <a:gd name="T1" fmla="*/ 0 h 103"/>
              <a:gd name="T2" fmla="*/ 0 w 138"/>
              <a:gd name="T3" fmla="*/ 0 h 103"/>
              <a:gd name="T4" fmla="*/ 0 w 138"/>
              <a:gd name="T5" fmla="*/ 163513 h 103"/>
              <a:gd name="T6" fmla="*/ 11113 w 138"/>
              <a:gd name="T7" fmla="*/ 163513 h 103"/>
              <a:gd name="T8" fmla="*/ 11113 w 138"/>
              <a:gd name="T9" fmla="*/ 7938 h 103"/>
              <a:gd name="T10" fmla="*/ 219075 w 138"/>
              <a:gd name="T11" fmla="*/ 7938 h 103"/>
              <a:gd name="T12" fmla="*/ 219075 w 138"/>
              <a:gd name="T13" fmla="*/ 0 h 10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3">
                <a:moveTo>
                  <a:pt x="138" y="0"/>
                </a:moveTo>
                <a:lnTo>
                  <a:pt x="0" y="0"/>
                </a:lnTo>
                <a:lnTo>
                  <a:pt x="0" y="103"/>
                </a:lnTo>
                <a:lnTo>
                  <a:pt x="7" y="103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8" name="Freeform 553"/>
          <p:cNvSpPr/>
          <p:nvPr/>
        </p:nvSpPr>
        <p:spPr bwMode="auto">
          <a:xfrm>
            <a:off x="1847130" y="3890423"/>
            <a:ext cx="155972" cy="116681"/>
          </a:xfrm>
          <a:custGeom>
            <a:avLst/>
            <a:gdLst>
              <a:gd name="T0" fmla="*/ 207963 w 131"/>
              <a:gd name="T1" fmla="*/ 0 h 98"/>
              <a:gd name="T2" fmla="*/ 0 w 131"/>
              <a:gd name="T3" fmla="*/ 0 h 98"/>
              <a:gd name="T4" fmla="*/ 0 w 131"/>
              <a:gd name="T5" fmla="*/ 155575 h 98"/>
              <a:gd name="T6" fmla="*/ 11113 w 131"/>
              <a:gd name="T7" fmla="*/ 155575 h 98"/>
              <a:gd name="T8" fmla="*/ 11113 w 131"/>
              <a:gd name="T9" fmla="*/ 7938 h 98"/>
              <a:gd name="T10" fmla="*/ 207963 w 131"/>
              <a:gd name="T11" fmla="*/ 7938 h 98"/>
              <a:gd name="T12" fmla="*/ 207963 w 131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8">
                <a:moveTo>
                  <a:pt x="131" y="0"/>
                </a:moveTo>
                <a:lnTo>
                  <a:pt x="0" y="0"/>
                </a:lnTo>
                <a:lnTo>
                  <a:pt x="0" y="98"/>
                </a:lnTo>
                <a:lnTo>
                  <a:pt x="7" y="98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89" name="Freeform 554"/>
          <p:cNvSpPr/>
          <p:nvPr/>
        </p:nvSpPr>
        <p:spPr bwMode="auto">
          <a:xfrm>
            <a:off x="1855464" y="3896375"/>
            <a:ext cx="147638" cy="110729"/>
          </a:xfrm>
          <a:custGeom>
            <a:avLst/>
            <a:gdLst>
              <a:gd name="T0" fmla="*/ 196850 w 124"/>
              <a:gd name="T1" fmla="*/ 0 h 93"/>
              <a:gd name="T2" fmla="*/ 0 w 124"/>
              <a:gd name="T3" fmla="*/ 0 h 93"/>
              <a:gd name="T4" fmla="*/ 0 w 124"/>
              <a:gd name="T5" fmla="*/ 147638 h 93"/>
              <a:gd name="T6" fmla="*/ 12700 w 124"/>
              <a:gd name="T7" fmla="*/ 147638 h 93"/>
              <a:gd name="T8" fmla="*/ 12700 w 124"/>
              <a:gd name="T9" fmla="*/ 9525 h 93"/>
              <a:gd name="T10" fmla="*/ 196850 w 124"/>
              <a:gd name="T11" fmla="*/ 9525 h 93"/>
              <a:gd name="T12" fmla="*/ 196850 w 124"/>
              <a:gd name="T13" fmla="*/ 0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3">
                <a:moveTo>
                  <a:pt x="124" y="0"/>
                </a:moveTo>
                <a:lnTo>
                  <a:pt x="0" y="0"/>
                </a:lnTo>
                <a:lnTo>
                  <a:pt x="0" y="93"/>
                </a:lnTo>
                <a:lnTo>
                  <a:pt x="8" y="93"/>
                </a:lnTo>
                <a:lnTo>
                  <a:pt x="8" y="6"/>
                </a:lnTo>
                <a:lnTo>
                  <a:pt x="124" y="6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0" name="Freeform 555"/>
          <p:cNvSpPr/>
          <p:nvPr/>
        </p:nvSpPr>
        <p:spPr bwMode="auto">
          <a:xfrm>
            <a:off x="1864989" y="3903519"/>
            <a:ext cx="138113" cy="103585"/>
          </a:xfrm>
          <a:custGeom>
            <a:avLst/>
            <a:gdLst>
              <a:gd name="T0" fmla="*/ 184150 w 116"/>
              <a:gd name="T1" fmla="*/ 0 h 87"/>
              <a:gd name="T2" fmla="*/ 0 w 116"/>
              <a:gd name="T3" fmla="*/ 0 h 87"/>
              <a:gd name="T4" fmla="*/ 0 w 116"/>
              <a:gd name="T5" fmla="*/ 138113 h 87"/>
              <a:gd name="T6" fmla="*/ 14288 w 116"/>
              <a:gd name="T7" fmla="*/ 134938 h 87"/>
              <a:gd name="T8" fmla="*/ 14288 w 116"/>
              <a:gd name="T9" fmla="*/ 11113 h 87"/>
              <a:gd name="T10" fmla="*/ 182563 w 116"/>
              <a:gd name="T11" fmla="*/ 11113 h 87"/>
              <a:gd name="T12" fmla="*/ 184150 w 116"/>
              <a:gd name="T13" fmla="*/ 0 h 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7">
                <a:moveTo>
                  <a:pt x="116" y="0"/>
                </a:moveTo>
                <a:lnTo>
                  <a:pt x="0" y="0"/>
                </a:lnTo>
                <a:lnTo>
                  <a:pt x="0" y="87"/>
                </a:lnTo>
                <a:lnTo>
                  <a:pt x="9" y="85"/>
                </a:lnTo>
                <a:lnTo>
                  <a:pt x="9" y="7"/>
                </a:lnTo>
                <a:lnTo>
                  <a:pt x="115" y="7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1" name="Freeform 556"/>
          <p:cNvSpPr/>
          <p:nvPr/>
        </p:nvSpPr>
        <p:spPr bwMode="auto">
          <a:xfrm>
            <a:off x="1875705" y="3911854"/>
            <a:ext cx="126206" cy="92869"/>
          </a:xfrm>
          <a:custGeom>
            <a:avLst/>
            <a:gdLst>
              <a:gd name="T0" fmla="*/ 168275 w 106"/>
              <a:gd name="T1" fmla="*/ 0 h 78"/>
              <a:gd name="T2" fmla="*/ 0 w 106"/>
              <a:gd name="T3" fmla="*/ 0 h 78"/>
              <a:gd name="T4" fmla="*/ 0 w 106"/>
              <a:gd name="T5" fmla="*/ 123825 h 78"/>
              <a:gd name="T6" fmla="*/ 11113 w 106"/>
              <a:gd name="T7" fmla="*/ 123825 h 78"/>
              <a:gd name="T8" fmla="*/ 11113 w 106"/>
              <a:gd name="T9" fmla="*/ 9525 h 78"/>
              <a:gd name="T10" fmla="*/ 168275 w 106"/>
              <a:gd name="T11" fmla="*/ 9525 h 78"/>
              <a:gd name="T12" fmla="*/ 168275 w 106"/>
              <a:gd name="T13" fmla="*/ 0 h 7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8">
                <a:moveTo>
                  <a:pt x="106" y="0"/>
                </a:moveTo>
                <a:lnTo>
                  <a:pt x="0" y="0"/>
                </a:lnTo>
                <a:lnTo>
                  <a:pt x="0" y="78"/>
                </a:lnTo>
                <a:lnTo>
                  <a:pt x="7" y="78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2" name="Freeform 557"/>
          <p:cNvSpPr/>
          <p:nvPr/>
        </p:nvSpPr>
        <p:spPr bwMode="auto">
          <a:xfrm>
            <a:off x="1884039" y="3918998"/>
            <a:ext cx="119063" cy="88106"/>
          </a:xfrm>
          <a:custGeom>
            <a:avLst/>
            <a:gdLst>
              <a:gd name="T0" fmla="*/ 157163 w 100"/>
              <a:gd name="T1" fmla="*/ 0 h 74"/>
              <a:gd name="T2" fmla="*/ 0 w 100"/>
              <a:gd name="T3" fmla="*/ 0 h 74"/>
              <a:gd name="T4" fmla="*/ 0 w 100"/>
              <a:gd name="T5" fmla="*/ 114300 h 74"/>
              <a:gd name="T6" fmla="*/ 14288 w 100"/>
              <a:gd name="T7" fmla="*/ 117475 h 74"/>
              <a:gd name="T8" fmla="*/ 14288 w 100"/>
              <a:gd name="T9" fmla="*/ 9525 h 74"/>
              <a:gd name="T10" fmla="*/ 158750 w 100"/>
              <a:gd name="T11" fmla="*/ 9525 h 74"/>
              <a:gd name="T12" fmla="*/ 157163 w 100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4">
                <a:moveTo>
                  <a:pt x="99" y="0"/>
                </a:moveTo>
                <a:lnTo>
                  <a:pt x="0" y="0"/>
                </a:lnTo>
                <a:lnTo>
                  <a:pt x="0" y="72"/>
                </a:lnTo>
                <a:lnTo>
                  <a:pt x="9" y="74"/>
                </a:lnTo>
                <a:lnTo>
                  <a:pt x="9" y="6"/>
                </a:lnTo>
                <a:lnTo>
                  <a:pt x="100" y="6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3" name="Freeform 558"/>
          <p:cNvSpPr/>
          <p:nvPr/>
        </p:nvSpPr>
        <p:spPr bwMode="auto">
          <a:xfrm>
            <a:off x="1894755" y="3926141"/>
            <a:ext cx="108347" cy="80963"/>
          </a:xfrm>
          <a:custGeom>
            <a:avLst/>
            <a:gdLst>
              <a:gd name="T0" fmla="*/ 144463 w 91"/>
              <a:gd name="T1" fmla="*/ 0 h 68"/>
              <a:gd name="T2" fmla="*/ 0 w 91"/>
              <a:gd name="T3" fmla="*/ 0 h 68"/>
              <a:gd name="T4" fmla="*/ 0 w 91"/>
              <a:gd name="T5" fmla="*/ 107950 h 68"/>
              <a:gd name="T6" fmla="*/ 15875 w 91"/>
              <a:gd name="T7" fmla="*/ 104775 h 68"/>
              <a:gd name="T8" fmla="*/ 15875 w 91"/>
              <a:gd name="T9" fmla="*/ 11113 h 68"/>
              <a:gd name="T10" fmla="*/ 142875 w 91"/>
              <a:gd name="T11" fmla="*/ 11113 h 68"/>
              <a:gd name="T12" fmla="*/ 144463 w 91"/>
              <a:gd name="T13" fmla="*/ 0 h 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8">
                <a:moveTo>
                  <a:pt x="91" y="0"/>
                </a:moveTo>
                <a:lnTo>
                  <a:pt x="0" y="0"/>
                </a:lnTo>
                <a:lnTo>
                  <a:pt x="0" y="68"/>
                </a:lnTo>
                <a:lnTo>
                  <a:pt x="10" y="66"/>
                </a:lnTo>
                <a:lnTo>
                  <a:pt x="10" y="7"/>
                </a:lnTo>
                <a:lnTo>
                  <a:pt x="90" y="7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4" name="Freeform 559"/>
          <p:cNvSpPr/>
          <p:nvPr/>
        </p:nvSpPr>
        <p:spPr bwMode="auto">
          <a:xfrm>
            <a:off x="1906661" y="3934475"/>
            <a:ext cx="96441" cy="72629"/>
          </a:xfrm>
          <a:custGeom>
            <a:avLst/>
            <a:gdLst>
              <a:gd name="T0" fmla="*/ 127000 w 81"/>
              <a:gd name="T1" fmla="*/ 0 h 61"/>
              <a:gd name="T2" fmla="*/ 0 w 81"/>
              <a:gd name="T3" fmla="*/ 0 h 61"/>
              <a:gd name="T4" fmla="*/ 0 w 81"/>
              <a:gd name="T5" fmla="*/ 93663 h 61"/>
              <a:gd name="T6" fmla="*/ 15875 w 81"/>
              <a:gd name="T7" fmla="*/ 96838 h 61"/>
              <a:gd name="T8" fmla="*/ 15875 w 81"/>
              <a:gd name="T9" fmla="*/ 11113 h 61"/>
              <a:gd name="T10" fmla="*/ 128588 w 81"/>
              <a:gd name="T11" fmla="*/ 11113 h 61"/>
              <a:gd name="T12" fmla="*/ 127000 w 81"/>
              <a:gd name="T13" fmla="*/ 0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1">
                <a:moveTo>
                  <a:pt x="80" y="0"/>
                </a:moveTo>
                <a:lnTo>
                  <a:pt x="0" y="0"/>
                </a:lnTo>
                <a:lnTo>
                  <a:pt x="0" y="59"/>
                </a:lnTo>
                <a:lnTo>
                  <a:pt x="10" y="61"/>
                </a:lnTo>
                <a:lnTo>
                  <a:pt x="10" y="7"/>
                </a:lnTo>
                <a:lnTo>
                  <a:pt x="81" y="7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5" name="Freeform 560"/>
          <p:cNvSpPr/>
          <p:nvPr/>
        </p:nvSpPr>
        <p:spPr bwMode="auto">
          <a:xfrm>
            <a:off x="1918568" y="3942810"/>
            <a:ext cx="84535" cy="64294"/>
          </a:xfrm>
          <a:custGeom>
            <a:avLst/>
            <a:gdLst>
              <a:gd name="T0" fmla="*/ 112713 w 71"/>
              <a:gd name="T1" fmla="*/ 0 h 54"/>
              <a:gd name="T2" fmla="*/ 0 w 71"/>
              <a:gd name="T3" fmla="*/ 0 h 54"/>
              <a:gd name="T4" fmla="*/ 0 w 71"/>
              <a:gd name="T5" fmla="*/ 85725 h 54"/>
              <a:gd name="T6" fmla="*/ 15875 w 71"/>
              <a:gd name="T7" fmla="*/ 82550 h 54"/>
              <a:gd name="T8" fmla="*/ 15875 w 71"/>
              <a:gd name="T9" fmla="*/ 12700 h 54"/>
              <a:gd name="T10" fmla="*/ 111125 w 71"/>
              <a:gd name="T11" fmla="*/ 12700 h 54"/>
              <a:gd name="T12" fmla="*/ 112713 w 71"/>
              <a:gd name="T13" fmla="*/ 0 h 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4">
                <a:moveTo>
                  <a:pt x="71" y="0"/>
                </a:moveTo>
                <a:lnTo>
                  <a:pt x="0" y="0"/>
                </a:lnTo>
                <a:lnTo>
                  <a:pt x="0" y="54"/>
                </a:lnTo>
                <a:lnTo>
                  <a:pt x="10" y="52"/>
                </a:lnTo>
                <a:lnTo>
                  <a:pt x="10" y="8"/>
                </a:lnTo>
                <a:lnTo>
                  <a:pt x="70" y="8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6" name="Freeform 561"/>
          <p:cNvSpPr/>
          <p:nvPr/>
        </p:nvSpPr>
        <p:spPr bwMode="auto">
          <a:xfrm>
            <a:off x="1930473" y="3952335"/>
            <a:ext cx="71438" cy="52388"/>
          </a:xfrm>
          <a:custGeom>
            <a:avLst/>
            <a:gdLst>
              <a:gd name="T0" fmla="*/ 95250 w 60"/>
              <a:gd name="T1" fmla="*/ 0 h 44"/>
              <a:gd name="T2" fmla="*/ 0 w 60"/>
              <a:gd name="T3" fmla="*/ 0 h 44"/>
              <a:gd name="T4" fmla="*/ 0 w 60"/>
              <a:gd name="T5" fmla="*/ 69850 h 44"/>
              <a:gd name="T6" fmla="*/ 17463 w 60"/>
              <a:gd name="T7" fmla="*/ 69850 h 44"/>
              <a:gd name="T8" fmla="*/ 17463 w 60"/>
              <a:gd name="T9" fmla="*/ 12700 h 44"/>
              <a:gd name="T10" fmla="*/ 95250 w 60"/>
              <a:gd name="T11" fmla="*/ 12700 h 44"/>
              <a:gd name="T12" fmla="*/ 95250 w 60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0" h="44">
                <a:moveTo>
                  <a:pt x="60" y="0"/>
                </a:moveTo>
                <a:lnTo>
                  <a:pt x="0" y="0"/>
                </a:lnTo>
                <a:lnTo>
                  <a:pt x="0" y="44"/>
                </a:lnTo>
                <a:lnTo>
                  <a:pt x="11" y="44"/>
                </a:lnTo>
                <a:lnTo>
                  <a:pt x="11" y="8"/>
                </a:lnTo>
                <a:lnTo>
                  <a:pt x="60" y="8"/>
                </a:lnTo>
                <a:lnTo>
                  <a:pt x="6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7" name="Freeform 562"/>
          <p:cNvSpPr/>
          <p:nvPr/>
        </p:nvSpPr>
        <p:spPr bwMode="auto">
          <a:xfrm>
            <a:off x="1943571" y="3961860"/>
            <a:ext cx="58340" cy="42863"/>
          </a:xfrm>
          <a:custGeom>
            <a:avLst/>
            <a:gdLst>
              <a:gd name="T0" fmla="*/ 77787 w 49"/>
              <a:gd name="T1" fmla="*/ 0 h 36"/>
              <a:gd name="T2" fmla="*/ 0 w 49"/>
              <a:gd name="T3" fmla="*/ 0 h 36"/>
              <a:gd name="T4" fmla="*/ 0 w 49"/>
              <a:gd name="T5" fmla="*/ 57150 h 36"/>
              <a:gd name="T6" fmla="*/ 17462 w 49"/>
              <a:gd name="T7" fmla="*/ 57150 h 36"/>
              <a:gd name="T8" fmla="*/ 17462 w 49"/>
              <a:gd name="T9" fmla="*/ 14288 h 36"/>
              <a:gd name="T10" fmla="*/ 77787 w 49"/>
              <a:gd name="T11" fmla="*/ 14288 h 36"/>
              <a:gd name="T12" fmla="*/ 77787 w 49"/>
              <a:gd name="T13" fmla="*/ 0 h 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6">
                <a:moveTo>
                  <a:pt x="49" y="0"/>
                </a:moveTo>
                <a:lnTo>
                  <a:pt x="0" y="0"/>
                </a:lnTo>
                <a:lnTo>
                  <a:pt x="0" y="36"/>
                </a:lnTo>
                <a:lnTo>
                  <a:pt x="11" y="36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8" name="Freeform 563"/>
          <p:cNvSpPr/>
          <p:nvPr/>
        </p:nvSpPr>
        <p:spPr bwMode="auto">
          <a:xfrm>
            <a:off x="1956668" y="3972575"/>
            <a:ext cx="46435" cy="34529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2863 h 29"/>
              <a:gd name="T6" fmla="*/ 20638 w 39"/>
              <a:gd name="T7" fmla="*/ 46038 h 29"/>
              <a:gd name="T8" fmla="*/ 20638 w 39"/>
              <a:gd name="T9" fmla="*/ 12700 h 29"/>
              <a:gd name="T10" fmla="*/ 61913 w 39"/>
              <a:gd name="T11" fmla="*/ 12700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7"/>
                </a:lnTo>
                <a:lnTo>
                  <a:pt x="13" y="29"/>
                </a:lnTo>
                <a:lnTo>
                  <a:pt x="13" y="8"/>
                </a:lnTo>
                <a:lnTo>
                  <a:pt x="39" y="8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799" name="Freeform 564"/>
          <p:cNvSpPr/>
          <p:nvPr/>
        </p:nvSpPr>
        <p:spPr bwMode="auto">
          <a:xfrm>
            <a:off x="1972146" y="3982100"/>
            <a:ext cx="30956" cy="25004"/>
          </a:xfrm>
          <a:custGeom>
            <a:avLst/>
            <a:gdLst>
              <a:gd name="T0" fmla="*/ 41275 w 26"/>
              <a:gd name="T1" fmla="*/ 0 h 21"/>
              <a:gd name="T2" fmla="*/ 0 w 26"/>
              <a:gd name="T3" fmla="*/ 0 h 21"/>
              <a:gd name="T4" fmla="*/ 0 w 26"/>
              <a:gd name="T5" fmla="*/ 33338 h 21"/>
              <a:gd name="T6" fmla="*/ 19050 w 26"/>
              <a:gd name="T7" fmla="*/ 30163 h 21"/>
              <a:gd name="T8" fmla="*/ 19050 w 26"/>
              <a:gd name="T9" fmla="*/ 17463 h 21"/>
              <a:gd name="T10" fmla="*/ 39688 w 26"/>
              <a:gd name="T11" fmla="*/ 17463 h 21"/>
              <a:gd name="T12" fmla="*/ 41275 w 26"/>
              <a:gd name="T13" fmla="*/ 0 h 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1">
                <a:moveTo>
                  <a:pt x="26" y="0"/>
                </a:moveTo>
                <a:lnTo>
                  <a:pt x="0" y="0"/>
                </a:lnTo>
                <a:lnTo>
                  <a:pt x="0" y="21"/>
                </a:lnTo>
                <a:lnTo>
                  <a:pt x="12" y="19"/>
                </a:lnTo>
                <a:lnTo>
                  <a:pt x="12" y="11"/>
                </a:lnTo>
                <a:lnTo>
                  <a:pt x="25" y="11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00" name="Freeform 565"/>
          <p:cNvSpPr/>
          <p:nvPr/>
        </p:nvSpPr>
        <p:spPr bwMode="auto">
          <a:xfrm>
            <a:off x="1986434" y="3995198"/>
            <a:ext cx="16669" cy="11906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2700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8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01" name="Line 566"/>
          <p:cNvSpPr>
            <a:spLocks noChangeShapeType="1"/>
          </p:cNvSpPr>
          <p:nvPr/>
        </p:nvSpPr>
        <p:spPr bwMode="auto">
          <a:xfrm>
            <a:off x="1788790" y="4033298"/>
            <a:ext cx="1190" cy="1666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02" name="Line 567"/>
          <p:cNvSpPr>
            <a:spLocks noChangeShapeType="1"/>
          </p:cNvSpPr>
          <p:nvPr/>
        </p:nvSpPr>
        <p:spPr bwMode="auto">
          <a:xfrm>
            <a:off x="1747117" y="4033298"/>
            <a:ext cx="1191" cy="1666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03" name="Line 568"/>
          <p:cNvSpPr>
            <a:spLocks noChangeShapeType="1"/>
          </p:cNvSpPr>
          <p:nvPr/>
        </p:nvSpPr>
        <p:spPr bwMode="auto">
          <a:xfrm>
            <a:off x="1697111" y="4033298"/>
            <a:ext cx="339329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04" name="Rectangle 569"/>
          <p:cNvSpPr>
            <a:spLocks noChangeArrowheads="1"/>
          </p:cNvSpPr>
          <p:nvPr/>
        </p:nvSpPr>
        <p:spPr bwMode="auto">
          <a:xfrm>
            <a:off x="1955477" y="4110688"/>
            <a:ext cx="41672" cy="3572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05" name="Rectangle 570"/>
          <p:cNvSpPr>
            <a:spLocks noChangeArrowheads="1"/>
          </p:cNvSpPr>
          <p:nvPr/>
        </p:nvSpPr>
        <p:spPr bwMode="auto">
          <a:xfrm>
            <a:off x="1955477" y="4109498"/>
            <a:ext cx="41672" cy="119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06" name="Rectangle 571"/>
          <p:cNvSpPr>
            <a:spLocks noChangeArrowheads="1"/>
          </p:cNvSpPr>
          <p:nvPr/>
        </p:nvSpPr>
        <p:spPr bwMode="auto">
          <a:xfrm>
            <a:off x="1955477" y="4108307"/>
            <a:ext cx="41672" cy="1191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07" name="Rectangle 572"/>
          <p:cNvSpPr>
            <a:spLocks noChangeArrowheads="1"/>
          </p:cNvSpPr>
          <p:nvPr/>
        </p:nvSpPr>
        <p:spPr bwMode="auto">
          <a:xfrm>
            <a:off x="1955477" y="4105926"/>
            <a:ext cx="41672" cy="2381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08" name="Rectangle 573"/>
          <p:cNvSpPr>
            <a:spLocks noChangeArrowheads="1"/>
          </p:cNvSpPr>
          <p:nvPr/>
        </p:nvSpPr>
        <p:spPr bwMode="auto">
          <a:xfrm>
            <a:off x="1955477" y="4104736"/>
            <a:ext cx="41672" cy="1190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09" name="Rectangle 574"/>
          <p:cNvSpPr>
            <a:spLocks noChangeArrowheads="1"/>
          </p:cNvSpPr>
          <p:nvPr/>
        </p:nvSpPr>
        <p:spPr bwMode="auto">
          <a:xfrm>
            <a:off x="1955477" y="4103544"/>
            <a:ext cx="41672" cy="1191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10" name="Rectangle 575"/>
          <p:cNvSpPr>
            <a:spLocks noChangeArrowheads="1"/>
          </p:cNvSpPr>
          <p:nvPr/>
        </p:nvSpPr>
        <p:spPr bwMode="auto">
          <a:xfrm>
            <a:off x="1955477" y="4102354"/>
            <a:ext cx="41672" cy="1190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11" name="Freeform 576"/>
          <p:cNvSpPr/>
          <p:nvPr/>
        </p:nvSpPr>
        <p:spPr bwMode="auto">
          <a:xfrm>
            <a:off x="1953096" y="4099973"/>
            <a:ext cx="44053" cy="2381"/>
          </a:xfrm>
          <a:custGeom>
            <a:avLst/>
            <a:gdLst>
              <a:gd name="T0" fmla="*/ 3175 w 37"/>
              <a:gd name="T1" fmla="*/ 3175 h 2"/>
              <a:gd name="T2" fmla="*/ 58737 w 37"/>
              <a:gd name="T3" fmla="*/ 3175 h 2"/>
              <a:gd name="T4" fmla="*/ 57150 w 37"/>
              <a:gd name="T5" fmla="*/ 0 h 2"/>
              <a:gd name="T6" fmla="*/ 0 w 37"/>
              <a:gd name="T7" fmla="*/ 0 h 2"/>
              <a:gd name="T8" fmla="*/ 3175 w 37"/>
              <a:gd name="T9" fmla="*/ 3175 h 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2">
                <a:moveTo>
                  <a:pt x="2" y="2"/>
                </a:moveTo>
                <a:lnTo>
                  <a:pt x="37" y="2"/>
                </a:lnTo>
                <a:lnTo>
                  <a:pt x="36" y="0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12" name="Rectangle 577"/>
          <p:cNvSpPr>
            <a:spLocks noChangeArrowheads="1"/>
          </p:cNvSpPr>
          <p:nvPr/>
        </p:nvSpPr>
        <p:spPr bwMode="auto">
          <a:xfrm>
            <a:off x="1953096" y="4098782"/>
            <a:ext cx="42863" cy="1191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13" name="Freeform 578"/>
          <p:cNvSpPr/>
          <p:nvPr/>
        </p:nvSpPr>
        <p:spPr bwMode="auto">
          <a:xfrm>
            <a:off x="1953096" y="4097592"/>
            <a:ext cx="44053" cy="1190"/>
          </a:xfrm>
          <a:custGeom>
            <a:avLst/>
            <a:gdLst>
              <a:gd name="T0" fmla="*/ 0 w 37"/>
              <a:gd name="T1" fmla="*/ 1587 h 1"/>
              <a:gd name="T2" fmla="*/ 57150 w 37"/>
              <a:gd name="T3" fmla="*/ 1587 h 1"/>
              <a:gd name="T4" fmla="*/ 58737 w 37"/>
              <a:gd name="T5" fmla="*/ 0 h 1"/>
              <a:gd name="T6" fmla="*/ 3175 w 37"/>
              <a:gd name="T7" fmla="*/ 0 h 1"/>
              <a:gd name="T8" fmla="*/ 0 w 37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1">
                <a:moveTo>
                  <a:pt x="0" y="1"/>
                </a:moveTo>
                <a:lnTo>
                  <a:pt x="36" y="1"/>
                </a:lnTo>
                <a:lnTo>
                  <a:pt x="37" y="0"/>
                </a:lnTo>
                <a:lnTo>
                  <a:pt x="2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14" name="Rectangle 579"/>
          <p:cNvSpPr>
            <a:spLocks noChangeArrowheads="1"/>
          </p:cNvSpPr>
          <p:nvPr/>
        </p:nvSpPr>
        <p:spPr bwMode="auto">
          <a:xfrm>
            <a:off x="1955477" y="4097592"/>
            <a:ext cx="41672" cy="1190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15" name="Rectangle 580"/>
          <p:cNvSpPr>
            <a:spLocks noChangeArrowheads="1"/>
          </p:cNvSpPr>
          <p:nvPr/>
        </p:nvSpPr>
        <p:spPr bwMode="auto">
          <a:xfrm>
            <a:off x="1916187" y="4102354"/>
            <a:ext cx="97631" cy="595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16" name="Freeform 581"/>
          <p:cNvSpPr>
            <a:spLocks noEditPoints="1"/>
          </p:cNvSpPr>
          <p:nvPr/>
        </p:nvSpPr>
        <p:spPr bwMode="auto">
          <a:xfrm>
            <a:off x="1653059" y="4086875"/>
            <a:ext cx="54769" cy="28575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8263 w 46"/>
              <a:gd name="T15" fmla="*/ 38100 h 24"/>
              <a:gd name="T16" fmla="*/ 68263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3" y="24"/>
                </a:lnTo>
                <a:lnTo>
                  <a:pt x="43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17" name="Freeform 582"/>
          <p:cNvSpPr>
            <a:spLocks noEditPoints="1"/>
          </p:cNvSpPr>
          <p:nvPr/>
        </p:nvSpPr>
        <p:spPr bwMode="auto">
          <a:xfrm>
            <a:off x="1655440" y="4086875"/>
            <a:ext cx="48815" cy="28575"/>
          </a:xfrm>
          <a:custGeom>
            <a:avLst/>
            <a:gdLst>
              <a:gd name="T0" fmla="*/ 0 w 41"/>
              <a:gd name="T1" fmla="*/ 38100 h 24"/>
              <a:gd name="T2" fmla="*/ 0 w 41"/>
              <a:gd name="T3" fmla="*/ 0 h 24"/>
              <a:gd name="T4" fmla="*/ 1587 w 41"/>
              <a:gd name="T5" fmla="*/ 0 h 24"/>
              <a:gd name="T6" fmla="*/ 1587 w 41"/>
              <a:gd name="T7" fmla="*/ 38100 h 24"/>
              <a:gd name="T8" fmla="*/ 0 w 41"/>
              <a:gd name="T9" fmla="*/ 38100 h 24"/>
              <a:gd name="T10" fmla="*/ 65087 w 41"/>
              <a:gd name="T11" fmla="*/ 0 h 24"/>
              <a:gd name="T12" fmla="*/ 65087 w 41"/>
              <a:gd name="T13" fmla="*/ 38100 h 24"/>
              <a:gd name="T14" fmla="*/ 63500 w 41"/>
              <a:gd name="T15" fmla="*/ 38100 h 24"/>
              <a:gd name="T16" fmla="*/ 63500 w 41"/>
              <a:gd name="T17" fmla="*/ 0 h 24"/>
              <a:gd name="T18" fmla="*/ 65087 w 4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1" y="0"/>
                </a:moveTo>
                <a:lnTo>
                  <a:pt x="41" y="24"/>
                </a:lnTo>
                <a:lnTo>
                  <a:pt x="40" y="24"/>
                </a:lnTo>
                <a:lnTo>
                  <a:pt x="40" y="0"/>
                </a:lnTo>
                <a:lnTo>
                  <a:pt x="41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18" name="Freeform 583"/>
          <p:cNvSpPr>
            <a:spLocks noEditPoints="1"/>
          </p:cNvSpPr>
          <p:nvPr/>
        </p:nvSpPr>
        <p:spPr bwMode="auto">
          <a:xfrm>
            <a:off x="1656630" y="4086875"/>
            <a:ext cx="46435" cy="28575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8 w 39"/>
              <a:gd name="T5" fmla="*/ 0 h 24"/>
              <a:gd name="T6" fmla="*/ 1588 w 39"/>
              <a:gd name="T7" fmla="*/ 38100 h 24"/>
              <a:gd name="T8" fmla="*/ 0 w 39"/>
              <a:gd name="T9" fmla="*/ 38100 h 24"/>
              <a:gd name="T10" fmla="*/ 61913 w 39"/>
              <a:gd name="T11" fmla="*/ 0 h 24"/>
              <a:gd name="T12" fmla="*/ 61913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3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19" name="Freeform 584"/>
          <p:cNvSpPr>
            <a:spLocks noEditPoints="1"/>
          </p:cNvSpPr>
          <p:nvPr/>
        </p:nvSpPr>
        <p:spPr bwMode="auto">
          <a:xfrm>
            <a:off x="1657821" y="4086875"/>
            <a:ext cx="44053" cy="28575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1587 w 37"/>
              <a:gd name="T5" fmla="*/ 0 h 24"/>
              <a:gd name="T6" fmla="*/ 1587 w 37"/>
              <a:gd name="T7" fmla="*/ 38100 h 24"/>
              <a:gd name="T8" fmla="*/ 0 w 37"/>
              <a:gd name="T9" fmla="*/ 38100 h 24"/>
              <a:gd name="T10" fmla="*/ 58737 w 37"/>
              <a:gd name="T11" fmla="*/ 0 h 24"/>
              <a:gd name="T12" fmla="*/ 58737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7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0" name="Freeform 585"/>
          <p:cNvSpPr>
            <a:spLocks noEditPoints="1"/>
          </p:cNvSpPr>
          <p:nvPr/>
        </p:nvSpPr>
        <p:spPr bwMode="auto">
          <a:xfrm>
            <a:off x="1659012" y="4086875"/>
            <a:ext cx="41672" cy="28575"/>
          </a:xfrm>
          <a:custGeom>
            <a:avLst/>
            <a:gdLst>
              <a:gd name="T0" fmla="*/ 0 w 35"/>
              <a:gd name="T1" fmla="*/ 38100 h 24"/>
              <a:gd name="T2" fmla="*/ 0 w 35"/>
              <a:gd name="T3" fmla="*/ 0 h 24"/>
              <a:gd name="T4" fmla="*/ 3175 w 35"/>
              <a:gd name="T5" fmla="*/ 0 h 24"/>
              <a:gd name="T6" fmla="*/ 3175 w 35"/>
              <a:gd name="T7" fmla="*/ 38100 h 24"/>
              <a:gd name="T8" fmla="*/ 0 w 35"/>
              <a:gd name="T9" fmla="*/ 38100 h 24"/>
              <a:gd name="T10" fmla="*/ 55563 w 35"/>
              <a:gd name="T11" fmla="*/ 0 h 24"/>
              <a:gd name="T12" fmla="*/ 55563 w 35"/>
              <a:gd name="T13" fmla="*/ 38100 h 24"/>
              <a:gd name="T14" fmla="*/ 52388 w 35"/>
              <a:gd name="T15" fmla="*/ 38100 h 24"/>
              <a:gd name="T16" fmla="*/ 52388 w 35"/>
              <a:gd name="T17" fmla="*/ 0 h 24"/>
              <a:gd name="T18" fmla="*/ 55563 w 35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5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5" y="0"/>
                </a:moveTo>
                <a:lnTo>
                  <a:pt x="35" y="24"/>
                </a:lnTo>
                <a:lnTo>
                  <a:pt x="33" y="24"/>
                </a:lnTo>
                <a:lnTo>
                  <a:pt x="33" y="0"/>
                </a:lnTo>
                <a:lnTo>
                  <a:pt x="35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1" name="Freeform 586"/>
          <p:cNvSpPr>
            <a:spLocks noEditPoints="1"/>
          </p:cNvSpPr>
          <p:nvPr/>
        </p:nvSpPr>
        <p:spPr bwMode="auto">
          <a:xfrm>
            <a:off x="1661393" y="4086875"/>
            <a:ext cx="36910" cy="28575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8 w 31"/>
              <a:gd name="T5" fmla="*/ 0 h 24"/>
              <a:gd name="T6" fmla="*/ 1588 w 31"/>
              <a:gd name="T7" fmla="*/ 38100 h 24"/>
              <a:gd name="T8" fmla="*/ 0 w 31"/>
              <a:gd name="T9" fmla="*/ 38100 h 24"/>
              <a:gd name="T10" fmla="*/ 49213 w 31"/>
              <a:gd name="T11" fmla="*/ 0 h 24"/>
              <a:gd name="T12" fmla="*/ 49213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3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2" name="Freeform 587"/>
          <p:cNvSpPr>
            <a:spLocks noEditPoints="1"/>
          </p:cNvSpPr>
          <p:nvPr/>
        </p:nvSpPr>
        <p:spPr bwMode="auto">
          <a:xfrm>
            <a:off x="1662584" y="4086875"/>
            <a:ext cx="34528" cy="28575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7 w 29"/>
              <a:gd name="T5" fmla="*/ 0 h 24"/>
              <a:gd name="T6" fmla="*/ 1587 w 29"/>
              <a:gd name="T7" fmla="*/ 38100 h 24"/>
              <a:gd name="T8" fmla="*/ 0 w 29"/>
              <a:gd name="T9" fmla="*/ 38100 h 24"/>
              <a:gd name="T10" fmla="*/ 46037 w 29"/>
              <a:gd name="T11" fmla="*/ 0 h 24"/>
              <a:gd name="T12" fmla="*/ 46037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7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3" name="Freeform 588"/>
          <p:cNvSpPr>
            <a:spLocks noEditPoints="1"/>
          </p:cNvSpPr>
          <p:nvPr/>
        </p:nvSpPr>
        <p:spPr bwMode="auto">
          <a:xfrm>
            <a:off x="1663774" y="4086875"/>
            <a:ext cx="32147" cy="28575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3 w 27"/>
              <a:gd name="T11" fmla="*/ 0 h 24"/>
              <a:gd name="T12" fmla="*/ 42863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3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4" name="Freeform 589"/>
          <p:cNvSpPr>
            <a:spLocks noEditPoints="1"/>
          </p:cNvSpPr>
          <p:nvPr/>
        </p:nvSpPr>
        <p:spPr bwMode="auto">
          <a:xfrm>
            <a:off x="1666155" y="4086875"/>
            <a:ext cx="28575" cy="28575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5" name="Freeform 590"/>
          <p:cNvSpPr>
            <a:spLocks noEditPoints="1"/>
          </p:cNvSpPr>
          <p:nvPr/>
        </p:nvSpPr>
        <p:spPr bwMode="auto">
          <a:xfrm>
            <a:off x="1667346" y="4086875"/>
            <a:ext cx="25003" cy="28575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7 w 21"/>
              <a:gd name="T5" fmla="*/ 0 h 24"/>
              <a:gd name="T6" fmla="*/ 1587 w 21"/>
              <a:gd name="T7" fmla="*/ 38100 h 24"/>
              <a:gd name="T8" fmla="*/ 0 w 21"/>
              <a:gd name="T9" fmla="*/ 38100 h 24"/>
              <a:gd name="T10" fmla="*/ 33337 w 21"/>
              <a:gd name="T11" fmla="*/ 0 h 24"/>
              <a:gd name="T12" fmla="*/ 33337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7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6" name="Freeform 591"/>
          <p:cNvSpPr>
            <a:spLocks noEditPoints="1"/>
          </p:cNvSpPr>
          <p:nvPr/>
        </p:nvSpPr>
        <p:spPr bwMode="auto">
          <a:xfrm>
            <a:off x="1668537" y="4086875"/>
            <a:ext cx="22622" cy="28575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8 w 19"/>
              <a:gd name="T5" fmla="*/ 0 h 24"/>
              <a:gd name="T6" fmla="*/ 1588 w 19"/>
              <a:gd name="T7" fmla="*/ 38100 h 24"/>
              <a:gd name="T8" fmla="*/ 0 w 19"/>
              <a:gd name="T9" fmla="*/ 38100 h 24"/>
              <a:gd name="T10" fmla="*/ 30163 w 19"/>
              <a:gd name="T11" fmla="*/ 0 h 24"/>
              <a:gd name="T12" fmla="*/ 30163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3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7" name="Freeform 592"/>
          <p:cNvSpPr>
            <a:spLocks noEditPoints="1"/>
          </p:cNvSpPr>
          <p:nvPr/>
        </p:nvSpPr>
        <p:spPr bwMode="auto">
          <a:xfrm>
            <a:off x="1669728" y="4086875"/>
            <a:ext cx="20240" cy="28575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7 w 17"/>
              <a:gd name="T11" fmla="*/ 0 h 24"/>
              <a:gd name="T12" fmla="*/ 26987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7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8" name="Freeform 593"/>
          <p:cNvSpPr>
            <a:spLocks noEditPoints="1"/>
          </p:cNvSpPr>
          <p:nvPr/>
        </p:nvSpPr>
        <p:spPr bwMode="auto">
          <a:xfrm>
            <a:off x="1672109" y="4085686"/>
            <a:ext cx="16669" cy="29765"/>
          </a:xfrm>
          <a:custGeom>
            <a:avLst/>
            <a:gdLst>
              <a:gd name="T0" fmla="*/ 0 w 14"/>
              <a:gd name="T1" fmla="*/ 39687 h 25"/>
              <a:gd name="T2" fmla="*/ 0 w 14"/>
              <a:gd name="T3" fmla="*/ 1587 h 25"/>
              <a:gd name="T4" fmla="*/ 1588 w 14"/>
              <a:gd name="T5" fmla="*/ 0 h 25"/>
              <a:gd name="T6" fmla="*/ 1588 w 14"/>
              <a:gd name="T7" fmla="*/ 38100 h 25"/>
              <a:gd name="T8" fmla="*/ 0 w 14"/>
              <a:gd name="T9" fmla="*/ 39687 h 25"/>
              <a:gd name="T10" fmla="*/ 22225 w 14"/>
              <a:gd name="T11" fmla="*/ 1587 h 25"/>
              <a:gd name="T12" fmla="*/ 22225 w 14"/>
              <a:gd name="T13" fmla="*/ 39687 h 25"/>
              <a:gd name="T14" fmla="*/ 19050 w 14"/>
              <a:gd name="T15" fmla="*/ 38100 h 25"/>
              <a:gd name="T16" fmla="*/ 19050 w 14"/>
              <a:gd name="T17" fmla="*/ 0 h 25"/>
              <a:gd name="T18" fmla="*/ 22225 w 14"/>
              <a:gd name="T19" fmla="*/ 1587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14" y="1"/>
                </a:moveTo>
                <a:lnTo>
                  <a:pt x="14" y="25"/>
                </a:lnTo>
                <a:lnTo>
                  <a:pt x="12" y="24"/>
                </a:lnTo>
                <a:lnTo>
                  <a:pt x="12" y="0"/>
                </a:lnTo>
                <a:lnTo>
                  <a:pt x="14" y="1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29" name="Freeform 594"/>
          <p:cNvSpPr>
            <a:spLocks noEditPoints="1"/>
          </p:cNvSpPr>
          <p:nvPr/>
        </p:nvSpPr>
        <p:spPr bwMode="auto">
          <a:xfrm>
            <a:off x="1673299" y="4085686"/>
            <a:ext cx="13097" cy="29765"/>
          </a:xfrm>
          <a:custGeom>
            <a:avLst/>
            <a:gdLst>
              <a:gd name="T0" fmla="*/ 0 w 11"/>
              <a:gd name="T1" fmla="*/ 38100 h 25"/>
              <a:gd name="T2" fmla="*/ 0 w 11"/>
              <a:gd name="T3" fmla="*/ 0 h 25"/>
              <a:gd name="T4" fmla="*/ 1588 w 11"/>
              <a:gd name="T5" fmla="*/ 1587 h 25"/>
              <a:gd name="T6" fmla="*/ 1588 w 11"/>
              <a:gd name="T7" fmla="*/ 39687 h 25"/>
              <a:gd name="T8" fmla="*/ 0 w 11"/>
              <a:gd name="T9" fmla="*/ 38100 h 25"/>
              <a:gd name="T10" fmla="*/ 17463 w 11"/>
              <a:gd name="T11" fmla="*/ 0 h 25"/>
              <a:gd name="T12" fmla="*/ 17463 w 11"/>
              <a:gd name="T13" fmla="*/ 38100 h 25"/>
              <a:gd name="T14" fmla="*/ 15875 w 11"/>
              <a:gd name="T15" fmla="*/ 39687 h 25"/>
              <a:gd name="T16" fmla="*/ 15875 w 11"/>
              <a:gd name="T17" fmla="*/ 1587 h 25"/>
              <a:gd name="T18" fmla="*/ 17463 w 11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5">
                <a:moveTo>
                  <a:pt x="0" y="24"/>
                </a:moveTo>
                <a:lnTo>
                  <a:pt x="0" y="0"/>
                </a:lnTo>
                <a:lnTo>
                  <a:pt x="1" y="1"/>
                </a:lnTo>
                <a:lnTo>
                  <a:pt x="1" y="25"/>
                </a:lnTo>
                <a:lnTo>
                  <a:pt x="0" y="24"/>
                </a:lnTo>
                <a:close/>
                <a:moveTo>
                  <a:pt x="11" y="0"/>
                </a:moveTo>
                <a:lnTo>
                  <a:pt x="11" y="24"/>
                </a:lnTo>
                <a:lnTo>
                  <a:pt x="10" y="25"/>
                </a:lnTo>
                <a:lnTo>
                  <a:pt x="10" y="1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0" name="Freeform 595"/>
          <p:cNvSpPr>
            <a:spLocks noEditPoints="1"/>
          </p:cNvSpPr>
          <p:nvPr/>
        </p:nvSpPr>
        <p:spPr bwMode="auto">
          <a:xfrm>
            <a:off x="1674490" y="4085686"/>
            <a:ext cx="10715" cy="29765"/>
          </a:xfrm>
          <a:custGeom>
            <a:avLst/>
            <a:gdLst>
              <a:gd name="T0" fmla="*/ 0 w 9"/>
              <a:gd name="T1" fmla="*/ 39687 h 25"/>
              <a:gd name="T2" fmla="*/ 0 w 9"/>
              <a:gd name="T3" fmla="*/ 1587 h 25"/>
              <a:gd name="T4" fmla="*/ 1587 w 9"/>
              <a:gd name="T5" fmla="*/ 0 h 25"/>
              <a:gd name="T6" fmla="*/ 1587 w 9"/>
              <a:gd name="T7" fmla="*/ 38100 h 25"/>
              <a:gd name="T8" fmla="*/ 0 w 9"/>
              <a:gd name="T9" fmla="*/ 39687 h 25"/>
              <a:gd name="T10" fmla="*/ 14287 w 9"/>
              <a:gd name="T11" fmla="*/ 1587 h 25"/>
              <a:gd name="T12" fmla="*/ 14287 w 9"/>
              <a:gd name="T13" fmla="*/ 39687 h 25"/>
              <a:gd name="T14" fmla="*/ 12700 w 9"/>
              <a:gd name="T15" fmla="*/ 38100 h 25"/>
              <a:gd name="T16" fmla="*/ 12700 w 9"/>
              <a:gd name="T17" fmla="*/ 0 h 25"/>
              <a:gd name="T18" fmla="*/ 14287 w 9"/>
              <a:gd name="T19" fmla="*/ 1587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5">
                <a:moveTo>
                  <a:pt x="0" y="25"/>
                </a:moveTo>
                <a:lnTo>
                  <a:pt x="0" y="1"/>
                </a:lnTo>
                <a:lnTo>
                  <a:pt x="1" y="0"/>
                </a:lnTo>
                <a:lnTo>
                  <a:pt x="1" y="24"/>
                </a:lnTo>
                <a:lnTo>
                  <a:pt x="0" y="25"/>
                </a:lnTo>
                <a:close/>
                <a:moveTo>
                  <a:pt x="9" y="1"/>
                </a:moveTo>
                <a:lnTo>
                  <a:pt x="9" y="25"/>
                </a:lnTo>
                <a:lnTo>
                  <a:pt x="8" y="24"/>
                </a:lnTo>
                <a:lnTo>
                  <a:pt x="8" y="0"/>
                </a:lnTo>
                <a:lnTo>
                  <a:pt x="9" y="1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1" name="Freeform 596"/>
          <p:cNvSpPr>
            <a:spLocks noEditPoints="1"/>
          </p:cNvSpPr>
          <p:nvPr/>
        </p:nvSpPr>
        <p:spPr bwMode="auto">
          <a:xfrm>
            <a:off x="1675680" y="4085686"/>
            <a:ext cx="8335" cy="29765"/>
          </a:xfrm>
          <a:custGeom>
            <a:avLst/>
            <a:gdLst>
              <a:gd name="T0" fmla="*/ 0 w 7"/>
              <a:gd name="T1" fmla="*/ 38100 h 25"/>
              <a:gd name="T2" fmla="*/ 0 w 7"/>
              <a:gd name="T3" fmla="*/ 0 h 25"/>
              <a:gd name="T4" fmla="*/ 3175 w 7"/>
              <a:gd name="T5" fmla="*/ 1587 h 25"/>
              <a:gd name="T6" fmla="*/ 3175 w 7"/>
              <a:gd name="T7" fmla="*/ 39687 h 25"/>
              <a:gd name="T8" fmla="*/ 0 w 7"/>
              <a:gd name="T9" fmla="*/ 38100 h 25"/>
              <a:gd name="T10" fmla="*/ 11113 w 7"/>
              <a:gd name="T11" fmla="*/ 0 h 25"/>
              <a:gd name="T12" fmla="*/ 11113 w 7"/>
              <a:gd name="T13" fmla="*/ 38100 h 25"/>
              <a:gd name="T14" fmla="*/ 7938 w 7"/>
              <a:gd name="T15" fmla="*/ 39687 h 25"/>
              <a:gd name="T16" fmla="*/ 7938 w 7"/>
              <a:gd name="T17" fmla="*/ 1587 h 25"/>
              <a:gd name="T18" fmla="*/ 11113 w 7"/>
              <a:gd name="T19" fmla="*/ 0 h 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5">
                <a:moveTo>
                  <a:pt x="0" y="24"/>
                </a:moveTo>
                <a:lnTo>
                  <a:pt x="0" y="0"/>
                </a:lnTo>
                <a:lnTo>
                  <a:pt x="2" y="1"/>
                </a:lnTo>
                <a:lnTo>
                  <a:pt x="2" y="25"/>
                </a:lnTo>
                <a:lnTo>
                  <a:pt x="0" y="24"/>
                </a:lnTo>
                <a:close/>
                <a:moveTo>
                  <a:pt x="7" y="0"/>
                </a:moveTo>
                <a:lnTo>
                  <a:pt x="7" y="24"/>
                </a:lnTo>
                <a:lnTo>
                  <a:pt x="5" y="25"/>
                </a:lnTo>
                <a:lnTo>
                  <a:pt x="5" y="1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2" name="Freeform 597"/>
          <p:cNvSpPr>
            <a:spLocks noEditPoints="1"/>
          </p:cNvSpPr>
          <p:nvPr/>
        </p:nvSpPr>
        <p:spPr bwMode="auto">
          <a:xfrm>
            <a:off x="1678062" y="4086875"/>
            <a:ext cx="3572" cy="28575"/>
          </a:xfrm>
          <a:custGeom>
            <a:avLst/>
            <a:gdLst>
              <a:gd name="T0" fmla="*/ 0 w 3"/>
              <a:gd name="T1" fmla="*/ 38100 h 24"/>
              <a:gd name="T2" fmla="*/ 0 w 3"/>
              <a:gd name="T3" fmla="*/ 0 h 24"/>
              <a:gd name="T4" fmla="*/ 1588 w 3"/>
              <a:gd name="T5" fmla="*/ 0 h 24"/>
              <a:gd name="T6" fmla="*/ 1588 w 3"/>
              <a:gd name="T7" fmla="*/ 38100 h 24"/>
              <a:gd name="T8" fmla="*/ 0 w 3"/>
              <a:gd name="T9" fmla="*/ 38100 h 24"/>
              <a:gd name="T10" fmla="*/ 4763 w 3"/>
              <a:gd name="T11" fmla="*/ 0 h 24"/>
              <a:gd name="T12" fmla="*/ 4763 w 3"/>
              <a:gd name="T13" fmla="*/ 38100 h 24"/>
              <a:gd name="T14" fmla="*/ 3175 w 3"/>
              <a:gd name="T15" fmla="*/ 38100 h 24"/>
              <a:gd name="T16" fmla="*/ 3175 w 3"/>
              <a:gd name="T17" fmla="*/ 0 h 24"/>
              <a:gd name="T18" fmla="*/ 4763 w 3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" y="0"/>
                </a:moveTo>
                <a:lnTo>
                  <a:pt x="3" y="24"/>
                </a:lnTo>
                <a:lnTo>
                  <a:pt x="2" y="24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3" name="Freeform 598"/>
          <p:cNvSpPr>
            <a:spLocks noEditPoints="1"/>
          </p:cNvSpPr>
          <p:nvPr/>
        </p:nvSpPr>
        <p:spPr bwMode="auto">
          <a:xfrm>
            <a:off x="1679253" y="4086875"/>
            <a:ext cx="1190" cy="28575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7 w 1"/>
              <a:gd name="T5" fmla="*/ 0 h 24"/>
              <a:gd name="T6" fmla="*/ 1587 w 1"/>
              <a:gd name="T7" fmla="*/ 38100 h 24"/>
              <a:gd name="T8" fmla="*/ 0 w 1"/>
              <a:gd name="T9" fmla="*/ 38100 h 24"/>
              <a:gd name="T10" fmla="*/ 1587 w 1"/>
              <a:gd name="T11" fmla="*/ 0 h 24"/>
              <a:gd name="T12" fmla="*/ 1587 w 1"/>
              <a:gd name="T13" fmla="*/ 38100 h 24"/>
              <a:gd name="T14" fmla="*/ 1587 w 1"/>
              <a:gd name="T15" fmla="*/ 38100 h 24"/>
              <a:gd name="T16" fmla="*/ 1587 w 1"/>
              <a:gd name="T17" fmla="*/ 0 h 24"/>
              <a:gd name="T18" fmla="*/ 1587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4" name="Freeform 599"/>
          <p:cNvSpPr/>
          <p:nvPr/>
        </p:nvSpPr>
        <p:spPr bwMode="auto">
          <a:xfrm>
            <a:off x="1639961" y="3718972"/>
            <a:ext cx="509588" cy="509588"/>
          </a:xfrm>
          <a:custGeom>
            <a:avLst/>
            <a:gdLst>
              <a:gd name="T0" fmla="*/ 0 w 428"/>
              <a:gd name="T1" fmla="*/ 679450 h 428"/>
              <a:gd name="T2" fmla="*/ 0 w 428"/>
              <a:gd name="T3" fmla="*/ 471488 h 428"/>
              <a:gd name="T4" fmla="*/ 69850 w 428"/>
              <a:gd name="T5" fmla="*/ 400050 h 428"/>
              <a:gd name="T6" fmla="*/ 76200 w 428"/>
              <a:gd name="T7" fmla="*/ 400050 h 428"/>
              <a:gd name="T8" fmla="*/ 76200 w 428"/>
              <a:gd name="T9" fmla="*/ 76200 h 428"/>
              <a:gd name="T10" fmla="*/ 150813 w 428"/>
              <a:gd name="T11" fmla="*/ 0 h 428"/>
              <a:gd name="T12" fmla="*/ 603250 w 428"/>
              <a:gd name="T13" fmla="*/ 0 h 428"/>
              <a:gd name="T14" fmla="*/ 603250 w 428"/>
              <a:gd name="T15" fmla="*/ 227013 h 428"/>
              <a:gd name="T16" fmla="*/ 585788 w 428"/>
              <a:gd name="T17" fmla="*/ 282575 h 428"/>
              <a:gd name="T18" fmla="*/ 585788 w 428"/>
              <a:gd name="T19" fmla="*/ 385763 h 428"/>
              <a:gd name="T20" fmla="*/ 574675 w 428"/>
              <a:gd name="T21" fmla="*/ 395288 h 428"/>
              <a:gd name="T22" fmla="*/ 679450 w 428"/>
              <a:gd name="T23" fmla="*/ 395288 h 428"/>
              <a:gd name="T24" fmla="*/ 679450 w 428"/>
              <a:gd name="T25" fmla="*/ 603250 h 428"/>
              <a:gd name="T26" fmla="*/ 603250 w 428"/>
              <a:gd name="T27" fmla="*/ 679450 h 428"/>
              <a:gd name="T28" fmla="*/ 0 w 428"/>
              <a:gd name="T29" fmla="*/ 679450 h 42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8">
                <a:moveTo>
                  <a:pt x="0" y="428"/>
                </a:moveTo>
                <a:lnTo>
                  <a:pt x="0" y="297"/>
                </a:lnTo>
                <a:lnTo>
                  <a:pt x="44" y="252"/>
                </a:lnTo>
                <a:lnTo>
                  <a:pt x="48" y="252"/>
                </a:lnTo>
                <a:lnTo>
                  <a:pt x="48" y="48"/>
                </a:lnTo>
                <a:lnTo>
                  <a:pt x="95" y="0"/>
                </a:lnTo>
                <a:lnTo>
                  <a:pt x="380" y="0"/>
                </a:lnTo>
                <a:lnTo>
                  <a:pt x="380" y="143"/>
                </a:lnTo>
                <a:lnTo>
                  <a:pt x="369" y="178"/>
                </a:lnTo>
                <a:lnTo>
                  <a:pt x="369" y="243"/>
                </a:lnTo>
                <a:lnTo>
                  <a:pt x="362" y="249"/>
                </a:lnTo>
                <a:lnTo>
                  <a:pt x="428" y="249"/>
                </a:lnTo>
                <a:lnTo>
                  <a:pt x="428" y="380"/>
                </a:lnTo>
                <a:lnTo>
                  <a:pt x="380" y="428"/>
                </a:lnTo>
                <a:lnTo>
                  <a:pt x="0" y="428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5" name="Rectangle 600"/>
          <p:cNvSpPr>
            <a:spLocks noChangeArrowheads="1"/>
          </p:cNvSpPr>
          <p:nvPr/>
        </p:nvSpPr>
        <p:spPr bwMode="auto">
          <a:xfrm>
            <a:off x="2129308" y="3721354"/>
            <a:ext cx="72616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smtClean="0">
                <a:latin typeface="Sitka Text" panose="02000505000000020004" pitchFamily="2" charset="0"/>
                <a:ea typeface="SimSun" panose="02010600030101010101" pitchFamily="2" charset="-122"/>
              </a:rPr>
              <a:t>Peking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836" name="Freeform 601"/>
          <p:cNvSpPr/>
          <p:nvPr/>
        </p:nvSpPr>
        <p:spPr bwMode="auto">
          <a:xfrm>
            <a:off x="1966193" y="5601350"/>
            <a:ext cx="70247" cy="28575"/>
          </a:xfrm>
          <a:custGeom>
            <a:avLst/>
            <a:gdLst>
              <a:gd name="T0" fmla="*/ 55563 w 59"/>
              <a:gd name="T1" fmla="*/ 38100 h 24"/>
              <a:gd name="T2" fmla="*/ 93663 w 59"/>
              <a:gd name="T3" fmla="*/ 0 h 24"/>
              <a:gd name="T4" fmla="*/ 0 w 59"/>
              <a:gd name="T5" fmla="*/ 0 h 24"/>
              <a:gd name="T6" fmla="*/ 55563 w 59"/>
              <a:gd name="T7" fmla="*/ 38100 h 2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9" h="24">
                <a:moveTo>
                  <a:pt x="35" y="24"/>
                </a:moveTo>
                <a:lnTo>
                  <a:pt x="59" y="0"/>
                </a:lnTo>
                <a:lnTo>
                  <a:pt x="0" y="0"/>
                </a:lnTo>
                <a:lnTo>
                  <a:pt x="35" y="24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7" name="Freeform 602"/>
          <p:cNvSpPr/>
          <p:nvPr/>
        </p:nvSpPr>
        <p:spPr bwMode="auto">
          <a:xfrm>
            <a:off x="1526852" y="5603732"/>
            <a:ext cx="113109" cy="54769"/>
          </a:xfrm>
          <a:custGeom>
            <a:avLst/>
            <a:gdLst>
              <a:gd name="T0" fmla="*/ 150812 w 95"/>
              <a:gd name="T1" fmla="*/ 73025 h 46"/>
              <a:gd name="T2" fmla="*/ 69850 w 95"/>
              <a:gd name="T3" fmla="*/ 0 h 46"/>
              <a:gd name="T4" fmla="*/ 0 w 95"/>
              <a:gd name="T5" fmla="*/ 73025 h 46"/>
              <a:gd name="T6" fmla="*/ 150812 w 95"/>
              <a:gd name="T7" fmla="*/ 73025 h 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5" h="46">
                <a:moveTo>
                  <a:pt x="95" y="46"/>
                </a:moveTo>
                <a:lnTo>
                  <a:pt x="44" y="0"/>
                </a:lnTo>
                <a:lnTo>
                  <a:pt x="0" y="46"/>
                </a:lnTo>
                <a:lnTo>
                  <a:pt x="95" y="46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38" name="Freeform 603"/>
          <p:cNvSpPr/>
          <p:nvPr/>
        </p:nvSpPr>
        <p:spPr bwMode="auto">
          <a:xfrm>
            <a:off x="1584003" y="5601350"/>
            <a:ext cx="429815" cy="57150"/>
          </a:xfrm>
          <a:custGeom>
            <a:avLst/>
            <a:gdLst>
              <a:gd name="T0" fmla="*/ 573087 w 361"/>
              <a:gd name="T1" fmla="*/ 26988 h 48"/>
              <a:gd name="T2" fmla="*/ 517525 w 361"/>
              <a:gd name="T3" fmla="*/ 0 h 48"/>
              <a:gd name="T4" fmla="*/ 74612 w 361"/>
              <a:gd name="T5" fmla="*/ 0 h 48"/>
              <a:gd name="T6" fmla="*/ 0 w 361"/>
              <a:gd name="T7" fmla="*/ 38100 h 48"/>
              <a:gd name="T8" fmla="*/ 74612 w 361"/>
              <a:gd name="T9" fmla="*/ 76200 h 48"/>
              <a:gd name="T10" fmla="*/ 527050 w 361"/>
              <a:gd name="T11" fmla="*/ 76200 h 48"/>
              <a:gd name="T12" fmla="*/ 573087 w 361"/>
              <a:gd name="T13" fmla="*/ 26988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48">
                <a:moveTo>
                  <a:pt x="361" y="17"/>
                </a:moveTo>
                <a:lnTo>
                  <a:pt x="326" y="0"/>
                </a:lnTo>
                <a:lnTo>
                  <a:pt x="47" y="0"/>
                </a:lnTo>
                <a:lnTo>
                  <a:pt x="0" y="24"/>
                </a:lnTo>
                <a:lnTo>
                  <a:pt x="47" y="48"/>
                </a:lnTo>
                <a:lnTo>
                  <a:pt x="332" y="48"/>
                </a:lnTo>
                <a:lnTo>
                  <a:pt x="361" y="1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grpSp>
        <p:nvGrpSpPr>
          <p:cNvPr id="18839" name="Group 604"/>
          <p:cNvGrpSpPr/>
          <p:nvPr/>
        </p:nvGrpSpPr>
        <p:grpSpPr bwMode="auto">
          <a:xfrm>
            <a:off x="848196" y="3491563"/>
            <a:ext cx="1707358" cy="2624138"/>
            <a:chOff x="327" y="1230"/>
            <a:chExt cx="1434" cy="2204"/>
          </a:xfrm>
        </p:grpSpPr>
        <p:sp>
          <p:nvSpPr>
            <p:cNvPr id="18941" name="Freeform 605"/>
            <p:cNvSpPr/>
            <p:nvPr/>
          </p:nvSpPr>
          <p:spPr bwMode="auto">
            <a:xfrm>
              <a:off x="1003" y="3032"/>
              <a:ext cx="214" cy="14"/>
            </a:xfrm>
            <a:custGeom>
              <a:avLst/>
              <a:gdLst>
                <a:gd name="T0" fmla="*/ 214 w 214"/>
                <a:gd name="T1" fmla="*/ 0 h 14"/>
                <a:gd name="T2" fmla="*/ 214 w 214"/>
                <a:gd name="T3" fmla="*/ 14 h 14"/>
                <a:gd name="T4" fmla="*/ 0 w 214"/>
                <a:gd name="T5" fmla="*/ 14 h 14"/>
                <a:gd name="T6" fmla="*/ 0 w 214"/>
                <a:gd name="T7" fmla="*/ 14 h 14"/>
                <a:gd name="T8" fmla="*/ 31 w 214"/>
                <a:gd name="T9" fmla="*/ 14 h 14"/>
                <a:gd name="T10" fmla="*/ 60 w 214"/>
                <a:gd name="T11" fmla="*/ 13 h 14"/>
                <a:gd name="T12" fmla="*/ 88 w 214"/>
                <a:gd name="T13" fmla="*/ 13 h 14"/>
                <a:gd name="T14" fmla="*/ 113 w 214"/>
                <a:gd name="T15" fmla="*/ 11 h 14"/>
                <a:gd name="T16" fmla="*/ 137 w 214"/>
                <a:gd name="T17" fmla="*/ 10 h 14"/>
                <a:gd name="T18" fmla="*/ 159 w 214"/>
                <a:gd name="T19" fmla="*/ 9 h 14"/>
                <a:gd name="T20" fmla="*/ 176 w 214"/>
                <a:gd name="T21" fmla="*/ 8 h 14"/>
                <a:gd name="T22" fmla="*/ 190 w 214"/>
                <a:gd name="T23" fmla="*/ 5 h 14"/>
                <a:gd name="T24" fmla="*/ 201 w 214"/>
                <a:gd name="T25" fmla="*/ 4 h 14"/>
                <a:gd name="T26" fmla="*/ 207 w 214"/>
                <a:gd name="T27" fmla="*/ 1 h 14"/>
                <a:gd name="T28" fmla="*/ 209 w 214"/>
                <a:gd name="T29" fmla="*/ 0 h 14"/>
                <a:gd name="T30" fmla="*/ 214 w 214"/>
                <a:gd name="T31" fmla="*/ 0 h 1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4" h="14">
                  <a:moveTo>
                    <a:pt x="214" y="0"/>
                  </a:moveTo>
                  <a:lnTo>
                    <a:pt x="214" y="14"/>
                  </a:lnTo>
                  <a:lnTo>
                    <a:pt x="0" y="14"/>
                  </a:lnTo>
                  <a:lnTo>
                    <a:pt x="31" y="14"/>
                  </a:lnTo>
                  <a:lnTo>
                    <a:pt x="60" y="13"/>
                  </a:lnTo>
                  <a:lnTo>
                    <a:pt x="88" y="13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6" y="8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2" name="Freeform 606"/>
            <p:cNvSpPr/>
            <p:nvPr/>
          </p:nvSpPr>
          <p:spPr bwMode="auto">
            <a:xfrm>
              <a:off x="1003" y="3032"/>
              <a:ext cx="209" cy="14"/>
            </a:xfrm>
            <a:custGeom>
              <a:avLst/>
              <a:gdLst>
                <a:gd name="T0" fmla="*/ 0 w 209"/>
                <a:gd name="T1" fmla="*/ 14 h 14"/>
                <a:gd name="T2" fmla="*/ 31 w 209"/>
                <a:gd name="T3" fmla="*/ 14 h 14"/>
                <a:gd name="T4" fmla="*/ 60 w 209"/>
                <a:gd name="T5" fmla="*/ 13 h 14"/>
                <a:gd name="T6" fmla="*/ 88 w 209"/>
                <a:gd name="T7" fmla="*/ 13 h 14"/>
                <a:gd name="T8" fmla="*/ 113 w 209"/>
                <a:gd name="T9" fmla="*/ 11 h 14"/>
                <a:gd name="T10" fmla="*/ 137 w 209"/>
                <a:gd name="T11" fmla="*/ 10 h 14"/>
                <a:gd name="T12" fmla="*/ 159 w 209"/>
                <a:gd name="T13" fmla="*/ 9 h 14"/>
                <a:gd name="T14" fmla="*/ 176 w 209"/>
                <a:gd name="T15" fmla="*/ 8 h 14"/>
                <a:gd name="T16" fmla="*/ 190 w 209"/>
                <a:gd name="T17" fmla="*/ 5 h 14"/>
                <a:gd name="T18" fmla="*/ 201 w 209"/>
                <a:gd name="T19" fmla="*/ 4 h 14"/>
                <a:gd name="T20" fmla="*/ 207 w 209"/>
                <a:gd name="T21" fmla="*/ 1 h 14"/>
                <a:gd name="T22" fmla="*/ 209 w 209"/>
                <a:gd name="T23" fmla="*/ 0 h 14"/>
                <a:gd name="T24" fmla="*/ 204 w 209"/>
                <a:gd name="T25" fmla="*/ 0 h 14"/>
                <a:gd name="T26" fmla="*/ 202 w 209"/>
                <a:gd name="T27" fmla="*/ 1 h 14"/>
                <a:gd name="T28" fmla="*/ 194 w 209"/>
                <a:gd name="T29" fmla="*/ 4 h 14"/>
                <a:gd name="T30" fmla="*/ 183 w 209"/>
                <a:gd name="T31" fmla="*/ 6 h 14"/>
                <a:gd name="T32" fmla="*/ 165 w 209"/>
                <a:gd name="T33" fmla="*/ 8 h 14"/>
                <a:gd name="T34" fmla="*/ 145 w 209"/>
                <a:gd name="T35" fmla="*/ 9 h 14"/>
                <a:gd name="T36" fmla="*/ 121 w 209"/>
                <a:gd name="T37" fmla="*/ 11 h 14"/>
                <a:gd name="T38" fmla="*/ 93 w 209"/>
                <a:gd name="T39" fmla="*/ 11 h 14"/>
                <a:gd name="T40" fmla="*/ 64 w 209"/>
                <a:gd name="T41" fmla="*/ 13 h 14"/>
                <a:gd name="T42" fmla="*/ 33 w 209"/>
                <a:gd name="T43" fmla="*/ 14 h 14"/>
                <a:gd name="T44" fmla="*/ 0 w 209"/>
                <a:gd name="T45" fmla="*/ 14 h 14"/>
                <a:gd name="T46" fmla="*/ 0 w 209"/>
                <a:gd name="T47" fmla="*/ 14 h 1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9" h="14">
                  <a:moveTo>
                    <a:pt x="0" y="14"/>
                  </a:moveTo>
                  <a:lnTo>
                    <a:pt x="31" y="14"/>
                  </a:lnTo>
                  <a:lnTo>
                    <a:pt x="60" y="13"/>
                  </a:lnTo>
                  <a:lnTo>
                    <a:pt x="88" y="13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9"/>
                  </a:lnTo>
                  <a:lnTo>
                    <a:pt x="176" y="8"/>
                  </a:lnTo>
                  <a:lnTo>
                    <a:pt x="190" y="5"/>
                  </a:lnTo>
                  <a:lnTo>
                    <a:pt x="201" y="4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04" y="0"/>
                  </a:ln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8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3"/>
                  </a:lnTo>
                  <a:lnTo>
                    <a:pt x="33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3" name="Freeform 607"/>
            <p:cNvSpPr/>
            <p:nvPr/>
          </p:nvSpPr>
          <p:spPr bwMode="auto">
            <a:xfrm>
              <a:off x="1003" y="3032"/>
              <a:ext cx="204" cy="14"/>
            </a:xfrm>
            <a:custGeom>
              <a:avLst/>
              <a:gdLst>
                <a:gd name="T0" fmla="*/ 204 w 204"/>
                <a:gd name="T1" fmla="*/ 0 h 14"/>
                <a:gd name="T2" fmla="*/ 202 w 204"/>
                <a:gd name="T3" fmla="*/ 1 h 14"/>
                <a:gd name="T4" fmla="*/ 194 w 204"/>
                <a:gd name="T5" fmla="*/ 4 h 14"/>
                <a:gd name="T6" fmla="*/ 183 w 204"/>
                <a:gd name="T7" fmla="*/ 6 h 14"/>
                <a:gd name="T8" fmla="*/ 165 w 204"/>
                <a:gd name="T9" fmla="*/ 8 h 14"/>
                <a:gd name="T10" fmla="*/ 145 w 204"/>
                <a:gd name="T11" fmla="*/ 9 h 14"/>
                <a:gd name="T12" fmla="*/ 121 w 204"/>
                <a:gd name="T13" fmla="*/ 11 h 14"/>
                <a:gd name="T14" fmla="*/ 93 w 204"/>
                <a:gd name="T15" fmla="*/ 11 h 14"/>
                <a:gd name="T16" fmla="*/ 64 w 204"/>
                <a:gd name="T17" fmla="*/ 13 h 14"/>
                <a:gd name="T18" fmla="*/ 33 w 204"/>
                <a:gd name="T19" fmla="*/ 14 h 14"/>
                <a:gd name="T20" fmla="*/ 0 w 204"/>
                <a:gd name="T21" fmla="*/ 14 h 14"/>
                <a:gd name="T22" fmla="*/ 0 w 204"/>
                <a:gd name="T23" fmla="*/ 13 h 14"/>
                <a:gd name="T24" fmla="*/ 32 w 204"/>
                <a:gd name="T25" fmla="*/ 13 h 14"/>
                <a:gd name="T26" fmla="*/ 62 w 204"/>
                <a:gd name="T27" fmla="*/ 13 h 14"/>
                <a:gd name="T28" fmla="*/ 90 w 204"/>
                <a:gd name="T29" fmla="*/ 11 h 14"/>
                <a:gd name="T30" fmla="*/ 117 w 204"/>
                <a:gd name="T31" fmla="*/ 10 h 14"/>
                <a:gd name="T32" fmla="*/ 141 w 204"/>
                <a:gd name="T33" fmla="*/ 9 h 14"/>
                <a:gd name="T34" fmla="*/ 161 w 204"/>
                <a:gd name="T35" fmla="*/ 8 h 14"/>
                <a:gd name="T36" fmla="*/ 178 w 204"/>
                <a:gd name="T37" fmla="*/ 5 h 14"/>
                <a:gd name="T38" fmla="*/ 189 w 204"/>
                <a:gd name="T39" fmla="*/ 4 h 14"/>
                <a:gd name="T40" fmla="*/ 197 w 204"/>
                <a:gd name="T41" fmla="*/ 1 h 14"/>
                <a:gd name="T42" fmla="*/ 199 w 204"/>
                <a:gd name="T43" fmla="*/ 0 h 14"/>
                <a:gd name="T44" fmla="*/ 204 w 204"/>
                <a:gd name="T45" fmla="*/ 0 h 1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4" h="14">
                  <a:moveTo>
                    <a:pt x="204" y="0"/>
                  </a:moveTo>
                  <a:lnTo>
                    <a:pt x="202" y="1"/>
                  </a:lnTo>
                  <a:lnTo>
                    <a:pt x="194" y="4"/>
                  </a:lnTo>
                  <a:lnTo>
                    <a:pt x="183" y="6"/>
                  </a:lnTo>
                  <a:lnTo>
                    <a:pt x="165" y="8"/>
                  </a:lnTo>
                  <a:lnTo>
                    <a:pt x="145" y="9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3"/>
                  </a:lnTo>
                  <a:lnTo>
                    <a:pt x="33" y="14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32" y="13"/>
                  </a:lnTo>
                  <a:lnTo>
                    <a:pt x="62" y="13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8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4" name="Freeform 608"/>
            <p:cNvSpPr/>
            <p:nvPr/>
          </p:nvSpPr>
          <p:spPr bwMode="auto">
            <a:xfrm>
              <a:off x="1003" y="3032"/>
              <a:ext cx="199" cy="13"/>
            </a:xfrm>
            <a:custGeom>
              <a:avLst/>
              <a:gdLst>
                <a:gd name="T0" fmla="*/ 0 w 199"/>
                <a:gd name="T1" fmla="*/ 13 h 13"/>
                <a:gd name="T2" fmla="*/ 32 w 199"/>
                <a:gd name="T3" fmla="*/ 13 h 13"/>
                <a:gd name="T4" fmla="*/ 62 w 199"/>
                <a:gd name="T5" fmla="*/ 13 h 13"/>
                <a:gd name="T6" fmla="*/ 90 w 199"/>
                <a:gd name="T7" fmla="*/ 11 h 13"/>
                <a:gd name="T8" fmla="*/ 117 w 199"/>
                <a:gd name="T9" fmla="*/ 10 h 13"/>
                <a:gd name="T10" fmla="*/ 141 w 199"/>
                <a:gd name="T11" fmla="*/ 9 h 13"/>
                <a:gd name="T12" fmla="*/ 161 w 199"/>
                <a:gd name="T13" fmla="*/ 8 h 13"/>
                <a:gd name="T14" fmla="*/ 178 w 199"/>
                <a:gd name="T15" fmla="*/ 5 h 13"/>
                <a:gd name="T16" fmla="*/ 189 w 199"/>
                <a:gd name="T17" fmla="*/ 4 h 13"/>
                <a:gd name="T18" fmla="*/ 197 w 199"/>
                <a:gd name="T19" fmla="*/ 1 h 13"/>
                <a:gd name="T20" fmla="*/ 199 w 199"/>
                <a:gd name="T21" fmla="*/ 0 h 13"/>
                <a:gd name="T22" fmla="*/ 193 w 199"/>
                <a:gd name="T23" fmla="*/ 0 h 13"/>
                <a:gd name="T24" fmla="*/ 190 w 199"/>
                <a:gd name="T25" fmla="*/ 1 h 13"/>
                <a:gd name="T26" fmla="*/ 184 w 199"/>
                <a:gd name="T27" fmla="*/ 4 h 13"/>
                <a:gd name="T28" fmla="*/ 173 w 199"/>
                <a:gd name="T29" fmla="*/ 5 h 13"/>
                <a:gd name="T30" fmla="*/ 156 w 199"/>
                <a:gd name="T31" fmla="*/ 8 h 13"/>
                <a:gd name="T32" fmla="*/ 137 w 199"/>
                <a:gd name="T33" fmla="*/ 9 h 13"/>
                <a:gd name="T34" fmla="*/ 114 w 199"/>
                <a:gd name="T35" fmla="*/ 10 h 13"/>
                <a:gd name="T36" fmla="*/ 88 w 199"/>
                <a:gd name="T37" fmla="*/ 11 h 13"/>
                <a:gd name="T38" fmla="*/ 60 w 199"/>
                <a:gd name="T39" fmla="*/ 13 h 13"/>
                <a:gd name="T40" fmla="*/ 31 w 199"/>
                <a:gd name="T41" fmla="*/ 13 h 13"/>
                <a:gd name="T42" fmla="*/ 0 w 199"/>
                <a:gd name="T43" fmla="*/ 13 h 13"/>
                <a:gd name="T44" fmla="*/ 0 w 199"/>
                <a:gd name="T45" fmla="*/ 13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9" h="13">
                  <a:moveTo>
                    <a:pt x="0" y="13"/>
                  </a:moveTo>
                  <a:lnTo>
                    <a:pt x="32" y="13"/>
                  </a:lnTo>
                  <a:lnTo>
                    <a:pt x="62" y="13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9"/>
                  </a:lnTo>
                  <a:lnTo>
                    <a:pt x="161" y="8"/>
                  </a:lnTo>
                  <a:lnTo>
                    <a:pt x="178" y="5"/>
                  </a:lnTo>
                  <a:lnTo>
                    <a:pt x="189" y="4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193" y="0"/>
                  </a:ln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8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3"/>
                  </a:lnTo>
                  <a:lnTo>
                    <a:pt x="31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5" name="Freeform 609"/>
            <p:cNvSpPr/>
            <p:nvPr/>
          </p:nvSpPr>
          <p:spPr bwMode="auto">
            <a:xfrm>
              <a:off x="1003" y="3032"/>
              <a:ext cx="193" cy="13"/>
            </a:xfrm>
            <a:custGeom>
              <a:avLst/>
              <a:gdLst>
                <a:gd name="T0" fmla="*/ 193 w 193"/>
                <a:gd name="T1" fmla="*/ 0 h 13"/>
                <a:gd name="T2" fmla="*/ 190 w 193"/>
                <a:gd name="T3" fmla="*/ 1 h 13"/>
                <a:gd name="T4" fmla="*/ 184 w 193"/>
                <a:gd name="T5" fmla="*/ 4 h 13"/>
                <a:gd name="T6" fmla="*/ 173 w 193"/>
                <a:gd name="T7" fmla="*/ 5 h 13"/>
                <a:gd name="T8" fmla="*/ 156 w 193"/>
                <a:gd name="T9" fmla="*/ 8 h 13"/>
                <a:gd name="T10" fmla="*/ 137 w 193"/>
                <a:gd name="T11" fmla="*/ 9 h 13"/>
                <a:gd name="T12" fmla="*/ 114 w 193"/>
                <a:gd name="T13" fmla="*/ 10 h 13"/>
                <a:gd name="T14" fmla="*/ 88 w 193"/>
                <a:gd name="T15" fmla="*/ 11 h 13"/>
                <a:gd name="T16" fmla="*/ 60 w 193"/>
                <a:gd name="T17" fmla="*/ 13 h 13"/>
                <a:gd name="T18" fmla="*/ 31 w 193"/>
                <a:gd name="T19" fmla="*/ 13 h 13"/>
                <a:gd name="T20" fmla="*/ 0 w 193"/>
                <a:gd name="T21" fmla="*/ 13 h 13"/>
                <a:gd name="T22" fmla="*/ 0 w 193"/>
                <a:gd name="T23" fmla="*/ 13 h 13"/>
                <a:gd name="T24" fmla="*/ 30 w 193"/>
                <a:gd name="T25" fmla="*/ 13 h 13"/>
                <a:gd name="T26" fmla="*/ 59 w 193"/>
                <a:gd name="T27" fmla="*/ 11 h 13"/>
                <a:gd name="T28" fmla="*/ 85 w 193"/>
                <a:gd name="T29" fmla="*/ 11 h 13"/>
                <a:gd name="T30" fmla="*/ 111 w 193"/>
                <a:gd name="T31" fmla="*/ 10 h 13"/>
                <a:gd name="T32" fmla="*/ 132 w 193"/>
                <a:gd name="T33" fmla="*/ 9 h 13"/>
                <a:gd name="T34" fmla="*/ 151 w 193"/>
                <a:gd name="T35" fmla="*/ 8 h 13"/>
                <a:gd name="T36" fmla="*/ 166 w 193"/>
                <a:gd name="T37" fmla="*/ 5 h 13"/>
                <a:gd name="T38" fmla="*/ 178 w 193"/>
                <a:gd name="T39" fmla="*/ 4 h 13"/>
                <a:gd name="T40" fmla="*/ 185 w 193"/>
                <a:gd name="T41" fmla="*/ 1 h 13"/>
                <a:gd name="T42" fmla="*/ 187 w 193"/>
                <a:gd name="T43" fmla="*/ 0 h 13"/>
                <a:gd name="T44" fmla="*/ 193 w 193"/>
                <a:gd name="T45" fmla="*/ 0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3" h="13">
                  <a:moveTo>
                    <a:pt x="193" y="0"/>
                  </a:moveTo>
                  <a:lnTo>
                    <a:pt x="190" y="1"/>
                  </a:lnTo>
                  <a:lnTo>
                    <a:pt x="184" y="4"/>
                  </a:lnTo>
                  <a:lnTo>
                    <a:pt x="173" y="5"/>
                  </a:lnTo>
                  <a:lnTo>
                    <a:pt x="156" y="8"/>
                  </a:lnTo>
                  <a:lnTo>
                    <a:pt x="137" y="9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3"/>
                  </a:lnTo>
                  <a:lnTo>
                    <a:pt x="31" y="13"/>
                  </a:lnTo>
                  <a:lnTo>
                    <a:pt x="0" y="13"/>
                  </a:lnTo>
                  <a:lnTo>
                    <a:pt x="30" y="13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8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6" name="Freeform 610"/>
            <p:cNvSpPr/>
            <p:nvPr/>
          </p:nvSpPr>
          <p:spPr bwMode="auto">
            <a:xfrm>
              <a:off x="1003" y="3032"/>
              <a:ext cx="187" cy="13"/>
            </a:xfrm>
            <a:custGeom>
              <a:avLst/>
              <a:gdLst>
                <a:gd name="T0" fmla="*/ 0 w 187"/>
                <a:gd name="T1" fmla="*/ 13 h 13"/>
                <a:gd name="T2" fmla="*/ 30 w 187"/>
                <a:gd name="T3" fmla="*/ 13 h 13"/>
                <a:gd name="T4" fmla="*/ 59 w 187"/>
                <a:gd name="T5" fmla="*/ 11 h 13"/>
                <a:gd name="T6" fmla="*/ 85 w 187"/>
                <a:gd name="T7" fmla="*/ 11 h 13"/>
                <a:gd name="T8" fmla="*/ 111 w 187"/>
                <a:gd name="T9" fmla="*/ 10 h 13"/>
                <a:gd name="T10" fmla="*/ 132 w 187"/>
                <a:gd name="T11" fmla="*/ 9 h 13"/>
                <a:gd name="T12" fmla="*/ 151 w 187"/>
                <a:gd name="T13" fmla="*/ 8 h 13"/>
                <a:gd name="T14" fmla="*/ 166 w 187"/>
                <a:gd name="T15" fmla="*/ 5 h 13"/>
                <a:gd name="T16" fmla="*/ 178 w 187"/>
                <a:gd name="T17" fmla="*/ 4 h 13"/>
                <a:gd name="T18" fmla="*/ 185 w 187"/>
                <a:gd name="T19" fmla="*/ 1 h 13"/>
                <a:gd name="T20" fmla="*/ 187 w 187"/>
                <a:gd name="T21" fmla="*/ 0 h 13"/>
                <a:gd name="T22" fmla="*/ 180 w 187"/>
                <a:gd name="T23" fmla="*/ 0 h 13"/>
                <a:gd name="T24" fmla="*/ 179 w 187"/>
                <a:gd name="T25" fmla="*/ 1 h 13"/>
                <a:gd name="T26" fmla="*/ 171 w 187"/>
                <a:gd name="T27" fmla="*/ 4 h 13"/>
                <a:gd name="T28" fmla="*/ 161 w 187"/>
                <a:gd name="T29" fmla="*/ 5 h 13"/>
                <a:gd name="T30" fmla="*/ 146 w 187"/>
                <a:gd name="T31" fmla="*/ 6 h 13"/>
                <a:gd name="T32" fmla="*/ 128 w 187"/>
                <a:gd name="T33" fmla="*/ 8 h 13"/>
                <a:gd name="T34" fmla="*/ 107 w 187"/>
                <a:gd name="T35" fmla="*/ 9 h 13"/>
                <a:gd name="T36" fmla="*/ 83 w 187"/>
                <a:gd name="T37" fmla="*/ 10 h 13"/>
                <a:gd name="T38" fmla="*/ 56 w 187"/>
                <a:gd name="T39" fmla="*/ 11 h 13"/>
                <a:gd name="T40" fmla="*/ 30 w 187"/>
                <a:gd name="T41" fmla="*/ 11 h 13"/>
                <a:gd name="T42" fmla="*/ 0 w 187"/>
                <a:gd name="T43" fmla="*/ 11 h 13"/>
                <a:gd name="T44" fmla="*/ 0 w 187"/>
                <a:gd name="T45" fmla="*/ 13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7" h="13">
                  <a:moveTo>
                    <a:pt x="0" y="13"/>
                  </a:moveTo>
                  <a:lnTo>
                    <a:pt x="30" y="13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9"/>
                  </a:lnTo>
                  <a:lnTo>
                    <a:pt x="151" y="8"/>
                  </a:lnTo>
                  <a:lnTo>
                    <a:pt x="166" y="5"/>
                  </a:lnTo>
                  <a:lnTo>
                    <a:pt x="178" y="4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80" y="0"/>
                  </a:ln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8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7" name="Freeform 611"/>
            <p:cNvSpPr/>
            <p:nvPr/>
          </p:nvSpPr>
          <p:spPr bwMode="auto">
            <a:xfrm>
              <a:off x="1003" y="3032"/>
              <a:ext cx="180" cy="11"/>
            </a:xfrm>
            <a:custGeom>
              <a:avLst/>
              <a:gdLst>
                <a:gd name="T0" fmla="*/ 180 w 180"/>
                <a:gd name="T1" fmla="*/ 0 h 11"/>
                <a:gd name="T2" fmla="*/ 179 w 180"/>
                <a:gd name="T3" fmla="*/ 1 h 11"/>
                <a:gd name="T4" fmla="*/ 171 w 180"/>
                <a:gd name="T5" fmla="*/ 4 h 11"/>
                <a:gd name="T6" fmla="*/ 161 w 180"/>
                <a:gd name="T7" fmla="*/ 5 h 11"/>
                <a:gd name="T8" fmla="*/ 146 w 180"/>
                <a:gd name="T9" fmla="*/ 6 h 11"/>
                <a:gd name="T10" fmla="*/ 128 w 180"/>
                <a:gd name="T11" fmla="*/ 8 h 11"/>
                <a:gd name="T12" fmla="*/ 107 w 180"/>
                <a:gd name="T13" fmla="*/ 9 h 11"/>
                <a:gd name="T14" fmla="*/ 83 w 180"/>
                <a:gd name="T15" fmla="*/ 10 h 11"/>
                <a:gd name="T16" fmla="*/ 56 w 180"/>
                <a:gd name="T17" fmla="*/ 11 h 11"/>
                <a:gd name="T18" fmla="*/ 30 w 180"/>
                <a:gd name="T19" fmla="*/ 11 h 11"/>
                <a:gd name="T20" fmla="*/ 0 w 180"/>
                <a:gd name="T21" fmla="*/ 11 h 11"/>
                <a:gd name="T22" fmla="*/ 0 w 180"/>
                <a:gd name="T23" fmla="*/ 11 h 11"/>
                <a:gd name="T24" fmla="*/ 28 w 180"/>
                <a:gd name="T25" fmla="*/ 11 h 11"/>
                <a:gd name="T26" fmla="*/ 55 w 180"/>
                <a:gd name="T27" fmla="*/ 11 h 11"/>
                <a:gd name="T28" fmla="*/ 79 w 180"/>
                <a:gd name="T29" fmla="*/ 10 h 11"/>
                <a:gd name="T30" fmla="*/ 103 w 180"/>
                <a:gd name="T31" fmla="*/ 9 h 11"/>
                <a:gd name="T32" fmla="*/ 123 w 180"/>
                <a:gd name="T33" fmla="*/ 8 h 11"/>
                <a:gd name="T34" fmla="*/ 141 w 180"/>
                <a:gd name="T35" fmla="*/ 6 h 11"/>
                <a:gd name="T36" fmla="*/ 155 w 180"/>
                <a:gd name="T37" fmla="*/ 5 h 11"/>
                <a:gd name="T38" fmla="*/ 165 w 180"/>
                <a:gd name="T39" fmla="*/ 2 h 11"/>
                <a:gd name="T40" fmla="*/ 171 w 180"/>
                <a:gd name="T41" fmla="*/ 1 h 11"/>
                <a:gd name="T42" fmla="*/ 174 w 180"/>
                <a:gd name="T43" fmla="*/ 0 h 11"/>
                <a:gd name="T44" fmla="*/ 180 w 180"/>
                <a:gd name="T45" fmla="*/ 0 h 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0" h="11">
                  <a:moveTo>
                    <a:pt x="180" y="0"/>
                  </a:moveTo>
                  <a:lnTo>
                    <a:pt x="179" y="1"/>
                  </a:lnTo>
                  <a:lnTo>
                    <a:pt x="171" y="4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8"/>
                  </a:lnTo>
                  <a:lnTo>
                    <a:pt x="107" y="9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8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8" name="Freeform 612"/>
            <p:cNvSpPr/>
            <p:nvPr/>
          </p:nvSpPr>
          <p:spPr bwMode="auto">
            <a:xfrm>
              <a:off x="1003" y="3032"/>
              <a:ext cx="174" cy="11"/>
            </a:xfrm>
            <a:custGeom>
              <a:avLst/>
              <a:gdLst>
                <a:gd name="T0" fmla="*/ 0 w 174"/>
                <a:gd name="T1" fmla="*/ 11 h 11"/>
                <a:gd name="T2" fmla="*/ 28 w 174"/>
                <a:gd name="T3" fmla="*/ 11 h 11"/>
                <a:gd name="T4" fmla="*/ 55 w 174"/>
                <a:gd name="T5" fmla="*/ 11 h 11"/>
                <a:gd name="T6" fmla="*/ 79 w 174"/>
                <a:gd name="T7" fmla="*/ 10 h 11"/>
                <a:gd name="T8" fmla="*/ 103 w 174"/>
                <a:gd name="T9" fmla="*/ 9 h 11"/>
                <a:gd name="T10" fmla="*/ 123 w 174"/>
                <a:gd name="T11" fmla="*/ 8 h 11"/>
                <a:gd name="T12" fmla="*/ 141 w 174"/>
                <a:gd name="T13" fmla="*/ 6 h 11"/>
                <a:gd name="T14" fmla="*/ 155 w 174"/>
                <a:gd name="T15" fmla="*/ 5 h 11"/>
                <a:gd name="T16" fmla="*/ 165 w 174"/>
                <a:gd name="T17" fmla="*/ 2 h 11"/>
                <a:gd name="T18" fmla="*/ 171 w 174"/>
                <a:gd name="T19" fmla="*/ 1 h 11"/>
                <a:gd name="T20" fmla="*/ 174 w 174"/>
                <a:gd name="T21" fmla="*/ 0 h 11"/>
                <a:gd name="T22" fmla="*/ 166 w 174"/>
                <a:gd name="T23" fmla="*/ 0 h 11"/>
                <a:gd name="T24" fmla="*/ 164 w 174"/>
                <a:gd name="T25" fmla="*/ 1 h 11"/>
                <a:gd name="T26" fmla="*/ 156 w 174"/>
                <a:gd name="T27" fmla="*/ 4 h 11"/>
                <a:gd name="T28" fmla="*/ 145 w 174"/>
                <a:gd name="T29" fmla="*/ 5 h 11"/>
                <a:gd name="T30" fmla="*/ 128 w 174"/>
                <a:gd name="T31" fmla="*/ 6 h 11"/>
                <a:gd name="T32" fmla="*/ 108 w 174"/>
                <a:gd name="T33" fmla="*/ 8 h 11"/>
                <a:gd name="T34" fmla="*/ 84 w 174"/>
                <a:gd name="T35" fmla="*/ 9 h 11"/>
                <a:gd name="T36" fmla="*/ 57 w 174"/>
                <a:gd name="T37" fmla="*/ 10 h 11"/>
                <a:gd name="T38" fmla="*/ 30 w 174"/>
                <a:gd name="T39" fmla="*/ 10 h 11"/>
                <a:gd name="T40" fmla="*/ 0 w 174"/>
                <a:gd name="T41" fmla="*/ 11 h 11"/>
                <a:gd name="T42" fmla="*/ 0 w 174"/>
                <a:gd name="T43" fmla="*/ 11 h 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1">
                  <a:moveTo>
                    <a:pt x="0" y="11"/>
                  </a:move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9"/>
                  </a:lnTo>
                  <a:lnTo>
                    <a:pt x="123" y="8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66" y="0"/>
                  </a:ln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8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49" name="Freeform 613"/>
            <p:cNvSpPr/>
            <p:nvPr/>
          </p:nvSpPr>
          <p:spPr bwMode="auto">
            <a:xfrm>
              <a:off x="1003" y="3032"/>
              <a:ext cx="166" cy="11"/>
            </a:xfrm>
            <a:custGeom>
              <a:avLst/>
              <a:gdLst>
                <a:gd name="T0" fmla="*/ 166 w 166"/>
                <a:gd name="T1" fmla="*/ 0 h 11"/>
                <a:gd name="T2" fmla="*/ 164 w 166"/>
                <a:gd name="T3" fmla="*/ 1 h 11"/>
                <a:gd name="T4" fmla="*/ 156 w 166"/>
                <a:gd name="T5" fmla="*/ 4 h 11"/>
                <a:gd name="T6" fmla="*/ 145 w 166"/>
                <a:gd name="T7" fmla="*/ 5 h 11"/>
                <a:gd name="T8" fmla="*/ 128 w 166"/>
                <a:gd name="T9" fmla="*/ 6 h 11"/>
                <a:gd name="T10" fmla="*/ 108 w 166"/>
                <a:gd name="T11" fmla="*/ 8 h 11"/>
                <a:gd name="T12" fmla="*/ 84 w 166"/>
                <a:gd name="T13" fmla="*/ 9 h 11"/>
                <a:gd name="T14" fmla="*/ 57 w 166"/>
                <a:gd name="T15" fmla="*/ 10 h 11"/>
                <a:gd name="T16" fmla="*/ 30 w 166"/>
                <a:gd name="T17" fmla="*/ 10 h 11"/>
                <a:gd name="T18" fmla="*/ 0 w 166"/>
                <a:gd name="T19" fmla="*/ 11 h 11"/>
                <a:gd name="T20" fmla="*/ 0 w 166"/>
                <a:gd name="T21" fmla="*/ 10 h 11"/>
                <a:gd name="T22" fmla="*/ 28 w 166"/>
                <a:gd name="T23" fmla="*/ 10 h 11"/>
                <a:gd name="T24" fmla="*/ 55 w 166"/>
                <a:gd name="T25" fmla="*/ 10 h 11"/>
                <a:gd name="T26" fmla="*/ 80 w 166"/>
                <a:gd name="T27" fmla="*/ 9 h 11"/>
                <a:gd name="T28" fmla="*/ 103 w 166"/>
                <a:gd name="T29" fmla="*/ 8 h 11"/>
                <a:gd name="T30" fmla="*/ 122 w 166"/>
                <a:gd name="T31" fmla="*/ 6 h 11"/>
                <a:gd name="T32" fmla="*/ 138 w 166"/>
                <a:gd name="T33" fmla="*/ 5 h 11"/>
                <a:gd name="T34" fmla="*/ 150 w 166"/>
                <a:gd name="T35" fmla="*/ 2 h 11"/>
                <a:gd name="T36" fmla="*/ 157 w 166"/>
                <a:gd name="T37" fmla="*/ 1 h 11"/>
                <a:gd name="T38" fmla="*/ 159 w 166"/>
                <a:gd name="T39" fmla="*/ 0 h 11"/>
                <a:gd name="T40" fmla="*/ 166 w 166"/>
                <a:gd name="T41" fmla="*/ 0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6" h="11">
                  <a:moveTo>
                    <a:pt x="166" y="0"/>
                  </a:moveTo>
                  <a:lnTo>
                    <a:pt x="164" y="1"/>
                  </a:lnTo>
                  <a:lnTo>
                    <a:pt x="156" y="4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8"/>
                  </a:lnTo>
                  <a:lnTo>
                    <a:pt x="84" y="9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8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0" name="Freeform 614"/>
            <p:cNvSpPr/>
            <p:nvPr/>
          </p:nvSpPr>
          <p:spPr bwMode="auto">
            <a:xfrm>
              <a:off x="1003" y="3032"/>
              <a:ext cx="159" cy="10"/>
            </a:xfrm>
            <a:custGeom>
              <a:avLst/>
              <a:gdLst>
                <a:gd name="T0" fmla="*/ 0 w 159"/>
                <a:gd name="T1" fmla="*/ 10 h 10"/>
                <a:gd name="T2" fmla="*/ 28 w 159"/>
                <a:gd name="T3" fmla="*/ 10 h 10"/>
                <a:gd name="T4" fmla="*/ 55 w 159"/>
                <a:gd name="T5" fmla="*/ 10 h 10"/>
                <a:gd name="T6" fmla="*/ 80 w 159"/>
                <a:gd name="T7" fmla="*/ 9 h 10"/>
                <a:gd name="T8" fmla="*/ 103 w 159"/>
                <a:gd name="T9" fmla="*/ 8 h 10"/>
                <a:gd name="T10" fmla="*/ 122 w 159"/>
                <a:gd name="T11" fmla="*/ 6 h 10"/>
                <a:gd name="T12" fmla="*/ 138 w 159"/>
                <a:gd name="T13" fmla="*/ 5 h 10"/>
                <a:gd name="T14" fmla="*/ 150 w 159"/>
                <a:gd name="T15" fmla="*/ 2 h 10"/>
                <a:gd name="T16" fmla="*/ 157 w 159"/>
                <a:gd name="T17" fmla="*/ 1 h 10"/>
                <a:gd name="T18" fmla="*/ 159 w 159"/>
                <a:gd name="T19" fmla="*/ 0 h 10"/>
                <a:gd name="T20" fmla="*/ 151 w 159"/>
                <a:gd name="T21" fmla="*/ 0 h 10"/>
                <a:gd name="T22" fmla="*/ 149 w 159"/>
                <a:gd name="T23" fmla="*/ 1 h 10"/>
                <a:gd name="T24" fmla="*/ 142 w 159"/>
                <a:gd name="T25" fmla="*/ 2 h 10"/>
                <a:gd name="T26" fmla="*/ 131 w 159"/>
                <a:gd name="T27" fmla="*/ 5 h 10"/>
                <a:gd name="T28" fmla="*/ 116 w 159"/>
                <a:gd name="T29" fmla="*/ 6 h 10"/>
                <a:gd name="T30" fmla="*/ 98 w 159"/>
                <a:gd name="T31" fmla="*/ 8 h 10"/>
                <a:gd name="T32" fmla="*/ 76 w 159"/>
                <a:gd name="T33" fmla="*/ 9 h 10"/>
                <a:gd name="T34" fmla="*/ 52 w 159"/>
                <a:gd name="T35" fmla="*/ 9 h 10"/>
                <a:gd name="T36" fmla="*/ 27 w 159"/>
                <a:gd name="T37" fmla="*/ 10 h 10"/>
                <a:gd name="T38" fmla="*/ 0 w 159"/>
                <a:gd name="T39" fmla="*/ 10 h 10"/>
                <a:gd name="T40" fmla="*/ 0 w 159"/>
                <a:gd name="T41" fmla="*/ 1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9" h="10">
                  <a:moveTo>
                    <a:pt x="0" y="10"/>
                  </a:moveTo>
                  <a:lnTo>
                    <a:pt x="28" y="10"/>
                  </a:lnTo>
                  <a:lnTo>
                    <a:pt x="55" y="10"/>
                  </a:lnTo>
                  <a:lnTo>
                    <a:pt x="80" y="9"/>
                  </a:lnTo>
                  <a:lnTo>
                    <a:pt x="103" y="8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51" y="0"/>
                  </a:ln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8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1" name="Freeform 615"/>
            <p:cNvSpPr/>
            <p:nvPr/>
          </p:nvSpPr>
          <p:spPr bwMode="auto">
            <a:xfrm>
              <a:off x="1003" y="3032"/>
              <a:ext cx="151" cy="10"/>
            </a:xfrm>
            <a:custGeom>
              <a:avLst/>
              <a:gdLst>
                <a:gd name="T0" fmla="*/ 151 w 151"/>
                <a:gd name="T1" fmla="*/ 0 h 10"/>
                <a:gd name="T2" fmla="*/ 149 w 151"/>
                <a:gd name="T3" fmla="*/ 1 h 10"/>
                <a:gd name="T4" fmla="*/ 142 w 151"/>
                <a:gd name="T5" fmla="*/ 2 h 10"/>
                <a:gd name="T6" fmla="*/ 131 w 151"/>
                <a:gd name="T7" fmla="*/ 5 h 10"/>
                <a:gd name="T8" fmla="*/ 116 w 151"/>
                <a:gd name="T9" fmla="*/ 6 h 10"/>
                <a:gd name="T10" fmla="*/ 98 w 151"/>
                <a:gd name="T11" fmla="*/ 8 h 10"/>
                <a:gd name="T12" fmla="*/ 76 w 151"/>
                <a:gd name="T13" fmla="*/ 9 h 10"/>
                <a:gd name="T14" fmla="*/ 52 w 151"/>
                <a:gd name="T15" fmla="*/ 9 h 10"/>
                <a:gd name="T16" fmla="*/ 27 w 151"/>
                <a:gd name="T17" fmla="*/ 10 h 10"/>
                <a:gd name="T18" fmla="*/ 0 w 151"/>
                <a:gd name="T19" fmla="*/ 10 h 10"/>
                <a:gd name="T20" fmla="*/ 0 w 151"/>
                <a:gd name="T21" fmla="*/ 9 h 10"/>
                <a:gd name="T22" fmla="*/ 26 w 151"/>
                <a:gd name="T23" fmla="*/ 9 h 10"/>
                <a:gd name="T24" fmla="*/ 50 w 151"/>
                <a:gd name="T25" fmla="*/ 9 h 10"/>
                <a:gd name="T26" fmla="*/ 71 w 151"/>
                <a:gd name="T27" fmla="*/ 8 h 10"/>
                <a:gd name="T28" fmla="*/ 92 w 151"/>
                <a:gd name="T29" fmla="*/ 6 h 10"/>
                <a:gd name="T30" fmla="*/ 109 w 151"/>
                <a:gd name="T31" fmla="*/ 6 h 10"/>
                <a:gd name="T32" fmla="*/ 125 w 151"/>
                <a:gd name="T33" fmla="*/ 4 h 10"/>
                <a:gd name="T34" fmla="*/ 135 w 151"/>
                <a:gd name="T35" fmla="*/ 2 h 10"/>
                <a:gd name="T36" fmla="*/ 141 w 151"/>
                <a:gd name="T37" fmla="*/ 1 h 10"/>
                <a:gd name="T38" fmla="*/ 144 w 151"/>
                <a:gd name="T39" fmla="*/ 0 h 10"/>
                <a:gd name="T40" fmla="*/ 151 w 151"/>
                <a:gd name="T41" fmla="*/ 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1" h="10">
                  <a:moveTo>
                    <a:pt x="151" y="0"/>
                  </a:move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8"/>
                  </a:lnTo>
                  <a:lnTo>
                    <a:pt x="76" y="9"/>
                  </a:lnTo>
                  <a:lnTo>
                    <a:pt x="52" y="9"/>
                  </a:lnTo>
                  <a:lnTo>
                    <a:pt x="27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26" y="9"/>
                  </a:lnTo>
                  <a:lnTo>
                    <a:pt x="50" y="9"/>
                  </a:lnTo>
                  <a:lnTo>
                    <a:pt x="71" y="8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2" name="Freeform 616"/>
            <p:cNvSpPr/>
            <p:nvPr/>
          </p:nvSpPr>
          <p:spPr bwMode="auto">
            <a:xfrm>
              <a:off x="1003" y="3032"/>
              <a:ext cx="144" cy="9"/>
            </a:xfrm>
            <a:custGeom>
              <a:avLst/>
              <a:gdLst>
                <a:gd name="T0" fmla="*/ 0 w 144"/>
                <a:gd name="T1" fmla="*/ 9 h 9"/>
                <a:gd name="T2" fmla="*/ 26 w 144"/>
                <a:gd name="T3" fmla="*/ 9 h 9"/>
                <a:gd name="T4" fmla="*/ 50 w 144"/>
                <a:gd name="T5" fmla="*/ 9 h 9"/>
                <a:gd name="T6" fmla="*/ 71 w 144"/>
                <a:gd name="T7" fmla="*/ 8 h 9"/>
                <a:gd name="T8" fmla="*/ 92 w 144"/>
                <a:gd name="T9" fmla="*/ 6 h 9"/>
                <a:gd name="T10" fmla="*/ 109 w 144"/>
                <a:gd name="T11" fmla="*/ 6 h 9"/>
                <a:gd name="T12" fmla="*/ 125 w 144"/>
                <a:gd name="T13" fmla="*/ 4 h 9"/>
                <a:gd name="T14" fmla="*/ 135 w 144"/>
                <a:gd name="T15" fmla="*/ 2 h 9"/>
                <a:gd name="T16" fmla="*/ 141 w 144"/>
                <a:gd name="T17" fmla="*/ 1 h 9"/>
                <a:gd name="T18" fmla="*/ 144 w 144"/>
                <a:gd name="T19" fmla="*/ 0 h 9"/>
                <a:gd name="T20" fmla="*/ 133 w 144"/>
                <a:gd name="T21" fmla="*/ 0 h 9"/>
                <a:gd name="T22" fmla="*/ 132 w 144"/>
                <a:gd name="T23" fmla="*/ 1 h 9"/>
                <a:gd name="T24" fmla="*/ 126 w 144"/>
                <a:gd name="T25" fmla="*/ 2 h 9"/>
                <a:gd name="T26" fmla="*/ 116 w 144"/>
                <a:gd name="T27" fmla="*/ 4 h 9"/>
                <a:gd name="T28" fmla="*/ 103 w 144"/>
                <a:gd name="T29" fmla="*/ 5 h 9"/>
                <a:gd name="T30" fmla="*/ 87 w 144"/>
                <a:gd name="T31" fmla="*/ 6 h 9"/>
                <a:gd name="T32" fmla="*/ 68 w 144"/>
                <a:gd name="T33" fmla="*/ 8 h 9"/>
                <a:gd name="T34" fmla="*/ 46 w 144"/>
                <a:gd name="T35" fmla="*/ 8 h 9"/>
                <a:gd name="T36" fmla="*/ 24 w 144"/>
                <a:gd name="T37" fmla="*/ 9 h 9"/>
                <a:gd name="T38" fmla="*/ 0 w 144"/>
                <a:gd name="T39" fmla="*/ 9 h 9"/>
                <a:gd name="T40" fmla="*/ 0 w 144"/>
                <a:gd name="T41" fmla="*/ 9 h 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4" h="9">
                  <a:moveTo>
                    <a:pt x="0" y="9"/>
                  </a:moveTo>
                  <a:lnTo>
                    <a:pt x="26" y="9"/>
                  </a:lnTo>
                  <a:lnTo>
                    <a:pt x="50" y="9"/>
                  </a:lnTo>
                  <a:lnTo>
                    <a:pt x="71" y="8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4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33" y="0"/>
                  </a:ln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8"/>
                  </a:lnTo>
                  <a:lnTo>
                    <a:pt x="46" y="8"/>
                  </a:lnTo>
                  <a:lnTo>
                    <a:pt x="24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3" name="Freeform 617"/>
            <p:cNvSpPr/>
            <p:nvPr/>
          </p:nvSpPr>
          <p:spPr bwMode="auto">
            <a:xfrm>
              <a:off x="1003" y="3032"/>
              <a:ext cx="133" cy="9"/>
            </a:xfrm>
            <a:custGeom>
              <a:avLst/>
              <a:gdLst>
                <a:gd name="T0" fmla="*/ 133 w 133"/>
                <a:gd name="T1" fmla="*/ 0 h 9"/>
                <a:gd name="T2" fmla="*/ 132 w 133"/>
                <a:gd name="T3" fmla="*/ 1 h 9"/>
                <a:gd name="T4" fmla="*/ 126 w 133"/>
                <a:gd name="T5" fmla="*/ 2 h 9"/>
                <a:gd name="T6" fmla="*/ 116 w 133"/>
                <a:gd name="T7" fmla="*/ 4 h 9"/>
                <a:gd name="T8" fmla="*/ 103 w 133"/>
                <a:gd name="T9" fmla="*/ 5 h 9"/>
                <a:gd name="T10" fmla="*/ 87 w 133"/>
                <a:gd name="T11" fmla="*/ 6 h 9"/>
                <a:gd name="T12" fmla="*/ 68 w 133"/>
                <a:gd name="T13" fmla="*/ 8 h 9"/>
                <a:gd name="T14" fmla="*/ 46 w 133"/>
                <a:gd name="T15" fmla="*/ 8 h 9"/>
                <a:gd name="T16" fmla="*/ 24 w 133"/>
                <a:gd name="T17" fmla="*/ 9 h 9"/>
                <a:gd name="T18" fmla="*/ 0 w 133"/>
                <a:gd name="T19" fmla="*/ 9 h 9"/>
                <a:gd name="T20" fmla="*/ 0 w 133"/>
                <a:gd name="T21" fmla="*/ 8 h 9"/>
                <a:gd name="T22" fmla="*/ 24 w 133"/>
                <a:gd name="T23" fmla="*/ 8 h 9"/>
                <a:gd name="T24" fmla="*/ 49 w 133"/>
                <a:gd name="T25" fmla="*/ 8 h 9"/>
                <a:gd name="T26" fmla="*/ 70 w 133"/>
                <a:gd name="T27" fmla="*/ 6 h 9"/>
                <a:gd name="T28" fmla="*/ 88 w 133"/>
                <a:gd name="T29" fmla="*/ 5 h 9"/>
                <a:gd name="T30" fmla="*/ 104 w 133"/>
                <a:gd name="T31" fmla="*/ 4 h 9"/>
                <a:gd name="T32" fmla="*/ 116 w 133"/>
                <a:gd name="T33" fmla="*/ 2 h 9"/>
                <a:gd name="T34" fmla="*/ 122 w 133"/>
                <a:gd name="T35" fmla="*/ 1 h 9"/>
                <a:gd name="T36" fmla="*/ 125 w 133"/>
                <a:gd name="T37" fmla="*/ 0 h 9"/>
                <a:gd name="T38" fmla="*/ 133 w 133"/>
                <a:gd name="T39" fmla="*/ 0 h 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3" h="9">
                  <a:moveTo>
                    <a:pt x="133" y="0"/>
                  </a:moveTo>
                  <a:lnTo>
                    <a:pt x="132" y="1"/>
                  </a:lnTo>
                  <a:lnTo>
                    <a:pt x="126" y="2"/>
                  </a:lnTo>
                  <a:lnTo>
                    <a:pt x="116" y="4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8"/>
                  </a:lnTo>
                  <a:lnTo>
                    <a:pt x="46" y="8"/>
                  </a:lnTo>
                  <a:lnTo>
                    <a:pt x="24" y="9"/>
                  </a:lnTo>
                  <a:lnTo>
                    <a:pt x="0" y="9"/>
                  </a:lnTo>
                  <a:lnTo>
                    <a:pt x="0" y="8"/>
                  </a:lnTo>
                  <a:lnTo>
                    <a:pt x="24" y="8"/>
                  </a:lnTo>
                  <a:lnTo>
                    <a:pt x="49" y="8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4" name="Freeform 618"/>
            <p:cNvSpPr/>
            <p:nvPr/>
          </p:nvSpPr>
          <p:spPr bwMode="auto">
            <a:xfrm>
              <a:off x="1003" y="3032"/>
              <a:ext cx="125" cy="8"/>
            </a:xfrm>
            <a:custGeom>
              <a:avLst/>
              <a:gdLst>
                <a:gd name="T0" fmla="*/ 0 w 125"/>
                <a:gd name="T1" fmla="*/ 8 h 8"/>
                <a:gd name="T2" fmla="*/ 24 w 125"/>
                <a:gd name="T3" fmla="*/ 8 h 8"/>
                <a:gd name="T4" fmla="*/ 49 w 125"/>
                <a:gd name="T5" fmla="*/ 8 h 8"/>
                <a:gd name="T6" fmla="*/ 70 w 125"/>
                <a:gd name="T7" fmla="*/ 6 h 8"/>
                <a:gd name="T8" fmla="*/ 88 w 125"/>
                <a:gd name="T9" fmla="*/ 5 h 8"/>
                <a:gd name="T10" fmla="*/ 104 w 125"/>
                <a:gd name="T11" fmla="*/ 4 h 8"/>
                <a:gd name="T12" fmla="*/ 116 w 125"/>
                <a:gd name="T13" fmla="*/ 2 h 8"/>
                <a:gd name="T14" fmla="*/ 122 w 125"/>
                <a:gd name="T15" fmla="*/ 1 h 8"/>
                <a:gd name="T16" fmla="*/ 125 w 125"/>
                <a:gd name="T17" fmla="*/ 0 h 8"/>
                <a:gd name="T18" fmla="*/ 114 w 125"/>
                <a:gd name="T19" fmla="*/ 0 h 8"/>
                <a:gd name="T20" fmla="*/ 112 w 125"/>
                <a:gd name="T21" fmla="*/ 1 h 8"/>
                <a:gd name="T22" fmla="*/ 106 w 125"/>
                <a:gd name="T23" fmla="*/ 2 h 8"/>
                <a:gd name="T24" fmla="*/ 95 w 125"/>
                <a:gd name="T25" fmla="*/ 4 h 8"/>
                <a:gd name="T26" fmla="*/ 81 w 125"/>
                <a:gd name="T27" fmla="*/ 5 h 8"/>
                <a:gd name="T28" fmla="*/ 64 w 125"/>
                <a:gd name="T29" fmla="*/ 6 h 8"/>
                <a:gd name="T30" fmla="*/ 45 w 125"/>
                <a:gd name="T31" fmla="*/ 6 h 8"/>
                <a:gd name="T32" fmla="*/ 23 w 125"/>
                <a:gd name="T33" fmla="*/ 8 h 8"/>
                <a:gd name="T34" fmla="*/ 0 w 125"/>
                <a:gd name="T35" fmla="*/ 8 h 8"/>
                <a:gd name="T36" fmla="*/ 0 w 125"/>
                <a:gd name="T37" fmla="*/ 8 h 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5" h="8">
                  <a:moveTo>
                    <a:pt x="0" y="8"/>
                  </a:moveTo>
                  <a:lnTo>
                    <a:pt x="24" y="8"/>
                  </a:lnTo>
                  <a:lnTo>
                    <a:pt x="49" y="8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4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14" y="0"/>
                  </a:ln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5" name="Freeform 619"/>
            <p:cNvSpPr/>
            <p:nvPr/>
          </p:nvSpPr>
          <p:spPr bwMode="auto">
            <a:xfrm>
              <a:off x="1003" y="3032"/>
              <a:ext cx="114" cy="8"/>
            </a:xfrm>
            <a:custGeom>
              <a:avLst/>
              <a:gdLst>
                <a:gd name="T0" fmla="*/ 114 w 114"/>
                <a:gd name="T1" fmla="*/ 0 h 8"/>
                <a:gd name="T2" fmla="*/ 112 w 114"/>
                <a:gd name="T3" fmla="*/ 1 h 8"/>
                <a:gd name="T4" fmla="*/ 106 w 114"/>
                <a:gd name="T5" fmla="*/ 2 h 8"/>
                <a:gd name="T6" fmla="*/ 95 w 114"/>
                <a:gd name="T7" fmla="*/ 4 h 8"/>
                <a:gd name="T8" fmla="*/ 81 w 114"/>
                <a:gd name="T9" fmla="*/ 5 h 8"/>
                <a:gd name="T10" fmla="*/ 64 w 114"/>
                <a:gd name="T11" fmla="*/ 6 h 8"/>
                <a:gd name="T12" fmla="*/ 45 w 114"/>
                <a:gd name="T13" fmla="*/ 6 h 8"/>
                <a:gd name="T14" fmla="*/ 23 w 114"/>
                <a:gd name="T15" fmla="*/ 8 h 8"/>
                <a:gd name="T16" fmla="*/ 0 w 114"/>
                <a:gd name="T17" fmla="*/ 8 h 8"/>
                <a:gd name="T18" fmla="*/ 0 w 114"/>
                <a:gd name="T19" fmla="*/ 6 h 8"/>
                <a:gd name="T20" fmla="*/ 21 w 114"/>
                <a:gd name="T21" fmla="*/ 6 h 8"/>
                <a:gd name="T22" fmla="*/ 40 w 114"/>
                <a:gd name="T23" fmla="*/ 6 h 8"/>
                <a:gd name="T24" fmla="*/ 57 w 114"/>
                <a:gd name="T25" fmla="*/ 5 h 8"/>
                <a:gd name="T26" fmla="*/ 74 w 114"/>
                <a:gd name="T27" fmla="*/ 4 h 8"/>
                <a:gd name="T28" fmla="*/ 87 w 114"/>
                <a:gd name="T29" fmla="*/ 4 h 8"/>
                <a:gd name="T30" fmla="*/ 95 w 114"/>
                <a:gd name="T31" fmla="*/ 2 h 8"/>
                <a:gd name="T32" fmla="*/ 102 w 114"/>
                <a:gd name="T33" fmla="*/ 1 h 8"/>
                <a:gd name="T34" fmla="*/ 103 w 114"/>
                <a:gd name="T35" fmla="*/ 0 h 8"/>
                <a:gd name="T36" fmla="*/ 114 w 114"/>
                <a:gd name="T37" fmla="*/ 0 h 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8">
                  <a:moveTo>
                    <a:pt x="114" y="0"/>
                  </a:moveTo>
                  <a:lnTo>
                    <a:pt x="112" y="1"/>
                  </a:lnTo>
                  <a:lnTo>
                    <a:pt x="106" y="2"/>
                  </a:lnTo>
                  <a:lnTo>
                    <a:pt x="95" y="4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6" name="Freeform 620"/>
            <p:cNvSpPr/>
            <p:nvPr/>
          </p:nvSpPr>
          <p:spPr bwMode="auto">
            <a:xfrm>
              <a:off x="1003" y="3032"/>
              <a:ext cx="103" cy="6"/>
            </a:xfrm>
            <a:custGeom>
              <a:avLst/>
              <a:gdLst>
                <a:gd name="T0" fmla="*/ 0 w 103"/>
                <a:gd name="T1" fmla="*/ 6 h 6"/>
                <a:gd name="T2" fmla="*/ 21 w 103"/>
                <a:gd name="T3" fmla="*/ 6 h 6"/>
                <a:gd name="T4" fmla="*/ 40 w 103"/>
                <a:gd name="T5" fmla="*/ 6 h 6"/>
                <a:gd name="T6" fmla="*/ 57 w 103"/>
                <a:gd name="T7" fmla="*/ 5 h 6"/>
                <a:gd name="T8" fmla="*/ 74 w 103"/>
                <a:gd name="T9" fmla="*/ 4 h 6"/>
                <a:gd name="T10" fmla="*/ 87 w 103"/>
                <a:gd name="T11" fmla="*/ 4 h 6"/>
                <a:gd name="T12" fmla="*/ 95 w 103"/>
                <a:gd name="T13" fmla="*/ 2 h 6"/>
                <a:gd name="T14" fmla="*/ 102 w 103"/>
                <a:gd name="T15" fmla="*/ 1 h 6"/>
                <a:gd name="T16" fmla="*/ 103 w 103"/>
                <a:gd name="T17" fmla="*/ 0 h 6"/>
                <a:gd name="T18" fmla="*/ 92 w 103"/>
                <a:gd name="T19" fmla="*/ 0 h 6"/>
                <a:gd name="T20" fmla="*/ 90 w 103"/>
                <a:gd name="T21" fmla="*/ 1 h 6"/>
                <a:gd name="T22" fmla="*/ 83 w 103"/>
                <a:gd name="T23" fmla="*/ 2 h 6"/>
                <a:gd name="T24" fmla="*/ 73 w 103"/>
                <a:gd name="T25" fmla="*/ 4 h 6"/>
                <a:gd name="T26" fmla="*/ 57 w 103"/>
                <a:gd name="T27" fmla="*/ 4 h 6"/>
                <a:gd name="T28" fmla="*/ 41 w 103"/>
                <a:gd name="T29" fmla="*/ 5 h 6"/>
                <a:gd name="T30" fmla="*/ 21 w 103"/>
                <a:gd name="T31" fmla="*/ 5 h 6"/>
                <a:gd name="T32" fmla="*/ 0 w 103"/>
                <a:gd name="T33" fmla="*/ 6 h 6"/>
                <a:gd name="T34" fmla="*/ 0 w 103"/>
                <a:gd name="T35" fmla="*/ 6 h 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" h="6">
                  <a:moveTo>
                    <a:pt x="0" y="6"/>
                  </a:move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4"/>
                  </a:lnTo>
                  <a:lnTo>
                    <a:pt x="87" y="4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92" y="0"/>
                  </a:ln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7" name="Freeform 621"/>
            <p:cNvSpPr/>
            <p:nvPr/>
          </p:nvSpPr>
          <p:spPr bwMode="auto">
            <a:xfrm>
              <a:off x="1003" y="3032"/>
              <a:ext cx="92" cy="6"/>
            </a:xfrm>
            <a:custGeom>
              <a:avLst/>
              <a:gdLst>
                <a:gd name="T0" fmla="*/ 92 w 92"/>
                <a:gd name="T1" fmla="*/ 0 h 6"/>
                <a:gd name="T2" fmla="*/ 90 w 92"/>
                <a:gd name="T3" fmla="*/ 1 h 6"/>
                <a:gd name="T4" fmla="*/ 83 w 92"/>
                <a:gd name="T5" fmla="*/ 2 h 6"/>
                <a:gd name="T6" fmla="*/ 73 w 92"/>
                <a:gd name="T7" fmla="*/ 4 h 6"/>
                <a:gd name="T8" fmla="*/ 57 w 92"/>
                <a:gd name="T9" fmla="*/ 4 h 6"/>
                <a:gd name="T10" fmla="*/ 41 w 92"/>
                <a:gd name="T11" fmla="*/ 5 h 6"/>
                <a:gd name="T12" fmla="*/ 21 w 92"/>
                <a:gd name="T13" fmla="*/ 5 h 6"/>
                <a:gd name="T14" fmla="*/ 0 w 92"/>
                <a:gd name="T15" fmla="*/ 6 h 6"/>
                <a:gd name="T16" fmla="*/ 0 w 92"/>
                <a:gd name="T17" fmla="*/ 5 h 6"/>
                <a:gd name="T18" fmla="*/ 18 w 92"/>
                <a:gd name="T19" fmla="*/ 5 h 6"/>
                <a:gd name="T20" fmla="*/ 35 w 92"/>
                <a:gd name="T21" fmla="*/ 4 h 6"/>
                <a:gd name="T22" fmla="*/ 50 w 92"/>
                <a:gd name="T23" fmla="*/ 4 h 6"/>
                <a:gd name="T24" fmla="*/ 62 w 92"/>
                <a:gd name="T25" fmla="*/ 2 h 6"/>
                <a:gd name="T26" fmla="*/ 71 w 92"/>
                <a:gd name="T27" fmla="*/ 1 h 6"/>
                <a:gd name="T28" fmla="*/ 78 w 92"/>
                <a:gd name="T29" fmla="*/ 0 h 6"/>
                <a:gd name="T30" fmla="*/ 80 w 92"/>
                <a:gd name="T31" fmla="*/ 0 h 6"/>
                <a:gd name="T32" fmla="*/ 92 w 92"/>
                <a:gd name="T33" fmla="*/ 0 h 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2" h="6">
                  <a:moveTo>
                    <a:pt x="92" y="0"/>
                  </a:moveTo>
                  <a:lnTo>
                    <a:pt x="90" y="1"/>
                  </a:lnTo>
                  <a:lnTo>
                    <a:pt x="83" y="2"/>
                  </a:lnTo>
                  <a:lnTo>
                    <a:pt x="73" y="4"/>
                  </a:lnTo>
                  <a:lnTo>
                    <a:pt x="57" y="4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8" name="Freeform 622"/>
            <p:cNvSpPr/>
            <p:nvPr/>
          </p:nvSpPr>
          <p:spPr bwMode="auto">
            <a:xfrm>
              <a:off x="1003" y="3032"/>
              <a:ext cx="80" cy="5"/>
            </a:xfrm>
            <a:custGeom>
              <a:avLst/>
              <a:gdLst>
                <a:gd name="T0" fmla="*/ 0 w 80"/>
                <a:gd name="T1" fmla="*/ 5 h 5"/>
                <a:gd name="T2" fmla="*/ 18 w 80"/>
                <a:gd name="T3" fmla="*/ 5 h 5"/>
                <a:gd name="T4" fmla="*/ 35 w 80"/>
                <a:gd name="T5" fmla="*/ 4 h 5"/>
                <a:gd name="T6" fmla="*/ 50 w 80"/>
                <a:gd name="T7" fmla="*/ 4 h 5"/>
                <a:gd name="T8" fmla="*/ 62 w 80"/>
                <a:gd name="T9" fmla="*/ 2 h 5"/>
                <a:gd name="T10" fmla="*/ 71 w 80"/>
                <a:gd name="T11" fmla="*/ 1 h 5"/>
                <a:gd name="T12" fmla="*/ 78 w 80"/>
                <a:gd name="T13" fmla="*/ 0 h 5"/>
                <a:gd name="T14" fmla="*/ 80 w 80"/>
                <a:gd name="T15" fmla="*/ 0 h 5"/>
                <a:gd name="T16" fmla="*/ 66 w 80"/>
                <a:gd name="T17" fmla="*/ 0 h 5"/>
                <a:gd name="T18" fmla="*/ 64 w 80"/>
                <a:gd name="T19" fmla="*/ 0 h 5"/>
                <a:gd name="T20" fmla="*/ 57 w 80"/>
                <a:gd name="T21" fmla="*/ 1 h 5"/>
                <a:gd name="T22" fmla="*/ 47 w 80"/>
                <a:gd name="T23" fmla="*/ 2 h 5"/>
                <a:gd name="T24" fmla="*/ 33 w 80"/>
                <a:gd name="T25" fmla="*/ 4 h 5"/>
                <a:gd name="T26" fmla="*/ 18 w 80"/>
                <a:gd name="T27" fmla="*/ 4 h 5"/>
                <a:gd name="T28" fmla="*/ 0 w 80"/>
                <a:gd name="T29" fmla="*/ 4 h 5"/>
                <a:gd name="T30" fmla="*/ 0 w 80"/>
                <a:gd name="T31" fmla="*/ 5 h 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0" h="5">
                  <a:moveTo>
                    <a:pt x="0" y="5"/>
                  </a:moveTo>
                  <a:lnTo>
                    <a:pt x="18" y="5"/>
                  </a:lnTo>
                  <a:lnTo>
                    <a:pt x="35" y="4"/>
                  </a:lnTo>
                  <a:lnTo>
                    <a:pt x="50" y="4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59" name="Freeform 623"/>
            <p:cNvSpPr/>
            <p:nvPr/>
          </p:nvSpPr>
          <p:spPr bwMode="auto">
            <a:xfrm>
              <a:off x="1003" y="3032"/>
              <a:ext cx="66" cy="4"/>
            </a:xfrm>
            <a:custGeom>
              <a:avLst/>
              <a:gdLst>
                <a:gd name="T0" fmla="*/ 66 w 66"/>
                <a:gd name="T1" fmla="*/ 0 h 4"/>
                <a:gd name="T2" fmla="*/ 64 w 66"/>
                <a:gd name="T3" fmla="*/ 0 h 4"/>
                <a:gd name="T4" fmla="*/ 57 w 66"/>
                <a:gd name="T5" fmla="*/ 1 h 4"/>
                <a:gd name="T6" fmla="*/ 47 w 66"/>
                <a:gd name="T7" fmla="*/ 2 h 4"/>
                <a:gd name="T8" fmla="*/ 33 w 66"/>
                <a:gd name="T9" fmla="*/ 4 h 4"/>
                <a:gd name="T10" fmla="*/ 18 w 66"/>
                <a:gd name="T11" fmla="*/ 4 h 4"/>
                <a:gd name="T12" fmla="*/ 0 w 66"/>
                <a:gd name="T13" fmla="*/ 4 h 4"/>
                <a:gd name="T14" fmla="*/ 0 w 66"/>
                <a:gd name="T15" fmla="*/ 2 h 4"/>
                <a:gd name="T16" fmla="*/ 17 w 66"/>
                <a:gd name="T17" fmla="*/ 2 h 4"/>
                <a:gd name="T18" fmla="*/ 31 w 66"/>
                <a:gd name="T19" fmla="*/ 2 h 4"/>
                <a:gd name="T20" fmla="*/ 42 w 66"/>
                <a:gd name="T21" fmla="*/ 1 h 4"/>
                <a:gd name="T22" fmla="*/ 50 w 66"/>
                <a:gd name="T23" fmla="*/ 0 h 4"/>
                <a:gd name="T24" fmla="*/ 52 w 66"/>
                <a:gd name="T25" fmla="*/ 0 h 4"/>
                <a:gd name="T26" fmla="*/ 66 w 66"/>
                <a:gd name="T27" fmla="*/ 0 h 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6" h="4">
                  <a:moveTo>
                    <a:pt x="66" y="0"/>
                  </a:move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4"/>
                  </a:lnTo>
                  <a:lnTo>
                    <a:pt x="18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60" name="Freeform 624"/>
            <p:cNvSpPr/>
            <p:nvPr/>
          </p:nvSpPr>
          <p:spPr bwMode="auto">
            <a:xfrm>
              <a:off x="1003" y="3032"/>
              <a:ext cx="52" cy="2"/>
            </a:xfrm>
            <a:custGeom>
              <a:avLst/>
              <a:gdLst>
                <a:gd name="T0" fmla="*/ 0 w 52"/>
                <a:gd name="T1" fmla="*/ 2 h 2"/>
                <a:gd name="T2" fmla="*/ 17 w 52"/>
                <a:gd name="T3" fmla="*/ 2 h 2"/>
                <a:gd name="T4" fmla="*/ 31 w 52"/>
                <a:gd name="T5" fmla="*/ 2 h 2"/>
                <a:gd name="T6" fmla="*/ 42 w 52"/>
                <a:gd name="T7" fmla="*/ 1 h 2"/>
                <a:gd name="T8" fmla="*/ 50 w 52"/>
                <a:gd name="T9" fmla="*/ 0 h 2"/>
                <a:gd name="T10" fmla="*/ 52 w 52"/>
                <a:gd name="T11" fmla="*/ 0 h 2"/>
                <a:gd name="T12" fmla="*/ 36 w 52"/>
                <a:gd name="T13" fmla="*/ 0 h 2"/>
                <a:gd name="T14" fmla="*/ 35 w 52"/>
                <a:gd name="T15" fmla="*/ 0 h 2"/>
                <a:gd name="T16" fmla="*/ 30 w 52"/>
                <a:gd name="T17" fmla="*/ 1 h 2"/>
                <a:gd name="T18" fmla="*/ 22 w 52"/>
                <a:gd name="T19" fmla="*/ 1 h 2"/>
                <a:gd name="T20" fmla="*/ 12 w 52"/>
                <a:gd name="T21" fmla="*/ 1 h 2"/>
                <a:gd name="T22" fmla="*/ 0 w 52"/>
                <a:gd name="T23" fmla="*/ 1 h 2"/>
                <a:gd name="T24" fmla="*/ 0 w 52"/>
                <a:gd name="T25" fmla="*/ 2 h 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">
                  <a:moveTo>
                    <a:pt x="0" y="2"/>
                  </a:move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61" name="Freeform 625"/>
            <p:cNvSpPr/>
            <p:nvPr/>
          </p:nvSpPr>
          <p:spPr bwMode="auto">
            <a:xfrm>
              <a:off x="1003" y="3032"/>
              <a:ext cx="36" cy="1"/>
            </a:xfrm>
            <a:custGeom>
              <a:avLst/>
              <a:gdLst>
                <a:gd name="T0" fmla="*/ 36 w 36"/>
                <a:gd name="T1" fmla="*/ 0 h 1"/>
                <a:gd name="T2" fmla="*/ 35 w 36"/>
                <a:gd name="T3" fmla="*/ 0 h 1"/>
                <a:gd name="T4" fmla="*/ 30 w 36"/>
                <a:gd name="T5" fmla="*/ 1 h 1"/>
                <a:gd name="T6" fmla="*/ 22 w 36"/>
                <a:gd name="T7" fmla="*/ 1 h 1"/>
                <a:gd name="T8" fmla="*/ 12 w 36"/>
                <a:gd name="T9" fmla="*/ 1 h 1"/>
                <a:gd name="T10" fmla="*/ 0 w 36"/>
                <a:gd name="T11" fmla="*/ 1 h 1"/>
                <a:gd name="T12" fmla="*/ 0 w 36"/>
                <a:gd name="T13" fmla="*/ 1 h 1"/>
                <a:gd name="T14" fmla="*/ 8 w 36"/>
                <a:gd name="T15" fmla="*/ 0 h 1"/>
                <a:gd name="T16" fmla="*/ 14 w 36"/>
                <a:gd name="T17" fmla="*/ 0 h 1"/>
                <a:gd name="T18" fmla="*/ 18 w 36"/>
                <a:gd name="T19" fmla="*/ 0 h 1"/>
                <a:gd name="T20" fmla="*/ 19 w 36"/>
                <a:gd name="T21" fmla="*/ 0 h 1"/>
                <a:gd name="T22" fmla="*/ 36 w 36"/>
                <a:gd name="T23" fmla="*/ 0 h 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1">
                  <a:moveTo>
                    <a:pt x="36" y="0"/>
                  </a:move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A6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62" name="Freeform 626"/>
            <p:cNvSpPr/>
            <p:nvPr/>
          </p:nvSpPr>
          <p:spPr bwMode="auto">
            <a:xfrm>
              <a:off x="1003" y="3032"/>
              <a:ext cx="19" cy="1"/>
            </a:xfrm>
            <a:custGeom>
              <a:avLst/>
              <a:gdLst>
                <a:gd name="T0" fmla="*/ 0 w 19"/>
                <a:gd name="T1" fmla="*/ 1 h 1"/>
                <a:gd name="T2" fmla="*/ 8 w 19"/>
                <a:gd name="T3" fmla="*/ 0 h 1"/>
                <a:gd name="T4" fmla="*/ 14 w 19"/>
                <a:gd name="T5" fmla="*/ 0 h 1"/>
                <a:gd name="T6" fmla="*/ 18 w 19"/>
                <a:gd name="T7" fmla="*/ 0 h 1"/>
                <a:gd name="T8" fmla="*/ 19 w 19"/>
                <a:gd name="T9" fmla="*/ 0 h 1"/>
                <a:gd name="T10" fmla="*/ 2 w 19"/>
                <a:gd name="T11" fmla="*/ 0 h 1"/>
                <a:gd name="T12" fmla="*/ 0 w 19"/>
                <a:gd name="T13" fmla="*/ 0 h 1"/>
                <a:gd name="T14" fmla="*/ 0 w 19"/>
                <a:gd name="T15" fmla="*/ 1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">
                  <a:moveTo>
                    <a:pt x="0" y="1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63" name="Freeform 627"/>
            <p:cNvSpPr/>
            <p:nvPr/>
          </p:nvSpPr>
          <p:spPr bwMode="auto">
            <a:xfrm>
              <a:off x="1003" y="3032"/>
              <a:ext cx="2" cy="1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0 w 2"/>
                <a:gd name="T7" fmla="*/ 0 h 1"/>
                <a:gd name="T8" fmla="*/ 2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64" name="Freeform 628"/>
            <p:cNvSpPr/>
            <p:nvPr/>
          </p:nvSpPr>
          <p:spPr bwMode="auto">
            <a:xfrm>
              <a:off x="1277" y="3002"/>
              <a:ext cx="48" cy="178"/>
            </a:xfrm>
            <a:custGeom>
              <a:avLst/>
              <a:gdLst>
                <a:gd name="T0" fmla="*/ 0 w 48"/>
                <a:gd name="T1" fmla="*/ 48 h 178"/>
                <a:gd name="T2" fmla="*/ 48 w 48"/>
                <a:gd name="T3" fmla="*/ 0 h 178"/>
                <a:gd name="T4" fmla="*/ 48 w 48"/>
                <a:gd name="T5" fmla="*/ 130 h 178"/>
                <a:gd name="T6" fmla="*/ 0 w 48"/>
                <a:gd name="T7" fmla="*/ 178 h 178"/>
                <a:gd name="T8" fmla="*/ 0 w 48"/>
                <a:gd name="T9" fmla="*/ 48 h 1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78">
                  <a:moveTo>
                    <a:pt x="0" y="48"/>
                  </a:moveTo>
                  <a:lnTo>
                    <a:pt x="48" y="0"/>
                  </a:lnTo>
                  <a:lnTo>
                    <a:pt x="48" y="130"/>
                  </a:lnTo>
                  <a:lnTo>
                    <a:pt x="0" y="178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65" name="Rectangle 629"/>
            <p:cNvSpPr>
              <a:spLocks noChangeArrowheads="1"/>
            </p:cNvSpPr>
            <p:nvPr/>
          </p:nvSpPr>
          <p:spPr bwMode="auto">
            <a:xfrm>
              <a:off x="897" y="3050"/>
              <a:ext cx="380" cy="104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8966" name="Freeform 630"/>
            <p:cNvSpPr/>
            <p:nvPr/>
          </p:nvSpPr>
          <p:spPr bwMode="auto">
            <a:xfrm>
              <a:off x="1016" y="3050"/>
              <a:ext cx="5" cy="104"/>
            </a:xfrm>
            <a:custGeom>
              <a:avLst/>
              <a:gdLst>
                <a:gd name="T0" fmla="*/ 5 w 5"/>
                <a:gd name="T1" fmla="*/ 0 h 104"/>
                <a:gd name="T2" fmla="*/ 1 w 5"/>
                <a:gd name="T3" fmla="*/ 25 h 104"/>
                <a:gd name="T4" fmla="*/ 0 w 5"/>
                <a:gd name="T5" fmla="*/ 52 h 104"/>
                <a:gd name="T6" fmla="*/ 1 w 5"/>
                <a:gd name="T7" fmla="*/ 77 h 104"/>
                <a:gd name="T8" fmla="*/ 5 w 5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04">
                  <a:moveTo>
                    <a:pt x="5" y="0"/>
                  </a:moveTo>
                  <a:lnTo>
                    <a:pt x="1" y="25"/>
                  </a:lnTo>
                  <a:lnTo>
                    <a:pt x="0" y="52"/>
                  </a:lnTo>
                  <a:lnTo>
                    <a:pt x="1" y="77"/>
                  </a:lnTo>
                  <a:lnTo>
                    <a:pt x="5" y="10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67" name="Rectangle 631"/>
            <p:cNvSpPr>
              <a:spLocks noChangeArrowheads="1"/>
            </p:cNvSpPr>
            <p:nvPr/>
          </p:nvSpPr>
          <p:spPr bwMode="auto">
            <a:xfrm>
              <a:off x="897" y="3154"/>
              <a:ext cx="380" cy="26"/>
            </a:xfrm>
            <a:prstGeom prst="rect">
              <a:avLst/>
            </a:prstGeom>
            <a:solidFill>
              <a:srgbClr val="9A9A9A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8968" name="Rectangle 632"/>
            <p:cNvSpPr>
              <a:spLocks noChangeArrowheads="1"/>
            </p:cNvSpPr>
            <p:nvPr/>
          </p:nvSpPr>
          <p:spPr bwMode="auto">
            <a:xfrm>
              <a:off x="1190" y="3081"/>
              <a:ext cx="15" cy="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8969" name="Freeform 633"/>
            <p:cNvSpPr>
              <a:spLocks noEditPoints="1"/>
            </p:cNvSpPr>
            <p:nvPr/>
          </p:nvSpPr>
          <p:spPr bwMode="auto">
            <a:xfrm>
              <a:off x="1034" y="3073"/>
              <a:ext cx="62" cy="6"/>
            </a:xfrm>
            <a:custGeom>
              <a:avLst/>
              <a:gdLst>
                <a:gd name="T0" fmla="*/ 0 w 62"/>
                <a:gd name="T1" fmla="*/ 6 h 6"/>
                <a:gd name="T2" fmla="*/ 18 w 62"/>
                <a:gd name="T3" fmla="*/ 6 h 6"/>
                <a:gd name="T4" fmla="*/ 18 w 62"/>
                <a:gd name="T5" fmla="*/ 0 h 6"/>
                <a:gd name="T6" fmla="*/ 0 w 62"/>
                <a:gd name="T7" fmla="*/ 0 h 6"/>
                <a:gd name="T8" fmla="*/ 0 w 62"/>
                <a:gd name="T9" fmla="*/ 6 h 6"/>
                <a:gd name="T10" fmla="*/ 26 w 62"/>
                <a:gd name="T11" fmla="*/ 6 h 6"/>
                <a:gd name="T12" fmla="*/ 35 w 62"/>
                <a:gd name="T13" fmla="*/ 6 h 6"/>
                <a:gd name="T14" fmla="*/ 35 w 62"/>
                <a:gd name="T15" fmla="*/ 0 h 6"/>
                <a:gd name="T16" fmla="*/ 26 w 62"/>
                <a:gd name="T17" fmla="*/ 0 h 6"/>
                <a:gd name="T18" fmla="*/ 26 w 62"/>
                <a:gd name="T19" fmla="*/ 6 h 6"/>
                <a:gd name="T20" fmla="*/ 44 w 62"/>
                <a:gd name="T21" fmla="*/ 6 h 6"/>
                <a:gd name="T22" fmla="*/ 62 w 62"/>
                <a:gd name="T23" fmla="*/ 6 h 6"/>
                <a:gd name="T24" fmla="*/ 62 w 62"/>
                <a:gd name="T25" fmla="*/ 0 h 6"/>
                <a:gd name="T26" fmla="*/ 44 w 62"/>
                <a:gd name="T27" fmla="*/ 0 h 6"/>
                <a:gd name="T28" fmla="*/ 44 w 62"/>
                <a:gd name="T29" fmla="*/ 6 h 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6">
                  <a:moveTo>
                    <a:pt x="0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6"/>
                  </a:lnTo>
                  <a:close/>
                  <a:moveTo>
                    <a:pt x="26" y="6"/>
                  </a:moveTo>
                  <a:lnTo>
                    <a:pt x="35" y="6"/>
                  </a:lnTo>
                  <a:lnTo>
                    <a:pt x="35" y="0"/>
                  </a:lnTo>
                  <a:lnTo>
                    <a:pt x="26" y="0"/>
                  </a:lnTo>
                  <a:lnTo>
                    <a:pt x="26" y="6"/>
                  </a:lnTo>
                  <a:close/>
                  <a:moveTo>
                    <a:pt x="44" y="6"/>
                  </a:moveTo>
                  <a:lnTo>
                    <a:pt x="62" y="6"/>
                  </a:lnTo>
                  <a:lnTo>
                    <a:pt x="62" y="0"/>
                  </a:lnTo>
                  <a:lnTo>
                    <a:pt x="44" y="0"/>
                  </a:lnTo>
                  <a:lnTo>
                    <a:pt x="44" y="6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0" name="Freeform 634"/>
            <p:cNvSpPr>
              <a:spLocks noEditPoints="1"/>
            </p:cNvSpPr>
            <p:nvPr/>
          </p:nvSpPr>
          <p:spPr bwMode="auto">
            <a:xfrm>
              <a:off x="908" y="3060"/>
              <a:ext cx="275" cy="40"/>
            </a:xfrm>
            <a:custGeom>
              <a:avLst/>
              <a:gdLst>
                <a:gd name="T0" fmla="*/ 0 w 275"/>
                <a:gd name="T1" fmla="*/ 40 h 40"/>
                <a:gd name="T2" fmla="*/ 37 w 275"/>
                <a:gd name="T3" fmla="*/ 40 h 40"/>
                <a:gd name="T4" fmla="*/ 37 w 275"/>
                <a:gd name="T5" fmla="*/ 0 h 40"/>
                <a:gd name="T6" fmla="*/ 0 w 275"/>
                <a:gd name="T7" fmla="*/ 0 h 40"/>
                <a:gd name="T8" fmla="*/ 0 w 275"/>
                <a:gd name="T9" fmla="*/ 40 h 40"/>
                <a:gd name="T10" fmla="*/ 244 w 275"/>
                <a:gd name="T11" fmla="*/ 29 h 40"/>
                <a:gd name="T12" fmla="*/ 275 w 275"/>
                <a:gd name="T13" fmla="*/ 29 h 40"/>
                <a:gd name="T14" fmla="*/ 275 w 275"/>
                <a:gd name="T15" fmla="*/ 9 h 40"/>
                <a:gd name="T16" fmla="*/ 244 w 275"/>
                <a:gd name="T17" fmla="*/ 9 h 40"/>
                <a:gd name="T18" fmla="*/ 244 w 275"/>
                <a:gd name="T19" fmla="*/ 29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5" h="40">
                  <a:moveTo>
                    <a:pt x="0" y="40"/>
                  </a:moveTo>
                  <a:lnTo>
                    <a:pt x="37" y="40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40"/>
                  </a:lnTo>
                  <a:close/>
                  <a:moveTo>
                    <a:pt x="244" y="29"/>
                  </a:moveTo>
                  <a:lnTo>
                    <a:pt x="275" y="29"/>
                  </a:lnTo>
                  <a:lnTo>
                    <a:pt x="275" y="9"/>
                  </a:lnTo>
                  <a:lnTo>
                    <a:pt x="244" y="9"/>
                  </a:lnTo>
                  <a:lnTo>
                    <a:pt x="244" y="29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1" name="Freeform 635"/>
            <p:cNvSpPr>
              <a:spLocks noEditPoints="1"/>
            </p:cNvSpPr>
            <p:nvPr/>
          </p:nvSpPr>
          <p:spPr bwMode="auto">
            <a:xfrm>
              <a:off x="900" y="3055"/>
              <a:ext cx="374" cy="118"/>
            </a:xfrm>
            <a:custGeom>
              <a:avLst/>
              <a:gdLst>
                <a:gd name="T0" fmla="*/ 129 w 374"/>
                <a:gd name="T1" fmla="*/ 94 h 118"/>
                <a:gd name="T2" fmla="*/ 372 w 374"/>
                <a:gd name="T3" fmla="*/ 94 h 118"/>
                <a:gd name="T4" fmla="*/ 372 w 374"/>
                <a:gd name="T5" fmla="*/ 0 h 118"/>
                <a:gd name="T6" fmla="*/ 129 w 374"/>
                <a:gd name="T7" fmla="*/ 0 h 118"/>
                <a:gd name="T8" fmla="*/ 125 w 374"/>
                <a:gd name="T9" fmla="*/ 23 h 118"/>
                <a:gd name="T10" fmla="*/ 124 w 374"/>
                <a:gd name="T11" fmla="*/ 47 h 118"/>
                <a:gd name="T12" fmla="*/ 125 w 374"/>
                <a:gd name="T13" fmla="*/ 69 h 118"/>
                <a:gd name="T14" fmla="*/ 129 w 374"/>
                <a:gd name="T15" fmla="*/ 94 h 118"/>
                <a:gd name="T16" fmla="*/ 220 w 374"/>
                <a:gd name="T17" fmla="*/ 82 h 118"/>
                <a:gd name="T18" fmla="*/ 359 w 374"/>
                <a:gd name="T19" fmla="*/ 82 h 118"/>
                <a:gd name="T20" fmla="*/ 359 w 374"/>
                <a:gd name="T21" fmla="*/ 11 h 118"/>
                <a:gd name="T22" fmla="*/ 220 w 374"/>
                <a:gd name="T23" fmla="*/ 11 h 118"/>
                <a:gd name="T24" fmla="*/ 220 w 374"/>
                <a:gd name="T25" fmla="*/ 82 h 118"/>
                <a:gd name="T26" fmla="*/ 339 w 374"/>
                <a:gd name="T27" fmla="*/ 118 h 118"/>
                <a:gd name="T28" fmla="*/ 368 w 374"/>
                <a:gd name="T29" fmla="*/ 118 h 118"/>
                <a:gd name="T30" fmla="*/ 372 w 374"/>
                <a:gd name="T31" fmla="*/ 116 h 118"/>
                <a:gd name="T32" fmla="*/ 374 w 374"/>
                <a:gd name="T33" fmla="*/ 111 h 118"/>
                <a:gd name="T34" fmla="*/ 372 w 374"/>
                <a:gd name="T35" fmla="*/ 108 h 118"/>
                <a:gd name="T36" fmla="*/ 368 w 374"/>
                <a:gd name="T37" fmla="*/ 106 h 118"/>
                <a:gd name="T38" fmla="*/ 339 w 374"/>
                <a:gd name="T39" fmla="*/ 106 h 118"/>
                <a:gd name="T40" fmla="*/ 339 w 374"/>
                <a:gd name="T41" fmla="*/ 118 h 118"/>
                <a:gd name="T42" fmla="*/ 35 w 374"/>
                <a:gd name="T43" fmla="*/ 118 h 118"/>
                <a:gd name="T44" fmla="*/ 6 w 374"/>
                <a:gd name="T45" fmla="*/ 118 h 118"/>
                <a:gd name="T46" fmla="*/ 2 w 374"/>
                <a:gd name="T47" fmla="*/ 116 h 118"/>
                <a:gd name="T48" fmla="*/ 0 w 374"/>
                <a:gd name="T49" fmla="*/ 111 h 118"/>
                <a:gd name="T50" fmla="*/ 2 w 374"/>
                <a:gd name="T51" fmla="*/ 108 h 118"/>
                <a:gd name="T52" fmla="*/ 6 w 374"/>
                <a:gd name="T53" fmla="*/ 106 h 118"/>
                <a:gd name="T54" fmla="*/ 35 w 374"/>
                <a:gd name="T55" fmla="*/ 106 h 118"/>
                <a:gd name="T56" fmla="*/ 35 w 374"/>
                <a:gd name="T57" fmla="*/ 118 h 118"/>
                <a:gd name="T58" fmla="*/ 134 w 374"/>
                <a:gd name="T59" fmla="*/ 24 h 118"/>
                <a:gd name="T60" fmla="*/ 196 w 374"/>
                <a:gd name="T61" fmla="*/ 24 h 118"/>
                <a:gd name="T62" fmla="*/ 196 w 374"/>
                <a:gd name="T63" fmla="*/ 18 h 118"/>
                <a:gd name="T64" fmla="*/ 134 w 374"/>
                <a:gd name="T65" fmla="*/ 18 h 118"/>
                <a:gd name="T66" fmla="*/ 134 w 374"/>
                <a:gd name="T67" fmla="*/ 24 h 11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74" h="118">
                  <a:moveTo>
                    <a:pt x="129" y="94"/>
                  </a:moveTo>
                  <a:lnTo>
                    <a:pt x="372" y="94"/>
                  </a:lnTo>
                  <a:lnTo>
                    <a:pt x="372" y="0"/>
                  </a:lnTo>
                  <a:lnTo>
                    <a:pt x="129" y="0"/>
                  </a:lnTo>
                  <a:lnTo>
                    <a:pt x="125" y="23"/>
                  </a:lnTo>
                  <a:lnTo>
                    <a:pt x="124" y="47"/>
                  </a:lnTo>
                  <a:lnTo>
                    <a:pt x="125" y="69"/>
                  </a:lnTo>
                  <a:lnTo>
                    <a:pt x="129" y="94"/>
                  </a:lnTo>
                  <a:close/>
                  <a:moveTo>
                    <a:pt x="220" y="82"/>
                  </a:moveTo>
                  <a:lnTo>
                    <a:pt x="359" y="82"/>
                  </a:lnTo>
                  <a:lnTo>
                    <a:pt x="359" y="11"/>
                  </a:lnTo>
                  <a:lnTo>
                    <a:pt x="220" y="11"/>
                  </a:lnTo>
                  <a:lnTo>
                    <a:pt x="220" y="82"/>
                  </a:lnTo>
                  <a:close/>
                  <a:moveTo>
                    <a:pt x="339" y="118"/>
                  </a:moveTo>
                  <a:lnTo>
                    <a:pt x="368" y="118"/>
                  </a:lnTo>
                  <a:lnTo>
                    <a:pt x="372" y="116"/>
                  </a:lnTo>
                  <a:lnTo>
                    <a:pt x="374" y="111"/>
                  </a:lnTo>
                  <a:lnTo>
                    <a:pt x="372" y="108"/>
                  </a:lnTo>
                  <a:lnTo>
                    <a:pt x="368" y="106"/>
                  </a:lnTo>
                  <a:lnTo>
                    <a:pt x="339" y="106"/>
                  </a:lnTo>
                  <a:lnTo>
                    <a:pt x="339" y="118"/>
                  </a:lnTo>
                  <a:close/>
                  <a:moveTo>
                    <a:pt x="35" y="118"/>
                  </a:moveTo>
                  <a:lnTo>
                    <a:pt x="6" y="118"/>
                  </a:lnTo>
                  <a:lnTo>
                    <a:pt x="2" y="116"/>
                  </a:lnTo>
                  <a:lnTo>
                    <a:pt x="0" y="111"/>
                  </a:lnTo>
                  <a:lnTo>
                    <a:pt x="2" y="108"/>
                  </a:lnTo>
                  <a:lnTo>
                    <a:pt x="6" y="106"/>
                  </a:lnTo>
                  <a:lnTo>
                    <a:pt x="35" y="106"/>
                  </a:lnTo>
                  <a:lnTo>
                    <a:pt x="35" y="118"/>
                  </a:lnTo>
                  <a:close/>
                  <a:moveTo>
                    <a:pt x="134" y="24"/>
                  </a:moveTo>
                  <a:lnTo>
                    <a:pt x="196" y="24"/>
                  </a:lnTo>
                  <a:lnTo>
                    <a:pt x="196" y="18"/>
                  </a:lnTo>
                  <a:lnTo>
                    <a:pt x="134" y="18"/>
                  </a:lnTo>
                  <a:lnTo>
                    <a:pt x="134" y="24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2" name="Line 636"/>
            <p:cNvSpPr>
              <a:spLocks noChangeShapeType="1"/>
            </p:cNvSpPr>
            <p:nvPr/>
          </p:nvSpPr>
          <p:spPr bwMode="auto">
            <a:xfrm>
              <a:off x="1098" y="3055"/>
              <a:ext cx="1" cy="9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3" name="Line 637"/>
            <p:cNvSpPr>
              <a:spLocks noChangeShapeType="1"/>
            </p:cNvSpPr>
            <p:nvPr/>
          </p:nvSpPr>
          <p:spPr bwMode="auto">
            <a:xfrm flipH="1">
              <a:off x="1024" y="3086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4" name="Line 638"/>
            <p:cNvSpPr>
              <a:spLocks noChangeShapeType="1"/>
            </p:cNvSpPr>
            <p:nvPr/>
          </p:nvSpPr>
          <p:spPr bwMode="auto">
            <a:xfrm flipH="1">
              <a:off x="1024" y="3117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5" name="Line 639"/>
            <p:cNvSpPr>
              <a:spLocks noChangeShapeType="1"/>
            </p:cNvSpPr>
            <p:nvPr/>
          </p:nvSpPr>
          <p:spPr bwMode="auto">
            <a:xfrm>
              <a:off x="1215" y="3066"/>
              <a:ext cx="1" cy="27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6" name="Line 640"/>
            <p:cNvSpPr>
              <a:spLocks noChangeShapeType="1"/>
            </p:cNvSpPr>
            <p:nvPr/>
          </p:nvSpPr>
          <p:spPr bwMode="auto">
            <a:xfrm>
              <a:off x="1120" y="3093"/>
              <a:ext cx="13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7" name="Line 641"/>
            <p:cNvSpPr>
              <a:spLocks noChangeShapeType="1"/>
            </p:cNvSpPr>
            <p:nvPr/>
          </p:nvSpPr>
          <p:spPr bwMode="auto">
            <a:xfrm flipV="1">
              <a:off x="1034" y="3050"/>
              <a:ext cx="1" cy="3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8" name="Line 642"/>
            <p:cNvSpPr>
              <a:spLocks noChangeShapeType="1"/>
            </p:cNvSpPr>
            <p:nvPr/>
          </p:nvSpPr>
          <p:spPr bwMode="auto">
            <a:xfrm flipV="1">
              <a:off x="1034" y="3149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79" name="Line 643"/>
            <p:cNvSpPr>
              <a:spLocks noChangeShapeType="1"/>
            </p:cNvSpPr>
            <p:nvPr/>
          </p:nvSpPr>
          <p:spPr bwMode="auto">
            <a:xfrm>
              <a:off x="1036" y="3102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0" name="Line 644"/>
            <p:cNvSpPr>
              <a:spLocks noChangeShapeType="1"/>
            </p:cNvSpPr>
            <p:nvPr/>
          </p:nvSpPr>
          <p:spPr bwMode="auto">
            <a:xfrm>
              <a:off x="1036" y="307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1" name="Line 645"/>
            <p:cNvSpPr>
              <a:spLocks noChangeShapeType="1"/>
            </p:cNvSpPr>
            <p:nvPr/>
          </p:nvSpPr>
          <p:spPr bwMode="auto">
            <a:xfrm>
              <a:off x="1081" y="3076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2" name="Line 646"/>
            <p:cNvSpPr>
              <a:spLocks noChangeShapeType="1"/>
            </p:cNvSpPr>
            <p:nvPr/>
          </p:nvSpPr>
          <p:spPr bwMode="auto">
            <a:xfrm>
              <a:off x="1138" y="3086"/>
              <a:ext cx="6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3" name="Freeform 647"/>
            <p:cNvSpPr/>
            <p:nvPr/>
          </p:nvSpPr>
          <p:spPr bwMode="auto">
            <a:xfrm>
              <a:off x="1230" y="2752"/>
              <a:ext cx="47" cy="280"/>
            </a:xfrm>
            <a:custGeom>
              <a:avLst/>
              <a:gdLst>
                <a:gd name="T0" fmla="*/ 0 w 47"/>
                <a:gd name="T1" fmla="*/ 280 h 280"/>
                <a:gd name="T2" fmla="*/ 36 w 47"/>
                <a:gd name="T3" fmla="*/ 243 h 280"/>
                <a:gd name="T4" fmla="*/ 36 w 47"/>
                <a:gd name="T5" fmla="*/ 179 h 280"/>
                <a:gd name="T6" fmla="*/ 47 w 47"/>
                <a:gd name="T7" fmla="*/ 143 h 280"/>
                <a:gd name="T8" fmla="*/ 47 w 47"/>
                <a:gd name="T9" fmla="*/ 0 h 280"/>
                <a:gd name="T10" fmla="*/ 0 w 47"/>
                <a:gd name="T11" fmla="*/ 48 h 280"/>
                <a:gd name="T12" fmla="*/ 0 w 47"/>
                <a:gd name="T13" fmla="*/ 280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80">
                  <a:moveTo>
                    <a:pt x="0" y="280"/>
                  </a:moveTo>
                  <a:lnTo>
                    <a:pt x="36" y="243"/>
                  </a:lnTo>
                  <a:lnTo>
                    <a:pt x="36" y="179"/>
                  </a:lnTo>
                  <a:lnTo>
                    <a:pt x="47" y="143"/>
                  </a:lnTo>
                  <a:lnTo>
                    <a:pt x="47" y="0"/>
                  </a:lnTo>
                  <a:lnTo>
                    <a:pt x="0" y="48"/>
                  </a:lnTo>
                  <a:lnTo>
                    <a:pt x="0" y="28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4" name="Freeform 648"/>
            <p:cNvSpPr/>
            <p:nvPr/>
          </p:nvSpPr>
          <p:spPr bwMode="auto">
            <a:xfrm>
              <a:off x="945" y="2752"/>
              <a:ext cx="332" cy="48"/>
            </a:xfrm>
            <a:custGeom>
              <a:avLst/>
              <a:gdLst>
                <a:gd name="T0" fmla="*/ 332 w 332"/>
                <a:gd name="T1" fmla="*/ 0 h 48"/>
                <a:gd name="T2" fmla="*/ 47 w 332"/>
                <a:gd name="T3" fmla="*/ 0 h 48"/>
                <a:gd name="T4" fmla="*/ 0 w 332"/>
                <a:gd name="T5" fmla="*/ 48 h 48"/>
                <a:gd name="T6" fmla="*/ 285 w 332"/>
                <a:gd name="T7" fmla="*/ 48 h 48"/>
                <a:gd name="T8" fmla="*/ 332 w 332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2" h="48">
                  <a:moveTo>
                    <a:pt x="332" y="0"/>
                  </a:moveTo>
                  <a:lnTo>
                    <a:pt x="47" y="0"/>
                  </a:lnTo>
                  <a:lnTo>
                    <a:pt x="0" y="48"/>
                  </a:lnTo>
                  <a:lnTo>
                    <a:pt x="285" y="48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5" name="Rectangle 649"/>
            <p:cNvSpPr>
              <a:spLocks noChangeArrowheads="1"/>
            </p:cNvSpPr>
            <p:nvPr/>
          </p:nvSpPr>
          <p:spPr bwMode="auto">
            <a:xfrm>
              <a:off x="945" y="2800"/>
              <a:ext cx="285" cy="231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8986" name="Rectangle 650"/>
            <p:cNvSpPr>
              <a:spLocks noChangeArrowheads="1"/>
            </p:cNvSpPr>
            <p:nvPr/>
          </p:nvSpPr>
          <p:spPr bwMode="auto">
            <a:xfrm>
              <a:off x="1201" y="3002"/>
              <a:ext cx="14" cy="7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8987" name="Freeform 651"/>
            <p:cNvSpPr/>
            <p:nvPr/>
          </p:nvSpPr>
          <p:spPr bwMode="auto">
            <a:xfrm>
              <a:off x="986" y="2835"/>
              <a:ext cx="202" cy="142"/>
            </a:xfrm>
            <a:custGeom>
              <a:avLst/>
              <a:gdLst>
                <a:gd name="T0" fmla="*/ 0 w 202"/>
                <a:gd name="T1" fmla="*/ 142 h 142"/>
                <a:gd name="T2" fmla="*/ 202 w 202"/>
                <a:gd name="T3" fmla="*/ 142 h 142"/>
                <a:gd name="T4" fmla="*/ 202 w 202"/>
                <a:gd name="T5" fmla="*/ 0 h 142"/>
                <a:gd name="T6" fmla="*/ 197 w 202"/>
                <a:gd name="T7" fmla="*/ 0 h 142"/>
                <a:gd name="T8" fmla="*/ 197 w 202"/>
                <a:gd name="T9" fmla="*/ 139 h 142"/>
                <a:gd name="T10" fmla="*/ 0 w 202"/>
                <a:gd name="T11" fmla="*/ 139 h 142"/>
                <a:gd name="T12" fmla="*/ 0 w 202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2">
                  <a:moveTo>
                    <a:pt x="0" y="142"/>
                  </a:moveTo>
                  <a:lnTo>
                    <a:pt x="202" y="142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39"/>
                  </a:lnTo>
                  <a:lnTo>
                    <a:pt x="0" y="139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8" name="Freeform 652"/>
            <p:cNvSpPr/>
            <p:nvPr/>
          </p:nvSpPr>
          <p:spPr bwMode="auto">
            <a:xfrm>
              <a:off x="986" y="2835"/>
              <a:ext cx="197" cy="139"/>
            </a:xfrm>
            <a:custGeom>
              <a:avLst/>
              <a:gdLst>
                <a:gd name="T0" fmla="*/ 0 w 197"/>
                <a:gd name="T1" fmla="*/ 139 h 139"/>
                <a:gd name="T2" fmla="*/ 197 w 197"/>
                <a:gd name="T3" fmla="*/ 139 h 139"/>
                <a:gd name="T4" fmla="*/ 197 w 197"/>
                <a:gd name="T5" fmla="*/ 0 h 139"/>
                <a:gd name="T6" fmla="*/ 193 w 197"/>
                <a:gd name="T7" fmla="*/ 0 h 139"/>
                <a:gd name="T8" fmla="*/ 193 w 197"/>
                <a:gd name="T9" fmla="*/ 136 h 139"/>
                <a:gd name="T10" fmla="*/ 0 w 197"/>
                <a:gd name="T11" fmla="*/ 136 h 139"/>
                <a:gd name="T12" fmla="*/ 0 w 197"/>
                <a:gd name="T13" fmla="*/ 139 h 1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39">
                  <a:moveTo>
                    <a:pt x="0" y="139"/>
                  </a:moveTo>
                  <a:lnTo>
                    <a:pt x="197" y="139"/>
                  </a:lnTo>
                  <a:lnTo>
                    <a:pt x="197" y="0"/>
                  </a:lnTo>
                  <a:lnTo>
                    <a:pt x="193" y="0"/>
                  </a:lnTo>
                  <a:lnTo>
                    <a:pt x="193" y="136"/>
                  </a:lnTo>
                  <a:lnTo>
                    <a:pt x="0" y="136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89" name="Freeform 653"/>
            <p:cNvSpPr/>
            <p:nvPr/>
          </p:nvSpPr>
          <p:spPr bwMode="auto">
            <a:xfrm>
              <a:off x="986" y="2835"/>
              <a:ext cx="193" cy="136"/>
            </a:xfrm>
            <a:custGeom>
              <a:avLst/>
              <a:gdLst>
                <a:gd name="T0" fmla="*/ 0 w 193"/>
                <a:gd name="T1" fmla="*/ 136 h 136"/>
                <a:gd name="T2" fmla="*/ 193 w 193"/>
                <a:gd name="T3" fmla="*/ 136 h 136"/>
                <a:gd name="T4" fmla="*/ 193 w 193"/>
                <a:gd name="T5" fmla="*/ 0 h 136"/>
                <a:gd name="T6" fmla="*/ 190 w 193"/>
                <a:gd name="T7" fmla="*/ 0 h 136"/>
                <a:gd name="T8" fmla="*/ 190 w 193"/>
                <a:gd name="T9" fmla="*/ 134 h 136"/>
                <a:gd name="T10" fmla="*/ 0 w 193"/>
                <a:gd name="T11" fmla="*/ 134 h 136"/>
                <a:gd name="T12" fmla="*/ 0 w 193"/>
                <a:gd name="T13" fmla="*/ 136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3" h="136">
                  <a:moveTo>
                    <a:pt x="0" y="136"/>
                  </a:moveTo>
                  <a:lnTo>
                    <a:pt x="193" y="136"/>
                  </a:lnTo>
                  <a:lnTo>
                    <a:pt x="193" y="0"/>
                  </a:lnTo>
                  <a:lnTo>
                    <a:pt x="190" y="0"/>
                  </a:lnTo>
                  <a:lnTo>
                    <a:pt x="190" y="134"/>
                  </a:lnTo>
                  <a:lnTo>
                    <a:pt x="0" y="134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0" name="Freeform 654"/>
            <p:cNvSpPr/>
            <p:nvPr/>
          </p:nvSpPr>
          <p:spPr bwMode="auto">
            <a:xfrm>
              <a:off x="986" y="2835"/>
              <a:ext cx="190" cy="134"/>
            </a:xfrm>
            <a:custGeom>
              <a:avLst/>
              <a:gdLst>
                <a:gd name="T0" fmla="*/ 0 w 190"/>
                <a:gd name="T1" fmla="*/ 134 h 134"/>
                <a:gd name="T2" fmla="*/ 190 w 190"/>
                <a:gd name="T3" fmla="*/ 134 h 134"/>
                <a:gd name="T4" fmla="*/ 190 w 190"/>
                <a:gd name="T5" fmla="*/ 0 h 134"/>
                <a:gd name="T6" fmla="*/ 186 w 190"/>
                <a:gd name="T7" fmla="*/ 0 h 134"/>
                <a:gd name="T8" fmla="*/ 186 w 190"/>
                <a:gd name="T9" fmla="*/ 131 h 134"/>
                <a:gd name="T10" fmla="*/ 0 w 190"/>
                <a:gd name="T11" fmla="*/ 131 h 134"/>
                <a:gd name="T12" fmla="*/ 0 w 190"/>
                <a:gd name="T13" fmla="*/ 134 h 1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4">
                  <a:moveTo>
                    <a:pt x="0" y="134"/>
                  </a:moveTo>
                  <a:lnTo>
                    <a:pt x="190" y="134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1"/>
                  </a:lnTo>
                  <a:lnTo>
                    <a:pt x="0" y="131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1" name="Freeform 655"/>
            <p:cNvSpPr/>
            <p:nvPr/>
          </p:nvSpPr>
          <p:spPr bwMode="auto">
            <a:xfrm>
              <a:off x="986" y="2835"/>
              <a:ext cx="186" cy="131"/>
            </a:xfrm>
            <a:custGeom>
              <a:avLst/>
              <a:gdLst>
                <a:gd name="T0" fmla="*/ 0 w 186"/>
                <a:gd name="T1" fmla="*/ 131 h 131"/>
                <a:gd name="T2" fmla="*/ 186 w 186"/>
                <a:gd name="T3" fmla="*/ 131 h 131"/>
                <a:gd name="T4" fmla="*/ 186 w 186"/>
                <a:gd name="T5" fmla="*/ 0 h 131"/>
                <a:gd name="T6" fmla="*/ 182 w 186"/>
                <a:gd name="T7" fmla="*/ 0 h 131"/>
                <a:gd name="T8" fmla="*/ 182 w 186"/>
                <a:gd name="T9" fmla="*/ 128 h 131"/>
                <a:gd name="T10" fmla="*/ 0 w 186"/>
                <a:gd name="T11" fmla="*/ 128 h 131"/>
                <a:gd name="T12" fmla="*/ 0 w 186"/>
                <a:gd name="T13" fmla="*/ 131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1">
                  <a:moveTo>
                    <a:pt x="0" y="131"/>
                  </a:moveTo>
                  <a:lnTo>
                    <a:pt x="186" y="131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28"/>
                  </a:lnTo>
                  <a:lnTo>
                    <a:pt x="0" y="128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2" name="Freeform 656"/>
            <p:cNvSpPr/>
            <p:nvPr/>
          </p:nvSpPr>
          <p:spPr bwMode="auto">
            <a:xfrm>
              <a:off x="986" y="2835"/>
              <a:ext cx="182" cy="128"/>
            </a:xfrm>
            <a:custGeom>
              <a:avLst/>
              <a:gdLst>
                <a:gd name="T0" fmla="*/ 0 w 182"/>
                <a:gd name="T1" fmla="*/ 128 h 128"/>
                <a:gd name="T2" fmla="*/ 182 w 182"/>
                <a:gd name="T3" fmla="*/ 128 h 128"/>
                <a:gd name="T4" fmla="*/ 182 w 182"/>
                <a:gd name="T5" fmla="*/ 0 h 128"/>
                <a:gd name="T6" fmla="*/ 178 w 182"/>
                <a:gd name="T7" fmla="*/ 0 h 128"/>
                <a:gd name="T8" fmla="*/ 178 w 182"/>
                <a:gd name="T9" fmla="*/ 126 h 128"/>
                <a:gd name="T10" fmla="*/ 0 w 182"/>
                <a:gd name="T11" fmla="*/ 126 h 128"/>
                <a:gd name="T12" fmla="*/ 0 w 182"/>
                <a:gd name="T13" fmla="*/ 12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28">
                  <a:moveTo>
                    <a:pt x="0" y="128"/>
                  </a:moveTo>
                  <a:lnTo>
                    <a:pt x="182" y="128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6"/>
                  </a:lnTo>
                  <a:lnTo>
                    <a:pt x="0" y="126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3" name="Freeform 657"/>
            <p:cNvSpPr/>
            <p:nvPr/>
          </p:nvSpPr>
          <p:spPr bwMode="auto">
            <a:xfrm>
              <a:off x="986" y="2835"/>
              <a:ext cx="178" cy="126"/>
            </a:xfrm>
            <a:custGeom>
              <a:avLst/>
              <a:gdLst>
                <a:gd name="T0" fmla="*/ 0 w 178"/>
                <a:gd name="T1" fmla="*/ 126 h 126"/>
                <a:gd name="T2" fmla="*/ 178 w 178"/>
                <a:gd name="T3" fmla="*/ 126 h 126"/>
                <a:gd name="T4" fmla="*/ 178 w 178"/>
                <a:gd name="T5" fmla="*/ 0 h 126"/>
                <a:gd name="T6" fmla="*/ 174 w 178"/>
                <a:gd name="T7" fmla="*/ 0 h 126"/>
                <a:gd name="T8" fmla="*/ 174 w 178"/>
                <a:gd name="T9" fmla="*/ 123 h 126"/>
                <a:gd name="T10" fmla="*/ 0 w 178"/>
                <a:gd name="T11" fmla="*/ 123 h 126"/>
                <a:gd name="T12" fmla="*/ 0 w 178"/>
                <a:gd name="T13" fmla="*/ 126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126">
                  <a:moveTo>
                    <a:pt x="0" y="126"/>
                  </a:moveTo>
                  <a:lnTo>
                    <a:pt x="178" y="126"/>
                  </a:lnTo>
                  <a:lnTo>
                    <a:pt x="178" y="0"/>
                  </a:lnTo>
                  <a:lnTo>
                    <a:pt x="174" y="0"/>
                  </a:lnTo>
                  <a:lnTo>
                    <a:pt x="174" y="123"/>
                  </a:lnTo>
                  <a:lnTo>
                    <a:pt x="0" y="123"/>
                  </a:lnTo>
                  <a:lnTo>
                    <a:pt x="0" y="126"/>
                  </a:lnTo>
                  <a:close/>
                </a:path>
              </a:pathLst>
            </a:custGeom>
            <a:solidFill>
              <a:srgbClr val="A2A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4" name="Freeform 658"/>
            <p:cNvSpPr/>
            <p:nvPr/>
          </p:nvSpPr>
          <p:spPr bwMode="auto">
            <a:xfrm>
              <a:off x="986" y="2835"/>
              <a:ext cx="174" cy="123"/>
            </a:xfrm>
            <a:custGeom>
              <a:avLst/>
              <a:gdLst>
                <a:gd name="T0" fmla="*/ 0 w 174"/>
                <a:gd name="T1" fmla="*/ 123 h 123"/>
                <a:gd name="T2" fmla="*/ 174 w 174"/>
                <a:gd name="T3" fmla="*/ 123 h 123"/>
                <a:gd name="T4" fmla="*/ 174 w 174"/>
                <a:gd name="T5" fmla="*/ 0 h 123"/>
                <a:gd name="T6" fmla="*/ 171 w 174"/>
                <a:gd name="T7" fmla="*/ 0 h 123"/>
                <a:gd name="T8" fmla="*/ 171 w 174"/>
                <a:gd name="T9" fmla="*/ 120 h 123"/>
                <a:gd name="T10" fmla="*/ 0 w 174"/>
                <a:gd name="T11" fmla="*/ 120 h 123"/>
                <a:gd name="T12" fmla="*/ 0 w 174"/>
                <a:gd name="T13" fmla="*/ 123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4" h="123">
                  <a:moveTo>
                    <a:pt x="0" y="123"/>
                  </a:moveTo>
                  <a:lnTo>
                    <a:pt x="174" y="123"/>
                  </a:lnTo>
                  <a:lnTo>
                    <a:pt x="174" y="0"/>
                  </a:lnTo>
                  <a:lnTo>
                    <a:pt x="171" y="0"/>
                  </a:lnTo>
                  <a:lnTo>
                    <a:pt x="171" y="120"/>
                  </a:lnTo>
                  <a:lnTo>
                    <a:pt x="0" y="120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A5A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5" name="Freeform 659"/>
            <p:cNvSpPr/>
            <p:nvPr/>
          </p:nvSpPr>
          <p:spPr bwMode="auto">
            <a:xfrm>
              <a:off x="986" y="2835"/>
              <a:ext cx="171" cy="120"/>
            </a:xfrm>
            <a:custGeom>
              <a:avLst/>
              <a:gdLst>
                <a:gd name="T0" fmla="*/ 0 w 171"/>
                <a:gd name="T1" fmla="*/ 120 h 120"/>
                <a:gd name="T2" fmla="*/ 171 w 171"/>
                <a:gd name="T3" fmla="*/ 120 h 120"/>
                <a:gd name="T4" fmla="*/ 171 w 171"/>
                <a:gd name="T5" fmla="*/ 0 h 120"/>
                <a:gd name="T6" fmla="*/ 167 w 171"/>
                <a:gd name="T7" fmla="*/ 0 h 120"/>
                <a:gd name="T8" fmla="*/ 167 w 171"/>
                <a:gd name="T9" fmla="*/ 117 h 120"/>
                <a:gd name="T10" fmla="*/ 0 w 171"/>
                <a:gd name="T11" fmla="*/ 117 h 120"/>
                <a:gd name="T12" fmla="*/ 0 w 171"/>
                <a:gd name="T13" fmla="*/ 120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20">
                  <a:moveTo>
                    <a:pt x="0" y="120"/>
                  </a:moveTo>
                  <a:lnTo>
                    <a:pt x="171" y="120"/>
                  </a:lnTo>
                  <a:lnTo>
                    <a:pt x="171" y="0"/>
                  </a:lnTo>
                  <a:lnTo>
                    <a:pt x="167" y="0"/>
                  </a:lnTo>
                  <a:lnTo>
                    <a:pt x="167" y="117"/>
                  </a:lnTo>
                  <a:lnTo>
                    <a:pt x="0" y="117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rgbClr val="A9A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6" name="Freeform 660"/>
            <p:cNvSpPr/>
            <p:nvPr/>
          </p:nvSpPr>
          <p:spPr bwMode="auto">
            <a:xfrm>
              <a:off x="986" y="2835"/>
              <a:ext cx="167" cy="117"/>
            </a:xfrm>
            <a:custGeom>
              <a:avLst/>
              <a:gdLst>
                <a:gd name="T0" fmla="*/ 0 w 167"/>
                <a:gd name="T1" fmla="*/ 117 h 117"/>
                <a:gd name="T2" fmla="*/ 167 w 167"/>
                <a:gd name="T3" fmla="*/ 117 h 117"/>
                <a:gd name="T4" fmla="*/ 167 w 167"/>
                <a:gd name="T5" fmla="*/ 0 h 117"/>
                <a:gd name="T6" fmla="*/ 162 w 167"/>
                <a:gd name="T7" fmla="*/ 0 h 117"/>
                <a:gd name="T8" fmla="*/ 162 w 167"/>
                <a:gd name="T9" fmla="*/ 115 h 117"/>
                <a:gd name="T10" fmla="*/ 0 w 167"/>
                <a:gd name="T11" fmla="*/ 115 h 117"/>
                <a:gd name="T12" fmla="*/ 0 w 167"/>
                <a:gd name="T13" fmla="*/ 117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7">
                  <a:moveTo>
                    <a:pt x="0" y="117"/>
                  </a:moveTo>
                  <a:lnTo>
                    <a:pt x="167" y="117"/>
                  </a:lnTo>
                  <a:lnTo>
                    <a:pt x="167" y="0"/>
                  </a:lnTo>
                  <a:lnTo>
                    <a:pt x="162" y="0"/>
                  </a:lnTo>
                  <a:lnTo>
                    <a:pt x="162" y="115"/>
                  </a:lnTo>
                  <a:lnTo>
                    <a:pt x="0" y="115"/>
                  </a:lnTo>
                  <a:lnTo>
                    <a:pt x="0" y="117"/>
                  </a:lnTo>
                  <a:close/>
                </a:path>
              </a:pathLst>
            </a:custGeom>
            <a:solidFill>
              <a:srgbClr val="ADA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7" name="Freeform 661"/>
            <p:cNvSpPr/>
            <p:nvPr/>
          </p:nvSpPr>
          <p:spPr bwMode="auto">
            <a:xfrm>
              <a:off x="986" y="2835"/>
              <a:ext cx="162" cy="115"/>
            </a:xfrm>
            <a:custGeom>
              <a:avLst/>
              <a:gdLst>
                <a:gd name="T0" fmla="*/ 0 w 162"/>
                <a:gd name="T1" fmla="*/ 115 h 115"/>
                <a:gd name="T2" fmla="*/ 162 w 162"/>
                <a:gd name="T3" fmla="*/ 115 h 115"/>
                <a:gd name="T4" fmla="*/ 162 w 162"/>
                <a:gd name="T5" fmla="*/ 0 h 115"/>
                <a:gd name="T6" fmla="*/ 158 w 162"/>
                <a:gd name="T7" fmla="*/ 0 h 115"/>
                <a:gd name="T8" fmla="*/ 158 w 162"/>
                <a:gd name="T9" fmla="*/ 111 h 115"/>
                <a:gd name="T10" fmla="*/ 0 w 162"/>
                <a:gd name="T11" fmla="*/ 111 h 115"/>
                <a:gd name="T12" fmla="*/ 0 w 162"/>
                <a:gd name="T13" fmla="*/ 11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15">
                  <a:moveTo>
                    <a:pt x="0" y="115"/>
                  </a:moveTo>
                  <a:lnTo>
                    <a:pt x="162" y="115"/>
                  </a:lnTo>
                  <a:lnTo>
                    <a:pt x="162" y="0"/>
                  </a:lnTo>
                  <a:lnTo>
                    <a:pt x="158" y="0"/>
                  </a:lnTo>
                  <a:lnTo>
                    <a:pt x="158" y="111"/>
                  </a:lnTo>
                  <a:lnTo>
                    <a:pt x="0" y="111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B0B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8" name="Freeform 662"/>
            <p:cNvSpPr/>
            <p:nvPr/>
          </p:nvSpPr>
          <p:spPr bwMode="auto">
            <a:xfrm>
              <a:off x="986" y="2835"/>
              <a:ext cx="158" cy="111"/>
            </a:xfrm>
            <a:custGeom>
              <a:avLst/>
              <a:gdLst>
                <a:gd name="T0" fmla="*/ 0 w 158"/>
                <a:gd name="T1" fmla="*/ 111 h 111"/>
                <a:gd name="T2" fmla="*/ 158 w 158"/>
                <a:gd name="T3" fmla="*/ 111 h 111"/>
                <a:gd name="T4" fmla="*/ 158 w 158"/>
                <a:gd name="T5" fmla="*/ 0 h 111"/>
                <a:gd name="T6" fmla="*/ 153 w 158"/>
                <a:gd name="T7" fmla="*/ 0 h 111"/>
                <a:gd name="T8" fmla="*/ 153 w 158"/>
                <a:gd name="T9" fmla="*/ 108 h 111"/>
                <a:gd name="T10" fmla="*/ 0 w 158"/>
                <a:gd name="T11" fmla="*/ 108 h 111"/>
                <a:gd name="T12" fmla="*/ 0 w 158"/>
                <a:gd name="T13" fmla="*/ 111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1">
                  <a:moveTo>
                    <a:pt x="0" y="111"/>
                  </a:moveTo>
                  <a:lnTo>
                    <a:pt x="158" y="111"/>
                  </a:lnTo>
                  <a:lnTo>
                    <a:pt x="158" y="0"/>
                  </a:lnTo>
                  <a:lnTo>
                    <a:pt x="153" y="0"/>
                  </a:lnTo>
                  <a:lnTo>
                    <a:pt x="153" y="108"/>
                  </a:lnTo>
                  <a:lnTo>
                    <a:pt x="0" y="108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4B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8999" name="Freeform 663"/>
            <p:cNvSpPr/>
            <p:nvPr/>
          </p:nvSpPr>
          <p:spPr bwMode="auto">
            <a:xfrm>
              <a:off x="986" y="2835"/>
              <a:ext cx="153" cy="108"/>
            </a:xfrm>
            <a:custGeom>
              <a:avLst/>
              <a:gdLst>
                <a:gd name="T0" fmla="*/ 0 w 153"/>
                <a:gd name="T1" fmla="*/ 108 h 108"/>
                <a:gd name="T2" fmla="*/ 153 w 153"/>
                <a:gd name="T3" fmla="*/ 108 h 108"/>
                <a:gd name="T4" fmla="*/ 153 w 153"/>
                <a:gd name="T5" fmla="*/ 0 h 108"/>
                <a:gd name="T6" fmla="*/ 148 w 153"/>
                <a:gd name="T7" fmla="*/ 0 h 108"/>
                <a:gd name="T8" fmla="*/ 148 w 153"/>
                <a:gd name="T9" fmla="*/ 104 h 108"/>
                <a:gd name="T10" fmla="*/ 0 w 153"/>
                <a:gd name="T11" fmla="*/ 104 h 108"/>
                <a:gd name="T12" fmla="*/ 0 w 153"/>
                <a:gd name="T13" fmla="*/ 10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3" h="108">
                  <a:moveTo>
                    <a:pt x="0" y="108"/>
                  </a:moveTo>
                  <a:lnTo>
                    <a:pt x="153" y="108"/>
                  </a:lnTo>
                  <a:lnTo>
                    <a:pt x="153" y="0"/>
                  </a:lnTo>
                  <a:lnTo>
                    <a:pt x="148" y="0"/>
                  </a:lnTo>
                  <a:lnTo>
                    <a:pt x="148" y="104"/>
                  </a:lnTo>
                  <a:lnTo>
                    <a:pt x="0" y="104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B8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0" name="Freeform 664"/>
            <p:cNvSpPr/>
            <p:nvPr/>
          </p:nvSpPr>
          <p:spPr bwMode="auto">
            <a:xfrm>
              <a:off x="986" y="2835"/>
              <a:ext cx="148" cy="104"/>
            </a:xfrm>
            <a:custGeom>
              <a:avLst/>
              <a:gdLst>
                <a:gd name="T0" fmla="*/ 0 w 148"/>
                <a:gd name="T1" fmla="*/ 104 h 104"/>
                <a:gd name="T2" fmla="*/ 148 w 148"/>
                <a:gd name="T3" fmla="*/ 104 h 104"/>
                <a:gd name="T4" fmla="*/ 148 w 148"/>
                <a:gd name="T5" fmla="*/ 0 h 104"/>
                <a:gd name="T6" fmla="*/ 143 w 148"/>
                <a:gd name="T7" fmla="*/ 0 h 104"/>
                <a:gd name="T8" fmla="*/ 143 w 148"/>
                <a:gd name="T9" fmla="*/ 101 h 104"/>
                <a:gd name="T10" fmla="*/ 0 w 148"/>
                <a:gd name="T11" fmla="*/ 101 h 104"/>
                <a:gd name="T12" fmla="*/ 0 w 148"/>
                <a:gd name="T13" fmla="*/ 104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8" h="104">
                  <a:moveTo>
                    <a:pt x="0" y="104"/>
                  </a:moveTo>
                  <a:lnTo>
                    <a:pt x="148" y="104"/>
                  </a:lnTo>
                  <a:lnTo>
                    <a:pt x="148" y="0"/>
                  </a:lnTo>
                  <a:lnTo>
                    <a:pt x="143" y="0"/>
                  </a:lnTo>
                  <a:lnTo>
                    <a:pt x="143" y="101"/>
                  </a:lnTo>
                  <a:lnTo>
                    <a:pt x="0" y="101"/>
                  </a:lnTo>
                  <a:lnTo>
                    <a:pt x="0" y="104"/>
                  </a:lnTo>
                  <a:close/>
                </a:path>
              </a:pathLst>
            </a:custGeom>
            <a:solidFill>
              <a:srgbClr val="BBB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1" name="Freeform 665"/>
            <p:cNvSpPr/>
            <p:nvPr/>
          </p:nvSpPr>
          <p:spPr bwMode="auto">
            <a:xfrm>
              <a:off x="986" y="2835"/>
              <a:ext cx="143" cy="101"/>
            </a:xfrm>
            <a:custGeom>
              <a:avLst/>
              <a:gdLst>
                <a:gd name="T0" fmla="*/ 0 w 143"/>
                <a:gd name="T1" fmla="*/ 101 h 101"/>
                <a:gd name="T2" fmla="*/ 143 w 143"/>
                <a:gd name="T3" fmla="*/ 101 h 101"/>
                <a:gd name="T4" fmla="*/ 143 w 143"/>
                <a:gd name="T5" fmla="*/ 0 h 101"/>
                <a:gd name="T6" fmla="*/ 138 w 143"/>
                <a:gd name="T7" fmla="*/ 0 h 101"/>
                <a:gd name="T8" fmla="*/ 138 w 143"/>
                <a:gd name="T9" fmla="*/ 97 h 101"/>
                <a:gd name="T10" fmla="*/ 0 w 143"/>
                <a:gd name="T11" fmla="*/ 97 h 101"/>
                <a:gd name="T12" fmla="*/ 0 w 143"/>
                <a:gd name="T13" fmla="*/ 101 h 1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101">
                  <a:moveTo>
                    <a:pt x="0" y="101"/>
                  </a:moveTo>
                  <a:lnTo>
                    <a:pt x="143" y="101"/>
                  </a:lnTo>
                  <a:lnTo>
                    <a:pt x="143" y="0"/>
                  </a:lnTo>
                  <a:lnTo>
                    <a:pt x="138" y="0"/>
                  </a:lnTo>
                  <a:lnTo>
                    <a:pt x="138" y="97"/>
                  </a:lnTo>
                  <a:lnTo>
                    <a:pt x="0" y="97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BF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2" name="Freeform 666"/>
            <p:cNvSpPr/>
            <p:nvPr/>
          </p:nvSpPr>
          <p:spPr bwMode="auto">
            <a:xfrm>
              <a:off x="986" y="2835"/>
              <a:ext cx="138" cy="97"/>
            </a:xfrm>
            <a:custGeom>
              <a:avLst/>
              <a:gdLst>
                <a:gd name="T0" fmla="*/ 0 w 138"/>
                <a:gd name="T1" fmla="*/ 97 h 97"/>
                <a:gd name="T2" fmla="*/ 138 w 138"/>
                <a:gd name="T3" fmla="*/ 97 h 97"/>
                <a:gd name="T4" fmla="*/ 138 w 138"/>
                <a:gd name="T5" fmla="*/ 0 h 97"/>
                <a:gd name="T6" fmla="*/ 133 w 138"/>
                <a:gd name="T7" fmla="*/ 0 h 97"/>
                <a:gd name="T8" fmla="*/ 133 w 138"/>
                <a:gd name="T9" fmla="*/ 93 h 97"/>
                <a:gd name="T10" fmla="*/ 0 w 138"/>
                <a:gd name="T11" fmla="*/ 93 h 97"/>
                <a:gd name="T12" fmla="*/ 0 w 138"/>
                <a:gd name="T13" fmla="*/ 97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97">
                  <a:moveTo>
                    <a:pt x="0" y="97"/>
                  </a:moveTo>
                  <a:lnTo>
                    <a:pt x="138" y="97"/>
                  </a:lnTo>
                  <a:lnTo>
                    <a:pt x="138" y="0"/>
                  </a:lnTo>
                  <a:lnTo>
                    <a:pt x="133" y="0"/>
                  </a:lnTo>
                  <a:lnTo>
                    <a:pt x="133" y="93"/>
                  </a:lnTo>
                  <a:lnTo>
                    <a:pt x="0" y="93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C3C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3" name="Freeform 667"/>
            <p:cNvSpPr/>
            <p:nvPr/>
          </p:nvSpPr>
          <p:spPr bwMode="auto">
            <a:xfrm>
              <a:off x="986" y="2835"/>
              <a:ext cx="133" cy="93"/>
            </a:xfrm>
            <a:custGeom>
              <a:avLst/>
              <a:gdLst>
                <a:gd name="T0" fmla="*/ 0 w 133"/>
                <a:gd name="T1" fmla="*/ 93 h 93"/>
                <a:gd name="T2" fmla="*/ 133 w 133"/>
                <a:gd name="T3" fmla="*/ 93 h 93"/>
                <a:gd name="T4" fmla="*/ 133 w 133"/>
                <a:gd name="T5" fmla="*/ 0 h 93"/>
                <a:gd name="T6" fmla="*/ 126 w 133"/>
                <a:gd name="T7" fmla="*/ 0 h 93"/>
                <a:gd name="T8" fmla="*/ 126 w 133"/>
                <a:gd name="T9" fmla="*/ 89 h 93"/>
                <a:gd name="T10" fmla="*/ 0 w 133"/>
                <a:gd name="T11" fmla="*/ 89 h 93"/>
                <a:gd name="T12" fmla="*/ 0 w 133"/>
                <a:gd name="T13" fmla="*/ 93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93">
                  <a:moveTo>
                    <a:pt x="0" y="93"/>
                  </a:moveTo>
                  <a:lnTo>
                    <a:pt x="133" y="93"/>
                  </a:lnTo>
                  <a:lnTo>
                    <a:pt x="133" y="0"/>
                  </a:lnTo>
                  <a:lnTo>
                    <a:pt x="126" y="0"/>
                  </a:lnTo>
                  <a:lnTo>
                    <a:pt x="126" y="89"/>
                  </a:lnTo>
                  <a:lnTo>
                    <a:pt x="0" y="89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C6C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4" name="Freeform 668"/>
            <p:cNvSpPr/>
            <p:nvPr/>
          </p:nvSpPr>
          <p:spPr bwMode="auto">
            <a:xfrm>
              <a:off x="986" y="2835"/>
              <a:ext cx="126" cy="89"/>
            </a:xfrm>
            <a:custGeom>
              <a:avLst/>
              <a:gdLst>
                <a:gd name="T0" fmla="*/ 0 w 126"/>
                <a:gd name="T1" fmla="*/ 89 h 89"/>
                <a:gd name="T2" fmla="*/ 126 w 126"/>
                <a:gd name="T3" fmla="*/ 89 h 89"/>
                <a:gd name="T4" fmla="*/ 126 w 126"/>
                <a:gd name="T5" fmla="*/ 0 h 89"/>
                <a:gd name="T6" fmla="*/ 121 w 126"/>
                <a:gd name="T7" fmla="*/ 0 h 89"/>
                <a:gd name="T8" fmla="*/ 121 w 126"/>
                <a:gd name="T9" fmla="*/ 85 h 89"/>
                <a:gd name="T10" fmla="*/ 0 w 126"/>
                <a:gd name="T11" fmla="*/ 85 h 89"/>
                <a:gd name="T12" fmla="*/ 0 w 126"/>
                <a:gd name="T13" fmla="*/ 89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89">
                  <a:moveTo>
                    <a:pt x="0" y="89"/>
                  </a:moveTo>
                  <a:lnTo>
                    <a:pt x="126" y="89"/>
                  </a:lnTo>
                  <a:lnTo>
                    <a:pt x="126" y="0"/>
                  </a:lnTo>
                  <a:lnTo>
                    <a:pt x="121" y="0"/>
                  </a:lnTo>
                  <a:lnTo>
                    <a:pt x="121" y="85"/>
                  </a:lnTo>
                  <a:lnTo>
                    <a:pt x="0" y="85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CAC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5" name="Freeform 669"/>
            <p:cNvSpPr/>
            <p:nvPr/>
          </p:nvSpPr>
          <p:spPr bwMode="auto">
            <a:xfrm>
              <a:off x="986" y="2835"/>
              <a:ext cx="121" cy="85"/>
            </a:xfrm>
            <a:custGeom>
              <a:avLst/>
              <a:gdLst>
                <a:gd name="T0" fmla="*/ 0 w 121"/>
                <a:gd name="T1" fmla="*/ 85 h 85"/>
                <a:gd name="T2" fmla="*/ 121 w 121"/>
                <a:gd name="T3" fmla="*/ 85 h 85"/>
                <a:gd name="T4" fmla="*/ 121 w 121"/>
                <a:gd name="T5" fmla="*/ 0 h 85"/>
                <a:gd name="T6" fmla="*/ 115 w 121"/>
                <a:gd name="T7" fmla="*/ 0 h 85"/>
                <a:gd name="T8" fmla="*/ 115 w 121"/>
                <a:gd name="T9" fmla="*/ 80 h 85"/>
                <a:gd name="T10" fmla="*/ 0 w 121"/>
                <a:gd name="T11" fmla="*/ 80 h 85"/>
                <a:gd name="T12" fmla="*/ 0 w 121"/>
                <a:gd name="T13" fmla="*/ 85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85">
                  <a:moveTo>
                    <a:pt x="0" y="85"/>
                  </a:moveTo>
                  <a:lnTo>
                    <a:pt x="121" y="85"/>
                  </a:lnTo>
                  <a:lnTo>
                    <a:pt x="121" y="0"/>
                  </a:lnTo>
                  <a:lnTo>
                    <a:pt x="115" y="0"/>
                  </a:lnTo>
                  <a:lnTo>
                    <a:pt x="115" y="80"/>
                  </a:lnTo>
                  <a:lnTo>
                    <a:pt x="0" y="80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CE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6" name="Freeform 670"/>
            <p:cNvSpPr/>
            <p:nvPr/>
          </p:nvSpPr>
          <p:spPr bwMode="auto">
            <a:xfrm>
              <a:off x="986" y="2835"/>
              <a:ext cx="115" cy="80"/>
            </a:xfrm>
            <a:custGeom>
              <a:avLst/>
              <a:gdLst>
                <a:gd name="T0" fmla="*/ 0 w 115"/>
                <a:gd name="T1" fmla="*/ 80 h 80"/>
                <a:gd name="T2" fmla="*/ 115 w 115"/>
                <a:gd name="T3" fmla="*/ 80 h 80"/>
                <a:gd name="T4" fmla="*/ 115 w 115"/>
                <a:gd name="T5" fmla="*/ 0 h 80"/>
                <a:gd name="T6" fmla="*/ 109 w 115"/>
                <a:gd name="T7" fmla="*/ 0 h 80"/>
                <a:gd name="T8" fmla="*/ 109 w 115"/>
                <a:gd name="T9" fmla="*/ 76 h 80"/>
                <a:gd name="T10" fmla="*/ 0 w 115"/>
                <a:gd name="T11" fmla="*/ 76 h 80"/>
                <a:gd name="T12" fmla="*/ 0 w 115"/>
                <a:gd name="T13" fmla="*/ 8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5" h="80">
                  <a:moveTo>
                    <a:pt x="0" y="80"/>
                  </a:moveTo>
                  <a:lnTo>
                    <a:pt x="115" y="80"/>
                  </a:lnTo>
                  <a:lnTo>
                    <a:pt x="115" y="0"/>
                  </a:lnTo>
                  <a:lnTo>
                    <a:pt x="109" y="0"/>
                  </a:lnTo>
                  <a:lnTo>
                    <a:pt x="109" y="76"/>
                  </a:lnTo>
                  <a:lnTo>
                    <a:pt x="0" y="76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D1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7" name="Freeform 671"/>
            <p:cNvSpPr/>
            <p:nvPr/>
          </p:nvSpPr>
          <p:spPr bwMode="auto">
            <a:xfrm>
              <a:off x="986" y="2835"/>
              <a:ext cx="109" cy="76"/>
            </a:xfrm>
            <a:custGeom>
              <a:avLst/>
              <a:gdLst>
                <a:gd name="T0" fmla="*/ 0 w 109"/>
                <a:gd name="T1" fmla="*/ 76 h 76"/>
                <a:gd name="T2" fmla="*/ 109 w 109"/>
                <a:gd name="T3" fmla="*/ 76 h 76"/>
                <a:gd name="T4" fmla="*/ 109 w 109"/>
                <a:gd name="T5" fmla="*/ 0 h 76"/>
                <a:gd name="T6" fmla="*/ 101 w 109"/>
                <a:gd name="T7" fmla="*/ 0 h 76"/>
                <a:gd name="T8" fmla="*/ 101 w 109"/>
                <a:gd name="T9" fmla="*/ 71 h 76"/>
                <a:gd name="T10" fmla="*/ 0 w 109"/>
                <a:gd name="T11" fmla="*/ 71 h 76"/>
                <a:gd name="T12" fmla="*/ 0 w 109"/>
                <a:gd name="T13" fmla="*/ 76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76">
                  <a:moveTo>
                    <a:pt x="0" y="76"/>
                  </a:moveTo>
                  <a:lnTo>
                    <a:pt x="109" y="76"/>
                  </a:lnTo>
                  <a:lnTo>
                    <a:pt x="109" y="0"/>
                  </a:lnTo>
                  <a:lnTo>
                    <a:pt x="101" y="0"/>
                  </a:lnTo>
                  <a:lnTo>
                    <a:pt x="101" y="71"/>
                  </a:lnTo>
                  <a:lnTo>
                    <a:pt x="0" y="71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D5D5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8" name="Freeform 672"/>
            <p:cNvSpPr/>
            <p:nvPr/>
          </p:nvSpPr>
          <p:spPr bwMode="auto">
            <a:xfrm>
              <a:off x="984" y="2834"/>
              <a:ext cx="103" cy="72"/>
            </a:xfrm>
            <a:custGeom>
              <a:avLst/>
              <a:gdLst>
                <a:gd name="T0" fmla="*/ 2 w 103"/>
                <a:gd name="T1" fmla="*/ 72 h 72"/>
                <a:gd name="T2" fmla="*/ 103 w 103"/>
                <a:gd name="T3" fmla="*/ 72 h 72"/>
                <a:gd name="T4" fmla="*/ 103 w 103"/>
                <a:gd name="T5" fmla="*/ 1 h 72"/>
                <a:gd name="T6" fmla="*/ 97 w 103"/>
                <a:gd name="T7" fmla="*/ 0 h 72"/>
                <a:gd name="T8" fmla="*/ 97 w 103"/>
                <a:gd name="T9" fmla="*/ 67 h 72"/>
                <a:gd name="T10" fmla="*/ 0 w 103"/>
                <a:gd name="T11" fmla="*/ 67 h 72"/>
                <a:gd name="T12" fmla="*/ 2 w 103"/>
                <a:gd name="T13" fmla="*/ 72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72">
                  <a:moveTo>
                    <a:pt x="2" y="72"/>
                  </a:moveTo>
                  <a:lnTo>
                    <a:pt x="103" y="72"/>
                  </a:lnTo>
                  <a:lnTo>
                    <a:pt x="103" y="1"/>
                  </a:lnTo>
                  <a:lnTo>
                    <a:pt x="97" y="0"/>
                  </a:lnTo>
                  <a:lnTo>
                    <a:pt x="97" y="67"/>
                  </a:lnTo>
                  <a:lnTo>
                    <a:pt x="0" y="67"/>
                  </a:lnTo>
                  <a:lnTo>
                    <a:pt x="2" y="72"/>
                  </a:lnTo>
                  <a:close/>
                </a:path>
              </a:pathLst>
            </a:custGeom>
            <a:solidFill>
              <a:srgbClr val="D9D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09" name="Freeform 673"/>
            <p:cNvSpPr/>
            <p:nvPr/>
          </p:nvSpPr>
          <p:spPr bwMode="auto">
            <a:xfrm>
              <a:off x="984" y="2834"/>
              <a:ext cx="97" cy="67"/>
            </a:xfrm>
            <a:custGeom>
              <a:avLst/>
              <a:gdLst>
                <a:gd name="T0" fmla="*/ 0 w 97"/>
                <a:gd name="T1" fmla="*/ 67 h 67"/>
                <a:gd name="T2" fmla="*/ 97 w 97"/>
                <a:gd name="T3" fmla="*/ 67 h 67"/>
                <a:gd name="T4" fmla="*/ 97 w 97"/>
                <a:gd name="T5" fmla="*/ 0 h 67"/>
                <a:gd name="T6" fmla="*/ 89 w 97"/>
                <a:gd name="T7" fmla="*/ 1 h 67"/>
                <a:gd name="T8" fmla="*/ 89 w 97"/>
                <a:gd name="T9" fmla="*/ 62 h 67"/>
                <a:gd name="T10" fmla="*/ 2 w 97"/>
                <a:gd name="T11" fmla="*/ 62 h 67"/>
                <a:gd name="T12" fmla="*/ 0 w 97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67">
                  <a:moveTo>
                    <a:pt x="0" y="67"/>
                  </a:moveTo>
                  <a:lnTo>
                    <a:pt x="97" y="67"/>
                  </a:lnTo>
                  <a:lnTo>
                    <a:pt x="97" y="0"/>
                  </a:lnTo>
                  <a:lnTo>
                    <a:pt x="89" y="1"/>
                  </a:lnTo>
                  <a:lnTo>
                    <a:pt x="89" y="62"/>
                  </a:lnTo>
                  <a:lnTo>
                    <a:pt x="2" y="62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DDD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0" name="Freeform 674"/>
            <p:cNvSpPr/>
            <p:nvPr/>
          </p:nvSpPr>
          <p:spPr bwMode="auto">
            <a:xfrm>
              <a:off x="986" y="2835"/>
              <a:ext cx="87" cy="61"/>
            </a:xfrm>
            <a:custGeom>
              <a:avLst/>
              <a:gdLst>
                <a:gd name="T0" fmla="*/ 0 w 87"/>
                <a:gd name="T1" fmla="*/ 61 h 61"/>
                <a:gd name="T2" fmla="*/ 87 w 87"/>
                <a:gd name="T3" fmla="*/ 61 h 61"/>
                <a:gd name="T4" fmla="*/ 87 w 87"/>
                <a:gd name="T5" fmla="*/ 0 h 61"/>
                <a:gd name="T6" fmla="*/ 79 w 87"/>
                <a:gd name="T7" fmla="*/ 0 h 61"/>
                <a:gd name="T8" fmla="*/ 79 w 87"/>
                <a:gd name="T9" fmla="*/ 56 h 61"/>
                <a:gd name="T10" fmla="*/ 0 w 87"/>
                <a:gd name="T11" fmla="*/ 56 h 61"/>
                <a:gd name="T12" fmla="*/ 0 w 87"/>
                <a:gd name="T13" fmla="*/ 6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61">
                  <a:moveTo>
                    <a:pt x="0" y="61"/>
                  </a:moveTo>
                  <a:lnTo>
                    <a:pt x="87" y="61"/>
                  </a:lnTo>
                  <a:lnTo>
                    <a:pt x="87" y="0"/>
                  </a:lnTo>
                  <a:lnTo>
                    <a:pt x="79" y="0"/>
                  </a:lnTo>
                  <a:lnTo>
                    <a:pt x="79" y="56"/>
                  </a:lnTo>
                  <a:lnTo>
                    <a:pt x="0" y="56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E0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1" name="Freeform 675"/>
            <p:cNvSpPr/>
            <p:nvPr/>
          </p:nvSpPr>
          <p:spPr bwMode="auto">
            <a:xfrm>
              <a:off x="986" y="2835"/>
              <a:ext cx="79" cy="56"/>
            </a:xfrm>
            <a:custGeom>
              <a:avLst/>
              <a:gdLst>
                <a:gd name="T0" fmla="*/ 0 w 79"/>
                <a:gd name="T1" fmla="*/ 56 h 56"/>
                <a:gd name="T2" fmla="*/ 79 w 79"/>
                <a:gd name="T3" fmla="*/ 56 h 56"/>
                <a:gd name="T4" fmla="*/ 79 w 79"/>
                <a:gd name="T5" fmla="*/ 0 h 56"/>
                <a:gd name="T6" fmla="*/ 71 w 79"/>
                <a:gd name="T7" fmla="*/ 0 h 56"/>
                <a:gd name="T8" fmla="*/ 71 w 79"/>
                <a:gd name="T9" fmla="*/ 50 h 56"/>
                <a:gd name="T10" fmla="*/ 0 w 79"/>
                <a:gd name="T11" fmla="*/ 50 h 56"/>
                <a:gd name="T12" fmla="*/ 0 w 79"/>
                <a:gd name="T13" fmla="*/ 56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56">
                  <a:moveTo>
                    <a:pt x="0" y="56"/>
                  </a:moveTo>
                  <a:lnTo>
                    <a:pt x="79" y="56"/>
                  </a:lnTo>
                  <a:lnTo>
                    <a:pt x="79" y="0"/>
                  </a:lnTo>
                  <a:lnTo>
                    <a:pt x="71" y="0"/>
                  </a:lnTo>
                  <a:lnTo>
                    <a:pt x="71" y="50"/>
                  </a:lnTo>
                  <a:lnTo>
                    <a:pt x="0" y="5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4E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2" name="Freeform 676"/>
            <p:cNvSpPr/>
            <p:nvPr/>
          </p:nvSpPr>
          <p:spPr bwMode="auto">
            <a:xfrm>
              <a:off x="986" y="2835"/>
              <a:ext cx="71" cy="50"/>
            </a:xfrm>
            <a:custGeom>
              <a:avLst/>
              <a:gdLst>
                <a:gd name="T0" fmla="*/ 0 w 71"/>
                <a:gd name="T1" fmla="*/ 50 h 50"/>
                <a:gd name="T2" fmla="*/ 71 w 71"/>
                <a:gd name="T3" fmla="*/ 50 h 50"/>
                <a:gd name="T4" fmla="*/ 71 w 71"/>
                <a:gd name="T5" fmla="*/ 0 h 50"/>
                <a:gd name="T6" fmla="*/ 62 w 71"/>
                <a:gd name="T7" fmla="*/ 0 h 50"/>
                <a:gd name="T8" fmla="*/ 62 w 71"/>
                <a:gd name="T9" fmla="*/ 44 h 50"/>
                <a:gd name="T10" fmla="*/ 0 w 71"/>
                <a:gd name="T11" fmla="*/ 44 h 50"/>
                <a:gd name="T12" fmla="*/ 0 w 71"/>
                <a:gd name="T13" fmla="*/ 5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0">
                  <a:moveTo>
                    <a:pt x="0" y="50"/>
                  </a:moveTo>
                  <a:lnTo>
                    <a:pt x="71" y="50"/>
                  </a:lnTo>
                  <a:lnTo>
                    <a:pt x="71" y="0"/>
                  </a:lnTo>
                  <a:lnTo>
                    <a:pt x="62" y="0"/>
                  </a:lnTo>
                  <a:lnTo>
                    <a:pt x="62" y="44"/>
                  </a:lnTo>
                  <a:lnTo>
                    <a:pt x="0" y="44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E8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3" name="Freeform 677"/>
            <p:cNvSpPr/>
            <p:nvPr/>
          </p:nvSpPr>
          <p:spPr bwMode="auto">
            <a:xfrm>
              <a:off x="986" y="2835"/>
              <a:ext cx="62" cy="44"/>
            </a:xfrm>
            <a:custGeom>
              <a:avLst/>
              <a:gdLst>
                <a:gd name="T0" fmla="*/ 0 w 62"/>
                <a:gd name="T1" fmla="*/ 44 h 44"/>
                <a:gd name="T2" fmla="*/ 62 w 62"/>
                <a:gd name="T3" fmla="*/ 44 h 44"/>
                <a:gd name="T4" fmla="*/ 62 w 62"/>
                <a:gd name="T5" fmla="*/ 0 h 44"/>
                <a:gd name="T6" fmla="*/ 53 w 62"/>
                <a:gd name="T7" fmla="*/ 0 h 44"/>
                <a:gd name="T8" fmla="*/ 53 w 62"/>
                <a:gd name="T9" fmla="*/ 37 h 44"/>
                <a:gd name="T10" fmla="*/ 0 w 62"/>
                <a:gd name="T11" fmla="*/ 37 h 44"/>
                <a:gd name="T12" fmla="*/ 0 w 62"/>
                <a:gd name="T13" fmla="*/ 44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4">
                  <a:moveTo>
                    <a:pt x="0" y="44"/>
                  </a:moveTo>
                  <a:lnTo>
                    <a:pt x="62" y="44"/>
                  </a:lnTo>
                  <a:lnTo>
                    <a:pt x="62" y="0"/>
                  </a:lnTo>
                  <a:lnTo>
                    <a:pt x="53" y="0"/>
                  </a:lnTo>
                  <a:lnTo>
                    <a:pt x="53" y="37"/>
                  </a:lnTo>
                  <a:lnTo>
                    <a:pt x="0" y="37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EBE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4" name="Freeform 678"/>
            <p:cNvSpPr/>
            <p:nvPr/>
          </p:nvSpPr>
          <p:spPr bwMode="auto">
            <a:xfrm>
              <a:off x="986" y="2835"/>
              <a:ext cx="53" cy="37"/>
            </a:xfrm>
            <a:custGeom>
              <a:avLst/>
              <a:gdLst>
                <a:gd name="T0" fmla="*/ 0 w 53"/>
                <a:gd name="T1" fmla="*/ 37 h 37"/>
                <a:gd name="T2" fmla="*/ 53 w 53"/>
                <a:gd name="T3" fmla="*/ 37 h 37"/>
                <a:gd name="T4" fmla="*/ 53 w 53"/>
                <a:gd name="T5" fmla="*/ 0 h 37"/>
                <a:gd name="T6" fmla="*/ 44 w 53"/>
                <a:gd name="T7" fmla="*/ 0 h 37"/>
                <a:gd name="T8" fmla="*/ 44 w 53"/>
                <a:gd name="T9" fmla="*/ 31 h 37"/>
                <a:gd name="T10" fmla="*/ 0 w 53"/>
                <a:gd name="T11" fmla="*/ 31 h 37"/>
                <a:gd name="T12" fmla="*/ 0 w 53"/>
                <a:gd name="T13" fmla="*/ 37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37">
                  <a:moveTo>
                    <a:pt x="0" y="37"/>
                  </a:moveTo>
                  <a:lnTo>
                    <a:pt x="53" y="37"/>
                  </a:lnTo>
                  <a:lnTo>
                    <a:pt x="53" y="0"/>
                  </a:lnTo>
                  <a:lnTo>
                    <a:pt x="44" y="0"/>
                  </a:lnTo>
                  <a:lnTo>
                    <a:pt x="44" y="31"/>
                  </a:lnTo>
                  <a:lnTo>
                    <a:pt x="0" y="31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EFE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5" name="Freeform 679"/>
            <p:cNvSpPr/>
            <p:nvPr/>
          </p:nvSpPr>
          <p:spPr bwMode="auto">
            <a:xfrm>
              <a:off x="986" y="2835"/>
              <a:ext cx="44" cy="31"/>
            </a:xfrm>
            <a:custGeom>
              <a:avLst/>
              <a:gdLst>
                <a:gd name="T0" fmla="*/ 0 w 44"/>
                <a:gd name="T1" fmla="*/ 31 h 31"/>
                <a:gd name="T2" fmla="*/ 44 w 44"/>
                <a:gd name="T3" fmla="*/ 31 h 31"/>
                <a:gd name="T4" fmla="*/ 44 w 44"/>
                <a:gd name="T5" fmla="*/ 0 h 31"/>
                <a:gd name="T6" fmla="*/ 34 w 44"/>
                <a:gd name="T7" fmla="*/ 0 h 31"/>
                <a:gd name="T8" fmla="*/ 34 w 44"/>
                <a:gd name="T9" fmla="*/ 25 h 31"/>
                <a:gd name="T10" fmla="*/ 0 w 44"/>
                <a:gd name="T11" fmla="*/ 25 h 31"/>
                <a:gd name="T12" fmla="*/ 0 w 44"/>
                <a:gd name="T13" fmla="*/ 3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31">
                  <a:moveTo>
                    <a:pt x="0" y="31"/>
                  </a:moveTo>
                  <a:lnTo>
                    <a:pt x="44" y="31"/>
                  </a:lnTo>
                  <a:lnTo>
                    <a:pt x="44" y="0"/>
                  </a:lnTo>
                  <a:lnTo>
                    <a:pt x="34" y="0"/>
                  </a:lnTo>
                  <a:lnTo>
                    <a:pt x="34" y="25"/>
                  </a:lnTo>
                  <a:lnTo>
                    <a:pt x="0" y="25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3F3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6" name="Freeform 680"/>
            <p:cNvSpPr/>
            <p:nvPr/>
          </p:nvSpPr>
          <p:spPr bwMode="auto">
            <a:xfrm>
              <a:off x="984" y="2834"/>
              <a:ext cx="36" cy="26"/>
            </a:xfrm>
            <a:custGeom>
              <a:avLst/>
              <a:gdLst>
                <a:gd name="T0" fmla="*/ 2 w 36"/>
                <a:gd name="T1" fmla="*/ 26 h 26"/>
                <a:gd name="T2" fmla="*/ 36 w 36"/>
                <a:gd name="T3" fmla="*/ 26 h 26"/>
                <a:gd name="T4" fmla="*/ 36 w 36"/>
                <a:gd name="T5" fmla="*/ 1 h 26"/>
                <a:gd name="T6" fmla="*/ 26 w 36"/>
                <a:gd name="T7" fmla="*/ 0 h 26"/>
                <a:gd name="T8" fmla="*/ 26 w 36"/>
                <a:gd name="T9" fmla="*/ 18 h 26"/>
                <a:gd name="T10" fmla="*/ 0 w 36"/>
                <a:gd name="T11" fmla="*/ 18 h 26"/>
                <a:gd name="T12" fmla="*/ 2 w 36"/>
                <a:gd name="T13" fmla="*/ 26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26">
                  <a:moveTo>
                    <a:pt x="2" y="26"/>
                  </a:moveTo>
                  <a:lnTo>
                    <a:pt x="36" y="26"/>
                  </a:lnTo>
                  <a:lnTo>
                    <a:pt x="36" y="1"/>
                  </a:lnTo>
                  <a:lnTo>
                    <a:pt x="26" y="0"/>
                  </a:lnTo>
                  <a:lnTo>
                    <a:pt x="26" y="18"/>
                  </a:lnTo>
                  <a:lnTo>
                    <a:pt x="0" y="18"/>
                  </a:lnTo>
                  <a:lnTo>
                    <a:pt x="2" y="26"/>
                  </a:ln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7" name="Freeform 681"/>
            <p:cNvSpPr/>
            <p:nvPr/>
          </p:nvSpPr>
          <p:spPr bwMode="auto">
            <a:xfrm>
              <a:off x="984" y="2834"/>
              <a:ext cx="26" cy="18"/>
            </a:xfrm>
            <a:custGeom>
              <a:avLst/>
              <a:gdLst>
                <a:gd name="T0" fmla="*/ 0 w 26"/>
                <a:gd name="T1" fmla="*/ 18 h 18"/>
                <a:gd name="T2" fmla="*/ 26 w 26"/>
                <a:gd name="T3" fmla="*/ 18 h 18"/>
                <a:gd name="T4" fmla="*/ 26 w 26"/>
                <a:gd name="T5" fmla="*/ 0 h 18"/>
                <a:gd name="T6" fmla="*/ 14 w 26"/>
                <a:gd name="T7" fmla="*/ 1 h 18"/>
                <a:gd name="T8" fmla="*/ 14 w 26"/>
                <a:gd name="T9" fmla="*/ 10 h 18"/>
                <a:gd name="T10" fmla="*/ 2 w 26"/>
                <a:gd name="T11" fmla="*/ 10 h 18"/>
                <a:gd name="T12" fmla="*/ 0 w 26"/>
                <a:gd name="T13" fmla="*/ 1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8">
                  <a:moveTo>
                    <a:pt x="0" y="18"/>
                  </a:moveTo>
                  <a:lnTo>
                    <a:pt x="26" y="18"/>
                  </a:lnTo>
                  <a:lnTo>
                    <a:pt x="26" y="0"/>
                  </a:lnTo>
                  <a:lnTo>
                    <a:pt x="14" y="1"/>
                  </a:lnTo>
                  <a:lnTo>
                    <a:pt x="14" y="10"/>
                  </a:lnTo>
                  <a:lnTo>
                    <a:pt x="2" y="1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8" name="Freeform 682"/>
            <p:cNvSpPr/>
            <p:nvPr/>
          </p:nvSpPr>
          <p:spPr bwMode="auto">
            <a:xfrm>
              <a:off x="984" y="2834"/>
              <a:ext cx="14" cy="10"/>
            </a:xfrm>
            <a:custGeom>
              <a:avLst/>
              <a:gdLst>
                <a:gd name="T0" fmla="*/ 2 w 14"/>
                <a:gd name="T1" fmla="*/ 10 h 10"/>
                <a:gd name="T2" fmla="*/ 14 w 14"/>
                <a:gd name="T3" fmla="*/ 10 h 10"/>
                <a:gd name="T4" fmla="*/ 14 w 14"/>
                <a:gd name="T5" fmla="*/ 1 h 10"/>
                <a:gd name="T6" fmla="*/ 2 w 14"/>
                <a:gd name="T7" fmla="*/ 0 h 10"/>
                <a:gd name="T8" fmla="*/ 2 w 14"/>
                <a:gd name="T9" fmla="*/ 1 h 10"/>
                <a:gd name="T10" fmla="*/ 0 w 14"/>
                <a:gd name="T11" fmla="*/ 1 h 10"/>
                <a:gd name="T12" fmla="*/ 2 w 14"/>
                <a:gd name="T13" fmla="*/ 1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2" y="10"/>
                  </a:moveTo>
                  <a:lnTo>
                    <a:pt x="14" y="10"/>
                  </a:lnTo>
                  <a:lnTo>
                    <a:pt x="14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rgbClr val="FEF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19" name="Freeform 683"/>
            <p:cNvSpPr/>
            <p:nvPr/>
          </p:nvSpPr>
          <p:spPr bwMode="auto">
            <a:xfrm>
              <a:off x="984" y="2834"/>
              <a:ext cx="2" cy="1"/>
            </a:xfrm>
            <a:custGeom>
              <a:avLst/>
              <a:gdLst>
                <a:gd name="T0" fmla="*/ 0 w 2"/>
                <a:gd name="T1" fmla="*/ 1 h 1"/>
                <a:gd name="T2" fmla="*/ 2 w 2"/>
                <a:gd name="T3" fmla="*/ 1 h 1"/>
                <a:gd name="T4" fmla="*/ 2 w 2"/>
                <a:gd name="T5" fmla="*/ 0 h 1"/>
                <a:gd name="T6" fmla="*/ 2 w 2"/>
                <a:gd name="T7" fmla="*/ 1 h 1"/>
                <a:gd name="T8" fmla="*/ 2 w 2"/>
                <a:gd name="T9" fmla="*/ 1 h 1"/>
                <a:gd name="T10" fmla="*/ 2 w 2"/>
                <a:gd name="T11" fmla="*/ 1 h 1"/>
                <a:gd name="T12" fmla="*/ 0 w 2"/>
                <a:gd name="T13" fmla="*/ 1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1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0" name="Freeform 684"/>
            <p:cNvSpPr/>
            <p:nvPr/>
          </p:nvSpPr>
          <p:spPr bwMode="auto">
            <a:xfrm>
              <a:off x="972" y="2823"/>
              <a:ext cx="230" cy="171"/>
            </a:xfrm>
            <a:custGeom>
              <a:avLst/>
              <a:gdLst>
                <a:gd name="T0" fmla="*/ 230 w 230"/>
                <a:gd name="T1" fmla="*/ 0 h 171"/>
                <a:gd name="T2" fmla="*/ 0 w 230"/>
                <a:gd name="T3" fmla="*/ 0 h 171"/>
                <a:gd name="T4" fmla="*/ 0 w 230"/>
                <a:gd name="T5" fmla="*/ 171 h 171"/>
                <a:gd name="T6" fmla="*/ 4 w 230"/>
                <a:gd name="T7" fmla="*/ 171 h 171"/>
                <a:gd name="T8" fmla="*/ 4 w 230"/>
                <a:gd name="T9" fmla="*/ 2 h 171"/>
                <a:gd name="T10" fmla="*/ 230 w 230"/>
                <a:gd name="T11" fmla="*/ 2 h 171"/>
                <a:gd name="T12" fmla="*/ 230 w 230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0" h="171">
                  <a:moveTo>
                    <a:pt x="230" y="0"/>
                  </a:moveTo>
                  <a:lnTo>
                    <a:pt x="0" y="0"/>
                  </a:lnTo>
                  <a:lnTo>
                    <a:pt x="0" y="171"/>
                  </a:lnTo>
                  <a:lnTo>
                    <a:pt x="4" y="171"/>
                  </a:lnTo>
                  <a:lnTo>
                    <a:pt x="4" y="2"/>
                  </a:lnTo>
                  <a:lnTo>
                    <a:pt x="230" y="2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1" name="Freeform 685"/>
            <p:cNvSpPr/>
            <p:nvPr/>
          </p:nvSpPr>
          <p:spPr bwMode="auto">
            <a:xfrm>
              <a:off x="976" y="2825"/>
              <a:ext cx="226" cy="169"/>
            </a:xfrm>
            <a:custGeom>
              <a:avLst/>
              <a:gdLst>
                <a:gd name="T0" fmla="*/ 226 w 226"/>
                <a:gd name="T1" fmla="*/ 0 h 169"/>
                <a:gd name="T2" fmla="*/ 0 w 226"/>
                <a:gd name="T3" fmla="*/ 0 h 169"/>
                <a:gd name="T4" fmla="*/ 0 w 226"/>
                <a:gd name="T5" fmla="*/ 169 h 169"/>
                <a:gd name="T6" fmla="*/ 5 w 226"/>
                <a:gd name="T7" fmla="*/ 169 h 169"/>
                <a:gd name="T8" fmla="*/ 5 w 226"/>
                <a:gd name="T9" fmla="*/ 4 h 169"/>
                <a:gd name="T10" fmla="*/ 226 w 226"/>
                <a:gd name="T11" fmla="*/ 4 h 169"/>
                <a:gd name="T12" fmla="*/ 226 w 226"/>
                <a:gd name="T13" fmla="*/ 0 h 1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6" h="169">
                  <a:moveTo>
                    <a:pt x="226" y="0"/>
                  </a:moveTo>
                  <a:lnTo>
                    <a:pt x="0" y="0"/>
                  </a:lnTo>
                  <a:lnTo>
                    <a:pt x="0" y="169"/>
                  </a:lnTo>
                  <a:lnTo>
                    <a:pt x="5" y="169"/>
                  </a:lnTo>
                  <a:lnTo>
                    <a:pt x="5" y="4"/>
                  </a:lnTo>
                  <a:lnTo>
                    <a:pt x="226" y="4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2" name="Freeform 686"/>
            <p:cNvSpPr/>
            <p:nvPr/>
          </p:nvSpPr>
          <p:spPr bwMode="auto">
            <a:xfrm>
              <a:off x="981" y="2829"/>
              <a:ext cx="221" cy="165"/>
            </a:xfrm>
            <a:custGeom>
              <a:avLst/>
              <a:gdLst>
                <a:gd name="T0" fmla="*/ 221 w 221"/>
                <a:gd name="T1" fmla="*/ 0 h 165"/>
                <a:gd name="T2" fmla="*/ 0 w 221"/>
                <a:gd name="T3" fmla="*/ 0 h 165"/>
                <a:gd name="T4" fmla="*/ 0 w 221"/>
                <a:gd name="T5" fmla="*/ 165 h 165"/>
                <a:gd name="T6" fmla="*/ 5 w 221"/>
                <a:gd name="T7" fmla="*/ 165 h 165"/>
                <a:gd name="T8" fmla="*/ 5 w 221"/>
                <a:gd name="T9" fmla="*/ 4 h 165"/>
                <a:gd name="T10" fmla="*/ 221 w 221"/>
                <a:gd name="T11" fmla="*/ 4 h 165"/>
                <a:gd name="T12" fmla="*/ 221 w 221"/>
                <a:gd name="T13" fmla="*/ 0 h 1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1" h="165">
                  <a:moveTo>
                    <a:pt x="221" y="0"/>
                  </a:moveTo>
                  <a:lnTo>
                    <a:pt x="0" y="0"/>
                  </a:lnTo>
                  <a:lnTo>
                    <a:pt x="0" y="165"/>
                  </a:lnTo>
                  <a:lnTo>
                    <a:pt x="5" y="165"/>
                  </a:lnTo>
                  <a:lnTo>
                    <a:pt x="5" y="4"/>
                  </a:lnTo>
                  <a:lnTo>
                    <a:pt x="221" y="4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3" name="Freeform 687"/>
            <p:cNvSpPr/>
            <p:nvPr/>
          </p:nvSpPr>
          <p:spPr bwMode="auto">
            <a:xfrm>
              <a:off x="986" y="2833"/>
              <a:ext cx="216" cy="161"/>
            </a:xfrm>
            <a:custGeom>
              <a:avLst/>
              <a:gdLst>
                <a:gd name="T0" fmla="*/ 216 w 216"/>
                <a:gd name="T1" fmla="*/ 0 h 161"/>
                <a:gd name="T2" fmla="*/ 0 w 216"/>
                <a:gd name="T3" fmla="*/ 0 h 161"/>
                <a:gd name="T4" fmla="*/ 0 w 216"/>
                <a:gd name="T5" fmla="*/ 161 h 161"/>
                <a:gd name="T6" fmla="*/ 5 w 216"/>
                <a:gd name="T7" fmla="*/ 161 h 161"/>
                <a:gd name="T8" fmla="*/ 5 w 216"/>
                <a:gd name="T9" fmla="*/ 4 h 161"/>
                <a:gd name="T10" fmla="*/ 216 w 216"/>
                <a:gd name="T11" fmla="*/ 4 h 161"/>
                <a:gd name="T12" fmla="*/ 216 w 216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161">
                  <a:moveTo>
                    <a:pt x="216" y="0"/>
                  </a:moveTo>
                  <a:lnTo>
                    <a:pt x="0" y="0"/>
                  </a:lnTo>
                  <a:lnTo>
                    <a:pt x="0" y="161"/>
                  </a:lnTo>
                  <a:lnTo>
                    <a:pt x="5" y="161"/>
                  </a:lnTo>
                  <a:lnTo>
                    <a:pt x="5" y="4"/>
                  </a:lnTo>
                  <a:lnTo>
                    <a:pt x="216" y="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4" name="Freeform 688"/>
            <p:cNvSpPr/>
            <p:nvPr/>
          </p:nvSpPr>
          <p:spPr bwMode="auto">
            <a:xfrm>
              <a:off x="991" y="2837"/>
              <a:ext cx="211" cy="157"/>
            </a:xfrm>
            <a:custGeom>
              <a:avLst/>
              <a:gdLst>
                <a:gd name="T0" fmla="*/ 211 w 211"/>
                <a:gd name="T1" fmla="*/ 0 h 157"/>
                <a:gd name="T2" fmla="*/ 0 w 211"/>
                <a:gd name="T3" fmla="*/ 0 h 157"/>
                <a:gd name="T4" fmla="*/ 0 w 211"/>
                <a:gd name="T5" fmla="*/ 157 h 157"/>
                <a:gd name="T6" fmla="*/ 5 w 211"/>
                <a:gd name="T7" fmla="*/ 157 h 157"/>
                <a:gd name="T8" fmla="*/ 5 w 211"/>
                <a:gd name="T9" fmla="*/ 3 h 157"/>
                <a:gd name="T10" fmla="*/ 211 w 211"/>
                <a:gd name="T11" fmla="*/ 3 h 157"/>
                <a:gd name="T12" fmla="*/ 211 w 211"/>
                <a:gd name="T13" fmla="*/ 0 h 1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1" h="157">
                  <a:moveTo>
                    <a:pt x="211" y="0"/>
                  </a:moveTo>
                  <a:lnTo>
                    <a:pt x="0" y="0"/>
                  </a:lnTo>
                  <a:lnTo>
                    <a:pt x="0" y="157"/>
                  </a:lnTo>
                  <a:lnTo>
                    <a:pt x="5" y="157"/>
                  </a:lnTo>
                  <a:lnTo>
                    <a:pt x="5" y="3"/>
                  </a:lnTo>
                  <a:lnTo>
                    <a:pt x="211" y="3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5" name="Freeform 689"/>
            <p:cNvSpPr/>
            <p:nvPr/>
          </p:nvSpPr>
          <p:spPr bwMode="auto">
            <a:xfrm>
              <a:off x="996" y="2840"/>
              <a:ext cx="206" cy="154"/>
            </a:xfrm>
            <a:custGeom>
              <a:avLst/>
              <a:gdLst>
                <a:gd name="T0" fmla="*/ 206 w 206"/>
                <a:gd name="T1" fmla="*/ 0 h 154"/>
                <a:gd name="T2" fmla="*/ 0 w 206"/>
                <a:gd name="T3" fmla="*/ 0 h 154"/>
                <a:gd name="T4" fmla="*/ 0 w 206"/>
                <a:gd name="T5" fmla="*/ 154 h 154"/>
                <a:gd name="T6" fmla="*/ 5 w 206"/>
                <a:gd name="T7" fmla="*/ 154 h 154"/>
                <a:gd name="T8" fmla="*/ 5 w 206"/>
                <a:gd name="T9" fmla="*/ 4 h 154"/>
                <a:gd name="T10" fmla="*/ 206 w 206"/>
                <a:gd name="T11" fmla="*/ 4 h 154"/>
                <a:gd name="T12" fmla="*/ 206 w 206"/>
                <a:gd name="T13" fmla="*/ 0 h 1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154">
                  <a:moveTo>
                    <a:pt x="206" y="0"/>
                  </a:moveTo>
                  <a:lnTo>
                    <a:pt x="0" y="0"/>
                  </a:lnTo>
                  <a:lnTo>
                    <a:pt x="0" y="154"/>
                  </a:lnTo>
                  <a:lnTo>
                    <a:pt x="5" y="154"/>
                  </a:lnTo>
                  <a:lnTo>
                    <a:pt x="5" y="4"/>
                  </a:lnTo>
                  <a:lnTo>
                    <a:pt x="206" y="4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A9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6" name="Freeform 690"/>
            <p:cNvSpPr/>
            <p:nvPr/>
          </p:nvSpPr>
          <p:spPr bwMode="auto">
            <a:xfrm>
              <a:off x="1001" y="2844"/>
              <a:ext cx="201" cy="150"/>
            </a:xfrm>
            <a:custGeom>
              <a:avLst/>
              <a:gdLst>
                <a:gd name="T0" fmla="*/ 201 w 201"/>
                <a:gd name="T1" fmla="*/ 0 h 150"/>
                <a:gd name="T2" fmla="*/ 0 w 201"/>
                <a:gd name="T3" fmla="*/ 0 h 150"/>
                <a:gd name="T4" fmla="*/ 0 w 201"/>
                <a:gd name="T5" fmla="*/ 150 h 150"/>
                <a:gd name="T6" fmla="*/ 5 w 201"/>
                <a:gd name="T7" fmla="*/ 150 h 150"/>
                <a:gd name="T8" fmla="*/ 5 w 201"/>
                <a:gd name="T9" fmla="*/ 4 h 150"/>
                <a:gd name="T10" fmla="*/ 201 w 201"/>
                <a:gd name="T11" fmla="*/ 4 h 150"/>
                <a:gd name="T12" fmla="*/ 201 w 201"/>
                <a:gd name="T13" fmla="*/ 0 h 1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1" h="150">
                  <a:moveTo>
                    <a:pt x="201" y="0"/>
                  </a:moveTo>
                  <a:lnTo>
                    <a:pt x="0" y="0"/>
                  </a:lnTo>
                  <a:lnTo>
                    <a:pt x="0" y="150"/>
                  </a:lnTo>
                  <a:lnTo>
                    <a:pt x="5" y="150"/>
                  </a:lnTo>
                  <a:lnTo>
                    <a:pt x="5" y="4"/>
                  </a:lnTo>
                  <a:lnTo>
                    <a:pt x="201" y="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7" name="Freeform 691"/>
            <p:cNvSpPr/>
            <p:nvPr/>
          </p:nvSpPr>
          <p:spPr bwMode="auto">
            <a:xfrm>
              <a:off x="1006" y="2848"/>
              <a:ext cx="196" cy="146"/>
            </a:xfrm>
            <a:custGeom>
              <a:avLst/>
              <a:gdLst>
                <a:gd name="T0" fmla="*/ 196 w 196"/>
                <a:gd name="T1" fmla="*/ 0 h 146"/>
                <a:gd name="T2" fmla="*/ 0 w 196"/>
                <a:gd name="T3" fmla="*/ 0 h 146"/>
                <a:gd name="T4" fmla="*/ 0 w 196"/>
                <a:gd name="T5" fmla="*/ 146 h 146"/>
                <a:gd name="T6" fmla="*/ 5 w 196"/>
                <a:gd name="T7" fmla="*/ 146 h 146"/>
                <a:gd name="T8" fmla="*/ 5 w 196"/>
                <a:gd name="T9" fmla="*/ 4 h 146"/>
                <a:gd name="T10" fmla="*/ 196 w 196"/>
                <a:gd name="T11" fmla="*/ 4 h 146"/>
                <a:gd name="T12" fmla="*/ 196 w 196"/>
                <a:gd name="T13" fmla="*/ 0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146">
                  <a:moveTo>
                    <a:pt x="196" y="0"/>
                  </a:moveTo>
                  <a:lnTo>
                    <a:pt x="0" y="0"/>
                  </a:lnTo>
                  <a:lnTo>
                    <a:pt x="0" y="146"/>
                  </a:lnTo>
                  <a:lnTo>
                    <a:pt x="5" y="146"/>
                  </a:lnTo>
                  <a:lnTo>
                    <a:pt x="5" y="4"/>
                  </a:lnTo>
                  <a:lnTo>
                    <a:pt x="196" y="4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8" name="Freeform 692"/>
            <p:cNvSpPr/>
            <p:nvPr/>
          </p:nvSpPr>
          <p:spPr bwMode="auto">
            <a:xfrm>
              <a:off x="1011" y="2852"/>
              <a:ext cx="191" cy="142"/>
            </a:xfrm>
            <a:custGeom>
              <a:avLst/>
              <a:gdLst>
                <a:gd name="T0" fmla="*/ 191 w 191"/>
                <a:gd name="T1" fmla="*/ 0 h 142"/>
                <a:gd name="T2" fmla="*/ 0 w 191"/>
                <a:gd name="T3" fmla="*/ 0 h 142"/>
                <a:gd name="T4" fmla="*/ 0 w 191"/>
                <a:gd name="T5" fmla="*/ 142 h 142"/>
                <a:gd name="T6" fmla="*/ 5 w 191"/>
                <a:gd name="T7" fmla="*/ 142 h 142"/>
                <a:gd name="T8" fmla="*/ 5 w 191"/>
                <a:gd name="T9" fmla="*/ 4 h 142"/>
                <a:gd name="T10" fmla="*/ 191 w 191"/>
                <a:gd name="T11" fmla="*/ 4 h 142"/>
                <a:gd name="T12" fmla="*/ 191 w 191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" h="142">
                  <a:moveTo>
                    <a:pt x="191" y="0"/>
                  </a:moveTo>
                  <a:lnTo>
                    <a:pt x="0" y="0"/>
                  </a:lnTo>
                  <a:lnTo>
                    <a:pt x="0" y="142"/>
                  </a:lnTo>
                  <a:lnTo>
                    <a:pt x="5" y="142"/>
                  </a:lnTo>
                  <a:lnTo>
                    <a:pt x="5" y="4"/>
                  </a:lnTo>
                  <a:lnTo>
                    <a:pt x="191" y="4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B1B1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29" name="Freeform 693"/>
            <p:cNvSpPr/>
            <p:nvPr/>
          </p:nvSpPr>
          <p:spPr bwMode="auto">
            <a:xfrm>
              <a:off x="1016" y="2856"/>
              <a:ext cx="186" cy="138"/>
            </a:xfrm>
            <a:custGeom>
              <a:avLst/>
              <a:gdLst>
                <a:gd name="T0" fmla="*/ 186 w 186"/>
                <a:gd name="T1" fmla="*/ 0 h 138"/>
                <a:gd name="T2" fmla="*/ 0 w 186"/>
                <a:gd name="T3" fmla="*/ 0 h 138"/>
                <a:gd name="T4" fmla="*/ 0 w 186"/>
                <a:gd name="T5" fmla="*/ 138 h 138"/>
                <a:gd name="T6" fmla="*/ 5 w 186"/>
                <a:gd name="T7" fmla="*/ 138 h 138"/>
                <a:gd name="T8" fmla="*/ 5 w 186"/>
                <a:gd name="T9" fmla="*/ 4 h 138"/>
                <a:gd name="T10" fmla="*/ 186 w 186"/>
                <a:gd name="T11" fmla="*/ 4 h 138"/>
                <a:gd name="T12" fmla="*/ 186 w 186"/>
                <a:gd name="T13" fmla="*/ 0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8">
                  <a:moveTo>
                    <a:pt x="186" y="0"/>
                  </a:moveTo>
                  <a:lnTo>
                    <a:pt x="0" y="0"/>
                  </a:lnTo>
                  <a:lnTo>
                    <a:pt x="0" y="138"/>
                  </a:lnTo>
                  <a:lnTo>
                    <a:pt x="5" y="138"/>
                  </a:lnTo>
                  <a:lnTo>
                    <a:pt x="5" y="4"/>
                  </a:lnTo>
                  <a:lnTo>
                    <a:pt x="186" y="4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0" name="Freeform 694"/>
            <p:cNvSpPr/>
            <p:nvPr/>
          </p:nvSpPr>
          <p:spPr bwMode="auto">
            <a:xfrm>
              <a:off x="1021" y="2860"/>
              <a:ext cx="181" cy="134"/>
            </a:xfrm>
            <a:custGeom>
              <a:avLst/>
              <a:gdLst>
                <a:gd name="T0" fmla="*/ 181 w 181"/>
                <a:gd name="T1" fmla="*/ 0 h 134"/>
                <a:gd name="T2" fmla="*/ 0 w 181"/>
                <a:gd name="T3" fmla="*/ 0 h 134"/>
                <a:gd name="T4" fmla="*/ 0 w 181"/>
                <a:gd name="T5" fmla="*/ 134 h 134"/>
                <a:gd name="T6" fmla="*/ 6 w 181"/>
                <a:gd name="T7" fmla="*/ 134 h 134"/>
                <a:gd name="T8" fmla="*/ 6 w 181"/>
                <a:gd name="T9" fmla="*/ 3 h 134"/>
                <a:gd name="T10" fmla="*/ 181 w 181"/>
                <a:gd name="T11" fmla="*/ 3 h 134"/>
                <a:gd name="T12" fmla="*/ 181 w 181"/>
                <a:gd name="T13" fmla="*/ 0 h 1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1" h="134">
                  <a:moveTo>
                    <a:pt x="181" y="0"/>
                  </a:moveTo>
                  <a:lnTo>
                    <a:pt x="0" y="0"/>
                  </a:lnTo>
                  <a:lnTo>
                    <a:pt x="0" y="134"/>
                  </a:lnTo>
                  <a:lnTo>
                    <a:pt x="6" y="134"/>
                  </a:lnTo>
                  <a:lnTo>
                    <a:pt x="6" y="3"/>
                  </a:lnTo>
                  <a:lnTo>
                    <a:pt x="181" y="3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1" name="Freeform 695"/>
            <p:cNvSpPr/>
            <p:nvPr/>
          </p:nvSpPr>
          <p:spPr bwMode="auto">
            <a:xfrm>
              <a:off x="1027" y="2863"/>
              <a:ext cx="175" cy="131"/>
            </a:xfrm>
            <a:custGeom>
              <a:avLst/>
              <a:gdLst>
                <a:gd name="T0" fmla="*/ 175 w 175"/>
                <a:gd name="T1" fmla="*/ 0 h 131"/>
                <a:gd name="T2" fmla="*/ 0 w 175"/>
                <a:gd name="T3" fmla="*/ 0 h 131"/>
                <a:gd name="T4" fmla="*/ 0 w 175"/>
                <a:gd name="T5" fmla="*/ 131 h 131"/>
                <a:gd name="T6" fmla="*/ 6 w 175"/>
                <a:gd name="T7" fmla="*/ 131 h 131"/>
                <a:gd name="T8" fmla="*/ 6 w 175"/>
                <a:gd name="T9" fmla="*/ 4 h 131"/>
                <a:gd name="T10" fmla="*/ 175 w 175"/>
                <a:gd name="T11" fmla="*/ 4 h 131"/>
                <a:gd name="T12" fmla="*/ 175 w 175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131">
                  <a:moveTo>
                    <a:pt x="175" y="0"/>
                  </a:moveTo>
                  <a:lnTo>
                    <a:pt x="0" y="0"/>
                  </a:lnTo>
                  <a:lnTo>
                    <a:pt x="0" y="131"/>
                  </a:lnTo>
                  <a:lnTo>
                    <a:pt x="6" y="131"/>
                  </a:lnTo>
                  <a:lnTo>
                    <a:pt x="6" y="4"/>
                  </a:lnTo>
                  <a:lnTo>
                    <a:pt x="175" y="4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2" name="Freeform 696"/>
            <p:cNvSpPr/>
            <p:nvPr/>
          </p:nvSpPr>
          <p:spPr bwMode="auto">
            <a:xfrm>
              <a:off x="1033" y="2867"/>
              <a:ext cx="169" cy="127"/>
            </a:xfrm>
            <a:custGeom>
              <a:avLst/>
              <a:gdLst>
                <a:gd name="T0" fmla="*/ 169 w 169"/>
                <a:gd name="T1" fmla="*/ 0 h 127"/>
                <a:gd name="T2" fmla="*/ 0 w 169"/>
                <a:gd name="T3" fmla="*/ 0 h 127"/>
                <a:gd name="T4" fmla="*/ 0 w 169"/>
                <a:gd name="T5" fmla="*/ 127 h 127"/>
                <a:gd name="T6" fmla="*/ 6 w 169"/>
                <a:gd name="T7" fmla="*/ 127 h 127"/>
                <a:gd name="T8" fmla="*/ 6 w 169"/>
                <a:gd name="T9" fmla="*/ 5 h 127"/>
                <a:gd name="T10" fmla="*/ 169 w 169"/>
                <a:gd name="T11" fmla="*/ 5 h 127"/>
                <a:gd name="T12" fmla="*/ 169 w 169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127">
                  <a:moveTo>
                    <a:pt x="169" y="0"/>
                  </a:moveTo>
                  <a:lnTo>
                    <a:pt x="0" y="0"/>
                  </a:lnTo>
                  <a:lnTo>
                    <a:pt x="0" y="127"/>
                  </a:lnTo>
                  <a:lnTo>
                    <a:pt x="6" y="127"/>
                  </a:lnTo>
                  <a:lnTo>
                    <a:pt x="6" y="5"/>
                  </a:lnTo>
                  <a:lnTo>
                    <a:pt x="169" y="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3" name="Freeform 697"/>
            <p:cNvSpPr/>
            <p:nvPr/>
          </p:nvSpPr>
          <p:spPr bwMode="auto">
            <a:xfrm>
              <a:off x="1039" y="2872"/>
              <a:ext cx="163" cy="122"/>
            </a:xfrm>
            <a:custGeom>
              <a:avLst/>
              <a:gdLst>
                <a:gd name="T0" fmla="*/ 163 w 163"/>
                <a:gd name="T1" fmla="*/ 0 h 122"/>
                <a:gd name="T2" fmla="*/ 0 w 163"/>
                <a:gd name="T3" fmla="*/ 0 h 122"/>
                <a:gd name="T4" fmla="*/ 0 w 163"/>
                <a:gd name="T5" fmla="*/ 122 h 122"/>
                <a:gd name="T6" fmla="*/ 5 w 163"/>
                <a:gd name="T7" fmla="*/ 122 h 122"/>
                <a:gd name="T8" fmla="*/ 5 w 163"/>
                <a:gd name="T9" fmla="*/ 4 h 122"/>
                <a:gd name="T10" fmla="*/ 163 w 163"/>
                <a:gd name="T11" fmla="*/ 4 h 122"/>
                <a:gd name="T12" fmla="*/ 163 w 163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122">
                  <a:moveTo>
                    <a:pt x="163" y="0"/>
                  </a:moveTo>
                  <a:lnTo>
                    <a:pt x="0" y="0"/>
                  </a:lnTo>
                  <a:lnTo>
                    <a:pt x="0" y="122"/>
                  </a:lnTo>
                  <a:lnTo>
                    <a:pt x="5" y="122"/>
                  </a:lnTo>
                  <a:lnTo>
                    <a:pt x="5" y="4"/>
                  </a:lnTo>
                  <a:lnTo>
                    <a:pt x="163" y="4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4" name="Freeform 698"/>
            <p:cNvSpPr/>
            <p:nvPr/>
          </p:nvSpPr>
          <p:spPr bwMode="auto">
            <a:xfrm>
              <a:off x="1044" y="2876"/>
              <a:ext cx="158" cy="118"/>
            </a:xfrm>
            <a:custGeom>
              <a:avLst/>
              <a:gdLst>
                <a:gd name="T0" fmla="*/ 158 w 158"/>
                <a:gd name="T1" fmla="*/ 0 h 118"/>
                <a:gd name="T2" fmla="*/ 0 w 158"/>
                <a:gd name="T3" fmla="*/ 0 h 118"/>
                <a:gd name="T4" fmla="*/ 0 w 158"/>
                <a:gd name="T5" fmla="*/ 118 h 118"/>
                <a:gd name="T6" fmla="*/ 6 w 158"/>
                <a:gd name="T7" fmla="*/ 118 h 118"/>
                <a:gd name="T8" fmla="*/ 6 w 158"/>
                <a:gd name="T9" fmla="*/ 5 h 118"/>
                <a:gd name="T10" fmla="*/ 158 w 158"/>
                <a:gd name="T11" fmla="*/ 5 h 118"/>
                <a:gd name="T12" fmla="*/ 158 w 158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118">
                  <a:moveTo>
                    <a:pt x="158" y="0"/>
                  </a:moveTo>
                  <a:lnTo>
                    <a:pt x="0" y="0"/>
                  </a:lnTo>
                  <a:lnTo>
                    <a:pt x="0" y="118"/>
                  </a:lnTo>
                  <a:lnTo>
                    <a:pt x="6" y="118"/>
                  </a:lnTo>
                  <a:lnTo>
                    <a:pt x="6" y="5"/>
                  </a:lnTo>
                  <a:lnTo>
                    <a:pt x="158" y="5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5" name="Freeform 699"/>
            <p:cNvSpPr/>
            <p:nvPr/>
          </p:nvSpPr>
          <p:spPr bwMode="auto">
            <a:xfrm>
              <a:off x="1050" y="2881"/>
              <a:ext cx="152" cy="113"/>
            </a:xfrm>
            <a:custGeom>
              <a:avLst/>
              <a:gdLst>
                <a:gd name="T0" fmla="*/ 152 w 152"/>
                <a:gd name="T1" fmla="*/ 0 h 113"/>
                <a:gd name="T2" fmla="*/ 0 w 152"/>
                <a:gd name="T3" fmla="*/ 0 h 113"/>
                <a:gd name="T4" fmla="*/ 0 w 152"/>
                <a:gd name="T5" fmla="*/ 113 h 113"/>
                <a:gd name="T6" fmla="*/ 7 w 152"/>
                <a:gd name="T7" fmla="*/ 113 h 113"/>
                <a:gd name="T8" fmla="*/ 7 w 152"/>
                <a:gd name="T9" fmla="*/ 5 h 113"/>
                <a:gd name="T10" fmla="*/ 152 w 152"/>
                <a:gd name="T11" fmla="*/ 5 h 113"/>
                <a:gd name="T12" fmla="*/ 152 w 152"/>
                <a:gd name="T13" fmla="*/ 0 h 1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2" h="113">
                  <a:moveTo>
                    <a:pt x="152" y="0"/>
                  </a:moveTo>
                  <a:lnTo>
                    <a:pt x="0" y="0"/>
                  </a:lnTo>
                  <a:lnTo>
                    <a:pt x="0" y="113"/>
                  </a:lnTo>
                  <a:lnTo>
                    <a:pt x="7" y="113"/>
                  </a:lnTo>
                  <a:lnTo>
                    <a:pt x="7" y="5"/>
                  </a:lnTo>
                  <a:lnTo>
                    <a:pt x="152" y="5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6" name="Freeform 700"/>
            <p:cNvSpPr/>
            <p:nvPr/>
          </p:nvSpPr>
          <p:spPr bwMode="auto">
            <a:xfrm>
              <a:off x="1057" y="2886"/>
              <a:ext cx="145" cy="108"/>
            </a:xfrm>
            <a:custGeom>
              <a:avLst/>
              <a:gdLst>
                <a:gd name="T0" fmla="*/ 145 w 145"/>
                <a:gd name="T1" fmla="*/ 0 h 108"/>
                <a:gd name="T2" fmla="*/ 0 w 145"/>
                <a:gd name="T3" fmla="*/ 0 h 108"/>
                <a:gd name="T4" fmla="*/ 0 w 145"/>
                <a:gd name="T5" fmla="*/ 108 h 108"/>
                <a:gd name="T6" fmla="*/ 7 w 145"/>
                <a:gd name="T7" fmla="*/ 108 h 108"/>
                <a:gd name="T8" fmla="*/ 7 w 145"/>
                <a:gd name="T9" fmla="*/ 5 h 108"/>
                <a:gd name="T10" fmla="*/ 145 w 145"/>
                <a:gd name="T11" fmla="*/ 5 h 108"/>
                <a:gd name="T12" fmla="*/ 145 w 145"/>
                <a:gd name="T13" fmla="*/ 0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5" h="108">
                  <a:moveTo>
                    <a:pt x="145" y="0"/>
                  </a:moveTo>
                  <a:lnTo>
                    <a:pt x="0" y="0"/>
                  </a:lnTo>
                  <a:lnTo>
                    <a:pt x="0" y="108"/>
                  </a:lnTo>
                  <a:lnTo>
                    <a:pt x="7" y="108"/>
                  </a:lnTo>
                  <a:lnTo>
                    <a:pt x="7" y="5"/>
                  </a:lnTo>
                  <a:lnTo>
                    <a:pt x="145" y="5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7" name="Freeform 701"/>
            <p:cNvSpPr/>
            <p:nvPr/>
          </p:nvSpPr>
          <p:spPr bwMode="auto">
            <a:xfrm>
              <a:off x="1064" y="2891"/>
              <a:ext cx="138" cy="103"/>
            </a:xfrm>
            <a:custGeom>
              <a:avLst/>
              <a:gdLst>
                <a:gd name="T0" fmla="*/ 138 w 138"/>
                <a:gd name="T1" fmla="*/ 0 h 103"/>
                <a:gd name="T2" fmla="*/ 0 w 138"/>
                <a:gd name="T3" fmla="*/ 0 h 103"/>
                <a:gd name="T4" fmla="*/ 0 w 138"/>
                <a:gd name="T5" fmla="*/ 103 h 103"/>
                <a:gd name="T6" fmla="*/ 7 w 138"/>
                <a:gd name="T7" fmla="*/ 103 h 103"/>
                <a:gd name="T8" fmla="*/ 7 w 138"/>
                <a:gd name="T9" fmla="*/ 5 h 103"/>
                <a:gd name="T10" fmla="*/ 138 w 138"/>
                <a:gd name="T11" fmla="*/ 5 h 103"/>
                <a:gd name="T12" fmla="*/ 138 w 138"/>
                <a:gd name="T13" fmla="*/ 0 h 1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103">
                  <a:moveTo>
                    <a:pt x="138" y="0"/>
                  </a:moveTo>
                  <a:lnTo>
                    <a:pt x="0" y="0"/>
                  </a:lnTo>
                  <a:lnTo>
                    <a:pt x="0" y="103"/>
                  </a:lnTo>
                  <a:lnTo>
                    <a:pt x="7" y="103"/>
                  </a:lnTo>
                  <a:lnTo>
                    <a:pt x="7" y="5"/>
                  </a:lnTo>
                  <a:lnTo>
                    <a:pt x="138" y="5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8" name="Freeform 702"/>
            <p:cNvSpPr/>
            <p:nvPr/>
          </p:nvSpPr>
          <p:spPr bwMode="auto">
            <a:xfrm>
              <a:off x="1071" y="2896"/>
              <a:ext cx="131" cy="98"/>
            </a:xfrm>
            <a:custGeom>
              <a:avLst/>
              <a:gdLst>
                <a:gd name="T0" fmla="*/ 131 w 131"/>
                <a:gd name="T1" fmla="*/ 0 h 98"/>
                <a:gd name="T2" fmla="*/ 0 w 131"/>
                <a:gd name="T3" fmla="*/ 0 h 98"/>
                <a:gd name="T4" fmla="*/ 0 w 131"/>
                <a:gd name="T5" fmla="*/ 98 h 98"/>
                <a:gd name="T6" fmla="*/ 7 w 131"/>
                <a:gd name="T7" fmla="*/ 98 h 98"/>
                <a:gd name="T8" fmla="*/ 7 w 131"/>
                <a:gd name="T9" fmla="*/ 5 h 98"/>
                <a:gd name="T10" fmla="*/ 131 w 131"/>
                <a:gd name="T11" fmla="*/ 5 h 98"/>
                <a:gd name="T12" fmla="*/ 131 w 131"/>
                <a:gd name="T13" fmla="*/ 0 h 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1" h="98">
                  <a:moveTo>
                    <a:pt x="131" y="0"/>
                  </a:moveTo>
                  <a:lnTo>
                    <a:pt x="0" y="0"/>
                  </a:lnTo>
                  <a:lnTo>
                    <a:pt x="0" y="98"/>
                  </a:lnTo>
                  <a:lnTo>
                    <a:pt x="7" y="98"/>
                  </a:lnTo>
                  <a:lnTo>
                    <a:pt x="7" y="5"/>
                  </a:lnTo>
                  <a:lnTo>
                    <a:pt x="131" y="5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39" name="Freeform 703"/>
            <p:cNvSpPr/>
            <p:nvPr/>
          </p:nvSpPr>
          <p:spPr bwMode="auto">
            <a:xfrm>
              <a:off x="1078" y="2901"/>
              <a:ext cx="124" cy="93"/>
            </a:xfrm>
            <a:custGeom>
              <a:avLst/>
              <a:gdLst>
                <a:gd name="T0" fmla="*/ 124 w 124"/>
                <a:gd name="T1" fmla="*/ 0 h 93"/>
                <a:gd name="T2" fmla="*/ 0 w 124"/>
                <a:gd name="T3" fmla="*/ 0 h 93"/>
                <a:gd name="T4" fmla="*/ 0 w 124"/>
                <a:gd name="T5" fmla="*/ 93 h 93"/>
                <a:gd name="T6" fmla="*/ 8 w 124"/>
                <a:gd name="T7" fmla="*/ 93 h 93"/>
                <a:gd name="T8" fmla="*/ 8 w 124"/>
                <a:gd name="T9" fmla="*/ 7 h 93"/>
                <a:gd name="T10" fmla="*/ 124 w 124"/>
                <a:gd name="T11" fmla="*/ 7 h 93"/>
                <a:gd name="T12" fmla="*/ 124 w 124"/>
                <a:gd name="T13" fmla="*/ 0 h 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4" h="93">
                  <a:moveTo>
                    <a:pt x="124" y="0"/>
                  </a:moveTo>
                  <a:lnTo>
                    <a:pt x="0" y="0"/>
                  </a:lnTo>
                  <a:lnTo>
                    <a:pt x="0" y="93"/>
                  </a:lnTo>
                  <a:lnTo>
                    <a:pt x="8" y="93"/>
                  </a:lnTo>
                  <a:lnTo>
                    <a:pt x="8" y="7"/>
                  </a:lnTo>
                  <a:lnTo>
                    <a:pt x="124" y="7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0" name="Freeform 704"/>
            <p:cNvSpPr/>
            <p:nvPr/>
          </p:nvSpPr>
          <p:spPr bwMode="auto">
            <a:xfrm>
              <a:off x="1086" y="2908"/>
              <a:ext cx="116" cy="86"/>
            </a:xfrm>
            <a:custGeom>
              <a:avLst/>
              <a:gdLst>
                <a:gd name="T0" fmla="*/ 116 w 116"/>
                <a:gd name="T1" fmla="*/ 0 h 86"/>
                <a:gd name="T2" fmla="*/ 0 w 116"/>
                <a:gd name="T3" fmla="*/ 0 h 86"/>
                <a:gd name="T4" fmla="*/ 0 w 116"/>
                <a:gd name="T5" fmla="*/ 86 h 86"/>
                <a:gd name="T6" fmla="*/ 9 w 116"/>
                <a:gd name="T7" fmla="*/ 85 h 86"/>
                <a:gd name="T8" fmla="*/ 9 w 116"/>
                <a:gd name="T9" fmla="*/ 6 h 86"/>
                <a:gd name="T10" fmla="*/ 115 w 116"/>
                <a:gd name="T11" fmla="*/ 6 h 86"/>
                <a:gd name="T12" fmla="*/ 116 w 116"/>
                <a:gd name="T13" fmla="*/ 0 h 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6" h="86">
                  <a:moveTo>
                    <a:pt x="116" y="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9" y="85"/>
                  </a:lnTo>
                  <a:lnTo>
                    <a:pt x="9" y="6"/>
                  </a:lnTo>
                  <a:lnTo>
                    <a:pt x="115" y="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1" name="Freeform 705"/>
            <p:cNvSpPr/>
            <p:nvPr/>
          </p:nvSpPr>
          <p:spPr bwMode="auto">
            <a:xfrm>
              <a:off x="1095" y="2914"/>
              <a:ext cx="106" cy="79"/>
            </a:xfrm>
            <a:custGeom>
              <a:avLst/>
              <a:gdLst>
                <a:gd name="T0" fmla="*/ 106 w 106"/>
                <a:gd name="T1" fmla="*/ 0 h 79"/>
                <a:gd name="T2" fmla="*/ 0 w 106"/>
                <a:gd name="T3" fmla="*/ 0 h 79"/>
                <a:gd name="T4" fmla="*/ 0 w 106"/>
                <a:gd name="T5" fmla="*/ 79 h 79"/>
                <a:gd name="T6" fmla="*/ 7 w 106"/>
                <a:gd name="T7" fmla="*/ 79 h 79"/>
                <a:gd name="T8" fmla="*/ 7 w 106"/>
                <a:gd name="T9" fmla="*/ 6 h 79"/>
                <a:gd name="T10" fmla="*/ 106 w 106"/>
                <a:gd name="T11" fmla="*/ 6 h 79"/>
                <a:gd name="T12" fmla="*/ 106 w 106"/>
                <a:gd name="T13" fmla="*/ 0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79">
                  <a:moveTo>
                    <a:pt x="106" y="0"/>
                  </a:moveTo>
                  <a:lnTo>
                    <a:pt x="0" y="0"/>
                  </a:lnTo>
                  <a:lnTo>
                    <a:pt x="0" y="79"/>
                  </a:lnTo>
                  <a:lnTo>
                    <a:pt x="7" y="79"/>
                  </a:lnTo>
                  <a:lnTo>
                    <a:pt x="7" y="6"/>
                  </a:lnTo>
                  <a:lnTo>
                    <a:pt x="106" y="6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2" name="Freeform 706"/>
            <p:cNvSpPr/>
            <p:nvPr/>
          </p:nvSpPr>
          <p:spPr bwMode="auto">
            <a:xfrm>
              <a:off x="1102" y="2920"/>
              <a:ext cx="100" cy="74"/>
            </a:xfrm>
            <a:custGeom>
              <a:avLst/>
              <a:gdLst>
                <a:gd name="T0" fmla="*/ 99 w 100"/>
                <a:gd name="T1" fmla="*/ 0 h 74"/>
                <a:gd name="T2" fmla="*/ 0 w 100"/>
                <a:gd name="T3" fmla="*/ 0 h 74"/>
                <a:gd name="T4" fmla="*/ 0 w 100"/>
                <a:gd name="T5" fmla="*/ 73 h 74"/>
                <a:gd name="T6" fmla="*/ 9 w 100"/>
                <a:gd name="T7" fmla="*/ 74 h 74"/>
                <a:gd name="T8" fmla="*/ 9 w 100"/>
                <a:gd name="T9" fmla="*/ 7 h 74"/>
                <a:gd name="T10" fmla="*/ 100 w 100"/>
                <a:gd name="T11" fmla="*/ 7 h 74"/>
                <a:gd name="T12" fmla="*/ 99 w 100"/>
                <a:gd name="T13" fmla="*/ 0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74">
                  <a:moveTo>
                    <a:pt x="99" y="0"/>
                  </a:moveTo>
                  <a:lnTo>
                    <a:pt x="0" y="0"/>
                  </a:lnTo>
                  <a:lnTo>
                    <a:pt x="0" y="73"/>
                  </a:lnTo>
                  <a:lnTo>
                    <a:pt x="9" y="74"/>
                  </a:lnTo>
                  <a:lnTo>
                    <a:pt x="9" y="7"/>
                  </a:lnTo>
                  <a:lnTo>
                    <a:pt x="100" y="7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3" name="Freeform 707"/>
            <p:cNvSpPr/>
            <p:nvPr/>
          </p:nvSpPr>
          <p:spPr bwMode="auto">
            <a:xfrm>
              <a:off x="1111" y="2927"/>
              <a:ext cx="91" cy="67"/>
            </a:xfrm>
            <a:custGeom>
              <a:avLst/>
              <a:gdLst>
                <a:gd name="T0" fmla="*/ 91 w 91"/>
                <a:gd name="T1" fmla="*/ 0 h 67"/>
                <a:gd name="T2" fmla="*/ 0 w 91"/>
                <a:gd name="T3" fmla="*/ 0 h 67"/>
                <a:gd name="T4" fmla="*/ 0 w 91"/>
                <a:gd name="T5" fmla="*/ 67 h 67"/>
                <a:gd name="T6" fmla="*/ 10 w 91"/>
                <a:gd name="T7" fmla="*/ 66 h 67"/>
                <a:gd name="T8" fmla="*/ 10 w 91"/>
                <a:gd name="T9" fmla="*/ 6 h 67"/>
                <a:gd name="T10" fmla="*/ 90 w 91"/>
                <a:gd name="T11" fmla="*/ 6 h 67"/>
                <a:gd name="T12" fmla="*/ 91 w 91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67">
                  <a:moveTo>
                    <a:pt x="91" y="0"/>
                  </a:moveTo>
                  <a:lnTo>
                    <a:pt x="0" y="0"/>
                  </a:lnTo>
                  <a:lnTo>
                    <a:pt x="0" y="67"/>
                  </a:lnTo>
                  <a:lnTo>
                    <a:pt x="10" y="66"/>
                  </a:lnTo>
                  <a:lnTo>
                    <a:pt x="10" y="6"/>
                  </a:lnTo>
                  <a:lnTo>
                    <a:pt x="90" y="6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4" name="Freeform 708"/>
            <p:cNvSpPr/>
            <p:nvPr/>
          </p:nvSpPr>
          <p:spPr bwMode="auto">
            <a:xfrm>
              <a:off x="1121" y="2933"/>
              <a:ext cx="81" cy="61"/>
            </a:xfrm>
            <a:custGeom>
              <a:avLst/>
              <a:gdLst>
                <a:gd name="T0" fmla="*/ 80 w 81"/>
                <a:gd name="T1" fmla="*/ 0 h 61"/>
                <a:gd name="T2" fmla="*/ 0 w 81"/>
                <a:gd name="T3" fmla="*/ 0 h 61"/>
                <a:gd name="T4" fmla="*/ 0 w 81"/>
                <a:gd name="T5" fmla="*/ 60 h 61"/>
                <a:gd name="T6" fmla="*/ 10 w 81"/>
                <a:gd name="T7" fmla="*/ 61 h 61"/>
                <a:gd name="T8" fmla="*/ 10 w 81"/>
                <a:gd name="T9" fmla="*/ 8 h 61"/>
                <a:gd name="T10" fmla="*/ 81 w 81"/>
                <a:gd name="T11" fmla="*/ 8 h 61"/>
                <a:gd name="T12" fmla="*/ 80 w 81"/>
                <a:gd name="T13" fmla="*/ 0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61">
                  <a:moveTo>
                    <a:pt x="80" y="0"/>
                  </a:moveTo>
                  <a:lnTo>
                    <a:pt x="0" y="0"/>
                  </a:lnTo>
                  <a:lnTo>
                    <a:pt x="0" y="60"/>
                  </a:lnTo>
                  <a:lnTo>
                    <a:pt x="10" y="61"/>
                  </a:lnTo>
                  <a:lnTo>
                    <a:pt x="10" y="8"/>
                  </a:lnTo>
                  <a:lnTo>
                    <a:pt x="81" y="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5" name="Freeform 709"/>
            <p:cNvSpPr/>
            <p:nvPr/>
          </p:nvSpPr>
          <p:spPr bwMode="auto">
            <a:xfrm>
              <a:off x="1131" y="2941"/>
              <a:ext cx="71" cy="53"/>
            </a:xfrm>
            <a:custGeom>
              <a:avLst/>
              <a:gdLst>
                <a:gd name="T0" fmla="*/ 71 w 71"/>
                <a:gd name="T1" fmla="*/ 0 h 53"/>
                <a:gd name="T2" fmla="*/ 0 w 71"/>
                <a:gd name="T3" fmla="*/ 0 h 53"/>
                <a:gd name="T4" fmla="*/ 0 w 71"/>
                <a:gd name="T5" fmla="*/ 53 h 53"/>
                <a:gd name="T6" fmla="*/ 10 w 71"/>
                <a:gd name="T7" fmla="*/ 52 h 53"/>
                <a:gd name="T8" fmla="*/ 10 w 71"/>
                <a:gd name="T9" fmla="*/ 7 h 53"/>
                <a:gd name="T10" fmla="*/ 70 w 71"/>
                <a:gd name="T11" fmla="*/ 7 h 53"/>
                <a:gd name="T12" fmla="*/ 71 w 71"/>
                <a:gd name="T13" fmla="*/ 0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53">
                  <a:moveTo>
                    <a:pt x="71" y="0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0" y="52"/>
                  </a:lnTo>
                  <a:lnTo>
                    <a:pt x="10" y="7"/>
                  </a:lnTo>
                  <a:lnTo>
                    <a:pt x="70" y="7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6" name="Freeform 710"/>
            <p:cNvSpPr/>
            <p:nvPr/>
          </p:nvSpPr>
          <p:spPr bwMode="auto">
            <a:xfrm>
              <a:off x="1141" y="2948"/>
              <a:ext cx="60" cy="45"/>
            </a:xfrm>
            <a:custGeom>
              <a:avLst/>
              <a:gdLst>
                <a:gd name="T0" fmla="*/ 60 w 60"/>
                <a:gd name="T1" fmla="*/ 0 h 45"/>
                <a:gd name="T2" fmla="*/ 0 w 60"/>
                <a:gd name="T3" fmla="*/ 0 h 45"/>
                <a:gd name="T4" fmla="*/ 0 w 60"/>
                <a:gd name="T5" fmla="*/ 45 h 45"/>
                <a:gd name="T6" fmla="*/ 11 w 60"/>
                <a:gd name="T7" fmla="*/ 45 h 45"/>
                <a:gd name="T8" fmla="*/ 11 w 60"/>
                <a:gd name="T9" fmla="*/ 8 h 45"/>
                <a:gd name="T10" fmla="*/ 60 w 60"/>
                <a:gd name="T11" fmla="*/ 8 h 45"/>
                <a:gd name="T12" fmla="*/ 60 w 60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45">
                  <a:moveTo>
                    <a:pt x="60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11" y="45"/>
                  </a:lnTo>
                  <a:lnTo>
                    <a:pt x="11" y="8"/>
                  </a:lnTo>
                  <a:lnTo>
                    <a:pt x="60" y="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7" name="Freeform 711"/>
            <p:cNvSpPr/>
            <p:nvPr/>
          </p:nvSpPr>
          <p:spPr bwMode="auto">
            <a:xfrm>
              <a:off x="1152" y="2956"/>
              <a:ext cx="49" cy="37"/>
            </a:xfrm>
            <a:custGeom>
              <a:avLst/>
              <a:gdLst>
                <a:gd name="T0" fmla="*/ 49 w 49"/>
                <a:gd name="T1" fmla="*/ 0 h 37"/>
                <a:gd name="T2" fmla="*/ 0 w 49"/>
                <a:gd name="T3" fmla="*/ 0 h 37"/>
                <a:gd name="T4" fmla="*/ 0 w 49"/>
                <a:gd name="T5" fmla="*/ 37 h 37"/>
                <a:gd name="T6" fmla="*/ 11 w 49"/>
                <a:gd name="T7" fmla="*/ 37 h 37"/>
                <a:gd name="T8" fmla="*/ 11 w 49"/>
                <a:gd name="T9" fmla="*/ 9 h 37"/>
                <a:gd name="T10" fmla="*/ 49 w 49"/>
                <a:gd name="T11" fmla="*/ 9 h 37"/>
                <a:gd name="T12" fmla="*/ 49 w 49"/>
                <a:gd name="T13" fmla="*/ 0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37">
                  <a:moveTo>
                    <a:pt x="49" y="0"/>
                  </a:moveTo>
                  <a:lnTo>
                    <a:pt x="0" y="0"/>
                  </a:lnTo>
                  <a:lnTo>
                    <a:pt x="0" y="37"/>
                  </a:lnTo>
                  <a:lnTo>
                    <a:pt x="11" y="37"/>
                  </a:lnTo>
                  <a:lnTo>
                    <a:pt x="11" y="9"/>
                  </a:lnTo>
                  <a:lnTo>
                    <a:pt x="49" y="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8" name="Freeform 712"/>
            <p:cNvSpPr/>
            <p:nvPr/>
          </p:nvSpPr>
          <p:spPr bwMode="auto">
            <a:xfrm>
              <a:off x="1163" y="2965"/>
              <a:ext cx="39" cy="29"/>
            </a:xfrm>
            <a:custGeom>
              <a:avLst/>
              <a:gdLst>
                <a:gd name="T0" fmla="*/ 38 w 39"/>
                <a:gd name="T1" fmla="*/ 0 h 29"/>
                <a:gd name="T2" fmla="*/ 0 w 39"/>
                <a:gd name="T3" fmla="*/ 0 h 29"/>
                <a:gd name="T4" fmla="*/ 0 w 39"/>
                <a:gd name="T5" fmla="*/ 28 h 29"/>
                <a:gd name="T6" fmla="*/ 13 w 39"/>
                <a:gd name="T7" fmla="*/ 29 h 29"/>
                <a:gd name="T8" fmla="*/ 13 w 39"/>
                <a:gd name="T9" fmla="*/ 9 h 29"/>
                <a:gd name="T10" fmla="*/ 39 w 39"/>
                <a:gd name="T11" fmla="*/ 9 h 29"/>
                <a:gd name="T12" fmla="*/ 38 w 39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9">
                  <a:moveTo>
                    <a:pt x="38" y="0"/>
                  </a:moveTo>
                  <a:lnTo>
                    <a:pt x="0" y="0"/>
                  </a:lnTo>
                  <a:lnTo>
                    <a:pt x="0" y="28"/>
                  </a:lnTo>
                  <a:lnTo>
                    <a:pt x="13" y="29"/>
                  </a:lnTo>
                  <a:lnTo>
                    <a:pt x="13" y="9"/>
                  </a:lnTo>
                  <a:lnTo>
                    <a:pt x="39" y="9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49" name="Freeform 713"/>
            <p:cNvSpPr/>
            <p:nvPr/>
          </p:nvSpPr>
          <p:spPr bwMode="auto">
            <a:xfrm>
              <a:off x="1176" y="2974"/>
              <a:ext cx="26" cy="20"/>
            </a:xfrm>
            <a:custGeom>
              <a:avLst/>
              <a:gdLst>
                <a:gd name="T0" fmla="*/ 26 w 26"/>
                <a:gd name="T1" fmla="*/ 0 h 20"/>
                <a:gd name="T2" fmla="*/ 0 w 26"/>
                <a:gd name="T3" fmla="*/ 0 h 20"/>
                <a:gd name="T4" fmla="*/ 0 w 26"/>
                <a:gd name="T5" fmla="*/ 20 h 20"/>
                <a:gd name="T6" fmla="*/ 12 w 26"/>
                <a:gd name="T7" fmla="*/ 19 h 20"/>
                <a:gd name="T8" fmla="*/ 12 w 26"/>
                <a:gd name="T9" fmla="*/ 10 h 20"/>
                <a:gd name="T10" fmla="*/ 25 w 26"/>
                <a:gd name="T11" fmla="*/ 10 h 20"/>
                <a:gd name="T12" fmla="*/ 26 w 26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0">
                  <a:moveTo>
                    <a:pt x="26" y="0"/>
                  </a:moveTo>
                  <a:lnTo>
                    <a:pt x="0" y="0"/>
                  </a:lnTo>
                  <a:lnTo>
                    <a:pt x="0" y="20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25" y="1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50" name="Freeform 714"/>
            <p:cNvSpPr/>
            <p:nvPr/>
          </p:nvSpPr>
          <p:spPr bwMode="auto">
            <a:xfrm>
              <a:off x="1188" y="2984"/>
              <a:ext cx="14" cy="10"/>
            </a:xfrm>
            <a:custGeom>
              <a:avLst/>
              <a:gdLst>
                <a:gd name="T0" fmla="*/ 13 w 14"/>
                <a:gd name="T1" fmla="*/ 0 h 10"/>
                <a:gd name="T2" fmla="*/ 0 w 14"/>
                <a:gd name="T3" fmla="*/ 0 h 10"/>
                <a:gd name="T4" fmla="*/ 0 w 14"/>
                <a:gd name="T5" fmla="*/ 9 h 10"/>
                <a:gd name="T6" fmla="*/ 14 w 14"/>
                <a:gd name="T7" fmla="*/ 10 h 10"/>
                <a:gd name="T8" fmla="*/ 14 w 14"/>
                <a:gd name="T9" fmla="*/ 10 h 10"/>
                <a:gd name="T10" fmla="*/ 14 w 14"/>
                <a:gd name="T11" fmla="*/ 10 h 10"/>
                <a:gd name="T12" fmla="*/ 13 w 14"/>
                <a:gd name="T13" fmla="*/ 0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10">
                  <a:moveTo>
                    <a:pt x="13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4" y="1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51" name="Line 715"/>
            <p:cNvSpPr>
              <a:spLocks noChangeShapeType="1"/>
            </p:cNvSpPr>
            <p:nvPr/>
          </p:nvSpPr>
          <p:spPr bwMode="auto">
            <a:xfrm>
              <a:off x="1022" y="3017"/>
              <a:ext cx="1" cy="1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52" name="Line 716"/>
            <p:cNvSpPr>
              <a:spLocks noChangeShapeType="1"/>
            </p:cNvSpPr>
            <p:nvPr/>
          </p:nvSpPr>
          <p:spPr bwMode="auto">
            <a:xfrm>
              <a:off x="987" y="3017"/>
              <a:ext cx="1" cy="1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53" name="Line 717"/>
            <p:cNvSpPr>
              <a:spLocks noChangeShapeType="1"/>
            </p:cNvSpPr>
            <p:nvPr/>
          </p:nvSpPr>
          <p:spPr bwMode="auto">
            <a:xfrm>
              <a:off x="945" y="3017"/>
              <a:ext cx="285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54" name="Rectangle 718"/>
            <p:cNvSpPr>
              <a:spLocks noChangeArrowheads="1"/>
            </p:cNvSpPr>
            <p:nvPr/>
          </p:nvSpPr>
          <p:spPr bwMode="auto">
            <a:xfrm>
              <a:off x="1162" y="3081"/>
              <a:ext cx="35" cy="3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55" name="Rectangle 719"/>
            <p:cNvSpPr>
              <a:spLocks noChangeArrowheads="1"/>
            </p:cNvSpPr>
            <p:nvPr/>
          </p:nvSpPr>
          <p:spPr bwMode="auto">
            <a:xfrm>
              <a:off x="1162" y="3080"/>
              <a:ext cx="35" cy="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56" name="Rectangle 720"/>
            <p:cNvSpPr>
              <a:spLocks noChangeArrowheads="1"/>
            </p:cNvSpPr>
            <p:nvPr/>
          </p:nvSpPr>
          <p:spPr bwMode="auto">
            <a:xfrm>
              <a:off x="1162" y="3079"/>
              <a:ext cx="35" cy="1"/>
            </a:xfrm>
            <a:prstGeom prst="rect">
              <a:avLst/>
            </a:prstGeom>
            <a:solidFill>
              <a:srgbClr val="D5D5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57" name="Rectangle 721"/>
            <p:cNvSpPr>
              <a:spLocks noChangeArrowheads="1"/>
            </p:cNvSpPr>
            <p:nvPr/>
          </p:nvSpPr>
          <p:spPr bwMode="auto">
            <a:xfrm>
              <a:off x="1162" y="3078"/>
              <a:ext cx="35" cy="1"/>
            </a:xfrm>
            <a:prstGeom prst="rect">
              <a:avLst/>
            </a:prstGeom>
            <a:solidFill>
              <a:srgbClr val="CDCD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58" name="Rectangle 722"/>
            <p:cNvSpPr>
              <a:spLocks noChangeArrowheads="1"/>
            </p:cNvSpPr>
            <p:nvPr/>
          </p:nvSpPr>
          <p:spPr bwMode="auto">
            <a:xfrm>
              <a:off x="1162" y="3076"/>
              <a:ext cx="35" cy="2"/>
            </a:xfrm>
            <a:prstGeom prst="rect">
              <a:avLst/>
            </a:prstGeom>
            <a:solidFill>
              <a:srgbClr val="C6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59" name="Rectangle 723"/>
            <p:cNvSpPr>
              <a:spLocks noChangeArrowheads="1"/>
            </p:cNvSpPr>
            <p:nvPr/>
          </p:nvSpPr>
          <p:spPr bwMode="auto">
            <a:xfrm>
              <a:off x="1162" y="3075"/>
              <a:ext cx="35" cy="1"/>
            </a:xfrm>
            <a:prstGeom prst="rect">
              <a:avLst/>
            </a:prstGeom>
            <a:solidFill>
              <a:srgbClr val="BE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60" name="Rectangle 724"/>
            <p:cNvSpPr>
              <a:spLocks noChangeArrowheads="1"/>
            </p:cNvSpPr>
            <p:nvPr/>
          </p:nvSpPr>
          <p:spPr bwMode="auto">
            <a:xfrm>
              <a:off x="1162" y="3074"/>
              <a:ext cx="35" cy="1"/>
            </a:xfrm>
            <a:prstGeom prst="rect">
              <a:avLst/>
            </a:prstGeom>
            <a:solidFill>
              <a:srgbClr val="B6B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61" name="Freeform 725"/>
            <p:cNvSpPr/>
            <p:nvPr/>
          </p:nvSpPr>
          <p:spPr bwMode="auto">
            <a:xfrm>
              <a:off x="1160" y="3073"/>
              <a:ext cx="37" cy="1"/>
            </a:xfrm>
            <a:custGeom>
              <a:avLst/>
              <a:gdLst>
                <a:gd name="T0" fmla="*/ 2 w 37"/>
                <a:gd name="T1" fmla="*/ 1 h 1"/>
                <a:gd name="T2" fmla="*/ 37 w 37"/>
                <a:gd name="T3" fmla="*/ 1 h 1"/>
                <a:gd name="T4" fmla="*/ 36 w 37"/>
                <a:gd name="T5" fmla="*/ 0 h 1"/>
                <a:gd name="T6" fmla="*/ 0 w 37"/>
                <a:gd name="T7" fmla="*/ 0 h 1"/>
                <a:gd name="T8" fmla="*/ 2 w 37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1">
                  <a:moveTo>
                    <a:pt x="2" y="1"/>
                  </a:moveTo>
                  <a:lnTo>
                    <a:pt x="37" y="1"/>
                  </a:lnTo>
                  <a:lnTo>
                    <a:pt x="36" y="0"/>
                  </a:lnTo>
                  <a:lnTo>
                    <a:pt x="0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62" name="Rectangle 726"/>
            <p:cNvSpPr>
              <a:spLocks noChangeArrowheads="1"/>
            </p:cNvSpPr>
            <p:nvPr/>
          </p:nvSpPr>
          <p:spPr bwMode="auto">
            <a:xfrm>
              <a:off x="1160" y="3071"/>
              <a:ext cx="36" cy="2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63" name="Freeform 727"/>
            <p:cNvSpPr/>
            <p:nvPr/>
          </p:nvSpPr>
          <p:spPr bwMode="auto">
            <a:xfrm>
              <a:off x="1160" y="3070"/>
              <a:ext cx="37" cy="1"/>
            </a:xfrm>
            <a:custGeom>
              <a:avLst/>
              <a:gdLst>
                <a:gd name="T0" fmla="*/ 0 w 37"/>
                <a:gd name="T1" fmla="*/ 1 h 1"/>
                <a:gd name="T2" fmla="*/ 36 w 37"/>
                <a:gd name="T3" fmla="*/ 1 h 1"/>
                <a:gd name="T4" fmla="*/ 37 w 37"/>
                <a:gd name="T5" fmla="*/ 0 h 1"/>
                <a:gd name="T6" fmla="*/ 2 w 37"/>
                <a:gd name="T7" fmla="*/ 0 h 1"/>
                <a:gd name="T8" fmla="*/ 0 w 37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1">
                  <a:moveTo>
                    <a:pt x="0" y="1"/>
                  </a:moveTo>
                  <a:lnTo>
                    <a:pt x="36" y="1"/>
                  </a:lnTo>
                  <a:lnTo>
                    <a:pt x="37" y="0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64" name="Rectangle 728"/>
            <p:cNvSpPr>
              <a:spLocks noChangeArrowheads="1"/>
            </p:cNvSpPr>
            <p:nvPr/>
          </p:nvSpPr>
          <p:spPr bwMode="auto">
            <a:xfrm>
              <a:off x="1162" y="3070"/>
              <a:ext cx="35" cy="1"/>
            </a:xfrm>
            <a:prstGeom prst="rect">
              <a:avLst/>
            </a:pr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65" name="Rectangle 729"/>
            <p:cNvSpPr>
              <a:spLocks noChangeArrowheads="1"/>
            </p:cNvSpPr>
            <p:nvPr/>
          </p:nvSpPr>
          <p:spPr bwMode="auto">
            <a:xfrm>
              <a:off x="1129" y="3074"/>
              <a:ext cx="8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66" name="Freeform 730"/>
            <p:cNvSpPr>
              <a:spLocks noEditPoints="1"/>
            </p:cNvSpPr>
            <p:nvPr/>
          </p:nvSpPr>
          <p:spPr bwMode="auto">
            <a:xfrm>
              <a:off x="908" y="3061"/>
              <a:ext cx="46" cy="24"/>
            </a:xfrm>
            <a:custGeom>
              <a:avLst/>
              <a:gdLst>
                <a:gd name="T0" fmla="*/ 0 w 46"/>
                <a:gd name="T1" fmla="*/ 24 h 24"/>
                <a:gd name="T2" fmla="*/ 0 w 46"/>
                <a:gd name="T3" fmla="*/ 0 h 24"/>
                <a:gd name="T4" fmla="*/ 2 w 46"/>
                <a:gd name="T5" fmla="*/ 0 h 24"/>
                <a:gd name="T6" fmla="*/ 2 w 46"/>
                <a:gd name="T7" fmla="*/ 24 h 24"/>
                <a:gd name="T8" fmla="*/ 0 w 46"/>
                <a:gd name="T9" fmla="*/ 24 h 24"/>
                <a:gd name="T10" fmla="*/ 46 w 46"/>
                <a:gd name="T11" fmla="*/ 0 h 24"/>
                <a:gd name="T12" fmla="*/ 46 w 46"/>
                <a:gd name="T13" fmla="*/ 24 h 24"/>
                <a:gd name="T14" fmla="*/ 43 w 46"/>
                <a:gd name="T15" fmla="*/ 24 h 24"/>
                <a:gd name="T16" fmla="*/ 43 w 46"/>
                <a:gd name="T17" fmla="*/ 0 h 24"/>
                <a:gd name="T18" fmla="*/ 46 w 46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6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46" y="0"/>
                  </a:moveTo>
                  <a:lnTo>
                    <a:pt x="46" y="24"/>
                  </a:lnTo>
                  <a:lnTo>
                    <a:pt x="43" y="24"/>
                  </a:lnTo>
                  <a:lnTo>
                    <a:pt x="43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67" name="Freeform 731"/>
            <p:cNvSpPr>
              <a:spLocks noEditPoints="1"/>
            </p:cNvSpPr>
            <p:nvPr/>
          </p:nvSpPr>
          <p:spPr bwMode="auto">
            <a:xfrm>
              <a:off x="910" y="3061"/>
              <a:ext cx="41" cy="24"/>
            </a:xfrm>
            <a:custGeom>
              <a:avLst/>
              <a:gdLst>
                <a:gd name="T0" fmla="*/ 0 w 41"/>
                <a:gd name="T1" fmla="*/ 24 h 24"/>
                <a:gd name="T2" fmla="*/ 0 w 41"/>
                <a:gd name="T3" fmla="*/ 0 h 24"/>
                <a:gd name="T4" fmla="*/ 1 w 41"/>
                <a:gd name="T5" fmla="*/ 0 h 24"/>
                <a:gd name="T6" fmla="*/ 1 w 41"/>
                <a:gd name="T7" fmla="*/ 24 h 24"/>
                <a:gd name="T8" fmla="*/ 0 w 41"/>
                <a:gd name="T9" fmla="*/ 24 h 24"/>
                <a:gd name="T10" fmla="*/ 41 w 41"/>
                <a:gd name="T11" fmla="*/ 0 h 24"/>
                <a:gd name="T12" fmla="*/ 41 w 41"/>
                <a:gd name="T13" fmla="*/ 24 h 24"/>
                <a:gd name="T14" fmla="*/ 40 w 41"/>
                <a:gd name="T15" fmla="*/ 24 h 24"/>
                <a:gd name="T16" fmla="*/ 40 w 41"/>
                <a:gd name="T17" fmla="*/ 0 h 24"/>
                <a:gd name="T18" fmla="*/ 41 w 4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41" y="0"/>
                  </a:moveTo>
                  <a:lnTo>
                    <a:pt x="41" y="24"/>
                  </a:lnTo>
                  <a:lnTo>
                    <a:pt x="40" y="24"/>
                  </a:lnTo>
                  <a:lnTo>
                    <a:pt x="40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7A9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68" name="Freeform 732"/>
            <p:cNvSpPr>
              <a:spLocks noEditPoints="1"/>
            </p:cNvSpPr>
            <p:nvPr/>
          </p:nvSpPr>
          <p:spPr bwMode="auto">
            <a:xfrm>
              <a:off x="911" y="3061"/>
              <a:ext cx="39" cy="24"/>
            </a:xfrm>
            <a:custGeom>
              <a:avLst/>
              <a:gdLst>
                <a:gd name="T0" fmla="*/ 0 w 39"/>
                <a:gd name="T1" fmla="*/ 24 h 24"/>
                <a:gd name="T2" fmla="*/ 0 w 39"/>
                <a:gd name="T3" fmla="*/ 0 h 24"/>
                <a:gd name="T4" fmla="*/ 1 w 39"/>
                <a:gd name="T5" fmla="*/ 0 h 24"/>
                <a:gd name="T6" fmla="*/ 1 w 39"/>
                <a:gd name="T7" fmla="*/ 24 h 24"/>
                <a:gd name="T8" fmla="*/ 0 w 39"/>
                <a:gd name="T9" fmla="*/ 24 h 24"/>
                <a:gd name="T10" fmla="*/ 39 w 39"/>
                <a:gd name="T11" fmla="*/ 0 h 24"/>
                <a:gd name="T12" fmla="*/ 39 w 39"/>
                <a:gd name="T13" fmla="*/ 24 h 24"/>
                <a:gd name="T14" fmla="*/ 38 w 39"/>
                <a:gd name="T15" fmla="*/ 24 h 24"/>
                <a:gd name="T16" fmla="*/ 38 w 39"/>
                <a:gd name="T17" fmla="*/ 0 h 24"/>
                <a:gd name="T18" fmla="*/ 39 w 3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9" y="0"/>
                  </a:moveTo>
                  <a:lnTo>
                    <a:pt x="39" y="24"/>
                  </a:lnTo>
                  <a:lnTo>
                    <a:pt x="38" y="24"/>
                  </a:lnTo>
                  <a:lnTo>
                    <a:pt x="38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CD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69" name="Freeform 733"/>
            <p:cNvSpPr>
              <a:spLocks noEditPoints="1"/>
            </p:cNvSpPr>
            <p:nvPr/>
          </p:nvSpPr>
          <p:spPr bwMode="auto">
            <a:xfrm>
              <a:off x="912" y="3061"/>
              <a:ext cx="37" cy="24"/>
            </a:xfrm>
            <a:custGeom>
              <a:avLst/>
              <a:gdLst>
                <a:gd name="T0" fmla="*/ 0 w 37"/>
                <a:gd name="T1" fmla="*/ 24 h 24"/>
                <a:gd name="T2" fmla="*/ 0 w 37"/>
                <a:gd name="T3" fmla="*/ 0 h 24"/>
                <a:gd name="T4" fmla="*/ 1 w 37"/>
                <a:gd name="T5" fmla="*/ 0 h 24"/>
                <a:gd name="T6" fmla="*/ 1 w 37"/>
                <a:gd name="T7" fmla="*/ 24 h 24"/>
                <a:gd name="T8" fmla="*/ 0 w 37"/>
                <a:gd name="T9" fmla="*/ 24 h 24"/>
                <a:gd name="T10" fmla="*/ 37 w 37"/>
                <a:gd name="T11" fmla="*/ 0 h 24"/>
                <a:gd name="T12" fmla="*/ 37 w 37"/>
                <a:gd name="T13" fmla="*/ 24 h 24"/>
                <a:gd name="T14" fmla="*/ 36 w 37"/>
                <a:gd name="T15" fmla="*/ 24 h 24"/>
                <a:gd name="T16" fmla="*/ 36 w 37"/>
                <a:gd name="T17" fmla="*/ 0 h 24"/>
                <a:gd name="T18" fmla="*/ 37 w 3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7" y="0"/>
                  </a:moveTo>
                  <a:lnTo>
                    <a:pt x="37" y="24"/>
                  </a:lnTo>
                  <a:lnTo>
                    <a:pt x="36" y="24"/>
                  </a:lnTo>
                  <a:lnTo>
                    <a:pt x="36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3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0" name="Freeform 734"/>
            <p:cNvSpPr>
              <a:spLocks noEditPoints="1"/>
            </p:cNvSpPr>
            <p:nvPr/>
          </p:nvSpPr>
          <p:spPr bwMode="auto">
            <a:xfrm>
              <a:off x="913" y="3061"/>
              <a:ext cx="35" cy="24"/>
            </a:xfrm>
            <a:custGeom>
              <a:avLst/>
              <a:gdLst>
                <a:gd name="T0" fmla="*/ 0 w 35"/>
                <a:gd name="T1" fmla="*/ 24 h 24"/>
                <a:gd name="T2" fmla="*/ 0 w 35"/>
                <a:gd name="T3" fmla="*/ 0 h 24"/>
                <a:gd name="T4" fmla="*/ 2 w 35"/>
                <a:gd name="T5" fmla="*/ 0 h 24"/>
                <a:gd name="T6" fmla="*/ 2 w 35"/>
                <a:gd name="T7" fmla="*/ 24 h 24"/>
                <a:gd name="T8" fmla="*/ 0 w 35"/>
                <a:gd name="T9" fmla="*/ 24 h 24"/>
                <a:gd name="T10" fmla="*/ 35 w 35"/>
                <a:gd name="T11" fmla="*/ 0 h 24"/>
                <a:gd name="T12" fmla="*/ 35 w 35"/>
                <a:gd name="T13" fmla="*/ 24 h 24"/>
                <a:gd name="T14" fmla="*/ 33 w 35"/>
                <a:gd name="T15" fmla="*/ 24 h 24"/>
                <a:gd name="T16" fmla="*/ 33 w 35"/>
                <a:gd name="T17" fmla="*/ 0 h 24"/>
                <a:gd name="T18" fmla="*/ 35 w 35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5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35" y="0"/>
                  </a:moveTo>
                  <a:lnTo>
                    <a:pt x="35" y="24"/>
                  </a:lnTo>
                  <a:lnTo>
                    <a:pt x="33" y="24"/>
                  </a:lnTo>
                  <a:lnTo>
                    <a:pt x="33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D8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1" name="Freeform 735"/>
            <p:cNvSpPr>
              <a:spLocks noEditPoints="1"/>
            </p:cNvSpPr>
            <p:nvPr/>
          </p:nvSpPr>
          <p:spPr bwMode="auto">
            <a:xfrm>
              <a:off x="915" y="3061"/>
              <a:ext cx="31" cy="24"/>
            </a:xfrm>
            <a:custGeom>
              <a:avLst/>
              <a:gdLst>
                <a:gd name="T0" fmla="*/ 0 w 31"/>
                <a:gd name="T1" fmla="*/ 24 h 24"/>
                <a:gd name="T2" fmla="*/ 0 w 31"/>
                <a:gd name="T3" fmla="*/ 0 h 24"/>
                <a:gd name="T4" fmla="*/ 1 w 31"/>
                <a:gd name="T5" fmla="*/ 0 h 24"/>
                <a:gd name="T6" fmla="*/ 1 w 31"/>
                <a:gd name="T7" fmla="*/ 24 h 24"/>
                <a:gd name="T8" fmla="*/ 0 w 31"/>
                <a:gd name="T9" fmla="*/ 24 h 24"/>
                <a:gd name="T10" fmla="*/ 31 w 31"/>
                <a:gd name="T11" fmla="*/ 0 h 24"/>
                <a:gd name="T12" fmla="*/ 31 w 31"/>
                <a:gd name="T13" fmla="*/ 24 h 24"/>
                <a:gd name="T14" fmla="*/ 30 w 31"/>
                <a:gd name="T15" fmla="*/ 24 h 24"/>
                <a:gd name="T16" fmla="*/ 30 w 31"/>
                <a:gd name="T17" fmla="*/ 0 h 24"/>
                <a:gd name="T18" fmla="*/ 31 w 3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1" y="0"/>
                  </a:moveTo>
                  <a:lnTo>
                    <a:pt x="31" y="24"/>
                  </a:lnTo>
                  <a:lnTo>
                    <a:pt x="30" y="24"/>
                  </a:lnTo>
                  <a:lnTo>
                    <a:pt x="30" y="0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DD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2" name="Freeform 736"/>
            <p:cNvSpPr>
              <a:spLocks noEditPoints="1"/>
            </p:cNvSpPr>
            <p:nvPr/>
          </p:nvSpPr>
          <p:spPr bwMode="auto">
            <a:xfrm>
              <a:off x="916" y="3061"/>
              <a:ext cx="29" cy="24"/>
            </a:xfrm>
            <a:custGeom>
              <a:avLst/>
              <a:gdLst>
                <a:gd name="T0" fmla="*/ 0 w 29"/>
                <a:gd name="T1" fmla="*/ 24 h 24"/>
                <a:gd name="T2" fmla="*/ 0 w 29"/>
                <a:gd name="T3" fmla="*/ 0 h 24"/>
                <a:gd name="T4" fmla="*/ 1 w 29"/>
                <a:gd name="T5" fmla="*/ 0 h 24"/>
                <a:gd name="T6" fmla="*/ 1 w 29"/>
                <a:gd name="T7" fmla="*/ 24 h 24"/>
                <a:gd name="T8" fmla="*/ 0 w 29"/>
                <a:gd name="T9" fmla="*/ 24 h 24"/>
                <a:gd name="T10" fmla="*/ 29 w 29"/>
                <a:gd name="T11" fmla="*/ 0 h 24"/>
                <a:gd name="T12" fmla="*/ 29 w 29"/>
                <a:gd name="T13" fmla="*/ 24 h 24"/>
                <a:gd name="T14" fmla="*/ 28 w 29"/>
                <a:gd name="T15" fmla="*/ 24 h 24"/>
                <a:gd name="T16" fmla="*/ 28 w 29"/>
                <a:gd name="T17" fmla="*/ 0 h 24"/>
                <a:gd name="T18" fmla="*/ 29 w 2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9" y="0"/>
                  </a:moveTo>
                  <a:lnTo>
                    <a:pt x="29" y="24"/>
                  </a:lnTo>
                  <a:lnTo>
                    <a:pt x="28" y="24"/>
                  </a:lnTo>
                  <a:lnTo>
                    <a:pt x="28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E1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3" name="Freeform 737"/>
            <p:cNvSpPr>
              <a:spLocks noEditPoints="1"/>
            </p:cNvSpPr>
            <p:nvPr/>
          </p:nvSpPr>
          <p:spPr bwMode="auto">
            <a:xfrm>
              <a:off x="917" y="3061"/>
              <a:ext cx="27" cy="24"/>
            </a:xfrm>
            <a:custGeom>
              <a:avLst/>
              <a:gdLst>
                <a:gd name="T0" fmla="*/ 0 w 27"/>
                <a:gd name="T1" fmla="*/ 24 h 24"/>
                <a:gd name="T2" fmla="*/ 0 w 27"/>
                <a:gd name="T3" fmla="*/ 0 h 24"/>
                <a:gd name="T4" fmla="*/ 2 w 27"/>
                <a:gd name="T5" fmla="*/ 0 h 24"/>
                <a:gd name="T6" fmla="*/ 2 w 27"/>
                <a:gd name="T7" fmla="*/ 24 h 24"/>
                <a:gd name="T8" fmla="*/ 0 w 27"/>
                <a:gd name="T9" fmla="*/ 24 h 24"/>
                <a:gd name="T10" fmla="*/ 27 w 27"/>
                <a:gd name="T11" fmla="*/ 0 h 24"/>
                <a:gd name="T12" fmla="*/ 27 w 27"/>
                <a:gd name="T13" fmla="*/ 24 h 24"/>
                <a:gd name="T14" fmla="*/ 26 w 27"/>
                <a:gd name="T15" fmla="*/ 24 h 24"/>
                <a:gd name="T16" fmla="*/ 26 w 27"/>
                <a:gd name="T17" fmla="*/ 0 h 24"/>
                <a:gd name="T18" fmla="*/ 27 w 2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27" y="0"/>
                  </a:moveTo>
                  <a:lnTo>
                    <a:pt x="27" y="24"/>
                  </a:lnTo>
                  <a:lnTo>
                    <a:pt x="26" y="24"/>
                  </a:lnTo>
                  <a:lnTo>
                    <a:pt x="26" y="0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E5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4" name="Freeform 738"/>
            <p:cNvSpPr>
              <a:spLocks noEditPoints="1"/>
            </p:cNvSpPr>
            <p:nvPr/>
          </p:nvSpPr>
          <p:spPr bwMode="auto">
            <a:xfrm>
              <a:off x="919" y="3061"/>
              <a:ext cx="24" cy="24"/>
            </a:xfrm>
            <a:custGeom>
              <a:avLst/>
              <a:gdLst>
                <a:gd name="T0" fmla="*/ 0 w 24"/>
                <a:gd name="T1" fmla="*/ 24 h 24"/>
                <a:gd name="T2" fmla="*/ 0 w 24"/>
                <a:gd name="T3" fmla="*/ 0 h 24"/>
                <a:gd name="T4" fmla="*/ 1 w 24"/>
                <a:gd name="T5" fmla="*/ 0 h 24"/>
                <a:gd name="T6" fmla="*/ 1 w 24"/>
                <a:gd name="T7" fmla="*/ 24 h 24"/>
                <a:gd name="T8" fmla="*/ 0 w 24"/>
                <a:gd name="T9" fmla="*/ 24 h 24"/>
                <a:gd name="T10" fmla="*/ 24 w 24"/>
                <a:gd name="T11" fmla="*/ 0 h 24"/>
                <a:gd name="T12" fmla="*/ 24 w 24"/>
                <a:gd name="T13" fmla="*/ 24 h 24"/>
                <a:gd name="T14" fmla="*/ 22 w 24"/>
                <a:gd name="T15" fmla="*/ 24 h 24"/>
                <a:gd name="T16" fmla="*/ 22 w 24"/>
                <a:gd name="T17" fmla="*/ 0 h 24"/>
                <a:gd name="T18" fmla="*/ 24 w 24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4" y="0"/>
                  </a:moveTo>
                  <a:lnTo>
                    <a:pt x="24" y="24"/>
                  </a:lnTo>
                  <a:lnTo>
                    <a:pt x="22" y="24"/>
                  </a:lnTo>
                  <a:lnTo>
                    <a:pt x="22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E9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5" name="Freeform 739"/>
            <p:cNvSpPr>
              <a:spLocks noEditPoints="1"/>
            </p:cNvSpPr>
            <p:nvPr/>
          </p:nvSpPr>
          <p:spPr bwMode="auto">
            <a:xfrm>
              <a:off x="920" y="3061"/>
              <a:ext cx="21" cy="24"/>
            </a:xfrm>
            <a:custGeom>
              <a:avLst/>
              <a:gdLst>
                <a:gd name="T0" fmla="*/ 0 w 21"/>
                <a:gd name="T1" fmla="*/ 24 h 24"/>
                <a:gd name="T2" fmla="*/ 0 w 21"/>
                <a:gd name="T3" fmla="*/ 0 h 24"/>
                <a:gd name="T4" fmla="*/ 1 w 21"/>
                <a:gd name="T5" fmla="*/ 0 h 24"/>
                <a:gd name="T6" fmla="*/ 1 w 21"/>
                <a:gd name="T7" fmla="*/ 24 h 24"/>
                <a:gd name="T8" fmla="*/ 0 w 21"/>
                <a:gd name="T9" fmla="*/ 24 h 24"/>
                <a:gd name="T10" fmla="*/ 21 w 21"/>
                <a:gd name="T11" fmla="*/ 0 h 24"/>
                <a:gd name="T12" fmla="*/ 21 w 21"/>
                <a:gd name="T13" fmla="*/ 24 h 24"/>
                <a:gd name="T14" fmla="*/ 20 w 21"/>
                <a:gd name="T15" fmla="*/ 24 h 24"/>
                <a:gd name="T16" fmla="*/ 20 w 21"/>
                <a:gd name="T17" fmla="*/ 0 h 24"/>
                <a:gd name="T18" fmla="*/ 21 w 2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21" y="0"/>
                  </a:moveTo>
                  <a:lnTo>
                    <a:pt x="21" y="24"/>
                  </a:lnTo>
                  <a:lnTo>
                    <a:pt x="20" y="24"/>
                  </a:lnTo>
                  <a:lnTo>
                    <a:pt x="20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C38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6" name="Freeform 740"/>
            <p:cNvSpPr>
              <a:spLocks noEditPoints="1"/>
            </p:cNvSpPr>
            <p:nvPr/>
          </p:nvSpPr>
          <p:spPr bwMode="auto">
            <a:xfrm>
              <a:off x="921" y="3061"/>
              <a:ext cx="19" cy="24"/>
            </a:xfrm>
            <a:custGeom>
              <a:avLst/>
              <a:gdLst>
                <a:gd name="T0" fmla="*/ 0 w 19"/>
                <a:gd name="T1" fmla="*/ 24 h 24"/>
                <a:gd name="T2" fmla="*/ 0 w 19"/>
                <a:gd name="T3" fmla="*/ 0 h 24"/>
                <a:gd name="T4" fmla="*/ 1 w 19"/>
                <a:gd name="T5" fmla="*/ 0 h 24"/>
                <a:gd name="T6" fmla="*/ 1 w 19"/>
                <a:gd name="T7" fmla="*/ 24 h 24"/>
                <a:gd name="T8" fmla="*/ 0 w 19"/>
                <a:gd name="T9" fmla="*/ 24 h 24"/>
                <a:gd name="T10" fmla="*/ 19 w 19"/>
                <a:gd name="T11" fmla="*/ 0 h 24"/>
                <a:gd name="T12" fmla="*/ 19 w 19"/>
                <a:gd name="T13" fmla="*/ 24 h 24"/>
                <a:gd name="T14" fmla="*/ 18 w 19"/>
                <a:gd name="T15" fmla="*/ 24 h 24"/>
                <a:gd name="T16" fmla="*/ 18 w 19"/>
                <a:gd name="T17" fmla="*/ 0 h 24"/>
                <a:gd name="T18" fmla="*/ 19 w 19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9" y="0"/>
                  </a:moveTo>
                  <a:lnTo>
                    <a:pt x="19" y="24"/>
                  </a:lnTo>
                  <a:lnTo>
                    <a:pt x="18" y="24"/>
                  </a:lnTo>
                  <a:lnTo>
                    <a:pt x="18" y="0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EF2F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7" name="Freeform 741"/>
            <p:cNvSpPr>
              <a:spLocks noEditPoints="1"/>
            </p:cNvSpPr>
            <p:nvPr/>
          </p:nvSpPr>
          <p:spPr bwMode="auto">
            <a:xfrm>
              <a:off x="922" y="3061"/>
              <a:ext cx="17" cy="24"/>
            </a:xfrm>
            <a:custGeom>
              <a:avLst/>
              <a:gdLst>
                <a:gd name="T0" fmla="*/ 0 w 17"/>
                <a:gd name="T1" fmla="*/ 24 h 24"/>
                <a:gd name="T2" fmla="*/ 0 w 17"/>
                <a:gd name="T3" fmla="*/ 0 h 24"/>
                <a:gd name="T4" fmla="*/ 2 w 17"/>
                <a:gd name="T5" fmla="*/ 0 h 24"/>
                <a:gd name="T6" fmla="*/ 2 w 17"/>
                <a:gd name="T7" fmla="*/ 24 h 24"/>
                <a:gd name="T8" fmla="*/ 0 w 17"/>
                <a:gd name="T9" fmla="*/ 24 h 24"/>
                <a:gd name="T10" fmla="*/ 17 w 17"/>
                <a:gd name="T11" fmla="*/ 0 h 24"/>
                <a:gd name="T12" fmla="*/ 17 w 17"/>
                <a:gd name="T13" fmla="*/ 24 h 24"/>
                <a:gd name="T14" fmla="*/ 16 w 17"/>
                <a:gd name="T15" fmla="*/ 24 h 24"/>
                <a:gd name="T16" fmla="*/ 16 w 17"/>
                <a:gd name="T17" fmla="*/ 0 h 24"/>
                <a:gd name="T18" fmla="*/ 17 w 17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24">
                  <a:moveTo>
                    <a:pt x="0" y="24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24"/>
                  </a:lnTo>
                  <a:lnTo>
                    <a:pt x="0" y="24"/>
                  </a:lnTo>
                  <a:close/>
                  <a:moveTo>
                    <a:pt x="17" y="0"/>
                  </a:moveTo>
                  <a:lnTo>
                    <a:pt x="17" y="24"/>
                  </a:lnTo>
                  <a:lnTo>
                    <a:pt x="16" y="24"/>
                  </a:lnTo>
                  <a:lnTo>
                    <a:pt x="16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2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8" name="Freeform 742"/>
            <p:cNvSpPr>
              <a:spLocks noEditPoints="1"/>
            </p:cNvSpPr>
            <p:nvPr/>
          </p:nvSpPr>
          <p:spPr bwMode="auto">
            <a:xfrm>
              <a:off x="924" y="3060"/>
              <a:ext cx="14" cy="25"/>
            </a:xfrm>
            <a:custGeom>
              <a:avLst/>
              <a:gdLst>
                <a:gd name="T0" fmla="*/ 0 w 14"/>
                <a:gd name="T1" fmla="*/ 25 h 25"/>
                <a:gd name="T2" fmla="*/ 0 w 14"/>
                <a:gd name="T3" fmla="*/ 1 h 25"/>
                <a:gd name="T4" fmla="*/ 1 w 14"/>
                <a:gd name="T5" fmla="*/ 0 h 25"/>
                <a:gd name="T6" fmla="*/ 1 w 14"/>
                <a:gd name="T7" fmla="*/ 24 h 25"/>
                <a:gd name="T8" fmla="*/ 0 w 14"/>
                <a:gd name="T9" fmla="*/ 25 h 25"/>
                <a:gd name="T10" fmla="*/ 14 w 14"/>
                <a:gd name="T11" fmla="*/ 1 h 25"/>
                <a:gd name="T12" fmla="*/ 14 w 14"/>
                <a:gd name="T13" fmla="*/ 25 h 25"/>
                <a:gd name="T14" fmla="*/ 12 w 14"/>
                <a:gd name="T15" fmla="*/ 24 h 25"/>
                <a:gd name="T16" fmla="*/ 12 w 14"/>
                <a:gd name="T17" fmla="*/ 0 h 25"/>
                <a:gd name="T18" fmla="*/ 14 w 14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25">
                  <a:moveTo>
                    <a:pt x="0" y="25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5"/>
                  </a:lnTo>
                  <a:close/>
                  <a:moveTo>
                    <a:pt x="14" y="1"/>
                  </a:moveTo>
                  <a:lnTo>
                    <a:pt x="14" y="25"/>
                  </a:lnTo>
                  <a:lnTo>
                    <a:pt x="12" y="24"/>
                  </a:lnTo>
                  <a:lnTo>
                    <a:pt x="12" y="0"/>
                  </a:lnTo>
                  <a:lnTo>
                    <a:pt x="14" y="1"/>
                  </a:lnTo>
                  <a:close/>
                </a:path>
              </a:pathLst>
            </a:custGeom>
            <a:solidFill>
              <a:srgbClr val="F41E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79" name="Freeform 743"/>
            <p:cNvSpPr>
              <a:spLocks noEditPoints="1"/>
            </p:cNvSpPr>
            <p:nvPr/>
          </p:nvSpPr>
          <p:spPr bwMode="auto">
            <a:xfrm>
              <a:off x="925" y="3060"/>
              <a:ext cx="11" cy="25"/>
            </a:xfrm>
            <a:custGeom>
              <a:avLst/>
              <a:gdLst>
                <a:gd name="T0" fmla="*/ 0 w 11"/>
                <a:gd name="T1" fmla="*/ 24 h 25"/>
                <a:gd name="T2" fmla="*/ 0 w 11"/>
                <a:gd name="T3" fmla="*/ 0 h 25"/>
                <a:gd name="T4" fmla="*/ 1 w 11"/>
                <a:gd name="T5" fmla="*/ 1 h 25"/>
                <a:gd name="T6" fmla="*/ 1 w 11"/>
                <a:gd name="T7" fmla="*/ 25 h 25"/>
                <a:gd name="T8" fmla="*/ 0 w 11"/>
                <a:gd name="T9" fmla="*/ 24 h 25"/>
                <a:gd name="T10" fmla="*/ 11 w 11"/>
                <a:gd name="T11" fmla="*/ 0 h 25"/>
                <a:gd name="T12" fmla="*/ 11 w 11"/>
                <a:gd name="T13" fmla="*/ 24 h 25"/>
                <a:gd name="T14" fmla="*/ 10 w 11"/>
                <a:gd name="T15" fmla="*/ 25 h 25"/>
                <a:gd name="T16" fmla="*/ 10 w 11"/>
                <a:gd name="T17" fmla="*/ 1 h 25"/>
                <a:gd name="T18" fmla="*/ 11 w 11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25">
                  <a:moveTo>
                    <a:pt x="0" y="24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1" y="25"/>
                  </a:lnTo>
                  <a:lnTo>
                    <a:pt x="0" y="24"/>
                  </a:lnTo>
                  <a:close/>
                  <a:moveTo>
                    <a:pt x="11" y="0"/>
                  </a:moveTo>
                  <a:lnTo>
                    <a:pt x="11" y="24"/>
                  </a:lnTo>
                  <a:lnTo>
                    <a:pt x="10" y="25"/>
                  </a:lnTo>
                  <a:lnTo>
                    <a:pt x="10" y="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717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0" name="Freeform 744"/>
            <p:cNvSpPr>
              <a:spLocks noEditPoints="1"/>
            </p:cNvSpPr>
            <p:nvPr/>
          </p:nvSpPr>
          <p:spPr bwMode="auto">
            <a:xfrm>
              <a:off x="926" y="3060"/>
              <a:ext cx="9" cy="25"/>
            </a:xfrm>
            <a:custGeom>
              <a:avLst/>
              <a:gdLst>
                <a:gd name="T0" fmla="*/ 0 w 9"/>
                <a:gd name="T1" fmla="*/ 25 h 25"/>
                <a:gd name="T2" fmla="*/ 0 w 9"/>
                <a:gd name="T3" fmla="*/ 1 h 25"/>
                <a:gd name="T4" fmla="*/ 1 w 9"/>
                <a:gd name="T5" fmla="*/ 0 h 25"/>
                <a:gd name="T6" fmla="*/ 1 w 9"/>
                <a:gd name="T7" fmla="*/ 24 h 25"/>
                <a:gd name="T8" fmla="*/ 0 w 9"/>
                <a:gd name="T9" fmla="*/ 25 h 25"/>
                <a:gd name="T10" fmla="*/ 9 w 9"/>
                <a:gd name="T11" fmla="*/ 1 h 25"/>
                <a:gd name="T12" fmla="*/ 9 w 9"/>
                <a:gd name="T13" fmla="*/ 25 h 25"/>
                <a:gd name="T14" fmla="*/ 8 w 9"/>
                <a:gd name="T15" fmla="*/ 24 h 25"/>
                <a:gd name="T16" fmla="*/ 8 w 9"/>
                <a:gd name="T17" fmla="*/ 0 h 25"/>
                <a:gd name="T18" fmla="*/ 9 w 9"/>
                <a:gd name="T19" fmla="*/ 1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" h="25">
                  <a:moveTo>
                    <a:pt x="0" y="25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5"/>
                  </a:lnTo>
                  <a:close/>
                  <a:moveTo>
                    <a:pt x="9" y="1"/>
                  </a:moveTo>
                  <a:lnTo>
                    <a:pt x="9" y="25"/>
                  </a:lnTo>
                  <a:lnTo>
                    <a:pt x="8" y="24"/>
                  </a:lnTo>
                  <a:lnTo>
                    <a:pt x="8" y="0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91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1" name="Freeform 745"/>
            <p:cNvSpPr>
              <a:spLocks noEditPoints="1"/>
            </p:cNvSpPr>
            <p:nvPr/>
          </p:nvSpPr>
          <p:spPr bwMode="auto">
            <a:xfrm>
              <a:off x="927" y="3060"/>
              <a:ext cx="7" cy="25"/>
            </a:xfrm>
            <a:custGeom>
              <a:avLst/>
              <a:gdLst>
                <a:gd name="T0" fmla="*/ 0 w 7"/>
                <a:gd name="T1" fmla="*/ 24 h 25"/>
                <a:gd name="T2" fmla="*/ 0 w 7"/>
                <a:gd name="T3" fmla="*/ 0 h 25"/>
                <a:gd name="T4" fmla="*/ 2 w 7"/>
                <a:gd name="T5" fmla="*/ 1 h 25"/>
                <a:gd name="T6" fmla="*/ 2 w 7"/>
                <a:gd name="T7" fmla="*/ 25 h 25"/>
                <a:gd name="T8" fmla="*/ 0 w 7"/>
                <a:gd name="T9" fmla="*/ 24 h 25"/>
                <a:gd name="T10" fmla="*/ 7 w 7"/>
                <a:gd name="T11" fmla="*/ 0 h 25"/>
                <a:gd name="T12" fmla="*/ 7 w 7"/>
                <a:gd name="T13" fmla="*/ 24 h 25"/>
                <a:gd name="T14" fmla="*/ 5 w 7"/>
                <a:gd name="T15" fmla="*/ 25 h 25"/>
                <a:gd name="T16" fmla="*/ 5 w 7"/>
                <a:gd name="T17" fmla="*/ 1 h 25"/>
                <a:gd name="T18" fmla="*/ 7 w 7"/>
                <a:gd name="T19" fmla="*/ 0 h 2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" h="25">
                  <a:moveTo>
                    <a:pt x="0" y="24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25"/>
                  </a:lnTo>
                  <a:lnTo>
                    <a:pt x="0" y="24"/>
                  </a:lnTo>
                  <a:close/>
                  <a:moveTo>
                    <a:pt x="7" y="0"/>
                  </a:moveTo>
                  <a:lnTo>
                    <a:pt x="7" y="24"/>
                  </a:lnTo>
                  <a:lnTo>
                    <a:pt x="5" y="25"/>
                  </a:lnTo>
                  <a:lnTo>
                    <a:pt x="5" y="1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FB09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2" name="Freeform 746"/>
            <p:cNvSpPr>
              <a:spLocks noEditPoints="1"/>
            </p:cNvSpPr>
            <p:nvPr/>
          </p:nvSpPr>
          <p:spPr bwMode="auto">
            <a:xfrm>
              <a:off x="929" y="3061"/>
              <a:ext cx="3" cy="24"/>
            </a:xfrm>
            <a:custGeom>
              <a:avLst/>
              <a:gdLst>
                <a:gd name="T0" fmla="*/ 0 w 3"/>
                <a:gd name="T1" fmla="*/ 24 h 24"/>
                <a:gd name="T2" fmla="*/ 0 w 3"/>
                <a:gd name="T3" fmla="*/ 0 h 24"/>
                <a:gd name="T4" fmla="*/ 1 w 3"/>
                <a:gd name="T5" fmla="*/ 0 h 24"/>
                <a:gd name="T6" fmla="*/ 1 w 3"/>
                <a:gd name="T7" fmla="*/ 24 h 24"/>
                <a:gd name="T8" fmla="*/ 0 w 3"/>
                <a:gd name="T9" fmla="*/ 24 h 24"/>
                <a:gd name="T10" fmla="*/ 3 w 3"/>
                <a:gd name="T11" fmla="*/ 0 h 24"/>
                <a:gd name="T12" fmla="*/ 3 w 3"/>
                <a:gd name="T13" fmla="*/ 24 h 24"/>
                <a:gd name="T14" fmla="*/ 2 w 3"/>
                <a:gd name="T15" fmla="*/ 24 h 24"/>
                <a:gd name="T16" fmla="*/ 2 w 3"/>
                <a:gd name="T17" fmla="*/ 0 h 24"/>
                <a:gd name="T18" fmla="*/ 3 w 3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3" y="0"/>
                  </a:moveTo>
                  <a:lnTo>
                    <a:pt x="3" y="24"/>
                  </a:lnTo>
                  <a:lnTo>
                    <a:pt x="2" y="24"/>
                  </a:lnTo>
                  <a:lnTo>
                    <a:pt x="2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D03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3" name="Freeform 747"/>
            <p:cNvSpPr>
              <a:spLocks noEditPoints="1"/>
            </p:cNvSpPr>
            <p:nvPr/>
          </p:nvSpPr>
          <p:spPr bwMode="auto">
            <a:xfrm>
              <a:off x="930" y="3061"/>
              <a:ext cx="1" cy="24"/>
            </a:xfrm>
            <a:custGeom>
              <a:avLst/>
              <a:gdLst>
                <a:gd name="T0" fmla="*/ 0 w 1"/>
                <a:gd name="T1" fmla="*/ 24 h 24"/>
                <a:gd name="T2" fmla="*/ 0 w 1"/>
                <a:gd name="T3" fmla="*/ 0 h 24"/>
                <a:gd name="T4" fmla="*/ 1 w 1"/>
                <a:gd name="T5" fmla="*/ 0 h 24"/>
                <a:gd name="T6" fmla="*/ 1 w 1"/>
                <a:gd name="T7" fmla="*/ 24 h 24"/>
                <a:gd name="T8" fmla="*/ 0 w 1"/>
                <a:gd name="T9" fmla="*/ 24 h 24"/>
                <a:gd name="T10" fmla="*/ 1 w 1"/>
                <a:gd name="T11" fmla="*/ 0 h 24"/>
                <a:gd name="T12" fmla="*/ 1 w 1"/>
                <a:gd name="T13" fmla="*/ 24 h 24"/>
                <a:gd name="T14" fmla="*/ 1 w 1"/>
                <a:gd name="T15" fmla="*/ 24 h 24"/>
                <a:gd name="T16" fmla="*/ 1 w 1"/>
                <a:gd name="T17" fmla="*/ 0 h 24"/>
                <a:gd name="T18" fmla="*/ 1 w 1"/>
                <a:gd name="T19" fmla="*/ 0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" h="24">
                  <a:moveTo>
                    <a:pt x="0" y="24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24"/>
                  </a:lnTo>
                  <a:lnTo>
                    <a:pt x="0" y="24"/>
                  </a:lnTo>
                  <a:close/>
                  <a:moveTo>
                    <a:pt x="1" y="0"/>
                  </a:moveTo>
                  <a:lnTo>
                    <a:pt x="1" y="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4" name="Freeform 748"/>
            <p:cNvSpPr/>
            <p:nvPr/>
          </p:nvSpPr>
          <p:spPr bwMode="auto">
            <a:xfrm>
              <a:off x="897" y="2752"/>
              <a:ext cx="428" cy="428"/>
            </a:xfrm>
            <a:custGeom>
              <a:avLst/>
              <a:gdLst>
                <a:gd name="T0" fmla="*/ 0 w 428"/>
                <a:gd name="T1" fmla="*/ 428 h 428"/>
                <a:gd name="T2" fmla="*/ 0 w 428"/>
                <a:gd name="T3" fmla="*/ 298 h 428"/>
                <a:gd name="T4" fmla="*/ 44 w 428"/>
                <a:gd name="T5" fmla="*/ 252 h 428"/>
                <a:gd name="T6" fmla="*/ 48 w 428"/>
                <a:gd name="T7" fmla="*/ 252 h 428"/>
                <a:gd name="T8" fmla="*/ 48 w 428"/>
                <a:gd name="T9" fmla="*/ 48 h 428"/>
                <a:gd name="T10" fmla="*/ 95 w 428"/>
                <a:gd name="T11" fmla="*/ 0 h 428"/>
                <a:gd name="T12" fmla="*/ 380 w 428"/>
                <a:gd name="T13" fmla="*/ 0 h 428"/>
                <a:gd name="T14" fmla="*/ 380 w 428"/>
                <a:gd name="T15" fmla="*/ 143 h 428"/>
                <a:gd name="T16" fmla="*/ 369 w 428"/>
                <a:gd name="T17" fmla="*/ 179 h 428"/>
                <a:gd name="T18" fmla="*/ 369 w 428"/>
                <a:gd name="T19" fmla="*/ 243 h 428"/>
                <a:gd name="T20" fmla="*/ 362 w 428"/>
                <a:gd name="T21" fmla="*/ 250 h 428"/>
                <a:gd name="T22" fmla="*/ 428 w 428"/>
                <a:gd name="T23" fmla="*/ 250 h 428"/>
                <a:gd name="T24" fmla="*/ 428 w 428"/>
                <a:gd name="T25" fmla="*/ 380 h 428"/>
                <a:gd name="T26" fmla="*/ 380 w 428"/>
                <a:gd name="T27" fmla="*/ 428 h 428"/>
                <a:gd name="T28" fmla="*/ 0 w 428"/>
                <a:gd name="T29" fmla="*/ 428 h 4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8" h="428">
                  <a:moveTo>
                    <a:pt x="0" y="428"/>
                  </a:moveTo>
                  <a:lnTo>
                    <a:pt x="0" y="298"/>
                  </a:lnTo>
                  <a:lnTo>
                    <a:pt x="44" y="252"/>
                  </a:lnTo>
                  <a:lnTo>
                    <a:pt x="48" y="252"/>
                  </a:lnTo>
                  <a:lnTo>
                    <a:pt x="48" y="48"/>
                  </a:lnTo>
                  <a:lnTo>
                    <a:pt x="95" y="0"/>
                  </a:lnTo>
                  <a:lnTo>
                    <a:pt x="380" y="0"/>
                  </a:lnTo>
                  <a:lnTo>
                    <a:pt x="380" y="143"/>
                  </a:lnTo>
                  <a:lnTo>
                    <a:pt x="369" y="179"/>
                  </a:lnTo>
                  <a:lnTo>
                    <a:pt x="369" y="243"/>
                  </a:lnTo>
                  <a:lnTo>
                    <a:pt x="362" y="250"/>
                  </a:lnTo>
                  <a:lnTo>
                    <a:pt x="428" y="250"/>
                  </a:lnTo>
                  <a:lnTo>
                    <a:pt x="428" y="380"/>
                  </a:lnTo>
                  <a:lnTo>
                    <a:pt x="380" y="428"/>
                  </a:lnTo>
                  <a:lnTo>
                    <a:pt x="0" y="42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5" name="Rectangle 749"/>
            <p:cNvSpPr>
              <a:spLocks noChangeArrowheads="1"/>
            </p:cNvSpPr>
            <p:nvPr/>
          </p:nvSpPr>
          <p:spPr bwMode="auto">
            <a:xfrm>
              <a:off x="774" y="3201"/>
              <a:ext cx="9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dirty="0">
                  <a:solidFill>
                    <a:srgbClr val="000000"/>
                  </a:solidFill>
                  <a:latin typeface="Sitka Text" panose="02000505000000020004" pitchFamily="2" charset="0"/>
                  <a:ea typeface="SimSun" panose="02010600030101010101" pitchFamily="2" charset="-122"/>
                </a:rPr>
                <a:t>Z</a:t>
              </a:r>
              <a:r>
                <a:rPr lang="en-US" altLang="zh-CN" sz="1800" dirty="0" smtClean="0">
                  <a:solidFill>
                    <a:srgbClr val="000000"/>
                  </a:solidFill>
                  <a:latin typeface="Sitka Text" panose="02000505000000020004" pitchFamily="2" charset="0"/>
                  <a:ea typeface="SimSun" panose="02010600030101010101" pitchFamily="2" charset="-122"/>
                </a:rPr>
                <a:t>hengzhou</a:t>
              </a:r>
              <a:endPara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086" name="Freeform 750"/>
            <p:cNvSpPr/>
            <p:nvPr/>
          </p:nvSpPr>
          <p:spPr bwMode="auto">
            <a:xfrm>
              <a:off x="696" y="1480"/>
              <a:ext cx="59" cy="24"/>
            </a:xfrm>
            <a:custGeom>
              <a:avLst/>
              <a:gdLst>
                <a:gd name="T0" fmla="*/ 35 w 59"/>
                <a:gd name="T1" fmla="*/ 24 h 24"/>
                <a:gd name="T2" fmla="*/ 59 w 59"/>
                <a:gd name="T3" fmla="*/ 0 h 24"/>
                <a:gd name="T4" fmla="*/ 0 w 59"/>
                <a:gd name="T5" fmla="*/ 0 h 24"/>
                <a:gd name="T6" fmla="*/ 35 w 59"/>
                <a:gd name="T7" fmla="*/ 2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4">
                  <a:moveTo>
                    <a:pt x="35" y="24"/>
                  </a:moveTo>
                  <a:lnTo>
                    <a:pt x="59" y="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7" name="Freeform 751"/>
            <p:cNvSpPr/>
            <p:nvPr/>
          </p:nvSpPr>
          <p:spPr bwMode="auto">
            <a:xfrm>
              <a:off x="327" y="1483"/>
              <a:ext cx="95" cy="45"/>
            </a:xfrm>
            <a:custGeom>
              <a:avLst/>
              <a:gdLst>
                <a:gd name="T0" fmla="*/ 95 w 95"/>
                <a:gd name="T1" fmla="*/ 45 h 45"/>
                <a:gd name="T2" fmla="*/ 44 w 95"/>
                <a:gd name="T3" fmla="*/ 0 h 45"/>
                <a:gd name="T4" fmla="*/ 0 w 95"/>
                <a:gd name="T5" fmla="*/ 45 h 45"/>
                <a:gd name="T6" fmla="*/ 95 w 95"/>
                <a:gd name="T7" fmla="*/ 45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45">
                  <a:moveTo>
                    <a:pt x="95" y="45"/>
                  </a:moveTo>
                  <a:lnTo>
                    <a:pt x="44" y="0"/>
                  </a:lnTo>
                  <a:lnTo>
                    <a:pt x="0" y="45"/>
                  </a:lnTo>
                  <a:lnTo>
                    <a:pt x="95" y="45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8" name="Freeform 752"/>
            <p:cNvSpPr/>
            <p:nvPr/>
          </p:nvSpPr>
          <p:spPr bwMode="auto">
            <a:xfrm>
              <a:off x="375" y="1480"/>
              <a:ext cx="361" cy="48"/>
            </a:xfrm>
            <a:custGeom>
              <a:avLst/>
              <a:gdLst>
                <a:gd name="T0" fmla="*/ 361 w 361"/>
                <a:gd name="T1" fmla="*/ 18 h 48"/>
                <a:gd name="T2" fmla="*/ 326 w 361"/>
                <a:gd name="T3" fmla="*/ 0 h 48"/>
                <a:gd name="T4" fmla="*/ 47 w 361"/>
                <a:gd name="T5" fmla="*/ 0 h 48"/>
                <a:gd name="T6" fmla="*/ 0 w 361"/>
                <a:gd name="T7" fmla="*/ 24 h 48"/>
                <a:gd name="T8" fmla="*/ 47 w 361"/>
                <a:gd name="T9" fmla="*/ 48 h 48"/>
                <a:gd name="T10" fmla="*/ 332 w 361"/>
                <a:gd name="T11" fmla="*/ 48 h 48"/>
                <a:gd name="T12" fmla="*/ 361 w 361"/>
                <a:gd name="T13" fmla="*/ 1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1" h="48">
                  <a:moveTo>
                    <a:pt x="361" y="18"/>
                  </a:moveTo>
                  <a:lnTo>
                    <a:pt x="326" y="0"/>
                  </a:lnTo>
                  <a:lnTo>
                    <a:pt x="47" y="0"/>
                  </a:lnTo>
                  <a:lnTo>
                    <a:pt x="0" y="24"/>
                  </a:lnTo>
                  <a:lnTo>
                    <a:pt x="47" y="48"/>
                  </a:lnTo>
                  <a:lnTo>
                    <a:pt x="332" y="48"/>
                  </a:lnTo>
                  <a:lnTo>
                    <a:pt x="361" y="1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89" name="Freeform 753"/>
            <p:cNvSpPr/>
            <p:nvPr/>
          </p:nvSpPr>
          <p:spPr bwMode="auto">
            <a:xfrm>
              <a:off x="433" y="1511"/>
              <a:ext cx="214" cy="13"/>
            </a:xfrm>
            <a:custGeom>
              <a:avLst/>
              <a:gdLst>
                <a:gd name="T0" fmla="*/ 214 w 214"/>
                <a:gd name="T1" fmla="*/ 0 h 13"/>
                <a:gd name="T2" fmla="*/ 214 w 214"/>
                <a:gd name="T3" fmla="*/ 13 h 13"/>
                <a:gd name="T4" fmla="*/ 0 w 214"/>
                <a:gd name="T5" fmla="*/ 13 h 13"/>
                <a:gd name="T6" fmla="*/ 0 w 214"/>
                <a:gd name="T7" fmla="*/ 13 h 13"/>
                <a:gd name="T8" fmla="*/ 31 w 214"/>
                <a:gd name="T9" fmla="*/ 13 h 13"/>
                <a:gd name="T10" fmla="*/ 60 w 214"/>
                <a:gd name="T11" fmla="*/ 12 h 13"/>
                <a:gd name="T12" fmla="*/ 88 w 214"/>
                <a:gd name="T13" fmla="*/ 12 h 13"/>
                <a:gd name="T14" fmla="*/ 113 w 214"/>
                <a:gd name="T15" fmla="*/ 11 h 13"/>
                <a:gd name="T16" fmla="*/ 137 w 214"/>
                <a:gd name="T17" fmla="*/ 10 h 13"/>
                <a:gd name="T18" fmla="*/ 159 w 214"/>
                <a:gd name="T19" fmla="*/ 8 h 13"/>
                <a:gd name="T20" fmla="*/ 176 w 214"/>
                <a:gd name="T21" fmla="*/ 7 h 13"/>
                <a:gd name="T22" fmla="*/ 190 w 214"/>
                <a:gd name="T23" fmla="*/ 5 h 13"/>
                <a:gd name="T24" fmla="*/ 201 w 214"/>
                <a:gd name="T25" fmla="*/ 3 h 13"/>
                <a:gd name="T26" fmla="*/ 207 w 214"/>
                <a:gd name="T27" fmla="*/ 1 h 13"/>
                <a:gd name="T28" fmla="*/ 209 w 214"/>
                <a:gd name="T29" fmla="*/ 0 h 13"/>
                <a:gd name="T30" fmla="*/ 214 w 214"/>
                <a:gd name="T31" fmla="*/ 0 h 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4" h="13">
                  <a:moveTo>
                    <a:pt x="214" y="0"/>
                  </a:moveTo>
                  <a:lnTo>
                    <a:pt x="214" y="13"/>
                  </a:lnTo>
                  <a:lnTo>
                    <a:pt x="0" y="13"/>
                  </a:lnTo>
                  <a:lnTo>
                    <a:pt x="31" y="13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8"/>
                  </a:lnTo>
                  <a:lnTo>
                    <a:pt x="176" y="7"/>
                  </a:lnTo>
                  <a:lnTo>
                    <a:pt x="190" y="5"/>
                  </a:lnTo>
                  <a:lnTo>
                    <a:pt x="201" y="3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0" name="Freeform 754"/>
            <p:cNvSpPr/>
            <p:nvPr/>
          </p:nvSpPr>
          <p:spPr bwMode="auto">
            <a:xfrm>
              <a:off x="433" y="1511"/>
              <a:ext cx="209" cy="13"/>
            </a:xfrm>
            <a:custGeom>
              <a:avLst/>
              <a:gdLst>
                <a:gd name="T0" fmla="*/ 0 w 209"/>
                <a:gd name="T1" fmla="*/ 13 h 13"/>
                <a:gd name="T2" fmla="*/ 31 w 209"/>
                <a:gd name="T3" fmla="*/ 13 h 13"/>
                <a:gd name="T4" fmla="*/ 60 w 209"/>
                <a:gd name="T5" fmla="*/ 12 h 13"/>
                <a:gd name="T6" fmla="*/ 88 w 209"/>
                <a:gd name="T7" fmla="*/ 12 h 13"/>
                <a:gd name="T8" fmla="*/ 113 w 209"/>
                <a:gd name="T9" fmla="*/ 11 h 13"/>
                <a:gd name="T10" fmla="*/ 137 w 209"/>
                <a:gd name="T11" fmla="*/ 10 h 13"/>
                <a:gd name="T12" fmla="*/ 159 w 209"/>
                <a:gd name="T13" fmla="*/ 8 h 13"/>
                <a:gd name="T14" fmla="*/ 176 w 209"/>
                <a:gd name="T15" fmla="*/ 7 h 13"/>
                <a:gd name="T16" fmla="*/ 190 w 209"/>
                <a:gd name="T17" fmla="*/ 5 h 13"/>
                <a:gd name="T18" fmla="*/ 201 w 209"/>
                <a:gd name="T19" fmla="*/ 3 h 13"/>
                <a:gd name="T20" fmla="*/ 207 w 209"/>
                <a:gd name="T21" fmla="*/ 1 h 13"/>
                <a:gd name="T22" fmla="*/ 209 w 209"/>
                <a:gd name="T23" fmla="*/ 0 h 13"/>
                <a:gd name="T24" fmla="*/ 204 w 209"/>
                <a:gd name="T25" fmla="*/ 0 h 13"/>
                <a:gd name="T26" fmla="*/ 202 w 209"/>
                <a:gd name="T27" fmla="*/ 1 h 13"/>
                <a:gd name="T28" fmla="*/ 194 w 209"/>
                <a:gd name="T29" fmla="*/ 3 h 13"/>
                <a:gd name="T30" fmla="*/ 183 w 209"/>
                <a:gd name="T31" fmla="*/ 6 h 13"/>
                <a:gd name="T32" fmla="*/ 165 w 209"/>
                <a:gd name="T33" fmla="*/ 7 h 13"/>
                <a:gd name="T34" fmla="*/ 145 w 209"/>
                <a:gd name="T35" fmla="*/ 8 h 13"/>
                <a:gd name="T36" fmla="*/ 121 w 209"/>
                <a:gd name="T37" fmla="*/ 11 h 13"/>
                <a:gd name="T38" fmla="*/ 93 w 209"/>
                <a:gd name="T39" fmla="*/ 11 h 13"/>
                <a:gd name="T40" fmla="*/ 64 w 209"/>
                <a:gd name="T41" fmla="*/ 12 h 13"/>
                <a:gd name="T42" fmla="*/ 33 w 209"/>
                <a:gd name="T43" fmla="*/ 13 h 13"/>
                <a:gd name="T44" fmla="*/ 0 w 209"/>
                <a:gd name="T45" fmla="*/ 13 h 13"/>
                <a:gd name="T46" fmla="*/ 0 w 209"/>
                <a:gd name="T47" fmla="*/ 13 h 1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9" h="13">
                  <a:moveTo>
                    <a:pt x="0" y="13"/>
                  </a:moveTo>
                  <a:lnTo>
                    <a:pt x="31" y="13"/>
                  </a:lnTo>
                  <a:lnTo>
                    <a:pt x="60" y="12"/>
                  </a:lnTo>
                  <a:lnTo>
                    <a:pt x="88" y="12"/>
                  </a:lnTo>
                  <a:lnTo>
                    <a:pt x="113" y="11"/>
                  </a:lnTo>
                  <a:lnTo>
                    <a:pt x="137" y="10"/>
                  </a:lnTo>
                  <a:lnTo>
                    <a:pt x="159" y="8"/>
                  </a:lnTo>
                  <a:lnTo>
                    <a:pt x="176" y="7"/>
                  </a:lnTo>
                  <a:lnTo>
                    <a:pt x="190" y="5"/>
                  </a:lnTo>
                  <a:lnTo>
                    <a:pt x="201" y="3"/>
                  </a:lnTo>
                  <a:lnTo>
                    <a:pt x="207" y="1"/>
                  </a:lnTo>
                  <a:lnTo>
                    <a:pt x="209" y="0"/>
                  </a:lnTo>
                  <a:lnTo>
                    <a:pt x="204" y="0"/>
                  </a:lnTo>
                  <a:lnTo>
                    <a:pt x="202" y="1"/>
                  </a:lnTo>
                  <a:lnTo>
                    <a:pt x="194" y="3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8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1" name="Freeform 755"/>
            <p:cNvSpPr/>
            <p:nvPr/>
          </p:nvSpPr>
          <p:spPr bwMode="auto">
            <a:xfrm>
              <a:off x="433" y="1511"/>
              <a:ext cx="204" cy="13"/>
            </a:xfrm>
            <a:custGeom>
              <a:avLst/>
              <a:gdLst>
                <a:gd name="T0" fmla="*/ 204 w 204"/>
                <a:gd name="T1" fmla="*/ 0 h 13"/>
                <a:gd name="T2" fmla="*/ 202 w 204"/>
                <a:gd name="T3" fmla="*/ 1 h 13"/>
                <a:gd name="T4" fmla="*/ 194 w 204"/>
                <a:gd name="T5" fmla="*/ 3 h 13"/>
                <a:gd name="T6" fmla="*/ 183 w 204"/>
                <a:gd name="T7" fmla="*/ 6 h 13"/>
                <a:gd name="T8" fmla="*/ 165 w 204"/>
                <a:gd name="T9" fmla="*/ 7 h 13"/>
                <a:gd name="T10" fmla="*/ 145 w 204"/>
                <a:gd name="T11" fmla="*/ 8 h 13"/>
                <a:gd name="T12" fmla="*/ 121 w 204"/>
                <a:gd name="T13" fmla="*/ 11 h 13"/>
                <a:gd name="T14" fmla="*/ 93 w 204"/>
                <a:gd name="T15" fmla="*/ 11 h 13"/>
                <a:gd name="T16" fmla="*/ 64 w 204"/>
                <a:gd name="T17" fmla="*/ 12 h 13"/>
                <a:gd name="T18" fmla="*/ 33 w 204"/>
                <a:gd name="T19" fmla="*/ 13 h 13"/>
                <a:gd name="T20" fmla="*/ 0 w 204"/>
                <a:gd name="T21" fmla="*/ 13 h 13"/>
                <a:gd name="T22" fmla="*/ 0 w 204"/>
                <a:gd name="T23" fmla="*/ 12 h 13"/>
                <a:gd name="T24" fmla="*/ 32 w 204"/>
                <a:gd name="T25" fmla="*/ 12 h 13"/>
                <a:gd name="T26" fmla="*/ 62 w 204"/>
                <a:gd name="T27" fmla="*/ 12 h 13"/>
                <a:gd name="T28" fmla="*/ 90 w 204"/>
                <a:gd name="T29" fmla="*/ 11 h 13"/>
                <a:gd name="T30" fmla="*/ 117 w 204"/>
                <a:gd name="T31" fmla="*/ 10 h 13"/>
                <a:gd name="T32" fmla="*/ 141 w 204"/>
                <a:gd name="T33" fmla="*/ 8 h 13"/>
                <a:gd name="T34" fmla="*/ 161 w 204"/>
                <a:gd name="T35" fmla="*/ 7 h 13"/>
                <a:gd name="T36" fmla="*/ 178 w 204"/>
                <a:gd name="T37" fmla="*/ 5 h 13"/>
                <a:gd name="T38" fmla="*/ 189 w 204"/>
                <a:gd name="T39" fmla="*/ 3 h 13"/>
                <a:gd name="T40" fmla="*/ 197 w 204"/>
                <a:gd name="T41" fmla="*/ 1 h 13"/>
                <a:gd name="T42" fmla="*/ 199 w 204"/>
                <a:gd name="T43" fmla="*/ 0 h 13"/>
                <a:gd name="T44" fmla="*/ 204 w 204"/>
                <a:gd name="T45" fmla="*/ 0 h 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04" h="13">
                  <a:moveTo>
                    <a:pt x="204" y="0"/>
                  </a:moveTo>
                  <a:lnTo>
                    <a:pt x="202" y="1"/>
                  </a:lnTo>
                  <a:lnTo>
                    <a:pt x="194" y="3"/>
                  </a:lnTo>
                  <a:lnTo>
                    <a:pt x="183" y="6"/>
                  </a:lnTo>
                  <a:lnTo>
                    <a:pt x="165" y="7"/>
                  </a:lnTo>
                  <a:lnTo>
                    <a:pt x="145" y="8"/>
                  </a:lnTo>
                  <a:lnTo>
                    <a:pt x="121" y="11"/>
                  </a:lnTo>
                  <a:lnTo>
                    <a:pt x="93" y="11"/>
                  </a:lnTo>
                  <a:lnTo>
                    <a:pt x="64" y="12"/>
                  </a:lnTo>
                  <a:lnTo>
                    <a:pt x="33" y="13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62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8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3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2" name="Freeform 756"/>
            <p:cNvSpPr/>
            <p:nvPr/>
          </p:nvSpPr>
          <p:spPr bwMode="auto">
            <a:xfrm>
              <a:off x="433" y="1511"/>
              <a:ext cx="199" cy="12"/>
            </a:xfrm>
            <a:custGeom>
              <a:avLst/>
              <a:gdLst>
                <a:gd name="T0" fmla="*/ 0 w 199"/>
                <a:gd name="T1" fmla="*/ 12 h 12"/>
                <a:gd name="T2" fmla="*/ 32 w 199"/>
                <a:gd name="T3" fmla="*/ 12 h 12"/>
                <a:gd name="T4" fmla="*/ 62 w 199"/>
                <a:gd name="T5" fmla="*/ 12 h 12"/>
                <a:gd name="T6" fmla="*/ 90 w 199"/>
                <a:gd name="T7" fmla="*/ 11 h 12"/>
                <a:gd name="T8" fmla="*/ 117 w 199"/>
                <a:gd name="T9" fmla="*/ 10 h 12"/>
                <a:gd name="T10" fmla="*/ 141 w 199"/>
                <a:gd name="T11" fmla="*/ 8 h 12"/>
                <a:gd name="T12" fmla="*/ 161 w 199"/>
                <a:gd name="T13" fmla="*/ 7 h 12"/>
                <a:gd name="T14" fmla="*/ 178 w 199"/>
                <a:gd name="T15" fmla="*/ 5 h 12"/>
                <a:gd name="T16" fmla="*/ 189 w 199"/>
                <a:gd name="T17" fmla="*/ 3 h 12"/>
                <a:gd name="T18" fmla="*/ 197 w 199"/>
                <a:gd name="T19" fmla="*/ 1 h 12"/>
                <a:gd name="T20" fmla="*/ 199 w 199"/>
                <a:gd name="T21" fmla="*/ 0 h 12"/>
                <a:gd name="T22" fmla="*/ 193 w 199"/>
                <a:gd name="T23" fmla="*/ 0 h 12"/>
                <a:gd name="T24" fmla="*/ 190 w 199"/>
                <a:gd name="T25" fmla="*/ 1 h 12"/>
                <a:gd name="T26" fmla="*/ 184 w 199"/>
                <a:gd name="T27" fmla="*/ 3 h 12"/>
                <a:gd name="T28" fmla="*/ 173 w 199"/>
                <a:gd name="T29" fmla="*/ 5 h 12"/>
                <a:gd name="T30" fmla="*/ 156 w 199"/>
                <a:gd name="T31" fmla="*/ 7 h 12"/>
                <a:gd name="T32" fmla="*/ 137 w 199"/>
                <a:gd name="T33" fmla="*/ 8 h 12"/>
                <a:gd name="T34" fmla="*/ 114 w 199"/>
                <a:gd name="T35" fmla="*/ 10 h 12"/>
                <a:gd name="T36" fmla="*/ 88 w 199"/>
                <a:gd name="T37" fmla="*/ 11 h 12"/>
                <a:gd name="T38" fmla="*/ 60 w 199"/>
                <a:gd name="T39" fmla="*/ 12 h 12"/>
                <a:gd name="T40" fmla="*/ 31 w 199"/>
                <a:gd name="T41" fmla="*/ 12 h 12"/>
                <a:gd name="T42" fmla="*/ 0 w 199"/>
                <a:gd name="T43" fmla="*/ 12 h 12"/>
                <a:gd name="T44" fmla="*/ 0 w 199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9" h="12">
                  <a:moveTo>
                    <a:pt x="0" y="12"/>
                  </a:moveTo>
                  <a:lnTo>
                    <a:pt x="32" y="12"/>
                  </a:lnTo>
                  <a:lnTo>
                    <a:pt x="62" y="12"/>
                  </a:lnTo>
                  <a:lnTo>
                    <a:pt x="90" y="11"/>
                  </a:lnTo>
                  <a:lnTo>
                    <a:pt x="117" y="10"/>
                  </a:lnTo>
                  <a:lnTo>
                    <a:pt x="141" y="8"/>
                  </a:lnTo>
                  <a:lnTo>
                    <a:pt x="161" y="7"/>
                  </a:lnTo>
                  <a:lnTo>
                    <a:pt x="178" y="5"/>
                  </a:lnTo>
                  <a:lnTo>
                    <a:pt x="189" y="3"/>
                  </a:lnTo>
                  <a:lnTo>
                    <a:pt x="197" y="1"/>
                  </a:lnTo>
                  <a:lnTo>
                    <a:pt x="199" y="0"/>
                  </a:lnTo>
                  <a:lnTo>
                    <a:pt x="193" y="0"/>
                  </a:lnTo>
                  <a:lnTo>
                    <a:pt x="190" y="1"/>
                  </a:lnTo>
                  <a:lnTo>
                    <a:pt x="184" y="3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8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3" name="Freeform 757"/>
            <p:cNvSpPr/>
            <p:nvPr/>
          </p:nvSpPr>
          <p:spPr bwMode="auto">
            <a:xfrm>
              <a:off x="433" y="1511"/>
              <a:ext cx="193" cy="12"/>
            </a:xfrm>
            <a:custGeom>
              <a:avLst/>
              <a:gdLst>
                <a:gd name="T0" fmla="*/ 193 w 193"/>
                <a:gd name="T1" fmla="*/ 0 h 12"/>
                <a:gd name="T2" fmla="*/ 190 w 193"/>
                <a:gd name="T3" fmla="*/ 1 h 12"/>
                <a:gd name="T4" fmla="*/ 184 w 193"/>
                <a:gd name="T5" fmla="*/ 3 h 12"/>
                <a:gd name="T6" fmla="*/ 173 w 193"/>
                <a:gd name="T7" fmla="*/ 5 h 12"/>
                <a:gd name="T8" fmla="*/ 156 w 193"/>
                <a:gd name="T9" fmla="*/ 7 h 12"/>
                <a:gd name="T10" fmla="*/ 137 w 193"/>
                <a:gd name="T11" fmla="*/ 8 h 12"/>
                <a:gd name="T12" fmla="*/ 114 w 193"/>
                <a:gd name="T13" fmla="*/ 10 h 12"/>
                <a:gd name="T14" fmla="*/ 88 w 193"/>
                <a:gd name="T15" fmla="*/ 11 h 12"/>
                <a:gd name="T16" fmla="*/ 60 w 193"/>
                <a:gd name="T17" fmla="*/ 12 h 12"/>
                <a:gd name="T18" fmla="*/ 31 w 193"/>
                <a:gd name="T19" fmla="*/ 12 h 12"/>
                <a:gd name="T20" fmla="*/ 0 w 193"/>
                <a:gd name="T21" fmla="*/ 12 h 12"/>
                <a:gd name="T22" fmla="*/ 0 w 193"/>
                <a:gd name="T23" fmla="*/ 12 h 12"/>
                <a:gd name="T24" fmla="*/ 30 w 193"/>
                <a:gd name="T25" fmla="*/ 12 h 12"/>
                <a:gd name="T26" fmla="*/ 59 w 193"/>
                <a:gd name="T27" fmla="*/ 11 h 12"/>
                <a:gd name="T28" fmla="*/ 85 w 193"/>
                <a:gd name="T29" fmla="*/ 11 h 12"/>
                <a:gd name="T30" fmla="*/ 111 w 193"/>
                <a:gd name="T31" fmla="*/ 10 h 12"/>
                <a:gd name="T32" fmla="*/ 132 w 193"/>
                <a:gd name="T33" fmla="*/ 8 h 12"/>
                <a:gd name="T34" fmla="*/ 151 w 193"/>
                <a:gd name="T35" fmla="*/ 7 h 12"/>
                <a:gd name="T36" fmla="*/ 166 w 193"/>
                <a:gd name="T37" fmla="*/ 5 h 12"/>
                <a:gd name="T38" fmla="*/ 178 w 193"/>
                <a:gd name="T39" fmla="*/ 3 h 12"/>
                <a:gd name="T40" fmla="*/ 185 w 193"/>
                <a:gd name="T41" fmla="*/ 1 h 12"/>
                <a:gd name="T42" fmla="*/ 187 w 193"/>
                <a:gd name="T43" fmla="*/ 0 h 12"/>
                <a:gd name="T44" fmla="*/ 193 w 193"/>
                <a:gd name="T45" fmla="*/ 0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93" h="12">
                  <a:moveTo>
                    <a:pt x="193" y="0"/>
                  </a:moveTo>
                  <a:lnTo>
                    <a:pt x="190" y="1"/>
                  </a:lnTo>
                  <a:lnTo>
                    <a:pt x="184" y="3"/>
                  </a:lnTo>
                  <a:lnTo>
                    <a:pt x="173" y="5"/>
                  </a:lnTo>
                  <a:lnTo>
                    <a:pt x="156" y="7"/>
                  </a:lnTo>
                  <a:lnTo>
                    <a:pt x="137" y="8"/>
                  </a:lnTo>
                  <a:lnTo>
                    <a:pt x="114" y="10"/>
                  </a:lnTo>
                  <a:lnTo>
                    <a:pt x="88" y="11"/>
                  </a:lnTo>
                  <a:lnTo>
                    <a:pt x="60" y="12"/>
                  </a:lnTo>
                  <a:lnTo>
                    <a:pt x="31" y="12"/>
                  </a:lnTo>
                  <a:lnTo>
                    <a:pt x="0" y="12"/>
                  </a:ln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8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3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4" name="Freeform 758"/>
            <p:cNvSpPr/>
            <p:nvPr/>
          </p:nvSpPr>
          <p:spPr bwMode="auto">
            <a:xfrm>
              <a:off x="433" y="1511"/>
              <a:ext cx="187" cy="12"/>
            </a:xfrm>
            <a:custGeom>
              <a:avLst/>
              <a:gdLst>
                <a:gd name="T0" fmla="*/ 0 w 187"/>
                <a:gd name="T1" fmla="*/ 12 h 12"/>
                <a:gd name="T2" fmla="*/ 30 w 187"/>
                <a:gd name="T3" fmla="*/ 12 h 12"/>
                <a:gd name="T4" fmla="*/ 59 w 187"/>
                <a:gd name="T5" fmla="*/ 11 h 12"/>
                <a:gd name="T6" fmla="*/ 85 w 187"/>
                <a:gd name="T7" fmla="*/ 11 h 12"/>
                <a:gd name="T8" fmla="*/ 111 w 187"/>
                <a:gd name="T9" fmla="*/ 10 h 12"/>
                <a:gd name="T10" fmla="*/ 132 w 187"/>
                <a:gd name="T11" fmla="*/ 8 h 12"/>
                <a:gd name="T12" fmla="*/ 151 w 187"/>
                <a:gd name="T13" fmla="*/ 7 h 12"/>
                <a:gd name="T14" fmla="*/ 166 w 187"/>
                <a:gd name="T15" fmla="*/ 5 h 12"/>
                <a:gd name="T16" fmla="*/ 178 w 187"/>
                <a:gd name="T17" fmla="*/ 3 h 12"/>
                <a:gd name="T18" fmla="*/ 185 w 187"/>
                <a:gd name="T19" fmla="*/ 1 h 12"/>
                <a:gd name="T20" fmla="*/ 187 w 187"/>
                <a:gd name="T21" fmla="*/ 0 h 12"/>
                <a:gd name="T22" fmla="*/ 180 w 187"/>
                <a:gd name="T23" fmla="*/ 0 h 12"/>
                <a:gd name="T24" fmla="*/ 179 w 187"/>
                <a:gd name="T25" fmla="*/ 1 h 12"/>
                <a:gd name="T26" fmla="*/ 171 w 187"/>
                <a:gd name="T27" fmla="*/ 3 h 12"/>
                <a:gd name="T28" fmla="*/ 161 w 187"/>
                <a:gd name="T29" fmla="*/ 5 h 12"/>
                <a:gd name="T30" fmla="*/ 146 w 187"/>
                <a:gd name="T31" fmla="*/ 6 h 12"/>
                <a:gd name="T32" fmla="*/ 128 w 187"/>
                <a:gd name="T33" fmla="*/ 7 h 12"/>
                <a:gd name="T34" fmla="*/ 107 w 187"/>
                <a:gd name="T35" fmla="*/ 8 h 12"/>
                <a:gd name="T36" fmla="*/ 83 w 187"/>
                <a:gd name="T37" fmla="*/ 10 h 12"/>
                <a:gd name="T38" fmla="*/ 56 w 187"/>
                <a:gd name="T39" fmla="*/ 11 h 12"/>
                <a:gd name="T40" fmla="*/ 30 w 187"/>
                <a:gd name="T41" fmla="*/ 11 h 12"/>
                <a:gd name="T42" fmla="*/ 0 w 187"/>
                <a:gd name="T43" fmla="*/ 11 h 12"/>
                <a:gd name="T44" fmla="*/ 0 w 187"/>
                <a:gd name="T45" fmla="*/ 12 h 1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7" h="12">
                  <a:moveTo>
                    <a:pt x="0" y="12"/>
                  </a:moveTo>
                  <a:lnTo>
                    <a:pt x="30" y="12"/>
                  </a:lnTo>
                  <a:lnTo>
                    <a:pt x="59" y="11"/>
                  </a:lnTo>
                  <a:lnTo>
                    <a:pt x="85" y="11"/>
                  </a:lnTo>
                  <a:lnTo>
                    <a:pt x="111" y="10"/>
                  </a:lnTo>
                  <a:lnTo>
                    <a:pt x="132" y="8"/>
                  </a:lnTo>
                  <a:lnTo>
                    <a:pt x="151" y="7"/>
                  </a:lnTo>
                  <a:lnTo>
                    <a:pt x="166" y="5"/>
                  </a:lnTo>
                  <a:lnTo>
                    <a:pt x="178" y="3"/>
                  </a:lnTo>
                  <a:lnTo>
                    <a:pt x="185" y="1"/>
                  </a:lnTo>
                  <a:lnTo>
                    <a:pt x="187" y="0"/>
                  </a:lnTo>
                  <a:lnTo>
                    <a:pt x="180" y="0"/>
                  </a:lnTo>
                  <a:lnTo>
                    <a:pt x="179" y="1"/>
                  </a:lnTo>
                  <a:lnTo>
                    <a:pt x="171" y="3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8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5" name="Freeform 759"/>
            <p:cNvSpPr/>
            <p:nvPr/>
          </p:nvSpPr>
          <p:spPr bwMode="auto">
            <a:xfrm>
              <a:off x="433" y="1511"/>
              <a:ext cx="180" cy="11"/>
            </a:xfrm>
            <a:custGeom>
              <a:avLst/>
              <a:gdLst>
                <a:gd name="T0" fmla="*/ 180 w 180"/>
                <a:gd name="T1" fmla="*/ 0 h 11"/>
                <a:gd name="T2" fmla="*/ 179 w 180"/>
                <a:gd name="T3" fmla="*/ 1 h 11"/>
                <a:gd name="T4" fmla="*/ 171 w 180"/>
                <a:gd name="T5" fmla="*/ 3 h 11"/>
                <a:gd name="T6" fmla="*/ 161 w 180"/>
                <a:gd name="T7" fmla="*/ 5 h 11"/>
                <a:gd name="T8" fmla="*/ 146 w 180"/>
                <a:gd name="T9" fmla="*/ 6 h 11"/>
                <a:gd name="T10" fmla="*/ 128 w 180"/>
                <a:gd name="T11" fmla="*/ 7 h 11"/>
                <a:gd name="T12" fmla="*/ 107 w 180"/>
                <a:gd name="T13" fmla="*/ 8 h 11"/>
                <a:gd name="T14" fmla="*/ 83 w 180"/>
                <a:gd name="T15" fmla="*/ 10 h 11"/>
                <a:gd name="T16" fmla="*/ 56 w 180"/>
                <a:gd name="T17" fmla="*/ 11 h 11"/>
                <a:gd name="T18" fmla="*/ 30 w 180"/>
                <a:gd name="T19" fmla="*/ 11 h 11"/>
                <a:gd name="T20" fmla="*/ 0 w 180"/>
                <a:gd name="T21" fmla="*/ 11 h 11"/>
                <a:gd name="T22" fmla="*/ 0 w 180"/>
                <a:gd name="T23" fmla="*/ 11 h 11"/>
                <a:gd name="T24" fmla="*/ 28 w 180"/>
                <a:gd name="T25" fmla="*/ 11 h 11"/>
                <a:gd name="T26" fmla="*/ 55 w 180"/>
                <a:gd name="T27" fmla="*/ 11 h 11"/>
                <a:gd name="T28" fmla="*/ 79 w 180"/>
                <a:gd name="T29" fmla="*/ 10 h 11"/>
                <a:gd name="T30" fmla="*/ 103 w 180"/>
                <a:gd name="T31" fmla="*/ 8 h 11"/>
                <a:gd name="T32" fmla="*/ 123 w 180"/>
                <a:gd name="T33" fmla="*/ 7 h 11"/>
                <a:gd name="T34" fmla="*/ 141 w 180"/>
                <a:gd name="T35" fmla="*/ 6 h 11"/>
                <a:gd name="T36" fmla="*/ 155 w 180"/>
                <a:gd name="T37" fmla="*/ 5 h 11"/>
                <a:gd name="T38" fmla="*/ 165 w 180"/>
                <a:gd name="T39" fmla="*/ 2 h 11"/>
                <a:gd name="T40" fmla="*/ 171 w 180"/>
                <a:gd name="T41" fmla="*/ 1 h 11"/>
                <a:gd name="T42" fmla="*/ 174 w 180"/>
                <a:gd name="T43" fmla="*/ 0 h 11"/>
                <a:gd name="T44" fmla="*/ 180 w 180"/>
                <a:gd name="T45" fmla="*/ 0 h 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0" h="11">
                  <a:moveTo>
                    <a:pt x="180" y="0"/>
                  </a:moveTo>
                  <a:lnTo>
                    <a:pt x="179" y="1"/>
                  </a:lnTo>
                  <a:lnTo>
                    <a:pt x="171" y="3"/>
                  </a:lnTo>
                  <a:lnTo>
                    <a:pt x="161" y="5"/>
                  </a:lnTo>
                  <a:lnTo>
                    <a:pt x="146" y="6"/>
                  </a:lnTo>
                  <a:lnTo>
                    <a:pt x="128" y="7"/>
                  </a:lnTo>
                  <a:lnTo>
                    <a:pt x="107" y="8"/>
                  </a:lnTo>
                  <a:lnTo>
                    <a:pt x="83" y="10"/>
                  </a:lnTo>
                  <a:lnTo>
                    <a:pt x="56" y="11"/>
                  </a:lnTo>
                  <a:lnTo>
                    <a:pt x="30" y="11"/>
                  </a:lnTo>
                  <a:lnTo>
                    <a:pt x="0" y="11"/>
                  </a:ln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8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6" name="Freeform 760"/>
            <p:cNvSpPr/>
            <p:nvPr/>
          </p:nvSpPr>
          <p:spPr bwMode="auto">
            <a:xfrm>
              <a:off x="433" y="1511"/>
              <a:ext cx="174" cy="11"/>
            </a:xfrm>
            <a:custGeom>
              <a:avLst/>
              <a:gdLst>
                <a:gd name="T0" fmla="*/ 0 w 174"/>
                <a:gd name="T1" fmla="*/ 11 h 11"/>
                <a:gd name="T2" fmla="*/ 28 w 174"/>
                <a:gd name="T3" fmla="*/ 11 h 11"/>
                <a:gd name="T4" fmla="*/ 55 w 174"/>
                <a:gd name="T5" fmla="*/ 11 h 11"/>
                <a:gd name="T6" fmla="*/ 79 w 174"/>
                <a:gd name="T7" fmla="*/ 10 h 11"/>
                <a:gd name="T8" fmla="*/ 103 w 174"/>
                <a:gd name="T9" fmla="*/ 8 h 11"/>
                <a:gd name="T10" fmla="*/ 123 w 174"/>
                <a:gd name="T11" fmla="*/ 7 h 11"/>
                <a:gd name="T12" fmla="*/ 141 w 174"/>
                <a:gd name="T13" fmla="*/ 6 h 11"/>
                <a:gd name="T14" fmla="*/ 155 w 174"/>
                <a:gd name="T15" fmla="*/ 5 h 11"/>
                <a:gd name="T16" fmla="*/ 165 w 174"/>
                <a:gd name="T17" fmla="*/ 2 h 11"/>
                <a:gd name="T18" fmla="*/ 171 w 174"/>
                <a:gd name="T19" fmla="*/ 1 h 11"/>
                <a:gd name="T20" fmla="*/ 174 w 174"/>
                <a:gd name="T21" fmla="*/ 0 h 11"/>
                <a:gd name="T22" fmla="*/ 166 w 174"/>
                <a:gd name="T23" fmla="*/ 0 h 11"/>
                <a:gd name="T24" fmla="*/ 164 w 174"/>
                <a:gd name="T25" fmla="*/ 1 h 11"/>
                <a:gd name="T26" fmla="*/ 156 w 174"/>
                <a:gd name="T27" fmla="*/ 3 h 11"/>
                <a:gd name="T28" fmla="*/ 145 w 174"/>
                <a:gd name="T29" fmla="*/ 5 h 11"/>
                <a:gd name="T30" fmla="*/ 128 w 174"/>
                <a:gd name="T31" fmla="*/ 6 h 11"/>
                <a:gd name="T32" fmla="*/ 108 w 174"/>
                <a:gd name="T33" fmla="*/ 7 h 11"/>
                <a:gd name="T34" fmla="*/ 84 w 174"/>
                <a:gd name="T35" fmla="*/ 8 h 11"/>
                <a:gd name="T36" fmla="*/ 57 w 174"/>
                <a:gd name="T37" fmla="*/ 10 h 11"/>
                <a:gd name="T38" fmla="*/ 30 w 174"/>
                <a:gd name="T39" fmla="*/ 10 h 11"/>
                <a:gd name="T40" fmla="*/ 0 w 174"/>
                <a:gd name="T41" fmla="*/ 11 h 11"/>
                <a:gd name="T42" fmla="*/ 0 w 174"/>
                <a:gd name="T43" fmla="*/ 11 h 1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74" h="11">
                  <a:moveTo>
                    <a:pt x="0" y="11"/>
                  </a:moveTo>
                  <a:lnTo>
                    <a:pt x="28" y="11"/>
                  </a:lnTo>
                  <a:lnTo>
                    <a:pt x="55" y="11"/>
                  </a:lnTo>
                  <a:lnTo>
                    <a:pt x="79" y="10"/>
                  </a:lnTo>
                  <a:lnTo>
                    <a:pt x="103" y="8"/>
                  </a:lnTo>
                  <a:lnTo>
                    <a:pt x="123" y="7"/>
                  </a:lnTo>
                  <a:lnTo>
                    <a:pt x="141" y="6"/>
                  </a:lnTo>
                  <a:lnTo>
                    <a:pt x="155" y="5"/>
                  </a:lnTo>
                  <a:lnTo>
                    <a:pt x="165" y="2"/>
                  </a:lnTo>
                  <a:lnTo>
                    <a:pt x="171" y="1"/>
                  </a:lnTo>
                  <a:lnTo>
                    <a:pt x="174" y="0"/>
                  </a:lnTo>
                  <a:lnTo>
                    <a:pt x="166" y="0"/>
                  </a:lnTo>
                  <a:lnTo>
                    <a:pt x="164" y="1"/>
                  </a:lnTo>
                  <a:lnTo>
                    <a:pt x="156" y="3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8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2A2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7" name="Freeform 761"/>
            <p:cNvSpPr/>
            <p:nvPr/>
          </p:nvSpPr>
          <p:spPr bwMode="auto">
            <a:xfrm>
              <a:off x="433" y="1511"/>
              <a:ext cx="166" cy="11"/>
            </a:xfrm>
            <a:custGeom>
              <a:avLst/>
              <a:gdLst>
                <a:gd name="T0" fmla="*/ 166 w 166"/>
                <a:gd name="T1" fmla="*/ 0 h 11"/>
                <a:gd name="T2" fmla="*/ 164 w 166"/>
                <a:gd name="T3" fmla="*/ 1 h 11"/>
                <a:gd name="T4" fmla="*/ 156 w 166"/>
                <a:gd name="T5" fmla="*/ 3 h 11"/>
                <a:gd name="T6" fmla="*/ 145 w 166"/>
                <a:gd name="T7" fmla="*/ 5 h 11"/>
                <a:gd name="T8" fmla="*/ 128 w 166"/>
                <a:gd name="T9" fmla="*/ 6 h 11"/>
                <a:gd name="T10" fmla="*/ 108 w 166"/>
                <a:gd name="T11" fmla="*/ 7 h 11"/>
                <a:gd name="T12" fmla="*/ 84 w 166"/>
                <a:gd name="T13" fmla="*/ 8 h 11"/>
                <a:gd name="T14" fmla="*/ 57 w 166"/>
                <a:gd name="T15" fmla="*/ 10 h 11"/>
                <a:gd name="T16" fmla="*/ 30 w 166"/>
                <a:gd name="T17" fmla="*/ 10 h 11"/>
                <a:gd name="T18" fmla="*/ 0 w 166"/>
                <a:gd name="T19" fmla="*/ 11 h 11"/>
                <a:gd name="T20" fmla="*/ 0 w 166"/>
                <a:gd name="T21" fmla="*/ 10 h 11"/>
                <a:gd name="T22" fmla="*/ 28 w 166"/>
                <a:gd name="T23" fmla="*/ 10 h 11"/>
                <a:gd name="T24" fmla="*/ 55 w 166"/>
                <a:gd name="T25" fmla="*/ 10 h 11"/>
                <a:gd name="T26" fmla="*/ 80 w 166"/>
                <a:gd name="T27" fmla="*/ 8 h 11"/>
                <a:gd name="T28" fmla="*/ 103 w 166"/>
                <a:gd name="T29" fmla="*/ 7 h 11"/>
                <a:gd name="T30" fmla="*/ 122 w 166"/>
                <a:gd name="T31" fmla="*/ 6 h 11"/>
                <a:gd name="T32" fmla="*/ 138 w 166"/>
                <a:gd name="T33" fmla="*/ 5 h 11"/>
                <a:gd name="T34" fmla="*/ 150 w 166"/>
                <a:gd name="T35" fmla="*/ 2 h 11"/>
                <a:gd name="T36" fmla="*/ 157 w 166"/>
                <a:gd name="T37" fmla="*/ 1 h 11"/>
                <a:gd name="T38" fmla="*/ 159 w 166"/>
                <a:gd name="T39" fmla="*/ 0 h 11"/>
                <a:gd name="T40" fmla="*/ 166 w 166"/>
                <a:gd name="T41" fmla="*/ 0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6" h="11">
                  <a:moveTo>
                    <a:pt x="166" y="0"/>
                  </a:moveTo>
                  <a:lnTo>
                    <a:pt x="164" y="1"/>
                  </a:lnTo>
                  <a:lnTo>
                    <a:pt x="156" y="3"/>
                  </a:lnTo>
                  <a:lnTo>
                    <a:pt x="145" y="5"/>
                  </a:lnTo>
                  <a:lnTo>
                    <a:pt x="128" y="6"/>
                  </a:lnTo>
                  <a:lnTo>
                    <a:pt x="108" y="7"/>
                  </a:lnTo>
                  <a:lnTo>
                    <a:pt x="84" y="8"/>
                  </a:lnTo>
                  <a:lnTo>
                    <a:pt x="57" y="10"/>
                  </a:lnTo>
                  <a:lnTo>
                    <a:pt x="30" y="10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28" y="10"/>
                  </a:lnTo>
                  <a:lnTo>
                    <a:pt x="55" y="10"/>
                  </a:lnTo>
                  <a:lnTo>
                    <a:pt x="80" y="8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8" name="Freeform 762"/>
            <p:cNvSpPr/>
            <p:nvPr/>
          </p:nvSpPr>
          <p:spPr bwMode="auto">
            <a:xfrm>
              <a:off x="433" y="1511"/>
              <a:ext cx="159" cy="10"/>
            </a:xfrm>
            <a:custGeom>
              <a:avLst/>
              <a:gdLst>
                <a:gd name="T0" fmla="*/ 0 w 159"/>
                <a:gd name="T1" fmla="*/ 10 h 10"/>
                <a:gd name="T2" fmla="*/ 28 w 159"/>
                <a:gd name="T3" fmla="*/ 10 h 10"/>
                <a:gd name="T4" fmla="*/ 55 w 159"/>
                <a:gd name="T5" fmla="*/ 10 h 10"/>
                <a:gd name="T6" fmla="*/ 80 w 159"/>
                <a:gd name="T7" fmla="*/ 8 h 10"/>
                <a:gd name="T8" fmla="*/ 103 w 159"/>
                <a:gd name="T9" fmla="*/ 7 h 10"/>
                <a:gd name="T10" fmla="*/ 122 w 159"/>
                <a:gd name="T11" fmla="*/ 6 h 10"/>
                <a:gd name="T12" fmla="*/ 138 w 159"/>
                <a:gd name="T13" fmla="*/ 5 h 10"/>
                <a:gd name="T14" fmla="*/ 150 w 159"/>
                <a:gd name="T15" fmla="*/ 2 h 10"/>
                <a:gd name="T16" fmla="*/ 157 w 159"/>
                <a:gd name="T17" fmla="*/ 1 h 10"/>
                <a:gd name="T18" fmla="*/ 159 w 159"/>
                <a:gd name="T19" fmla="*/ 0 h 10"/>
                <a:gd name="T20" fmla="*/ 151 w 159"/>
                <a:gd name="T21" fmla="*/ 0 h 10"/>
                <a:gd name="T22" fmla="*/ 149 w 159"/>
                <a:gd name="T23" fmla="*/ 1 h 10"/>
                <a:gd name="T24" fmla="*/ 142 w 159"/>
                <a:gd name="T25" fmla="*/ 2 h 10"/>
                <a:gd name="T26" fmla="*/ 131 w 159"/>
                <a:gd name="T27" fmla="*/ 5 h 10"/>
                <a:gd name="T28" fmla="*/ 116 w 159"/>
                <a:gd name="T29" fmla="*/ 6 h 10"/>
                <a:gd name="T30" fmla="*/ 98 w 159"/>
                <a:gd name="T31" fmla="*/ 7 h 10"/>
                <a:gd name="T32" fmla="*/ 76 w 159"/>
                <a:gd name="T33" fmla="*/ 8 h 10"/>
                <a:gd name="T34" fmla="*/ 52 w 159"/>
                <a:gd name="T35" fmla="*/ 8 h 10"/>
                <a:gd name="T36" fmla="*/ 27 w 159"/>
                <a:gd name="T37" fmla="*/ 10 h 10"/>
                <a:gd name="T38" fmla="*/ 0 w 159"/>
                <a:gd name="T39" fmla="*/ 10 h 10"/>
                <a:gd name="T40" fmla="*/ 0 w 159"/>
                <a:gd name="T41" fmla="*/ 1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9" h="10">
                  <a:moveTo>
                    <a:pt x="0" y="10"/>
                  </a:moveTo>
                  <a:lnTo>
                    <a:pt x="28" y="10"/>
                  </a:lnTo>
                  <a:lnTo>
                    <a:pt x="55" y="10"/>
                  </a:lnTo>
                  <a:lnTo>
                    <a:pt x="80" y="8"/>
                  </a:lnTo>
                  <a:lnTo>
                    <a:pt x="103" y="7"/>
                  </a:lnTo>
                  <a:lnTo>
                    <a:pt x="122" y="6"/>
                  </a:lnTo>
                  <a:lnTo>
                    <a:pt x="138" y="5"/>
                  </a:lnTo>
                  <a:lnTo>
                    <a:pt x="150" y="2"/>
                  </a:lnTo>
                  <a:lnTo>
                    <a:pt x="157" y="1"/>
                  </a:lnTo>
                  <a:lnTo>
                    <a:pt x="159" y="0"/>
                  </a:lnTo>
                  <a:lnTo>
                    <a:pt x="151" y="0"/>
                  </a:ln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8"/>
                  </a:lnTo>
                  <a:lnTo>
                    <a:pt x="52" y="8"/>
                  </a:lnTo>
                  <a:lnTo>
                    <a:pt x="27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099" name="Freeform 763"/>
            <p:cNvSpPr/>
            <p:nvPr/>
          </p:nvSpPr>
          <p:spPr bwMode="auto">
            <a:xfrm>
              <a:off x="433" y="1511"/>
              <a:ext cx="151" cy="10"/>
            </a:xfrm>
            <a:custGeom>
              <a:avLst/>
              <a:gdLst>
                <a:gd name="T0" fmla="*/ 151 w 151"/>
                <a:gd name="T1" fmla="*/ 0 h 10"/>
                <a:gd name="T2" fmla="*/ 149 w 151"/>
                <a:gd name="T3" fmla="*/ 1 h 10"/>
                <a:gd name="T4" fmla="*/ 142 w 151"/>
                <a:gd name="T5" fmla="*/ 2 h 10"/>
                <a:gd name="T6" fmla="*/ 131 w 151"/>
                <a:gd name="T7" fmla="*/ 5 h 10"/>
                <a:gd name="T8" fmla="*/ 116 w 151"/>
                <a:gd name="T9" fmla="*/ 6 h 10"/>
                <a:gd name="T10" fmla="*/ 98 w 151"/>
                <a:gd name="T11" fmla="*/ 7 h 10"/>
                <a:gd name="T12" fmla="*/ 76 w 151"/>
                <a:gd name="T13" fmla="*/ 8 h 10"/>
                <a:gd name="T14" fmla="*/ 52 w 151"/>
                <a:gd name="T15" fmla="*/ 8 h 10"/>
                <a:gd name="T16" fmla="*/ 27 w 151"/>
                <a:gd name="T17" fmla="*/ 10 h 10"/>
                <a:gd name="T18" fmla="*/ 0 w 151"/>
                <a:gd name="T19" fmla="*/ 10 h 10"/>
                <a:gd name="T20" fmla="*/ 0 w 151"/>
                <a:gd name="T21" fmla="*/ 8 h 10"/>
                <a:gd name="T22" fmla="*/ 26 w 151"/>
                <a:gd name="T23" fmla="*/ 8 h 10"/>
                <a:gd name="T24" fmla="*/ 50 w 151"/>
                <a:gd name="T25" fmla="*/ 8 h 10"/>
                <a:gd name="T26" fmla="*/ 71 w 151"/>
                <a:gd name="T27" fmla="*/ 7 h 10"/>
                <a:gd name="T28" fmla="*/ 92 w 151"/>
                <a:gd name="T29" fmla="*/ 6 h 10"/>
                <a:gd name="T30" fmla="*/ 109 w 151"/>
                <a:gd name="T31" fmla="*/ 6 h 10"/>
                <a:gd name="T32" fmla="*/ 125 w 151"/>
                <a:gd name="T33" fmla="*/ 3 h 10"/>
                <a:gd name="T34" fmla="*/ 135 w 151"/>
                <a:gd name="T35" fmla="*/ 2 h 10"/>
                <a:gd name="T36" fmla="*/ 141 w 151"/>
                <a:gd name="T37" fmla="*/ 1 h 10"/>
                <a:gd name="T38" fmla="*/ 144 w 151"/>
                <a:gd name="T39" fmla="*/ 0 h 10"/>
                <a:gd name="T40" fmla="*/ 151 w 151"/>
                <a:gd name="T41" fmla="*/ 0 h 1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51" h="10">
                  <a:moveTo>
                    <a:pt x="151" y="0"/>
                  </a:moveTo>
                  <a:lnTo>
                    <a:pt x="149" y="1"/>
                  </a:lnTo>
                  <a:lnTo>
                    <a:pt x="142" y="2"/>
                  </a:lnTo>
                  <a:lnTo>
                    <a:pt x="131" y="5"/>
                  </a:lnTo>
                  <a:lnTo>
                    <a:pt x="116" y="6"/>
                  </a:lnTo>
                  <a:lnTo>
                    <a:pt x="98" y="7"/>
                  </a:lnTo>
                  <a:lnTo>
                    <a:pt x="76" y="8"/>
                  </a:lnTo>
                  <a:lnTo>
                    <a:pt x="52" y="8"/>
                  </a:lnTo>
                  <a:lnTo>
                    <a:pt x="27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26" y="8"/>
                  </a:lnTo>
                  <a:lnTo>
                    <a:pt x="50" y="8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3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0" name="Freeform 764"/>
            <p:cNvSpPr/>
            <p:nvPr/>
          </p:nvSpPr>
          <p:spPr bwMode="auto">
            <a:xfrm>
              <a:off x="433" y="1511"/>
              <a:ext cx="144" cy="8"/>
            </a:xfrm>
            <a:custGeom>
              <a:avLst/>
              <a:gdLst>
                <a:gd name="T0" fmla="*/ 0 w 144"/>
                <a:gd name="T1" fmla="*/ 8 h 8"/>
                <a:gd name="T2" fmla="*/ 26 w 144"/>
                <a:gd name="T3" fmla="*/ 8 h 8"/>
                <a:gd name="T4" fmla="*/ 50 w 144"/>
                <a:gd name="T5" fmla="*/ 8 h 8"/>
                <a:gd name="T6" fmla="*/ 71 w 144"/>
                <a:gd name="T7" fmla="*/ 7 h 8"/>
                <a:gd name="T8" fmla="*/ 92 w 144"/>
                <a:gd name="T9" fmla="*/ 6 h 8"/>
                <a:gd name="T10" fmla="*/ 109 w 144"/>
                <a:gd name="T11" fmla="*/ 6 h 8"/>
                <a:gd name="T12" fmla="*/ 125 w 144"/>
                <a:gd name="T13" fmla="*/ 3 h 8"/>
                <a:gd name="T14" fmla="*/ 135 w 144"/>
                <a:gd name="T15" fmla="*/ 2 h 8"/>
                <a:gd name="T16" fmla="*/ 141 w 144"/>
                <a:gd name="T17" fmla="*/ 1 h 8"/>
                <a:gd name="T18" fmla="*/ 144 w 144"/>
                <a:gd name="T19" fmla="*/ 0 h 8"/>
                <a:gd name="T20" fmla="*/ 133 w 144"/>
                <a:gd name="T21" fmla="*/ 0 h 8"/>
                <a:gd name="T22" fmla="*/ 132 w 144"/>
                <a:gd name="T23" fmla="*/ 1 h 8"/>
                <a:gd name="T24" fmla="*/ 126 w 144"/>
                <a:gd name="T25" fmla="*/ 2 h 8"/>
                <a:gd name="T26" fmla="*/ 116 w 144"/>
                <a:gd name="T27" fmla="*/ 3 h 8"/>
                <a:gd name="T28" fmla="*/ 103 w 144"/>
                <a:gd name="T29" fmla="*/ 5 h 8"/>
                <a:gd name="T30" fmla="*/ 87 w 144"/>
                <a:gd name="T31" fmla="*/ 6 h 8"/>
                <a:gd name="T32" fmla="*/ 68 w 144"/>
                <a:gd name="T33" fmla="*/ 7 h 8"/>
                <a:gd name="T34" fmla="*/ 46 w 144"/>
                <a:gd name="T35" fmla="*/ 7 h 8"/>
                <a:gd name="T36" fmla="*/ 24 w 144"/>
                <a:gd name="T37" fmla="*/ 8 h 8"/>
                <a:gd name="T38" fmla="*/ 0 w 144"/>
                <a:gd name="T39" fmla="*/ 8 h 8"/>
                <a:gd name="T40" fmla="*/ 0 w 144"/>
                <a:gd name="T41" fmla="*/ 8 h 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44" h="8">
                  <a:moveTo>
                    <a:pt x="0" y="8"/>
                  </a:moveTo>
                  <a:lnTo>
                    <a:pt x="26" y="8"/>
                  </a:lnTo>
                  <a:lnTo>
                    <a:pt x="50" y="8"/>
                  </a:lnTo>
                  <a:lnTo>
                    <a:pt x="71" y="7"/>
                  </a:lnTo>
                  <a:lnTo>
                    <a:pt x="92" y="6"/>
                  </a:lnTo>
                  <a:lnTo>
                    <a:pt x="109" y="6"/>
                  </a:lnTo>
                  <a:lnTo>
                    <a:pt x="125" y="3"/>
                  </a:lnTo>
                  <a:lnTo>
                    <a:pt x="135" y="2"/>
                  </a:lnTo>
                  <a:lnTo>
                    <a:pt x="141" y="1"/>
                  </a:lnTo>
                  <a:lnTo>
                    <a:pt x="144" y="0"/>
                  </a:lnTo>
                  <a:lnTo>
                    <a:pt x="133" y="0"/>
                  </a:lnTo>
                  <a:lnTo>
                    <a:pt x="132" y="1"/>
                  </a:lnTo>
                  <a:lnTo>
                    <a:pt x="126" y="2"/>
                  </a:lnTo>
                  <a:lnTo>
                    <a:pt x="116" y="3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4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1" name="Freeform 765"/>
            <p:cNvSpPr/>
            <p:nvPr/>
          </p:nvSpPr>
          <p:spPr bwMode="auto">
            <a:xfrm>
              <a:off x="433" y="1511"/>
              <a:ext cx="133" cy="8"/>
            </a:xfrm>
            <a:custGeom>
              <a:avLst/>
              <a:gdLst>
                <a:gd name="T0" fmla="*/ 133 w 133"/>
                <a:gd name="T1" fmla="*/ 0 h 8"/>
                <a:gd name="T2" fmla="*/ 132 w 133"/>
                <a:gd name="T3" fmla="*/ 1 h 8"/>
                <a:gd name="T4" fmla="*/ 126 w 133"/>
                <a:gd name="T5" fmla="*/ 2 h 8"/>
                <a:gd name="T6" fmla="*/ 116 w 133"/>
                <a:gd name="T7" fmla="*/ 3 h 8"/>
                <a:gd name="T8" fmla="*/ 103 w 133"/>
                <a:gd name="T9" fmla="*/ 5 h 8"/>
                <a:gd name="T10" fmla="*/ 87 w 133"/>
                <a:gd name="T11" fmla="*/ 6 h 8"/>
                <a:gd name="T12" fmla="*/ 68 w 133"/>
                <a:gd name="T13" fmla="*/ 7 h 8"/>
                <a:gd name="T14" fmla="*/ 46 w 133"/>
                <a:gd name="T15" fmla="*/ 7 h 8"/>
                <a:gd name="T16" fmla="*/ 24 w 133"/>
                <a:gd name="T17" fmla="*/ 8 h 8"/>
                <a:gd name="T18" fmla="*/ 0 w 133"/>
                <a:gd name="T19" fmla="*/ 8 h 8"/>
                <a:gd name="T20" fmla="*/ 0 w 133"/>
                <a:gd name="T21" fmla="*/ 7 h 8"/>
                <a:gd name="T22" fmla="*/ 24 w 133"/>
                <a:gd name="T23" fmla="*/ 7 h 8"/>
                <a:gd name="T24" fmla="*/ 49 w 133"/>
                <a:gd name="T25" fmla="*/ 7 h 8"/>
                <a:gd name="T26" fmla="*/ 70 w 133"/>
                <a:gd name="T27" fmla="*/ 6 h 8"/>
                <a:gd name="T28" fmla="*/ 88 w 133"/>
                <a:gd name="T29" fmla="*/ 5 h 8"/>
                <a:gd name="T30" fmla="*/ 104 w 133"/>
                <a:gd name="T31" fmla="*/ 3 h 8"/>
                <a:gd name="T32" fmla="*/ 116 w 133"/>
                <a:gd name="T33" fmla="*/ 2 h 8"/>
                <a:gd name="T34" fmla="*/ 122 w 133"/>
                <a:gd name="T35" fmla="*/ 1 h 8"/>
                <a:gd name="T36" fmla="*/ 125 w 133"/>
                <a:gd name="T37" fmla="*/ 0 h 8"/>
                <a:gd name="T38" fmla="*/ 133 w 133"/>
                <a:gd name="T39" fmla="*/ 0 h 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3" h="8">
                  <a:moveTo>
                    <a:pt x="133" y="0"/>
                  </a:moveTo>
                  <a:lnTo>
                    <a:pt x="132" y="1"/>
                  </a:lnTo>
                  <a:lnTo>
                    <a:pt x="126" y="2"/>
                  </a:lnTo>
                  <a:lnTo>
                    <a:pt x="116" y="3"/>
                  </a:lnTo>
                  <a:lnTo>
                    <a:pt x="103" y="5"/>
                  </a:lnTo>
                  <a:lnTo>
                    <a:pt x="87" y="6"/>
                  </a:lnTo>
                  <a:lnTo>
                    <a:pt x="68" y="7"/>
                  </a:lnTo>
                  <a:lnTo>
                    <a:pt x="46" y="7"/>
                  </a:lnTo>
                  <a:lnTo>
                    <a:pt x="24" y="8"/>
                  </a:lnTo>
                  <a:lnTo>
                    <a:pt x="0" y="8"/>
                  </a:lnTo>
                  <a:lnTo>
                    <a:pt x="0" y="7"/>
                  </a:lnTo>
                  <a:lnTo>
                    <a:pt x="24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3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2" name="Freeform 766"/>
            <p:cNvSpPr/>
            <p:nvPr/>
          </p:nvSpPr>
          <p:spPr bwMode="auto">
            <a:xfrm>
              <a:off x="433" y="1511"/>
              <a:ext cx="125" cy="7"/>
            </a:xfrm>
            <a:custGeom>
              <a:avLst/>
              <a:gdLst>
                <a:gd name="T0" fmla="*/ 0 w 125"/>
                <a:gd name="T1" fmla="*/ 7 h 7"/>
                <a:gd name="T2" fmla="*/ 24 w 125"/>
                <a:gd name="T3" fmla="*/ 7 h 7"/>
                <a:gd name="T4" fmla="*/ 49 w 125"/>
                <a:gd name="T5" fmla="*/ 7 h 7"/>
                <a:gd name="T6" fmla="*/ 70 w 125"/>
                <a:gd name="T7" fmla="*/ 6 h 7"/>
                <a:gd name="T8" fmla="*/ 88 w 125"/>
                <a:gd name="T9" fmla="*/ 5 h 7"/>
                <a:gd name="T10" fmla="*/ 104 w 125"/>
                <a:gd name="T11" fmla="*/ 3 h 7"/>
                <a:gd name="T12" fmla="*/ 116 w 125"/>
                <a:gd name="T13" fmla="*/ 2 h 7"/>
                <a:gd name="T14" fmla="*/ 122 w 125"/>
                <a:gd name="T15" fmla="*/ 1 h 7"/>
                <a:gd name="T16" fmla="*/ 125 w 125"/>
                <a:gd name="T17" fmla="*/ 0 h 7"/>
                <a:gd name="T18" fmla="*/ 114 w 125"/>
                <a:gd name="T19" fmla="*/ 0 h 7"/>
                <a:gd name="T20" fmla="*/ 112 w 125"/>
                <a:gd name="T21" fmla="*/ 1 h 7"/>
                <a:gd name="T22" fmla="*/ 106 w 125"/>
                <a:gd name="T23" fmla="*/ 2 h 7"/>
                <a:gd name="T24" fmla="*/ 95 w 125"/>
                <a:gd name="T25" fmla="*/ 3 h 7"/>
                <a:gd name="T26" fmla="*/ 81 w 125"/>
                <a:gd name="T27" fmla="*/ 5 h 7"/>
                <a:gd name="T28" fmla="*/ 64 w 125"/>
                <a:gd name="T29" fmla="*/ 6 h 7"/>
                <a:gd name="T30" fmla="*/ 45 w 125"/>
                <a:gd name="T31" fmla="*/ 6 h 7"/>
                <a:gd name="T32" fmla="*/ 23 w 125"/>
                <a:gd name="T33" fmla="*/ 7 h 7"/>
                <a:gd name="T34" fmla="*/ 0 w 125"/>
                <a:gd name="T35" fmla="*/ 7 h 7"/>
                <a:gd name="T36" fmla="*/ 0 w 125"/>
                <a:gd name="T37" fmla="*/ 7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5" h="7">
                  <a:moveTo>
                    <a:pt x="0" y="7"/>
                  </a:moveTo>
                  <a:lnTo>
                    <a:pt x="24" y="7"/>
                  </a:lnTo>
                  <a:lnTo>
                    <a:pt x="49" y="7"/>
                  </a:lnTo>
                  <a:lnTo>
                    <a:pt x="70" y="6"/>
                  </a:lnTo>
                  <a:lnTo>
                    <a:pt x="88" y="5"/>
                  </a:lnTo>
                  <a:lnTo>
                    <a:pt x="104" y="3"/>
                  </a:lnTo>
                  <a:lnTo>
                    <a:pt x="116" y="2"/>
                  </a:lnTo>
                  <a:lnTo>
                    <a:pt x="122" y="1"/>
                  </a:lnTo>
                  <a:lnTo>
                    <a:pt x="125" y="0"/>
                  </a:lnTo>
                  <a:lnTo>
                    <a:pt x="114" y="0"/>
                  </a:lnTo>
                  <a:lnTo>
                    <a:pt x="112" y="1"/>
                  </a:lnTo>
                  <a:lnTo>
                    <a:pt x="106" y="2"/>
                  </a:lnTo>
                  <a:lnTo>
                    <a:pt x="95" y="3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3" name="Freeform 767"/>
            <p:cNvSpPr/>
            <p:nvPr/>
          </p:nvSpPr>
          <p:spPr bwMode="auto">
            <a:xfrm>
              <a:off x="433" y="1511"/>
              <a:ext cx="114" cy="7"/>
            </a:xfrm>
            <a:custGeom>
              <a:avLst/>
              <a:gdLst>
                <a:gd name="T0" fmla="*/ 114 w 114"/>
                <a:gd name="T1" fmla="*/ 0 h 7"/>
                <a:gd name="T2" fmla="*/ 112 w 114"/>
                <a:gd name="T3" fmla="*/ 1 h 7"/>
                <a:gd name="T4" fmla="*/ 106 w 114"/>
                <a:gd name="T5" fmla="*/ 2 h 7"/>
                <a:gd name="T6" fmla="*/ 95 w 114"/>
                <a:gd name="T7" fmla="*/ 3 h 7"/>
                <a:gd name="T8" fmla="*/ 81 w 114"/>
                <a:gd name="T9" fmla="*/ 5 h 7"/>
                <a:gd name="T10" fmla="*/ 64 w 114"/>
                <a:gd name="T11" fmla="*/ 6 h 7"/>
                <a:gd name="T12" fmla="*/ 45 w 114"/>
                <a:gd name="T13" fmla="*/ 6 h 7"/>
                <a:gd name="T14" fmla="*/ 23 w 114"/>
                <a:gd name="T15" fmla="*/ 7 h 7"/>
                <a:gd name="T16" fmla="*/ 0 w 114"/>
                <a:gd name="T17" fmla="*/ 7 h 7"/>
                <a:gd name="T18" fmla="*/ 0 w 114"/>
                <a:gd name="T19" fmla="*/ 6 h 7"/>
                <a:gd name="T20" fmla="*/ 21 w 114"/>
                <a:gd name="T21" fmla="*/ 6 h 7"/>
                <a:gd name="T22" fmla="*/ 40 w 114"/>
                <a:gd name="T23" fmla="*/ 6 h 7"/>
                <a:gd name="T24" fmla="*/ 57 w 114"/>
                <a:gd name="T25" fmla="*/ 5 h 7"/>
                <a:gd name="T26" fmla="*/ 74 w 114"/>
                <a:gd name="T27" fmla="*/ 3 h 7"/>
                <a:gd name="T28" fmla="*/ 87 w 114"/>
                <a:gd name="T29" fmla="*/ 3 h 7"/>
                <a:gd name="T30" fmla="*/ 95 w 114"/>
                <a:gd name="T31" fmla="*/ 2 h 7"/>
                <a:gd name="T32" fmla="*/ 102 w 114"/>
                <a:gd name="T33" fmla="*/ 1 h 7"/>
                <a:gd name="T34" fmla="*/ 103 w 114"/>
                <a:gd name="T35" fmla="*/ 0 h 7"/>
                <a:gd name="T36" fmla="*/ 114 w 114"/>
                <a:gd name="T37" fmla="*/ 0 h 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4" h="7">
                  <a:moveTo>
                    <a:pt x="114" y="0"/>
                  </a:moveTo>
                  <a:lnTo>
                    <a:pt x="112" y="1"/>
                  </a:lnTo>
                  <a:lnTo>
                    <a:pt x="106" y="2"/>
                  </a:lnTo>
                  <a:lnTo>
                    <a:pt x="95" y="3"/>
                  </a:lnTo>
                  <a:lnTo>
                    <a:pt x="81" y="5"/>
                  </a:lnTo>
                  <a:lnTo>
                    <a:pt x="64" y="6"/>
                  </a:lnTo>
                  <a:lnTo>
                    <a:pt x="45" y="6"/>
                  </a:lnTo>
                  <a:lnTo>
                    <a:pt x="23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3"/>
                  </a:lnTo>
                  <a:lnTo>
                    <a:pt x="87" y="3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4" name="Freeform 768"/>
            <p:cNvSpPr/>
            <p:nvPr/>
          </p:nvSpPr>
          <p:spPr bwMode="auto">
            <a:xfrm>
              <a:off x="433" y="1511"/>
              <a:ext cx="103" cy="6"/>
            </a:xfrm>
            <a:custGeom>
              <a:avLst/>
              <a:gdLst>
                <a:gd name="T0" fmla="*/ 0 w 103"/>
                <a:gd name="T1" fmla="*/ 6 h 6"/>
                <a:gd name="T2" fmla="*/ 21 w 103"/>
                <a:gd name="T3" fmla="*/ 6 h 6"/>
                <a:gd name="T4" fmla="*/ 40 w 103"/>
                <a:gd name="T5" fmla="*/ 6 h 6"/>
                <a:gd name="T6" fmla="*/ 57 w 103"/>
                <a:gd name="T7" fmla="*/ 5 h 6"/>
                <a:gd name="T8" fmla="*/ 74 w 103"/>
                <a:gd name="T9" fmla="*/ 3 h 6"/>
                <a:gd name="T10" fmla="*/ 87 w 103"/>
                <a:gd name="T11" fmla="*/ 3 h 6"/>
                <a:gd name="T12" fmla="*/ 95 w 103"/>
                <a:gd name="T13" fmla="*/ 2 h 6"/>
                <a:gd name="T14" fmla="*/ 102 w 103"/>
                <a:gd name="T15" fmla="*/ 1 h 6"/>
                <a:gd name="T16" fmla="*/ 103 w 103"/>
                <a:gd name="T17" fmla="*/ 0 h 6"/>
                <a:gd name="T18" fmla="*/ 92 w 103"/>
                <a:gd name="T19" fmla="*/ 0 h 6"/>
                <a:gd name="T20" fmla="*/ 90 w 103"/>
                <a:gd name="T21" fmla="*/ 1 h 6"/>
                <a:gd name="T22" fmla="*/ 83 w 103"/>
                <a:gd name="T23" fmla="*/ 2 h 6"/>
                <a:gd name="T24" fmla="*/ 73 w 103"/>
                <a:gd name="T25" fmla="*/ 3 h 6"/>
                <a:gd name="T26" fmla="*/ 57 w 103"/>
                <a:gd name="T27" fmla="*/ 3 h 6"/>
                <a:gd name="T28" fmla="*/ 41 w 103"/>
                <a:gd name="T29" fmla="*/ 5 h 6"/>
                <a:gd name="T30" fmla="*/ 21 w 103"/>
                <a:gd name="T31" fmla="*/ 5 h 6"/>
                <a:gd name="T32" fmla="*/ 0 w 103"/>
                <a:gd name="T33" fmla="*/ 6 h 6"/>
                <a:gd name="T34" fmla="*/ 0 w 103"/>
                <a:gd name="T35" fmla="*/ 6 h 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03" h="6">
                  <a:moveTo>
                    <a:pt x="0" y="6"/>
                  </a:moveTo>
                  <a:lnTo>
                    <a:pt x="21" y="6"/>
                  </a:lnTo>
                  <a:lnTo>
                    <a:pt x="40" y="6"/>
                  </a:lnTo>
                  <a:lnTo>
                    <a:pt x="57" y="5"/>
                  </a:lnTo>
                  <a:lnTo>
                    <a:pt x="74" y="3"/>
                  </a:lnTo>
                  <a:lnTo>
                    <a:pt x="87" y="3"/>
                  </a:lnTo>
                  <a:lnTo>
                    <a:pt x="95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92" y="0"/>
                  </a:lnTo>
                  <a:lnTo>
                    <a:pt x="90" y="1"/>
                  </a:lnTo>
                  <a:lnTo>
                    <a:pt x="83" y="2"/>
                  </a:lnTo>
                  <a:lnTo>
                    <a:pt x="73" y="3"/>
                  </a:lnTo>
                  <a:lnTo>
                    <a:pt x="57" y="3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5" name="Freeform 769"/>
            <p:cNvSpPr/>
            <p:nvPr/>
          </p:nvSpPr>
          <p:spPr bwMode="auto">
            <a:xfrm>
              <a:off x="433" y="1511"/>
              <a:ext cx="92" cy="6"/>
            </a:xfrm>
            <a:custGeom>
              <a:avLst/>
              <a:gdLst>
                <a:gd name="T0" fmla="*/ 92 w 92"/>
                <a:gd name="T1" fmla="*/ 0 h 6"/>
                <a:gd name="T2" fmla="*/ 90 w 92"/>
                <a:gd name="T3" fmla="*/ 1 h 6"/>
                <a:gd name="T4" fmla="*/ 83 w 92"/>
                <a:gd name="T5" fmla="*/ 2 h 6"/>
                <a:gd name="T6" fmla="*/ 73 w 92"/>
                <a:gd name="T7" fmla="*/ 3 h 6"/>
                <a:gd name="T8" fmla="*/ 57 w 92"/>
                <a:gd name="T9" fmla="*/ 3 h 6"/>
                <a:gd name="T10" fmla="*/ 41 w 92"/>
                <a:gd name="T11" fmla="*/ 5 h 6"/>
                <a:gd name="T12" fmla="*/ 21 w 92"/>
                <a:gd name="T13" fmla="*/ 5 h 6"/>
                <a:gd name="T14" fmla="*/ 0 w 92"/>
                <a:gd name="T15" fmla="*/ 6 h 6"/>
                <a:gd name="T16" fmla="*/ 0 w 92"/>
                <a:gd name="T17" fmla="*/ 5 h 6"/>
                <a:gd name="T18" fmla="*/ 18 w 92"/>
                <a:gd name="T19" fmla="*/ 5 h 6"/>
                <a:gd name="T20" fmla="*/ 35 w 92"/>
                <a:gd name="T21" fmla="*/ 3 h 6"/>
                <a:gd name="T22" fmla="*/ 50 w 92"/>
                <a:gd name="T23" fmla="*/ 3 h 6"/>
                <a:gd name="T24" fmla="*/ 62 w 92"/>
                <a:gd name="T25" fmla="*/ 2 h 6"/>
                <a:gd name="T26" fmla="*/ 71 w 92"/>
                <a:gd name="T27" fmla="*/ 1 h 6"/>
                <a:gd name="T28" fmla="*/ 78 w 92"/>
                <a:gd name="T29" fmla="*/ 0 h 6"/>
                <a:gd name="T30" fmla="*/ 80 w 92"/>
                <a:gd name="T31" fmla="*/ 0 h 6"/>
                <a:gd name="T32" fmla="*/ 92 w 92"/>
                <a:gd name="T33" fmla="*/ 0 h 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2" h="6">
                  <a:moveTo>
                    <a:pt x="92" y="0"/>
                  </a:moveTo>
                  <a:lnTo>
                    <a:pt x="90" y="1"/>
                  </a:lnTo>
                  <a:lnTo>
                    <a:pt x="83" y="2"/>
                  </a:lnTo>
                  <a:lnTo>
                    <a:pt x="73" y="3"/>
                  </a:lnTo>
                  <a:lnTo>
                    <a:pt x="57" y="3"/>
                  </a:lnTo>
                  <a:lnTo>
                    <a:pt x="41" y="5"/>
                  </a:lnTo>
                  <a:lnTo>
                    <a:pt x="2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8" y="5"/>
                  </a:lnTo>
                  <a:lnTo>
                    <a:pt x="35" y="3"/>
                  </a:lnTo>
                  <a:lnTo>
                    <a:pt x="50" y="3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6" name="Freeform 770"/>
            <p:cNvSpPr/>
            <p:nvPr/>
          </p:nvSpPr>
          <p:spPr bwMode="auto">
            <a:xfrm>
              <a:off x="433" y="1511"/>
              <a:ext cx="80" cy="5"/>
            </a:xfrm>
            <a:custGeom>
              <a:avLst/>
              <a:gdLst>
                <a:gd name="T0" fmla="*/ 0 w 80"/>
                <a:gd name="T1" fmla="*/ 5 h 5"/>
                <a:gd name="T2" fmla="*/ 18 w 80"/>
                <a:gd name="T3" fmla="*/ 5 h 5"/>
                <a:gd name="T4" fmla="*/ 35 w 80"/>
                <a:gd name="T5" fmla="*/ 3 h 5"/>
                <a:gd name="T6" fmla="*/ 50 w 80"/>
                <a:gd name="T7" fmla="*/ 3 h 5"/>
                <a:gd name="T8" fmla="*/ 62 w 80"/>
                <a:gd name="T9" fmla="*/ 2 h 5"/>
                <a:gd name="T10" fmla="*/ 71 w 80"/>
                <a:gd name="T11" fmla="*/ 1 h 5"/>
                <a:gd name="T12" fmla="*/ 78 w 80"/>
                <a:gd name="T13" fmla="*/ 0 h 5"/>
                <a:gd name="T14" fmla="*/ 80 w 80"/>
                <a:gd name="T15" fmla="*/ 0 h 5"/>
                <a:gd name="T16" fmla="*/ 66 w 80"/>
                <a:gd name="T17" fmla="*/ 0 h 5"/>
                <a:gd name="T18" fmla="*/ 64 w 80"/>
                <a:gd name="T19" fmla="*/ 0 h 5"/>
                <a:gd name="T20" fmla="*/ 57 w 80"/>
                <a:gd name="T21" fmla="*/ 1 h 5"/>
                <a:gd name="T22" fmla="*/ 47 w 80"/>
                <a:gd name="T23" fmla="*/ 2 h 5"/>
                <a:gd name="T24" fmla="*/ 33 w 80"/>
                <a:gd name="T25" fmla="*/ 3 h 5"/>
                <a:gd name="T26" fmla="*/ 18 w 80"/>
                <a:gd name="T27" fmla="*/ 3 h 5"/>
                <a:gd name="T28" fmla="*/ 0 w 80"/>
                <a:gd name="T29" fmla="*/ 3 h 5"/>
                <a:gd name="T30" fmla="*/ 0 w 80"/>
                <a:gd name="T31" fmla="*/ 5 h 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0" h="5">
                  <a:moveTo>
                    <a:pt x="0" y="5"/>
                  </a:moveTo>
                  <a:lnTo>
                    <a:pt x="18" y="5"/>
                  </a:lnTo>
                  <a:lnTo>
                    <a:pt x="35" y="3"/>
                  </a:lnTo>
                  <a:lnTo>
                    <a:pt x="50" y="3"/>
                  </a:lnTo>
                  <a:lnTo>
                    <a:pt x="62" y="2"/>
                  </a:lnTo>
                  <a:lnTo>
                    <a:pt x="71" y="1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3"/>
                  </a:lnTo>
                  <a:lnTo>
                    <a:pt x="18" y="3"/>
                  </a:lnTo>
                  <a:lnTo>
                    <a:pt x="0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7" name="Freeform 771"/>
            <p:cNvSpPr/>
            <p:nvPr/>
          </p:nvSpPr>
          <p:spPr bwMode="auto">
            <a:xfrm>
              <a:off x="433" y="1511"/>
              <a:ext cx="66" cy="3"/>
            </a:xfrm>
            <a:custGeom>
              <a:avLst/>
              <a:gdLst>
                <a:gd name="T0" fmla="*/ 66 w 66"/>
                <a:gd name="T1" fmla="*/ 0 h 3"/>
                <a:gd name="T2" fmla="*/ 64 w 66"/>
                <a:gd name="T3" fmla="*/ 0 h 3"/>
                <a:gd name="T4" fmla="*/ 57 w 66"/>
                <a:gd name="T5" fmla="*/ 1 h 3"/>
                <a:gd name="T6" fmla="*/ 47 w 66"/>
                <a:gd name="T7" fmla="*/ 2 h 3"/>
                <a:gd name="T8" fmla="*/ 33 w 66"/>
                <a:gd name="T9" fmla="*/ 3 h 3"/>
                <a:gd name="T10" fmla="*/ 18 w 66"/>
                <a:gd name="T11" fmla="*/ 3 h 3"/>
                <a:gd name="T12" fmla="*/ 0 w 66"/>
                <a:gd name="T13" fmla="*/ 3 h 3"/>
                <a:gd name="T14" fmla="*/ 0 w 66"/>
                <a:gd name="T15" fmla="*/ 2 h 3"/>
                <a:gd name="T16" fmla="*/ 17 w 66"/>
                <a:gd name="T17" fmla="*/ 2 h 3"/>
                <a:gd name="T18" fmla="*/ 31 w 66"/>
                <a:gd name="T19" fmla="*/ 2 h 3"/>
                <a:gd name="T20" fmla="*/ 42 w 66"/>
                <a:gd name="T21" fmla="*/ 1 h 3"/>
                <a:gd name="T22" fmla="*/ 50 w 66"/>
                <a:gd name="T23" fmla="*/ 0 h 3"/>
                <a:gd name="T24" fmla="*/ 52 w 66"/>
                <a:gd name="T25" fmla="*/ 0 h 3"/>
                <a:gd name="T26" fmla="*/ 66 w 66"/>
                <a:gd name="T27" fmla="*/ 0 h 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6" h="3">
                  <a:moveTo>
                    <a:pt x="66" y="0"/>
                  </a:moveTo>
                  <a:lnTo>
                    <a:pt x="64" y="0"/>
                  </a:lnTo>
                  <a:lnTo>
                    <a:pt x="57" y="1"/>
                  </a:lnTo>
                  <a:lnTo>
                    <a:pt x="47" y="2"/>
                  </a:lnTo>
                  <a:lnTo>
                    <a:pt x="33" y="3"/>
                  </a:lnTo>
                  <a:lnTo>
                    <a:pt x="18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8" name="Freeform 772"/>
            <p:cNvSpPr/>
            <p:nvPr/>
          </p:nvSpPr>
          <p:spPr bwMode="auto">
            <a:xfrm>
              <a:off x="433" y="1511"/>
              <a:ext cx="52" cy="2"/>
            </a:xfrm>
            <a:custGeom>
              <a:avLst/>
              <a:gdLst>
                <a:gd name="T0" fmla="*/ 0 w 52"/>
                <a:gd name="T1" fmla="*/ 2 h 2"/>
                <a:gd name="T2" fmla="*/ 17 w 52"/>
                <a:gd name="T3" fmla="*/ 2 h 2"/>
                <a:gd name="T4" fmla="*/ 31 w 52"/>
                <a:gd name="T5" fmla="*/ 2 h 2"/>
                <a:gd name="T6" fmla="*/ 42 w 52"/>
                <a:gd name="T7" fmla="*/ 1 h 2"/>
                <a:gd name="T8" fmla="*/ 50 w 52"/>
                <a:gd name="T9" fmla="*/ 0 h 2"/>
                <a:gd name="T10" fmla="*/ 52 w 52"/>
                <a:gd name="T11" fmla="*/ 0 h 2"/>
                <a:gd name="T12" fmla="*/ 36 w 52"/>
                <a:gd name="T13" fmla="*/ 0 h 2"/>
                <a:gd name="T14" fmla="*/ 35 w 52"/>
                <a:gd name="T15" fmla="*/ 0 h 2"/>
                <a:gd name="T16" fmla="*/ 30 w 52"/>
                <a:gd name="T17" fmla="*/ 1 h 2"/>
                <a:gd name="T18" fmla="*/ 22 w 52"/>
                <a:gd name="T19" fmla="*/ 1 h 2"/>
                <a:gd name="T20" fmla="*/ 12 w 52"/>
                <a:gd name="T21" fmla="*/ 1 h 2"/>
                <a:gd name="T22" fmla="*/ 0 w 52"/>
                <a:gd name="T23" fmla="*/ 1 h 2"/>
                <a:gd name="T24" fmla="*/ 0 w 52"/>
                <a:gd name="T25" fmla="*/ 2 h 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2">
                  <a:moveTo>
                    <a:pt x="0" y="2"/>
                  </a:moveTo>
                  <a:lnTo>
                    <a:pt x="17" y="2"/>
                  </a:lnTo>
                  <a:lnTo>
                    <a:pt x="31" y="2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6E6E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09" name="Freeform 773"/>
            <p:cNvSpPr/>
            <p:nvPr/>
          </p:nvSpPr>
          <p:spPr bwMode="auto">
            <a:xfrm>
              <a:off x="433" y="1511"/>
              <a:ext cx="36" cy="1"/>
            </a:xfrm>
            <a:custGeom>
              <a:avLst/>
              <a:gdLst>
                <a:gd name="T0" fmla="*/ 36 w 36"/>
                <a:gd name="T1" fmla="*/ 0 h 1"/>
                <a:gd name="T2" fmla="*/ 35 w 36"/>
                <a:gd name="T3" fmla="*/ 0 h 1"/>
                <a:gd name="T4" fmla="*/ 30 w 36"/>
                <a:gd name="T5" fmla="*/ 1 h 1"/>
                <a:gd name="T6" fmla="*/ 22 w 36"/>
                <a:gd name="T7" fmla="*/ 1 h 1"/>
                <a:gd name="T8" fmla="*/ 12 w 36"/>
                <a:gd name="T9" fmla="*/ 1 h 1"/>
                <a:gd name="T10" fmla="*/ 0 w 36"/>
                <a:gd name="T11" fmla="*/ 1 h 1"/>
                <a:gd name="T12" fmla="*/ 0 w 36"/>
                <a:gd name="T13" fmla="*/ 1 h 1"/>
                <a:gd name="T14" fmla="*/ 8 w 36"/>
                <a:gd name="T15" fmla="*/ 0 h 1"/>
                <a:gd name="T16" fmla="*/ 14 w 36"/>
                <a:gd name="T17" fmla="*/ 0 h 1"/>
                <a:gd name="T18" fmla="*/ 18 w 36"/>
                <a:gd name="T19" fmla="*/ 0 h 1"/>
                <a:gd name="T20" fmla="*/ 19 w 36"/>
                <a:gd name="T21" fmla="*/ 0 h 1"/>
                <a:gd name="T22" fmla="*/ 36 w 36"/>
                <a:gd name="T23" fmla="*/ 0 h 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1">
                  <a:moveTo>
                    <a:pt x="36" y="0"/>
                  </a:moveTo>
                  <a:lnTo>
                    <a:pt x="35" y="0"/>
                  </a:lnTo>
                  <a:lnTo>
                    <a:pt x="30" y="1"/>
                  </a:lnTo>
                  <a:lnTo>
                    <a:pt x="22" y="1"/>
                  </a:lnTo>
                  <a:lnTo>
                    <a:pt x="12" y="1"/>
                  </a:lnTo>
                  <a:lnTo>
                    <a:pt x="0" y="1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A6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10" name="Freeform 774"/>
            <p:cNvSpPr/>
            <p:nvPr/>
          </p:nvSpPr>
          <p:spPr bwMode="auto">
            <a:xfrm>
              <a:off x="433" y="1511"/>
              <a:ext cx="19" cy="1"/>
            </a:xfrm>
            <a:custGeom>
              <a:avLst/>
              <a:gdLst>
                <a:gd name="T0" fmla="*/ 0 w 19"/>
                <a:gd name="T1" fmla="*/ 1 h 1"/>
                <a:gd name="T2" fmla="*/ 8 w 19"/>
                <a:gd name="T3" fmla="*/ 0 h 1"/>
                <a:gd name="T4" fmla="*/ 14 w 19"/>
                <a:gd name="T5" fmla="*/ 0 h 1"/>
                <a:gd name="T6" fmla="*/ 18 w 19"/>
                <a:gd name="T7" fmla="*/ 0 h 1"/>
                <a:gd name="T8" fmla="*/ 19 w 19"/>
                <a:gd name="T9" fmla="*/ 0 h 1"/>
                <a:gd name="T10" fmla="*/ 2 w 19"/>
                <a:gd name="T11" fmla="*/ 0 h 1"/>
                <a:gd name="T12" fmla="*/ 0 w 19"/>
                <a:gd name="T13" fmla="*/ 0 h 1"/>
                <a:gd name="T14" fmla="*/ 0 w 19"/>
                <a:gd name="T15" fmla="*/ 1 h 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">
                  <a:moveTo>
                    <a:pt x="0" y="1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11" name="Freeform 775"/>
            <p:cNvSpPr/>
            <p:nvPr/>
          </p:nvSpPr>
          <p:spPr bwMode="auto">
            <a:xfrm>
              <a:off x="433" y="1511"/>
              <a:ext cx="2" cy="1"/>
            </a:xfrm>
            <a:custGeom>
              <a:avLst/>
              <a:gdLst>
                <a:gd name="T0" fmla="*/ 2 w 2"/>
                <a:gd name="T1" fmla="*/ 0 h 1"/>
                <a:gd name="T2" fmla="*/ 0 w 2"/>
                <a:gd name="T3" fmla="*/ 0 h 1"/>
                <a:gd name="T4" fmla="*/ 0 w 2"/>
                <a:gd name="T5" fmla="*/ 0 h 1"/>
                <a:gd name="T6" fmla="*/ 0 w 2"/>
                <a:gd name="T7" fmla="*/ 0 h 1"/>
                <a:gd name="T8" fmla="*/ 2 w 2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12" name="Freeform 776"/>
            <p:cNvSpPr/>
            <p:nvPr/>
          </p:nvSpPr>
          <p:spPr bwMode="auto">
            <a:xfrm>
              <a:off x="707" y="1480"/>
              <a:ext cx="48" cy="179"/>
            </a:xfrm>
            <a:custGeom>
              <a:avLst/>
              <a:gdLst>
                <a:gd name="T0" fmla="*/ 0 w 48"/>
                <a:gd name="T1" fmla="*/ 48 h 179"/>
                <a:gd name="T2" fmla="*/ 48 w 48"/>
                <a:gd name="T3" fmla="*/ 0 h 179"/>
                <a:gd name="T4" fmla="*/ 48 w 48"/>
                <a:gd name="T5" fmla="*/ 131 h 179"/>
                <a:gd name="T6" fmla="*/ 0 w 48"/>
                <a:gd name="T7" fmla="*/ 179 h 179"/>
                <a:gd name="T8" fmla="*/ 0 w 48"/>
                <a:gd name="T9" fmla="*/ 48 h 1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79">
                  <a:moveTo>
                    <a:pt x="0" y="48"/>
                  </a:moveTo>
                  <a:lnTo>
                    <a:pt x="48" y="0"/>
                  </a:lnTo>
                  <a:lnTo>
                    <a:pt x="48" y="131"/>
                  </a:lnTo>
                  <a:lnTo>
                    <a:pt x="0" y="179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13" name="Rectangle 777"/>
            <p:cNvSpPr>
              <a:spLocks noChangeArrowheads="1"/>
            </p:cNvSpPr>
            <p:nvPr/>
          </p:nvSpPr>
          <p:spPr bwMode="auto">
            <a:xfrm>
              <a:off x="327" y="1528"/>
              <a:ext cx="380" cy="104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114" name="Freeform 778"/>
            <p:cNvSpPr/>
            <p:nvPr/>
          </p:nvSpPr>
          <p:spPr bwMode="auto">
            <a:xfrm>
              <a:off x="446" y="1528"/>
              <a:ext cx="5" cy="104"/>
            </a:xfrm>
            <a:custGeom>
              <a:avLst/>
              <a:gdLst>
                <a:gd name="T0" fmla="*/ 5 w 5"/>
                <a:gd name="T1" fmla="*/ 0 h 104"/>
                <a:gd name="T2" fmla="*/ 1 w 5"/>
                <a:gd name="T3" fmla="*/ 26 h 104"/>
                <a:gd name="T4" fmla="*/ 0 w 5"/>
                <a:gd name="T5" fmla="*/ 52 h 104"/>
                <a:gd name="T6" fmla="*/ 1 w 5"/>
                <a:gd name="T7" fmla="*/ 78 h 104"/>
                <a:gd name="T8" fmla="*/ 5 w 5"/>
                <a:gd name="T9" fmla="*/ 10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04">
                  <a:moveTo>
                    <a:pt x="5" y="0"/>
                  </a:moveTo>
                  <a:lnTo>
                    <a:pt x="1" y="26"/>
                  </a:lnTo>
                  <a:lnTo>
                    <a:pt x="0" y="52"/>
                  </a:lnTo>
                  <a:lnTo>
                    <a:pt x="1" y="78"/>
                  </a:lnTo>
                  <a:lnTo>
                    <a:pt x="5" y="104"/>
                  </a:lnTo>
                </a:path>
              </a:pathLst>
            </a:custGeom>
            <a:noFill/>
            <a:ln w="4763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15" name="Rectangle 779"/>
            <p:cNvSpPr>
              <a:spLocks noChangeArrowheads="1"/>
            </p:cNvSpPr>
            <p:nvPr/>
          </p:nvSpPr>
          <p:spPr bwMode="auto">
            <a:xfrm>
              <a:off x="327" y="1632"/>
              <a:ext cx="380" cy="27"/>
            </a:xfrm>
            <a:prstGeom prst="rect">
              <a:avLst/>
            </a:prstGeom>
            <a:solidFill>
              <a:srgbClr val="9A9A9A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116" name="Rectangle 780"/>
            <p:cNvSpPr>
              <a:spLocks noChangeArrowheads="1"/>
            </p:cNvSpPr>
            <p:nvPr/>
          </p:nvSpPr>
          <p:spPr bwMode="auto">
            <a:xfrm>
              <a:off x="620" y="1560"/>
              <a:ext cx="15" cy="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117" name="Freeform 781"/>
            <p:cNvSpPr>
              <a:spLocks noEditPoints="1"/>
            </p:cNvSpPr>
            <p:nvPr/>
          </p:nvSpPr>
          <p:spPr bwMode="auto">
            <a:xfrm>
              <a:off x="464" y="1551"/>
              <a:ext cx="62" cy="6"/>
            </a:xfrm>
            <a:custGeom>
              <a:avLst/>
              <a:gdLst>
                <a:gd name="T0" fmla="*/ 0 w 62"/>
                <a:gd name="T1" fmla="*/ 6 h 6"/>
                <a:gd name="T2" fmla="*/ 18 w 62"/>
                <a:gd name="T3" fmla="*/ 6 h 6"/>
                <a:gd name="T4" fmla="*/ 18 w 62"/>
                <a:gd name="T5" fmla="*/ 0 h 6"/>
                <a:gd name="T6" fmla="*/ 0 w 62"/>
                <a:gd name="T7" fmla="*/ 0 h 6"/>
                <a:gd name="T8" fmla="*/ 0 w 62"/>
                <a:gd name="T9" fmla="*/ 6 h 6"/>
                <a:gd name="T10" fmla="*/ 26 w 62"/>
                <a:gd name="T11" fmla="*/ 6 h 6"/>
                <a:gd name="T12" fmla="*/ 35 w 62"/>
                <a:gd name="T13" fmla="*/ 6 h 6"/>
                <a:gd name="T14" fmla="*/ 35 w 62"/>
                <a:gd name="T15" fmla="*/ 0 h 6"/>
                <a:gd name="T16" fmla="*/ 26 w 62"/>
                <a:gd name="T17" fmla="*/ 0 h 6"/>
                <a:gd name="T18" fmla="*/ 26 w 62"/>
                <a:gd name="T19" fmla="*/ 6 h 6"/>
                <a:gd name="T20" fmla="*/ 44 w 62"/>
                <a:gd name="T21" fmla="*/ 6 h 6"/>
                <a:gd name="T22" fmla="*/ 62 w 62"/>
                <a:gd name="T23" fmla="*/ 6 h 6"/>
                <a:gd name="T24" fmla="*/ 62 w 62"/>
                <a:gd name="T25" fmla="*/ 0 h 6"/>
                <a:gd name="T26" fmla="*/ 44 w 62"/>
                <a:gd name="T27" fmla="*/ 0 h 6"/>
                <a:gd name="T28" fmla="*/ 44 w 62"/>
                <a:gd name="T29" fmla="*/ 6 h 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6">
                  <a:moveTo>
                    <a:pt x="0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6"/>
                  </a:lnTo>
                  <a:close/>
                  <a:moveTo>
                    <a:pt x="26" y="6"/>
                  </a:moveTo>
                  <a:lnTo>
                    <a:pt x="35" y="6"/>
                  </a:lnTo>
                  <a:lnTo>
                    <a:pt x="35" y="0"/>
                  </a:lnTo>
                  <a:lnTo>
                    <a:pt x="26" y="0"/>
                  </a:lnTo>
                  <a:lnTo>
                    <a:pt x="26" y="6"/>
                  </a:lnTo>
                  <a:close/>
                  <a:moveTo>
                    <a:pt x="44" y="6"/>
                  </a:moveTo>
                  <a:lnTo>
                    <a:pt x="62" y="6"/>
                  </a:lnTo>
                  <a:lnTo>
                    <a:pt x="62" y="0"/>
                  </a:lnTo>
                  <a:lnTo>
                    <a:pt x="44" y="0"/>
                  </a:lnTo>
                  <a:lnTo>
                    <a:pt x="44" y="6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18" name="Freeform 782"/>
            <p:cNvSpPr>
              <a:spLocks noEditPoints="1"/>
            </p:cNvSpPr>
            <p:nvPr/>
          </p:nvSpPr>
          <p:spPr bwMode="auto">
            <a:xfrm>
              <a:off x="338" y="1538"/>
              <a:ext cx="275" cy="41"/>
            </a:xfrm>
            <a:custGeom>
              <a:avLst/>
              <a:gdLst>
                <a:gd name="T0" fmla="*/ 0 w 275"/>
                <a:gd name="T1" fmla="*/ 41 h 41"/>
                <a:gd name="T2" fmla="*/ 37 w 275"/>
                <a:gd name="T3" fmla="*/ 41 h 41"/>
                <a:gd name="T4" fmla="*/ 37 w 275"/>
                <a:gd name="T5" fmla="*/ 0 h 41"/>
                <a:gd name="T6" fmla="*/ 0 w 275"/>
                <a:gd name="T7" fmla="*/ 0 h 41"/>
                <a:gd name="T8" fmla="*/ 0 w 275"/>
                <a:gd name="T9" fmla="*/ 41 h 41"/>
                <a:gd name="T10" fmla="*/ 244 w 275"/>
                <a:gd name="T11" fmla="*/ 30 h 41"/>
                <a:gd name="T12" fmla="*/ 275 w 275"/>
                <a:gd name="T13" fmla="*/ 30 h 41"/>
                <a:gd name="T14" fmla="*/ 275 w 275"/>
                <a:gd name="T15" fmla="*/ 9 h 41"/>
                <a:gd name="T16" fmla="*/ 244 w 275"/>
                <a:gd name="T17" fmla="*/ 9 h 41"/>
                <a:gd name="T18" fmla="*/ 244 w 275"/>
                <a:gd name="T19" fmla="*/ 30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5" h="41">
                  <a:moveTo>
                    <a:pt x="0" y="41"/>
                  </a:moveTo>
                  <a:lnTo>
                    <a:pt x="37" y="41"/>
                  </a:lnTo>
                  <a:lnTo>
                    <a:pt x="37" y="0"/>
                  </a:lnTo>
                  <a:lnTo>
                    <a:pt x="0" y="0"/>
                  </a:lnTo>
                  <a:lnTo>
                    <a:pt x="0" y="41"/>
                  </a:lnTo>
                  <a:close/>
                  <a:moveTo>
                    <a:pt x="244" y="30"/>
                  </a:moveTo>
                  <a:lnTo>
                    <a:pt x="275" y="30"/>
                  </a:lnTo>
                  <a:lnTo>
                    <a:pt x="275" y="9"/>
                  </a:lnTo>
                  <a:lnTo>
                    <a:pt x="244" y="9"/>
                  </a:lnTo>
                  <a:lnTo>
                    <a:pt x="244" y="3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19" name="Freeform 783"/>
            <p:cNvSpPr>
              <a:spLocks noEditPoints="1"/>
            </p:cNvSpPr>
            <p:nvPr/>
          </p:nvSpPr>
          <p:spPr bwMode="auto">
            <a:xfrm>
              <a:off x="330" y="1533"/>
              <a:ext cx="374" cy="118"/>
            </a:xfrm>
            <a:custGeom>
              <a:avLst/>
              <a:gdLst>
                <a:gd name="T0" fmla="*/ 129 w 374"/>
                <a:gd name="T1" fmla="*/ 94 h 118"/>
                <a:gd name="T2" fmla="*/ 372 w 374"/>
                <a:gd name="T3" fmla="*/ 94 h 118"/>
                <a:gd name="T4" fmla="*/ 372 w 374"/>
                <a:gd name="T5" fmla="*/ 0 h 118"/>
                <a:gd name="T6" fmla="*/ 129 w 374"/>
                <a:gd name="T7" fmla="*/ 0 h 118"/>
                <a:gd name="T8" fmla="*/ 125 w 374"/>
                <a:gd name="T9" fmla="*/ 23 h 118"/>
                <a:gd name="T10" fmla="*/ 124 w 374"/>
                <a:gd name="T11" fmla="*/ 47 h 118"/>
                <a:gd name="T12" fmla="*/ 125 w 374"/>
                <a:gd name="T13" fmla="*/ 70 h 118"/>
                <a:gd name="T14" fmla="*/ 129 w 374"/>
                <a:gd name="T15" fmla="*/ 94 h 118"/>
                <a:gd name="T16" fmla="*/ 220 w 374"/>
                <a:gd name="T17" fmla="*/ 83 h 118"/>
                <a:gd name="T18" fmla="*/ 359 w 374"/>
                <a:gd name="T19" fmla="*/ 83 h 118"/>
                <a:gd name="T20" fmla="*/ 359 w 374"/>
                <a:gd name="T21" fmla="*/ 12 h 118"/>
                <a:gd name="T22" fmla="*/ 220 w 374"/>
                <a:gd name="T23" fmla="*/ 12 h 118"/>
                <a:gd name="T24" fmla="*/ 220 w 374"/>
                <a:gd name="T25" fmla="*/ 83 h 118"/>
                <a:gd name="T26" fmla="*/ 339 w 374"/>
                <a:gd name="T27" fmla="*/ 118 h 118"/>
                <a:gd name="T28" fmla="*/ 368 w 374"/>
                <a:gd name="T29" fmla="*/ 118 h 118"/>
                <a:gd name="T30" fmla="*/ 372 w 374"/>
                <a:gd name="T31" fmla="*/ 117 h 118"/>
                <a:gd name="T32" fmla="*/ 374 w 374"/>
                <a:gd name="T33" fmla="*/ 112 h 118"/>
                <a:gd name="T34" fmla="*/ 372 w 374"/>
                <a:gd name="T35" fmla="*/ 108 h 118"/>
                <a:gd name="T36" fmla="*/ 368 w 374"/>
                <a:gd name="T37" fmla="*/ 107 h 118"/>
                <a:gd name="T38" fmla="*/ 339 w 374"/>
                <a:gd name="T39" fmla="*/ 107 h 118"/>
                <a:gd name="T40" fmla="*/ 339 w 374"/>
                <a:gd name="T41" fmla="*/ 118 h 118"/>
                <a:gd name="T42" fmla="*/ 35 w 374"/>
                <a:gd name="T43" fmla="*/ 118 h 118"/>
                <a:gd name="T44" fmla="*/ 6 w 374"/>
                <a:gd name="T45" fmla="*/ 118 h 118"/>
                <a:gd name="T46" fmla="*/ 2 w 374"/>
                <a:gd name="T47" fmla="*/ 117 h 118"/>
                <a:gd name="T48" fmla="*/ 0 w 374"/>
                <a:gd name="T49" fmla="*/ 112 h 118"/>
                <a:gd name="T50" fmla="*/ 2 w 374"/>
                <a:gd name="T51" fmla="*/ 108 h 118"/>
                <a:gd name="T52" fmla="*/ 6 w 374"/>
                <a:gd name="T53" fmla="*/ 107 h 118"/>
                <a:gd name="T54" fmla="*/ 35 w 374"/>
                <a:gd name="T55" fmla="*/ 107 h 118"/>
                <a:gd name="T56" fmla="*/ 35 w 374"/>
                <a:gd name="T57" fmla="*/ 118 h 118"/>
                <a:gd name="T58" fmla="*/ 134 w 374"/>
                <a:gd name="T59" fmla="*/ 24 h 118"/>
                <a:gd name="T60" fmla="*/ 196 w 374"/>
                <a:gd name="T61" fmla="*/ 24 h 118"/>
                <a:gd name="T62" fmla="*/ 196 w 374"/>
                <a:gd name="T63" fmla="*/ 18 h 118"/>
                <a:gd name="T64" fmla="*/ 134 w 374"/>
                <a:gd name="T65" fmla="*/ 18 h 118"/>
                <a:gd name="T66" fmla="*/ 134 w 374"/>
                <a:gd name="T67" fmla="*/ 24 h 11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74" h="118">
                  <a:moveTo>
                    <a:pt x="129" y="94"/>
                  </a:moveTo>
                  <a:lnTo>
                    <a:pt x="372" y="94"/>
                  </a:lnTo>
                  <a:lnTo>
                    <a:pt x="372" y="0"/>
                  </a:lnTo>
                  <a:lnTo>
                    <a:pt x="129" y="0"/>
                  </a:lnTo>
                  <a:lnTo>
                    <a:pt x="125" y="23"/>
                  </a:lnTo>
                  <a:lnTo>
                    <a:pt x="124" y="47"/>
                  </a:lnTo>
                  <a:lnTo>
                    <a:pt x="125" y="70"/>
                  </a:lnTo>
                  <a:lnTo>
                    <a:pt x="129" y="94"/>
                  </a:lnTo>
                  <a:close/>
                  <a:moveTo>
                    <a:pt x="220" y="83"/>
                  </a:moveTo>
                  <a:lnTo>
                    <a:pt x="359" y="83"/>
                  </a:lnTo>
                  <a:lnTo>
                    <a:pt x="359" y="12"/>
                  </a:lnTo>
                  <a:lnTo>
                    <a:pt x="220" y="12"/>
                  </a:lnTo>
                  <a:lnTo>
                    <a:pt x="220" y="83"/>
                  </a:lnTo>
                  <a:close/>
                  <a:moveTo>
                    <a:pt x="339" y="118"/>
                  </a:moveTo>
                  <a:lnTo>
                    <a:pt x="368" y="118"/>
                  </a:lnTo>
                  <a:lnTo>
                    <a:pt x="372" y="117"/>
                  </a:lnTo>
                  <a:lnTo>
                    <a:pt x="374" y="112"/>
                  </a:lnTo>
                  <a:lnTo>
                    <a:pt x="372" y="108"/>
                  </a:lnTo>
                  <a:lnTo>
                    <a:pt x="368" y="107"/>
                  </a:lnTo>
                  <a:lnTo>
                    <a:pt x="339" y="107"/>
                  </a:lnTo>
                  <a:lnTo>
                    <a:pt x="339" y="118"/>
                  </a:lnTo>
                  <a:close/>
                  <a:moveTo>
                    <a:pt x="35" y="118"/>
                  </a:moveTo>
                  <a:lnTo>
                    <a:pt x="6" y="118"/>
                  </a:lnTo>
                  <a:lnTo>
                    <a:pt x="2" y="117"/>
                  </a:lnTo>
                  <a:lnTo>
                    <a:pt x="0" y="112"/>
                  </a:lnTo>
                  <a:lnTo>
                    <a:pt x="2" y="108"/>
                  </a:lnTo>
                  <a:lnTo>
                    <a:pt x="6" y="107"/>
                  </a:lnTo>
                  <a:lnTo>
                    <a:pt x="35" y="107"/>
                  </a:lnTo>
                  <a:lnTo>
                    <a:pt x="35" y="118"/>
                  </a:lnTo>
                  <a:close/>
                  <a:moveTo>
                    <a:pt x="134" y="24"/>
                  </a:moveTo>
                  <a:lnTo>
                    <a:pt x="196" y="24"/>
                  </a:lnTo>
                  <a:lnTo>
                    <a:pt x="196" y="18"/>
                  </a:lnTo>
                  <a:lnTo>
                    <a:pt x="134" y="18"/>
                  </a:lnTo>
                  <a:lnTo>
                    <a:pt x="134" y="24"/>
                  </a:lnTo>
                  <a:close/>
                </a:path>
              </a:pathLst>
            </a:custGeom>
            <a:solidFill>
              <a:srgbClr val="C0C0C0"/>
            </a:solidFill>
            <a:ln w="158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0" name="Line 784"/>
            <p:cNvSpPr>
              <a:spLocks noChangeShapeType="1"/>
            </p:cNvSpPr>
            <p:nvPr/>
          </p:nvSpPr>
          <p:spPr bwMode="auto">
            <a:xfrm>
              <a:off x="528" y="1533"/>
              <a:ext cx="1" cy="9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1" name="Line 785"/>
            <p:cNvSpPr>
              <a:spLocks noChangeShapeType="1"/>
            </p:cNvSpPr>
            <p:nvPr/>
          </p:nvSpPr>
          <p:spPr bwMode="auto">
            <a:xfrm flipH="1">
              <a:off x="454" y="1565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2" name="Line 786"/>
            <p:cNvSpPr>
              <a:spLocks noChangeShapeType="1"/>
            </p:cNvSpPr>
            <p:nvPr/>
          </p:nvSpPr>
          <p:spPr bwMode="auto">
            <a:xfrm flipH="1">
              <a:off x="454" y="1595"/>
              <a:ext cx="74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3" name="Line 787"/>
            <p:cNvSpPr>
              <a:spLocks noChangeShapeType="1"/>
            </p:cNvSpPr>
            <p:nvPr/>
          </p:nvSpPr>
          <p:spPr bwMode="auto">
            <a:xfrm>
              <a:off x="645" y="1545"/>
              <a:ext cx="1" cy="26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4" name="Line 788"/>
            <p:cNvSpPr>
              <a:spLocks noChangeShapeType="1"/>
            </p:cNvSpPr>
            <p:nvPr/>
          </p:nvSpPr>
          <p:spPr bwMode="auto">
            <a:xfrm>
              <a:off x="550" y="1571"/>
              <a:ext cx="139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5" name="Line 789"/>
            <p:cNvSpPr>
              <a:spLocks noChangeShapeType="1"/>
            </p:cNvSpPr>
            <p:nvPr/>
          </p:nvSpPr>
          <p:spPr bwMode="auto">
            <a:xfrm flipV="1">
              <a:off x="464" y="1528"/>
              <a:ext cx="1" cy="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6" name="Line 790"/>
            <p:cNvSpPr>
              <a:spLocks noChangeShapeType="1"/>
            </p:cNvSpPr>
            <p:nvPr/>
          </p:nvSpPr>
          <p:spPr bwMode="auto">
            <a:xfrm flipV="1">
              <a:off x="464" y="1627"/>
              <a:ext cx="1" cy="5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7" name="Line 791"/>
            <p:cNvSpPr>
              <a:spLocks noChangeShapeType="1"/>
            </p:cNvSpPr>
            <p:nvPr/>
          </p:nvSpPr>
          <p:spPr bwMode="auto">
            <a:xfrm>
              <a:off x="466" y="1580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8" name="Line 792"/>
            <p:cNvSpPr>
              <a:spLocks noChangeShapeType="1"/>
            </p:cNvSpPr>
            <p:nvPr/>
          </p:nvSpPr>
          <p:spPr bwMode="auto">
            <a:xfrm>
              <a:off x="466" y="1555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29" name="Line 793"/>
            <p:cNvSpPr>
              <a:spLocks noChangeShapeType="1"/>
            </p:cNvSpPr>
            <p:nvPr/>
          </p:nvSpPr>
          <p:spPr bwMode="auto">
            <a:xfrm>
              <a:off x="511" y="1555"/>
              <a:ext cx="5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0" name="Line 794"/>
            <p:cNvSpPr>
              <a:spLocks noChangeShapeType="1"/>
            </p:cNvSpPr>
            <p:nvPr/>
          </p:nvSpPr>
          <p:spPr bwMode="auto">
            <a:xfrm>
              <a:off x="568" y="1565"/>
              <a:ext cx="6" cy="1"/>
            </a:xfrm>
            <a:prstGeom prst="line">
              <a:avLst/>
            </a:prstGeom>
            <a:noFill/>
            <a:ln w="4763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1" name="Freeform 795"/>
            <p:cNvSpPr/>
            <p:nvPr/>
          </p:nvSpPr>
          <p:spPr bwMode="auto">
            <a:xfrm>
              <a:off x="660" y="1230"/>
              <a:ext cx="47" cy="281"/>
            </a:xfrm>
            <a:custGeom>
              <a:avLst/>
              <a:gdLst>
                <a:gd name="T0" fmla="*/ 0 w 47"/>
                <a:gd name="T1" fmla="*/ 281 h 281"/>
                <a:gd name="T2" fmla="*/ 36 w 47"/>
                <a:gd name="T3" fmla="*/ 244 h 281"/>
                <a:gd name="T4" fmla="*/ 36 w 47"/>
                <a:gd name="T5" fmla="*/ 179 h 281"/>
                <a:gd name="T6" fmla="*/ 47 w 47"/>
                <a:gd name="T7" fmla="*/ 144 h 281"/>
                <a:gd name="T8" fmla="*/ 47 w 47"/>
                <a:gd name="T9" fmla="*/ 0 h 281"/>
                <a:gd name="T10" fmla="*/ 0 w 47"/>
                <a:gd name="T11" fmla="*/ 49 h 281"/>
                <a:gd name="T12" fmla="*/ 0 w 47"/>
                <a:gd name="T13" fmla="*/ 281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281">
                  <a:moveTo>
                    <a:pt x="0" y="281"/>
                  </a:moveTo>
                  <a:lnTo>
                    <a:pt x="36" y="244"/>
                  </a:lnTo>
                  <a:lnTo>
                    <a:pt x="36" y="179"/>
                  </a:lnTo>
                  <a:lnTo>
                    <a:pt x="47" y="144"/>
                  </a:lnTo>
                  <a:lnTo>
                    <a:pt x="47" y="0"/>
                  </a:lnTo>
                  <a:lnTo>
                    <a:pt x="0" y="49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2" name="Freeform 796"/>
            <p:cNvSpPr/>
            <p:nvPr/>
          </p:nvSpPr>
          <p:spPr bwMode="auto">
            <a:xfrm>
              <a:off x="375" y="1230"/>
              <a:ext cx="332" cy="49"/>
            </a:xfrm>
            <a:custGeom>
              <a:avLst/>
              <a:gdLst>
                <a:gd name="T0" fmla="*/ 332 w 332"/>
                <a:gd name="T1" fmla="*/ 0 h 49"/>
                <a:gd name="T2" fmla="*/ 47 w 332"/>
                <a:gd name="T3" fmla="*/ 0 h 49"/>
                <a:gd name="T4" fmla="*/ 0 w 332"/>
                <a:gd name="T5" fmla="*/ 49 h 49"/>
                <a:gd name="T6" fmla="*/ 285 w 332"/>
                <a:gd name="T7" fmla="*/ 49 h 49"/>
                <a:gd name="T8" fmla="*/ 332 w 332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2" h="49">
                  <a:moveTo>
                    <a:pt x="332" y="0"/>
                  </a:moveTo>
                  <a:lnTo>
                    <a:pt x="47" y="0"/>
                  </a:lnTo>
                  <a:lnTo>
                    <a:pt x="0" y="49"/>
                  </a:lnTo>
                  <a:lnTo>
                    <a:pt x="285" y="49"/>
                  </a:lnTo>
                  <a:lnTo>
                    <a:pt x="332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3" name="Rectangle 797"/>
            <p:cNvSpPr>
              <a:spLocks noChangeArrowheads="1"/>
            </p:cNvSpPr>
            <p:nvPr/>
          </p:nvSpPr>
          <p:spPr bwMode="auto">
            <a:xfrm>
              <a:off x="375" y="1279"/>
              <a:ext cx="285" cy="230"/>
            </a:xfrm>
            <a:prstGeom prst="rect">
              <a:avLst/>
            </a:prstGeom>
            <a:solidFill>
              <a:srgbClr val="C0C0C0"/>
            </a:solidFill>
            <a:ln w="4763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134" name="Rectangle 798"/>
            <p:cNvSpPr>
              <a:spLocks noChangeArrowheads="1"/>
            </p:cNvSpPr>
            <p:nvPr/>
          </p:nvSpPr>
          <p:spPr bwMode="auto">
            <a:xfrm>
              <a:off x="631" y="1480"/>
              <a:ext cx="14" cy="8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500">
                <a:latin typeface="Sitka Text" panose="02000505000000020004" pitchFamily="2" charset="0"/>
                <a:ea typeface="SimSun" panose="02010600030101010101" pitchFamily="2" charset="-122"/>
              </a:endParaRPr>
            </a:p>
          </p:txBody>
        </p:sp>
        <p:sp>
          <p:nvSpPr>
            <p:cNvPr id="19135" name="Freeform 799"/>
            <p:cNvSpPr/>
            <p:nvPr/>
          </p:nvSpPr>
          <p:spPr bwMode="auto">
            <a:xfrm>
              <a:off x="416" y="1314"/>
              <a:ext cx="202" cy="142"/>
            </a:xfrm>
            <a:custGeom>
              <a:avLst/>
              <a:gdLst>
                <a:gd name="T0" fmla="*/ 0 w 202"/>
                <a:gd name="T1" fmla="*/ 142 h 142"/>
                <a:gd name="T2" fmla="*/ 202 w 202"/>
                <a:gd name="T3" fmla="*/ 142 h 142"/>
                <a:gd name="T4" fmla="*/ 202 w 202"/>
                <a:gd name="T5" fmla="*/ 0 h 142"/>
                <a:gd name="T6" fmla="*/ 197 w 202"/>
                <a:gd name="T7" fmla="*/ 0 h 142"/>
                <a:gd name="T8" fmla="*/ 197 w 202"/>
                <a:gd name="T9" fmla="*/ 138 h 142"/>
                <a:gd name="T10" fmla="*/ 0 w 202"/>
                <a:gd name="T11" fmla="*/ 138 h 142"/>
                <a:gd name="T12" fmla="*/ 0 w 202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2" h="142">
                  <a:moveTo>
                    <a:pt x="0" y="142"/>
                  </a:moveTo>
                  <a:lnTo>
                    <a:pt x="202" y="142"/>
                  </a:lnTo>
                  <a:lnTo>
                    <a:pt x="202" y="0"/>
                  </a:lnTo>
                  <a:lnTo>
                    <a:pt x="197" y="0"/>
                  </a:lnTo>
                  <a:lnTo>
                    <a:pt x="197" y="138"/>
                  </a:lnTo>
                  <a:lnTo>
                    <a:pt x="0" y="138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8A8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6" name="Freeform 800"/>
            <p:cNvSpPr/>
            <p:nvPr/>
          </p:nvSpPr>
          <p:spPr bwMode="auto">
            <a:xfrm>
              <a:off x="416" y="1314"/>
              <a:ext cx="197" cy="138"/>
            </a:xfrm>
            <a:custGeom>
              <a:avLst/>
              <a:gdLst>
                <a:gd name="T0" fmla="*/ 0 w 197"/>
                <a:gd name="T1" fmla="*/ 138 h 138"/>
                <a:gd name="T2" fmla="*/ 197 w 197"/>
                <a:gd name="T3" fmla="*/ 138 h 138"/>
                <a:gd name="T4" fmla="*/ 197 w 197"/>
                <a:gd name="T5" fmla="*/ 0 h 138"/>
                <a:gd name="T6" fmla="*/ 193 w 197"/>
                <a:gd name="T7" fmla="*/ 0 h 138"/>
                <a:gd name="T8" fmla="*/ 193 w 197"/>
                <a:gd name="T9" fmla="*/ 136 h 138"/>
                <a:gd name="T10" fmla="*/ 0 w 197"/>
                <a:gd name="T11" fmla="*/ 136 h 138"/>
                <a:gd name="T12" fmla="*/ 0 w 197"/>
                <a:gd name="T13" fmla="*/ 138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138">
                  <a:moveTo>
                    <a:pt x="0" y="138"/>
                  </a:moveTo>
                  <a:lnTo>
                    <a:pt x="197" y="138"/>
                  </a:lnTo>
                  <a:lnTo>
                    <a:pt x="197" y="0"/>
                  </a:lnTo>
                  <a:lnTo>
                    <a:pt x="193" y="0"/>
                  </a:lnTo>
                  <a:lnTo>
                    <a:pt x="193" y="136"/>
                  </a:lnTo>
                  <a:lnTo>
                    <a:pt x="0" y="136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8E8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7" name="Freeform 801"/>
            <p:cNvSpPr/>
            <p:nvPr/>
          </p:nvSpPr>
          <p:spPr bwMode="auto">
            <a:xfrm>
              <a:off x="416" y="1314"/>
              <a:ext cx="193" cy="136"/>
            </a:xfrm>
            <a:custGeom>
              <a:avLst/>
              <a:gdLst>
                <a:gd name="T0" fmla="*/ 0 w 193"/>
                <a:gd name="T1" fmla="*/ 136 h 136"/>
                <a:gd name="T2" fmla="*/ 193 w 193"/>
                <a:gd name="T3" fmla="*/ 136 h 136"/>
                <a:gd name="T4" fmla="*/ 193 w 193"/>
                <a:gd name="T5" fmla="*/ 0 h 136"/>
                <a:gd name="T6" fmla="*/ 190 w 193"/>
                <a:gd name="T7" fmla="*/ 0 h 136"/>
                <a:gd name="T8" fmla="*/ 190 w 193"/>
                <a:gd name="T9" fmla="*/ 133 h 136"/>
                <a:gd name="T10" fmla="*/ 0 w 193"/>
                <a:gd name="T11" fmla="*/ 133 h 136"/>
                <a:gd name="T12" fmla="*/ 0 w 193"/>
                <a:gd name="T13" fmla="*/ 136 h 1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3" h="136">
                  <a:moveTo>
                    <a:pt x="0" y="136"/>
                  </a:moveTo>
                  <a:lnTo>
                    <a:pt x="193" y="136"/>
                  </a:lnTo>
                  <a:lnTo>
                    <a:pt x="193" y="0"/>
                  </a:lnTo>
                  <a:lnTo>
                    <a:pt x="190" y="0"/>
                  </a:lnTo>
                  <a:lnTo>
                    <a:pt x="190" y="133"/>
                  </a:lnTo>
                  <a:lnTo>
                    <a:pt x="0" y="13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929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8" name="Freeform 802"/>
            <p:cNvSpPr/>
            <p:nvPr/>
          </p:nvSpPr>
          <p:spPr bwMode="auto">
            <a:xfrm>
              <a:off x="416" y="1314"/>
              <a:ext cx="190" cy="133"/>
            </a:xfrm>
            <a:custGeom>
              <a:avLst/>
              <a:gdLst>
                <a:gd name="T0" fmla="*/ 0 w 190"/>
                <a:gd name="T1" fmla="*/ 133 h 133"/>
                <a:gd name="T2" fmla="*/ 190 w 190"/>
                <a:gd name="T3" fmla="*/ 133 h 133"/>
                <a:gd name="T4" fmla="*/ 190 w 190"/>
                <a:gd name="T5" fmla="*/ 0 h 133"/>
                <a:gd name="T6" fmla="*/ 186 w 190"/>
                <a:gd name="T7" fmla="*/ 0 h 133"/>
                <a:gd name="T8" fmla="*/ 186 w 190"/>
                <a:gd name="T9" fmla="*/ 131 h 133"/>
                <a:gd name="T10" fmla="*/ 0 w 190"/>
                <a:gd name="T11" fmla="*/ 131 h 133"/>
                <a:gd name="T12" fmla="*/ 0 w 190"/>
                <a:gd name="T13" fmla="*/ 133 h 1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0" h="133">
                  <a:moveTo>
                    <a:pt x="0" y="133"/>
                  </a:moveTo>
                  <a:lnTo>
                    <a:pt x="190" y="133"/>
                  </a:lnTo>
                  <a:lnTo>
                    <a:pt x="190" y="0"/>
                  </a:lnTo>
                  <a:lnTo>
                    <a:pt x="186" y="0"/>
                  </a:lnTo>
                  <a:lnTo>
                    <a:pt x="186" y="131"/>
                  </a:lnTo>
                  <a:lnTo>
                    <a:pt x="0" y="131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969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39" name="Freeform 803"/>
            <p:cNvSpPr/>
            <p:nvPr/>
          </p:nvSpPr>
          <p:spPr bwMode="auto">
            <a:xfrm>
              <a:off x="416" y="1314"/>
              <a:ext cx="186" cy="131"/>
            </a:xfrm>
            <a:custGeom>
              <a:avLst/>
              <a:gdLst>
                <a:gd name="T0" fmla="*/ 0 w 186"/>
                <a:gd name="T1" fmla="*/ 131 h 131"/>
                <a:gd name="T2" fmla="*/ 186 w 186"/>
                <a:gd name="T3" fmla="*/ 131 h 131"/>
                <a:gd name="T4" fmla="*/ 186 w 186"/>
                <a:gd name="T5" fmla="*/ 0 h 131"/>
                <a:gd name="T6" fmla="*/ 182 w 186"/>
                <a:gd name="T7" fmla="*/ 0 h 131"/>
                <a:gd name="T8" fmla="*/ 182 w 186"/>
                <a:gd name="T9" fmla="*/ 128 h 131"/>
                <a:gd name="T10" fmla="*/ 0 w 186"/>
                <a:gd name="T11" fmla="*/ 128 h 131"/>
                <a:gd name="T12" fmla="*/ 0 w 186"/>
                <a:gd name="T13" fmla="*/ 131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" h="131">
                  <a:moveTo>
                    <a:pt x="0" y="131"/>
                  </a:moveTo>
                  <a:lnTo>
                    <a:pt x="186" y="131"/>
                  </a:lnTo>
                  <a:lnTo>
                    <a:pt x="186" y="0"/>
                  </a:lnTo>
                  <a:lnTo>
                    <a:pt x="182" y="0"/>
                  </a:lnTo>
                  <a:lnTo>
                    <a:pt x="182" y="128"/>
                  </a:lnTo>
                  <a:lnTo>
                    <a:pt x="0" y="128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9A9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  <p:sp>
          <p:nvSpPr>
            <p:cNvPr id="19140" name="Freeform 804"/>
            <p:cNvSpPr/>
            <p:nvPr/>
          </p:nvSpPr>
          <p:spPr bwMode="auto">
            <a:xfrm>
              <a:off x="416" y="1314"/>
              <a:ext cx="182" cy="128"/>
            </a:xfrm>
            <a:custGeom>
              <a:avLst/>
              <a:gdLst>
                <a:gd name="T0" fmla="*/ 0 w 182"/>
                <a:gd name="T1" fmla="*/ 128 h 128"/>
                <a:gd name="T2" fmla="*/ 182 w 182"/>
                <a:gd name="T3" fmla="*/ 128 h 128"/>
                <a:gd name="T4" fmla="*/ 182 w 182"/>
                <a:gd name="T5" fmla="*/ 0 h 128"/>
                <a:gd name="T6" fmla="*/ 178 w 182"/>
                <a:gd name="T7" fmla="*/ 0 h 128"/>
                <a:gd name="T8" fmla="*/ 178 w 182"/>
                <a:gd name="T9" fmla="*/ 126 h 128"/>
                <a:gd name="T10" fmla="*/ 0 w 182"/>
                <a:gd name="T11" fmla="*/ 126 h 128"/>
                <a:gd name="T12" fmla="*/ 0 w 182"/>
                <a:gd name="T13" fmla="*/ 12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2" h="128">
                  <a:moveTo>
                    <a:pt x="0" y="128"/>
                  </a:moveTo>
                  <a:lnTo>
                    <a:pt x="182" y="128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126"/>
                  </a:lnTo>
                  <a:lnTo>
                    <a:pt x="0" y="126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9E9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Sitka Text" panose="02000505000000020004" pitchFamily="2" charset="0"/>
              </a:endParaRPr>
            </a:p>
          </p:txBody>
        </p:sp>
      </p:grpSp>
      <p:sp>
        <p:nvSpPr>
          <p:cNvPr id="18840" name="Freeform 805"/>
          <p:cNvSpPr/>
          <p:nvPr/>
        </p:nvSpPr>
        <p:spPr bwMode="auto">
          <a:xfrm>
            <a:off x="954162" y="3591576"/>
            <a:ext cx="211931" cy="150019"/>
          </a:xfrm>
          <a:custGeom>
            <a:avLst/>
            <a:gdLst>
              <a:gd name="T0" fmla="*/ 0 w 178"/>
              <a:gd name="T1" fmla="*/ 200025 h 126"/>
              <a:gd name="T2" fmla="*/ 282575 w 178"/>
              <a:gd name="T3" fmla="*/ 200025 h 126"/>
              <a:gd name="T4" fmla="*/ 282575 w 178"/>
              <a:gd name="T5" fmla="*/ 0 h 126"/>
              <a:gd name="T6" fmla="*/ 276225 w 178"/>
              <a:gd name="T7" fmla="*/ 0 h 126"/>
              <a:gd name="T8" fmla="*/ 276225 w 178"/>
              <a:gd name="T9" fmla="*/ 195263 h 126"/>
              <a:gd name="T10" fmla="*/ 0 w 178"/>
              <a:gd name="T11" fmla="*/ 195263 h 126"/>
              <a:gd name="T12" fmla="*/ 0 w 178"/>
              <a:gd name="T13" fmla="*/ 200025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8" h="126">
                <a:moveTo>
                  <a:pt x="0" y="126"/>
                </a:moveTo>
                <a:lnTo>
                  <a:pt x="178" y="126"/>
                </a:lnTo>
                <a:lnTo>
                  <a:pt x="178" y="0"/>
                </a:lnTo>
                <a:lnTo>
                  <a:pt x="174" y="0"/>
                </a:lnTo>
                <a:lnTo>
                  <a:pt x="174" y="123"/>
                </a:lnTo>
                <a:lnTo>
                  <a:pt x="0" y="123"/>
                </a:lnTo>
                <a:lnTo>
                  <a:pt x="0" y="126"/>
                </a:lnTo>
                <a:close/>
              </a:path>
            </a:pathLst>
          </a:custGeom>
          <a:solidFill>
            <a:srgbClr val="A2A2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1" name="Freeform 806"/>
          <p:cNvSpPr/>
          <p:nvPr/>
        </p:nvSpPr>
        <p:spPr bwMode="auto">
          <a:xfrm>
            <a:off x="954161" y="3591576"/>
            <a:ext cx="207169" cy="146447"/>
          </a:xfrm>
          <a:custGeom>
            <a:avLst/>
            <a:gdLst>
              <a:gd name="T0" fmla="*/ 0 w 174"/>
              <a:gd name="T1" fmla="*/ 195263 h 123"/>
              <a:gd name="T2" fmla="*/ 276225 w 174"/>
              <a:gd name="T3" fmla="*/ 195263 h 123"/>
              <a:gd name="T4" fmla="*/ 276225 w 174"/>
              <a:gd name="T5" fmla="*/ 0 h 123"/>
              <a:gd name="T6" fmla="*/ 271463 w 174"/>
              <a:gd name="T7" fmla="*/ 0 h 123"/>
              <a:gd name="T8" fmla="*/ 271463 w 174"/>
              <a:gd name="T9" fmla="*/ 188913 h 123"/>
              <a:gd name="T10" fmla="*/ 0 w 174"/>
              <a:gd name="T11" fmla="*/ 188913 h 123"/>
              <a:gd name="T12" fmla="*/ 0 w 174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4" h="123">
                <a:moveTo>
                  <a:pt x="0" y="123"/>
                </a:moveTo>
                <a:lnTo>
                  <a:pt x="174" y="123"/>
                </a:lnTo>
                <a:lnTo>
                  <a:pt x="174" y="0"/>
                </a:lnTo>
                <a:lnTo>
                  <a:pt x="171" y="0"/>
                </a:lnTo>
                <a:lnTo>
                  <a:pt x="171" y="119"/>
                </a:lnTo>
                <a:lnTo>
                  <a:pt x="0" y="119"/>
                </a:lnTo>
                <a:lnTo>
                  <a:pt x="0" y="123"/>
                </a:lnTo>
                <a:close/>
              </a:path>
            </a:pathLst>
          </a:custGeom>
          <a:solidFill>
            <a:srgbClr val="A5A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2" name="Freeform 807"/>
          <p:cNvSpPr/>
          <p:nvPr/>
        </p:nvSpPr>
        <p:spPr bwMode="auto">
          <a:xfrm>
            <a:off x="954162" y="3591576"/>
            <a:ext cx="203597" cy="141685"/>
          </a:xfrm>
          <a:custGeom>
            <a:avLst/>
            <a:gdLst>
              <a:gd name="T0" fmla="*/ 0 w 171"/>
              <a:gd name="T1" fmla="*/ 188913 h 119"/>
              <a:gd name="T2" fmla="*/ 271463 w 171"/>
              <a:gd name="T3" fmla="*/ 188913 h 119"/>
              <a:gd name="T4" fmla="*/ 271463 w 171"/>
              <a:gd name="T5" fmla="*/ 0 h 119"/>
              <a:gd name="T6" fmla="*/ 265113 w 171"/>
              <a:gd name="T7" fmla="*/ 0 h 119"/>
              <a:gd name="T8" fmla="*/ 265113 w 171"/>
              <a:gd name="T9" fmla="*/ 185738 h 119"/>
              <a:gd name="T10" fmla="*/ 0 w 171"/>
              <a:gd name="T11" fmla="*/ 185738 h 119"/>
              <a:gd name="T12" fmla="*/ 0 w 171"/>
              <a:gd name="T13" fmla="*/ 188913 h 1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1" h="119">
                <a:moveTo>
                  <a:pt x="0" y="119"/>
                </a:moveTo>
                <a:lnTo>
                  <a:pt x="171" y="119"/>
                </a:lnTo>
                <a:lnTo>
                  <a:pt x="171" y="0"/>
                </a:lnTo>
                <a:lnTo>
                  <a:pt x="167" y="0"/>
                </a:lnTo>
                <a:lnTo>
                  <a:pt x="167" y="117"/>
                </a:lnTo>
                <a:lnTo>
                  <a:pt x="0" y="117"/>
                </a:lnTo>
                <a:lnTo>
                  <a:pt x="0" y="119"/>
                </a:lnTo>
                <a:close/>
              </a:path>
            </a:pathLst>
          </a:custGeom>
          <a:solidFill>
            <a:srgbClr val="A9A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3" name="Freeform 808"/>
          <p:cNvSpPr/>
          <p:nvPr/>
        </p:nvSpPr>
        <p:spPr bwMode="auto">
          <a:xfrm>
            <a:off x="954161" y="3591575"/>
            <a:ext cx="198835" cy="139304"/>
          </a:xfrm>
          <a:custGeom>
            <a:avLst/>
            <a:gdLst>
              <a:gd name="T0" fmla="*/ 0 w 167"/>
              <a:gd name="T1" fmla="*/ 185738 h 117"/>
              <a:gd name="T2" fmla="*/ 265113 w 167"/>
              <a:gd name="T3" fmla="*/ 185738 h 117"/>
              <a:gd name="T4" fmla="*/ 265113 w 167"/>
              <a:gd name="T5" fmla="*/ 0 h 117"/>
              <a:gd name="T6" fmla="*/ 257175 w 167"/>
              <a:gd name="T7" fmla="*/ 0 h 117"/>
              <a:gd name="T8" fmla="*/ 257175 w 167"/>
              <a:gd name="T9" fmla="*/ 180975 h 117"/>
              <a:gd name="T10" fmla="*/ 0 w 167"/>
              <a:gd name="T11" fmla="*/ 180975 h 117"/>
              <a:gd name="T12" fmla="*/ 0 w 167"/>
              <a:gd name="T13" fmla="*/ 185738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7" h="117">
                <a:moveTo>
                  <a:pt x="0" y="117"/>
                </a:moveTo>
                <a:lnTo>
                  <a:pt x="167" y="117"/>
                </a:lnTo>
                <a:lnTo>
                  <a:pt x="167" y="0"/>
                </a:lnTo>
                <a:lnTo>
                  <a:pt x="162" y="0"/>
                </a:lnTo>
                <a:lnTo>
                  <a:pt x="162" y="114"/>
                </a:lnTo>
                <a:lnTo>
                  <a:pt x="0" y="114"/>
                </a:lnTo>
                <a:lnTo>
                  <a:pt x="0" y="117"/>
                </a:lnTo>
                <a:close/>
              </a:path>
            </a:pathLst>
          </a:custGeom>
          <a:solidFill>
            <a:srgbClr val="ADA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4" name="Freeform 809"/>
          <p:cNvSpPr/>
          <p:nvPr/>
        </p:nvSpPr>
        <p:spPr bwMode="auto">
          <a:xfrm>
            <a:off x="954162" y="3591576"/>
            <a:ext cx="192881" cy="135731"/>
          </a:xfrm>
          <a:custGeom>
            <a:avLst/>
            <a:gdLst>
              <a:gd name="T0" fmla="*/ 0 w 162"/>
              <a:gd name="T1" fmla="*/ 180975 h 114"/>
              <a:gd name="T2" fmla="*/ 257175 w 162"/>
              <a:gd name="T3" fmla="*/ 180975 h 114"/>
              <a:gd name="T4" fmla="*/ 257175 w 162"/>
              <a:gd name="T5" fmla="*/ 0 h 114"/>
              <a:gd name="T6" fmla="*/ 250825 w 162"/>
              <a:gd name="T7" fmla="*/ 0 h 114"/>
              <a:gd name="T8" fmla="*/ 250825 w 162"/>
              <a:gd name="T9" fmla="*/ 174625 h 114"/>
              <a:gd name="T10" fmla="*/ 0 w 162"/>
              <a:gd name="T11" fmla="*/ 174625 h 114"/>
              <a:gd name="T12" fmla="*/ 0 w 162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2" h="114">
                <a:moveTo>
                  <a:pt x="0" y="114"/>
                </a:moveTo>
                <a:lnTo>
                  <a:pt x="162" y="114"/>
                </a:lnTo>
                <a:lnTo>
                  <a:pt x="162" y="0"/>
                </a:lnTo>
                <a:lnTo>
                  <a:pt x="158" y="0"/>
                </a:lnTo>
                <a:lnTo>
                  <a:pt x="158" y="110"/>
                </a:lnTo>
                <a:lnTo>
                  <a:pt x="0" y="110"/>
                </a:lnTo>
                <a:lnTo>
                  <a:pt x="0" y="114"/>
                </a:lnTo>
                <a:close/>
              </a:path>
            </a:pathLst>
          </a:custGeom>
          <a:solidFill>
            <a:srgbClr val="B0B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5" name="Freeform 810"/>
          <p:cNvSpPr/>
          <p:nvPr/>
        </p:nvSpPr>
        <p:spPr bwMode="auto">
          <a:xfrm>
            <a:off x="954161" y="3591576"/>
            <a:ext cx="188119" cy="130969"/>
          </a:xfrm>
          <a:custGeom>
            <a:avLst/>
            <a:gdLst>
              <a:gd name="T0" fmla="*/ 0 w 158"/>
              <a:gd name="T1" fmla="*/ 174625 h 110"/>
              <a:gd name="T2" fmla="*/ 250825 w 158"/>
              <a:gd name="T3" fmla="*/ 174625 h 110"/>
              <a:gd name="T4" fmla="*/ 250825 w 158"/>
              <a:gd name="T5" fmla="*/ 0 h 110"/>
              <a:gd name="T6" fmla="*/ 242888 w 158"/>
              <a:gd name="T7" fmla="*/ 0 h 110"/>
              <a:gd name="T8" fmla="*/ 242888 w 158"/>
              <a:gd name="T9" fmla="*/ 171450 h 110"/>
              <a:gd name="T10" fmla="*/ 0 w 158"/>
              <a:gd name="T11" fmla="*/ 171450 h 110"/>
              <a:gd name="T12" fmla="*/ 0 w 158"/>
              <a:gd name="T13" fmla="*/ 174625 h 1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0">
                <a:moveTo>
                  <a:pt x="0" y="110"/>
                </a:moveTo>
                <a:lnTo>
                  <a:pt x="158" y="110"/>
                </a:lnTo>
                <a:lnTo>
                  <a:pt x="158" y="0"/>
                </a:lnTo>
                <a:lnTo>
                  <a:pt x="153" y="0"/>
                </a:lnTo>
                <a:lnTo>
                  <a:pt x="153" y="108"/>
                </a:lnTo>
                <a:lnTo>
                  <a:pt x="0" y="108"/>
                </a:lnTo>
                <a:lnTo>
                  <a:pt x="0" y="110"/>
                </a:lnTo>
                <a:close/>
              </a:path>
            </a:pathLst>
          </a:custGeom>
          <a:solidFill>
            <a:srgbClr val="B4B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6" name="Freeform 811"/>
          <p:cNvSpPr/>
          <p:nvPr/>
        </p:nvSpPr>
        <p:spPr bwMode="auto">
          <a:xfrm>
            <a:off x="954161" y="3591575"/>
            <a:ext cx="182166" cy="128588"/>
          </a:xfrm>
          <a:custGeom>
            <a:avLst/>
            <a:gdLst>
              <a:gd name="T0" fmla="*/ 0 w 153"/>
              <a:gd name="T1" fmla="*/ 171450 h 108"/>
              <a:gd name="T2" fmla="*/ 242888 w 153"/>
              <a:gd name="T3" fmla="*/ 171450 h 108"/>
              <a:gd name="T4" fmla="*/ 242888 w 153"/>
              <a:gd name="T5" fmla="*/ 0 h 108"/>
              <a:gd name="T6" fmla="*/ 234950 w 153"/>
              <a:gd name="T7" fmla="*/ 0 h 108"/>
              <a:gd name="T8" fmla="*/ 234950 w 153"/>
              <a:gd name="T9" fmla="*/ 165100 h 108"/>
              <a:gd name="T10" fmla="*/ 0 w 153"/>
              <a:gd name="T11" fmla="*/ 165100 h 108"/>
              <a:gd name="T12" fmla="*/ 0 w 153"/>
              <a:gd name="T13" fmla="*/ 171450 h 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3" h="108">
                <a:moveTo>
                  <a:pt x="0" y="108"/>
                </a:moveTo>
                <a:lnTo>
                  <a:pt x="153" y="108"/>
                </a:lnTo>
                <a:lnTo>
                  <a:pt x="153" y="0"/>
                </a:lnTo>
                <a:lnTo>
                  <a:pt x="148" y="0"/>
                </a:lnTo>
                <a:lnTo>
                  <a:pt x="148" y="104"/>
                </a:lnTo>
                <a:lnTo>
                  <a:pt x="0" y="104"/>
                </a:lnTo>
                <a:lnTo>
                  <a:pt x="0" y="108"/>
                </a:lnTo>
                <a:close/>
              </a:path>
            </a:pathLst>
          </a:custGeom>
          <a:solidFill>
            <a:srgbClr val="B8B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7" name="Freeform 812"/>
          <p:cNvSpPr/>
          <p:nvPr/>
        </p:nvSpPr>
        <p:spPr bwMode="auto">
          <a:xfrm>
            <a:off x="954161" y="3591575"/>
            <a:ext cx="176213" cy="123825"/>
          </a:xfrm>
          <a:custGeom>
            <a:avLst/>
            <a:gdLst>
              <a:gd name="T0" fmla="*/ 0 w 148"/>
              <a:gd name="T1" fmla="*/ 165100 h 104"/>
              <a:gd name="T2" fmla="*/ 234950 w 148"/>
              <a:gd name="T3" fmla="*/ 165100 h 104"/>
              <a:gd name="T4" fmla="*/ 234950 w 148"/>
              <a:gd name="T5" fmla="*/ 0 h 104"/>
              <a:gd name="T6" fmla="*/ 227013 w 148"/>
              <a:gd name="T7" fmla="*/ 0 h 104"/>
              <a:gd name="T8" fmla="*/ 227013 w 148"/>
              <a:gd name="T9" fmla="*/ 158750 h 104"/>
              <a:gd name="T10" fmla="*/ 0 w 148"/>
              <a:gd name="T11" fmla="*/ 158750 h 104"/>
              <a:gd name="T12" fmla="*/ 0 w 148"/>
              <a:gd name="T13" fmla="*/ 165100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8" h="104">
                <a:moveTo>
                  <a:pt x="0" y="104"/>
                </a:moveTo>
                <a:lnTo>
                  <a:pt x="148" y="104"/>
                </a:lnTo>
                <a:lnTo>
                  <a:pt x="148" y="0"/>
                </a:lnTo>
                <a:lnTo>
                  <a:pt x="143" y="0"/>
                </a:lnTo>
                <a:lnTo>
                  <a:pt x="143" y="100"/>
                </a:lnTo>
                <a:lnTo>
                  <a:pt x="0" y="100"/>
                </a:lnTo>
                <a:lnTo>
                  <a:pt x="0" y="104"/>
                </a:lnTo>
                <a:close/>
              </a:path>
            </a:pathLst>
          </a:custGeom>
          <a:solidFill>
            <a:srgbClr val="BBB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8" name="Freeform 813"/>
          <p:cNvSpPr/>
          <p:nvPr/>
        </p:nvSpPr>
        <p:spPr bwMode="auto">
          <a:xfrm>
            <a:off x="954161" y="3591575"/>
            <a:ext cx="170260" cy="119063"/>
          </a:xfrm>
          <a:custGeom>
            <a:avLst/>
            <a:gdLst>
              <a:gd name="T0" fmla="*/ 0 w 143"/>
              <a:gd name="T1" fmla="*/ 158750 h 100"/>
              <a:gd name="T2" fmla="*/ 227013 w 143"/>
              <a:gd name="T3" fmla="*/ 158750 h 100"/>
              <a:gd name="T4" fmla="*/ 227013 w 143"/>
              <a:gd name="T5" fmla="*/ 0 h 100"/>
              <a:gd name="T6" fmla="*/ 219075 w 143"/>
              <a:gd name="T7" fmla="*/ 0 h 100"/>
              <a:gd name="T8" fmla="*/ 219075 w 143"/>
              <a:gd name="T9" fmla="*/ 152400 h 100"/>
              <a:gd name="T10" fmla="*/ 0 w 143"/>
              <a:gd name="T11" fmla="*/ 152400 h 100"/>
              <a:gd name="T12" fmla="*/ 0 w 143"/>
              <a:gd name="T13" fmla="*/ 158750 h 1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3" h="100">
                <a:moveTo>
                  <a:pt x="0" y="100"/>
                </a:moveTo>
                <a:lnTo>
                  <a:pt x="143" y="100"/>
                </a:lnTo>
                <a:lnTo>
                  <a:pt x="143" y="0"/>
                </a:lnTo>
                <a:lnTo>
                  <a:pt x="138" y="0"/>
                </a:lnTo>
                <a:lnTo>
                  <a:pt x="138" y="96"/>
                </a:lnTo>
                <a:lnTo>
                  <a:pt x="0" y="96"/>
                </a:lnTo>
                <a:lnTo>
                  <a:pt x="0" y="100"/>
                </a:lnTo>
                <a:close/>
              </a:path>
            </a:pathLst>
          </a:custGeom>
          <a:solidFill>
            <a:srgbClr val="BFB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49" name="Freeform 814"/>
          <p:cNvSpPr/>
          <p:nvPr/>
        </p:nvSpPr>
        <p:spPr bwMode="auto">
          <a:xfrm>
            <a:off x="954162" y="3591575"/>
            <a:ext cx="164306" cy="114300"/>
          </a:xfrm>
          <a:custGeom>
            <a:avLst/>
            <a:gdLst>
              <a:gd name="T0" fmla="*/ 0 w 138"/>
              <a:gd name="T1" fmla="*/ 152400 h 96"/>
              <a:gd name="T2" fmla="*/ 219075 w 138"/>
              <a:gd name="T3" fmla="*/ 152400 h 96"/>
              <a:gd name="T4" fmla="*/ 219075 w 138"/>
              <a:gd name="T5" fmla="*/ 0 h 96"/>
              <a:gd name="T6" fmla="*/ 211138 w 138"/>
              <a:gd name="T7" fmla="*/ 0 h 96"/>
              <a:gd name="T8" fmla="*/ 211138 w 138"/>
              <a:gd name="T9" fmla="*/ 147638 h 96"/>
              <a:gd name="T10" fmla="*/ 0 w 138"/>
              <a:gd name="T11" fmla="*/ 147638 h 96"/>
              <a:gd name="T12" fmla="*/ 0 w 138"/>
              <a:gd name="T13" fmla="*/ 152400 h 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96">
                <a:moveTo>
                  <a:pt x="0" y="96"/>
                </a:moveTo>
                <a:lnTo>
                  <a:pt x="138" y="96"/>
                </a:lnTo>
                <a:lnTo>
                  <a:pt x="138" y="0"/>
                </a:lnTo>
                <a:lnTo>
                  <a:pt x="133" y="0"/>
                </a:lnTo>
                <a:lnTo>
                  <a:pt x="133" y="93"/>
                </a:lnTo>
                <a:lnTo>
                  <a:pt x="0" y="93"/>
                </a:lnTo>
                <a:lnTo>
                  <a:pt x="0" y="96"/>
                </a:lnTo>
                <a:close/>
              </a:path>
            </a:pathLst>
          </a:custGeom>
          <a:solidFill>
            <a:srgbClr val="C3C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0" name="Freeform 815"/>
          <p:cNvSpPr/>
          <p:nvPr/>
        </p:nvSpPr>
        <p:spPr bwMode="auto">
          <a:xfrm>
            <a:off x="954161" y="3591575"/>
            <a:ext cx="158354" cy="110729"/>
          </a:xfrm>
          <a:custGeom>
            <a:avLst/>
            <a:gdLst>
              <a:gd name="T0" fmla="*/ 0 w 133"/>
              <a:gd name="T1" fmla="*/ 147638 h 93"/>
              <a:gd name="T2" fmla="*/ 211138 w 133"/>
              <a:gd name="T3" fmla="*/ 147638 h 93"/>
              <a:gd name="T4" fmla="*/ 211138 w 133"/>
              <a:gd name="T5" fmla="*/ 0 h 93"/>
              <a:gd name="T6" fmla="*/ 200025 w 133"/>
              <a:gd name="T7" fmla="*/ 0 h 93"/>
              <a:gd name="T8" fmla="*/ 200025 w 133"/>
              <a:gd name="T9" fmla="*/ 141288 h 93"/>
              <a:gd name="T10" fmla="*/ 0 w 133"/>
              <a:gd name="T11" fmla="*/ 141288 h 93"/>
              <a:gd name="T12" fmla="*/ 0 w 133"/>
              <a:gd name="T13" fmla="*/ 147638 h 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3" h="93">
                <a:moveTo>
                  <a:pt x="0" y="93"/>
                </a:moveTo>
                <a:lnTo>
                  <a:pt x="133" y="93"/>
                </a:lnTo>
                <a:lnTo>
                  <a:pt x="133" y="0"/>
                </a:lnTo>
                <a:lnTo>
                  <a:pt x="126" y="0"/>
                </a:lnTo>
                <a:lnTo>
                  <a:pt x="126" y="89"/>
                </a:lnTo>
                <a:lnTo>
                  <a:pt x="0" y="89"/>
                </a:lnTo>
                <a:lnTo>
                  <a:pt x="0" y="93"/>
                </a:lnTo>
                <a:close/>
              </a:path>
            </a:pathLst>
          </a:custGeom>
          <a:solidFill>
            <a:srgbClr val="C6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1" name="Freeform 816"/>
          <p:cNvSpPr/>
          <p:nvPr/>
        </p:nvSpPr>
        <p:spPr bwMode="auto">
          <a:xfrm>
            <a:off x="954161" y="3591575"/>
            <a:ext cx="150019" cy="105966"/>
          </a:xfrm>
          <a:custGeom>
            <a:avLst/>
            <a:gdLst>
              <a:gd name="T0" fmla="*/ 0 w 126"/>
              <a:gd name="T1" fmla="*/ 141288 h 89"/>
              <a:gd name="T2" fmla="*/ 200025 w 126"/>
              <a:gd name="T3" fmla="*/ 141288 h 89"/>
              <a:gd name="T4" fmla="*/ 200025 w 126"/>
              <a:gd name="T5" fmla="*/ 0 h 89"/>
              <a:gd name="T6" fmla="*/ 192088 w 126"/>
              <a:gd name="T7" fmla="*/ 0 h 89"/>
              <a:gd name="T8" fmla="*/ 192088 w 126"/>
              <a:gd name="T9" fmla="*/ 134938 h 89"/>
              <a:gd name="T10" fmla="*/ 0 w 126"/>
              <a:gd name="T11" fmla="*/ 134938 h 89"/>
              <a:gd name="T12" fmla="*/ 0 w 126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6" h="89">
                <a:moveTo>
                  <a:pt x="0" y="89"/>
                </a:moveTo>
                <a:lnTo>
                  <a:pt x="126" y="89"/>
                </a:lnTo>
                <a:lnTo>
                  <a:pt x="126" y="0"/>
                </a:lnTo>
                <a:lnTo>
                  <a:pt x="121" y="0"/>
                </a:lnTo>
                <a:lnTo>
                  <a:pt x="121" y="85"/>
                </a:lnTo>
                <a:lnTo>
                  <a:pt x="0" y="85"/>
                </a:lnTo>
                <a:lnTo>
                  <a:pt x="0" y="89"/>
                </a:lnTo>
                <a:close/>
              </a:path>
            </a:pathLst>
          </a:custGeom>
          <a:solidFill>
            <a:srgbClr val="CAC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2" name="Freeform 817"/>
          <p:cNvSpPr/>
          <p:nvPr/>
        </p:nvSpPr>
        <p:spPr bwMode="auto">
          <a:xfrm>
            <a:off x="954161" y="3591575"/>
            <a:ext cx="144066" cy="101204"/>
          </a:xfrm>
          <a:custGeom>
            <a:avLst/>
            <a:gdLst>
              <a:gd name="T0" fmla="*/ 0 w 121"/>
              <a:gd name="T1" fmla="*/ 134938 h 85"/>
              <a:gd name="T2" fmla="*/ 192088 w 121"/>
              <a:gd name="T3" fmla="*/ 134938 h 85"/>
              <a:gd name="T4" fmla="*/ 192088 w 121"/>
              <a:gd name="T5" fmla="*/ 0 h 85"/>
              <a:gd name="T6" fmla="*/ 182563 w 121"/>
              <a:gd name="T7" fmla="*/ 0 h 85"/>
              <a:gd name="T8" fmla="*/ 182563 w 121"/>
              <a:gd name="T9" fmla="*/ 127000 h 85"/>
              <a:gd name="T10" fmla="*/ 0 w 121"/>
              <a:gd name="T11" fmla="*/ 127000 h 85"/>
              <a:gd name="T12" fmla="*/ 0 w 121"/>
              <a:gd name="T13" fmla="*/ 134938 h 8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1" h="85">
                <a:moveTo>
                  <a:pt x="0" y="85"/>
                </a:moveTo>
                <a:lnTo>
                  <a:pt x="121" y="85"/>
                </a:lnTo>
                <a:lnTo>
                  <a:pt x="121" y="0"/>
                </a:lnTo>
                <a:lnTo>
                  <a:pt x="115" y="0"/>
                </a:lnTo>
                <a:lnTo>
                  <a:pt x="115" y="80"/>
                </a:lnTo>
                <a:lnTo>
                  <a:pt x="0" y="80"/>
                </a:lnTo>
                <a:lnTo>
                  <a:pt x="0" y="85"/>
                </a:lnTo>
                <a:close/>
              </a:path>
            </a:pathLst>
          </a:custGeom>
          <a:solidFill>
            <a:srgbClr val="CEC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3" name="Freeform 818"/>
          <p:cNvSpPr/>
          <p:nvPr/>
        </p:nvSpPr>
        <p:spPr bwMode="auto">
          <a:xfrm>
            <a:off x="954162" y="3591575"/>
            <a:ext cx="136922" cy="95250"/>
          </a:xfrm>
          <a:custGeom>
            <a:avLst/>
            <a:gdLst>
              <a:gd name="T0" fmla="*/ 0 w 115"/>
              <a:gd name="T1" fmla="*/ 127000 h 80"/>
              <a:gd name="T2" fmla="*/ 182563 w 115"/>
              <a:gd name="T3" fmla="*/ 127000 h 80"/>
              <a:gd name="T4" fmla="*/ 182563 w 115"/>
              <a:gd name="T5" fmla="*/ 0 h 80"/>
              <a:gd name="T6" fmla="*/ 173038 w 115"/>
              <a:gd name="T7" fmla="*/ 0 h 80"/>
              <a:gd name="T8" fmla="*/ 173038 w 115"/>
              <a:gd name="T9" fmla="*/ 120650 h 80"/>
              <a:gd name="T10" fmla="*/ 0 w 115"/>
              <a:gd name="T11" fmla="*/ 120650 h 80"/>
              <a:gd name="T12" fmla="*/ 0 w 115"/>
              <a:gd name="T13" fmla="*/ 127000 h 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5" h="80">
                <a:moveTo>
                  <a:pt x="0" y="80"/>
                </a:moveTo>
                <a:lnTo>
                  <a:pt x="115" y="80"/>
                </a:lnTo>
                <a:lnTo>
                  <a:pt x="115" y="0"/>
                </a:lnTo>
                <a:lnTo>
                  <a:pt x="109" y="0"/>
                </a:lnTo>
                <a:lnTo>
                  <a:pt x="109" y="76"/>
                </a:lnTo>
                <a:lnTo>
                  <a:pt x="0" y="76"/>
                </a:lnTo>
                <a:lnTo>
                  <a:pt x="0" y="80"/>
                </a:lnTo>
                <a:close/>
              </a:path>
            </a:pathLst>
          </a:custGeom>
          <a:solidFill>
            <a:srgbClr val="D1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4" name="Freeform 819"/>
          <p:cNvSpPr/>
          <p:nvPr/>
        </p:nvSpPr>
        <p:spPr bwMode="auto">
          <a:xfrm>
            <a:off x="954161" y="3591575"/>
            <a:ext cx="129779" cy="90488"/>
          </a:xfrm>
          <a:custGeom>
            <a:avLst/>
            <a:gdLst>
              <a:gd name="T0" fmla="*/ 0 w 109"/>
              <a:gd name="T1" fmla="*/ 120650 h 76"/>
              <a:gd name="T2" fmla="*/ 173038 w 109"/>
              <a:gd name="T3" fmla="*/ 120650 h 76"/>
              <a:gd name="T4" fmla="*/ 173038 w 109"/>
              <a:gd name="T5" fmla="*/ 0 h 76"/>
              <a:gd name="T6" fmla="*/ 160338 w 109"/>
              <a:gd name="T7" fmla="*/ 0 h 76"/>
              <a:gd name="T8" fmla="*/ 160338 w 109"/>
              <a:gd name="T9" fmla="*/ 112713 h 76"/>
              <a:gd name="T10" fmla="*/ 0 w 109"/>
              <a:gd name="T11" fmla="*/ 112713 h 76"/>
              <a:gd name="T12" fmla="*/ 0 w 109"/>
              <a:gd name="T13" fmla="*/ 120650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9" h="76">
                <a:moveTo>
                  <a:pt x="0" y="76"/>
                </a:moveTo>
                <a:lnTo>
                  <a:pt x="109" y="76"/>
                </a:lnTo>
                <a:lnTo>
                  <a:pt x="109" y="0"/>
                </a:lnTo>
                <a:lnTo>
                  <a:pt x="101" y="0"/>
                </a:lnTo>
                <a:lnTo>
                  <a:pt x="101" y="71"/>
                </a:lnTo>
                <a:lnTo>
                  <a:pt x="0" y="71"/>
                </a:lnTo>
                <a:lnTo>
                  <a:pt x="0" y="76"/>
                </a:lnTo>
                <a:close/>
              </a:path>
            </a:pathLst>
          </a:custGeom>
          <a:solidFill>
            <a:srgbClr val="D5D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5" name="Freeform 820"/>
          <p:cNvSpPr/>
          <p:nvPr/>
        </p:nvSpPr>
        <p:spPr bwMode="auto">
          <a:xfrm>
            <a:off x="951780" y="3590385"/>
            <a:ext cx="122635" cy="85725"/>
          </a:xfrm>
          <a:custGeom>
            <a:avLst/>
            <a:gdLst>
              <a:gd name="T0" fmla="*/ 3175 w 103"/>
              <a:gd name="T1" fmla="*/ 114300 h 72"/>
              <a:gd name="T2" fmla="*/ 163513 w 103"/>
              <a:gd name="T3" fmla="*/ 114300 h 72"/>
              <a:gd name="T4" fmla="*/ 163513 w 103"/>
              <a:gd name="T5" fmla="*/ 1588 h 72"/>
              <a:gd name="T6" fmla="*/ 153988 w 103"/>
              <a:gd name="T7" fmla="*/ 0 h 72"/>
              <a:gd name="T8" fmla="*/ 153988 w 103"/>
              <a:gd name="T9" fmla="*/ 106363 h 72"/>
              <a:gd name="T10" fmla="*/ 0 w 103"/>
              <a:gd name="T11" fmla="*/ 106363 h 72"/>
              <a:gd name="T12" fmla="*/ 3175 w 103"/>
              <a:gd name="T13" fmla="*/ 114300 h 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3" h="72">
                <a:moveTo>
                  <a:pt x="2" y="72"/>
                </a:moveTo>
                <a:lnTo>
                  <a:pt x="103" y="72"/>
                </a:lnTo>
                <a:lnTo>
                  <a:pt x="103" y="1"/>
                </a:lnTo>
                <a:lnTo>
                  <a:pt x="97" y="0"/>
                </a:lnTo>
                <a:lnTo>
                  <a:pt x="97" y="67"/>
                </a:lnTo>
                <a:lnTo>
                  <a:pt x="0" y="67"/>
                </a:lnTo>
                <a:lnTo>
                  <a:pt x="2" y="72"/>
                </a:lnTo>
                <a:close/>
              </a:path>
            </a:pathLst>
          </a:custGeom>
          <a:solidFill>
            <a:srgbClr val="D9D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6" name="Freeform 821"/>
          <p:cNvSpPr/>
          <p:nvPr/>
        </p:nvSpPr>
        <p:spPr bwMode="auto">
          <a:xfrm>
            <a:off x="951780" y="3590385"/>
            <a:ext cx="115491" cy="79772"/>
          </a:xfrm>
          <a:custGeom>
            <a:avLst/>
            <a:gdLst>
              <a:gd name="T0" fmla="*/ 0 w 97"/>
              <a:gd name="T1" fmla="*/ 106362 h 67"/>
              <a:gd name="T2" fmla="*/ 153988 w 97"/>
              <a:gd name="T3" fmla="*/ 106362 h 67"/>
              <a:gd name="T4" fmla="*/ 153988 w 97"/>
              <a:gd name="T5" fmla="*/ 0 h 67"/>
              <a:gd name="T6" fmla="*/ 141288 w 97"/>
              <a:gd name="T7" fmla="*/ 1587 h 67"/>
              <a:gd name="T8" fmla="*/ 141288 w 97"/>
              <a:gd name="T9" fmla="*/ 98425 h 67"/>
              <a:gd name="T10" fmla="*/ 3175 w 97"/>
              <a:gd name="T11" fmla="*/ 98425 h 67"/>
              <a:gd name="T12" fmla="*/ 0 w 97"/>
              <a:gd name="T13" fmla="*/ 106362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7" h="67">
                <a:moveTo>
                  <a:pt x="0" y="67"/>
                </a:moveTo>
                <a:lnTo>
                  <a:pt x="97" y="67"/>
                </a:lnTo>
                <a:lnTo>
                  <a:pt x="97" y="0"/>
                </a:lnTo>
                <a:lnTo>
                  <a:pt x="89" y="1"/>
                </a:lnTo>
                <a:lnTo>
                  <a:pt x="89" y="62"/>
                </a:lnTo>
                <a:lnTo>
                  <a:pt x="2" y="62"/>
                </a:lnTo>
                <a:lnTo>
                  <a:pt x="0" y="67"/>
                </a:lnTo>
                <a:close/>
              </a:path>
            </a:pathLst>
          </a:custGeom>
          <a:solidFill>
            <a:srgbClr val="DDD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7" name="Freeform 822"/>
          <p:cNvSpPr/>
          <p:nvPr/>
        </p:nvSpPr>
        <p:spPr bwMode="auto">
          <a:xfrm>
            <a:off x="954161" y="3591575"/>
            <a:ext cx="103585" cy="72629"/>
          </a:xfrm>
          <a:custGeom>
            <a:avLst/>
            <a:gdLst>
              <a:gd name="T0" fmla="*/ 0 w 87"/>
              <a:gd name="T1" fmla="*/ 96838 h 61"/>
              <a:gd name="T2" fmla="*/ 138113 w 87"/>
              <a:gd name="T3" fmla="*/ 96838 h 61"/>
              <a:gd name="T4" fmla="*/ 138113 w 87"/>
              <a:gd name="T5" fmla="*/ 0 h 61"/>
              <a:gd name="T6" fmla="*/ 125413 w 87"/>
              <a:gd name="T7" fmla="*/ 0 h 61"/>
              <a:gd name="T8" fmla="*/ 125413 w 87"/>
              <a:gd name="T9" fmla="*/ 88900 h 61"/>
              <a:gd name="T10" fmla="*/ 0 w 87"/>
              <a:gd name="T11" fmla="*/ 88900 h 61"/>
              <a:gd name="T12" fmla="*/ 0 w 87"/>
              <a:gd name="T13" fmla="*/ 96838 h 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7" h="61">
                <a:moveTo>
                  <a:pt x="0" y="61"/>
                </a:moveTo>
                <a:lnTo>
                  <a:pt x="87" y="61"/>
                </a:lnTo>
                <a:lnTo>
                  <a:pt x="87" y="0"/>
                </a:lnTo>
                <a:lnTo>
                  <a:pt x="79" y="0"/>
                </a:lnTo>
                <a:lnTo>
                  <a:pt x="79" y="56"/>
                </a:lnTo>
                <a:lnTo>
                  <a:pt x="0" y="56"/>
                </a:lnTo>
                <a:lnTo>
                  <a:pt x="0" y="61"/>
                </a:lnTo>
                <a:close/>
              </a:path>
            </a:pathLst>
          </a:custGeom>
          <a:solidFill>
            <a:srgbClr val="E0E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8" name="Freeform 823"/>
          <p:cNvSpPr/>
          <p:nvPr/>
        </p:nvSpPr>
        <p:spPr bwMode="auto">
          <a:xfrm>
            <a:off x="954161" y="3591575"/>
            <a:ext cx="94060" cy="66675"/>
          </a:xfrm>
          <a:custGeom>
            <a:avLst/>
            <a:gdLst>
              <a:gd name="T0" fmla="*/ 0 w 79"/>
              <a:gd name="T1" fmla="*/ 88900 h 56"/>
              <a:gd name="T2" fmla="*/ 125413 w 79"/>
              <a:gd name="T3" fmla="*/ 88900 h 56"/>
              <a:gd name="T4" fmla="*/ 125413 w 79"/>
              <a:gd name="T5" fmla="*/ 0 h 56"/>
              <a:gd name="T6" fmla="*/ 112713 w 79"/>
              <a:gd name="T7" fmla="*/ 0 h 56"/>
              <a:gd name="T8" fmla="*/ 112713 w 79"/>
              <a:gd name="T9" fmla="*/ 77788 h 56"/>
              <a:gd name="T10" fmla="*/ 0 w 79"/>
              <a:gd name="T11" fmla="*/ 77788 h 56"/>
              <a:gd name="T12" fmla="*/ 0 w 79"/>
              <a:gd name="T13" fmla="*/ 88900 h 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9" h="56">
                <a:moveTo>
                  <a:pt x="0" y="56"/>
                </a:moveTo>
                <a:lnTo>
                  <a:pt x="79" y="56"/>
                </a:lnTo>
                <a:lnTo>
                  <a:pt x="79" y="0"/>
                </a:lnTo>
                <a:lnTo>
                  <a:pt x="71" y="0"/>
                </a:lnTo>
                <a:lnTo>
                  <a:pt x="71" y="49"/>
                </a:lnTo>
                <a:lnTo>
                  <a:pt x="0" y="49"/>
                </a:lnTo>
                <a:lnTo>
                  <a:pt x="0" y="56"/>
                </a:lnTo>
                <a:close/>
              </a:path>
            </a:pathLst>
          </a:custGeom>
          <a:solidFill>
            <a:srgbClr val="E4E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59" name="Freeform 824"/>
          <p:cNvSpPr/>
          <p:nvPr/>
        </p:nvSpPr>
        <p:spPr bwMode="auto">
          <a:xfrm>
            <a:off x="954161" y="3591575"/>
            <a:ext cx="84535" cy="58341"/>
          </a:xfrm>
          <a:custGeom>
            <a:avLst/>
            <a:gdLst>
              <a:gd name="T0" fmla="*/ 0 w 71"/>
              <a:gd name="T1" fmla="*/ 77788 h 49"/>
              <a:gd name="T2" fmla="*/ 112713 w 71"/>
              <a:gd name="T3" fmla="*/ 77788 h 49"/>
              <a:gd name="T4" fmla="*/ 112713 w 71"/>
              <a:gd name="T5" fmla="*/ 0 h 49"/>
              <a:gd name="T6" fmla="*/ 98425 w 71"/>
              <a:gd name="T7" fmla="*/ 0 h 49"/>
              <a:gd name="T8" fmla="*/ 98425 w 71"/>
              <a:gd name="T9" fmla="*/ 68263 h 49"/>
              <a:gd name="T10" fmla="*/ 0 w 71"/>
              <a:gd name="T11" fmla="*/ 68263 h 49"/>
              <a:gd name="T12" fmla="*/ 0 w 71"/>
              <a:gd name="T13" fmla="*/ 77788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49">
                <a:moveTo>
                  <a:pt x="0" y="49"/>
                </a:moveTo>
                <a:lnTo>
                  <a:pt x="71" y="49"/>
                </a:lnTo>
                <a:lnTo>
                  <a:pt x="71" y="0"/>
                </a:lnTo>
                <a:lnTo>
                  <a:pt x="62" y="0"/>
                </a:lnTo>
                <a:lnTo>
                  <a:pt x="62" y="43"/>
                </a:lnTo>
                <a:lnTo>
                  <a:pt x="0" y="43"/>
                </a:lnTo>
                <a:lnTo>
                  <a:pt x="0" y="49"/>
                </a:lnTo>
                <a:close/>
              </a:path>
            </a:pathLst>
          </a:custGeom>
          <a:solidFill>
            <a:srgbClr val="E8E8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0" name="Freeform 825"/>
          <p:cNvSpPr/>
          <p:nvPr/>
        </p:nvSpPr>
        <p:spPr bwMode="auto">
          <a:xfrm>
            <a:off x="954161" y="3591576"/>
            <a:ext cx="73819" cy="51197"/>
          </a:xfrm>
          <a:custGeom>
            <a:avLst/>
            <a:gdLst>
              <a:gd name="T0" fmla="*/ 0 w 62"/>
              <a:gd name="T1" fmla="*/ 68263 h 43"/>
              <a:gd name="T2" fmla="*/ 98425 w 62"/>
              <a:gd name="T3" fmla="*/ 68263 h 43"/>
              <a:gd name="T4" fmla="*/ 98425 w 62"/>
              <a:gd name="T5" fmla="*/ 0 h 43"/>
              <a:gd name="T6" fmla="*/ 84138 w 62"/>
              <a:gd name="T7" fmla="*/ 0 h 43"/>
              <a:gd name="T8" fmla="*/ 84138 w 62"/>
              <a:gd name="T9" fmla="*/ 58738 h 43"/>
              <a:gd name="T10" fmla="*/ 0 w 62"/>
              <a:gd name="T11" fmla="*/ 58738 h 43"/>
              <a:gd name="T12" fmla="*/ 0 w 62"/>
              <a:gd name="T13" fmla="*/ 68263 h 4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2" h="43">
                <a:moveTo>
                  <a:pt x="0" y="43"/>
                </a:moveTo>
                <a:lnTo>
                  <a:pt x="62" y="43"/>
                </a:lnTo>
                <a:lnTo>
                  <a:pt x="62" y="0"/>
                </a:lnTo>
                <a:lnTo>
                  <a:pt x="53" y="0"/>
                </a:lnTo>
                <a:lnTo>
                  <a:pt x="53" y="37"/>
                </a:lnTo>
                <a:lnTo>
                  <a:pt x="0" y="37"/>
                </a:lnTo>
                <a:lnTo>
                  <a:pt x="0" y="43"/>
                </a:lnTo>
                <a:close/>
              </a:path>
            </a:pathLst>
          </a:cu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1" name="Freeform 826"/>
          <p:cNvSpPr/>
          <p:nvPr/>
        </p:nvSpPr>
        <p:spPr bwMode="auto">
          <a:xfrm>
            <a:off x="954161" y="3591575"/>
            <a:ext cx="63104" cy="44054"/>
          </a:xfrm>
          <a:custGeom>
            <a:avLst/>
            <a:gdLst>
              <a:gd name="T0" fmla="*/ 0 w 53"/>
              <a:gd name="T1" fmla="*/ 58738 h 37"/>
              <a:gd name="T2" fmla="*/ 84138 w 53"/>
              <a:gd name="T3" fmla="*/ 58738 h 37"/>
              <a:gd name="T4" fmla="*/ 84138 w 53"/>
              <a:gd name="T5" fmla="*/ 0 h 37"/>
              <a:gd name="T6" fmla="*/ 69850 w 53"/>
              <a:gd name="T7" fmla="*/ 0 h 37"/>
              <a:gd name="T8" fmla="*/ 69850 w 53"/>
              <a:gd name="T9" fmla="*/ 47625 h 37"/>
              <a:gd name="T10" fmla="*/ 0 w 53"/>
              <a:gd name="T11" fmla="*/ 47625 h 37"/>
              <a:gd name="T12" fmla="*/ 0 w 53"/>
              <a:gd name="T13" fmla="*/ 58738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" h="37">
                <a:moveTo>
                  <a:pt x="0" y="37"/>
                </a:moveTo>
                <a:lnTo>
                  <a:pt x="53" y="37"/>
                </a:lnTo>
                <a:lnTo>
                  <a:pt x="53" y="0"/>
                </a:lnTo>
                <a:lnTo>
                  <a:pt x="44" y="0"/>
                </a:lnTo>
                <a:lnTo>
                  <a:pt x="44" y="30"/>
                </a:lnTo>
                <a:lnTo>
                  <a:pt x="0" y="30"/>
                </a:lnTo>
                <a:lnTo>
                  <a:pt x="0" y="37"/>
                </a:lnTo>
                <a:close/>
              </a:path>
            </a:pathLst>
          </a:custGeom>
          <a:solidFill>
            <a:srgbClr val="EFE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2" name="Freeform 827"/>
          <p:cNvSpPr/>
          <p:nvPr/>
        </p:nvSpPr>
        <p:spPr bwMode="auto">
          <a:xfrm>
            <a:off x="954161" y="3591576"/>
            <a:ext cx="52388" cy="35719"/>
          </a:xfrm>
          <a:custGeom>
            <a:avLst/>
            <a:gdLst>
              <a:gd name="T0" fmla="*/ 0 w 44"/>
              <a:gd name="T1" fmla="*/ 47625 h 30"/>
              <a:gd name="T2" fmla="*/ 69850 w 44"/>
              <a:gd name="T3" fmla="*/ 47625 h 30"/>
              <a:gd name="T4" fmla="*/ 69850 w 44"/>
              <a:gd name="T5" fmla="*/ 0 h 30"/>
              <a:gd name="T6" fmla="*/ 53975 w 44"/>
              <a:gd name="T7" fmla="*/ 0 h 30"/>
              <a:gd name="T8" fmla="*/ 53975 w 44"/>
              <a:gd name="T9" fmla="*/ 38100 h 30"/>
              <a:gd name="T10" fmla="*/ 0 w 44"/>
              <a:gd name="T11" fmla="*/ 38100 h 30"/>
              <a:gd name="T12" fmla="*/ 0 w 44"/>
              <a:gd name="T13" fmla="*/ 47625 h 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" h="30">
                <a:moveTo>
                  <a:pt x="0" y="30"/>
                </a:moveTo>
                <a:lnTo>
                  <a:pt x="44" y="30"/>
                </a:lnTo>
                <a:lnTo>
                  <a:pt x="44" y="0"/>
                </a:lnTo>
                <a:lnTo>
                  <a:pt x="34" y="0"/>
                </a:lnTo>
                <a:lnTo>
                  <a:pt x="34" y="24"/>
                </a:lnTo>
                <a:lnTo>
                  <a:pt x="0" y="24"/>
                </a:lnTo>
                <a:lnTo>
                  <a:pt x="0" y="30"/>
                </a:lnTo>
                <a:close/>
              </a:path>
            </a:pathLst>
          </a:custGeom>
          <a:solidFill>
            <a:srgbClr val="F3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3" name="Freeform 828"/>
          <p:cNvSpPr/>
          <p:nvPr/>
        </p:nvSpPr>
        <p:spPr bwMode="auto">
          <a:xfrm>
            <a:off x="951780" y="3590386"/>
            <a:ext cx="42863" cy="29765"/>
          </a:xfrm>
          <a:custGeom>
            <a:avLst/>
            <a:gdLst>
              <a:gd name="T0" fmla="*/ 3175 w 36"/>
              <a:gd name="T1" fmla="*/ 39687 h 25"/>
              <a:gd name="T2" fmla="*/ 57150 w 36"/>
              <a:gd name="T3" fmla="*/ 39687 h 25"/>
              <a:gd name="T4" fmla="*/ 57150 w 36"/>
              <a:gd name="T5" fmla="*/ 1587 h 25"/>
              <a:gd name="T6" fmla="*/ 41275 w 36"/>
              <a:gd name="T7" fmla="*/ 0 h 25"/>
              <a:gd name="T8" fmla="*/ 41275 w 36"/>
              <a:gd name="T9" fmla="*/ 26987 h 25"/>
              <a:gd name="T10" fmla="*/ 0 w 36"/>
              <a:gd name="T11" fmla="*/ 26987 h 25"/>
              <a:gd name="T12" fmla="*/ 3175 w 36"/>
              <a:gd name="T13" fmla="*/ 39687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" h="25">
                <a:moveTo>
                  <a:pt x="2" y="25"/>
                </a:moveTo>
                <a:lnTo>
                  <a:pt x="36" y="25"/>
                </a:lnTo>
                <a:lnTo>
                  <a:pt x="36" y="1"/>
                </a:lnTo>
                <a:lnTo>
                  <a:pt x="26" y="0"/>
                </a:lnTo>
                <a:lnTo>
                  <a:pt x="26" y="17"/>
                </a:lnTo>
                <a:lnTo>
                  <a:pt x="0" y="17"/>
                </a:lnTo>
                <a:lnTo>
                  <a:pt x="2" y="25"/>
                </a:lnTo>
                <a:close/>
              </a:path>
            </a:pathLst>
          </a:custGeom>
          <a:solidFill>
            <a:srgbClr val="F7F7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4" name="Freeform 829"/>
          <p:cNvSpPr/>
          <p:nvPr/>
        </p:nvSpPr>
        <p:spPr bwMode="auto">
          <a:xfrm>
            <a:off x="951780" y="3590386"/>
            <a:ext cx="30956" cy="20240"/>
          </a:xfrm>
          <a:custGeom>
            <a:avLst/>
            <a:gdLst>
              <a:gd name="T0" fmla="*/ 0 w 26"/>
              <a:gd name="T1" fmla="*/ 26987 h 17"/>
              <a:gd name="T2" fmla="*/ 41275 w 26"/>
              <a:gd name="T3" fmla="*/ 26987 h 17"/>
              <a:gd name="T4" fmla="*/ 41275 w 26"/>
              <a:gd name="T5" fmla="*/ 0 h 17"/>
              <a:gd name="T6" fmla="*/ 22225 w 26"/>
              <a:gd name="T7" fmla="*/ 1587 h 17"/>
              <a:gd name="T8" fmla="*/ 22225 w 26"/>
              <a:gd name="T9" fmla="*/ 15875 h 17"/>
              <a:gd name="T10" fmla="*/ 3175 w 26"/>
              <a:gd name="T11" fmla="*/ 15875 h 17"/>
              <a:gd name="T12" fmla="*/ 0 w 26"/>
              <a:gd name="T13" fmla="*/ 26987 h 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17">
                <a:moveTo>
                  <a:pt x="0" y="17"/>
                </a:moveTo>
                <a:lnTo>
                  <a:pt x="26" y="17"/>
                </a:lnTo>
                <a:lnTo>
                  <a:pt x="26" y="0"/>
                </a:lnTo>
                <a:lnTo>
                  <a:pt x="14" y="1"/>
                </a:lnTo>
                <a:lnTo>
                  <a:pt x="14" y="10"/>
                </a:lnTo>
                <a:lnTo>
                  <a:pt x="2" y="10"/>
                </a:lnTo>
                <a:lnTo>
                  <a:pt x="0" y="17"/>
                </a:lnTo>
                <a:close/>
              </a:path>
            </a:pathLst>
          </a:custGeom>
          <a:solidFill>
            <a:srgbClr val="FAFA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5" name="Freeform 830"/>
          <p:cNvSpPr/>
          <p:nvPr/>
        </p:nvSpPr>
        <p:spPr bwMode="auto">
          <a:xfrm>
            <a:off x="951780" y="3590386"/>
            <a:ext cx="16669" cy="11906"/>
          </a:xfrm>
          <a:custGeom>
            <a:avLst/>
            <a:gdLst>
              <a:gd name="T0" fmla="*/ 3175 w 14"/>
              <a:gd name="T1" fmla="*/ 15875 h 10"/>
              <a:gd name="T2" fmla="*/ 22225 w 14"/>
              <a:gd name="T3" fmla="*/ 15875 h 10"/>
              <a:gd name="T4" fmla="*/ 22225 w 14"/>
              <a:gd name="T5" fmla="*/ 1588 h 10"/>
              <a:gd name="T6" fmla="*/ 3175 w 14"/>
              <a:gd name="T7" fmla="*/ 0 h 10"/>
              <a:gd name="T8" fmla="*/ 3175 w 14"/>
              <a:gd name="T9" fmla="*/ 1588 h 10"/>
              <a:gd name="T10" fmla="*/ 0 w 14"/>
              <a:gd name="T11" fmla="*/ 1588 h 10"/>
              <a:gd name="T12" fmla="*/ 3175 w 14"/>
              <a:gd name="T13" fmla="*/ 15875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2" y="10"/>
                </a:moveTo>
                <a:lnTo>
                  <a:pt x="14" y="10"/>
                </a:lnTo>
                <a:lnTo>
                  <a:pt x="14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2" y="10"/>
                </a:lnTo>
                <a:close/>
              </a:path>
            </a:pathLst>
          </a:custGeom>
          <a:solidFill>
            <a:srgbClr val="FEFE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6" name="Freeform 831"/>
          <p:cNvSpPr/>
          <p:nvPr/>
        </p:nvSpPr>
        <p:spPr bwMode="auto">
          <a:xfrm>
            <a:off x="951780" y="3590386"/>
            <a:ext cx="2381" cy="1190"/>
          </a:xfrm>
          <a:custGeom>
            <a:avLst/>
            <a:gdLst>
              <a:gd name="T0" fmla="*/ 0 w 2"/>
              <a:gd name="T1" fmla="*/ 1587 h 1"/>
              <a:gd name="T2" fmla="*/ 3175 w 2"/>
              <a:gd name="T3" fmla="*/ 1587 h 1"/>
              <a:gd name="T4" fmla="*/ 3175 w 2"/>
              <a:gd name="T5" fmla="*/ 0 h 1"/>
              <a:gd name="T6" fmla="*/ 3175 w 2"/>
              <a:gd name="T7" fmla="*/ 1587 h 1"/>
              <a:gd name="T8" fmla="*/ 3175 w 2"/>
              <a:gd name="T9" fmla="*/ 1587 h 1"/>
              <a:gd name="T10" fmla="*/ 3175 w 2"/>
              <a:gd name="T11" fmla="*/ 1587 h 1"/>
              <a:gd name="T12" fmla="*/ 0 w 2"/>
              <a:gd name="T13" fmla="*/ 1587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" h="1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7" name="Freeform 832"/>
          <p:cNvSpPr/>
          <p:nvPr/>
        </p:nvSpPr>
        <p:spPr bwMode="auto">
          <a:xfrm>
            <a:off x="937493" y="3576097"/>
            <a:ext cx="273844" cy="203597"/>
          </a:xfrm>
          <a:custGeom>
            <a:avLst/>
            <a:gdLst>
              <a:gd name="T0" fmla="*/ 365125 w 230"/>
              <a:gd name="T1" fmla="*/ 0 h 171"/>
              <a:gd name="T2" fmla="*/ 0 w 230"/>
              <a:gd name="T3" fmla="*/ 0 h 171"/>
              <a:gd name="T4" fmla="*/ 0 w 230"/>
              <a:gd name="T5" fmla="*/ 271462 h 171"/>
              <a:gd name="T6" fmla="*/ 6350 w 230"/>
              <a:gd name="T7" fmla="*/ 271462 h 171"/>
              <a:gd name="T8" fmla="*/ 6350 w 230"/>
              <a:gd name="T9" fmla="*/ 4762 h 171"/>
              <a:gd name="T10" fmla="*/ 365125 w 230"/>
              <a:gd name="T11" fmla="*/ 4762 h 171"/>
              <a:gd name="T12" fmla="*/ 365125 w 230"/>
              <a:gd name="T13" fmla="*/ 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0" h="171">
                <a:moveTo>
                  <a:pt x="230" y="0"/>
                </a:moveTo>
                <a:lnTo>
                  <a:pt x="0" y="0"/>
                </a:lnTo>
                <a:lnTo>
                  <a:pt x="0" y="171"/>
                </a:lnTo>
                <a:lnTo>
                  <a:pt x="4" y="171"/>
                </a:lnTo>
                <a:lnTo>
                  <a:pt x="4" y="3"/>
                </a:lnTo>
                <a:lnTo>
                  <a:pt x="230" y="3"/>
                </a:lnTo>
                <a:lnTo>
                  <a:pt x="230" y="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8" name="Freeform 833"/>
          <p:cNvSpPr/>
          <p:nvPr/>
        </p:nvSpPr>
        <p:spPr bwMode="auto">
          <a:xfrm>
            <a:off x="942255" y="3579669"/>
            <a:ext cx="269081" cy="200025"/>
          </a:xfrm>
          <a:custGeom>
            <a:avLst/>
            <a:gdLst>
              <a:gd name="T0" fmla="*/ 358775 w 226"/>
              <a:gd name="T1" fmla="*/ 0 h 168"/>
              <a:gd name="T2" fmla="*/ 0 w 226"/>
              <a:gd name="T3" fmla="*/ 0 h 168"/>
              <a:gd name="T4" fmla="*/ 0 w 226"/>
              <a:gd name="T5" fmla="*/ 266700 h 168"/>
              <a:gd name="T6" fmla="*/ 7938 w 226"/>
              <a:gd name="T7" fmla="*/ 266700 h 168"/>
              <a:gd name="T8" fmla="*/ 7938 w 226"/>
              <a:gd name="T9" fmla="*/ 6350 h 168"/>
              <a:gd name="T10" fmla="*/ 358775 w 226"/>
              <a:gd name="T11" fmla="*/ 6350 h 168"/>
              <a:gd name="T12" fmla="*/ 358775 w 226"/>
              <a:gd name="T13" fmla="*/ 0 h 1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6" h="168">
                <a:moveTo>
                  <a:pt x="226" y="0"/>
                </a:moveTo>
                <a:lnTo>
                  <a:pt x="0" y="0"/>
                </a:lnTo>
                <a:lnTo>
                  <a:pt x="0" y="168"/>
                </a:lnTo>
                <a:lnTo>
                  <a:pt x="5" y="168"/>
                </a:lnTo>
                <a:lnTo>
                  <a:pt x="5" y="4"/>
                </a:lnTo>
                <a:lnTo>
                  <a:pt x="226" y="4"/>
                </a:lnTo>
                <a:lnTo>
                  <a:pt x="226" y="0"/>
                </a:lnTo>
                <a:close/>
              </a:path>
            </a:pathLst>
          </a:custGeom>
          <a:solidFill>
            <a:srgbClr val="9D9D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69" name="Freeform 834"/>
          <p:cNvSpPr/>
          <p:nvPr/>
        </p:nvSpPr>
        <p:spPr bwMode="auto">
          <a:xfrm>
            <a:off x="948209" y="3584431"/>
            <a:ext cx="263128" cy="195263"/>
          </a:xfrm>
          <a:custGeom>
            <a:avLst/>
            <a:gdLst>
              <a:gd name="T0" fmla="*/ 350837 w 221"/>
              <a:gd name="T1" fmla="*/ 0 h 164"/>
              <a:gd name="T2" fmla="*/ 0 w 221"/>
              <a:gd name="T3" fmla="*/ 0 h 164"/>
              <a:gd name="T4" fmla="*/ 0 w 221"/>
              <a:gd name="T5" fmla="*/ 260350 h 164"/>
              <a:gd name="T6" fmla="*/ 7937 w 221"/>
              <a:gd name="T7" fmla="*/ 260350 h 164"/>
              <a:gd name="T8" fmla="*/ 7937 w 221"/>
              <a:gd name="T9" fmla="*/ 4763 h 164"/>
              <a:gd name="T10" fmla="*/ 350837 w 221"/>
              <a:gd name="T11" fmla="*/ 4763 h 164"/>
              <a:gd name="T12" fmla="*/ 350837 w 221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1" h="164">
                <a:moveTo>
                  <a:pt x="221" y="0"/>
                </a:moveTo>
                <a:lnTo>
                  <a:pt x="0" y="0"/>
                </a:lnTo>
                <a:lnTo>
                  <a:pt x="0" y="164"/>
                </a:lnTo>
                <a:lnTo>
                  <a:pt x="5" y="164"/>
                </a:lnTo>
                <a:lnTo>
                  <a:pt x="5" y="3"/>
                </a:lnTo>
                <a:lnTo>
                  <a:pt x="221" y="3"/>
                </a:lnTo>
                <a:lnTo>
                  <a:pt x="221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0" name="Freeform 835"/>
          <p:cNvSpPr/>
          <p:nvPr/>
        </p:nvSpPr>
        <p:spPr bwMode="auto">
          <a:xfrm>
            <a:off x="954161" y="3588004"/>
            <a:ext cx="257175" cy="191690"/>
          </a:xfrm>
          <a:custGeom>
            <a:avLst/>
            <a:gdLst>
              <a:gd name="T0" fmla="*/ 342900 w 216"/>
              <a:gd name="T1" fmla="*/ 0 h 161"/>
              <a:gd name="T2" fmla="*/ 0 w 216"/>
              <a:gd name="T3" fmla="*/ 0 h 161"/>
              <a:gd name="T4" fmla="*/ 0 w 216"/>
              <a:gd name="T5" fmla="*/ 255587 h 161"/>
              <a:gd name="T6" fmla="*/ 7938 w 216"/>
              <a:gd name="T7" fmla="*/ 255587 h 161"/>
              <a:gd name="T8" fmla="*/ 7938 w 216"/>
              <a:gd name="T9" fmla="*/ 6350 h 161"/>
              <a:gd name="T10" fmla="*/ 342900 w 216"/>
              <a:gd name="T11" fmla="*/ 6350 h 161"/>
              <a:gd name="T12" fmla="*/ 342900 w 216"/>
              <a:gd name="T13" fmla="*/ 0 h 16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6" h="161">
                <a:moveTo>
                  <a:pt x="216" y="0"/>
                </a:moveTo>
                <a:lnTo>
                  <a:pt x="0" y="0"/>
                </a:lnTo>
                <a:lnTo>
                  <a:pt x="0" y="161"/>
                </a:lnTo>
                <a:lnTo>
                  <a:pt x="5" y="161"/>
                </a:lnTo>
                <a:lnTo>
                  <a:pt x="5" y="4"/>
                </a:lnTo>
                <a:lnTo>
                  <a:pt x="216" y="4"/>
                </a:lnTo>
                <a:lnTo>
                  <a:pt x="216" y="0"/>
                </a:lnTo>
                <a:close/>
              </a:path>
            </a:pathLst>
          </a:custGeom>
          <a:solidFill>
            <a:srgbClr val="A3A3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1" name="Freeform 836"/>
          <p:cNvSpPr/>
          <p:nvPr/>
        </p:nvSpPr>
        <p:spPr bwMode="auto">
          <a:xfrm>
            <a:off x="960114" y="3592767"/>
            <a:ext cx="251222" cy="186928"/>
          </a:xfrm>
          <a:custGeom>
            <a:avLst/>
            <a:gdLst>
              <a:gd name="T0" fmla="*/ 334962 w 211"/>
              <a:gd name="T1" fmla="*/ 0 h 157"/>
              <a:gd name="T2" fmla="*/ 0 w 211"/>
              <a:gd name="T3" fmla="*/ 0 h 157"/>
              <a:gd name="T4" fmla="*/ 0 w 211"/>
              <a:gd name="T5" fmla="*/ 249237 h 157"/>
              <a:gd name="T6" fmla="*/ 7937 w 211"/>
              <a:gd name="T7" fmla="*/ 249237 h 157"/>
              <a:gd name="T8" fmla="*/ 7937 w 211"/>
              <a:gd name="T9" fmla="*/ 6350 h 157"/>
              <a:gd name="T10" fmla="*/ 334962 w 211"/>
              <a:gd name="T11" fmla="*/ 6350 h 157"/>
              <a:gd name="T12" fmla="*/ 334962 w 211"/>
              <a:gd name="T13" fmla="*/ 0 h 1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11" h="157">
                <a:moveTo>
                  <a:pt x="211" y="0"/>
                </a:moveTo>
                <a:lnTo>
                  <a:pt x="0" y="0"/>
                </a:lnTo>
                <a:lnTo>
                  <a:pt x="0" y="157"/>
                </a:lnTo>
                <a:lnTo>
                  <a:pt x="5" y="157"/>
                </a:lnTo>
                <a:lnTo>
                  <a:pt x="5" y="4"/>
                </a:lnTo>
                <a:lnTo>
                  <a:pt x="211" y="4"/>
                </a:lnTo>
                <a:lnTo>
                  <a:pt x="211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2" name="Freeform 837"/>
          <p:cNvSpPr/>
          <p:nvPr/>
        </p:nvSpPr>
        <p:spPr bwMode="auto">
          <a:xfrm>
            <a:off x="966068" y="3597529"/>
            <a:ext cx="245269" cy="182165"/>
          </a:xfrm>
          <a:custGeom>
            <a:avLst/>
            <a:gdLst>
              <a:gd name="T0" fmla="*/ 327025 w 206"/>
              <a:gd name="T1" fmla="*/ 0 h 153"/>
              <a:gd name="T2" fmla="*/ 0 w 206"/>
              <a:gd name="T3" fmla="*/ 0 h 153"/>
              <a:gd name="T4" fmla="*/ 0 w 206"/>
              <a:gd name="T5" fmla="*/ 242887 h 153"/>
              <a:gd name="T6" fmla="*/ 7938 w 206"/>
              <a:gd name="T7" fmla="*/ 242887 h 153"/>
              <a:gd name="T8" fmla="*/ 7938 w 206"/>
              <a:gd name="T9" fmla="*/ 6350 h 153"/>
              <a:gd name="T10" fmla="*/ 327025 w 206"/>
              <a:gd name="T11" fmla="*/ 6350 h 153"/>
              <a:gd name="T12" fmla="*/ 327025 w 206"/>
              <a:gd name="T13" fmla="*/ 0 h 1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6" h="153">
                <a:moveTo>
                  <a:pt x="206" y="0"/>
                </a:moveTo>
                <a:lnTo>
                  <a:pt x="0" y="0"/>
                </a:lnTo>
                <a:lnTo>
                  <a:pt x="0" y="153"/>
                </a:lnTo>
                <a:lnTo>
                  <a:pt x="5" y="153"/>
                </a:lnTo>
                <a:lnTo>
                  <a:pt x="5" y="4"/>
                </a:lnTo>
                <a:lnTo>
                  <a:pt x="206" y="4"/>
                </a:lnTo>
                <a:lnTo>
                  <a:pt x="206" y="0"/>
                </a:lnTo>
                <a:close/>
              </a:path>
            </a:pathLst>
          </a:custGeom>
          <a:solidFill>
            <a:srgbClr val="A9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3" name="Freeform 838"/>
          <p:cNvSpPr/>
          <p:nvPr/>
        </p:nvSpPr>
        <p:spPr bwMode="auto">
          <a:xfrm>
            <a:off x="972021" y="3602292"/>
            <a:ext cx="239315" cy="177403"/>
          </a:xfrm>
          <a:custGeom>
            <a:avLst/>
            <a:gdLst>
              <a:gd name="T0" fmla="*/ 319087 w 201"/>
              <a:gd name="T1" fmla="*/ 0 h 149"/>
              <a:gd name="T2" fmla="*/ 0 w 201"/>
              <a:gd name="T3" fmla="*/ 0 h 149"/>
              <a:gd name="T4" fmla="*/ 0 w 201"/>
              <a:gd name="T5" fmla="*/ 236537 h 149"/>
              <a:gd name="T6" fmla="*/ 7937 w 201"/>
              <a:gd name="T7" fmla="*/ 236537 h 149"/>
              <a:gd name="T8" fmla="*/ 7937 w 201"/>
              <a:gd name="T9" fmla="*/ 6350 h 149"/>
              <a:gd name="T10" fmla="*/ 319087 w 201"/>
              <a:gd name="T11" fmla="*/ 6350 h 149"/>
              <a:gd name="T12" fmla="*/ 319087 w 201"/>
              <a:gd name="T13" fmla="*/ 0 h 1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01" h="149">
                <a:moveTo>
                  <a:pt x="201" y="0"/>
                </a:moveTo>
                <a:lnTo>
                  <a:pt x="0" y="0"/>
                </a:lnTo>
                <a:lnTo>
                  <a:pt x="0" y="149"/>
                </a:lnTo>
                <a:lnTo>
                  <a:pt x="5" y="149"/>
                </a:lnTo>
                <a:lnTo>
                  <a:pt x="5" y="4"/>
                </a:lnTo>
                <a:lnTo>
                  <a:pt x="201" y="4"/>
                </a:lnTo>
                <a:lnTo>
                  <a:pt x="201" y="0"/>
                </a:lnTo>
                <a:close/>
              </a:path>
            </a:pathLst>
          </a:custGeom>
          <a:solidFill>
            <a:srgbClr val="ACACA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4" name="Freeform 839"/>
          <p:cNvSpPr/>
          <p:nvPr/>
        </p:nvSpPr>
        <p:spPr bwMode="auto">
          <a:xfrm>
            <a:off x="977973" y="3607054"/>
            <a:ext cx="233363" cy="172640"/>
          </a:xfrm>
          <a:custGeom>
            <a:avLst/>
            <a:gdLst>
              <a:gd name="T0" fmla="*/ 311150 w 196"/>
              <a:gd name="T1" fmla="*/ 0 h 145"/>
              <a:gd name="T2" fmla="*/ 0 w 196"/>
              <a:gd name="T3" fmla="*/ 0 h 145"/>
              <a:gd name="T4" fmla="*/ 0 w 196"/>
              <a:gd name="T5" fmla="*/ 230187 h 145"/>
              <a:gd name="T6" fmla="*/ 7938 w 196"/>
              <a:gd name="T7" fmla="*/ 230187 h 145"/>
              <a:gd name="T8" fmla="*/ 7938 w 196"/>
              <a:gd name="T9" fmla="*/ 4762 h 145"/>
              <a:gd name="T10" fmla="*/ 311150 w 196"/>
              <a:gd name="T11" fmla="*/ 4762 h 145"/>
              <a:gd name="T12" fmla="*/ 311150 w 196"/>
              <a:gd name="T13" fmla="*/ 0 h 1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6" h="145">
                <a:moveTo>
                  <a:pt x="196" y="0"/>
                </a:moveTo>
                <a:lnTo>
                  <a:pt x="0" y="0"/>
                </a:lnTo>
                <a:lnTo>
                  <a:pt x="0" y="145"/>
                </a:lnTo>
                <a:lnTo>
                  <a:pt x="5" y="145"/>
                </a:lnTo>
                <a:lnTo>
                  <a:pt x="5" y="3"/>
                </a:lnTo>
                <a:lnTo>
                  <a:pt x="196" y="3"/>
                </a:lnTo>
                <a:lnTo>
                  <a:pt x="196" y="0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5" name="Freeform 840"/>
          <p:cNvSpPr/>
          <p:nvPr/>
        </p:nvSpPr>
        <p:spPr bwMode="auto">
          <a:xfrm>
            <a:off x="983927" y="3610626"/>
            <a:ext cx="227409" cy="169069"/>
          </a:xfrm>
          <a:custGeom>
            <a:avLst/>
            <a:gdLst>
              <a:gd name="T0" fmla="*/ 303212 w 191"/>
              <a:gd name="T1" fmla="*/ 0 h 142"/>
              <a:gd name="T2" fmla="*/ 0 w 191"/>
              <a:gd name="T3" fmla="*/ 0 h 142"/>
              <a:gd name="T4" fmla="*/ 0 w 191"/>
              <a:gd name="T5" fmla="*/ 225425 h 142"/>
              <a:gd name="T6" fmla="*/ 7937 w 191"/>
              <a:gd name="T7" fmla="*/ 225425 h 142"/>
              <a:gd name="T8" fmla="*/ 7937 w 191"/>
              <a:gd name="T9" fmla="*/ 6350 h 142"/>
              <a:gd name="T10" fmla="*/ 303212 w 191"/>
              <a:gd name="T11" fmla="*/ 6350 h 142"/>
              <a:gd name="T12" fmla="*/ 303212 w 191"/>
              <a:gd name="T13" fmla="*/ 0 h 1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91" h="142">
                <a:moveTo>
                  <a:pt x="191" y="0"/>
                </a:moveTo>
                <a:lnTo>
                  <a:pt x="0" y="0"/>
                </a:lnTo>
                <a:lnTo>
                  <a:pt x="0" y="142"/>
                </a:lnTo>
                <a:lnTo>
                  <a:pt x="5" y="142"/>
                </a:lnTo>
                <a:lnTo>
                  <a:pt x="5" y="4"/>
                </a:lnTo>
                <a:lnTo>
                  <a:pt x="191" y="4"/>
                </a:lnTo>
                <a:lnTo>
                  <a:pt x="191" y="0"/>
                </a:lnTo>
                <a:close/>
              </a:path>
            </a:pathLst>
          </a:custGeom>
          <a:solidFill>
            <a:srgbClr val="B1B1B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6" name="Freeform 841"/>
          <p:cNvSpPr/>
          <p:nvPr/>
        </p:nvSpPr>
        <p:spPr bwMode="auto">
          <a:xfrm>
            <a:off x="989880" y="3615388"/>
            <a:ext cx="221456" cy="164306"/>
          </a:xfrm>
          <a:custGeom>
            <a:avLst/>
            <a:gdLst>
              <a:gd name="T0" fmla="*/ 295275 w 186"/>
              <a:gd name="T1" fmla="*/ 0 h 138"/>
              <a:gd name="T2" fmla="*/ 0 w 186"/>
              <a:gd name="T3" fmla="*/ 0 h 138"/>
              <a:gd name="T4" fmla="*/ 0 w 186"/>
              <a:gd name="T5" fmla="*/ 219075 h 138"/>
              <a:gd name="T6" fmla="*/ 7938 w 186"/>
              <a:gd name="T7" fmla="*/ 219075 h 138"/>
              <a:gd name="T8" fmla="*/ 7938 w 186"/>
              <a:gd name="T9" fmla="*/ 6350 h 138"/>
              <a:gd name="T10" fmla="*/ 295275 w 186"/>
              <a:gd name="T11" fmla="*/ 6350 h 138"/>
              <a:gd name="T12" fmla="*/ 295275 w 186"/>
              <a:gd name="T13" fmla="*/ 0 h 1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6" h="138">
                <a:moveTo>
                  <a:pt x="186" y="0"/>
                </a:moveTo>
                <a:lnTo>
                  <a:pt x="0" y="0"/>
                </a:lnTo>
                <a:lnTo>
                  <a:pt x="0" y="138"/>
                </a:lnTo>
                <a:lnTo>
                  <a:pt x="5" y="138"/>
                </a:lnTo>
                <a:lnTo>
                  <a:pt x="5" y="4"/>
                </a:lnTo>
                <a:lnTo>
                  <a:pt x="186" y="4"/>
                </a:lnTo>
                <a:lnTo>
                  <a:pt x="186" y="0"/>
                </a:lnTo>
                <a:close/>
              </a:path>
            </a:pathLst>
          </a:custGeom>
          <a:solidFill>
            <a:srgbClr val="B3B3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7" name="Freeform 842"/>
          <p:cNvSpPr/>
          <p:nvPr/>
        </p:nvSpPr>
        <p:spPr bwMode="auto">
          <a:xfrm>
            <a:off x="995834" y="3620151"/>
            <a:ext cx="215503" cy="159544"/>
          </a:xfrm>
          <a:custGeom>
            <a:avLst/>
            <a:gdLst>
              <a:gd name="T0" fmla="*/ 287337 w 181"/>
              <a:gd name="T1" fmla="*/ 0 h 134"/>
              <a:gd name="T2" fmla="*/ 0 w 181"/>
              <a:gd name="T3" fmla="*/ 0 h 134"/>
              <a:gd name="T4" fmla="*/ 0 w 181"/>
              <a:gd name="T5" fmla="*/ 212725 h 134"/>
              <a:gd name="T6" fmla="*/ 9525 w 181"/>
              <a:gd name="T7" fmla="*/ 212725 h 134"/>
              <a:gd name="T8" fmla="*/ 9525 w 181"/>
              <a:gd name="T9" fmla="*/ 6350 h 134"/>
              <a:gd name="T10" fmla="*/ 287337 w 181"/>
              <a:gd name="T11" fmla="*/ 6350 h 134"/>
              <a:gd name="T12" fmla="*/ 287337 w 181"/>
              <a:gd name="T13" fmla="*/ 0 h 1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1" h="134">
                <a:moveTo>
                  <a:pt x="181" y="0"/>
                </a:moveTo>
                <a:lnTo>
                  <a:pt x="0" y="0"/>
                </a:lnTo>
                <a:lnTo>
                  <a:pt x="0" y="134"/>
                </a:lnTo>
                <a:lnTo>
                  <a:pt x="6" y="134"/>
                </a:lnTo>
                <a:lnTo>
                  <a:pt x="6" y="4"/>
                </a:lnTo>
                <a:lnTo>
                  <a:pt x="181" y="4"/>
                </a:lnTo>
                <a:lnTo>
                  <a:pt x="181" y="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8" name="Freeform 843"/>
          <p:cNvSpPr/>
          <p:nvPr/>
        </p:nvSpPr>
        <p:spPr bwMode="auto">
          <a:xfrm>
            <a:off x="1002977" y="3624913"/>
            <a:ext cx="208359" cy="154781"/>
          </a:xfrm>
          <a:custGeom>
            <a:avLst/>
            <a:gdLst>
              <a:gd name="T0" fmla="*/ 277812 w 175"/>
              <a:gd name="T1" fmla="*/ 0 h 130"/>
              <a:gd name="T2" fmla="*/ 0 w 175"/>
              <a:gd name="T3" fmla="*/ 0 h 130"/>
              <a:gd name="T4" fmla="*/ 0 w 175"/>
              <a:gd name="T5" fmla="*/ 206375 h 130"/>
              <a:gd name="T6" fmla="*/ 9525 w 175"/>
              <a:gd name="T7" fmla="*/ 206375 h 130"/>
              <a:gd name="T8" fmla="*/ 9525 w 175"/>
              <a:gd name="T9" fmla="*/ 6350 h 130"/>
              <a:gd name="T10" fmla="*/ 277812 w 175"/>
              <a:gd name="T11" fmla="*/ 6350 h 130"/>
              <a:gd name="T12" fmla="*/ 277812 w 175"/>
              <a:gd name="T13" fmla="*/ 0 h 1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5" h="130">
                <a:moveTo>
                  <a:pt x="175" y="0"/>
                </a:moveTo>
                <a:lnTo>
                  <a:pt x="0" y="0"/>
                </a:lnTo>
                <a:lnTo>
                  <a:pt x="0" y="130"/>
                </a:lnTo>
                <a:lnTo>
                  <a:pt x="6" y="130"/>
                </a:lnTo>
                <a:lnTo>
                  <a:pt x="6" y="4"/>
                </a:lnTo>
                <a:lnTo>
                  <a:pt x="175" y="4"/>
                </a:lnTo>
                <a:lnTo>
                  <a:pt x="175" y="0"/>
                </a:lnTo>
                <a:close/>
              </a:path>
            </a:pathLst>
          </a:custGeom>
          <a:solidFill>
            <a:srgbClr val="B8B8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79" name="Freeform 844"/>
          <p:cNvSpPr/>
          <p:nvPr/>
        </p:nvSpPr>
        <p:spPr bwMode="auto">
          <a:xfrm>
            <a:off x="1010121" y="3629676"/>
            <a:ext cx="201215" cy="150019"/>
          </a:xfrm>
          <a:custGeom>
            <a:avLst/>
            <a:gdLst>
              <a:gd name="T0" fmla="*/ 268287 w 169"/>
              <a:gd name="T1" fmla="*/ 0 h 126"/>
              <a:gd name="T2" fmla="*/ 0 w 169"/>
              <a:gd name="T3" fmla="*/ 0 h 126"/>
              <a:gd name="T4" fmla="*/ 0 w 169"/>
              <a:gd name="T5" fmla="*/ 200025 h 126"/>
              <a:gd name="T6" fmla="*/ 9525 w 169"/>
              <a:gd name="T7" fmla="*/ 200025 h 126"/>
              <a:gd name="T8" fmla="*/ 9525 w 169"/>
              <a:gd name="T9" fmla="*/ 7938 h 126"/>
              <a:gd name="T10" fmla="*/ 268287 w 169"/>
              <a:gd name="T11" fmla="*/ 7938 h 126"/>
              <a:gd name="T12" fmla="*/ 268287 w 169"/>
              <a:gd name="T13" fmla="*/ 0 h 1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9" h="126">
                <a:moveTo>
                  <a:pt x="169" y="0"/>
                </a:moveTo>
                <a:lnTo>
                  <a:pt x="0" y="0"/>
                </a:lnTo>
                <a:lnTo>
                  <a:pt x="0" y="126"/>
                </a:lnTo>
                <a:lnTo>
                  <a:pt x="6" y="126"/>
                </a:lnTo>
                <a:lnTo>
                  <a:pt x="6" y="5"/>
                </a:lnTo>
                <a:lnTo>
                  <a:pt x="169" y="5"/>
                </a:lnTo>
                <a:lnTo>
                  <a:pt x="169" y="0"/>
                </a:lnTo>
                <a:close/>
              </a:path>
            </a:pathLst>
          </a:custGeom>
          <a:solidFill>
            <a:srgbClr val="BABA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0" name="Freeform 845"/>
          <p:cNvSpPr/>
          <p:nvPr/>
        </p:nvSpPr>
        <p:spPr bwMode="auto">
          <a:xfrm>
            <a:off x="1017264" y="3635629"/>
            <a:ext cx="194072" cy="144065"/>
          </a:xfrm>
          <a:custGeom>
            <a:avLst/>
            <a:gdLst>
              <a:gd name="T0" fmla="*/ 258762 w 163"/>
              <a:gd name="T1" fmla="*/ 0 h 121"/>
              <a:gd name="T2" fmla="*/ 0 w 163"/>
              <a:gd name="T3" fmla="*/ 0 h 121"/>
              <a:gd name="T4" fmla="*/ 0 w 163"/>
              <a:gd name="T5" fmla="*/ 192087 h 121"/>
              <a:gd name="T6" fmla="*/ 7937 w 163"/>
              <a:gd name="T7" fmla="*/ 192087 h 121"/>
              <a:gd name="T8" fmla="*/ 7937 w 163"/>
              <a:gd name="T9" fmla="*/ 6350 h 121"/>
              <a:gd name="T10" fmla="*/ 258762 w 163"/>
              <a:gd name="T11" fmla="*/ 6350 h 121"/>
              <a:gd name="T12" fmla="*/ 258762 w 163"/>
              <a:gd name="T13" fmla="*/ 0 h 12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3" h="121">
                <a:moveTo>
                  <a:pt x="163" y="0"/>
                </a:moveTo>
                <a:lnTo>
                  <a:pt x="0" y="0"/>
                </a:lnTo>
                <a:lnTo>
                  <a:pt x="0" y="121"/>
                </a:lnTo>
                <a:lnTo>
                  <a:pt x="5" y="121"/>
                </a:lnTo>
                <a:lnTo>
                  <a:pt x="5" y="4"/>
                </a:lnTo>
                <a:lnTo>
                  <a:pt x="163" y="4"/>
                </a:lnTo>
                <a:lnTo>
                  <a:pt x="163" y="0"/>
                </a:lnTo>
                <a:close/>
              </a:path>
            </a:pathLst>
          </a:custGeom>
          <a:solidFill>
            <a:srgbClr val="BDBD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1" name="Freeform 846"/>
          <p:cNvSpPr/>
          <p:nvPr/>
        </p:nvSpPr>
        <p:spPr bwMode="auto">
          <a:xfrm>
            <a:off x="1023218" y="3640392"/>
            <a:ext cx="188119" cy="139303"/>
          </a:xfrm>
          <a:custGeom>
            <a:avLst/>
            <a:gdLst>
              <a:gd name="T0" fmla="*/ 250825 w 158"/>
              <a:gd name="T1" fmla="*/ 0 h 117"/>
              <a:gd name="T2" fmla="*/ 0 w 158"/>
              <a:gd name="T3" fmla="*/ 0 h 117"/>
              <a:gd name="T4" fmla="*/ 0 w 158"/>
              <a:gd name="T5" fmla="*/ 185737 h 117"/>
              <a:gd name="T6" fmla="*/ 9525 w 158"/>
              <a:gd name="T7" fmla="*/ 185737 h 117"/>
              <a:gd name="T8" fmla="*/ 9525 w 158"/>
              <a:gd name="T9" fmla="*/ 7937 h 117"/>
              <a:gd name="T10" fmla="*/ 250825 w 158"/>
              <a:gd name="T11" fmla="*/ 7937 h 117"/>
              <a:gd name="T12" fmla="*/ 250825 w 158"/>
              <a:gd name="T13" fmla="*/ 0 h 1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8" h="117">
                <a:moveTo>
                  <a:pt x="158" y="0"/>
                </a:moveTo>
                <a:lnTo>
                  <a:pt x="0" y="0"/>
                </a:lnTo>
                <a:lnTo>
                  <a:pt x="0" y="117"/>
                </a:lnTo>
                <a:lnTo>
                  <a:pt x="6" y="117"/>
                </a:lnTo>
                <a:lnTo>
                  <a:pt x="6" y="5"/>
                </a:lnTo>
                <a:lnTo>
                  <a:pt x="158" y="5"/>
                </a:lnTo>
                <a:lnTo>
                  <a:pt x="158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2" name="Freeform 847"/>
          <p:cNvSpPr/>
          <p:nvPr/>
        </p:nvSpPr>
        <p:spPr bwMode="auto">
          <a:xfrm>
            <a:off x="1030361" y="3646344"/>
            <a:ext cx="180975" cy="133350"/>
          </a:xfrm>
          <a:custGeom>
            <a:avLst/>
            <a:gdLst>
              <a:gd name="T0" fmla="*/ 241300 w 152"/>
              <a:gd name="T1" fmla="*/ 0 h 112"/>
              <a:gd name="T2" fmla="*/ 0 w 152"/>
              <a:gd name="T3" fmla="*/ 0 h 112"/>
              <a:gd name="T4" fmla="*/ 0 w 152"/>
              <a:gd name="T5" fmla="*/ 177800 h 112"/>
              <a:gd name="T6" fmla="*/ 11113 w 152"/>
              <a:gd name="T7" fmla="*/ 177800 h 112"/>
              <a:gd name="T8" fmla="*/ 11113 w 152"/>
              <a:gd name="T9" fmla="*/ 7938 h 112"/>
              <a:gd name="T10" fmla="*/ 241300 w 152"/>
              <a:gd name="T11" fmla="*/ 7938 h 112"/>
              <a:gd name="T12" fmla="*/ 241300 w 152"/>
              <a:gd name="T13" fmla="*/ 0 h 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52" h="112">
                <a:moveTo>
                  <a:pt x="152" y="0"/>
                </a:moveTo>
                <a:lnTo>
                  <a:pt x="0" y="0"/>
                </a:lnTo>
                <a:lnTo>
                  <a:pt x="0" y="112"/>
                </a:lnTo>
                <a:lnTo>
                  <a:pt x="7" y="112"/>
                </a:lnTo>
                <a:lnTo>
                  <a:pt x="7" y="5"/>
                </a:lnTo>
                <a:lnTo>
                  <a:pt x="152" y="5"/>
                </a:lnTo>
                <a:lnTo>
                  <a:pt x="152" y="0"/>
                </a:lnTo>
                <a:close/>
              </a:path>
            </a:pathLst>
          </a:custGeom>
          <a:solidFill>
            <a:srgbClr val="C1C1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3" name="Freeform 848"/>
          <p:cNvSpPr/>
          <p:nvPr/>
        </p:nvSpPr>
        <p:spPr bwMode="auto">
          <a:xfrm>
            <a:off x="1038696" y="3652297"/>
            <a:ext cx="172640" cy="127397"/>
          </a:xfrm>
          <a:custGeom>
            <a:avLst/>
            <a:gdLst>
              <a:gd name="T0" fmla="*/ 230187 w 145"/>
              <a:gd name="T1" fmla="*/ 0 h 107"/>
              <a:gd name="T2" fmla="*/ 0 w 145"/>
              <a:gd name="T3" fmla="*/ 0 h 107"/>
              <a:gd name="T4" fmla="*/ 0 w 145"/>
              <a:gd name="T5" fmla="*/ 169862 h 107"/>
              <a:gd name="T6" fmla="*/ 11112 w 145"/>
              <a:gd name="T7" fmla="*/ 169862 h 107"/>
              <a:gd name="T8" fmla="*/ 11112 w 145"/>
              <a:gd name="T9" fmla="*/ 7937 h 107"/>
              <a:gd name="T10" fmla="*/ 230187 w 145"/>
              <a:gd name="T11" fmla="*/ 7937 h 107"/>
              <a:gd name="T12" fmla="*/ 230187 w 145"/>
              <a:gd name="T13" fmla="*/ 0 h 10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" h="107">
                <a:moveTo>
                  <a:pt x="145" y="0"/>
                </a:moveTo>
                <a:lnTo>
                  <a:pt x="0" y="0"/>
                </a:lnTo>
                <a:lnTo>
                  <a:pt x="0" y="107"/>
                </a:lnTo>
                <a:lnTo>
                  <a:pt x="7" y="107"/>
                </a:lnTo>
                <a:lnTo>
                  <a:pt x="7" y="5"/>
                </a:lnTo>
                <a:lnTo>
                  <a:pt x="145" y="5"/>
                </a:lnTo>
                <a:lnTo>
                  <a:pt x="145" y="0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4" name="Freeform 849"/>
          <p:cNvSpPr/>
          <p:nvPr/>
        </p:nvSpPr>
        <p:spPr bwMode="auto">
          <a:xfrm>
            <a:off x="1047030" y="3658251"/>
            <a:ext cx="164306" cy="121444"/>
          </a:xfrm>
          <a:custGeom>
            <a:avLst/>
            <a:gdLst>
              <a:gd name="T0" fmla="*/ 219075 w 138"/>
              <a:gd name="T1" fmla="*/ 0 h 102"/>
              <a:gd name="T2" fmla="*/ 0 w 138"/>
              <a:gd name="T3" fmla="*/ 0 h 102"/>
              <a:gd name="T4" fmla="*/ 0 w 138"/>
              <a:gd name="T5" fmla="*/ 161925 h 102"/>
              <a:gd name="T6" fmla="*/ 11113 w 138"/>
              <a:gd name="T7" fmla="*/ 161925 h 102"/>
              <a:gd name="T8" fmla="*/ 11113 w 138"/>
              <a:gd name="T9" fmla="*/ 7938 h 102"/>
              <a:gd name="T10" fmla="*/ 219075 w 138"/>
              <a:gd name="T11" fmla="*/ 7938 h 102"/>
              <a:gd name="T12" fmla="*/ 219075 w 138"/>
              <a:gd name="T13" fmla="*/ 0 h 1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8" h="102">
                <a:moveTo>
                  <a:pt x="138" y="0"/>
                </a:moveTo>
                <a:lnTo>
                  <a:pt x="0" y="0"/>
                </a:lnTo>
                <a:lnTo>
                  <a:pt x="0" y="102"/>
                </a:lnTo>
                <a:lnTo>
                  <a:pt x="7" y="102"/>
                </a:lnTo>
                <a:lnTo>
                  <a:pt x="7" y="5"/>
                </a:lnTo>
                <a:lnTo>
                  <a:pt x="138" y="5"/>
                </a:lnTo>
                <a:lnTo>
                  <a:pt x="138" y="0"/>
                </a:lnTo>
                <a:close/>
              </a:path>
            </a:pathLst>
          </a:cu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5" name="Freeform 850"/>
          <p:cNvSpPr/>
          <p:nvPr/>
        </p:nvSpPr>
        <p:spPr bwMode="auto">
          <a:xfrm>
            <a:off x="1055364" y="3664204"/>
            <a:ext cx="155972" cy="115490"/>
          </a:xfrm>
          <a:custGeom>
            <a:avLst/>
            <a:gdLst>
              <a:gd name="T0" fmla="*/ 207962 w 131"/>
              <a:gd name="T1" fmla="*/ 0 h 97"/>
              <a:gd name="T2" fmla="*/ 0 w 131"/>
              <a:gd name="T3" fmla="*/ 0 h 97"/>
              <a:gd name="T4" fmla="*/ 0 w 131"/>
              <a:gd name="T5" fmla="*/ 153987 h 97"/>
              <a:gd name="T6" fmla="*/ 11112 w 131"/>
              <a:gd name="T7" fmla="*/ 153987 h 97"/>
              <a:gd name="T8" fmla="*/ 11112 w 131"/>
              <a:gd name="T9" fmla="*/ 7937 h 97"/>
              <a:gd name="T10" fmla="*/ 207962 w 131"/>
              <a:gd name="T11" fmla="*/ 7937 h 97"/>
              <a:gd name="T12" fmla="*/ 207962 w 131"/>
              <a:gd name="T13" fmla="*/ 0 h 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31" h="97">
                <a:moveTo>
                  <a:pt x="131" y="0"/>
                </a:moveTo>
                <a:lnTo>
                  <a:pt x="0" y="0"/>
                </a:lnTo>
                <a:lnTo>
                  <a:pt x="0" y="97"/>
                </a:lnTo>
                <a:lnTo>
                  <a:pt x="7" y="97"/>
                </a:lnTo>
                <a:lnTo>
                  <a:pt x="7" y="5"/>
                </a:lnTo>
                <a:lnTo>
                  <a:pt x="131" y="5"/>
                </a:lnTo>
                <a:lnTo>
                  <a:pt x="131" y="0"/>
                </a:lnTo>
                <a:close/>
              </a:path>
            </a:pathLst>
          </a:custGeom>
          <a:solidFill>
            <a:srgbClr val="C9C9C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6" name="Freeform 851"/>
          <p:cNvSpPr/>
          <p:nvPr/>
        </p:nvSpPr>
        <p:spPr bwMode="auto">
          <a:xfrm>
            <a:off x="1063698" y="3670156"/>
            <a:ext cx="147638" cy="109538"/>
          </a:xfrm>
          <a:custGeom>
            <a:avLst/>
            <a:gdLst>
              <a:gd name="T0" fmla="*/ 196850 w 124"/>
              <a:gd name="T1" fmla="*/ 0 h 92"/>
              <a:gd name="T2" fmla="*/ 0 w 124"/>
              <a:gd name="T3" fmla="*/ 0 h 92"/>
              <a:gd name="T4" fmla="*/ 0 w 124"/>
              <a:gd name="T5" fmla="*/ 146050 h 92"/>
              <a:gd name="T6" fmla="*/ 12700 w 124"/>
              <a:gd name="T7" fmla="*/ 146050 h 92"/>
              <a:gd name="T8" fmla="*/ 12700 w 124"/>
              <a:gd name="T9" fmla="*/ 9525 h 92"/>
              <a:gd name="T10" fmla="*/ 196850 w 124"/>
              <a:gd name="T11" fmla="*/ 9525 h 92"/>
              <a:gd name="T12" fmla="*/ 196850 w 124"/>
              <a:gd name="T13" fmla="*/ 0 h 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4" h="92">
                <a:moveTo>
                  <a:pt x="124" y="0"/>
                </a:moveTo>
                <a:lnTo>
                  <a:pt x="0" y="0"/>
                </a:lnTo>
                <a:lnTo>
                  <a:pt x="0" y="92"/>
                </a:lnTo>
                <a:lnTo>
                  <a:pt x="8" y="92"/>
                </a:lnTo>
                <a:lnTo>
                  <a:pt x="8" y="6"/>
                </a:lnTo>
                <a:lnTo>
                  <a:pt x="124" y="6"/>
                </a:lnTo>
                <a:lnTo>
                  <a:pt x="124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7" name="Freeform 852"/>
          <p:cNvSpPr/>
          <p:nvPr/>
        </p:nvSpPr>
        <p:spPr bwMode="auto">
          <a:xfrm>
            <a:off x="1073223" y="3677301"/>
            <a:ext cx="138113" cy="102394"/>
          </a:xfrm>
          <a:custGeom>
            <a:avLst/>
            <a:gdLst>
              <a:gd name="T0" fmla="*/ 184150 w 116"/>
              <a:gd name="T1" fmla="*/ 0 h 86"/>
              <a:gd name="T2" fmla="*/ 0 w 116"/>
              <a:gd name="T3" fmla="*/ 0 h 86"/>
              <a:gd name="T4" fmla="*/ 0 w 116"/>
              <a:gd name="T5" fmla="*/ 136525 h 86"/>
              <a:gd name="T6" fmla="*/ 14288 w 116"/>
              <a:gd name="T7" fmla="*/ 134938 h 86"/>
              <a:gd name="T8" fmla="*/ 14288 w 116"/>
              <a:gd name="T9" fmla="*/ 11113 h 86"/>
              <a:gd name="T10" fmla="*/ 182563 w 116"/>
              <a:gd name="T11" fmla="*/ 11113 h 86"/>
              <a:gd name="T12" fmla="*/ 184150 w 116"/>
              <a:gd name="T13" fmla="*/ 0 h 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16" h="86">
                <a:moveTo>
                  <a:pt x="116" y="0"/>
                </a:moveTo>
                <a:lnTo>
                  <a:pt x="0" y="0"/>
                </a:lnTo>
                <a:lnTo>
                  <a:pt x="0" y="86"/>
                </a:lnTo>
                <a:lnTo>
                  <a:pt x="9" y="85"/>
                </a:lnTo>
                <a:lnTo>
                  <a:pt x="9" y="7"/>
                </a:lnTo>
                <a:lnTo>
                  <a:pt x="115" y="7"/>
                </a:lnTo>
                <a:lnTo>
                  <a:pt x="116" y="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8" name="Freeform 853"/>
          <p:cNvSpPr/>
          <p:nvPr/>
        </p:nvSpPr>
        <p:spPr bwMode="auto">
          <a:xfrm>
            <a:off x="1083940" y="3685635"/>
            <a:ext cx="126206" cy="92869"/>
          </a:xfrm>
          <a:custGeom>
            <a:avLst/>
            <a:gdLst>
              <a:gd name="T0" fmla="*/ 168275 w 106"/>
              <a:gd name="T1" fmla="*/ 0 h 78"/>
              <a:gd name="T2" fmla="*/ 0 w 106"/>
              <a:gd name="T3" fmla="*/ 0 h 78"/>
              <a:gd name="T4" fmla="*/ 0 w 106"/>
              <a:gd name="T5" fmla="*/ 123825 h 78"/>
              <a:gd name="T6" fmla="*/ 11113 w 106"/>
              <a:gd name="T7" fmla="*/ 123825 h 78"/>
              <a:gd name="T8" fmla="*/ 11113 w 106"/>
              <a:gd name="T9" fmla="*/ 9525 h 78"/>
              <a:gd name="T10" fmla="*/ 168275 w 106"/>
              <a:gd name="T11" fmla="*/ 9525 h 78"/>
              <a:gd name="T12" fmla="*/ 168275 w 106"/>
              <a:gd name="T13" fmla="*/ 0 h 7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6" h="78">
                <a:moveTo>
                  <a:pt x="106" y="0"/>
                </a:moveTo>
                <a:lnTo>
                  <a:pt x="0" y="0"/>
                </a:lnTo>
                <a:lnTo>
                  <a:pt x="0" y="78"/>
                </a:lnTo>
                <a:lnTo>
                  <a:pt x="7" y="78"/>
                </a:lnTo>
                <a:lnTo>
                  <a:pt x="7" y="6"/>
                </a:lnTo>
                <a:lnTo>
                  <a:pt x="106" y="6"/>
                </a:lnTo>
                <a:lnTo>
                  <a:pt x="106" y="0"/>
                </a:lnTo>
                <a:close/>
              </a:path>
            </a:pathLst>
          </a:custGeom>
          <a:solidFill>
            <a:srgbClr val="D0D0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89" name="Freeform 854"/>
          <p:cNvSpPr/>
          <p:nvPr/>
        </p:nvSpPr>
        <p:spPr bwMode="auto">
          <a:xfrm>
            <a:off x="1092273" y="3692779"/>
            <a:ext cx="119063" cy="86915"/>
          </a:xfrm>
          <a:custGeom>
            <a:avLst/>
            <a:gdLst>
              <a:gd name="T0" fmla="*/ 157163 w 100"/>
              <a:gd name="T1" fmla="*/ 0 h 73"/>
              <a:gd name="T2" fmla="*/ 0 w 100"/>
              <a:gd name="T3" fmla="*/ 0 h 73"/>
              <a:gd name="T4" fmla="*/ 0 w 100"/>
              <a:gd name="T5" fmla="*/ 114300 h 73"/>
              <a:gd name="T6" fmla="*/ 14288 w 100"/>
              <a:gd name="T7" fmla="*/ 115887 h 73"/>
              <a:gd name="T8" fmla="*/ 14288 w 100"/>
              <a:gd name="T9" fmla="*/ 9525 h 73"/>
              <a:gd name="T10" fmla="*/ 158750 w 100"/>
              <a:gd name="T11" fmla="*/ 9525 h 73"/>
              <a:gd name="T12" fmla="*/ 157163 w 100"/>
              <a:gd name="T13" fmla="*/ 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" h="73">
                <a:moveTo>
                  <a:pt x="99" y="0"/>
                </a:moveTo>
                <a:lnTo>
                  <a:pt x="0" y="0"/>
                </a:lnTo>
                <a:lnTo>
                  <a:pt x="0" y="72"/>
                </a:lnTo>
                <a:lnTo>
                  <a:pt x="9" y="73"/>
                </a:lnTo>
                <a:lnTo>
                  <a:pt x="9" y="6"/>
                </a:lnTo>
                <a:lnTo>
                  <a:pt x="100" y="6"/>
                </a:lnTo>
                <a:lnTo>
                  <a:pt x="99" y="0"/>
                </a:lnTo>
                <a:close/>
              </a:path>
            </a:pathLst>
          </a:custGeom>
          <a:solidFill>
            <a:srgbClr val="D2D2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0" name="Freeform 855"/>
          <p:cNvSpPr/>
          <p:nvPr/>
        </p:nvSpPr>
        <p:spPr bwMode="auto">
          <a:xfrm>
            <a:off x="1102989" y="3699922"/>
            <a:ext cx="108347" cy="79772"/>
          </a:xfrm>
          <a:custGeom>
            <a:avLst/>
            <a:gdLst>
              <a:gd name="T0" fmla="*/ 144462 w 91"/>
              <a:gd name="T1" fmla="*/ 0 h 67"/>
              <a:gd name="T2" fmla="*/ 0 w 91"/>
              <a:gd name="T3" fmla="*/ 0 h 67"/>
              <a:gd name="T4" fmla="*/ 0 w 91"/>
              <a:gd name="T5" fmla="*/ 106362 h 67"/>
              <a:gd name="T6" fmla="*/ 15875 w 91"/>
              <a:gd name="T7" fmla="*/ 104775 h 67"/>
              <a:gd name="T8" fmla="*/ 15875 w 91"/>
              <a:gd name="T9" fmla="*/ 11112 h 67"/>
              <a:gd name="T10" fmla="*/ 142875 w 91"/>
              <a:gd name="T11" fmla="*/ 11112 h 67"/>
              <a:gd name="T12" fmla="*/ 144462 w 91"/>
              <a:gd name="T13" fmla="*/ 0 h 6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1" h="67">
                <a:moveTo>
                  <a:pt x="91" y="0"/>
                </a:moveTo>
                <a:lnTo>
                  <a:pt x="0" y="0"/>
                </a:lnTo>
                <a:lnTo>
                  <a:pt x="0" y="67"/>
                </a:lnTo>
                <a:lnTo>
                  <a:pt x="10" y="66"/>
                </a:lnTo>
                <a:lnTo>
                  <a:pt x="10" y="7"/>
                </a:lnTo>
                <a:lnTo>
                  <a:pt x="90" y="7"/>
                </a:lnTo>
                <a:lnTo>
                  <a:pt x="91" y="0"/>
                </a:lnTo>
                <a:close/>
              </a:path>
            </a:pathLst>
          </a:cu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1" name="Freeform 856"/>
          <p:cNvSpPr/>
          <p:nvPr/>
        </p:nvSpPr>
        <p:spPr bwMode="auto">
          <a:xfrm>
            <a:off x="1114896" y="3708256"/>
            <a:ext cx="96440" cy="71438"/>
          </a:xfrm>
          <a:custGeom>
            <a:avLst/>
            <a:gdLst>
              <a:gd name="T0" fmla="*/ 127000 w 81"/>
              <a:gd name="T1" fmla="*/ 0 h 60"/>
              <a:gd name="T2" fmla="*/ 0 w 81"/>
              <a:gd name="T3" fmla="*/ 0 h 60"/>
              <a:gd name="T4" fmla="*/ 0 w 81"/>
              <a:gd name="T5" fmla="*/ 93663 h 60"/>
              <a:gd name="T6" fmla="*/ 15875 w 81"/>
              <a:gd name="T7" fmla="*/ 95250 h 60"/>
              <a:gd name="T8" fmla="*/ 15875 w 81"/>
              <a:gd name="T9" fmla="*/ 11113 h 60"/>
              <a:gd name="T10" fmla="*/ 128587 w 81"/>
              <a:gd name="T11" fmla="*/ 11113 h 60"/>
              <a:gd name="T12" fmla="*/ 127000 w 81"/>
              <a:gd name="T13" fmla="*/ 0 h 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1" h="60">
                <a:moveTo>
                  <a:pt x="80" y="0"/>
                </a:moveTo>
                <a:lnTo>
                  <a:pt x="0" y="0"/>
                </a:lnTo>
                <a:lnTo>
                  <a:pt x="0" y="59"/>
                </a:lnTo>
                <a:lnTo>
                  <a:pt x="10" y="60"/>
                </a:lnTo>
                <a:lnTo>
                  <a:pt x="10" y="7"/>
                </a:lnTo>
                <a:lnTo>
                  <a:pt x="81" y="7"/>
                </a:lnTo>
                <a:lnTo>
                  <a:pt x="80" y="0"/>
                </a:lnTo>
                <a:close/>
              </a:path>
            </a:pathLst>
          </a:cu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2" name="Freeform 857"/>
          <p:cNvSpPr/>
          <p:nvPr/>
        </p:nvSpPr>
        <p:spPr bwMode="auto">
          <a:xfrm>
            <a:off x="1126802" y="3716592"/>
            <a:ext cx="84534" cy="63103"/>
          </a:xfrm>
          <a:custGeom>
            <a:avLst/>
            <a:gdLst>
              <a:gd name="T0" fmla="*/ 112712 w 71"/>
              <a:gd name="T1" fmla="*/ 0 h 53"/>
              <a:gd name="T2" fmla="*/ 0 w 71"/>
              <a:gd name="T3" fmla="*/ 0 h 53"/>
              <a:gd name="T4" fmla="*/ 0 w 71"/>
              <a:gd name="T5" fmla="*/ 84137 h 53"/>
              <a:gd name="T6" fmla="*/ 15875 w 71"/>
              <a:gd name="T7" fmla="*/ 82550 h 53"/>
              <a:gd name="T8" fmla="*/ 15875 w 71"/>
              <a:gd name="T9" fmla="*/ 12700 h 53"/>
              <a:gd name="T10" fmla="*/ 111125 w 71"/>
              <a:gd name="T11" fmla="*/ 12700 h 53"/>
              <a:gd name="T12" fmla="*/ 112712 w 71"/>
              <a:gd name="T13" fmla="*/ 0 h 5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" h="53">
                <a:moveTo>
                  <a:pt x="71" y="0"/>
                </a:moveTo>
                <a:lnTo>
                  <a:pt x="0" y="0"/>
                </a:lnTo>
                <a:lnTo>
                  <a:pt x="0" y="53"/>
                </a:lnTo>
                <a:lnTo>
                  <a:pt x="10" y="52"/>
                </a:lnTo>
                <a:lnTo>
                  <a:pt x="10" y="8"/>
                </a:lnTo>
                <a:lnTo>
                  <a:pt x="70" y="8"/>
                </a:lnTo>
                <a:lnTo>
                  <a:pt x="71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3" name="Freeform 858"/>
          <p:cNvSpPr/>
          <p:nvPr/>
        </p:nvSpPr>
        <p:spPr bwMode="auto">
          <a:xfrm>
            <a:off x="1138708" y="3726116"/>
            <a:ext cx="71438" cy="52388"/>
          </a:xfrm>
          <a:custGeom>
            <a:avLst/>
            <a:gdLst>
              <a:gd name="T0" fmla="*/ 95250 w 60"/>
              <a:gd name="T1" fmla="*/ 0 h 44"/>
              <a:gd name="T2" fmla="*/ 0 w 60"/>
              <a:gd name="T3" fmla="*/ 0 h 44"/>
              <a:gd name="T4" fmla="*/ 0 w 60"/>
              <a:gd name="T5" fmla="*/ 69850 h 44"/>
              <a:gd name="T6" fmla="*/ 17463 w 60"/>
              <a:gd name="T7" fmla="*/ 69850 h 44"/>
              <a:gd name="T8" fmla="*/ 17463 w 60"/>
              <a:gd name="T9" fmla="*/ 11113 h 44"/>
              <a:gd name="T10" fmla="*/ 95250 w 60"/>
              <a:gd name="T11" fmla="*/ 11113 h 44"/>
              <a:gd name="T12" fmla="*/ 95250 w 60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0" h="44">
                <a:moveTo>
                  <a:pt x="60" y="0"/>
                </a:moveTo>
                <a:lnTo>
                  <a:pt x="0" y="0"/>
                </a:lnTo>
                <a:lnTo>
                  <a:pt x="0" y="44"/>
                </a:lnTo>
                <a:lnTo>
                  <a:pt x="11" y="44"/>
                </a:lnTo>
                <a:lnTo>
                  <a:pt x="11" y="7"/>
                </a:lnTo>
                <a:lnTo>
                  <a:pt x="60" y="7"/>
                </a:lnTo>
                <a:lnTo>
                  <a:pt x="60" y="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4" name="Freeform 859"/>
          <p:cNvSpPr/>
          <p:nvPr/>
        </p:nvSpPr>
        <p:spPr bwMode="auto">
          <a:xfrm>
            <a:off x="1151805" y="3734450"/>
            <a:ext cx="58341" cy="44054"/>
          </a:xfrm>
          <a:custGeom>
            <a:avLst/>
            <a:gdLst>
              <a:gd name="T0" fmla="*/ 77788 w 49"/>
              <a:gd name="T1" fmla="*/ 0 h 37"/>
              <a:gd name="T2" fmla="*/ 0 w 49"/>
              <a:gd name="T3" fmla="*/ 0 h 37"/>
              <a:gd name="T4" fmla="*/ 0 w 49"/>
              <a:gd name="T5" fmla="*/ 58738 h 37"/>
              <a:gd name="T6" fmla="*/ 17463 w 49"/>
              <a:gd name="T7" fmla="*/ 58738 h 37"/>
              <a:gd name="T8" fmla="*/ 17463 w 49"/>
              <a:gd name="T9" fmla="*/ 14288 h 37"/>
              <a:gd name="T10" fmla="*/ 77788 w 49"/>
              <a:gd name="T11" fmla="*/ 14288 h 37"/>
              <a:gd name="T12" fmla="*/ 77788 w 49"/>
              <a:gd name="T13" fmla="*/ 0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9" h="37">
                <a:moveTo>
                  <a:pt x="49" y="0"/>
                </a:moveTo>
                <a:lnTo>
                  <a:pt x="0" y="0"/>
                </a:lnTo>
                <a:lnTo>
                  <a:pt x="0" y="37"/>
                </a:lnTo>
                <a:lnTo>
                  <a:pt x="11" y="37"/>
                </a:lnTo>
                <a:lnTo>
                  <a:pt x="11" y="9"/>
                </a:lnTo>
                <a:lnTo>
                  <a:pt x="49" y="9"/>
                </a:lnTo>
                <a:lnTo>
                  <a:pt x="49" y="0"/>
                </a:lnTo>
                <a:close/>
              </a:path>
            </a:pathLst>
          </a:custGeom>
          <a:solidFill>
            <a:srgbClr val="DEDED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5" name="Freeform 860"/>
          <p:cNvSpPr/>
          <p:nvPr/>
        </p:nvSpPr>
        <p:spPr bwMode="auto">
          <a:xfrm>
            <a:off x="1164902" y="3745167"/>
            <a:ext cx="46434" cy="34528"/>
          </a:xfrm>
          <a:custGeom>
            <a:avLst/>
            <a:gdLst>
              <a:gd name="T0" fmla="*/ 60325 w 39"/>
              <a:gd name="T1" fmla="*/ 0 h 29"/>
              <a:gd name="T2" fmla="*/ 0 w 39"/>
              <a:gd name="T3" fmla="*/ 0 h 29"/>
              <a:gd name="T4" fmla="*/ 0 w 39"/>
              <a:gd name="T5" fmla="*/ 44450 h 29"/>
              <a:gd name="T6" fmla="*/ 20637 w 39"/>
              <a:gd name="T7" fmla="*/ 46037 h 29"/>
              <a:gd name="T8" fmla="*/ 20637 w 39"/>
              <a:gd name="T9" fmla="*/ 14287 h 29"/>
              <a:gd name="T10" fmla="*/ 61912 w 39"/>
              <a:gd name="T11" fmla="*/ 14287 h 29"/>
              <a:gd name="T12" fmla="*/ 60325 w 39"/>
              <a:gd name="T13" fmla="*/ 0 h 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" h="29">
                <a:moveTo>
                  <a:pt x="38" y="0"/>
                </a:moveTo>
                <a:lnTo>
                  <a:pt x="0" y="0"/>
                </a:lnTo>
                <a:lnTo>
                  <a:pt x="0" y="28"/>
                </a:lnTo>
                <a:lnTo>
                  <a:pt x="13" y="29"/>
                </a:lnTo>
                <a:lnTo>
                  <a:pt x="13" y="9"/>
                </a:lnTo>
                <a:lnTo>
                  <a:pt x="39" y="9"/>
                </a:lnTo>
                <a:lnTo>
                  <a:pt x="38" y="0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6" name="Freeform 861"/>
          <p:cNvSpPr/>
          <p:nvPr/>
        </p:nvSpPr>
        <p:spPr bwMode="auto">
          <a:xfrm>
            <a:off x="1180380" y="3755881"/>
            <a:ext cx="30956" cy="23813"/>
          </a:xfrm>
          <a:custGeom>
            <a:avLst/>
            <a:gdLst>
              <a:gd name="T0" fmla="*/ 41275 w 26"/>
              <a:gd name="T1" fmla="*/ 0 h 20"/>
              <a:gd name="T2" fmla="*/ 0 w 26"/>
              <a:gd name="T3" fmla="*/ 0 h 20"/>
              <a:gd name="T4" fmla="*/ 0 w 26"/>
              <a:gd name="T5" fmla="*/ 31750 h 20"/>
              <a:gd name="T6" fmla="*/ 19050 w 26"/>
              <a:gd name="T7" fmla="*/ 30163 h 20"/>
              <a:gd name="T8" fmla="*/ 19050 w 26"/>
              <a:gd name="T9" fmla="*/ 15875 h 20"/>
              <a:gd name="T10" fmla="*/ 39688 w 26"/>
              <a:gd name="T11" fmla="*/ 15875 h 20"/>
              <a:gd name="T12" fmla="*/ 41275 w 26"/>
              <a:gd name="T13" fmla="*/ 0 h 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" h="20">
                <a:moveTo>
                  <a:pt x="26" y="0"/>
                </a:moveTo>
                <a:lnTo>
                  <a:pt x="0" y="0"/>
                </a:lnTo>
                <a:lnTo>
                  <a:pt x="0" y="20"/>
                </a:lnTo>
                <a:lnTo>
                  <a:pt x="12" y="19"/>
                </a:lnTo>
                <a:lnTo>
                  <a:pt x="12" y="10"/>
                </a:lnTo>
                <a:lnTo>
                  <a:pt x="25" y="10"/>
                </a:lnTo>
                <a:lnTo>
                  <a:pt x="26" y="0"/>
                </a:lnTo>
                <a:close/>
              </a:path>
            </a:pathLst>
          </a:custGeom>
          <a:solidFill>
            <a:srgbClr val="E3E3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7" name="Freeform 862"/>
          <p:cNvSpPr/>
          <p:nvPr/>
        </p:nvSpPr>
        <p:spPr bwMode="auto">
          <a:xfrm>
            <a:off x="1194668" y="3767788"/>
            <a:ext cx="16669" cy="11906"/>
          </a:xfrm>
          <a:custGeom>
            <a:avLst/>
            <a:gdLst>
              <a:gd name="T0" fmla="*/ 20638 w 14"/>
              <a:gd name="T1" fmla="*/ 0 h 10"/>
              <a:gd name="T2" fmla="*/ 0 w 14"/>
              <a:gd name="T3" fmla="*/ 0 h 10"/>
              <a:gd name="T4" fmla="*/ 0 w 14"/>
              <a:gd name="T5" fmla="*/ 14288 h 10"/>
              <a:gd name="T6" fmla="*/ 22225 w 14"/>
              <a:gd name="T7" fmla="*/ 15875 h 10"/>
              <a:gd name="T8" fmla="*/ 22225 w 14"/>
              <a:gd name="T9" fmla="*/ 15875 h 10"/>
              <a:gd name="T10" fmla="*/ 22225 w 14"/>
              <a:gd name="T11" fmla="*/ 15875 h 10"/>
              <a:gd name="T12" fmla="*/ 20638 w 14"/>
              <a:gd name="T13" fmla="*/ 0 h 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" h="10">
                <a:moveTo>
                  <a:pt x="13" y="0"/>
                </a:moveTo>
                <a:lnTo>
                  <a:pt x="0" y="0"/>
                </a:lnTo>
                <a:lnTo>
                  <a:pt x="0" y="9"/>
                </a:lnTo>
                <a:lnTo>
                  <a:pt x="14" y="10"/>
                </a:lnTo>
                <a:lnTo>
                  <a:pt x="13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8" name="Line 863"/>
          <p:cNvSpPr>
            <a:spLocks noChangeShapeType="1"/>
          </p:cNvSpPr>
          <p:nvPr/>
        </p:nvSpPr>
        <p:spPr bwMode="auto">
          <a:xfrm>
            <a:off x="997024" y="3807079"/>
            <a:ext cx="1191" cy="1666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899" name="Line 864"/>
          <p:cNvSpPr>
            <a:spLocks noChangeShapeType="1"/>
          </p:cNvSpPr>
          <p:nvPr/>
        </p:nvSpPr>
        <p:spPr bwMode="auto">
          <a:xfrm>
            <a:off x="955353" y="3807079"/>
            <a:ext cx="1190" cy="16669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00" name="Line 865"/>
          <p:cNvSpPr>
            <a:spLocks noChangeShapeType="1"/>
          </p:cNvSpPr>
          <p:nvPr/>
        </p:nvSpPr>
        <p:spPr bwMode="auto">
          <a:xfrm>
            <a:off x="905346" y="3807079"/>
            <a:ext cx="339328" cy="1190"/>
          </a:xfrm>
          <a:prstGeom prst="line">
            <a:avLst/>
          </a:prstGeom>
          <a:noFill/>
          <a:ln w="1588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01" name="Rectangle 866"/>
          <p:cNvSpPr>
            <a:spLocks noChangeArrowheads="1"/>
          </p:cNvSpPr>
          <p:nvPr/>
        </p:nvSpPr>
        <p:spPr bwMode="auto">
          <a:xfrm>
            <a:off x="1163712" y="3884470"/>
            <a:ext cx="41672" cy="3572"/>
          </a:xfrm>
          <a:prstGeom prst="rect">
            <a:avLst/>
          </a:prstGeom>
          <a:solidFill>
            <a:srgbClr val="E6E6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02" name="Rectangle 867"/>
          <p:cNvSpPr>
            <a:spLocks noChangeArrowheads="1"/>
          </p:cNvSpPr>
          <p:nvPr/>
        </p:nvSpPr>
        <p:spPr bwMode="auto">
          <a:xfrm>
            <a:off x="1163712" y="3883279"/>
            <a:ext cx="41672" cy="119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03" name="Rectangle 868"/>
          <p:cNvSpPr>
            <a:spLocks noChangeArrowheads="1"/>
          </p:cNvSpPr>
          <p:nvPr/>
        </p:nvSpPr>
        <p:spPr bwMode="auto">
          <a:xfrm>
            <a:off x="1163712" y="3880898"/>
            <a:ext cx="41672" cy="2381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04" name="Rectangle 869"/>
          <p:cNvSpPr>
            <a:spLocks noChangeArrowheads="1"/>
          </p:cNvSpPr>
          <p:nvPr/>
        </p:nvSpPr>
        <p:spPr bwMode="auto">
          <a:xfrm>
            <a:off x="1163712" y="3879707"/>
            <a:ext cx="41672" cy="1191"/>
          </a:xfrm>
          <a:prstGeom prst="rect">
            <a:avLst/>
          </a:prstGeom>
          <a:solidFill>
            <a:srgbClr val="CDCD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05" name="Rectangle 870"/>
          <p:cNvSpPr>
            <a:spLocks noChangeArrowheads="1"/>
          </p:cNvSpPr>
          <p:nvPr/>
        </p:nvSpPr>
        <p:spPr bwMode="auto">
          <a:xfrm>
            <a:off x="1163712" y="3878517"/>
            <a:ext cx="41672" cy="1190"/>
          </a:xfrm>
          <a:prstGeom prst="rect">
            <a:avLst/>
          </a:prstGeom>
          <a:solidFill>
            <a:srgbClr val="C6C6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06" name="Rectangle 871"/>
          <p:cNvSpPr>
            <a:spLocks noChangeArrowheads="1"/>
          </p:cNvSpPr>
          <p:nvPr/>
        </p:nvSpPr>
        <p:spPr bwMode="auto">
          <a:xfrm>
            <a:off x="1163712" y="3877325"/>
            <a:ext cx="41672" cy="1191"/>
          </a:xfrm>
          <a:prstGeom prst="rect">
            <a:avLst/>
          </a:prstGeom>
          <a:solidFill>
            <a:srgbClr val="BEBE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07" name="Rectangle 872"/>
          <p:cNvSpPr>
            <a:spLocks noChangeArrowheads="1"/>
          </p:cNvSpPr>
          <p:nvPr/>
        </p:nvSpPr>
        <p:spPr bwMode="auto">
          <a:xfrm>
            <a:off x="1163712" y="3874945"/>
            <a:ext cx="41672" cy="2381"/>
          </a:xfrm>
          <a:prstGeom prst="rect">
            <a:avLst/>
          </a:prstGeom>
          <a:solidFill>
            <a:srgbClr val="B6B6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08" name="Freeform 873"/>
          <p:cNvSpPr/>
          <p:nvPr/>
        </p:nvSpPr>
        <p:spPr bwMode="auto">
          <a:xfrm>
            <a:off x="1161330" y="3873754"/>
            <a:ext cx="44054" cy="1190"/>
          </a:xfrm>
          <a:custGeom>
            <a:avLst/>
            <a:gdLst>
              <a:gd name="T0" fmla="*/ 3175 w 37"/>
              <a:gd name="T1" fmla="*/ 1587 h 1"/>
              <a:gd name="T2" fmla="*/ 58738 w 37"/>
              <a:gd name="T3" fmla="*/ 1587 h 1"/>
              <a:gd name="T4" fmla="*/ 57150 w 37"/>
              <a:gd name="T5" fmla="*/ 0 h 1"/>
              <a:gd name="T6" fmla="*/ 0 w 37"/>
              <a:gd name="T7" fmla="*/ 0 h 1"/>
              <a:gd name="T8" fmla="*/ 3175 w 37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1">
                <a:moveTo>
                  <a:pt x="2" y="1"/>
                </a:moveTo>
                <a:lnTo>
                  <a:pt x="37" y="1"/>
                </a:lnTo>
                <a:lnTo>
                  <a:pt x="36" y="0"/>
                </a:lnTo>
                <a:lnTo>
                  <a:pt x="0" y="0"/>
                </a:lnTo>
                <a:lnTo>
                  <a:pt x="2" y="1"/>
                </a:lnTo>
                <a:close/>
              </a:path>
            </a:pathLst>
          </a:custGeom>
          <a:solidFill>
            <a:srgbClr val="AEAE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09" name="Rectangle 874"/>
          <p:cNvSpPr>
            <a:spLocks noChangeArrowheads="1"/>
          </p:cNvSpPr>
          <p:nvPr/>
        </p:nvSpPr>
        <p:spPr bwMode="auto">
          <a:xfrm>
            <a:off x="1161330" y="3872563"/>
            <a:ext cx="42863" cy="1191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10" name="Freeform 875"/>
          <p:cNvSpPr/>
          <p:nvPr/>
        </p:nvSpPr>
        <p:spPr bwMode="auto">
          <a:xfrm>
            <a:off x="1161330" y="3871373"/>
            <a:ext cx="44054" cy="1190"/>
          </a:xfrm>
          <a:custGeom>
            <a:avLst/>
            <a:gdLst>
              <a:gd name="T0" fmla="*/ 0 w 37"/>
              <a:gd name="T1" fmla="*/ 1587 h 1"/>
              <a:gd name="T2" fmla="*/ 57150 w 37"/>
              <a:gd name="T3" fmla="*/ 1587 h 1"/>
              <a:gd name="T4" fmla="*/ 58738 w 37"/>
              <a:gd name="T5" fmla="*/ 0 h 1"/>
              <a:gd name="T6" fmla="*/ 3175 w 37"/>
              <a:gd name="T7" fmla="*/ 0 h 1"/>
              <a:gd name="T8" fmla="*/ 0 w 37"/>
              <a:gd name="T9" fmla="*/ 1587 h 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7" h="1">
                <a:moveTo>
                  <a:pt x="0" y="1"/>
                </a:moveTo>
                <a:lnTo>
                  <a:pt x="36" y="1"/>
                </a:lnTo>
                <a:lnTo>
                  <a:pt x="37" y="0"/>
                </a:lnTo>
                <a:lnTo>
                  <a:pt x="2" y="0"/>
                </a:lnTo>
                <a:lnTo>
                  <a:pt x="0" y="1"/>
                </a:lnTo>
                <a:close/>
              </a:path>
            </a:pathLst>
          </a:custGeom>
          <a:solidFill>
            <a:srgbClr val="9E9E9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11" name="Rectangle 876"/>
          <p:cNvSpPr>
            <a:spLocks noChangeArrowheads="1"/>
          </p:cNvSpPr>
          <p:nvPr/>
        </p:nvSpPr>
        <p:spPr bwMode="auto">
          <a:xfrm>
            <a:off x="1163712" y="3871373"/>
            <a:ext cx="41672" cy="1190"/>
          </a:xfrm>
          <a:prstGeom prst="rect">
            <a:avLst/>
          </a:prstGeom>
          <a:solidFill>
            <a:srgbClr val="9A9A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12" name="Rectangle 877"/>
          <p:cNvSpPr>
            <a:spLocks noChangeArrowheads="1"/>
          </p:cNvSpPr>
          <p:nvPr/>
        </p:nvSpPr>
        <p:spPr bwMode="auto">
          <a:xfrm>
            <a:off x="1124421" y="3874944"/>
            <a:ext cx="97631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13" name="Freeform 878"/>
          <p:cNvSpPr>
            <a:spLocks noEditPoints="1"/>
          </p:cNvSpPr>
          <p:nvPr/>
        </p:nvSpPr>
        <p:spPr bwMode="auto">
          <a:xfrm>
            <a:off x="861293" y="3860657"/>
            <a:ext cx="54769" cy="28575"/>
          </a:xfrm>
          <a:custGeom>
            <a:avLst/>
            <a:gdLst>
              <a:gd name="T0" fmla="*/ 0 w 46"/>
              <a:gd name="T1" fmla="*/ 38100 h 24"/>
              <a:gd name="T2" fmla="*/ 0 w 46"/>
              <a:gd name="T3" fmla="*/ 0 h 24"/>
              <a:gd name="T4" fmla="*/ 3175 w 46"/>
              <a:gd name="T5" fmla="*/ 0 h 24"/>
              <a:gd name="T6" fmla="*/ 3175 w 46"/>
              <a:gd name="T7" fmla="*/ 38100 h 24"/>
              <a:gd name="T8" fmla="*/ 0 w 46"/>
              <a:gd name="T9" fmla="*/ 38100 h 24"/>
              <a:gd name="T10" fmla="*/ 73025 w 46"/>
              <a:gd name="T11" fmla="*/ 0 h 24"/>
              <a:gd name="T12" fmla="*/ 73025 w 46"/>
              <a:gd name="T13" fmla="*/ 38100 h 24"/>
              <a:gd name="T14" fmla="*/ 68263 w 46"/>
              <a:gd name="T15" fmla="*/ 38100 h 24"/>
              <a:gd name="T16" fmla="*/ 68263 w 46"/>
              <a:gd name="T17" fmla="*/ 0 h 24"/>
              <a:gd name="T18" fmla="*/ 73025 w 46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46" y="0"/>
                </a:moveTo>
                <a:lnTo>
                  <a:pt x="46" y="24"/>
                </a:lnTo>
                <a:lnTo>
                  <a:pt x="43" y="24"/>
                </a:lnTo>
                <a:lnTo>
                  <a:pt x="43" y="0"/>
                </a:lnTo>
                <a:lnTo>
                  <a:pt x="46" y="0"/>
                </a:lnTo>
                <a:close/>
              </a:path>
            </a:pathLst>
          </a:cu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14" name="Freeform 879"/>
          <p:cNvSpPr>
            <a:spLocks noEditPoints="1"/>
          </p:cNvSpPr>
          <p:nvPr/>
        </p:nvSpPr>
        <p:spPr bwMode="auto">
          <a:xfrm>
            <a:off x="863674" y="3860657"/>
            <a:ext cx="48816" cy="28575"/>
          </a:xfrm>
          <a:custGeom>
            <a:avLst/>
            <a:gdLst>
              <a:gd name="T0" fmla="*/ 0 w 41"/>
              <a:gd name="T1" fmla="*/ 38100 h 24"/>
              <a:gd name="T2" fmla="*/ 0 w 41"/>
              <a:gd name="T3" fmla="*/ 0 h 24"/>
              <a:gd name="T4" fmla="*/ 1588 w 41"/>
              <a:gd name="T5" fmla="*/ 0 h 24"/>
              <a:gd name="T6" fmla="*/ 1588 w 41"/>
              <a:gd name="T7" fmla="*/ 38100 h 24"/>
              <a:gd name="T8" fmla="*/ 0 w 41"/>
              <a:gd name="T9" fmla="*/ 38100 h 24"/>
              <a:gd name="T10" fmla="*/ 65088 w 41"/>
              <a:gd name="T11" fmla="*/ 0 h 24"/>
              <a:gd name="T12" fmla="*/ 65088 w 41"/>
              <a:gd name="T13" fmla="*/ 38100 h 24"/>
              <a:gd name="T14" fmla="*/ 63500 w 41"/>
              <a:gd name="T15" fmla="*/ 38100 h 24"/>
              <a:gd name="T16" fmla="*/ 63500 w 41"/>
              <a:gd name="T17" fmla="*/ 0 h 24"/>
              <a:gd name="T18" fmla="*/ 65088 w 4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41" y="0"/>
                </a:moveTo>
                <a:lnTo>
                  <a:pt x="41" y="24"/>
                </a:lnTo>
                <a:lnTo>
                  <a:pt x="40" y="24"/>
                </a:lnTo>
                <a:lnTo>
                  <a:pt x="40" y="0"/>
                </a:lnTo>
                <a:lnTo>
                  <a:pt x="41" y="0"/>
                </a:lnTo>
                <a:close/>
              </a:path>
            </a:pathLst>
          </a:custGeom>
          <a:solidFill>
            <a:srgbClr val="C7A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15" name="Freeform 880"/>
          <p:cNvSpPr>
            <a:spLocks noEditPoints="1"/>
          </p:cNvSpPr>
          <p:nvPr/>
        </p:nvSpPr>
        <p:spPr bwMode="auto">
          <a:xfrm>
            <a:off x="864865" y="3860657"/>
            <a:ext cx="46434" cy="28575"/>
          </a:xfrm>
          <a:custGeom>
            <a:avLst/>
            <a:gdLst>
              <a:gd name="T0" fmla="*/ 0 w 39"/>
              <a:gd name="T1" fmla="*/ 38100 h 24"/>
              <a:gd name="T2" fmla="*/ 0 w 39"/>
              <a:gd name="T3" fmla="*/ 0 h 24"/>
              <a:gd name="T4" fmla="*/ 1587 w 39"/>
              <a:gd name="T5" fmla="*/ 0 h 24"/>
              <a:gd name="T6" fmla="*/ 1587 w 39"/>
              <a:gd name="T7" fmla="*/ 38100 h 24"/>
              <a:gd name="T8" fmla="*/ 0 w 39"/>
              <a:gd name="T9" fmla="*/ 38100 h 24"/>
              <a:gd name="T10" fmla="*/ 61912 w 39"/>
              <a:gd name="T11" fmla="*/ 0 h 24"/>
              <a:gd name="T12" fmla="*/ 61912 w 39"/>
              <a:gd name="T13" fmla="*/ 38100 h 24"/>
              <a:gd name="T14" fmla="*/ 60325 w 39"/>
              <a:gd name="T15" fmla="*/ 38100 h 24"/>
              <a:gd name="T16" fmla="*/ 60325 w 39"/>
              <a:gd name="T17" fmla="*/ 0 h 24"/>
              <a:gd name="T18" fmla="*/ 61912 w 3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9" y="0"/>
                </a:moveTo>
                <a:lnTo>
                  <a:pt x="39" y="24"/>
                </a:lnTo>
                <a:lnTo>
                  <a:pt x="38" y="24"/>
                </a:lnTo>
                <a:lnTo>
                  <a:pt x="38" y="0"/>
                </a:lnTo>
                <a:lnTo>
                  <a:pt x="39" y="0"/>
                </a:lnTo>
                <a:close/>
              </a:path>
            </a:pathLst>
          </a:custGeom>
          <a:solidFill>
            <a:srgbClr val="CD96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16" name="Freeform 881"/>
          <p:cNvSpPr>
            <a:spLocks noEditPoints="1"/>
          </p:cNvSpPr>
          <p:nvPr/>
        </p:nvSpPr>
        <p:spPr bwMode="auto">
          <a:xfrm>
            <a:off x="866055" y="3860657"/>
            <a:ext cx="44054" cy="28575"/>
          </a:xfrm>
          <a:custGeom>
            <a:avLst/>
            <a:gdLst>
              <a:gd name="T0" fmla="*/ 0 w 37"/>
              <a:gd name="T1" fmla="*/ 38100 h 24"/>
              <a:gd name="T2" fmla="*/ 0 w 37"/>
              <a:gd name="T3" fmla="*/ 0 h 24"/>
              <a:gd name="T4" fmla="*/ 1588 w 37"/>
              <a:gd name="T5" fmla="*/ 0 h 24"/>
              <a:gd name="T6" fmla="*/ 1588 w 37"/>
              <a:gd name="T7" fmla="*/ 38100 h 24"/>
              <a:gd name="T8" fmla="*/ 0 w 37"/>
              <a:gd name="T9" fmla="*/ 38100 h 24"/>
              <a:gd name="T10" fmla="*/ 58738 w 37"/>
              <a:gd name="T11" fmla="*/ 0 h 24"/>
              <a:gd name="T12" fmla="*/ 58738 w 37"/>
              <a:gd name="T13" fmla="*/ 38100 h 24"/>
              <a:gd name="T14" fmla="*/ 57150 w 37"/>
              <a:gd name="T15" fmla="*/ 38100 h 24"/>
              <a:gd name="T16" fmla="*/ 57150 w 37"/>
              <a:gd name="T17" fmla="*/ 0 h 24"/>
              <a:gd name="T18" fmla="*/ 58738 w 3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7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7" y="0"/>
                </a:moveTo>
                <a:lnTo>
                  <a:pt x="37" y="24"/>
                </a:lnTo>
                <a:lnTo>
                  <a:pt x="36" y="24"/>
                </a:lnTo>
                <a:lnTo>
                  <a:pt x="36" y="0"/>
                </a:lnTo>
                <a:lnTo>
                  <a:pt x="37" y="0"/>
                </a:lnTo>
                <a:close/>
              </a:path>
            </a:pathLst>
          </a:custGeom>
          <a:solidFill>
            <a:srgbClr val="D384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17" name="Freeform 882"/>
          <p:cNvSpPr>
            <a:spLocks noEditPoints="1"/>
          </p:cNvSpPr>
          <p:nvPr/>
        </p:nvSpPr>
        <p:spPr bwMode="auto">
          <a:xfrm>
            <a:off x="867246" y="3860657"/>
            <a:ext cx="41672" cy="28575"/>
          </a:xfrm>
          <a:custGeom>
            <a:avLst/>
            <a:gdLst>
              <a:gd name="T0" fmla="*/ 0 w 35"/>
              <a:gd name="T1" fmla="*/ 38100 h 24"/>
              <a:gd name="T2" fmla="*/ 0 w 35"/>
              <a:gd name="T3" fmla="*/ 0 h 24"/>
              <a:gd name="T4" fmla="*/ 3175 w 35"/>
              <a:gd name="T5" fmla="*/ 0 h 24"/>
              <a:gd name="T6" fmla="*/ 3175 w 35"/>
              <a:gd name="T7" fmla="*/ 38100 h 24"/>
              <a:gd name="T8" fmla="*/ 0 w 35"/>
              <a:gd name="T9" fmla="*/ 38100 h 24"/>
              <a:gd name="T10" fmla="*/ 55562 w 35"/>
              <a:gd name="T11" fmla="*/ 0 h 24"/>
              <a:gd name="T12" fmla="*/ 55562 w 35"/>
              <a:gd name="T13" fmla="*/ 38100 h 24"/>
              <a:gd name="T14" fmla="*/ 52387 w 35"/>
              <a:gd name="T15" fmla="*/ 38100 h 24"/>
              <a:gd name="T16" fmla="*/ 52387 w 35"/>
              <a:gd name="T17" fmla="*/ 0 h 24"/>
              <a:gd name="T18" fmla="*/ 55562 w 35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5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35" y="0"/>
                </a:moveTo>
                <a:lnTo>
                  <a:pt x="35" y="24"/>
                </a:lnTo>
                <a:lnTo>
                  <a:pt x="33" y="24"/>
                </a:lnTo>
                <a:lnTo>
                  <a:pt x="33" y="0"/>
                </a:lnTo>
                <a:lnTo>
                  <a:pt x="35" y="0"/>
                </a:lnTo>
                <a:close/>
              </a:path>
            </a:pathLst>
          </a:custGeom>
          <a:solidFill>
            <a:srgbClr val="D875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18" name="Freeform 883"/>
          <p:cNvSpPr>
            <a:spLocks noEditPoints="1"/>
          </p:cNvSpPr>
          <p:nvPr/>
        </p:nvSpPr>
        <p:spPr bwMode="auto">
          <a:xfrm>
            <a:off x="869627" y="3860657"/>
            <a:ext cx="36909" cy="28575"/>
          </a:xfrm>
          <a:custGeom>
            <a:avLst/>
            <a:gdLst>
              <a:gd name="T0" fmla="*/ 0 w 31"/>
              <a:gd name="T1" fmla="*/ 38100 h 24"/>
              <a:gd name="T2" fmla="*/ 0 w 31"/>
              <a:gd name="T3" fmla="*/ 0 h 24"/>
              <a:gd name="T4" fmla="*/ 1587 w 31"/>
              <a:gd name="T5" fmla="*/ 0 h 24"/>
              <a:gd name="T6" fmla="*/ 1587 w 31"/>
              <a:gd name="T7" fmla="*/ 38100 h 24"/>
              <a:gd name="T8" fmla="*/ 0 w 31"/>
              <a:gd name="T9" fmla="*/ 38100 h 24"/>
              <a:gd name="T10" fmla="*/ 49212 w 31"/>
              <a:gd name="T11" fmla="*/ 0 h 24"/>
              <a:gd name="T12" fmla="*/ 49212 w 31"/>
              <a:gd name="T13" fmla="*/ 38100 h 24"/>
              <a:gd name="T14" fmla="*/ 47625 w 31"/>
              <a:gd name="T15" fmla="*/ 38100 h 24"/>
              <a:gd name="T16" fmla="*/ 47625 w 31"/>
              <a:gd name="T17" fmla="*/ 0 h 24"/>
              <a:gd name="T18" fmla="*/ 49212 w 3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1" y="0"/>
                </a:moveTo>
                <a:lnTo>
                  <a:pt x="31" y="24"/>
                </a:lnTo>
                <a:lnTo>
                  <a:pt x="30" y="24"/>
                </a:lnTo>
                <a:lnTo>
                  <a:pt x="30" y="0"/>
                </a:lnTo>
                <a:lnTo>
                  <a:pt x="31" y="0"/>
                </a:lnTo>
                <a:close/>
              </a:path>
            </a:pathLst>
          </a:custGeom>
          <a:solidFill>
            <a:srgbClr val="DD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19" name="Freeform 884"/>
          <p:cNvSpPr>
            <a:spLocks noEditPoints="1"/>
          </p:cNvSpPr>
          <p:nvPr/>
        </p:nvSpPr>
        <p:spPr bwMode="auto">
          <a:xfrm>
            <a:off x="870817" y="3860657"/>
            <a:ext cx="34529" cy="28575"/>
          </a:xfrm>
          <a:custGeom>
            <a:avLst/>
            <a:gdLst>
              <a:gd name="T0" fmla="*/ 0 w 29"/>
              <a:gd name="T1" fmla="*/ 38100 h 24"/>
              <a:gd name="T2" fmla="*/ 0 w 29"/>
              <a:gd name="T3" fmla="*/ 0 h 24"/>
              <a:gd name="T4" fmla="*/ 1588 w 29"/>
              <a:gd name="T5" fmla="*/ 0 h 24"/>
              <a:gd name="T6" fmla="*/ 1588 w 29"/>
              <a:gd name="T7" fmla="*/ 38100 h 24"/>
              <a:gd name="T8" fmla="*/ 0 w 29"/>
              <a:gd name="T9" fmla="*/ 38100 h 24"/>
              <a:gd name="T10" fmla="*/ 46038 w 29"/>
              <a:gd name="T11" fmla="*/ 0 h 24"/>
              <a:gd name="T12" fmla="*/ 46038 w 29"/>
              <a:gd name="T13" fmla="*/ 38100 h 24"/>
              <a:gd name="T14" fmla="*/ 44450 w 29"/>
              <a:gd name="T15" fmla="*/ 38100 h 24"/>
              <a:gd name="T16" fmla="*/ 44450 w 29"/>
              <a:gd name="T17" fmla="*/ 0 h 24"/>
              <a:gd name="T18" fmla="*/ 46038 w 2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9" y="0"/>
                </a:moveTo>
                <a:lnTo>
                  <a:pt x="29" y="24"/>
                </a:lnTo>
                <a:lnTo>
                  <a:pt x="28" y="24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E1595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0" name="Freeform 885"/>
          <p:cNvSpPr>
            <a:spLocks noEditPoints="1"/>
          </p:cNvSpPr>
          <p:nvPr/>
        </p:nvSpPr>
        <p:spPr bwMode="auto">
          <a:xfrm>
            <a:off x="872008" y="3860657"/>
            <a:ext cx="32147" cy="28575"/>
          </a:xfrm>
          <a:custGeom>
            <a:avLst/>
            <a:gdLst>
              <a:gd name="T0" fmla="*/ 0 w 27"/>
              <a:gd name="T1" fmla="*/ 38100 h 24"/>
              <a:gd name="T2" fmla="*/ 0 w 27"/>
              <a:gd name="T3" fmla="*/ 0 h 24"/>
              <a:gd name="T4" fmla="*/ 3175 w 27"/>
              <a:gd name="T5" fmla="*/ 0 h 24"/>
              <a:gd name="T6" fmla="*/ 3175 w 27"/>
              <a:gd name="T7" fmla="*/ 38100 h 24"/>
              <a:gd name="T8" fmla="*/ 0 w 27"/>
              <a:gd name="T9" fmla="*/ 38100 h 24"/>
              <a:gd name="T10" fmla="*/ 42862 w 27"/>
              <a:gd name="T11" fmla="*/ 0 h 24"/>
              <a:gd name="T12" fmla="*/ 42862 w 27"/>
              <a:gd name="T13" fmla="*/ 38100 h 24"/>
              <a:gd name="T14" fmla="*/ 41275 w 27"/>
              <a:gd name="T15" fmla="*/ 38100 h 24"/>
              <a:gd name="T16" fmla="*/ 41275 w 27"/>
              <a:gd name="T17" fmla="*/ 0 h 24"/>
              <a:gd name="T18" fmla="*/ 42862 w 2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27" y="0"/>
                </a:moveTo>
                <a:lnTo>
                  <a:pt x="27" y="24"/>
                </a:lnTo>
                <a:lnTo>
                  <a:pt x="26" y="24"/>
                </a:lnTo>
                <a:lnTo>
                  <a:pt x="26" y="0"/>
                </a:lnTo>
                <a:lnTo>
                  <a:pt x="27" y="0"/>
                </a:lnTo>
                <a:close/>
              </a:path>
            </a:pathLst>
          </a:custGeom>
          <a:solidFill>
            <a:srgbClr val="E5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1" name="Freeform 886"/>
          <p:cNvSpPr>
            <a:spLocks noEditPoints="1"/>
          </p:cNvSpPr>
          <p:nvPr/>
        </p:nvSpPr>
        <p:spPr bwMode="auto">
          <a:xfrm>
            <a:off x="874390" y="3860657"/>
            <a:ext cx="28575" cy="28575"/>
          </a:xfrm>
          <a:custGeom>
            <a:avLst/>
            <a:gdLst>
              <a:gd name="T0" fmla="*/ 0 w 24"/>
              <a:gd name="T1" fmla="*/ 38100 h 24"/>
              <a:gd name="T2" fmla="*/ 0 w 24"/>
              <a:gd name="T3" fmla="*/ 0 h 24"/>
              <a:gd name="T4" fmla="*/ 1588 w 24"/>
              <a:gd name="T5" fmla="*/ 0 h 24"/>
              <a:gd name="T6" fmla="*/ 1588 w 24"/>
              <a:gd name="T7" fmla="*/ 38100 h 24"/>
              <a:gd name="T8" fmla="*/ 0 w 24"/>
              <a:gd name="T9" fmla="*/ 38100 h 24"/>
              <a:gd name="T10" fmla="*/ 38100 w 24"/>
              <a:gd name="T11" fmla="*/ 0 h 24"/>
              <a:gd name="T12" fmla="*/ 38100 w 24"/>
              <a:gd name="T13" fmla="*/ 38100 h 24"/>
              <a:gd name="T14" fmla="*/ 34925 w 24"/>
              <a:gd name="T15" fmla="*/ 38100 h 24"/>
              <a:gd name="T16" fmla="*/ 34925 w 24"/>
              <a:gd name="T17" fmla="*/ 0 h 24"/>
              <a:gd name="T18" fmla="*/ 38100 w 24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4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4" y="0"/>
                </a:moveTo>
                <a:lnTo>
                  <a:pt x="24" y="24"/>
                </a:lnTo>
                <a:lnTo>
                  <a:pt x="22" y="24"/>
                </a:lnTo>
                <a:lnTo>
                  <a:pt x="22" y="0"/>
                </a:lnTo>
                <a:lnTo>
                  <a:pt x="24" y="0"/>
                </a:lnTo>
                <a:close/>
              </a:path>
            </a:pathLst>
          </a:custGeom>
          <a:solidFill>
            <a:srgbClr val="E9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2" name="Freeform 887"/>
          <p:cNvSpPr>
            <a:spLocks noEditPoints="1"/>
          </p:cNvSpPr>
          <p:nvPr/>
        </p:nvSpPr>
        <p:spPr bwMode="auto">
          <a:xfrm>
            <a:off x="875580" y="3860657"/>
            <a:ext cx="25004" cy="28575"/>
          </a:xfrm>
          <a:custGeom>
            <a:avLst/>
            <a:gdLst>
              <a:gd name="T0" fmla="*/ 0 w 21"/>
              <a:gd name="T1" fmla="*/ 38100 h 24"/>
              <a:gd name="T2" fmla="*/ 0 w 21"/>
              <a:gd name="T3" fmla="*/ 0 h 24"/>
              <a:gd name="T4" fmla="*/ 1588 w 21"/>
              <a:gd name="T5" fmla="*/ 0 h 24"/>
              <a:gd name="T6" fmla="*/ 1588 w 21"/>
              <a:gd name="T7" fmla="*/ 38100 h 24"/>
              <a:gd name="T8" fmla="*/ 0 w 21"/>
              <a:gd name="T9" fmla="*/ 38100 h 24"/>
              <a:gd name="T10" fmla="*/ 33338 w 21"/>
              <a:gd name="T11" fmla="*/ 0 h 24"/>
              <a:gd name="T12" fmla="*/ 33338 w 21"/>
              <a:gd name="T13" fmla="*/ 38100 h 24"/>
              <a:gd name="T14" fmla="*/ 31750 w 21"/>
              <a:gd name="T15" fmla="*/ 38100 h 24"/>
              <a:gd name="T16" fmla="*/ 31750 w 21"/>
              <a:gd name="T17" fmla="*/ 0 h 24"/>
              <a:gd name="T18" fmla="*/ 33338 w 2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21" y="0"/>
                </a:moveTo>
                <a:lnTo>
                  <a:pt x="21" y="24"/>
                </a:lnTo>
                <a:lnTo>
                  <a:pt x="20" y="24"/>
                </a:lnTo>
                <a:lnTo>
                  <a:pt x="20" y="0"/>
                </a:lnTo>
                <a:lnTo>
                  <a:pt x="21" y="0"/>
                </a:lnTo>
                <a:close/>
              </a:path>
            </a:pathLst>
          </a:custGeom>
          <a:solidFill>
            <a:srgbClr val="EC38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3" name="Freeform 888"/>
          <p:cNvSpPr>
            <a:spLocks noEditPoints="1"/>
          </p:cNvSpPr>
          <p:nvPr/>
        </p:nvSpPr>
        <p:spPr bwMode="auto">
          <a:xfrm>
            <a:off x="876771" y="3860657"/>
            <a:ext cx="22622" cy="28575"/>
          </a:xfrm>
          <a:custGeom>
            <a:avLst/>
            <a:gdLst>
              <a:gd name="T0" fmla="*/ 0 w 19"/>
              <a:gd name="T1" fmla="*/ 38100 h 24"/>
              <a:gd name="T2" fmla="*/ 0 w 19"/>
              <a:gd name="T3" fmla="*/ 0 h 24"/>
              <a:gd name="T4" fmla="*/ 1587 w 19"/>
              <a:gd name="T5" fmla="*/ 0 h 24"/>
              <a:gd name="T6" fmla="*/ 1587 w 19"/>
              <a:gd name="T7" fmla="*/ 38100 h 24"/>
              <a:gd name="T8" fmla="*/ 0 w 19"/>
              <a:gd name="T9" fmla="*/ 38100 h 24"/>
              <a:gd name="T10" fmla="*/ 30162 w 19"/>
              <a:gd name="T11" fmla="*/ 0 h 24"/>
              <a:gd name="T12" fmla="*/ 30162 w 19"/>
              <a:gd name="T13" fmla="*/ 38100 h 24"/>
              <a:gd name="T14" fmla="*/ 28575 w 19"/>
              <a:gd name="T15" fmla="*/ 38100 h 24"/>
              <a:gd name="T16" fmla="*/ 28575 w 19"/>
              <a:gd name="T17" fmla="*/ 0 h 24"/>
              <a:gd name="T18" fmla="*/ 30162 w 19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9" y="0"/>
                </a:moveTo>
                <a:lnTo>
                  <a:pt x="19" y="24"/>
                </a:lnTo>
                <a:lnTo>
                  <a:pt x="18" y="24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EF2F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4" name="Freeform 889"/>
          <p:cNvSpPr>
            <a:spLocks noEditPoints="1"/>
          </p:cNvSpPr>
          <p:nvPr/>
        </p:nvSpPr>
        <p:spPr bwMode="auto">
          <a:xfrm>
            <a:off x="877961" y="3860657"/>
            <a:ext cx="20241" cy="28575"/>
          </a:xfrm>
          <a:custGeom>
            <a:avLst/>
            <a:gdLst>
              <a:gd name="T0" fmla="*/ 0 w 17"/>
              <a:gd name="T1" fmla="*/ 38100 h 24"/>
              <a:gd name="T2" fmla="*/ 0 w 17"/>
              <a:gd name="T3" fmla="*/ 0 h 24"/>
              <a:gd name="T4" fmla="*/ 3175 w 17"/>
              <a:gd name="T5" fmla="*/ 0 h 24"/>
              <a:gd name="T6" fmla="*/ 3175 w 17"/>
              <a:gd name="T7" fmla="*/ 38100 h 24"/>
              <a:gd name="T8" fmla="*/ 0 w 17"/>
              <a:gd name="T9" fmla="*/ 38100 h 24"/>
              <a:gd name="T10" fmla="*/ 26988 w 17"/>
              <a:gd name="T11" fmla="*/ 0 h 24"/>
              <a:gd name="T12" fmla="*/ 26988 w 17"/>
              <a:gd name="T13" fmla="*/ 38100 h 24"/>
              <a:gd name="T14" fmla="*/ 25400 w 17"/>
              <a:gd name="T15" fmla="*/ 38100 h 24"/>
              <a:gd name="T16" fmla="*/ 25400 w 17"/>
              <a:gd name="T17" fmla="*/ 0 h 24"/>
              <a:gd name="T18" fmla="*/ 26988 w 17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24">
                <a:moveTo>
                  <a:pt x="0" y="24"/>
                </a:moveTo>
                <a:lnTo>
                  <a:pt x="0" y="0"/>
                </a:lnTo>
                <a:lnTo>
                  <a:pt x="2" y="0"/>
                </a:lnTo>
                <a:lnTo>
                  <a:pt x="2" y="24"/>
                </a:lnTo>
                <a:lnTo>
                  <a:pt x="0" y="24"/>
                </a:lnTo>
                <a:close/>
                <a:moveTo>
                  <a:pt x="17" y="0"/>
                </a:moveTo>
                <a:lnTo>
                  <a:pt x="17" y="24"/>
                </a:lnTo>
                <a:lnTo>
                  <a:pt x="16" y="24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2262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5" name="Freeform 890"/>
          <p:cNvSpPr>
            <a:spLocks noEditPoints="1"/>
          </p:cNvSpPr>
          <p:nvPr/>
        </p:nvSpPr>
        <p:spPr bwMode="auto">
          <a:xfrm>
            <a:off x="880343" y="3858276"/>
            <a:ext cx="16669" cy="30956"/>
          </a:xfrm>
          <a:custGeom>
            <a:avLst/>
            <a:gdLst>
              <a:gd name="T0" fmla="*/ 0 w 14"/>
              <a:gd name="T1" fmla="*/ 41275 h 26"/>
              <a:gd name="T2" fmla="*/ 0 w 14"/>
              <a:gd name="T3" fmla="*/ 3175 h 26"/>
              <a:gd name="T4" fmla="*/ 1588 w 14"/>
              <a:gd name="T5" fmla="*/ 0 h 26"/>
              <a:gd name="T6" fmla="*/ 1588 w 14"/>
              <a:gd name="T7" fmla="*/ 39688 h 26"/>
              <a:gd name="T8" fmla="*/ 0 w 14"/>
              <a:gd name="T9" fmla="*/ 41275 h 26"/>
              <a:gd name="T10" fmla="*/ 22225 w 14"/>
              <a:gd name="T11" fmla="*/ 3175 h 26"/>
              <a:gd name="T12" fmla="*/ 22225 w 14"/>
              <a:gd name="T13" fmla="*/ 41275 h 26"/>
              <a:gd name="T14" fmla="*/ 19050 w 14"/>
              <a:gd name="T15" fmla="*/ 39688 h 26"/>
              <a:gd name="T16" fmla="*/ 19050 w 14"/>
              <a:gd name="T17" fmla="*/ 0 h 26"/>
              <a:gd name="T18" fmla="*/ 22225 w 14"/>
              <a:gd name="T19" fmla="*/ 3175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4" h="26">
                <a:moveTo>
                  <a:pt x="0" y="26"/>
                </a:moveTo>
                <a:lnTo>
                  <a:pt x="0" y="2"/>
                </a:lnTo>
                <a:lnTo>
                  <a:pt x="1" y="0"/>
                </a:lnTo>
                <a:lnTo>
                  <a:pt x="1" y="25"/>
                </a:lnTo>
                <a:lnTo>
                  <a:pt x="0" y="26"/>
                </a:lnTo>
                <a:close/>
                <a:moveTo>
                  <a:pt x="14" y="2"/>
                </a:moveTo>
                <a:lnTo>
                  <a:pt x="14" y="26"/>
                </a:lnTo>
                <a:lnTo>
                  <a:pt x="12" y="25"/>
                </a:lnTo>
                <a:lnTo>
                  <a:pt x="12" y="0"/>
                </a:lnTo>
                <a:lnTo>
                  <a:pt x="14" y="2"/>
                </a:lnTo>
                <a:close/>
              </a:path>
            </a:pathLst>
          </a:custGeom>
          <a:solidFill>
            <a:srgbClr val="F41E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6" name="Freeform 891"/>
          <p:cNvSpPr>
            <a:spLocks noEditPoints="1"/>
          </p:cNvSpPr>
          <p:nvPr/>
        </p:nvSpPr>
        <p:spPr bwMode="auto">
          <a:xfrm>
            <a:off x="881533" y="3858276"/>
            <a:ext cx="13097" cy="30956"/>
          </a:xfrm>
          <a:custGeom>
            <a:avLst/>
            <a:gdLst>
              <a:gd name="T0" fmla="*/ 0 w 11"/>
              <a:gd name="T1" fmla="*/ 39688 h 26"/>
              <a:gd name="T2" fmla="*/ 0 w 11"/>
              <a:gd name="T3" fmla="*/ 0 h 26"/>
              <a:gd name="T4" fmla="*/ 1587 w 11"/>
              <a:gd name="T5" fmla="*/ 3175 h 26"/>
              <a:gd name="T6" fmla="*/ 1587 w 11"/>
              <a:gd name="T7" fmla="*/ 41275 h 26"/>
              <a:gd name="T8" fmla="*/ 0 w 11"/>
              <a:gd name="T9" fmla="*/ 39688 h 26"/>
              <a:gd name="T10" fmla="*/ 17462 w 11"/>
              <a:gd name="T11" fmla="*/ 0 h 26"/>
              <a:gd name="T12" fmla="*/ 17462 w 11"/>
              <a:gd name="T13" fmla="*/ 39688 h 26"/>
              <a:gd name="T14" fmla="*/ 15875 w 11"/>
              <a:gd name="T15" fmla="*/ 41275 h 26"/>
              <a:gd name="T16" fmla="*/ 15875 w 11"/>
              <a:gd name="T17" fmla="*/ 3175 h 26"/>
              <a:gd name="T18" fmla="*/ 17462 w 11"/>
              <a:gd name="T19" fmla="*/ 0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" h="26">
                <a:moveTo>
                  <a:pt x="0" y="25"/>
                </a:moveTo>
                <a:lnTo>
                  <a:pt x="0" y="0"/>
                </a:lnTo>
                <a:lnTo>
                  <a:pt x="1" y="2"/>
                </a:lnTo>
                <a:lnTo>
                  <a:pt x="1" y="26"/>
                </a:lnTo>
                <a:lnTo>
                  <a:pt x="0" y="25"/>
                </a:lnTo>
                <a:close/>
                <a:moveTo>
                  <a:pt x="11" y="0"/>
                </a:moveTo>
                <a:lnTo>
                  <a:pt x="11" y="25"/>
                </a:lnTo>
                <a:lnTo>
                  <a:pt x="10" y="26"/>
                </a:lnTo>
                <a:lnTo>
                  <a:pt x="10" y="2"/>
                </a:lnTo>
                <a:lnTo>
                  <a:pt x="11" y="0"/>
                </a:lnTo>
                <a:close/>
              </a:path>
            </a:pathLst>
          </a:custGeom>
          <a:solidFill>
            <a:srgbClr val="F717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7" name="Freeform 892"/>
          <p:cNvSpPr>
            <a:spLocks noEditPoints="1"/>
          </p:cNvSpPr>
          <p:nvPr/>
        </p:nvSpPr>
        <p:spPr bwMode="auto">
          <a:xfrm>
            <a:off x="882724" y="3858276"/>
            <a:ext cx="10716" cy="30956"/>
          </a:xfrm>
          <a:custGeom>
            <a:avLst/>
            <a:gdLst>
              <a:gd name="T0" fmla="*/ 0 w 9"/>
              <a:gd name="T1" fmla="*/ 41275 h 26"/>
              <a:gd name="T2" fmla="*/ 0 w 9"/>
              <a:gd name="T3" fmla="*/ 3175 h 26"/>
              <a:gd name="T4" fmla="*/ 1588 w 9"/>
              <a:gd name="T5" fmla="*/ 0 h 26"/>
              <a:gd name="T6" fmla="*/ 1588 w 9"/>
              <a:gd name="T7" fmla="*/ 39688 h 26"/>
              <a:gd name="T8" fmla="*/ 0 w 9"/>
              <a:gd name="T9" fmla="*/ 41275 h 26"/>
              <a:gd name="T10" fmla="*/ 14288 w 9"/>
              <a:gd name="T11" fmla="*/ 3175 h 26"/>
              <a:gd name="T12" fmla="*/ 14288 w 9"/>
              <a:gd name="T13" fmla="*/ 41275 h 26"/>
              <a:gd name="T14" fmla="*/ 12700 w 9"/>
              <a:gd name="T15" fmla="*/ 39688 h 26"/>
              <a:gd name="T16" fmla="*/ 12700 w 9"/>
              <a:gd name="T17" fmla="*/ 0 h 26"/>
              <a:gd name="T18" fmla="*/ 14288 w 9"/>
              <a:gd name="T19" fmla="*/ 3175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9" h="26">
                <a:moveTo>
                  <a:pt x="0" y="26"/>
                </a:moveTo>
                <a:lnTo>
                  <a:pt x="0" y="2"/>
                </a:lnTo>
                <a:lnTo>
                  <a:pt x="1" y="0"/>
                </a:lnTo>
                <a:lnTo>
                  <a:pt x="1" y="25"/>
                </a:lnTo>
                <a:lnTo>
                  <a:pt x="0" y="26"/>
                </a:lnTo>
                <a:close/>
                <a:moveTo>
                  <a:pt x="9" y="2"/>
                </a:moveTo>
                <a:lnTo>
                  <a:pt x="9" y="26"/>
                </a:lnTo>
                <a:lnTo>
                  <a:pt x="8" y="25"/>
                </a:lnTo>
                <a:lnTo>
                  <a:pt x="8" y="0"/>
                </a:lnTo>
                <a:lnTo>
                  <a:pt x="9" y="2"/>
                </a:lnTo>
                <a:close/>
              </a:path>
            </a:pathLst>
          </a:custGeom>
          <a:solidFill>
            <a:srgbClr val="F9101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8" name="Freeform 893"/>
          <p:cNvSpPr>
            <a:spLocks noEditPoints="1"/>
          </p:cNvSpPr>
          <p:nvPr/>
        </p:nvSpPr>
        <p:spPr bwMode="auto">
          <a:xfrm>
            <a:off x="883915" y="3858276"/>
            <a:ext cx="8334" cy="30956"/>
          </a:xfrm>
          <a:custGeom>
            <a:avLst/>
            <a:gdLst>
              <a:gd name="T0" fmla="*/ 0 w 7"/>
              <a:gd name="T1" fmla="*/ 39688 h 26"/>
              <a:gd name="T2" fmla="*/ 0 w 7"/>
              <a:gd name="T3" fmla="*/ 0 h 26"/>
              <a:gd name="T4" fmla="*/ 3175 w 7"/>
              <a:gd name="T5" fmla="*/ 3175 h 26"/>
              <a:gd name="T6" fmla="*/ 3175 w 7"/>
              <a:gd name="T7" fmla="*/ 41275 h 26"/>
              <a:gd name="T8" fmla="*/ 0 w 7"/>
              <a:gd name="T9" fmla="*/ 39688 h 26"/>
              <a:gd name="T10" fmla="*/ 11112 w 7"/>
              <a:gd name="T11" fmla="*/ 0 h 26"/>
              <a:gd name="T12" fmla="*/ 11112 w 7"/>
              <a:gd name="T13" fmla="*/ 39688 h 26"/>
              <a:gd name="T14" fmla="*/ 7937 w 7"/>
              <a:gd name="T15" fmla="*/ 41275 h 26"/>
              <a:gd name="T16" fmla="*/ 7937 w 7"/>
              <a:gd name="T17" fmla="*/ 3175 h 26"/>
              <a:gd name="T18" fmla="*/ 11112 w 7"/>
              <a:gd name="T19" fmla="*/ 0 h 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" h="26">
                <a:moveTo>
                  <a:pt x="0" y="25"/>
                </a:moveTo>
                <a:lnTo>
                  <a:pt x="0" y="0"/>
                </a:lnTo>
                <a:lnTo>
                  <a:pt x="2" y="2"/>
                </a:lnTo>
                <a:lnTo>
                  <a:pt x="2" y="26"/>
                </a:lnTo>
                <a:lnTo>
                  <a:pt x="0" y="25"/>
                </a:lnTo>
                <a:close/>
                <a:moveTo>
                  <a:pt x="7" y="0"/>
                </a:moveTo>
                <a:lnTo>
                  <a:pt x="7" y="25"/>
                </a:lnTo>
                <a:lnTo>
                  <a:pt x="5" y="26"/>
                </a:lnTo>
                <a:lnTo>
                  <a:pt x="5" y="2"/>
                </a:lnTo>
                <a:lnTo>
                  <a:pt x="7" y="0"/>
                </a:lnTo>
                <a:close/>
              </a:path>
            </a:pathLst>
          </a:custGeom>
          <a:solidFill>
            <a:srgbClr val="FB090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29" name="Freeform 894"/>
          <p:cNvSpPr>
            <a:spLocks noEditPoints="1"/>
          </p:cNvSpPr>
          <p:nvPr/>
        </p:nvSpPr>
        <p:spPr bwMode="auto">
          <a:xfrm>
            <a:off x="886296" y="3860657"/>
            <a:ext cx="3572" cy="28575"/>
          </a:xfrm>
          <a:custGeom>
            <a:avLst/>
            <a:gdLst>
              <a:gd name="T0" fmla="*/ 0 w 3"/>
              <a:gd name="T1" fmla="*/ 38100 h 24"/>
              <a:gd name="T2" fmla="*/ 0 w 3"/>
              <a:gd name="T3" fmla="*/ 0 h 24"/>
              <a:gd name="T4" fmla="*/ 1587 w 3"/>
              <a:gd name="T5" fmla="*/ 0 h 24"/>
              <a:gd name="T6" fmla="*/ 1587 w 3"/>
              <a:gd name="T7" fmla="*/ 38100 h 24"/>
              <a:gd name="T8" fmla="*/ 0 w 3"/>
              <a:gd name="T9" fmla="*/ 38100 h 24"/>
              <a:gd name="T10" fmla="*/ 4762 w 3"/>
              <a:gd name="T11" fmla="*/ 0 h 24"/>
              <a:gd name="T12" fmla="*/ 4762 w 3"/>
              <a:gd name="T13" fmla="*/ 38100 h 24"/>
              <a:gd name="T14" fmla="*/ 3175 w 3"/>
              <a:gd name="T15" fmla="*/ 38100 h 24"/>
              <a:gd name="T16" fmla="*/ 3175 w 3"/>
              <a:gd name="T17" fmla="*/ 0 h 24"/>
              <a:gd name="T18" fmla="*/ 4762 w 3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3" y="0"/>
                </a:moveTo>
                <a:lnTo>
                  <a:pt x="3" y="24"/>
                </a:lnTo>
                <a:lnTo>
                  <a:pt x="2" y="24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D030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30" name="Freeform 895"/>
          <p:cNvSpPr>
            <a:spLocks noEditPoints="1"/>
          </p:cNvSpPr>
          <p:nvPr/>
        </p:nvSpPr>
        <p:spPr bwMode="auto">
          <a:xfrm>
            <a:off x="887486" y="3860657"/>
            <a:ext cx="1191" cy="28575"/>
          </a:xfrm>
          <a:custGeom>
            <a:avLst/>
            <a:gdLst>
              <a:gd name="T0" fmla="*/ 0 w 1"/>
              <a:gd name="T1" fmla="*/ 38100 h 24"/>
              <a:gd name="T2" fmla="*/ 0 w 1"/>
              <a:gd name="T3" fmla="*/ 0 h 24"/>
              <a:gd name="T4" fmla="*/ 1588 w 1"/>
              <a:gd name="T5" fmla="*/ 0 h 24"/>
              <a:gd name="T6" fmla="*/ 1588 w 1"/>
              <a:gd name="T7" fmla="*/ 38100 h 24"/>
              <a:gd name="T8" fmla="*/ 0 w 1"/>
              <a:gd name="T9" fmla="*/ 38100 h 24"/>
              <a:gd name="T10" fmla="*/ 1588 w 1"/>
              <a:gd name="T11" fmla="*/ 0 h 24"/>
              <a:gd name="T12" fmla="*/ 1588 w 1"/>
              <a:gd name="T13" fmla="*/ 38100 h 24"/>
              <a:gd name="T14" fmla="*/ 1588 w 1"/>
              <a:gd name="T15" fmla="*/ 38100 h 24"/>
              <a:gd name="T16" fmla="*/ 1588 w 1"/>
              <a:gd name="T17" fmla="*/ 0 h 24"/>
              <a:gd name="T18" fmla="*/ 1588 w 1"/>
              <a:gd name="T19" fmla="*/ 0 h 2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" h="24">
                <a:moveTo>
                  <a:pt x="0" y="24"/>
                </a:moveTo>
                <a:lnTo>
                  <a:pt x="0" y="0"/>
                </a:lnTo>
                <a:lnTo>
                  <a:pt x="1" y="0"/>
                </a:lnTo>
                <a:lnTo>
                  <a:pt x="1" y="24"/>
                </a:lnTo>
                <a:lnTo>
                  <a:pt x="0" y="24"/>
                </a:lnTo>
                <a:close/>
                <a:moveTo>
                  <a:pt x="1" y="0"/>
                </a:moveTo>
                <a:lnTo>
                  <a:pt x="1" y="24"/>
                </a:lnTo>
                <a:lnTo>
                  <a:pt x="1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31" name="Freeform 896"/>
          <p:cNvSpPr/>
          <p:nvPr/>
        </p:nvSpPr>
        <p:spPr bwMode="auto">
          <a:xfrm>
            <a:off x="848196" y="3491563"/>
            <a:ext cx="509588" cy="510779"/>
          </a:xfrm>
          <a:custGeom>
            <a:avLst/>
            <a:gdLst>
              <a:gd name="T0" fmla="*/ 0 w 428"/>
              <a:gd name="T1" fmla="*/ 681038 h 429"/>
              <a:gd name="T2" fmla="*/ 0 w 428"/>
              <a:gd name="T3" fmla="*/ 473075 h 429"/>
              <a:gd name="T4" fmla="*/ 69850 w 428"/>
              <a:gd name="T5" fmla="*/ 401638 h 429"/>
              <a:gd name="T6" fmla="*/ 76200 w 428"/>
              <a:gd name="T7" fmla="*/ 401638 h 429"/>
              <a:gd name="T8" fmla="*/ 76200 w 428"/>
              <a:gd name="T9" fmla="*/ 77788 h 429"/>
              <a:gd name="T10" fmla="*/ 150813 w 428"/>
              <a:gd name="T11" fmla="*/ 0 h 429"/>
              <a:gd name="T12" fmla="*/ 603250 w 428"/>
              <a:gd name="T13" fmla="*/ 0 h 429"/>
              <a:gd name="T14" fmla="*/ 603250 w 428"/>
              <a:gd name="T15" fmla="*/ 228600 h 429"/>
              <a:gd name="T16" fmla="*/ 585788 w 428"/>
              <a:gd name="T17" fmla="*/ 284163 h 429"/>
              <a:gd name="T18" fmla="*/ 585788 w 428"/>
              <a:gd name="T19" fmla="*/ 387350 h 429"/>
              <a:gd name="T20" fmla="*/ 574675 w 428"/>
              <a:gd name="T21" fmla="*/ 396875 h 429"/>
              <a:gd name="T22" fmla="*/ 679450 w 428"/>
              <a:gd name="T23" fmla="*/ 396875 h 429"/>
              <a:gd name="T24" fmla="*/ 679450 w 428"/>
              <a:gd name="T25" fmla="*/ 604838 h 429"/>
              <a:gd name="T26" fmla="*/ 603250 w 428"/>
              <a:gd name="T27" fmla="*/ 681038 h 429"/>
              <a:gd name="T28" fmla="*/ 0 w 428"/>
              <a:gd name="T29" fmla="*/ 681038 h 42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28" h="429">
                <a:moveTo>
                  <a:pt x="0" y="429"/>
                </a:moveTo>
                <a:lnTo>
                  <a:pt x="0" y="298"/>
                </a:lnTo>
                <a:lnTo>
                  <a:pt x="44" y="253"/>
                </a:lnTo>
                <a:lnTo>
                  <a:pt x="48" y="253"/>
                </a:lnTo>
                <a:lnTo>
                  <a:pt x="48" y="49"/>
                </a:lnTo>
                <a:lnTo>
                  <a:pt x="95" y="0"/>
                </a:lnTo>
                <a:lnTo>
                  <a:pt x="380" y="0"/>
                </a:lnTo>
                <a:lnTo>
                  <a:pt x="380" y="144"/>
                </a:lnTo>
                <a:lnTo>
                  <a:pt x="369" y="179"/>
                </a:lnTo>
                <a:lnTo>
                  <a:pt x="369" y="244"/>
                </a:lnTo>
                <a:lnTo>
                  <a:pt x="362" y="250"/>
                </a:lnTo>
                <a:lnTo>
                  <a:pt x="428" y="250"/>
                </a:lnTo>
                <a:lnTo>
                  <a:pt x="428" y="381"/>
                </a:lnTo>
                <a:lnTo>
                  <a:pt x="380" y="429"/>
                </a:lnTo>
                <a:lnTo>
                  <a:pt x="0" y="42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32" name="Rectangle 897"/>
          <p:cNvSpPr>
            <a:spLocks noChangeArrowheads="1"/>
          </p:cNvSpPr>
          <p:nvPr/>
        </p:nvSpPr>
        <p:spPr bwMode="auto">
          <a:xfrm>
            <a:off x="456094" y="4055353"/>
            <a:ext cx="9008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 err="1" smtClean="0">
                <a:solidFill>
                  <a:srgbClr val="0000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Tianjing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33" name="Line 898"/>
          <p:cNvSpPr>
            <a:spLocks noChangeShapeType="1"/>
          </p:cNvSpPr>
          <p:nvPr/>
        </p:nvSpPr>
        <p:spPr bwMode="auto">
          <a:xfrm flipV="1">
            <a:off x="4287912" y="4415488"/>
            <a:ext cx="1584722" cy="1012031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Sitka Text" panose="02000505000000020004" pitchFamily="2" charset="0"/>
            </a:endParaRPr>
          </a:p>
        </p:txBody>
      </p:sp>
      <p:sp>
        <p:nvSpPr>
          <p:cNvPr id="18934" name="Text Box 899"/>
          <p:cNvSpPr txBox="1">
            <a:spLocks noChangeArrowheads="1"/>
          </p:cNvSpPr>
          <p:nvPr/>
        </p:nvSpPr>
        <p:spPr bwMode="auto">
          <a:xfrm>
            <a:off x="1869095" y="6577283"/>
            <a:ext cx="31245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Nodes = computers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Edges = transmission rates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35" name="Text Box 900"/>
          <p:cNvSpPr txBox="1">
            <a:spLocks noChangeArrowheads="1"/>
          </p:cNvSpPr>
          <p:nvPr/>
        </p:nvSpPr>
        <p:spPr bwMode="auto">
          <a:xfrm>
            <a:off x="4611762" y="4022582"/>
            <a:ext cx="5661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128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36" name="Text Box 901"/>
          <p:cNvSpPr txBox="1">
            <a:spLocks noChangeArrowheads="1"/>
          </p:cNvSpPr>
          <p:nvPr/>
        </p:nvSpPr>
        <p:spPr bwMode="auto">
          <a:xfrm>
            <a:off x="4857030" y="5000085"/>
            <a:ext cx="5774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140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37" name="Text Box 902"/>
          <p:cNvSpPr txBox="1">
            <a:spLocks noChangeArrowheads="1"/>
          </p:cNvSpPr>
          <p:nvPr/>
        </p:nvSpPr>
        <p:spPr bwMode="auto">
          <a:xfrm>
            <a:off x="3949774" y="4645279"/>
            <a:ext cx="5405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181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38" name="Text Box 903"/>
          <p:cNvSpPr txBox="1">
            <a:spLocks noChangeArrowheads="1"/>
          </p:cNvSpPr>
          <p:nvPr/>
        </p:nvSpPr>
        <p:spPr bwMode="auto">
          <a:xfrm>
            <a:off x="2747242" y="4945316"/>
            <a:ext cx="4619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30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39" name="Text Box 904"/>
          <p:cNvSpPr txBox="1">
            <a:spLocks noChangeArrowheads="1"/>
          </p:cNvSpPr>
          <p:nvPr/>
        </p:nvSpPr>
        <p:spPr bwMode="auto">
          <a:xfrm>
            <a:off x="1806648" y="4614323"/>
            <a:ext cx="4283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16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18940" name="Text Box 905"/>
          <p:cNvSpPr txBox="1">
            <a:spLocks noChangeArrowheads="1"/>
          </p:cNvSpPr>
          <p:nvPr/>
        </p:nvSpPr>
        <p:spPr bwMode="auto">
          <a:xfrm>
            <a:off x="1358973" y="3528473"/>
            <a:ext cx="4507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56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Information Transmission in a Computer Network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AA3E22-4597-4EDE-A4DE-E359493793E0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19427E-D1DF-4A9A-9988-9A411A730570}" type="slidenum">
              <a:rPr lang="en-US" altLang="zh-CN" sz="1050"/>
            </a:fld>
            <a:endParaRPr lang="en-US" altLang="zh-CN" sz="1050"/>
          </a:p>
        </p:txBody>
      </p:sp>
      <p:sp>
        <p:nvSpPr>
          <p:cNvPr id="19463" name="Text Box 4"/>
          <p:cNvSpPr txBox="1">
            <a:spLocks noChangeArrowheads="1"/>
          </p:cNvSpPr>
          <p:nvPr/>
        </p:nvSpPr>
        <p:spPr bwMode="auto">
          <a:xfrm>
            <a:off x="1241395" y="6922606"/>
            <a:ext cx="28648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Nodes = </a:t>
            </a:r>
            <a:r>
              <a:rPr lang="en-US" altLang="zh-CN" sz="1800" dirty="0" smtClean="0">
                <a:latin typeface="Sitka Text" panose="02000505000000020004" pitchFamily="2" charset="0"/>
                <a:ea typeface="SimSun" panose="02010600030101010101" pitchFamily="2" charset="-122"/>
              </a:rPr>
              <a:t>stations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 sz="1800" dirty="0">
                <a:latin typeface="Sitka Text" panose="02000505000000020004" pitchFamily="2" charset="0"/>
                <a:ea typeface="SimSun" panose="02010600030101010101" pitchFamily="2" charset="-122"/>
              </a:rPr>
              <a:t>Edges = </a:t>
            </a:r>
            <a:r>
              <a:rPr lang="en-US" altLang="zh-CN" sz="1800" dirty="0" smtClean="0">
                <a:latin typeface="Sitka Text" panose="02000505000000020004" pitchFamily="2" charset="0"/>
                <a:ea typeface="SimSun" panose="02010600030101010101" pitchFamily="2" charset="-122"/>
              </a:rPr>
              <a:t>connecting lines</a:t>
            </a:r>
            <a:endParaRPr lang="en-US" altLang="zh-CN" sz="18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Map </a:t>
            </a:r>
            <a:endParaRPr lang="zh-CN" altLang="en-US" dirty="0"/>
          </a:p>
        </p:txBody>
      </p:sp>
      <p:pic>
        <p:nvPicPr>
          <p:cNvPr id="1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23" t="39684" r="45355" b="30173"/>
          <a:stretch>
            <a:fillRect/>
          </a:stretch>
        </p:blipFill>
        <p:spPr bwMode="auto">
          <a:xfrm>
            <a:off x="1256876" y="2623280"/>
            <a:ext cx="4122738" cy="394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222135" y="7585705"/>
            <a:ext cx="36252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What is the shortest path from “</a:t>
            </a:r>
            <a:r>
              <a:rPr lang="zh-CN" altLang="en-US" dirty="0">
                <a:solidFill>
                  <a:srgbClr val="FF0000"/>
                </a:solidFill>
                <a:latin typeface="Sitka Text" panose="02000505000000020004" pitchFamily="2" charset="0"/>
              </a:rPr>
              <a:t>越秀公园”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to “</a:t>
            </a:r>
            <a:r>
              <a:rPr lang="zh-CN" altLang="en-US" dirty="0">
                <a:solidFill>
                  <a:srgbClr val="FF0000"/>
                </a:solidFill>
                <a:latin typeface="Sitka Text" panose="02000505000000020004" pitchFamily="2" charset="0"/>
              </a:rPr>
              <a:t>动物园”？</a:t>
            </a:r>
            <a:endParaRPr lang="en-US" altLang="zh-CN" dirty="0">
              <a:solidFill>
                <a:srgbClr val="FF0000"/>
              </a:solidFill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DF8656-E569-45BB-BC49-CF14BBA6D2B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37BC56-7055-472F-B55D-6C7C159BC26D}" type="slidenum">
              <a:rPr lang="en-US" altLang="zh-CN" sz="1050"/>
            </a:fld>
            <a:endParaRPr lang="en-US" altLang="zh-CN" sz="105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Graph Definition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A graph is simply a collection of nodes plus edges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Linked lists, trees, and heaps are all special cases of graphs</a:t>
            </a: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The nodes are known as vertices (node = “vertex”)</a:t>
            </a: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Formal Definition: A graph </a:t>
            </a:r>
            <a:r>
              <a:rPr lang="en-US" altLang="zh-CN" i="1" dirty="0">
                <a:solidFill>
                  <a:srgbClr val="263AF8"/>
                </a:solidFill>
                <a:ea typeface="SimSun" panose="02010600030101010101" pitchFamily="2" charset="-122"/>
              </a:rPr>
              <a:t>G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 is a pair (</a:t>
            </a:r>
            <a:r>
              <a:rPr lang="en-US" altLang="zh-CN" i="1" dirty="0">
                <a:solidFill>
                  <a:srgbClr val="263AF8"/>
                </a:solidFill>
                <a:ea typeface="SimSun" panose="02010600030101010101" pitchFamily="2" charset="-122"/>
              </a:rPr>
              <a:t>V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263AF8"/>
                </a:solidFill>
                <a:ea typeface="SimSun" panose="02010600030101010101" pitchFamily="2" charset="-122"/>
              </a:rPr>
              <a:t>E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) </a:t>
            </a:r>
            <a:r>
              <a:rPr lang="en-US" altLang="zh-CN" dirty="0">
                <a:ea typeface="SimSun" panose="02010600030101010101" pitchFamily="2" charset="-122"/>
              </a:rPr>
              <a:t>where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dirty="0">
                <a:ea typeface="SimSun" panose="02010600030101010101" pitchFamily="2" charset="-122"/>
              </a:rPr>
              <a:t> is a set of vertices or nodes 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i="1" dirty="0">
                <a:ea typeface="SimSun" panose="02010600030101010101" pitchFamily="2" charset="-122"/>
              </a:rPr>
              <a:t>E</a:t>
            </a:r>
            <a:r>
              <a:rPr lang="en-US" altLang="zh-CN" dirty="0">
                <a:ea typeface="SimSun" panose="02010600030101010101" pitchFamily="2" charset="-122"/>
              </a:rPr>
              <a:t> is a set of edges that connect </a:t>
            </a:r>
            <a:r>
              <a:rPr lang="en-US" altLang="zh-CN" dirty="0" smtClean="0">
                <a:ea typeface="SimSun" panose="02010600030101010101" pitchFamily="2" charset="-122"/>
              </a:rPr>
              <a:t>vertices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endParaRPr lang="en-US" altLang="zh-CN" sz="2400" dirty="0">
              <a:ea typeface="SimSun" panose="02010600030101010101" pitchFamily="2" charset="-122"/>
            </a:endParaRPr>
          </a:p>
          <a:p>
            <a:r>
              <a:rPr lang="en-US" altLang="zh-CN" dirty="0"/>
              <a:t>|E| can range from 0 to |V|</a:t>
            </a:r>
            <a:r>
              <a:rPr lang="en-US" altLang="zh-CN" baseline="30000" dirty="0"/>
              <a:t>2</a:t>
            </a:r>
            <a:r>
              <a:rPr lang="en-US" altLang="zh-CN" dirty="0"/>
              <a:t>- |V|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BFC9F3-33B0-46E0-A28C-A6DC84B77E5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6E5324-9625-422B-A8A3-6189E76DFDD2}" type="slidenum">
              <a:rPr lang="en-US" altLang="zh-CN" sz="1050"/>
            </a:fld>
            <a:endParaRPr lang="en-US" altLang="zh-CN" sz="105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Graph Example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0050" y="2576670"/>
            <a:ext cx="6057900" cy="2395380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Here is a directed graph </a:t>
            </a:r>
            <a:r>
              <a:rPr lang="en-US" altLang="zh-CN" i="1" dirty="0">
                <a:ea typeface="SimSun" panose="02010600030101010101" pitchFamily="2" charset="-122"/>
              </a:rPr>
              <a:t>G</a:t>
            </a:r>
            <a:r>
              <a:rPr lang="en-US" altLang="zh-CN" dirty="0">
                <a:ea typeface="SimSun" panose="02010600030101010101" pitchFamily="2" charset="-122"/>
              </a:rPr>
              <a:t> = (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E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sz="2400" dirty="0">
                <a:ea typeface="SimSun" panose="02010600030101010101" pitchFamily="2" charset="-122"/>
              </a:rPr>
              <a:t>Each </a:t>
            </a:r>
            <a:r>
              <a:rPr lang="en-US" altLang="zh-CN" sz="2400" u="sng" dirty="0">
                <a:solidFill>
                  <a:srgbClr val="0000FF"/>
                </a:solidFill>
                <a:ea typeface="SimSun" panose="02010600030101010101" pitchFamily="2" charset="-122"/>
              </a:rPr>
              <a:t>edge</a:t>
            </a:r>
            <a:r>
              <a:rPr lang="en-US" altLang="zh-CN" sz="2400" dirty="0">
                <a:ea typeface="SimSun" panose="02010600030101010101" pitchFamily="2" charset="-122"/>
              </a:rPr>
              <a:t> is a pair (</a:t>
            </a:r>
            <a:r>
              <a:rPr lang="en-US" altLang="zh-CN" sz="2400" i="1" dirty="0">
                <a:ea typeface="SimSun" panose="02010600030101010101" pitchFamily="2" charset="-122"/>
              </a:rPr>
              <a:t>v</a:t>
            </a:r>
            <a:r>
              <a:rPr lang="en-US" altLang="zh-CN" sz="2400" baseline="-25000" dirty="0">
                <a:ea typeface="SimSun" panose="02010600030101010101" pitchFamily="2" charset="-122"/>
              </a:rPr>
              <a:t>1</a:t>
            </a:r>
            <a:r>
              <a:rPr lang="en-US" altLang="zh-CN" sz="2400" dirty="0">
                <a:ea typeface="SimSun" panose="02010600030101010101" pitchFamily="2" charset="-122"/>
              </a:rPr>
              <a:t>, </a:t>
            </a:r>
            <a:r>
              <a:rPr lang="en-US" altLang="zh-CN" sz="2400" i="1" dirty="0">
                <a:ea typeface="SimSun" panose="02010600030101010101" pitchFamily="2" charset="-122"/>
              </a:rPr>
              <a:t>v</a:t>
            </a:r>
            <a:r>
              <a:rPr lang="en-US" altLang="zh-CN" sz="2400" baseline="-25000" dirty="0">
                <a:ea typeface="SimSun" panose="02010600030101010101" pitchFamily="2" charset="-122"/>
              </a:rPr>
              <a:t>2</a:t>
            </a:r>
            <a:r>
              <a:rPr lang="en-US" altLang="zh-CN" sz="2400" dirty="0">
                <a:ea typeface="SimSun" panose="02010600030101010101" pitchFamily="2" charset="-122"/>
              </a:rPr>
              <a:t>), where </a:t>
            </a:r>
            <a:r>
              <a:rPr lang="en-US" altLang="zh-CN" sz="2400" i="1" dirty="0">
                <a:ea typeface="SimSun" panose="02010600030101010101" pitchFamily="2" charset="-122"/>
              </a:rPr>
              <a:t>v</a:t>
            </a:r>
            <a:r>
              <a:rPr lang="en-US" altLang="zh-CN" sz="2400" baseline="-25000" dirty="0">
                <a:ea typeface="SimSun" panose="02010600030101010101" pitchFamily="2" charset="-122"/>
              </a:rPr>
              <a:t>1</a:t>
            </a:r>
            <a:r>
              <a:rPr lang="en-US" altLang="zh-CN" sz="2400" dirty="0">
                <a:ea typeface="SimSun" panose="02010600030101010101" pitchFamily="2" charset="-122"/>
              </a:rPr>
              <a:t>, </a:t>
            </a:r>
            <a:r>
              <a:rPr lang="en-US" altLang="zh-CN" sz="2400" i="1" dirty="0">
                <a:ea typeface="SimSun" panose="02010600030101010101" pitchFamily="2" charset="-122"/>
              </a:rPr>
              <a:t>v</a:t>
            </a:r>
            <a:r>
              <a:rPr lang="en-US" altLang="zh-CN" sz="2400" baseline="-25000" dirty="0">
                <a:ea typeface="SimSun" panose="02010600030101010101" pitchFamily="2" charset="-122"/>
              </a:rPr>
              <a:t>2</a:t>
            </a:r>
            <a:r>
              <a:rPr lang="en-US" altLang="zh-CN" sz="2400" dirty="0"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ea typeface="SimSun" panose="02010600030101010101" pitchFamily="2" charset="-122"/>
                <a:sym typeface="Symbol" panose="05050102010706020507" pitchFamily="18" charset="2"/>
              </a:rPr>
              <a:t>are vertices in </a:t>
            </a:r>
            <a:r>
              <a:rPr lang="en-US" altLang="zh-CN" sz="2400" i="1" dirty="0">
                <a:ea typeface="SimSun" panose="02010600030101010101" pitchFamily="2" charset="-122"/>
                <a:sym typeface="Math B" pitchFamily="2" charset="2"/>
              </a:rPr>
              <a:t>V </a:t>
            </a:r>
            <a:endParaRPr lang="en-US" altLang="zh-CN" sz="2400" i="1" dirty="0">
              <a:ea typeface="SimSun" panose="02010600030101010101" pitchFamily="2" charset="-122"/>
              <a:sym typeface="Math B" pitchFamily="2" charset="2"/>
            </a:endParaRPr>
          </a:p>
          <a:p>
            <a:pPr lvl="1"/>
            <a:r>
              <a:rPr lang="en-US" altLang="zh-CN" sz="2400" dirty="0">
                <a:ea typeface="SimSun" panose="02010600030101010101" pitchFamily="2" charset="-122"/>
              </a:rPr>
              <a:t>V = {A, B, C, D, E, F}</a:t>
            </a:r>
            <a:endParaRPr lang="en-US" altLang="zh-CN" sz="2400" dirty="0">
              <a:ea typeface="SimSun" panose="02010600030101010101" pitchFamily="2" charset="-122"/>
            </a:endParaRPr>
          </a:p>
          <a:p>
            <a:pPr lvl="1">
              <a:spcBef>
                <a:spcPct val="25000"/>
              </a:spcBef>
              <a:buFontTx/>
              <a:buNone/>
            </a:pPr>
            <a:r>
              <a:rPr lang="en-US" altLang="zh-CN" sz="2400" dirty="0" smtClean="0">
                <a:ea typeface="SimSun" panose="02010600030101010101" pitchFamily="2" charset="-122"/>
              </a:rPr>
              <a:t> E </a:t>
            </a:r>
            <a:r>
              <a:rPr lang="en-US" altLang="zh-CN" sz="2400" dirty="0">
                <a:ea typeface="SimSun" panose="02010600030101010101" pitchFamily="2" charset="-122"/>
              </a:rPr>
              <a:t>= {(A,B), (A,D), (B,C), (C,D), (C,E), (D,E)}</a:t>
            </a:r>
            <a:endParaRPr lang="en-US" altLang="zh-CN" sz="2400" dirty="0">
              <a:ea typeface="SimSun" panose="02010600030101010101" pitchFamily="2" charset="-122"/>
            </a:endParaRPr>
          </a:p>
          <a:p>
            <a:pPr lvl="1">
              <a:spcBef>
                <a:spcPct val="50000"/>
              </a:spcBef>
              <a:buFontTx/>
              <a:buNone/>
            </a:pP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21511" name="Oval 4"/>
          <p:cNvSpPr>
            <a:spLocks noChangeArrowheads="1"/>
          </p:cNvSpPr>
          <p:nvPr/>
        </p:nvSpPr>
        <p:spPr bwMode="auto">
          <a:xfrm>
            <a:off x="1456332" y="622412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2" name="Oval 5"/>
          <p:cNvSpPr>
            <a:spLocks noChangeArrowheads="1"/>
          </p:cNvSpPr>
          <p:nvPr/>
        </p:nvSpPr>
        <p:spPr bwMode="auto">
          <a:xfrm>
            <a:off x="2452886" y="559904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3" name="Oval 6"/>
          <p:cNvSpPr>
            <a:spLocks noChangeArrowheads="1"/>
          </p:cNvSpPr>
          <p:nvPr/>
        </p:nvSpPr>
        <p:spPr bwMode="auto">
          <a:xfrm>
            <a:off x="4167386" y="582764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4" name="Oval 7"/>
          <p:cNvSpPr>
            <a:spLocks noChangeArrowheads="1"/>
          </p:cNvSpPr>
          <p:nvPr/>
        </p:nvSpPr>
        <p:spPr bwMode="auto">
          <a:xfrm>
            <a:off x="3856632" y="685277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5" name="Oval 8"/>
          <p:cNvSpPr>
            <a:spLocks noChangeArrowheads="1"/>
          </p:cNvSpPr>
          <p:nvPr/>
        </p:nvSpPr>
        <p:spPr bwMode="auto">
          <a:xfrm>
            <a:off x="2256432" y="679562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6" name="Oval 15"/>
          <p:cNvSpPr>
            <a:spLocks noChangeArrowheads="1"/>
          </p:cNvSpPr>
          <p:nvPr/>
        </p:nvSpPr>
        <p:spPr bwMode="auto">
          <a:xfrm>
            <a:off x="5196086" y="645629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517" name="Line 22"/>
          <p:cNvSpPr>
            <a:spLocks noChangeShapeType="1"/>
          </p:cNvSpPr>
          <p:nvPr/>
        </p:nvSpPr>
        <p:spPr bwMode="auto">
          <a:xfrm>
            <a:off x="1714699" y="5403786"/>
            <a:ext cx="315515" cy="5405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518" name="Freeform 23"/>
          <p:cNvSpPr/>
          <p:nvPr/>
        </p:nvSpPr>
        <p:spPr bwMode="auto">
          <a:xfrm>
            <a:off x="3075583" y="5415692"/>
            <a:ext cx="451247" cy="415528"/>
          </a:xfrm>
          <a:custGeom>
            <a:avLst/>
            <a:gdLst>
              <a:gd name="T0" fmla="*/ 0 w 379"/>
              <a:gd name="T1" fmla="*/ 0 h 349"/>
              <a:gd name="T2" fmla="*/ 509588 w 379"/>
              <a:gd name="T3" fmla="*/ 209550 h 349"/>
              <a:gd name="T4" fmla="*/ 554038 w 379"/>
              <a:gd name="T5" fmla="*/ 554037 h 34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9" h="349">
                <a:moveTo>
                  <a:pt x="0" y="0"/>
                </a:moveTo>
                <a:cubicBezTo>
                  <a:pt x="131" y="37"/>
                  <a:pt x="263" y="74"/>
                  <a:pt x="321" y="132"/>
                </a:cubicBezTo>
                <a:cubicBezTo>
                  <a:pt x="379" y="190"/>
                  <a:pt x="364" y="269"/>
                  <a:pt x="349" y="349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cxnSp>
        <p:nvCxnSpPr>
          <p:cNvPr id="21519" name="AutoShape 24"/>
          <p:cNvCxnSpPr>
            <a:cxnSpLocks noChangeShapeType="1"/>
            <a:stCxn id="21513" idx="4"/>
            <a:endCxn id="21514" idx="0"/>
          </p:cNvCxnSpPr>
          <p:nvPr/>
        </p:nvCxnSpPr>
        <p:spPr bwMode="auto">
          <a:xfrm flipH="1">
            <a:off x="4056657" y="6227699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0" name="AutoShape 25"/>
          <p:cNvCxnSpPr>
            <a:cxnSpLocks noChangeShapeType="1"/>
            <a:stCxn id="21515" idx="6"/>
            <a:endCxn id="21514" idx="2"/>
          </p:cNvCxnSpPr>
          <p:nvPr/>
        </p:nvCxnSpPr>
        <p:spPr bwMode="auto">
          <a:xfrm>
            <a:off x="2656482" y="6995651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1" name="AutoShape 26"/>
          <p:cNvCxnSpPr>
            <a:cxnSpLocks noChangeShapeType="1"/>
            <a:stCxn id="21511" idx="5"/>
            <a:endCxn id="21515" idx="1"/>
          </p:cNvCxnSpPr>
          <p:nvPr/>
        </p:nvCxnSpPr>
        <p:spPr bwMode="auto">
          <a:xfrm>
            <a:off x="1798042" y="6565836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2" name="AutoShape 27"/>
          <p:cNvCxnSpPr>
            <a:cxnSpLocks noChangeShapeType="1"/>
            <a:stCxn id="21513" idx="3"/>
            <a:endCxn id="21515" idx="7"/>
          </p:cNvCxnSpPr>
          <p:nvPr/>
        </p:nvCxnSpPr>
        <p:spPr bwMode="auto">
          <a:xfrm flipH="1">
            <a:off x="2598142" y="6169358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3" name="AutoShape 28"/>
          <p:cNvCxnSpPr>
            <a:cxnSpLocks noChangeShapeType="1"/>
            <a:stCxn id="21512" idx="6"/>
            <a:endCxn id="21513" idx="2"/>
          </p:cNvCxnSpPr>
          <p:nvPr/>
        </p:nvCxnSpPr>
        <p:spPr bwMode="auto">
          <a:xfrm>
            <a:off x="2852936" y="5799073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4" name="AutoShape 29"/>
          <p:cNvCxnSpPr>
            <a:cxnSpLocks noChangeShapeType="1"/>
            <a:stCxn id="21511" idx="7"/>
            <a:endCxn id="21512" idx="2"/>
          </p:cNvCxnSpPr>
          <p:nvPr/>
        </p:nvCxnSpPr>
        <p:spPr bwMode="auto">
          <a:xfrm flipV="1">
            <a:off x="1798042" y="5799074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8FA856-E5DE-47F2-9791-A19B507BB837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E110D4-68A1-4EFC-A091-B56339114D68}" type="slidenum">
              <a:rPr lang="en-US" altLang="zh-CN" sz="1050"/>
            </a:fld>
            <a:endParaRPr lang="en-US" altLang="zh-CN" sz="105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Directed vs Undirected Graphs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If the order of edge pairs (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) matters, the graph is directed (also called a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digraph</a:t>
            </a:r>
            <a:r>
              <a:rPr lang="en-US" altLang="zh-CN" dirty="0">
                <a:ea typeface="SimSun" panose="02010600030101010101" pitchFamily="2" charset="-122"/>
              </a:rPr>
              <a:t>):</a:t>
            </a:r>
            <a:r>
              <a:rPr lang="en-US" altLang="zh-CN" dirty="0">
                <a:ea typeface="SimSun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dirty="0">
                <a:ea typeface="SimSun" panose="02010600030101010101" pitchFamily="2" charset="-122"/>
              </a:rPr>
              <a:t> (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If </a:t>
            </a:r>
            <a:r>
              <a:rPr lang="en-US" altLang="zh-CN" dirty="0">
                <a:ea typeface="SimSun" panose="02010600030101010101" pitchFamily="2" charset="-122"/>
              </a:rPr>
              <a:t>the order of edge pairs (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) does not matter, the graph is called an undirected graph:</a:t>
            </a:r>
            <a:r>
              <a:rPr lang="en-US" altLang="zh-CN" dirty="0">
                <a:ea typeface="SimSun" panose="02010600030101010101" pitchFamily="2" charset="-122"/>
                <a:sym typeface="Wingdings" panose="05000000000000000000" pitchFamily="2" charset="2"/>
              </a:rPr>
              <a:t> in this case, </a:t>
            </a:r>
            <a:r>
              <a:rPr lang="en-US" altLang="zh-CN" dirty="0">
                <a:ea typeface="SimSun" panose="02010600030101010101" pitchFamily="2" charset="-122"/>
              </a:rPr>
              <a:t>(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) = (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i="1" dirty="0">
                <a:ea typeface="SimSun" panose="02010600030101010101" pitchFamily="2" charset="-122"/>
              </a:rPr>
              <a:t>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) </a:t>
            </a:r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8" name="Oval 4"/>
          <p:cNvSpPr>
            <a:spLocks noChangeArrowheads="1"/>
          </p:cNvSpPr>
          <p:nvPr/>
        </p:nvSpPr>
        <p:spPr bwMode="auto">
          <a:xfrm>
            <a:off x="2000937" y="4044007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19" name="Oval 5"/>
          <p:cNvSpPr>
            <a:spLocks noChangeArrowheads="1"/>
          </p:cNvSpPr>
          <p:nvPr/>
        </p:nvSpPr>
        <p:spPr bwMode="auto">
          <a:xfrm>
            <a:off x="3926574" y="3986857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2086662" y="4045595"/>
            <a:ext cx="482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  <a:ea typeface="SimSun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lang="en-US" altLang="zh-CN" sz="2400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4012299" y="3980507"/>
            <a:ext cx="481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  <a:ea typeface="SimSun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2" name="Freeform 8"/>
          <p:cNvSpPr/>
          <p:nvPr/>
        </p:nvSpPr>
        <p:spPr bwMode="auto">
          <a:xfrm>
            <a:off x="2402574" y="3753495"/>
            <a:ext cx="1643063" cy="298450"/>
          </a:xfrm>
          <a:custGeom>
            <a:avLst/>
            <a:gdLst>
              <a:gd name="T0" fmla="*/ 1643063 w 1035"/>
              <a:gd name="T1" fmla="*/ 298450 h 188"/>
              <a:gd name="T2" fmla="*/ 841375 w 1035"/>
              <a:gd name="T3" fmla="*/ 1588 h 188"/>
              <a:gd name="T4" fmla="*/ 0 w 1035"/>
              <a:gd name="T5" fmla="*/ 288925 h 1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5" h="188">
                <a:moveTo>
                  <a:pt x="1035" y="188"/>
                </a:moveTo>
                <a:cubicBezTo>
                  <a:pt x="868" y="95"/>
                  <a:pt x="702" y="2"/>
                  <a:pt x="530" y="1"/>
                </a:cubicBezTo>
                <a:cubicBezTo>
                  <a:pt x="358" y="0"/>
                  <a:pt x="179" y="91"/>
                  <a:pt x="0" y="18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9"/>
          <p:cNvSpPr/>
          <p:nvPr/>
        </p:nvSpPr>
        <p:spPr bwMode="auto">
          <a:xfrm flipH="1" flipV="1">
            <a:off x="2421624" y="4523432"/>
            <a:ext cx="1643063" cy="298450"/>
          </a:xfrm>
          <a:custGeom>
            <a:avLst/>
            <a:gdLst>
              <a:gd name="T0" fmla="*/ 1643063 w 1035"/>
              <a:gd name="T1" fmla="*/ 298450 h 188"/>
              <a:gd name="T2" fmla="*/ 841375 w 1035"/>
              <a:gd name="T3" fmla="*/ 1588 h 188"/>
              <a:gd name="T4" fmla="*/ 0 w 1035"/>
              <a:gd name="T5" fmla="*/ 288925 h 1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35" h="188">
                <a:moveTo>
                  <a:pt x="1035" y="188"/>
                </a:moveTo>
                <a:cubicBezTo>
                  <a:pt x="868" y="95"/>
                  <a:pt x="702" y="2"/>
                  <a:pt x="530" y="1"/>
                </a:cubicBezTo>
                <a:cubicBezTo>
                  <a:pt x="358" y="0"/>
                  <a:pt x="179" y="91"/>
                  <a:pt x="0" y="18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Oval 10"/>
          <p:cNvSpPr>
            <a:spLocks noChangeArrowheads="1"/>
          </p:cNvSpPr>
          <p:nvPr/>
        </p:nvSpPr>
        <p:spPr bwMode="auto">
          <a:xfrm>
            <a:off x="2080312" y="6774904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5" name="Oval 11"/>
          <p:cNvSpPr>
            <a:spLocks noChangeArrowheads="1"/>
          </p:cNvSpPr>
          <p:nvPr/>
        </p:nvSpPr>
        <p:spPr bwMode="auto">
          <a:xfrm>
            <a:off x="4056749" y="6739979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SimSun" panose="02010600030101010101" pitchFamily="2" charset="-122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2166037" y="6776492"/>
            <a:ext cx="482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  <a:ea typeface="SimSun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lang="en-US" altLang="zh-CN" sz="2400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4101199" y="6741567"/>
            <a:ext cx="481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  <a:ea typeface="SimSun" panose="02010600030101010101" pitchFamily="2" charset="-122"/>
              </a:rPr>
              <a:t>v</a:t>
            </a:r>
            <a:r>
              <a:rPr lang="en-US" altLang="zh-CN" sz="2400" baseline="-2500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2400" baseline="-250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>
            <a:off x="2627999" y="7041604"/>
            <a:ext cx="14382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967B75-B501-450A-8E99-5A3D753DB10E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9AF5AE-EAC1-4219-9B43-ABBA725F6955}" type="slidenum">
              <a:rPr lang="en-US" altLang="zh-CN" sz="1050"/>
            </a:fld>
            <a:endParaRPr lang="en-US" altLang="zh-CN" sz="1050"/>
          </a:p>
        </p:txBody>
      </p:sp>
      <p:sp>
        <p:nvSpPr>
          <p:cNvPr id="235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Undirected Terminology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355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Two vertices u and v are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adjacent</a:t>
            </a:r>
            <a:r>
              <a:rPr lang="en-US" altLang="zh-CN" dirty="0">
                <a:ea typeface="SimSun" panose="02010600030101010101" pitchFamily="2" charset="-122"/>
              </a:rPr>
              <a:t> in an undirected graph G if {</a:t>
            </a:r>
            <a:r>
              <a:rPr lang="en-US" altLang="zh-CN" dirty="0" err="1">
                <a:ea typeface="SimSun" panose="02010600030101010101" pitchFamily="2" charset="-122"/>
              </a:rPr>
              <a:t>u,v</a:t>
            </a:r>
            <a:r>
              <a:rPr lang="en-US" altLang="zh-CN" dirty="0">
                <a:ea typeface="SimSun" panose="02010600030101010101" pitchFamily="2" charset="-122"/>
              </a:rPr>
              <a:t>} is an edge in G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edge e = {</a:t>
            </a:r>
            <a:r>
              <a:rPr lang="en-US" altLang="zh-CN" dirty="0" err="1">
                <a:ea typeface="SimSun" panose="02010600030101010101" pitchFamily="2" charset="-122"/>
              </a:rPr>
              <a:t>u,v</a:t>
            </a:r>
            <a:r>
              <a:rPr lang="en-US" altLang="zh-CN" dirty="0">
                <a:ea typeface="SimSun" panose="02010600030101010101" pitchFamily="2" charset="-122"/>
              </a:rPr>
              <a:t>} is incident with vertex u and vertex </a:t>
            </a:r>
            <a:r>
              <a:rPr lang="en-US" altLang="zh-CN" dirty="0" smtClean="0">
                <a:ea typeface="SimSun" panose="02010600030101010101" pitchFamily="2" charset="-122"/>
              </a:rPr>
              <a:t>v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The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degree of a vertex </a:t>
            </a:r>
            <a:r>
              <a:rPr lang="en-US" altLang="zh-CN" dirty="0">
                <a:ea typeface="SimSun" panose="02010600030101010101" pitchFamily="2" charset="-122"/>
              </a:rPr>
              <a:t>in an undirected graph is the number of edges incident with it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a self-loop counts twice (both ends count)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denoted with </a:t>
            </a:r>
            <a:r>
              <a:rPr lang="en-US" altLang="zh-CN" dirty="0" err="1">
                <a:solidFill>
                  <a:srgbClr val="263AF8"/>
                </a:solidFill>
                <a:ea typeface="SimSun" panose="02010600030101010101" pitchFamily="2" charset="-122"/>
              </a:rPr>
              <a:t>deg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(v)</a:t>
            </a:r>
            <a:endParaRPr lang="en-US" altLang="zh-CN" dirty="0">
              <a:solidFill>
                <a:srgbClr val="263AF8"/>
              </a:solidFill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CACBB5-A62A-4E8C-B0BC-B072C0EC368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457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2A41CE-FB42-4BDB-B094-2D41B67578E3}" type="slidenum">
              <a:rPr lang="en-US" altLang="zh-CN" sz="1050"/>
            </a:fld>
            <a:endParaRPr lang="en-US" altLang="zh-CN" sz="105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Undirected Terminology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4" name="Oval 3"/>
          <p:cNvSpPr>
            <a:spLocks noChangeArrowheads="1"/>
          </p:cNvSpPr>
          <p:nvPr/>
        </p:nvSpPr>
        <p:spPr bwMode="auto">
          <a:xfrm>
            <a:off x="756047" y="4711317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A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5" name="Oval 4"/>
          <p:cNvSpPr>
            <a:spLocks noChangeArrowheads="1"/>
          </p:cNvSpPr>
          <p:nvPr/>
        </p:nvSpPr>
        <p:spPr bwMode="auto">
          <a:xfrm>
            <a:off x="2084784" y="3877879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B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6" name="Oval 5"/>
          <p:cNvSpPr>
            <a:spLocks noChangeArrowheads="1"/>
          </p:cNvSpPr>
          <p:nvPr/>
        </p:nvSpPr>
        <p:spPr bwMode="auto">
          <a:xfrm>
            <a:off x="4370784" y="4182679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C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7" name="Oval 6"/>
          <p:cNvSpPr>
            <a:spLocks noChangeArrowheads="1"/>
          </p:cNvSpPr>
          <p:nvPr/>
        </p:nvSpPr>
        <p:spPr bwMode="auto">
          <a:xfrm>
            <a:off x="3956447" y="5549517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E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8" name="Oval 7"/>
          <p:cNvSpPr>
            <a:spLocks noChangeArrowheads="1"/>
          </p:cNvSpPr>
          <p:nvPr/>
        </p:nvSpPr>
        <p:spPr bwMode="auto">
          <a:xfrm>
            <a:off x="1822847" y="5473317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D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" name="Oval 8"/>
          <p:cNvSpPr>
            <a:spLocks noChangeArrowheads="1"/>
          </p:cNvSpPr>
          <p:nvPr/>
        </p:nvSpPr>
        <p:spPr bwMode="auto">
          <a:xfrm>
            <a:off x="5742384" y="5020879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F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cxnSp>
        <p:nvCxnSpPr>
          <p:cNvPr id="30" name="AutoShape 9"/>
          <p:cNvCxnSpPr>
            <a:cxnSpLocks noChangeShapeType="1"/>
            <a:stCxn id="26" idx="4"/>
            <a:endCxn id="27" idx="0"/>
          </p:cNvCxnSpPr>
          <p:nvPr/>
        </p:nvCxnSpPr>
        <p:spPr bwMode="auto">
          <a:xfrm flipH="1">
            <a:off x="4223147" y="4716079"/>
            <a:ext cx="414337" cy="833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10"/>
          <p:cNvCxnSpPr>
            <a:cxnSpLocks noChangeShapeType="1"/>
            <a:stCxn id="28" idx="6"/>
            <a:endCxn id="27" idx="2"/>
          </p:cNvCxnSpPr>
          <p:nvPr/>
        </p:nvCxnSpPr>
        <p:spPr bwMode="auto">
          <a:xfrm>
            <a:off x="2356247" y="5740017"/>
            <a:ext cx="1600200" cy="76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AutoShape 11"/>
          <p:cNvCxnSpPr>
            <a:cxnSpLocks noChangeShapeType="1"/>
            <a:stCxn id="24" idx="5"/>
            <a:endCxn id="28" idx="1"/>
          </p:cNvCxnSpPr>
          <p:nvPr/>
        </p:nvCxnSpPr>
        <p:spPr bwMode="auto">
          <a:xfrm>
            <a:off x="1211659" y="5166929"/>
            <a:ext cx="688975" cy="384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12"/>
          <p:cNvCxnSpPr>
            <a:cxnSpLocks noChangeShapeType="1"/>
            <a:stCxn id="26" idx="3"/>
            <a:endCxn id="28" idx="7"/>
          </p:cNvCxnSpPr>
          <p:nvPr/>
        </p:nvCxnSpPr>
        <p:spPr bwMode="auto">
          <a:xfrm flipH="1">
            <a:off x="2278459" y="4638292"/>
            <a:ext cx="2170113" cy="9128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" name="AutoShape 13"/>
          <p:cNvCxnSpPr>
            <a:cxnSpLocks noChangeShapeType="1"/>
            <a:stCxn id="25" idx="6"/>
            <a:endCxn id="26" idx="2"/>
          </p:cNvCxnSpPr>
          <p:nvPr/>
        </p:nvCxnSpPr>
        <p:spPr bwMode="auto">
          <a:xfrm>
            <a:off x="2618184" y="4144579"/>
            <a:ext cx="1752600" cy="3048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AutoShape 14"/>
          <p:cNvCxnSpPr>
            <a:cxnSpLocks noChangeShapeType="1"/>
            <a:stCxn id="24" idx="7"/>
            <a:endCxn id="25" idx="2"/>
          </p:cNvCxnSpPr>
          <p:nvPr/>
        </p:nvCxnSpPr>
        <p:spPr bwMode="auto">
          <a:xfrm flipV="1">
            <a:off x="1211659" y="4144579"/>
            <a:ext cx="873125" cy="644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1383109" y="6022592"/>
            <a:ext cx="14863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Degree = 3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7" name="Text Box 16"/>
          <p:cNvSpPr txBox="1">
            <a:spLocks noChangeArrowheads="1"/>
          </p:cNvSpPr>
          <p:nvPr/>
        </p:nvSpPr>
        <p:spPr bwMode="auto">
          <a:xfrm>
            <a:off x="5285184" y="5630479"/>
            <a:ext cx="1505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Degree = 0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8" name="Text Box 17"/>
          <p:cNvSpPr txBox="1">
            <a:spLocks noChangeArrowheads="1"/>
          </p:cNvSpPr>
          <p:nvPr/>
        </p:nvSpPr>
        <p:spPr bwMode="auto">
          <a:xfrm>
            <a:off x="2633105" y="3020417"/>
            <a:ext cx="28044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B is adjacent to C and C is adjacent to B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9" name="Text Box 18"/>
          <p:cNvSpPr txBox="1">
            <a:spLocks noChangeArrowheads="1"/>
          </p:cNvSpPr>
          <p:nvPr/>
        </p:nvSpPr>
        <p:spPr bwMode="auto">
          <a:xfrm>
            <a:off x="103584" y="3649279"/>
            <a:ext cx="213712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(A,B) is incident</a:t>
            </a:r>
            <a:b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</a:br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to A and to B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40" name="Text Box 21"/>
          <p:cNvSpPr txBox="1">
            <a:spLocks noChangeArrowheads="1"/>
          </p:cNvSpPr>
          <p:nvPr/>
        </p:nvSpPr>
        <p:spPr bwMode="auto">
          <a:xfrm>
            <a:off x="5589984" y="4182679"/>
            <a:ext cx="1295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Self-loop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41" name="Freeform 22"/>
          <p:cNvSpPr/>
          <p:nvPr/>
        </p:nvSpPr>
        <p:spPr bwMode="auto">
          <a:xfrm>
            <a:off x="4827984" y="4106479"/>
            <a:ext cx="609600" cy="457200"/>
          </a:xfrm>
          <a:custGeom>
            <a:avLst/>
            <a:gdLst>
              <a:gd name="T0" fmla="*/ 0 w 384"/>
              <a:gd name="T1" fmla="*/ 152400 h 288"/>
              <a:gd name="T2" fmla="*/ 152400 w 384"/>
              <a:gd name="T3" fmla="*/ 0 h 288"/>
              <a:gd name="T4" fmla="*/ 457200 w 384"/>
              <a:gd name="T5" fmla="*/ 0 h 288"/>
              <a:gd name="T6" fmla="*/ 609600 w 384"/>
              <a:gd name="T7" fmla="*/ 152400 h 288"/>
              <a:gd name="T8" fmla="*/ 609600 w 384"/>
              <a:gd name="T9" fmla="*/ 381000 h 288"/>
              <a:gd name="T10" fmla="*/ 457200 w 384"/>
              <a:gd name="T11" fmla="*/ 457200 h 288"/>
              <a:gd name="T12" fmla="*/ 228600 w 384"/>
              <a:gd name="T13" fmla="*/ 457200 h 288"/>
              <a:gd name="T14" fmla="*/ 76200 w 384"/>
              <a:gd name="T15" fmla="*/ 381000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288">
                <a:moveTo>
                  <a:pt x="0" y="96"/>
                </a:moveTo>
                <a:lnTo>
                  <a:pt x="96" y="0"/>
                </a:lnTo>
                <a:lnTo>
                  <a:pt x="288" y="0"/>
                </a:lnTo>
                <a:lnTo>
                  <a:pt x="384" y="96"/>
                </a:lnTo>
                <a:lnTo>
                  <a:pt x="384" y="240"/>
                </a:lnTo>
                <a:lnTo>
                  <a:pt x="288" y="288"/>
                </a:lnTo>
                <a:lnTo>
                  <a:pt x="144" y="288"/>
                </a:lnTo>
                <a:lnTo>
                  <a:pt x="48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5301694" y="3779772"/>
            <a:ext cx="150241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SimSun" pitchFamily="2" charset="-122"/>
              </a:rPr>
              <a:t>Degree = 5</a:t>
            </a:r>
            <a:endParaRPr lang="en-US" altLang="zh-CN">
              <a:latin typeface="Sitka Text" panose="02000505000000020004" pitchFamily="2" charset="0"/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8A1744-5FA8-4825-BAA8-057AB9661B9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422185-729A-4ACD-8C9F-58905B0ABE1A}" type="slidenum">
              <a:rPr lang="en-US" altLang="zh-CN" sz="1050"/>
            </a:fld>
            <a:endParaRPr lang="en-US" altLang="zh-CN" sz="1050"/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Directed Terminology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14350" y="2699792"/>
            <a:ext cx="5829300" cy="410105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Vertex u is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adjacent to </a:t>
            </a:r>
            <a:r>
              <a:rPr lang="en-US" altLang="zh-CN" dirty="0">
                <a:ea typeface="SimSun" panose="02010600030101010101" pitchFamily="2" charset="-122"/>
              </a:rPr>
              <a:t>vertex v in a directed graph G if (</a:t>
            </a:r>
            <a:r>
              <a:rPr lang="en-US" altLang="zh-CN" dirty="0" err="1">
                <a:ea typeface="SimSun" panose="02010600030101010101" pitchFamily="2" charset="-122"/>
              </a:rPr>
              <a:t>u,v</a:t>
            </a:r>
            <a:r>
              <a:rPr lang="en-US" altLang="zh-CN" dirty="0">
                <a:ea typeface="SimSun" panose="02010600030101010101" pitchFamily="2" charset="-122"/>
              </a:rPr>
              <a:t>) is an edge in G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vertex u is the initial vertex of (</a:t>
            </a:r>
            <a:r>
              <a:rPr lang="en-US" altLang="zh-CN" dirty="0" err="1">
                <a:ea typeface="SimSun" panose="02010600030101010101" pitchFamily="2" charset="-122"/>
              </a:rPr>
              <a:t>u,v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Vertex v is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adjacent from </a:t>
            </a:r>
            <a:r>
              <a:rPr lang="en-US" altLang="zh-CN" dirty="0">
                <a:ea typeface="SimSun" panose="02010600030101010101" pitchFamily="2" charset="-122"/>
              </a:rPr>
              <a:t>vertex u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vertex v is the terminal (or end) vertex of (</a:t>
            </a:r>
            <a:r>
              <a:rPr lang="en-US" altLang="zh-CN" dirty="0" err="1">
                <a:ea typeface="SimSun" panose="02010600030101010101" pitchFamily="2" charset="-122"/>
              </a:rPr>
              <a:t>u,v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  <a:endParaRPr lang="en-US" altLang="zh-CN" dirty="0">
              <a:ea typeface="SimSun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anose="02010600030101010101" pitchFamily="2" charset="-122"/>
              </a:rPr>
              <a:t>Degree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in-degree</a:t>
            </a:r>
            <a:r>
              <a:rPr lang="en-US" altLang="zh-CN" dirty="0">
                <a:ea typeface="SimSun" panose="02010600030101010101" pitchFamily="2" charset="-122"/>
              </a:rPr>
              <a:t> is the number of edges with the vertex as the terminal vertex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out-degree</a:t>
            </a:r>
            <a:r>
              <a:rPr lang="en-US" altLang="zh-CN" dirty="0">
                <a:ea typeface="SimSun" panose="02010600030101010101" pitchFamily="2" charset="-122"/>
              </a:rPr>
              <a:t> is the number of edges with the vertex as the initial vertex</a:t>
            </a:r>
            <a:endParaRPr lang="en-US" altLang="zh-CN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5DF7F-BA90-4D28-9373-D96986A0758C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662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A2928B-5148-4E5F-BD43-6710954A20CE}" type="slidenum">
              <a:rPr lang="en-US" altLang="zh-CN" sz="1050"/>
            </a:fld>
            <a:endParaRPr lang="en-US" altLang="zh-CN" sz="105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Directed Terminology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2" name="Oval 3"/>
          <p:cNvSpPr>
            <a:spLocks noChangeArrowheads="1"/>
          </p:cNvSpPr>
          <p:nvPr/>
        </p:nvSpPr>
        <p:spPr bwMode="auto">
          <a:xfrm>
            <a:off x="592065" y="4553361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A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3" name="Oval 4"/>
          <p:cNvSpPr>
            <a:spLocks noChangeArrowheads="1"/>
          </p:cNvSpPr>
          <p:nvPr/>
        </p:nvSpPr>
        <p:spPr bwMode="auto">
          <a:xfrm>
            <a:off x="1920802" y="3719923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B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4" name="Oval 5"/>
          <p:cNvSpPr>
            <a:spLocks noChangeArrowheads="1"/>
          </p:cNvSpPr>
          <p:nvPr/>
        </p:nvSpPr>
        <p:spPr bwMode="auto">
          <a:xfrm>
            <a:off x="4206802" y="4024723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C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5" name="Oval 6"/>
          <p:cNvSpPr>
            <a:spLocks noChangeArrowheads="1"/>
          </p:cNvSpPr>
          <p:nvPr/>
        </p:nvSpPr>
        <p:spPr bwMode="auto">
          <a:xfrm>
            <a:off x="3792465" y="5391561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E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6" name="Oval 7"/>
          <p:cNvSpPr>
            <a:spLocks noChangeArrowheads="1"/>
          </p:cNvSpPr>
          <p:nvPr/>
        </p:nvSpPr>
        <p:spPr bwMode="auto">
          <a:xfrm>
            <a:off x="1658865" y="5315361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D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7" name="Oval 8"/>
          <p:cNvSpPr>
            <a:spLocks noChangeArrowheads="1"/>
          </p:cNvSpPr>
          <p:nvPr/>
        </p:nvSpPr>
        <p:spPr bwMode="auto">
          <a:xfrm>
            <a:off x="5578402" y="4862923"/>
            <a:ext cx="533400" cy="533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>
                <a:latin typeface="Sitka Text" panose="02000505000000020004" pitchFamily="2" charset="0"/>
                <a:ea typeface="SimSun" panose="02010600030101010101" pitchFamily="2" charset="-122"/>
              </a:rPr>
              <a:t>F</a:t>
            </a:r>
            <a:endParaRPr lang="en-US" altLang="zh-CN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cxnSp>
        <p:nvCxnSpPr>
          <p:cNvPr id="28" name="AutoShape 9"/>
          <p:cNvCxnSpPr>
            <a:cxnSpLocks noChangeShapeType="1"/>
            <a:stCxn id="24" idx="4"/>
            <a:endCxn id="25" idx="0"/>
          </p:cNvCxnSpPr>
          <p:nvPr/>
        </p:nvCxnSpPr>
        <p:spPr bwMode="auto">
          <a:xfrm flipH="1">
            <a:off x="4059165" y="4558123"/>
            <a:ext cx="414337" cy="833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10"/>
          <p:cNvCxnSpPr>
            <a:cxnSpLocks noChangeShapeType="1"/>
            <a:stCxn id="26" idx="6"/>
            <a:endCxn id="25" idx="2"/>
          </p:cNvCxnSpPr>
          <p:nvPr/>
        </p:nvCxnSpPr>
        <p:spPr bwMode="auto">
          <a:xfrm>
            <a:off x="2192265" y="5582061"/>
            <a:ext cx="1600200" cy="762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11"/>
          <p:cNvCxnSpPr>
            <a:cxnSpLocks noChangeShapeType="1"/>
            <a:stCxn id="22" idx="5"/>
            <a:endCxn id="26" idx="1"/>
          </p:cNvCxnSpPr>
          <p:nvPr/>
        </p:nvCxnSpPr>
        <p:spPr bwMode="auto">
          <a:xfrm>
            <a:off x="1047677" y="5008973"/>
            <a:ext cx="688975" cy="384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12"/>
          <p:cNvCxnSpPr>
            <a:cxnSpLocks noChangeShapeType="1"/>
            <a:stCxn id="24" idx="3"/>
            <a:endCxn id="26" idx="7"/>
          </p:cNvCxnSpPr>
          <p:nvPr/>
        </p:nvCxnSpPr>
        <p:spPr bwMode="auto">
          <a:xfrm flipH="1">
            <a:off x="2114477" y="4480336"/>
            <a:ext cx="2170113" cy="9128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AutoShape 13"/>
          <p:cNvCxnSpPr>
            <a:cxnSpLocks noChangeShapeType="1"/>
            <a:stCxn id="23" idx="6"/>
            <a:endCxn id="24" idx="2"/>
          </p:cNvCxnSpPr>
          <p:nvPr/>
        </p:nvCxnSpPr>
        <p:spPr bwMode="auto">
          <a:xfrm>
            <a:off x="2454202" y="3986623"/>
            <a:ext cx="1752600" cy="3048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14"/>
          <p:cNvCxnSpPr>
            <a:cxnSpLocks noChangeShapeType="1"/>
            <a:stCxn id="22" idx="7"/>
            <a:endCxn id="23" idx="2"/>
          </p:cNvCxnSpPr>
          <p:nvPr/>
        </p:nvCxnSpPr>
        <p:spPr bwMode="auto">
          <a:xfrm flipV="1">
            <a:off x="1047677" y="3986623"/>
            <a:ext cx="873125" cy="644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 Box 15"/>
          <p:cNvSpPr txBox="1">
            <a:spLocks noChangeArrowheads="1"/>
          </p:cNvSpPr>
          <p:nvPr/>
        </p:nvSpPr>
        <p:spPr bwMode="auto">
          <a:xfrm>
            <a:off x="1219127" y="5940836"/>
            <a:ext cx="19559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In-degree = 2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Out-degree = 1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4855529" y="5494818"/>
            <a:ext cx="20024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In-degree = 0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  <a:p>
            <a:r>
              <a:rPr lang="en-US" altLang="zh-CN">
                <a:latin typeface="Sitka Text" panose="02000505000000020004" pitchFamily="2" charset="0"/>
                <a:ea typeface="SimSun" panose="02010600030101010101" pitchFamily="2" charset="-122"/>
              </a:rPr>
              <a:t>Out-degree = 0</a:t>
            </a:r>
            <a:endParaRPr lang="en-US" altLang="zh-CN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6" name="Text Box 17"/>
          <p:cNvSpPr txBox="1">
            <a:spLocks noChangeArrowheads="1"/>
          </p:cNvSpPr>
          <p:nvPr/>
        </p:nvSpPr>
        <p:spPr bwMode="auto">
          <a:xfrm>
            <a:off x="2595913" y="3036406"/>
            <a:ext cx="26776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B adjacent </a:t>
            </a:r>
            <a:r>
              <a:rPr lang="en-US" altLang="zh-CN" dirty="0">
                <a:solidFill>
                  <a:srgbClr val="FF33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to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 C and C adjacent </a:t>
            </a:r>
            <a:r>
              <a:rPr lang="en-US" altLang="zh-CN" dirty="0">
                <a:solidFill>
                  <a:srgbClr val="FF33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from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 B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7" name="Freeform 21"/>
          <p:cNvSpPr/>
          <p:nvPr/>
        </p:nvSpPr>
        <p:spPr bwMode="auto">
          <a:xfrm>
            <a:off x="4664002" y="3948523"/>
            <a:ext cx="609600" cy="457200"/>
          </a:xfrm>
          <a:custGeom>
            <a:avLst/>
            <a:gdLst>
              <a:gd name="T0" fmla="*/ 0 w 384"/>
              <a:gd name="T1" fmla="*/ 152400 h 288"/>
              <a:gd name="T2" fmla="*/ 152400 w 384"/>
              <a:gd name="T3" fmla="*/ 0 h 288"/>
              <a:gd name="T4" fmla="*/ 457200 w 384"/>
              <a:gd name="T5" fmla="*/ 0 h 288"/>
              <a:gd name="T6" fmla="*/ 609600 w 384"/>
              <a:gd name="T7" fmla="*/ 152400 h 288"/>
              <a:gd name="T8" fmla="*/ 609600 w 384"/>
              <a:gd name="T9" fmla="*/ 381000 h 288"/>
              <a:gd name="T10" fmla="*/ 457200 w 384"/>
              <a:gd name="T11" fmla="*/ 457200 h 288"/>
              <a:gd name="T12" fmla="*/ 228600 w 384"/>
              <a:gd name="T13" fmla="*/ 457200 h 288"/>
              <a:gd name="T14" fmla="*/ 76200 w 384"/>
              <a:gd name="T15" fmla="*/ 381000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84" h="288">
                <a:moveTo>
                  <a:pt x="0" y="96"/>
                </a:moveTo>
                <a:lnTo>
                  <a:pt x="96" y="0"/>
                </a:lnTo>
                <a:lnTo>
                  <a:pt x="288" y="0"/>
                </a:lnTo>
                <a:lnTo>
                  <a:pt x="384" y="96"/>
                </a:lnTo>
                <a:lnTo>
                  <a:pt x="384" y="240"/>
                </a:lnTo>
                <a:lnTo>
                  <a:pt x="288" y="288"/>
                </a:lnTo>
                <a:lnTo>
                  <a:pt x="144" y="288"/>
                </a:lnTo>
                <a:lnTo>
                  <a:pt x="48" y="24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843048-4B71-4A80-ADD0-1A8643DA0C8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F65EF2-5C9D-4904-99F1-568A7FADCC39}" type="slidenum">
              <a:rPr lang="en-US" altLang="zh-CN" sz="1050"/>
            </a:fld>
            <a:endParaRPr lang="en-US" altLang="zh-CN" sz="1050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Handshaking Theorem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54" name="Rectangle 6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 smtClean="0">
                    <a:ea typeface="SimSun" panose="02010600030101010101" pitchFamily="2" charset="-122"/>
                  </a:rPr>
                  <a:t>Let G=(V,E) be an undirected graph with |E|=e edges.  Then</a:t>
                </a:r>
                <a:endParaRPr lang="en-US" altLang="zh-CN" i="1" dirty="0" smtClean="0">
                  <a:latin typeface="Cambria Math" panose="02040503050406030204" pitchFamily="18" charset="0"/>
                  <a:ea typeface="SimSun" panose="02010600030101010101" pitchFamily="2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v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deg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v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e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solidFill>
                    <a:schemeClr val="accent2"/>
                  </a:solidFill>
                  <a:ea typeface="SimSun" panose="02010600030101010101" pitchFamily="2" charset="-122"/>
                </a:endParaRPr>
              </a:p>
              <a:p>
                <a:pPr lvl="1"/>
                <a:r>
                  <a:rPr lang="en-US" altLang="zh-CN" dirty="0"/>
                  <a:t>Add up the degrees of all vertices</a:t>
                </a:r>
                <a:endParaRPr lang="en-US" altLang="zh-CN" dirty="0">
                  <a:ea typeface="SimSun" panose="02010600030101010101" pitchFamily="2" charset="-122"/>
                </a:endParaRPr>
              </a:p>
              <a:p>
                <a:endParaRPr lang="en-US" altLang="zh-CN" dirty="0" smtClean="0">
                  <a:solidFill>
                    <a:schemeClr val="accent2"/>
                  </a:solidFill>
                  <a:ea typeface="SimSun" panose="02010600030101010101" pitchFamily="2" charset="-122"/>
                </a:endParaRPr>
              </a:p>
              <a:p>
                <a:r>
                  <a:rPr lang="en-US" altLang="zh-CN" dirty="0" smtClean="0">
                    <a:ea typeface="SimSun" panose="02010600030101010101" pitchFamily="2" charset="-122"/>
                  </a:rPr>
                  <a:t>Every </a:t>
                </a:r>
                <a:r>
                  <a:rPr lang="en-US" altLang="zh-CN" dirty="0">
                    <a:ea typeface="SimSun" panose="02010600030101010101" pitchFamily="2" charset="-122"/>
                  </a:rPr>
                  <a:t>edge contributes +1 to the degree of each of the two vertices it is incident with </a:t>
                </a:r>
                <a:endParaRPr lang="en-US" altLang="zh-CN" dirty="0">
                  <a:ea typeface="SimSun" panose="02010600030101010101" pitchFamily="2" charset="-122"/>
                </a:endParaRPr>
              </a:p>
              <a:p>
                <a:pPr lvl="1"/>
                <a:r>
                  <a:rPr lang="en-US" altLang="zh-CN" dirty="0">
                    <a:ea typeface="SimSun" panose="02010600030101010101" pitchFamily="2" charset="-122"/>
                  </a:rPr>
                  <a:t>number of edges is exactly half the sum of </a:t>
                </a:r>
                <a:r>
                  <a:rPr lang="en-US" altLang="zh-CN" dirty="0" err="1">
                    <a:ea typeface="SimSun" panose="02010600030101010101" pitchFamily="2" charset="-122"/>
                  </a:rPr>
                  <a:t>deg</a:t>
                </a:r>
                <a:r>
                  <a:rPr lang="en-US" altLang="zh-CN" dirty="0">
                    <a:ea typeface="SimSun" panose="02010600030101010101" pitchFamily="2" charset="-122"/>
                  </a:rPr>
                  <a:t>(v)</a:t>
                </a:r>
                <a:endParaRPr lang="en-US" altLang="zh-CN" dirty="0">
                  <a:ea typeface="SimSun" panose="02010600030101010101" pitchFamily="2" charset="-122"/>
                </a:endParaRPr>
              </a:p>
              <a:p>
                <a:pPr lvl="1"/>
                <a:r>
                  <a:rPr lang="en-US" altLang="zh-CN" dirty="0">
                    <a:ea typeface="SimSun" panose="02010600030101010101" pitchFamily="2" charset="-122"/>
                  </a:rPr>
                  <a:t>the sum of the </a:t>
                </a:r>
                <a:r>
                  <a:rPr lang="en-US" altLang="zh-CN" dirty="0" err="1">
                    <a:ea typeface="SimSun" panose="02010600030101010101" pitchFamily="2" charset="-122"/>
                  </a:rPr>
                  <a:t>deg</a:t>
                </a:r>
                <a:r>
                  <a:rPr lang="en-US" altLang="zh-CN" dirty="0">
                    <a:ea typeface="SimSun" panose="02010600030101010101" pitchFamily="2" charset="-122"/>
                  </a:rPr>
                  <a:t>(v) values must be even</a:t>
                </a:r>
                <a:endParaRPr lang="en-US" altLang="zh-CN" dirty="0">
                  <a:ea typeface="SimSun" panose="02010600030101010101" pitchFamily="2" charset="-122"/>
                </a:endParaRPr>
              </a:p>
            </p:txBody>
          </p:sp>
        </mc:Choice>
        <mc:Fallback>
          <p:sp>
            <p:nvSpPr>
              <p:cNvPr id="27654" name="Rectangle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l="-7" t="-405" r="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Labeled Graph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Each edge in a graph may be associated with a </a:t>
            </a:r>
            <a:r>
              <a:rPr lang="en-US" altLang="zh-CN" dirty="0" smtClean="0"/>
              <a:t>weight(cost). </a:t>
            </a:r>
            <a:r>
              <a:rPr lang="en-US" altLang="zh-CN" dirty="0"/>
              <a:t>Such graph is called a weighted graph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5CEE31-1C27-4D04-9602-687964FDD92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lec 9 Graph Algorithms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</a:fld>
            <a:endParaRPr lang="zh-CN" altLang="en-US"/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1703179" y="515323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2699733" y="452815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4414233" y="475675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4103479" y="578188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2503279" y="572473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4" name="AutoShape 24"/>
          <p:cNvCxnSpPr>
            <a:cxnSpLocks noChangeShapeType="1"/>
            <a:stCxn id="9" idx="4"/>
            <a:endCxn id="10" idx="0"/>
          </p:cNvCxnSpPr>
          <p:nvPr/>
        </p:nvCxnSpPr>
        <p:spPr bwMode="auto">
          <a:xfrm flipH="1">
            <a:off x="4303504" y="5156810"/>
            <a:ext cx="310754" cy="62507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25"/>
          <p:cNvCxnSpPr>
            <a:cxnSpLocks noChangeShapeType="1"/>
            <a:stCxn id="11" idx="6"/>
            <a:endCxn id="10" idx="2"/>
          </p:cNvCxnSpPr>
          <p:nvPr/>
        </p:nvCxnSpPr>
        <p:spPr bwMode="auto">
          <a:xfrm>
            <a:off x="2903329" y="5924762"/>
            <a:ext cx="1200150" cy="571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26"/>
          <p:cNvCxnSpPr>
            <a:cxnSpLocks noChangeShapeType="1"/>
            <a:stCxn id="7" idx="5"/>
            <a:endCxn id="11" idx="1"/>
          </p:cNvCxnSpPr>
          <p:nvPr/>
        </p:nvCxnSpPr>
        <p:spPr bwMode="auto">
          <a:xfrm>
            <a:off x="2044889" y="5494947"/>
            <a:ext cx="516731" cy="2881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AutoShape 27"/>
          <p:cNvCxnSpPr>
            <a:cxnSpLocks noChangeShapeType="1"/>
            <a:stCxn id="9" idx="3"/>
            <a:endCxn id="11" idx="7"/>
          </p:cNvCxnSpPr>
          <p:nvPr/>
        </p:nvCxnSpPr>
        <p:spPr bwMode="auto">
          <a:xfrm flipH="1">
            <a:off x="2844989" y="5098469"/>
            <a:ext cx="1627584" cy="6846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28"/>
          <p:cNvCxnSpPr>
            <a:cxnSpLocks noChangeShapeType="1"/>
            <a:stCxn id="8" idx="6"/>
            <a:endCxn id="9" idx="2"/>
          </p:cNvCxnSpPr>
          <p:nvPr/>
        </p:nvCxnSpPr>
        <p:spPr bwMode="auto">
          <a:xfrm>
            <a:off x="3099783" y="4728184"/>
            <a:ext cx="13144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29"/>
          <p:cNvCxnSpPr>
            <a:cxnSpLocks noChangeShapeType="1"/>
            <a:stCxn id="7" idx="7"/>
            <a:endCxn id="8" idx="2"/>
          </p:cNvCxnSpPr>
          <p:nvPr/>
        </p:nvCxnSpPr>
        <p:spPr bwMode="auto">
          <a:xfrm flipV="1">
            <a:off x="2044889" y="4728185"/>
            <a:ext cx="654844" cy="483394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/>
          <p:cNvSpPr txBox="1"/>
          <p:nvPr/>
        </p:nvSpPr>
        <p:spPr>
          <a:xfrm>
            <a:off x="1938502" y="4491143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Sitka Text" panose="02000505000000020004" pitchFamily="2" charset="0"/>
              </a:rPr>
              <a:t>5</a:t>
            </a:r>
            <a:endParaRPr lang="zh-CN" altLang="en-US" b="1" dirty="0">
              <a:latin typeface="Sitka Text" panose="02000505000000020004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58781" y="430492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Sitka Text" panose="02000505000000020004" pitchFamily="2" charset="0"/>
              </a:rPr>
              <a:t>1</a:t>
            </a:r>
            <a:endParaRPr lang="zh-CN" altLang="en-US" b="1" dirty="0">
              <a:latin typeface="Sitka Text" panose="02000505000000020004" pitchFamily="2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06753" y="6114203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Sitka Text" panose="02000505000000020004" pitchFamily="2" charset="0"/>
              </a:rPr>
              <a:t>3</a:t>
            </a:r>
            <a:endParaRPr lang="zh-CN" altLang="en-US" b="1" dirty="0">
              <a:latin typeface="Sitka Text" panose="02000505000000020004" pitchFamily="2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31023" y="50037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Sitka Text" panose="02000505000000020004" pitchFamily="2" charset="0"/>
              </a:rPr>
              <a:t>7</a:t>
            </a:r>
            <a:endParaRPr lang="zh-CN" altLang="en-US" b="1" dirty="0">
              <a:latin typeface="Sitka Text" panose="02000505000000020004" pitchFamily="2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14258" y="5285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Sitka Text" panose="02000505000000020004" pitchFamily="2" charset="0"/>
              </a:rPr>
              <a:t>2</a:t>
            </a:r>
            <a:endParaRPr lang="zh-CN" altLang="en-US" b="1" dirty="0">
              <a:latin typeface="Sitka Text" panose="02000505000000020004" pitchFamily="2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21014" y="564815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Sitka Text" panose="02000505000000020004" pitchFamily="2" charset="0"/>
              </a:rPr>
              <a:t>6</a:t>
            </a:r>
            <a:endParaRPr lang="zh-CN" altLang="en-US" b="1" dirty="0">
              <a:latin typeface="Sitka Text" panose="02000505000000020004" pitchFamily="2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72311" y="6833299"/>
            <a:ext cx="19271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Sitka Text" panose="02000505000000020004" pitchFamily="2" charset="0"/>
              </a:rPr>
              <a:t>Labeled Graph</a:t>
            </a:r>
            <a:endParaRPr lang="zh-CN" altLang="en-US" sz="2000" dirty="0">
              <a:latin typeface="Sitka Text" panose="02000505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64A383-A4A3-483C-8BD4-913E6E5376B2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A01FD4-2703-4F8D-803B-8DE52ABBF93F}" type="slidenum">
              <a:rPr lang="en-US" altLang="zh-CN" sz="1050"/>
            </a:fld>
            <a:endParaRPr lang="en-US" altLang="zh-CN" sz="105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SimSun" panose="02010600030101010101" pitchFamily="2" charset="-122"/>
              </a:rPr>
              <a:t>Paths and Cycles</a:t>
            </a:r>
            <a:endParaRPr lang="en-US" altLang="zh-CN" smtClean="0">
              <a:ea typeface="SimSun" panose="02010600030101010101" pitchFamily="2" charset="-122"/>
            </a:endParaRP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Given a </a:t>
            </a:r>
            <a:r>
              <a:rPr lang="en-US" altLang="zh-CN" dirty="0" smtClean="0">
                <a:ea typeface="SimSun" panose="02010600030101010101" pitchFamily="2" charset="-122"/>
              </a:rPr>
              <a:t>graph </a:t>
            </a:r>
            <a:r>
              <a:rPr lang="en-US" altLang="zh-CN" dirty="0">
                <a:ea typeface="SimSun" panose="02010600030101010101" pitchFamily="2" charset="-122"/>
              </a:rPr>
              <a:t>G = (V,E), a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path</a:t>
            </a:r>
            <a:r>
              <a:rPr lang="en-US" altLang="zh-CN" dirty="0">
                <a:ea typeface="SimSun" panose="02010600030101010101" pitchFamily="2" charset="-122"/>
              </a:rPr>
              <a:t> is a sequence of vertices 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,v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, …,</a:t>
            </a:r>
            <a:r>
              <a:rPr lang="en-US" altLang="zh-CN" dirty="0" err="1">
                <a:ea typeface="SimSun" panose="02010600030101010101" pitchFamily="2" charset="-122"/>
              </a:rPr>
              <a:t>v</a:t>
            </a:r>
            <a:r>
              <a:rPr lang="en-US" altLang="zh-CN" baseline="-25000" dirty="0" err="1">
                <a:ea typeface="SimSun" panose="02010600030101010101" pitchFamily="2" charset="-122"/>
              </a:rPr>
              <a:t>k</a:t>
            </a:r>
            <a:r>
              <a:rPr lang="en-US" altLang="zh-CN" dirty="0">
                <a:ea typeface="SimSun" panose="02010600030101010101" pitchFamily="2" charset="-122"/>
              </a:rPr>
              <a:t> such that:</a:t>
            </a:r>
            <a:endParaRPr lang="en-US" altLang="zh-CN" baseline="-25000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(v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,v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</a:rPr>
              <a:t>i+1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) in E for 1 </a:t>
            </a:r>
            <a:r>
              <a:rPr lang="en-US" altLang="zh-CN" u="sng" dirty="0">
                <a:solidFill>
                  <a:srgbClr val="FF0000"/>
                </a:solidFill>
                <a:ea typeface="SimSun" panose="02010600030101010101" pitchFamily="2" charset="-122"/>
              </a:rPr>
              <a:t>&lt;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 &lt; k</a:t>
            </a:r>
            <a:endParaRPr lang="en-US" altLang="zh-CN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path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length</a:t>
            </a:r>
            <a:r>
              <a:rPr lang="en-US" altLang="zh-CN" dirty="0">
                <a:ea typeface="SimSun" panose="02010600030101010101" pitchFamily="2" charset="-122"/>
              </a:rPr>
              <a:t> = number of edges in the path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path </a:t>
            </a:r>
            <a:r>
              <a:rPr lang="en-US" altLang="zh-CN" dirty="0" smtClean="0">
                <a:solidFill>
                  <a:srgbClr val="263AF8"/>
                </a:solidFill>
                <a:ea typeface="SimSun" panose="02010600030101010101" pitchFamily="2" charset="-122"/>
              </a:rPr>
              <a:t>weight</a:t>
            </a:r>
            <a:r>
              <a:rPr lang="en-US" altLang="zh-CN" dirty="0" smtClean="0">
                <a:solidFill>
                  <a:schemeClr val="accent2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= sum of </a:t>
            </a:r>
            <a:r>
              <a:rPr lang="en-US" altLang="zh-CN" dirty="0" smtClean="0">
                <a:ea typeface="SimSun" panose="02010600030101010101" pitchFamily="2" charset="-122"/>
              </a:rPr>
              <a:t>weights </a:t>
            </a:r>
            <a:r>
              <a:rPr lang="en-US" altLang="zh-CN" dirty="0">
                <a:ea typeface="SimSun" panose="02010600030101010101" pitchFamily="2" charset="-122"/>
              </a:rPr>
              <a:t>of each edge </a:t>
            </a:r>
            <a:endParaRPr lang="en-US" altLang="zh-CN" sz="1600" dirty="0">
              <a:ea typeface="SimSun" panose="02010600030101010101" pitchFamily="2" charset="-122"/>
            </a:endParaRPr>
          </a:p>
          <a:p>
            <a:endParaRPr lang="en-US" altLang="zh-CN" dirty="0" smtClean="0"/>
          </a:p>
          <a:p>
            <a:r>
              <a:rPr lang="en-US" altLang="zh-CN" dirty="0" smtClean="0"/>
              <a:t>A </a:t>
            </a:r>
            <a:r>
              <a:rPr lang="en-US" altLang="zh-CN" dirty="0"/>
              <a:t>path is simple if all vertices on the path are distinct</a:t>
            </a:r>
            <a:endParaRPr lang="en-US" altLang="zh-CN" dirty="0"/>
          </a:p>
          <a:p>
            <a:endParaRPr lang="en-US" altLang="zh-CN" dirty="0" smtClean="0">
              <a:ea typeface="SimSun" panose="02010600030101010101" pitchFamily="2" charset="-122"/>
            </a:endParaRPr>
          </a:p>
          <a:p>
            <a:r>
              <a:rPr lang="en-US" altLang="zh-CN" dirty="0" smtClean="0">
                <a:ea typeface="SimSun" panose="02010600030101010101" pitchFamily="2" charset="-122"/>
              </a:rPr>
              <a:t>A </a:t>
            </a:r>
            <a:r>
              <a:rPr lang="en-US" altLang="zh-CN" dirty="0">
                <a:ea typeface="SimSun" panose="02010600030101010101" pitchFamily="2" charset="-122"/>
              </a:rPr>
              <a:t>path is a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cycle</a:t>
            </a:r>
            <a:r>
              <a:rPr lang="en-US" altLang="zh-CN" dirty="0">
                <a:ea typeface="SimSun" panose="02010600030101010101" pitchFamily="2" charset="-122"/>
              </a:rPr>
              <a:t> if :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k &gt; 1; v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 = </a:t>
            </a:r>
            <a:r>
              <a:rPr lang="en-US" altLang="zh-CN" dirty="0" err="1">
                <a:ea typeface="SimSun" panose="02010600030101010101" pitchFamily="2" charset="-122"/>
              </a:rPr>
              <a:t>v</a:t>
            </a:r>
            <a:r>
              <a:rPr lang="en-US" altLang="zh-CN" baseline="-25000" dirty="0" err="1">
                <a:ea typeface="SimSun" panose="02010600030101010101" pitchFamily="2" charset="-122"/>
              </a:rPr>
              <a:t>k</a:t>
            </a:r>
            <a:r>
              <a:rPr lang="en-US" altLang="zh-CN" baseline="-25000" dirty="0">
                <a:ea typeface="SimSun" panose="02010600030101010101" pitchFamily="2" charset="-122"/>
              </a:rPr>
              <a:t> </a:t>
            </a:r>
            <a:endParaRPr lang="en-US" altLang="zh-CN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G is </a:t>
            </a:r>
            <a:r>
              <a:rPr lang="en-US" altLang="zh-CN" dirty="0">
                <a:solidFill>
                  <a:srgbClr val="263AF8"/>
                </a:solidFill>
                <a:ea typeface="SimSun" panose="02010600030101010101" pitchFamily="2" charset="-122"/>
              </a:rPr>
              <a:t>acyclic</a:t>
            </a:r>
            <a:r>
              <a:rPr lang="en-US" altLang="zh-CN" dirty="0">
                <a:ea typeface="SimSun" panose="02010600030101010101" pitchFamily="2" charset="-122"/>
              </a:rPr>
              <a:t> if it has no </a:t>
            </a:r>
            <a:r>
              <a:rPr lang="en-US" altLang="zh-CN" dirty="0" smtClean="0">
                <a:ea typeface="SimSun" panose="02010600030101010101" pitchFamily="2" charset="-122"/>
              </a:rPr>
              <a:t>cycles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/>
              <a:t>A directed graph without cycles is called directed acyclic graph (</a:t>
            </a:r>
            <a:r>
              <a:rPr lang="en-US" altLang="zh-CN" dirty="0">
                <a:solidFill>
                  <a:srgbClr val="263AF8"/>
                </a:solidFill>
              </a:rPr>
              <a:t>DAG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E02CF3-D3B8-4D6F-BB9F-F4E05BC9923D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28675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28676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BF9E8C-5029-4C23-950B-500823034598}" type="slidenum">
              <a:rPr lang="en-US" altLang="zh-CN" sz="1050"/>
            </a:fld>
            <a:endParaRPr lang="en-US" altLang="zh-CN" sz="1050"/>
          </a:p>
        </p:txBody>
      </p:sp>
      <p:sp>
        <p:nvSpPr>
          <p:cNvPr id="28677" name="Text Box 3"/>
          <p:cNvSpPr txBox="1">
            <a:spLocks noChangeArrowheads="1"/>
          </p:cNvSpPr>
          <p:nvPr/>
        </p:nvSpPr>
        <p:spPr bwMode="auto">
          <a:xfrm>
            <a:off x="486477" y="2843808"/>
            <a:ext cx="5641181" cy="511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28270" indent="-128270" defTabSz="514350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Char char=""/>
              <a:defRPr sz="2400">
                <a:latin typeface="Sitka Text" panose="02000505000000020004" pitchFamily="2" charset="0"/>
                <a:ea typeface="SimSun" panose="02010600030101010101" pitchFamily="2" charset="-122"/>
                <a:cs typeface="Times New Roman" panose="02020603050405020304" pitchFamily="18" charset="0"/>
              </a:defRPr>
            </a:lvl1pPr>
            <a:lvl2pPr marL="385445" lvl="1" indent="-128270" defTabSz="514350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2000">
                <a:solidFill>
                  <a:srgbClr val="FF0000"/>
                </a:solidFill>
                <a:latin typeface="Sitka Text" panose="02000505000000020004" pitchFamily="2" charset="0"/>
                <a:ea typeface="SimSun" panose="02010600030101010101" pitchFamily="2" charset="-122"/>
                <a:cs typeface="Times New Roman" panose="02020603050405020304" pitchFamily="18" charset="0"/>
              </a:defRPr>
            </a:lvl2pPr>
            <a:lvl3pPr marL="642620" indent="-128270" defTabSz="514350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>
                <a:latin typeface="Sitka Text" panose="02000505000000020004" pitchFamily="2" charset="0"/>
                <a:cs typeface="Times New Roman" panose="02020603050405020304" pitchFamily="18" charset="0"/>
              </a:defRPr>
            </a:lvl3pPr>
            <a:lvl4pPr marL="899795" indent="-128270" defTabSz="514350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>
                <a:latin typeface="Sitka Text" panose="02000505000000020004" pitchFamily="2" charset="0"/>
                <a:cs typeface="Times New Roman" panose="02020603050405020304" pitchFamily="18" charset="0"/>
              </a:defRPr>
            </a:lvl4pPr>
            <a:lvl5pPr marL="1156970" indent="-128270" defTabSz="514350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>
                <a:latin typeface="Sitka Text" panose="02000505000000020004" pitchFamily="2" charset="0"/>
                <a:cs typeface="Times New Roman" panose="02020603050405020304" pitchFamily="18" charset="0"/>
              </a:defRPr>
            </a:lvl5pPr>
            <a:lvl6pPr marL="1414145" indent="-128270" defTabSz="514350">
              <a:spcBef>
                <a:spcPct val="20000"/>
              </a:spcBef>
              <a:buFont typeface="Wingdings 2" panose="05020102010507070707" pitchFamily="18" charset="2"/>
              <a:buChar char=""/>
              <a:defRPr sz="1015"/>
            </a:lvl6pPr>
            <a:lvl7pPr marL="1671320" indent="-128270" defTabSz="514350">
              <a:spcBef>
                <a:spcPct val="20000"/>
              </a:spcBef>
              <a:buFont typeface="Wingdings 2" panose="05020102010507070707" pitchFamily="18" charset="2"/>
              <a:buChar char=""/>
              <a:defRPr sz="1015"/>
            </a:lvl7pPr>
            <a:lvl8pPr marL="1928495" indent="-128270" defTabSz="514350">
              <a:spcBef>
                <a:spcPct val="20000"/>
              </a:spcBef>
              <a:buFont typeface="Wingdings 2" panose="05020102010507070707" pitchFamily="18" charset="2"/>
              <a:buChar char=""/>
              <a:defRPr sz="1015"/>
            </a:lvl8pPr>
            <a:lvl9pPr marL="2185670" indent="-128270" defTabSz="514350">
              <a:spcBef>
                <a:spcPct val="20000"/>
              </a:spcBef>
              <a:buFont typeface="Wingdings 2" panose="05020102010507070707" pitchFamily="18" charset="2"/>
              <a:buChar char=""/>
              <a:defRPr sz="1015"/>
            </a:lvl9pPr>
          </a:lstStyle>
          <a:p>
            <a:r>
              <a:rPr lang="en-US" altLang="zh-CN" dirty="0"/>
              <a:t>Space and time are analyzed in terms of: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Number of vertices = |V|   and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Number of edges = |E|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 smtClean="0"/>
          </a:p>
          <a:p>
            <a:r>
              <a:rPr lang="en-US" altLang="zh-CN" dirty="0" smtClean="0"/>
              <a:t>There </a:t>
            </a:r>
            <a:r>
              <a:rPr lang="en-US" altLang="zh-CN" dirty="0"/>
              <a:t>are at least two ways of representing graphs: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The</a:t>
            </a:r>
            <a:r>
              <a:rPr lang="en-US" altLang="zh-CN" dirty="0">
                <a:solidFill>
                  <a:srgbClr val="263AF8"/>
                </a:solidFill>
              </a:rPr>
              <a:t>  adjacency matrix  </a:t>
            </a:r>
            <a:r>
              <a:rPr lang="en-US" altLang="zh-CN" dirty="0">
                <a:solidFill>
                  <a:schemeClr val="tx1"/>
                </a:solidFill>
              </a:rPr>
              <a:t>representation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The</a:t>
            </a:r>
            <a:r>
              <a:rPr lang="en-US" altLang="zh-CN" dirty="0"/>
              <a:t>  adjacency list  </a:t>
            </a:r>
            <a:r>
              <a:rPr lang="en-US" altLang="zh-CN" dirty="0">
                <a:solidFill>
                  <a:schemeClr val="tx1"/>
                </a:solidFill>
              </a:rPr>
              <a:t>representation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/>
          </a:p>
        </p:txBody>
      </p:sp>
      <p:sp>
        <p:nvSpPr>
          <p:cNvPr id="286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3300"/>
                </a:solidFill>
                <a:ea typeface="SimSun" panose="02010600030101010101" pitchFamily="2" charset="-122"/>
              </a:rPr>
              <a:t>Graph Representations</a:t>
            </a:r>
            <a:endParaRPr lang="en-US" altLang="zh-CN" dirty="0" smtClean="0">
              <a:solidFill>
                <a:srgbClr val="FF3300"/>
              </a:solidFill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/>
              <a:t>12/26/03</a:t>
            </a:r>
            <a:endParaRPr lang="en-US" altLang="zh-CN" sz="1050"/>
          </a:p>
        </p:txBody>
      </p:sp>
      <p:sp>
        <p:nvSpPr>
          <p:cNvPr id="29699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/>
              <a:t>Graph Terminology - Lecture 13</a:t>
            </a:r>
            <a:endParaRPr lang="en-US" altLang="zh-CN" sz="1050"/>
          </a:p>
        </p:txBody>
      </p:sp>
      <p:sp>
        <p:nvSpPr>
          <p:cNvPr id="29700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0C0196-D78B-4092-B0F2-E10B0970F0CC}" type="slidenum">
              <a:rPr lang="en-US" altLang="zh-CN" sz="1050"/>
            </a:fld>
            <a:endParaRPr lang="en-US" altLang="zh-CN" sz="1050"/>
          </a:p>
        </p:txBody>
      </p:sp>
      <p:sp>
        <p:nvSpPr>
          <p:cNvPr id="29701" name="AutoShape 22"/>
          <p:cNvSpPr/>
          <p:nvPr/>
        </p:nvSpPr>
        <p:spPr bwMode="auto">
          <a:xfrm>
            <a:off x="648890" y="5144857"/>
            <a:ext cx="114300" cy="2514600"/>
          </a:xfrm>
          <a:prstGeom prst="leftBracket">
            <a:avLst>
              <a:gd name="adj" fmla="val 237519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29702" name="AutoShape 23"/>
          <p:cNvSpPr/>
          <p:nvPr/>
        </p:nvSpPr>
        <p:spPr bwMode="auto">
          <a:xfrm>
            <a:off x="3400424" y="5136522"/>
            <a:ext cx="114300" cy="2514600"/>
          </a:xfrm>
          <a:prstGeom prst="rightBracket">
            <a:avLst>
              <a:gd name="adj" fmla="val 18333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29703" name="Text Box 24"/>
          <p:cNvSpPr txBox="1">
            <a:spLocks noChangeArrowheads="1"/>
          </p:cNvSpPr>
          <p:nvPr/>
        </p:nvSpPr>
        <p:spPr bwMode="auto">
          <a:xfrm>
            <a:off x="828674" y="4793622"/>
            <a:ext cx="2628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     B     C     D     E     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4" name="Text Box 25"/>
          <p:cNvSpPr txBox="1">
            <a:spLocks noChangeArrowheads="1"/>
          </p:cNvSpPr>
          <p:nvPr/>
        </p:nvSpPr>
        <p:spPr bwMode="auto">
          <a:xfrm>
            <a:off x="816768" y="5224628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0      1      0      1      0     0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5" name="Text Box 26"/>
          <p:cNvSpPr txBox="1">
            <a:spLocks noChangeArrowheads="1"/>
          </p:cNvSpPr>
          <p:nvPr/>
        </p:nvSpPr>
        <p:spPr bwMode="auto">
          <a:xfrm>
            <a:off x="828675" y="5708022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1      0      1      0      0     0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6" name="Text Box 27"/>
          <p:cNvSpPr txBox="1">
            <a:spLocks noChangeArrowheads="1"/>
          </p:cNvSpPr>
          <p:nvPr/>
        </p:nvSpPr>
        <p:spPr bwMode="auto">
          <a:xfrm>
            <a:off x="828675" y="6108072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0      1      0      1      1     0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7" name="Text Box 28"/>
          <p:cNvSpPr txBox="1">
            <a:spLocks noChangeArrowheads="1"/>
          </p:cNvSpPr>
          <p:nvPr/>
        </p:nvSpPr>
        <p:spPr bwMode="auto">
          <a:xfrm>
            <a:off x="828675" y="6508122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1      0      1      0      1     0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8" name="Text Box 29"/>
          <p:cNvSpPr txBox="1">
            <a:spLocks noChangeArrowheads="1"/>
          </p:cNvSpPr>
          <p:nvPr/>
        </p:nvSpPr>
        <p:spPr bwMode="auto">
          <a:xfrm>
            <a:off x="828675" y="6965322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0      0      1      1      0     0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9" name="Text Box 30"/>
          <p:cNvSpPr txBox="1">
            <a:spLocks noChangeArrowheads="1"/>
          </p:cNvSpPr>
          <p:nvPr/>
        </p:nvSpPr>
        <p:spPr bwMode="auto">
          <a:xfrm>
            <a:off x="828675" y="7365372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0      0      0      0      0     0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10" name="Text Box 31"/>
          <p:cNvSpPr txBox="1">
            <a:spLocks noChangeArrowheads="1"/>
          </p:cNvSpPr>
          <p:nvPr/>
        </p:nvSpPr>
        <p:spPr bwMode="auto">
          <a:xfrm>
            <a:off x="4049704" y="4593567"/>
            <a:ext cx="15953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M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(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, 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)  =  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1" name="AutoShape 32"/>
          <p:cNvSpPr/>
          <p:nvPr/>
        </p:nvSpPr>
        <p:spPr bwMode="auto">
          <a:xfrm>
            <a:off x="4178796" y="5174562"/>
            <a:ext cx="171450" cy="639366"/>
          </a:xfrm>
          <a:prstGeom prst="leftBrace">
            <a:avLst>
              <a:gd name="adj1" fmla="val 31076"/>
              <a:gd name="adj2" fmla="val 5009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2" name="Text Box 33"/>
          <p:cNvSpPr txBox="1">
            <a:spLocks noChangeArrowheads="1"/>
          </p:cNvSpPr>
          <p:nvPr/>
        </p:nvSpPr>
        <p:spPr bwMode="auto">
          <a:xfrm>
            <a:off x="4293096" y="5174562"/>
            <a:ext cx="24042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1 if (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, 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) is in E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3" name="Text Box 34"/>
          <p:cNvSpPr txBox="1">
            <a:spLocks noChangeArrowheads="1"/>
          </p:cNvSpPr>
          <p:nvPr/>
        </p:nvSpPr>
        <p:spPr bwMode="auto">
          <a:xfrm>
            <a:off x="4293096" y="5471028"/>
            <a:ext cx="1612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0 otherwise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4" name="Text Box 35"/>
          <p:cNvSpPr txBox="1">
            <a:spLocks noChangeArrowheads="1"/>
          </p:cNvSpPr>
          <p:nvPr/>
        </p:nvSpPr>
        <p:spPr bwMode="auto">
          <a:xfrm>
            <a:off x="336946" y="5250822"/>
            <a:ext cx="332184" cy="251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15" name="Text Box 37"/>
          <p:cNvSpPr txBox="1">
            <a:spLocks noChangeArrowheads="1"/>
          </p:cNvSpPr>
          <p:nvPr/>
        </p:nvSpPr>
        <p:spPr bwMode="auto">
          <a:xfrm>
            <a:off x="4099617" y="6527576"/>
            <a:ext cx="1701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Space = |</a:t>
            </a:r>
            <a:r>
              <a:rPr lang="en-US" altLang="zh-CN" i="1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|</a:t>
            </a:r>
            <a:r>
              <a:rPr lang="en-US" altLang="zh-CN" baseline="300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2</a:t>
            </a:r>
            <a:endParaRPr lang="en-US" altLang="zh-CN" baseline="30000" dirty="0">
              <a:solidFill>
                <a:srgbClr val="263AF8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6" name="Oval 38"/>
          <p:cNvSpPr>
            <a:spLocks noChangeArrowheads="1"/>
          </p:cNvSpPr>
          <p:nvPr/>
        </p:nvSpPr>
        <p:spPr bwMode="auto">
          <a:xfrm>
            <a:off x="589487" y="291462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7" name="Oval 39"/>
          <p:cNvSpPr>
            <a:spLocks noChangeArrowheads="1"/>
          </p:cNvSpPr>
          <p:nvPr/>
        </p:nvSpPr>
        <p:spPr bwMode="auto">
          <a:xfrm>
            <a:off x="1446737" y="251457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8" name="Oval 40"/>
          <p:cNvSpPr>
            <a:spLocks noChangeArrowheads="1"/>
          </p:cNvSpPr>
          <p:nvPr/>
        </p:nvSpPr>
        <p:spPr bwMode="auto">
          <a:xfrm>
            <a:off x="2475437" y="274317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19" name="Oval 41"/>
          <p:cNvSpPr>
            <a:spLocks noChangeArrowheads="1"/>
          </p:cNvSpPr>
          <p:nvPr/>
        </p:nvSpPr>
        <p:spPr bwMode="auto">
          <a:xfrm>
            <a:off x="2132537" y="376830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20" name="Oval 42"/>
          <p:cNvSpPr>
            <a:spLocks noChangeArrowheads="1"/>
          </p:cNvSpPr>
          <p:nvPr/>
        </p:nvSpPr>
        <p:spPr bwMode="auto">
          <a:xfrm>
            <a:off x="1103837" y="365757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29721" name="Oval 43"/>
          <p:cNvSpPr>
            <a:spLocks noChangeArrowheads="1"/>
          </p:cNvSpPr>
          <p:nvPr/>
        </p:nvSpPr>
        <p:spPr bwMode="auto">
          <a:xfrm>
            <a:off x="2932637" y="337182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Sitka Text" panose="02000505000000020004" pitchFamily="2" charset="0"/>
                <a:ea typeface="SimSun" panose="02010600030101010101" pitchFamily="2" charset="-122"/>
              </a:rPr>
              <a:t>F</a:t>
            </a:r>
            <a:endParaRPr lang="en-US" altLang="zh-CN" sz="18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cxnSp>
        <p:nvCxnSpPr>
          <p:cNvPr id="29722" name="AutoShape 44"/>
          <p:cNvCxnSpPr>
            <a:cxnSpLocks noChangeShapeType="1"/>
            <a:stCxn id="29718" idx="4"/>
            <a:endCxn id="29719" idx="0"/>
          </p:cNvCxnSpPr>
          <p:nvPr/>
        </p:nvCxnSpPr>
        <p:spPr bwMode="auto">
          <a:xfrm flipH="1">
            <a:off x="2332562" y="3143227"/>
            <a:ext cx="342900" cy="62507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3" name="AutoShape 45"/>
          <p:cNvCxnSpPr>
            <a:cxnSpLocks noChangeShapeType="1"/>
            <a:stCxn id="29720" idx="6"/>
            <a:endCxn id="29719" idx="2"/>
          </p:cNvCxnSpPr>
          <p:nvPr/>
        </p:nvCxnSpPr>
        <p:spPr bwMode="auto">
          <a:xfrm>
            <a:off x="1503887" y="3857602"/>
            <a:ext cx="628650" cy="11072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4" name="AutoShape 46"/>
          <p:cNvCxnSpPr>
            <a:cxnSpLocks noChangeShapeType="1"/>
            <a:stCxn id="29716" idx="5"/>
            <a:endCxn id="29720" idx="1"/>
          </p:cNvCxnSpPr>
          <p:nvPr/>
        </p:nvCxnSpPr>
        <p:spPr bwMode="auto">
          <a:xfrm>
            <a:off x="931197" y="3256337"/>
            <a:ext cx="230981" cy="45958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5" name="AutoShape 47"/>
          <p:cNvCxnSpPr>
            <a:cxnSpLocks noChangeShapeType="1"/>
            <a:stCxn id="29718" idx="3"/>
            <a:endCxn id="29720" idx="7"/>
          </p:cNvCxnSpPr>
          <p:nvPr/>
        </p:nvCxnSpPr>
        <p:spPr bwMode="auto">
          <a:xfrm flipH="1">
            <a:off x="1445547" y="3084887"/>
            <a:ext cx="1088231" cy="6310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6" name="AutoShape 48"/>
          <p:cNvCxnSpPr>
            <a:cxnSpLocks noChangeShapeType="1"/>
            <a:stCxn id="29717" idx="6"/>
            <a:endCxn id="29718" idx="2"/>
          </p:cNvCxnSpPr>
          <p:nvPr/>
        </p:nvCxnSpPr>
        <p:spPr bwMode="auto">
          <a:xfrm>
            <a:off x="1846787" y="2714602"/>
            <a:ext cx="6286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727" name="AutoShape 49"/>
          <p:cNvCxnSpPr>
            <a:cxnSpLocks noChangeShapeType="1"/>
            <a:stCxn id="29716" idx="7"/>
            <a:endCxn id="29717" idx="2"/>
          </p:cNvCxnSpPr>
          <p:nvPr/>
        </p:nvCxnSpPr>
        <p:spPr bwMode="auto">
          <a:xfrm flipV="1">
            <a:off x="931197" y="2714602"/>
            <a:ext cx="515540" cy="258366"/>
          </a:xfrm>
          <a:prstGeom prst="straightConnector1">
            <a:avLst/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728" name="Oval 50"/>
          <p:cNvSpPr>
            <a:spLocks noChangeArrowheads="1"/>
          </p:cNvSpPr>
          <p:nvPr/>
        </p:nvSpPr>
        <p:spPr bwMode="auto">
          <a:xfrm>
            <a:off x="1228724" y="5231772"/>
            <a:ext cx="342900" cy="3429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29729" name="Oval 51"/>
          <p:cNvSpPr>
            <a:spLocks noChangeArrowheads="1"/>
          </p:cNvSpPr>
          <p:nvPr/>
        </p:nvSpPr>
        <p:spPr bwMode="auto">
          <a:xfrm>
            <a:off x="771524" y="5708022"/>
            <a:ext cx="342900" cy="3429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29730" name="Rectangle 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Adjacency Matrix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29731" name="Line 53"/>
          <p:cNvSpPr>
            <a:spLocks noChangeShapeType="1"/>
          </p:cNvSpPr>
          <p:nvPr/>
        </p:nvSpPr>
        <p:spPr bwMode="auto">
          <a:xfrm>
            <a:off x="714374" y="5193672"/>
            <a:ext cx="2743200" cy="25717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806736-E136-46DC-B256-0091318AD549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0723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30724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91A71D-2FD9-49D0-8468-6F3C50DF32C7}" type="slidenum">
              <a:rPr lang="en-US" altLang="zh-CN" sz="1050"/>
            </a:fld>
            <a:endParaRPr lang="en-US" altLang="zh-CN" sz="1050"/>
          </a:p>
        </p:txBody>
      </p:sp>
      <p:sp>
        <p:nvSpPr>
          <p:cNvPr id="30725" name="AutoShape 21"/>
          <p:cNvSpPr/>
          <p:nvPr/>
        </p:nvSpPr>
        <p:spPr bwMode="auto">
          <a:xfrm>
            <a:off x="691976" y="5212765"/>
            <a:ext cx="114300" cy="2514600"/>
          </a:xfrm>
          <a:prstGeom prst="leftBracket">
            <a:avLst>
              <a:gd name="adj" fmla="val 237519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0726" name="AutoShape 22"/>
          <p:cNvSpPr/>
          <p:nvPr/>
        </p:nvSpPr>
        <p:spPr bwMode="auto">
          <a:xfrm>
            <a:off x="3443510" y="5204430"/>
            <a:ext cx="114300" cy="2514600"/>
          </a:xfrm>
          <a:prstGeom prst="rightBracket">
            <a:avLst>
              <a:gd name="adj" fmla="val 18333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0727" name="Text Box 23"/>
          <p:cNvSpPr txBox="1">
            <a:spLocks noChangeArrowheads="1"/>
          </p:cNvSpPr>
          <p:nvPr/>
        </p:nvSpPr>
        <p:spPr bwMode="auto">
          <a:xfrm>
            <a:off x="871760" y="4861530"/>
            <a:ext cx="2628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     B     C     D     E     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28" name="Text Box 24"/>
          <p:cNvSpPr txBox="1">
            <a:spLocks noChangeArrowheads="1"/>
          </p:cNvSpPr>
          <p:nvPr/>
        </p:nvSpPr>
        <p:spPr bwMode="auto">
          <a:xfrm>
            <a:off x="859854" y="5292536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0      1      0      1      0     0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29" name="Text Box 25"/>
          <p:cNvSpPr txBox="1">
            <a:spLocks noChangeArrowheads="1"/>
          </p:cNvSpPr>
          <p:nvPr/>
        </p:nvSpPr>
        <p:spPr bwMode="auto">
          <a:xfrm>
            <a:off x="871760" y="5775930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0      0      1      0      0     0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30" name="Text Box 26"/>
          <p:cNvSpPr txBox="1">
            <a:spLocks noChangeArrowheads="1"/>
          </p:cNvSpPr>
          <p:nvPr/>
        </p:nvSpPr>
        <p:spPr bwMode="auto">
          <a:xfrm>
            <a:off x="871760" y="6175980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0      0      0      1      1     0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31" name="Text Box 27"/>
          <p:cNvSpPr txBox="1">
            <a:spLocks noChangeArrowheads="1"/>
          </p:cNvSpPr>
          <p:nvPr/>
        </p:nvSpPr>
        <p:spPr bwMode="auto">
          <a:xfrm>
            <a:off x="871760" y="6576030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0      0      0      0      1     0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32" name="Text Box 28"/>
          <p:cNvSpPr txBox="1">
            <a:spLocks noChangeArrowheads="1"/>
          </p:cNvSpPr>
          <p:nvPr/>
        </p:nvSpPr>
        <p:spPr bwMode="auto">
          <a:xfrm>
            <a:off x="871760" y="7033230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0      0      0      0      0     0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33" name="Text Box 29"/>
          <p:cNvSpPr txBox="1">
            <a:spLocks noChangeArrowheads="1"/>
          </p:cNvSpPr>
          <p:nvPr/>
        </p:nvSpPr>
        <p:spPr bwMode="auto">
          <a:xfrm>
            <a:off x="871760" y="7433280"/>
            <a:ext cx="2697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0      0      0      0      0     0     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34" name="Text Box 30"/>
          <p:cNvSpPr txBox="1">
            <a:spLocks noChangeArrowheads="1"/>
          </p:cNvSpPr>
          <p:nvPr/>
        </p:nvSpPr>
        <p:spPr bwMode="auto">
          <a:xfrm>
            <a:off x="380032" y="5318730"/>
            <a:ext cx="332184" cy="2516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spcBef>
                <a:spcPct val="55000"/>
              </a:spcBef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40" name="Oval 40"/>
          <p:cNvSpPr>
            <a:spLocks noChangeArrowheads="1"/>
          </p:cNvSpPr>
          <p:nvPr/>
        </p:nvSpPr>
        <p:spPr bwMode="auto">
          <a:xfrm>
            <a:off x="530050" y="288634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41" name="Oval 41"/>
          <p:cNvSpPr>
            <a:spLocks noChangeArrowheads="1"/>
          </p:cNvSpPr>
          <p:nvPr/>
        </p:nvSpPr>
        <p:spPr bwMode="auto">
          <a:xfrm>
            <a:off x="1387300" y="248629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42" name="Oval 42"/>
          <p:cNvSpPr>
            <a:spLocks noChangeArrowheads="1"/>
          </p:cNvSpPr>
          <p:nvPr/>
        </p:nvSpPr>
        <p:spPr bwMode="auto">
          <a:xfrm>
            <a:off x="2416000" y="271489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43" name="Oval 43"/>
          <p:cNvSpPr>
            <a:spLocks noChangeArrowheads="1"/>
          </p:cNvSpPr>
          <p:nvPr/>
        </p:nvSpPr>
        <p:spPr bwMode="auto">
          <a:xfrm>
            <a:off x="2073100" y="374002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44" name="Oval 44"/>
          <p:cNvSpPr>
            <a:spLocks noChangeArrowheads="1"/>
          </p:cNvSpPr>
          <p:nvPr/>
        </p:nvSpPr>
        <p:spPr bwMode="auto">
          <a:xfrm>
            <a:off x="1044400" y="362929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0745" name="Oval 45"/>
          <p:cNvSpPr>
            <a:spLocks noChangeArrowheads="1"/>
          </p:cNvSpPr>
          <p:nvPr/>
        </p:nvSpPr>
        <p:spPr bwMode="auto">
          <a:xfrm>
            <a:off x="2873200" y="334354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30746" name="AutoShape 46"/>
          <p:cNvCxnSpPr>
            <a:cxnSpLocks noChangeShapeType="1"/>
            <a:stCxn id="30742" idx="4"/>
            <a:endCxn id="30743" idx="0"/>
          </p:cNvCxnSpPr>
          <p:nvPr/>
        </p:nvCxnSpPr>
        <p:spPr bwMode="auto">
          <a:xfrm flipH="1">
            <a:off x="2273125" y="3114942"/>
            <a:ext cx="342900" cy="62507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7" name="AutoShape 47"/>
          <p:cNvCxnSpPr>
            <a:cxnSpLocks noChangeShapeType="1"/>
            <a:stCxn id="30744" idx="6"/>
            <a:endCxn id="30743" idx="2"/>
          </p:cNvCxnSpPr>
          <p:nvPr/>
        </p:nvCxnSpPr>
        <p:spPr bwMode="auto">
          <a:xfrm>
            <a:off x="1444450" y="3829317"/>
            <a:ext cx="628650" cy="11072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8" name="AutoShape 48"/>
          <p:cNvCxnSpPr>
            <a:cxnSpLocks noChangeShapeType="1"/>
            <a:stCxn id="30740" idx="5"/>
            <a:endCxn id="30744" idx="1"/>
          </p:cNvCxnSpPr>
          <p:nvPr/>
        </p:nvCxnSpPr>
        <p:spPr bwMode="auto">
          <a:xfrm>
            <a:off x="871760" y="3228052"/>
            <a:ext cx="230981" cy="45958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9" name="AutoShape 49"/>
          <p:cNvCxnSpPr>
            <a:cxnSpLocks noChangeShapeType="1"/>
            <a:stCxn id="30742" idx="3"/>
            <a:endCxn id="30744" idx="7"/>
          </p:cNvCxnSpPr>
          <p:nvPr/>
        </p:nvCxnSpPr>
        <p:spPr bwMode="auto">
          <a:xfrm flipH="1">
            <a:off x="1386110" y="3056602"/>
            <a:ext cx="1088231" cy="6310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0" name="AutoShape 50"/>
          <p:cNvCxnSpPr>
            <a:cxnSpLocks noChangeShapeType="1"/>
            <a:stCxn id="30741" idx="6"/>
            <a:endCxn id="30742" idx="2"/>
          </p:cNvCxnSpPr>
          <p:nvPr/>
        </p:nvCxnSpPr>
        <p:spPr bwMode="auto">
          <a:xfrm>
            <a:off x="1787350" y="2686317"/>
            <a:ext cx="6286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1" name="AutoShape 51"/>
          <p:cNvCxnSpPr>
            <a:cxnSpLocks noChangeShapeType="1"/>
            <a:stCxn id="30740" idx="7"/>
            <a:endCxn id="30741" idx="2"/>
          </p:cNvCxnSpPr>
          <p:nvPr/>
        </p:nvCxnSpPr>
        <p:spPr bwMode="auto">
          <a:xfrm flipV="1">
            <a:off x="871760" y="2686317"/>
            <a:ext cx="515540" cy="258366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52" name="Oval 52"/>
          <p:cNvSpPr>
            <a:spLocks noChangeArrowheads="1"/>
          </p:cNvSpPr>
          <p:nvPr/>
        </p:nvSpPr>
        <p:spPr bwMode="auto">
          <a:xfrm>
            <a:off x="1269429" y="5299680"/>
            <a:ext cx="342900" cy="3429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0753" name="Rectangle 5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Adjacency Matrix for a Digraph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4049704" y="4593567"/>
            <a:ext cx="15953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M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(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, 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)  =  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5" name="AutoShape 32"/>
          <p:cNvSpPr/>
          <p:nvPr/>
        </p:nvSpPr>
        <p:spPr bwMode="auto">
          <a:xfrm>
            <a:off x="4178796" y="5174562"/>
            <a:ext cx="171450" cy="639366"/>
          </a:xfrm>
          <a:prstGeom prst="leftBrace">
            <a:avLst>
              <a:gd name="adj1" fmla="val 31076"/>
              <a:gd name="adj2" fmla="val 5009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4293096" y="5174562"/>
            <a:ext cx="24042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1 if (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, </a:t>
            </a:r>
            <a:r>
              <a:rPr lang="en-US" altLang="zh-CN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) is in E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4293096" y="5471028"/>
            <a:ext cx="16121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0 otherwise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4099617" y="6527576"/>
            <a:ext cx="17011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Space = |</a:t>
            </a:r>
            <a:r>
              <a:rPr lang="en-US" altLang="zh-CN" i="1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|</a:t>
            </a:r>
            <a:r>
              <a:rPr lang="en-US" altLang="zh-CN" baseline="30000" dirty="0">
                <a:solidFill>
                  <a:srgbClr val="263AF8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2</a:t>
            </a:r>
            <a:endParaRPr lang="en-US" altLang="zh-CN" baseline="30000" dirty="0">
              <a:solidFill>
                <a:srgbClr val="263AF8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2B6E99-B955-45D3-B01D-1F7A27DCFA9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174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3174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BD2866-EF87-432F-806D-D471C6043CB9}" type="slidenum">
              <a:rPr lang="en-US" altLang="zh-CN" sz="1050"/>
            </a:fld>
            <a:endParaRPr lang="en-US" altLang="zh-CN" sz="1050"/>
          </a:p>
        </p:txBody>
      </p:sp>
      <p:sp>
        <p:nvSpPr>
          <p:cNvPr id="31806" name="Oval 68"/>
          <p:cNvSpPr>
            <a:spLocks noChangeArrowheads="1"/>
          </p:cNvSpPr>
          <p:nvPr/>
        </p:nvSpPr>
        <p:spPr bwMode="auto">
          <a:xfrm>
            <a:off x="1845040" y="379202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07" name="Oval 69"/>
          <p:cNvSpPr>
            <a:spLocks noChangeArrowheads="1"/>
          </p:cNvSpPr>
          <p:nvPr/>
        </p:nvSpPr>
        <p:spPr bwMode="auto">
          <a:xfrm>
            <a:off x="2702290" y="339197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08" name="Oval 70"/>
          <p:cNvSpPr>
            <a:spLocks noChangeArrowheads="1"/>
          </p:cNvSpPr>
          <p:nvPr/>
        </p:nvSpPr>
        <p:spPr bwMode="auto">
          <a:xfrm>
            <a:off x="3730990" y="362057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09" name="Oval 71"/>
          <p:cNvSpPr>
            <a:spLocks noChangeArrowheads="1"/>
          </p:cNvSpPr>
          <p:nvPr/>
        </p:nvSpPr>
        <p:spPr bwMode="auto">
          <a:xfrm>
            <a:off x="3388090" y="464570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10" name="Oval 72"/>
          <p:cNvSpPr>
            <a:spLocks noChangeArrowheads="1"/>
          </p:cNvSpPr>
          <p:nvPr/>
        </p:nvSpPr>
        <p:spPr bwMode="auto">
          <a:xfrm>
            <a:off x="2359390" y="453497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11" name="Oval 73"/>
          <p:cNvSpPr>
            <a:spLocks noChangeArrowheads="1"/>
          </p:cNvSpPr>
          <p:nvPr/>
        </p:nvSpPr>
        <p:spPr bwMode="auto">
          <a:xfrm>
            <a:off x="4188190" y="424922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31812" name="AutoShape 74"/>
          <p:cNvCxnSpPr>
            <a:cxnSpLocks noChangeShapeType="1"/>
            <a:stCxn id="31808" idx="4"/>
            <a:endCxn id="31809" idx="0"/>
          </p:cNvCxnSpPr>
          <p:nvPr/>
        </p:nvCxnSpPr>
        <p:spPr bwMode="auto">
          <a:xfrm flipH="1">
            <a:off x="3588115" y="4020621"/>
            <a:ext cx="342900" cy="62507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3" name="AutoShape 75"/>
          <p:cNvCxnSpPr>
            <a:cxnSpLocks noChangeShapeType="1"/>
            <a:stCxn id="31810" idx="6"/>
            <a:endCxn id="31809" idx="2"/>
          </p:cNvCxnSpPr>
          <p:nvPr/>
        </p:nvCxnSpPr>
        <p:spPr bwMode="auto">
          <a:xfrm>
            <a:off x="2759440" y="4734996"/>
            <a:ext cx="628650" cy="11072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4" name="AutoShape 76"/>
          <p:cNvCxnSpPr>
            <a:cxnSpLocks noChangeShapeType="1"/>
            <a:stCxn id="31806" idx="5"/>
            <a:endCxn id="31810" idx="1"/>
          </p:cNvCxnSpPr>
          <p:nvPr/>
        </p:nvCxnSpPr>
        <p:spPr bwMode="auto">
          <a:xfrm>
            <a:off x="2186750" y="4133731"/>
            <a:ext cx="230981" cy="45958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5" name="AutoShape 77"/>
          <p:cNvCxnSpPr>
            <a:cxnSpLocks noChangeShapeType="1"/>
            <a:stCxn id="31808" idx="3"/>
            <a:endCxn id="31810" idx="7"/>
          </p:cNvCxnSpPr>
          <p:nvPr/>
        </p:nvCxnSpPr>
        <p:spPr bwMode="auto">
          <a:xfrm flipH="1">
            <a:off x="2701100" y="3962281"/>
            <a:ext cx="1088231" cy="6310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6" name="AutoShape 78"/>
          <p:cNvCxnSpPr>
            <a:cxnSpLocks noChangeShapeType="1"/>
            <a:stCxn id="31807" idx="6"/>
            <a:endCxn id="31808" idx="2"/>
          </p:cNvCxnSpPr>
          <p:nvPr/>
        </p:nvCxnSpPr>
        <p:spPr bwMode="auto">
          <a:xfrm>
            <a:off x="3102340" y="3591996"/>
            <a:ext cx="6286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7" name="AutoShape 79"/>
          <p:cNvCxnSpPr>
            <a:cxnSpLocks noChangeShapeType="1"/>
            <a:stCxn id="31806" idx="7"/>
            <a:endCxn id="31807" idx="2"/>
          </p:cNvCxnSpPr>
          <p:nvPr/>
        </p:nvCxnSpPr>
        <p:spPr bwMode="auto">
          <a:xfrm flipV="1">
            <a:off x="2186750" y="3591996"/>
            <a:ext cx="515540" cy="258366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818" name="Rectangle 80"/>
          <p:cNvSpPr>
            <a:spLocks noChangeArrowheads="1"/>
          </p:cNvSpPr>
          <p:nvPr/>
        </p:nvSpPr>
        <p:spPr bwMode="auto">
          <a:xfrm>
            <a:off x="3533277" y="7776732"/>
            <a:ext cx="2977097" cy="400110"/>
          </a:xfrm>
          <a:prstGeom prst="rect">
            <a:avLst/>
          </a:prstGeom>
          <a:noFill/>
          <a:ln w="9525">
            <a:solidFill>
              <a:srgbClr val="FF99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Space = a |V| + 2 b |E|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1819" name="Text Box 81"/>
          <p:cNvSpPr txBox="1">
            <a:spLocks noChangeArrowheads="1"/>
          </p:cNvSpPr>
          <p:nvPr/>
        </p:nvSpPr>
        <p:spPr bwMode="auto">
          <a:xfrm>
            <a:off x="373025" y="2513934"/>
            <a:ext cx="6017384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For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 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each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v 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in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V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,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L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(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) = list of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 such that (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,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) 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is in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E</a:t>
            </a:r>
            <a:endParaRPr lang="en-US" altLang="zh-CN" sz="24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1822" name="AutoShape 84"/>
          <p:cNvSpPr/>
          <p:nvPr/>
        </p:nvSpPr>
        <p:spPr bwMode="auto">
          <a:xfrm rot="5400000">
            <a:off x="1063872" y="5236725"/>
            <a:ext cx="182166" cy="371475"/>
          </a:xfrm>
          <a:prstGeom prst="leftBrace">
            <a:avLst>
              <a:gd name="adj1" fmla="val 16993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1823" name="AutoShape 85"/>
          <p:cNvSpPr/>
          <p:nvPr/>
        </p:nvSpPr>
        <p:spPr bwMode="auto">
          <a:xfrm rot="5400000">
            <a:off x="1816608" y="5012627"/>
            <a:ext cx="216352" cy="837190"/>
          </a:xfrm>
          <a:prstGeom prst="leftBrace">
            <a:avLst>
              <a:gd name="adj1" fmla="val 32246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1824" name="Text Box 86"/>
          <p:cNvSpPr txBox="1">
            <a:spLocks noChangeArrowheads="1"/>
          </p:cNvSpPr>
          <p:nvPr/>
        </p:nvSpPr>
        <p:spPr bwMode="auto">
          <a:xfrm>
            <a:off x="1018034" y="5004048"/>
            <a:ext cx="200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 dirty="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25" name="Text Box 87"/>
          <p:cNvSpPr txBox="1">
            <a:spLocks noChangeArrowheads="1"/>
          </p:cNvSpPr>
          <p:nvPr/>
        </p:nvSpPr>
        <p:spPr bwMode="auto">
          <a:xfrm>
            <a:off x="1801377" y="5015864"/>
            <a:ext cx="200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26" name="Rectangle 8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Adjacency List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31827" name="Text Box 89"/>
          <p:cNvSpPr txBox="1">
            <a:spLocks noChangeArrowheads="1"/>
          </p:cNvSpPr>
          <p:nvPr/>
        </p:nvSpPr>
        <p:spPr bwMode="auto">
          <a:xfrm>
            <a:off x="3802858" y="5580101"/>
            <a:ext cx="21503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F33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list </a:t>
            </a:r>
            <a:r>
              <a:rPr lang="en-US" altLang="zh-CN" dirty="0" smtClean="0">
                <a:solidFill>
                  <a:srgbClr val="FF33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of neighbors</a:t>
            </a:r>
            <a:endParaRPr lang="en-US" altLang="zh-CN" dirty="0">
              <a:solidFill>
                <a:srgbClr val="FF33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38466" y="5580101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3" name="表格 92"/>
          <p:cNvGraphicFramePr>
            <a:graphicFrameLocks noGrp="1"/>
          </p:cNvGraphicFramePr>
          <p:nvPr/>
        </p:nvGraphicFramePr>
        <p:xfrm>
          <a:off x="521772" y="5580150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A</a:t>
                      </a:r>
                      <a:endParaRPr lang="zh-CN" altLang="en-US" sz="2000" b="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B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C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D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E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F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6" name="Line 48"/>
          <p:cNvSpPr>
            <a:spLocks noChangeShapeType="1"/>
          </p:cNvSpPr>
          <p:nvPr/>
        </p:nvSpPr>
        <p:spPr bwMode="auto">
          <a:xfrm>
            <a:off x="1179369" y="579662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7" name="Line 49"/>
          <p:cNvSpPr>
            <a:spLocks noChangeShapeType="1"/>
          </p:cNvSpPr>
          <p:nvPr/>
        </p:nvSpPr>
        <p:spPr bwMode="auto">
          <a:xfrm>
            <a:off x="1187703" y="6256109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8" name="Line 50"/>
          <p:cNvSpPr>
            <a:spLocks noChangeShapeType="1"/>
          </p:cNvSpPr>
          <p:nvPr/>
        </p:nvSpPr>
        <p:spPr bwMode="auto">
          <a:xfrm>
            <a:off x="1179369" y="670562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9" name="Line 51"/>
          <p:cNvSpPr>
            <a:spLocks noChangeShapeType="1"/>
          </p:cNvSpPr>
          <p:nvPr/>
        </p:nvSpPr>
        <p:spPr bwMode="auto">
          <a:xfrm>
            <a:off x="1190085" y="7165227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0" name="Line 52"/>
          <p:cNvSpPr>
            <a:spLocks noChangeShapeType="1"/>
          </p:cNvSpPr>
          <p:nvPr/>
        </p:nvSpPr>
        <p:spPr bwMode="auto">
          <a:xfrm>
            <a:off x="1187703" y="7609975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40150" y="5612801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1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2" name="表格 101"/>
          <p:cNvGraphicFramePr>
            <a:graphicFrameLocks noGrp="1"/>
          </p:cNvGraphicFramePr>
          <p:nvPr/>
        </p:nvGraphicFramePr>
        <p:xfrm>
          <a:off x="1540150" y="6070249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1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表格 102"/>
          <p:cNvGraphicFramePr>
            <a:graphicFrameLocks noGrp="1"/>
          </p:cNvGraphicFramePr>
          <p:nvPr/>
        </p:nvGraphicFramePr>
        <p:xfrm>
          <a:off x="1540150" y="652325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表格 103"/>
          <p:cNvGraphicFramePr>
            <a:graphicFrameLocks noGrp="1"/>
          </p:cNvGraphicFramePr>
          <p:nvPr/>
        </p:nvGraphicFramePr>
        <p:xfrm>
          <a:off x="1540150" y="6975107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表格 104"/>
          <p:cNvGraphicFramePr>
            <a:graphicFrameLocks noGrp="1"/>
          </p:cNvGraphicFramePr>
          <p:nvPr/>
        </p:nvGraphicFramePr>
        <p:xfrm>
          <a:off x="1540128" y="7432324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6" name="Line 48"/>
          <p:cNvSpPr>
            <a:spLocks noChangeShapeType="1"/>
          </p:cNvSpPr>
          <p:nvPr/>
        </p:nvSpPr>
        <p:spPr bwMode="auto">
          <a:xfrm>
            <a:off x="2155239" y="579662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7" name="Line 49"/>
          <p:cNvSpPr>
            <a:spLocks noChangeShapeType="1"/>
          </p:cNvSpPr>
          <p:nvPr/>
        </p:nvSpPr>
        <p:spPr bwMode="auto">
          <a:xfrm>
            <a:off x="2163573" y="6256109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8" name="Line 50"/>
          <p:cNvSpPr>
            <a:spLocks noChangeShapeType="1"/>
          </p:cNvSpPr>
          <p:nvPr/>
        </p:nvSpPr>
        <p:spPr bwMode="auto">
          <a:xfrm>
            <a:off x="2155239" y="670562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9" name="Line 51"/>
          <p:cNvSpPr>
            <a:spLocks noChangeShapeType="1"/>
          </p:cNvSpPr>
          <p:nvPr/>
        </p:nvSpPr>
        <p:spPr bwMode="auto">
          <a:xfrm>
            <a:off x="2165955" y="7165227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10" name="Line 52"/>
          <p:cNvSpPr>
            <a:spLocks noChangeShapeType="1"/>
          </p:cNvSpPr>
          <p:nvPr/>
        </p:nvSpPr>
        <p:spPr bwMode="auto">
          <a:xfrm>
            <a:off x="2163573" y="7609975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111" name="表格 110"/>
          <p:cNvGraphicFramePr>
            <a:graphicFrameLocks noGrp="1"/>
          </p:cNvGraphicFramePr>
          <p:nvPr/>
        </p:nvGraphicFramePr>
        <p:xfrm>
          <a:off x="2516020" y="5612801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2" name="表格 111"/>
          <p:cNvGraphicFramePr>
            <a:graphicFrameLocks noGrp="1"/>
          </p:cNvGraphicFramePr>
          <p:nvPr/>
        </p:nvGraphicFramePr>
        <p:xfrm>
          <a:off x="2516020" y="6070249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3" name="表格 112"/>
          <p:cNvGraphicFramePr>
            <a:graphicFrameLocks noGrp="1"/>
          </p:cNvGraphicFramePr>
          <p:nvPr/>
        </p:nvGraphicFramePr>
        <p:xfrm>
          <a:off x="2516020" y="652325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4" name="表格 113"/>
          <p:cNvGraphicFramePr>
            <a:graphicFrameLocks noGrp="1"/>
          </p:cNvGraphicFramePr>
          <p:nvPr/>
        </p:nvGraphicFramePr>
        <p:xfrm>
          <a:off x="2516020" y="6975107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5" name="表格 114"/>
          <p:cNvGraphicFramePr>
            <a:graphicFrameLocks noGrp="1"/>
          </p:cNvGraphicFramePr>
          <p:nvPr/>
        </p:nvGraphicFramePr>
        <p:xfrm>
          <a:off x="2515998" y="7432324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6" name="Line 50"/>
          <p:cNvSpPr>
            <a:spLocks noChangeShapeType="1"/>
          </p:cNvSpPr>
          <p:nvPr/>
        </p:nvSpPr>
        <p:spPr bwMode="auto">
          <a:xfrm>
            <a:off x="3128004" y="670562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17" name="Line 51"/>
          <p:cNvSpPr>
            <a:spLocks noChangeShapeType="1"/>
          </p:cNvSpPr>
          <p:nvPr/>
        </p:nvSpPr>
        <p:spPr bwMode="auto">
          <a:xfrm>
            <a:off x="3138720" y="7165227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118" name="表格 117"/>
          <p:cNvGraphicFramePr>
            <a:graphicFrameLocks noGrp="1"/>
          </p:cNvGraphicFramePr>
          <p:nvPr/>
        </p:nvGraphicFramePr>
        <p:xfrm>
          <a:off x="3488785" y="652325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9" name="表格 118"/>
          <p:cNvGraphicFramePr>
            <a:graphicFrameLocks noGrp="1"/>
          </p:cNvGraphicFramePr>
          <p:nvPr/>
        </p:nvGraphicFramePr>
        <p:xfrm>
          <a:off x="3488785" y="6975107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2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2B6E99-B955-45D3-B01D-1F7A27DCFA94}" type="datetime1">
              <a:rPr lang="zh-CN" altLang="en-US" sz="1050" smtClean="0"/>
            </a:fld>
            <a:endParaRPr lang="en-US" altLang="zh-CN" sz="1050"/>
          </a:p>
        </p:txBody>
      </p:sp>
      <p:sp>
        <p:nvSpPr>
          <p:cNvPr id="31747" name="页脚占位符 3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050" smtClean="0"/>
              <a:t>lec 9 Graph Algorithms</a:t>
            </a:r>
            <a:endParaRPr lang="en-US" altLang="zh-CN" sz="1050"/>
          </a:p>
        </p:txBody>
      </p:sp>
      <p:sp>
        <p:nvSpPr>
          <p:cNvPr id="3174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530" indent="-21463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BD2866-EF87-432F-806D-D471C6043CB9}" type="slidenum">
              <a:rPr lang="en-US" altLang="zh-CN" sz="1050"/>
            </a:fld>
            <a:endParaRPr lang="en-US" altLang="zh-CN" sz="1050"/>
          </a:p>
        </p:txBody>
      </p:sp>
      <p:sp>
        <p:nvSpPr>
          <p:cNvPr id="31806" name="Oval 68"/>
          <p:cNvSpPr>
            <a:spLocks noChangeArrowheads="1"/>
          </p:cNvSpPr>
          <p:nvPr/>
        </p:nvSpPr>
        <p:spPr bwMode="auto">
          <a:xfrm>
            <a:off x="1845040" y="379202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07" name="Oval 69"/>
          <p:cNvSpPr>
            <a:spLocks noChangeArrowheads="1"/>
          </p:cNvSpPr>
          <p:nvPr/>
        </p:nvSpPr>
        <p:spPr bwMode="auto">
          <a:xfrm>
            <a:off x="2702290" y="339197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08" name="Oval 70"/>
          <p:cNvSpPr>
            <a:spLocks noChangeArrowheads="1"/>
          </p:cNvSpPr>
          <p:nvPr/>
        </p:nvSpPr>
        <p:spPr bwMode="auto">
          <a:xfrm>
            <a:off x="3730990" y="362057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09" name="Oval 71"/>
          <p:cNvSpPr>
            <a:spLocks noChangeArrowheads="1"/>
          </p:cNvSpPr>
          <p:nvPr/>
        </p:nvSpPr>
        <p:spPr bwMode="auto">
          <a:xfrm>
            <a:off x="3388090" y="464570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10" name="Oval 72"/>
          <p:cNvSpPr>
            <a:spLocks noChangeArrowheads="1"/>
          </p:cNvSpPr>
          <p:nvPr/>
        </p:nvSpPr>
        <p:spPr bwMode="auto">
          <a:xfrm>
            <a:off x="2359390" y="453497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11" name="Oval 73"/>
          <p:cNvSpPr>
            <a:spLocks noChangeArrowheads="1"/>
          </p:cNvSpPr>
          <p:nvPr/>
        </p:nvSpPr>
        <p:spPr bwMode="auto">
          <a:xfrm>
            <a:off x="4188190" y="4249221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F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31812" name="AutoShape 74"/>
          <p:cNvCxnSpPr>
            <a:cxnSpLocks noChangeShapeType="1"/>
            <a:stCxn id="31808" idx="4"/>
            <a:endCxn id="31809" idx="0"/>
          </p:cNvCxnSpPr>
          <p:nvPr/>
        </p:nvCxnSpPr>
        <p:spPr bwMode="auto">
          <a:xfrm flipH="1">
            <a:off x="3588115" y="4020621"/>
            <a:ext cx="342900" cy="62507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3" name="AutoShape 75"/>
          <p:cNvCxnSpPr>
            <a:cxnSpLocks noChangeShapeType="1"/>
            <a:stCxn id="31810" idx="6"/>
            <a:endCxn id="31809" idx="2"/>
          </p:cNvCxnSpPr>
          <p:nvPr/>
        </p:nvCxnSpPr>
        <p:spPr bwMode="auto">
          <a:xfrm>
            <a:off x="2759440" y="4734996"/>
            <a:ext cx="628650" cy="110729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4" name="AutoShape 76"/>
          <p:cNvCxnSpPr>
            <a:cxnSpLocks noChangeShapeType="1"/>
            <a:stCxn id="31806" idx="5"/>
            <a:endCxn id="31810" idx="1"/>
          </p:cNvCxnSpPr>
          <p:nvPr/>
        </p:nvCxnSpPr>
        <p:spPr bwMode="auto">
          <a:xfrm>
            <a:off x="2186750" y="4133731"/>
            <a:ext cx="230981" cy="45958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5" name="AutoShape 77"/>
          <p:cNvCxnSpPr>
            <a:cxnSpLocks noChangeShapeType="1"/>
            <a:stCxn id="31808" idx="3"/>
            <a:endCxn id="31810" idx="7"/>
          </p:cNvCxnSpPr>
          <p:nvPr/>
        </p:nvCxnSpPr>
        <p:spPr bwMode="auto">
          <a:xfrm flipH="1">
            <a:off x="2701100" y="3962281"/>
            <a:ext cx="1088231" cy="63103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6" name="AutoShape 78"/>
          <p:cNvCxnSpPr>
            <a:cxnSpLocks noChangeShapeType="1"/>
            <a:stCxn id="31807" idx="6"/>
            <a:endCxn id="31808" idx="2"/>
          </p:cNvCxnSpPr>
          <p:nvPr/>
        </p:nvCxnSpPr>
        <p:spPr bwMode="auto">
          <a:xfrm>
            <a:off x="3102340" y="3591996"/>
            <a:ext cx="628650" cy="2286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17" name="AutoShape 79"/>
          <p:cNvCxnSpPr>
            <a:cxnSpLocks noChangeShapeType="1"/>
            <a:stCxn id="31806" idx="7"/>
            <a:endCxn id="31807" idx="2"/>
          </p:cNvCxnSpPr>
          <p:nvPr/>
        </p:nvCxnSpPr>
        <p:spPr bwMode="auto">
          <a:xfrm flipV="1">
            <a:off x="2186750" y="3591996"/>
            <a:ext cx="515540" cy="258366"/>
          </a:xfrm>
          <a:prstGeom prst="straightConnector1">
            <a:avLst/>
          </a:prstGeom>
          <a:noFill/>
          <a:ln w="28575">
            <a:solidFill>
              <a:srgbClr val="0000FF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818" name="Rectangle 80"/>
          <p:cNvSpPr>
            <a:spLocks noChangeArrowheads="1"/>
          </p:cNvSpPr>
          <p:nvPr/>
        </p:nvSpPr>
        <p:spPr bwMode="auto">
          <a:xfrm>
            <a:off x="3316549" y="7574164"/>
            <a:ext cx="2834429" cy="400110"/>
          </a:xfrm>
          <a:prstGeom prst="rect">
            <a:avLst/>
          </a:prstGeom>
          <a:noFill/>
          <a:ln w="9525">
            <a:solidFill>
              <a:srgbClr val="FF99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Space = a |V| + </a:t>
            </a:r>
            <a:r>
              <a:rPr lang="en-US" altLang="zh-CN" dirty="0" smtClean="0">
                <a:latin typeface="Sitka Text" panose="02000505000000020004" pitchFamily="2" charset="0"/>
                <a:ea typeface="SimSun" panose="02010600030101010101" pitchFamily="2" charset="-122"/>
              </a:rPr>
              <a:t> </a:t>
            </a:r>
            <a:r>
              <a:rPr lang="en-US" altLang="zh-CN" dirty="0">
                <a:latin typeface="Sitka Text" panose="02000505000000020004" pitchFamily="2" charset="0"/>
                <a:ea typeface="SimSun" panose="02010600030101010101" pitchFamily="2" charset="-122"/>
              </a:rPr>
              <a:t>b |E|</a:t>
            </a:r>
            <a:endParaRPr lang="en-US" altLang="zh-CN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1819" name="Text Box 81"/>
          <p:cNvSpPr txBox="1">
            <a:spLocks noChangeArrowheads="1"/>
          </p:cNvSpPr>
          <p:nvPr/>
        </p:nvSpPr>
        <p:spPr bwMode="auto">
          <a:xfrm>
            <a:off x="373025" y="2513934"/>
            <a:ext cx="6017384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For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 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each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v 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in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V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,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L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(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) = list of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 such that (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v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,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</a:rPr>
              <a:t>w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</a:rPr>
              <a:t>) </a:t>
            </a:r>
            <a:r>
              <a:rPr lang="en-US" altLang="zh-CN" sz="2400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is in </a:t>
            </a:r>
            <a:r>
              <a:rPr lang="en-US" altLang="zh-CN" sz="2400" i="1" dirty="0">
                <a:latin typeface="Sitka Text" panose="02000505000000020004" pitchFamily="2" charset="0"/>
                <a:ea typeface="SimSun" panose="02010600030101010101" pitchFamily="2" charset="-122"/>
                <a:sym typeface="Math A" pitchFamily="18" charset="2"/>
              </a:rPr>
              <a:t>E</a:t>
            </a:r>
            <a:endParaRPr lang="en-US" altLang="zh-CN" sz="2400" dirty="0"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sp>
        <p:nvSpPr>
          <p:cNvPr id="31822" name="AutoShape 84"/>
          <p:cNvSpPr/>
          <p:nvPr/>
        </p:nvSpPr>
        <p:spPr bwMode="auto">
          <a:xfrm rot="5400000">
            <a:off x="1063872" y="5236725"/>
            <a:ext cx="182166" cy="371475"/>
          </a:xfrm>
          <a:prstGeom prst="leftBrace">
            <a:avLst>
              <a:gd name="adj1" fmla="val 16993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1823" name="AutoShape 85"/>
          <p:cNvSpPr/>
          <p:nvPr/>
        </p:nvSpPr>
        <p:spPr bwMode="auto">
          <a:xfrm rot="5400000">
            <a:off x="1816608" y="5012627"/>
            <a:ext cx="216352" cy="837190"/>
          </a:xfrm>
          <a:prstGeom prst="leftBrace">
            <a:avLst>
              <a:gd name="adj1" fmla="val 32246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1824" name="Text Box 86"/>
          <p:cNvSpPr txBox="1">
            <a:spLocks noChangeArrowheads="1"/>
          </p:cNvSpPr>
          <p:nvPr/>
        </p:nvSpPr>
        <p:spPr bwMode="auto">
          <a:xfrm>
            <a:off x="1018034" y="5004048"/>
            <a:ext cx="200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 dirty="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25" name="Text Box 87"/>
          <p:cNvSpPr txBox="1">
            <a:spLocks noChangeArrowheads="1"/>
          </p:cNvSpPr>
          <p:nvPr/>
        </p:nvSpPr>
        <p:spPr bwMode="auto">
          <a:xfrm>
            <a:off x="1801377" y="5015864"/>
            <a:ext cx="200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i="1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1826" name="Rectangle 8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SimSun" panose="02010600030101010101" pitchFamily="2" charset="-122"/>
              </a:rPr>
              <a:t>Adjacency </a:t>
            </a:r>
            <a:r>
              <a:rPr lang="en-US" altLang="zh-CN" dirty="0"/>
              <a:t>List for a Digraph</a:t>
            </a:r>
            <a:endParaRPr lang="en-US" altLang="zh-CN" dirty="0" smtClean="0">
              <a:ea typeface="SimSun" panose="02010600030101010101" pitchFamily="2" charset="-122"/>
            </a:endParaRPr>
          </a:p>
        </p:txBody>
      </p:sp>
      <p:sp>
        <p:nvSpPr>
          <p:cNvPr id="31827" name="Text Box 89"/>
          <p:cNvSpPr txBox="1">
            <a:spLocks noChangeArrowheads="1"/>
          </p:cNvSpPr>
          <p:nvPr/>
        </p:nvSpPr>
        <p:spPr bwMode="auto">
          <a:xfrm>
            <a:off x="3802858" y="5580101"/>
            <a:ext cx="21503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F33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list </a:t>
            </a:r>
            <a:r>
              <a:rPr lang="en-US" altLang="zh-CN" dirty="0" smtClean="0">
                <a:solidFill>
                  <a:srgbClr val="FF3300"/>
                </a:solidFill>
                <a:latin typeface="Sitka Text" panose="02000505000000020004" pitchFamily="2" charset="0"/>
                <a:ea typeface="SimSun" panose="02010600030101010101" pitchFamily="2" charset="-122"/>
              </a:rPr>
              <a:t>of neighbors</a:t>
            </a:r>
            <a:endParaRPr lang="en-US" altLang="zh-CN" dirty="0">
              <a:solidFill>
                <a:srgbClr val="FF3300"/>
              </a:solidFill>
              <a:latin typeface="Sitka Text" panose="02000505000000020004" pitchFamily="2" charset="0"/>
              <a:ea typeface="SimSun" panose="0201060003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38466" y="5580101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3" name="表格 92"/>
          <p:cNvGraphicFramePr>
            <a:graphicFrameLocks noGrp="1"/>
          </p:cNvGraphicFramePr>
          <p:nvPr/>
        </p:nvGraphicFramePr>
        <p:xfrm>
          <a:off x="521772" y="5580150"/>
          <a:ext cx="414338" cy="2711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8"/>
              </a:tblGrid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A</a:t>
                      </a:r>
                      <a:endParaRPr lang="zh-CN" altLang="en-US" sz="2000" b="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B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C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D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E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199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</a:rPr>
                        <a:t>F</a:t>
                      </a:r>
                      <a:endParaRPr lang="zh-CN" altLang="en-US" sz="20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6" name="Line 48"/>
          <p:cNvSpPr>
            <a:spLocks noChangeShapeType="1"/>
          </p:cNvSpPr>
          <p:nvPr/>
        </p:nvSpPr>
        <p:spPr bwMode="auto">
          <a:xfrm>
            <a:off x="1179369" y="579662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7" name="Line 49"/>
          <p:cNvSpPr>
            <a:spLocks noChangeShapeType="1"/>
          </p:cNvSpPr>
          <p:nvPr/>
        </p:nvSpPr>
        <p:spPr bwMode="auto">
          <a:xfrm>
            <a:off x="1187703" y="6256109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8" name="Line 50"/>
          <p:cNvSpPr>
            <a:spLocks noChangeShapeType="1"/>
          </p:cNvSpPr>
          <p:nvPr/>
        </p:nvSpPr>
        <p:spPr bwMode="auto">
          <a:xfrm>
            <a:off x="1179369" y="670562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99" name="Line 51"/>
          <p:cNvSpPr>
            <a:spLocks noChangeShapeType="1"/>
          </p:cNvSpPr>
          <p:nvPr/>
        </p:nvSpPr>
        <p:spPr bwMode="auto">
          <a:xfrm>
            <a:off x="1190085" y="7165227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40150" y="5612801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1" kern="1200" dirty="0" smtClean="0">
                          <a:solidFill>
                            <a:srgbClr val="263AF8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1" kern="1200" dirty="0">
                        <a:solidFill>
                          <a:srgbClr val="263AF8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2" name="表格 101"/>
          <p:cNvGraphicFramePr>
            <a:graphicFrameLocks noGrp="1"/>
          </p:cNvGraphicFramePr>
          <p:nvPr/>
        </p:nvGraphicFramePr>
        <p:xfrm>
          <a:off x="1540150" y="6070249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3" name="表格 102"/>
          <p:cNvGraphicFramePr>
            <a:graphicFrameLocks noGrp="1"/>
          </p:cNvGraphicFramePr>
          <p:nvPr/>
        </p:nvGraphicFramePr>
        <p:xfrm>
          <a:off x="1540150" y="652325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6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4" name="表格 103"/>
          <p:cNvGraphicFramePr>
            <a:graphicFrameLocks noGrp="1"/>
          </p:cNvGraphicFramePr>
          <p:nvPr/>
        </p:nvGraphicFramePr>
        <p:xfrm>
          <a:off x="1540150" y="6975107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6" name="Line 48"/>
          <p:cNvSpPr>
            <a:spLocks noChangeShapeType="1"/>
          </p:cNvSpPr>
          <p:nvPr/>
        </p:nvSpPr>
        <p:spPr bwMode="auto">
          <a:xfrm>
            <a:off x="2155239" y="5796624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08" name="Line 50"/>
          <p:cNvSpPr>
            <a:spLocks noChangeShapeType="1"/>
          </p:cNvSpPr>
          <p:nvPr/>
        </p:nvSpPr>
        <p:spPr bwMode="auto">
          <a:xfrm>
            <a:off x="2155239" y="6705621"/>
            <a:ext cx="3524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graphicFrame>
        <p:nvGraphicFramePr>
          <p:cNvPr id="111" name="表格 110"/>
          <p:cNvGraphicFramePr>
            <a:graphicFrameLocks noGrp="1"/>
          </p:cNvGraphicFramePr>
          <p:nvPr/>
        </p:nvGraphicFramePr>
        <p:xfrm>
          <a:off x="2516020" y="5612801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3" name="表格 112"/>
          <p:cNvGraphicFramePr>
            <a:graphicFrameLocks noGrp="1"/>
          </p:cNvGraphicFramePr>
          <p:nvPr/>
        </p:nvGraphicFramePr>
        <p:xfrm>
          <a:off x="2516020" y="6523253"/>
          <a:ext cx="803252" cy="36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26"/>
                <a:gridCol w="401626"/>
              </a:tblGrid>
              <a:tr h="369514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en-US" altLang="zh-CN" sz="1800" b="0" kern="1200" dirty="0" smtClean="0">
                          <a:solidFill>
                            <a:sysClr val="windowText" lastClr="000000"/>
                          </a:solidFill>
                          <a:latin typeface="Sitka Text" panose="02000505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endParaRPr lang="zh-CN" altLang="en-US" sz="1800" b="0" kern="1200" dirty="0">
                        <a:solidFill>
                          <a:sysClr val="windowText" lastClr="000000"/>
                        </a:solidFill>
                        <a:latin typeface="Sitka Text" panose="02000505000000020004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Graph Representations</a:t>
            </a:r>
            <a:endParaRPr lang="zh-CN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342900" y="2843809"/>
            <a:ext cx="6380560" cy="37546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dirty="0"/>
              <a:t>Space </a:t>
            </a:r>
            <a:r>
              <a:rPr lang="en-US" altLang="zh-CN" dirty="0" smtClean="0"/>
              <a:t>requirement: </a:t>
            </a:r>
            <a:r>
              <a:rPr lang="en-US" altLang="zh-CN" dirty="0" smtClean="0">
                <a:ea typeface="SimSun" panose="02010600030101010101" pitchFamily="2" charset="-122"/>
              </a:rPr>
              <a:t>Undirected graphs vs. </a:t>
            </a:r>
            <a:r>
              <a:rPr lang="en-US" altLang="zh-CN" dirty="0" smtClean="0"/>
              <a:t>directed graphs</a:t>
            </a:r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endParaRPr lang="en-US" altLang="zh-CN" dirty="0" smtClean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The adjacency matrix is symmetric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The size of the adjacency list is roughly twice the size of the adjacency list for the corresponding directed graph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4DC7E7A4-653E-42BD-894C-EE2F643C2F10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Graph Representations</a:t>
            </a:r>
            <a:endParaRPr lang="zh-CN" altLang="en-US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134541" y="2483768"/>
            <a:ext cx="6480572" cy="59913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Space </a:t>
            </a:r>
            <a:r>
              <a:rPr lang="en-US" altLang="zh-CN" dirty="0" smtClean="0">
                <a:ea typeface="SimSun" panose="02010600030101010101" pitchFamily="2" charset="-122"/>
              </a:rPr>
              <a:t>requirement</a:t>
            </a:r>
            <a:r>
              <a:rPr lang="zh-CN" altLang="en-US" dirty="0" smtClean="0">
                <a:ea typeface="SimSun" panose="02010600030101010101" pitchFamily="2" charset="-122"/>
              </a:rPr>
              <a:t>：</a:t>
            </a:r>
            <a:r>
              <a:rPr lang="en-US" altLang="zh-CN" dirty="0"/>
              <a:t>adjacency matrix </a:t>
            </a:r>
            <a:r>
              <a:rPr lang="en-US" altLang="zh-CN" dirty="0" smtClean="0"/>
              <a:t>vs</a:t>
            </a:r>
            <a:r>
              <a:rPr lang="en-US" altLang="zh-CN" dirty="0"/>
              <a:t>. adjacency list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The adjacency matrix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</a:t>
            </a:r>
            <a:r>
              <a:rPr lang="en-US" altLang="zh-CN" dirty="0">
                <a:ea typeface="SimSun" panose="02010600030101010101" pitchFamily="2" charset="-122"/>
              </a:rPr>
              <a:t>(|V|</a:t>
            </a:r>
            <a:r>
              <a:rPr lang="en-US" altLang="zh-CN" baseline="30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) vs. the adjacency list </a:t>
            </a: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</a:t>
            </a:r>
            <a:r>
              <a:rPr lang="en-US" altLang="zh-CN" dirty="0">
                <a:ea typeface="SimSun" panose="02010600030101010101" pitchFamily="2" charset="-122"/>
              </a:rPr>
              <a:t>(|V|+|E|)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Is the adjacency list more space efficient?</a:t>
            </a:r>
            <a:endParaRPr lang="en-US" altLang="zh-CN" dirty="0">
              <a:solidFill>
                <a:srgbClr val="FF0000"/>
              </a:solidFill>
              <a:ea typeface="SimSun" panose="02010600030101010101" pitchFamily="2" charset="-122"/>
            </a:endParaRPr>
          </a:p>
          <a:p>
            <a:pPr lvl="1"/>
            <a:endParaRPr lang="en-US" altLang="zh-CN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It depends on the number of edges in the graph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The adjacency matrix requires no overhead for pointers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As the graph becomes </a:t>
            </a:r>
            <a:r>
              <a:rPr lang="en-US" altLang="zh-CN" dirty="0" smtClean="0">
                <a:solidFill>
                  <a:srgbClr val="FF0000"/>
                </a:solidFill>
                <a:ea typeface="SimSun" panose="02010600030101010101" pitchFamily="2" charset="-122"/>
              </a:rPr>
              <a:t>denser </a:t>
            </a:r>
            <a:r>
              <a:rPr lang="en-US" altLang="zh-CN" dirty="0" smtClean="0">
                <a:ea typeface="SimSun" panose="02010600030101010101" pitchFamily="2" charset="-122"/>
              </a:rPr>
              <a:t>(</a:t>
            </a:r>
            <a:r>
              <a:rPr lang="en-US" altLang="zh-CN" dirty="0">
                <a:solidFill>
                  <a:srgbClr val="263AF8"/>
                </a:solidFill>
              </a:rPr>
              <a:t>|</a:t>
            </a:r>
            <a:r>
              <a:rPr lang="en-US" altLang="zh-CN" i="1" dirty="0">
                <a:solidFill>
                  <a:srgbClr val="263AF8"/>
                </a:solidFill>
              </a:rPr>
              <a:t>E</a:t>
            </a:r>
            <a:r>
              <a:rPr lang="en-US" altLang="zh-CN" dirty="0">
                <a:solidFill>
                  <a:srgbClr val="263AF8"/>
                </a:solidFill>
              </a:rPr>
              <a:t>| = </a:t>
            </a:r>
            <a:r>
              <a:rPr lang="en-US" altLang="zh-CN" dirty="0" smtClean="0">
                <a:solidFill>
                  <a:srgbClr val="263AF8"/>
                </a:solidFill>
              </a:rPr>
              <a:t>(</a:t>
            </a:r>
            <a:r>
              <a:rPr lang="el-GR" altLang="zh-CN" dirty="0" smtClean="0">
                <a:solidFill>
                  <a:srgbClr val="263AF8"/>
                </a:solidFill>
              </a:rPr>
              <a:t>Θ</a:t>
            </a:r>
            <a:r>
              <a:rPr lang="en-US" altLang="zh-CN" dirty="0" smtClean="0">
                <a:solidFill>
                  <a:srgbClr val="263AF8"/>
                </a:solidFill>
              </a:rPr>
              <a:t>|</a:t>
            </a:r>
            <a:r>
              <a:rPr lang="en-US" altLang="zh-CN" i="1" dirty="0" smtClean="0">
                <a:solidFill>
                  <a:srgbClr val="263AF8"/>
                </a:solidFill>
              </a:rPr>
              <a:t>V</a:t>
            </a:r>
            <a:r>
              <a:rPr lang="en-US" altLang="zh-CN" dirty="0" smtClean="0">
                <a:solidFill>
                  <a:srgbClr val="263AF8"/>
                </a:solidFill>
              </a:rPr>
              <a:t>|</a:t>
            </a:r>
            <a:r>
              <a:rPr lang="en-US" altLang="zh-CN" baseline="30000" dirty="0" smtClean="0">
                <a:solidFill>
                  <a:srgbClr val="263AF8"/>
                </a:solidFill>
              </a:rPr>
              <a:t>2</a:t>
            </a:r>
            <a:r>
              <a:rPr lang="en-US" altLang="zh-CN" dirty="0" smtClean="0">
                <a:solidFill>
                  <a:srgbClr val="263AF8"/>
                </a:solidFill>
              </a:rPr>
              <a:t>)</a:t>
            </a:r>
            <a:r>
              <a:rPr lang="en-US" altLang="zh-CN" dirty="0" smtClean="0">
                <a:ea typeface="SimSun" panose="02010600030101010101" pitchFamily="2" charset="-122"/>
              </a:rPr>
              <a:t>),</a:t>
            </a:r>
            <a:r>
              <a:rPr lang="en-US" altLang="zh-CN" dirty="0" smtClean="0">
                <a:solidFill>
                  <a:srgbClr val="263AF8"/>
                </a:solidFill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the adjacency matrix becomes relatively more efficient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It is more efficient to use the adjacency list to represent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sparse</a:t>
            </a:r>
            <a:r>
              <a:rPr lang="en-US" altLang="zh-CN" dirty="0">
                <a:ea typeface="SimSun" panose="02010600030101010101" pitchFamily="2" charset="-122"/>
              </a:rPr>
              <a:t> graphs</a:t>
            </a:r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866A2726-19BF-4E54-A34D-C975D128661F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Graph Representations</a:t>
            </a:r>
            <a:endParaRPr lang="zh-CN" altLang="en-US" dirty="0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Example: assume that a vertex index requires 2 bytes, a pointer requires 4 bytes, and an edge weight requires 2 bytes.</a:t>
            </a:r>
            <a:endParaRPr lang="en-US" altLang="zh-CN" sz="2000" dirty="0"/>
          </a:p>
          <a:p>
            <a:pPr lvl="1"/>
            <a:endParaRPr lang="zh-CN" altLang="en-US" sz="1600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64B6445D-D0B8-431C-9A0A-04AD1D6411A3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7655" name="TextBox 6"/>
          <p:cNvSpPr txBox="1">
            <a:spLocks noChangeArrowheads="1"/>
          </p:cNvSpPr>
          <p:nvPr/>
        </p:nvSpPr>
        <p:spPr bwMode="auto">
          <a:xfrm>
            <a:off x="2471106" y="4080635"/>
            <a:ext cx="433752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0" indent="0">
              <a:buFont typeface="Arial" panose="020B0604020202020204" pitchFamily="34" charset="0"/>
              <a:buChar char="•"/>
            </a:pPr>
            <a:r>
              <a:rPr lang="en-US" altLang="zh-CN" dirty="0">
                <a:latin typeface="Sitka Text" panose="02000505000000020004" pitchFamily="2" charset="0"/>
              </a:rPr>
              <a:t>The </a:t>
            </a:r>
            <a:r>
              <a:rPr lang="en-US" altLang="zh-CN" dirty="0">
                <a:solidFill>
                  <a:srgbClr val="263AF8"/>
                </a:solidFill>
                <a:latin typeface="Sitka Text" panose="02000505000000020004" pitchFamily="2" charset="0"/>
              </a:rPr>
              <a:t>adjacency matrix </a:t>
            </a:r>
            <a:r>
              <a:rPr lang="en-US" altLang="zh-CN" dirty="0">
                <a:latin typeface="Sitka Text" panose="02000505000000020004" pitchFamily="2" charset="0"/>
              </a:rPr>
              <a:t>requires 2|V|</a:t>
            </a:r>
            <a:r>
              <a:rPr lang="en-US" altLang="zh-CN" baseline="30000" dirty="0">
                <a:latin typeface="Sitka Text" panose="02000505000000020004" pitchFamily="2" charset="0"/>
              </a:rPr>
              <a:t>2</a:t>
            </a:r>
            <a:r>
              <a:rPr lang="en-US" altLang="zh-CN" dirty="0">
                <a:latin typeface="Sitka Text" panose="02000505000000020004" pitchFamily="2" charset="0"/>
              </a:rPr>
              <a:t> = 50 bytes</a:t>
            </a:r>
            <a:endParaRPr lang="en-US" altLang="zh-CN" baseline="30000" dirty="0">
              <a:latin typeface="Sitka Text" panose="02000505000000020004" pitchFamily="2" charset="0"/>
            </a:endParaRPr>
          </a:p>
          <a:p>
            <a:pPr marL="0" indent="0">
              <a:buFont typeface="Arial" panose="020B0604020202020204" pitchFamily="34" charset="0"/>
              <a:buChar char="•"/>
            </a:pPr>
            <a:r>
              <a:rPr lang="en-US" altLang="zh-CN" dirty="0">
                <a:latin typeface="Sitka Text" panose="02000505000000020004" pitchFamily="2" charset="0"/>
              </a:rPr>
              <a:t>The  </a:t>
            </a:r>
            <a:r>
              <a:rPr lang="en-US" altLang="zh-CN" dirty="0">
                <a:solidFill>
                  <a:srgbClr val="FF0000"/>
                </a:solidFill>
                <a:latin typeface="Sitka Text" panose="02000505000000020004" pitchFamily="2" charset="0"/>
              </a:rPr>
              <a:t>adjacency list </a:t>
            </a:r>
            <a:r>
              <a:rPr lang="en-US" altLang="zh-CN" dirty="0">
                <a:latin typeface="Sitka Text" panose="02000505000000020004" pitchFamily="2" charset="0"/>
              </a:rPr>
              <a:t>requires 4|V|+6|E|= 44 bytes</a:t>
            </a:r>
            <a:endParaRPr lang="en-US" altLang="zh-CN" dirty="0">
              <a:latin typeface="Sitka Text" panose="02000505000000020004" pitchFamily="2" charset="0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2447241" y="6557168"/>
            <a:ext cx="433593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Char char="•"/>
              <a:defRPr>
                <a:latin typeface="Sitka Text" panose="02000505000000020004" pitchFamily="2" charset="0"/>
                <a:ea typeface="SimSun" panose="02010600030101010101" pitchFamily="2" charset="-122"/>
              </a:defRPr>
            </a:lvl1pPr>
            <a:lvl2pPr marL="742950" indent="-285750">
              <a:defRPr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263AF8"/>
                </a:solidFill>
              </a:rPr>
              <a:t>adjacency matrix </a:t>
            </a:r>
            <a:r>
              <a:rPr lang="en-US" altLang="zh-CN" dirty="0"/>
              <a:t>requires 2|V|</a:t>
            </a:r>
            <a:r>
              <a:rPr lang="en-US" altLang="zh-CN" baseline="30000" dirty="0"/>
              <a:t>2</a:t>
            </a:r>
            <a:r>
              <a:rPr lang="en-US" altLang="zh-CN" dirty="0"/>
              <a:t> = 50 bytes</a:t>
            </a:r>
            <a:endParaRPr lang="en-US" altLang="zh-CN" dirty="0"/>
          </a:p>
          <a:p>
            <a:r>
              <a:rPr lang="en-US" altLang="zh-CN" dirty="0"/>
              <a:t>The  </a:t>
            </a:r>
            <a:r>
              <a:rPr lang="en-US" altLang="zh-CN" dirty="0">
                <a:solidFill>
                  <a:srgbClr val="FF0000"/>
                </a:solidFill>
              </a:rPr>
              <a:t>adjacency list</a:t>
            </a:r>
            <a:r>
              <a:rPr lang="en-US" altLang="zh-CN" dirty="0"/>
              <a:t> requires 4|V|+6|E</a:t>
            </a:r>
            <a:r>
              <a:rPr lang="zh-CN" altLang="en-US" dirty="0"/>
              <a:t>*</a:t>
            </a:r>
            <a:r>
              <a:rPr lang="en-US" altLang="zh-CN" dirty="0"/>
              <a:t>2|= 92 bytes</a:t>
            </a:r>
            <a:endParaRPr lang="en-US" altLang="zh-CN" dirty="0"/>
          </a:p>
        </p:txBody>
      </p:sp>
      <p:sp>
        <p:nvSpPr>
          <p:cNvPr id="2" name="Rectangle 1"/>
          <p:cNvSpPr/>
          <p:nvPr/>
        </p:nvSpPr>
        <p:spPr>
          <a:xfrm>
            <a:off x="861396" y="5381625"/>
            <a:ext cx="809625" cy="1619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0" name="Rectangle 9"/>
          <p:cNvSpPr/>
          <p:nvPr/>
        </p:nvSpPr>
        <p:spPr>
          <a:xfrm>
            <a:off x="806627" y="4435079"/>
            <a:ext cx="323850" cy="3524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/>
          </a:p>
        </p:txBody>
      </p:sp>
      <p:sp>
        <p:nvSpPr>
          <p:cNvPr id="11" name="Oval 68"/>
          <p:cNvSpPr>
            <a:spLocks noChangeArrowheads="1"/>
          </p:cNvSpPr>
          <p:nvPr/>
        </p:nvSpPr>
        <p:spPr bwMode="auto">
          <a:xfrm>
            <a:off x="321453" y="616944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2" name="Oval 69"/>
          <p:cNvSpPr>
            <a:spLocks noChangeArrowheads="1"/>
          </p:cNvSpPr>
          <p:nvPr/>
        </p:nvSpPr>
        <p:spPr bwMode="auto">
          <a:xfrm>
            <a:off x="1893435" y="6169448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3" name="Oval 70"/>
          <p:cNvSpPr>
            <a:spLocks noChangeArrowheads="1"/>
          </p:cNvSpPr>
          <p:nvPr/>
        </p:nvSpPr>
        <p:spPr bwMode="auto">
          <a:xfrm>
            <a:off x="1094457" y="687027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4" name="Oval 71"/>
          <p:cNvSpPr>
            <a:spLocks noChangeArrowheads="1"/>
          </p:cNvSpPr>
          <p:nvPr/>
        </p:nvSpPr>
        <p:spPr bwMode="auto">
          <a:xfrm>
            <a:off x="1884254" y="7571105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5" name="Oval 72"/>
          <p:cNvSpPr>
            <a:spLocks noChangeArrowheads="1"/>
          </p:cNvSpPr>
          <p:nvPr/>
        </p:nvSpPr>
        <p:spPr bwMode="auto">
          <a:xfrm>
            <a:off x="306736" y="7571105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6" name="AutoShape 74"/>
          <p:cNvCxnSpPr>
            <a:cxnSpLocks noChangeShapeType="1"/>
            <a:stCxn id="14" idx="0"/>
            <a:endCxn id="12" idx="4"/>
          </p:cNvCxnSpPr>
          <p:nvPr/>
        </p:nvCxnSpPr>
        <p:spPr bwMode="auto">
          <a:xfrm flipV="1">
            <a:off x="2084279" y="6569498"/>
            <a:ext cx="9181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76"/>
          <p:cNvCxnSpPr>
            <a:cxnSpLocks noChangeShapeType="1"/>
            <a:stCxn id="11" idx="4"/>
            <a:endCxn id="15" idx="0"/>
          </p:cNvCxnSpPr>
          <p:nvPr/>
        </p:nvCxnSpPr>
        <p:spPr bwMode="auto">
          <a:xfrm flipH="1">
            <a:off x="506761" y="6569498"/>
            <a:ext cx="14717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77"/>
          <p:cNvCxnSpPr>
            <a:cxnSpLocks noChangeShapeType="1"/>
            <a:stCxn id="13" idx="3"/>
            <a:endCxn id="15" idx="7"/>
          </p:cNvCxnSpPr>
          <p:nvPr/>
        </p:nvCxnSpPr>
        <p:spPr bwMode="auto">
          <a:xfrm flipH="1">
            <a:off x="648200" y="7211740"/>
            <a:ext cx="504843" cy="4179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78"/>
          <p:cNvCxnSpPr>
            <a:cxnSpLocks noChangeShapeType="1"/>
            <a:stCxn id="12" idx="3"/>
            <a:endCxn id="13" idx="7"/>
          </p:cNvCxnSpPr>
          <p:nvPr/>
        </p:nvCxnSpPr>
        <p:spPr bwMode="auto">
          <a:xfrm flipH="1">
            <a:off x="1435921" y="6510912"/>
            <a:ext cx="516100" cy="417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Oval 68"/>
          <p:cNvSpPr>
            <a:spLocks noChangeArrowheads="1"/>
          </p:cNvSpPr>
          <p:nvPr/>
        </p:nvSpPr>
        <p:spPr bwMode="auto">
          <a:xfrm>
            <a:off x="376848" y="385349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A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1" name="Oval 69"/>
          <p:cNvSpPr>
            <a:spLocks noChangeArrowheads="1"/>
          </p:cNvSpPr>
          <p:nvPr/>
        </p:nvSpPr>
        <p:spPr bwMode="auto">
          <a:xfrm>
            <a:off x="1948830" y="385349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B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2" name="Oval 70"/>
          <p:cNvSpPr>
            <a:spLocks noChangeArrowheads="1"/>
          </p:cNvSpPr>
          <p:nvPr/>
        </p:nvSpPr>
        <p:spPr bwMode="auto">
          <a:xfrm>
            <a:off x="1149852" y="4554327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>
                <a:latin typeface="Times New Roman" panose="02020603050405020304" pitchFamily="18" charset="0"/>
                <a:ea typeface="SimSun" panose="02010600030101010101" pitchFamily="2" charset="-122"/>
              </a:rPr>
              <a:t>C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3" name="Oval 71"/>
          <p:cNvSpPr>
            <a:spLocks noChangeArrowheads="1"/>
          </p:cNvSpPr>
          <p:nvPr/>
        </p:nvSpPr>
        <p:spPr bwMode="auto">
          <a:xfrm>
            <a:off x="1939649" y="525515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E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64" name="Oval 72"/>
          <p:cNvSpPr>
            <a:spLocks noChangeArrowheads="1"/>
          </p:cNvSpPr>
          <p:nvPr/>
        </p:nvSpPr>
        <p:spPr bwMode="auto">
          <a:xfrm>
            <a:off x="362131" y="5255156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</a:t>
            </a:r>
            <a:endParaRPr lang="en-US" altLang="zh-CN" sz="18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65" name="AutoShape 74"/>
          <p:cNvCxnSpPr>
            <a:cxnSpLocks noChangeShapeType="1"/>
            <a:stCxn id="63" idx="0"/>
            <a:endCxn id="61" idx="4"/>
          </p:cNvCxnSpPr>
          <p:nvPr/>
        </p:nvCxnSpPr>
        <p:spPr bwMode="auto">
          <a:xfrm flipV="1">
            <a:off x="2139674" y="4253549"/>
            <a:ext cx="9181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76"/>
          <p:cNvCxnSpPr>
            <a:cxnSpLocks noChangeShapeType="1"/>
            <a:stCxn id="60" idx="4"/>
            <a:endCxn id="64" idx="0"/>
          </p:cNvCxnSpPr>
          <p:nvPr/>
        </p:nvCxnSpPr>
        <p:spPr bwMode="auto">
          <a:xfrm flipH="1">
            <a:off x="562156" y="4253549"/>
            <a:ext cx="14717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77"/>
          <p:cNvCxnSpPr>
            <a:cxnSpLocks noChangeShapeType="1"/>
            <a:stCxn id="62" idx="3"/>
            <a:endCxn id="64" idx="7"/>
          </p:cNvCxnSpPr>
          <p:nvPr/>
        </p:nvCxnSpPr>
        <p:spPr bwMode="auto">
          <a:xfrm flipH="1">
            <a:off x="703595" y="4895791"/>
            <a:ext cx="504843" cy="4179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AutoShape 78"/>
          <p:cNvCxnSpPr>
            <a:cxnSpLocks noChangeShapeType="1"/>
            <a:stCxn id="61" idx="3"/>
            <a:endCxn id="62" idx="7"/>
          </p:cNvCxnSpPr>
          <p:nvPr/>
        </p:nvCxnSpPr>
        <p:spPr bwMode="auto">
          <a:xfrm flipH="1">
            <a:off x="1491316" y="4194963"/>
            <a:ext cx="516100" cy="417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AutoShape 76"/>
          <p:cNvCxnSpPr>
            <a:cxnSpLocks noChangeShapeType="1"/>
            <a:stCxn id="11" idx="5"/>
            <a:endCxn id="13" idx="1"/>
          </p:cNvCxnSpPr>
          <p:nvPr/>
        </p:nvCxnSpPr>
        <p:spPr bwMode="auto">
          <a:xfrm>
            <a:off x="662917" y="6510912"/>
            <a:ext cx="490126" cy="417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88640" y="467544"/>
            <a:ext cx="6481242" cy="1767416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Graph implementations</a:t>
            </a:r>
            <a:endParaRPr lang="zh-CN" altLang="en-US" dirty="0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42901" y="1835696"/>
            <a:ext cx="6326981" cy="6984775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008000"/>
                </a:solidFill>
              </a:rPr>
              <a:t>//A general-purpose graph abstract class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20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class Graph {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public: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8000"/>
                </a:solidFill>
              </a:rPr>
              <a:t>//initialize a graph with n vertices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virtual void </a:t>
            </a:r>
            <a:r>
              <a:rPr lang="en-US" altLang="zh-CN" sz="2000" dirty="0" err="1">
                <a:solidFill>
                  <a:srgbClr val="FF0000"/>
                </a:solidFill>
              </a:rPr>
              <a:t>Init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n) =0;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000" dirty="0" smtClean="0"/>
              <a:t>  </a:t>
            </a:r>
            <a:endParaRPr lang="en-US" altLang="zh-CN" sz="10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8000"/>
                </a:solidFill>
              </a:rPr>
              <a:t>// return #vertices 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virtual void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en-US" altLang="zh-CN" sz="2000" dirty="0"/>
              <a:t>() =0; 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8000"/>
                </a:solidFill>
              </a:rPr>
              <a:t>// return #edges 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B050"/>
                </a:solidFill>
              </a:rPr>
              <a:t>  </a:t>
            </a:r>
            <a:r>
              <a:rPr lang="en-US" altLang="zh-CN" sz="2000" dirty="0"/>
              <a:t>virtual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e</a:t>
            </a:r>
            <a:r>
              <a:rPr lang="en-US" altLang="zh-CN" sz="2000" dirty="0"/>
              <a:t>() =0; </a:t>
            </a:r>
            <a:r>
              <a:rPr lang="en-US" altLang="zh-CN" sz="2000" dirty="0" smtClean="0"/>
              <a:t>  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zh-CN" sz="10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B050"/>
                </a:solidFill>
              </a:rPr>
              <a:t>  </a:t>
            </a:r>
            <a:r>
              <a:rPr lang="en-US" altLang="zh-CN" sz="2000" dirty="0">
                <a:solidFill>
                  <a:srgbClr val="008000"/>
                </a:solidFill>
              </a:rPr>
              <a:t>// Return v’s first and next neighbor 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virtual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first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v) =0;</a:t>
            </a:r>
            <a:endParaRPr lang="en-US" altLang="zh-CN" sz="2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virtual </a:t>
            </a:r>
            <a:r>
              <a:rPr lang="en-US" altLang="zh-CN" sz="2000" dirty="0" smtClean="0">
                <a:solidFill>
                  <a:srgbClr val="FF0000"/>
                </a:solidFill>
              </a:rPr>
              <a:t>next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v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w) =0</a:t>
            </a:r>
            <a:r>
              <a:rPr lang="en-US" altLang="zh-CN" sz="2000" dirty="0" smtClean="0"/>
              <a:t>;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1000" dirty="0" smtClean="0"/>
              <a:t> </a:t>
            </a:r>
            <a:endParaRPr lang="en-US" altLang="zh-CN" sz="1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 smtClean="0"/>
              <a:t> </a:t>
            </a:r>
            <a:r>
              <a:rPr lang="en-US" altLang="zh-CN" sz="2000" dirty="0">
                <a:solidFill>
                  <a:srgbClr val="008000"/>
                </a:solidFill>
              </a:rPr>
              <a:t>// Set or return the weight for an edge (v1, v2)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virtual void </a:t>
            </a:r>
            <a:r>
              <a:rPr lang="en-US" altLang="zh-CN" sz="2000" dirty="0" err="1">
                <a:solidFill>
                  <a:srgbClr val="FF0000"/>
                </a:solidFill>
              </a:rPr>
              <a:t>setEdge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v1,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v2,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wgt</a:t>
            </a:r>
            <a:r>
              <a:rPr lang="en-US" altLang="zh-CN" sz="2000" dirty="0"/>
              <a:t>) =0; virtual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weight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v1,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v2) =0;</a:t>
            </a:r>
            <a:endParaRPr lang="en-US" altLang="zh-CN" sz="2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1000" dirty="0"/>
              <a:t> </a:t>
            </a:r>
            <a:endParaRPr lang="en-US" altLang="zh-CN" sz="1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 smtClean="0"/>
              <a:t>  </a:t>
            </a:r>
            <a:r>
              <a:rPr lang="en-US" altLang="zh-CN" sz="2000" dirty="0">
                <a:solidFill>
                  <a:srgbClr val="008000"/>
                </a:solidFill>
              </a:rPr>
              <a:t>// Delete the edge (v1, v2)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 smtClean="0"/>
              <a:t>  virtual void 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delEdge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v1,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v2) =0;</a:t>
            </a:r>
            <a:endParaRPr lang="en-US" altLang="zh-CN" sz="2000" dirty="0" smtClean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1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8000"/>
                </a:solidFill>
              </a:rPr>
              <a:t>//determine if an edge (v1, v2) is in the graph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virtual bool </a:t>
            </a:r>
            <a:r>
              <a:rPr lang="en-US" altLang="zh-CN" sz="2000" dirty="0" err="1">
                <a:solidFill>
                  <a:srgbClr val="FF0000"/>
                </a:solidFill>
              </a:rPr>
              <a:t>isEdge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v1,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v2) =0;</a:t>
            </a:r>
            <a:endParaRPr lang="en-US" altLang="zh-CN" sz="2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endParaRPr lang="en-US" altLang="zh-CN" sz="1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8000"/>
                </a:solidFill>
              </a:rPr>
              <a:t>//Get and set the mark value for a vertex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virtual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FF0000"/>
                </a:solidFill>
              </a:rPr>
              <a:t>getMark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v) =0;</a:t>
            </a:r>
            <a:endParaRPr lang="en-US" altLang="zh-CN" sz="2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  virtual void </a:t>
            </a:r>
            <a:r>
              <a:rPr lang="en-US" altLang="zh-CN" sz="2000" dirty="0" err="1">
                <a:solidFill>
                  <a:srgbClr val="FF0000"/>
                </a:solidFill>
              </a:rPr>
              <a:t>setMark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v,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) =0;</a:t>
            </a:r>
            <a:endParaRPr lang="en-US" altLang="zh-CN" sz="2000" dirty="0"/>
          </a:p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CN" sz="2000" dirty="0"/>
              <a:t>};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/>
              <a:t>  </a:t>
            </a:r>
            <a:endParaRPr lang="zh-CN" altLang="en-US" sz="2000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DEBB5E4-0A43-4C86-B1C5-F09499BBDD5A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04664" y="467544"/>
            <a:ext cx="6336704" cy="1767416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dirty="0"/>
              <a:t>Use functions </a:t>
            </a:r>
            <a:r>
              <a:rPr lang="en-US" altLang="zh-CN" dirty="0">
                <a:cs typeface="Courier New" panose="02070309020205020404" pitchFamily="49" charset="0"/>
              </a:rPr>
              <a:t>first()</a:t>
            </a:r>
            <a:r>
              <a:rPr lang="en-US" altLang="zh-CN" dirty="0"/>
              <a:t> and </a:t>
            </a:r>
            <a:r>
              <a:rPr lang="en-US" altLang="zh-CN" dirty="0">
                <a:cs typeface="Courier New" panose="02070309020205020404" pitchFamily="49" charset="0"/>
              </a:rPr>
              <a:t>next()</a:t>
            </a:r>
            <a:r>
              <a:rPr lang="en-US" altLang="zh-CN" dirty="0"/>
              <a:t> to </a:t>
            </a:r>
            <a:r>
              <a:rPr lang="en-US" altLang="zh-CN" dirty="0" smtClean="0"/>
              <a:t>visit the </a:t>
            </a:r>
            <a:r>
              <a:rPr lang="en-US" altLang="zh-CN" dirty="0"/>
              <a:t>neighbors of a vertex </a:t>
            </a:r>
            <a:r>
              <a:rPr lang="en-US" altLang="zh-CN" dirty="0">
                <a:cs typeface="Courier New" panose="02070309020205020404" pitchFamily="49" charset="0"/>
              </a:rPr>
              <a:t>v</a:t>
            </a:r>
            <a:endParaRPr lang="en-US" altLang="zh-CN" dirty="0">
              <a:cs typeface="Courier New" panose="02070309020205020404" pitchFamily="49" charset="0"/>
            </a:endParaRPr>
          </a:p>
          <a:p>
            <a:pPr lvl="2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 smtClean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 smtClean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r>
              <a:rPr lang="en-US" altLang="zh-CN" dirty="0" smtClean="0">
                <a:cs typeface="Courier New" panose="02070309020205020404" pitchFamily="49" charset="0"/>
              </a:rPr>
              <a:t>If </a:t>
            </a:r>
            <a:r>
              <a:rPr lang="en-US" altLang="zh-CN" dirty="0">
                <a:cs typeface="Courier New" panose="02070309020205020404" pitchFamily="49" charset="0"/>
              </a:rPr>
              <a:t>v = 1, w = 0, 3, </a:t>
            </a:r>
            <a:r>
              <a:rPr lang="en-US" altLang="zh-CN" dirty="0" smtClean="0">
                <a:cs typeface="Courier New" panose="02070309020205020404" pitchFamily="49" charset="0"/>
              </a:rPr>
              <a:t>4</a:t>
            </a:r>
            <a:endParaRPr lang="en-US" altLang="zh-CN" dirty="0" smtClean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 smtClean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 smtClean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4" eaLnBrk="1" hangingPunct="1">
              <a:defRPr/>
            </a:pPr>
            <a:endParaRPr lang="en-US" altLang="zh-CN" sz="1000" dirty="0">
              <a:cs typeface="Courier New" panose="02070309020205020404" pitchFamily="49" charset="0"/>
            </a:endParaRPr>
          </a:p>
          <a:p>
            <a:pPr lvl="4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4CFD12F-1BC5-4728-8F50-004AD2F60A6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4" name="TextBox 3"/>
          <p:cNvSpPr txBox="1"/>
          <p:nvPr/>
        </p:nvSpPr>
        <p:spPr>
          <a:xfrm>
            <a:off x="531526" y="3620529"/>
            <a:ext cx="5885152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rgbClr val="330066"/>
              </a:buClr>
              <a:buSzPct val="70000"/>
              <a:defRPr/>
            </a:pPr>
            <a:r>
              <a:rPr lang="en-US" altLang="zh-CN" sz="2000" kern="0" dirty="0">
                <a:solidFill>
                  <a:srgbClr val="000000"/>
                </a:solidFill>
                <a:latin typeface="Sitka Text" panose="02000505000000020004" pitchFamily="2" charset="0"/>
                <a:ea typeface="SimSun"/>
                <a:cs typeface="Courier New" panose="02070309020205020404" pitchFamily="49" charset="0"/>
              </a:rPr>
              <a:t>for(w=G-&gt;first(v); w&lt;G-&gt;n(); w=G-&gt;next(</a:t>
            </a:r>
            <a:r>
              <a:rPr lang="en-US" altLang="zh-CN" sz="2000" kern="0" dirty="0" err="1">
                <a:solidFill>
                  <a:srgbClr val="000000"/>
                </a:solidFill>
                <a:latin typeface="Sitka Text" panose="02000505000000020004" pitchFamily="2" charset="0"/>
                <a:ea typeface="SimSun"/>
                <a:cs typeface="Courier New" panose="02070309020205020404" pitchFamily="49" charset="0"/>
              </a:rPr>
              <a:t>v,w</a:t>
            </a:r>
            <a:r>
              <a:rPr lang="en-US" altLang="zh-CN" sz="2000" kern="0" dirty="0">
                <a:solidFill>
                  <a:srgbClr val="000000"/>
                </a:solidFill>
                <a:latin typeface="Sitka Text" panose="02000505000000020004" pitchFamily="2" charset="0"/>
                <a:ea typeface="SimSun"/>
                <a:cs typeface="Courier New" panose="02070309020205020404" pitchFamily="49" charset="0"/>
              </a:rPr>
              <a:t>))</a:t>
            </a:r>
            <a:endParaRPr lang="en-US" altLang="zh-CN" sz="2000" kern="0" dirty="0">
              <a:solidFill>
                <a:srgbClr val="000000"/>
              </a:solidFill>
              <a:latin typeface="Sitka Text" panose="02000505000000020004" pitchFamily="2" charset="0"/>
              <a:ea typeface="SimSun"/>
              <a:cs typeface="Courier New" panose="02070309020205020404" pitchFamily="49" charset="0"/>
            </a:endParaRPr>
          </a:p>
        </p:txBody>
      </p:sp>
      <p:sp>
        <p:nvSpPr>
          <p:cNvPr id="7" name="Oval 68"/>
          <p:cNvSpPr>
            <a:spLocks noChangeArrowheads="1"/>
          </p:cNvSpPr>
          <p:nvPr/>
        </p:nvSpPr>
        <p:spPr bwMode="auto">
          <a:xfrm>
            <a:off x="3933056" y="477910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8" name="Oval 69"/>
          <p:cNvSpPr>
            <a:spLocks noChangeArrowheads="1"/>
          </p:cNvSpPr>
          <p:nvPr/>
        </p:nvSpPr>
        <p:spPr bwMode="auto">
          <a:xfrm>
            <a:off x="5505038" y="477910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9" name="Oval 70"/>
          <p:cNvSpPr>
            <a:spLocks noChangeArrowheads="1"/>
          </p:cNvSpPr>
          <p:nvPr/>
        </p:nvSpPr>
        <p:spPr bwMode="auto">
          <a:xfrm>
            <a:off x="4706060" y="547993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0" name="Oval 71"/>
          <p:cNvSpPr>
            <a:spLocks noChangeArrowheads="1"/>
          </p:cNvSpPr>
          <p:nvPr/>
        </p:nvSpPr>
        <p:spPr bwMode="auto">
          <a:xfrm>
            <a:off x="5495857" y="618075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1" name="Oval 72"/>
          <p:cNvSpPr>
            <a:spLocks noChangeArrowheads="1"/>
          </p:cNvSpPr>
          <p:nvPr/>
        </p:nvSpPr>
        <p:spPr bwMode="auto">
          <a:xfrm>
            <a:off x="3918339" y="618075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12" name="AutoShape 74"/>
          <p:cNvCxnSpPr>
            <a:cxnSpLocks noChangeShapeType="1"/>
            <a:stCxn id="10" idx="0"/>
            <a:endCxn id="8" idx="4"/>
          </p:cNvCxnSpPr>
          <p:nvPr/>
        </p:nvCxnSpPr>
        <p:spPr bwMode="auto">
          <a:xfrm flipV="1">
            <a:off x="5695882" y="5179152"/>
            <a:ext cx="9181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AutoShape 76"/>
          <p:cNvCxnSpPr>
            <a:cxnSpLocks noChangeShapeType="1"/>
            <a:stCxn id="7" idx="4"/>
            <a:endCxn id="11" idx="0"/>
          </p:cNvCxnSpPr>
          <p:nvPr/>
        </p:nvCxnSpPr>
        <p:spPr bwMode="auto">
          <a:xfrm flipH="1">
            <a:off x="4118364" y="5179152"/>
            <a:ext cx="14717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AutoShape 77"/>
          <p:cNvCxnSpPr>
            <a:cxnSpLocks noChangeShapeType="1"/>
            <a:stCxn id="9" idx="3"/>
            <a:endCxn id="11" idx="7"/>
          </p:cNvCxnSpPr>
          <p:nvPr/>
        </p:nvCxnSpPr>
        <p:spPr bwMode="auto">
          <a:xfrm flipH="1">
            <a:off x="4259803" y="5821394"/>
            <a:ext cx="504843" cy="4179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AutoShape 78"/>
          <p:cNvCxnSpPr>
            <a:cxnSpLocks noChangeShapeType="1"/>
            <a:stCxn id="8" idx="3"/>
            <a:endCxn id="9" idx="7"/>
          </p:cNvCxnSpPr>
          <p:nvPr/>
        </p:nvCxnSpPr>
        <p:spPr bwMode="auto">
          <a:xfrm flipH="1">
            <a:off x="5047524" y="5120566"/>
            <a:ext cx="516100" cy="417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76"/>
          <p:cNvCxnSpPr>
            <a:cxnSpLocks noChangeShapeType="1"/>
            <a:stCxn id="7" idx="5"/>
            <a:endCxn id="9" idx="1"/>
          </p:cNvCxnSpPr>
          <p:nvPr/>
        </p:nvCxnSpPr>
        <p:spPr bwMode="auto">
          <a:xfrm>
            <a:off x="4274520" y="5120566"/>
            <a:ext cx="490126" cy="417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连接符 4"/>
          <p:cNvCxnSpPr>
            <a:stCxn id="11" idx="6"/>
            <a:endCxn id="10" idx="2"/>
          </p:cNvCxnSpPr>
          <p:nvPr/>
        </p:nvCxnSpPr>
        <p:spPr>
          <a:xfrm>
            <a:off x="4318389" y="6380784"/>
            <a:ext cx="117746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04664" y="467544"/>
            <a:ext cx="6336704" cy="1767416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dirty="0" smtClean="0">
                <a:cs typeface="Courier New" panose="02070309020205020404" pitchFamily="49" charset="0"/>
              </a:rPr>
              <a:t>For </a:t>
            </a:r>
            <a:r>
              <a:rPr lang="en-US" altLang="zh-CN" dirty="0">
                <a:cs typeface="Courier New" panose="02070309020205020404" pitchFamily="49" charset="0"/>
              </a:rPr>
              <a:t>adjacency matrix implementation</a:t>
            </a:r>
            <a:endParaRPr lang="en-US" altLang="zh-CN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r>
              <a:rPr lang="en-US" altLang="zh-CN" dirty="0">
                <a:cs typeface="Courier New" panose="02070309020205020404" pitchFamily="49" charset="0"/>
              </a:rPr>
              <a:t>Function </a:t>
            </a:r>
            <a:r>
              <a:rPr lang="en-US" altLang="zh-CN" dirty="0">
                <a:solidFill>
                  <a:srgbClr val="FF0000"/>
                </a:solidFill>
                <a:cs typeface="Courier New" panose="02070309020205020404" pitchFamily="49" charset="0"/>
              </a:rPr>
              <a:t>first</a:t>
            </a:r>
            <a:r>
              <a:rPr lang="en-US" altLang="zh-CN" dirty="0">
                <a:cs typeface="Courier New" panose="02070309020205020404" pitchFamily="49" charset="0"/>
              </a:rPr>
              <a:t>() locates the first edge of vertex </a:t>
            </a:r>
            <a:r>
              <a:rPr lang="en-US" altLang="zh-CN" dirty="0" err="1">
                <a:cs typeface="Courier New" panose="02070309020205020404" pitchFamily="49" charset="0"/>
              </a:rPr>
              <a:t>i</a:t>
            </a:r>
            <a:r>
              <a:rPr lang="en-US" altLang="zh-CN" dirty="0">
                <a:cs typeface="Courier New" panose="02070309020205020404" pitchFamily="49" charset="0"/>
              </a:rPr>
              <a:t> by beginning with edge (</a:t>
            </a:r>
            <a:r>
              <a:rPr lang="en-US" altLang="zh-CN" dirty="0" err="1">
                <a:cs typeface="Courier New" panose="02070309020205020404" pitchFamily="49" charset="0"/>
              </a:rPr>
              <a:t>i</a:t>
            </a:r>
            <a:r>
              <a:rPr lang="en-US" altLang="zh-CN" dirty="0">
                <a:cs typeface="Courier New" panose="02070309020205020404" pitchFamily="49" charset="0"/>
              </a:rPr>
              <a:t>, 0) and scanning through row </a:t>
            </a:r>
            <a:r>
              <a:rPr lang="en-US" altLang="zh-CN" dirty="0" err="1">
                <a:cs typeface="Courier New" panose="02070309020205020404" pitchFamily="49" charset="0"/>
              </a:rPr>
              <a:t>i</a:t>
            </a:r>
            <a:r>
              <a:rPr lang="en-US" altLang="zh-CN" dirty="0">
                <a:cs typeface="Courier New" panose="02070309020205020404" pitchFamily="49" charset="0"/>
              </a:rPr>
              <a:t> until an edge is </a:t>
            </a:r>
            <a:r>
              <a:rPr lang="en-US" altLang="zh-CN" dirty="0" smtClean="0">
                <a:cs typeface="Courier New" panose="02070309020205020404" pitchFamily="49" charset="0"/>
              </a:rPr>
              <a:t>found</a:t>
            </a:r>
            <a:endParaRPr lang="en-US" altLang="zh-CN" dirty="0" smtClean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endParaRPr lang="en-US" altLang="zh-CN" dirty="0">
              <a:cs typeface="Courier New" panose="02070309020205020404" pitchFamily="49" charset="0"/>
            </a:endParaRPr>
          </a:p>
          <a:p>
            <a:pPr lvl="1" eaLnBrk="1" hangingPunct="1">
              <a:defRPr/>
            </a:pPr>
            <a:r>
              <a:rPr lang="en-US" altLang="zh-CN" dirty="0">
                <a:cs typeface="Courier New" panose="02070309020205020404" pitchFamily="49" charset="0"/>
              </a:rPr>
              <a:t>Function </a:t>
            </a:r>
            <a:r>
              <a:rPr lang="en-US" altLang="zh-CN" dirty="0">
                <a:solidFill>
                  <a:srgbClr val="FF0000"/>
                </a:solidFill>
                <a:cs typeface="Courier New" panose="02070309020205020404" pitchFamily="49" charset="0"/>
              </a:rPr>
              <a:t>next</a:t>
            </a:r>
            <a:r>
              <a:rPr lang="en-US" altLang="zh-CN" dirty="0">
                <a:cs typeface="Courier New" panose="02070309020205020404" pitchFamily="49" charset="0"/>
              </a:rPr>
              <a:t>() locates the edge following edge (</a:t>
            </a:r>
            <a:r>
              <a:rPr lang="en-US" altLang="zh-CN" dirty="0" err="1">
                <a:cs typeface="Courier New" panose="02070309020205020404" pitchFamily="49" charset="0"/>
              </a:rPr>
              <a:t>i</a:t>
            </a:r>
            <a:r>
              <a:rPr lang="en-US" altLang="zh-CN" dirty="0">
                <a:cs typeface="Courier New" panose="02070309020205020404" pitchFamily="49" charset="0"/>
              </a:rPr>
              <a:t>, j) by continuing down the row </a:t>
            </a:r>
            <a:r>
              <a:rPr lang="en-US" altLang="zh-CN" dirty="0" err="1">
                <a:cs typeface="Courier New" panose="02070309020205020404" pitchFamily="49" charset="0"/>
              </a:rPr>
              <a:t>i</a:t>
            </a:r>
            <a:r>
              <a:rPr lang="en-US" altLang="zh-CN" dirty="0">
                <a:cs typeface="Courier New" panose="02070309020205020404" pitchFamily="49" charset="0"/>
              </a:rPr>
              <a:t> starting at position j+1.</a:t>
            </a:r>
            <a:endParaRPr lang="zh-CN" altLang="en-US" dirty="0">
              <a:cs typeface="Courier New" panose="02070309020205020404" pitchFamily="49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4CFD12F-1BC5-4728-8F50-004AD2F60A60}" type="slidenum">
              <a:rPr lang="en-US" altLang="zh-CN" smtClean="0"/>
            </a:fld>
            <a:endParaRPr lang="en-US" altLang="zh-CN" smtClean="0"/>
          </a:p>
        </p:txBody>
      </p:sp>
      <p:sp>
        <p:nvSpPr>
          <p:cNvPr id="29" name="AutoShape 21"/>
          <p:cNvSpPr/>
          <p:nvPr/>
        </p:nvSpPr>
        <p:spPr bwMode="auto">
          <a:xfrm>
            <a:off x="3708448" y="6007460"/>
            <a:ext cx="114300" cy="2214172"/>
          </a:xfrm>
          <a:prstGeom prst="leftBracket">
            <a:avLst>
              <a:gd name="adj" fmla="val 237519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0" name="AutoShape 22"/>
          <p:cNvSpPr/>
          <p:nvPr/>
        </p:nvSpPr>
        <p:spPr bwMode="auto">
          <a:xfrm>
            <a:off x="6074420" y="6007460"/>
            <a:ext cx="114300" cy="2214172"/>
          </a:xfrm>
          <a:prstGeom prst="rightBracket">
            <a:avLst>
              <a:gd name="adj" fmla="val 183333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500">
              <a:ea typeface="SimSun" panose="02010600030101010101" pitchFamily="2" charset="-122"/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3888232" y="5543374"/>
            <a:ext cx="22028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0     1     2     3     4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3308209" y="6001670"/>
            <a:ext cx="27828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0       0     1     0     0     1    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0" name="Oval 68"/>
          <p:cNvSpPr>
            <a:spLocks noChangeArrowheads="1"/>
          </p:cNvSpPr>
          <p:nvPr/>
        </p:nvSpPr>
        <p:spPr bwMode="auto">
          <a:xfrm>
            <a:off x="651467" y="604900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0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1" name="Oval 69"/>
          <p:cNvSpPr>
            <a:spLocks noChangeArrowheads="1"/>
          </p:cNvSpPr>
          <p:nvPr/>
        </p:nvSpPr>
        <p:spPr bwMode="auto">
          <a:xfrm>
            <a:off x="2223449" y="6049002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2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2" name="Oval 70"/>
          <p:cNvSpPr>
            <a:spLocks noChangeArrowheads="1"/>
          </p:cNvSpPr>
          <p:nvPr/>
        </p:nvSpPr>
        <p:spPr bwMode="auto">
          <a:xfrm>
            <a:off x="1424471" y="6749830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4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3" name="Oval 71"/>
          <p:cNvSpPr>
            <a:spLocks noChangeArrowheads="1"/>
          </p:cNvSpPr>
          <p:nvPr/>
        </p:nvSpPr>
        <p:spPr bwMode="auto">
          <a:xfrm>
            <a:off x="2214268" y="745065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3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4" name="Oval 72"/>
          <p:cNvSpPr>
            <a:spLocks noChangeArrowheads="1"/>
          </p:cNvSpPr>
          <p:nvPr/>
        </p:nvSpPr>
        <p:spPr bwMode="auto">
          <a:xfrm>
            <a:off x="636750" y="7450659"/>
            <a:ext cx="400050" cy="40005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800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1</a:t>
            </a:r>
            <a:endParaRPr lang="en-US" altLang="zh-CN" sz="1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cxnSp>
        <p:nvCxnSpPr>
          <p:cNvPr id="45" name="AutoShape 74"/>
          <p:cNvCxnSpPr>
            <a:cxnSpLocks noChangeShapeType="1"/>
            <a:stCxn id="43" idx="0"/>
            <a:endCxn id="41" idx="4"/>
          </p:cNvCxnSpPr>
          <p:nvPr/>
        </p:nvCxnSpPr>
        <p:spPr bwMode="auto">
          <a:xfrm flipV="1">
            <a:off x="2414293" y="6449052"/>
            <a:ext cx="9181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AutoShape 76"/>
          <p:cNvCxnSpPr>
            <a:cxnSpLocks noChangeShapeType="1"/>
            <a:stCxn id="40" idx="4"/>
            <a:endCxn id="44" idx="0"/>
          </p:cNvCxnSpPr>
          <p:nvPr/>
        </p:nvCxnSpPr>
        <p:spPr bwMode="auto">
          <a:xfrm flipH="1">
            <a:off x="836775" y="6449052"/>
            <a:ext cx="14717" cy="100160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77"/>
          <p:cNvCxnSpPr>
            <a:cxnSpLocks noChangeShapeType="1"/>
            <a:stCxn id="42" idx="3"/>
            <a:endCxn id="44" idx="7"/>
          </p:cNvCxnSpPr>
          <p:nvPr/>
        </p:nvCxnSpPr>
        <p:spPr bwMode="auto">
          <a:xfrm flipH="1">
            <a:off x="978214" y="7091294"/>
            <a:ext cx="504843" cy="41795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AutoShape 78"/>
          <p:cNvCxnSpPr>
            <a:cxnSpLocks noChangeShapeType="1"/>
            <a:stCxn id="41" idx="3"/>
            <a:endCxn id="42" idx="7"/>
          </p:cNvCxnSpPr>
          <p:nvPr/>
        </p:nvCxnSpPr>
        <p:spPr bwMode="auto">
          <a:xfrm flipH="1">
            <a:off x="1765935" y="6390466"/>
            <a:ext cx="516100" cy="417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AutoShape 76"/>
          <p:cNvCxnSpPr>
            <a:cxnSpLocks noChangeShapeType="1"/>
            <a:stCxn id="40" idx="5"/>
            <a:endCxn id="42" idx="1"/>
          </p:cNvCxnSpPr>
          <p:nvPr/>
        </p:nvCxnSpPr>
        <p:spPr bwMode="auto">
          <a:xfrm>
            <a:off x="992931" y="6390466"/>
            <a:ext cx="490126" cy="4179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直接连接符 49"/>
          <p:cNvCxnSpPr>
            <a:stCxn id="44" idx="6"/>
            <a:endCxn id="43" idx="2"/>
          </p:cNvCxnSpPr>
          <p:nvPr/>
        </p:nvCxnSpPr>
        <p:spPr>
          <a:xfrm>
            <a:off x="1036800" y="7650684"/>
            <a:ext cx="117746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Text Box 24"/>
          <p:cNvSpPr txBox="1">
            <a:spLocks noChangeArrowheads="1"/>
          </p:cNvSpPr>
          <p:nvPr/>
        </p:nvSpPr>
        <p:spPr bwMode="auto">
          <a:xfrm>
            <a:off x="3296779" y="6456633"/>
            <a:ext cx="27828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1       1     0     0     1     1    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3297915" y="6911596"/>
            <a:ext cx="27828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2       0     0     0     1     1    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3" name="Text Box 24"/>
          <p:cNvSpPr txBox="1">
            <a:spLocks noChangeArrowheads="1"/>
          </p:cNvSpPr>
          <p:nvPr/>
        </p:nvSpPr>
        <p:spPr bwMode="auto">
          <a:xfrm>
            <a:off x="3296779" y="7366559"/>
            <a:ext cx="27828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3       0     1     1     0     0    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54" name="Text Box 24"/>
          <p:cNvSpPr txBox="1">
            <a:spLocks noChangeArrowheads="1"/>
          </p:cNvSpPr>
          <p:nvPr/>
        </p:nvSpPr>
        <p:spPr bwMode="auto">
          <a:xfrm>
            <a:off x="3296778" y="7821522"/>
            <a:ext cx="27828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 smtClean="0">
                <a:latin typeface="Times New Roman" panose="02020603050405020304" pitchFamily="18" charset="0"/>
                <a:ea typeface="SimSun" panose="02010600030101010101" pitchFamily="2" charset="-122"/>
              </a:rPr>
              <a:t>4       1     1     1     0     0    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42901" y="467544"/>
            <a:ext cx="6326981" cy="1767416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640" y="2411760"/>
            <a:ext cx="6624735" cy="5904656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2000" dirty="0" smtClean="0">
                <a:solidFill>
                  <a:srgbClr val="008000"/>
                </a:solidFill>
              </a:rPr>
              <a:t>//</a:t>
            </a:r>
            <a:r>
              <a:rPr lang="en-US" altLang="zh-CN" sz="2000" dirty="0" smtClean="0">
                <a:solidFill>
                  <a:srgbClr val="FF0000"/>
                </a:solidFill>
              </a:rPr>
              <a:t>Adjacency </a:t>
            </a:r>
            <a:r>
              <a:rPr lang="en-US" altLang="zh-CN" sz="2000" dirty="0">
                <a:solidFill>
                  <a:srgbClr val="FF0000"/>
                </a:solidFill>
              </a:rPr>
              <a:t>matrix </a:t>
            </a:r>
            <a:r>
              <a:rPr lang="en-US" altLang="zh-CN" sz="2000" dirty="0" smtClean="0">
                <a:solidFill>
                  <a:srgbClr val="008000"/>
                </a:solidFill>
              </a:rPr>
              <a:t>implementation</a:t>
            </a:r>
            <a:endParaRPr lang="en-US" altLang="zh-CN" sz="2000" dirty="0" smtClean="0">
              <a:solidFill>
                <a:srgbClr val="008000"/>
              </a:solidFill>
            </a:endParaRPr>
          </a:p>
          <a:p>
            <a:pPr marL="0" indent="0" eaLnBrk="1" hangingPunct="1">
              <a:buNone/>
              <a:defRPr/>
            </a:pP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class </a:t>
            </a:r>
            <a:r>
              <a:rPr lang="en-US" altLang="zh-CN" sz="2000" dirty="0" err="1">
                <a:cs typeface="Courier New" panose="02070309020205020404" pitchFamily="49" charset="0"/>
              </a:rPr>
              <a:t>Graphm</a:t>
            </a:r>
            <a:r>
              <a:rPr lang="en-US" altLang="zh-CN" sz="2000" dirty="0">
                <a:cs typeface="Courier New" panose="02070309020205020404" pitchFamily="49" charset="0"/>
              </a:rPr>
              <a:t>: public Graph {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Private: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cs typeface="Courier New" panose="02070309020205020404" pitchFamily="49" charset="0"/>
              </a:rPr>
              <a:t>, </a:t>
            </a:r>
            <a:r>
              <a:rPr lang="en-US" altLang="zh-CN" sz="2000" dirty="0" err="1"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cs typeface="Courier New" panose="02070309020205020404" pitchFamily="49" charset="0"/>
              </a:rPr>
              <a:t>; </a:t>
            </a:r>
            <a:r>
              <a:rPr lang="en-US" altLang="zh-CN" sz="2000" dirty="0">
                <a:solidFill>
                  <a:srgbClr val="008000"/>
                </a:solidFill>
              </a:rPr>
              <a:t>//#vertices &amp; #edges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**matrix; 		</a:t>
            </a:r>
            <a:r>
              <a:rPr lang="en-US" altLang="zh-CN" sz="2000" dirty="0">
                <a:solidFill>
                  <a:srgbClr val="008000"/>
                </a:solidFill>
              </a:rPr>
              <a:t>//Pointer to adjacency matrix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*mark;    		</a:t>
            </a:r>
            <a:r>
              <a:rPr lang="en-US" altLang="zh-CN" sz="2000" dirty="0">
                <a:solidFill>
                  <a:srgbClr val="008000"/>
                </a:solidFill>
              </a:rPr>
              <a:t>//Pointer to mark array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public: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void </a:t>
            </a:r>
            <a:r>
              <a:rPr lang="en-US" altLang="zh-CN" sz="20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Init</a:t>
            </a:r>
            <a:r>
              <a:rPr lang="en-US" altLang="zh-CN" sz="2000" dirty="0"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n) </a:t>
            </a:r>
            <a:r>
              <a:rPr lang="en-US" altLang="zh-CN" sz="2000" dirty="0" smtClean="0">
                <a:cs typeface="Courier New" panose="02070309020205020404" pitchFamily="49" charset="0"/>
              </a:rPr>
              <a:t>{ </a:t>
            </a:r>
            <a:r>
              <a:rPr lang="en-US" altLang="zh-CN" sz="2000" dirty="0">
                <a:solidFill>
                  <a:srgbClr val="008000"/>
                </a:solidFill>
              </a:rPr>
              <a:t>//Initialize the graph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</a:t>
            </a:r>
            <a:r>
              <a:rPr lang="en-US" altLang="zh-CN" sz="2000" dirty="0" err="1"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cs typeface="Courier New" panose="02070309020205020404" pitchFamily="49" charset="0"/>
              </a:rPr>
              <a:t> = n; 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</a:t>
            </a:r>
            <a:r>
              <a:rPr lang="en-US" altLang="zh-CN" sz="2000" dirty="0" err="1"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cs typeface="Courier New" panose="02070309020205020404" pitchFamily="49" charset="0"/>
              </a:rPr>
              <a:t> = 0;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2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mark = new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[n];	</a:t>
            </a:r>
            <a:r>
              <a:rPr lang="en-US" altLang="zh-CN" sz="2000" dirty="0">
                <a:solidFill>
                  <a:srgbClr val="008000"/>
                </a:solidFill>
              </a:rPr>
              <a:t>//Initialize mark array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for (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=0;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cs typeface="Courier New" panose="02070309020205020404" pitchFamily="49" charset="0"/>
              </a:rPr>
              <a:t>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++) 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	</a:t>
            </a:r>
            <a:r>
              <a:rPr lang="en-US" altLang="zh-CN" sz="2000" dirty="0" smtClean="0">
                <a:cs typeface="Courier New" panose="02070309020205020404" pitchFamily="49" charset="0"/>
              </a:rPr>
              <a:t>  mark[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] = </a:t>
            </a:r>
            <a:r>
              <a:rPr lang="en-US" altLang="zh-CN" sz="2000" b="1" dirty="0">
                <a:cs typeface="Courier New" panose="02070309020205020404" pitchFamily="49" charset="0"/>
              </a:rPr>
              <a:t>UNVISITED</a:t>
            </a:r>
            <a:r>
              <a:rPr lang="en-US" altLang="zh-CN" sz="2000" dirty="0">
                <a:cs typeface="Courier New" panose="02070309020205020404" pitchFamily="49" charset="0"/>
              </a:rPr>
              <a:t>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100" dirty="0">
                <a:cs typeface="Courier New" panose="02070309020205020404" pitchFamily="49" charset="0"/>
              </a:rPr>
              <a:t>    </a:t>
            </a:r>
            <a:r>
              <a:rPr lang="en-US" altLang="zh-CN" sz="1050" baseline="30000" dirty="0">
                <a:cs typeface="Courier New" panose="02070309020205020404" pitchFamily="49" charset="0"/>
              </a:rPr>
              <a:t>	</a:t>
            </a:r>
            <a:endParaRPr lang="en-US" altLang="zh-CN" sz="1050" baseline="30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matrix = (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**) new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*[</a:t>
            </a:r>
            <a:r>
              <a:rPr lang="en-US" altLang="zh-CN" sz="2000" dirty="0" err="1"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cs typeface="Courier New" panose="02070309020205020404" pitchFamily="49" charset="0"/>
              </a:rPr>
              <a:t>]; </a:t>
            </a:r>
            <a:r>
              <a:rPr lang="en-US" altLang="zh-CN" sz="2000" dirty="0">
                <a:solidFill>
                  <a:srgbClr val="00B050"/>
                </a:solidFill>
                <a:cs typeface="Courier New" panose="02070309020205020404" pitchFamily="49" charset="0"/>
              </a:rPr>
              <a:t>//</a:t>
            </a:r>
            <a:r>
              <a:rPr lang="en-US" altLang="zh-CN" sz="2000" dirty="0" smtClean="0">
                <a:solidFill>
                  <a:srgbClr val="00B050"/>
                </a:solidFill>
                <a:cs typeface="Courier New" panose="02070309020205020404" pitchFamily="49" charset="0"/>
              </a:rPr>
              <a:t>create</a:t>
            </a:r>
            <a:endParaRPr lang="en-US" altLang="zh-CN" sz="2000" dirty="0" smtClean="0">
              <a:solidFill>
                <a:srgbClr val="00B05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2000" dirty="0">
              <a:solidFill>
                <a:srgbClr val="00B05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cs typeface="Courier New" panose="02070309020205020404" pitchFamily="49" charset="0"/>
              </a:rPr>
              <a:t>    for (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i</a:t>
            </a:r>
            <a:r>
              <a:rPr lang="en-US" altLang="zh-CN" sz="2000" dirty="0" smtClean="0">
                <a:cs typeface="Courier New" panose="02070309020205020404" pitchFamily="49" charset="0"/>
              </a:rPr>
              <a:t>=0; 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i</a:t>
            </a:r>
            <a:r>
              <a:rPr lang="en-US" altLang="zh-CN" sz="2000" dirty="0" smtClean="0">
                <a:cs typeface="Courier New" panose="02070309020205020404" pitchFamily="49" charset="0"/>
              </a:rPr>
              <a:t>&lt;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numVertex</a:t>
            </a:r>
            <a:r>
              <a:rPr lang="en-US" altLang="zh-CN" sz="2000" dirty="0" smtClean="0">
                <a:cs typeface="Courier New" panose="02070309020205020404" pitchFamily="49" charset="0"/>
              </a:rPr>
              <a:t>; 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i</a:t>
            </a:r>
            <a:r>
              <a:rPr lang="en-US" altLang="zh-CN" sz="2000" dirty="0" smtClean="0">
                <a:cs typeface="Courier New" panose="02070309020205020404" pitchFamily="49" charset="0"/>
              </a:rPr>
              <a:t>++)</a:t>
            </a:r>
            <a:endParaRPr lang="en-US" altLang="zh-CN" sz="2000" dirty="0" smtClean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 smtClean="0">
                <a:cs typeface="Courier New" panose="02070309020205020404" pitchFamily="49" charset="0"/>
              </a:rPr>
              <a:t>        matrix[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] = new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[</a:t>
            </a:r>
            <a:r>
              <a:rPr lang="en-US" altLang="zh-CN" sz="2000" dirty="0" err="1"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cs typeface="Courier New" panose="02070309020205020404" pitchFamily="49" charset="0"/>
              </a:rPr>
              <a:t>];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1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for (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=0;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cs typeface="Courier New" panose="02070309020205020404" pitchFamily="49" charset="0"/>
              </a:rPr>
              <a:t>; 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++) </a:t>
            </a:r>
            <a:r>
              <a:rPr lang="en-US" altLang="zh-CN" sz="2000" dirty="0" smtClean="0">
                <a:solidFill>
                  <a:srgbClr val="00B050"/>
                </a:solidFill>
                <a:cs typeface="Courier New" panose="02070309020205020404" pitchFamily="49" charset="0"/>
              </a:rPr>
              <a:t>//</a:t>
            </a:r>
            <a:r>
              <a:rPr lang="en-US" altLang="zh-CN" sz="2000" dirty="0">
                <a:solidFill>
                  <a:srgbClr val="00B050"/>
                </a:solidFill>
                <a:cs typeface="Courier New" panose="02070309020205020404" pitchFamily="49" charset="0"/>
              </a:rPr>
              <a:t>Initial to 0 weights</a:t>
            </a:r>
            <a:endParaRPr lang="en-US" altLang="zh-CN" sz="2000" dirty="0">
              <a:solidFill>
                <a:srgbClr val="00B05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  for (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j=0; j&lt;</a:t>
            </a:r>
            <a:r>
              <a:rPr lang="en-US" altLang="zh-CN" sz="2000" dirty="0" err="1"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cs typeface="Courier New" panose="02070309020205020404" pitchFamily="49" charset="0"/>
              </a:rPr>
              <a:t>; </a:t>
            </a:r>
            <a:r>
              <a:rPr lang="en-US" altLang="zh-CN" sz="2000" dirty="0" err="1">
                <a:cs typeface="Courier New" panose="02070309020205020404" pitchFamily="49" charset="0"/>
              </a:rPr>
              <a:t>j++</a:t>
            </a:r>
            <a:r>
              <a:rPr lang="en-US" altLang="zh-CN" sz="2000" dirty="0">
                <a:cs typeface="Courier New" panose="02070309020205020404" pitchFamily="49" charset="0"/>
              </a:rPr>
              <a:t>)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      matrix[</a:t>
            </a:r>
            <a:r>
              <a:rPr lang="en-US" altLang="zh-CN" sz="2000" dirty="0" err="1"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cs typeface="Courier New" panose="02070309020205020404" pitchFamily="49" charset="0"/>
              </a:rPr>
              <a:t>][j] = 0;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}</a:t>
            </a:r>
            <a:endParaRPr lang="zh-CN" altLang="en-US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zh-CN" altLang="en-US" sz="2000" dirty="0">
              <a:cs typeface="Courier New" panose="02070309020205020404" pitchFamily="49" charset="0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A8B7E68-5EDF-4FCE-AFD8-A836F98FA4DD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260648" y="467544"/>
            <a:ext cx="6336704" cy="1767416"/>
          </a:xfrm>
        </p:spPr>
        <p:txBody>
          <a:bodyPr/>
          <a:lstStyle/>
          <a:p>
            <a:r>
              <a:rPr lang="en-US" altLang="zh-CN" dirty="0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Clr>
                <a:srgbClr val="330066"/>
              </a:buClr>
              <a:buNone/>
              <a:defRPr/>
            </a:pPr>
            <a:r>
              <a:rPr lang="en-US" altLang="zh-CN" sz="2000" dirty="0" smtClean="0">
                <a:solidFill>
                  <a:srgbClr val="008000"/>
                </a:solidFill>
              </a:rPr>
              <a:t>//</a:t>
            </a:r>
            <a:r>
              <a:rPr lang="en-US" altLang="zh-CN" sz="2000" dirty="0" smtClean="0">
                <a:solidFill>
                  <a:srgbClr val="FF0000"/>
                </a:solidFill>
              </a:rPr>
              <a:t>Adjacency </a:t>
            </a:r>
            <a:r>
              <a:rPr lang="en-US" altLang="zh-CN" sz="2000" dirty="0">
                <a:solidFill>
                  <a:srgbClr val="FF0000"/>
                </a:solidFill>
              </a:rPr>
              <a:t>matrix </a:t>
            </a:r>
            <a:r>
              <a:rPr lang="en-US" altLang="zh-CN" sz="2000" dirty="0" smtClean="0">
                <a:solidFill>
                  <a:srgbClr val="008000"/>
                </a:solidFill>
              </a:rPr>
              <a:t>implementation (cont.)</a:t>
            </a:r>
            <a:endParaRPr lang="en-US" altLang="zh-CN" sz="2000" dirty="0" smtClean="0">
              <a:solidFill>
                <a:srgbClr val="008000"/>
              </a:solidFill>
            </a:endParaRPr>
          </a:p>
          <a:p>
            <a:pPr lvl="3" eaLnBrk="1" hangingPunct="1">
              <a:buClr>
                <a:srgbClr val="330066"/>
              </a:buClr>
              <a:defRPr/>
            </a:pPr>
            <a:endParaRPr lang="en-US" altLang="zh-CN" sz="1050" dirty="0" smtClean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 smtClean="0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() {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}	</a:t>
            </a:r>
            <a:r>
              <a:rPr lang="en-US" altLang="zh-CN" sz="2000" dirty="0">
                <a:solidFill>
                  <a:srgbClr val="008000"/>
                </a:solidFill>
              </a:rPr>
              <a:t>//#vertices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() {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}	</a:t>
            </a:r>
            <a:r>
              <a:rPr lang="en-US" altLang="zh-CN" sz="2000" dirty="0">
                <a:solidFill>
                  <a:srgbClr val="008000"/>
                </a:solidFill>
              </a:rPr>
              <a:t>//#edges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2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first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v) {  </a:t>
            </a:r>
            <a:r>
              <a:rPr lang="en-US" altLang="zh-CN" sz="2000" dirty="0">
                <a:solidFill>
                  <a:srgbClr val="008000"/>
                </a:solidFill>
              </a:rPr>
              <a:t>//return first neighbor of v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for 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=0;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&lt;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++) 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	if (matrix[v][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 != 0)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endParaRPr lang="en-US" altLang="zh-CN" sz="2000" dirty="0" smtClean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</a:rPr>
              <a:t>//return v’s next neighbor after w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next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w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){</a:t>
            </a:r>
            <a:endParaRPr lang="en-US" altLang="zh-CN" sz="2000" dirty="0" smtClean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for(</a:t>
            </a:r>
            <a:r>
              <a:rPr lang="en-US" altLang="zh-CN" sz="2000" dirty="0" err="1" smtClean="0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 smtClean="0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=w+1; </a:t>
            </a:r>
            <a:r>
              <a:rPr lang="en-US" altLang="zh-CN" sz="2000" dirty="0" err="1" smtClean="0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&lt;</a:t>
            </a:r>
            <a:r>
              <a:rPr lang="en-US" altLang="zh-CN" sz="2000" dirty="0" err="1" smtClean="0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r>
              <a:rPr lang="en-US" altLang="zh-CN" sz="2000" dirty="0" err="1" smtClean="0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++)</a:t>
            </a:r>
            <a:endParaRPr lang="en-US" altLang="zh-CN" sz="2000" dirty="0" smtClean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	if (matrix[v][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 != 0)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return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>
              <a:defRPr/>
            </a:pPr>
            <a:endParaRPr lang="zh-CN" altLang="en-US" sz="4000" dirty="0">
              <a:cs typeface="Courier New" panose="02070309020205020404" pitchFamily="49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F5793EAE-3007-4911-94F4-05A38F17B1C8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260648" y="467544"/>
            <a:ext cx="6336704" cy="1767416"/>
          </a:xfrm>
        </p:spPr>
        <p:txBody>
          <a:bodyPr/>
          <a:lstStyle/>
          <a:p>
            <a:r>
              <a:rPr lang="en-US" altLang="zh-CN" dirty="0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906" y="2454157"/>
            <a:ext cx="6597352" cy="5801783"/>
          </a:xfrm>
        </p:spPr>
        <p:txBody>
          <a:bodyPr>
            <a:normAutofit/>
          </a:bodyPr>
          <a:lstStyle/>
          <a:p>
            <a:pPr marL="0" indent="0"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</a:rPr>
              <a:t>Adjacency matrix </a:t>
            </a:r>
            <a:r>
              <a:rPr lang="en-US" altLang="zh-CN" sz="2000" dirty="0">
                <a:solidFill>
                  <a:srgbClr val="008000"/>
                </a:solidFill>
              </a:rPr>
              <a:t>implementation (cont.)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lvl="3" eaLnBrk="1" hangingPunct="1">
              <a:buClr>
                <a:srgbClr val="330066"/>
              </a:buClr>
              <a:defRPr/>
            </a:pPr>
            <a:endParaRPr lang="en-US" altLang="zh-CN" sz="1000" dirty="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void </a:t>
            </a:r>
            <a:r>
              <a:rPr lang="en-US" altLang="zh-CN" sz="20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setEdge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v1,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v2,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) { </a:t>
            </a:r>
            <a:r>
              <a:rPr lang="en-US" altLang="zh-CN" sz="2000" dirty="0" smtClean="0">
                <a:solidFill>
                  <a:srgbClr val="008000"/>
                </a:solidFill>
              </a:rPr>
              <a:t>//edge </a:t>
            </a:r>
            <a:r>
              <a:rPr lang="en-US" altLang="zh-CN" sz="2000" dirty="0">
                <a:solidFill>
                  <a:srgbClr val="008000"/>
                </a:solidFill>
              </a:rPr>
              <a:t>(v1, v2)</a:t>
            </a:r>
            <a:endParaRPr lang="en-US" altLang="zh-CN" dirty="0">
              <a:solidFill>
                <a:srgbClr val="008000"/>
              </a:solidFill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Assert(</a:t>
            </a:r>
            <a:r>
              <a:rPr lang="en-US" altLang="zh-CN" sz="2000" dirty="0" err="1" smtClean="0">
                <a:solidFill>
                  <a:srgbClr val="000000"/>
                </a:solidFill>
                <a:cs typeface="Courier New" panose="02070309020205020404" pitchFamily="49" charset="0"/>
              </a:rPr>
              <a:t>wt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&gt;0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, “Illegal weight value”);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if 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(matrix[v1][v2] == 0)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++;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matrix[v1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][v2] =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1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void </a:t>
            </a:r>
            <a:r>
              <a:rPr lang="en-US" altLang="zh-CN" sz="20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delEdge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v1,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v2) { 	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//Delete edge (v1, v2)</a:t>
            </a:r>
            <a:endParaRPr lang="en-US" altLang="zh-CN" sz="20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 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if(matrix[v1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][v2] != 0)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numEdge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--;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matrix[v1][v2] = 0;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05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bool </a:t>
            </a:r>
            <a:r>
              <a:rPr lang="en-US" altLang="zh-CN" sz="20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isEdge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j) 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{</a:t>
            </a:r>
            <a:endParaRPr lang="en-US" altLang="zh-CN" sz="2000" dirty="0" smtClean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return matrix[</a:t>
            </a:r>
            <a:r>
              <a:rPr lang="en-US" altLang="zh-CN" sz="20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cs typeface="Courier New" panose="02070309020205020404" pitchFamily="49" charset="0"/>
              </a:rPr>
              <a:t>][j] != 0; </a:t>
            </a:r>
            <a:endParaRPr lang="en-US" altLang="zh-CN" sz="2000" dirty="0" smtClean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20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};</a:t>
            </a:r>
            <a:endParaRPr lang="en-US" altLang="zh-CN" sz="20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>
              <a:defRPr/>
            </a:pPr>
            <a:endParaRPr lang="zh-CN" altLang="en-US" sz="3600" dirty="0">
              <a:cs typeface="Courier New" panose="02070309020205020404" pitchFamily="49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B4A6B634-0574-4D98-AF12-B4364A944E5A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88640" y="467544"/>
            <a:ext cx="6408712" cy="1767416"/>
          </a:xfrm>
        </p:spPr>
        <p:txBody>
          <a:bodyPr/>
          <a:lstStyle/>
          <a:p>
            <a:pPr eaLnBrk="1" hangingPunct="1"/>
            <a:r>
              <a:rPr lang="en-US" altLang="zh-CN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772" y="2411760"/>
            <a:ext cx="6450806" cy="3308747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  <a:defRPr/>
            </a:pPr>
            <a:r>
              <a:rPr lang="en-US" altLang="zh-CN" sz="2000" dirty="0" smtClean="0">
                <a:solidFill>
                  <a:srgbClr val="008000"/>
                </a:solidFill>
              </a:rPr>
              <a:t>//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Adjacency </a:t>
            </a:r>
            <a:r>
              <a:rPr lang="en-US" altLang="zh-CN" sz="2000" b="1" dirty="0">
                <a:solidFill>
                  <a:srgbClr val="FF0000"/>
                </a:solidFill>
              </a:rPr>
              <a:t>list </a:t>
            </a:r>
            <a:r>
              <a:rPr lang="en-US" altLang="zh-CN" sz="2000" dirty="0">
                <a:solidFill>
                  <a:srgbClr val="008000"/>
                </a:solidFill>
              </a:rPr>
              <a:t>implementation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lvl="3" eaLnBrk="1" hangingPunct="1">
              <a:defRPr/>
            </a:pPr>
            <a:endParaRPr lang="en-US" altLang="zh-CN" sz="1200" dirty="0"/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//Edge class for adjacency list implementation</a:t>
            </a:r>
            <a:endParaRPr lang="en-US" altLang="zh-CN" sz="20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Class Edge {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vert</a:t>
            </a:r>
            <a:r>
              <a:rPr lang="zh-CN" altLang="en-US" sz="2000" dirty="0">
                <a:cs typeface="Courier New" panose="02070309020205020404" pitchFamily="49" charset="0"/>
              </a:rPr>
              <a:t>； 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//the vertex pointed to by the edge</a:t>
            </a:r>
            <a:endParaRPr lang="en-US" altLang="zh-CN" sz="20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dirty="0" err="1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;  </a:t>
            </a:r>
            <a:r>
              <a:rPr lang="en-US" altLang="zh-CN" sz="2000" dirty="0" smtClean="0">
                <a:cs typeface="Courier New" panose="02070309020205020404" pitchFamily="49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</a:t>
            </a:r>
            <a:r>
              <a:rPr lang="en-US" altLang="zh-CN" sz="2000" dirty="0">
                <a:solidFill>
                  <a:srgbClr val="008000"/>
                </a:solidFill>
                <a:cs typeface="Courier New" panose="02070309020205020404" pitchFamily="49" charset="0"/>
              </a:rPr>
              <a:t>the weight of the edge;</a:t>
            </a:r>
            <a:endParaRPr lang="en-US" altLang="zh-CN" sz="20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Public: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Edge</a:t>
            </a:r>
            <a:r>
              <a:rPr lang="en-US" altLang="zh-CN" sz="2000" dirty="0">
                <a:cs typeface="Courier New" panose="02070309020205020404" pitchFamily="49" charset="0"/>
              </a:rPr>
              <a:t>() { </a:t>
            </a:r>
            <a:r>
              <a:rPr lang="en-US" altLang="zh-CN" sz="2000" dirty="0" err="1">
                <a:cs typeface="Courier New" panose="02070309020205020404" pitchFamily="49" charset="0"/>
              </a:rPr>
              <a:t>vert</a:t>
            </a:r>
            <a:r>
              <a:rPr lang="en-US" altLang="zh-CN" sz="2000" dirty="0">
                <a:cs typeface="Courier New" panose="02070309020205020404" pitchFamily="49" charset="0"/>
              </a:rPr>
              <a:t> = -1; </a:t>
            </a:r>
            <a:r>
              <a:rPr lang="en-US" altLang="zh-CN" sz="2000" dirty="0" err="1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 = -1;  }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cs typeface="Courier New" panose="02070309020205020404" pitchFamily="49" charset="0"/>
              </a:rPr>
              <a:t>Edge</a:t>
            </a:r>
            <a:r>
              <a:rPr lang="en-US" altLang="zh-CN" sz="2000" dirty="0">
                <a:cs typeface="Courier New" panose="02070309020205020404" pitchFamily="49" charset="0"/>
              </a:rPr>
              <a:t>(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v,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w) {</a:t>
            </a:r>
            <a:r>
              <a:rPr lang="en-US" altLang="zh-CN" sz="2000" dirty="0" err="1">
                <a:cs typeface="Courier New" panose="02070309020205020404" pitchFamily="49" charset="0"/>
              </a:rPr>
              <a:t>vert</a:t>
            </a:r>
            <a:r>
              <a:rPr lang="en-US" altLang="zh-CN" sz="2000" dirty="0">
                <a:cs typeface="Courier New" panose="02070309020205020404" pitchFamily="49" charset="0"/>
              </a:rPr>
              <a:t> = v, </a:t>
            </a:r>
            <a:r>
              <a:rPr lang="en-US" altLang="zh-CN" sz="2000" dirty="0" err="1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 = w; }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vertex</a:t>
            </a:r>
            <a:r>
              <a:rPr lang="en-US" altLang="zh-CN" sz="2000" dirty="0">
                <a:cs typeface="Courier New" panose="02070309020205020404" pitchFamily="49" charset="0"/>
              </a:rPr>
              <a:t>() {return 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vert</a:t>
            </a:r>
            <a:r>
              <a:rPr lang="en-US" altLang="zh-CN" sz="2000" dirty="0" smtClean="0">
                <a:cs typeface="Courier New" panose="02070309020205020404" pitchFamily="49" charset="0"/>
              </a:rPr>
              <a:t>; </a:t>
            </a:r>
            <a:r>
              <a:rPr lang="en-US" altLang="zh-CN" sz="2000" dirty="0">
                <a:cs typeface="Courier New" panose="02070309020205020404" pitchFamily="49" charset="0"/>
              </a:rPr>
              <a:t>}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  </a:t>
            </a:r>
            <a:r>
              <a:rPr lang="en-US" altLang="zh-CN" sz="2000" dirty="0" err="1">
                <a:cs typeface="Courier New" panose="02070309020205020404" pitchFamily="49" charset="0"/>
              </a:rPr>
              <a:t>int</a:t>
            </a:r>
            <a:r>
              <a:rPr lang="en-US" altLang="zh-CN" sz="2000" dirty="0"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cs typeface="Courier New" panose="02070309020205020404" pitchFamily="49" charset="0"/>
              </a:rPr>
              <a:t>weight</a:t>
            </a:r>
            <a:r>
              <a:rPr lang="en-US" altLang="zh-CN" sz="2000" dirty="0">
                <a:cs typeface="Courier New" panose="02070309020205020404" pitchFamily="49" charset="0"/>
              </a:rPr>
              <a:t>() {return </a:t>
            </a:r>
            <a:r>
              <a:rPr lang="en-US" altLang="zh-CN" sz="2000" dirty="0" err="1" smtClean="0">
                <a:cs typeface="Courier New" panose="02070309020205020404" pitchFamily="49" charset="0"/>
              </a:rPr>
              <a:t>wt</a:t>
            </a:r>
            <a:r>
              <a:rPr lang="en-US" altLang="zh-CN" sz="2000" dirty="0">
                <a:cs typeface="Courier New" panose="02070309020205020404" pitchFamily="49" charset="0"/>
              </a:rPr>
              <a:t>; }</a:t>
            </a:r>
            <a:endParaRPr lang="en-US" altLang="zh-CN" sz="2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cs typeface="Courier New" panose="02070309020205020404" pitchFamily="49" charset="0"/>
              </a:rPr>
              <a:t>}</a:t>
            </a:r>
            <a:endParaRPr lang="en-US" altLang="zh-CN" sz="2000" dirty="0">
              <a:cs typeface="Courier New" panose="02070309020205020404" pitchFamily="49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BDD1936C-21E0-4CD1-BEC6-39BD5ADA9E97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260648" y="467544"/>
            <a:ext cx="6408712" cy="1767416"/>
          </a:xfrm>
        </p:spPr>
        <p:txBody>
          <a:bodyPr/>
          <a:lstStyle/>
          <a:p>
            <a:pPr eaLnBrk="1" hangingPunct="1"/>
            <a:r>
              <a:rPr lang="en-US" altLang="zh-CN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648" y="2555776"/>
            <a:ext cx="6450806" cy="3308747"/>
          </a:xfrm>
        </p:spPr>
        <p:txBody>
          <a:bodyPr>
            <a:noAutofit/>
          </a:bodyPr>
          <a:lstStyle/>
          <a:p>
            <a:pPr marL="0" indent="0" eaLnBrk="1" hangingPunct="1">
              <a:buNone/>
              <a:defRPr/>
            </a:pPr>
            <a:r>
              <a:rPr lang="en-US" altLang="zh-CN" sz="1800" dirty="0" smtClean="0">
                <a:solidFill>
                  <a:srgbClr val="008000"/>
                </a:solidFill>
              </a:rPr>
              <a:t>//Adjacency </a:t>
            </a:r>
            <a:r>
              <a:rPr lang="en-US" altLang="zh-CN" sz="1800" dirty="0">
                <a:solidFill>
                  <a:srgbClr val="008000"/>
                </a:solidFill>
              </a:rPr>
              <a:t>list implementation (</a:t>
            </a:r>
            <a:r>
              <a:rPr lang="en-US" altLang="zh-CN" sz="1800" dirty="0" err="1">
                <a:solidFill>
                  <a:srgbClr val="008000"/>
                </a:solidFill>
              </a:rPr>
              <a:t>cont</a:t>
            </a:r>
            <a:r>
              <a:rPr lang="en-US" altLang="zh-CN" sz="1800" dirty="0">
                <a:solidFill>
                  <a:srgbClr val="008000"/>
                </a:solidFill>
              </a:rPr>
              <a:t>)</a:t>
            </a:r>
            <a:endParaRPr lang="en-US" altLang="zh-CN" sz="1800" dirty="0">
              <a:solidFill>
                <a:srgbClr val="008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class </a:t>
            </a:r>
            <a:r>
              <a:rPr lang="en-US" altLang="zh-CN" sz="1800" dirty="0" err="1">
                <a:cs typeface="Courier New" panose="02070309020205020404" pitchFamily="49" charset="0"/>
              </a:rPr>
              <a:t>Graphl</a:t>
            </a:r>
            <a:r>
              <a:rPr lang="en-US" altLang="zh-CN" sz="1800" dirty="0">
                <a:cs typeface="Courier New" panose="02070309020205020404" pitchFamily="49" charset="0"/>
              </a:rPr>
              <a:t>: public Graph{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private: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List&lt;Edge&gt;** vertex;  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//List headers</a:t>
            </a:r>
            <a:endParaRPr lang="en-US" altLang="zh-CN" sz="18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, </a:t>
            </a:r>
            <a:r>
              <a:rPr lang="en-US" altLang="zh-CN" sz="1800" dirty="0" err="1">
                <a:cs typeface="Courier New" panose="02070309020205020404" pitchFamily="49" charset="0"/>
              </a:rPr>
              <a:t>numEdge</a:t>
            </a:r>
            <a:r>
              <a:rPr lang="en-US" altLang="zh-CN" sz="1800" dirty="0">
                <a:cs typeface="Courier New" panose="02070309020205020404" pitchFamily="49" charset="0"/>
              </a:rPr>
              <a:t>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*mark;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0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public: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void </a:t>
            </a:r>
            <a:r>
              <a:rPr lang="en-US" altLang="zh-CN" sz="18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Init</a:t>
            </a:r>
            <a:r>
              <a:rPr lang="en-US" altLang="zh-CN" sz="1800" dirty="0"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n) {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 = n;  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 err="1">
                <a:cs typeface="Courier New" panose="02070309020205020404" pitchFamily="49" charset="0"/>
              </a:rPr>
              <a:t>numEdge</a:t>
            </a:r>
            <a:r>
              <a:rPr lang="en-US" altLang="zh-CN" sz="1800" dirty="0">
                <a:cs typeface="Courier New" panose="02070309020205020404" pitchFamily="49" charset="0"/>
              </a:rPr>
              <a:t> = 0;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mark = new </a:t>
            </a:r>
            <a:r>
              <a:rPr lang="en-US" altLang="zh-CN" sz="1800" dirty="0" err="1"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cs typeface="Courier New" panose="02070309020205020404" pitchFamily="49" charset="0"/>
              </a:rPr>
              <a:t>[n];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for (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=0;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++) mark[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] = </a:t>
            </a:r>
            <a:r>
              <a:rPr lang="en-US" altLang="zh-CN" sz="1800" b="1" dirty="0">
                <a:cs typeface="Courier New" panose="02070309020205020404" pitchFamily="49" charset="0"/>
              </a:rPr>
              <a:t>UNVISITED</a:t>
            </a:r>
            <a:r>
              <a:rPr lang="en-US" altLang="zh-CN" sz="1800" dirty="0">
                <a:cs typeface="Courier New" panose="02070309020205020404" pitchFamily="49" charset="0"/>
              </a:rPr>
              <a:t>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endParaRPr lang="en-US" altLang="zh-CN" sz="105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//create and initialize adjacency list    </a:t>
            </a:r>
            <a:endParaRPr lang="en-US" altLang="zh-CN" sz="18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vertex = (List&lt;Edge&gt;**) new List&lt;Edge&gt;*[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];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for (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=0;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cs typeface="Courier New" panose="02070309020205020404" pitchFamily="49" charset="0"/>
              </a:rPr>
              <a:t>; 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++)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    vertex[</a:t>
            </a:r>
            <a:r>
              <a:rPr lang="en-US" altLang="zh-CN" sz="1800" dirty="0" err="1">
                <a:cs typeface="Courier New" panose="02070309020205020404" pitchFamily="49" charset="0"/>
              </a:rPr>
              <a:t>i</a:t>
            </a:r>
            <a:r>
              <a:rPr lang="en-US" altLang="zh-CN" sz="1800" dirty="0">
                <a:cs typeface="Courier New" panose="02070309020205020404" pitchFamily="49" charset="0"/>
              </a:rPr>
              <a:t>] = new </a:t>
            </a:r>
            <a:r>
              <a:rPr lang="en-US" altLang="zh-CN" sz="1800" dirty="0" err="1">
                <a:cs typeface="Courier New" panose="02070309020205020404" pitchFamily="49" charset="0"/>
              </a:rPr>
              <a:t>Llist</a:t>
            </a:r>
            <a:r>
              <a:rPr lang="en-US" altLang="zh-CN" sz="1800" dirty="0">
                <a:cs typeface="Courier New" panose="02070309020205020404" pitchFamily="49" charset="0"/>
              </a:rPr>
              <a:t>&lt;Edge&gt;();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  }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cs typeface="Courier New" panose="02070309020205020404" pitchFamily="49" charset="0"/>
              </a:rPr>
              <a:t>}</a:t>
            </a:r>
            <a:endParaRPr lang="en-US" altLang="zh-CN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1050" dirty="0">
                <a:cs typeface="Courier New" panose="02070309020205020404" pitchFamily="49" charset="0"/>
              </a:rPr>
              <a:t>    </a:t>
            </a:r>
            <a:r>
              <a:rPr lang="en-US" altLang="zh-CN" sz="1000" baseline="30000" dirty="0">
                <a:cs typeface="Courier New" panose="02070309020205020404" pitchFamily="49" charset="0"/>
              </a:rPr>
              <a:t>	</a:t>
            </a:r>
            <a:r>
              <a:rPr lang="en-US" altLang="zh-CN" sz="1800" dirty="0">
                <a:cs typeface="Courier New" panose="02070309020205020404" pitchFamily="49" charset="0"/>
              </a:rPr>
              <a:t>   </a:t>
            </a:r>
            <a:endParaRPr lang="zh-CN" altLang="en-US" sz="1800" dirty="0">
              <a:cs typeface="Courier New" panose="02070309020205020404" pitchFamily="49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334BEF78-833E-46D2-811A-ED92BA518643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260648" y="467544"/>
            <a:ext cx="6408712" cy="1767416"/>
          </a:xfrm>
        </p:spPr>
        <p:txBody>
          <a:bodyPr/>
          <a:lstStyle/>
          <a:p>
            <a:r>
              <a:rPr lang="en-US" altLang="zh-CN" dirty="0" smtClean="0"/>
              <a:t>Graph Implementations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665" y="2438403"/>
            <a:ext cx="6192688" cy="5801783"/>
          </a:xfrm>
        </p:spPr>
        <p:txBody>
          <a:bodyPr>
            <a:normAutofit/>
          </a:bodyPr>
          <a:lstStyle/>
          <a:p>
            <a:pPr marL="0" indent="0" eaLnBrk="1" hangingPunct="1">
              <a:buClr>
                <a:srgbClr val="330066"/>
              </a:buClr>
              <a:buNone/>
              <a:defRPr/>
            </a:pPr>
            <a:r>
              <a:rPr lang="en-US" altLang="zh-CN" sz="2000" dirty="0" smtClean="0">
                <a:solidFill>
                  <a:srgbClr val="008000"/>
                </a:solidFill>
              </a:rPr>
              <a:t>//</a:t>
            </a:r>
            <a:r>
              <a:rPr lang="en-US" altLang="zh-CN" sz="2000" dirty="0" smtClean="0">
                <a:solidFill>
                  <a:srgbClr val="FF0000"/>
                </a:solidFill>
              </a:rPr>
              <a:t>Adjacency </a:t>
            </a:r>
            <a:r>
              <a:rPr lang="en-US" altLang="zh-CN" sz="2000" dirty="0">
                <a:solidFill>
                  <a:srgbClr val="FF0000"/>
                </a:solidFill>
              </a:rPr>
              <a:t>list </a:t>
            </a:r>
            <a:r>
              <a:rPr lang="en-US" altLang="zh-CN" sz="2000" dirty="0">
                <a:solidFill>
                  <a:srgbClr val="008000"/>
                </a:solidFill>
              </a:rPr>
              <a:t>implementation (</a:t>
            </a:r>
            <a:r>
              <a:rPr lang="en-US" altLang="zh-CN" sz="2000" dirty="0" err="1">
                <a:solidFill>
                  <a:srgbClr val="008000"/>
                </a:solidFill>
              </a:rPr>
              <a:t>cont</a:t>
            </a:r>
            <a:r>
              <a:rPr lang="en-US" altLang="zh-CN" sz="2000" dirty="0">
                <a:solidFill>
                  <a:srgbClr val="008000"/>
                </a:solidFill>
              </a:rPr>
              <a:t>)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lvl="3" eaLnBrk="1" hangingPunct="1">
              <a:buClr>
                <a:srgbClr val="330066"/>
              </a:buClr>
              <a:defRPr/>
            </a:pPr>
            <a:endParaRPr lang="en-US" altLang="zh-CN" sz="100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first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v) {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//return first neighbor of v</a:t>
            </a:r>
            <a:endParaRPr lang="en-US" altLang="zh-CN" sz="18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if (vertex[v]-&gt;length() == 0)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//return V’s </a:t>
            </a:r>
            <a:r>
              <a:rPr lang="en-US" altLang="zh-CN" sz="1800" dirty="0" err="1">
                <a:solidFill>
                  <a:srgbClr val="008000"/>
                </a:solidFill>
                <a:cs typeface="Courier New" panose="02070309020205020404" pitchFamily="49" charset="0"/>
              </a:rPr>
              <a:t>Llist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 size</a:t>
            </a:r>
            <a:endParaRPr lang="en-US" altLang="zh-CN" sz="18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 return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numVertex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;	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//no neighbor</a:t>
            </a:r>
            <a:endParaRPr lang="en-US" altLang="zh-CN" sz="18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moveToStart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Edge it = 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getValue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return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it.vertex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cs typeface="Courier New" panose="02070309020205020404" pitchFamily="49" charset="0"/>
              </a:rPr>
              <a:t>next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v,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w) {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//get v’s next neighbor after w</a:t>
            </a:r>
            <a:endParaRPr lang="en-US" altLang="zh-CN" sz="18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Edge it;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if (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isEdge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(v, w)) {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if ((vertex[v]-&gt;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currPos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()+</a:t>
            </a:r>
            <a:r>
              <a:rPr lang="en-US" altLang="zh-CN" sz="18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1) 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&lt; vertex[v]-&gt;length()) </a:t>
            </a:r>
            <a:endParaRPr lang="en-US" altLang="zh-CN" sz="1800" dirty="0" smtClean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  {</a:t>
            </a:r>
            <a:endParaRPr lang="en-US" altLang="zh-CN" sz="3600" dirty="0" smtClean="0"/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	vertex[v]-&gt;next();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   it = vertex[v]-&gt;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getValue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   return </a:t>
            </a:r>
            <a:r>
              <a:rPr lang="en-US" altLang="zh-CN" sz="1800" dirty="0" err="1">
                <a:solidFill>
                  <a:srgbClr val="000000"/>
                </a:solidFill>
                <a:cs typeface="Courier New" panose="02070309020205020404" pitchFamily="49" charset="0"/>
              </a:rPr>
              <a:t>it.vertex</a:t>
            </a: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();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  }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}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  return n();  </a:t>
            </a:r>
            <a:r>
              <a:rPr lang="en-US" altLang="zh-CN" sz="1800" dirty="0">
                <a:solidFill>
                  <a:srgbClr val="008000"/>
                </a:solidFill>
                <a:cs typeface="Courier New" panose="02070309020205020404" pitchFamily="49" charset="0"/>
              </a:rPr>
              <a:t>//no neighbor</a:t>
            </a:r>
            <a:endParaRPr lang="en-US" altLang="zh-CN" sz="1800" dirty="0">
              <a:solidFill>
                <a:srgbClr val="008000"/>
              </a:solidFill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Clr>
                <a:srgbClr val="330066"/>
              </a:buClr>
              <a:buNone/>
              <a:defRPr/>
            </a:pPr>
            <a:r>
              <a:rPr lang="en-US" altLang="zh-CN" sz="1800" dirty="0">
                <a:solidFill>
                  <a:srgbClr val="000000"/>
                </a:solidFill>
                <a:cs typeface="Courier New" panose="02070309020205020404" pitchFamily="49" charset="0"/>
              </a:rPr>
              <a:t>}</a:t>
            </a:r>
            <a:endParaRPr lang="en-US" altLang="zh-CN" sz="1800" dirty="0">
              <a:solidFill>
                <a:srgbClr val="000000"/>
              </a:solidFill>
              <a:cs typeface="Courier New" panose="02070309020205020404" pitchFamily="49" charset="0"/>
            </a:endParaRP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557530" indent="-21463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89BD0059-B45A-4EBE-949C-44129DDDE50D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0</TotalTime>
  <Words>11174</Words>
  <Application>WPS Presentation</Application>
  <PresentationFormat>全屏显示(4:3)</PresentationFormat>
  <Paragraphs>1042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66" baseType="lpstr">
      <vt:lpstr>Arial</vt:lpstr>
      <vt:lpstr>SimSun</vt:lpstr>
      <vt:lpstr>Wingdings</vt:lpstr>
      <vt:lpstr>Sitka Small</vt:lpstr>
      <vt:lpstr>苹方-简</vt:lpstr>
      <vt:lpstr>Times New Roman</vt:lpstr>
      <vt:lpstr>Wingdings 2</vt:lpstr>
      <vt:lpstr>Sitka Text</vt:lpstr>
      <vt:lpstr>SimSun</vt:lpstr>
      <vt:lpstr>宋体-简</vt:lpstr>
      <vt:lpstr>Symbol</vt:lpstr>
      <vt:lpstr>Math B</vt:lpstr>
      <vt:lpstr>Cambria Math</vt:lpstr>
      <vt:lpstr>DejaVu Math TeX Gyre</vt:lpstr>
      <vt:lpstr>Math A</vt:lpstr>
      <vt:lpstr>Courier New</vt:lpstr>
      <vt:lpstr>SimSun</vt:lpstr>
      <vt:lpstr>Microsoft YaHei</vt:lpstr>
      <vt:lpstr>汉仪旗黑</vt:lpstr>
      <vt:lpstr>Arial Unicode MS</vt:lpstr>
      <vt:lpstr>Calibri</vt:lpstr>
      <vt:lpstr>Helvetica Neue</vt:lpstr>
      <vt:lpstr>SimSun</vt:lpstr>
      <vt:lpstr>Kingsoft Sign</vt:lpstr>
      <vt:lpstr>Thonburi</vt:lpstr>
      <vt:lpstr>Kingsoft Math</vt:lpstr>
      <vt:lpstr>等线</vt:lpstr>
      <vt:lpstr>HDOfficeLightV0</vt:lpstr>
      <vt:lpstr>Graph Algorithms</vt:lpstr>
      <vt:lpstr>Definitions &amp; Representations</vt:lpstr>
      <vt:lpstr>Graphs </vt:lpstr>
      <vt:lpstr>Motivation for Graphs</vt:lpstr>
      <vt:lpstr>Motivation for Graphs</vt:lpstr>
      <vt:lpstr>Representing a Maze</vt:lpstr>
      <vt:lpstr>Representing Electrical Circuits</vt:lpstr>
      <vt:lpstr>Program statements</vt:lpstr>
      <vt:lpstr>Precedence</vt:lpstr>
      <vt:lpstr>Information Transmission in a Computer Network</vt:lpstr>
      <vt:lpstr>Map </vt:lpstr>
      <vt:lpstr>Graph Definition</vt:lpstr>
      <vt:lpstr>Graph Example</vt:lpstr>
      <vt:lpstr>Directed vs Undirected Graphs</vt:lpstr>
      <vt:lpstr>Undirected Terminology</vt:lpstr>
      <vt:lpstr>Undirected Terminology</vt:lpstr>
      <vt:lpstr>Directed Terminology</vt:lpstr>
      <vt:lpstr>Directed Terminology</vt:lpstr>
      <vt:lpstr>Handshaking Theorem</vt:lpstr>
      <vt:lpstr>Labeled Graph</vt:lpstr>
      <vt:lpstr>Paths and Cycles</vt:lpstr>
      <vt:lpstr>Graph Representations</vt:lpstr>
      <vt:lpstr>Adjacency Matrix</vt:lpstr>
      <vt:lpstr>Adjacency Matrix for a Digraph</vt:lpstr>
      <vt:lpstr>Adjacency List</vt:lpstr>
      <vt:lpstr>Adjacency List for a Digraph</vt:lpstr>
      <vt:lpstr>Graph Representations</vt:lpstr>
      <vt:lpstr>Graph Representations</vt:lpstr>
      <vt:lpstr>Graph Representations</vt:lpstr>
      <vt:lpstr>Graph implementations</vt:lpstr>
      <vt:lpstr>Graph Implementations</vt:lpstr>
      <vt:lpstr>Graph Implementations</vt:lpstr>
      <vt:lpstr>Graph Implementations</vt:lpstr>
      <vt:lpstr>Graph Implementations</vt:lpstr>
      <vt:lpstr>Graph Implementations</vt:lpstr>
      <vt:lpstr>Graph Implementations</vt:lpstr>
      <vt:lpstr>Graph Implementations</vt:lpstr>
      <vt:lpstr>Graph Implementations</vt:lpstr>
    </vt:vector>
  </TitlesOfParts>
  <Company>scut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jiexin</cp:lastModifiedBy>
  <cp:revision>930</cp:revision>
  <dcterms:created xsi:type="dcterms:W3CDTF">2023-10-27T02:21:10Z</dcterms:created>
  <dcterms:modified xsi:type="dcterms:W3CDTF">2023-10-27T02:21:10Z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1033-4.4.1.7618</vt:lpwstr>
  </property>
</Properties>
</file>