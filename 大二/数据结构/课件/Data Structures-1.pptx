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3.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93" r:id="rId3"/>
    <p:sldId id="266" r:id="rId5"/>
    <p:sldId id="268" r:id="rId6"/>
    <p:sldId id="267" r:id="rId7"/>
    <p:sldId id="360" r:id="rId8"/>
    <p:sldId id="361" r:id="rId9"/>
    <p:sldId id="276" r:id="rId10"/>
    <p:sldId id="312" r:id="rId11"/>
    <p:sldId id="310" r:id="rId12"/>
    <p:sldId id="313" r:id="rId13"/>
    <p:sldId id="376" r:id="rId14"/>
    <p:sldId id="309" r:id="rId15"/>
    <p:sldId id="306" r:id="rId16"/>
    <p:sldId id="352" r:id="rId17"/>
    <p:sldId id="353" r:id="rId18"/>
    <p:sldId id="354" r:id="rId19"/>
    <p:sldId id="355" r:id="rId20"/>
    <p:sldId id="356" r:id="rId21"/>
    <p:sldId id="357" r:id="rId22"/>
    <p:sldId id="358" r:id="rId23"/>
    <p:sldId id="270" r:id="rId24"/>
    <p:sldId id="275" r:id="rId25"/>
    <p:sldId id="272" r:id="rId26"/>
    <p:sldId id="271" r:id="rId27"/>
    <p:sldId id="375" r:id="rId28"/>
    <p:sldId id="292" r:id="rId29"/>
    <p:sldId id="377" r:id="rId30"/>
    <p:sldId id="378" r:id="rId31"/>
    <p:sldId id="379" r:id="rId32"/>
    <p:sldId id="380" r:id="rId33"/>
    <p:sldId id="381" r:id="rId34"/>
    <p:sldId id="382" r:id="rId35"/>
    <p:sldId id="383" r:id="rId36"/>
    <p:sldId id="384" r:id="rId37"/>
    <p:sldId id="385" r:id="rId38"/>
    <p:sldId id="344" r:id="rId39"/>
    <p:sldId id="345" r:id="rId40"/>
    <p:sldId id="343" r:id="rId41"/>
    <p:sldId id="346" r:id="rId42"/>
    <p:sldId id="369" r:id="rId43"/>
    <p:sldId id="370" r:id="rId44"/>
    <p:sldId id="371" r:id="rId45"/>
    <p:sldId id="372" r:id="rId46"/>
    <p:sldId id="373" r:id="rId47"/>
    <p:sldId id="374" r:id="rId48"/>
    <p:sldId id="289" r:id="rId49"/>
    <p:sldId id="290" r:id="rId50"/>
    <p:sldId id="291" r:id="rId51"/>
    <p:sldId id="362" r:id="rId52"/>
    <p:sldId id="363" r:id="rId53"/>
    <p:sldId id="365" r:id="rId54"/>
    <p:sldId id="366" r:id="rId55"/>
    <p:sldId id="368" r:id="rId56"/>
    <p:sldId id="348" r:id="rId57"/>
    <p:sldId id="349" r:id="rId58"/>
    <p:sldId id="350" r:id="rId59"/>
    <p:sldId id="351" r:id="rId60"/>
    <p:sldId id="394"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C-A230" initials="P" lastIdx="1" clrIdx="0"/>
  <p:cmAuthor id="2" name="jiexin" initials="j" lastIdx="2" clrIdx="1"/>
  <p:cmAuthor id="3" name="静云 徐" initials="静云" lastIdx="1" clrIdx="2"/>
  <p:cmAuthor id="0" name="闫秀丽" initials="闫秀丽" lastIdx="0" clrIdx="0"/>
  <p:cmAuthor id="71" name="未定义" initials="未" lastIdx="1" clrIdx="1"/>
  <p:cmAuthor id="72" name="范作霖" initials="范" lastIdx="1" clrIdx="22"/>
  <p:cmAuthor id="73" name="张惠" initials="张" lastIdx="1" clrIdx="0"/>
  <p:cmAuthor id="74" name="panhong" initials="p" lastIdx="18" clrIdx="0"/>
  <p:cmAuthor id="4" name="廖绪才" initials="廖" lastIdx="1" clrIdx="0"/>
  <p:cmAuthor id="5" name="戴煌胜" initials="戴" lastIdx="1" clrIdx="0"/>
  <p:cmAuthor id="6" name="lenovo" initials="l" lastIdx="3" clrIdx="0"/>
  <p:cmAuthor id="7" name="范仁云" initials="范" lastIdx="0" clrIdx="0"/>
  <p:cmAuthor id="8" name="未知用户1" initials="未" lastIdx="1" clrIdx="0"/>
  <p:cmAuthor id="9" name="Microsoft 帐户" initials="M" lastIdx="1" clrIdx="1"/>
  <p:cmAuthor id="10" name="舒安" initials="舒" lastIdx="1" clrIdx="0"/>
  <p:cmAuthor id="11" name="朱明华" initials="m" lastIdx="2" clrIdx="3"/>
  <p:cmAuthor id="12" name="未知用户2" initials="未" lastIdx="1" clrIdx="0"/>
  <p:cmAuthor id="13" name="孙现民" initials="孙" lastIdx="1" clrIdx="0"/>
  <p:cmAuthor id="14" name="陈桂枝" initials="陈" lastIdx="1" clrIdx="0"/>
  <p:cmAuthor id="16" name="李威" initials="李" lastIdx="1" clrIdx="3"/>
  <p:cmAuthor id="19" name="未知用户3" initials="未" lastIdx="4" clrIdx="1"/>
  <p:cmAuthor id="21" name="thinkpad" initials="t" lastIdx="2" clrIdx="0"/>
  <p:cmAuthor id="22" name="刘传坤" initials="刘" lastIdx="14" clrIdx="0"/>
  <p:cmAuthor id="23" name="China" initials="C" lastIdx="8" clrIdx="1"/>
  <p:cmAuthor id="24" name="张立鑫" initials="张" lastIdx="1" clrIdx="23"/>
  <p:cmAuthor id="25" name="未知用户17" initials="未" lastIdx="1" clrIdx="1"/>
  <p:cmAuthor id="26" name="未知用户4" initials="未" lastIdx="4" clrIdx="1"/>
  <p:cmAuthor id="27" name="吴铭锐" initials="吴" lastIdx="2" clrIdx="0"/>
  <p:cmAuthor id="28" name="未知用户19" initials="未" lastIdx="1" clrIdx="0"/>
  <p:cmAuthor id="29" name="杨静" initials="杨" lastIdx="1" clrIdx="22"/>
  <p:cmAuthor id="30" name="包珊珊" initials="包" lastIdx="7" clrIdx="23"/>
  <p:cmAuthor id="31" name="YuQing" initials="Y" lastIdx="9" clrIdx="0"/>
  <p:cmAuthor id="32" name="Youwen Sun" initials="Y" lastIdx="3" clrIdx="1"/>
  <p:cmAuthor id="33" name="番茄花园" initials="番" lastIdx="1" clrIdx="0"/>
  <p:cmAuthor id="34" name="evil" initials="e" lastIdx="0" clrIdx="0"/>
  <p:cmAuthor id="35" name="未知" initials="未" lastIdx="1" clrIdx="0"/>
  <p:cmAuthor id="36" name="陶川" initials="陶" lastIdx="1" clrIdx="0"/>
  <p:cmAuthor id="37" name="张杰" initials="张" lastIdx="7" clrIdx="0"/>
  <p:cmAuthor id="38" name="周满红" initials="周" lastIdx="24" clrIdx="0"/>
  <p:cmAuthor id="39" name="未知用户5" initials="未" lastIdx="4" clrIdx="3"/>
  <p:cmAuthor id="41" name="未知用户7" initials="未" lastIdx="1" clrIdx="0"/>
  <p:cmAuthor id="42" name="未知用户8" initials="未" lastIdx="2" clrIdx="4"/>
  <p:cmAuthor id="43" name="未知用户9" initials="未" lastIdx="3" clrIdx="5"/>
  <p:cmAuthor id="44" name="未知用户10" initials="未" lastIdx="9" clrIdx="0"/>
  <p:cmAuthor id="45" name="未知用户11" initials="未" lastIdx="1" clrIdx="0"/>
  <p:cmAuthor id="46" name="未知用户23" initials="未" lastIdx="1" clrIdx="1"/>
  <p:cmAuthor id="47" name="未知用户24" initials="未" lastIdx="1" clrIdx="0"/>
  <p:cmAuthor id="48" name="未知用户25" initials="未" lastIdx="1" clrIdx="0"/>
  <p:cmAuthor id="49" name="未知用户26" initials="未" lastIdx="1" clrIdx="0"/>
  <p:cmAuthor id="50" name="未知用户27" initials="未" lastIdx="1" clrIdx="0"/>
  <p:cmAuthor id="51" name="未知用户28" initials="未" lastIdx="1" clrIdx="0"/>
  <p:cmAuthor id="52" name="未知用户29" initials="未" lastIdx="1" clrIdx="0"/>
  <p:cmAuthor id="53" name="未知用户30" initials="未" lastIdx="4" clrIdx="0"/>
  <p:cmAuthor id="54" name="yangkun" initials="y" lastIdx="0" clrIdx="0"/>
  <p:cmAuthor id="55" name="Lenovo User" initials="L" lastIdx="1" clrIdx="0"/>
  <p:cmAuthor id="56" name="hys2" initials="h" lastIdx="1" clrIdx="0"/>
  <p:cmAuthor id="57" name="朱绍春" initials="朱" lastIdx="13" clrIdx="0"/>
  <p:cmAuthor id="58" name="邹洋" initials="邹" lastIdx="2" clrIdx="0"/>
  <p:cmAuthor id="59" name="孟祥超" initials="孟" lastIdx="2" clrIdx="1"/>
  <p:cmAuthor id="60" name="贡鑫" initials="贡" lastIdx="2" clrIdx="0"/>
  <p:cmAuthor id="61" name="administrator1" initials="a" lastIdx="16" clrIdx="2"/>
  <p:cmAuthor id="62" name="杜雪梅" initials="杜" lastIdx="1" clrIdx="0"/>
  <p:cmAuthor id="63" name="lijin" initials="l" lastIdx="33" clrIdx="0"/>
  <p:cmAuthor id="64" name="未知用户22" initials="未" lastIdx="34" clrIdx="0"/>
  <p:cmAuthor id="66" name="rq fan" initials="r" lastIdx="3" clrIdx="1"/>
  <p:cmAuthor id="67" name="张雁" initials="张" lastIdx="1" clrIdx="19"/>
  <p:cmAuthor id="68" name="未知用户12" initials="未" lastIdx="1" clrIdx="0"/>
  <p:cmAuthor id="69" name="李百秋" initials="李" lastIdx="3" clrIdx="21"/>
  <p:cmAuthor id="70" name="刘艳龙" initials="刘" lastIdx="2" clrIdx="0"/>
  <p:cmAuthor id="75" name="作者" initials="A"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5" Type="http://schemas.openxmlformats.org/officeDocument/2006/relationships/commentAuthors" Target="commentAuthors.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ltLang="zh-CN">
              <a:sym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15B72CF-2068-4FB5-B981-3BA37ED77D04}"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幻灯片图像占位符 1"/>
          <p:cNvSpPr>
            <a:spLocks noGrp="1" noRot="1" noChangeAspect="1" noTextEdit="1"/>
          </p:cNvSpPr>
          <p:nvPr>
            <p:ph type="sldImg"/>
          </p:nvPr>
        </p:nvSpPr>
        <p:spPr>
          <a:ln>
            <a:miter/>
          </a:ln>
        </p:spPr>
      </p:sp>
      <p:sp>
        <p:nvSpPr>
          <p:cNvPr id="14338" name="备注占位符 2"/>
          <p:cNvSpPr>
            <a:spLocks noGrp="1"/>
          </p:cNvSpPr>
          <p:nvPr>
            <p:ph type="body"/>
          </p:nvPr>
        </p:nvSpPr>
        <p:spPr/>
        <p:txBody>
          <a:bodyPr wrap="square" lIns="91440" tIns="45720" rIns="91440" bIns="45720" anchor="t" anchorCtr="0"/>
          <a:p>
            <a:pPr lvl="0"/>
            <a:endParaRPr lang="en-US" altLang="zh-CN"/>
          </a:p>
        </p:txBody>
      </p:sp>
      <p:sp>
        <p:nvSpPr>
          <p:cNvPr id="14339" name="灯片编号占位符 3"/>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a:fld>
            <a:endParaRPr lang="zh-CN"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幻灯片图像占位符 1"/>
          <p:cNvSpPr>
            <a:spLocks noGrp="1" noRot="1" noChangeAspect="1" noTextEdit="1"/>
          </p:cNvSpPr>
          <p:nvPr>
            <p:ph type="sldImg"/>
          </p:nvPr>
        </p:nvSpPr>
        <p:spPr>
          <a:ln>
            <a:miter/>
          </a:ln>
        </p:spPr>
      </p:sp>
      <p:sp>
        <p:nvSpPr>
          <p:cNvPr id="16386" name="备注占位符 2"/>
          <p:cNvSpPr>
            <a:spLocks noGrp="1"/>
          </p:cNvSpPr>
          <p:nvPr>
            <p:ph type="body"/>
          </p:nvPr>
        </p:nvSpPr>
        <p:spPr/>
        <p:txBody>
          <a:bodyPr wrap="square" lIns="91440" tIns="45720" rIns="91440" bIns="45720" anchor="t" anchorCtr="0"/>
          <a:p>
            <a:pPr lvl="0"/>
            <a:endParaRPr lang="en-US" altLang="zh-CN"/>
          </a:p>
        </p:txBody>
      </p:sp>
      <p:sp>
        <p:nvSpPr>
          <p:cNvPr id="16387" name="灯片编号占位符 3"/>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a:fld>
            <a:endParaRPr lang="zh-CN" alt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幻灯片图像占位符 1"/>
          <p:cNvSpPr>
            <a:spLocks noGrp="1" noRot="1" noChangeAspect="1" noTextEdit="1"/>
          </p:cNvSpPr>
          <p:nvPr>
            <p:ph type="sldImg"/>
          </p:nvPr>
        </p:nvSpPr>
        <p:spPr>
          <a:ln>
            <a:miter/>
          </a:ln>
        </p:spPr>
      </p:sp>
      <p:sp>
        <p:nvSpPr>
          <p:cNvPr id="20482" name="备注占位符 2"/>
          <p:cNvSpPr>
            <a:spLocks noGrp="1"/>
          </p:cNvSpPr>
          <p:nvPr>
            <p:ph type="body"/>
          </p:nvPr>
        </p:nvSpPr>
        <p:spPr/>
        <p:txBody>
          <a:bodyPr wrap="square" lIns="91440" tIns="45720" rIns="91440" bIns="45720" anchor="t" anchorCtr="0"/>
          <a:p>
            <a:pPr lvl="0"/>
            <a:endParaRPr lang="zh-CN" altLang="en-US"/>
          </a:p>
        </p:txBody>
      </p:sp>
      <p:sp>
        <p:nvSpPr>
          <p:cNvPr id="20483" name="灯片编号占位符 3"/>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eaLnBrk="1" hangingPunct="1"/>
            <a:fld id="{9A0DB2DC-4C9A-4742-B13C-FB6460FD3503}" type="slidenum">
              <a:rPr lang="zh-CN" altLang="en-US" sz="1200"/>
            </a:fld>
            <a:endParaRPr lang="zh-CN" alt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ChangeArrowheads="1" noTextEdit="1"/>
          </p:cNvSpPr>
          <p:nvPr>
            <p:ph type="sldImg" idx="4294967295"/>
          </p:nvPr>
        </p:nvSpPr>
        <p:spPr/>
      </p:sp>
      <p:sp>
        <p:nvSpPr>
          <p:cNvPr id="7171" name="Notes Placeholder 2"/>
          <p:cNvSpPr>
            <a:spLocks noGrp="1" noChangeArrowheads="1"/>
          </p:cNvSpPr>
          <p:nvPr>
            <p:ph type="body" idx="4294967295"/>
          </p:nvPr>
        </p:nvSpPr>
        <p:spPr/>
        <p:txBody>
          <a:bodyPr/>
          <a:lstStyle/>
          <a:p>
            <a:endParaRPr lang="zh-CN" altLang="en-US">
              <a:ea typeface="宋体"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ChangeArrowheads="1" noTextEdit="1"/>
          </p:cNvSpPr>
          <p:nvPr>
            <p:ph type="sldImg" idx="4294967295"/>
          </p:nvPr>
        </p:nvSpPr>
        <p:spPr/>
      </p:sp>
      <p:sp>
        <p:nvSpPr>
          <p:cNvPr id="13315" name="Notes Placeholder 2"/>
          <p:cNvSpPr>
            <a:spLocks noGrp="1" noChangeArrowheads="1"/>
          </p:cNvSpPr>
          <p:nvPr>
            <p:ph type="body" idx="4294967295"/>
          </p:nvPr>
        </p:nvSpPr>
        <p:spPr/>
        <p:txBody>
          <a:bodyPr/>
          <a:lstStyle/>
          <a:p>
            <a:endParaRPr lang="en-US" altLang="zh-CN">
              <a:ea typeface="宋体"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ChangeArrowheads="1" noTextEdit="1"/>
          </p:cNvSpPr>
          <p:nvPr>
            <p:ph type="sldImg" idx="4294967295"/>
          </p:nvPr>
        </p:nvSpPr>
        <p:spPr/>
      </p:sp>
      <p:sp>
        <p:nvSpPr>
          <p:cNvPr id="11267" name="Notes Placeholder 2"/>
          <p:cNvSpPr>
            <a:spLocks noGrp="1" noChangeArrowheads="1"/>
          </p:cNvSpPr>
          <p:nvPr>
            <p:ph type="body" idx="4294967295"/>
          </p:nvPr>
        </p:nvSpPr>
        <p:spPr/>
        <p:txBody>
          <a:bodyPr/>
          <a:lstStyle/>
          <a:p>
            <a:endParaRPr lang="zh-CN" altLang="en-US">
              <a:ea typeface="宋体"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ChangeArrowheads="1" noTextEdit="1"/>
          </p:cNvSpPr>
          <p:nvPr>
            <p:ph type="sldImg" idx="4294967295"/>
          </p:nvPr>
        </p:nvSpPr>
        <p:spPr/>
      </p:sp>
      <p:sp>
        <p:nvSpPr>
          <p:cNvPr id="9219" name="Notes Placeholder 2"/>
          <p:cNvSpPr>
            <a:spLocks noGrp="1" noChangeArrowheads="1"/>
          </p:cNvSpPr>
          <p:nvPr>
            <p:ph type="body" idx="4294967295"/>
          </p:nvPr>
        </p:nvSpPr>
        <p:spPr/>
        <p:txBody>
          <a:bodyPr/>
          <a:lstStyle/>
          <a:p>
            <a:endParaRPr lang="zh-CN" altLang="en-US">
              <a:ea typeface="宋体"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ChangeArrowheads="1" noTextEdit="1"/>
          </p:cNvSpPr>
          <p:nvPr>
            <p:ph type="sldImg" idx="4294967295"/>
          </p:nvPr>
        </p:nvSpPr>
        <p:spPr/>
      </p:sp>
      <p:sp>
        <p:nvSpPr>
          <p:cNvPr id="13315" name="Notes Placeholder 2"/>
          <p:cNvSpPr>
            <a:spLocks noGrp="1" noChangeArrowheads="1"/>
          </p:cNvSpPr>
          <p:nvPr>
            <p:ph type="body" idx="4294967295"/>
          </p:nvPr>
        </p:nvSpPr>
        <p:spPr/>
        <p:txBody>
          <a:bodyPr/>
          <a:lstStyle/>
          <a:p>
            <a:endParaRPr lang="en-US" altLang="zh-CN">
              <a:ea typeface="宋体"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灯片编号占位符 3"/>
          <p:cNvSpPr>
            <a:spLocks noGrp="1"/>
          </p:cNvSpPr>
          <p:nvPr>
            <p:ph type="sldNum" sz="quarter" idx="5"/>
          </p:nvPr>
        </p:nvSpPr>
        <p:spPr/>
        <p:txBody>
          <a:bodyPr/>
          <a:lstStyle/>
          <a:p>
            <a:fld id="{9F5792BE-0051-4F7F-A8DE-F209F48D94A6}"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灯片编号占位符 3"/>
          <p:cNvSpPr>
            <a:spLocks noGrp="1"/>
          </p:cNvSpPr>
          <p:nvPr>
            <p:ph type="sldNum" sz="quarter" idx="5"/>
          </p:nvPr>
        </p:nvSpPr>
        <p:spPr/>
        <p:txBody>
          <a:bodyPr/>
          <a:lstStyle/>
          <a:p>
            <a:fld id="{9F5792BE-0051-4F7F-A8DE-F209F48D94A6}"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endParaRPr lang="en-US" altLang="zh-CN" sz="1800"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灯片编号占位符 3"/>
          <p:cNvSpPr>
            <a:spLocks noGrp="1"/>
          </p:cNvSpPr>
          <p:nvPr>
            <p:ph type="sldNum" sz="quarter" idx="5"/>
          </p:nvPr>
        </p:nvSpPr>
        <p:spPr/>
        <p:txBody>
          <a:bodyPr/>
          <a:lstStyle/>
          <a:p>
            <a:fld id="{9F5792BE-0051-4F7F-A8DE-F209F48D94A6}"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灯片编号占位符 3"/>
          <p:cNvSpPr>
            <a:spLocks noGrp="1"/>
          </p:cNvSpPr>
          <p:nvPr>
            <p:ph type="sldNum" sz="quarter" idx="5"/>
          </p:nvPr>
        </p:nvSpPr>
        <p:spPr/>
        <p:txBody>
          <a:bodyPr/>
          <a:lstStyle/>
          <a:p>
            <a:fld id="{9F5792BE-0051-4F7F-A8DE-F209F48D94A6}"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灯片编号占位符 3"/>
          <p:cNvSpPr>
            <a:spLocks noGrp="1"/>
          </p:cNvSpPr>
          <p:nvPr>
            <p:ph type="sldNum" sz="quarter" idx="5"/>
          </p:nvPr>
        </p:nvSpPr>
        <p:spPr/>
        <p:txBody>
          <a:bodyPr/>
          <a:lstStyle/>
          <a:p>
            <a:fld id="{9F5792BE-0051-4F7F-A8DE-F209F48D94A6}"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灯片编号占位符 3"/>
          <p:cNvSpPr>
            <a:spLocks noGrp="1"/>
          </p:cNvSpPr>
          <p:nvPr>
            <p:ph type="sldNum" sz="quarter" idx="5"/>
          </p:nvPr>
        </p:nvSpPr>
        <p:spPr/>
        <p:txBody>
          <a:bodyPr/>
          <a:lstStyle/>
          <a:p>
            <a:fld id="{9F5792BE-0051-4F7F-A8DE-F209F48D94A6}"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机器人对话：用</a:t>
            </a:r>
            <a:r>
              <a:rPr lang="en-US" altLang="zh-CN" dirty="0"/>
              <a:t>GPT-3</a:t>
            </a:r>
            <a:r>
              <a:rPr lang="zh-CN" altLang="en-US" dirty="0"/>
              <a:t> </a:t>
            </a:r>
            <a:r>
              <a:rPr lang="en-US" altLang="zh-CN" dirty="0"/>
              <a:t>https://www.youtube.com/watch?v=EWACmFLvpHE</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机器人操控：机械臂、无人机、家庭辅助机器人</a:t>
            </a:r>
            <a:endParaRPr lang="en-US" altLang="zh-CN" dirty="0"/>
          </a:p>
        </p:txBody>
      </p:sp>
      <p:sp>
        <p:nvSpPr>
          <p:cNvPr id="4" name="灯片编号占位符 3"/>
          <p:cNvSpPr>
            <a:spLocks noGrp="1"/>
          </p:cNvSpPr>
          <p:nvPr>
            <p:ph type="sldNum" sz="quarter" idx="5"/>
          </p:nvPr>
        </p:nvSpPr>
        <p:spPr/>
        <p:txBody>
          <a:bodyPr/>
          <a:lstStyle/>
          <a:p>
            <a:fld id="{9F5792BE-0051-4F7F-A8DE-F209F48D94A6}"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pPr>
              <a:lnSpc>
                <a:spcPct val="100000"/>
              </a:lnSpc>
              <a:spcBef>
                <a:spcPts val="100"/>
              </a:spcBef>
            </a:pPr>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灯片编号占位符 3"/>
          <p:cNvSpPr>
            <a:spLocks noGrp="1"/>
          </p:cNvSpPr>
          <p:nvPr>
            <p:ph type="sldNum" sz="quarter" idx="5"/>
          </p:nvPr>
        </p:nvSpPr>
        <p:spPr/>
        <p:txBody>
          <a:bodyPr/>
          <a:lstStyle/>
          <a:p>
            <a:fld id="{9F5792BE-0051-4F7F-A8DE-F209F48D94A6}"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灯片编号占位符 3"/>
          <p:cNvSpPr>
            <a:spLocks noGrp="1"/>
          </p:cNvSpPr>
          <p:nvPr>
            <p:ph type="sldNum" sz="quarter" idx="5"/>
          </p:nvPr>
        </p:nvSpPr>
        <p:spPr/>
        <p:txBody>
          <a:bodyPr/>
          <a:lstStyle/>
          <a:p>
            <a:fld id="{9F5792BE-0051-4F7F-A8DE-F209F48D94A6}"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灯片编号占位符 3"/>
          <p:cNvSpPr>
            <a:spLocks noGrp="1"/>
          </p:cNvSpPr>
          <p:nvPr>
            <p:ph type="sldNum" sz="quarter" idx="5"/>
          </p:nvPr>
        </p:nvSpPr>
        <p:spPr/>
        <p:txBody>
          <a:bodyPr/>
          <a:lstStyle/>
          <a:p>
            <a:fld id="{9F5792BE-0051-4F7F-A8DE-F209F48D94A6}"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灯片编号占位符 3"/>
          <p:cNvSpPr>
            <a:spLocks noGrp="1"/>
          </p:cNvSpPr>
          <p:nvPr>
            <p:ph type="sldNum" sz="quarter" idx="5"/>
          </p:nvPr>
        </p:nvSpPr>
        <p:spPr/>
        <p:txBody>
          <a:bodyPr/>
          <a:lstStyle/>
          <a:p>
            <a:fld id="{9F5792BE-0051-4F7F-A8DE-F209F48D94A6}"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ChangeArrowheads="1" noTextEdit="1"/>
          </p:cNvSpPr>
          <p:nvPr>
            <p:ph type="sldImg" idx="4294967295"/>
          </p:nvPr>
        </p:nvSpPr>
        <p:spPr/>
      </p:sp>
      <p:sp>
        <p:nvSpPr>
          <p:cNvPr id="13315" name="Notes Placeholder 2"/>
          <p:cNvSpPr>
            <a:spLocks noGrp="1" noChangeArrowheads="1"/>
          </p:cNvSpPr>
          <p:nvPr>
            <p:ph type="body" idx="4294967295"/>
          </p:nvPr>
        </p:nvSpPr>
        <p:spPr/>
        <p:txBody>
          <a:bodyPr/>
          <a:lstStyle/>
          <a:p>
            <a:endParaRPr lang="en-US" altLang="zh-CN">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age_bg_04">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advTm="3000">
        <p:split orient="vert"/>
      </p:transition>
    </mc:Choice>
    <mc:Fallback>
      <p:transition advTm="3000">
        <p:split orient="vert"/>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1_1图片">
    <p:spTree>
      <p:nvGrpSpPr>
        <p:cNvPr id="1" name=""/>
        <p:cNvGrpSpPr/>
        <p:nvPr/>
      </p:nvGrpSpPr>
      <p:grpSpPr>
        <a:xfrm>
          <a:off x="0" y="0"/>
          <a:ext cx="0" cy="0"/>
          <a:chOff x="0" y="0"/>
          <a:chExt cx="0" cy="0"/>
        </a:xfrm>
      </p:grpSpPr>
      <p:cxnSp>
        <p:nvCxnSpPr>
          <p:cNvPr id="5" name="直接连接符 4"/>
          <p:cNvCxnSpPr/>
          <p:nvPr userDrawn="1"/>
        </p:nvCxnSpPr>
        <p:spPr>
          <a:xfrm>
            <a:off x="660400" y="6238589"/>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91" name="任意多边形: 形状 90"/>
          <p:cNvSpPr/>
          <p:nvPr userDrawn="1"/>
        </p:nvSpPr>
        <p:spPr bwMode="auto">
          <a:xfrm rot="5400000">
            <a:off x="93484" y="218093"/>
            <a:ext cx="1133344" cy="494147"/>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73933" tIns="36966" rIns="73933" bIns="36966" numCol="1" anchor="ctr" anchorCtr="0" compatLnSpc="1">
            <a:noAutofit/>
          </a:bodyPr>
          <a:lstStyle/>
          <a:p>
            <a:pPr algn="ctr">
              <a:lnSpc>
                <a:spcPct val="130000"/>
              </a:lnSpc>
            </a:pPr>
            <a:endParaRPr lang="en-US" sz="3230" dirty="0">
              <a:solidFill>
                <a:schemeClr val="accent3"/>
              </a:solidFill>
              <a:cs typeface="+mn-ea"/>
              <a:sym typeface="+mn-lt"/>
            </a:endParaRPr>
          </a:p>
        </p:txBody>
      </p:sp>
      <p:sp>
        <p:nvSpPr>
          <p:cNvPr id="92" name="标题 1"/>
          <p:cNvSpPr>
            <a:spLocks noGrp="1"/>
          </p:cNvSpPr>
          <p:nvPr>
            <p:ph type="title"/>
          </p:nvPr>
        </p:nvSpPr>
        <p:spPr>
          <a:xfrm>
            <a:off x="1091255" y="237847"/>
            <a:ext cx="8168208" cy="790909"/>
          </a:xfrm>
        </p:spPr>
        <p:txBody>
          <a:bodyPr wrap="square" lIns="0" tIns="0" rIns="0" bIns="0">
            <a:normAutofit/>
          </a:bodyPr>
          <a:lstStyle>
            <a:lvl1pPr>
              <a:defRPr sz="2875" b="1">
                <a:solidFill>
                  <a:schemeClr val="accent1"/>
                </a:solidFill>
                <a:latin typeface="微软雅黑" charset="-122"/>
                <a:ea typeface="微软雅黑" charset="-122"/>
                <a:cs typeface="微软雅黑" charset="-122"/>
              </a:defRPr>
            </a:lvl1pPr>
          </a:lstStyle>
          <a:p>
            <a:r>
              <a:rPr lang="zh-CN" altLang="en-US" dirty="0"/>
              <a:t>单击此处编辑母版标题样式</a:t>
            </a:r>
            <a:endParaRPr lang="zh-CN" altLang="en-US" dirty="0"/>
          </a:p>
        </p:txBody>
      </p:sp>
      <p:sp>
        <p:nvSpPr>
          <p:cNvPr id="93" name="矩形 92"/>
          <p:cNvSpPr/>
          <p:nvPr userDrawn="1"/>
        </p:nvSpPr>
        <p:spPr>
          <a:xfrm>
            <a:off x="4922117" y="6327171"/>
            <a:ext cx="2347765" cy="240030"/>
          </a:xfrm>
          <a:prstGeom prst="rect">
            <a:avLst/>
          </a:prstGeom>
        </p:spPr>
        <p:txBody>
          <a:bodyPr wrap="square" anchor="ctr" anchorCtr="0">
            <a:spAutoFit/>
          </a:bodyPr>
          <a:lstStyle/>
          <a:p>
            <a:pPr algn="dist"/>
            <a:r>
              <a:rPr lang="zh-CN" altLang="en-US" sz="970" dirty="0">
                <a:solidFill>
                  <a:schemeClr val="bg1">
                    <a:lumMod val="50000"/>
                  </a:schemeClr>
                </a:solidFill>
              </a:rPr>
              <a:t>博学 慎思 明辨 笃行</a:t>
            </a:r>
            <a:endParaRPr lang="zh-CN" altLang="en-US" sz="970" dirty="0">
              <a:solidFill>
                <a:schemeClr val="bg1">
                  <a:lumMod val="50000"/>
                </a:schemeClr>
              </a:solidFill>
            </a:endParaRPr>
          </a:p>
        </p:txBody>
      </p:sp>
      <p:cxnSp>
        <p:nvCxnSpPr>
          <p:cNvPr id="2" name="直接连接符 1"/>
          <p:cNvCxnSpPr/>
          <p:nvPr/>
        </p:nvCxnSpPr>
        <p:spPr>
          <a:xfrm flipV="1">
            <a:off x="965200" y="995101"/>
            <a:ext cx="11244580" cy="635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mc:AlternateContent xmlns:mc="http://schemas.openxmlformats.org/markup-compatibility/2006">
    <mc:Choice xmlns:p14="http://schemas.microsoft.com/office/powerpoint/2010/main" Requires="p14">
      <p:transition p14:dur="500"/>
    </mc:Choice>
    <mc:Fallback>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hyperlink" Target="https://docs.qq.com/"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4.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4.xml"/><Relationship Id="rId3" Type="http://schemas.openxmlformats.org/officeDocument/2006/relationships/image" Target="../media/image13.webp"/><Relationship Id="rId2" Type="http://schemas.openxmlformats.org/officeDocument/2006/relationships/image" Target="../media/image12.png"/><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6.xml"/><Relationship Id="rId2" Type="http://schemas.openxmlformats.org/officeDocument/2006/relationships/image" Target="../media/image14.png"/><Relationship Id="rId1" Type="http://schemas.openxmlformats.org/officeDocument/2006/relationships/hyperlink" Target="https://www.bilibili.com/video/BV1k64y1M7Nm/?p=5&amp;spm_id_from=333.1007.top_right_bar_window_history.content.click&amp;vd_source=071429aeb69341f92fbace1349137a10"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image" Target="../media/image15.jpeg"/></Relationships>
</file>

<file path=ppt/slides/_rels/slide27.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1" Type="http://schemas.openxmlformats.org/officeDocument/2006/relationships/notesSlide" Target="../notesSlides/notesSlide27.xml"/><Relationship Id="rId20" Type="http://schemas.openxmlformats.org/officeDocument/2006/relationships/slideLayout" Target="../slideLayouts/slideLayout14.xml"/><Relationship Id="rId2" Type="http://schemas.openxmlformats.org/officeDocument/2006/relationships/image" Target="../media/image16.png"/><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28.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4" Type="http://schemas.openxmlformats.org/officeDocument/2006/relationships/notesSlide" Target="../notesSlides/notesSlide28.xml"/><Relationship Id="rId73" Type="http://schemas.openxmlformats.org/officeDocument/2006/relationships/slideLayout" Target="../slideLayouts/slideLayout14.xml"/><Relationship Id="rId72" Type="http://schemas.openxmlformats.org/officeDocument/2006/relationships/tags" Target="../tags/tag88.xml"/><Relationship Id="rId71" Type="http://schemas.openxmlformats.org/officeDocument/2006/relationships/image" Target="../media/image17.png"/><Relationship Id="rId70" Type="http://schemas.openxmlformats.org/officeDocument/2006/relationships/tags" Target="../tags/tag87.xml"/><Relationship Id="rId7" Type="http://schemas.openxmlformats.org/officeDocument/2006/relationships/tags" Target="../tags/tag24.xml"/><Relationship Id="rId69" Type="http://schemas.openxmlformats.org/officeDocument/2006/relationships/tags" Target="../tags/tag86.xml"/><Relationship Id="rId68" Type="http://schemas.openxmlformats.org/officeDocument/2006/relationships/tags" Target="../tags/tag85.xml"/><Relationship Id="rId67" Type="http://schemas.openxmlformats.org/officeDocument/2006/relationships/tags" Target="../tags/tag84.xml"/><Relationship Id="rId66" Type="http://schemas.openxmlformats.org/officeDocument/2006/relationships/tags" Target="../tags/tag83.xml"/><Relationship Id="rId65" Type="http://schemas.openxmlformats.org/officeDocument/2006/relationships/tags" Target="../tags/tag82.xml"/><Relationship Id="rId64" Type="http://schemas.openxmlformats.org/officeDocument/2006/relationships/tags" Target="../tags/tag81.xml"/><Relationship Id="rId63" Type="http://schemas.openxmlformats.org/officeDocument/2006/relationships/tags" Target="../tags/tag80.xml"/><Relationship Id="rId62" Type="http://schemas.openxmlformats.org/officeDocument/2006/relationships/tags" Target="../tags/tag79.xml"/><Relationship Id="rId61" Type="http://schemas.openxmlformats.org/officeDocument/2006/relationships/tags" Target="../tags/tag78.xml"/><Relationship Id="rId60" Type="http://schemas.openxmlformats.org/officeDocument/2006/relationships/tags" Target="../tags/tag77.xml"/><Relationship Id="rId6" Type="http://schemas.openxmlformats.org/officeDocument/2006/relationships/tags" Target="../tags/tag23.xml"/><Relationship Id="rId59" Type="http://schemas.openxmlformats.org/officeDocument/2006/relationships/tags" Target="../tags/tag76.xml"/><Relationship Id="rId58" Type="http://schemas.openxmlformats.org/officeDocument/2006/relationships/tags" Target="../tags/tag75.xml"/><Relationship Id="rId57" Type="http://schemas.openxmlformats.org/officeDocument/2006/relationships/tags" Target="../tags/tag74.xml"/><Relationship Id="rId56" Type="http://schemas.openxmlformats.org/officeDocument/2006/relationships/tags" Target="../tags/tag73.xml"/><Relationship Id="rId55" Type="http://schemas.openxmlformats.org/officeDocument/2006/relationships/tags" Target="../tags/tag72.xml"/><Relationship Id="rId54" Type="http://schemas.openxmlformats.org/officeDocument/2006/relationships/tags" Target="../tags/tag71.xml"/><Relationship Id="rId53" Type="http://schemas.openxmlformats.org/officeDocument/2006/relationships/tags" Target="../tags/tag70.xml"/><Relationship Id="rId52" Type="http://schemas.openxmlformats.org/officeDocument/2006/relationships/tags" Target="../tags/tag69.xml"/><Relationship Id="rId51" Type="http://schemas.openxmlformats.org/officeDocument/2006/relationships/tags" Target="../tags/tag68.xml"/><Relationship Id="rId50" Type="http://schemas.openxmlformats.org/officeDocument/2006/relationships/tags" Target="../tags/tag67.xml"/><Relationship Id="rId5" Type="http://schemas.openxmlformats.org/officeDocument/2006/relationships/tags" Target="../tags/tag22.xml"/><Relationship Id="rId49" Type="http://schemas.openxmlformats.org/officeDocument/2006/relationships/tags" Target="../tags/tag66.xml"/><Relationship Id="rId48" Type="http://schemas.openxmlformats.org/officeDocument/2006/relationships/tags" Target="../tags/tag65.xml"/><Relationship Id="rId47" Type="http://schemas.openxmlformats.org/officeDocument/2006/relationships/tags" Target="../tags/tag64.xml"/><Relationship Id="rId46" Type="http://schemas.openxmlformats.org/officeDocument/2006/relationships/tags" Target="../tags/tag63.xml"/><Relationship Id="rId45" Type="http://schemas.openxmlformats.org/officeDocument/2006/relationships/tags" Target="../tags/tag62.xml"/><Relationship Id="rId44" Type="http://schemas.openxmlformats.org/officeDocument/2006/relationships/tags" Target="../tags/tag61.xml"/><Relationship Id="rId43" Type="http://schemas.openxmlformats.org/officeDocument/2006/relationships/tags" Target="../tags/tag60.xml"/><Relationship Id="rId42" Type="http://schemas.openxmlformats.org/officeDocument/2006/relationships/tags" Target="../tags/tag59.xml"/><Relationship Id="rId41" Type="http://schemas.openxmlformats.org/officeDocument/2006/relationships/tags" Target="../tags/tag58.xml"/><Relationship Id="rId40" Type="http://schemas.openxmlformats.org/officeDocument/2006/relationships/tags" Target="../tags/tag57.xml"/><Relationship Id="rId4" Type="http://schemas.openxmlformats.org/officeDocument/2006/relationships/tags" Target="../tags/tag21.xml"/><Relationship Id="rId39" Type="http://schemas.openxmlformats.org/officeDocument/2006/relationships/tags" Target="../tags/tag56.xml"/><Relationship Id="rId38" Type="http://schemas.openxmlformats.org/officeDocument/2006/relationships/tags" Target="../tags/tag55.xml"/><Relationship Id="rId37" Type="http://schemas.openxmlformats.org/officeDocument/2006/relationships/tags" Target="../tags/tag54.xml"/><Relationship Id="rId36" Type="http://schemas.openxmlformats.org/officeDocument/2006/relationships/tags" Target="../tags/tag53.xml"/><Relationship Id="rId35" Type="http://schemas.openxmlformats.org/officeDocument/2006/relationships/tags" Target="../tags/tag52.xml"/><Relationship Id="rId34" Type="http://schemas.openxmlformats.org/officeDocument/2006/relationships/tags" Target="../tags/tag51.xml"/><Relationship Id="rId33" Type="http://schemas.openxmlformats.org/officeDocument/2006/relationships/tags" Target="../tags/tag50.xml"/><Relationship Id="rId32" Type="http://schemas.openxmlformats.org/officeDocument/2006/relationships/tags" Target="../tags/tag49.xml"/><Relationship Id="rId31" Type="http://schemas.openxmlformats.org/officeDocument/2006/relationships/tags" Target="../tags/tag48.xml"/><Relationship Id="rId30" Type="http://schemas.openxmlformats.org/officeDocument/2006/relationships/tags" Target="../tags/tag47.xml"/><Relationship Id="rId3" Type="http://schemas.openxmlformats.org/officeDocument/2006/relationships/tags" Target="../tags/tag20.xml"/><Relationship Id="rId29" Type="http://schemas.openxmlformats.org/officeDocument/2006/relationships/tags" Target="../tags/tag46.xml"/><Relationship Id="rId28" Type="http://schemas.openxmlformats.org/officeDocument/2006/relationships/tags" Target="../tags/tag45.xml"/><Relationship Id="rId27" Type="http://schemas.openxmlformats.org/officeDocument/2006/relationships/tags" Target="../tags/tag44.xml"/><Relationship Id="rId26" Type="http://schemas.openxmlformats.org/officeDocument/2006/relationships/tags" Target="../tags/tag43.xml"/><Relationship Id="rId25" Type="http://schemas.openxmlformats.org/officeDocument/2006/relationships/tags" Target="../tags/tag42.xml"/><Relationship Id="rId24" Type="http://schemas.openxmlformats.org/officeDocument/2006/relationships/tags" Target="../tags/tag41.xml"/><Relationship Id="rId23" Type="http://schemas.openxmlformats.org/officeDocument/2006/relationships/tags" Target="../tags/tag40.xml"/><Relationship Id="rId22" Type="http://schemas.openxmlformats.org/officeDocument/2006/relationships/tags" Target="../tags/tag39.xml"/><Relationship Id="rId21" Type="http://schemas.openxmlformats.org/officeDocument/2006/relationships/tags" Target="../tags/tag38.xml"/><Relationship Id="rId20" Type="http://schemas.openxmlformats.org/officeDocument/2006/relationships/tags" Target="../tags/tag37.xml"/><Relationship Id="rId2" Type="http://schemas.openxmlformats.org/officeDocument/2006/relationships/image" Target="../media/image16.png"/><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9.xml"/></Relationships>
</file>

<file path=ppt/slides/_rels/slide29.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2" Type="http://schemas.openxmlformats.org/officeDocument/2006/relationships/notesSlide" Target="../notesSlides/notesSlide29.xml"/><Relationship Id="rId71" Type="http://schemas.openxmlformats.org/officeDocument/2006/relationships/slideLayout" Target="../slideLayouts/slideLayout14.xml"/><Relationship Id="rId70" Type="http://schemas.openxmlformats.org/officeDocument/2006/relationships/tags" Target="../tags/tag156.xml"/><Relationship Id="rId7" Type="http://schemas.openxmlformats.org/officeDocument/2006/relationships/tags" Target="../tags/tag93.xml"/><Relationship Id="rId69" Type="http://schemas.openxmlformats.org/officeDocument/2006/relationships/tags" Target="../tags/tag155.xml"/><Relationship Id="rId68" Type="http://schemas.openxmlformats.org/officeDocument/2006/relationships/tags" Target="../tags/tag154.xml"/><Relationship Id="rId67" Type="http://schemas.openxmlformats.org/officeDocument/2006/relationships/tags" Target="../tags/tag153.xml"/><Relationship Id="rId66" Type="http://schemas.openxmlformats.org/officeDocument/2006/relationships/tags" Target="../tags/tag152.xml"/><Relationship Id="rId65" Type="http://schemas.openxmlformats.org/officeDocument/2006/relationships/tags" Target="../tags/tag151.xml"/><Relationship Id="rId64" Type="http://schemas.openxmlformats.org/officeDocument/2006/relationships/tags" Target="../tags/tag150.xml"/><Relationship Id="rId63" Type="http://schemas.openxmlformats.org/officeDocument/2006/relationships/tags" Target="../tags/tag149.xml"/><Relationship Id="rId62" Type="http://schemas.openxmlformats.org/officeDocument/2006/relationships/tags" Target="../tags/tag148.xml"/><Relationship Id="rId61" Type="http://schemas.openxmlformats.org/officeDocument/2006/relationships/tags" Target="../tags/tag147.xml"/><Relationship Id="rId60" Type="http://schemas.openxmlformats.org/officeDocument/2006/relationships/tags" Target="../tags/tag146.xml"/><Relationship Id="rId6" Type="http://schemas.openxmlformats.org/officeDocument/2006/relationships/tags" Target="../tags/tag92.xml"/><Relationship Id="rId59" Type="http://schemas.openxmlformats.org/officeDocument/2006/relationships/tags" Target="../tags/tag145.xml"/><Relationship Id="rId58" Type="http://schemas.openxmlformats.org/officeDocument/2006/relationships/tags" Target="../tags/tag144.xml"/><Relationship Id="rId57" Type="http://schemas.openxmlformats.org/officeDocument/2006/relationships/tags" Target="../tags/tag143.xml"/><Relationship Id="rId56" Type="http://schemas.openxmlformats.org/officeDocument/2006/relationships/tags" Target="../tags/tag142.xml"/><Relationship Id="rId55" Type="http://schemas.openxmlformats.org/officeDocument/2006/relationships/tags" Target="../tags/tag141.xml"/><Relationship Id="rId54" Type="http://schemas.openxmlformats.org/officeDocument/2006/relationships/tags" Target="../tags/tag140.xml"/><Relationship Id="rId53" Type="http://schemas.openxmlformats.org/officeDocument/2006/relationships/tags" Target="../tags/tag139.xml"/><Relationship Id="rId52" Type="http://schemas.openxmlformats.org/officeDocument/2006/relationships/tags" Target="../tags/tag138.xml"/><Relationship Id="rId51" Type="http://schemas.openxmlformats.org/officeDocument/2006/relationships/tags" Target="../tags/tag137.xml"/><Relationship Id="rId50" Type="http://schemas.openxmlformats.org/officeDocument/2006/relationships/tags" Target="../tags/tag136.xml"/><Relationship Id="rId5" Type="http://schemas.openxmlformats.org/officeDocument/2006/relationships/image" Target="../media/image18.png"/><Relationship Id="rId49" Type="http://schemas.openxmlformats.org/officeDocument/2006/relationships/tags" Target="../tags/tag135.xml"/><Relationship Id="rId48" Type="http://schemas.openxmlformats.org/officeDocument/2006/relationships/tags" Target="../tags/tag134.xml"/><Relationship Id="rId47" Type="http://schemas.openxmlformats.org/officeDocument/2006/relationships/tags" Target="../tags/tag133.xml"/><Relationship Id="rId46" Type="http://schemas.openxmlformats.org/officeDocument/2006/relationships/tags" Target="../tags/tag132.xml"/><Relationship Id="rId45" Type="http://schemas.openxmlformats.org/officeDocument/2006/relationships/tags" Target="../tags/tag131.xml"/><Relationship Id="rId44" Type="http://schemas.openxmlformats.org/officeDocument/2006/relationships/tags" Target="../tags/tag130.xml"/><Relationship Id="rId43" Type="http://schemas.openxmlformats.org/officeDocument/2006/relationships/tags" Target="../tags/tag129.xml"/><Relationship Id="rId42" Type="http://schemas.openxmlformats.org/officeDocument/2006/relationships/tags" Target="../tags/tag128.xml"/><Relationship Id="rId41" Type="http://schemas.openxmlformats.org/officeDocument/2006/relationships/tags" Target="../tags/tag127.xml"/><Relationship Id="rId40" Type="http://schemas.openxmlformats.org/officeDocument/2006/relationships/tags" Target="../tags/tag126.xml"/><Relationship Id="rId4" Type="http://schemas.openxmlformats.org/officeDocument/2006/relationships/tags" Target="../tags/tag91.xml"/><Relationship Id="rId39" Type="http://schemas.openxmlformats.org/officeDocument/2006/relationships/tags" Target="../tags/tag125.xml"/><Relationship Id="rId38" Type="http://schemas.openxmlformats.org/officeDocument/2006/relationships/tags" Target="../tags/tag124.xml"/><Relationship Id="rId37" Type="http://schemas.openxmlformats.org/officeDocument/2006/relationships/tags" Target="../tags/tag123.xml"/><Relationship Id="rId36" Type="http://schemas.openxmlformats.org/officeDocument/2006/relationships/tags" Target="../tags/tag122.xml"/><Relationship Id="rId35" Type="http://schemas.openxmlformats.org/officeDocument/2006/relationships/tags" Target="../tags/tag121.xml"/><Relationship Id="rId34" Type="http://schemas.openxmlformats.org/officeDocument/2006/relationships/tags" Target="../tags/tag120.xml"/><Relationship Id="rId33" Type="http://schemas.openxmlformats.org/officeDocument/2006/relationships/tags" Target="../tags/tag119.xml"/><Relationship Id="rId32" Type="http://schemas.openxmlformats.org/officeDocument/2006/relationships/tags" Target="../tags/tag118.xml"/><Relationship Id="rId31" Type="http://schemas.openxmlformats.org/officeDocument/2006/relationships/tags" Target="../tags/tag117.xml"/><Relationship Id="rId30" Type="http://schemas.openxmlformats.org/officeDocument/2006/relationships/tags" Target="../tags/tag116.xml"/><Relationship Id="rId3" Type="http://schemas.openxmlformats.org/officeDocument/2006/relationships/tags" Target="../tags/tag90.xml"/><Relationship Id="rId29" Type="http://schemas.openxmlformats.org/officeDocument/2006/relationships/tags" Target="../tags/tag115.xml"/><Relationship Id="rId28" Type="http://schemas.openxmlformats.org/officeDocument/2006/relationships/tags" Target="../tags/tag114.xml"/><Relationship Id="rId27" Type="http://schemas.openxmlformats.org/officeDocument/2006/relationships/tags" Target="../tags/tag113.xml"/><Relationship Id="rId26" Type="http://schemas.openxmlformats.org/officeDocument/2006/relationships/tags" Target="../tags/tag112.xml"/><Relationship Id="rId25" Type="http://schemas.openxmlformats.org/officeDocument/2006/relationships/tags" Target="../tags/tag111.xml"/><Relationship Id="rId24" Type="http://schemas.openxmlformats.org/officeDocument/2006/relationships/tags" Target="../tags/tag110.xml"/><Relationship Id="rId23" Type="http://schemas.openxmlformats.org/officeDocument/2006/relationships/tags" Target="../tags/tag109.xml"/><Relationship Id="rId22" Type="http://schemas.openxmlformats.org/officeDocument/2006/relationships/tags" Target="../tags/tag108.xml"/><Relationship Id="rId21" Type="http://schemas.openxmlformats.org/officeDocument/2006/relationships/tags" Target="../tags/tag107.xml"/><Relationship Id="rId20" Type="http://schemas.openxmlformats.org/officeDocument/2006/relationships/tags" Target="../tags/tag106.xml"/><Relationship Id="rId2" Type="http://schemas.openxmlformats.org/officeDocument/2006/relationships/image" Target="../media/image16.png"/><Relationship Id="rId19" Type="http://schemas.openxmlformats.org/officeDocument/2006/relationships/tags" Target="../tags/tag105.xml"/><Relationship Id="rId18" Type="http://schemas.openxmlformats.org/officeDocument/2006/relationships/tags" Target="../tags/tag104.xml"/><Relationship Id="rId17" Type="http://schemas.openxmlformats.org/officeDocument/2006/relationships/tags" Target="../tags/tag103.xml"/><Relationship Id="rId16" Type="http://schemas.openxmlformats.org/officeDocument/2006/relationships/tags" Target="../tags/tag102.xml"/><Relationship Id="rId15" Type="http://schemas.openxmlformats.org/officeDocument/2006/relationships/tags" Target="../tags/tag101.xml"/><Relationship Id="rId14" Type="http://schemas.openxmlformats.org/officeDocument/2006/relationships/tags" Target="../tags/tag100.xml"/><Relationship Id="rId13" Type="http://schemas.openxmlformats.org/officeDocument/2006/relationships/tags" Target="../tags/tag99.xml"/><Relationship Id="rId12" Type="http://schemas.openxmlformats.org/officeDocument/2006/relationships/tags" Target="../tags/tag98.xml"/><Relationship Id="rId11" Type="http://schemas.openxmlformats.org/officeDocument/2006/relationships/tags" Target="../tags/tag97.xml"/><Relationship Id="rId10" Type="http://schemas.openxmlformats.org/officeDocument/2006/relationships/tags" Target="../tags/tag96.xml"/><Relationship Id="rId1" Type="http://schemas.openxmlformats.org/officeDocument/2006/relationships/tags" Target="../tags/tag89.xml"/></Relationships>
</file>

<file path=ppt/slides/_rels/slide30.xml.rels><?xml version="1.0" encoding="UTF-8" standalone="yes"?>
<Relationships xmlns="http://schemas.openxmlformats.org/package/2006/relationships"><Relationship Id="rId9" Type="http://schemas.openxmlformats.org/officeDocument/2006/relationships/tags" Target="../tags/tag164.xml"/><Relationship Id="rId82" Type="http://schemas.openxmlformats.org/officeDocument/2006/relationships/notesSlide" Target="../notesSlides/notesSlide30.xml"/><Relationship Id="rId81" Type="http://schemas.openxmlformats.org/officeDocument/2006/relationships/slideLayout" Target="../slideLayouts/slideLayout14.xml"/><Relationship Id="rId80" Type="http://schemas.openxmlformats.org/officeDocument/2006/relationships/tags" Target="../tags/tag235.xml"/><Relationship Id="rId8" Type="http://schemas.openxmlformats.org/officeDocument/2006/relationships/tags" Target="../tags/tag163.xml"/><Relationship Id="rId79" Type="http://schemas.openxmlformats.org/officeDocument/2006/relationships/tags" Target="../tags/tag234.xml"/><Relationship Id="rId78" Type="http://schemas.openxmlformats.org/officeDocument/2006/relationships/tags" Target="../tags/tag233.xml"/><Relationship Id="rId77" Type="http://schemas.openxmlformats.org/officeDocument/2006/relationships/tags" Target="../tags/tag232.xml"/><Relationship Id="rId76" Type="http://schemas.openxmlformats.org/officeDocument/2006/relationships/tags" Target="../tags/tag231.xml"/><Relationship Id="rId75" Type="http://schemas.openxmlformats.org/officeDocument/2006/relationships/tags" Target="../tags/tag230.xml"/><Relationship Id="rId74" Type="http://schemas.openxmlformats.org/officeDocument/2006/relationships/tags" Target="../tags/tag229.xml"/><Relationship Id="rId73" Type="http://schemas.openxmlformats.org/officeDocument/2006/relationships/tags" Target="../tags/tag228.xml"/><Relationship Id="rId72" Type="http://schemas.openxmlformats.org/officeDocument/2006/relationships/tags" Target="../tags/tag227.xml"/><Relationship Id="rId71" Type="http://schemas.openxmlformats.org/officeDocument/2006/relationships/tags" Target="../tags/tag226.xml"/><Relationship Id="rId70" Type="http://schemas.openxmlformats.org/officeDocument/2006/relationships/tags" Target="../tags/tag225.xml"/><Relationship Id="rId7" Type="http://schemas.openxmlformats.org/officeDocument/2006/relationships/tags" Target="../tags/tag162.xml"/><Relationship Id="rId69" Type="http://schemas.openxmlformats.org/officeDocument/2006/relationships/tags" Target="../tags/tag224.xml"/><Relationship Id="rId68" Type="http://schemas.openxmlformats.org/officeDocument/2006/relationships/tags" Target="../tags/tag223.xml"/><Relationship Id="rId67" Type="http://schemas.openxmlformats.org/officeDocument/2006/relationships/tags" Target="../tags/tag222.xml"/><Relationship Id="rId66" Type="http://schemas.openxmlformats.org/officeDocument/2006/relationships/tags" Target="../tags/tag221.xml"/><Relationship Id="rId65" Type="http://schemas.openxmlformats.org/officeDocument/2006/relationships/tags" Target="../tags/tag220.xml"/><Relationship Id="rId64" Type="http://schemas.openxmlformats.org/officeDocument/2006/relationships/tags" Target="../tags/tag219.xml"/><Relationship Id="rId63" Type="http://schemas.openxmlformats.org/officeDocument/2006/relationships/tags" Target="../tags/tag218.xml"/><Relationship Id="rId62" Type="http://schemas.openxmlformats.org/officeDocument/2006/relationships/tags" Target="../tags/tag217.xml"/><Relationship Id="rId61" Type="http://schemas.openxmlformats.org/officeDocument/2006/relationships/tags" Target="../tags/tag216.xml"/><Relationship Id="rId60" Type="http://schemas.openxmlformats.org/officeDocument/2006/relationships/tags" Target="../tags/tag215.xml"/><Relationship Id="rId6" Type="http://schemas.openxmlformats.org/officeDocument/2006/relationships/tags" Target="../tags/tag161.xml"/><Relationship Id="rId59" Type="http://schemas.openxmlformats.org/officeDocument/2006/relationships/tags" Target="../tags/tag214.xml"/><Relationship Id="rId58" Type="http://schemas.openxmlformats.org/officeDocument/2006/relationships/tags" Target="../tags/tag213.xml"/><Relationship Id="rId57" Type="http://schemas.openxmlformats.org/officeDocument/2006/relationships/tags" Target="../tags/tag212.xml"/><Relationship Id="rId56" Type="http://schemas.openxmlformats.org/officeDocument/2006/relationships/tags" Target="../tags/tag211.xml"/><Relationship Id="rId55" Type="http://schemas.openxmlformats.org/officeDocument/2006/relationships/tags" Target="../tags/tag210.xml"/><Relationship Id="rId54" Type="http://schemas.openxmlformats.org/officeDocument/2006/relationships/tags" Target="../tags/tag209.xml"/><Relationship Id="rId53" Type="http://schemas.openxmlformats.org/officeDocument/2006/relationships/tags" Target="../tags/tag208.xml"/><Relationship Id="rId52" Type="http://schemas.openxmlformats.org/officeDocument/2006/relationships/tags" Target="../tags/tag207.xml"/><Relationship Id="rId51" Type="http://schemas.openxmlformats.org/officeDocument/2006/relationships/tags" Target="../tags/tag206.xml"/><Relationship Id="rId50" Type="http://schemas.openxmlformats.org/officeDocument/2006/relationships/tags" Target="../tags/tag205.xml"/><Relationship Id="rId5" Type="http://schemas.openxmlformats.org/officeDocument/2006/relationships/tags" Target="../tags/tag160.xml"/><Relationship Id="rId49" Type="http://schemas.openxmlformats.org/officeDocument/2006/relationships/tags" Target="../tags/tag204.xml"/><Relationship Id="rId48" Type="http://schemas.openxmlformats.org/officeDocument/2006/relationships/tags" Target="../tags/tag203.xml"/><Relationship Id="rId47" Type="http://schemas.openxmlformats.org/officeDocument/2006/relationships/tags" Target="../tags/tag202.xml"/><Relationship Id="rId46" Type="http://schemas.openxmlformats.org/officeDocument/2006/relationships/tags" Target="../tags/tag201.xml"/><Relationship Id="rId45" Type="http://schemas.openxmlformats.org/officeDocument/2006/relationships/tags" Target="../tags/tag200.xml"/><Relationship Id="rId44" Type="http://schemas.openxmlformats.org/officeDocument/2006/relationships/tags" Target="../tags/tag199.xml"/><Relationship Id="rId43" Type="http://schemas.openxmlformats.org/officeDocument/2006/relationships/tags" Target="../tags/tag198.xml"/><Relationship Id="rId42" Type="http://schemas.openxmlformats.org/officeDocument/2006/relationships/tags" Target="../tags/tag197.xml"/><Relationship Id="rId41" Type="http://schemas.openxmlformats.org/officeDocument/2006/relationships/tags" Target="../tags/tag196.xml"/><Relationship Id="rId40" Type="http://schemas.openxmlformats.org/officeDocument/2006/relationships/tags" Target="../tags/tag195.xml"/><Relationship Id="rId4" Type="http://schemas.openxmlformats.org/officeDocument/2006/relationships/tags" Target="../tags/tag159.xml"/><Relationship Id="rId39" Type="http://schemas.openxmlformats.org/officeDocument/2006/relationships/tags" Target="../tags/tag194.xml"/><Relationship Id="rId38" Type="http://schemas.openxmlformats.org/officeDocument/2006/relationships/tags" Target="../tags/tag193.xml"/><Relationship Id="rId37" Type="http://schemas.openxmlformats.org/officeDocument/2006/relationships/tags" Target="../tags/tag192.xml"/><Relationship Id="rId36" Type="http://schemas.openxmlformats.org/officeDocument/2006/relationships/tags" Target="../tags/tag191.xml"/><Relationship Id="rId35" Type="http://schemas.openxmlformats.org/officeDocument/2006/relationships/tags" Target="../tags/tag190.xml"/><Relationship Id="rId34" Type="http://schemas.openxmlformats.org/officeDocument/2006/relationships/tags" Target="../tags/tag189.xml"/><Relationship Id="rId33" Type="http://schemas.openxmlformats.org/officeDocument/2006/relationships/tags" Target="../tags/tag188.xml"/><Relationship Id="rId32" Type="http://schemas.openxmlformats.org/officeDocument/2006/relationships/tags" Target="../tags/tag187.xml"/><Relationship Id="rId31" Type="http://schemas.openxmlformats.org/officeDocument/2006/relationships/tags" Target="../tags/tag186.xml"/><Relationship Id="rId30" Type="http://schemas.openxmlformats.org/officeDocument/2006/relationships/tags" Target="../tags/tag185.xml"/><Relationship Id="rId3" Type="http://schemas.openxmlformats.org/officeDocument/2006/relationships/tags" Target="../tags/tag158.xml"/><Relationship Id="rId29" Type="http://schemas.openxmlformats.org/officeDocument/2006/relationships/tags" Target="../tags/tag184.xml"/><Relationship Id="rId28" Type="http://schemas.openxmlformats.org/officeDocument/2006/relationships/tags" Target="../tags/tag183.xml"/><Relationship Id="rId27" Type="http://schemas.openxmlformats.org/officeDocument/2006/relationships/tags" Target="../tags/tag182.xml"/><Relationship Id="rId26" Type="http://schemas.openxmlformats.org/officeDocument/2006/relationships/tags" Target="../tags/tag181.xml"/><Relationship Id="rId25" Type="http://schemas.openxmlformats.org/officeDocument/2006/relationships/tags" Target="../tags/tag180.xml"/><Relationship Id="rId24" Type="http://schemas.openxmlformats.org/officeDocument/2006/relationships/tags" Target="../tags/tag179.xml"/><Relationship Id="rId23" Type="http://schemas.openxmlformats.org/officeDocument/2006/relationships/tags" Target="../tags/tag178.xml"/><Relationship Id="rId22" Type="http://schemas.openxmlformats.org/officeDocument/2006/relationships/tags" Target="../tags/tag177.xml"/><Relationship Id="rId21" Type="http://schemas.openxmlformats.org/officeDocument/2006/relationships/tags" Target="../tags/tag176.xml"/><Relationship Id="rId20" Type="http://schemas.openxmlformats.org/officeDocument/2006/relationships/tags" Target="../tags/tag175.xml"/><Relationship Id="rId2" Type="http://schemas.openxmlformats.org/officeDocument/2006/relationships/image" Target="../media/image16.png"/><Relationship Id="rId19" Type="http://schemas.openxmlformats.org/officeDocument/2006/relationships/tags" Target="../tags/tag174.xml"/><Relationship Id="rId18" Type="http://schemas.openxmlformats.org/officeDocument/2006/relationships/tags" Target="../tags/tag173.xml"/><Relationship Id="rId17" Type="http://schemas.openxmlformats.org/officeDocument/2006/relationships/tags" Target="../tags/tag172.xml"/><Relationship Id="rId16" Type="http://schemas.openxmlformats.org/officeDocument/2006/relationships/tags" Target="../tags/tag171.xml"/><Relationship Id="rId15" Type="http://schemas.openxmlformats.org/officeDocument/2006/relationships/tags" Target="../tags/tag170.xml"/><Relationship Id="rId14" Type="http://schemas.openxmlformats.org/officeDocument/2006/relationships/tags" Target="../tags/tag169.xml"/><Relationship Id="rId13" Type="http://schemas.openxmlformats.org/officeDocument/2006/relationships/tags" Target="../tags/tag168.xml"/><Relationship Id="rId12" Type="http://schemas.openxmlformats.org/officeDocument/2006/relationships/tags" Target="../tags/tag167.xml"/><Relationship Id="rId11" Type="http://schemas.openxmlformats.org/officeDocument/2006/relationships/tags" Target="../tags/tag166.xml"/><Relationship Id="rId10" Type="http://schemas.openxmlformats.org/officeDocument/2006/relationships/tags" Target="../tags/tag165.xml"/><Relationship Id="rId1" Type="http://schemas.openxmlformats.org/officeDocument/2006/relationships/tags" Target="../tags/tag157.xml"/></Relationships>
</file>

<file path=ppt/slides/_rels/slide31.xml.rels><?xml version="1.0" encoding="UTF-8" standalone="yes"?>
<Relationships xmlns="http://schemas.openxmlformats.org/package/2006/relationships"><Relationship Id="rId9" Type="http://schemas.openxmlformats.org/officeDocument/2006/relationships/tags" Target="../tags/tag242.xml"/><Relationship Id="rId8" Type="http://schemas.openxmlformats.org/officeDocument/2006/relationships/tags" Target="../tags/tag241.xml"/><Relationship Id="rId73" Type="http://schemas.openxmlformats.org/officeDocument/2006/relationships/notesSlide" Target="../notesSlides/notesSlide31.xml"/><Relationship Id="rId72" Type="http://schemas.openxmlformats.org/officeDocument/2006/relationships/slideLayout" Target="../slideLayouts/slideLayout14.xml"/><Relationship Id="rId71" Type="http://schemas.openxmlformats.org/officeDocument/2006/relationships/tags" Target="../tags/tag304.xml"/><Relationship Id="rId70" Type="http://schemas.openxmlformats.org/officeDocument/2006/relationships/tags" Target="../tags/tag303.xml"/><Relationship Id="rId7" Type="http://schemas.openxmlformats.org/officeDocument/2006/relationships/tags" Target="../tags/tag240.xml"/><Relationship Id="rId69" Type="http://schemas.openxmlformats.org/officeDocument/2006/relationships/tags" Target="../tags/tag302.xml"/><Relationship Id="rId68" Type="http://schemas.openxmlformats.org/officeDocument/2006/relationships/tags" Target="../tags/tag301.xml"/><Relationship Id="rId67" Type="http://schemas.openxmlformats.org/officeDocument/2006/relationships/tags" Target="../tags/tag300.xml"/><Relationship Id="rId66" Type="http://schemas.openxmlformats.org/officeDocument/2006/relationships/tags" Target="../tags/tag299.xml"/><Relationship Id="rId65" Type="http://schemas.openxmlformats.org/officeDocument/2006/relationships/tags" Target="../tags/tag298.xml"/><Relationship Id="rId64" Type="http://schemas.openxmlformats.org/officeDocument/2006/relationships/tags" Target="../tags/tag297.xml"/><Relationship Id="rId63" Type="http://schemas.openxmlformats.org/officeDocument/2006/relationships/tags" Target="../tags/tag296.xml"/><Relationship Id="rId62" Type="http://schemas.openxmlformats.org/officeDocument/2006/relationships/tags" Target="../tags/tag295.xml"/><Relationship Id="rId61" Type="http://schemas.openxmlformats.org/officeDocument/2006/relationships/tags" Target="../tags/tag294.xml"/><Relationship Id="rId60" Type="http://schemas.openxmlformats.org/officeDocument/2006/relationships/tags" Target="../tags/tag293.xml"/><Relationship Id="rId6" Type="http://schemas.openxmlformats.org/officeDocument/2006/relationships/tags" Target="../tags/tag239.xml"/><Relationship Id="rId59" Type="http://schemas.openxmlformats.org/officeDocument/2006/relationships/tags" Target="../tags/tag292.xml"/><Relationship Id="rId58" Type="http://schemas.openxmlformats.org/officeDocument/2006/relationships/tags" Target="../tags/tag291.xml"/><Relationship Id="rId57" Type="http://schemas.openxmlformats.org/officeDocument/2006/relationships/tags" Target="../tags/tag290.xml"/><Relationship Id="rId56" Type="http://schemas.openxmlformats.org/officeDocument/2006/relationships/tags" Target="../tags/tag289.xml"/><Relationship Id="rId55" Type="http://schemas.openxmlformats.org/officeDocument/2006/relationships/tags" Target="../tags/tag288.xml"/><Relationship Id="rId54" Type="http://schemas.openxmlformats.org/officeDocument/2006/relationships/tags" Target="../tags/tag287.xml"/><Relationship Id="rId53" Type="http://schemas.openxmlformats.org/officeDocument/2006/relationships/tags" Target="../tags/tag286.xml"/><Relationship Id="rId52" Type="http://schemas.openxmlformats.org/officeDocument/2006/relationships/tags" Target="../tags/tag285.xml"/><Relationship Id="rId51" Type="http://schemas.openxmlformats.org/officeDocument/2006/relationships/tags" Target="../tags/tag284.xml"/><Relationship Id="rId50" Type="http://schemas.openxmlformats.org/officeDocument/2006/relationships/tags" Target="../tags/tag283.xml"/><Relationship Id="rId5" Type="http://schemas.openxmlformats.org/officeDocument/2006/relationships/image" Target="../media/image19.png"/><Relationship Id="rId49" Type="http://schemas.openxmlformats.org/officeDocument/2006/relationships/tags" Target="../tags/tag282.xml"/><Relationship Id="rId48" Type="http://schemas.openxmlformats.org/officeDocument/2006/relationships/tags" Target="../tags/tag281.xml"/><Relationship Id="rId47" Type="http://schemas.openxmlformats.org/officeDocument/2006/relationships/tags" Target="../tags/tag280.xml"/><Relationship Id="rId46" Type="http://schemas.openxmlformats.org/officeDocument/2006/relationships/tags" Target="../tags/tag279.xml"/><Relationship Id="rId45" Type="http://schemas.openxmlformats.org/officeDocument/2006/relationships/tags" Target="../tags/tag278.xml"/><Relationship Id="rId44" Type="http://schemas.openxmlformats.org/officeDocument/2006/relationships/tags" Target="../tags/tag277.xml"/><Relationship Id="rId43" Type="http://schemas.openxmlformats.org/officeDocument/2006/relationships/tags" Target="../tags/tag276.xml"/><Relationship Id="rId42" Type="http://schemas.openxmlformats.org/officeDocument/2006/relationships/tags" Target="../tags/tag275.xml"/><Relationship Id="rId41" Type="http://schemas.openxmlformats.org/officeDocument/2006/relationships/tags" Target="../tags/tag274.xml"/><Relationship Id="rId40" Type="http://schemas.openxmlformats.org/officeDocument/2006/relationships/tags" Target="../tags/tag273.xml"/><Relationship Id="rId4" Type="http://schemas.openxmlformats.org/officeDocument/2006/relationships/tags" Target="../tags/tag238.xml"/><Relationship Id="rId39" Type="http://schemas.openxmlformats.org/officeDocument/2006/relationships/tags" Target="../tags/tag272.xml"/><Relationship Id="rId38" Type="http://schemas.openxmlformats.org/officeDocument/2006/relationships/tags" Target="../tags/tag271.xml"/><Relationship Id="rId37" Type="http://schemas.openxmlformats.org/officeDocument/2006/relationships/tags" Target="../tags/tag270.xml"/><Relationship Id="rId36" Type="http://schemas.openxmlformats.org/officeDocument/2006/relationships/tags" Target="../tags/tag269.xml"/><Relationship Id="rId35" Type="http://schemas.openxmlformats.org/officeDocument/2006/relationships/tags" Target="../tags/tag268.xml"/><Relationship Id="rId34" Type="http://schemas.openxmlformats.org/officeDocument/2006/relationships/tags" Target="../tags/tag267.xml"/><Relationship Id="rId33" Type="http://schemas.openxmlformats.org/officeDocument/2006/relationships/tags" Target="../tags/tag266.xml"/><Relationship Id="rId32" Type="http://schemas.openxmlformats.org/officeDocument/2006/relationships/tags" Target="../tags/tag265.xml"/><Relationship Id="rId31" Type="http://schemas.openxmlformats.org/officeDocument/2006/relationships/tags" Target="../tags/tag264.xml"/><Relationship Id="rId30" Type="http://schemas.openxmlformats.org/officeDocument/2006/relationships/tags" Target="../tags/tag263.xml"/><Relationship Id="rId3" Type="http://schemas.openxmlformats.org/officeDocument/2006/relationships/tags" Target="../tags/tag237.xml"/><Relationship Id="rId29" Type="http://schemas.openxmlformats.org/officeDocument/2006/relationships/tags" Target="../tags/tag262.xml"/><Relationship Id="rId28" Type="http://schemas.openxmlformats.org/officeDocument/2006/relationships/tags" Target="../tags/tag261.xml"/><Relationship Id="rId27" Type="http://schemas.openxmlformats.org/officeDocument/2006/relationships/tags" Target="../tags/tag260.xml"/><Relationship Id="rId26" Type="http://schemas.openxmlformats.org/officeDocument/2006/relationships/tags" Target="../tags/tag259.xml"/><Relationship Id="rId25" Type="http://schemas.openxmlformats.org/officeDocument/2006/relationships/tags" Target="../tags/tag258.xml"/><Relationship Id="rId24" Type="http://schemas.openxmlformats.org/officeDocument/2006/relationships/tags" Target="../tags/tag257.xml"/><Relationship Id="rId23" Type="http://schemas.openxmlformats.org/officeDocument/2006/relationships/tags" Target="../tags/tag256.xml"/><Relationship Id="rId22" Type="http://schemas.openxmlformats.org/officeDocument/2006/relationships/tags" Target="../tags/tag255.xml"/><Relationship Id="rId21" Type="http://schemas.openxmlformats.org/officeDocument/2006/relationships/tags" Target="../tags/tag254.xml"/><Relationship Id="rId20" Type="http://schemas.openxmlformats.org/officeDocument/2006/relationships/tags" Target="../tags/tag253.xml"/><Relationship Id="rId2" Type="http://schemas.openxmlformats.org/officeDocument/2006/relationships/image" Target="../media/image16.png"/><Relationship Id="rId19" Type="http://schemas.openxmlformats.org/officeDocument/2006/relationships/tags" Target="../tags/tag252.xml"/><Relationship Id="rId18" Type="http://schemas.openxmlformats.org/officeDocument/2006/relationships/tags" Target="../tags/tag251.xml"/><Relationship Id="rId17" Type="http://schemas.openxmlformats.org/officeDocument/2006/relationships/tags" Target="../tags/tag250.xml"/><Relationship Id="rId16" Type="http://schemas.openxmlformats.org/officeDocument/2006/relationships/tags" Target="../tags/tag249.xml"/><Relationship Id="rId15" Type="http://schemas.openxmlformats.org/officeDocument/2006/relationships/tags" Target="../tags/tag248.xml"/><Relationship Id="rId14" Type="http://schemas.openxmlformats.org/officeDocument/2006/relationships/tags" Target="../tags/tag247.xml"/><Relationship Id="rId13" Type="http://schemas.openxmlformats.org/officeDocument/2006/relationships/tags" Target="../tags/tag246.xml"/><Relationship Id="rId12" Type="http://schemas.openxmlformats.org/officeDocument/2006/relationships/tags" Target="../tags/tag245.xml"/><Relationship Id="rId11" Type="http://schemas.openxmlformats.org/officeDocument/2006/relationships/tags" Target="../tags/tag244.xml"/><Relationship Id="rId10" Type="http://schemas.openxmlformats.org/officeDocument/2006/relationships/tags" Target="../tags/tag243.xml"/><Relationship Id="rId1" Type="http://schemas.openxmlformats.org/officeDocument/2006/relationships/tags" Target="../tags/tag236.xml"/></Relationships>
</file>

<file path=ppt/slides/_rels/slide32.xml.rels><?xml version="1.0" encoding="UTF-8" standalone="yes"?>
<Relationships xmlns="http://schemas.openxmlformats.org/package/2006/relationships"><Relationship Id="rId9" Type="http://schemas.openxmlformats.org/officeDocument/2006/relationships/tags" Target="../tags/tag312.xml"/><Relationship Id="rId86" Type="http://schemas.openxmlformats.org/officeDocument/2006/relationships/notesSlide" Target="../notesSlides/notesSlide32.xml"/><Relationship Id="rId85" Type="http://schemas.openxmlformats.org/officeDocument/2006/relationships/slideLayout" Target="../slideLayouts/slideLayout14.xml"/><Relationship Id="rId84" Type="http://schemas.openxmlformats.org/officeDocument/2006/relationships/tags" Target="../tags/tag387.xml"/><Relationship Id="rId83" Type="http://schemas.openxmlformats.org/officeDocument/2006/relationships/tags" Target="../tags/tag386.xml"/><Relationship Id="rId82" Type="http://schemas.openxmlformats.org/officeDocument/2006/relationships/tags" Target="../tags/tag385.xml"/><Relationship Id="rId81" Type="http://schemas.openxmlformats.org/officeDocument/2006/relationships/tags" Target="../tags/tag384.xml"/><Relationship Id="rId80" Type="http://schemas.openxmlformats.org/officeDocument/2006/relationships/tags" Target="../tags/tag383.xml"/><Relationship Id="rId8" Type="http://schemas.openxmlformats.org/officeDocument/2006/relationships/tags" Target="../tags/tag311.xml"/><Relationship Id="rId79" Type="http://schemas.openxmlformats.org/officeDocument/2006/relationships/tags" Target="../tags/tag382.xml"/><Relationship Id="rId78" Type="http://schemas.openxmlformats.org/officeDocument/2006/relationships/tags" Target="../tags/tag381.xml"/><Relationship Id="rId77" Type="http://schemas.openxmlformats.org/officeDocument/2006/relationships/tags" Target="../tags/tag380.xml"/><Relationship Id="rId76" Type="http://schemas.openxmlformats.org/officeDocument/2006/relationships/tags" Target="../tags/tag379.xml"/><Relationship Id="rId75" Type="http://schemas.openxmlformats.org/officeDocument/2006/relationships/tags" Target="../tags/tag378.xml"/><Relationship Id="rId74" Type="http://schemas.openxmlformats.org/officeDocument/2006/relationships/tags" Target="../tags/tag377.xml"/><Relationship Id="rId73" Type="http://schemas.openxmlformats.org/officeDocument/2006/relationships/tags" Target="../tags/tag376.xml"/><Relationship Id="rId72" Type="http://schemas.openxmlformats.org/officeDocument/2006/relationships/tags" Target="../tags/tag375.xml"/><Relationship Id="rId71" Type="http://schemas.openxmlformats.org/officeDocument/2006/relationships/tags" Target="../tags/tag374.xml"/><Relationship Id="rId70" Type="http://schemas.openxmlformats.org/officeDocument/2006/relationships/tags" Target="../tags/tag373.xml"/><Relationship Id="rId7" Type="http://schemas.openxmlformats.org/officeDocument/2006/relationships/tags" Target="../tags/tag310.xml"/><Relationship Id="rId69" Type="http://schemas.openxmlformats.org/officeDocument/2006/relationships/tags" Target="../tags/tag372.xml"/><Relationship Id="rId68" Type="http://schemas.openxmlformats.org/officeDocument/2006/relationships/tags" Target="../tags/tag371.xml"/><Relationship Id="rId67" Type="http://schemas.openxmlformats.org/officeDocument/2006/relationships/tags" Target="../tags/tag370.xml"/><Relationship Id="rId66" Type="http://schemas.openxmlformats.org/officeDocument/2006/relationships/tags" Target="../tags/tag369.xml"/><Relationship Id="rId65" Type="http://schemas.openxmlformats.org/officeDocument/2006/relationships/tags" Target="../tags/tag368.xml"/><Relationship Id="rId64" Type="http://schemas.openxmlformats.org/officeDocument/2006/relationships/tags" Target="../tags/tag367.xml"/><Relationship Id="rId63" Type="http://schemas.openxmlformats.org/officeDocument/2006/relationships/tags" Target="../tags/tag366.xml"/><Relationship Id="rId62" Type="http://schemas.openxmlformats.org/officeDocument/2006/relationships/tags" Target="../tags/tag365.xml"/><Relationship Id="rId61" Type="http://schemas.openxmlformats.org/officeDocument/2006/relationships/tags" Target="../tags/tag364.xml"/><Relationship Id="rId60" Type="http://schemas.openxmlformats.org/officeDocument/2006/relationships/tags" Target="../tags/tag363.xml"/><Relationship Id="rId6" Type="http://schemas.openxmlformats.org/officeDocument/2006/relationships/tags" Target="../tags/tag309.xml"/><Relationship Id="rId59" Type="http://schemas.openxmlformats.org/officeDocument/2006/relationships/tags" Target="../tags/tag362.xml"/><Relationship Id="rId58" Type="http://schemas.openxmlformats.org/officeDocument/2006/relationships/tags" Target="../tags/tag361.xml"/><Relationship Id="rId57" Type="http://schemas.openxmlformats.org/officeDocument/2006/relationships/tags" Target="../tags/tag360.xml"/><Relationship Id="rId56" Type="http://schemas.openxmlformats.org/officeDocument/2006/relationships/tags" Target="../tags/tag359.xml"/><Relationship Id="rId55" Type="http://schemas.openxmlformats.org/officeDocument/2006/relationships/tags" Target="../tags/tag358.xml"/><Relationship Id="rId54" Type="http://schemas.openxmlformats.org/officeDocument/2006/relationships/tags" Target="../tags/tag357.xml"/><Relationship Id="rId53" Type="http://schemas.openxmlformats.org/officeDocument/2006/relationships/tags" Target="../tags/tag356.xml"/><Relationship Id="rId52" Type="http://schemas.openxmlformats.org/officeDocument/2006/relationships/tags" Target="../tags/tag355.xml"/><Relationship Id="rId51" Type="http://schemas.openxmlformats.org/officeDocument/2006/relationships/tags" Target="../tags/tag354.xml"/><Relationship Id="rId50" Type="http://schemas.openxmlformats.org/officeDocument/2006/relationships/tags" Target="../tags/tag353.xml"/><Relationship Id="rId5" Type="http://schemas.openxmlformats.org/officeDocument/2006/relationships/tags" Target="../tags/tag308.xml"/><Relationship Id="rId49" Type="http://schemas.openxmlformats.org/officeDocument/2006/relationships/tags" Target="../tags/tag352.xml"/><Relationship Id="rId48" Type="http://schemas.openxmlformats.org/officeDocument/2006/relationships/tags" Target="../tags/tag351.xml"/><Relationship Id="rId47" Type="http://schemas.openxmlformats.org/officeDocument/2006/relationships/tags" Target="../tags/tag350.xml"/><Relationship Id="rId46" Type="http://schemas.openxmlformats.org/officeDocument/2006/relationships/tags" Target="../tags/tag349.xml"/><Relationship Id="rId45" Type="http://schemas.openxmlformats.org/officeDocument/2006/relationships/tags" Target="../tags/tag348.xml"/><Relationship Id="rId44" Type="http://schemas.openxmlformats.org/officeDocument/2006/relationships/tags" Target="../tags/tag347.xml"/><Relationship Id="rId43" Type="http://schemas.openxmlformats.org/officeDocument/2006/relationships/tags" Target="../tags/tag346.xml"/><Relationship Id="rId42" Type="http://schemas.openxmlformats.org/officeDocument/2006/relationships/tags" Target="../tags/tag345.xml"/><Relationship Id="rId41" Type="http://schemas.openxmlformats.org/officeDocument/2006/relationships/tags" Target="../tags/tag344.xml"/><Relationship Id="rId40" Type="http://schemas.openxmlformats.org/officeDocument/2006/relationships/tags" Target="../tags/tag343.xml"/><Relationship Id="rId4" Type="http://schemas.openxmlformats.org/officeDocument/2006/relationships/tags" Target="../tags/tag307.xml"/><Relationship Id="rId39" Type="http://schemas.openxmlformats.org/officeDocument/2006/relationships/tags" Target="../tags/tag342.xml"/><Relationship Id="rId38" Type="http://schemas.openxmlformats.org/officeDocument/2006/relationships/tags" Target="../tags/tag341.xml"/><Relationship Id="rId37" Type="http://schemas.openxmlformats.org/officeDocument/2006/relationships/tags" Target="../tags/tag340.xml"/><Relationship Id="rId36" Type="http://schemas.openxmlformats.org/officeDocument/2006/relationships/tags" Target="../tags/tag339.xml"/><Relationship Id="rId35" Type="http://schemas.openxmlformats.org/officeDocument/2006/relationships/tags" Target="../tags/tag338.xml"/><Relationship Id="rId34" Type="http://schemas.openxmlformats.org/officeDocument/2006/relationships/tags" Target="../tags/tag337.xml"/><Relationship Id="rId33" Type="http://schemas.openxmlformats.org/officeDocument/2006/relationships/tags" Target="../tags/tag336.xml"/><Relationship Id="rId32" Type="http://schemas.openxmlformats.org/officeDocument/2006/relationships/tags" Target="../tags/tag335.xml"/><Relationship Id="rId31" Type="http://schemas.openxmlformats.org/officeDocument/2006/relationships/tags" Target="../tags/tag334.xml"/><Relationship Id="rId30" Type="http://schemas.openxmlformats.org/officeDocument/2006/relationships/tags" Target="../tags/tag333.xml"/><Relationship Id="rId3" Type="http://schemas.openxmlformats.org/officeDocument/2006/relationships/tags" Target="../tags/tag306.xml"/><Relationship Id="rId29" Type="http://schemas.openxmlformats.org/officeDocument/2006/relationships/tags" Target="../tags/tag332.xml"/><Relationship Id="rId28" Type="http://schemas.openxmlformats.org/officeDocument/2006/relationships/tags" Target="../tags/tag331.xml"/><Relationship Id="rId27" Type="http://schemas.openxmlformats.org/officeDocument/2006/relationships/tags" Target="../tags/tag330.xml"/><Relationship Id="rId26" Type="http://schemas.openxmlformats.org/officeDocument/2006/relationships/tags" Target="../tags/tag329.xml"/><Relationship Id="rId25" Type="http://schemas.openxmlformats.org/officeDocument/2006/relationships/tags" Target="../tags/tag328.xml"/><Relationship Id="rId24" Type="http://schemas.openxmlformats.org/officeDocument/2006/relationships/tags" Target="../tags/tag327.xml"/><Relationship Id="rId23" Type="http://schemas.openxmlformats.org/officeDocument/2006/relationships/tags" Target="../tags/tag326.xml"/><Relationship Id="rId22" Type="http://schemas.openxmlformats.org/officeDocument/2006/relationships/tags" Target="../tags/tag325.xml"/><Relationship Id="rId21" Type="http://schemas.openxmlformats.org/officeDocument/2006/relationships/tags" Target="../tags/tag324.xml"/><Relationship Id="rId20" Type="http://schemas.openxmlformats.org/officeDocument/2006/relationships/tags" Target="../tags/tag323.xml"/><Relationship Id="rId2" Type="http://schemas.openxmlformats.org/officeDocument/2006/relationships/image" Target="../media/image16.png"/><Relationship Id="rId19" Type="http://schemas.openxmlformats.org/officeDocument/2006/relationships/tags" Target="../tags/tag322.xml"/><Relationship Id="rId18" Type="http://schemas.openxmlformats.org/officeDocument/2006/relationships/tags" Target="../tags/tag321.xml"/><Relationship Id="rId17" Type="http://schemas.openxmlformats.org/officeDocument/2006/relationships/tags" Target="../tags/tag320.xml"/><Relationship Id="rId16" Type="http://schemas.openxmlformats.org/officeDocument/2006/relationships/tags" Target="../tags/tag319.xml"/><Relationship Id="rId15" Type="http://schemas.openxmlformats.org/officeDocument/2006/relationships/tags" Target="../tags/tag318.xml"/><Relationship Id="rId14" Type="http://schemas.openxmlformats.org/officeDocument/2006/relationships/tags" Target="../tags/tag317.xml"/><Relationship Id="rId13" Type="http://schemas.openxmlformats.org/officeDocument/2006/relationships/tags" Target="../tags/tag316.xml"/><Relationship Id="rId12" Type="http://schemas.openxmlformats.org/officeDocument/2006/relationships/tags" Target="../tags/tag315.xml"/><Relationship Id="rId11" Type="http://schemas.openxmlformats.org/officeDocument/2006/relationships/tags" Target="../tags/tag314.xml"/><Relationship Id="rId10" Type="http://schemas.openxmlformats.org/officeDocument/2006/relationships/tags" Target="../tags/tag313.xml"/><Relationship Id="rId1" Type="http://schemas.openxmlformats.org/officeDocument/2006/relationships/tags" Target="../tags/tag305.xml"/></Relationships>
</file>

<file path=ppt/slides/_rels/slide33.xml.rels><?xml version="1.0" encoding="UTF-8" standalone="yes"?>
<Relationships xmlns="http://schemas.openxmlformats.org/package/2006/relationships"><Relationship Id="rId9" Type="http://schemas.openxmlformats.org/officeDocument/2006/relationships/tags" Target="../tags/tag395.xml"/><Relationship Id="rId8" Type="http://schemas.openxmlformats.org/officeDocument/2006/relationships/tags" Target="../tags/tag394.xml"/><Relationship Id="rId71" Type="http://schemas.openxmlformats.org/officeDocument/2006/relationships/notesSlide" Target="../notesSlides/notesSlide33.xml"/><Relationship Id="rId70" Type="http://schemas.openxmlformats.org/officeDocument/2006/relationships/slideLayout" Target="../slideLayouts/slideLayout14.xml"/><Relationship Id="rId7" Type="http://schemas.openxmlformats.org/officeDocument/2006/relationships/tags" Target="../tags/tag393.xml"/><Relationship Id="rId69" Type="http://schemas.openxmlformats.org/officeDocument/2006/relationships/tags" Target="../tags/tag455.xml"/><Relationship Id="rId68" Type="http://schemas.openxmlformats.org/officeDocument/2006/relationships/tags" Target="../tags/tag454.xml"/><Relationship Id="rId67" Type="http://schemas.openxmlformats.org/officeDocument/2006/relationships/tags" Target="../tags/tag453.xml"/><Relationship Id="rId66" Type="http://schemas.openxmlformats.org/officeDocument/2006/relationships/tags" Target="../tags/tag452.xml"/><Relationship Id="rId65" Type="http://schemas.openxmlformats.org/officeDocument/2006/relationships/tags" Target="../tags/tag451.xml"/><Relationship Id="rId64" Type="http://schemas.openxmlformats.org/officeDocument/2006/relationships/tags" Target="../tags/tag450.xml"/><Relationship Id="rId63" Type="http://schemas.openxmlformats.org/officeDocument/2006/relationships/tags" Target="../tags/tag449.xml"/><Relationship Id="rId62" Type="http://schemas.openxmlformats.org/officeDocument/2006/relationships/tags" Target="../tags/tag448.xml"/><Relationship Id="rId61" Type="http://schemas.openxmlformats.org/officeDocument/2006/relationships/tags" Target="../tags/tag447.xml"/><Relationship Id="rId60" Type="http://schemas.openxmlformats.org/officeDocument/2006/relationships/tags" Target="../tags/tag446.xml"/><Relationship Id="rId6" Type="http://schemas.openxmlformats.org/officeDocument/2006/relationships/tags" Target="../tags/tag392.xml"/><Relationship Id="rId59" Type="http://schemas.openxmlformats.org/officeDocument/2006/relationships/tags" Target="../tags/tag445.xml"/><Relationship Id="rId58" Type="http://schemas.openxmlformats.org/officeDocument/2006/relationships/tags" Target="../tags/tag444.xml"/><Relationship Id="rId57" Type="http://schemas.openxmlformats.org/officeDocument/2006/relationships/tags" Target="../tags/tag443.xml"/><Relationship Id="rId56" Type="http://schemas.openxmlformats.org/officeDocument/2006/relationships/tags" Target="../tags/tag442.xml"/><Relationship Id="rId55" Type="http://schemas.openxmlformats.org/officeDocument/2006/relationships/tags" Target="../tags/tag441.xml"/><Relationship Id="rId54" Type="http://schemas.openxmlformats.org/officeDocument/2006/relationships/tags" Target="../tags/tag440.xml"/><Relationship Id="rId53" Type="http://schemas.openxmlformats.org/officeDocument/2006/relationships/tags" Target="../tags/tag439.xml"/><Relationship Id="rId52" Type="http://schemas.openxmlformats.org/officeDocument/2006/relationships/tags" Target="../tags/tag438.xml"/><Relationship Id="rId51" Type="http://schemas.openxmlformats.org/officeDocument/2006/relationships/tags" Target="../tags/tag437.xml"/><Relationship Id="rId50" Type="http://schemas.openxmlformats.org/officeDocument/2006/relationships/tags" Target="../tags/tag436.xml"/><Relationship Id="rId5" Type="http://schemas.openxmlformats.org/officeDocument/2006/relationships/tags" Target="../tags/tag391.xml"/><Relationship Id="rId49" Type="http://schemas.openxmlformats.org/officeDocument/2006/relationships/tags" Target="../tags/tag435.xml"/><Relationship Id="rId48" Type="http://schemas.openxmlformats.org/officeDocument/2006/relationships/tags" Target="../tags/tag434.xml"/><Relationship Id="rId47" Type="http://schemas.openxmlformats.org/officeDocument/2006/relationships/tags" Target="../tags/tag433.xml"/><Relationship Id="rId46" Type="http://schemas.openxmlformats.org/officeDocument/2006/relationships/tags" Target="../tags/tag432.xml"/><Relationship Id="rId45" Type="http://schemas.openxmlformats.org/officeDocument/2006/relationships/tags" Target="../tags/tag431.xml"/><Relationship Id="rId44" Type="http://schemas.openxmlformats.org/officeDocument/2006/relationships/tags" Target="../tags/tag430.xml"/><Relationship Id="rId43" Type="http://schemas.openxmlformats.org/officeDocument/2006/relationships/tags" Target="../tags/tag429.xml"/><Relationship Id="rId42" Type="http://schemas.openxmlformats.org/officeDocument/2006/relationships/tags" Target="../tags/tag428.xml"/><Relationship Id="rId41" Type="http://schemas.openxmlformats.org/officeDocument/2006/relationships/tags" Target="../tags/tag427.xml"/><Relationship Id="rId40" Type="http://schemas.openxmlformats.org/officeDocument/2006/relationships/tags" Target="../tags/tag426.xml"/><Relationship Id="rId4" Type="http://schemas.openxmlformats.org/officeDocument/2006/relationships/tags" Target="../tags/tag390.xml"/><Relationship Id="rId39" Type="http://schemas.openxmlformats.org/officeDocument/2006/relationships/tags" Target="../tags/tag425.xml"/><Relationship Id="rId38" Type="http://schemas.openxmlformats.org/officeDocument/2006/relationships/tags" Target="../tags/tag424.xml"/><Relationship Id="rId37" Type="http://schemas.openxmlformats.org/officeDocument/2006/relationships/tags" Target="../tags/tag423.xml"/><Relationship Id="rId36" Type="http://schemas.openxmlformats.org/officeDocument/2006/relationships/tags" Target="../tags/tag422.xml"/><Relationship Id="rId35" Type="http://schemas.openxmlformats.org/officeDocument/2006/relationships/tags" Target="../tags/tag421.xml"/><Relationship Id="rId34" Type="http://schemas.openxmlformats.org/officeDocument/2006/relationships/tags" Target="../tags/tag420.xml"/><Relationship Id="rId33" Type="http://schemas.openxmlformats.org/officeDocument/2006/relationships/tags" Target="../tags/tag419.xml"/><Relationship Id="rId32" Type="http://schemas.openxmlformats.org/officeDocument/2006/relationships/tags" Target="../tags/tag418.xml"/><Relationship Id="rId31" Type="http://schemas.openxmlformats.org/officeDocument/2006/relationships/tags" Target="../tags/tag417.xml"/><Relationship Id="rId30" Type="http://schemas.openxmlformats.org/officeDocument/2006/relationships/tags" Target="../tags/tag416.xml"/><Relationship Id="rId3" Type="http://schemas.openxmlformats.org/officeDocument/2006/relationships/tags" Target="../tags/tag389.xml"/><Relationship Id="rId29" Type="http://schemas.openxmlformats.org/officeDocument/2006/relationships/tags" Target="../tags/tag415.xml"/><Relationship Id="rId28" Type="http://schemas.openxmlformats.org/officeDocument/2006/relationships/tags" Target="../tags/tag414.xml"/><Relationship Id="rId27" Type="http://schemas.openxmlformats.org/officeDocument/2006/relationships/tags" Target="../tags/tag413.xml"/><Relationship Id="rId26" Type="http://schemas.openxmlformats.org/officeDocument/2006/relationships/tags" Target="../tags/tag412.xml"/><Relationship Id="rId25" Type="http://schemas.openxmlformats.org/officeDocument/2006/relationships/tags" Target="../tags/tag411.xml"/><Relationship Id="rId24" Type="http://schemas.openxmlformats.org/officeDocument/2006/relationships/tags" Target="../tags/tag410.xml"/><Relationship Id="rId23" Type="http://schemas.openxmlformats.org/officeDocument/2006/relationships/tags" Target="../tags/tag409.xml"/><Relationship Id="rId22" Type="http://schemas.openxmlformats.org/officeDocument/2006/relationships/tags" Target="../tags/tag408.xml"/><Relationship Id="rId21" Type="http://schemas.openxmlformats.org/officeDocument/2006/relationships/tags" Target="../tags/tag407.xml"/><Relationship Id="rId20" Type="http://schemas.openxmlformats.org/officeDocument/2006/relationships/tags" Target="../tags/tag406.xml"/><Relationship Id="rId2" Type="http://schemas.openxmlformats.org/officeDocument/2006/relationships/image" Target="../media/image16.png"/><Relationship Id="rId19" Type="http://schemas.openxmlformats.org/officeDocument/2006/relationships/tags" Target="../tags/tag405.xml"/><Relationship Id="rId18" Type="http://schemas.openxmlformats.org/officeDocument/2006/relationships/tags" Target="../tags/tag404.xml"/><Relationship Id="rId17" Type="http://schemas.openxmlformats.org/officeDocument/2006/relationships/tags" Target="../tags/tag403.xml"/><Relationship Id="rId16" Type="http://schemas.openxmlformats.org/officeDocument/2006/relationships/tags" Target="../tags/tag402.xml"/><Relationship Id="rId15" Type="http://schemas.openxmlformats.org/officeDocument/2006/relationships/tags" Target="../tags/tag401.xml"/><Relationship Id="rId14" Type="http://schemas.openxmlformats.org/officeDocument/2006/relationships/tags" Target="../tags/tag400.xml"/><Relationship Id="rId13" Type="http://schemas.openxmlformats.org/officeDocument/2006/relationships/tags" Target="../tags/tag399.xml"/><Relationship Id="rId12" Type="http://schemas.openxmlformats.org/officeDocument/2006/relationships/tags" Target="../tags/tag398.xml"/><Relationship Id="rId11" Type="http://schemas.openxmlformats.org/officeDocument/2006/relationships/tags" Target="../tags/tag397.xml"/><Relationship Id="rId10" Type="http://schemas.openxmlformats.org/officeDocument/2006/relationships/tags" Target="../tags/tag396.xml"/><Relationship Id="rId1" Type="http://schemas.openxmlformats.org/officeDocument/2006/relationships/tags" Target="../tags/tag388.xml"/></Relationships>
</file>

<file path=ppt/slides/_rels/slide34.xml.rels><?xml version="1.0" encoding="UTF-8" standalone="yes"?>
<Relationships xmlns="http://schemas.openxmlformats.org/package/2006/relationships"><Relationship Id="rId9" Type="http://schemas.openxmlformats.org/officeDocument/2006/relationships/tags" Target="../tags/tag462.xml"/><Relationship Id="rId8" Type="http://schemas.openxmlformats.org/officeDocument/2006/relationships/tags" Target="../tags/tag461.xml"/><Relationship Id="rId72" Type="http://schemas.openxmlformats.org/officeDocument/2006/relationships/notesSlide" Target="../notesSlides/notesSlide34.xml"/><Relationship Id="rId71" Type="http://schemas.openxmlformats.org/officeDocument/2006/relationships/slideLayout" Target="../slideLayouts/slideLayout14.xml"/><Relationship Id="rId70" Type="http://schemas.openxmlformats.org/officeDocument/2006/relationships/tags" Target="../tags/tag523.xml"/><Relationship Id="rId7" Type="http://schemas.openxmlformats.org/officeDocument/2006/relationships/tags" Target="../tags/tag460.xml"/><Relationship Id="rId69" Type="http://schemas.openxmlformats.org/officeDocument/2006/relationships/tags" Target="../tags/tag522.xml"/><Relationship Id="rId68" Type="http://schemas.openxmlformats.org/officeDocument/2006/relationships/tags" Target="../tags/tag521.xml"/><Relationship Id="rId67" Type="http://schemas.openxmlformats.org/officeDocument/2006/relationships/tags" Target="../tags/tag520.xml"/><Relationship Id="rId66" Type="http://schemas.openxmlformats.org/officeDocument/2006/relationships/tags" Target="../tags/tag519.xml"/><Relationship Id="rId65" Type="http://schemas.openxmlformats.org/officeDocument/2006/relationships/tags" Target="../tags/tag518.xml"/><Relationship Id="rId64" Type="http://schemas.openxmlformats.org/officeDocument/2006/relationships/tags" Target="../tags/tag517.xml"/><Relationship Id="rId63" Type="http://schemas.openxmlformats.org/officeDocument/2006/relationships/tags" Target="../tags/tag516.xml"/><Relationship Id="rId62" Type="http://schemas.openxmlformats.org/officeDocument/2006/relationships/tags" Target="../tags/tag515.xml"/><Relationship Id="rId61" Type="http://schemas.openxmlformats.org/officeDocument/2006/relationships/tags" Target="../tags/tag514.xml"/><Relationship Id="rId60" Type="http://schemas.openxmlformats.org/officeDocument/2006/relationships/tags" Target="../tags/tag513.xml"/><Relationship Id="rId6" Type="http://schemas.openxmlformats.org/officeDocument/2006/relationships/tags" Target="../tags/tag459.xml"/><Relationship Id="rId59" Type="http://schemas.openxmlformats.org/officeDocument/2006/relationships/tags" Target="../tags/tag512.xml"/><Relationship Id="rId58" Type="http://schemas.openxmlformats.org/officeDocument/2006/relationships/tags" Target="../tags/tag511.xml"/><Relationship Id="rId57" Type="http://schemas.openxmlformats.org/officeDocument/2006/relationships/tags" Target="../tags/tag510.xml"/><Relationship Id="rId56" Type="http://schemas.openxmlformats.org/officeDocument/2006/relationships/tags" Target="../tags/tag509.xml"/><Relationship Id="rId55" Type="http://schemas.openxmlformats.org/officeDocument/2006/relationships/tags" Target="../tags/tag508.xml"/><Relationship Id="rId54" Type="http://schemas.openxmlformats.org/officeDocument/2006/relationships/tags" Target="../tags/tag507.xml"/><Relationship Id="rId53" Type="http://schemas.openxmlformats.org/officeDocument/2006/relationships/tags" Target="../tags/tag506.xml"/><Relationship Id="rId52" Type="http://schemas.openxmlformats.org/officeDocument/2006/relationships/tags" Target="../tags/tag505.xml"/><Relationship Id="rId51" Type="http://schemas.openxmlformats.org/officeDocument/2006/relationships/tags" Target="../tags/tag504.xml"/><Relationship Id="rId50" Type="http://schemas.openxmlformats.org/officeDocument/2006/relationships/tags" Target="../tags/tag503.xml"/><Relationship Id="rId5" Type="http://schemas.openxmlformats.org/officeDocument/2006/relationships/image" Target="../media/image20.png"/><Relationship Id="rId49" Type="http://schemas.openxmlformats.org/officeDocument/2006/relationships/tags" Target="../tags/tag502.xml"/><Relationship Id="rId48" Type="http://schemas.openxmlformats.org/officeDocument/2006/relationships/tags" Target="../tags/tag501.xml"/><Relationship Id="rId47" Type="http://schemas.openxmlformats.org/officeDocument/2006/relationships/tags" Target="../tags/tag500.xml"/><Relationship Id="rId46" Type="http://schemas.openxmlformats.org/officeDocument/2006/relationships/tags" Target="../tags/tag499.xml"/><Relationship Id="rId45" Type="http://schemas.openxmlformats.org/officeDocument/2006/relationships/tags" Target="../tags/tag498.xml"/><Relationship Id="rId44" Type="http://schemas.openxmlformats.org/officeDocument/2006/relationships/tags" Target="../tags/tag497.xml"/><Relationship Id="rId43" Type="http://schemas.openxmlformats.org/officeDocument/2006/relationships/tags" Target="../tags/tag496.xml"/><Relationship Id="rId42" Type="http://schemas.openxmlformats.org/officeDocument/2006/relationships/tags" Target="../tags/tag495.xml"/><Relationship Id="rId41" Type="http://schemas.openxmlformats.org/officeDocument/2006/relationships/tags" Target="../tags/tag494.xml"/><Relationship Id="rId40" Type="http://schemas.openxmlformats.org/officeDocument/2006/relationships/tags" Target="../tags/tag493.xml"/><Relationship Id="rId4" Type="http://schemas.openxmlformats.org/officeDocument/2006/relationships/tags" Target="../tags/tag458.xml"/><Relationship Id="rId39" Type="http://schemas.openxmlformats.org/officeDocument/2006/relationships/tags" Target="../tags/tag492.xml"/><Relationship Id="rId38" Type="http://schemas.openxmlformats.org/officeDocument/2006/relationships/tags" Target="../tags/tag491.xml"/><Relationship Id="rId37" Type="http://schemas.openxmlformats.org/officeDocument/2006/relationships/tags" Target="../tags/tag490.xml"/><Relationship Id="rId36" Type="http://schemas.openxmlformats.org/officeDocument/2006/relationships/tags" Target="../tags/tag489.xml"/><Relationship Id="rId35" Type="http://schemas.openxmlformats.org/officeDocument/2006/relationships/tags" Target="../tags/tag488.xml"/><Relationship Id="rId34" Type="http://schemas.openxmlformats.org/officeDocument/2006/relationships/tags" Target="../tags/tag487.xml"/><Relationship Id="rId33" Type="http://schemas.openxmlformats.org/officeDocument/2006/relationships/tags" Target="../tags/tag486.xml"/><Relationship Id="rId32" Type="http://schemas.openxmlformats.org/officeDocument/2006/relationships/tags" Target="../tags/tag485.xml"/><Relationship Id="rId31" Type="http://schemas.openxmlformats.org/officeDocument/2006/relationships/tags" Target="../tags/tag484.xml"/><Relationship Id="rId30" Type="http://schemas.openxmlformats.org/officeDocument/2006/relationships/tags" Target="../tags/tag483.xml"/><Relationship Id="rId3" Type="http://schemas.openxmlformats.org/officeDocument/2006/relationships/tags" Target="../tags/tag457.xml"/><Relationship Id="rId29" Type="http://schemas.openxmlformats.org/officeDocument/2006/relationships/tags" Target="../tags/tag482.xml"/><Relationship Id="rId28" Type="http://schemas.openxmlformats.org/officeDocument/2006/relationships/tags" Target="../tags/tag481.xml"/><Relationship Id="rId27" Type="http://schemas.openxmlformats.org/officeDocument/2006/relationships/tags" Target="../tags/tag480.xml"/><Relationship Id="rId26" Type="http://schemas.openxmlformats.org/officeDocument/2006/relationships/tags" Target="../tags/tag479.xml"/><Relationship Id="rId25" Type="http://schemas.openxmlformats.org/officeDocument/2006/relationships/tags" Target="../tags/tag478.xml"/><Relationship Id="rId24" Type="http://schemas.openxmlformats.org/officeDocument/2006/relationships/tags" Target="../tags/tag477.xml"/><Relationship Id="rId23" Type="http://schemas.openxmlformats.org/officeDocument/2006/relationships/tags" Target="../tags/tag476.xml"/><Relationship Id="rId22" Type="http://schemas.openxmlformats.org/officeDocument/2006/relationships/tags" Target="../tags/tag475.xml"/><Relationship Id="rId21" Type="http://schemas.openxmlformats.org/officeDocument/2006/relationships/tags" Target="../tags/tag474.xml"/><Relationship Id="rId20" Type="http://schemas.openxmlformats.org/officeDocument/2006/relationships/tags" Target="../tags/tag473.xml"/><Relationship Id="rId2" Type="http://schemas.openxmlformats.org/officeDocument/2006/relationships/image" Target="../media/image16.png"/><Relationship Id="rId19" Type="http://schemas.openxmlformats.org/officeDocument/2006/relationships/tags" Target="../tags/tag472.xml"/><Relationship Id="rId18" Type="http://schemas.openxmlformats.org/officeDocument/2006/relationships/tags" Target="../tags/tag471.xml"/><Relationship Id="rId17" Type="http://schemas.openxmlformats.org/officeDocument/2006/relationships/tags" Target="../tags/tag470.xml"/><Relationship Id="rId16" Type="http://schemas.openxmlformats.org/officeDocument/2006/relationships/tags" Target="../tags/tag469.xml"/><Relationship Id="rId15" Type="http://schemas.openxmlformats.org/officeDocument/2006/relationships/tags" Target="../tags/tag468.xml"/><Relationship Id="rId14" Type="http://schemas.openxmlformats.org/officeDocument/2006/relationships/tags" Target="../tags/tag467.xml"/><Relationship Id="rId13" Type="http://schemas.openxmlformats.org/officeDocument/2006/relationships/tags" Target="../tags/tag466.xml"/><Relationship Id="rId12" Type="http://schemas.openxmlformats.org/officeDocument/2006/relationships/tags" Target="../tags/tag465.xml"/><Relationship Id="rId11" Type="http://schemas.openxmlformats.org/officeDocument/2006/relationships/tags" Target="../tags/tag464.xml"/><Relationship Id="rId10" Type="http://schemas.openxmlformats.org/officeDocument/2006/relationships/tags" Target="../tags/tag463.xml"/><Relationship Id="rId1" Type="http://schemas.openxmlformats.org/officeDocument/2006/relationships/tags" Target="../tags/tag456.xml"/></Relationships>
</file>

<file path=ppt/slides/_rels/slide35.xml.rels><?xml version="1.0" encoding="UTF-8" standalone="yes"?>
<Relationships xmlns="http://schemas.openxmlformats.org/package/2006/relationships"><Relationship Id="rId9" Type="http://schemas.openxmlformats.org/officeDocument/2006/relationships/tags" Target="../tags/tag532.xml"/><Relationship Id="rId8" Type="http://schemas.openxmlformats.org/officeDocument/2006/relationships/tags" Target="../tags/tag531.xml"/><Relationship Id="rId7" Type="http://schemas.openxmlformats.org/officeDocument/2006/relationships/tags" Target="../tags/tag530.xml"/><Relationship Id="rId6" Type="http://schemas.openxmlformats.org/officeDocument/2006/relationships/tags" Target="../tags/tag529.xml"/><Relationship Id="rId5" Type="http://schemas.openxmlformats.org/officeDocument/2006/relationships/tags" Target="../tags/tag528.xml"/><Relationship Id="rId4" Type="http://schemas.openxmlformats.org/officeDocument/2006/relationships/tags" Target="../tags/tag527.xml"/><Relationship Id="rId39" Type="http://schemas.openxmlformats.org/officeDocument/2006/relationships/notesSlide" Target="../notesSlides/notesSlide35.xml"/><Relationship Id="rId38" Type="http://schemas.openxmlformats.org/officeDocument/2006/relationships/slideLayout" Target="../slideLayouts/slideLayout14.xml"/><Relationship Id="rId37" Type="http://schemas.openxmlformats.org/officeDocument/2006/relationships/tags" Target="../tags/tag560.xml"/><Relationship Id="rId36" Type="http://schemas.openxmlformats.org/officeDocument/2006/relationships/tags" Target="../tags/tag559.xml"/><Relationship Id="rId35" Type="http://schemas.openxmlformats.org/officeDocument/2006/relationships/tags" Target="../tags/tag558.xml"/><Relationship Id="rId34" Type="http://schemas.openxmlformats.org/officeDocument/2006/relationships/tags" Target="../tags/tag557.xml"/><Relationship Id="rId33" Type="http://schemas.openxmlformats.org/officeDocument/2006/relationships/tags" Target="../tags/tag556.xml"/><Relationship Id="rId32" Type="http://schemas.openxmlformats.org/officeDocument/2006/relationships/tags" Target="../tags/tag555.xml"/><Relationship Id="rId31" Type="http://schemas.openxmlformats.org/officeDocument/2006/relationships/tags" Target="../tags/tag554.xml"/><Relationship Id="rId30" Type="http://schemas.openxmlformats.org/officeDocument/2006/relationships/tags" Target="../tags/tag553.xml"/><Relationship Id="rId3" Type="http://schemas.openxmlformats.org/officeDocument/2006/relationships/tags" Target="../tags/tag526.xml"/><Relationship Id="rId29" Type="http://schemas.openxmlformats.org/officeDocument/2006/relationships/tags" Target="../tags/tag552.xml"/><Relationship Id="rId28" Type="http://schemas.openxmlformats.org/officeDocument/2006/relationships/tags" Target="../tags/tag551.xml"/><Relationship Id="rId27" Type="http://schemas.openxmlformats.org/officeDocument/2006/relationships/tags" Target="../tags/tag550.xml"/><Relationship Id="rId26" Type="http://schemas.openxmlformats.org/officeDocument/2006/relationships/tags" Target="../tags/tag549.xml"/><Relationship Id="rId25" Type="http://schemas.openxmlformats.org/officeDocument/2006/relationships/tags" Target="../tags/tag548.xml"/><Relationship Id="rId24" Type="http://schemas.openxmlformats.org/officeDocument/2006/relationships/tags" Target="../tags/tag547.xml"/><Relationship Id="rId23" Type="http://schemas.openxmlformats.org/officeDocument/2006/relationships/tags" Target="../tags/tag546.xml"/><Relationship Id="rId22" Type="http://schemas.openxmlformats.org/officeDocument/2006/relationships/tags" Target="../tags/tag545.xml"/><Relationship Id="rId21" Type="http://schemas.openxmlformats.org/officeDocument/2006/relationships/tags" Target="../tags/tag544.xml"/><Relationship Id="rId20" Type="http://schemas.openxmlformats.org/officeDocument/2006/relationships/tags" Target="../tags/tag543.xml"/><Relationship Id="rId2" Type="http://schemas.openxmlformats.org/officeDocument/2006/relationships/tags" Target="../tags/tag525.xml"/><Relationship Id="rId19" Type="http://schemas.openxmlformats.org/officeDocument/2006/relationships/tags" Target="../tags/tag542.xml"/><Relationship Id="rId18" Type="http://schemas.openxmlformats.org/officeDocument/2006/relationships/tags" Target="../tags/tag541.xml"/><Relationship Id="rId17" Type="http://schemas.openxmlformats.org/officeDocument/2006/relationships/tags" Target="../tags/tag540.xml"/><Relationship Id="rId16" Type="http://schemas.openxmlformats.org/officeDocument/2006/relationships/tags" Target="../tags/tag539.xml"/><Relationship Id="rId15" Type="http://schemas.openxmlformats.org/officeDocument/2006/relationships/tags" Target="../tags/tag538.xml"/><Relationship Id="rId14" Type="http://schemas.openxmlformats.org/officeDocument/2006/relationships/tags" Target="../tags/tag537.xml"/><Relationship Id="rId13" Type="http://schemas.openxmlformats.org/officeDocument/2006/relationships/tags" Target="../tags/tag536.xml"/><Relationship Id="rId12" Type="http://schemas.openxmlformats.org/officeDocument/2006/relationships/tags" Target="../tags/tag535.xml"/><Relationship Id="rId11" Type="http://schemas.openxmlformats.org/officeDocument/2006/relationships/tags" Target="../tags/tag534.xml"/><Relationship Id="rId10" Type="http://schemas.openxmlformats.org/officeDocument/2006/relationships/tags" Target="../tags/tag533.xml"/><Relationship Id="rId1" Type="http://schemas.openxmlformats.org/officeDocument/2006/relationships/tags" Target="../tags/tag52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4.xml"/><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4.xml"/><Relationship Id="rId2" Type="http://schemas.openxmlformats.org/officeDocument/2006/relationships/image" Target="../media/image23.png"/><Relationship Id="rId1" Type="http://schemas.openxmlformats.org/officeDocument/2006/relationships/image" Target="../media/image22.png"/></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14.xml"/><Relationship Id="rId5" Type="http://schemas.openxmlformats.org/officeDocument/2006/relationships/tags" Target="../tags/tag561.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4.xml"/><Relationship Id="rId2" Type="http://schemas.openxmlformats.org/officeDocument/2006/relationships/image" Target="../media/image28.png"/><Relationship Id="rId1" Type="http://schemas.openxmlformats.org/officeDocument/2006/relationships/tags" Target="../tags/tag562.xml"/></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40.xml"/><Relationship Id="rId7" Type="http://schemas.openxmlformats.org/officeDocument/2006/relationships/slideLayout" Target="../slideLayouts/slideLayout1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4.xml"/><Relationship Id="rId2" Type="http://schemas.openxmlformats.org/officeDocument/2006/relationships/tags" Target="../tags/tag563.xml"/><Relationship Id="rId1" Type="http://schemas.openxmlformats.org/officeDocument/2006/relationships/image" Target="../media/image35.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14.xml"/><Relationship Id="rId3" Type="http://schemas.openxmlformats.org/officeDocument/2006/relationships/tags" Target="../tags/tag564.xml"/><Relationship Id="rId2" Type="http://schemas.openxmlformats.org/officeDocument/2006/relationships/image" Target="../media/image37.jpeg"/><Relationship Id="rId1" Type="http://schemas.openxmlformats.org/officeDocument/2006/relationships/image" Target="../media/image36.jpeg"/></Relationships>
</file>

<file path=ppt/slides/_rels/slide43.xml.rels><?xml version="1.0" encoding="UTF-8" standalone="yes"?>
<Relationships xmlns="http://schemas.openxmlformats.org/package/2006/relationships"><Relationship Id="rId9" Type="http://schemas.openxmlformats.org/officeDocument/2006/relationships/tags" Target="../tags/tag565.xml"/><Relationship Id="rId8" Type="http://schemas.openxmlformats.org/officeDocument/2006/relationships/image" Target="../media/image45.jpeg"/><Relationship Id="rId7" Type="http://schemas.openxmlformats.org/officeDocument/2006/relationships/image" Target="../media/image44.jpeg"/><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1" Type="http://schemas.openxmlformats.org/officeDocument/2006/relationships/notesSlide" Target="../notesSlides/notesSlide43.xml"/><Relationship Id="rId10" Type="http://schemas.openxmlformats.org/officeDocument/2006/relationships/slideLayout" Target="../slideLayouts/slideLayout14.xml"/><Relationship Id="rId1" Type="http://schemas.openxmlformats.org/officeDocument/2006/relationships/image" Target="../media/image38.png"/></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44.xml"/><Relationship Id="rId6" Type="http://schemas.openxmlformats.org/officeDocument/2006/relationships/slideLayout" Target="../slideLayouts/slideLayout14.xml"/><Relationship Id="rId5" Type="http://schemas.openxmlformats.org/officeDocument/2006/relationships/tags" Target="../tags/tag566.xml"/><Relationship Id="rId4" Type="http://schemas.openxmlformats.org/officeDocument/2006/relationships/image" Target="../media/image49.jpeg"/><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image" Target="../media/image46.jpeg"/></Relationships>
</file>

<file path=ppt/slides/_rels/slide45.xml.rels><?xml version="1.0" encoding="UTF-8" standalone="yes"?>
<Relationships xmlns="http://schemas.openxmlformats.org/package/2006/relationships"><Relationship Id="rId7" Type="http://schemas.openxmlformats.org/officeDocument/2006/relationships/notesSlide" Target="../notesSlides/notesSlide45.xml"/><Relationship Id="rId6" Type="http://schemas.openxmlformats.org/officeDocument/2006/relationships/slideLayout" Target="../slideLayouts/slideLayout14.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microsoft.com/office/2007/relationships/media" Target="../media/media1.mp4"/><Relationship Id="rId1" Type="http://schemas.openxmlformats.org/officeDocument/2006/relationships/video" Target="../media/media1.mp4"/></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2.xml"/><Relationship Id="rId2" Type="http://schemas.openxmlformats.org/officeDocument/2006/relationships/image" Target="../media/image54.jpeg"/><Relationship Id="rId1" Type="http://schemas.openxmlformats.org/officeDocument/2006/relationships/image" Target="../media/image53.jpeg"/></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47.xml"/><Relationship Id="rId7" Type="http://schemas.openxmlformats.org/officeDocument/2006/relationships/slideLayout" Target="../slideLayouts/slideLayout2.xml"/><Relationship Id="rId6" Type="http://schemas.openxmlformats.org/officeDocument/2006/relationships/image" Target="../media/image60.jpeg"/><Relationship Id="rId5" Type="http://schemas.openxmlformats.org/officeDocument/2006/relationships/image" Target="../media/image59.png"/><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48.xml"/><Relationship Id="rId5" Type="http://schemas.openxmlformats.org/officeDocument/2006/relationships/slideLayout" Target="../slideLayouts/slideLayout2.xml"/><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65.jpe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15.xml"/><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5.xml"/><Relationship Id="rId2" Type="http://schemas.openxmlformats.org/officeDocument/2006/relationships/image" Target="../media/image70.png"/><Relationship Id="rId1" Type="http://schemas.openxmlformats.org/officeDocument/2006/relationships/image" Target="../media/image69.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15.xml"/><Relationship Id="rId2" Type="http://schemas.openxmlformats.org/officeDocument/2006/relationships/image" Target="../media/image72.png"/><Relationship Id="rId1" Type="http://schemas.openxmlformats.org/officeDocument/2006/relationships/image" Target="../media/image71.png"/></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slideLayout" Target="../slideLayouts/slideLayout15.xml"/><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slideLayout" Target="../slideLayouts/slideLayout14.xml"/><Relationship Id="rId3" Type="http://schemas.openxmlformats.org/officeDocument/2006/relationships/tags" Target="../tags/tag567.xml"/><Relationship Id="rId2" Type="http://schemas.openxmlformats.org/officeDocument/2006/relationships/image" Target="../media/image77.jpeg"/><Relationship Id="rId1" Type="http://schemas.openxmlformats.org/officeDocument/2006/relationships/image" Target="../media/image76.jpe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14.xml"/><Relationship Id="rId2" Type="http://schemas.openxmlformats.org/officeDocument/2006/relationships/tags" Target="../tags/tag568.xml"/><Relationship Id="rId1" Type="http://schemas.openxmlformats.org/officeDocument/2006/relationships/image" Target="../media/image78.jpeg"/></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slideLayout" Target="../slideLayouts/slideLayout14.xml"/><Relationship Id="rId3" Type="http://schemas.openxmlformats.org/officeDocument/2006/relationships/tags" Target="../tags/tag569.xml"/><Relationship Id="rId2" Type="http://schemas.openxmlformats.org/officeDocument/2006/relationships/image" Target="../media/image80.png"/><Relationship Id="rId1" Type="http://schemas.openxmlformats.org/officeDocument/2006/relationships/image" Target="../media/image79.png"/></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57.xml"/><Relationship Id="rId4" Type="http://schemas.openxmlformats.org/officeDocument/2006/relationships/slideLayout" Target="../slideLayouts/slideLayout14.xml"/><Relationship Id="rId3" Type="http://schemas.openxmlformats.org/officeDocument/2006/relationships/tags" Target="../tags/tag570.xml"/><Relationship Id="rId2" Type="http://schemas.openxmlformats.org/officeDocument/2006/relationships/image" Target="../media/image82.GIF"/><Relationship Id="rId1" Type="http://schemas.openxmlformats.org/officeDocument/2006/relationships/image" Target="../media/image81.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6.xml"/><Relationship Id="rId1" Type="http://schemas.openxmlformats.org/officeDocument/2006/relationships/tags" Target="../tags/tag5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636395" y="897255"/>
            <a:ext cx="9144000" cy="1924050"/>
          </a:xfrm>
        </p:spPr>
        <p:txBody>
          <a:bodyPr/>
          <a:p>
            <a:r>
              <a:rPr lang="en-US" altLang="zh-CN" dirty="0" smtClean="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cs typeface="Times New Roman" panose="02020603050405020304" pitchFamily="18" charset="0"/>
                <a:sym typeface="+mn-ea"/>
              </a:rPr>
              <a:t>Data Structures</a:t>
            </a:r>
            <a:endParaRPr lang="en-US" altLang="zh-CN" dirty="0" smtClean="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cs typeface="Times New Roman" panose="02020603050405020304" pitchFamily="18" charset="0"/>
              <a:sym typeface="+mn-ea"/>
            </a:endParaRPr>
          </a:p>
        </p:txBody>
      </p:sp>
      <p:sp>
        <p:nvSpPr>
          <p:cNvPr id="3" name="Subtitle 2"/>
          <p:cNvSpPr>
            <a:spLocks noGrp="1"/>
          </p:cNvSpPr>
          <p:nvPr>
            <p:ph type="subTitle" idx="1"/>
          </p:nvPr>
        </p:nvSpPr>
        <p:spPr>
          <a:xfrm>
            <a:off x="1524000" y="3152140"/>
            <a:ext cx="9144000" cy="2526030"/>
          </a:xfrm>
        </p:spPr>
        <p:txBody>
          <a:bodyPr>
            <a:noAutofit/>
            <a:scene3d>
              <a:camera prst="orthographicFront"/>
              <a:lightRig rig="soft" dir="t">
                <a:rot lat="0" lon="0" rev="15600000"/>
              </a:lightRig>
            </a:scene3d>
            <a:sp3d extrusionH="57150" prstMaterial="softEdge">
              <a:bevelT w="25400" h="38100"/>
            </a:sp3d>
          </a:bodyPr>
          <a:p>
            <a:pPr algn="ctr" eaLnBrk="1" hangingPunct="1">
              <a:buFontTx/>
              <a:buNone/>
            </a:pPr>
            <a:endParaRPr lang="en-US" altLang="zh-CN" sz="3200" dirty="0">
              <a:solidFill>
                <a:schemeClr val="accent4"/>
              </a:solidFill>
              <a:latin typeface="Times New Roman" panose="02020603050405020304" pitchFamily="18" charset="0"/>
              <a:cs typeface="Times New Roman" panose="02020603050405020304" pitchFamily="18" charset="0"/>
            </a:endParaRPr>
          </a:p>
          <a:p>
            <a:pPr algn="ctr" eaLnBrk="1" hangingPunct="1">
              <a:buClr>
                <a:srgbClr val="330066"/>
              </a:buClr>
            </a:pPr>
            <a:r>
              <a:rPr lang="en-US" altLang="zh-CN" sz="3600" dirty="0">
                <a:solidFill>
                  <a:schemeClr val="tx1"/>
                </a:solidFill>
                <a:latin typeface="Times New Roman" panose="02020603050405020304" pitchFamily="18" charset="0"/>
                <a:cs typeface="Times New Roman" panose="02020603050405020304" pitchFamily="18" charset="0"/>
                <a:sym typeface="+mn-ea"/>
              </a:rPr>
              <a:t>Jiexin Wang</a:t>
            </a:r>
            <a:endParaRPr lang="en-US" altLang="zh-CN" sz="3600" dirty="0">
              <a:solidFill>
                <a:schemeClr val="tx1"/>
              </a:solidFill>
              <a:latin typeface="Times New Roman" panose="02020603050405020304" pitchFamily="18" charset="0"/>
              <a:cs typeface="Times New Roman" panose="02020603050405020304" pitchFamily="18" charset="0"/>
            </a:endParaRPr>
          </a:p>
          <a:p>
            <a:pPr algn="ctr" eaLnBrk="1" hangingPunct="1">
              <a:buClr>
                <a:srgbClr val="330066"/>
              </a:buClr>
            </a:pPr>
            <a:r>
              <a:rPr lang="en-US" altLang="zh-CN" sz="2800" dirty="0">
                <a:latin typeface="Times New Roman" panose="02020603050405020304" pitchFamily="18" charset="0"/>
                <a:cs typeface="Times New Roman" panose="02020603050405020304" pitchFamily="18" charset="0"/>
                <a:sym typeface="+mn-ea"/>
              </a:rPr>
              <a:t>School of Software Engineering</a:t>
            </a:r>
            <a:endParaRPr lang="en-US" altLang="zh-CN" sz="2800" dirty="0">
              <a:latin typeface="Times New Roman" panose="02020603050405020304" pitchFamily="18" charset="0"/>
              <a:cs typeface="Times New Roman" panose="02020603050405020304" pitchFamily="18" charset="0"/>
            </a:endParaRPr>
          </a:p>
          <a:p>
            <a:pPr algn="ctr" eaLnBrk="1" hangingPunct="1">
              <a:buClr>
                <a:srgbClr val="330066"/>
              </a:buClr>
            </a:pPr>
            <a:r>
              <a:rPr lang="en-US" altLang="zh-CN" sz="2800" dirty="0">
                <a:latin typeface="Times New Roman" panose="02020603050405020304" pitchFamily="18" charset="0"/>
                <a:cs typeface="Times New Roman" panose="02020603050405020304" pitchFamily="18" charset="0"/>
                <a:sym typeface="+mn-ea"/>
              </a:rPr>
              <a:t>South China University of Technology</a:t>
            </a:r>
            <a:endParaRPr lang="en-US" altLang="zh-CN" sz="2800" dirty="0">
              <a:latin typeface="Times New Roman" panose="02020603050405020304" pitchFamily="18" charset="0"/>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66700"/>
            <a:ext cx="10515600" cy="1325563"/>
          </a:xfrm>
        </p:spPr>
        <p:txBody>
          <a:bodyPr>
            <a:normAutofit/>
          </a:bodyPr>
          <a:p>
            <a:pPr algn="ctr"/>
            <a:r>
              <a:rPr lang="en-US" altLang="zh-CN" dirty="0" smtClean="0">
                <a:sym typeface="+mn-ea"/>
              </a:rPr>
              <a:t>Course Information (I)</a:t>
            </a:r>
            <a:endParaRPr lang="en-US"/>
          </a:p>
        </p:txBody>
      </p:sp>
      <p:sp>
        <p:nvSpPr>
          <p:cNvPr id="3" name="Content Placeholder 2"/>
          <p:cNvSpPr>
            <a:spLocks noGrp="1"/>
          </p:cNvSpPr>
          <p:nvPr>
            <p:ph idx="1"/>
          </p:nvPr>
        </p:nvSpPr>
        <p:spPr>
          <a:xfrm>
            <a:off x="838200" y="1691005"/>
            <a:ext cx="10515600" cy="4288155"/>
          </a:xfrm>
        </p:spPr>
        <p:txBody>
          <a:bodyPr>
            <a:normAutofit/>
          </a:bodyPr>
          <a:p>
            <a:pPr eaLnBrk="1" hangingPunct="1"/>
            <a:r>
              <a:rPr lang="en-US" altLang="zh-CN" sz="2800" dirty="0">
                <a:solidFill>
                  <a:schemeClr val="tx1"/>
                </a:solidFill>
                <a:sym typeface="+mn-ea"/>
              </a:rPr>
              <a:t>Instructor</a:t>
            </a:r>
            <a:endParaRPr lang="en-US" altLang="zh-CN" sz="2800" dirty="0">
              <a:solidFill>
                <a:schemeClr val="tx1"/>
              </a:solidFill>
            </a:endParaRPr>
          </a:p>
          <a:p>
            <a:pPr lvl="1" eaLnBrk="1" hangingPunct="1"/>
            <a:r>
              <a:rPr lang="en-US" altLang="zh-CN" dirty="0">
                <a:solidFill>
                  <a:schemeClr val="tx1"/>
                </a:solidFill>
                <a:sym typeface="+mn-ea"/>
              </a:rPr>
              <a:t>Jiexin Wang (王杰新)</a:t>
            </a:r>
            <a:endParaRPr lang="en-US" altLang="zh-CN" dirty="0">
              <a:solidFill>
                <a:schemeClr val="tx1"/>
              </a:solidFill>
            </a:endParaRPr>
          </a:p>
          <a:p>
            <a:pPr lvl="1" eaLnBrk="1" hangingPunct="1"/>
            <a:r>
              <a:rPr lang="en-US" altLang="zh-CN" dirty="0">
                <a:solidFill>
                  <a:schemeClr val="tx1"/>
                </a:solidFill>
                <a:sym typeface="+mn-ea"/>
              </a:rPr>
              <a:t>Email: jiexinwang@scut.edu.cn </a:t>
            </a:r>
            <a:endParaRPr lang="en-US" altLang="zh-CN" dirty="0">
              <a:solidFill>
                <a:schemeClr val="tx1"/>
              </a:solidFill>
              <a:sym typeface="+mn-ea"/>
            </a:endParaRPr>
          </a:p>
          <a:p>
            <a:pPr lvl="1" eaLnBrk="1" hangingPunct="1"/>
            <a:endParaRPr lang="en-US">
              <a:solidFill>
                <a:schemeClr val="tx1"/>
              </a:solidFill>
            </a:endParaRPr>
          </a:p>
          <a:p>
            <a:pPr eaLnBrk="1" hangingPunct="1"/>
            <a:r>
              <a:rPr lang="en-US" altLang="zh-CN" sz="2800" dirty="0">
                <a:solidFill>
                  <a:schemeClr val="tx1"/>
                </a:solidFill>
                <a:sym typeface="+mn-ea"/>
              </a:rPr>
              <a:t>Schedule</a:t>
            </a:r>
            <a:endParaRPr lang="en-US" altLang="zh-CN" sz="2800" dirty="0">
              <a:solidFill>
                <a:schemeClr val="tx1"/>
              </a:solidFill>
              <a:sym typeface="+mn-ea"/>
            </a:endParaRPr>
          </a:p>
          <a:p>
            <a:pPr lvl="1" eaLnBrk="1" hangingPunct="1">
              <a:buFont typeface="Wingdings" panose="05000000000000000000" charset="0"/>
              <a:buChar char=""/>
            </a:pPr>
            <a:r>
              <a:rPr lang="en-US" altLang="zh-CN" sz="2795" dirty="0">
                <a:solidFill>
                  <a:schemeClr val="tx1"/>
                </a:solidFill>
              </a:rPr>
              <a:t>Theory course (48 hours)</a:t>
            </a:r>
            <a:endParaRPr lang="en-US" altLang="zh-CN" sz="2795" dirty="0">
              <a:solidFill>
                <a:schemeClr val="tx1"/>
              </a:solidFill>
            </a:endParaRPr>
          </a:p>
          <a:p>
            <a:pPr lvl="2" eaLnBrk="1" hangingPunct="1"/>
            <a:r>
              <a:rPr lang="en-US" altLang="zh-CN" sz="2400" dirty="0">
                <a:solidFill>
                  <a:schemeClr val="tx1"/>
                </a:solidFill>
                <a:sym typeface="+mn-ea"/>
              </a:rPr>
              <a:t>Tuesday 15:45</a:t>
            </a:r>
            <a:r>
              <a:rPr lang="en-US" altLang="zh-CN" sz="2400" dirty="0">
                <a:sym typeface="+mn-ea"/>
              </a:rPr>
              <a:t>-</a:t>
            </a:r>
            <a:r>
              <a:rPr lang="en-US" altLang="zh-CN" sz="2400" dirty="0">
                <a:solidFill>
                  <a:schemeClr val="tx1"/>
                </a:solidFill>
                <a:sym typeface="+mn-ea"/>
              </a:rPr>
              <a:t>17:20(7-8)</a:t>
            </a:r>
            <a:r>
              <a:rPr lang="en-US" altLang="zh-CN" sz="2400" dirty="0">
                <a:sym typeface="+mn-ea"/>
              </a:rPr>
              <a:t> at A2-405</a:t>
            </a:r>
            <a:r>
              <a:rPr lang="en-US" altLang="zh-CN" sz="2400" dirty="0">
                <a:solidFill>
                  <a:schemeClr val="tx1"/>
                </a:solidFill>
                <a:sym typeface="+mn-ea"/>
              </a:rPr>
              <a:t> on Week 1-14</a:t>
            </a:r>
            <a:endParaRPr lang="zh-CN" altLang="en-US" sz="2400" dirty="0">
              <a:solidFill>
                <a:schemeClr val="tx1"/>
              </a:solidFill>
              <a:sym typeface="+mn-ea"/>
            </a:endParaRPr>
          </a:p>
          <a:p>
            <a:pPr lvl="2" eaLnBrk="1" hangingPunct="1"/>
            <a:r>
              <a:rPr lang="en-US" altLang="zh-CN" sz="2400" dirty="0">
                <a:solidFill>
                  <a:schemeClr val="tx1"/>
                </a:solidFill>
                <a:sym typeface="+mn-ea"/>
              </a:rPr>
              <a:t>Thursday 14:00-16:30(5-7) at </a:t>
            </a:r>
            <a:r>
              <a:rPr lang="en-US" altLang="zh-CN" sz="2400" dirty="0">
                <a:sym typeface="+mn-ea"/>
              </a:rPr>
              <a:t>A2-405</a:t>
            </a:r>
            <a:r>
              <a:rPr lang="en-US" altLang="zh-CN" sz="2400" dirty="0">
                <a:solidFill>
                  <a:schemeClr val="tx1"/>
                </a:solidFill>
                <a:sym typeface="+mn-ea"/>
              </a:rPr>
              <a:t> on Week 1-4</a:t>
            </a:r>
            <a:endParaRPr lang="en-US" altLang="zh-CN" sz="2400" dirty="0">
              <a:solidFill>
                <a:schemeClr val="tx1"/>
              </a:solidFill>
              <a:sym typeface="+mn-ea"/>
            </a:endParaRPr>
          </a:p>
          <a:p>
            <a:pPr lvl="2" eaLnBrk="1" hangingPunct="1"/>
            <a:r>
              <a:rPr lang="en-US" altLang="zh-CN" sz="2400" dirty="0">
                <a:solidFill>
                  <a:schemeClr val="tx1"/>
                </a:solidFill>
                <a:sym typeface="+mn-ea"/>
              </a:rPr>
              <a:t>Monday 8:50</a:t>
            </a:r>
            <a:r>
              <a:rPr lang="en-US" altLang="zh-CN" sz="2400" dirty="0">
                <a:sym typeface="+mn-ea"/>
              </a:rPr>
              <a:t>-</a:t>
            </a:r>
            <a:r>
              <a:rPr lang="en-US" altLang="zh-CN" sz="2400" dirty="0">
                <a:solidFill>
                  <a:schemeClr val="tx1"/>
                </a:solidFill>
                <a:sym typeface="+mn-ea"/>
              </a:rPr>
              <a:t>10:25(1-2) at A2-405 on Week 10-13 </a:t>
            </a:r>
            <a:endParaRPr lang="en-US" altLang="zh-CN" sz="2400" dirty="0">
              <a:solidFill>
                <a:schemeClr val="tx1"/>
              </a:solidFill>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66700"/>
            <a:ext cx="10515600" cy="1325563"/>
          </a:xfrm>
        </p:spPr>
        <p:txBody>
          <a:bodyPr>
            <a:normAutofit/>
          </a:bodyPr>
          <a:p>
            <a:pPr algn="ctr"/>
            <a:r>
              <a:rPr lang="en-US" altLang="zh-CN" dirty="0" smtClean="0">
                <a:sym typeface="+mn-ea"/>
              </a:rPr>
              <a:t>Course Information (I</a:t>
            </a:r>
            <a:r>
              <a:rPr lang="en-US" altLang="zh-CN" dirty="0" smtClean="0">
                <a:sym typeface="+mn-ea"/>
              </a:rPr>
              <a:t>I)</a:t>
            </a:r>
            <a:endParaRPr lang="en-US"/>
          </a:p>
        </p:txBody>
      </p:sp>
      <p:sp>
        <p:nvSpPr>
          <p:cNvPr id="3" name="Content Placeholder 2"/>
          <p:cNvSpPr>
            <a:spLocks noGrp="1"/>
          </p:cNvSpPr>
          <p:nvPr>
            <p:ph idx="1"/>
          </p:nvPr>
        </p:nvSpPr>
        <p:spPr>
          <a:xfrm>
            <a:off x="838200" y="1843405"/>
            <a:ext cx="10881995" cy="2747645"/>
          </a:xfrm>
        </p:spPr>
        <p:txBody>
          <a:bodyPr>
            <a:normAutofit/>
          </a:bodyPr>
          <a:p>
            <a:pPr eaLnBrk="1" hangingPunct="1">
              <a:defRPr/>
            </a:pPr>
            <a:r>
              <a:rPr lang="en-US" altLang="zh-CN" sz="2400" dirty="0">
                <a:sym typeface="+mn-ea"/>
              </a:rPr>
              <a:t>Grading</a:t>
            </a:r>
            <a:endParaRPr lang="en-US" altLang="zh-CN" sz="2400" dirty="0"/>
          </a:p>
          <a:p>
            <a:pPr lvl="1" eaLnBrk="1" hangingPunct="1">
              <a:defRPr/>
            </a:pPr>
            <a:r>
              <a:rPr lang="en-US" altLang="zh-CN" dirty="0">
                <a:sym typeface="+mn-ea"/>
              </a:rPr>
              <a:t>Attendance and Assignments 30%</a:t>
            </a:r>
            <a:endParaRPr lang="en-US" altLang="zh-CN" dirty="0"/>
          </a:p>
          <a:p>
            <a:pPr lvl="1" eaLnBrk="1" hangingPunct="1">
              <a:defRPr/>
            </a:pPr>
            <a:r>
              <a:rPr lang="en-US" altLang="zh-CN" dirty="0">
                <a:sym typeface="+mn-ea"/>
              </a:rPr>
              <a:t>Final exam 70%</a:t>
            </a:r>
            <a:endParaRPr lang="en-US" altLang="zh-CN"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66700"/>
            <a:ext cx="10515600" cy="1325563"/>
          </a:xfrm>
        </p:spPr>
        <p:txBody>
          <a:bodyPr>
            <a:normAutofit/>
          </a:bodyPr>
          <a:p>
            <a:pPr algn="ctr"/>
            <a:r>
              <a:rPr lang="en-US" altLang="zh-CN" dirty="0" smtClean="0">
                <a:sym typeface="+mn-ea"/>
              </a:rPr>
              <a:t>Course Information</a:t>
            </a:r>
            <a:endParaRPr lang="en-US"/>
          </a:p>
        </p:txBody>
      </p:sp>
      <p:sp>
        <p:nvSpPr>
          <p:cNvPr id="3" name="Content Placeholder 2"/>
          <p:cNvSpPr>
            <a:spLocks noGrp="1"/>
          </p:cNvSpPr>
          <p:nvPr>
            <p:ph idx="1"/>
          </p:nvPr>
        </p:nvSpPr>
        <p:spPr>
          <a:xfrm>
            <a:off x="556895" y="2094230"/>
            <a:ext cx="7931785" cy="3315970"/>
          </a:xfrm>
        </p:spPr>
        <p:txBody>
          <a:bodyPr/>
          <a:p>
            <a:pPr eaLnBrk="1" hangingPunct="1">
              <a:defRPr/>
            </a:pPr>
            <a:r>
              <a:rPr lang="en-US" altLang="zh-CN" sz="2400" dirty="0">
                <a:sym typeface="+mn-ea"/>
              </a:rPr>
              <a:t>Textbook for Data Structures</a:t>
            </a:r>
            <a:endParaRPr lang="en-US" altLang="zh-CN" sz="2400" dirty="0"/>
          </a:p>
          <a:p>
            <a:pPr lvl="1" eaLnBrk="1" hangingPunct="1">
              <a:defRPr/>
            </a:pPr>
            <a:r>
              <a:rPr lang="pt-BR" altLang="zh-CN" dirty="0">
                <a:sym typeface="+mn-ea"/>
              </a:rPr>
              <a:t>Mark Allen Weiss. </a:t>
            </a:r>
            <a:r>
              <a:rPr lang="en-US" altLang="zh-CN" dirty="0">
                <a:sym typeface="+mn-ea"/>
              </a:rPr>
              <a:t>Data Structures and Algorithm Analysis in C++ (4th Edition). Publishing House of Electronic Industry, 4th </a:t>
            </a:r>
            <a:r>
              <a:rPr lang="en-US" altLang="zh-CN" dirty="0" smtClean="0">
                <a:sym typeface="+mn-ea"/>
              </a:rPr>
              <a:t>Edition</a:t>
            </a:r>
            <a:endParaRPr lang="en-US" altLang="zh-CN" dirty="0" smtClean="0"/>
          </a:p>
          <a:p>
            <a:pPr lvl="1" eaLnBrk="1" hangingPunct="1">
              <a:defRPr/>
            </a:pPr>
            <a:endParaRPr lang="en-US" altLang="zh-CN" dirty="0" smtClean="0"/>
          </a:p>
        </p:txBody>
      </p:sp>
      <p:pic>
        <p:nvPicPr>
          <p:cNvPr id="4" name="Picture 3"/>
          <p:cNvPicPr>
            <a:picLocks noChangeAspect="1"/>
          </p:cNvPicPr>
          <p:nvPr/>
        </p:nvPicPr>
        <p:blipFill>
          <a:blip r:embed="rId1"/>
          <a:stretch>
            <a:fillRect/>
          </a:stretch>
        </p:blipFill>
        <p:spPr>
          <a:xfrm>
            <a:off x="8725535" y="1592580"/>
            <a:ext cx="3295650" cy="43192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1435" tIns="25717" rIns="51435" bIns="25717" numCol="1" anchor="ctr" anchorCtr="0" compatLnSpc="1"/>
          <a:lstStyle/>
          <a:p>
            <a:pPr algn="ctr" eaLnBrk="1" hangingPunct="1"/>
            <a:r>
              <a:rPr lang="en-US" altLang="zh-CN" dirty="0">
                <a:effectLst>
                  <a:outerShdw blurRad="38100" dist="38100" dir="2700000" algn="tl">
                    <a:srgbClr val="C0C0C0"/>
                  </a:outerShdw>
                </a:effectLst>
              </a:rPr>
              <a:t>Course Topics </a:t>
            </a:r>
            <a:r>
              <a:rPr lang="en-US" altLang="zh-CN" dirty="0">
                <a:effectLst>
                  <a:outerShdw blurRad="38100" dist="38100" dir="2700000" algn="tl">
                    <a:srgbClr val="C0C0C0"/>
                  </a:outerShdw>
                </a:effectLst>
                <a:sym typeface="+mn-ea"/>
              </a:rPr>
              <a:t>of Data </a:t>
            </a:r>
            <a:r>
              <a:rPr lang="en-US" altLang="zh-CN" dirty="0">
                <a:effectLst>
                  <a:outerShdw blurRad="38100" dist="38100" dir="2700000" algn="tl">
                    <a:srgbClr val="C0C0C0"/>
                  </a:outerShdw>
                </a:effectLst>
                <a:sym typeface="+mn-ea"/>
              </a:rPr>
              <a:t>Structure</a:t>
            </a:r>
            <a:endParaRPr lang="en-US" altLang="zh-CN" dirty="0">
              <a:effectLst>
                <a:outerShdw blurRad="38100" dist="38100" dir="2700000" algn="tl">
                  <a:srgbClr val="C0C0C0"/>
                </a:outerShdw>
              </a:effectLst>
            </a:endParaRPr>
          </a:p>
        </p:txBody>
      </p:sp>
      <p:sp>
        <p:nvSpPr>
          <p:cNvPr id="10245" name="Rectangle 3"/>
          <p:cNvSpPr>
            <a:spLocks noGrp="1" noChangeArrowheads="1"/>
          </p:cNvSpPr>
          <p:nvPr>
            <p:ph idx="1"/>
          </p:nvPr>
        </p:nvSpPr>
        <p:spPr>
          <a:xfrm>
            <a:off x="838200" y="1779905"/>
            <a:ext cx="10515600" cy="4351338"/>
          </a:xfrm>
        </p:spPr>
        <p:txBody>
          <a:bodyPr/>
          <a:lstStyle/>
          <a:p>
            <a:r>
              <a:rPr lang="en-US" altLang="zh-CN" dirty="0" smtClean="0">
                <a:ea typeface="宋体" pitchFamily="2" charset="-122"/>
              </a:rPr>
              <a:t>Algorithm analysis</a:t>
            </a:r>
            <a:endParaRPr lang="en-US" altLang="zh-CN" dirty="0" smtClean="0">
              <a:ea typeface="宋体" pitchFamily="2" charset="-122"/>
            </a:endParaRPr>
          </a:p>
          <a:p>
            <a:r>
              <a:rPr lang="en-US" altLang="zh-CN" dirty="0" smtClean="0">
                <a:ea typeface="宋体" pitchFamily="2" charset="-122"/>
              </a:rPr>
              <a:t>Lists, Stacks, Queues</a:t>
            </a:r>
            <a:endParaRPr lang="en-US" altLang="zh-CN" dirty="0" smtClean="0">
              <a:ea typeface="宋体" pitchFamily="2" charset="-122"/>
            </a:endParaRPr>
          </a:p>
          <a:p>
            <a:r>
              <a:rPr lang="en-US" altLang="zh-CN" dirty="0" smtClean="0">
                <a:ea typeface="宋体" pitchFamily="2" charset="-122"/>
              </a:rPr>
              <a:t>Search Algorithms and Trees</a:t>
            </a:r>
            <a:endParaRPr lang="en-US" altLang="zh-CN" dirty="0" smtClean="0">
              <a:ea typeface="宋体" pitchFamily="2" charset="-122"/>
            </a:endParaRPr>
          </a:p>
          <a:p>
            <a:r>
              <a:rPr lang="en-US" altLang="zh-CN" dirty="0" smtClean="0">
                <a:ea typeface="宋体" pitchFamily="2" charset="-122"/>
              </a:rPr>
              <a:t>Hashing and Heaps</a:t>
            </a:r>
            <a:endParaRPr lang="en-US" altLang="zh-CN" dirty="0" smtClean="0">
              <a:ea typeface="宋体" pitchFamily="2" charset="-122"/>
            </a:endParaRPr>
          </a:p>
          <a:p>
            <a:r>
              <a:rPr lang="en-US" altLang="zh-CN" dirty="0" smtClean="0">
                <a:ea typeface="宋体" pitchFamily="2" charset="-122"/>
              </a:rPr>
              <a:t>Sorting</a:t>
            </a:r>
            <a:endParaRPr lang="en-US" altLang="zh-CN" dirty="0" smtClean="0">
              <a:ea typeface="宋体" pitchFamily="2" charset="-122"/>
            </a:endParaRPr>
          </a:p>
          <a:p>
            <a:r>
              <a:rPr lang="en-US" altLang="zh-CN" dirty="0" smtClean="0">
                <a:ea typeface="宋体" pitchFamily="2" charset="-122"/>
              </a:rPr>
              <a:t>Disjoint Sets</a:t>
            </a:r>
            <a:endParaRPr lang="en-US" altLang="zh-CN" dirty="0" smtClean="0">
              <a:ea typeface="宋体" pitchFamily="2" charset="-122"/>
            </a:endParaRPr>
          </a:p>
          <a:p>
            <a:r>
              <a:rPr lang="en-US" altLang="zh-CN" dirty="0" smtClean="0">
                <a:ea typeface="宋体" pitchFamily="2" charset="-122"/>
              </a:rPr>
              <a:t>Graph Algorithms</a:t>
            </a:r>
            <a:endParaRPr lang="en-US" altLang="zh-CN" dirty="0" smtClean="0">
              <a:ea typeface="宋体" pitchFamily="2" charset="-122"/>
            </a:endParaRPr>
          </a:p>
        </p:txBody>
      </p:sp>
      <p:sp>
        <p:nvSpPr>
          <p:cNvPr id="6" name="灯片编号占位符 5"/>
          <p:cNvSpPr>
            <a:spLocks noGrp="1"/>
          </p:cNvSpPr>
          <p:nvPr>
            <p:ph type="sldNum" sz="quarter" idx="12"/>
          </p:nvPr>
        </p:nvSpPr>
        <p:spPr/>
        <p:txBody>
          <a:bodyPr/>
          <a:lstStyle/>
          <a:p>
            <a:pPr>
              <a:defRPr/>
            </a:pPr>
            <a:fld id="{4FF53E0D-E652-4C16-BF88-438DB24A62E8}" type="slidenum">
              <a:rPr lang="en-US" altLang="zh-CN" sz="900"/>
            </a:fld>
            <a:endParaRPr lang="en-US" altLang="zh-CN" sz="90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US" altLang="zh-CN" dirty="0" smtClean="0">
                <a:effectLst>
                  <a:outerShdw blurRad="38100" dist="38100" dir="2700000" algn="tl">
                    <a:srgbClr val="C0C0C0"/>
                  </a:outerShdw>
                </a:effectLst>
                <a:sym typeface="+mn-ea"/>
              </a:rPr>
              <a:t>Three Goals</a:t>
            </a:r>
            <a:endParaRPr lang="en-US"/>
          </a:p>
        </p:txBody>
      </p:sp>
      <p:sp>
        <p:nvSpPr>
          <p:cNvPr id="3" name="Content Placeholder 2"/>
          <p:cNvSpPr>
            <a:spLocks noGrp="1"/>
          </p:cNvSpPr>
          <p:nvPr>
            <p:ph idx="1"/>
          </p:nvPr>
        </p:nvSpPr>
        <p:spPr>
          <a:xfrm>
            <a:off x="838200" y="1764030"/>
            <a:ext cx="10515600" cy="4351338"/>
          </a:xfrm>
        </p:spPr>
        <p:txBody>
          <a:bodyPr>
            <a:normAutofit lnSpcReduction="10000"/>
          </a:bodyPr>
          <a:p>
            <a:r>
              <a:rPr lang="en-US" altLang="zh-CN" sz="2800" dirty="0">
                <a:sym typeface="+mn-ea"/>
              </a:rPr>
              <a:t>Master the commonly used data structures</a:t>
            </a:r>
            <a:endParaRPr lang="en-US" altLang="zh-CN" sz="2800" dirty="0"/>
          </a:p>
          <a:p>
            <a:pPr lvl="1"/>
            <a:r>
              <a:rPr lang="en-US" altLang="zh-CN" sz="2800" dirty="0">
                <a:sym typeface="+mn-ea"/>
              </a:rPr>
              <a:t>They form a programmer’s basic data structure “toolkit</a:t>
            </a:r>
            <a:r>
              <a:rPr lang="en-US" altLang="zh-CN" sz="2800" dirty="0" smtClean="0">
                <a:sym typeface="+mn-ea"/>
              </a:rPr>
              <a:t>”.</a:t>
            </a:r>
            <a:endParaRPr lang="en-US" altLang="zh-CN" sz="2800" dirty="0" smtClean="0"/>
          </a:p>
          <a:p>
            <a:pPr lvl="1"/>
            <a:endParaRPr lang="en-US" altLang="zh-CN" sz="2800" dirty="0"/>
          </a:p>
          <a:p>
            <a:r>
              <a:rPr lang="en-US" altLang="zh-CN" sz="2800" dirty="0">
                <a:sym typeface="+mn-ea"/>
              </a:rPr>
              <a:t>Learn to measure the effectiveness of a data structure or algorithm.</a:t>
            </a:r>
            <a:endParaRPr lang="en-US" altLang="zh-CN" sz="2800" dirty="0"/>
          </a:p>
          <a:p>
            <a:pPr lvl="1"/>
            <a:r>
              <a:rPr lang="en-US" altLang="zh-CN" sz="2800" dirty="0">
                <a:sym typeface="+mn-ea"/>
              </a:rPr>
              <a:t>Decide which data structure in the toolkit is most appropriate for a new </a:t>
            </a:r>
            <a:r>
              <a:rPr lang="en-US" altLang="zh-CN" sz="2800" dirty="0" smtClean="0">
                <a:sym typeface="+mn-ea"/>
              </a:rPr>
              <a:t>problem</a:t>
            </a:r>
            <a:endParaRPr lang="en-US" altLang="zh-CN" sz="2800" dirty="0" smtClean="0"/>
          </a:p>
          <a:p>
            <a:pPr lvl="1"/>
            <a:endParaRPr lang="en-US" altLang="zh-CN" sz="2800" dirty="0"/>
          </a:p>
          <a:p>
            <a:r>
              <a:rPr lang="en-US" altLang="zh-CN" sz="2800" dirty="0">
                <a:sym typeface="+mn-ea"/>
              </a:rPr>
              <a:t>Understand the idea of tradeoffs; reinforce the concept that costs and benefits are associated with every data structure.</a:t>
            </a:r>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US" altLang="zh-CN" dirty="0">
                <a:effectLst>
                  <a:outerShdw blurRad="38100" dist="38100" dir="2700000" algn="tl">
                    <a:srgbClr val="C0C0C0"/>
                  </a:outerShdw>
                </a:effectLst>
                <a:sym typeface="+mn-ea"/>
              </a:rPr>
              <a:t>Data Structures: What?</a:t>
            </a:r>
            <a:endParaRPr lang="en-US"/>
          </a:p>
        </p:txBody>
      </p:sp>
      <p:sp>
        <p:nvSpPr>
          <p:cNvPr id="3" name="Content Placeholder 2"/>
          <p:cNvSpPr>
            <a:spLocks noGrp="1"/>
          </p:cNvSpPr>
          <p:nvPr>
            <p:ph idx="1"/>
          </p:nvPr>
        </p:nvSpPr>
        <p:spPr>
          <a:xfrm>
            <a:off x="838200" y="1691005"/>
            <a:ext cx="10515600" cy="4033520"/>
          </a:xfrm>
        </p:spPr>
        <p:txBody>
          <a:bodyPr>
            <a:normAutofit/>
          </a:bodyPr>
          <a:p>
            <a:r>
              <a:rPr lang="en-US" altLang="zh-CN" sz="2400" dirty="0">
                <a:sym typeface="+mn-ea"/>
              </a:rPr>
              <a:t>Niklaus Wirth: Algorithms + Data Structures = Programs</a:t>
            </a:r>
            <a:endParaRPr lang="en-US" altLang="zh-CN" sz="2400" dirty="0">
              <a:sym typeface="+mn-ea"/>
            </a:endParaRPr>
          </a:p>
          <a:p>
            <a:endParaRPr lang="en-US" altLang="zh-CN" sz="2400" dirty="0">
              <a:sym typeface="+mn-ea"/>
            </a:endParaRPr>
          </a:p>
          <a:p>
            <a:r>
              <a:rPr lang="en-US" altLang="zh-CN" sz="2400" dirty="0">
                <a:sym typeface="+mn-ea"/>
              </a:rPr>
              <a:t>Generally, a </a:t>
            </a:r>
            <a:r>
              <a:rPr lang="en-US" altLang="zh-CN" sz="2400" dirty="0">
                <a:solidFill>
                  <a:srgbClr val="FF0000"/>
                </a:solidFill>
                <a:sym typeface="+mn-ea"/>
              </a:rPr>
              <a:t>data structure </a:t>
            </a:r>
            <a:r>
              <a:rPr lang="en-US" altLang="zh-CN" sz="2400" dirty="0">
                <a:sym typeface="+mn-ea"/>
              </a:rPr>
              <a:t>is any data representation and its associated operations</a:t>
            </a:r>
            <a:r>
              <a:rPr lang="en-US" altLang="zh-CN" sz="2400" dirty="0" smtClean="0">
                <a:sym typeface="+mn-ea"/>
              </a:rPr>
              <a:t>.</a:t>
            </a:r>
            <a:endParaRPr lang="en-US" altLang="zh-CN" sz="2400" dirty="0" smtClean="0"/>
          </a:p>
          <a:p>
            <a:endParaRPr lang="en-US" altLang="zh-CN" sz="2400" dirty="0"/>
          </a:p>
          <a:p>
            <a:r>
              <a:rPr lang="en-US" altLang="zh-CN" sz="2400" dirty="0" smtClean="0">
                <a:sym typeface="+mn-ea"/>
              </a:rPr>
              <a:t>Methods </a:t>
            </a:r>
            <a:r>
              <a:rPr lang="en-US" altLang="zh-CN" sz="2400" dirty="0">
                <a:sym typeface="+mn-ea"/>
              </a:rPr>
              <a:t>of organizing large amounts of </a:t>
            </a:r>
            <a:r>
              <a:rPr lang="en-US" altLang="zh-CN" sz="2400" dirty="0" smtClean="0">
                <a:sym typeface="+mn-ea"/>
              </a:rPr>
              <a:t>data</a:t>
            </a:r>
            <a:endParaRPr lang="en-US" altLang="zh-CN" sz="2400" dirty="0" smtClean="0"/>
          </a:p>
          <a:p>
            <a:pPr lvl="1"/>
            <a:r>
              <a:rPr lang="en-US" altLang="zh-CN" sz="2000" dirty="0" smtClean="0">
                <a:ea typeface="宋体" pitchFamily="2" charset="-122"/>
                <a:sym typeface="+mn-ea"/>
              </a:rPr>
              <a:t>Need </a:t>
            </a:r>
            <a:r>
              <a:rPr lang="en-US" altLang="zh-CN" sz="2000" dirty="0">
                <a:ea typeface="宋体" pitchFamily="2" charset="-122"/>
                <a:sym typeface="+mn-ea"/>
              </a:rPr>
              <a:t>to organize program data according to problem being solved</a:t>
            </a:r>
            <a:endParaRPr lang="en-US" altLang="zh-CN" sz="2000" dirty="0">
              <a:ea typeface="宋体" pitchFamily="2" charset="-122"/>
              <a:sym typeface="+mn-ea"/>
            </a:endParaRPr>
          </a:p>
          <a:p>
            <a:pPr lvl="1"/>
            <a:endParaRPr lang="en-US" sz="240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outerShdw blurRad="38100" dist="38100" dir="2700000" algn="tl">
                    <a:srgbClr val="C0C0C0"/>
                  </a:outerShdw>
                </a:effectLst>
              </a:rPr>
              <a:t>Data Structures: What?</a:t>
            </a:r>
            <a:endParaRPr lang="zh-CN" altLang="en-US" dirty="0"/>
          </a:p>
        </p:txBody>
      </p:sp>
      <p:sp>
        <p:nvSpPr>
          <p:cNvPr id="4" name="灯片编号占位符 3"/>
          <p:cNvSpPr>
            <a:spLocks noGrp="1"/>
          </p:cNvSpPr>
          <p:nvPr>
            <p:ph type="sldNum" sz="quarter" idx="12"/>
          </p:nvPr>
        </p:nvSpPr>
        <p:spPr/>
        <p:txBody>
          <a:bodyPr/>
          <a:lstStyle/>
          <a:p>
            <a:pPr>
              <a:defRPr/>
            </a:pPr>
            <a:fld id="{6E94D89D-F5C8-4ADB-91AC-94D7A8C47A12}" type="slidenum">
              <a:rPr lang="zh-CN" altLang="en-US" sz="900" smtClean="0"/>
            </a:fld>
            <a:endParaRPr lang="zh-CN" altLang="en-US" sz="900"/>
          </a:p>
        </p:txBody>
      </p:sp>
      <p:pic>
        <p:nvPicPr>
          <p:cNvPr id="3" name="Picture 2"/>
          <p:cNvPicPr>
            <a:picLocks noChangeAspect="1"/>
          </p:cNvPicPr>
          <p:nvPr/>
        </p:nvPicPr>
        <p:blipFill>
          <a:blip r:embed="rId1"/>
          <a:stretch>
            <a:fillRect/>
          </a:stretch>
        </p:blipFill>
        <p:spPr>
          <a:xfrm>
            <a:off x="3029585" y="1830070"/>
            <a:ext cx="5328920" cy="3197225"/>
          </a:xfrm>
          <a:prstGeom prst="rect">
            <a:avLst/>
          </a:prstGeom>
        </p:spPr>
      </p:pic>
      <p:sp>
        <p:nvSpPr>
          <p:cNvPr id="13317" name="Rectangle 3"/>
          <p:cNvSpPr>
            <a:spLocks noGrp="1" noChangeArrowheads="1"/>
          </p:cNvSpPr>
          <p:nvPr>
            <p:ph idx="1"/>
          </p:nvPr>
        </p:nvSpPr>
        <p:spPr>
          <a:xfrm>
            <a:off x="413385" y="5405120"/>
            <a:ext cx="11548110" cy="951230"/>
          </a:xfrm>
        </p:spPr>
        <p:txBody>
          <a:bodyPr>
            <a:noAutofit/>
          </a:bodyPr>
          <a:p>
            <a:r>
              <a:rPr lang="en-US" altLang="zh-CN" dirty="0">
                <a:ea typeface="宋体" pitchFamily="2" charset="-122"/>
              </a:rPr>
              <a:t>If you are a bookstore manager, how do you arrange the placement of books to assist customers in locating them quickly?</a:t>
            </a:r>
            <a:endParaRPr lang="en-US" altLang="zh-CN" dirty="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1435" tIns="25717" rIns="51435" bIns="25717" numCol="1" rtlCol="0" anchor="ctr" anchorCtr="0" compatLnSpc="1">
            <a:normAutofit/>
          </a:bodyPr>
          <a:lstStyle/>
          <a:p>
            <a:r>
              <a:rPr lang="en-US" altLang="zh-CN" dirty="0">
                <a:effectLst>
                  <a:outerShdw blurRad="38100" dist="38100" dir="2700000" algn="tl">
                    <a:srgbClr val="C0C0C0"/>
                  </a:outerShdw>
                </a:effectLst>
              </a:rPr>
              <a:t>Data Structures: Why?</a:t>
            </a:r>
            <a:endParaRPr lang="en-US" altLang="zh-CN" dirty="0">
              <a:effectLst>
                <a:outerShdw blurRad="38100" dist="38100" dir="2700000" algn="tl">
                  <a:srgbClr val="C0C0C0"/>
                </a:outerShdw>
              </a:effectLst>
            </a:endParaRPr>
          </a:p>
        </p:txBody>
      </p:sp>
      <p:sp>
        <p:nvSpPr>
          <p:cNvPr id="13317" name="Rectangle 3"/>
          <p:cNvSpPr>
            <a:spLocks noGrp="1" noChangeArrowheads="1"/>
          </p:cNvSpPr>
          <p:nvPr>
            <p:ph idx="1"/>
          </p:nvPr>
        </p:nvSpPr>
        <p:spPr>
          <a:xfrm>
            <a:off x="1694815" y="1971040"/>
            <a:ext cx="8776335" cy="2958465"/>
          </a:xfrm>
        </p:spPr>
        <p:txBody>
          <a:bodyPr>
            <a:noAutofit/>
          </a:bodyPr>
          <a:lstStyle/>
          <a:p>
            <a:r>
              <a:rPr lang="en-US" altLang="zh-CN" dirty="0">
                <a:ea typeface="宋体" pitchFamily="2" charset="-122"/>
              </a:rPr>
              <a:t>Program design depends crucially on how data is structured for use by the </a:t>
            </a:r>
            <a:r>
              <a:rPr lang="en-US" altLang="zh-CN" dirty="0" smtClean="0">
                <a:ea typeface="宋体" pitchFamily="2" charset="-122"/>
              </a:rPr>
              <a:t>program</a:t>
            </a:r>
            <a:endParaRPr lang="en-US" altLang="zh-CN" dirty="0" smtClean="0">
              <a:ea typeface="宋体" pitchFamily="2" charset="-122"/>
            </a:endParaRPr>
          </a:p>
          <a:p>
            <a:endParaRPr lang="en-US" altLang="zh-CN" dirty="0">
              <a:ea typeface="宋体" pitchFamily="2" charset="-122"/>
            </a:endParaRPr>
          </a:p>
          <a:p>
            <a:r>
              <a:rPr lang="en-US" altLang="zh-CN" dirty="0">
                <a:ea typeface="宋体" pitchFamily="2" charset="-122"/>
              </a:rPr>
              <a:t>Example:</a:t>
            </a:r>
            <a:endParaRPr lang="en-US" altLang="zh-CN" dirty="0">
              <a:ea typeface="宋体" pitchFamily="2" charset="-122"/>
            </a:endParaRPr>
          </a:p>
          <a:p>
            <a:pPr lvl="1"/>
            <a:r>
              <a:rPr lang="en-US" altLang="zh-CN" dirty="0">
                <a:ea typeface="宋体" pitchFamily="2" charset="-122"/>
              </a:rPr>
              <a:t>a sorted list of integers stored in an array</a:t>
            </a:r>
            <a:endParaRPr lang="en-US" altLang="zh-CN" dirty="0">
              <a:ea typeface="宋体" pitchFamily="2" charset="-122"/>
            </a:endParaRPr>
          </a:p>
          <a:p>
            <a:pPr lvl="1"/>
            <a:r>
              <a:rPr lang="en-US" altLang="zh-CN" dirty="0">
                <a:ea typeface="宋体" pitchFamily="2" charset="-122"/>
              </a:rPr>
              <a:t>searching for specified items, print the data in desired order, or modify the value of any data item</a:t>
            </a:r>
            <a:endParaRPr lang="en-US" altLang="zh-CN" dirty="0">
              <a:ea typeface="宋体" pitchFamily="2" charset="-122"/>
            </a:endParaRPr>
          </a:p>
          <a:p>
            <a:pPr lvl="1"/>
            <a:endParaRPr lang="en-US" altLang="zh-CN" dirty="0">
              <a:ea typeface="宋体" pitchFamily="2" charset="-122"/>
            </a:endParaRPr>
          </a:p>
        </p:txBody>
      </p:sp>
      <p:sp>
        <p:nvSpPr>
          <p:cNvPr id="6" name="灯片编号占位符 5"/>
          <p:cNvSpPr>
            <a:spLocks noGrp="1"/>
          </p:cNvSpPr>
          <p:nvPr>
            <p:ph type="sldNum" sz="quarter" idx="12"/>
          </p:nvPr>
        </p:nvSpPr>
        <p:spPr/>
        <p:txBody>
          <a:bodyPr/>
          <a:lstStyle/>
          <a:p>
            <a:pPr>
              <a:defRPr/>
            </a:pPr>
            <a:fld id="{64542639-28DC-411A-9274-4174EB81ECA9}" type="slidenum">
              <a:rPr lang="en-US" altLang="zh-CN" sz="900"/>
            </a:fld>
            <a:endParaRPr lang="en-US" altLang="zh-CN" sz="90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Data Structures: Why</a:t>
            </a:r>
            <a:r>
              <a:rPr lang="en-US" altLang="zh-CN" dirty="0">
                <a:effectLst>
                  <a:outerShdw blurRad="38100" dist="38100" dir="2700000" algn="tl">
                    <a:srgbClr val="C0C0C0"/>
                  </a:outerShdw>
                </a:effectLst>
                <a:sym typeface="+mn-ea"/>
              </a:rPr>
              <a:t>?</a:t>
            </a:r>
            <a:endParaRPr lang="en-US"/>
          </a:p>
        </p:txBody>
      </p:sp>
      <p:sp>
        <p:nvSpPr>
          <p:cNvPr id="3" name="Content Placeholder 2"/>
          <p:cNvSpPr>
            <a:spLocks noGrp="1"/>
          </p:cNvSpPr>
          <p:nvPr>
            <p:ph idx="1"/>
          </p:nvPr>
        </p:nvSpPr>
        <p:spPr/>
        <p:txBody>
          <a:bodyPr/>
          <a:p>
            <a:r>
              <a:rPr lang="en-US"/>
              <a:t>Enables efficient data management and processing.</a:t>
            </a:r>
            <a:endParaRPr lang="en-US"/>
          </a:p>
          <a:p>
            <a:r>
              <a:rPr lang="en-US"/>
              <a:t>Optimizes algorithm design and performance.</a:t>
            </a:r>
            <a:endParaRPr lang="en-US"/>
          </a:p>
          <a:p>
            <a:r>
              <a:rPr lang="en-US"/>
              <a:t>Enhances problem-solving skills.</a:t>
            </a:r>
            <a:endParaRPr lang="en-US"/>
          </a:p>
          <a:p>
            <a:r>
              <a:rPr lang="en-US"/>
              <a:t>Boosts career prospects in tech fields.</a:t>
            </a:r>
            <a:endParaRPr lang="en-US"/>
          </a:p>
          <a:p>
            <a:r>
              <a:rPr lang="en-US"/>
              <a:t>Develops abstract and logical thinking.</a:t>
            </a:r>
            <a:endParaRPr lang="en-US"/>
          </a:p>
          <a:p>
            <a:r>
              <a:rPr lang="en-US"/>
              <a:t>Facilitates algorithm creation.</a:t>
            </a:r>
            <a:endParaRPr lang="en-US"/>
          </a:p>
          <a:p>
            <a:r>
              <a:rPr lang="en-US"/>
              <a:t>Deepens understanding of core computer science concepts.</a:t>
            </a:r>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US" altLang="zh-CN" dirty="0" smtClean="0">
                <a:effectLst>
                  <a:outerShdw blurRad="38100" dist="38100" dir="2700000" algn="tl">
                    <a:srgbClr val="C0C0C0"/>
                  </a:outerShdw>
                </a:effectLst>
                <a:sym typeface="+mn-ea"/>
              </a:rPr>
              <a:t>Tips for Learning </a:t>
            </a:r>
            <a:r>
              <a:rPr lang="en-US" altLang="zh-CN" dirty="0" smtClean="0">
                <a:sym typeface="+mn-ea"/>
              </a:rPr>
              <a:t>(V)</a:t>
            </a:r>
            <a:endParaRPr lang="en-US"/>
          </a:p>
        </p:txBody>
      </p:sp>
      <p:sp>
        <p:nvSpPr>
          <p:cNvPr id="3" name="Content Placeholder 2"/>
          <p:cNvSpPr>
            <a:spLocks noGrp="1"/>
          </p:cNvSpPr>
          <p:nvPr>
            <p:ph idx="1"/>
          </p:nvPr>
        </p:nvSpPr>
        <p:spPr>
          <a:xfrm>
            <a:off x="838200" y="1764030"/>
            <a:ext cx="10515600" cy="4351338"/>
          </a:xfrm>
        </p:spPr>
        <p:txBody>
          <a:bodyPr>
            <a:normAutofit fontScale="90000" lnSpcReduction="10000"/>
          </a:bodyPr>
          <a:p>
            <a:pPr eaLnBrk="1" hangingPunct="1">
              <a:lnSpc>
                <a:spcPct val="90000"/>
              </a:lnSpc>
            </a:pPr>
            <a:r>
              <a:rPr lang="en-US" altLang="zh-CN" sz="2800" dirty="0">
                <a:sym typeface="+mn-ea"/>
              </a:rPr>
              <a:t>Practice, practice and practice</a:t>
            </a:r>
            <a:endParaRPr lang="en-US" altLang="zh-CN" sz="2800" dirty="0"/>
          </a:p>
          <a:p>
            <a:pPr marL="457200" lvl="1" indent="0" eaLnBrk="1" hangingPunct="1">
              <a:lnSpc>
                <a:spcPct val="90000"/>
              </a:lnSpc>
              <a:buNone/>
            </a:pPr>
            <a:endParaRPr lang="en-US" altLang="zh-CN" sz="2800" dirty="0"/>
          </a:p>
          <a:p>
            <a:pPr eaLnBrk="1" hangingPunct="1">
              <a:lnSpc>
                <a:spcPct val="90000"/>
              </a:lnSpc>
            </a:pPr>
            <a:r>
              <a:rPr lang="en-US" altLang="zh-CN" sz="2800" dirty="0" smtClean="0">
                <a:sym typeface="+mn-ea"/>
              </a:rPr>
              <a:t>Read textbook </a:t>
            </a:r>
            <a:endParaRPr lang="en-US" altLang="zh-CN" sz="2800" dirty="0" smtClean="0"/>
          </a:p>
          <a:p>
            <a:pPr eaLnBrk="1" hangingPunct="1">
              <a:lnSpc>
                <a:spcPct val="90000"/>
              </a:lnSpc>
            </a:pPr>
            <a:endParaRPr lang="en-US" altLang="zh-CN" sz="2800" dirty="0" smtClean="0"/>
          </a:p>
          <a:p>
            <a:pPr eaLnBrk="1" hangingPunct="1">
              <a:lnSpc>
                <a:spcPct val="90000"/>
              </a:lnSpc>
            </a:pPr>
            <a:r>
              <a:rPr lang="en-US" altLang="zh-CN" sz="2800" dirty="0" smtClean="0">
                <a:sym typeface="+mn-ea"/>
              </a:rPr>
              <a:t>Complete </a:t>
            </a:r>
            <a:r>
              <a:rPr lang="en-US" altLang="zh-CN" sz="2800" dirty="0">
                <a:sym typeface="+mn-ea"/>
              </a:rPr>
              <a:t>homework </a:t>
            </a:r>
            <a:r>
              <a:rPr lang="en-US" altLang="zh-CN" sz="2800" dirty="0">
                <a:solidFill>
                  <a:srgbClr val="FF0000"/>
                </a:solidFill>
                <a:sym typeface="+mn-ea"/>
              </a:rPr>
              <a:t>independently</a:t>
            </a:r>
            <a:endParaRPr lang="en-US" altLang="zh-CN" sz="2800" dirty="0">
              <a:solidFill>
                <a:srgbClr val="FF0000"/>
              </a:solidFill>
            </a:endParaRPr>
          </a:p>
          <a:p>
            <a:pPr lvl="1" eaLnBrk="1" hangingPunct="1">
              <a:lnSpc>
                <a:spcPct val="90000"/>
              </a:lnSpc>
            </a:pPr>
            <a:r>
              <a:rPr lang="en-US" altLang="zh-CN" sz="2800" dirty="0">
                <a:sym typeface="+mn-ea"/>
              </a:rPr>
              <a:t>This is an exercise to test your knowledge and how much you </a:t>
            </a:r>
            <a:r>
              <a:rPr lang="en-US" altLang="zh-CN" sz="2800" dirty="0" smtClean="0">
                <a:sym typeface="+mn-ea"/>
              </a:rPr>
              <a:t>learn</a:t>
            </a:r>
            <a:endParaRPr lang="en-US" altLang="zh-CN" sz="2800" dirty="0" smtClean="0"/>
          </a:p>
          <a:p>
            <a:pPr lvl="1" eaLnBrk="1" hangingPunct="1">
              <a:lnSpc>
                <a:spcPct val="90000"/>
              </a:lnSpc>
            </a:pPr>
            <a:endParaRPr lang="en-US" altLang="zh-CN" sz="2800" dirty="0">
              <a:ea typeface="PMingLiU"/>
              <a:cs typeface="PMingLiU"/>
            </a:endParaRPr>
          </a:p>
          <a:p>
            <a:pPr eaLnBrk="1" hangingPunct="1">
              <a:lnSpc>
                <a:spcPct val="90000"/>
              </a:lnSpc>
            </a:pPr>
            <a:r>
              <a:rPr lang="en-US" altLang="zh-CN" sz="2800" dirty="0">
                <a:ea typeface="PMingLiU"/>
                <a:cs typeface="PMingLiU"/>
                <a:sym typeface="+mn-ea"/>
              </a:rPr>
              <a:t>Raise questions! </a:t>
            </a:r>
            <a:endParaRPr lang="en-US" altLang="zh-TW" sz="2800" dirty="0">
              <a:ea typeface="PMingLiU"/>
              <a:cs typeface="PMingLiU"/>
            </a:endParaRPr>
          </a:p>
          <a:p>
            <a:pPr lvl="1" eaLnBrk="1" hangingPunct="1">
              <a:lnSpc>
                <a:spcPct val="90000"/>
              </a:lnSpc>
            </a:pPr>
            <a:r>
              <a:rPr lang="en-US" altLang="zh-CN" sz="2800" dirty="0">
                <a:sym typeface="+mn-ea"/>
              </a:rPr>
              <a:t>Do not delay your questions until exams</a:t>
            </a:r>
            <a:endParaRPr lang="en-US" altLang="zh-CN" sz="2800" dirty="0"/>
          </a:p>
          <a:p>
            <a:pPr lvl="2" eaLnBrk="1" hangingPunct="1">
              <a:lnSpc>
                <a:spcPct val="90000"/>
              </a:lnSpc>
            </a:pPr>
            <a:r>
              <a:rPr lang="en-US" altLang="zh-CN" sz="2800" dirty="0">
                <a:sym typeface="+mn-ea"/>
                <a:hlinkClick r:id="rId1"/>
              </a:rPr>
              <a:t>https://docs.qq.com/</a:t>
            </a:r>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24000" y="619125"/>
            <a:ext cx="9144000" cy="1486535"/>
          </a:xfrm>
        </p:spPr>
        <p:txBody>
          <a:bodyPr>
            <a:scene3d>
              <a:camera prst="orthographicFront"/>
              <a:lightRig rig="threePt" dir="t"/>
            </a:scene3d>
          </a:bodyPr>
          <a:p>
            <a:r>
              <a:rPr lang="zh-CN" altLang="en-US">
                <a:gradFill>
                  <a:gsLst>
                    <a:gs pos="21000">
                      <a:schemeClr val="accent1">
                        <a:lumMod val="75000"/>
                        <a:alpha val="94000"/>
                      </a:schemeClr>
                    </a:gs>
                    <a:gs pos="90000">
                      <a:schemeClr val="accent1">
                        <a:lumMod val="40000"/>
                        <a:lumOff val="60000"/>
                      </a:schemeClr>
                    </a:gs>
                  </a:gsLst>
                  <a:lin ang="5400000" scaled="0"/>
                </a:gradFill>
                <a:effectLst/>
              </a:rPr>
              <a:t>大数据与数据结构</a:t>
            </a:r>
            <a:endParaRPr lang="zh-CN" altLang="en-US">
              <a:gradFill>
                <a:gsLst>
                  <a:gs pos="21000">
                    <a:schemeClr val="accent1">
                      <a:lumMod val="75000"/>
                      <a:alpha val="94000"/>
                    </a:schemeClr>
                  </a:gs>
                  <a:gs pos="90000">
                    <a:schemeClr val="accent1">
                      <a:lumMod val="40000"/>
                      <a:lumOff val="60000"/>
                    </a:schemeClr>
                  </a:gs>
                </a:gsLst>
                <a:lin ang="5400000" scaled="0"/>
              </a:gradFill>
              <a:effectLst/>
            </a:endParaRPr>
          </a:p>
        </p:txBody>
      </p:sp>
      <p:sp>
        <p:nvSpPr>
          <p:cNvPr id="4" name="灯片编号占位符 3"/>
          <p:cNvSpPr>
            <a:spLocks noGrp="1"/>
          </p:cNvSpPr>
          <p:nvPr>
            <p:ph type="sldNum" sz="quarter" idx="12"/>
          </p:nvPr>
        </p:nvSpPr>
        <p:spPr/>
        <p:txBody>
          <a:bodyPr/>
          <a:lstStyle/>
          <a:p>
            <a:pPr>
              <a:defRPr/>
            </a:pPr>
            <a:fld id="{FD752B5B-A998-4951-B51D-36F673174679}" type="slidenum">
              <a:rPr lang="zh-CN" altLang="en-US" sz="1050" smtClean="0"/>
            </a:fld>
            <a:endParaRPr lang="zh-CN" altLang="en-US" sz="1050"/>
          </a:p>
        </p:txBody>
      </p:sp>
      <p:pic>
        <p:nvPicPr>
          <p:cNvPr id="8" name="Picture 7"/>
          <p:cNvPicPr>
            <a:picLocks noChangeAspect="1"/>
          </p:cNvPicPr>
          <p:nvPr/>
        </p:nvPicPr>
        <p:blipFill>
          <a:blip r:embed="rId1"/>
          <a:stretch>
            <a:fillRect/>
          </a:stretch>
        </p:blipFill>
        <p:spPr>
          <a:xfrm>
            <a:off x="4697730" y="2862580"/>
            <a:ext cx="2993390" cy="3107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4293870" y="2090420"/>
            <a:ext cx="3073400" cy="3073400"/>
          </a:xfrm>
          <a:prstGeom prst="rect">
            <a:avLst/>
          </a:prstGeom>
        </p:spPr>
      </p:pic>
      <p:sp>
        <p:nvSpPr>
          <p:cNvPr id="3" name="椭圆 2"/>
          <p:cNvSpPr/>
          <p:nvPr/>
        </p:nvSpPr>
        <p:spPr>
          <a:xfrm>
            <a:off x="4293870" y="1936750"/>
            <a:ext cx="3253740" cy="3380740"/>
          </a:xfrm>
          <a:prstGeom prst="ellipse">
            <a:avLst/>
          </a:prstGeom>
          <a:noFill/>
          <a:ln w="47625" cmpd="sng">
            <a:solidFill>
              <a:schemeClr val="accent2"/>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en-US" sz="1600">
              <a:cs typeface="+mn-ea"/>
              <a:sym typeface="+mn-lt"/>
            </a:endParaRPr>
          </a:p>
        </p:txBody>
      </p:sp>
      <p:sp>
        <p:nvSpPr>
          <p:cNvPr id="70" name="矩形 69"/>
          <p:cNvSpPr/>
          <p:nvPr/>
        </p:nvSpPr>
        <p:spPr>
          <a:xfrm>
            <a:off x="12573000" y="6972300"/>
            <a:ext cx="171451" cy="17145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2400">
              <a:latin typeface="微软雅黑 Light" panose="020B0502040204020203" pitchFamily="34" charset="-122"/>
              <a:ea typeface="微软雅黑 Light" panose="020B0502040204020203" pitchFamily="34" charset="-122"/>
              <a:cs typeface="+mn-ea"/>
              <a:sym typeface="+mn-lt"/>
            </a:endParaRPr>
          </a:p>
        </p:txBody>
      </p:sp>
      <p:sp>
        <p:nvSpPr>
          <p:cNvPr id="6146" name="标题 1"/>
          <p:cNvSpPr>
            <a:spLocks noGrp="1" noChangeArrowheads="1"/>
          </p:cNvSpPr>
          <p:nvPr>
            <p:ph type="title"/>
          </p:nvPr>
        </p:nvSpPr>
        <p:spPr/>
        <p:txBody>
          <a:bodyPr>
            <a:scene3d>
              <a:camera prst="orthographicFront"/>
              <a:lightRig rig="soft" dir="t">
                <a:rot lat="0" lon="0" rev="15600000"/>
              </a:lightRig>
            </a:scene3d>
            <a:sp3d extrusionH="57150" prstMaterial="softEdge">
              <a:bevelT w="25400" h="38100"/>
            </a:sp3d>
          </a:bodyPr>
          <a:p>
            <a:r>
              <a:rPr lang="en-US" altLang="zh-CN" sz="4400" dirty="0">
                <a:effectLst>
                  <a:outerShdw blurRad="38100" dist="38100" dir="2700000" algn="tl">
                    <a:srgbClr val="C0C0C0"/>
                  </a:outerShdw>
                </a:effectLst>
              </a:rPr>
              <a:t>1. </a:t>
            </a:r>
            <a:r>
              <a:rPr lang="en-US" altLang="zh-CN" sz="4400" dirty="0">
                <a:effectLst>
                  <a:outerShdw blurRad="38100" dist="38100" dir="2700000" algn="tl">
                    <a:srgbClr val="C0C0C0"/>
                  </a:outerShdw>
                </a:effectLst>
              </a:rPr>
              <a:t>什么是大数据?</a:t>
            </a:r>
            <a:endParaRPr lang="en-US" altLang="zh-CN" sz="4400" dirty="0">
              <a:effectLst>
                <a:outerShdw blurRad="38100" dist="38100" dir="2700000" algn="tl">
                  <a:srgbClr val="C0C0C0"/>
                </a:outerShdw>
              </a:effectLst>
            </a:endParaRPr>
          </a:p>
        </p:txBody>
      </p:sp>
      <p:pic>
        <p:nvPicPr>
          <p:cNvPr id="2" name="图片 1"/>
          <p:cNvPicPr/>
          <p:nvPr/>
        </p:nvPicPr>
        <p:blipFill>
          <a:blip r:embed="rId2"/>
          <a:stretch>
            <a:fillRect/>
          </a:stretch>
        </p:blipFill>
        <p:spPr>
          <a:xfrm>
            <a:off x="2319655" y="1549400"/>
            <a:ext cx="8613775" cy="48768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advTm="3000">
        <p14:conveyor dir="l"/>
      </p:transition>
    </mc:Choice>
    <mc:Fallback>
      <p:transition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fade">
                                      <p:cBhvr>
                                        <p:cTn id="13" dur="500"/>
                                        <p:tgtEl>
                                          <p:spTgt spid="7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70"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sym typeface="+mn-ea"/>
              </a:rPr>
              <a:t>大数据的背景——数据爆炸</a:t>
            </a:r>
            <a:endParaRPr lang="zh-CN" altLang="en-US"/>
          </a:p>
        </p:txBody>
      </p:sp>
      <p:pic>
        <p:nvPicPr>
          <p:cNvPr id="13314" name="图片 2"/>
          <p:cNvPicPr>
            <a:picLocks noChangeAspect="1"/>
          </p:cNvPicPr>
          <p:nvPr/>
        </p:nvPicPr>
        <p:blipFill>
          <a:blip r:embed="rId1"/>
          <a:stretch>
            <a:fillRect/>
          </a:stretch>
        </p:blipFill>
        <p:spPr>
          <a:xfrm>
            <a:off x="3100269" y="2907177"/>
            <a:ext cx="5445016" cy="3099405"/>
          </a:xfrm>
          <a:prstGeom prst="rect">
            <a:avLst/>
          </a:prstGeom>
          <a:noFill/>
          <a:ln w="9525">
            <a:noFill/>
          </a:ln>
        </p:spPr>
      </p:pic>
      <p:sp>
        <p:nvSpPr>
          <p:cNvPr id="13315" name="TextBox 1"/>
          <p:cNvSpPr txBox="1"/>
          <p:nvPr/>
        </p:nvSpPr>
        <p:spPr>
          <a:xfrm>
            <a:off x="992242" y="2907177"/>
            <a:ext cx="2063750" cy="2212975"/>
          </a:xfrm>
          <a:prstGeom prst="rect">
            <a:avLst/>
          </a:prstGeom>
          <a:noFill/>
          <a:ln w="9525">
            <a:noFill/>
          </a:ln>
        </p:spPr>
        <p:txBody>
          <a:bodyPr wrap="none" lIns="0" tIns="0" rIns="0" anchor="t" anchorCtr="0">
            <a:spAutoFit/>
          </a:bodyPr>
          <a:p>
            <a:pPr defTabSz="914400" eaLnBrk="0" hangingPunct="0">
              <a:lnSpc>
                <a:spcPts val="1200"/>
              </a:lnSpc>
              <a:tabLst>
                <a:tab pos="215900" algn="l"/>
                <a:tab pos="266700" algn="l"/>
                <a:tab pos="419100" algn="l"/>
                <a:tab pos="571500" algn="l"/>
                <a:tab pos="1016000" algn="l"/>
              </a:tabLst>
            </a:pPr>
            <a:r>
              <a:rPr lang="en-US" altLang="zh-CN" sz="2450" dirty="0">
                <a:latin typeface="Calibri" charset="0"/>
                <a:ea typeface="宋体" pitchFamily="2" charset="-122"/>
              </a:rPr>
              <a:t>			</a:t>
            </a:r>
            <a:r>
              <a:rPr lang="en-US" altLang="zh-CN" sz="1635" dirty="0">
                <a:solidFill>
                  <a:srgbClr val="4BACC6"/>
                </a:solidFill>
                <a:latin typeface="Times New Roman" panose="02020603050405020304" pitchFamily="18" charset="0"/>
                <a:ea typeface="宋体" pitchFamily="2" charset="-122"/>
              </a:rPr>
              <a:t>纽约证券交易所</a:t>
            </a:r>
            <a:endParaRPr lang="en-US" altLang="zh-CN" sz="1635" dirty="0">
              <a:solidFill>
                <a:srgbClr val="4BACC6"/>
              </a:solidFill>
              <a:latin typeface="Times New Roman" panose="02020603050405020304" pitchFamily="18" charset="0"/>
              <a:ea typeface="宋体" pitchFamily="2" charset="-122"/>
            </a:endParaRPr>
          </a:p>
          <a:p>
            <a:pPr defTabSz="914400" eaLnBrk="0" hangingPunct="0">
              <a:lnSpc>
                <a:spcPts val="1700"/>
              </a:lnSpc>
              <a:tabLst>
                <a:tab pos="215900" algn="l"/>
                <a:tab pos="266700" algn="l"/>
                <a:tab pos="419100" algn="l"/>
                <a:tab pos="571500" algn="l"/>
                <a:tab pos="1016000" algn="l"/>
              </a:tabLst>
            </a:pPr>
            <a:r>
              <a:rPr lang="en-US" altLang="zh-CN" sz="1495" dirty="0">
                <a:solidFill>
                  <a:srgbClr val="7F7F7F"/>
                </a:solidFill>
                <a:latin typeface="MS Mincho" pitchFamily="18" charset="-128"/>
                <a:ea typeface="宋体" pitchFamily="2" charset="-122"/>
              </a:rPr>
              <a:t>每天</a:t>
            </a:r>
            <a:r>
              <a:rPr lang="en-US" altLang="zh-CN" sz="1495" dirty="0">
                <a:solidFill>
                  <a:srgbClr val="7F7F7F"/>
                </a:solidFill>
                <a:latin typeface="Times New Roman" panose="02020603050405020304" pitchFamily="18" charset="0"/>
                <a:ea typeface="宋体" pitchFamily="2" charset="-122"/>
              </a:rPr>
              <a:t>产生</a:t>
            </a:r>
            <a:r>
              <a:rPr lang="en-US" altLang="zh-CN" sz="1495" b="1" dirty="0">
                <a:solidFill>
                  <a:srgbClr val="FFC000"/>
                </a:solidFill>
                <a:latin typeface="Times New Roman" panose="02020603050405020304" pitchFamily="18" charset="0"/>
                <a:ea typeface="宋体" pitchFamily="2" charset="-122"/>
              </a:rPr>
              <a:t>1TB</a:t>
            </a:r>
            <a:r>
              <a:rPr lang="en-US" altLang="zh-CN" sz="1495" dirty="0">
                <a:solidFill>
                  <a:srgbClr val="7F7F7F"/>
                </a:solidFill>
                <a:latin typeface="MS Mincho" pitchFamily="18" charset="-128"/>
                <a:ea typeface="宋体" pitchFamily="2" charset="-122"/>
              </a:rPr>
              <a:t>的交易数据</a:t>
            </a:r>
            <a:endParaRPr lang="en-US" altLang="zh-CN" sz="1495" dirty="0">
              <a:solidFill>
                <a:srgbClr val="7F7F7F"/>
              </a:solidFill>
              <a:latin typeface="MS Mincho" pitchFamily="18" charset="-128"/>
              <a:ea typeface="宋体" pitchFamily="2" charset="-122"/>
            </a:endParaRPr>
          </a:p>
          <a:p>
            <a:pPr defTabSz="914400" eaLnBrk="0" hangingPunct="0">
              <a:lnSpc>
                <a:spcPts val="1000"/>
              </a:lnSpc>
              <a:tabLst>
                <a:tab pos="215900" algn="l"/>
                <a:tab pos="266700" algn="l"/>
                <a:tab pos="419100" algn="l"/>
                <a:tab pos="571500" algn="l"/>
                <a:tab pos="1016000" algn="l"/>
              </a:tabLst>
            </a:pPr>
            <a:endParaRPr lang="en-US" altLang="zh-CN" sz="2450" dirty="0">
              <a:latin typeface="Calibri" charset="0"/>
              <a:ea typeface="宋体" pitchFamily="2" charset="-122"/>
            </a:endParaRPr>
          </a:p>
          <a:p>
            <a:pPr defTabSz="914400" eaLnBrk="0" hangingPunct="0">
              <a:lnSpc>
                <a:spcPts val="1000"/>
              </a:lnSpc>
              <a:tabLst>
                <a:tab pos="215900" algn="l"/>
                <a:tab pos="266700" algn="l"/>
                <a:tab pos="419100" algn="l"/>
                <a:tab pos="571500" algn="l"/>
                <a:tab pos="1016000" algn="l"/>
              </a:tabLst>
            </a:pPr>
            <a:endParaRPr lang="en-US" altLang="zh-CN" sz="2450" dirty="0">
              <a:latin typeface="Calibri" charset="0"/>
              <a:ea typeface="宋体" pitchFamily="2" charset="-122"/>
            </a:endParaRPr>
          </a:p>
          <a:p>
            <a:pPr defTabSz="914400" eaLnBrk="0" hangingPunct="0">
              <a:lnSpc>
                <a:spcPts val="1000"/>
              </a:lnSpc>
              <a:tabLst>
                <a:tab pos="215900" algn="l"/>
                <a:tab pos="266700" algn="l"/>
                <a:tab pos="419100" algn="l"/>
                <a:tab pos="571500" algn="l"/>
                <a:tab pos="1016000" algn="l"/>
              </a:tabLst>
            </a:pPr>
            <a:endParaRPr lang="en-US" altLang="zh-CN" sz="2450" dirty="0">
              <a:latin typeface="Calibri" charset="0"/>
              <a:ea typeface="宋体" pitchFamily="2" charset="-122"/>
            </a:endParaRPr>
          </a:p>
          <a:p>
            <a:pPr defTabSz="914400" eaLnBrk="0" hangingPunct="0">
              <a:lnSpc>
                <a:spcPts val="1000"/>
              </a:lnSpc>
              <a:tabLst>
                <a:tab pos="215900" algn="l"/>
                <a:tab pos="266700" algn="l"/>
                <a:tab pos="419100" algn="l"/>
                <a:tab pos="571500" algn="l"/>
                <a:tab pos="1016000" algn="l"/>
              </a:tabLst>
            </a:pPr>
            <a:endParaRPr lang="en-US" altLang="zh-CN" sz="2450" dirty="0">
              <a:latin typeface="Calibri" charset="0"/>
              <a:ea typeface="宋体" pitchFamily="2" charset="-122"/>
            </a:endParaRPr>
          </a:p>
          <a:p>
            <a:pPr defTabSz="914400" eaLnBrk="0" hangingPunct="0">
              <a:lnSpc>
                <a:spcPts val="1500"/>
              </a:lnSpc>
              <a:tabLst>
                <a:tab pos="215900" algn="l"/>
                <a:tab pos="266700" algn="l"/>
                <a:tab pos="419100" algn="l"/>
                <a:tab pos="571500" algn="l"/>
                <a:tab pos="1016000" algn="l"/>
              </a:tabLst>
            </a:pPr>
            <a:r>
              <a:rPr lang="en-US" altLang="zh-CN" sz="2450" dirty="0">
                <a:latin typeface="Calibri" charset="0"/>
                <a:ea typeface="宋体" pitchFamily="2" charset="-122"/>
              </a:rPr>
              <a:t>					</a:t>
            </a:r>
            <a:r>
              <a:rPr lang="en-US" altLang="zh-CN" sz="1635" b="1" dirty="0">
                <a:solidFill>
                  <a:srgbClr val="4BACC6"/>
                </a:solidFill>
                <a:latin typeface="Times New Roman" panose="02020603050405020304" pitchFamily="18" charset="0"/>
                <a:ea typeface="宋体" pitchFamily="2" charset="-122"/>
              </a:rPr>
              <a:t>Twitter</a:t>
            </a:r>
            <a:endParaRPr lang="en-US" altLang="zh-CN" sz="1635" b="1" dirty="0">
              <a:solidFill>
                <a:srgbClr val="4BACC6"/>
              </a:solidFill>
              <a:latin typeface="Times New Roman" panose="02020603050405020304" pitchFamily="18" charset="0"/>
              <a:ea typeface="宋体" pitchFamily="2" charset="-122"/>
            </a:endParaRPr>
          </a:p>
          <a:p>
            <a:pPr defTabSz="914400" eaLnBrk="0" hangingPunct="0">
              <a:lnSpc>
                <a:spcPts val="1600"/>
              </a:lnSpc>
              <a:tabLst>
                <a:tab pos="215900" algn="l"/>
                <a:tab pos="266700" algn="l"/>
                <a:tab pos="419100" algn="l"/>
                <a:tab pos="571500" algn="l"/>
                <a:tab pos="1016000" algn="l"/>
              </a:tabLst>
            </a:pPr>
            <a:r>
              <a:rPr lang="en-US" altLang="zh-CN" sz="2450" dirty="0">
                <a:latin typeface="Calibri" charset="0"/>
                <a:ea typeface="宋体" pitchFamily="2" charset="-122"/>
              </a:rPr>
              <a:t>		</a:t>
            </a:r>
            <a:r>
              <a:rPr lang="en-US" altLang="zh-CN" sz="1495" dirty="0">
                <a:solidFill>
                  <a:srgbClr val="7F7F7F"/>
                </a:solidFill>
                <a:latin typeface="MS Mincho" pitchFamily="18" charset="-128"/>
                <a:ea typeface="宋体" pitchFamily="2" charset="-122"/>
              </a:rPr>
              <a:t>每天</a:t>
            </a:r>
            <a:r>
              <a:rPr lang="en-US" altLang="zh-CN" sz="1495" dirty="0">
                <a:solidFill>
                  <a:srgbClr val="7F7F7F"/>
                </a:solidFill>
                <a:latin typeface="Times New Roman" panose="02020603050405020304" pitchFamily="18" charset="0"/>
                <a:ea typeface="宋体" pitchFamily="2" charset="-122"/>
              </a:rPr>
              <a:t>产生</a:t>
            </a:r>
            <a:r>
              <a:rPr lang="en-US" altLang="zh-CN" sz="1495" b="1" dirty="0">
                <a:solidFill>
                  <a:srgbClr val="FFC000"/>
                </a:solidFill>
                <a:latin typeface="Times New Roman" panose="02020603050405020304" pitchFamily="18" charset="0"/>
                <a:ea typeface="宋体" pitchFamily="2" charset="-122"/>
              </a:rPr>
              <a:t>7TB</a:t>
            </a:r>
            <a:r>
              <a:rPr lang="en-US" altLang="zh-CN" sz="1495" dirty="0">
                <a:solidFill>
                  <a:srgbClr val="7F7F7F"/>
                </a:solidFill>
                <a:latin typeface="MS Mincho" pitchFamily="18" charset="-128"/>
                <a:ea typeface="宋体" pitchFamily="2" charset="-122"/>
              </a:rPr>
              <a:t>的数据</a:t>
            </a:r>
            <a:endParaRPr lang="en-US" altLang="zh-CN" sz="1495" dirty="0">
              <a:solidFill>
                <a:srgbClr val="7F7F7F"/>
              </a:solidFill>
              <a:latin typeface="MS Mincho" pitchFamily="18" charset="-128"/>
              <a:ea typeface="宋体" pitchFamily="2" charset="-122"/>
            </a:endParaRPr>
          </a:p>
          <a:p>
            <a:pPr defTabSz="914400" eaLnBrk="0" hangingPunct="0">
              <a:lnSpc>
                <a:spcPts val="1000"/>
              </a:lnSpc>
              <a:tabLst>
                <a:tab pos="215900" algn="l"/>
                <a:tab pos="266700" algn="l"/>
                <a:tab pos="419100" algn="l"/>
                <a:tab pos="571500" algn="l"/>
                <a:tab pos="1016000" algn="l"/>
              </a:tabLst>
            </a:pPr>
            <a:endParaRPr lang="en-US" altLang="zh-CN" sz="2450" dirty="0">
              <a:latin typeface="Calibri" charset="0"/>
              <a:ea typeface="宋体" pitchFamily="2" charset="-122"/>
            </a:endParaRPr>
          </a:p>
          <a:p>
            <a:pPr defTabSz="914400" eaLnBrk="0" hangingPunct="0">
              <a:lnSpc>
                <a:spcPts val="1000"/>
              </a:lnSpc>
              <a:tabLst>
                <a:tab pos="215900" algn="l"/>
                <a:tab pos="266700" algn="l"/>
                <a:tab pos="419100" algn="l"/>
                <a:tab pos="571500" algn="l"/>
                <a:tab pos="1016000" algn="l"/>
              </a:tabLst>
            </a:pPr>
            <a:endParaRPr lang="en-US" altLang="zh-CN" sz="2450" dirty="0">
              <a:latin typeface="Calibri" charset="0"/>
              <a:ea typeface="宋体" pitchFamily="2" charset="-122"/>
            </a:endParaRPr>
          </a:p>
          <a:p>
            <a:pPr defTabSz="914400" eaLnBrk="0" hangingPunct="0">
              <a:lnSpc>
                <a:spcPts val="1000"/>
              </a:lnSpc>
              <a:tabLst>
                <a:tab pos="215900" algn="l"/>
                <a:tab pos="266700" algn="l"/>
                <a:tab pos="419100" algn="l"/>
                <a:tab pos="571500" algn="l"/>
                <a:tab pos="1016000" algn="l"/>
              </a:tabLst>
            </a:pPr>
            <a:endParaRPr lang="en-US" altLang="zh-CN" sz="2450" dirty="0">
              <a:latin typeface="Calibri" charset="0"/>
              <a:ea typeface="宋体" pitchFamily="2" charset="-122"/>
            </a:endParaRPr>
          </a:p>
          <a:p>
            <a:pPr defTabSz="914400" eaLnBrk="0" hangingPunct="0">
              <a:lnSpc>
                <a:spcPts val="1200"/>
              </a:lnSpc>
              <a:tabLst>
                <a:tab pos="215900" algn="l"/>
                <a:tab pos="266700" algn="l"/>
                <a:tab pos="419100" algn="l"/>
                <a:tab pos="571500" algn="l"/>
                <a:tab pos="1016000" algn="l"/>
              </a:tabLst>
            </a:pPr>
            <a:r>
              <a:rPr lang="en-US" altLang="zh-CN" sz="2450" dirty="0">
                <a:latin typeface="Calibri" charset="0"/>
                <a:ea typeface="宋体" pitchFamily="2" charset="-122"/>
              </a:rPr>
              <a:t>		</a:t>
            </a:r>
            <a:r>
              <a:rPr lang="en-US" altLang="zh-CN" sz="1635" dirty="0">
                <a:solidFill>
                  <a:srgbClr val="4BACC6"/>
                </a:solidFill>
                <a:latin typeface="MS Mincho" pitchFamily="18" charset="-128"/>
                <a:ea typeface="宋体" pitchFamily="2" charset="-122"/>
              </a:rPr>
              <a:t>欧洲物理</a:t>
            </a:r>
            <a:r>
              <a:rPr lang="en-US" altLang="zh-CN" sz="1635" dirty="0">
                <a:solidFill>
                  <a:srgbClr val="4BACC6"/>
                </a:solidFill>
                <a:latin typeface="Times New Roman" panose="02020603050405020304" pitchFamily="18" charset="0"/>
                <a:ea typeface="宋体" pitchFamily="2" charset="-122"/>
              </a:rPr>
              <a:t>实验室大</a:t>
            </a:r>
            <a:endParaRPr lang="en-US" altLang="zh-CN" sz="1635" dirty="0">
              <a:solidFill>
                <a:srgbClr val="4BACC6"/>
              </a:solidFill>
              <a:latin typeface="Times New Roman" panose="02020603050405020304" pitchFamily="18" charset="0"/>
              <a:ea typeface="宋体" pitchFamily="2" charset="-122"/>
            </a:endParaRPr>
          </a:p>
          <a:p>
            <a:pPr defTabSz="914400" eaLnBrk="0" hangingPunct="0">
              <a:lnSpc>
                <a:spcPts val="1400"/>
              </a:lnSpc>
              <a:tabLst>
                <a:tab pos="215900" algn="l"/>
                <a:tab pos="266700" algn="l"/>
                <a:tab pos="419100" algn="l"/>
                <a:tab pos="571500" algn="l"/>
                <a:tab pos="1016000" algn="l"/>
              </a:tabLst>
            </a:pPr>
            <a:r>
              <a:rPr lang="en-US" altLang="zh-CN" sz="2450" dirty="0">
                <a:latin typeface="Calibri" charset="0"/>
                <a:ea typeface="宋体" pitchFamily="2" charset="-122"/>
              </a:rPr>
              <a:t>				</a:t>
            </a:r>
            <a:r>
              <a:rPr lang="en-US" altLang="zh-CN" sz="1635" dirty="0">
                <a:solidFill>
                  <a:srgbClr val="4BACC6"/>
                </a:solidFill>
                <a:latin typeface="MS Mincho" pitchFamily="18" charset="-128"/>
                <a:ea typeface="宋体" pitchFamily="2" charset="-122"/>
              </a:rPr>
              <a:t>型例子</a:t>
            </a:r>
            <a:r>
              <a:rPr lang="en-US" altLang="zh-CN" sz="1635" dirty="0">
                <a:solidFill>
                  <a:srgbClr val="4BACC6"/>
                </a:solidFill>
                <a:latin typeface="Times New Roman" panose="02020603050405020304" pitchFamily="18" charset="0"/>
                <a:ea typeface="宋体" pitchFamily="2" charset="-122"/>
              </a:rPr>
              <a:t>对撞机</a:t>
            </a:r>
            <a:endParaRPr lang="en-US" altLang="zh-CN" sz="1635" dirty="0">
              <a:solidFill>
                <a:srgbClr val="4BACC6"/>
              </a:solidFill>
              <a:latin typeface="Times New Roman" panose="02020603050405020304" pitchFamily="18" charset="0"/>
              <a:ea typeface="宋体" pitchFamily="2" charset="-122"/>
            </a:endParaRPr>
          </a:p>
          <a:p>
            <a:pPr defTabSz="914400" eaLnBrk="0" hangingPunct="0">
              <a:lnSpc>
                <a:spcPts val="1300"/>
              </a:lnSpc>
              <a:tabLst>
                <a:tab pos="215900" algn="l"/>
                <a:tab pos="266700" algn="l"/>
                <a:tab pos="419100" algn="l"/>
                <a:tab pos="571500" algn="l"/>
                <a:tab pos="1016000" algn="l"/>
              </a:tabLst>
            </a:pPr>
            <a:r>
              <a:rPr lang="en-US" altLang="zh-CN" sz="2450" dirty="0">
                <a:latin typeface="Calibri" charset="0"/>
                <a:ea typeface="宋体" pitchFamily="2" charset="-122"/>
              </a:rPr>
              <a:t>	</a:t>
            </a:r>
            <a:r>
              <a:rPr lang="en-US" altLang="zh-CN" sz="1495" dirty="0">
                <a:solidFill>
                  <a:srgbClr val="7F7F7F"/>
                </a:solidFill>
                <a:latin typeface="MS Mincho" pitchFamily="18" charset="-128"/>
                <a:ea typeface="宋体" pitchFamily="2" charset="-122"/>
              </a:rPr>
              <a:t>每年</a:t>
            </a:r>
            <a:r>
              <a:rPr lang="en-US" altLang="zh-CN" sz="1495" dirty="0">
                <a:solidFill>
                  <a:srgbClr val="7F7F7F"/>
                </a:solidFill>
                <a:latin typeface="Times New Roman" panose="02020603050405020304" pitchFamily="18" charset="0"/>
                <a:ea typeface="宋体" pitchFamily="2" charset="-122"/>
              </a:rPr>
              <a:t>产生</a:t>
            </a:r>
            <a:r>
              <a:rPr lang="en-US" altLang="zh-CN" sz="1495" b="1" dirty="0">
                <a:solidFill>
                  <a:srgbClr val="FFC000"/>
                </a:solidFill>
                <a:latin typeface="Times New Roman" panose="02020603050405020304" pitchFamily="18" charset="0"/>
                <a:ea typeface="宋体" pitchFamily="2" charset="-122"/>
              </a:rPr>
              <a:t>15PB</a:t>
            </a:r>
            <a:r>
              <a:rPr lang="en-US" altLang="zh-CN" sz="1495" dirty="0">
                <a:solidFill>
                  <a:srgbClr val="7F7F7F"/>
                </a:solidFill>
                <a:latin typeface="MS Mincho" pitchFamily="18" charset="-128"/>
                <a:ea typeface="宋体" pitchFamily="2" charset="-122"/>
              </a:rPr>
              <a:t>的数据</a:t>
            </a:r>
            <a:endParaRPr lang="en-US" altLang="zh-CN" sz="1495" dirty="0">
              <a:solidFill>
                <a:srgbClr val="7F7F7F"/>
              </a:solidFill>
              <a:latin typeface="MS Mincho" pitchFamily="18" charset="-128"/>
              <a:ea typeface="宋体" pitchFamily="2" charset="-122"/>
            </a:endParaRPr>
          </a:p>
        </p:txBody>
      </p:sp>
      <p:sp>
        <p:nvSpPr>
          <p:cNvPr id="13316" name="TextBox 1"/>
          <p:cNvSpPr txBox="1"/>
          <p:nvPr/>
        </p:nvSpPr>
        <p:spPr>
          <a:xfrm>
            <a:off x="8545286" y="2907177"/>
            <a:ext cx="1714500" cy="2366645"/>
          </a:xfrm>
          <a:prstGeom prst="rect">
            <a:avLst/>
          </a:prstGeom>
          <a:noFill/>
          <a:ln w="9525">
            <a:noFill/>
          </a:ln>
        </p:spPr>
        <p:txBody>
          <a:bodyPr wrap="none" lIns="0" tIns="0" rIns="0" anchor="t" anchorCtr="0">
            <a:spAutoFit/>
          </a:bodyPr>
          <a:p>
            <a:pPr eaLnBrk="0" hangingPunct="0">
              <a:lnSpc>
                <a:spcPts val="1200"/>
              </a:lnSpc>
            </a:pPr>
            <a:r>
              <a:rPr lang="en-US" altLang="zh-CN" sz="1635" dirty="0">
                <a:solidFill>
                  <a:srgbClr val="4BACC6"/>
                </a:solidFill>
                <a:latin typeface="MS Mincho" pitchFamily="18" charset="-128"/>
                <a:ea typeface="宋体" pitchFamily="2" charset="-122"/>
              </a:rPr>
              <a:t>淘宝</a:t>
            </a:r>
            <a:endParaRPr lang="en-US" altLang="zh-CN" sz="1635" dirty="0">
              <a:solidFill>
                <a:srgbClr val="4BACC6"/>
              </a:solidFill>
              <a:latin typeface="MS Mincho" pitchFamily="18" charset="-128"/>
              <a:ea typeface="宋体" pitchFamily="2" charset="-122"/>
            </a:endParaRPr>
          </a:p>
          <a:p>
            <a:pPr eaLnBrk="0" hangingPunct="0">
              <a:lnSpc>
                <a:spcPts val="1700"/>
              </a:lnSpc>
            </a:pPr>
            <a:r>
              <a:rPr lang="en-US" altLang="zh-CN" sz="1495" dirty="0">
                <a:solidFill>
                  <a:srgbClr val="7F7F7F"/>
                </a:solidFill>
                <a:latin typeface="MS Mincho" pitchFamily="18" charset="-128"/>
                <a:ea typeface="宋体" pitchFamily="2" charset="-122"/>
              </a:rPr>
              <a:t>每天</a:t>
            </a:r>
            <a:r>
              <a:rPr lang="en-US" altLang="zh-CN" sz="1495" dirty="0">
                <a:solidFill>
                  <a:srgbClr val="7F7F7F"/>
                </a:solidFill>
                <a:latin typeface="Times New Roman" panose="02020603050405020304" pitchFamily="18" charset="0"/>
                <a:ea typeface="宋体" pitchFamily="2" charset="-122"/>
              </a:rPr>
              <a:t>产生的数据超过</a:t>
            </a:r>
            <a:endParaRPr lang="en-US" altLang="zh-CN" sz="1495" dirty="0">
              <a:solidFill>
                <a:srgbClr val="7F7F7F"/>
              </a:solidFill>
              <a:latin typeface="Times New Roman" panose="02020603050405020304" pitchFamily="18" charset="0"/>
              <a:ea typeface="宋体" pitchFamily="2" charset="-122"/>
            </a:endParaRPr>
          </a:p>
          <a:p>
            <a:pPr eaLnBrk="0" hangingPunct="0">
              <a:lnSpc>
                <a:spcPts val="1200"/>
              </a:lnSpc>
            </a:pPr>
            <a:r>
              <a:rPr lang="en-US" altLang="zh-CN" sz="1495" b="1" dirty="0">
                <a:solidFill>
                  <a:srgbClr val="FFC000"/>
                </a:solidFill>
                <a:latin typeface="Times New Roman" panose="02020603050405020304" pitchFamily="18" charset="0"/>
                <a:ea typeface="宋体" pitchFamily="2" charset="-122"/>
              </a:rPr>
              <a:t>50TB</a:t>
            </a:r>
            <a:endParaRPr lang="en-US" altLang="zh-CN" sz="1495" b="1" dirty="0">
              <a:solidFill>
                <a:srgbClr val="FFC000"/>
              </a:solidFill>
              <a:latin typeface="Times New Roman" panose="02020603050405020304" pitchFamily="18" charset="0"/>
              <a:ea typeface="宋体" pitchFamily="2" charset="-122"/>
            </a:endParaRPr>
          </a:p>
          <a:p>
            <a:pPr eaLnBrk="0" hangingPunct="0">
              <a:lnSpc>
                <a:spcPts val="1000"/>
              </a:lnSpc>
            </a:pPr>
            <a:endParaRPr lang="en-US" altLang="zh-CN" sz="2450" dirty="0">
              <a:latin typeface="Calibri" charset="0"/>
              <a:ea typeface="宋体" pitchFamily="2" charset="-122"/>
            </a:endParaRPr>
          </a:p>
          <a:p>
            <a:pPr eaLnBrk="0" hangingPunct="0">
              <a:lnSpc>
                <a:spcPts val="1000"/>
              </a:lnSpc>
            </a:pPr>
            <a:endParaRPr lang="en-US" altLang="zh-CN" sz="2450" dirty="0">
              <a:latin typeface="Calibri" charset="0"/>
              <a:ea typeface="宋体" pitchFamily="2" charset="-122"/>
            </a:endParaRPr>
          </a:p>
          <a:p>
            <a:pPr eaLnBrk="0" hangingPunct="0">
              <a:lnSpc>
                <a:spcPts val="1000"/>
              </a:lnSpc>
            </a:pPr>
            <a:endParaRPr lang="en-US" altLang="zh-CN" sz="2450" dirty="0">
              <a:latin typeface="Calibri" charset="0"/>
              <a:ea typeface="宋体" pitchFamily="2" charset="-122"/>
            </a:endParaRPr>
          </a:p>
          <a:p>
            <a:pPr eaLnBrk="0" hangingPunct="0">
              <a:lnSpc>
                <a:spcPts val="1300"/>
              </a:lnSpc>
            </a:pPr>
            <a:r>
              <a:rPr lang="en-US" altLang="zh-CN" sz="1635" dirty="0">
                <a:solidFill>
                  <a:srgbClr val="4BACC6"/>
                </a:solidFill>
                <a:latin typeface="MS Mincho" pitchFamily="18" charset="-128"/>
                <a:ea typeface="宋体" pitchFamily="2" charset="-122"/>
              </a:rPr>
              <a:t>百度</a:t>
            </a:r>
            <a:endParaRPr lang="en-US" altLang="zh-CN" sz="1635" dirty="0">
              <a:solidFill>
                <a:srgbClr val="4BACC6"/>
              </a:solidFill>
              <a:latin typeface="MS Mincho" pitchFamily="18" charset="-128"/>
              <a:ea typeface="宋体" pitchFamily="2" charset="-122"/>
            </a:endParaRPr>
          </a:p>
          <a:p>
            <a:pPr eaLnBrk="0" hangingPunct="0">
              <a:lnSpc>
                <a:spcPts val="1700"/>
              </a:lnSpc>
            </a:pPr>
            <a:r>
              <a:rPr lang="en-US" altLang="zh-CN" sz="1495" dirty="0">
                <a:solidFill>
                  <a:srgbClr val="7F7F7F"/>
                </a:solidFill>
                <a:latin typeface="Times New Roman" panose="02020603050405020304" pitchFamily="18" charset="0"/>
                <a:ea typeface="宋体" pitchFamily="2" charset="-122"/>
              </a:rPr>
              <a:t>拥有的数据总量超过</a:t>
            </a:r>
            <a:endParaRPr lang="en-US" altLang="zh-CN" sz="1495" dirty="0">
              <a:solidFill>
                <a:srgbClr val="7F7F7F"/>
              </a:solidFill>
              <a:latin typeface="Times New Roman" panose="02020603050405020304" pitchFamily="18" charset="0"/>
              <a:ea typeface="宋体" pitchFamily="2" charset="-122"/>
            </a:endParaRPr>
          </a:p>
          <a:p>
            <a:pPr eaLnBrk="0" hangingPunct="0">
              <a:lnSpc>
                <a:spcPts val="1200"/>
              </a:lnSpc>
            </a:pPr>
            <a:r>
              <a:rPr lang="en-US" altLang="zh-CN" sz="1495" b="1" dirty="0">
                <a:solidFill>
                  <a:srgbClr val="FFC000"/>
                </a:solidFill>
                <a:latin typeface="Times New Roman" panose="02020603050405020304" pitchFamily="18" charset="0"/>
                <a:ea typeface="宋体" pitchFamily="2" charset="-122"/>
              </a:rPr>
              <a:t>100PB</a:t>
            </a:r>
            <a:endParaRPr lang="en-US" altLang="zh-CN" sz="1495" b="1" dirty="0">
              <a:solidFill>
                <a:srgbClr val="FFC000"/>
              </a:solidFill>
              <a:latin typeface="Times New Roman" panose="02020603050405020304" pitchFamily="18" charset="0"/>
              <a:ea typeface="宋体" pitchFamily="2" charset="-122"/>
            </a:endParaRPr>
          </a:p>
          <a:p>
            <a:pPr eaLnBrk="0" hangingPunct="0">
              <a:lnSpc>
                <a:spcPts val="1000"/>
              </a:lnSpc>
            </a:pPr>
            <a:endParaRPr lang="en-US" altLang="zh-CN" sz="2450" dirty="0">
              <a:latin typeface="Calibri" charset="0"/>
              <a:ea typeface="宋体" pitchFamily="2" charset="-122"/>
            </a:endParaRPr>
          </a:p>
          <a:p>
            <a:pPr eaLnBrk="0" hangingPunct="0">
              <a:lnSpc>
                <a:spcPts val="1000"/>
              </a:lnSpc>
            </a:pPr>
            <a:endParaRPr lang="en-US" altLang="zh-CN" sz="2450" dirty="0">
              <a:latin typeface="Calibri" charset="0"/>
              <a:ea typeface="宋体" pitchFamily="2" charset="-122"/>
            </a:endParaRPr>
          </a:p>
          <a:p>
            <a:pPr eaLnBrk="0" hangingPunct="0">
              <a:lnSpc>
                <a:spcPts val="2000"/>
              </a:lnSpc>
            </a:pPr>
            <a:r>
              <a:rPr lang="en-US" altLang="zh-CN" sz="1635" b="1" dirty="0">
                <a:solidFill>
                  <a:srgbClr val="4BACC6"/>
                </a:solidFill>
                <a:latin typeface="Times New Roman" panose="02020603050405020304" pitchFamily="18" charset="0"/>
                <a:ea typeface="宋体" pitchFamily="2" charset="-122"/>
              </a:rPr>
              <a:t>Facebook</a:t>
            </a:r>
            <a:endParaRPr lang="en-US" altLang="zh-CN" sz="1635" b="1" dirty="0">
              <a:solidFill>
                <a:srgbClr val="4BACC6"/>
              </a:solidFill>
              <a:latin typeface="Times New Roman" panose="02020603050405020304" pitchFamily="18" charset="0"/>
              <a:ea typeface="宋体" pitchFamily="2" charset="-122"/>
            </a:endParaRPr>
          </a:p>
          <a:p>
            <a:pPr eaLnBrk="0" hangingPunct="0">
              <a:lnSpc>
                <a:spcPts val="1600"/>
              </a:lnSpc>
            </a:pPr>
            <a:r>
              <a:rPr lang="en-US" altLang="zh-CN" sz="1495" dirty="0">
                <a:solidFill>
                  <a:srgbClr val="7F7F7F"/>
                </a:solidFill>
                <a:latin typeface="MS Mincho" pitchFamily="18" charset="-128"/>
                <a:ea typeface="宋体" pitchFamily="2" charset="-122"/>
              </a:rPr>
              <a:t>每天</a:t>
            </a:r>
            <a:r>
              <a:rPr lang="en-US" altLang="zh-CN" sz="1495" dirty="0">
                <a:solidFill>
                  <a:srgbClr val="7F7F7F"/>
                </a:solidFill>
                <a:latin typeface="Times New Roman" panose="02020603050405020304" pitchFamily="18" charset="0"/>
                <a:ea typeface="宋体" pitchFamily="2" charset="-122"/>
              </a:rPr>
              <a:t>产生的数据超过</a:t>
            </a:r>
            <a:endParaRPr lang="en-US" altLang="zh-CN" sz="1495" dirty="0">
              <a:solidFill>
                <a:srgbClr val="7F7F7F"/>
              </a:solidFill>
              <a:latin typeface="Times New Roman" panose="02020603050405020304" pitchFamily="18" charset="0"/>
              <a:ea typeface="宋体" pitchFamily="2" charset="-122"/>
            </a:endParaRPr>
          </a:p>
          <a:p>
            <a:pPr eaLnBrk="0" hangingPunct="0">
              <a:lnSpc>
                <a:spcPts val="1200"/>
              </a:lnSpc>
            </a:pPr>
            <a:r>
              <a:rPr lang="en-US" altLang="zh-CN" sz="1495" b="1" dirty="0">
                <a:solidFill>
                  <a:srgbClr val="FFC000"/>
                </a:solidFill>
                <a:latin typeface="Times New Roman" panose="02020603050405020304" pitchFamily="18" charset="0"/>
                <a:ea typeface="宋体" pitchFamily="2" charset="-122"/>
              </a:rPr>
              <a:t>100TB</a:t>
            </a:r>
            <a:endParaRPr lang="en-US" altLang="zh-CN" sz="1495" b="1" dirty="0">
              <a:solidFill>
                <a:srgbClr val="FFC000"/>
              </a:solidFill>
              <a:latin typeface="Times New Roman" panose="02020603050405020304" pitchFamily="18" charset="0"/>
              <a:ea typeface="宋体" pitchFamily="2" charset="-122"/>
            </a:endParaRPr>
          </a:p>
        </p:txBody>
      </p:sp>
      <p:sp>
        <p:nvSpPr>
          <p:cNvPr id="13317" name="TextBox 1"/>
          <p:cNvSpPr txBox="1"/>
          <p:nvPr/>
        </p:nvSpPr>
        <p:spPr>
          <a:xfrm>
            <a:off x="1091867" y="1415964"/>
            <a:ext cx="9786620" cy="926465"/>
          </a:xfrm>
          <a:prstGeom prst="rect">
            <a:avLst/>
          </a:prstGeom>
          <a:noFill/>
          <a:ln w="9525">
            <a:noFill/>
          </a:ln>
        </p:spPr>
        <p:txBody>
          <a:bodyPr wrap="none" lIns="0" tIns="0" rIns="0" anchor="t" anchorCtr="0">
            <a:spAutoFit/>
          </a:bodyPr>
          <a:p>
            <a:pPr eaLnBrk="0" hangingPunct="0">
              <a:lnSpc>
                <a:spcPct val="100000"/>
              </a:lnSpc>
            </a:pPr>
            <a:r>
              <a:rPr lang="en-US" altLang="zh-CN" sz="1905" dirty="0">
                <a:solidFill>
                  <a:srgbClr val="000000"/>
                </a:solidFill>
                <a:latin typeface="华文楷体" panose="02010600040101010101" pitchFamily="2" charset="-122"/>
                <a:ea typeface="宋体" pitchFamily="2" charset="-122"/>
              </a:rPr>
              <a:t>伴随着互联</a:t>
            </a:r>
            <a:r>
              <a:rPr lang="zh-CN" altLang="en-US" sz="1905" dirty="0">
                <a:solidFill>
                  <a:srgbClr val="000000"/>
                </a:solidFill>
                <a:latin typeface="华文楷体" panose="02010600040101010101" pitchFamily="2" charset="-122"/>
                <a:ea typeface="宋体" pitchFamily="2" charset="-122"/>
              </a:rPr>
              <a:t>网</a:t>
            </a:r>
            <a:r>
              <a:rPr lang="en-US" altLang="zh-CN" sz="1905" dirty="0">
                <a:solidFill>
                  <a:srgbClr val="000000"/>
                </a:solidFill>
                <a:latin typeface="华文楷体" panose="02010600040101010101" pitchFamily="2" charset="-122"/>
                <a:ea typeface="宋体" pitchFamily="2" charset="-122"/>
              </a:rPr>
              <a:t>、物联</a:t>
            </a:r>
            <a:r>
              <a:rPr lang="zh-CN" altLang="en-US" sz="1905" dirty="0">
                <a:solidFill>
                  <a:srgbClr val="000000"/>
                </a:solidFill>
                <a:latin typeface="华文楷体" panose="02010600040101010101" pitchFamily="2" charset="-122"/>
                <a:ea typeface="宋体" pitchFamily="2" charset="-122"/>
              </a:rPr>
              <a:t>网</a:t>
            </a:r>
            <a:r>
              <a:rPr lang="en-US" altLang="zh-CN" sz="1905" dirty="0">
                <a:solidFill>
                  <a:srgbClr val="000000"/>
                </a:solidFill>
                <a:latin typeface="华文楷体" panose="02010600040101010101" pitchFamily="2" charset="-122"/>
                <a:ea typeface="宋体" pitchFamily="2" charset="-122"/>
              </a:rPr>
              <a:t>、电</a:t>
            </a:r>
            <a:r>
              <a:rPr lang="zh-CN" altLang="en-US" sz="1905" dirty="0">
                <a:solidFill>
                  <a:srgbClr val="000000"/>
                </a:solidFill>
                <a:latin typeface="华文楷体" panose="02010600040101010101" pitchFamily="2" charset="-122"/>
                <a:ea typeface="宋体" pitchFamily="2" charset="-122"/>
              </a:rPr>
              <a:t>子</a:t>
            </a:r>
            <a:r>
              <a:rPr lang="en-US" altLang="zh-CN" sz="1905" dirty="0">
                <a:solidFill>
                  <a:srgbClr val="000000"/>
                </a:solidFill>
                <a:latin typeface="华文楷体" panose="02010600040101010101" pitchFamily="2" charset="-122"/>
                <a:ea typeface="宋体" pitchFamily="2" charset="-122"/>
              </a:rPr>
              <a:t>商务、社交媒体、现代物流、</a:t>
            </a:r>
            <a:r>
              <a:rPr lang="zh-CN" altLang="en-US" sz="1905" dirty="0">
                <a:solidFill>
                  <a:srgbClr val="000000"/>
                </a:solidFill>
                <a:latin typeface="华文楷体" panose="02010600040101010101" pitchFamily="2" charset="-122"/>
                <a:ea typeface="宋体" pitchFamily="2" charset="-122"/>
              </a:rPr>
              <a:t>网</a:t>
            </a:r>
            <a:r>
              <a:rPr lang="en-US" altLang="zh-CN" sz="1905" dirty="0">
                <a:solidFill>
                  <a:srgbClr val="000000"/>
                </a:solidFill>
                <a:latin typeface="华文楷体" panose="02010600040101010101" pitchFamily="2" charset="-122"/>
                <a:ea typeface="宋体" pitchFamily="2" charset="-122"/>
              </a:rPr>
              <a:t>络</a:t>
            </a:r>
            <a:r>
              <a:rPr lang="zh-CN" altLang="en-US" sz="1905" dirty="0">
                <a:solidFill>
                  <a:srgbClr val="000000"/>
                </a:solidFill>
                <a:latin typeface="华文楷体" panose="02010600040101010101" pitchFamily="2" charset="-122"/>
                <a:ea typeface="宋体" pitchFamily="2" charset="-122"/>
              </a:rPr>
              <a:t>金</a:t>
            </a:r>
            <a:r>
              <a:rPr lang="en-US" altLang="zh-CN" sz="1905" dirty="0">
                <a:solidFill>
                  <a:srgbClr val="000000"/>
                </a:solidFill>
                <a:latin typeface="华文楷体" panose="02010600040101010101" pitchFamily="2" charset="-122"/>
                <a:ea typeface="宋体" pitchFamily="2" charset="-122"/>
              </a:rPr>
              <a:t>融等</a:t>
            </a:r>
            <a:r>
              <a:rPr lang="zh-CN" altLang="en-US" sz="1905" dirty="0">
                <a:solidFill>
                  <a:srgbClr val="000000"/>
                </a:solidFill>
                <a:latin typeface="华文楷体" panose="02010600040101010101" pitchFamily="2" charset="-122"/>
                <a:ea typeface="宋体" pitchFamily="2" charset="-122"/>
              </a:rPr>
              <a:t>行</a:t>
            </a:r>
            <a:r>
              <a:rPr lang="en-US" altLang="zh-CN" sz="1905" dirty="0">
                <a:solidFill>
                  <a:srgbClr val="000000"/>
                </a:solidFill>
                <a:latin typeface="华文楷体" panose="02010600040101010101" pitchFamily="2" charset="-122"/>
                <a:ea typeface="宋体" pitchFamily="2" charset="-122"/>
              </a:rPr>
              <a:t>业的发展，全球数</a:t>
            </a:r>
            <a:endParaRPr lang="en-US" altLang="zh-CN" sz="1905" dirty="0">
              <a:solidFill>
                <a:srgbClr val="000000"/>
              </a:solidFill>
              <a:latin typeface="华文楷体" panose="02010600040101010101" pitchFamily="2" charset="-122"/>
              <a:ea typeface="宋体" pitchFamily="2" charset="-122"/>
            </a:endParaRPr>
          </a:p>
          <a:p>
            <a:pPr eaLnBrk="0" hangingPunct="0">
              <a:lnSpc>
                <a:spcPct val="100000"/>
              </a:lnSpc>
            </a:pPr>
            <a:r>
              <a:rPr lang="en-US" altLang="zh-CN" sz="1905" dirty="0">
                <a:solidFill>
                  <a:srgbClr val="000000"/>
                </a:solidFill>
                <a:latin typeface="华文楷体" panose="02010600040101010101" pitchFamily="2" charset="-122"/>
                <a:ea typeface="宋体" pitchFamily="2" charset="-122"/>
              </a:rPr>
              <a:t>据总量正呈</a:t>
            </a:r>
            <a:r>
              <a:rPr lang="zh-CN" altLang="en-US" sz="1905" dirty="0">
                <a:solidFill>
                  <a:srgbClr val="000000"/>
                </a:solidFill>
                <a:latin typeface="华文楷体" panose="02010600040101010101" pitchFamily="2" charset="-122"/>
                <a:ea typeface="宋体" pitchFamily="2" charset="-122"/>
              </a:rPr>
              <a:t>几</a:t>
            </a:r>
            <a:r>
              <a:rPr lang="en-US" altLang="zh-CN" sz="1905" dirty="0">
                <a:solidFill>
                  <a:srgbClr val="000000"/>
                </a:solidFill>
                <a:latin typeface="华文楷体" panose="02010600040101010101" pitchFamily="2" charset="-122"/>
                <a:ea typeface="宋体" pitchFamily="2" charset="-122"/>
              </a:rPr>
              <a:t>何级数增长，过去</a:t>
            </a:r>
            <a:r>
              <a:rPr lang="zh-CN" altLang="en-US" sz="1905" dirty="0">
                <a:solidFill>
                  <a:srgbClr val="000000"/>
                </a:solidFill>
                <a:latin typeface="华文楷体" panose="02010600040101010101" pitchFamily="2" charset="-122"/>
                <a:ea typeface="宋体" pitchFamily="2" charset="-122"/>
              </a:rPr>
              <a:t>几</a:t>
            </a:r>
            <a:r>
              <a:rPr lang="en-US" altLang="zh-CN" sz="1905" dirty="0">
                <a:solidFill>
                  <a:srgbClr val="000000"/>
                </a:solidFill>
                <a:latin typeface="华文楷体" panose="02010600040101010101" pitchFamily="2" charset="-122"/>
                <a:ea typeface="宋体" pitchFamily="2" charset="-122"/>
              </a:rPr>
              <a:t>年时间产</a:t>
            </a:r>
            <a:r>
              <a:rPr lang="zh-CN" altLang="en-US" sz="1905" dirty="0">
                <a:solidFill>
                  <a:srgbClr val="000000"/>
                </a:solidFill>
                <a:latin typeface="华文楷体" panose="02010600040101010101" pitchFamily="2" charset="-122"/>
                <a:ea typeface="宋体" pitchFamily="2" charset="-122"/>
              </a:rPr>
              <a:t>生</a:t>
            </a:r>
            <a:r>
              <a:rPr lang="en-US" altLang="zh-CN" sz="1905" dirty="0">
                <a:solidFill>
                  <a:srgbClr val="000000"/>
                </a:solidFill>
                <a:latin typeface="华文楷体" panose="02010600040101010101" pitchFamily="2" charset="-122"/>
                <a:ea typeface="宋体" pitchFamily="2" charset="-122"/>
              </a:rPr>
              <a:t>的数据总量超过了</a:t>
            </a:r>
            <a:r>
              <a:rPr lang="zh-CN" altLang="en-US" sz="1905" dirty="0">
                <a:solidFill>
                  <a:srgbClr val="000000"/>
                </a:solidFill>
                <a:latin typeface="华文楷体" panose="02010600040101010101" pitchFamily="2" charset="-122"/>
                <a:ea typeface="宋体" pitchFamily="2" charset="-122"/>
              </a:rPr>
              <a:t>人</a:t>
            </a:r>
            <a:r>
              <a:rPr lang="en-US" altLang="zh-CN" sz="1905" dirty="0">
                <a:solidFill>
                  <a:srgbClr val="000000"/>
                </a:solidFill>
                <a:latin typeface="华文楷体" panose="02010600040101010101" pitchFamily="2" charset="-122"/>
                <a:ea typeface="宋体" pitchFamily="2" charset="-122"/>
              </a:rPr>
              <a:t>类历史上的数据总和，预</a:t>
            </a:r>
            <a:endParaRPr lang="en-US" altLang="zh-CN" sz="1905" dirty="0">
              <a:solidFill>
                <a:srgbClr val="000000"/>
              </a:solidFill>
              <a:latin typeface="华文楷体" panose="02010600040101010101" pitchFamily="2" charset="-122"/>
              <a:ea typeface="宋体" pitchFamily="2" charset="-122"/>
            </a:endParaRPr>
          </a:p>
          <a:p>
            <a:pPr eaLnBrk="0" hangingPunct="0">
              <a:lnSpc>
                <a:spcPct val="100000"/>
              </a:lnSpc>
            </a:pPr>
            <a:r>
              <a:rPr lang="en-US" altLang="zh-CN" sz="1905" dirty="0">
                <a:solidFill>
                  <a:srgbClr val="000000"/>
                </a:solidFill>
                <a:latin typeface="华文楷体" panose="02010600040101010101" pitchFamily="2" charset="-122"/>
                <a:ea typeface="宋体" pitchFamily="2" charset="-122"/>
              </a:rPr>
              <a:t>计2020年全球数据总量将达到35.2ZB，</a:t>
            </a:r>
            <a:r>
              <a:rPr lang="zh-CN" altLang="en-US" sz="1905" dirty="0">
                <a:solidFill>
                  <a:srgbClr val="000000"/>
                </a:solidFill>
                <a:latin typeface="华文楷体" panose="02010600040101010101" pitchFamily="2" charset="-122"/>
                <a:ea typeface="宋体" pitchFamily="2" charset="-122"/>
              </a:rPr>
              <a:t>人</a:t>
            </a:r>
            <a:r>
              <a:rPr lang="en-US" altLang="zh-CN" sz="1905" dirty="0">
                <a:solidFill>
                  <a:srgbClr val="000000"/>
                </a:solidFill>
                <a:latin typeface="华文楷体" panose="02010600040101010101" pitchFamily="2" charset="-122"/>
                <a:ea typeface="宋体" pitchFamily="2" charset="-122"/>
              </a:rPr>
              <a:t>类将进</a:t>
            </a:r>
            <a:r>
              <a:rPr lang="zh-CN" altLang="en-US" sz="1905" dirty="0">
                <a:solidFill>
                  <a:srgbClr val="000000"/>
                </a:solidFill>
                <a:latin typeface="华文楷体" panose="02010600040101010101" pitchFamily="2" charset="-122"/>
                <a:ea typeface="宋体" pitchFamily="2" charset="-122"/>
              </a:rPr>
              <a:t>入</a:t>
            </a:r>
            <a:r>
              <a:rPr lang="en-US" altLang="zh-CN" sz="1905" dirty="0">
                <a:solidFill>
                  <a:srgbClr val="000000"/>
                </a:solidFill>
                <a:latin typeface="华文楷体" panose="02010600040101010101" pitchFamily="2" charset="-122"/>
                <a:ea typeface="宋体" pitchFamily="2" charset="-122"/>
              </a:rPr>
              <a:t>“泽它”（ZB）时代（1ZB=</a:t>
            </a:r>
            <a:r>
              <a:rPr lang="zh-CN" altLang="en-US" sz="1905" dirty="0">
                <a:solidFill>
                  <a:srgbClr val="000000"/>
                </a:solidFill>
                <a:latin typeface="华文楷体" panose="02010600040101010101" pitchFamily="2" charset="-122"/>
                <a:ea typeface="宋体" pitchFamily="2" charset="-122"/>
              </a:rPr>
              <a:t>十</a:t>
            </a:r>
            <a:r>
              <a:rPr lang="en-US" altLang="zh-CN" sz="1905" dirty="0">
                <a:solidFill>
                  <a:srgbClr val="000000"/>
                </a:solidFill>
                <a:latin typeface="华文楷体" panose="02010600040101010101" pitchFamily="2" charset="-122"/>
                <a:ea typeface="宋体" pitchFamily="2" charset="-122"/>
              </a:rPr>
              <a:t>万亿亿字节）</a:t>
            </a:r>
            <a:endParaRPr lang="en-US" altLang="zh-CN" sz="1905" dirty="0">
              <a:solidFill>
                <a:srgbClr val="000000"/>
              </a:solidFill>
              <a:latin typeface="华文楷体" panose="02010600040101010101" pitchFamily="2" charset="-122"/>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sym typeface="+mn-ea"/>
              </a:rPr>
              <a:t>大数据的定义和特征</a:t>
            </a:r>
            <a:endParaRPr lang="zh-CN" altLang="en-US"/>
          </a:p>
        </p:txBody>
      </p:sp>
      <p:sp>
        <p:nvSpPr>
          <p:cNvPr id="15363" name="文本框 2"/>
          <p:cNvSpPr txBox="1"/>
          <p:nvPr/>
        </p:nvSpPr>
        <p:spPr>
          <a:xfrm>
            <a:off x="761136" y="1589660"/>
            <a:ext cx="10548776" cy="845185"/>
          </a:xfrm>
          <a:prstGeom prst="rect">
            <a:avLst/>
          </a:prstGeom>
          <a:noFill/>
          <a:ln w="9525">
            <a:noFill/>
          </a:ln>
        </p:spPr>
        <p:txBody>
          <a:bodyPr wrap="square" anchor="t" anchorCtr="0">
            <a:spAutoFit/>
          </a:bodyPr>
          <a:p>
            <a:pPr eaLnBrk="0" hangingPunct="0"/>
            <a:r>
              <a:rPr lang="en-US" altLang="zh-CN" sz="2450" dirty="0">
                <a:solidFill>
                  <a:srgbClr val="262626"/>
                </a:solidFill>
                <a:latin typeface="Adobe Arabic" pitchFamily="18" charset="-78"/>
                <a:ea typeface="微软雅黑" charset="-122"/>
                <a:sym typeface="宋体" pitchFamily="2" charset="-122"/>
              </a:rPr>
              <a:t>     2011</a:t>
            </a:r>
            <a:r>
              <a:rPr lang="zh-CN" altLang="en-US" sz="2450" dirty="0">
                <a:solidFill>
                  <a:srgbClr val="262626"/>
                </a:solidFill>
                <a:latin typeface="Adobe Arabic" pitchFamily="18" charset="-78"/>
                <a:ea typeface="微软雅黑" charset="-122"/>
                <a:sym typeface="宋体" pitchFamily="2" charset="-122"/>
              </a:rPr>
              <a:t>年麦肯锡研究院首次对大数据给出了一个相对清晰的定义：“</a:t>
            </a:r>
            <a:r>
              <a:rPr lang="zh-CN" altLang="en-US" sz="2450" dirty="0">
                <a:solidFill>
                  <a:srgbClr val="FF0000"/>
                </a:solidFill>
                <a:latin typeface="Adobe Arabic" pitchFamily="18" charset="-78"/>
                <a:ea typeface="微软雅黑" charset="-122"/>
                <a:sym typeface="宋体" pitchFamily="2" charset="-122"/>
              </a:rPr>
              <a:t>大数据是指其大小超出了常规数据库工具获取、存储和分析能力的数据集</a:t>
            </a:r>
            <a:r>
              <a:rPr lang="zh-CN" altLang="en-US" sz="2450" dirty="0">
                <a:solidFill>
                  <a:srgbClr val="262626"/>
                </a:solidFill>
                <a:latin typeface="Adobe Arabic" pitchFamily="18" charset="-78"/>
                <a:ea typeface="微软雅黑" charset="-122"/>
                <a:sym typeface="宋体" pitchFamily="2" charset="-122"/>
              </a:rPr>
              <a:t>”。</a:t>
            </a:r>
            <a:endParaRPr lang="zh-CN" altLang="en-US" sz="2450">
              <a:latin typeface="Calibri" charset="0"/>
              <a:ea typeface="宋体" pitchFamily="2" charset="-122"/>
            </a:endParaRPr>
          </a:p>
        </p:txBody>
      </p:sp>
      <p:grpSp>
        <p:nvGrpSpPr>
          <p:cNvPr id="140" name="Group 17"/>
          <p:cNvGrpSpPr/>
          <p:nvPr/>
        </p:nvGrpSpPr>
        <p:grpSpPr>
          <a:xfrm>
            <a:off x="2140816" y="4315995"/>
            <a:ext cx="493401" cy="518551"/>
            <a:chOff x="1841500" y="3328988"/>
            <a:chExt cx="512763" cy="541337"/>
          </a:xfrm>
          <a:solidFill>
            <a:srgbClr val="17B59E"/>
          </a:solidFill>
        </p:grpSpPr>
        <p:sp>
          <p:nvSpPr>
            <p:cNvPr id="141" name="Freeform 9"/>
            <p:cNvSpPr>
              <a:spLocks noEditPoints="1"/>
            </p:cNvSpPr>
            <p:nvPr/>
          </p:nvSpPr>
          <p:spPr bwMode="auto">
            <a:xfrm>
              <a:off x="1841500" y="3375025"/>
              <a:ext cx="512763" cy="495300"/>
            </a:xfrm>
            <a:custGeom>
              <a:avLst/>
              <a:gdLst>
                <a:gd name="T0" fmla="*/ 167 w 189"/>
                <a:gd name="T1" fmla="*/ 0 h 182"/>
                <a:gd name="T2" fmla="*/ 159 w 189"/>
                <a:gd name="T3" fmla="*/ 0 h 182"/>
                <a:gd name="T4" fmla="*/ 159 w 189"/>
                <a:gd name="T5" fmla="*/ 2 h 182"/>
                <a:gd name="T6" fmla="*/ 147 w 189"/>
                <a:gd name="T7" fmla="*/ 14 h 182"/>
                <a:gd name="T8" fmla="*/ 135 w 189"/>
                <a:gd name="T9" fmla="*/ 2 h 182"/>
                <a:gd name="T10" fmla="*/ 135 w 189"/>
                <a:gd name="T11" fmla="*/ 0 h 182"/>
                <a:gd name="T12" fmla="*/ 126 w 189"/>
                <a:gd name="T13" fmla="*/ 0 h 182"/>
                <a:gd name="T14" fmla="*/ 126 w 189"/>
                <a:gd name="T15" fmla="*/ 2 h 182"/>
                <a:gd name="T16" fmla="*/ 114 w 189"/>
                <a:gd name="T17" fmla="*/ 14 h 182"/>
                <a:gd name="T18" fmla="*/ 102 w 189"/>
                <a:gd name="T19" fmla="*/ 2 h 182"/>
                <a:gd name="T20" fmla="*/ 102 w 189"/>
                <a:gd name="T21" fmla="*/ 0 h 182"/>
                <a:gd name="T22" fmla="*/ 93 w 189"/>
                <a:gd name="T23" fmla="*/ 0 h 182"/>
                <a:gd name="T24" fmla="*/ 93 w 189"/>
                <a:gd name="T25" fmla="*/ 2 h 182"/>
                <a:gd name="T26" fmla="*/ 81 w 189"/>
                <a:gd name="T27" fmla="*/ 14 h 182"/>
                <a:gd name="T28" fmla="*/ 69 w 189"/>
                <a:gd name="T29" fmla="*/ 2 h 182"/>
                <a:gd name="T30" fmla="*/ 69 w 189"/>
                <a:gd name="T31" fmla="*/ 0 h 182"/>
                <a:gd name="T32" fmla="*/ 60 w 189"/>
                <a:gd name="T33" fmla="*/ 0 h 182"/>
                <a:gd name="T34" fmla="*/ 60 w 189"/>
                <a:gd name="T35" fmla="*/ 2 h 182"/>
                <a:gd name="T36" fmla="*/ 48 w 189"/>
                <a:gd name="T37" fmla="*/ 14 h 182"/>
                <a:gd name="T38" fmla="*/ 37 w 189"/>
                <a:gd name="T39" fmla="*/ 2 h 182"/>
                <a:gd name="T40" fmla="*/ 37 w 189"/>
                <a:gd name="T41" fmla="*/ 0 h 182"/>
                <a:gd name="T42" fmla="*/ 22 w 189"/>
                <a:gd name="T43" fmla="*/ 0 h 182"/>
                <a:gd name="T44" fmla="*/ 0 w 189"/>
                <a:gd name="T45" fmla="*/ 31 h 182"/>
                <a:gd name="T46" fmla="*/ 0 w 189"/>
                <a:gd name="T47" fmla="*/ 151 h 182"/>
                <a:gd name="T48" fmla="*/ 22 w 189"/>
                <a:gd name="T49" fmla="*/ 182 h 182"/>
                <a:gd name="T50" fmla="*/ 167 w 189"/>
                <a:gd name="T51" fmla="*/ 182 h 182"/>
                <a:gd name="T52" fmla="*/ 189 w 189"/>
                <a:gd name="T53" fmla="*/ 151 h 182"/>
                <a:gd name="T54" fmla="*/ 189 w 189"/>
                <a:gd name="T55" fmla="*/ 31 h 182"/>
                <a:gd name="T56" fmla="*/ 167 w 189"/>
                <a:gd name="T57" fmla="*/ 0 h 182"/>
                <a:gd name="T58" fmla="*/ 166 w 189"/>
                <a:gd name="T59" fmla="*/ 134 h 182"/>
                <a:gd name="T60" fmla="*/ 150 w 189"/>
                <a:gd name="T61" fmla="*/ 156 h 182"/>
                <a:gd name="T62" fmla="*/ 41 w 189"/>
                <a:gd name="T63" fmla="*/ 156 h 182"/>
                <a:gd name="T64" fmla="*/ 24 w 189"/>
                <a:gd name="T65" fmla="*/ 134 h 182"/>
                <a:gd name="T66" fmla="*/ 24 w 189"/>
                <a:gd name="T67" fmla="*/ 50 h 182"/>
                <a:gd name="T68" fmla="*/ 41 w 189"/>
                <a:gd name="T69" fmla="*/ 29 h 182"/>
                <a:gd name="T70" fmla="*/ 150 w 189"/>
                <a:gd name="T71" fmla="*/ 29 h 182"/>
                <a:gd name="T72" fmla="*/ 166 w 189"/>
                <a:gd name="T73" fmla="*/ 50 h 182"/>
                <a:gd name="T74" fmla="*/ 166 w 189"/>
                <a:gd name="T75" fmla="*/ 134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9" h="182">
                  <a:moveTo>
                    <a:pt x="167" y="0"/>
                  </a:moveTo>
                  <a:cubicBezTo>
                    <a:pt x="159" y="0"/>
                    <a:pt x="159" y="0"/>
                    <a:pt x="159" y="0"/>
                  </a:cubicBezTo>
                  <a:cubicBezTo>
                    <a:pt x="159" y="2"/>
                    <a:pt x="159" y="2"/>
                    <a:pt x="159" y="2"/>
                  </a:cubicBezTo>
                  <a:cubicBezTo>
                    <a:pt x="159" y="9"/>
                    <a:pt x="153" y="14"/>
                    <a:pt x="147" y="14"/>
                  </a:cubicBezTo>
                  <a:cubicBezTo>
                    <a:pt x="140" y="14"/>
                    <a:pt x="135" y="9"/>
                    <a:pt x="135" y="2"/>
                  </a:cubicBezTo>
                  <a:cubicBezTo>
                    <a:pt x="135" y="0"/>
                    <a:pt x="135" y="0"/>
                    <a:pt x="135" y="0"/>
                  </a:cubicBezTo>
                  <a:cubicBezTo>
                    <a:pt x="126" y="0"/>
                    <a:pt x="126" y="0"/>
                    <a:pt x="126" y="0"/>
                  </a:cubicBezTo>
                  <a:cubicBezTo>
                    <a:pt x="126" y="2"/>
                    <a:pt x="126" y="2"/>
                    <a:pt x="126" y="2"/>
                  </a:cubicBezTo>
                  <a:cubicBezTo>
                    <a:pt x="126" y="9"/>
                    <a:pt x="121" y="14"/>
                    <a:pt x="114" y="14"/>
                  </a:cubicBezTo>
                  <a:cubicBezTo>
                    <a:pt x="108" y="14"/>
                    <a:pt x="102" y="9"/>
                    <a:pt x="102" y="2"/>
                  </a:cubicBezTo>
                  <a:cubicBezTo>
                    <a:pt x="102" y="0"/>
                    <a:pt x="102" y="0"/>
                    <a:pt x="102" y="0"/>
                  </a:cubicBezTo>
                  <a:cubicBezTo>
                    <a:pt x="93" y="0"/>
                    <a:pt x="93" y="0"/>
                    <a:pt x="93" y="0"/>
                  </a:cubicBezTo>
                  <a:cubicBezTo>
                    <a:pt x="93" y="2"/>
                    <a:pt x="93" y="2"/>
                    <a:pt x="93" y="2"/>
                  </a:cubicBezTo>
                  <a:cubicBezTo>
                    <a:pt x="93" y="9"/>
                    <a:pt x="88" y="14"/>
                    <a:pt x="81" y="14"/>
                  </a:cubicBezTo>
                  <a:cubicBezTo>
                    <a:pt x="75" y="14"/>
                    <a:pt x="69" y="9"/>
                    <a:pt x="69" y="2"/>
                  </a:cubicBezTo>
                  <a:cubicBezTo>
                    <a:pt x="69" y="0"/>
                    <a:pt x="69" y="0"/>
                    <a:pt x="69" y="0"/>
                  </a:cubicBezTo>
                  <a:cubicBezTo>
                    <a:pt x="60" y="0"/>
                    <a:pt x="60" y="0"/>
                    <a:pt x="60" y="0"/>
                  </a:cubicBezTo>
                  <a:cubicBezTo>
                    <a:pt x="60" y="2"/>
                    <a:pt x="60" y="2"/>
                    <a:pt x="60" y="2"/>
                  </a:cubicBezTo>
                  <a:cubicBezTo>
                    <a:pt x="60" y="9"/>
                    <a:pt x="55" y="14"/>
                    <a:pt x="48" y="14"/>
                  </a:cubicBezTo>
                  <a:cubicBezTo>
                    <a:pt x="42" y="14"/>
                    <a:pt x="37" y="9"/>
                    <a:pt x="37" y="2"/>
                  </a:cubicBezTo>
                  <a:cubicBezTo>
                    <a:pt x="37" y="0"/>
                    <a:pt x="37" y="0"/>
                    <a:pt x="37" y="0"/>
                  </a:cubicBezTo>
                  <a:cubicBezTo>
                    <a:pt x="22" y="0"/>
                    <a:pt x="22" y="0"/>
                    <a:pt x="22" y="0"/>
                  </a:cubicBezTo>
                  <a:cubicBezTo>
                    <a:pt x="10" y="0"/>
                    <a:pt x="0" y="14"/>
                    <a:pt x="0" y="31"/>
                  </a:cubicBezTo>
                  <a:cubicBezTo>
                    <a:pt x="0" y="151"/>
                    <a:pt x="0" y="151"/>
                    <a:pt x="0" y="151"/>
                  </a:cubicBezTo>
                  <a:cubicBezTo>
                    <a:pt x="0" y="168"/>
                    <a:pt x="10" y="182"/>
                    <a:pt x="22" y="182"/>
                  </a:cubicBezTo>
                  <a:cubicBezTo>
                    <a:pt x="167" y="182"/>
                    <a:pt x="167" y="182"/>
                    <a:pt x="167" y="182"/>
                  </a:cubicBezTo>
                  <a:cubicBezTo>
                    <a:pt x="179" y="182"/>
                    <a:pt x="189" y="168"/>
                    <a:pt x="189" y="151"/>
                  </a:cubicBezTo>
                  <a:cubicBezTo>
                    <a:pt x="189" y="31"/>
                    <a:pt x="189" y="31"/>
                    <a:pt x="189" y="31"/>
                  </a:cubicBezTo>
                  <a:cubicBezTo>
                    <a:pt x="189" y="14"/>
                    <a:pt x="179" y="0"/>
                    <a:pt x="167" y="0"/>
                  </a:cubicBezTo>
                  <a:close/>
                  <a:moveTo>
                    <a:pt x="166" y="134"/>
                  </a:moveTo>
                  <a:cubicBezTo>
                    <a:pt x="166" y="146"/>
                    <a:pt x="163" y="155"/>
                    <a:pt x="150" y="156"/>
                  </a:cubicBezTo>
                  <a:cubicBezTo>
                    <a:pt x="41" y="156"/>
                    <a:pt x="41" y="156"/>
                    <a:pt x="41" y="156"/>
                  </a:cubicBezTo>
                  <a:cubicBezTo>
                    <a:pt x="27" y="156"/>
                    <a:pt x="24" y="146"/>
                    <a:pt x="24" y="134"/>
                  </a:cubicBezTo>
                  <a:cubicBezTo>
                    <a:pt x="24" y="50"/>
                    <a:pt x="24" y="50"/>
                    <a:pt x="24" y="50"/>
                  </a:cubicBezTo>
                  <a:cubicBezTo>
                    <a:pt x="24" y="38"/>
                    <a:pt x="27" y="28"/>
                    <a:pt x="41" y="29"/>
                  </a:cubicBezTo>
                  <a:cubicBezTo>
                    <a:pt x="150" y="29"/>
                    <a:pt x="150" y="29"/>
                    <a:pt x="150" y="29"/>
                  </a:cubicBezTo>
                  <a:cubicBezTo>
                    <a:pt x="164" y="28"/>
                    <a:pt x="166" y="38"/>
                    <a:pt x="166" y="50"/>
                  </a:cubicBezTo>
                  <a:lnTo>
                    <a:pt x="166" y="1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42" name="Freeform 10"/>
            <p:cNvSpPr/>
            <p:nvPr/>
          </p:nvSpPr>
          <p:spPr bwMode="auto">
            <a:xfrm>
              <a:off x="2220912" y="3328988"/>
              <a:ext cx="38100" cy="71438"/>
            </a:xfrm>
            <a:custGeom>
              <a:avLst/>
              <a:gdLst>
                <a:gd name="T0" fmla="*/ 7 w 14"/>
                <a:gd name="T1" fmla="*/ 26 h 26"/>
                <a:gd name="T2" fmla="*/ 14 w 14"/>
                <a:gd name="T3" fmla="*/ 19 h 26"/>
                <a:gd name="T4" fmla="*/ 14 w 14"/>
                <a:gd name="T5" fmla="*/ 7 h 26"/>
                <a:gd name="T6" fmla="*/ 7 w 14"/>
                <a:gd name="T7" fmla="*/ 0 h 26"/>
                <a:gd name="T8" fmla="*/ 0 w 14"/>
                <a:gd name="T9" fmla="*/ 7 h 26"/>
                <a:gd name="T10" fmla="*/ 0 w 14"/>
                <a:gd name="T11" fmla="*/ 19 h 26"/>
                <a:gd name="T12" fmla="*/ 7 w 14"/>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7" y="26"/>
                  </a:moveTo>
                  <a:cubicBezTo>
                    <a:pt x="11" y="26"/>
                    <a:pt x="14" y="23"/>
                    <a:pt x="14" y="19"/>
                  </a:cubicBezTo>
                  <a:cubicBezTo>
                    <a:pt x="14" y="7"/>
                    <a:pt x="14" y="7"/>
                    <a:pt x="14" y="7"/>
                  </a:cubicBezTo>
                  <a:cubicBezTo>
                    <a:pt x="14" y="3"/>
                    <a:pt x="11" y="0"/>
                    <a:pt x="7" y="0"/>
                  </a:cubicBezTo>
                  <a:cubicBezTo>
                    <a:pt x="3" y="0"/>
                    <a:pt x="0" y="3"/>
                    <a:pt x="0" y="7"/>
                  </a:cubicBezTo>
                  <a:cubicBezTo>
                    <a:pt x="0" y="19"/>
                    <a:pt x="0" y="19"/>
                    <a:pt x="0" y="19"/>
                  </a:cubicBezTo>
                  <a:cubicBezTo>
                    <a:pt x="0" y="23"/>
                    <a:pt x="3" y="26"/>
                    <a:pt x="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43" name="Freeform 11"/>
            <p:cNvSpPr/>
            <p:nvPr/>
          </p:nvSpPr>
          <p:spPr bwMode="auto">
            <a:xfrm>
              <a:off x="2132012" y="3328988"/>
              <a:ext cx="38100" cy="71438"/>
            </a:xfrm>
            <a:custGeom>
              <a:avLst/>
              <a:gdLst>
                <a:gd name="T0" fmla="*/ 7 w 14"/>
                <a:gd name="T1" fmla="*/ 26 h 26"/>
                <a:gd name="T2" fmla="*/ 14 w 14"/>
                <a:gd name="T3" fmla="*/ 19 h 26"/>
                <a:gd name="T4" fmla="*/ 14 w 14"/>
                <a:gd name="T5" fmla="*/ 7 h 26"/>
                <a:gd name="T6" fmla="*/ 7 w 14"/>
                <a:gd name="T7" fmla="*/ 0 h 26"/>
                <a:gd name="T8" fmla="*/ 0 w 14"/>
                <a:gd name="T9" fmla="*/ 7 h 26"/>
                <a:gd name="T10" fmla="*/ 0 w 14"/>
                <a:gd name="T11" fmla="*/ 19 h 26"/>
                <a:gd name="T12" fmla="*/ 7 w 14"/>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7" y="26"/>
                  </a:moveTo>
                  <a:cubicBezTo>
                    <a:pt x="11" y="26"/>
                    <a:pt x="14" y="23"/>
                    <a:pt x="14" y="19"/>
                  </a:cubicBezTo>
                  <a:cubicBezTo>
                    <a:pt x="14" y="7"/>
                    <a:pt x="14" y="7"/>
                    <a:pt x="14" y="7"/>
                  </a:cubicBezTo>
                  <a:cubicBezTo>
                    <a:pt x="14" y="3"/>
                    <a:pt x="11" y="0"/>
                    <a:pt x="7" y="0"/>
                  </a:cubicBezTo>
                  <a:cubicBezTo>
                    <a:pt x="3" y="0"/>
                    <a:pt x="0" y="3"/>
                    <a:pt x="0" y="7"/>
                  </a:cubicBezTo>
                  <a:cubicBezTo>
                    <a:pt x="0" y="19"/>
                    <a:pt x="0" y="19"/>
                    <a:pt x="0" y="19"/>
                  </a:cubicBezTo>
                  <a:cubicBezTo>
                    <a:pt x="0" y="23"/>
                    <a:pt x="3" y="26"/>
                    <a:pt x="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44" name="Freeform 12"/>
            <p:cNvSpPr/>
            <p:nvPr/>
          </p:nvSpPr>
          <p:spPr bwMode="auto">
            <a:xfrm>
              <a:off x="2044700" y="3328988"/>
              <a:ext cx="38100" cy="71438"/>
            </a:xfrm>
            <a:custGeom>
              <a:avLst/>
              <a:gdLst>
                <a:gd name="T0" fmla="*/ 7 w 14"/>
                <a:gd name="T1" fmla="*/ 26 h 26"/>
                <a:gd name="T2" fmla="*/ 14 w 14"/>
                <a:gd name="T3" fmla="*/ 19 h 26"/>
                <a:gd name="T4" fmla="*/ 14 w 14"/>
                <a:gd name="T5" fmla="*/ 7 h 26"/>
                <a:gd name="T6" fmla="*/ 7 w 14"/>
                <a:gd name="T7" fmla="*/ 0 h 26"/>
                <a:gd name="T8" fmla="*/ 0 w 14"/>
                <a:gd name="T9" fmla="*/ 7 h 26"/>
                <a:gd name="T10" fmla="*/ 0 w 14"/>
                <a:gd name="T11" fmla="*/ 19 h 26"/>
                <a:gd name="T12" fmla="*/ 7 w 14"/>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7" y="26"/>
                  </a:moveTo>
                  <a:cubicBezTo>
                    <a:pt x="11" y="26"/>
                    <a:pt x="14" y="23"/>
                    <a:pt x="14" y="19"/>
                  </a:cubicBezTo>
                  <a:cubicBezTo>
                    <a:pt x="14" y="7"/>
                    <a:pt x="14" y="7"/>
                    <a:pt x="14" y="7"/>
                  </a:cubicBezTo>
                  <a:cubicBezTo>
                    <a:pt x="14" y="3"/>
                    <a:pt x="11" y="0"/>
                    <a:pt x="7" y="0"/>
                  </a:cubicBezTo>
                  <a:cubicBezTo>
                    <a:pt x="3" y="0"/>
                    <a:pt x="0" y="3"/>
                    <a:pt x="0" y="7"/>
                  </a:cubicBezTo>
                  <a:cubicBezTo>
                    <a:pt x="0" y="19"/>
                    <a:pt x="0" y="19"/>
                    <a:pt x="0" y="19"/>
                  </a:cubicBezTo>
                  <a:cubicBezTo>
                    <a:pt x="0" y="23"/>
                    <a:pt x="3" y="26"/>
                    <a:pt x="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45" name="Freeform 13"/>
            <p:cNvSpPr/>
            <p:nvPr/>
          </p:nvSpPr>
          <p:spPr bwMode="auto">
            <a:xfrm>
              <a:off x="1952625" y="3332163"/>
              <a:ext cx="38100" cy="68263"/>
            </a:xfrm>
            <a:custGeom>
              <a:avLst/>
              <a:gdLst>
                <a:gd name="T0" fmla="*/ 7 w 14"/>
                <a:gd name="T1" fmla="*/ 25 h 25"/>
                <a:gd name="T2" fmla="*/ 14 w 14"/>
                <a:gd name="T3" fmla="*/ 18 h 25"/>
                <a:gd name="T4" fmla="*/ 14 w 14"/>
                <a:gd name="T5" fmla="*/ 7 h 25"/>
                <a:gd name="T6" fmla="*/ 7 w 14"/>
                <a:gd name="T7" fmla="*/ 0 h 25"/>
                <a:gd name="T8" fmla="*/ 0 w 14"/>
                <a:gd name="T9" fmla="*/ 7 h 25"/>
                <a:gd name="T10" fmla="*/ 0 w 14"/>
                <a:gd name="T11" fmla="*/ 18 h 25"/>
                <a:gd name="T12" fmla="*/ 7 w 1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14" h="25">
                  <a:moveTo>
                    <a:pt x="7" y="25"/>
                  </a:moveTo>
                  <a:cubicBezTo>
                    <a:pt x="11" y="25"/>
                    <a:pt x="14" y="22"/>
                    <a:pt x="14" y="18"/>
                  </a:cubicBezTo>
                  <a:cubicBezTo>
                    <a:pt x="14" y="7"/>
                    <a:pt x="14" y="7"/>
                    <a:pt x="14" y="7"/>
                  </a:cubicBezTo>
                  <a:cubicBezTo>
                    <a:pt x="14" y="3"/>
                    <a:pt x="11" y="0"/>
                    <a:pt x="7" y="0"/>
                  </a:cubicBezTo>
                  <a:cubicBezTo>
                    <a:pt x="3" y="0"/>
                    <a:pt x="0" y="3"/>
                    <a:pt x="0" y="7"/>
                  </a:cubicBezTo>
                  <a:cubicBezTo>
                    <a:pt x="0" y="18"/>
                    <a:pt x="0" y="18"/>
                    <a:pt x="0" y="18"/>
                  </a:cubicBezTo>
                  <a:cubicBezTo>
                    <a:pt x="0" y="22"/>
                    <a:pt x="3" y="25"/>
                    <a:pt x="7"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grpSp>
      <p:cxnSp>
        <p:nvCxnSpPr>
          <p:cNvPr id="146" name="Straight Arrow Connector 19"/>
          <p:cNvCxnSpPr/>
          <p:nvPr/>
        </p:nvCxnSpPr>
        <p:spPr>
          <a:xfrm>
            <a:off x="-1295" y="4010868"/>
            <a:ext cx="2386650" cy="0"/>
          </a:xfrm>
          <a:prstGeom prst="straightConnector1">
            <a:avLst/>
          </a:prstGeom>
          <a:ln w="53975">
            <a:solidFill>
              <a:srgbClr val="595959"/>
            </a:solidFill>
            <a:tailEnd type="oval"/>
          </a:ln>
        </p:spPr>
        <p:style>
          <a:lnRef idx="1">
            <a:schemeClr val="accent1"/>
          </a:lnRef>
          <a:fillRef idx="0">
            <a:schemeClr val="accent1"/>
          </a:fillRef>
          <a:effectRef idx="0">
            <a:schemeClr val="accent1"/>
          </a:effectRef>
          <a:fontRef idx="minor">
            <a:schemeClr val="tx1"/>
          </a:fontRef>
        </p:style>
      </p:cxnSp>
      <p:cxnSp>
        <p:nvCxnSpPr>
          <p:cNvPr id="147" name="Straight Arrow Connector 30"/>
          <p:cNvCxnSpPr/>
          <p:nvPr/>
        </p:nvCxnSpPr>
        <p:spPr>
          <a:xfrm>
            <a:off x="2491188" y="4010868"/>
            <a:ext cx="2384490" cy="0"/>
          </a:xfrm>
          <a:prstGeom prst="straightConnector1">
            <a:avLst/>
          </a:prstGeom>
          <a:ln w="53975">
            <a:solidFill>
              <a:srgbClr val="595959"/>
            </a:solidFill>
            <a:tailEnd type="oval"/>
          </a:ln>
        </p:spPr>
        <p:style>
          <a:lnRef idx="1">
            <a:schemeClr val="accent1"/>
          </a:lnRef>
          <a:fillRef idx="0">
            <a:schemeClr val="accent1"/>
          </a:fillRef>
          <a:effectRef idx="0">
            <a:schemeClr val="accent1"/>
          </a:effectRef>
          <a:fontRef idx="minor">
            <a:schemeClr val="tx1"/>
          </a:fontRef>
        </p:style>
      </p:cxnSp>
      <p:cxnSp>
        <p:nvCxnSpPr>
          <p:cNvPr id="148" name="Straight Arrow Connector 31"/>
          <p:cNvCxnSpPr/>
          <p:nvPr/>
        </p:nvCxnSpPr>
        <p:spPr>
          <a:xfrm>
            <a:off x="4981510" y="4010868"/>
            <a:ext cx="2386650" cy="0"/>
          </a:xfrm>
          <a:prstGeom prst="straightConnector1">
            <a:avLst/>
          </a:prstGeom>
          <a:ln w="53975">
            <a:solidFill>
              <a:srgbClr val="595959"/>
            </a:solidFill>
            <a:tailEnd type="oval"/>
          </a:ln>
        </p:spPr>
        <p:style>
          <a:lnRef idx="1">
            <a:schemeClr val="accent1"/>
          </a:lnRef>
          <a:fillRef idx="0">
            <a:schemeClr val="accent1"/>
          </a:fillRef>
          <a:effectRef idx="0">
            <a:schemeClr val="accent1"/>
          </a:effectRef>
          <a:fontRef idx="minor">
            <a:schemeClr val="tx1"/>
          </a:fontRef>
        </p:style>
      </p:cxnSp>
      <p:cxnSp>
        <p:nvCxnSpPr>
          <p:cNvPr id="149" name="Straight Arrow Connector 32"/>
          <p:cNvCxnSpPr/>
          <p:nvPr/>
        </p:nvCxnSpPr>
        <p:spPr>
          <a:xfrm>
            <a:off x="7473993" y="4010868"/>
            <a:ext cx="2384490" cy="0"/>
          </a:xfrm>
          <a:prstGeom prst="straightConnector1">
            <a:avLst/>
          </a:prstGeom>
          <a:ln w="53975">
            <a:solidFill>
              <a:srgbClr val="595959"/>
            </a:solidFill>
            <a:tailEnd type="oval"/>
          </a:ln>
        </p:spPr>
        <p:style>
          <a:lnRef idx="1">
            <a:schemeClr val="accent1"/>
          </a:lnRef>
          <a:fillRef idx="0">
            <a:schemeClr val="accent1"/>
          </a:fillRef>
          <a:effectRef idx="0">
            <a:schemeClr val="accent1"/>
          </a:effectRef>
          <a:fontRef idx="minor">
            <a:schemeClr val="tx1"/>
          </a:fontRef>
        </p:style>
      </p:cxnSp>
      <p:cxnSp>
        <p:nvCxnSpPr>
          <p:cNvPr id="150" name="Straight Arrow Connector 33"/>
          <p:cNvCxnSpPr/>
          <p:nvPr/>
        </p:nvCxnSpPr>
        <p:spPr>
          <a:xfrm>
            <a:off x="9918959" y="4010868"/>
            <a:ext cx="2270018" cy="0"/>
          </a:xfrm>
          <a:prstGeom prst="straightConnector1">
            <a:avLst/>
          </a:prstGeom>
          <a:ln w="53975">
            <a:solidFill>
              <a:srgbClr val="595959"/>
            </a:solidFill>
            <a:tailEnd type="none"/>
          </a:ln>
        </p:spPr>
        <p:style>
          <a:lnRef idx="1">
            <a:schemeClr val="accent1"/>
          </a:lnRef>
          <a:fillRef idx="0">
            <a:schemeClr val="accent1"/>
          </a:fillRef>
          <a:effectRef idx="0">
            <a:schemeClr val="accent1"/>
          </a:effectRef>
          <a:fontRef idx="minor">
            <a:schemeClr val="tx1"/>
          </a:fontRef>
        </p:style>
      </p:cxnSp>
      <p:grpSp>
        <p:nvGrpSpPr>
          <p:cNvPr id="15370" name="Group 88"/>
          <p:cNvGrpSpPr/>
          <p:nvPr/>
        </p:nvGrpSpPr>
        <p:grpSpPr>
          <a:xfrm>
            <a:off x="1359419" y="3302433"/>
            <a:ext cx="2056190" cy="443392"/>
            <a:chOff x="805796" y="661615"/>
            <a:chExt cx="1128113" cy="181415"/>
          </a:xfrm>
        </p:grpSpPr>
        <p:sp>
          <p:nvSpPr>
            <p:cNvPr id="15371" name="TextBox 14"/>
            <p:cNvSpPr txBox="1"/>
            <p:nvPr/>
          </p:nvSpPr>
          <p:spPr>
            <a:xfrm>
              <a:off x="1182419" y="661615"/>
              <a:ext cx="374865" cy="94312"/>
            </a:xfrm>
            <a:prstGeom prst="rect">
              <a:avLst/>
            </a:prstGeom>
            <a:noFill/>
            <a:ln w="9525">
              <a:noFill/>
            </a:ln>
          </p:spPr>
          <p:txBody>
            <a:bodyPr wrap="none" lIns="0" tIns="0" rIns="0" bIns="0" anchor="t" anchorCtr="0">
              <a:spAutoFit/>
            </a:bodyPr>
            <a:p>
              <a:pPr algn="ctr" eaLnBrk="0" hangingPunct="0"/>
              <a:r>
                <a:rPr lang="zh-CN" sz="1495" dirty="0">
                  <a:solidFill>
                    <a:srgbClr val="282E33"/>
                  </a:solidFill>
                  <a:latin typeface="微软雅黑" charset="-122"/>
                  <a:ea typeface="微软雅黑" charset="-122"/>
                </a:rPr>
                <a:t>Volume</a:t>
              </a:r>
              <a:endParaRPr lang="zh-CN" sz="1495" dirty="0">
                <a:solidFill>
                  <a:srgbClr val="282E33"/>
                </a:solidFill>
                <a:latin typeface="微软雅黑" charset="-122"/>
                <a:ea typeface="微软雅黑" charset="-122"/>
              </a:endParaRPr>
            </a:p>
          </p:txBody>
        </p:sp>
        <p:sp>
          <p:nvSpPr>
            <p:cNvPr id="15372" name="TextBox 15"/>
            <p:cNvSpPr txBox="1"/>
            <p:nvPr/>
          </p:nvSpPr>
          <p:spPr>
            <a:xfrm>
              <a:off x="805796" y="757552"/>
              <a:ext cx="1128113" cy="85478"/>
            </a:xfrm>
            <a:prstGeom prst="rect">
              <a:avLst/>
            </a:prstGeom>
            <a:noFill/>
            <a:ln w="9525">
              <a:noFill/>
            </a:ln>
          </p:spPr>
          <p:txBody>
            <a:bodyPr wrap="square" lIns="0" tIns="0" rIns="0" bIns="0" anchor="t" anchorCtr="0">
              <a:spAutoFit/>
            </a:bodyPr>
            <a:p>
              <a:pPr algn="ctr" defTabSz="898525" eaLnBrk="0" hangingPunct="0">
                <a:spcBef>
                  <a:spcPct val="20000"/>
                </a:spcBef>
              </a:pPr>
              <a:r>
                <a:rPr lang="zh-CN" altLang="en-US" sz="1360">
                  <a:sym typeface="+mn-ea"/>
                </a:rPr>
                <a:t>巨量</a:t>
              </a:r>
              <a:r>
                <a:rPr lang="zh-CN" altLang="en-US" sz="1360">
                  <a:sym typeface="+mn-ea"/>
                </a:rPr>
                <a:t>性</a:t>
              </a:r>
              <a:endParaRPr lang="en-US" altLang="zh-CN" sz="1360" dirty="0">
                <a:solidFill>
                  <a:srgbClr val="282E33"/>
                </a:solidFill>
                <a:latin typeface="微软雅黑" charset="-122"/>
                <a:ea typeface="微软雅黑" charset="-122"/>
              </a:endParaRPr>
            </a:p>
          </p:txBody>
        </p:sp>
      </p:grpSp>
      <p:sp>
        <p:nvSpPr>
          <p:cNvPr id="15373" name="TextBox 16"/>
          <p:cNvSpPr txBox="1"/>
          <p:nvPr/>
        </p:nvSpPr>
        <p:spPr>
          <a:xfrm>
            <a:off x="1359419" y="4997925"/>
            <a:ext cx="2056190" cy="626745"/>
          </a:xfrm>
          <a:prstGeom prst="rect">
            <a:avLst/>
          </a:prstGeom>
          <a:noFill/>
          <a:ln w="9525">
            <a:noFill/>
          </a:ln>
        </p:spPr>
        <p:txBody>
          <a:bodyPr wrap="square" lIns="0" tIns="0" rIns="0" bIns="0" anchor="t" anchorCtr="0">
            <a:spAutoFit/>
          </a:bodyPr>
          <a:p>
            <a:pPr algn="ctr" defTabSz="898525" eaLnBrk="0" hangingPunct="0">
              <a:spcBef>
                <a:spcPct val="20000"/>
              </a:spcBef>
            </a:pPr>
            <a:r>
              <a:rPr lang="zh-CN" altLang="en-US" sz="1360" dirty="0">
                <a:solidFill>
                  <a:srgbClr val="282E33"/>
                </a:solidFill>
                <a:latin typeface="微软雅黑" charset="-122"/>
                <a:ea typeface="微软雅黑" charset="-122"/>
              </a:rPr>
              <a:t>数据体量巨大，数据规模已从GB到TB到PB，甚至开始以EB和ZB计数。</a:t>
            </a:r>
            <a:endParaRPr lang="zh-CN" altLang="en-US" sz="1360" dirty="0">
              <a:solidFill>
                <a:srgbClr val="282E33"/>
              </a:solidFill>
              <a:latin typeface="微软雅黑" charset="-122"/>
              <a:ea typeface="微软雅黑" charset="-122"/>
            </a:endParaRPr>
          </a:p>
        </p:txBody>
      </p:sp>
      <p:grpSp>
        <p:nvGrpSpPr>
          <p:cNvPr id="155" name="Group 45"/>
          <p:cNvGrpSpPr/>
          <p:nvPr/>
        </p:nvGrpSpPr>
        <p:grpSpPr>
          <a:xfrm>
            <a:off x="4628371" y="4315995"/>
            <a:ext cx="493401" cy="518551"/>
            <a:chOff x="1841500" y="3328988"/>
            <a:chExt cx="512763" cy="541337"/>
          </a:xfrm>
          <a:solidFill>
            <a:srgbClr val="17B59E"/>
          </a:solidFill>
        </p:grpSpPr>
        <p:sp>
          <p:nvSpPr>
            <p:cNvPr id="156" name="Freeform 9"/>
            <p:cNvSpPr>
              <a:spLocks noEditPoints="1"/>
            </p:cNvSpPr>
            <p:nvPr/>
          </p:nvSpPr>
          <p:spPr bwMode="auto">
            <a:xfrm>
              <a:off x="1841500" y="3375025"/>
              <a:ext cx="512763" cy="495300"/>
            </a:xfrm>
            <a:custGeom>
              <a:avLst/>
              <a:gdLst>
                <a:gd name="T0" fmla="*/ 167 w 189"/>
                <a:gd name="T1" fmla="*/ 0 h 182"/>
                <a:gd name="T2" fmla="*/ 159 w 189"/>
                <a:gd name="T3" fmla="*/ 0 h 182"/>
                <a:gd name="T4" fmla="*/ 159 w 189"/>
                <a:gd name="T5" fmla="*/ 2 h 182"/>
                <a:gd name="T6" fmla="*/ 147 w 189"/>
                <a:gd name="T7" fmla="*/ 14 h 182"/>
                <a:gd name="T8" fmla="*/ 135 w 189"/>
                <a:gd name="T9" fmla="*/ 2 h 182"/>
                <a:gd name="T10" fmla="*/ 135 w 189"/>
                <a:gd name="T11" fmla="*/ 0 h 182"/>
                <a:gd name="T12" fmla="*/ 126 w 189"/>
                <a:gd name="T13" fmla="*/ 0 h 182"/>
                <a:gd name="T14" fmla="*/ 126 w 189"/>
                <a:gd name="T15" fmla="*/ 2 h 182"/>
                <a:gd name="T16" fmla="*/ 114 w 189"/>
                <a:gd name="T17" fmla="*/ 14 h 182"/>
                <a:gd name="T18" fmla="*/ 102 w 189"/>
                <a:gd name="T19" fmla="*/ 2 h 182"/>
                <a:gd name="T20" fmla="*/ 102 w 189"/>
                <a:gd name="T21" fmla="*/ 0 h 182"/>
                <a:gd name="T22" fmla="*/ 93 w 189"/>
                <a:gd name="T23" fmla="*/ 0 h 182"/>
                <a:gd name="T24" fmla="*/ 93 w 189"/>
                <a:gd name="T25" fmla="*/ 2 h 182"/>
                <a:gd name="T26" fmla="*/ 81 w 189"/>
                <a:gd name="T27" fmla="*/ 14 h 182"/>
                <a:gd name="T28" fmla="*/ 69 w 189"/>
                <a:gd name="T29" fmla="*/ 2 h 182"/>
                <a:gd name="T30" fmla="*/ 69 w 189"/>
                <a:gd name="T31" fmla="*/ 0 h 182"/>
                <a:gd name="T32" fmla="*/ 60 w 189"/>
                <a:gd name="T33" fmla="*/ 0 h 182"/>
                <a:gd name="T34" fmla="*/ 60 w 189"/>
                <a:gd name="T35" fmla="*/ 2 h 182"/>
                <a:gd name="T36" fmla="*/ 48 w 189"/>
                <a:gd name="T37" fmla="*/ 14 h 182"/>
                <a:gd name="T38" fmla="*/ 37 w 189"/>
                <a:gd name="T39" fmla="*/ 2 h 182"/>
                <a:gd name="T40" fmla="*/ 37 w 189"/>
                <a:gd name="T41" fmla="*/ 0 h 182"/>
                <a:gd name="T42" fmla="*/ 22 w 189"/>
                <a:gd name="T43" fmla="*/ 0 h 182"/>
                <a:gd name="T44" fmla="*/ 0 w 189"/>
                <a:gd name="T45" fmla="*/ 31 h 182"/>
                <a:gd name="T46" fmla="*/ 0 w 189"/>
                <a:gd name="T47" fmla="*/ 151 h 182"/>
                <a:gd name="T48" fmla="*/ 22 w 189"/>
                <a:gd name="T49" fmla="*/ 182 h 182"/>
                <a:gd name="T50" fmla="*/ 167 w 189"/>
                <a:gd name="T51" fmla="*/ 182 h 182"/>
                <a:gd name="T52" fmla="*/ 189 w 189"/>
                <a:gd name="T53" fmla="*/ 151 h 182"/>
                <a:gd name="T54" fmla="*/ 189 w 189"/>
                <a:gd name="T55" fmla="*/ 31 h 182"/>
                <a:gd name="T56" fmla="*/ 167 w 189"/>
                <a:gd name="T57" fmla="*/ 0 h 182"/>
                <a:gd name="T58" fmla="*/ 166 w 189"/>
                <a:gd name="T59" fmla="*/ 134 h 182"/>
                <a:gd name="T60" fmla="*/ 150 w 189"/>
                <a:gd name="T61" fmla="*/ 156 h 182"/>
                <a:gd name="T62" fmla="*/ 41 w 189"/>
                <a:gd name="T63" fmla="*/ 156 h 182"/>
                <a:gd name="T64" fmla="*/ 24 w 189"/>
                <a:gd name="T65" fmla="*/ 134 h 182"/>
                <a:gd name="T66" fmla="*/ 24 w 189"/>
                <a:gd name="T67" fmla="*/ 50 h 182"/>
                <a:gd name="T68" fmla="*/ 41 w 189"/>
                <a:gd name="T69" fmla="*/ 29 h 182"/>
                <a:gd name="T70" fmla="*/ 150 w 189"/>
                <a:gd name="T71" fmla="*/ 29 h 182"/>
                <a:gd name="T72" fmla="*/ 166 w 189"/>
                <a:gd name="T73" fmla="*/ 50 h 182"/>
                <a:gd name="T74" fmla="*/ 166 w 189"/>
                <a:gd name="T75" fmla="*/ 134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9" h="182">
                  <a:moveTo>
                    <a:pt x="167" y="0"/>
                  </a:moveTo>
                  <a:cubicBezTo>
                    <a:pt x="159" y="0"/>
                    <a:pt x="159" y="0"/>
                    <a:pt x="159" y="0"/>
                  </a:cubicBezTo>
                  <a:cubicBezTo>
                    <a:pt x="159" y="2"/>
                    <a:pt x="159" y="2"/>
                    <a:pt x="159" y="2"/>
                  </a:cubicBezTo>
                  <a:cubicBezTo>
                    <a:pt x="159" y="9"/>
                    <a:pt x="153" y="14"/>
                    <a:pt x="147" y="14"/>
                  </a:cubicBezTo>
                  <a:cubicBezTo>
                    <a:pt x="140" y="14"/>
                    <a:pt x="135" y="9"/>
                    <a:pt x="135" y="2"/>
                  </a:cubicBezTo>
                  <a:cubicBezTo>
                    <a:pt x="135" y="0"/>
                    <a:pt x="135" y="0"/>
                    <a:pt x="135" y="0"/>
                  </a:cubicBezTo>
                  <a:cubicBezTo>
                    <a:pt x="126" y="0"/>
                    <a:pt x="126" y="0"/>
                    <a:pt x="126" y="0"/>
                  </a:cubicBezTo>
                  <a:cubicBezTo>
                    <a:pt x="126" y="2"/>
                    <a:pt x="126" y="2"/>
                    <a:pt x="126" y="2"/>
                  </a:cubicBezTo>
                  <a:cubicBezTo>
                    <a:pt x="126" y="9"/>
                    <a:pt x="121" y="14"/>
                    <a:pt x="114" y="14"/>
                  </a:cubicBezTo>
                  <a:cubicBezTo>
                    <a:pt x="108" y="14"/>
                    <a:pt x="102" y="9"/>
                    <a:pt x="102" y="2"/>
                  </a:cubicBezTo>
                  <a:cubicBezTo>
                    <a:pt x="102" y="0"/>
                    <a:pt x="102" y="0"/>
                    <a:pt x="102" y="0"/>
                  </a:cubicBezTo>
                  <a:cubicBezTo>
                    <a:pt x="93" y="0"/>
                    <a:pt x="93" y="0"/>
                    <a:pt x="93" y="0"/>
                  </a:cubicBezTo>
                  <a:cubicBezTo>
                    <a:pt x="93" y="2"/>
                    <a:pt x="93" y="2"/>
                    <a:pt x="93" y="2"/>
                  </a:cubicBezTo>
                  <a:cubicBezTo>
                    <a:pt x="93" y="9"/>
                    <a:pt x="88" y="14"/>
                    <a:pt x="81" y="14"/>
                  </a:cubicBezTo>
                  <a:cubicBezTo>
                    <a:pt x="75" y="14"/>
                    <a:pt x="69" y="9"/>
                    <a:pt x="69" y="2"/>
                  </a:cubicBezTo>
                  <a:cubicBezTo>
                    <a:pt x="69" y="0"/>
                    <a:pt x="69" y="0"/>
                    <a:pt x="69" y="0"/>
                  </a:cubicBezTo>
                  <a:cubicBezTo>
                    <a:pt x="60" y="0"/>
                    <a:pt x="60" y="0"/>
                    <a:pt x="60" y="0"/>
                  </a:cubicBezTo>
                  <a:cubicBezTo>
                    <a:pt x="60" y="2"/>
                    <a:pt x="60" y="2"/>
                    <a:pt x="60" y="2"/>
                  </a:cubicBezTo>
                  <a:cubicBezTo>
                    <a:pt x="60" y="9"/>
                    <a:pt x="55" y="14"/>
                    <a:pt x="48" y="14"/>
                  </a:cubicBezTo>
                  <a:cubicBezTo>
                    <a:pt x="42" y="14"/>
                    <a:pt x="37" y="9"/>
                    <a:pt x="37" y="2"/>
                  </a:cubicBezTo>
                  <a:cubicBezTo>
                    <a:pt x="37" y="0"/>
                    <a:pt x="37" y="0"/>
                    <a:pt x="37" y="0"/>
                  </a:cubicBezTo>
                  <a:cubicBezTo>
                    <a:pt x="22" y="0"/>
                    <a:pt x="22" y="0"/>
                    <a:pt x="22" y="0"/>
                  </a:cubicBezTo>
                  <a:cubicBezTo>
                    <a:pt x="10" y="0"/>
                    <a:pt x="0" y="14"/>
                    <a:pt x="0" y="31"/>
                  </a:cubicBezTo>
                  <a:cubicBezTo>
                    <a:pt x="0" y="151"/>
                    <a:pt x="0" y="151"/>
                    <a:pt x="0" y="151"/>
                  </a:cubicBezTo>
                  <a:cubicBezTo>
                    <a:pt x="0" y="168"/>
                    <a:pt x="10" y="182"/>
                    <a:pt x="22" y="182"/>
                  </a:cubicBezTo>
                  <a:cubicBezTo>
                    <a:pt x="167" y="182"/>
                    <a:pt x="167" y="182"/>
                    <a:pt x="167" y="182"/>
                  </a:cubicBezTo>
                  <a:cubicBezTo>
                    <a:pt x="179" y="182"/>
                    <a:pt x="189" y="168"/>
                    <a:pt x="189" y="151"/>
                  </a:cubicBezTo>
                  <a:cubicBezTo>
                    <a:pt x="189" y="31"/>
                    <a:pt x="189" y="31"/>
                    <a:pt x="189" y="31"/>
                  </a:cubicBezTo>
                  <a:cubicBezTo>
                    <a:pt x="189" y="14"/>
                    <a:pt x="179" y="0"/>
                    <a:pt x="167" y="0"/>
                  </a:cubicBezTo>
                  <a:close/>
                  <a:moveTo>
                    <a:pt x="166" y="134"/>
                  </a:moveTo>
                  <a:cubicBezTo>
                    <a:pt x="166" y="146"/>
                    <a:pt x="163" y="155"/>
                    <a:pt x="150" y="156"/>
                  </a:cubicBezTo>
                  <a:cubicBezTo>
                    <a:pt x="41" y="156"/>
                    <a:pt x="41" y="156"/>
                    <a:pt x="41" y="156"/>
                  </a:cubicBezTo>
                  <a:cubicBezTo>
                    <a:pt x="27" y="156"/>
                    <a:pt x="24" y="146"/>
                    <a:pt x="24" y="134"/>
                  </a:cubicBezTo>
                  <a:cubicBezTo>
                    <a:pt x="24" y="50"/>
                    <a:pt x="24" y="50"/>
                    <a:pt x="24" y="50"/>
                  </a:cubicBezTo>
                  <a:cubicBezTo>
                    <a:pt x="24" y="38"/>
                    <a:pt x="27" y="28"/>
                    <a:pt x="41" y="29"/>
                  </a:cubicBezTo>
                  <a:cubicBezTo>
                    <a:pt x="150" y="29"/>
                    <a:pt x="150" y="29"/>
                    <a:pt x="150" y="29"/>
                  </a:cubicBezTo>
                  <a:cubicBezTo>
                    <a:pt x="164" y="28"/>
                    <a:pt x="166" y="38"/>
                    <a:pt x="166" y="50"/>
                  </a:cubicBezTo>
                  <a:lnTo>
                    <a:pt x="166" y="1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57" name="Freeform 10"/>
            <p:cNvSpPr/>
            <p:nvPr/>
          </p:nvSpPr>
          <p:spPr bwMode="auto">
            <a:xfrm>
              <a:off x="2220912" y="3328988"/>
              <a:ext cx="38100" cy="71438"/>
            </a:xfrm>
            <a:custGeom>
              <a:avLst/>
              <a:gdLst>
                <a:gd name="T0" fmla="*/ 7 w 14"/>
                <a:gd name="T1" fmla="*/ 26 h 26"/>
                <a:gd name="T2" fmla="*/ 14 w 14"/>
                <a:gd name="T3" fmla="*/ 19 h 26"/>
                <a:gd name="T4" fmla="*/ 14 w 14"/>
                <a:gd name="T5" fmla="*/ 7 h 26"/>
                <a:gd name="T6" fmla="*/ 7 w 14"/>
                <a:gd name="T7" fmla="*/ 0 h 26"/>
                <a:gd name="T8" fmla="*/ 0 w 14"/>
                <a:gd name="T9" fmla="*/ 7 h 26"/>
                <a:gd name="T10" fmla="*/ 0 w 14"/>
                <a:gd name="T11" fmla="*/ 19 h 26"/>
                <a:gd name="T12" fmla="*/ 7 w 14"/>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7" y="26"/>
                  </a:moveTo>
                  <a:cubicBezTo>
                    <a:pt x="11" y="26"/>
                    <a:pt x="14" y="23"/>
                    <a:pt x="14" y="19"/>
                  </a:cubicBezTo>
                  <a:cubicBezTo>
                    <a:pt x="14" y="7"/>
                    <a:pt x="14" y="7"/>
                    <a:pt x="14" y="7"/>
                  </a:cubicBezTo>
                  <a:cubicBezTo>
                    <a:pt x="14" y="3"/>
                    <a:pt x="11" y="0"/>
                    <a:pt x="7" y="0"/>
                  </a:cubicBezTo>
                  <a:cubicBezTo>
                    <a:pt x="3" y="0"/>
                    <a:pt x="0" y="3"/>
                    <a:pt x="0" y="7"/>
                  </a:cubicBezTo>
                  <a:cubicBezTo>
                    <a:pt x="0" y="19"/>
                    <a:pt x="0" y="19"/>
                    <a:pt x="0" y="19"/>
                  </a:cubicBezTo>
                  <a:cubicBezTo>
                    <a:pt x="0" y="23"/>
                    <a:pt x="3" y="26"/>
                    <a:pt x="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58" name="Freeform 11"/>
            <p:cNvSpPr/>
            <p:nvPr/>
          </p:nvSpPr>
          <p:spPr bwMode="auto">
            <a:xfrm>
              <a:off x="2132012" y="3328988"/>
              <a:ext cx="38100" cy="71438"/>
            </a:xfrm>
            <a:custGeom>
              <a:avLst/>
              <a:gdLst>
                <a:gd name="T0" fmla="*/ 7 w 14"/>
                <a:gd name="T1" fmla="*/ 26 h 26"/>
                <a:gd name="T2" fmla="*/ 14 w 14"/>
                <a:gd name="T3" fmla="*/ 19 h 26"/>
                <a:gd name="T4" fmla="*/ 14 w 14"/>
                <a:gd name="T5" fmla="*/ 7 h 26"/>
                <a:gd name="T6" fmla="*/ 7 w 14"/>
                <a:gd name="T7" fmla="*/ 0 h 26"/>
                <a:gd name="T8" fmla="*/ 0 w 14"/>
                <a:gd name="T9" fmla="*/ 7 h 26"/>
                <a:gd name="T10" fmla="*/ 0 w 14"/>
                <a:gd name="T11" fmla="*/ 19 h 26"/>
                <a:gd name="T12" fmla="*/ 7 w 14"/>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7" y="26"/>
                  </a:moveTo>
                  <a:cubicBezTo>
                    <a:pt x="11" y="26"/>
                    <a:pt x="14" y="23"/>
                    <a:pt x="14" y="19"/>
                  </a:cubicBezTo>
                  <a:cubicBezTo>
                    <a:pt x="14" y="7"/>
                    <a:pt x="14" y="7"/>
                    <a:pt x="14" y="7"/>
                  </a:cubicBezTo>
                  <a:cubicBezTo>
                    <a:pt x="14" y="3"/>
                    <a:pt x="11" y="0"/>
                    <a:pt x="7" y="0"/>
                  </a:cubicBezTo>
                  <a:cubicBezTo>
                    <a:pt x="3" y="0"/>
                    <a:pt x="0" y="3"/>
                    <a:pt x="0" y="7"/>
                  </a:cubicBezTo>
                  <a:cubicBezTo>
                    <a:pt x="0" y="19"/>
                    <a:pt x="0" y="19"/>
                    <a:pt x="0" y="19"/>
                  </a:cubicBezTo>
                  <a:cubicBezTo>
                    <a:pt x="0" y="23"/>
                    <a:pt x="3" y="26"/>
                    <a:pt x="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59" name="Freeform 12"/>
            <p:cNvSpPr/>
            <p:nvPr/>
          </p:nvSpPr>
          <p:spPr bwMode="auto">
            <a:xfrm>
              <a:off x="2044700" y="3328988"/>
              <a:ext cx="38100" cy="71438"/>
            </a:xfrm>
            <a:custGeom>
              <a:avLst/>
              <a:gdLst>
                <a:gd name="T0" fmla="*/ 7 w 14"/>
                <a:gd name="T1" fmla="*/ 26 h 26"/>
                <a:gd name="T2" fmla="*/ 14 w 14"/>
                <a:gd name="T3" fmla="*/ 19 h 26"/>
                <a:gd name="T4" fmla="*/ 14 w 14"/>
                <a:gd name="T5" fmla="*/ 7 h 26"/>
                <a:gd name="T6" fmla="*/ 7 w 14"/>
                <a:gd name="T7" fmla="*/ 0 h 26"/>
                <a:gd name="T8" fmla="*/ 0 w 14"/>
                <a:gd name="T9" fmla="*/ 7 h 26"/>
                <a:gd name="T10" fmla="*/ 0 w 14"/>
                <a:gd name="T11" fmla="*/ 19 h 26"/>
                <a:gd name="T12" fmla="*/ 7 w 14"/>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7" y="26"/>
                  </a:moveTo>
                  <a:cubicBezTo>
                    <a:pt x="11" y="26"/>
                    <a:pt x="14" y="23"/>
                    <a:pt x="14" y="19"/>
                  </a:cubicBezTo>
                  <a:cubicBezTo>
                    <a:pt x="14" y="7"/>
                    <a:pt x="14" y="7"/>
                    <a:pt x="14" y="7"/>
                  </a:cubicBezTo>
                  <a:cubicBezTo>
                    <a:pt x="14" y="3"/>
                    <a:pt x="11" y="0"/>
                    <a:pt x="7" y="0"/>
                  </a:cubicBezTo>
                  <a:cubicBezTo>
                    <a:pt x="3" y="0"/>
                    <a:pt x="0" y="3"/>
                    <a:pt x="0" y="7"/>
                  </a:cubicBezTo>
                  <a:cubicBezTo>
                    <a:pt x="0" y="19"/>
                    <a:pt x="0" y="19"/>
                    <a:pt x="0" y="19"/>
                  </a:cubicBezTo>
                  <a:cubicBezTo>
                    <a:pt x="0" y="23"/>
                    <a:pt x="3" y="26"/>
                    <a:pt x="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60" name="Freeform 13"/>
            <p:cNvSpPr/>
            <p:nvPr/>
          </p:nvSpPr>
          <p:spPr bwMode="auto">
            <a:xfrm>
              <a:off x="1952625" y="3332163"/>
              <a:ext cx="38100" cy="68263"/>
            </a:xfrm>
            <a:custGeom>
              <a:avLst/>
              <a:gdLst>
                <a:gd name="T0" fmla="*/ 7 w 14"/>
                <a:gd name="T1" fmla="*/ 25 h 25"/>
                <a:gd name="T2" fmla="*/ 14 w 14"/>
                <a:gd name="T3" fmla="*/ 18 h 25"/>
                <a:gd name="T4" fmla="*/ 14 w 14"/>
                <a:gd name="T5" fmla="*/ 7 h 25"/>
                <a:gd name="T6" fmla="*/ 7 w 14"/>
                <a:gd name="T7" fmla="*/ 0 h 25"/>
                <a:gd name="T8" fmla="*/ 0 w 14"/>
                <a:gd name="T9" fmla="*/ 7 h 25"/>
                <a:gd name="T10" fmla="*/ 0 w 14"/>
                <a:gd name="T11" fmla="*/ 18 h 25"/>
                <a:gd name="T12" fmla="*/ 7 w 1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14" h="25">
                  <a:moveTo>
                    <a:pt x="7" y="25"/>
                  </a:moveTo>
                  <a:cubicBezTo>
                    <a:pt x="11" y="25"/>
                    <a:pt x="14" y="22"/>
                    <a:pt x="14" y="18"/>
                  </a:cubicBezTo>
                  <a:cubicBezTo>
                    <a:pt x="14" y="7"/>
                    <a:pt x="14" y="7"/>
                    <a:pt x="14" y="7"/>
                  </a:cubicBezTo>
                  <a:cubicBezTo>
                    <a:pt x="14" y="3"/>
                    <a:pt x="11" y="0"/>
                    <a:pt x="7" y="0"/>
                  </a:cubicBezTo>
                  <a:cubicBezTo>
                    <a:pt x="3" y="0"/>
                    <a:pt x="0" y="3"/>
                    <a:pt x="0" y="7"/>
                  </a:cubicBezTo>
                  <a:cubicBezTo>
                    <a:pt x="0" y="18"/>
                    <a:pt x="0" y="18"/>
                    <a:pt x="0" y="18"/>
                  </a:cubicBezTo>
                  <a:cubicBezTo>
                    <a:pt x="0" y="22"/>
                    <a:pt x="3" y="25"/>
                    <a:pt x="7"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grpSp>
      <p:grpSp>
        <p:nvGrpSpPr>
          <p:cNvPr id="15375" name="Group 88"/>
          <p:cNvGrpSpPr/>
          <p:nvPr/>
        </p:nvGrpSpPr>
        <p:grpSpPr>
          <a:xfrm>
            <a:off x="3847582" y="3302433"/>
            <a:ext cx="2054030" cy="444537"/>
            <a:chOff x="805796" y="661615"/>
            <a:chExt cx="1128113" cy="181000"/>
          </a:xfrm>
        </p:grpSpPr>
        <p:sp>
          <p:nvSpPr>
            <p:cNvPr id="15376" name="TextBox 25"/>
            <p:cNvSpPr txBox="1"/>
            <p:nvPr/>
          </p:nvSpPr>
          <p:spPr>
            <a:xfrm>
              <a:off x="1174899" y="661615"/>
              <a:ext cx="389907" cy="93854"/>
            </a:xfrm>
            <a:prstGeom prst="rect">
              <a:avLst/>
            </a:prstGeom>
            <a:noFill/>
            <a:ln w="9525">
              <a:noFill/>
            </a:ln>
          </p:spPr>
          <p:txBody>
            <a:bodyPr wrap="none" lIns="0" tIns="0" rIns="0" bIns="0" anchor="t" anchorCtr="0">
              <a:spAutoFit/>
            </a:bodyPr>
            <a:p>
              <a:pPr algn="ctr" eaLnBrk="0" hangingPunct="0"/>
              <a:r>
                <a:rPr lang="zh-CN" sz="1495" dirty="0">
                  <a:solidFill>
                    <a:srgbClr val="282E33"/>
                  </a:solidFill>
                  <a:latin typeface="微软雅黑" charset="-122"/>
                  <a:ea typeface="微软雅黑" charset="-122"/>
                </a:rPr>
                <a:t>Velocity</a:t>
              </a:r>
              <a:endParaRPr lang="zh-CN" sz="1495" dirty="0">
                <a:solidFill>
                  <a:srgbClr val="282E33"/>
                </a:solidFill>
                <a:latin typeface="微软雅黑" charset="-122"/>
                <a:ea typeface="微软雅黑" charset="-122"/>
              </a:endParaRPr>
            </a:p>
          </p:txBody>
        </p:sp>
        <p:sp>
          <p:nvSpPr>
            <p:cNvPr id="15377" name="TextBox 26"/>
            <p:cNvSpPr txBox="1"/>
            <p:nvPr/>
          </p:nvSpPr>
          <p:spPr>
            <a:xfrm>
              <a:off x="805796" y="757552"/>
              <a:ext cx="1128113" cy="85063"/>
            </a:xfrm>
            <a:prstGeom prst="rect">
              <a:avLst/>
            </a:prstGeom>
            <a:noFill/>
            <a:ln w="9525">
              <a:noFill/>
            </a:ln>
          </p:spPr>
          <p:txBody>
            <a:bodyPr wrap="square" lIns="0" tIns="0" rIns="0" bIns="0" anchor="t" anchorCtr="0">
              <a:spAutoFit/>
            </a:bodyPr>
            <a:p>
              <a:pPr algn="ctr" defTabSz="898525" eaLnBrk="0" hangingPunct="0">
                <a:spcBef>
                  <a:spcPct val="20000"/>
                </a:spcBef>
              </a:pPr>
              <a:r>
                <a:rPr lang="zh-CN" altLang="en-US" sz="1360" dirty="0">
                  <a:solidFill>
                    <a:srgbClr val="282E33"/>
                  </a:solidFill>
                  <a:latin typeface="微软雅黑" charset="-122"/>
                  <a:ea typeface="微软雅黑" charset="-122"/>
                </a:rPr>
                <a:t>即时性</a:t>
              </a:r>
              <a:endParaRPr lang="zh-CN" altLang="en-US" sz="1360" dirty="0">
                <a:solidFill>
                  <a:srgbClr val="282E33"/>
                </a:solidFill>
                <a:latin typeface="微软雅黑" charset="-122"/>
                <a:ea typeface="微软雅黑" charset="-122"/>
              </a:endParaRPr>
            </a:p>
          </p:txBody>
        </p:sp>
      </p:grpSp>
      <p:sp>
        <p:nvSpPr>
          <p:cNvPr id="15378" name="TextBox 27"/>
          <p:cNvSpPr txBox="1"/>
          <p:nvPr/>
        </p:nvSpPr>
        <p:spPr>
          <a:xfrm>
            <a:off x="3847582" y="4997925"/>
            <a:ext cx="2056190" cy="877570"/>
          </a:xfrm>
          <a:prstGeom prst="rect">
            <a:avLst/>
          </a:prstGeom>
          <a:noFill/>
          <a:ln w="9525">
            <a:noFill/>
          </a:ln>
        </p:spPr>
        <p:txBody>
          <a:bodyPr wrap="square" lIns="0" tIns="0" rIns="0" bIns="0" anchor="t" anchorCtr="0">
            <a:spAutoFit/>
          </a:bodyPr>
          <a:p>
            <a:pPr algn="ctr" defTabSz="898525" eaLnBrk="0" hangingPunct="0">
              <a:spcBef>
                <a:spcPct val="20000"/>
              </a:spcBef>
            </a:pPr>
            <a:r>
              <a:rPr lang="zh-CN" altLang="en-US" sz="1360" dirty="0">
                <a:solidFill>
                  <a:srgbClr val="282E33"/>
                </a:solidFill>
                <a:latin typeface="微软雅黑" charset="-122"/>
                <a:ea typeface="微软雅黑" charset="-122"/>
              </a:rPr>
              <a:t>数据产生、处理和分析速度在持续加快，数据流量大，处理能力从批处理</a:t>
            </a:r>
            <a:endParaRPr lang="zh-CN" altLang="en-US" sz="1360" dirty="0">
              <a:solidFill>
                <a:srgbClr val="282E33"/>
              </a:solidFill>
              <a:latin typeface="微软雅黑" charset="-122"/>
              <a:ea typeface="微软雅黑" charset="-122"/>
            </a:endParaRPr>
          </a:p>
          <a:p>
            <a:pPr algn="ctr" defTabSz="898525" eaLnBrk="0" hangingPunct="0">
              <a:spcBef>
                <a:spcPct val="20000"/>
              </a:spcBef>
            </a:pPr>
            <a:r>
              <a:rPr lang="zh-CN" altLang="en-US" sz="1360" dirty="0">
                <a:solidFill>
                  <a:srgbClr val="282E33"/>
                </a:solidFill>
                <a:latin typeface="微软雅黑" charset="-122"/>
                <a:ea typeface="微软雅黑" charset="-122"/>
              </a:rPr>
              <a:t>转向流处理。</a:t>
            </a:r>
            <a:endParaRPr lang="zh-CN" altLang="en-US" sz="1360" dirty="0">
              <a:solidFill>
                <a:srgbClr val="282E33"/>
              </a:solidFill>
              <a:latin typeface="微软雅黑" charset="-122"/>
              <a:ea typeface="微软雅黑" charset="-122"/>
            </a:endParaRPr>
          </a:p>
        </p:txBody>
      </p:sp>
      <p:grpSp>
        <p:nvGrpSpPr>
          <p:cNvPr id="165" name="Group 56"/>
          <p:cNvGrpSpPr/>
          <p:nvPr/>
        </p:nvGrpSpPr>
        <p:grpSpPr>
          <a:xfrm>
            <a:off x="7115928" y="4315995"/>
            <a:ext cx="493401" cy="518551"/>
            <a:chOff x="1841500" y="3328988"/>
            <a:chExt cx="512763" cy="541337"/>
          </a:xfrm>
          <a:solidFill>
            <a:srgbClr val="17B59E"/>
          </a:solidFill>
        </p:grpSpPr>
        <p:sp>
          <p:nvSpPr>
            <p:cNvPr id="166" name="Freeform 9"/>
            <p:cNvSpPr>
              <a:spLocks noEditPoints="1"/>
            </p:cNvSpPr>
            <p:nvPr/>
          </p:nvSpPr>
          <p:spPr bwMode="auto">
            <a:xfrm>
              <a:off x="1841500" y="3375025"/>
              <a:ext cx="512763" cy="495300"/>
            </a:xfrm>
            <a:custGeom>
              <a:avLst/>
              <a:gdLst>
                <a:gd name="T0" fmla="*/ 167 w 189"/>
                <a:gd name="T1" fmla="*/ 0 h 182"/>
                <a:gd name="T2" fmla="*/ 159 w 189"/>
                <a:gd name="T3" fmla="*/ 0 h 182"/>
                <a:gd name="T4" fmla="*/ 159 w 189"/>
                <a:gd name="T5" fmla="*/ 2 h 182"/>
                <a:gd name="T6" fmla="*/ 147 w 189"/>
                <a:gd name="T7" fmla="*/ 14 h 182"/>
                <a:gd name="T8" fmla="*/ 135 w 189"/>
                <a:gd name="T9" fmla="*/ 2 h 182"/>
                <a:gd name="T10" fmla="*/ 135 w 189"/>
                <a:gd name="T11" fmla="*/ 0 h 182"/>
                <a:gd name="T12" fmla="*/ 126 w 189"/>
                <a:gd name="T13" fmla="*/ 0 h 182"/>
                <a:gd name="T14" fmla="*/ 126 w 189"/>
                <a:gd name="T15" fmla="*/ 2 h 182"/>
                <a:gd name="T16" fmla="*/ 114 w 189"/>
                <a:gd name="T17" fmla="*/ 14 h 182"/>
                <a:gd name="T18" fmla="*/ 102 w 189"/>
                <a:gd name="T19" fmla="*/ 2 h 182"/>
                <a:gd name="T20" fmla="*/ 102 w 189"/>
                <a:gd name="T21" fmla="*/ 0 h 182"/>
                <a:gd name="T22" fmla="*/ 93 w 189"/>
                <a:gd name="T23" fmla="*/ 0 h 182"/>
                <a:gd name="T24" fmla="*/ 93 w 189"/>
                <a:gd name="T25" fmla="*/ 2 h 182"/>
                <a:gd name="T26" fmla="*/ 81 w 189"/>
                <a:gd name="T27" fmla="*/ 14 h 182"/>
                <a:gd name="T28" fmla="*/ 69 w 189"/>
                <a:gd name="T29" fmla="*/ 2 h 182"/>
                <a:gd name="T30" fmla="*/ 69 w 189"/>
                <a:gd name="T31" fmla="*/ 0 h 182"/>
                <a:gd name="T32" fmla="*/ 60 w 189"/>
                <a:gd name="T33" fmla="*/ 0 h 182"/>
                <a:gd name="T34" fmla="*/ 60 w 189"/>
                <a:gd name="T35" fmla="*/ 2 h 182"/>
                <a:gd name="T36" fmla="*/ 48 w 189"/>
                <a:gd name="T37" fmla="*/ 14 h 182"/>
                <a:gd name="T38" fmla="*/ 37 w 189"/>
                <a:gd name="T39" fmla="*/ 2 h 182"/>
                <a:gd name="T40" fmla="*/ 37 w 189"/>
                <a:gd name="T41" fmla="*/ 0 h 182"/>
                <a:gd name="T42" fmla="*/ 22 w 189"/>
                <a:gd name="T43" fmla="*/ 0 h 182"/>
                <a:gd name="T44" fmla="*/ 0 w 189"/>
                <a:gd name="T45" fmla="*/ 31 h 182"/>
                <a:gd name="T46" fmla="*/ 0 w 189"/>
                <a:gd name="T47" fmla="*/ 151 h 182"/>
                <a:gd name="T48" fmla="*/ 22 w 189"/>
                <a:gd name="T49" fmla="*/ 182 h 182"/>
                <a:gd name="T50" fmla="*/ 167 w 189"/>
                <a:gd name="T51" fmla="*/ 182 h 182"/>
                <a:gd name="T52" fmla="*/ 189 w 189"/>
                <a:gd name="T53" fmla="*/ 151 h 182"/>
                <a:gd name="T54" fmla="*/ 189 w 189"/>
                <a:gd name="T55" fmla="*/ 31 h 182"/>
                <a:gd name="T56" fmla="*/ 167 w 189"/>
                <a:gd name="T57" fmla="*/ 0 h 182"/>
                <a:gd name="T58" fmla="*/ 166 w 189"/>
                <a:gd name="T59" fmla="*/ 134 h 182"/>
                <a:gd name="T60" fmla="*/ 150 w 189"/>
                <a:gd name="T61" fmla="*/ 156 h 182"/>
                <a:gd name="T62" fmla="*/ 41 w 189"/>
                <a:gd name="T63" fmla="*/ 156 h 182"/>
                <a:gd name="T64" fmla="*/ 24 w 189"/>
                <a:gd name="T65" fmla="*/ 134 h 182"/>
                <a:gd name="T66" fmla="*/ 24 w 189"/>
                <a:gd name="T67" fmla="*/ 50 h 182"/>
                <a:gd name="T68" fmla="*/ 41 w 189"/>
                <a:gd name="T69" fmla="*/ 29 h 182"/>
                <a:gd name="T70" fmla="*/ 150 w 189"/>
                <a:gd name="T71" fmla="*/ 29 h 182"/>
                <a:gd name="T72" fmla="*/ 166 w 189"/>
                <a:gd name="T73" fmla="*/ 50 h 182"/>
                <a:gd name="T74" fmla="*/ 166 w 189"/>
                <a:gd name="T75" fmla="*/ 134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9" h="182">
                  <a:moveTo>
                    <a:pt x="167" y="0"/>
                  </a:moveTo>
                  <a:cubicBezTo>
                    <a:pt x="159" y="0"/>
                    <a:pt x="159" y="0"/>
                    <a:pt x="159" y="0"/>
                  </a:cubicBezTo>
                  <a:cubicBezTo>
                    <a:pt x="159" y="2"/>
                    <a:pt x="159" y="2"/>
                    <a:pt x="159" y="2"/>
                  </a:cubicBezTo>
                  <a:cubicBezTo>
                    <a:pt x="159" y="9"/>
                    <a:pt x="153" y="14"/>
                    <a:pt x="147" y="14"/>
                  </a:cubicBezTo>
                  <a:cubicBezTo>
                    <a:pt x="140" y="14"/>
                    <a:pt x="135" y="9"/>
                    <a:pt x="135" y="2"/>
                  </a:cubicBezTo>
                  <a:cubicBezTo>
                    <a:pt x="135" y="0"/>
                    <a:pt x="135" y="0"/>
                    <a:pt x="135" y="0"/>
                  </a:cubicBezTo>
                  <a:cubicBezTo>
                    <a:pt x="126" y="0"/>
                    <a:pt x="126" y="0"/>
                    <a:pt x="126" y="0"/>
                  </a:cubicBezTo>
                  <a:cubicBezTo>
                    <a:pt x="126" y="2"/>
                    <a:pt x="126" y="2"/>
                    <a:pt x="126" y="2"/>
                  </a:cubicBezTo>
                  <a:cubicBezTo>
                    <a:pt x="126" y="9"/>
                    <a:pt x="121" y="14"/>
                    <a:pt x="114" y="14"/>
                  </a:cubicBezTo>
                  <a:cubicBezTo>
                    <a:pt x="108" y="14"/>
                    <a:pt x="102" y="9"/>
                    <a:pt x="102" y="2"/>
                  </a:cubicBezTo>
                  <a:cubicBezTo>
                    <a:pt x="102" y="0"/>
                    <a:pt x="102" y="0"/>
                    <a:pt x="102" y="0"/>
                  </a:cubicBezTo>
                  <a:cubicBezTo>
                    <a:pt x="93" y="0"/>
                    <a:pt x="93" y="0"/>
                    <a:pt x="93" y="0"/>
                  </a:cubicBezTo>
                  <a:cubicBezTo>
                    <a:pt x="93" y="2"/>
                    <a:pt x="93" y="2"/>
                    <a:pt x="93" y="2"/>
                  </a:cubicBezTo>
                  <a:cubicBezTo>
                    <a:pt x="93" y="9"/>
                    <a:pt x="88" y="14"/>
                    <a:pt x="81" y="14"/>
                  </a:cubicBezTo>
                  <a:cubicBezTo>
                    <a:pt x="75" y="14"/>
                    <a:pt x="69" y="9"/>
                    <a:pt x="69" y="2"/>
                  </a:cubicBezTo>
                  <a:cubicBezTo>
                    <a:pt x="69" y="0"/>
                    <a:pt x="69" y="0"/>
                    <a:pt x="69" y="0"/>
                  </a:cubicBezTo>
                  <a:cubicBezTo>
                    <a:pt x="60" y="0"/>
                    <a:pt x="60" y="0"/>
                    <a:pt x="60" y="0"/>
                  </a:cubicBezTo>
                  <a:cubicBezTo>
                    <a:pt x="60" y="2"/>
                    <a:pt x="60" y="2"/>
                    <a:pt x="60" y="2"/>
                  </a:cubicBezTo>
                  <a:cubicBezTo>
                    <a:pt x="60" y="9"/>
                    <a:pt x="55" y="14"/>
                    <a:pt x="48" y="14"/>
                  </a:cubicBezTo>
                  <a:cubicBezTo>
                    <a:pt x="42" y="14"/>
                    <a:pt x="37" y="9"/>
                    <a:pt x="37" y="2"/>
                  </a:cubicBezTo>
                  <a:cubicBezTo>
                    <a:pt x="37" y="0"/>
                    <a:pt x="37" y="0"/>
                    <a:pt x="37" y="0"/>
                  </a:cubicBezTo>
                  <a:cubicBezTo>
                    <a:pt x="22" y="0"/>
                    <a:pt x="22" y="0"/>
                    <a:pt x="22" y="0"/>
                  </a:cubicBezTo>
                  <a:cubicBezTo>
                    <a:pt x="10" y="0"/>
                    <a:pt x="0" y="14"/>
                    <a:pt x="0" y="31"/>
                  </a:cubicBezTo>
                  <a:cubicBezTo>
                    <a:pt x="0" y="151"/>
                    <a:pt x="0" y="151"/>
                    <a:pt x="0" y="151"/>
                  </a:cubicBezTo>
                  <a:cubicBezTo>
                    <a:pt x="0" y="168"/>
                    <a:pt x="10" y="182"/>
                    <a:pt x="22" y="182"/>
                  </a:cubicBezTo>
                  <a:cubicBezTo>
                    <a:pt x="167" y="182"/>
                    <a:pt x="167" y="182"/>
                    <a:pt x="167" y="182"/>
                  </a:cubicBezTo>
                  <a:cubicBezTo>
                    <a:pt x="179" y="182"/>
                    <a:pt x="189" y="168"/>
                    <a:pt x="189" y="151"/>
                  </a:cubicBezTo>
                  <a:cubicBezTo>
                    <a:pt x="189" y="31"/>
                    <a:pt x="189" y="31"/>
                    <a:pt x="189" y="31"/>
                  </a:cubicBezTo>
                  <a:cubicBezTo>
                    <a:pt x="189" y="14"/>
                    <a:pt x="179" y="0"/>
                    <a:pt x="167" y="0"/>
                  </a:cubicBezTo>
                  <a:close/>
                  <a:moveTo>
                    <a:pt x="166" y="134"/>
                  </a:moveTo>
                  <a:cubicBezTo>
                    <a:pt x="166" y="146"/>
                    <a:pt x="163" y="155"/>
                    <a:pt x="150" y="156"/>
                  </a:cubicBezTo>
                  <a:cubicBezTo>
                    <a:pt x="41" y="156"/>
                    <a:pt x="41" y="156"/>
                    <a:pt x="41" y="156"/>
                  </a:cubicBezTo>
                  <a:cubicBezTo>
                    <a:pt x="27" y="156"/>
                    <a:pt x="24" y="146"/>
                    <a:pt x="24" y="134"/>
                  </a:cubicBezTo>
                  <a:cubicBezTo>
                    <a:pt x="24" y="50"/>
                    <a:pt x="24" y="50"/>
                    <a:pt x="24" y="50"/>
                  </a:cubicBezTo>
                  <a:cubicBezTo>
                    <a:pt x="24" y="38"/>
                    <a:pt x="27" y="28"/>
                    <a:pt x="41" y="29"/>
                  </a:cubicBezTo>
                  <a:cubicBezTo>
                    <a:pt x="150" y="29"/>
                    <a:pt x="150" y="29"/>
                    <a:pt x="150" y="29"/>
                  </a:cubicBezTo>
                  <a:cubicBezTo>
                    <a:pt x="164" y="28"/>
                    <a:pt x="166" y="38"/>
                    <a:pt x="166" y="50"/>
                  </a:cubicBezTo>
                  <a:lnTo>
                    <a:pt x="166" y="1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67" name="Freeform 10"/>
            <p:cNvSpPr/>
            <p:nvPr/>
          </p:nvSpPr>
          <p:spPr bwMode="auto">
            <a:xfrm>
              <a:off x="2220912" y="3328988"/>
              <a:ext cx="38100" cy="71438"/>
            </a:xfrm>
            <a:custGeom>
              <a:avLst/>
              <a:gdLst>
                <a:gd name="T0" fmla="*/ 7 w 14"/>
                <a:gd name="T1" fmla="*/ 26 h 26"/>
                <a:gd name="T2" fmla="*/ 14 w 14"/>
                <a:gd name="T3" fmla="*/ 19 h 26"/>
                <a:gd name="T4" fmla="*/ 14 w 14"/>
                <a:gd name="T5" fmla="*/ 7 h 26"/>
                <a:gd name="T6" fmla="*/ 7 w 14"/>
                <a:gd name="T7" fmla="*/ 0 h 26"/>
                <a:gd name="T8" fmla="*/ 0 w 14"/>
                <a:gd name="T9" fmla="*/ 7 h 26"/>
                <a:gd name="T10" fmla="*/ 0 w 14"/>
                <a:gd name="T11" fmla="*/ 19 h 26"/>
                <a:gd name="T12" fmla="*/ 7 w 14"/>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7" y="26"/>
                  </a:moveTo>
                  <a:cubicBezTo>
                    <a:pt x="11" y="26"/>
                    <a:pt x="14" y="23"/>
                    <a:pt x="14" y="19"/>
                  </a:cubicBezTo>
                  <a:cubicBezTo>
                    <a:pt x="14" y="7"/>
                    <a:pt x="14" y="7"/>
                    <a:pt x="14" y="7"/>
                  </a:cubicBezTo>
                  <a:cubicBezTo>
                    <a:pt x="14" y="3"/>
                    <a:pt x="11" y="0"/>
                    <a:pt x="7" y="0"/>
                  </a:cubicBezTo>
                  <a:cubicBezTo>
                    <a:pt x="3" y="0"/>
                    <a:pt x="0" y="3"/>
                    <a:pt x="0" y="7"/>
                  </a:cubicBezTo>
                  <a:cubicBezTo>
                    <a:pt x="0" y="19"/>
                    <a:pt x="0" y="19"/>
                    <a:pt x="0" y="19"/>
                  </a:cubicBezTo>
                  <a:cubicBezTo>
                    <a:pt x="0" y="23"/>
                    <a:pt x="3" y="26"/>
                    <a:pt x="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68" name="Freeform 11"/>
            <p:cNvSpPr/>
            <p:nvPr/>
          </p:nvSpPr>
          <p:spPr bwMode="auto">
            <a:xfrm>
              <a:off x="2132012" y="3328988"/>
              <a:ext cx="38100" cy="71438"/>
            </a:xfrm>
            <a:custGeom>
              <a:avLst/>
              <a:gdLst>
                <a:gd name="T0" fmla="*/ 7 w 14"/>
                <a:gd name="T1" fmla="*/ 26 h 26"/>
                <a:gd name="T2" fmla="*/ 14 w 14"/>
                <a:gd name="T3" fmla="*/ 19 h 26"/>
                <a:gd name="T4" fmla="*/ 14 w 14"/>
                <a:gd name="T5" fmla="*/ 7 h 26"/>
                <a:gd name="T6" fmla="*/ 7 w 14"/>
                <a:gd name="T7" fmla="*/ 0 h 26"/>
                <a:gd name="T8" fmla="*/ 0 w 14"/>
                <a:gd name="T9" fmla="*/ 7 h 26"/>
                <a:gd name="T10" fmla="*/ 0 w 14"/>
                <a:gd name="T11" fmla="*/ 19 h 26"/>
                <a:gd name="T12" fmla="*/ 7 w 14"/>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7" y="26"/>
                  </a:moveTo>
                  <a:cubicBezTo>
                    <a:pt x="11" y="26"/>
                    <a:pt x="14" y="23"/>
                    <a:pt x="14" y="19"/>
                  </a:cubicBezTo>
                  <a:cubicBezTo>
                    <a:pt x="14" y="7"/>
                    <a:pt x="14" y="7"/>
                    <a:pt x="14" y="7"/>
                  </a:cubicBezTo>
                  <a:cubicBezTo>
                    <a:pt x="14" y="3"/>
                    <a:pt x="11" y="0"/>
                    <a:pt x="7" y="0"/>
                  </a:cubicBezTo>
                  <a:cubicBezTo>
                    <a:pt x="3" y="0"/>
                    <a:pt x="0" y="3"/>
                    <a:pt x="0" y="7"/>
                  </a:cubicBezTo>
                  <a:cubicBezTo>
                    <a:pt x="0" y="19"/>
                    <a:pt x="0" y="19"/>
                    <a:pt x="0" y="19"/>
                  </a:cubicBezTo>
                  <a:cubicBezTo>
                    <a:pt x="0" y="23"/>
                    <a:pt x="3" y="26"/>
                    <a:pt x="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69" name="Freeform 12"/>
            <p:cNvSpPr/>
            <p:nvPr/>
          </p:nvSpPr>
          <p:spPr bwMode="auto">
            <a:xfrm>
              <a:off x="2044700" y="3328988"/>
              <a:ext cx="38100" cy="71438"/>
            </a:xfrm>
            <a:custGeom>
              <a:avLst/>
              <a:gdLst>
                <a:gd name="T0" fmla="*/ 7 w 14"/>
                <a:gd name="T1" fmla="*/ 26 h 26"/>
                <a:gd name="T2" fmla="*/ 14 w 14"/>
                <a:gd name="T3" fmla="*/ 19 h 26"/>
                <a:gd name="T4" fmla="*/ 14 w 14"/>
                <a:gd name="T5" fmla="*/ 7 h 26"/>
                <a:gd name="T6" fmla="*/ 7 w 14"/>
                <a:gd name="T7" fmla="*/ 0 h 26"/>
                <a:gd name="T8" fmla="*/ 0 w 14"/>
                <a:gd name="T9" fmla="*/ 7 h 26"/>
                <a:gd name="T10" fmla="*/ 0 w 14"/>
                <a:gd name="T11" fmla="*/ 19 h 26"/>
                <a:gd name="T12" fmla="*/ 7 w 14"/>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7" y="26"/>
                  </a:moveTo>
                  <a:cubicBezTo>
                    <a:pt x="11" y="26"/>
                    <a:pt x="14" y="23"/>
                    <a:pt x="14" y="19"/>
                  </a:cubicBezTo>
                  <a:cubicBezTo>
                    <a:pt x="14" y="7"/>
                    <a:pt x="14" y="7"/>
                    <a:pt x="14" y="7"/>
                  </a:cubicBezTo>
                  <a:cubicBezTo>
                    <a:pt x="14" y="3"/>
                    <a:pt x="11" y="0"/>
                    <a:pt x="7" y="0"/>
                  </a:cubicBezTo>
                  <a:cubicBezTo>
                    <a:pt x="3" y="0"/>
                    <a:pt x="0" y="3"/>
                    <a:pt x="0" y="7"/>
                  </a:cubicBezTo>
                  <a:cubicBezTo>
                    <a:pt x="0" y="19"/>
                    <a:pt x="0" y="19"/>
                    <a:pt x="0" y="19"/>
                  </a:cubicBezTo>
                  <a:cubicBezTo>
                    <a:pt x="0" y="23"/>
                    <a:pt x="3" y="26"/>
                    <a:pt x="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70" name="Freeform 13"/>
            <p:cNvSpPr/>
            <p:nvPr/>
          </p:nvSpPr>
          <p:spPr bwMode="auto">
            <a:xfrm>
              <a:off x="1952625" y="3332163"/>
              <a:ext cx="38100" cy="68263"/>
            </a:xfrm>
            <a:custGeom>
              <a:avLst/>
              <a:gdLst>
                <a:gd name="T0" fmla="*/ 7 w 14"/>
                <a:gd name="T1" fmla="*/ 25 h 25"/>
                <a:gd name="T2" fmla="*/ 14 w 14"/>
                <a:gd name="T3" fmla="*/ 18 h 25"/>
                <a:gd name="T4" fmla="*/ 14 w 14"/>
                <a:gd name="T5" fmla="*/ 7 h 25"/>
                <a:gd name="T6" fmla="*/ 7 w 14"/>
                <a:gd name="T7" fmla="*/ 0 h 25"/>
                <a:gd name="T8" fmla="*/ 0 w 14"/>
                <a:gd name="T9" fmla="*/ 7 h 25"/>
                <a:gd name="T10" fmla="*/ 0 w 14"/>
                <a:gd name="T11" fmla="*/ 18 h 25"/>
                <a:gd name="T12" fmla="*/ 7 w 1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14" h="25">
                  <a:moveTo>
                    <a:pt x="7" y="25"/>
                  </a:moveTo>
                  <a:cubicBezTo>
                    <a:pt x="11" y="25"/>
                    <a:pt x="14" y="22"/>
                    <a:pt x="14" y="18"/>
                  </a:cubicBezTo>
                  <a:cubicBezTo>
                    <a:pt x="14" y="7"/>
                    <a:pt x="14" y="7"/>
                    <a:pt x="14" y="7"/>
                  </a:cubicBezTo>
                  <a:cubicBezTo>
                    <a:pt x="14" y="3"/>
                    <a:pt x="11" y="0"/>
                    <a:pt x="7" y="0"/>
                  </a:cubicBezTo>
                  <a:cubicBezTo>
                    <a:pt x="3" y="0"/>
                    <a:pt x="0" y="3"/>
                    <a:pt x="0" y="7"/>
                  </a:cubicBezTo>
                  <a:cubicBezTo>
                    <a:pt x="0" y="18"/>
                    <a:pt x="0" y="18"/>
                    <a:pt x="0" y="18"/>
                  </a:cubicBezTo>
                  <a:cubicBezTo>
                    <a:pt x="0" y="22"/>
                    <a:pt x="3" y="25"/>
                    <a:pt x="7"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grpSp>
      <p:grpSp>
        <p:nvGrpSpPr>
          <p:cNvPr id="15380" name="Group 88"/>
          <p:cNvGrpSpPr/>
          <p:nvPr/>
        </p:nvGrpSpPr>
        <p:grpSpPr>
          <a:xfrm>
            <a:off x="6335746" y="3302433"/>
            <a:ext cx="2056190" cy="444537"/>
            <a:chOff x="805796" y="661615"/>
            <a:chExt cx="1128113" cy="181000"/>
          </a:xfrm>
        </p:grpSpPr>
        <p:sp>
          <p:nvSpPr>
            <p:cNvPr id="15381" name="TextBox 36"/>
            <p:cNvSpPr txBox="1"/>
            <p:nvPr/>
          </p:nvSpPr>
          <p:spPr>
            <a:xfrm>
              <a:off x="1198794" y="661615"/>
              <a:ext cx="342117" cy="93854"/>
            </a:xfrm>
            <a:prstGeom prst="rect">
              <a:avLst/>
            </a:prstGeom>
            <a:noFill/>
            <a:ln w="9525">
              <a:noFill/>
            </a:ln>
          </p:spPr>
          <p:txBody>
            <a:bodyPr wrap="none" lIns="0" tIns="0" rIns="0" bIns="0" anchor="t" anchorCtr="0">
              <a:spAutoFit/>
            </a:bodyPr>
            <a:p>
              <a:pPr algn="ctr" eaLnBrk="0" hangingPunct="0"/>
              <a:r>
                <a:rPr lang="zh-CN" sz="1495" dirty="0">
                  <a:solidFill>
                    <a:srgbClr val="282E33"/>
                  </a:solidFill>
                  <a:latin typeface="微软雅黑" charset="-122"/>
                  <a:ea typeface="微软雅黑" charset="-122"/>
                </a:rPr>
                <a:t>Variety</a:t>
              </a:r>
              <a:endParaRPr lang="zh-CN" sz="1495" dirty="0">
                <a:solidFill>
                  <a:srgbClr val="282E33"/>
                </a:solidFill>
                <a:latin typeface="微软雅黑" charset="-122"/>
                <a:ea typeface="微软雅黑" charset="-122"/>
              </a:endParaRPr>
            </a:p>
          </p:txBody>
        </p:sp>
        <p:sp>
          <p:nvSpPr>
            <p:cNvPr id="15382" name="TextBox 37"/>
            <p:cNvSpPr txBox="1"/>
            <p:nvPr/>
          </p:nvSpPr>
          <p:spPr>
            <a:xfrm>
              <a:off x="805796" y="757552"/>
              <a:ext cx="1128113" cy="85063"/>
            </a:xfrm>
            <a:prstGeom prst="rect">
              <a:avLst/>
            </a:prstGeom>
            <a:noFill/>
            <a:ln w="9525">
              <a:noFill/>
            </a:ln>
          </p:spPr>
          <p:txBody>
            <a:bodyPr wrap="square" lIns="0" tIns="0" rIns="0" bIns="0" anchor="t" anchorCtr="0">
              <a:spAutoFit/>
            </a:bodyPr>
            <a:p>
              <a:pPr algn="ctr" defTabSz="898525" eaLnBrk="0" hangingPunct="0">
                <a:spcBef>
                  <a:spcPct val="20000"/>
                </a:spcBef>
              </a:pPr>
              <a:r>
                <a:rPr lang="zh-CN" altLang="en-US" sz="1360" dirty="0">
                  <a:solidFill>
                    <a:srgbClr val="282E33"/>
                  </a:solidFill>
                  <a:latin typeface="微软雅黑" charset="-122"/>
                  <a:ea typeface="微软雅黑" charset="-122"/>
                </a:rPr>
                <a:t>多样性</a:t>
              </a:r>
              <a:endParaRPr lang="zh-CN" altLang="en-US" sz="1360" dirty="0">
                <a:solidFill>
                  <a:srgbClr val="282E33"/>
                </a:solidFill>
                <a:latin typeface="微软雅黑" charset="-122"/>
                <a:ea typeface="微软雅黑" charset="-122"/>
              </a:endParaRPr>
            </a:p>
          </p:txBody>
        </p:sp>
      </p:grpSp>
      <p:sp>
        <p:nvSpPr>
          <p:cNvPr id="15383" name="TextBox 38"/>
          <p:cNvSpPr txBox="1"/>
          <p:nvPr/>
        </p:nvSpPr>
        <p:spPr>
          <a:xfrm>
            <a:off x="6335746" y="4997925"/>
            <a:ext cx="2056190" cy="835660"/>
          </a:xfrm>
          <a:prstGeom prst="rect">
            <a:avLst/>
          </a:prstGeom>
          <a:noFill/>
          <a:ln w="9525">
            <a:noFill/>
          </a:ln>
        </p:spPr>
        <p:txBody>
          <a:bodyPr wrap="square" lIns="0" tIns="0" rIns="0" bIns="0" anchor="t" anchorCtr="0">
            <a:spAutoFit/>
          </a:bodyPr>
          <a:p>
            <a:pPr algn="ctr" defTabSz="898525" eaLnBrk="0" hangingPunct="0">
              <a:spcBef>
                <a:spcPct val="20000"/>
              </a:spcBef>
            </a:pPr>
            <a:r>
              <a:rPr lang="en-US" altLang="zh-CN" sz="1360" dirty="0">
                <a:solidFill>
                  <a:srgbClr val="282E33"/>
                </a:solidFill>
                <a:latin typeface="微软雅黑" charset="-122"/>
                <a:ea typeface="微软雅黑" charset="-122"/>
              </a:rPr>
              <a:t>大数据类型复杂。大量异构数据，多源数据，半结构化数据、非结构化数据大量涌现</a:t>
            </a:r>
            <a:r>
              <a:rPr lang="zh-CN" altLang="en-US" sz="1360" dirty="0">
                <a:solidFill>
                  <a:srgbClr val="282E33"/>
                </a:solidFill>
                <a:latin typeface="微软雅黑" charset="-122"/>
                <a:ea typeface="微软雅黑" charset="-122"/>
              </a:rPr>
              <a:t>。</a:t>
            </a:r>
            <a:endParaRPr lang="zh-CN" altLang="en-US" sz="1360" dirty="0">
              <a:solidFill>
                <a:srgbClr val="282E33"/>
              </a:solidFill>
              <a:latin typeface="微软雅黑" charset="-122"/>
              <a:ea typeface="微软雅黑" charset="-122"/>
            </a:endParaRPr>
          </a:p>
        </p:txBody>
      </p:sp>
      <p:grpSp>
        <p:nvGrpSpPr>
          <p:cNvPr id="175" name="Group 67"/>
          <p:cNvGrpSpPr/>
          <p:nvPr/>
        </p:nvGrpSpPr>
        <p:grpSpPr>
          <a:xfrm>
            <a:off x="9603483" y="4315995"/>
            <a:ext cx="493401" cy="518551"/>
            <a:chOff x="1841500" y="3328988"/>
            <a:chExt cx="512763" cy="541337"/>
          </a:xfrm>
          <a:solidFill>
            <a:srgbClr val="17B59E"/>
          </a:solidFill>
        </p:grpSpPr>
        <p:sp>
          <p:nvSpPr>
            <p:cNvPr id="176" name="Freeform 9"/>
            <p:cNvSpPr>
              <a:spLocks noEditPoints="1"/>
            </p:cNvSpPr>
            <p:nvPr/>
          </p:nvSpPr>
          <p:spPr bwMode="auto">
            <a:xfrm>
              <a:off x="1841500" y="3375025"/>
              <a:ext cx="512763" cy="495300"/>
            </a:xfrm>
            <a:custGeom>
              <a:avLst/>
              <a:gdLst>
                <a:gd name="T0" fmla="*/ 167 w 189"/>
                <a:gd name="T1" fmla="*/ 0 h 182"/>
                <a:gd name="T2" fmla="*/ 159 w 189"/>
                <a:gd name="T3" fmla="*/ 0 h 182"/>
                <a:gd name="T4" fmla="*/ 159 w 189"/>
                <a:gd name="T5" fmla="*/ 2 h 182"/>
                <a:gd name="T6" fmla="*/ 147 w 189"/>
                <a:gd name="T7" fmla="*/ 14 h 182"/>
                <a:gd name="T8" fmla="*/ 135 w 189"/>
                <a:gd name="T9" fmla="*/ 2 h 182"/>
                <a:gd name="T10" fmla="*/ 135 w 189"/>
                <a:gd name="T11" fmla="*/ 0 h 182"/>
                <a:gd name="T12" fmla="*/ 126 w 189"/>
                <a:gd name="T13" fmla="*/ 0 h 182"/>
                <a:gd name="T14" fmla="*/ 126 w 189"/>
                <a:gd name="T15" fmla="*/ 2 h 182"/>
                <a:gd name="T16" fmla="*/ 114 w 189"/>
                <a:gd name="T17" fmla="*/ 14 h 182"/>
                <a:gd name="T18" fmla="*/ 102 w 189"/>
                <a:gd name="T19" fmla="*/ 2 h 182"/>
                <a:gd name="T20" fmla="*/ 102 w 189"/>
                <a:gd name="T21" fmla="*/ 0 h 182"/>
                <a:gd name="T22" fmla="*/ 93 w 189"/>
                <a:gd name="T23" fmla="*/ 0 h 182"/>
                <a:gd name="T24" fmla="*/ 93 w 189"/>
                <a:gd name="T25" fmla="*/ 2 h 182"/>
                <a:gd name="T26" fmla="*/ 81 w 189"/>
                <a:gd name="T27" fmla="*/ 14 h 182"/>
                <a:gd name="T28" fmla="*/ 69 w 189"/>
                <a:gd name="T29" fmla="*/ 2 h 182"/>
                <a:gd name="T30" fmla="*/ 69 w 189"/>
                <a:gd name="T31" fmla="*/ 0 h 182"/>
                <a:gd name="T32" fmla="*/ 60 w 189"/>
                <a:gd name="T33" fmla="*/ 0 h 182"/>
                <a:gd name="T34" fmla="*/ 60 w 189"/>
                <a:gd name="T35" fmla="*/ 2 h 182"/>
                <a:gd name="T36" fmla="*/ 48 w 189"/>
                <a:gd name="T37" fmla="*/ 14 h 182"/>
                <a:gd name="T38" fmla="*/ 37 w 189"/>
                <a:gd name="T39" fmla="*/ 2 h 182"/>
                <a:gd name="T40" fmla="*/ 37 w 189"/>
                <a:gd name="T41" fmla="*/ 0 h 182"/>
                <a:gd name="T42" fmla="*/ 22 w 189"/>
                <a:gd name="T43" fmla="*/ 0 h 182"/>
                <a:gd name="T44" fmla="*/ 0 w 189"/>
                <a:gd name="T45" fmla="*/ 31 h 182"/>
                <a:gd name="T46" fmla="*/ 0 w 189"/>
                <a:gd name="T47" fmla="*/ 151 h 182"/>
                <a:gd name="T48" fmla="*/ 22 w 189"/>
                <a:gd name="T49" fmla="*/ 182 h 182"/>
                <a:gd name="T50" fmla="*/ 167 w 189"/>
                <a:gd name="T51" fmla="*/ 182 h 182"/>
                <a:gd name="T52" fmla="*/ 189 w 189"/>
                <a:gd name="T53" fmla="*/ 151 h 182"/>
                <a:gd name="T54" fmla="*/ 189 w 189"/>
                <a:gd name="T55" fmla="*/ 31 h 182"/>
                <a:gd name="T56" fmla="*/ 167 w 189"/>
                <a:gd name="T57" fmla="*/ 0 h 182"/>
                <a:gd name="T58" fmla="*/ 166 w 189"/>
                <a:gd name="T59" fmla="*/ 134 h 182"/>
                <a:gd name="T60" fmla="*/ 150 w 189"/>
                <a:gd name="T61" fmla="*/ 156 h 182"/>
                <a:gd name="T62" fmla="*/ 41 w 189"/>
                <a:gd name="T63" fmla="*/ 156 h 182"/>
                <a:gd name="T64" fmla="*/ 24 w 189"/>
                <a:gd name="T65" fmla="*/ 134 h 182"/>
                <a:gd name="T66" fmla="*/ 24 w 189"/>
                <a:gd name="T67" fmla="*/ 50 h 182"/>
                <a:gd name="T68" fmla="*/ 41 w 189"/>
                <a:gd name="T69" fmla="*/ 29 h 182"/>
                <a:gd name="T70" fmla="*/ 150 w 189"/>
                <a:gd name="T71" fmla="*/ 29 h 182"/>
                <a:gd name="T72" fmla="*/ 166 w 189"/>
                <a:gd name="T73" fmla="*/ 50 h 182"/>
                <a:gd name="T74" fmla="*/ 166 w 189"/>
                <a:gd name="T75" fmla="*/ 134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9" h="182">
                  <a:moveTo>
                    <a:pt x="167" y="0"/>
                  </a:moveTo>
                  <a:cubicBezTo>
                    <a:pt x="159" y="0"/>
                    <a:pt x="159" y="0"/>
                    <a:pt x="159" y="0"/>
                  </a:cubicBezTo>
                  <a:cubicBezTo>
                    <a:pt x="159" y="2"/>
                    <a:pt x="159" y="2"/>
                    <a:pt x="159" y="2"/>
                  </a:cubicBezTo>
                  <a:cubicBezTo>
                    <a:pt x="159" y="9"/>
                    <a:pt x="153" y="14"/>
                    <a:pt x="147" y="14"/>
                  </a:cubicBezTo>
                  <a:cubicBezTo>
                    <a:pt x="140" y="14"/>
                    <a:pt x="135" y="9"/>
                    <a:pt x="135" y="2"/>
                  </a:cubicBezTo>
                  <a:cubicBezTo>
                    <a:pt x="135" y="0"/>
                    <a:pt x="135" y="0"/>
                    <a:pt x="135" y="0"/>
                  </a:cubicBezTo>
                  <a:cubicBezTo>
                    <a:pt x="126" y="0"/>
                    <a:pt x="126" y="0"/>
                    <a:pt x="126" y="0"/>
                  </a:cubicBezTo>
                  <a:cubicBezTo>
                    <a:pt x="126" y="2"/>
                    <a:pt x="126" y="2"/>
                    <a:pt x="126" y="2"/>
                  </a:cubicBezTo>
                  <a:cubicBezTo>
                    <a:pt x="126" y="9"/>
                    <a:pt x="121" y="14"/>
                    <a:pt x="114" y="14"/>
                  </a:cubicBezTo>
                  <a:cubicBezTo>
                    <a:pt x="108" y="14"/>
                    <a:pt x="102" y="9"/>
                    <a:pt x="102" y="2"/>
                  </a:cubicBezTo>
                  <a:cubicBezTo>
                    <a:pt x="102" y="0"/>
                    <a:pt x="102" y="0"/>
                    <a:pt x="102" y="0"/>
                  </a:cubicBezTo>
                  <a:cubicBezTo>
                    <a:pt x="93" y="0"/>
                    <a:pt x="93" y="0"/>
                    <a:pt x="93" y="0"/>
                  </a:cubicBezTo>
                  <a:cubicBezTo>
                    <a:pt x="93" y="2"/>
                    <a:pt x="93" y="2"/>
                    <a:pt x="93" y="2"/>
                  </a:cubicBezTo>
                  <a:cubicBezTo>
                    <a:pt x="93" y="9"/>
                    <a:pt x="88" y="14"/>
                    <a:pt x="81" y="14"/>
                  </a:cubicBezTo>
                  <a:cubicBezTo>
                    <a:pt x="75" y="14"/>
                    <a:pt x="69" y="9"/>
                    <a:pt x="69" y="2"/>
                  </a:cubicBezTo>
                  <a:cubicBezTo>
                    <a:pt x="69" y="0"/>
                    <a:pt x="69" y="0"/>
                    <a:pt x="69" y="0"/>
                  </a:cubicBezTo>
                  <a:cubicBezTo>
                    <a:pt x="60" y="0"/>
                    <a:pt x="60" y="0"/>
                    <a:pt x="60" y="0"/>
                  </a:cubicBezTo>
                  <a:cubicBezTo>
                    <a:pt x="60" y="2"/>
                    <a:pt x="60" y="2"/>
                    <a:pt x="60" y="2"/>
                  </a:cubicBezTo>
                  <a:cubicBezTo>
                    <a:pt x="60" y="9"/>
                    <a:pt x="55" y="14"/>
                    <a:pt x="48" y="14"/>
                  </a:cubicBezTo>
                  <a:cubicBezTo>
                    <a:pt x="42" y="14"/>
                    <a:pt x="37" y="9"/>
                    <a:pt x="37" y="2"/>
                  </a:cubicBezTo>
                  <a:cubicBezTo>
                    <a:pt x="37" y="0"/>
                    <a:pt x="37" y="0"/>
                    <a:pt x="37" y="0"/>
                  </a:cubicBezTo>
                  <a:cubicBezTo>
                    <a:pt x="22" y="0"/>
                    <a:pt x="22" y="0"/>
                    <a:pt x="22" y="0"/>
                  </a:cubicBezTo>
                  <a:cubicBezTo>
                    <a:pt x="10" y="0"/>
                    <a:pt x="0" y="14"/>
                    <a:pt x="0" y="31"/>
                  </a:cubicBezTo>
                  <a:cubicBezTo>
                    <a:pt x="0" y="151"/>
                    <a:pt x="0" y="151"/>
                    <a:pt x="0" y="151"/>
                  </a:cubicBezTo>
                  <a:cubicBezTo>
                    <a:pt x="0" y="168"/>
                    <a:pt x="10" y="182"/>
                    <a:pt x="22" y="182"/>
                  </a:cubicBezTo>
                  <a:cubicBezTo>
                    <a:pt x="167" y="182"/>
                    <a:pt x="167" y="182"/>
                    <a:pt x="167" y="182"/>
                  </a:cubicBezTo>
                  <a:cubicBezTo>
                    <a:pt x="179" y="182"/>
                    <a:pt x="189" y="168"/>
                    <a:pt x="189" y="151"/>
                  </a:cubicBezTo>
                  <a:cubicBezTo>
                    <a:pt x="189" y="31"/>
                    <a:pt x="189" y="31"/>
                    <a:pt x="189" y="31"/>
                  </a:cubicBezTo>
                  <a:cubicBezTo>
                    <a:pt x="189" y="14"/>
                    <a:pt x="179" y="0"/>
                    <a:pt x="167" y="0"/>
                  </a:cubicBezTo>
                  <a:close/>
                  <a:moveTo>
                    <a:pt x="166" y="134"/>
                  </a:moveTo>
                  <a:cubicBezTo>
                    <a:pt x="166" y="146"/>
                    <a:pt x="163" y="155"/>
                    <a:pt x="150" y="156"/>
                  </a:cubicBezTo>
                  <a:cubicBezTo>
                    <a:pt x="41" y="156"/>
                    <a:pt x="41" y="156"/>
                    <a:pt x="41" y="156"/>
                  </a:cubicBezTo>
                  <a:cubicBezTo>
                    <a:pt x="27" y="156"/>
                    <a:pt x="24" y="146"/>
                    <a:pt x="24" y="134"/>
                  </a:cubicBezTo>
                  <a:cubicBezTo>
                    <a:pt x="24" y="50"/>
                    <a:pt x="24" y="50"/>
                    <a:pt x="24" y="50"/>
                  </a:cubicBezTo>
                  <a:cubicBezTo>
                    <a:pt x="24" y="38"/>
                    <a:pt x="27" y="28"/>
                    <a:pt x="41" y="29"/>
                  </a:cubicBezTo>
                  <a:cubicBezTo>
                    <a:pt x="150" y="29"/>
                    <a:pt x="150" y="29"/>
                    <a:pt x="150" y="29"/>
                  </a:cubicBezTo>
                  <a:cubicBezTo>
                    <a:pt x="164" y="28"/>
                    <a:pt x="166" y="38"/>
                    <a:pt x="166" y="50"/>
                  </a:cubicBezTo>
                  <a:lnTo>
                    <a:pt x="166" y="1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77" name="Freeform 10"/>
            <p:cNvSpPr/>
            <p:nvPr/>
          </p:nvSpPr>
          <p:spPr bwMode="auto">
            <a:xfrm>
              <a:off x="2220912" y="3328988"/>
              <a:ext cx="38100" cy="71438"/>
            </a:xfrm>
            <a:custGeom>
              <a:avLst/>
              <a:gdLst>
                <a:gd name="T0" fmla="*/ 7 w 14"/>
                <a:gd name="T1" fmla="*/ 26 h 26"/>
                <a:gd name="T2" fmla="*/ 14 w 14"/>
                <a:gd name="T3" fmla="*/ 19 h 26"/>
                <a:gd name="T4" fmla="*/ 14 w 14"/>
                <a:gd name="T5" fmla="*/ 7 h 26"/>
                <a:gd name="T6" fmla="*/ 7 w 14"/>
                <a:gd name="T7" fmla="*/ 0 h 26"/>
                <a:gd name="T8" fmla="*/ 0 w 14"/>
                <a:gd name="T9" fmla="*/ 7 h 26"/>
                <a:gd name="T10" fmla="*/ 0 w 14"/>
                <a:gd name="T11" fmla="*/ 19 h 26"/>
                <a:gd name="T12" fmla="*/ 7 w 14"/>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7" y="26"/>
                  </a:moveTo>
                  <a:cubicBezTo>
                    <a:pt x="11" y="26"/>
                    <a:pt x="14" y="23"/>
                    <a:pt x="14" y="19"/>
                  </a:cubicBezTo>
                  <a:cubicBezTo>
                    <a:pt x="14" y="7"/>
                    <a:pt x="14" y="7"/>
                    <a:pt x="14" y="7"/>
                  </a:cubicBezTo>
                  <a:cubicBezTo>
                    <a:pt x="14" y="3"/>
                    <a:pt x="11" y="0"/>
                    <a:pt x="7" y="0"/>
                  </a:cubicBezTo>
                  <a:cubicBezTo>
                    <a:pt x="3" y="0"/>
                    <a:pt x="0" y="3"/>
                    <a:pt x="0" y="7"/>
                  </a:cubicBezTo>
                  <a:cubicBezTo>
                    <a:pt x="0" y="19"/>
                    <a:pt x="0" y="19"/>
                    <a:pt x="0" y="19"/>
                  </a:cubicBezTo>
                  <a:cubicBezTo>
                    <a:pt x="0" y="23"/>
                    <a:pt x="3" y="26"/>
                    <a:pt x="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78" name="Freeform 11"/>
            <p:cNvSpPr/>
            <p:nvPr/>
          </p:nvSpPr>
          <p:spPr bwMode="auto">
            <a:xfrm>
              <a:off x="2132012" y="3328988"/>
              <a:ext cx="38100" cy="71438"/>
            </a:xfrm>
            <a:custGeom>
              <a:avLst/>
              <a:gdLst>
                <a:gd name="T0" fmla="*/ 7 w 14"/>
                <a:gd name="T1" fmla="*/ 26 h 26"/>
                <a:gd name="T2" fmla="*/ 14 w 14"/>
                <a:gd name="T3" fmla="*/ 19 h 26"/>
                <a:gd name="T4" fmla="*/ 14 w 14"/>
                <a:gd name="T5" fmla="*/ 7 h 26"/>
                <a:gd name="T6" fmla="*/ 7 w 14"/>
                <a:gd name="T7" fmla="*/ 0 h 26"/>
                <a:gd name="T8" fmla="*/ 0 w 14"/>
                <a:gd name="T9" fmla="*/ 7 h 26"/>
                <a:gd name="T10" fmla="*/ 0 w 14"/>
                <a:gd name="T11" fmla="*/ 19 h 26"/>
                <a:gd name="T12" fmla="*/ 7 w 14"/>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7" y="26"/>
                  </a:moveTo>
                  <a:cubicBezTo>
                    <a:pt x="11" y="26"/>
                    <a:pt x="14" y="23"/>
                    <a:pt x="14" y="19"/>
                  </a:cubicBezTo>
                  <a:cubicBezTo>
                    <a:pt x="14" y="7"/>
                    <a:pt x="14" y="7"/>
                    <a:pt x="14" y="7"/>
                  </a:cubicBezTo>
                  <a:cubicBezTo>
                    <a:pt x="14" y="3"/>
                    <a:pt x="11" y="0"/>
                    <a:pt x="7" y="0"/>
                  </a:cubicBezTo>
                  <a:cubicBezTo>
                    <a:pt x="3" y="0"/>
                    <a:pt x="0" y="3"/>
                    <a:pt x="0" y="7"/>
                  </a:cubicBezTo>
                  <a:cubicBezTo>
                    <a:pt x="0" y="19"/>
                    <a:pt x="0" y="19"/>
                    <a:pt x="0" y="19"/>
                  </a:cubicBezTo>
                  <a:cubicBezTo>
                    <a:pt x="0" y="23"/>
                    <a:pt x="3" y="26"/>
                    <a:pt x="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79" name="Freeform 12"/>
            <p:cNvSpPr/>
            <p:nvPr/>
          </p:nvSpPr>
          <p:spPr bwMode="auto">
            <a:xfrm>
              <a:off x="2044700" y="3328988"/>
              <a:ext cx="38100" cy="71438"/>
            </a:xfrm>
            <a:custGeom>
              <a:avLst/>
              <a:gdLst>
                <a:gd name="T0" fmla="*/ 7 w 14"/>
                <a:gd name="T1" fmla="*/ 26 h 26"/>
                <a:gd name="T2" fmla="*/ 14 w 14"/>
                <a:gd name="T3" fmla="*/ 19 h 26"/>
                <a:gd name="T4" fmla="*/ 14 w 14"/>
                <a:gd name="T5" fmla="*/ 7 h 26"/>
                <a:gd name="T6" fmla="*/ 7 w 14"/>
                <a:gd name="T7" fmla="*/ 0 h 26"/>
                <a:gd name="T8" fmla="*/ 0 w 14"/>
                <a:gd name="T9" fmla="*/ 7 h 26"/>
                <a:gd name="T10" fmla="*/ 0 w 14"/>
                <a:gd name="T11" fmla="*/ 19 h 26"/>
                <a:gd name="T12" fmla="*/ 7 w 14"/>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4" h="26">
                  <a:moveTo>
                    <a:pt x="7" y="26"/>
                  </a:moveTo>
                  <a:cubicBezTo>
                    <a:pt x="11" y="26"/>
                    <a:pt x="14" y="23"/>
                    <a:pt x="14" y="19"/>
                  </a:cubicBezTo>
                  <a:cubicBezTo>
                    <a:pt x="14" y="7"/>
                    <a:pt x="14" y="7"/>
                    <a:pt x="14" y="7"/>
                  </a:cubicBezTo>
                  <a:cubicBezTo>
                    <a:pt x="14" y="3"/>
                    <a:pt x="11" y="0"/>
                    <a:pt x="7" y="0"/>
                  </a:cubicBezTo>
                  <a:cubicBezTo>
                    <a:pt x="3" y="0"/>
                    <a:pt x="0" y="3"/>
                    <a:pt x="0" y="7"/>
                  </a:cubicBezTo>
                  <a:cubicBezTo>
                    <a:pt x="0" y="19"/>
                    <a:pt x="0" y="19"/>
                    <a:pt x="0" y="19"/>
                  </a:cubicBezTo>
                  <a:cubicBezTo>
                    <a:pt x="0" y="23"/>
                    <a:pt x="3" y="26"/>
                    <a:pt x="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sp>
          <p:nvSpPr>
            <p:cNvPr id="180" name="Freeform 13"/>
            <p:cNvSpPr/>
            <p:nvPr/>
          </p:nvSpPr>
          <p:spPr bwMode="auto">
            <a:xfrm>
              <a:off x="1952625" y="3332163"/>
              <a:ext cx="38100" cy="68263"/>
            </a:xfrm>
            <a:custGeom>
              <a:avLst/>
              <a:gdLst>
                <a:gd name="T0" fmla="*/ 7 w 14"/>
                <a:gd name="T1" fmla="*/ 25 h 25"/>
                <a:gd name="T2" fmla="*/ 14 w 14"/>
                <a:gd name="T3" fmla="*/ 18 h 25"/>
                <a:gd name="T4" fmla="*/ 14 w 14"/>
                <a:gd name="T5" fmla="*/ 7 h 25"/>
                <a:gd name="T6" fmla="*/ 7 w 14"/>
                <a:gd name="T7" fmla="*/ 0 h 25"/>
                <a:gd name="T8" fmla="*/ 0 w 14"/>
                <a:gd name="T9" fmla="*/ 7 h 25"/>
                <a:gd name="T10" fmla="*/ 0 w 14"/>
                <a:gd name="T11" fmla="*/ 18 h 25"/>
                <a:gd name="T12" fmla="*/ 7 w 1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14" h="25">
                  <a:moveTo>
                    <a:pt x="7" y="25"/>
                  </a:moveTo>
                  <a:cubicBezTo>
                    <a:pt x="11" y="25"/>
                    <a:pt x="14" y="22"/>
                    <a:pt x="14" y="18"/>
                  </a:cubicBezTo>
                  <a:cubicBezTo>
                    <a:pt x="14" y="7"/>
                    <a:pt x="14" y="7"/>
                    <a:pt x="14" y="7"/>
                  </a:cubicBezTo>
                  <a:cubicBezTo>
                    <a:pt x="14" y="3"/>
                    <a:pt x="11" y="0"/>
                    <a:pt x="7" y="0"/>
                  </a:cubicBezTo>
                  <a:cubicBezTo>
                    <a:pt x="3" y="0"/>
                    <a:pt x="0" y="3"/>
                    <a:pt x="0" y="7"/>
                  </a:cubicBezTo>
                  <a:cubicBezTo>
                    <a:pt x="0" y="18"/>
                    <a:pt x="0" y="18"/>
                    <a:pt x="0" y="18"/>
                  </a:cubicBezTo>
                  <a:cubicBezTo>
                    <a:pt x="0" y="22"/>
                    <a:pt x="3" y="25"/>
                    <a:pt x="7"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65877" tIns="82938" rIns="165877" bIns="82938" numCol="1" anchor="t" anchorCtr="0" compatLnSpc="1"/>
            <a:lstStyle/>
            <a:p>
              <a:pPr fontAlgn="base"/>
              <a:endParaRPr lang="en-US" sz="2450" strike="noStrike" noProof="1">
                <a:solidFill>
                  <a:srgbClr val="282E33"/>
                </a:solidFill>
                <a:latin typeface="微软雅黑" charset="-122"/>
                <a:ea typeface="微软雅黑" charset="-122"/>
              </a:endParaRPr>
            </a:p>
          </p:txBody>
        </p:sp>
      </p:grpSp>
      <p:grpSp>
        <p:nvGrpSpPr>
          <p:cNvPr id="15385" name="Group 88"/>
          <p:cNvGrpSpPr/>
          <p:nvPr/>
        </p:nvGrpSpPr>
        <p:grpSpPr>
          <a:xfrm>
            <a:off x="8821748" y="3302433"/>
            <a:ext cx="2056190" cy="443392"/>
            <a:chOff x="805796" y="661615"/>
            <a:chExt cx="1128113" cy="181415"/>
          </a:xfrm>
        </p:grpSpPr>
        <p:sp>
          <p:nvSpPr>
            <p:cNvPr id="15386" name="TextBox 47"/>
            <p:cNvSpPr txBox="1"/>
            <p:nvPr/>
          </p:nvSpPr>
          <p:spPr>
            <a:xfrm>
              <a:off x="1231368" y="661615"/>
              <a:ext cx="276968" cy="94312"/>
            </a:xfrm>
            <a:prstGeom prst="rect">
              <a:avLst/>
            </a:prstGeom>
            <a:noFill/>
            <a:ln w="9525">
              <a:noFill/>
            </a:ln>
          </p:spPr>
          <p:txBody>
            <a:bodyPr wrap="none" lIns="0" tIns="0" rIns="0" bIns="0" anchor="t" anchorCtr="0">
              <a:spAutoFit/>
            </a:bodyPr>
            <a:p>
              <a:pPr algn="ctr" eaLnBrk="0" hangingPunct="0"/>
              <a:r>
                <a:rPr lang="zh-CN" sz="1495" dirty="0">
                  <a:solidFill>
                    <a:srgbClr val="282E33"/>
                  </a:solidFill>
                  <a:latin typeface="微软雅黑" charset="-122"/>
                  <a:ea typeface="微软雅黑" charset="-122"/>
                </a:rPr>
                <a:t>Value</a:t>
              </a:r>
              <a:endParaRPr lang="zh-CN" sz="1495" dirty="0">
                <a:solidFill>
                  <a:srgbClr val="282E33"/>
                </a:solidFill>
                <a:latin typeface="微软雅黑" charset="-122"/>
                <a:ea typeface="微软雅黑" charset="-122"/>
              </a:endParaRPr>
            </a:p>
          </p:txBody>
        </p:sp>
        <p:sp>
          <p:nvSpPr>
            <p:cNvPr id="15387" name="TextBox 48"/>
            <p:cNvSpPr txBox="1"/>
            <p:nvPr/>
          </p:nvSpPr>
          <p:spPr>
            <a:xfrm>
              <a:off x="805796" y="757552"/>
              <a:ext cx="1128113" cy="85478"/>
            </a:xfrm>
            <a:prstGeom prst="rect">
              <a:avLst/>
            </a:prstGeom>
            <a:noFill/>
            <a:ln w="9525">
              <a:noFill/>
            </a:ln>
          </p:spPr>
          <p:txBody>
            <a:bodyPr wrap="square" lIns="0" tIns="0" rIns="0" bIns="0" anchor="t" anchorCtr="0">
              <a:spAutoFit/>
            </a:bodyPr>
            <a:p>
              <a:pPr algn="ctr" defTabSz="898525" eaLnBrk="0" hangingPunct="0">
                <a:spcBef>
                  <a:spcPct val="20000"/>
                </a:spcBef>
              </a:pPr>
              <a:r>
                <a:rPr lang="zh-CN" altLang="en-US" sz="1360" dirty="0">
                  <a:solidFill>
                    <a:srgbClr val="282E33"/>
                  </a:solidFill>
                  <a:latin typeface="微软雅黑" charset="-122"/>
                  <a:ea typeface="微软雅黑" charset="-122"/>
                </a:rPr>
                <a:t>高价值和低价值密度</a:t>
              </a:r>
              <a:endParaRPr lang="zh-CN" altLang="en-US" sz="1360" dirty="0">
                <a:solidFill>
                  <a:srgbClr val="282E33"/>
                </a:solidFill>
                <a:latin typeface="微软雅黑" charset="-122"/>
                <a:ea typeface="微软雅黑" charset="-122"/>
              </a:endParaRPr>
            </a:p>
          </p:txBody>
        </p:sp>
      </p:grpSp>
      <p:sp>
        <p:nvSpPr>
          <p:cNvPr id="15388" name="TextBox 49"/>
          <p:cNvSpPr txBox="1"/>
          <p:nvPr/>
        </p:nvSpPr>
        <p:spPr>
          <a:xfrm>
            <a:off x="8821748" y="4997925"/>
            <a:ext cx="2056190" cy="835660"/>
          </a:xfrm>
          <a:prstGeom prst="rect">
            <a:avLst/>
          </a:prstGeom>
          <a:noFill/>
          <a:ln w="9525">
            <a:noFill/>
          </a:ln>
        </p:spPr>
        <p:txBody>
          <a:bodyPr wrap="square" lIns="0" tIns="0" rIns="0" bIns="0" anchor="t" anchorCtr="0">
            <a:spAutoFit/>
          </a:bodyPr>
          <a:p>
            <a:pPr algn="ctr" defTabSz="898525" eaLnBrk="0" hangingPunct="0">
              <a:spcBef>
                <a:spcPct val="20000"/>
              </a:spcBef>
            </a:pPr>
            <a:r>
              <a:rPr lang="zh-CN" altLang="en-US" sz="1360" dirty="0">
                <a:solidFill>
                  <a:srgbClr val="282E33"/>
                </a:solidFill>
                <a:latin typeface="微软雅黑" charset="-122"/>
                <a:ea typeface="微软雅黑" charset="-122"/>
              </a:rPr>
              <a:t>数据体量不断增大，单位数据的价值密度不断降低，而数据的整体价值在不断升高。</a:t>
            </a:r>
            <a:endParaRPr lang="zh-CN" altLang="en-US" sz="1360" dirty="0">
              <a:solidFill>
                <a:srgbClr val="282E33"/>
              </a:solidFill>
              <a:latin typeface="微软雅黑" charset="-122"/>
              <a:ea typeface="微软雅黑"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9448800" y="6356350"/>
            <a:ext cx="2743200" cy="365125"/>
          </a:xfrm>
        </p:spPr>
        <p:txBody>
          <a:bodyPr>
            <a:normAutofit/>
          </a:bodyPr>
          <a:lstStyle/>
          <a:p>
            <a:pPr>
              <a:defRPr/>
            </a:pPr>
            <a:fld id="{EDF6D5B5-8D9E-49FA-BBF9-84C7AEADB755}" type="slidenum">
              <a:rPr lang="zh-CN" altLang="en-US" sz="1600" smtClean="0"/>
            </a:fld>
            <a:endParaRPr lang="zh-CN" altLang="en-US" sz="1600"/>
          </a:p>
        </p:txBody>
      </p:sp>
      <p:pic>
        <p:nvPicPr>
          <p:cNvPr id="3075" name="Picture 3" descr="F:\大数据书配资源\PPT\20210406-5d5ffaddcf87b7dc.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03712" y="1555500"/>
            <a:ext cx="7574501" cy="516160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239349" y="2756925"/>
            <a:ext cx="2926080" cy="460375"/>
          </a:xfrm>
          <a:prstGeom prst="rect">
            <a:avLst/>
          </a:prstGeom>
        </p:spPr>
        <p:txBody>
          <a:bodyPr wrap="none">
            <a:spAutoFit/>
          </a:bodyPr>
          <a:lstStyle/>
          <a:p>
            <a:r>
              <a:rPr lang="zh-CN" altLang="zh-CN" sz="2400" dirty="0">
                <a:solidFill>
                  <a:srgbClr val="204184"/>
                </a:solidFill>
                <a:latin typeface="微软雅黑" charset="-122"/>
                <a:ea typeface="微软雅黑" charset="-122"/>
              </a:rPr>
              <a:t>数据呈现爆发性增长</a:t>
            </a:r>
            <a:endParaRPr lang="zh-CN" altLang="en-US" sz="2400" dirty="0">
              <a:solidFill>
                <a:srgbClr val="204184"/>
              </a:solidFill>
              <a:latin typeface="微软雅黑" charset="-122"/>
              <a:ea typeface="微软雅黑" charset="-122"/>
            </a:endParaRPr>
          </a:p>
        </p:txBody>
      </p:sp>
      <p:sp>
        <p:nvSpPr>
          <p:cNvPr id="3" name="标题 2"/>
          <p:cNvSpPr/>
          <p:nvPr>
            <p:ph type="title"/>
          </p:nvPr>
        </p:nvSpPr>
        <p:spPr>
          <a:xfrm>
            <a:off x="1091255" y="237847"/>
            <a:ext cx="8168208" cy="790909"/>
          </a:xfrm>
        </p:spPr>
        <p:txBody>
          <a:bodyPr>
            <a:normAutofit/>
          </a:bodyPr>
          <a:p>
            <a:r>
              <a:rPr lang="zh-CN" altLang="en-US">
                <a:sym typeface="+mn-ea"/>
              </a:rPr>
              <a:t>大数据的特征——巨</a:t>
            </a:r>
            <a:r>
              <a:rPr lang="zh-CN" altLang="en-US">
                <a:sym typeface="+mn-ea"/>
              </a:rPr>
              <a:t>量性</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p14:dur="500">
        <p:wipe dir="r"/>
      </p:transition>
    </mc:Choice>
    <mc:Fallback>
      <p:transition>
        <p:wipe dir="r"/>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9448800" y="6356350"/>
            <a:ext cx="2743200" cy="365125"/>
          </a:xfrm>
        </p:spPr>
        <p:txBody>
          <a:bodyPr>
            <a:normAutofit/>
          </a:bodyPr>
          <a:lstStyle/>
          <a:p>
            <a:pPr>
              <a:defRPr/>
            </a:pPr>
            <a:fld id="{EDF6D5B5-8D9E-49FA-BBF9-84C7AEADB755}" type="slidenum">
              <a:rPr lang="zh-CN" altLang="en-US" sz="1600" smtClean="0"/>
            </a:fld>
            <a:endParaRPr lang="zh-CN" altLang="en-US" sz="1600"/>
          </a:p>
        </p:txBody>
      </p:sp>
      <p:pic>
        <p:nvPicPr>
          <p:cNvPr id="1026" name="Picture 2" descr="F:\大数据书配资源\PPT\高速性.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87755" y="2268240"/>
            <a:ext cx="7855825" cy="3849059"/>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527380" y="2197893"/>
            <a:ext cx="2316480" cy="460375"/>
          </a:xfrm>
          <a:prstGeom prst="rect">
            <a:avLst/>
          </a:prstGeom>
        </p:spPr>
        <p:txBody>
          <a:bodyPr wrap="none">
            <a:spAutoFit/>
          </a:bodyPr>
          <a:lstStyle/>
          <a:p>
            <a:r>
              <a:rPr lang="zh-CN" altLang="en-US" sz="2400" dirty="0">
                <a:solidFill>
                  <a:srgbClr val="204184"/>
                </a:solidFill>
                <a:latin typeface="微软雅黑" charset="-122"/>
                <a:ea typeface="微软雅黑" charset="-122"/>
              </a:rPr>
              <a:t>数据产生速度快</a:t>
            </a:r>
            <a:endParaRPr lang="zh-CN" altLang="en-US" sz="2400" dirty="0">
              <a:solidFill>
                <a:srgbClr val="204184"/>
              </a:solidFill>
              <a:latin typeface="微软雅黑" charset="-122"/>
              <a:ea typeface="微软雅黑" charset="-122"/>
            </a:endParaRPr>
          </a:p>
        </p:txBody>
      </p:sp>
      <p:sp>
        <p:nvSpPr>
          <p:cNvPr id="3" name="TextBox 2"/>
          <p:cNvSpPr txBox="1"/>
          <p:nvPr/>
        </p:nvSpPr>
        <p:spPr>
          <a:xfrm>
            <a:off x="6288021" y="2197893"/>
            <a:ext cx="2320925" cy="460375"/>
          </a:xfrm>
          <a:prstGeom prst="rect">
            <a:avLst/>
          </a:prstGeom>
          <a:noFill/>
        </p:spPr>
        <p:txBody>
          <a:bodyPr wrap="none" rtlCol="0">
            <a:spAutoFit/>
          </a:bodyPr>
          <a:lstStyle/>
          <a:p>
            <a:r>
              <a:rPr lang="zh-CN" altLang="en-US" sz="2400" b="1" dirty="0">
                <a:latin typeface="微软雅黑" charset="-122"/>
                <a:ea typeface="微软雅黑" charset="-122"/>
              </a:rPr>
              <a:t>微信、抖音</a:t>
            </a:r>
            <a:r>
              <a:rPr lang="en-US" altLang="zh-CN" sz="2400" b="1" dirty="0">
                <a:latin typeface="微软雅黑" charset="-122"/>
                <a:ea typeface="微软雅黑" charset="-122"/>
              </a:rPr>
              <a:t>……</a:t>
            </a:r>
            <a:endParaRPr lang="zh-CN" altLang="en-US" sz="2400" b="1" dirty="0">
              <a:latin typeface="微软雅黑" charset="-122"/>
              <a:ea typeface="微软雅黑" charset="-122"/>
            </a:endParaRPr>
          </a:p>
        </p:txBody>
      </p:sp>
      <p:sp>
        <p:nvSpPr>
          <p:cNvPr id="7" name="TextBox 6"/>
          <p:cNvSpPr txBox="1"/>
          <p:nvPr/>
        </p:nvSpPr>
        <p:spPr>
          <a:xfrm>
            <a:off x="6892887" y="5669116"/>
            <a:ext cx="1099185" cy="460375"/>
          </a:xfrm>
          <a:prstGeom prst="rect">
            <a:avLst/>
          </a:prstGeom>
          <a:noFill/>
        </p:spPr>
        <p:txBody>
          <a:bodyPr wrap="none" rtlCol="0">
            <a:spAutoFit/>
          </a:bodyPr>
          <a:lstStyle/>
          <a:p>
            <a:r>
              <a:rPr lang="zh-CN" altLang="en-US" sz="2400" b="1" dirty="0">
                <a:latin typeface="微软雅黑" charset="-122"/>
                <a:ea typeface="微软雅黑" charset="-122"/>
              </a:rPr>
              <a:t>传感器</a:t>
            </a:r>
            <a:endParaRPr lang="zh-CN" altLang="en-US" sz="2400" b="1" dirty="0">
              <a:latin typeface="微软雅黑" charset="-122"/>
              <a:ea typeface="微软雅黑" charset="-122"/>
            </a:endParaRPr>
          </a:p>
        </p:txBody>
      </p:sp>
      <p:cxnSp>
        <p:nvCxnSpPr>
          <p:cNvPr id="8" name="直接箭头连接符 7"/>
          <p:cNvCxnSpPr/>
          <p:nvPr/>
        </p:nvCxnSpPr>
        <p:spPr>
          <a:xfrm>
            <a:off x="7056107" y="2690336"/>
            <a:ext cx="288032" cy="2462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7632171" y="5253203"/>
            <a:ext cx="0" cy="4159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标题 8"/>
          <p:cNvSpPr/>
          <p:nvPr>
            <p:ph type="title"/>
          </p:nvPr>
        </p:nvSpPr>
        <p:spPr>
          <a:xfrm>
            <a:off x="1091255" y="237847"/>
            <a:ext cx="8168208" cy="790909"/>
          </a:xfrm>
        </p:spPr>
        <p:txBody>
          <a:bodyPr>
            <a:normAutofit/>
          </a:bodyPr>
          <a:p>
            <a:r>
              <a:rPr lang="zh-CN" altLang="en-US">
                <a:sym typeface="+mn-ea"/>
              </a:rPr>
              <a:t>大数据的特征——即</a:t>
            </a:r>
            <a:r>
              <a:rPr lang="zh-CN" altLang="en-US">
                <a:sym typeface="+mn-ea"/>
              </a:rPr>
              <a:t>时性</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p14:dur="500">
        <p:wipe dir="r"/>
      </p:transition>
    </mc:Choice>
    <mc:Fallback>
      <p:transition>
        <p:wipe dir="r"/>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9448800" y="6356350"/>
            <a:ext cx="2743200" cy="365125"/>
          </a:xfrm>
        </p:spPr>
        <p:txBody>
          <a:bodyPr>
            <a:normAutofit/>
          </a:bodyPr>
          <a:lstStyle/>
          <a:p>
            <a:pPr>
              <a:defRPr/>
            </a:pPr>
            <a:fld id="{EDF6D5B5-8D9E-49FA-BBF9-84C7AEADB755}" type="slidenum">
              <a:rPr lang="zh-CN" altLang="en-US" sz="1600" smtClean="0"/>
            </a:fld>
            <a:endParaRPr lang="zh-CN" altLang="en-US" sz="1600"/>
          </a:p>
        </p:txBody>
      </p:sp>
      <p:pic>
        <p:nvPicPr>
          <p:cNvPr id="2050" name="Picture 2" descr="F:\大数据书配资源\PPT\多样性.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75520" y="1700808"/>
            <a:ext cx="9208615" cy="4704523"/>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2"/>
          <p:cNvSpPr/>
          <p:nvPr>
            <p:ph type="title"/>
          </p:nvPr>
        </p:nvSpPr>
        <p:spPr/>
        <p:txBody>
          <a:bodyPr>
            <a:normAutofit/>
          </a:bodyPr>
          <a:p>
            <a:r>
              <a:rPr lang="zh-CN" altLang="en-US">
                <a:sym typeface="+mn-ea"/>
              </a:rPr>
              <a:t>大数据的特征——多样</a:t>
            </a:r>
            <a:r>
              <a:rPr lang="zh-CN" altLang="en-US">
                <a:sym typeface="+mn-ea"/>
              </a:rPr>
              <a:t>性</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p14:dur="500">
        <p:wipe dir="r"/>
      </p:transition>
    </mc:Choice>
    <mc:Fallback>
      <p:transition>
        <p:wipe dir="r"/>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9448800" y="6356350"/>
            <a:ext cx="2743200" cy="365125"/>
          </a:xfrm>
        </p:spPr>
        <p:txBody>
          <a:bodyPr>
            <a:normAutofit/>
          </a:bodyPr>
          <a:lstStyle/>
          <a:p>
            <a:pPr>
              <a:defRPr/>
            </a:pPr>
            <a:fld id="{EDF6D5B5-8D9E-49FA-BBF9-84C7AEADB755}" type="slidenum">
              <a:rPr lang="zh-CN" altLang="en-US" sz="1600" smtClean="0"/>
            </a:fld>
            <a:endParaRPr lang="zh-CN" altLang="en-US" sz="1600"/>
          </a:p>
        </p:txBody>
      </p:sp>
      <p:sp>
        <p:nvSpPr>
          <p:cNvPr id="2" name="矩形 1"/>
          <p:cNvSpPr/>
          <p:nvPr/>
        </p:nvSpPr>
        <p:spPr>
          <a:xfrm>
            <a:off x="775879" y="1906548"/>
            <a:ext cx="4620616" cy="3046095"/>
          </a:xfrm>
          <a:prstGeom prst="rect">
            <a:avLst/>
          </a:prstGeom>
        </p:spPr>
        <p:txBody>
          <a:bodyPr wrap="square">
            <a:spAutoFit/>
          </a:bodyPr>
          <a:lstStyle/>
          <a:p>
            <a:r>
              <a:rPr lang="zh-CN" altLang="zh-CN" sz="2400" dirty="0">
                <a:latin typeface="微软雅黑" charset="-122"/>
                <a:ea typeface="微软雅黑" charset="-122"/>
              </a:rPr>
              <a:t>数据背后隐藏有巨大价值，可以通过数据挖掘、机器学习等方法深度分析，从各种各样看似不相关的数据中挖掘出有价值的数据，从而创造更大的价值。价值性比数量规模更为重要。对于很多行业而言，如何利用这些大规模数据是成为赢得竞争的关键。</a:t>
            </a:r>
            <a:endParaRPr lang="zh-CN" altLang="zh-CN" sz="2400" dirty="0">
              <a:latin typeface="微软雅黑" charset="-122"/>
              <a:ea typeface="微软雅黑" charset="-122"/>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97235" y="1508403"/>
            <a:ext cx="6324600" cy="436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标题 2"/>
          <p:cNvSpPr/>
          <p:nvPr>
            <p:ph type="title"/>
          </p:nvPr>
        </p:nvSpPr>
        <p:spPr/>
        <p:txBody>
          <a:bodyPr>
            <a:normAutofit/>
          </a:bodyPr>
          <a:p>
            <a:r>
              <a:rPr lang="zh-CN" altLang="en-US">
                <a:sym typeface="+mn-ea"/>
              </a:rPr>
              <a:t>大数据的特征——价值性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wipe dir="r"/>
      </p:transition>
    </mc:Choice>
    <mc:Fallback>
      <p:transition>
        <p:wipe dir="r"/>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sym typeface="+mn-ea"/>
              </a:rPr>
              <a:t>大数据的特征</a:t>
            </a:r>
            <a:r>
              <a:rPr lang="zh-CN" altLang="en-US">
                <a:sym typeface="+mn-ea"/>
              </a:rPr>
              <a:t>——</a:t>
            </a:r>
            <a:r>
              <a:rPr lang="zh-CN" altLang="en-US">
                <a:sym typeface="+mn-ea"/>
              </a:rPr>
              <a:t>价值性</a:t>
            </a:r>
            <a:endParaRPr lang="zh-CN" altLang="en-US">
              <a:sym typeface="+mn-ea"/>
            </a:endParaRPr>
          </a:p>
        </p:txBody>
      </p:sp>
      <p:sp>
        <p:nvSpPr>
          <p:cNvPr id="19459" name="文本框 2"/>
          <p:cNvSpPr txBox="1"/>
          <p:nvPr/>
        </p:nvSpPr>
        <p:spPr>
          <a:xfrm>
            <a:off x="467395" y="1015136"/>
            <a:ext cx="11149218" cy="845185"/>
          </a:xfrm>
          <a:prstGeom prst="rect">
            <a:avLst/>
          </a:prstGeom>
          <a:noFill/>
          <a:ln w="9525">
            <a:noFill/>
          </a:ln>
        </p:spPr>
        <p:txBody>
          <a:bodyPr wrap="square" anchor="t" anchorCtr="0">
            <a:spAutoFit/>
          </a:bodyPr>
          <a:p>
            <a:pPr eaLnBrk="0" hangingPunct="0"/>
            <a:r>
              <a:rPr lang="en-US" altLang="zh-CN" sz="2450">
                <a:latin typeface="Calibri" charset="0"/>
                <a:ea typeface="宋体" pitchFamily="2" charset="-122"/>
              </a:rPr>
              <a:t>         </a:t>
            </a:r>
            <a:r>
              <a:rPr lang="zh-CN" altLang="en-US" sz="2450">
                <a:latin typeface="Calibri" charset="0"/>
                <a:ea typeface="宋体" pitchFamily="2" charset="-122"/>
              </a:rPr>
              <a:t>大数据的目的是：挖掘和整合一切有用的信息，为人类社会提供更好的服务。</a:t>
            </a:r>
            <a:endParaRPr lang="zh-CN" altLang="en-US" sz="2450">
              <a:latin typeface="Calibri" charset="0"/>
              <a:ea typeface="宋体" pitchFamily="2" charset="-122"/>
            </a:endParaRPr>
          </a:p>
        </p:txBody>
      </p:sp>
      <p:pic>
        <p:nvPicPr>
          <p:cNvPr id="4" name="图片 3"/>
          <p:cNvPicPr>
            <a:picLocks noChangeAspect="1"/>
          </p:cNvPicPr>
          <p:nvPr/>
        </p:nvPicPr>
        <p:blipFill>
          <a:blip r:embed="rId1"/>
          <a:stretch>
            <a:fillRect/>
          </a:stretch>
        </p:blipFill>
        <p:spPr>
          <a:xfrm>
            <a:off x="959710" y="1524479"/>
            <a:ext cx="2933095" cy="5285188"/>
          </a:xfrm>
          <a:prstGeom prst="rect">
            <a:avLst/>
          </a:prstGeom>
          <a:noFill/>
          <a:ln w="9525">
            <a:noFill/>
          </a:ln>
        </p:spPr>
      </p:pic>
      <p:pic>
        <p:nvPicPr>
          <p:cNvPr id="6" name="图片 5"/>
          <p:cNvPicPr>
            <a:picLocks noChangeAspect="1"/>
          </p:cNvPicPr>
          <p:nvPr/>
        </p:nvPicPr>
        <p:blipFill>
          <a:blip r:embed="rId2"/>
          <a:stretch>
            <a:fillRect/>
          </a:stretch>
        </p:blipFill>
        <p:spPr>
          <a:xfrm>
            <a:off x="7387599" y="2779746"/>
            <a:ext cx="4518435" cy="3056207"/>
          </a:xfrm>
          <a:prstGeom prst="rect">
            <a:avLst/>
          </a:prstGeom>
          <a:noFill/>
          <a:ln w="9525">
            <a:noFill/>
          </a:ln>
        </p:spPr>
      </p:pic>
      <p:pic>
        <p:nvPicPr>
          <p:cNvPr id="3" name="图片 2"/>
          <p:cNvPicPr/>
          <p:nvPr/>
        </p:nvPicPr>
        <p:blipFill>
          <a:blip r:embed="rId3"/>
          <a:stretch>
            <a:fillRect/>
          </a:stretch>
        </p:blipFill>
        <p:spPr>
          <a:xfrm>
            <a:off x="4321810" y="1692910"/>
            <a:ext cx="2767965" cy="511683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noChangeArrowheads="1"/>
          </p:cNvSpPr>
          <p:nvPr>
            <p:ph type="title"/>
          </p:nvPr>
        </p:nvSpPr>
        <p:spPr/>
        <p:txBody>
          <a:bodyPr/>
          <a:lstStyle/>
          <a:p>
            <a:r>
              <a:rPr lang="en-US" altLang="zh-CN" sz="4400" dirty="0">
                <a:effectLst>
                  <a:outerShdw blurRad="38100" dist="38100" dir="2700000" algn="tl">
                    <a:srgbClr val="C0C0C0"/>
                  </a:outerShdw>
                </a:effectLst>
              </a:rPr>
              <a:t>2. 大数据开发与应用的战略意义</a:t>
            </a:r>
            <a:endParaRPr lang="en-US" altLang="zh-CN" sz="4400" dirty="0">
              <a:effectLst>
                <a:outerShdw blurRad="38100" dist="38100" dir="2700000" algn="tl">
                  <a:srgbClr val="C0C0C0"/>
                </a:outerShdw>
              </a:effectLst>
            </a:endParaRPr>
          </a:p>
        </p:txBody>
      </p:sp>
      <p:sp>
        <p:nvSpPr>
          <p:cNvPr id="6147" name="矩形 2"/>
          <p:cNvSpPr>
            <a:spLocks noChangeArrowheads="1"/>
          </p:cNvSpPr>
          <p:nvPr/>
        </p:nvSpPr>
        <p:spPr bwMode="auto">
          <a:xfrm>
            <a:off x="1395730" y="1756410"/>
            <a:ext cx="9086850" cy="398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342900" indent="-342900">
              <a:lnSpc>
                <a:spcPct val="150000"/>
              </a:lnSpc>
              <a:buClr>
                <a:srgbClr val="2D2DB9"/>
              </a:buClr>
              <a:buFont typeface="Wingdings" panose="05000000000000000000" charset="0"/>
              <a:buChar char="Ø"/>
            </a:pPr>
            <a:r>
              <a:rPr lang="zh-CN" altLang="en-US" sz="2000" i="0" dirty="0">
                <a:solidFill>
                  <a:srgbClr val="333333"/>
                </a:solidFill>
                <a:effectLst/>
                <a:latin typeface="宋体" pitchFamily="2" charset="-122"/>
                <a:ea typeface="宋体" pitchFamily="2" charset="-122"/>
              </a:rPr>
              <a:t>当前，数据已成为重要的生产要素，大数据产业作为以</a:t>
            </a:r>
            <a:r>
              <a:rPr lang="zh-CN" altLang="en-US" sz="2000" i="0" dirty="0">
                <a:effectLst/>
                <a:latin typeface="宋体" pitchFamily="2" charset="-122"/>
                <a:ea typeface="宋体" pitchFamily="2" charset="-122"/>
              </a:rPr>
              <a:t>数据生成、采集、存储、加工、分析、服务</a:t>
            </a:r>
            <a:r>
              <a:rPr lang="zh-CN" altLang="en-US" sz="2000" i="0" dirty="0">
                <a:solidFill>
                  <a:srgbClr val="333333"/>
                </a:solidFill>
                <a:effectLst/>
                <a:latin typeface="宋体" pitchFamily="2" charset="-122"/>
                <a:ea typeface="宋体" pitchFamily="2" charset="-122"/>
              </a:rPr>
              <a:t>为主的战略性新兴产业，是激活数据要素潜能的关键支撑，是加快经济社会发展质量变革、效率变革、动力变革的</a:t>
            </a:r>
            <a:r>
              <a:rPr lang="zh-CN" altLang="en-US" sz="2000" i="0" dirty="0">
                <a:solidFill>
                  <a:srgbClr val="FF0000"/>
                </a:solidFill>
                <a:effectLst/>
                <a:latin typeface="宋体" pitchFamily="2" charset="-122"/>
                <a:ea typeface="宋体" pitchFamily="2" charset="-122"/>
              </a:rPr>
              <a:t>重要引擎</a:t>
            </a:r>
            <a:r>
              <a:rPr lang="zh-CN" altLang="en-US" sz="2000" i="0" dirty="0">
                <a:solidFill>
                  <a:srgbClr val="333333"/>
                </a:solidFill>
                <a:effectLst/>
                <a:latin typeface="宋体" pitchFamily="2" charset="-122"/>
                <a:ea typeface="宋体" pitchFamily="2" charset="-122"/>
              </a:rPr>
              <a:t>。</a:t>
            </a:r>
            <a:endParaRPr lang="zh-CN" altLang="en-US" sz="2000" i="0" dirty="0">
              <a:solidFill>
                <a:srgbClr val="333333"/>
              </a:solidFill>
              <a:effectLst/>
              <a:latin typeface="宋体" pitchFamily="2" charset="-122"/>
              <a:ea typeface="宋体" pitchFamily="2" charset="-122"/>
            </a:endParaRPr>
          </a:p>
          <a:p>
            <a:pPr marL="342900" indent="-342900">
              <a:lnSpc>
                <a:spcPct val="150000"/>
              </a:lnSpc>
              <a:buClr>
                <a:srgbClr val="2D2DB9"/>
              </a:buClr>
              <a:buFont typeface="Wingdings" panose="05000000000000000000" charset="0"/>
              <a:buChar char="Ø"/>
            </a:pPr>
            <a:endParaRPr lang="zh-CN" altLang="en-US" sz="2000" i="0" dirty="0">
              <a:solidFill>
                <a:srgbClr val="333333"/>
              </a:solidFill>
              <a:effectLst/>
              <a:latin typeface="宋体" pitchFamily="2" charset="-122"/>
              <a:ea typeface="宋体" pitchFamily="2" charset="-122"/>
            </a:endParaRPr>
          </a:p>
          <a:p>
            <a:pPr marL="342900" indent="-342900">
              <a:lnSpc>
                <a:spcPct val="150000"/>
              </a:lnSpc>
              <a:buClr>
                <a:srgbClr val="2D2DB9"/>
              </a:buClr>
              <a:buFont typeface="Wingdings" panose="05000000000000000000" charset="0"/>
              <a:buChar char="Ø"/>
            </a:pPr>
            <a:r>
              <a:rPr lang="zh-CN" altLang="en-US" sz="2000" i="0" dirty="0">
                <a:solidFill>
                  <a:srgbClr val="333333"/>
                </a:solidFill>
                <a:effectLst/>
                <a:latin typeface="宋体" pitchFamily="2" charset="-122"/>
                <a:ea typeface="宋体" pitchFamily="2" charset="-122"/>
              </a:rPr>
              <a:t>面对世界百年未有之大变局和新一轮科技革命和产业变革深入发展的机遇期，世界各国纷纷出台大数据战略，开启</a:t>
            </a:r>
            <a:r>
              <a:rPr lang="zh-CN" altLang="en-US" sz="2000" i="0" dirty="0">
                <a:solidFill>
                  <a:srgbClr val="FF0000"/>
                </a:solidFill>
                <a:effectLst/>
                <a:latin typeface="宋体" pitchFamily="2" charset="-122"/>
                <a:ea typeface="宋体" pitchFamily="2" charset="-122"/>
              </a:rPr>
              <a:t>大数据产业创新发展新赛道</a:t>
            </a:r>
            <a:r>
              <a:rPr lang="zh-CN" altLang="en-US" sz="2000" i="0" dirty="0">
                <a:solidFill>
                  <a:srgbClr val="333333"/>
                </a:solidFill>
                <a:effectLst/>
                <a:latin typeface="宋体" pitchFamily="2" charset="-122"/>
                <a:ea typeface="宋体" pitchFamily="2" charset="-122"/>
              </a:rPr>
              <a:t>，聚力</a:t>
            </a:r>
            <a:r>
              <a:rPr lang="zh-CN" altLang="en-US" sz="2000" dirty="0">
                <a:solidFill>
                  <a:srgbClr val="FF0000"/>
                </a:solidFill>
                <a:latin typeface="宋体" pitchFamily="2" charset="-122"/>
                <a:ea typeface="宋体" pitchFamily="2" charset="-122"/>
              </a:rPr>
              <a:t>数据要素多重价值挖掘</a:t>
            </a:r>
            <a:r>
              <a:rPr lang="zh-CN" altLang="en-US" sz="2000" i="0" dirty="0">
                <a:solidFill>
                  <a:srgbClr val="333333"/>
                </a:solidFill>
                <a:effectLst/>
                <a:latin typeface="宋体" pitchFamily="2" charset="-122"/>
                <a:ea typeface="宋体" pitchFamily="2" charset="-122"/>
              </a:rPr>
              <a:t>，抢占</a:t>
            </a:r>
            <a:r>
              <a:rPr lang="zh-CN" altLang="en-US" sz="2000" dirty="0">
                <a:solidFill>
                  <a:srgbClr val="FF0000"/>
                </a:solidFill>
                <a:latin typeface="宋体" pitchFamily="2" charset="-122"/>
                <a:ea typeface="宋体" pitchFamily="2" charset="-122"/>
              </a:rPr>
              <a:t>大数据产业发展制高点</a:t>
            </a:r>
            <a:r>
              <a:rPr lang="zh-CN" altLang="en-US" sz="2000" i="0" dirty="0">
                <a:solidFill>
                  <a:srgbClr val="333333"/>
                </a:solidFill>
                <a:effectLst/>
                <a:latin typeface="宋体" pitchFamily="2" charset="-122"/>
                <a:ea typeface="宋体" pitchFamily="2" charset="-122"/>
              </a:rPr>
              <a:t>。</a:t>
            </a:r>
            <a:endParaRPr lang="zh-CN" altLang="zh-CN" sz="2000" dirty="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hlinkClick r:id="rId1" action="ppaction://hlinkfile"/>
          </p:cNvPr>
          <p:cNvPicPr>
            <a:picLocks noChangeAspect="1"/>
          </p:cNvPicPr>
          <p:nvPr/>
        </p:nvPicPr>
        <p:blipFill>
          <a:blip r:embed="rId2"/>
          <a:stretch>
            <a:fillRect/>
          </a:stretch>
        </p:blipFill>
        <p:spPr>
          <a:xfrm>
            <a:off x="1838325" y="1033145"/>
            <a:ext cx="8515350" cy="47910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矩形 2"/>
          <p:cNvSpPr>
            <a:spLocks noChangeArrowheads="1"/>
          </p:cNvSpPr>
          <p:nvPr/>
        </p:nvSpPr>
        <p:spPr bwMode="auto">
          <a:xfrm>
            <a:off x="1728788" y="1349693"/>
            <a:ext cx="8734425" cy="5195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285750" indent="-285750">
              <a:lnSpc>
                <a:spcPct val="110000"/>
              </a:lnSpc>
              <a:spcBef>
                <a:spcPts val="600"/>
              </a:spcBef>
              <a:buClr>
                <a:srgbClr val="2D2DB9"/>
              </a:buClr>
              <a:buFont typeface="Wingdings" panose="05000000000000000000" charset="0"/>
              <a:buChar char="Ø"/>
            </a:pPr>
            <a:r>
              <a:rPr lang="zh-CN" altLang="en-US" sz="1800" b="1" dirty="0">
                <a:solidFill>
                  <a:srgbClr val="FF0000"/>
                </a:solidFill>
                <a:latin typeface="宋体" pitchFamily="2" charset="-122"/>
                <a:ea typeface="宋体" pitchFamily="2" charset="-122"/>
                <a:cs typeface="宋体" pitchFamily="2" charset="-122"/>
              </a:rPr>
              <a:t>原材料行业大数据。</a:t>
            </a:r>
            <a:r>
              <a:rPr lang="zh-CN" altLang="en-US" sz="1800" dirty="0">
                <a:latin typeface="宋体" pitchFamily="2" charset="-122"/>
                <a:ea typeface="宋体" pitchFamily="2" charset="-122"/>
                <a:cs typeface="宋体" pitchFamily="2" charset="-122"/>
              </a:rPr>
              <a:t>支持钢铁、石油、管网、危险化学品、有色、建材等原材料企业综合运用设备物联、生产经营和外部环境等数据，建立分析模型，提升资源勘探、开采、加工、储存、运输等全流程智能化、精准化水平，实现工艺优化、节能减排和安全生产。</a:t>
            </a:r>
            <a:endParaRPr lang="en-US" altLang="zh-CN" sz="1800" dirty="0">
              <a:latin typeface="宋体" pitchFamily="2" charset="-122"/>
              <a:ea typeface="宋体" pitchFamily="2" charset="-122"/>
              <a:cs typeface="宋体" pitchFamily="2" charset="-122"/>
            </a:endParaRPr>
          </a:p>
          <a:p>
            <a:pPr marL="285750" indent="-285750">
              <a:lnSpc>
                <a:spcPct val="110000"/>
              </a:lnSpc>
              <a:spcBef>
                <a:spcPts val="600"/>
              </a:spcBef>
              <a:buClr>
                <a:srgbClr val="2D2DB9"/>
              </a:buClr>
              <a:buFont typeface="Wingdings" panose="05000000000000000000" charset="0"/>
              <a:buChar char="Ø"/>
            </a:pPr>
            <a:r>
              <a:rPr lang="zh-CN" altLang="en-US" sz="1800" b="1" dirty="0">
                <a:solidFill>
                  <a:srgbClr val="FF0000"/>
                </a:solidFill>
                <a:latin typeface="宋体" pitchFamily="2" charset="-122"/>
                <a:ea typeface="宋体" pitchFamily="2" charset="-122"/>
                <a:cs typeface="宋体" pitchFamily="2" charset="-122"/>
              </a:rPr>
              <a:t>装备制造行业大数据。</a:t>
            </a:r>
            <a:r>
              <a:rPr lang="zh-CN" altLang="en-US" sz="1800" dirty="0">
                <a:latin typeface="宋体" pitchFamily="2" charset="-122"/>
                <a:ea typeface="宋体" pitchFamily="2" charset="-122"/>
                <a:cs typeface="宋体" pitchFamily="2" charset="-122"/>
              </a:rPr>
              <a:t>支持装备制造企业打通研发、采购、制造、管理、售后等全价值链数据流，发展数据驱动的产品研发、仿真优化、智能生产、预测性维护、精准管理、远程运维等新模式新业态，提升产品质量，降低生产成本，加快服务化创新升级。 </a:t>
            </a:r>
            <a:endParaRPr lang="en-US" altLang="zh-CN" sz="1800" dirty="0">
              <a:latin typeface="宋体" pitchFamily="2" charset="-122"/>
              <a:ea typeface="宋体" pitchFamily="2" charset="-122"/>
              <a:cs typeface="宋体" pitchFamily="2" charset="-122"/>
            </a:endParaRPr>
          </a:p>
          <a:p>
            <a:pPr marL="285750" indent="-285750">
              <a:lnSpc>
                <a:spcPct val="110000"/>
              </a:lnSpc>
              <a:spcBef>
                <a:spcPts val="600"/>
              </a:spcBef>
              <a:buClr>
                <a:srgbClr val="2D2DB9"/>
              </a:buClr>
              <a:buFont typeface="Wingdings" panose="05000000000000000000" charset="0"/>
              <a:buChar char="Ø"/>
            </a:pPr>
            <a:r>
              <a:rPr lang="zh-CN" altLang="en-US" sz="1800" b="1" dirty="0">
                <a:solidFill>
                  <a:srgbClr val="FF0000"/>
                </a:solidFill>
                <a:latin typeface="宋体" pitchFamily="2" charset="-122"/>
                <a:ea typeface="宋体" pitchFamily="2" charset="-122"/>
                <a:cs typeface="宋体" pitchFamily="2" charset="-122"/>
              </a:rPr>
              <a:t>消费品行业大数据。</a:t>
            </a:r>
            <a:r>
              <a:rPr lang="zh-CN" altLang="en-US" sz="1800" dirty="0">
                <a:latin typeface="宋体" pitchFamily="2" charset="-122"/>
                <a:ea typeface="宋体" pitchFamily="2" charset="-122"/>
                <a:cs typeface="宋体" pitchFamily="2" charset="-122"/>
              </a:rPr>
              <a:t>支持消费品企业打通线上线下全域数据，开发个性化推荐算法，实现产品定制化生产、渠道精细化运营，促进供需精准对接。支持企业建立覆盖全流程的质量追溯数据库，加快与国家产品质量监督平台对接，实现产品质量可追溯可管理。</a:t>
            </a:r>
            <a:endParaRPr lang="en-US" altLang="zh-CN" sz="1800" dirty="0">
              <a:latin typeface="宋体" pitchFamily="2" charset="-122"/>
              <a:ea typeface="宋体" pitchFamily="2" charset="-122"/>
              <a:cs typeface="宋体" pitchFamily="2" charset="-122"/>
            </a:endParaRPr>
          </a:p>
          <a:p>
            <a:pPr marL="285750" indent="-285750">
              <a:lnSpc>
                <a:spcPct val="110000"/>
              </a:lnSpc>
              <a:spcBef>
                <a:spcPts val="600"/>
              </a:spcBef>
              <a:buClr>
                <a:srgbClr val="2D2DB9"/>
              </a:buClr>
              <a:buFont typeface="Wingdings" panose="05000000000000000000" charset="0"/>
              <a:buChar char="Ø"/>
            </a:pPr>
            <a:r>
              <a:rPr lang="zh-CN" altLang="en-US" sz="1800" dirty="0">
                <a:latin typeface="宋体" pitchFamily="2" charset="-122"/>
                <a:ea typeface="宋体" pitchFamily="2" charset="-122"/>
                <a:cs typeface="宋体" pitchFamily="2" charset="-122"/>
              </a:rPr>
              <a:t> </a:t>
            </a:r>
            <a:r>
              <a:rPr lang="zh-CN" altLang="en-US" sz="1800" b="1" dirty="0">
                <a:solidFill>
                  <a:srgbClr val="FF0000"/>
                </a:solidFill>
                <a:latin typeface="宋体" pitchFamily="2" charset="-122"/>
                <a:ea typeface="宋体" pitchFamily="2" charset="-122"/>
                <a:cs typeface="宋体" pitchFamily="2" charset="-122"/>
              </a:rPr>
              <a:t>电子信息行业大数据。</a:t>
            </a:r>
            <a:r>
              <a:rPr lang="zh-CN" altLang="en-US" sz="1800" dirty="0">
                <a:latin typeface="宋体" pitchFamily="2" charset="-122"/>
                <a:ea typeface="宋体" pitchFamily="2" charset="-122"/>
                <a:cs typeface="宋体" pitchFamily="2" charset="-122"/>
              </a:rPr>
              <a:t>支持电子信息制造企业加快大数据在产品销售预测与需求管理、产品生产计划与排程、供应链分析与优化、产品质量管理与分析等全流程场景中的应用，加速产品迭代创新，优化生产流程，提升产品质量，保证产业链供应链的稳定性。</a:t>
            </a:r>
            <a:endParaRPr lang="zh-CN" altLang="zh-CN" b="1" dirty="0">
              <a:latin typeface="宋体" pitchFamily="2" charset="-122"/>
              <a:ea typeface="宋体" pitchFamily="2" charset="-122"/>
              <a:cs typeface="宋体" pitchFamily="2" charset="-122"/>
            </a:endParaRPr>
          </a:p>
        </p:txBody>
      </p:sp>
      <p:sp>
        <p:nvSpPr>
          <p:cNvPr id="6146" name="标题 1"/>
          <p:cNvSpPr>
            <a:spLocks noGrp="1" noChangeArrowheads="1"/>
          </p:cNvSpPr>
          <p:nvPr/>
        </p:nvSpPr>
        <p:spPr>
          <a:xfrm>
            <a:off x="838835" y="2038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400" dirty="0">
                <a:effectLst>
                  <a:outerShdw blurRad="38100" dist="38100" dir="2700000" algn="tl">
                    <a:srgbClr val="C0C0C0"/>
                  </a:outerShdw>
                </a:effectLst>
                <a:sym typeface="+mn-ea"/>
              </a:rPr>
              <a:t>3. 大数据延伸行业价值链</a:t>
            </a:r>
            <a:endParaRPr lang="en-US" altLang="zh-CN" sz="4400" dirty="0">
              <a:effectLst>
                <a:outerShdw blurRad="38100" dist="38100" dir="2700000" algn="tl">
                  <a:srgbClr val="C0C0C0"/>
                </a:outerShdw>
              </a:effectLst>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矩形 2"/>
          <p:cNvSpPr>
            <a:spLocks noChangeArrowheads="1"/>
          </p:cNvSpPr>
          <p:nvPr/>
        </p:nvSpPr>
        <p:spPr bwMode="auto">
          <a:xfrm>
            <a:off x="1847850" y="1844675"/>
            <a:ext cx="8656638" cy="4615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57175" indent="-257175">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342900" indent="-342900">
              <a:lnSpc>
                <a:spcPct val="130000"/>
              </a:lnSpc>
              <a:spcBef>
                <a:spcPts val="600"/>
              </a:spcBef>
              <a:spcAft>
                <a:spcPts val="600"/>
              </a:spcAft>
              <a:buClr>
                <a:srgbClr val="2D2DB9"/>
              </a:buClr>
              <a:buFont typeface="Wingdings" panose="05000000000000000000" charset="0"/>
              <a:buChar char="Ø"/>
            </a:pPr>
            <a:r>
              <a:rPr lang="en-US" altLang="zh-CN" sz="2000" dirty="0">
                <a:ea typeface="宋体" pitchFamily="2" charset="-122"/>
              </a:rPr>
              <a:t>2015</a:t>
            </a:r>
            <a:r>
              <a:rPr lang="zh-CN" altLang="zh-CN" sz="2000" dirty="0">
                <a:ea typeface="宋体" pitchFamily="2" charset="-122"/>
              </a:rPr>
              <a:t>年，十八届五中全会首次提出</a:t>
            </a:r>
            <a:r>
              <a:rPr lang="en-US" altLang="zh-CN" sz="2000" dirty="0">
                <a:ea typeface="宋体" pitchFamily="2" charset="-122"/>
              </a:rPr>
              <a:t>“</a:t>
            </a:r>
            <a:r>
              <a:rPr lang="zh-CN" altLang="zh-CN" sz="2000" dirty="0">
                <a:ea typeface="宋体" pitchFamily="2" charset="-122"/>
              </a:rPr>
              <a:t>国家大数据战略</a:t>
            </a:r>
            <a:r>
              <a:rPr lang="en-US" altLang="zh-CN" sz="2000" dirty="0">
                <a:ea typeface="宋体" pitchFamily="2" charset="-122"/>
              </a:rPr>
              <a:t>”</a:t>
            </a:r>
            <a:r>
              <a:rPr lang="zh-CN" altLang="zh-CN" sz="2000" dirty="0">
                <a:ea typeface="宋体" pitchFamily="2" charset="-122"/>
              </a:rPr>
              <a:t>，《促进大数据发展行动纲要》发布。</a:t>
            </a:r>
            <a:endParaRPr lang="zh-CN" altLang="zh-CN" sz="2000" dirty="0">
              <a:ea typeface="宋体" pitchFamily="2" charset="-122"/>
            </a:endParaRPr>
          </a:p>
          <a:p>
            <a:pPr marL="342900" indent="-342900">
              <a:lnSpc>
                <a:spcPct val="130000"/>
              </a:lnSpc>
              <a:spcBef>
                <a:spcPts val="600"/>
              </a:spcBef>
              <a:spcAft>
                <a:spcPts val="600"/>
              </a:spcAft>
              <a:buClr>
                <a:srgbClr val="2D2DB9"/>
              </a:buClr>
              <a:buFont typeface="Wingdings" panose="05000000000000000000" charset="0"/>
              <a:buChar char="Ø"/>
            </a:pPr>
            <a:r>
              <a:rPr lang="en-US" altLang="zh-CN" sz="2000" dirty="0">
                <a:ea typeface="宋体" pitchFamily="2" charset="-122"/>
              </a:rPr>
              <a:t>2016</a:t>
            </a:r>
            <a:r>
              <a:rPr lang="zh-CN" altLang="zh-CN" sz="2000" dirty="0">
                <a:ea typeface="宋体" pitchFamily="2" charset="-122"/>
              </a:rPr>
              <a:t>年，《政务信息资源共享管理暂行办法》出台。</a:t>
            </a:r>
            <a:endParaRPr lang="zh-CN" altLang="zh-CN" sz="2000" dirty="0">
              <a:ea typeface="宋体" pitchFamily="2" charset="-122"/>
            </a:endParaRPr>
          </a:p>
          <a:p>
            <a:pPr marL="342900" indent="-342900">
              <a:lnSpc>
                <a:spcPct val="130000"/>
              </a:lnSpc>
              <a:spcBef>
                <a:spcPts val="600"/>
              </a:spcBef>
              <a:spcAft>
                <a:spcPts val="600"/>
              </a:spcAft>
              <a:buClr>
                <a:srgbClr val="2D2DB9"/>
              </a:buClr>
              <a:buFont typeface="Wingdings" panose="05000000000000000000" charset="0"/>
              <a:buChar char="Ø"/>
            </a:pPr>
            <a:r>
              <a:rPr lang="en-US" altLang="zh-CN" sz="2000" dirty="0">
                <a:ea typeface="宋体" pitchFamily="2" charset="-122"/>
              </a:rPr>
              <a:t>2017</a:t>
            </a:r>
            <a:r>
              <a:rPr lang="zh-CN" altLang="zh-CN" sz="2000" dirty="0">
                <a:ea typeface="宋体" pitchFamily="2" charset="-122"/>
              </a:rPr>
              <a:t>年，《大数据产业发展规划</a:t>
            </a:r>
            <a:r>
              <a:rPr lang="en-US" altLang="zh-CN" sz="2000" dirty="0">
                <a:ea typeface="宋体" pitchFamily="2" charset="-122"/>
              </a:rPr>
              <a:t>(2016-2020</a:t>
            </a:r>
            <a:r>
              <a:rPr lang="zh-CN" altLang="zh-CN" sz="2000" dirty="0">
                <a:ea typeface="宋体" pitchFamily="2" charset="-122"/>
              </a:rPr>
              <a:t>年</a:t>
            </a:r>
            <a:r>
              <a:rPr lang="en-US" altLang="zh-CN" sz="2000" dirty="0">
                <a:ea typeface="宋体" pitchFamily="2" charset="-122"/>
              </a:rPr>
              <a:t>)</a:t>
            </a:r>
            <a:r>
              <a:rPr lang="zh-CN" altLang="zh-CN" sz="2000" dirty="0">
                <a:ea typeface="宋体" pitchFamily="2" charset="-122"/>
              </a:rPr>
              <a:t>》实施。</a:t>
            </a:r>
            <a:endParaRPr lang="zh-CN" altLang="zh-CN" sz="2000" dirty="0">
              <a:ea typeface="宋体" pitchFamily="2" charset="-122"/>
            </a:endParaRPr>
          </a:p>
          <a:p>
            <a:pPr marL="342900" indent="-342900">
              <a:lnSpc>
                <a:spcPct val="130000"/>
              </a:lnSpc>
              <a:spcBef>
                <a:spcPts val="600"/>
              </a:spcBef>
              <a:spcAft>
                <a:spcPts val="600"/>
              </a:spcAft>
              <a:buClr>
                <a:srgbClr val="2D2DB9"/>
              </a:buClr>
              <a:buFont typeface="Wingdings" panose="05000000000000000000" charset="0"/>
              <a:buChar char="Ø"/>
            </a:pPr>
            <a:r>
              <a:rPr lang="en-US" altLang="zh-CN" sz="2000" dirty="0">
                <a:ea typeface="宋体" pitchFamily="2" charset="-122"/>
              </a:rPr>
              <a:t>2021</a:t>
            </a:r>
            <a:r>
              <a:rPr lang="zh-CN" altLang="en-US" sz="2000" dirty="0">
                <a:ea typeface="宋体" pitchFamily="2" charset="-122"/>
              </a:rPr>
              <a:t>年</a:t>
            </a:r>
            <a:r>
              <a:rPr lang="en-US" altLang="zh-CN" sz="2000" dirty="0">
                <a:ea typeface="宋体" pitchFamily="2" charset="-122"/>
              </a:rPr>
              <a:t>5</a:t>
            </a:r>
            <a:r>
              <a:rPr lang="zh-CN" altLang="en-US" sz="2000" dirty="0">
                <a:ea typeface="宋体" pitchFamily="2" charset="-122"/>
              </a:rPr>
              <a:t>月</a:t>
            </a:r>
            <a:r>
              <a:rPr lang="en-US" altLang="zh-CN" sz="2000" dirty="0">
                <a:ea typeface="宋体" pitchFamily="2" charset="-122"/>
              </a:rPr>
              <a:t>30</a:t>
            </a:r>
            <a:r>
              <a:rPr lang="zh-CN" altLang="en-US" sz="2000" dirty="0">
                <a:ea typeface="宋体" pitchFamily="2" charset="-122"/>
              </a:rPr>
              <a:t>日，国家发改委等部门联合印发的</a:t>
            </a:r>
            <a:r>
              <a:rPr lang="en-US" altLang="zh-CN" sz="2000" dirty="0">
                <a:ea typeface="宋体" pitchFamily="2" charset="-122"/>
              </a:rPr>
              <a:t>《</a:t>
            </a:r>
            <a:r>
              <a:rPr lang="zh-CN" altLang="en-US" sz="2000" dirty="0">
                <a:ea typeface="宋体" pitchFamily="2" charset="-122"/>
              </a:rPr>
              <a:t>全国一体化大数据中心协同创新体系算力枢纽实施方案</a:t>
            </a:r>
            <a:r>
              <a:rPr lang="en-US" altLang="zh-CN" sz="2000" dirty="0">
                <a:ea typeface="宋体" pitchFamily="2" charset="-122"/>
              </a:rPr>
              <a:t>》</a:t>
            </a:r>
            <a:r>
              <a:rPr lang="zh-CN" altLang="en-US" sz="2000" dirty="0">
                <a:ea typeface="宋体" pitchFamily="2" charset="-122"/>
              </a:rPr>
              <a:t>向社会公布，在京津冀、长三角、粤港澳大湾区、成渝、贵州、内蒙古、甘肃、宁夏等地布局建设全国一体化算力网络国家枢纽节点，中国数据中心建设迎来调整，推动实现合理布局、供需平衡、绿色集约和互联互通。</a:t>
            </a:r>
            <a:endParaRPr lang="en-US" altLang="zh-CN" sz="2000" dirty="0">
              <a:ea typeface="宋体" pitchFamily="2" charset="-122"/>
            </a:endParaRPr>
          </a:p>
          <a:p>
            <a:pPr marL="0" indent="0">
              <a:spcBef>
                <a:spcPts val="600"/>
              </a:spcBef>
              <a:spcAft>
                <a:spcPts val="600"/>
              </a:spcAft>
              <a:buFontTx/>
            </a:pPr>
            <a:endParaRPr lang="en-US" altLang="zh-CN" sz="2000" dirty="0">
              <a:ea typeface="宋体" pitchFamily="2" charset="-122"/>
            </a:endParaRPr>
          </a:p>
        </p:txBody>
      </p:sp>
      <p:sp>
        <p:nvSpPr>
          <p:cNvPr id="6146" name="标题 1"/>
          <p:cNvSpPr>
            <a:spLocks noGrp="1" noChangeArrowheads="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400" dirty="0">
                <a:effectLst>
                  <a:outerShdw blurRad="38100" dist="38100" dir="2700000" algn="tl">
                    <a:srgbClr val="C0C0C0"/>
                  </a:outerShdw>
                </a:effectLst>
                <a:sym typeface="+mn-ea"/>
              </a:rPr>
              <a:t>4. 大数据发展国家战略支持</a:t>
            </a:r>
            <a:endParaRPr lang="en-US" altLang="zh-CN" sz="4400" dirty="0">
              <a:effectLst>
                <a:outerShdw blurRad="38100" dist="38100" dir="2700000" algn="tl">
                  <a:srgbClr val="C0C0C0"/>
                </a:outerShdw>
              </a:effectLst>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noChangeArrowheads="1"/>
          </p:cNvSpPr>
          <p:nvPr>
            <p:ph type="title"/>
          </p:nvPr>
        </p:nvSpPr>
        <p:spPr/>
        <p:txBody>
          <a:bodyPr/>
          <a:lstStyle/>
          <a:p>
            <a:r>
              <a:rPr lang="en-US" altLang="zh-CN" sz="4400" dirty="0">
                <a:effectLst>
                  <a:outerShdw blurRad="38100" dist="38100" dir="2700000" algn="tl">
                    <a:srgbClr val="C0C0C0"/>
                  </a:outerShdw>
                </a:effectLst>
              </a:rPr>
              <a:t>5. </a:t>
            </a:r>
            <a:r>
              <a:rPr lang="en-US" altLang="zh-CN" dirty="0">
                <a:effectLst>
                  <a:outerShdw blurRad="38100" dist="38100" dir="2700000" algn="tl">
                    <a:srgbClr val="C0C0C0"/>
                  </a:outerShdw>
                </a:effectLst>
                <a:sym typeface="+mn-ea"/>
              </a:rPr>
              <a:t>大数据与</a:t>
            </a:r>
            <a:r>
              <a:rPr lang="en-US" altLang="zh-CN" sz="4400" dirty="0">
                <a:effectLst>
                  <a:outerShdw blurRad="38100" dist="38100" dir="2700000" algn="tl">
                    <a:srgbClr val="C0C0C0"/>
                  </a:outerShdw>
                </a:effectLst>
              </a:rPr>
              <a:t>数据结构</a:t>
            </a:r>
            <a:endParaRPr lang="en-US" altLang="zh-CN" sz="4400" dirty="0">
              <a:effectLst>
                <a:outerShdw blurRad="38100" dist="38100" dir="2700000" algn="tl">
                  <a:srgbClr val="C0C0C0"/>
                </a:outerShdw>
              </a:effectLst>
            </a:endParaRPr>
          </a:p>
        </p:txBody>
      </p:sp>
      <p:sp>
        <p:nvSpPr>
          <p:cNvPr id="12291" name="矩形 2"/>
          <p:cNvSpPr>
            <a:spLocks noChangeArrowheads="1"/>
          </p:cNvSpPr>
          <p:nvPr/>
        </p:nvSpPr>
        <p:spPr bwMode="auto">
          <a:xfrm>
            <a:off x="1149985" y="1444625"/>
            <a:ext cx="9313545"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14630" indent="-21463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indent="0">
              <a:lnSpc>
                <a:spcPct val="140000"/>
              </a:lnSpc>
              <a:buClr>
                <a:srgbClr val="2D2DB9"/>
              </a:buClr>
              <a:buFont typeface="Wingdings" panose="05000000000000000000" charset="0"/>
              <a:buNone/>
            </a:pPr>
            <a:endParaRPr lang="zh-CN" altLang="zh-CN" sz="2000" dirty="0">
              <a:latin typeface="宋体" pitchFamily="2" charset="-122"/>
              <a:ea typeface="宋体" pitchFamily="2" charset="-122"/>
              <a:cs typeface="宋体" pitchFamily="2" charset="-122"/>
            </a:endParaRPr>
          </a:p>
          <a:p>
            <a:pPr marL="285750" indent="-285750">
              <a:lnSpc>
                <a:spcPct val="140000"/>
              </a:lnSpc>
              <a:buClr>
                <a:srgbClr val="2D2DB9"/>
              </a:buClr>
              <a:buFont typeface="Wingdings" panose="05000000000000000000" charset="0"/>
              <a:buChar char="Ø"/>
            </a:pPr>
            <a:r>
              <a:rPr lang="zh-CN" altLang="zh-CN" sz="2000" dirty="0">
                <a:latin typeface="宋体" pitchFamily="2" charset="-122"/>
                <a:ea typeface="宋体" pitchFamily="2" charset="-122"/>
                <a:cs typeface="宋体" pitchFamily="2" charset="-122"/>
              </a:rPr>
              <a:t>大数据的处理</a:t>
            </a:r>
            <a:r>
              <a:rPr lang="zh-CN" altLang="zh-CN" sz="2000" dirty="0">
                <a:solidFill>
                  <a:srgbClr val="FF0000"/>
                </a:solidFill>
                <a:latin typeface="宋体" pitchFamily="2" charset="-122"/>
                <a:ea typeface="宋体" pitchFamily="2" charset="-122"/>
                <a:cs typeface="宋体" pitchFamily="2" charset="-122"/>
              </a:rPr>
              <a:t>相关算法的核心实现都离不开基本的数据结构</a:t>
            </a:r>
            <a:r>
              <a:rPr lang="zh-CN" altLang="zh-CN" sz="2000" dirty="0">
                <a:latin typeface="宋体" pitchFamily="2" charset="-122"/>
                <a:ea typeface="宋体" pitchFamily="2" charset="-122"/>
                <a:cs typeface="宋体" pitchFamily="2" charset="-122"/>
              </a:rPr>
              <a:t>（例如，链表、栈</a:t>
            </a:r>
            <a:r>
              <a:rPr lang="zh-CN" altLang="en-US" sz="2000" dirty="0">
                <a:latin typeface="宋体" pitchFamily="2" charset="-122"/>
                <a:ea typeface="宋体" pitchFamily="2" charset="-122"/>
                <a:cs typeface="宋体" pitchFamily="2" charset="-122"/>
              </a:rPr>
              <a:t>、</a:t>
            </a:r>
            <a:r>
              <a:rPr lang="zh-CN" altLang="zh-CN" sz="2000" dirty="0">
                <a:latin typeface="宋体" pitchFamily="2" charset="-122"/>
                <a:ea typeface="宋体" pitchFamily="2" charset="-122"/>
                <a:cs typeface="宋体" pitchFamily="2" charset="-122"/>
              </a:rPr>
              <a:t>二叉树</a:t>
            </a:r>
            <a:r>
              <a:rPr lang="zh-CN" altLang="en-US" sz="2000" dirty="0">
                <a:latin typeface="宋体" pitchFamily="2" charset="-122"/>
                <a:ea typeface="宋体" pitchFamily="2" charset="-122"/>
                <a:cs typeface="宋体" pitchFamily="2" charset="-122"/>
              </a:rPr>
              <a:t>和图</a:t>
            </a:r>
            <a:r>
              <a:rPr lang="zh-CN" altLang="zh-CN" sz="2000" dirty="0">
                <a:latin typeface="宋体" pitchFamily="2" charset="-122"/>
                <a:ea typeface="宋体" pitchFamily="2" charset="-122"/>
                <a:cs typeface="宋体" pitchFamily="2" charset="-122"/>
              </a:rPr>
              <a:t>等），以及对应的基本算法（例如，快速排序、递归思想</a:t>
            </a:r>
            <a:r>
              <a:rPr lang="zh-CN" altLang="en-US" sz="2000" dirty="0">
                <a:latin typeface="宋体" pitchFamily="2" charset="-122"/>
                <a:ea typeface="宋体" pitchFamily="2" charset="-122"/>
                <a:cs typeface="宋体" pitchFamily="2" charset="-122"/>
              </a:rPr>
              <a:t>和动态规划</a:t>
            </a:r>
            <a:r>
              <a:rPr lang="zh-CN" altLang="zh-CN" sz="2000" dirty="0">
                <a:latin typeface="宋体" pitchFamily="2" charset="-122"/>
                <a:ea typeface="宋体" pitchFamily="2" charset="-122"/>
                <a:cs typeface="宋体" pitchFamily="2" charset="-122"/>
              </a:rPr>
              <a:t>的应用等）。</a:t>
            </a:r>
            <a:endParaRPr lang="en-US" altLang="zh-CN" sz="2000" dirty="0">
              <a:latin typeface="宋体" pitchFamily="2" charset="-122"/>
              <a:ea typeface="宋体" pitchFamily="2" charset="-122"/>
              <a:cs typeface="宋体" pitchFamily="2" charset="-122"/>
            </a:endParaRPr>
          </a:p>
          <a:p>
            <a:pPr marL="285750" indent="-285750">
              <a:lnSpc>
                <a:spcPct val="140000"/>
              </a:lnSpc>
              <a:buClr>
                <a:srgbClr val="2D2DB9"/>
              </a:buClr>
              <a:buFont typeface="Wingdings" panose="05000000000000000000" charset="0"/>
              <a:buChar char="Ø"/>
            </a:pPr>
            <a:r>
              <a:rPr lang="zh-CN" altLang="en-US" sz="2000" dirty="0">
                <a:solidFill>
                  <a:srgbClr val="FF0000"/>
                </a:solidFill>
                <a:latin typeface="宋体" pitchFamily="2" charset="-122"/>
                <a:ea typeface="宋体" pitchFamily="2" charset="-122"/>
                <a:cs typeface="宋体" pitchFamily="2" charset="-122"/>
              </a:rPr>
              <a:t>对于大数据处理技术中的各种算法和模型的复现，</a:t>
            </a:r>
            <a:r>
              <a:rPr lang="zh-CN" altLang="en-US" sz="2000" dirty="0">
                <a:latin typeface="宋体" pitchFamily="2" charset="-122"/>
                <a:ea typeface="宋体" pitchFamily="2" charset="-122"/>
                <a:cs typeface="宋体" pitchFamily="2" charset="-122"/>
              </a:rPr>
              <a:t>需要大家拥有良好的</a:t>
            </a:r>
            <a:r>
              <a:rPr lang="zh-CN" altLang="en-US" sz="2000" dirty="0">
                <a:solidFill>
                  <a:srgbClr val="FF0000"/>
                </a:solidFill>
                <a:latin typeface="宋体" pitchFamily="2" charset="-122"/>
                <a:ea typeface="宋体" pitchFamily="2" charset="-122"/>
                <a:cs typeface="宋体" pitchFamily="2" charset="-122"/>
              </a:rPr>
              <a:t>数据结构知识，</a:t>
            </a:r>
            <a:r>
              <a:rPr lang="zh-CN" altLang="en-US" sz="2000" dirty="0">
                <a:latin typeface="宋体" pitchFamily="2" charset="-122"/>
                <a:ea typeface="宋体" pitchFamily="2" charset="-122"/>
                <a:cs typeface="宋体" pitchFamily="2" charset="-122"/>
              </a:rPr>
              <a:t>以及</a:t>
            </a:r>
            <a:r>
              <a:rPr lang="zh-CN" altLang="en-US" sz="2000" dirty="0">
                <a:solidFill>
                  <a:srgbClr val="FF0000"/>
                </a:solidFill>
                <a:latin typeface="宋体" pitchFamily="2" charset="-122"/>
                <a:ea typeface="宋体" pitchFamily="2" charset="-122"/>
                <a:cs typeface="宋体" pitchFamily="2" charset="-122"/>
              </a:rPr>
              <a:t>基本算法思想</a:t>
            </a:r>
            <a:r>
              <a:rPr lang="zh-CN" altLang="en-US" sz="2000" dirty="0">
                <a:latin typeface="宋体" pitchFamily="2" charset="-122"/>
                <a:ea typeface="宋体" pitchFamily="2" charset="-122"/>
                <a:cs typeface="宋体" pitchFamily="2" charset="-122"/>
              </a:rPr>
              <a:t>的理解和应用。</a:t>
            </a:r>
            <a:endParaRPr lang="zh-CN" altLang="zh-CN" sz="2000" dirty="0">
              <a:latin typeface="宋体" pitchFamily="2" charset="-122"/>
              <a:ea typeface="宋体" pitchFamily="2" charset="-122"/>
              <a:cs typeface="宋体" pitchFamily="2" charset="-122"/>
            </a:endParaRPr>
          </a:p>
          <a:p>
            <a:pPr marL="285750" indent="-285750">
              <a:lnSpc>
                <a:spcPct val="140000"/>
              </a:lnSpc>
              <a:buClr>
                <a:srgbClr val="2D2DB9"/>
              </a:buClr>
              <a:buFont typeface="Wingdings" panose="05000000000000000000" charset="0"/>
              <a:buChar char="Ø"/>
            </a:pPr>
            <a:r>
              <a:rPr lang="zh-CN" altLang="en-US" sz="2000" dirty="0">
                <a:latin typeface="宋体" pitchFamily="2" charset="-122"/>
                <a:ea typeface="宋体" pitchFamily="2" charset="-122"/>
                <a:cs typeface="宋体" pitchFamily="2" charset="-122"/>
              </a:rPr>
              <a:t>将大数据处理技术比作搭建摩天大楼，那么数据结构就是学习用扳手拧螺母，学习数据结构，能帮助大家在从业过程中清楚</a:t>
            </a:r>
            <a:r>
              <a:rPr lang="zh-CN" altLang="en-US" sz="2000" dirty="0">
                <a:solidFill>
                  <a:srgbClr val="FF0000"/>
                </a:solidFill>
                <a:latin typeface="宋体" pitchFamily="2" charset="-122"/>
                <a:ea typeface="宋体" pitchFamily="2" charset="-122"/>
                <a:cs typeface="宋体" pitchFamily="2" charset="-122"/>
              </a:rPr>
              <a:t>应当使用哪种工具、工具有什么利弊、应用于什么场景。</a:t>
            </a:r>
            <a:endParaRPr lang="zh-CN" altLang="en-US" sz="2000" dirty="0">
              <a:solidFill>
                <a:srgbClr val="FF0000"/>
              </a:solidFill>
              <a:latin typeface="宋体" pitchFamily="2" charset="-122"/>
              <a:ea typeface="宋体" pitchFamily="2" charset="-122"/>
              <a:cs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256665" y="1397635"/>
            <a:ext cx="9538335" cy="4769485"/>
          </a:xfrm>
          <a:prstGeom prst="rect">
            <a:avLst/>
          </a:prstGeom>
        </p:spPr>
      </p:pic>
      <p:sp>
        <p:nvSpPr>
          <p:cNvPr id="12290" name="标题 1"/>
          <p:cNvSpPr>
            <a:spLocks noGrp="1" noChangeArrowheads="1"/>
          </p:cNvSpPr>
          <p:nvPr>
            <p:ph type="title"/>
          </p:nvPr>
        </p:nvSpPr>
        <p:spPr/>
        <p:txBody>
          <a:bodyPr/>
          <a:p>
            <a:r>
              <a:rPr lang="en-US" altLang="zh-CN" sz="4400" dirty="0">
                <a:effectLst>
                  <a:outerShdw blurRad="38100" dist="38100" dir="2700000" algn="tl">
                    <a:srgbClr val="C0C0C0"/>
                  </a:outerShdw>
                </a:effectLst>
              </a:rPr>
              <a:t>6. </a:t>
            </a:r>
            <a:r>
              <a:rPr lang="en-US" altLang="zh-CN" dirty="0">
                <a:effectLst>
                  <a:outerShdw blurRad="38100" dist="38100" dir="2700000" algn="tl">
                    <a:srgbClr val="C0C0C0"/>
                  </a:outerShdw>
                </a:effectLst>
                <a:sym typeface="+mn-ea"/>
              </a:rPr>
              <a:t>大数据与</a:t>
            </a:r>
            <a:r>
              <a:rPr lang="zh-CN" altLang="en-US" sz="4400" dirty="0">
                <a:effectLst>
                  <a:outerShdw blurRad="38100" dist="38100" dir="2700000" algn="tl">
                    <a:srgbClr val="C0C0C0"/>
                  </a:outerShdw>
                </a:effectLst>
              </a:rPr>
              <a:t>大模型</a:t>
            </a:r>
            <a:endParaRPr lang="zh-CN" altLang="en-US" sz="4400" dirty="0">
              <a:effectLst>
                <a:outerShdw blurRad="38100" dist="38100" dir="2700000" algn="tl">
                  <a:srgbClr val="C0C0C0"/>
                </a:outerShdw>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标题 23"/>
          <p:cNvSpPr>
            <a:spLocks noGrp="1"/>
          </p:cNvSpPr>
          <p:nvPr>
            <p:ph type="title"/>
          </p:nvPr>
        </p:nvSpPr>
        <p:spPr/>
        <p:txBody>
          <a:bodyPr/>
          <a:p>
            <a:r>
              <a:rPr lang="zh-CN" altLang="en-US"/>
              <a:t>人工智能近</a:t>
            </a:r>
            <a:r>
              <a:rPr lang="zh-CN" altLang="en-US"/>
              <a:t>四十年的</a:t>
            </a:r>
            <a:r>
              <a:rPr lang="zh-CN" altLang="en-US"/>
              <a:t>发展</a:t>
            </a:r>
            <a:endParaRPr lang="zh-CN" altLang="en-US"/>
          </a:p>
        </p:txBody>
      </p:sp>
      <p:pic>
        <p:nvPicPr>
          <p:cNvPr id="10" name="图片 9" descr="3b403882-85d9-4143-9480-b0b97a85f8c3"/>
          <p:cNvPicPr>
            <a:picLocks noChangeAspect="1"/>
          </p:cNvPicPr>
          <p:nvPr>
            <p:custDataLst>
              <p:tags r:id="rId1"/>
            </p:custDataLst>
          </p:nvPr>
        </p:nvPicPr>
        <p:blipFill>
          <a:blip r:embed="rId2"/>
          <a:stretch>
            <a:fillRect/>
          </a:stretch>
        </p:blipFill>
        <p:spPr>
          <a:xfrm>
            <a:off x="10403840" y="6379845"/>
            <a:ext cx="1653540" cy="374015"/>
          </a:xfrm>
          <a:prstGeom prst="rect">
            <a:avLst/>
          </a:prstGeom>
        </p:spPr>
      </p:pic>
      <p:grpSp>
        <p:nvGrpSpPr>
          <p:cNvPr id="48" name="组合 47"/>
          <p:cNvGrpSpPr/>
          <p:nvPr/>
        </p:nvGrpSpPr>
        <p:grpSpPr>
          <a:xfrm>
            <a:off x="1305560" y="1084777"/>
            <a:ext cx="9985375" cy="2087778"/>
            <a:chOff x="1023" y="476"/>
            <a:chExt cx="17349" cy="5135"/>
          </a:xfrm>
        </p:grpSpPr>
        <p:cxnSp>
          <p:nvCxnSpPr>
            <p:cNvPr id="25" name="直接箭头连接符 24"/>
            <p:cNvCxnSpPr/>
            <p:nvPr/>
          </p:nvCxnSpPr>
          <p:spPr>
            <a:xfrm flipV="1">
              <a:off x="1157" y="3048"/>
              <a:ext cx="16980" cy="44"/>
            </a:xfrm>
            <a:prstGeom prst="straightConnector1">
              <a:avLst/>
            </a:prstGeom>
            <a:ln w="5715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023" y="1235"/>
              <a:ext cx="2357" cy="754"/>
            </a:xfrm>
            <a:prstGeom prst="rect">
              <a:avLst/>
            </a:prstGeom>
            <a:noFill/>
          </p:spPr>
          <p:txBody>
            <a:bodyPr wrap="square" rtlCol="0">
              <a:spAutoFit/>
            </a:bodyPr>
            <a:p>
              <a:pPr algn="ctr">
                <a:buClrTx/>
                <a:buSzTx/>
                <a:buFontTx/>
              </a:pPr>
              <a:r>
                <a:rPr lang="zh-CN" altLang="en-US" sz="1400">
                  <a:solidFill>
                    <a:schemeClr val="accent6"/>
                  </a:solidFill>
                  <a:latin typeface="Times New Roman Bold" panose="02020603050405020304" charset="0"/>
                  <a:cs typeface="Times New Roman Bold" panose="02020603050405020304" charset="0"/>
                  <a:sym typeface="+mn-ea"/>
                </a:rPr>
                <a:t>达特茅斯会议</a:t>
              </a:r>
              <a:endParaRPr lang="zh-CN" altLang="en-US" sz="1400">
                <a:solidFill>
                  <a:schemeClr val="accent6"/>
                </a:solidFill>
                <a:latin typeface="Times New Roman Bold" panose="02020603050405020304" charset="0"/>
                <a:cs typeface="Times New Roman Bold" panose="02020603050405020304" charset="0"/>
                <a:sym typeface="+mn-ea"/>
              </a:endParaRPr>
            </a:p>
          </p:txBody>
        </p:sp>
        <p:sp>
          <p:nvSpPr>
            <p:cNvPr id="27" name="文本框 26"/>
            <p:cNvSpPr txBox="1"/>
            <p:nvPr/>
          </p:nvSpPr>
          <p:spPr>
            <a:xfrm>
              <a:off x="2108" y="4226"/>
              <a:ext cx="2465" cy="1284"/>
            </a:xfrm>
            <a:prstGeom prst="rect">
              <a:avLst/>
            </a:prstGeom>
            <a:noFill/>
          </p:spPr>
          <p:txBody>
            <a:bodyPr wrap="square" rtlCol="0">
              <a:spAutoFit/>
            </a:bodyPr>
            <a:p>
              <a:pPr algn="ctr"/>
              <a:r>
                <a:rPr lang="en-US" altLang="zh-CN" sz="1400" b="1">
                  <a:solidFill>
                    <a:schemeClr val="accent6"/>
                  </a:solidFill>
                  <a:latin typeface="Times New Roman Bold" panose="02020603050405020304" charset="0"/>
                  <a:cs typeface="Times New Roman Bold" panose="02020603050405020304" charset="0"/>
                </a:rPr>
                <a:t>The Perceptron</a:t>
              </a:r>
              <a:endParaRPr lang="en-US" altLang="zh-CN" sz="1600" b="1">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感知机</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30" name="组合 29"/>
            <p:cNvGrpSpPr/>
            <p:nvPr/>
          </p:nvGrpSpPr>
          <p:grpSpPr>
            <a:xfrm rot="0">
              <a:off x="2074" y="1892"/>
              <a:ext cx="218" cy="1289"/>
              <a:chOff x="1827" y="4400"/>
              <a:chExt cx="218" cy="1289"/>
            </a:xfrm>
          </p:grpSpPr>
          <p:cxnSp>
            <p:nvCxnSpPr>
              <p:cNvPr id="28" name="直接连接符 27"/>
              <p:cNvCxnSpPr/>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31" name="文本框 30"/>
            <p:cNvSpPr txBox="1"/>
            <p:nvPr/>
          </p:nvSpPr>
          <p:spPr>
            <a:xfrm>
              <a:off x="1702" y="3182"/>
              <a:ext cx="1265"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1956</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32" name="组合 31"/>
            <p:cNvGrpSpPr/>
            <p:nvPr/>
          </p:nvGrpSpPr>
          <p:grpSpPr>
            <a:xfrm rot="0" flipV="1">
              <a:off x="3245" y="2949"/>
              <a:ext cx="218" cy="1289"/>
              <a:chOff x="1827" y="4400"/>
              <a:chExt cx="218" cy="1289"/>
            </a:xfrm>
          </p:grpSpPr>
          <p:cxnSp>
            <p:nvCxnSpPr>
              <p:cNvPr id="33" name="直接连接符 32"/>
              <p:cNvCxnSpPr/>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35" name="文本框 34"/>
            <p:cNvSpPr txBox="1"/>
            <p:nvPr/>
          </p:nvSpPr>
          <p:spPr>
            <a:xfrm>
              <a:off x="2891" y="2465"/>
              <a:ext cx="1331"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1958</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36" name="组合 35"/>
            <p:cNvGrpSpPr/>
            <p:nvPr/>
          </p:nvGrpSpPr>
          <p:grpSpPr>
            <a:xfrm rot="0" flipV="1">
              <a:off x="6036" y="2989"/>
              <a:ext cx="218" cy="1289"/>
              <a:chOff x="1827" y="4400"/>
              <a:chExt cx="218" cy="1289"/>
            </a:xfrm>
          </p:grpSpPr>
          <p:cxnSp>
            <p:nvCxnSpPr>
              <p:cNvPr id="37" name="直接连接符 36"/>
              <p:cNvCxnSpPr/>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椭圆 37"/>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9" name="组合 38"/>
            <p:cNvGrpSpPr/>
            <p:nvPr/>
          </p:nvGrpSpPr>
          <p:grpSpPr>
            <a:xfrm rot="0" flipV="1">
              <a:off x="8847" y="3015"/>
              <a:ext cx="218" cy="1289"/>
              <a:chOff x="1827" y="4400"/>
              <a:chExt cx="218" cy="1289"/>
            </a:xfrm>
          </p:grpSpPr>
          <p:cxnSp>
            <p:nvCxnSpPr>
              <p:cNvPr id="40" name="直接连接符 39"/>
              <p:cNvCxnSpPr/>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 name="组合 41"/>
            <p:cNvGrpSpPr/>
            <p:nvPr/>
          </p:nvGrpSpPr>
          <p:grpSpPr>
            <a:xfrm rot="0" flipV="1">
              <a:off x="12042" y="3015"/>
              <a:ext cx="218" cy="1289"/>
              <a:chOff x="1827" y="4400"/>
              <a:chExt cx="218" cy="1289"/>
            </a:xfrm>
          </p:grpSpPr>
          <p:cxnSp>
            <p:nvCxnSpPr>
              <p:cNvPr id="43" name="直接连接符 42"/>
              <p:cNvCxnSpPr/>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5" name="组合 44"/>
            <p:cNvGrpSpPr/>
            <p:nvPr/>
          </p:nvGrpSpPr>
          <p:grpSpPr>
            <a:xfrm rot="0" flipV="1">
              <a:off x="15540" y="3015"/>
              <a:ext cx="218" cy="1289"/>
              <a:chOff x="1827" y="4400"/>
              <a:chExt cx="218" cy="1289"/>
            </a:xfrm>
          </p:grpSpPr>
          <p:cxnSp>
            <p:nvCxnSpPr>
              <p:cNvPr id="46" name="直接连接符 45"/>
              <p:cNvCxnSpPr/>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7" name="椭圆 46"/>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54" name="组合 53"/>
            <p:cNvGrpSpPr/>
            <p:nvPr/>
          </p:nvGrpSpPr>
          <p:grpSpPr>
            <a:xfrm rot="0">
              <a:off x="4718" y="1301"/>
              <a:ext cx="219" cy="1881"/>
              <a:chOff x="1827" y="3809"/>
              <a:chExt cx="219" cy="1881"/>
            </a:xfrm>
          </p:grpSpPr>
          <p:cxnSp>
            <p:nvCxnSpPr>
              <p:cNvPr id="55" name="直接连接符 54"/>
              <p:cNvCxnSpPr/>
              <p:nvPr/>
            </p:nvCxnSpPr>
            <p:spPr>
              <a:xfrm>
                <a:off x="1936" y="3809"/>
                <a:ext cx="0" cy="182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6" name="椭圆 55"/>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57" name="组合 56"/>
            <p:cNvGrpSpPr/>
            <p:nvPr/>
          </p:nvGrpSpPr>
          <p:grpSpPr>
            <a:xfrm rot="0">
              <a:off x="7427" y="1892"/>
              <a:ext cx="218" cy="1289"/>
              <a:chOff x="1827" y="4400"/>
              <a:chExt cx="218" cy="1289"/>
            </a:xfrm>
          </p:grpSpPr>
          <p:cxnSp>
            <p:nvCxnSpPr>
              <p:cNvPr id="58" name="直接连接符 57"/>
              <p:cNvCxnSpPr/>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9" name="椭圆 58"/>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0" name="组合 59"/>
            <p:cNvGrpSpPr/>
            <p:nvPr/>
          </p:nvGrpSpPr>
          <p:grpSpPr>
            <a:xfrm rot="0">
              <a:off x="9738" y="2288"/>
              <a:ext cx="219" cy="886"/>
              <a:chOff x="1827" y="4804"/>
              <a:chExt cx="219" cy="886"/>
            </a:xfrm>
          </p:grpSpPr>
          <p:cxnSp>
            <p:nvCxnSpPr>
              <p:cNvPr id="61" name="直接连接符 60"/>
              <p:cNvCxnSpPr/>
              <p:nvPr/>
            </p:nvCxnSpPr>
            <p:spPr>
              <a:xfrm>
                <a:off x="1936" y="4804"/>
                <a:ext cx="0" cy="8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62" name="椭圆 61"/>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3" name="组合 62"/>
            <p:cNvGrpSpPr/>
            <p:nvPr/>
          </p:nvGrpSpPr>
          <p:grpSpPr>
            <a:xfrm rot="0">
              <a:off x="12910" y="2354"/>
              <a:ext cx="219" cy="831"/>
              <a:chOff x="1827" y="4859"/>
              <a:chExt cx="219" cy="831"/>
            </a:xfrm>
          </p:grpSpPr>
          <p:cxnSp>
            <p:nvCxnSpPr>
              <p:cNvPr id="64" name="直接连接符 63"/>
              <p:cNvCxnSpPr/>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65" name="椭圆 64"/>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72" name="文本框 71"/>
            <p:cNvSpPr txBox="1"/>
            <p:nvPr/>
          </p:nvSpPr>
          <p:spPr>
            <a:xfrm>
              <a:off x="4223" y="3182"/>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1960s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77" name="文本框 76"/>
            <p:cNvSpPr txBox="1"/>
            <p:nvPr/>
          </p:nvSpPr>
          <p:spPr>
            <a:xfrm>
              <a:off x="4912" y="4327"/>
              <a:ext cx="2465" cy="128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Expert Systems</a:t>
              </a:r>
              <a:endParaRPr lang="zh-CN" altLang="en-US" sz="1400">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专家系统</a:t>
              </a:r>
              <a:endParaRPr lang="zh-CN" altLang="en-US" sz="1400">
                <a:solidFill>
                  <a:schemeClr val="accent6"/>
                </a:solidFill>
                <a:latin typeface="Times New Roman Bold" panose="02020603050405020304" charset="0"/>
                <a:cs typeface="Times New Roman Bold" panose="02020603050405020304" charset="0"/>
              </a:endParaRPr>
            </a:p>
          </p:txBody>
        </p:sp>
        <p:sp>
          <p:nvSpPr>
            <p:cNvPr id="78" name="文本框 77"/>
            <p:cNvSpPr txBox="1"/>
            <p:nvPr/>
          </p:nvSpPr>
          <p:spPr>
            <a:xfrm>
              <a:off x="6526" y="3167"/>
              <a:ext cx="1994"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1974-1993</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79" name="文本框 78"/>
            <p:cNvSpPr txBox="1"/>
            <p:nvPr/>
          </p:nvSpPr>
          <p:spPr>
            <a:xfrm>
              <a:off x="6303" y="1233"/>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人工智能寒潮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80" name="文本框 79"/>
            <p:cNvSpPr txBox="1"/>
            <p:nvPr/>
          </p:nvSpPr>
          <p:spPr>
            <a:xfrm>
              <a:off x="5541" y="2505"/>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1980s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81" name="文本框 80"/>
            <p:cNvSpPr txBox="1"/>
            <p:nvPr/>
          </p:nvSpPr>
          <p:spPr>
            <a:xfrm>
              <a:off x="7275" y="4288"/>
              <a:ext cx="3351" cy="128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NLPs </a:t>
              </a:r>
              <a:r>
                <a:rPr lang="zh-CN" altLang="en-US" sz="1400">
                  <a:solidFill>
                    <a:schemeClr val="accent6"/>
                  </a:solidFill>
                  <a:latin typeface="Times New Roman Bold" panose="02020603050405020304" charset="0"/>
                  <a:cs typeface="Times New Roman Bold" panose="02020603050405020304" charset="0"/>
                </a:rPr>
                <a:t>及</a:t>
              </a:r>
              <a:r>
                <a:rPr lang="en-US" altLang="zh-CN" sz="1400">
                  <a:solidFill>
                    <a:schemeClr val="accent6"/>
                  </a:solidFill>
                  <a:latin typeface="Times New Roman Bold" panose="02020603050405020304" charset="0"/>
                  <a:cs typeface="Times New Roman Bold" panose="02020603050405020304" charset="0"/>
                </a:rPr>
                <a:t>CVs</a:t>
              </a:r>
              <a:r>
                <a:rPr lang="zh-CN" altLang="en-US" sz="1400">
                  <a:solidFill>
                    <a:schemeClr val="accent6"/>
                  </a:solidFill>
                  <a:latin typeface="Times New Roman Bold" panose="02020603050405020304" charset="0"/>
                  <a:cs typeface="Times New Roman Bold" panose="02020603050405020304" charset="0"/>
                </a:rPr>
                <a:t>系统</a:t>
              </a:r>
              <a:endParaRPr lang="zh-CN" altLang="en-US" sz="1400">
                <a:solidFill>
                  <a:schemeClr val="accent6"/>
                </a:solidFill>
                <a:latin typeface="Times New Roman Bold" panose="02020603050405020304" charset="0"/>
                <a:cs typeface="Times New Roman Bold" panose="02020603050405020304" charset="0"/>
              </a:endParaRPr>
            </a:p>
            <a:p>
              <a:pPr algn="ctr"/>
              <a:r>
                <a:rPr lang="en-US" altLang="zh-CN" sz="1400">
                  <a:solidFill>
                    <a:schemeClr val="accent6"/>
                  </a:solidFill>
                  <a:latin typeface="Times New Roman Bold" panose="02020603050405020304" charset="0"/>
                  <a:cs typeface="Times New Roman Bold" panose="02020603050405020304" charset="0"/>
                </a:rPr>
                <a:t>( HMM &amp;&amp; CNNs )</a:t>
              </a:r>
              <a:endParaRPr lang="en-US" altLang="zh-CN" sz="1400">
                <a:solidFill>
                  <a:schemeClr val="accent6"/>
                </a:solidFill>
                <a:latin typeface="Times New Roman Bold" panose="02020603050405020304" charset="0"/>
                <a:cs typeface="Times New Roman Bold" panose="02020603050405020304" charset="0"/>
              </a:endParaRPr>
            </a:p>
          </p:txBody>
        </p:sp>
        <p:sp>
          <p:nvSpPr>
            <p:cNvPr id="83" name="文本框 82"/>
            <p:cNvSpPr txBox="1"/>
            <p:nvPr/>
          </p:nvSpPr>
          <p:spPr>
            <a:xfrm>
              <a:off x="8360" y="2441"/>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84" name="文本框 83"/>
            <p:cNvSpPr txBox="1"/>
            <p:nvPr/>
          </p:nvSpPr>
          <p:spPr>
            <a:xfrm>
              <a:off x="8519" y="3092"/>
              <a:ext cx="1932" cy="128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the late 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85" name="文本框 84"/>
            <p:cNvSpPr txBox="1"/>
            <p:nvPr/>
          </p:nvSpPr>
          <p:spPr>
            <a:xfrm>
              <a:off x="8878" y="1553"/>
              <a:ext cx="1940" cy="1132"/>
            </a:xfrm>
            <a:prstGeom prst="rect">
              <a:avLst/>
            </a:prstGeom>
            <a:noFill/>
          </p:spPr>
          <p:txBody>
            <a:bodyPr wrap="square" rtlCol="0" anchor="t">
              <a:spAutoFit/>
            </a:bodyPr>
            <a:p>
              <a:pPr algn="ctr"/>
              <a:r>
                <a:rPr lang="en-US" altLang="zh-CN" sz="1200">
                  <a:solidFill>
                    <a:schemeClr val="tx1"/>
                  </a:solidFill>
                  <a:latin typeface="Times New Roman Bold" panose="02020603050405020304" charset="0"/>
                  <a:cs typeface="Times New Roman Bold" panose="02020603050405020304" charset="0"/>
                  <a:sym typeface="+mn-ea"/>
                </a:rPr>
                <a:t>RNNs</a:t>
              </a:r>
              <a:endParaRPr lang="en-US" altLang="zh-CN" sz="1200">
                <a:solidFill>
                  <a:schemeClr val="tx1"/>
                </a:solidFill>
                <a:latin typeface="Times New Roman Bold" panose="02020603050405020304" charset="0"/>
                <a:cs typeface="Times New Roman Bold" panose="02020603050405020304" charset="0"/>
                <a:sym typeface="+mn-ea"/>
              </a:endParaRPr>
            </a:p>
            <a:p>
              <a:pPr algn="ctr"/>
              <a:endParaRPr lang="en-US" altLang="zh-CN" sz="1200">
                <a:solidFill>
                  <a:schemeClr val="tx1"/>
                </a:solidFill>
                <a:latin typeface="Times New Roman Bold" panose="02020603050405020304" charset="0"/>
                <a:cs typeface="Times New Roman Bold" panose="02020603050405020304" charset="0"/>
                <a:sym typeface="+mn-ea"/>
              </a:endParaRPr>
            </a:p>
          </p:txBody>
        </p:sp>
        <p:grpSp>
          <p:nvGrpSpPr>
            <p:cNvPr id="86" name="组合 85"/>
            <p:cNvGrpSpPr/>
            <p:nvPr/>
          </p:nvGrpSpPr>
          <p:grpSpPr>
            <a:xfrm rot="0">
              <a:off x="11241" y="1114"/>
              <a:ext cx="219" cy="2047"/>
              <a:chOff x="1827" y="3643"/>
              <a:chExt cx="219" cy="2047"/>
            </a:xfrm>
          </p:grpSpPr>
          <p:cxnSp>
            <p:nvCxnSpPr>
              <p:cNvPr id="87" name="直接连接符 86"/>
              <p:cNvCxnSpPr/>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88" name="椭圆 87"/>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89" name="文本框 88"/>
            <p:cNvSpPr txBox="1"/>
            <p:nvPr/>
          </p:nvSpPr>
          <p:spPr>
            <a:xfrm>
              <a:off x="10120" y="3055"/>
              <a:ext cx="2226"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2000s-2010s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90" name="文本框 89"/>
            <p:cNvSpPr txBox="1"/>
            <p:nvPr/>
          </p:nvSpPr>
          <p:spPr>
            <a:xfrm>
              <a:off x="10121"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人工智能复兴</a:t>
              </a:r>
              <a:endParaRPr lang="zh-CN" altLang="en-US" sz="1400">
                <a:solidFill>
                  <a:schemeClr val="accent6"/>
                </a:solidFill>
                <a:latin typeface="Times New Roman Bold" panose="02020603050405020304" charset="0"/>
                <a:cs typeface="Times New Roman Bold" panose="02020603050405020304" charset="0"/>
              </a:endParaRPr>
            </a:p>
          </p:txBody>
        </p:sp>
        <p:sp>
          <p:nvSpPr>
            <p:cNvPr id="91" name="文本框 90"/>
            <p:cNvSpPr txBox="1"/>
            <p:nvPr/>
          </p:nvSpPr>
          <p:spPr>
            <a:xfrm>
              <a:off x="3595" y="752"/>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人工智能热潮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98" name="文本框 97"/>
            <p:cNvSpPr txBox="1"/>
            <p:nvPr/>
          </p:nvSpPr>
          <p:spPr>
            <a:xfrm>
              <a:off x="11522" y="245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2009</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4" name="文本框 3"/>
            <p:cNvSpPr txBox="1"/>
            <p:nvPr/>
          </p:nvSpPr>
          <p:spPr>
            <a:xfrm>
              <a:off x="10766" y="4327"/>
              <a:ext cx="2770" cy="128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ImageNet </a:t>
              </a:r>
              <a:r>
                <a:rPr lang="zh-CN" altLang="en-US" sz="1400">
                  <a:solidFill>
                    <a:schemeClr val="tx1"/>
                  </a:solidFill>
                  <a:latin typeface="Times New Roman Bold" panose="02020603050405020304" charset="0"/>
                  <a:cs typeface="Times New Roman Bold" panose="02020603050405020304" charset="0"/>
                </a:rPr>
                <a:t>引入</a:t>
              </a:r>
              <a:r>
                <a:rPr lang="en-US" altLang="zh-CN" sz="1400">
                  <a:solidFill>
                    <a:schemeClr val="tx1"/>
                  </a:solidFill>
                  <a:latin typeface="Times New Roman Bold" panose="02020603050405020304" charset="0"/>
                  <a:cs typeface="Times New Roman Bold" panose="02020603050405020304" charset="0"/>
                </a:rPr>
                <a:t> CNN</a:t>
              </a:r>
              <a:endParaRPr lang="en-US" altLang="zh-CN" sz="1400">
                <a:solidFill>
                  <a:schemeClr val="tx1"/>
                </a:solidFill>
                <a:latin typeface="Times New Roman Bold" panose="02020603050405020304" charset="0"/>
                <a:cs typeface="Times New Roman Bold" panose="02020603050405020304" charset="0"/>
              </a:endParaRPr>
            </a:p>
          </p:txBody>
        </p:sp>
        <p:sp>
          <p:nvSpPr>
            <p:cNvPr id="51" name="文本框 50"/>
            <p:cNvSpPr txBox="1"/>
            <p:nvPr/>
          </p:nvSpPr>
          <p:spPr>
            <a:xfrm>
              <a:off x="11905" y="1417"/>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AI</a:t>
              </a:r>
              <a:r>
                <a:rPr lang="zh-CN" altLang="en-US" sz="1400">
                  <a:solidFill>
                    <a:schemeClr val="tx1"/>
                  </a:solidFill>
                  <a:latin typeface="Times New Roman Bold" panose="02020603050405020304" charset="0"/>
                  <a:cs typeface="Times New Roman Bold" panose="02020603050405020304" charset="0"/>
                </a:rPr>
                <a:t>广泛</a:t>
              </a:r>
              <a:r>
                <a:rPr lang="zh-CN" altLang="en-US" sz="1400">
                  <a:solidFill>
                    <a:schemeClr val="tx1"/>
                  </a:solidFill>
                  <a:latin typeface="Times New Roman Bold" panose="02020603050405020304" charset="0"/>
                  <a:cs typeface="Times New Roman Bold" panose="02020603050405020304" charset="0"/>
                </a:rPr>
                <a:t>应用</a:t>
              </a:r>
              <a:endParaRPr lang="zh-CN" altLang="en-US" sz="1400">
                <a:solidFill>
                  <a:schemeClr val="tx1"/>
                </a:solidFill>
                <a:latin typeface="Times New Roman Bold" panose="02020603050405020304" charset="0"/>
                <a:cs typeface="Times New Roman Bold" panose="02020603050405020304" charset="0"/>
              </a:endParaRPr>
            </a:p>
          </p:txBody>
        </p:sp>
        <p:sp>
          <p:nvSpPr>
            <p:cNvPr id="52" name="文本框 51"/>
            <p:cNvSpPr txBox="1"/>
            <p:nvPr/>
          </p:nvSpPr>
          <p:spPr>
            <a:xfrm>
              <a:off x="12391" y="3167"/>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53" name="文本框 52"/>
            <p:cNvSpPr txBox="1"/>
            <p:nvPr/>
          </p:nvSpPr>
          <p:spPr>
            <a:xfrm>
              <a:off x="14429" y="4302"/>
              <a:ext cx="246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Transformer</a:t>
              </a:r>
              <a:endParaRPr lang="en-US" altLang="zh-CN" sz="1400">
                <a:solidFill>
                  <a:schemeClr val="accent6"/>
                </a:solidFill>
                <a:latin typeface="Times New Roman Bold" panose="02020603050405020304" charset="0"/>
                <a:cs typeface="Times New Roman Bold" panose="02020603050405020304" charset="0"/>
              </a:endParaRPr>
            </a:p>
          </p:txBody>
        </p:sp>
        <p:sp>
          <p:nvSpPr>
            <p:cNvPr id="73" name="文本框 72"/>
            <p:cNvSpPr txBox="1"/>
            <p:nvPr/>
          </p:nvSpPr>
          <p:spPr>
            <a:xfrm>
              <a:off x="15020" y="2442"/>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2017</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82" name="文本框 81"/>
            <p:cNvSpPr txBox="1"/>
            <p:nvPr/>
          </p:nvSpPr>
          <p:spPr>
            <a:xfrm>
              <a:off x="15389"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人工智能高峰</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95" name="组合 94"/>
            <p:cNvGrpSpPr/>
            <p:nvPr/>
          </p:nvGrpSpPr>
          <p:grpSpPr>
            <a:xfrm rot="0">
              <a:off x="16513" y="1135"/>
              <a:ext cx="219" cy="2047"/>
              <a:chOff x="1827" y="3643"/>
              <a:chExt cx="219" cy="2047"/>
            </a:xfrm>
          </p:grpSpPr>
          <p:cxnSp>
            <p:nvCxnSpPr>
              <p:cNvPr id="97" name="直接连接符 96"/>
              <p:cNvCxnSpPr/>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99" name="椭圆 98"/>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3" name="文本框 102"/>
            <p:cNvSpPr txBox="1"/>
            <p:nvPr/>
          </p:nvSpPr>
          <p:spPr>
            <a:xfrm>
              <a:off x="16412" y="318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2020s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104" name="文本框 103"/>
            <p:cNvSpPr txBox="1"/>
            <p:nvPr/>
          </p:nvSpPr>
          <p:spPr>
            <a:xfrm>
              <a:off x="13449" y="2454"/>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2012</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08" name="组合 107"/>
            <p:cNvGrpSpPr/>
            <p:nvPr/>
          </p:nvGrpSpPr>
          <p:grpSpPr>
            <a:xfrm rot="0" flipV="1">
              <a:off x="13969" y="2961"/>
              <a:ext cx="219" cy="782"/>
              <a:chOff x="1827" y="4908"/>
              <a:chExt cx="219" cy="782"/>
            </a:xfrm>
          </p:grpSpPr>
          <p:cxnSp>
            <p:nvCxnSpPr>
              <p:cNvPr id="109" name="直接连接符 108"/>
              <p:cNvCxnSpPr/>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0" name="椭圆 109"/>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11" name="文本框 110"/>
            <p:cNvSpPr txBox="1"/>
            <p:nvPr/>
          </p:nvSpPr>
          <p:spPr>
            <a:xfrm>
              <a:off x="13271" y="3767"/>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AlexNet</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183" name="组合 182"/>
            <p:cNvGrpSpPr/>
            <p:nvPr/>
          </p:nvGrpSpPr>
          <p:grpSpPr>
            <a:xfrm rot="0">
              <a:off x="14844" y="2325"/>
              <a:ext cx="219" cy="831"/>
              <a:chOff x="1827" y="4859"/>
              <a:chExt cx="219" cy="831"/>
            </a:xfrm>
          </p:grpSpPr>
          <p:cxnSp>
            <p:nvCxnSpPr>
              <p:cNvPr id="184" name="直接连接符 183"/>
              <p:cNvCxnSpPr/>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85" name="椭圆 184"/>
              <p:cNvSpPr/>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86" name="文本框 185"/>
            <p:cNvSpPr txBox="1"/>
            <p:nvPr/>
          </p:nvSpPr>
          <p:spPr>
            <a:xfrm>
              <a:off x="13735" y="1805"/>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Word2Vec</a:t>
              </a:r>
              <a:endParaRPr lang="en-US" altLang="zh-CN" sz="1400">
                <a:solidFill>
                  <a:schemeClr val="tx1"/>
                </a:solidFill>
                <a:latin typeface="Times New Roman Bold" panose="02020603050405020304" charset="0"/>
                <a:cs typeface="Times New Roman Bold" panose="02020603050405020304" charset="0"/>
              </a:endParaRPr>
            </a:p>
          </p:txBody>
        </p:sp>
        <p:sp>
          <p:nvSpPr>
            <p:cNvPr id="187" name="文本框 186"/>
            <p:cNvSpPr txBox="1"/>
            <p:nvPr/>
          </p:nvSpPr>
          <p:spPr>
            <a:xfrm>
              <a:off x="14325" y="3151"/>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2015s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3" name="组合 2"/>
            <p:cNvGrpSpPr/>
            <p:nvPr/>
          </p:nvGrpSpPr>
          <p:grpSpPr>
            <a:xfrm rot="0" flipV="1">
              <a:off x="16513" y="2969"/>
              <a:ext cx="219" cy="782"/>
              <a:chOff x="1827" y="4908"/>
              <a:chExt cx="219" cy="782"/>
            </a:xfrm>
          </p:grpSpPr>
          <p:cxnSp>
            <p:nvCxnSpPr>
              <p:cNvPr id="5" name="直接连接符 4"/>
              <p:cNvCxnSpPr/>
              <p:nvPr>
                <p:custDataLst>
                  <p:tags r:id="rId3"/>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custDataLst>
                  <p:tags r:id="rId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2" name="文本框 11"/>
            <p:cNvSpPr txBox="1"/>
            <p:nvPr>
              <p:custDataLst>
                <p:tags r:id="rId5"/>
              </p:custDataLst>
            </p:nvPr>
          </p:nvSpPr>
          <p:spPr>
            <a:xfrm>
              <a:off x="15767" y="3819"/>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GPT3</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13" name="组合 12"/>
            <p:cNvGrpSpPr/>
            <p:nvPr/>
          </p:nvGrpSpPr>
          <p:grpSpPr>
            <a:xfrm rot="0" flipV="1">
              <a:off x="17360" y="2955"/>
              <a:ext cx="219" cy="782"/>
              <a:chOff x="1827" y="4908"/>
              <a:chExt cx="219" cy="782"/>
            </a:xfrm>
          </p:grpSpPr>
          <p:cxnSp>
            <p:nvCxnSpPr>
              <p:cNvPr id="14" name="直接连接符 13"/>
              <p:cNvCxnSpPr/>
              <p:nvPr>
                <p:custDataLst>
                  <p:tags r:id="rId6"/>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 name="文本框 16"/>
            <p:cNvSpPr txBox="1"/>
            <p:nvPr>
              <p:custDataLst>
                <p:tags r:id="rId8"/>
              </p:custDataLst>
            </p:nvPr>
          </p:nvSpPr>
          <p:spPr>
            <a:xfrm>
              <a:off x="16757" y="3795"/>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ChatGPT</a:t>
              </a:r>
              <a:endParaRPr lang="en-US" altLang="zh-CN" sz="1400">
                <a:solidFill>
                  <a:schemeClr val="accent6"/>
                </a:solidFill>
                <a:latin typeface="Times New Roman Bold" panose="02020603050405020304" charset="0"/>
                <a:cs typeface="Times New Roman Bold" panose="02020603050405020304" charset="0"/>
              </a:endParaRPr>
            </a:p>
          </p:txBody>
        </p:sp>
      </p:grpSp>
      <p:grpSp>
        <p:nvGrpSpPr>
          <p:cNvPr id="2" name="组合 1"/>
          <p:cNvGrpSpPr/>
          <p:nvPr/>
        </p:nvGrpSpPr>
        <p:grpSpPr>
          <a:xfrm>
            <a:off x="257190" y="3615754"/>
            <a:ext cx="2046702" cy="2109531"/>
            <a:chOff x="6160" y="5031"/>
            <a:chExt cx="2150" cy="2216"/>
          </a:xfrm>
        </p:grpSpPr>
        <p:sp>
          <p:nvSpPr>
            <p:cNvPr id="6" name="任意多边形 5"/>
            <p:cNvSpPr/>
            <p:nvPr>
              <p:custDataLst>
                <p:tags r:id="rId9"/>
              </p:custDataLst>
            </p:nvPr>
          </p:nvSpPr>
          <p:spPr>
            <a:xfrm>
              <a:off x="6160" y="5031"/>
              <a:ext cx="2151" cy="2217"/>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4422" h="4557">
                  <a:moveTo>
                    <a:pt x="191" y="0"/>
                  </a:moveTo>
                  <a:lnTo>
                    <a:pt x="4231" y="0"/>
                  </a:lnTo>
                  <a:cubicBezTo>
                    <a:pt x="4336" y="0"/>
                    <a:pt x="4422" y="86"/>
                    <a:pt x="4422" y="191"/>
                  </a:cubicBezTo>
                  <a:lnTo>
                    <a:pt x="4422" y="4111"/>
                  </a:lnTo>
                  <a:cubicBezTo>
                    <a:pt x="4422" y="4216"/>
                    <a:pt x="4336" y="4302"/>
                    <a:pt x="4231" y="4302"/>
                  </a:cubicBezTo>
                  <a:lnTo>
                    <a:pt x="653" y="4302"/>
                  </a:lnTo>
                  <a:lnTo>
                    <a:pt x="398" y="4557"/>
                  </a:lnTo>
                  <a:lnTo>
                    <a:pt x="398" y="4302"/>
                  </a:lnTo>
                  <a:lnTo>
                    <a:pt x="191" y="4302"/>
                  </a:lnTo>
                  <a:cubicBezTo>
                    <a:pt x="86" y="4302"/>
                    <a:pt x="0" y="4216"/>
                    <a:pt x="0" y="4111"/>
                  </a:cubicBezTo>
                  <a:lnTo>
                    <a:pt x="0" y="191"/>
                  </a:lnTo>
                  <a:cubicBezTo>
                    <a:pt x="0" y="86"/>
                    <a:pt x="86" y="0"/>
                    <a:pt x="191"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2000">
                <a:solidFill>
                  <a:schemeClr val="lt1"/>
                </a:solidFill>
              </a:endParaRPr>
            </a:p>
          </p:txBody>
        </p:sp>
        <p:sp>
          <p:nvSpPr>
            <p:cNvPr id="9" name="文本框 8"/>
            <p:cNvSpPr txBox="1"/>
            <p:nvPr>
              <p:custDataLst>
                <p:tags r:id="rId10"/>
              </p:custDataLst>
            </p:nvPr>
          </p:nvSpPr>
          <p:spPr>
            <a:xfrm>
              <a:off x="6276" y="5117"/>
              <a:ext cx="1920" cy="1942"/>
            </a:xfrm>
            <a:prstGeom prst="rect">
              <a:avLst/>
            </a:prstGeom>
            <a:noFill/>
          </p:spPr>
          <p:txBody>
            <a:bodyPr wrap="square" rtlCol="0" anchor="ctr" anchorCtr="0">
              <a:normAutofit/>
            </a:bodyPr>
            <a:p>
              <a:pPr marL="0" lvl="0" indent="0" algn="l">
                <a:lnSpc>
                  <a:spcPct val="130000"/>
                </a:lnSpc>
                <a:spcBef>
                  <a:spcPts val="0"/>
                </a:spcBef>
                <a:spcAft>
                  <a:spcPts val="0"/>
                </a:spcAft>
                <a:buSzPct val="100000"/>
              </a:pPr>
              <a:r>
                <a:rPr lang="en-US" altLang="zh-CN" sz="1200" spc="150">
                  <a:solidFill>
                    <a:schemeClr val="dk1">
                      <a:lumMod val="85000"/>
                      <a:lumOff val="15000"/>
                    </a:schemeClr>
                  </a:solidFill>
                  <a:uFillTx/>
                  <a:latin typeface="Arial" panose="020B0604020202090204" pitchFamily="34" charset="0"/>
                  <a:ea typeface="微软雅黑" charset="-122"/>
                </a:rPr>
                <a:t> 1980年以前：人工智能第一波热潮，这个时期通常也被称为人工智能的初期阶段。早期的人工智能研究可以追溯到20世纪50年代和60年代。</a:t>
              </a:r>
              <a:endParaRPr lang="en-US" altLang="zh-CN" sz="1200" spc="150">
                <a:solidFill>
                  <a:schemeClr val="dk1">
                    <a:lumMod val="85000"/>
                    <a:lumOff val="15000"/>
                  </a:schemeClr>
                </a:solidFill>
                <a:uFillTx/>
                <a:latin typeface="Arial" panose="020B0604020202090204" pitchFamily="34" charset="0"/>
                <a:ea typeface="微软雅黑" charset="-122"/>
              </a:endParaRPr>
            </a:p>
          </p:txBody>
        </p:sp>
      </p:grpSp>
      <p:sp>
        <p:nvSpPr>
          <p:cNvPr id="7" name="任意多边形 6"/>
          <p:cNvSpPr/>
          <p:nvPr>
            <p:custDataLst>
              <p:tags r:id="rId11"/>
            </p:custDataLst>
          </p:nvPr>
        </p:nvSpPr>
        <p:spPr>
          <a:xfrm>
            <a:off x="5069622" y="3600258"/>
            <a:ext cx="2047797" cy="2110314"/>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4422" h="4557">
                <a:moveTo>
                  <a:pt x="191" y="0"/>
                </a:moveTo>
                <a:lnTo>
                  <a:pt x="4231" y="0"/>
                </a:lnTo>
                <a:cubicBezTo>
                  <a:pt x="4336" y="0"/>
                  <a:pt x="4422" y="86"/>
                  <a:pt x="4422" y="191"/>
                </a:cubicBezTo>
                <a:lnTo>
                  <a:pt x="4422" y="4111"/>
                </a:lnTo>
                <a:cubicBezTo>
                  <a:pt x="4422" y="4216"/>
                  <a:pt x="4336" y="4302"/>
                  <a:pt x="4231" y="4302"/>
                </a:cubicBezTo>
                <a:lnTo>
                  <a:pt x="653" y="4302"/>
                </a:lnTo>
                <a:lnTo>
                  <a:pt x="398" y="4557"/>
                </a:lnTo>
                <a:lnTo>
                  <a:pt x="398" y="4302"/>
                </a:lnTo>
                <a:lnTo>
                  <a:pt x="191" y="4302"/>
                </a:lnTo>
                <a:cubicBezTo>
                  <a:pt x="86" y="4302"/>
                  <a:pt x="0" y="4216"/>
                  <a:pt x="0" y="4111"/>
                </a:cubicBezTo>
                <a:lnTo>
                  <a:pt x="0" y="191"/>
                </a:lnTo>
                <a:cubicBezTo>
                  <a:pt x="0" y="86"/>
                  <a:pt x="86" y="0"/>
                  <a:pt x="191"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8" name="文本框 7"/>
          <p:cNvSpPr txBox="1"/>
          <p:nvPr>
            <p:custDataLst>
              <p:tags r:id="rId12"/>
            </p:custDataLst>
          </p:nvPr>
        </p:nvSpPr>
        <p:spPr>
          <a:xfrm>
            <a:off x="5181029" y="3681166"/>
            <a:ext cx="1827365" cy="1848667"/>
          </a:xfrm>
          <a:prstGeom prst="rect">
            <a:avLst/>
          </a:prstGeom>
          <a:noFill/>
        </p:spPr>
        <p:txBody>
          <a:bodyPr wrap="square" rtlCol="0" anchor="ctr" anchorCtr="0">
            <a:noAutofit/>
          </a:bodyPr>
          <a:p>
            <a:pPr marL="0" lvl="0" indent="0" algn="l">
              <a:lnSpc>
                <a:spcPct val="130000"/>
              </a:lnSpc>
              <a:spcBef>
                <a:spcPts val="0"/>
              </a:spcBef>
              <a:spcAft>
                <a:spcPts val="0"/>
              </a:spcAft>
              <a:buSzPct val="100000"/>
            </a:pPr>
            <a:r>
              <a:rPr lang="en-US" altLang="zh-CN" sz="1200" spc="150">
                <a:solidFill>
                  <a:schemeClr val="dk1">
                    <a:lumMod val="85000"/>
                    <a:lumOff val="15000"/>
                  </a:schemeClr>
                </a:solidFill>
                <a:uFillTx/>
                <a:latin typeface="Arial" panose="020B0604020202090204" pitchFamily="34" charset="0"/>
                <a:ea typeface="微软雅黑" charset="-122"/>
              </a:rPr>
              <a:t> 2000年-2010年：人工智能复兴， 这个时期标志着人工智能研究的重新兴起，尤其是在互联网的推动下。机器学习和数据驱动的方法</a:t>
            </a:r>
            <a:r>
              <a:rPr lang="zh-CN" altLang="en-US" sz="1200" spc="150">
                <a:solidFill>
                  <a:schemeClr val="dk1">
                    <a:lumMod val="85000"/>
                    <a:lumOff val="15000"/>
                  </a:schemeClr>
                </a:solidFill>
                <a:uFillTx/>
                <a:latin typeface="Arial" panose="020B0604020202090204" pitchFamily="34" charset="0"/>
                <a:ea typeface="微软雅黑" charset="-122"/>
              </a:rPr>
              <a:t>流行</a:t>
            </a:r>
            <a:r>
              <a:rPr lang="en-US" altLang="zh-CN" sz="1200" spc="150">
                <a:solidFill>
                  <a:schemeClr val="dk1">
                    <a:lumMod val="85000"/>
                    <a:lumOff val="15000"/>
                  </a:schemeClr>
                </a:solidFill>
                <a:uFillTx/>
                <a:latin typeface="Arial" panose="020B0604020202090204" pitchFamily="34" charset="0"/>
                <a:ea typeface="微软雅黑" charset="-122"/>
              </a:rPr>
              <a:t>，导致了一些重大突破。</a:t>
            </a:r>
            <a:endParaRPr lang="en-US" altLang="zh-CN" sz="1200" spc="150">
              <a:solidFill>
                <a:schemeClr val="dk1">
                  <a:lumMod val="85000"/>
                  <a:lumOff val="15000"/>
                </a:schemeClr>
              </a:solidFill>
              <a:uFillTx/>
              <a:latin typeface="Arial" panose="020B0604020202090204" pitchFamily="34" charset="0"/>
              <a:ea typeface="微软雅黑" charset="-122"/>
            </a:endParaRPr>
          </a:p>
        </p:txBody>
      </p:sp>
      <p:sp>
        <p:nvSpPr>
          <p:cNvPr id="16" name="任意多边形 15"/>
          <p:cNvSpPr/>
          <p:nvPr>
            <p:custDataLst>
              <p:tags r:id="rId13"/>
            </p:custDataLst>
          </p:nvPr>
        </p:nvSpPr>
        <p:spPr>
          <a:xfrm>
            <a:off x="9857653" y="3615754"/>
            <a:ext cx="2047797" cy="2110314"/>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4422" h="4557">
                <a:moveTo>
                  <a:pt x="191" y="0"/>
                </a:moveTo>
                <a:lnTo>
                  <a:pt x="4231" y="0"/>
                </a:lnTo>
                <a:cubicBezTo>
                  <a:pt x="4336" y="0"/>
                  <a:pt x="4422" y="86"/>
                  <a:pt x="4422" y="191"/>
                </a:cubicBezTo>
                <a:lnTo>
                  <a:pt x="4422" y="4111"/>
                </a:lnTo>
                <a:cubicBezTo>
                  <a:pt x="4422" y="4216"/>
                  <a:pt x="4336" y="4302"/>
                  <a:pt x="4231" y="4302"/>
                </a:cubicBezTo>
                <a:lnTo>
                  <a:pt x="653" y="4302"/>
                </a:lnTo>
                <a:lnTo>
                  <a:pt x="398" y="4557"/>
                </a:lnTo>
                <a:lnTo>
                  <a:pt x="398" y="4302"/>
                </a:lnTo>
                <a:lnTo>
                  <a:pt x="191" y="4302"/>
                </a:lnTo>
                <a:cubicBezTo>
                  <a:pt x="86" y="4302"/>
                  <a:pt x="0" y="4216"/>
                  <a:pt x="0" y="4111"/>
                </a:cubicBezTo>
                <a:lnTo>
                  <a:pt x="0" y="191"/>
                </a:lnTo>
                <a:cubicBezTo>
                  <a:pt x="0" y="86"/>
                  <a:pt x="86" y="0"/>
                  <a:pt x="191"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18" name="文本框 17"/>
          <p:cNvSpPr txBox="1"/>
          <p:nvPr>
            <p:custDataLst>
              <p:tags r:id="rId14"/>
            </p:custDataLst>
          </p:nvPr>
        </p:nvSpPr>
        <p:spPr>
          <a:xfrm>
            <a:off x="9988134" y="3674014"/>
            <a:ext cx="1827365" cy="1848667"/>
          </a:xfrm>
          <a:prstGeom prst="rect">
            <a:avLst/>
          </a:prstGeom>
          <a:noFill/>
        </p:spPr>
        <p:txBody>
          <a:bodyPr wrap="square" rtlCol="0" anchor="ctr" anchorCtr="0">
            <a:normAutofit/>
          </a:bodyPr>
          <a:p>
            <a:pPr marL="0" lvl="0" indent="0" algn="l">
              <a:lnSpc>
                <a:spcPct val="130000"/>
              </a:lnSpc>
              <a:spcBef>
                <a:spcPts val="0"/>
              </a:spcBef>
              <a:spcAft>
                <a:spcPts val="0"/>
              </a:spcAft>
              <a:buSzPct val="100000"/>
            </a:pPr>
            <a:r>
              <a:rPr lang="en-US" altLang="zh-CN" sz="1200" spc="150">
                <a:solidFill>
                  <a:schemeClr val="dk1">
                    <a:lumMod val="85000"/>
                    <a:lumOff val="15000"/>
                  </a:schemeClr>
                </a:solidFill>
                <a:uFillTx/>
                <a:latin typeface="Arial" panose="020B0604020202090204" pitchFamily="34" charset="0"/>
                <a:ea typeface="微软雅黑" charset="-122"/>
              </a:rPr>
              <a:t> 2020年-至今：大模型时代，这个时期标志着大规模深度学习模型（如GPT-3、ChatGPT</a:t>
            </a:r>
            <a:r>
              <a:rPr lang="zh-CN" altLang="en-US" sz="1200" spc="150">
                <a:solidFill>
                  <a:schemeClr val="dk1">
                    <a:lumMod val="85000"/>
                    <a:lumOff val="15000"/>
                  </a:schemeClr>
                </a:solidFill>
                <a:uFillTx/>
                <a:latin typeface="Arial" panose="020B0604020202090204" pitchFamily="34" charset="0"/>
                <a:ea typeface="微软雅黑" charset="-122"/>
              </a:rPr>
              <a:t>、</a:t>
            </a:r>
            <a:r>
              <a:rPr lang="en-US" altLang="zh-CN" sz="1200" spc="150">
                <a:solidFill>
                  <a:schemeClr val="dk1">
                    <a:lumMod val="85000"/>
                    <a:lumOff val="15000"/>
                  </a:schemeClr>
                </a:solidFill>
                <a:uFillTx/>
                <a:latin typeface="Arial" panose="020B0604020202090204" pitchFamily="34" charset="0"/>
                <a:ea typeface="微软雅黑" charset="-122"/>
              </a:rPr>
              <a:t>GPT-4等）的兴起和广泛应用。</a:t>
            </a:r>
            <a:endParaRPr lang="en-US" altLang="zh-CN" sz="1200" spc="150">
              <a:solidFill>
                <a:schemeClr val="dk1">
                  <a:lumMod val="85000"/>
                  <a:lumOff val="15000"/>
                </a:schemeClr>
              </a:solidFill>
              <a:uFillTx/>
              <a:latin typeface="Arial" panose="020B0604020202090204" pitchFamily="34" charset="0"/>
              <a:ea typeface="微软雅黑" charset="-122"/>
            </a:endParaRPr>
          </a:p>
        </p:txBody>
      </p:sp>
      <p:sp>
        <p:nvSpPr>
          <p:cNvPr id="19" name="任意多边形 18"/>
          <p:cNvSpPr/>
          <p:nvPr>
            <p:custDataLst>
              <p:tags r:id="rId15"/>
            </p:custDataLst>
          </p:nvPr>
        </p:nvSpPr>
        <p:spPr>
          <a:xfrm flipH="1" flipV="1">
            <a:off x="2656691" y="3500254"/>
            <a:ext cx="2047797" cy="2110314"/>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4422" h="4557">
                <a:moveTo>
                  <a:pt x="191" y="0"/>
                </a:moveTo>
                <a:lnTo>
                  <a:pt x="4231" y="0"/>
                </a:lnTo>
                <a:cubicBezTo>
                  <a:pt x="4336" y="0"/>
                  <a:pt x="4422" y="86"/>
                  <a:pt x="4422" y="191"/>
                </a:cubicBezTo>
                <a:lnTo>
                  <a:pt x="4422" y="4111"/>
                </a:lnTo>
                <a:cubicBezTo>
                  <a:pt x="4422" y="4216"/>
                  <a:pt x="4336" y="4302"/>
                  <a:pt x="4231" y="4302"/>
                </a:cubicBezTo>
                <a:lnTo>
                  <a:pt x="653" y="4302"/>
                </a:lnTo>
                <a:lnTo>
                  <a:pt x="398" y="4557"/>
                </a:lnTo>
                <a:lnTo>
                  <a:pt x="398" y="4302"/>
                </a:lnTo>
                <a:lnTo>
                  <a:pt x="191" y="4302"/>
                </a:lnTo>
                <a:cubicBezTo>
                  <a:pt x="86" y="4302"/>
                  <a:pt x="0" y="4216"/>
                  <a:pt x="0" y="4111"/>
                </a:cubicBezTo>
                <a:lnTo>
                  <a:pt x="0" y="191"/>
                </a:lnTo>
                <a:cubicBezTo>
                  <a:pt x="0" y="86"/>
                  <a:pt x="86" y="0"/>
                  <a:pt x="191"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20" name="文本框 19"/>
          <p:cNvSpPr txBox="1"/>
          <p:nvPr>
            <p:custDataLst>
              <p:tags r:id="rId16"/>
            </p:custDataLst>
          </p:nvPr>
        </p:nvSpPr>
        <p:spPr>
          <a:xfrm>
            <a:off x="2766908" y="3674377"/>
            <a:ext cx="1827365" cy="1848667"/>
          </a:xfrm>
          <a:prstGeom prst="rect">
            <a:avLst/>
          </a:prstGeom>
          <a:noFill/>
        </p:spPr>
        <p:txBody>
          <a:bodyPr wrap="square" rtlCol="0" anchor="ctr" anchorCtr="0"/>
          <a:p>
            <a:pPr marL="0" lvl="0" indent="0" algn="l">
              <a:lnSpc>
                <a:spcPct val="130000"/>
              </a:lnSpc>
              <a:spcBef>
                <a:spcPts val="0"/>
              </a:spcBef>
              <a:spcAft>
                <a:spcPts val="0"/>
              </a:spcAft>
              <a:buSzPct val="100000"/>
            </a:pPr>
            <a:r>
              <a:rPr lang="en-US" altLang="zh-CN" sz="1200" spc="150">
                <a:solidFill>
                  <a:schemeClr val="dk1">
                    <a:lumMod val="85000"/>
                    <a:lumOff val="15000"/>
                  </a:schemeClr>
                </a:solidFill>
                <a:uFillTx/>
                <a:latin typeface="Arial" panose="020B0604020202090204" pitchFamily="34" charset="0"/>
                <a:ea typeface="微软雅黑" charset="-122"/>
              </a:rPr>
              <a:t> 1980年-2000年：人工智能寒冬，在1980年代末和1990年代初，人工智能的研究进展相对较慢，研究资金减少。</a:t>
            </a:r>
            <a:r>
              <a:rPr lang="zh-CN" altLang="en-US" sz="1200" spc="150">
                <a:solidFill>
                  <a:schemeClr val="dk1">
                    <a:lumMod val="85000"/>
                    <a:lumOff val="15000"/>
                  </a:schemeClr>
                </a:solidFill>
                <a:uFillTx/>
                <a:latin typeface="Arial" panose="020B0604020202090204" pitchFamily="34" charset="0"/>
                <a:ea typeface="微软雅黑" charset="-122"/>
              </a:rPr>
              <a:t>成果集中在</a:t>
            </a:r>
            <a:r>
              <a:rPr lang="en-US" altLang="zh-CN" sz="1200" spc="150">
                <a:solidFill>
                  <a:schemeClr val="dk1">
                    <a:lumMod val="85000"/>
                    <a:lumOff val="15000"/>
                  </a:schemeClr>
                </a:solidFill>
                <a:uFillTx/>
                <a:latin typeface="Arial" panose="020B0604020202090204" pitchFamily="34" charset="0"/>
                <a:ea typeface="微软雅黑" charset="-122"/>
              </a:rPr>
              <a:t>专家系统和机器学习</a:t>
            </a:r>
            <a:r>
              <a:rPr lang="zh-CN" altLang="en-US" sz="1200" spc="150">
                <a:solidFill>
                  <a:schemeClr val="dk1">
                    <a:lumMod val="85000"/>
                    <a:lumOff val="15000"/>
                  </a:schemeClr>
                </a:solidFill>
                <a:uFillTx/>
                <a:latin typeface="Arial" panose="020B0604020202090204" pitchFamily="34" charset="0"/>
                <a:ea typeface="微软雅黑" charset="-122"/>
              </a:rPr>
              <a:t>方面</a:t>
            </a:r>
            <a:r>
              <a:rPr lang="en-US" altLang="zh-CN" sz="1200" spc="150">
                <a:solidFill>
                  <a:schemeClr val="dk1">
                    <a:lumMod val="85000"/>
                    <a:lumOff val="15000"/>
                  </a:schemeClr>
                </a:solidFill>
                <a:uFillTx/>
                <a:latin typeface="Arial" panose="020B0604020202090204" pitchFamily="34" charset="0"/>
                <a:ea typeface="微软雅黑" charset="-122"/>
              </a:rPr>
              <a:t>。</a:t>
            </a:r>
            <a:endParaRPr lang="en-US" altLang="zh-CN" sz="1200" spc="150">
              <a:solidFill>
                <a:schemeClr val="dk1">
                  <a:lumMod val="85000"/>
                  <a:lumOff val="15000"/>
                </a:schemeClr>
              </a:solidFill>
              <a:uFillTx/>
              <a:latin typeface="Arial" panose="020B0604020202090204" pitchFamily="34" charset="0"/>
              <a:ea typeface="微软雅黑" charset="-122"/>
            </a:endParaRPr>
          </a:p>
        </p:txBody>
      </p:sp>
      <p:sp>
        <p:nvSpPr>
          <p:cNvPr id="21" name="任意多边形 20"/>
          <p:cNvSpPr/>
          <p:nvPr>
            <p:custDataLst>
              <p:tags r:id="rId17"/>
            </p:custDataLst>
          </p:nvPr>
        </p:nvSpPr>
        <p:spPr>
          <a:xfrm flipH="1" flipV="1">
            <a:off x="7521013" y="3500254"/>
            <a:ext cx="2047797" cy="2110314"/>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4422" h="4557">
                <a:moveTo>
                  <a:pt x="191" y="0"/>
                </a:moveTo>
                <a:lnTo>
                  <a:pt x="4231" y="0"/>
                </a:lnTo>
                <a:cubicBezTo>
                  <a:pt x="4336" y="0"/>
                  <a:pt x="4422" y="86"/>
                  <a:pt x="4422" y="191"/>
                </a:cubicBezTo>
                <a:lnTo>
                  <a:pt x="4422" y="4111"/>
                </a:lnTo>
                <a:cubicBezTo>
                  <a:pt x="4422" y="4216"/>
                  <a:pt x="4336" y="4302"/>
                  <a:pt x="4231" y="4302"/>
                </a:cubicBezTo>
                <a:lnTo>
                  <a:pt x="653" y="4302"/>
                </a:lnTo>
                <a:lnTo>
                  <a:pt x="398" y="4557"/>
                </a:lnTo>
                <a:lnTo>
                  <a:pt x="398" y="4302"/>
                </a:lnTo>
                <a:lnTo>
                  <a:pt x="191" y="4302"/>
                </a:lnTo>
                <a:cubicBezTo>
                  <a:pt x="86" y="4302"/>
                  <a:pt x="0" y="4216"/>
                  <a:pt x="0" y="4111"/>
                </a:cubicBezTo>
                <a:lnTo>
                  <a:pt x="0" y="191"/>
                </a:lnTo>
                <a:cubicBezTo>
                  <a:pt x="0" y="86"/>
                  <a:pt x="86" y="0"/>
                  <a:pt x="191"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22" name="文本框 21"/>
          <p:cNvSpPr txBox="1"/>
          <p:nvPr>
            <p:custDataLst>
              <p:tags r:id="rId18"/>
            </p:custDataLst>
          </p:nvPr>
        </p:nvSpPr>
        <p:spPr>
          <a:xfrm>
            <a:off x="7616328" y="3697621"/>
            <a:ext cx="1827365" cy="1848667"/>
          </a:xfrm>
          <a:prstGeom prst="rect">
            <a:avLst/>
          </a:prstGeom>
          <a:noFill/>
        </p:spPr>
        <p:txBody>
          <a:bodyPr wrap="square" rtlCol="0" anchor="ctr" anchorCtr="0">
            <a:noAutofit/>
          </a:bodyPr>
          <a:p>
            <a:pPr marL="0" lvl="0" indent="0" algn="l">
              <a:lnSpc>
                <a:spcPct val="130000"/>
              </a:lnSpc>
              <a:spcBef>
                <a:spcPts val="0"/>
              </a:spcBef>
              <a:spcAft>
                <a:spcPts val="0"/>
              </a:spcAft>
              <a:buSzPct val="100000"/>
            </a:pPr>
            <a:r>
              <a:rPr lang="en-US" altLang="zh-CN" sz="1200" spc="150">
                <a:solidFill>
                  <a:schemeClr val="dk1">
                    <a:lumMod val="85000"/>
                    <a:lumOff val="15000"/>
                  </a:schemeClr>
                </a:solidFill>
                <a:uFillTx/>
                <a:latin typeface="Arial" panose="020B0604020202090204" pitchFamily="34" charset="0"/>
                <a:ea typeface="微软雅黑" charset="-122"/>
              </a:rPr>
              <a:t> 2010年-2020年：进入深度学习时代，深度学习方法在CV、NLP和其他领域取得了巨大的成功。这一时期还涵盖了强化学习等其他重要的人工智能研究方向。</a:t>
            </a:r>
            <a:endParaRPr lang="en-US" altLang="zh-CN" sz="1200" spc="150">
              <a:solidFill>
                <a:schemeClr val="dk1">
                  <a:lumMod val="85000"/>
                  <a:lumOff val="15000"/>
                </a:schemeClr>
              </a:solidFill>
              <a:uFillTx/>
              <a:latin typeface="Arial" panose="020B0604020202090204" pitchFamily="34" charset="0"/>
              <a:ea typeface="微软雅黑" charset="-122"/>
            </a:endParaRPr>
          </a:p>
        </p:txBody>
      </p:sp>
    </p:spTree>
    <p:custDataLst>
      <p:tags r:id="rId1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descr="3b403882-85d9-4143-9480-b0b97a85f8c3"/>
          <p:cNvPicPr>
            <a:picLocks noChangeAspect="1"/>
          </p:cNvPicPr>
          <p:nvPr>
            <p:custDataLst>
              <p:tags r:id="rId1"/>
            </p:custDataLst>
          </p:nvPr>
        </p:nvPicPr>
        <p:blipFill>
          <a:blip r:embed="rId2"/>
          <a:stretch>
            <a:fillRect/>
          </a:stretch>
        </p:blipFill>
        <p:spPr>
          <a:xfrm>
            <a:off x="10403840" y="6379845"/>
            <a:ext cx="1653540" cy="374015"/>
          </a:xfrm>
          <a:prstGeom prst="rect">
            <a:avLst/>
          </a:prstGeom>
        </p:spPr>
      </p:pic>
      <p:grpSp>
        <p:nvGrpSpPr>
          <p:cNvPr id="2" name="组合 1"/>
          <p:cNvGrpSpPr/>
          <p:nvPr/>
        </p:nvGrpSpPr>
        <p:grpSpPr>
          <a:xfrm>
            <a:off x="501015" y="4166235"/>
            <a:ext cx="2360295" cy="2125980"/>
            <a:chOff x="6160" y="5031"/>
            <a:chExt cx="2150" cy="2216"/>
          </a:xfrm>
        </p:grpSpPr>
        <p:sp>
          <p:nvSpPr>
            <p:cNvPr id="6" name="任意多边形 5"/>
            <p:cNvSpPr/>
            <p:nvPr>
              <p:custDataLst>
                <p:tags r:id="rId3"/>
              </p:custDataLst>
            </p:nvPr>
          </p:nvSpPr>
          <p:spPr>
            <a:xfrm>
              <a:off x="6160" y="5031"/>
              <a:ext cx="2151" cy="2217"/>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4422" h="4557">
                  <a:moveTo>
                    <a:pt x="191" y="0"/>
                  </a:moveTo>
                  <a:lnTo>
                    <a:pt x="4231" y="0"/>
                  </a:lnTo>
                  <a:cubicBezTo>
                    <a:pt x="4336" y="0"/>
                    <a:pt x="4422" y="86"/>
                    <a:pt x="4422" y="191"/>
                  </a:cubicBezTo>
                  <a:lnTo>
                    <a:pt x="4422" y="4111"/>
                  </a:lnTo>
                  <a:cubicBezTo>
                    <a:pt x="4422" y="4216"/>
                    <a:pt x="4336" y="4302"/>
                    <a:pt x="4231" y="4302"/>
                  </a:cubicBezTo>
                  <a:lnTo>
                    <a:pt x="653" y="4302"/>
                  </a:lnTo>
                  <a:lnTo>
                    <a:pt x="398" y="4557"/>
                  </a:lnTo>
                  <a:lnTo>
                    <a:pt x="398" y="4302"/>
                  </a:lnTo>
                  <a:lnTo>
                    <a:pt x="191" y="4302"/>
                  </a:lnTo>
                  <a:cubicBezTo>
                    <a:pt x="86" y="4302"/>
                    <a:pt x="0" y="4216"/>
                    <a:pt x="0" y="4111"/>
                  </a:cubicBezTo>
                  <a:lnTo>
                    <a:pt x="0" y="191"/>
                  </a:lnTo>
                  <a:cubicBezTo>
                    <a:pt x="0" y="86"/>
                    <a:pt x="86" y="0"/>
                    <a:pt x="191"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9" name="文本框 8"/>
            <p:cNvSpPr txBox="1"/>
            <p:nvPr>
              <p:custDataLst>
                <p:tags r:id="rId4"/>
              </p:custDataLst>
            </p:nvPr>
          </p:nvSpPr>
          <p:spPr>
            <a:xfrm>
              <a:off x="6276" y="5117"/>
              <a:ext cx="1920" cy="1942"/>
            </a:xfrm>
            <a:prstGeom prst="rect">
              <a:avLst/>
            </a:prstGeom>
            <a:noFill/>
          </p:spPr>
          <p:txBody>
            <a:bodyPr wrap="square" rtlCol="0" anchor="ctr" anchorCtr="0">
              <a:normAutofit/>
            </a:bodyPr>
            <a:p>
              <a:pPr marL="0" lvl="0" indent="0" algn="l">
                <a:lnSpc>
                  <a:spcPct val="130000"/>
                </a:lnSpc>
                <a:spcBef>
                  <a:spcPts val="0"/>
                </a:spcBef>
                <a:spcAft>
                  <a:spcPts val="0"/>
                </a:spcAft>
                <a:buSzPct val="100000"/>
              </a:pPr>
              <a:r>
                <a:rPr lang="en-US" altLang="zh-CN" sz="1400" spc="150">
                  <a:solidFill>
                    <a:schemeClr val="dk1">
                      <a:lumMod val="85000"/>
                      <a:lumOff val="15000"/>
                    </a:schemeClr>
                  </a:solidFill>
                  <a:uFillTx/>
                  <a:latin typeface="Arial" panose="020B0604020202090204" pitchFamily="34" charset="0"/>
                  <a:ea typeface="微软雅黑" charset="-122"/>
                </a:rPr>
                <a:t> 1980年以前：</a:t>
              </a:r>
              <a:r>
                <a:rPr lang="en-US" altLang="zh-CN" sz="1400" spc="150">
                  <a:solidFill>
                    <a:schemeClr val="dk1">
                      <a:lumMod val="85000"/>
                      <a:lumOff val="15000"/>
                    </a:schemeClr>
                  </a:solidFill>
                  <a:uFillTx/>
                  <a:latin typeface="Arial" panose="020B0604020202090204" pitchFamily="34" charset="0"/>
                  <a:ea typeface="微软雅黑" charset="-122"/>
                  <a:sym typeface="+mn-ea"/>
                </a:rPr>
                <a:t>早期的人工智能研究可以追溯到20世纪50年代和60年代。</a:t>
              </a:r>
              <a:r>
                <a:rPr lang="en-US" altLang="zh-CN" sz="1400" spc="150">
                  <a:solidFill>
                    <a:schemeClr val="dk1">
                      <a:lumMod val="85000"/>
                      <a:lumOff val="15000"/>
                    </a:schemeClr>
                  </a:solidFill>
                  <a:uFillTx/>
                  <a:latin typeface="Arial" panose="020B0604020202090204" pitchFamily="34" charset="0"/>
                  <a:ea typeface="微软雅黑" charset="-122"/>
                </a:rPr>
                <a:t>人工智能第一波热潮</a:t>
              </a:r>
              <a:r>
                <a:rPr lang="zh-CN" altLang="en-US" sz="1400" spc="150">
                  <a:solidFill>
                    <a:schemeClr val="dk1">
                      <a:lumMod val="85000"/>
                      <a:lumOff val="15000"/>
                    </a:schemeClr>
                  </a:solidFill>
                  <a:uFillTx/>
                  <a:latin typeface="Arial" panose="020B0604020202090204" pitchFamily="34" charset="0"/>
                  <a:ea typeface="微软雅黑" charset="-122"/>
                </a:rPr>
                <a:t>。</a:t>
              </a:r>
              <a:endParaRPr lang="zh-CN" altLang="en-US" sz="1400" spc="150">
                <a:solidFill>
                  <a:schemeClr val="dk1">
                    <a:lumMod val="85000"/>
                    <a:lumOff val="15000"/>
                  </a:schemeClr>
                </a:solidFill>
                <a:uFillTx/>
                <a:latin typeface="Arial" panose="020B0604020202090204" pitchFamily="34" charset="0"/>
                <a:ea typeface="微软雅黑" charset="-122"/>
              </a:endParaRPr>
            </a:p>
          </p:txBody>
        </p:sp>
      </p:grpSp>
      <p:sp>
        <p:nvSpPr>
          <p:cNvPr id="48" name="文本框 47"/>
          <p:cNvSpPr txBox="1"/>
          <p:nvPr/>
        </p:nvSpPr>
        <p:spPr>
          <a:xfrm>
            <a:off x="3384550" y="4346575"/>
            <a:ext cx="4888865" cy="1578610"/>
          </a:xfrm>
          <a:prstGeom prst="rect">
            <a:avLst/>
          </a:prstGeom>
          <a:noFill/>
        </p:spPr>
        <p:txBody>
          <a:bodyPr wrap="square" rtlCol="0" anchor="t">
            <a:spAutoFit/>
          </a:bodyPr>
          <a:p>
            <a:pPr marL="0" indent="0" fontAlgn="auto">
              <a:lnSpc>
                <a:spcPct val="120000"/>
              </a:lnSpc>
              <a:spcBef>
                <a:spcPts val="0"/>
              </a:spcBef>
              <a:spcAft>
                <a:spcPts val="800"/>
              </a:spcAft>
              <a:buNone/>
            </a:pPr>
            <a:r>
              <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rPr>
              <a:t>重大事件：</a:t>
            </a:r>
            <a:endPar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endParaRPr>
          </a:p>
          <a:p>
            <a:pPr marL="0" indent="0" fontAlgn="auto">
              <a:lnSpc>
                <a:spcPct val="120000"/>
              </a:lnSpc>
              <a:spcBef>
                <a:spcPts val="0"/>
              </a:spcBef>
              <a:spcAft>
                <a:spcPts val="800"/>
              </a:spcAft>
              <a:buNone/>
            </a:pPr>
            <a:r>
              <a:rPr lang="zh-CN" altLang="en-US" sz="1600" spc="170">
                <a:uFillTx/>
                <a:latin typeface="微软雅黑" charset="-122"/>
                <a:ea typeface="微软雅黑" charset="-122"/>
                <a:cs typeface="微软雅黑" charset="-122"/>
                <a:sym typeface="+mn-ea"/>
              </a:rPr>
              <a:t>1950年，图灵测试：人工智能的雏形</a:t>
            </a:r>
            <a:endParaRPr lang="zh-CN" altLang="en-US" sz="1600" spc="170">
              <a:uFillTx/>
              <a:latin typeface="微软雅黑" charset="-122"/>
              <a:ea typeface="微软雅黑" charset="-122"/>
              <a:cs typeface="微软雅黑" charset="-122"/>
              <a:sym typeface="+mn-ea"/>
            </a:endParaRPr>
          </a:p>
          <a:p>
            <a:pPr marL="0" indent="0" fontAlgn="auto">
              <a:lnSpc>
                <a:spcPct val="120000"/>
              </a:lnSpc>
              <a:spcBef>
                <a:spcPts val="0"/>
              </a:spcBef>
              <a:spcAft>
                <a:spcPts val="800"/>
              </a:spcAft>
              <a:buNone/>
            </a:pPr>
            <a:r>
              <a:rPr lang="zh-CN" altLang="en-US" sz="1600" spc="130">
                <a:uFillTx/>
                <a:latin typeface="微软雅黑" charset="-122"/>
                <a:ea typeface="微软雅黑" charset="-122"/>
                <a:cs typeface="微软雅黑" charset="-122"/>
                <a:sym typeface="+mn-ea"/>
              </a:rPr>
              <a:t>1956年，达特茅斯会议：人工智能正式诞生</a:t>
            </a:r>
            <a:endParaRPr lang="zh-CN" altLang="en-US" sz="1600" spc="130">
              <a:uFillTx/>
              <a:latin typeface="微软雅黑" charset="-122"/>
              <a:ea typeface="微软雅黑" charset="-122"/>
              <a:cs typeface="微软雅黑" charset="-122"/>
              <a:sym typeface="+mn-ea"/>
            </a:endParaRPr>
          </a:p>
          <a:p>
            <a:pPr marL="0" indent="0" fontAlgn="auto">
              <a:lnSpc>
                <a:spcPct val="120000"/>
              </a:lnSpc>
              <a:spcBef>
                <a:spcPts val="0"/>
              </a:spcBef>
              <a:spcAft>
                <a:spcPts val="800"/>
              </a:spcAft>
              <a:buNone/>
            </a:pPr>
            <a:endParaRPr lang="zh-CN" altLang="en-US" sz="1600" spc="130">
              <a:uFillTx/>
              <a:latin typeface="微软雅黑" charset="-122"/>
              <a:ea typeface="微软雅黑" charset="-122"/>
              <a:cs typeface="微软雅黑" charset="-122"/>
              <a:sym typeface="+mn-ea"/>
            </a:endParaRPr>
          </a:p>
        </p:txBody>
      </p:sp>
      <p:sp>
        <p:nvSpPr>
          <p:cNvPr id="67" name="波形 66"/>
          <p:cNvSpPr/>
          <p:nvPr/>
        </p:nvSpPr>
        <p:spPr>
          <a:xfrm>
            <a:off x="36195" y="3349625"/>
            <a:ext cx="5081270" cy="817245"/>
          </a:xfrm>
          <a:prstGeom prst="wave">
            <a:avLst>
              <a:gd name="adj1" fmla="val 9090"/>
              <a:gd name="adj2" fmla="val 0"/>
            </a:avLst>
          </a:prstGeom>
          <a:solidFill>
            <a:schemeClr val="accent1">
              <a:lumMod val="20000"/>
              <a:lumOff val="80000"/>
            </a:schemeClr>
          </a:solidFill>
          <a:ln>
            <a:solidFill>
              <a:schemeClr val="accent4">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68" name="文本框 67"/>
          <p:cNvSpPr txBox="1"/>
          <p:nvPr/>
        </p:nvSpPr>
        <p:spPr>
          <a:xfrm>
            <a:off x="160655" y="3443605"/>
            <a:ext cx="4888230" cy="645160"/>
          </a:xfrm>
          <a:prstGeom prst="rect">
            <a:avLst/>
          </a:prstGeom>
          <a:noFill/>
        </p:spPr>
        <p:txBody>
          <a:bodyPr wrap="square" rtlCol="0" anchor="t">
            <a:spAutoFit/>
          </a:bodyPr>
          <a:p>
            <a:pPr algn="ctr"/>
            <a:r>
              <a:rPr lang="zh-CN" altLang="en-US">
                <a:sym typeface="+mn-ea"/>
              </a:rPr>
              <a:t>应用产业：专家系统和自然语言处理，但产业结合程度有限</a:t>
            </a:r>
            <a:endParaRPr lang="zh-CN" altLang="en-US">
              <a:sym typeface="+mn-ea"/>
            </a:endParaRPr>
          </a:p>
        </p:txBody>
      </p:sp>
      <p:grpSp>
        <p:nvGrpSpPr>
          <p:cNvPr id="16" name="组合 15"/>
          <p:cNvGrpSpPr/>
          <p:nvPr/>
        </p:nvGrpSpPr>
        <p:grpSpPr>
          <a:xfrm>
            <a:off x="1305560" y="1084777"/>
            <a:ext cx="9985375" cy="2087778"/>
            <a:chOff x="1023" y="476"/>
            <a:chExt cx="17349" cy="5135"/>
          </a:xfrm>
        </p:grpSpPr>
        <p:cxnSp>
          <p:nvCxnSpPr>
            <p:cNvPr id="18" name="直接箭头连接符 17"/>
            <p:cNvCxnSpPr/>
            <p:nvPr>
              <p:custDataLst>
                <p:tags r:id="rId5"/>
              </p:custDataLst>
            </p:nvPr>
          </p:nvCxnSpPr>
          <p:spPr>
            <a:xfrm flipV="1">
              <a:off x="1157" y="3048"/>
              <a:ext cx="16980" cy="44"/>
            </a:xfrm>
            <a:prstGeom prst="straightConnector1">
              <a:avLst/>
            </a:prstGeom>
            <a:ln w="5715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9" name="文本框 18"/>
            <p:cNvSpPr txBox="1"/>
            <p:nvPr>
              <p:custDataLst>
                <p:tags r:id="rId6"/>
              </p:custDataLst>
            </p:nvPr>
          </p:nvSpPr>
          <p:spPr>
            <a:xfrm>
              <a:off x="1023" y="1235"/>
              <a:ext cx="2357" cy="754"/>
            </a:xfrm>
            <a:prstGeom prst="rect">
              <a:avLst/>
            </a:prstGeom>
            <a:noFill/>
          </p:spPr>
          <p:txBody>
            <a:bodyPr wrap="square" rtlCol="0">
              <a:spAutoFit/>
            </a:bodyPr>
            <a:p>
              <a:pPr algn="ctr">
                <a:buClrTx/>
                <a:buSzTx/>
                <a:buFontTx/>
              </a:pPr>
              <a:r>
                <a:rPr lang="zh-CN" altLang="en-US" sz="1400">
                  <a:solidFill>
                    <a:schemeClr val="accent6"/>
                  </a:solidFill>
                  <a:latin typeface="Times New Roman Bold" panose="02020603050405020304" charset="0"/>
                  <a:cs typeface="Times New Roman Bold" panose="02020603050405020304" charset="0"/>
                  <a:sym typeface="+mn-ea"/>
                </a:rPr>
                <a:t>达特茅斯会议</a:t>
              </a:r>
              <a:endParaRPr lang="zh-CN" altLang="en-US" sz="1400">
                <a:solidFill>
                  <a:schemeClr val="accent6"/>
                </a:solidFill>
                <a:latin typeface="Times New Roman Bold" panose="02020603050405020304" charset="0"/>
                <a:cs typeface="Times New Roman Bold" panose="02020603050405020304" charset="0"/>
                <a:sym typeface="+mn-ea"/>
              </a:endParaRPr>
            </a:p>
          </p:txBody>
        </p:sp>
        <p:sp>
          <p:nvSpPr>
            <p:cNvPr id="20" name="文本框 19"/>
            <p:cNvSpPr txBox="1"/>
            <p:nvPr>
              <p:custDataLst>
                <p:tags r:id="rId7"/>
              </p:custDataLst>
            </p:nvPr>
          </p:nvSpPr>
          <p:spPr>
            <a:xfrm>
              <a:off x="2108" y="4226"/>
              <a:ext cx="2465" cy="1284"/>
            </a:xfrm>
            <a:prstGeom prst="rect">
              <a:avLst/>
            </a:prstGeom>
            <a:noFill/>
          </p:spPr>
          <p:txBody>
            <a:bodyPr wrap="square" rtlCol="0">
              <a:spAutoFit/>
            </a:bodyPr>
            <a:p>
              <a:pPr algn="ctr"/>
              <a:r>
                <a:rPr lang="en-US" altLang="zh-CN" sz="1400" b="1">
                  <a:solidFill>
                    <a:schemeClr val="accent6"/>
                  </a:solidFill>
                  <a:latin typeface="Times New Roman Bold" panose="02020603050405020304" charset="0"/>
                  <a:cs typeface="Times New Roman Bold" panose="02020603050405020304" charset="0"/>
                </a:rPr>
                <a:t>The Perceptron</a:t>
              </a:r>
              <a:endParaRPr lang="en-US" altLang="zh-CN" sz="1600" b="1">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感知机</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21" name="组合 20"/>
            <p:cNvGrpSpPr/>
            <p:nvPr/>
          </p:nvGrpSpPr>
          <p:grpSpPr>
            <a:xfrm rot="0">
              <a:off x="2074" y="1892"/>
              <a:ext cx="218" cy="1289"/>
              <a:chOff x="1827" y="4400"/>
              <a:chExt cx="218" cy="1289"/>
            </a:xfrm>
          </p:grpSpPr>
          <p:cxnSp>
            <p:nvCxnSpPr>
              <p:cNvPr id="22" name="直接连接符 21"/>
              <p:cNvCxnSpPr/>
              <p:nvPr>
                <p:custDataLst>
                  <p:tags r:id="rId8"/>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p:custDataLst>
                  <p:tags r:id="rId9"/>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50" name="文本框 49"/>
            <p:cNvSpPr txBox="1"/>
            <p:nvPr>
              <p:custDataLst>
                <p:tags r:id="rId10"/>
              </p:custDataLst>
            </p:nvPr>
          </p:nvSpPr>
          <p:spPr>
            <a:xfrm>
              <a:off x="1702" y="3182"/>
              <a:ext cx="1265"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1956</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66" name="组合 65"/>
            <p:cNvGrpSpPr/>
            <p:nvPr/>
          </p:nvGrpSpPr>
          <p:grpSpPr>
            <a:xfrm rot="0" flipV="1">
              <a:off x="3245" y="2949"/>
              <a:ext cx="218" cy="1289"/>
              <a:chOff x="1827" y="4400"/>
              <a:chExt cx="218" cy="1289"/>
            </a:xfrm>
          </p:grpSpPr>
          <p:cxnSp>
            <p:nvCxnSpPr>
              <p:cNvPr id="69" name="直接连接符 68"/>
              <p:cNvCxnSpPr/>
              <p:nvPr>
                <p:custDataLst>
                  <p:tags r:id="rId11"/>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0" name="椭圆 69"/>
              <p:cNvSpPr/>
              <p:nvPr>
                <p:custDataLst>
                  <p:tags r:id="rId12"/>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71" name="文本框 70"/>
            <p:cNvSpPr txBox="1"/>
            <p:nvPr>
              <p:custDataLst>
                <p:tags r:id="rId13"/>
              </p:custDataLst>
            </p:nvPr>
          </p:nvSpPr>
          <p:spPr>
            <a:xfrm>
              <a:off x="2891" y="2465"/>
              <a:ext cx="1331"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1958</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74" name="组合 73"/>
            <p:cNvGrpSpPr/>
            <p:nvPr/>
          </p:nvGrpSpPr>
          <p:grpSpPr>
            <a:xfrm rot="0" flipV="1">
              <a:off x="6036" y="2989"/>
              <a:ext cx="218" cy="1289"/>
              <a:chOff x="1827" y="4400"/>
              <a:chExt cx="218" cy="1289"/>
            </a:xfrm>
          </p:grpSpPr>
          <p:cxnSp>
            <p:nvCxnSpPr>
              <p:cNvPr id="75" name="直接连接符 74"/>
              <p:cNvCxnSpPr/>
              <p:nvPr>
                <p:custDataLst>
                  <p:tags r:id="rId14"/>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6" name="椭圆 75"/>
              <p:cNvSpPr/>
              <p:nvPr>
                <p:custDataLst>
                  <p:tags r:id="rId15"/>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2" name="组合 91"/>
            <p:cNvGrpSpPr/>
            <p:nvPr/>
          </p:nvGrpSpPr>
          <p:grpSpPr>
            <a:xfrm rot="0" flipV="1">
              <a:off x="8847" y="3015"/>
              <a:ext cx="218" cy="1289"/>
              <a:chOff x="1827" y="4400"/>
              <a:chExt cx="218" cy="1289"/>
            </a:xfrm>
          </p:grpSpPr>
          <p:cxnSp>
            <p:nvCxnSpPr>
              <p:cNvPr id="93" name="直接连接符 92"/>
              <p:cNvCxnSpPr/>
              <p:nvPr>
                <p:custDataLst>
                  <p:tags r:id="rId16"/>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94" name="椭圆 93"/>
              <p:cNvSpPr/>
              <p:nvPr>
                <p:custDataLst>
                  <p:tags r:id="rId1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6" name="组合 95"/>
            <p:cNvGrpSpPr/>
            <p:nvPr/>
          </p:nvGrpSpPr>
          <p:grpSpPr>
            <a:xfrm rot="0" flipV="1">
              <a:off x="12042" y="3015"/>
              <a:ext cx="218" cy="1289"/>
              <a:chOff x="1827" y="4400"/>
              <a:chExt cx="218" cy="1289"/>
            </a:xfrm>
          </p:grpSpPr>
          <p:cxnSp>
            <p:nvCxnSpPr>
              <p:cNvPr id="100" name="直接连接符 99"/>
              <p:cNvCxnSpPr/>
              <p:nvPr>
                <p:custDataLst>
                  <p:tags r:id="rId18"/>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01" name="椭圆 100"/>
              <p:cNvSpPr/>
              <p:nvPr>
                <p:custDataLst>
                  <p:tags r:id="rId19"/>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02" name="组合 101"/>
            <p:cNvGrpSpPr/>
            <p:nvPr/>
          </p:nvGrpSpPr>
          <p:grpSpPr>
            <a:xfrm rot="0" flipV="1">
              <a:off x="15540" y="3015"/>
              <a:ext cx="218" cy="1289"/>
              <a:chOff x="1827" y="4400"/>
              <a:chExt cx="218" cy="1289"/>
            </a:xfrm>
          </p:grpSpPr>
          <p:cxnSp>
            <p:nvCxnSpPr>
              <p:cNvPr id="105" name="直接连接符 104"/>
              <p:cNvCxnSpPr/>
              <p:nvPr>
                <p:custDataLst>
                  <p:tags r:id="rId20"/>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06" name="椭圆 105"/>
              <p:cNvSpPr/>
              <p:nvPr>
                <p:custDataLst>
                  <p:tags r:id="rId21"/>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07" name="组合 106"/>
            <p:cNvGrpSpPr/>
            <p:nvPr/>
          </p:nvGrpSpPr>
          <p:grpSpPr>
            <a:xfrm rot="0">
              <a:off x="4718" y="1301"/>
              <a:ext cx="219" cy="1881"/>
              <a:chOff x="1827" y="3809"/>
              <a:chExt cx="219" cy="1881"/>
            </a:xfrm>
          </p:grpSpPr>
          <p:cxnSp>
            <p:nvCxnSpPr>
              <p:cNvPr id="112" name="直接连接符 111"/>
              <p:cNvCxnSpPr/>
              <p:nvPr>
                <p:custDataLst>
                  <p:tags r:id="rId22"/>
                </p:custDataLst>
              </p:nvPr>
            </p:nvCxnSpPr>
            <p:spPr>
              <a:xfrm>
                <a:off x="1936" y="3809"/>
                <a:ext cx="0" cy="182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3" name="椭圆 112"/>
              <p:cNvSpPr/>
              <p:nvPr>
                <p:custDataLst>
                  <p:tags r:id="rId23"/>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4" name="组合 113"/>
            <p:cNvGrpSpPr/>
            <p:nvPr/>
          </p:nvGrpSpPr>
          <p:grpSpPr>
            <a:xfrm rot="0">
              <a:off x="7427" y="1892"/>
              <a:ext cx="218" cy="1289"/>
              <a:chOff x="1827" y="4400"/>
              <a:chExt cx="218" cy="1289"/>
            </a:xfrm>
          </p:grpSpPr>
          <p:cxnSp>
            <p:nvCxnSpPr>
              <p:cNvPr id="115" name="直接连接符 114"/>
              <p:cNvCxnSpPr/>
              <p:nvPr>
                <p:custDataLst>
                  <p:tags r:id="rId24"/>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6" name="椭圆 115"/>
              <p:cNvSpPr/>
              <p:nvPr>
                <p:custDataLst>
                  <p:tags r:id="rId25"/>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7" name="组合 116"/>
            <p:cNvGrpSpPr/>
            <p:nvPr/>
          </p:nvGrpSpPr>
          <p:grpSpPr>
            <a:xfrm rot="0">
              <a:off x="9738" y="2288"/>
              <a:ext cx="219" cy="886"/>
              <a:chOff x="1827" y="4804"/>
              <a:chExt cx="219" cy="886"/>
            </a:xfrm>
          </p:grpSpPr>
          <p:cxnSp>
            <p:nvCxnSpPr>
              <p:cNvPr id="118" name="直接连接符 117"/>
              <p:cNvCxnSpPr/>
              <p:nvPr>
                <p:custDataLst>
                  <p:tags r:id="rId26"/>
                </p:custDataLst>
              </p:nvPr>
            </p:nvCxnSpPr>
            <p:spPr>
              <a:xfrm>
                <a:off x="1936" y="4804"/>
                <a:ext cx="0" cy="8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9" name="椭圆 118"/>
              <p:cNvSpPr/>
              <p:nvPr>
                <p:custDataLst>
                  <p:tags r:id="rId2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20" name="组合 119"/>
            <p:cNvGrpSpPr/>
            <p:nvPr/>
          </p:nvGrpSpPr>
          <p:grpSpPr>
            <a:xfrm rot="0">
              <a:off x="12910" y="2354"/>
              <a:ext cx="219" cy="831"/>
              <a:chOff x="1827" y="4859"/>
              <a:chExt cx="219" cy="831"/>
            </a:xfrm>
          </p:grpSpPr>
          <p:cxnSp>
            <p:nvCxnSpPr>
              <p:cNvPr id="121" name="直接连接符 120"/>
              <p:cNvCxnSpPr/>
              <p:nvPr>
                <p:custDataLst>
                  <p:tags r:id="rId28"/>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2" name="椭圆 121"/>
              <p:cNvSpPr/>
              <p:nvPr>
                <p:custDataLst>
                  <p:tags r:id="rId29"/>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23" name="文本框 122"/>
            <p:cNvSpPr txBox="1"/>
            <p:nvPr>
              <p:custDataLst>
                <p:tags r:id="rId30"/>
              </p:custDataLst>
            </p:nvPr>
          </p:nvSpPr>
          <p:spPr>
            <a:xfrm>
              <a:off x="4223" y="3182"/>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1960s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124" name="文本框 123"/>
            <p:cNvSpPr txBox="1"/>
            <p:nvPr>
              <p:custDataLst>
                <p:tags r:id="rId31"/>
              </p:custDataLst>
            </p:nvPr>
          </p:nvSpPr>
          <p:spPr>
            <a:xfrm>
              <a:off x="4912" y="4327"/>
              <a:ext cx="2465" cy="128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Expert Systems</a:t>
              </a:r>
              <a:endParaRPr lang="zh-CN" altLang="en-US" sz="1400">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专家系统</a:t>
              </a:r>
              <a:endParaRPr lang="zh-CN" altLang="en-US" sz="1400">
                <a:solidFill>
                  <a:schemeClr val="accent6"/>
                </a:solidFill>
                <a:latin typeface="Times New Roman Bold" panose="02020603050405020304" charset="0"/>
                <a:cs typeface="Times New Roman Bold" panose="02020603050405020304" charset="0"/>
              </a:endParaRPr>
            </a:p>
          </p:txBody>
        </p:sp>
        <p:sp>
          <p:nvSpPr>
            <p:cNvPr id="125" name="文本框 124"/>
            <p:cNvSpPr txBox="1"/>
            <p:nvPr>
              <p:custDataLst>
                <p:tags r:id="rId32"/>
              </p:custDataLst>
            </p:nvPr>
          </p:nvSpPr>
          <p:spPr>
            <a:xfrm>
              <a:off x="6526" y="3167"/>
              <a:ext cx="1994"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1974-1993</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126" name="文本框 125"/>
            <p:cNvSpPr txBox="1"/>
            <p:nvPr>
              <p:custDataLst>
                <p:tags r:id="rId33"/>
              </p:custDataLst>
            </p:nvPr>
          </p:nvSpPr>
          <p:spPr>
            <a:xfrm>
              <a:off x="6303" y="1233"/>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人工智能寒潮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127" name="文本框 126"/>
            <p:cNvSpPr txBox="1"/>
            <p:nvPr>
              <p:custDataLst>
                <p:tags r:id="rId34"/>
              </p:custDataLst>
            </p:nvPr>
          </p:nvSpPr>
          <p:spPr>
            <a:xfrm>
              <a:off x="5541" y="2505"/>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1980s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128" name="文本框 127"/>
            <p:cNvSpPr txBox="1"/>
            <p:nvPr>
              <p:custDataLst>
                <p:tags r:id="rId35"/>
              </p:custDataLst>
            </p:nvPr>
          </p:nvSpPr>
          <p:spPr>
            <a:xfrm>
              <a:off x="7275" y="4288"/>
              <a:ext cx="3351" cy="128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NLPs </a:t>
              </a:r>
              <a:r>
                <a:rPr lang="zh-CN" altLang="en-US" sz="1400">
                  <a:solidFill>
                    <a:schemeClr val="accent6"/>
                  </a:solidFill>
                  <a:latin typeface="Times New Roman Bold" panose="02020603050405020304" charset="0"/>
                  <a:cs typeface="Times New Roman Bold" panose="02020603050405020304" charset="0"/>
                </a:rPr>
                <a:t>及</a:t>
              </a:r>
              <a:r>
                <a:rPr lang="en-US" altLang="zh-CN" sz="1400">
                  <a:solidFill>
                    <a:schemeClr val="accent6"/>
                  </a:solidFill>
                  <a:latin typeface="Times New Roman Bold" panose="02020603050405020304" charset="0"/>
                  <a:cs typeface="Times New Roman Bold" panose="02020603050405020304" charset="0"/>
                </a:rPr>
                <a:t>CVs</a:t>
              </a:r>
              <a:r>
                <a:rPr lang="zh-CN" altLang="en-US" sz="1400">
                  <a:solidFill>
                    <a:schemeClr val="accent6"/>
                  </a:solidFill>
                  <a:latin typeface="Times New Roman Bold" panose="02020603050405020304" charset="0"/>
                  <a:cs typeface="Times New Roman Bold" panose="02020603050405020304" charset="0"/>
                </a:rPr>
                <a:t>系统</a:t>
              </a:r>
              <a:endParaRPr lang="zh-CN" altLang="en-US" sz="1400">
                <a:solidFill>
                  <a:schemeClr val="accent6"/>
                </a:solidFill>
                <a:latin typeface="Times New Roman Bold" panose="02020603050405020304" charset="0"/>
                <a:cs typeface="Times New Roman Bold" panose="02020603050405020304" charset="0"/>
              </a:endParaRPr>
            </a:p>
            <a:p>
              <a:pPr algn="ctr"/>
              <a:r>
                <a:rPr lang="en-US" altLang="zh-CN" sz="1400">
                  <a:solidFill>
                    <a:schemeClr val="accent6"/>
                  </a:solidFill>
                  <a:latin typeface="Times New Roman Bold" panose="02020603050405020304" charset="0"/>
                  <a:cs typeface="Times New Roman Bold" panose="02020603050405020304" charset="0"/>
                </a:rPr>
                <a:t>( HMM &amp;&amp; CNNs )</a:t>
              </a:r>
              <a:endParaRPr lang="en-US" altLang="zh-CN" sz="1400">
                <a:solidFill>
                  <a:schemeClr val="accent6"/>
                </a:solidFill>
                <a:latin typeface="Times New Roman Bold" panose="02020603050405020304" charset="0"/>
                <a:cs typeface="Times New Roman Bold" panose="02020603050405020304" charset="0"/>
              </a:endParaRPr>
            </a:p>
          </p:txBody>
        </p:sp>
        <p:sp>
          <p:nvSpPr>
            <p:cNvPr id="129" name="文本框 128"/>
            <p:cNvSpPr txBox="1"/>
            <p:nvPr>
              <p:custDataLst>
                <p:tags r:id="rId36"/>
              </p:custDataLst>
            </p:nvPr>
          </p:nvSpPr>
          <p:spPr>
            <a:xfrm>
              <a:off x="8360" y="2441"/>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130" name="文本框 129"/>
            <p:cNvSpPr txBox="1"/>
            <p:nvPr>
              <p:custDataLst>
                <p:tags r:id="rId37"/>
              </p:custDataLst>
            </p:nvPr>
          </p:nvSpPr>
          <p:spPr>
            <a:xfrm>
              <a:off x="8519" y="3092"/>
              <a:ext cx="1932" cy="128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the late 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131" name="文本框 130"/>
            <p:cNvSpPr txBox="1"/>
            <p:nvPr>
              <p:custDataLst>
                <p:tags r:id="rId38"/>
              </p:custDataLst>
            </p:nvPr>
          </p:nvSpPr>
          <p:spPr>
            <a:xfrm>
              <a:off x="8878" y="1553"/>
              <a:ext cx="1940" cy="1132"/>
            </a:xfrm>
            <a:prstGeom prst="rect">
              <a:avLst/>
            </a:prstGeom>
            <a:noFill/>
          </p:spPr>
          <p:txBody>
            <a:bodyPr wrap="square" rtlCol="0" anchor="t">
              <a:spAutoFit/>
            </a:bodyPr>
            <a:p>
              <a:pPr algn="ctr"/>
              <a:r>
                <a:rPr lang="en-US" altLang="zh-CN" sz="1200">
                  <a:solidFill>
                    <a:schemeClr val="tx1"/>
                  </a:solidFill>
                  <a:latin typeface="Times New Roman Bold" panose="02020603050405020304" charset="0"/>
                  <a:cs typeface="Times New Roman Bold" panose="02020603050405020304" charset="0"/>
                  <a:sym typeface="+mn-ea"/>
                </a:rPr>
                <a:t>RNNs</a:t>
              </a:r>
              <a:endParaRPr lang="en-US" altLang="zh-CN" sz="1200">
                <a:solidFill>
                  <a:schemeClr val="tx1"/>
                </a:solidFill>
                <a:latin typeface="Times New Roman Bold" panose="02020603050405020304" charset="0"/>
                <a:cs typeface="Times New Roman Bold" panose="02020603050405020304" charset="0"/>
                <a:sym typeface="+mn-ea"/>
              </a:endParaRPr>
            </a:p>
            <a:p>
              <a:pPr algn="ctr"/>
              <a:endParaRPr lang="en-US" altLang="zh-CN" sz="1200">
                <a:solidFill>
                  <a:schemeClr val="tx1"/>
                </a:solidFill>
                <a:latin typeface="Times New Roman Bold" panose="02020603050405020304" charset="0"/>
                <a:cs typeface="Times New Roman Bold" panose="02020603050405020304" charset="0"/>
                <a:sym typeface="+mn-ea"/>
              </a:endParaRPr>
            </a:p>
          </p:txBody>
        </p:sp>
        <p:grpSp>
          <p:nvGrpSpPr>
            <p:cNvPr id="132" name="组合 131"/>
            <p:cNvGrpSpPr/>
            <p:nvPr/>
          </p:nvGrpSpPr>
          <p:grpSpPr>
            <a:xfrm rot="0">
              <a:off x="11241" y="1114"/>
              <a:ext cx="219" cy="2047"/>
              <a:chOff x="1827" y="3643"/>
              <a:chExt cx="219" cy="2047"/>
            </a:xfrm>
          </p:grpSpPr>
          <p:cxnSp>
            <p:nvCxnSpPr>
              <p:cNvPr id="133" name="直接连接符 132"/>
              <p:cNvCxnSpPr/>
              <p:nvPr>
                <p:custDataLst>
                  <p:tags r:id="rId39"/>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4" name="椭圆 133"/>
              <p:cNvSpPr/>
              <p:nvPr>
                <p:custDataLst>
                  <p:tags r:id="rId4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35" name="文本框 134"/>
            <p:cNvSpPr txBox="1"/>
            <p:nvPr>
              <p:custDataLst>
                <p:tags r:id="rId41"/>
              </p:custDataLst>
            </p:nvPr>
          </p:nvSpPr>
          <p:spPr>
            <a:xfrm>
              <a:off x="10120" y="3055"/>
              <a:ext cx="2226"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2000s-2010s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136" name="文本框 135"/>
            <p:cNvSpPr txBox="1"/>
            <p:nvPr>
              <p:custDataLst>
                <p:tags r:id="rId42"/>
              </p:custDataLst>
            </p:nvPr>
          </p:nvSpPr>
          <p:spPr>
            <a:xfrm>
              <a:off x="10121"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人工智能复兴</a:t>
              </a:r>
              <a:endParaRPr lang="zh-CN" altLang="en-US" sz="1400">
                <a:solidFill>
                  <a:schemeClr val="accent6"/>
                </a:solidFill>
                <a:latin typeface="Times New Roman Bold" panose="02020603050405020304" charset="0"/>
                <a:cs typeface="Times New Roman Bold" panose="02020603050405020304" charset="0"/>
              </a:endParaRPr>
            </a:p>
          </p:txBody>
        </p:sp>
        <p:sp>
          <p:nvSpPr>
            <p:cNvPr id="137" name="文本框 136"/>
            <p:cNvSpPr txBox="1"/>
            <p:nvPr>
              <p:custDataLst>
                <p:tags r:id="rId43"/>
              </p:custDataLst>
            </p:nvPr>
          </p:nvSpPr>
          <p:spPr>
            <a:xfrm>
              <a:off x="3595" y="752"/>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人工智能热潮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138" name="文本框 137"/>
            <p:cNvSpPr txBox="1"/>
            <p:nvPr>
              <p:custDataLst>
                <p:tags r:id="rId44"/>
              </p:custDataLst>
            </p:nvPr>
          </p:nvSpPr>
          <p:spPr>
            <a:xfrm>
              <a:off x="11522" y="245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2009</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139" name="文本框 138"/>
            <p:cNvSpPr txBox="1"/>
            <p:nvPr>
              <p:custDataLst>
                <p:tags r:id="rId45"/>
              </p:custDataLst>
            </p:nvPr>
          </p:nvSpPr>
          <p:spPr>
            <a:xfrm>
              <a:off x="10766" y="4327"/>
              <a:ext cx="2770" cy="128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ImageNet </a:t>
              </a:r>
              <a:r>
                <a:rPr lang="zh-CN" altLang="en-US" sz="1400">
                  <a:solidFill>
                    <a:schemeClr val="tx1"/>
                  </a:solidFill>
                  <a:latin typeface="Times New Roman Bold" panose="02020603050405020304" charset="0"/>
                  <a:cs typeface="Times New Roman Bold" panose="02020603050405020304" charset="0"/>
                </a:rPr>
                <a:t>引入</a:t>
              </a:r>
              <a:r>
                <a:rPr lang="en-US" altLang="zh-CN" sz="1400">
                  <a:solidFill>
                    <a:schemeClr val="tx1"/>
                  </a:solidFill>
                  <a:latin typeface="Times New Roman Bold" panose="02020603050405020304" charset="0"/>
                  <a:cs typeface="Times New Roman Bold" panose="02020603050405020304" charset="0"/>
                </a:rPr>
                <a:t> CNN</a:t>
              </a:r>
              <a:endParaRPr lang="en-US" altLang="zh-CN" sz="1400">
                <a:solidFill>
                  <a:schemeClr val="tx1"/>
                </a:solidFill>
                <a:latin typeface="Times New Roman Bold" panose="02020603050405020304" charset="0"/>
                <a:cs typeface="Times New Roman Bold" panose="02020603050405020304" charset="0"/>
              </a:endParaRPr>
            </a:p>
          </p:txBody>
        </p:sp>
        <p:sp>
          <p:nvSpPr>
            <p:cNvPr id="140" name="文本框 139"/>
            <p:cNvSpPr txBox="1"/>
            <p:nvPr>
              <p:custDataLst>
                <p:tags r:id="rId46"/>
              </p:custDataLst>
            </p:nvPr>
          </p:nvSpPr>
          <p:spPr>
            <a:xfrm>
              <a:off x="11905" y="1417"/>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AI</a:t>
              </a:r>
              <a:r>
                <a:rPr lang="zh-CN" altLang="en-US" sz="1400">
                  <a:solidFill>
                    <a:schemeClr val="tx1"/>
                  </a:solidFill>
                  <a:latin typeface="Times New Roman Bold" panose="02020603050405020304" charset="0"/>
                  <a:cs typeface="Times New Roman Bold" panose="02020603050405020304" charset="0"/>
                </a:rPr>
                <a:t>广泛</a:t>
              </a:r>
              <a:r>
                <a:rPr lang="zh-CN" altLang="en-US" sz="1400">
                  <a:solidFill>
                    <a:schemeClr val="tx1"/>
                  </a:solidFill>
                  <a:latin typeface="Times New Roman Bold" panose="02020603050405020304" charset="0"/>
                  <a:cs typeface="Times New Roman Bold" panose="02020603050405020304" charset="0"/>
                </a:rPr>
                <a:t>应用</a:t>
              </a:r>
              <a:endParaRPr lang="zh-CN" altLang="en-US" sz="1400">
                <a:solidFill>
                  <a:schemeClr val="tx1"/>
                </a:solidFill>
                <a:latin typeface="Times New Roman Bold" panose="02020603050405020304" charset="0"/>
                <a:cs typeface="Times New Roman Bold" panose="02020603050405020304" charset="0"/>
              </a:endParaRPr>
            </a:p>
          </p:txBody>
        </p:sp>
        <p:sp>
          <p:nvSpPr>
            <p:cNvPr id="141" name="文本框 140"/>
            <p:cNvSpPr txBox="1"/>
            <p:nvPr>
              <p:custDataLst>
                <p:tags r:id="rId47"/>
              </p:custDataLst>
            </p:nvPr>
          </p:nvSpPr>
          <p:spPr>
            <a:xfrm>
              <a:off x="12391" y="3167"/>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142" name="文本框 141"/>
            <p:cNvSpPr txBox="1"/>
            <p:nvPr>
              <p:custDataLst>
                <p:tags r:id="rId48"/>
              </p:custDataLst>
            </p:nvPr>
          </p:nvSpPr>
          <p:spPr>
            <a:xfrm>
              <a:off x="14429" y="4302"/>
              <a:ext cx="246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Transformer</a:t>
              </a:r>
              <a:endParaRPr lang="en-US" altLang="zh-CN" sz="1400">
                <a:solidFill>
                  <a:schemeClr val="accent6"/>
                </a:solidFill>
                <a:latin typeface="Times New Roman Bold" panose="02020603050405020304" charset="0"/>
                <a:cs typeface="Times New Roman Bold" panose="02020603050405020304" charset="0"/>
              </a:endParaRPr>
            </a:p>
          </p:txBody>
        </p:sp>
        <p:sp>
          <p:nvSpPr>
            <p:cNvPr id="143" name="文本框 142"/>
            <p:cNvSpPr txBox="1"/>
            <p:nvPr>
              <p:custDataLst>
                <p:tags r:id="rId49"/>
              </p:custDataLst>
            </p:nvPr>
          </p:nvSpPr>
          <p:spPr>
            <a:xfrm>
              <a:off x="15020" y="2442"/>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2017</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144" name="文本框 143"/>
            <p:cNvSpPr txBox="1"/>
            <p:nvPr>
              <p:custDataLst>
                <p:tags r:id="rId50"/>
              </p:custDataLst>
            </p:nvPr>
          </p:nvSpPr>
          <p:spPr>
            <a:xfrm>
              <a:off x="15389"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人工智能高峰</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145" name="组合 144"/>
            <p:cNvGrpSpPr/>
            <p:nvPr/>
          </p:nvGrpSpPr>
          <p:grpSpPr>
            <a:xfrm rot="0">
              <a:off x="16513" y="1135"/>
              <a:ext cx="219" cy="2047"/>
              <a:chOff x="1827" y="3643"/>
              <a:chExt cx="219" cy="2047"/>
            </a:xfrm>
          </p:grpSpPr>
          <p:cxnSp>
            <p:nvCxnSpPr>
              <p:cNvPr id="146" name="直接连接符 145"/>
              <p:cNvCxnSpPr/>
              <p:nvPr>
                <p:custDataLst>
                  <p:tags r:id="rId51"/>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47" name="椭圆 146"/>
              <p:cNvSpPr/>
              <p:nvPr>
                <p:custDataLst>
                  <p:tags r:id="rId52"/>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48" name="文本框 147"/>
            <p:cNvSpPr txBox="1"/>
            <p:nvPr>
              <p:custDataLst>
                <p:tags r:id="rId53"/>
              </p:custDataLst>
            </p:nvPr>
          </p:nvSpPr>
          <p:spPr>
            <a:xfrm>
              <a:off x="16412" y="318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2020s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149" name="文本框 148"/>
            <p:cNvSpPr txBox="1"/>
            <p:nvPr>
              <p:custDataLst>
                <p:tags r:id="rId54"/>
              </p:custDataLst>
            </p:nvPr>
          </p:nvSpPr>
          <p:spPr>
            <a:xfrm>
              <a:off x="13449" y="2454"/>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2012</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50" name="组合 149"/>
            <p:cNvGrpSpPr/>
            <p:nvPr/>
          </p:nvGrpSpPr>
          <p:grpSpPr>
            <a:xfrm rot="0" flipV="1">
              <a:off x="13969" y="2961"/>
              <a:ext cx="219" cy="782"/>
              <a:chOff x="1827" y="4908"/>
              <a:chExt cx="219" cy="782"/>
            </a:xfrm>
          </p:grpSpPr>
          <p:cxnSp>
            <p:nvCxnSpPr>
              <p:cNvPr id="151" name="直接连接符 150"/>
              <p:cNvCxnSpPr/>
              <p:nvPr>
                <p:custDataLst>
                  <p:tags r:id="rId55"/>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52" name="椭圆 151"/>
              <p:cNvSpPr/>
              <p:nvPr>
                <p:custDataLst>
                  <p:tags r:id="rId5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53" name="文本框 152"/>
            <p:cNvSpPr txBox="1"/>
            <p:nvPr>
              <p:custDataLst>
                <p:tags r:id="rId57"/>
              </p:custDataLst>
            </p:nvPr>
          </p:nvSpPr>
          <p:spPr>
            <a:xfrm>
              <a:off x="13271" y="3767"/>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AlexNet</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154" name="组合 153"/>
            <p:cNvGrpSpPr/>
            <p:nvPr/>
          </p:nvGrpSpPr>
          <p:grpSpPr>
            <a:xfrm rot="0">
              <a:off x="14844" y="2325"/>
              <a:ext cx="219" cy="831"/>
              <a:chOff x="1827" y="4859"/>
              <a:chExt cx="219" cy="831"/>
            </a:xfrm>
          </p:grpSpPr>
          <p:cxnSp>
            <p:nvCxnSpPr>
              <p:cNvPr id="155" name="直接连接符 154"/>
              <p:cNvCxnSpPr/>
              <p:nvPr>
                <p:custDataLst>
                  <p:tags r:id="rId58"/>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56" name="椭圆 155"/>
              <p:cNvSpPr/>
              <p:nvPr>
                <p:custDataLst>
                  <p:tags r:id="rId59"/>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57" name="文本框 156"/>
            <p:cNvSpPr txBox="1"/>
            <p:nvPr>
              <p:custDataLst>
                <p:tags r:id="rId60"/>
              </p:custDataLst>
            </p:nvPr>
          </p:nvSpPr>
          <p:spPr>
            <a:xfrm>
              <a:off x="13735" y="1805"/>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Word2Vec</a:t>
              </a:r>
              <a:endParaRPr lang="en-US" altLang="zh-CN" sz="1400">
                <a:solidFill>
                  <a:schemeClr val="tx1"/>
                </a:solidFill>
                <a:latin typeface="Times New Roman Bold" panose="02020603050405020304" charset="0"/>
                <a:cs typeface="Times New Roman Bold" panose="02020603050405020304" charset="0"/>
              </a:endParaRPr>
            </a:p>
          </p:txBody>
        </p:sp>
        <p:sp>
          <p:nvSpPr>
            <p:cNvPr id="158" name="文本框 157"/>
            <p:cNvSpPr txBox="1"/>
            <p:nvPr>
              <p:custDataLst>
                <p:tags r:id="rId61"/>
              </p:custDataLst>
            </p:nvPr>
          </p:nvSpPr>
          <p:spPr>
            <a:xfrm>
              <a:off x="14325" y="3151"/>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2015s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59" name="组合 158"/>
            <p:cNvGrpSpPr/>
            <p:nvPr/>
          </p:nvGrpSpPr>
          <p:grpSpPr>
            <a:xfrm rot="0" flipV="1">
              <a:off x="16513" y="2969"/>
              <a:ext cx="219" cy="782"/>
              <a:chOff x="1827" y="4908"/>
              <a:chExt cx="219" cy="782"/>
            </a:xfrm>
          </p:grpSpPr>
          <p:cxnSp>
            <p:nvCxnSpPr>
              <p:cNvPr id="160" name="直接连接符 159"/>
              <p:cNvCxnSpPr/>
              <p:nvPr>
                <p:custDataLst>
                  <p:tags r:id="rId62"/>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61" name="椭圆 160"/>
              <p:cNvSpPr/>
              <p:nvPr>
                <p:custDataLst>
                  <p:tags r:id="rId63"/>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62" name="文本框 161"/>
            <p:cNvSpPr txBox="1"/>
            <p:nvPr>
              <p:custDataLst>
                <p:tags r:id="rId64"/>
              </p:custDataLst>
            </p:nvPr>
          </p:nvSpPr>
          <p:spPr>
            <a:xfrm>
              <a:off x="15767" y="3819"/>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GPT3</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163" name="组合 162"/>
            <p:cNvGrpSpPr/>
            <p:nvPr/>
          </p:nvGrpSpPr>
          <p:grpSpPr>
            <a:xfrm rot="0" flipV="1">
              <a:off x="17360" y="2955"/>
              <a:ext cx="219" cy="782"/>
              <a:chOff x="1827" y="4908"/>
              <a:chExt cx="219" cy="782"/>
            </a:xfrm>
          </p:grpSpPr>
          <p:cxnSp>
            <p:nvCxnSpPr>
              <p:cNvPr id="164" name="直接连接符 163"/>
              <p:cNvCxnSpPr/>
              <p:nvPr>
                <p:custDataLst>
                  <p:tags r:id="rId65"/>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65" name="椭圆 164"/>
              <p:cNvSpPr/>
              <p:nvPr>
                <p:custDataLst>
                  <p:tags r:id="rId6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66" name="文本框 165"/>
            <p:cNvSpPr txBox="1"/>
            <p:nvPr>
              <p:custDataLst>
                <p:tags r:id="rId67"/>
              </p:custDataLst>
            </p:nvPr>
          </p:nvSpPr>
          <p:spPr>
            <a:xfrm>
              <a:off x="16757" y="3795"/>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ChatGPT</a:t>
              </a:r>
              <a:endParaRPr lang="en-US" altLang="zh-CN" sz="1400">
                <a:solidFill>
                  <a:schemeClr val="accent6"/>
                </a:solidFill>
                <a:latin typeface="Times New Roman Bold" panose="02020603050405020304" charset="0"/>
                <a:cs typeface="Times New Roman Bold" panose="02020603050405020304" charset="0"/>
              </a:endParaRPr>
            </a:p>
          </p:txBody>
        </p:sp>
      </p:grpSp>
      <p:sp>
        <p:nvSpPr>
          <p:cNvPr id="167" name="标题 166"/>
          <p:cNvSpPr>
            <a:spLocks noGrp="1"/>
          </p:cNvSpPr>
          <p:nvPr>
            <p:ph type="title"/>
            <p:custDataLst>
              <p:tags r:id="rId68"/>
            </p:custDataLst>
          </p:nvPr>
        </p:nvSpPr>
        <p:spPr/>
        <p:txBody>
          <a:bodyPr/>
          <a:p>
            <a:r>
              <a:rPr lang="zh-CN" altLang="en-US"/>
              <a:t>人工智能近</a:t>
            </a:r>
            <a:r>
              <a:rPr lang="zh-CN" altLang="en-US"/>
              <a:t>四十年的发展</a:t>
            </a:r>
            <a:endParaRPr lang="en-US" altLang="zh-CN"/>
          </a:p>
        </p:txBody>
      </p:sp>
      <p:sp>
        <p:nvSpPr>
          <p:cNvPr id="168" name="矩形 167"/>
          <p:cNvSpPr/>
          <p:nvPr>
            <p:custDataLst>
              <p:tags r:id="rId69"/>
            </p:custDataLst>
          </p:nvPr>
        </p:nvSpPr>
        <p:spPr>
          <a:xfrm>
            <a:off x="1972945" y="1047750"/>
            <a:ext cx="2280920" cy="230187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70" name="图片 169"/>
          <p:cNvPicPr>
            <a:picLocks noChangeAspect="1"/>
          </p:cNvPicPr>
          <p:nvPr>
            <p:custDataLst>
              <p:tags r:id="rId70"/>
            </p:custDataLst>
          </p:nvPr>
        </p:nvPicPr>
        <p:blipFill>
          <a:blip r:embed="rId71"/>
          <a:stretch>
            <a:fillRect/>
          </a:stretch>
        </p:blipFill>
        <p:spPr>
          <a:xfrm>
            <a:off x="8387080" y="3251835"/>
            <a:ext cx="3474085" cy="2713355"/>
          </a:xfrm>
          <a:prstGeom prst="rect">
            <a:avLst/>
          </a:prstGeom>
        </p:spPr>
      </p:pic>
    </p:spTree>
    <p:custDataLst>
      <p:tags r:id="rId7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标题 17"/>
          <p:cNvSpPr>
            <a:spLocks noGrp="1"/>
          </p:cNvSpPr>
          <p:nvPr>
            <p:ph type="title"/>
          </p:nvPr>
        </p:nvSpPr>
        <p:spPr/>
        <p:txBody>
          <a:bodyPr/>
          <a:p>
            <a:r>
              <a:rPr lang="zh-CN" altLang="en-US">
                <a:sym typeface="+mn-ea"/>
              </a:rPr>
              <a:t>人工智能近四十年的发展</a:t>
            </a:r>
            <a:endParaRPr lang="zh-CN" altLang="en-US"/>
          </a:p>
        </p:txBody>
      </p:sp>
      <p:pic>
        <p:nvPicPr>
          <p:cNvPr id="10" name="图片 9" descr="3b403882-85d9-4143-9480-b0b97a85f8c3"/>
          <p:cNvPicPr>
            <a:picLocks noChangeAspect="1"/>
          </p:cNvPicPr>
          <p:nvPr>
            <p:custDataLst>
              <p:tags r:id="rId1"/>
            </p:custDataLst>
          </p:nvPr>
        </p:nvPicPr>
        <p:blipFill>
          <a:blip r:embed="rId2"/>
          <a:stretch>
            <a:fillRect/>
          </a:stretch>
        </p:blipFill>
        <p:spPr>
          <a:xfrm>
            <a:off x="10403840" y="6379845"/>
            <a:ext cx="1653540" cy="374015"/>
          </a:xfrm>
          <a:prstGeom prst="rect">
            <a:avLst/>
          </a:prstGeom>
        </p:spPr>
      </p:pic>
      <p:grpSp>
        <p:nvGrpSpPr>
          <p:cNvPr id="2" name="组合 1"/>
          <p:cNvGrpSpPr/>
          <p:nvPr/>
        </p:nvGrpSpPr>
        <p:grpSpPr>
          <a:xfrm>
            <a:off x="404940" y="4007719"/>
            <a:ext cx="2445772" cy="2371580"/>
            <a:chOff x="6276" y="5117"/>
            <a:chExt cx="1920" cy="2041"/>
          </a:xfrm>
        </p:grpSpPr>
        <p:sp>
          <p:nvSpPr>
            <p:cNvPr id="6" name="任意多边形 5"/>
            <p:cNvSpPr/>
            <p:nvPr>
              <p:custDataLst>
                <p:tags r:id="rId3"/>
              </p:custDataLst>
            </p:nvPr>
          </p:nvSpPr>
          <p:spPr>
            <a:xfrm>
              <a:off x="6318" y="5266"/>
              <a:ext cx="1827" cy="1892"/>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4422" h="4557">
                  <a:moveTo>
                    <a:pt x="191" y="0"/>
                  </a:moveTo>
                  <a:lnTo>
                    <a:pt x="4231" y="0"/>
                  </a:lnTo>
                  <a:cubicBezTo>
                    <a:pt x="4336" y="0"/>
                    <a:pt x="4422" y="86"/>
                    <a:pt x="4422" y="191"/>
                  </a:cubicBezTo>
                  <a:lnTo>
                    <a:pt x="4422" y="4111"/>
                  </a:lnTo>
                  <a:cubicBezTo>
                    <a:pt x="4422" y="4216"/>
                    <a:pt x="4336" y="4302"/>
                    <a:pt x="4231" y="4302"/>
                  </a:cubicBezTo>
                  <a:lnTo>
                    <a:pt x="653" y="4302"/>
                  </a:lnTo>
                  <a:lnTo>
                    <a:pt x="398" y="4557"/>
                  </a:lnTo>
                  <a:lnTo>
                    <a:pt x="398" y="4302"/>
                  </a:lnTo>
                  <a:lnTo>
                    <a:pt x="191" y="4302"/>
                  </a:lnTo>
                  <a:cubicBezTo>
                    <a:pt x="86" y="4302"/>
                    <a:pt x="0" y="4216"/>
                    <a:pt x="0" y="4111"/>
                  </a:cubicBezTo>
                  <a:lnTo>
                    <a:pt x="0" y="191"/>
                  </a:lnTo>
                  <a:cubicBezTo>
                    <a:pt x="0" y="86"/>
                    <a:pt x="86" y="0"/>
                    <a:pt x="191"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9" name="文本框 8"/>
            <p:cNvSpPr txBox="1"/>
            <p:nvPr>
              <p:custDataLst>
                <p:tags r:id="rId4"/>
              </p:custDataLst>
            </p:nvPr>
          </p:nvSpPr>
          <p:spPr>
            <a:xfrm>
              <a:off x="6276" y="5117"/>
              <a:ext cx="1920" cy="1942"/>
            </a:xfrm>
            <a:prstGeom prst="rect">
              <a:avLst/>
            </a:prstGeom>
            <a:noFill/>
          </p:spPr>
          <p:txBody>
            <a:bodyPr wrap="square" rtlCol="0" anchor="ctr" anchorCtr="0">
              <a:normAutofit fontScale="90000"/>
            </a:bodyPr>
            <a:p>
              <a:pPr marL="0" lvl="0" indent="0" algn="l">
                <a:lnSpc>
                  <a:spcPct val="130000"/>
                </a:lnSpc>
                <a:spcBef>
                  <a:spcPts val="0"/>
                </a:spcBef>
                <a:spcAft>
                  <a:spcPts val="0"/>
                </a:spcAft>
                <a:buSzPct val="100000"/>
              </a:pPr>
              <a:r>
                <a:rPr lang="en-US" altLang="zh-CN" sz="1400" spc="150">
                  <a:solidFill>
                    <a:schemeClr val="dk1">
                      <a:lumMod val="85000"/>
                      <a:lumOff val="15000"/>
                    </a:schemeClr>
                  </a:solidFill>
                  <a:uFillTx/>
                  <a:latin typeface="Arial" panose="020B0604020202090204" pitchFamily="34" charset="0"/>
                  <a:ea typeface="微软雅黑" charset="-122"/>
                  <a:sym typeface="+mn-ea"/>
                </a:rPr>
                <a:t> 1980年-2000年：人工智能寒冬，在1980年代末和1990年代初，人工智能的研究进展相对较慢，研究资金减少。仍有一些重要的人工智能研究在进行，尤其是在专家系统和机器学习方面。</a:t>
              </a:r>
              <a:endParaRPr lang="en-US" altLang="zh-CN" sz="1400" spc="150">
                <a:solidFill>
                  <a:schemeClr val="dk1">
                    <a:lumMod val="85000"/>
                    <a:lumOff val="15000"/>
                  </a:schemeClr>
                </a:solidFill>
                <a:uFillTx/>
                <a:latin typeface="Arial" panose="020B0604020202090204" pitchFamily="34" charset="0"/>
                <a:ea typeface="微软雅黑" charset="-122"/>
              </a:endParaRPr>
            </a:p>
          </p:txBody>
        </p:sp>
      </p:grpSp>
      <p:sp>
        <p:nvSpPr>
          <p:cNvPr id="7" name="文本框 6"/>
          <p:cNvSpPr txBox="1"/>
          <p:nvPr/>
        </p:nvSpPr>
        <p:spPr>
          <a:xfrm>
            <a:off x="3422650" y="4080510"/>
            <a:ext cx="5916295" cy="2276475"/>
          </a:xfrm>
          <a:prstGeom prst="rect">
            <a:avLst/>
          </a:prstGeom>
          <a:noFill/>
        </p:spPr>
        <p:txBody>
          <a:bodyPr wrap="square" rtlCol="0" anchor="t">
            <a:spAutoFit/>
          </a:bodyPr>
          <a:p>
            <a:pPr marL="0" indent="0" fontAlgn="auto">
              <a:lnSpc>
                <a:spcPct val="100000"/>
              </a:lnSpc>
              <a:spcBef>
                <a:spcPts val="0"/>
              </a:spcBef>
              <a:spcAft>
                <a:spcPts val="800"/>
              </a:spcAft>
              <a:buNone/>
            </a:pPr>
            <a:r>
              <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rPr>
              <a:t>关键技术：</a:t>
            </a:r>
            <a:endPar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70">
                <a:uFillTx/>
                <a:latin typeface="微软雅黑" charset="-122"/>
                <a:ea typeface="微软雅黑" charset="-122"/>
                <a:cs typeface="微软雅黑" charset="-122"/>
                <a:sym typeface="+mn-ea"/>
              </a:rPr>
              <a:t>1986：多层感知器与反向传播训练</a:t>
            </a:r>
            <a:endParaRPr lang="zh-CN" altLang="en-US" sz="1400" spc="17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70">
                <a:uFillTx/>
                <a:latin typeface="微软雅黑" charset="-122"/>
                <a:ea typeface="微软雅黑" charset="-122"/>
                <a:cs typeface="微软雅黑" charset="-122"/>
                <a:sym typeface="+mn-ea"/>
              </a:rPr>
              <a:t>1989：卷积神经网络CNN的出现</a:t>
            </a:r>
            <a:endParaRPr lang="zh-CN" altLang="en-US" sz="1400" spc="17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70">
                <a:uFillTx/>
                <a:latin typeface="微软雅黑" charset="-122"/>
                <a:ea typeface="微软雅黑" charset="-122"/>
                <a:cs typeface="微软雅黑" charset="-122"/>
                <a:sym typeface="+mn-ea"/>
              </a:rPr>
              <a:t>1995：支持向量机SVM</a:t>
            </a:r>
            <a:endParaRPr lang="zh-CN" altLang="en-US" sz="1400" spc="17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70">
                <a:uFillTx/>
                <a:latin typeface="微软雅黑" charset="-122"/>
                <a:ea typeface="微软雅黑" charset="-122"/>
                <a:cs typeface="微软雅黑" charset="-122"/>
                <a:sym typeface="+mn-ea"/>
              </a:rPr>
              <a:t>1997：长短期记忆神经网络LSTM</a:t>
            </a:r>
            <a:endParaRPr lang="zh-CN" altLang="en-US" sz="1400" spc="17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rPr>
              <a:t>重大事件：</a:t>
            </a:r>
            <a:endPar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30">
                <a:uFillTx/>
                <a:latin typeface="微软雅黑" charset="-122"/>
                <a:ea typeface="微软雅黑" charset="-122"/>
                <a:cs typeface="微软雅黑" charset="-122"/>
                <a:sym typeface="+mn-ea"/>
              </a:rPr>
              <a:t>1997：深蓝战胜国际象棋冠军</a:t>
            </a:r>
            <a:endParaRPr lang="zh-CN" altLang="en-US" sz="1400" spc="130">
              <a:uFillTx/>
              <a:latin typeface="微软雅黑" charset="-122"/>
              <a:ea typeface="微软雅黑" charset="-122"/>
              <a:cs typeface="微软雅黑" charset="-122"/>
              <a:sym typeface="+mn-ea"/>
            </a:endParaRPr>
          </a:p>
        </p:txBody>
      </p:sp>
      <p:pic>
        <p:nvPicPr>
          <p:cNvPr id="8" name="图片 7"/>
          <p:cNvPicPr>
            <a:picLocks noChangeAspect="1"/>
          </p:cNvPicPr>
          <p:nvPr/>
        </p:nvPicPr>
        <p:blipFill>
          <a:blip r:embed="rId5"/>
          <a:stretch>
            <a:fillRect/>
          </a:stretch>
        </p:blipFill>
        <p:spPr>
          <a:xfrm>
            <a:off x="8103235" y="3404235"/>
            <a:ext cx="3701415" cy="2778125"/>
          </a:xfrm>
          <a:prstGeom prst="rect">
            <a:avLst/>
          </a:prstGeom>
        </p:spPr>
      </p:pic>
      <p:sp>
        <p:nvSpPr>
          <p:cNvPr id="67" name="波形 66"/>
          <p:cNvSpPr/>
          <p:nvPr/>
        </p:nvSpPr>
        <p:spPr>
          <a:xfrm>
            <a:off x="-22225" y="3317875"/>
            <a:ext cx="4844415" cy="727075"/>
          </a:xfrm>
          <a:prstGeom prst="wave">
            <a:avLst>
              <a:gd name="adj1" fmla="val 9090"/>
              <a:gd name="adj2" fmla="val 0"/>
            </a:avLst>
          </a:prstGeom>
          <a:solidFill>
            <a:schemeClr val="accent1">
              <a:lumMod val="20000"/>
              <a:lumOff val="80000"/>
            </a:schemeClr>
          </a:solidFill>
          <a:ln>
            <a:solidFill>
              <a:schemeClr val="accent4">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68" name="文本框 67"/>
          <p:cNvSpPr txBox="1"/>
          <p:nvPr/>
        </p:nvSpPr>
        <p:spPr>
          <a:xfrm>
            <a:off x="103505" y="3539490"/>
            <a:ext cx="4888230" cy="368300"/>
          </a:xfrm>
          <a:prstGeom prst="rect">
            <a:avLst/>
          </a:prstGeom>
          <a:noFill/>
        </p:spPr>
        <p:txBody>
          <a:bodyPr wrap="square" rtlCol="0" anchor="t">
            <a:spAutoFit/>
          </a:bodyPr>
          <a:p>
            <a:pPr algn="ctr"/>
            <a:r>
              <a:rPr lang="zh-CN" altLang="en-US">
                <a:sym typeface="+mn-ea"/>
              </a:rPr>
              <a:t>应用产业：</a:t>
            </a:r>
            <a:r>
              <a:rPr lang="en-US">
                <a:sym typeface="+mn-ea"/>
              </a:rPr>
              <a:t>以研究为主，产业应用有限</a:t>
            </a:r>
            <a:endParaRPr lang="zh-CN" altLang="en-US">
              <a:sym typeface="+mn-ea"/>
            </a:endParaRPr>
          </a:p>
        </p:txBody>
      </p:sp>
      <p:grpSp>
        <p:nvGrpSpPr>
          <p:cNvPr id="167" name="组合 166"/>
          <p:cNvGrpSpPr/>
          <p:nvPr/>
        </p:nvGrpSpPr>
        <p:grpSpPr>
          <a:xfrm>
            <a:off x="1305560" y="1084777"/>
            <a:ext cx="9985375" cy="2087778"/>
            <a:chOff x="1023" y="476"/>
            <a:chExt cx="17349" cy="5135"/>
          </a:xfrm>
        </p:grpSpPr>
        <p:cxnSp>
          <p:nvCxnSpPr>
            <p:cNvPr id="169" name="直接箭头连接符 168"/>
            <p:cNvCxnSpPr/>
            <p:nvPr>
              <p:custDataLst>
                <p:tags r:id="rId6"/>
              </p:custDataLst>
            </p:nvPr>
          </p:nvCxnSpPr>
          <p:spPr>
            <a:xfrm flipV="1">
              <a:off x="1157" y="3048"/>
              <a:ext cx="16980" cy="44"/>
            </a:xfrm>
            <a:prstGeom prst="straightConnector1">
              <a:avLst/>
            </a:prstGeom>
            <a:ln w="5715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70" name="文本框 169"/>
            <p:cNvSpPr txBox="1"/>
            <p:nvPr>
              <p:custDataLst>
                <p:tags r:id="rId7"/>
              </p:custDataLst>
            </p:nvPr>
          </p:nvSpPr>
          <p:spPr>
            <a:xfrm>
              <a:off x="1023" y="1235"/>
              <a:ext cx="2357" cy="754"/>
            </a:xfrm>
            <a:prstGeom prst="rect">
              <a:avLst/>
            </a:prstGeom>
            <a:noFill/>
          </p:spPr>
          <p:txBody>
            <a:bodyPr wrap="square" rtlCol="0">
              <a:spAutoFit/>
            </a:bodyPr>
            <a:p>
              <a:pPr algn="ctr">
                <a:buClrTx/>
                <a:buSzTx/>
                <a:buFontTx/>
              </a:pPr>
              <a:r>
                <a:rPr lang="zh-CN" altLang="en-US" sz="1400">
                  <a:solidFill>
                    <a:schemeClr val="accent6"/>
                  </a:solidFill>
                  <a:latin typeface="Times New Roman Bold" panose="02020603050405020304" charset="0"/>
                  <a:cs typeface="Times New Roman Bold" panose="02020603050405020304" charset="0"/>
                  <a:sym typeface="+mn-ea"/>
                </a:rPr>
                <a:t>达特茅斯会议</a:t>
              </a:r>
              <a:endParaRPr lang="zh-CN" altLang="en-US" sz="1400">
                <a:solidFill>
                  <a:schemeClr val="accent6"/>
                </a:solidFill>
                <a:latin typeface="Times New Roman Bold" panose="02020603050405020304" charset="0"/>
                <a:cs typeface="Times New Roman Bold" panose="02020603050405020304" charset="0"/>
                <a:sym typeface="+mn-ea"/>
              </a:endParaRPr>
            </a:p>
          </p:txBody>
        </p:sp>
        <p:sp>
          <p:nvSpPr>
            <p:cNvPr id="171" name="文本框 170"/>
            <p:cNvSpPr txBox="1"/>
            <p:nvPr>
              <p:custDataLst>
                <p:tags r:id="rId8"/>
              </p:custDataLst>
            </p:nvPr>
          </p:nvSpPr>
          <p:spPr>
            <a:xfrm>
              <a:off x="2108" y="4226"/>
              <a:ext cx="2465" cy="1284"/>
            </a:xfrm>
            <a:prstGeom prst="rect">
              <a:avLst/>
            </a:prstGeom>
            <a:noFill/>
          </p:spPr>
          <p:txBody>
            <a:bodyPr wrap="square" rtlCol="0">
              <a:spAutoFit/>
            </a:bodyPr>
            <a:p>
              <a:pPr algn="ctr"/>
              <a:r>
                <a:rPr lang="en-US" altLang="zh-CN" sz="1400" b="1">
                  <a:solidFill>
                    <a:schemeClr val="accent6"/>
                  </a:solidFill>
                  <a:latin typeface="Times New Roman Bold" panose="02020603050405020304" charset="0"/>
                  <a:cs typeface="Times New Roman Bold" panose="02020603050405020304" charset="0"/>
                </a:rPr>
                <a:t>The Perceptron</a:t>
              </a:r>
              <a:endParaRPr lang="en-US" altLang="zh-CN" sz="1600" b="1">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感知机</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172" name="组合 171"/>
            <p:cNvGrpSpPr/>
            <p:nvPr/>
          </p:nvGrpSpPr>
          <p:grpSpPr>
            <a:xfrm rot="0">
              <a:off x="2074" y="1892"/>
              <a:ext cx="218" cy="1289"/>
              <a:chOff x="1827" y="4400"/>
              <a:chExt cx="218" cy="1289"/>
            </a:xfrm>
          </p:grpSpPr>
          <p:cxnSp>
            <p:nvCxnSpPr>
              <p:cNvPr id="173" name="直接连接符 172"/>
              <p:cNvCxnSpPr/>
              <p:nvPr>
                <p:custDataLst>
                  <p:tags r:id="rId9"/>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4" name="椭圆 173"/>
              <p:cNvSpPr/>
              <p:nvPr>
                <p:custDataLst>
                  <p:tags r:id="rId1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5" name="文本框 174"/>
            <p:cNvSpPr txBox="1"/>
            <p:nvPr>
              <p:custDataLst>
                <p:tags r:id="rId11"/>
              </p:custDataLst>
            </p:nvPr>
          </p:nvSpPr>
          <p:spPr>
            <a:xfrm>
              <a:off x="1702" y="3182"/>
              <a:ext cx="1265"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1956</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76" name="组合 175"/>
            <p:cNvGrpSpPr/>
            <p:nvPr/>
          </p:nvGrpSpPr>
          <p:grpSpPr>
            <a:xfrm rot="0" flipV="1">
              <a:off x="3245" y="2949"/>
              <a:ext cx="218" cy="1289"/>
              <a:chOff x="1827" y="4400"/>
              <a:chExt cx="218" cy="1289"/>
            </a:xfrm>
          </p:grpSpPr>
          <p:cxnSp>
            <p:nvCxnSpPr>
              <p:cNvPr id="177" name="直接连接符 176"/>
              <p:cNvCxnSpPr/>
              <p:nvPr>
                <p:custDataLst>
                  <p:tags r:id="rId12"/>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8" name="椭圆 177"/>
              <p:cNvSpPr/>
              <p:nvPr>
                <p:custDataLst>
                  <p:tags r:id="rId13"/>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9" name="文本框 178"/>
            <p:cNvSpPr txBox="1"/>
            <p:nvPr>
              <p:custDataLst>
                <p:tags r:id="rId14"/>
              </p:custDataLst>
            </p:nvPr>
          </p:nvSpPr>
          <p:spPr>
            <a:xfrm>
              <a:off x="2891" y="2465"/>
              <a:ext cx="1331"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1958</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80" name="组合 179"/>
            <p:cNvGrpSpPr/>
            <p:nvPr/>
          </p:nvGrpSpPr>
          <p:grpSpPr>
            <a:xfrm rot="0" flipV="1">
              <a:off x="6036" y="2989"/>
              <a:ext cx="218" cy="1289"/>
              <a:chOff x="1827" y="4400"/>
              <a:chExt cx="218" cy="1289"/>
            </a:xfrm>
          </p:grpSpPr>
          <p:cxnSp>
            <p:nvCxnSpPr>
              <p:cNvPr id="181" name="直接连接符 180"/>
              <p:cNvCxnSpPr/>
              <p:nvPr>
                <p:custDataLst>
                  <p:tags r:id="rId15"/>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82" name="椭圆 181"/>
              <p:cNvSpPr/>
              <p:nvPr>
                <p:custDataLst>
                  <p:tags r:id="rId1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8" name="组合 187"/>
            <p:cNvGrpSpPr/>
            <p:nvPr/>
          </p:nvGrpSpPr>
          <p:grpSpPr>
            <a:xfrm rot="0" flipV="1">
              <a:off x="8847" y="3015"/>
              <a:ext cx="218" cy="1289"/>
              <a:chOff x="1827" y="4400"/>
              <a:chExt cx="218" cy="1289"/>
            </a:xfrm>
          </p:grpSpPr>
          <p:cxnSp>
            <p:nvCxnSpPr>
              <p:cNvPr id="189" name="直接连接符 188"/>
              <p:cNvCxnSpPr/>
              <p:nvPr>
                <p:custDataLst>
                  <p:tags r:id="rId17"/>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0" name="椭圆 189"/>
              <p:cNvSpPr/>
              <p:nvPr>
                <p:custDataLst>
                  <p:tags r:id="rId18"/>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1" name="组合 190"/>
            <p:cNvGrpSpPr/>
            <p:nvPr/>
          </p:nvGrpSpPr>
          <p:grpSpPr>
            <a:xfrm rot="0" flipV="1">
              <a:off x="12042" y="3015"/>
              <a:ext cx="218" cy="1289"/>
              <a:chOff x="1827" y="4400"/>
              <a:chExt cx="218" cy="1289"/>
            </a:xfrm>
          </p:grpSpPr>
          <p:cxnSp>
            <p:nvCxnSpPr>
              <p:cNvPr id="192" name="直接连接符 191"/>
              <p:cNvCxnSpPr/>
              <p:nvPr>
                <p:custDataLst>
                  <p:tags r:id="rId19"/>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3" name="椭圆 192"/>
              <p:cNvSpPr/>
              <p:nvPr>
                <p:custDataLst>
                  <p:tags r:id="rId2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4" name="组合 193"/>
            <p:cNvGrpSpPr/>
            <p:nvPr/>
          </p:nvGrpSpPr>
          <p:grpSpPr>
            <a:xfrm rot="0" flipV="1">
              <a:off x="15540" y="3015"/>
              <a:ext cx="218" cy="1289"/>
              <a:chOff x="1827" y="4400"/>
              <a:chExt cx="218" cy="1289"/>
            </a:xfrm>
          </p:grpSpPr>
          <p:cxnSp>
            <p:nvCxnSpPr>
              <p:cNvPr id="195" name="直接连接符 194"/>
              <p:cNvCxnSpPr/>
              <p:nvPr>
                <p:custDataLst>
                  <p:tags r:id="rId21"/>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6" name="椭圆 195"/>
              <p:cNvSpPr/>
              <p:nvPr>
                <p:custDataLst>
                  <p:tags r:id="rId22"/>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7" name="组合 196"/>
            <p:cNvGrpSpPr/>
            <p:nvPr/>
          </p:nvGrpSpPr>
          <p:grpSpPr>
            <a:xfrm rot="0">
              <a:off x="4718" y="1301"/>
              <a:ext cx="219" cy="1881"/>
              <a:chOff x="1827" y="3809"/>
              <a:chExt cx="219" cy="1881"/>
            </a:xfrm>
          </p:grpSpPr>
          <p:cxnSp>
            <p:nvCxnSpPr>
              <p:cNvPr id="198" name="直接连接符 197"/>
              <p:cNvCxnSpPr/>
              <p:nvPr>
                <p:custDataLst>
                  <p:tags r:id="rId23"/>
                </p:custDataLst>
              </p:nvPr>
            </p:nvCxnSpPr>
            <p:spPr>
              <a:xfrm>
                <a:off x="1936" y="3809"/>
                <a:ext cx="0" cy="182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9" name="椭圆 198"/>
              <p:cNvSpPr/>
              <p:nvPr>
                <p:custDataLst>
                  <p:tags r:id="rId2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0" name="组合 199"/>
            <p:cNvGrpSpPr/>
            <p:nvPr/>
          </p:nvGrpSpPr>
          <p:grpSpPr>
            <a:xfrm rot="0">
              <a:off x="7427" y="1892"/>
              <a:ext cx="218" cy="1289"/>
              <a:chOff x="1827" y="4400"/>
              <a:chExt cx="218" cy="1289"/>
            </a:xfrm>
          </p:grpSpPr>
          <p:cxnSp>
            <p:nvCxnSpPr>
              <p:cNvPr id="201" name="直接连接符 200"/>
              <p:cNvCxnSpPr/>
              <p:nvPr>
                <p:custDataLst>
                  <p:tags r:id="rId25"/>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2" name="椭圆 201"/>
              <p:cNvSpPr/>
              <p:nvPr>
                <p:custDataLst>
                  <p:tags r:id="rId2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3" name="组合 202"/>
            <p:cNvGrpSpPr/>
            <p:nvPr/>
          </p:nvGrpSpPr>
          <p:grpSpPr>
            <a:xfrm rot="0">
              <a:off x="9738" y="2288"/>
              <a:ext cx="219" cy="886"/>
              <a:chOff x="1827" y="4804"/>
              <a:chExt cx="219" cy="886"/>
            </a:xfrm>
          </p:grpSpPr>
          <p:cxnSp>
            <p:nvCxnSpPr>
              <p:cNvPr id="204" name="直接连接符 203"/>
              <p:cNvCxnSpPr/>
              <p:nvPr>
                <p:custDataLst>
                  <p:tags r:id="rId27"/>
                </p:custDataLst>
              </p:nvPr>
            </p:nvCxnSpPr>
            <p:spPr>
              <a:xfrm>
                <a:off x="1936" y="4804"/>
                <a:ext cx="0" cy="8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5" name="椭圆 204"/>
              <p:cNvSpPr/>
              <p:nvPr>
                <p:custDataLst>
                  <p:tags r:id="rId28"/>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6" name="组合 205"/>
            <p:cNvGrpSpPr/>
            <p:nvPr/>
          </p:nvGrpSpPr>
          <p:grpSpPr>
            <a:xfrm rot="0">
              <a:off x="12910" y="2354"/>
              <a:ext cx="219" cy="831"/>
              <a:chOff x="1827" y="4859"/>
              <a:chExt cx="219" cy="831"/>
            </a:xfrm>
          </p:grpSpPr>
          <p:cxnSp>
            <p:nvCxnSpPr>
              <p:cNvPr id="207" name="直接连接符 206"/>
              <p:cNvCxnSpPr/>
              <p:nvPr>
                <p:custDataLst>
                  <p:tags r:id="rId29"/>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8" name="椭圆 207"/>
              <p:cNvSpPr/>
              <p:nvPr>
                <p:custDataLst>
                  <p:tags r:id="rId3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09" name="文本框 208"/>
            <p:cNvSpPr txBox="1"/>
            <p:nvPr>
              <p:custDataLst>
                <p:tags r:id="rId31"/>
              </p:custDataLst>
            </p:nvPr>
          </p:nvSpPr>
          <p:spPr>
            <a:xfrm>
              <a:off x="4223" y="3182"/>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1960s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0" name="文本框 209"/>
            <p:cNvSpPr txBox="1"/>
            <p:nvPr>
              <p:custDataLst>
                <p:tags r:id="rId32"/>
              </p:custDataLst>
            </p:nvPr>
          </p:nvSpPr>
          <p:spPr>
            <a:xfrm>
              <a:off x="4912" y="4327"/>
              <a:ext cx="2465" cy="128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Expert Systems</a:t>
              </a:r>
              <a:endParaRPr lang="zh-CN" altLang="en-US" sz="1400">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专家系统</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11" name="文本框 210"/>
            <p:cNvSpPr txBox="1"/>
            <p:nvPr>
              <p:custDataLst>
                <p:tags r:id="rId33"/>
              </p:custDataLst>
            </p:nvPr>
          </p:nvSpPr>
          <p:spPr>
            <a:xfrm>
              <a:off x="6526" y="3167"/>
              <a:ext cx="1994"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1974-1993</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2" name="文本框 211"/>
            <p:cNvSpPr txBox="1"/>
            <p:nvPr>
              <p:custDataLst>
                <p:tags r:id="rId34"/>
              </p:custDataLst>
            </p:nvPr>
          </p:nvSpPr>
          <p:spPr>
            <a:xfrm>
              <a:off x="6303" y="1233"/>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人工智能寒潮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13" name="文本框 212"/>
            <p:cNvSpPr txBox="1"/>
            <p:nvPr>
              <p:custDataLst>
                <p:tags r:id="rId35"/>
              </p:custDataLst>
            </p:nvPr>
          </p:nvSpPr>
          <p:spPr>
            <a:xfrm>
              <a:off x="5541" y="2505"/>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1980s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4" name="文本框 213"/>
            <p:cNvSpPr txBox="1"/>
            <p:nvPr>
              <p:custDataLst>
                <p:tags r:id="rId36"/>
              </p:custDataLst>
            </p:nvPr>
          </p:nvSpPr>
          <p:spPr>
            <a:xfrm>
              <a:off x="7275" y="4288"/>
              <a:ext cx="3351" cy="128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NLPs </a:t>
              </a:r>
              <a:r>
                <a:rPr lang="zh-CN" altLang="en-US" sz="1400">
                  <a:solidFill>
                    <a:schemeClr val="accent6"/>
                  </a:solidFill>
                  <a:latin typeface="Times New Roman Bold" panose="02020603050405020304" charset="0"/>
                  <a:cs typeface="Times New Roman Bold" panose="02020603050405020304" charset="0"/>
                </a:rPr>
                <a:t>及</a:t>
              </a:r>
              <a:r>
                <a:rPr lang="en-US" altLang="zh-CN" sz="1400">
                  <a:solidFill>
                    <a:schemeClr val="accent6"/>
                  </a:solidFill>
                  <a:latin typeface="Times New Roman Bold" panose="02020603050405020304" charset="0"/>
                  <a:cs typeface="Times New Roman Bold" panose="02020603050405020304" charset="0"/>
                </a:rPr>
                <a:t>CVs</a:t>
              </a:r>
              <a:r>
                <a:rPr lang="zh-CN" altLang="en-US" sz="1400">
                  <a:solidFill>
                    <a:schemeClr val="accent6"/>
                  </a:solidFill>
                  <a:latin typeface="Times New Roman Bold" panose="02020603050405020304" charset="0"/>
                  <a:cs typeface="Times New Roman Bold" panose="02020603050405020304" charset="0"/>
                </a:rPr>
                <a:t>系统</a:t>
              </a:r>
              <a:endParaRPr lang="zh-CN" altLang="en-US" sz="1400">
                <a:solidFill>
                  <a:schemeClr val="accent6"/>
                </a:solidFill>
                <a:latin typeface="Times New Roman Bold" panose="02020603050405020304" charset="0"/>
                <a:cs typeface="Times New Roman Bold" panose="02020603050405020304" charset="0"/>
              </a:endParaRPr>
            </a:p>
            <a:p>
              <a:pPr algn="ctr"/>
              <a:r>
                <a:rPr lang="en-US" altLang="zh-CN" sz="1400">
                  <a:solidFill>
                    <a:schemeClr val="accent6"/>
                  </a:solidFill>
                  <a:latin typeface="Times New Roman Bold" panose="02020603050405020304" charset="0"/>
                  <a:cs typeface="Times New Roman Bold" panose="02020603050405020304" charset="0"/>
                </a:rPr>
                <a:t>( HMM &amp;&amp; CNNs )</a:t>
              </a:r>
              <a:endParaRPr lang="en-US" altLang="zh-CN" sz="1400">
                <a:solidFill>
                  <a:schemeClr val="accent6"/>
                </a:solidFill>
                <a:latin typeface="Times New Roman Bold" panose="02020603050405020304" charset="0"/>
                <a:cs typeface="Times New Roman Bold" panose="02020603050405020304" charset="0"/>
              </a:endParaRPr>
            </a:p>
          </p:txBody>
        </p:sp>
        <p:sp>
          <p:nvSpPr>
            <p:cNvPr id="215" name="文本框 214"/>
            <p:cNvSpPr txBox="1"/>
            <p:nvPr>
              <p:custDataLst>
                <p:tags r:id="rId37"/>
              </p:custDataLst>
            </p:nvPr>
          </p:nvSpPr>
          <p:spPr>
            <a:xfrm>
              <a:off x="8360" y="2441"/>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6" name="文本框 215"/>
            <p:cNvSpPr txBox="1"/>
            <p:nvPr>
              <p:custDataLst>
                <p:tags r:id="rId38"/>
              </p:custDataLst>
            </p:nvPr>
          </p:nvSpPr>
          <p:spPr>
            <a:xfrm>
              <a:off x="8519" y="3092"/>
              <a:ext cx="1932" cy="128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the late 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7" name="文本框 216"/>
            <p:cNvSpPr txBox="1"/>
            <p:nvPr>
              <p:custDataLst>
                <p:tags r:id="rId39"/>
              </p:custDataLst>
            </p:nvPr>
          </p:nvSpPr>
          <p:spPr>
            <a:xfrm>
              <a:off x="8878" y="1553"/>
              <a:ext cx="1940" cy="1132"/>
            </a:xfrm>
            <a:prstGeom prst="rect">
              <a:avLst/>
            </a:prstGeom>
            <a:noFill/>
          </p:spPr>
          <p:txBody>
            <a:bodyPr wrap="square" rtlCol="0" anchor="t">
              <a:spAutoFit/>
            </a:bodyPr>
            <a:p>
              <a:pPr algn="ctr"/>
              <a:r>
                <a:rPr lang="en-US" altLang="zh-CN" sz="1200">
                  <a:solidFill>
                    <a:schemeClr val="tx1"/>
                  </a:solidFill>
                  <a:latin typeface="Times New Roman Bold" panose="02020603050405020304" charset="0"/>
                  <a:cs typeface="Times New Roman Bold" panose="02020603050405020304" charset="0"/>
                  <a:sym typeface="+mn-ea"/>
                </a:rPr>
                <a:t>RNNs</a:t>
              </a:r>
              <a:endParaRPr lang="en-US" altLang="zh-CN" sz="1200">
                <a:solidFill>
                  <a:schemeClr val="tx1"/>
                </a:solidFill>
                <a:latin typeface="Times New Roman Bold" panose="02020603050405020304" charset="0"/>
                <a:cs typeface="Times New Roman Bold" panose="02020603050405020304" charset="0"/>
                <a:sym typeface="+mn-ea"/>
              </a:endParaRPr>
            </a:p>
            <a:p>
              <a:pPr algn="ctr"/>
              <a:endParaRPr lang="en-US" altLang="zh-CN" sz="1200">
                <a:solidFill>
                  <a:schemeClr val="tx1"/>
                </a:solidFill>
                <a:latin typeface="Times New Roman Bold" panose="02020603050405020304" charset="0"/>
                <a:cs typeface="Times New Roman Bold" panose="02020603050405020304" charset="0"/>
                <a:sym typeface="+mn-ea"/>
              </a:endParaRPr>
            </a:p>
          </p:txBody>
        </p:sp>
        <p:grpSp>
          <p:nvGrpSpPr>
            <p:cNvPr id="218" name="组合 217"/>
            <p:cNvGrpSpPr/>
            <p:nvPr/>
          </p:nvGrpSpPr>
          <p:grpSpPr>
            <a:xfrm rot="0">
              <a:off x="11241" y="1114"/>
              <a:ext cx="219" cy="2047"/>
              <a:chOff x="1827" y="3643"/>
              <a:chExt cx="219" cy="2047"/>
            </a:xfrm>
          </p:grpSpPr>
          <p:cxnSp>
            <p:nvCxnSpPr>
              <p:cNvPr id="219" name="直接连接符 218"/>
              <p:cNvCxnSpPr/>
              <p:nvPr>
                <p:custDataLst>
                  <p:tags r:id="rId40"/>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20" name="椭圆 219"/>
              <p:cNvSpPr/>
              <p:nvPr>
                <p:custDataLst>
                  <p:tags r:id="rId41"/>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21" name="文本框 220"/>
            <p:cNvSpPr txBox="1"/>
            <p:nvPr>
              <p:custDataLst>
                <p:tags r:id="rId42"/>
              </p:custDataLst>
            </p:nvPr>
          </p:nvSpPr>
          <p:spPr>
            <a:xfrm>
              <a:off x="10120" y="3055"/>
              <a:ext cx="2226"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2000s-2010s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2" name="文本框 221"/>
            <p:cNvSpPr txBox="1"/>
            <p:nvPr>
              <p:custDataLst>
                <p:tags r:id="rId43"/>
              </p:custDataLst>
            </p:nvPr>
          </p:nvSpPr>
          <p:spPr>
            <a:xfrm>
              <a:off x="10121"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人工智能复兴</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23" name="文本框 222"/>
            <p:cNvSpPr txBox="1"/>
            <p:nvPr>
              <p:custDataLst>
                <p:tags r:id="rId44"/>
              </p:custDataLst>
            </p:nvPr>
          </p:nvSpPr>
          <p:spPr>
            <a:xfrm>
              <a:off x="3595" y="752"/>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人工智能热潮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24" name="文本框 223"/>
            <p:cNvSpPr txBox="1"/>
            <p:nvPr>
              <p:custDataLst>
                <p:tags r:id="rId45"/>
              </p:custDataLst>
            </p:nvPr>
          </p:nvSpPr>
          <p:spPr>
            <a:xfrm>
              <a:off x="11522" y="245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2009</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5" name="文本框 224"/>
            <p:cNvSpPr txBox="1"/>
            <p:nvPr>
              <p:custDataLst>
                <p:tags r:id="rId46"/>
              </p:custDataLst>
            </p:nvPr>
          </p:nvSpPr>
          <p:spPr>
            <a:xfrm>
              <a:off x="10766" y="4327"/>
              <a:ext cx="2770" cy="128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ImageNet </a:t>
              </a:r>
              <a:r>
                <a:rPr lang="zh-CN" altLang="en-US" sz="1400">
                  <a:solidFill>
                    <a:schemeClr val="tx1"/>
                  </a:solidFill>
                  <a:latin typeface="Times New Roman Bold" panose="02020603050405020304" charset="0"/>
                  <a:cs typeface="Times New Roman Bold" panose="02020603050405020304" charset="0"/>
                </a:rPr>
                <a:t>引入</a:t>
              </a:r>
              <a:r>
                <a:rPr lang="en-US" altLang="zh-CN" sz="1400">
                  <a:solidFill>
                    <a:schemeClr val="tx1"/>
                  </a:solidFill>
                  <a:latin typeface="Times New Roman Bold" panose="02020603050405020304" charset="0"/>
                  <a:cs typeface="Times New Roman Bold" panose="02020603050405020304" charset="0"/>
                </a:rPr>
                <a:t> CNN</a:t>
              </a:r>
              <a:endParaRPr lang="en-US" altLang="zh-CN" sz="1400">
                <a:solidFill>
                  <a:schemeClr val="tx1"/>
                </a:solidFill>
                <a:latin typeface="Times New Roman Bold" panose="02020603050405020304" charset="0"/>
                <a:cs typeface="Times New Roman Bold" panose="02020603050405020304" charset="0"/>
              </a:endParaRPr>
            </a:p>
          </p:txBody>
        </p:sp>
        <p:sp>
          <p:nvSpPr>
            <p:cNvPr id="226" name="文本框 225"/>
            <p:cNvSpPr txBox="1"/>
            <p:nvPr>
              <p:custDataLst>
                <p:tags r:id="rId47"/>
              </p:custDataLst>
            </p:nvPr>
          </p:nvSpPr>
          <p:spPr>
            <a:xfrm>
              <a:off x="11905" y="1417"/>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AI</a:t>
              </a:r>
              <a:r>
                <a:rPr lang="zh-CN" altLang="en-US" sz="1400">
                  <a:solidFill>
                    <a:schemeClr val="tx1"/>
                  </a:solidFill>
                  <a:latin typeface="Times New Roman Bold" panose="02020603050405020304" charset="0"/>
                  <a:cs typeface="Times New Roman Bold" panose="02020603050405020304" charset="0"/>
                </a:rPr>
                <a:t>广泛</a:t>
              </a:r>
              <a:r>
                <a:rPr lang="zh-CN" altLang="en-US" sz="1400">
                  <a:solidFill>
                    <a:schemeClr val="tx1"/>
                  </a:solidFill>
                  <a:latin typeface="Times New Roman Bold" panose="02020603050405020304" charset="0"/>
                  <a:cs typeface="Times New Roman Bold" panose="02020603050405020304" charset="0"/>
                </a:rPr>
                <a:t>应用</a:t>
              </a:r>
              <a:endParaRPr lang="zh-CN" altLang="en-US" sz="1400">
                <a:solidFill>
                  <a:schemeClr val="tx1"/>
                </a:solidFill>
                <a:latin typeface="Times New Roman Bold" panose="02020603050405020304" charset="0"/>
                <a:cs typeface="Times New Roman Bold" panose="02020603050405020304" charset="0"/>
              </a:endParaRPr>
            </a:p>
          </p:txBody>
        </p:sp>
        <p:sp>
          <p:nvSpPr>
            <p:cNvPr id="227" name="文本框 226"/>
            <p:cNvSpPr txBox="1"/>
            <p:nvPr>
              <p:custDataLst>
                <p:tags r:id="rId48"/>
              </p:custDataLst>
            </p:nvPr>
          </p:nvSpPr>
          <p:spPr>
            <a:xfrm>
              <a:off x="12391" y="3167"/>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8" name="文本框 227"/>
            <p:cNvSpPr txBox="1"/>
            <p:nvPr>
              <p:custDataLst>
                <p:tags r:id="rId49"/>
              </p:custDataLst>
            </p:nvPr>
          </p:nvSpPr>
          <p:spPr>
            <a:xfrm>
              <a:off x="14429" y="4302"/>
              <a:ext cx="246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Transformer</a:t>
              </a:r>
              <a:endParaRPr lang="en-US" altLang="zh-CN" sz="1400">
                <a:solidFill>
                  <a:schemeClr val="accent6"/>
                </a:solidFill>
                <a:latin typeface="Times New Roman Bold" panose="02020603050405020304" charset="0"/>
                <a:cs typeface="Times New Roman Bold" panose="02020603050405020304" charset="0"/>
              </a:endParaRPr>
            </a:p>
          </p:txBody>
        </p:sp>
        <p:sp>
          <p:nvSpPr>
            <p:cNvPr id="229" name="文本框 228"/>
            <p:cNvSpPr txBox="1"/>
            <p:nvPr>
              <p:custDataLst>
                <p:tags r:id="rId50"/>
              </p:custDataLst>
            </p:nvPr>
          </p:nvSpPr>
          <p:spPr>
            <a:xfrm>
              <a:off x="15020" y="2442"/>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2017</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30" name="文本框 229"/>
            <p:cNvSpPr txBox="1"/>
            <p:nvPr>
              <p:custDataLst>
                <p:tags r:id="rId51"/>
              </p:custDataLst>
            </p:nvPr>
          </p:nvSpPr>
          <p:spPr>
            <a:xfrm>
              <a:off x="15389"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人工智能高峰</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231" name="组合 230"/>
            <p:cNvGrpSpPr/>
            <p:nvPr/>
          </p:nvGrpSpPr>
          <p:grpSpPr>
            <a:xfrm rot="0">
              <a:off x="16513" y="1135"/>
              <a:ext cx="219" cy="2047"/>
              <a:chOff x="1827" y="3643"/>
              <a:chExt cx="219" cy="2047"/>
            </a:xfrm>
          </p:grpSpPr>
          <p:cxnSp>
            <p:nvCxnSpPr>
              <p:cNvPr id="232" name="直接连接符 231"/>
              <p:cNvCxnSpPr/>
              <p:nvPr>
                <p:custDataLst>
                  <p:tags r:id="rId52"/>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3" name="椭圆 232"/>
              <p:cNvSpPr/>
              <p:nvPr>
                <p:custDataLst>
                  <p:tags r:id="rId53"/>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4" name="文本框 233"/>
            <p:cNvSpPr txBox="1"/>
            <p:nvPr>
              <p:custDataLst>
                <p:tags r:id="rId54"/>
              </p:custDataLst>
            </p:nvPr>
          </p:nvSpPr>
          <p:spPr>
            <a:xfrm>
              <a:off x="16412" y="318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2020s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35" name="文本框 234"/>
            <p:cNvSpPr txBox="1"/>
            <p:nvPr>
              <p:custDataLst>
                <p:tags r:id="rId55"/>
              </p:custDataLst>
            </p:nvPr>
          </p:nvSpPr>
          <p:spPr>
            <a:xfrm>
              <a:off x="13449" y="2454"/>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2012</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236" name="组合 235"/>
            <p:cNvGrpSpPr/>
            <p:nvPr/>
          </p:nvGrpSpPr>
          <p:grpSpPr>
            <a:xfrm rot="0" flipV="1">
              <a:off x="13969" y="2961"/>
              <a:ext cx="219" cy="782"/>
              <a:chOff x="1827" y="4908"/>
              <a:chExt cx="219" cy="782"/>
            </a:xfrm>
          </p:grpSpPr>
          <p:cxnSp>
            <p:nvCxnSpPr>
              <p:cNvPr id="237" name="直接连接符 236"/>
              <p:cNvCxnSpPr/>
              <p:nvPr>
                <p:custDataLst>
                  <p:tags r:id="rId56"/>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8" name="椭圆 237"/>
              <p:cNvSpPr/>
              <p:nvPr>
                <p:custDataLst>
                  <p:tags r:id="rId5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9" name="文本框 238"/>
            <p:cNvSpPr txBox="1"/>
            <p:nvPr>
              <p:custDataLst>
                <p:tags r:id="rId58"/>
              </p:custDataLst>
            </p:nvPr>
          </p:nvSpPr>
          <p:spPr>
            <a:xfrm>
              <a:off x="13271" y="3767"/>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AlexNet</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240" name="组合 239"/>
            <p:cNvGrpSpPr/>
            <p:nvPr/>
          </p:nvGrpSpPr>
          <p:grpSpPr>
            <a:xfrm rot="0">
              <a:off x="14844" y="2325"/>
              <a:ext cx="219" cy="831"/>
              <a:chOff x="1827" y="4859"/>
              <a:chExt cx="219" cy="831"/>
            </a:xfrm>
          </p:grpSpPr>
          <p:cxnSp>
            <p:nvCxnSpPr>
              <p:cNvPr id="241" name="直接连接符 240"/>
              <p:cNvCxnSpPr/>
              <p:nvPr>
                <p:custDataLst>
                  <p:tags r:id="rId59"/>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2" name="椭圆 241"/>
              <p:cNvSpPr/>
              <p:nvPr>
                <p:custDataLst>
                  <p:tags r:id="rId6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43" name="文本框 242"/>
            <p:cNvSpPr txBox="1"/>
            <p:nvPr>
              <p:custDataLst>
                <p:tags r:id="rId61"/>
              </p:custDataLst>
            </p:nvPr>
          </p:nvSpPr>
          <p:spPr>
            <a:xfrm>
              <a:off x="13735" y="1805"/>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Word2Vec</a:t>
              </a:r>
              <a:endParaRPr lang="en-US" altLang="zh-CN" sz="1400">
                <a:solidFill>
                  <a:schemeClr val="tx1"/>
                </a:solidFill>
                <a:latin typeface="Times New Roman Bold" panose="02020603050405020304" charset="0"/>
                <a:cs typeface="Times New Roman Bold" panose="02020603050405020304" charset="0"/>
              </a:endParaRPr>
            </a:p>
          </p:txBody>
        </p:sp>
        <p:sp>
          <p:nvSpPr>
            <p:cNvPr id="244" name="文本框 243"/>
            <p:cNvSpPr txBox="1"/>
            <p:nvPr>
              <p:custDataLst>
                <p:tags r:id="rId62"/>
              </p:custDataLst>
            </p:nvPr>
          </p:nvSpPr>
          <p:spPr>
            <a:xfrm>
              <a:off x="14325" y="3151"/>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2015s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245" name="组合 244"/>
            <p:cNvGrpSpPr/>
            <p:nvPr/>
          </p:nvGrpSpPr>
          <p:grpSpPr>
            <a:xfrm rot="0" flipV="1">
              <a:off x="16513" y="2969"/>
              <a:ext cx="219" cy="782"/>
              <a:chOff x="1827" y="4908"/>
              <a:chExt cx="219" cy="782"/>
            </a:xfrm>
          </p:grpSpPr>
          <p:cxnSp>
            <p:nvCxnSpPr>
              <p:cNvPr id="246" name="直接连接符 245"/>
              <p:cNvCxnSpPr/>
              <p:nvPr>
                <p:custDataLst>
                  <p:tags r:id="rId63"/>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7" name="椭圆 246"/>
              <p:cNvSpPr/>
              <p:nvPr>
                <p:custDataLst>
                  <p:tags r:id="rId6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48" name="文本框 247"/>
            <p:cNvSpPr txBox="1"/>
            <p:nvPr>
              <p:custDataLst>
                <p:tags r:id="rId65"/>
              </p:custDataLst>
            </p:nvPr>
          </p:nvSpPr>
          <p:spPr>
            <a:xfrm>
              <a:off x="15767" y="3819"/>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GPT3</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249" name="组合 248"/>
            <p:cNvGrpSpPr/>
            <p:nvPr/>
          </p:nvGrpSpPr>
          <p:grpSpPr>
            <a:xfrm rot="0" flipV="1">
              <a:off x="17360" y="2955"/>
              <a:ext cx="219" cy="782"/>
              <a:chOff x="1827" y="4908"/>
              <a:chExt cx="219" cy="782"/>
            </a:xfrm>
          </p:grpSpPr>
          <p:cxnSp>
            <p:nvCxnSpPr>
              <p:cNvPr id="250" name="直接连接符 249"/>
              <p:cNvCxnSpPr/>
              <p:nvPr>
                <p:custDataLst>
                  <p:tags r:id="rId66"/>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51" name="椭圆 250"/>
              <p:cNvSpPr/>
              <p:nvPr>
                <p:custDataLst>
                  <p:tags r:id="rId6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52" name="文本框 251"/>
            <p:cNvSpPr txBox="1"/>
            <p:nvPr>
              <p:custDataLst>
                <p:tags r:id="rId68"/>
              </p:custDataLst>
            </p:nvPr>
          </p:nvSpPr>
          <p:spPr>
            <a:xfrm>
              <a:off x="16757" y="3795"/>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ChatGPT</a:t>
              </a:r>
              <a:endParaRPr lang="en-US" altLang="zh-CN" sz="1400">
                <a:solidFill>
                  <a:schemeClr val="accent6"/>
                </a:solidFill>
                <a:latin typeface="Times New Roman Bold" panose="02020603050405020304" charset="0"/>
                <a:cs typeface="Times New Roman Bold" panose="02020603050405020304" charset="0"/>
              </a:endParaRPr>
            </a:p>
          </p:txBody>
        </p:sp>
      </p:grpSp>
      <p:sp>
        <p:nvSpPr>
          <p:cNvPr id="253" name="矩形 252"/>
          <p:cNvSpPr/>
          <p:nvPr>
            <p:custDataLst>
              <p:tags r:id="rId69"/>
            </p:custDataLst>
          </p:nvPr>
        </p:nvSpPr>
        <p:spPr>
          <a:xfrm>
            <a:off x="4260215" y="1047750"/>
            <a:ext cx="2988310" cy="230187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70"/>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r>
              <a:rPr lang="zh-CN" altLang="en-US">
                <a:sym typeface="+mn-ea"/>
              </a:rPr>
              <a:t>人工智能近四十年的发展</a:t>
            </a:r>
            <a:endParaRPr lang="zh-CN" altLang="en-US"/>
          </a:p>
        </p:txBody>
      </p:sp>
      <p:pic>
        <p:nvPicPr>
          <p:cNvPr id="10" name="图片 9" descr="3b403882-85d9-4143-9480-b0b97a85f8c3"/>
          <p:cNvPicPr>
            <a:picLocks noChangeAspect="1"/>
          </p:cNvPicPr>
          <p:nvPr>
            <p:custDataLst>
              <p:tags r:id="rId1"/>
            </p:custDataLst>
          </p:nvPr>
        </p:nvPicPr>
        <p:blipFill>
          <a:blip r:embed="rId2"/>
          <a:stretch>
            <a:fillRect/>
          </a:stretch>
        </p:blipFill>
        <p:spPr>
          <a:xfrm>
            <a:off x="10403840" y="6379845"/>
            <a:ext cx="1653540" cy="374015"/>
          </a:xfrm>
          <a:prstGeom prst="rect">
            <a:avLst/>
          </a:prstGeom>
        </p:spPr>
      </p:pic>
      <p:grpSp>
        <p:nvGrpSpPr>
          <p:cNvPr id="71" name="组合 70"/>
          <p:cNvGrpSpPr/>
          <p:nvPr/>
        </p:nvGrpSpPr>
        <p:grpSpPr>
          <a:xfrm>
            <a:off x="1100455" y="4431030"/>
            <a:ext cx="5046980" cy="867410"/>
            <a:chOff x="6462" y="3001"/>
            <a:chExt cx="7948" cy="1366"/>
          </a:xfrm>
        </p:grpSpPr>
        <p:sp>
          <p:nvSpPr>
            <p:cNvPr id="16" name="椭圆 15"/>
            <p:cNvSpPr/>
            <p:nvPr>
              <p:custDataLst>
                <p:tags r:id="rId3"/>
              </p:custDataLst>
            </p:nvPr>
          </p:nvSpPr>
          <p:spPr>
            <a:xfrm>
              <a:off x="6462" y="3106"/>
              <a:ext cx="1032" cy="1032"/>
            </a:xfrm>
            <a:prstGeom prst="ellipse">
              <a:avLst/>
            </a:prstGeom>
            <a:solidFill>
              <a:schemeClr val="lt1"/>
            </a:solid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solidFill>
                  <a:schemeClr val="tx1"/>
                </a:solidFill>
                <a:latin typeface="微软雅黑" charset="-122"/>
                <a:ea typeface="微软雅黑" charset="-122"/>
              </a:endParaRPr>
            </a:p>
          </p:txBody>
        </p:sp>
        <p:sp>
          <p:nvSpPr>
            <p:cNvPr id="18" name="形状"/>
            <p:cNvSpPr/>
            <p:nvPr>
              <p:custDataLst>
                <p:tags r:id="rId4"/>
              </p:custDataLst>
            </p:nvPr>
          </p:nvSpPr>
          <p:spPr>
            <a:xfrm>
              <a:off x="6712" y="3352"/>
              <a:ext cx="519" cy="519"/>
            </a:xfrm>
            <a:custGeom>
              <a:avLst/>
              <a:gdLst/>
              <a:ahLst/>
              <a:cxnLst>
                <a:cxn ang="0">
                  <a:pos x="wd2" y="hd2"/>
                </a:cxn>
                <a:cxn ang="5400000">
                  <a:pos x="wd2" y="hd2"/>
                </a:cxn>
                <a:cxn ang="10800000">
                  <a:pos x="wd2" y="hd2"/>
                </a:cxn>
                <a:cxn ang="16200000">
                  <a:pos x="wd2" y="hd2"/>
                </a:cxn>
              </a:cxnLst>
              <a:rect l="0" t="0" r="r" b="b"/>
              <a:pathLst>
                <a:path w="21600" h="21600" extrusionOk="0">
                  <a:moveTo>
                    <a:pt x="20618" y="10309"/>
                  </a:moveTo>
                  <a:cubicBezTo>
                    <a:pt x="20618" y="10851"/>
                    <a:pt x="20178" y="11291"/>
                    <a:pt x="19636" y="11291"/>
                  </a:cubicBezTo>
                  <a:lnTo>
                    <a:pt x="19636" y="7364"/>
                  </a:lnTo>
                  <a:cubicBezTo>
                    <a:pt x="20178" y="7364"/>
                    <a:pt x="20618" y="7804"/>
                    <a:pt x="20618" y="8345"/>
                  </a:cubicBezTo>
                  <a:cubicBezTo>
                    <a:pt x="20618" y="8345"/>
                    <a:pt x="20618" y="10309"/>
                    <a:pt x="20618" y="10309"/>
                  </a:cubicBezTo>
                  <a:close/>
                  <a:moveTo>
                    <a:pt x="18655" y="17182"/>
                  </a:moveTo>
                  <a:cubicBezTo>
                    <a:pt x="18655" y="17453"/>
                    <a:pt x="18434" y="17673"/>
                    <a:pt x="18164" y="17673"/>
                  </a:cubicBezTo>
                  <a:cubicBezTo>
                    <a:pt x="17893" y="17673"/>
                    <a:pt x="17673" y="17453"/>
                    <a:pt x="17673" y="17182"/>
                  </a:cubicBezTo>
                  <a:lnTo>
                    <a:pt x="17673" y="1473"/>
                  </a:lnTo>
                  <a:cubicBezTo>
                    <a:pt x="17673" y="1202"/>
                    <a:pt x="17893" y="982"/>
                    <a:pt x="18164" y="982"/>
                  </a:cubicBezTo>
                  <a:cubicBezTo>
                    <a:pt x="18434" y="982"/>
                    <a:pt x="18655" y="1202"/>
                    <a:pt x="18655" y="1473"/>
                  </a:cubicBezTo>
                  <a:cubicBezTo>
                    <a:pt x="18655" y="1473"/>
                    <a:pt x="18655" y="17182"/>
                    <a:pt x="18655" y="17182"/>
                  </a:cubicBezTo>
                  <a:close/>
                  <a:moveTo>
                    <a:pt x="16691" y="15788"/>
                  </a:moveTo>
                  <a:lnTo>
                    <a:pt x="2945" y="11745"/>
                  </a:lnTo>
                  <a:lnTo>
                    <a:pt x="2945" y="6910"/>
                  </a:lnTo>
                  <a:lnTo>
                    <a:pt x="16691" y="2867"/>
                  </a:lnTo>
                  <a:cubicBezTo>
                    <a:pt x="16691" y="2867"/>
                    <a:pt x="16691" y="15788"/>
                    <a:pt x="16691" y="15788"/>
                  </a:cubicBezTo>
                  <a:close/>
                  <a:moveTo>
                    <a:pt x="8251" y="18655"/>
                  </a:moveTo>
                  <a:lnTo>
                    <a:pt x="5357" y="18655"/>
                  </a:lnTo>
                  <a:lnTo>
                    <a:pt x="4126" y="13116"/>
                  </a:lnTo>
                  <a:lnTo>
                    <a:pt x="7167" y="14010"/>
                  </a:lnTo>
                  <a:cubicBezTo>
                    <a:pt x="7167" y="14010"/>
                    <a:pt x="8251" y="18655"/>
                    <a:pt x="8251" y="18655"/>
                  </a:cubicBezTo>
                  <a:close/>
                  <a:moveTo>
                    <a:pt x="8709" y="20618"/>
                  </a:moveTo>
                  <a:lnTo>
                    <a:pt x="5794" y="20618"/>
                  </a:lnTo>
                  <a:lnTo>
                    <a:pt x="5576" y="19636"/>
                  </a:lnTo>
                  <a:lnTo>
                    <a:pt x="8479" y="19636"/>
                  </a:lnTo>
                  <a:cubicBezTo>
                    <a:pt x="8479" y="19636"/>
                    <a:pt x="8709" y="20618"/>
                    <a:pt x="8709" y="20618"/>
                  </a:cubicBezTo>
                  <a:close/>
                  <a:moveTo>
                    <a:pt x="1964" y="11782"/>
                  </a:moveTo>
                  <a:lnTo>
                    <a:pt x="982" y="11782"/>
                  </a:lnTo>
                  <a:lnTo>
                    <a:pt x="982" y="6873"/>
                  </a:lnTo>
                  <a:lnTo>
                    <a:pt x="1964" y="6873"/>
                  </a:lnTo>
                  <a:cubicBezTo>
                    <a:pt x="1964" y="6873"/>
                    <a:pt x="1964" y="11782"/>
                    <a:pt x="1964" y="11782"/>
                  </a:cubicBezTo>
                  <a:close/>
                  <a:moveTo>
                    <a:pt x="19636" y="6382"/>
                  </a:moveTo>
                  <a:lnTo>
                    <a:pt x="19636" y="1473"/>
                  </a:lnTo>
                  <a:cubicBezTo>
                    <a:pt x="19636" y="659"/>
                    <a:pt x="18977" y="0"/>
                    <a:pt x="18164" y="0"/>
                  </a:cubicBezTo>
                  <a:cubicBezTo>
                    <a:pt x="17350" y="0"/>
                    <a:pt x="16691" y="659"/>
                    <a:pt x="16691" y="1473"/>
                  </a:cubicBezTo>
                  <a:lnTo>
                    <a:pt x="16691" y="1844"/>
                  </a:lnTo>
                  <a:lnTo>
                    <a:pt x="2459" y="6029"/>
                  </a:lnTo>
                  <a:cubicBezTo>
                    <a:pt x="2313" y="5944"/>
                    <a:pt x="2145" y="5891"/>
                    <a:pt x="1964" y="5891"/>
                  </a:cubicBezTo>
                  <a:lnTo>
                    <a:pt x="982" y="5891"/>
                  </a:lnTo>
                  <a:cubicBezTo>
                    <a:pt x="440" y="5891"/>
                    <a:pt x="0" y="6331"/>
                    <a:pt x="0" y="6873"/>
                  </a:cubicBezTo>
                  <a:lnTo>
                    <a:pt x="0" y="11782"/>
                  </a:lnTo>
                  <a:cubicBezTo>
                    <a:pt x="0" y="12324"/>
                    <a:pt x="440" y="12764"/>
                    <a:pt x="982" y="12764"/>
                  </a:cubicBezTo>
                  <a:lnTo>
                    <a:pt x="1964" y="12764"/>
                  </a:lnTo>
                  <a:cubicBezTo>
                    <a:pt x="2145" y="12764"/>
                    <a:pt x="2313" y="12711"/>
                    <a:pt x="2458" y="12626"/>
                  </a:cubicBezTo>
                  <a:lnTo>
                    <a:pt x="3050" y="12799"/>
                  </a:lnTo>
                  <a:lnTo>
                    <a:pt x="4921" y="21216"/>
                  </a:lnTo>
                  <a:lnTo>
                    <a:pt x="4930" y="21214"/>
                  </a:lnTo>
                  <a:cubicBezTo>
                    <a:pt x="4979" y="21433"/>
                    <a:pt x="5166" y="21600"/>
                    <a:pt x="5400" y="21600"/>
                  </a:cubicBezTo>
                  <a:lnTo>
                    <a:pt x="9327" y="21600"/>
                  </a:lnTo>
                  <a:cubicBezTo>
                    <a:pt x="9598" y="21600"/>
                    <a:pt x="9818" y="21381"/>
                    <a:pt x="9818" y="21109"/>
                  </a:cubicBezTo>
                  <a:cubicBezTo>
                    <a:pt x="9818" y="21072"/>
                    <a:pt x="9805" y="21039"/>
                    <a:pt x="9797" y="21005"/>
                  </a:cubicBezTo>
                  <a:lnTo>
                    <a:pt x="9806" y="21003"/>
                  </a:lnTo>
                  <a:lnTo>
                    <a:pt x="8249" y="14329"/>
                  </a:lnTo>
                  <a:lnTo>
                    <a:pt x="16691" y="16811"/>
                  </a:lnTo>
                  <a:lnTo>
                    <a:pt x="16691" y="17182"/>
                  </a:lnTo>
                  <a:cubicBezTo>
                    <a:pt x="16691" y="17995"/>
                    <a:pt x="17350" y="18655"/>
                    <a:pt x="18164" y="18655"/>
                  </a:cubicBezTo>
                  <a:cubicBezTo>
                    <a:pt x="18977" y="18655"/>
                    <a:pt x="19636" y="17995"/>
                    <a:pt x="19636" y="17182"/>
                  </a:cubicBezTo>
                  <a:lnTo>
                    <a:pt x="19636" y="12273"/>
                  </a:lnTo>
                  <a:cubicBezTo>
                    <a:pt x="20721" y="12273"/>
                    <a:pt x="21600" y="11394"/>
                    <a:pt x="21600" y="10309"/>
                  </a:cubicBezTo>
                  <a:lnTo>
                    <a:pt x="21600" y="8345"/>
                  </a:lnTo>
                  <a:cubicBezTo>
                    <a:pt x="21600" y="7261"/>
                    <a:pt x="20721" y="6382"/>
                    <a:pt x="19636" y="6382"/>
                  </a:cubicBezTo>
                </a:path>
              </a:pathLst>
            </a:custGeom>
            <a:solidFill>
              <a:schemeClr val="dk1">
                <a:lumMod val="85000"/>
                <a:lumOff val="15000"/>
              </a:schemeClr>
            </a:solidFill>
            <a:ln w="12700">
              <a:solidFill>
                <a:schemeClr val="accent1"/>
              </a:solidFill>
              <a:miter lim="400000"/>
            </a:ln>
          </p:spPr>
          <p:txBody>
            <a:bodyPr lIns="38100" tIns="38100" rIns="38100" bIns="38100" anchor="ctr"/>
            <a:lstStyle/>
            <a:p>
              <a:pPr algn="ctr" defTabSz="457200">
                <a:lnSpc>
                  <a:spcPct val="120000"/>
                </a:lnSpc>
                <a:defRPr sz="3000" b="0">
                  <a:solidFill>
                    <a:srgbClr val="EBEBEB"/>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sz="1600">
                <a:solidFill>
                  <a:schemeClr val="tx1"/>
                </a:solidFill>
                <a:latin typeface="微软雅黑" charset="-122"/>
                <a:ea typeface="微软雅黑" charset="-122"/>
              </a:endParaRPr>
            </a:p>
          </p:txBody>
        </p:sp>
        <p:sp>
          <p:nvSpPr>
            <p:cNvPr id="19" name="文本框 18"/>
            <p:cNvSpPr txBox="1"/>
            <p:nvPr>
              <p:custDataLst>
                <p:tags r:id="rId5"/>
              </p:custDataLst>
            </p:nvPr>
          </p:nvSpPr>
          <p:spPr>
            <a:xfrm flipH="1">
              <a:off x="8030" y="3001"/>
              <a:ext cx="6380" cy="1367"/>
            </a:xfrm>
            <a:prstGeom prst="rect">
              <a:avLst/>
            </a:prstGeom>
            <a:noFill/>
          </p:spPr>
          <p:txBody>
            <a:bodyPr vert="horz" wrap="square" lIns="90000" tIns="46800" rIns="90000" bIns="4680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lnSpc>
                  <a:spcPct val="120000"/>
                </a:lnSpc>
                <a:spcBef>
                  <a:spcPts val="0"/>
                </a:spcBef>
                <a:spcAft>
                  <a:spcPts val="800"/>
                </a:spcAft>
              </a:pPr>
              <a:r>
                <a:rPr lang="zh-CN" altLang="en-US" sz="1600" spc="120" dirty="0">
                  <a:solidFill>
                    <a:schemeClr val="tx1"/>
                  </a:solidFill>
                  <a:latin typeface="微软雅黑" charset="-122"/>
                  <a:ea typeface="微软雅黑" charset="-122"/>
                  <a:sym typeface="+mn-ea"/>
                </a:rPr>
                <a:t>计算能力：该</a:t>
              </a:r>
              <a:r>
                <a:rPr lang="zh-CN" altLang="en-US" sz="1600" spc="120" dirty="0">
                  <a:solidFill>
                    <a:schemeClr val="tx1"/>
                  </a:solidFill>
                  <a:latin typeface="微软雅黑" charset="-122"/>
                  <a:ea typeface="微软雅黑" charset="-122"/>
                  <a:sym typeface="+mn-ea"/>
                </a:rPr>
                <a:t>时期计算机的运算速度有限，限制了人工智能的发展</a:t>
              </a:r>
              <a:endParaRPr lang="zh-CN" altLang="en-US" sz="1600" spc="120" dirty="0">
                <a:solidFill>
                  <a:schemeClr val="tx1"/>
                </a:solidFill>
                <a:latin typeface="微软雅黑" charset="-122"/>
                <a:ea typeface="微软雅黑" charset="-122"/>
                <a:sym typeface="+mn-ea"/>
              </a:endParaRPr>
            </a:p>
          </p:txBody>
        </p:sp>
      </p:grpSp>
      <p:grpSp>
        <p:nvGrpSpPr>
          <p:cNvPr id="70" name="组合 69"/>
          <p:cNvGrpSpPr/>
          <p:nvPr/>
        </p:nvGrpSpPr>
        <p:grpSpPr>
          <a:xfrm>
            <a:off x="6318250" y="4394200"/>
            <a:ext cx="5046980" cy="867410"/>
            <a:chOff x="6462" y="4994"/>
            <a:chExt cx="7948" cy="1366"/>
          </a:xfrm>
        </p:grpSpPr>
        <p:sp>
          <p:nvSpPr>
            <p:cNvPr id="20" name="椭圆 19"/>
            <p:cNvSpPr/>
            <p:nvPr>
              <p:custDataLst>
                <p:tags r:id="rId6"/>
              </p:custDataLst>
            </p:nvPr>
          </p:nvSpPr>
          <p:spPr>
            <a:xfrm>
              <a:off x="6462" y="5099"/>
              <a:ext cx="1032" cy="1032"/>
            </a:xfrm>
            <a:prstGeom prst="ellipse">
              <a:avLst/>
            </a:prstGeom>
            <a:solidFill>
              <a:schemeClr val="lt1"/>
            </a:solidFill>
            <a:ln w="349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solidFill>
                  <a:schemeClr val="tx1"/>
                </a:solidFill>
                <a:latin typeface="微软雅黑" charset="-122"/>
                <a:ea typeface="微软雅黑" charset="-122"/>
              </a:endParaRPr>
            </a:p>
          </p:txBody>
        </p:sp>
        <p:sp>
          <p:nvSpPr>
            <p:cNvPr id="21" name="形状"/>
            <p:cNvSpPr/>
            <p:nvPr>
              <p:custDataLst>
                <p:tags r:id="rId7"/>
              </p:custDataLst>
            </p:nvPr>
          </p:nvSpPr>
          <p:spPr>
            <a:xfrm>
              <a:off x="6712" y="5345"/>
              <a:ext cx="519" cy="519"/>
            </a:xfrm>
            <a:custGeom>
              <a:avLst/>
              <a:gdLst/>
              <a:ahLst/>
              <a:cxnLst>
                <a:cxn ang="0">
                  <a:pos x="wd2" y="hd2"/>
                </a:cxn>
                <a:cxn ang="5400000">
                  <a:pos x="wd2" y="hd2"/>
                </a:cxn>
                <a:cxn ang="10800000">
                  <a:pos x="wd2" y="hd2"/>
                </a:cxn>
                <a:cxn ang="16200000">
                  <a:pos x="wd2" y="hd2"/>
                </a:cxn>
              </a:cxnLst>
              <a:rect l="0" t="0" r="r" b="b"/>
              <a:pathLst>
                <a:path w="21600" h="21600" extrusionOk="0">
                  <a:moveTo>
                    <a:pt x="20618" y="10309"/>
                  </a:moveTo>
                  <a:cubicBezTo>
                    <a:pt x="20618" y="10851"/>
                    <a:pt x="20178" y="11291"/>
                    <a:pt x="19636" y="11291"/>
                  </a:cubicBezTo>
                  <a:lnTo>
                    <a:pt x="19636" y="7364"/>
                  </a:lnTo>
                  <a:cubicBezTo>
                    <a:pt x="20178" y="7364"/>
                    <a:pt x="20618" y="7804"/>
                    <a:pt x="20618" y="8345"/>
                  </a:cubicBezTo>
                  <a:cubicBezTo>
                    <a:pt x="20618" y="8345"/>
                    <a:pt x="20618" y="10309"/>
                    <a:pt x="20618" y="10309"/>
                  </a:cubicBezTo>
                  <a:close/>
                  <a:moveTo>
                    <a:pt x="18655" y="17182"/>
                  </a:moveTo>
                  <a:cubicBezTo>
                    <a:pt x="18655" y="17453"/>
                    <a:pt x="18434" y="17673"/>
                    <a:pt x="18164" y="17673"/>
                  </a:cubicBezTo>
                  <a:cubicBezTo>
                    <a:pt x="17893" y="17673"/>
                    <a:pt x="17673" y="17453"/>
                    <a:pt x="17673" y="17182"/>
                  </a:cubicBezTo>
                  <a:lnTo>
                    <a:pt x="17673" y="1473"/>
                  </a:lnTo>
                  <a:cubicBezTo>
                    <a:pt x="17673" y="1202"/>
                    <a:pt x="17893" y="982"/>
                    <a:pt x="18164" y="982"/>
                  </a:cubicBezTo>
                  <a:cubicBezTo>
                    <a:pt x="18434" y="982"/>
                    <a:pt x="18655" y="1202"/>
                    <a:pt x="18655" y="1473"/>
                  </a:cubicBezTo>
                  <a:cubicBezTo>
                    <a:pt x="18655" y="1473"/>
                    <a:pt x="18655" y="17182"/>
                    <a:pt x="18655" y="17182"/>
                  </a:cubicBezTo>
                  <a:close/>
                  <a:moveTo>
                    <a:pt x="16691" y="15788"/>
                  </a:moveTo>
                  <a:lnTo>
                    <a:pt x="2945" y="11745"/>
                  </a:lnTo>
                  <a:lnTo>
                    <a:pt x="2945" y="6910"/>
                  </a:lnTo>
                  <a:lnTo>
                    <a:pt x="16691" y="2867"/>
                  </a:lnTo>
                  <a:cubicBezTo>
                    <a:pt x="16691" y="2867"/>
                    <a:pt x="16691" y="15788"/>
                    <a:pt x="16691" y="15788"/>
                  </a:cubicBezTo>
                  <a:close/>
                  <a:moveTo>
                    <a:pt x="8251" y="18655"/>
                  </a:moveTo>
                  <a:lnTo>
                    <a:pt x="5357" y="18655"/>
                  </a:lnTo>
                  <a:lnTo>
                    <a:pt x="4126" y="13116"/>
                  </a:lnTo>
                  <a:lnTo>
                    <a:pt x="7167" y="14010"/>
                  </a:lnTo>
                  <a:cubicBezTo>
                    <a:pt x="7167" y="14010"/>
                    <a:pt x="8251" y="18655"/>
                    <a:pt x="8251" y="18655"/>
                  </a:cubicBezTo>
                  <a:close/>
                  <a:moveTo>
                    <a:pt x="8709" y="20618"/>
                  </a:moveTo>
                  <a:lnTo>
                    <a:pt x="5794" y="20618"/>
                  </a:lnTo>
                  <a:lnTo>
                    <a:pt x="5576" y="19636"/>
                  </a:lnTo>
                  <a:lnTo>
                    <a:pt x="8479" y="19636"/>
                  </a:lnTo>
                  <a:cubicBezTo>
                    <a:pt x="8479" y="19636"/>
                    <a:pt x="8709" y="20618"/>
                    <a:pt x="8709" y="20618"/>
                  </a:cubicBezTo>
                  <a:close/>
                  <a:moveTo>
                    <a:pt x="1964" y="11782"/>
                  </a:moveTo>
                  <a:lnTo>
                    <a:pt x="982" y="11782"/>
                  </a:lnTo>
                  <a:lnTo>
                    <a:pt x="982" y="6873"/>
                  </a:lnTo>
                  <a:lnTo>
                    <a:pt x="1964" y="6873"/>
                  </a:lnTo>
                  <a:cubicBezTo>
                    <a:pt x="1964" y="6873"/>
                    <a:pt x="1964" y="11782"/>
                    <a:pt x="1964" y="11782"/>
                  </a:cubicBezTo>
                  <a:close/>
                  <a:moveTo>
                    <a:pt x="19636" y="6382"/>
                  </a:moveTo>
                  <a:lnTo>
                    <a:pt x="19636" y="1473"/>
                  </a:lnTo>
                  <a:cubicBezTo>
                    <a:pt x="19636" y="659"/>
                    <a:pt x="18977" y="0"/>
                    <a:pt x="18164" y="0"/>
                  </a:cubicBezTo>
                  <a:cubicBezTo>
                    <a:pt x="17350" y="0"/>
                    <a:pt x="16691" y="659"/>
                    <a:pt x="16691" y="1473"/>
                  </a:cubicBezTo>
                  <a:lnTo>
                    <a:pt x="16691" y="1844"/>
                  </a:lnTo>
                  <a:lnTo>
                    <a:pt x="2459" y="6029"/>
                  </a:lnTo>
                  <a:cubicBezTo>
                    <a:pt x="2313" y="5944"/>
                    <a:pt x="2145" y="5891"/>
                    <a:pt x="1964" y="5891"/>
                  </a:cubicBezTo>
                  <a:lnTo>
                    <a:pt x="982" y="5891"/>
                  </a:lnTo>
                  <a:cubicBezTo>
                    <a:pt x="440" y="5891"/>
                    <a:pt x="0" y="6331"/>
                    <a:pt x="0" y="6873"/>
                  </a:cubicBezTo>
                  <a:lnTo>
                    <a:pt x="0" y="11782"/>
                  </a:lnTo>
                  <a:cubicBezTo>
                    <a:pt x="0" y="12324"/>
                    <a:pt x="440" y="12764"/>
                    <a:pt x="982" y="12764"/>
                  </a:cubicBezTo>
                  <a:lnTo>
                    <a:pt x="1964" y="12764"/>
                  </a:lnTo>
                  <a:cubicBezTo>
                    <a:pt x="2145" y="12764"/>
                    <a:pt x="2313" y="12711"/>
                    <a:pt x="2458" y="12626"/>
                  </a:cubicBezTo>
                  <a:lnTo>
                    <a:pt x="3050" y="12799"/>
                  </a:lnTo>
                  <a:lnTo>
                    <a:pt x="4921" y="21216"/>
                  </a:lnTo>
                  <a:lnTo>
                    <a:pt x="4930" y="21214"/>
                  </a:lnTo>
                  <a:cubicBezTo>
                    <a:pt x="4979" y="21433"/>
                    <a:pt x="5166" y="21600"/>
                    <a:pt x="5400" y="21600"/>
                  </a:cubicBezTo>
                  <a:lnTo>
                    <a:pt x="9327" y="21600"/>
                  </a:lnTo>
                  <a:cubicBezTo>
                    <a:pt x="9598" y="21600"/>
                    <a:pt x="9818" y="21381"/>
                    <a:pt x="9818" y="21109"/>
                  </a:cubicBezTo>
                  <a:cubicBezTo>
                    <a:pt x="9818" y="21072"/>
                    <a:pt x="9805" y="21039"/>
                    <a:pt x="9797" y="21005"/>
                  </a:cubicBezTo>
                  <a:lnTo>
                    <a:pt x="9806" y="21003"/>
                  </a:lnTo>
                  <a:lnTo>
                    <a:pt x="8249" y="14329"/>
                  </a:lnTo>
                  <a:lnTo>
                    <a:pt x="16691" y="16811"/>
                  </a:lnTo>
                  <a:lnTo>
                    <a:pt x="16691" y="17182"/>
                  </a:lnTo>
                  <a:cubicBezTo>
                    <a:pt x="16691" y="17995"/>
                    <a:pt x="17350" y="18655"/>
                    <a:pt x="18164" y="18655"/>
                  </a:cubicBezTo>
                  <a:cubicBezTo>
                    <a:pt x="18977" y="18655"/>
                    <a:pt x="19636" y="17995"/>
                    <a:pt x="19636" y="17182"/>
                  </a:cubicBezTo>
                  <a:lnTo>
                    <a:pt x="19636" y="12273"/>
                  </a:lnTo>
                  <a:cubicBezTo>
                    <a:pt x="20721" y="12273"/>
                    <a:pt x="21600" y="11394"/>
                    <a:pt x="21600" y="10309"/>
                  </a:cubicBezTo>
                  <a:lnTo>
                    <a:pt x="21600" y="8345"/>
                  </a:lnTo>
                  <a:cubicBezTo>
                    <a:pt x="21600" y="7261"/>
                    <a:pt x="20721" y="6382"/>
                    <a:pt x="19636" y="6382"/>
                  </a:cubicBezTo>
                </a:path>
              </a:pathLst>
            </a:custGeom>
            <a:solidFill>
              <a:schemeClr val="dk1">
                <a:lumMod val="85000"/>
                <a:lumOff val="15000"/>
              </a:schemeClr>
            </a:solidFill>
            <a:ln w="12700">
              <a:solidFill>
                <a:schemeClr val="accent2"/>
              </a:solidFill>
              <a:miter lim="400000"/>
            </a:ln>
          </p:spPr>
          <p:txBody>
            <a:bodyPr lIns="38100" tIns="38100" rIns="38100" bIns="38100" anchor="ctr"/>
            <a:lstStyle/>
            <a:p>
              <a:pPr algn="ctr" defTabSz="457200">
                <a:lnSpc>
                  <a:spcPct val="120000"/>
                </a:lnSpc>
                <a:defRPr sz="3000" b="0">
                  <a:solidFill>
                    <a:srgbClr val="EBEBEB"/>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sz="1600">
                <a:solidFill>
                  <a:schemeClr val="tx1"/>
                </a:solidFill>
                <a:latin typeface="微软雅黑" charset="-122"/>
                <a:ea typeface="微软雅黑" charset="-122"/>
              </a:endParaRPr>
            </a:p>
          </p:txBody>
        </p:sp>
        <p:sp>
          <p:nvSpPr>
            <p:cNvPr id="22" name="文本框 21"/>
            <p:cNvSpPr txBox="1"/>
            <p:nvPr>
              <p:custDataLst>
                <p:tags r:id="rId8"/>
              </p:custDataLst>
            </p:nvPr>
          </p:nvSpPr>
          <p:spPr>
            <a:xfrm flipH="1">
              <a:off x="8030" y="4994"/>
              <a:ext cx="6380" cy="1367"/>
            </a:xfrm>
            <a:prstGeom prst="rect">
              <a:avLst/>
            </a:prstGeom>
            <a:noFill/>
          </p:spPr>
          <p:txBody>
            <a:bodyPr vert="horz" wrap="square" lIns="90000" tIns="46800" rIns="90000" bIns="4680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nSpc>
                  <a:spcPct val="120000"/>
                </a:lnSpc>
                <a:spcBef>
                  <a:spcPts val="0"/>
                </a:spcBef>
                <a:spcAft>
                  <a:spcPts val="800"/>
                </a:spcAft>
              </a:pPr>
              <a:r>
                <a:rPr lang="zh-CN" altLang="en-US" sz="1600" spc="120" dirty="0">
                  <a:solidFill>
                    <a:schemeClr val="tx1"/>
                  </a:solidFill>
                  <a:latin typeface="微软雅黑" charset="-122"/>
                  <a:ea typeface="微软雅黑" charset="-122"/>
                  <a:sym typeface="+mn-ea"/>
                </a:rPr>
                <a:t>数据量：</a:t>
              </a:r>
              <a:r>
                <a:rPr lang="zh-CN" altLang="en-US" sz="1600" spc="120" dirty="0">
                  <a:latin typeface="微软雅黑" charset="-122"/>
                  <a:ea typeface="微软雅黑" charset="-122"/>
                  <a:sym typeface="+mn-ea"/>
                </a:rPr>
                <a:t>该时期</a:t>
              </a:r>
              <a:r>
                <a:rPr lang="zh-CN" altLang="en-US" sz="1600" spc="120" dirty="0">
                  <a:solidFill>
                    <a:schemeClr val="tx1"/>
                  </a:solidFill>
                  <a:latin typeface="微软雅黑" charset="-122"/>
                  <a:ea typeface="微软雅黑" charset="-122"/>
                  <a:sym typeface="+mn-ea"/>
                </a:rPr>
                <a:t>数据量较小，难以满足人工智能对大量数据的需求</a:t>
              </a:r>
              <a:endParaRPr lang="zh-CN" altLang="en-US" sz="1600" spc="120" dirty="0">
                <a:solidFill>
                  <a:schemeClr val="tx1"/>
                </a:solidFill>
                <a:latin typeface="微软雅黑" charset="-122"/>
                <a:ea typeface="微软雅黑" charset="-122"/>
                <a:sym typeface="+mn-ea"/>
              </a:endParaRPr>
            </a:p>
          </p:txBody>
        </p:sp>
      </p:grpSp>
      <p:grpSp>
        <p:nvGrpSpPr>
          <p:cNvPr id="69" name="组合 68"/>
          <p:cNvGrpSpPr/>
          <p:nvPr/>
        </p:nvGrpSpPr>
        <p:grpSpPr>
          <a:xfrm>
            <a:off x="1100455" y="5483860"/>
            <a:ext cx="5046980" cy="867410"/>
            <a:chOff x="6462" y="6987"/>
            <a:chExt cx="7948" cy="1366"/>
          </a:xfrm>
        </p:grpSpPr>
        <p:sp>
          <p:nvSpPr>
            <p:cNvPr id="23" name="椭圆 22"/>
            <p:cNvSpPr/>
            <p:nvPr>
              <p:custDataLst>
                <p:tags r:id="rId9"/>
              </p:custDataLst>
            </p:nvPr>
          </p:nvSpPr>
          <p:spPr>
            <a:xfrm>
              <a:off x="6462" y="7092"/>
              <a:ext cx="1032" cy="1032"/>
            </a:xfrm>
            <a:prstGeom prst="ellipse">
              <a:avLst/>
            </a:prstGeom>
            <a:solidFill>
              <a:schemeClr val="lt1"/>
            </a:solidFill>
            <a:ln w="349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solidFill>
                  <a:schemeClr val="tx1"/>
                </a:solidFill>
                <a:latin typeface="微软雅黑" charset="-122"/>
                <a:ea typeface="微软雅黑" charset="-122"/>
              </a:endParaRPr>
            </a:p>
          </p:txBody>
        </p:sp>
        <p:sp>
          <p:nvSpPr>
            <p:cNvPr id="48" name="形状"/>
            <p:cNvSpPr/>
            <p:nvPr>
              <p:custDataLst>
                <p:tags r:id="rId10"/>
              </p:custDataLst>
            </p:nvPr>
          </p:nvSpPr>
          <p:spPr>
            <a:xfrm>
              <a:off x="6712" y="7338"/>
              <a:ext cx="519" cy="519"/>
            </a:xfrm>
            <a:custGeom>
              <a:avLst/>
              <a:gdLst/>
              <a:ahLst/>
              <a:cxnLst>
                <a:cxn ang="0">
                  <a:pos x="wd2" y="hd2"/>
                </a:cxn>
                <a:cxn ang="5400000">
                  <a:pos x="wd2" y="hd2"/>
                </a:cxn>
                <a:cxn ang="10800000">
                  <a:pos x="wd2" y="hd2"/>
                </a:cxn>
                <a:cxn ang="16200000">
                  <a:pos x="wd2" y="hd2"/>
                </a:cxn>
              </a:cxnLst>
              <a:rect l="0" t="0" r="r" b="b"/>
              <a:pathLst>
                <a:path w="21600" h="21600" extrusionOk="0">
                  <a:moveTo>
                    <a:pt x="20618" y="10309"/>
                  </a:moveTo>
                  <a:cubicBezTo>
                    <a:pt x="20618" y="10851"/>
                    <a:pt x="20178" y="11291"/>
                    <a:pt x="19636" y="11291"/>
                  </a:cubicBezTo>
                  <a:lnTo>
                    <a:pt x="19636" y="7364"/>
                  </a:lnTo>
                  <a:cubicBezTo>
                    <a:pt x="20178" y="7364"/>
                    <a:pt x="20618" y="7804"/>
                    <a:pt x="20618" y="8345"/>
                  </a:cubicBezTo>
                  <a:cubicBezTo>
                    <a:pt x="20618" y="8345"/>
                    <a:pt x="20618" y="10309"/>
                    <a:pt x="20618" y="10309"/>
                  </a:cubicBezTo>
                  <a:close/>
                  <a:moveTo>
                    <a:pt x="18655" y="17182"/>
                  </a:moveTo>
                  <a:cubicBezTo>
                    <a:pt x="18655" y="17453"/>
                    <a:pt x="18434" y="17673"/>
                    <a:pt x="18164" y="17673"/>
                  </a:cubicBezTo>
                  <a:cubicBezTo>
                    <a:pt x="17893" y="17673"/>
                    <a:pt x="17673" y="17453"/>
                    <a:pt x="17673" y="17182"/>
                  </a:cubicBezTo>
                  <a:lnTo>
                    <a:pt x="17673" y="1473"/>
                  </a:lnTo>
                  <a:cubicBezTo>
                    <a:pt x="17673" y="1202"/>
                    <a:pt x="17893" y="982"/>
                    <a:pt x="18164" y="982"/>
                  </a:cubicBezTo>
                  <a:cubicBezTo>
                    <a:pt x="18434" y="982"/>
                    <a:pt x="18655" y="1202"/>
                    <a:pt x="18655" y="1473"/>
                  </a:cubicBezTo>
                  <a:cubicBezTo>
                    <a:pt x="18655" y="1473"/>
                    <a:pt x="18655" y="17182"/>
                    <a:pt x="18655" y="17182"/>
                  </a:cubicBezTo>
                  <a:close/>
                  <a:moveTo>
                    <a:pt x="16691" y="15788"/>
                  </a:moveTo>
                  <a:lnTo>
                    <a:pt x="2945" y="11745"/>
                  </a:lnTo>
                  <a:lnTo>
                    <a:pt x="2945" y="6910"/>
                  </a:lnTo>
                  <a:lnTo>
                    <a:pt x="16691" y="2867"/>
                  </a:lnTo>
                  <a:cubicBezTo>
                    <a:pt x="16691" y="2867"/>
                    <a:pt x="16691" y="15788"/>
                    <a:pt x="16691" y="15788"/>
                  </a:cubicBezTo>
                  <a:close/>
                  <a:moveTo>
                    <a:pt x="8251" y="18655"/>
                  </a:moveTo>
                  <a:lnTo>
                    <a:pt x="5357" y="18655"/>
                  </a:lnTo>
                  <a:lnTo>
                    <a:pt x="4126" y="13116"/>
                  </a:lnTo>
                  <a:lnTo>
                    <a:pt x="7167" y="14010"/>
                  </a:lnTo>
                  <a:cubicBezTo>
                    <a:pt x="7167" y="14010"/>
                    <a:pt x="8251" y="18655"/>
                    <a:pt x="8251" y="18655"/>
                  </a:cubicBezTo>
                  <a:close/>
                  <a:moveTo>
                    <a:pt x="8709" y="20618"/>
                  </a:moveTo>
                  <a:lnTo>
                    <a:pt x="5794" y="20618"/>
                  </a:lnTo>
                  <a:lnTo>
                    <a:pt x="5576" y="19636"/>
                  </a:lnTo>
                  <a:lnTo>
                    <a:pt x="8479" y="19636"/>
                  </a:lnTo>
                  <a:cubicBezTo>
                    <a:pt x="8479" y="19636"/>
                    <a:pt x="8709" y="20618"/>
                    <a:pt x="8709" y="20618"/>
                  </a:cubicBezTo>
                  <a:close/>
                  <a:moveTo>
                    <a:pt x="1964" y="11782"/>
                  </a:moveTo>
                  <a:lnTo>
                    <a:pt x="982" y="11782"/>
                  </a:lnTo>
                  <a:lnTo>
                    <a:pt x="982" y="6873"/>
                  </a:lnTo>
                  <a:lnTo>
                    <a:pt x="1964" y="6873"/>
                  </a:lnTo>
                  <a:cubicBezTo>
                    <a:pt x="1964" y="6873"/>
                    <a:pt x="1964" y="11782"/>
                    <a:pt x="1964" y="11782"/>
                  </a:cubicBezTo>
                  <a:close/>
                  <a:moveTo>
                    <a:pt x="19636" y="6382"/>
                  </a:moveTo>
                  <a:lnTo>
                    <a:pt x="19636" y="1473"/>
                  </a:lnTo>
                  <a:cubicBezTo>
                    <a:pt x="19636" y="659"/>
                    <a:pt x="18977" y="0"/>
                    <a:pt x="18164" y="0"/>
                  </a:cubicBezTo>
                  <a:cubicBezTo>
                    <a:pt x="17350" y="0"/>
                    <a:pt x="16691" y="659"/>
                    <a:pt x="16691" y="1473"/>
                  </a:cubicBezTo>
                  <a:lnTo>
                    <a:pt x="16691" y="1844"/>
                  </a:lnTo>
                  <a:lnTo>
                    <a:pt x="2459" y="6029"/>
                  </a:lnTo>
                  <a:cubicBezTo>
                    <a:pt x="2313" y="5944"/>
                    <a:pt x="2145" y="5891"/>
                    <a:pt x="1964" y="5891"/>
                  </a:cubicBezTo>
                  <a:lnTo>
                    <a:pt x="982" y="5891"/>
                  </a:lnTo>
                  <a:cubicBezTo>
                    <a:pt x="440" y="5891"/>
                    <a:pt x="0" y="6331"/>
                    <a:pt x="0" y="6873"/>
                  </a:cubicBezTo>
                  <a:lnTo>
                    <a:pt x="0" y="11782"/>
                  </a:lnTo>
                  <a:cubicBezTo>
                    <a:pt x="0" y="12324"/>
                    <a:pt x="440" y="12764"/>
                    <a:pt x="982" y="12764"/>
                  </a:cubicBezTo>
                  <a:lnTo>
                    <a:pt x="1964" y="12764"/>
                  </a:lnTo>
                  <a:cubicBezTo>
                    <a:pt x="2145" y="12764"/>
                    <a:pt x="2313" y="12711"/>
                    <a:pt x="2458" y="12626"/>
                  </a:cubicBezTo>
                  <a:lnTo>
                    <a:pt x="3050" y="12799"/>
                  </a:lnTo>
                  <a:lnTo>
                    <a:pt x="4921" y="21216"/>
                  </a:lnTo>
                  <a:lnTo>
                    <a:pt x="4930" y="21214"/>
                  </a:lnTo>
                  <a:cubicBezTo>
                    <a:pt x="4979" y="21433"/>
                    <a:pt x="5166" y="21600"/>
                    <a:pt x="5400" y="21600"/>
                  </a:cubicBezTo>
                  <a:lnTo>
                    <a:pt x="9327" y="21600"/>
                  </a:lnTo>
                  <a:cubicBezTo>
                    <a:pt x="9598" y="21600"/>
                    <a:pt x="9818" y="21381"/>
                    <a:pt x="9818" y="21109"/>
                  </a:cubicBezTo>
                  <a:cubicBezTo>
                    <a:pt x="9818" y="21072"/>
                    <a:pt x="9805" y="21039"/>
                    <a:pt x="9797" y="21005"/>
                  </a:cubicBezTo>
                  <a:lnTo>
                    <a:pt x="9806" y="21003"/>
                  </a:lnTo>
                  <a:lnTo>
                    <a:pt x="8249" y="14329"/>
                  </a:lnTo>
                  <a:lnTo>
                    <a:pt x="16691" y="16811"/>
                  </a:lnTo>
                  <a:lnTo>
                    <a:pt x="16691" y="17182"/>
                  </a:lnTo>
                  <a:cubicBezTo>
                    <a:pt x="16691" y="17995"/>
                    <a:pt x="17350" y="18655"/>
                    <a:pt x="18164" y="18655"/>
                  </a:cubicBezTo>
                  <a:cubicBezTo>
                    <a:pt x="18977" y="18655"/>
                    <a:pt x="19636" y="17995"/>
                    <a:pt x="19636" y="17182"/>
                  </a:cubicBezTo>
                  <a:lnTo>
                    <a:pt x="19636" y="12273"/>
                  </a:lnTo>
                  <a:cubicBezTo>
                    <a:pt x="20721" y="12273"/>
                    <a:pt x="21600" y="11394"/>
                    <a:pt x="21600" y="10309"/>
                  </a:cubicBezTo>
                  <a:lnTo>
                    <a:pt x="21600" y="8345"/>
                  </a:lnTo>
                  <a:cubicBezTo>
                    <a:pt x="21600" y="7261"/>
                    <a:pt x="20721" y="6382"/>
                    <a:pt x="19636" y="6382"/>
                  </a:cubicBezTo>
                </a:path>
              </a:pathLst>
            </a:custGeom>
            <a:solidFill>
              <a:schemeClr val="dk1">
                <a:lumMod val="85000"/>
                <a:lumOff val="15000"/>
              </a:schemeClr>
            </a:solidFill>
            <a:ln w="12700">
              <a:solidFill>
                <a:schemeClr val="accent3"/>
              </a:solidFill>
              <a:miter lim="400000"/>
            </a:ln>
          </p:spPr>
          <p:txBody>
            <a:bodyPr lIns="38100" tIns="38100" rIns="38100" bIns="38100" anchor="ctr"/>
            <a:lstStyle/>
            <a:p>
              <a:pPr algn="ctr" defTabSz="457200">
                <a:lnSpc>
                  <a:spcPct val="120000"/>
                </a:lnSpc>
                <a:defRPr sz="3000" b="0">
                  <a:solidFill>
                    <a:srgbClr val="EBEBEB"/>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sz="1600">
                <a:solidFill>
                  <a:schemeClr val="tx1"/>
                </a:solidFill>
                <a:latin typeface="微软雅黑" charset="-122"/>
                <a:ea typeface="微软雅黑" charset="-122"/>
              </a:endParaRPr>
            </a:p>
          </p:txBody>
        </p:sp>
        <p:sp>
          <p:nvSpPr>
            <p:cNvPr id="49" name="文本框 48"/>
            <p:cNvSpPr txBox="1"/>
            <p:nvPr>
              <p:custDataLst>
                <p:tags r:id="rId11"/>
              </p:custDataLst>
            </p:nvPr>
          </p:nvSpPr>
          <p:spPr>
            <a:xfrm flipH="1">
              <a:off x="8030" y="6987"/>
              <a:ext cx="6380" cy="1367"/>
            </a:xfrm>
            <a:prstGeom prst="rect">
              <a:avLst/>
            </a:prstGeom>
            <a:noFill/>
          </p:spPr>
          <p:txBody>
            <a:bodyPr vert="horz" wrap="square" lIns="90000" tIns="46800" rIns="90000" bIns="4680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nSpc>
                  <a:spcPct val="120000"/>
                </a:lnSpc>
                <a:spcBef>
                  <a:spcPts val="0"/>
                </a:spcBef>
                <a:spcAft>
                  <a:spcPts val="800"/>
                </a:spcAft>
              </a:pPr>
              <a:r>
                <a:rPr lang="zh-CN" altLang="en-US" sz="1600" spc="120" dirty="0">
                  <a:solidFill>
                    <a:schemeClr val="tx1"/>
                  </a:solidFill>
                  <a:latin typeface="微软雅黑" charset="-122"/>
                  <a:ea typeface="微软雅黑" charset="-122"/>
                  <a:sym typeface="+mn-ea"/>
                </a:rPr>
                <a:t>技术限制：</a:t>
              </a:r>
              <a:r>
                <a:rPr lang="zh-CN" altLang="en-US" sz="1600" spc="120" dirty="0">
                  <a:latin typeface="微软雅黑" charset="-122"/>
                  <a:ea typeface="微软雅黑" charset="-122"/>
                  <a:sym typeface="+mn-ea"/>
                </a:rPr>
                <a:t>该时期</a:t>
              </a:r>
              <a:r>
                <a:rPr lang="zh-CN" altLang="en-US" sz="1600" spc="120" dirty="0">
                  <a:solidFill>
                    <a:schemeClr val="tx1"/>
                  </a:solidFill>
                  <a:latin typeface="微软雅黑" charset="-122"/>
                  <a:ea typeface="微软雅黑" charset="-122"/>
                  <a:sym typeface="+mn-ea"/>
                </a:rPr>
                <a:t>人工智能技术尚未成熟，难以实现复杂的功能</a:t>
              </a:r>
              <a:endParaRPr lang="zh-CN" altLang="en-US" sz="1600" spc="120" dirty="0">
                <a:solidFill>
                  <a:schemeClr val="tx1"/>
                </a:solidFill>
                <a:latin typeface="微软雅黑" charset="-122"/>
                <a:ea typeface="微软雅黑" charset="-122"/>
                <a:sym typeface="+mn-ea"/>
              </a:endParaRPr>
            </a:p>
          </p:txBody>
        </p:sp>
      </p:grpSp>
      <p:grpSp>
        <p:nvGrpSpPr>
          <p:cNvPr id="68" name="组合 67"/>
          <p:cNvGrpSpPr/>
          <p:nvPr/>
        </p:nvGrpSpPr>
        <p:grpSpPr>
          <a:xfrm>
            <a:off x="6322695" y="5483860"/>
            <a:ext cx="5046980" cy="867410"/>
            <a:chOff x="6462" y="8979"/>
            <a:chExt cx="7948" cy="1366"/>
          </a:xfrm>
        </p:grpSpPr>
        <p:sp>
          <p:nvSpPr>
            <p:cNvPr id="50" name="椭圆 49"/>
            <p:cNvSpPr/>
            <p:nvPr>
              <p:custDataLst>
                <p:tags r:id="rId12"/>
              </p:custDataLst>
            </p:nvPr>
          </p:nvSpPr>
          <p:spPr>
            <a:xfrm>
              <a:off x="6462" y="9084"/>
              <a:ext cx="1032" cy="1032"/>
            </a:xfrm>
            <a:prstGeom prst="ellipse">
              <a:avLst/>
            </a:prstGeom>
            <a:solidFill>
              <a:schemeClr val="lt1"/>
            </a:solidFill>
            <a:ln w="3492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solidFill>
                  <a:schemeClr val="tx1"/>
                </a:solidFill>
                <a:latin typeface="微软雅黑" charset="-122"/>
                <a:ea typeface="微软雅黑" charset="-122"/>
              </a:endParaRPr>
            </a:p>
          </p:txBody>
        </p:sp>
        <p:sp>
          <p:nvSpPr>
            <p:cNvPr id="66" name="形状"/>
            <p:cNvSpPr/>
            <p:nvPr>
              <p:custDataLst>
                <p:tags r:id="rId13"/>
              </p:custDataLst>
            </p:nvPr>
          </p:nvSpPr>
          <p:spPr>
            <a:xfrm>
              <a:off x="6712" y="9330"/>
              <a:ext cx="519" cy="519"/>
            </a:xfrm>
            <a:custGeom>
              <a:avLst/>
              <a:gdLst/>
              <a:ahLst/>
              <a:cxnLst>
                <a:cxn ang="0">
                  <a:pos x="wd2" y="hd2"/>
                </a:cxn>
                <a:cxn ang="5400000">
                  <a:pos x="wd2" y="hd2"/>
                </a:cxn>
                <a:cxn ang="10800000">
                  <a:pos x="wd2" y="hd2"/>
                </a:cxn>
                <a:cxn ang="16200000">
                  <a:pos x="wd2" y="hd2"/>
                </a:cxn>
              </a:cxnLst>
              <a:rect l="0" t="0" r="r" b="b"/>
              <a:pathLst>
                <a:path w="21600" h="21600" extrusionOk="0">
                  <a:moveTo>
                    <a:pt x="20618" y="10309"/>
                  </a:moveTo>
                  <a:cubicBezTo>
                    <a:pt x="20618" y="10851"/>
                    <a:pt x="20178" y="11291"/>
                    <a:pt x="19636" y="11291"/>
                  </a:cubicBezTo>
                  <a:lnTo>
                    <a:pt x="19636" y="7364"/>
                  </a:lnTo>
                  <a:cubicBezTo>
                    <a:pt x="20178" y="7364"/>
                    <a:pt x="20618" y="7804"/>
                    <a:pt x="20618" y="8345"/>
                  </a:cubicBezTo>
                  <a:cubicBezTo>
                    <a:pt x="20618" y="8345"/>
                    <a:pt x="20618" y="10309"/>
                    <a:pt x="20618" y="10309"/>
                  </a:cubicBezTo>
                  <a:close/>
                  <a:moveTo>
                    <a:pt x="18655" y="17182"/>
                  </a:moveTo>
                  <a:cubicBezTo>
                    <a:pt x="18655" y="17453"/>
                    <a:pt x="18434" y="17673"/>
                    <a:pt x="18164" y="17673"/>
                  </a:cubicBezTo>
                  <a:cubicBezTo>
                    <a:pt x="17893" y="17673"/>
                    <a:pt x="17673" y="17453"/>
                    <a:pt x="17673" y="17182"/>
                  </a:cubicBezTo>
                  <a:lnTo>
                    <a:pt x="17673" y="1473"/>
                  </a:lnTo>
                  <a:cubicBezTo>
                    <a:pt x="17673" y="1202"/>
                    <a:pt x="17893" y="982"/>
                    <a:pt x="18164" y="982"/>
                  </a:cubicBezTo>
                  <a:cubicBezTo>
                    <a:pt x="18434" y="982"/>
                    <a:pt x="18655" y="1202"/>
                    <a:pt x="18655" y="1473"/>
                  </a:cubicBezTo>
                  <a:cubicBezTo>
                    <a:pt x="18655" y="1473"/>
                    <a:pt x="18655" y="17182"/>
                    <a:pt x="18655" y="17182"/>
                  </a:cubicBezTo>
                  <a:close/>
                  <a:moveTo>
                    <a:pt x="16691" y="15788"/>
                  </a:moveTo>
                  <a:lnTo>
                    <a:pt x="2945" y="11745"/>
                  </a:lnTo>
                  <a:lnTo>
                    <a:pt x="2945" y="6910"/>
                  </a:lnTo>
                  <a:lnTo>
                    <a:pt x="16691" y="2867"/>
                  </a:lnTo>
                  <a:cubicBezTo>
                    <a:pt x="16691" y="2867"/>
                    <a:pt x="16691" y="15788"/>
                    <a:pt x="16691" y="15788"/>
                  </a:cubicBezTo>
                  <a:close/>
                  <a:moveTo>
                    <a:pt x="8251" y="18655"/>
                  </a:moveTo>
                  <a:lnTo>
                    <a:pt x="5357" y="18655"/>
                  </a:lnTo>
                  <a:lnTo>
                    <a:pt x="4126" y="13116"/>
                  </a:lnTo>
                  <a:lnTo>
                    <a:pt x="7167" y="14010"/>
                  </a:lnTo>
                  <a:cubicBezTo>
                    <a:pt x="7167" y="14010"/>
                    <a:pt x="8251" y="18655"/>
                    <a:pt x="8251" y="18655"/>
                  </a:cubicBezTo>
                  <a:close/>
                  <a:moveTo>
                    <a:pt x="8709" y="20618"/>
                  </a:moveTo>
                  <a:lnTo>
                    <a:pt x="5794" y="20618"/>
                  </a:lnTo>
                  <a:lnTo>
                    <a:pt x="5576" y="19636"/>
                  </a:lnTo>
                  <a:lnTo>
                    <a:pt x="8479" y="19636"/>
                  </a:lnTo>
                  <a:cubicBezTo>
                    <a:pt x="8479" y="19636"/>
                    <a:pt x="8709" y="20618"/>
                    <a:pt x="8709" y="20618"/>
                  </a:cubicBezTo>
                  <a:close/>
                  <a:moveTo>
                    <a:pt x="1964" y="11782"/>
                  </a:moveTo>
                  <a:lnTo>
                    <a:pt x="982" y="11782"/>
                  </a:lnTo>
                  <a:lnTo>
                    <a:pt x="982" y="6873"/>
                  </a:lnTo>
                  <a:lnTo>
                    <a:pt x="1964" y="6873"/>
                  </a:lnTo>
                  <a:cubicBezTo>
                    <a:pt x="1964" y="6873"/>
                    <a:pt x="1964" y="11782"/>
                    <a:pt x="1964" y="11782"/>
                  </a:cubicBezTo>
                  <a:close/>
                  <a:moveTo>
                    <a:pt x="19636" y="6382"/>
                  </a:moveTo>
                  <a:lnTo>
                    <a:pt x="19636" y="1473"/>
                  </a:lnTo>
                  <a:cubicBezTo>
                    <a:pt x="19636" y="659"/>
                    <a:pt x="18977" y="0"/>
                    <a:pt x="18164" y="0"/>
                  </a:cubicBezTo>
                  <a:cubicBezTo>
                    <a:pt x="17350" y="0"/>
                    <a:pt x="16691" y="659"/>
                    <a:pt x="16691" y="1473"/>
                  </a:cubicBezTo>
                  <a:lnTo>
                    <a:pt x="16691" y="1844"/>
                  </a:lnTo>
                  <a:lnTo>
                    <a:pt x="2459" y="6029"/>
                  </a:lnTo>
                  <a:cubicBezTo>
                    <a:pt x="2313" y="5944"/>
                    <a:pt x="2145" y="5891"/>
                    <a:pt x="1964" y="5891"/>
                  </a:cubicBezTo>
                  <a:lnTo>
                    <a:pt x="982" y="5891"/>
                  </a:lnTo>
                  <a:cubicBezTo>
                    <a:pt x="440" y="5891"/>
                    <a:pt x="0" y="6331"/>
                    <a:pt x="0" y="6873"/>
                  </a:cubicBezTo>
                  <a:lnTo>
                    <a:pt x="0" y="11782"/>
                  </a:lnTo>
                  <a:cubicBezTo>
                    <a:pt x="0" y="12324"/>
                    <a:pt x="440" y="12764"/>
                    <a:pt x="982" y="12764"/>
                  </a:cubicBezTo>
                  <a:lnTo>
                    <a:pt x="1964" y="12764"/>
                  </a:lnTo>
                  <a:cubicBezTo>
                    <a:pt x="2145" y="12764"/>
                    <a:pt x="2313" y="12711"/>
                    <a:pt x="2458" y="12626"/>
                  </a:cubicBezTo>
                  <a:lnTo>
                    <a:pt x="3050" y="12799"/>
                  </a:lnTo>
                  <a:lnTo>
                    <a:pt x="4921" y="21216"/>
                  </a:lnTo>
                  <a:lnTo>
                    <a:pt x="4930" y="21214"/>
                  </a:lnTo>
                  <a:cubicBezTo>
                    <a:pt x="4979" y="21433"/>
                    <a:pt x="5166" y="21600"/>
                    <a:pt x="5400" y="21600"/>
                  </a:cubicBezTo>
                  <a:lnTo>
                    <a:pt x="9327" y="21600"/>
                  </a:lnTo>
                  <a:cubicBezTo>
                    <a:pt x="9598" y="21600"/>
                    <a:pt x="9818" y="21381"/>
                    <a:pt x="9818" y="21109"/>
                  </a:cubicBezTo>
                  <a:cubicBezTo>
                    <a:pt x="9818" y="21072"/>
                    <a:pt x="9805" y="21039"/>
                    <a:pt x="9797" y="21005"/>
                  </a:cubicBezTo>
                  <a:lnTo>
                    <a:pt x="9806" y="21003"/>
                  </a:lnTo>
                  <a:lnTo>
                    <a:pt x="8249" y="14329"/>
                  </a:lnTo>
                  <a:lnTo>
                    <a:pt x="16691" y="16811"/>
                  </a:lnTo>
                  <a:lnTo>
                    <a:pt x="16691" y="17182"/>
                  </a:lnTo>
                  <a:cubicBezTo>
                    <a:pt x="16691" y="17995"/>
                    <a:pt x="17350" y="18655"/>
                    <a:pt x="18164" y="18655"/>
                  </a:cubicBezTo>
                  <a:cubicBezTo>
                    <a:pt x="18977" y="18655"/>
                    <a:pt x="19636" y="17995"/>
                    <a:pt x="19636" y="17182"/>
                  </a:cubicBezTo>
                  <a:lnTo>
                    <a:pt x="19636" y="12273"/>
                  </a:lnTo>
                  <a:cubicBezTo>
                    <a:pt x="20721" y="12273"/>
                    <a:pt x="21600" y="11394"/>
                    <a:pt x="21600" y="10309"/>
                  </a:cubicBezTo>
                  <a:lnTo>
                    <a:pt x="21600" y="8345"/>
                  </a:lnTo>
                  <a:cubicBezTo>
                    <a:pt x="21600" y="7261"/>
                    <a:pt x="20721" y="6382"/>
                    <a:pt x="19636" y="6382"/>
                  </a:cubicBezTo>
                </a:path>
              </a:pathLst>
            </a:custGeom>
            <a:solidFill>
              <a:schemeClr val="dk1">
                <a:lumMod val="85000"/>
                <a:lumOff val="15000"/>
              </a:schemeClr>
            </a:solidFill>
            <a:ln w="12700">
              <a:solidFill>
                <a:schemeClr val="accent4"/>
              </a:solidFill>
              <a:miter lim="400000"/>
            </a:ln>
          </p:spPr>
          <p:txBody>
            <a:bodyPr lIns="38100" tIns="38100" rIns="38100" bIns="38100" anchor="ctr"/>
            <a:lstStyle/>
            <a:p>
              <a:pPr algn="ctr" defTabSz="457200">
                <a:lnSpc>
                  <a:spcPct val="120000"/>
                </a:lnSpc>
                <a:defRPr sz="3000" b="0">
                  <a:solidFill>
                    <a:srgbClr val="EBEBEB"/>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sz="1600">
                <a:solidFill>
                  <a:schemeClr val="tx1"/>
                </a:solidFill>
                <a:latin typeface="微软雅黑" charset="-122"/>
                <a:ea typeface="微软雅黑" charset="-122"/>
              </a:endParaRPr>
            </a:p>
          </p:txBody>
        </p:sp>
        <p:sp>
          <p:nvSpPr>
            <p:cNvPr id="67" name="文本框 66"/>
            <p:cNvSpPr txBox="1"/>
            <p:nvPr>
              <p:custDataLst>
                <p:tags r:id="rId14"/>
              </p:custDataLst>
            </p:nvPr>
          </p:nvSpPr>
          <p:spPr>
            <a:xfrm flipH="1">
              <a:off x="8030" y="8979"/>
              <a:ext cx="6380" cy="1367"/>
            </a:xfrm>
            <a:prstGeom prst="rect">
              <a:avLst/>
            </a:prstGeom>
            <a:noFill/>
          </p:spPr>
          <p:txBody>
            <a:bodyPr vert="horz" wrap="square" lIns="90000" tIns="46800" rIns="90000" bIns="4680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nSpc>
                  <a:spcPct val="120000"/>
                </a:lnSpc>
                <a:spcBef>
                  <a:spcPts val="0"/>
                </a:spcBef>
                <a:spcAft>
                  <a:spcPts val="800"/>
                </a:spcAft>
              </a:pPr>
              <a:r>
                <a:rPr lang="zh-CN" altLang="en-US" sz="1600" spc="110" dirty="0">
                  <a:solidFill>
                    <a:schemeClr val="tx1"/>
                  </a:solidFill>
                  <a:latin typeface="微软雅黑" charset="-122"/>
                  <a:ea typeface="微软雅黑" charset="-122"/>
                  <a:sym typeface="+mn-ea"/>
                </a:rPr>
                <a:t>应用领域：</a:t>
              </a:r>
              <a:r>
                <a:rPr lang="zh-CN" altLang="en-US" sz="1600" spc="120" dirty="0">
                  <a:latin typeface="微软雅黑" charset="-122"/>
                  <a:ea typeface="微软雅黑" charset="-122"/>
                  <a:sym typeface="+mn-ea"/>
                </a:rPr>
                <a:t>该时期</a:t>
              </a:r>
              <a:r>
                <a:rPr lang="zh-CN" altLang="en-US" sz="1600" spc="110" dirty="0">
                  <a:solidFill>
                    <a:schemeClr val="tx1"/>
                  </a:solidFill>
                  <a:latin typeface="微软雅黑" charset="-122"/>
                  <a:ea typeface="微软雅黑" charset="-122"/>
                  <a:sym typeface="+mn-ea"/>
                </a:rPr>
                <a:t>人工智能应用领域有限，主要集中在科研和军事领域</a:t>
              </a:r>
              <a:endParaRPr lang="zh-CN" altLang="en-US" sz="1600" spc="110" dirty="0">
                <a:solidFill>
                  <a:schemeClr val="tx1"/>
                </a:solidFill>
                <a:latin typeface="微软雅黑" charset="-122"/>
                <a:ea typeface="微软雅黑" charset="-122"/>
                <a:sym typeface="+mn-ea"/>
              </a:endParaRPr>
            </a:p>
          </p:txBody>
        </p:sp>
      </p:grpSp>
      <p:sp>
        <p:nvSpPr>
          <p:cNvPr id="74" name="文本框 6"/>
          <p:cNvSpPr txBox="1"/>
          <p:nvPr>
            <p:custDataLst>
              <p:tags r:id="rId15"/>
            </p:custDataLst>
          </p:nvPr>
        </p:nvSpPr>
        <p:spPr>
          <a:xfrm>
            <a:off x="1153795" y="3632200"/>
            <a:ext cx="8411210"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lstStyle>
            <a:defPPr>
              <a:defRPr lang="zh-CN"/>
            </a:defPPr>
            <a:lvl1pPr>
              <a:lnSpc>
                <a:spcPct val="120000"/>
              </a:lnSpc>
              <a:defRPr sz="3600" b="1">
                <a:solidFill>
                  <a:srgbClr val="FFFFFF"/>
                </a:solidFill>
                <a:latin typeface="微软雅黑" charset="-122"/>
                <a:ea typeface="微软雅黑" charset="-122"/>
                <a:cs typeface="微软雅黑" charset="-122"/>
              </a:defRPr>
            </a:lvl1pPr>
          </a:lstStyle>
          <a:p>
            <a:pPr marL="0">
              <a:lnSpc>
                <a:spcPct val="100000"/>
              </a:lnSpc>
              <a:spcBef>
                <a:spcPts val="0"/>
              </a:spcBef>
              <a:spcAft>
                <a:spcPts val="0"/>
              </a:spcAft>
            </a:pPr>
            <a:r>
              <a:rPr lang="zh-CN" sz="2400" b="0" spc="330" dirty="0" err="1">
                <a:solidFill>
                  <a:schemeClr val="tx1"/>
                </a:solidFill>
                <a:latin typeface="黑体" panose="02010609060101010101" charset="-122"/>
                <a:ea typeface="黑体" panose="02010609060101010101" charset="-122"/>
                <a:sym typeface="微软雅黑" charset="-122"/>
              </a:rPr>
              <a:t>该时期人工智能存在挑战和</a:t>
            </a:r>
            <a:r>
              <a:rPr lang="zh-CN" sz="2400" b="0" spc="330" dirty="0" err="1">
                <a:solidFill>
                  <a:schemeClr val="tx1"/>
                </a:solidFill>
                <a:latin typeface="黑体" panose="02010609060101010101" charset="-122"/>
                <a:ea typeface="黑体" panose="02010609060101010101" charset="-122"/>
                <a:sym typeface="微软雅黑" charset="-122"/>
              </a:rPr>
              <a:t>限制</a:t>
            </a:r>
            <a:endParaRPr lang="zh-CN" sz="2400" b="0" spc="330" dirty="0" err="1">
              <a:solidFill>
                <a:schemeClr val="tx1"/>
              </a:solidFill>
              <a:latin typeface="黑体" panose="02010609060101010101" charset="-122"/>
              <a:ea typeface="黑体" panose="02010609060101010101" charset="-122"/>
              <a:sym typeface="微软雅黑" charset="-122"/>
            </a:endParaRPr>
          </a:p>
        </p:txBody>
      </p:sp>
      <p:grpSp>
        <p:nvGrpSpPr>
          <p:cNvPr id="167" name="组合 166"/>
          <p:cNvGrpSpPr/>
          <p:nvPr/>
        </p:nvGrpSpPr>
        <p:grpSpPr>
          <a:xfrm>
            <a:off x="1305560" y="1084777"/>
            <a:ext cx="9985375" cy="2087778"/>
            <a:chOff x="1023" y="476"/>
            <a:chExt cx="17349" cy="5135"/>
          </a:xfrm>
        </p:grpSpPr>
        <p:cxnSp>
          <p:nvCxnSpPr>
            <p:cNvPr id="169" name="直接箭头连接符 168"/>
            <p:cNvCxnSpPr/>
            <p:nvPr>
              <p:custDataLst>
                <p:tags r:id="rId16"/>
              </p:custDataLst>
            </p:nvPr>
          </p:nvCxnSpPr>
          <p:spPr>
            <a:xfrm flipV="1">
              <a:off x="1157" y="3048"/>
              <a:ext cx="16980" cy="44"/>
            </a:xfrm>
            <a:prstGeom prst="straightConnector1">
              <a:avLst/>
            </a:prstGeom>
            <a:ln w="5715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70" name="文本框 169"/>
            <p:cNvSpPr txBox="1"/>
            <p:nvPr>
              <p:custDataLst>
                <p:tags r:id="rId17"/>
              </p:custDataLst>
            </p:nvPr>
          </p:nvSpPr>
          <p:spPr>
            <a:xfrm>
              <a:off x="1023" y="1235"/>
              <a:ext cx="2357" cy="754"/>
            </a:xfrm>
            <a:prstGeom prst="rect">
              <a:avLst/>
            </a:prstGeom>
            <a:noFill/>
          </p:spPr>
          <p:txBody>
            <a:bodyPr wrap="square" rtlCol="0">
              <a:spAutoFit/>
            </a:bodyPr>
            <a:p>
              <a:pPr algn="ctr">
                <a:buClrTx/>
                <a:buSzTx/>
                <a:buFontTx/>
              </a:pPr>
              <a:r>
                <a:rPr lang="zh-CN" altLang="en-US" sz="1400">
                  <a:solidFill>
                    <a:schemeClr val="accent6"/>
                  </a:solidFill>
                  <a:latin typeface="Times New Roman Bold" panose="02020603050405020304" charset="0"/>
                  <a:cs typeface="Times New Roman Bold" panose="02020603050405020304" charset="0"/>
                  <a:sym typeface="+mn-ea"/>
                </a:rPr>
                <a:t>达特茅斯会议</a:t>
              </a:r>
              <a:endParaRPr lang="zh-CN" altLang="en-US" sz="1400">
                <a:solidFill>
                  <a:schemeClr val="accent6"/>
                </a:solidFill>
                <a:latin typeface="Times New Roman Bold" panose="02020603050405020304" charset="0"/>
                <a:cs typeface="Times New Roman Bold" panose="02020603050405020304" charset="0"/>
                <a:sym typeface="+mn-ea"/>
              </a:endParaRPr>
            </a:p>
          </p:txBody>
        </p:sp>
        <p:sp>
          <p:nvSpPr>
            <p:cNvPr id="171" name="文本框 170"/>
            <p:cNvSpPr txBox="1"/>
            <p:nvPr>
              <p:custDataLst>
                <p:tags r:id="rId18"/>
              </p:custDataLst>
            </p:nvPr>
          </p:nvSpPr>
          <p:spPr>
            <a:xfrm>
              <a:off x="2108" y="4226"/>
              <a:ext cx="2465" cy="1284"/>
            </a:xfrm>
            <a:prstGeom prst="rect">
              <a:avLst/>
            </a:prstGeom>
            <a:noFill/>
          </p:spPr>
          <p:txBody>
            <a:bodyPr wrap="square" rtlCol="0">
              <a:spAutoFit/>
            </a:bodyPr>
            <a:p>
              <a:pPr algn="ctr"/>
              <a:r>
                <a:rPr lang="en-US" altLang="zh-CN" sz="1400" b="1">
                  <a:solidFill>
                    <a:schemeClr val="accent6"/>
                  </a:solidFill>
                  <a:latin typeface="Times New Roman Bold" panose="02020603050405020304" charset="0"/>
                  <a:cs typeface="Times New Roman Bold" panose="02020603050405020304" charset="0"/>
                </a:rPr>
                <a:t>The Perceptron</a:t>
              </a:r>
              <a:endParaRPr lang="en-US" altLang="zh-CN" sz="1600" b="1">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感知机</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172" name="组合 171"/>
            <p:cNvGrpSpPr/>
            <p:nvPr/>
          </p:nvGrpSpPr>
          <p:grpSpPr>
            <a:xfrm rot="0">
              <a:off x="2074" y="1892"/>
              <a:ext cx="218" cy="1289"/>
              <a:chOff x="1827" y="4400"/>
              <a:chExt cx="218" cy="1289"/>
            </a:xfrm>
          </p:grpSpPr>
          <p:cxnSp>
            <p:nvCxnSpPr>
              <p:cNvPr id="173" name="直接连接符 172"/>
              <p:cNvCxnSpPr/>
              <p:nvPr>
                <p:custDataLst>
                  <p:tags r:id="rId19"/>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4" name="椭圆 173"/>
              <p:cNvSpPr/>
              <p:nvPr>
                <p:custDataLst>
                  <p:tags r:id="rId2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5" name="文本框 174"/>
            <p:cNvSpPr txBox="1"/>
            <p:nvPr>
              <p:custDataLst>
                <p:tags r:id="rId21"/>
              </p:custDataLst>
            </p:nvPr>
          </p:nvSpPr>
          <p:spPr>
            <a:xfrm>
              <a:off x="1702" y="3182"/>
              <a:ext cx="1265"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1956</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76" name="组合 175"/>
            <p:cNvGrpSpPr/>
            <p:nvPr/>
          </p:nvGrpSpPr>
          <p:grpSpPr>
            <a:xfrm rot="0" flipV="1">
              <a:off x="3245" y="2949"/>
              <a:ext cx="218" cy="1289"/>
              <a:chOff x="1827" y="4400"/>
              <a:chExt cx="218" cy="1289"/>
            </a:xfrm>
          </p:grpSpPr>
          <p:cxnSp>
            <p:nvCxnSpPr>
              <p:cNvPr id="177" name="直接连接符 176"/>
              <p:cNvCxnSpPr/>
              <p:nvPr>
                <p:custDataLst>
                  <p:tags r:id="rId22"/>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8" name="椭圆 177"/>
              <p:cNvSpPr/>
              <p:nvPr>
                <p:custDataLst>
                  <p:tags r:id="rId23"/>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9" name="文本框 178"/>
            <p:cNvSpPr txBox="1"/>
            <p:nvPr>
              <p:custDataLst>
                <p:tags r:id="rId24"/>
              </p:custDataLst>
            </p:nvPr>
          </p:nvSpPr>
          <p:spPr>
            <a:xfrm>
              <a:off x="2891" y="2465"/>
              <a:ext cx="1331"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1958</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80" name="组合 179"/>
            <p:cNvGrpSpPr/>
            <p:nvPr/>
          </p:nvGrpSpPr>
          <p:grpSpPr>
            <a:xfrm rot="0" flipV="1">
              <a:off x="6036" y="2989"/>
              <a:ext cx="218" cy="1289"/>
              <a:chOff x="1827" y="4400"/>
              <a:chExt cx="218" cy="1289"/>
            </a:xfrm>
          </p:grpSpPr>
          <p:cxnSp>
            <p:nvCxnSpPr>
              <p:cNvPr id="181" name="直接连接符 180"/>
              <p:cNvCxnSpPr/>
              <p:nvPr>
                <p:custDataLst>
                  <p:tags r:id="rId25"/>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82" name="椭圆 181"/>
              <p:cNvSpPr/>
              <p:nvPr>
                <p:custDataLst>
                  <p:tags r:id="rId2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8" name="组合 187"/>
            <p:cNvGrpSpPr/>
            <p:nvPr/>
          </p:nvGrpSpPr>
          <p:grpSpPr>
            <a:xfrm rot="0" flipV="1">
              <a:off x="8847" y="3015"/>
              <a:ext cx="218" cy="1289"/>
              <a:chOff x="1827" y="4400"/>
              <a:chExt cx="218" cy="1289"/>
            </a:xfrm>
          </p:grpSpPr>
          <p:cxnSp>
            <p:nvCxnSpPr>
              <p:cNvPr id="189" name="直接连接符 188"/>
              <p:cNvCxnSpPr/>
              <p:nvPr>
                <p:custDataLst>
                  <p:tags r:id="rId27"/>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0" name="椭圆 189"/>
              <p:cNvSpPr/>
              <p:nvPr>
                <p:custDataLst>
                  <p:tags r:id="rId28"/>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1" name="组合 190"/>
            <p:cNvGrpSpPr/>
            <p:nvPr/>
          </p:nvGrpSpPr>
          <p:grpSpPr>
            <a:xfrm rot="0" flipV="1">
              <a:off x="12042" y="3015"/>
              <a:ext cx="218" cy="1289"/>
              <a:chOff x="1827" y="4400"/>
              <a:chExt cx="218" cy="1289"/>
            </a:xfrm>
          </p:grpSpPr>
          <p:cxnSp>
            <p:nvCxnSpPr>
              <p:cNvPr id="192" name="直接连接符 191"/>
              <p:cNvCxnSpPr/>
              <p:nvPr>
                <p:custDataLst>
                  <p:tags r:id="rId29"/>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3" name="椭圆 192"/>
              <p:cNvSpPr/>
              <p:nvPr>
                <p:custDataLst>
                  <p:tags r:id="rId3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4" name="组合 193"/>
            <p:cNvGrpSpPr/>
            <p:nvPr/>
          </p:nvGrpSpPr>
          <p:grpSpPr>
            <a:xfrm rot="0" flipV="1">
              <a:off x="15540" y="3015"/>
              <a:ext cx="218" cy="1289"/>
              <a:chOff x="1827" y="4400"/>
              <a:chExt cx="218" cy="1289"/>
            </a:xfrm>
          </p:grpSpPr>
          <p:cxnSp>
            <p:nvCxnSpPr>
              <p:cNvPr id="195" name="直接连接符 194"/>
              <p:cNvCxnSpPr/>
              <p:nvPr>
                <p:custDataLst>
                  <p:tags r:id="rId31"/>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6" name="椭圆 195"/>
              <p:cNvSpPr/>
              <p:nvPr>
                <p:custDataLst>
                  <p:tags r:id="rId32"/>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7" name="组合 196"/>
            <p:cNvGrpSpPr/>
            <p:nvPr/>
          </p:nvGrpSpPr>
          <p:grpSpPr>
            <a:xfrm rot="0">
              <a:off x="4718" y="1301"/>
              <a:ext cx="219" cy="1881"/>
              <a:chOff x="1827" y="3809"/>
              <a:chExt cx="219" cy="1881"/>
            </a:xfrm>
          </p:grpSpPr>
          <p:cxnSp>
            <p:nvCxnSpPr>
              <p:cNvPr id="198" name="直接连接符 197"/>
              <p:cNvCxnSpPr/>
              <p:nvPr>
                <p:custDataLst>
                  <p:tags r:id="rId33"/>
                </p:custDataLst>
              </p:nvPr>
            </p:nvCxnSpPr>
            <p:spPr>
              <a:xfrm>
                <a:off x="1936" y="3809"/>
                <a:ext cx="0" cy="182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9" name="椭圆 198"/>
              <p:cNvSpPr/>
              <p:nvPr>
                <p:custDataLst>
                  <p:tags r:id="rId3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0" name="组合 199"/>
            <p:cNvGrpSpPr/>
            <p:nvPr/>
          </p:nvGrpSpPr>
          <p:grpSpPr>
            <a:xfrm rot="0">
              <a:off x="7427" y="1892"/>
              <a:ext cx="218" cy="1289"/>
              <a:chOff x="1827" y="4400"/>
              <a:chExt cx="218" cy="1289"/>
            </a:xfrm>
          </p:grpSpPr>
          <p:cxnSp>
            <p:nvCxnSpPr>
              <p:cNvPr id="201" name="直接连接符 200"/>
              <p:cNvCxnSpPr/>
              <p:nvPr>
                <p:custDataLst>
                  <p:tags r:id="rId35"/>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2" name="椭圆 201"/>
              <p:cNvSpPr/>
              <p:nvPr>
                <p:custDataLst>
                  <p:tags r:id="rId3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3" name="组合 202"/>
            <p:cNvGrpSpPr/>
            <p:nvPr/>
          </p:nvGrpSpPr>
          <p:grpSpPr>
            <a:xfrm rot="0">
              <a:off x="9738" y="2288"/>
              <a:ext cx="219" cy="886"/>
              <a:chOff x="1827" y="4804"/>
              <a:chExt cx="219" cy="886"/>
            </a:xfrm>
          </p:grpSpPr>
          <p:cxnSp>
            <p:nvCxnSpPr>
              <p:cNvPr id="204" name="直接连接符 203"/>
              <p:cNvCxnSpPr/>
              <p:nvPr>
                <p:custDataLst>
                  <p:tags r:id="rId37"/>
                </p:custDataLst>
              </p:nvPr>
            </p:nvCxnSpPr>
            <p:spPr>
              <a:xfrm>
                <a:off x="1936" y="4804"/>
                <a:ext cx="0" cy="8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5" name="椭圆 204"/>
              <p:cNvSpPr/>
              <p:nvPr>
                <p:custDataLst>
                  <p:tags r:id="rId38"/>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6" name="组合 205"/>
            <p:cNvGrpSpPr/>
            <p:nvPr/>
          </p:nvGrpSpPr>
          <p:grpSpPr>
            <a:xfrm rot="0">
              <a:off x="12910" y="2354"/>
              <a:ext cx="219" cy="831"/>
              <a:chOff x="1827" y="4859"/>
              <a:chExt cx="219" cy="831"/>
            </a:xfrm>
          </p:grpSpPr>
          <p:cxnSp>
            <p:nvCxnSpPr>
              <p:cNvPr id="207" name="直接连接符 206"/>
              <p:cNvCxnSpPr/>
              <p:nvPr>
                <p:custDataLst>
                  <p:tags r:id="rId39"/>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8" name="椭圆 207"/>
              <p:cNvSpPr/>
              <p:nvPr>
                <p:custDataLst>
                  <p:tags r:id="rId4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09" name="文本框 208"/>
            <p:cNvSpPr txBox="1"/>
            <p:nvPr>
              <p:custDataLst>
                <p:tags r:id="rId41"/>
              </p:custDataLst>
            </p:nvPr>
          </p:nvSpPr>
          <p:spPr>
            <a:xfrm>
              <a:off x="4223" y="3182"/>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1960s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0" name="文本框 209"/>
            <p:cNvSpPr txBox="1"/>
            <p:nvPr>
              <p:custDataLst>
                <p:tags r:id="rId42"/>
              </p:custDataLst>
            </p:nvPr>
          </p:nvSpPr>
          <p:spPr>
            <a:xfrm>
              <a:off x="4912" y="4327"/>
              <a:ext cx="2465" cy="128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Expert Systems</a:t>
              </a:r>
              <a:endParaRPr lang="zh-CN" altLang="en-US" sz="1400">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专家系统</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11" name="文本框 210"/>
            <p:cNvSpPr txBox="1"/>
            <p:nvPr>
              <p:custDataLst>
                <p:tags r:id="rId43"/>
              </p:custDataLst>
            </p:nvPr>
          </p:nvSpPr>
          <p:spPr>
            <a:xfrm>
              <a:off x="6526" y="3167"/>
              <a:ext cx="1994"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1974-1993</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2" name="文本框 211"/>
            <p:cNvSpPr txBox="1"/>
            <p:nvPr>
              <p:custDataLst>
                <p:tags r:id="rId44"/>
              </p:custDataLst>
            </p:nvPr>
          </p:nvSpPr>
          <p:spPr>
            <a:xfrm>
              <a:off x="6303" y="1233"/>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人工智能寒潮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13" name="文本框 212"/>
            <p:cNvSpPr txBox="1"/>
            <p:nvPr>
              <p:custDataLst>
                <p:tags r:id="rId45"/>
              </p:custDataLst>
            </p:nvPr>
          </p:nvSpPr>
          <p:spPr>
            <a:xfrm>
              <a:off x="5541" y="2505"/>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1980s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4" name="文本框 213"/>
            <p:cNvSpPr txBox="1"/>
            <p:nvPr>
              <p:custDataLst>
                <p:tags r:id="rId46"/>
              </p:custDataLst>
            </p:nvPr>
          </p:nvSpPr>
          <p:spPr>
            <a:xfrm>
              <a:off x="7275" y="4288"/>
              <a:ext cx="3351" cy="128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NLPs </a:t>
              </a:r>
              <a:r>
                <a:rPr lang="zh-CN" altLang="en-US" sz="1400">
                  <a:solidFill>
                    <a:schemeClr val="accent6"/>
                  </a:solidFill>
                  <a:latin typeface="Times New Roman Bold" panose="02020603050405020304" charset="0"/>
                  <a:cs typeface="Times New Roman Bold" panose="02020603050405020304" charset="0"/>
                </a:rPr>
                <a:t>及</a:t>
              </a:r>
              <a:r>
                <a:rPr lang="en-US" altLang="zh-CN" sz="1400">
                  <a:solidFill>
                    <a:schemeClr val="accent6"/>
                  </a:solidFill>
                  <a:latin typeface="Times New Roman Bold" panose="02020603050405020304" charset="0"/>
                  <a:cs typeface="Times New Roman Bold" panose="02020603050405020304" charset="0"/>
                </a:rPr>
                <a:t>CVs</a:t>
              </a:r>
              <a:r>
                <a:rPr lang="zh-CN" altLang="en-US" sz="1400">
                  <a:solidFill>
                    <a:schemeClr val="accent6"/>
                  </a:solidFill>
                  <a:latin typeface="Times New Roman Bold" panose="02020603050405020304" charset="0"/>
                  <a:cs typeface="Times New Roman Bold" panose="02020603050405020304" charset="0"/>
                </a:rPr>
                <a:t>系统</a:t>
              </a:r>
              <a:endParaRPr lang="zh-CN" altLang="en-US" sz="1400">
                <a:solidFill>
                  <a:schemeClr val="accent6"/>
                </a:solidFill>
                <a:latin typeface="Times New Roman Bold" panose="02020603050405020304" charset="0"/>
                <a:cs typeface="Times New Roman Bold" panose="02020603050405020304" charset="0"/>
              </a:endParaRPr>
            </a:p>
            <a:p>
              <a:pPr algn="ctr"/>
              <a:r>
                <a:rPr lang="en-US" altLang="zh-CN" sz="1400">
                  <a:solidFill>
                    <a:schemeClr val="accent6"/>
                  </a:solidFill>
                  <a:latin typeface="Times New Roman Bold" panose="02020603050405020304" charset="0"/>
                  <a:cs typeface="Times New Roman Bold" panose="02020603050405020304" charset="0"/>
                </a:rPr>
                <a:t>( HMM &amp;&amp; CNNs )</a:t>
              </a:r>
              <a:endParaRPr lang="en-US" altLang="zh-CN" sz="1400">
                <a:solidFill>
                  <a:schemeClr val="accent6"/>
                </a:solidFill>
                <a:latin typeface="Times New Roman Bold" panose="02020603050405020304" charset="0"/>
                <a:cs typeface="Times New Roman Bold" panose="02020603050405020304" charset="0"/>
              </a:endParaRPr>
            </a:p>
          </p:txBody>
        </p:sp>
        <p:sp>
          <p:nvSpPr>
            <p:cNvPr id="215" name="文本框 214"/>
            <p:cNvSpPr txBox="1"/>
            <p:nvPr>
              <p:custDataLst>
                <p:tags r:id="rId47"/>
              </p:custDataLst>
            </p:nvPr>
          </p:nvSpPr>
          <p:spPr>
            <a:xfrm>
              <a:off x="8360" y="2441"/>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6" name="文本框 215"/>
            <p:cNvSpPr txBox="1"/>
            <p:nvPr>
              <p:custDataLst>
                <p:tags r:id="rId48"/>
              </p:custDataLst>
            </p:nvPr>
          </p:nvSpPr>
          <p:spPr>
            <a:xfrm>
              <a:off x="8519" y="3092"/>
              <a:ext cx="1932" cy="128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the late 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7" name="文本框 216"/>
            <p:cNvSpPr txBox="1"/>
            <p:nvPr>
              <p:custDataLst>
                <p:tags r:id="rId49"/>
              </p:custDataLst>
            </p:nvPr>
          </p:nvSpPr>
          <p:spPr>
            <a:xfrm>
              <a:off x="8878" y="1553"/>
              <a:ext cx="1940" cy="1132"/>
            </a:xfrm>
            <a:prstGeom prst="rect">
              <a:avLst/>
            </a:prstGeom>
            <a:noFill/>
          </p:spPr>
          <p:txBody>
            <a:bodyPr wrap="square" rtlCol="0" anchor="t">
              <a:spAutoFit/>
            </a:bodyPr>
            <a:p>
              <a:pPr algn="ctr"/>
              <a:r>
                <a:rPr lang="en-US" altLang="zh-CN" sz="1200">
                  <a:solidFill>
                    <a:schemeClr val="tx1"/>
                  </a:solidFill>
                  <a:latin typeface="Times New Roman Bold" panose="02020603050405020304" charset="0"/>
                  <a:cs typeface="Times New Roman Bold" panose="02020603050405020304" charset="0"/>
                  <a:sym typeface="+mn-ea"/>
                </a:rPr>
                <a:t>RNNs</a:t>
              </a:r>
              <a:endParaRPr lang="en-US" altLang="zh-CN" sz="1200">
                <a:solidFill>
                  <a:schemeClr val="tx1"/>
                </a:solidFill>
                <a:latin typeface="Times New Roman Bold" panose="02020603050405020304" charset="0"/>
                <a:cs typeface="Times New Roman Bold" panose="02020603050405020304" charset="0"/>
                <a:sym typeface="+mn-ea"/>
              </a:endParaRPr>
            </a:p>
            <a:p>
              <a:pPr algn="ctr"/>
              <a:endParaRPr lang="en-US" altLang="zh-CN" sz="1200">
                <a:solidFill>
                  <a:schemeClr val="tx1"/>
                </a:solidFill>
                <a:latin typeface="Times New Roman Bold" panose="02020603050405020304" charset="0"/>
                <a:cs typeface="Times New Roman Bold" panose="02020603050405020304" charset="0"/>
                <a:sym typeface="+mn-ea"/>
              </a:endParaRPr>
            </a:p>
          </p:txBody>
        </p:sp>
        <p:grpSp>
          <p:nvGrpSpPr>
            <p:cNvPr id="218" name="组合 217"/>
            <p:cNvGrpSpPr/>
            <p:nvPr/>
          </p:nvGrpSpPr>
          <p:grpSpPr>
            <a:xfrm rot="0">
              <a:off x="11241" y="1114"/>
              <a:ext cx="219" cy="2047"/>
              <a:chOff x="1827" y="3643"/>
              <a:chExt cx="219" cy="2047"/>
            </a:xfrm>
          </p:grpSpPr>
          <p:cxnSp>
            <p:nvCxnSpPr>
              <p:cNvPr id="219" name="直接连接符 218"/>
              <p:cNvCxnSpPr/>
              <p:nvPr>
                <p:custDataLst>
                  <p:tags r:id="rId50"/>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20" name="椭圆 219"/>
              <p:cNvSpPr/>
              <p:nvPr>
                <p:custDataLst>
                  <p:tags r:id="rId51"/>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21" name="文本框 220"/>
            <p:cNvSpPr txBox="1"/>
            <p:nvPr>
              <p:custDataLst>
                <p:tags r:id="rId52"/>
              </p:custDataLst>
            </p:nvPr>
          </p:nvSpPr>
          <p:spPr>
            <a:xfrm>
              <a:off x="10120" y="3055"/>
              <a:ext cx="2226"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2000s-2010s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2" name="文本框 221"/>
            <p:cNvSpPr txBox="1"/>
            <p:nvPr>
              <p:custDataLst>
                <p:tags r:id="rId53"/>
              </p:custDataLst>
            </p:nvPr>
          </p:nvSpPr>
          <p:spPr>
            <a:xfrm>
              <a:off x="10121"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人工智能复兴</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23" name="文本框 222"/>
            <p:cNvSpPr txBox="1"/>
            <p:nvPr>
              <p:custDataLst>
                <p:tags r:id="rId54"/>
              </p:custDataLst>
            </p:nvPr>
          </p:nvSpPr>
          <p:spPr>
            <a:xfrm>
              <a:off x="3595" y="752"/>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人工智能热潮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24" name="文本框 223"/>
            <p:cNvSpPr txBox="1"/>
            <p:nvPr>
              <p:custDataLst>
                <p:tags r:id="rId55"/>
              </p:custDataLst>
            </p:nvPr>
          </p:nvSpPr>
          <p:spPr>
            <a:xfrm>
              <a:off x="11522" y="245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2009</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5" name="文本框 224"/>
            <p:cNvSpPr txBox="1"/>
            <p:nvPr>
              <p:custDataLst>
                <p:tags r:id="rId56"/>
              </p:custDataLst>
            </p:nvPr>
          </p:nvSpPr>
          <p:spPr>
            <a:xfrm>
              <a:off x="10766" y="4327"/>
              <a:ext cx="2770" cy="128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ImageNet </a:t>
              </a:r>
              <a:r>
                <a:rPr lang="zh-CN" altLang="en-US" sz="1400">
                  <a:solidFill>
                    <a:schemeClr val="tx1"/>
                  </a:solidFill>
                  <a:latin typeface="Times New Roman Bold" panose="02020603050405020304" charset="0"/>
                  <a:cs typeface="Times New Roman Bold" panose="02020603050405020304" charset="0"/>
                </a:rPr>
                <a:t>引入</a:t>
              </a:r>
              <a:r>
                <a:rPr lang="en-US" altLang="zh-CN" sz="1400">
                  <a:solidFill>
                    <a:schemeClr val="tx1"/>
                  </a:solidFill>
                  <a:latin typeface="Times New Roman Bold" panose="02020603050405020304" charset="0"/>
                  <a:cs typeface="Times New Roman Bold" panose="02020603050405020304" charset="0"/>
                </a:rPr>
                <a:t> CNN</a:t>
              </a:r>
              <a:endParaRPr lang="en-US" altLang="zh-CN" sz="1400">
                <a:solidFill>
                  <a:schemeClr val="tx1"/>
                </a:solidFill>
                <a:latin typeface="Times New Roman Bold" panose="02020603050405020304" charset="0"/>
                <a:cs typeface="Times New Roman Bold" panose="02020603050405020304" charset="0"/>
              </a:endParaRPr>
            </a:p>
          </p:txBody>
        </p:sp>
        <p:sp>
          <p:nvSpPr>
            <p:cNvPr id="226" name="文本框 225"/>
            <p:cNvSpPr txBox="1"/>
            <p:nvPr>
              <p:custDataLst>
                <p:tags r:id="rId57"/>
              </p:custDataLst>
            </p:nvPr>
          </p:nvSpPr>
          <p:spPr>
            <a:xfrm>
              <a:off x="11905" y="1417"/>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AI</a:t>
              </a:r>
              <a:r>
                <a:rPr lang="zh-CN" altLang="en-US" sz="1400">
                  <a:solidFill>
                    <a:schemeClr val="tx1"/>
                  </a:solidFill>
                  <a:latin typeface="Times New Roman Bold" panose="02020603050405020304" charset="0"/>
                  <a:cs typeface="Times New Roman Bold" panose="02020603050405020304" charset="0"/>
                </a:rPr>
                <a:t>广泛</a:t>
              </a:r>
              <a:r>
                <a:rPr lang="zh-CN" altLang="en-US" sz="1400">
                  <a:solidFill>
                    <a:schemeClr val="tx1"/>
                  </a:solidFill>
                  <a:latin typeface="Times New Roman Bold" panose="02020603050405020304" charset="0"/>
                  <a:cs typeface="Times New Roman Bold" panose="02020603050405020304" charset="0"/>
                </a:rPr>
                <a:t>应用</a:t>
              </a:r>
              <a:endParaRPr lang="zh-CN" altLang="en-US" sz="1400">
                <a:solidFill>
                  <a:schemeClr val="tx1"/>
                </a:solidFill>
                <a:latin typeface="Times New Roman Bold" panose="02020603050405020304" charset="0"/>
                <a:cs typeface="Times New Roman Bold" panose="02020603050405020304" charset="0"/>
              </a:endParaRPr>
            </a:p>
          </p:txBody>
        </p:sp>
        <p:sp>
          <p:nvSpPr>
            <p:cNvPr id="227" name="文本框 226"/>
            <p:cNvSpPr txBox="1"/>
            <p:nvPr>
              <p:custDataLst>
                <p:tags r:id="rId58"/>
              </p:custDataLst>
            </p:nvPr>
          </p:nvSpPr>
          <p:spPr>
            <a:xfrm>
              <a:off x="12391" y="3167"/>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8" name="文本框 227"/>
            <p:cNvSpPr txBox="1"/>
            <p:nvPr>
              <p:custDataLst>
                <p:tags r:id="rId59"/>
              </p:custDataLst>
            </p:nvPr>
          </p:nvSpPr>
          <p:spPr>
            <a:xfrm>
              <a:off x="14429" y="4302"/>
              <a:ext cx="246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Transformer</a:t>
              </a:r>
              <a:endParaRPr lang="en-US" altLang="zh-CN" sz="1400">
                <a:solidFill>
                  <a:schemeClr val="accent6"/>
                </a:solidFill>
                <a:latin typeface="Times New Roman Bold" panose="02020603050405020304" charset="0"/>
                <a:cs typeface="Times New Roman Bold" panose="02020603050405020304" charset="0"/>
              </a:endParaRPr>
            </a:p>
          </p:txBody>
        </p:sp>
        <p:sp>
          <p:nvSpPr>
            <p:cNvPr id="229" name="文本框 228"/>
            <p:cNvSpPr txBox="1"/>
            <p:nvPr>
              <p:custDataLst>
                <p:tags r:id="rId60"/>
              </p:custDataLst>
            </p:nvPr>
          </p:nvSpPr>
          <p:spPr>
            <a:xfrm>
              <a:off x="15020" y="2442"/>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2017</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30" name="文本框 229"/>
            <p:cNvSpPr txBox="1"/>
            <p:nvPr>
              <p:custDataLst>
                <p:tags r:id="rId61"/>
              </p:custDataLst>
            </p:nvPr>
          </p:nvSpPr>
          <p:spPr>
            <a:xfrm>
              <a:off x="15389"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人工智能高峰</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231" name="组合 230"/>
            <p:cNvGrpSpPr/>
            <p:nvPr/>
          </p:nvGrpSpPr>
          <p:grpSpPr>
            <a:xfrm rot="0">
              <a:off x="16513" y="1135"/>
              <a:ext cx="219" cy="2047"/>
              <a:chOff x="1827" y="3643"/>
              <a:chExt cx="219" cy="2047"/>
            </a:xfrm>
          </p:grpSpPr>
          <p:cxnSp>
            <p:nvCxnSpPr>
              <p:cNvPr id="232" name="直接连接符 231"/>
              <p:cNvCxnSpPr/>
              <p:nvPr>
                <p:custDataLst>
                  <p:tags r:id="rId62"/>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3" name="椭圆 232"/>
              <p:cNvSpPr/>
              <p:nvPr>
                <p:custDataLst>
                  <p:tags r:id="rId63"/>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4" name="文本框 233"/>
            <p:cNvSpPr txBox="1"/>
            <p:nvPr>
              <p:custDataLst>
                <p:tags r:id="rId64"/>
              </p:custDataLst>
            </p:nvPr>
          </p:nvSpPr>
          <p:spPr>
            <a:xfrm>
              <a:off x="16412" y="318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2020s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35" name="文本框 234"/>
            <p:cNvSpPr txBox="1"/>
            <p:nvPr>
              <p:custDataLst>
                <p:tags r:id="rId65"/>
              </p:custDataLst>
            </p:nvPr>
          </p:nvSpPr>
          <p:spPr>
            <a:xfrm>
              <a:off x="13449" y="2454"/>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2012</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236" name="组合 235"/>
            <p:cNvGrpSpPr/>
            <p:nvPr/>
          </p:nvGrpSpPr>
          <p:grpSpPr>
            <a:xfrm rot="0" flipV="1">
              <a:off x="13969" y="2961"/>
              <a:ext cx="219" cy="782"/>
              <a:chOff x="1827" y="4908"/>
              <a:chExt cx="219" cy="782"/>
            </a:xfrm>
          </p:grpSpPr>
          <p:cxnSp>
            <p:nvCxnSpPr>
              <p:cNvPr id="237" name="直接连接符 236"/>
              <p:cNvCxnSpPr/>
              <p:nvPr>
                <p:custDataLst>
                  <p:tags r:id="rId66"/>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8" name="椭圆 237"/>
              <p:cNvSpPr/>
              <p:nvPr>
                <p:custDataLst>
                  <p:tags r:id="rId6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9" name="文本框 238"/>
            <p:cNvSpPr txBox="1"/>
            <p:nvPr>
              <p:custDataLst>
                <p:tags r:id="rId68"/>
              </p:custDataLst>
            </p:nvPr>
          </p:nvSpPr>
          <p:spPr>
            <a:xfrm>
              <a:off x="13271" y="3767"/>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AlexNet</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240" name="组合 239"/>
            <p:cNvGrpSpPr/>
            <p:nvPr/>
          </p:nvGrpSpPr>
          <p:grpSpPr>
            <a:xfrm rot="0">
              <a:off x="14844" y="2325"/>
              <a:ext cx="219" cy="831"/>
              <a:chOff x="1827" y="4859"/>
              <a:chExt cx="219" cy="831"/>
            </a:xfrm>
          </p:grpSpPr>
          <p:cxnSp>
            <p:nvCxnSpPr>
              <p:cNvPr id="241" name="直接连接符 240"/>
              <p:cNvCxnSpPr/>
              <p:nvPr>
                <p:custDataLst>
                  <p:tags r:id="rId69"/>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2" name="椭圆 241"/>
              <p:cNvSpPr/>
              <p:nvPr>
                <p:custDataLst>
                  <p:tags r:id="rId7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43" name="文本框 242"/>
            <p:cNvSpPr txBox="1"/>
            <p:nvPr>
              <p:custDataLst>
                <p:tags r:id="rId71"/>
              </p:custDataLst>
            </p:nvPr>
          </p:nvSpPr>
          <p:spPr>
            <a:xfrm>
              <a:off x="13735" y="1805"/>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Word2Vec</a:t>
              </a:r>
              <a:endParaRPr lang="en-US" altLang="zh-CN" sz="1400">
                <a:solidFill>
                  <a:schemeClr val="tx1"/>
                </a:solidFill>
                <a:latin typeface="Times New Roman Bold" panose="02020603050405020304" charset="0"/>
                <a:cs typeface="Times New Roman Bold" panose="02020603050405020304" charset="0"/>
              </a:endParaRPr>
            </a:p>
          </p:txBody>
        </p:sp>
        <p:sp>
          <p:nvSpPr>
            <p:cNvPr id="244" name="文本框 243"/>
            <p:cNvSpPr txBox="1"/>
            <p:nvPr>
              <p:custDataLst>
                <p:tags r:id="rId72"/>
              </p:custDataLst>
            </p:nvPr>
          </p:nvSpPr>
          <p:spPr>
            <a:xfrm>
              <a:off x="14325" y="3151"/>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2015s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245" name="组合 244"/>
            <p:cNvGrpSpPr/>
            <p:nvPr/>
          </p:nvGrpSpPr>
          <p:grpSpPr>
            <a:xfrm rot="0" flipV="1">
              <a:off x="16513" y="2969"/>
              <a:ext cx="219" cy="782"/>
              <a:chOff x="1827" y="4908"/>
              <a:chExt cx="219" cy="782"/>
            </a:xfrm>
          </p:grpSpPr>
          <p:cxnSp>
            <p:nvCxnSpPr>
              <p:cNvPr id="246" name="直接连接符 245"/>
              <p:cNvCxnSpPr/>
              <p:nvPr>
                <p:custDataLst>
                  <p:tags r:id="rId73"/>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7" name="椭圆 246"/>
              <p:cNvSpPr/>
              <p:nvPr>
                <p:custDataLst>
                  <p:tags r:id="rId7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48" name="文本框 247"/>
            <p:cNvSpPr txBox="1"/>
            <p:nvPr>
              <p:custDataLst>
                <p:tags r:id="rId75"/>
              </p:custDataLst>
            </p:nvPr>
          </p:nvSpPr>
          <p:spPr>
            <a:xfrm>
              <a:off x="15767" y="3819"/>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GPT3</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249" name="组合 248"/>
            <p:cNvGrpSpPr/>
            <p:nvPr/>
          </p:nvGrpSpPr>
          <p:grpSpPr>
            <a:xfrm rot="0" flipV="1">
              <a:off x="17360" y="2955"/>
              <a:ext cx="219" cy="782"/>
              <a:chOff x="1827" y="4908"/>
              <a:chExt cx="219" cy="782"/>
            </a:xfrm>
          </p:grpSpPr>
          <p:cxnSp>
            <p:nvCxnSpPr>
              <p:cNvPr id="250" name="直接连接符 249"/>
              <p:cNvCxnSpPr/>
              <p:nvPr>
                <p:custDataLst>
                  <p:tags r:id="rId76"/>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51" name="椭圆 250"/>
              <p:cNvSpPr/>
              <p:nvPr>
                <p:custDataLst>
                  <p:tags r:id="rId7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52" name="文本框 251"/>
            <p:cNvSpPr txBox="1"/>
            <p:nvPr>
              <p:custDataLst>
                <p:tags r:id="rId78"/>
              </p:custDataLst>
            </p:nvPr>
          </p:nvSpPr>
          <p:spPr>
            <a:xfrm>
              <a:off x="16757" y="3795"/>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ChatGPT</a:t>
              </a:r>
              <a:endParaRPr lang="en-US" altLang="zh-CN" sz="1400">
                <a:solidFill>
                  <a:schemeClr val="accent6"/>
                </a:solidFill>
                <a:latin typeface="Times New Roman Bold" panose="02020603050405020304" charset="0"/>
                <a:cs typeface="Times New Roman Bold" panose="02020603050405020304" charset="0"/>
              </a:endParaRPr>
            </a:p>
          </p:txBody>
        </p:sp>
      </p:grpSp>
      <p:sp>
        <p:nvSpPr>
          <p:cNvPr id="253" name="矩形 252"/>
          <p:cNvSpPr/>
          <p:nvPr>
            <p:custDataLst>
              <p:tags r:id="rId79"/>
            </p:custDataLst>
          </p:nvPr>
        </p:nvSpPr>
        <p:spPr>
          <a:xfrm>
            <a:off x="4260215" y="1047750"/>
            <a:ext cx="2988310" cy="230187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80"/>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descr="3b403882-85d9-4143-9480-b0b97a85f8c3"/>
          <p:cNvPicPr>
            <a:picLocks noChangeAspect="1"/>
          </p:cNvPicPr>
          <p:nvPr>
            <p:custDataLst>
              <p:tags r:id="rId1"/>
            </p:custDataLst>
          </p:nvPr>
        </p:nvPicPr>
        <p:blipFill>
          <a:blip r:embed="rId2"/>
          <a:stretch>
            <a:fillRect/>
          </a:stretch>
        </p:blipFill>
        <p:spPr>
          <a:xfrm>
            <a:off x="10403840" y="6379845"/>
            <a:ext cx="1653540" cy="374015"/>
          </a:xfrm>
          <a:prstGeom prst="rect">
            <a:avLst/>
          </a:prstGeom>
        </p:spPr>
      </p:pic>
      <p:grpSp>
        <p:nvGrpSpPr>
          <p:cNvPr id="2" name="组合 1"/>
          <p:cNvGrpSpPr/>
          <p:nvPr/>
        </p:nvGrpSpPr>
        <p:grpSpPr>
          <a:xfrm>
            <a:off x="257175" y="4111625"/>
            <a:ext cx="2521951" cy="2371090"/>
            <a:chOff x="6160" y="5031"/>
            <a:chExt cx="2150" cy="2216"/>
          </a:xfrm>
        </p:grpSpPr>
        <p:sp>
          <p:nvSpPr>
            <p:cNvPr id="6" name="任意多边形 5"/>
            <p:cNvSpPr/>
            <p:nvPr>
              <p:custDataLst>
                <p:tags r:id="rId3"/>
              </p:custDataLst>
            </p:nvPr>
          </p:nvSpPr>
          <p:spPr>
            <a:xfrm>
              <a:off x="6160" y="5031"/>
              <a:ext cx="2151" cy="2217"/>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4422" h="4557">
                  <a:moveTo>
                    <a:pt x="191" y="0"/>
                  </a:moveTo>
                  <a:lnTo>
                    <a:pt x="4231" y="0"/>
                  </a:lnTo>
                  <a:cubicBezTo>
                    <a:pt x="4336" y="0"/>
                    <a:pt x="4422" y="86"/>
                    <a:pt x="4422" y="191"/>
                  </a:cubicBezTo>
                  <a:lnTo>
                    <a:pt x="4422" y="4111"/>
                  </a:lnTo>
                  <a:cubicBezTo>
                    <a:pt x="4422" y="4216"/>
                    <a:pt x="4336" y="4302"/>
                    <a:pt x="4231" y="4302"/>
                  </a:cubicBezTo>
                  <a:lnTo>
                    <a:pt x="653" y="4302"/>
                  </a:lnTo>
                  <a:lnTo>
                    <a:pt x="398" y="4557"/>
                  </a:lnTo>
                  <a:lnTo>
                    <a:pt x="398" y="4302"/>
                  </a:lnTo>
                  <a:lnTo>
                    <a:pt x="191" y="4302"/>
                  </a:lnTo>
                  <a:cubicBezTo>
                    <a:pt x="86" y="4302"/>
                    <a:pt x="0" y="4216"/>
                    <a:pt x="0" y="4111"/>
                  </a:cubicBezTo>
                  <a:lnTo>
                    <a:pt x="0" y="191"/>
                  </a:lnTo>
                  <a:cubicBezTo>
                    <a:pt x="0" y="86"/>
                    <a:pt x="86" y="0"/>
                    <a:pt x="191"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9" name="文本框 8"/>
            <p:cNvSpPr txBox="1"/>
            <p:nvPr>
              <p:custDataLst>
                <p:tags r:id="rId4"/>
              </p:custDataLst>
            </p:nvPr>
          </p:nvSpPr>
          <p:spPr>
            <a:xfrm>
              <a:off x="6276" y="5117"/>
              <a:ext cx="1920" cy="1942"/>
            </a:xfrm>
            <a:prstGeom prst="rect">
              <a:avLst/>
            </a:prstGeom>
            <a:noFill/>
          </p:spPr>
          <p:txBody>
            <a:bodyPr wrap="square" rtlCol="0" anchor="ctr" anchorCtr="0">
              <a:normAutofit/>
            </a:bodyPr>
            <a:p>
              <a:pPr marL="0" lvl="0" indent="0" algn="l">
                <a:lnSpc>
                  <a:spcPct val="130000"/>
                </a:lnSpc>
                <a:spcBef>
                  <a:spcPts val="0"/>
                </a:spcBef>
                <a:spcAft>
                  <a:spcPts val="0"/>
                </a:spcAft>
                <a:buSzPct val="100000"/>
              </a:pPr>
              <a:r>
                <a:rPr lang="en-US" altLang="zh-CN" sz="1400" spc="150">
                  <a:solidFill>
                    <a:schemeClr val="dk1">
                      <a:lumMod val="85000"/>
                      <a:lumOff val="15000"/>
                    </a:schemeClr>
                  </a:solidFill>
                  <a:uFillTx/>
                  <a:latin typeface="Arial" panose="020B0604020202090204" pitchFamily="34" charset="0"/>
                  <a:ea typeface="微软雅黑" charset="-122"/>
                  <a:sym typeface="+mn-ea"/>
                </a:rPr>
                <a:t> 2000年-2010年：人工智能复兴， 这个时期标志着人工智能研究的重新兴起。机器学习和数据驱动的方法开始变得更加重要，导致了一些重大突破。</a:t>
              </a:r>
              <a:endParaRPr lang="en-US" altLang="zh-CN" sz="1400" spc="150">
                <a:solidFill>
                  <a:schemeClr val="dk1">
                    <a:lumMod val="85000"/>
                    <a:lumOff val="15000"/>
                  </a:schemeClr>
                </a:solidFill>
                <a:uFillTx/>
                <a:latin typeface="Arial" panose="020B0604020202090204" pitchFamily="34" charset="0"/>
                <a:ea typeface="微软雅黑" charset="-122"/>
              </a:endParaRPr>
            </a:p>
          </p:txBody>
        </p:sp>
      </p:grpSp>
      <p:sp>
        <p:nvSpPr>
          <p:cNvPr id="7" name="文本框 6"/>
          <p:cNvSpPr txBox="1"/>
          <p:nvPr/>
        </p:nvSpPr>
        <p:spPr>
          <a:xfrm>
            <a:off x="3206115" y="3357880"/>
            <a:ext cx="5890260" cy="2912745"/>
          </a:xfrm>
          <a:prstGeom prst="rect">
            <a:avLst/>
          </a:prstGeom>
          <a:noFill/>
        </p:spPr>
        <p:txBody>
          <a:bodyPr wrap="square" rtlCol="0" anchor="t">
            <a:spAutoFit/>
          </a:bodyPr>
          <a:p>
            <a:pPr marL="0" indent="0" fontAlgn="auto">
              <a:lnSpc>
                <a:spcPct val="100000"/>
              </a:lnSpc>
              <a:spcBef>
                <a:spcPts val="0"/>
              </a:spcBef>
              <a:spcAft>
                <a:spcPts val="800"/>
              </a:spcAft>
              <a:buNone/>
            </a:pPr>
            <a:r>
              <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rPr>
              <a:t>关键技术：</a:t>
            </a:r>
            <a:endPar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70">
                <a:uFillTx/>
                <a:latin typeface="微软雅黑" charset="-122"/>
                <a:ea typeface="微软雅黑" charset="-122"/>
                <a:cs typeface="微软雅黑" charset="-122"/>
                <a:sym typeface="+mn-ea"/>
              </a:rPr>
              <a:t>2003：大数据技术</a:t>
            </a:r>
            <a:r>
              <a:rPr lang="en-US" altLang="zh-CN" sz="1400" spc="170">
                <a:uFillTx/>
                <a:latin typeface="微软雅黑" charset="-122"/>
                <a:ea typeface="微软雅黑" charset="-122"/>
                <a:cs typeface="微软雅黑" charset="-122"/>
                <a:sym typeface="+mn-ea"/>
              </a:rPr>
              <a:t> </a:t>
            </a:r>
            <a:endParaRPr lang="en-US" altLang="zh-CN" sz="1400" spc="17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70">
                <a:uFillTx/>
                <a:latin typeface="微软雅黑" charset="-122"/>
                <a:ea typeface="微软雅黑" charset="-122"/>
                <a:cs typeface="微软雅黑" charset="-122"/>
                <a:sym typeface="+mn-ea"/>
              </a:rPr>
              <a:t>2006：开启深度学习元年</a:t>
            </a:r>
            <a:r>
              <a:rPr lang="en-US" altLang="zh-CN" sz="1400" spc="170">
                <a:uFillTx/>
                <a:latin typeface="微软雅黑" charset="-122"/>
                <a:ea typeface="微软雅黑" charset="-122"/>
                <a:cs typeface="微软雅黑" charset="-122"/>
                <a:sym typeface="+mn-ea"/>
              </a:rPr>
              <a:t> </a:t>
            </a:r>
            <a:endParaRPr lang="en-US" altLang="zh-CN" sz="1400" spc="17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70">
                <a:uFillTx/>
                <a:latin typeface="微软雅黑" charset="-122"/>
                <a:ea typeface="微软雅黑" charset="-122"/>
                <a:cs typeface="微软雅黑" charset="-122"/>
                <a:sym typeface="+mn-ea"/>
              </a:rPr>
              <a:t>2009：ImageNet</a:t>
            </a:r>
            <a:endParaRPr lang="zh-CN" altLang="en-US" sz="1400" spc="17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rPr>
              <a:t>重大事件：</a:t>
            </a:r>
            <a:endPar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30">
                <a:uFillTx/>
                <a:latin typeface="微软雅黑" charset="-122"/>
                <a:ea typeface="微软雅黑" charset="-122"/>
                <a:cs typeface="微软雅黑" charset="-122"/>
                <a:sym typeface="+mn-ea"/>
              </a:rPr>
              <a:t>2005：斯坦福</a:t>
            </a:r>
            <a:r>
              <a:rPr lang="zh-CN" altLang="en-US" sz="1400" spc="130">
                <a:uFillTx/>
                <a:latin typeface="微软雅黑" charset="-122"/>
                <a:ea typeface="微软雅黑" charset="-122"/>
                <a:cs typeface="微软雅黑" charset="-122"/>
                <a:sym typeface="+mn-ea"/>
              </a:rPr>
              <a:t>团队自动驾驶 131 英里赢得了DARPA 挑战赛</a:t>
            </a:r>
            <a:endParaRPr lang="zh-CN" altLang="en-US" sz="1400" spc="13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30">
                <a:uFillTx/>
                <a:latin typeface="微软雅黑" charset="-122"/>
                <a:ea typeface="微软雅黑" charset="-122"/>
                <a:cs typeface="微软雅黑" charset="-122"/>
                <a:sym typeface="+mn-ea"/>
              </a:rPr>
              <a:t>2005，波士顿动力推出一款动力平衡四足机器狗</a:t>
            </a:r>
            <a:endParaRPr lang="zh-CN" altLang="en-US" sz="1400" spc="13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30">
                <a:uFillTx/>
                <a:latin typeface="微软雅黑" charset="-122"/>
                <a:ea typeface="微软雅黑" charset="-122"/>
                <a:cs typeface="微软雅黑" charset="-122"/>
                <a:sym typeface="+mn-ea"/>
              </a:rPr>
              <a:t>2007： CMU 的团队赢得了 DARPA 城市挑战赛</a:t>
            </a:r>
            <a:endParaRPr lang="zh-CN" altLang="en-US" sz="1400" spc="13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30">
                <a:uFillTx/>
                <a:latin typeface="微软雅黑" charset="-122"/>
                <a:ea typeface="微软雅黑" charset="-122"/>
                <a:cs typeface="微软雅黑" charset="-122"/>
                <a:sym typeface="+mn-ea"/>
              </a:rPr>
              <a:t>2010：谷歌公司正式宣布开展自动驾驶汽车研究计划</a:t>
            </a:r>
            <a:endParaRPr lang="zh-CN" altLang="en-US" sz="1400" spc="130">
              <a:uFillTx/>
              <a:latin typeface="微软雅黑" charset="-122"/>
              <a:ea typeface="微软雅黑" charset="-122"/>
              <a:cs typeface="微软雅黑" charset="-122"/>
              <a:sym typeface="+mn-ea"/>
            </a:endParaRPr>
          </a:p>
        </p:txBody>
      </p:sp>
      <p:pic>
        <p:nvPicPr>
          <p:cNvPr id="16" name="Picture 3"/>
          <p:cNvPicPr>
            <a:picLocks noChangeAspect="1"/>
          </p:cNvPicPr>
          <p:nvPr/>
        </p:nvPicPr>
        <p:blipFill>
          <a:blip r:embed="rId5"/>
          <a:stretch>
            <a:fillRect/>
          </a:stretch>
        </p:blipFill>
        <p:spPr>
          <a:xfrm>
            <a:off x="9486900" y="4366895"/>
            <a:ext cx="2413000" cy="1957070"/>
          </a:xfrm>
          <a:prstGeom prst="rect">
            <a:avLst/>
          </a:prstGeom>
        </p:spPr>
      </p:pic>
      <p:sp>
        <p:nvSpPr>
          <p:cNvPr id="67" name="波形 66"/>
          <p:cNvSpPr/>
          <p:nvPr/>
        </p:nvSpPr>
        <p:spPr>
          <a:xfrm>
            <a:off x="6748780" y="3515995"/>
            <a:ext cx="5443220" cy="817245"/>
          </a:xfrm>
          <a:prstGeom prst="wave">
            <a:avLst>
              <a:gd name="adj1" fmla="val 9090"/>
              <a:gd name="adj2" fmla="val 0"/>
            </a:avLst>
          </a:prstGeom>
          <a:solidFill>
            <a:schemeClr val="accent1">
              <a:lumMod val="20000"/>
              <a:lumOff val="80000"/>
            </a:schemeClr>
          </a:solidFill>
          <a:ln>
            <a:solidFill>
              <a:schemeClr val="accent4">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68" name="文本框 67"/>
          <p:cNvSpPr txBox="1"/>
          <p:nvPr/>
        </p:nvSpPr>
        <p:spPr>
          <a:xfrm>
            <a:off x="7028180" y="3627120"/>
            <a:ext cx="4888230" cy="645160"/>
          </a:xfrm>
          <a:prstGeom prst="rect">
            <a:avLst/>
          </a:prstGeom>
          <a:noFill/>
        </p:spPr>
        <p:txBody>
          <a:bodyPr wrap="square" rtlCol="0" anchor="t">
            <a:spAutoFit/>
          </a:bodyPr>
          <a:p>
            <a:pPr algn="ctr"/>
            <a:r>
              <a:rPr lang="zh-CN" altLang="en-US">
                <a:sym typeface="+mn-ea"/>
              </a:rPr>
              <a:t>应用产业：</a:t>
            </a:r>
            <a:r>
              <a:rPr lang="en-US">
                <a:sym typeface="+mn-ea"/>
              </a:rPr>
              <a:t>统计机器翻译和数据挖掘等应用的兴起，人工智能开始渗透到企业和科研领域</a:t>
            </a:r>
            <a:endParaRPr lang="zh-CN" altLang="en-US">
              <a:sym typeface="+mn-ea"/>
            </a:endParaRPr>
          </a:p>
        </p:txBody>
      </p:sp>
      <p:grpSp>
        <p:nvGrpSpPr>
          <p:cNvPr id="167" name="组合 166"/>
          <p:cNvGrpSpPr/>
          <p:nvPr/>
        </p:nvGrpSpPr>
        <p:grpSpPr>
          <a:xfrm>
            <a:off x="1305560" y="1084777"/>
            <a:ext cx="9985375" cy="2087778"/>
            <a:chOff x="1023" y="476"/>
            <a:chExt cx="17349" cy="5135"/>
          </a:xfrm>
        </p:grpSpPr>
        <p:cxnSp>
          <p:nvCxnSpPr>
            <p:cNvPr id="169" name="直接箭头连接符 168"/>
            <p:cNvCxnSpPr/>
            <p:nvPr>
              <p:custDataLst>
                <p:tags r:id="rId6"/>
              </p:custDataLst>
            </p:nvPr>
          </p:nvCxnSpPr>
          <p:spPr>
            <a:xfrm flipV="1">
              <a:off x="1157" y="3048"/>
              <a:ext cx="16980" cy="44"/>
            </a:xfrm>
            <a:prstGeom prst="straightConnector1">
              <a:avLst/>
            </a:prstGeom>
            <a:ln w="5715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70" name="文本框 169"/>
            <p:cNvSpPr txBox="1"/>
            <p:nvPr>
              <p:custDataLst>
                <p:tags r:id="rId7"/>
              </p:custDataLst>
            </p:nvPr>
          </p:nvSpPr>
          <p:spPr>
            <a:xfrm>
              <a:off x="1023" y="1235"/>
              <a:ext cx="2357" cy="754"/>
            </a:xfrm>
            <a:prstGeom prst="rect">
              <a:avLst/>
            </a:prstGeom>
            <a:noFill/>
          </p:spPr>
          <p:txBody>
            <a:bodyPr wrap="square" rtlCol="0">
              <a:spAutoFit/>
            </a:bodyPr>
            <a:p>
              <a:pPr algn="ctr">
                <a:buClrTx/>
                <a:buSzTx/>
                <a:buFontTx/>
              </a:pPr>
              <a:r>
                <a:rPr lang="zh-CN" altLang="en-US" sz="1400">
                  <a:solidFill>
                    <a:schemeClr val="accent6"/>
                  </a:solidFill>
                  <a:latin typeface="Times New Roman Bold" panose="02020603050405020304" charset="0"/>
                  <a:cs typeface="Times New Roman Bold" panose="02020603050405020304" charset="0"/>
                  <a:sym typeface="+mn-ea"/>
                </a:rPr>
                <a:t>达特茅斯会议</a:t>
              </a:r>
              <a:endParaRPr lang="zh-CN" altLang="en-US" sz="1400">
                <a:solidFill>
                  <a:schemeClr val="accent6"/>
                </a:solidFill>
                <a:latin typeface="Times New Roman Bold" panose="02020603050405020304" charset="0"/>
                <a:cs typeface="Times New Roman Bold" panose="02020603050405020304" charset="0"/>
                <a:sym typeface="+mn-ea"/>
              </a:endParaRPr>
            </a:p>
          </p:txBody>
        </p:sp>
        <p:sp>
          <p:nvSpPr>
            <p:cNvPr id="171" name="文本框 170"/>
            <p:cNvSpPr txBox="1"/>
            <p:nvPr>
              <p:custDataLst>
                <p:tags r:id="rId8"/>
              </p:custDataLst>
            </p:nvPr>
          </p:nvSpPr>
          <p:spPr>
            <a:xfrm>
              <a:off x="2108" y="4226"/>
              <a:ext cx="2465" cy="1284"/>
            </a:xfrm>
            <a:prstGeom prst="rect">
              <a:avLst/>
            </a:prstGeom>
            <a:noFill/>
          </p:spPr>
          <p:txBody>
            <a:bodyPr wrap="square" rtlCol="0">
              <a:spAutoFit/>
            </a:bodyPr>
            <a:p>
              <a:pPr algn="ctr"/>
              <a:r>
                <a:rPr lang="en-US" altLang="zh-CN" sz="1400" b="1">
                  <a:solidFill>
                    <a:schemeClr val="accent6"/>
                  </a:solidFill>
                  <a:latin typeface="Times New Roman Bold" panose="02020603050405020304" charset="0"/>
                  <a:cs typeface="Times New Roman Bold" panose="02020603050405020304" charset="0"/>
                </a:rPr>
                <a:t>The Perceptron</a:t>
              </a:r>
              <a:endParaRPr lang="en-US" altLang="zh-CN" sz="1600" b="1">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感知机</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172" name="组合 171"/>
            <p:cNvGrpSpPr/>
            <p:nvPr/>
          </p:nvGrpSpPr>
          <p:grpSpPr>
            <a:xfrm rot="0">
              <a:off x="2074" y="1892"/>
              <a:ext cx="218" cy="1289"/>
              <a:chOff x="1827" y="4400"/>
              <a:chExt cx="218" cy="1289"/>
            </a:xfrm>
          </p:grpSpPr>
          <p:cxnSp>
            <p:nvCxnSpPr>
              <p:cNvPr id="173" name="直接连接符 172"/>
              <p:cNvCxnSpPr/>
              <p:nvPr>
                <p:custDataLst>
                  <p:tags r:id="rId9"/>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4" name="椭圆 173"/>
              <p:cNvSpPr/>
              <p:nvPr>
                <p:custDataLst>
                  <p:tags r:id="rId1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5" name="文本框 174"/>
            <p:cNvSpPr txBox="1"/>
            <p:nvPr>
              <p:custDataLst>
                <p:tags r:id="rId11"/>
              </p:custDataLst>
            </p:nvPr>
          </p:nvSpPr>
          <p:spPr>
            <a:xfrm>
              <a:off x="1702" y="3182"/>
              <a:ext cx="1265"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1956</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76" name="组合 175"/>
            <p:cNvGrpSpPr/>
            <p:nvPr/>
          </p:nvGrpSpPr>
          <p:grpSpPr>
            <a:xfrm rot="0" flipV="1">
              <a:off x="3245" y="2949"/>
              <a:ext cx="218" cy="1289"/>
              <a:chOff x="1827" y="4400"/>
              <a:chExt cx="218" cy="1289"/>
            </a:xfrm>
          </p:grpSpPr>
          <p:cxnSp>
            <p:nvCxnSpPr>
              <p:cNvPr id="177" name="直接连接符 176"/>
              <p:cNvCxnSpPr/>
              <p:nvPr>
                <p:custDataLst>
                  <p:tags r:id="rId12"/>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8" name="椭圆 177"/>
              <p:cNvSpPr/>
              <p:nvPr>
                <p:custDataLst>
                  <p:tags r:id="rId13"/>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9" name="文本框 178"/>
            <p:cNvSpPr txBox="1"/>
            <p:nvPr>
              <p:custDataLst>
                <p:tags r:id="rId14"/>
              </p:custDataLst>
            </p:nvPr>
          </p:nvSpPr>
          <p:spPr>
            <a:xfrm>
              <a:off x="2891" y="2465"/>
              <a:ext cx="1331"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1958</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80" name="组合 179"/>
            <p:cNvGrpSpPr/>
            <p:nvPr/>
          </p:nvGrpSpPr>
          <p:grpSpPr>
            <a:xfrm rot="0" flipV="1">
              <a:off x="6036" y="2989"/>
              <a:ext cx="218" cy="1289"/>
              <a:chOff x="1827" y="4400"/>
              <a:chExt cx="218" cy="1289"/>
            </a:xfrm>
          </p:grpSpPr>
          <p:cxnSp>
            <p:nvCxnSpPr>
              <p:cNvPr id="181" name="直接连接符 180"/>
              <p:cNvCxnSpPr/>
              <p:nvPr>
                <p:custDataLst>
                  <p:tags r:id="rId15"/>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82" name="椭圆 181"/>
              <p:cNvSpPr/>
              <p:nvPr>
                <p:custDataLst>
                  <p:tags r:id="rId1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8" name="组合 187"/>
            <p:cNvGrpSpPr/>
            <p:nvPr/>
          </p:nvGrpSpPr>
          <p:grpSpPr>
            <a:xfrm rot="0" flipV="1">
              <a:off x="8847" y="3015"/>
              <a:ext cx="218" cy="1289"/>
              <a:chOff x="1827" y="4400"/>
              <a:chExt cx="218" cy="1289"/>
            </a:xfrm>
          </p:grpSpPr>
          <p:cxnSp>
            <p:nvCxnSpPr>
              <p:cNvPr id="189" name="直接连接符 188"/>
              <p:cNvCxnSpPr/>
              <p:nvPr>
                <p:custDataLst>
                  <p:tags r:id="rId17"/>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0" name="椭圆 189"/>
              <p:cNvSpPr/>
              <p:nvPr>
                <p:custDataLst>
                  <p:tags r:id="rId18"/>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1" name="组合 190"/>
            <p:cNvGrpSpPr/>
            <p:nvPr/>
          </p:nvGrpSpPr>
          <p:grpSpPr>
            <a:xfrm rot="0" flipV="1">
              <a:off x="12042" y="3015"/>
              <a:ext cx="218" cy="1289"/>
              <a:chOff x="1827" y="4400"/>
              <a:chExt cx="218" cy="1289"/>
            </a:xfrm>
          </p:grpSpPr>
          <p:cxnSp>
            <p:nvCxnSpPr>
              <p:cNvPr id="192" name="直接连接符 191"/>
              <p:cNvCxnSpPr/>
              <p:nvPr>
                <p:custDataLst>
                  <p:tags r:id="rId19"/>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3" name="椭圆 192"/>
              <p:cNvSpPr/>
              <p:nvPr>
                <p:custDataLst>
                  <p:tags r:id="rId2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4" name="组合 193"/>
            <p:cNvGrpSpPr/>
            <p:nvPr/>
          </p:nvGrpSpPr>
          <p:grpSpPr>
            <a:xfrm rot="0" flipV="1">
              <a:off x="15540" y="3015"/>
              <a:ext cx="218" cy="1289"/>
              <a:chOff x="1827" y="4400"/>
              <a:chExt cx="218" cy="1289"/>
            </a:xfrm>
          </p:grpSpPr>
          <p:cxnSp>
            <p:nvCxnSpPr>
              <p:cNvPr id="195" name="直接连接符 194"/>
              <p:cNvCxnSpPr/>
              <p:nvPr>
                <p:custDataLst>
                  <p:tags r:id="rId21"/>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6" name="椭圆 195"/>
              <p:cNvSpPr/>
              <p:nvPr>
                <p:custDataLst>
                  <p:tags r:id="rId22"/>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7" name="组合 196"/>
            <p:cNvGrpSpPr/>
            <p:nvPr/>
          </p:nvGrpSpPr>
          <p:grpSpPr>
            <a:xfrm rot="0">
              <a:off x="4718" y="1301"/>
              <a:ext cx="219" cy="1881"/>
              <a:chOff x="1827" y="3809"/>
              <a:chExt cx="219" cy="1881"/>
            </a:xfrm>
          </p:grpSpPr>
          <p:cxnSp>
            <p:nvCxnSpPr>
              <p:cNvPr id="198" name="直接连接符 197"/>
              <p:cNvCxnSpPr/>
              <p:nvPr>
                <p:custDataLst>
                  <p:tags r:id="rId23"/>
                </p:custDataLst>
              </p:nvPr>
            </p:nvCxnSpPr>
            <p:spPr>
              <a:xfrm>
                <a:off x="1936" y="3809"/>
                <a:ext cx="0" cy="182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9" name="椭圆 198"/>
              <p:cNvSpPr/>
              <p:nvPr>
                <p:custDataLst>
                  <p:tags r:id="rId2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0" name="组合 199"/>
            <p:cNvGrpSpPr/>
            <p:nvPr/>
          </p:nvGrpSpPr>
          <p:grpSpPr>
            <a:xfrm rot="0">
              <a:off x="7427" y="1892"/>
              <a:ext cx="218" cy="1289"/>
              <a:chOff x="1827" y="4400"/>
              <a:chExt cx="218" cy="1289"/>
            </a:xfrm>
          </p:grpSpPr>
          <p:cxnSp>
            <p:nvCxnSpPr>
              <p:cNvPr id="201" name="直接连接符 200"/>
              <p:cNvCxnSpPr/>
              <p:nvPr>
                <p:custDataLst>
                  <p:tags r:id="rId25"/>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2" name="椭圆 201"/>
              <p:cNvSpPr/>
              <p:nvPr>
                <p:custDataLst>
                  <p:tags r:id="rId2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3" name="组合 202"/>
            <p:cNvGrpSpPr/>
            <p:nvPr/>
          </p:nvGrpSpPr>
          <p:grpSpPr>
            <a:xfrm rot="0">
              <a:off x="9738" y="2288"/>
              <a:ext cx="219" cy="886"/>
              <a:chOff x="1827" y="4804"/>
              <a:chExt cx="219" cy="886"/>
            </a:xfrm>
          </p:grpSpPr>
          <p:cxnSp>
            <p:nvCxnSpPr>
              <p:cNvPr id="204" name="直接连接符 203"/>
              <p:cNvCxnSpPr/>
              <p:nvPr>
                <p:custDataLst>
                  <p:tags r:id="rId27"/>
                </p:custDataLst>
              </p:nvPr>
            </p:nvCxnSpPr>
            <p:spPr>
              <a:xfrm>
                <a:off x="1936" y="4804"/>
                <a:ext cx="0" cy="8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5" name="椭圆 204"/>
              <p:cNvSpPr/>
              <p:nvPr>
                <p:custDataLst>
                  <p:tags r:id="rId28"/>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6" name="组合 205"/>
            <p:cNvGrpSpPr/>
            <p:nvPr/>
          </p:nvGrpSpPr>
          <p:grpSpPr>
            <a:xfrm rot="0">
              <a:off x="12910" y="2354"/>
              <a:ext cx="219" cy="831"/>
              <a:chOff x="1827" y="4859"/>
              <a:chExt cx="219" cy="831"/>
            </a:xfrm>
          </p:grpSpPr>
          <p:cxnSp>
            <p:nvCxnSpPr>
              <p:cNvPr id="207" name="直接连接符 206"/>
              <p:cNvCxnSpPr/>
              <p:nvPr>
                <p:custDataLst>
                  <p:tags r:id="rId29"/>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8" name="椭圆 207"/>
              <p:cNvSpPr/>
              <p:nvPr>
                <p:custDataLst>
                  <p:tags r:id="rId3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09" name="文本框 208"/>
            <p:cNvSpPr txBox="1"/>
            <p:nvPr>
              <p:custDataLst>
                <p:tags r:id="rId31"/>
              </p:custDataLst>
            </p:nvPr>
          </p:nvSpPr>
          <p:spPr>
            <a:xfrm>
              <a:off x="4223" y="3182"/>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1960s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0" name="文本框 209"/>
            <p:cNvSpPr txBox="1"/>
            <p:nvPr>
              <p:custDataLst>
                <p:tags r:id="rId32"/>
              </p:custDataLst>
            </p:nvPr>
          </p:nvSpPr>
          <p:spPr>
            <a:xfrm>
              <a:off x="4912" y="4327"/>
              <a:ext cx="2465" cy="128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Expert Systems</a:t>
              </a:r>
              <a:endParaRPr lang="zh-CN" altLang="en-US" sz="1400">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专家系统</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11" name="文本框 210"/>
            <p:cNvSpPr txBox="1"/>
            <p:nvPr>
              <p:custDataLst>
                <p:tags r:id="rId33"/>
              </p:custDataLst>
            </p:nvPr>
          </p:nvSpPr>
          <p:spPr>
            <a:xfrm>
              <a:off x="6526" y="3167"/>
              <a:ext cx="1994"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1974-1993</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2" name="文本框 211"/>
            <p:cNvSpPr txBox="1"/>
            <p:nvPr>
              <p:custDataLst>
                <p:tags r:id="rId34"/>
              </p:custDataLst>
            </p:nvPr>
          </p:nvSpPr>
          <p:spPr>
            <a:xfrm>
              <a:off x="6303" y="1233"/>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人工智能寒潮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13" name="文本框 212"/>
            <p:cNvSpPr txBox="1"/>
            <p:nvPr>
              <p:custDataLst>
                <p:tags r:id="rId35"/>
              </p:custDataLst>
            </p:nvPr>
          </p:nvSpPr>
          <p:spPr>
            <a:xfrm>
              <a:off x="5541" y="2505"/>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1980s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4" name="文本框 213"/>
            <p:cNvSpPr txBox="1"/>
            <p:nvPr>
              <p:custDataLst>
                <p:tags r:id="rId36"/>
              </p:custDataLst>
            </p:nvPr>
          </p:nvSpPr>
          <p:spPr>
            <a:xfrm>
              <a:off x="7275" y="4288"/>
              <a:ext cx="3351" cy="128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NLPs </a:t>
              </a:r>
              <a:r>
                <a:rPr lang="zh-CN" altLang="en-US" sz="1400">
                  <a:solidFill>
                    <a:schemeClr val="accent6"/>
                  </a:solidFill>
                  <a:latin typeface="Times New Roman Bold" panose="02020603050405020304" charset="0"/>
                  <a:cs typeface="Times New Roman Bold" panose="02020603050405020304" charset="0"/>
                </a:rPr>
                <a:t>及</a:t>
              </a:r>
              <a:r>
                <a:rPr lang="en-US" altLang="zh-CN" sz="1400">
                  <a:solidFill>
                    <a:schemeClr val="accent6"/>
                  </a:solidFill>
                  <a:latin typeface="Times New Roman Bold" panose="02020603050405020304" charset="0"/>
                  <a:cs typeface="Times New Roman Bold" panose="02020603050405020304" charset="0"/>
                </a:rPr>
                <a:t>CVs</a:t>
              </a:r>
              <a:r>
                <a:rPr lang="zh-CN" altLang="en-US" sz="1400">
                  <a:solidFill>
                    <a:schemeClr val="accent6"/>
                  </a:solidFill>
                  <a:latin typeface="Times New Roman Bold" panose="02020603050405020304" charset="0"/>
                  <a:cs typeface="Times New Roman Bold" panose="02020603050405020304" charset="0"/>
                </a:rPr>
                <a:t>系统</a:t>
              </a:r>
              <a:endParaRPr lang="zh-CN" altLang="en-US" sz="1400">
                <a:solidFill>
                  <a:schemeClr val="accent6"/>
                </a:solidFill>
                <a:latin typeface="Times New Roman Bold" panose="02020603050405020304" charset="0"/>
                <a:cs typeface="Times New Roman Bold" panose="02020603050405020304" charset="0"/>
              </a:endParaRPr>
            </a:p>
            <a:p>
              <a:pPr algn="ctr"/>
              <a:r>
                <a:rPr lang="en-US" altLang="zh-CN" sz="1400">
                  <a:solidFill>
                    <a:schemeClr val="accent6"/>
                  </a:solidFill>
                  <a:latin typeface="Times New Roman Bold" panose="02020603050405020304" charset="0"/>
                  <a:cs typeface="Times New Roman Bold" panose="02020603050405020304" charset="0"/>
                </a:rPr>
                <a:t>( HMM &amp;&amp; CNNs )</a:t>
              </a:r>
              <a:endParaRPr lang="en-US" altLang="zh-CN" sz="1400">
                <a:solidFill>
                  <a:schemeClr val="accent6"/>
                </a:solidFill>
                <a:latin typeface="Times New Roman Bold" panose="02020603050405020304" charset="0"/>
                <a:cs typeface="Times New Roman Bold" panose="02020603050405020304" charset="0"/>
              </a:endParaRPr>
            </a:p>
          </p:txBody>
        </p:sp>
        <p:sp>
          <p:nvSpPr>
            <p:cNvPr id="215" name="文本框 214"/>
            <p:cNvSpPr txBox="1"/>
            <p:nvPr>
              <p:custDataLst>
                <p:tags r:id="rId37"/>
              </p:custDataLst>
            </p:nvPr>
          </p:nvSpPr>
          <p:spPr>
            <a:xfrm>
              <a:off x="8360" y="2441"/>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6" name="文本框 215"/>
            <p:cNvSpPr txBox="1"/>
            <p:nvPr>
              <p:custDataLst>
                <p:tags r:id="rId38"/>
              </p:custDataLst>
            </p:nvPr>
          </p:nvSpPr>
          <p:spPr>
            <a:xfrm>
              <a:off x="8519" y="3092"/>
              <a:ext cx="1932" cy="128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the late 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7" name="文本框 216"/>
            <p:cNvSpPr txBox="1"/>
            <p:nvPr>
              <p:custDataLst>
                <p:tags r:id="rId39"/>
              </p:custDataLst>
            </p:nvPr>
          </p:nvSpPr>
          <p:spPr>
            <a:xfrm>
              <a:off x="8878" y="1553"/>
              <a:ext cx="1940" cy="1132"/>
            </a:xfrm>
            <a:prstGeom prst="rect">
              <a:avLst/>
            </a:prstGeom>
            <a:noFill/>
          </p:spPr>
          <p:txBody>
            <a:bodyPr wrap="square" rtlCol="0" anchor="t">
              <a:spAutoFit/>
            </a:bodyPr>
            <a:p>
              <a:pPr algn="ctr"/>
              <a:r>
                <a:rPr lang="en-US" altLang="zh-CN" sz="1200">
                  <a:solidFill>
                    <a:schemeClr val="tx1"/>
                  </a:solidFill>
                  <a:latin typeface="Times New Roman Bold" panose="02020603050405020304" charset="0"/>
                  <a:cs typeface="Times New Roman Bold" panose="02020603050405020304" charset="0"/>
                  <a:sym typeface="+mn-ea"/>
                </a:rPr>
                <a:t>RNNs</a:t>
              </a:r>
              <a:endParaRPr lang="en-US" altLang="zh-CN" sz="1200">
                <a:solidFill>
                  <a:schemeClr val="tx1"/>
                </a:solidFill>
                <a:latin typeface="Times New Roman Bold" panose="02020603050405020304" charset="0"/>
                <a:cs typeface="Times New Roman Bold" panose="02020603050405020304" charset="0"/>
                <a:sym typeface="+mn-ea"/>
              </a:endParaRPr>
            </a:p>
            <a:p>
              <a:pPr algn="ctr"/>
              <a:endParaRPr lang="en-US" altLang="zh-CN" sz="1200">
                <a:solidFill>
                  <a:schemeClr val="tx1"/>
                </a:solidFill>
                <a:latin typeface="Times New Roman Bold" panose="02020603050405020304" charset="0"/>
                <a:cs typeface="Times New Roman Bold" panose="02020603050405020304" charset="0"/>
                <a:sym typeface="+mn-ea"/>
              </a:endParaRPr>
            </a:p>
          </p:txBody>
        </p:sp>
        <p:grpSp>
          <p:nvGrpSpPr>
            <p:cNvPr id="218" name="组合 217"/>
            <p:cNvGrpSpPr/>
            <p:nvPr/>
          </p:nvGrpSpPr>
          <p:grpSpPr>
            <a:xfrm rot="0">
              <a:off x="11241" y="1114"/>
              <a:ext cx="219" cy="2047"/>
              <a:chOff x="1827" y="3643"/>
              <a:chExt cx="219" cy="2047"/>
            </a:xfrm>
          </p:grpSpPr>
          <p:cxnSp>
            <p:nvCxnSpPr>
              <p:cNvPr id="219" name="直接连接符 218"/>
              <p:cNvCxnSpPr/>
              <p:nvPr>
                <p:custDataLst>
                  <p:tags r:id="rId40"/>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20" name="椭圆 219"/>
              <p:cNvSpPr/>
              <p:nvPr>
                <p:custDataLst>
                  <p:tags r:id="rId41"/>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21" name="文本框 220"/>
            <p:cNvSpPr txBox="1"/>
            <p:nvPr>
              <p:custDataLst>
                <p:tags r:id="rId42"/>
              </p:custDataLst>
            </p:nvPr>
          </p:nvSpPr>
          <p:spPr>
            <a:xfrm>
              <a:off x="10120" y="3055"/>
              <a:ext cx="2226"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2000s-2010s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2" name="文本框 221"/>
            <p:cNvSpPr txBox="1"/>
            <p:nvPr>
              <p:custDataLst>
                <p:tags r:id="rId43"/>
              </p:custDataLst>
            </p:nvPr>
          </p:nvSpPr>
          <p:spPr>
            <a:xfrm>
              <a:off x="10121"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人工智能复兴</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23" name="文本框 222"/>
            <p:cNvSpPr txBox="1"/>
            <p:nvPr>
              <p:custDataLst>
                <p:tags r:id="rId44"/>
              </p:custDataLst>
            </p:nvPr>
          </p:nvSpPr>
          <p:spPr>
            <a:xfrm>
              <a:off x="3595" y="752"/>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人工智能热潮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24" name="文本框 223"/>
            <p:cNvSpPr txBox="1"/>
            <p:nvPr>
              <p:custDataLst>
                <p:tags r:id="rId45"/>
              </p:custDataLst>
            </p:nvPr>
          </p:nvSpPr>
          <p:spPr>
            <a:xfrm>
              <a:off x="11522" y="245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2009</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5" name="文本框 224"/>
            <p:cNvSpPr txBox="1"/>
            <p:nvPr>
              <p:custDataLst>
                <p:tags r:id="rId46"/>
              </p:custDataLst>
            </p:nvPr>
          </p:nvSpPr>
          <p:spPr>
            <a:xfrm>
              <a:off x="10766" y="4327"/>
              <a:ext cx="2770" cy="128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ImageNet </a:t>
              </a:r>
              <a:r>
                <a:rPr lang="zh-CN" altLang="en-US" sz="1400">
                  <a:solidFill>
                    <a:schemeClr val="tx1"/>
                  </a:solidFill>
                  <a:latin typeface="Times New Roman Bold" panose="02020603050405020304" charset="0"/>
                  <a:cs typeface="Times New Roman Bold" panose="02020603050405020304" charset="0"/>
                </a:rPr>
                <a:t>引入</a:t>
              </a:r>
              <a:r>
                <a:rPr lang="en-US" altLang="zh-CN" sz="1400">
                  <a:solidFill>
                    <a:schemeClr val="tx1"/>
                  </a:solidFill>
                  <a:latin typeface="Times New Roman Bold" panose="02020603050405020304" charset="0"/>
                  <a:cs typeface="Times New Roman Bold" panose="02020603050405020304" charset="0"/>
                </a:rPr>
                <a:t> CNN</a:t>
              </a:r>
              <a:endParaRPr lang="en-US" altLang="zh-CN" sz="1400">
                <a:solidFill>
                  <a:schemeClr val="tx1"/>
                </a:solidFill>
                <a:latin typeface="Times New Roman Bold" panose="02020603050405020304" charset="0"/>
                <a:cs typeface="Times New Roman Bold" panose="02020603050405020304" charset="0"/>
              </a:endParaRPr>
            </a:p>
          </p:txBody>
        </p:sp>
        <p:sp>
          <p:nvSpPr>
            <p:cNvPr id="226" name="文本框 225"/>
            <p:cNvSpPr txBox="1"/>
            <p:nvPr>
              <p:custDataLst>
                <p:tags r:id="rId47"/>
              </p:custDataLst>
            </p:nvPr>
          </p:nvSpPr>
          <p:spPr>
            <a:xfrm>
              <a:off x="11905" y="1417"/>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AI</a:t>
              </a:r>
              <a:r>
                <a:rPr lang="zh-CN" altLang="en-US" sz="1400">
                  <a:solidFill>
                    <a:schemeClr val="tx1"/>
                  </a:solidFill>
                  <a:latin typeface="Times New Roman Bold" panose="02020603050405020304" charset="0"/>
                  <a:cs typeface="Times New Roman Bold" panose="02020603050405020304" charset="0"/>
                </a:rPr>
                <a:t>广泛</a:t>
              </a:r>
              <a:r>
                <a:rPr lang="zh-CN" altLang="en-US" sz="1400">
                  <a:solidFill>
                    <a:schemeClr val="tx1"/>
                  </a:solidFill>
                  <a:latin typeface="Times New Roman Bold" panose="02020603050405020304" charset="0"/>
                  <a:cs typeface="Times New Roman Bold" panose="02020603050405020304" charset="0"/>
                </a:rPr>
                <a:t>应用</a:t>
              </a:r>
              <a:endParaRPr lang="zh-CN" altLang="en-US" sz="1400">
                <a:solidFill>
                  <a:schemeClr val="tx1"/>
                </a:solidFill>
                <a:latin typeface="Times New Roman Bold" panose="02020603050405020304" charset="0"/>
                <a:cs typeface="Times New Roman Bold" panose="02020603050405020304" charset="0"/>
              </a:endParaRPr>
            </a:p>
          </p:txBody>
        </p:sp>
        <p:sp>
          <p:nvSpPr>
            <p:cNvPr id="227" name="文本框 226"/>
            <p:cNvSpPr txBox="1"/>
            <p:nvPr>
              <p:custDataLst>
                <p:tags r:id="rId48"/>
              </p:custDataLst>
            </p:nvPr>
          </p:nvSpPr>
          <p:spPr>
            <a:xfrm>
              <a:off x="12391" y="3167"/>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8" name="文本框 227"/>
            <p:cNvSpPr txBox="1"/>
            <p:nvPr>
              <p:custDataLst>
                <p:tags r:id="rId49"/>
              </p:custDataLst>
            </p:nvPr>
          </p:nvSpPr>
          <p:spPr>
            <a:xfrm>
              <a:off x="14429" y="4302"/>
              <a:ext cx="246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Transformer</a:t>
              </a:r>
              <a:endParaRPr lang="en-US" altLang="zh-CN" sz="1400">
                <a:solidFill>
                  <a:schemeClr val="accent6"/>
                </a:solidFill>
                <a:latin typeface="Times New Roman Bold" panose="02020603050405020304" charset="0"/>
                <a:cs typeface="Times New Roman Bold" panose="02020603050405020304" charset="0"/>
              </a:endParaRPr>
            </a:p>
          </p:txBody>
        </p:sp>
        <p:sp>
          <p:nvSpPr>
            <p:cNvPr id="229" name="文本框 228"/>
            <p:cNvSpPr txBox="1"/>
            <p:nvPr>
              <p:custDataLst>
                <p:tags r:id="rId50"/>
              </p:custDataLst>
            </p:nvPr>
          </p:nvSpPr>
          <p:spPr>
            <a:xfrm>
              <a:off x="15020" y="2442"/>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2017</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30" name="文本框 229"/>
            <p:cNvSpPr txBox="1"/>
            <p:nvPr>
              <p:custDataLst>
                <p:tags r:id="rId51"/>
              </p:custDataLst>
            </p:nvPr>
          </p:nvSpPr>
          <p:spPr>
            <a:xfrm>
              <a:off x="15389"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人工智能高峰</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231" name="组合 230"/>
            <p:cNvGrpSpPr/>
            <p:nvPr/>
          </p:nvGrpSpPr>
          <p:grpSpPr>
            <a:xfrm rot="0">
              <a:off x="16513" y="1135"/>
              <a:ext cx="219" cy="2047"/>
              <a:chOff x="1827" y="3643"/>
              <a:chExt cx="219" cy="2047"/>
            </a:xfrm>
          </p:grpSpPr>
          <p:cxnSp>
            <p:nvCxnSpPr>
              <p:cNvPr id="232" name="直接连接符 231"/>
              <p:cNvCxnSpPr/>
              <p:nvPr>
                <p:custDataLst>
                  <p:tags r:id="rId52"/>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3" name="椭圆 232"/>
              <p:cNvSpPr/>
              <p:nvPr>
                <p:custDataLst>
                  <p:tags r:id="rId53"/>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4" name="文本框 233"/>
            <p:cNvSpPr txBox="1"/>
            <p:nvPr>
              <p:custDataLst>
                <p:tags r:id="rId54"/>
              </p:custDataLst>
            </p:nvPr>
          </p:nvSpPr>
          <p:spPr>
            <a:xfrm>
              <a:off x="16412" y="318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2020s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35" name="文本框 234"/>
            <p:cNvSpPr txBox="1"/>
            <p:nvPr>
              <p:custDataLst>
                <p:tags r:id="rId55"/>
              </p:custDataLst>
            </p:nvPr>
          </p:nvSpPr>
          <p:spPr>
            <a:xfrm>
              <a:off x="13449" y="2454"/>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2012</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236" name="组合 235"/>
            <p:cNvGrpSpPr/>
            <p:nvPr/>
          </p:nvGrpSpPr>
          <p:grpSpPr>
            <a:xfrm rot="0" flipV="1">
              <a:off x="13969" y="2961"/>
              <a:ext cx="219" cy="782"/>
              <a:chOff x="1827" y="4908"/>
              <a:chExt cx="219" cy="782"/>
            </a:xfrm>
          </p:grpSpPr>
          <p:cxnSp>
            <p:nvCxnSpPr>
              <p:cNvPr id="237" name="直接连接符 236"/>
              <p:cNvCxnSpPr/>
              <p:nvPr>
                <p:custDataLst>
                  <p:tags r:id="rId56"/>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8" name="椭圆 237"/>
              <p:cNvSpPr/>
              <p:nvPr>
                <p:custDataLst>
                  <p:tags r:id="rId5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9" name="文本框 238"/>
            <p:cNvSpPr txBox="1"/>
            <p:nvPr>
              <p:custDataLst>
                <p:tags r:id="rId58"/>
              </p:custDataLst>
            </p:nvPr>
          </p:nvSpPr>
          <p:spPr>
            <a:xfrm>
              <a:off x="13271" y="3767"/>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AlexNet</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240" name="组合 239"/>
            <p:cNvGrpSpPr/>
            <p:nvPr/>
          </p:nvGrpSpPr>
          <p:grpSpPr>
            <a:xfrm rot="0">
              <a:off x="14844" y="2325"/>
              <a:ext cx="219" cy="831"/>
              <a:chOff x="1827" y="4859"/>
              <a:chExt cx="219" cy="831"/>
            </a:xfrm>
          </p:grpSpPr>
          <p:cxnSp>
            <p:nvCxnSpPr>
              <p:cNvPr id="241" name="直接连接符 240"/>
              <p:cNvCxnSpPr/>
              <p:nvPr>
                <p:custDataLst>
                  <p:tags r:id="rId59"/>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2" name="椭圆 241"/>
              <p:cNvSpPr/>
              <p:nvPr>
                <p:custDataLst>
                  <p:tags r:id="rId6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43" name="文本框 242"/>
            <p:cNvSpPr txBox="1"/>
            <p:nvPr>
              <p:custDataLst>
                <p:tags r:id="rId61"/>
              </p:custDataLst>
            </p:nvPr>
          </p:nvSpPr>
          <p:spPr>
            <a:xfrm>
              <a:off x="13735" y="1805"/>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Word2Vec</a:t>
              </a:r>
              <a:endParaRPr lang="en-US" altLang="zh-CN" sz="1400">
                <a:solidFill>
                  <a:schemeClr val="tx1"/>
                </a:solidFill>
                <a:latin typeface="Times New Roman Bold" panose="02020603050405020304" charset="0"/>
                <a:cs typeface="Times New Roman Bold" panose="02020603050405020304" charset="0"/>
              </a:endParaRPr>
            </a:p>
          </p:txBody>
        </p:sp>
        <p:sp>
          <p:nvSpPr>
            <p:cNvPr id="244" name="文本框 243"/>
            <p:cNvSpPr txBox="1"/>
            <p:nvPr>
              <p:custDataLst>
                <p:tags r:id="rId62"/>
              </p:custDataLst>
            </p:nvPr>
          </p:nvSpPr>
          <p:spPr>
            <a:xfrm>
              <a:off x="14325" y="3151"/>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2015s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245" name="组合 244"/>
            <p:cNvGrpSpPr/>
            <p:nvPr/>
          </p:nvGrpSpPr>
          <p:grpSpPr>
            <a:xfrm rot="0" flipV="1">
              <a:off x="16513" y="2969"/>
              <a:ext cx="219" cy="782"/>
              <a:chOff x="1827" y="4908"/>
              <a:chExt cx="219" cy="782"/>
            </a:xfrm>
          </p:grpSpPr>
          <p:cxnSp>
            <p:nvCxnSpPr>
              <p:cNvPr id="246" name="直接连接符 245"/>
              <p:cNvCxnSpPr/>
              <p:nvPr>
                <p:custDataLst>
                  <p:tags r:id="rId63"/>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7" name="椭圆 246"/>
              <p:cNvSpPr/>
              <p:nvPr>
                <p:custDataLst>
                  <p:tags r:id="rId6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48" name="文本框 247"/>
            <p:cNvSpPr txBox="1"/>
            <p:nvPr>
              <p:custDataLst>
                <p:tags r:id="rId65"/>
              </p:custDataLst>
            </p:nvPr>
          </p:nvSpPr>
          <p:spPr>
            <a:xfrm>
              <a:off x="15767" y="3819"/>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GPT3</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249" name="组合 248"/>
            <p:cNvGrpSpPr/>
            <p:nvPr/>
          </p:nvGrpSpPr>
          <p:grpSpPr>
            <a:xfrm rot="0" flipV="1">
              <a:off x="17360" y="2955"/>
              <a:ext cx="219" cy="782"/>
              <a:chOff x="1827" y="4908"/>
              <a:chExt cx="219" cy="782"/>
            </a:xfrm>
          </p:grpSpPr>
          <p:cxnSp>
            <p:nvCxnSpPr>
              <p:cNvPr id="250" name="直接连接符 249"/>
              <p:cNvCxnSpPr/>
              <p:nvPr>
                <p:custDataLst>
                  <p:tags r:id="rId66"/>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51" name="椭圆 250"/>
              <p:cNvSpPr/>
              <p:nvPr>
                <p:custDataLst>
                  <p:tags r:id="rId6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52" name="文本框 251"/>
            <p:cNvSpPr txBox="1"/>
            <p:nvPr>
              <p:custDataLst>
                <p:tags r:id="rId68"/>
              </p:custDataLst>
            </p:nvPr>
          </p:nvSpPr>
          <p:spPr>
            <a:xfrm>
              <a:off x="16757" y="3795"/>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ChatGPT</a:t>
              </a:r>
              <a:endParaRPr lang="en-US" altLang="zh-CN" sz="1400">
                <a:solidFill>
                  <a:schemeClr val="accent6"/>
                </a:solidFill>
                <a:latin typeface="Times New Roman Bold" panose="02020603050405020304" charset="0"/>
                <a:cs typeface="Times New Roman Bold" panose="02020603050405020304" charset="0"/>
              </a:endParaRPr>
            </a:p>
          </p:txBody>
        </p:sp>
      </p:grpSp>
      <p:sp>
        <p:nvSpPr>
          <p:cNvPr id="253" name="矩形 252"/>
          <p:cNvSpPr/>
          <p:nvPr>
            <p:custDataLst>
              <p:tags r:id="rId69"/>
            </p:custDataLst>
          </p:nvPr>
        </p:nvSpPr>
        <p:spPr>
          <a:xfrm>
            <a:off x="7249160" y="1047750"/>
            <a:ext cx="960755" cy="230187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标题 21"/>
          <p:cNvSpPr>
            <a:spLocks noGrp="1"/>
          </p:cNvSpPr>
          <p:nvPr>
            <p:ph type="title"/>
            <p:custDataLst>
              <p:tags r:id="rId70"/>
            </p:custDataLst>
          </p:nvPr>
        </p:nvSpPr>
        <p:spPr/>
        <p:txBody>
          <a:bodyPr/>
          <a:p>
            <a:r>
              <a:rPr lang="zh-CN" altLang="en-US">
                <a:sym typeface="+mn-ea"/>
              </a:rPr>
              <a:t>人工智能近四十年的发展</a:t>
            </a:r>
            <a:endParaRPr lang="zh-CN" altLang="en-US"/>
          </a:p>
        </p:txBody>
      </p:sp>
    </p:spTree>
    <p:custDataLst>
      <p:tags r:id="rId7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标题 19"/>
          <p:cNvSpPr>
            <a:spLocks noGrp="1"/>
          </p:cNvSpPr>
          <p:nvPr>
            <p:ph type="title"/>
          </p:nvPr>
        </p:nvSpPr>
        <p:spPr/>
        <p:txBody>
          <a:bodyPr/>
          <a:p>
            <a:r>
              <a:rPr lang="zh-CN" altLang="en-US">
                <a:sym typeface="+mn-ea"/>
              </a:rPr>
              <a:t>人工智能近四十年的发展</a:t>
            </a:r>
            <a:endParaRPr lang="zh-CN" altLang="en-US"/>
          </a:p>
        </p:txBody>
      </p:sp>
      <p:pic>
        <p:nvPicPr>
          <p:cNvPr id="10" name="图片 9" descr="3b403882-85d9-4143-9480-b0b97a85f8c3"/>
          <p:cNvPicPr>
            <a:picLocks noChangeAspect="1"/>
          </p:cNvPicPr>
          <p:nvPr>
            <p:custDataLst>
              <p:tags r:id="rId1"/>
            </p:custDataLst>
          </p:nvPr>
        </p:nvPicPr>
        <p:blipFill>
          <a:blip r:embed="rId2"/>
          <a:stretch>
            <a:fillRect/>
          </a:stretch>
        </p:blipFill>
        <p:spPr>
          <a:xfrm>
            <a:off x="10403840" y="6379845"/>
            <a:ext cx="1653540" cy="374015"/>
          </a:xfrm>
          <a:prstGeom prst="rect">
            <a:avLst/>
          </a:prstGeom>
        </p:spPr>
      </p:pic>
      <p:grpSp>
        <p:nvGrpSpPr>
          <p:cNvPr id="2" name="组合 1"/>
          <p:cNvGrpSpPr/>
          <p:nvPr>
            <p:custDataLst>
              <p:tags r:id="rId3"/>
            </p:custDataLst>
          </p:nvPr>
        </p:nvGrpSpPr>
        <p:grpSpPr>
          <a:xfrm>
            <a:off x="846119" y="4687278"/>
            <a:ext cx="5260096" cy="571891"/>
            <a:chOff x="1915886" y="2119086"/>
            <a:chExt cx="5339933" cy="580571"/>
          </a:xfrm>
        </p:grpSpPr>
        <p:sp>
          <p:nvSpPr>
            <p:cNvPr id="9" name="矩形 8"/>
            <p:cNvSpPr/>
            <p:nvPr>
              <p:custDataLst>
                <p:tags r:id="rId4"/>
              </p:custDataLst>
            </p:nvPr>
          </p:nvSpPr>
          <p:spPr>
            <a:xfrm>
              <a:off x="1915886" y="2119086"/>
              <a:ext cx="5339933" cy="580571"/>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custDataLst>
                <p:tags r:id="rId5"/>
              </p:custDataLst>
            </p:nvPr>
          </p:nvSpPr>
          <p:spPr>
            <a:xfrm>
              <a:off x="2665188" y="2119086"/>
              <a:ext cx="4590631" cy="580571"/>
            </a:xfrm>
            <a:prstGeom prst="rect">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90000" lnSpcReduction="10000"/>
            </a:bodyPr>
            <a:p>
              <a:pPr marL="0" indent="0" algn="ctr">
                <a:lnSpc>
                  <a:spcPct val="100000"/>
                </a:lnSpc>
                <a:spcBef>
                  <a:spcPts val="0"/>
                </a:spcBef>
                <a:spcAft>
                  <a:spcPts val="0"/>
                </a:spcAft>
                <a:buSzPct val="100000"/>
              </a:pPr>
              <a:r>
                <a:rPr lang="zh-CN" altLang="en-US">
                  <a:solidFill>
                    <a:schemeClr val="tx1"/>
                  </a:solidFill>
                  <a:sym typeface="Arial" panose="020B0604020202090204" pitchFamily="34" charset="0"/>
                </a:rPr>
                <a:t>大数据：海量数据的产生和积累，为人工智能提供了丰富的训练数据</a:t>
              </a:r>
              <a:endParaRPr lang="zh-CN" altLang="en-US">
                <a:solidFill>
                  <a:schemeClr val="tx1"/>
                </a:solidFill>
                <a:sym typeface="Arial" panose="020B0604020202090204" pitchFamily="34" charset="0"/>
              </a:endParaRPr>
            </a:p>
          </p:txBody>
        </p:sp>
        <p:sp>
          <p:nvSpPr>
            <p:cNvPr id="7" name="矩形 6"/>
            <p:cNvSpPr/>
            <p:nvPr>
              <p:custDataLst>
                <p:tags r:id="rId6"/>
              </p:custDataLst>
            </p:nvPr>
          </p:nvSpPr>
          <p:spPr>
            <a:xfrm>
              <a:off x="2124167" y="2119086"/>
              <a:ext cx="541020" cy="580571"/>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en-US" altLang="zh-CN" dirty="0">
                  <a:solidFill>
                    <a:schemeClr val="bg1"/>
                  </a:solidFill>
                </a:rPr>
                <a:t>01</a:t>
              </a:r>
              <a:endParaRPr lang="en-US" altLang="zh-CN" dirty="0">
                <a:solidFill>
                  <a:schemeClr val="bg1"/>
                </a:solidFill>
              </a:endParaRPr>
            </a:p>
          </p:txBody>
        </p:sp>
      </p:grpSp>
      <p:grpSp>
        <p:nvGrpSpPr>
          <p:cNvPr id="16" name="组合 15"/>
          <p:cNvGrpSpPr/>
          <p:nvPr>
            <p:custDataLst>
              <p:tags r:id="rId7"/>
            </p:custDataLst>
          </p:nvPr>
        </p:nvGrpSpPr>
        <p:grpSpPr>
          <a:xfrm>
            <a:off x="6322994" y="4674589"/>
            <a:ext cx="5260096" cy="571891"/>
            <a:chOff x="1915886" y="2119086"/>
            <a:chExt cx="5339933" cy="580571"/>
          </a:xfrm>
        </p:grpSpPr>
        <p:sp>
          <p:nvSpPr>
            <p:cNvPr id="71" name="矩形 70"/>
            <p:cNvSpPr/>
            <p:nvPr>
              <p:custDataLst>
                <p:tags r:id="rId8"/>
              </p:custDataLst>
            </p:nvPr>
          </p:nvSpPr>
          <p:spPr>
            <a:xfrm>
              <a:off x="1915886" y="2119086"/>
              <a:ext cx="5339933" cy="580571"/>
            </a:xfrm>
            <a:prstGeom prst="rect">
              <a:avLst/>
            </a:prstGeom>
            <a:solidFill>
              <a:srgbClr val="FFFFFF"/>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 name="矩形 73"/>
            <p:cNvSpPr/>
            <p:nvPr>
              <p:custDataLst>
                <p:tags r:id="rId9"/>
              </p:custDataLst>
            </p:nvPr>
          </p:nvSpPr>
          <p:spPr>
            <a:xfrm>
              <a:off x="2665188" y="2119086"/>
              <a:ext cx="4590631" cy="580571"/>
            </a:xfrm>
            <a:prstGeom prst="rect">
              <a:avLst/>
            </a:prstGeom>
            <a:solidFill>
              <a:srgbClr val="FFFFFF"/>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90000" lnSpcReduction="10000"/>
            </a:bodyPr>
            <a:p>
              <a:pPr marL="0" indent="0" algn="ctr">
                <a:lnSpc>
                  <a:spcPct val="100000"/>
                </a:lnSpc>
                <a:spcBef>
                  <a:spcPts val="0"/>
                </a:spcBef>
                <a:spcAft>
                  <a:spcPts val="0"/>
                </a:spcAft>
                <a:buSzPct val="100000"/>
              </a:pPr>
              <a:r>
                <a:rPr lang="zh-CN" altLang="en-US">
                  <a:solidFill>
                    <a:schemeClr val="tx1"/>
                  </a:solidFill>
                  <a:sym typeface="Arial" panose="020B0604020202090204" pitchFamily="34" charset="0"/>
                </a:rPr>
                <a:t>计算能力：高性能计算设备及云计算</a:t>
              </a:r>
              <a:r>
                <a:rPr lang="zh-CN" altLang="en-US">
                  <a:solidFill>
                    <a:schemeClr val="tx1"/>
                  </a:solidFill>
                  <a:sym typeface="Arial" panose="020B0604020202090204" pitchFamily="34" charset="0"/>
                </a:rPr>
                <a:t>的普及，为人工智能提供了强大的计算支持</a:t>
              </a:r>
              <a:endParaRPr lang="zh-CN" altLang="en-US">
                <a:solidFill>
                  <a:schemeClr val="tx1"/>
                </a:solidFill>
                <a:sym typeface="Arial" panose="020B0604020202090204" pitchFamily="34" charset="0"/>
              </a:endParaRPr>
            </a:p>
          </p:txBody>
        </p:sp>
        <p:sp>
          <p:nvSpPr>
            <p:cNvPr id="75" name="矩形 74"/>
            <p:cNvSpPr/>
            <p:nvPr>
              <p:custDataLst>
                <p:tags r:id="rId10"/>
              </p:custDataLst>
            </p:nvPr>
          </p:nvSpPr>
          <p:spPr>
            <a:xfrm>
              <a:off x="2124167" y="2119086"/>
              <a:ext cx="541020" cy="580571"/>
            </a:xfrm>
            <a:prstGeom prst="rect">
              <a:avLst/>
            </a:pr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en-US" altLang="zh-CN" dirty="0">
                  <a:solidFill>
                    <a:schemeClr val="bg1"/>
                  </a:solidFill>
                </a:rPr>
                <a:t>02</a:t>
              </a:r>
              <a:endParaRPr lang="en-US" altLang="zh-CN" dirty="0">
                <a:solidFill>
                  <a:schemeClr val="bg1"/>
                </a:solidFill>
              </a:endParaRPr>
            </a:p>
          </p:txBody>
        </p:sp>
      </p:grpSp>
      <p:grpSp>
        <p:nvGrpSpPr>
          <p:cNvPr id="76" name="组合 75"/>
          <p:cNvGrpSpPr/>
          <p:nvPr>
            <p:custDataLst>
              <p:tags r:id="rId11"/>
            </p:custDataLst>
          </p:nvPr>
        </p:nvGrpSpPr>
        <p:grpSpPr>
          <a:xfrm>
            <a:off x="833419" y="5508989"/>
            <a:ext cx="5260096" cy="571891"/>
            <a:chOff x="1915886" y="2119086"/>
            <a:chExt cx="5339933" cy="580571"/>
          </a:xfrm>
        </p:grpSpPr>
        <p:sp>
          <p:nvSpPr>
            <p:cNvPr id="92" name="矩形 91"/>
            <p:cNvSpPr/>
            <p:nvPr>
              <p:custDataLst>
                <p:tags r:id="rId12"/>
              </p:custDataLst>
            </p:nvPr>
          </p:nvSpPr>
          <p:spPr>
            <a:xfrm>
              <a:off x="1915886" y="2119086"/>
              <a:ext cx="5339933" cy="580571"/>
            </a:xfrm>
            <a:prstGeom prst="rect">
              <a:avLst/>
            </a:prstGeom>
            <a:solidFill>
              <a:srgbClr val="FFFFFF"/>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3" name="矩形 92"/>
            <p:cNvSpPr/>
            <p:nvPr>
              <p:custDataLst>
                <p:tags r:id="rId13"/>
              </p:custDataLst>
            </p:nvPr>
          </p:nvSpPr>
          <p:spPr>
            <a:xfrm>
              <a:off x="2665188" y="2119086"/>
              <a:ext cx="4590631" cy="580571"/>
            </a:xfrm>
            <a:prstGeom prst="rect">
              <a:avLst/>
            </a:prstGeom>
            <a:solidFill>
              <a:srgbClr val="FFFFFF"/>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90000" lnSpcReduction="10000"/>
            </a:bodyPr>
            <a:p>
              <a:pPr marL="0" indent="0" algn="ctr">
                <a:lnSpc>
                  <a:spcPct val="100000"/>
                </a:lnSpc>
                <a:spcBef>
                  <a:spcPts val="0"/>
                </a:spcBef>
                <a:spcAft>
                  <a:spcPts val="0"/>
                </a:spcAft>
                <a:buSzPct val="100000"/>
              </a:pPr>
              <a:r>
                <a:rPr lang="zh-CN" altLang="en-US">
                  <a:solidFill>
                    <a:schemeClr val="tx1"/>
                  </a:solidFill>
                  <a:sym typeface="Arial" panose="020B0604020202090204" pitchFamily="34" charset="0"/>
                </a:rPr>
                <a:t>深度学习：深度学习技术的发展，使得人工智能可以从大数据中学习和优化</a:t>
              </a:r>
              <a:endParaRPr lang="zh-CN" altLang="en-US">
                <a:solidFill>
                  <a:schemeClr val="tx1"/>
                </a:solidFill>
                <a:sym typeface="Arial" panose="020B0604020202090204" pitchFamily="34" charset="0"/>
              </a:endParaRPr>
            </a:p>
          </p:txBody>
        </p:sp>
        <p:sp>
          <p:nvSpPr>
            <p:cNvPr id="94" name="矩形 93"/>
            <p:cNvSpPr/>
            <p:nvPr>
              <p:custDataLst>
                <p:tags r:id="rId14"/>
              </p:custDataLst>
            </p:nvPr>
          </p:nvSpPr>
          <p:spPr>
            <a:xfrm>
              <a:off x="2124167" y="2119086"/>
              <a:ext cx="541020" cy="580571"/>
            </a:xfrm>
            <a:prstGeom prst="rect">
              <a:avLst/>
            </a:prstGeom>
            <a:solidFill>
              <a:schemeClr val="accent3"/>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en-US" altLang="zh-CN" dirty="0">
                  <a:solidFill>
                    <a:srgbClr val="000000"/>
                  </a:solidFill>
                </a:rPr>
                <a:t>03</a:t>
              </a:r>
              <a:endParaRPr lang="en-US" altLang="zh-CN" dirty="0">
                <a:solidFill>
                  <a:srgbClr val="000000"/>
                </a:solidFill>
              </a:endParaRPr>
            </a:p>
          </p:txBody>
        </p:sp>
      </p:grpSp>
      <p:grpSp>
        <p:nvGrpSpPr>
          <p:cNvPr id="96" name="组合 95"/>
          <p:cNvGrpSpPr/>
          <p:nvPr>
            <p:custDataLst>
              <p:tags r:id="rId15"/>
            </p:custDataLst>
          </p:nvPr>
        </p:nvGrpSpPr>
        <p:grpSpPr>
          <a:xfrm>
            <a:off x="6322994" y="5508366"/>
            <a:ext cx="5260096" cy="571891"/>
            <a:chOff x="1915886" y="2119086"/>
            <a:chExt cx="5339933" cy="580571"/>
          </a:xfrm>
        </p:grpSpPr>
        <p:sp>
          <p:nvSpPr>
            <p:cNvPr id="100" name="矩形 99"/>
            <p:cNvSpPr/>
            <p:nvPr>
              <p:custDataLst>
                <p:tags r:id="rId16"/>
              </p:custDataLst>
            </p:nvPr>
          </p:nvSpPr>
          <p:spPr>
            <a:xfrm>
              <a:off x="1915886" y="2119086"/>
              <a:ext cx="5339933" cy="580571"/>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1" name="矩形 100"/>
            <p:cNvSpPr/>
            <p:nvPr>
              <p:custDataLst>
                <p:tags r:id="rId17"/>
              </p:custDataLst>
            </p:nvPr>
          </p:nvSpPr>
          <p:spPr>
            <a:xfrm>
              <a:off x="2665188" y="2119086"/>
              <a:ext cx="4590631" cy="580571"/>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90000" lnSpcReduction="10000"/>
            </a:bodyPr>
            <a:p>
              <a:pPr marL="0" indent="0" algn="ctr">
                <a:lnSpc>
                  <a:spcPct val="100000"/>
                </a:lnSpc>
                <a:spcBef>
                  <a:spcPts val="0"/>
                </a:spcBef>
                <a:spcAft>
                  <a:spcPts val="0"/>
                </a:spcAft>
                <a:buSzPct val="100000"/>
              </a:pPr>
              <a:r>
                <a:rPr lang="zh-CN" altLang="en-US">
                  <a:solidFill>
                    <a:schemeClr val="tx1"/>
                  </a:solidFill>
                  <a:sym typeface="Arial" panose="020B0604020202090204" pitchFamily="34" charset="0"/>
                </a:rPr>
                <a:t>开源框架：开源框架受到</a:t>
              </a:r>
              <a:r>
                <a:rPr lang="zh-CN" altLang="en-US">
                  <a:solidFill>
                    <a:schemeClr val="tx1"/>
                  </a:solidFill>
                  <a:sym typeface="Arial" panose="020B0604020202090204" pitchFamily="34" charset="0"/>
                </a:rPr>
                <a:t>青睐，降低了人工智能研究和开发的门槛</a:t>
              </a:r>
              <a:endParaRPr lang="zh-CN" altLang="en-US">
                <a:solidFill>
                  <a:schemeClr val="tx1"/>
                </a:solidFill>
                <a:sym typeface="Arial" panose="020B0604020202090204" pitchFamily="34" charset="0"/>
              </a:endParaRPr>
            </a:p>
          </p:txBody>
        </p:sp>
        <p:sp>
          <p:nvSpPr>
            <p:cNvPr id="102" name="矩形 101"/>
            <p:cNvSpPr/>
            <p:nvPr>
              <p:custDataLst>
                <p:tags r:id="rId18"/>
              </p:custDataLst>
            </p:nvPr>
          </p:nvSpPr>
          <p:spPr>
            <a:xfrm>
              <a:off x="2124167" y="2119086"/>
              <a:ext cx="541020" cy="580571"/>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r>
                <a:rPr lang="en-US" altLang="zh-CN" dirty="0">
                  <a:solidFill>
                    <a:schemeClr val="bg1"/>
                  </a:solidFill>
                </a:rPr>
                <a:t>04</a:t>
              </a:r>
              <a:endParaRPr lang="en-US" altLang="zh-CN" dirty="0">
                <a:solidFill>
                  <a:schemeClr val="bg1"/>
                </a:solidFill>
              </a:endParaRPr>
            </a:p>
          </p:txBody>
        </p:sp>
      </p:grpSp>
      <p:sp>
        <p:nvSpPr>
          <p:cNvPr id="8" name="文本框 6"/>
          <p:cNvSpPr txBox="1"/>
          <p:nvPr>
            <p:custDataLst>
              <p:tags r:id="rId19"/>
            </p:custDataLst>
          </p:nvPr>
        </p:nvSpPr>
        <p:spPr>
          <a:xfrm>
            <a:off x="874395" y="3778250"/>
            <a:ext cx="8411210"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lstStyle>
            <a:defPPr>
              <a:defRPr lang="zh-CN"/>
            </a:defPPr>
            <a:lvl1pPr>
              <a:lnSpc>
                <a:spcPct val="120000"/>
              </a:lnSpc>
              <a:defRPr sz="3600" b="1">
                <a:solidFill>
                  <a:srgbClr val="FFFFFF"/>
                </a:solidFill>
                <a:latin typeface="微软雅黑" charset="-122"/>
                <a:ea typeface="微软雅黑" charset="-122"/>
                <a:cs typeface="微软雅黑" charset="-122"/>
              </a:defRPr>
            </a:lvl1pPr>
          </a:lstStyle>
          <a:p>
            <a:pPr marL="0">
              <a:lnSpc>
                <a:spcPct val="100000"/>
              </a:lnSpc>
              <a:spcBef>
                <a:spcPts val="0"/>
              </a:spcBef>
              <a:spcAft>
                <a:spcPts val="0"/>
              </a:spcAft>
            </a:pPr>
            <a:r>
              <a:rPr lang="zh-CN" sz="2400" b="0" spc="330" dirty="0" err="1">
                <a:solidFill>
                  <a:schemeClr val="tx1"/>
                </a:solidFill>
                <a:latin typeface="黑体" panose="02010609060101010101" charset="-122"/>
                <a:ea typeface="黑体" panose="02010609060101010101" charset="-122"/>
                <a:sym typeface="微软雅黑" charset="-122"/>
              </a:rPr>
              <a:t>该时期大数据和计算能力</a:t>
            </a:r>
            <a:r>
              <a:rPr lang="zh-CN" sz="2400" b="0" spc="330" dirty="0" err="1">
                <a:solidFill>
                  <a:schemeClr val="tx1"/>
                </a:solidFill>
                <a:latin typeface="黑体" panose="02010609060101010101" charset="-122"/>
                <a:ea typeface="黑体" panose="02010609060101010101" charset="-122"/>
                <a:sym typeface="微软雅黑" charset="-122"/>
              </a:rPr>
              <a:t>迅速增长</a:t>
            </a:r>
            <a:endParaRPr lang="zh-CN" sz="2400" b="0" spc="330" dirty="0" err="1">
              <a:solidFill>
                <a:schemeClr val="tx1"/>
              </a:solidFill>
              <a:latin typeface="黑体" panose="02010609060101010101" charset="-122"/>
              <a:ea typeface="黑体" panose="02010609060101010101" charset="-122"/>
              <a:sym typeface="微软雅黑" charset="-122"/>
            </a:endParaRPr>
          </a:p>
        </p:txBody>
      </p:sp>
      <p:grpSp>
        <p:nvGrpSpPr>
          <p:cNvPr id="167" name="组合 166"/>
          <p:cNvGrpSpPr/>
          <p:nvPr/>
        </p:nvGrpSpPr>
        <p:grpSpPr>
          <a:xfrm>
            <a:off x="1305560" y="1084777"/>
            <a:ext cx="9985375" cy="2087778"/>
            <a:chOff x="1023" y="476"/>
            <a:chExt cx="17349" cy="5135"/>
          </a:xfrm>
        </p:grpSpPr>
        <p:cxnSp>
          <p:nvCxnSpPr>
            <p:cNvPr id="169" name="直接箭头连接符 168"/>
            <p:cNvCxnSpPr/>
            <p:nvPr>
              <p:custDataLst>
                <p:tags r:id="rId20"/>
              </p:custDataLst>
            </p:nvPr>
          </p:nvCxnSpPr>
          <p:spPr>
            <a:xfrm flipV="1">
              <a:off x="1157" y="3048"/>
              <a:ext cx="16980" cy="44"/>
            </a:xfrm>
            <a:prstGeom prst="straightConnector1">
              <a:avLst/>
            </a:prstGeom>
            <a:ln w="5715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70" name="文本框 169"/>
            <p:cNvSpPr txBox="1"/>
            <p:nvPr>
              <p:custDataLst>
                <p:tags r:id="rId21"/>
              </p:custDataLst>
            </p:nvPr>
          </p:nvSpPr>
          <p:spPr>
            <a:xfrm>
              <a:off x="1023" y="1235"/>
              <a:ext cx="2357" cy="754"/>
            </a:xfrm>
            <a:prstGeom prst="rect">
              <a:avLst/>
            </a:prstGeom>
            <a:noFill/>
          </p:spPr>
          <p:txBody>
            <a:bodyPr wrap="square" rtlCol="0">
              <a:spAutoFit/>
            </a:bodyPr>
            <a:p>
              <a:pPr algn="ctr">
                <a:buClrTx/>
                <a:buSzTx/>
                <a:buFontTx/>
              </a:pPr>
              <a:r>
                <a:rPr lang="zh-CN" altLang="en-US" sz="1400">
                  <a:solidFill>
                    <a:schemeClr val="accent6"/>
                  </a:solidFill>
                  <a:latin typeface="Times New Roman Bold" panose="02020603050405020304" charset="0"/>
                  <a:cs typeface="Times New Roman Bold" panose="02020603050405020304" charset="0"/>
                  <a:sym typeface="+mn-ea"/>
                </a:rPr>
                <a:t>达特茅斯会议</a:t>
              </a:r>
              <a:endParaRPr lang="zh-CN" altLang="en-US" sz="1400">
                <a:solidFill>
                  <a:schemeClr val="accent6"/>
                </a:solidFill>
                <a:latin typeface="Times New Roman Bold" panose="02020603050405020304" charset="0"/>
                <a:cs typeface="Times New Roman Bold" panose="02020603050405020304" charset="0"/>
                <a:sym typeface="+mn-ea"/>
              </a:endParaRPr>
            </a:p>
          </p:txBody>
        </p:sp>
        <p:sp>
          <p:nvSpPr>
            <p:cNvPr id="171" name="文本框 170"/>
            <p:cNvSpPr txBox="1"/>
            <p:nvPr>
              <p:custDataLst>
                <p:tags r:id="rId22"/>
              </p:custDataLst>
            </p:nvPr>
          </p:nvSpPr>
          <p:spPr>
            <a:xfrm>
              <a:off x="2108" y="4226"/>
              <a:ext cx="2465" cy="1284"/>
            </a:xfrm>
            <a:prstGeom prst="rect">
              <a:avLst/>
            </a:prstGeom>
            <a:noFill/>
          </p:spPr>
          <p:txBody>
            <a:bodyPr wrap="square" rtlCol="0">
              <a:spAutoFit/>
            </a:bodyPr>
            <a:p>
              <a:pPr algn="ctr"/>
              <a:r>
                <a:rPr lang="en-US" altLang="zh-CN" sz="1400" b="1">
                  <a:solidFill>
                    <a:schemeClr val="accent6"/>
                  </a:solidFill>
                  <a:latin typeface="Times New Roman Bold" panose="02020603050405020304" charset="0"/>
                  <a:cs typeface="Times New Roman Bold" panose="02020603050405020304" charset="0"/>
                </a:rPr>
                <a:t>The Perceptron</a:t>
              </a:r>
              <a:endParaRPr lang="en-US" altLang="zh-CN" sz="1600" b="1">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感知机</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172" name="组合 171"/>
            <p:cNvGrpSpPr/>
            <p:nvPr/>
          </p:nvGrpSpPr>
          <p:grpSpPr>
            <a:xfrm rot="0">
              <a:off x="2074" y="1892"/>
              <a:ext cx="218" cy="1289"/>
              <a:chOff x="1827" y="4400"/>
              <a:chExt cx="218" cy="1289"/>
            </a:xfrm>
          </p:grpSpPr>
          <p:cxnSp>
            <p:nvCxnSpPr>
              <p:cNvPr id="173" name="直接连接符 172"/>
              <p:cNvCxnSpPr/>
              <p:nvPr>
                <p:custDataLst>
                  <p:tags r:id="rId23"/>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4" name="椭圆 173"/>
              <p:cNvSpPr/>
              <p:nvPr>
                <p:custDataLst>
                  <p:tags r:id="rId2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5" name="文本框 174"/>
            <p:cNvSpPr txBox="1"/>
            <p:nvPr>
              <p:custDataLst>
                <p:tags r:id="rId25"/>
              </p:custDataLst>
            </p:nvPr>
          </p:nvSpPr>
          <p:spPr>
            <a:xfrm>
              <a:off x="1702" y="3182"/>
              <a:ext cx="1265"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1956</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76" name="组合 175"/>
            <p:cNvGrpSpPr/>
            <p:nvPr/>
          </p:nvGrpSpPr>
          <p:grpSpPr>
            <a:xfrm rot="0" flipV="1">
              <a:off x="3245" y="2949"/>
              <a:ext cx="218" cy="1289"/>
              <a:chOff x="1827" y="4400"/>
              <a:chExt cx="218" cy="1289"/>
            </a:xfrm>
          </p:grpSpPr>
          <p:cxnSp>
            <p:nvCxnSpPr>
              <p:cNvPr id="177" name="直接连接符 176"/>
              <p:cNvCxnSpPr/>
              <p:nvPr>
                <p:custDataLst>
                  <p:tags r:id="rId26"/>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8" name="椭圆 177"/>
              <p:cNvSpPr/>
              <p:nvPr>
                <p:custDataLst>
                  <p:tags r:id="rId2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9" name="文本框 178"/>
            <p:cNvSpPr txBox="1"/>
            <p:nvPr>
              <p:custDataLst>
                <p:tags r:id="rId28"/>
              </p:custDataLst>
            </p:nvPr>
          </p:nvSpPr>
          <p:spPr>
            <a:xfrm>
              <a:off x="2891" y="2465"/>
              <a:ext cx="1331"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1958</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80" name="组合 179"/>
            <p:cNvGrpSpPr/>
            <p:nvPr/>
          </p:nvGrpSpPr>
          <p:grpSpPr>
            <a:xfrm rot="0" flipV="1">
              <a:off x="6036" y="2989"/>
              <a:ext cx="218" cy="1289"/>
              <a:chOff x="1827" y="4400"/>
              <a:chExt cx="218" cy="1289"/>
            </a:xfrm>
          </p:grpSpPr>
          <p:cxnSp>
            <p:nvCxnSpPr>
              <p:cNvPr id="181" name="直接连接符 180"/>
              <p:cNvCxnSpPr/>
              <p:nvPr>
                <p:custDataLst>
                  <p:tags r:id="rId29"/>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82" name="椭圆 181"/>
              <p:cNvSpPr/>
              <p:nvPr>
                <p:custDataLst>
                  <p:tags r:id="rId3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8" name="组合 187"/>
            <p:cNvGrpSpPr/>
            <p:nvPr/>
          </p:nvGrpSpPr>
          <p:grpSpPr>
            <a:xfrm rot="0" flipV="1">
              <a:off x="8847" y="3015"/>
              <a:ext cx="218" cy="1289"/>
              <a:chOff x="1827" y="4400"/>
              <a:chExt cx="218" cy="1289"/>
            </a:xfrm>
          </p:grpSpPr>
          <p:cxnSp>
            <p:nvCxnSpPr>
              <p:cNvPr id="189" name="直接连接符 188"/>
              <p:cNvCxnSpPr/>
              <p:nvPr>
                <p:custDataLst>
                  <p:tags r:id="rId31"/>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0" name="椭圆 189"/>
              <p:cNvSpPr/>
              <p:nvPr>
                <p:custDataLst>
                  <p:tags r:id="rId32"/>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1" name="组合 190"/>
            <p:cNvGrpSpPr/>
            <p:nvPr/>
          </p:nvGrpSpPr>
          <p:grpSpPr>
            <a:xfrm rot="0" flipV="1">
              <a:off x="12042" y="3015"/>
              <a:ext cx="218" cy="1289"/>
              <a:chOff x="1827" y="4400"/>
              <a:chExt cx="218" cy="1289"/>
            </a:xfrm>
          </p:grpSpPr>
          <p:cxnSp>
            <p:nvCxnSpPr>
              <p:cNvPr id="192" name="直接连接符 191"/>
              <p:cNvCxnSpPr/>
              <p:nvPr>
                <p:custDataLst>
                  <p:tags r:id="rId33"/>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3" name="椭圆 192"/>
              <p:cNvSpPr/>
              <p:nvPr>
                <p:custDataLst>
                  <p:tags r:id="rId3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4" name="组合 193"/>
            <p:cNvGrpSpPr/>
            <p:nvPr/>
          </p:nvGrpSpPr>
          <p:grpSpPr>
            <a:xfrm rot="0" flipV="1">
              <a:off x="15540" y="3015"/>
              <a:ext cx="218" cy="1289"/>
              <a:chOff x="1827" y="4400"/>
              <a:chExt cx="218" cy="1289"/>
            </a:xfrm>
          </p:grpSpPr>
          <p:cxnSp>
            <p:nvCxnSpPr>
              <p:cNvPr id="195" name="直接连接符 194"/>
              <p:cNvCxnSpPr/>
              <p:nvPr>
                <p:custDataLst>
                  <p:tags r:id="rId35"/>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6" name="椭圆 195"/>
              <p:cNvSpPr/>
              <p:nvPr>
                <p:custDataLst>
                  <p:tags r:id="rId3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7" name="组合 196"/>
            <p:cNvGrpSpPr/>
            <p:nvPr/>
          </p:nvGrpSpPr>
          <p:grpSpPr>
            <a:xfrm rot="0">
              <a:off x="4718" y="1301"/>
              <a:ext cx="219" cy="1881"/>
              <a:chOff x="1827" y="3809"/>
              <a:chExt cx="219" cy="1881"/>
            </a:xfrm>
          </p:grpSpPr>
          <p:cxnSp>
            <p:nvCxnSpPr>
              <p:cNvPr id="198" name="直接连接符 197"/>
              <p:cNvCxnSpPr/>
              <p:nvPr>
                <p:custDataLst>
                  <p:tags r:id="rId37"/>
                </p:custDataLst>
              </p:nvPr>
            </p:nvCxnSpPr>
            <p:spPr>
              <a:xfrm>
                <a:off x="1936" y="3809"/>
                <a:ext cx="0" cy="182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9" name="椭圆 198"/>
              <p:cNvSpPr/>
              <p:nvPr>
                <p:custDataLst>
                  <p:tags r:id="rId38"/>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0" name="组合 199"/>
            <p:cNvGrpSpPr/>
            <p:nvPr/>
          </p:nvGrpSpPr>
          <p:grpSpPr>
            <a:xfrm rot="0">
              <a:off x="7427" y="1892"/>
              <a:ext cx="218" cy="1289"/>
              <a:chOff x="1827" y="4400"/>
              <a:chExt cx="218" cy="1289"/>
            </a:xfrm>
          </p:grpSpPr>
          <p:cxnSp>
            <p:nvCxnSpPr>
              <p:cNvPr id="201" name="直接连接符 200"/>
              <p:cNvCxnSpPr/>
              <p:nvPr>
                <p:custDataLst>
                  <p:tags r:id="rId39"/>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2" name="椭圆 201"/>
              <p:cNvSpPr/>
              <p:nvPr>
                <p:custDataLst>
                  <p:tags r:id="rId4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3" name="组合 202"/>
            <p:cNvGrpSpPr/>
            <p:nvPr/>
          </p:nvGrpSpPr>
          <p:grpSpPr>
            <a:xfrm rot="0">
              <a:off x="9738" y="2288"/>
              <a:ext cx="219" cy="886"/>
              <a:chOff x="1827" y="4804"/>
              <a:chExt cx="219" cy="886"/>
            </a:xfrm>
          </p:grpSpPr>
          <p:cxnSp>
            <p:nvCxnSpPr>
              <p:cNvPr id="204" name="直接连接符 203"/>
              <p:cNvCxnSpPr/>
              <p:nvPr>
                <p:custDataLst>
                  <p:tags r:id="rId41"/>
                </p:custDataLst>
              </p:nvPr>
            </p:nvCxnSpPr>
            <p:spPr>
              <a:xfrm>
                <a:off x="1936" y="4804"/>
                <a:ext cx="0" cy="8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5" name="椭圆 204"/>
              <p:cNvSpPr/>
              <p:nvPr>
                <p:custDataLst>
                  <p:tags r:id="rId42"/>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6" name="组合 205"/>
            <p:cNvGrpSpPr/>
            <p:nvPr/>
          </p:nvGrpSpPr>
          <p:grpSpPr>
            <a:xfrm rot="0">
              <a:off x="12910" y="2354"/>
              <a:ext cx="219" cy="831"/>
              <a:chOff x="1827" y="4859"/>
              <a:chExt cx="219" cy="831"/>
            </a:xfrm>
          </p:grpSpPr>
          <p:cxnSp>
            <p:nvCxnSpPr>
              <p:cNvPr id="207" name="直接连接符 206"/>
              <p:cNvCxnSpPr/>
              <p:nvPr>
                <p:custDataLst>
                  <p:tags r:id="rId43"/>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8" name="椭圆 207"/>
              <p:cNvSpPr/>
              <p:nvPr>
                <p:custDataLst>
                  <p:tags r:id="rId4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09" name="文本框 208"/>
            <p:cNvSpPr txBox="1"/>
            <p:nvPr>
              <p:custDataLst>
                <p:tags r:id="rId45"/>
              </p:custDataLst>
            </p:nvPr>
          </p:nvSpPr>
          <p:spPr>
            <a:xfrm>
              <a:off x="4223" y="3182"/>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1960s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0" name="文本框 209"/>
            <p:cNvSpPr txBox="1"/>
            <p:nvPr>
              <p:custDataLst>
                <p:tags r:id="rId46"/>
              </p:custDataLst>
            </p:nvPr>
          </p:nvSpPr>
          <p:spPr>
            <a:xfrm>
              <a:off x="4912" y="4327"/>
              <a:ext cx="2465" cy="128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Expert Systems</a:t>
              </a:r>
              <a:endParaRPr lang="zh-CN" altLang="en-US" sz="1400">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专家系统</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11" name="文本框 210"/>
            <p:cNvSpPr txBox="1"/>
            <p:nvPr>
              <p:custDataLst>
                <p:tags r:id="rId47"/>
              </p:custDataLst>
            </p:nvPr>
          </p:nvSpPr>
          <p:spPr>
            <a:xfrm>
              <a:off x="6526" y="3167"/>
              <a:ext cx="1994"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1974-1993</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2" name="文本框 211"/>
            <p:cNvSpPr txBox="1"/>
            <p:nvPr>
              <p:custDataLst>
                <p:tags r:id="rId48"/>
              </p:custDataLst>
            </p:nvPr>
          </p:nvSpPr>
          <p:spPr>
            <a:xfrm>
              <a:off x="6303" y="1233"/>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人工智能寒潮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13" name="文本框 212"/>
            <p:cNvSpPr txBox="1"/>
            <p:nvPr>
              <p:custDataLst>
                <p:tags r:id="rId49"/>
              </p:custDataLst>
            </p:nvPr>
          </p:nvSpPr>
          <p:spPr>
            <a:xfrm>
              <a:off x="5541" y="2505"/>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1980s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4" name="文本框 213"/>
            <p:cNvSpPr txBox="1"/>
            <p:nvPr>
              <p:custDataLst>
                <p:tags r:id="rId50"/>
              </p:custDataLst>
            </p:nvPr>
          </p:nvSpPr>
          <p:spPr>
            <a:xfrm>
              <a:off x="7275" y="4288"/>
              <a:ext cx="3351" cy="128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NLPs </a:t>
              </a:r>
              <a:r>
                <a:rPr lang="zh-CN" altLang="en-US" sz="1400">
                  <a:solidFill>
                    <a:schemeClr val="accent6"/>
                  </a:solidFill>
                  <a:latin typeface="Times New Roman Bold" panose="02020603050405020304" charset="0"/>
                  <a:cs typeface="Times New Roman Bold" panose="02020603050405020304" charset="0"/>
                </a:rPr>
                <a:t>及</a:t>
              </a:r>
              <a:r>
                <a:rPr lang="en-US" altLang="zh-CN" sz="1400">
                  <a:solidFill>
                    <a:schemeClr val="accent6"/>
                  </a:solidFill>
                  <a:latin typeface="Times New Roman Bold" panose="02020603050405020304" charset="0"/>
                  <a:cs typeface="Times New Roman Bold" panose="02020603050405020304" charset="0"/>
                </a:rPr>
                <a:t>CVs</a:t>
              </a:r>
              <a:r>
                <a:rPr lang="zh-CN" altLang="en-US" sz="1400">
                  <a:solidFill>
                    <a:schemeClr val="accent6"/>
                  </a:solidFill>
                  <a:latin typeface="Times New Roman Bold" panose="02020603050405020304" charset="0"/>
                  <a:cs typeface="Times New Roman Bold" panose="02020603050405020304" charset="0"/>
                </a:rPr>
                <a:t>系统</a:t>
              </a:r>
              <a:endParaRPr lang="zh-CN" altLang="en-US" sz="1400">
                <a:solidFill>
                  <a:schemeClr val="accent6"/>
                </a:solidFill>
                <a:latin typeface="Times New Roman Bold" panose="02020603050405020304" charset="0"/>
                <a:cs typeface="Times New Roman Bold" panose="02020603050405020304" charset="0"/>
              </a:endParaRPr>
            </a:p>
            <a:p>
              <a:pPr algn="ctr"/>
              <a:r>
                <a:rPr lang="en-US" altLang="zh-CN" sz="1400">
                  <a:solidFill>
                    <a:schemeClr val="accent6"/>
                  </a:solidFill>
                  <a:latin typeface="Times New Roman Bold" panose="02020603050405020304" charset="0"/>
                  <a:cs typeface="Times New Roman Bold" panose="02020603050405020304" charset="0"/>
                </a:rPr>
                <a:t>( HMM &amp;&amp; CNNs )</a:t>
              </a:r>
              <a:endParaRPr lang="en-US" altLang="zh-CN" sz="1400">
                <a:solidFill>
                  <a:schemeClr val="accent6"/>
                </a:solidFill>
                <a:latin typeface="Times New Roman Bold" panose="02020603050405020304" charset="0"/>
                <a:cs typeface="Times New Roman Bold" panose="02020603050405020304" charset="0"/>
              </a:endParaRPr>
            </a:p>
          </p:txBody>
        </p:sp>
        <p:sp>
          <p:nvSpPr>
            <p:cNvPr id="215" name="文本框 214"/>
            <p:cNvSpPr txBox="1"/>
            <p:nvPr>
              <p:custDataLst>
                <p:tags r:id="rId51"/>
              </p:custDataLst>
            </p:nvPr>
          </p:nvSpPr>
          <p:spPr>
            <a:xfrm>
              <a:off x="8360" y="2441"/>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6" name="文本框 215"/>
            <p:cNvSpPr txBox="1"/>
            <p:nvPr>
              <p:custDataLst>
                <p:tags r:id="rId52"/>
              </p:custDataLst>
            </p:nvPr>
          </p:nvSpPr>
          <p:spPr>
            <a:xfrm>
              <a:off x="8519" y="3092"/>
              <a:ext cx="1932" cy="128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the late 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7" name="文本框 216"/>
            <p:cNvSpPr txBox="1"/>
            <p:nvPr>
              <p:custDataLst>
                <p:tags r:id="rId53"/>
              </p:custDataLst>
            </p:nvPr>
          </p:nvSpPr>
          <p:spPr>
            <a:xfrm>
              <a:off x="8878" y="1553"/>
              <a:ext cx="1940" cy="1132"/>
            </a:xfrm>
            <a:prstGeom prst="rect">
              <a:avLst/>
            </a:prstGeom>
            <a:noFill/>
          </p:spPr>
          <p:txBody>
            <a:bodyPr wrap="square" rtlCol="0" anchor="t">
              <a:spAutoFit/>
            </a:bodyPr>
            <a:p>
              <a:pPr algn="ctr"/>
              <a:r>
                <a:rPr lang="en-US" altLang="zh-CN" sz="1200">
                  <a:solidFill>
                    <a:schemeClr val="tx1"/>
                  </a:solidFill>
                  <a:latin typeface="Times New Roman Bold" panose="02020603050405020304" charset="0"/>
                  <a:cs typeface="Times New Roman Bold" panose="02020603050405020304" charset="0"/>
                  <a:sym typeface="+mn-ea"/>
                </a:rPr>
                <a:t>RNNs</a:t>
              </a:r>
              <a:endParaRPr lang="en-US" altLang="zh-CN" sz="1200">
                <a:solidFill>
                  <a:schemeClr val="tx1"/>
                </a:solidFill>
                <a:latin typeface="Times New Roman Bold" panose="02020603050405020304" charset="0"/>
                <a:cs typeface="Times New Roman Bold" panose="02020603050405020304" charset="0"/>
                <a:sym typeface="+mn-ea"/>
              </a:endParaRPr>
            </a:p>
            <a:p>
              <a:pPr algn="ctr"/>
              <a:endParaRPr lang="en-US" altLang="zh-CN" sz="1200">
                <a:solidFill>
                  <a:schemeClr val="tx1"/>
                </a:solidFill>
                <a:latin typeface="Times New Roman Bold" panose="02020603050405020304" charset="0"/>
                <a:cs typeface="Times New Roman Bold" panose="02020603050405020304" charset="0"/>
                <a:sym typeface="+mn-ea"/>
              </a:endParaRPr>
            </a:p>
          </p:txBody>
        </p:sp>
        <p:grpSp>
          <p:nvGrpSpPr>
            <p:cNvPr id="218" name="组合 217"/>
            <p:cNvGrpSpPr/>
            <p:nvPr/>
          </p:nvGrpSpPr>
          <p:grpSpPr>
            <a:xfrm rot="0">
              <a:off x="11241" y="1114"/>
              <a:ext cx="219" cy="2047"/>
              <a:chOff x="1827" y="3643"/>
              <a:chExt cx="219" cy="2047"/>
            </a:xfrm>
          </p:grpSpPr>
          <p:cxnSp>
            <p:nvCxnSpPr>
              <p:cNvPr id="219" name="直接连接符 218"/>
              <p:cNvCxnSpPr/>
              <p:nvPr>
                <p:custDataLst>
                  <p:tags r:id="rId54"/>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20" name="椭圆 219"/>
              <p:cNvSpPr/>
              <p:nvPr>
                <p:custDataLst>
                  <p:tags r:id="rId55"/>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21" name="文本框 220"/>
            <p:cNvSpPr txBox="1"/>
            <p:nvPr>
              <p:custDataLst>
                <p:tags r:id="rId56"/>
              </p:custDataLst>
            </p:nvPr>
          </p:nvSpPr>
          <p:spPr>
            <a:xfrm>
              <a:off x="10120" y="3055"/>
              <a:ext cx="2226"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2000s-2010s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2" name="文本框 221"/>
            <p:cNvSpPr txBox="1"/>
            <p:nvPr>
              <p:custDataLst>
                <p:tags r:id="rId57"/>
              </p:custDataLst>
            </p:nvPr>
          </p:nvSpPr>
          <p:spPr>
            <a:xfrm>
              <a:off x="10121"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人工智能复兴</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23" name="文本框 222"/>
            <p:cNvSpPr txBox="1"/>
            <p:nvPr>
              <p:custDataLst>
                <p:tags r:id="rId58"/>
              </p:custDataLst>
            </p:nvPr>
          </p:nvSpPr>
          <p:spPr>
            <a:xfrm>
              <a:off x="3595" y="752"/>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人工智能热潮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24" name="文本框 223"/>
            <p:cNvSpPr txBox="1"/>
            <p:nvPr>
              <p:custDataLst>
                <p:tags r:id="rId59"/>
              </p:custDataLst>
            </p:nvPr>
          </p:nvSpPr>
          <p:spPr>
            <a:xfrm>
              <a:off x="11522" y="245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2009</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5" name="文本框 224"/>
            <p:cNvSpPr txBox="1"/>
            <p:nvPr>
              <p:custDataLst>
                <p:tags r:id="rId60"/>
              </p:custDataLst>
            </p:nvPr>
          </p:nvSpPr>
          <p:spPr>
            <a:xfrm>
              <a:off x="10766" y="4327"/>
              <a:ext cx="2770" cy="128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ImageNet </a:t>
              </a:r>
              <a:r>
                <a:rPr lang="zh-CN" altLang="en-US" sz="1400">
                  <a:solidFill>
                    <a:schemeClr val="tx1"/>
                  </a:solidFill>
                  <a:latin typeface="Times New Roman Bold" panose="02020603050405020304" charset="0"/>
                  <a:cs typeface="Times New Roman Bold" panose="02020603050405020304" charset="0"/>
                </a:rPr>
                <a:t>引入</a:t>
              </a:r>
              <a:r>
                <a:rPr lang="en-US" altLang="zh-CN" sz="1400">
                  <a:solidFill>
                    <a:schemeClr val="tx1"/>
                  </a:solidFill>
                  <a:latin typeface="Times New Roman Bold" panose="02020603050405020304" charset="0"/>
                  <a:cs typeface="Times New Roman Bold" panose="02020603050405020304" charset="0"/>
                </a:rPr>
                <a:t> CNN</a:t>
              </a:r>
              <a:endParaRPr lang="en-US" altLang="zh-CN" sz="1400">
                <a:solidFill>
                  <a:schemeClr val="tx1"/>
                </a:solidFill>
                <a:latin typeface="Times New Roman Bold" panose="02020603050405020304" charset="0"/>
                <a:cs typeface="Times New Roman Bold" panose="02020603050405020304" charset="0"/>
              </a:endParaRPr>
            </a:p>
          </p:txBody>
        </p:sp>
        <p:sp>
          <p:nvSpPr>
            <p:cNvPr id="226" name="文本框 225"/>
            <p:cNvSpPr txBox="1"/>
            <p:nvPr>
              <p:custDataLst>
                <p:tags r:id="rId61"/>
              </p:custDataLst>
            </p:nvPr>
          </p:nvSpPr>
          <p:spPr>
            <a:xfrm>
              <a:off x="11905" y="1417"/>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AI</a:t>
              </a:r>
              <a:r>
                <a:rPr lang="zh-CN" altLang="en-US" sz="1400">
                  <a:solidFill>
                    <a:schemeClr val="tx1"/>
                  </a:solidFill>
                  <a:latin typeface="Times New Roman Bold" panose="02020603050405020304" charset="0"/>
                  <a:cs typeface="Times New Roman Bold" panose="02020603050405020304" charset="0"/>
                </a:rPr>
                <a:t>广泛</a:t>
              </a:r>
              <a:r>
                <a:rPr lang="zh-CN" altLang="en-US" sz="1400">
                  <a:solidFill>
                    <a:schemeClr val="tx1"/>
                  </a:solidFill>
                  <a:latin typeface="Times New Roman Bold" panose="02020603050405020304" charset="0"/>
                  <a:cs typeface="Times New Roman Bold" panose="02020603050405020304" charset="0"/>
                </a:rPr>
                <a:t>应用</a:t>
              </a:r>
              <a:endParaRPr lang="zh-CN" altLang="en-US" sz="1400">
                <a:solidFill>
                  <a:schemeClr val="tx1"/>
                </a:solidFill>
                <a:latin typeface="Times New Roman Bold" panose="02020603050405020304" charset="0"/>
                <a:cs typeface="Times New Roman Bold" panose="02020603050405020304" charset="0"/>
              </a:endParaRPr>
            </a:p>
          </p:txBody>
        </p:sp>
        <p:sp>
          <p:nvSpPr>
            <p:cNvPr id="227" name="文本框 226"/>
            <p:cNvSpPr txBox="1"/>
            <p:nvPr>
              <p:custDataLst>
                <p:tags r:id="rId62"/>
              </p:custDataLst>
            </p:nvPr>
          </p:nvSpPr>
          <p:spPr>
            <a:xfrm>
              <a:off x="12391" y="3167"/>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8" name="文本框 227"/>
            <p:cNvSpPr txBox="1"/>
            <p:nvPr>
              <p:custDataLst>
                <p:tags r:id="rId63"/>
              </p:custDataLst>
            </p:nvPr>
          </p:nvSpPr>
          <p:spPr>
            <a:xfrm>
              <a:off x="14429" y="4302"/>
              <a:ext cx="246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Transformer</a:t>
              </a:r>
              <a:endParaRPr lang="en-US" altLang="zh-CN" sz="1400">
                <a:solidFill>
                  <a:schemeClr val="accent6"/>
                </a:solidFill>
                <a:latin typeface="Times New Roman Bold" panose="02020603050405020304" charset="0"/>
                <a:cs typeface="Times New Roman Bold" panose="02020603050405020304" charset="0"/>
              </a:endParaRPr>
            </a:p>
          </p:txBody>
        </p:sp>
        <p:sp>
          <p:nvSpPr>
            <p:cNvPr id="229" name="文本框 228"/>
            <p:cNvSpPr txBox="1"/>
            <p:nvPr>
              <p:custDataLst>
                <p:tags r:id="rId64"/>
              </p:custDataLst>
            </p:nvPr>
          </p:nvSpPr>
          <p:spPr>
            <a:xfrm>
              <a:off x="15020" y="2442"/>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2017</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30" name="文本框 229"/>
            <p:cNvSpPr txBox="1"/>
            <p:nvPr>
              <p:custDataLst>
                <p:tags r:id="rId65"/>
              </p:custDataLst>
            </p:nvPr>
          </p:nvSpPr>
          <p:spPr>
            <a:xfrm>
              <a:off x="15389"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人工智能高峰</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231" name="组合 230"/>
            <p:cNvGrpSpPr/>
            <p:nvPr/>
          </p:nvGrpSpPr>
          <p:grpSpPr>
            <a:xfrm rot="0">
              <a:off x="16513" y="1135"/>
              <a:ext cx="219" cy="2047"/>
              <a:chOff x="1827" y="3643"/>
              <a:chExt cx="219" cy="2047"/>
            </a:xfrm>
          </p:grpSpPr>
          <p:cxnSp>
            <p:nvCxnSpPr>
              <p:cNvPr id="232" name="直接连接符 231"/>
              <p:cNvCxnSpPr/>
              <p:nvPr>
                <p:custDataLst>
                  <p:tags r:id="rId66"/>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3" name="椭圆 232"/>
              <p:cNvSpPr/>
              <p:nvPr>
                <p:custDataLst>
                  <p:tags r:id="rId6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4" name="文本框 233"/>
            <p:cNvSpPr txBox="1"/>
            <p:nvPr>
              <p:custDataLst>
                <p:tags r:id="rId68"/>
              </p:custDataLst>
            </p:nvPr>
          </p:nvSpPr>
          <p:spPr>
            <a:xfrm>
              <a:off x="16412" y="318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2020s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35" name="文本框 234"/>
            <p:cNvSpPr txBox="1"/>
            <p:nvPr>
              <p:custDataLst>
                <p:tags r:id="rId69"/>
              </p:custDataLst>
            </p:nvPr>
          </p:nvSpPr>
          <p:spPr>
            <a:xfrm>
              <a:off x="13449" y="2454"/>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2012</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236" name="组合 235"/>
            <p:cNvGrpSpPr/>
            <p:nvPr/>
          </p:nvGrpSpPr>
          <p:grpSpPr>
            <a:xfrm rot="0" flipV="1">
              <a:off x="13969" y="2961"/>
              <a:ext cx="219" cy="782"/>
              <a:chOff x="1827" y="4908"/>
              <a:chExt cx="219" cy="782"/>
            </a:xfrm>
          </p:grpSpPr>
          <p:cxnSp>
            <p:nvCxnSpPr>
              <p:cNvPr id="237" name="直接连接符 236"/>
              <p:cNvCxnSpPr/>
              <p:nvPr>
                <p:custDataLst>
                  <p:tags r:id="rId70"/>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8" name="椭圆 237"/>
              <p:cNvSpPr/>
              <p:nvPr>
                <p:custDataLst>
                  <p:tags r:id="rId71"/>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9" name="文本框 238"/>
            <p:cNvSpPr txBox="1"/>
            <p:nvPr>
              <p:custDataLst>
                <p:tags r:id="rId72"/>
              </p:custDataLst>
            </p:nvPr>
          </p:nvSpPr>
          <p:spPr>
            <a:xfrm>
              <a:off x="13271" y="3767"/>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AlexNet</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240" name="组合 239"/>
            <p:cNvGrpSpPr/>
            <p:nvPr/>
          </p:nvGrpSpPr>
          <p:grpSpPr>
            <a:xfrm rot="0">
              <a:off x="14844" y="2325"/>
              <a:ext cx="219" cy="831"/>
              <a:chOff x="1827" y="4859"/>
              <a:chExt cx="219" cy="831"/>
            </a:xfrm>
          </p:grpSpPr>
          <p:cxnSp>
            <p:nvCxnSpPr>
              <p:cNvPr id="241" name="直接连接符 240"/>
              <p:cNvCxnSpPr/>
              <p:nvPr>
                <p:custDataLst>
                  <p:tags r:id="rId73"/>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2" name="椭圆 241"/>
              <p:cNvSpPr/>
              <p:nvPr>
                <p:custDataLst>
                  <p:tags r:id="rId7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43" name="文本框 242"/>
            <p:cNvSpPr txBox="1"/>
            <p:nvPr>
              <p:custDataLst>
                <p:tags r:id="rId75"/>
              </p:custDataLst>
            </p:nvPr>
          </p:nvSpPr>
          <p:spPr>
            <a:xfrm>
              <a:off x="13735" y="1805"/>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Word2Vec</a:t>
              </a:r>
              <a:endParaRPr lang="en-US" altLang="zh-CN" sz="1400">
                <a:solidFill>
                  <a:schemeClr val="tx1"/>
                </a:solidFill>
                <a:latin typeface="Times New Roman Bold" panose="02020603050405020304" charset="0"/>
                <a:cs typeface="Times New Roman Bold" panose="02020603050405020304" charset="0"/>
              </a:endParaRPr>
            </a:p>
          </p:txBody>
        </p:sp>
        <p:sp>
          <p:nvSpPr>
            <p:cNvPr id="244" name="文本框 243"/>
            <p:cNvSpPr txBox="1"/>
            <p:nvPr>
              <p:custDataLst>
                <p:tags r:id="rId76"/>
              </p:custDataLst>
            </p:nvPr>
          </p:nvSpPr>
          <p:spPr>
            <a:xfrm>
              <a:off x="14325" y="3151"/>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2015s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245" name="组合 244"/>
            <p:cNvGrpSpPr/>
            <p:nvPr/>
          </p:nvGrpSpPr>
          <p:grpSpPr>
            <a:xfrm rot="0" flipV="1">
              <a:off x="16513" y="2969"/>
              <a:ext cx="219" cy="782"/>
              <a:chOff x="1827" y="4908"/>
              <a:chExt cx="219" cy="782"/>
            </a:xfrm>
          </p:grpSpPr>
          <p:cxnSp>
            <p:nvCxnSpPr>
              <p:cNvPr id="246" name="直接连接符 245"/>
              <p:cNvCxnSpPr/>
              <p:nvPr>
                <p:custDataLst>
                  <p:tags r:id="rId77"/>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7" name="椭圆 246"/>
              <p:cNvSpPr/>
              <p:nvPr>
                <p:custDataLst>
                  <p:tags r:id="rId78"/>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48" name="文本框 247"/>
            <p:cNvSpPr txBox="1"/>
            <p:nvPr>
              <p:custDataLst>
                <p:tags r:id="rId79"/>
              </p:custDataLst>
            </p:nvPr>
          </p:nvSpPr>
          <p:spPr>
            <a:xfrm>
              <a:off x="15767" y="3819"/>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GPT3</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249" name="组合 248"/>
            <p:cNvGrpSpPr/>
            <p:nvPr/>
          </p:nvGrpSpPr>
          <p:grpSpPr>
            <a:xfrm rot="0" flipV="1">
              <a:off x="17360" y="2955"/>
              <a:ext cx="219" cy="782"/>
              <a:chOff x="1827" y="4908"/>
              <a:chExt cx="219" cy="782"/>
            </a:xfrm>
          </p:grpSpPr>
          <p:cxnSp>
            <p:nvCxnSpPr>
              <p:cNvPr id="250" name="直接连接符 249"/>
              <p:cNvCxnSpPr/>
              <p:nvPr>
                <p:custDataLst>
                  <p:tags r:id="rId80"/>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51" name="椭圆 250"/>
              <p:cNvSpPr/>
              <p:nvPr>
                <p:custDataLst>
                  <p:tags r:id="rId81"/>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52" name="文本框 251"/>
            <p:cNvSpPr txBox="1"/>
            <p:nvPr>
              <p:custDataLst>
                <p:tags r:id="rId82"/>
              </p:custDataLst>
            </p:nvPr>
          </p:nvSpPr>
          <p:spPr>
            <a:xfrm>
              <a:off x="16757" y="3795"/>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ChatGPT</a:t>
              </a:r>
              <a:endParaRPr lang="en-US" altLang="zh-CN" sz="1400">
                <a:solidFill>
                  <a:schemeClr val="accent6"/>
                </a:solidFill>
                <a:latin typeface="Times New Roman Bold" panose="02020603050405020304" charset="0"/>
                <a:cs typeface="Times New Roman Bold" panose="02020603050405020304" charset="0"/>
              </a:endParaRPr>
            </a:p>
          </p:txBody>
        </p:sp>
      </p:grpSp>
      <p:sp>
        <p:nvSpPr>
          <p:cNvPr id="253" name="矩形 252"/>
          <p:cNvSpPr/>
          <p:nvPr>
            <p:custDataLst>
              <p:tags r:id="rId83"/>
            </p:custDataLst>
          </p:nvPr>
        </p:nvSpPr>
        <p:spPr>
          <a:xfrm>
            <a:off x="7249160" y="1047750"/>
            <a:ext cx="960755" cy="230187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84"/>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标题 17"/>
          <p:cNvSpPr>
            <a:spLocks noGrp="1"/>
          </p:cNvSpPr>
          <p:nvPr>
            <p:ph type="title"/>
          </p:nvPr>
        </p:nvSpPr>
        <p:spPr/>
        <p:txBody>
          <a:bodyPr/>
          <a:p>
            <a:r>
              <a:rPr lang="zh-CN" altLang="en-US"/>
              <a:t>人工智能近四十年的发展</a:t>
            </a:r>
            <a:endParaRPr lang="zh-CN" altLang="en-US"/>
          </a:p>
        </p:txBody>
      </p:sp>
      <p:pic>
        <p:nvPicPr>
          <p:cNvPr id="10" name="图片 9" descr="3b403882-85d9-4143-9480-b0b97a85f8c3"/>
          <p:cNvPicPr>
            <a:picLocks noChangeAspect="1"/>
          </p:cNvPicPr>
          <p:nvPr>
            <p:custDataLst>
              <p:tags r:id="rId1"/>
            </p:custDataLst>
          </p:nvPr>
        </p:nvPicPr>
        <p:blipFill>
          <a:blip r:embed="rId2"/>
          <a:stretch>
            <a:fillRect/>
          </a:stretch>
        </p:blipFill>
        <p:spPr>
          <a:xfrm>
            <a:off x="10403840" y="6379845"/>
            <a:ext cx="1653540" cy="374015"/>
          </a:xfrm>
          <a:prstGeom prst="rect">
            <a:avLst/>
          </a:prstGeom>
        </p:spPr>
      </p:pic>
      <p:grpSp>
        <p:nvGrpSpPr>
          <p:cNvPr id="2" name="组合 1"/>
          <p:cNvGrpSpPr/>
          <p:nvPr/>
        </p:nvGrpSpPr>
        <p:grpSpPr>
          <a:xfrm>
            <a:off x="137160" y="4007485"/>
            <a:ext cx="2327910" cy="2119630"/>
            <a:chOff x="6160" y="5031"/>
            <a:chExt cx="2150" cy="2216"/>
          </a:xfrm>
        </p:grpSpPr>
        <p:sp>
          <p:nvSpPr>
            <p:cNvPr id="6" name="任意多边形 5"/>
            <p:cNvSpPr/>
            <p:nvPr>
              <p:custDataLst>
                <p:tags r:id="rId3"/>
              </p:custDataLst>
            </p:nvPr>
          </p:nvSpPr>
          <p:spPr>
            <a:xfrm>
              <a:off x="6160" y="5031"/>
              <a:ext cx="2151" cy="2217"/>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4422" h="4557">
                  <a:moveTo>
                    <a:pt x="191" y="0"/>
                  </a:moveTo>
                  <a:lnTo>
                    <a:pt x="4231" y="0"/>
                  </a:lnTo>
                  <a:cubicBezTo>
                    <a:pt x="4336" y="0"/>
                    <a:pt x="4422" y="86"/>
                    <a:pt x="4422" y="191"/>
                  </a:cubicBezTo>
                  <a:lnTo>
                    <a:pt x="4422" y="4111"/>
                  </a:lnTo>
                  <a:cubicBezTo>
                    <a:pt x="4422" y="4216"/>
                    <a:pt x="4336" y="4302"/>
                    <a:pt x="4231" y="4302"/>
                  </a:cubicBezTo>
                  <a:lnTo>
                    <a:pt x="653" y="4302"/>
                  </a:lnTo>
                  <a:lnTo>
                    <a:pt x="398" y="4557"/>
                  </a:lnTo>
                  <a:lnTo>
                    <a:pt x="398" y="4302"/>
                  </a:lnTo>
                  <a:lnTo>
                    <a:pt x="191" y="4302"/>
                  </a:lnTo>
                  <a:cubicBezTo>
                    <a:pt x="86" y="4302"/>
                    <a:pt x="0" y="4216"/>
                    <a:pt x="0" y="4111"/>
                  </a:cubicBezTo>
                  <a:lnTo>
                    <a:pt x="0" y="191"/>
                  </a:lnTo>
                  <a:cubicBezTo>
                    <a:pt x="0" y="86"/>
                    <a:pt x="86" y="0"/>
                    <a:pt x="191"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9" name="文本框 8"/>
            <p:cNvSpPr txBox="1"/>
            <p:nvPr>
              <p:custDataLst>
                <p:tags r:id="rId4"/>
              </p:custDataLst>
            </p:nvPr>
          </p:nvSpPr>
          <p:spPr>
            <a:xfrm>
              <a:off x="6276" y="5117"/>
              <a:ext cx="1920" cy="1942"/>
            </a:xfrm>
            <a:prstGeom prst="rect">
              <a:avLst/>
            </a:prstGeom>
            <a:noFill/>
          </p:spPr>
          <p:txBody>
            <a:bodyPr wrap="square" rtlCol="0" anchor="ctr" anchorCtr="0">
              <a:normAutofit lnSpcReduction="20000"/>
            </a:bodyPr>
            <a:p>
              <a:pPr marL="0" lvl="0" indent="0" algn="l">
                <a:lnSpc>
                  <a:spcPct val="130000"/>
                </a:lnSpc>
                <a:spcBef>
                  <a:spcPts val="0"/>
                </a:spcBef>
                <a:spcAft>
                  <a:spcPts val="0"/>
                </a:spcAft>
                <a:buSzPct val="100000"/>
              </a:pPr>
              <a:r>
                <a:rPr lang="en-US" altLang="zh-CN" sz="1400" spc="150">
                  <a:solidFill>
                    <a:schemeClr val="dk1">
                      <a:lumMod val="85000"/>
                      <a:lumOff val="15000"/>
                    </a:schemeClr>
                  </a:solidFill>
                  <a:uFillTx/>
                  <a:latin typeface="Arial" panose="020B0604020202090204" pitchFamily="34" charset="0"/>
                  <a:ea typeface="微软雅黑" charset="-122"/>
                  <a:sym typeface="+mn-ea"/>
                </a:rPr>
                <a:t> 2010年-2020年：人工智能发展，进入深度学习时代，深度学习方法在计算机视觉、自然语言处理和其他领域取得成功。</a:t>
              </a:r>
              <a:endParaRPr lang="en-US" altLang="zh-CN" sz="1400" spc="150">
                <a:solidFill>
                  <a:schemeClr val="dk1">
                    <a:lumMod val="85000"/>
                    <a:lumOff val="15000"/>
                  </a:schemeClr>
                </a:solidFill>
                <a:uFillTx/>
                <a:latin typeface="Arial" panose="020B0604020202090204" pitchFamily="34" charset="0"/>
                <a:ea typeface="微软雅黑" charset="-122"/>
              </a:endParaRPr>
            </a:p>
          </p:txBody>
        </p:sp>
      </p:grpSp>
      <p:sp>
        <p:nvSpPr>
          <p:cNvPr id="7" name="文本框 6" descr="7b0a202020202262756c6c6574223a20227b5c2263617465676f727949645c223a31303030352c5c2274656d706c61746549645c223a32303233313539397d222c0a20202020227461726765744964223a202270726f636573734f6e6c696e6542756c6c6574220a7d0a"/>
          <p:cNvSpPr txBox="1"/>
          <p:nvPr/>
        </p:nvSpPr>
        <p:spPr>
          <a:xfrm>
            <a:off x="2586355" y="3326765"/>
            <a:ext cx="4786630" cy="2966085"/>
          </a:xfrm>
          <a:prstGeom prst="rect">
            <a:avLst/>
          </a:prstGeom>
          <a:noFill/>
        </p:spPr>
        <p:txBody>
          <a:bodyPr wrap="square" rtlCol="0" anchor="t">
            <a:spAutoFit/>
          </a:bodyPr>
          <a:p>
            <a:pPr marL="0" indent="0" fontAlgn="auto">
              <a:lnSpc>
                <a:spcPct val="120000"/>
              </a:lnSpc>
              <a:spcBef>
                <a:spcPts val="0"/>
              </a:spcBef>
              <a:spcAft>
                <a:spcPts val="800"/>
              </a:spcAft>
              <a:buNone/>
            </a:pPr>
            <a:r>
              <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rPr>
              <a:t>关键技术：</a:t>
            </a:r>
            <a:endPar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endParaRPr>
          </a:p>
          <a:p>
            <a:pPr marL="0" indent="0" fontAlgn="auto">
              <a:lnSpc>
                <a:spcPct val="120000"/>
              </a:lnSpc>
              <a:spcBef>
                <a:spcPts val="0"/>
              </a:spcBef>
              <a:spcAft>
                <a:spcPts val="800"/>
              </a:spcAft>
              <a:buNone/>
            </a:pPr>
            <a:r>
              <a:rPr sz="1400" spc="170">
                <a:uFillTx/>
                <a:latin typeface="微软雅黑" charset="-122"/>
                <a:ea typeface="微软雅黑" charset="-122"/>
                <a:cs typeface="微软雅黑" charset="-122"/>
                <a:sym typeface="+mn-ea"/>
              </a:rPr>
              <a:t>2012：AlexNet神经网络模型</a:t>
            </a:r>
            <a:r>
              <a:rPr lang="zh-CN" sz="1400" spc="170">
                <a:uFillTx/>
                <a:latin typeface="微软雅黑" charset="-122"/>
                <a:ea typeface="微软雅黑" charset="-122"/>
                <a:cs typeface="微软雅黑" charset="-122"/>
                <a:sym typeface="+mn-ea"/>
              </a:rPr>
              <a:t>；</a:t>
            </a:r>
            <a:r>
              <a:rPr sz="1400" spc="170">
                <a:uFillTx/>
                <a:latin typeface="微软雅黑" charset="-122"/>
                <a:ea typeface="微软雅黑" charset="-122"/>
                <a:cs typeface="微软雅黑" charset="-122"/>
                <a:sym typeface="+mn-ea"/>
              </a:rPr>
              <a:t>谷歌正式发布谷歌知识图谱Google Knowledge Graph</a:t>
            </a:r>
            <a:endParaRPr sz="1400" spc="170">
              <a:uFillTx/>
              <a:latin typeface="微软雅黑" charset="-122"/>
              <a:ea typeface="微软雅黑" charset="-122"/>
              <a:cs typeface="微软雅黑" charset="-122"/>
              <a:sym typeface="+mn-ea"/>
            </a:endParaRPr>
          </a:p>
          <a:p>
            <a:pPr marL="0" indent="0" fontAlgn="auto">
              <a:lnSpc>
                <a:spcPct val="120000"/>
              </a:lnSpc>
              <a:spcBef>
                <a:spcPts val="0"/>
              </a:spcBef>
              <a:spcAft>
                <a:spcPts val="800"/>
              </a:spcAft>
              <a:buNone/>
            </a:pPr>
            <a:r>
              <a:rPr sz="1400" spc="170">
                <a:uFillTx/>
                <a:latin typeface="微软雅黑" charset="-122"/>
                <a:ea typeface="微软雅黑" charset="-122"/>
                <a:cs typeface="微软雅黑" charset="-122"/>
                <a:sym typeface="+mn-ea"/>
              </a:rPr>
              <a:t>2013</a:t>
            </a:r>
            <a:r>
              <a:rPr lang="zh-CN" sz="1400" spc="170">
                <a:uFillTx/>
                <a:latin typeface="微软雅黑" charset="-122"/>
                <a:ea typeface="微软雅黑" charset="-122"/>
                <a:cs typeface="微软雅黑" charset="-122"/>
                <a:sym typeface="+mn-ea"/>
              </a:rPr>
              <a:t>：</a:t>
            </a:r>
            <a:r>
              <a:rPr sz="1400" spc="170">
                <a:uFillTx/>
                <a:latin typeface="微软雅黑" charset="-122"/>
                <a:ea typeface="微软雅黑" charset="-122"/>
                <a:cs typeface="微软雅黑" charset="-122"/>
                <a:sym typeface="+mn-ea"/>
              </a:rPr>
              <a:t>Google 提出Word2vec</a:t>
            </a:r>
            <a:endParaRPr sz="1400" spc="170">
              <a:uFillTx/>
              <a:latin typeface="微软雅黑" charset="-122"/>
              <a:ea typeface="微软雅黑" charset="-122"/>
              <a:cs typeface="微软雅黑" charset="-122"/>
              <a:sym typeface="+mn-ea"/>
            </a:endParaRPr>
          </a:p>
          <a:p>
            <a:pPr marL="0" indent="0" fontAlgn="auto">
              <a:lnSpc>
                <a:spcPct val="120000"/>
              </a:lnSpc>
              <a:spcBef>
                <a:spcPts val="0"/>
              </a:spcBef>
              <a:spcAft>
                <a:spcPts val="800"/>
              </a:spcAft>
              <a:buNone/>
            </a:pPr>
            <a:r>
              <a:rPr sz="1400" spc="170">
                <a:uFillTx/>
                <a:latin typeface="微软雅黑" charset="-122"/>
                <a:ea typeface="微软雅黑" charset="-122"/>
                <a:cs typeface="微软雅黑" charset="-122"/>
                <a:sym typeface="+mn-ea"/>
              </a:rPr>
              <a:t>2014：Goodfellow及Bengio等人提出生成对抗网络GAN</a:t>
            </a:r>
            <a:endParaRPr sz="1400" spc="170">
              <a:uFillTx/>
              <a:latin typeface="微软雅黑" charset="-122"/>
              <a:ea typeface="微软雅黑" charset="-122"/>
              <a:cs typeface="微软雅黑" charset="-122"/>
              <a:sym typeface="+mn-ea"/>
            </a:endParaRPr>
          </a:p>
          <a:p>
            <a:pPr marL="0" indent="0" fontAlgn="auto">
              <a:lnSpc>
                <a:spcPct val="120000"/>
              </a:lnSpc>
              <a:spcBef>
                <a:spcPts val="0"/>
              </a:spcBef>
              <a:spcAft>
                <a:spcPts val="800"/>
              </a:spcAft>
              <a:buNone/>
            </a:pPr>
            <a:r>
              <a:rPr sz="1400" spc="170">
                <a:uFillTx/>
                <a:latin typeface="微软雅黑" charset="-122"/>
                <a:ea typeface="微软雅黑" charset="-122"/>
                <a:cs typeface="微软雅黑" charset="-122"/>
                <a:sym typeface="+mn-ea"/>
              </a:rPr>
              <a:t>2017：Transformers的提出</a:t>
            </a:r>
            <a:endParaRPr sz="1400" spc="170">
              <a:uFillTx/>
              <a:latin typeface="微软雅黑" charset="-122"/>
              <a:ea typeface="微软雅黑" charset="-122"/>
              <a:cs typeface="微软雅黑" charset="-122"/>
              <a:sym typeface="+mn-ea"/>
            </a:endParaRPr>
          </a:p>
          <a:p>
            <a:pPr marL="0" indent="0" fontAlgn="auto">
              <a:lnSpc>
                <a:spcPct val="120000"/>
              </a:lnSpc>
              <a:spcBef>
                <a:spcPts val="0"/>
              </a:spcBef>
              <a:spcAft>
                <a:spcPts val="800"/>
              </a:spcAft>
              <a:buNone/>
            </a:pPr>
            <a:r>
              <a:rPr sz="1400" spc="170">
                <a:uFillTx/>
                <a:latin typeface="微软雅黑" charset="-122"/>
                <a:ea typeface="微软雅黑" charset="-122"/>
                <a:cs typeface="微软雅黑" charset="-122"/>
                <a:sym typeface="+mn-ea"/>
              </a:rPr>
              <a:t>2018：BERT，成功在 11 项 NLP 任务中取得 SOTA 结果</a:t>
            </a:r>
            <a:endParaRPr lang="zh-CN" altLang="en-US" sz="1400" spc="170">
              <a:uFillTx/>
              <a:latin typeface="微软雅黑" charset="-122"/>
              <a:ea typeface="微软雅黑" charset="-122"/>
              <a:cs typeface="微软雅黑" charset="-122"/>
              <a:sym typeface="+mn-ea"/>
            </a:endParaRPr>
          </a:p>
        </p:txBody>
      </p:sp>
      <p:sp>
        <p:nvSpPr>
          <p:cNvPr id="8" name="文本框 7"/>
          <p:cNvSpPr txBox="1"/>
          <p:nvPr/>
        </p:nvSpPr>
        <p:spPr>
          <a:xfrm>
            <a:off x="7647940" y="4083685"/>
            <a:ext cx="3993515" cy="2089150"/>
          </a:xfrm>
          <a:prstGeom prst="rect">
            <a:avLst/>
          </a:prstGeom>
          <a:noFill/>
        </p:spPr>
        <p:txBody>
          <a:bodyPr wrap="square" rtlCol="0" anchor="t">
            <a:spAutoFit/>
          </a:bodyPr>
          <a:p>
            <a:pPr marL="0" algn="l" fontAlgn="auto">
              <a:lnSpc>
                <a:spcPct val="120000"/>
              </a:lnSpc>
              <a:spcBef>
                <a:spcPts val="0"/>
              </a:spcBef>
              <a:spcAft>
                <a:spcPts val="800"/>
              </a:spcAft>
              <a:buClrTx/>
              <a:buSzTx/>
              <a:buFontTx/>
              <a:buNone/>
            </a:pPr>
            <a:r>
              <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rPr>
              <a:t>重大事件：</a:t>
            </a:r>
            <a:endPar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30">
                <a:uFillTx/>
                <a:latin typeface="微软雅黑" charset="-122"/>
                <a:ea typeface="微软雅黑" charset="-122"/>
                <a:cs typeface="微软雅黑" charset="-122"/>
                <a:sym typeface="+mn-ea"/>
              </a:rPr>
              <a:t>2011：IBM Watson击败人类</a:t>
            </a:r>
            <a:endParaRPr lang="zh-CN" altLang="en-US" sz="1400" spc="13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30">
                <a:uFillTx/>
                <a:latin typeface="微软雅黑" charset="-122"/>
                <a:ea typeface="微软雅黑" charset="-122"/>
                <a:cs typeface="微软雅黑" charset="-122"/>
                <a:sym typeface="+mn-ea"/>
              </a:rPr>
              <a:t>2014：聊天程序“尤金·古斯特曼”首次在图灵测试中“通过”</a:t>
            </a:r>
            <a:endParaRPr lang="zh-CN" altLang="en-US" sz="1400" spc="13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30">
                <a:uFillTx/>
                <a:latin typeface="微软雅黑" charset="-122"/>
                <a:ea typeface="微软雅黑" charset="-122"/>
                <a:cs typeface="微软雅黑" charset="-122"/>
                <a:sym typeface="+mn-ea"/>
              </a:rPr>
              <a:t>2016：AlphaGo战胜围棋世界冠军、职业九段棋手李世石</a:t>
            </a:r>
            <a:endParaRPr lang="zh-CN" altLang="en-US" sz="1400" spc="13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30">
                <a:uFillTx/>
                <a:latin typeface="微软雅黑" charset="-122"/>
                <a:ea typeface="微软雅黑" charset="-122"/>
                <a:cs typeface="微软雅黑" charset="-122"/>
                <a:sym typeface="+mn-ea"/>
              </a:rPr>
              <a:t>2019：AI从零开始发现全新药物分子</a:t>
            </a:r>
            <a:endParaRPr lang="zh-CN" altLang="en-US" sz="1400" spc="130">
              <a:uFillTx/>
              <a:latin typeface="微软雅黑" charset="-122"/>
              <a:ea typeface="微软雅黑" charset="-122"/>
              <a:cs typeface="微软雅黑" charset="-122"/>
              <a:sym typeface="+mn-ea"/>
            </a:endParaRPr>
          </a:p>
        </p:txBody>
      </p:sp>
      <p:sp>
        <p:nvSpPr>
          <p:cNvPr id="67" name="波形 66"/>
          <p:cNvSpPr/>
          <p:nvPr/>
        </p:nvSpPr>
        <p:spPr>
          <a:xfrm>
            <a:off x="7249160" y="3386455"/>
            <a:ext cx="4942840" cy="833120"/>
          </a:xfrm>
          <a:prstGeom prst="wave">
            <a:avLst>
              <a:gd name="adj1" fmla="val 9090"/>
              <a:gd name="adj2" fmla="val 0"/>
            </a:avLst>
          </a:prstGeom>
          <a:solidFill>
            <a:schemeClr val="accent1">
              <a:lumMod val="20000"/>
              <a:lumOff val="80000"/>
            </a:schemeClr>
          </a:solidFill>
          <a:ln>
            <a:solidFill>
              <a:schemeClr val="accent4">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68" name="文本框 67"/>
          <p:cNvSpPr txBox="1"/>
          <p:nvPr/>
        </p:nvSpPr>
        <p:spPr>
          <a:xfrm>
            <a:off x="7237730" y="3461385"/>
            <a:ext cx="4888230" cy="603250"/>
          </a:xfrm>
          <a:prstGeom prst="rect">
            <a:avLst/>
          </a:prstGeom>
          <a:noFill/>
        </p:spPr>
        <p:txBody>
          <a:bodyPr wrap="square" rtlCol="0" anchor="t">
            <a:noAutofit/>
          </a:bodyPr>
          <a:p>
            <a:pPr algn="ctr"/>
            <a:r>
              <a:rPr lang="zh-CN" altLang="en-US">
                <a:sym typeface="+mn-ea"/>
              </a:rPr>
              <a:t>应用产业：</a:t>
            </a:r>
            <a:r>
              <a:rPr lang="en-US">
                <a:sym typeface="+mn-ea"/>
              </a:rPr>
              <a:t>图像识别、语音识别等领域的广泛应用，产业结合程度显著增加</a:t>
            </a:r>
            <a:endParaRPr lang="zh-CN" altLang="en-US">
              <a:sym typeface="+mn-ea"/>
            </a:endParaRPr>
          </a:p>
        </p:txBody>
      </p:sp>
      <p:grpSp>
        <p:nvGrpSpPr>
          <p:cNvPr id="167" name="组合 166"/>
          <p:cNvGrpSpPr/>
          <p:nvPr/>
        </p:nvGrpSpPr>
        <p:grpSpPr>
          <a:xfrm>
            <a:off x="1305560" y="1084777"/>
            <a:ext cx="9985375" cy="2087778"/>
            <a:chOff x="1023" y="476"/>
            <a:chExt cx="17349" cy="5135"/>
          </a:xfrm>
        </p:grpSpPr>
        <p:cxnSp>
          <p:nvCxnSpPr>
            <p:cNvPr id="169" name="直接箭头连接符 168"/>
            <p:cNvCxnSpPr/>
            <p:nvPr>
              <p:custDataLst>
                <p:tags r:id="rId5"/>
              </p:custDataLst>
            </p:nvPr>
          </p:nvCxnSpPr>
          <p:spPr>
            <a:xfrm flipV="1">
              <a:off x="1157" y="3048"/>
              <a:ext cx="16980" cy="44"/>
            </a:xfrm>
            <a:prstGeom prst="straightConnector1">
              <a:avLst/>
            </a:prstGeom>
            <a:ln w="5715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70" name="文本框 169"/>
            <p:cNvSpPr txBox="1"/>
            <p:nvPr>
              <p:custDataLst>
                <p:tags r:id="rId6"/>
              </p:custDataLst>
            </p:nvPr>
          </p:nvSpPr>
          <p:spPr>
            <a:xfrm>
              <a:off x="1023" y="1235"/>
              <a:ext cx="2357" cy="754"/>
            </a:xfrm>
            <a:prstGeom prst="rect">
              <a:avLst/>
            </a:prstGeom>
            <a:noFill/>
          </p:spPr>
          <p:txBody>
            <a:bodyPr wrap="square" rtlCol="0">
              <a:spAutoFit/>
            </a:bodyPr>
            <a:p>
              <a:pPr algn="ctr">
                <a:buClrTx/>
                <a:buSzTx/>
                <a:buFontTx/>
              </a:pPr>
              <a:r>
                <a:rPr lang="zh-CN" altLang="en-US" sz="1400">
                  <a:solidFill>
                    <a:schemeClr val="accent6"/>
                  </a:solidFill>
                  <a:latin typeface="Times New Roman Bold" panose="02020603050405020304" charset="0"/>
                  <a:cs typeface="Times New Roman Bold" panose="02020603050405020304" charset="0"/>
                  <a:sym typeface="+mn-ea"/>
                </a:rPr>
                <a:t>达特茅斯会议</a:t>
              </a:r>
              <a:endParaRPr lang="zh-CN" altLang="en-US" sz="1400">
                <a:solidFill>
                  <a:schemeClr val="accent6"/>
                </a:solidFill>
                <a:latin typeface="Times New Roman Bold" panose="02020603050405020304" charset="0"/>
                <a:cs typeface="Times New Roman Bold" panose="02020603050405020304" charset="0"/>
                <a:sym typeface="+mn-ea"/>
              </a:endParaRPr>
            </a:p>
          </p:txBody>
        </p:sp>
        <p:sp>
          <p:nvSpPr>
            <p:cNvPr id="171" name="文本框 170"/>
            <p:cNvSpPr txBox="1"/>
            <p:nvPr>
              <p:custDataLst>
                <p:tags r:id="rId7"/>
              </p:custDataLst>
            </p:nvPr>
          </p:nvSpPr>
          <p:spPr>
            <a:xfrm>
              <a:off x="2108" y="4226"/>
              <a:ext cx="2465" cy="1284"/>
            </a:xfrm>
            <a:prstGeom prst="rect">
              <a:avLst/>
            </a:prstGeom>
            <a:noFill/>
          </p:spPr>
          <p:txBody>
            <a:bodyPr wrap="square" rtlCol="0">
              <a:spAutoFit/>
            </a:bodyPr>
            <a:p>
              <a:pPr algn="ctr"/>
              <a:r>
                <a:rPr lang="en-US" altLang="zh-CN" sz="1400" b="1">
                  <a:solidFill>
                    <a:schemeClr val="accent6"/>
                  </a:solidFill>
                  <a:latin typeface="Times New Roman Bold" panose="02020603050405020304" charset="0"/>
                  <a:cs typeface="Times New Roman Bold" panose="02020603050405020304" charset="0"/>
                </a:rPr>
                <a:t>The Perceptron</a:t>
              </a:r>
              <a:endParaRPr lang="en-US" altLang="zh-CN" sz="1600" b="1">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感知机</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172" name="组合 171"/>
            <p:cNvGrpSpPr/>
            <p:nvPr/>
          </p:nvGrpSpPr>
          <p:grpSpPr>
            <a:xfrm rot="0">
              <a:off x="2074" y="1892"/>
              <a:ext cx="218" cy="1289"/>
              <a:chOff x="1827" y="4400"/>
              <a:chExt cx="218" cy="1289"/>
            </a:xfrm>
          </p:grpSpPr>
          <p:cxnSp>
            <p:nvCxnSpPr>
              <p:cNvPr id="173" name="直接连接符 172"/>
              <p:cNvCxnSpPr/>
              <p:nvPr>
                <p:custDataLst>
                  <p:tags r:id="rId8"/>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4" name="椭圆 173"/>
              <p:cNvSpPr/>
              <p:nvPr>
                <p:custDataLst>
                  <p:tags r:id="rId9"/>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5" name="文本框 174"/>
            <p:cNvSpPr txBox="1"/>
            <p:nvPr>
              <p:custDataLst>
                <p:tags r:id="rId10"/>
              </p:custDataLst>
            </p:nvPr>
          </p:nvSpPr>
          <p:spPr>
            <a:xfrm>
              <a:off x="1702" y="3182"/>
              <a:ext cx="1265"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1956</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76" name="组合 175"/>
            <p:cNvGrpSpPr/>
            <p:nvPr/>
          </p:nvGrpSpPr>
          <p:grpSpPr>
            <a:xfrm rot="0" flipV="1">
              <a:off x="3245" y="2949"/>
              <a:ext cx="218" cy="1289"/>
              <a:chOff x="1827" y="4400"/>
              <a:chExt cx="218" cy="1289"/>
            </a:xfrm>
          </p:grpSpPr>
          <p:cxnSp>
            <p:nvCxnSpPr>
              <p:cNvPr id="177" name="直接连接符 176"/>
              <p:cNvCxnSpPr/>
              <p:nvPr>
                <p:custDataLst>
                  <p:tags r:id="rId11"/>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8" name="椭圆 177"/>
              <p:cNvSpPr/>
              <p:nvPr>
                <p:custDataLst>
                  <p:tags r:id="rId12"/>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9" name="文本框 178"/>
            <p:cNvSpPr txBox="1"/>
            <p:nvPr>
              <p:custDataLst>
                <p:tags r:id="rId13"/>
              </p:custDataLst>
            </p:nvPr>
          </p:nvSpPr>
          <p:spPr>
            <a:xfrm>
              <a:off x="2891" y="2465"/>
              <a:ext cx="1331"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1958</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80" name="组合 179"/>
            <p:cNvGrpSpPr/>
            <p:nvPr/>
          </p:nvGrpSpPr>
          <p:grpSpPr>
            <a:xfrm rot="0" flipV="1">
              <a:off x="6036" y="2989"/>
              <a:ext cx="218" cy="1289"/>
              <a:chOff x="1827" y="4400"/>
              <a:chExt cx="218" cy="1289"/>
            </a:xfrm>
          </p:grpSpPr>
          <p:cxnSp>
            <p:nvCxnSpPr>
              <p:cNvPr id="181" name="直接连接符 180"/>
              <p:cNvCxnSpPr/>
              <p:nvPr>
                <p:custDataLst>
                  <p:tags r:id="rId14"/>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82" name="椭圆 181"/>
              <p:cNvSpPr/>
              <p:nvPr>
                <p:custDataLst>
                  <p:tags r:id="rId15"/>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8" name="组合 187"/>
            <p:cNvGrpSpPr/>
            <p:nvPr/>
          </p:nvGrpSpPr>
          <p:grpSpPr>
            <a:xfrm rot="0" flipV="1">
              <a:off x="8847" y="3015"/>
              <a:ext cx="218" cy="1289"/>
              <a:chOff x="1827" y="4400"/>
              <a:chExt cx="218" cy="1289"/>
            </a:xfrm>
          </p:grpSpPr>
          <p:cxnSp>
            <p:nvCxnSpPr>
              <p:cNvPr id="189" name="直接连接符 188"/>
              <p:cNvCxnSpPr/>
              <p:nvPr>
                <p:custDataLst>
                  <p:tags r:id="rId16"/>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0" name="椭圆 189"/>
              <p:cNvSpPr/>
              <p:nvPr>
                <p:custDataLst>
                  <p:tags r:id="rId1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1" name="组合 190"/>
            <p:cNvGrpSpPr/>
            <p:nvPr/>
          </p:nvGrpSpPr>
          <p:grpSpPr>
            <a:xfrm rot="0" flipV="1">
              <a:off x="12042" y="3015"/>
              <a:ext cx="218" cy="1289"/>
              <a:chOff x="1827" y="4400"/>
              <a:chExt cx="218" cy="1289"/>
            </a:xfrm>
          </p:grpSpPr>
          <p:cxnSp>
            <p:nvCxnSpPr>
              <p:cNvPr id="192" name="直接连接符 191"/>
              <p:cNvCxnSpPr/>
              <p:nvPr>
                <p:custDataLst>
                  <p:tags r:id="rId18"/>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3" name="椭圆 192"/>
              <p:cNvSpPr/>
              <p:nvPr>
                <p:custDataLst>
                  <p:tags r:id="rId19"/>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4" name="组合 193"/>
            <p:cNvGrpSpPr/>
            <p:nvPr/>
          </p:nvGrpSpPr>
          <p:grpSpPr>
            <a:xfrm rot="0" flipV="1">
              <a:off x="15540" y="3015"/>
              <a:ext cx="218" cy="1289"/>
              <a:chOff x="1827" y="4400"/>
              <a:chExt cx="218" cy="1289"/>
            </a:xfrm>
          </p:grpSpPr>
          <p:cxnSp>
            <p:nvCxnSpPr>
              <p:cNvPr id="195" name="直接连接符 194"/>
              <p:cNvCxnSpPr/>
              <p:nvPr>
                <p:custDataLst>
                  <p:tags r:id="rId20"/>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6" name="椭圆 195"/>
              <p:cNvSpPr/>
              <p:nvPr>
                <p:custDataLst>
                  <p:tags r:id="rId21"/>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7" name="组合 196"/>
            <p:cNvGrpSpPr/>
            <p:nvPr/>
          </p:nvGrpSpPr>
          <p:grpSpPr>
            <a:xfrm rot="0">
              <a:off x="4718" y="1301"/>
              <a:ext cx="219" cy="1881"/>
              <a:chOff x="1827" y="3809"/>
              <a:chExt cx="219" cy="1881"/>
            </a:xfrm>
          </p:grpSpPr>
          <p:cxnSp>
            <p:nvCxnSpPr>
              <p:cNvPr id="198" name="直接连接符 197"/>
              <p:cNvCxnSpPr/>
              <p:nvPr>
                <p:custDataLst>
                  <p:tags r:id="rId22"/>
                </p:custDataLst>
              </p:nvPr>
            </p:nvCxnSpPr>
            <p:spPr>
              <a:xfrm>
                <a:off x="1936" y="3809"/>
                <a:ext cx="0" cy="182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9" name="椭圆 198"/>
              <p:cNvSpPr/>
              <p:nvPr>
                <p:custDataLst>
                  <p:tags r:id="rId23"/>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0" name="组合 199"/>
            <p:cNvGrpSpPr/>
            <p:nvPr/>
          </p:nvGrpSpPr>
          <p:grpSpPr>
            <a:xfrm rot="0">
              <a:off x="7427" y="1892"/>
              <a:ext cx="218" cy="1289"/>
              <a:chOff x="1827" y="4400"/>
              <a:chExt cx="218" cy="1289"/>
            </a:xfrm>
          </p:grpSpPr>
          <p:cxnSp>
            <p:nvCxnSpPr>
              <p:cNvPr id="201" name="直接连接符 200"/>
              <p:cNvCxnSpPr/>
              <p:nvPr>
                <p:custDataLst>
                  <p:tags r:id="rId24"/>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2" name="椭圆 201"/>
              <p:cNvSpPr/>
              <p:nvPr>
                <p:custDataLst>
                  <p:tags r:id="rId25"/>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3" name="组合 202"/>
            <p:cNvGrpSpPr/>
            <p:nvPr/>
          </p:nvGrpSpPr>
          <p:grpSpPr>
            <a:xfrm rot="0">
              <a:off x="9738" y="2288"/>
              <a:ext cx="219" cy="886"/>
              <a:chOff x="1827" y="4804"/>
              <a:chExt cx="219" cy="886"/>
            </a:xfrm>
          </p:grpSpPr>
          <p:cxnSp>
            <p:nvCxnSpPr>
              <p:cNvPr id="204" name="直接连接符 203"/>
              <p:cNvCxnSpPr/>
              <p:nvPr>
                <p:custDataLst>
                  <p:tags r:id="rId26"/>
                </p:custDataLst>
              </p:nvPr>
            </p:nvCxnSpPr>
            <p:spPr>
              <a:xfrm>
                <a:off x="1936" y="4804"/>
                <a:ext cx="0" cy="8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5" name="椭圆 204"/>
              <p:cNvSpPr/>
              <p:nvPr>
                <p:custDataLst>
                  <p:tags r:id="rId2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6" name="组合 205"/>
            <p:cNvGrpSpPr/>
            <p:nvPr/>
          </p:nvGrpSpPr>
          <p:grpSpPr>
            <a:xfrm rot="0">
              <a:off x="12910" y="2354"/>
              <a:ext cx="219" cy="831"/>
              <a:chOff x="1827" y="4859"/>
              <a:chExt cx="219" cy="831"/>
            </a:xfrm>
          </p:grpSpPr>
          <p:cxnSp>
            <p:nvCxnSpPr>
              <p:cNvPr id="207" name="直接连接符 206"/>
              <p:cNvCxnSpPr/>
              <p:nvPr>
                <p:custDataLst>
                  <p:tags r:id="rId28"/>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8" name="椭圆 207"/>
              <p:cNvSpPr/>
              <p:nvPr>
                <p:custDataLst>
                  <p:tags r:id="rId29"/>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09" name="文本框 208"/>
            <p:cNvSpPr txBox="1"/>
            <p:nvPr>
              <p:custDataLst>
                <p:tags r:id="rId30"/>
              </p:custDataLst>
            </p:nvPr>
          </p:nvSpPr>
          <p:spPr>
            <a:xfrm>
              <a:off x="4223" y="3182"/>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1960s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0" name="文本框 209"/>
            <p:cNvSpPr txBox="1"/>
            <p:nvPr>
              <p:custDataLst>
                <p:tags r:id="rId31"/>
              </p:custDataLst>
            </p:nvPr>
          </p:nvSpPr>
          <p:spPr>
            <a:xfrm>
              <a:off x="4912" y="4327"/>
              <a:ext cx="2465" cy="128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Expert Systems</a:t>
              </a:r>
              <a:endParaRPr lang="zh-CN" altLang="en-US" sz="1400">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专家系统</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11" name="文本框 210"/>
            <p:cNvSpPr txBox="1"/>
            <p:nvPr>
              <p:custDataLst>
                <p:tags r:id="rId32"/>
              </p:custDataLst>
            </p:nvPr>
          </p:nvSpPr>
          <p:spPr>
            <a:xfrm>
              <a:off x="6526" y="3167"/>
              <a:ext cx="1994"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1974-1993</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2" name="文本框 211"/>
            <p:cNvSpPr txBox="1"/>
            <p:nvPr>
              <p:custDataLst>
                <p:tags r:id="rId33"/>
              </p:custDataLst>
            </p:nvPr>
          </p:nvSpPr>
          <p:spPr>
            <a:xfrm>
              <a:off x="6303" y="1233"/>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人工智能寒潮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13" name="文本框 212"/>
            <p:cNvSpPr txBox="1"/>
            <p:nvPr>
              <p:custDataLst>
                <p:tags r:id="rId34"/>
              </p:custDataLst>
            </p:nvPr>
          </p:nvSpPr>
          <p:spPr>
            <a:xfrm>
              <a:off x="5541" y="2505"/>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1980s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4" name="文本框 213"/>
            <p:cNvSpPr txBox="1"/>
            <p:nvPr>
              <p:custDataLst>
                <p:tags r:id="rId35"/>
              </p:custDataLst>
            </p:nvPr>
          </p:nvSpPr>
          <p:spPr>
            <a:xfrm>
              <a:off x="7275" y="4288"/>
              <a:ext cx="3351" cy="128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NLPs </a:t>
              </a:r>
              <a:r>
                <a:rPr lang="zh-CN" altLang="en-US" sz="1400">
                  <a:solidFill>
                    <a:schemeClr val="accent6"/>
                  </a:solidFill>
                  <a:latin typeface="Times New Roman Bold" panose="02020603050405020304" charset="0"/>
                  <a:cs typeface="Times New Roman Bold" panose="02020603050405020304" charset="0"/>
                </a:rPr>
                <a:t>及</a:t>
              </a:r>
              <a:r>
                <a:rPr lang="en-US" altLang="zh-CN" sz="1400">
                  <a:solidFill>
                    <a:schemeClr val="accent6"/>
                  </a:solidFill>
                  <a:latin typeface="Times New Roman Bold" panose="02020603050405020304" charset="0"/>
                  <a:cs typeface="Times New Roman Bold" panose="02020603050405020304" charset="0"/>
                </a:rPr>
                <a:t>CVs</a:t>
              </a:r>
              <a:r>
                <a:rPr lang="zh-CN" altLang="en-US" sz="1400">
                  <a:solidFill>
                    <a:schemeClr val="accent6"/>
                  </a:solidFill>
                  <a:latin typeface="Times New Roman Bold" panose="02020603050405020304" charset="0"/>
                  <a:cs typeface="Times New Roman Bold" panose="02020603050405020304" charset="0"/>
                </a:rPr>
                <a:t>系统</a:t>
              </a:r>
              <a:endParaRPr lang="zh-CN" altLang="en-US" sz="1400">
                <a:solidFill>
                  <a:schemeClr val="accent6"/>
                </a:solidFill>
                <a:latin typeface="Times New Roman Bold" panose="02020603050405020304" charset="0"/>
                <a:cs typeface="Times New Roman Bold" panose="02020603050405020304" charset="0"/>
              </a:endParaRPr>
            </a:p>
            <a:p>
              <a:pPr algn="ctr"/>
              <a:r>
                <a:rPr lang="en-US" altLang="zh-CN" sz="1400">
                  <a:solidFill>
                    <a:schemeClr val="accent6"/>
                  </a:solidFill>
                  <a:latin typeface="Times New Roman Bold" panose="02020603050405020304" charset="0"/>
                  <a:cs typeface="Times New Roman Bold" panose="02020603050405020304" charset="0"/>
                </a:rPr>
                <a:t>( HMM &amp;&amp; CNNs )</a:t>
              </a:r>
              <a:endParaRPr lang="en-US" altLang="zh-CN" sz="1400">
                <a:solidFill>
                  <a:schemeClr val="accent6"/>
                </a:solidFill>
                <a:latin typeface="Times New Roman Bold" panose="02020603050405020304" charset="0"/>
                <a:cs typeface="Times New Roman Bold" panose="02020603050405020304" charset="0"/>
              </a:endParaRPr>
            </a:p>
          </p:txBody>
        </p:sp>
        <p:sp>
          <p:nvSpPr>
            <p:cNvPr id="215" name="文本框 214"/>
            <p:cNvSpPr txBox="1"/>
            <p:nvPr>
              <p:custDataLst>
                <p:tags r:id="rId36"/>
              </p:custDataLst>
            </p:nvPr>
          </p:nvSpPr>
          <p:spPr>
            <a:xfrm>
              <a:off x="8360" y="2441"/>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6" name="文本框 215"/>
            <p:cNvSpPr txBox="1"/>
            <p:nvPr>
              <p:custDataLst>
                <p:tags r:id="rId37"/>
              </p:custDataLst>
            </p:nvPr>
          </p:nvSpPr>
          <p:spPr>
            <a:xfrm>
              <a:off x="8519" y="3092"/>
              <a:ext cx="1932" cy="128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the late 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7" name="文本框 216"/>
            <p:cNvSpPr txBox="1"/>
            <p:nvPr>
              <p:custDataLst>
                <p:tags r:id="rId38"/>
              </p:custDataLst>
            </p:nvPr>
          </p:nvSpPr>
          <p:spPr>
            <a:xfrm>
              <a:off x="8878" y="1553"/>
              <a:ext cx="1940" cy="1132"/>
            </a:xfrm>
            <a:prstGeom prst="rect">
              <a:avLst/>
            </a:prstGeom>
            <a:noFill/>
          </p:spPr>
          <p:txBody>
            <a:bodyPr wrap="square" rtlCol="0" anchor="t">
              <a:spAutoFit/>
            </a:bodyPr>
            <a:p>
              <a:pPr algn="ctr"/>
              <a:r>
                <a:rPr lang="en-US" altLang="zh-CN" sz="1200">
                  <a:solidFill>
                    <a:schemeClr val="tx1"/>
                  </a:solidFill>
                  <a:latin typeface="Times New Roman Bold" panose="02020603050405020304" charset="0"/>
                  <a:cs typeface="Times New Roman Bold" panose="02020603050405020304" charset="0"/>
                  <a:sym typeface="+mn-ea"/>
                </a:rPr>
                <a:t>RNNs</a:t>
              </a:r>
              <a:endParaRPr lang="en-US" altLang="zh-CN" sz="1200">
                <a:solidFill>
                  <a:schemeClr val="tx1"/>
                </a:solidFill>
                <a:latin typeface="Times New Roman Bold" panose="02020603050405020304" charset="0"/>
                <a:cs typeface="Times New Roman Bold" panose="02020603050405020304" charset="0"/>
                <a:sym typeface="+mn-ea"/>
              </a:endParaRPr>
            </a:p>
            <a:p>
              <a:pPr algn="ctr"/>
              <a:endParaRPr lang="en-US" altLang="zh-CN" sz="1200">
                <a:solidFill>
                  <a:schemeClr val="tx1"/>
                </a:solidFill>
                <a:latin typeface="Times New Roman Bold" panose="02020603050405020304" charset="0"/>
                <a:cs typeface="Times New Roman Bold" panose="02020603050405020304" charset="0"/>
                <a:sym typeface="+mn-ea"/>
              </a:endParaRPr>
            </a:p>
          </p:txBody>
        </p:sp>
        <p:grpSp>
          <p:nvGrpSpPr>
            <p:cNvPr id="218" name="组合 217"/>
            <p:cNvGrpSpPr/>
            <p:nvPr/>
          </p:nvGrpSpPr>
          <p:grpSpPr>
            <a:xfrm rot="0">
              <a:off x="11241" y="1114"/>
              <a:ext cx="219" cy="2047"/>
              <a:chOff x="1827" y="3643"/>
              <a:chExt cx="219" cy="2047"/>
            </a:xfrm>
          </p:grpSpPr>
          <p:cxnSp>
            <p:nvCxnSpPr>
              <p:cNvPr id="219" name="直接连接符 218"/>
              <p:cNvCxnSpPr/>
              <p:nvPr>
                <p:custDataLst>
                  <p:tags r:id="rId39"/>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20" name="椭圆 219"/>
              <p:cNvSpPr/>
              <p:nvPr>
                <p:custDataLst>
                  <p:tags r:id="rId4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21" name="文本框 220"/>
            <p:cNvSpPr txBox="1"/>
            <p:nvPr>
              <p:custDataLst>
                <p:tags r:id="rId41"/>
              </p:custDataLst>
            </p:nvPr>
          </p:nvSpPr>
          <p:spPr>
            <a:xfrm>
              <a:off x="10120" y="3055"/>
              <a:ext cx="2226"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2000s-2010s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2" name="文本框 221"/>
            <p:cNvSpPr txBox="1"/>
            <p:nvPr>
              <p:custDataLst>
                <p:tags r:id="rId42"/>
              </p:custDataLst>
            </p:nvPr>
          </p:nvSpPr>
          <p:spPr>
            <a:xfrm>
              <a:off x="10121"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人工智能复兴</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23" name="文本框 222"/>
            <p:cNvSpPr txBox="1"/>
            <p:nvPr>
              <p:custDataLst>
                <p:tags r:id="rId43"/>
              </p:custDataLst>
            </p:nvPr>
          </p:nvSpPr>
          <p:spPr>
            <a:xfrm>
              <a:off x="3595" y="752"/>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人工智能热潮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24" name="文本框 223"/>
            <p:cNvSpPr txBox="1"/>
            <p:nvPr>
              <p:custDataLst>
                <p:tags r:id="rId44"/>
              </p:custDataLst>
            </p:nvPr>
          </p:nvSpPr>
          <p:spPr>
            <a:xfrm>
              <a:off x="11522" y="245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2009</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5" name="文本框 224"/>
            <p:cNvSpPr txBox="1"/>
            <p:nvPr>
              <p:custDataLst>
                <p:tags r:id="rId45"/>
              </p:custDataLst>
            </p:nvPr>
          </p:nvSpPr>
          <p:spPr>
            <a:xfrm>
              <a:off x="10766" y="4327"/>
              <a:ext cx="2770" cy="128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ImageNet </a:t>
              </a:r>
              <a:r>
                <a:rPr lang="zh-CN" altLang="en-US" sz="1400">
                  <a:solidFill>
                    <a:schemeClr val="tx1"/>
                  </a:solidFill>
                  <a:latin typeface="Times New Roman Bold" panose="02020603050405020304" charset="0"/>
                  <a:cs typeface="Times New Roman Bold" panose="02020603050405020304" charset="0"/>
                </a:rPr>
                <a:t>引入</a:t>
              </a:r>
              <a:r>
                <a:rPr lang="en-US" altLang="zh-CN" sz="1400">
                  <a:solidFill>
                    <a:schemeClr val="tx1"/>
                  </a:solidFill>
                  <a:latin typeface="Times New Roman Bold" panose="02020603050405020304" charset="0"/>
                  <a:cs typeface="Times New Roman Bold" panose="02020603050405020304" charset="0"/>
                </a:rPr>
                <a:t> CNN</a:t>
              </a:r>
              <a:endParaRPr lang="en-US" altLang="zh-CN" sz="1400">
                <a:solidFill>
                  <a:schemeClr val="tx1"/>
                </a:solidFill>
                <a:latin typeface="Times New Roman Bold" panose="02020603050405020304" charset="0"/>
                <a:cs typeface="Times New Roman Bold" panose="02020603050405020304" charset="0"/>
              </a:endParaRPr>
            </a:p>
          </p:txBody>
        </p:sp>
        <p:sp>
          <p:nvSpPr>
            <p:cNvPr id="226" name="文本框 225"/>
            <p:cNvSpPr txBox="1"/>
            <p:nvPr>
              <p:custDataLst>
                <p:tags r:id="rId46"/>
              </p:custDataLst>
            </p:nvPr>
          </p:nvSpPr>
          <p:spPr>
            <a:xfrm>
              <a:off x="11905" y="1417"/>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AI</a:t>
              </a:r>
              <a:r>
                <a:rPr lang="zh-CN" altLang="en-US" sz="1400">
                  <a:solidFill>
                    <a:schemeClr val="tx1"/>
                  </a:solidFill>
                  <a:latin typeface="Times New Roman Bold" panose="02020603050405020304" charset="0"/>
                  <a:cs typeface="Times New Roman Bold" panose="02020603050405020304" charset="0"/>
                </a:rPr>
                <a:t>广泛</a:t>
              </a:r>
              <a:r>
                <a:rPr lang="zh-CN" altLang="en-US" sz="1400">
                  <a:solidFill>
                    <a:schemeClr val="tx1"/>
                  </a:solidFill>
                  <a:latin typeface="Times New Roman Bold" panose="02020603050405020304" charset="0"/>
                  <a:cs typeface="Times New Roman Bold" panose="02020603050405020304" charset="0"/>
                </a:rPr>
                <a:t>应用</a:t>
              </a:r>
              <a:endParaRPr lang="zh-CN" altLang="en-US" sz="1400">
                <a:solidFill>
                  <a:schemeClr val="tx1"/>
                </a:solidFill>
                <a:latin typeface="Times New Roman Bold" panose="02020603050405020304" charset="0"/>
                <a:cs typeface="Times New Roman Bold" panose="02020603050405020304" charset="0"/>
              </a:endParaRPr>
            </a:p>
          </p:txBody>
        </p:sp>
        <p:sp>
          <p:nvSpPr>
            <p:cNvPr id="227" name="文本框 226"/>
            <p:cNvSpPr txBox="1"/>
            <p:nvPr>
              <p:custDataLst>
                <p:tags r:id="rId47"/>
              </p:custDataLst>
            </p:nvPr>
          </p:nvSpPr>
          <p:spPr>
            <a:xfrm>
              <a:off x="12391" y="3167"/>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8" name="文本框 227"/>
            <p:cNvSpPr txBox="1"/>
            <p:nvPr>
              <p:custDataLst>
                <p:tags r:id="rId48"/>
              </p:custDataLst>
            </p:nvPr>
          </p:nvSpPr>
          <p:spPr>
            <a:xfrm>
              <a:off x="14429" y="4302"/>
              <a:ext cx="246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Transformer</a:t>
              </a:r>
              <a:endParaRPr lang="en-US" altLang="zh-CN" sz="1400">
                <a:solidFill>
                  <a:schemeClr val="accent6"/>
                </a:solidFill>
                <a:latin typeface="Times New Roman Bold" panose="02020603050405020304" charset="0"/>
                <a:cs typeface="Times New Roman Bold" panose="02020603050405020304" charset="0"/>
              </a:endParaRPr>
            </a:p>
          </p:txBody>
        </p:sp>
        <p:sp>
          <p:nvSpPr>
            <p:cNvPr id="229" name="文本框 228"/>
            <p:cNvSpPr txBox="1"/>
            <p:nvPr>
              <p:custDataLst>
                <p:tags r:id="rId49"/>
              </p:custDataLst>
            </p:nvPr>
          </p:nvSpPr>
          <p:spPr>
            <a:xfrm>
              <a:off x="15020" y="2442"/>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2017</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30" name="文本框 229"/>
            <p:cNvSpPr txBox="1"/>
            <p:nvPr>
              <p:custDataLst>
                <p:tags r:id="rId50"/>
              </p:custDataLst>
            </p:nvPr>
          </p:nvSpPr>
          <p:spPr>
            <a:xfrm>
              <a:off x="15389"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人工智能高峰</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231" name="组合 230"/>
            <p:cNvGrpSpPr/>
            <p:nvPr/>
          </p:nvGrpSpPr>
          <p:grpSpPr>
            <a:xfrm rot="0">
              <a:off x="16513" y="1135"/>
              <a:ext cx="219" cy="2047"/>
              <a:chOff x="1827" y="3643"/>
              <a:chExt cx="219" cy="2047"/>
            </a:xfrm>
          </p:grpSpPr>
          <p:cxnSp>
            <p:nvCxnSpPr>
              <p:cNvPr id="232" name="直接连接符 231"/>
              <p:cNvCxnSpPr/>
              <p:nvPr>
                <p:custDataLst>
                  <p:tags r:id="rId51"/>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3" name="椭圆 232"/>
              <p:cNvSpPr/>
              <p:nvPr>
                <p:custDataLst>
                  <p:tags r:id="rId52"/>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4" name="文本框 233"/>
            <p:cNvSpPr txBox="1"/>
            <p:nvPr>
              <p:custDataLst>
                <p:tags r:id="rId53"/>
              </p:custDataLst>
            </p:nvPr>
          </p:nvSpPr>
          <p:spPr>
            <a:xfrm>
              <a:off x="16412" y="318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2020s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35" name="文本框 234"/>
            <p:cNvSpPr txBox="1"/>
            <p:nvPr>
              <p:custDataLst>
                <p:tags r:id="rId54"/>
              </p:custDataLst>
            </p:nvPr>
          </p:nvSpPr>
          <p:spPr>
            <a:xfrm>
              <a:off x="13449" y="2454"/>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2012</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236" name="组合 235"/>
            <p:cNvGrpSpPr/>
            <p:nvPr/>
          </p:nvGrpSpPr>
          <p:grpSpPr>
            <a:xfrm rot="0" flipV="1">
              <a:off x="13969" y="2961"/>
              <a:ext cx="219" cy="782"/>
              <a:chOff x="1827" y="4908"/>
              <a:chExt cx="219" cy="782"/>
            </a:xfrm>
          </p:grpSpPr>
          <p:cxnSp>
            <p:nvCxnSpPr>
              <p:cNvPr id="237" name="直接连接符 236"/>
              <p:cNvCxnSpPr/>
              <p:nvPr>
                <p:custDataLst>
                  <p:tags r:id="rId55"/>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8" name="椭圆 237"/>
              <p:cNvSpPr/>
              <p:nvPr>
                <p:custDataLst>
                  <p:tags r:id="rId5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9" name="文本框 238"/>
            <p:cNvSpPr txBox="1"/>
            <p:nvPr>
              <p:custDataLst>
                <p:tags r:id="rId57"/>
              </p:custDataLst>
            </p:nvPr>
          </p:nvSpPr>
          <p:spPr>
            <a:xfrm>
              <a:off x="13271" y="3767"/>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AlexNet</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240" name="组合 239"/>
            <p:cNvGrpSpPr/>
            <p:nvPr/>
          </p:nvGrpSpPr>
          <p:grpSpPr>
            <a:xfrm rot="0">
              <a:off x="14844" y="2325"/>
              <a:ext cx="219" cy="831"/>
              <a:chOff x="1827" y="4859"/>
              <a:chExt cx="219" cy="831"/>
            </a:xfrm>
          </p:grpSpPr>
          <p:cxnSp>
            <p:nvCxnSpPr>
              <p:cNvPr id="241" name="直接连接符 240"/>
              <p:cNvCxnSpPr/>
              <p:nvPr>
                <p:custDataLst>
                  <p:tags r:id="rId58"/>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2" name="椭圆 241"/>
              <p:cNvSpPr/>
              <p:nvPr>
                <p:custDataLst>
                  <p:tags r:id="rId59"/>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43" name="文本框 242"/>
            <p:cNvSpPr txBox="1"/>
            <p:nvPr>
              <p:custDataLst>
                <p:tags r:id="rId60"/>
              </p:custDataLst>
            </p:nvPr>
          </p:nvSpPr>
          <p:spPr>
            <a:xfrm>
              <a:off x="13735" y="1805"/>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Word2Vec</a:t>
              </a:r>
              <a:endParaRPr lang="en-US" altLang="zh-CN" sz="1400">
                <a:solidFill>
                  <a:schemeClr val="tx1"/>
                </a:solidFill>
                <a:latin typeface="Times New Roman Bold" panose="02020603050405020304" charset="0"/>
                <a:cs typeface="Times New Roman Bold" panose="02020603050405020304" charset="0"/>
              </a:endParaRPr>
            </a:p>
          </p:txBody>
        </p:sp>
        <p:sp>
          <p:nvSpPr>
            <p:cNvPr id="244" name="文本框 243"/>
            <p:cNvSpPr txBox="1"/>
            <p:nvPr>
              <p:custDataLst>
                <p:tags r:id="rId61"/>
              </p:custDataLst>
            </p:nvPr>
          </p:nvSpPr>
          <p:spPr>
            <a:xfrm>
              <a:off x="14325" y="3151"/>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2015s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245" name="组合 244"/>
            <p:cNvGrpSpPr/>
            <p:nvPr/>
          </p:nvGrpSpPr>
          <p:grpSpPr>
            <a:xfrm rot="0" flipV="1">
              <a:off x="16513" y="2969"/>
              <a:ext cx="219" cy="782"/>
              <a:chOff x="1827" y="4908"/>
              <a:chExt cx="219" cy="782"/>
            </a:xfrm>
          </p:grpSpPr>
          <p:cxnSp>
            <p:nvCxnSpPr>
              <p:cNvPr id="246" name="直接连接符 245"/>
              <p:cNvCxnSpPr/>
              <p:nvPr>
                <p:custDataLst>
                  <p:tags r:id="rId62"/>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7" name="椭圆 246"/>
              <p:cNvSpPr/>
              <p:nvPr>
                <p:custDataLst>
                  <p:tags r:id="rId63"/>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48" name="文本框 247"/>
            <p:cNvSpPr txBox="1"/>
            <p:nvPr>
              <p:custDataLst>
                <p:tags r:id="rId64"/>
              </p:custDataLst>
            </p:nvPr>
          </p:nvSpPr>
          <p:spPr>
            <a:xfrm>
              <a:off x="15767" y="3819"/>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GPT3</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249" name="组合 248"/>
            <p:cNvGrpSpPr/>
            <p:nvPr/>
          </p:nvGrpSpPr>
          <p:grpSpPr>
            <a:xfrm rot="0" flipV="1">
              <a:off x="17360" y="2955"/>
              <a:ext cx="219" cy="782"/>
              <a:chOff x="1827" y="4908"/>
              <a:chExt cx="219" cy="782"/>
            </a:xfrm>
          </p:grpSpPr>
          <p:cxnSp>
            <p:nvCxnSpPr>
              <p:cNvPr id="250" name="直接连接符 249"/>
              <p:cNvCxnSpPr/>
              <p:nvPr>
                <p:custDataLst>
                  <p:tags r:id="rId65"/>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51" name="椭圆 250"/>
              <p:cNvSpPr/>
              <p:nvPr>
                <p:custDataLst>
                  <p:tags r:id="rId6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52" name="文本框 251"/>
            <p:cNvSpPr txBox="1"/>
            <p:nvPr>
              <p:custDataLst>
                <p:tags r:id="rId67"/>
              </p:custDataLst>
            </p:nvPr>
          </p:nvSpPr>
          <p:spPr>
            <a:xfrm>
              <a:off x="16757" y="3795"/>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ChatGPT</a:t>
              </a:r>
              <a:endParaRPr lang="en-US" altLang="zh-CN" sz="1400">
                <a:solidFill>
                  <a:schemeClr val="accent6"/>
                </a:solidFill>
                <a:latin typeface="Times New Roman Bold" panose="02020603050405020304" charset="0"/>
                <a:cs typeface="Times New Roman Bold" panose="02020603050405020304" charset="0"/>
              </a:endParaRPr>
            </a:p>
          </p:txBody>
        </p:sp>
      </p:grpSp>
      <p:sp>
        <p:nvSpPr>
          <p:cNvPr id="253" name="矩形 252"/>
          <p:cNvSpPr/>
          <p:nvPr>
            <p:custDataLst>
              <p:tags r:id="rId68"/>
            </p:custDataLst>
          </p:nvPr>
        </p:nvSpPr>
        <p:spPr>
          <a:xfrm>
            <a:off x="8209915" y="1047750"/>
            <a:ext cx="2073275" cy="230187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6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标题 18"/>
          <p:cNvSpPr>
            <a:spLocks noGrp="1"/>
          </p:cNvSpPr>
          <p:nvPr>
            <p:ph type="title"/>
          </p:nvPr>
        </p:nvSpPr>
        <p:spPr/>
        <p:txBody>
          <a:bodyPr/>
          <a:p>
            <a:r>
              <a:rPr lang="zh-CN" altLang="en-US"/>
              <a:t>人工智能近四十年的发展</a:t>
            </a:r>
            <a:endParaRPr lang="zh-CN" altLang="en-US"/>
          </a:p>
        </p:txBody>
      </p:sp>
      <p:pic>
        <p:nvPicPr>
          <p:cNvPr id="10" name="图片 9" descr="3b403882-85d9-4143-9480-b0b97a85f8c3"/>
          <p:cNvPicPr>
            <a:picLocks noChangeAspect="1"/>
          </p:cNvPicPr>
          <p:nvPr>
            <p:custDataLst>
              <p:tags r:id="rId1"/>
            </p:custDataLst>
          </p:nvPr>
        </p:nvPicPr>
        <p:blipFill>
          <a:blip r:embed="rId2"/>
          <a:stretch>
            <a:fillRect/>
          </a:stretch>
        </p:blipFill>
        <p:spPr>
          <a:xfrm>
            <a:off x="10403840" y="6379845"/>
            <a:ext cx="1653540" cy="374015"/>
          </a:xfrm>
          <a:prstGeom prst="rect">
            <a:avLst/>
          </a:prstGeom>
        </p:spPr>
      </p:pic>
      <p:grpSp>
        <p:nvGrpSpPr>
          <p:cNvPr id="2" name="组合 1"/>
          <p:cNvGrpSpPr/>
          <p:nvPr/>
        </p:nvGrpSpPr>
        <p:grpSpPr>
          <a:xfrm>
            <a:off x="402590" y="4110990"/>
            <a:ext cx="2122805" cy="2167890"/>
            <a:chOff x="6160" y="5031"/>
            <a:chExt cx="2150" cy="2216"/>
          </a:xfrm>
        </p:grpSpPr>
        <p:sp>
          <p:nvSpPr>
            <p:cNvPr id="6" name="任意多边形 5"/>
            <p:cNvSpPr/>
            <p:nvPr>
              <p:custDataLst>
                <p:tags r:id="rId3"/>
              </p:custDataLst>
            </p:nvPr>
          </p:nvSpPr>
          <p:spPr>
            <a:xfrm>
              <a:off x="6160" y="5031"/>
              <a:ext cx="2151" cy="2217"/>
            </a:xfrm>
            <a:custGeom>
              <a:avLst/>
              <a:gdLst>
                <a:gd name="adj" fmla="val 444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4422" h="4557">
                  <a:moveTo>
                    <a:pt x="191" y="0"/>
                  </a:moveTo>
                  <a:lnTo>
                    <a:pt x="4231" y="0"/>
                  </a:lnTo>
                  <a:cubicBezTo>
                    <a:pt x="4336" y="0"/>
                    <a:pt x="4422" y="86"/>
                    <a:pt x="4422" y="191"/>
                  </a:cubicBezTo>
                  <a:lnTo>
                    <a:pt x="4422" y="4111"/>
                  </a:lnTo>
                  <a:cubicBezTo>
                    <a:pt x="4422" y="4216"/>
                    <a:pt x="4336" y="4302"/>
                    <a:pt x="4231" y="4302"/>
                  </a:cubicBezTo>
                  <a:lnTo>
                    <a:pt x="653" y="4302"/>
                  </a:lnTo>
                  <a:lnTo>
                    <a:pt x="398" y="4557"/>
                  </a:lnTo>
                  <a:lnTo>
                    <a:pt x="398" y="4302"/>
                  </a:lnTo>
                  <a:lnTo>
                    <a:pt x="191" y="4302"/>
                  </a:lnTo>
                  <a:cubicBezTo>
                    <a:pt x="86" y="4302"/>
                    <a:pt x="0" y="4216"/>
                    <a:pt x="0" y="4111"/>
                  </a:cubicBezTo>
                  <a:lnTo>
                    <a:pt x="0" y="191"/>
                  </a:lnTo>
                  <a:cubicBezTo>
                    <a:pt x="0" y="86"/>
                    <a:pt x="86" y="0"/>
                    <a:pt x="191" y="0"/>
                  </a:cubicBezTo>
                  <a:close/>
                </a:path>
              </a:pathLst>
            </a:custGeom>
            <a:solidFill>
              <a:schemeClr val="accent1">
                <a:alpha val="10000"/>
              </a:schemeClr>
            </a:solidFill>
            <a:ln>
              <a:solidFill>
                <a:schemeClr val="dk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9" name="文本框 8"/>
            <p:cNvSpPr txBox="1"/>
            <p:nvPr>
              <p:custDataLst>
                <p:tags r:id="rId4"/>
              </p:custDataLst>
            </p:nvPr>
          </p:nvSpPr>
          <p:spPr>
            <a:xfrm>
              <a:off x="6276" y="5117"/>
              <a:ext cx="1920" cy="1942"/>
            </a:xfrm>
            <a:prstGeom prst="rect">
              <a:avLst/>
            </a:prstGeom>
            <a:noFill/>
          </p:spPr>
          <p:txBody>
            <a:bodyPr wrap="square" rtlCol="0" anchor="ctr" anchorCtr="0">
              <a:normAutofit lnSpcReduction="10000"/>
            </a:bodyPr>
            <a:p>
              <a:pPr marL="0" lvl="0" indent="0" algn="l">
                <a:lnSpc>
                  <a:spcPct val="130000"/>
                </a:lnSpc>
                <a:spcBef>
                  <a:spcPts val="0"/>
                </a:spcBef>
                <a:spcAft>
                  <a:spcPts val="0"/>
                </a:spcAft>
                <a:buSzPct val="100000"/>
              </a:pPr>
              <a:r>
                <a:rPr lang="en-US" altLang="zh-CN" sz="1400" spc="150">
                  <a:solidFill>
                    <a:schemeClr val="dk1">
                      <a:lumMod val="85000"/>
                      <a:lumOff val="15000"/>
                    </a:schemeClr>
                  </a:solidFill>
                  <a:uFillTx/>
                  <a:latin typeface="Arial" panose="020B0604020202090204" pitchFamily="34" charset="0"/>
                  <a:ea typeface="微软雅黑" charset="-122"/>
                  <a:sym typeface="+mn-ea"/>
                </a:rPr>
                <a:t> 2020年-至今：大模型时代，这个时期标志着大规模深度学习模型（如GPT-3、GPT-4等）的兴起和广泛应用。</a:t>
              </a:r>
              <a:endParaRPr lang="en-US" altLang="zh-CN" sz="1400" spc="150">
                <a:solidFill>
                  <a:schemeClr val="dk1">
                    <a:lumMod val="85000"/>
                    <a:lumOff val="15000"/>
                  </a:schemeClr>
                </a:solidFill>
                <a:uFillTx/>
                <a:latin typeface="Arial" panose="020B0604020202090204" pitchFamily="34" charset="0"/>
                <a:ea typeface="微软雅黑" charset="-122"/>
              </a:endParaRPr>
            </a:p>
          </p:txBody>
        </p:sp>
      </p:grpSp>
      <p:sp>
        <p:nvSpPr>
          <p:cNvPr id="7" name="文本框 6"/>
          <p:cNvSpPr txBox="1"/>
          <p:nvPr/>
        </p:nvSpPr>
        <p:spPr>
          <a:xfrm>
            <a:off x="3337560" y="3720465"/>
            <a:ext cx="4809490" cy="1609725"/>
          </a:xfrm>
          <a:prstGeom prst="rect">
            <a:avLst/>
          </a:prstGeom>
          <a:noFill/>
        </p:spPr>
        <p:txBody>
          <a:bodyPr wrap="square" rtlCol="0" anchor="t">
            <a:spAutoFit/>
          </a:bodyPr>
          <a:p>
            <a:pPr marL="0" indent="0" fontAlgn="auto">
              <a:lnSpc>
                <a:spcPct val="100000"/>
              </a:lnSpc>
              <a:spcBef>
                <a:spcPts val="0"/>
              </a:spcBef>
              <a:spcAft>
                <a:spcPts val="800"/>
              </a:spcAft>
              <a:buNone/>
            </a:pPr>
            <a:r>
              <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rPr>
              <a:t>关键技术：</a:t>
            </a:r>
            <a:endPar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sz="1400" spc="170">
                <a:uFillTx/>
                <a:latin typeface="微软雅黑" charset="-122"/>
                <a:ea typeface="微软雅黑" charset="-122"/>
                <a:cs typeface="微软雅黑" charset="-122"/>
                <a:sym typeface="+mn-ea"/>
              </a:rPr>
              <a:t>2020：GPT-3</a:t>
            </a:r>
            <a:endParaRPr sz="1400" spc="17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sz="1400" spc="170">
                <a:uFillTx/>
                <a:latin typeface="微软雅黑" charset="-122"/>
                <a:ea typeface="微软雅黑" charset="-122"/>
                <a:cs typeface="微软雅黑" charset="-122"/>
                <a:sym typeface="+mn-ea"/>
              </a:rPr>
              <a:t>2021：多模态AI系统-CLIP和DALL·E</a:t>
            </a:r>
            <a:endParaRPr sz="1400" spc="17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sz="1400" spc="170">
                <a:uFillTx/>
                <a:latin typeface="微软雅黑" charset="-122"/>
                <a:ea typeface="微软雅黑" charset="-122"/>
                <a:cs typeface="微软雅黑" charset="-122"/>
                <a:sym typeface="+mn-ea"/>
              </a:rPr>
              <a:t>2022：ChatGPT</a:t>
            </a:r>
            <a:endParaRPr sz="1400" spc="170">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sz="1400" spc="170">
                <a:uFillTx/>
                <a:latin typeface="微软雅黑" charset="-122"/>
                <a:ea typeface="微软雅黑" charset="-122"/>
                <a:cs typeface="微软雅黑" charset="-122"/>
                <a:sym typeface="+mn-ea"/>
              </a:rPr>
              <a:t>2023：GPT-4</a:t>
            </a:r>
            <a:endParaRPr sz="1400" spc="170">
              <a:uFillTx/>
              <a:latin typeface="微软雅黑" charset="-122"/>
              <a:ea typeface="微软雅黑" charset="-122"/>
              <a:cs typeface="微软雅黑" charset="-122"/>
              <a:sym typeface="+mn-ea"/>
            </a:endParaRPr>
          </a:p>
        </p:txBody>
      </p:sp>
      <p:sp>
        <p:nvSpPr>
          <p:cNvPr id="8" name="文本框 7"/>
          <p:cNvSpPr txBox="1"/>
          <p:nvPr/>
        </p:nvSpPr>
        <p:spPr>
          <a:xfrm>
            <a:off x="3368675" y="5396865"/>
            <a:ext cx="4834890" cy="655320"/>
          </a:xfrm>
          <a:prstGeom prst="rect">
            <a:avLst/>
          </a:prstGeom>
          <a:noFill/>
        </p:spPr>
        <p:txBody>
          <a:bodyPr wrap="square" rtlCol="0" anchor="t">
            <a:spAutoFit/>
          </a:bodyPr>
          <a:p>
            <a:pPr marL="0" indent="0" fontAlgn="auto">
              <a:lnSpc>
                <a:spcPct val="100000"/>
              </a:lnSpc>
              <a:spcBef>
                <a:spcPts val="0"/>
              </a:spcBef>
              <a:spcAft>
                <a:spcPts val="800"/>
              </a:spcAft>
              <a:buNone/>
            </a:pPr>
            <a:r>
              <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rPr>
              <a:t>重大事件：</a:t>
            </a:r>
            <a:endParaRPr lang="zh-CN" altLang="en-US" sz="1600" b="1" spc="170">
              <a:solidFill>
                <a:schemeClr val="accent1"/>
              </a:solidFill>
              <a:effectLst>
                <a:outerShdw blurRad="38100" dist="25400" dir="5400000" algn="ctr" rotWithShape="0">
                  <a:srgbClr val="6E747A">
                    <a:alpha val="43000"/>
                  </a:srgbClr>
                </a:outerShdw>
              </a:effectLst>
              <a:uFillTx/>
              <a:latin typeface="微软雅黑" charset="-122"/>
              <a:ea typeface="微软雅黑" charset="-122"/>
              <a:cs typeface="微软雅黑" charset="-122"/>
              <a:sym typeface="+mn-ea"/>
            </a:endParaRPr>
          </a:p>
          <a:p>
            <a:pPr marL="0" indent="0" fontAlgn="auto">
              <a:lnSpc>
                <a:spcPct val="100000"/>
              </a:lnSpc>
              <a:spcBef>
                <a:spcPts val="0"/>
              </a:spcBef>
              <a:spcAft>
                <a:spcPts val="800"/>
              </a:spcAft>
              <a:buNone/>
            </a:pPr>
            <a:r>
              <a:rPr lang="zh-CN" altLang="en-US" sz="1400" spc="130">
                <a:uFillTx/>
                <a:latin typeface="微软雅黑" charset="-122"/>
                <a:ea typeface="微软雅黑" charset="-122"/>
                <a:cs typeface="微软雅黑" charset="-122"/>
                <a:sym typeface="+mn-ea"/>
              </a:rPr>
              <a:t>2021：AlphaFold2解决蛋白质折叠问题</a:t>
            </a:r>
            <a:endParaRPr lang="zh-CN" altLang="en-US" sz="1400" spc="130">
              <a:uFillTx/>
              <a:latin typeface="微软雅黑" charset="-122"/>
              <a:ea typeface="微软雅黑" charset="-122"/>
              <a:cs typeface="微软雅黑" charset="-122"/>
              <a:sym typeface="+mn-ea"/>
            </a:endParaRPr>
          </a:p>
        </p:txBody>
      </p:sp>
      <p:sp>
        <p:nvSpPr>
          <p:cNvPr id="67" name="波形 66"/>
          <p:cNvSpPr/>
          <p:nvPr/>
        </p:nvSpPr>
        <p:spPr>
          <a:xfrm>
            <a:off x="6836410" y="3471545"/>
            <a:ext cx="5443220" cy="817245"/>
          </a:xfrm>
          <a:prstGeom prst="wave">
            <a:avLst>
              <a:gd name="adj1" fmla="val 9090"/>
              <a:gd name="adj2" fmla="val 0"/>
            </a:avLst>
          </a:prstGeom>
          <a:solidFill>
            <a:schemeClr val="accent1">
              <a:lumMod val="20000"/>
              <a:lumOff val="80000"/>
            </a:schemeClr>
          </a:solidFill>
          <a:ln>
            <a:solidFill>
              <a:schemeClr val="accent4">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68" name="文本框 67"/>
          <p:cNvSpPr txBox="1"/>
          <p:nvPr/>
        </p:nvSpPr>
        <p:spPr>
          <a:xfrm>
            <a:off x="7138035" y="3535680"/>
            <a:ext cx="4888230" cy="645160"/>
          </a:xfrm>
          <a:prstGeom prst="rect">
            <a:avLst/>
          </a:prstGeom>
          <a:noFill/>
        </p:spPr>
        <p:txBody>
          <a:bodyPr wrap="square" rtlCol="0" anchor="t">
            <a:spAutoFit/>
          </a:bodyPr>
          <a:p>
            <a:pPr algn="ctr"/>
            <a:r>
              <a:rPr lang="zh-CN" altLang="en-US">
                <a:sym typeface="+mn-ea"/>
              </a:rPr>
              <a:t>应用产业：</a:t>
            </a:r>
            <a:r>
              <a:rPr lang="en-US">
                <a:sym typeface="+mn-ea"/>
              </a:rPr>
              <a:t>医疗、金融、制造业、交通等各行各业广泛应用，成为推动产业变革的关键技术</a:t>
            </a:r>
            <a:endParaRPr lang="en-US">
              <a:sym typeface="+mn-ea"/>
            </a:endParaRPr>
          </a:p>
        </p:txBody>
      </p:sp>
      <p:pic>
        <p:nvPicPr>
          <p:cNvPr id="18" name="Picture 3"/>
          <p:cNvPicPr>
            <a:picLocks noChangeAspect="1"/>
          </p:cNvPicPr>
          <p:nvPr/>
        </p:nvPicPr>
        <p:blipFill>
          <a:blip r:embed="rId5"/>
          <a:stretch>
            <a:fillRect/>
          </a:stretch>
        </p:blipFill>
        <p:spPr>
          <a:xfrm>
            <a:off x="7863840" y="4237990"/>
            <a:ext cx="3523615" cy="2014220"/>
          </a:xfrm>
          <a:prstGeom prst="rect">
            <a:avLst/>
          </a:prstGeom>
        </p:spPr>
      </p:pic>
      <p:grpSp>
        <p:nvGrpSpPr>
          <p:cNvPr id="167" name="组合 166"/>
          <p:cNvGrpSpPr/>
          <p:nvPr/>
        </p:nvGrpSpPr>
        <p:grpSpPr>
          <a:xfrm>
            <a:off x="1305560" y="1084777"/>
            <a:ext cx="9985375" cy="2087778"/>
            <a:chOff x="1023" y="476"/>
            <a:chExt cx="17349" cy="5135"/>
          </a:xfrm>
        </p:grpSpPr>
        <p:cxnSp>
          <p:nvCxnSpPr>
            <p:cNvPr id="169" name="直接箭头连接符 168"/>
            <p:cNvCxnSpPr/>
            <p:nvPr>
              <p:custDataLst>
                <p:tags r:id="rId6"/>
              </p:custDataLst>
            </p:nvPr>
          </p:nvCxnSpPr>
          <p:spPr>
            <a:xfrm flipV="1">
              <a:off x="1157" y="3048"/>
              <a:ext cx="16980" cy="44"/>
            </a:xfrm>
            <a:prstGeom prst="straightConnector1">
              <a:avLst/>
            </a:prstGeom>
            <a:ln w="57150">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70" name="文本框 169"/>
            <p:cNvSpPr txBox="1"/>
            <p:nvPr>
              <p:custDataLst>
                <p:tags r:id="rId7"/>
              </p:custDataLst>
            </p:nvPr>
          </p:nvSpPr>
          <p:spPr>
            <a:xfrm>
              <a:off x="1023" y="1235"/>
              <a:ext cx="2357" cy="754"/>
            </a:xfrm>
            <a:prstGeom prst="rect">
              <a:avLst/>
            </a:prstGeom>
            <a:noFill/>
          </p:spPr>
          <p:txBody>
            <a:bodyPr wrap="square" rtlCol="0">
              <a:spAutoFit/>
            </a:bodyPr>
            <a:p>
              <a:pPr algn="ctr">
                <a:buClrTx/>
                <a:buSzTx/>
                <a:buFontTx/>
              </a:pPr>
              <a:r>
                <a:rPr lang="zh-CN" altLang="en-US" sz="1400">
                  <a:solidFill>
                    <a:schemeClr val="accent6"/>
                  </a:solidFill>
                  <a:latin typeface="Times New Roman Bold" panose="02020603050405020304" charset="0"/>
                  <a:cs typeface="Times New Roman Bold" panose="02020603050405020304" charset="0"/>
                  <a:sym typeface="+mn-ea"/>
                </a:rPr>
                <a:t>达特茅斯会议</a:t>
              </a:r>
              <a:endParaRPr lang="zh-CN" altLang="en-US" sz="1400">
                <a:solidFill>
                  <a:schemeClr val="accent6"/>
                </a:solidFill>
                <a:latin typeface="Times New Roman Bold" panose="02020603050405020304" charset="0"/>
                <a:cs typeface="Times New Roman Bold" panose="02020603050405020304" charset="0"/>
                <a:sym typeface="+mn-ea"/>
              </a:endParaRPr>
            </a:p>
          </p:txBody>
        </p:sp>
        <p:sp>
          <p:nvSpPr>
            <p:cNvPr id="171" name="文本框 170"/>
            <p:cNvSpPr txBox="1"/>
            <p:nvPr>
              <p:custDataLst>
                <p:tags r:id="rId8"/>
              </p:custDataLst>
            </p:nvPr>
          </p:nvSpPr>
          <p:spPr>
            <a:xfrm>
              <a:off x="2108" y="4226"/>
              <a:ext cx="2465" cy="1284"/>
            </a:xfrm>
            <a:prstGeom prst="rect">
              <a:avLst/>
            </a:prstGeom>
            <a:noFill/>
          </p:spPr>
          <p:txBody>
            <a:bodyPr wrap="square" rtlCol="0">
              <a:spAutoFit/>
            </a:bodyPr>
            <a:p>
              <a:pPr algn="ctr"/>
              <a:r>
                <a:rPr lang="en-US" altLang="zh-CN" sz="1400" b="1">
                  <a:solidFill>
                    <a:schemeClr val="accent6"/>
                  </a:solidFill>
                  <a:latin typeface="Times New Roman Bold" panose="02020603050405020304" charset="0"/>
                  <a:cs typeface="Times New Roman Bold" panose="02020603050405020304" charset="0"/>
                </a:rPr>
                <a:t>The Perceptron</a:t>
              </a:r>
              <a:endParaRPr lang="en-US" altLang="zh-CN" sz="1600" b="1">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感知机</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172" name="组合 171"/>
            <p:cNvGrpSpPr/>
            <p:nvPr/>
          </p:nvGrpSpPr>
          <p:grpSpPr>
            <a:xfrm rot="0">
              <a:off x="2074" y="1892"/>
              <a:ext cx="218" cy="1289"/>
              <a:chOff x="1827" y="4400"/>
              <a:chExt cx="218" cy="1289"/>
            </a:xfrm>
          </p:grpSpPr>
          <p:cxnSp>
            <p:nvCxnSpPr>
              <p:cNvPr id="173" name="直接连接符 172"/>
              <p:cNvCxnSpPr/>
              <p:nvPr>
                <p:custDataLst>
                  <p:tags r:id="rId9"/>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4" name="椭圆 173"/>
              <p:cNvSpPr/>
              <p:nvPr>
                <p:custDataLst>
                  <p:tags r:id="rId1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5" name="文本框 174"/>
            <p:cNvSpPr txBox="1"/>
            <p:nvPr>
              <p:custDataLst>
                <p:tags r:id="rId11"/>
              </p:custDataLst>
            </p:nvPr>
          </p:nvSpPr>
          <p:spPr>
            <a:xfrm>
              <a:off x="1702" y="3182"/>
              <a:ext cx="1265"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1956</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76" name="组合 175"/>
            <p:cNvGrpSpPr/>
            <p:nvPr/>
          </p:nvGrpSpPr>
          <p:grpSpPr>
            <a:xfrm rot="0" flipV="1">
              <a:off x="3245" y="2949"/>
              <a:ext cx="218" cy="1289"/>
              <a:chOff x="1827" y="4400"/>
              <a:chExt cx="218" cy="1289"/>
            </a:xfrm>
          </p:grpSpPr>
          <p:cxnSp>
            <p:nvCxnSpPr>
              <p:cNvPr id="177" name="直接连接符 176"/>
              <p:cNvCxnSpPr/>
              <p:nvPr>
                <p:custDataLst>
                  <p:tags r:id="rId12"/>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8" name="椭圆 177"/>
              <p:cNvSpPr/>
              <p:nvPr>
                <p:custDataLst>
                  <p:tags r:id="rId13"/>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79" name="文本框 178"/>
            <p:cNvSpPr txBox="1"/>
            <p:nvPr>
              <p:custDataLst>
                <p:tags r:id="rId14"/>
              </p:custDataLst>
            </p:nvPr>
          </p:nvSpPr>
          <p:spPr>
            <a:xfrm>
              <a:off x="2891" y="2465"/>
              <a:ext cx="1331"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1958</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180" name="组合 179"/>
            <p:cNvGrpSpPr/>
            <p:nvPr/>
          </p:nvGrpSpPr>
          <p:grpSpPr>
            <a:xfrm rot="0" flipV="1">
              <a:off x="6036" y="2989"/>
              <a:ext cx="218" cy="1289"/>
              <a:chOff x="1827" y="4400"/>
              <a:chExt cx="218" cy="1289"/>
            </a:xfrm>
          </p:grpSpPr>
          <p:cxnSp>
            <p:nvCxnSpPr>
              <p:cNvPr id="181" name="直接连接符 180"/>
              <p:cNvCxnSpPr/>
              <p:nvPr>
                <p:custDataLst>
                  <p:tags r:id="rId15"/>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82" name="椭圆 181"/>
              <p:cNvSpPr/>
              <p:nvPr>
                <p:custDataLst>
                  <p:tags r:id="rId1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8" name="组合 187"/>
            <p:cNvGrpSpPr/>
            <p:nvPr/>
          </p:nvGrpSpPr>
          <p:grpSpPr>
            <a:xfrm rot="0" flipV="1">
              <a:off x="8847" y="3015"/>
              <a:ext cx="218" cy="1289"/>
              <a:chOff x="1827" y="4400"/>
              <a:chExt cx="218" cy="1289"/>
            </a:xfrm>
          </p:grpSpPr>
          <p:cxnSp>
            <p:nvCxnSpPr>
              <p:cNvPr id="189" name="直接连接符 188"/>
              <p:cNvCxnSpPr/>
              <p:nvPr>
                <p:custDataLst>
                  <p:tags r:id="rId17"/>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0" name="椭圆 189"/>
              <p:cNvSpPr/>
              <p:nvPr>
                <p:custDataLst>
                  <p:tags r:id="rId18"/>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1" name="组合 190"/>
            <p:cNvGrpSpPr/>
            <p:nvPr/>
          </p:nvGrpSpPr>
          <p:grpSpPr>
            <a:xfrm rot="0" flipV="1">
              <a:off x="12042" y="3015"/>
              <a:ext cx="218" cy="1289"/>
              <a:chOff x="1827" y="4400"/>
              <a:chExt cx="218" cy="1289"/>
            </a:xfrm>
          </p:grpSpPr>
          <p:cxnSp>
            <p:nvCxnSpPr>
              <p:cNvPr id="192" name="直接连接符 191"/>
              <p:cNvCxnSpPr/>
              <p:nvPr>
                <p:custDataLst>
                  <p:tags r:id="rId19"/>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3" name="椭圆 192"/>
              <p:cNvSpPr/>
              <p:nvPr>
                <p:custDataLst>
                  <p:tags r:id="rId2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4" name="组合 193"/>
            <p:cNvGrpSpPr/>
            <p:nvPr/>
          </p:nvGrpSpPr>
          <p:grpSpPr>
            <a:xfrm rot="0" flipV="1">
              <a:off x="15540" y="3015"/>
              <a:ext cx="218" cy="1289"/>
              <a:chOff x="1827" y="4400"/>
              <a:chExt cx="218" cy="1289"/>
            </a:xfrm>
          </p:grpSpPr>
          <p:cxnSp>
            <p:nvCxnSpPr>
              <p:cNvPr id="195" name="直接连接符 194"/>
              <p:cNvCxnSpPr/>
              <p:nvPr>
                <p:custDataLst>
                  <p:tags r:id="rId21"/>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6" name="椭圆 195"/>
              <p:cNvSpPr/>
              <p:nvPr>
                <p:custDataLst>
                  <p:tags r:id="rId22"/>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7" name="组合 196"/>
            <p:cNvGrpSpPr/>
            <p:nvPr/>
          </p:nvGrpSpPr>
          <p:grpSpPr>
            <a:xfrm rot="0">
              <a:off x="4718" y="1301"/>
              <a:ext cx="219" cy="1881"/>
              <a:chOff x="1827" y="3809"/>
              <a:chExt cx="219" cy="1881"/>
            </a:xfrm>
          </p:grpSpPr>
          <p:cxnSp>
            <p:nvCxnSpPr>
              <p:cNvPr id="198" name="直接连接符 197"/>
              <p:cNvCxnSpPr/>
              <p:nvPr>
                <p:custDataLst>
                  <p:tags r:id="rId23"/>
                </p:custDataLst>
              </p:nvPr>
            </p:nvCxnSpPr>
            <p:spPr>
              <a:xfrm>
                <a:off x="1936" y="3809"/>
                <a:ext cx="0" cy="182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9" name="椭圆 198"/>
              <p:cNvSpPr/>
              <p:nvPr>
                <p:custDataLst>
                  <p:tags r:id="rId2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0" name="组合 199"/>
            <p:cNvGrpSpPr/>
            <p:nvPr/>
          </p:nvGrpSpPr>
          <p:grpSpPr>
            <a:xfrm rot="0">
              <a:off x="7427" y="1892"/>
              <a:ext cx="218" cy="1289"/>
              <a:chOff x="1827" y="4400"/>
              <a:chExt cx="218" cy="1289"/>
            </a:xfrm>
          </p:grpSpPr>
          <p:cxnSp>
            <p:nvCxnSpPr>
              <p:cNvPr id="201" name="直接连接符 200"/>
              <p:cNvCxnSpPr/>
              <p:nvPr>
                <p:custDataLst>
                  <p:tags r:id="rId25"/>
                </p:custDataLst>
              </p:nvPr>
            </p:nvCxnSpPr>
            <p:spPr>
              <a:xfrm>
                <a:off x="1936" y="4400"/>
                <a:ext cx="0" cy="12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2" name="椭圆 201"/>
              <p:cNvSpPr/>
              <p:nvPr>
                <p:custDataLst>
                  <p:tags r:id="rId26"/>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3" name="组合 202"/>
            <p:cNvGrpSpPr/>
            <p:nvPr/>
          </p:nvGrpSpPr>
          <p:grpSpPr>
            <a:xfrm rot="0">
              <a:off x="9738" y="2288"/>
              <a:ext cx="219" cy="886"/>
              <a:chOff x="1827" y="4804"/>
              <a:chExt cx="219" cy="886"/>
            </a:xfrm>
          </p:grpSpPr>
          <p:cxnSp>
            <p:nvCxnSpPr>
              <p:cNvPr id="204" name="直接连接符 203"/>
              <p:cNvCxnSpPr/>
              <p:nvPr>
                <p:custDataLst>
                  <p:tags r:id="rId27"/>
                </p:custDataLst>
              </p:nvPr>
            </p:nvCxnSpPr>
            <p:spPr>
              <a:xfrm>
                <a:off x="1936" y="4804"/>
                <a:ext cx="0" cy="832"/>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5" name="椭圆 204"/>
              <p:cNvSpPr/>
              <p:nvPr>
                <p:custDataLst>
                  <p:tags r:id="rId28"/>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6" name="组合 205"/>
            <p:cNvGrpSpPr/>
            <p:nvPr/>
          </p:nvGrpSpPr>
          <p:grpSpPr>
            <a:xfrm rot="0">
              <a:off x="12910" y="2354"/>
              <a:ext cx="219" cy="831"/>
              <a:chOff x="1827" y="4859"/>
              <a:chExt cx="219" cy="831"/>
            </a:xfrm>
          </p:grpSpPr>
          <p:cxnSp>
            <p:nvCxnSpPr>
              <p:cNvPr id="207" name="直接连接符 206"/>
              <p:cNvCxnSpPr/>
              <p:nvPr>
                <p:custDataLst>
                  <p:tags r:id="rId29"/>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08" name="椭圆 207"/>
              <p:cNvSpPr/>
              <p:nvPr>
                <p:custDataLst>
                  <p:tags r:id="rId3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09" name="文本框 208"/>
            <p:cNvSpPr txBox="1"/>
            <p:nvPr>
              <p:custDataLst>
                <p:tags r:id="rId31"/>
              </p:custDataLst>
            </p:nvPr>
          </p:nvSpPr>
          <p:spPr>
            <a:xfrm>
              <a:off x="4223" y="3182"/>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1960s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0" name="文本框 209"/>
            <p:cNvSpPr txBox="1"/>
            <p:nvPr>
              <p:custDataLst>
                <p:tags r:id="rId32"/>
              </p:custDataLst>
            </p:nvPr>
          </p:nvSpPr>
          <p:spPr>
            <a:xfrm>
              <a:off x="4912" y="4327"/>
              <a:ext cx="2465" cy="128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Expert Systems</a:t>
              </a:r>
              <a:endParaRPr lang="zh-CN" altLang="en-US" sz="1400">
                <a:solidFill>
                  <a:schemeClr val="accent6"/>
                </a:solidFill>
                <a:latin typeface="Times New Roman Bold" panose="02020603050405020304" charset="0"/>
                <a:cs typeface="Times New Roman Bold" panose="02020603050405020304" charset="0"/>
              </a:endParaRPr>
            </a:p>
            <a:p>
              <a:pPr algn="ctr"/>
              <a:r>
                <a:rPr lang="zh-CN" altLang="en-US" sz="1400">
                  <a:solidFill>
                    <a:schemeClr val="accent6"/>
                  </a:solidFill>
                  <a:latin typeface="Times New Roman Bold" panose="02020603050405020304" charset="0"/>
                  <a:cs typeface="Times New Roman Bold" panose="02020603050405020304" charset="0"/>
                </a:rPr>
                <a:t>专家系统</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11" name="文本框 210"/>
            <p:cNvSpPr txBox="1"/>
            <p:nvPr>
              <p:custDataLst>
                <p:tags r:id="rId33"/>
              </p:custDataLst>
            </p:nvPr>
          </p:nvSpPr>
          <p:spPr>
            <a:xfrm>
              <a:off x="6526" y="3167"/>
              <a:ext cx="1994"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1974-1993</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2" name="文本框 211"/>
            <p:cNvSpPr txBox="1"/>
            <p:nvPr>
              <p:custDataLst>
                <p:tags r:id="rId34"/>
              </p:custDataLst>
            </p:nvPr>
          </p:nvSpPr>
          <p:spPr>
            <a:xfrm>
              <a:off x="6303" y="1233"/>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人工智能寒潮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13" name="文本框 212"/>
            <p:cNvSpPr txBox="1"/>
            <p:nvPr>
              <p:custDataLst>
                <p:tags r:id="rId35"/>
              </p:custDataLst>
            </p:nvPr>
          </p:nvSpPr>
          <p:spPr>
            <a:xfrm>
              <a:off x="5541" y="2505"/>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1980s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4" name="文本框 213"/>
            <p:cNvSpPr txBox="1"/>
            <p:nvPr>
              <p:custDataLst>
                <p:tags r:id="rId36"/>
              </p:custDataLst>
            </p:nvPr>
          </p:nvSpPr>
          <p:spPr>
            <a:xfrm>
              <a:off x="7275" y="4288"/>
              <a:ext cx="3351" cy="128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NLPs </a:t>
              </a:r>
              <a:r>
                <a:rPr lang="zh-CN" altLang="en-US" sz="1400">
                  <a:solidFill>
                    <a:schemeClr val="accent6"/>
                  </a:solidFill>
                  <a:latin typeface="Times New Roman Bold" panose="02020603050405020304" charset="0"/>
                  <a:cs typeface="Times New Roman Bold" panose="02020603050405020304" charset="0"/>
                </a:rPr>
                <a:t>及</a:t>
              </a:r>
              <a:r>
                <a:rPr lang="en-US" altLang="zh-CN" sz="1400">
                  <a:solidFill>
                    <a:schemeClr val="accent6"/>
                  </a:solidFill>
                  <a:latin typeface="Times New Roman Bold" panose="02020603050405020304" charset="0"/>
                  <a:cs typeface="Times New Roman Bold" panose="02020603050405020304" charset="0"/>
                </a:rPr>
                <a:t>CVs</a:t>
              </a:r>
              <a:r>
                <a:rPr lang="zh-CN" altLang="en-US" sz="1400">
                  <a:solidFill>
                    <a:schemeClr val="accent6"/>
                  </a:solidFill>
                  <a:latin typeface="Times New Roman Bold" panose="02020603050405020304" charset="0"/>
                  <a:cs typeface="Times New Roman Bold" panose="02020603050405020304" charset="0"/>
                </a:rPr>
                <a:t>系统</a:t>
              </a:r>
              <a:endParaRPr lang="zh-CN" altLang="en-US" sz="1400">
                <a:solidFill>
                  <a:schemeClr val="accent6"/>
                </a:solidFill>
                <a:latin typeface="Times New Roman Bold" panose="02020603050405020304" charset="0"/>
                <a:cs typeface="Times New Roman Bold" panose="02020603050405020304" charset="0"/>
              </a:endParaRPr>
            </a:p>
            <a:p>
              <a:pPr algn="ctr"/>
              <a:r>
                <a:rPr lang="en-US" altLang="zh-CN" sz="1400">
                  <a:solidFill>
                    <a:schemeClr val="accent6"/>
                  </a:solidFill>
                  <a:latin typeface="Times New Roman Bold" panose="02020603050405020304" charset="0"/>
                  <a:cs typeface="Times New Roman Bold" panose="02020603050405020304" charset="0"/>
                </a:rPr>
                <a:t>( HMM &amp;&amp; CNNs )</a:t>
              </a:r>
              <a:endParaRPr lang="en-US" altLang="zh-CN" sz="1400">
                <a:solidFill>
                  <a:schemeClr val="accent6"/>
                </a:solidFill>
                <a:latin typeface="Times New Roman Bold" panose="02020603050405020304" charset="0"/>
                <a:cs typeface="Times New Roman Bold" panose="02020603050405020304" charset="0"/>
              </a:endParaRPr>
            </a:p>
          </p:txBody>
        </p:sp>
        <p:sp>
          <p:nvSpPr>
            <p:cNvPr id="215" name="文本框 214"/>
            <p:cNvSpPr txBox="1"/>
            <p:nvPr>
              <p:custDataLst>
                <p:tags r:id="rId37"/>
              </p:custDataLst>
            </p:nvPr>
          </p:nvSpPr>
          <p:spPr>
            <a:xfrm>
              <a:off x="8360" y="2441"/>
              <a:ext cx="1207"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6" name="文本框 215"/>
            <p:cNvSpPr txBox="1"/>
            <p:nvPr>
              <p:custDataLst>
                <p:tags r:id="rId38"/>
              </p:custDataLst>
            </p:nvPr>
          </p:nvSpPr>
          <p:spPr>
            <a:xfrm>
              <a:off x="8519" y="3092"/>
              <a:ext cx="1932" cy="128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the late 1990s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17" name="文本框 216"/>
            <p:cNvSpPr txBox="1"/>
            <p:nvPr>
              <p:custDataLst>
                <p:tags r:id="rId39"/>
              </p:custDataLst>
            </p:nvPr>
          </p:nvSpPr>
          <p:spPr>
            <a:xfrm>
              <a:off x="8878" y="1553"/>
              <a:ext cx="1940" cy="1132"/>
            </a:xfrm>
            <a:prstGeom prst="rect">
              <a:avLst/>
            </a:prstGeom>
            <a:noFill/>
          </p:spPr>
          <p:txBody>
            <a:bodyPr wrap="square" rtlCol="0" anchor="t">
              <a:spAutoFit/>
            </a:bodyPr>
            <a:p>
              <a:pPr algn="ctr"/>
              <a:r>
                <a:rPr lang="en-US" altLang="zh-CN" sz="1200">
                  <a:solidFill>
                    <a:schemeClr val="tx1"/>
                  </a:solidFill>
                  <a:latin typeface="Times New Roman Bold" panose="02020603050405020304" charset="0"/>
                  <a:cs typeface="Times New Roman Bold" panose="02020603050405020304" charset="0"/>
                  <a:sym typeface="+mn-ea"/>
                </a:rPr>
                <a:t>RNNs</a:t>
              </a:r>
              <a:endParaRPr lang="en-US" altLang="zh-CN" sz="1200">
                <a:solidFill>
                  <a:schemeClr val="tx1"/>
                </a:solidFill>
                <a:latin typeface="Times New Roman Bold" panose="02020603050405020304" charset="0"/>
                <a:cs typeface="Times New Roman Bold" panose="02020603050405020304" charset="0"/>
                <a:sym typeface="+mn-ea"/>
              </a:endParaRPr>
            </a:p>
            <a:p>
              <a:pPr algn="ctr"/>
              <a:endParaRPr lang="en-US" altLang="zh-CN" sz="1200">
                <a:solidFill>
                  <a:schemeClr val="tx1"/>
                </a:solidFill>
                <a:latin typeface="Times New Roman Bold" panose="02020603050405020304" charset="0"/>
                <a:cs typeface="Times New Roman Bold" panose="02020603050405020304" charset="0"/>
                <a:sym typeface="+mn-ea"/>
              </a:endParaRPr>
            </a:p>
          </p:txBody>
        </p:sp>
        <p:grpSp>
          <p:nvGrpSpPr>
            <p:cNvPr id="218" name="组合 217"/>
            <p:cNvGrpSpPr/>
            <p:nvPr/>
          </p:nvGrpSpPr>
          <p:grpSpPr>
            <a:xfrm rot="0">
              <a:off x="11241" y="1114"/>
              <a:ext cx="219" cy="2047"/>
              <a:chOff x="1827" y="3643"/>
              <a:chExt cx="219" cy="2047"/>
            </a:xfrm>
          </p:grpSpPr>
          <p:cxnSp>
            <p:nvCxnSpPr>
              <p:cNvPr id="219" name="直接连接符 218"/>
              <p:cNvCxnSpPr/>
              <p:nvPr>
                <p:custDataLst>
                  <p:tags r:id="rId40"/>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20" name="椭圆 219"/>
              <p:cNvSpPr/>
              <p:nvPr>
                <p:custDataLst>
                  <p:tags r:id="rId41"/>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21" name="文本框 220"/>
            <p:cNvSpPr txBox="1"/>
            <p:nvPr>
              <p:custDataLst>
                <p:tags r:id="rId42"/>
              </p:custDataLst>
            </p:nvPr>
          </p:nvSpPr>
          <p:spPr>
            <a:xfrm>
              <a:off x="10120" y="3055"/>
              <a:ext cx="2226"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2000s-2010s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2" name="文本框 221"/>
            <p:cNvSpPr txBox="1"/>
            <p:nvPr>
              <p:custDataLst>
                <p:tags r:id="rId43"/>
              </p:custDataLst>
            </p:nvPr>
          </p:nvSpPr>
          <p:spPr>
            <a:xfrm>
              <a:off x="10121"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人工智能复兴</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23" name="文本框 222"/>
            <p:cNvSpPr txBox="1"/>
            <p:nvPr>
              <p:custDataLst>
                <p:tags r:id="rId44"/>
              </p:custDataLst>
            </p:nvPr>
          </p:nvSpPr>
          <p:spPr>
            <a:xfrm>
              <a:off x="3595" y="752"/>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人工智能热潮</a:t>
              </a:r>
              <a:endParaRPr lang="zh-CN" altLang="en-US" sz="1400">
                <a:solidFill>
                  <a:schemeClr val="accent6"/>
                </a:solidFill>
                <a:latin typeface="Times New Roman Bold" panose="02020603050405020304" charset="0"/>
                <a:cs typeface="Times New Roman Bold" panose="02020603050405020304" charset="0"/>
              </a:endParaRPr>
            </a:p>
          </p:txBody>
        </p:sp>
        <p:sp>
          <p:nvSpPr>
            <p:cNvPr id="224" name="文本框 223"/>
            <p:cNvSpPr txBox="1"/>
            <p:nvPr>
              <p:custDataLst>
                <p:tags r:id="rId45"/>
              </p:custDataLst>
            </p:nvPr>
          </p:nvSpPr>
          <p:spPr>
            <a:xfrm>
              <a:off x="11522" y="245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2009</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5" name="文本框 224"/>
            <p:cNvSpPr txBox="1"/>
            <p:nvPr>
              <p:custDataLst>
                <p:tags r:id="rId46"/>
              </p:custDataLst>
            </p:nvPr>
          </p:nvSpPr>
          <p:spPr>
            <a:xfrm>
              <a:off x="10766" y="4327"/>
              <a:ext cx="2770" cy="128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ImageNet </a:t>
              </a:r>
              <a:r>
                <a:rPr lang="zh-CN" altLang="en-US" sz="1400">
                  <a:solidFill>
                    <a:schemeClr val="tx1"/>
                  </a:solidFill>
                  <a:latin typeface="Times New Roman Bold" panose="02020603050405020304" charset="0"/>
                  <a:cs typeface="Times New Roman Bold" panose="02020603050405020304" charset="0"/>
                </a:rPr>
                <a:t>引入</a:t>
              </a:r>
              <a:r>
                <a:rPr lang="en-US" altLang="zh-CN" sz="1400">
                  <a:solidFill>
                    <a:schemeClr val="tx1"/>
                  </a:solidFill>
                  <a:latin typeface="Times New Roman Bold" panose="02020603050405020304" charset="0"/>
                  <a:cs typeface="Times New Roman Bold" panose="02020603050405020304" charset="0"/>
                </a:rPr>
                <a:t> CNN</a:t>
              </a:r>
              <a:endParaRPr lang="en-US" altLang="zh-CN" sz="1400">
                <a:solidFill>
                  <a:schemeClr val="tx1"/>
                </a:solidFill>
                <a:latin typeface="Times New Roman Bold" panose="02020603050405020304" charset="0"/>
                <a:cs typeface="Times New Roman Bold" panose="02020603050405020304" charset="0"/>
              </a:endParaRPr>
            </a:p>
          </p:txBody>
        </p:sp>
        <p:sp>
          <p:nvSpPr>
            <p:cNvPr id="226" name="文本框 225"/>
            <p:cNvSpPr txBox="1"/>
            <p:nvPr>
              <p:custDataLst>
                <p:tags r:id="rId47"/>
              </p:custDataLst>
            </p:nvPr>
          </p:nvSpPr>
          <p:spPr>
            <a:xfrm>
              <a:off x="11905" y="1417"/>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AI</a:t>
              </a:r>
              <a:r>
                <a:rPr lang="zh-CN" altLang="en-US" sz="1400">
                  <a:solidFill>
                    <a:schemeClr val="tx1"/>
                  </a:solidFill>
                  <a:latin typeface="Times New Roman Bold" panose="02020603050405020304" charset="0"/>
                  <a:cs typeface="Times New Roman Bold" panose="02020603050405020304" charset="0"/>
                </a:rPr>
                <a:t>广泛</a:t>
              </a:r>
              <a:r>
                <a:rPr lang="zh-CN" altLang="en-US" sz="1400">
                  <a:solidFill>
                    <a:schemeClr val="tx1"/>
                  </a:solidFill>
                  <a:latin typeface="Times New Roman Bold" panose="02020603050405020304" charset="0"/>
                  <a:cs typeface="Times New Roman Bold" panose="02020603050405020304" charset="0"/>
                </a:rPr>
                <a:t>应用</a:t>
              </a:r>
              <a:endParaRPr lang="zh-CN" altLang="en-US" sz="1400">
                <a:solidFill>
                  <a:schemeClr val="tx1"/>
                </a:solidFill>
                <a:latin typeface="Times New Roman Bold" panose="02020603050405020304" charset="0"/>
                <a:cs typeface="Times New Roman Bold" panose="02020603050405020304" charset="0"/>
              </a:endParaRPr>
            </a:p>
          </p:txBody>
        </p:sp>
        <p:sp>
          <p:nvSpPr>
            <p:cNvPr id="227" name="文本框 226"/>
            <p:cNvSpPr txBox="1"/>
            <p:nvPr>
              <p:custDataLst>
                <p:tags r:id="rId48"/>
              </p:custDataLst>
            </p:nvPr>
          </p:nvSpPr>
          <p:spPr>
            <a:xfrm>
              <a:off x="12391" y="3167"/>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28" name="文本框 227"/>
            <p:cNvSpPr txBox="1"/>
            <p:nvPr>
              <p:custDataLst>
                <p:tags r:id="rId49"/>
              </p:custDataLst>
            </p:nvPr>
          </p:nvSpPr>
          <p:spPr>
            <a:xfrm>
              <a:off x="14429" y="4302"/>
              <a:ext cx="246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Transformer</a:t>
              </a:r>
              <a:endParaRPr lang="en-US" altLang="zh-CN" sz="1400">
                <a:solidFill>
                  <a:schemeClr val="accent6"/>
                </a:solidFill>
                <a:latin typeface="Times New Roman Bold" panose="02020603050405020304" charset="0"/>
                <a:cs typeface="Times New Roman Bold" panose="02020603050405020304" charset="0"/>
              </a:endParaRPr>
            </a:p>
          </p:txBody>
        </p:sp>
        <p:sp>
          <p:nvSpPr>
            <p:cNvPr id="229" name="文本框 228"/>
            <p:cNvSpPr txBox="1"/>
            <p:nvPr>
              <p:custDataLst>
                <p:tags r:id="rId50"/>
              </p:custDataLst>
            </p:nvPr>
          </p:nvSpPr>
          <p:spPr>
            <a:xfrm>
              <a:off x="15020" y="2442"/>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2017</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30" name="文本框 229"/>
            <p:cNvSpPr txBox="1"/>
            <p:nvPr>
              <p:custDataLst>
                <p:tags r:id="rId51"/>
              </p:custDataLst>
            </p:nvPr>
          </p:nvSpPr>
          <p:spPr>
            <a:xfrm>
              <a:off x="15389" y="476"/>
              <a:ext cx="2465" cy="754"/>
            </a:xfrm>
            <a:prstGeom prst="rect">
              <a:avLst/>
            </a:prstGeom>
            <a:noFill/>
          </p:spPr>
          <p:txBody>
            <a:bodyPr wrap="square" rtlCol="0">
              <a:spAutoFit/>
            </a:bodyPr>
            <a:p>
              <a:pPr algn="ctr"/>
              <a:r>
                <a:rPr lang="zh-CN" altLang="en-US" sz="1400">
                  <a:solidFill>
                    <a:schemeClr val="accent6"/>
                  </a:solidFill>
                  <a:latin typeface="Times New Roman Bold" panose="02020603050405020304" charset="0"/>
                  <a:cs typeface="Times New Roman Bold" panose="02020603050405020304" charset="0"/>
                </a:rPr>
                <a:t>人工智能高峰</a:t>
              </a:r>
              <a:endParaRPr lang="zh-CN" altLang="en-US" sz="1400">
                <a:solidFill>
                  <a:schemeClr val="accent6"/>
                </a:solidFill>
                <a:latin typeface="Times New Roman Bold" panose="02020603050405020304" charset="0"/>
                <a:cs typeface="Times New Roman Bold" panose="02020603050405020304" charset="0"/>
              </a:endParaRPr>
            </a:p>
          </p:txBody>
        </p:sp>
        <p:grpSp>
          <p:nvGrpSpPr>
            <p:cNvPr id="231" name="组合 230"/>
            <p:cNvGrpSpPr/>
            <p:nvPr/>
          </p:nvGrpSpPr>
          <p:grpSpPr>
            <a:xfrm rot="0">
              <a:off x="16513" y="1135"/>
              <a:ext cx="219" cy="2047"/>
              <a:chOff x="1827" y="3643"/>
              <a:chExt cx="219" cy="2047"/>
            </a:xfrm>
          </p:grpSpPr>
          <p:cxnSp>
            <p:nvCxnSpPr>
              <p:cNvPr id="232" name="直接连接符 231"/>
              <p:cNvCxnSpPr/>
              <p:nvPr>
                <p:custDataLst>
                  <p:tags r:id="rId52"/>
                </p:custDataLst>
              </p:nvPr>
            </p:nvCxnSpPr>
            <p:spPr>
              <a:xfrm>
                <a:off x="1936" y="3643"/>
                <a:ext cx="0" cy="199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3" name="椭圆 232"/>
              <p:cNvSpPr/>
              <p:nvPr>
                <p:custDataLst>
                  <p:tags r:id="rId53"/>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4" name="文本框 233"/>
            <p:cNvSpPr txBox="1"/>
            <p:nvPr>
              <p:custDataLst>
                <p:tags r:id="rId54"/>
              </p:custDataLst>
            </p:nvPr>
          </p:nvSpPr>
          <p:spPr>
            <a:xfrm>
              <a:off x="16412" y="3185"/>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2020s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sp>
          <p:nvSpPr>
            <p:cNvPr id="235" name="文本框 234"/>
            <p:cNvSpPr txBox="1"/>
            <p:nvPr>
              <p:custDataLst>
                <p:tags r:id="rId55"/>
              </p:custDataLst>
            </p:nvPr>
          </p:nvSpPr>
          <p:spPr>
            <a:xfrm>
              <a:off x="13449" y="2454"/>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2012</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236" name="组合 235"/>
            <p:cNvGrpSpPr/>
            <p:nvPr/>
          </p:nvGrpSpPr>
          <p:grpSpPr>
            <a:xfrm rot="0" flipV="1">
              <a:off x="13969" y="2961"/>
              <a:ext cx="219" cy="782"/>
              <a:chOff x="1827" y="4908"/>
              <a:chExt cx="219" cy="782"/>
            </a:xfrm>
          </p:grpSpPr>
          <p:cxnSp>
            <p:nvCxnSpPr>
              <p:cNvPr id="237" name="直接连接符 236"/>
              <p:cNvCxnSpPr/>
              <p:nvPr>
                <p:custDataLst>
                  <p:tags r:id="rId56"/>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8" name="椭圆 237"/>
              <p:cNvSpPr/>
              <p:nvPr>
                <p:custDataLst>
                  <p:tags r:id="rId5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39" name="文本框 238"/>
            <p:cNvSpPr txBox="1"/>
            <p:nvPr>
              <p:custDataLst>
                <p:tags r:id="rId58"/>
              </p:custDataLst>
            </p:nvPr>
          </p:nvSpPr>
          <p:spPr>
            <a:xfrm>
              <a:off x="13271" y="3767"/>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AlexNet</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240" name="组合 239"/>
            <p:cNvGrpSpPr/>
            <p:nvPr/>
          </p:nvGrpSpPr>
          <p:grpSpPr>
            <a:xfrm rot="0">
              <a:off x="14844" y="2325"/>
              <a:ext cx="219" cy="831"/>
              <a:chOff x="1827" y="4859"/>
              <a:chExt cx="219" cy="831"/>
            </a:xfrm>
          </p:grpSpPr>
          <p:cxnSp>
            <p:nvCxnSpPr>
              <p:cNvPr id="241" name="直接连接符 240"/>
              <p:cNvCxnSpPr/>
              <p:nvPr>
                <p:custDataLst>
                  <p:tags r:id="rId59"/>
                </p:custDataLst>
              </p:nvPr>
            </p:nvCxnSpPr>
            <p:spPr>
              <a:xfrm>
                <a:off x="1936" y="4859"/>
                <a:ext cx="0" cy="77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2" name="椭圆 241"/>
              <p:cNvSpPr/>
              <p:nvPr>
                <p:custDataLst>
                  <p:tags r:id="rId60"/>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43" name="文本框 242"/>
            <p:cNvSpPr txBox="1"/>
            <p:nvPr>
              <p:custDataLst>
                <p:tags r:id="rId61"/>
              </p:custDataLst>
            </p:nvPr>
          </p:nvSpPr>
          <p:spPr>
            <a:xfrm>
              <a:off x="13735" y="1805"/>
              <a:ext cx="2465" cy="754"/>
            </a:xfrm>
            <a:prstGeom prst="rect">
              <a:avLst/>
            </a:prstGeom>
            <a:noFill/>
          </p:spPr>
          <p:txBody>
            <a:bodyPr wrap="square" rtlCol="0">
              <a:spAutoFit/>
            </a:bodyPr>
            <a:p>
              <a:pPr algn="ctr"/>
              <a:r>
                <a:rPr lang="en-US" altLang="zh-CN" sz="1400">
                  <a:solidFill>
                    <a:schemeClr val="tx1"/>
                  </a:solidFill>
                  <a:latin typeface="Times New Roman Bold" panose="02020603050405020304" charset="0"/>
                  <a:cs typeface="Times New Roman Bold" panose="02020603050405020304" charset="0"/>
                </a:rPr>
                <a:t>Word2Vec</a:t>
              </a:r>
              <a:endParaRPr lang="en-US" altLang="zh-CN" sz="1400">
                <a:solidFill>
                  <a:schemeClr val="tx1"/>
                </a:solidFill>
                <a:latin typeface="Times New Roman Bold" panose="02020603050405020304" charset="0"/>
                <a:cs typeface="Times New Roman Bold" panose="02020603050405020304" charset="0"/>
              </a:endParaRPr>
            </a:p>
          </p:txBody>
        </p:sp>
        <p:sp>
          <p:nvSpPr>
            <p:cNvPr id="244" name="文本框 243"/>
            <p:cNvSpPr txBox="1"/>
            <p:nvPr>
              <p:custDataLst>
                <p:tags r:id="rId62"/>
              </p:custDataLst>
            </p:nvPr>
          </p:nvSpPr>
          <p:spPr>
            <a:xfrm>
              <a:off x="14325" y="3151"/>
              <a:ext cx="1258" cy="754"/>
            </a:xfrm>
            <a:prstGeom prst="rect">
              <a:avLst/>
            </a:prstGeom>
            <a:noFill/>
          </p:spPr>
          <p:txBody>
            <a:bodyPr wrap="square" rtlCol="0">
              <a:spAutoFit/>
            </a:bodyPr>
            <a:p>
              <a:pPr algn="ctr"/>
              <a:r>
                <a:rPr lang="en-US" altLang="zh-CN" sz="1400" i="1">
                  <a:solidFill>
                    <a:schemeClr val="tx1">
                      <a:lumMod val="50000"/>
                      <a:lumOff val="50000"/>
                    </a:schemeClr>
                  </a:solidFill>
                  <a:latin typeface="Times New Roman Italic" panose="02020603050405020304" charset="0"/>
                  <a:cs typeface="Times New Roman Italic" panose="02020603050405020304" charset="0"/>
                </a:rPr>
                <a:t>2015s</a:t>
              </a:r>
              <a:endParaRPr lang="en-US" altLang="zh-CN" sz="1400" i="1">
                <a:solidFill>
                  <a:schemeClr val="tx1">
                    <a:lumMod val="50000"/>
                    <a:lumOff val="50000"/>
                  </a:schemeClr>
                </a:solidFill>
                <a:latin typeface="Times New Roman Italic" panose="02020603050405020304" charset="0"/>
                <a:cs typeface="Times New Roman Italic" panose="02020603050405020304" charset="0"/>
              </a:endParaRPr>
            </a:p>
          </p:txBody>
        </p:sp>
        <p:grpSp>
          <p:nvGrpSpPr>
            <p:cNvPr id="245" name="组合 244"/>
            <p:cNvGrpSpPr/>
            <p:nvPr/>
          </p:nvGrpSpPr>
          <p:grpSpPr>
            <a:xfrm rot="0" flipV="1">
              <a:off x="16513" y="2969"/>
              <a:ext cx="219" cy="782"/>
              <a:chOff x="1827" y="4908"/>
              <a:chExt cx="219" cy="782"/>
            </a:xfrm>
          </p:grpSpPr>
          <p:cxnSp>
            <p:nvCxnSpPr>
              <p:cNvPr id="246" name="直接连接符 245"/>
              <p:cNvCxnSpPr/>
              <p:nvPr>
                <p:custDataLst>
                  <p:tags r:id="rId63"/>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7" name="椭圆 246"/>
              <p:cNvSpPr/>
              <p:nvPr>
                <p:custDataLst>
                  <p:tags r:id="rId64"/>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48" name="文本框 247"/>
            <p:cNvSpPr txBox="1"/>
            <p:nvPr>
              <p:custDataLst>
                <p:tags r:id="rId65"/>
              </p:custDataLst>
            </p:nvPr>
          </p:nvSpPr>
          <p:spPr>
            <a:xfrm>
              <a:off x="15767" y="3819"/>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GPT3</a:t>
              </a:r>
              <a:endParaRPr lang="en-US" altLang="zh-CN" sz="1400">
                <a:solidFill>
                  <a:schemeClr val="accent6"/>
                </a:solidFill>
                <a:latin typeface="Times New Roman Bold" panose="02020603050405020304" charset="0"/>
                <a:cs typeface="Times New Roman Bold" panose="02020603050405020304" charset="0"/>
              </a:endParaRPr>
            </a:p>
          </p:txBody>
        </p:sp>
        <p:grpSp>
          <p:nvGrpSpPr>
            <p:cNvPr id="249" name="组合 248"/>
            <p:cNvGrpSpPr/>
            <p:nvPr/>
          </p:nvGrpSpPr>
          <p:grpSpPr>
            <a:xfrm rot="0" flipV="1">
              <a:off x="17360" y="2955"/>
              <a:ext cx="219" cy="782"/>
              <a:chOff x="1827" y="4908"/>
              <a:chExt cx="219" cy="782"/>
            </a:xfrm>
          </p:grpSpPr>
          <p:cxnSp>
            <p:nvCxnSpPr>
              <p:cNvPr id="250" name="直接连接符 249"/>
              <p:cNvCxnSpPr/>
              <p:nvPr>
                <p:custDataLst>
                  <p:tags r:id="rId66"/>
                </p:custDataLst>
              </p:nvPr>
            </p:nvCxnSpPr>
            <p:spPr>
              <a:xfrm>
                <a:off x="1936" y="4908"/>
                <a:ext cx="0" cy="72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51" name="椭圆 250"/>
              <p:cNvSpPr/>
              <p:nvPr>
                <p:custDataLst>
                  <p:tags r:id="rId67"/>
                </p:custDataLst>
              </p:nvPr>
            </p:nvSpPr>
            <p:spPr>
              <a:xfrm>
                <a:off x="1827" y="5471"/>
                <a:ext cx="219" cy="219"/>
              </a:xfrm>
              <a:prstGeom prst="ellipse">
                <a:avLst/>
              </a:prstGeom>
              <a:solidFill>
                <a:schemeClr val="bg1">
                  <a:lumMod val="9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52" name="文本框 251"/>
            <p:cNvSpPr txBox="1"/>
            <p:nvPr>
              <p:custDataLst>
                <p:tags r:id="rId68"/>
              </p:custDataLst>
            </p:nvPr>
          </p:nvSpPr>
          <p:spPr>
            <a:xfrm>
              <a:off x="16757" y="3795"/>
              <a:ext cx="1615" cy="754"/>
            </a:xfrm>
            <a:prstGeom prst="rect">
              <a:avLst/>
            </a:prstGeom>
            <a:noFill/>
          </p:spPr>
          <p:txBody>
            <a:bodyPr wrap="square" rtlCol="0">
              <a:spAutoFit/>
            </a:bodyPr>
            <a:p>
              <a:pPr algn="ctr"/>
              <a:r>
                <a:rPr lang="en-US" altLang="zh-CN" sz="1400">
                  <a:solidFill>
                    <a:schemeClr val="accent6"/>
                  </a:solidFill>
                  <a:latin typeface="Times New Roman Bold" panose="02020603050405020304" charset="0"/>
                  <a:cs typeface="Times New Roman Bold" panose="02020603050405020304" charset="0"/>
                </a:rPr>
                <a:t>ChatGPT</a:t>
              </a:r>
              <a:endParaRPr lang="en-US" altLang="zh-CN" sz="1400">
                <a:solidFill>
                  <a:schemeClr val="accent6"/>
                </a:solidFill>
                <a:latin typeface="Times New Roman Bold" panose="02020603050405020304" charset="0"/>
                <a:cs typeface="Times New Roman Bold" panose="02020603050405020304" charset="0"/>
              </a:endParaRPr>
            </a:p>
          </p:txBody>
        </p:sp>
      </p:grpSp>
      <p:sp>
        <p:nvSpPr>
          <p:cNvPr id="253" name="矩形 252"/>
          <p:cNvSpPr/>
          <p:nvPr>
            <p:custDataLst>
              <p:tags r:id="rId69"/>
            </p:custDataLst>
          </p:nvPr>
        </p:nvSpPr>
        <p:spPr>
          <a:xfrm>
            <a:off x="10283190" y="1028700"/>
            <a:ext cx="960120" cy="230187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70"/>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p>
            <a:r>
              <a:rPr lang="zh-CN" altLang="en-US"/>
              <a:t>大模型时代的</a:t>
            </a:r>
            <a:r>
              <a:rPr lang="zh-CN" altLang="en-US"/>
              <a:t>到来</a:t>
            </a:r>
            <a:endParaRPr lang="zh-CN" altLang="en-US"/>
          </a:p>
        </p:txBody>
      </p:sp>
      <p:sp>
        <p:nvSpPr>
          <p:cNvPr id="5" name="灯片编号占位符 4"/>
          <p:cNvSpPr>
            <a:spLocks noGrp="1"/>
          </p:cNvSpPr>
          <p:nvPr>
            <p:ph type="sldNum" sz="quarter" idx="4294967295"/>
          </p:nvPr>
        </p:nvSpPr>
        <p:spPr>
          <a:xfrm>
            <a:off x="9491980" y="6314440"/>
            <a:ext cx="2700020" cy="316865"/>
          </a:xfrm>
        </p:spPr>
        <p:txBody>
          <a:bodyPr/>
          <a:lstStyle/>
          <a:p>
            <a:fld id="{92408517-D296-4017-A01D-91A3DFF59E7B}" type="slidenum">
              <a:rPr lang="zh-CN" altLang="en-US" smtClean="0"/>
            </a:fld>
            <a:endParaRPr lang="zh-CN" altLang="en-US" dirty="0"/>
          </a:p>
        </p:txBody>
      </p:sp>
      <p:sp>
        <p:nvSpPr>
          <p:cNvPr id="26" name="标题 1"/>
          <p:cNvSpPr txBox="1"/>
          <p:nvPr>
            <p:custDataLst>
              <p:tags r:id="rId1"/>
            </p:custDataLst>
          </p:nvPr>
        </p:nvSpPr>
        <p:spPr>
          <a:xfrm>
            <a:off x="2354821" y="1103201"/>
            <a:ext cx="7579754" cy="594202"/>
          </a:xfrm>
          <a:prstGeom prst="rect">
            <a:avLst/>
          </a:prstGeom>
          <a:noFill/>
        </p:spPr>
        <p:txBody>
          <a:bodyPr wrap="square" rtlCol="0">
            <a:normAutofit lnSpcReduction="20000"/>
          </a:bodyPr>
          <a:lstStyle>
            <a:defPPr>
              <a:defRPr lang="zh-CN"/>
            </a:defPPr>
            <a:lvl1pPr>
              <a:lnSpc>
                <a:spcPct val="130000"/>
              </a:lnSpc>
              <a:defRPr sz="1200"/>
            </a:lvl1pPr>
          </a:lstStyle>
          <a:p>
            <a:pPr algn="ctr"/>
            <a:r>
              <a:rPr lang="en-US" altLang="zh-CN" sz="2800" dirty="0">
                <a:solidFill>
                  <a:srgbClr val="47B6E7"/>
                </a:solidFill>
                <a:latin typeface="Arial" panose="020B0604020202090204" pitchFamily="34" charset="0"/>
                <a:ea typeface="黑体" panose="02010609060101010101" charset="-122"/>
                <a:cs typeface="+mn-ea"/>
              </a:rPr>
              <a:t>GPT</a:t>
            </a:r>
            <a:r>
              <a:rPr lang="zh-CN" altLang="en-US" sz="2800" dirty="0">
                <a:solidFill>
                  <a:srgbClr val="47B6E7"/>
                </a:solidFill>
                <a:latin typeface="Arial" panose="020B0604020202090204" pitchFamily="34" charset="0"/>
                <a:ea typeface="黑体" panose="02010609060101010101" charset="-122"/>
                <a:cs typeface="+mn-ea"/>
              </a:rPr>
              <a:t>系列发展</a:t>
            </a:r>
            <a:endParaRPr lang="zh-CN" altLang="en-US" sz="2800" dirty="0">
              <a:solidFill>
                <a:srgbClr val="47B6E7"/>
              </a:solidFill>
              <a:latin typeface="Arial" panose="020B0604020202090204" pitchFamily="34" charset="0"/>
              <a:ea typeface="黑体" panose="02010609060101010101" charset="-122"/>
              <a:cs typeface="+mn-ea"/>
            </a:endParaRPr>
          </a:p>
        </p:txBody>
      </p:sp>
      <p:grpSp>
        <p:nvGrpSpPr>
          <p:cNvPr id="3" name="组合 2"/>
          <p:cNvGrpSpPr/>
          <p:nvPr>
            <p:custDataLst>
              <p:tags r:id="rId2"/>
            </p:custDataLst>
          </p:nvPr>
        </p:nvGrpSpPr>
        <p:grpSpPr>
          <a:xfrm>
            <a:off x="1740817" y="1773690"/>
            <a:ext cx="1786445" cy="2817330"/>
            <a:chOff x="632767" y="2429692"/>
            <a:chExt cx="1641323" cy="2588466"/>
          </a:xfrm>
        </p:grpSpPr>
        <p:grpSp>
          <p:nvGrpSpPr>
            <p:cNvPr id="7" name="组合 6"/>
            <p:cNvGrpSpPr/>
            <p:nvPr/>
          </p:nvGrpSpPr>
          <p:grpSpPr>
            <a:xfrm>
              <a:off x="632767" y="3799837"/>
              <a:ext cx="1592905" cy="331113"/>
              <a:chOff x="1010194" y="3126377"/>
              <a:chExt cx="1262743" cy="278674"/>
            </a:xfrm>
          </p:grpSpPr>
          <p:sp>
            <p:nvSpPr>
              <p:cNvPr id="4" name="矩形 3"/>
              <p:cNvSpPr/>
              <p:nvPr>
                <p:custDataLst>
                  <p:tags r:id="rId3"/>
                </p:custDataLst>
              </p:nvPr>
            </p:nvSpPr>
            <p:spPr>
              <a:xfrm>
                <a:off x="1010194" y="3126377"/>
                <a:ext cx="1262743" cy="957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6" name="等腰三角形 5"/>
              <p:cNvSpPr/>
              <p:nvPr>
                <p:custDataLst>
                  <p:tags r:id="rId4"/>
                </p:custDataLst>
              </p:nvPr>
            </p:nvSpPr>
            <p:spPr>
              <a:xfrm flipV="1">
                <a:off x="1584960" y="3222171"/>
                <a:ext cx="113211" cy="18288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sp>
          <p:nvSpPr>
            <p:cNvPr id="12" name="标题 1"/>
            <p:cNvSpPr txBox="1"/>
            <p:nvPr>
              <p:custDataLst>
                <p:tags r:id="rId5"/>
              </p:custDataLst>
            </p:nvPr>
          </p:nvSpPr>
          <p:spPr>
            <a:xfrm>
              <a:off x="632767" y="3252168"/>
              <a:ext cx="1641323" cy="414985"/>
            </a:xfrm>
            <a:prstGeom prst="rect">
              <a:avLst/>
            </a:prstGeom>
            <a:noFill/>
          </p:spPr>
          <p:txBody>
            <a:bodyPr wrap="square" rtlCol="0">
              <a:normAutofit/>
            </a:bodyPr>
            <a:lstStyle>
              <a:defPPr>
                <a:defRPr lang="zh-CN"/>
              </a:defPPr>
              <a:lvl1pPr>
                <a:lnSpc>
                  <a:spcPct val="130000"/>
                </a:lnSpc>
                <a:defRPr sz="1200"/>
              </a:lvl1pPr>
            </a:lstStyle>
            <a:p>
              <a:pPr marL="0" indent="0" algn="ctr">
                <a:lnSpc>
                  <a:spcPct val="130000"/>
                </a:lnSpc>
                <a:spcBef>
                  <a:spcPts val="0"/>
                </a:spcBef>
                <a:spcAft>
                  <a:spcPts val="0"/>
                </a:spcAft>
                <a:buSzPct val="100000"/>
              </a:pPr>
              <a:r>
                <a:rPr lang="en-US" altLang="zh-CN" sz="1400">
                  <a:solidFill>
                    <a:schemeClr val="accent1"/>
                  </a:solidFill>
                  <a:latin typeface="+mj-lt"/>
                  <a:ea typeface="+mj-ea"/>
                  <a:cs typeface="+mj-cs"/>
                </a:rPr>
                <a:t>GPT-1</a:t>
              </a:r>
              <a:endParaRPr lang="en-US" altLang="zh-CN" sz="1400">
                <a:solidFill>
                  <a:schemeClr val="accent1"/>
                </a:solidFill>
                <a:latin typeface="+mj-lt"/>
                <a:ea typeface="+mj-ea"/>
                <a:cs typeface="+mj-cs"/>
              </a:endParaRPr>
            </a:p>
          </p:txBody>
        </p:sp>
        <p:sp>
          <p:nvSpPr>
            <p:cNvPr id="8" name="标题 1"/>
            <p:cNvSpPr txBox="1"/>
            <p:nvPr>
              <p:custDataLst>
                <p:tags r:id="rId6"/>
              </p:custDataLst>
            </p:nvPr>
          </p:nvSpPr>
          <p:spPr>
            <a:xfrm>
              <a:off x="632767" y="4243074"/>
              <a:ext cx="1592905" cy="775084"/>
            </a:xfrm>
            <a:prstGeom prst="rect">
              <a:avLst/>
            </a:prstGeom>
            <a:noFill/>
          </p:spPr>
          <p:txBody>
            <a:bodyPr wrap="square" rtlCol="0">
              <a:normAutofit/>
            </a:bodyPr>
            <a:lstStyle>
              <a:defPPr>
                <a:defRPr lang="zh-CN"/>
              </a:defPPr>
              <a:lvl1pPr>
                <a:lnSpc>
                  <a:spcPct val="130000"/>
                </a:lnSpc>
                <a:defRPr sz="1200"/>
              </a:lvl1pPr>
            </a:lstStyle>
            <a:p>
              <a:pPr algn="ctr"/>
              <a:r>
                <a:rPr lang="en-US" altLang="da-DK" sz="1400"/>
                <a:t>5G </a:t>
              </a:r>
              <a:r>
                <a:rPr lang="zh-CN" altLang="en-US" sz="1400"/>
                <a:t>训练数据</a:t>
              </a:r>
              <a:endParaRPr lang="zh-CN" altLang="en-US" sz="1400"/>
            </a:p>
            <a:p>
              <a:pPr algn="ctr"/>
              <a:r>
                <a:rPr lang="en-US" altLang="zh-CN" sz="1400"/>
                <a:t>1</a:t>
              </a:r>
              <a:r>
                <a:rPr lang="zh-CN" altLang="en-US" sz="1400"/>
                <a:t>亿参数</a:t>
              </a:r>
              <a:endParaRPr lang="zh-CN" altLang="en-US" sz="1400"/>
            </a:p>
          </p:txBody>
        </p:sp>
        <p:grpSp>
          <p:nvGrpSpPr>
            <p:cNvPr id="41" name="组合 40"/>
            <p:cNvGrpSpPr/>
            <p:nvPr/>
          </p:nvGrpSpPr>
          <p:grpSpPr>
            <a:xfrm>
              <a:off x="1139124" y="2429692"/>
              <a:ext cx="605143" cy="605143"/>
              <a:chOff x="2188031" y="2474524"/>
              <a:chExt cx="912221" cy="912221"/>
            </a:xfrm>
          </p:grpSpPr>
          <p:sp>
            <p:nvSpPr>
              <p:cNvPr id="42" name="椭圆 41"/>
              <p:cNvSpPr/>
              <p:nvPr>
                <p:custDataLst>
                  <p:tags r:id="rId7"/>
                </p:custDataLst>
              </p:nvPr>
            </p:nvSpPr>
            <p:spPr>
              <a:xfrm>
                <a:off x="2243547" y="2530040"/>
                <a:ext cx="801189" cy="801189"/>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rmAutofit/>
              </a:bodyPr>
              <a:lstStyle/>
              <a:p>
                <a:pPr algn="ctr"/>
                <a:r>
                  <a:rPr lang="en-US" altLang="zh-CN" sz="2000" b="1" dirty="0">
                    <a:solidFill>
                      <a:schemeClr val="accent1"/>
                    </a:solidFill>
                  </a:rPr>
                  <a:t>01</a:t>
                </a:r>
                <a:endParaRPr lang="zh-CN" altLang="en-US" sz="2000" b="1" dirty="0">
                  <a:solidFill>
                    <a:schemeClr val="accent1"/>
                  </a:solidFill>
                </a:endParaRPr>
              </a:p>
            </p:txBody>
          </p:sp>
          <p:sp>
            <p:nvSpPr>
              <p:cNvPr id="44" name="椭圆 43"/>
              <p:cNvSpPr/>
              <p:nvPr>
                <p:custDataLst>
                  <p:tags r:id="rId8"/>
                </p:custDataLst>
              </p:nvPr>
            </p:nvSpPr>
            <p:spPr>
              <a:xfrm>
                <a:off x="2188031" y="2474524"/>
                <a:ext cx="912221" cy="912221"/>
              </a:xfrm>
              <a:prstGeom prst="ellipse">
                <a:avLst/>
              </a:pr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grpSp>
      <p:grpSp>
        <p:nvGrpSpPr>
          <p:cNvPr id="9" name="组合 4"/>
          <p:cNvGrpSpPr/>
          <p:nvPr>
            <p:custDataLst>
              <p:tags r:id="rId9"/>
            </p:custDataLst>
          </p:nvPr>
        </p:nvGrpSpPr>
        <p:grpSpPr>
          <a:xfrm>
            <a:off x="3474561" y="1773690"/>
            <a:ext cx="1786445" cy="2817330"/>
            <a:chOff x="2225672" y="2429692"/>
            <a:chExt cx="1641323" cy="2588466"/>
          </a:xfrm>
        </p:grpSpPr>
        <p:grpSp>
          <p:nvGrpSpPr>
            <p:cNvPr id="15" name="组合 14"/>
            <p:cNvGrpSpPr/>
            <p:nvPr/>
          </p:nvGrpSpPr>
          <p:grpSpPr>
            <a:xfrm>
              <a:off x="2225672" y="3799837"/>
              <a:ext cx="1592905" cy="331113"/>
              <a:chOff x="1010194" y="3126377"/>
              <a:chExt cx="1262743" cy="278674"/>
            </a:xfrm>
            <a:solidFill>
              <a:schemeClr val="accent2"/>
            </a:solidFill>
          </p:grpSpPr>
          <p:sp>
            <p:nvSpPr>
              <p:cNvPr id="16" name="矩形 15"/>
              <p:cNvSpPr/>
              <p:nvPr>
                <p:custDataLst>
                  <p:tags r:id="rId10"/>
                </p:custDataLst>
              </p:nvPr>
            </p:nvSpPr>
            <p:spPr>
              <a:xfrm>
                <a:off x="1010194" y="3126377"/>
                <a:ext cx="1262743" cy="9579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7" name="等腰三角形 16"/>
              <p:cNvSpPr/>
              <p:nvPr>
                <p:custDataLst>
                  <p:tags r:id="rId11"/>
                </p:custDataLst>
              </p:nvPr>
            </p:nvSpPr>
            <p:spPr>
              <a:xfrm flipV="1">
                <a:off x="1584960" y="3222171"/>
                <a:ext cx="113211" cy="18288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sp>
          <p:nvSpPr>
            <p:cNvPr id="18" name="标题 1"/>
            <p:cNvSpPr txBox="1"/>
            <p:nvPr>
              <p:custDataLst>
                <p:tags r:id="rId12"/>
              </p:custDataLst>
            </p:nvPr>
          </p:nvSpPr>
          <p:spPr>
            <a:xfrm>
              <a:off x="2225672" y="3252168"/>
              <a:ext cx="1641323" cy="414985"/>
            </a:xfrm>
            <a:prstGeom prst="rect">
              <a:avLst/>
            </a:prstGeom>
            <a:noFill/>
          </p:spPr>
          <p:txBody>
            <a:bodyPr wrap="square" rtlCol="0">
              <a:normAutofit/>
            </a:bodyPr>
            <a:lstStyle>
              <a:defPPr>
                <a:defRPr lang="zh-CN"/>
              </a:defPPr>
              <a:lvl1pPr>
                <a:lnSpc>
                  <a:spcPct val="130000"/>
                </a:lnSpc>
                <a:defRPr sz="1200"/>
              </a:lvl1pPr>
            </a:lstStyle>
            <a:p>
              <a:pPr marL="0" indent="0" algn="ctr">
                <a:lnSpc>
                  <a:spcPct val="130000"/>
                </a:lnSpc>
                <a:spcBef>
                  <a:spcPts val="0"/>
                </a:spcBef>
                <a:spcAft>
                  <a:spcPts val="0"/>
                </a:spcAft>
                <a:buSzPct val="100000"/>
              </a:pPr>
              <a:r>
                <a:rPr lang="en-US" altLang="zh-CN" sz="1400">
                  <a:solidFill>
                    <a:schemeClr val="accent2"/>
                  </a:solidFill>
                  <a:latin typeface="+mj-lt"/>
                  <a:ea typeface="+mj-ea"/>
                  <a:cs typeface="+mj-cs"/>
                </a:rPr>
                <a:t>GPT-2</a:t>
              </a:r>
              <a:endParaRPr lang="en-US" altLang="zh-CN" sz="1400">
                <a:solidFill>
                  <a:schemeClr val="accent2"/>
                </a:solidFill>
                <a:latin typeface="+mj-lt"/>
                <a:ea typeface="+mj-ea"/>
                <a:cs typeface="+mj-cs"/>
              </a:endParaRPr>
            </a:p>
          </p:txBody>
        </p:sp>
        <p:grpSp>
          <p:nvGrpSpPr>
            <p:cNvPr id="45" name="组合 44"/>
            <p:cNvGrpSpPr/>
            <p:nvPr/>
          </p:nvGrpSpPr>
          <p:grpSpPr>
            <a:xfrm>
              <a:off x="2725170" y="2429692"/>
              <a:ext cx="605143" cy="605143"/>
              <a:chOff x="2188031" y="2474524"/>
              <a:chExt cx="912221" cy="912221"/>
            </a:xfrm>
          </p:grpSpPr>
          <p:sp>
            <p:nvSpPr>
              <p:cNvPr id="46" name="椭圆 45"/>
              <p:cNvSpPr/>
              <p:nvPr>
                <p:custDataLst>
                  <p:tags r:id="rId13"/>
                </p:custDataLst>
              </p:nvPr>
            </p:nvSpPr>
            <p:spPr>
              <a:xfrm>
                <a:off x="2243547" y="2530040"/>
                <a:ext cx="801189" cy="801189"/>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rmAutofit/>
              </a:bodyPr>
              <a:lstStyle/>
              <a:p>
                <a:pPr algn="ctr"/>
                <a:r>
                  <a:rPr lang="en-US" altLang="zh-CN" sz="2000" b="1" dirty="0">
                    <a:solidFill>
                      <a:schemeClr val="accent2"/>
                    </a:solidFill>
                  </a:rPr>
                  <a:t>02</a:t>
                </a:r>
                <a:endParaRPr lang="zh-CN" altLang="en-US" sz="2000" b="1" dirty="0">
                  <a:solidFill>
                    <a:schemeClr val="accent2"/>
                  </a:solidFill>
                </a:endParaRPr>
              </a:p>
            </p:txBody>
          </p:sp>
          <p:sp>
            <p:nvSpPr>
              <p:cNvPr id="47" name="椭圆 46"/>
              <p:cNvSpPr/>
              <p:nvPr>
                <p:custDataLst>
                  <p:tags r:id="rId14"/>
                </p:custDataLst>
              </p:nvPr>
            </p:nvSpPr>
            <p:spPr>
              <a:xfrm>
                <a:off x="2188031" y="2474524"/>
                <a:ext cx="912221" cy="912221"/>
              </a:xfrm>
              <a:prstGeom prst="ellipse">
                <a:avLst/>
              </a:pr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sp>
          <p:nvSpPr>
            <p:cNvPr id="57" name="标题 1"/>
            <p:cNvSpPr txBox="1"/>
            <p:nvPr>
              <p:custDataLst>
                <p:tags r:id="rId15"/>
              </p:custDataLst>
            </p:nvPr>
          </p:nvSpPr>
          <p:spPr>
            <a:xfrm>
              <a:off x="2228406" y="4243074"/>
              <a:ext cx="1592905" cy="775084"/>
            </a:xfrm>
            <a:prstGeom prst="rect">
              <a:avLst/>
            </a:prstGeom>
            <a:noFill/>
          </p:spPr>
          <p:txBody>
            <a:bodyPr wrap="square" rtlCol="0">
              <a:normAutofit/>
            </a:bodyPr>
            <a:lstStyle>
              <a:defPPr>
                <a:defRPr lang="zh-CN"/>
              </a:defPPr>
              <a:lvl1pPr>
                <a:lnSpc>
                  <a:spcPct val="130000"/>
                </a:lnSpc>
                <a:defRPr sz="1200"/>
              </a:lvl1pPr>
            </a:lstStyle>
            <a:p>
              <a:pPr algn="ctr"/>
              <a:r>
                <a:rPr lang="en-US" altLang="da-DK" sz="1400"/>
                <a:t>40G</a:t>
              </a:r>
              <a:r>
                <a:rPr lang="zh-CN" altLang="en-US" sz="1400"/>
                <a:t>训练数据</a:t>
              </a:r>
              <a:endParaRPr lang="zh-CN" altLang="en-US" sz="1400"/>
            </a:p>
            <a:p>
              <a:pPr algn="ctr"/>
              <a:r>
                <a:rPr lang="en-US" altLang="zh-CN" sz="1400"/>
                <a:t>15</a:t>
              </a:r>
              <a:r>
                <a:rPr lang="zh-CN" altLang="en-US" sz="1400"/>
                <a:t>亿参数</a:t>
              </a:r>
              <a:endParaRPr lang="zh-CN" altLang="en-US" sz="1400"/>
            </a:p>
          </p:txBody>
        </p:sp>
      </p:grpSp>
      <p:grpSp>
        <p:nvGrpSpPr>
          <p:cNvPr id="20" name="组合 7"/>
          <p:cNvGrpSpPr/>
          <p:nvPr>
            <p:custDataLst>
              <p:tags r:id="rId16"/>
            </p:custDataLst>
          </p:nvPr>
        </p:nvGrpSpPr>
        <p:grpSpPr>
          <a:xfrm>
            <a:off x="5208303" y="1773690"/>
            <a:ext cx="1786445" cy="2817330"/>
            <a:chOff x="3818575" y="2429692"/>
            <a:chExt cx="1641323" cy="2588466"/>
          </a:xfrm>
        </p:grpSpPr>
        <p:grpSp>
          <p:nvGrpSpPr>
            <p:cNvPr id="21" name="组合 19"/>
            <p:cNvGrpSpPr/>
            <p:nvPr/>
          </p:nvGrpSpPr>
          <p:grpSpPr>
            <a:xfrm>
              <a:off x="3818575" y="3799837"/>
              <a:ext cx="1592905" cy="331113"/>
              <a:chOff x="1010194" y="3126377"/>
              <a:chExt cx="1262743" cy="278674"/>
            </a:xfrm>
            <a:solidFill>
              <a:schemeClr val="accent3"/>
            </a:solidFill>
          </p:grpSpPr>
          <p:sp>
            <p:nvSpPr>
              <p:cNvPr id="22" name="矩形 20"/>
              <p:cNvSpPr/>
              <p:nvPr>
                <p:custDataLst>
                  <p:tags r:id="rId17"/>
                </p:custDataLst>
              </p:nvPr>
            </p:nvSpPr>
            <p:spPr>
              <a:xfrm>
                <a:off x="1010194" y="3126377"/>
                <a:ext cx="1262743" cy="9579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3" name="等腰三角形 21"/>
              <p:cNvSpPr/>
              <p:nvPr>
                <p:custDataLst>
                  <p:tags r:id="rId18"/>
                </p:custDataLst>
              </p:nvPr>
            </p:nvSpPr>
            <p:spPr>
              <a:xfrm flipV="1">
                <a:off x="1584960" y="3222171"/>
                <a:ext cx="113211" cy="18288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sp>
          <p:nvSpPr>
            <p:cNvPr id="48" name="标题 1"/>
            <p:cNvSpPr txBox="1"/>
            <p:nvPr>
              <p:custDataLst>
                <p:tags r:id="rId19"/>
              </p:custDataLst>
            </p:nvPr>
          </p:nvSpPr>
          <p:spPr>
            <a:xfrm>
              <a:off x="3818575" y="3252168"/>
              <a:ext cx="1641323" cy="414985"/>
            </a:xfrm>
            <a:prstGeom prst="rect">
              <a:avLst/>
            </a:prstGeom>
            <a:noFill/>
          </p:spPr>
          <p:txBody>
            <a:bodyPr wrap="square" rtlCol="0">
              <a:normAutofit/>
            </a:bodyPr>
            <a:lstStyle>
              <a:defPPr>
                <a:defRPr lang="zh-CN"/>
              </a:defPPr>
              <a:lvl1pPr>
                <a:lnSpc>
                  <a:spcPct val="130000"/>
                </a:lnSpc>
                <a:defRPr sz="1200"/>
              </a:lvl1pPr>
            </a:lstStyle>
            <a:p>
              <a:pPr marL="0" indent="0" algn="ctr">
                <a:lnSpc>
                  <a:spcPct val="130000"/>
                </a:lnSpc>
                <a:spcBef>
                  <a:spcPts val="0"/>
                </a:spcBef>
                <a:spcAft>
                  <a:spcPts val="0"/>
                </a:spcAft>
                <a:buSzPct val="100000"/>
              </a:pPr>
              <a:r>
                <a:rPr lang="en-US" altLang="zh-CN" sz="1400">
                  <a:solidFill>
                    <a:schemeClr val="accent3"/>
                  </a:solidFill>
                  <a:latin typeface="+mj-lt"/>
                  <a:ea typeface="+mj-ea"/>
                  <a:cs typeface="+mj-cs"/>
                </a:rPr>
                <a:t>GPT-3</a:t>
              </a:r>
              <a:endParaRPr lang="en-US" altLang="zh-CN" sz="1400">
                <a:solidFill>
                  <a:schemeClr val="accent3"/>
                </a:solidFill>
                <a:latin typeface="+mj-lt"/>
                <a:ea typeface="+mj-ea"/>
                <a:cs typeface="+mj-cs"/>
              </a:endParaRPr>
            </a:p>
          </p:txBody>
        </p:sp>
        <p:grpSp>
          <p:nvGrpSpPr>
            <p:cNvPr id="49" name="组合 47"/>
            <p:cNvGrpSpPr/>
            <p:nvPr/>
          </p:nvGrpSpPr>
          <p:grpSpPr>
            <a:xfrm>
              <a:off x="4311215" y="2429692"/>
              <a:ext cx="605143" cy="605143"/>
              <a:chOff x="2188031" y="2474524"/>
              <a:chExt cx="912221" cy="912221"/>
            </a:xfrm>
          </p:grpSpPr>
          <p:sp>
            <p:nvSpPr>
              <p:cNvPr id="50" name="椭圆 48"/>
              <p:cNvSpPr/>
              <p:nvPr>
                <p:custDataLst>
                  <p:tags r:id="rId20"/>
                </p:custDataLst>
              </p:nvPr>
            </p:nvSpPr>
            <p:spPr>
              <a:xfrm>
                <a:off x="2243547" y="2530040"/>
                <a:ext cx="801189" cy="801189"/>
              </a:xfrm>
              <a:prstGeom prst="ellipse">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rmAutofit/>
              </a:bodyPr>
              <a:lstStyle/>
              <a:p>
                <a:pPr algn="ctr"/>
                <a:r>
                  <a:rPr lang="en-US" altLang="zh-CN" sz="2000" b="1" dirty="0">
                    <a:solidFill>
                      <a:schemeClr val="accent3"/>
                    </a:solidFill>
                  </a:rPr>
                  <a:t>03</a:t>
                </a:r>
                <a:endParaRPr lang="zh-CN" altLang="en-US" sz="2000" b="1" dirty="0">
                  <a:solidFill>
                    <a:schemeClr val="accent3"/>
                  </a:solidFill>
                </a:endParaRPr>
              </a:p>
            </p:txBody>
          </p:sp>
          <p:sp>
            <p:nvSpPr>
              <p:cNvPr id="58" name="椭圆 49"/>
              <p:cNvSpPr/>
              <p:nvPr>
                <p:custDataLst>
                  <p:tags r:id="rId21"/>
                </p:custDataLst>
              </p:nvPr>
            </p:nvSpPr>
            <p:spPr>
              <a:xfrm>
                <a:off x="2188031" y="2474524"/>
                <a:ext cx="912221" cy="912221"/>
              </a:xfrm>
              <a:prstGeom prst="ellipse">
                <a:avLst/>
              </a:pr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sp>
          <p:nvSpPr>
            <p:cNvPr id="59" name="标题 1"/>
            <p:cNvSpPr txBox="1"/>
            <p:nvPr>
              <p:custDataLst>
                <p:tags r:id="rId22"/>
              </p:custDataLst>
            </p:nvPr>
          </p:nvSpPr>
          <p:spPr>
            <a:xfrm>
              <a:off x="3824043" y="4243074"/>
              <a:ext cx="1592905" cy="775084"/>
            </a:xfrm>
            <a:prstGeom prst="rect">
              <a:avLst/>
            </a:prstGeom>
            <a:noFill/>
          </p:spPr>
          <p:txBody>
            <a:bodyPr wrap="square" rtlCol="0">
              <a:normAutofit/>
            </a:bodyPr>
            <a:lstStyle>
              <a:defPPr>
                <a:defRPr lang="zh-CN"/>
              </a:defPPr>
              <a:lvl1pPr>
                <a:lnSpc>
                  <a:spcPct val="130000"/>
                </a:lnSpc>
                <a:defRPr sz="1200"/>
              </a:lvl1pPr>
            </a:lstStyle>
            <a:p>
              <a:pPr algn="ctr"/>
              <a:r>
                <a:rPr lang="en-US" altLang="da-DK" sz="1400"/>
                <a:t>570G</a:t>
              </a:r>
              <a:r>
                <a:rPr lang="zh-CN" altLang="en-US" sz="1400"/>
                <a:t>训练数据</a:t>
              </a:r>
              <a:endParaRPr lang="zh-CN" altLang="en-US" sz="1400"/>
            </a:p>
            <a:p>
              <a:pPr algn="ctr"/>
              <a:r>
                <a:rPr lang="en-US" altLang="zh-CN" sz="1400"/>
                <a:t>1750</a:t>
              </a:r>
              <a:r>
                <a:rPr lang="zh-CN" altLang="en-US" sz="1400"/>
                <a:t>亿参数</a:t>
              </a:r>
              <a:endParaRPr lang="zh-CN" altLang="en-US" sz="1400"/>
            </a:p>
          </p:txBody>
        </p:sp>
      </p:grpSp>
      <p:grpSp>
        <p:nvGrpSpPr>
          <p:cNvPr id="80" name="组合 8"/>
          <p:cNvGrpSpPr/>
          <p:nvPr>
            <p:custDataLst>
              <p:tags r:id="rId23"/>
            </p:custDataLst>
          </p:nvPr>
        </p:nvGrpSpPr>
        <p:grpSpPr>
          <a:xfrm>
            <a:off x="6942049" y="1773690"/>
            <a:ext cx="1786445" cy="2817330"/>
            <a:chOff x="5411480" y="2429692"/>
            <a:chExt cx="1641323" cy="2588466"/>
          </a:xfrm>
        </p:grpSpPr>
        <p:grpSp>
          <p:nvGrpSpPr>
            <p:cNvPr id="81" name="组合 24"/>
            <p:cNvGrpSpPr/>
            <p:nvPr/>
          </p:nvGrpSpPr>
          <p:grpSpPr>
            <a:xfrm>
              <a:off x="5411480" y="3799837"/>
              <a:ext cx="1592905" cy="331113"/>
              <a:chOff x="1010194" y="3126377"/>
              <a:chExt cx="1262743" cy="278674"/>
            </a:xfrm>
            <a:solidFill>
              <a:schemeClr val="accent4"/>
            </a:solidFill>
          </p:grpSpPr>
          <p:sp>
            <p:nvSpPr>
              <p:cNvPr id="82" name="矩形 25"/>
              <p:cNvSpPr/>
              <p:nvPr>
                <p:custDataLst>
                  <p:tags r:id="rId24"/>
                </p:custDataLst>
              </p:nvPr>
            </p:nvSpPr>
            <p:spPr>
              <a:xfrm>
                <a:off x="1010194" y="3126377"/>
                <a:ext cx="1262743" cy="9579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83" name="等腰三角形 26"/>
              <p:cNvSpPr/>
              <p:nvPr>
                <p:custDataLst>
                  <p:tags r:id="rId25"/>
                </p:custDataLst>
              </p:nvPr>
            </p:nvSpPr>
            <p:spPr>
              <a:xfrm flipV="1">
                <a:off x="1584960" y="3222171"/>
                <a:ext cx="113211" cy="18288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sp>
          <p:nvSpPr>
            <p:cNvPr id="84" name="标题 1"/>
            <p:cNvSpPr txBox="1"/>
            <p:nvPr>
              <p:custDataLst>
                <p:tags r:id="rId26"/>
              </p:custDataLst>
            </p:nvPr>
          </p:nvSpPr>
          <p:spPr>
            <a:xfrm>
              <a:off x="5411480" y="3252168"/>
              <a:ext cx="1641323" cy="414985"/>
            </a:xfrm>
            <a:prstGeom prst="rect">
              <a:avLst/>
            </a:prstGeom>
            <a:noFill/>
          </p:spPr>
          <p:txBody>
            <a:bodyPr wrap="square" rtlCol="0">
              <a:normAutofit/>
            </a:bodyPr>
            <a:lstStyle>
              <a:defPPr>
                <a:defRPr lang="zh-CN"/>
              </a:defPPr>
              <a:lvl1pPr>
                <a:lnSpc>
                  <a:spcPct val="130000"/>
                </a:lnSpc>
                <a:defRPr sz="1200"/>
              </a:lvl1pPr>
            </a:lstStyle>
            <a:p>
              <a:pPr marL="0" indent="0" algn="ctr">
                <a:lnSpc>
                  <a:spcPct val="130000"/>
                </a:lnSpc>
                <a:spcBef>
                  <a:spcPts val="0"/>
                </a:spcBef>
                <a:spcAft>
                  <a:spcPts val="0"/>
                </a:spcAft>
                <a:buSzPct val="100000"/>
              </a:pPr>
              <a:r>
                <a:rPr lang="en-US" altLang="zh-CN" sz="1400">
                  <a:solidFill>
                    <a:schemeClr val="accent4"/>
                  </a:solidFill>
                  <a:latin typeface="+mj-lt"/>
                  <a:ea typeface="+mj-ea"/>
                  <a:cs typeface="+mj-cs"/>
                </a:rPr>
                <a:t>Instruct-GPT</a:t>
              </a:r>
              <a:endParaRPr lang="en-US" altLang="zh-CN" sz="1400">
                <a:solidFill>
                  <a:schemeClr val="accent4"/>
                </a:solidFill>
                <a:latin typeface="+mj-lt"/>
                <a:ea typeface="+mj-ea"/>
                <a:cs typeface="+mj-cs"/>
              </a:endParaRPr>
            </a:p>
          </p:txBody>
        </p:sp>
        <p:grpSp>
          <p:nvGrpSpPr>
            <p:cNvPr id="85" name="组合 50"/>
            <p:cNvGrpSpPr/>
            <p:nvPr/>
          </p:nvGrpSpPr>
          <p:grpSpPr>
            <a:xfrm>
              <a:off x="5897261" y="2429692"/>
              <a:ext cx="605143" cy="605143"/>
              <a:chOff x="2188031" y="2474524"/>
              <a:chExt cx="912221" cy="912221"/>
            </a:xfrm>
          </p:grpSpPr>
          <p:sp>
            <p:nvSpPr>
              <p:cNvPr id="86" name="椭圆 51"/>
              <p:cNvSpPr/>
              <p:nvPr>
                <p:custDataLst>
                  <p:tags r:id="rId27"/>
                </p:custDataLst>
              </p:nvPr>
            </p:nvSpPr>
            <p:spPr>
              <a:xfrm>
                <a:off x="2243547" y="2530040"/>
                <a:ext cx="801189" cy="801189"/>
              </a:xfrm>
              <a:prstGeom prst="ellips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rmAutofit/>
              </a:bodyPr>
              <a:lstStyle/>
              <a:p>
                <a:pPr algn="ctr"/>
                <a:r>
                  <a:rPr lang="en-US" altLang="zh-CN" sz="2000" b="1" dirty="0">
                    <a:solidFill>
                      <a:schemeClr val="accent4"/>
                    </a:solidFill>
                  </a:rPr>
                  <a:t>04</a:t>
                </a:r>
                <a:endParaRPr lang="zh-CN" altLang="en-US" sz="2000" b="1" dirty="0">
                  <a:solidFill>
                    <a:schemeClr val="accent4"/>
                  </a:solidFill>
                </a:endParaRPr>
              </a:p>
            </p:txBody>
          </p:sp>
          <p:sp>
            <p:nvSpPr>
              <p:cNvPr id="87" name="椭圆 52"/>
              <p:cNvSpPr/>
              <p:nvPr>
                <p:custDataLst>
                  <p:tags r:id="rId28"/>
                </p:custDataLst>
              </p:nvPr>
            </p:nvSpPr>
            <p:spPr>
              <a:xfrm>
                <a:off x="2188031" y="2474524"/>
                <a:ext cx="912221" cy="912221"/>
              </a:xfrm>
              <a:prstGeom prst="ellipse">
                <a:avLst/>
              </a:pr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sp>
          <p:nvSpPr>
            <p:cNvPr id="88" name="标题 1"/>
            <p:cNvSpPr txBox="1"/>
            <p:nvPr>
              <p:custDataLst>
                <p:tags r:id="rId29"/>
              </p:custDataLst>
            </p:nvPr>
          </p:nvSpPr>
          <p:spPr>
            <a:xfrm>
              <a:off x="5419678" y="4243074"/>
              <a:ext cx="1592905" cy="775084"/>
            </a:xfrm>
            <a:prstGeom prst="rect">
              <a:avLst/>
            </a:prstGeom>
            <a:noFill/>
          </p:spPr>
          <p:txBody>
            <a:bodyPr wrap="square" rtlCol="0">
              <a:normAutofit/>
            </a:bodyPr>
            <a:lstStyle>
              <a:defPPr>
                <a:defRPr lang="zh-CN"/>
              </a:defPPr>
              <a:lvl1pPr>
                <a:lnSpc>
                  <a:spcPct val="130000"/>
                </a:lnSpc>
                <a:defRPr sz="1200"/>
              </a:lvl1pPr>
            </a:lstStyle>
            <a:p>
              <a:pPr algn="ctr"/>
              <a:r>
                <a:rPr lang="zh-CN" altLang="da-DK" sz="1400"/>
                <a:t>加入人类反馈强化学习训练</a:t>
              </a:r>
              <a:endParaRPr lang="zh-CN" altLang="da-DK" sz="1400"/>
            </a:p>
          </p:txBody>
        </p:sp>
      </p:grpSp>
      <p:grpSp>
        <p:nvGrpSpPr>
          <p:cNvPr id="89" name="组合 9"/>
          <p:cNvGrpSpPr/>
          <p:nvPr>
            <p:custDataLst>
              <p:tags r:id="rId30"/>
            </p:custDataLst>
          </p:nvPr>
        </p:nvGrpSpPr>
        <p:grpSpPr>
          <a:xfrm>
            <a:off x="8675794" y="1773690"/>
            <a:ext cx="1786445" cy="2817330"/>
            <a:chOff x="7004385" y="2429692"/>
            <a:chExt cx="1641323" cy="2588466"/>
          </a:xfrm>
        </p:grpSpPr>
        <p:grpSp>
          <p:nvGrpSpPr>
            <p:cNvPr id="90" name="组合 30"/>
            <p:cNvGrpSpPr/>
            <p:nvPr/>
          </p:nvGrpSpPr>
          <p:grpSpPr>
            <a:xfrm>
              <a:off x="7004385" y="3799837"/>
              <a:ext cx="1592905" cy="331113"/>
              <a:chOff x="1010194" y="3126377"/>
              <a:chExt cx="1262743" cy="278674"/>
            </a:xfrm>
            <a:solidFill>
              <a:schemeClr val="accent6"/>
            </a:solidFill>
          </p:grpSpPr>
          <p:sp>
            <p:nvSpPr>
              <p:cNvPr id="91" name="矩形 31"/>
              <p:cNvSpPr/>
              <p:nvPr>
                <p:custDataLst>
                  <p:tags r:id="rId31"/>
                </p:custDataLst>
              </p:nvPr>
            </p:nvSpPr>
            <p:spPr>
              <a:xfrm>
                <a:off x="1010194" y="3126377"/>
                <a:ext cx="1262743" cy="9579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92" name="等腰三角形 32"/>
              <p:cNvSpPr/>
              <p:nvPr>
                <p:custDataLst>
                  <p:tags r:id="rId32"/>
                </p:custDataLst>
              </p:nvPr>
            </p:nvSpPr>
            <p:spPr>
              <a:xfrm flipV="1">
                <a:off x="1584960" y="3222171"/>
                <a:ext cx="113211" cy="18288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sp>
          <p:nvSpPr>
            <p:cNvPr id="93" name="标题 1"/>
            <p:cNvSpPr txBox="1"/>
            <p:nvPr>
              <p:custDataLst>
                <p:tags r:id="rId33"/>
              </p:custDataLst>
            </p:nvPr>
          </p:nvSpPr>
          <p:spPr>
            <a:xfrm>
              <a:off x="7004385" y="3252168"/>
              <a:ext cx="1641323" cy="414985"/>
            </a:xfrm>
            <a:prstGeom prst="rect">
              <a:avLst/>
            </a:prstGeom>
            <a:noFill/>
          </p:spPr>
          <p:txBody>
            <a:bodyPr wrap="square" rtlCol="0">
              <a:normAutofit/>
            </a:bodyPr>
            <a:lstStyle>
              <a:defPPr>
                <a:defRPr lang="zh-CN"/>
              </a:defPPr>
              <a:lvl1pPr>
                <a:lnSpc>
                  <a:spcPct val="130000"/>
                </a:lnSpc>
                <a:defRPr sz="1200"/>
              </a:lvl1pPr>
            </a:lstStyle>
            <a:p>
              <a:pPr marL="0" indent="0" algn="ctr">
                <a:lnSpc>
                  <a:spcPct val="130000"/>
                </a:lnSpc>
                <a:spcBef>
                  <a:spcPts val="0"/>
                </a:spcBef>
                <a:spcAft>
                  <a:spcPts val="0"/>
                </a:spcAft>
                <a:buSzPct val="100000"/>
              </a:pPr>
              <a:r>
                <a:rPr lang="en-US" altLang="zh-CN" sz="1400">
                  <a:solidFill>
                    <a:schemeClr val="accent6"/>
                  </a:solidFill>
                  <a:latin typeface="+mj-lt"/>
                  <a:ea typeface="+mj-ea"/>
                  <a:cs typeface="+mj-cs"/>
                </a:rPr>
                <a:t>ChatGPT</a:t>
              </a:r>
              <a:endParaRPr lang="en-US" altLang="zh-CN" sz="1400">
                <a:solidFill>
                  <a:schemeClr val="accent6"/>
                </a:solidFill>
                <a:latin typeface="+mj-lt"/>
                <a:ea typeface="+mj-ea"/>
                <a:cs typeface="+mj-cs"/>
              </a:endParaRPr>
            </a:p>
          </p:txBody>
        </p:sp>
        <p:grpSp>
          <p:nvGrpSpPr>
            <p:cNvPr id="94" name="组合 53"/>
            <p:cNvGrpSpPr/>
            <p:nvPr/>
          </p:nvGrpSpPr>
          <p:grpSpPr>
            <a:xfrm>
              <a:off x="7483305" y="2429692"/>
              <a:ext cx="605143" cy="605143"/>
              <a:chOff x="2188031" y="2474524"/>
              <a:chExt cx="912221" cy="912221"/>
            </a:xfrm>
          </p:grpSpPr>
          <p:sp>
            <p:nvSpPr>
              <p:cNvPr id="95" name="椭圆 54"/>
              <p:cNvSpPr/>
              <p:nvPr>
                <p:custDataLst>
                  <p:tags r:id="rId34"/>
                </p:custDataLst>
              </p:nvPr>
            </p:nvSpPr>
            <p:spPr>
              <a:xfrm>
                <a:off x="2243547" y="2530040"/>
                <a:ext cx="801189" cy="801189"/>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rmAutofit/>
              </a:bodyPr>
              <a:lstStyle/>
              <a:p>
                <a:pPr algn="ctr"/>
                <a:r>
                  <a:rPr lang="en-US" altLang="zh-CN" sz="2000" b="1" dirty="0">
                    <a:solidFill>
                      <a:schemeClr val="accent6"/>
                    </a:solidFill>
                  </a:rPr>
                  <a:t>05</a:t>
                </a:r>
                <a:endParaRPr lang="zh-CN" altLang="en-US" sz="2000" b="1" dirty="0">
                  <a:solidFill>
                    <a:schemeClr val="accent6"/>
                  </a:solidFill>
                </a:endParaRPr>
              </a:p>
            </p:txBody>
          </p:sp>
          <p:sp>
            <p:nvSpPr>
              <p:cNvPr id="96" name="椭圆 55"/>
              <p:cNvSpPr/>
              <p:nvPr>
                <p:custDataLst>
                  <p:tags r:id="rId35"/>
                </p:custDataLst>
              </p:nvPr>
            </p:nvSpPr>
            <p:spPr>
              <a:xfrm>
                <a:off x="2188031" y="2474524"/>
                <a:ext cx="912221" cy="912221"/>
              </a:xfrm>
              <a:prstGeom prst="ellipse">
                <a:avLst/>
              </a:pr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grpSp>
        <p:sp>
          <p:nvSpPr>
            <p:cNvPr id="97" name="标题 1"/>
            <p:cNvSpPr txBox="1"/>
            <p:nvPr>
              <p:custDataLst>
                <p:tags r:id="rId36"/>
              </p:custDataLst>
            </p:nvPr>
          </p:nvSpPr>
          <p:spPr>
            <a:xfrm>
              <a:off x="7024582" y="4243074"/>
              <a:ext cx="1592905" cy="775084"/>
            </a:xfrm>
            <a:prstGeom prst="rect">
              <a:avLst/>
            </a:prstGeom>
            <a:noFill/>
          </p:spPr>
          <p:txBody>
            <a:bodyPr wrap="square" rtlCol="0">
              <a:normAutofit/>
            </a:bodyPr>
            <a:lstStyle>
              <a:defPPr>
                <a:defRPr lang="zh-CN"/>
              </a:defPPr>
              <a:lvl1pPr>
                <a:lnSpc>
                  <a:spcPct val="130000"/>
                </a:lnSpc>
                <a:defRPr sz="1200"/>
              </a:lvl1pPr>
            </a:lstStyle>
            <a:p>
              <a:pPr algn="ctr"/>
              <a:r>
                <a:rPr lang="zh-CN" altLang="da-DK" sz="1400"/>
                <a:t>针对对话的强化学习训练</a:t>
              </a:r>
              <a:endParaRPr lang="zh-CN" altLang="da-DK" sz="1400"/>
            </a:p>
          </p:txBody>
        </p:sp>
      </p:grpSp>
      <p:sp>
        <p:nvSpPr>
          <p:cNvPr id="11" name="文本框 10"/>
          <p:cNvSpPr txBox="1"/>
          <p:nvPr/>
        </p:nvSpPr>
        <p:spPr>
          <a:xfrm>
            <a:off x="1789430" y="4408170"/>
            <a:ext cx="1589405" cy="1322705"/>
          </a:xfrm>
          <a:prstGeom prst="rect">
            <a:avLst/>
          </a:prstGeom>
          <a:noFill/>
        </p:spPr>
        <p:txBody>
          <a:bodyPr wrap="square" rtlCol="0" anchor="t">
            <a:noAutofit/>
          </a:bodyPr>
          <a:p>
            <a:pPr algn="l" rtl="0" eaLnBrk="0">
              <a:lnSpc>
                <a:spcPct val="130000"/>
              </a:lnSpc>
            </a:pPr>
            <a:r>
              <a:rPr lang="en-US" altLang="zh-CN" sz="1200" spc="80" dirty="0">
                <a:solidFill>
                  <a:srgbClr val="595959">
                    <a:alpha val="100000"/>
                  </a:srgbClr>
                </a:solidFill>
                <a:latin typeface="微软雅黑" charset="-122"/>
                <a:ea typeface="微软雅黑" charset="-122"/>
                <a:cs typeface="微软雅黑" charset="-122"/>
                <a:sym typeface="+mn-ea"/>
              </a:rPr>
              <a:t>GPT-1</a:t>
            </a:r>
            <a:r>
              <a:rPr lang="zh-CN" altLang="en-US" sz="1200" spc="80" dirty="0">
                <a:solidFill>
                  <a:srgbClr val="595959">
                    <a:alpha val="100000"/>
                  </a:srgbClr>
                </a:solidFill>
                <a:latin typeface="微软雅黑" charset="-122"/>
                <a:ea typeface="微软雅黑" charset="-122"/>
                <a:cs typeface="微软雅黑" charset="-122"/>
                <a:sym typeface="+mn-ea"/>
              </a:rPr>
              <a:t>有一定的泛化能力 ，能够</a:t>
            </a:r>
            <a:r>
              <a:rPr lang="zh-CN" altLang="en-US" sz="1200" spc="20" dirty="0">
                <a:solidFill>
                  <a:srgbClr val="595959">
                    <a:alpha val="100000"/>
                  </a:srgbClr>
                </a:solidFill>
                <a:latin typeface="微软雅黑" charset="-122"/>
                <a:ea typeface="微软雅黑" charset="-122"/>
                <a:cs typeface="微软雅黑" charset="-122"/>
                <a:sym typeface="+mn-ea"/>
              </a:rPr>
              <a:t>用</a:t>
            </a:r>
            <a:r>
              <a:rPr sz="1200" spc="110" dirty="0" err="1">
                <a:solidFill>
                  <a:srgbClr val="595959">
                    <a:alpha val="100000"/>
                  </a:srgbClr>
                </a:solidFill>
                <a:latin typeface="微软雅黑" charset="-122"/>
                <a:ea typeface="微软雅黑" charset="-122"/>
                <a:cs typeface="微软雅黑" charset="-122"/>
                <a:sym typeface="+mn-ea"/>
              </a:rPr>
              <a:t>于和监督任务无关的</a:t>
            </a:r>
            <a:r>
              <a:rPr sz="1200" spc="110" dirty="0">
                <a:solidFill>
                  <a:srgbClr val="595959">
                    <a:alpha val="100000"/>
                  </a:srgbClr>
                </a:solidFill>
                <a:latin typeface="微软雅黑" charset="-122"/>
                <a:ea typeface="微软雅黑" charset="-122"/>
                <a:cs typeface="微软雅黑" charset="-122"/>
                <a:sym typeface="+mn-ea"/>
              </a:rPr>
              <a:t> </a:t>
            </a:r>
            <a:r>
              <a:rPr sz="1200" dirty="0">
                <a:solidFill>
                  <a:srgbClr val="595959">
                    <a:alpha val="100000"/>
                  </a:srgbClr>
                </a:solidFill>
                <a:latin typeface="微软雅黑" charset="-122"/>
                <a:ea typeface="微软雅黑" charset="-122"/>
                <a:cs typeface="微软雅黑" charset="-122"/>
                <a:sym typeface="+mn-ea"/>
              </a:rPr>
              <a:t>NLP</a:t>
            </a:r>
            <a:r>
              <a:rPr sz="1200" spc="110" dirty="0">
                <a:solidFill>
                  <a:srgbClr val="595959">
                    <a:alpha val="100000"/>
                  </a:srgbClr>
                </a:solidFill>
                <a:latin typeface="微软雅黑" charset="-122"/>
                <a:ea typeface="微软雅黑" charset="-122"/>
                <a:cs typeface="微软雅黑" charset="-122"/>
                <a:sym typeface="+mn-ea"/>
              </a:rPr>
              <a:t> 任务</a:t>
            </a:r>
            <a:r>
              <a:rPr sz="1200" dirty="0">
                <a:solidFill>
                  <a:srgbClr val="595959">
                    <a:alpha val="100000"/>
                  </a:srgbClr>
                </a:solidFill>
                <a:latin typeface="微软雅黑" charset="-122"/>
                <a:ea typeface="微软雅黑" charset="-122"/>
                <a:cs typeface="微软雅黑" charset="-122"/>
                <a:sym typeface="+mn-ea"/>
              </a:rPr>
              <a:t>中</a:t>
            </a:r>
            <a:endParaRPr lang="zh-CN" altLang="en-US" sz="1200" dirty="0">
              <a:solidFill>
                <a:srgbClr val="595959">
                  <a:alpha val="100000"/>
                </a:srgbClr>
              </a:solidFill>
              <a:latin typeface="微软雅黑" charset="-122"/>
              <a:ea typeface="微软雅黑" charset="-122"/>
              <a:cs typeface="微软雅黑" charset="-122"/>
              <a:sym typeface="+mn-ea"/>
            </a:endParaRPr>
          </a:p>
        </p:txBody>
      </p:sp>
      <p:sp>
        <p:nvSpPr>
          <p:cNvPr id="13" name="文本框 12"/>
          <p:cNvSpPr txBox="1"/>
          <p:nvPr/>
        </p:nvSpPr>
        <p:spPr>
          <a:xfrm>
            <a:off x="3486150" y="4408170"/>
            <a:ext cx="1589405" cy="1322705"/>
          </a:xfrm>
          <a:prstGeom prst="rect">
            <a:avLst/>
          </a:prstGeom>
          <a:noFill/>
        </p:spPr>
        <p:txBody>
          <a:bodyPr wrap="square" rtlCol="0" anchor="t">
            <a:noAutofit/>
          </a:bodyPr>
          <a:p>
            <a:pPr marL="12700" indent="6985" algn="l" rtl="0" eaLnBrk="0">
              <a:lnSpc>
                <a:spcPct val="111000"/>
              </a:lnSpc>
            </a:pPr>
            <a:r>
              <a:rPr sz="1200" spc="110" dirty="0">
                <a:solidFill>
                  <a:srgbClr val="595959">
                    <a:alpha val="100000"/>
                  </a:srgbClr>
                </a:solidFill>
                <a:latin typeface="微软雅黑" charset="-122"/>
                <a:ea typeface="微软雅黑" charset="-122"/>
                <a:cs typeface="微软雅黑" charset="-122"/>
                <a:sym typeface="+mn-ea"/>
              </a:rPr>
              <a:t>除了理解能力外 ，</a:t>
            </a:r>
            <a:r>
              <a:rPr sz="1200" dirty="0">
                <a:solidFill>
                  <a:srgbClr val="595959">
                    <a:alpha val="100000"/>
                  </a:srgbClr>
                </a:solidFill>
                <a:latin typeface="微软雅黑" charset="-122"/>
                <a:ea typeface="微软雅黑" charset="-122"/>
                <a:cs typeface="微软雅黑" charset="-122"/>
                <a:sym typeface="+mn-ea"/>
              </a:rPr>
              <a:t>GPT</a:t>
            </a:r>
            <a:r>
              <a:rPr sz="1200" spc="110" dirty="0">
                <a:solidFill>
                  <a:srgbClr val="595959">
                    <a:alpha val="100000"/>
                  </a:srgbClr>
                </a:solidFill>
                <a:latin typeface="微软雅黑" charset="-122"/>
                <a:ea typeface="微软雅黑" charset="-122"/>
                <a:cs typeface="微软雅黑" charset="-122"/>
                <a:sym typeface="+mn-ea"/>
              </a:rPr>
              <a:t>-2 在生成方面表现出</a:t>
            </a:r>
            <a:r>
              <a:rPr sz="1200" spc="70" dirty="0">
                <a:solidFill>
                  <a:srgbClr val="595959">
                    <a:alpha val="100000"/>
                  </a:srgbClr>
                </a:solidFill>
                <a:latin typeface="微软雅黑" charset="-122"/>
                <a:ea typeface="微软雅黑" charset="-122"/>
                <a:cs typeface="微软雅黑" charset="-122"/>
                <a:sym typeface="+mn-ea"/>
              </a:rPr>
              <a:t>了</a:t>
            </a:r>
            <a:r>
              <a:rPr sz="1200" spc="30" dirty="0">
                <a:solidFill>
                  <a:srgbClr val="595959">
                    <a:alpha val="100000"/>
                  </a:srgbClr>
                </a:solidFill>
                <a:latin typeface="微软雅黑" charset="-122"/>
                <a:ea typeface="微软雅黑" charset="-122"/>
                <a:cs typeface="微软雅黑" charset="-122"/>
                <a:sym typeface="+mn-ea"/>
              </a:rPr>
              <a:t>强大的</a:t>
            </a:r>
            <a:r>
              <a:rPr lang="zh-CN" sz="1200" spc="30" dirty="0">
                <a:solidFill>
                  <a:srgbClr val="595959">
                    <a:alpha val="100000"/>
                  </a:srgbClr>
                </a:solidFill>
                <a:latin typeface="微软雅黑" charset="-122"/>
                <a:ea typeface="微软雅黑" charset="-122"/>
                <a:cs typeface="微软雅黑" charset="-122"/>
                <a:sym typeface="+mn-ea"/>
              </a:rPr>
              <a:t>应用能力</a:t>
            </a:r>
            <a:r>
              <a:rPr sz="1200" spc="30" dirty="0">
                <a:solidFill>
                  <a:srgbClr val="595959">
                    <a:alpha val="100000"/>
                  </a:srgbClr>
                </a:solidFill>
                <a:latin typeface="微软雅黑" charset="-122"/>
                <a:ea typeface="微软雅黑" charset="-122"/>
                <a:cs typeface="微软雅黑" charset="-122"/>
                <a:sym typeface="+mn-ea"/>
              </a:rPr>
              <a:t>：阅读摘要 、  聊天 、  续</a:t>
            </a:r>
            <a:r>
              <a:rPr sz="1200" spc="20" dirty="0">
                <a:solidFill>
                  <a:srgbClr val="595959">
                    <a:alpha val="100000"/>
                  </a:srgbClr>
                </a:solidFill>
                <a:latin typeface="微软雅黑" charset="-122"/>
                <a:ea typeface="微软雅黑" charset="-122"/>
                <a:cs typeface="微软雅黑" charset="-122"/>
                <a:sym typeface="+mn-ea"/>
              </a:rPr>
              <a:t>写</a:t>
            </a:r>
            <a:r>
              <a:rPr sz="1200" dirty="0">
                <a:solidFill>
                  <a:srgbClr val="595959">
                    <a:alpha val="100000"/>
                  </a:srgbClr>
                </a:solidFill>
                <a:latin typeface="微软雅黑" charset="-122"/>
                <a:ea typeface="微软雅黑" charset="-122"/>
                <a:cs typeface="微软雅黑" charset="-122"/>
                <a:sym typeface="+mn-ea"/>
              </a:rPr>
              <a:t>、  编故事</a:t>
            </a:r>
            <a:r>
              <a:rPr lang="zh-CN" sz="1200" dirty="0">
                <a:solidFill>
                  <a:srgbClr val="595959">
                    <a:alpha val="100000"/>
                  </a:srgbClr>
                </a:solidFill>
                <a:latin typeface="微软雅黑" charset="-122"/>
                <a:ea typeface="微软雅黑" charset="-122"/>
                <a:cs typeface="微软雅黑" charset="-122"/>
                <a:sym typeface="+mn-ea"/>
              </a:rPr>
              <a:t>等</a:t>
            </a:r>
            <a:endParaRPr lang="zh-CN" sz="1200" dirty="0">
              <a:solidFill>
                <a:srgbClr val="595959">
                  <a:alpha val="100000"/>
                </a:srgbClr>
              </a:solidFill>
              <a:latin typeface="微软雅黑" charset="-122"/>
              <a:ea typeface="微软雅黑" charset="-122"/>
              <a:cs typeface="微软雅黑" charset="-122"/>
              <a:sym typeface="+mn-ea"/>
            </a:endParaRPr>
          </a:p>
        </p:txBody>
      </p:sp>
      <p:sp>
        <p:nvSpPr>
          <p:cNvPr id="14" name="文本框 13"/>
          <p:cNvSpPr txBox="1"/>
          <p:nvPr/>
        </p:nvSpPr>
        <p:spPr>
          <a:xfrm>
            <a:off x="5106035" y="4408170"/>
            <a:ext cx="2048510" cy="1318260"/>
          </a:xfrm>
          <a:prstGeom prst="rect">
            <a:avLst/>
          </a:prstGeom>
          <a:noFill/>
        </p:spPr>
        <p:txBody>
          <a:bodyPr wrap="square" rtlCol="0" anchor="t">
            <a:spAutoFit/>
          </a:bodyPr>
          <a:p>
            <a:pPr marL="12700" indent="5080" algn="l" rtl="0" eaLnBrk="0">
              <a:lnSpc>
                <a:spcPct val="111000"/>
              </a:lnSpc>
              <a:spcBef>
                <a:spcPts val="25"/>
              </a:spcBef>
            </a:pPr>
            <a:r>
              <a:rPr sz="1200" dirty="0">
                <a:solidFill>
                  <a:srgbClr val="595959">
                    <a:alpha val="100000"/>
                  </a:srgbClr>
                </a:solidFill>
                <a:latin typeface="微软雅黑" charset="-122"/>
                <a:ea typeface="微软雅黑" charset="-122"/>
                <a:cs typeface="微软雅黑" charset="-122"/>
                <a:sym typeface="+mn-ea"/>
              </a:rPr>
              <a:t>GPT</a:t>
            </a:r>
            <a:r>
              <a:rPr sz="1200" spc="100" dirty="0">
                <a:solidFill>
                  <a:srgbClr val="595959">
                    <a:alpha val="100000"/>
                  </a:srgbClr>
                </a:solidFill>
                <a:latin typeface="微软雅黑" charset="-122"/>
                <a:ea typeface="微软雅黑" charset="-122"/>
                <a:cs typeface="微软雅黑" charset="-122"/>
                <a:sym typeface="+mn-ea"/>
              </a:rPr>
              <a:t>-3</a:t>
            </a:r>
            <a:r>
              <a:rPr sz="1200" spc="130" dirty="0">
                <a:solidFill>
                  <a:srgbClr val="595959">
                    <a:alpha val="100000"/>
                  </a:srgbClr>
                </a:solidFill>
                <a:latin typeface="微软雅黑" charset="-122"/>
                <a:ea typeface="微软雅黑" charset="-122"/>
                <a:cs typeface="微软雅黑" charset="-122"/>
                <a:sym typeface="+mn-ea"/>
              </a:rPr>
              <a:t>可以完成自然语言处理的绝</a:t>
            </a:r>
            <a:r>
              <a:rPr sz="1200" spc="90" dirty="0">
                <a:solidFill>
                  <a:srgbClr val="595959">
                    <a:alpha val="100000"/>
                  </a:srgbClr>
                </a:solidFill>
                <a:latin typeface="微软雅黑" charset="-122"/>
                <a:ea typeface="微软雅黑" charset="-122"/>
                <a:cs typeface="微软雅黑" charset="-122"/>
                <a:sym typeface="+mn-ea"/>
              </a:rPr>
              <a:t>大</a:t>
            </a:r>
            <a:r>
              <a:rPr sz="1200" spc="130" dirty="0">
                <a:solidFill>
                  <a:srgbClr val="595959">
                    <a:alpha val="100000"/>
                  </a:srgbClr>
                </a:solidFill>
                <a:latin typeface="微软雅黑" charset="-122"/>
                <a:ea typeface="微软雅黑" charset="-122"/>
                <a:cs typeface="微软雅黑" charset="-122"/>
                <a:sym typeface="+mn-ea"/>
              </a:rPr>
              <a:t>部分任务：将网页描述转换</a:t>
            </a:r>
            <a:r>
              <a:rPr sz="1200" spc="90" dirty="0">
                <a:solidFill>
                  <a:srgbClr val="595959">
                    <a:alpha val="100000"/>
                  </a:srgbClr>
                </a:solidFill>
                <a:latin typeface="微软雅黑" charset="-122"/>
                <a:ea typeface="微软雅黑" charset="-122"/>
                <a:cs typeface="微软雅黑" charset="-122"/>
                <a:sym typeface="+mn-ea"/>
              </a:rPr>
              <a:t>为</a:t>
            </a:r>
            <a:r>
              <a:rPr sz="1200" dirty="0">
                <a:solidFill>
                  <a:srgbClr val="595959">
                    <a:alpha val="100000"/>
                  </a:srgbClr>
                </a:solidFill>
                <a:latin typeface="微软雅黑" charset="-122"/>
                <a:ea typeface="微软雅黑" charset="-122"/>
                <a:cs typeface="微软雅黑" charset="-122"/>
                <a:sym typeface="+mn-ea"/>
              </a:rPr>
              <a:t> </a:t>
            </a:r>
            <a:r>
              <a:rPr sz="1200" spc="40" dirty="0">
                <a:solidFill>
                  <a:srgbClr val="595959">
                    <a:alpha val="100000"/>
                  </a:srgbClr>
                </a:solidFill>
                <a:latin typeface="微软雅黑" charset="-122"/>
                <a:ea typeface="微软雅黑" charset="-122"/>
                <a:cs typeface="微软雅黑" charset="-122"/>
                <a:sym typeface="+mn-ea"/>
              </a:rPr>
              <a:t>相应代码、  模仿人类叙事、</a:t>
            </a:r>
            <a:r>
              <a:rPr sz="1200" dirty="0">
                <a:solidFill>
                  <a:srgbClr val="595959">
                    <a:alpha val="100000"/>
                  </a:srgbClr>
                </a:solidFill>
                <a:latin typeface="微软雅黑" charset="-122"/>
                <a:ea typeface="微软雅黑" charset="-122"/>
                <a:cs typeface="微软雅黑" charset="-122"/>
                <a:sym typeface="+mn-ea"/>
              </a:rPr>
              <a:t>创 </a:t>
            </a:r>
            <a:r>
              <a:rPr sz="1200" spc="70" dirty="0">
                <a:solidFill>
                  <a:srgbClr val="595959">
                    <a:alpha val="100000"/>
                  </a:srgbClr>
                </a:solidFill>
                <a:latin typeface="微软雅黑" charset="-122"/>
                <a:ea typeface="微软雅黑" charset="-122"/>
                <a:cs typeface="微软雅黑" charset="-122"/>
                <a:sym typeface="+mn-ea"/>
              </a:rPr>
              <a:t>作定制诗歌、  生成游戏剧本</a:t>
            </a:r>
            <a:r>
              <a:rPr sz="1200" dirty="0">
                <a:solidFill>
                  <a:srgbClr val="595959">
                    <a:alpha val="100000"/>
                  </a:srgbClr>
                </a:solidFill>
                <a:latin typeface="微软雅黑" charset="-122"/>
                <a:ea typeface="微软雅黑" charset="-122"/>
                <a:cs typeface="微软雅黑" charset="-122"/>
                <a:sym typeface="+mn-ea"/>
              </a:rPr>
              <a:t> </a:t>
            </a:r>
            <a:r>
              <a:rPr lang="zh-CN" sz="1200" dirty="0">
                <a:solidFill>
                  <a:srgbClr val="595959">
                    <a:alpha val="100000"/>
                  </a:srgbClr>
                </a:solidFill>
                <a:latin typeface="微软雅黑" charset="-122"/>
                <a:ea typeface="微软雅黑" charset="-122"/>
                <a:cs typeface="微软雅黑" charset="-122"/>
                <a:sym typeface="+mn-ea"/>
              </a:rPr>
              <a:t>等</a:t>
            </a:r>
            <a:endParaRPr lang="zh-CN" sz="1200" dirty="0">
              <a:solidFill>
                <a:srgbClr val="595959">
                  <a:alpha val="100000"/>
                </a:srgbClr>
              </a:solidFill>
              <a:latin typeface="微软雅黑" charset="-122"/>
              <a:ea typeface="微软雅黑" charset="-122"/>
              <a:cs typeface="微软雅黑" charset="-122"/>
              <a:sym typeface="+mn-ea"/>
            </a:endParaRPr>
          </a:p>
        </p:txBody>
      </p:sp>
      <p:sp>
        <p:nvSpPr>
          <p:cNvPr id="19" name="文本框 18"/>
          <p:cNvSpPr txBox="1"/>
          <p:nvPr/>
        </p:nvSpPr>
        <p:spPr>
          <a:xfrm>
            <a:off x="7233920" y="4408170"/>
            <a:ext cx="1553210" cy="1529715"/>
          </a:xfrm>
          <a:prstGeom prst="rect">
            <a:avLst/>
          </a:prstGeom>
          <a:noFill/>
        </p:spPr>
        <p:txBody>
          <a:bodyPr wrap="square" rtlCol="0" anchor="t">
            <a:spAutoFit/>
          </a:bodyPr>
          <a:p>
            <a:pPr indent="-3810" algn="l" rtl="0" eaLnBrk="0">
              <a:lnSpc>
                <a:spcPct val="130000"/>
              </a:lnSpc>
            </a:pPr>
            <a:r>
              <a:rPr lang="en-US" altLang="zh-CN" sz="1200" dirty="0" err="1">
                <a:solidFill>
                  <a:srgbClr val="595959">
                    <a:alpha val="100000"/>
                  </a:srgbClr>
                </a:solidFill>
                <a:latin typeface="微软雅黑" charset="-122"/>
                <a:ea typeface="微软雅黑" charset="-122"/>
                <a:cs typeface="微软雅黑" charset="-122"/>
                <a:sym typeface="+mn-ea"/>
              </a:rPr>
              <a:t>InstructGPT</a:t>
            </a:r>
            <a:r>
              <a:rPr lang="zh-CN" altLang="en-US" sz="1200" spc="200" dirty="0">
                <a:solidFill>
                  <a:srgbClr val="595959">
                    <a:alpha val="100000"/>
                  </a:srgbClr>
                </a:solidFill>
                <a:latin typeface="微软雅黑" charset="-122"/>
                <a:ea typeface="微软雅黑" charset="-122"/>
                <a:cs typeface="微软雅黑" charset="-122"/>
                <a:sym typeface="+mn-ea"/>
              </a:rPr>
              <a:t>是一个经过微</a:t>
            </a:r>
            <a:r>
              <a:rPr lang="zh-CN" altLang="en-US" sz="1200" spc="160" dirty="0">
                <a:solidFill>
                  <a:srgbClr val="595959">
                    <a:alpha val="100000"/>
                  </a:srgbClr>
                </a:solidFill>
                <a:latin typeface="微软雅黑" charset="-122"/>
                <a:ea typeface="微软雅黑" charset="-122"/>
                <a:cs typeface="微软雅黑" charset="-122"/>
                <a:sym typeface="+mn-ea"/>
              </a:rPr>
              <a:t>调</a:t>
            </a:r>
            <a:r>
              <a:rPr lang="zh-CN" altLang="en-US" sz="1200" spc="80" dirty="0">
                <a:solidFill>
                  <a:srgbClr val="595959">
                    <a:alpha val="100000"/>
                  </a:srgbClr>
                </a:solidFill>
                <a:latin typeface="微软雅黑" charset="-122"/>
                <a:ea typeface="微软雅黑" charset="-122"/>
                <a:cs typeface="微软雅黑" charset="-122"/>
                <a:sym typeface="+mn-ea"/>
              </a:rPr>
              <a:t>的新版</a:t>
            </a:r>
            <a:r>
              <a:rPr lang="en-US" altLang="zh-CN" sz="1200" dirty="0">
                <a:solidFill>
                  <a:srgbClr val="595959">
                    <a:alpha val="100000"/>
                  </a:srgbClr>
                </a:solidFill>
                <a:latin typeface="微软雅黑" charset="-122"/>
                <a:ea typeface="微软雅黑" charset="-122"/>
                <a:cs typeface="微软雅黑" charset="-122"/>
                <a:sym typeface="+mn-ea"/>
              </a:rPr>
              <a:t>GPT</a:t>
            </a:r>
            <a:r>
              <a:rPr lang="en-US" altLang="zh-CN" sz="1200" spc="80" dirty="0">
                <a:solidFill>
                  <a:srgbClr val="595959">
                    <a:alpha val="100000"/>
                  </a:srgbClr>
                </a:solidFill>
                <a:latin typeface="微软雅黑" charset="-122"/>
                <a:ea typeface="微软雅黑" charset="-122"/>
                <a:cs typeface="微软雅黑" charset="-122"/>
                <a:sym typeface="+mn-ea"/>
              </a:rPr>
              <a:t>-3</a:t>
            </a:r>
            <a:r>
              <a:rPr lang="zh-CN" altLang="en-US" sz="1200" spc="80" dirty="0">
                <a:solidFill>
                  <a:srgbClr val="595959">
                    <a:alpha val="100000"/>
                  </a:srgbClr>
                </a:solidFill>
                <a:latin typeface="微软雅黑" charset="-122"/>
                <a:ea typeface="微软雅黑" charset="-122"/>
                <a:cs typeface="微软雅黑" charset="-122"/>
                <a:sym typeface="+mn-ea"/>
              </a:rPr>
              <a:t>，可以将有</a:t>
            </a:r>
            <a:r>
              <a:rPr lang="zh-CN" altLang="en-US" sz="1200" spc="30" dirty="0">
                <a:solidFill>
                  <a:srgbClr val="595959">
                    <a:alpha val="100000"/>
                  </a:srgbClr>
                </a:solidFill>
                <a:latin typeface="微软雅黑" charset="-122"/>
                <a:ea typeface="微软雅黑" charset="-122"/>
                <a:cs typeface="微软雅黑" charset="-122"/>
                <a:sym typeface="+mn-ea"/>
              </a:rPr>
              <a:t>害</a:t>
            </a:r>
            <a:r>
              <a:rPr lang="zh-CN" altLang="en-US" sz="1200" spc="70" dirty="0">
                <a:solidFill>
                  <a:srgbClr val="595959">
                    <a:alpha val="100000"/>
                  </a:srgbClr>
                </a:solidFill>
                <a:latin typeface="微软雅黑" charset="-122"/>
                <a:ea typeface="微软雅黑" charset="-122"/>
                <a:cs typeface="微软雅黑" charset="-122"/>
                <a:sym typeface="+mn-ea"/>
              </a:rPr>
              <a:t>的、不真实的和有偏差的</a:t>
            </a:r>
            <a:r>
              <a:rPr lang="zh-CN" altLang="en-US" sz="1200" spc="30" dirty="0">
                <a:solidFill>
                  <a:srgbClr val="595959">
                    <a:alpha val="100000"/>
                  </a:srgbClr>
                </a:solidFill>
                <a:latin typeface="微软雅黑" charset="-122"/>
                <a:ea typeface="微软雅黑" charset="-122"/>
                <a:cs typeface="微软雅黑" charset="-122"/>
                <a:sym typeface="+mn-ea"/>
              </a:rPr>
              <a:t>输</a:t>
            </a:r>
            <a:r>
              <a:rPr lang="zh-CN" altLang="en-US" sz="1200" spc="100" dirty="0">
                <a:solidFill>
                  <a:srgbClr val="595959">
                    <a:alpha val="100000"/>
                  </a:srgbClr>
                </a:solidFill>
                <a:latin typeface="微软雅黑" charset="-122"/>
                <a:ea typeface="微软雅黑" charset="-122"/>
                <a:cs typeface="微软雅黑" charset="-122"/>
                <a:sym typeface="+mn-ea"/>
              </a:rPr>
              <a:t>出最小</a:t>
            </a:r>
            <a:r>
              <a:rPr lang="zh-CN" altLang="en-US" sz="1200" spc="60" dirty="0">
                <a:solidFill>
                  <a:srgbClr val="595959">
                    <a:alpha val="100000"/>
                  </a:srgbClr>
                </a:solidFill>
                <a:latin typeface="微软雅黑" charset="-122"/>
                <a:ea typeface="微软雅黑" charset="-122"/>
                <a:cs typeface="微软雅黑" charset="-122"/>
                <a:sym typeface="+mn-ea"/>
              </a:rPr>
              <a:t>化</a:t>
            </a:r>
            <a:endParaRPr lang="zh-CN" altLang="en-US" sz="1200" spc="60" dirty="0">
              <a:solidFill>
                <a:srgbClr val="595959">
                  <a:alpha val="100000"/>
                </a:srgbClr>
              </a:solidFill>
              <a:latin typeface="微软雅黑" charset="-122"/>
              <a:ea typeface="微软雅黑" charset="-122"/>
              <a:cs typeface="微软雅黑" charset="-122"/>
              <a:sym typeface="+mn-ea"/>
            </a:endParaRPr>
          </a:p>
        </p:txBody>
      </p:sp>
      <p:sp>
        <p:nvSpPr>
          <p:cNvPr id="24" name="文本框 23"/>
          <p:cNvSpPr txBox="1"/>
          <p:nvPr/>
        </p:nvSpPr>
        <p:spPr>
          <a:xfrm>
            <a:off x="8877935" y="4408170"/>
            <a:ext cx="1589405" cy="1529715"/>
          </a:xfrm>
          <a:prstGeom prst="rect">
            <a:avLst/>
          </a:prstGeom>
          <a:noFill/>
        </p:spPr>
        <p:txBody>
          <a:bodyPr wrap="square" rtlCol="0" anchor="t">
            <a:spAutoFit/>
          </a:bodyPr>
          <a:p>
            <a:pPr indent="-3810" algn="l" rtl="0" eaLnBrk="0">
              <a:lnSpc>
                <a:spcPct val="130000"/>
              </a:lnSpc>
              <a:buClrTx/>
              <a:buSzTx/>
              <a:buFontTx/>
            </a:pPr>
            <a:r>
              <a:rPr lang="en-US" altLang="zh-CN" sz="1200" dirty="0" err="1">
                <a:solidFill>
                  <a:srgbClr val="595959">
                    <a:alpha val="100000"/>
                  </a:srgbClr>
                </a:solidFill>
                <a:latin typeface="微软雅黑" charset="-122"/>
                <a:ea typeface="微软雅黑" charset="-122"/>
                <a:cs typeface="微软雅黑" charset="-122"/>
                <a:sym typeface="+mn-ea"/>
              </a:rPr>
              <a:t>ChatGPT 是 InstructGPT 的 衍生产品 ，它将人类的反馈 纳入训练过程 ，更好地使模 型输出与用户意图保持一致</a:t>
            </a:r>
            <a:endParaRPr lang="en-US" altLang="zh-CN" sz="1200" dirty="0" err="1">
              <a:solidFill>
                <a:srgbClr val="595959">
                  <a:alpha val="100000"/>
                </a:srgbClr>
              </a:solidFill>
              <a:latin typeface="微软雅黑" charset="-122"/>
              <a:ea typeface="微软雅黑" charset="-122"/>
              <a:cs typeface="微软雅黑" charset="-122"/>
              <a:sym typeface="+mn-ea"/>
            </a:endParaRPr>
          </a:p>
        </p:txBody>
      </p:sp>
    </p:spTree>
    <p:custDataLst>
      <p:tags r:id="rId37"/>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p>
            <a:pPr algn="l">
              <a:buClrTx/>
              <a:buSzTx/>
              <a:buFontTx/>
            </a:pPr>
            <a:r>
              <a:rPr lang="en-US" altLang="zh-CN">
                <a:sym typeface="+mn-lt"/>
              </a:rPr>
              <a:t>ChatGPT</a:t>
            </a:r>
            <a:r>
              <a:rPr lang="zh-CN" altLang="en-US">
                <a:sym typeface="+mn-lt"/>
              </a:rPr>
              <a:t>——大模型的</a:t>
            </a:r>
            <a:r>
              <a:rPr lang="zh-CN" altLang="en-US">
                <a:sym typeface="+mn-lt"/>
              </a:rPr>
              <a:t>点火试验</a:t>
            </a:r>
            <a:endParaRPr lang="zh-CN" altLang="en-US">
              <a:sym typeface="+mn-lt"/>
            </a:endParaRPr>
          </a:p>
        </p:txBody>
      </p:sp>
      <p:sp>
        <p:nvSpPr>
          <p:cNvPr id="27" name="TextBox 4"/>
          <p:cNvSpPr txBox="1"/>
          <p:nvPr/>
        </p:nvSpPr>
        <p:spPr>
          <a:xfrm>
            <a:off x="2283678" y="6328295"/>
            <a:ext cx="1294992" cy="127635"/>
          </a:xfrm>
          <a:prstGeom prst="rect">
            <a:avLst/>
          </a:prstGeom>
          <a:noFill/>
        </p:spPr>
        <p:txBody>
          <a:bodyPr wrap="square" rtlCol="0">
            <a:spAutoFit/>
          </a:bodyPr>
          <a:lstStyle/>
          <a:p>
            <a:pPr>
              <a:lnSpc>
                <a:spcPct val="200000"/>
              </a:lnSpc>
            </a:pPr>
            <a:r>
              <a:rPr lang="zh-CN" altLang="en-US" sz="120" dirty="0">
                <a:solidFill>
                  <a:schemeClr val="bg1"/>
                </a:solidFill>
                <a:latin typeface="微软雅黑" charset="-122"/>
              </a:rPr>
              <a:t>行业</a:t>
            </a:r>
            <a:r>
              <a:rPr lang="en-US" altLang="zh-CN" sz="120" dirty="0">
                <a:solidFill>
                  <a:schemeClr val="bg1"/>
                </a:solidFill>
                <a:latin typeface="微软雅黑" charset="-122"/>
              </a:rPr>
              <a:t>PPT</a:t>
            </a:r>
            <a:r>
              <a:rPr lang="zh-CN" altLang="en-US" sz="120" dirty="0">
                <a:solidFill>
                  <a:schemeClr val="bg1"/>
                </a:solidFill>
                <a:latin typeface="微软雅黑" charset="-122"/>
              </a:rPr>
              <a:t>模板</a:t>
            </a:r>
            <a:r>
              <a:rPr lang="en-US" altLang="zh-CN" sz="120" dirty="0">
                <a:solidFill>
                  <a:schemeClr val="bg1"/>
                </a:solidFill>
                <a:latin typeface="微软雅黑" charset="-122"/>
              </a:rPr>
              <a:t>http://www.1ppt.com/hangye/</a:t>
            </a:r>
            <a:endParaRPr lang="en-US" altLang="zh-CN" sz="120" dirty="0">
              <a:solidFill>
                <a:schemeClr val="bg1"/>
              </a:solidFill>
              <a:latin typeface="微软雅黑" charset="-122"/>
            </a:endParaRPr>
          </a:p>
        </p:txBody>
      </p:sp>
      <p:pic>
        <p:nvPicPr>
          <p:cNvPr id="2" name="Picture 1"/>
          <p:cNvPicPr>
            <a:picLocks noChangeAspect="1"/>
          </p:cNvPicPr>
          <p:nvPr/>
        </p:nvPicPr>
        <p:blipFill>
          <a:blip r:embed="rId1"/>
          <a:stretch>
            <a:fillRect/>
          </a:stretch>
        </p:blipFill>
        <p:spPr>
          <a:xfrm>
            <a:off x="2197264" y="1360652"/>
            <a:ext cx="8028915" cy="45161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14:prism isContent="1"/>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fontScale="90000"/>
          </a:bodyPr>
          <a:p>
            <a:pPr algn="l">
              <a:buClrTx/>
              <a:buSzTx/>
              <a:buFontTx/>
            </a:pPr>
            <a:r>
              <a:rPr>
                <a:sym typeface="+mn-ea"/>
              </a:rPr>
              <a:t>比尔·盖茨：ChatGPT出现的意义,不亚于互联网和个人电脑的诞生</a:t>
            </a:r>
            <a:endParaRPr lang="zh-CN" altLang="en-US">
              <a:sym typeface="+mn-lt"/>
            </a:endParaRPr>
          </a:p>
        </p:txBody>
      </p:sp>
      <p:sp>
        <p:nvSpPr>
          <p:cNvPr id="27" name="TextBox 4"/>
          <p:cNvSpPr txBox="1"/>
          <p:nvPr/>
        </p:nvSpPr>
        <p:spPr>
          <a:xfrm>
            <a:off x="2283678" y="6328295"/>
            <a:ext cx="1294992" cy="127635"/>
          </a:xfrm>
          <a:prstGeom prst="rect">
            <a:avLst/>
          </a:prstGeom>
          <a:noFill/>
        </p:spPr>
        <p:txBody>
          <a:bodyPr wrap="square" rtlCol="0">
            <a:spAutoFit/>
          </a:bodyPr>
          <a:lstStyle/>
          <a:p>
            <a:pPr>
              <a:lnSpc>
                <a:spcPct val="200000"/>
              </a:lnSpc>
            </a:pPr>
            <a:r>
              <a:rPr lang="zh-CN" altLang="en-US" sz="120" dirty="0">
                <a:solidFill>
                  <a:schemeClr val="bg1"/>
                </a:solidFill>
                <a:latin typeface="微软雅黑" charset="-122"/>
              </a:rPr>
              <a:t>行业</a:t>
            </a:r>
            <a:r>
              <a:rPr lang="en-US" altLang="zh-CN" sz="120" dirty="0">
                <a:solidFill>
                  <a:schemeClr val="bg1"/>
                </a:solidFill>
                <a:latin typeface="微软雅黑" charset="-122"/>
              </a:rPr>
              <a:t>PPT</a:t>
            </a:r>
            <a:r>
              <a:rPr lang="zh-CN" altLang="en-US" sz="120" dirty="0">
                <a:solidFill>
                  <a:schemeClr val="bg1"/>
                </a:solidFill>
                <a:latin typeface="微软雅黑" charset="-122"/>
              </a:rPr>
              <a:t>模板</a:t>
            </a:r>
            <a:r>
              <a:rPr lang="en-US" altLang="zh-CN" sz="120" dirty="0">
                <a:solidFill>
                  <a:schemeClr val="bg1"/>
                </a:solidFill>
                <a:latin typeface="微软雅黑" charset="-122"/>
              </a:rPr>
              <a:t>http://www.1ppt.com/hangye/</a:t>
            </a:r>
            <a:endParaRPr lang="en-US" altLang="zh-CN" sz="120" dirty="0">
              <a:solidFill>
                <a:schemeClr val="bg1"/>
              </a:solidFill>
              <a:latin typeface="微软雅黑" charset="-122"/>
            </a:endParaRPr>
          </a:p>
        </p:txBody>
      </p:sp>
      <p:sp>
        <p:nvSpPr>
          <p:cNvPr id="4" name="object 4"/>
          <p:cNvSpPr/>
          <p:nvPr/>
        </p:nvSpPr>
        <p:spPr>
          <a:xfrm>
            <a:off x="847436" y="2067754"/>
            <a:ext cx="4667864" cy="98781"/>
          </a:xfrm>
          <a:custGeom>
            <a:avLst/>
            <a:gdLst/>
            <a:ahLst/>
            <a:cxnLst/>
            <a:rect l="l" t="t" r="r" b="b"/>
            <a:pathLst>
              <a:path w="5191125" h="109855">
                <a:moveTo>
                  <a:pt x="5152898" y="33527"/>
                </a:moveTo>
                <a:lnTo>
                  <a:pt x="5138029" y="36423"/>
                </a:lnTo>
                <a:lnTo>
                  <a:pt x="5125862" y="44497"/>
                </a:lnTo>
                <a:lnTo>
                  <a:pt x="5117625" y="56548"/>
                </a:lnTo>
                <a:lnTo>
                  <a:pt x="5115861" y="65036"/>
                </a:lnTo>
                <a:lnTo>
                  <a:pt x="5152644" y="65277"/>
                </a:lnTo>
                <a:lnTo>
                  <a:pt x="5152644" y="77977"/>
                </a:lnTo>
                <a:lnTo>
                  <a:pt x="5115829" y="77977"/>
                </a:lnTo>
                <a:lnTo>
                  <a:pt x="5117439" y="86242"/>
                </a:lnTo>
                <a:lnTo>
                  <a:pt x="5125513" y="98409"/>
                </a:lnTo>
                <a:lnTo>
                  <a:pt x="5137564" y="106646"/>
                </a:lnTo>
                <a:lnTo>
                  <a:pt x="5152390" y="109727"/>
                </a:lnTo>
                <a:lnTo>
                  <a:pt x="5167258" y="106832"/>
                </a:lnTo>
                <a:lnTo>
                  <a:pt x="5179425" y="98758"/>
                </a:lnTo>
                <a:lnTo>
                  <a:pt x="5187662" y="86707"/>
                </a:lnTo>
                <a:lnTo>
                  <a:pt x="5189476" y="77977"/>
                </a:lnTo>
                <a:lnTo>
                  <a:pt x="5152644" y="77977"/>
                </a:lnTo>
                <a:lnTo>
                  <a:pt x="5189527" y="77736"/>
                </a:lnTo>
                <a:lnTo>
                  <a:pt x="5190744" y="71881"/>
                </a:lnTo>
                <a:lnTo>
                  <a:pt x="5187848" y="57013"/>
                </a:lnTo>
                <a:lnTo>
                  <a:pt x="5179774" y="44846"/>
                </a:lnTo>
                <a:lnTo>
                  <a:pt x="5167723" y="36609"/>
                </a:lnTo>
                <a:lnTo>
                  <a:pt x="5152898" y="33527"/>
                </a:lnTo>
                <a:close/>
              </a:path>
              <a:path w="5191125" h="109855">
                <a:moveTo>
                  <a:pt x="5115861" y="65036"/>
                </a:moveTo>
                <a:lnTo>
                  <a:pt x="5114544" y="71374"/>
                </a:lnTo>
                <a:lnTo>
                  <a:pt x="5115782" y="77736"/>
                </a:lnTo>
                <a:lnTo>
                  <a:pt x="5152644" y="77977"/>
                </a:lnTo>
                <a:lnTo>
                  <a:pt x="5152644" y="65277"/>
                </a:lnTo>
                <a:lnTo>
                  <a:pt x="5115861" y="65036"/>
                </a:lnTo>
                <a:close/>
              </a:path>
              <a:path w="5191125" h="109855">
                <a:moveTo>
                  <a:pt x="74960" y="31991"/>
                </a:moveTo>
                <a:lnTo>
                  <a:pt x="76200" y="38353"/>
                </a:lnTo>
                <a:lnTo>
                  <a:pt x="74878" y="44691"/>
                </a:lnTo>
                <a:lnTo>
                  <a:pt x="5115782" y="77736"/>
                </a:lnTo>
                <a:lnTo>
                  <a:pt x="5114544" y="71374"/>
                </a:lnTo>
                <a:lnTo>
                  <a:pt x="5115861" y="65036"/>
                </a:lnTo>
                <a:lnTo>
                  <a:pt x="74960" y="31991"/>
                </a:lnTo>
                <a:close/>
              </a:path>
              <a:path w="5191125" h="109855">
                <a:moveTo>
                  <a:pt x="38354" y="0"/>
                </a:moveTo>
                <a:lnTo>
                  <a:pt x="23502" y="2895"/>
                </a:lnTo>
                <a:lnTo>
                  <a:pt x="11337" y="10969"/>
                </a:lnTo>
                <a:lnTo>
                  <a:pt x="3092" y="23020"/>
                </a:lnTo>
                <a:lnTo>
                  <a:pt x="0" y="37845"/>
                </a:lnTo>
                <a:lnTo>
                  <a:pt x="2895" y="52714"/>
                </a:lnTo>
                <a:lnTo>
                  <a:pt x="10979" y="64881"/>
                </a:lnTo>
                <a:lnTo>
                  <a:pt x="23035" y="73118"/>
                </a:lnTo>
                <a:lnTo>
                  <a:pt x="37846" y="76200"/>
                </a:lnTo>
                <a:lnTo>
                  <a:pt x="52697" y="73304"/>
                </a:lnTo>
                <a:lnTo>
                  <a:pt x="64862" y="65230"/>
                </a:lnTo>
                <a:lnTo>
                  <a:pt x="73107" y="53179"/>
                </a:lnTo>
                <a:lnTo>
                  <a:pt x="74878" y="44691"/>
                </a:lnTo>
                <a:lnTo>
                  <a:pt x="38061" y="44450"/>
                </a:lnTo>
                <a:lnTo>
                  <a:pt x="38138" y="31750"/>
                </a:lnTo>
                <a:lnTo>
                  <a:pt x="74913" y="31750"/>
                </a:lnTo>
                <a:lnTo>
                  <a:pt x="73303" y="23485"/>
                </a:lnTo>
                <a:lnTo>
                  <a:pt x="65216" y="11318"/>
                </a:lnTo>
                <a:lnTo>
                  <a:pt x="53159" y="3081"/>
                </a:lnTo>
                <a:lnTo>
                  <a:pt x="38354" y="0"/>
                </a:lnTo>
                <a:close/>
              </a:path>
              <a:path w="5191125" h="109855">
                <a:moveTo>
                  <a:pt x="38138" y="31750"/>
                </a:moveTo>
                <a:lnTo>
                  <a:pt x="38061" y="44450"/>
                </a:lnTo>
                <a:lnTo>
                  <a:pt x="74878" y="44691"/>
                </a:lnTo>
                <a:lnTo>
                  <a:pt x="76200" y="38353"/>
                </a:lnTo>
                <a:lnTo>
                  <a:pt x="74960" y="31991"/>
                </a:lnTo>
                <a:lnTo>
                  <a:pt x="38138" y="31750"/>
                </a:lnTo>
                <a:close/>
              </a:path>
              <a:path w="5191125" h="109855">
                <a:moveTo>
                  <a:pt x="74913" y="31750"/>
                </a:moveTo>
                <a:lnTo>
                  <a:pt x="38138" y="31750"/>
                </a:lnTo>
                <a:lnTo>
                  <a:pt x="74960" y="31991"/>
                </a:lnTo>
                <a:lnTo>
                  <a:pt x="74913" y="31750"/>
                </a:lnTo>
                <a:close/>
              </a:path>
            </a:pathLst>
          </a:custGeom>
          <a:solidFill>
            <a:srgbClr val="616161"/>
          </a:solidFill>
        </p:spPr>
        <p:txBody>
          <a:bodyPr wrap="square" lIns="0" tIns="0" rIns="0" bIns="0" rtlCol="0"/>
          <a:p>
            <a:endParaRPr sz="1620"/>
          </a:p>
        </p:txBody>
      </p:sp>
      <p:sp>
        <p:nvSpPr>
          <p:cNvPr id="5" name="object 5"/>
          <p:cNvSpPr txBox="1"/>
          <p:nvPr/>
        </p:nvSpPr>
        <p:spPr>
          <a:xfrm>
            <a:off x="944399" y="1819487"/>
            <a:ext cx="4607338" cy="204470"/>
          </a:xfrm>
          <a:prstGeom prst="rect">
            <a:avLst/>
          </a:prstGeom>
        </p:spPr>
        <p:txBody>
          <a:bodyPr vert="horz" wrap="square" lIns="0" tIns="11990" rIns="0" bIns="0" rtlCol="0">
            <a:spAutoFit/>
          </a:bodyPr>
          <a:p>
            <a:pPr marL="12700">
              <a:lnSpc>
                <a:spcPct val="100000"/>
              </a:lnSpc>
              <a:spcBef>
                <a:spcPts val="105"/>
              </a:spcBef>
            </a:pPr>
            <a:r>
              <a:rPr sz="1260" spc="-5" dirty="0">
                <a:solidFill>
                  <a:srgbClr val="171717"/>
                </a:solidFill>
                <a:latin typeface="Arial" panose="020B0604020202090204"/>
                <a:cs typeface="Arial" panose="020B0604020202090204"/>
              </a:rPr>
              <a:t>GhatGPT</a:t>
            </a:r>
            <a:r>
              <a:rPr sz="1260" dirty="0">
                <a:solidFill>
                  <a:srgbClr val="171717"/>
                </a:solidFill>
                <a:latin typeface="微软雅黑"/>
                <a:cs typeface="微软雅黑"/>
              </a:rPr>
              <a:t>仅用</a:t>
            </a:r>
            <a:r>
              <a:rPr sz="1260" spc="-5" dirty="0">
                <a:solidFill>
                  <a:srgbClr val="171717"/>
                </a:solidFill>
                <a:latin typeface="Arial" panose="020B0604020202090204"/>
                <a:cs typeface="Arial" panose="020B0604020202090204"/>
              </a:rPr>
              <a:t>5</a:t>
            </a:r>
            <a:r>
              <a:rPr sz="1260" dirty="0">
                <a:solidFill>
                  <a:srgbClr val="171717"/>
                </a:solidFill>
                <a:latin typeface="微软雅黑"/>
                <a:cs typeface="微软雅黑"/>
              </a:rPr>
              <a:t>天</a:t>
            </a:r>
            <a:r>
              <a:rPr sz="1260" spc="-15" dirty="0">
                <a:solidFill>
                  <a:srgbClr val="171717"/>
                </a:solidFill>
                <a:latin typeface="微软雅黑"/>
                <a:cs typeface="微软雅黑"/>
              </a:rPr>
              <a:t>就</a:t>
            </a:r>
            <a:r>
              <a:rPr sz="1260" dirty="0">
                <a:solidFill>
                  <a:srgbClr val="171717"/>
                </a:solidFill>
                <a:latin typeface="微软雅黑"/>
                <a:cs typeface="微软雅黑"/>
              </a:rPr>
              <a:t>拥有</a:t>
            </a:r>
            <a:r>
              <a:rPr sz="1260" spc="-5" dirty="0">
                <a:solidFill>
                  <a:srgbClr val="171717"/>
                </a:solidFill>
                <a:latin typeface="Arial" panose="020B0604020202090204"/>
                <a:cs typeface="Arial" panose="020B0604020202090204"/>
              </a:rPr>
              <a:t>100</a:t>
            </a:r>
            <a:r>
              <a:rPr sz="1260" spc="-15" dirty="0">
                <a:solidFill>
                  <a:srgbClr val="171717"/>
                </a:solidFill>
                <a:latin typeface="微软雅黑"/>
                <a:cs typeface="微软雅黑"/>
              </a:rPr>
              <a:t>万</a:t>
            </a:r>
            <a:r>
              <a:rPr sz="1260" dirty="0">
                <a:solidFill>
                  <a:srgbClr val="171717"/>
                </a:solidFill>
                <a:latin typeface="微软雅黑"/>
                <a:cs typeface="微软雅黑"/>
              </a:rPr>
              <a:t>用户</a:t>
            </a:r>
            <a:r>
              <a:rPr sz="1260" spc="-15" dirty="0">
                <a:solidFill>
                  <a:srgbClr val="171717"/>
                </a:solidFill>
                <a:latin typeface="微软雅黑"/>
                <a:cs typeface="微软雅黑"/>
              </a:rPr>
              <a:t>，</a:t>
            </a:r>
            <a:r>
              <a:rPr sz="1260" dirty="0">
                <a:solidFill>
                  <a:srgbClr val="171717"/>
                </a:solidFill>
                <a:latin typeface="微软雅黑"/>
                <a:cs typeface="微软雅黑"/>
              </a:rPr>
              <a:t>仅用</a:t>
            </a:r>
            <a:r>
              <a:rPr sz="1260" spc="-15" dirty="0">
                <a:solidFill>
                  <a:srgbClr val="171717"/>
                </a:solidFill>
                <a:latin typeface="Arial" panose="020B0604020202090204"/>
                <a:cs typeface="Arial" panose="020B0604020202090204"/>
              </a:rPr>
              <a:t>2</a:t>
            </a:r>
            <a:r>
              <a:rPr sz="1260" dirty="0">
                <a:solidFill>
                  <a:srgbClr val="171717"/>
                </a:solidFill>
                <a:latin typeface="微软雅黑"/>
                <a:cs typeface="微软雅黑"/>
              </a:rPr>
              <a:t>个</a:t>
            </a:r>
            <a:r>
              <a:rPr sz="1260" spc="-15" dirty="0">
                <a:solidFill>
                  <a:srgbClr val="171717"/>
                </a:solidFill>
                <a:latin typeface="微软雅黑"/>
                <a:cs typeface="微软雅黑"/>
              </a:rPr>
              <a:t>月</a:t>
            </a:r>
            <a:r>
              <a:rPr sz="1260" dirty="0">
                <a:solidFill>
                  <a:srgbClr val="171717"/>
                </a:solidFill>
                <a:latin typeface="微软雅黑"/>
                <a:cs typeface="微软雅黑"/>
              </a:rPr>
              <a:t>就拥</a:t>
            </a:r>
            <a:r>
              <a:rPr sz="1260" spc="-15" dirty="0">
                <a:solidFill>
                  <a:srgbClr val="171717"/>
                </a:solidFill>
                <a:latin typeface="微软雅黑"/>
                <a:cs typeface="微软雅黑"/>
              </a:rPr>
              <a:t>有</a:t>
            </a:r>
            <a:r>
              <a:rPr sz="1260" dirty="0">
                <a:solidFill>
                  <a:srgbClr val="171717"/>
                </a:solidFill>
                <a:latin typeface="微软雅黑"/>
                <a:cs typeface="微软雅黑"/>
              </a:rPr>
              <a:t>了</a:t>
            </a:r>
            <a:r>
              <a:rPr sz="1260" spc="-5" dirty="0">
                <a:solidFill>
                  <a:srgbClr val="171717"/>
                </a:solidFill>
                <a:latin typeface="Arial" panose="020B0604020202090204"/>
                <a:cs typeface="Arial" panose="020B0604020202090204"/>
              </a:rPr>
              <a:t>1</a:t>
            </a:r>
            <a:r>
              <a:rPr sz="1260" spc="-15" dirty="0">
                <a:solidFill>
                  <a:srgbClr val="171717"/>
                </a:solidFill>
                <a:latin typeface="微软雅黑"/>
                <a:cs typeface="微软雅黑"/>
              </a:rPr>
              <a:t>亿</a:t>
            </a:r>
            <a:r>
              <a:rPr sz="1260" dirty="0">
                <a:solidFill>
                  <a:srgbClr val="171717"/>
                </a:solidFill>
                <a:latin typeface="微软雅黑"/>
                <a:cs typeface="微软雅黑"/>
              </a:rPr>
              <a:t>用户</a:t>
            </a:r>
            <a:endParaRPr sz="1260">
              <a:latin typeface="微软雅黑"/>
              <a:cs typeface="微软雅黑"/>
            </a:endParaRPr>
          </a:p>
        </p:txBody>
      </p:sp>
      <p:sp>
        <p:nvSpPr>
          <p:cNvPr id="34" name="object 33"/>
          <p:cNvSpPr txBox="1"/>
          <p:nvPr/>
        </p:nvSpPr>
        <p:spPr>
          <a:xfrm>
            <a:off x="1473793" y="2370722"/>
            <a:ext cx="3488193" cy="210185"/>
          </a:xfrm>
          <a:prstGeom prst="rect">
            <a:avLst/>
          </a:prstGeom>
        </p:spPr>
        <p:txBody>
          <a:bodyPr vert="horz" wrap="square" lIns="0" tIns="10847" rIns="0" bIns="0" rtlCol="0">
            <a:spAutoFit/>
          </a:bodyPr>
          <a:p>
            <a:pPr marL="12700">
              <a:lnSpc>
                <a:spcPct val="90000"/>
              </a:lnSpc>
              <a:spcBef>
                <a:spcPts val="95"/>
              </a:spcBef>
            </a:pPr>
            <a:r>
              <a:rPr sz="1440" b="1" spc="-5" dirty="0">
                <a:solidFill>
                  <a:srgbClr val="540000"/>
                </a:solidFill>
                <a:latin typeface="微软雅黑"/>
                <a:cs typeface="微软雅黑"/>
              </a:rPr>
              <a:t>各类顶尖应用突破一亿活跃度的时</a:t>
            </a:r>
            <a:r>
              <a:rPr sz="1440" b="1" spc="10" dirty="0">
                <a:solidFill>
                  <a:srgbClr val="540000"/>
                </a:solidFill>
                <a:latin typeface="微软雅黑"/>
                <a:cs typeface="微软雅黑"/>
              </a:rPr>
              <a:t>间</a:t>
            </a:r>
            <a:r>
              <a:rPr sz="1440" b="1" spc="-5" dirty="0">
                <a:solidFill>
                  <a:srgbClr val="540000"/>
                </a:solidFill>
                <a:latin typeface="微软雅黑"/>
                <a:cs typeface="微软雅黑"/>
              </a:rPr>
              <a:t>（月）</a:t>
            </a:r>
            <a:endParaRPr sz="1440">
              <a:latin typeface="微软雅黑"/>
              <a:cs typeface="微软雅黑"/>
            </a:endParaRPr>
          </a:p>
        </p:txBody>
      </p:sp>
      <p:sp>
        <p:nvSpPr>
          <p:cNvPr id="40" name="Text Box 39"/>
          <p:cNvSpPr txBox="1"/>
          <p:nvPr/>
        </p:nvSpPr>
        <p:spPr>
          <a:xfrm>
            <a:off x="847437" y="1510465"/>
            <a:ext cx="6174740" cy="284480"/>
          </a:xfrm>
          <a:prstGeom prst="rect">
            <a:avLst/>
          </a:prstGeom>
          <a:noFill/>
        </p:spPr>
        <p:txBody>
          <a:bodyPr wrap="none" rtlCol="0" anchor="t">
            <a:spAutoFit/>
          </a:bodyPr>
          <a:p>
            <a:r>
              <a:rPr sz="1260" dirty="0">
                <a:solidFill>
                  <a:srgbClr val="171717"/>
                </a:solidFill>
                <a:latin typeface="微软雅黑"/>
                <a:cs typeface="微软雅黑"/>
                <a:sym typeface="+mn-ea"/>
              </a:rPr>
              <a:t>根据Similar Web的数据， 1月份平均每天有超过1300万名独立访问者使用ChatGPT</a:t>
            </a:r>
            <a:endParaRPr sz="1260" dirty="0">
              <a:solidFill>
                <a:srgbClr val="171717"/>
              </a:solidFill>
              <a:latin typeface="微软雅黑"/>
              <a:cs typeface="微软雅黑"/>
              <a:sym typeface="+mn-ea"/>
            </a:endParaRPr>
          </a:p>
        </p:txBody>
      </p:sp>
      <p:pic>
        <p:nvPicPr>
          <p:cNvPr id="42" name="Picture 41"/>
          <p:cNvPicPr>
            <a:picLocks noChangeAspect="1"/>
          </p:cNvPicPr>
          <p:nvPr/>
        </p:nvPicPr>
        <p:blipFill>
          <a:blip r:embed="rId1"/>
          <a:stretch>
            <a:fillRect/>
          </a:stretch>
        </p:blipFill>
        <p:spPr>
          <a:xfrm>
            <a:off x="6762348" y="1875901"/>
            <a:ext cx="4462306" cy="3431093"/>
          </a:xfrm>
          <a:prstGeom prst="rect">
            <a:avLst/>
          </a:prstGeom>
        </p:spPr>
      </p:pic>
      <p:pic>
        <p:nvPicPr>
          <p:cNvPr id="36" name="Picture 35"/>
          <p:cNvPicPr>
            <a:picLocks noChangeAspect="1"/>
          </p:cNvPicPr>
          <p:nvPr/>
        </p:nvPicPr>
        <p:blipFill>
          <a:blip r:embed="rId2"/>
          <a:stretch>
            <a:fillRect/>
          </a:stretch>
        </p:blipFill>
        <p:spPr>
          <a:xfrm>
            <a:off x="911389" y="2659302"/>
            <a:ext cx="4785678" cy="28229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14:prism isContent="1"/>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rect"/>
          <p:cNvSpPr/>
          <p:nvPr/>
        </p:nvSpPr>
        <p:spPr>
          <a:xfrm>
            <a:off x="8557054" y="1820216"/>
            <a:ext cx="2516934" cy="1090778"/>
          </a:xfrm>
          <a:prstGeom prst="rect">
            <a:avLst/>
          </a:prstGeom>
          <a:solidFill>
            <a:srgbClr val="F2F2F2">
              <a:alpha val="100000"/>
            </a:srgbClr>
          </a:solidFill>
          <a:ln cap="flat">
            <a:noFill/>
            <a:prstDash val="solid"/>
            <a:miter lim="0"/>
          </a:ln>
        </p:spPr>
        <p:txBody>
          <a:bodyPr rtlCol="0"/>
          <a:p>
            <a:pPr algn="ctr"/>
            <a:endParaRPr lang="zh-CN" altLang="en-US" sz="2160"/>
          </a:p>
        </p:txBody>
      </p:sp>
      <p:pic>
        <p:nvPicPr>
          <p:cNvPr id="457" name="picture 457"/>
          <p:cNvPicPr>
            <a:picLocks noChangeAspect="1"/>
          </p:cNvPicPr>
          <p:nvPr/>
        </p:nvPicPr>
        <p:blipFill>
          <a:blip r:embed="rId1"/>
          <a:stretch>
            <a:fillRect/>
          </a:stretch>
        </p:blipFill>
        <p:spPr>
          <a:xfrm rot="21600000">
            <a:off x="4328358" y="2078107"/>
            <a:ext cx="4300258" cy="3485337"/>
          </a:xfrm>
          <a:prstGeom prst="rect">
            <a:avLst/>
          </a:prstGeom>
        </p:spPr>
      </p:pic>
      <p:grpSp>
        <p:nvGrpSpPr>
          <p:cNvPr id="60" name="group 60"/>
          <p:cNvGrpSpPr/>
          <p:nvPr/>
        </p:nvGrpSpPr>
        <p:grpSpPr>
          <a:xfrm rot="21600000">
            <a:off x="1104383" y="1820170"/>
            <a:ext cx="2594133" cy="1413016"/>
            <a:chOff x="0" y="0"/>
            <a:chExt cx="2163699" cy="1178560"/>
          </a:xfrm>
        </p:grpSpPr>
        <p:sp>
          <p:nvSpPr>
            <p:cNvPr id="459" name="rect"/>
            <p:cNvSpPr/>
            <p:nvPr/>
          </p:nvSpPr>
          <p:spPr>
            <a:xfrm>
              <a:off x="0" y="0"/>
              <a:ext cx="2163699" cy="1178560"/>
            </a:xfrm>
            <a:prstGeom prst="rect">
              <a:avLst/>
            </a:prstGeom>
            <a:solidFill>
              <a:srgbClr val="F2F2F2">
                <a:alpha val="100000"/>
              </a:srgbClr>
            </a:solidFill>
            <a:ln cap="flat">
              <a:noFill/>
              <a:prstDash val="solid"/>
              <a:miter lim="0"/>
            </a:ln>
          </p:spPr>
          <p:txBody>
            <a:bodyPr rtlCol="0"/>
            <a:p>
              <a:pPr algn="ctr"/>
              <a:endParaRPr lang="zh-CN" altLang="en-US" sz="2160"/>
            </a:p>
          </p:txBody>
        </p:sp>
        <p:sp>
          <p:nvSpPr>
            <p:cNvPr id="460" name="textbox 460"/>
            <p:cNvSpPr/>
            <p:nvPr/>
          </p:nvSpPr>
          <p:spPr>
            <a:xfrm>
              <a:off x="376910" y="129368"/>
              <a:ext cx="1515110" cy="704850"/>
            </a:xfrm>
            <a:prstGeom prst="rect">
              <a:avLst/>
            </a:prstGeom>
          </p:spPr>
          <p:txBody>
            <a:bodyPr vert="horz" wrap="square" lIns="0" tIns="0" rIns="0" bIns="0"/>
            <a:p>
              <a:pPr algn="l" rtl="0" eaLnBrk="0">
                <a:lnSpc>
                  <a:spcPct val="77000"/>
                </a:lnSpc>
              </a:pPr>
              <a:endParaRPr lang="en-US" altLang="en-US" sz="120" dirty="0"/>
            </a:p>
            <a:p>
              <a:pPr marL="14605" algn="l" rtl="0" eaLnBrk="0">
                <a:lnSpc>
                  <a:spcPct val="98000"/>
                </a:lnSpc>
              </a:pPr>
              <a:r>
                <a:rPr sz="1440" spc="10" dirty="0">
                  <a:ln w="3175" cap="flat" cmpd="sng">
                    <a:solidFill>
                      <a:srgbClr val="003B71">
                        <a:alpha val="100000"/>
                      </a:srgbClr>
                    </a:solidFill>
                    <a:prstDash val="solid"/>
                    <a:miter lim="0"/>
                  </a:ln>
                  <a:solidFill>
                    <a:srgbClr val="003B71">
                      <a:alpha val="100000"/>
                    </a:srgbClr>
                  </a:solidFill>
                  <a:latin typeface="微软雅黑" charset="-122"/>
                  <a:ea typeface="微软雅黑" charset="-122"/>
                  <a:cs typeface="微软雅黑" charset="-122"/>
                </a:rPr>
                <a:t>更</a:t>
              </a:r>
              <a:r>
                <a:rPr sz="1440" spc="0" dirty="0">
                  <a:ln w="3175" cap="flat" cmpd="sng">
                    <a:solidFill>
                      <a:srgbClr val="003B71">
                        <a:alpha val="100000"/>
                      </a:srgbClr>
                    </a:solidFill>
                    <a:prstDash val="solid"/>
                    <a:miter lim="0"/>
                  </a:ln>
                  <a:solidFill>
                    <a:srgbClr val="003B71">
                      <a:alpha val="100000"/>
                    </a:srgbClr>
                  </a:solidFill>
                  <a:latin typeface="微软雅黑" charset="-122"/>
                  <a:ea typeface="微软雅黑" charset="-122"/>
                  <a:cs typeface="微软雅黑" charset="-122"/>
                </a:rPr>
                <a:t>大的语料库</a:t>
              </a:r>
              <a:endParaRPr lang="en-US" altLang="en-US" sz="1440" dirty="0"/>
            </a:p>
            <a:p>
              <a:pPr algn="l" rtl="0" eaLnBrk="0">
                <a:lnSpc>
                  <a:spcPct val="130000"/>
                </a:lnSpc>
              </a:pPr>
              <a:endParaRPr lang="en-US" altLang="en-US" sz="240" dirty="0"/>
            </a:p>
            <a:p>
              <a:pPr marL="12700" indent="5080" algn="l" rtl="0" eaLnBrk="0">
                <a:lnSpc>
                  <a:spcPct val="112000"/>
                </a:lnSpc>
                <a:spcBef>
                  <a:spcPts val="0"/>
                </a:spcBef>
              </a:pPr>
              <a:r>
                <a:rPr sz="1080" spc="-10" dirty="0">
                  <a:solidFill>
                    <a:srgbClr val="003B71">
                      <a:alpha val="100000"/>
                    </a:srgbClr>
                  </a:solidFill>
                  <a:latin typeface="微软雅黑" charset="-122"/>
                  <a:ea typeface="微软雅黑" charset="-122"/>
                  <a:cs typeface="微软雅黑" charset="-122"/>
                </a:rPr>
                <a:t>使用</a:t>
              </a:r>
              <a:r>
                <a:rPr sz="1080" spc="0" dirty="0">
                  <a:solidFill>
                    <a:srgbClr val="003B71">
                      <a:alpha val="100000"/>
                    </a:srgbClr>
                  </a:solidFill>
                  <a:latin typeface="微软雅黑" charset="-122"/>
                  <a:ea typeface="微软雅黑" charset="-122"/>
                  <a:cs typeface="微软雅黑" charset="-122"/>
                </a:rPr>
                <a:t>了更大的语料</a:t>
              </a:r>
              <a:r>
                <a:rPr sz="1080" spc="10" dirty="0">
                  <a:solidFill>
                    <a:srgbClr val="003B71">
                      <a:alpha val="100000"/>
                    </a:srgbClr>
                  </a:solidFill>
                  <a:latin typeface="微软雅黑" charset="-122"/>
                  <a:ea typeface="微软雅黑" charset="-122"/>
                  <a:cs typeface="微软雅黑" charset="-122"/>
                </a:rPr>
                <a:t>库，</a:t>
              </a:r>
              <a:r>
                <a:rPr sz="1080" spc="0" dirty="0">
                  <a:solidFill>
                    <a:srgbClr val="003B71">
                      <a:alpha val="100000"/>
                    </a:srgbClr>
                  </a:solidFill>
                  <a:latin typeface="微软雅黑" charset="-122"/>
                  <a:ea typeface="微软雅黑" charset="-122"/>
                  <a:cs typeface="微软雅黑" charset="-122"/>
                </a:rPr>
                <a:t>以更好地捕捉人类语言的</a:t>
              </a:r>
              <a:r>
                <a:rPr sz="1080" spc="-30" dirty="0">
                  <a:solidFill>
                    <a:srgbClr val="003B71">
                      <a:alpha val="100000"/>
                    </a:srgbClr>
                  </a:solidFill>
                  <a:latin typeface="微软雅黑" charset="-122"/>
                  <a:ea typeface="微软雅黑" charset="-122"/>
                  <a:cs typeface="微软雅黑" charset="-122"/>
                </a:rPr>
                <a:t>复杂性</a:t>
              </a:r>
              <a:r>
                <a:rPr sz="1080" spc="-20" dirty="0">
                  <a:solidFill>
                    <a:srgbClr val="003B71">
                      <a:alpha val="100000"/>
                    </a:srgbClr>
                  </a:solidFill>
                  <a:latin typeface="微软雅黑" charset="-122"/>
                  <a:ea typeface="微软雅黑" charset="-122"/>
                  <a:cs typeface="微软雅黑" charset="-122"/>
                </a:rPr>
                <a:t>。</a:t>
              </a:r>
              <a:endParaRPr lang="en-US" altLang="en-US" sz="1080" dirty="0"/>
            </a:p>
          </p:txBody>
        </p:sp>
        <p:sp>
          <p:nvSpPr>
            <p:cNvPr id="461" name="rect"/>
            <p:cNvSpPr/>
            <p:nvPr/>
          </p:nvSpPr>
          <p:spPr>
            <a:xfrm>
              <a:off x="0" y="4521"/>
              <a:ext cx="74060" cy="765480"/>
            </a:xfrm>
            <a:prstGeom prst="rect">
              <a:avLst/>
            </a:prstGeom>
            <a:solidFill>
              <a:srgbClr val="0081F0">
                <a:alpha val="100000"/>
              </a:srgbClr>
            </a:solidFill>
            <a:ln cap="flat">
              <a:noFill/>
              <a:prstDash val="solid"/>
              <a:miter lim="0"/>
            </a:ln>
          </p:spPr>
          <p:txBody>
            <a:bodyPr rtlCol="0"/>
            <a:p>
              <a:pPr algn="ctr"/>
              <a:endParaRPr lang="zh-CN" altLang="en-US" sz="2160"/>
            </a:p>
          </p:txBody>
        </p:sp>
      </p:grpSp>
      <p:grpSp>
        <p:nvGrpSpPr>
          <p:cNvPr id="62" name="group 62"/>
          <p:cNvGrpSpPr/>
          <p:nvPr/>
        </p:nvGrpSpPr>
        <p:grpSpPr>
          <a:xfrm rot="21600000">
            <a:off x="8677646" y="4603980"/>
            <a:ext cx="2516934" cy="1452132"/>
            <a:chOff x="0" y="0"/>
            <a:chExt cx="2099309" cy="1211186"/>
          </a:xfrm>
        </p:grpSpPr>
        <p:sp>
          <p:nvSpPr>
            <p:cNvPr id="463" name="rect"/>
            <p:cNvSpPr/>
            <p:nvPr/>
          </p:nvSpPr>
          <p:spPr>
            <a:xfrm>
              <a:off x="0" y="0"/>
              <a:ext cx="2099309" cy="1211186"/>
            </a:xfrm>
            <a:prstGeom prst="rect">
              <a:avLst/>
            </a:prstGeom>
            <a:solidFill>
              <a:srgbClr val="F2F2F2">
                <a:alpha val="100000"/>
              </a:srgbClr>
            </a:solidFill>
            <a:ln cap="flat">
              <a:noFill/>
              <a:prstDash val="solid"/>
              <a:miter lim="0"/>
            </a:ln>
          </p:spPr>
          <p:txBody>
            <a:bodyPr rtlCol="0"/>
            <a:p>
              <a:pPr algn="ctr"/>
              <a:endParaRPr lang="zh-CN" altLang="en-US" sz="2160"/>
            </a:p>
          </p:txBody>
        </p:sp>
        <p:sp>
          <p:nvSpPr>
            <p:cNvPr id="464" name="textbox 464"/>
            <p:cNvSpPr/>
            <p:nvPr/>
          </p:nvSpPr>
          <p:spPr>
            <a:xfrm>
              <a:off x="238328" y="152006"/>
              <a:ext cx="1643379" cy="703580"/>
            </a:xfrm>
            <a:prstGeom prst="rect">
              <a:avLst/>
            </a:prstGeom>
          </p:spPr>
          <p:txBody>
            <a:bodyPr vert="horz" wrap="square" lIns="0" tIns="0" rIns="0" bIns="0"/>
            <a:p>
              <a:pPr algn="l" rtl="0" eaLnBrk="0">
                <a:lnSpc>
                  <a:spcPct val="87000"/>
                </a:lnSpc>
              </a:pPr>
              <a:endParaRPr lang="en-US" altLang="en-US" sz="120" dirty="0"/>
            </a:p>
            <a:p>
              <a:pPr marL="13335" algn="l" rtl="0" eaLnBrk="0">
                <a:lnSpc>
                  <a:spcPct val="97000"/>
                </a:lnSpc>
              </a:pPr>
              <a:r>
                <a:rPr sz="1440" spc="10" dirty="0">
                  <a:ln w="3175" cap="flat" cmpd="sng">
                    <a:solidFill>
                      <a:srgbClr val="003B71">
                        <a:alpha val="100000"/>
                      </a:srgbClr>
                    </a:solidFill>
                    <a:prstDash val="solid"/>
                    <a:miter lim="0"/>
                  </a:ln>
                  <a:solidFill>
                    <a:srgbClr val="003B71">
                      <a:alpha val="100000"/>
                    </a:srgbClr>
                  </a:solidFill>
                  <a:latin typeface="微软雅黑" charset="-122"/>
                  <a:ea typeface="微软雅黑" charset="-122"/>
                  <a:cs typeface="微软雅黑" charset="-122"/>
                </a:rPr>
                <a:t>更</a:t>
              </a:r>
              <a:r>
                <a:rPr sz="1440" spc="0" dirty="0">
                  <a:ln w="3175" cap="flat" cmpd="sng">
                    <a:solidFill>
                      <a:srgbClr val="003B71">
                        <a:alpha val="100000"/>
                      </a:srgbClr>
                    </a:solidFill>
                    <a:prstDash val="solid"/>
                    <a:miter lim="0"/>
                  </a:ln>
                  <a:solidFill>
                    <a:srgbClr val="003B71">
                      <a:alpha val="100000"/>
                    </a:srgbClr>
                  </a:solidFill>
                  <a:latin typeface="微软雅黑" charset="-122"/>
                  <a:ea typeface="微软雅黑" charset="-122"/>
                  <a:cs typeface="微软雅黑" charset="-122"/>
                </a:rPr>
                <a:t>强的自我学习能力</a:t>
              </a:r>
              <a:endParaRPr lang="en-US" altLang="en-US" sz="1440" dirty="0"/>
            </a:p>
            <a:p>
              <a:pPr algn="l" rtl="0" eaLnBrk="0">
                <a:lnSpc>
                  <a:spcPct val="129000"/>
                </a:lnSpc>
              </a:pPr>
              <a:endParaRPr lang="en-US" altLang="en-US" sz="240" dirty="0"/>
            </a:p>
            <a:p>
              <a:pPr marL="12700" indent="3810" algn="l" rtl="0" eaLnBrk="0">
                <a:lnSpc>
                  <a:spcPct val="112000"/>
                </a:lnSpc>
              </a:pPr>
              <a:r>
                <a:rPr sz="1080" spc="-10" dirty="0">
                  <a:solidFill>
                    <a:srgbClr val="003B71">
                      <a:alpha val="100000"/>
                    </a:srgbClr>
                  </a:solidFill>
                  <a:latin typeface="微软雅黑" charset="-122"/>
                  <a:ea typeface="微软雅黑" charset="-122"/>
                  <a:cs typeface="微软雅黑" charset="-122"/>
                </a:rPr>
                <a:t>具有</a:t>
              </a:r>
              <a:r>
                <a:rPr sz="1080" spc="0" dirty="0">
                  <a:solidFill>
                    <a:srgbClr val="003B71">
                      <a:alpha val="100000"/>
                    </a:srgbClr>
                  </a:solidFill>
                  <a:latin typeface="微软雅黑" charset="-122"/>
                  <a:ea typeface="微软雅黑" charset="-122"/>
                  <a:cs typeface="微软雅黑" charset="-122"/>
                </a:rPr>
                <a:t>自我学习能力，可</a:t>
              </a:r>
              <a:r>
                <a:rPr sz="1080" spc="10" dirty="0">
                  <a:solidFill>
                    <a:srgbClr val="003B71">
                      <a:alpha val="100000"/>
                    </a:srgbClr>
                  </a:solidFill>
                  <a:latin typeface="微软雅黑" charset="-122"/>
                  <a:ea typeface="微软雅黑" charset="-122"/>
                  <a:cs typeface="微软雅黑" charset="-122"/>
                </a:rPr>
                <a:t>以</a:t>
              </a:r>
              <a:r>
                <a:rPr sz="1080" spc="0" dirty="0">
                  <a:solidFill>
                    <a:srgbClr val="003B71">
                      <a:alpha val="100000"/>
                    </a:srgbClr>
                  </a:solidFill>
                  <a:latin typeface="微软雅黑" charset="-122"/>
                  <a:ea typeface="微软雅黑" charset="-122"/>
                  <a:cs typeface="微软雅黑" charset="-122"/>
                </a:rPr>
                <a:t>在不断接触新语料的过程中持 </a:t>
              </a:r>
              <a:r>
                <a:rPr sz="1080" spc="-20" dirty="0">
                  <a:solidFill>
                    <a:srgbClr val="003B71">
                      <a:alpha val="100000"/>
                    </a:srgbClr>
                  </a:solidFill>
                  <a:latin typeface="微软雅黑" charset="-122"/>
                  <a:ea typeface="微软雅黑" charset="-122"/>
                  <a:cs typeface="微软雅黑" charset="-122"/>
                </a:rPr>
                <a:t>续提高自己的</a:t>
              </a:r>
              <a:r>
                <a:rPr sz="1080" spc="-10" dirty="0">
                  <a:solidFill>
                    <a:srgbClr val="003B71">
                      <a:alpha val="100000"/>
                    </a:srgbClr>
                  </a:solidFill>
                  <a:latin typeface="微软雅黑" charset="-122"/>
                  <a:ea typeface="微软雅黑" charset="-122"/>
                  <a:cs typeface="微软雅黑" charset="-122"/>
                </a:rPr>
                <a:t>性</a:t>
              </a:r>
              <a:r>
                <a:rPr sz="1080" spc="0" dirty="0">
                  <a:solidFill>
                    <a:srgbClr val="003B71">
                      <a:alpha val="100000"/>
                    </a:srgbClr>
                  </a:solidFill>
                  <a:latin typeface="微软雅黑" charset="-122"/>
                  <a:ea typeface="微软雅黑" charset="-122"/>
                  <a:cs typeface="微软雅黑" charset="-122"/>
                </a:rPr>
                <a:t>能。</a:t>
              </a:r>
              <a:endParaRPr lang="en-US" altLang="en-US" sz="1080" dirty="0"/>
            </a:p>
          </p:txBody>
        </p:sp>
        <p:sp>
          <p:nvSpPr>
            <p:cNvPr id="465" name="rect"/>
            <p:cNvSpPr/>
            <p:nvPr/>
          </p:nvSpPr>
          <p:spPr>
            <a:xfrm>
              <a:off x="2022729" y="4533"/>
              <a:ext cx="74059" cy="765479"/>
            </a:xfrm>
            <a:prstGeom prst="rect">
              <a:avLst/>
            </a:prstGeom>
            <a:solidFill>
              <a:srgbClr val="59C3F1">
                <a:alpha val="100000"/>
              </a:srgbClr>
            </a:solidFill>
            <a:ln cap="flat">
              <a:noFill/>
              <a:prstDash val="solid"/>
              <a:miter lim="0"/>
            </a:ln>
          </p:spPr>
          <p:txBody>
            <a:bodyPr rtlCol="0"/>
            <a:p>
              <a:pPr algn="ctr"/>
              <a:endParaRPr lang="zh-CN" altLang="en-US" sz="2160"/>
            </a:p>
          </p:txBody>
        </p:sp>
      </p:grpSp>
      <p:grpSp>
        <p:nvGrpSpPr>
          <p:cNvPr id="64" name="group 64"/>
          <p:cNvGrpSpPr/>
          <p:nvPr/>
        </p:nvGrpSpPr>
        <p:grpSpPr>
          <a:xfrm rot="21600000">
            <a:off x="8548221" y="3244988"/>
            <a:ext cx="2516934" cy="1139015"/>
            <a:chOff x="0" y="0"/>
            <a:chExt cx="2099309" cy="950023"/>
          </a:xfrm>
        </p:grpSpPr>
        <p:sp>
          <p:nvSpPr>
            <p:cNvPr id="466" name="rect"/>
            <p:cNvSpPr/>
            <p:nvPr/>
          </p:nvSpPr>
          <p:spPr>
            <a:xfrm>
              <a:off x="0" y="0"/>
              <a:ext cx="2099309" cy="950023"/>
            </a:xfrm>
            <a:prstGeom prst="rect">
              <a:avLst/>
            </a:prstGeom>
            <a:solidFill>
              <a:srgbClr val="F2F2F2">
                <a:alpha val="100000"/>
              </a:srgbClr>
            </a:solidFill>
            <a:ln cap="flat">
              <a:noFill/>
              <a:prstDash val="solid"/>
              <a:miter lim="0"/>
            </a:ln>
          </p:spPr>
          <p:txBody>
            <a:bodyPr rtlCol="0"/>
            <a:p>
              <a:pPr algn="ctr"/>
              <a:endParaRPr lang="zh-CN" altLang="en-US" sz="2160"/>
            </a:p>
          </p:txBody>
        </p:sp>
        <p:sp>
          <p:nvSpPr>
            <p:cNvPr id="467" name="textbox 467"/>
            <p:cNvSpPr/>
            <p:nvPr/>
          </p:nvSpPr>
          <p:spPr>
            <a:xfrm>
              <a:off x="238683" y="130956"/>
              <a:ext cx="1716404" cy="659765"/>
            </a:xfrm>
            <a:prstGeom prst="rect">
              <a:avLst/>
            </a:prstGeom>
          </p:spPr>
          <p:txBody>
            <a:bodyPr vert="horz" wrap="square" lIns="0" tIns="0" rIns="0" bIns="0"/>
            <a:p>
              <a:pPr algn="l" rtl="0" eaLnBrk="0">
                <a:lnSpc>
                  <a:spcPct val="78000"/>
                </a:lnSpc>
              </a:pPr>
              <a:endParaRPr lang="en-US" altLang="en-US" sz="120" dirty="0"/>
            </a:p>
            <a:p>
              <a:pPr marL="13335" algn="l" rtl="0" eaLnBrk="0">
                <a:lnSpc>
                  <a:spcPct val="94000"/>
                </a:lnSpc>
              </a:pPr>
              <a:r>
                <a:rPr sz="1440" spc="10" dirty="0">
                  <a:ln w="3175" cap="flat" cmpd="sng">
                    <a:solidFill>
                      <a:srgbClr val="003B71">
                        <a:alpha val="100000"/>
                      </a:srgbClr>
                    </a:solidFill>
                    <a:prstDash val="solid"/>
                    <a:miter lim="0"/>
                  </a:ln>
                  <a:solidFill>
                    <a:srgbClr val="003B71">
                      <a:alpha val="100000"/>
                    </a:srgbClr>
                  </a:solidFill>
                  <a:latin typeface="微软雅黑" charset="-122"/>
                  <a:ea typeface="微软雅黑" charset="-122"/>
                  <a:cs typeface="微软雅黑" charset="-122"/>
                </a:rPr>
                <a:t>更</a:t>
              </a:r>
              <a:r>
                <a:rPr sz="1440" spc="0" dirty="0">
                  <a:ln w="3175" cap="flat" cmpd="sng">
                    <a:solidFill>
                      <a:srgbClr val="003B71">
                        <a:alpha val="100000"/>
                      </a:srgbClr>
                    </a:solidFill>
                    <a:prstDash val="solid"/>
                    <a:miter lim="0"/>
                  </a:ln>
                  <a:solidFill>
                    <a:srgbClr val="003B71">
                      <a:alpha val="100000"/>
                    </a:srgbClr>
                  </a:solidFill>
                  <a:latin typeface="微软雅黑" charset="-122"/>
                  <a:ea typeface="微软雅黑" charset="-122"/>
                  <a:cs typeface="微软雅黑" charset="-122"/>
                </a:rPr>
                <a:t>高的适应性</a:t>
              </a:r>
              <a:endParaRPr lang="en-US" altLang="en-US" sz="1440" dirty="0"/>
            </a:p>
            <a:p>
              <a:pPr marL="12700" indent="3810" algn="l" rtl="0" eaLnBrk="0">
                <a:lnSpc>
                  <a:spcPct val="112000"/>
                </a:lnSpc>
                <a:spcBef>
                  <a:spcPts val="15"/>
                </a:spcBef>
              </a:pPr>
              <a:r>
                <a:rPr sz="1080" spc="-10" dirty="0">
                  <a:solidFill>
                    <a:srgbClr val="003B71">
                      <a:alpha val="100000"/>
                    </a:srgbClr>
                  </a:solidFill>
                  <a:latin typeface="微软雅黑" charset="-122"/>
                  <a:ea typeface="微软雅黑" charset="-122"/>
                  <a:cs typeface="微软雅黑" charset="-122"/>
                </a:rPr>
                <a:t>具有</a:t>
              </a:r>
              <a:r>
                <a:rPr sz="1080" spc="0" dirty="0">
                  <a:solidFill>
                    <a:srgbClr val="003B71">
                      <a:alpha val="100000"/>
                    </a:srgbClr>
                  </a:solidFill>
                  <a:latin typeface="微软雅黑" charset="-122"/>
                  <a:ea typeface="微软雅黑" charset="-122"/>
                  <a:cs typeface="微软雅黑" charset="-122"/>
                </a:rPr>
                <a:t>较高的适应性，可</a:t>
              </a:r>
              <a:r>
                <a:rPr sz="1080" spc="10" dirty="0">
                  <a:solidFill>
                    <a:srgbClr val="003B71">
                      <a:alpha val="100000"/>
                    </a:srgbClr>
                  </a:solidFill>
                  <a:latin typeface="微软雅黑" charset="-122"/>
                  <a:ea typeface="微软雅黑" charset="-122"/>
                  <a:cs typeface="微软雅黑" charset="-122"/>
                </a:rPr>
                <a:t>以</a:t>
              </a:r>
              <a:r>
                <a:rPr sz="1080" spc="0" dirty="0">
                  <a:solidFill>
                    <a:srgbClr val="003B71">
                      <a:alpha val="100000"/>
                    </a:srgbClr>
                  </a:solidFill>
                  <a:latin typeface="微软雅黑" charset="-122"/>
                  <a:ea typeface="微软雅黑" charset="-122"/>
                  <a:cs typeface="微软雅黑" charset="-122"/>
                </a:rPr>
                <a:t>根据不同的场景和任务进行微</a:t>
              </a:r>
              <a:r>
                <a:rPr sz="1080" spc="-50" dirty="0">
                  <a:solidFill>
                    <a:srgbClr val="003B71">
                      <a:alpha val="100000"/>
                    </a:srgbClr>
                  </a:solidFill>
                  <a:latin typeface="微软雅黑" charset="-122"/>
                  <a:ea typeface="微软雅黑" charset="-122"/>
                  <a:cs typeface="微软雅黑" charset="-122"/>
                </a:rPr>
                <a:t>调，以提高其在特定领域的</a:t>
              </a:r>
              <a:r>
                <a:rPr sz="1080" spc="-40" dirty="0">
                  <a:solidFill>
                    <a:srgbClr val="003B71">
                      <a:alpha val="100000"/>
                    </a:srgbClr>
                  </a:solidFill>
                  <a:latin typeface="微软雅黑" charset="-122"/>
                  <a:ea typeface="微软雅黑" charset="-122"/>
                  <a:cs typeface="微软雅黑" charset="-122"/>
                </a:rPr>
                <a:t>效</a:t>
              </a:r>
              <a:r>
                <a:rPr sz="1080" spc="0" dirty="0">
                  <a:solidFill>
                    <a:srgbClr val="003B71">
                      <a:alpha val="100000"/>
                    </a:srgbClr>
                  </a:solidFill>
                  <a:latin typeface="微软雅黑" charset="-122"/>
                  <a:ea typeface="微软雅黑" charset="-122"/>
                  <a:cs typeface="微软雅黑" charset="-122"/>
                </a:rPr>
                <a:t>果。</a:t>
              </a:r>
              <a:endParaRPr lang="en-US" altLang="en-US" sz="1080" dirty="0"/>
            </a:p>
          </p:txBody>
        </p:sp>
        <p:sp>
          <p:nvSpPr>
            <p:cNvPr id="468" name="rect"/>
            <p:cNvSpPr/>
            <p:nvPr/>
          </p:nvSpPr>
          <p:spPr>
            <a:xfrm>
              <a:off x="2022729" y="3657"/>
              <a:ext cx="74059" cy="600417"/>
            </a:xfrm>
            <a:prstGeom prst="rect">
              <a:avLst/>
            </a:prstGeom>
            <a:solidFill>
              <a:srgbClr val="004BFF">
                <a:alpha val="100000"/>
              </a:srgbClr>
            </a:solidFill>
            <a:ln cap="flat">
              <a:noFill/>
              <a:prstDash val="solid"/>
              <a:miter lim="0"/>
            </a:ln>
          </p:spPr>
          <p:txBody>
            <a:bodyPr rtlCol="0"/>
            <a:p>
              <a:pPr algn="ctr"/>
              <a:endParaRPr lang="zh-CN" altLang="en-US" sz="2160"/>
            </a:p>
          </p:txBody>
        </p:sp>
      </p:grpSp>
      <p:grpSp>
        <p:nvGrpSpPr>
          <p:cNvPr id="66" name="group 66"/>
          <p:cNvGrpSpPr/>
          <p:nvPr/>
        </p:nvGrpSpPr>
        <p:grpSpPr>
          <a:xfrm rot="21600000">
            <a:off x="1037098" y="4781247"/>
            <a:ext cx="2595365" cy="1090093"/>
            <a:chOff x="0" y="0"/>
            <a:chExt cx="2164727" cy="909218"/>
          </a:xfrm>
        </p:grpSpPr>
        <p:sp>
          <p:nvSpPr>
            <p:cNvPr id="469" name="rect"/>
            <p:cNvSpPr/>
            <p:nvPr/>
          </p:nvSpPr>
          <p:spPr>
            <a:xfrm>
              <a:off x="1028" y="0"/>
              <a:ext cx="2163699" cy="909218"/>
            </a:xfrm>
            <a:prstGeom prst="rect">
              <a:avLst/>
            </a:prstGeom>
            <a:solidFill>
              <a:srgbClr val="F2F2F2">
                <a:alpha val="100000"/>
              </a:srgbClr>
            </a:solidFill>
            <a:ln cap="flat">
              <a:noFill/>
              <a:prstDash val="solid"/>
              <a:miter lim="0"/>
            </a:ln>
          </p:spPr>
          <p:txBody>
            <a:bodyPr rtlCol="0"/>
            <a:p>
              <a:pPr algn="ctr"/>
              <a:endParaRPr lang="zh-CN" altLang="en-US" sz="2160"/>
            </a:p>
          </p:txBody>
        </p:sp>
        <p:sp>
          <p:nvSpPr>
            <p:cNvPr id="470" name="textbox 470"/>
            <p:cNvSpPr/>
            <p:nvPr/>
          </p:nvSpPr>
          <p:spPr>
            <a:xfrm>
              <a:off x="155854" y="59880"/>
              <a:ext cx="1564005" cy="720090"/>
            </a:xfrm>
            <a:prstGeom prst="rect">
              <a:avLst/>
            </a:prstGeom>
          </p:spPr>
          <p:txBody>
            <a:bodyPr vert="horz" wrap="square" lIns="0" tIns="0" rIns="0" bIns="0"/>
            <a:p>
              <a:pPr algn="l" rtl="0" eaLnBrk="0">
                <a:lnSpc>
                  <a:spcPct val="83000"/>
                </a:lnSpc>
              </a:pPr>
              <a:endParaRPr lang="en-US" altLang="en-US" sz="120" dirty="0"/>
            </a:p>
            <a:p>
              <a:pPr marL="12700" algn="l" rtl="0" eaLnBrk="0">
                <a:lnSpc>
                  <a:spcPct val="97000"/>
                </a:lnSpc>
              </a:pPr>
              <a:r>
                <a:rPr sz="1440" spc="10" dirty="0">
                  <a:ln w="3175" cap="flat" cmpd="sng">
                    <a:solidFill>
                      <a:srgbClr val="003B71">
                        <a:alpha val="100000"/>
                      </a:srgbClr>
                    </a:solidFill>
                    <a:prstDash val="solid"/>
                    <a:miter lim="0"/>
                  </a:ln>
                  <a:solidFill>
                    <a:srgbClr val="003B71">
                      <a:alpha val="100000"/>
                    </a:srgbClr>
                  </a:solidFill>
                  <a:latin typeface="微软雅黑" charset="-122"/>
                  <a:ea typeface="微软雅黑" charset="-122"/>
                  <a:cs typeface="微软雅黑" charset="-122"/>
                </a:rPr>
                <a:t>更</a:t>
              </a:r>
              <a:r>
                <a:rPr sz="1440" spc="0" dirty="0">
                  <a:ln w="3175" cap="flat" cmpd="sng">
                    <a:solidFill>
                      <a:srgbClr val="003B71">
                        <a:alpha val="100000"/>
                      </a:srgbClr>
                    </a:solidFill>
                    <a:prstDash val="solid"/>
                    <a:miter lim="0"/>
                  </a:ln>
                  <a:solidFill>
                    <a:srgbClr val="003B71">
                      <a:alpha val="100000"/>
                    </a:srgbClr>
                  </a:solidFill>
                  <a:latin typeface="微软雅黑" charset="-122"/>
                  <a:ea typeface="微软雅黑" charset="-122"/>
                  <a:cs typeface="微软雅黑" charset="-122"/>
                </a:rPr>
                <a:t>加通用的预训练</a:t>
              </a:r>
              <a:endParaRPr lang="en-US" altLang="en-US" sz="1440" dirty="0"/>
            </a:p>
            <a:p>
              <a:pPr marL="52705" indent="-3810" algn="l" rtl="0" eaLnBrk="0">
                <a:lnSpc>
                  <a:spcPct val="121000"/>
                </a:lnSpc>
                <a:spcBef>
                  <a:spcPts val="150"/>
                </a:spcBef>
              </a:pPr>
              <a:r>
                <a:rPr sz="1080" spc="-10" dirty="0">
                  <a:solidFill>
                    <a:srgbClr val="003B71">
                      <a:alpha val="100000"/>
                    </a:srgbClr>
                  </a:solidFill>
                  <a:latin typeface="微软雅黑" charset="-122"/>
                  <a:ea typeface="微软雅黑" charset="-122"/>
                  <a:cs typeface="微软雅黑" charset="-122"/>
                </a:rPr>
                <a:t>预训练是通用的，因此它可以</a:t>
              </a:r>
              <a:r>
                <a:rPr sz="1080" spc="0" dirty="0">
                  <a:solidFill>
                    <a:srgbClr val="003B71">
                      <a:alpha val="100000"/>
                    </a:srgbClr>
                  </a:solidFill>
                  <a:latin typeface="微软雅黑" charset="-122"/>
                  <a:ea typeface="微软雅黑" charset="-122"/>
                  <a:cs typeface="微软雅黑" charset="-122"/>
                </a:rPr>
                <a:t>更好地适应各种不</a:t>
              </a:r>
              <a:r>
                <a:rPr sz="1080" spc="-30" dirty="0">
                  <a:solidFill>
                    <a:srgbClr val="003B71">
                      <a:alpha val="100000"/>
                    </a:srgbClr>
                  </a:solidFill>
                  <a:latin typeface="微软雅黑" charset="-122"/>
                  <a:ea typeface="微软雅黑" charset="-122"/>
                  <a:cs typeface="微软雅黑" charset="-122"/>
                </a:rPr>
                <a:t>同的任务</a:t>
              </a:r>
              <a:r>
                <a:rPr sz="1080" spc="-20" dirty="0">
                  <a:solidFill>
                    <a:srgbClr val="003B71">
                      <a:alpha val="100000"/>
                    </a:srgbClr>
                  </a:solidFill>
                  <a:latin typeface="微软雅黑" charset="-122"/>
                  <a:ea typeface="微软雅黑" charset="-122"/>
                  <a:cs typeface="微软雅黑" charset="-122"/>
                </a:rPr>
                <a:t>。</a:t>
              </a:r>
              <a:endParaRPr lang="en-US" altLang="en-US" sz="1080" dirty="0"/>
            </a:p>
          </p:txBody>
        </p:sp>
        <p:sp>
          <p:nvSpPr>
            <p:cNvPr id="471" name="rect"/>
            <p:cNvSpPr/>
            <p:nvPr/>
          </p:nvSpPr>
          <p:spPr>
            <a:xfrm>
              <a:off x="0" y="3492"/>
              <a:ext cx="74060" cy="590550"/>
            </a:xfrm>
            <a:prstGeom prst="rect">
              <a:avLst/>
            </a:prstGeom>
            <a:solidFill>
              <a:srgbClr val="004E97">
                <a:alpha val="100000"/>
              </a:srgbClr>
            </a:solidFill>
            <a:ln cap="flat">
              <a:noFill/>
              <a:prstDash val="solid"/>
              <a:miter lim="0"/>
            </a:ln>
          </p:spPr>
          <p:txBody>
            <a:bodyPr rtlCol="0"/>
            <a:p>
              <a:pPr algn="ctr"/>
              <a:endParaRPr lang="zh-CN" altLang="en-US" sz="2160"/>
            </a:p>
          </p:txBody>
        </p:sp>
      </p:grpSp>
      <p:grpSp>
        <p:nvGrpSpPr>
          <p:cNvPr id="68" name="group 68"/>
          <p:cNvGrpSpPr/>
          <p:nvPr/>
        </p:nvGrpSpPr>
        <p:grpSpPr>
          <a:xfrm rot="21600000">
            <a:off x="1068114" y="3456224"/>
            <a:ext cx="2595365" cy="1090093"/>
            <a:chOff x="0" y="0"/>
            <a:chExt cx="2164727" cy="909218"/>
          </a:xfrm>
        </p:grpSpPr>
        <p:sp>
          <p:nvSpPr>
            <p:cNvPr id="472" name="rect"/>
            <p:cNvSpPr/>
            <p:nvPr/>
          </p:nvSpPr>
          <p:spPr>
            <a:xfrm>
              <a:off x="1028" y="0"/>
              <a:ext cx="2163699" cy="909218"/>
            </a:xfrm>
            <a:prstGeom prst="rect">
              <a:avLst/>
            </a:prstGeom>
            <a:solidFill>
              <a:srgbClr val="F2F2F2">
                <a:alpha val="100000"/>
              </a:srgbClr>
            </a:solidFill>
            <a:ln cap="flat">
              <a:noFill/>
              <a:prstDash val="solid"/>
              <a:miter lim="0"/>
            </a:ln>
          </p:spPr>
          <p:txBody>
            <a:bodyPr rtlCol="0"/>
            <a:p>
              <a:pPr algn="ctr"/>
              <a:endParaRPr lang="zh-CN" altLang="en-US" sz="2160"/>
            </a:p>
          </p:txBody>
        </p:sp>
        <p:sp>
          <p:nvSpPr>
            <p:cNvPr id="473" name="textbox 473"/>
            <p:cNvSpPr/>
            <p:nvPr/>
          </p:nvSpPr>
          <p:spPr>
            <a:xfrm>
              <a:off x="180352" y="122910"/>
              <a:ext cx="1602105" cy="603884"/>
            </a:xfrm>
            <a:prstGeom prst="rect">
              <a:avLst/>
            </a:prstGeom>
          </p:spPr>
          <p:txBody>
            <a:bodyPr vert="horz" wrap="square" lIns="0" tIns="0" rIns="0" bIns="0"/>
            <a:p>
              <a:pPr algn="l" rtl="0" eaLnBrk="0">
                <a:lnSpc>
                  <a:spcPct val="86000"/>
                </a:lnSpc>
              </a:pPr>
              <a:endParaRPr lang="en-US" altLang="en-US" sz="120" dirty="0"/>
            </a:p>
            <a:p>
              <a:pPr marL="21590" algn="l" rtl="0" eaLnBrk="0">
                <a:lnSpc>
                  <a:spcPct val="97000"/>
                </a:lnSpc>
              </a:pPr>
              <a:r>
                <a:rPr sz="1440" spc="10" dirty="0">
                  <a:ln w="3175" cap="flat" cmpd="sng">
                    <a:solidFill>
                      <a:srgbClr val="003B71">
                        <a:alpha val="100000"/>
                      </a:srgbClr>
                    </a:solidFill>
                    <a:prstDash val="solid"/>
                    <a:miter lim="0"/>
                  </a:ln>
                  <a:solidFill>
                    <a:srgbClr val="003B71">
                      <a:alpha val="100000"/>
                    </a:srgbClr>
                  </a:solidFill>
                  <a:latin typeface="微软雅黑" charset="-122"/>
                  <a:ea typeface="微软雅黑" charset="-122"/>
                  <a:cs typeface="微软雅黑" charset="-122"/>
                </a:rPr>
                <a:t>更</a:t>
              </a:r>
              <a:r>
                <a:rPr sz="1440" spc="0" dirty="0">
                  <a:ln w="3175" cap="flat" cmpd="sng">
                    <a:solidFill>
                      <a:srgbClr val="003B71">
                        <a:alpha val="100000"/>
                      </a:srgbClr>
                    </a:solidFill>
                    <a:prstDash val="solid"/>
                    <a:miter lim="0"/>
                  </a:ln>
                  <a:solidFill>
                    <a:srgbClr val="003B71">
                      <a:alpha val="100000"/>
                    </a:srgbClr>
                  </a:solidFill>
                  <a:latin typeface="微软雅黑" charset="-122"/>
                  <a:ea typeface="微软雅黑" charset="-122"/>
                  <a:cs typeface="微软雅黑" charset="-122"/>
                </a:rPr>
                <a:t>高的计算能力</a:t>
              </a:r>
              <a:endParaRPr lang="en-US" altLang="en-US" sz="1440" dirty="0"/>
            </a:p>
            <a:p>
              <a:pPr algn="l" rtl="0" eaLnBrk="0">
                <a:lnSpc>
                  <a:spcPct val="103000"/>
                </a:lnSpc>
              </a:pPr>
              <a:endParaRPr lang="en-US" altLang="en-US" sz="480" dirty="0"/>
            </a:p>
            <a:p>
              <a:pPr marL="12700" indent="3810" algn="l" rtl="0" eaLnBrk="0">
                <a:lnSpc>
                  <a:spcPct val="123000"/>
                </a:lnSpc>
                <a:spcBef>
                  <a:spcPts val="0"/>
                </a:spcBef>
              </a:pPr>
              <a:r>
                <a:rPr sz="1080" spc="-10" dirty="0">
                  <a:solidFill>
                    <a:srgbClr val="003B71">
                      <a:alpha val="100000"/>
                    </a:srgbClr>
                  </a:solidFill>
                  <a:latin typeface="微软雅黑" charset="-122"/>
                  <a:ea typeface="微软雅黑" charset="-122"/>
                  <a:cs typeface="微软雅黑" charset="-122"/>
                </a:rPr>
                <a:t>使用</a:t>
              </a:r>
              <a:r>
                <a:rPr sz="1080" spc="0" dirty="0">
                  <a:solidFill>
                    <a:srgbClr val="003B71">
                      <a:alpha val="100000"/>
                    </a:srgbClr>
                  </a:solidFill>
                  <a:latin typeface="微软雅黑" charset="-122"/>
                  <a:ea typeface="微软雅黑" charset="-122"/>
                  <a:cs typeface="微软雅黑" charset="-122"/>
                </a:rPr>
                <a:t>了更高的计算</a:t>
              </a:r>
              <a:r>
                <a:rPr sz="1080" spc="-50" dirty="0">
                  <a:solidFill>
                    <a:srgbClr val="003B71">
                      <a:alpha val="100000"/>
                    </a:srgbClr>
                  </a:solidFill>
                  <a:latin typeface="微软雅黑" charset="-122"/>
                  <a:ea typeface="微软雅黑" charset="-122"/>
                  <a:cs typeface="微软雅黑" charset="-122"/>
                </a:rPr>
                <a:t>资源，以获得更好的训练效</a:t>
              </a:r>
              <a:r>
                <a:rPr sz="1080" spc="-40" dirty="0">
                  <a:solidFill>
                    <a:srgbClr val="003B71">
                      <a:alpha val="100000"/>
                    </a:srgbClr>
                  </a:solidFill>
                  <a:latin typeface="微软雅黑" charset="-122"/>
                  <a:ea typeface="微软雅黑" charset="-122"/>
                  <a:cs typeface="微软雅黑" charset="-122"/>
                </a:rPr>
                <a:t>果</a:t>
              </a:r>
              <a:r>
                <a:rPr sz="1080" spc="0" dirty="0">
                  <a:solidFill>
                    <a:srgbClr val="003B71">
                      <a:alpha val="100000"/>
                    </a:srgbClr>
                  </a:solidFill>
                  <a:latin typeface="微软雅黑" charset="-122"/>
                  <a:ea typeface="微软雅黑" charset="-122"/>
                  <a:cs typeface="微软雅黑" charset="-122"/>
                </a:rPr>
                <a:t>。</a:t>
              </a:r>
              <a:endParaRPr lang="en-US" altLang="en-US" sz="1080" dirty="0"/>
            </a:p>
          </p:txBody>
        </p:sp>
        <p:sp>
          <p:nvSpPr>
            <p:cNvPr id="474" name="rect"/>
            <p:cNvSpPr/>
            <p:nvPr/>
          </p:nvSpPr>
          <p:spPr>
            <a:xfrm>
              <a:off x="0" y="3454"/>
              <a:ext cx="74060" cy="590550"/>
            </a:xfrm>
            <a:prstGeom prst="rect">
              <a:avLst/>
            </a:prstGeom>
            <a:solidFill>
              <a:srgbClr val="88CBFF">
                <a:alpha val="100000"/>
              </a:srgbClr>
            </a:solidFill>
            <a:ln cap="flat">
              <a:noFill/>
              <a:prstDash val="solid"/>
              <a:miter lim="0"/>
            </a:ln>
          </p:spPr>
          <p:txBody>
            <a:bodyPr rtlCol="0"/>
            <a:p>
              <a:pPr algn="ctr"/>
              <a:endParaRPr lang="zh-CN" altLang="en-US" sz="2160"/>
            </a:p>
          </p:txBody>
        </p:sp>
      </p:grpSp>
      <p:sp>
        <p:nvSpPr>
          <p:cNvPr id="475" name="textbox 475"/>
          <p:cNvSpPr/>
          <p:nvPr/>
        </p:nvSpPr>
        <p:spPr>
          <a:xfrm>
            <a:off x="8964208" y="1972375"/>
            <a:ext cx="1814233" cy="844308"/>
          </a:xfrm>
          <a:prstGeom prst="rect">
            <a:avLst/>
          </a:prstGeom>
        </p:spPr>
        <p:txBody>
          <a:bodyPr vert="horz" wrap="square" lIns="0" tIns="0" rIns="0" bIns="0"/>
          <a:p>
            <a:pPr algn="l" rtl="0" eaLnBrk="0">
              <a:lnSpc>
                <a:spcPct val="86000"/>
              </a:lnSpc>
            </a:pPr>
            <a:endParaRPr lang="en-US" altLang="en-US" sz="120" dirty="0"/>
          </a:p>
          <a:p>
            <a:pPr marL="12700" algn="l" rtl="0" eaLnBrk="0">
              <a:lnSpc>
                <a:spcPct val="97000"/>
              </a:lnSpc>
            </a:pPr>
            <a:r>
              <a:rPr sz="1440" spc="10" dirty="0">
                <a:ln w="3175" cap="flat" cmpd="sng">
                  <a:solidFill>
                    <a:srgbClr val="003B71">
                      <a:alpha val="100000"/>
                    </a:srgbClr>
                  </a:solidFill>
                  <a:prstDash val="solid"/>
                  <a:miter lim="0"/>
                </a:ln>
                <a:solidFill>
                  <a:srgbClr val="003B71">
                    <a:alpha val="100000"/>
                  </a:srgbClr>
                </a:solidFill>
                <a:latin typeface="微软雅黑" charset="-122"/>
                <a:ea typeface="微软雅黑" charset="-122"/>
                <a:cs typeface="微软雅黑" charset="-122"/>
              </a:rPr>
              <a:t>更</a:t>
            </a:r>
            <a:r>
              <a:rPr sz="1440" spc="0" dirty="0">
                <a:ln w="3175" cap="flat" cmpd="sng">
                  <a:solidFill>
                    <a:srgbClr val="003B71">
                      <a:alpha val="100000"/>
                    </a:srgbClr>
                  </a:solidFill>
                  <a:prstDash val="solid"/>
                  <a:miter lim="0"/>
                </a:ln>
                <a:solidFill>
                  <a:srgbClr val="003B71">
                    <a:alpha val="100000"/>
                  </a:srgbClr>
                </a:solidFill>
                <a:latin typeface="微软雅黑" charset="-122"/>
                <a:ea typeface="微软雅黑" charset="-122"/>
                <a:cs typeface="微软雅黑" charset="-122"/>
              </a:rPr>
              <a:t>高的准确性</a:t>
            </a:r>
            <a:endParaRPr lang="en-US" altLang="en-US" sz="1440" dirty="0"/>
          </a:p>
          <a:p>
            <a:pPr algn="l" rtl="0" eaLnBrk="0">
              <a:lnSpc>
                <a:spcPct val="130000"/>
              </a:lnSpc>
            </a:pPr>
            <a:endParaRPr lang="en-US" altLang="en-US" sz="240" dirty="0"/>
          </a:p>
          <a:p>
            <a:pPr marL="12700" indent="3175" algn="l" rtl="0" eaLnBrk="0">
              <a:lnSpc>
                <a:spcPct val="112000"/>
              </a:lnSpc>
              <a:spcBef>
                <a:spcPts val="0"/>
              </a:spcBef>
            </a:pPr>
            <a:r>
              <a:rPr sz="1080" spc="-10" dirty="0">
                <a:solidFill>
                  <a:srgbClr val="003B71">
                    <a:alpha val="100000"/>
                  </a:srgbClr>
                </a:solidFill>
                <a:latin typeface="微软雅黑" charset="-122"/>
                <a:ea typeface="微软雅黑" charset="-122"/>
                <a:cs typeface="微软雅黑" charset="-122"/>
              </a:rPr>
              <a:t>训</a:t>
            </a:r>
            <a:r>
              <a:rPr sz="1080" spc="0" dirty="0">
                <a:solidFill>
                  <a:srgbClr val="003B71">
                    <a:alpha val="100000"/>
                  </a:srgbClr>
                </a:solidFill>
                <a:latin typeface="微软雅黑" charset="-122"/>
                <a:ea typeface="微软雅黑" charset="-122"/>
                <a:cs typeface="微软雅黑" charset="-122"/>
              </a:rPr>
              <a:t>练效果比以往</a:t>
            </a:r>
            <a:r>
              <a:rPr sz="1080" spc="10" dirty="0">
                <a:solidFill>
                  <a:srgbClr val="003B71">
                    <a:alpha val="100000"/>
                  </a:srgbClr>
                </a:solidFill>
                <a:latin typeface="微软雅黑" charset="-122"/>
                <a:ea typeface="微软雅黑" charset="-122"/>
                <a:cs typeface="微软雅黑" charset="-122"/>
              </a:rPr>
              <a:t>的</a:t>
            </a:r>
            <a:r>
              <a:rPr sz="1080" spc="0" dirty="0">
                <a:solidFill>
                  <a:srgbClr val="003B71">
                    <a:alpha val="100000"/>
                  </a:srgbClr>
                </a:solidFill>
                <a:latin typeface="微软雅黑" charset="-122"/>
                <a:ea typeface="微软雅黑" charset="-122"/>
                <a:cs typeface="微软雅黑" charset="-122"/>
              </a:rPr>
              <a:t>大语言模型更好，因此它的</a:t>
            </a:r>
            <a:r>
              <a:rPr sz="1080" spc="-20" dirty="0">
                <a:solidFill>
                  <a:srgbClr val="003B71">
                    <a:alpha val="100000"/>
                  </a:srgbClr>
                </a:solidFill>
                <a:latin typeface="微软雅黑" charset="-122"/>
                <a:ea typeface="微软雅黑" charset="-122"/>
                <a:cs typeface="微软雅黑" charset="-122"/>
              </a:rPr>
              <a:t>准确性更高</a:t>
            </a:r>
            <a:r>
              <a:rPr sz="1080" spc="-10" dirty="0">
                <a:solidFill>
                  <a:srgbClr val="003B71">
                    <a:alpha val="100000"/>
                  </a:srgbClr>
                </a:solidFill>
                <a:latin typeface="微软雅黑" charset="-122"/>
                <a:ea typeface="微软雅黑" charset="-122"/>
                <a:cs typeface="微软雅黑" charset="-122"/>
              </a:rPr>
              <a:t>。</a:t>
            </a:r>
            <a:endParaRPr lang="en-US" altLang="en-US" sz="1080" dirty="0"/>
          </a:p>
        </p:txBody>
      </p:sp>
      <p:sp>
        <p:nvSpPr>
          <p:cNvPr id="476" name="textbox 476"/>
          <p:cNvSpPr/>
          <p:nvPr/>
        </p:nvSpPr>
        <p:spPr>
          <a:xfrm>
            <a:off x="3904584" y="1774225"/>
            <a:ext cx="4127132" cy="389035"/>
          </a:xfrm>
          <a:prstGeom prst="rect">
            <a:avLst/>
          </a:prstGeom>
        </p:spPr>
        <p:txBody>
          <a:bodyPr vert="horz" wrap="square" lIns="0" tIns="0" rIns="0" bIns="0"/>
          <a:p>
            <a:pPr algn="l" rtl="0" eaLnBrk="0">
              <a:lnSpc>
                <a:spcPct val="83000"/>
              </a:lnSpc>
            </a:pPr>
            <a:endParaRPr lang="en-US" altLang="en-US" sz="1080" dirty="0"/>
          </a:p>
        </p:txBody>
      </p:sp>
      <p:pic>
        <p:nvPicPr>
          <p:cNvPr id="477" name="picture 477"/>
          <p:cNvPicPr>
            <a:picLocks noChangeAspect="1"/>
          </p:cNvPicPr>
          <p:nvPr/>
        </p:nvPicPr>
        <p:blipFill>
          <a:blip r:embed="rId2"/>
          <a:stretch>
            <a:fillRect/>
          </a:stretch>
        </p:blipFill>
        <p:spPr>
          <a:xfrm rot="21600000">
            <a:off x="3633424" y="4960478"/>
            <a:ext cx="1213548" cy="583021"/>
          </a:xfrm>
          <a:prstGeom prst="rect">
            <a:avLst/>
          </a:prstGeom>
        </p:spPr>
      </p:pic>
      <p:pic>
        <p:nvPicPr>
          <p:cNvPr id="479" name="picture 479"/>
          <p:cNvPicPr>
            <a:picLocks noChangeAspect="1"/>
          </p:cNvPicPr>
          <p:nvPr/>
        </p:nvPicPr>
        <p:blipFill>
          <a:blip r:embed="rId3"/>
          <a:stretch>
            <a:fillRect/>
          </a:stretch>
        </p:blipFill>
        <p:spPr>
          <a:xfrm rot="21600000">
            <a:off x="3629159" y="2230410"/>
            <a:ext cx="1235742" cy="468898"/>
          </a:xfrm>
          <a:prstGeom prst="rect">
            <a:avLst/>
          </a:prstGeom>
        </p:spPr>
      </p:pic>
      <p:pic>
        <p:nvPicPr>
          <p:cNvPr id="485" name="picture 485"/>
          <p:cNvPicPr>
            <a:picLocks noChangeAspect="1"/>
          </p:cNvPicPr>
          <p:nvPr/>
        </p:nvPicPr>
        <p:blipFill>
          <a:blip r:embed="rId4"/>
          <a:stretch>
            <a:fillRect/>
          </a:stretch>
        </p:blipFill>
        <p:spPr>
          <a:xfrm rot="21600000">
            <a:off x="3583784" y="3906805"/>
            <a:ext cx="764521" cy="154092"/>
          </a:xfrm>
          <a:prstGeom prst="rect">
            <a:avLst/>
          </a:prstGeom>
        </p:spPr>
      </p:pic>
      <p:sp>
        <p:nvSpPr>
          <p:cNvPr id="486" name="rect"/>
          <p:cNvSpPr/>
          <p:nvPr/>
        </p:nvSpPr>
        <p:spPr>
          <a:xfrm>
            <a:off x="10985066" y="1825591"/>
            <a:ext cx="88792" cy="917760"/>
          </a:xfrm>
          <a:prstGeom prst="rect">
            <a:avLst/>
          </a:prstGeom>
          <a:solidFill>
            <a:srgbClr val="B3DEFF">
              <a:alpha val="100000"/>
            </a:srgbClr>
          </a:solidFill>
          <a:ln cap="flat">
            <a:noFill/>
            <a:prstDash val="solid"/>
            <a:miter lim="0"/>
          </a:ln>
        </p:spPr>
        <p:txBody>
          <a:bodyPr rtlCol="0"/>
          <a:p>
            <a:pPr algn="ctr"/>
            <a:endParaRPr lang="zh-CN" altLang="en-US" sz="2160"/>
          </a:p>
        </p:txBody>
      </p:sp>
      <p:sp>
        <p:nvSpPr>
          <p:cNvPr id="3" name="object 3"/>
          <p:cNvSpPr txBox="1">
            <a:spLocks noGrp="1"/>
          </p:cNvSpPr>
          <p:nvPr>
            <p:ph type="title"/>
          </p:nvPr>
        </p:nvSpPr>
        <p:spPr>
          <a:xfrm>
            <a:off x="1556229" y="1168274"/>
            <a:ext cx="9838771" cy="377190"/>
          </a:xfrm>
          <a:prstGeom prst="rect">
            <a:avLst/>
          </a:prstGeom>
        </p:spPr>
        <p:txBody>
          <a:bodyPr vert="horz" wrap="square" lIns="0" tIns="8308" rIns="0" bIns="0" rtlCol="0">
            <a:spAutoFit/>
          </a:bodyPr>
          <a:p>
            <a:pPr marL="12700">
              <a:lnSpc>
                <a:spcPct val="100000"/>
              </a:lnSpc>
              <a:spcBef>
                <a:spcPts val="120"/>
              </a:spcBef>
            </a:pPr>
            <a:r>
              <a:rPr sz="2400" dirty="0">
                <a:sym typeface="+mn-ea"/>
              </a:rPr>
              <a:t>在以往模型的基础上有了多方面的显著提升</a:t>
            </a:r>
            <a:endParaRPr lang="en-US" sz="2400" spc="40" dirty="0"/>
          </a:p>
        </p:txBody>
      </p:sp>
      <p:sp>
        <p:nvSpPr>
          <p:cNvPr id="10" name="标题 9"/>
          <p:cNvSpPr>
            <a:spLocks noGrp="1"/>
          </p:cNvSpPr>
          <p:nvPr/>
        </p:nvSpPr>
        <p:spPr>
          <a:xfrm>
            <a:off x="1595729" y="237847"/>
            <a:ext cx="7344858" cy="790909"/>
          </a:xfrm>
          <a:prstGeom prst="rect">
            <a:avLst/>
          </a:prstGeom>
        </p:spPr>
        <p:txBody>
          <a:bodyPr vert="horz" wrap="square" lIns="0" tIns="0" rIns="0" bIns="0" rtlCol="0" anchor="ctr" anchorCtr="0">
            <a:normAutofit/>
          </a:bodyPr>
          <a:lstStyle>
            <a:lvl1pPr algn="l" defTabSz="685800" rtl="0" eaLnBrk="1" fontAlgn="auto" latinLnBrk="0" hangingPunct="1">
              <a:lnSpc>
                <a:spcPct val="100000"/>
              </a:lnSpc>
              <a:spcBef>
                <a:spcPct val="0"/>
              </a:spcBef>
              <a:buNone/>
              <a:defRPr sz="2400" b="1" u="none" strike="noStrike" kern="1200" cap="none" spc="300" normalizeH="0" baseline="0">
                <a:solidFill>
                  <a:schemeClr val="accent1"/>
                </a:solidFill>
                <a:uFillTx/>
                <a:latin typeface="微软雅黑" charset="-122"/>
                <a:ea typeface="微软雅黑" charset="-122"/>
                <a:cs typeface="微软雅黑" charset="-122"/>
              </a:defRPr>
            </a:lvl1pPr>
          </a:lstStyle>
          <a:p>
            <a:r>
              <a:rPr lang="zh-CN" altLang="en-US" sz="2875"/>
              <a:t>大模型时代的到来</a:t>
            </a:r>
            <a:endParaRPr lang="zh-CN" altLang="en-US" sz="2875"/>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pPr algn="l">
              <a:buClrTx/>
              <a:buSzTx/>
              <a:buFontTx/>
            </a:pPr>
            <a:r>
              <a:rPr lang="zh-CN" altLang="en-US">
                <a:sym typeface="+mn-lt"/>
              </a:rPr>
              <a:t>百模大战——大模型时代</a:t>
            </a:r>
            <a:endParaRPr lang="zh-CN" altLang="en-US"/>
          </a:p>
        </p:txBody>
      </p:sp>
      <p:sp>
        <p:nvSpPr>
          <p:cNvPr id="27" name="TextBox 4"/>
          <p:cNvSpPr txBox="1"/>
          <p:nvPr/>
        </p:nvSpPr>
        <p:spPr>
          <a:xfrm>
            <a:off x="2283678" y="6328295"/>
            <a:ext cx="1294992" cy="127635"/>
          </a:xfrm>
          <a:prstGeom prst="rect">
            <a:avLst/>
          </a:prstGeom>
          <a:noFill/>
        </p:spPr>
        <p:txBody>
          <a:bodyPr wrap="square" rtlCol="0">
            <a:spAutoFit/>
          </a:bodyPr>
          <a:lstStyle/>
          <a:p>
            <a:pPr>
              <a:lnSpc>
                <a:spcPct val="200000"/>
              </a:lnSpc>
            </a:pPr>
            <a:r>
              <a:rPr lang="zh-CN" altLang="en-US" sz="120" dirty="0">
                <a:solidFill>
                  <a:schemeClr val="bg1"/>
                </a:solidFill>
                <a:latin typeface="微软雅黑" charset="-122"/>
              </a:rPr>
              <a:t>行业</a:t>
            </a:r>
            <a:r>
              <a:rPr lang="en-US" altLang="zh-CN" sz="120" dirty="0">
                <a:solidFill>
                  <a:schemeClr val="bg1"/>
                </a:solidFill>
                <a:latin typeface="微软雅黑" charset="-122"/>
              </a:rPr>
              <a:t>PPT</a:t>
            </a:r>
            <a:r>
              <a:rPr lang="zh-CN" altLang="en-US" sz="120" dirty="0">
                <a:solidFill>
                  <a:schemeClr val="bg1"/>
                </a:solidFill>
                <a:latin typeface="微软雅黑" charset="-122"/>
              </a:rPr>
              <a:t>模板</a:t>
            </a:r>
            <a:r>
              <a:rPr lang="en-US" altLang="zh-CN" sz="120" dirty="0">
                <a:solidFill>
                  <a:schemeClr val="bg1"/>
                </a:solidFill>
                <a:latin typeface="微软雅黑" charset="-122"/>
              </a:rPr>
              <a:t>http://www.1ppt.com/hangye/</a:t>
            </a:r>
            <a:endParaRPr lang="en-US" altLang="zh-CN" sz="120" dirty="0">
              <a:solidFill>
                <a:schemeClr val="bg1"/>
              </a:solidFill>
              <a:latin typeface="微软雅黑" charset="-122"/>
            </a:endParaRPr>
          </a:p>
        </p:txBody>
      </p:sp>
      <p:pic>
        <p:nvPicPr>
          <p:cNvPr id="3" name="图片 2"/>
          <p:cNvPicPr>
            <a:picLocks noChangeAspect="1"/>
          </p:cNvPicPr>
          <p:nvPr>
            <p:custDataLst>
              <p:tags r:id="rId1"/>
            </p:custDataLst>
          </p:nvPr>
        </p:nvPicPr>
        <p:blipFill>
          <a:blip r:embed="rId2"/>
          <a:stretch>
            <a:fillRect/>
          </a:stretch>
        </p:blipFill>
        <p:spPr>
          <a:xfrm>
            <a:off x="2180327" y="1369733"/>
            <a:ext cx="7831346" cy="4410213"/>
          </a:xfrm>
          <a:prstGeom prst="rect">
            <a:avLst/>
          </a:prstGeom>
        </p:spPr>
      </p:pic>
      <p:sp>
        <p:nvSpPr>
          <p:cNvPr id="4" name="文本框 3"/>
          <p:cNvSpPr txBox="1"/>
          <p:nvPr/>
        </p:nvSpPr>
        <p:spPr>
          <a:xfrm>
            <a:off x="1195171" y="6214302"/>
            <a:ext cx="11110372" cy="229870"/>
          </a:xfrm>
          <a:prstGeom prst="rect">
            <a:avLst/>
          </a:prstGeom>
          <a:noFill/>
        </p:spPr>
        <p:txBody>
          <a:bodyPr wrap="square" rtlCol="0" anchor="t">
            <a:spAutoFit/>
          </a:bodyPr>
          <a:p>
            <a:r>
              <a:rPr lang="zh-CN" altLang="en-US" sz="900"/>
              <a:t>Zhao, Wayne Xin, Kun Zhou, Junyi Li, Tianyi Tang, Xiaolei Wang, Yupeng Hou, Yingqian Min et al. "A survey of large language models." arXiv preprint arXiv:2303.18223 (2023).</a:t>
            </a:r>
            <a:endParaRPr lang="zh-CN" altLang="en-US" sz="900"/>
          </a:p>
        </p:txBody>
      </p:sp>
    </p:spTree>
  </p:cSld>
  <p:clrMapOvr>
    <a:masterClrMapping/>
  </p:clrMapOvr>
  <mc:AlternateContent xmlns:mc="http://schemas.openxmlformats.org/markup-compatibility/2006">
    <mc:Choice xmlns:p14="http://schemas.microsoft.com/office/powerpoint/2010/main" Requires="p14">
      <p:transition p14:dur="500">
        <p14:prism isContent="1"/>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p>
            <a:pPr algn="l">
              <a:buClrTx/>
              <a:buSzTx/>
              <a:buFontTx/>
            </a:pPr>
            <a:r>
              <a:rPr lang="zh-CN" altLang="en-US">
                <a:sym typeface="微软雅黑" charset="-122"/>
              </a:rPr>
              <a:t>大语言模型</a:t>
            </a:r>
            <a:r>
              <a:rPr lang="zh-CN" altLang="en-US">
                <a:sym typeface="微软雅黑" charset="-122"/>
              </a:rPr>
              <a:t>应用覆盖较多</a:t>
            </a:r>
            <a:r>
              <a:rPr lang="zh-CN" altLang="en-US">
                <a:sym typeface="微软雅黑" charset="-122"/>
              </a:rPr>
              <a:t>领域</a:t>
            </a:r>
            <a:endParaRPr lang="zh-CN" altLang="en-US"/>
          </a:p>
        </p:txBody>
      </p:sp>
      <p:graphicFrame>
        <p:nvGraphicFramePr>
          <p:cNvPr id="16" name="table 210"/>
          <p:cNvGraphicFramePr>
            <a:graphicFrameLocks noGrp="1"/>
          </p:cNvGraphicFramePr>
          <p:nvPr/>
        </p:nvGraphicFramePr>
        <p:xfrm>
          <a:off x="1231006" y="2629534"/>
          <a:ext cx="9840595" cy="3476625"/>
        </p:xfrm>
        <a:graphic>
          <a:graphicData uri="http://schemas.openxmlformats.org/drawingml/2006/table">
            <a:tbl>
              <a:tblPr/>
              <a:tblGrid>
                <a:gridCol w="3429000"/>
                <a:gridCol w="3021330"/>
                <a:gridCol w="3390265"/>
              </a:tblGrid>
              <a:tr h="1837055">
                <a:tc>
                  <a:txBody>
                    <a:bodyPr/>
                    <a:p>
                      <a:pPr algn="l" rtl="0" eaLnBrk="0">
                        <a:lnSpc>
                          <a:spcPct val="100000"/>
                        </a:lnSpc>
                      </a:pPr>
                      <a:endParaRPr lang="en-US" altLang="en-US" sz="1200" dirty="0"/>
                    </a:p>
                  </a:txBody>
                  <a:tcPr marL="0" marR="0" marT="0" marB="0">
                    <a:lnL>
                      <a:noFill/>
                    </a:lnL>
                    <a:lnR w="9525" cap="flat" cmpd="sng" algn="ctr">
                      <a:solidFill>
                        <a:srgbClr val="004C97"/>
                      </a:solidFill>
                      <a:prstDash val="dash"/>
                      <a:round/>
                      <a:headEnd type="none" w="med" len="med"/>
                      <a:tailEnd type="none" w="med" len="med"/>
                    </a:lnR>
                    <a:lnT>
                      <a:noFill/>
                    </a:lnT>
                    <a:lnB w="3175" cap="flat" cmpd="sng" algn="ctr">
                      <a:solidFill>
                        <a:srgbClr val="004C97"/>
                      </a:solidFill>
                      <a:prstDash val="dash"/>
                      <a:round/>
                      <a:headEnd type="none" w="med" len="med"/>
                      <a:tailEnd type="none" w="med" len="med"/>
                    </a:lnB>
                  </a:tcPr>
                </a:tc>
                <a:tc>
                  <a:txBody>
                    <a:bodyPr/>
                    <a:p>
                      <a:pPr algn="l" rtl="0" eaLnBrk="0">
                        <a:lnSpc>
                          <a:spcPct val="100000"/>
                        </a:lnSpc>
                      </a:pPr>
                      <a:endParaRPr lang="en-US" altLang="en-US" sz="1200" dirty="0"/>
                    </a:p>
                  </a:txBody>
                  <a:tcPr marL="0" marR="0" marT="0" marB="0">
                    <a:lnL w="9525" cap="flat" cmpd="sng" algn="ctr">
                      <a:solidFill>
                        <a:srgbClr val="004C97"/>
                      </a:solidFill>
                      <a:prstDash val="dash"/>
                      <a:round/>
                      <a:headEnd type="none" w="med" len="med"/>
                      <a:tailEnd type="none" w="med" len="med"/>
                    </a:lnL>
                    <a:lnR w="9525" cap="flat" cmpd="sng" algn="ctr">
                      <a:solidFill>
                        <a:srgbClr val="004C97"/>
                      </a:solidFill>
                      <a:prstDash val="dash"/>
                      <a:round/>
                      <a:headEnd type="none" w="med" len="med"/>
                      <a:tailEnd type="none" w="med" len="med"/>
                    </a:lnR>
                    <a:lnT>
                      <a:noFill/>
                    </a:lnT>
                    <a:lnB w="3175" cap="flat" cmpd="sng" algn="ctr">
                      <a:solidFill>
                        <a:srgbClr val="004C97"/>
                      </a:solidFill>
                      <a:prstDash val="dash"/>
                      <a:round/>
                      <a:headEnd type="none" w="med" len="med"/>
                      <a:tailEnd type="none" w="med" len="med"/>
                    </a:lnB>
                  </a:tcPr>
                </a:tc>
                <a:tc>
                  <a:txBody>
                    <a:bodyPr/>
                    <a:p>
                      <a:pPr algn="l" rtl="0" eaLnBrk="0">
                        <a:lnSpc>
                          <a:spcPct val="100000"/>
                        </a:lnSpc>
                      </a:pPr>
                      <a:endParaRPr lang="en-US" altLang="en-US" sz="1200" dirty="0"/>
                    </a:p>
                  </a:txBody>
                  <a:tcPr marL="0" marR="0" marT="0" marB="0">
                    <a:lnL w="9525" cap="flat" cmpd="sng" algn="ctr">
                      <a:solidFill>
                        <a:srgbClr val="004C97"/>
                      </a:solidFill>
                      <a:prstDash val="dash"/>
                      <a:round/>
                      <a:headEnd type="none" w="med" len="med"/>
                      <a:tailEnd type="none" w="med" len="med"/>
                    </a:lnL>
                    <a:lnR>
                      <a:noFill/>
                    </a:lnR>
                    <a:lnT>
                      <a:noFill/>
                    </a:lnT>
                    <a:lnB w="3175" cap="flat" cmpd="sng" algn="ctr">
                      <a:solidFill>
                        <a:srgbClr val="004C97"/>
                      </a:solidFill>
                      <a:prstDash val="dash"/>
                      <a:round/>
                      <a:headEnd type="none" w="med" len="med"/>
                      <a:tailEnd type="none" w="med" len="med"/>
                    </a:lnB>
                  </a:tcPr>
                </a:tc>
              </a:tr>
              <a:tr h="1639570">
                <a:tc>
                  <a:txBody>
                    <a:bodyPr/>
                    <a:p>
                      <a:pPr algn="l" rtl="0" eaLnBrk="0">
                        <a:lnSpc>
                          <a:spcPct val="119000"/>
                        </a:lnSpc>
                      </a:pPr>
                      <a:endParaRPr lang="en-US" altLang="en-US" sz="600" dirty="0"/>
                    </a:p>
                    <a:p>
                      <a:pPr marL="453390" algn="l" rtl="0" eaLnBrk="0">
                        <a:lnSpc>
                          <a:spcPct val="96000"/>
                        </a:lnSpc>
                        <a:spcBef>
                          <a:spcPts val="5"/>
                        </a:spcBef>
                      </a:pPr>
                      <a:r>
                        <a:rPr sz="1080" spc="0" dirty="0">
                          <a:solidFill>
                            <a:srgbClr val="003B71">
                              <a:alpha val="100000"/>
                            </a:srgbClr>
                          </a:solidFill>
                          <a:latin typeface="微软雅黑" charset="-122"/>
                          <a:ea typeface="微软雅黑" charset="-122"/>
                          <a:cs typeface="微软雅黑" charset="-122"/>
                        </a:rPr>
                        <a:t>用藏文、俄罗斯语、韩语和日文说一句话</a:t>
                      </a:r>
                      <a:endParaRPr lang="en-US" altLang="en-US" sz="1080" dirty="0"/>
                    </a:p>
                  </a:txBody>
                  <a:tcPr marL="0" marR="0" marT="0" marB="0">
                    <a:lnL>
                      <a:noFill/>
                    </a:lnL>
                    <a:lnR w="9525" cap="flat" cmpd="sng" algn="ctr">
                      <a:solidFill>
                        <a:srgbClr val="004C97"/>
                      </a:solidFill>
                      <a:prstDash val="dash"/>
                      <a:round/>
                      <a:headEnd type="none" w="med" len="med"/>
                      <a:tailEnd type="none" w="med" len="med"/>
                    </a:lnR>
                    <a:lnT w="3175" cap="flat" cmpd="sng" algn="ctr">
                      <a:solidFill>
                        <a:srgbClr val="004C97"/>
                      </a:solidFill>
                      <a:prstDash val="dash"/>
                      <a:round/>
                      <a:headEnd type="none" w="med" len="med"/>
                      <a:tailEnd type="none" w="med" len="med"/>
                    </a:lnT>
                    <a:lnB>
                      <a:noFill/>
                    </a:lnB>
                  </a:tcPr>
                </a:tc>
                <a:tc>
                  <a:txBody>
                    <a:bodyPr/>
                    <a:p>
                      <a:pPr algn="l" rtl="0" eaLnBrk="0">
                        <a:lnSpc>
                          <a:spcPct val="103000"/>
                        </a:lnSpc>
                      </a:pPr>
                      <a:endParaRPr lang="en-US" altLang="en-US" sz="840" dirty="0"/>
                    </a:p>
                    <a:p>
                      <a:pPr marL="756920" algn="l" rtl="0" eaLnBrk="0">
                        <a:lnSpc>
                          <a:spcPct val="97000"/>
                        </a:lnSpc>
                        <a:spcBef>
                          <a:spcPts val="5"/>
                        </a:spcBef>
                      </a:pPr>
                      <a:r>
                        <a:rPr sz="1080" spc="10" dirty="0">
                          <a:solidFill>
                            <a:srgbClr val="003B71">
                              <a:alpha val="100000"/>
                            </a:srgbClr>
                          </a:solidFill>
                          <a:latin typeface="微软雅黑" charset="-122"/>
                          <a:ea typeface="微软雅黑" charset="-122"/>
                          <a:cs typeface="微软雅黑" charset="-122"/>
                        </a:rPr>
                        <a:t>用</a:t>
                      </a:r>
                      <a:r>
                        <a:rPr sz="1080" spc="0" dirty="0">
                          <a:solidFill>
                            <a:srgbClr val="003B71">
                              <a:alpha val="100000"/>
                            </a:srgbClr>
                          </a:solidFill>
                          <a:latin typeface="微软雅黑" charset="-122"/>
                          <a:ea typeface="微软雅黑" charset="-122"/>
                          <a:cs typeface="微软雅黑" charset="-122"/>
                        </a:rPr>
                        <a:t>C</a:t>
                      </a:r>
                      <a:r>
                        <a:rPr sz="1080" spc="10" dirty="0">
                          <a:solidFill>
                            <a:srgbClr val="003B71">
                              <a:alpha val="100000"/>
                            </a:srgbClr>
                          </a:solidFill>
                          <a:latin typeface="微软雅黑" charset="-122"/>
                          <a:ea typeface="微软雅黑" charset="-122"/>
                          <a:cs typeface="微软雅黑" charset="-122"/>
                        </a:rPr>
                        <a:t>++写一</a:t>
                      </a:r>
                      <a:r>
                        <a:rPr sz="1080" spc="0" dirty="0">
                          <a:solidFill>
                            <a:srgbClr val="003B71">
                              <a:alpha val="100000"/>
                            </a:srgbClr>
                          </a:solidFill>
                          <a:latin typeface="微软雅黑" charset="-122"/>
                          <a:ea typeface="微软雅黑" charset="-122"/>
                          <a:cs typeface="微软雅黑" charset="-122"/>
                        </a:rPr>
                        <a:t>段爬虫代码</a:t>
                      </a:r>
                      <a:endParaRPr lang="en-US" altLang="en-US" sz="1080" dirty="0"/>
                    </a:p>
                  </a:txBody>
                  <a:tcPr marL="0" marR="0" marT="0" marB="0">
                    <a:lnL w="9525" cap="flat" cmpd="sng" algn="ctr">
                      <a:solidFill>
                        <a:srgbClr val="004C97"/>
                      </a:solidFill>
                      <a:prstDash val="dash"/>
                      <a:round/>
                      <a:headEnd type="none" w="med" len="med"/>
                      <a:tailEnd type="none" w="med" len="med"/>
                    </a:lnL>
                    <a:lnR w="9525" cap="flat" cmpd="sng" algn="ctr">
                      <a:solidFill>
                        <a:srgbClr val="004C97"/>
                      </a:solidFill>
                      <a:prstDash val="dash"/>
                      <a:round/>
                      <a:headEnd type="none" w="med" len="med"/>
                      <a:tailEnd type="none" w="med" len="med"/>
                    </a:lnR>
                    <a:lnT w="3175" cap="flat" cmpd="sng" algn="ctr">
                      <a:solidFill>
                        <a:srgbClr val="004C97"/>
                      </a:solidFill>
                      <a:prstDash val="dash"/>
                      <a:round/>
                      <a:headEnd type="none" w="med" len="med"/>
                      <a:tailEnd type="none" w="med" len="med"/>
                    </a:lnT>
                    <a:lnB>
                      <a:noFill/>
                    </a:lnB>
                  </a:tcPr>
                </a:tc>
                <a:tc>
                  <a:txBody>
                    <a:bodyPr/>
                    <a:p>
                      <a:pPr algn="l" rtl="0" eaLnBrk="0">
                        <a:lnSpc>
                          <a:spcPct val="126000"/>
                        </a:lnSpc>
                      </a:pPr>
                      <a:endParaRPr lang="en-US" altLang="en-US" sz="360" dirty="0"/>
                    </a:p>
                    <a:p>
                      <a:pPr marL="861060" algn="l" rtl="0" eaLnBrk="0">
                        <a:lnSpc>
                          <a:spcPct val="88000"/>
                        </a:lnSpc>
                        <a:spcBef>
                          <a:spcPts val="0"/>
                        </a:spcBef>
                      </a:pPr>
                      <a:r>
                        <a:rPr sz="1080" spc="30" dirty="0">
                          <a:solidFill>
                            <a:srgbClr val="003B71">
                              <a:alpha val="100000"/>
                            </a:srgbClr>
                          </a:solidFill>
                          <a:latin typeface="微软雅黑" charset="-122"/>
                          <a:ea typeface="微软雅黑" charset="-122"/>
                          <a:cs typeface="微软雅黑" charset="-122"/>
                        </a:rPr>
                        <a:t>代码阅读</a:t>
                      </a:r>
                      <a:r>
                        <a:rPr sz="1080" spc="20" dirty="0">
                          <a:solidFill>
                            <a:srgbClr val="003B71">
                              <a:alpha val="100000"/>
                            </a:srgbClr>
                          </a:solidFill>
                          <a:latin typeface="微软雅黑" charset="-122"/>
                          <a:ea typeface="微软雅黑" charset="-122"/>
                          <a:cs typeface="微软雅黑" charset="-122"/>
                        </a:rPr>
                        <a:t>理</a:t>
                      </a:r>
                      <a:r>
                        <a:rPr sz="1080" spc="0" dirty="0">
                          <a:solidFill>
                            <a:srgbClr val="003B71">
                              <a:alpha val="100000"/>
                            </a:srgbClr>
                          </a:solidFill>
                          <a:latin typeface="微软雅黑" charset="-122"/>
                          <a:ea typeface="微软雅黑" charset="-122"/>
                          <a:cs typeface="微软雅黑" charset="-122"/>
                        </a:rPr>
                        <a:t>解和Debug</a:t>
                      </a:r>
                      <a:endParaRPr lang="en-US" altLang="en-US" sz="1080" dirty="0"/>
                    </a:p>
                  </a:txBody>
                  <a:tcPr marL="0" marR="0" marT="0" marB="0">
                    <a:lnL w="9525" cap="flat" cmpd="sng" algn="ctr">
                      <a:solidFill>
                        <a:srgbClr val="004C97"/>
                      </a:solidFill>
                      <a:prstDash val="dash"/>
                      <a:round/>
                      <a:headEnd type="none" w="med" len="med"/>
                      <a:tailEnd type="none" w="med" len="med"/>
                    </a:lnL>
                    <a:lnR>
                      <a:noFill/>
                    </a:lnR>
                    <a:lnT w="3175" cap="flat" cmpd="sng" algn="ctr">
                      <a:solidFill>
                        <a:srgbClr val="004C97"/>
                      </a:solidFill>
                      <a:prstDash val="dash"/>
                      <a:round/>
                      <a:headEnd type="none" w="med" len="med"/>
                      <a:tailEnd type="none" w="med" len="med"/>
                    </a:lnT>
                    <a:lnB>
                      <a:noFill/>
                    </a:lnB>
                  </a:tcPr>
                </a:tc>
              </a:tr>
            </a:tbl>
          </a:graphicData>
        </a:graphic>
      </p:graphicFrame>
      <p:sp>
        <p:nvSpPr>
          <p:cNvPr id="19" name="textbox 217"/>
          <p:cNvSpPr/>
          <p:nvPr/>
        </p:nvSpPr>
        <p:spPr>
          <a:xfrm>
            <a:off x="1532628" y="2458884"/>
            <a:ext cx="5708783" cy="175866"/>
          </a:xfrm>
          <a:prstGeom prst="rect">
            <a:avLst/>
          </a:prstGeom>
        </p:spPr>
        <p:txBody>
          <a:bodyPr vert="horz" wrap="square" lIns="0" tIns="0" rIns="0" bIns="0"/>
          <a:p>
            <a:pPr algn="l" rtl="0" eaLnBrk="0">
              <a:lnSpc>
                <a:spcPct val="84000"/>
              </a:lnSpc>
            </a:pPr>
            <a:endParaRPr lang="en-US" altLang="en-US" sz="120" dirty="0"/>
          </a:p>
          <a:p>
            <a:pPr marL="12700" algn="l" rtl="0" eaLnBrk="0">
              <a:lnSpc>
                <a:spcPct val="88000"/>
              </a:lnSpc>
            </a:pPr>
            <a:r>
              <a:rPr sz="1080" spc="10" dirty="0">
                <a:solidFill>
                  <a:srgbClr val="003B71">
                    <a:alpha val="100000"/>
                  </a:srgbClr>
                </a:solidFill>
                <a:latin typeface="微软雅黑" charset="-122"/>
                <a:ea typeface="微软雅黑" charset="-122"/>
                <a:cs typeface="微软雅黑" charset="-122"/>
              </a:rPr>
              <a:t>用鲁迅口吻写一篇评价新冠疫情的散文                   </a:t>
            </a:r>
            <a:r>
              <a:rPr sz="1080" spc="0" dirty="0">
                <a:solidFill>
                  <a:srgbClr val="003B71">
                    <a:alpha val="100000"/>
                  </a:srgbClr>
                </a:solidFill>
                <a:latin typeface="微软雅黑" charset="-122"/>
                <a:ea typeface="微软雅黑" charset="-122"/>
                <a:cs typeface="微软雅黑" charset="-122"/>
              </a:rPr>
              <a:t>     用Python写一段CCI量化投资策略</a:t>
            </a:r>
            <a:endParaRPr lang="en-US" altLang="en-US" sz="1080" dirty="0"/>
          </a:p>
        </p:txBody>
      </p:sp>
      <p:sp>
        <p:nvSpPr>
          <p:cNvPr id="20" name="textbox 219"/>
          <p:cNvSpPr/>
          <p:nvPr/>
        </p:nvSpPr>
        <p:spPr>
          <a:xfrm>
            <a:off x="8638438" y="2434971"/>
            <a:ext cx="1677955" cy="191092"/>
          </a:xfrm>
          <a:prstGeom prst="rect">
            <a:avLst/>
          </a:prstGeom>
        </p:spPr>
        <p:txBody>
          <a:bodyPr vert="horz" wrap="square" lIns="0" tIns="0" rIns="0" bIns="0"/>
          <a:p>
            <a:pPr algn="l" rtl="0" eaLnBrk="0">
              <a:lnSpc>
                <a:spcPct val="79000"/>
              </a:lnSpc>
            </a:pPr>
            <a:endParaRPr lang="en-US" altLang="en-US" sz="120" dirty="0"/>
          </a:p>
          <a:p>
            <a:pPr marL="12700" algn="l" rtl="0" eaLnBrk="0">
              <a:lnSpc>
                <a:spcPct val="98000"/>
              </a:lnSpc>
            </a:pPr>
            <a:r>
              <a:rPr sz="1080" spc="10" dirty="0">
                <a:solidFill>
                  <a:srgbClr val="003B71">
                    <a:alpha val="100000"/>
                  </a:srgbClr>
                </a:solidFill>
                <a:latin typeface="微软雅黑" charset="-122"/>
                <a:ea typeface="微软雅黑" charset="-122"/>
                <a:cs typeface="微软雅黑" charset="-122"/>
              </a:rPr>
              <a:t>写</a:t>
            </a:r>
            <a:r>
              <a:rPr sz="1080" spc="0" dirty="0">
                <a:solidFill>
                  <a:srgbClr val="003B71">
                    <a:alpha val="100000"/>
                  </a:srgbClr>
                </a:solidFill>
                <a:latin typeface="微软雅黑" charset="-122"/>
                <a:ea typeface="微软雅黑" charset="-122"/>
                <a:cs typeface="微软雅黑" charset="-122"/>
              </a:rPr>
              <a:t>一篇信创产业的研究报告</a:t>
            </a:r>
            <a:endParaRPr lang="en-US" altLang="en-US" sz="1080" dirty="0"/>
          </a:p>
        </p:txBody>
      </p:sp>
      <p:sp>
        <p:nvSpPr>
          <p:cNvPr id="2" name="文本框 1"/>
          <p:cNvSpPr txBox="1"/>
          <p:nvPr/>
        </p:nvSpPr>
        <p:spPr>
          <a:xfrm>
            <a:off x="1010170" y="1552148"/>
            <a:ext cx="10203064" cy="339725"/>
          </a:xfrm>
          <a:prstGeom prst="rect">
            <a:avLst/>
          </a:prstGeom>
          <a:noFill/>
        </p:spPr>
        <p:txBody>
          <a:bodyPr wrap="square">
            <a:spAutoFit/>
          </a:bodyPr>
          <a:p>
            <a:pPr algn="l" rtl="0" eaLnBrk="0">
              <a:spcBef>
                <a:spcPts val="920"/>
              </a:spcBef>
              <a:tabLst>
                <a:tab pos="361315" algn="l"/>
              </a:tabLst>
            </a:pPr>
            <a:r>
              <a:rPr lang="zh-CN" altLang="en-US" sz="1620" spc="0" dirty="0">
                <a:ln w="3175" cap="flat" cmpd="sng">
                  <a:noFill/>
                  <a:prstDash val="solid"/>
                  <a:miter lim="0"/>
                </a:ln>
                <a:solidFill>
                  <a:schemeClr val="tx1">
                    <a:lumMod val="85000"/>
                    <a:lumOff val="15000"/>
                  </a:schemeClr>
                </a:solidFill>
                <a:latin typeface="微软雅黑" charset="-122"/>
                <a:ea typeface="微软雅黑" charset="-122"/>
                <a:cs typeface="微软雅黑" charset="-122"/>
              </a:rPr>
              <a:t>大语言模型训练能力范围可以覆盖回答问题、撰写文章、文本摘要、语言翻译和</a:t>
            </a:r>
            <a:r>
              <a:rPr lang="zh-CN" altLang="en-US" sz="1620" dirty="0">
                <a:ln w="3175" cap="flat" cmpd="sng">
                  <a:noFill/>
                  <a:prstDash val="solid"/>
                  <a:miter lim="0"/>
                </a:ln>
                <a:solidFill>
                  <a:schemeClr val="tx1">
                    <a:lumMod val="85000"/>
                    <a:lumOff val="15000"/>
                  </a:schemeClr>
                </a:solidFill>
                <a:latin typeface="微软雅黑" charset="-122"/>
                <a:ea typeface="微软雅黑" charset="-122"/>
                <a:cs typeface="微软雅黑" charset="-122"/>
              </a:rPr>
              <a:t>生成计算机代码等任务。</a:t>
            </a:r>
            <a:endParaRPr lang="zh-CN" altLang="en-US" sz="1620" dirty="0">
              <a:ln w="3175" cap="flat" cmpd="sng">
                <a:noFill/>
                <a:prstDash val="solid"/>
                <a:miter lim="0"/>
              </a:ln>
              <a:solidFill>
                <a:schemeClr val="tx1">
                  <a:lumMod val="85000"/>
                  <a:lumOff val="15000"/>
                </a:schemeClr>
              </a:solidFill>
              <a:latin typeface="微软雅黑" charset="-122"/>
              <a:ea typeface="微软雅黑" charset="-122"/>
              <a:cs typeface="微软雅黑" charset="-122"/>
            </a:endParaRPr>
          </a:p>
        </p:txBody>
      </p:sp>
      <p:pic>
        <p:nvPicPr>
          <p:cNvPr id="4" name="图片 3"/>
          <p:cNvPicPr>
            <a:picLocks noChangeAspect="1"/>
          </p:cNvPicPr>
          <p:nvPr/>
        </p:nvPicPr>
        <p:blipFill>
          <a:blip r:embed="rId1"/>
          <a:stretch>
            <a:fillRect/>
          </a:stretch>
        </p:blipFill>
        <p:spPr>
          <a:xfrm>
            <a:off x="1555468" y="2648453"/>
            <a:ext cx="2507799" cy="1727252"/>
          </a:xfrm>
          <a:prstGeom prst="rect">
            <a:avLst/>
          </a:prstGeom>
        </p:spPr>
      </p:pic>
      <p:pic>
        <p:nvPicPr>
          <p:cNvPr id="5" name="图片 4"/>
          <p:cNvPicPr>
            <a:picLocks noChangeAspect="1"/>
          </p:cNvPicPr>
          <p:nvPr/>
        </p:nvPicPr>
        <p:blipFill>
          <a:blip r:embed="rId2"/>
          <a:stretch>
            <a:fillRect/>
          </a:stretch>
        </p:blipFill>
        <p:spPr>
          <a:xfrm>
            <a:off x="4935173" y="2648453"/>
            <a:ext cx="2401023" cy="1787207"/>
          </a:xfrm>
          <a:prstGeom prst="rect">
            <a:avLst/>
          </a:prstGeom>
        </p:spPr>
      </p:pic>
      <p:pic>
        <p:nvPicPr>
          <p:cNvPr id="6" name="图片 5"/>
          <p:cNvPicPr>
            <a:picLocks noChangeAspect="1"/>
          </p:cNvPicPr>
          <p:nvPr/>
        </p:nvPicPr>
        <p:blipFill>
          <a:blip r:embed="rId3"/>
          <a:stretch>
            <a:fillRect/>
          </a:stretch>
        </p:blipFill>
        <p:spPr>
          <a:xfrm>
            <a:off x="8371977" y="2648453"/>
            <a:ext cx="2331933" cy="1787207"/>
          </a:xfrm>
          <a:prstGeom prst="rect">
            <a:avLst/>
          </a:prstGeom>
        </p:spPr>
      </p:pic>
      <p:pic>
        <p:nvPicPr>
          <p:cNvPr id="7" name="图片 6"/>
          <p:cNvPicPr>
            <a:picLocks noChangeAspect="1"/>
          </p:cNvPicPr>
          <p:nvPr/>
        </p:nvPicPr>
        <p:blipFill>
          <a:blip r:embed="rId4"/>
          <a:stretch>
            <a:fillRect/>
          </a:stretch>
        </p:blipFill>
        <p:spPr>
          <a:xfrm>
            <a:off x="1231144" y="4838209"/>
            <a:ext cx="3371139" cy="1484010"/>
          </a:xfrm>
          <a:prstGeom prst="rect">
            <a:avLst/>
          </a:prstGeom>
        </p:spPr>
      </p:pic>
      <p:pic>
        <p:nvPicPr>
          <p:cNvPr id="8" name="图片 7"/>
          <p:cNvPicPr>
            <a:picLocks noChangeAspect="1"/>
          </p:cNvPicPr>
          <p:nvPr/>
        </p:nvPicPr>
        <p:blipFill>
          <a:blip r:embed="rId5"/>
          <a:stretch>
            <a:fillRect/>
          </a:stretch>
        </p:blipFill>
        <p:spPr>
          <a:xfrm>
            <a:off x="4866083" y="4803950"/>
            <a:ext cx="2773882" cy="1589072"/>
          </a:xfrm>
          <a:prstGeom prst="rect">
            <a:avLst/>
          </a:prstGeom>
        </p:spPr>
      </p:pic>
      <p:pic>
        <p:nvPicPr>
          <p:cNvPr id="9" name="图片 8"/>
          <p:cNvPicPr>
            <a:picLocks noChangeAspect="1"/>
          </p:cNvPicPr>
          <p:nvPr/>
        </p:nvPicPr>
        <p:blipFill>
          <a:blip r:embed="rId6"/>
          <a:stretch>
            <a:fillRect/>
          </a:stretch>
        </p:blipFill>
        <p:spPr>
          <a:xfrm>
            <a:off x="8158995" y="4770261"/>
            <a:ext cx="2637414" cy="162276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4"/>
          <p:cNvGrpSpPr/>
          <p:nvPr/>
        </p:nvGrpSpPr>
        <p:grpSpPr>
          <a:xfrm>
            <a:off x="1727300" y="1144709"/>
            <a:ext cx="8970863" cy="5051108"/>
            <a:chOff x="2040146" y="1465437"/>
            <a:chExt cx="16451963" cy="9263394"/>
          </a:xfrm>
        </p:grpSpPr>
        <p:pic>
          <p:nvPicPr>
            <p:cNvPr id="3" name="object 5"/>
            <p:cNvPicPr/>
            <p:nvPr/>
          </p:nvPicPr>
          <p:blipFill>
            <a:blip r:embed="rId1" cstate="print"/>
            <a:stretch>
              <a:fillRect/>
            </a:stretch>
          </p:blipFill>
          <p:spPr>
            <a:xfrm>
              <a:off x="2040146" y="1881771"/>
              <a:ext cx="5720425" cy="8847060"/>
            </a:xfrm>
            <a:prstGeom prst="rect">
              <a:avLst/>
            </a:prstGeom>
          </p:spPr>
        </p:pic>
        <p:sp>
          <p:nvSpPr>
            <p:cNvPr id="9" name="object 6"/>
            <p:cNvSpPr/>
            <p:nvPr/>
          </p:nvSpPr>
          <p:spPr>
            <a:xfrm>
              <a:off x="4185781" y="1465437"/>
              <a:ext cx="14306328" cy="3940471"/>
            </a:xfrm>
            <a:custGeom>
              <a:avLst/>
              <a:gdLst/>
              <a:ahLst/>
              <a:cxnLst/>
              <a:rect l="l" t="t" r="r" b="b"/>
              <a:pathLst>
                <a:path w="14306550" h="3788410">
                  <a:moveTo>
                    <a:pt x="14158584" y="0"/>
                  </a:moveTo>
                  <a:lnTo>
                    <a:pt x="736556" y="0"/>
                  </a:lnTo>
                  <a:lnTo>
                    <a:pt x="689997" y="7496"/>
                  </a:lnTo>
                  <a:lnTo>
                    <a:pt x="649574" y="28378"/>
                  </a:lnTo>
                  <a:lnTo>
                    <a:pt x="617707" y="60235"/>
                  </a:lnTo>
                  <a:lnTo>
                    <a:pt x="596813" y="100658"/>
                  </a:lnTo>
                  <a:lnTo>
                    <a:pt x="589311" y="147237"/>
                  </a:lnTo>
                  <a:lnTo>
                    <a:pt x="589311" y="1178954"/>
                  </a:lnTo>
                  <a:lnTo>
                    <a:pt x="0" y="1473429"/>
                  </a:lnTo>
                  <a:lnTo>
                    <a:pt x="589311" y="1768281"/>
                  </a:lnTo>
                  <a:lnTo>
                    <a:pt x="589311" y="3640902"/>
                  </a:lnTo>
                  <a:lnTo>
                    <a:pt x="596813" y="3687462"/>
                  </a:lnTo>
                  <a:lnTo>
                    <a:pt x="617707" y="3727887"/>
                  </a:lnTo>
                  <a:lnTo>
                    <a:pt x="649574" y="3759756"/>
                  </a:lnTo>
                  <a:lnTo>
                    <a:pt x="689997" y="3780652"/>
                  </a:lnTo>
                  <a:lnTo>
                    <a:pt x="736556" y="3788155"/>
                  </a:lnTo>
                  <a:lnTo>
                    <a:pt x="14158584" y="3788155"/>
                  </a:lnTo>
                  <a:lnTo>
                    <a:pt x="14205202" y="3780652"/>
                  </a:lnTo>
                  <a:lnTo>
                    <a:pt x="14245718" y="3759756"/>
                  </a:lnTo>
                  <a:lnTo>
                    <a:pt x="14277687" y="3727887"/>
                  </a:lnTo>
                  <a:lnTo>
                    <a:pt x="14298663" y="3687462"/>
                  </a:lnTo>
                  <a:lnTo>
                    <a:pt x="14306198" y="3640902"/>
                  </a:lnTo>
                  <a:lnTo>
                    <a:pt x="14306198" y="147237"/>
                  </a:lnTo>
                  <a:lnTo>
                    <a:pt x="14298663" y="100658"/>
                  </a:lnTo>
                  <a:lnTo>
                    <a:pt x="14277687" y="60235"/>
                  </a:lnTo>
                  <a:lnTo>
                    <a:pt x="14245718" y="28378"/>
                  </a:lnTo>
                  <a:lnTo>
                    <a:pt x="14205202" y="7496"/>
                  </a:lnTo>
                  <a:lnTo>
                    <a:pt x="14158584" y="0"/>
                  </a:lnTo>
                  <a:close/>
                </a:path>
              </a:pathLst>
            </a:custGeom>
            <a:solidFill>
              <a:srgbClr val="D5D5D5"/>
            </a:solidFill>
          </p:spPr>
          <p:txBody>
            <a:bodyPr wrap="square" lIns="0" tIns="0" rIns="0" bIns="0" rtlCol="0"/>
            <a:p>
              <a:endParaRPr sz="985"/>
            </a:p>
          </p:txBody>
        </p:sp>
      </p:grpSp>
      <p:sp>
        <p:nvSpPr>
          <p:cNvPr id="10" name="object 7"/>
          <p:cNvSpPr txBox="1"/>
          <p:nvPr/>
        </p:nvSpPr>
        <p:spPr>
          <a:xfrm>
            <a:off x="3324783" y="1290443"/>
            <a:ext cx="7149587" cy="1822450"/>
          </a:xfrm>
          <a:prstGeom prst="rect">
            <a:avLst/>
          </a:prstGeom>
        </p:spPr>
        <p:txBody>
          <a:bodyPr vert="horz" wrap="square" lIns="0" tIns="6578" rIns="0" bIns="0" rtlCol="0">
            <a:spAutoFit/>
          </a:bodyPr>
          <a:p>
            <a:pPr marL="12700" marR="5080" algn="just">
              <a:lnSpc>
                <a:spcPct val="121000"/>
              </a:lnSpc>
              <a:spcBef>
                <a:spcPts val="95"/>
              </a:spcBef>
            </a:pPr>
            <a:r>
              <a:rPr sz="1120" b="0" spc="-5" dirty="0">
                <a:latin typeface="Adobe Clean Han"/>
                <a:cs typeface="Adobe Clean Han"/>
              </a:rPr>
              <a:t>⼤家好，我是你们的博主，今天给⼤家推荐⼀款能改善⽑发结构的防脱发产品。许多年轻⼈都⾯临着脱发问题，这不仅影响外貌，还会影响⾃信⼼。我们都希望⾃⼰能拥有浓密的头发，⽽这款产品就能帮助你实现这个梦想。这款</a:t>
            </a:r>
            <a:r>
              <a:rPr sz="1120" b="0" spc="-10" dirty="0">
                <a:latin typeface="Adobe Clean Han"/>
                <a:cs typeface="Adobe Clean Han"/>
              </a:rPr>
              <a:t>产品有以下优点：</a:t>
            </a:r>
            <a:endParaRPr sz="1120" b="0" spc="-10" dirty="0">
              <a:latin typeface="Adobe Clean Han"/>
              <a:cs typeface="Adobe Clean Han"/>
            </a:endParaRPr>
          </a:p>
          <a:p>
            <a:pPr marL="12700" marR="5080" algn="just">
              <a:lnSpc>
                <a:spcPct val="121000"/>
              </a:lnSpc>
              <a:spcBef>
                <a:spcPts val="95"/>
              </a:spcBef>
            </a:pPr>
            <a:r>
              <a:rPr sz="1120" b="0" spc="-10" dirty="0">
                <a:latin typeface="Adobe Clean Han"/>
                <a:cs typeface="Adobe Clean Han"/>
              </a:rPr>
              <a:t> </a:t>
            </a:r>
            <a:r>
              <a:rPr lang="en-US" sz="1120" b="0" spc="-10" dirty="0">
                <a:latin typeface="Adobe Clean Han"/>
                <a:cs typeface="Adobe Clean Han"/>
              </a:rPr>
              <a:t>    </a:t>
            </a:r>
            <a:r>
              <a:rPr sz="1120" spc="110" dirty="0">
                <a:latin typeface="Arial" panose="020B0604020202090204"/>
                <a:cs typeface="Arial" panose="020B0604020202090204"/>
              </a:rPr>
              <a:t>-</a:t>
            </a:r>
            <a:r>
              <a:rPr sz="1120" spc="60" dirty="0">
                <a:latin typeface="Times New Roman" panose="02020603050405020304"/>
                <a:cs typeface="Times New Roman" panose="02020603050405020304"/>
              </a:rPr>
              <a:t> </a:t>
            </a:r>
            <a:r>
              <a:rPr sz="1120" b="0" spc="-5" dirty="0">
                <a:latin typeface="Adobe Clean Han"/>
                <a:cs typeface="Adobe Clean Han"/>
              </a:rPr>
              <a:t>有效防⽌脱发，促进头发⽣⻓。</a:t>
            </a:r>
            <a:endParaRPr sz="1120" b="0" spc="-5" dirty="0">
              <a:latin typeface="Adobe Clean Han"/>
              <a:cs typeface="Adobe Clean Han"/>
            </a:endParaRPr>
          </a:p>
          <a:p>
            <a:pPr marL="12700" marR="5080" algn="just">
              <a:lnSpc>
                <a:spcPct val="121000"/>
              </a:lnSpc>
              <a:spcBef>
                <a:spcPts val="95"/>
              </a:spcBef>
            </a:pPr>
            <a:r>
              <a:rPr sz="1120" b="0" spc="-5" dirty="0">
                <a:latin typeface="Adobe Clean Han"/>
                <a:cs typeface="Adobe Clean Han"/>
              </a:rPr>
              <a:t> </a:t>
            </a:r>
            <a:r>
              <a:rPr lang="en-US" sz="1120" b="0" spc="-5" dirty="0">
                <a:latin typeface="Adobe Clean Han"/>
                <a:cs typeface="Adobe Clean Han"/>
              </a:rPr>
              <a:t>    </a:t>
            </a:r>
            <a:r>
              <a:rPr sz="1120" spc="110" dirty="0">
                <a:latin typeface="Arial" panose="020B0604020202090204"/>
                <a:cs typeface="Arial" panose="020B0604020202090204"/>
              </a:rPr>
              <a:t>-</a:t>
            </a:r>
            <a:r>
              <a:rPr sz="1120" spc="60" dirty="0">
                <a:latin typeface="Times New Roman" panose="02020603050405020304"/>
                <a:cs typeface="Times New Roman" panose="02020603050405020304"/>
              </a:rPr>
              <a:t> </a:t>
            </a:r>
            <a:r>
              <a:rPr sz="1120" b="0" spc="-5" dirty="0">
                <a:latin typeface="Adobe Clean Han"/>
                <a:cs typeface="Adobe Clean Han"/>
              </a:rPr>
              <a:t>采⽤纯天然植物成分，不含任何有害化学物质，安全⽆副作⽤。</a:t>
            </a:r>
            <a:endParaRPr sz="1120" b="0" spc="-5" dirty="0">
              <a:latin typeface="Adobe Clean Han"/>
              <a:cs typeface="Adobe Clean Han"/>
            </a:endParaRPr>
          </a:p>
          <a:p>
            <a:pPr marL="12700" marR="5080" algn="just">
              <a:lnSpc>
                <a:spcPct val="121000"/>
              </a:lnSpc>
              <a:spcBef>
                <a:spcPts val="95"/>
              </a:spcBef>
            </a:pPr>
            <a:r>
              <a:rPr sz="1120" b="0" spc="-5" dirty="0">
                <a:latin typeface="Adobe Clean Han"/>
                <a:cs typeface="Adobe Clean Han"/>
              </a:rPr>
              <a:t> </a:t>
            </a:r>
            <a:r>
              <a:rPr lang="en-US" sz="1120" b="0" spc="-5" dirty="0">
                <a:latin typeface="Adobe Clean Han"/>
                <a:cs typeface="Adobe Clean Han"/>
              </a:rPr>
              <a:t>    </a:t>
            </a:r>
            <a:r>
              <a:rPr sz="1120" spc="110" dirty="0">
                <a:latin typeface="Arial" panose="020B0604020202090204"/>
                <a:cs typeface="Arial" panose="020B0604020202090204"/>
              </a:rPr>
              <a:t>-</a:t>
            </a:r>
            <a:r>
              <a:rPr sz="1120" spc="60" dirty="0">
                <a:latin typeface="Times New Roman" panose="02020603050405020304"/>
                <a:cs typeface="Times New Roman" panose="02020603050405020304"/>
              </a:rPr>
              <a:t> </a:t>
            </a:r>
            <a:r>
              <a:rPr sz="1120" b="0" spc="-5" dirty="0">
                <a:latin typeface="Adobe Clean Han"/>
                <a:cs typeface="Adobe Clean Han"/>
              </a:rPr>
              <a:t>能够改善⽑发结构，让头发更有光泽，更加柔软。</a:t>
            </a:r>
            <a:endParaRPr sz="1120">
              <a:latin typeface="Adobe Clean Han"/>
              <a:cs typeface="Adobe Clean Han"/>
            </a:endParaRPr>
          </a:p>
          <a:p>
            <a:pPr marL="12700" marR="5080">
              <a:lnSpc>
                <a:spcPct val="121000"/>
              </a:lnSpc>
              <a:spcBef>
                <a:spcPts val="880"/>
              </a:spcBef>
            </a:pPr>
            <a:r>
              <a:rPr sz="1120" b="0" spc="-5" dirty="0">
                <a:latin typeface="Adobe Clean Han"/>
                <a:cs typeface="Adobe Clean Han"/>
              </a:rPr>
              <a:t>这款产品不仅适⽤于那些正在脱发的⼈，还适⽤于想要让头发更健康的⼈。如果你想拥有更加美丽的头发，这款产品⼀定会是你的⾸选。</a:t>
            </a:r>
            <a:endParaRPr sz="1120">
              <a:latin typeface="Adobe Clean Han"/>
              <a:cs typeface="Adobe Clean Han"/>
            </a:endParaRPr>
          </a:p>
        </p:txBody>
      </p:sp>
      <p:sp>
        <p:nvSpPr>
          <p:cNvPr id="11" name="object 8"/>
          <p:cNvSpPr txBox="1"/>
          <p:nvPr/>
        </p:nvSpPr>
        <p:spPr>
          <a:xfrm>
            <a:off x="3602666" y="3593446"/>
            <a:ext cx="7040718" cy="1773555"/>
          </a:xfrm>
          <a:prstGeom prst="rect">
            <a:avLst/>
          </a:prstGeom>
        </p:spPr>
        <p:txBody>
          <a:bodyPr vert="horz" wrap="square" lIns="0" tIns="6578" rIns="0" bIns="0" rtlCol="0">
            <a:spAutoFit/>
          </a:bodyPr>
          <a:p>
            <a:pPr marL="12700" marR="5080">
              <a:lnSpc>
                <a:spcPct val="141000"/>
              </a:lnSpc>
              <a:spcBef>
                <a:spcPts val="95"/>
              </a:spcBef>
            </a:pPr>
            <a:r>
              <a:rPr sz="1335" spc="-35" dirty="0">
                <a:solidFill>
                  <a:srgbClr val="5E5E5E"/>
                </a:solidFill>
                <a:latin typeface="Adobe Clean Han"/>
                <a:cs typeface="Adobe Clean Han"/>
              </a:rPr>
              <a:t>数字人的生成在过去几年得到了迅猛的发展，新华社元宇宙中心已经实现了无需手绘动画能力，自选模板，搭积木式就可以做好一个短视频。</a:t>
            </a:r>
            <a:endParaRPr sz="1335" spc="-35" dirty="0">
              <a:solidFill>
                <a:srgbClr val="5E5E5E"/>
              </a:solidFill>
              <a:latin typeface="Adobe Clean Han"/>
              <a:cs typeface="Adobe Clean Han"/>
            </a:endParaRPr>
          </a:p>
          <a:p>
            <a:pPr marL="12700" marR="5080">
              <a:lnSpc>
                <a:spcPct val="141000"/>
              </a:lnSpc>
              <a:spcBef>
                <a:spcPts val="95"/>
              </a:spcBef>
            </a:pPr>
            <a:endParaRPr sz="1335" spc="-35" dirty="0">
              <a:solidFill>
                <a:srgbClr val="5E5E5E"/>
              </a:solidFill>
              <a:latin typeface="Adobe Clean Han"/>
              <a:cs typeface="Adobe Clean Han"/>
            </a:endParaRPr>
          </a:p>
          <a:p>
            <a:pPr marL="12700" marR="5080">
              <a:lnSpc>
                <a:spcPct val="141000"/>
              </a:lnSpc>
              <a:spcBef>
                <a:spcPts val="95"/>
              </a:spcBef>
            </a:pPr>
            <a:r>
              <a:rPr sz="1335" spc="-10" dirty="0">
                <a:solidFill>
                  <a:srgbClr val="5E5E5E"/>
                </a:solidFill>
                <a:latin typeface="Adobe Clean Han"/>
                <a:cs typeface="Adobe Clean Han"/>
              </a:rPr>
              <a:t>随着 </a:t>
            </a:r>
            <a:r>
              <a:rPr sz="1335" dirty="0">
                <a:solidFill>
                  <a:srgbClr val="5E5E5E"/>
                </a:solidFill>
                <a:latin typeface="Adobe Clean Han"/>
                <a:cs typeface="Adobe Clean Han"/>
              </a:rPr>
              <a:t>ChatGPT</a:t>
            </a:r>
            <a:r>
              <a:rPr sz="1335" spc="-30" dirty="0">
                <a:solidFill>
                  <a:srgbClr val="5E5E5E"/>
                </a:solidFill>
                <a:latin typeface="Adobe Clean Han"/>
                <a:cs typeface="Adobe Clean Han"/>
              </a:rPr>
              <a:t> 的出现，数字人的生成可以变的更加简单，</a:t>
            </a:r>
            <a:r>
              <a:rPr sz="1335" dirty="0">
                <a:solidFill>
                  <a:srgbClr val="5E5E5E"/>
                </a:solidFill>
                <a:latin typeface="Adobe Clean Han"/>
                <a:cs typeface="Adobe Clean Han"/>
              </a:rPr>
              <a:t>ChatGPT</a:t>
            </a:r>
            <a:r>
              <a:rPr sz="1335" spc="-35" dirty="0">
                <a:solidFill>
                  <a:srgbClr val="5E5E5E"/>
                </a:solidFill>
                <a:latin typeface="Adobe Clean Han"/>
                <a:cs typeface="Adobe Clean Han"/>
              </a:rPr>
              <a:t> 就是数字人的大脑，给</a:t>
            </a:r>
            <a:r>
              <a:rPr sz="1335" spc="60" dirty="0">
                <a:solidFill>
                  <a:srgbClr val="5E5E5E"/>
                </a:solidFill>
                <a:latin typeface="Adobe Clean Han"/>
                <a:cs typeface="Adobe Clean Han"/>
              </a:rPr>
              <a:t>到 </a:t>
            </a:r>
            <a:r>
              <a:rPr sz="1335" dirty="0">
                <a:solidFill>
                  <a:srgbClr val="5E5E5E"/>
                </a:solidFill>
                <a:latin typeface="Adobe Clean Han"/>
                <a:cs typeface="Adobe Clean Han"/>
              </a:rPr>
              <a:t>ChatGPT</a:t>
            </a:r>
            <a:r>
              <a:rPr sz="1335" spc="-20" dirty="0">
                <a:solidFill>
                  <a:srgbClr val="5E5E5E"/>
                </a:solidFill>
                <a:latin typeface="Adobe Clean Han"/>
                <a:cs typeface="Adobe Clean Han"/>
              </a:rPr>
              <a:t> 一句话，比如</a:t>
            </a:r>
            <a:r>
              <a:rPr lang="zh-CN" sz="1335" spc="-20" dirty="0">
                <a:solidFill>
                  <a:srgbClr val="5E5E5E"/>
                </a:solidFill>
                <a:latin typeface="Adobe Clean Han"/>
                <a:cs typeface="Adobe Clean Han"/>
              </a:rPr>
              <a:t>：</a:t>
            </a:r>
            <a:r>
              <a:rPr sz="1335" spc="-35" dirty="0">
                <a:solidFill>
                  <a:srgbClr val="CF4F45"/>
                </a:solidFill>
                <a:latin typeface="PMingLiU"/>
                <a:cs typeface="PMingLiU"/>
              </a:rPr>
              <a:t>“写一段针对年轻人的防脱发产品的广告文案，适合博主口播，热情又专业，突出改善毛发结构，并分点来写。”</a:t>
            </a:r>
            <a:endParaRPr sz="1335">
              <a:latin typeface="PMingLiU"/>
              <a:cs typeface="PMingLiU"/>
            </a:endParaRPr>
          </a:p>
        </p:txBody>
      </p:sp>
      <p:sp>
        <p:nvSpPr>
          <p:cNvPr id="12" name="object 3"/>
          <p:cNvSpPr txBox="1">
            <a:spLocks noGrp="1"/>
          </p:cNvSpPr>
          <p:nvPr>
            <p:ph type="title"/>
          </p:nvPr>
        </p:nvSpPr>
        <p:spPr>
          <a:xfrm>
            <a:off x="1553184" y="367075"/>
            <a:ext cx="4382938" cy="450850"/>
          </a:xfrm>
          <a:prstGeom prst="rect">
            <a:avLst/>
          </a:prstGeom>
        </p:spPr>
        <p:txBody>
          <a:bodyPr vert="horz" wrap="square" lIns="0" tIns="8308" rIns="0" bIns="0" rtlCol="0">
            <a:spAutoFit/>
          </a:bodyPr>
          <a:p>
            <a:pPr marL="12700">
              <a:lnSpc>
                <a:spcPct val="100000"/>
              </a:lnSpc>
              <a:spcBef>
                <a:spcPts val="120"/>
              </a:spcBef>
            </a:pPr>
            <a:r>
              <a:rPr lang="en-US" spc="-60" dirty="0"/>
              <a:t>1. </a:t>
            </a:r>
            <a:r>
              <a:rPr spc="-60" dirty="0"/>
              <a:t>数字人大脑</a:t>
            </a:r>
            <a:endParaRPr spc="-60"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3"/>
          <p:cNvSpPr txBox="1">
            <a:spLocks noGrp="1"/>
          </p:cNvSpPr>
          <p:nvPr>
            <p:ph type="title"/>
          </p:nvPr>
        </p:nvSpPr>
        <p:spPr>
          <a:xfrm>
            <a:off x="1553184" y="367265"/>
            <a:ext cx="5117615" cy="450850"/>
          </a:xfrm>
          <a:prstGeom prst="rect">
            <a:avLst/>
          </a:prstGeom>
        </p:spPr>
        <p:txBody>
          <a:bodyPr vert="horz" wrap="square" lIns="0" tIns="8308" rIns="0" bIns="0" rtlCol="0">
            <a:spAutoFit/>
          </a:bodyPr>
          <a:p>
            <a:pPr marL="12700">
              <a:lnSpc>
                <a:spcPct val="100000"/>
              </a:lnSpc>
              <a:spcBef>
                <a:spcPts val="120"/>
              </a:spcBef>
            </a:pPr>
            <a:r>
              <a:rPr lang="en-US" spc="-60" dirty="0">
                <a:sym typeface="+mn-ea"/>
              </a:rPr>
              <a:t>2. </a:t>
            </a:r>
            <a:r>
              <a:rPr spc="-10" dirty="0">
                <a:sym typeface="+mn-ea"/>
              </a:rPr>
              <a:t>写文章</a:t>
            </a:r>
            <a:r>
              <a:rPr lang="en-US" spc="-10" dirty="0">
                <a:sym typeface="+mn-ea"/>
              </a:rPr>
              <a:t>/</a:t>
            </a:r>
            <a:r>
              <a:rPr spc="-15" dirty="0">
                <a:sym typeface="+mn-ea"/>
              </a:rPr>
              <a:t>编辑文章</a:t>
            </a:r>
            <a:r>
              <a:rPr lang="en-US" spc="-15" dirty="0">
                <a:sym typeface="+mn-ea"/>
              </a:rPr>
              <a:t>/</a:t>
            </a:r>
            <a:r>
              <a:rPr spc="-75" dirty="0">
                <a:sym typeface="+mn-ea"/>
              </a:rPr>
              <a:t>提炼文字</a:t>
            </a:r>
            <a:endParaRPr lang="en-US" spc="-15" dirty="0">
              <a:sym typeface="+mn-ea"/>
            </a:endParaRPr>
          </a:p>
        </p:txBody>
      </p:sp>
      <p:pic>
        <p:nvPicPr>
          <p:cNvPr id="4" name="object 3"/>
          <p:cNvPicPr/>
          <p:nvPr/>
        </p:nvPicPr>
        <p:blipFill>
          <a:blip r:embed="rId1" cstate="print"/>
          <a:stretch>
            <a:fillRect/>
          </a:stretch>
        </p:blipFill>
        <p:spPr>
          <a:xfrm>
            <a:off x="907578" y="1188555"/>
            <a:ext cx="5117360" cy="4937920"/>
          </a:xfrm>
          <a:prstGeom prst="rect">
            <a:avLst/>
          </a:prstGeom>
        </p:spPr>
      </p:pic>
      <p:pic>
        <p:nvPicPr>
          <p:cNvPr id="6" name="object 5"/>
          <p:cNvPicPr/>
          <p:nvPr/>
        </p:nvPicPr>
        <p:blipFill>
          <a:blip r:embed="rId2" cstate="print"/>
          <a:stretch>
            <a:fillRect/>
          </a:stretch>
        </p:blipFill>
        <p:spPr>
          <a:xfrm>
            <a:off x="6174416" y="1188426"/>
            <a:ext cx="5218110" cy="4938704"/>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3"/>
          <p:cNvSpPr txBox="1">
            <a:spLocks noGrp="1"/>
          </p:cNvSpPr>
          <p:nvPr>
            <p:ph type="title"/>
          </p:nvPr>
        </p:nvSpPr>
        <p:spPr>
          <a:xfrm>
            <a:off x="1553184" y="367265"/>
            <a:ext cx="5117615" cy="450850"/>
          </a:xfrm>
          <a:prstGeom prst="rect">
            <a:avLst/>
          </a:prstGeom>
        </p:spPr>
        <p:txBody>
          <a:bodyPr vert="horz" wrap="square" lIns="0" tIns="8308" rIns="0" bIns="0" rtlCol="0">
            <a:spAutoFit/>
          </a:bodyPr>
          <a:p>
            <a:pPr marL="12700">
              <a:lnSpc>
                <a:spcPct val="100000"/>
              </a:lnSpc>
              <a:spcBef>
                <a:spcPts val="120"/>
              </a:spcBef>
            </a:pPr>
            <a:r>
              <a:rPr lang="en-US" spc="-60" dirty="0">
                <a:sym typeface="+mn-ea"/>
              </a:rPr>
              <a:t>3. </a:t>
            </a:r>
            <a:r>
              <a:rPr lang="zh-CN" altLang="en-US" spc="-15" dirty="0">
                <a:sym typeface="+mn-ea"/>
              </a:rPr>
              <a:t>多语种</a:t>
            </a:r>
            <a:r>
              <a:rPr lang="zh-CN" altLang="en-US" spc="-15" dirty="0">
                <a:sym typeface="+mn-ea"/>
              </a:rPr>
              <a:t>转化</a:t>
            </a:r>
            <a:endParaRPr lang="zh-CN" altLang="en-US" spc="-15" dirty="0">
              <a:sym typeface="+mn-ea"/>
            </a:endParaRPr>
          </a:p>
        </p:txBody>
      </p:sp>
      <p:pic>
        <p:nvPicPr>
          <p:cNvPr id="15" name="object 3"/>
          <p:cNvPicPr/>
          <p:nvPr/>
        </p:nvPicPr>
        <p:blipFill>
          <a:blip r:embed="rId1" cstate="print"/>
          <a:stretch>
            <a:fillRect/>
          </a:stretch>
        </p:blipFill>
        <p:spPr>
          <a:xfrm>
            <a:off x="1887268" y="5830678"/>
            <a:ext cx="1108987" cy="330170"/>
          </a:xfrm>
          <a:prstGeom prst="rect">
            <a:avLst/>
          </a:prstGeom>
        </p:spPr>
      </p:pic>
      <p:sp>
        <p:nvSpPr>
          <p:cNvPr id="16" name="object 4"/>
          <p:cNvSpPr txBox="1"/>
          <p:nvPr/>
        </p:nvSpPr>
        <p:spPr>
          <a:xfrm>
            <a:off x="2253952" y="5873406"/>
            <a:ext cx="375681" cy="226695"/>
          </a:xfrm>
          <a:prstGeom prst="rect">
            <a:avLst/>
          </a:prstGeom>
        </p:spPr>
        <p:txBody>
          <a:bodyPr vert="horz" wrap="square" lIns="0" tIns="9348" rIns="0" bIns="0" rtlCol="0">
            <a:spAutoFit/>
          </a:bodyPr>
          <a:lstStyle/>
          <a:p>
            <a:pPr marL="12700">
              <a:lnSpc>
                <a:spcPct val="100000"/>
              </a:lnSpc>
              <a:spcBef>
                <a:spcPts val="135"/>
              </a:spcBef>
            </a:pPr>
            <a:r>
              <a:rPr sz="1415" spc="-25" dirty="0">
                <a:solidFill>
                  <a:srgbClr val="FFFFFF"/>
                </a:solidFill>
                <a:latin typeface="PMingLiU"/>
                <a:cs typeface="PMingLiU"/>
              </a:rPr>
              <a:t>中文</a:t>
            </a:r>
            <a:endParaRPr sz="1415">
              <a:latin typeface="PMingLiU"/>
              <a:cs typeface="PMingLiU"/>
            </a:endParaRPr>
          </a:p>
        </p:txBody>
      </p:sp>
      <p:pic>
        <p:nvPicPr>
          <p:cNvPr id="17" name="object 5"/>
          <p:cNvPicPr/>
          <p:nvPr/>
        </p:nvPicPr>
        <p:blipFill>
          <a:blip r:embed="rId2" cstate="print"/>
          <a:stretch>
            <a:fillRect/>
          </a:stretch>
        </p:blipFill>
        <p:spPr>
          <a:xfrm>
            <a:off x="4283015" y="5830678"/>
            <a:ext cx="1108978" cy="330170"/>
          </a:xfrm>
          <a:prstGeom prst="rect">
            <a:avLst/>
          </a:prstGeom>
        </p:spPr>
      </p:pic>
      <p:sp>
        <p:nvSpPr>
          <p:cNvPr id="18" name="object 6"/>
          <p:cNvSpPr txBox="1"/>
          <p:nvPr/>
        </p:nvSpPr>
        <p:spPr>
          <a:xfrm>
            <a:off x="4649698" y="5873406"/>
            <a:ext cx="375681" cy="226695"/>
          </a:xfrm>
          <a:prstGeom prst="rect">
            <a:avLst/>
          </a:prstGeom>
        </p:spPr>
        <p:txBody>
          <a:bodyPr vert="horz" wrap="square" lIns="0" tIns="9348" rIns="0" bIns="0" rtlCol="0">
            <a:spAutoFit/>
          </a:bodyPr>
          <a:lstStyle/>
          <a:p>
            <a:pPr marL="12700">
              <a:lnSpc>
                <a:spcPct val="100000"/>
              </a:lnSpc>
              <a:spcBef>
                <a:spcPts val="135"/>
              </a:spcBef>
            </a:pPr>
            <a:r>
              <a:rPr sz="1415" spc="-25" dirty="0">
                <a:solidFill>
                  <a:srgbClr val="FFFFFF"/>
                </a:solidFill>
                <a:latin typeface="PMingLiU"/>
                <a:cs typeface="PMingLiU"/>
              </a:rPr>
              <a:t>英文</a:t>
            </a:r>
            <a:endParaRPr sz="1415">
              <a:latin typeface="PMingLiU"/>
              <a:cs typeface="PMingLiU"/>
            </a:endParaRPr>
          </a:p>
        </p:txBody>
      </p:sp>
      <p:pic>
        <p:nvPicPr>
          <p:cNvPr id="19" name="object 7"/>
          <p:cNvPicPr/>
          <p:nvPr/>
        </p:nvPicPr>
        <p:blipFill>
          <a:blip r:embed="rId3" cstate="print"/>
          <a:stretch>
            <a:fillRect/>
          </a:stretch>
        </p:blipFill>
        <p:spPr>
          <a:xfrm>
            <a:off x="6593515" y="5830678"/>
            <a:ext cx="1108987" cy="330170"/>
          </a:xfrm>
          <a:prstGeom prst="rect">
            <a:avLst/>
          </a:prstGeom>
        </p:spPr>
      </p:pic>
      <p:sp>
        <p:nvSpPr>
          <p:cNvPr id="20" name="object 8"/>
          <p:cNvSpPr txBox="1"/>
          <p:nvPr/>
        </p:nvSpPr>
        <p:spPr>
          <a:xfrm>
            <a:off x="6960201" y="5873406"/>
            <a:ext cx="375681" cy="226695"/>
          </a:xfrm>
          <a:prstGeom prst="rect">
            <a:avLst/>
          </a:prstGeom>
        </p:spPr>
        <p:txBody>
          <a:bodyPr vert="horz" wrap="square" lIns="0" tIns="9348" rIns="0" bIns="0" rtlCol="0">
            <a:spAutoFit/>
          </a:bodyPr>
          <a:lstStyle/>
          <a:p>
            <a:pPr marL="12700">
              <a:lnSpc>
                <a:spcPct val="100000"/>
              </a:lnSpc>
              <a:spcBef>
                <a:spcPts val="135"/>
              </a:spcBef>
            </a:pPr>
            <a:r>
              <a:rPr sz="1415" spc="-25" dirty="0">
                <a:solidFill>
                  <a:srgbClr val="FFFFFF"/>
                </a:solidFill>
                <a:latin typeface="PMingLiU"/>
                <a:cs typeface="PMingLiU"/>
              </a:rPr>
              <a:t>日语</a:t>
            </a:r>
            <a:endParaRPr sz="1415">
              <a:latin typeface="PMingLiU"/>
              <a:cs typeface="PMingLiU"/>
            </a:endParaRPr>
          </a:p>
        </p:txBody>
      </p:sp>
      <p:pic>
        <p:nvPicPr>
          <p:cNvPr id="21" name="object 9"/>
          <p:cNvPicPr/>
          <p:nvPr/>
        </p:nvPicPr>
        <p:blipFill>
          <a:blip r:embed="rId4" cstate="print"/>
          <a:stretch>
            <a:fillRect/>
          </a:stretch>
        </p:blipFill>
        <p:spPr>
          <a:xfrm>
            <a:off x="8985950" y="5830678"/>
            <a:ext cx="1108987" cy="330170"/>
          </a:xfrm>
          <a:prstGeom prst="rect">
            <a:avLst/>
          </a:prstGeom>
        </p:spPr>
      </p:pic>
      <p:sp>
        <p:nvSpPr>
          <p:cNvPr id="22" name="object 10"/>
          <p:cNvSpPr txBox="1"/>
          <p:nvPr/>
        </p:nvSpPr>
        <p:spPr>
          <a:xfrm>
            <a:off x="9171732" y="5873406"/>
            <a:ext cx="737514" cy="226695"/>
          </a:xfrm>
          <a:prstGeom prst="rect">
            <a:avLst/>
          </a:prstGeom>
        </p:spPr>
        <p:txBody>
          <a:bodyPr vert="horz" wrap="square" lIns="0" tIns="9348" rIns="0" bIns="0" rtlCol="0">
            <a:spAutoFit/>
          </a:bodyPr>
          <a:lstStyle/>
          <a:p>
            <a:pPr marL="12700">
              <a:lnSpc>
                <a:spcPct val="100000"/>
              </a:lnSpc>
              <a:spcBef>
                <a:spcPts val="135"/>
              </a:spcBef>
            </a:pPr>
            <a:r>
              <a:rPr sz="1415" spc="-15" dirty="0">
                <a:solidFill>
                  <a:srgbClr val="FFFFFF"/>
                </a:solidFill>
                <a:latin typeface="PMingLiU"/>
                <a:cs typeface="PMingLiU"/>
              </a:rPr>
              <a:t>西班牙语</a:t>
            </a:r>
            <a:endParaRPr sz="1415">
              <a:latin typeface="PMingLiU"/>
              <a:cs typeface="PMingLiU"/>
            </a:endParaRPr>
          </a:p>
        </p:txBody>
      </p:sp>
      <p:pic>
        <p:nvPicPr>
          <p:cNvPr id="23" name="object 11"/>
          <p:cNvPicPr/>
          <p:nvPr/>
        </p:nvPicPr>
        <p:blipFill>
          <a:blip r:embed="rId5" cstate="print"/>
          <a:stretch>
            <a:fillRect/>
          </a:stretch>
        </p:blipFill>
        <p:spPr>
          <a:xfrm>
            <a:off x="3781251" y="1075205"/>
            <a:ext cx="2112523" cy="4567615"/>
          </a:xfrm>
          <a:prstGeom prst="rect">
            <a:avLst/>
          </a:prstGeom>
        </p:spPr>
      </p:pic>
      <p:pic>
        <p:nvPicPr>
          <p:cNvPr id="24" name="object 12"/>
          <p:cNvPicPr/>
          <p:nvPr/>
        </p:nvPicPr>
        <p:blipFill>
          <a:blip r:embed="rId6" cstate="print"/>
          <a:stretch>
            <a:fillRect/>
          </a:stretch>
        </p:blipFill>
        <p:spPr>
          <a:xfrm>
            <a:off x="1470753" y="1075205"/>
            <a:ext cx="2112523" cy="4567615"/>
          </a:xfrm>
          <a:prstGeom prst="rect">
            <a:avLst/>
          </a:prstGeom>
        </p:spPr>
      </p:pic>
      <p:pic>
        <p:nvPicPr>
          <p:cNvPr id="25" name="object 13"/>
          <p:cNvPicPr/>
          <p:nvPr/>
        </p:nvPicPr>
        <p:blipFill>
          <a:blip r:embed="rId7" cstate="print"/>
          <a:stretch>
            <a:fillRect/>
          </a:stretch>
        </p:blipFill>
        <p:spPr>
          <a:xfrm>
            <a:off x="8402250" y="1075205"/>
            <a:ext cx="2112523" cy="4567615"/>
          </a:xfrm>
          <a:prstGeom prst="rect">
            <a:avLst/>
          </a:prstGeom>
        </p:spPr>
      </p:pic>
      <p:pic>
        <p:nvPicPr>
          <p:cNvPr id="26" name="object 14"/>
          <p:cNvPicPr/>
          <p:nvPr/>
        </p:nvPicPr>
        <p:blipFill>
          <a:blip r:embed="rId8" cstate="print"/>
          <a:stretch>
            <a:fillRect/>
          </a:stretch>
        </p:blipFill>
        <p:spPr>
          <a:xfrm>
            <a:off x="6091743" y="1075205"/>
            <a:ext cx="2112523" cy="4567615"/>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3"/>
          <p:cNvSpPr txBox="1">
            <a:spLocks noGrp="1"/>
          </p:cNvSpPr>
          <p:nvPr>
            <p:ph type="title"/>
          </p:nvPr>
        </p:nvSpPr>
        <p:spPr>
          <a:xfrm>
            <a:off x="1553184" y="367265"/>
            <a:ext cx="5117615" cy="450850"/>
          </a:xfrm>
          <a:prstGeom prst="rect">
            <a:avLst/>
          </a:prstGeom>
        </p:spPr>
        <p:txBody>
          <a:bodyPr vert="horz" wrap="square" lIns="0" tIns="8308" rIns="0" bIns="0" rtlCol="0">
            <a:spAutoFit/>
          </a:bodyPr>
          <a:p>
            <a:pPr marL="12700">
              <a:lnSpc>
                <a:spcPct val="100000"/>
              </a:lnSpc>
              <a:spcBef>
                <a:spcPts val="120"/>
              </a:spcBef>
            </a:pPr>
            <a:r>
              <a:rPr lang="en-US" spc="-60" dirty="0">
                <a:sym typeface="+mn-ea"/>
              </a:rPr>
              <a:t>4. </a:t>
            </a:r>
            <a:r>
              <a:rPr lang="zh-CN" altLang="en-US" spc="-15" dirty="0">
                <a:sym typeface="+mn-ea"/>
              </a:rPr>
              <a:t>古诗词</a:t>
            </a:r>
            <a:r>
              <a:rPr lang="zh-CN" altLang="en-US" spc="-15" dirty="0">
                <a:sym typeface="+mn-ea"/>
              </a:rPr>
              <a:t>生成</a:t>
            </a:r>
            <a:endParaRPr lang="zh-CN" altLang="en-US" spc="-15" dirty="0">
              <a:sym typeface="+mn-ea"/>
            </a:endParaRPr>
          </a:p>
        </p:txBody>
      </p:sp>
      <p:pic>
        <p:nvPicPr>
          <p:cNvPr id="4" name="object 4"/>
          <p:cNvPicPr/>
          <p:nvPr/>
        </p:nvPicPr>
        <p:blipFill>
          <a:blip r:embed="rId1" cstate="print"/>
          <a:stretch>
            <a:fillRect/>
          </a:stretch>
        </p:blipFill>
        <p:spPr>
          <a:xfrm>
            <a:off x="1124038" y="1440247"/>
            <a:ext cx="2063806" cy="4464596"/>
          </a:xfrm>
          <a:prstGeom prst="rect">
            <a:avLst/>
          </a:prstGeom>
        </p:spPr>
      </p:pic>
      <p:pic>
        <p:nvPicPr>
          <p:cNvPr id="5" name="object 5"/>
          <p:cNvPicPr/>
          <p:nvPr/>
        </p:nvPicPr>
        <p:blipFill>
          <a:blip r:embed="rId2" cstate="print"/>
          <a:stretch>
            <a:fillRect/>
          </a:stretch>
        </p:blipFill>
        <p:spPr>
          <a:xfrm>
            <a:off x="3709526" y="1440247"/>
            <a:ext cx="2063806" cy="4464596"/>
          </a:xfrm>
          <a:prstGeom prst="rect">
            <a:avLst/>
          </a:prstGeom>
        </p:spPr>
      </p:pic>
      <p:pic>
        <p:nvPicPr>
          <p:cNvPr id="6" name="object 6"/>
          <p:cNvPicPr/>
          <p:nvPr/>
        </p:nvPicPr>
        <p:blipFill>
          <a:blip r:embed="rId3" cstate="print"/>
          <a:stretch>
            <a:fillRect/>
          </a:stretch>
        </p:blipFill>
        <p:spPr>
          <a:xfrm>
            <a:off x="6295029" y="1440247"/>
            <a:ext cx="2063806" cy="4464596"/>
          </a:xfrm>
          <a:prstGeom prst="rect">
            <a:avLst/>
          </a:prstGeom>
        </p:spPr>
      </p:pic>
      <p:pic>
        <p:nvPicPr>
          <p:cNvPr id="7" name="object 7"/>
          <p:cNvPicPr/>
          <p:nvPr/>
        </p:nvPicPr>
        <p:blipFill>
          <a:blip r:embed="rId4" cstate="print"/>
          <a:stretch>
            <a:fillRect/>
          </a:stretch>
        </p:blipFill>
        <p:spPr>
          <a:xfrm>
            <a:off x="8880512" y="1440247"/>
            <a:ext cx="2063806" cy="4464596"/>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pc="-15" dirty="0">
                <a:uFillTx/>
              </a:rPr>
              <a:t>5. 与机器人领域的结合</a:t>
            </a:r>
            <a:endParaRPr lang="zh-CN" altLang="en-US" spc="-15" dirty="0">
              <a:uFillTx/>
            </a:endParaRPr>
          </a:p>
        </p:txBody>
      </p:sp>
      <p:sp>
        <p:nvSpPr>
          <p:cNvPr id="5" name="灯片编号占位符 4"/>
          <p:cNvSpPr>
            <a:spLocks noGrp="1"/>
          </p:cNvSpPr>
          <p:nvPr>
            <p:ph type="sldNum" sz="quarter" idx="4294967295"/>
          </p:nvPr>
        </p:nvSpPr>
        <p:spPr>
          <a:xfrm>
            <a:off x="9110840" y="6357049"/>
            <a:ext cx="2466687" cy="364674"/>
          </a:xfrm>
        </p:spPr>
        <p:txBody>
          <a:bodyPr/>
          <a:lstStyle/>
          <a:p>
            <a:fld id="{92408517-D296-4017-A01D-91A3DFF59E7B}" type="slidenum">
              <a:rPr lang="zh-CN" altLang="en-US" sz="1440" smtClean="0"/>
            </a:fld>
            <a:endParaRPr lang="zh-CN" altLang="en-US" sz="1440" dirty="0"/>
          </a:p>
        </p:txBody>
      </p:sp>
      <p:sp>
        <p:nvSpPr>
          <p:cNvPr id="17" name="文本框 16"/>
          <p:cNvSpPr txBox="1"/>
          <p:nvPr/>
        </p:nvSpPr>
        <p:spPr>
          <a:xfrm>
            <a:off x="701509" y="3952573"/>
            <a:ext cx="2793471" cy="645160"/>
          </a:xfrm>
          <a:prstGeom prst="rect">
            <a:avLst/>
          </a:prstGeom>
          <a:noFill/>
        </p:spPr>
        <p:txBody>
          <a:bodyPr wrap="square" rtlCol="0">
            <a:spAutoFit/>
          </a:bodyPr>
          <a:lstStyle/>
          <a:p>
            <a:pPr marL="285750" indent="-285750">
              <a:buFont typeface="Arial" panose="020B0604020202090204" pitchFamily="34" charset="0"/>
              <a:buChar char="•"/>
            </a:pPr>
            <a:r>
              <a:rPr lang="zh-CN" altLang="en-US" dirty="0">
                <a:solidFill>
                  <a:srgbClr val="4472C4"/>
                </a:solidFill>
                <a:latin typeface="Helvetica Neue" panose="02000503000000020004"/>
              </a:rPr>
              <a:t>应用：辅助机器人</a:t>
            </a:r>
            <a:br>
              <a:rPr lang="en-US" altLang="zh-CN" dirty="0">
                <a:solidFill>
                  <a:srgbClr val="4472C4"/>
                </a:solidFill>
                <a:latin typeface="Helvetica Neue" panose="02000503000000020004"/>
              </a:rPr>
            </a:br>
            <a:r>
              <a:rPr lang="en-US" altLang="zh-CN" dirty="0" err="1">
                <a:solidFill>
                  <a:srgbClr val="4472C4"/>
                </a:solidFill>
                <a:latin typeface="Helvetica Neue" panose="02000503000000020004"/>
              </a:rPr>
              <a:t>PaLM-SayCan</a:t>
            </a:r>
            <a:endParaRPr lang="zh-CN" altLang="en-US" i="0" dirty="0">
              <a:solidFill>
                <a:srgbClr val="4472C4"/>
              </a:solidFill>
              <a:effectLst/>
              <a:latin typeface="Helvetica Neue" panose="02000503000000020004"/>
            </a:endParaRPr>
          </a:p>
        </p:txBody>
      </p:sp>
      <p:pic>
        <p:nvPicPr>
          <p:cNvPr id="4" name="tire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040698" y="2898762"/>
            <a:ext cx="6110605" cy="3437215"/>
          </a:xfrm>
          <a:prstGeom prst="rect">
            <a:avLst/>
          </a:prstGeom>
        </p:spPr>
      </p:pic>
      <p:sp>
        <p:nvSpPr>
          <p:cNvPr id="6" name="文本框 5"/>
          <p:cNvSpPr txBox="1"/>
          <p:nvPr/>
        </p:nvSpPr>
        <p:spPr>
          <a:xfrm>
            <a:off x="3068669" y="1149585"/>
            <a:ext cx="7190105" cy="368300"/>
          </a:xfrm>
          <a:prstGeom prst="rect">
            <a:avLst/>
          </a:prstGeom>
          <a:noFill/>
        </p:spPr>
        <p:txBody>
          <a:bodyPr wrap="none" rtlCol="0">
            <a:spAutoFit/>
          </a:bodyPr>
          <a:lstStyle/>
          <a:p>
            <a:r>
              <a:rPr lang="en-US" altLang="zh-CN" b="0" dirty="0">
                <a:effectLst/>
                <a:latin typeface="Space Grotesk"/>
              </a:rPr>
              <a:t>I’m tired. Bring me a snack that’ll give me some energy, please.</a:t>
            </a:r>
            <a:endParaRPr lang="en-US" altLang="zh-CN" b="0" dirty="0">
              <a:effectLst/>
              <a:latin typeface="Space Grotesk"/>
            </a:endParaRPr>
          </a:p>
        </p:txBody>
      </p:sp>
      <p:pic>
        <p:nvPicPr>
          <p:cNvPr id="8" name="图片 7"/>
          <p:cNvPicPr>
            <a:picLocks noChangeAspect="1"/>
          </p:cNvPicPr>
          <p:nvPr/>
        </p:nvPicPr>
        <p:blipFill>
          <a:blip r:embed="rId4"/>
          <a:stretch>
            <a:fillRect/>
          </a:stretch>
        </p:blipFill>
        <p:spPr>
          <a:xfrm>
            <a:off x="2793775" y="1539940"/>
            <a:ext cx="6604449" cy="729276"/>
          </a:xfrm>
          <a:prstGeom prst="rect">
            <a:avLst/>
          </a:prstGeom>
        </p:spPr>
      </p:pic>
      <p:pic>
        <p:nvPicPr>
          <p:cNvPr id="10" name="图片 9"/>
          <p:cNvPicPr>
            <a:picLocks noChangeAspect="1"/>
          </p:cNvPicPr>
          <p:nvPr/>
        </p:nvPicPr>
        <p:blipFill rotWithShape="1">
          <a:blip r:embed="rId5"/>
          <a:srcRect t="14582"/>
          <a:stretch>
            <a:fillRect/>
          </a:stretch>
        </p:blipFill>
        <p:spPr>
          <a:xfrm>
            <a:off x="2943682" y="2244816"/>
            <a:ext cx="6304637" cy="6292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52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9440" y="224790"/>
            <a:ext cx="7742555" cy="443230"/>
          </a:xfrm>
          <a:prstGeom prst="rect">
            <a:avLst/>
          </a:prstGeom>
        </p:spPr>
        <p:txBody>
          <a:bodyPr vert="horz" wrap="square" lIns="0" tIns="12700" rIns="0" bIns="0" rtlCol="0">
            <a:spAutoFit/>
          </a:bodyPr>
          <a:lstStyle/>
          <a:p>
            <a:pPr marL="12700">
              <a:lnSpc>
                <a:spcPct val="100000"/>
              </a:lnSpc>
              <a:spcBef>
                <a:spcPts val="100"/>
              </a:spcBef>
            </a:pPr>
            <a:r>
              <a:rPr lang="zh-CN" sz="2800" dirty="0">
                <a:solidFill>
                  <a:schemeClr val="accent2"/>
                </a:solidFill>
              </a:rPr>
              <a:t>国产大模型</a:t>
            </a:r>
            <a:r>
              <a:rPr lang="en-US" altLang="zh-CN" sz="2800" dirty="0">
                <a:solidFill>
                  <a:schemeClr val="accent2"/>
                </a:solidFill>
              </a:rPr>
              <a:t>1</a:t>
            </a:r>
            <a:r>
              <a:rPr sz="2800" dirty="0">
                <a:solidFill>
                  <a:schemeClr val="accent2"/>
                </a:solidFill>
              </a:rPr>
              <a:t>：文心大模型</a:t>
            </a:r>
            <a:r>
              <a:rPr lang="zh-CN" sz="2800" dirty="0">
                <a:solidFill>
                  <a:schemeClr val="accent2"/>
                </a:solidFill>
              </a:rPr>
              <a:t>（百度）</a:t>
            </a:r>
            <a:endParaRPr lang="zh-CN" sz="2800" dirty="0">
              <a:solidFill>
                <a:schemeClr val="accent2"/>
              </a:solidFill>
            </a:endParaRPr>
          </a:p>
        </p:txBody>
      </p:sp>
      <p:sp>
        <p:nvSpPr>
          <p:cNvPr id="5" name="object 5"/>
          <p:cNvSpPr txBox="1"/>
          <p:nvPr/>
        </p:nvSpPr>
        <p:spPr>
          <a:xfrm>
            <a:off x="336600" y="924204"/>
            <a:ext cx="11498580" cy="1744980"/>
          </a:xfrm>
          <a:prstGeom prst="rect">
            <a:avLst/>
          </a:prstGeom>
        </p:spPr>
        <p:txBody>
          <a:bodyPr vert="horz" wrap="square" lIns="0" tIns="76835" rIns="0" bIns="0" rtlCol="0">
            <a:spAutoFit/>
          </a:bodyPr>
          <a:lstStyle/>
          <a:p>
            <a:pPr marL="12700">
              <a:lnSpc>
                <a:spcPct val="100000"/>
              </a:lnSpc>
              <a:spcBef>
                <a:spcPts val="605"/>
              </a:spcBef>
            </a:pPr>
            <a:r>
              <a:rPr sz="1600" b="1" spc="-5" dirty="0">
                <a:solidFill>
                  <a:srgbClr val="171717"/>
                </a:solidFill>
                <a:latin typeface="微软雅黑"/>
                <a:cs typeface="微软雅黑"/>
              </a:rPr>
              <a:t>坐拥大模</a:t>
            </a:r>
            <a:r>
              <a:rPr sz="1600" b="1" spc="-10" dirty="0">
                <a:solidFill>
                  <a:srgbClr val="171717"/>
                </a:solidFill>
                <a:latin typeface="微软雅黑"/>
                <a:cs typeface="微软雅黑"/>
              </a:rPr>
              <a:t>型+</a:t>
            </a:r>
            <a:r>
              <a:rPr sz="1600" b="1" spc="-5" dirty="0">
                <a:solidFill>
                  <a:srgbClr val="171717"/>
                </a:solidFill>
                <a:latin typeface="微软雅黑"/>
                <a:cs typeface="微软雅黑"/>
              </a:rPr>
              <a:t>训练框架</a:t>
            </a:r>
            <a:r>
              <a:rPr sz="1600" b="1" spc="-10" dirty="0">
                <a:solidFill>
                  <a:srgbClr val="171717"/>
                </a:solidFill>
                <a:latin typeface="微软雅黑"/>
                <a:cs typeface="微软雅黑"/>
              </a:rPr>
              <a:t>+</a:t>
            </a:r>
            <a:r>
              <a:rPr sz="1600" b="1" spc="-5" dirty="0">
                <a:solidFill>
                  <a:srgbClr val="171717"/>
                </a:solidFill>
                <a:latin typeface="微软雅黑"/>
                <a:cs typeface="微软雅黑"/>
              </a:rPr>
              <a:t>数据</a:t>
            </a:r>
            <a:r>
              <a:rPr sz="1600" b="1" spc="-10" dirty="0">
                <a:solidFill>
                  <a:srgbClr val="171717"/>
                </a:solidFill>
                <a:latin typeface="微软雅黑"/>
                <a:cs typeface="微软雅黑"/>
              </a:rPr>
              <a:t>+</a:t>
            </a:r>
            <a:r>
              <a:rPr sz="1600" b="1" spc="-5" dirty="0">
                <a:solidFill>
                  <a:srgbClr val="171717"/>
                </a:solidFill>
                <a:latin typeface="微软雅黑"/>
                <a:cs typeface="微软雅黑"/>
              </a:rPr>
              <a:t>社区多重</a:t>
            </a:r>
            <a:r>
              <a:rPr sz="1600" b="1" spc="5" dirty="0">
                <a:solidFill>
                  <a:srgbClr val="171717"/>
                </a:solidFill>
                <a:latin typeface="微软雅黑"/>
                <a:cs typeface="微软雅黑"/>
              </a:rPr>
              <a:t>优</a:t>
            </a:r>
            <a:r>
              <a:rPr sz="1600" b="1" spc="-5" dirty="0">
                <a:solidFill>
                  <a:srgbClr val="171717"/>
                </a:solidFill>
                <a:latin typeface="微软雅黑"/>
                <a:cs typeface="微软雅黑"/>
              </a:rPr>
              <a:t>势，</a:t>
            </a:r>
            <a:r>
              <a:rPr sz="1600" b="1" spc="5" dirty="0">
                <a:solidFill>
                  <a:srgbClr val="171717"/>
                </a:solidFill>
                <a:latin typeface="微软雅黑"/>
                <a:cs typeface="微软雅黑"/>
              </a:rPr>
              <a:t>百</a:t>
            </a:r>
            <a:r>
              <a:rPr sz="1600" b="1" spc="-5" dirty="0">
                <a:solidFill>
                  <a:srgbClr val="171717"/>
                </a:solidFill>
                <a:latin typeface="微软雅黑"/>
                <a:cs typeface="微软雅黑"/>
              </a:rPr>
              <a:t>度有</a:t>
            </a:r>
            <a:r>
              <a:rPr sz="1600" b="1" spc="5" dirty="0">
                <a:solidFill>
                  <a:srgbClr val="171717"/>
                </a:solidFill>
                <a:latin typeface="微软雅黑"/>
                <a:cs typeface="微软雅黑"/>
              </a:rPr>
              <a:t>望</a:t>
            </a:r>
            <a:r>
              <a:rPr sz="1600" b="1" spc="-5" dirty="0">
                <a:solidFill>
                  <a:srgbClr val="171717"/>
                </a:solidFill>
                <a:latin typeface="微软雅黑"/>
                <a:cs typeface="微软雅黑"/>
              </a:rPr>
              <a:t>成为AIGC领</a:t>
            </a:r>
            <a:r>
              <a:rPr sz="1600" b="1" spc="5" dirty="0">
                <a:solidFill>
                  <a:srgbClr val="171717"/>
                </a:solidFill>
                <a:latin typeface="微软雅黑"/>
                <a:cs typeface="微软雅黑"/>
              </a:rPr>
              <a:t>域</a:t>
            </a:r>
            <a:r>
              <a:rPr sz="1600" b="1" spc="-5" dirty="0">
                <a:solidFill>
                  <a:srgbClr val="171717"/>
                </a:solidFill>
                <a:latin typeface="微软雅黑"/>
                <a:cs typeface="微软雅黑"/>
              </a:rPr>
              <a:t>率先</a:t>
            </a:r>
            <a:r>
              <a:rPr sz="1600" b="1" spc="5" dirty="0">
                <a:solidFill>
                  <a:srgbClr val="171717"/>
                </a:solidFill>
                <a:latin typeface="微软雅黑"/>
                <a:cs typeface="微软雅黑"/>
              </a:rPr>
              <a:t>实</a:t>
            </a:r>
            <a:r>
              <a:rPr sz="1600" b="1" spc="-5" dirty="0">
                <a:solidFill>
                  <a:srgbClr val="171717"/>
                </a:solidFill>
                <a:latin typeface="微软雅黑"/>
                <a:cs typeface="微软雅黑"/>
              </a:rPr>
              <a:t>现商</a:t>
            </a:r>
            <a:r>
              <a:rPr sz="1600" b="1" spc="5" dirty="0">
                <a:solidFill>
                  <a:srgbClr val="171717"/>
                </a:solidFill>
                <a:latin typeface="微软雅黑"/>
                <a:cs typeface="微软雅黑"/>
              </a:rPr>
              <a:t>业</a:t>
            </a:r>
            <a:r>
              <a:rPr sz="1600" b="1" spc="-5" dirty="0">
                <a:solidFill>
                  <a:srgbClr val="171717"/>
                </a:solidFill>
                <a:latin typeface="微软雅黑"/>
                <a:cs typeface="微软雅黑"/>
              </a:rPr>
              <a:t>化的</a:t>
            </a:r>
            <a:r>
              <a:rPr sz="1600" b="1" spc="5" dirty="0">
                <a:solidFill>
                  <a:srgbClr val="171717"/>
                </a:solidFill>
                <a:latin typeface="微软雅黑"/>
                <a:cs typeface="微软雅黑"/>
              </a:rPr>
              <a:t>领</a:t>
            </a:r>
            <a:r>
              <a:rPr sz="1600" b="1" spc="-5" dirty="0">
                <a:solidFill>
                  <a:srgbClr val="171717"/>
                </a:solidFill>
                <a:latin typeface="微软雅黑"/>
                <a:cs typeface="微软雅黑"/>
              </a:rPr>
              <a:t>头羊。</a:t>
            </a:r>
            <a:endParaRPr sz="1600">
              <a:latin typeface="微软雅黑"/>
              <a:cs typeface="微软雅黑"/>
            </a:endParaRPr>
          </a:p>
          <a:p>
            <a:pPr marL="984885" marR="97155" indent="-287020">
              <a:lnSpc>
                <a:spcPct val="100000"/>
              </a:lnSpc>
              <a:spcBef>
                <a:spcPts val="500"/>
              </a:spcBef>
              <a:buFont typeface="Wingdings" panose="05000000000000000000"/>
              <a:buChar char=""/>
              <a:tabLst>
                <a:tab pos="984885" algn="l"/>
              </a:tabLst>
            </a:pPr>
            <a:r>
              <a:rPr sz="1600" spc="-5" dirty="0">
                <a:solidFill>
                  <a:srgbClr val="171717"/>
                </a:solidFill>
                <a:latin typeface="微软雅黑"/>
                <a:cs typeface="微软雅黑"/>
              </a:rPr>
              <a:t>自</a:t>
            </a:r>
            <a:r>
              <a:rPr sz="1600" spc="-5" dirty="0">
                <a:solidFill>
                  <a:srgbClr val="171717"/>
                </a:solidFill>
                <a:latin typeface="Arial" panose="020B0604020202090204"/>
                <a:cs typeface="Arial" panose="020B0604020202090204"/>
              </a:rPr>
              <a:t>2019</a:t>
            </a:r>
            <a:r>
              <a:rPr sz="1600" spc="-5" dirty="0">
                <a:solidFill>
                  <a:srgbClr val="171717"/>
                </a:solidFill>
                <a:latin typeface="微软雅黑"/>
                <a:cs typeface="微软雅黑"/>
              </a:rPr>
              <a:t>年发布</a:t>
            </a:r>
            <a:r>
              <a:rPr sz="1600" spc="-5" dirty="0">
                <a:solidFill>
                  <a:srgbClr val="171717"/>
                </a:solidFill>
                <a:latin typeface="Arial" panose="020B0604020202090204"/>
                <a:cs typeface="Arial" panose="020B0604020202090204"/>
              </a:rPr>
              <a:t>ERNIE</a:t>
            </a:r>
            <a:r>
              <a:rPr sz="1600" spc="5" dirty="0">
                <a:solidFill>
                  <a:srgbClr val="171717"/>
                </a:solidFill>
                <a:latin typeface="Arial" panose="020B0604020202090204"/>
                <a:cs typeface="Arial" panose="020B0604020202090204"/>
              </a:rPr>
              <a:t> </a:t>
            </a:r>
            <a:r>
              <a:rPr sz="1600" spc="-5" dirty="0">
                <a:solidFill>
                  <a:srgbClr val="171717"/>
                </a:solidFill>
                <a:latin typeface="Arial" panose="020B0604020202090204"/>
                <a:cs typeface="Arial" panose="020B0604020202090204"/>
              </a:rPr>
              <a:t>1.0</a:t>
            </a:r>
            <a:r>
              <a:rPr sz="1600" spc="-5" dirty="0">
                <a:solidFill>
                  <a:srgbClr val="171717"/>
                </a:solidFill>
                <a:latin typeface="微软雅黑"/>
                <a:cs typeface="微软雅黑"/>
              </a:rPr>
              <a:t>，百度持续投入大模型的技术创</a:t>
            </a:r>
            <a:r>
              <a:rPr sz="1600" spc="5" dirty="0">
                <a:solidFill>
                  <a:srgbClr val="171717"/>
                </a:solidFill>
                <a:latin typeface="微软雅黑"/>
                <a:cs typeface="微软雅黑"/>
              </a:rPr>
              <a:t>新</a:t>
            </a:r>
            <a:r>
              <a:rPr sz="1600" spc="-5" dirty="0">
                <a:solidFill>
                  <a:srgbClr val="171717"/>
                </a:solidFill>
                <a:latin typeface="微软雅黑"/>
                <a:cs typeface="微软雅黑"/>
              </a:rPr>
              <a:t>与产</a:t>
            </a:r>
            <a:r>
              <a:rPr sz="1600" spc="5" dirty="0">
                <a:solidFill>
                  <a:srgbClr val="171717"/>
                </a:solidFill>
                <a:latin typeface="微软雅黑"/>
                <a:cs typeface="微软雅黑"/>
              </a:rPr>
              <a:t>业</a:t>
            </a:r>
            <a:r>
              <a:rPr sz="1600" spc="-5" dirty="0">
                <a:solidFill>
                  <a:srgbClr val="171717"/>
                </a:solidFill>
                <a:latin typeface="微软雅黑"/>
                <a:cs typeface="微软雅黑"/>
              </a:rPr>
              <a:t>应用</a:t>
            </a:r>
            <a:r>
              <a:rPr sz="1600" spc="5" dirty="0">
                <a:solidFill>
                  <a:srgbClr val="171717"/>
                </a:solidFill>
                <a:latin typeface="微软雅黑"/>
                <a:cs typeface="微软雅黑"/>
              </a:rPr>
              <a:t>，</a:t>
            </a:r>
            <a:r>
              <a:rPr sz="1600" spc="-5" dirty="0">
                <a:solidFill>
                  <a:srgbClr val="171717"/>
                </a:solidFill>
                <a:latin typeface="微软雅黑"/>
                <a:cs typeface="微软雅黑"/>
              </a:rPr>
              <a:t>布局</a:t>
            </a:r>
            <a:r>
              <a:rPr sz="1600" dirty="0">
                <a:solidFill>
                  <a:srgbClr val="171717"/>
                </a:solidFill>
                <a:latin typeface="微软雅黑"/>
                <a:cs typeface="微软雅黑"/>
              </a:rPr>
              <a:t>了</a:t>
            </a:r>
            <a:r>
              <a:rPr sz="1600" spc="-10" dirty="0">
                <a:solidFill>
                  <a:srgbClr val="171717"/>
                </a:solidFill>
                <a:latin typeface="Arial" panose="020B0604020202090204"/>
                <a:cs typeface="Arial" panose="020B0604020202090204"/>
              </a:rPr>
              <a:t>NLP</a:t>
            </a:r>
            <a:r>
              <a:rPr sz="1600" spc="-5" dirty="0">
                <a:solidFill>
                  <a:srgbClr val="171717"/>
                </a:solidFill>
                <a:latin typeface="微软雅黑"/>
                <a:cs typeface="微软雅黑"/>
              </a:rPr>
              <a:t>、</a:t>
            </a:r>
            <a:r>
              <a:rPr sz="1600" spc="-10" dirty="0">
                <a:solidFill>
                  <a:srgbClr val="171717"/>
                </a:solidFill>
                <a:latin typeface="Arial" panose="020B0604020202090204"/>
                <a:cs typeface="Arial" panose="020B0604020202090204"/>
              </a:rPr>
              <a:t>CV</a:t>
            </a:r>
            <a:r>
              <a:rPr sz="1600" spc="-5" dirty="0">
                <a:solidFill>
                  <a:srgbClr val="171717"/>
                </a:solidFill>
                <a:latin typeface="微软雅黑"/>
                <a:cs typeface="微软雅黑"/>
              </a:rPr>
              <a:t>、跨</a:t>
            </a:r>
            <a:r>
              <a:rPr sz="1600" spc="5" dirty="0">
                <a:solidFill>
                  <a:srgbClr val="171717"/>
                </a:solidFill>
                <a:latin typeface="微软雅黑"/>
                <a:cs typeface="微软雅黑"/>
              </a:rPr>
              <a:t>模</a:t>
            </a:r>
            <a:r>
              <a:rPr sz="1600" spc="-5" dirty="0">
                <a:solidFill>
                  <a:srgbClr val="171717"/>
                </a:solidFill>
                <a:latin typeface="微软雅黑"/>
                <a:cs typeface="微软雅黑"/>
              </a:rPr>
              <a:t>态等</a:t>
            </a:r>
            <a:r>
              <a:rPr sz="1600" spc="5" dirty="0">
                <a:solidFill>
                  <a:srgbClr val="171717"/>
                </a:solidFill>
                <a:latin typeface="微软雅黑"/>
                <a:cs typeface="微软雅黑"/>
              </a:rPr>
              <a:t>大</a:t>
            </a:r>
            <a:r>
              <a:rPr sz="1600" spc="-5" dirty="0">
                <a:solidFill>
                  <a:srgbClr val="171717"/>
                </a:solidFill>
                <a:latin typeface="微软雅黑"/>
                <a:cs typeface="微软雅黑"/>
              </a:rPr>
              <a:t>模型</a:t>
            </a:r>
            <a:r>
              <a:rPr sz="1600" spc="5" dirty="0">
                <a:solidFill>
                  <a:srgbClr val="171717"/>
                </a:solidFill>
                <a:latin typeface="微软雅黑"/>
                <a:cs typeface="微软雅黑"/>
              </a:rPr>
              <a:t>，</a:t>
            </a:r>
            <a:r>
              <a:rPr sz="1600" spc="-5" dirty="0">
                <a:solidFill>
                  <a:srgbClr val="171717"/>
                </a:solidFill>
                <a:latin typeface="微软雅黑"/>
                <a:cs typeface="微软雅黑"/>
              </a:rPr>
              <a:t>率先提 出行业大模型，成了支撑大模型产</a:t>
            </a:r>
            <a:r>
              <a:rPr sz="1600" spc="5" dirty="0">
                <a:solidFill>
                  <a:srgbClr val="171717"/>
                </a:solidFill>
                <a:latin typeface="微软雅黑"/>
                <a:cs typeface="微软雅黑"/>
              </a:rPr>
              <a:t>业</a:t>
            </a:r>
            <a:r>
              <a:rPr sz="1600" spc="-5" dirty="0">
                <a:solidFill>
                  <a:srgbClr val="171717"/>
                </a:solidFill>
                <a:latin typeface="微软雅黑"/>
                <a:cs typeface="微软雅黑"/>
              </a:rPr>
              <a:t>落地</a:t>
            </a:r>
            <a:r>
              <a:rPr sz="1600" spc="5" dirty="0">
                <a:solidFill>
                  <a:srgbClr val="171717"/>
                </a:solidFill>
                <a:latin typeface="微软雅黑"/>
                <a:cs typeface="微软雅黑"/>
              </a:rPr>
              <a:t>的</a:t>
            </a:r>
            <a:r>
              <a:rPr sz="1600" spc="-5" dirty="0">
                <a:solidFill>
                  <a:srgbClr val="171717"/>
                </a:solidFill>
                <a:latin typeface="微软雅黑"/>
                <a:cs typeface="微软雅黑"/>
              </a:rPr>
              <a:t>关键</a:t>
            </a:r>
            <a:r>
              <a:rPr sz="1600" spc="5" dirty="0">
                <a:solidFill>
                  <a:srgbClr val="171717"/>
                </a:solidFill>
                <a:latin typeface="微软雅黑"/>
                <a:cs typeface="微软雅黑"/>
              </a:rPr>
              <a:t>路</a:t>
            </a:r>
            <a:r>
              <a:rPr sz="1600" spc="-5" dirty="0">
                <a:solidFill>
                  <a:srgbClr val="171717"/>
                </a:solidFill>
                <a:latin typeface="微软雅黑"/>
                <a:cs typeface="微软雅黑"/>
              </a:rPr>
              <a:t>径，</a:t>
            </a:r>
            <a:r>
              <a:rPr sz="1600" spc="5" dirty="0">
                <a:solidFill>
                  <a:srgbClr val="171717"/>
                </a:solidFill>
                <a:latin typeface="微软雅黑"/>
                <a:cs typeface="微软雅黑"/>
              </a:rPr>
              <a:t>构</a:t>
            </a:r>
            <a:r>
              <a:rPr sz="1600" spc="-5" dirty="0">
                <a:solidFill>
                  <a:srgbClr val="171717"/>
                </a:solidFill>
                <a:latin typeface="微软雅黑"/>
                <a:cs typeface="微软雅黑"/>
              </a:rPr>
              <a:t>建文</a:t>
            </a:r>
            <a:r>
              <a:rPr sz="1600" spc="5" dirty="0">
                <a:solidFill>
                  <a:srgbClr val="171717"/>
                </a:solidFill>
                <a:latin typeface="微软雅黑"/>
                <a:cs typeface="微软雅黑"/>
              </a:rPr>
              <a:t>心</a:t>
            </a:r>
            <a:r>
              <a:rPr sz="1600" spc="-5" dirty="0">
                <a:solidFill>
                  <a:srgbClr val="171717"/>
                </a:solidFill>
                <a:latin typeface="微软雅黑"/>
                <a:cs typeface="微软雅黑"/>
              </a:rPr>
              <a:t>大模</a:t>
            </a:r>
            <a:r>
              <a:rPr sz="1600" spc="5" dirty="0">
                <a:solidFill>
                  <a:srgbClr val="171717"/>
                </a:solidFill>
                <a:latin typeface="微软雅黑"/>
                <a:cs typeface="微软雅黑"/>
              </a:rPr>
              <a:t>型</a:t>
            </a:r>
            <a:r>
              <a:rPr sz="1600" spc="-5" dirty="0">
                <a:solidFill>
                  <a:srgbClr val="171717"/>
                </a:solidFill>
                <a:latin typeface="微软雅黑"/>
                <a:cs typeface="微软雅黑"/>
              </a:rPr>
              <a:t>层、</a:t>
            </a:r>
            <a:r>
              <a:rPr sz="1600" spc="5" dirty="0">
                <a:solidFill>
                  <a:srgbClr val="171717"/>
                </a:solidFill>
                <a:latin typeface="微软雅黑"/>
                <a:cs typeface="微软雅黑"/>
              </a:rPr>
              <a:t>工</a:t>
            </a:r>
            <a:r>
              <a:rPr sz="1600" spc="-5" dirty="0">
                <a:solidFill>
                  <a:srgbClr val="171717"/>
                </a:solidFill>
                <a:latin typeface="微软雅黑"/>
                <a:cs typeface="微软雅黑"/>
              </a:rPr>
              <a:t>具平</a:t>
            </a:r>
            <a:r>
              <a:rPr sz="1600" spc="5" dirty="0">
                <a:solidFill>
                  <a:srgbClr val="171717"/>
                </a:solidFill>
                <a:latin typeface="微软雅黑"/>
                <a:cs typeface="微软雅黑"/>
              </a:rPr>
              <a:t>台</a:t>
            </a:r>
            <a:r>
              <a:rPr sz="1600" spc="-5" dirty="0">
                <a:solidFill>
                  <a:srgbClr val="171717"/>
                </a:solidFill>
                <a:latin typeface="微软雅黑"/>
                <a:cs typeface="微软雅黑"/>
              </a:rPr>
              <a:t>层、</a:t>
            </a:r>
            <a:r>
              <a:rPr sz="1600" spc="5" dirty="0">
                <a:solidFill>
                  <a:srgbClr val="171717"/>
                </a:solidFill>
                <a:latin typeface="微软雅黑"/>
                <a:cs typeface="微软雅黑"/>
              </a:rPr>
              <a:t>产</a:t>
            </a:r>
            <a:r>
              <a:rPr sz="1600" spc="-5" dirty="0">
                <a:solidFill>
                  <a:srgbClr val="171717"/>
                </a:solidFill>
                <a:latin typeface="微软雅黑"/>
                <a:cs typeface="微软雅黑"/>
              </a:rPr>
              <a:t>品与</a:t>
            </a:r>
            <a:r>
              <a:rPr sz="1600" spc="5" dirty="0">
                <a:solidFill>
                  <a:srgbClr val="171717"/>
                </a:solidFill>
                <a:latin typeface="微软雅黑"/>
                <a:cs typeface="微软雅黑"/>
              </a:rPr>
              <a:t>社</a:t>
            </a:r>
            <a:r>
              <a:rPr sz="1600" spc="-5" dirty="0">
                <a:solidFill>
                  <a:srgbClr val="171717"/>
                </a:solidFill>
                <a:latin typeface="微软雅黑"/>
                <a:cs typeface="微软雅黑"/>
              </a:rPr>
              <a:t>区三</a:t>
            </a:r>
            <a:r>
              <a:rPr sz="1600" spc="5" dirty="0">
                <a:solidFill>
                  <a:srgbClr val="171717"/>
                </a:solidFill>
                <a:latin typeface="微软雅黑"/>
                <a:cs typeface="微软雅黑"/>
              </a:rPr>
              <a:t>层</a:t>
            </a:r>
            <a:r>
              <a:rPr sz="1600" spc="-5" dirty="0">
                <a:solidFill>
                  <a:srgbClr val="171717"/>
                </a:solidFill>
                <a:latin typeface="微软雅黑"/>
                <a:cs typeface="微软雅黑"/>
              </a:rPr>
              <a:t>体系。</a:t>
            </a:r>
            <a:endParaRPr sz="1600">
              <a:latin typeface="微软雅黑"/>
              <a:cs typeface="微软雅黑"/>
            </a:endParaRPr>
          </a:p>
          <a:p>
            <a:pPr marL="984885" indent="-287020">
              <a:lnSpc>
                <a:spcPct val="100000"/>
              </a:lnSpc>
              <a:spcBef>
                <a:spcPts val="505"/>
              </a:spcBef>
              <a:buFont typeface="Wingdings" panose="05000000000000000000"/>
              <a:buChar char=""/>
              <a:tabLst>
                <a:tab pos="984885" algn="l"/>
              </a:tabLst>
            </a:pPr>
            <a:r>
              <a:rPr sz="1600" spc="-10" dirty="0">
                <a:solidFill>
                  <a:srgbClr val="171717"/>
                </a:solidFill>
                <a:latin typeface="微软雅黑"/>
                <a:cs typeface="微软雅黑"/>
              </a:rPr>
              <a:t>根据</a:t>
            </a:r>
            <a:r>
              <a:rPr sz="1600" spc="-5" dirty="0">
                <a:solidFill>
                  <a:srgbClr val="171717"/>
                </a:solidFill>
                <a:latin typeface="Arial" panose="020B0604020202090204"/>
                <a:cs typeface="Arial" panose="020B0604020202090204"/>
              </a:rPr>
              <a:t>IDC</a:t>
            </a:r>
            <a:r>
              <a:rPr sz="1600" spc="-10" dirty="0">
                <a:solidFill>
                  <a:srgbClr val="171717"/>
                </a:solidFill>
                <a:latin typeface="微软雅黑"/>
                <a:cs typeface="微软雅黑"/>
              </a:rPr>
              <a:t>的大模型评分，在产品能力</a:t>
            </a:r>
            <a:r>
              <a:rPr sz="1600" dirty="0">
                <a:solidFill>
                  <a:srgbClr val="171717"/>
                </a:solidFill>
                <a:latin typeface="微软雅黑"/>
                <a:cs typeface="微软雅黑"/>
              </a:rPr>
              <a:t>、</a:t>
            </a:r>
            <a:r>
              <a:rPr sz="1600" spc="-10" dirty="0">
                <a:solidFill>
                  <a:srgbClr val="171717"/>
                </a:solidFill>
                <a:latin typeface="微软雅黑"/>
                <a:cs typeface="微软雅黑"/>
              </a:rPr>
              <a:t>生态</a:t>
            </a:r>
            <a:r>
              <a:rPr sz="1600" dirty="0">
                <a:solidFill>
                  <a:srgbClr val="171717"/>
                </a:solidFill>
                <a:latin typeface="微软雅黑"/>
                <a:cs typeface="微软雅黑"/>
              </a:rPr>
              <a:t>能</a:t>
            </a:r>
            <a:r>
              <a:rPr sz="1600" spc="-10" dirty="0">
                <a:solidFill>
                  <a:srgbClr val="171717"/>
                </a:solidFill>
                <a:latin typeface="微软雅黑"/>
                <a:cs typeface="微软雅黑"/>
              </a:rPr>
              <a:t>力和</a:t>
            </a:r>
            <a:r>
              <a:rPr sz="1600" dirty="0">
                <a:solidFill>
                  <a:srgbClr val="171717"/>
                </a:solidFill>
                <a:latin typeface="微软雅黑"/>
                <a:cs typeface="微软雅黑"/>
              </a:rPr>
              <a:t>应</a:t>
            </a:r>
            <a:r>
              <a:rPr sz="1600" spc="-10" dirty="0">
                <a:solidFill>
                  <a:srgbClr val="171717"/>
                </a:solidFill>
                <a:latin typeface="微软雅黑"/>
                <a:cs typeface="微软雅黑"/>
              </a:rPr>
              <a:t>用能</a:t>
            </a:r>
            <a:r>
              <a:rPr sz="1600" dirty="0">
                <a:solidFill>
                  <a:srgbClr val="171717"/>
                </a:solidFill>
                <a:latin typeface="微软雅黑"/>
                <a:cs typeface="微软雅黑"/>
              </a:rPr>
              <a:t>力</a:t>
            </a:r>
            <a:r>
              <a:rPr sz="1600" spc="-10" dirty="0">
                <a:solidFill>
                  <a:srgbClr val="171717"/>
                </a:solidFill>
                <a:latin typeface="微软雅黑"/>
                <a:cs typeface="微软雅黑"/>
              </a:rPr>
              <a:t>三个</a:t>
            </a:r>
            <a:r>
              <a:rPr sz="1600" dirty="0">
                <a:solidFill>
                  <a:srgbClr val="171717"/>
                </a:solidFill>
                <a:latin typeface="微软雅黑"/>
                <a:cs typeface="微软雅黑"/>
              </a:rPr>
              <a:t>维</a:t>
            </a:r>
            <a:r>
              <a:rPr sz="1600" spc="-10" dirty="0">
                <a:solidFill>
                  <a:srgbClr val="171717"/>
                </a:solidFill>
                <a:latin typeface="微软雅黑"/>
                <a:cs typeface="微软雅黑"/>
              </a:rPr>
              <a:t>度上</a:t>
            </a:r>
            <a:r>
              <a:rPr sz="1600" dirty="0">
                <a:solidFill>
                  <a:srgbClr val="171717"/>
                </a:solidFill>
                <a:latin typeface="微软雅黑"/>
                <a:cs typeface="微软雅黑"/>
              </a:rPr>
              <a:t>百</a:t>
            </a:r>
            <a:r>
              <a:rPr sz="1600" spc="-10" dirty="0">
                <a:solidFill>
                  <a:srgbClr val="171717"/>
                </a:solidFill>
                <a:latin typeface="微软雅黑"/>
                <a:cs typeface="微软雅黑"/>
              </a:rPr>
              <a:t>度均</a:t>
            </a:r>
            <a:r>
              <a:rPr sz="1600" dirty="0">
                <a:solidFill>
                  <a:srgbClr val="171717"/>
                </a:solidFill>
                <a:latin typeface="微软雅黑"/>
                <a:cs typeface="微软雅黑"/>
              </a:rPr>
              <a:t>位</a:t>
            </a:r>
            <a:r>
              <a:rPr sz="1600" spc="-10" dirty="0">
                <a:solidFill>
                  <a:srgbClr val="171717"/>
                </a:solidFill>
                <a:latin typeface="微软雅黑"/>
                <a:cs typeface="微软雅黑"/>
              </a:rPr>
              <a:t>于第</a:t>
            </a:r>
            <a:r>
              <a:rPr sz="1600" dirty="0">
                <a:solidFill>
                  <a:srgbClr val="171717"/>
                </a:solidFill>
                <a:latin typeface="微软雅黑"/>
                <a:cs typeface="微软雅黑"/>
              </a:rPr>
              <a:t>一</a:t>
            </a:r>
            <a:r>
              <a:rPr sz="1600" spc="-10" dirty="0">
                <a:solidFill>
                  <a:srgbClr val="171717"/>
                </a:solidFill>
                <a:latin typeface="微软雅黑"/>
                <a:cs typeface="微软雅黑"/>
              </a:rPr>
              <a:t>梯队</a:t>
            </a:r>
            <a:r>
              <a:rPr sz="1600" dirty="0">
                <a:solidFill>
                  <a:srgbClr val="171717"/>
                </a:solidFill>
                <a:latin typeface="微软雅黑"/>
                <a:cs typeface="微软雅黑"/>
              </a:rPr>
              <a:t>，</a:t>
            </a:r>
            <a:r>
              <a:rPr sz="1600" spc="-10" dirty="0">
                <a:solidFill>
                  <a:srgbClr val="171717"/>
                </a:solidFill>
                <a:latin typeface="微软雅黑"/>
                <a:cs typeface="微软雅黑"/>
              </a:rPr>
              <a:t>且在</a:t>
            </a:r>
            <a:r>
              <a:rPr sz="1600" dirty="0">
                <a:solidFill>
                  <a:srgbClr val="171717"/>
                </a:solidFill>
                <a:latin typeface="微软雅黑"/>
                <a:cs typeface="微软雅黑"/>
              </a:rPr>
              <a:t>生</a:t>
            </a:r>
            <a:r>
              <a:rPr sz="1600" spc="-10" dirty="0">
                <a:solidFill>
                  <a:srgbClr val="171717"/>
                </a:solidFill>
                <a:latin typeface="微软雅黑"/>
                <a:cs typeface="微软雅黑"/>
              </a:rPr>
              <a:t>态维</a:t>
            </a:r>
            <a:r>
              <a:rPr sz="1600" dirty="0">
                <a:solidFill>
                  <a:srgbClr val="171717"/>
                </a:solidFill>
                <a:latin typeface="微软雅黑"/>
                <a:cs typeface="微软雅黑"/>
              </a:rPr>
              <a:t>度</a:t>
            </a:r>
            <a:r>
              <a:rPr sz="1600" spc="-10" dirty="0">
                <a:solidFill>
                  <a:srgbClr val="171717"/>
                </a:solidFill>
                <a:latin typeface="微软雅黑"/>
                <a:cs typeface="微软雅黑"/>
              </a:rPr>
              <a:t>远高</a:t>
            </a:r>
            <a:r>
              <a:rPr sz="1600" dirty="0">
                <a:solidFill>
                  <a:srgbClr val="171717"/>
                </a:solidFill>
                <a:latin typeface="微软雅黑"/>
                <a:cs typeface="微软雅黑"/>
              </a:rPr>
              <a:t>于</a:t>
            </a:r>
            <a:r>
              <a:rPr sz="1600" spc="-10" dirty="0">
                <a:solidFill>
                  <a:srgbClr val="171717"/>
                </a:solidFill>
                <a:latin typeface="微软雅黑"/>
                <a:cs typeface="微软雅黑"/>
              </a:rPr>
              <a:t>平均</a:t>
            </a:r>
            <a:endParaRPr sz="1600">
              <a:latin typeface="微软雅黑"/>
              <a:cs typeface="微软雅黑"/>
            </a:endParaRPr>
          </a:p>
          <a:p>
            <a:pPr marL="984885">
              <a:lnSpc>
                <a:spcPct val="100000"/>
              </a:lnSpc>
              <a:spcBef>
                <a:spcPts val="5"/>
              </a:spcBef>
            </a:pPr>
            <a:r>
              <a:rPr sz="1600" spc="-5" dirty="0">
                <a:solidFill>
                  <a:srgbClr val="171717"/>
                </a:solidFill>
                <a:latin typeface="微软雅黑"/>
                <a:cs typeface="微软雅黑"/>
              </a:rPr>
              <a:t>水平，这得益于百度的大模型框架</a:t>
            </a:r>
            <a:r>
              <a:rPr sz="1600" spc="5" dirty="0">
                <a:solidFill>
                  <a:srgbClr val="171717"/>
                </a:solidFill>
                <a:latin typeface="微软雅黑"/>
                <a:cs typeface="微软雅黑"/>
              </a:rPr>
              <a:t>“</a:t>
            </a:r>
            <a:r>
              <a:rPr sz="1600" spc="-5" dirty="0">
                <a:solidFill>
                  <a:srgbClr val="171717"/>
                </a:solidFill>
                <a:latin typeface="微软雅黑"/>
                <a:cs typeface="微软雅黑"/>
              </a:rPr>
              <a:t>飞桨</a:t>
            </a:r>
            <a:r>
              <a:rPr sz="1600" spc="5" dirty="0">
                <a:solidFill>
                  <a:srgbClr val="171717"/>
                </a:solidFill>
                <a:latin typeface="微软雅黑"/>
                <a:cs typeface="微软雅黑"/>
              </a:rPr>
              <a:t>”</a:t>
            </a:r>
            <a:r>
              <a:rPr sz="1600" spc="-5" dirty="0">
                <a:solidFill>
                  <a:srgbClr val="171717"/>
                </a:solidFill>
                <a:latin typeface="微软雅黑"/>
                <a:cs typeface="微软雅黑"/>
              </a:rPr>
              <a:t>、旸</a:t>
            </a:r>
            <a:r>
              <a:rPr sz="1600" spc="5" dirty="0">
                <a:solidFill>
                  <a:srgbClr val="171717"/>
                </a:solidFill>
                <a:latin typeface="微软雅黑"/>
                <a:cs typeface="微软雅黑"/>
              </a:rPr>
              <a:t>谷</a:t>
            </a:r>
            <a:r>
              <a:rPr sz="1600" spc="-5" dirty="0">
                <a:solidFill>
                  <a:srgbClr val="171717"/>
                </a:solidFill>
                <a:latin typeface="微软雅黑"/>
                <a:cs typeface="微软雅黑"/>
              </a:rPr>
              <a:t>社区。</a:t>
            </a:r>
            <a:endParaRPr sz="1600">
              <a:latin typeface="微软雅黑"/>
              <a:cs typeface="微软雅黑"/>
            </a:endParaRPr>
          </a:p>
          <a:p>
            <a:pPr marL="984885" indent="-287020">
              <a:lnSpc>
                <a:spcPct val="100000"/>
              </a:lnSpc>
              <a:spcBef>
                <a:spcPts val="505"/>
              </a:spcBef>
              <a:buFont typeface="Wingdings" panose="05000000000000000000"/>
              <a:buChar char=""/>
              <a:tabLst>
                <a:tab pos="984885" algn="l"/>
              </a:tabLst>
            </a:pPr>
            <a:r>
              <a:rPr sz="1600" spc="-5" dirty="0">
                <a:solidFill>
                  <a:srgbClr val="171717"/>
                </a:solidFill>
                <a:latin typeface="微软雅黑"/>
                <a:cs typeface="微软雅黑"/>
              </a:rPr>
              <a:t>百度于</a:t>
            </a:r>
            <a:r>
              <a:rPr sz="1600" spc="-5" dirty="0">
                <a:solidFill>
                  <a:srgbClr val="171717"/>
                </a:solidFill>
                <a:latin typeface="Arial" panose="020B0604020202090204"/>
                <a:cs typeface="Arial" panose="020B0604020202090204"/>
              </a:rPr>
              <a:t>2023</a:t>
            </a:r>
            <a:r>
              <a:rPr sz="1600" spc="-5" dirty="0">
                <a:solidFill>
                  <a:srgbClr val="171717"/>
                </a:solidFill>
                <a:latin typeface="微软雅黑"/>
                <a:cs typeface="微软雅黑"/>
              </a:rPr>
              <a:t>年</a:t>
            </a:r>
            <a:r>
              <a:rPr sz="1600" spc="-5" dirty="0">
                <a:solidFill>
                  <a:srgbClr val="171717"/>
                </a:solidFill>
                <a:latin typeface="Arial" panose="020B0604020202090204"/>
                <a:cs typeface="Arial" panose="020B0604020202090204"/>
              </a:rPr>
              <a:t>3</a:t>
            </a:r>
            <a:r>
              <a:rPr sz="1600" spc="-5" dirty="0">
                <a:solidFill>
                  <a:srgbClr val="171717"/>
                </a:solidFill>
                <a:latin typeface="微软雅黑"/>
                <a:cs typeface="微软雅黑"/>
              </a:rPr>
              <a:t>月发布“文心一言”，成为</a:t>
            </a:r>
            <a:r>
              <a:rPr sz="1600" spc="5" dirty="0">
                <a:solidFill>
                  <a:srgbClr val="171717"/>
                </a:solidFill>
                <a:latin typeface="微软雅黑"/>
                <a:cs typeface="微软雅黑"/>
              </a:rPr>
              <a:t>首</a:t>
            </a:r>
            <a:r>
              <a:rPr sz="1600" spc="-5" dirty="0">
                <a:solidFill>
                  <a:srgbClr val="171717"/>
                </a:solidFill>
                <a:latin typeface="微软雅黑"/>
                <a:cs typeface="微软雅黑"/>
              </a:rPr>
              <a:t>款中</a:t>
            </a:r>
            <a:r>
              <a:rPr sz="1600" spc="5" dirty="0">
                <a:solidFill>
                  <a:srgbClr val="171717"/>
                </a:solidFill>
                <a:latin typeface="微软雅黑"/>
                <a:cs typeface="微软雅黑"/>
              </a:rPr>
              <a:t>文</a:t>
            </a:r>
            <a:r>
              <a:rPr sz="1600" spc="-5" dirty="0">
                <a:solidFill>
                  <a:srgbClr val="171717"/>
                </a:solidFill>
                <a:latin typeface="微软雅黑"/>
                <a:cs typeface="微软雅黑"/>
              </a:rPr>
              <a:t>生成</a:t>
            </a:r>
            <a:r>
              <a:rPr sz="1600" spc="5" dirty="0">
                <a:solidFill>
                  <a:srgbClr val="171717"/>
                </a:solidFill>
                <a:latin typeface="微软雅黑"/>
                <a:cs typeface="微软雅黑"/>
              </a:rPr>
              <a:t>式</a:t>
            </a:r>
            <a:r>
              <a:rPr sz="1600" spc="-5" dirty="0">
                <a:solidFill>
                  <a:srgbClr val="171717"/>
                </a:solidFill>
                <a:latin typeface="微软雅黑"/>
                <a:cs typeface="微软雅黑"/>
              </a:rPr>
              <a:t>对话</a:t>
            </a:r>
            <a:r>
              <a:rPr sz="1600" spc="5" dirty="0">
                <a:solidFill>
                  <a:srgbClr val="171717"/>
                </a:solidFill>
                <a:latin typeface="微软雅黑"/>
                <a:cs typeface="微软雅黑"/>
              </a:rPr>
              <a:t>大</a:t>
            </a:r>
            <a:r>
              <a:rPr sz="1600" spc="-5" dirty="0">
                <a:solidFill>
                  <a:srgbClr val="171717"/>
                </a:solidFill>
                <a:latin typeface="微软雅黑"/>
                <a:cs typeface="微软雅黑"/>
              </a:rPr>
              <a:t>模型</a:t>
            </a:r>
            <a:r>
              <a:rPr sz="1600" spc="5" dirty="0">
                <a:solidFill>
                  <a:srgbClr val="171717"/>
                </a:solidFill>
                <a:latin typeface="微软雅黑"/>
                <a:cs typeface="微软雅黑"/>
              </a:rPr>
              <a:t>产</a:t>
            </a:r>
            <a:r>
              <a:rPr sz="1600" spc="-5" dirty="0">
                <a:solidFill>
                  <a:srgbClr val="171717"/>
                </a:solidFill>
                <a:latin typeface="微软雅黑"/>
                <a:cs typeface="微软雅黑"/>
              </a:rPr>
              <a:t>品。</a:t>
            </a:r>
            <a:endParaRPr sz="1600">
              <a:latin typeface="微软雅黑"/>
              <a:cs typeface="微软雅黑"/>
            </a:endParaRPr>
          </a:p>
        </p:txBody>
      </p:sp>
      <p:sp>
        <p:nvSpPr>
          <p:cNvPr id="6" name="object 6"/>
          <p:cNvSpPr txBox="1"/>
          <p:nvPr/>
        </p:nvSpPr>
        <p:spPr>
          <a:xfrm>
            <a:off x="397763" y="2759964"/>
            <a:ext cx="6737984" cy="251460"/>
          </a:xfrm>
          <a:prstGeom prst="rect">
            <a:avLst/>
          </a:prstGeom>
          <a:solidFill>
            <a:srgbClr val="AA0001"/>
          </a:solidFill>
        </p:spPr>
        <p:txBody>
          <a:bodyPr vert="horz" wrap="square" lIns="0" tIns="57150" rIns="0" bIns="0" rtlCol="0">
            <a:spAutoFit/>
          </a:bodyPr>
          <a:lstStyle/>
          <a:p>
            <a:pPr algn="ctr">
              <a:lnSpc>
                <a:spcPct val="100000"/>
              </a:lnSpc>
              <a:spcBef>
                <a:spcPts val="450"/>
              </a:spcBef>
            </a:pPr>
            <a:r>
              <a:rPr sz="1000" b="1" spc="-5" dirty="0">
                <a:solidFill>
                  <a:srgbClr val="FFFFFF"/>
                </a:solidFill>
                <a:latin typeface="微软雅黑"/>
                <a:cs typeface="微软雅黑"/>
              </a:rPr>
              <a:t>文心大模型与产品框架</a:t>
            </a:r>
            <a:endParaRPr sz="1000">
              <a:latin typeface="微软雅黑"/>
              <a:cs typeface="微软雅黑"/>
            </a:endParaRPr>
          </a:p>
        </p:txBody>
      </p:sp>
      <p:grpSp>
        <p:nvGrpSpPr>
          <p:cNvPr id="7" name="object 7"/>
          <p:cNvGrpSpPr/>
          <p:nvPr/>
        </p:nvGrpSpPr>
        <p:grpSpPr>
          <a:xfrm>
            <a:off x="7927665" y="3406533"/>
            <a:ext cx="3138170" cy="2868295"/>
            <a:chOff x="7927665" y="3406533"/>
            <a:chExt cx="3138170" cy="2868295"/>
          </a:xfrm>
        </p:grpSpPr>
        <p:pic>
          <p:nvPicPr>
            <p:cNvPr id="8" name="object 8"/>
            <p:cNvPicPr/>
            <p:nvPr/>
          </p:nvPicPr>
          <p:blipFill>
            <a:blip r:embed="rId1" cstate="print"/>
            <a:stretch>
              <a:fillRect/>
            </a:stretch>
          </p:blipFill>
          <p:spPr>
            <a:xfrm>
              <a:off x="7927665" y="3406533"/>
              <a:ext cx="2920146" cy="2867755"/>
            </a:xfrm>
            <a:prstGeom prst="rect">
              <a:avLst/>
            </a:prstGeom>
          </p:spPr>
        </p:pic>
        <p:pic>
          <p:nvPicPr>
            <p:cNvPr id="9" name="object 9"/>
            <p:cNvPicPr/>
            <p:nvPr/>
          </p:nvPicPr>
          <p:blipFill>
            <a:blip r:embed="rId2" cstate="print"/>
            <a:stretch>
              <a:fillRect/>
            </a:stretch>
          </p:blipFill>
          <p:spPr>
            <a:xfrm>
              <a:off x="9512807" y="5561076"/>
              <a:ext cx="1552955" cy="600456"/>
            </a:xfrm>
            <a:prstGeom prst="rect">
              <a:avLst/>
            </a:prstGeom>
          </p:spPr>
        </p:pic>
      </p:grpSp>
      <p:sp>
        <p:nvSpPr>
          <p:cNvPr id="10" name="object 10"/>
          <p:cNvSpPr txBox="1"/>
          <p:nvPr/>
        </p:nvSpPr>
        <p:spPr>
          <a:xfrm>
            <a:off x="8042147" y="2738627"/>
            <a:ext cx="2943225" cy="294640"/>
          </a:xfrm>
          <a:prstGeom prst="rect">
            <a:avLst/>
          </a:prstGeom>
          <a:solidFill>
            <a:srgbClr val="AA0001"/>
          </a:solidFill>
        </p:spPr>
        <p:txBody>
          <a:bodyPr vert="horz" wrap="square" lIns="0" tIns="78105" rIns="0" bIns="0" rtlCol="0">
            <a:spAutoFit/>
          </a:bodyPr>
          <a:lstStyle/>
          <a:p>
            <a:pPr algn="ctr">
              <a:lnSpc>
                <a:spcPct val="100000"/>
              </a:lnSpc>
              <a:spcBef>
                <a:spcPts val="615"/>
              </a:spcBef>
            </a:pPr>
            <a:r>
              <a:rPr sz="1000" b="1" spc="-5" dirty="0">
                <a:solidFill>
                  <a:srgbClr val="FFFFFF"/>
                </a:solidFill>
                <a:latin typeface="微软雅黑"/>
                <a:cs typeface="微软雅黑"/>
              </a:rPr>
              <a:t>文心大模型评分</a:t>
            </a:r>
            <a:endParaRPr sz="1000">
              <a:latin typeface="微软雅黑"/>
              <a:cs typeface="微软雅黑"/>
            </a:endParaRPr>
          </a:p>
        </p:txBody>
      </p:sp>
      <p:sp>
        <p:nvSpPr>
          <p:cNvPr id="12" name="object 12"/>
          <p:cNvSpPr/>
          <p:nvPr/>
        </p:nvSpPr>
        <p:spPr>
          <a:xfrm>
            <a:off x="397763" y="3142488"/>
            <a:ext cx="6737984" cy="447040"/>
          </a:xfrm>
          <a:custGeom>
            <a:avLst/>
            <a:gdLst/>
            <a:ahLst/>
            <a:cxnLst/>
            <a:rect l="l" t="t" r="r" b="b"/>
            <a:pathLst>
              <a:path w="6737984" h="447039">
                <a:moveTo>
                  <a:pt x="6737604" y="0"/>
                </a:moveTo>
                <a:lnTo>
                  <a:pt x="0" y="0"/>
                </a:lnTo>
                <a:lnTo>
                  <a:pt x="0" y="446531"/>
                </a:lnTo>
                <a:lnTo>
                  <a:pt x="6737604" y="446531"/>
                </a:lnTo>
                <a:lnTo>
                  <a:pt x="6737604" y="0"/>
                </a:lnTo>
                <a:close/>
              </a:path>
            </a:pathLst>
          </a:custGeom>
          <a:solidFill>
            <a:srgbClr val="FFBABB"/>
          </a:solidFill>
        </p:spPr>
        <p:txBody>
          <a:bodyPr wrap="square" lIns="0" tIns="0" rIns="0" bIns="0" rtlCol="0"/>
          <a:lstStyle/>
          <a:p/>
        </p:txBody>
      </p:sp>
      <p:sp>
        <p:nvSpPr>
          <p:cNvPr id="13" name="object 13"/>
          <p:cNvSpPr txBox="1"/>
          <p:nvPr/>
        </p:nvSpPr>
        <p:spPr>
          <a:xfrm>
            <a:off x="471779" y="3144901"/>
            <a:ext cx="101600" cy="421640"/>
          </a:xfrm>
          <a:prstGeom prst="rect">
            <a:avLst/>
          </a:prstGeom>
        </p:spPr>
        <p:txBody>
          <a:bodyPr vert="horz" wrap="square" lIns="0" tIns="27939" rIns="0" bIns="0" rtlCol="0">
            <a:spAutoFit/>
          </a:bodyPr>
          <a:lstStyle/>
          <a:p>
            <a:pPr marL="12700" marR="5080" algn="just">
              <a:lnSpc>
                <a:spcPts val="600"/>
              </a:lnSpc>
              <a:spcBef>
                <a:spcPts val="220"/>
              </a:spcBef>
            </a:pPr>
            <a:r>
              <a:rPr sz="600" dirty="0">
                <a:solidFill>
                  <a:srgbClr val="171717"/>
                </a:solidFill>
                <a:latin typeface="微软雅黑"/>
                <a:cs typeface="微软雅黑"/>
              </a:rPr>
              <a:t>产 品 与 社 区</a:t>
            </a:r>
            <a:endParaRPr sz="600">
              <a:latin typeface="微软雅黑"/>
              <a:cs typeface="微软雅黑"/>
            </a:endParaRPr>
          </a:p>
        </p:txBody>
      </p:sp>
      <p:sp>
        <p:nvSpPr>
          <p:cNvPr id="14" name="object 14"/>
          <p:cNvSpPr txBox="1"/>
          <p:nvPr/>
        </p:nvSpPr>
        <p:spPr>
          <a:xfrm>
            <a:off x="1367027" y="3220211"/>
            <a:ext cx="1711960" cy="309880"/>
          </a:xfrm>
          <a:prstGeom prst="rect">
            <a:avLst/>
          </a:prstGeom>
          <a:solidFill>
            <a:srgbClr val="FF7779"/>
          </a:solidFill>
        </p:spPr>
        <p:txBody>
          <a:bodyPr vert="horz" wrap="square" lIns="0" tIns="45085" rIns="0" bIns="0" rtlCol="0">
            <a:spAutoFit/>
          </a:bodyPr>
          <a:lstStyle/>
          <a:p>
            <a:pPr algn="ctr">
              <a:lnSpc>
                <a:spcPct val="100000"/>
              </a:lnSpc>
              <a:spcBef>
                <a:spcPts val="355"/>
              </a:spcBef>
            </a:pPr>
            <a:r>
              <a:rPr sz="600" b="1" dirty="0">
                <a:solidFill>
                  <a:srgbClr val="171717"/>
                </a:solidFill>
                <a:latin typeface="微软雅黑"/>
                <a:cs typeface="微软雅黑"/>
              </a:rPr>
              <a:t>文心一格</a:t>
            </a:r>
            <a:endParaRPr sz="600">
              <a:latin typeface="微软雅黑"/>
              <a:cs typeface="微软雅黑"/>
            </a:endParaRPr>
          </a:p>
          <a:p>
            <a:pPr algn="ctr">
              <a:lnSpc>
                <a:spcPct val="100000"/>
              </a:lnSpc>
              <a:spcBef>
                <a:spcPts val="360"/>
              </a:spcBef>
            </a:pPr>
            <a:r>
              <a:rPr sz="600" spc="-5" dirty="0">
                <a:solidFill>
                  <a:srgbClr val="171717"/>
                </a:solidFill>
                <a:latin typeface="Arial" panose="020B0604020202090204"/>
                <a:cs typeface="Arial" panose="020B0604020202090204"/>
              </a:rPr>
              <a:t>AI</a:t>
            </a:r>
            <a:r>
              <a:rPr sz="600" dirty="0">
                <a:solidFill>
                  <a:srgbClr val="171717"/>
                </a:solidFill>
                <a:latin typeface="微软雅黑"/>
                <a:cs typeface="微软雅黑"/>
              </a:rPr>
              <a:t>艺术和创意辅助平台</a:t>
            </a:r>
            <a:endParaRPr sz="600">
              <a:latin typeface="微软雅黑"/>
              <a:cs typeface="微软雅黑"/>
            </a:endParaRPr>
          </a:p>
        </p:txBody>
      </p:sp>
      <p:sp>
        <p:nvSpPr>
          <p:cNvPr id="15" name="object 15"/>
          <p:cNvSpPr txBox="1"/>
          <p:nvPr/>
        </p:nvSpPr>
        <p:spPr>
          <a:xfrm>
            <a:off x="3191255" y="3220211"/>
            <a:ext cx="1711960" cy="309880"/>
          </a:xfrm>
          <a:prstGeom prst="rect">
            <a:avLst/>
          </a:prstGeom>
          <a:solidFill>
            <a:srgbClr val="FF7779"/>
          </a:solidFill>
        </p:spPr>
        <p:txBody>
          <a:bodyPr vert="horz" wrap="square" lIns="0" tIns="45085" rIns="0" bIns="0" rtlCol="0">
            <a:spAutoFit/>
          </a:bodyPr>
          <a:lstStyle/>
          <a:p>
            <a:pPr algn="ctr">
              <a:lnSpc>
                <a:spcPct val="100000"/>
              </a:lnSpc>
              <a:spcBef>
                <a:spcPts val="355"/>
              </a:spcBef>
            </a:pPr>
            <a:r>
              <a:rPr sz="600" b="1" dirty="0">
                <a:solidFill>
                  <a:srgbClr val="171717"/>
                </a:solidFill>
                <a:latin typeface="微软雅黑"/>
                <a:cs typeface="微软雅黑"/>
              </a:rPr>
              <a:t>文心百中</a:t>
            </a:r>
            <a:endParaRPr sz="600">
              <a:latin typeface="微软雅黑"/>
              <a:cs typeface="微软雅黑"/>
            </a:endParaRPr>
          </a:p>
          <a:p>
            <a:pPr algn="ctr">
              <a:lnSpc>
                <a:spcPct val="100000"/>
              </a:lnSpc>
              <a:spcBef>
                <a:spcPts val="360"/>
              </a:spcBef>
            </a:pPr>
            <a:r>
              <a:rPr sz="600" dirty="0">
                <a:solidFill>
                  <a:srgbClr val="171717"/>
                </a:solidFill>
                <a:latin typeface="微软雅黑"/>
                <a:cs typeface="微软雅黑"/>
              </a:rPr>
              <a:t>大模型驱动的产业级搜索系统</a:t>
            </a:r>
            <a:endParaRPr sz="600">
              <a:latin typeface="微软雅黑"/>
              <a:cs typeface="微软雅黑"/>
            </a:endParaRPr>
          </a:p>
        </p:txBody>
      </p:sp>
      <p:sp>
        <p:nvSpPr>
          <p:cNvPr id="16" name="object 16"/>
          <p:cNvSpPr txBox="1"/>
          <p:nvPr/>
        </p:nvSpPr>
        <p:spPr>
          <a:xfrm>
            <a:off x="5050535" y="3220211"/>
            <a:ext cx="1711960" cy="309880"/>
          </a:xfrm>
          <a:prstGeom prst="rect">
            <a:avLst/>
          </a:prstGeom>
          <a:solidFill>
            <a:srgbClr val="FF7779"/>
          </a:solidFill>
        </p:spPr>
        <p:txBody>
          <a:bodyPr vert="horz" wrap="square" lIns="0" tIns="45085" rIns="0" bIns="0" rtlCol="0">
            <a:spAutoFit/>
          </a:bodyPr>
          <a:lstStyle/>
          <a:p>
            <a:pPr algn="ctr">
              <a:lnSpc>
                <a:spcPct val="100000"/>
              </a:lnSpc>
              <a:spcBef>
                <a:spcPts val="355"/>
              </a:spcBef>
            </a:pPr>
            <a:r>
              <a:rPr sz="600" b="1" dirty="0">
                <a:solidFill>
                  <a:srgbClr val="171717"/>
                </a:solidFill>
                <a:latin typeface="微软雅黑"/>
                <a:cs typeface="微软雅黑"/>
              </a:rPr>
              <a:t>旸谷社区</a:t>
            </a:r>
            <a:endParaRPr sz="600">
              <a:latin typeface="微软雅黑"/>
              <a:cs typeface="微软雅黑"/>
            </a:endParaRPr>
          </a:p>
          <a:p>
            <a:pPr algn="ctr">
              <a:lnSpc>
                <a:spcPct val="100000"/>
              </a:lnSpc>
              <a:spcBef>
                <a:spcPts val="360"/>
              </a:spcBef>
            </a:pPr>
            <a:r>
              <a:rPr sz="600" dirty="0">
                <a:solidFill>
                  <a:srgbClr val="171717"/>
                </a:solidFill>
                <a:latin typeface="微软雅黑"/>
                <a:cs typeface="微软雅黑"/>
              </a:rPr>
              <a:t>大模型创意与探索社区</a:t>
            </a:r>
            <a:endParaRPr sz="600">
              <a:latin typeface="微软雅黑"/>
              <a:cs typeface="微软雅黑"/>
            </a:endParaRPr>
          </a:p>
        </p:txBody>
      </p:sp>
      <p:sp>
        <p:nvSpPr>
          <p:cNvPr id="17" name="object 17"/>
          <p:cNvSpPr/>
          <p:nvPr/>
        </p:nvSpPr>
        <p:spPr>
          <a:xfrm>
            <a:off x="397763" y="3649979"/>
            <a:ext cx="6742430" cy="952500"/>
          </a:xfrm>
          <a:custGeom>
            <a:avLst/>
            <a:gdLst/>
            <a:ahLst/>
            <a:cxnLst/>
            <a:rect l="l" t="t" r="r" b="b"/>
            <a:pathLst>
              <a:path w="6742430" h="952500">
                <a:moveTo>
                  <a:pt x="6742176" y="0"/>
                </a:moveTo>
                <a:lnTo>
                  <a:pt x="0" y="0"/>
                </a:lnTo>
                <a:lnTo>
                  <a:pt x="0" y="952500"/>
                </a:lnTo>
                <a:lnTo>
                  <a:pt x="6742176" y="952500"/>
                </a:lnTo>
                <a:lnTo>
                  <a:pt x="6742176" y="0"/>
                </a:lnTo>
                <a:close/>
              </a:path>
            </a:pathLst>
          </a:custGeom>
          <a:solidFill>
            <a:srgbClr val="FFBABB"/>
          </a:solidFill>
        </p:spPr>
        <p:txBody>
          <a:bodyPr wrap="square" lIns="0" tIns="0" rIns="0" bIns="0" rtlCol="0"/>
          <a:lstStyle/>
          <a:p/>
        </p:txBody>
      </p:sp>
      <p:sp>
        <p:nvSpPr>
          <p:cNvPr id="18" name="object 18"/>
          <p:cNvSpPr txBox="1"/>
          <p:nvPr/>
        </p:nvSpPr>
        <p:spPr>
          <a:xfrm>
            <a:off x="471093" y="3842258"/>
            <a:ext cx="127635" cy="556895"/>
          </a:xfrm>
          <a:prstGeom prst="rect">
            <a:avLst/>
          </a:prstGeom>
        </p:spPr>
        <p:txBody>
          <a:bodyPr vert="horz" wrap="square" lIns="0" tIns="33020" rIns="0" bIns="0" rtlCol="0">
            <a:spAutoFit/>
          </a:bodyPr>
          <a:lstStyle/>
          <a:p>
            <a:pPr marL="12700" marR="5080" algn="just">
              <a:lnSpc>
                <a:spcPts val="800"/>
              </a:lnSpc>
              <a:spcBef>
                <a:spcPts val="260"/>
              </a:spcBef>
            </a:pPr>
            <a:r>
              <a:rPr sz="800" dirty="0">
                <a:solidFill>
                  <a:srgbClr val="171717"/>
                </a:solidFill>
                <a:latin typeface="微软雅黑"/>
                <a:cs typeface="微软雅黑"/>
              </a:rPr>
              <a:t>工 具 与 平 台</a:t>
            </a:r>
            <a:endParaRPr sz="800">
              <a:latin typeface="微软雅黑"/>
              <a:cs typeface="微软雅黑"/>
            </a:endParaRPr>
          </a:p>
        </p:txBody>
      </p:sp>
      <p:sp>
        <p:nvSpPr>
          <p:cNvPr id="19" name="object 19"/>
          <p:cNvSpPr txBox="1"/>
          <p:nvPr/>
        </p:nvSpPr>
        <p:spPr>
          <a:xfrm>
            <a:off x="923544" y="3698747"/>
            <a:ext cx="1727200" cy="304800"/>
          </a:xfrm>
          <a:prstGeom prst="rect">
            <a:avLst/>
          </a:prstGeom>
          <a:solidFill>
            <a:srgbClr val="FF7779"/>
          </a:solidFill>
        </p:spPr>
        <p:txBody>
          <a:bodyPr vert="horz" wrap="square" lIns="0" tIns="41275" rIns="0" bIns="0" rtlCol="0">
            <a:spAutoFit/>
          </a:bodyPr>
          <a:lstStyle/>
          <a:p>
            <a:pPr marL="13970" algn="ctr">
              <a:lnSpc>
                <a:spcPct val="100000"/>
              </a:lnSpc>
              <a:spcBef>
                <a:spcPts val="325"/>
              </a:spcBef>
            </a:pPr>
            <a:r>
              <a:rPr sz="600" b="1" spc="-5" dirty="0">
                <a:solidFill>
                  <a:srgbClr val="171717"/>
                </a:solidFill>
                <a:latin typeface="Arial" panose="020B0604020202090204"/>
                <a:cs typeface="Arial" panose="020B0604020202090204"/>
              </a:rPr>
              <a:t>EasyDL-</a:t>
            </a:r>
            <a:r>
              <a:rPr sz="600" b="1" dirty="0">
                <a:solidFill>
                  <a:srgbClr val="171717"/>
                </a:solidFill>
                <a:latin typeface="微软雅黑"/>
                <a:cs typeface="微软雅黑"/>
              </a:rPr>
              <a:t>大模型</a:t>
            </a:r>
            <a:endParaRPr sz="600">
              <a:latin typeface="微软雅黑"/>
              <a:cs typeface="微软雅黑"/>
            </a:endParaRPr>
          </a:p>
          <a:p>
            <a:pPr marL="15240" algn="ctr">
              <a:lnSpc>
                <a:spcPct val="100000"/>
              </a:lnSpc>
              <a:spcBef>
                <a:spcPts val="365"/>
              </a:spcBef>
            </a:pPr>
            <a:r>
              <a:rPr sz="600" dirty="0">
                <a:solidFill>
                  <a:srgbClr val="171717"/>
                </a:solidFill>
                <a:latin typeface="微软雅黑"/>
                <a:cs typeface="微软雅黑"/>
              </a:rPr>
              <a:t>零门槛</a:t>
            </a:r>
            <a:r>
              <a:rPr sz="600" spc="-5" dirty="0">
                <a:solidFill>
                  <a:srgbClr val="171717"/>
                </a:solidFill>
                <a:latin typeface="Arial" panose="020B0604020202090204"/>
                <a:cs typeface="Arial" panose="020B0604020202090204"/>
              </a:rPr>
              <a:t>AI</a:t>
            </a:r>
            <a:r>
              <a:rPr sz="600" dirty="0">
                <a:solidFill>
                  <a:srgbClr val="171717"/>
                </a:solidFill>
                <a:latin typeface="微软雅黑"/>
                <a:cs typeface="微软雅黑"/>
              </a:rPr>
              <a:t>开发平台</a:t>
            </a:r>
            <a:endParaRPr sz="600">
              <a:latin typeface="微软雅黑"/>
              <a:cs typeface="微软雅黑"/>
            </a:endParaRPr>
          </a:p>
        </p:txBody>
      </p:sp>
      <p:sp>
        <p:nvSpPr>
          <p:cNvPr id="20" name="object 20"/>
          <p:cNvSpPr txBox="1"/>
          <p:nvPr/>
        </p:nvSpPr>
        <p:spPr>
          <a:xfrm>
            <a:off x="3069335" y="3698747"/>
            <a:ext cx="1711960" cy="304800"/>
          </a:xfrm>
          <a:prstGeom prst="rect">
            <a:avLst/>
          </a:prstGeom>
          <a:solidFill>
            <a:srgbClr val="FF7779"/>
          </a:solidFill>
        </p:spPr>
        <p:txBody>
          <a:bodyPr vert="horz" wrap="square" lIns="0" tIns="46990" rIns="0" bIns="0" rtlCol="0">
            <a:spAutoFit/>
          </a:bodyPr>
          <a:lstStyle/>
          <a:p>
            <a:pPr algn="ctr">
              <a:lnSpc>
                <a:spcPct val="100000"/>
              </a:lnSpc>
              <a:spcBef>
                <a:spcPts val="370"/>
              </a:spcBef>
            </a:pPr>
            <a:r>
              <a:rPr sz="600" b="1" spc="-5" dirty="0">
                <a:solidFill>
                  <a:srgbClr val="171717"/>
                </a:solidFill>
                <a:latin typeface="Arial" panose="020B0604020202090204"/>
                <a:cs typeface="Arial" panose="020B0604020202090204"/>
              </a:rPr>
              <a:t>BML-</a:t>
            </a:r>
            <a:r>
              <a:rPr sz="600" b="1" dirty="0">
                <a:solidFill>
                  <a:srgbClr val="171717"/>
                </a:solidFill>
                <a:latin typeface="微软雅黑"/>
                <a:cs typeface="微软雅黑"/>
              </a:rPr>
              <a:t>大模型</a:t>
            </a:r>
            <a:endParaRPr sz="600">
              <a:latin typeface="微软雅黑"/>
              <a:cs typeface="微软雅黑"/>
            </a:endParaRPr>
          </a:p>
          <a:p>
            <a:pPr algn="ctr">
              <a:lnSpc>
                <a:spcPct val="100000"/>
              </a:lnSpc>
              <a:spcBef>
                <a:spcPts val="360"/>
              </a:spcBef>
            </a:pPr>
            <a:r>
              <a:rPr sz="600" dirty="0">
                <a:solidFill>
                  <a:srgbClr val="171717"/>
                </a:solidFill>
                <a:latin typeface="微软雅黑"/>
                <a:cs typeface="微软雅黑"/>
              </a:rPr>
              <a:t>全功能</a:t>
            </a:r>
            <a:r>
              <a:rPr sz="600" spc="-5" dirty="0">
                <a:solidFill>
                  <a:srgbClr val="171717"/>
                </a:solidFill>
                <a:latin typeface="Arial" panose="020B0604020202090204"/>
                <a:cs typeface="Arial" panose="020B0604020202090204"/>
              </a:rPr>
              <a:t>AI</a:t>
            </a:r>
            <a:r>
              <a:rPr sz="600" dirty="0">
                <a:solidFill>
                  <a:srgbClr val="171717"/>
                </a:solidFill>
                <a:latin typeface="微软雅黑"/>
                <a:cs typeface="微软雅黑"/>
              </a:rPr>
              <a:t>开发平台</a:t>
            </a:r>
            <a:endParaRPr sz="600">
              <a:latin typeface="微软雅黑"/>
              <a:cs typeface="微软雅黑"/>
            </a:endParaRPr>
          </a:p>
        </p:txBody>
      </p:sp>
      <p:sp>
        <p:nvSpPr>
          <p:cNvPr id="21" name="object 21"/>
          <p:cNvSpPr txBox="1"/>
          <p:nvPr/>
        </p:nvSpPr>
        <p:spPr>
          <a:xfrm>
            <a:off x="5215128" y="3698747"/>
            <a:ext cx="1697989" cy="304800"/>
          </a:xfrm>
          <a:prstGeom prst="rect">
            <a:avLst/>
          </a:prstGeom>
          <a:solidFill>
            <a:srgbClr val="FF7779"/>
          </a:solidFill>
        </p:spPr>
        <p:txBody>
          <a:bodyPr vert="horz" wrap="square" lIns="0" tIns="5715" rIns="0" bIns="0" rtlCol="0">
            <a:spAutoFit/>
          </a:bodyPr>
          <a:lstStyle/>
          <a:p>
            <a:pPr>
              <a:lnSpc>
                <a:spcPct val="100000"/>
              </a:lnSpc>
              <a:spcBef>
                <a:spcPts val="45"/>
              </a:spcBef>
            </a:pPr>
            <a:endParaRPr sz="750">
              <a:latin typeface="Times New Roman" panose="02020603050405020304"/>
              <a:cs typeface="Times New Roman" panose="02020603050405020304"/>
            </a:endParaRPr>
          </a:p>
          <a:p>
            <a:pPr marL="15875" algn="ctr">
              <a:lnSpc>
                <a:spcPct val="100000"/>
              </a:lnSpc>
            </a:pPr>
            <a:r>
              <a:rPr sz="600" b="1" dirty="0">
                <a:solidFill>
                  <a:srgbClr val="171717"/>
                </a:solidFill>
                <a:latin typeface="微软雅黑"/>
                <a:cs typeface="微软雅黑"/>
              </a:rPr>
              <a:t>大模型</a:t>
            </a:r>
            <a:r>
              <a:rPr sz="600" b="1" spc="-10" dirty="0">
                <a:solidFill>
                  <a:srgbClr val="171717"/>
                </a:solidFill>
                <a:latin typeface="Arial" panose="020B0604020202090204"/>
                <a:cs typeface="Arial" panose="020B0604020202090204"/>
              </a:rPr>
              <a:t>API</a:t>
            </a:r>
            <a:endParaRPr sz="600">
              <a:latin typeface="Arial" panose="020B0604020202090204"/>
              <a:cs typeface="Arial" panose="020B0604020202090204"/>
            </a:endParaRPr>
          </a:p>
        </p:txBody>
      </p:sp>
      <p:sp>
        <p:nvSpPr>
          <p:cNvPr id="22" name="object 22"/>
          <p:cNvSpPr/>
          <p:nvPr/>
        </p:nvSpPr>
        <p:spPr>
          <a:xfrm>
            <a:off x="397763" y="4738115"/>
            <a:ext cx="6742430" cy="1789430"/>
          </a:xfrm>
          <a:custGeom>
            <a:avLst/>
            <a:gdLst/>
            <a:ahLst/>
            <a:cxnLst/>
            <a:rect l="l" t="t" r="r" b="b"/>
            <a:pathLst>
              <a:path w="6742430" h="1789429">
                <a:moveTo>
                  <a:pt x="6742176" y="0"/>
                </a:moveTo>
                <a:lnTo>
                  <a:pt x="0" y="0"/>
                </a:lnTo>
                <a:lnTo>
                  <a:pt x="0" y="1789175"/>
                </a:lnTo>
                <a:lnTo>
                  <a:pt x="6742176" y="1789175"/>
                </a:lnTo>
                <a:lnTo>
                  <a:pt x="6742176" y="0"/>
                </a:lnTo>
                <a:close/>
              </a:path>
            </a:pathLst>
          </a:custGeom>
          <a:solidFill>
            <a:srgbClr val="FFBABB"/>
          </a:solidFill>
        </p:spPr>
        <p:txBody>
          <a:bodyPr wrap="square" lIns="0" tIns="0" rIns="0" bIns="0" rtlCol="0"/>
          <a:lstStyle/>
          <a:p/>
        </p:txBody>
      </p:sp>
      <p:sp>
        <p:nvSpPr>
          <p:cNvPr id="23" name="object 23"/>
          <p:cNvSpPr txBox="1"/>
          <p:nvPr/>
        </p:nvSpPr>
        <p:spPr>
          <a:xfrm>
            <a:off x="471779" y="5411978"/>
            <a:ext cx="101600" cy="421640"/>
          </a:xfrm>
          <a:prstGeom prst="rect">
            <a:avLst/>
          </a:prstGeom>
        </p:spPr>
        <p:txBody>
          <a:bodyPr vert="horz" wrap="square" lIns="0" tIns="27940" rIns="0" bIns="0" rtlCol="0">
            <a:spAutoFit/>
          </a:bodyPr>
          <a:lstStyle/>
          <a:p>
            <a:pPr marL="12700" marR="5080" algn="just">
              <a:lnSpc>
                <a:spcPts val="600"/>
              </a:lnSpc>
              <a:spcBef>
                <a:spcPts val="220"/>
              </a:spcBef>
            </a:pPr>
            <a:r>
              <a:rPr sz="600" dirty="0">
                <a:solidFill>
                  <a:srgbClr val="171717"/>
                </a:solidFill>
                <a:latin typeface="微软雅黑"/>
                <a:cs typeface="微软雅黑"/>
              </a:rPr>
              <a:t>文 心 大 模 型</a:t>
            </a:r>
            <a:endParaRPr sz="600">
              <a:latin typeface="微软雅黑"/>
              <a:cs typeface="微软雅黑"/>
            </a:endParaRPr>
          </a:p>
        </p:txBody>
      </p:sp>
      <p:sp>
        <p:nvSpPr>
          <p:cNvPr id="24" name="object 24"/>
          <p:cNvSpPr/>
          <p:nvPr/>
        </p:nvSpPr>
        <p:spPr>
          <a:xfrm>
            <a:off x="923544" y="4079747"/>
            <a:ext cx="5989320" cy="454659"/>
          </a:xfrm>
          <a:custGeom>
            <a:avLst/>
            <a:gdLst/>
            <a:ahLst/>
            <a:cxnLst/>
            <a:rect l="l" t="t" r="r" b="b"/>
            <a:pathLst>
              <a:path w="5989320" h="454660">
                <a:moveTo>
                  <a:pt x="5989320" y="0"/>
                </a:moveTo>
                <a:lnTo>
                  <a:pt x="0" y="0"/>
                </a:lnTo>
                <a:lnTo>
                  <a:pt x="0" y="454151"/>
                </a:lnTo>
                <a:lnTo>
                  <a:pt x="5989320" y="454151"/>
                </a:lnTo>
                <a:lnTo>
                  <a:pt x="5989320" y="0"/>
                </a:lnTo>
                <a:close/>
              </a:path>
            </a:pathLst>
          </a:custGeom>
          <a:solidFill>
            <a:srgbClr val="FF7779"/>
          </a:solidFill>
        </p:spPr>
        <p:txBody>
          <a:bodyPr wrap="square" lIns="0" tIns="0" rIns="0" bIns="0" rtlCol="0"/>
          <a:lstStyle/>
          <a:p/>
        </p:txBody>
      </p:sp>
      <p:sp>
        <p:nvSpPr>
          <p:cNvPr id="25" name="object 25"/>
          <p:cNvSpPr txBox="1"/>
          <p:nvPr/>
        </p:nvSpPr>
        <p:spPr>
          <a:xfrm>
            <a:off x="3714369" y="4096257"/>
            <a:ext cx="406400" cy="116839"/>
          </a:xfrm>
          <a:prstGeom prst="rect">
            <a:avLst/>
          </a:prstGeom>
        </p:spPr>
        <p:txBody>
          <a:bodyPr vert="horz" wrap="square" lIns="0" tIns="12700" rIns="0" bIns="0" rtlCol="0">
            <a:spAutoFit/>
          </a:bodyPr>
          <a:lstStyle/>
          <a:p>
            <a:pPr marL="12700">
              <a:lnSpc>
                <a:spcPct val="100000"/>
              </a:lnSpc>
              <a:spcBef>
                <a:spcPts val="100"/>
              </a:spcBef>
            </a:pPr>
            <a:r>
              <a:rPr sz="600" b="1" dirty="0">
                <a:solidFill>
                  <a:srgbClr val="171717"/>
                </a:solidFill>
                <a:latin typeface="微软雅黑"/>
                <a:cs typeface="微软雅黑"/>
              </a:rPr>
              <a:t>大模型套件</a:t>
            </a:r>
            <a:endParaRPr sz="600">
              <a:latin typeface="微软雅黑"/>
              <a:cs typeface="微软雅黑"/>
            </a:endParaRPr>
          </a:p>
        </p:txBody>
      </p:sp>
      <p:sp>
        <p:nvSpPr>
          <p:cNvPr id="26" name="object 26"/>
          <p:cNvSpPr txBox="1"/>
          <p:nvPr/>
        </p:nvSpPr>
        <p:spPr>
          <a:xfrm>
            <a:off x="1234439" y="4271771"/>
            <a:ext cx="802005" cy="227329"/>
          </a:xfrm>
          <a:prstGeom prst="rect">
            <a:avLst/>
          </a:prstGeom>
          <a:solidFill>
            <a:srgbClr val="AA0001"/>
          </a:solidFill>
        </p:spPr>
        <p:txBody>
          <a:bodyPr vert="horz" wrap="square" lIns="0" tIns="73025" rIns="0" bIns="0" rtlCol="0">
            <a:spAutoFit/>
          </a:bodyPr>
          <a:lstStyle/>
          <a:p>
            <a:pPr marL="133350">
              <a:lnSpc>
                <a:spcPct val="100000"/>
              </a:lnSpc>
              <a:spcBef>
                <a:spcPts val="575"/>
              </a:spcBef>
            </a:pPr>
            <a:r>
              <a:rPr sz="600" dirty="0">
                <a:solidFill>
                  <a:srgbClr val="FFFFFF"/>
                </a:solidFill>
                <a:latin typeface="微软雅黑"/>
                <a:cs typeface="微软雅黑"/>
              </a:rPr>
              <a:t>数据标注与处理</a:t>
            </a:r>
            <a:endParaRPr sz="600">
              <a:latin typeface="微软雅黑"/>
              <a:cs typeface="微软雅黑"/>
            </a:endParaRPr>
          </a:p>
        </p:txBody>
      </p:sp>
      <p:sp>
        <p:nvSpPr>
          <p:cNvPr id="27" name="object 27"/>
          <p:cNvSpPr txBox="1"/>
          <p:nvPr/>
        </p:nvSpPr>
        <p:spPr>
          <a:xfrm>
            <a:off x="2375916" y="4271771"/>
            <a:ext cx="802005" cy="227329"/>
          </a:xfrm>
          <a:prstGeom prst="rect">
            <a:avLst/>
          </a:prstGeom>
          <a:solidFill>
            <a:srgbClr val="AA0001"/>
          </a:solidFill>
        </p:spPr>
        <p:txBody>
          <a:bodyPr vert="horz" wrap="square" lIns="0" tIns="73025" rIns="0" bIns="0" rtlCol="0">
            <a:spAutoFit/>
          </a:bodyPr>
          <a:lstStyle/>
          <a:p>
            <a:pPr marL="208915">
              <a:lnSpc>
                <a:spcPct val="100000"/>
              </a:lnSpc>
              <a:spcBef>
                <a:spcPts val="575"/>
              </a:spcBef>
            </a:pPr>
            <a:r>
              <a:rPr sz="600" dirty="0">
                <a:solidFill>
                  <a:srgbClr val="FFFFFF"/>
                </a:solidFill>
                <a:latin typeface="微软雅黑"/>
                <a:cs typeface="微软雅黑"/>
              </a:rPr>
              <a:t>大模型精调</a:t>
            </a:r>
            <a:endParaRPr sz="600">
              <a:latin typeface="微软雅黑"/>
              <a:cs typeface="微软雅黑"/>
            </a:endParaRPr>
          </a:p>
        </p:txBody>
      </p:sp>
      <p:sp>
        <p:nvSpPr>
          <p:cNvPr id="28" name="object 28"/>
          <p:cNvSpPr txBox="1"/>
          <p:nvPr/>
        </p:nvSpPr>
        <p:spPr>
          <a:xfrm>
            <a:off x="3471671" y="4271771"/>
            <a:ext cx="800100" cy="227329"/>
          </a:xfrm>
          <a:prstGeom prst="rect">
            <a:avLst/>
          </a:prstGeom>
          <a:solidFill>
            <a:srgbClr val="AA0001"/>
          </a:solidFill>
        </p:spPr>
        <p:txBody>
          <a:bodyPr vert="horz" wrap="square" lIns="0" tIns="73025" rIns="0" bIns="0" rtlCol="0">
            <a:spAutoFit/>
          </a:bodyPr>
          <a:lstStyle/>
          <a:p>
            <a:pPr marL="208915">
              <a:lnSpc>
                <a:spcPct val="100000"/>
              </a:lnSpc>
              <a:spcBef>
                <a:spcPts val="575"/>
              </a:spcBef>
            </a:pPr>
            <a:r>
              <a:rPr sz="600" dirty="0">
                <a:solidFill>
                  <a:srgbClr val="FFFFFF"/>
                </a:solidFill>
                <a:latin typeface="微软雅黑"/>
                <a:cs typeface="微软雅黑"/>
              </a:rPr>
              <a:t>大模型压缩</a:t>
            </a:r>
            <a:endParaRPr sz="600">
              <a:latin typeface="微软雅黑"/>
              <a:cs typeface="微软雅黑"/>
            </a:endParaRPr>
          </a:p>
        </p:txBody>
      </p:sp>
      <p:sp>
        <p:nvSpPr>
          <p:cNvPr id="29" name="object 29"/>
          <p:cNvSpPr txBox="1"/>
          <p:nvPr/>
        </p:nvSpPr>
        <p:spPr>
          <a:xfrm>
            <a:off x="4521708" y="4259579"/>
            <a:ext cx="802005" cy="227329"/>
          </a:xfrm>
          <a:prstGeom prst="rect">
            <a:avLst/>
          </a:prstGeom>
          <a:solidFill>
            <a:srgbClr val="AA0001"/>
          </a:solidFill>
        </p:spPr>
        <p:txBody>
          <a:bodyPr vert="horz" wrap="square" lIns="0" tIns="73025" rIns="0" bIns="0" rtlCol="0">
            <a:spAutoFit/>
          </a:bodyPr>
          <a:lstStyle/>
          <a:p>
            <a:pPr marL="210185">
              <a:lnSpc>
                <a:spcPct val="100000"/>
              </a:lnSpc>
              <a:spcBef>
                <a:spcPts val="575"/>
              </a:spcBef>
            </a:pPr>
            <a:r>
              <a:rPr sz="600" dirty="0">
                <a:solidFill>
                  <a:srgbClr val="FFFFFF"/>
                </a:solidFill>
                <a:latin typeface="微软雅黑"/>
                <a:cs typeface="微软雅黑"/>
              </a:rPr>
              <a:t>高性能部署</a:t>
            </a:r>
            <a:endParaRPr sz="600">
              <a:latin typeface="微软雅黑"/>
              <a:cs typeface="微软雅黑"/>
            </a:endParaRPr>
          </a:p>
        </p:txBody>
      </p:sp>
      <p:sp>
        <p:nvSpPr>
          <p:cNvPr id="30" name="object 30"/>
          <p:cNvSpPr txBox="1"/>
          <p:nvPr/>
        </p:nvSpPr>
        <p:spPr>
          <a:xfrm>
            <a:off x="5509259" y="4259579"/>
            <a:ext cx="802005" cy="227329"/>
          </a:xfrm>
          <a:prstGeom prst="rect">
            <a:avLst/>
          </a:prstGeom>
          <a:solidFill>
            <a:srgbClr val="AA0001"/>
          </a:solidFill>
        </p:spPr>
        <p:txBody>
          <a:bodyPr vert="horz" wrap="square" lIns="0" tIns="73025" rIns="0" bIns="0" rtlCol="0">
            <a:spAutoFit/>
          </a:bodyPr>
          <a:lstStyle/>
          <a:p>
            <a:pPr marL="210185">
              <a:lnSpc>
                <a:spcPct val="100000"/>
              </a:lnSpc>
              <a:spcBef>
                <a:spcPts val="575"/>
              </a:spcBef>
            </a:pPr>
            <a:r>
              <a:rPr sz="600" dirty="0">
                <a:solidFill>
                  <a:srgbClr val="FFFFFF"/>
                </a:solidFill>
                <a:latin typeface="微软雅黑"/>
                <a:cs typeface="微软雅黑"/>
              </a:rPr>
              <a:t>场景化工具</a:t>
            </a:r>
            <a:endParaRPr sz="600">
              <a:latin typeface="微软雅黑"/>
              <a:cs typeface="微软雅黑"/>
            </a:endParaRPr>
          </a:p>
        </p:txBody>
      </p:sp>
      <p:sp>
        <p:nvSpPr>
          <p:cNvPr id="31" name="object 31"/>
          <p:cNvSpPr/>
          <p:nvPr/>
        </p:nvSpPr>
        <p:spPr>
          <a:xfrm>
            <a:off x="918972" y="4792979"/>
            <a:ext cx="5994400" cy="481965"/>
          </a:xfrm>
          <a:custGeom>
            <a:avLst/>
            <a:gdLst/>
            <a:ahLst/>
            <a:cxnLst/>
            <a:rect l="l" t="t" r="r" b="b"/>
            <a:pathLst>
              <a:path w="5994400" h="481964">
                <a:moveTo>
                  <a:pt x="5993891" y="0"/>
                </a:moveTo>
                <a:lnTo>
                  <a:pt x="0" y="0"/>
                </a:lnTo>
                <a:lnTo>
                  <a:pt x="0" y="481584"/>
                </a:lnTo>
                <a:lnTo>
                  <a:pt x="5993891" y="481584"/>
                </a:lnTo>
                <a:lnTo>
                  <a:pt x="5993891" y="0"/>
                </a:lnTo>
                <a:close/>
              </a:path>
            </a:pathLst>
          </a:custGeom>
          <a:solidFill>
            <a:srgbClr val="FF7779"/>
          </a:solidFill>
        </p:spPr>
        <p:txBody>
          <a:bodyPr wrap="square" lIns="0" tIns="0" rIns="0" bIns="0" rtlCol="0"/>
          <a:lstStyle/>
          <a:p/>
        </p:txBody>
      </p:sp>
      <p:sp>
        <p:nvSpPr>
          <p:cNvPr id="32" name="object 32"/>
          <p:cNvSpPr txBox="1"/>
          <p:nvPr/>
        </p:nvSpPr>
        <p:spPr>
          <a:xfrm>
            <a:off x="3712590" y="4809235"/>
            <a:ext cx="406400" cy="116839"/>
          </a:xfrm>
          <a:prstGeom prst="rect">
            <a:avLst/>
          </a:prstGeom>
        </p:spPr>
        <p:txBody>
          <a:bodyPr vert="horz" wrap="square" lIns="0" tIns="12700" rIns="0" bIns="0" rtlCol="0">
            <a:spAutoFit/>
          </a:bodyPr>
          <a:lstStyle/>
          <a:p>
            <a:pPr marL="12700">
              <a:lnSpc>
                <a:spcPct val="100000"/>
              </a:lnSpc>
              <a:spcBef>
                <a:spcPts val="100"/>
              </a:spcBef>
            </a:pPr>
            <a:r>
              <a:rPr sz="600" b="1" dirty="0">
                <a:solidFill>
                  <a:srgbClr val="171717"/>
                </a:solidFill>
                <a:latin typeface="微软雅黑"/>
                <a:cs typeface="微软雅黑"/>
              </a:rPr>
              <a:t>行业大模型</a:t>
            </a:r>
            <a:endParaRPr sz="600">
              <a:latin typeface="微软雅黑"/>
              <a:cs typeface="微软雅黑"/>
            </a:endParaRPr>
          </a:p>
        </p:txBody>
      </p:sp>
      <p:sp>
        <p:nvSpPr>
          <p:cNvPr id="33" name="object 33"/>
          <p:cNvSpPr txBox="1"/>
          <p:nvPr/>
        </p:nvSpPr>
        <p:spPr>
          <a:xfrm>
            <a:off x="969263" y="4931664"/>
            <a:ext cx="867410" cy="144780"/>
          </a:xfrm>
          <a:prstGeom prst="rect">
            <a:avLst/>
          </a:prstGeom>
          <a:solidFill>
            <a:srgbClr val="AA0001"/>
          </a:solidFill>
        </p:spPr>
        <p:txBody>
          <a:bodyPr vert="horz" wrap="square" lIns="0" tIns="33019" rIns="0" bIns="0" rtlCol="0">
            <a:spAutoFit/>
          </a:bodyPr>
          <a:lstStyle/>
          <a:p>
            <a:pPr marL="179070">
              <a:lnSpc>
                <a:spcPct val="100000"/>
              </a:lnSpc>
              <a:spcBef>
                <a:spcPts val="260"/>
              </a:spcBef>
            </a:pPr>
            <a:r>
              <a:rPr sz="600" dirty="0">
                <a:solidFill>
                  <a:srgbClr val="FFFFFF"/>
                </a:solidFill>
                <a:latin typeface="微软雅黑"/>
                <a:cs typeface="微软雅黑"/>
              </a:rPr>
              <a:t>国</a:t>
            </a:r>
            <a:r>
              <a:rPr sz="600" spc="-5" dirty="0">
                <a:solidFill>
                  <a:srgbClr val="FFFFFF"/>
                </a:solidFill>
                <a:latin typeface="微软雅黑"/>
                <a:cs typeface="微软雅黑"/>
              </a:rPr>
              <a:t>网</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百度</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文心</a:t>
            </a:r>
            <a:endParaRPr sz="600">
              <a:latin typeface="微软雅黑"/>
              <a:cs typeface="微软雅黑"/>
            </a:endParaRPr>
          </a:p>
        </p:txBody>
      </p:sp>
      <p:sp>
        <p:nvSpPr>
          <p:cNvPr id="34" name="object 34"/>
          <p:cNvSpPr txBox="1"/>
          <p:nvPr/>
        </p:nvSpPr>
        <p:spPr>
          <a:xfrm>
            <a:off x="1979676" y="4942332"/>
            <a:ext cx="866140" cy="144780"/>
          </a:xfrm>
          <a:prstGeom prst="rect">
            <a:avLst/>
          </a:prstGeom>
          <a:solidFill>
            <a:srgbClr val="AA0001"/>
          </a:solidFill>
        </p:spPr>
        <p:txBody>
          <a:bodyPr vert="horz" wrap="square" lIns="0" tIns="32384" rIns="0" bIns="0" rtlCol="0">
            <a:spAutoFit/>
          </a:bodyPr>
          <a:lstStyle/>
          <a:p>
            <a:pPr marL="178435">
              <a:lnSpc>
                <a:spcPct val="100000"/>
              </a:lnSpc>
              <a:spcBef>
                <a:spcPts val="255"/>
              </a:spcBef>
            </a:pPr>
            <a:r>
              <a:rPr sz="600" dirty="0">
                <a:solidFill>
                  <a:srgbClr val="FFFFFF"/>
                </a:solidFill>
                <a:latin typeface="微软雅黑"/>
                <a:cs typeface="微软雅黑"/>
              </a:rPr>
              <a:t>浦发</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百度</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文心</a:t>
            </a:r>
            <a:endParaRPr sz="600">
              <a:latin typeface="微软雅黑"/>
              <a:cs typeface="微软雅黑"/>
            </a:endParaRPr>
          </a:p>
        </p:txBody>
      </p:sp>
      <p:sp>
        <p:nvSpPr>
          <p:cNvPr id="35" name="object 35"/>
          <p:cNvSpPr txBox="1"/>
          <p:nvPr/>
        </p:nvSpPr>
        <p:spPr>
          <a:xfrm>
            <a:off x="3017520" y="4942332"/>
            <a:ext cx="867410" cy="144780"/>
          </a:xfrm>
          <a:prstGeom prst="rect">
            <a:avLst/>
          </a:prstGeom>
          <a:solidFill>
            <a:srgbClr val="AA0001"/>
          </a:solidFill>
        </p:spPr>
        <p:txBody>
          <a:bodyPr vert="horz" wrap="square" lIns="0" tIns="32384" rIns="0" bIns="0" rtlCol="0">
            <a:spAutoFit/>
          </a:bodyPr>
          <a:lstStyle/>
          <a:p>
            <a:pPr marL="179705">
              <a:lnSpc>
                <a:spcPct val="100000"/>
              </a:lnSpc>
              <a:spcBef>
                <a:spcPts val="255"/>
              </a:spcBef>
            </a:pPr>
            <a:r>
              <a:rPr sz="600" dirty="0">
                <a:solidFill>
                  <a:srgbClr val="FFFFFF"/>
                </a:solidFill>
                <a:latin typeface="微软雅黑"/>
                <a:cs typeface="微软雅黑"/>
              </a:rPr>
              <a:t>航天</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百度</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文心</a:t>
            </a:r>
            <a:endParaRPr sz="600">
              <a:latin typeface="微软雅黑"/>
              <a:cs typeface="微软雅黑"/>
            </a:endParaRPr>
          </a:p>
        </p:txBody>
      </p:sp>
      <p:sp>
        <p:nvSpPr>
          <p:cNvPr id="36" name="object 36"/>
          <p:cNvSpPr txBox="1"/>
          <p:nvPr/>
        </p:nvSpPr>
        <p:spPr>
          <a:xfrm>
            <a:off x="4009644" y="4943855"/>
            <a:ext cx="867410" cy="144780"/>
          </a:xfrm>
          <a:prstGeom prst="rect">
            <a:avLst/>
          </a:prstGeom>
          <a:solidFill>
            <a:srgbClr val="AA0001"/>
          </a:solidFill>
        </p:spPr>
        <p:txBody>
          <a:bodyPr vert="horz" wrap="square" lIns="0" tIns="32384" rIns="0" bIns="0" rtlCol="0">
            <a:spAutoFit/>
          </a:bodyPr>
          <a:lstStyle/>
          <a:p>
            <a:pPr marL="140970">
              <a:lnSpc>
                <a:spcPct val="100000"/>
              </a:lnSpc>
              <a:spcBef>
                <a:spcPts val="255"/>
              </a:spcBef>
            </a:pPr>
            <a:r>
              <a:rPr sz="600" dirty="0">
                <a:solidFill>
                  <a:srgbClr val="FFFFFF"/>
                </a:solidFill>
                <a:latin typeface="微软雅黑"/>
                <a:cs typeface="微软雅黑"/>
              </a:rPr>
              <a:t>人民网</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百度</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文心</a:t>
            </a:r>
            <a:endParaRPr sz="600">
              <a:latin typeface="微软雅黑"/>
              <a:cs typeface="微软雅黑"/>
            </a:endParaRPr>
          </a:p>
        </p:txBody>
      </p:sp>
      <p:sp>
        <p:nvSpPr>
          <p:cNvPr id="37" name="object 37"/>
          <p:cNvSpPr txBox="1"/>
          <p:nvPr/>
        </p:nvSpPr>
        <p:spPr>
          <a:xfrm>
            <a:off x="5001767" y="4942332"/>
            <a:ext cx="867410" cy="139065"/>
          </a:xfrm>
          <a:prstGeom prst="rect">
            <a:avLst/>
          </a:prstGeom>
          <a:solidFill>
            <a:srgbClr val="AA0001"/>
          </a:solidFill>
        </p:spPr>
        <p:txBody>
          <a:bodyPr vert="horz" wrap="square" lIns="0" tIns="26034" rIns="0" bIns="0" rtlCol="0">
            <a:spAutoFit/>
          </a:bodyPr>
          <a:lstStyle/>
          <a:p>
            <a:pPr marL="179070">
              <a:lnSpc>
                <a:spcPct val="100000"/>
              </a:lnSpc>
              <a:spcBef>
                <a:spcPts val="205"/>
              </a:spcBef>
            </a:pPr>
            <a:r>
              <a:rPr sz="600" dirty="0">
                <a:solidFill>
                  <a:srgbClr val="FFFFFF"/>
                </a:solidFill>
                <a:latin typeface="微软雅黑"/>
                <a:cs typeface="微软雅黑"/>
              </a:rPr>
              <a:t>冰城</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百度</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文心</a:t>
            </a:r>
            <a:endParaRPr sz="600">
              <a:latin typeface="微软雅黑"/>
              <a:cs typeface="微软雅黑"/>
            </a:endParaRPr>
          </a:p>
        </p:txBody>
      </p:sp>
      <p:sp>
        <p:nvSpPr>
          <p:cNvPr id="38" name="object 38"/>
          <p:cNvSpPr txBox="1"/>
          <p:nvPr/>
        </p:nvSpPr>
        <p:spPr>
          <a:xfrm>
            <a:off x="969263" y="5094732"/>
            <a:ext cx="867410" cy="143510"/>
          </a:xfrm>
          <a:prstGeom prst="rect">
            <a:avLst/>
          </a:prstGeom>
          <a:solidFill>
            <a:srgbClr val="AA0001"/>
          </a:solidFill>
        </p:spPr>
        <p:txBody>
          <a:bodyPr vert="horz" wrap="square" lIns="0" tIns="31750" rIns="0" bIns="0" rtlCol="0">
            <a:spAutoFit/>
          </a:bodyPr>
          <a:lstStyle/>
          <a:p>
            <a:pPr marL="179070">
              <a:lnSpc>
                <a:spcPct val="100000"/>
              </a:lnSpc>
              <a:spcBef>
                <a:spcPts val="250"/>
              </a:spcBef>
            </a:pPr>
            <a:r>
              <a:rPr sz="600" dirty="0">
                <a:solidFill>
                  <a:srgbClr val="FFFFFF"/>
                </a:solidFill>
                <a:latin typeface="微软雅黑"/>
                <a:cs typeface="微软雅黑"/>
              </a:rPr>
              <a:t>深</a:t>
            </a:r>
            <a:r>
              <a:rPr sz="600" spc="-5" dirty="0">
                <a:solidFill>
                  <a:srgbClr val="FFFFFF"/>
                </a:solidFill>
                <a:latin typeface="微软雅黑"/>
                <a:cs typeface="微软雅黑"/>
              </a:rPr>
              <a:t>燃</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百度</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文心</a:t>
            </a:r>
            <a:endParaRPr sz="600">
              <a:latin typeface="微软雅黑"/>
              <a:cs typeface="微软雅黑"/>
            </a:endParaRPr>
          </a:p>
        </p:txBody>
      </p:sp>
      <p:sp>
        <p:nvSpPr>
          <p:cNvPr id="39" name="object 39"/>
          <p:cNvSpPr txBox="1"/>
          <p:nvPr/>
        </p:nvSpPr>
        <p:spPr>
          <a:xfrm>
            <a:off x="1979676" y="5105400"/>
            <a:ext cx="866140" cy="143510"/>
          </a:xfrm>
          <a:prstGeom prst="rect">
            <a:avLst/>
          </a:prstGeom>
          <a:solidFill>
            <a:srgbClr val="AA0001"/>
          </a:solidFill>
        </p:spPr>
        <p:txBody>
          <a:bodyPr vert="horz" wrap="square" lIns="0" tIns="31115" rIns="0" bIns="0" rtlCol="0">
            <a:spAutoFit/>
          </a:bodyPr>
          <a:lstStyle/>
          <a:p>
            <a:pPr marL="178435">
              <a:lnSpc>
                <a:spcPct val="100000"/>
              </a:lnSpc>
              <a:spcBef>
                <a:spcPts val="245"/>
              </a:spcBef>
            </a:pPr>
            <a:r>
              <a:rPr sz="600" dirty="0">
                <a:solidFill>
                  <a:srgbClr val="FFFFFF"/>
                </a:solidFill>
                <a:latin typeface="微软雅黑"/>
                <a:cs typeface="微软雅黑"/>
              </a:rPr>
              <a:t>吉利</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百度</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文心</a:t>
            </a:r>
            <a:endParaRPr sz="600">
              <a:latin typeface="微软雅黑"/>
              <a:cs typeface="微软雅黑"/>
            </a:endParaRPr>
          </a:p>
        </p:txBody>
      </p:sp>
      <p:sp>
        <p:nvSpPr>
          <p:cNvPr id="40" name="object 40"/>
          <p:cNvSpPr txBox="1"/>
          <p:nvPr/>
        </p:nvSpPr>
        <p:spPr>
          <a:xfrm>
            <a:off x="3017520" y="5105400"/>
            <a:ext cx="867410" cy="143510"/>
          </a:xfrm>
          <a:prstGeom prst="rect">
            <a:avLst/>
          </a:prstGeom>
          <a:solidFill>
            <a:srgbClr val="AA0001"/>
          </a:solidFill>
        </p:spPr>
        <p:txBody>
          <a:bodyPr vert="horz" wrap="square" lIns="0" tIns="31115" rIns="0" bIns="0" rtlCol="0">
            <a:spAutoFit/>
          </a:bodyPr>
          <a:lstStyle/>
          <a:p>
            <a:pPr marL="179705">
              <a:lnSpc>
                <a:spcPct val="100000"/>
              </a:lnSpc>
              <a:spcBef>
                <a:spcPts val="245"/>
              </a:spcBef>
            </a:pPr>
            <a:r>
              <a:rPr sz="600" dirty="0">
                <a:solidFill>
                  <a:srgbClr val="FFFFFF"/>
                </a:solidFill>
                <a:latin typeface="微软雅黑"/>
                <a:cs typeface="微软雅黑"/>
              </a:rPr>
              <a:t>泰康</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百度</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文心</a:t>
            </a:r>
            <a:endParaRPr sz="600">
              <a:latin typeface="微软雅黑"/>
              <a:cs typeface="微软雅黑"/>
            </a:endParaRPr>
          </a:p>
        </p:txBody>
      </p:sp>
      <p:sp>
        <p:nvSpPr>
          <p:cNvPr id="41" name="object 41"/>
          <p:cNvSpPr txBox="1"/>
          <p:nvPr/>
        </p:nvSpPr>
        <p:spPr>
          <a:xfrm>
            <a:off x="4009644" y="5105400"/>
            <a:ext cx="867410" cy="144780"/>
          </a:xfrm>
          <a:prstGeom prst="rect">
            <a:avLst/>
          </a:prstGeom>
          <a:solidFill>
            <a:srgbClr val="AA0001"/>
          </a:solidFill>
        </p:spPr>
        <p:txBody>
          <a:bodyPr vert="horz" wrap="square" lIns="0" tIns="32384" rIns="0" bIns="0" rtlCol="0">
            <a:spAutoFit/>
          </a:bodyPr>
          <a:lstStyle/>
          <a:p>
            <a:pPr marL="182245">
              <a:lnSpc>
                <a:spcPct val="100000"/>
              </a:lnSpc>
              <a:spcBef>
                <a:spcPts val="255"/>
              </a:spcBef>
            </a:pPr>
            <a:r>
              <a:rPr sz="600" dirty="0">
                <a:solidFill>
                  <a:srgbClr val="FFFFFF"/>
                </a:solidFill>
                <a:latin typeface="Arial" panose="020B0604020202090204"/>
                <a:cs typeface="Arial" panose="020B0604020202090204"/>
              </a:rPr>
              <a:t>TCL-</a:t>
            </a:r>
            <a:r>
              <a:rPr sz="600" dirty="0">
                <a:solidFill>
                  <a:srgbClr val="FFFFFF"/>
                </a:solidFill>
                <a:latin typeface="微软雅黑"/>
                <a:cs typeface="微软雅黑"/>
              </a:rPr>
              <a:t>百度</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文心</a:t>
            </a:r>
            <a:endParaRPr sz="600">
              <a:latin typeface="微软雅黑"/>
              <a:cs typeface="微软雅黑"/>
            </a:endParaRPr>
          </a:p>
        </p:txBody>
      </p:sp>
      <p:sp>
        <p:nvSpPr>
          <p:cNvPr id="42" name="object 42"/>
          <p:cNvSpPr txBox="1"/>
          <p:nvPr/>
        </p:nvSpPr>
        <p:spPr>
          <a:xfrm>
            <a:off x="5001767" y="5097779"/>
            <a:ext cx="867410" cy="144780"/>
          </a:xfrm>
          <a:prstGeom prst="rect">
            <a:avLst/>
          </a:prstGeom>
          <a:solidFill>
            <a:srgbClr val="AA0001"/>
          </a:solidFill>
        </p:spPr>
        <p:txBody>
          <a:bodyPr vert="horz" wrap="square" lIns="0" tIns="33019" rIns="0" bIns="0" rtlCol="0">
            <a:spAutoFit/>
          </a:bodyPr>
          <a:lstStyle/>
          <a:p>
            <a:pPr marL="179070">
              <a:lnSpc>
                <a:spcPct val="100000"/>
              </a:lnSpc>
              <a:spcBef>
                <a:spcPts val="260"/>
              </a:spcBef>
            </a:pPr>
            <a:r>
              <a:rPr sz="600" dirty="0">
                <a:solidFill>
                  <a:srgbClr val="FFFFFF"/>
                </a:solidFill>
                <a:latin typeface="微软雅黑"/>
                <a:cs typeface="微软雅黑"/>
              </a:rPr>
              <a:t>辞海</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百度</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文心</a:t>
            </a:r>
            <a:endParaRPr sz="600">
              <a:latin typeface="微软雅黑"/>
              <a:cs typeface="微软雅黑"/>
            </a:endParaRPr>
          </a:p>
        </p:txBody>
      </p:sp>
      <p:sp>
        <p:nvSpPr>
          <p:cNvPr id="43" name="object 43"/>
          <p:cNvSpPr txBox="1"/>
          <p:nvPr/>
        </p:nvSpPr>
        <p:spPr>
          <a:xfrm>
            <a:off x="5896355" y="4942332"/>
            <a:ext cx="866140" cy="139065"/>
          </a:xfrm>
          <a:prstGeom prst="rect">
            <a:avLst/>
          </a:prstGeom>
          <a:solidFill>
            <a:srgbClr val="AA0001"/>
          </a:solidFill>
        </p:spPr>
        <p:txBody>
          <a:bodyPr vert="horz" wrap="square" lIns="0" tIns="31750" rIns="0" bIns="0" rtlCol="0">
            <a:spAutoFit/>
          </a:bodyPr>
          <a:lstStyle/>
          <a:p>
            <a:pPr marL="102870">
              <a:lnSpc>
                <a:spcPct val="100000"/>
              </a:lnSpc>
              <a:spcBef>
                <a:spcPts val="250"/>
              </a:spcBef>
            </a:pPr>
            <a:r>
              <a:rPr sz="600" dirty="0">
                <a:solidFill>
                  <a:srgbClr val="FFFFFF"/>
                </a:solidFill>
                <a:latin typeface="微软雅黑"/>
                <a:cs typeface="微软雅黑"/>
              </a:rPr>
              <a:t>电影频道</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百度</a:t>
            </a:r>
            <a:r>
              <a:rPr sz="600" dirty="0">
                <a:solidFill>
                  <a:srgbClr val="FFFFFF"/>
                </a:solidFill>
                <a:latin typeface="Arial" panose="020B0604020202090204"/>
                <a:cs typeface="Arial" panose="020B0604020202090204"/>
              </a:rPr>
              <a:t>·</a:t>
            </a:r>
            <a:r>
              <a:rPr sz="600" dirty="0">
                <a:solidFill>
                  <a:srgbClr val="FFFFFF"/>
                </a:solidFill>
                <a:latin typeface="微软雅黑"/>
                <a:cs typeface="微软雅黑"/>
              </a:rPr>
              <a:t>文心</a:t>
            </a:r>
            <a:endParaRPr sz="600">
              <a:latin typeface="微软雅黑"/>
              <a:cs typeface="微软雅黑"/>
            </a:endParaRPr>
          </a:p>
        </p:txBody>
      </p:sp>
      <p:sp>
        <p:nvSpPr>
          <p:cNvPr id="44" name="object 44"/>
          <p:cNvSpPr/>
          <p:nvPr/>
        </p:nvSpPr>
        <p:spPr>
          <a:xfrm>
            <a:off x="918972" y="5352288"/>
            <a:ext cx="2197735" cy="1135380"/>
          </a:xfrm>
          <a:custGeom>
            <a:avLst/>
            <a:gdLst/>
            <a:ahLst/>
            <a:cxnLst/>
            <a:rect l="l" t="t" r="r" b="b"/>
            <a:pathLst>
              <a:path w="2197735" h="1135379">
                <a:moveTo>
                  <a:pt x="2197607" y="0"/>
                </a:moveTo>
                <a:lnTo>
                  <a:pt x="0" y="0"/>
                </a:lnTo>
                <a:lnTo>
                  <a:pt x="0" y="1135380"/>
                </a:lnTo>
                <a:lnTo>
                  <a:pt x="2197607" y="1135380"/>
                </a:lnTo>
                <a:lnTo>
                  <a:pt x="2197607" y="0"/>
                </a:lnTo>
                <a:close/>
              </a:path>
            </a:pathLst>
          </a:custGeom>
          <a:solidFill>
            <a:srgbClr val="FF7779"/>
          </a:solidFill>
        </p:spPr>
        <p:txBody>
          <a:bodyPr wrap="square" lIns="0" tIns="0" rIns="0" bIns="0" rtlCol="0"/>
          <a:lstStyle/>
          <a:p/>
        </p:txBody>
      </p:sp>
      <p:sp>
        <p:nvSpPr>
          <p:cNvPr id="45" name="object 45"/>
          <p:cNvSpPr txBox="1"/>
          <p:nvPr/>
        </p:nvSpPr>
        <p:spPr>
          <a:xfrm>
            <a:off x="1814576" y="5368290"/>
            <a:ext cx="406400" cy="116839"/>
          </a:xfrm>
          <a:prstGeom prst="rect">
            <a:avLst/>
          </a:prstGeom>
        </p:spPr>
        <p:txBody>
          <a:bodyPr vert="horz" wrap="square" lIns="0" tIns="12700" rIns="0" bIns="0" rtlCol="0">
            <a:spAutoFit/>
          </a:bodyPr>
          <a:lstStyle/>
          <a:p>
            <a:pPr marL="12700">
              <a:lnSpc>
                <a:spcPct val="100000"/>
              </a:lnSpc>
              <a:spcBef>
                <a:spcPts val="100"/>
              </a:spcBef>
            </a:pPr>
            <a:r>
              <a:rPr sz="600" b="1" dirty="0">
                <a:solidFill>
                  <a:srgbClr val="171717"/>
                </a:solidFill>
                <a:latin typeface="微软雅黑"/>
                <a:cs typeface="微软雅黑"/>
              </a:rPr>
              <a:t>行业大模型</a:t>
            </a:r>
            <a:endParaRPr sz="600">
              <a:latin typeface="微软雅黑"/>
              <a:cs typeface="微软雅黑"/>
            </a:endParaRPr>
          </a:p>
        </p:txBody>
      </p:sp>
      <p:sp>
        <p:nvSpPr>
          <p:cNvPr id="46" name="object 46"/>
          <p:cNvSpPr txBox="1"/>
          <p:nvPr/>
        </p:nvSpPr>
        <p:spPr>
          <a:xfrm>
            <a:off x="969263" y="5490971"/>
            <a:ext cx="867410" cy="144780"/>
          </a:xfrm>
          <a:prstGeom prst="rect">
            <a:avLst/>
          </a:prstGeom>
          <a:solidFill>
            <a:srgbClr val="AA0001"/>
          </a:solidFill>
        </p:spPr>
        <p:txBody>
          <a:bodyPr vert="horz" wrap="square" lIns="0" tIns="45720" rIns="0" bIns="0" rtlCol="0">
            <a:spAutoFit/>
          </a:bodyPr>
          <a:lstStyle/>
          <a:p>
            <a:pPr marL="220345">
              <a:lnSpc>
                <a:spcPct val="100000"/>
              </a:lnSpc>
              <a:spcBef>
                <a:spcPts val="360"/>
              </a:spcBef>
            </a:pPr>
            <a:r>
              <a:rPr sz="400" spc="-5" dirty="0">
                <a:solidFill>
                  <a:srgbClr val="FFFFFF"/>
                </a:solidFill>
                <a:latin typeface="微软雅黑"/>
                <a:cs typeface="微软雅黑"/>
              </a:rPr>
              <a:t>医疗 </a:t>
            </a:r>
            <a:r>
              <a:rPr sz="400" spc="-10" dirty="0">
                <a:solidFill>
                  <a:srgbClr val="FFFFFF"/>
                </a:solidFill>
                <a:latin typeface="Arial" panose="020B0604020202090204"/>
                <a:cs typeface="Arial" panose="020B0604020202090204"/>
              </a:rPr>
              <a:t>ERNIE-Health</a:t>
            </a:r>
            <a:endParaRPr sz="400">
              <a:latin typeface="Arial" panose="020B0604020202090204"/>
              <a:cs typeface="Arial" panose="020B0604020202090204"/>
            </a:endParaRPr>
          </a:p>
        </p:txBody>
      </p:sp>
      <p:sp>
        <p:nvSpPr>
          <p:cNvPr id="47" name="object 47"/>
          <p:cNvSpPr/>
          <p:nvPr/>
        </p:nvSpPr>
        <p:spPr>
          <a:xfrm>
            <a:off x="3191255" y="5347715"/>
            <a:ext cx="1565275" cy="1135380"/>
          </a:xfrm>
          <a:custGeom>
            <a:avLst/>
            <a:gdLst/>
            <a:ahLst/>
            <a:cxnLst/>
            <a:rect l="l" t="t" r="r" b="b"/>
            <a:pathLst>
              <a:path w="1565275" h="1135379">
                <a:moveTo>
                  <a:pt x="1565147" y="0"/>
                </a:moveTo>
                <a:lnTo>
                  <a:pt x="0" y="0"/>
                </a:lnTo>
                <a:lnTo>
                  <a:pt x="0" y="1135380"/>
                </a:lnTo>
                <a:lnTo>
                  <a:pt x="1565147" y="1135380"/>
                </a:lnTo>
                <a:lnTo>
                  <a:pt x="1565147" y="0"/>
                </a:lnTo>
                <a:close/>
              </a:path>
            </a:pathLst>
          </a:custGeom>
          <a:solidFill>
            <a:srgbClr val="FF7779"/>
          </a:solidFill>
        </p:spPr>
        <p:txBody>
          <a:bodyPr wrap="square" lIns="0" tIns="0" rIns="0" bIns="0" rtlCol="0"/>
          <a:lstStyle/>
          <a:p/>
        </p:txBody>
      </p:sp>
      <p:sp>
        <p:nvSpPr>
          <p:cNvPr id="48" name="object 48"/>
          <p:cNvSpPr txBox="1"/>
          <p:nvPr/>
        </p:nvSpPr>
        <p:spPr>
          <a:xfrm>
            <a:off x="3771138" y="5364226"/>
            <a:ext cx="406400" cy="116839"/>
          </a:xfrm>
          <a:prstGeom prst="rect">
            <a:avLst/>
          </a:prstGeom>
        </p:spPr>
        <p:txBody>
          <a:bodyPr vert="horz" wrap="square" lIns="0" tIns="12700" rIns="0" bIns="0" rtlCol="0">
            <a:spAutoFit/>
          </a:bodyPr>
          <a:lstStyle/>
          <a:p>
            <a:pPr marL="12700">
              <a:lnSpc>
                <a:spcPct val="100000"/>
              </a:lnSpc>
              <a:spcBef>
                <a:spcPts val="100"/>
              </a:spcBef>
            </a:pPr>
            <a:r>
              <a:rPr sz="600" b="1" dirty="0">
                <a:solidFill>
                  <a:srgbClr val="171717"/>
                </a:solidFill>
                <a:latin typeface="微软雅黑"/>
                <a:cs typeface="微软雅黑"/>
              </a:rPr>
              <a:t>行业大模型</a:t>
            </a:r>
            <a:endParaRPr sz="600">
              <a:latin typeface="微软雅黑"/>
              <a:cs typeface="微软雅黑"/>
            </a:endParaRPr>
          </a:p>
        </p:txBody>
      </p:sp>
      <p:sp>
        <p:nvSpPr>
          <p:cNvPr id="49" name="object 49"/>
          <p:cNvSpPr/>
          <p:nvPr/>
        </p:nvSpPr>
        <p:spPr>
          <a:xfrm>
            <a:off x="4831079" y="5349240"/>
            <a:ext cx="1172210" cy="1135380"/>
          </a:xfrm>
          <a:custGeom>
            <a:avLst/>
            <a:gdLst/>
            <a:ahLst/>
            <a:cxnLst/>
            <a:rect l="l" t="t" r="r" b="b"/>
            <a:pathLst>
              <a:path w="1172210" h="1135379">
                <a:moveTo>
                  <a:pt x="1171955" y="0"/>
                </a:moveTo>
                <a:lnTo>
                  <a:pt x="0" y="0"/>
                </a:lnTo>
                <a:lnTo>
                  <a:pt x="0" y="1135380"/>
                </a:lnTo>
                <a:lnTo>
                  <a:pt x="1171955" y="1135380"/>
                </a:lnTo>
                <a:lnTo>
                  <a:pt x="1171955" y="0"/>
                </a:lnTo>
                <a:close/>
              </a:path>
            </a:pathLst>
          </a:custGeom>
          <a:solidFill>
            <a:srgbClr val="FF7779"/>
          </a:solidFill>
        </p:spPr>
        <p:txBody>
          <a:bodyPr wrap="square" lIns="0" tIns="0" rIns="0" bIns="0" rtlCol="0"/>
          <a:lstStyle/>
          <a:p/>
        </p:txBody>
      </p:sp>
      <p:sp>
        <p:nvSpPr>
          <p:cNvPr id="50" name="object 50"/>
          <p:cNvSpPr txBox="1"/>
          <p:nvPr/>
        </p:nvSpPr>
        <p:spPr>
          <a:xfrm>
            <a:off x="5214873" y="5364860"/>
            <a:ext cx="406400" cy="116839"/>
          </a:xfrm>
          <a:prstGeom prst="rect">
            <a:avLst/>
          </a:prstGeom>
        </p:spPr>
        <p:txBody>
          <a:bodyPr vert="horz" wrap="square" lIns="0" tIns="12700" rIns="0" bIns="0" rtlCol="0">
            <a:spAutoFit/>
          </a:bodyPr>
          <a:lstStyle/>
          <a:p>
            <a:pPr marL="12700">
              <a:lnSpc>
                <a:spcPct val="100000"/>
              </a:lnSpc>
              <a:spcBef>
                <a:spcPts val="100"/>
              </a:spcBef>
            </a:pPr>
            <a:r>
              <a:rPr sz="600" b="1" dirty="0">
                <a:solidFill>
                  <a:srgbClr val="171717"/>
                </a:solidFill>
                <a:latin typeface="微软雅黑"/>
                <a:cs typeface="微软雅黑"/>
              </a:rPr>
              <a:t>行业大模型</a:t>
            </a:r>
            <a:endParaRPr sz="600">
              <a:latin typeface="微软雅黑"/>
              <a:cs typeface="微软雅黑"/>
            </a:endParaRPr>
          </a:p>
        </p:txBody>
      </p:sp>
      <p:sp>
        <p:nvSpPr>
          <p:cNvPr id="51" name="object 51"/>
          <p:cNvSpPr txBox="1"/>
          <p:nvPr/>
        </p:nvSpPr>
        <p:spPr>
          <a:xfrm>
            <a:off x="1990344" y="5494020"/>
            <a:ext cx="943610" cy="142240"/>
          </a:xfrm>
          <a:prstGeom prst="rect">
            <a:avLst/>
          </a:prstGeom>
          <a:solidFill>
            <a:srgbClr val="AA0001"/>
          </a:solidFill>
        </p:spPr>
        <p:txBody>
          <a:bodyPr vert="horz" wrap="square" lIns="0" tIns="43815" rIns="0" bIns="0" rtlCol="0">
            <a:spAutoFit/>
          </a:bodyPr>
          <a:lstStyle/>
          <a:p>
            <a:pPr marL="240665">
              <a:lnSpc>
                <a:spcPct val="100000"/>
              </a:lnSpc>
              <a:spcBef>
                <a:spcPts val="345"/>
              </a:spcBef>
            </a:pPr>
            <a:r>
              <a:rPr sz="400" spc="-5" dirty="0">
                <a:solidFill>
                  <a:srgbClr val="FFFFFF"/>
                </a:solidFill>
                <a:latin typeface="微软雅黑"/>
                <a:cs typeface="微软雅黑"/>
              </a:rPr>
              <a:t>金融</a:t>
            </a:r>
            <a:r>
              <a:rPr sz="400" spc="-10" dirty="0">
                <a:solidFill>
                  <a:srgbClr val="FFFFFF"/>
                </a:solidFill>
                <a:latin typeface="微软雅黑"/>
                <a:cs typeface="微软雅黑"/>
              </a:rPr>
              <a:t> </a:t>
            </a:r>
            <a:r>
              <a:rPr sz="400" spc="-5" dirty="0">
                <a:solidFill>
                  <a:srgbClr val="FFFFFF"/>
                </a:solidFill>
                <a:latin typeface="Arial" panose="020B0604020202090204"/>
                <a:cs typeface="Arial" panose="020B0604020202090204"/>
              </a:rPr>
              <a:t>ERNIE-Finance</a:t>
            </a:r>
            <a:endParaRPr sz="400">
              <a:latin typeface="Arial" panose="020B0604020202090204"/>
              <a:cs typeface="Arial" panose="020B0604020202090204"/>
            </a:endParaRPr>
          </a:p>
        </p:txBody>
      </p:sp>
      <p:sp>
        <p:nvSpPr>
          <p:cNvPr id="52" name="object 52"/>
          <p:cNvSpPr txBox="1"/>
          <p:nvPr/>
        </p:nvSpPr>
        <p:spPr>
          <a:xfrm>
            <a:off x="969263" y="5725667"/>
            <a:ext cx="675640" cy="143510"/>
          </a:xfrm>
          <a:prstGeom prst="rect">
            <a:avLst/>
          </a:prstGeom>
          <a:solidFill>
            <a:srgbClr val="AA0001"/>
          </a:solidFill>
        </p:spPr>
        <p:txBody>
          <a:bodyPr vert="horz" wrap="square" lIns="0" tIns="43815" rIns="0" bIns="0" rtlCol="0">
            <a:spAutoFit/>
          </a:bodyPr>
          <a:lstStyle/>
          <a:p>
            <a:pPr marL="204470">
              <a:lnSpc>
                <a:spcPct val="100000"/>
              </a:lnSpc>
              <a:spcBef>
                <a:spcPts val="345"/>
              </a:spcBef>
            </a:pPr>
            <a:r>
              <a:rPr sz="400" spc="-5" dirty="0">
                <a:solidFill>
                  <a:srgbClr val="FFFFFF"/>
                </a:solidFill>
                <a:latin typeface="微软雅黑"/>
                <a:cs typeface="微软雅黑"/>
              </a:rPr>
              <a:t>对话</a:t>
            </a:r>
            <a:r>
              <a:rPr sz="400" spc="-5" dirty="0">
                <a:solidFill>
                  <a:srgbClr val="FFFFFF"/>
                </a:solidFill>
                <a:latin typeface="Arial" panose="020B0604020202090204"/>
                <a:cs typeface="Arial" panose="020B0604020202090204"/>
              </a:rPr>
              <a:t>PLATO</a:t>
            </a:r>
            <a:endParaRPr sz="400">
              <a:latin typeface="Arial" panose="020B0604020202090204"/>
              <a:cs typeface="Arial" panose="020B0604020202090204"/>
            </a:endParaRPr>
          </a:p>
        </p:txBody>
      </p:sp>
      <p:sp>
        <p:nvSpPr>
          <p:cNvPr id="53" name="object 53"/>
          <p:cNvSpPr txBox="1"/>
          <p:nvPr/>
        </p:nvSpPr>
        <p:spPr>
          <a:xfrm>
            <a:off x="1726692" y="5725667"/>
            <a:ext cx="643255" cy="143510"/>
          </a:xfrm>
          <a:prstGeom prst="rect">
            <a:avLst/>
          </a:prstGeom>
          <a:solidFill>
            <a:srgbClr val="FF7779"/>
          </a:solidFill>
        </p:spPr>
        <p:txBody>
          <a:bodyPr vert="horz" wrap="square" lIns="0" tIns="45720" rIns="0" bIns="0" rtlCol="0">
            <a:spAutoFit/>
          </a:bodyPr>
          <a:lstStyle/>
          <a:p>
            <a:pPr marL="106680">
              <a:lnSpc>
                <a:spcPct val="100000"/>
              </a:lnSpc>
              <a:spcBef>
                <a:spcPts val="360"/>
              </a:spcBef>
            </a:pPr>
            <a:r>
              <a:rPr sz="400" spc="-5" dirty="0">
                <a:solidFill>
                  <a:srgbClr val="FFFFFF"/>
                </a:solidFill>
                <a:latin typeface="微软雅黑"/>
                <a:cs typeface="微软雅黑"/>
              </a:rPr>
              <a:t>搜索</a:t>
            </a:r>
            <a:r>
              <a:rPr sz="400" spc="-10" dirty="0">
                <a:solidFill>
                  <a:srgbClr val="FFFFFF"/>
                </a:solidFill>
                <a:latin typeface="微软雅黑"/>
                <a:cs typeface="微软雅黑"/>
              </a:rPr>
              <a:t> </a:t>
            </a:r>
            <a:r>
              <a:rPr sz="400" spc="-10" dirty="0">
                <a:solidFill>
                  <a:srgbClr val="FFFFFF"/>
                </a:solidFill>
                <a:latin typeface="Arial" panose="020B0604020202090204"/>
                <a:cs typeface="Arial" panose="020B0604020202090204"/>
              </a:rPr>
              <a:t>ERNIE-Search</a:t>
            </a:r>
            <a:endParaRPr sz="400">
              <a:latin typeface="Arial" panose="020B0604020202090204"/>
              <a:cs typeface="Arial" panose="020B0604020202090204"/>
            </a:endParaRPr>
          </a:p>
        </p:txBody>
      </p:sp>
      <p:sp>
        <p:nvSpPr>
          <p:cNvPr id="54" name="object 54"/>
          <p:cNvSpPr txBox="1"/>
          <p:nvPr/>
        </p:nvSpPr>
        <p:spPr>
          <a:xfrm>
            <a:off x="2400300" y="5725667"/>
            <a:ext cx="669290" cy="143510"/>
          </a:xfrm>
          <a:prstGeom prst="rect">
            <a:avLst/>
          </a:prstGeom>
          <a:solidFill>
            <a:srgbClr val="AA0001"/>
          </a:solidFill>
        </p:spPr>
        <p:txBody>
          <a:bodyPr vert="horz" wrap="square" lIns="0" tIns="45720" rIns="0" bIns="0" rtlCol="0">
            <a:spAutoFit/>
          </a:bodyPr>
          <a:lstStyle/>
          <a:p>
            <a:pPr marL="98425">
              <a:lnSpc>
                <a:spcPct val="100000"/>
              </a:lnSpc>
              <a:spcBef>
                <a:spcPts val="360"/>
              </a:spcBef>
            </a:pPr>
            <a:r>
              <a:rPr sz="400" spc="-5" dirty="0">
                <a:solidFill>
                  <a:srgbClr val="FFFFFF"/>
                </a:solidFill>
                <a:latin typeface="微软雅黑"/>
                <a:cs typeface="微软雅黑"/>
              </a:rPr>
              <a:t>信息抽取 </a:t>
            </a:r>
            <a:r>
              <a:rPr sz="400" spc="-5" dirty="0">
                <a:solidFill>
                  <a:srgbClr val="FFFFFF"/>
                </a:solidFill>
                <a:latin typeface="Arial" panose="020B0604020202090204"/>
                <a:cs typeface="Arial" panose="020B0604020202090204"/>
              </a:rPr>
              <a:t>ERNIE-UIE</a:t>
            </a:r>
            <a:endParaRPr sz="400">
              <a:latin typeface="Arial" panose="020B0604020202090204"/>
              <a:cs typeface="Arial" panose="020B0604020202090204"/>
            </a:endParaRPr>
          </a:p>
        </p:txBody>
      </p:sp>
      <p:sp>
        <p:nvSpPr>
          <p:cNvPr id="55" name="object 55"/>
          <p:cNvSpPr txBox="1"/>
          <p:nvPr/>
        </p:nvSpPr>
        <p:spPr>
          <a:xfrm>
            <a:off x="969263" y="5937503"/>
            <a:ext cx="675640" cy="131445"/>
          </a:xfrm>
          <a:prstGeom prst="rect">
            <a:avLst/>
          </a:prstGeom>
          <a:solidFill>
            <a:srgbClr val="AA0001"/>
          </a:solidFill>
        </p:spPr>
        <p:txBody>
          <a:bodyPr vert="horz" wrap="square" lIns="0" tIns="34290" rIns="0" bIns="0" rtlCol="0">
            <a:spAutoFit/>
          </a:bodyPr>
          <a:lstStyle/>
          <a:p>
            <a:pPr marL="132715">
              <a:lnSpc>
                <a:spcPct val="100000"/>
              </a:lnSpc>
              <a:spcBef>
                <a:spcPts val="270"/>
              </a:spcBef>
            </a:pPr>
            <a:r>
              <a:rPr sz="400" spc="-5" dirty="0">
                <a:solidFill>
                  <a:srgbClr val="FFFFFF"/>
                </a:solidFill>
                <a:latin typeface="微软雅黑"/>
                <a:cs typeface="微软雅黑"/>
              </a:rPr>
              <a:t>跨语言</a:t>
            </a:r>
            <a:r>
              <a:rPr sz="400" spc="-10" dirty="0">
                <a:solidFill>
                  <a:srgbClr val="FFFFFF"/>
                </a:solidFill>
                <a:latin typeface="微软雅黑"/>
                <a:cs typeface="微软雅黑"/>
              </a:rPr>
              <a:t> </a:t>
            </a:r>
            <a:r>
              <a:rPr sz="400" spc="-5" dirty="0">
                <a:solidFill>
                  <a:srgbClr val="FFFFFF"/>
                </a:solidFill>
                <a:latin typeface="Arial" panose="020B0604020202090204"/>
                <a:cs typeface="Arial" panose="020B0604020202090204"/>
              </a:rPr>
              <a:t>ERNIE-M</a:t>
            </a:r>
            <a:endParaRPr sz="400">
              <a:latin typeface="Arial" panose="020B0604020202090204"/>
              <a:cs typeface="Arial" panose="020B0604020202090204"/>
            </a:endParaRPr>
          </a:p>
        </p:txBody>
      </p:sp>
      <p:sp>
        <p:nvSpPr>
          <p:cNvPr id="56" name="object 56"/>
          <p:cNvSpPr txBox="1"/>
          <p:nvPr/>
        </p:nvSpPr>
        <p:spPr>
          <a:xfrm>
            <a:off x="1726692" y="5937503"/>
            <a:ext cx="643255" cy="131445"/>
          </a:xfrm>
          <a:prstGeom prst="rect">
            <a:avLst/>
          </a:prstGeom>
          <a:solidFill>
            <a:srgbClr val="FF7779"/>
          </a:solidFill>
        </p:spPr>
        <p:txBody>
          <a:bodyPr vert="horz" wrap="square" lIns="0" tIns="34290" rIns="0" bIns="0" rtlCol="0">
            <a:spAutoFit/>
          </a:bodyPr>
          <a:lstStyle/>
          <a:p>
            <a:pPr marL="120650">
              <a:lnSpc>
                <a:spcPct val="100000"/>
              </a:lnSpc>
              <a:spcBef>
                <a:spcPts val="270"/>
              </a:spcBef>
            </a:pPr>
            <a:r>
              <a:rPr sz="400" spc="-5" dirty="0">
                <a:solidFill>
                  <a:srgbClr val="FFFFFF"/>
                </a:solidFill>
                <a:latin typeface="微软雅黑"/>
                <a:cs typeface="微软雅黑"/>
              </a:rPr>
              <a:t>代码</a:t>
            </a:r>
            <a:r>
              <a:rPr sz="400" spc="-10" dirty="0">
                <a:solidFill>
                  <a:srgbClr val="FFFFFF"/>
                </a:solidFill>
                <a:latin typeface="微软雅黑"/>
                <a:cs typeface="微软雅黑"/>
              </a:rPr>
              <a:t> </a:t>
            </a:r>
            <a:r>
              <a:rPr sz="400" spc="-10" dirty="0">
                <a:solidFill>
                  <a:srgbClr val="FFFFFF"/>
                </a:solidFill>
                <a:latin typeface="Arial" panose="020B0604020202090204"/>
                <a:cs typeface="Arial" panose="020B0604020202090204"/>
              </a:rPr>
              <a:t>ERNIE-Code</a:t>
            </a:r>
            <a:endParaRPr sz="400">
              <a:latin typeface="Arial" panose="020B0604020202090204"/>
              <a:cs typeface="Arial" panose="020B0604020202090204"/>
            </a:endParaRPr>
          </a:p>
        </p:txBody>
      </p:sp>
      <p:sp>
        <p:nvSpPr>
          <p:cNvPr id="57" name="object 57"/>
          <p:cNvSpPr txBox="1"/>
          <p:nvPr/>
        </p:nvSpPr>
        <p:spPr>
          <a:xfrm>
            <a:off x="2400300" y="5937503"/>
            <a:ext cx="669290" cy="131445"/>
          </a:xfrm>
          <a:prstGeom prst="rect">
            <a:avLst/>
          </a:prstGeom>
          <a:solidFill>
            <a:srgbClr val="AA0001"/>
          </a:solidFill>
        </p:spPr>
        <p:txBody>
          <a:bodyPr vert="horz" wrap="square" lIns="0" tIns="38735" rIns="0" bIns="0" rtlCol="0">
            <a:spAutoFit/>
          </a:bodyPr>
          <a:lstStyle/>
          <a:p>
            <a:pPr marL="109220">
              <a:lnSpc>
                <a:spcPct val="100000"/>
              </a:lnSpc>
              <a:spcBef>
                <a:spcPts val="305"/>
              </a:spcBef>
            </a:pPr>
            <a:r>
              <a:rPr sz="400" spc="-5" dirty="0">
                <a:solidFill>
                  <a:srgbClr val="FFFFFF"/>
                </a:solidFill>
                <a:latin typeface="微软雅黑"/>
                <a:cs typeface="微软雅黑"/>
              </a:rPr>
              <a:t>图网络</a:t>
            </a:r>
            <a:r>
              <a:rPr sz="400" spc="-10" dirty="0">
                <a:solidFill>
                  <a:srgbClr val="FFFFFF"/>
                </a:solidFill>
                <a:latin typeface="微软雅黑"/>
                <a:cs typeface="微软雅黑"/>
              </a:rPr>
              <a:t> </a:t>
            </a:r>
            <a:r>
              <a:rPr sz="400" spc="-10" dirty="0">
                <a:solidFill>
                  <a:srgbClr val="FFFFFF"/>
                </a:solidFill>
                <a:latin typeface="Arial" panose="020B0604020202090204"/>
                <a:cs typeface="Arial" panose="020B0604020202090204"/>
              </a:rPr>
              <a:t>ERNIE-Sage</a:t>
            </a:r>
            <a:endParaRPr sz="400">
              <a:latin typeface="Arial" panose="020B0604020202090204"/>
              <a:cs typeface="Arial" panose="020B0604020202090204"/>
            </a:endParaRPr>
          </a:p>
        </p:txBody>
      </p:sp>
      <p:sp>
        <p:nvSpPr>
          <p:cNvPr id="58" name="object 58"/>
          <p:cNvSpPr txBox="1"/>
          <p:nvPr/>
        </p:nvSpPr>
        <p:spPr>
          <a:xfrm>
            <a:off x="969263" y="6143244"/>
            <a:ext cx="2100580" cy="140335"/>
          </a:xfrm>
          <a:prstGeom prst="rect">
            <a:avLst/>
          </a:prstGeom>
          <a:solidFill>
            <a:srgbClr val="AA0001"/>
          </a:solidFill>
        </p:spPr>
        <p:txBody>
          <a:bodyPr vert="horz" wrap="square" lIns="0" tIns="29845" rIns="0" bIns="0" rtlCol="0">
            <a:spAutoFit/>
          </a:bodyPr>
          <a:lstStyle/>
          <a:p>
            <a:pPr marR="30480" algn="ctr">
              <a:lnSpc>
                <a:spcPct val="100000"/>
              </a:lnSpc>
              <a:spcBef>
                <a:spcPts val="235"/>
              </a:spcBef>
            </a:pPr>
            <a:r>
              <a:rPr sz="600" dirty="0">
                <a:solidFill>
                  <a:srgbClr val="FFFFFF"/>
                </a:solidFill>
                <a:latin typeface="微软雅黑"/>
                <a:cs typeface="微软雅黑"/>
              </a:rPr>
              <a:t>语言理解与生成</a:t>
            </a:r>
            <a:endParaRPr sz="600">
              <a:latin typeface="微软雅黑"/>
              <a:cs typeface="微软雅黑"/>
            </a:endParaRPr>
          </a:p>
        </p:txBody>
      </p:sp>
      <p:sp>
        <p:nvSpPr>
          <p:cNvPr id="59" name="object 59"/>
          <p:cNvSpPr txBox="1"/>
          <p:nvPr/>
        </p:nvSpPr>
        <p:spPr>
          <a:xfrm>
            <a:off x="969263" y="6316979"/>
            <a:ext cx="553720" cy="137160"/>
          </a:xfrm>
          <a:prstGeom prst="rect">
            <a:avLst/>
          </a:prstGeom>
          <a:solidFill>
            <a:srgbClr val="AA0001"/>
          </a:solidFill>
        </p:spPr>
        <p:txBody>
          <a:bodyPr vert="horz" wrap="square" lIns="0" tIns="41910" rIns="0" bIns="0" rtlCol="0">
            <a:spAutoFit/>
          </a:bodyPr>
          <a:lstStyle/>
          <a:p>
            <a:pPr marL="102870">
              <a:lnSpc>
                <a:spcPct val="100000"/>
              </a:lnSpc>
              <a:spcBef>
                <a:spcPts val="330"/>
              </a:spcBef>
            </a:pPr>
            <a:r>
              <a:rPr sz="400" spc="-5" dirty="0">
                <a:solidFill>
                  <a:srgbClr val="FFFFFF"/>
                </a:solidFill>
                <a:latin typeface="Arial" panose="020B0604020202090204"/>
                <a:cs typeface="Arial" panose="020B0604020202090204"/>
              </a:rPr>
              <a:t>ERNIE </a:t>
            </a:r>
            <a:r>
              <a:rPr sz="400" spc="-10" dirty="0">
                <a:solidFill>
                  <a:srgbClr val="FFFFFF"/>
                </a:solidFill>
                <a:latin typeface="Arial" panose="020B0604020202090204"/>
                <a:cs typeface="Arial" panose="020B0604020202090204"/>
              </a:rPr>
              <a:t>3.0</a:t>
            </a:r>
            <a:r>
              <a:rPr sz="400" spc="5" dirty="0">
                <a:solidFill>
                  <a:srgbClr val="FFFFFF"/>
                </a:solidFill>
                <a:latin typeface="Arial" panose="020B0604020202090204"/>
                <a:cs typeface="Arial" panose="020B0604020202090204"/>
              </a:rPr>
              <a:t> </a:t>
            </a:r>
            <a:r>
              <a:rPr sz="400" spc="-5" dirty="0">
                <a:solidFill>
                  <a:srgbClr val="FFFFFF"/>
                </a:solidFill>
                <a:latin typeface="Arial" panose="020B0604020202090204"/>
                <a:cs typeface="Arial" panose="020B0604020202090204"/>
              </a:rPr>
              <a:t>Tiny</a:t>
            </a:r>
            <a:endParaRPr sz="400">
              <a:latin typeface="Arial" panose="020B0604020202090204"/>
              <a:cs typeface="Arial" panose="020B0604020202090204"/>
            </a:endParaRPr>
          </a:p>
        </p:txBody>
      </p:sp>
      <p:sp>
        <p:nvSpPr>
          <p:cNvPr id="60" name="object 60"/>
          <p:cNvSpPr txBox="1"/>
          <p:nvPr/>
        </p:nvSpPr>
        <p:spPr>
          <a:xfrm>
            <a:off x="1562100" y="6316979"/>
            <a:ext cx="439420" cy="137160"/>
          </a:xfrm>
          <a:prstGeom prst="rect">
            <a:avLst/>
          </a:prstGeom>
          <a:solidFill>
            <a:srgbClr val="AA0001"/>
          </a:solidFill>
        </p:spPr>
        <p:txBody>
          <a:bodyPr vert="horz" wrap="square" lIns="0" tIns="3175" rIns="0" bIns="0" rtlCol="0">
            <a:spAutoFit/>
          </a:bodyPr>
          <a:lstStyle/>
          <a:p>
            <a:pPr>
              <a:lnSpc>
                <a:spcPct val="100000"/>
              </a:lnSpc>
              <a:spcBef>
                <a:spcPts val="25"/>
              </a:spcBef>
            </a:pPr>
            <a:endParaRPr sz="300">
              <a:latin typeface="Times New Roman" panose="02020603050405020304"/>
              <a:cs typeface="Times New Roman" panose="02020603050405020304"/>
            </a:endParaRPr>
          </a:p>
          <a:p>
            <a:pPr marL="100330">
              <a:lnSpc>
                <a:spcPct val="100000"/>
              </a:lnSpc>
            </a:pPr>
            <a:r>
              <a:rPr sz="400" spc="-5" dirty="0">
                <a:solidFill>
                  <a:srgbClr val="FFFFFF"/>
                </a:solidFill>
                <a:latin typeface="Arial" panose="020B0604020202090204"/>
                <a:cs typeface="Arial" panose="020B0604020202090204"/>
              </a:rPr>
              <a:t>ERNIE</a:t>
            </a:r>
            <a:r>
              <a:rPr sz="400" spc="-15" dirty="0">
                <a:solidFill>
                  <a:srgbClr val="FFFFFF"/>
                </a:solidFill>
                <a:latin typeface="Arial" panose="020B0604020202090204"/>
                <a:cs typeface="Arial" panose="020B0604020202090204"/>
              </a:rPr>
              <a:t> </a:t>
            </a:r>
            <a:r>
              <a:rPr sz="400" spc="-10" dirty="0">
                <a:solidFill>
                  <a:srgbClr val="FFFFFF"/>
                </a:solidFill>
                <a:latin typeface="Arial" panose="020B0604020202090204"/>
                <a:cs typeface="Arial" panose="020B0604020202090204"/>
              </a:rPr>
              <a:t>3.0</a:t>
            </a:r>
            <a:endParaRPr sz="400">
              <a:latin typeface="Arial" panose="020B0604020202090204"/>
              <a:cs typeface="Arial" panose="020B0604020202090204"/>
            </a:endParaRPr>
          </a:p>
        </p:txBody>
      </p:sp>
      <p:sp>
        <p:nvSpPr>
          <p:cNvPr id="61" name="object 61"/>
          <p:cNvSpPr txBox="1"/>
          <p:nvPr/>
        </p:nvSpPr>
        <p:spPr>
          <a:xfrm>
            <a:off x="2039111" y="6316979"/>
            <a:ext cx="407034" cy="137160"/>
          </a:xfrm>
          <a:prstGeom prst="rect">
            <a:avLst/>
          </a:prstGeom>
          <a:solidFill>
            <a:srgbClr val="AA0001"/>
          </a:solidFill>
        </p:spPr>
        <p:txBody>
          <a:bodyPr vert="horz" wrap="square" lIns="0" tIns="8890" rIns="0" bIns="0" rtlCol="0">
            <a:spAutoFit/>
          </a:bodyPr>
          <a:lstStyle/>
          <a:p>
            <a:pPr marL="119380" marR="111760">
              <a:lnSpc>
                <a:spcPct val="100000"/>
              </a:lnSpc>
              <a:spcBef>
                <a:spcPts val="70"/>
              </a:spcBef>
            </a:pPr>
            <a:r>
              <a:rPr sz="400" spc="-5" dirty="0">
                <a:solidFill>
                  <a:srgbClr val="FFFFFF"/>
                </a:solidFill>
                <a:latin typeface="微软雅黑"/>
                <a:cs typeface="微软雅黑"/>
              </a:rPr>
              <a:t>鹏城</a:t>
            </a:r>
            <a:r>
              <a:rPr sz="400" spc="-5" dirty="0">
                <a:solidFill>
                  <a:srgbClr val="FFFFFF"/>
                </a:solidFill>
                <a:latin typeface="Arial" panose="020B0604020202090204"/>
                <a:cs typeface="Arial" panose="020B0604020202090204"/>
              </a:rPr>
              <a:t>-</a:t>
            </a:r>
            <a:r>
              <a:rPr sz="400" spc="-5" dirty="0">
                <a:solidFill>
                  <a:srgbClr val="FFFFFF"/>
                </a:solidFill>
                <a:latin typeface="微软雅黑"/>
                <a:cs typeface="微软雅黑"/>
              </a:rPr>
              <a:t>百 度</a:t>
            </a:r>
            <a:r>
              <a:rPr sz="400" spc="-5" dirty="0">
                <a:solidFill>
                  <a:srgbClr val="FFFFFF"/>
                </a:solidFill>
                <a:latin typeface="Arial" panose="020B0604020202090204"/>
                <a:cs typeface="Arial" panose="020B0604020202090204"/>
              </a:rPr>
              <a:t>·</a:t>
            </a:r>
            <a:r>
              <a:rPr sz="400" spc="-5" dirty="0">
                <a:solidFill>
                  <a:srgbClr val="FFFFFF"/>
                </a:solidFill>
                <a:latin typeface="微软雅黑"/>
                <a:cs typeface="微软雅黑"/>
              </a:rPr>
              <a:t>文心</a:t>
            </a:r>
            <a:endParaRPr sz="400">
              <a:latin typeface="微软雅黑"/>
              <a:cs typeface="微软雅黑"/>
            </a:endParaRPr>
          </a:p>
        </p:txBody>
      </p:sp>
      <p:sp>
        <p:nvSpPr>
          <p:cNvPr id="62" name="object 62"/>
          <p:cNvSpPr txBox="1"/>
          <p:nvPr/>
        </p:nvSpPr>
        <p:spPr>
          <a:xfrm>
            <a:off x="2465832" y="6316979"/>
            <a:ext cx="603885" cy="137160"/>
          </a:xfrm>
          <a:prstGeom prst="rect">
            <a:avLst/>
          </a:prstGeom>
          <a:solidFill>
            <a:srgbClr val="AA0001"/>
          </a:solidFill>
        </p:spPr>
        <p:txBody>
          <a:bodyPr vert="horz" wrap="square" lIns="0" tIns="36195" rIns="0" bIns="0" rtlCol="0">
            <a:spAutoFit/>
          </a:bodyPr>
          <a:lstStyle/>
          <a:p>
            <a:pPr marL="93345">
              <a:lnSpc>
                <a:spcPct val="100000"/>
              </a:lnSpc>
              <a:spcBef>
                <a:spcPts val="285"/>
              </a:spcBef>
            </a:pPr>
            <a:r>
              <a:rPr sz="400" spc="-5" dirty="0">
                <a:solidFill>
                  <a:srgbClr val="FFFFFF"/>
                </a:solidFill>
                <a:latin typeface="Arial" panose="020B0604020202090204"/>
                <a:cs typeface="Arial" panose="020B0604020202090204"/>
              </a:rPr>
              <a:t>ERNIE </a:t>
            </a:r>
            <a:r>
              <a:rPr sz="400" spc="-10" dirty="0">
                <a:solidFill>
                  <a:srgbClr val="FFFFFF"/>
                </a:solidFill>
                <a:latin typeface="Arial" panose="020B0604020202090204"/>
                <a:cs typeface="Arial" panose="020B0604020202090204"/>
              </a:rPr>
              <a:t>3.0</a:t>
            </a:r>
            <a:r>
              <a:rPr sz="400" spc="10" dirty="0">
                <a:solidFill>
                  <a:srgbClr val="FFFFFF"/>
                </a:solidFill>
                <a:latin typeface="Arial" panose="020B0604020202090204"/>
                <a:cs typeface="Arial" panose="020B0604020202090204"/>
              </a:rPr>
              <a:t> </a:t>
            </a:r>
            <a:r>
              <a:rPr sz="400" spc="-10" dirty="0">
                <a:solidFill>
                  <a:srgbClr val="FFFFFF"/>
                </a:solidFill>
                <a:latin typeface="Arial" panose="020B0604020202090204"/>
                <a:cs typeface="Arial" panose="020B0604020202090204"/>
              </a:rPr>
              <a:t>Zeus</a:t>
            </a:r>
            <a:endParaRPr sz="400">
              <a:latin typeface="Arial" panose="020B0604020202090204"/>
              <a:cs typeface="Arial" panose="020B0604020202090204"/>
            </a:endParaRPr>
          </a:p>
        </p:txBody>
      </p:sp>
      <p:graphicFrame>
        <p:nvGraphicFramePr>
          <p:cNvPr id="63" name="object 63"/>
          <p:cNvGraphicFramePr>
            <a:graphicFrameLocks noGrp="1"/>
          </p:cNvGraphicFramePr>
          <p:nvPr/>
        </p:nvGraphicFramePr>
        <p:xfrm>
          <a:off x="3236976" y="5494020"/>
          <a:ext cx="1449070" cy="957580"/>
        </p:xfrm>
        <a:graphic>
          <a:graphicData uri="http://schemas.openxmlformats.org/drawingml/2006/table">
            <a:tbl>
              <a:tblPr firstRow="1" bandRow="1">
                <a:tableStyleId>{2D5ABB26-0587-4C30-8999-92F81FD0307C}</a:tableStyleId>
              </a:tblPr>
              <a:tblGrid>
                <a:gridCol w="661670"/>
                <a:gridCol w="111760"/>
                <a:gridCol w="675640"/>
              </a:tblGrid>
              <a:tr h="172212">
                <a:tc gridSpan="3">
                  <a:txBody>
                    <a:bodyPr/>
                    <a:lstStyle/>
                    <a:p>
                      <a:pPr marL="120015">
                        <a:lnSpc>
                          <a:spcPct val="100000"/>
                        </a:lnSpc>
                        <a:spcBef>
                          <a:spcPts val="235"/>
                        </a:spcBef>
                      </a:pPr>
                      <a:r>
                        <a:rPr sz="600" dirty="0">
                          <a:solidFill>
                            <a:srgbClr val="FFFFFF"/>
                          </a:solidFill>
                          <a:latin typeface="微软雅黑"/>
                          <a:cs typeface="微软雅黑"/>
                        </a:rPr>
                        <a:t>商品图文搜索表征学习</a:t>
                      </a:r>
                      <a:r>
                        <a:rPr sz="600" spc="-25" dirty="0">
                          <a:solidFill>
                            <a:srgbClr val="FFFFFF"/>
                          </a:solidFill>
                          <a:latin typeface="微软雅黑"/>
                          <a:cs typeface="微软雅黑"/>
                        </a:rPr>
                        <a:t> </a:t>
                      </a:r>
                      <a:r>
                        <a:rPr sz="600" spc="-5" dirty="0">
                          <a:solidFill>
                            <a:srgbClr val="FFFFFF"/>
                          </a:solidFill>
                          <a:latin typeface="Arial" panose="020B0604020202090204"/>
                          <a:cs typeface="Arial" panose="020B0604020202090204"/>
                        </a:rPr>
                        <a:t>VIMER-UMS</a:t>
                      </a:r>
                      <a:endParaRPr sz="600">
                        <a:latin typeface="Arial" panose="020B0604020202090204"/>
                        <a:cs typeface="Arial" panose="020B0604020202090204"/>
                      </a:endParaRPr>
                    </a:p>
                  </a:txBody>
                  <a:tcPr marL="0" marR="0" marT="29845" marB="0">
                    <a:lnB w="76200">
                      <a:solidFill>
                        <a:srgbClr val="FFFFFF"/>
                      </a:solidFill>
                      <a:prstDash val="solid"/>
                    </a:lnB>
                    <a:solidFill>
                      <a:srgbClr val="AA0001"/>
                    </a:solidFill>
                  </a:tcPr>
                </a:tc>
                <a:tc hMerge="1">
                  <a:tcPr marL="0" marR="0" marT="0" marB="0"/>
                </a:tc>
                <a:tc hMerge="1">
                  <a:tcPr marL="0" marR="0" marT="0" marB="0"/>
                </a:tc>
              </a:tr>
              <a:tr h="211074">
                <a:tc gridSpan="3">
                  <a:txBody>
                    <a:bodyPr/>
                    <a:lstStyle/>
                    <a:p>
                      <a:pPr marL="109855">
                        <a:lnSpc>
                          <a:spcPct val="100000"/>
                        </a:lnSpc>
                        <a:spcBef>
                          <a:spcPts val="495"/>
                        </a:spcBef>
                      </a:pPr>
                      <a:r>
                        <a:rPr sz="600" spc="-5" dirty="0">
                          <a:solidFill>
                            <a:srgbClr val="FFFFFF"/>
                          </a:solidFill>
                          <a:latin typeface="Arial" panose="020B0604020202090204"/>
                          <a:cs typeface="Arial" panose="020B0604020202090204"/>
                        </a:rPr>
                        <a:t>OCR</a:t>
                      </a:r>
                      <a:r>
                        <a:rPr sz="600" dirty="0">
                          <a:solidFill>
                            <a:srgbClr val="FFFFFF"/>
                          </a:solidFill>
                          <a:latin typeface="微软雅黑"/>
                          <a:cs typeface="微软雅黑"/>
                        </a:rPr>
                        <a:t>图像表征学习</a:t>
                      </a:r>
                      <a:r>
                        <a:rPr sz="600" spc="-25" dirty="0">
                          <a:solidFill>
                            <a:srgbClr val="FFFFFF"/>
                          </a:solidFill>
                          <a:latin typeface="微软雅黑"/>
                          <a:cs typeface="微软雅黑"/>
                        </a:rPr>
                        <a:t> </a:t>
                      </a:r>
                      <a:r>
                        <a:rPr sz="600" spc="-5" dirty="0">
                          <a:solidFill>
                            <a:srgbClr val="FFFFFF"/>
                          </a:solidFill>
                          <a:latin typeface="Arial" panose="020B0604020202090204"/>
                          <a:cs typeface="Arial" panose="020B0604020202090204"/>
                        </a:rPr>
                        <a:t>VIMER-StrucText</a:t>
                      </a:r>
                      <a:endParaRPr sz="600">
                        <a:latin typeface="Arial" panose="020B0604020202090204"/>
                        <a:cs typeface="Arial" panose="020B0604020202090204"/>
                      </a:endParaRPr>
                    </a:p>
                  </a:txBody>
                  <a:tcPr marL="0" marR="0" marT="62865" marB="0">
                    <a:lnT w="76200">
                      <a:solidFill>
                        <a:srgbClr val="FFFFFF"/>
                      </a:solidFill>
                      <a:prstDash val="solid"/>
                    </a:lnT>
                    <a:lnB w="76200">
                      <a:solidFill>
                        <a:srgbClr val="FFFFFF"/>
                      </a:solidFill>
                      <a:prstDash val="solid"/>
                    </a:lnB>
                    <a:solidFill>
                      <a:srgbClr val="AA0001"/>
                    </a:solidFill>
                  </a:tcPr>
                </a:tc>
                <a:tc hMerge="1">
                  <a:tcPr marL="0" marR="0" marT="0" marB="0"/>
                </a:tc>
                <a:tc hMerge="1">
                  <a:tcPr marL="0" marR="0" marT="0" marB="0"/>
                </a:tc>
              </a:tr>
              <a:tr h="206501">
                <a:tc gridSpan="3">
                  <a:txBody>
                    <a:bodyPr/>
                    <a:lstStyle/>
                    <a:p>
                      <a:pPr marL="158750">
                        <a:lnSpc>
                          <a:spcPct val="100000"/>
                        </a:lnSpc>
                        <a:spcBef>
                          <a:spcPts val="535"/>
                        </a:spcBef>
                      </a:pPr>
                      <a:r>
                        <a:rPr sz="600" dirty="0">
                          <a:solidFill>
                            <a:srgbClr val="FFFFFF"/>
                          </a:solidFill>
                          <a:latin typeface="微软雅黑"/>
                          <a:cs typeface="微软雅黑"/>
                        </a:rPr>
                        <a:t>多任务视觉表征学习</a:t>
                      </a:r>
                      <a:r>
                        <a:rPr sz="600" spc="-20" dirty="0">
                          <a:solidFill>
                            <a:srgbClr val="FFFFFF"/>
                          </a:solidFill>
                          <a:latin typeface="微软雅黑"/>
                          <a:cs typeface="微软雅黑"/>
                        </a:rPr>
                        <a:t> </a:t>
                      </a:r>
                      <a:r>
                        <a:rPr sz="600" spc="-5" dirty="0">
                          <a:solidFill>
                            <a:srgbClr val="FFFFFF"/>
                          </a:solidFill>
                          <a:latin typeface="Arial" panose="020B0604020202090204"/>
                          <a:cs typeface="Arial" panose="020B0604020202090204"/>
                        </a:rPr>
                        <a:t>VIMER-UFO</a:t>
                      </a:r>
                      <a:endParaRPr sz="600">
                        <a:latin typeface="Arial" panose="020B0604020202090204"/>
                        <a:cs typeface="Arial" panose="020B0604020202090204"/>
                      </a:endParaRPr>
                    </a:p>
                  </a:txBody>
                  <a:tcPr marL="0" marR="0" marT="67945" marB="0">
                    <a:lnT w="76200">
                      <a:solidFill>
                        <a:srgbClr val="FFFFFF"/>
                      </a:solidFill>
                      <a:prstDash val="solid"/>
                    </a:lnT>
                    <a:lnB w="76200">
                      <a:solidFill>
                        <a:srgbClr val="FFFFFF"/>
                      </a:solidFill>
                      <a:prstDash val="solid"/>
                    </a:lnB>
                    <a:solidFill>
                      <a:srgbClr val="AA0001"/>
                    </a:solidFill>
                  </a:tcPr>
                </a:tc>
                <a:tc hMerge="1">
                  <a:tcPr marL="0" marR="0" marT="0" marB="0"/>
                </a:tc>
                <a:tc hMerge="1">
                  <a:tcPr marL="0" marR="0" marT="0" marB="0"/>
                </a:tc>
              </a:tr>
              <a:tr h="367284">
                <a:tc>
                  <a:txBody>
                    <a:bodyPr/>
                    <a:lstStyle/>
                    <a:p>
                      <a:pPr marL="102235" marR="93980" algn="ctr">
                        <a:lnSpc>
                          <a:spcPct val="101000"/>
                        </a:lnSpc>
                        <a:spcBef>
                          <a:spcPts val="460"/>
                        </a:spcBef>
                      </a:pPr>
                      <a:r>
                        <a:rPr sz="600" dirty="0">
                          <a:solidFill>
                            <a:srgbClr val="FFFFFF"/>
                          </a:solidFill>
                          <a:latin typeface="微软雅黑"/>
                          <a:cs typeface="微软雅黑"/>
                        </a:rPr>
                        <a:t>视觉处理多任 务学习 </a:t>
                      </a:r>
                      <a:r>
                        <a:rPr sz="600" spc="-5" dirty="0">
                          <a:solidFill>
                            <a:srgbClr val="FFFFFF"/>
                          </a:solidFill>
                          <a:latin typeface="Arial" panose="020B0604020202090204"/>
                          <a:cs typeface="Arial" panose="020B0604020202090204"/>
                        </a:rPr>
                        <a:t>VIMER-TCIR</a:t>
                      </a:r>
                      <a:endParaRPr sz="600">
                        <a:latin typeface="Arial" panose="020B0604020202090204"/>
                        <a:cs typeface="Arial" panose="020B0604020202090204"/>
                      </a:endParaRPr>
                    </a:p>
                  </a:txBody>
                  <a:tcPr marL="0" marR="0" marT="58419" marB="0">
                    <a:lnT w="76200">
                      <a:solidFill>
                        <a:srgbClr val="FFFFFF"/>
                      </a:solidFill>
                      <a:prstDash val="solid"/>
                    </a:lnT>
                    <a:solidFill>
                      <a:srgbClr val="AA0001"/>
                    </a:solidFill>
                  </a:tcPr>
                </a:tc>
                <a:tc>
                  <a:txBody>
                    <a:bodyPr/>
                    <a:lstStyle/>
                    <a:p>
                      <a:pPr>
                        <a:lnSpc>
                          <a:spcPct val="100000"/>
                        </a:lnSpc>
                      </a:pPr>
                      <a:endParaRPr sz="800">
                        <a:latin typeface="Times New Roman" panose="02020603050405020304"/>
                        <a:cs typeface="Times New Roman" panose="02020603050405020304"/>
                      </a:endParaRPr>
                    </a:p>
                  </a:txBody>
                  <a:tcPr marL="0" marR="0" marT="0" marB="0">
                    <a:lnT w="76200">
                      <a:solidFill>
                        <a:srgbClr val="FFFFFF"/>
                      </a:solidFill>
                      <a:prstDash val="solid"/>
                    </a:lnT>
                    <a:solidFill>
                      <a:srgbClr val="FF7779"/>
                    </a:solidFill>
                  </a:tcPr>
                </a:tc>
                <a:tc>
                  <a:txBody>
                    <a:bodyPr/>
                    <a:lstStyle/>
                    <a:p>
                      <a:pPr marL="108585" marR="100965" algn="ctr">
                        <a:lnSpc>
                          <a:spcPct val="101000"/>
                        </a:lnSpc>
                        <a:spcBef>
                          <a:spcPts val="460"/>
                        </a:spcBef>
                      </a:pPr>
                      <a:r>
                        <a:rPr sz="600" dirty="0">
                          <a:solidFill>
                            <a:srgbClr val="FFFFFF"/>
                          </a:solidFill>
                          <a:latin typeface="微软雅黑"/>
                          <a:cs typeface="微软雅黑"/>
                        </a:rPr>
                        <a:t>自监督视觉表 征学习 </a:t>
                      </a:r>
                      <a:r>
                        <a:rPr sz="600" spc="-5" dirty="0">
                          <a:solidFill>
                            <a:srgbClr val="FFFFFF"/>
                          </a:solidFill>
                          <a:latin typeface="Arial" panose="020B0604020202090204"/>
                          <a:cs typeface="Arial" panose="020B0604020202090204"/>
                        </a:rPr>
                        <a:t>VIMER-CAE</a:t>
                      </a:r>
                      <a:endParaRPr sz="600">
                        <a:latin typeface="Arial" panose="020B0604020202090204"/>
                        <a:cs typeface="Arial" panose="020B0604020202090204"/>
                      </a:endParaRPr>
                    </a:p>
                  </a:txBody>
                  <a:tcPr marL="0" marR="0" marT="58419" marB="0">
                    <a:lnT w="76200">
                      <a:solidFill>
                        <a:srgbClr val="FFFFFF"/>
                      </a:solidFill>
                      <a:prstDash val="solid"/>
                    </a:lnT>
                    <a:solidFill>
                      <a:srgbClr val="AA0001"/>
                    </a:solidFill>
                  </a:tcPr>
                </a:tc>
              </a:tr>
            </a:tbl>
          </a:graphicData>
        </a:graphic>
      </p:graphicFrame>
      <p:sp>
        <p:nvSpPr>
          <p:cNvPr id="64" name="object 64"/>
          <p:cNvSpPr txBox="1"/>
          <p:nvPr/>
        </p:nvSpPr>
        <p:spPr>
          <a:xfrm>
            <a:off x="4876800" y="5494020"/>
            <a:ext cx="486409" cy="140335"/>
          </a:xfrm>
          <a:prstGeom prst="rect">
            <a:avLst/>
          </a:prstGeom>
          <a:solidFill>
            <a:srgbClr val="AA0001"/>
          </a:solidFill>
        </p:spPr>
        <p:txBody>
          <a:bodyPr vert="horz" wrap="square" lIns="0" tIns="6985" rIns="0" bIns="0" rtlCol="0">
            <a:spAutoFit/>
          </a:bodyPr>
          <a:lstStyle/>
          <a:p>
            <a:pPr marL="141605">
              <a:lnSpc>
                <a:spcPct val="100000"/>
              </a:lnSpc>
              <a:spcBef>
                <a:spcPts val="55"/>
              </a:spcBef>
            </a:pPr>
            <a:r>
              <a:rPr sz="400" spc="-5" dirty="0">
                <a:solidFill>
                  <a:srgbClr val="FFFFFF"/>
                </a:solidFill>
                <a:latin typeface="微软雅黑"/>
                <a:cs typeface="微软雅黑"/>
              </a:rPr>
              <a:t>文图生成</a:t>
            </a:r>
            <a:endParaRPr sz="400">
              <a:latin typeface="微软雅黑"/>
              <a:cs typeface="微软雅黑"/>
            </a:endParaRPr>
          </a:p>
          <a:p>
            <a:pPr marL="102235">
              <a:lnSpc>
                <a:spcPct val="100000"/>
              </a:lnSpc>
            </a:pPr>
            <a:r>
              <a:rPr sz="400" spc="-5" dirty="0">
                <a:solidFill>
                  <a:srgbClr val="FFFFFF"/>
                </a:solidFill>
                <a:latin typeface="Arial" panose="020B0604020202090204"/>
                <a:cs typeface="Arial" panose="020B0604020202090204"/>
              </a:rPr>
              <a:t>ERNIE-ViLG</a:t>
            </a:r>
            <a:endParaRPr sz="400">
              <a:latin typeface="Arial" panose="020B0604020202090204"/>
              <a:cs typeface="Arial" panose="020B0604020202090204"/>
            </a:endParaRPr>
          </a:p>
        </p:txBody>
      </p:sp>
      <p:sp>
        <p:nvSpPr>
          <p:cNvPr id="65" name="object 65"/>
          <p:cNvSpPr txBox="1"/>
          <p:nvPr/>
        </p:nvSpPr>
        <p:spPr>
          <a:xfrm>
            <a:off x="5410200" y="5494020"/>
            <a:ext cx="571500" cy="140335"/>
          </a:xfrm>
          <a:prstGeom prst="rect">
            <a:avLst/>
          </a:prstGeom>
          <a:solidFill>
            <a:srgbClr val="AA0001"/>
          </a:solidFill>
        </p:spPr>
        <p:txBody>
          <a:bodyPr vert="horz" wrap="square" lIns="0" tIns="8255" rIns="0" bIns="0" rtlCol="0">
            <a:spAutoFit/>
          </a:bodyPr>
          <a:lstStyle/>
          <a:p>
            <a:pPr marL="172720">
              <a:lnSpc>
                <a:spcPct val="100000"/>
              </a:lnSpc>
              <a:spcBef>
                <a:spcPts val="65"/>
              </a:spcBef>
            </a:pPr>
            <a:r>
              <a:rPr sz="400" spc="-5" dirty="0">
                <a:solidFill>
                  <a:srgbClr val="FFFFFF"/>
                </a:solidFill>
                <a:latin typeface="微软雅黑"/>
                <a:cs typeface="微软雅黑"/>
              </a:rPr>
              <a:t>文档智能</a:t>
            </a:r>
            <a:endParaRPr sz="400">
              <a:latin typeface="微软雅黑"/>
              <a:cs typeface="微软雅黑"/>
            </a:endParaRPr>
          </a:p>
          <a:p>
            <a:pPr marL="113030">
              <a:lnSpc>
                <a:spcPct val="100000"/>
              </a:lnSpc>
            </a:pPr>
            <a:r>
              <a:rPr sz="400" spc="-10" dirty="0">
                <a:solidFill>
                  <a:srgbClr val="FFFFFF"/>
                </a:solidFill>
                <a:latin typeface="Arial" panose="020B0604020202090204"/>
                <a:cs typeface="Arial" panose="020B0604020202090204"/>
              </a:rPr>
              <a:t>ERNIE-Layout</a:t>
            </a:r>
            <a:endParaRPr sz="400">
              <a:latin typeface="Arial" panose="020B0604020202090204"/>
              <a:cs typeface="Arial" panose="020B0604020202090204"/>
            </a:endParaRPr>
          </a:p>
        </p:txBody>
      </p:sp>
      <p:sp>
        <p:nvSpPr>
          <p:cNvPr id="66" name="object 66"/>
          <p:cNvSpPr txBox="1"/>
          <p:nvPr/>
        </p:nvSpPr>
        <p:spPr>
          <a:xfrm>
            <a:off x="4876800" y="5684520"/>
            <a:ext cx="346075" cy="769620"/>
          </a:xfrm>
          <a:prstGeom prst="rect">
            <a:avLst/>
          </a:prstGeom>
          <a:solidFill>
            <a:srgbClr val="AA0001"/>
          </a:solidFill>
        </p:spPr>
        <p:txBody>
          <a:bodyPr vert="horz" wrap="square" lIns="0" tIns="0" rIns="0" bIns="0" rtlCol="0">
            <a:spAutoFit/>
          </a:bodyPr>
          <a:lstStyle/>
          <a:p>
            <a:pPr>
              <a:lnSpc>
                <a:spcPct val="100000"/>
              </a:lnSpc>
            </a:pPr>
            <a:endParaRPr sz="500">
              <a:latin typeface="Times New Roman" panose="02020603050405020304"/>
              <a:cs typeface="Times New Roman" panose="02020603050405020304"/>
            </a:endParaRPr>
          </a:p>
          <a:p>
            <a:pPr>
              <a:lnSpc>
                <a:spcPct val="100000"/>
              </a:lnSpc>
            </a:pPr>
            <a:endParaRPr sz="500">
              <a:latin typeface="Times New Roman" panose="02020603050405020304"/>
              <a:cs typeface="Times New Roman" panose="02020603050405020304"/>
            </a:endParaRPr>
          </a:p>
          <a:p>
            <a:pPr>
              <a:lnSpc>
                <a:spcPct val="100000"/>
              </a:lnSpc>
              <a:spcBef>
                <a:spcPts val="10"/>
              </a:spcBef>
            </a:pPr>
            <a:endParaRPr sz="550">
              <a:latin typeface="Times New Roman" panose="02020603050405020304"/>
              <a:cs typeface="Times New Roman" panose="02020603050405020304"/>
            </a:endParaRPr>
          </a:p>
          <a:p>
            <a:pPr marL="94615" marR="85725" indent="2540" algn="just">
              <a:lnSpc>
                <a:spcPct val="101000"/>
              </a:lnSpc>
            </a:pPr>
            <a:r>
              <a:rPr sz="500" dirty="0">
                <a:solidFill>
                  <a:srgbClr val="FFFFFF"/>
                </a:solidFill>
                <a:latin typeface="微软雅黑"/>
                <a:cs typeface="微软雅黑"/>
              </a:rPr>
              <a:t>视觉</a:t>
            </a:r>
            <a:r>
              <a:rPr sz="500" dirty="0">
                <a:solidFill>
                  <a:srgbClr val="FFFFFF"/>
                </a:solidFill>
                <a:latin typeface="Arial" panose="020B0604020202090204"/>
                <a:cs typeface="Arial" panose="020B0604020202090204"/>
              </a:rPr>
              <a:t>- </a:t>
            </a:r>
            <a:r>
              <a:rPr sz="500" dirty="0">
                <a:solidFill>
                  <a:srgbClr val="FFFFFF"/>
                </a:solidFill>
                <a:latin typeface="微软雅黑"/>
                <a:cs typeface="微软雅黑"/>
              </a:rPr>
              <a:t>语言 </a:t>
            </a:r>
            <a:r>
              <a:rPr sz="500" dirty="0">
                <a:solidFill>
                  <a:srgbClr val="FFFFFF"/>
                </a:solidFill>
                <a:latin typeface="Arial" panose="020B0604020202090204"/>
                <a:cs typeface="Arial" panose="020B0604020202090204"/>
              </a:rPr>
              <a:t>E</a:t>
            </a:r>
            <a:r>
              <a:rPr sz="500" spc="-5" dirty="0">
                <a:solidFill>
                  <a:srgbClr val="FFFFFF"/>
                </a:solidFill>
                <a:latin typeface="Arial" panose="020B0604020202090204"/>
                <a:cs typeface="Arial" panose="020B0604020202090204"/>
              </a:rPr>
              <a:t>R</a:t>
            </a:r>
            <a:r>
              <a:rPr sz="500" spc="-5" dirty="0">
                <a:solidFill>
                  <a:srgbClr val="FFFFFF"/>
                </a:solidFill>
                <a:latin typeface="Arial" panose="020B0604020202090204"/>
                <a:cs typeface="Arial" panose="020B0604020202090204"/>
              </a:rPr>
              <a:t>N</a:t>
            </a:r>
            <a:r>
              <a:rPr sz="500" dirty="0">
                <a:solidFill>
                  <a:srgbClr val="FFFFFF"/>
                </a:solidFill>
                <a:latin typeface="Arial" panose="020B0604020202090204"/>
                <a:cs typeface="Arial" panose="020B0604020202090204"/>
              </a:rPr>
              <a:t>I  </a:t>
            </a:r>
            <a:r>
              <a:rPr sz="500" spc="-5" dirty="0">
                <a:solidFill>
                  <a:srgbClr val="FFFFFF"/>
                </a:solidFill>
                <a:latin typeface="Arial" panose="020B0604020202090204"/>
                <a:cs typeface="Arial" panose="020B0604020202090204"/>
              </a:rPr>
              <a:t>E</a:t>
            </a:r>
            <a:r>
              <a:rPr sz="500" dirty="0">
                <a:solidFill>
                  <a:srgbClr val="FFFFFF"/>
                </a:solidFill>
                <a:latin typeface="Arial" panose="020B0604020202090204"/>
                <a:cs typeface="Arial" panose="020B0604020202090204"/>
              </a:rPr>
              <a:t>-</a:t>
            </a:r>
            <a:r>
              <a:rPr sz="500" dirty="0">
                <a:solidFill>
                  <a:srgbClr val="FFFFFF"/>
                </a:solidFill>
                <a:latin typeface="Arial" panose="020B0604020202090204"/>
                <a:cs typeface="Arial" panose="020B0604020202090204"/>
              </a:rPr>
              <a:t>V</a:t>
            </a:r>
            <a:r>
              <a:rPr sz="500" spc="5" dirty="0">
                <a:solidFill>
                  <a:srgbClr val="FFFFFF"/>
                </a:solidFill>
                <a:latin typeface="Arial" panose="020B0604020202090204"/>
                <a:cs typeface="Arial" panose="020B0604020202090204"/>
              </a:rPr>
              <a:t>i</a:t>
            </a:r>
            <a:r>
              <a:rPr sz="500" dirty="0">
                <a:solidFill>
                  <a:srgbClr val="FFFFFF"/>
                </a:solidFill>
                <a:latin typeface="Arial" panose="020B0604020202090204"/>
                <a:cs typeface="Arial" panose="020B0604020202090204"/>
              </a:rPr>
              <a:t>L</a:t>
            </a:r>
            <a:endParaRPr sz="500">
              <a:latin typeface="Arial" panose="020B0604020202090204"/>
              <a:cs typeface="Arial" panose="020B0604020202090204"/>
            </a:endParaRPr>
          </a:p>
        </p:txBody>
      </p:sp>
      <p:sp>
        <p:nvSpPr>
          <p:cNvPr id="67" name="object 67"/>
          <p:cNvSpPr txBox="1"/>
          <p:nvPr/>
        </p:nvSpPr>
        <p:spPr>
          <a:xfrm>
            <a:off x="5266944" y="5684520"/>
            <a:ext cx="347980" cy="769620"/>
          </a:xfrm>
          <a:prstGeom prst="rect">
            <a:avLst/>
          </a:prstGeom>
          <a:solidFill>
            <a:srgbClr val="AA0001"/>
          </a:solidFill>
        </p:spPr>
        <p:txBody>
          <a:bodyPr vert="horz" wrap="square" lIns="0" tIns="0" rIns="0" bIns="0" rtlCol="0">
            <a:spAutoFit/>
          </a:bodyPr>
          <a:lstStyle/>
          <a:p>
            <a:pPr>
              <a:lnSpc>
                <a:spcPct val="100000"/>
              </a:lnSpc>
            </a:pPr>
            <a:endParaRPr sz="500">
              <a:latin typeface="Times New Roman" panose="02020603050405020304"/>
              <a:cs typeface="Times New Roman" panose="02020603050405020304"/>
            </a:endParaRPr>
          </a:p>
          <a:p>
            <a:pPr>
              <a:lnSpc>
                <a:spcPct val="100000"/>
              </a:lnSpc>
            </a:pPr>
            <a:endParaRPr sz="500">
              <a:latin typeface="Times New Roman" panose="02020603050405020304"/>
              <a:cs typeface="Times New Roman" panose="02020603050405020304"/>
            </a:endParaRPr>
          </a:p>
          <a:p>
            <a:pPr>
              <a:lnSpc>
                <a:spcPct val="100000"/>
              </a:lnSpc>
              <a:spcBef>
                <a:spcPts val="25"/>
              </a:spcBef>
            </a:pPr>
            <a:endParaRPr sz="550">
              <a:latin typeface="Times New Roman" panose="02020603050405020304"/>
              <a:cs typeface="Times New Roman" panose="02020603050405020304"/>
            </a:endParaRPr>
          </a:p>
          <a:p>
            <a:pPr marL="95885" marR="86360" indent="2540" algn="just">
              <a:lnSpc>
                <a:spcPct val="101000"/>
              </a:lnSpc>
            </a:pPr>
            <a:r>
              <a:rPr sz="500" dirty="0">
                <a:solidFill>
                  <a:srgbClr val="FFFFFF"/>
                </a:solidFill>
                <a:latin typeface="微软雅黑"/>
                <a:cs typeface="微软雅黑"/>
              </a:rPr>
              <a:t>语音</a:t>
            </a:r>
            <a:r>
              <a:rPr sz="500" dirty="0">
                <a:solidFill>
                  <a:srgbClr val="FFFFFF"/>
                </a:solidFill>
                <a:latin typeface="Arial" panose="020B0604020202090204"/>
                <a:cs typeface="Arial" panose="020B0604020202090204"/>
              </a:rPr>
              <a:t>- </a:t>
            </a:r>
            <a:r>
              <a:rPr sz="500" dirty="0">
                <a:solidFill>
                  <a:srgbClr val="FFFFFF"/>
                </a:solidFill>
                <a:latin typeface="微软雅黑"/>
                <a:cs typeface="微软雅黑"/>
              </a:rPr>
              <a:t>语言 </a:t>
            </a:r>
            <a:r>
              <a:rPr sz="500" dirty="0">
                <a:solidFill>
                  <a:srgbClr val="FFFFFF"/>
                </a:solidFill>
                <a:latin typeface="Arial" panose="020B0604020202090204"/>
                <a:cs typeface="Arial" panose="020B0604020202090204"/>
              </a:rPr>
              <a:t>E</a:t>
            </a:r>
            <a:r>
              <a:rPr sz="500" spc="-5" dirty="0">
                <a:solidFill>
                  <a:srgbClr val="FFFFFF"/>
                </a:solidFill>
                <a:latin typeface="Arial" panose="020B0604020202090204"/>
                <a:cs typeface="Arial" panose="020B0604020202090204"/>
              </a:rPr>
              <a:t>R</a:t>
            </a:r>
            <a:r>
              <a:rPr sz="500" spc="-5" dirty="0">
                <a:solidFill>
                  <a:srgbClr val="FFFFFF"/>
                </a:solidFill>
                <a:latin typeface="Arial" panose="020B0604020202090204"/>
                <a:cs typeface="Arial" panose="020B0604020202090204"/>
              </a:rPr>
              <a:t>N</a:t>
            </a:r>
            <a:r>
              <a:rPr sz="500" dirty="0">
                <a:solidFill>
                  <a:srgbClr val="FFFFFF"/>
                </a:solidFill>
                <a:latin typeface="Arial" panose="020B0604020202090204"/>
                <a:cs typeface="Arial" panose="020B0604020202090204"/>
              </a:rPr>
              <a:t>I  </a:t>
            </a:r>
            <a:r>
              <a:rPr sz="500" spc="-5" dirty="0">
                <a:solidFill>
                  <a:srgbClr val="FFFFFF"/>
                </a:solidFill>
                <a:latin typeface="Arial" panose="020B0604020202090204"/>
                <a:cs typeface="Arial" panose="020B0604020202090204"/>
              </a:rPr>
              <a:t>E</a:t>
            </a:r>
            <a:r>
              <a:rPr sz="500" dirty="0">
                <a:solidFill>
                  <a:srgbClr val="FFFFFF"/>
                </a:solidFill>
                <a:latin typeface="Arial" panose="020B0604020202090204"/>
                <a:cs typeface="Arial" panose="020B0604020202090204"/>
              </a:rPr>
              <a:t>-</a:t>
            </a:r>
            <a:r>
              <a:rPr sz="500" dirty="0">
                <a:solidFill>
                  <a:srgbClr val="FFFFFF"/>
                </a:solidFill>
                <a:latin typeface="Arial" panose="020B0604020202090204"/>
                <a:cs typeface="Arial" panose="020B0604020202090204"/>
              </a:rPr>
              <a:t>V</a:t>
            </a:r>
            <a:r>
              <a:rPr sz="500" spc="5" dirty="0">
                <a:solidFill>
                  <a:srgbClr val="FFFFFF"/>
                </a:solidFill>
                <a:latin typeface="Arial" panose="020B0604020202090204"/>
                <a:cs typeface="Arial" panose="020B0604020202090204"/>
              </a:rPr>
              <a:t>i</a:t>
            </a:r>
            <a:r>
              <a:rPr sz="500" dirty="0">
                <a:solidFill>
                  <a:srgbClr val="FFFFFF"/>
                </a:solidFill>
                <a:latin typeface="Arial" panose="020B0604020202090204"/>
                <a:cs typeface="Arial" panose="020B0604020202090204"/>
              </a:rPr>
              <a:t>L</a:t>
            </a:r>
            <a:endParaRPr sz="500">
              <a:latin typeface="Arial" panose="020B0604020202090204"/>
              <a:cs typeface="Arial" panose="020B0604020202090204"/>
            </a:endParaRPr>
          </a:p>
        </p:txBody>
      </p:sp>
      <p:sp>
        <p:nvSpPr>
          <p:cNvPr id="68" name="object 68"/>
          <p:cNvSpPr txBox="1"/>
          <p:nvPr/>
        </p:nvSpPr>
        <p:spPr>
          <a:xfrm>
            <a:off x="5635752" y="5684520"/>
            <a:ext cx="346075" cy="769620"/>
          </a:xfrm>
          <a:prstGeom prst="rect">
            <a:avLst/>
          </a:prstGeom>
          <a:solidFill>
            <a:srgbClr val="AA0001"/>
          </a:solidFill>
        </p:spPr>
        <p:txBody>
          <a:bodyPr vert="horz" wrap="square" lIns="0" tIns="0" rIns="0" bIns="0" rtlCol="0">
            <a:spAutoFit/>
          </a:bodyPr>
          <a:lstStyle/>
          <a:p>
            <a:pPr>
              <a:lnSpc>
                <a:spcPct val="100000"/>
              </a:lnSpc>
            </a:pPr>
            <a:endParaRPr sz="500">
              <a:latin typeface="Times New Roman" panose="02020603050405020304"/>
              <a:cs typeface="Times New Roman" panose="02020603050405020304"/>
            </a:endParaRPr>
          </a:p>
          <a:p>
            <a:pPr>
              <a:lnSpc>
                <a:spcPct val="100000"/>
              </a:lnSpc>
            </a:pPr>
            <a:endParaRPr sz="500">
              <a:latin typeface="Times New Roman" panose="02020603050405020304"/>
              <a:cs typeface="Times New Roman" panose="02020603050405020304"/>
            </a:endParaRPr>
          </a:p>
          <a:p>
            <a:pPr marL="96520" marR="89535" algn="ctr">
              <a:lnSpc>
                <a:spcPct val="101000"/>
              </a:lnSpc>
              <a:spcBef>
                <a:spcPts val="365"/>
              </a:spcBef>
            </a:pPr>
            <a:r>
              <a:rPr sz="500" dirty="0">
                <a:solidFill>
                  <a:srgbClr val="FFFFFF"/>
                </a:solidFill>
                <a:latin typeface="微软雅黑"/>
                <a:cs typeface="微软雅黑"/>
              </a:rPr>
              <a:t>地理</a:t>
            </a:r>
            <a:r>
              <a:rPr sz="500" dirty="0">
                <a:solidFill>
                  <a:srgbClr val="FFFFFF"/>
                </a:solidFill>
                <a:latin typeface="Arial" panose="020B0604020202090204"/>
                <a:cs typeface="Arial" panose="020B0604020202090204"/>
              </a:rPr>
              <a:t>- </a:t>
            </a:r>
            <a:r>
              <a:rPr sz="500" dirty="0">
                <a:solidFill>
                  <a:srgbClr val="FFFFFF"/>
                </a:solidFill>
                <a:latin typeface="微软雅黑"/>
                <a:cs typeface="微软雅黑"/>
              </a:rPr>
              <a:t>语言 </a:t>
            </a:r>
            <a:r>
              <a:rPr sz="500" dirty="0">
                <a:solidFill>
                  <a:srgbClr val="FFFFFF"/>
                </a:solidFill>
                <a:latin typeface="Arial" panose="020B0604020202090204"/>
                <a:cs typeface="Arial" panose="020B0604020202090204"/>
              </a:rPr>
              <a:t>E</a:t>
            </a:r>
            <a:r>
              <a:rPr sz="500" spc="-5" dirty="0">
                <a:solidFill>
                  <a:srgbClr val="FFFFFF"/>
                </a:solidFill>
                <a:latin typeface="Arial" panose="020B0604020202090204"/>
                <a:cs typeface="Arial" panose="020B0604020202090204"/>
              </a:rPr>
              <a:t>R</a:t>
            </a:r>
            <a:r>
              <a:rPr sz="500" spc="-5" dirty="0">
                <a:solidFill>
                  <a:srgbClr val="FFFFFF"/>
                </a:solidFill>
                <a:latin typeface="Arial" panose="020B0604020202090204"/>
                <a:cs typeface="Arial" panose="020B0604020202090204"/>
              </a:rPr>
              <a:t>N</a:t>
            </a:r>
            <a:r>
              <a:rPr sz="500" dirty="0">
                <a:solidFill>
                  <a:srgbClr val="FFFFFF"/>
                </a:solidFill>
                <a:latin typeface="Arial" panose="020B0604020202090204"/>
                <a:cs typeface="Arial" panose="020B0604020202090204"/>
              </a:rPr>
              <a:t>I  </a:t>
            </a:r>
            <a:r>
              <a:rPr sz="500" spc="-5" dirty="0">
                <a:solidFill>
                  <a:srgbClr val="FFFFFF"/>
                </a:solidFill>
                <a:latin typeface="Arial" panose="020B0604020202090204"/>
                <a:cs typeface="Arial" panose="020B0604020202090204"/>
              </a:rPr>
              <a:t>E-</a:t>
            </a:r>
            <a:endParaRPr sz="500">
              <a:latin typeface="Arial" panose="020B0604020202090204"/>
              <a:cs typeface="Arial" panose="020B0604020202090204"/>
            </a:endParaRPr>
          </a:p>
          <a:p>
            <a:pPr algn="ctr">
              <a:lnSpc>
                <a:spcPct val="100000"/>
              </a:lnSpc>
            </a:pPr>
            <a:r>
              <a:rPr sz="500" spc="-5" dirty="0">
                <a:solidFill>
                  <a:srgbClr val="FFFFFF"/>
                </a:solidFill>
                <a:latin typeface="Arial" panose="020B0604020202090204"/>
                <a:cs typeface="Arial" panose="020B0604020202090204"/>
              </a:rPr>
              <a:t>GeoL</a:t>
            </a:r>
            <a:endParaRPr sz="500">
              <a:latin typeface="Arial" panose="020B0604020202090204"/>
              <a:cs typeface="Arial" panose="020B0604020202090204"/>
            </a:endParaRPr>
          </a:p>
        </p:txBody>
      </p:sp>
      <p:sp>
        <p:nvSpPr>
          <p:cNvPr id="69" name="object 69"/>
          <p:cNvSpPr/>
          <p:nvPr/>
        </p:nvSpPr>
        <p:spPr>
          <a:xfrm>
            <a:off x="6035040" y="5347715"/>
            <a:ext cx="1028700" cy="1135380"/>
          </a:xfrm>
          <a:custGeom>
            <a:avLst/>
            <a:gdLst/>
            <a:ahLst/>
            <a:cxnLst/>
            <a:rect l="l" t="t" r="r" b="b"/>
            <a:pathLst>
              <a:path w="1028700" h="1135379">
                <a:moveTo>
                  <a:pt x="1028700" y="0"/>
                </a:moveTo>
                <a:lnTo>
                  <a:pt x="0" y="0"/>
                </a:lnTo>
                <a:lnTo>
                  <a:pt x="0" y="1135380"/>
                </a:lnTo>
                <a:lnTo>
                  <a:pt x="1028700" y="1135380"/>
                </a:lnTo>
                <a:lnTo>
                  <a:pt x="1028700" y="0"/>
                </a:lnTo>
                <a:close/>
              </a:path>
            </a:pathLst>
          </a:custGeom>
          <a:solidFill>
            <a:srgbClr val="FF7779"/>
          </a:solidFill>
        </p:spPr>
        <p:txBody>
          <a:bodyPr wrap="square" lIns="0" tIns="0" rIns="0" bIns="0" rtlCol="0"/>
          <a:lstStyle/>
          <a:p/>
        </p:txBody>
      </p:sp>
      <p:sp>
        <p:nvSpPr>
          <p:cNvPr id="70" name="object 70"/>
          <p:cNvSpPr txBox="1"/>
          <p:nvPr/>
        </p:nvSpPr>
        <p:spPr>
          <a:xfrm>
            <a:off x="6271005" y="5364226"/>
            <a:ext cx="558800" cy="116839"/>
          </a:xfrm>
          <a:prstGeom prst="rect">
            <a:avLst/>
          </a:prstGeom>
        </p:spPr>
        <p:txBody>
          <a:bodyPr vert="horz" wrap="square" lIns="0" tIns="12700" rIns="0" bIns="0" rtlCol="0">
            <a:spAutoFit/>
          </a:bodyPr>
          <a:lstStyle/>
          <a:p>
            <a:pPr marL="12700">
              <a:lnSpc>
                <a:spcPct val="100000"/>
              </a:lnSpc>
              <a:spcBef>
                <a:spcPts val="100"/>
              </a:spcBef>
            </a:pPr>
            <a:r>
              <a:rPr sz="600" b="1" dirty="0">
                <a:solidFill>
                  <a:srgbClr val="171717"/>
                </a:solidFill>
                <a:latin typeface="微软雅黑"/>
                <a:cs typeface="微软雅黑"/>
              </a:rPr>
              <a:t>生物计算大模型</a:t>
            </a:r>
            <a:endParaRPr sz="600">
              <a:latin typeface="微软雅黑"/>
              <a:cs typeface="微软雅黑"/>
            </a:endParaRPr>
          </a:p>
        </p:txBody>
      </p:sp>
      <p:sp>
        <p:nvSpPr>
          <p:cNvPr id="71" name="object 71"/>
          <p:cNvSpPr txBox="1"/>
          <p:nvPr/>
        </p:nvSpPr>
        <p:spPr>
          <a:xfrm>
            <a:off x="6067044" y="5501640"/>
            <a:ext cx="952500" cy="273050"/>
          </a:xfrm>
          <a:prstGeom prst="rect">
            <a:avLst/>
          </a:prstGeom>
          <a:solidFill>
            <a:srgbClr val="AA0001"/>
          </a:solidFill>
        </p:spPr>
        <p:txBody>
          <a:bodyPr vert="horz" wrap="square" lIns="0" tIns="42545" rIns="0" bIns="0" rtlCol="0">
            <a:spAutoFit/>
          </a:bodyPr>
          <a:lstStyle/>
          <a:p>
            <a:pPr marL="1905" algn="ctr">
              <a:lnSpc>
                <a:spcPct val="100000"/>
              </a:lnSpc>
              <a:spcBef>
                <a:spcPts val="335"/>
              </a:spcBef>
            </a:pPr>
            <a:r>
              <a:rPr sz="600" dirty="0">
                <a:solidFill>
                  <a:srgbClr val="FFFFFF"/>
                </a:solidFill>
                <a:latin typeface="微软雅黑"/>
                <a:cs typeface="微软雅黑"/>
              </a:rPr>
              <a:t>化合物表征学习</a:t>
            </a:r>
            <a:endParaRPr sz="600">
              <a:latin typeface="微软雅黑"/>
              <a:cs typeface="微软雅黑"/>
            </a:endParaRPr>
          </a:p>
          <a:p>
            <a:pPr marL="1270" algn="ctr">
              <a:lnSpc>
                <a:spcPct val="100000"/>
              </a:lnSpc>
              <a:spcBef>
                <a:spcPts val="15"/>
              </a:spcBef>
            </a:pPr>
            <a:r>
              <a:rPr sz="600" dirty="0">
                <a:solidFill>
                  <a:srgbClr val="FFFFFF"/>
                </a:solidFill>
                <a:latin typeface="Arial" panose="020B0604020202090204"/>
                <a:cs typeface="Arial" panose="020B0604020202090204"/>
              </a:rPr>
              <a:t>HelixGEM</a:t>
            </a:r>
            <a:endParaRPr sz="600">
              <a:latin typeface="Arial" panose="020B0604020202090204"/>
              <a:cs typeface="Arial" panose="020B0604020202090204"/>
            </a:endParaRPr>
          </a:p>
        </p:txBody>
      </p:sp>
      <p:sp>
        <p:nvSpPr>
          <p:cNvPr id="72" name="object 72"/>
          <p:cNvSpPr txBox="1"/>
          <p:nvPr/>
        </p:nvSpPr>
        <p:spPr>
          <a:xfrm>
            <a:off x="6067044" y="5818632"/>
            <a:ext cx="952500" cy="281940"/>
          </a:xfrm>
          <a:prstGeom prst="rect">
            <a:avLst/>
          </a:prstGeom>
          <a:solidFill>
            <a:srgbClr val="AA0001"/>
          </a:solidFill>
        </p:spPr>
        <p:txBody>
          <a:bodyPr vert="horz" wrap="square" lIns="0" tIns="46990" rIns="0" bIns="0" rtlCol="0">
            <a:spAutoFit/>
          </a:bodyPr>
          <a:lstStyle/>
          <a:p>
            <a:pPr marL="1905" algn="ctr">
              <a:lnSpc>
                <a:spcPct val="100000"/>
              </a:lnSpc>
              <a:spcBef>
                <a:spcPts val="370"/>
              </a:spcBef>
            </a:pPr>
            <a:r>
              <a:rPr sz="600" dirty="0">
                <a:solidFill>
                  <a:srgbClr val="FFFFFF"/>
                </a:solidFill>
                <a:latin typeface="微软雅黑"/>
                <a:cs typeface="微软雅黑"/>
              </a:rPr>
              <a:t>蛋白质结构预测</a:t>
            </a:r>
            <a:endParaRPr sz="600">
              <a:latin typeface="微软雅黑"/>
              <a:cs typeface="微软雅黑"/>
            </a:endParaRPr>
          </a:p>
          <a:p>
            <a:pPr algn="ctr">
              <a:lnSpc>
                <a:spcPct val="100000"/>
              </a:lnSpc>
              <a:spcBef>
                <a:spcPts val="10"/>
              </a:spcBef>
            </a:pPr>
            <a:r>
              <a:rPr sz="600" dirty="0">
                <a:solidFill>
                  <a:srgbClr val="FFFFFF"/>
                </a:solidFill>
                <a:latin typeface="Arial" panose="020B0604020202090204"/>
                <a:cs typeface="Arial" panose="020B0604020202090204"/>
              </a:rPr>
              <a:t>HelixFold</a:t>
            </a:r>
            <a:endParaRPr sz="600">
              <a:latin typeface="Arial" panose="020B0604020202090204"/>
              <a:cs typeface="Arial" panose="020B0604020202090204"/>
            </a:endParaRPr>
          </a:p>
        </p:txBody>
      </p:sp>
      <p:sp>
        <p:nvSpPr>
          <p:cNvPr id="73" name="object 73"/>
          <p:cNvSpPr txBox="1"/>
          <p:nvPr/>
        </p:nvSpPr>
        <p:spPr>
          <a:xfrm>
            <a:off x="6067044" y="6167628"/>
            <a:ext cx="952500" cy="281940"/>
          </a:xfrm>
          <a:prstGeom prst="rect">
            <a:avLst/>
          </a:prstGeom>
          <a:solidFill>
            <a:srgbClr val="AA0001"/>
          </a:solidFill>
        </p:spPr>
        <p:txBody>
          <a:bodyPr vert="horz" wrap="square" lIns="0" tIns="47625" rIns="0" bIns="0" rtlCol="0">
            <a:spAutoFit/>
          </a:bodyPr>
          <a:lstStyle/>
          <a:p>
            <a:pPr marL="1905" algn="ctr">
              <a:lnSpc>
                <a:spcPct val="100000"/>
              </a:lnSpc>
              <a:spcBef>
                <a:spcPts val="375"/>
              </a:spcBef>
            </a:pPr>
            <a:r>
              <a:rPr sz="600" dirty="0">
                <a:solidFill>
                  <a:srgbClr val="FFFFFF"/>
                </a:solidFill>
                <a:latin typeface="微软雅黑"/>
                <a:cs typeface="微软雅黑"/>
              </a:rPr>
              <a:t>单序列蛋白质结构预测</a:t>
            </a:r>
            <a:endParaRPr sz="600">
              <a:latin typeface="微软雅黑"/>
              <a:cs typeface="微软雅黑"/>
            </a:endParaRPr>
          </a:p>
          <a:p>
            <a:pPr algn="ctr">
              <a:lnSpc>
                <a:spcPct val="100000"/>
              </a:lnSpc>
              <a:spcBef>
                <a:spcPts val="10"/>
              </a:spcBef>
            </a:pPr>
            <a:r>
              <a:rPr sz="600" dirty="0">
                <a:solidFill>
                  <a:srgbClr val="FFFFFF"/>
                </a:solidFill>
                <a:latin typeface="Arial" panose="020B0604020202090204"/>
                <a:cs typeface="Arial" panose="020B0604020202090204"/>
              </a:rPr>
              <a:t>HelixFold-Single</a:t>
            </a:r>
            <a:endParaRPr sz="600">
              <a:latin typeface="Arial" panose="020B0604020202090204"/>
              <a:cs typeface="Arial" panose="020B0604020202090204"/>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314045" y="963320"/>
            <a:ext cx="11276330" cy="1501140"/>
          </a:xfrm>
          <a:prstGeom prst="rect">
            <a:avLst/>
          </a:prstGeom>
        </p:spPr>
        <p:txBody>
          <a:bodyPr vert="horz" wrap="square" lIns="0" tIns="76835" rIns="0" bIns="0" rtlCol="0">
            <a:spAutoFit/>
          </a:bodyPr>
          <a:lstStyle/>
          <a:p>
            <a:pPr marL="299085" indent="-287020">
              <a:lnSpc>
                <a:spcPct val="100000"/>
              </a:lnSpc>
              <a:spcBef>
                <a:spcPts val="605"/>
              </a:spcBef>
              <a:buFont typeface="Wingdings" panose="05000000000000000000"/>
              <a:buChar char=""/>
              <a:tabLst>
                <a:tab pos="299085" algn="l"/>
                <a:tab pos="299720" algn="l"/>
              </a:tabLst>
            </a:pPr>
            <a:r>
              <a:rPr sz="1600" b="1" spc="-5" dirty="0">
                <a:solidFill>
                  <a:srgbClr val="171717"/>
                </a:solidFill>
                <a:latin typeface="微软雅黑"/>
                <a:cs typeface="微软雅黑"/>
              </a:rPr>
              <a:t>阿里巴巴率先构建大模型统一底座</a:t>
            </a:r>
            <a:r>
              <a:rPr sz="1600" b="1" spc="5" dirty="0">
                <a:solidFill>
                  <a:srgbClr val="171717"/>
                </a:solidFill>
                <a:latin typeface="微软雅黑"/>
                <a:cs typeface="微软雅黑"/>
              </a:rPr>
              <a:t>、</a:t>
            </a:r>
            <a:r>
              <a:rPr sz="1600" b="1" spc="-5" dirty="0">
                <a:solidFill>
                  <a:srgbClr val="171717"/>
                </a:solidFill>
                <a:latin typeface="微软雅黑"/>
                <a:cs typeface="微软雅黑"/>
              </a:rPr>
              <a:t>通过</a:t>
            </a:r>
            <a:r>
              <a:rPr sz="1600" b="1" spc="5" dirty="0">
                <a:solidFill>
                  <a:srgbClr val="171717"/>
                </a:solidFill>
                <a:latin typeface="微软雅黑"/>
                <a:cs typeface="微软雅黑"/>
              </a:rPr>
              <a:t>训</a:t>
            </a:r>
            <a:r>
              <a:rPr sz="1600" b="1" spc="-5" dirty="0">
                <a:solidFill>
                  <a:srgbClr val="171717"/>
                </a:solidFill>
                <a:latin typeface="微软雅黑"/>
                <a:cs typeface="微软雅黑"/>
              </a:rPr>
              <a:t>练策</a:t>
            </a:r>
            <a:r>
              <a:rPr sz="1600" b="1" spc="5" dirty="0">
                <a:solidFill>
                  <a:srgbClr val="171717"/>
                </a:solidFill>
                <a:latin typeface="微软雅黑"/>
                <a:cs typeface="微软雅黑"/>
              </a:rPr>
              <a:t>略</a:t>
            </a:r>
            <a:r>
              <a:rPr sz="1600" b="1" spc="-5" dirty="0">
                <a:solidFill>
                  <a:srgbClr val="171717"/>
                </a:solidFill>
                <a:latin typeface="微软雅黑"/>
                <a:cs typeface="微软雅黑"/>
              </a:rPr>
              <a:t>大幅</a:t>
            </a:r>
            <a:r>
              <a:rPr sz="1600" b="1" spc="5" dirty="0">
                <a:solidFill>
                  <a:srgbClr val="171717"/>
                </a:solidFill>
                <a:latin typeface="微软雅黑"/>
                <a:cs typeface="微软雅黑"/>
              </a:rPr>
              <a:t>提</a:t>
            </a:r>
            <a:r>
              <a:rPr sz="1600" b="1" spc="-5" dirty="0">
                <a:solidFill>
                  <a:srgbClr val="171717"/>
                </a:solidFill>
                <a:latin typeface="微软雅黑"/>
                <a:cs typeface="微软雅黑"/>
              </a:rPr>
              <a:t>升稀</a:t>
            </a:r>
            <a:r>
              <a:rPr sz="1600" b="1" spc="5" dirty="0">
                <a:solidFill>
                  <a:srgbClr val="171717"/>
                </a:solidFill>
                <a:latin typeface="微软雅黑"/>
                <a:cs typeface="微软雅黑"/>
              </a:rPr>
              <a:t>疏</a:t>
            </a:r>
            <a:r>
              <a:rPr sz="1600" b="1" spc="-5" dirty="0">
                <a:solidFill>
                  <a:srgbClr val="171717"/>
                </a:solidFill>
                <a:latin typeface="微软雅黑"/>
                <a:cs typeface="微软雅黑"/>
              </a:rPr>
              <a:t>参数</a:t>
            </a:r>
            <a:r>
              <a:rPr sz="1600" b="1" spc="5" dirty="0">
                <a:solidFill>
                  <a:srgbClr val="171717"/>
                </a:solidFill>
                <a:latin typeface="微软雅黑"/>
                <a:cs typeface="微软雅黑"/>
              </a:rPr>
              <a:t>大</a:t>
            </a:r>
            <a:r>
              <a:rPr sz="1600" b="1" spc="-5" dirty="0">
                <a:solidFill>
                  <a:srgbClr val="171717"/>
                </a:solidFill>
                <a:latin typeface="微软雅黑"/>
                <a:cs typeface="微软雅黑"/>
              </a:rPr>
              <a:t>模型</a:t>
            </a:r>
            <a:r>
              <a:rPr sz="1600" b="1" spc="5" dirty="0">
                <a:solidFill>
                  <a:srgbClr val="171717"/>
                </a:solidFill>
                <a:latin typeface="微软雅黑"/>
                <a:cs typeface="微软雅黑"/>
              </a:rPr>
              <a:t>框</a:t>
            </a:r>
            <a:r>
              <a:rPr sz="1600" b="1" spc="-5" dirty="0">
                <a:solidFill>
                  <a:srgbClr val="171717"/>
                </a:solidFill>
                <a:latin typeface="微软雅黑"/>
                <a:cs typeface="微软雅黑"/>
              </a:rPr>
              <a:t>架训</a:t>
            </a:r>
            <a:r>
              <a:rPr sz="1600" b="1" spc="5" dirty="0">
                <a:solidFill>
                  <a:srgbClr val="171717"/>
                </a:solidFill>
                <a:latin typeface="微软雅黑"/>
                <a:cs typeface="微软雅黑"/>
              </a:rPr>
              <a:t>练</a:t>
            </a:r>
            <a:r>
              <a:rPr sz="1600" b="1" spc="-5" dirty="0">
                <a:solidFill>
                  <a:srgbClr val="171717"/>
                </a:solidFill>
                <a:latin typeface="微软雅黑"/>
                <a:cs typeface="微软雅黑"/>
              </a:rPr>
              <a:t>效率</a:t>
            </a:r>
            <a:r>
              <a:rPr sz="1600" b="1" spc="5" dirty="0">
                <a:solidFill>
                  <a:srgbClr val="171717"/>
                </a:solidFill>
                <a:latin typeface="微软雅黑"/>
                <a:cs typeface="微软雅黑"/>
              </a:rPr>
              <a:t>，</a:t>
            </a:r>
            <a:r>
              <a:rPr sz="1600" b="1" spc="-5" dirty="0">
                <a:solidFill>
                  <a:srgbClr val="171717"/>
                </a:solidFill>
                <a:latin typeface="微软雅黑"/>
                <a:cs typeface="微软雅黑"/>
              </a:rPr>
              <a:t>在大</a:t>
            </a:r>
            <a:r>
              <a:rPr sz="1600" b="1" spc="5" dirty="0">
                <a:solidFill>
                  <a:srgbClr val="171717"/>
                </a:solidFill>
                <a:latin typeface="微软雅黑"/>
                <a:cs typeface="微软雅黑"/>
              </a:rPr>
              <a:t>模</a:t>
            </a:r>
            <a:r>
              <a:rPr sz="1600" b="1" spc="-5" dirty="0">
                <a:solidFill>
                  <a:srgbClr val="171717"/>
                </a:solidFill>
                <a:latin typeface="微软雅黑"/>
                <a:cs typeface="微软雅黑"/>
              </a:rPr>
              <a:t>型框</a:t>
            </a:r>
            <a:r>
              <a:rPr sz="1600" b="1" spc="5" dirty="0">
                <a:solidFill>
                  <a:srgbClr val="171717"/>
                </a:solidFill>
                <a:latin typeface="微软雅黑"/>
                <a:cs typeface="微软雅黑"/>
              </a:rPr>
              <a:t>架</a:t>
            </a:r>
            <a:r>
              <a:rPr sz="1600" b="1" spc="-5" dirty="0">
                <a:solidFill>
                  <a:srgbClr val="171717"/>
                </a:solidFill>
                <a:latin typeface="微软雅黑"/>
                <a:cs typeface="微软雅黑"/>
              </a:rPr>
              <a:t>上具</a:t>
            </a:r>
            <a:r>
              <a:rPr sz="1600" b="1" spc="5" dirty="0">
                <a:solidFill>
                  <a:srgbClr val="171717"/>
                </a:solidFill>
                <a:latin typeface="微软雅黑"/>
                <a:cs typeface="微软雅黑"/>
              </a:rPr>
              <a:t>备</a:t>
            </a:r>
            <a:r>
              <a:rPr sz="1600" b="1" spc="-5" dirty="0">
                <a:solidFill>
                  <a:srgbClr val="171717"/>
                </a:solidFill>
                <a:latin typeface="微软雅黑"/>
                <a:cs typeface="微软雅黑"/>
              </a:rPr>
              <a:t>领先</a:t>
            </a:r>
            <a:r>
              <a:rPr sz="1600" b="1" spc="5" dirty="0">
                <a:solidFill>
                  <a:srgbClr val="171717"/>
                </a:solidFill>
                <a:latin typeface="微软雅黑"/>
                <a:cs typeface="微软雅黑"/>
              </a:rPr>
              <a:t>地</a:t>
            </a:r>
            <a:r>
              <a:rPr sz="1600" b="1" spc="-5" dirty="0">
                <a:solidFill>
                  <a:srgbClr val="171717"/>
                </a:solidFill>
                <a:latin typeface="微软雅黑"/>
                <a:cs typeface="微软雅黑"/>
              </a:rPr>
              <a:t>位。</a:t>
            </a:r>
            <a:endParaRPr sz="1600">
              <a:latin typeface="微软雅黑"/>
              <a:cs typeface="微软雅黑"/>
            </a:endParaRPr>
          </a:p>
          <a:p>
            <a:pPr marL="984885" lvl="1" indent="-287655">
              <a:lnSpc>
                <a:spcPct val="100000"/>
              </a:lnSpc>
              <a:spcBef>
                <a:spcPts val="500"/>
              </a:spcBef>
              <a:buFont typeface="Wingdings" panose="05000000000000000000"/>
              <a:buChar char=""/>
              <a:tabLst>
                <a:tab pos="984885" algn="l"/>
              </a:tabLst>
            </a:pPr>
            <a:r>
              <a:rPr sz="1600" spc="-5" dirty="0">
                <a:solidFill>
                  <a:srgbClr val="171717"/>
                </a:solidFill>
                <a:latin typeface="微软雅黑"/>
                <a:cs typeface="微软雅黑"/>
              </a:rPr>
              <a:t>阿里巴巴</a:t>
            </a:r>
            <a:r>
              <a:rPr sz="1600" spc="-5" dirty="0">
                <a:solidFill>
                  <a:srgbClr val="171717"/>
                </a:solidFill>
                <a:latin typeface="Arial" panose="020B0604020202090204"/>
                <a:cs typeface="Arial" panose="020B0604020202090204"/>
              </a:rPr>
              <a:t>2021</a:t>
            </a:r>
            <a:r>
              <a:rPr sz="1600" spc="-5" dirty="0">
                <a:solidFill>
                  <a:srgbClr val="171717"/>
                </a:solidFill>
                <a:latin typeface="微软雅黑"/>
                <a:cs typeface="微软雅黑"/>
              </a:rPr>
              <a:t>年</a:t>
            </a:r>
            <a:r>
              <a:rPr sz="1600" spc="-5" dirty="0">
                <a:solidFill>
                  <a:srgbClr val="171717"/>
                </a:solidFill>
                <a:latin typeface="Arial" panose="020B0604020202090204"/>
                <a:cs typeface="Arial" panose="020B0604020202090204"/>
              </a:rPr>
              <a:t>3</a:t>
            </a:r>
            <a:r>
              <a:rPr sz="1600" spc="-5" dirty="0">
                <a:solidFill>
                  <a:srgbClr val="171717"/>
                </a:solidFill>
                <a:latin typeface="微软雅黑"/>
                <a:cs typeface="微软雅黑"/>
              </a:rPr>
              <a:t>月发布</a:t>
            </a:r>
            <a:r>
              <a:rPr sz="1600" spc="-5" dirty="0">
                <a:solidFill>
                  <a:srgbClr val="171717"/>
                </a:solidFill>
                <a:latin typeface="Arial" panose="020B0604020202090204"/>
                <a:cs typeface="Arial" panose="020B0604020202090204"/>
              </a:rPr>
              <a:t>M6</a:t>
            </a:r>
            <a:r>
              <a:rPr sz="1600" spc="-5" dirty="0">
                <a:solidFill>
                  <a:srgbClr val="171717"/>
                </a:solidFill>
                <a:latin typeface="微软雅黑"/>
                <a:cs typeface="微软雅黑"/>
              </a:rPr>
              <a:t>，成为国内最</a:t>
            </a:r>
            <a:r>
              <a:rPr sz="1600" spc="5" dirty="0">
                <a:solidFill>
                  <a:srgbClr val="171717"/>
                </a:solidFill>
                <a:latin typeface="微软雅黑"/>
                <a:cs typeface="微软雅黑"/>
              </a:rPr>
              <a:t>早</a:t>
            </a:r>
            <a:r>
              <a:rPr sz="1600" spc="-5" dirty="0">
                <a:solidFill>
                  <a:srgbClr val="171717"/>
                </a:solidFill>
                <a:latin typeface="微软雅黑"/>
                <a:cs typeface="微软雅黑"/>
              </a:rPr>
              <a:t>提出</a:t>
            </a:r>
            <a:r>
              <a:rPr sz="1600" spc="5" dirty="0">
                <a:solidFill>
                  <a:srgbClr val="171717"/>
                </a:solidFill>
                <a:latin typeface="微软雅黑"/>
                <a:cs typeface="微软雅黑"/>
              </a:rPr>
              <a:t>千</a:t>
            </a:r>
            <a:r>
              <a:rPr sz="1600" spc="-5" dirty="0">
                <a:solidFill>
                  <a:srgbClr val="171717"/>
                </a:solidFill>
                <a:latin typeface="微软雅黑"/>
                <a:cs typeface="微软雅黑"/>
              </a:rPr>
              <a:t>亿模</a:t>
            </a:r>
            <a:r>
              <a:rPr sz="1600" spc="5" dirty="0">
                <a:solidFill>
                  <a:srgbClr val="171717"/>
                </a:solidFill>
                <a:latin typeface="微软雅黑"/>
                <a:cs typeface="微软雅黑"/>
              </a:rPr>
              <a:t>型</a:t>
            </a:r>
            <a:r>
              <a:rPr sz="1600" spc="-5" dirty="0">
                <a:solidFill>
                  <a:srgbClr val="171717"/>
                </a:solidFill>
                <a:latin typeface="微软雅黑"/>
                <a:cs typeface="微软雅黑"/>
              </a:rPr>
              <a:t>的厂</a:t>
            </a:r>
            <a:r>
              <a:rPr sz="1600" spc="5" dirty="0">
                <a:solidFill>
                  <a:srgbClr val="171717"/>
                </a:solidFill>
                <a:latin typeface="微软雅黑"/>
                <a:cs typeface="微软雅黑"/>
              </a:rPr>
              <a:t>商</a:t>
            </a:r>
            <a:r>
              <a:rPr sz="1600" spc="-5" dirty="0">
                <a:solidFill>
                  <a:srgbClr val="171717"/>
                </a:solidFill>
                <a:latin typeface="微软雅黑"/>
                <a:cs typeface="微软雅黑"/>
              </a:rPr>
              <a:t>，同</a:t>
            </a:r>
            <a:r>
              <a:rPr sz="1600" spc="5" dirty="0">
                <a:solidFill>
                  <a:srgbClr val="171717"/>
                </a:solidFill>
                <a:latin typeface="微软雅黑"/>
                <a:cs typeface="微软雅黑"/>
              </a:rPr>
              <a:t>年</a:t>
            </a:r>
            <a:r>
              <a:rPr sz="1600" spc="-5" dirty="0">
                <a:solidFill>
                  <a:srgbClr val="171717"/>
                </a:solidFill>
                <a:latin typeface="微软雅黑"/>
                <a:cs typeface="微软雅黑"/>
              </a:rPr>
              <a:t>发布</a:t>
            </a:r>
            <a:r>
              <a:rPr sz="1600" spc="5" dirty="0">
                <a:solidFill>
                  <a:srgbClr val="171717"/>
                </a:solidFill>
                <a:latin typeface="微软雅黑"/>
                <a:cs typeface="微软雅黑"/>
              </a:rPr>
              <a:t>十</a:t>
            </a:r>
            <a:r>
              <a:rPr sz="1600" spc="-5" dirty="0">
                <a:solidFill>
                  <a:srgbClr val="171717"/>
                </a:solidFill>
                <a:latin typeface="微软雅黑"/>
                <a:cs typeface="微软雅黑"/>
              </a:rPr>
              <a:t>万亿</a:t>
            </a:r>
            <a:r>
              <a:rPr sz="1600" spc="5" dirty="0">
                <a:solidFill>
                  <a:srgbClr val="171717"/>
                </a:solidFill>
                <a:latin typeface="微软雅黑"/>
                <a:cs typeface="微软雅黑"/>
              </a:rPr>
              <a:t>模型</a:t>
            </a:r>
            <a:r>
              <a:rPr sz="1600" spc="-5" dirty="0">
                <a:solidFill>
                  <a:srgbClr val="171717"/>
                </a:solidFill>
                <a:latin typeface="Arial" panose="020B0604020202090204"/>
                <a:cs typeface="Arial" panose="020B0604020202090204"/>
              </a:rPr>
              <a:t>M6-10T</a:t>
            </a:r>
            <a:r>
              <a:rPr sz="1600" spc="-5" dirty="0">
                <a:solidFill>
                  <a:srgbClr val="171717"/>
                </a:solidFill>
                <a:latin typeface="微软雅黑"/>
                <a:cs typeface="微软雅黑"/>
              </a:rPr>
              <a:t>，通过</a:t>
            </a:r>
            <a:r>
              <a:rPr sz="1600" spc="-5" dirty="0">
                <a:solidFill>
                  <a:srgbClr val="171717"/>
                </a:solidFill>
                <a:latin typeface="Arial" panose="020B0604020202090204"/>
                <a:cs typeface="Arial" panose="020B0604020202090204"/>
              </a:rPr>
              <a:t>expert</a:t>
            </a:r>
            <a:endParaRPr sz="1600">
              <a:latin typeface="Arial" panose="020B0604020202090204"/>
              <a:cs typeface="Arial" panose="020B0604020202090204"/>
            </a:endParaRPr>
          </a:p>
          <a:p>
            <a:pPr marL="984885">
              <a:lnSpc>
                <a:spcPct val="100000"/>
              </a:lnSpc>
            </a:pPr>
            <a:r>
              <a:rPr sz="1600" spc="-5" dirty="0">
                <a:solidFill>
                  <a:srgbClr val="171717"/>
                </a:solidFill>
                <a:latin typeface="Arial" panose="020B0604020202090204"/>
                <a:cs typeface="Arial" panose="020B0604020202090204"/>
              </a:rPr>
              <a:t>prototyping</a:t>
            </a:r>
            <a:r>
              <a:rPr sz="1600" spc="-5" dirty="0">
                <a:solidFill>
                  <a:srgbClr val="171717"/>
                </a:solidFill>
                <a:latin typeface="微软雅黑"/>
                <a:cs typeface="微软雅黑"/>
              </a:rPr>
              <a:t>训练策略成功实</a:t>
            </a:r>
            <a:r>
              <a:rPr sz="1600" spc="-15" dirty="0">
                <a:solidFill>
                  <a:srgbClr val="171717"/>
                </a:solidFill>
                <a:latin typeface="微软雅黑"/>
                <a:cs typeface="微软雅黑"/>
              </a:rPr>
              <a:t>施</a:t>
            </a:r>
            <a:r>
              <a:rPr sz="1600" spc="-5" dirty="0">
                <a:solidFill>
                  <a:srgbClr val="171717"/>
                </a:solidFill>
                <a:latin typeface="Arial" panose="020B0604020202090204"/>
                <a:cs typeface="Arial" panose="020B0604020202090204"/>
              </a:rPr>
              <a:t>MoE</a:t>
            </a:r>
            <a:r>
              <a:rPr sz="1600" spc="-5" dirty="0">
                <a:solidFill>
                  <a:srgbClr val="171717"/>
                </a:solidFill>
                <a:latin typeface="微软雅黑"/>
                <a:cs typeface="微软雅黑"/>
              </a:rPr>
              <a:t>稀</a:t>
            </a:r>
            <a:r>
              <a:rPr sz="1600" spc="-10" dirty="0">
                <a:solidFill>
                  <a:srgbClr val="171717"/>
                </a:solidFill>
                <a:latin typeface="微软雅黑"/>
                <a:cs typeface="微软雅黑"/>
              </a:rPr>
              <a:t>疏</a:t>
            </a:r>
            <a:r>
              <a:rPr sz="1600" spc="-5" dirty="0">
                <a:solidFill>
                  <a:srgbClr val="171717"/>
                </a:solidFill>
                <a:latin typeface="微软雅黑"/>
                <a:cs typeface="微软雅黑"/>
              </a:rPr>
              <a:t>参</a:t>
            </a:r>
            <a:r>
              <a:rPr sz="1600" dirty="0">
                <a:solidFill>
                  <a:srgbClr val="171717"/>
                </a:solidFill>
                <a:latin typeface="微软雅黑"/>
                <a:cs typeface="微软雅黑"/>
              </a:rPr>
              <a:t>数</a:t>
            </a:r>
            <a:r>
              <a:rPr sz="1600" spc="-5" dirty="0">
                <a:solidFill>
                  <a:srgbClr val="171717"/>
                </a:solidFill>
                <a:latin typeface="微软雅黑"/>
                <a:cs typeface="微软雅黑"/>
              </a:rPr>
              <a:t>模</a:t>
            </a:r>
            <a:r>
              <a:rPr sz="1600" spc="-10" dirty="0">
                <a:solidFill>
                  <a:srgbClr val="171717"/>
                </a:solidFill>
                <a:latin typeface="微软雅黑"/>
                <a:cs typeface="微软雅黑"/>
              </a:rPr>
              <a:t>型</a:t>
            </a:r>
            <a:r>
              <a:rPr sz="1600" dirty="0">
                <a:solidFill>
                  <a:srgbClr val="171717"/>
                </a:solidFill>
                <a:latin typeface="微软雅黑"/>
                <a:cs typeface="微软雅黑"/>
              </a:rPr>
              <a:t>，</a:t>
            </a:r>
            <a:r>
              <a:rPr sz="1600" spc="-5" dirty="0">
                <a:solidFill>
                  <a:srgbClr val="171717"/>
                </a:solidFill>
                <a:latin typeface="微软雅黑"/>
                <a:cs typeface="微软雅黑"/>
              </a:rPr>
              <a:t>使</a:t>
            </a:r>
            <a:r>
              <a:rPr sz="1600" spc="-10" dirty="0">
                <a:solidFill>
                  <a:srgbClr val="171717"/>
                </a:solidFill>
                <a:latin typeface="微软雅黑"/>
                <a:cs typeface="微软雅黑"/>
              </a:rPr>
              <a:t>模</a:t>
            </a:r>
            <a:r>
              <a:rPr sz="1600" dirty="0">
                <a:solidFill>
                  <a:srgbClr val="171717"/>
                </a:solidFill>
                <a:latin typeface="微软雅黑"/>
                <a:cs typeface="微软雅黑"/>
              </a:rPr>
              <a:t>型</a:t>
            </a:r>
            <a:r>
              <a:rPr sz="1600" spc="-5" dirty="0">
                <a:solidFill>
                  <a:srgbClr val="171717"/>
                </a:solidFill>
                <a:latin typeface="微软雅黑"/>
                <a:cs typeface="微软雅黑"/>
              </a:rPr>
              <a:t>达到</a:t>
            </a:r>
            <a:r>
              <a:rPr sz="1600" spc="-10" dirty="0">
                <a:solidFill>
                  <a:srgbClr val="171717"/>
                </a:solidFill>
                <a:latin typeface="Arial" panose="020B0604020202090204"/>
                <a:cs typeface="Arial" panose="020B0604020202090204"/>
              </a:rPr>
              <a:t>10</a:t>
            </a:r>
            <a:r>
              <a:rPr sz="1600" dirty="0">
                <a:solidFill>
                  <a:srgbClr val="171717"/>
                </a:solidFill>
                <a:latin typeface="微软雅黑"/>
                <a:cs typeface="微软雅黑"/>
              </a:rPr>
              <a:t>万</a:t>
            </a:r>
            <a:r>
              <a:rPr sz="1600" spc="-5" dirty="0">
                <a:solidFill>
                  <a:srgbClr val="171717"/>
                </a:solidFill>
                <a:latin typeface="微软雅黑"/>
                <a:cs typeface="微软雅黑"/>
              </a:rPr>
              <a:t>亿</a:t>
            </a:r>
            <a:r>
              <a:rPr sz="1600" spc="-10" dirty="0">
                <a:solidFill>
                  <a:srgbClr val="171717"/>
                </a:solidFill>
                <a:latin typeface="微软雅黑"/>
                <a:cs typeface="微软雅黑"/>
              </a:rPr>
              <a:t>参</a:t>
            </a:r>
            <a:r>
              <a:rPr sz="1600" dirty="0">
                <a:solidFill>
                  <a:srgbClr val="171717"/>
                </a:solidFill>
                <a:latin typeface="微软雅黑"/>
                <a:cs typeface="微软雅黑"/>
              </a:rPr>
              <a:t>数</a:t>
            </a:r>
            <a:r>
              <a:rPr sz="1600" spc="-5" dirty="0">
                <a:solidFill>
                  <a:srgbClr val="171717"/>
                </a:solidFill>
                <a:latin typeface="微软雅黑"/>
                <a:cs typeface="微软雅黑"/>
              </a:rPr>
              <a:t>级</a:t>
            </a:r>
            <a:r>
              <a:rPr sz="1600" spc="-10" dirty="0">
                <a:solidFill>
                  <a:srgbClr val="171717"/>
                </a:solidFill>
                <a:latin typeface="微软雅黑"/>
                <a:cs typeface="微软雅黑"/>
              </a:rPr>
              <a:t>别</a:t>
            </a:r>
            <a:r>
              <a:rPr sz="1600" spc="-5" dirty="0">
                <a:solidFill>
                  <a:srgbClr val="171717"/>
                </a:solidFill>
                <a:latin typeface="微软雅黑"/>
                <a:cs typeface="微软雅黑"/>
              </a:rPr>
              <a:t>。</a:t>
            </a:r>
            <a:endParaRPr sz="1600">
              <a:latin typeface="微软雅黑"/>
              <a:cs typeface="微软雅黑"/>
            </a:endParaRPr>
          </a:p>
          <a:p>
            <a:pPr marL="984885" lvl="1" indent="-287655">
              <a:lnSpc>
                <a:spcPct val="100000"/>
              </a:lnSpc>
              <a:spcBef>
                <a:spcPts val="510"/>
              </a:spcBef>
              <a:buFont typeface="Wingdings" panose="05000000000000000000"/>
              <a:buChar char=""/>
              <a:tabLst>
                <a:tab pos="984885" algn="l"/>
              </a:tabLst>
            </a:pPr>
            <a:r>
              <a:rPr sz="1600" spc="-5" dirty="0">
                <a:solidFill>
                  <a:srgbClr val="171717"/>
                </a:solidFill>
                <a:latin typeface="Arial" panose="020B0604020202090204"/>
                <a:cs typeface="Arial" panose="020B0604020202090204"/>
              </a:rPr>
              <a:t>2022</a:t>
            </a:r>
            <a:r>
              <a:rPr sz="1600" spc="-5" dirty="0">
                <a:solidFill>
                  <a:srgbClr val="171717"/>
                </a:solidFill>
                <a:latin typeface="微软雅黑"/>
                <a:cs typeface="微软雅黑"/>
              </a:rPr>
              <a:t>年</a:t>
            </a:r>
            <a:r>
              <a:rPr sz="1600" spc="-5" dirty="0">
                <a:solidFill>
                  <a:srgbClr val="171717"/>
                </a:solidFill>
                <a:latin typeface="Arial" panose="020B0604020202090204"/>
                <a:cs typeface="Arial" panose="020B0604020202090204"/>
              </a:rPr>
              <a:t>9</a:t>
            </a:r>
            <a:r>
              <a:rPr sz="1600" spc="-5" dirty="0">
                <a:solidFill>
                  <a:srgbClr val="171717"/>
                </a:solidFill>
                <a:latin typeface="微软雅黑"/>
                <a:cs typeface="微软雅黑"/>
              </a:rPr>
              <a:t>月发布通义大模型，通过统一学习</a:t>
            </a:r>
            <a:r>
              <a:rPr sz="1600" spc="5" dirty="0">
                <a:solidFill>
                  <a:srgbClr val="171717"/>
                </a:solidFill>
                <a:latin typeface="微软雅黑"/>
                <a:cs typeface="微软雅黑"/>
              </a:rPr>
              <a:t>范</a:t>
            </a:r>
            <a:r>
              <a:rPr sz="1600" dirty="0">
                <a:solidFill>
                  <a:srgbClr val="171717"/>
                </a:solidFill>
                <a:latin typeface="微软雅黑"/>
                <a:cs typeface="微软雅黑"/>
              </a:rPr>
              <a:t>式</a:t>
            </a:r>
            <a:r>
              <a:rPr sz="1600" spc="-20" dirty="0">
                <a:solidFill>
                  <a:srgbClr val="171717"/>
                </a:solidFill>
                <a:latin typeface="Arial" panose="020B0604020202090204"/>
                <a:cs typeface="Arial" panose="020B0604020202090204"/>
              </a:rPr>
              <a:t>M6-OFA</a:t>
            </a:r>
            <a:r>
              <a:rPr sz="1600" spc="-5" dirty="0">
                <a:solidFill>
                  <a:srgbClr val="171717"/>
                </a:solidFill>
                <a:latin typeface="微软雅黑"/>
                <a:cs typeface="微软雅黑"/>
              </a:rPr>
              <a:t>和</a:t>
            </a:r>
            <a:r>
              <a:rPr sz="1600" spc="5" dirty="0">
                <a:solidFill>
                  <a:srgbClr val="171717"/>
                </a:solidFill>
                <a:latin typeface="微软雅黑"/>
                <a:cs typeface="微软雅黑"/>
              </a:rPr>
              <a:t>模</a:t>
            </a:r>
            <a:r>
              <a:rPr sz="1600" spc="-5" dirty="0">
                <a:solidFill>
                  <a:srgbClr val="171717"/>
                </a:solidFill>
                <a:latin typeface="微软雅黑"/>
                <a:cs typeface="微软雅黑"/>
              </a:rPr>
              <a:t>块化</a:t>
            </a:r>
            <a:r>
              <a:rPr sz="1600" spc="5" dirty="0">
                <a:solidFill>
                  <a:srgbClr val="171717"/>
                </a:solidFill>
                <a:latin typeface="微软雅黑"/>
                <a:cs typeface="微软雅黑"/>
              </a:rPr>
              <a:t>的</a:t>
            </a:r>
            <a:r>
              <a:rPr sz="1600" spc="-5" dirty="0">
                <a:solidFill>
                  <a:srgbClr val="171717"/>
                </a:solidFill>
                <a:latin typeface="微软雅黑"/>
                <a:cs typeface="微软雅黑"/>
              </a:rPr>
              <a:t>设计</a:t>
            </a:r>
            <a:r>
              <a:rPr sz="1600" spc="5" dirty="0">
                <a:solidFill>
                  <a:srgbClr val="171717"/>
                </a:solidFill>
                <a:latin typeface="微软雅黑"/>
                <a:cs typeface="微软雅黑"/>
              </a:rPr>
              <a:t>，</a:t>
            </a:r>
            <a:r>
              <a:rPr sz="1600" spc="-5" dirty="0">
                <a:solidFill>
                  <a:srgbClr val="171717"/>
                </a:solidFill>
                <a:latin typeface="微软雅黑"/>
                <a:cs typeface="微软雅黑"/>
              </a:rPr>
              <a:t>提升</a:t>
            </a:r>
            <a:r>
              <a:rPr sz="1600" spc="5" dirty="0">
                <a:solidFill>
                  <a:srgbClr val="171717"/>
                </a:solidFill>
                <a:latin typeface="微软雅黑"/>
                <a:cs typeface="微软雅黑"/>
              </a:rPr>
              <a:t>大</a:t>
            </a:r>
            <a:r>
              <a:rPr sz="1600" spc="-5" dirty="0">
                <a:solidFill>
                  <a:srgbClr val="171717"/>
                </a:solidFill>
                <a:latin typeface="微软雅黑"/>
                <a:cs typeface="微软雅黑"/>
              </a:rPr>
              <a:t>模型</a:t>
            </a:r>
            <a:r>
              <a:rPr sz="1600" spc="5" dirty="0">
                <a:solidFill>
                  <a:srgbClr val="171717"/>
                </a:solidFill>
                <a:latin typeface="微软雅黑"/>
                <a:cs typeface="微软雅黑"/>
              </a:rPr>
              <a:t>跨</a:t>
            </a:r>
            <a:r>
              <a:rPr sz="1600" spc="-5" dirty="0">
                <a:solidFill>
                  <a:srgbClr val="171717"/>
                </a:solidFill>
                <a:latin typeface="微软雅黑"/>
                <a:cs typeface="微软雅黑"/>
              </a:rPr>
              <a:t>模态</a:t>
            </a:r>
            <a:r>
              <a:rPr sz="1600" spc="5" dirty="0">
                <a:solidFill>
                  <a:srgbClr val="171717"/>
                </a:solidFill>
                <a:latin typeface="微软雅黑"/>
                <a:cs typeface="微软雅黑"/>
              </a:rPr>
              <a:t>能</a:t>
            </a:r>
            <a:r>
              <a:rPr sz="1600" spc="-5" dirty="0">
                <a:solidFill>
                  <a:srgbClr val="171717"/>
                </a:solidFill>
                <a:latin typeface="微软雅黑"/>
                <a:cs typeface="微软雅黑"/>
              </a:rPr>
              <a:t>力和</a:t>
            </a:r>
            <a:r>
              <a:rPr sz="1600" spc="5" dirty="0">
                <a:solidFill>
                  <a:srgbClr val="171717"/>
                </a:solidFill>
                <a:latin typeface="微软雅黑"/>
                <a:cs typeface="微软雅黑"/>
              </a:rPr>
              <a:t>效</a:t>
            </a:r>
            <a:r>
              <a:rPr sz="1600" spc="-5" dirty="0">
                <a:solidFill>
                  <a:srgbClr val="171717"/>
                </a:solidFill>
                <a:latin typeface="微软雅黑"/>
                <a:cs typeface="微软雅黑"/>
              </a:rPr>
              <a:t>率。</a:t>
            </a:r>
            <a:endParaRPr sz="1600">
              <a:latin typeface="微软雅黑"/>
              <a:cs typeface="微软雅黑"/>
            </a:endParaRPr>
          </a:p>
          <a:p>
            <a:pPr marL="984885" lvl="1" indent="-287655">
              <a:lnSpc>
                <a:spcPct val="100000"/>
              </a:lnSpc>
              <a:spcBef>
                <a:spcPts val="500"/>
              </a:spcBef>
              <a:buFont typeface="Wingdings" panose="05000000000000000000"/>
              <a:buChar char=""/>
              <a:tabLst>
                <a:tab pos="984885" algn="l"/>
              </a:tabLst>
            </a:pPr>
            <a:r>
              <a:rPr sz="1600" spc="-5" dirty="0">
                <a:solidFill>
                  <a:srgbClr val="171717"/>
                </a:solidFill>
                <a:latin typeface="Arial" panose="020B0604020202090204"/>
                <a:cs typeface="Arial" panose="020B0604020202090204"/>
              </a:rPr>
              <a:t>2023</a:t>
            </a:r>
            <a:r>
              <a:rPr sz="1600" spc="-5" dirty="0">
                <a:solidFill>
                  <a:srgbClr val="171717"/>
                </a:solidFill>
                <a:latin typeface="微软雅黑"/>
                <a:cs typeface="微软雅黑"/>
              </a:rPr>
              <a:t>年报电话会上，集团</a:t>
            </a:r>
            <a:r>
              <a:rPr sz="1600" spc="-5" dirty="0">
                <a:solidFill>
                  <a:srgbClr val="171717"/>
                </a:solidFill>
                <a:latin typeface="Arial" panose="020B0604020202090204"/>
                <a:cs typeface="Arial" panose="020B0604020202090204"/>
              </a:rPr>
              <a:t>CEO</a:t>
            </a:r>
            <a:r>
              <a:rPr sz="1600" spc="-5" dirty="0">
                <a:solidFill>
                  <a:srgbClr val="171717"/>
                </a:solidFill>
                <a:latin typeface="微软雅黑"/>
                <a:cs typeface="微软雅黑"/>
              </a:rPr>
              <a:t>张勇表示针</a:t>
            </a:r>
            <a:r>
              <a:rPr sz="1600" spc="5" dirty="0">
                <a:solidFill>
                  <a:srgbClr val="171717"/>
                </a:solidFill>
                <a:latin typeface="微软雅黑"/>
                <a:cs typeface="微软雅黑"/>
              </a:rPr>
              <a:t>对</a:t>
            </a:r>
            <a:r>
              <a:rPr sz="1600" spc="-5" dirty="0">
                <a:solidFill>
                  <a:srgbClr val="171717"/>
                </a:solidFill>
                <a:latin typeface="微软雅黑"/>
                <a:cs typeface="微软雅黑"/>
              </a:rPr>
              <a:t>生成式</a:t>
            </a:r>
            <a:r>
              <a:rPr sz="1600" dirty="0">
                <a:solidFill>
                  <a:srgbClr val="171717"/>
                </a:solidFill>
                <a:latin typeface="Arial" panose="020B0604020202090204"/>
                <a:cs typeface="Arial" panose="020B0604020202090204"/>
              </a:rPr>
              <a:t>AI</a:t>
            </a:r>
            <a:r>
              <a:rPr sz="1600" spc="-5" dirty="0">
                <a:solidFill>
                  <a:srgbClr val="171717"/>
                </a:solidFill>
                <a:latin typeface="微软雅黑"/>
                <a:cs typeface="微软雅黑"/>
              </a:rPr>
              <a:t>趋势</a:t>
            </a:r>
            <a:r>
              <a:rPr sz="1600" spc="5" dirty="0">
                <a:solidFill>
                  <a:srgbClr val="171717"/>
                </a:solidFill>
                <a:latin typeface="微软雅黑"/>
                <a:cs typeface="微软雅黑"/>
              </a:rPr>
              <a:t>，</a:t>
            </a:r>
            <a:r>
              <a:rPr sz="1600" spc="-5" dirty="0">
                <a:solidFill>
                  <a:srgbClr val="171717"/>
                </a:solidFill>
                <a:latin typeface="微软雅黑"/>
                <a:cs typeface="微软雅黑"/>
              </a:rPr>
              <a:t>将全</a:t>
            </a:r>
            <a:r>
              <a:rPr sz="1600" spc="5" dirty="0">
                <a:solidFill>
                  <a:srgbClr val="171717"/>
                </a:solidFill>
                <a:latin typeface="微软雅黑"/>
                <a:cs typeface="微软雅黑"/>
              </a:rPr>
              <a:t>力</a:t>
            </a:r>
            <a:r>
              <a:rPr sz="1600" spc="-5" dirty="0">
                <a:solidFill>
                  <a:srgbClr val="171717"/>
                </a:solidFill>
                <a:latin typeface="微软雅黑"/>
                <a:cs typeface="微软雅黑"/>
              </a:rPr>
              <a:t>构建</a:t>
            </a:r>
            <a:r>
              <a:rPr sz="1600" spc="5" dirty="0">
                <a:solidFill>
                  <a:srgbClr val="171717"/>
                </a:solidFill>
                <a:latin typeface="微软雅黑"/>
                <a:cs typeface="微软雅黑"/>
              </a:rPr>
              <a:t>预</a:t>
            </a:r>
            <a:r>
              <a:rPr sz="1600" spc="-5" dirty="0">
                <a:solidFill>
                  <a:srgbClr val="171717"/>
                </a:solidFill>
                <a:latin typeface="微软雅黑"/>
                <a:cs typeface="微软雅黑"/>
              </a:rPr>
              <a:t>训练</a:t>
            </a:r>
            <a:r>
              <a:rPr sz="1600" spc="5" dirty="0">
                <a:solidFill>
                  <a:srgbClr val="171717"/>
                </a:solidFill>
                <a:latin typeface="微软雅黑"/>
                <a:cs typeface="微软雅黑"/>
              </a:rPr>
              <a:t>大</a:t>
            </a:r>
            <a:r>
              <a:rPr sz="1600" spc="-5" dirty="0">
                <a:solidFill>
                  <a:srgbClr val="171717"/>
                </a:solidFill>
                <a:latin typeface="微软雅黑"/>
                <a:cs typeface="微软雅黑"/>
              </a:rPr>
              <a:t>模型。</a:t>
            </a:r>
            <a:endParaRPr sz="1600">
              <a:latin typeface="微软雅黑"/>
              <a:cs typeface="微软雅黑"/>
            </a:endParaRPr>
          </a:p>
        </p:txBody>
      </p:sp>
      <p:sp>
        <p:nvSpPr>
          <p:cNvPr id="6" name="object 6"/>
          <p:cNvSpPr txBox="1"/>
          <p:nvPr/>
        </p:nvSpPr>
        <p:spPr>
          <a:xfrm>
            <a:off x="588263" y="2620390"/>
            <a:ext cx="6061075" cy="257810"/>
          </a:xfrm>
          <a:prstGeom prst="rect">
            <a:avLst/>
          </a:prstGeom>
          <a:solidFill>
            <a:srgbClr val="AA0001"/>
          </a:solidFill>
        </p:spPr>
        <p:txBody>
          <a:bodyPr vert="horz" wrap="square" lIns="0" tIns="59690" rIns="0" bIns="0" rtlCol="0">
            <a:spAutoFit/>
          </a:bodyPr>
          <a:lstStyle/>
          <a:p>
            <a:pPr algn="ctr">
              <a:lnSpc>
                <a:spcPct val="100000"/>
              </a:lnSpc>
              <a:spcBef>
                <a:spcPts val="470"/>
              </a:spcBef>
            </a:pPr>
            <a:r>
              <a:rPr sz="1000" b="1" spc="-5" dirty="0">
                <a:solidFill>
                  <a:srgbClr val="FFFFFF"/>
                </a:solidFill>
                <a:latin typeface="微软雅黑"/>
                <a:cs typeface="微软雅黑"/>
              </a:rPr>
              <a:t>阿里通义大模型架构</a:t>
            </a:r>
            <a:endParaRPr sz="1000">
              <a:latin typeface="微软雅黑"/>
              <a:cs typeface="微软雅黑"/>
            </a:endParaRPr>
          </a:p>
        </p:txBody>
      </p:sp>
      <p:sp>
        <p:nvSpPr>
          <p:cNvPr id="7" name="object 7"/>
          <p:cNvSpPr txBox="1"/>
          <p:nvPr/>
        </p:nvSpPr>
        <p:spPr>
          <a:xfrm>
            <a:off x="7440168" y="2617342"/>
            <a:ext cx="4044950" cy="257810"/>
          </a:xfrm>
          <a:prstGeom prst="rect">
            <a:avLst/>
          </a:prstGeom>
          <a:solidFill>
            <a:srgbClr val="AA0001"/>
          </a:solidFill>
        </p:spPr>
        <p:txBody>
          <a:bodyPr vert="horz" wrap="square" lIns="0" tIns="60325" rIns="0" bIns="0" rtlCol="0">
            <a:spAutoFit/>
          </a:bodyPr>
          <a:lstStyle/>
          <a:p>
            <a:pPr marL="635" algn="ctr">
              <a:lnSpc>
                <a:spcPct val="100000"/>
              </a:lnSpc>
              <a:spcBef>
                <a:spcPts val="475"/>
              </a:spcBef>
            </a:pPr>
            <a:r>
              <a:rPr sz="1000" b="1" spc="-5" dirty="0">
                <a:solidFill>
                  <a:srgbClr val="FFFFFF"/>
                </a:solidFill>
                <a:latin typeface="Arial" panose="020B0604020202090204"/>
                <a:cs typeface="Arial" panose="020B0604020202090204"/>
              </a:rPr>
              <a:t>Dense</a:t>
            </a:r>
            <a:r>
              <a:rPr sz="1000" b="1" spc="-5" dirty="0">
                <a:solidFill>
                  <a:srgbClr val="FFFFFF"/>
                </a:solidFill>
                <a:latin typeface="微软雅黑"/>
                <a:cs typeface="微软雅黑"/>
              </a:rPr>
              <a:t>模型与</a:t>
            </a:r>
            <a:r>
              <a:rPr sz="1000" b="1" dirty="0">
                <a:solidFill>
                  <a:srgbClr val="FFFFFF"/>
                </a:solidFill>
                <a:latin typeface="Arial" panose="020B0604020202090204"/>
                <a:cs typeface="Arial" panose="020B0604020202090204"/>
              </a:rPr>
              <a:t>MoE</a:t>
            </a:r>
            <a:r>
              <a:rPr sz="1000" b="1" spc="-5" dirty="0">
                <a:solidFill>
                  <a:srgbClr val="FFFFFF"/>
                </a:solidFill>
                <a:latin typeface="微软雅黑"/>
                <a:cs typeface="微软雅黑"/>
              </a:rPr>
              <a:t>模型</a:t>
            </a:r>
            <a:endParaRPr sz="1000">
              <a:latin typeface="微软雅黑"/>
              <a:cs typeface="微软雅黑"/>
            </a:endParaRPr>
          </a:p>
        </p:txBody>
      </p:sp>
      <p:sp>
        <p:nvSpPr>
          <p:cNvPr id="8" name="object 8"/>
          <p:cNvSpPr txBox="1"/>
          <p:nvPr/>
        </p:nvSpPr>
        <p:spPr>
          <a:xfrm>
            <a:off x="7555992" y="3310763"/>
            <a:ext cx="969644" cy="567055"/>
          </a:xfrm>
          <a:prstGeom prst="rect">
            <a:avLst/>
          </a:prstGeom>
          <a:solidFill>
            <a:srgbClr val="AA0001"/>
          </a:solidFill>
        </p:spPr>
        <p:txBody>
          <a:bodyPr vert="horz" wrap="square" lIns="0" tIns="171450" rIns="0" bIns="0" rtlCol="0">
            <a:spAutoFit/>
          </a:bodyPr>
          <a:lstStyle/>
          <a:p>
            <a:pPr marL="288925">
              <a:lnSpc>
                <a:spcPct val="100000"/>
              </a:lnSpc>
              <a:spcBef>
                <a:spcPts val="1350"/>
              </a:spcBef>
            </a:pPr>
            <a:r>
              <a:rPr sz="1600" b="1" spc="-10" dirty="0">
                <a:solidFill>
                  <a:srgbClr val="FFFFFF"/>
                </a:solidFill>
                <a:latin typeface="Arial" panose="020B0604020202090204"/>
                <a:cs typeface="Arial" panose="020B0604020202090204"/>
              </a:rPr>
              <a:t>FFN</a:t>
            </a:r>
            <a:endParaRPr sz="1600">
              <a:latin typeface="Arial" panose="020B0604020202090204"/>
              <a:cs typeface="Arial" panose="020B0604020202090204"/>
            </a:endParaRPr>
          </a:p>
        </p:txBody>
      </p:sp>
      <p:sp>
        <p:nvSpPr>
          <p:cNvPr id="9" name="object 9"/>
          <p:cNvSpPr txBox="1"/>
          <p:nvPr/>
        </p:nvSpPr>
        <p:spPr>
          <a:xfrm>
            <a:off x="7555992" y="4831714"/>
            <a:ext cx="969644" cy="568960"/>
          </a:xfrm>
          <a:prstGeom prst="rect">
            <a:avLst/>
          </a:prstGeom>
          <a:solidFill>
            <a:srgbClr val="767070"/>
          </a:solidFill>
        </p:spPr>
        <p:txBody>
          <a:bodyPr vert="horz" wrap="square" lIns="0" tIns="173355" rIns="0" bIns="0" rtlCol="0">
            <a:spAutoFit/>
          </a:bodyPr>
          <a:lstStyle/>
          <a:p>
            <a:pPr marL="7620" algn="ctr">
              <a:lnSpc>
                <a:spcPct val="100000"/>
              </a:lnSpc>
              <a:spcBef>
                <a:spcPts val="1365"/>
              </a:spcBef>
            </a:pPr>
            <a:r>
              <a:rPr sz="1600" b="1" spc="-5" dirty="0">
                <a:solidFill>
                  <a:srgbClr val="FFFFFF"/>
                </a:solidFill>
                <a:latin typeface="Arial" panose="020B0604020202090204"/>
                <a:cs typeface="Arial" panose="020B0604020202090204"/>
              </a:rPr>
              <a:t>SA</a:t>
            </a:r>
            <a:endParaRPr sz="1600">
              <a:latin typeface="Arial" panose="020B0604020202090204"/>
              <a:cs typeface="Arial" panose="020B0604020202090204"/>
            </a:endParaRPr>
          </a:p>
        </p:txBody>
      </p:sp>
      <p:sp>
        <p:nvSpPr>
          <p:cNvPr id="10" name="object 10"/>
          <p:cNvSpPr txBox="1"/>
          <p:nvPr/>
        </p:nvSpPr>
        <p:spPr>
          <a:xfrm>
            <a:off x="9316211" y="3257423"/>
            <a:ext cx="532130" cy="879475"/>
          </a:xfrm>
          <a:prstGeom prst="rect">
            <a:avLst/>
          </a:prstGeom>
          <a:solidFill>
            <a:srgbClr val="AA0001"/>
          </a:solidFill>
        </p:spPr>
        <p:txBody>
          <a:bodyPr vert="horz" wrap="square" lIns="0" tIns="76835" rIns="0" bIns="0" rtlCol="0">
            <a:spAutoFit/>
          </a:bodyPr>
          <a:lstStyle/>
          <a:p>
            <a:pPr marL="215900" marR="85090" indent="-121920">
              <a:lnSpc>
                <a:spcPct val="150000"/>
              </a:lnSpc>
              <a:spcBef>
                <a:spcPts val="605"/>
              </a:spcBef>
            </a:pPr>
            <a:r>
              <a:rPr sz="1400" b="1" spc="-10" dirty="0">
                <a:solidFill>
                  <a:srgbClr val="FFFFFF"/>
                </a:solidFill>
                <a:latin typeface="Arial" panose="020B0604020202090204"/>
                <a:cs typeface="Arial" panose="020B0604020202090204"/>
              </a:rPr>
              <a:t>FFN  </a:t>
            </a:r>
            <a:r>
              <a:rPr sz="1400" b="1" dirty="0">
                <a:solidFill>
                  <a:srgbClr val="FFFFFF"/>
                </a:solidFill>
                <a:latin typeface="Arial" panose="020B0604020202090204"/>
                <a:cs typeface="Arial" panose="020B0604020202090204"/>
              </a:rPr>
              <a:t>1</a:t>
            </a:r>
            <a:endParaRPr sz="1400">
              <a:latin typeface="Arial" panose="020B0604020202090204"/>
              <a:cs typeface="Arial" panose="020B0604020202090204"/>
            </a:endParaRPr>
          </a:p>
        </p:txBody>
      </p:sp>
      <p:sp>
        <p:nvSpPr>
          <p:cNvPr id="11" name="object 11"/>
          <p:cNvSpPr txBox="1"/>
          <p:nvPr/>
        </p:nvSpPr>
        <p:spPr>
          <a:xfrm>
            <a:off x="10070592" y="3257423"/>
            <a:ext cx="532130" cy="879475"/>
          </a:xfrm>
          <a:prstGeom prst="rect">
            <a:avLst/>
          </a:prstGeom>
          <a:solidFill>
            <a:srgbClr val="FF7779"/>
          </a:solidFill>
        </p:spPr>
        <p:txBody>
          <a:bodyPr vert="horz" wrap="square" lIns="0" tIns="76835" rIns="0" bIns="0" rtlCol="0">
            <a:spAutoFit/>
          </a:bodyPr>
          <a:lstStyle/>
          <a:p>
            <a:pPr marL="215900" marR="85090" indent="-121920">
              <a:lnSpc>
                <a:spcPct val="150000"/>
              </a:lnSpc>
              <a:spcBef>
                <a:spcPts val="605"/>
              </a:spcBef>
            </a:pPr>
            <a:r>
              <a:rPr sz="1400" b="1" spc="-10" dirty="0">
                <a:solidFill>
                  <a:srgbClr val="FFFFFF"/>
                </a:solidFill>
                <a:latin typeface="Arial" panose="020B0604020202090204"/>
                <a:cs typeface="Arial" panose="020B0604020202090204"/>
              </a:rPr>
              <a:t>FFN  </a:t>
            </a:r>
            <a:r>
              <a:rPr sz="1400" b="1" dirty="0">
                <a:solidFill>
                  <a:srgbClr val="FFFFFF"/>
                </a:solidFill>
                <a:latin typeface="Arial" panose="020B0604020202090204"/>
                <a:cs typeface="Arial" panose="020B0604020202090204"/>
              </a:rPr>
              <a:t>2</a:t>
            </a:r>
            <a:endParaRPr sz="1400">
              <a:latin typeface="Arial" panose="020B0604020202090204"/>
              <a:cs typeface="Arial" panose="020B0604020202090204"/>
            </a:endParaRPr>
          </a:p>
        </p:txBody>
      </p:sp>
      <p:sp>
        <p:nvSpPr>
          <p:cNvPr id="12" name="object 12"/>
          <p:cNvSpPr txBox="1"/>
          <p:nvPr/>
        </p:nvSpPr>
        <p:spPr>
          <a:xfrm>
            <a:off x="10794492" y="3257423"/>
            <a:ext cx="532130" cy="879475"/>
          </a:xfrm>
          <a:prstGeom prst="rect">
            <a:avLst/>
          </a:prstGeom>
          <a:solidFill>
            <a:srgbClr val="FF3335"/>
          </a:solidFill>
        </p:spPr>
        <p:txBody>
          <a:bodyPr vert="horz" wrap="square" lIns="0" tIns="76835" rIns="0" bIns="0" rtlCol="0">
            <a:spAutoFit/>
          </a:bodyPr>
          <a:lstStyle/>
          <a:p>
            <a:pPr marL="216535" marR="85090" indent="-121920">
              <a:lnSpc>
                <a:spcPct val="150000"/>
              </a:lnSpc>
              <a:spcBef>
                <a:spcPts val="605"/>
              </a:spcBef>
            </a:pPr>
            <a:r>
              <a:rPr sz="1400" b="1" spc="-10" dirty="0">
                <a:solidFill>
                  <a:srgbClr val="FFFFFF"/>
                </a:solidFill>
                <a:latin typeface="Arial" panose="020B0604020202090204"/>
                <a:cs typeface="Arial" panose="020B0604020202090204"/>
              </a:rPr>
              <a:t>FFN  </a:t>
            </a:r>
            <a:r>
              <a:rPr sz="1400" b="1" dirty="0">
                <a:solidFill>
                  <a:srgbClr val="FFFFFF"/>
                </a:solidFill>
                <a:latin typeface="Arial" panose="020B0604020202090204"/>
                <a:cs typeface="Arial" panose="020B0604020202090204"/>
              </a:rPr>
              <a:t>3</a:t>
            </a:r>
            <a:endParaRPr sz="1400">
              <a:latin typeface="Arial" panose="020B0604020202090204"/>
              <a:cs typeface="Arial" panose="020B0604020202090204"/>
            </a:endParaRPr>
          </a:p>
        </p:txBody>
      </p:sp>
      <p:grpSp>
        <p:nvGrpSpPr>
          <p:cNvPr id="13" name="object 13"/>
          <p:cNvGrpSpPr/>
          <p:nvPr/>
        </p:nvGrpSpPr>
        <p:grpSpPr>
          <a:xfrm>
            <a:off x="9241281" y="3159632"/>
            <a:ext cx="2179955" cy="1500505"/>
            <a:chOff x="9241281" y="3349497"/>
            <a:chExt cx="2179955" cy="1500505"/>
          </a:xfrm>
        </p:grpSpPr>
        <p:sp>
          <p:nvSpPr>
            <p:cNvPr id="14" name="object 14"/>
            <p:cNvSpPr/>
            <p:nvPr/>
          </p:nvSpPr>
          <p:spPr>
            <a:xfrm>
              <a:off x="9251441" y="3359657"/>
              <a:ext cx="2159635" cy="1094740"/>
            </a:xfrm>
            <a:custGeom>
              <a:avLst/>
              <a:gdLst/>
              <a:ahLst/>
              <a:cxnLst/>
              <a:rect l="l" t="t" r="r" b="b"/>
              <a:pathLst>
                <a:path w="2159634" h="1094739">
                  <a:moveTo>
                    <a:pt x="0" y="1094232"/>
                  </a:moveTo>
                  <a:lnTo>
                    <a:pt x="2159507" y="1094232"/>
                  </a:lnTo>
                  <a:lnTo>
                    <a:pt x="2159507" y="0"/>
                  </a:lnTo>
                  <a:lnTo>
                    <a:pt x="0" y="0"/>
                  </a:lnTo>
                  <a:lnTo>
                    <a:pt x="0" y="1094232"/>
                  </a:lnTo>
                  <a:close/>
                </a:path>
              </a:pathLst>
            </a:custGeom>
            <a:ln w="19812">
              <a:solidFill>
                <a:srgbClr val="171717"/>
              </a:solidFill>
              <a:prstDash val="sysDash"/>
            </a:ln>
          </p:spPr>
          <p:txBody>
            <a:bodyPr wrap="square" lIns="0" tIns="0" rIns="0" bIns="0" rtlCol="0"/>
            <a:lstStyle/>
            <a:p/>
          </p:txBody>
        </p:sp>
        <p:pic>
          <p:nvPicPr>
            <p:cNvPr id="15" name="object 15"/>
            <p:cNvPicPr/>
            <p:nvPr/>
          </p:nvPicPr>
          <p:blipFill>
            <a:blip r:embed="rId1" cstate="print"/>
            <a:stretch>
              <a:fillRect/>
            </a:stretch>
          </p:blipFill>
          <p:spPr>
            <a:xfrm>
              <a:off x="10230738" y="4604130"/>
              <a:ext cx="214629" cy="208533"/>
            </a:xfrm>
            <a:prstGeom prst="rect">
              <a:avLst/>
            </a:prstGeom>
          </p:spPr>
        </p:pic>
        <p:sp>
          <p:nvSpPr>
            <p:cNvPr id="16" name="object 16"/>
            <p:cNvSpPr/>
            <p:nvPr/>
          </p:nvSpPr>
          <p:spPr>
            <a:xfrm>
              <a:off x="10192511" y="4564379"/>
              <a:ext cx="288290" cy="279400"/>
            </a:xfrm>
            <a:custGeom>
              <a:avLst/>
              <a:gdLst/>
              <a:ahLst/>
              <a:cxnLst/>
              <a:rect l="l" t="t" r="r" b="b"/>
              <a:pathLst>
                <a:path w="288290" h="279400">
                  <a:moveTo>
                    <a:pt x="0" y="139446"/>
                  </a:moveTo>
                  <a:lnTo>
                    <a:pt x="7345" y="95390"/>
                  </a:lnTo>
                  <a:lnTo>
                    <a:pt x="27797" y="57113"/>
                  </a:lnTo>
                  <a:lnTo>
                    <a:pt x="58978" y="26919"/>
                  </a:lnTo>
                  <a:lnTo>
                    <a:pt x="98511" y="7114"/>
                  </a:lnTo>
                  <a:lnTo>
                    <a:pt x="144018" y="0"/>
                  </a:lnTo>
                  <a:lnTo>
                    <a:pt x="189524" y="7114"/>
                  </a:lnTo>
                  <a:lnTo>
                    <a:pt x="229057" y="26919"/>
                  </a:lnTo>
                  <a:lnTo>
                    <a:pt x="260238" y="57113"/>
                  </a:lnTo>
                  <a:lnTo>
                    <a:pt x="280690" y="95390"/>
                  </a:lnTo>
                  <a:lnTo>
                    <a:pt x="288036" y="139446"/>
                  </a:lnTo>
                  <a:lnTo>
                    <a:pt x="280690" y="183501"/>
                  </a:lnTo>
                  <a:lnTo>
                    <a:pt x="260238" y="221778"/>
                  </a:lnTo>
                  <a:lnTo>
                    <a:pt x="229057" y="251972"/>
                  </a:lnTo>
                  <a:lnTo>
                    <a:pt x="189524" y="271777"/>
                  </a:lnTo>
                  <a:lnTo>
                    <a:pt x="144018" y="278892"/>
                  </a:lnTo>
                  <a:lnTo>
                    <a:pt x="98511" y="271777"/>
                  </a:lnTo>
                  <a:lnTo>
                    <a:pt x="58978" y="251972"/>
                  </a:lnTo>
                  <a:lnTo>
                    <a:pt x="27797" y="221778"/>
                  </a:lnTo>
                  <a:lnTo>
                    <a:pt x="7345" y="183501"/>
                  </a:lnTo>
                  <a:lnTo>
                    <a:pt x="0" y="139446"/>
                  </a:lnTo>
                  <a:close/>
                </a:path>
              </a:pathLst>
            </a:custGeom>
            <a:ln w="12192">
              <a:solidFill>
                <a:srgbClr val="C00000"/>
              </a:solidFill>
            </a:ln>
          </p:spPr>
          <p:txBody>
            <a:bodyPr wrap="square" lIns="0" tIns="0" rIns="0" bIns="0" rtlCol="0"/>
            <a:lstStyle/>
            <a:p/>
          </p:txBody>
        </p:sp>
      </p:grpSp>
      <p:sp>
        <p:nvSpPr>
          <p:cNvPr id="17" name="object 17"/>
          <p:cNvSpPr txBox="1"/>
          <p:nvPr/>
        </p:nvSpPr>
        <p:spPr>
          <a:xfrm>
            <a:off x="9851135" y="4821046"/>
            <a:ext cx="969644" cy="568960"/>
          </a:xfrm>
          <a:prstGeom prst="rect">
            <a:avLst/>
          </a:prstGeom>
          <a:solidFill>
            <a:srgbClr val="767070"/>
          </a:solidFill>
        </p:spPr>
        <p:txBody>
          <a:bodyPr vert="horz" wrap="square" lIns="0" tIns="173355" rIns="0" bIns="0" rtlCol="0">
            <a:spAutoFit/>
          </a:bodyPr>
          <a:lstStyle/>
          <a:p>
            <a:pPr marL="8255" algn="ctr">
              <a:lnSpc>
                <a:spcPct val="100000"/>
              </a:lnSpc>
              <a:spcBef>
                <a:spcPts val="1365"/>
              </a:spcBef>
            </a:pPr>
            <a:r>
              <a:rPr sz="1600" b="1" spc="-5" dirty="0">
                <a:solidFill>
                  <a:srgbClr val="FFFFFF"/>
                </a:solidFill>
                <a:latin typeface="Arial" panose="020B0604020202090204"/>
                <a:cs typeface="Arial" panose="020B0604020202090204"/>
              </a:rPr>
              <a:t>SA</a:t>
            </a:r>
            <a:endParaRPr sz="1600">
              <a:latin typeface="Arial" panose="020B0604020202090204"/>
              <a:cs typeface="Arial" panose="020B0604020202090204"/>
            </a:endParaRPr>
          </a:p>
        </p:txBody>
      </p:sp>
      <p:sp>
        <p:nvSpPr>
          <p:cNvPr id="18" name="object 18"/>
          <p:cNvSpPr/>
          <p:nvPr/>
        </p:nvSpPr>
        <p:spPr>
          <a:xfrm>
            <a:off x="8002523" y="3877690"/>
            <a:ext cx="76200" cy="955040"/>
          </a:xfrm>
          <a:custGeom>
            <a:avLst/>
            <a:gdLst/>
            <a:ahLst/>
            <a:cxnLst/>
            <a:rect l="l" t="t" r="r" b="b"/>
            <a:pathLst>
              <a:path w="76200" h="955039">
                <a:moveTo>
                  <a:pt x="44450" y="63500"/>
                </a:moveTo>
                <a:lnTo>
                  <a:pt x="31750" y="63500"/>
                </a:lnTo>
                <a:lnTo>
                  <a:pt x="31750" y="955040"/>
                </a:lnTo>
                <a:lnTo>
                  <a:pt x="44450" y="955040"/>
                </a:lnTo>
                <a:lnTo>
                  <a:pt x="44450" y="63500"/>
                </a:lnTo>
                <a:close/>
              </a:path>
              <a:path w="76200" h="955039">
                <a:moveTo>
                  <a:pt x="38100" y="0"/>
                </a:moveTo>
                <a:lnTo>
                  <a:pt x="0" y="76200"/>
                </a:lnTo>
                <a:lnTo>
                  <a:pt x="31750" y="76200"/>
                </a:lnTo>
                <a:lnTo>
                  <a:pt x="31750" y="63500"/>
                </a:lnTo>
                <a:lnTo>
                  <a:pt x="69850" y="63500"/>
                </a:lnTo>
                <a:lnTo>
                  <a:pt x="38100" y="0"/>
                </a:lnTo>
                <a:close/>
              </a:path>
              <a:path w="76200" h="955039">
                <a:moveTo>
                  <a:pt x="69850" y="63500"/>
                </a:moveTo>
                <a:lnTo>
                  <a:pt x="44450" y="63500"/>
                </a:lnTo>
                <a:lnTo>
                  <a:pt x="44450" y="76200"/>
                </a:lnTo>
                <a:lnTo>
                  <a:pt x="76200" y="76200"/>
                </a:lnTo>
                <a:lnTo>
                  <a:pt x="69850" y="63500"/>
                </a:lnTo>
                <a:close/>
              </a:path>
            </a:pathLst>
          </a:custGeom>
          <a:solidFill>
            <a:srgbClr val="171717"/>
          </a:solidFill>
        </p:spPr>
        <p:txBody>
          <a:bodyPr wrap="square" lIns="0" tIns="0" rIns="0" bIns="0" rtlCol="0"/>
          <a:lstStyle/>
          <a:p/>
        </p:txBody>
      </p:sp>
      <p:pic>
        <p:nvPicPr>
          <p:cNvPr id="19" name="object 19"/>
          <p:cNvPicPr/>
          <p:nvPr/>
        </p:nvPicPr>
        <p:blipFill>
          <a:blip r:embed="rId2" cstate="print"/>
          <a:stretch>
            <a:fillRect/>
          </a:stretch>
        </p:blipFill>
        <p:spPr>
          <a:xfrm>
            <a:off x="8002523" y="5400167"/>
            <a:ext cx="76200" cy="234022"/>
          </a:xfrm>
          <a:prstGeom prst="rect">
            <a:avLst/>
          </a:prstGeom>
        </p:spPr>
      </p:pic>
      <p:sp>
        <p:nvSpPr>
          <p:cNvPr id="20" name="object 20"/>
          <p:cNvSpPr/>
          <p:nvPr/>
        </p:nvSpPr>
        <p:spPr>
          <a:xfrm>
            <a:off x="8002523" y="3028823"/>
            <a:ext cx="76200" cy="280670"/>
          </a:xfrm>
          <a:custGeom>
            <a:avLst/>
            <a:gdLst/>
            <a:ahLst/>
            <a:cxnLst/>
            <a:rect l="l" t="t" r="r" b="b"/>
            <a:pathLst>
              <a:path w="76200" h="280670">
                <a:moveTo>
                  <a:pt x="44450" y="63500"/>
                </a:moveTo>
                <a:lnTo>
                  <a:pt x="31750" y="63500"/>
                </a:lnTo>
                <a:lnTo>
                  <a:pt x="31750" y="280670"/>
                </a:lnTo>
                <a:lnTo>
                  <a:pt x="44450" y="280670"/>
                </a:lnTo>
                <a:lnTo>
                  <a:pt x="44450" y="63500"/>
                </a:lnTo>
                <a:close/>
              </a:path>
              <a:path w="76200" h="280670">
                <a:moveTo>
                  <a:pt x="38100" y="0"/>
                </a:moveTo>
                <a:lnTo>
                  <a:pt x="0" y="76200"/>
                </a:lnTo>
                <a:lnTo>
                  <a:pt x="31750" y="76200"/>
                </a:lnTo>
                <a:lnTo>
                  <a:pt x="31750" y="63500"/>
                </a:lnTo>
                <a:lnTo>
                  <a:pt x="69850" y="63500"/>
                </a:lnTo>
                <a:lnTo>
                  <a:pt x="38100" y="0"/>
                </a:lnTo>
                <a:close/>
              </a:path>
              <a:path w="76200" h="280670">
                <a:moveTo>
                  <a:pt x="69850" y="63500"/>
                </a:moveTo>
                <a:lnTo>
                  <a:pt x="44450" y="63500"/>
                </a:lnTo>
                <a:lnTo>
                  <a:pt x="44450" y="76200"/>
                </a:lnTo>
                <a:lnTo>
                  <a:pt x="76200" y="76200"/>
                </a:lnTo>
                <a:lnTo>
                  <a:pt x="69850" y="63500"/>
                </a:lnTo>
                <a:close/>
              </a:path>
            </a:pathLst>
          </a:custGeom>
          <a:solidFill>
            <a:srgbClr val="171717"/>
          </a:solidFill>
        </p:spPr>
        <p:txBody>
          <a:bodyPr wrap="square" lIns="0" tIns="0" rIns="0" bIns="0" rtlCol="0"/>
          <a:lstStyle/>
          <a:p/>
        </p:txBody>
      </p:sp>
      <p:grpSp>
        <p:nvGrpSpPr>
          <p:cNvPr id="21" name="object 21"/>
          <p:cNvGrpSpPr/>
          <p:nvPr/>
        </p:nvGrpSpPr>
        <p:grpSpPr>
          <a:xfrm>
            <a:off x="10297668" y="2983102"/>
            <a:ext cx="76200" cy="1839595"/>
            <a:chOff x="10297668" y="3172967"/>
            <a:chExt cx="76200" cy="1839595"/>
          </a:xfrm>
        </p:grpSpPr>
        <p:pic>
          <p:nvPicPr>
            <p:cNvPr id="22" name="object 22"/>
            <p:cNvPicPr/>
            <p:nvPr/>
          </p:nvPicPr>
          <p:blipFill>
            <a:blip r:embed="rId3" cstate="print"/>
            <a:stretch>
              <a:fillRect/>
            </a:stretch>
          </p:blipFill>
          <p:spPr>
            <a:xfrm>
              <a:off x="10297668" y="4326635"/>
              <a:ext cx="76200" cy="237236"/>
            </a:xfrm>
            <a:prstGeom prst="rect">
              <a:avLst/>
            </a:prstGeom>
          </p:spPr>
        </p:pic>
        <p:pic>
          <p:nvPicPr>
            <p:cNvPr id="23" name="object 23"/>
            <p:cNvPicPr/>
            <p:nvPr/>
          </p:nvPicPr>
          <p:blipFill>
            <a:blip r:embed="rId4" cstate="print"/>
            <a:stretch>
              <a:fillRect/>
            </a:stretch>
          </p:blipFill>
          <p:spPr>
            <a:xfrm>
              <a:off x="10297668" y="4843272"/>
              <a:ext cx="76200" cy="168909"/>
            </a:xfrm>
            <a:prstGeom prst="rect">
              <a:avLst/>
            </a:prstGeom>
          </p:spPr>
        </p:pic>
        <p:sp>
          <p:nvSpPr>
            <p:cNvPr id="24" name="object 24"/>
            <p:cNvSpPr/>
            <p:nvPr/>
          </p:nvSpPr>
          <p:spPr>
            <a:xfrm>
              <a:off x="10297668" y="3172967"/>
              <a:ext cx="76200" cy="273685"/>
            </a:xfrm>
            <a:custGeom>
              <a:avLst/>
              <a:gdLst/>
              <a:ahLst/>
              <a:cxnLst/>
              <a:rect l="l" t="t" r="r" b="b"/>
              <a:pathLst>
                <a:path w="76200" h="273685">
                  <a:moveTo>
                    <a:pt x="44450" y="63500"/>
                  </a:moveTo>
                  <a:lnTo>
                    <a:pt x="31750" y="63500"/>
                  </a:lnTo>
                  <a:lnTo>
                    <a:pt x="31750" y="273558"/>
                  </a:lnTo>
                  <a:lnTo>
                    <a:pt x="44450" y="273558"/>
                  </a:lnTo>
                  <a:lnTo>
                    <a:pt x="44450" y="63500"/>
                  </a:lnTo>
                  <a:close/>
                </a:path>
                <a:path w="76200" h="273685">
                  <a:moveTo>
                    <a:pt x="38100" y="0"/>
                  </a:moveTo>
                  <a:lnTo>
                    <a:pt x="0" y="76200"/>
                  </a:lnTo>
                  <a:lnTo>
                    <a:pt x="31750" y="76200"/>
                  </a:lnTo>
                  <a:lnTo>
                    <a:pt x="31750" y="63500"/>
                  </a:lnTo>
                  <a:lnTo>
                    <a:pt x="69850" y="63500"/>
                  </a:lnTo>
                  <a:lnTo>
                    <a:pt x="38100" y="0"/>
                  </a:lnTo>
                  <a:close/>
                </a:path>
                <a:path w="76200" h="273685">
                  <a:moveTo>
                    <a:pt x="69850" y="63500"/>
                  </a:moveTo>
                  <a:lnTo>
                    <a:pt x="44450" y="63500"/>
                  </a:lnTo>
                  <a:lnTo>
                    <a:pt x="44450" y="76200"/>
                  </a:lnTo>
                  <a:lnTo>
                    <a:pt x="76200" y="76200"/>
                  </a:lnTo>
                  <a:lnTo>
                    <a:pt x="69850" y="63500"/>
                  </a:lnTo>
                  <a:close/>
                </a:path>
              </a:pathLst>
            </a:custGeom>
            <a:solidFill>
              <a:srgbClr val="171717"/>
            </a:solidFill>
          </p:spPr>
          <p:txBody>
            <a:bodyPr wrap="square" lIns="0" tIns="0" rIns="0" bIns="0" rtlCol="0"/>
            <a:lstStyle/>
            <a:p/>
          </p:txBody>
        </p:sp>
      </p:grpSp>
      <p:pic>
        <p:nvPicPr>
          <p:cNvPr id="25" name="object 25"/>
          <p:cNvPicPr/>
          <p:nvPr/>
        </p:nvPicPr>
        <p:blipFill>
          <a:blip r:embed="rId5" cstate="print"/>
          <a:stretch>
            <a:fillRect/>
          </a:stretch>
        </p:blipFill>
        <p:spPr>
          <a:xfrm>
            <a:off x="10297668" y="5389499"/>
            <a:ext cx="76200" cy="244690"/>
          </a:xfrm>
          <a:prstGeom prst="rect">
            <a:avLst/>
          </a:prstGeom>
        </p:spPr>
      </p:pic>
      <p:sp>
        <p:nvSpPr>
          <p:cNvPr id="26" name="object 26"/>
          <p:cNvSpPr txBox="1"/>
          <p:nvPr/>
        </p:nvSpPr>
        <p:spPr>
          <a:xfrm>
            <a:off x="10559922" y="4410913"/>
            <a:ext cx="330200" cy="208915"/>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767070"/>
                </a:solidFill>
                <a:latin typeface="微软雅黑"/>
                <a:cs typeface="微软雅黑"/>
              </a:rPr>
              <a:t>路由</a:t>
            </a:r>
            <a:endParaRPr sz="1200">
              <a:latin typeface="微软雅黑"/>
              <a:cs typeface="微软雅黑"/>
            </a:endParaRPr>
          </a:p>
        </p:txBody>
      </p:sp>
      <p:sp>
        <p:nvSpPr>
          <p:cNvPr id="27" name="object 27"/>
          <p:cNvSpPr txBox="1"/>
          <p:nvPr/>
        </p:nvSpPr>
        <p:spPr>
          <a:xfrm>
            <a:off x="7594218" y="5695924"/>
            <a:ext cx="1038860"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171717"/>
                </a:solidFill>
                <a:latin typeface="Arial" panose="020B0604020202090204"/>
                <a:cs typeface="Arial" panose="020B0604020202090204"/>
              </a:rPr>
              <a:t>Dens</a:t>
            </a:r>
            <a:r>
              <a:rPr sz="1600" b="1" spc="-10" dirty="0">
                <a:solidFill>
                  <a:srgbClr val="171717"/>
                </a:solidFill>
                <a:latin typeface="Arial" panose="020B0604020202090204"/>
                <a:cs typeface="Arial" panose="020B0604020202090204"/>
              </a:rPr>
              <a:t>e</a:t>
            </a:r>
            <a:r>
              <a:rPr sz="1600" b="1" spc="-5" dirty="0">
                <a:solidFill>
                  <a:srgbClr val="171717"/>
                </a:solidFill>
                <a:latin typeface="微软雅黑"/>
                <a:cs typeface="微软雅黑"/>
              </a:rPr>
              <a:t>模型</a:t>
            </a:r>
            <a:endParaRPr sz="1600">
              <a:latin typeface="微软雅黑"/>
              <a:cs typeface="微软雅黑"/>
            </a:endParaRPr>
          </a:p>
        </p:txBody>
      </p:sp>
      <p:sp>
        <p:nvSpPr>
          <p:cNvPr id="28" name="object 28"/>
          <p:cNvSpPr txBox="1"/>
          <p:nvPr/>
        </p:nvSpPr>
        <p:spPr>
          <a:xfrm>
            <a:off x="9927463" y="5695924"/>
            <a:ext cx="859155" cy="269240"/>
          </a:xfrm>
          <a:prstGeom prst="rect">
            <a:avLst/>
          </a:prstGeom>
        </p:spPr>
        <p:txBody>
          <a:bodyPr vert="horz" wrap="square" lIns="0" tIns="12065" rIns="0" bIns="0" rtlCol="0">
            <a:spAutoFit/>
          </a:bodyPr>
          <a:lstStyle/>
          <a:p>
            <a:pPr marL="12700">
              <a:lnSpc>
                <a:spcPct val="100000"/>
              </a:lnSpc>
              <a:spcBef>
                <a:spcPts val="95"/>
              </a:spcBef>
            </a:pPr>
            <a:r>
              <a:rPr sz="1600" b="1" spc="-5" dirty="0">
                <a:solidFill>
                  <a:srgbClr val="171717"/>
                </a:solidFill>
                <a:latin typeface="Arial" panose="020B0604020202090204"/>
                <a:cs typeface="Arial" panose="020B0604020202090204"/>
              </a:rPr>
              <a:t>MoE</a:t>
            </a:r>
            <a:r>
              <a:rPr sz="1600" b="1" spc="-5" dirty="0">
                <a:solidFill>
                  <a:srgbClr val="171717"/>
                </a:solidFill>
                <a:latin typeface="微软雅黑"/>
                <a:cs typeface="微软雅黑"/>
              </a:rPr>
              <a:t>模型</a:t>
            </a:r>
            <a:endParaRPr sz="1600">
              <a:latin typeface="微软雅黑"/>
              <a:cs typeface="微软雅黑"/>
            </a:endParaRPr>
          </a:p>
        </p:txBody>
      </p:sp>
      <p:pic>
        <p:nvPicPr>
          <p:cNvPr id="30" name="object 30"/>
          <p:cNvPicPr/>
          <p:nvPr/>
        </p:nvPicPr>
        <p:blipFill>
          <a:blip r:embed="rId6" cstate="print"/>
          <a:stretch>
            <a:fillRect/>
          </a:stretch>
        </p:blipFill>
        <p:spPr>
          <a:xfrm>
            <a:off x="588263" y="3027299"/>
            <a:ext cx="6060948" cy="3067812"/>
          </a:xfrm>
          <a:prstGeom prst="rect">
            <a:avLst/>
          </a:prstGeom>
        </p:spPr>
      </p:pic>
      <p:sp>
        <p:nvSpPr>
          <p:cNvPr id="3" name="object 2"/>
          <p:cNvSpPr txBox="1">
            <a:spLocks noGrp="1"/>
          </p:cNvSpPr>
          <p:nvPr>
            <p:ph type="title"/>
          </p:nvPr>
        </p:nvSpPr>
        <p:spPr>
          <a:xfrm>
            <a:off x="599440" y="224790"/>
            <a:ext cx="7742555" cy="443230"/>
          </a:xfrm>
          <a:prstGeom prst="rect">
            <a:avLst/>
          </a:prstGeom>
        </p:spPr>
        <p:txBody>
          <a:bodyPr vert="horz" wrap="square" lIns="0" tIns="12700" rIns="0" bIns="0" rtlCol="0">
            <a:spAutoFit/>
          </a:bodyPr>
          <a:p>
            <a:pPr marL="12700">
              <a:lnSpc>
                <a:spcPct val="100000"/>
              </a:lnSpc>
              <a:spcBef>
                <a:spcPts val="100"/>
              </a:spcBef>
            </a:pPr>
            <a:r>
              <a:rPr lang="zh-CN" sz="2800" dirty="0">
                <a:solidFill>
                  <a:schemeClr val="accent2"/>
                </a:solidFill>
              </a:rPr>
              <a:t>国产大模型</a:t>
            </a:r>
            <a:r>
              <a:rPr lang="zh-CN" sz="2800" dirty="0">
                <a:solidFill>
                  <a:schemeClr val="accent2"/>
                </a:solidFill>
                <a:sym typeface="+mn-ea"/>
              </a:rPr>
              <a:t>2：通义大模型（阿里巴巴）</a:t>
            </a:r>
            <a:endParaRPr lang="zh-CN" sz="28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14045" y="225933"/>
            <a:ext cx="464820" cy="452120"/>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FFFFFF"/>
                </a:solidFill>
                <a:latin typeface="微软雅黑"/>
                <a:cs typeface="微软雅黑"/>
              </a:rPr>
              <a:t>02</a:t>
            </a:r>
            <a:endParaRPr sz="2800">
              <a:latin typeface="微软雅黑"/>
              <a:cs typeface="微软雅黑"/>
            </a:endParaRPr>
          </a:p>
        </p:txBody>
      </p:sp>
      <p:sp>
        <p:nvSpPr>
          <p:cNvPr id="5" name="object 5"/>
          <p:cNvSpPr txBox="1"/>
          <p:nvPr/>
        </p:nvSpPr>
        <p:spPr>
          <a:xfrm>
            <a:off x="314045" y="905066"/>
            <a:ext cx="9807575" cy="949960"/>
          </a:xfrm>
          <a:prstGeom prst="rect">
            <a:avLst/>
          </a:prstGeom>
        </p:spPr>
        <p:txBody>
          <a:bodyPr vert="horz" wrap="square" lIns="0" tIns="77470" rIns="0" bIns="0" rtlCol="0">
            <a:spAutoFit/>
          </a:bodyPr>
          <a:lstStyle/>
          <a:p>
            <a:pPr marL="299085" indent="-287020">
              <a:lnSpc>
                <a:spcPct val="100000"/>
              </a:lnSpc>
              <a:spcBef>
                <a:spcPts val="610"/>
              </a:spcBef>
              <a:buFont typeface="Wingdings" panose="05000000000000000000"/>
              <a:buChar char=""/>
              <a:tabLst>
                <a:tab pos="299085" algn="l"/>
                <a:tab pos="299720" algn="l"/>
              </a:tabLst>
            </a:pPr>
            <a:r>
              <a:rPr sz="1600" b="1" spc="-10" dirty="0">
                <a:solidFill>
                  <a:srgbClr val="171717"/>
                </a:solidFill>
                <a:latin typeface="微软雅黑"/>
                <a:cs typeface="微软雅黑"/>
              </a:rPr>
              <a:t>华为盘古大模型深耕实业，拥有更</a:t>
            </a:r>
            <a:r>
              <a:rPr sz="1600" b="1" dirty="0">
                <a:solidFill>
                  <a:srgbClr val="171717"/>
                </a:solidFill>
                <a:latin typeface="微软雅黑"/>
                <a:cs typeface="微软雅黑"/>
              </a:rPr>
              <a:t>广</a:t>
            </a:r>
            <a:r>
              <a:rPr sz="1600" b="1" spc="-10" dirty="0">
                <a:solidFill>
                  <a:srgbClr val="171717"/>
                </a:solidFill>
                <a:latin typeface="微软雅黑"/>
                <a:cs typeface="微软雅黑"/>
              </a:rPr>
              <a:t>泛的</a:t>
            </a:r>
            <a:r>
              <a:rPr sz="1600" b="1" dirty="0">
                <a:solidFill>
                  <a:srgbClr val="171717"/>
                </a:solidFill>
                <a:latin typeface="微软雅黑"/>
                <a:cs typeface="微软雅黑"/>
              </a:rPr>
              <a:t>行</a:t>
            </a:r>
            <a:r>
              <a:rPr sz="1600" b="1" spc="-10" dirty="0">
                <a:solidFill>
                  <a:srgbClr val="171717"/>
                </a:solidFill>
                <a:latin typeface="微软雅黑"/>
                <a:cs typeface="微软雅黑"/>
              </a:rPr>
              <a:t>业大</a:t>
            </a:r>
            <a:r>
              <a:rPr sz="1600" b="1" dirty="0">
                <a:solidFill>
                  <a:srgbClr val="171717"/>
                </a:solidFill>
                <a:latin typeface="微软雅黑"/>
                <a:cs typeface="微软雅黑"/>
              </a:rPr>
              <a:t>模</a:t>
            </a:r>
            <a:r>
              <a:rPr sz="1600" b="1" spc="-10" dirty="0">
                <a:solidFill>
                  <a:srgbClr val="171717"/>
                </a:solidFill>
                <a:latin typeface="微软雅黑"/>
                <a:cs typeface="微软雅黑"/>
              </a:rPr>
              <a:t>型，</a:t>
            </a:r>
            <a:r>
              <a:rPr sz="1600" b="1" dirty="0">
                <a:solidFill>
                  <a:srgbClr val="171717"/>
                </a:solidFill>
                <a:latin typeface="微软雅黑"/>
                <a:cs typeface="微软雅黑"/>
              </a:rPr>
              <a:t>具</a:t>
            </a:r>
            <a:r>
              <a:rPr sz="1600" b="1" spc="-10" dirty="0">
                <a:solidFill>
                  <a:srgbClr val="171717"/>
                </a:solidFill>
                <a:latin typeface="微软雅黑"/>
                <a:cs typeface="微软雅黑"/>
              </a:rPr>
              <a:t>备更</a:t>
            </a:r>
            <a:r>
              <a:rPr sz="1600" b="1" dirty="0">
                <a:solidFill>
                  <a:srgbClr val="171717"/>
                </a:solidFill>
                <a:latin typeface="微软雅黑"/>
                <a:cs typeface="微软雅黑"/>
              </a:rPr>
              <a:t>强</a:t>
            </a:r>
            <a:r>
              <a:rPr sz="1600" b="1" spc="-10" dirty="0">
                <a:solidFill>
                  <a:srgbClr val="171717"/>
                </a:solidFill>
                <a:latin typeface="微软雅黑"/>
                <a:cs typeface="微软雅黑"/>
              </a:rPr>
              <a:t>的落</a:t>
            </a:r>
            <a:r>
              <a:rPr sz="1600" b="1" dirty="0">
                <a:solidFill>
                  <a:srgbClr val="171717"/>
                </a:solidFill>
                <a:latin typeface="微软雅黑"/>
                <a:cs typeface="微软雅黑"/>
              </a:rPr>
              <a:t>地</a:t>
            </a:r>
            <a:r>
              <a:rPr sz="1600" b="1" spc="-10" dirty="0">
                <a:solidFill>
                  <a:srgbClr val="171717"/>
                </a:solidFill>
                <a:latin typeface="微软雅黑"/>
                <a:cs typeface="微软雅黑"/>
              </a:rPr>
              <a:t>能力。</a:t>
            </a:r>
            <a:endParaRPr sz="1600">
              <a:latin typeface="微软雅黑"/>
              <a:cs typeface="微软雅黑"/>
            </a:endParaRPr>
          </a:p>
          <a:p>
            <a:pPr marL="984885" lvl="1" indent="-287655">
              <a:lnSpc>
                <a:spcPct val="100000"/>
              </a:lnSpc>
              <a:spcBef>
                <a:spcPts val="505"/>
              </a:spcBef>
              <a:buFont typeface="Wingdings" panose="05000000000000000000"/>
              <a:buChar char=""/>
              <a:tabLst>
                <a:tab pos="984885" algn="l"/>
                <a:tab pos="984885" algn="l"/>
              </a:tabLst>
            </a:pPr>
            <a:r>
              <a:rPr sz="1600" spc="-5" dirty="0">
                <a:solidFill>
                  <a:srgbClr val="171717"/>
                </a:solidFill>
                <a:latin typeface="微软雅黑"/>
                <a:cs typeface="微软雅黑"/>
              </a:rPr>
              <a:t>基于</a:t>
            </a:r>
            <a:r>
              <a:rPr sz="1600" spc="-5" dirty="0">
                <a:solidFill>
                  <a:srgbClr val="171717"/>
                </a:solidFill>
                <a:latin typeface="Arial" panose="020B0604020202090204"/>
                <a:cs typeface="Arial" panose="020B0604020202090204"/>
              </a:rPr>
              <a:t>ModelArts</a:t>
            </a:r>
            <a:r>
              <a:rPr sz="1600" spc="-70" dirty="0">
                <a:solidFill>
                  <a:srgbClr val="171717"/>
                </a:solidFill>
                <a:latin typeface="Arial" panose="020B0604020202090204"/>
                <a:cs typeface="Arial" panose="020B0604020202090204"/>
              </a:rPr>
              <a:t> </a:t>
            </a:r>
            <a:r>
              <a:rPr sz="1600" spc="-5" dirty="0">
                <a:solidFill>
                  <a:srgbClr val="171717"/>
                </a:solidFill>
                <a:latin typeface="Arial" panose="020B0604020202090204"/>
                <a:cs typeface="Arial" panose="020B0604020202090204"/>
              </a:rPr>
              <a:t>AI</a:t>
            </a:r>
            <a:r>
              <a:rPr sz="1600" spc="-5" dirty="0">
                <a:solidFill>
                  <a:srgbClr val="171717"/>
                </a:solidFill>
                <a:latin typeface="微软雅黑"/>
                <a:cs typeface="微软雅黑"/>
              </a:rPr>
              <a:t>工作平台的盘古大模型</a:t>
            </a:r>
            <a:r>
              <a:rPr sz="1600" spc="-5" dirty="0">
                <a:solidFill>
                  <a:srgbClr val="171717"/>
                </a:solidFill>
                <a:latin typeface="Arial" panose="020B0604020202090204"/>
                <a:cs typeface="Arial" panose="020B0604020202090204"/>
              </a:rPr>
              <a:t>2021</a:t>
            </a:r>
            <a:r>
              <a:rPr sz="1600" spc="-5" dirty="0">
                <a:solidFill>
                  <a:srgbClr val="171717"/>
                </a:solidFill>
                <a:latin typeface="微软雅黑"/>
                <a:cs typeface="微软雅黑"/>
              </a:rPr>
              <a:t>年</a:t>
            </a:r>
            <a:r>
              <a:rPr sz="1600" spc="-5" dirty="0">
                <a:solidFill>
                  <a:srgbClr val="171717"/>
                </a:solidFill>
                <a:latin typeface="Arial" panose="020B0604020202090204"/>
                <a:cs typeface="Arial" panose="020B0604020202090204"/>
              </a:rPr>
              <a:t>4</a:t>
            </a:r>
            <a:r>
              <a:rPr sz="1600" spc="-5" dirty="0">
                <a:solidFill>
                  <a:srgbClr val="171717"/>
                </a:solidFill>
                <a:latin typeface="微软雅黑"/>
                <a:cs typeface="微软雅黑"/>
              </a:rPr>
              <a:t>月发布，目</a:t>
            </a:r>
            <a:r>
              <a:rPr sz="1600" spc="5" dirty="0">
                <a:solidFill>
                  <a:srgbClr val="171717"/>
                </a:solidFill>
                <a:latin typeface="微软雅黑"/>
                <a:cs typeface="微软雅黑"/>
              </a:rPr>
              <a:t>前</a:t>
            </a:r>
            <a:r>
              <a:rPr sz="1600" spc="-5" dirty="0">
                <a:solidFill>
                  <a:srgbClr val="171717"/>
                </a:solidFill>
                <a:latin typeface="微软雅黑"/>
                <a:cs typeface="微软雅黑"/>
              </a:rPr>
              <a:t>已应</a:t>
            </a:r>
            <a:r>
              <a:rPr sz="1600" spc="5" dirty="0">
                <a:solidFill>
                  <a:srgbClr val="171717"/>
                </a:solidFill>
                <a:latin typeface="微软雅黑"/>
                <a:cs typeface="微软雅黑"/>
              </a:rPr>
              <a:t>用</a:t>
            </a:r>
            <a:r>
              <a:rPr sz="1600" spc="-5" dirty="0">
                <a:solidFill>
                  <a:srgbClr val="171717"/>
                </a:solidFill>
                <a:latin typeface="微软雅黑"/>
                <a:cs typeface="微软雅黑"/>
              </a:rPr>
              <a:t>于</a:t>
            </a:r>
            <a:r>
              <a:rPr sz="1600" spc="-5" dirty="0">
                <a:solidFill>
                  <a:srgbClr val="171717"/>
                </a:solidFill>
                <a:latin typeface="Arial" panose="020B0604020202090204"/>
                <a:cs typeface="Arial" panose="020B0604020202090204"/>
              </a:rPr>
              <a:t>10+</a:t>
            </a:r>
            <a:r>
              <a:rPr sz="1600" spc="-5" dirty="0">
                <a:solidFill>
                  <a:srgbClr val="171717"/>
                </a:solidFill>
                <a:latin typeface="微软雅黑"/>
                <a:cs typeface="微软雅黑"/>
              </a:rPr>
              <a:t>行</a:t>
            </a:r>
            <a:r>
              <a:rPr sz="1600" spc="5" dirty="0">
                <a:solidFill>
                  <a:srgbClr val="171717"/>
                </a:solidFill>
                <a:latin typeface="微软雅黑"/>
                <a:cs typeface="微软雅黑"/>
              </a:rPr>
              <a:t>业</a:t>
            </a:r>
            <a:r>
              <a:rPr sz="1600" spc="-5" dirty="0">
                <a:solidFill>
                  <a:srgbClr val="171717"/>
                </a:solidFill>
                <a:latin typeface="微软雅黑"/>
                <a:cs typeface="微软雅黑"/>
              </a:rPr>
              <a:t>的</a:t>
            </a:r>
            <a:r>
              <a:rPr sz="1600" spc="-5" dirty="0">
                <a:solidFill>
                  <a:srgbClr val="171717"/>
                </a:solidFill>
                <a:latin typeface="Arial" panose="020B0604020202090204"/>
                <a:cs typeface="Arial" panose="020B0604020202090204"/>
              </a:rPr>
              <a:t>100+</a:t>
            </a:r>
            <a:r>
              <a:rPr sz="1600" spc="-5" dirty="0">
                <a:solidFill>
                  <a:srgbClr val="171717"/>
                </a:solidFill>
                <a:latin typeface="微软雅黑"/>
                <a:cs typeface="微软雅黑"/>
              </a:rPr>
              <a:t>应</a:t>
            </a:r>
            <a:r>
              <a:rPr sz="1600" spc="5" dirty="0">
                <a:solidFill>
                  <a:srgbClr val="171717"/>
                </a:solidFill>
                <a:latin typeface="微软雅黑"/>
                <a:cs typeface="微软雅黑"/>
              </a:rPr>
              <a:t>用</a:t>
            </a:r>
            <a:r>
              <a:rPr sz="1600" spc="-5" dirty="0">
                <a:solidFill>
                  <a:srgbClr val="171717"/>
                </a:solidFill>
                <a:latin typeface="微软雅黑"/>
                <a:cs typeface="微软雅黑"/>
              </a:rPr>
              <a:t>场景。</a:t>
            </a:r>
            <a:endParaRPr sz="1600">
              <a:latin typeface="微软雅黑"/>
              <a:cs typeface="微软雅黑"/>
            </a:endParaRPr>
          </a:p>
          <a:p>
            <a:pPr marL="984885" lvl="1" indent="-287655">
              <a:lnSpc>
                <a:spcPct val="100000"/>
              </a:lnSpc>
              <a:spcBef>
                <a:spcPts val="505"/>
              </a:spcBef>
              <a:buFont typeface="Wingdings" panose="05000000000000000000"/>
              <a:buChar char=""/>
              <a:tabLst>
                <a:tab pos="984885" algn="l"/>
                <a:tab pos="984885" algn="l"/>
              </a:tabLst>
            </a:pPr>
            <a:r>
              <a:rPr sz="1600" spc="-5" dirty="0">
                <a:solidFill>
                  <a:srgbClr val="171717"/>
                </a:solidFill>
                <a:latin typeface="微软雅黑"/>
                <a:cs typeface="微软雅黑"/>
              </a:rPr>
              <a:t>根据信通院模型开发和模型能力两</a:t>
            </a:r>
            <a:r>
              <a:rPr sz="1600" spc="5" dirty="0">
                <a:solidFill>
                  <a:srgbClr val="171717"/>
                </a:solidFill>
                <a:latin typeface="微软雅黑"/>
                <a:cs typeface="微软雅黑"/>
              </a:rPr>
              <a:t>方</a:t>
            </a:r>
            <a:r>
              <a:rPr sz="1600" spc="-5" dirty="0">
                <a:solidFill>
                  <a:srgbClr val="171717"/>
                </a:solidFill>
                <a:latin typeface="微软雅黑"/>
                <a:cs typeface="微软雅黑"/>
              </a:rPr>
              <a:t>面测</a:t>
            </a:r>
            <a:r>
              <a:rPr sz="1600" spc="5" dirty="0">
                <a:solidFill>
                  <a:srgbClr val="171717"/>
                </a:solidFill>
                <a:latin typeface="微软雅黑"/>
                <a:cs typeface="微软雅黑"/>
              </a:rPr>
              <a:t>评</a:t>
            </a:r>
            <a:r>
              <a:rPr sz="1600" spc="-5" dirty="0">
                <a:solidFill>
                  <a:srgbClr val="171717"/>
                </a:solidFill>
                <a:latin typeface="微软雅黑"/>
                <a:cs typeface="微软雅黑"/>
              </a:rPr>
              <a:t>，均</a:t>
            </a:r>
            <a:r>
              <a:rPr sz="1600" spc="5" dirty="0">
                <a:solidFill>
                  <a:srgbClr val="171717"/>
                </a:solidFill>
                <a:latin typeface="微软雅黑"/>
                <a:cs typeface="微软雅黑"/>
              </a:rPr>
              <a:t>为</a:t>
            </a:r>
            <a:r>
              <a:rPr sz="1600" spc="-5" dirty="0">
                <a:solidFill>
                  <a:srgbClr val="171717"/>
                </a:solidFill>
                <a:latin typeface="微软雅黑"/>
                <a:cs typeface="微软雅黑"/>
              </a:rPr>
              <a:t>优异</a:t>
            </a:r>
            <a:r>
              <a:rPr sz="1600" spc="5" dirty="0">
                <a:solidFill>
                  <a:srgbClr val="171717"/>
                </a:solidFill>
                <a:latin typeface="微软雅黑"/>
                <a:cs typeface="微软雅黑"/>
              </a:rPr>
              <a:t>水</a:t>
            </a:r>
            <a:r>
              <a:rPr sz="1600" spc="-5" dirty="0">
                <a:solidFill>
                  <a:srgbClr val="171717"/>
                </a:solidFill>
                <a:latin typeface="微软雅黑"/>
                <a:cs typeface="微软雅黑"/>
              </a:rPr>
              <a:t>平。</a:t>
            </a:r>
            <a:endParaRPr sz="1600">
              <a:latin typeface="微软雅黑"/>
              <a:cs typeface="微软雅黑"/>
            </a:endParaRPr>
          </a:p>
        </p:txBody>
      </p:sp>
      <p:sp>
        <p:nvSpPr>
          <p:cNvPr id="6" name="object 6"/>
          <p:cNvSpPr txBox="1"/>
          <p:nvPr/>
        </p:nvSpPr>
        <p:spPr>
          <a:xfrm>
            <a:off x="1330452" y="1869948"/>
            <a:ext cx="9325610" cy="250190"/>
          </a:xfrm>
          <a:prstGeom prst="rect">
            <a:avLst/>
          </a:prstGeom>
          <a:solidFill>
            <a:srgbClr val="AA0001"/>
          </a:solidFill>
        </p:spPr>
        <p:txBody>
          <a:bodyPr vert="horz" wrap="square" lIns="0" tIns="56515" rIns="0" bIns="0" rtlCol="0">
            <a:spAutoFit/>
          </a:bodyPr>
          <a:lstStyle/>
          <a:p>
            <a:pPr algn="ctr">
              <a:lnSpc>
                <a:spcPct val="100000"/>
              </a:lnSpc>
              <a:spcBef>
                <a:spcPts val="445"/>
              </a:spcBef>
            </a:pPr>
            <a:r>
              <a:rPr sz="1000" b="1" spc="-5" dirty="0">
                <a:solidFill>
                  <a:srgbClr val="FFFFFF"/>
                </a:solidFill>
                <a:latin typeface="微软雅黑"/>
                <a:cs typeface="微软雅黑"/>
              </a:rPr>
              <a:t>盘古预训练大模型架构及</a:t>
            </a:r>
            <a:r>
              <a:rPr sz="1000" b="1" spc="-5" dirty="0">
                <a:solidFill>
                  <a:srgbClr val="FFFFFF"/>
                </a:solidFill>
                <a:latin typeface="Arial" panose="020B0604020202090204"/>
                <a:cs typeface="Arial" panose="020B0604020202090204"/>
              </a:rPr>
              <a:t>Offering</a:t>
            </a:r>
            <a:endParaRPr sz="1000">
              <a:latin typeface="Arial" panose="020B0604020202090204"/>
              <a:cs typeface="Arial" panose="020B0604020202090204"/>
            </a:endParaRPr>
          </a:p>
        </p:txBody>
      </p:sp>
      <p:sp>
        <p:nvSpPr>
          <p:cNvPr id="8" name="object 8"/>
          <p:cNvSpPr txBox="1"/>
          <p:nvPr/>
        </p:nvSpPr>
        <p:spPr>
          <a:xfrm>
            <a:off x="2436876" y="4271771"/>
            <a:ext cx="6093460" cy="494030"/>
          </a:xfrm>
          <a:prstGeom prst="rect">
            <a:avLst/>
          </a:prstGeom>
          <a:solidFill>
            <a:srgbClr val="FFBABB"/>
          </a:solidFill>
        </p:spPr>
        <p:txBody>
          <a:bodyPr vert="horz" wrap="square" lIns="0" tIns="47625" rIns="0" bIns="0" rtlCol="0">
            <a:spAutoFit/>
          </a:bodyPr>
          <a:lstStyle/>
          <a:p>
            <a:pPr marL="635" algn="ctr">
              <a:lnSpc>
                <a:spcPct val="100000"/>
              </a:lnSpc>
              <a:spcBef>
                <a:spcPts val="375"/>
              </a:spcBef>
            </a:pPr>
            <a:r>
              <a:rPr sz="1050" b="1" spc="5" dirty="0">
                <a:solidFill>
                  <a:srgbClr val="171717"/>
                </a:solidFill>
                <a:latin typeface="微软雅黑"/>
                <a:cs typeface="微软雅黑"/>
              </a:rPr>
              <a:t>盘古大模型（</a:t>
            </a:r>
            <a:r>
              <a:rPr sz="1050" b="1" spc="-10" dirty="0">
                <a:solidFill>
                  <a:srgbClr val="171717"/>
                </a:solidFill>
                <a:latin typeface="微软雅黑"/>
                <a:cs typeface="微软雅黑"/>
              </a:rPr>
              <a:t>根</a:t>
            </a:r>
            <a:r>
              <a:rPr sz="1050" b="1" spc="5" dirty="0">
                <a:solidFill>
                  <a:srgbClr val="171717"/>
                </a:solidFill>
                <a:latin typeface="微软雅黑"/>
                <a:cs typeface="微软雅黑"/>
              </a:rPr>
              <a:t>技</a:t>
            </a:r>
            <a:r>
              <a:rPr sz="1050" b="1" spc="-10" dirty="0">
                <a:solidFill>
                  <a:srgbClr val="171717"/>
                </a:solidFill>
                <a:latin typeface="微软雅黑"/>
                <a:cs typeface="微软雅黑"/>
              </a:rPr>
              <a:t>术</a:t>
            </a:r>
            <a:r>
              <a:rPr sz="1050" b="1" spc="5" dirty="0">
                <a:solidFill>
                  <a:srgbClr val="171717"/>
                </a:solidFill>
                <a:latin typeface="微软雅黑"/>
                <a:cs typeface="微软雅黑"/>
              </a:rPr>
              <a:t>：</a:t>
            </a:r>
            <a:r>
              <a:rPr sz="1050" b="1" spc="-10" dirty="0">
                <a:solidFill>
                  <a:srgbClr val="171717"/>
                </a:solidFill>
                <a:latin typeface="微软雅黑"/>
                <a:cs typeface="微软雅黑"/>
              </a:rPr>
              <a:t>架</a:t>
            </a:r>
            <a:r>
              <a:rPr sz="1050" b="1" spc="5" dirty="0">
                <a:solidFill>
                  <a:srgbClr val="171717"/>
                </a:solidFill>
                <a:latin typeface="微软雅黑"/>
                <a:cs typeface="微软雅黑"/>
              </a:rPr>
              <a:t>构，</a:t>
            </a:r>
            <a:r>
              <a:rPr sz="1050" b="1" spc="-10" dirty="0">
                <a:solidFill>
                  <a:srgbClr val="171717"/>
                </a:solidFill>
                <a:latin typeface="微软雅黑"/>
                <a:cs typeface="微软雅黑"/>
              </a:rPr>
              <a:t>泛</a:t>
            </a:r>
            <a:r>
              <a:rPr sz="1050" b="1" spc="5" dirty="0">
                <a:solidFill>
                  <a:srgbClr val="171717"/>
                </a:solidFill>
                <a:latin typeface="微软雅黑"/>
                <a:cs typeface="微软雅黑"/>
              </a:rPr>
              <a:t>化</a:t>
            </a:r>
            <a:r>
              <a:rPr sz="1050" b="1" spc="-10" dirty="0">
                <a:solidFill>
                  <a:srgbClr val="171717"/>
                </a:solidFill>
                <a:latin typeface="微软雅黑"/>
                <a:cs typeface="微软雅黑"/>
              </a:rPr>
              <a:t>性</a:t>
            </a:r>
            <a:r>
              <a:rPr sz="1050" b="1" spc="5" dirty="0">
                <a:solidFill>
                  <a:srgbClr val="171717"/>
                </a:solidFill>
                <a:latin typeface="微软雅黑"/>
                <a:cs typeface="微软雅黑"/>
              </a:rPr>
              <a:t>，</a:t>
            </a:r>
            <a:r>
              <a:rPr sz="1050" b="1" spc="-10" dirty="0">
                <a:solidFill>
                  <a:srgbClr val="171717"/>
                </a:solidFill>
                <a:latin typeface="微软雅黑"/>
                <a:cs typeface="微软雅黑"/>
              </a:rPr>
              <a:t>精</a:t>
            </a:r>
            <a:r>
              <a:rPr sz="1050" b="1" spc="5" dirty="0">
                <a:solidFill>
                  <a:srgbClr val="171717"/>
                </a:solidFill>
                <a:latin typeface="微软雅黑"/>
                <a:cs typeface="微软雅黑"/>
              </a:rPr>
              <a:t>度</a:t>
            </a:r>
            <a:r>
              <a:rPr sz="1050" b="1" spc="-10" dirty="0">
                <a:solidFill>
                  <a:srgbClr val="171717"/>
                </a:solidFill>
                <a:latin typeface="微软雅黑"/>
                <a:cs typeface="微软雅黑"/>
              </a:rPr>
              <a:t>，</a:t>
            </a:r>
            <a:r>
              <a:rPr sz="1050" b="1" spc="5" dirty="0">
                <a:solidFill>
                  <a:srgbClr val="171717"/>
                </a:solidFill>
                <a:latin typeface="微软雅黑"/>
                <a:cs typeface="微软雅黑"/>
              </a:rPr>
              <a:t>训</a:t>
            </a:r>
            <a:r>
              <a:rPr sz="1050" b="1" spc="-10" dirty="0">
                <a:solidFill>
                  <a:srgbClr val="171717"/>
                </a:solidFill>
                <a:latin typeface="微软雅黑"/>
                <a:cs typeface="微软雅黑"/>
              </a:rPr>
              <a:t>练</a:t>
            </a:r>
            <a:r>
              <a:rPr sz="1050" b="1" spc="5" dirty="0">
                <a:solidFill>
                  <a:srgbClr val="171717"/>
                </a:solidFill>
                <a:latin typeface="微软雅黑"/>
                <a:cs typeface="微软雅黑"/>
              </a:rPr>
              <a:t>成</a:t>
            </a:r>
            <a:r>
              <a:rPr sz="1050" b="1" spc="-10" dirty="0">
                <a:solidFill>
                  <a:srgbClr val="171717"/>
                </a:solidFill>
                <a:latin typeface="微软雅黑"/>
                <a:cs typeface="微软雅黑"/>
              </a:rPr>
              <a:t>本</a:t>
            </a:r>
            <a:r>
              <a:rPr sz="1050" b="1" spc="5" dirty="0">
                <a:solidFill>
                  <a:srgbClr val="171717"/>
                </a:solidFill>
                <a:latin typeface="微软雅黑"/>
                <a:cs typeface="微软雅黑"/>
              </a:rPr>
              <a:t>）</a:t>
            </a:r>
            <a:endParaRPr sz="1050">
              <a:latin typeface="微软雅黑"/>
              <a:cs typeface="微软雅黑"/>
            </a:endParaRPr>
          </a:p>
        </p:txBody>
      </p:sp>
      <p:sp>
        <p:nvSpPr>
          <p:cNvPr id="9" name="object 9"/>
          <p:cNvSpPr txBox="1"/>
          <p:nvPr/>
        </p:nvSpPr>
        <p:spPr>
          <a:xfrm>
            <a:off x="2436876" y="3029711"/>
            <a:ext cx="6093460" cy="1164590"/>
          </a:xfrm>
          <a:prstGeom prst="rect">
            <a:avLst/>
          </a:prstGeom>
          <a:solidFill>
            <a:srgbClr val="FFBABB"/>
          </a:solidFill>
        </p:spPr>
        <p:txBody>
          <a:bodyPr vert="horz" wrap="square" lIns="0" tIns="46990" rIns="0" bIns="0" rtlCol="0">
            <a:spAutoFit/>
          </a:bodyPr>
          <a:lstStyle/>
          <a:p>
            <a:pPr marL="635" algn="ctr">
              <a:lnSpc>
                <a:spcPct val="100000"/>
              </a:lnSpc>
              <a:spcBef>
                <a:spcPts val="370"/>
              </a:spcBef>
            </a:pPr>
            <a:r>
              <a:rPr sz="1050" b="1" spc="5" dirty="0">
                <a:solidFill>
                  <a:srgbClr val="171717"/>
                </a:solidFill>
                <a:latin typeface="微软雅黑"/>
                <a:cs typeface="微软雅黑"/>
              </a:rPr>
              <a:t>盘</a:t>
            </a:r>
            <a:r>
              <a:rPr sz="1050" b="1" spc="-5" dirty="0">
                <a:solidFill>
                  <a:srgbClr val="171717"/>
                </a:solidFill>
                <a:latin typeface="微软雅黑"/>
                <a:cs typeface="微软雅黑"/>
              </a:rPr>
              <a:t>古</a:t>
            </a:r>
            <a:r>
              <a:rPr sz="1050" b="1" spc="5" dirty="0">
                <a:solidFill>
                  <a:srgbClr val="171717"/>
                </a:solidFill>
                <a:latin typeface="微软雅黑"/>
                <a:cs typeface="微软雅黑"/>
              </a:rPr>
              <a:t>行</a:t>
            </a:r>
            <a:r>
              <a:rPr sz="1050" b="1" spc="-5" dirty="0">
                <a:solidFill>
                  <a:srgbClr val="171717"/>
                </a:solidFill>
                <a:latin typeface="微软雅黑"/>
                <a:cs typeface="微软雅黑"/>
              </a:rPr>
              <a:t>业</a:t>
            </a:r>
            <a:r>
              <a:rPr sz="1050" b="1" spc="5" dirty="0">
                <a:solidFill>
                  <a:srgbClr val="171717"/>
                </a:solidFill>
                <a:latin typeface="微软雅黑"/>
                <a:cs typeface="微软雅黑"/>
              </a:rPr>
              <a:t>大</a:t>
            </a:r>
            <a:r>
              <a:rPr sz="1050" b="1" spc="-5" dirty="0">
                <a:solidFill>
                  <a:srgbClr val="171717"/>
                </a:solidFill>
                <a:latin typeface="微软雅黑"/>
                <a:cs typeface="微软雅黑"/>
              </a:rPr>
              <a:t>模</a:t>
            </a:r>
            <a:r>
              <a:rPr sz="1050" b="1" spc="-10" dirty="0">
                <a:solidFill>
                  <a:srgbClr val="171717"/>
                </a:solidFill>
                <a:latin typeface="微软雅黑"/>
                <a:cs typeface="微软雅黑"/>
              </a:rPr>
              <a:t>型</a:t>
            </a:r>
            <a:r>
              <a:rPr sz="1050" b="1" spc="5" dirty="0">
                <a:solidFill>
                  <a:srgbClr val="171717"/>
                </a:solidFill>
                <a:latin typeface="微软雅黑"/>
                <a:cs typeface="微软雅黑"/>
              </a:rPr>
              <a:t>（</a:t>
            </a:r>
            <a:r>
              <a:rPr sz="1050" b="1" spc="-15" dirty="0">
                <a:solidFill>
                  <a:srgbClr val="171717"/>
                </a:solidFill>
                <a:latin typeface="微软雅黑"/>
                <a:cs typeface="微软雅黑"/>
              </a:rPr>
              <a:t>行</a:t>
            </a:r>
            <a:r>
              <a:rPr sz="1050" b="1" spc="5" dirty="0">
                <a:solidFill>
                  <a:srgbClr val="171717"/>
                </a:solidFill>
                <a:latin typeface="微软雅黑"/>
                <a:cs typeface="微软雅黑"/>
              </a:rPr>
              <a:t>业</a:t>
            </a:r>
            <a:r>
              <a:rPr sz="1050" b="1" spc="-5" dirty="0">
                <a:solidFill>
                  <a:srgbClr val="171717"/>
                </a:solidFill>
                <a:latin typeface="Arial" panose="020B0604020202090204"/>
                <a:cs typeface="Arial" panose="020B0604020202090204"/>
              </a:rPr>
              <a:t>know-how</a:t>
            </a:r>
            <a:r>
              <a:rPr sz="1050" b="1" spc="-5" dirty="0">
                <a:solidFill>
                  <a:srgbClr val="171717"/>
                </a:solidFill>
                <a:latin typeface="微软雅黑"/>
                <a:cs typeface="微软雅黑"/>
              </a:rPr>
              <a:t>：</a:t>
            </a:r>
            <a:r>
              <a:rPr sz="1050" b="1" spc="-15" dirty="0">
                <a:solidFill>
                  <a:srgbClr val="171717"/>
                </a:solidFill>
                <a:latin typeface="微软雅黑"/>
                <a:cs typeface="微软雅黑"/>
              </a:rPr>
              <a:t>行</a:t>
            </a:r>
            <a:r>
              <a:rPr sz="1050" b="1" spc="5" dirty="0">
                <a:solidFill>
                  <a:srgbClr val="171717"/>
                </a:solidFill>
                <a:latin typeface="微软雅黑"/>
                <a:cs typeface="微软雅黑"/>
              </a:rPr>
              <a:t>业</a:t>
            </a:r>
            <a:r>
              <a:rPr sz="1050" b="1" spc="-15" dirty="0">
                <a:solidFill>
                  <a:srgbClr val="171717"/>
                </a:solidFill>
                <a:latin typeface="微软雅黑"/>
                <a:cs typeface="微软雅黑"/>
              </a:rPr>
              <a:t>数</a:t>
            </a:r>
            <a:r>
              <a:rPr sz="1050" b="1" spc="5" dirty="0">
                <a:solidFill>
                  <a:srgbClr val="171717"/>
                </a:solidFill>
                <a:latin typeface="微软雅黑"/>
                <a:cs typeface="微软雅黑"/>
              </a:rPr>
              <a:t>据</a:t>
            </a:r>
            <a:r>
              <a:rPr sz="1050" b="1" spc="-15" dirty="0">
                <a:solidFill>
                  <a:srgbClr val="171717"/>
                </a:solidFill>
                <a:latin typeface="微软雅黑"/>
                <a:cs typeface="微软雅黑"/>
              </a:rPr>
              <a:t>预</a:t>
            </a:r>
            <a:r>
              <a:rPr sz="1050" b="1" spc="5" dirty="0">
                <a:solidFill>
                  <a:srgbClr val="171717"/>
                </a:solidFill>
                <a:latin typeface="微软雅黑"/>
                <a:cs typeface="微软雅黑"/>
              </a:rPr>
              <a:t>训</a:t>
            </a:r>
            <a:r>
              <a:rPr sz="1050" b="1" spc="-15" dirty="0">
                <a:solidFill>
                  <a:srgbClr val="171717"/>
                </a:solidFill>
                <a:latin typeface="微软雅黑"/>
                <a:cs typeface="微软雅黑"/>
              </a:rPr>
              <a:t>练</a:t>
            </a:r>
            <a:r>
              <a:rPr sz="1050" b="1" spc="5" dirty="0">
                <a:solidFill>
                  <a:srgbClr val="171717"/>
                </a:solidFill>
                <a:latin typeface="微软雅黑"/>
                <a:cs typeface="微软雅黑"/>
              </a:rPr>
              <a:t>，</a:t>
            </a:r>
            <a:r>
              <a:rPr sz="1050" b="1" spc="-15" dirty="0">
                <a:solidFill>
                  <a:srgbClr val="171717"/>
                </a:solidFill>
                <a:latin typeface="微软雅黑"/>
                <a:cs typeface="微软雅黑"/>
              </a:rPr>
              <a:t>无</a:t>
            </a:r>
            <a:r>
              <a:rPr sz="1050" b="1" spc="5" dirty="0">
                <a:solidFill>
                  <a:srgbClr val="171717"/>
                </a:solidFill>
                <a:latin typeface="微软雅黑"/>
                <a:cs typeface="微软雅黑"/>
              </a:rPr>
              <a:t>监</a:t>
            </a:r>
            <a:r>
              <a:rPr sz="1050" b="1" spc="-15" dirty="0">
                <a:solidFill>
                  <a:srgbClr val="171717"/>
                </a:solidFill>
                <a:latin typeface="微软雅黑"/>
                <a:cs typeface="微软雅黑"/>
              </a:rPr>
              <a:t>督</a:t>
            </a:r>
            <a:r>
              <a:rPr sz="1050" b="1" spc="5" dirty="0">
                <a:solidFill>
                  <a:srgbClr val="171717"/>
                </a:solidFill>
                <a:latin typeface="微软雅黑"/>
                <a:cs typeface="微软雅黑"/>
              </a:rPr>
              <a:t>训</a:t>
            </a:r>
            <a:r>
              <a:rPr sz="1050" b="1" spc="-15" dirty="0">
                <a:solidFill>
                  <a:srgbClr val="171717"/>
                </a:solidFill>
                <a:latin typeface="微软雅黑"/>
                <a:cs typeface="微软雅黑"/>
              </a:rPr>
              <a:t>练</a:t>
            </a:r>
            <a:r>
              <a:rPr sz="1050" b="1" spc="5" dirty="0">
                <a:solidFill>
                  <a:srgbClr val="171717"/>
                </a:solidFill>
                <a:latin typeface="微软雅黑"/>
                <a:cs typeface="微软雅黑"/>
              </a:rPr>
              <a:t>）</a:t>
            </a:r>
            <a:endParaRPr sz="1050">
              <a:latin typeface="微软雅黑"/>
              <a:cs typeface="微软雅黑"/>
            </a:endParaRPr>
          </a:p>
        </p:txBody>
      </p:sp>
      <p:sp>
        <p:nvSpPr>
          <p:cNvPr id="10" name="object 10"/>
          <p:cNvSpPr txBox="1"/>
          <p:nvPr/>
        </p:nvSpPr>
        <p:spPr>
          <a:xfrm>
            <a:off x="2500883" y="3259835"/>
            <a:ext cx="1069975" cy="218440"/>
          </a:xfrm>
          <a:prstGeom prst="rect">
            <a:avLst/>
          </a:prstGeom>
          <a:solidFill>
            <a:srgbClr val="AA0001"/>
          </a:solidFill>
        </p:spPr>
        <p:txBody>
          <a:bodyPr vert="horz" wrap="square" lIns="0" tIns="35560" rIns="0" bIns="0" rtlCol="0">
            <a:spAutoFit/>
          </a:bodyPr>
          <a:lstStyle/>
          <a:p>
            <a:pPr algn="ctr">
              <a:lnSpc>
                <a:spcPct val="100000"/>
              </a:lnSpc>
              <a:spcBef>
                <a:spcPts val="280"/>
              </a:spcBef>
            </a:pPr>
            <a:r>
              <a:rPr sz="1050" spc="5" dirty="0">
                <a:solidFill>
                  <a:srgbClr val="FFFFFF"/>
                </a:solidFill>
                <a:latin typeface="微软雅黑"/>
                <a:cs typeface="微软雅黑"/>
              </a:rPr>
              <a:t>煤矿</a:t>
            </a:r>
            <a:endParaRPr sz="1050">
              <a:latin typeface="微软雅黑"/>
              <a:cs typeface="微软雅黑"/>
            </a:endParaRPr>
          </a:p>
        </p:txBody>
      </p:sp>
      <p:sp>
        <p:nvSpPr>
          <p:cNvPr id="11" name="object 11"/>
          <p:cNvSpPr txBox="1"/>
          <p:nvPr/>
        </p:nvSpPr>
        <p:spPr>
          <a:xfrm>
            <a:off x="3717035" y="3264408"/>
            <a:ext cx="1068705" cy="218440"/>
          </a:xfrm>
          <a:prstGeom prst="rect">
            <a:avLst/>
          </a:prstGeom>
          <a:solidFill>
            <a:srgbClr val="AA0001"/>
          </a:solidFill>
        </p:spPr>
        <p:txBody>
          <a:bodyPr vert="horz" wrap="square" lIns="0" tIns="36195" rIns="0" bIns="0" rtlCol="0">
            <a:spAutoFit/>
          </a:bodyPr>
          <a:lstStyle/>
          <a:p>
            <a:pPr marL="179705">
              <a:lnSpc>
                <a:spcPct val="100000"/>
              </a:lnSpc>
              <a:spcBef>
                <a:spcPts val="285"/>
              </a:spcBef>
            </a:pPr>
            <a:r>
              <a:rPr sz="1050" spc="5" dirty="0">
                <a:solidFill>
                  <a:srgbClr val="FFFFFF"/>
                </a:solidFill>
                <a:latin typeface="微软雅黑"/>
                <a:cs typeface="微软雅黑"/>
              </a:rPr>
              <a:t>小语种</a:t>
            </a:r>
            <a:r>
              <a:rPr sz="1050" spc="-10" dirty="0">
                <a:solidFill>
                  <a:srgbClr val="FFFFFF"/>
                </a:solidFill>
                <a:latin typeface="Arial" panose="020B0604020202090204"/>
                <a:cs typeface="Arial" panose="020B0604020202090204"/>
              </a:rPr>
              <a:t>/</a:t>
            </a:r>
            <a:r>
              <a:rPr sz="1050" spc="5" dirty="0">
                <a:solidFill>
                  <a:srgbClr val="FFFFFF"/>
                </a:solidFill>
                <a:latin typeface="微软雅黑"/>
                <a:cs typeface="微软雅黑"/>
              </a:rPr>
              <a:t>英语</a:t>
            </a:r>
            <a:endParaRPr sz="1050">
              <a:latin typeface="微软雅黑"/>
              <a:cs typeface="微软雅黑"/>
            </a:endParaRPr>
          </a:p>
        </p:txBody>
      </p:sp>
      <p:sp>
        <p:nvSpPr>
          <p:cNvPr id="12" name="object 12"/>
          <p:cNvSpPr txBox="1"/>
          <p:nvPr/>
        </p:nvSpPr>
        <p:spPr>
          <a:xfrm>
            <a:off x="4963667" y="3259835"/>
            <a:ext cx="1069975" cy="218440"/>
          </a:xfrm>
          <a:prstGeom prst="rect">
            <a:avLst/>
          </a:prstGeom>
          <a:solidFill>
            <a:srgbClr val="AA0001"/>
          </a:solidFill>
        </p:spPr>
        <p:txBody>
          <a:bodyPr vert="horz" wrap="square" lIns="0" tIns="35560" rIns="0" bIns="0" rtlCol="0">
            <a:spAutoFit/>
          </a:bodyPr>
          <a:lstStyle/>
          <a:p>
            <a:pPr marL="266065">
              <a:lnSpc>
                <a:spcPct val="100000"/>
              </a:lnSpc>
              <a:spcBef>
                <a:spcPts val="280"/>
              </a:spcBef>
            </a:pPr>
            <a:r>
              <a:rPr sz="1050" spc="5" dirty="0">
                <a:solidFill>
                  <a:srgbClr val="FFFFFF"/>
                </a:solidFill>
                <a:latin typeface="微软雅黑"/>
                <a:cs typeface="微软雅黑"/>
              </a:rPr>
              <a:t>金融风控</a:t>
            </a:r>
            <a:endParaRPr sz="1050">
              <a:latin typeface="微软雅黑"/>
              <a:cs typeface="微软雅黑"/>
            </a:endParaRPr>
          </a:p>
        </p:txBody>
      </p:sp>
      <p:sp>
        <p:nvSpPr>
          <p:cNvPr id="13" name="object 13"/>
          <p:cNvSpPr txBox="1"/>
          <p:nvPr/>
        </p:nvSpPr>
        <p:spPr>
          <a:xfrm>
            <a:off x="6181344" y="3259835"/>
            <a:ext cx="1068705" cy="218440"/>
          </a:xfrm>
          <a:prstGeom prst="rect">
            <a:avLst/>
          </a:prstGeom>
          <a:solidFill>
            <a:srgbClr val="AA0001"/>
          </a:solidFill>
        </p:spPr>
        <p:txBody>
          <a:bodyPr vert="horz" wrap="square" lIns="0" tIns="35560" rIns="0" bIns="0" rtlCol="0">
            <a:spAutoFit/>
          </a:bodyPr>
          <a:lstStyle/>
          <a:p>
            <a:pPr algn="ctr">
              <a:lnSpc>
                <a:spcPct val="100000"/>
              </a:lnSpc>
              <a:spcBef>
                <a:spcPts val="280"/>
              </a:spcBef>
            </a:pPr>
            <a:r>
              <a:rPr sz="1050" spc="5" dirty="0">
                <a:solidFill>
                  <a:srgbClr val="FFFFFF"/>
                </a:solidFill>
                <a:latin typeface="微软雅黑"/>
                <a:cs typeface="微软雅黑"/>
              </a:rPr>
              <a:t>时尚</a:t>
            </a:r>
            <a:endParaRPr sz="1050">
              <a:latin typeface="微软雅黑"/>
              <a:cs typeface="微软雅黑"/>
            </a:endParaRPr>
          </a:p>
        </p:txBody>
      </p:sp>
      <p:sp>
        <p:nvSpPr>
          <p:cNvPr id="14" name="object 14"/>
          <p:cNvSpPr txBox="1"/>
          <p:nvPr/>
        </p:nvSpPr>
        <p:spPr>
          <a:xfrm>
            <a:off x="7397495" y="3264408"/>
            <a:ext cx="1069975" cy="218440"/>
          </a:xfrm>
          <a:prstGeom prst="rect">
            <a:avLst/>
          </a:prstGeom>
          <a:solidFill>
            <a:srgbClr val="AA0001"/>
          </a:solidFill>
        </p:spPr>
        <p:txBody>
          <a:bodyPr vert="horz" wrap="square" lIns="0" tIns="36195" rIns="0" bIns="0" rtlCol="0">
            <a:spAutoFit/>
          </a:bodyPr>
          <a:lstStyle/>
          <a:p>
            <a:pPr algn="ctr">
              <a:lnSpc>
                <a:spcPct val="100000"/>
              </a:lnSpc>
              <a:spcBef>
                <a:spcPts val="285"/>
              </a:spcBef>
            </a:pPr>
            <a:r>
              <a:rPr sz="1050" spc="5" dirty="0">
                <a:solidFill>
                  <a:srgbClr val="FFFFFF"/>
                </a:solidFill>
                <a:latin typeface="微软雅黑"/>
                <a:cs typeface="微软雅黑"/>
              </a:rPr>
              <a:t>气象</a:t>
            </a:r>
            <a:endParaRPr sz="1050">
              <a:latin typeface="微软雅黑"/>
              <a:cs typeface="微软雅黑"/>
            </a:endParaRPr>
          </a:p>
        </p:txBody>
      </p:sp>
      <p:sp>
        <p:nvSpPr>
          <p:cNvPr id="15" name="object 15"/>
          <p:cNvSpPr txBox="1"/>
          <p:nvPr/>
        </p:nvSpPr>
        <p:spPr>
          <a:xfrm>
            <a:off x="2500883" y="3579876"/>
            <a:ext cx="1069975" cy="216535"/>
          </a:xfrm>
          <a:prstGeom prst="rect">
            <a:avLst/>
          </a:prstGeom>
          <a:solidFill>
            <a:srgbClr val="AA0001"/>
          </a:solidFill>
        </p:spPr>
        <p:txBody>
          <a:bodyPr vert="horz" wrap="square" lIns="0" tIns="35560" rIns="0" bIns="0" rtlCol="0">
            <a:spAutoFit/>
          </a:bodyPr>
          <a:lstStyle/>
          <a:p>
            <a:pPr marL="198755">
              <a:lnSpc>
                <a:spcPct val="100000"/>
              </a:lnSpc>
              <a:spcBef>
                <a:spcPts val="280"/>
              </a:spcBef>
            </a:pPr>
            <a:r>
              <a:rPr sz="1050" spc="5" dirty="0">
                <a:solidFill>
                  <a:srgbClr val="FFFFFF"/>
                </a:solidFill>
                <a:latin typeface="微软雅黑"/>
                <a:cs typeface="微软雅黑"/>
              </a:rPr>
              <a:t>生产线质检</a:t>
            </a:r>
            <a:endParaRPr sz="1050">
              <a:latin typeface="微软雅黑"/>
              <a:cs typeface="微软雅黑"/>
            </a:endParaRPr>
          </a:p>
        </p:txBody>
      </p:sp>
      <p:sp>
        <p:nvSpPr>
          <p:cNvPr id="16" name="object 16"/>
          <p:cNvSpPr txBox="1"/>
          <p:nvPr/>
        </p:nvSpPr>
        <p:spPr>
          <a:xfrm>
            <a:off x="3717035" y="3584447"/>
            <a:ext cx="1068705" cy="216535"/>
          </a:xfrm>
          <a:prstGeom prst="rect">
            <a:avLst/>
          </a:prstGeom>
          <a:solidFill>
            <a:srgbClr val="AA0001"/>
          </a:solidFill>
        </p:spPr>
        <p:txBody>
          <a:bodyPr vert="horz" wrap="square" lIns="0" tIns="35560" rIns="0" bIns="0" rtlCol="0">
            <a:spAutoFit/>
          </a:bodyPr>
          <a:lstStyle/>
          <a:p>
            <a:pPr marL="197485">
              <a:lnSpc>
                <a:spcPct val="100000"/>
              </a:lnSpc>
              <a:spcBef>
                <a:spcPts val="280"/>
              </a:spcBef>
            </a:pPr>
            <a:r>
              <a:rPr sz="1050" spc="5" dirty="0">
                <a:solidFill>
                  <a:srgbClr val="FFFFFF"/>
                </a:solidFill>
                <a:latin typeface="微软雅黑"/>
                <a:cs typeface="微软雅黑"/>
              </a:rPr>
              <a:t>数字人大脑</a:t>
            </a:r>
            <a:endParaRPr sz="1050">
              <a:latin typeface="微软雅黑"/>
              <a:cs typeface="微软雅黑"/>
            </a:endParaRPr>
          </a:p>
        </p:txBody>
      </p:sp>
      <p:sp>
        <p:nvSpPr>
          <p:cNvPr id="17" name="object 17"/>
          <p:cNvSpPr txBox="1"/>
          <p:nvPr/>
        </p:nvSpPr>
        <p:spPr>
          <a:xfrm>
            <a:off x="4963667" y="3579876"/>
            <a:ext cx="1069975" cy="216535"/>
          </a:xfrm>
          <a:prstGeom prst="rect">
            <a:avLst/>
          </a:prstGeom>
          <a:solidFill>
            <a:srgbClr val="AA0001"/>
          </a:solidFill>
        </p:spPr>
        <p:txBody>
          <a:bodyPr vert="horz" wrap="square" lIns="0" tIns="35560" rIns="0" bIns="0" rtlCol="0">
            <a:spAutoFit/>
          </a:bodyPr>
          <a:lstStyle/>
          <a:p>
            <a:pPr marL="266065">
              <a:lnSpc>
                <a:spcPct val="100000"/>
              </a:lnSpc>
              <a:spcBef>
                <a:spcPts val="280"/>
              </a:spcBef>
            </a:pPr>
            <a:r>
              <a:rPr sz="1050" spc="5" dirty="0">
                <a:solidFill>
                  <a:srgbClr val="FFFFFF"/>
                </a:solidFill>
                <a:latin typeface="微软雅黑"/>
                <a:cs typeface="微软雅黑"/>
              </a:rPr>
              <a:t>销量预测</a:t>
            </a:r>
            <a:endParaRPr sz="1050">
              <a:latin typeface="微软雅黑"/>
              <a:cs typeface="微软雅黑"/>
            </a:endParaRPr>
          </a:p>
        </p:txBody>
      </p:sp>
      <p:sp>
        <p:nvSpPr>
          <p:cNvPr id="18" name="object 18"/>
          <p:cNvSpPr txBox="1"/>
          <p:nvPr/>
        </p:nvSpPr>
        <p:spPr>
          <a:xfrm>
            <a:off x="6181344" y="3579876"/>
            <a:ext cx="1068705" cy="216535"/>
          </a:xfrm>
          <a:prstGeom prst="rect">
            <a:avLst/>
          </a:prstGeom>
          <a:solidFill>
            <a:srgbClr val="AA0001"/>
          </a:solidFill>
        </p:spPr>
        <p:txBody>
          <a:bodyPr vert="horz" wrap="square" lIns="0" tIns="35560" rIns="0" bIns="0" rtlCol="0">
            <a:spAutoFit/>
          </a:bodyPr>
          <a:lstStyle/>
          <a:p>
            <a:pPr marL="265430">
              <a:lnSpc>
                <a:spcPct val="100000"/>
              </a:lnSpc>
              <a:spcBef>
                <a:spcPts val="280"/>
              </a:spcBef>
            </a:pPr>
            <a:r>
              <a:rPr sz="1050" spc="5" dirty="0">
                <a:solidFill>
                  <a:srgbClr val="FFFFFF"/>
                </a:solidFill>
                <a:latin typeface="微软雅黑"/>
                <a:cs typeface="微软雅黑"/>
              </a:rPr>
              <a:t>电商搜索</a:t>
            </a:r>
            <a:endParaRPr sz="1050">
              <a:latin typeface="微软雅黑"/>
              <a:cs typeface="微软雅黑"/>
            </a:endParaRPr>
          </a:p>
        </p:txBody>
      </p:sp>
      <p:sp>
        <p:nvSpPr>
          <p:cNvPr id="19" name="object 19"/>
          <p:cNvSpPr txBox="1"/>
          <p:nvPr/>
        </p:nvSpPr>
        <p:spPr>
          <a:xfrm>
            <a:off x="7397495" y="3584447"/>
            <a:ext cx="1069975" cy="216535"/>
          </a:xfrm>
          <a:prstGeom prst="rect">
            <a:avLst/>
          </a:prstGeom>
          <a:solidFill>
            <a:srgbClr val="AA0001"/>
          </a:solidFill>
        </p:spPr>
        <p:txBody>
          <a:bodyPr vert="horz" wrap="square" lIns="0" tIns="35560" rIns="0" bIns="0" rtlCol="0">
            <a:spAutoFit/>
          </a:bodyPr>
          <a:lstStyle/>
          <a:p>
            <a:pPr algn="ctr">
              <a:lnSpc>
                <a:spcPct val="100000"/>
              </a:lnSpc>
              <a:spcBef>
                <a:spcPts val="280"/>
              </a:spcBef>
            </a:pPr>
            <a:r>
              <a:rPr sz="1050" spc="5" dirty="0">
                <a:solidFill>
                  <a:srgbClr val="FFFFFF"/>
                </a:solidFill>
                <a:latin typeface="微软雅黑"/>
                <a:cs typeface="微软雅黑"/>
              </a:rPr>
              <a:t>海浪</a:t>
            </a:r>
            <a:endParaRPr sz="1050">
              <a:latin typeface="微软雅黑"/>
              <a:cs typeface="微软雅黑"/>
            </a:endParaRPr>
          </a:p>
        </p:txBody>
      </p:sp>
      <p:sp>
        <p:nvSpPr>
          <p:cNvPr id="20" name="object 20"/>
          <p:cNvSpPr txBox="1"/>
          <p:nvPr/>
        </p:nvSpPr>
        <p:spPr>
          <a:xfrm>
            <a:off x="2500883" y="3898391"/>
            <a:ext cx="1069975" cy="218440"/>
          </a:xfrm>
          <a:prstGeom prst="rect">
            <a:avLst/>
          </a:prstGeom>
          <a:solidFill>
            <a:srgbClr val="AA0001"/>
          </a:solidFill>
        </p:spPr>
        <p:txBody>
          <a:bodyPr vert="horz" wrap="square" lIns="0" tIns="36194" rIns="0" bIns="0" rtlCol="0">
            <a:spAutoFit/>
          </a:bodyPr>
          <a:lstStyle/>
          <a:p>
            <a:pPr marL="265430">
              <a:lnSpc>
                <a:spcPct val="100000"/>
              </a:lnSpc>
              <a:spcBef>
                <a:spcPts val="285"/>
              </a:spcBef>
            </a:pPr>
            <a:r>
              <a:rPr sz="1050" spc="5" dirty="0">
                <a:solidFill>
                  <a:srgbClr val="FFFFFF"/>
                </a:solidFill>
                <a:latin typeface="微软雅黑"/>
                <a:cs typeface="微软雅黑"/>
              </a:rPr>
              <a:t>电力巡检</a:t>
            </a:r>
            <a:endParaRPr sz="1050">
              <a:latin typeface="微软雅黑"/>
              <a:cs typeface="微软雅黑"/>
            </a:endParaRPr>
          </a:p>
        </p:txBody>
      </p:sp>
      <p:sp>
        <p:nvSpPr>
          <p:cNvPr id="21" name="object 21"/>
          <p:cNvSpPr txBox="1"/>
          <p:nvPr/>
        </p:nvSpPr>
        <p:spPr>
          <a:xfrm>
            <a:off x="3717035" y="3902964"/>
            <a:ext cx="1068705" cy="218440"/>
          </a:xfrm>
          <a:prstGeom prst="rect">
            <a:avLst/>
          </a:prstGeom>
          <a:solidFill>
            <a:srgbClr val="AA0001"/>
          </a:solidFill>
        </p:spPr>
        <p:txBody>
          <a:bodyPr vert="horz" wrap="square" lIns="0" tIns="36195" rIns="0" bIns="0" rtlCol="0">
            <a:spAutoFit/>
          </a:bodyPr>
          <a:lstStyle/>
          <a:p>
            <a:pPr algn="ctr">
              <a:lnSpc>
                <a:spcPct val="100000"/>
              </a:lnSpc>
              <a:spcBef>
                <a:spcPts val="285"/>
              </a:spcBef>
            </a:pPr>
            <a:r>
              <a:rPr sz="1050" spc="5" dirty="0">
                <a:solidFill>
                  <a:srgbClr val="FFFFFF"/>
                </a:solidFill>
                <a:latin typeface="微软雅黑"/>
                <a:cs typeface="微软雅黑"/>
              </a:rPr>
              <a:t>司法</a:t>
            </a:r>
            <a:endParaRPr sz="1050">
              <a:latin typeface="微软雅黑"/>
              <a:cs typeface="微软雅黑"/>
            </a:endParaRPr>
          </a:p>
        </p:txBody>
      </p:sp>
      <p:sp>
        <p:nvSpPr>
          <p:cNvPr id="22" name="object 22"/>
          <p:cNvSpPr txBox="1"/>
          <p:nvPr/>
        </p:nvSpPr>
        <p:spPr>
          <a:xfrm>
            <a:off x="4963667" y="3898391"/>
            <a:ext cx="1069975" cy="218440"/>
          </a:xfrm>
          <a:prstGeom prst="rect">
            <a:avLst/>
          </a:prstGeom>
          <a:solidFill>
            <a:srgbClr val="AA0001"/>
          </a:solidFill>
        </p:spPr>
        <p:txBody>
          <a:bodyPr vert="horz" wrap="square" lIns="0" tIns="53340" rIns="0" bIns="0" rtlCol="0">
            <a:spAutoFit/>
          </a:bodyPr>
          <a:lstStyle/>
          <a:p>
            <a:pPr marL="111760">
              <a:lnSpc>
                <a:spcPct val="100000"/>
              </a:lnSpc>
              <a:spcBef>
                <a:spcPts val="420"/>
              </a:spcBef>
            </a:pPr>
            <a:r>
              <a:rPr sz="800" dirty="0">
                <a:solidFill>
                  <a:srgbClr val="FFFFFF"/>
                </a:solidFill>
                <a:latin typeface="微软雅黑"/>
                <a:cs typeface="微软雅黑"/>
              </a:rPr>
              <a:t>工业耗能</a:t>
            </a:r>
            <a:r>
              <a:rPr sz="800" dirty="0">
                <a:solidFill>
                  <a:srgbClr val="FFFFFF"/>
                </a:solidFill>
                <a:latin typeface="Arial" panose="020B0604020202090204"/>
                <a:cs typeface="Arial" panose="020B0604020202090204"/>
              </a:rPr>
              <a:t>/</a:t>
            </a:r>
            <a:r>
              <a:rPr sz="800" dirty="0">
                <a:solidFill>
                  <a:srgbClr val="FFFFFF"/>
                </a:solidFill>
                <a:latin typeface="微软雅黑"/>
                <a:cs typeface="微软雅黑"/>
              </a:rPr>
              <a:t>参数预测</a:t>
            </a:r>
            <a:endParaRPr sz="800">
              <a:latin typeface="微软雅黑"/>
              <a:cs typeface="微软雅黑"/>
            </a:endParaRPr>
          </a:p>
        </p:txBody>
      </p:sp>
      <p:sp>
        <p:nvSpPr>
          <p:cNvPr id="23" name="object 23"/>
          <p:cNvSpPr txBox="1"/>
          <p:nvPr/>
        </p:nvSpPr>
        <p:spPr>
          <a:xfrm>
            <a:off x="6181344" y="3898391"/>
            <a:ext cx="1068705" cy="218440"/>
          </a:xfrm>
          <a:prstGeom prst="rect">
            <a:avLst/>
          </a:prstGeom>
          <a:solidFill>
            <a:srgbClr val="AA0001"/>
          </a:solidFill>
        </p:spPr>
        <p:txBody>
          <a:bodyPr vert="horz" wrap="square" lIns="0" tIns="36194" rIns="0" bIns="0" rtlCol="0">
            <a:spAutoFit/>
          </a:bodyPr>
          <a:lstStyle/>
          <a:p>
            <a:pPr marL="265430">
              <a:lnSpc>
                <a:spcPct val="100000"/>
              </a:lnSpc>
              <a:spcBef>
                <a:spcPts val="285"/>
              </a:spcBef>
            </a:pPr>
            <a:r>
              <a:rPr sz="1050" spc="5" dirty="0">
                <a:solidFill>
                  <a:srgbClr val="FFFFFF"/>
                </a:solidFill>
                <a:latin typeface="微软雅黑"/>
                <a:cs typeface="微软雅黑"/>
              </a:rPr>
              <a:t>图文搜索</a:t>
            </a:r>
            <a:endParaRPr sz="1050">
              <a:latin typeface="微软雅黑"/>
              <a:cs typeface="微软雅黑"/>
            </a:endParaRPr>
          </a:p>
        </p:txBody>
      </p:sp>
      <p:sp>
        <p:nvSpPr>
          <p:cNvPr id="24" name="object 24"/>
          <p:cNvSpPr txBox="1"/>
          <p:nvPr/>
        </p:nvSpPr>
        <p:spPr>
          <a:xfrm>
            <a:off x="7397495" y="3902964"/>
            <a:ext cx="1069975" cy="218440"/>
          </a:xfrm>
          <a:prstGeom prst="rect">
            <a:avLst/>
          </a:prstGeom>
          <a:solidFill>
            <a:srgbClr val="AA0001"/>
          </a:solidFill>
        </p:spPr>
        <p:txBody>
          <a:bodyPr vert="horz" wrap="square" lIns="0" tIns="36195" rIns="0" bIns="0" rtlCol="0">
            <a:spAutoFit/>
          </a:bodyPr>
          <a:lstStyle/>
          <a:p>
            <a:pPr marL="266700">
              <a:lnSpc>
                <a:spcPct val="100000"/>
              </a:lnSpc>
              <a:spcBef>
                <a:spcPts val="285"/>
              </a:spcBef>
            </a:pPr>
            <a:r>
              <a:rPr sz="1050" spc="5" dirty="0">
                <a:solidFill>
                  <a:srgbClr val="FFFFFF"/>
                </a:solidFill>
                <a:latin typeface="微软雅黑"/>
                <a:cs typeface="微软雅黑"/>
              </a:rPr>
              <a:t>智慧育种</a:t>
            </a:r>
            <a:endParaRPr sz="1050">
              <a:latin typeface="微软雅黑"/>
              <a:cs typeface="微软雅黑"/>
            </a:endParaRPr>
          </a:p>
        </p:txBody>
      </p:sp>
      <p:sp>
        <p:nvSpPr>
          <p:cNvPr id="25" name="object 25"/>
          <p:cNvSpPr txBox="1"/>
          <p:nvPr/>
        </p:nvSpPr>
        <p:spPr>
          <a:xfrm>
            <a:off x="2500883" y="4482084"/>
            <a:ext cx="1069975" cy="218440"/>
          </a:xfrm>
          <a:prstGeom prst="rect">
            <a:avLst/>
          </a:prstGeom>
          <a:solidFill>
            <a:srgbClr val="AA0001"/>
          </a:solidFill>
        </p:spPr>
        <p:txBody>
          <a:bodyPr vert="horz" wrap="square" lIns="0" tIns="36830" rIns="0" bIns="0" rtlCol="0">
            <a:spAutoFit/>
          </a:bodyPr>
          <a:lstStyle/>
          <a:p>
            <a:pPr marL="198755">
              <a:lnSpc>
                <a:spcPct val="100000"/>
              </a:lnSpc>
              <a:spcBef>
                <a:spcPts val="290"/>
              </a:spcBef>
            </a:pPr>
            <a:r>
              <a:rPr sz="1050" spc="5" dirty="0">
                <a:solidFill>
                  <a:srgbClr val="FFFFFF"/>
                </a:solidFill>
                <a:latin typeface="微软雅黑"/>
                <a:cs typeface="微软雅黑"/>
              </a:rPr>
              <a:t>视觉大模型</a:t>
            </a:r>
            <a:endParaRPr sz="1050">
              <a:latin typeface="微软雅黑"/>
              <a:cs typeface="微软雅黑"/>
            </a:endParaRPr>
          </a:p>
        </p:txBody>
      </p:sp>
      <p:sp>
        <p:nvSpPr>
          <p:cNvPr id="26" name="object 26"/>
          <p:cNvSpPr txBox="1"/>
          <p:nvPr/>
        </p:nvSpPr>
        <p:spPr>
          <a:xfrm>
            <a:off x="3717035" y="4488179"/>
            <a:ext cx="1068705" cy="216535"/>
          </a:xfrm>
          <a:prstGeom prst="rect">
            <a:avLst/>
          </a:prstGeom>
          <a:solidFill>
            <a:srgbClr val="AA0001"/>
          </a:solidFill>
        </p:spPr>
        <p:txBody>
          <a:bodyPr vert="horz" wrap="square" lIns="0" tIns="35560" rIns="0" bIns="0" rtlCol="0">
            <a:spAutoFit/>
          </a:bodyPr>
          <a:lstStyle/>
          <a:p>
            <a:pPr marL="200660">
              <a:lnSpc>
                <a:spcPct val="100000"/>
              </a:lnSpc>
              <a:spcBef>
                <a:spcPts val="280"/>
              </a:spcBef>
            </a:pPr>
            <a:r>
              <a:rPr sz="1050" spc="5" dirty="0">
                <a:solidFill>
                  <a:srgbClr val="FFFFFF"/>
                </a:solidFill>
                <a:latin typeface="Arial" panose="020B0604020202090204"/>
                <a:cs typeface="Arial" panose="020B0604020202090204"/>
              </a:rPr>
              <a:t>NLP</a:t>
            </a:r>
            <a:r>
              <a:rPr sz="1050" spc="5" dirty="0">
                <a:solidFill>
                  <a:srgbClr val="FFFFFF"/>
                </a:solidFill>
                <a:latin typeface="微软雅黑"/>
                <a:cs typeface="微软雅黑"/>
              </a:rPr>
              <a:t>大模型</a:t>
            </a:r>
            <a:endParaRPr sz="1050">
              <a:latin typeface="微软雅黑"/>
              <a:cs typeface="微软雅黑"/>
            </a:endParaRPr>
          </a:p>
        </p:txBody>
      </p:sp>
      <p:sp>
        <p:nvSpPr>
          <p:cNvPr id="27" name="object 27"/>
          <p:cNvSpPr txBox="1"/>
          <p:nvPr/>
        </p:nvSpPr>
        <p:spPr>
          <a:xfrm>
            <a:off x="4963667" y="4482084"/>
            <a:ext cx="1069975" cy="218440"/>
          </a:xfrm>
          <a:prstGeom prst="rect">
            <a:avLst/>
          </a:prstGeom>
          <a:solidFill>
            <a:srgbClr val="AA0001"/>
          </a:solidFill>
        </p:spPr>
        <p:txBody>
          <a:bodyPr vert="horz" wrap="square" lIns="0" tIns="36830" rIns="0" bIns="0" rtlCol="0">
            <a:spAutoFit/>
          </a:bodyPr>
          <a:lstStyle/>
          <a:p>
            <a:pPr marL="131445">
              <a:lnSpc>
                <a:spcPct val="100000"/>
              </a:lnSpc>
              <a:spcBef>
                <a:spcPts val="290"/>
              </a:spcBef>
            </a:pPr>
            <a:r>
              <a:rPr sz="1050" spc="5" dirty="0">
                <a:solidFill>
                  <a:srgbClr val="FFFFFF"/>
                </a:solidFill>
                <a:latin typeface="微软雅黑"/>
                <a:cs typeface="微软雅黑"/>
              </a:rPr>
              <a:t>图网络大模型</a:t>
            </a:r>
            <a:endParaRPr sz="1050">
              <a:latin typeface="微软雅黑"/>
              <a:cs typeface="微软雅黑"/>
            </a:endParaRPr>
          </a:p>
        </p:txBody>
      </p:sp>
      <p:sp>
        <p:nvSpPr>
          <p:cNvPr id="28" name="object 28"/>
          <p:cNvSpPr txBox="1"/>
          <p:nvPr/>
        </p:nvSpPr>
        <p:spPr>
          <a:xfrm>
            <a:off x="6181344" y="4482084"/>
            <a:ext cx="1068705" cy="218440"/>
          </a:xfrm>
          <a:prstGeom prst="rect">
            <a:avLst/>
          </a:prstGeom>
          <a:solidFill>
            <a:srgbClr val="AA0001"/>
          </a:solidFill>
        </p:spPr>
        <p:txBody>
          <a:bodyPr vert="horz" wrap="square" lIns="0" tIns="36830" rIns="0" bIns="0" rtlCol="0">
            <a:spAutoFit/>
          </a:bodyPr>
          <a:lstStyle/>
          <a:p>
            <a:pPr marL="131445">
              <a:lnSpc>
                <a:spcPct val="100000"/>
              </a:lnSpc>
              <a:spcBef>
                <a:spcPts val="290"/>
              </a:spcBef>
            </a:pPr>
            <a:r>
              <a:rPr sz="1050" spc="5" dirty="0">
                <a:solidFill>
                  <a:srgbClr val="FFFFFF"/>
                </a:solidFill>
                <a:latin typeface="微软雅黑"/>
                <a:cs typeface="微软雅黑"/>
              </a:rPr>
              <a:t>多模态大模型</a:t>
            </a:r>
            <a:endParaRPr sz="1050">
              <a:latin typeface="微软雅黑"/>
              <a:cs typeface="微软雅黑"/>
            </a:endParaRPr>
          </a:p>
        </p:txBody>
      </p:sp>
      <p:sp>
        <p:nvSpPr>
          <p:cNvPr id="29" name="object 29"/>
          <p:cNvSpPr txBox="1"/>
          <p:nvPr/>
        </p:nvSpPr>
        <p:spPr>
          <a:xfrm>
            <a:off x="7397495" y="4488179"/>
            <a:ext cx="1069975" cy="216535"/>
          </a:xfrm>
          <a:prstGeom prst="rect">
            <a:avLst/>
          </a:prstGeom>
          <a:solidFill>
            <a:srgbClr val="AA0001"/>
          </a:solidFill>
        </p:spPr>
        <p:txBody>
          <a:bodyPr vert="horz" wrap="square" lIns="0" tIns="45720" rIns="0" bIns="0" rtlCol="0">
            <a:spAutoFit/>
          </a:bodyPr>
          <a:lstStyle/>
          <a:p>
            <a:pPr marL="135255">
              <a:lnSpc>
                <a:spcPct val="100000"/>
              </a:lnSpc>
              <a:spcBef>
                <a:spcPts val="360"/>
              </a:spcBef>
            </a:pPr>
            <a:r>
              <a:rPr sz="900" dirty="0">
                <a:solidFill>
                  <a:srgbClr val="FFFFFF"/>
                </a:solidFill>
                <a:latin typeface="微软雅黑"/>
                <a:cs typeface="微软雅黑"/>
              </a:rPr>
              <a:t>科学计算大模型</a:t>
            </a:r>
            <a:endParaRPr sz="900">
              <a:latin typeface="微软雅黑"/>
              <a:cs typeface="微软雅黑"/>
            </a:endParaRPr>
          </a:p>
        </p:txBody>
      </p:sp>
      <p:sp>
        <p:nvSpPr>
          <p:cNvPr id="30" name="object 30"/>
          <p:cNvSpPr txBox="1"/>
          <p:nvPr/>
        </p:nvSpPr>
        <p:spPr>
          <a:xfrm>
            <a:off x="2458211" y="2253995"/>
            <a:ext cx="1155700" cy="414655"/>
          </a:xfrm>
          <a:prstGeom prst="rect">
            <a:avLst/>
          </a:prstGeom>
          <a:solidFill>
            <a:srgbClr val="AA0001"/>
          </a:solidFill>
        </p:spPr>
        <p:txBody>
          <a:bodyPr vert="horz" wrap="square" lIns="0" tIns="1905" rIns="0" bIns="0" rtlCol="0">
            <a:spAutoFit/>
          </a:bodyPr>
          <a:lstStyle/>
          <a:p>
            <a:pPr marL="193040" marR="186055" algn="ctr">
              <a:lnSpc>
                <a:spcPts val="1080"/>
              </a:lnSpc>
              <a:spcBef>
                <a:spcPts val="15"/>
              </a:spcBef>
            </a:pPr>
            <a:r>
              <a:rPr sz="900" dirty="0">
                <a:solidFill>
                  <a:srgbClr val="FFFFFF"/>
                </a:solidFill>
                <a:latin typeface="微软雅黑"/>
                <a:cs typeface="微软雅黑"/>
              </a:rPr>
              <a:t>皮带质检 </a:t>
            </a:r>
            <a:r>
              <a:rPr sz="900" dirty="0">
                <a:solidFill>
                  <a:srgbClr val="FFFFFF"/>
                </a:solidFill>
                <a:latin typeface="Arial" panose="020B0604020202090204"/>
                <a:cs typeface="Arial" panose="020B0604020202090204"/>
              </a:rPr>
              <a:t>PCB</a:t>
            </a:r>
            <a:r>
              <a:rPr sz="900" spc="-5" dirty="0">
                <a:solidFill>
                  <a:srgbClr val="FFFFFF"/>
                </a:solidFill>
                <a:latin typeface="Arial" panose="020B0604020202090204"/>
                <a:cs typeface="Arial" panose="020B0604020202090204"/>
              </a:rPr>
              <a:t>A</a:t>
            </a:r>
            <a:r>
              <a:rPr sz="900" dirty="0">
                <a:solidFill>
                  <a:srgbClr val="FFFFFF"/>
                </a:solidFill>
                <a:latin typeface="微软雅黑"/>
                <a:cs typeface="微软雅黑"/>
              </a:rPr>
              <a:t>缺陷识别 电力缺陷识别</a:t>
            </a:r>
            <a:endParaRPr sz="900">
              <a:latin typeface="微软雅黑"/>
              <a:cs typeface="微软雅黑"/>
            </a:endParaRPr>
          </a:p>
        </p:txBody>
      </p:sp>
      <p:sp>
        <p:nvSpPr>
          <p:cNvPr id="31" name="object 31"/>
          <p:cNvSpPr txBox="1"/>
          <p:nvPr/>
        </p:nvSpPr>
        <p:spPr>
          <a:xfrm>
            <a:off x="3712464" y="2241804"/>
            <a:ext cx="1155700" cy="416559"/>
          </a:xfrm>
          <a:prstGeom prst="rect">
            <a:avLst/>
          </a:prstGeom>
          <a:solidFill>
            <a:srgbClr val="AA0001"/>
          </a:solidFill>
        </p:spPr>
        <p:txBody>
          <a:bodyPr vert="horz" wrap="square" lIns="0" tIns="2540" rIns="0" bIns="0" rtlCol="0">
            <a:spAutoFit/>
          </a:bodyPr>
          <a:lstStyle/>
          <a:p>
            <a:pPr marL="177800" marR="168910" algn="ctr">
              <a:lnSpc>
                <a:spcPts val="1080"/>
              </a:lnSpc>
              <a:spcBef>
                <a:spcPts val="20"/>
              </a:spcBef>
            </a:pPr>
            <a:r>
              <a:rPr sz="900" dirty="0">
                <a:solidFill>
                  <a:srgbClr val="FFFFFF"/>
                </a:solidFill>
                <a:latin typeface="微软雅黑"/>
                <a:cs typeface="微软雅黑"/>
              </a:rPr>
              <a:t>案件关键词抽取 电商情感分析 </a:t>
            </a:r>
            <a:r>
              <a:rPr sz="900" spc="-5" dirty="0">
                <a:solidFill>
                  <a:srgbClr val="FFFFFF"/>
                </a:solidFill>
                <a:latin typeface="微软雅黑"/>
                <a:cs typeface="微软雅黑"/>
              </a:rPr>
              <a:t>多轮对话</a:t>
            </a:r>
            <a:endParaRPr sz="900">
              <a:latin typeface="微软雅黑"/>
              <a:cs typeface="微软雅黑"/>
            </a:endParaRPr>
          </a:p>
        </p:txBody>
      </p:sp>
      <p:sp>
        <p:nvSpPr>
          <p:cNvPr id="32" name="object 32"/>
          <p:cNvSpPr/>
          <p:nvPr/>
        </p:nvSpPr>
        <p:spPr>
          <a:xfrm>
            <a:off x="4975859" y="2235707"/>
            <a:ext cx="1155700" cy="416559"/>
          </a:xfrm>
          <a:custGeom>
            <a:avLst/>
            <a:gdLst/>
            <a:ahLst/>
            <a:cxnLst/>
            <a:rect l="l" t="t" r="r" b="b"/>
            <a:pathLst>
              <a:path w="1155700" h="416560">
                <a:moveTo>
                  <a:pt x="1155191" y="0"/>
                </a:moveTo>
                <a:lnTo>
                  <a:pt x="0" y="0"/>
                </a:lnTo>
                <a:lnTo>
                  <a:pt x="0" y="416051"/>
                </a:lnTo>
                <a:lnTo>
                  <a:pt x="1155191" y="416051"/>
                </a:lnTo>
                <a:lnTo>
                  <a:pt x="1155191" y="0"/>
                </a:lnTo>
                <a:close/>
              </a:path>
            </a:pathLst>
          </a:custGeom>
          <a:solidFill>
            <a:srgbClr val="AA0001"/>
          </a:solidFill>
        </p:spPr>
        <p:txBody>
          <a:bodyPr wrap="square" lIns="0" tIns="0" rIns="0" bIns="0" rtlCol="0"/>
          <a:lstStyle/>
          <a:p/>
        </p:txBody>
      </p:sp>
      <p:sp>
        <p:nvSpPr>
          <p:cNvPr id="33" name="object 33"/>
          <p:cNvSpPr txBox="1"/>
          <p:nvPr/>
        </p:nvSpPr>
        <p:spPr>
          <a:xfrm>
            <a:off x="5084190" y="2221484"/>
            <a:ext cx="939800" cy="436880"/>
          </a:xfrm>
          <a:prstGeom prst="rect">
            <a:avLst/>
          </a:prstGeom>
        </p:spPr>
        <p:txBody>
          <a:bodyPr vert="horz" wrap="square" lIns="0" tIns="12700" rIns="0" bIns="0" rtlCol="0">
            <a:spAutoFit/>
          </a:bodyPr>
          <a:lstStyle/>
          <a:p>
            <a:pPr marL="127000" marR="5080" indent="-114300">
              <a:lnSpc>
                <a:spcPct val="100000"/>
              </a:lnSpc>
              <a:spcBef>
                <a:spcPts val="100"/>
              </a:spcBef>
            </a:pPr>
            <a:r>
              <a:rPr sz="900" dirty="0">
                <a:solidFill>
                  <a:srgbClr val="FFFFFF"/>
                </a:solidFill>
                <a:latin typeface="微软雅黑"/>
                <a:cs typeface="微软雅黑"/>
              </a:rPr>
              <a:t>企业财务异常检测 空气质量检测 工业参数检测</a:t>
            </a:r>
            <a:endParaRPr sz="900">
              <a:latin typeface="微软雅黑"/>
              <a:cs typeface="微软雅黑"/>
            </a:endParaRPr>
          </a:p>
        </p:txBody>
      </p:sp>
      <p:sp>
        <p:nvSpPr>
          <p:cNvPr id="34" name="object 34"/>
          <p:cNvSpPr/>
          <p:nvPr/>
        </p:nvSpPr>
        <p:spPr>
          <a:xfrm>
            <a:off x="6199632" y="2235707"/>
            <a:ext cx="992505" cy="414655"/>
          </a:xfrm>
          <a:custGeom>
            <a:avLst/>
            <a:gdLst/>
            <a:ahLst/>
            <a:cxnLst/>
            <a:rect l="l" t="t" r="r" b="b"/>
            <a:pathLst>
              <a:path w="992504" h="414655">
                <a:moveTo>
                  <a:pt x="992123" y="0"/>
                </a:moveTo>
                <a:lnTo>
                  <a:pt x="0" y="0"/>
                </a:lnTo>
                <a:lnTo>
                  <a:pt x="0" y="414527"/>
                </a:lnTo>
                <a:lnTo>
                  <a:pt x="992123" y="414527"/>
                </a:lnTo>
                <a:lnTo>
                  <a:pt x="992123" y="0"/>
                </a:lnTo>
                <a:close/>
              </a:path>
            </a:pathLst>
          </a:custGeom>
          <a:solidFill>
            <a:srgbClr val="AA0001"/>
          </a:solidFill>
        </p:spPr>
        <p:txBody>
          <a:bodyPr wrap="square" lIns="0" tIns="0" rIns="0" bIns="0" rtlCol="0"/>
          <a:lstStyle/>
          <a:p/>
        </p:txBody>
      </p:sp>
      <p:sp>
        <p:nvSpPr>
          <p:cNvPr id="35" name="object 35"/>
          <p:cNvSpPr txBox="1"/>
          <p:nvPr/>
        </p:nvSpPr>
        <p:spPr>
          <a:xfrm>
            <a:off x="6339966" y="2220848"/>
            <a:ext cx="711200" cy="436880"/>
          </a:xfrm>
          <a:prstGeom prst="rect">
            <a:avLst/>
          </a:prstGeom>
        </p:spPr>
        <p:txBody>
          <a:bodyPr vert="horz" wrap="square" lIns="0" tIns="12700" rIns="0" bIns="0" rtlCol="0">
            <a:spAutoFit/>
          </a:bodyPr>
          <a:lstStyle/>
          <a:p>
            <a:pPr marL="12700" marR="5080" algn="ctr">
              <a:lnSpc>
                <a:spcPct val="100000"/>
              </a:lnSpc>
              <a:spcBef>
                <a:spcPts val="100"/>
              </a:spcBef>
            </a:pPr>
            <a:r>
              <a:rPr sz="900" dirty="0">
                <a:solidFill>
                  <a:srgbClr val="FFFFFF"/>
                </a:solidFill>
                <a:latin typeface="微软雅黑"/>
                <a:cs typeface="微软雅黑"/>
              </a:rPr>
              <a:t>时尚版权保护 时尚辅助设计 图文搜索</a:t>
            </a:r>
            <a:endParaRPr sz="900">
              <a:latin typeface="微软雅黑"/>
              <a:cs typeface="微软雅黑"/>
            </a:endParaRPr>
          </a:p>
        </p:txBody>
      </p:sp>
      <p:sp>
        <p:nvSpPr>
          <p:cNvPr id="36" name="object 36"/>
          <p:cNvSpPr/>
          <p:nvPr/>
        </p:nvSpPr>
        <p:spPr>
          <a:xfrm>
            <a:off x="7258811" y="2235707"/>
            <a:ext cx="1271270" cy="414655"/>
          </a:xfrm>
          <a:custGeom>
            <a:avLst/>
            <a:gdLst/>
            <a:ahLst/>
            <a:cxnLst/>
            <a:rect l="l" t="t" r="r" b="b"/>
            <a:pathLst>
              <a:path w="1271270" h="414655">
                <a:moveTo>
                  <a:pt x="1271016" y="0"/>
                </a:moveTo>
                <a:lnTo>
                  <a:pt x="0" y="0"/>
                </a:lnTo>
                <a:lnTo>
                  <a:pt x="0" y="414527"/>
                </a:lnTo>
                <a:lnTo>
                  <a:pt x="1271016" y="414527"/>
                </a:lnTo>
                <a:lnTo>
                  <a:pt x="1271016" y="0"/>
                </a:lnTo>
                <a:close/>
              </a:path>
            </a:pathLst>
          </a:custGeom>
          <a:solidFill>
            <a:srgbClr val="AA0001"/>
          </a:solidFill>
        </p:spPr>
        <p:txBody>
          <a:bodyPr wrap="square" lIns="0" tIns="0" rIns="0" bIns="0" rtlCol="0"/>
          <a:lstStyle/>
          <a:p/>
        </p:txBody>
      </p:sp>
      <p:sp>
        <p:nvSpPr>
          <p:cNvPr id="37" name="object 37"/>
          <p:cNvSpPr txBox="1"/>
          <p:nvPr/>
        </p:nvSpPr>
        <p:spPr>
          <a:xfrm>
            <a:off x="7368667" y="2220848"/>
            <a:ext cx="1054100" cy="436880"/>
          </a:xfrm>
          <a:prstGeom prst="rect">
            <a:avLst/>
          </a:prstGeom>
        </p:spPr>
        <p:txBody>
          <a:bodyPr vert="horz" wrap="square" lIns="0" tIns="12700" rIns="0" bIns="0" rtlCol="0">
            <a:spAutoFit/>
          </a:bodyPr>
          <a:lstStyle/>
          <a:p>
            <a:pPr algn="ctr">
              <a:lnSpc>
                <a:spcPct val="100000"/>
              </a:lnSpc>
              <a:spcBef>
                <a:spcPts val="100"/>
              </a:spcBef>
            </a:pPr>
            <a:r>
              <a:rPr sz="900" dirty="0">
                <a:solidFill>
                  <a:srgbClr val="FFFFFF"/>
                </a:solidFill>
                <a:latin typeface="微软雅黑"/>
                <a:cs typeface="微软雅黑"/>
              </a:rPr>
              <a:t>短缺天气预报</a:t>
            </a:r>
            <a:endParaRPr sz="900">
              <a:latin typeface="微软雅黑"/>
              <a:cs typeface="微软雅黑"/>
            </a:endParaRPr>
          </a:p>
          <a:p>
            <a:pPr marL="12700" marR="5080" algn="ctr">
              <a:lnSpc>
                <a:spcPct val="100000"/>
              </a:lnSpc>
            </a:pPr>
            <a:r>
              <a:rPr sz="900" dirty="0">
                <a:solidFill>
                  <a:srgbClr val="FFFFFF"/>
                </a:solidFill>
                <a:latin typeface="微软雅黑"/>
                <a:cs typeface="微软雅黑"/>
              </a:rPr>
              <a:t>近海养殖，台风预测 智慧育种</a:t>
            </a:r>
            <a:endParaRPr sz="900">
              <a:latin typeface="微软雅黑"/>
              <a:cs typeface="微软雅黑"/>
            </a:endParaRPr>
          </a:p>
        </p:txBody>
      </p:sp>
      <p:sp>
        <p:nvSpPr>
          <p:cNvPr id="38" name="object 38"/>
          <p:cNvSpPr/>
          <p:nvPr/>
        </p:nvSpPr>
        <p:spPr>
          <a:xfrm>
            <a:off x="2703576" y="4796028"/>
            <a:ext cx="5648325" cy="551815"/>
          </a:xfrm>
          <a:custGeom>
            <a:avLst/>
            <a:gdLst/>
            <a:ahLst/>
            <a:cxnLst/>
            <a:rect l="l" t="t" r="r" b="b"/>
            <a:pathLst>
              <a:path w="5648325" h="551814">
                <a:moveTo>
                  <a:pt x="5555996" y="0"/>
                </a:moveTo>
                <a:lnTo>
                  <a:pt x="91948" y="0"/>
                </a:lnTo>
                <a:lnTo>
                  <a:pt x="56149" y="7223"/>
                </a:lnTo>
                <a:lnTo>
                  <a:pt x="26924" y="26924"/>
                </a:lnTo>
                <a:lnTo>
                  <a:pt x="7223" y="56149"/>
                </a:lnTo>
                <a:lnTo>
                  <a:pt x="0" y="91948"/>
                </a:lnTo>
                <a:lnTo>
                  <a:pt x="0" y="459740"/>
                </a:lnTo>
                <a:lnTo>
                  <a:pt x="7223" y="495538"/>
                </a:lnTo>
                <a:lnTo>
                  <a:pt x="26924" y="524764"/>
                </a:lnTo>
                <a:lnTo>
                  <a:pt x="56149" y="544464"/>
                </a:lnTo>
                <a:lnTo>
                  <a:pt x="91948" y="551688"/>
                </a:lnTo>
                <a:lnTo>
                  <a:pt x="5555996" y="551688"/>
                </a:lnTo>
                <a:lnTo>
                  <a:pt x="5591794" y="544464"/>
                </a:lnTo>
                <a:lnTo>
                  <a:pt x="5621020" y="524764"/>
                </a:lnTo>
                <a:lnTo>
                  <a:pt x="5640720" y="495538"/>
                </a:lnTo>
                <a:lnTo>
                  <a:pt x="5647944" y="459740"/>
                </a:lnTo>
                <a:lnTo>
                  <a:pt x="5647944" y="91948"/>
                </a:lnTo>
                <a:lnTo>
                  <a:pt x="5640720" y="56149"/>
                </a:lnTo>
                <a:lnTo>
                  <a:pt x="5621020" y="26924"/>
                </a:lnTo>
                <a:lnTo>
                  <a:pt x="5591794" y="7223"/>
                </a:lnTo>
                <a:lnTo>
                  <a:pt x="5555996" y="0"/>
                </a:lnTo>
                <a:close/>
              </a:path>
            </a:pathLst>
          </a:custGeom>
          <a:solidFill>
            <a:srgbClr val="FFBABB"/>
          </a:solidFill>
        </p:spPr>
        <p:txBody>
          <a:bodyPr wrap="square" lIns="0" tIns="0" rIns="0" bIns="0" rtlCol="0"/>
          <a:lstStyle/>
          <a:p/>
        </p:txBody>
      </p:sp>
      <p:sp>
        <p:nvSpPr>
          <p:cNvPr id="39" name="object 39"/>
          <p:cNvSpPr txBox="1"/>
          <p:nvPr/>
        </p:nvSpPr>
        <p:spPr>
          <a:xfrm>
            <a:off x="4962905" y="4857114"/>
            <a:ext cx="1131570" cy="186690"/>
          </a:xfrm>
          <a:prstGeom prst="rect">
            <a:avLst/>
          </a:prstGeom>
        </p:spPr>
        <p:txBody>
          <a:bodyPr vert="horz" wrap="square" lIns="0" tIns="13335" rIns="0" bIns="0" rtlCol="0">
            <a:spAutoFit/>
          </a:bodyPr>
          <a:lstStyle/>
          <a:p>
            <a:pPr marL="12700">
              <a:lnSpc>
                <a:spcPct val="100000"/>
              </a:lnSpc>
              <a:spcBef>
                <a:spcPts val="105"/>
              </a:spcBef>
            </a:pPr>
            <a:r>
              <a:rPr sz="1050" b="1" spc="-5" dirty="0">
                <a:solidFill>
                  <a:srgbClr val="171717"/>
                </a:solidFill>
                <a:latin typeface="Arial" panose="020B0604020202090204"/>
                <a:cs typeface="Arial" panose="020B0604020202090204"/>
              </a:rPr>
              <a:t>ModelArts</a:t>
            </a:r>
            <a:r>
              <a:rPr sz="1050" b="1" spc="-55" dirty="0">
                <a:solidFill>
                  <a:srgbClr val="171717"/>
                </a:solidFill>
                <a:latin typeface="Arial" panose="020B0604020202090204"/>
                <a:cs typeface="Arial" panose="020B0604020202090204"/>
              </a:rPr>
              <a:t> </a:t>
            </a:r>
            <a:r>
              <a:rPr sz="1050" b="1" dirty="0">
                <a:solidFill>
                  <a:srgbClr val="171717"/>
                </a:solidFill>
                <a:latin typeface="Arial" panose="020B0604020202090204"/>
                <a:cs typeface="Arial" panose="020B0604020202090204"/>
              </a:rPr>
              <a:t>Studio</a:t>
            </a:r>
            <a:endParaRPr sz="1050">
              <a:latin typeface="Arial" panose="020B0604020202090204"/>
              <a:cs typeface="Arial" panose="020B0604020202090204"/>
            </a:endParaRPr>
          </a:p>
        </p:txBody>
      </p:sp>
      <p:sp>
        <p:nvSpPr>
          <p:cNvPr id="40" name="object 40"/>
          <p:cNvSpPr txBox="1"/>
          <p:nvPr/>
        </p:nvSpPr>
        <p:spPr>
          <a:xfrm>
            <a:off x="3051048" y="5049011"/>
            <a:ext cx="1068705" cy="216535"/>
          </a:xfrm>
          <a:prstGeom prst="rect">
            <a:avLst/>
          </a:prstGeom>
          <a:solidFill>
            <a:srgbClr val="AA0001"/>
          </a:solidFill>
        </p:spPr>
        <p:txBody>
          <a:bodyPr vert="horz" wrap="square" lIns="0" tIns="35560" rIns="0" bIns="0" rtlCol="0">
            <a:spAutoFit/>
          </a:bodyPr>
          <a:lstStyle/>
          <a:p>
            <a:pPr marL="164465">
              <a:lnSpc>
                <a:spcPct val="100000"/>
              </a:lnSpc>
              <a:spcBef>
                <a:spcPts val="280"/>
              </a:spcBef>
            </a:pPr>
            <a:r>
              <a:rPr sz="1050" dirty="0">
                <a:solidFill>
                  <a:srgbClr val="FFFFFF"/>
                </a:solidFill>
                <a:latin typeface="Arial" panose="020B0604020202090204"/>
                <a:cs typeface="Arial" panose="020B0604020202090204"/>
              </a:rPr>
              <a:t>Workflow2.0</a:t>
            </a:r>
            <a:endParaRPr sz="1050">
              <a:latin typeface="Arial" panose="020B0604020202090204"/>
              <a:cs typeface="Arial" panose="020B0604020202090204"/>
            </a:endParaRPr>
          </a:p>
        </p:txBody>
      </p:sp>
      <p:sp>
        <p:nvSpPr>
          <p:cNvPr id="41" name="object 41"/>
          <p:cNvSpPr txBox="1"/>
          <p:nvPr/>
        </p:nvSpPr>
        <p:spPr>
          <a:xfrm>
            <a:off x="4347971" y="5049011"/>
            <a:ext cx="1069975" cy="216535"/>
          </a:xfrm>
          <a:prstGeom prst="rect">
            <a:avLst/>
          </a:prstGeom>
          <a:solidFill>
            <a:srgbClr val="AA0001"/>
          </a:solidFill>
        </p:spPr>
        <p:txBody>
          <a:bodyPr vert="horz" wrap="square" lIns="0" tIns="35560" rIns="0" bIns="0" rtlCol="0">
            <a:spAutoFit/>
          </a:bodyPr>
          <a:lstStyle/>
          <a:p>
            <a:pPr marL="187960">
              <a:lnSpc>
                <a:spcPct val="100000"/>
              </a:lnSpc>
              <a:spcBef>
                <a:spcPts val="280"/>
              </a:spcBef>
            </a:pPr>
            <a:r>
              <a:rPr sz="1050" dirty="0">
                <a:solidFill>
                  <a:srgbClr val="FFFFFF"/>
                </a:solidFill>
                <a:latin typeface="Arial" panose="020B0604020202090204"/>
                <a:cs typeface="Arial" panose="020B0604020202090204"/>
              </a:rPr>
              <a:t>PRO</a:t>
            </a:r>
            <a:r>
              <a:rPr sz="1050" spc="5" dirty="0">
                <a:solidFill>
                  <a:srgbClr val="FFFFFF"/>
                </a:solidFill>
                <a:latin typeface="微软雅黑"/>
                <a:cs typeface="微软雅黑"/>
              </a:rPr>
              <a:t>工作流</a:t>
            </a:r>
            <a:endParaRPr sz="1050">
              <a:latin typeface="微软雅黑"/>
              <a:cs typeface="微软雅黑"/>
            </a:endParaRPr>
          </a:p>
        </p:txBody>
      </p:sp>
      <p:sp>
        <p:nvSpPr>
          <p:cNvPr id="42" name="object 42"/>
          <p:cNvSpPr txBox="1"/>
          <p:nvPr/>
        </p:nvSpPr>
        <p:spPr>
          <a:xfrm>
            <a:off x="5644896" y="5049011"/>
            <a:ext cx="1069975" cy="216535"/>
          </a:xfrm>
          <a:prstGeom prst="rect">
            <a:avLst/>
          </a:prstGeom>
          <a:solidFill>
            <a:srgbClr val="AA0001"/>
          </a:solidFill>
        </p:spPr>
        <p:txBody>
          <a:bodyPr vert="horz" wrap="square" lIns="0" tIns="35560" rIns="0" bIns="0" rtlCol="0">
            <a:spAutoFit/>
          </a:bodyPr>
          <a:lstStyle/>
          <a:p>
            <a:pPr marL="132080">
              <a:lnSpc>
                <a:spcPct val="100000"/>
              </a:lnSpc>
              <a:spcBef>
                <a:spcPts val="280"/>
              </a:spcBef>
            </a:pPr>
            <a:r>
              <a:rPr sz="1050" spc="5" dirty="0">
                <a:solidFill>
                  <a:srgbClr val="FFFFFF"/>
                </a:solidFill>
                <a:latin typeface="微软雅黑"/>
                <a:cs typeface="微软雅黑"/>
              </a:rPr>
              <a:t>并行推理框架</a:t>
            </a:r>
            <a:endParaRPr sz="1050">
              <a:latin typeface="微软雅黑"/>
              <a:cs typeface="微软雅黑"/>
            </a:endParaRPr>
          </a:p>
        </p:txBody>
      </p:sp>
      <p:sp>
        <p:nvSpPr>
          <p:cNvPr id="43" name="object 43"/>
          <p:cNvSpPr txBox="1"/>
          <p:nvPr/>
        </p:nvSpPr>
        <p:spPr>
          <a:xfrm>
            <a:off x="6943343" y="5049011"/>
            <a:ext cx="1068705" cy="216535"/>
          </a:xfrm>
          <a:prstGeom prst="rect">
            <a:avLst/>
          </a:prstGeom>
          <a:solidFill>
            <a:srgbClr val="AA0001"/>
          </a:solidFill>
        </p:spPr>
        <p:txBody>
          <a:bodyPr vert="horz" wrap="square" lIns="0" tIns="35560" rIns="0" bIns="0" rtlCol="0">
            <a:spAutoFit/>
          </a:bodyPr>
          <a:lstStyle/>
          <a:p>
            <a:pPr marL="198755">
              <a:lnSpc>
                <a:spcPct val="100000"/>
              </a:lnSpc>
              <a:spcBef>
                <a:spcPts val="280"/>
              </a:spcBef>
            </a:pPr>
            <a:r>
              <a:rPr sz="1050" spc="5" dirty="0">
                <a:solidFill>
                  <a:srgbClr val="FFFFFF"/>
                </a:solidFill>
                <a:latin typeface="微软雅黑"/>
                <a:cs typeface="微软雅黑"/>
              </a:rPr>
              <a:t>预处理算法</a:t>
            </a:r>
            <a:endParaRPr sz="1050">
              <a:latin typeface="微软雅黑"/>
              <a:cs typeface="微软雅黑"/>
            </a:endParaRPr>
          </a:p>
        </p:txBody>
      </p:sp>
      <p:sp>
        <p:nvSpPr>
          <p:cNvPr id="44" name="object 44"/>
          <p:cNvSpPr txBox="1"/>
          <p:nvPr/>
        </p:nvSpPr>
        <p:spPr>
          <a:xfrm>
            <a:off x="1637157" y="2247645"/>
            <a:ext cx="405130" cy="480695"/>
          </a:xfrm>
          <a:prstGeom prst="rect">
            <a:avLst/>
          </a:prstGeom>
        </p:spPr>
        <p:txBody>
          <a:bodyPr vert="horz" wrap="square" lIns="0" tIns="12065" rIns="0" bIns="0" rtlCol="0">
            <a:spAutoFit/>
          </a:bodyPr>
          <a:lstStyle/>
          <a:p>
            <a:pPr marL="635" algn="ctr">
              <a:lnSpc>
                <a:spcPts val="1195"/>
              </a:lnSpc>
              <a:spcBef>
                <a:spcPts val="95"/>
              </a:spcBef>
            </a:pPr>
            <a:r>
              <a:rPr sz="1000" b="1" spc="-5" dirty="0">
                <a:solidFill>
                  <a:srgbClr val="171717"/>
                </a:solidFill>
                <a:latin typeface="Arial" panose="020B0604020202090204"/>
                <a:cs typeface="Arial" panose="020B0604020202090204"/>
              </a:rPr>
              <a:t>L2</a:t>
            </a:r>
            <a:endParaRPr sz="1000">
              <a:latin typeface="Arial" panose="020B0604020202090204"/>
              <a:cs typeface="Arial" panose="020B0604020202090204"/>
            </a:endParaRPr>
          </a:p>
          <a:p>
            <a:pPr marL="12700" marR="5080" algn="ctr">
              <a:lnSpc>
                <a:spcPts val="1200"/>
              </a:lnSpc>
              <a:spcBef>
                <a:spcPts val="35"/>
              </a:spcBef>
            </a:pPr>
            <a:r>
              <a:rPr sz="1000" spc="-5" dirty="0">
                <a:solidFill>
                  <a:srgbClr val="171717"/>
                </a:solidFill>
                <a:latin typeface="微软雅黑"/>
                <a:cs typeface="微软雅黑"/>
              </a:rPr>
              <a:t>细分场 景模型</a:t>
            </a:r>
            <a:endParaRPr sz="1000">
              <a:latin typeface="微软雅黑"/>
              <a:cs typeface="微软雅黑"/>
            </a:endParaRPr>
          </a:p>
        </p:txBody>
      </p:sp>
      <p:sp>
        <p:nvSpPr>
          <p:cNvPr id="45" name="object 45"/>
          <p:cNvSpPr txBox="1"/>
          <p:nvPr/>
        </p:nvSpPr>
        <p:spPr>
          <a:xfrm>
            <a:off x="1651761" y="3519297"/>
            <a:ext cx="405130" cy="480695"/>
          </a:xfrm>
          <a:prstGeom prst="rect">
            <a:avLst/>
          </a:prstGeom>
        </p:spPr>
        <p:txBody>
          <a:bodyPr vert="horz" wrap="square" lIns="0" tIns="12065" rIns="0" bIns="0" rtlCol="0">
            <a:spAutoFit/>
          </a:bodyPr>
          <a:lstStyle/>
          <a:p>
            <a:pPr marL="635" algn="ctr">
              <a:lnSpc>
                <a:spcPts val="1195"/>
              </a:lnSpc>
              <a:spcBef>
                <a:spcPts val="95"/>
              </a:spcBef>
            </a:pPr>
            <a:r>
              <a:rPr sz="1000" b="1" spc="-5" dirty="0">
                <a:solidFill>
                  <a:srgbClr val="171717"/>
                </a:solidFill>
                <a:latin typeface="Arial" panose="020B0604020202090204"/>
                <a:cs typeface="Arial" panose="020B0604020202090204"/>
              </a:rPr>
              <a:t>L2</a:t>
            </a:r>
            <a:endParaRPr sz="1000">
              <a:latin typeface="Arial" panose="020B0604020202090204"/>
              <a:cs typeface="Arial" panose="020B0604020202090204"/>
            </a:endParaRPr>
          </a:p>
          <a:p>
            <a:pPr marL="12700" marR="5080" algn="ctr">
              <a:lnSpc>
                <a:spcPts val="1200"/>
              </a:lnSpc>
              <a:spcBef>
                <a:spcPts val="35"/>
              </a:spcBef>
            </a:pPr>
            <a:r>
              <a:rPr sz="1000" spc="-5" dirty="0">
                <a:solidFill>
                  <a:srgbClr val="171717"/>
                </a:solidFill>
                <a:latin typeface="微软雅黑"/>
                <a:cs typeface="微软雅黑"/>
              </a:rPr>
              <a:t>行业大 </a:t>
            </a:r>
            <a:r>
              <a:rPr sz="1000" spc="-5" dirty="0">
                <a:solidFill>
                  <a:srgbClr val="171717"/>
                </a:solidFill>
                <a:latin typeface="微软雅黑"/>
                <a:cs typeface="微软雅黑"/>
              </a:rPr>
              <a:t>模型</a:t>
            </a:r>
            <a:endParaRPr sz="1000">
              <a:latin typeface="微软雅黑"/>
              <a:cs typeface="微软雅黑"/>
            </a:endParaRPr>
          </a:p>
        </p:txBody>
      </p:sp>
      <p:sp>
        <p:nvSpPr>
          <p:cNvPr id="46" name="object 46"/>
          <p:cNvSpPr txBox="1"/>
          <p:nvPr/>
        </p:nvSpPr>
        <p:spPr>
          <a:xfrm>
            <a:off x="1658492" y="4240148"/>
            <a:ext cx="405130" cy="480695"/>
          </a:xfrm>
          <a:prstGeom prst="rect">
            <a:avLst/>
          </a:prstGeom>
        </p:spPr>
        <p:txBody>
          <a:bodyPr vert="horz" wrap="square" lIns="0" tIns="12065" rIns="0" bIns="0" rtlCol="0">
            <a:spAutoFit/>
          </a:bodyPr>
          <a:lstStyle/>
          <a:p>
            <a:pPr marL="635" algn="ctr">
              <a:lnSpc>
                <a:spcPts val="1195"/>
              </a:lnSpc>
              <a:spcBef>
                <a:spcPts val="95"/>
              </a:spcBef>
            </a:pPr>
            <a:r>
              <a:rPr sz="1000" b="1" spc="-5" dirty="0">
                <a:solidFill>
                  <a:srgbClr val="171717"/>
                </a:solidFill>
                <a:latin typeface="Arial" panose="020B0604020202090204"/>
                <a:cs typeface="Arial" panose="020B0604020202090204"/>
              </a:rPr>
              <a:t>L0</a:t>
            </a:r>
            <a:endParaRPr sz="1000">
              <a:latin typeface="Arial" panose="020B0604020202090204"/>
              <a:cs typeface="Arial" panose="020B0604020202090204"/>
            </a:endParaRPr>
          </a:p>
          <a:p>
            <a:pPr algn="ctr">
              <a:lnSpc>
                <a:spcPts val="1195"/>
              </a:lnSpc>
            </a:pPr>
            <a:r>
              <a:rPr sz="1000" spc="-5" dirty="0">
                <a:solidFill>
                  <a:srgbClr val="171717"/>
                </a:solidFill>
                <a:latin typeface="微软雅黑"/>
                <a:cs typeface="微软雅黑"/>
              </a:rPr>
              <a:t>基础大</a:t>
            </a:r>
            <a:endParaRPr sz="1000">
              <a:latin typeface="微软雅黑"/>
              <a:cs typeface="微软雅黑"/>
            </a:endParaRPr>
          </a:p>
          <a:p>
            <a:pPr marL="1270" algn="ctr">
              <a:lnSpc>
                <a:spcPct val="100000"/>
              </a:lnSpc>
            </a:pPr>
            <a:r>
              <a:rPr sz="1000" spc="-10" dirty="0">
                <a:solidFill>
                  <a:srgbClr val="171717"/>
                </a:solidFill>
                <a:latin typeface="微软雅黑"/>
                <a:cs typeface="微软雅黑"/>
              </a:rPr>
              <a:t>模型</a:t>
            </a:r>
            <a:endParaRPr sz="1000">
              <a:latin typeface="微软雅黑"/>
              <a:cs typeface="微软雅黑"/>
            </a:endParaRPr>
          </a:p>
        </p:txBody>
      </p:sp>
      <p:sp>
        <p:nvSpPr>
          <p:cNvPr id="47" name="object 47"/>
          <p:cNvSpPr/>
          <p:nvPr/>
        </p:nvSpPr>
        <p:spPr>
          <a:xfrm>
            <a:off x="3887723" y="2758439"/>
            <a:ext cx="3221990" cy="233679"/>
          </a:xfrm>
          <a:custGeom>
            <a:avLst/>
            <a:gdLst/>
            <a:ahLst/>
            <a:cxnLst/>
            <a:rect l="l" t="t" r="r" b="b"/>
            <a:pathLst>
              <a:path w="3221990" h="233680">
                <a:moveTo>
                  <a:pt x="1610867" y="0"/>
                </a:moveTo>
                <a:lnTo>
                  <a:pt x="0" y="131063"/>
                </a:lnTo>
                <a:lnTo>
                  <a:pt x="1154938" y="131063"/>
                </a:lnTo>
                <a:lnTo>
                  <a:pt x="1154938" y="233172"/>
                </a:lnTo>
                <a:lnTo>
                  <a:pt x="1610867" y="196087"/>
                </a:lnTo>
                <a:lnTo>
                  <a:pt x="2066798" y="233172"/>
                </a:lnTo>
                <a:lnTo>
                  <a:pt x="2066798" y="131063"/>
                </a:lnTo>
                <a:lnTo>
                  <a:pt x="3221735" y="131063"/>
                </a:lnTo>
                <a:lnTo>
                  <a:pt x="1610867" y="0"/>
                </a:lnTo>
                <a:close/>
              </a:path>
            </a:pathLst>
          </a:custGeom>
          <a:solidFill>
            <a:srgbClr val="898989"/>
          </a:solidFill>
        </p:spPr>
        <p:txBody>
          <a:bodyPr wrap="square" lIns="0" tIns="0" rIns="0" bIns="0" rtlCol="0"/>
          <a:lstStyle/>
          <a:p/>
        </p:txBody>
      </p:sp>
      <p:sp>
        <p:nvSpPr>
          <p:cNvPr id="48" name="object 48"/>
          <p:cNvSpPr/>
          <p:nvPr/>
        </p:nvSpPr>
        <p:spPr>
          <a:xfrm>
            <a:off x="2165604" y="2667000"/>
            <a:ext cx="1430020" cy="346075"/>
          </a:xfrm>
          <a:custGeom>
            <a:avLst/>
            <a:gdLst/>
            <a:ahLst/>
            <a:cxnLst/>
            <a:rect l="l" t="t" r="r" b="b"/>
            <a:pathLst>
              <a:path w="1430020" h="346075">
                <a:moveTo>
                  <a:pt x="961135" y="0"/>
                </a:moveTo>
                <a:lnTo>
                  <a:pt x="714756" y="92837"/>
                </a:lnTo>
                <a:lnTo>
                  <a:pt x="552703" y="36702"/>
                </a:lnTo>
                <a:lnTo>
                  <a:pt x="483869" y="101219"/>
                </a:lnTo>
                <a:lnTo>
                  <a:pt x="24510" y="36702"/>
                </a:lnTo>
                <a:lnTo>
                  <a:pt x="306196" y="122047"/>
                </a:lnTo>
                <a:lnTo>
                  <a:pt x="0" y="137922"/>
                </a:lnTo>
                <a:lnTo>
                  <a:pt x="246379" y="188595"/>
                </a:lnTo>
                <a:lnTo>
                  <a:pt x="8889" y="233679"/>
                </a:lnTo>
                <a:lnTo>
                  <a:pt x="375031" y="223265"/>
                </a:lnTo>
                <a:lnTo>
                  <a:pt x="315213" y="282194"/>
                </a:lnTo>
                <a:lnTo>
                  <a:pt x="510539" y="250316"/>
                </a:lnTo>
                <a:lnTo>
                  <a:pt x="561594" y="345948"/>
                </a:lnTo>
                <a:lnTo>
                  <a:pt x="696976" y="239140"/>
                </a:lnTo>
                <a:lnTo>
                  <a:pt x="876681" y="316102"/>
                </a:lnTo>
                <a:lnTo>
                  <a:pt x="927862" y="231521"/>
                </a:lnTo>
                <a:lnTo>
                  <a:pt x="1200911" y="289813"/>
                </a:lnTo>
                <a:lnTo>
                  <a:pt x="1114297" y="207263"/>
                </a:lnTo>
                <a:lnTo>
                  <a:pt x="1429511" y="212851"/>
                </a:lnTo>
                <a:lnTo>
                  <a:pt x="1165224" y="167766"/>
                </a:lnTo>
                <a:lnTo>
                  <a:pt x="1396237" y="130301"/>
                </a:lnTo>
                <a:lnTo>
                  <a:pt x="1105408" y="117221"/>
                </a:lnTo>
                <a:lnTo>
                  <a:pt x="1216406" y="71374"/>
                </a:lnTo>
                <a:lnTo>
                  <a:pt x="936751" y="85344"/>
                </a:lnTo>
                <a:lnTo>
                  <a:pt x="961135" y="0"/>
                </a:lnTo>
                <a:close/>
              </a:path>
            </a:pathLst>
          </a:custGeom>
          <a:solidFill>
            <a:srgbClr val="E7E6E6"/>
          </a:solidFill>
        </p:spPr>
        <p:txBody>
          <a:bodyPr wrap="square" lIns="0" tIns="0" rIns="0" bIns="0" rtlCol="0"/>
          <a:lstStyle/>
          <a:p/>
        </p:txBody>
      </p:sp>
      <p:sp>
        <p:nvSpPr>
          <p:cNvPr id="49" name="object 49"/>
          <p:cNvSpPr txBox="1"/>
          <p:nvPr/>
        </p:nvSpPr>
        <p:spPr>
          <a:xfrm>
            <a:off x="2593975" y="2769235"/>
            <a:ext cx="556260" cy="132080"/>
          </a:xfrm>
          <a:prstGeom prst="rect">
            <a:avLst/>
          </a:prstGeom>
        </p:spPr>
        <p:txBody>
          <a:bodyPr vert="horz" wrap="square" lIns="0" tIns="12065" rIns="0" bIns="0" rtlCol="0">
            <a:spAutoFit/>
          </a:bodyPr>
          <a:lstStyle/>
          <a:p>
            <a:pPr marL="12700">
              <a:lnSpc>
                <a:spcPct val="100000"/>
              </a:lnSpc>
              <a:spcBef>
                <a:spcPts val="95"/>
              </a:spcBef>
            </a:pPr>
            <a:r>
              <a:rPr sz="700" b="1" spc="-5" dirty="0">
                <a:solidFill>
                  <a:srgbClr val="171717"/>
                </a:solidFill>
                <a:latin typeface="微软雅黑"/>
                <a:cs typeface="微软雅黑"/>
              </a:rPr>
              <a:t>合作伙伴交付</a:t>
            </a:r>
            <a:endParaRPr sz="700">
              <a:latin typeface="微软雅黑"/>
              <a:cs typeface="微软雅黑"/>
            </a:endParaRPr>
          </a:p>
        </p:txBody>
      </p:sp>
      <p:sp>
        <p:nvSpPr>
          <p:cNvPr id="50" name="object 50"/>
          <p:cNvSpPr txBox="1"/>
          <p:nvPr/>
        </p:nvSpPr>
        <p:spPr>
          <a:xfrm>
            <a:off x="6605396" y="2733878"/>
            <a:ext cx="1922780" cy="330200"/>
          </a:xfrm>
          <a:prstGeom prst="rect">
            <a:avLst/>
          </a:prstGeom>
        </p:spPr>
        <p:txBody>
          <a:bodyPr vert="horz" wrap="square" lIns="0" tIns="12065" rIns="0" bIns="0" rtlCol="0">
            <a:spAutoFit/>
          </a:bodyPr>
          <a:lstStyle/>
          <a:p>
            <a:pPr algn="ctr">
              <a:lnSpc>
                <a:spcPct val="100000"/>
              </a:lnSpc>
              <a:spcBef>
                <a:spcPts val="95"/>
              </a:spcBef>
            </a:pPr>
            <a:r>
              <a:rPr sz="1000" b="1" spc="-10" dirty="0">
                <a:solidFill>
                  <a:srgbClr val="171717"/>
                </a:solidFill>
                <a:latin typeface="微软雅黑"/>
                <a:cs typeface="微软雅黑"/>
              </a:rPr>
              <a:t>盘古工作流（快速交付：工作流，</a:t>
            </a:r>
            <a:endParaRPr sz="1000">
              <a:latin typeface="微软雅黑"/>
              <a:cs typeface="微软雅黑"/>
            </a:endParaRPr>
          </a:p>
          <a:p>
            <a:pPr algn="ctr">
              <a:lnSpc>
                <a:spcPct val="100000"/>
              </a:lnSpc>
              <a:spcBef>
                <a:spcPts val="5"/>
              </a:spcBef>
            </a:pPr>
            <a:r>
              <a:rPr sz="1000" b="1" spc="-5" dirty="0">
                <a:solidFill>
                  <a:srgbClr val="171717"/>
                </a:solidFill>
                <a:latin typeface="微软雅黑"/>
                <a:cs typeface="微软雅黑"/>
              </a:rPr>
              <a:t>增量学习，小样本标注）</a:t>
            </a:r>
            <a:endParaRPr sz="1000">
              <a:latin typeface="微软雅黑"/>
              <a:cs typeface="微软雅黑"/>
            </a:endParaRPr>
          </a:p>
        </p:txBody>
      </p:sp>
      <p:sp>
        <p:nvSpPr>
          <p:cNvPr id="51" name="object 51"/>
          <p:cNvSpPr txBox="1"/>
          <p:nvPr/>
        </p:nvSpPr>
        <p:spPr>
          <a:xfrm>
            <a:off x="8616442" y="3600450"/>
            <a:ext cx="628015" cy="482600"/>
          </a:xfrm>
          <a:prstGeom prst="rect">
            <a:avLst/>
          </a:prstGeom>
        </p:spPr>
        <p:txBody>
          <a:bodyPr vert="horz" wrap="square" lIns="0" tIns="12065" rIns="0" bIns="0" rtlCol="0">
            <a:spAutoFit/>
          </a:bodyPr>
          <a:lstStyle/>
          <a:p>
            <a:pPr marL="12065" marR="5080" algn="ctr">
              <a:lnSpc>
                <a:spcPct val="100000"/>
              </a:lnSpc>
              <a:spcBef>
                <a:spcPts val="95"/>
              </a:spcBef>
            </a:pPr>
            <a:r>
              <a:rPr sz="1000" spc="-5" dirty="0">
                <a:solidFill>
                  <a:srgbClr val="171717"/>
                </a:solidFill>
                <a:latin typeface="Arial" panose="020B0604020202090204"/>
                <a:cs typeface="Arial" panose="020B0604020202090204"/>
              </a:rPr>
              <a:t>L0 →L1</a:t>
            </a:r>
            <a:r>
              <a:rPr sz="1000" spc="-110" dirty="0">
                <a:solidFill>
                  <a:srgbClr val="171717"/>
                </a:solidFill>
                <a:latin typeface="Arial" panose="020B0604020202090204"/>
                <a:cs typeface="Arial" panose="020B0604020202090204"/>
              </a:rPr>
              <a:t> </a:t>
            </a:r>
            <a:r>
              <a:rPr sz="1000" spc="-5" dirty="0">
                <a:solidFill>
                  <a:srgbClr val="171717"/>
                </a:solidFill>
                <a:latin typeface="微软雅黑"/>
                <a:cs typeface="微软雅黑"/>
              </a:rPr>
              <a:t>行 业大模型 定制费</a:t>
            </a:r>
            <a:endParaRPr sz="1000">
              <a:latin typeface="微软雅黑"/>
              <a:cs typeface="微软雅黑"/>
            </a:endParaRPr>
          </a:p>
        </p:txBody>
      </p:sp>
      <p:sp>
        <p:nvSpPr>
          <p:cNvPr id="52" name="object 52"/>
          <p:cNvSpPr txBox="1"/>
          <p:nvPr/>
        </p:nvSpPr>
        <p:spPr>
          <a:xfrm>
            <a:off x="8657590" y="4330446"/>
            <a:ext cx="545465" cy="482600"/>
          </a:xfrm>
          <a:prstGeom prst="rect">
            <a:avLst/>
          </a:prstGeom>
        </p:spPr>
        <p:txBody>
          <a:bodyPr vert="horz" wrap="square" lIns="0" tIns="12065" rIns="0" bIns="0" rtlCol="0">
            <a:spAutoFit/>
          </a:bodyPr>
          <a:lstStyle/>
          <a:p>
            <a:pPr marL="18415" marR="5080" indent="-6350" algn="just">
              <a:lnSpc>
                <a:spcPct val="100000"/>
              </a:lnSpc>
              <a:spcBef>
                <a:spcPts val="95"/>
              </a:spcBef>
            </a:pPr>
            <a:r>
              <a:rPr sz="1000" spc="-10" dirty="0">
                <a:solidFill>
                  <a:srgbClr val="171717"/>
                </a:solidFill>
                <a:latin typeface="Arial" panose="020B0604020202090204"/>
                <a:cs typeface="Arial" panose="020B0604020202090204"/>
              </a:rPr>
              <a:t>L0</a:t>
            </a:r>
            <a:r>
              <a:rPr sz="1000" spc="-5" dirty="0">
                <a:solidFill>
                  <a:srgbClr val="171717"/>
                </a:solidFill>
                <a:latin typeface="微软雅黑"/>
                <a:cs typeface="微软雅黑"/>
              </a:rPr>
              <a:t>基础大 模型使用 </a:t>
            </a:r>
            <a:r>
              <a:rPr sz="1000" spc="-5" dirty="0">
                <a:solidFill>
                  <a:srgbClr val="171717"/>
                </a:solidFill>
                <a:latin typeface="微软雅黑"/>
                <a:cs typeface="微软雅黑"/>
              </a:rPr>
              <a:t>授权费</a:t>
            </a:r>
            <a:endParaRPr sz="1000">
              <a:latin typeface="微软雅黑"/>
              <a:cs typeface="微软雅黑"/>
            </a:endParaRPr>
          </a:p>
        </p:txBody>
      </p:sp>
      <p:sp>
        <p:nvSpPr>
          <p:cNvPr id="53" name="object 53"/>
          <p:cNvSpPr txBox="1"/>
          <p:nvPr/>
        </p:nvSpPr>
        <p:spPr>
          <a:xfrm>
            <a:off x="8600313" y="2700019"/>
            <a:ext cx="657860" cy="482600"/>
          </a:xfrm>
          <a:prstGeom prst="rect">
            <a:avLst/>
          </a:prstGeom>
        </p:spPr>
        <p:txBody>
          <a:bodyPr vert="horz" wrap="square" lIns="0" tIns="12065" rIns="0" bIns="0" rtlCol="0">
            <a:spAutoFit/>
          </a:bodyPr>
          <a:lstStyle/>
          <a:p>
            <a:pPr marL="12700" marR="5080" algn="just">
              <a:lnSpc>
                <a:spcPct val="100000"/>
              </a:lnSpc>
              <a:spcBef>
                <a:spcPts val="95"/>
              </a:spcBef>
            </a:pPr>
            <a:r>
              <a:rPr sz="1000" spc="-5" dirty="0">
                <a:solidFill>
                  <a:srgbClr val="171717"/>
                </a:solidFill>
                <a:latin typeface="微软雅黑"/>
                <a:cs typeface="微软雅黑"/>
              </a:rPr>
              <a:t>工作流订阅 及基于下游 </a:t>
            </a:r>
            <a:r>
              <a:rPr sz="1000" spc="-5" dirty="0">
                <a:solidFill>
                  <a:srgbClr val="171717"/>
                </a:solidFill>
                <a:latin typeface="微软雅黑"/>
                <a:cs typeface="微软雅黑"/>
              </a:rPr>
              <a:t>任务微调</a:t>
            </a:r>
            <a:endParaRPr sz="1000">
              <a:latin typeface="微软雅黑"/>
              <a:cs typeface="微软雅黑"/>
            </a:endParaRPr>
          </a:p>
        </p:txBody>
      </p:sp>
      <p:sp>
        <p:nvSpPr>
          <p:cNvPr id="54" name="object 54"/>
          <p:cNvSpPr/>
          <p:nvPr/>
        </p:nvSpPr>
        <p:spPr>
          <a:xfrm>
            <a:off x="8799449" y="3233419"/>
            <a:ext cx="260985" cy="198120"/>
          </a:xfrm>
          <a:custGeom>
            <a:avLst/>
            <a:gdLst/>
            <a:ahLst/>
            <a:cxnLst/>
            <a:rect l="l" t="t" r="r" b="b"/>
            <a:pathLst>
              <a:path w="260984" h="198120">
                <a:moveTo>
                  <a:pt x="260858" y="85090"/>
                </a:moveTo>
                <a:lnTo>
                  <a:pt x="143637" y="85090"/>
                </a:lnTo>
                <a:lnTo>
                  <a:pt x="143637" y="0"/>
                </a:lnTo>
                <a:lnTo>
                  <a:pt x="117221" y="0"/>
                </a:lnTo>
                <a:lnTo>
                  <a:pt x="117221" y="85090"/>
                </a:lnTo>
                <a:lnTo>
                  <a:pt x="0" y="85090"/>
                </a:lnTo>
                <a:lnTo>
                  <a:pt x="0" y="111760"/>
                </a:lnTo>
                <a:lnTo>
                  <a:pt x="117221" y="111760"/>
                </a:lnTo>
                <a:lnTo>
                  <a:pt x="117221" y="198120"/>
                </a:lnTo>
                <a:lnTo>
                  <a:pt x="143637" y="198120"/>
                </a:lnTo>
                <a:lnTo>
                  <a:pt x="143637" y="111760"/>
                </a:lnTo>
                <a:lnTo>
                  <a:pt x="260858" y="111760"/>
                </a:lnTo>
                <a:lnTo>
                  <a:pt x="260858" y="85090"/>
                </a:lnTo>
                <a:close/>
              </a:path>
            </a:pathLst>
          </a:custGeom>
          <a:solidFill>
            <a:srgbClr val="898989"/>
          </a:solidFill>
        </p:spPr>
        <p:txBody>
          <a:bodyPr wrap="square" lIns="0" tIns="0" rIns="0" bIns="0" rtlCol="0"/>
          <a:lstStyle/>
          <a:p/>
        </p:txBody>
      </p:sp>
      <p:sp>
        <p:nvSpPr>
          <p:cNvPr id="55" name="object 55"/>
          <p:cNvSpPr/>
          <p:nvPr/>
        </p:nvSpPr>
        <p:spPr>
          <a:xfrm>
            <a:off x="8799449" y="4071619"/>
            <a:ext cx="260985" cy="198120"/>
          </a:xfrm>
          <a:custGeom>
            <a:avLst/>
            <a:gdLst/>
            <a:ahLst/>
            <a:cxnLst/>
            <a:rect l="l" t="t" r="r" b="b"/>
            <a:pathLst>
              <a:path w="260984" h="198120">
                <a:moveTo>
                  <a:pt x="260858" y="85090"/>
                </a:moveTo>
                <a:lnTo>
                  <a:pt x="143637" y="85090"/>
                </a:lnTo>
                <a:lnTo>
                  <a:pt x="143637" y="0"/>
                </a:lnTo>
                <a:lnTo>
                  <a:pt x="117221" y="0"/>
                </a:lnTo>
                <a:lnTo>
                  <a:pt x="117221" y="85090"/>
                </a:lnTo>
                <a:lnTo>
                  <a:pt x="0" y="85090"/>
                </a:lnTo>
                <a:lnTo>
                  <a:pt x="0" y="111760"/>
                </a:lnTo>
                <a:lnTo>
                  <a:pt x="117221" y="111760"/>
                </a:lnTo>
                <a:lnTo>
                  <a:pt x="117221" y="198120"/>
                </a:lnTo>
                <a:lnTo>
                  <a:pt x="143637" y="198120"/>
                </a:lnTo>
                <a:lnTo>
                  <a:pt x="143637" y="111760"/>
                </a:lnTo>
                <a:lnTo>
                  <a:pt x="260858" y="111760"/>
                </a:lnTo>
                <a:lnTo>
                  <a:pt x="260858" y="85090"/>
                </a:lnTo>
                <a:close/>
              </a:path>
            </a:pathLst>
          </a:custGeom>
          <a:solidFill>
            <a:srgbClr val="898989"/>
          </a:solidFill>
        </p:spPr>
        <p:txBody>
          <a:bodyPr wrap="square" lIns="0" tIns="0" rIns="0" bIns="0" rtlCol="0"/>
          <a:lstStyle/>
          <a:p/>
        </p:txBody>
      </p:sp>
      <p:sp>
        <p:nvSpPr>
          <p:cNvPr id="56" name="object 56"/>
          <p:cNvSpPr/>
          <p:nvPr/>
        </p:nvSpPr>
        <p:spPr>
          <a:xfrm>
            <a:off x="9329166" y="2839973"/>
            <a:ext cx="274320" cy="1693545"/>
          </a:xfrm>
          <a:custGeom>
            <a:avLst/>
            <a:gdLst/>
            <a:ahLst/>
            <a:cxnLst/>
            <a:rect l="l" t="t" r="r" b="b"/>
            <a:pathLst>
              <a:path w="274320" h="1693545">
                <a:moveTo>
                  <a:pt x="0" y="0"/>
                </a:moveTo>
                <a:lnTo>
                  <a:pt x="60293" y="24277"/>
                </a:lnTo>
                <a:lnTo>
                  <a:pt x="107008" y="89467"/>
                </a:lnTo>
                <a:lnTo>
                  <a:pt x="123208" y="133822"/>
                </a:lnTo>
                <a:lnTo>
                  <a:pt x="133534" y="184106"/>
                </a:lnTo>
                <a:lnTo>
                  <a:pt x="137159" y="238887"/>
                </a:lnTo>
                <a:lnTo>
                  <a:pt x="137159" y="607695"/>
                </a:lnTo>
                <a:lnTo>
                  <a:pt x="140785" y="662475"/>
                </a:lnTo>
                <a:lnTo>
                  <a:pt x="151111" y="712759"/>
                </a:lnTo>
                <a:lnTo>
                  <a:pt x="167311" y="757114"/>
                </a:lnTo>
                <a:lnTo>
                  <a:pt x="188558" y="794107"/>
                </a:lnTo>
                <a:lnTo>
                  <a:pt x="242889" y="840273"/>
                </a:lnTo>
                <a:lnTo>
                  <a:pt x="274319" y="846582"/>
                </a:lnTo>
                <a:lnTo>
                  <a:pt x="242889" y="852890"/>
                </a:lnTo>
                <a:lnTo>
                  <a:pt x="188558" y="899056"/>
                </a:lnTo>
                <a:lnTo>
                  <a:pt x="167311" y="936049"/>
                </a:lnTo>
                <a:lnTo>
                  <a:pt x="151111" y="980404"/>
                </a:lnTo>
                <a:lnTo>
                  <a:pt x="140785" y="1030688"/>
                </a:lnTo>
                <a:lnTo>
                  <a:pt x="137159" y="1085469"/>
                </a:lnTo>
                <a:lnTo>
                  <a:pt x="137159" y="1454277"/>
                </a:lnTo>
                <a:lnTo>
                  <a:pt x="133534" y="1509057"/>
                </a:lnTo>
                <a:lnTo>
                  <a:pt x="123208" y="1559341"/>
                </a:lnTo>
                <a:lnTo>
                  <a:pt x="107008" y="1603696"/>
                </a:lnTo>
                <a:lnTo>
                  <a:pt x="85761" y="1640689"/>
                </a:lnTo>
                <a:lnTo>
                  <a:pt x="31430" y="1686855"/>
                </a:lnTo>
                <a:lnTo>
                  <a:pt x="0" y="1693164"/>
                </a:lnTo>
              </a:path>
            </a:pathLst>
          </a:custGeom>
          <a:ln w="19811">
            <a:solidFill>
              <a:srgbClr val="AA0001"/>
            </a:solidFill>
          </a:ln>
        </p:spPr>
        <p:txBody>
          <a:bodyPr wrap="square" lIns="0" tIns="0" rIns="0" bIns="0" rtlCol="0"/>
          <a:lstStyle/>
          <a:p/>
        </p:txBody>
      </p:sp>
      <p:sp>
        <p:nvSpPr>
          <p:cNvPr id="57" name="object 57"/>
          <p:cNvSpPr/>
          <p:nvPr/>
        </p:nvSpPr>
        <p:spPr>
          <a:xfrm>
            <a:off x="9845802" y="2839973"/>
            <a:ext cx="276225" cy="1693545"/>
          </a:xfrm>
          <a:custGeom>
            <a:avLst/>
            <a:gdLst/>
            <a:ahLst/>
            <a:cxnLst/>
            <a:rect l="l" t="t" r="r" b="b"/>
            <a:pathLst>
              <a:path w="276225" h="1693545">
                <a:moveTo>
                  <a:pt x="0" y="0"/>
                </a:moveTo>
                <a:lnTo>
                  <a:pt x="60666" y="24421"/>
                </a:lnTo>
                <a:lnTo>
                  <a:pt x="86274" y="52784"/>
                </a:lnTo>
                <a:lnTo>
                  <a:pt x="107630" y="89994"/>
                </a:lnTo>
                <a:lnTo>
                  <a:pt x="123908" y="134608"/>
                </a:lnTo>
                <a:lnTo>
                  <a:pt x="134280" y="185185"/>
                </a:lnTo>
                <a:lnTo>
                  <a:pt x="137922" y="240284"/>
                </a:lnTo>
                <a:lnTo>
                  <a:pt x="137922" y="606298"/>
                </a:lnTo>
                <a:lnTo>
                  <a:pt x="141563" y="661396"/>
                </a:lnTo>
                <a:lnTo>
                  <a:pt x="151935" y="711973"/>
                </a:lnTo>
                <a:lnTo>
                  <a:pt x="168213" y="756587"/>
                </a:lnTo>
                <a:lnTo>
                  <a:pt x="189569" y="793797"/>
                </a:lnTo>
                <a:lnTo>
                  <a:pt x="215177" y="822160"/>
                </a:lnTo>
                <a:lnTo>
                  <a:pt x="275844" y="846582"/>
                </a:lnTo>
                <a:lnTo>
                  <a:pt x="244211" y="852927"/>
                </a:lnTo>
                <a:lnTo>
                  <a:pt x="189569" y="899366"/>
                </a:lnTo>
                <a:lnTo>
                  <a:pt x="168213" y="936576"/>
                </a:lnTo>
                <a:lnTo>
                  <a:pt x="151935" y="981190"/>
                </a:lnTo>
                <a:lnTo>
                  <a:pt x="141563" y="1031767"/>
                </a:lnTo>
                <a:lnTo>
                  <a:pt x="137922" y="1086865"/>
                </a:lnTo>
                <a:lnTo>
                  <a:pt x="137922" y="1452880"/>
                </a:lnTo>
                <a:lnTo>
                  <a:pt x="134280" y="1507978"/>
                </a:lnTo>
                <a:lnTo>
                  <a:pt x="123908" y="1558555"/>
                </a:lnTo>
                <a:lnTo>
                  <a:pt x="107630" y="1603169"/>
                </a:lnTo>
                <a:lnTo>
                  <a:pt x="86274" y="1640379"/>
                </a:lnTo>
                <a:lnTo>
                  <a:pt x="60666" y="1668742"/>
                </a:lnTo>
                <a:lnTo>
                  <a:pt x="31632" y="1686818"/>
                </a:lnTo>
                <a:lnTo>
                  <a:pt x="0" y="1693164"/>
                </a:lnTo>
              </a:path>
            </a:pathLst>
          </a:custGeom>
          <a:ln w="19811">
            <a:solidFill>
              <a:srgbClr val="AA0001"/>
            </a:solidFill>
          </a:ln>
        </p:spPr>
        <p:txBody>
          <a:bodyPr wrap="square" lIns="0" tIns="0" rIns="0" bIns="0" rtlCol="0"/>
          <a:lstStyle/>
          <a:p/>
        </p:txBody>
      </p:sp>
      <p:sp>
        <p:nvSpPr>
          <p:cNvPr id="58" name="object 58"/>
          <p:cNvSpPr txBox="1"/>
          <p:nvPr/>
        </p:nvSpPr>
        <p:spPr>
          <a:xfrm>
            <a:off x="9618726" y="2582925"/>
            <a:ext cx="152400" cy="2616835"/>
          </a:xfrm>
          <a:prstGeom prst="rect">
            <a:avLst/>
          </a:prstGeom>
        </p:spPr>
        <p:txBody>
          <a:bodyPr vert="horz" wrap="square" lIns="0" tIns="12065" rIns="0" bIns="0" rtlCol="0">
            <a:spAutoFit/>
          </a:bodyPr>
          <a:lstStyle/>
          <a:p>
            <a:pPr marL="12700" marR="5080" algn="just">
              <a:lnSpc>
                <a:spcPct val="100000"/>
              </a:lnSpc>
              <a:spcBef>
                <a:spcPts val="95"/>
              </a:spcBef>
            </a:pPr>
            <a:r>
              <a:rPr sz="1000" spc="-5" dirty="0">
                <a:solidFill>
                  <a:srgbClr val="171717"/>
                </a:solidFill>
                <a:latin typeface="微软雅黑"/>
                <a:cs typeface="微软雅黑"/>
              </a:rPr>
              <a:t>大 企 业 或 政 府 方 案</a:t>
            </a:r>
            <a:endParaRPr sz="1000">
              <a:latin typeface="微软雅黑"/>
              <a:cs typeface="微软雅黑"/>
            </a:endParaRPr>
          </a:p>
          <a:p>
            <a:pPr marL="12700" marR="5080" algn="just">
              <a:lnSpc>
                <a:spcPct val="100000"/>
              </a:lnSpc>
            </a:pPr>
            <a:r>
              <a:rPr sz="1000" spc="-5" dirty="0">
                <a:solidFill>
                  <a:srgbClr val="171717"/>
                </a:solidFill>
                <a:latin typeface="微软雅黑"/>
                <a:cs typeface="微软雅黑"/>
              </a:rPr>
              <a:t>（ 混 合 云 或 公 有 </a:t>
            </a:r>
            <a:r>
              <a:rPr sz="1000" spc="-5" dirty="0">
                <a:solidFill>
                  <a:srgbClr val="171717"/>
                </a:solidFill>
                <a:latin typeface="微软雅黑"/>
                <a:cs typeface="微软雅黑"/>
              </a:rPr>
              <a:t>云</a:t>
            </a:r>
            <a:endParaRPr sz="1000">
              <a:latin typeface="微软雅黑"/>
              <a:cs typeface="微软雅黑"/>
            </a:endParaRPr>
          </a:p>
          <a:p>
            <a:pPr marL="12700">
              <a:lnSpc>
                <a:spcPct val="100000"/>
              </a:lnSpc>
              <a:spcBef>
                <a:spcPts val="5"/>
              </a:spcBef>
            </a:pPr>
            <a:r>
              <a:rPr sz="1000" spc="-5" dirty="0">
                <a:solidFill>
                  <a:srgbClr val="171717"/>
                </a:solidFill>
                <a:latin typeface="微软雅黑"/>
                <a:cs typeface="微软雅黑"/>
              </a:rPr>
              <a:t>）</a:t>
            </a:r>
            <a:endParaRPr sz="1000">
              <a:latin typeface="微软雅黑"/>
              <a:cs typeface="微软雅黑"/>
            </a:endParaRPr>
          </a:p>
        </p:txBody>
      </p:sp>
      <p:sp>
        <p:nvSpPr>
          <p:cNvPr id="59" name="object 59"/>
          <p:cNvSpPr txBox="1"/>
          <p:nvPr/>
        </p:nvSpPr>
        <p:spPr>
          <a:xfrm>
            <a:off x="10197210" y="2872486"/>
            <a:ext cx="152400" cy="1854200"/>
          </a:xfrm>
          <a:prstGeom prst="rect">
            <a:avLst/>
          </a:prstGeom>
        </p:spPr>
        <p:txBody>
          <a:bodyPr vert="horz" wrap="square" lIns="0" tIns="12065" rIns="0" bIns="0" rtlCol="0">
            <a:spAutoFit/>
          </a:bodyPr>
          <a:lstStyle/>
          <a:p>
            <a:pPr marL="12700" marR="5080" algn="just">
              <a:lnSpc>
                <a:spcPct val="100000"/>
              </a:lnSpc>
              <a:spcBef>
                <a:spcPts val="95"/>
              </a:spcBef>
            </a:pPr>
            <a:r>
              <a:rPr sz="1000" spc="-5" dirty="0">
                <a:solidFill>
                  <a:srgbClr val="171717"/>
                </a:solidFill>
                <a:latin typeface="微软雅黑"/>
                <a:cs typeface="微软雅黑"/>
              </a:rPr>
              <a:t>中 国 企 业 </a:t>
            </a:r>
            <a:r>
              <a:rPr sz="1000" spc="-5" dirty="0">
                <a:solidFill>
                  <a:srgbClr val="171717"/>
                </a:solidFill>
                <a:latin typeface="微软雅黑"/>
                <a:cs typeface="微软雅黑"/>
              </a:rPr>
              <a:t>方 </a:t>
            </a:r>
            <a:r>
              <a:rPr sz="1000" spc="-5" dirty="0">
                <a:solidFill>
                  <a:srgbClr val="171717"/>
                </a:solidFill>
                <a:latin typeface="微软雅黑"/>
                <a:cs typeface="微软雅黑"/>
              </a:rPr>
              <a:t>案</a:t>
            </a:r>
            <a:endParaRPr sz="1000">
              <a:latin typeface="微软雅黑"/>
              <a:cs typeface="微软雅黑"/>
            </a:endParaRPr>
          </a:p>
          <a:p>
            <a:pPr marL="12700" marR="5080" algn="just">
              <a:lnSpc>
                <a:spcPct val="100000"/>
              </a:lnSpc>
            </a:pPr>
            <a:r>
              <a:rPr sz="1000" spc="-5" dirty="0">
                <a:solidFill>
                  <a:srgbClr val="171717"/>
                </a:solidFill>
                <a:latin typeface="微软雅黑"/>
                <a:cs typeface="微软雅黑"/>
              </a:rPr>
              <a:t>（ 云 边 协 同</a:t>
            </a:r>
            <a:endParaRPr sz="1000">
              <a:latin typeface="微软雅黑"/>
              <a:cs typeface="微软雅黑"/>
            </a:endParaRPr>
          </a:p>
          <a:p>
            <a:pPr marL="12700">
              <a:lnSpc>
                <a:spcPct val="100000"/>
              </a:lnSpc>
            </a:pPr>
            <a:r>
              <a:rPr sz="1000" spc="-5" dirty="0">
                <a:solidFill>
                  <a:srgbClr val="171717"/>
                </a:solidFill>
                <a:latin typeface="微软雅黑"/>
                <a:cs typeface="微软雅黑"/>
              </a:rPr>
              <a:t>）</a:t>
            </a:r>
            <a:endParaRPr sz="1000">
              <a:latin typeface="微软雅黑"/>
              <a:cs typeface="微软雅黑"/>
            </a:endParaRPr>
          </a:p>
        </p:txBody>
      </p:sp>
      <p:sp>
        <p:nvSpPr>
          <p:cNvPr id="60" name="object 60"/>
          <p:cNvSpPr/>
          <p:nvPr/>
        </p:nvSpPr>
        <p:spPr>
          <a:xfrm>
            <a:off x="8854440" y="2372867"/>
            <a:ext cx="687705" cy="260985"/>
          </a:xfrm>
          <a:custGeom>
            <a:avLst/>
            <a:gdLst/>
            <a:ahLst/>
            <a:cxnLst/>
            <a:rect l="l" t="t" r="r" b="b"/>
            <a:pathLst>
              <a:path w="687704" h="260985">
                <a:moveTo>
                  <a:pt x="687324" y="0"/>
                </a:moveTo>
                <a:lnTo>
                  <a:pt x="0" y="0"/>
                </a:lnTo>
                <a:lnTo>
                  <a:pt x="0" y="260603"/>
                </a:lnTo>
                <a:lnTo>
                  <a:pt x="687324" y="260603"/>
                </a:lnTo>
                <a:lnTo>
                  <a:pt x="687324" y="0"/>
                </a:lnTo>
                <a:close/>
              </a:path>
            </a:pathLst>
          </a:custGeom>
          <a:solidFill>
            <a:srgbClr val="FF7779"/>
          </a:solidFill>
        </p:spPr>
        <p:txBody>
          <a:bodyPr wrap="square" lIns="0" tIns="0" rIns="0" bIns="0" rtlCol="0"/>
          <a:lstStyle/>
          <a:p/>
        </p:txBody>
      </p:sp>
      <p:sp>
        <p:nvSpPr>
          <p:cNvPr id="61" name="object 61"/>
          <p:cNvSpPr txBox="1"/>
          <p:nvPr/>
        </p:nvSpPr>
        <p:spPr>
          <a:xfrm>
            <a:off x="8854440" y="2372867"/>
            <a:ext cx="687705" cy="125095"/>
          </a:xfrm>
          <a:prstGeom prst="rect">
            <a:avLst/>
          </a:prstGeom>
          <a:solidFill>
            <a:srgbClr val="FF7779"/>
          </a:solidFill>
        </p:spPr>
        <p:txBody>
          <a:bodyPr vert="horz" wrap="square" lIns="0" tIns="6350" rIns="0" bIns="0" rtlCol="0">
            <a:spAutoFit/>
          </a:bodyPr>
          <a:lstStyle/>
          <a:p>
            <a:pPr marL="102235">
              <a:lnSpc>
                <a:spcPts val="935"/>
              </a:lnSpc>
              <a:spcBef>
                <a:spcPts val="50"/>
              </a:spcBef>
            </a:pPr>
            <a:r>
              <a:rPr sz="800" b="1" spc="-5" dirty="0">
                <a:solidFill>
                  <a:srgbClr val="FFFFFF"/>
                </a:solidFill>
                <a:latin typeface="Arial" panose="020B0604020202090204"/>
                <a:cs typeface="Arial" panose="020B0604020202090204"/>
              </a:rPr>
              <a:t>Offering</a:t>
            </a:r>
            <a:r>
              <a:rPr sz="800" b="1" spc="-20" dirty="0">
                <a:solidFill>
                  <a:srgbClr val="FFFFFF"/>
                </a:solidFill>
                <a:latin typeface="Arial" panose="020B0604020202090204"/>
                <a:cs typeface="Arial" panose="020B0604020202090204"/>
              </a:rPr>
              <a:t> </a:t>
            </a:r>
            <a:r>
              <a:rPr sz="800" b="1" dirty="0">
                <a:solidFill>
                  <a:srgbClr val="FFFFFF"/>
                </a:solidFill>
                <a:latin typeface="Arial" panose="020B0604020202090204"/>
                <a:cs typeface="Arial" panose="020B0604020202090204"/>
              </a:rPr>
              <a:t>1</a:t>
            </a:r>
            <a:endParaRPr sz="800">
              <a:latin typeface="Arial" panose="020B0604020202090204"/>
              <a:cs typeface="Arial" panose="020B0604020202090204"/>
            </a:endParaRPr>
          </a:p>
        </p:txBody>
      </p:sp>
      <p:sp>
        <p:nvSpPr>
          <p:cNvPr id="62" name="object 62"/>
          <p:cNvSpPr txBox="1"/>
          <p:nvPr/>
        </p:nvSpPr>
        <p:spPr>
          <a:xfrm>
            <a:off x="8854440" y="2497814"/>
            <a:ext cx="687705" cy="135890"/>
          </a:xfrm>
          <a:prstGeom prst="rect">
            <a:avLst/>
          </a:prstGeom>
          <a:solidFill>
            <a:srgbClr val="FF7779"/>
          </a:solidFill>
        </p:spPr>
        <p:txBody>
          <a:bodyPr vert="horz" wrap="square" lIns="0" tIns="1905" rIns="0" bIns="0" rtlCol="0">
            <a:spAutoFit/>
          </a:bodyPr>
          <a:lstStyle/>
          <a:p>
            <a:pPr marL="90170">
              <a:lnSpc>
                <a:spcPct val="100000"/>
              </a:lnSpc>
              <a:spcBef>
                <a:spcPts val="15"/>
              </a:spcBef>
            </a:pPr>
            <a:r>
              <a:rPr sz="800" b="1" dirty="0">
                <a:solidFill>
                  <a:srgbClr val="FFFFFF"/>
                </a:solidFill>
                <a:latin typeface="微软雅黑"/>
                <a:cs typeface="微软雅黑"/>
              </a:rPr>
              <a:t>（千万</a:t>
            </a:r>
            <a:r>
              <a:rPr sz="800" b="1" spc="-15" dirty="0">
                <a:solidFill>
                  <a:srgbClr val="FFFFFF"/>
                </a:solidFill>
                <a:latin typeface="微软雅黑"/>
                <a:cs typeface="微软雅黑"/>
              </a:rPr>
              <a:t>级</a:t>
            </a:r>
            <a:r>
              <a:rPr sz="800" b="1" dirty="0">
                <a:solidFill>
                  <a:srgbClr val="FFFFFF"/>
                </a:solidFill>
                <a:latin typeface="微软雅黑"/>
                <a:cs typeface="微软雅黑"/>
              </a:rPr>
              <a:t>）</a:t>
            </a:r>
            <a:endParaRPr sz="800">
              <a:latin typeface="微软雅黑"/>
              <a:cs typeface="微软雅黑"/>
            </a:endParaRPr>
          </a:p>
        </p:txBody>
      </p:sp>
      <p:sp>
        <p:nvSpPr>
          <p:cNvPr id="63" name="object 63"/>
          <p:cNvSpPr/>
          <p:nvPr/>
        </p:nvSpPr>
        <p:spPr>
          <a:xfrm>
            <a:off x="9875519" y="4750308"/>
            <a:ext cx="688975" cy="262255"/>
          </a:xfrm>
          <a:custGeom>
            <a:avLst/>
            <a:gdLst/>
            <a:ahLst/>
            <a:cxnLst/>
            <a:rect l="l" t="t" r="r" b="b"/>
            <a:pathLst>
              <a:path w="688975" h="262254">
                <a:moveTo>
                  <a:pt x="688848" y="0"/>
                </a:moveTo>
                <a:lnTo>
                  <a:pt x="0" y="0"/>
                </a:lnTo>
                <a:lnTo>
                  <a:pt x="0" y="262127"/>
                </a:lnTo>
                <a:lnTo>
                  <a:pt x="688848" y="262127"/>
                </a:lnTo>
                <a:lnTo>
                  <a:pt x="688848" y="0"/>
                </a:lnTo>
                <a:close/>
              </a:path>
            </a:pathLst>
          </a:custGeom>
          <a:solidFill>
            <a:srgbClr val="FF7779"/>
          </a:solidFill>
        </p:spPr>
        <p:txBody>
          <a:bodyPr wrap="square" lIns="0" tIns="0" rIns="0" bIns="0" rtlCol="0"/>
          <a:lstStyle/>
          <a:p/>
        </p:txBody>
      </p:sp>
      <p:sp>
        <p:nvSpPr>
          <p:cNvPr id="64" name="object 64"/>
          <p:cNvSpPr txBox="1"/>
          <p:nvPr/>
        </p:nvSpPr>
        <p:spPr>
          <a:xfrm>
            <a:off x="9875519" y="4750308"/>
            <a:ext cx="688975" cy="127000"/>
          </a:xfrm>
          <a:prstGeom prst="rect">
            <a:avLst/>
          </a:prstGeom>
          <a:solidFill>
            <a:srgbClr val="FF7779"/>
          </a:solidFill>
        </p:spPr>
        <p:txBody>
          <a:bodyPr vert="horz" wrap="square" lIns="0" tIns="7620" rIns="0" bIns="0" rtlCol="0">
            <a:spAutoFit/>
          </a:bodyPr>
          <a:lstStyle/>
          <a:p>
            <a:pPr marL="103505">
              <a:lnSpc>
                <a:spcPts val="935"/>
              </a:lnSpc>
              <a:spcBef>
                <a:spcPts val="60"/>
              </a:spcBef>
            </a:pPr>
            <a:r>
              <a:rPr sz="800" b="1" spc="-5" dirty="0">
                <a:solidFill>
                  <a:srgbClr val="FFFFFF"/>
                </a:solidFill>
                <a:latin typeface="Arial" panose="020B0604020202090204"/>
                <a:cs typeface="Arial" panose="020B0604020202090204"/>
              </a:rPr>
              <a:t>Offering</a:t>
            </a:r>
            <a:r>
              <a:rPr sz="800" b="1" spc="-20" dirty="0">
                <a:solidFill>
                  <a:srgbClr val="FFFFFF"/>
                </a:solidFill>
                <a:latin typeface="Arial" panose="020B0604020202090204"/>
                <a:cs typeface="Arial" panose="020B0604020202090204"/>
              </a:rPr>
              <a:t> </a:t>
            </a:r>
            <a:r>
              <a:rPr sz="800" b="1" dirty="0">
                <a:solidFill>
                  <a:srgbClr val="FFFFFF"/>
                </a:solidFill>
                <a:latin typeface="Arial" panose="020B0604020202090204"/>
                <a:cs typeface="Arial" panose="020B0604020202090204"/>
              </a:rPr>
              <a:t>2</a:t>
            </a:r>
            <a:endParaRPr sz="800">
              <a:latin typeface="Arial" panose="020B0604020202090204"/>
              <a:cs typeface="Arial" panose="020B0604020202090204"/>
            </a:endParaRPr>
          </a:p>
        </p:txBody>
      </p:sp>
      <p:sp>
        <p:nvSpPr>
          <p:cNvPr id="65" name="object 65"/>
          <p:cNvSpPr txBox="1"/>
          <p:nvPr/>
        </p:nvSpPr>
        <p:spPr>
          <a:xfrm>
            <a:off x="9875519" y="4877032"/>
            <a:ext cx="688975" cy="135890"/>
          </a:xfrm>
          <a:prstGeom prst="rect">
            <a:avLst/>
          </a:prstGeom>
          <a:solidFill>
            <a:srgbClr val="FF7779"/>
          </a:solidFill>
        </p:spPr>
        <p:txBody>
          <a:bodyPr vert="horz" wrap="square" lIns="0" tIns="1905" rIns="0" bIns="0" rtlCol="0">
            <a:spAutoFit/>
          </a:bodyPr>
          <a:lstStyle/>
          <a:p>
            <a:pPr marL="90805">
              <a:lnSpc>
                <a:spcPct val="100000"/>
              </a:lnSpc>
              <a:spcBef>
                <a:spcPts val="15"/>
              </a:spcBef>
            </a:pPr>
            <a:r>
              <a:rPr sz="800" b="1" dirty="0">
                <a:solidFill>
                  <a:srgbClr val="FFFFFF"/>
                </a:solidFill>
                <a:latin typeface="微软雅黑"/>
                <a:cs typeface="微软雅黑"/>
              </a:rPr>
              <a:t>（百万</a:t>
            </a:r>
            <a:r>
              <a:rPr sz="800" b="1" spc="-15" dirty="0">
                <a:solidFill>
                  <a:srgbClr val="FFFFFF"/>
                </a:solidFill>
                <a:latin typeface="微软雅黑"/>
                <a:cs typeface="微软雅黑"/>
              </a:rPr>
              <a:t>级</a:t>
            </a:r>
            <a:r>
              <a:rPr sz="800" b="1" dirty="0">
                <a:solidFill>
                  <a:srgbClr val="FFFFFF"/>
                </a:solidFill>
                <a:latin typeface="微软雅黑"/>
                <a:cs typeface="微软雅黑"/>
              </a:rPr>
              <a:t>）</a:t>
            </a:r>
            <a:endParaRPr sz="800">
              <a:latin typeface="微软雅黑"/>
              <a:cs typeface="微软雅黑"/>
            </a:endParaRPr>
          </a:p>
        </p:txBody>
      </p:sp>
      <p:sp>
        <p:nvSpPr>
          <p:cNvPr id="66" name="object 66"/>
          <p:cNvSpPr/>
          <p:nvPr/>
        </p:nvSpPr>
        <p:spPr>
          <a:xfrm>
            <a:off x="1781555" y="2823972"/>
            <a:ext cx="105410" cy="525780"/>
          </a:xfrm>
          <a:custGeom>
            <a:avLst/>
            <a:gdLst/>
            <a:ahLst/>
            <a:cxnLst/>
            <a:rect l="l" t="t" r="r" b="b"/>
            <a:pathLst>
              <a:path w="105410" h="525779">
                <a:moveTo>
                  <a:pt x="52577" y="0"/>
                </a:moveTo>
                <a:lnTo>
                  <a:pt x="0" y="52577"/>
                </a:lnTo>
                <a:lnTo>
                  <a:pt x="26288" y="52577"/>
                </a:lnTo>
                <a:lnTo>
                  <a:pt x="26288" y="525779"/>
                </a:lnTo>
                <a:lnTo>
                  <a:pt x="78867" y="525779"/>
                </a:lnTo>
                <a:lnTo>
                  <a:pt x="78867" y="52577"/>
                </a:lnTo>
                <a:lnTo>
                  <a:pt x="105156" y="52577"/>
                </a:lnTo>
                <a:lnTo>
                  <a:pt x="52577" y="0"/>
                </a:lnTo>
                <a:close/>
              </a:path>
            </a:pathLst>
          </a:custGeom>
          <a:solidFill>
            <a:srgbClr val="898989"/>
          </a:solidFill>
        </p:spPr>
        <p:txBody>
          <a:bodyPr wrap="square" lIns="0" tIns="0" rIns="0" bIns="0" rtlCol="0"/>
          <a:lstStyle/>
          <a:p/>
        </p:txBody>
      </p:sp>
      <p:pic>
        <p:nvPicPr>
          <p:cNvPr id="67" name="object 67"/>
          <p:cNvPicPr/>
          <p:nvPr/>
        </p:nvPicPr>
        <p:blipFill>
          <a:blip r:embed="rId1" cstate="print"/>
          <a:stretch>
            <a:fillRect/>
          </a:stretch>
        </p:blipFill>
        <p:spPr>
          <a:xfrm>
            <a:off x="1792223" y="3971544"/>
            <a:ext cx="85343" cy="237744"/>
          </a:xfrm>
          <a:prstGeom prst="rect">
            <a:avLst/>
          </a:prstGeom>
        </p:spPr>
      </p:pic>
      <p:sp>
        <p:nvSpPr>
          <p:cNvPr id="68" name="object 68"/>
          <p:cNvSpPr/>
          <p:nvPr/>
        </p:nvSpPr>
        <p:spPr>
          <a:xfrm>
            <a:off x="2587751" y="5811011"/>
            <a:ext cx="1972310" cy="472440"/>
          </a:xfrm>
          <a:custGeom>
            <a:avLst/>
            <a:gdLst/>
            <a:ahLst/>
            <a:cxnLst/>
            <a:rect l="l" t="t" r="r" b="b"/>
            <a:pathLst>
              <a:path w="1972310" h="472439">
                <a:moveTo>
                  <a:pt x="1972055" y="0"/>
                </a:moveTo>
                <a:lnTo>
                  <a:pt x="0" y="0"/>
                </a:lnTo>
                <a:lnTo>
                  <a:pt x="0" y="472439"/>
                </a:lnTo>
                <a:lnTo>
                  <a:pt x="1972055" y="472439"/>
                </a:lnTo>
                <a:lnTo>
                  <a:pt x="1972055" y="0"/>
                </a:lnTo>
                <a:close/>
              </a:path>
            </a:pathLst>
          </a:custGeom>
          <a:solidFill>
            <a:srgbClr val="FFBABB"/>
          </a:solidFill>
        </p:spPr>
        <p:txBody>
          <a:bodyPr wrap="square" lIns="0" tIns="0" rIns="0" bIns="0" rtlCol="0"/>
          <a:lstStyle/>
          <a:p/>
        </p:txBody>
      </p:sp>
      <p:sp>
        <p:nvSpPr>
          <p:cNvPr id="69" name="object 69"/>
          <p:cNvSpPr txBox="1"/>
          <p:nvPr/>
        </p:nvSpPr>
        <p:spPr>
          <a:xfrm>
            <a:off x="2625851" y="5811011"/>
            <a:ext cx="1934210" cy="180340"/>
          </a:xfrm>
          <a:prstGeom prst="rect">
            <a:avLst/>
          </a:prstGeom>
        </p:spPr>
        <p:txBody>
          <a:bodyPr vert="horz" wrap="square" lIns="0" tIns="42544" rIns="0" bIns="0" rtlCol="0">
            <a:spAutoFit/>
          </a:bodyPr>
          <a:lstStyle/>
          <a:p>
            <a:pPr marL="545465">
              <a:lnSpc>
                <a:spcPts val="1080"/>
              </a:lnSpc>
              <a:spcBef>
                <a:spcPts val="335"/>
              </a:spcBef>
            </a:pPr>
            <a:r>
              <a:rPr sz="1050" spc="5" dirty="0">
                <a:solidFill>
                  <a:srgbClr val="171717"/>
                </a:solidFill>
                <a:latin typeface="微软雅黑"/>
                <a:cs typeface="微软雅黑"/>
              </a:rPr>
              <a:t>数据集管理器</a:t>
            </a:r>
            <a:endParaRPr sz="1050">
              <a:latin typeface="微软雅黑"/>
              <a:cs typeface="微软雅黑"/>
            </a:endParaRPr>
          </a:p>
        </p:txBody>
      </p:sp>
      <p:sp>
        <p:nvSpPr>
          <p:cNvPr id="70" name="object 70"/>
          <p:cNvSpPr txBox="1"/>
          <p:nvPr/>
        </p:nvSpPr>
        <p:spPr>
          <a:xfrm>
            <a:off x="1263396" y="5931408"/>
            <a:ext cx="989330" cy="231775"/>
          </a:xfrm>
          <a:prstGeom prst="rect">
            <a:avLst/>
          </a:prstGeom>
          <a:solidFill>
            <a:srgbClr val="AA0001"/>
          </a:solidFill>
        </p:spPr>
        <p:txBody>
          <a:bodyPr vert="horz" wrap="square" lIns="0" tIns="31750" rIns="0" bIns="0" rtlCol="0">
            <a:spAutoFit/>
          </a:bodyPr>
          <a:lstStyle/>
          <a:p>
            <a:pPr marL="92075">
              <a:lnSpc>
                <a:spcPct val="100000"/>
              </a:lnSpc>
              <a:spcBef>
                <a:spcPts val="250"/>
              </a:spcBef>
            </a:pPr>
            <a:r>
              <a:rPr sz="1050" spc="5" dirty="0">
                <a:solidFill>
                  <a:srgbClr val="FFFFFF"/>
                </a:solidFill>
                <a:latin typeface="微软雅黑"/>
                <a:cs typeface="微软雅黑"/>
              </a:rPr>
              <a:t>图像标注工具</a:t>
            </a:r>
            <a:endParaRPr sz="1050">
              <a:latin typeface="微软雅黑"/>
              <a:cs typeface="微软雅黑"/>
            </a:endParaRPr>
          </a:p>
        </p:txBody>
      </p:sp>
      <p:sp>
        <p:nvSpPr>
          <p:cNvPr id="71" name="object 71"/>
          <p:cNvSpPr txBox="1"/>
          <p:nvPr/>
        </p:nvSpPr>
        <p:spPr>
          <a:xfrm>
            <a:off x="2625851" y="5990844"/>
            <a:ext cx="788035" cy="230504"/>
          </a:xfrm>
          <a:prstGeom prst="rect">
            <a:avLst/>
          </a:prstGeom>
          <a:solidFill>
            <a:srgbClr val="AA0001"/>
          </a:solidFill>
        </p:spPr>
        <p:txBody>
          <a:bodyPr vert="horz" wrap="square" lIns="0" tIns="31115" rIns="0" bIns="0" rtlCol="0">
            <a:spAutoFit/>
          </a:bodyPr>
          <a:lstStyle/>
          <a:p>
            <a:pPr marL="125095">
              <a:lnSpc>
                <a:spcPct val="100000"/>
              </a:lnSpc>
              <a:spcBef>
                <a:spcPts val="245"/>
              </a:spcBef>
            </a:pPr>
            <a:r>
              <a:rPr sz="1050" spc="5" dirty="0">
                <a:solidFill>
                  <a:srgbClr val="FFFFFF"/>
                </a:solidFill>
                <a:latin typeface="微软雅黑"/>
                <a:cs typeface="微软雅黑"/>
              </a:rPr>
              <a:t>标注任务</a:t>
            </a:r>
            <a:endParaRPr sz="1050">
              <a:latin typeface="微软雅黑"/>
              <a:cs typeface="微软雅黑"/>
            </a:endParaRPr>
          </a:p>
        </p:txBody>
      </p:sp>
      <p:sp>
        <p:nvSpPr>
          <p:cNvPr id="72" name="object 72"/>
          <p:cNvSpPr txBox="1"/>
          <p:nvPr/>
        </p:nvSpPr>
        <p:spPr>
          <a:xfrm>
            <a:off x="3703320" y="5990844"/>
            <a:ext cx="789940" cy="230504"/>
          </a:xfrm>
          <a:prstGeom prst="rect">
            <a:avLst/>
          </a:prstGeom>
          <a:solidFill>
            <a:srgbClr val="AA0001"/>
          </a:solidFill>
        </p:spPr>
        <p:txBody>
          <a:bodyPr vert="horz" wrap="square" lIns="0" tIns="31115" rIns="0" bIns="0" rtlCol="0">
            <a:spAutoFit/>
          </a:bodyPr>
          <a:lstStyle/>
          <a:p>
            <a:pPr marL="125730">
              <a:lnSpc>
                <a:spcPct val="100000"/>
              </a:lnSpc>
              <a:spcBef>
                <a:spcPts val="245"/>
              </a:spcBef>
            </a:pPr>
            <a:r>
              <a:rPr sz="1050" spc="5" dirty="0">
                <a:solidFill>
                  <a:srgbClr val="FFFFFF"/>
                </a:solidFill>
                <a:latin typeface="微软雅黑"/>
                <a:cs typeface="微软雅黑"/>
              </a:rPr>
              <a:t>特征存储</a:t>
            </a:r>
            <a:endParaRPr sz="1050">
              <a:latin typeface="微软雅黑"/>
              <a:cs typeface="微软雅黑"/>
            </a:endParaRPr>
          </a:p>
        </p:txBody>
      </p:sp>
      <p:sp>
        <p:nvSpPr>
          <p:cNvPr id="73" name="object 73"/>
          <p:cNvSpPr txBox="1"/>
          <p:nvPr/>
        </p:nvSpPr>
        <p:spPr>
          <a:xfrm>
            <a:off x="4969764" y="6131052"/>
            <a:ext cx="1268095" cy="184785"/>
          </a:xfrm>
          <a:prstGeom prst="rect">
            <a:avLst/>
          </a:prstGeom>
          <a:solidFill>
            <a:srgbClr val="AA0001"/>
          </a:solidFill>
        </p:spPr>
        <p:txBody>
          <a:bodyPr vert="horz" wrap="square" lIns="0" tIns="7620" rIns="0" bIns="0" rtlCol="0">
            <a:spAutoFit/>
          </a:bodyPr>
          <a:lstStyle/>
          <a:p>
            <a:pPr marL="299720">
              <a:lnSpc>
                <a:spcPct val="100000"/>
              </a:lnSpc>
              <a:spcBef>
                <a:spcPts val="60"/>
              </a:spcBef>
            </a:pPr>
            <a:r>
              <a:rPr sz="1050" spc="5" dirty="0">
                <a:solidFill>
                  <a:srgbClr val="FFFFFF"/>
                </a:solidFill>
                <a:latin typeface="微软雅黑"/>
                <a:cs typeface="微软雅黑"/>
              </a:rPr>
              <a:t>自定义算法</a:t>
            </a:r>
            <a:endParaRPr sz="1050">
              <a:latin typeface="微软雅黑"/>
              <a:cs typeface="微软雅黑"/>
            </a:endParaRPr>
          </a:p>
        </p:txBody>
      </p:sp>
      <p:sp>
        <p:nvSpPr>
          <p:cNvPr id="74" name="object 74"/>
          <p:cNvSpPr txBox="1"/>
          <p:nvPr/>
        </p:nvSpPr>
        <p:spPr>
          <a:xfrm>
            <a:off x="4966715" y="5777484"/>
            <a:ext cx="1268095" cy="177165"/>
          </a:xfrm>
          <a:prstGeom prst="rect">
            <a:avLst/>
          </a:prstGeom>
          <a:solidFill>
            <a:srgbClr val="AA0001"/>
          </a:solidFill>
        </p:spPr>
        <p:txBody>
          <a:bodyPr vert="horz" wrap="square" lIns="0" tIns="3810" rIns="0" bIns="0" rtlCol="0">
            <a:spAutoFit/>
          </a:bodyPr>
          <a:lstStyle/>
          <a:p>
            <a:pPr marL="298450">
              <a:lnSpc>
                <a:spcPct val="100000"/>
              </a:lnSpc>
              <a:spcBef>
                <a:spcPts val="30"/>
              </a:spcBef>
            </a:pPr>
            <a:r>
              <a:rPr sz="1050" spc="5" dirty="0">
                <a:solidFill>
                  <a:srgbClr val="FFFFFF"/>
                </a:solidFill>
                <a:latin typeface="微软雅黑"/>
                <a:cs typeface="微软雅黑"/>
              </a:rPr>
              <a:t>预置工作流</a:t>
            </a:r>
            <a:endParaRPr sz="1050">
              <a:latin typeface="微软雅黑"/>
              <a:cs typeface="微软雅黑"/>
            </a:endParaRPr>
          </a:p>
        </p:txBody>
      </p:sp>
      <p:sp>
        <p:nvSpPr>
          <p:cNvPr id="75" name="object 75"/>
          <p:cNvSpPr/>
          <p:nvPr/>
        </p:nvSpPr>
        <p:spPr>
          <a:xfrm>
            <a:off x="6588252" y="5811011"/>
            <a:ext cx="972819" cy="472440"/>
          </a:xfrm>
          <a:custGeom>
            <a:avLst/>
            <a:gdLst/>
            <a:ahLst/>
            <a:cxnLst/>
            <a:rect l="l" t="t" r="r" b="b"/>
            <a:pathLst>
              <a:path w="972820" h="472439">
                <a:moveTo>
                  <a:pt x="972311" y="0"/>
                </a:moveTo>
                <a:lnTo>
                  <a:pt x="0" y="0"/>
                </a:lnTo>
                <a:lnTo>
                  <a:pt x="0" y="472439"/>
                </a:lnTo>
                <a:lnTo>
                  <a:pt x="972311" y="472439"/>
                </a:lnTo>
                <a:lnTo>
                  <a:pt x="972311" y="0"/>
                </a:lnTo>
                <a:close/>
              </a:path>
            </a:pathLst>
          </a:custGeom>
          <a:solidFill>
            <a:srgbClr val="AA0001"/>
          </a:solidFill>
        </p:spPr>
        <p:txBody>
          <a:bodyPr wrap="square" lIns="0" tIns="0" rIns="0" bIns="0" rtlCol="0"/>
          <a:lstStyle/>
          <a:p/>
        </p:txBody>
      </p:sp>
      <p:sp>
        <p:nvSpPr>
          <p:cNvPr id="76" name="object 76"/>
          <p:cNvSpPr txBox="1"/>
          <p:nvPr/>
        </p:nvSpPr>
        <p:spPr>
          <a:xfrm>
            <a:off x="6866001" y="5950102"/>
            <a:ext cx="42037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Arial" panose="020B0604020202090204"/>
                <a:cs typeface="Arial" panose="020B0604020202090204"/>
              </a:rPr>
              <a:t>A</a:t>
            </a:r>
            <a:r>
              <a:rPr sz="1050" spc="-10" dirty="0">
                <a:solidFill>
                  <a:srgbClr val="FFFFFF"/>
                </a:solidFill>
                <a:latin typeface="Arial" panose="020B0604020202090204"/>
                <a:cs typeface="Arial" panose="020B0604020202090204"/>
              </a:rPr>
              <a:t>I</a:t>
            </a:r>
            <a:r>
              <a:rPr sz="1050" spc="5" dirty="0">
                <a:solidFill>
                  <a:srgbClr val="FFFFFF"/>
                </a:solidFill>
                <a:latin typeface="微软雅黑"/>
                <a:cs typeface="微软雅黑"/>
              </a:rPr>
              <a:t>应用</a:t>
            </a:r>
            <a:endParaRPr sz="1050">
              <a:latin typeface="微软雅黑"/>
              <a:cs typeface="微软雅黑"/>
            </a:endParaRPr>
          </a:p>
        </p:txBody>
      </p:sp>
      <p:sp>
        <p:nvSpPr>
          <p:cNvPr id="77" name="object 77"/>
          <p:cNvSpPr txBox="1"/>
          <p:nvPr/>
        </p:nvSpPr>
        <p:spPr>
          <a:xfrm>
            <a:off x="7808976" y="5931408"/>
            <a:ext cx="972819" cy="231775"/>
          </a:xfrm>
          <a:prstGeom prst="rect">
            <a:avLst/>
          </a:prstGeom>
          <a:solidFill>
            <a:srgbClr val="AA0001"/>
          </a:solidFill>
        </p:spPr>
        <p:txBody>
          <a:bodyPr vert="horz" wrap="square" lIns="0" tIns="31750" rIns="0" bIns="0" rtlCol="0">
            <a:spAutoFit/>
          </a:bodyPr>
          <a:lstStyle/>
          <a:p>
            <a:pPr algn="ctr">
              <a:lnSpc>
                <a:spcPct val="100000"/>
              </a:lnSpc>
              <a:spcBef>
                <a:spcPts val="250"/>
              </a:spcBef>
            </a:pPr>
            <a:r>
              <a:rPr sz="1050" spc="5" dirty="0">
                <a:solidFill>
                  <a:srgbClr val="FFFFFF"/>
                </a:solidFill>
                <a:latin typeface="微软雅黑"/>
                <a:cs typeface="微软雅黑"/>
              </a:rPr>
              <a:t>评估</a:t>
            </a:r>
            <a:endParaRPr sz="1050">
              <a:latin typeface="微软雅黑"/>
              <a:cs typeface="微软雅黑"/>
            </a:endParaRPr>
          </a:p>
        </p:txBody>
      </p:sp>
      <p:sp>
        <p:nvSpPr>
          <p:cNvPr id="78" name="object 78"/>
          <p:cNvSpPr txBox="1"/>
          <p:nvPr/>
        </p:nvSpPr>
        <p:spPr>
          <a:xfrm>
            <a:off x="9028176" y="5811011"/>
            <a:ext cx="1381125" cy="472440"/>
          </a:xfrm>
          <a:prstGeom prst="rect">
            <a:avLst/>
          </a:prstGeom>
          <a:solidFill>
            <a:srgbClr val="FFBABB"/>
          </a:solidFill>
        </p:spPr>
        <p:txBody>
          <a:bodyPr vert="horz" wrap="square" lIns="0" tIns="42544" rIns="0" bIns="0" rtlCol="0">
            <a:spAutoFit/>
          </a:bodyPr>
          <a:lstStyle/>
          <a:p>
            <a:pPr algn="ctr">
              <a:lnSpc>
                <a:spcPct val="100000"/>
              </a:lnSpc>
              <a:spcBef>
                <a:spcPts val="335"/>
              </a:spcBef>
            </a:pPr>
            <a:r>
              <a:rPr sz="1050" spc="5" dirty="0">
                <a:solidFill>
                  <a:srgbClr val="171717"/>
                </a:solidFill>
                <a:latin typeface="微软雅黑"/>
                <a:cs typeface="微软雅黑"/>
              </a:rPr>
              <a:t>推理</a:t>
            </a:r>
            <a:endParaRPr sz="1050">
              <a:latin typeface="微软雅黑"/>
              <a:cs typeface="微软雅黑"/>
            </a:endParaRPr>
          </a:p>
        </p:txBody>
      </p:sp>
      <p:sp>
        <p:nvSpPr>
          <p:cNvPr id="79" name="object 79"/>
          <p:cNvSpPr txBox="1"/>
          <p:nvPr/>
        </p:nvSpPr>
        <p:spPr>
          <a:xfrm>
            <a:off x="9232392" y="5983223"/>
            <a:ext cx="970915" cy="231775"/>
          </a:xfrm>
          <a:prstGeom prst="rect">
            <a:avLst/>
          </a:prstGeom>
          <a:solidFill>
            <a:srgbClr val="AA0001"/>
          </a:solidFill>
        </p:spPr>
        <p:txBody>
          <a:bodyPr vert="horz" wrap="square" lIns="0" tIns="31750" rIns="0" bIns="0" rtlCol="0">
            <a:spAutoFit/>
          </a:bodyPr>
          <a:lstStyle/>
          <a:p>
            <a:pPr marL="217170">
              <a:lnSpc>
                <a:spcPct val="100000"/>
              </a:lnSpc>
              <a:spcBef>
                <a:spcPts val="250"/>
              </a:spcBef>
            </a:pPr>
            <a:r>
              <a:rPr sz="1050" spc="5" dirty="0">
                <a:solidFill>
                  <a:srgbClr val="FFFFFF"/>
                </a:solidFill>
                <a:latin typeface="微软雅黑"/>
                <a:cs typeface="微软雅黑"/>
              </a:rPr>
              <a:t>数据采集</a:t>
            </a:r>
            <a:endParaRPr sz="1050">
              <a:latin typeface="微软雅黑"/>
              <a:cs typeface="微软雅黑"/>
            </a:endParaRPr>
          </a:p>
        </p:txBody>
      </p:sp>
      <p:sp>
        <p:nvSpPr>
          <p:cNvPr id="80" name="object 80"/>
          <p:cNvSpPr/>
          <p:nvPr/>
        </p:nvSpPr>
        <p:spPr>
          <a:xfrm>
            <a:off x="2253233" y="6009894"/>
            <a:ext cx="334645" cy="76200"/>
          </a:xfrm>
          <a:custGeom>
            <a:avLst/>
            <a:gdLst/>
            <a:ahLst/>
            <a:cxnLst/>
            <a:rect l="l" t="t" r="r" b="b"/>
            <a:pathLst>
              <a:path w="334644" h="76200">
                <a:moveTo>
                  <a:pt x="76200" y="0"/>
                </a:moveTo>
                <a:lnTo>
                  <a:pt x="0" y="38099"/>
                </a:lnTo>
                <a:lnTo>
                  <a:pt x="76200" y="76199"/>
                </a:lnTo>
                <a:lnTo>
                  <a:pt x="76200" y="48005"/>
                </a:lnTo>
                <a:lnTo>
                  <a:pt x="63500" y="48005"/>
                </a:lnTo>
                <a:lnTo>
                  <a:pt x="63500" y="28193"/>
                </a:lnTo>
                <a:lnTo>
                  <a:pt x="76200" y="28193"/>
                </a:lnTo>
                <a:lnTo>
                  <a:pt x="76200" y="0"/>
                </a:lnTo>
                <a:close/>
              </a:path>
              <a:path w="334644" h="76200">
                <a:moveTo>
                  <a:pt x="258191" y="0"/>
                </a:moveTo>
                <a:lnTo>
                  <a:pt x="258191" y="76199"/>
                </a:lnTo>
                <a:lnTo>
                  <a:pt x="314579" y="48005"/>
                </a:lnTo>
                <a:lnTo>
                  <a:pt x="270891" y="48005"/>
                </a:lnTo>
                <a:lnTo>
                  <a:pt x="270891" y="28193"/>
                </a:lnTo>
                <a:lnTo>
                  <a:pt x="314579" y="28193"/>
                </a:lnTo>
                <a:lnTo>
                  <a:pt x="258191" y="0"/>
                </a:lnTo>
                <a:close/>
              </a:path>
              <a:path w="334644" h="76200">
                <a:moveTo>
                  <a:pt x="76200" y="28193"/>
                </a:moveTo>
                <a:lnTo>
                  <a:pt x="63500" y="28193"/>
                </a:lnTo>
                <a:lnTo>
                  <a:pt x="63500" y="48005"/>
                </a:lnTo>
                <a:lnTo>
                  <a:pt x="76200" y="48005"/>
                </a:lnTo>
                <a:lnTo>
                  <a:pt x="76200" y="28193"/>
                </a:lnTo>
                <a:close/>
              </a:path>
              <a:path w="334644" h="76200">
                <a:moveTo>
                  <a:pt x="167132" y="28193"/>
                </a:moveTo>
                <a:lnTo>
                  <a:pt x="76200" y="28193"/>
                </a:lnTo>
                <a:lnTo>
                  <a:pt x="76200" y="48005"/>
                </a:lnTo>
                <a:lnTo>
                  <a:pt x="157226" y="48005"/>
                </a:lnTo>
                <a:lnTo>
                  <a:pt x="157226" y="38099"/>
                </a:lnTo>
                <a:lnTo>
                  <a:pt x="177038" y="38099"/>
                </a:lnTo>
                <a:lnTo>
                  <a:pt x="167132" y="28193"/>
                </a:lnTo>
                <a:close/>
              </a:path>
              <a:path w="334644" h="76200">
                <a:moveTo>
                  <a:pt x="157226" y="38099"/>
                </a:moveTo>
                <a:lnTo>
                  <a:pt x="157226" y="48005"/>
                </a:lnTo>
                <a:lnTo>
                  <a:pt x="167132" y="48005"/>
                </a:lnTo>
                <a:lnTo>
                  <a:pt x="157226" y="38099"/>
                </a:lnTo>
                <a:close/>
              </a:path>
              <a:path w="334644" h="76200">
                <a:moveTo>
                  <a:pt x="258191" y="28193"/>
                </a:moveTo>
                <a:lnTo>
                  <a:pt x="177038" y="28193"/>
                </a:lnTo>
                <a:lnTo>
                  <a:pt x="177038" y="38099"/>
                </a:lnTo>
                <a:lnTo>
                  <a:pt x="157226" y="38099"/>
                </a:lnTo>
                <a:lnTo>
                  <a:pt x="167132" y="48005"/>
                </a:lnTo>
                <a:lnTo>
                  <a:pt x="258191" y="48005"/>
                </a:lnTo>
                <a:lnTo>
                  <a:pt x="258191" y="28193"/>
                </a:lnTo>
                <a:close/>
              </a:path>
              <a:path w="334644" h="76200">
                <a:moveTo>
                  <a:pt x="314579" y="28193"/>
                </a:moveTo>
                <a:lnTo>
                  <a:pt x="270891" y="28193"/>
                </a:lnTo>
                <a:lnTo>
                  <a:pt x="270891" y="48005"/>
                </a:lnTo>
                <a:lnTo>
                  <a:pt x="314579" y="48005"/>
                </a:lnTo>
                <a:lnTo>
                  <a:pt x="334391" y="38099"/>
                </a:lnTo>
                <a:lnTo>
                  <a:pt x="314579" y="28193"/>
                </a:lnTo>
                <a:close/>
              </a:path>
              <a:path w="334644" h="76200">
                <a:moveTo>
                  <a:pt x="177038" y="28193"/>
                </a:moveTo>
                <a:lnTo>
                  <a:pt x="167132" y="28193"/>
                </a:lnTo>
                <a:lnTo>
                  <a:pt x="177038" y="38099"/>
                </a:lnTo>
                <a:lnTo>
                  <a:pt x="177038" y="28193"/>
                </a:lnTo>
                <a:close/>
              </a:path>
            </a:pathLst>
          </a:custGeom>
          <a:solidFill>
            <a:srgbClr val="171717"/>
          </a:solidFill>
        </p:spPr>
        <p:txBody>
          <a:bodyPr wrap="square" lIns="0" tIns="0" rIns="0" bIns="0" rtlCol="0"/>
          <a:lstStyle/>
          <a:p/>
        </p:txBody>
      </p:sp>
      <p:sp>
        <p:nvSpPr>
          <p:cNvPr id="81" name="object 81"/>
          <p:cNvSpPr txBox="1"/>
          <p:nvPr/>
        </p:nvSpPr>
        <p:spPr>
          <a:xfrm>
            <a:off x="2825495" y="6379464"/>
            <a:ext cx="1498600" cy="131445"/>
          </a:xfrm>
          <a:prstGeom prst="rect">
            <a:avLst/>
          </a:prstGeom>
          <a:solidFill>
            <a:srgbClr val="AA0001"/>
          </a:solidFill>
        </p:spPr>
        <p:txBody>
          <a:bodyPr vert="horz" wrap="square" lIns="0" tIns="0" rIns="0" bIns="0" rtlCol="0">
            <a:spAutoFit/>
          </a:bodyPr>
          <a:lstStyle/>
          <a:p>
            <a:pPr marL="213360">
              <a:lnSpc>
                <a:spcPts val="1030"/>
              </a:lnSpc>
            </a:pPr>
            <a:r>
              <a:rPr sz="1050" spc="5" dirty="0">
                <a:solidFill>
                  <a:srgbClr val="FFFFFF"/>
                </a:solidFill>
                <a:latin typeface="微软雅黑"/>
                <a:cs typeface="微软雅黑"/>
              </a:rPr>
              <a:t>其他数据来源</a:t>
            </a:r>
            <a:r>
              <a:rPr sz="1050" spc="-10" dirty="0">
                <a:solidFill>
                  <a:srgbClr val="FFFFFF"/>
                </a:solidFill>
                <a:latin typeface="微软雅黑"/>
                <a:cs typeface="微软雅黑"/>
              </a:rPr>
              <a:t>渠</a:t>
            </a:r>
            <a:r>
              <a:rPr sz="1050" spc="5" dirty="0">
                <a:solidFill>
                  <a:srgbClr val="FFFFFF"/>
                </a:solidFill>
                <a:latin typeface="微软雅黑"/>
                <a:cs typeface="微软雅黑"/>
              </a:rPr>
              <a:t>道</a:t>
            </a:r>
            <a:endParaRPr sz="1050">
              <a:latin typeface="微软雅黑"/>
              <a:cs typeface="微软雅黑"/>
            </a:endParaRPr>
          </a:p>
        </p:txBody>
      </p:sp>
      <p:grpSp>
        <p:nvGrpSpPr>
          <p:cNvPr id="82" name="object 82"/>
          <p:cNvGrpSpPr/>
          <p:nvPr/>
        </p:nvGrpSpPr>
        <p:grpSpPr>
          <a:xfrm>
            <a:off x="3536950" y="5828538"/>
            <a:ext cx="3053080" cy="552450"/>
            <a:chOff x="3536950" y="5828538"/>
            <a:chExt cx="3053080" cy="552450"/>
          </a:xfrm>
        </p:grpSpPr>
        <p:pic>
          <p:nvPicPr>
            <p:cNvPr id="83" name="object 83"/>
            <p:cNvPicPr/>
            <p:nvPr/>
          </p:nvPicPr>
          <p:blipFill>
            <a:blip r:embed="rId2" cstate="print"/>
            <a:stretch>
              <a:fillRect/>
            </a:stretch>
          </p:blipFill>
          <p:spPr>
            <a:xfrm>
              <a:off x="3536950" y="6284214"/>
              <a:ext cx="76200" cy="96316"/>
            </a:xfrm>
            <a:prstGeom prst="rect">
              <a:avLst/>
            </a:prstGeom>
          </p:spPr>
        </p:pic>
        <p:sp>
          <p:nvSpPr>
            <p:cNvPr id="84" name="object 84"/>
            <p:cNvSpPr/>
            <p:nvPr/>
          </p:nvSpPr>
          <p:spPr>
            <a:xfrm>
              <a:off x="4493514" y="5828537"/>
              <a:ext cx="2096135" cy="433705"/>
            </a:xfrm>
            <a:custGeom>
              <a:avLst/>
              <a:gdLst/>
              <a:ahLst/>
              <a:cxnLst/>
              <a:rect l="l" t="t" r="r" b="b"/>
              <a:pathLst>
                <a:path w="2096134" h="433704">
                  <a:moveTo>
                    <a:pt x="479298" y="385914"/>
                  </a:moveTo>
                  <a:lnTo>
                    <a:pt x="460883" y="385914"/>
                  </a:lnTo>
                  <a:lnTo>
                    <a:pt x="459232" y="385089"/>
                  </a:lnTo>
                  <a:lnTo>
                    <a:pt x="402844" y="356895"/>
                  </a:lnTo>
                  <a:lnTo>
                    <a:pt x="402844" y="385089"/>
                  </a:lnTo>
                  <a:lnTo>
                    <a:pt x="282956" y="385089"/>
                  </a:lnTo>
                  <a:lnTo>
                    <a:pt x="282956" y="229362"/>
                  </a:lnTo>
                  <a:lnTo>
                    <a:pt x="282956" y="219456"/>
                  </a:lnTo>
                  <a:lnTo>
                    <a:pt x="282956" y="209550"/>
                  </a:lnTo>
                  <a:lnTo>
                    <a:pt x="280416" y="209550"/>
                  </a:lnTo>
                  <a:lnTo>
                    <a:pt x="280416" y="48006"/>
                  </a:lnTo>
                  <a:lnTo>
                    <a:pt x="397891" y="48006"/>
                  </a:lnTo>
                  <a:lnTo>
                    <a:pt x="397891" y="76200"/>
                  </a:lnTo>
                  <a:lnTo>
                    <a:pt x="454279" y="48006"/>
                  </a:lnTo>
                  <a:lnTo>
                    <a:pt x="474345" y="48006"/>
                  </a:lnTo>
                  <a:lnTo>
                    <a:pt x="474345" y="38100"/>
                  </a:lnTo>
                  <a:lnTo>
                    <a:pt x="474345" y="28194"/>
                  </a:lnTo>
                  <a:lnTo>
                    <a:pt x="454279" y="28194"/>
                  </a:lnTo>
                  <a:lnTo>
                    <a:pt x="397891" y="0"/>
                  </a:lnTo>
                  <a:lnTo>
                    <a:pt x="397891" y="28194"/>
                  </a:lnTo>
                  <a:lnTo>
                    <a:pt x="263144" y="28194"/>
                  </a:lnTo>
                  <a:lnTo>
                    <a:pt x="263144" y="230073"/>
                  </a:lnTo>
                  <a:lnTo>
                    <a:pt x="263144" y="385914"/>
                  </a:lnTo>
                  <a:lnTo>
                    <a:pt x="175514" y="385914"/>
                  </a:lnTo>
                  <a:lnTo>
                    <a:pt x="175514" y="288798"/>
                  </a:lnTo>
                  <a:lnTo>
                    <a:pt x="182880" y="288683"/>
                  </a:lnTo>
                  <a:lnTo>
                    <a:pt x="182880" y="278777"/>
                  </a:lnTo>
                  <a:lnTo>
                    <a:pt x="182880" y="268871"/>
                  </a:lnTo>
                  <a:lnTo>
                    <a:pt x="182880" y="230073"/>
                  </a:lnTo>
                  <a:lnTo>
                    <a:pt x="263144" y="230073"/>
                  </a:lnTo>
                  <a:lnTo>
                    <a:pt x="263144" y="28194"/>
                  </a:lnTo>
                  <a:lnTo>
                    <a:pt x="260604" y="28194"/>
                  </a:lnTo>
                  <a:lnTo>
                    <a:pt x="260604" y="48006"/>
                  </a:lnTo>
                  <a:lnTo>
                    <a:pt x="260604" y="209550"/>
                  </a:lnTo>
                  <a:lnTo>
                    <a:pt x="182880" y="209550"/>
                  </a:lnTo>
                  <a:lnTo>
                    <a:pt x="182880" y="48006"/>
                  </a:lnTo>
                  <a:lnTo>
                    <a:pt x="260604" y="48006"/>
                  </a:lnTo>
                  <a:lnTo>
                    <a:pt x="260604" y="28194"/>
                  </a:lnTo>
                  <a:lnTo>
                    <a:pt x="163068" y="28194"/>
                  </a:lnTo>
                  <a:lnTo>
                    <a:pt x="163068" y="209550"/>
                  </a:lnTo>
                  <a:lnTo>
                    <a:pt x="67056" y="209550"/>
                  </a:lnTo>
                  <a:lnTo>
                    <a:pt x="67056" y="210261"/>
                  </a:lnTo>
                  <a:lnTo>
                    <a:pt x="67056" y="229362"/>
                  </a:lnTo>
                  <a:lnTo>
                    <a:pt x="67056" y="230073"/>
                  </a:lnTo>
                  <a:lnTo>
                    <a:pt x="163068" y="230073"/>
                  </a:lnTo>
                  <a:lnTo>
                    <a:pt x="163068" y="268871"/>
                  </a:lnTo>
                  <a:lnTo>
                    <a:pt x="76200" y="268871"/>
                  </a:lnTo>
                  <a:lnTo>
                    <a:pt x="76200" y="240792"/>
                  </a:lnTo>
                  <a:lnTo>
                    <a:pt x="0" y="278777"/>
                  </a:lnTo>
                  <a:lnTo>
                    <a:pt x="76200" y="316992"/>
                  </a:lnTo>
                  <a:lnTo>
                    <a:pt x="76200" y="288798"/>
                  </a:lnTo>
                  <a:lnTo>
                    <a:pt x="155702" y="288798"/>
                  </a:lnTo>
                  <a:lnTo>
                    <a:pt x="155702" y="405726"/>
                  </a:lnTo>
                  <a:lnTo>
                    <a:pt x="402844" y="405726"/>
                  </a:lnTo>
                  <a:lnTo>
                    <a:pt x="402844" y="433095"/>
                  </a:lnTo>
                  <a:lnTo>
                    <a:pt x="457581" y="405726"/>
                  </a:lnTo>
                  <a:lnTo>
                    <a:pt x="479298" y="405726"/>
                  </a:lnTo>
                  <a:lnTo>
                    <a:pt x="479298" y="395820"/>
                  </a:lnTo>
                  <a:lnTo>
                    <a:pt x="479298" y="385914"/>
                  </a:lnTo>
                  <a:close/>
                </a:path>
                <a:path w="2096134" h="433704">
                  <a:moveTo>
                    <a:pt x="2096008" y="220154"/>
                  </a:moveTo>
                  <a:lnTo>
                    <a:pt x="2095169" y="219748"/>
                  </a:lnTo>
                  <a:lnTo>
                    <a:pt x="2095754" y="219456"/>
                  </a:lnTo>
                  <a:lnTo>
                    <a:pt x="2075942" y="209550"/>
                  </a:lnTo>
                  <a:lnTo>
                    <a:pt x="2019554" y="181356"/>
                  </a:lnTo>
                  <a:lnTo>
                    <a:pt x="2019554" y="209550"/>
                  </a:lnTo>
                  <a:lnTo>
                    <a:pt x="1928876" y="209550"/>
                  </a:lnTo>
                  <a:lnTo>
                    <a:pt x="1928876" y="48006"/>
                  </a:lnTo>
                  <a:lnTo>
                    <a:pt x="1928876" y="38100"/>
                  </a:lnTo>
                  <a:lnTo>
                    <a:pt x="1928876" y="28194"/>
                  </a:lnTo>
                  <a:lnTo>
                    <a:pt x="1741932" y="28194"/>
                  </a:lnTo>
                  <a:lnTo>
                    <a:pt x="1741932" y="48006"/>
                  </a:lnTo>
                  <a:lnTo>
                    <a:pt x="1909064" y="48006"/>
                  </a:lnTo>
                  <a:lnTo>
                    <a:pt x="1909064" y="230060"/>
                  </a:lnTo>
                  <a:lnTo>
                    <a:pt x="1911223" y="230060"/>
                  </a:lnTo>
                  <a:lnTo>
                    <a:pt x="1911223" y="385089"/>
                  </a:lnTo>
                  <a:lnTo>
                    <a:pt x="1746504" y="385089"/>
                  </a:lnTo>
                  <a:lnTo>
                    <a:pt x="1746504" y="404901"/>
                  </a:lnTo>
                  <a:lnTo>
                    <a:pt x="1931035" y="404901"/>
                  </a:lnTo>
                  <a:lnTo>
                    <a:pt x="1931035" y="394995"/>
                  </a:lnTo>
                  <a:lnTo>
                    <a:pt x="1931035" y="385089"/>
                  </a:lnTo>
                  <a:lnTo>
                    <a:pt x="1931035" y="230060"/>
                  </a:lnTo>
                  <a:lnTo>
                    <a:pt x="2019554" y="230060"/>
                  </a:lnTo>
                  <a:lnTo>
                    <a:pt x="2019554" y="257556"/>
                  </a:lnTo>
                  <a:lnTo>
                    <a:pt x="2019808" y="257429"/>
                  </a:lnTo>
                  <a:lnTo>
                    <a:pt x="2019808" y="258254"/>
                  </a:lnTo>
                  <a:lnTo>
                    <a:pt x="2076196" y="230060"/>
                  </a:lnTo>
                  <a:lnTo>
                    <a:pt x="2096008" y="220154"/>
                  </a:lnTo>
                  <a:close/>
                </a:path>
              </a:pathLst>
            </a:custGeom>
            <a:solidFill>
              <a:srgbClr val="171717"/>
            </a:solidFill>
          </p:spPr>
          <p:txBody>
            <a:bodyPr wrap="square" lIns="0" tIns="0" rIns="0" bIns="0" rtlCol="0"/>
            <a:lstStyle/>
            <a:p/>
          </p:txBody>
        </p:sp>
        <p:pic>
          <p:nvPicPr>
            <p:cNvPr id="85" name="object 85"/>
            <p:cNvPicPr/>
            <p:nvPr/>
          </p:nvPicPr>
          <p:blipFill>
            <a:blip r:embed="rId3" cstate="print"/>
            <a:stretch>
              <a:fillRect/>
            </a:stretch>
          </p:blipFill>
          <p:spPr>
            <a:xfrm>
              <a:off x="5563361" y="5955030"/>
              <a:ext cx="81152" cy="176974"/>
            </a:xfrm>
            <a:prstGeom prst="rect">
              <a:avLst/>
            </a:prstGeom>
          </p:spPr>
        </p:pic>
      </p:grpSp>
      <p:sp>
        <p:nvSpPr>
          <p:cNvPr id="86" name="object 86"/>
          <p:cNvSpPr txBox="1"/>
          <p:nvPr/>
        </p:nvSpPr>
        <p:spPr>
          <a:xfrm>
            <a:off x="4969764" y="6353555"/>
            <a:ext cx="1268095" cy="184785"/>
          </a:xfrm>
          <a:prstGeom prst="rect">
            <a:avLst/>
          </a:prstGeom>
          <a:solidFill>
            <a:srgbClr val="AA0001"/>
          </a:solidFill>
        </p:spPr>
        <p:txBody>
          <a:bodyPr vert="horz" wrap="square" lIns="0" tIns="7620" rIns="0" bIns="0" rtlCol="0">
            <a:spAutoFit/>
          </a:bodyPr>
          <a:lstStyle/>
          <a:p>
            <a:pPr marL="365760">
              <a:lnSpc>
                <a:spcPct val="100000"/>
              </a:lnSpc>
              <a:spcBef>
                <a:spcPts val="60"/>
              </a:spcBef>
            </a:pPr>
            <a:r>
              <a:rPr sz="1050" spc="5" dirty="0">
                <a:solidFill>
                  <a:srgbClr val="FFFFFF"/>
                </a:solidFill>
                <a:latin typeface="微软雅黑"/>
                <a:cs typeface="微软雅黑"/>
              </a:rPr>
              <a:t>本地训练</a:t>
            </a:r>
            <a:endParaRPr sz="1050">
              <a:latin typeface="微软雅黑"/>
              <a:cs typeface="微软雅黑"/>
            </a:endParaRPr>
          </a:p>
        </p:txBody>
      </p:sp>
      <p:grpSp>
        <p:nvGrpSpPr>
          <p:cNvPr id="87" name="object 87"/>
          <p:cNvGrpSpPr/>
          <p:nvPr/>
        </p:nvGrpSpPr>
        <p:grpSpPr>
          <a:xfrm>
            <a:off x="3564635" y="5663272"/>
            <a:ext cx="6192520" cy="859790"/>
            <a:chOff x="3564635" y="5663272"/>
            <a:chExt cx="6192520" cy="859790"/>
          </a:xfrm>
        </p:grpSpPr>
        <p:sp>
          <p:nvSpPr>
            <p:cNvPr id="88" name="object 88"/>
            <p:cNvSpPr/>
            <p:nvPr/>
          </p:nvSpPr>
          <p:spPr>
            <a:xfrm>
              <a:off x="3564636" y="5663272"/>
              <a:ext cx="4769485" cy="792480"/>
            </a:xfrm>
            <a:custGeom>
              <a:avLst/>
              <a:gdLst/>
              <a:ahLst/>
              <a:cxnLst/>
              <a:rect l="l" t="t" r="r" b="b"/>
              <a:pathLst>
                <a:path w="4769484" h="792479">
                  <a:moveTo>
                    <a:pt x="3024632" y="384721"/>
                  </a:moveTo>
                  <a:lnTo>
                    <a:pt x="3004820" y="374815"/>
                  </a:lnTo>
                  <a:lnTo>
                    <a:pt x="2948432" y="346621"/>
                  </a:lnTo>
                  <a:lnTo>
                    <a:pt x="2948432" y="374815"/>
                  </a:lnTo>
                  <a:lnTo>
                    <a:pt x="2839339" y="374815"/>
                  </a:lnTo>
                  <a:lnTo>
                    <a:pt x="2839339" y="772464"/>
                  </a:lnTo>
                  <a:lnTo>
                    <a:pt x="2673858" y="772464"/>
                  </a:lnTo>
                  <a:lnTo>
                    <a:pt x="2673858" y="792276"/>
                  </a:lnTo>
                  <a:lnTo>
                    <a:pt x="2859151" y="792276"/>
                  </a:lnTo>
                  <a:lnTo>
                    <a:pt x="2859151" y="782370"/>
                  </a:lnTo>
                  <a:lnTo>
                    <a:pt x="2859151" y="772464"/>
                  </a:lnTo>
                  <a:lnTo>
                    <a:pt x="2859151" y="394627"/>
                  </a:lnTo>
                  <a:lnTo>
                    <a:pt x="2948432" y="394627"/>
                  </a:lnTo>
                  <a:lnTo>
                    <a:pt x="2948432" y="422821"/>
                  </a:lnTo>
                  <a:lnTo>
                    <a:pt x="3004820" y="394627"/>
                  </a:lnTo>
                  <a:lnTo>
                    <a:pt x="3024632" y="384721"/>
                  </a:lnTo>
                  <a:close/>
                </a:path>
                <a:path w="4769484" h="792479">
                  <a:moveTo>
                    <a:pt x="4769358" y="192709"/>
                  </a:moveTo>
                  <a:lnTo>
                    <a:pt x="4741164" y="192709"/>
                  </a:lnTo>
                  <a:lnTo>
                    <a:pt x="4741164" y="19812"/>
                  </a:lnTo>
                  <a:lnTo>
                    <a:pt x="4741164" y="9906"/>
                  </a:lnTo>
                  <a:lnTo>
                    <a:pt x="4741164" y="0"/>
                  </a:lnTo>
                  <a:lnTo>
                    <a:pt x="0" y="0"/>
                  </a:lnTo>
                  <a:lnTo>
                    <a:pt x="0" y="148501"/>
                  </a:lnTo>
                  <a:lnTo>
                    <a:pt x="19812" y="148501"/>
                  </a:lnTo>
                  <a:lnTo>
                    <a:pt x="19812" y="19812"/>
                  </a:lnTo>
                  <a:lnTo>
                    <a:pt x="4721352" y="19812"/>
                  </a:lnTo>
                  <a:lnTo>
                    <a:pt x="4721352" y="192709"/>
                  </a:lnTo>
                  <a:lnTo>
                    <a:pt x="4693158" y="192709"/>
                  </a:lnTo>
                  <a:lnTo>
                    <a:pt x="4731258" y="268909"/>
                  </a:lnTo>
                  <a:lnTo>
                    <a:pt x="4763008" y="205409"/>
                  </a:lnTo>
                  <a:lnTo>
                    <a:pt x="4769358" y="192709"/>
                  </a:lnTo>
                  <a:close/>
                </a:path>
              </a:pathLst>
            </a:custGeom>
            <a:solidFill>
              <a:srgbClr val="171717"/>
            </a:solidFill>
          </p:spPr>
          <p:txBody>
            <a:bodyPr wrap="square" lIns="0" tIns="0" rIns="0" bIns="0" rtlCol="0"/>
            <a:lstStyle/>
            <a:p/>
          </p:txBody>
        </p:sp>
        <p:pic>
          <p:nvPicPr>
            <p:cNvPr id="89" name="object 89"/>
            <p:cNvPicPr/>
            <p:nvPr/>
          </p:nvPicPr>
          <p:blipFill>
            <a:blip r:embed="rId4" cstate="print"/>
            <a:stretch>
              <a:fillRect/>
            </a:stretch>
          </p:blipFill>
          <p:spPr>
            <a:xfrm>
              <a:off x="7561326" y="6009894"/>
              <a:ext cx="247903" cy="76200"/>
            </a:xfrm>
            <a:prstGeom prst="rect">
              <a:avLst/>
            </a:prstGeom>
          </p:spPr>
        </p:pic>
        <p:sp>
          <p:nvSpPr>
            <p:cNvPr id="90" name="object 90"/>
            <p:cNvSpPr/>
            <p:nvPr/>
          </p:nvSpPr>
          <p:spPr>
            <a:xfrm>
              <a:off x="7065264" y="6284214"/>
              <a:ext cx="2691765" cy="238760"/>
            </a:xfrm>
            <a:custGeom>
              <a:avLst/>
              <a:gdLst/>
              <a:ahLst/>
              <a:cxnLst/>
              <a:rect l="l" t="t" r="r" b="b"/>
              <a:pathLst>
                <a:path w="2691765" h="238759">
                  <a:moveTo>
                    <a:pt x="19811" y="0"/>
                  </a:moveTo>
                  <a:lnTo>
                    <a:pt x="0" y="0"/>
                  </a:lnTo>
                  <a:lnTo>
                    <a:pt x="0" y="238506"/>
                  </a:lnTo>
                  <a:lnTo>
                    <a:pt x="2663316" y="238506"/>
                  </a:lnTo>
                  <a:lnTo>
                    <a:pt x="2663316" y="228600"/>
                  </a:lnTo>
                  <a:lnTo>
                    <a:pt x="19811" y="228600"/>
                  </a:lnTo>
                  <a:lnTo>
                    <a:pt x="9905" y="218694"/>
                  </a:lnTo>
                  <a:lnTo>
                    <a:pt x="19811" y="218694"/>
                  </a:lnTo>
                  <a:lnTo>
                    <a:pt x="19811" y="0"/>
                  </a:lnTo>
                  <a:close/>
                </a:path>
                <a:path w="2691765" h="238759">
                  <a:moveTo>
                    <a:pt x="19811" y="218694"/>
                  </a:moveTo>
                  <a:lnTo>
                    <a:pt x="9905" y="218694"/>
                  </a:lnTo>
                  <a:lnTo>
                    <a:pt x="19811" y="228600"/>
                  </a:lnTo>
                  <a:lnTo>
                    <a:pt x="19811" y="218694"/>
                  </a:lnTo>
                  <a:close/>
                </a:path>
                <a:path w="2691765" h="238759">
                  <a:moveTo>
                    <a:pt x="2643504" y="218694"/>
                  </a:moveTo>
                  <a:lnTo>
                    <a:pt x="19811" y="218694"/>
                  </a:lnTo>
                  <a:lnTo>
                    <a:pt x="19811" y="228600"/>
                  </a:lnTo>
                  <a:lnTo>
                    <a:pt x="2643504" y="228600"/>
                  </a:lnTo>
                  <a:lnTo>
                    <a:pt x="2643504" y="218694"/>
                  </a:lnTo>
                  <a:close/>
                </a:path>
                <a:path w="2691765" h="238759">
                  <a:moveTo>
                    <a:pt x="2663316" y="63500"/>
                  </a:moveTo>
                  <a:lnTo>
                    <a:pt x="2643504" y="63500"/>
                  </a:lnTo>
                  <a:lnTo>
                    <a:pt x="2643504" y="228600"/>
                  </a:lnTo>
                  <a:lnTo>
                    <a:pt x="2653410" y="218694"/>
                  </a:lnTo>
                  <a:lnTo>
                    <a:pt x="2663316" y="218694"/>
                  </a:lnTo>
                  <a:lnTo>
                    <a:pt x="2663316" y="63500"/>
                  </a:lnTo>
                  <a:close/>
                </a:path>
                <a:path w="2691765" h="238759">
                  <a:moveTo>
                    <a:pt x="2663316" y="218694"/>
                  </a:moveTo>
                  <a:lnTo>
                    <a:pt x="2653410" y="218694"/>
                  </a:lnTo>
                  <a:lnTo>
                    <a:pt x="2643504" y="228600"/>
                  </a:lnTo>
                  <a:lnTo>
                    <a:pt x="2663316" y="228600"/>
                  </a:lnTo>
                  <a:lnTo>
                    <a:pt x="2663316" y="218694"/>
                  </a:lnTo>
                  <a:close/>
                </a:path>
                <a:path w="2691765" h="238759">
                  <a:moveTo>
                    <a:pt x="2653410" y="0"/>
                  </a:moveTo>
                  <a:lnTo>
                    <a:pt x="2615310" y="76200"/>
                  </a:lnTo>
                  <a:lnTo>
                    <a:pt x="2643504" y="76200"/>
                  </a:lnTo>
                  <a:lnTo>
                    <a:pt x="2643504" y="63500"/>
                  </a:lnTo>
                  <a:lnTo>
                    <a:pt x="2685160" y="63500"/>
                  </a:lnTo>
                  <a:lnTo>
                    <a:pt x="2653410" y="0"/>
                  </a:lnTo>
                  <a:close/>
                </a:path>
                <a:path w="2691765" h="238759">
                  <a:moveTo>
                    <a:pt x="2685160" y="63500"/>
                  </a:moveTo>
                  <a:lnTo>
                    <a:pt x="2663316" y="63500"/>
                  </a:lnTo>
                  <a:lnTo>
                    <a:pt x="2663316" y="76200"/>
                  </a:lnTo>
                  <a:lnTo>
                    <a:pt x="2691510" y="76200"/>
                  </a:lnTo>
                  <a:lnTo>
                    <a:pt x="2685160" y="63500"/>
                  </a:lnTo>
                  <a:close/>
                </a:path>
              </a:pathLst>
            </a:custGeom>
            <a:solidFill>
              <a:srgbClr val="171717"/>
            </a:solidFill>
          </p:spPr>
          <p:txBody>
            <a:bodyPr wrap="square" lIns="0" tIns="0" rIns="0" bIns="0" rtlCol="0"/>
            <a:lstStyle/>
            <a:p/>
          </p:txBody>
        </p:sp>
        <p:pic>
          <p:nvPicPr>
            <p:cNvPr id="91" name="object 91"/>
            <p:cNvPicPr/>
            <p:nvPr/>
          </p:nvPicPr>
          <p:blipFill>
            <a:blip r:embed="rId4" cstate="print"/>
            <a:stretch>
              <a:fillRect/>
            </a:stretch>
          </p:blipFill>
          <p:spPr>
            <a:xfrm>
              <a:off x="8782050" y="6009894"/>
              <a:ext cx="247903" cy="76200"/>
            </a:xfrm>
            <a:prstGeom prst="rect">
              <a:avLst/>
            </a:prstGeom>
          </p:spPr>
        </p:pic>
      </p:grpSp>
      <p:sp>
        <p:nvSpPr>
          <p:cNvPr id="92" name="object 92"/>
          <p:cNvSpPr/>
          <p:nvPr/>
        </p:nvSpPr>
        <p:spPr>
          <a:xfrm>
            <a:off x="5164835" y="5292852"/>
            <a:ext cx="684530" cy="302260"/>
          </a:xfrm>
          <a:custGeom>
            <a:avLst/>
            <a:gdLst/>
            <a:ahLst/>
            <a:cxnLst/>
            <a:rect l="l" t="t" r="r" b="b"/>
            <a:pathLst>
              <a:path w="684529" h="302260">
                <a:moveTo>
                  <a:pt x="513206" y="0"/>
                </a:moveTo>
                <a:lnTo>
                  <a:pt x="171068" y="0"/>
                </a:lnTo>
                <a:lnTo>
                  <a:pt x="171068" y="150876"/>
                </a:lnTo>
                <a:lnTo>
                  <a:pt x="0" y="150876"/>
                </a:lnTo>
                <a:lnTo>
                  <a:pt x="342138" y="301752"/>
                </a:lnTo>
                <a:lnTo>
                  <a:pt x="684276" y="150876"/>
                </a:lnTo>
                <a:lnTo>
                  <a:pt x="513206" y="150876"/>
                </a:lnTo>
                <a:lnTo>
                  <a:pt x="513206" y="0"/>
                </a:lnTo>
                <a:close/>
              </a:path>
            </a:pathLst>
          </a:custGeom>
          <a:solidFill>
            <a:srgbClr val="898989"/>
          </a:solidFill>
        </p:spPr>
        <p:txBody>
          <a:bodyPr wrap="square" lIns="0" tIns="0" rIns="0" bIns="0" rtlCol="0"/>
          <a:lstStyle/>
          <a:p/>
        </p:txBody>
      </p:sp>
      <p:sp>
        <p:nvSpPr>
          <p:cNvPr id="93" name="object 93"/>
          <p:cNvSpPr txBox="1"/>
          <p:nvPr/>
        </p:nvSpPr>
        <p:spPr>
          <a:xfrm>
            <a:off x="1286255" y="5478779"/>
            <a:ext cx="1637030" cy="208915"/>
          </a:xfrm>
          <a:prstGeom prst="rect">
            <a:avLst/>
          </a:prstGeom>
          <a:solidFill>
            <a:srgbClr val="E7E6E6"/>
          </a:solidFill>
        </p:spPr>
        <p:txBody>
          <a:bodyPr vert="horz" wrap="square" lIns="0" tIns="31750" rIns="0" bIns="0" rtlCol="0">
            <a:spAutoFit/>
          </a:bodyPr>
          <a:lstStyle/>
          <a:p>
            <a:pPr marL="181610">
              <a:lnSpc>
                <a:spcPct val="100000"/>
              </a:lnSpc>
              <a:spcBef>
                <a:spcPts val="250"/>
              </a:spcBef>
            </a:pPr>
            <a:r>
              <a:rPr sz="1050" dirty="0">
                <a:solidFill>
                  <a:srgbClr val="171717"/>
                </a:solidFill>
                <a:latin typeface="Arial" panose="020B0604020202090204"/>
                <a:cs typeface="Arial" panose="020B0604020202090204"/>
              </a:rPr>
              <a:t>ModelArts</a:t>
            </a:r>
            <a:r>
              <a:rPr sz="1050" spc="5" dirty="0">
                <a:solidFill>
                  <a:srgbClr val="171717"/>
                </a:solidFill>
                <a:latin typeface="微软雅黑"/>
                <a:cs typeface="微软雅黑"/>
              </a:rPr>
              <a:t>平台工作流</a:t>
            </a:r>
            <a:endParaRPr sz="1050">
              <a:latin typeface="微软雅黑"/>
              <a:cs typeface="微软雅黑"/>
            </a:endParaRPr>
          </a:p>
        </p:txBody>
      </p:sp>
      <p:sp>
        <p:nvSpPr>
          <p:cNvPr id="2" name="object 2"/>
          <p:cNvSpPr txBox="1">
            <a:spLocks noGrp="1"/>
          </p:cNvSpPr>
          <p:nvPr>
            <p:ph type="title"/>
          </p:nvPr>
        </p:nvSpPr>
        <p:spPr>
          <a:xfrm>
            <a:off x="599440" y="224790"/>
            <a:ext cx="7742555" cy="443230"/>
          </a:xfrm>
          <a:prstGeom prst="rect">
            <a:avLst/>
          </a:prstGeom>
        </p:spPr>
        <p:txBody>
          <a:bodyPr vert="horz" wrap="square" lIns="0" tIns="12700" rIns="0" bIns="0" rtlCol="0">
            <a:spAutoFit/>
          </a:bodyPr>
          <a:p>
            <a:pPr marL="12700">
              <a:lnSpc>
                <a:spcPct val="100000"/>
              </a:lnSpc>
              <a:spcBef>
                <a:spcPts val="100"/>
              </a:spcBef>
            </a:pPr>
            <a:r>
              <a:rPr lang="zh-CN" sz="2800" dirty="0">
                <a:solidFill>
                  <a:schemeClr val="accent2"/>
                </a:solidFill>
              </a:rPr>
              <a:t>国产大模型</a:t>
            </a:r>
            <a:r>
              <a:rPr lang="zh-CN" sz="2800" dirty="0">
                <a:solidFill>
                  <a:schemeClr val="accent2"/>
                </a:solidFill>
                <a:sym typeface="+mn-ea"/>
              </a:rPr>
              <a:t>3：盘古大模型聚焦实业（华为）</a:t>
            </a:r>
            <a:endParaRPr lang="zh-CN" sz="28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14045" y="225933"/>
            <a:ext cx="464820" cy="452120"/>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FFFFFF"/>
                </a:solidFill>
                <a:latin typeface="微软雅黑"/>
                <a:cs typeface="微软雅黑"/>
              </a:rPr>
              <a:t>02</a:t>
            </a:r>
            <a:endParaRPr sz="2800">
              <a:latin typeface="微软雅黑"/>
              <a:cs typeface="微软雅黑"/>
            </a:endParaRPr>
          </a:p>
        </p:txBody>
      </p:sp>
      <p:sp>
        <p:nvSpPr>
          <p:cNvPr id="2" name="object 2"/>
          <p:cNvSpPr txBox="1">
            <a:spLocks noGrp="1"/>
          </p:cNvSpPr>
          <p:nvPr>
            <p:ph type="title"/>
          </p:nvPr>
        </p:nvSpPr>
        <p:spPr>
          <a:xfrm>
            <a:off x="599440" y="224790"/>
            <a:ext cx="7742555" cy="443230"/>
          </a:xfrm>
          <a:prstGeom prst="rect">
            <a:avLst/>
          </a:prstGeom>
        </p:spPr>
        <p:txBody>
          <a:bodyPr vert="horz" wrap="square" lIns="0" tIns="12700" rIns="0" bIns="0" rtlCol="0">
            <a:spAutoFit/>
          </a:bodyPr>
          <a:p>
            <a:pPr marL="12700">
              <a:lnSpc>
                <a:spcPct val="100000"/>
              </a:lnSpc>
              <a:spcBef>
                <a:spcPts val="100"/>
              </a:spcBef>
            </a:pPr>
            <a:r>
              <a:rPr lang="zh-CN" sz="2800" dirty="0">
                <a:solidFill>
                  <a:schemeClr val="accent2"/>
                </a:solidFill>
              </a:rPr>
              <a:t>国产大模型</a:t>
            </a:r>
            <a:r>
              <a:rPr lang="en-US" altLang="zh-CN" sz="2800" dirty="0">
                <a:solidFill>
                  <a:schemeClr val="accent2"/>
                </a:solidFill>
                <a:sym typeface="+mn-ea"/>
              </a:rPr>
              <a:t>4</a:t>
            </a:r>
            <a:r>
              <a:rPr lang="zh-CN" sz="2800" dirty="0">
                <a:solidFill>
                  <a:schemeClr val="accent2"/>
                </a:solidFill>
                <a:sym typeface="+mn-ea"/>
              </a:rPr>
              <a:t>：</a:t>
            </a:r>
            <a:r>
              <a:rPr lang="en-US" altLang="zh-CN" sz="2800" dirty="0">
                <a:solidFill>
                  <a:schemeClr val="accent2"/>
                </a:solidFill>
                <a:sym typeface="+mn-ea"/>
              </a:rPr>
              <a:t>DeepSeek-R1 </a:t>
            </a:r>
            <a:r>
              <a:rPr lang="zh-CN" altLang="en-US" sz="2800" dirty="0">
                <a:solidFill>
                  <a:schemeClr val="accent2"/>
                </a:solidFill>
                <a:sym typeface="+mn-ea"/>
              </a:rPr>
              <a:t>（</a:t>
            </a:r>
            <a:r>
              <a:rPr lang="en-US" altLang="zh-CN" sz="2800" dirty="0">
                <a:solidFill>
                  <a:schemeClr val="accent2"/>
                </a:solidFill>
                <a:sym typeface="+mn-ea"/>
              </a:rPr>
              <a:t>DeepSeek</a:t>
            </a:r>
            <a:r>
              <a:rPr lang="zh-CN" altLang="en-US" sz="2800" dirty="0">
                <a:solidFill>
                  <a:schemeClr val="accent2"/>
                </a:solidFill>
                <a:sym typeface="+mn-ea"/>
              </a:rPr>
              <a:t>）</a:t>
            </a:r>
            <a:endParaRPr lang="zh-CN" altLang="en-US" sz="2800" dirty="0">
              <a:solidFill>
                <a:schemeClr val="accent2"/>
              </a:solidFill>
              <a:sym typeface="+mn-ea"/>
            </a:endParaRPr>
          </a:p>
        </p:txBody>
      </p:sp>
      <p:pic>
        <p:nvPicPr>
          <p:cNvPr id="4" name="图片 3"/>
          <p:cNvPicPr/>
          <p:nvPr/>
        </p:nvPicPr>
        <p:blipFill>
          <a:blip r:embed="rId1"/>
          <a:stretch>
            <a:fillRect/>
          </a:stretch>
        </p:blipFill>
        <p:spPr>
          <a:xfrm>
            <a:off x="2603500" y="2661920"/>
            <a:ext cx="6604000" cy="3721100"/>
          </a:xfrm>
          <a:prstGeom prst="rect">
            <a:avLst/>
          </a:prstGeom>
        </p:spPr>
      </p:pic>
      <p:sp>
        <p:nvSpPr>
          <p:cNvPr id="7" name="object 5"/>
          <p:cNvSpPr txBox="1"/>
          <p:nvPr/>
        </p:nvSpPr>
        <p:spPr>
          <a:xfrm>
            <a:off x="314045" y="905066"/>
            <a:ext cx="9807575" cy="1930400"/>
          </a:xfrm>
          <a:prstGeom prst="rect">
            <a:avLst/>
          </a:prstGeom>
        </p:spPr>
        <p:txBody>
          <a:bodyPr vert="horz" wrap="square" lIns="0" tIns="77470" rIns="0" bIns="0" rtlCol="0">
            <a:spAutoFit/>
          </a:bodyPr>
          <a:p>
            <a:pPr marL="299085" indent="-287020">
              <a:lnSpc>
                <a:spcPct val="100000"/>
              </a:lnSpc>
              <a:spcBef>
                <a:spcPts val="610"/>
              </a:spcBef>
              <a:buFont typeface="Wingdings" panose="05000000000000000000"/>
              <a:buChar char=""/>
              <a:tabLst>
                <a:tab pos="299085" algn="l"/>
                <a:tab pos="299720" algn="l"/>
              </a:tabLst>
            </a:pPr>
            <a:r>
              <a:rPr lang="zh-CN" sz="1600" b="1" spc="-10" dirty="0">
                <a:solidFill>
                  <a:srgbClr val="171717"/>
                </a:solidFill>
                <a:latin typeface="微软雅黑"/>
                <a:cs typeface="微软雅黑"/>
              </a:rPr>
              <a:t>国产大模型的一次崛起</a:t>
            </a:r>
            <a:endParaRPr sz="1600">
              <a:latin typeface="微软雅黑"/>
              <a:cs typeface="微软雅黑"/>
            </a:endParaRPr>
          </a:p>
          <a:p>
            <a:pPr marL="984885" lvl="1" indent="-287655">
              <a:lnSpc>
                <a:spcPct val="100000"/>
              </a:lnSpc>
              <a:spcBef>
                <a:spcPts val="505"/>
              </a:spcBef>
              <a:buFont typeface="Wingdings" panose="05000000000000000000"/>
              <a:buChar char=""/>
              <a:tabLst>
                <a:tab pos="984885" algn="l"/>
                <a:tab pos="984885" algn="l"/>
              </a:tabLst>
            </a:pPr>
            <a:r>
              <a:rPr lang="en-US" altLang="zh-CN" sz="1600">
                <a:latin typeface="微软雅黑"/>
                <a:cs typeface="微软雅黑"/>
              </a:rPr>
              <a:t>1</a:t>
            </a:r>
            <a:r>
              <a:rPr lang="zh-CN" altLang="en-US" sz="1600">
                <a:latin typeface="微软雅黑"/>
                <a:cs typeface="微软雅黑"/>
              </a:rPr>
              <a:t>月</a:t>
            </a:r>
            <a:r>
              <a:rPr lang="en-US" altLang="zh-CN" sz="1600">
                <a:latin typeface="微软雅黑"/>
                <a:cs typeface="微软雅黑"/>
              </a:rPr>
              <a:t>24</a:t>
            </a:r>
            <a:r>
              <a:rPr lang="zh-CN" altLang="en-US" sz="1600">
                <a:latin typeface="微软雅黑"/>
                <a:cs typeface="微软雅黑"/>
              </a:rPr>
              <a:t>日，在国外大模型排名</a:t>
            </a:r>
            <a:r>
              <a:rPr lang="en-US" altLang="zh-CN" sz="1600">
                <a:latin typeface="微软雅黑"/>
                <a:cs typeface="微软雅黑"/>
              </a:rPr>
              <a:t>Arena</a:t>
            </a:r>
            <a:r>
              <a:rPr lang="zh-CN" altLang="en-US" sz="1600">
                <a:latin typeface="微软雅黑"/>
                <a:cs typeface="微软雅黑"/>
              </a:rPr>
              <a:t>上，</a:t>
            </a:r>
            <a:r>
              <a:rPr lang="en-US" altLang="zh-CN" sz="1600">
                <a:latin typeface="微软雅黑"/>
                <a:cs typeface="微软雅黑"/>
              </a:rPr>
              <a:t>DeepSeek-R1</a:t>
            </a:r>
            <a:r>
              <a:rPr lang="zh-CN" altLang="en-US" sz="1600">
                <a:latin typeface="微软雅黑"/>
                <a:cs typeface="微软雅黑"/>
              </a:rPr>
              <a:t>基准测试已经升至全类别大模型第三，其中在风格控制类模型（</a:t>
            </a:r>
            <a:r>
              <a:rPr lang="en-US" altLang="zh-CN" sz="1600">
                <a:latin typeface="微软雅黑"/>
                <a:cs typeface="微软雅黑"/>
              </a:rPr>
              <a:t>StyleCtrl</a:t>
            </a:r>
            <a:r>
              <a:rPr lang="zh-CN" altLang="en-US" sz="1600">
                <a:latin typeface="微软雅黑"/>
                <a:cs typeface="微软雅黑"/>
              </a:rPr>
              <a:t>）分类中与</a:t>
            </a:r>
            <a:r>
              <a:rPr lang="en-US" altLang="zh-CN" sz="1600">
                <a:latin typeface="微软雅黑"/>
                <a:cs typeface="微软雅黑"/>
              </a:rPr>
              <a:t>OpenAI o1</a:t>
            </a:r>
            <a:r>
              <a:rPr lang="zh-CN" altLang="en-US" sz="1600">
                <a:latin typeface="微软雅黑"/>
                <a:cs typeface="微软雅黑"/>
              </a:rPr>
              <a:t>并列第一。而其竞技场得分达到</a:t>
            </a:r>
            <a:r>
              <a:rPr lang="en-US" altLang="zh-CN" sz="1600">
                <a:latin typeface="微软雅黑"/>
                <a:cs typeface="微软雅黑"/>
              </a:rPr>
              <a:t>1357</a:t>
            </a:r>
            <a:r>
              <a:rPr lang="zh-CN" altLang="en-US" sz="1600">
                <a:latin typeface="微软雅黑"/>
                <a:cs typeface="微软雅黑"/>
              </a:rPr>
              <a:t>分，略超</a:t>
            </a:r>
            <a:r>
              <a:rPr lang="en-US" altLang="zh-CN" sz="1600">
                <a:latin typeface="微软雅黑"/>
                <a:cs typeface="微软雅黑"/>
              </a:rPr>
              <a:t> OpenAI o1 </a:t>
            </a:r>
            <a:r>
              <a:rPr lang="zh-CN" altLang="en-US" sz="1600">
                <a:latin typeface="微软雅黑"/>
                <a:cs typeface="微软雅黑"/>
              </a:rPr>
              <a:t>的</a:t>
            </a:r>
            <a:r>
              <a:rPr lang="en-US" altLang="zh-CN" sz="1600">
                <a:latin typeface="微软雅黑"/>
                <a:cs typeface="微软雅黑"/>
              </a:rPr>
              <a:t>1352</a:t>
            </a:r>
            <a:r>
              <a:rPr lang="zh-CN" altLang="en-US" sz="1600">
                <a:latin typeface="微软雅黑"/>
                <a:cs typeface="微软雅黑"/>
              </a:rPr>
              <a:t>分。</a:t>
            </a:r>
            <a:endParaRPr lang="zh-CN" altLang="en-US" sz="1600">
              <a:latin typeface="微软雅黑"/>
              <a:cs typeface="微软雅黑"/>
            </a:endParaRPr>
          </a:p>
          <a:p>
            <a:pPr marL="984885" lvl="1" indent="-287655">
              <a:lnSpc>
                <a:spcPct val="100000"/>
              </a:lnSpc>
              <a:spcBef>
                <a:spcPts val="505"/>
              </a:spcBef>
              <a:buFont typeface="Wingdings" panose="05000000000000000000"/>
              <a:buChar char=""/>
              <a:tabLst>
                <a:tab pos="984885" algn="l"/>
                <a:tab pos="984885" algn="l"/>
              </a:tabLst>
            </a:pPr>
            <a:r>
              <a:rPr lang="en-US" altLang="zh-CN" sz="1600">
                <a:latin typeface="微软雅黑"/>
                <a:cs typeface="微软雅黑"/>
              </a:rPr>
              <a:t>DeepSeek</a:t>
            </a:r>
            <a:r>
              <a:rPr lang="zh-CN" altLang="en-US" sz="1600">
                <a:latin typeface="微软雅黑"/>
                <a:cs typeface="微软雅黑"/>
              </a:rPr>
              <a:t>凭借高性能和低成本迅速崛起，其自研大模型</a:t>
            </a:r>
            <a:r>
              <a:rPr lang="en-US" altLang="zh-CN" sz="1600">
                <a:latin typeface="微软雅黑"/>
                <a:cs typeface="微软雅黑"/>
              </a:rPr>
              <a:t>R1</a:t>
            </a:r>
            <a:r>
              <a:rPr lang="zh-CN" altLang="en-US" sz="1600">
                <a:latin typeface="微软雅黑"/>
                <a:cs typeface="微软雅黑"/>
              </a:rPr>
              <a:t>通过强化学习技术在低标注数据环境下显著提升推理能力，训练成本仅为</a:t>
            </a:r>
            <a:r>
              <a:rPr lang="en-US" altLang="zh-CN" sz="1600">
                <a:latin typeface="微软雅黑"/>
                <a:cs typeface="微软雅黑"/>
              </a:rPr>
              <a:t>OpenAI</a:t>
            </a:r>
            <a:r>
              <a:rPr lang="zh-CN" altLang="en-US" sz="1600">
                <a:latin typeface="微软雅黑"/>
                <a:cs typeface="微软雅黑"/>
              </a:rPr>
              <a:t>的十分之一，运行成本低至三十分之一，被业界称为</a:t>
            </a:r>
            <a:r>
              <a:rPr lang="en-US" altLang="zh-CN" sz="1600">
                <a:latin typeface="微软雅黑"/>
                <a:cs typeface="微软雅黑"/>
              </a:rPr>
              <a:t>“AI</a:t>
            </a:r>
            <a:r>
              <a:rPr lang="zh-CN" altLang="en-US" sz="1600">
                <a:latin typeface="微软雅黑"/>
                <a:cs typeface="微软雅黑"/>
              </a:rPr>
              <a:t>界的拼多多</a:t>
            </a:r>
            <a:r>
              <a:rPr lang="en-US" altLang="zh-CN" sz="1600">
                <a:latin typeface="微软雅黑"/>
                <a:cs typeface="微软雅黑"/>
              </a:rPr>
              <a:t>”</a:t>
            </a:r>
            <a:r>
              <a:rPr lang="zh-CN" altLang="en-US" sz="1600">
                <a:latin typeface="微软雅黑"/>
                <a:cs typeface="微软雅黑"/>
              </a:rPr>
              <a:t>。</a:t>
            </a:r>
            <a:endParaRPr lang="zh-CN" altLang="en-US" sz="1600">
              <a:latin typeface="微软雅黑"/>
              <a:cs typeface="微软雅黑"/>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101600"/>
            <a:ext cx="12192000" cy="6858000"/>
          </a:xfrm>
          <a:prstGeom prst="rect">
            <a:avLst/>
          </a:prstGeom>
          <a:gradFill>
            <a:gsLst>
              <a:gs pos="32000">
                <a:schemeClr val="accent3">
                  <a:lumMod val="20000"/>
                  <a:lumOff val="80000"/>
                  <a:alpha val="0"/>
                </a:schemeClr>
              </a:gs>
              <a:gs pos="100000">
                <a:schemeClr val="accent3">
                  <a:lumMod val="40000"/>
                  <a:lumOff val="60000"/>
                  <a:alpha val="1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dirty="0"/>
          </a:p>
        </p:txBody>
      </p:sp>
      <p:sp>
        <p:nvSpPr>
          <p:cNvPr id="8" name="标题 1"/>
          <p:cNvSpPr txBox="1"/>
          <p:nvPr/>
        </p:nvSpPr>
        <p:spPr>
          <a:xfrm>
            <a:off x="10363982" y="3408388"/>
            <a:ext cx="353916" cy="368016"/>
          </a:xfrm>
          <a:custGeom>
            <a:avLst/>
            <a:gdLst>
              <a:gd name="connsiteX0" fmla="*/ 198153 w 692417"/>
              <a:gd name="connsiteY0" fmla="*/ 663680 h 720001"/>
              <a:gd name="connsiteX1" fmla="*/ 239787 w 692417"/>
              <a:gd name="connsiteY1" fmla="*/ 663680 h 720001"/>
              <a:gd name="connsiteX2" fmla="*/ 295235 w 692417"/>
              <a:gd name="connsiteY2" fmla="*/ 663680 h 720001"/>
              <a:gd name="connsiteX3" fmla="*/ 397182 w 692417"/>
              <a:gd name="connsiteY3" fmla="*/ 663680 h 720001"/>
              <a:gd name="connsiteX4" fmla="*/ 452630 w 692417"/>
              <a:gd name="connsiteY4" fmla="*/ 663680 h 720001"/>
              <a:gd name="connsiteX5" fmla="*/ 494264 w 692417"/>
              <a:gd name="connsiteY5" fmla="*/ 663680 h 720001"/>
              <a:gd name="connsiteX6" fmla="*/ 522425 w 692417"/>
              <a:gd name="connsiteY6" fmla="*/ 691841 h 720001"/>
              <a:gd name="connsiteX7" fmla="*/ 494264 w 692417"/>
              <a:gd name="connsiteY7" fmla="*/ 720001 h 720001"/>
              <a:gd name="connsiteX8" fmla="*/ 452630 w 692417"/>
              <a:gd name="connsiteY8" fmla="*/ 720001 h 720001"/>
              <a:gd name="connsiteX9" fmla="*/ 397182 w 692417"/>
              <a:gd name="connsiteY9" fmla="*/ 720001 h 720001"/>
              <a:gd name="connsiteX10" fmla="*/ 295235 w 692417"/>
              <a:gd name="connsiteY10" fmla="*/ 720001 h 720001"/>
              <a:gd name="connsiteX11" fmla="*/ 239787 w 692417"/>
              <a:gd name="connsiteY11" fmla="*/ 720001 h 720001"/>
              <a:gd name="connsiteX12" fmla="*/ 198153 w 692417"/>
              <a:gd name="connsiteY12" fmla="*/ 720001 h 720001"/>
              <a:gd name="connsiteX13" fmla="*/ 169992 w 692417"/>
              <a:gd name="connsiteY13" fmla="*/ 691841 h 720001"/>
              <a:gd name="connsiteX14" fmla="*/ 198153 w 692417"/>
              <a:gd name="connsiteY14" fmla="*/ 663680 h 720001"/>
              <a:gd name="connsiteX15" fmla="*/ 154400 w 692417"/>
              <a:gd name="connsiteY15" fmla="*/ 572143 h 720001"/>
              <a:gd name="connsiteX16" fmla="*/ 154241 w 692417"/>
              <a:gd name="connsiteY16" fmla="*/ 572597 h 720001"/>
              <a:gd name="connsiteX17" fmla="*/ 160423 w 692417"/>
              <a:gd name="connsiteY17" fmla="*/ 572597 h 720001"/>
              <a:gd name="connsiteX18" fmla="*/ 346215 w 692417"/>
              <a:gd name="connsiteY18" fmla="*/ 0 h 720001"/>
              <a:gd name="connsiteX19" fmla="*/ 456041 w 692417"/>
              <a:gd name="connsiteY19" fmla="*/ 22341 h 720001"/>
              <a:gd name="connsiteX20" fmla="*/ 545873 w 692417"/>
              <a:gd name="connsiteY20" fmla="*/ 82980 h 720001"/>
              <a:gd name="connsiteX21" fmla="*/ 606513 w 692417"/>
              <a:gd name="connsiteY21" fmla="*/ 172812 h 720001"/>
              <a:gd name="connsiteX22" fmla="*/ 628853 w 692417"/>
              <a:gd name="connsiteY22" fmla="*/ 282638 h 720001"/>
              <a:gd name="connsiteX23" fmla="*/ 628853 w 692417"/>
              <a:gd name="connsiteY23" fmla="*/ 493091 h 720001"/>
              <a:gd name="connsiteX24" fmla="*/ 687990 w 692417"/>
              <a:gd name="connsiteY24" fmla="*/ 585551 h 720001"/>
              <a:gd name="connsiteX25" fmla="*/ 688929 w 692417"/>
              <a:gd name="connsiteY25" fmla="*/ 614275 h 720001"/>
              <a:gd name="connsiteX26" fmla="*/ 664336 w 692417"/>
              <a:gd name="connsiteY26" fmla="*/ 628918 h 720001"/>
              <a:gd name="connsiteX27" fmla="*/ 28189 w 692417"/>
              <a:gd name="connsiteY27" fmla="*/ 628918 h 720001"/>
              <a:gd name="connsiteX28" fmla="*/ 3596 w 692417"/>
              <a:gd name="connsiteY28" fmla="*/ 614462 h 720001"/>
              <a:gd name="connsiteX29" fmla="*/ 4159 w 692417"/>
              <a:gd name="connsiteY29" fmla="*/ 585927 h 720001"/>
              <a:gd name="connsiteX30" fmla="*/ 63578 w 692417"/>
              <a:gd name="connsiteY30" fmla="*/ 489336 h 720001"/>
              <a:gd name="connsiteX31" fmla="*/ 63578 w 692417"/>
              <a:gd name="connsiteY31" fmla="*/ 282638 h 720001"/>
              <a:gd name="connsiteX32" fmla="*/ 85919 w 692417"/>
              <a:gd name="connsiteY32" fmla="*/ 172812 h 720001"/>
              <a:gd name="connsiteX33" fmla="*/ 146558 w 692417"/>
              <a:gd name="connsiteY33" fmla="*/ 82980 h 720001"/>
              <a:gd name="connsiteX34" fmla="*/ 236389 w 692417"/>
              <a:gd name="connsiteY34" fmla="*/ 22341 h 720001"/>
              <a:gd name="connsiteX35" fmla="*/ 346215 w 692417"/>
              <a:gd name="connsiteY35" fmla="*/ 0 h 720001"/>
            </a:gdLst>
            <a:ahLst/>
            <a:cxnLst/>
            <a:rect l="l" t="t" r="r" b="b"/>
            <a:pathLst>
              <a:path w="692417" h="720001">
                <a:moveTo>
                  <a:pt x="198153" y="663680"/>
                </a:moveTo>
                <a:lnTo>
                  <a:pt x="239787" y="663680"/>
                </a:lnTo>
                <a:lnTo>
                  <a:pt x="295235" y="663680"/>
                </a:lnTo>
                <a:lnTo>
                  <a:pt x="397182" y="663680"/>
                </a:lnTo>
                <a:lnTo>
                  <a:pt x="452630" y="663680"/>
                </a:lnTo>
                <a:lnTo>
                  <a:pt x="494264" y="663680"/>
                </a:lnTo>
                <a:cubicBezTo>
                  <a:pt x="509847" y="663680"/>
                  <a:pt x="522425" y="676259"/>
                  <a:pt x="522425" y="691841"/>
                </a:cubicBezTo>
                <a:cubicBezTo>
                  <a:pt x="522425" y="707423"/>
                  <a:pt x="509753" y="720001"/>
                  <a:pt x="494264" y="720001"/>
                </a:cubicBezTo>
                <a:lnTo>
                  <a:pt x="452630" y="720001"/>
                </a:lnTo>
                <a:lnTo>
                  <a:pt x="397182" y="720001"/>
                </a:lnTo>
                <a:lnTo>
                  <a:pt x="295235" y="720001"/>
                </a:lnTo>
                <a:lnTo>
                  <a:pt x="239787" y="720001"/>
                </a:lnTo>
                <a:lnTo>
                  <a:pt x="198153" y="720001"/>
                </a:lnTo>
                <a:cubicBezTo>
                  <a:pt x="182571" y="720001"/>
                  <a:pt x="169992" y="707423"/>
                  <a:pt x="169992" y="691841"/>
                </a:cubicBezTo>
                <a:cubicBezTo>
                  <a:pt x="169992" y="676259"/>
                  <a:pt x="182571" y="663680"/>
                  <a:pt x="198153" y="663680"/>
                </a:cubicBezTo>
                <a:close/>
                <a:moveTo>
                  <a:pt x="154400" y="572143"/>
                </a:moveTo>
                <a:lnTo>
                  <a:pt x="154241" y="572597"/>
                </a:lnTo>
                <a:lnTo>
                  <a:pt x="160423" y="572597"/>
                </a:lnTo>
                <a:close/>
                <a:moveTo>
                  <a:pt x="346215" y="0"/>
                </a:moveTo>
                <a:cubicBezTo>
                  <a:pt x="384232" y="0"/>
                  <a:pt x="421122" y="7510"/>
                  <a:pt x="456041" y="22341"/>
                </a:cubicBezTo>
                <a:cubicBezTo>
                  <a:pt x="489646" y="36609"/>
                  <a:pt x="519872" y="57072"/>
                  <a:pt x="545873" y="82980"/>
                </a:cubicBezTo>
                <a:cubicBezTo>
                  <a:pt x="571875" y="108981"/>
                  <a:pt x="592245" y="139207"/>
                  <a:pt x="606513" y="172812"/>
                </a:cubicBezTo>
                <a:cubicBezTo>
                  <a:pt x="621344" y="207637"/>
                  <a:pt x="628853" y="244621"/>
                  <a:pt x="628853" y="282638"/>
                </a:cubicBezTo>
                <a:lnTo>
                  <a:pt x="628853" y="493091"/>
                </a:lnTo>
                <a:lnTo>
                  <a:pt x="687990" y="585551"/>
                </a:lnTo>
                <a:cubicBezTo>
                  <a:pt x="693528" y="594187"/>
                  <a:pt x="693904" y="605263"/>
                  <a:pt x="688929" y="614275"/>
                </a:cubicBezTo>
                <a:cubicBezTo>
                  <a:pt x="684048" y="623286"/>
                  <a:pt x="674567" y="628918"/>
                  <a:pt x="664336" y="628918"/>
                </a:cubicBezTo>
                <a:lnTo>
                  <a:pt x="28189" y="628918"/>
                </a:lnTo>
                <a:cubicBezTo>
                  <a:pt x="17958" y="628918"/>
                  <a:pt x="8571" y="623380"/>
                  <a:pt x="3596" y="614462"/>
                </a:cubicBezTo>
                <a:cubicBezTo>
                  <a:pt x="-1380" y="605545"/>
                  <a:pt x="-1192" y="594656"/>
                  <a:pt x="4159" y="585927"/>
                </a:cubicBezTo>
                <a:lnTo>
                  <a:pt x="63578" y="489336"/>
                </a:lnTo>
                <a:lnTo>
                  <a:pt x="63578" y="282638"/>
                </a:lnTo>
                <a:cubicBezTo>
                  <a:pt x="63578" y="244621"/>
                  <a:pt x="71087" y="207731"/>
                  <a:pt x="85919" y="172812"/>
                </a:cubicBezTo>
                <a:cubicBezTo>
                  <a:pt x="100186" y="139207"/>
                  <a:pt x="120650" y="108981"/>
                  <a:pt x="146558" y="82980"/>
                </a:cubicBezTo>
                <a:cubicBezTo>
                  <a:pt x="172465" y="56978"/>
                  <a:pt x="202785" y="36609"/>
                  <a:pt x="236389" y="22341"/>
                </a:cubicBezTo>
                <a:cubicBezTo>
                  <a:pt x="271214" y="7510"/>
                  <a:pt x="308199" y="0"/>
                  <a:pt x="346215"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2" name="标题 1"/>
          <p:cNvSpPr txBox="1"/>
          <p:nvPr/>
        </p:nvSpPr>
        <p:spPr>
          <a:xfrm>
            <a:off x="10084921" y="4582393"/>
            <a:ext cx="277158" cy="261227"/>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a:off x="0" y="360680"/>
            <a:ext cx="701040" cy="447040"/>
          </a:xfrm>
          <a:prstGeom prst="rect">
            <a:avLst/>
          </a:prstGeom>
          <a:solidFill>
            <a:schemeClr val="accent1"/>
          </a:solidFill>
          <a:ln w="9525"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926774" y="360680"/>
            <a:ext cx="10221286" cy="432000"/>
          </a:xfrm>
          <a:prstGeom prst="rect">
            <a:avLst/>
          </a:prstGeom>
          <a:noFill/>
          <a:ln>
            <a:noFill/>
          </a:ln>
        </p:spPr>
        <p:txBody>
          <a:bodyPr vert="horz" wrap="square" lIns="0" tIns="0" rIns="0" bIns="0" rtlCol="0" anchor="ctr"/>
          <a:lstStyle/>
          <a:p>
            <a:pPr algn="l">
              <a:lnSpc>
                <a:spcPct val="120000"/>
              </a:lnSpc>
            </a:pPr>
            <a:r>
              <a:rPr kumimoji="1" lang="en-US" altLang="zh-CN" sz="3200" dirty="0">
                <a:ln w="12700">
                  <a:noFill/>
                </a:ln>
                <a:solidFill>
                  <a:srgbClr val="000000">
                    <a:alpha val="100000"/>
                  </a:srgbClr>
                </a:solidFill>
                <a:latin typeface="Calibri" charset="0"/>
                <a:ea typeface="Calibri" charset="0"/>
                <a:cs typeface="Calibri" charset="0"/>
              </a:rPr>
              <a:t>DeepSeek-R1</a:t>
            </a:r>
            <a:r>
              <a:rPr kumimoji="1" lang="zh-CN" altLang="en-US" sz="3200" dirty="0">
                <a:ln w="12700">
                  <a:noFill/>
                </a:ln>
                <a:solidFill>
                  <a:srgbClr val="000000">
                    <a:alpha val="100000"/>
                  </a:srgbClr>
                </a:solidFill>
                <a:latin typeface="Calibri" charset="0"/>
                <a:ea typeface="Calibri" charset="0"/>
                <a:cs typeface="Calibri" charset="0"/>
              </a:rPr>
              <a:t>例子</a:t>
            </a:r>
            <a:endParaRPr kumimoji="1" lang="zh-CN" altLang="en-US" dirty="0">
              <a:latin typeface="Calibri" charset="0"/>
              <a:cs typeface="Calibri" charset="0"/>
            </a:endParaRPr>
          </a:p>
        </p:txBody>
      </p:sp>
      <p:pic>
        <p:nvPicPr>
          <p:cNvPr id="4" name="Drawing 0"/>
          <p:cNvPicPr/>
          <p:nvPr/>
        </p:nvPicPr>
        <p:blipFill>
          <a:blip r:embed="rId1"/>
          <a:stretch>
            <a:fillRect/>
          </a:stretch>
        </p:blipFill>
        <p:spPr>
          <a:xfrm>
            <a:off x="0" y="2373856"/>
            <a:ext cx="5189383" cy="2069063"/>
          </a:xfrm>
          <a:prstGeom prst="rect">
            <a:avLst/>
          </a:prstGeom>
        </p:spPr>
      </p:pic>
      <p:pic>
        <p:nvPicPr>
          <p:cNvPr id="5" name="Drawing 1"/>
          <p:cNvPicPr/>
          <p:nvPr/>
        </p:nvPicPr>
        <p:blipFill>
          <a:blip r:embed="rId2"/>
          <a:stretch>
            <a:fillRect/>
          </a:stretch>
        </p:blipFill>
        <p:spPr>
          <a:xfrm>
            <a:off x="5753100" y="506615"/>
            <a:ext cx="5975350" cy="2074888"/>
          </a:xfrm>
          <a:prstGeom prst="rect">
            <a:avLst/>
          </a:prstGeom>
        </p:spPr>
      </p:pic>
      <p:pic>
        <p:nvPicPr>
          <p:cNvPr id="3" name="Drawing 2"/>
          <p:cNvPicPr/>
          <p:nvPr/>
        </p:nvPicPr>
        <p:blipFill>
          <a:blip r:embed="rId3"/>
          <a:stretch>
            <a:fillRect/>
          </a:stretch>
        </p:blipFill>
        <p:spPr>
          <a:xfrm>
            <a:off x="5890260" y="2863130"/>
            <a:ext cx="5257800" cy="34385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101600"/>
            <a:ext cx="12192000" cy="6858000"/>
          </a:xfrm>
          <a:prstGeom prst="rect">
            <a:avLst/>
          </a:prstGeom>
          <a:gradFill>
            <a:gsLst>
              <a:gs pos="32000">
                <a:schemeClr val="accent3">
                  <a:lumMod val="20000"/>
                  <a:lumOff val="80000"/>
                  <a:alpha val="0"/>
                </a:schemeClr>
              </a:gs>
              <a:gs pos="100000">
                <a:schemeClr val="accent3">
                  <a:lumMod val="40000"/>
                  <a:lumOff val="60000"/>
                  <a:alpha val="1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dirty="0"/>
          </a:p>
        </p:txBody>
      </p:sp>
      <p:sp>
        <p:nvSpPr>
          <p:cNvPr id="8" name="标题 1"/>
          <p:cNvSpPr txBox="1"/>
          <p:nvPr/>
        </p:nvSpPr>
        <p:spPr>
          <a:xfrm>
            <a:off x="10363982" y="3408388"/>
            <a:ext cx="353916" cy="368016"/>
          </a:xfrm>
          <a:custGeom>
            <a:avLst/>
            <a:gdLst>
              <a:gd name="connsiteX0" fmla="*/ 198153 w 692417"/>
              <a:gd name="connsiteY0" fmla="*/ 663680 h 720001"/>
              <a:gd name="connsiteX1" fmla="*/ 239787 w 692417"/>
              <a:gd name="connsiteY1" fmla="*/ 663680 h 720001"/>
              <a:gd name="connsiteX2" fmla="*/ 295235 w 692417"/>
              <a:gd name="connsiteY2" fmla="*/ 663680 h 720001"/>
              <a:gd name="connsiteX3" fmla="*/ 397182 w 692417"/>
              <a:gd name="connsiteY3" fmla="*/ 663680 h 720001"/>
              <a:gd name="connsiteX4" fmla="*/ 452630 w 692417"/>
              <a:gd name="connsiteY4" fmla="*/ 663680 h 720001"/>
              <a:gd name="connsiteX5" fmla="*/ 494264 w 692417"/>
              <a:gd name="connsiteY5" fmla="*/ 663680 h 720001"/>
              <a:gd name="connsiteX6" fmla="*/ 522425 w 692417"/>
              <a:gd name="connsiteY6" fmla="*/ 691841 h 720001"/>
              <a:gd name="connsiteX7" fmla="*/ 494264 w 692417"/>
              <a:gd name="connsiteY7" fmla="*/ 720001 h 720001"/>
              <a:gd name="connsiteX8" fmla="*/ 452630 w 692417"/>
              <a:gd name="connsiteY8" fmla="*/ 720001 h 720001"/>
              <a:gd name="connsiteX9" fmla="*/ 397182 w 692417"/>
              <a:gd name="connsiteY9" fmla="*/ 720001 h 720001"/>
              <a:gd name="connsiteX10" fmla="*/ 295235 w 692417"/>
              <a:gd name="connsiteY10" fmla="*/ 720001 h 720001"/>
              <a:gd name="connsiteX11" fmla="*/ 239787 w 692417"/>
              <a:gd name="connsiteY11" fmla="*/ 720001 h 720001"/>
              <a:gd name="connsiteX12" fmla="*/ 198153 w 692417"/>
              <a:gd name="connsiteY12" fmla="*/ 720001 h 720001"/>
              <a:gd name="connsiteX13" fmla="*/ 169992 w 692417"/>
              <a:gd name="connsiteY13" fmla="*/ 691841 h 720001"/>
              <a:gd name="connsiteX14" fmla="*/ 198153 w 692417"/>
              <a:gd name="connsiteY14" fmla="*/ 663680 h 720001"/>
              <a:gd name="connsiteX15" fmla="*/ 154400 w 692417"/>
              <a:gd name="connsiteY15" fmla="*/ 572143 h 720001"/>
              <a:gd name="connsiteX16" fmla="*/ 154241 w 692417"/>
              <a:gd name="connsiteY16" fmla="*/ 572597 h 720001"/>
              <a:gd name="connsiteX17" fmla="*/ 160423 w 692417"/>
              <a:gd name="connsiteY17" fmla="*/ 572597 h 720001"/>
              <a:gd name="connsiteX18" fmla="*/ 346215 w 692417"/>
              <a:gd name="connsiteY18" fmla="*/ 0 h 720001"/>
              <a:gd name="connsiteX19" fmla="*/ 456041 w 692417"/>
              <a:gd name="connsiteY19" fmla="*/ 22341 h 720001"/>
              <a:gd name="connsiteX20" fmla="*/ 545873 w 692417"/>
              <a:gd name="connsiteY20" fmla="*/ 82980 h 720001"/>
              <a:gd name="connsiteX21" fmla="*/ 606513 w 692417"/>
              <a:gd name="connsiteY21" fmla="*/ 172812 h 720001"/>
              <a:gd name="connsiteX22" fmla="*/ 628853 w 692417"/>
              <a:gd name="connsiteY22" fmla="*/ 282638 h 720001"/>
              <a:gd name="connsiteX23" fmla="*/ 628853 w 692417"/>
              <a:gd name="connsiteY23" fmla="*/ 493091 h 720001"/>
              <a:gd name="connsiteX24" fmla="*/ 687990 w 692417"/>
              <a:gd name="connsiteY24" fmla="*/ 585551 h 720001"/>
              <a:gd name="connsiteX25" fmla="*/ 688929 w 692417"/>
              <a:gd name="connsiteY25" fmla="*/ 614275 h 720001"/>
              <a:gd name="connsiteX26" fmla="*/ 664336 w 692417"/>
              <a:gd name="connsiteY26" fmla="*/ 628918 h 720001"/>
              <a:gd name="connsiteX27" fmla="*/ 28189 w 692417"/>
              <a:gd name="connsiteY27" fmla="*/ 628918 h 720001"/>
              <a:gd name="connsiteX28" fmla="*/ 3596 w 692417"/>
              <a:gd name="connsiteY28" fmla="*/ 614462 h 720001"/>
              <a:gd name="connsiteX29" fmla="*/ 4159 w 692417"/>
              <a:gd name="connsiteY29" fmla="*/ 585927 h 720001"/>
              <a:gd name="connsiteX30" fmla="*/ 63578 w 692417"/>
              <a:gd name="connsiteY30" fmla="*/ 489336 h 720001"/>
              <a:gd name="connsiteX31" fmla="*/ 63578 w 692417"/>
              <a:gd name="connsiteY31" fmla="*/ 282638 h 720001"/>
              <a:gd name="connsiteX32" fmla="*/ 85919 w 692417"/>
              <a:gd name="connsiteY32" fmla="*/ 172812 h 720001"/>
              <a:gd name="connsiteX33" fmla="*/ 146558 w 692417"/>
              <a:gd name="connsiteY33" fmla="*/ 82980 h 720001"/>
              <a:gd name="connsiteX34" fmla="*/ 236389 w 692417"/>
              <a:gd name="connsiteY34" fmla="*/ 22341 h 720001"/>
              <a:gd name="connsiteX35" fmla="*/ 346215 w 692417"/>
              <a:gd name="connsiteY35" fmla="*/ 0 h 720001"/>
            </a:gdLst>
            <a:ahLst/>
            <a:cxnLst/>
            <a:rect l="l" t="t" r="r" b="b"/>
            <a:pathLst>
              <a:path w="692417" h="720001">
                <a:moveTo>
                  <a:pt x="198153" y="663680"/>
                </a:moveTo>
                <a:lnTo>
                  <a:pt x="239787" y="663680"/>
                </a:lnTo>
                <a:lnTo>
                  <a:pt x="295235" y="663680"/>
                </a:lnTo>
                <a:lnTo>
                  <a:pt x="397182" y="663680"/>
                </a:lnTo>
                <a:lnTo>
                  <a:pt x="452630" y="663680"/>
                </a:lnTo>
                <a:lnTo>
                  <a:pt x="494264" y="663680"/>
                </a:lnTo>
                <a:cubicBezTo>
                  <a:pt x="509847" y="663680"/>
                  <a:pt x="522425" y="676259"/>
                  <a:pt x="522425" y="691841"/>
                </a:cubicBezTo>
                <a:cubicBezTo>
                  <a:pt x="522425" y="707423"/>
                  <a:pt x="509753" y="720001"/>
                  <a:pt x="494264" y="720001"/>
                </a:cubicBezTo>
                <a:lnTo>
                  <a:pt x="452630" y="720001"/>
                </a:lnTo>
                <a:lnTo>
                  <a:pt x="397182" y="720001"/>
                </a:lnTo>
                <a:lnTo>
                  <a:pt x="295235" y="720001"/>
                </a:lnTo>
                <a:lnTo>
                  <a:pt x="239787" y="720001"/>
                </a:lnTo>
                <a:lnTo>
                  <a:pt x="198153" y="720001"/>
                </a:lnTo>
                <a:cubicBezTo>
                  <a:pt x="182571" y="720001"/>
                  <a:pt x="169992" y="707423"/>
                  <a:pt x="169992" y="691841"/>
                </a:cubicBezTo>
                <a:cubicBezTo>
                  <a:pt x="169992" y="676259"/>
                  <a:pt x="182571" y="663680"/>
                  <a:pt x="198153" y="663680"/>
                </a:cubicBezTo>
                <a:close/>
                <a:moveTo>
                  <a:pt x="154400" y="572143"/>
                </a:moveTo>
                <a:lnTo>
                  <a:pt x="154241" y="572597"/>
                </a:lnTo>
                <a:lnTo>
                  <a:pt x="160423" y="572597"/>
                </a:lnTo>
                <a:close/>
                <a:moveTo>
                  <a:pt x="346215" y="0"/>
                </a:moveTo>
                <a:cubicBezTo>
                  <a:pt x="384232" y="0"/>
                  <a:pt x="421122" y="7510"/>
                  <a:pt x="456041" y="22341"/>
                </a:cubicBezTo>
                <a:cubicBezTo>
                  <a:pt x="489646" y="36609"/>
                  <a:pt x="519872" y="57072"/>
                  <a:pt x="545873" y="82980"/>
                </a:cubicBezTo>
                <a:cubicBezTo>
                  <a:pt x="571875" y="108981"/>
                  <a:pt x="592245" y="139207"/>
                  <a:pt x="606513" y="172812"/>
                </a:cubicBezTo>
                <a:cubicBezTo>
                  <a:pt x="621344" y="207637"/>
                  <a:pt x="628853" y="244621"/>
                  <a:pt x="628853" y="282638"/>
                </a:cubicBezTo>
                <a:lnTo>
                  <a:pt x="628853" y="493091"/>
                </a:lnTo>
                <a:lnTo>
                  <a:pt x="687990" y="585551"/>
                </a:lnTo>
                <a:cubicBezTo>
                  <a:pt x="693528" y="594187"/>
                  <a:pt x="693904" y="605263"/>
                  <a:pt x="688929" y="614275"/>
                </a:cubicBezTo>
                <a:cubicBezTo>
                  <a:pt x="684048" y="623286"/>
                  <a:pt x="674567" y="628918"/>
                  <a:pt x="664336" y="628918"/>
                </a:cubicBezTo>
                <a:lnTo>
                  <a:pt x="28189" y="628918"/>
                </a:lnTo>
                <a:cubicBezTo>
                  <a:pt x="17958" y="628918"/>
                  <a:pt x="8571" y="623380"/>
                  <a:pt x="3596" y="614462"/>
                </a:cubicBezTo>
                <a:cubicBezTo>
                  <a:pt x="-1380" y="605545"/>
                  <a:pt x="-1192" y="594656"/>
                  <a:pt x="4159" y="585927"/>
                </a:cubicBezTo>
                <a:lnTo>
                  <a:pt x="63578" y="489336"/>
                </a:lnTo>
                <a:lnTo>
                  <a:pt x="63578" y="282638"/>
                </a:lnTo>
                <a:cubicBezTo>
                  <a:pt x="63578" y="244621"/>
                  <a:pt x="71087" y="207731"/>
                  <a:pt x="85919" y="172812"/>
                </a:cubicBezTo>
                <a:cubicBezTo>
                  <a:pt x="100186" y="139207"/>
                  <a:pt x="120650" y="108981"/>
                  <a:pt x="146558" y="82980"/>
                </a:cubicBezTo>
                <a:cubicBezTo>
                  <a:pt x="172465" y="56978"/>
                  <a:pt x="202785" y="36609"/>
                  <a:pt x="236389" y="22341"/>
                </a:cubicBezTo>
                <a:cubicBezTo>
                  <a:pt x="271214" y="7510"/>
                  <a:pt x="308199" y="0"/>
                  <a:pt x="346215"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2" name="标题 1"/>
          <p:cNvSpPr txBox="1"/>
          <p:nvPr/>
        </p:nvSpPr>
        <p:spPr>
          <a:xfrm>
            <a:off x="10084921" y="4582393"/>
            <a:ext cx="277158" cy="261227"/>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a:off x="0" y="360680"/>
            <a:ext cx="701040" cy="447040"/>
          </a:xfrm>
          <a:prstGeom prst="rect">
            <a:avLst/>
          </a:prstGeom>
          <a:solidFill>
            <a:schemeClr val="accent1"/>
          </a:solidFill>
          <a:ln w="9525"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926774" y="360680"/>
            <a:ext cx="10221286" cy="432000"/>
          </a:xfrm>
          <a:prstGeom prst="rect">
            <a:avLst/>
          </a:prstGeom>
          <a:noFill/>
          <a:ln>
            <a:noFill/>
          </a:ln>
        </p:spPr>
        <p:txBody>
          <a:bodyPr vert="horz" wrap="square" lIns="0" tIns="0" rIns="0" bIns="0" rtlCol="0" anchor="ctr"/>
          <a:lstStyle/>
          <a:p>
            <a:pPr algn="l">
              <a:lnSpc>
                <a:spcPct val="120000"/>
              </a:lnSpc>
            </a:pPr>
            <a:r>
              <a:rPr kumimoji="1" lang="en-US" altLang="zh-CN" sz="3200" dirty="0">
                <a:ln w="12700">
                  <a:noFill/>
                </a:ln>
                <a:solidFill>
                  <a:srgbClr val="000000">
                    <a:alpha val="100000"/>
                  </a:srgbClr>
                </a:solidFill>
                <a:latin typeface="Calibri" charset="0"/>
                <a:ea typeface="Calibri" charset="0"/>
                <a:cs typeface="Calibri" charset="0"/>
              </a:rPr>
              <a:t>DeepSeek-R1</a:t>
            </a:r>
            <a:r>
              <a:rPr kumimoji="1" lang="zh-CN" altLang="en-US" sz="3200" dirty="0">
                <a:ln w="12700">
                  <a:noFill/>
                </a:ln>
                <a:solidFill>
                  <a:srgbClr val="000000">
                    <a:alpha val="100000"/>
                  </a:srgbClr>
                </a:solidFill>
                <a:latin typeface="Calibri" charset="0"/>
                <a:ea typeface="Calibri" charset="0"/>
                <a:cs typeface="Calibri" charset="0"/>
              </a:rPr>
              <a:t>例子</a:t>
            </a:r>
            <a:endParaRPr kumimoji="1" lang="zh-CN" altLang="en-US" dirty="0">
              <a:latin typeface="Calibri" charset="0"/>
              <a:cs typeface="Calibri" charset="0"/>
            </a:endParaRPr>
          </a:p>
        </p:txBody>
      </p:sp>
      <p:pic>
        <p:nvPicPr>
          <p:cNvPr id="3" name="Drawing 18"/>
          <p:cNvPicPr/>
          <p:nvPr/>
        </p:nvPicPr>
        <p:blipFill>
          <a:blip r:embed="rId1"/>
          <a:stretch>
            <a:fillRect/>
          </a:stretch>
        </p:blipFill>
        <p:spPr>
          <a:xfrm>
            <a:off x="107950" y="1969552"/>
            <a:ext cx="5257800" cy="3609975"/>
          </a:xfrm>
          <a:prstGeom prst="rect">
            <a:avLst/>
          </a:prstGeom>
        </p:spPr>
      </p:pic>
      <p:pic>
        <p:nvPicPr>
          <p:cNvPr id="4" name="Drawing 19"/>
          <p:cNvPicPr/>
          <p:nvPr/>
        </p:nvPicPr>
        <p:blipFill>
          <a:blip r:embed="rId2"/>
          <a:stretch>
            <a:fillRect/>
          </a:stretch>
        </p:blipFill>
        <p:spPr>
          <a:xfrm>
            <a:off x="6983021" y="381000"/>
            <a:ext cx="2440379" cy="6375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20612"/>
            <a:ext cx="12192000" cy="6858000"/>
          </a:xfrm>
          <a:prstGeom prst="rect">
            <a:avLst/>
          </a:prstGeom>
          <a:gradFill>
            <a:gsLst>
              <a:gs pos="32000">
                <a:schemeClr val="accent3">
                  <a:lumMod val="20000"/>
                  <a:lumOff val="80000"/>
                  <a:alpha val="0"/>
                </a:schemeClr>
              </a:gs>
              <a:gs pos="100000">
                <a:schemeClr val="accent3">
                  <a:lumMod val="40000"/>
                  <a:lumOff val="60000"/>
                  <a:alpha val="1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dirty="0"/>
          </a:p>
        </p:txBody>
      </p:sp>
      <p:sp>
        <p:nvSpPr>
          <p:cNvPr id="8" name="标题 1"/>
          <p:cNvSpPr txBox="1"/>
          <p:nvPr/>
        </p:nvSpPr>
        <p:spPr>
          <a:xfrm>
            <a:off x="10363982" y="3408388"/>
            <a:ext cx="353916" cy="368016"/>
          </a:xfrm>
          <a:custGeom>
            <a:avLst/>
            <a:gdLst>
              <a:gd name="connsiteX0" fmla="*/ 198153 w 692417"/>
              <a:gd name="connsiteY0" fmla="*/ 663680 h 720001"/>
              <a:gd name="connsiteX1" fmla="*/ 239787 w 692417"/>
              <a:gd name="connsiteY1" fmla="*/ 663680 h 720001"/>
              <a:gd name="connsiteX2" fmla="*/ 295235 w 692417"/>
              <a:gd name="connsiteY2" fmla="*/ 663680 h 720001"/>
              <a:gd name="connsiteX3" fmla="*/ 397182 w 692417"/>
              <a:gd name="connsiteY3" fmla="*/ 663680 h 720001"/>
              <a:gd name="connsiteX4" fmla="*/ 452630 w 692417"/>
              <a:gd name="connsiteY4" fmla="*/ 663680 h 720001"/>
              <a:gd name="connsiteX5" fmla="*/ 494264 w 692417"/>
              <a:gd name="connsiteY5" fmla="*/ 663680 h 720001"/>
              <a:gd name="connsiteX6" fmla="*/ 522425 w 692417"/>
              <a:gd name="connsiteY6" fmla="*/ 691841 h 720001"/>
              <a:gd name="connsiteX7" fmla="*/ 494264 w 692417"/>
              <a:gd name="connsiteY7" fmla="*/ 720001 h 720001"/>
              <a:gd name="connsiteX8" fmla="*/ 452630 w 692417"/>
              <a:gd name="connsiteY8" fmla="*/ 720001 h 720001"/>
              <a:gd name="connsiteX9" fmla="*/ 397182 w 692417"/>
              <a:gd name="connsiteY9" fmla="*/ 720001 h 720001"/>
              <a:gd name="connsiteX10" fmla="*/ 295235 w 692417"/>
              <a:gd name="connsiteY10" fmla="*/ 720001 h 720001"/>
              <a:gd name="connsiteX11" fmla="*/ 239787 w 692417"/>
              <a:gd name="connsiteY11" fmla="*/ 720001 h 720001"/>
              <a:gd name="connsiteX12" fmla="*/ 198153 w 692417"/>
              <a:gd name="connsiteY12" fmla="*/ 720001 h 720001"/>
              <a:gd name="connsiteX13" fmla="*/ 169992 w 692417"/>
              <a:gd name="connsiteY13" fmla="*/ 691841 h 720001"/>
              <a:gd name="connsiteX14" fmla="*/ 198153 w 692417"/>
              <a:gd name="connsiteY14" fmla="*/ 663680 h 720001"/>
              <a:gd name="connsiteX15" fmla="*/ 154400 w 692417"/>
              <a:gd name="connsiteY15" fmla="*/ 572143 h 720001"/>
              <a:gd name="connsiteX16" fmla="*/ 154241 w 692417"/>
              <a:gd name="connsiteY16" fmla="*/ 572597 h 720001"/>
              <a:gd name="connsiteX17" fmla="*/ 160423 w 692417"/>
              <a:gd name="connsiteY17" fmla="*/ 572597 h 720001"/>
              <a:gd name="connsiteX18" fmla="*/ 346215 w 692417"/>
              <a:gd name="connsiteY18" fmla="*/ 0 h 720001"/>
              <a:gd name="connsiteX19" fmla="*/ 456041 w 692417"/>
              <a:gd name="connsiteY19" fmla="*/ 22341 h 720001"/>
              <a:gd name="connsiteX20" fmla="*/ 545873 w 692417"/>
              <a:gd name="connsiteY20" fmla="*/ 82980 h 720001"/>
              <a:gd name="connsiteX21" fmla="*/ 606513 w 692417"/>
              <a:gd name="connsiteY21" fmla="*/ 172812 h 720001"/>
              <a:gd name="connsiteX22" fmla="*/ 628853 w 692417"/>
              <a:gd name="connsiteY22" fmla="*/ 282638 h 720001"/>
              <a:gd name="connsiteX23" fmla="*/ 628853 w 692417"/>
              <a:gd name="connsiteY23" fmla="*/ 493091 h 720001"/>
              <a:gd name="connsiteX24" fmla="*/ 687990 w 692417"/>
              <a:gd name="connsiteY24" fmla="*/ 585551 h 720001"/>
              <a:gd name="connsiteX25" fmla="*/ 688929 w 692417"/>
              <a:gd name="connsiteY25" fmla="*/ 614275 h 720001"/>
              <a:gd name="connsiteX26" fmla="*/ 664336 w 692417"/>
              <a:gd name="connsiteY26" fmla="*/ 628918 h 720001"/>
              <a:gd name="connsiteX27" fmla="*/ 28189 w 692417"/>
              <a:gd name="connsiteY27" fmla="*/ 628918 h 720001"/>
              <a:gd name="connsiteX28" fmla="*/ 3596 w 692417"/>
              <a:gd name="connsiteY28" fmla="*/ 614462 h 720001"/>
              <a:gd name="connsiteX29" fmla="*/ 4159 w 692417"/>
              <a:gd name="connsiteY29" fmla="*/ 585927 h 720001"/>
              <a:gd name="connsiteX30" fmla="*/ 63578 w 692417"/>
              <a:gd name="connsiteY30" fmla="*/ 489336 h 720001"/>
              <a:gd name="connsiteX31" fmla="*/ 63578 w 692417"/>
              <a:gd name="connsiteY31" fmla="*/ 282638 h 720001"/>
              <a:gd name="connsiteX32" fmla="*/ 85919 w 692417"/>
              <a:gd name="connsiteY32" fmla="*/ 172812 h 720001"/>
              <a:gd name="connsiteX33" fmla="*/ 146558 w 692417"/>
              <a:gd name="connsiteY33" fmla="*/ 82980 h 720001"/>
              <a:gd name="connsiteX34" fmla="*/ 236389 w 692417"/>
              <a:gd name="connsiteY34" fmla="*/ 22341 h 720001"/>
              <a:gd name="connsiteX35" fmla="*/ 346215 w 692417"/>
              <a:gd name="connsiteY35" fmla="*/ 0 h 720001"/>
            </a:gdLst>
            <a:ahLst/>
            <a:cxnLst/>
            <a:rect l="l" t="t" r="r" b="b"/>
            <a:pathLst>
              <a:path w="692417" h="720001">
                <a:moveTo>
                  <a:pt x="198153" y="663680"/>
                </a:moveTo>
                <a:lnTo>
                  <a:pt x="239787" y="663680"/>
                </a:lnTo>
                <a:lnTo>
                  <a:pt x="295235" y="663680"/>
                </a:lnTo>
                <a:lnTo>
                  <a:pt x="397182" y="663680"/>
                </a:lnTo>
                <a:lnTo>
                  <a:pt x="452630" y="663680"/>
                </a:lnTo>
                <a:lnTo>
                  <a:pt x="494264" y="663680"/>
                </a:lnTo>
                <a:cubicBezTo>
                  <a:pt x="509847" y="663680"/>
                  <a:pt x="522425" y="676259"/>
                  <a:pt x="522425" y="691841"/>
                </a:cubicBezTo>
                <a:cubicBezTo>
                  <a:pt x="522425" y="707423"/>
                  <a:pt x="509753" y="720001"/>
                  <a:pt x="494264" y="720001"/>
                </a:cubicBezTo>
                <a:lnTo>
                  <a:pt x="452630" y="720001"/>
                </a:lnTo>
                <a:lnTo>
                  <a:pt x="397182" y="720001"/>
                </a:lnTo>
                <a:lnTo>
                  <a:pt x="295235" y="720001"/>
                </a:lnTo>
                <a:lnTo>
                  <a:pt x="239787" y="720001"/>
                </a:lnTo>
                <a:lnTo>
                  <a:pt x="198153" y="720001"/>
                </a:lnTo>
                <a:cubicBezTo>
                  <a:pt x="182571" y="720001"/>
                  <a:pt x="169992" y="707423"/>
                  <a:pt x="169992" y="691841"/>
                </a:cubicBezTo>
                <a:cubicBezTo>
                  <a:pt x="169992" y="676259"/>
                  <a:pt x="182571" y="663680"/>
                  <a:pt x="198153" y="663680"/>
                </a:cubicBezTo>
                <a:close/>
                <a:moveTo>
                  <a:pt x="154400" y="572143"/>
                </a:moveTo>
                <a:lnTo>
                  <a:pt x="154241" y="572597"/>
                </a:lnTo>
                <a:lnTo>
                  <a:pt x="160423" y="572597"/>
                </a:lnTo>
                <a:close/>
                <a:moveTo>
                  <a:pt x="346215" y="0"/>
                </a:moveTo>
                <a:cubicBezTo>
                  <a:pt x="384232" y="0"/>
                  <a:pt x="421122" y="7510"/>
                  <a:pt x="456041" y="22341"/>
                </a:cubicBezTo>
                <a:cubicBezTo>
                  <a:pt x="489646" y="36609"/>
                  <a:pt x="519872" y="57072"/>
                  <a:pt x="545873" y="82980"/>
                </a:cubicBezTo>
                <a:cubicBezTo>
                  <a:pt x="571875" y="108981"/>
                  <a:pt x="592245" y="139207"/>
                  <a:pt x="606513" y="172812"/>
                </a:cubicBezTo>
                <a:cubicBezTo>
                  <a:pt x="621344" y="207637"/>
                  <a:pt x="628853" y="244621"/>
                  <a:pt x="628853" y="282638"/>
                </a:cubicBezTo>
                <a:lnTo>
                  <a:pt x="628853" y="493091"/>
                </a:lnTo>
                <a:lnTo>
                  <a:pt x="687990" y="585551"/>
                </a:lnTo>
                <a:cubicBezTo>
                  <a:pt x="693528" y="594187"/>
                  <a:pt x="693904" y="605263"/>
                  <a:pt x="688929" y="614275"/>
                </a:cubicBezTo>
                <a:cubicBezTo>
                  <a:pt x="684048" y="623286"/>
                  <a:pt x="674567" y="628918"/>
                  <a:pt x="664336" y="628918"/>
                </a:cubicBezTo>
                <a:lnTo>
                  <a:pt x="28189" y="628918"/>
                </a:lnTo>
                <a:cubicBezTo>
                  <a:pt x="17958" y="628918"/>
                  <a:pt x="8571" y="623380"/>
                  <a:pt x="3596" y="614462"/>
                </a:cubicBezTo>
                <a:cubicBezTo>
                  <a:pt x="-1380" y="605545"/>
                  <a:pt x="-1192" y="594656"/>
                  <a:pt x="4159" y="585927"/>
                </a:cubicBezTo>
                <a:lnTo>
                  <a:pt x="63578" y="489336"/>
                </a:lnTo>
                <a:lnTo>
                  <a:pt x="63578" y="282638"/>
                </a:lnTo>
                <a:cubicBezTo>
                  <a:pt x="63578" y="244621"/>
                  <a:pt x="71087" y="207731"/>
                  <a:pt x="85919" y="172812"/>
                </a:cubicBezTo>
                <a:cubicBezTo>
                  <a:pt x="100186" y="139207"/>
                  <a:pt x="120650" y="108981"/>
                  <a:pt x="146558" y="82980"/>
                </a:cubicBezTo>
                <a:cubicBezTo>
                  <a:pt x="172465" y="56978"/>
                  <a:pt x="202785" y="36609"/>
                  <a:pt x="236389" y="22341"/>
                </a:cubicBezTo>
                <a:cubicBezTo>
                  <a:pt x="271214" y="7510"/>
                  <a:pt x="308199" y="0"/>
                  <a:pt x="346215"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2" name="标题 1"/>
          <p:cNvSpPr txBox="1"/>
          <p:nvPr/>
        </p:nvSpPr>
        <p:spPr>
          <a:xfrm>
            <a:off x="10084921" y="4582393"/>
            <a:ext cx="277158" cy="261227"/>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a:off x="0" y="360680"/>
            <a:ext cx="701040" cy="447040"/>
          </a:xfrm>
          <a:prstGeom prst="rect">
            <a:avLst/>
          </a:prstGeom>
          <a:solidFill>
            <a:schemeClr val="accent1"/>
          </a:solidFill>
          <a:ln w="9525"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926774" y="360680"/>
            <a:ext cx="10221286" cy="432000"/>
          </a:xfrm>
          <a:prstGeom prst="rect">
            <a:avLst/>
          </a:prstGeom>
          <a:noFill/>
          <a:ln>
            <a:noFill/>
          </a:ln>
        </p:spPr>
        <p:txBody>
          <a:bodyPr vert="horz" wrap="square" lIns="0" tIns="0" rIns="0" bIns="0" rtlCol="0" anchor="ctr"/>
          <a:lstStyle/>
          <a:p>
            <a:pPr algn="l">
              <a:lnSpc>
                <a:spcPct val="120000"/>
              </a:lnSpc>
            </a:pPr>
            <a:r>
              <a:rPr kumimoji="1" lang="en-US" altLang="zh-CN" sz="3200" dirty="0">
                <a:ln w="12700">
                  <a:noFill/>
                </a:ln>
                <a:solidFill>
                  <a:srgbClr val="000000">
                    <a:alpha val="100000"/>
                  </a:srgbClr>
                </a:solidFill>
                <a:latin typeface="Calibri" charset="0"/>
                <a:ea typeface="Calibri" charset="0"/>
                <a:cs typeface="Calibri" charset="0"/>
              </a:rPr>
              <a:t>DeepSeek-R1</a:t>
            </a:r>
            <a:r>
              <a:rPr kumimoji="1" lang="zh-CN" altLang="en-US" sz="3200" dirty="0">
                <a:ln w="12700">
                  <a:noFill/>
                </a:ln>
                <a:solidFill>
                  <a:srgbClr val="000000">
                    <a:alpha val="100000"/>
                  </a:srgbClr>
                </a:solidFill>
                <a:latin typeface="Calibri" charset="0"/>
                <a:ea typeface="Calibri" charset="0"/>
                <a:cs typeface="Calibri" charset="0"/>
              </a:rPr>
              <a:t>例子</a:t>
            </a:r>
            <a:endParaRPr kumimoji="1" lang="zh-CN" altLang="en-US" dirty="0">
              <a:latin typeface="Calibri" charset="0"/>
              <a:cs typeface="Calibri" charset="0"/>
            </a:endParaRPr>
          </a:p>
        </p:txBody>
      </p:sp>
      <p:pic>
        <p:nvPicPr>
          <p:cNvPr id="5" name="Drawing 20"/>
          <p:cNvPicPr/>
          <p:nvPr/>
        </p:nvPicPr>
        <p:blipFill>
          <a:blip r:embed="rId1"/>
          <a:stretch>
            <a:fillRect/>
          </a:stretch>
        </p:blipFill>
        <p:spPr>
          <a:xfrm>
            <a:off x="95250" y="1992196"/>
            <a:ext cx="5568950" cy="3475154"/>
          </a:xfrm>
          <a:prstGeom prst="rect">
            <a:avLst/>
          </a:prstGeom>
        </p:spPr>
      </p:pic>
      <p:pic>
        <p:nvPicPr>
          <p:cNvPr id="6" name="Drawing 21"/>
          <p:cNvPicPr/>
          <p:nvPr/>
        </p:nvPicPr>
        <p:blipFill>
          <a:blip r:embed="rId2"/>
          <a:stretch>
            <a:fillRect/>
          </a:stretch>
        </p:blipFill>
        <p:spPr>
          <a:xfrm>
            <a:off x="5890260" y="1039812"/>
            <a:ext cx="5257800" cy="49053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32000">
                <a:schemeClr val="accent3">
                  <a:lumMod val="20000"/>
                  <a:lumOff val="80000"/>
                  <a:alpha val="0"/>
                </a:schemeClr>
              </a:gs>
              <a:gs pos="100000">
                <a:schemeClr val="accent3">
                  <a:lumMod val="40000"/>
                  <a:lumOff val="60000"/>
                  <a:alpha val="1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dirty="0"/>
          </a:p>
        </p:txBody>
      </p:sp>
      <p:sp>
        <p:nvSpPr>
          <p:cNvPr id="8" name="标题 1"/>
          <p:cNvSpPr txBox="1"/>
          <p:nvPr/>
        </p:nvSpPr>
        <p:spPr>
          <a:xfrm>
            <a:off x="10363982" y="3408388"/>
            <a:ext cx="353916" cy="368016"/>
          </a:xfrm>
          <a:custGeom>
            <a:avLst/>
            <a:gdLst>
              <a:gd name="connsiteX0" fmla="*/ 198153 w 692417"/>
              <a:gd name="connsiteY0" fmla="*/ 663680 h 720001"/>
              <a:gd name="connsiteX1" fmla="*/ 239787 w 692417"/>
              <a:gd name="connsiteY1" fmla="*/ 663680 h 720001"/>
              <a:gd name="connsiteX2" fmla="*/ 295235 w 692417"/>
              <a:gd name="connsiteY2" fmla="*/ 663680 h 720001"/>
              <a:gd name="connsiteX3" fmla="*/ 397182 w 692417"/>
              <a:gd name="connsiteY3" fmla="*/ 663680 h 720001"/>
              <a:gd name="connsiteX4" fmla="*/ 452630 w 692417"/>
              <a:gd name="connsiteY4" fmla="*/ 663680 h 720001"/>
              <a:gd name="connsiteX5" fmla="*/ 494264 w 692417"/>
              <a:gd name="connsiteY5" fmla="*/ 663680 h 720001"/>
              <a:gd name="connsiteX6" fmla="*/ 522425 w 692417"/>
              <a:gd name="connsiteY6" fmla="*/ 691841 h 720001"/>
              <a:gd name="connsiteX7" fmla="*/ 494264 w 692417"/>
              <a:gd name="connsiteY7" fmla="*/ 720001 h 720001"/>
              <a:gd name="connsiteX8" fmla="*/ 452630 w 692417"/>
              <a:gd name="connsiteY8" fmla="*/ 720001 h 720001"/>
              <a:gd name="connsiteX9" fmla="*/ 397182 w 692417"/>
              <a:gd name="connsiteY9" fmla="*/ 720001 h 720001"/>
              <a:gd name="connsiteX10" fmla="*/ 295235 w 692417"/>
              <a:gd name="connsiteY10" fmla="*/ 720001 h 720001"/>
              <a:gd name="connsiteX11" fmla="*/ 239787 w 692417"/>
              <a:gd name="connsiteY11" fmla="*/ 720001 h 720001"/>
              <a:gd name="connsiteX12" fmla="*/ 198153 w 692417"/>
              <a:gd name="connsiteY12" fmla="*/ 720001 h 720001"/>
              <a:gd name="connsiteX13" fmla="*/ 169992 w 692417"/>
              <a:gd name="connsiteY13" fmla="*/ 691841 h 720001"/>
              <a:gd name="connsiteX14" fmla="*/ 198153 w 692417"/>
              <a:gd name="connsiteY14" fmla="*/ 663680 h 720001"/>
              <a:gd name="connsiteX15" fmla="*/ 154400 w 692417"/>
              <a:gd name="connsiteY15" fmla="*/ 572143 h 720001"/>
              <a:gd name="connsiteX16" fmla="*/ 154241 w 692417"/>
              <a:gd name="connsiteY16" fmla="*/ 572597 h 720001"/>
              <a:gd name="connsiteX17" fmla="*/ 160423 w 692417"/>
              <a:gd name="connsiteY17" fmla="*/ 572597 h 720001"/>
              <a:gd name="connsiteX18" fmla="*/ 346215 w 692417"/>
              <a:gd name="connsiteY18" fmla="*/ 0 h 720001"/>
              <a:gd name="connsiteX19" fmla="*/ 456041 w 692417"/>
              <a:gd name="connsiteY19" fmla="*/ 22341 h 720001"/>
              <a:gd name="connsiteX20" fmla="*/ 545873 w 692417"/>
              <a:gd name="connsiteY20" fmla="*/ 82980 h 720001"/>
              <a:gd name="connsiteX21" fmla="*/ 606513 w 692417"/>
              <a:gd name="connsiteY21" fmla="*/ 172812 h 720001"/>
              <a:gd name="connsiteX22" fmla="*/ 628853 w 692417"/>
              <a:gd name="connsiteY22" fmla="*/ 282638 h 720001"/>
              <a:gd name="connsiteX23" fmla="*/ 628853 w 692417"/>
              <a:gd name="connsiteY23" fmla="*/ 493091 h 720001"/>
              <a:gd name="connsiteX24" fmla="*/ 687990 w 692417"/>
              <a:gd name="connsiteY24" fmla="*/ 585551 h 720001"/>
              <a:gd name="connsiteX25" fmla="*/ 688929 w 692417"/>
              <a:gd name="connsiteY25" fmla="*/ 614275 h 720001"/>
              <a:gd name="connsiteX26" fmla="*/ 664336 w 692417"/>
              <a:gd name="connsiteY26" fmla="*/ 628918 h 720001"/>
              <a:gd name="connsiteX27" fmla="*/ 28189 w 692417"/>
              <a:gd name="connsiteY27" fmla="*/ 628918 h 720001"/>
              <a:gd name="connsiteX28" fmla="*/ 3596 w 692417"/>
              <a:gd name="connsiteY28" fmla="*/ 614462 h 720001"/>
              <a:gd name="connsiteX29" fmla="*/ 4159 w 692417"/>
              <a:gd name="connsiteY29" fmla="*/ 585927 h 720001"/>
              <a:gd name="connsiteX30" fmla="*/ 63578 w 692417"/>
              <a:gd name="connsiteY30" fmla="*/ 489336 h 720001"/>
              <a:gd name="connsiteX31" fmla="*/ 63578 w 692417"/>
              <a:gd name="connsiteY31" fmla="*/ 282638 h 720001"/>
              <a:gd name="connsiteX32" fmla="*/ 85919 w 692417"/>
              <a:gd name="connsiteY32" fmla="*/ 172812 h 720001"/>
              <a:gd name="connsiteX33" fmla="*/ 146558 w 692417"/>
              <a:gd name="connsiteY33" fmla="*/ 82980 h 720001"/>
              <a:gd name="connsiteX34" fmla="*/ 236389 w 692417"/>
              <a:gd name="connsiteY34" fmla="*/ 22341 h 720001"/>
              <a:gd name="connsiteX35" fmla="*/ 346215 w 692417"/>
              <a:gd name="connsiteY35" fmla="*/ 0 h 720001"/>
            </a:gdLst>
            <a:ahLst/>
            <a:cxnLst/>
            <a:rect l="l" t="t" r="r" b="b"/>
            <a:pathLst>
              <a:path w="692417" h="720001">
                <a:moveTo>
                  <a:pt x="198153" y="663680"/>
                </a:moveTo>
                <a:lnTo>
                  <a:pt x="239787" y="663680"/>
                </a:lnTo>
                <a:lnTo>
                  <a:pt x="295235" y="663680"/>
                </a:lnTo>
                <a:lnTo>
                  <a:pt x="397182" y="663680"/>
                </a:lnTo>
                <a:lnTo>
                  <a:pt x="452630" y="663680"/>
                </a:lnTo>
                <a:lnTo>
                  <a:pt x="494264" y="663680"/>
                </a:lnTo>
                <a:cubicBezTo>
                  <a:pt x="509847" y="663680"/>
                  <a:pt x="522425" y="676259"/>
                  <a:pt x="522425" y="691841"/>
                </a:cubicBezTo>
                <a:cubicBezTo>
                  <a:pt x="522425" y="707423"/>
                  <a:pt x="509753" y="720001"/>
                  <a:pt x="494264" y="720001"/>
                </a:cubicBezTo>
                <a:lnTo>
                  <a:pt x="452630" y="720001"/>
                </a:lnTo>
                <a:lnTo>
                  <a:pt x="397182" y="720001"/>
                </a:lnTo>
                <a:lnTo>
                  <a:pt x="295235" y="720001"/>
                </a:lnTo>
                <a:lnTo>
                  <a:pt x="239787" y="720001"/>
                </a:lnTo>
                <a:lnTo>
                  <a:pt x="198153" y="720001"/>
                </a:lnTo>
                <a:cubicBezTo>
                  <a:pt x="182571" y="720001"/>
                  <a:pt x="169992" y="707423"/>
                  <a:pt x="169992" y="691841"/>
                </a:cubicBezTo>
                <a:cubicBezTo>
                  <a:pt x="169992" y="676259"/>
                  <a:pt x="182571" y="663680"/>
                  <a:pt x="198153" y="663680"/>
                </a:cubicBezTo>
                <a:close/>
                <a:moveTo>
                  <a:pt x="154400" y="572143"/>
                </a:moveTo>
                <a:lnTo>
                  <a:pt x="154241" y="572597"/>
                </a:lnTo>
                <a:lnTo>
                  <a:pt x="160423" y="572597"/>
                </a:lnTo>
                <a:close/>
                <a:moveTo>
                  <a:pt x="346215" y="0"/>
                </a:moveTo>
                <a:cubicBezTo>
                  <a:pt x="384232" y="0"/>
                  <a:pt x="421122" y="7510"/>
                  <a:pt x="456041" y="22341"/>
                </a:cubicBezTo>
                <a:cubicBezTo>
                  <a:pt x="489646" y="36609"/>
                  <a:pt x="519872" y="57072"/>
                  <a:pt x="545873" y="82980"/>
                </a:cubicBezTo>
                <a:cubicBezTo>
                  <a:pt x="571875" y="108981"/>
                  <a:pt x="592245" y="139207"/>
                  <a:pt x="606513" y="172812"/>
                </a:cubicBezTo>
                <a:cubicBezTo>
                  <a:pt x="621344" y="207637"/>
                  <a:pt x="628853" y="244621"/>
                  <a:pt x="628853" y="282638"/>
                </a:cubicBezTo>
                <a:lnTo>
                  <a:pt x="628853" y="493091"/>
                </a:lnTo>
                <a:lnTo>
                  <a:pt x="687990" y="585551"/>
                </a:lnTo>
                <a:cubicBezTo>
                  <a:pt x="693528" y="594187"/>
                  <a:pt x="693904" y="605263"/>
                  <a:pt x="688929" y="614275"/>
                </a:cubicBezTo>
                <a:cubicBezTo>
                  <a:pt x="684048" y="623286"/>
                  <a:pt x="674567" y="628918"/>
                  <a:pt x="664336" y="628918"/>
                </a:cubicBezTo>
                <a:lnTo>
                  <a:pt x="28189" y="628918"/>
                </a:lnTo>
                <a:cubicBezTo>
                  <a:pt x="17958" y="628918"/>
                  <a:pt x="8571" y="623380"/>
                  <a:pt x="3596" y="614462"/>
                </a:cubicBezTo>
                <a:cubicBezTo>
                  <a:pt x="-1380" y="605545"/>
                  <a:pt x="-1192" y="594656"/>
                  <a:pt x="4159" y="585927"/>
                </a:cubicBezTo>
                <a:lnTo>
                  <a:pt x="63578" y="489336"/>
                </a:lnTo>
                <a:lnTo>
                  <a:pt x="63578" y="282638"/>
                </a:lnTo>
                <a:cubicBezTo>
                  <a:pt x="63578" y="244621"/>
                  <a:pt x="71087" y="207731"/>
                  <a:pt x="85919" y="172812"/>
                </a:cubicBezTo>
                <a:cubicBezTo>
                  <a:pt x="100186" y="139207"/>
                  <a:pt x="120650" y="108981"/>
                  <a:pt x="146558" y="82980"/>
                </a:cubicBezTo>
                <a:cubicBezTo>
                  <a:pt x="172465" y="56978"/>
                  <a:pt x="202785" y="36609"/>
                  <a:pt x="236389" y="22341"/>
                </a:cubicBezTo>
                <a:cubicBezTo>
                  <a:pt x="271214" y="7510"/>
                  <a:pt x="308199" y="0"/>
                  <a:pt x="346215"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2" name="标题 1"/>
          <p:cNvSpPr txBox="1"/>
          <p:nvPr/>
        </p:nvSpPr>
        <p:spPr>
          <a:xfrm>
            <a:off x="10084921" y="4582393"/>
            <a:ext cx="277158" cy="261227"/>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a:off x="0" y="360680"/>
            <a:ext cx="701040" cy="447040"/>
          </a:xfrm>
          <a:prstGeom prst="rect">
            <a:avLst/>
          </a:prstGeom>
          <a:solidFill>
            <a:schemeClr val="accent1"/>
          </a:solidFill>
          <a:ln w="9525"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926774" y="360680"/>
            <a:ext cx="10221286" cy="432000"/>
          </a:xfrm>
          <a:prstGeom prst="rect">
            <a:avLst/>
          </a:prstGeom>
          <a:noFill/>
          <a:ln>
            <a:noFill/>
          </a:ln>
        </p:spPr>
        <p:txBody>
          <a:bodyPr vert="horz" wrap="square" lIns="0" tIns="0" rIns="0" bIns="0" rtlCol="0" anchor="ctr"/>
          <a:lstStyle/>
          <a:p>
            <a:pPr algn="l">
              <a:lnSpc>
                <a:spcPct val="120000"/>
              </a:lnSpc>
            </a:pPr>
            <a:r>
              <a:rPr kumimoji="1" lang="en-US" altLang="zh-CN" sz="3200" dirty="0">
                <a:ln w="12700">
                  <a:noFill/>
                </a:ln>
                <a:solidFill>
                  <a:srgbClr val="000000">
                    <a:alpha val="100000"/>
                  </a:srgbClr>
                </a:solidFill>
                <a:latin typeface="Calibri" charset="0"/>
                <a:ea typeface="Calibri" charset="0"/>
                <a:cs typeface="Calibri" charset="0"/>
              </a:rPr>
              <a:t>DeepSeek-R1</a:t>
            </a:r>
            <a:r>
              <a:rPr kumimoji="1" lang="zh-CN" altLang="en-US" sz="3200" dirty="0">
                <a:ln w="12700">
                  <a:noFill/>
                </a:ln>
                <a:solidFill>
                  <a:srgbClr val="000000">
                    <a:alpha val="100000"/>
                  </a:srgbClr>
                </a:solidFill>
                <a:latin typeface="Calibri" charset="0"/>
                <a:ea typeface="Calibri" charset="0"/>
                <a:cs typeface="Calibri" charset="0"/>
              </a:rPr>
              <a:t>例子</a:t>
            </a:r>
            <a:endParaRPr kumimoji="1" lang="zh-CN" altLang="en-US" dirty="0">
              <a:latin typeface="Calibri" charset="0"/>
              <a:cs typeface="Calibri" charset="0"/>
            </a:endParaRPr>
          </a:p>
        </p:txBody>
      </p:sp>
      <p:pic>
        <p:nvPicPr>
          <p:cNvPr id="5" name="Drawing 25"/>
          <p:cNvPicPr/>
          <p:nvPr/>
        </p:nvPicPr>
        <p:blipFill>
          <a:blip r:embed="rId1"/>
          <a:stretch>
            <a:fillRect/>
          </a:stretch>
        </p:blipFill>
        <p:spPr>
          <a:xfrm>
            <a:off x="190500" y="1644650"/>
            <a:ext cx="5702300" cy="3409950"/>
          </a:xfrm>
          <a:prstGeom prst="rect">
            <a:avLst/>
          </a:prstGeom>
        </p:spPr>
      </p:pic>
      <p:pic>
        <p:nvPicPr>
          <p:cNvPr id="6" name="Drawing 26"/>
          <p:cNvPicPr/>
          <p:nvPr/>
        </p:nvPicPr>
        <p:blipFill>
          <a:blip r:embed="rId2"/>
          <a:stretch>
            <a:fillRect/>
          </a:stretch>
        </p:blipFill>
        <p:spPr>
          <a:xfrm>
            <a:off x="6037417" y="408013"/>
            <a:ext cx="5257800" cy="6000750"/>
          </a:xfrm>
          <a:prstGeom prst="rect">
            <a:avLst/>
          </a:prstGeom>
        </p:spPr>
      </p:pic>
      <p:pic>
        <p:nvPicPr>
          <p:cNvPr id="9" name="Drawing 28"/>
          <p:cNvPicPr/>
          <p:nvPr/>
        </p:nvPicPr>
        <p:blipFill>
          <a:blip r:embed="rId3"/>
          <a:stretch>
            <a:fillRect/>
          </a:stretch>
        </p:blipFill>
        <p:spPr>
          <a:xfrm>
            <a:off x="6864352" y="1516037"/>
            <a:ext cx="5257800" cy="49339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nvSpPr>
        <p:spPr>
          <a:xfrm>
            <a:off x="1595729" y="237847"/>
            <a:ext cx="7344858" cy="790909"/>
          </a:xfrm>
          <a:prstGeom prst="rect">
            <a:avLst/>
          </a:prstGeom>
        </p:spPr>
        <p:txBody>
          <a:bodyPr vert="horz" wrap="square" lIns="0" tIns="0" rIns="0" bIns="0" rtlCol="0" anchor="ctr" anchorCtr="0">
            <a:normAutofit/>
          </a:bodyPr>
          <a:lstStyle>
            <a:lvl1pPr algn="l" defTabSz="685800" rtl="0" eaLnBrk="1" fontAlgn="auto" latinLnBrk="0" hangingPunct="1">
              <a:lnSpc>
                <a:spcPct val="100000"/>
              </a:lnSpc>
              <a:spcBef>
                <a:spcPct val="0"/>
              </a:spcBef>
              <a:buNone/>
              <a:defRPr sz="2400" b="1" u="none" strike="noStrike" kern="1200" cap="none" spc="300" normalizeH="0" baseline="0">
                <a:solidFill>
                  <a:schemeClr val="accent1"/>
                </a:solidFill>
                <a:uFillTx/>
                <a:latin typeface="微软雅黑" charset="-122"/>
                <a:ea typeface="微软雅黑" charset="-122"/>
                <a:cs typeface="微软雅黑" charset="-122"/>
              </a:defRPr>
            </a:lvl1pPr>
          </a:lstStyle>
          <a:p>
            <a:r>
              <a:rPr lang="zh-CN" altLang="en-US" sz="2875"/>
              <a:t>大模型时代</a:t>
            </a:r>
            <a:endParaRPr lang="zh-CN" altLang="en-US" sz="2875"/>
          </a:p>
        </p:txBody>
      </p:sp>
      <p:sp>
        <p:nvSpPr>
          <p:cNvPr id="5" name="object 3"/>
          <p:cNvSpPr txBox="1">
            <a:spLocks noGrp="1"/>
          </p:cNvSpPr>
          <p:nvPr>
            <p:ph type="title"/>
          </p:nvPr>
        </p:nvSpPr>
        <p:spPr>
          <a:xfrm>
            <a:off x="1104003" y="1194778"/>
            <a:ext cx="10473715" cy="340360"/>
          </a:xfrm>
          <a:prstGeom prst="rect">
            <a:avLst/>
          </a:prstGeom>
        </p:spPr>
        <p:txBody>
          <a:bodyPr vert="horz" wrap="square" lIns="0" tIns="8308" rIns="0" bIns="0" rtlCol="0">
            <a:spAutoFit/>
          </a:bodyPr>
          <a:p>
            <a:pPr marL="12700">
              <a:lnSpc>
                <a:spcPct val="100000"/>
              </a:lnSpc>
              <a:spcBef>
                <a:spcPts val="120"/>
              </a:spcBef>
            </a:pPr>
            <a:r>
              <a:rPr sz="2160"/>
              <a:t>美国调查：50%企业已在用ChatGPT，其中48%已让其代替员工</a:t>
            </a:r>
            <a:endParaRPr sz="2160"/>
          </a:p>
        </p:txBody>
      </p:sp>
      <p:pic>
        <p:nvPicPr>
          <p:cNvPr id="6" name="object 4"/>
          <p:cNvPicPr/>
          <p:nvPr/>
        </p:nvPicPr>
        <p:blipFill>
          <a:blip r:embed="rId1" cstate="print"/>
          <a:stretch>
            <a:fillRect/>
          </a:stretch>
        </p:blipFill>
        <p:spPr>
          <a:xfrm>
            <a:off x="1172238" y="1784742"/>
            <a:ext cx="4810401" cy="2585055"/>
          </a:xfrm>
          <a:prstGeom prst="rect">
            <a:avLst/>
          </a:prstGeom>
        </p:spPr>
      </p:pic>
      <p:sp>
        <p:nvSpPr>
          <p:cNvPr id="7" name="object 5"/>
          <p:cNvSpPr txBox="1"/>
          <p:nvPr/>
        </p:nvSpPr>
        <p:spPr>
          <a:xfrm>
            <a:off x="836339" y="4482980"/>
            <a:ext cx="10279827" cy="1466215"/>
          </a:xfrm>
          <a:prstGeom prst="rect">
            <a:avLst/>
          </a:prstGeom>
        </p:spPr>
        <p:txBody>
          <a:bodyPr vert="horz" wrap="square" lIns="0" tIns="81714" rIns="0" bIns="0" rtlCol="0">
            <a:spAutoFit/>
          </a:bodyPr>
          <a:p>
            <a:pPr marL="12700">
              <a:lnSpc>
                <a:spcPct val="150000"/>
              </a:lnSpc>
              <a:spcBef>
                <a:spcPts val="1180"/>
              </a:spcBef>
            </a:pPr>
            <a:r>
              <a:rPr lang="en-US" sz="1200">
                <a:latin typeface="+mj-lt"/>
                <a:ea typeface="+mj-ea"/>
                <a:cs typeface="+mj-cs"/>
              </a:rPr>
              <a:t>       </a:t>
            </a:r>
            <a:r>
              <a:rPr sz="1200">
                <a:latin typeface="+mj-lt"/>
                <a:ea typeface="+mj-ea"/>
                <a:cs typeface="+mj-cs"/>
              </a:rPr>
              <a:t>据央视财经微博2月27日消息，美国《财富》杂志网站近日报道，本月早些时候，一家提供就业服务的平台对1000家企业进行了调查。结果显示：近50%的企业表示，已经在使用ChatGPT，30%表示，有计划使用。在已经使用chatGPT的企业中，48%已经让其代替员工工作。ChatGPT的具体职责包括:客服、代码编写、招聘信息撰写、文案和内容创作、会议记录和文件摘要等。</a:t>
            </a:r>
            <a:endParaRPr sz="1200">
              <a:latin typeface="+mj-lt"/>
              <a:ea typeface="+mj-ea"/>
              <a:cs typeface="+mj-cs"/>
            </a:endParaRPr>
          </a:p>
          <a:p>
            <a:pPr marL="12700" marR="5080" indent="-635" algn="just">
              <a:lnSpc>
                <a:spcPct val="150000"/>
              </a:lnSpc>
            </a:pPr>
            <a:r>
              <a:rPr lang="en-US" sz="1200">
                <a:latin typeface="+mj-lt"/>
                <a:ea typeface="+mj-ea"/>
                <a:cs typeface="+mj-cs"/>
                <a:sym typeface="+mn-ea"/>
              </a:rPr>
              <a:t>       </a:t>
            </a:r>
            <a:r>
              <a:rPr sz="1200">
                <a:latin typeface="+mj-lt"/>
                <a:ea typeface="+mj-ea"/>
                <a:cs typeface="+mj-cs"/>
              </a:rPr>
              <a:t>目前来看，ChatGPT的工作得到了公司的普遍认可。55%给出了“优秀”的评价，34%认为“非常好”。除了工作能力不俗以外，ChatGPT还为企业节省了成本。48%的受访企业称，自使用这款人工智能聊天程序以来，公司节省了超过5万美元的费用。11%表示节省下来的费用高达10多万美元。</a:t>
            </a:r>
            <a:endParaRPr sz="1200">
              <a:latin typeface="+mj-lt"/>
              <a:ea typeface="+mj-ea"/>
              <a:cs typeface="+mj-cs"/>
            </a:endParaRPr>
          </a:p>
        </p:txBody>
      </p:sp>
      <p:pic>
        <p:nvPicPr>
          <p:cNvPr id="8" name="object 6"/>
          <p:cNvPicPr/>
          <p:nvPr/>
        </p:nvPicPr>
        <p:blipFill>
          <a:blip r:embed="rId2" cstate="print"/>
          <a:stretch>
            <a:fillRect/>
          </a:stretch>
        </p:blipFill>
        <p:spPr>
          <a:xfrm>
            <a:off x="6049384" y="1784710"/>
            <a:ext cx="5066714" cy="2585248"/>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nvSpPr>
        <p:spPr>
          <a:xfrm>
            <a:off x="1595729" y="237847"/>
            <a:ext cx="7344858" cy="790909"/>
          </a:xfrm>
          <a:prstGeom prst="rect">
            <a:avLst/>
          </a:prstGeom>
        </p:spPr>
        <p:txBody>
          <a:bodyPr vert="horz" wrap="square" lIns="0" tIns="0" rIns="0" bIns="0" rtlCol="0" anchor="ctr" anchorCtr="0">
            <a:normAutofit/>
          </a:bodyPr>
          <a:lstStyle>
            <a:lvl1pPr algn="l" defTabSz="685800" rtl="0" eaLnBrk="1" fontAlgn="auto" latinLnBrk="0" hangingPunct="1">
              <a:lnSpc>
                <a:spcPct val="100000"/>
              </a:lnSpc>
              <a:spcBef>
                <a:spcPct val="0"/>
              </a:spcBef>
              <a:buNone/>
              <a:defRPr sz="2400" b="1" u="none" strike="noStrike" kern="1200" cap="none" spc="300" normalizeH="0" baseline="0">
                <a:solidFill>
                  <a:schemeClr val="accent1"/>
                </a:solidFill>
                <a:uFillTx/>
                <a:latin typeface="微软雅黑" charset="-122"/>
                <a:ea typeface="微软雅黑" charset="-122"/>
                <a:cs typeface="微软雅黑" charset="-122"/>
              </a:defRPr>
            </a:lvl1pPr>
          </a:lstStyle>
          <a:p>
            <a:r>
              <a:rPr lang="zh-CN" altLang="en-US" sz="2875"/>
              <a:t>大模型时代</a:t>
            </a:r>
            <a:endParaRPr lang="zh-CN" altLang="en-US" sz="2875"/>
          </a:p>
        </p:txBody>
      </p:sp>
      <p:sp>
        <p:nvSpPr>
          <p:cNvPr id="3" name="object 3"/>
          <p:cNvSpPr txBox="1">
            <a:spLocks noGrp="1"/>
          </p:cNvSpPr>
          <p:nvPr>
            <p:ph type="title"/>
          </p:nvPr>
        </p:nvSpPr>
        <p:spPr>
          <a:xfrm>
            <a:off x="887026" y="1184595"/>
            <a:ext cx="9965531" cy="340360"/>
          </a:xfrm>
          <a:prstGeom prst="rect">
            <a:avLst/>
          </a:prstGeom>
        </p:spPr>
        <p:txBody>
          <a:bodyPr vert="horz" wrap="square" lIns="0" tIns="8308" rIns="0" bIns="0" rtlCol="0">
            <a:spAutoFit/>
          </a:bodyPr>
          <a:p>
            <a:pPr marL="12700">
              <a:lnSpc>
                <a:spcPct val="100000"/>
              </a:lnSpc>
              <a:spcBef>
                <a:spcPts val="120"/>
              </a:spcBef>
            </a:pPr>
            <a:r>
              <a:rPr sz="2160" dirty="0"/>
              <a:t>OpenAI CEO承认害怕ChatGPT：AI会取代许多工作</a:t>
            </a:r>
            <a:endParaRPr lang="zh-CN" sz="2160" spc="-125" dirty="0"/>
          </a:p>
        </p:txBody>
      </p:sp>
      <p:sp>
        <p:nvSpPr>
          <p:cNvPr id="4" name="object 4"/>
          <p:cNvSpPr txBox="1"/>
          <p:nvPr/>
        </p:nvSpPr>
        <p:spPr>
          <a:xfrm>
            <a:off x="5228963" y="2099555"/>
            <a:ext cx="4784486" cy="753745"/>
          </a:xfrm>
          <a:prstGeom prst="rect">
            <a:avLst/>
          </a:prstGeom>
        </p:spPr>
        <p:txBody>
          <a:bodyPr vert="horz" wrap="square" lIns="0" tIns="8308" rIns="0" bIns="0" rtlCol="0">
            <a:spAutoFit/>
          </a:bodyPr>
          <a:p>
            <a:pPr marL="12700">
              <a:lnSpc>
                <a:spcPct val="100000"/>
              </a:lnSpc>
              <a:spcBef>
                <a:spcPts val="120"/>
              </a:spcBef>
            </a:pPr>
            <a:r>
              <a:rPr sz="1335" spc="100" dirty="0">
                <a:solidFill>
                  <a:srgbClr val="5E5E5E"/>
                </a:solidFill>
                <a:latin typeface="Adobe Clean Han"/>
                <a:cs typeface="Adobe Clean Han"/>
              </a:rPr>
              <a:t>AI</a:t>
            </a:r>
            <a:r>
              <a:rPr sz="1335" spc="-35" dirty="0">
                <a:solidFill>
                  <a:srgbClr val="5E5E5E"/>
                </a:solidFill>
                <a:latin typeface="Adobe Clean Han"/>
                <a:cs typeface="Adobe Clean Han"/>
              </a:rPr>
              <a:t> 将取代谁的工作，十年前大部分人认为的顺序：</a:t>
            </a:r>
            <a:endParaRPr sz="1335">
              <a:latin typeface="Adobe Clean Han"/>
              <a:cs typeface="Adobe Clean Han"/>
            </a:endParaRPr>
          </a:p>
          <a:p>
            <a:pPr marL="12700">
              <a:lnSpc>
                <a:spcPct val="100000"/>
              </a:lnSpc>
              <a:spcBef>
                <a:spcPts val="2605"/>
              </a:spcBef>
            </a:pPr>
            <a:r>
              <a:rPr sz="1335" spc="-45" dirty="0">
                <a:solidFill>
                  <a:srgbClr val="5E5E5E"/>
                </a:solidFill>
                <a:latin typeface="Adobe Clean Han"/>
                <a:cs typeface="Adobe Clean Han"/>
              </a:rPr>
              <a:t>蓝领 &gt; 低技能白领 &gt; 高技能白领 &gt; 创造性工作</a:t>
            </a:r>
            <a:r>
              <a:rPr sz="1335" spc="-30" dirty="0">
                <a:solidFill>
                  <a:srgbClr val="5E5E5E"/>
                </a:solidFill>
                <a:latin typeface="Adobe Clean Han"/>
                <a:cs typeface="Adobe Clean Han"/>
              </a:rPr>
              <a:t>（也许不会发生</a:t>
            </a:r>
            <a:r>
              <a:rPr sz="1335" spc="-50" dirty="0">
                <a:solidFill>
                  <a:srgbClr val="5E5E5E"/>
                </a:solidFill>
                <a:latin typeface="Adobe Clean Han"/>
                <a:cs typeface="Adobe Clean Han"/>
              </a:rPr>
              <a:t>）</a:t>
            </a:r>
            <a:endParaRPr sz="1335">
              <a:latin typeface="Adobe Clean Han"/>
              <a:cs typeface="Adobe Clean Han"/>
            </a:endParaRPr>
          </a:p>
        </p:txBody>
      </p:sp>
      <p:sp>
        <p:nvSpPr>
          <p:cNvPr id="5" name="object 5"/>
          <p:cNvSpPr txBox="1"/>
          <p:nvPr/>
        </p:nvSpPr>
        <p:spPr>
          <a:xfrm>
            <a:off x="5228963" y="3307694"/>
            <a:ext cx="6081541" cy="988695"/>
          </a:xfrm>
          <a:prstGeom prst="rect">
            <a:avLst/>
          </a:prstGeom>
        </p:spPr>
        <p:txBody>
          <a:bodyPr vert="horz" wrap="square" lIns="0" tIns="8308" rIns="0" bIns="0" rtlCol="0">
            <a:spAutoFit/>
          </a:bodyPr>
          <a:p>
            <a:pPr marL="12700">
              <a:lnSpc>
                <a:spcPct val="100000"/>
              </a:lnSpc>
              <a:spcBef>
                <a:spcPts val="120"/>
              </a:spcBef>
            </a:pPr>
            <a:r>
              <a:rPr sz="1335" dirty="0">
                <a:solidFill>
                  <a:srgbClr val="5E5E5E"/>
                </a:solidFill>
                <a:latin typeface="Adobe Clean Han"/>
                <a:cs typeface="Adobe Clean Han"/>
              </a:rPr>
              <a:t>现在事实证明：AI</a:t>
            </a:r>
            <a:r>
              <a:rPr sz="1335" spc="-35" dirty="0">
                <a:solidFill>
                  <a:srgbClr val="5E5E5E"/>
                </a:solidFill>
                <a:latin typeface="Adobe Clean Han"/>
                <a:cs typeface="Adobe Clean Han"/>
              </a:rPr>
              <a:t> 最有可能取代的反而是创造性工作。</a:t>
            </a:r>
            <a:endParaRPr sz="1335">
              <a:latin typeface="Adobe Clean Han"/>
              <a:cs typeface="Adobe Clean Han"/>
            </a:endParaRPr>
          </a:p>
          <a:p>
            <a:pPr marL="12700" marR="5080">
              <a:lnSpc>
                <a:spcPct val="188000"/>
              </a:lnSpc>
              <a:spcBef>
                <a:spcPts val="5"/>
              </a:spcBef>
            </a:pPr>
            <a:r>
              <a:rPr sz="1335" spc="-35" dirty="0">
                <a:solidFill>
                  <a:srgbClr val="5E5E5E"/>
                </a:solidFill>
                <a:latin typeface="Adobe Clean Han"/>
                <a:cs typeface="Adobe Clean Han"/>
              </a:rPr>
              <a:t>这种预测说明人类可能不够了解自己，不清楚什么类型的技能最难，最需要调动大脑，或者错误估计了控制身体的难度。</a:t>
            </a:r>
            <a:endParaRPr sz="1335">
              <a:latin typeface="Adobe Clean Han"/>
              <a:cs typeface="Adobe Clean Han"/>
            </a:endParaRPr>
          </a:p>
        </p:txBody>
      </p:sp>
      <p:sp>
        <p:nvSpPr>
          <p:cNvPr id="6" name="object 6"/>
          <p:cNvSpPr txBox="1"/>
          <p:nvPr/>
        </p:nvSpPr>
        <p:spPr>
          <a:xfrm>
            <a:off x="8155189" y="4785487"/>
            <a:ext cx="2822987" cy="213995"/>
          </a:xfrm>
          <a:prstGeom prst="rect">
            <a:avLst/>
          </a:prstGeom>
        </p:spPr>
        <p:txBody>
          <a:bodyPr vert="horz" wrap="square" lIns="0" tIns="8308" rIns="0" bIns="0" rtlCol="0">
            <a:spAutoFit/>
          </a:bodyPr>
          <a:p>
            <a:pPr marL="12700">
              <a:lnSpc>
                <a:spcPct val="100000"/>
              </a:lnSpc>
              <a:spcBef>
                <a:spcPts val="120"/>
              </a:spcBef>
            </a:pPr>
            <a:r>
              <a:rPr sz="1335" spc="-170" dirty="0">
                <a:solidFill>
                  <a:srgbClr val="5E5E5E"/>
                </a:solidFill>
                <a:latin typeface="Adobe Clean Han"/>
                <a:cs typeface="Adobe Clean Han"/>
              </a:rPr>
              <a:t>— </a:t>
            </a:r>
            <a:r>
              <a:rPr sz="1335" spc="85" dirty="0">
                <a:solidFill>
                  <a:srgbClr val="5E5E5E"/>
                </a:solidFill>
                <a:latin typeface="Adobe Clean Han"/>
                <a:cs typeface="Adobe Clean Han"/>
              </a:rPr>
              <a:t>OpenAI</a:t>
            </a:r>
            <a:r>
              <a:rPr sz="1335" spc="-15" dirty="0">
                <a:solidFill>
                  <a:srgbClr val="5E5E5E"/>
                </a:solidFill>
                <a:latin typeface="Adobe Clean Han"/>
                <a:cs typeface="Adobe Clean Han"/>
              </a:rPr>
              <a:t> 创始人 </a:t>
            </a:r>
            <a:r>
              <a:rPr sz="1335" spc="120" dirty="0">
                <a:solidFill>
                  <a:srgbClr val="5E5E5E"/>
                </a:solidFill>
                <a:latin typeface="Adobe Clean Han"/>
                <a:cs typeface="Adobe Clean Han"/>
              </a:rPr>
              <a:t>Sam</a:t>
            </a:r>
            <a:r>
              <a:rPr sz="1335" dirty="0">
                <a:solidFill>
                  <a:srgbClr val="5E5E5E"/>
                </a:solidFill>
                <a:latin typeface="Adobe Clean Han"/>
                <a:cs typeface="Adobe Clean Han"/>
              </a:rPr>
              <a:t> </a:t>
            </a:r>
            <a:r>
              <a:rPr sz="1335" spc="85" dirty="0">
                <a:solidFill>
                  <a:srgbClr val="5E5E5E"/>
                </a:solidFill>
                <a:latin typeface="Adobe Clean Han"/>
                <a:cs typeface="Adobe Clean Han"/>
              </a:rPr>
              <a:t>Altman</a:t>
            </a:r>
            <a:endParaRPr sz="1335">
              <a:latin typeface="Adobe Clean Han"/>
              <a:cs typeface="Adobe Clean Han"/>
            </a:endParaRPr>
          </a:p>
        </p:txBody>
      </p:sp>
      <p:pic>
        <p:nvPicPr>
          <p:cNvPr id="7" name="object 7"/>
          <p:cNvPicPr/>
          <p:nvPr/>
        </p:nvPicPr>
        <p:blipFill>
          <a:blip r:embed="rId1" cstate="print"/>
          <a:stretch>
            <a:fillRect/>
          </a:stretch>
        </p:blipFill>
        <p:spPr>
          <a:xfrm>
            <a:off x="822889" y="1890430"/>
            <a:ext cx="4327837" cy="289473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nvSpPr>
        <p:spPr>
          <a:xfrm>
            <a:off x="1595729" y="237847"/>
            <a:ext cx="7344858" cy="790909"/>
          </a:xfrm>
          <a:prstGeom prst="rect">
            <a:avLst/>
          </a:prstGeom>
        </p:spPr>
        <p:txBody>
          <a:bodyPr vert="horz" wrap="square" lIns="0" tIns="0" rIns="0" bIns="0" rtlCol="0" anchor="ctr" anchorCtr="0">
            <a:normAutofit/>
          </a:bodyPr>
          <a:lstStyle>
            <a:lvl1pPr algn="l" defTabSz="685800" rtl="0" eaLnBrk="1" fontAlgn="auto" latinLnBrk="0" hangingPunct="1">
              <a:lnSpc>
                <a:spcPct val="100000"/>
              </a:lnSpc>
              <a:spcBef>
                <a:spcPct val="0"/>
              </a:spcBef>
              <a:buNone/>
              <a:defRPr sz="2400" b="1" u="none" strike="noStrike" kern="1200" cap="none" spc="300" normalizeH="0" baseline="0">
                <a:solidFill>
                  <a:schemeClr val="accent1"/>
                </a:solidFill>
                <a:uFillTx/>
                <a:latin typeface="微软雅黑" charset="-122"/>
                <a:ea typeface="微软雅黑" charset="-122"/>
                <a:cs typeface="微软雅黑" charset="-122"/>
              </a:defRPr>
            </a:lvl1pPr>
          </a:lstStyle>
          <a:p>
            <a:r>
              <a:rPr lang="zh-CN" altLang="en-US" sz="2875"/>
              <a:t>大模型是把“双刃剑”</a:t>
            </a:r>
            <a:endParaRPr lang="zh-CN" altLang="en-US" sz="2875"/>
          </a:p>
        </p:txBody>
      </p:sp>
      <p:pic>
        <p:nvPicPr>
          <p:cNvPr id="8" name="Picture Placeholder 7"/>
          <p:cNvPicPr>
            <a:picLocks noChangeAspect="1"/>
          </p:cNvPicPr>
          <p:nvPr>
            <p:ph type="pic" idx="1"/>
          </p:nvPr>
        </p:nvPicPr>
        <p:blipFill>
          <a:blip r:embed="rId1"/>
          <a:stretch>
            <a:fillRect/>
          </a:stretch>
        </p:blipFill>
        <p:spPr>
          <a:xfrm>
            <a:off x="2866467" y="1105441"/>
            <a:ext cx="6811559" cy="3554618"/>
          </a:xfrm>
          <a:prstGeom prst="rect">
            <a:avLst/>
          </a:prstGeom>
        </p:spPr>
      </p:pic>
      <p:pic>
        <p:nvPicPr>
          <p:cNvPr id="11" name="Picture 10"/>
          <p:cNvPicPr>
            <a:picLocks noChangeAspect="1"/>
          </p:cNvPicPr>
          <p:nvPr/>
        </p:nvPicPr>
        <p:blipFill>
          <a:blip r:embed="rId2"/>
          <a:stretch>
            <a:fillRect/>
          </a:stretch>
        </p:blipFill>
        <p:spPr>
          <a:xfrm>
            <a:off x="1129127" y="5959639"/>
            <a:ext cx="9878169" cy="790254"/>
          </a:xfrm>
          <a:prstGeom prst="rect">
            <a:avLst/>
          </a:prstGeom>
        </p:spPr>
      </p:pic>
      <p:sp>
        <p:nvSpPr>
          <p:cNvPr id="9" name="Text Box 8"/>
          <p:cNvSpPr txBox="1"/>
          <p:nvPr/>
        </p:nvSpPr>
        <p:spPr>
          <a:xfrm>
            <a:off x="3115419" y="4736953"/>
            <a:ext cx="6562607" cy="1861185"/>
          </a:xfrm>
          <a:prstGeom prst="rect">
            <a:avLst/>
          </a:prstGeom>
          <a:noFill/>
        </p:spPr>
        <p:txBody>
          <a:bodyPr wrap="square" rtlCol="0">
            <a:spAutoFit/>
          </a:bodyPr>
          <a:p>
            <a:pPr marL="285750" indent="-285750">
              <a:buFont typeface="Arial" panose="020B0604020202090204" pitchFamily="34" charset="0"/>
              <a:buChar char="•"/>
            </a:pPr>
            <a:r>
              <a:rPr lang="en-US" sz="1920"/>
              <a:t>Data Theft (数据盗窃)</a:t>
            </a:r>
            <a:endParaRPr lang="en-US" sz="1920"/>
          </a:p>
          <a:p>
            <a:pPr marL="285750" indent="-285750">
              <a:buFont typeface="Arial" panose="020B0604020202090204" pitchFamily="34" charset="0"/>
              <a:buChar char="•"/>
            </a:pPr>
            <a:r>
              <a:rPr lang="en-US" sz="1920"/>
              <a:t>Malware Development (恶意软件开发/</a:t>
            </a:r>
            <a:r>
              <a:rPr lang="zh-CN" altLang="en-US" sz="1920"/>
              <a:t>不安全代码生成</a:t>
            </a:r>
            <a:r>
              <a:rPr lang="en-US" sz="1920"/>
              <a:t>)</a:t>
            </a:r>
            <a:endParaRPr lang="en-US" sz="1920"/>
          </a:p>
          <a:p>
            <a:pPr marL="285750" indent="-285750">
              <a:buFont typeface="Arial" panose="020B0604020202090204" pitchFamily="34" charset="0"/>
              <a:buChar char="•"/>
            </a:pPr>
            <a:r>
              <a:rPr lang="en-US" sz="1920"/>
              <a:t>Phishing Emails (网络钓鱼邮件)</a:t>
            </a:r>
            <a:endParaRPr lang="en-US" sz="1920"/>
          </a:p>
          <a:p>
            <a:pPr marL="285750" indent="-285750">
              <a:buFont typeface="Arial" panose="020B0604020202090204" pitchFamily="34" charset="0"/>
              <a:buChar char="•"/>
            </a:pPr>
            <a:r>
              <a:rPr lang="en-US" sz="1920"/>
              <a:t>Impersonation (冒充行为)</a:t>
            </a:r>
            <a:endParaRPr lang="en-US" sz="1920"/>
          </a:p>
          <a:p>
            <a:pPr marL="285750" indent="-285750">
              <a:buFont typeface="Arial" panose="020B0604020202090204" pitchFamily="34" charset="0"/>
              <a:buChar char="•"/>
            </a:pPr>
            <a:r>
              <a:rPr lang="en-US" sz="1920"/>
              <a:t>Spam (垃圾邮件)</a:t>
            </a:r>
            <a:endParaRPr lang="en-US" sz="1920"/>
          </a:p>
          <a:p>
            <a:pPr marL="285750" indent="-285750">
              <a:buFont typeface="Arial" panose="020B0604020202090204" pitchFamily="34" charset="0"/>
              <a:buChar char="•"/>
            </a:pPr>
            <a:r>
              <a:rPr lang="en-US" sz="1920"/>
              <a:t>Misinformation (错误信息)</a:t>
            </a:r>
            <a:endParaRPr lang="en-US" sz="1920"/>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nvSpPr>
        <p:spPr>
          <a:xfrm>
            <a:off x="1595729" y="237847"/>
            <a:ext cx="7344858" cy="790909"/>
          </a:xfrm>
          <a:prstGeom prst="rect">
            <a:avLst/>
          </a:prstGeom>
        </p:spPr>
        <p:txBody>
          <a:bodyPr vert="horz" wrap="square" lIns="0" tIns="0" rIns="0" bIns="0" rtlCol="0" anchor="ctr" anchorCtr="0">
            <a:normAutofit/>
          </a:bodyPr>
          <a:lstStyle>
            <a:lvl1pPr algn="l" defTabSz="685800" rtl="0" eaLnBrk="1" fontAlgn="auto" latinLnBrk="0" hangingPunct="1">
              <a:lnSpc>
                <a:spcPct val="100000"/>
              </a:lnSpc>
              <a:spcBef>
                <a:spcPct val="0"/>
              </a:spcBef>
              <a:buNone/>
              <a:defRPr sz="2400" b="1" u="none" strike="noStrike" kern="1200" cap="none" spc="300" normalizeH="0" baseline="0">
                <a:solidFill>
                  <a:schemeClr val="accent1"/>
                </a:solidFill>
                <a:uFillTx/>
                <a:latin typeface="微软雅黑" charset="-122"/>
                <a:ea typeface="微软雅黑" charset="-122"/>
                <a:cs typeface="微软雅黑" charset="-122"/>
              </a:defRPr>
            </a:lvl1pPr>
          </a:lstStyle>
          <a:p>
            <a:r>
              <a:rPr lang="zh-CN" altLang="en-US" sz="2875"/>
              <a:t>大模型是把“双刃剑”</a:t>
            </a:r>
            <a:endParaRPr lang="zh-CN" altLang="en-US" sz="2875"/>
          </a:p>
        </p:txBody>
      </p:sp>
      <p:pic>
        <p:nvPicPr>
          <p:cNvPr id="5" name="Picture Placeholder 4"/>
          <p:cNvPicPr>
            <a:picLocks noChangeAspect="1"/>
          </p:cNvPicPr>
          <p:nvPr>
            <p:ph type="pic" idx="1"/>
          </p:nvPr>
        </p:nvPicPr>
        <p:blipFill>
          <a:blip r:embed="rId1"/>
          <a:stretch>
            <a:fillRect/>
          </a:stretch>
        </p:blipFill>
        <p:spPr>
          <a:xfrm>
            <a:off x="1974957" y="2124853"/>
            <a:ext cx="4704978" cy="3223443"/>
          </a:xfrm>
          <a:prstGeom prst="rect">
            <a:avLst/>
          </a:prstGeom>
        </p:spPr>
      </p:pic>
      <p:pic>
        <p:nvPicPr>
          <p:cNvPr id="3" name="Picture 2" descr="0"/>
          <p:cNvPicPr>
            <a:picLocks noChangeAspect="1"/>
          </p:cNvPicPr>
          <p:nvPr/>
        </p:nvPicPr>
        <p:blipFill>
          <a:blip r:embed="rId2"/>
          <a:stretch>
            <a:fillRect/>
          </a:stretch>
        </p:blipFill>
        <p:spPr>
          <a:xfrm>
            <a:off x="7820397" y="1122952"/>
            <a:ext cx="2813089" cy="4988190"/>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
          <p:cNvSpPr>
            <a:spLocks noChangeArrowheads="1"/>
          </p:cNvSpPr>
          <p:nvPr>
            <p:custDataLst>
              <p:tags r:id="rId1"/>
            </p:custDataLst>
          </p:nvPr>
        </p:nvSpPr>
        <p:spPr bwMode="auto">
          <a:xfrm>
            <a:off x="1025525" y="2178050"/>
            <a:ext cx="10140315"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scene3d>
              <a:camera prst="orthographicFront"/>
              <a:lightRig rig="threePt" dir="t"/>
            </a:scene3d>
          </a:bodyPr>
          <a:lstStyle>
            <a:lvl1pPr marL="214630" indent="-21463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40000"/>
              </a:lnSpc>
              <a:buFontTx/>
              <a:buChar char="•"/>
            </a:pPr>
            <a:r>
              <a:rPr lang="zh-CN" sz="2800" dirty="0">
                <a:solidFill>
                  <a:srgbClr val="AA0001"/>
                </a:solidFill>
                <a:latin typeface="+mj-lt"/>
                <a:ea typeface="+mj-ea"/>
                <a:cs typeface="+mj-cs"/>
              </a:rPr>
              <a:t>选择一个实际案例，可以是大数据处理，也可以是其他领域的应用，例如社交媒体分析、金融数据建模等。然后，详细谈一谈你认为案例中所需要的与数据结构有关的知识有哪些？</a:t>
            </a:r>
            <a:endParaRPr lang="zh-CN" sz="2800" dirty="0">
              <a:solidFill>
                <a:srgbClr val="AA0001"/>
              </a:solidFill>
              <a:latin typeface="+mj-lt"/>
              <a:ea typeface="+mj-ea"/>
              <a:cs typeface="+mj-cs"/>
            </a:endParaRPr>
          </a:p>
          <a:p>
            <a:pPr marL="0" indent="0">
              <a:lnSpc>
                <a:spcPct val="140000"/>
              </a:lnSpc>
              <a:buFontTx/>
              <a:buNone/>
            </a:pPr>
            <a:endParaRPr lang="en-US" altLang="zh-CN" sz="2800" i="1" dirty="0" smtClean="0">
              <a:solidFill>
                <a:schemeClr val="accent1"/>
              </a:solidFill>
              <a:effectLst>
                <a:outerShdw blurRad="38100" dist="25400" dir="5400000" algn="ctr" rotWithShape="0">
                  <a:srgbClr val="6E747A">
                    <a:alpha val="43000"/>
                    <a:alpha val="43000"/>
                  </a:srgbClr>
                </a:outerShdw>
              </a:effectLst>
              <a:latin typeface="+mn-lt"/>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tags/tag1.xml><?xml version="1.0" encoding="utf-8"?>
<p:tagLst xmlns:p="http://schemas.openxmlformats.org/presentationml/2006/main">
  <p:tag name="KSO_WM_UNIT_PLACING_PICTURE_USER_VIEWPORT" val="{&quot;height&quot;:589,&quot;width&quot;:2604}"/>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5830_4*m_h_i*1_1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9.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30_4*m_h_f*1_1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05830_4*m_h_i*1_3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1.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05830_4*m_h_f*1_3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20205830_4*m_h_i*1_5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3.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5_1"/>
  <p:tag name="KSO_WM_UNIT_ID" val="diagram20205830_4*m_h_f*1_5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05830_4*m_h_i*1_2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5.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5830_4*m_h_f*1_2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2"/>
  <p:tag name="KSO_WM_UNIT_ID" val="diagram20205830_4*m_h_i*1_4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7.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205830_4*m_h_f*1_4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8.xml><?xml version="1.0" encoding="utf-8"?>
<p:tagLst xmlns:p="http://schemas.openxmlformats.org/presentationml/2006/main">
  <p:tag name="KSO_WM_SLIDE_ITEM_CNT" val="5"/>
</p:tagLst>
</file>

<file path=ppt/tags/tag19.xml><?xml version="1.0" encoding="utf-8"?>
<p:tagLst xmlns:p="http://schemas.openxmlformats.org/presentationml/2006/main">
  <p:tag name="KSO_WM_UNIT_PLACING_PICTURE_USER_VIEWPORT" val="{&quot;height&quot;:589,&quot;width&quot;:2604}"/>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5830_4*m_h_i*1_1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21.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30_4*m_h_f*1_1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SLIDE_ITEM_CNT" val="5"/>
</p:tagLst>
</file>

<file path=ppt/tags/tag89.xml><?xml version="1.0" encoding="utf-8"?>
<p:tagLst xmlns:p="http://schemas.openxmlformats.org/presentationml/2006/main">
  <p:tag name="KSO_WM_UNIT_PLACING_PICTURE_USER_VIEWPORT" val="{&quot;height&quot;:589,&quot;width&quot;:2604}"/>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5830_4*m_h_i*1_1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91.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30_4*m_h_f*1_1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SLIDE_ITEM_CNT" val="5"/>
</p:tagLst>
</file>

<file path=ppt/tags/tag157.xml><?xml version="1.0" encoding="utf-8"?>
<p:tagLst xmlns:p="http://schemas.openxmlformats.org/presentationml/2006/main">
  <p:tag name="KSO_WM_UNIT_PLACING_PICTURE_USER_VIEWPORT" val="{&quot;height&quot;:589,&quot;width&quot;:2604}"/>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19192_3*l_h_i*1_1_1"/>
  <p:tag name="KSO_WM_TEMPLATE_CATEGORY" val="diagram"/>
  <p:tag name="KSO_WM_TEMPLATE_INDEX" val="20219192"/>
  <p:tag name="KSO_WM_UNIT_LAYERLEVEL" val="1_1_1"/>
  <p:tag name="KSO_WM_TAG_VERSION" val="1.0"/>
  <p:tag name="KSO_WM_BEAUTIFY_FLAG" val="#wm#"/>
  <p:tag name="KSO_WM_CHIP_GROUPID" val="60b9ded2d573a1aeab43bc99"/>
  <p:tag name="KSO_WM_CHIP_XID" val="60b9ded2d573a1aeab43bc9a"/>
  <p:tag name="KSO_WM_ASSEMBLE_CHIP_INDEX" val="b6eb0b8731c64f41a4208d4ca88effea"/>
  <p:tag name="KSO_WM_UNIT_VALUE" val="4"/>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9192_3*l_h_i*1_1_2"/>
  <p:tag name="KSO_WM_TEMPLATE_CATEGORY" val="diagram"/>
  <p:tag name="KSO_WM_TEMPLATE_INDEX" val="20219192"/>
  <p:tag name="KSO_WM_UNIT_LAYERLEVEL" val="1_1_1"/>
  <p:tag name="KSO_WM_TAG_VERSION" val="1.0"/>
  <p:tag name="KSO_WM_BEAUTIFY_FLAG" val="#wm#"/>
  <p:tag name="KSO_WM_CHIP_GROUPID" val="60b9ded2d573a1aeab43bc99"/>
  <p:tag name="KSO_WM_CHIP_XID" val="60b9ded2d573a1aeab43bc9a"/>
  <p:tag name="KSO_WM_ASSEMBLE_CHIP_INDEX" val="b6eb0b8731c64f41a4208d4ca88effea"/>
  <p:tag name="KSO_WM_UNIT_VALUE" val="0"/>
  <p:tag name="KSO_WM_UNIT_FILL_FORE_SCHEMECOLOR_INDEX_BRIGHTNESS" val="0.15"/>
  <p:tag name="KSO_WM_UNIT_FILL_FORE_SCHEMECOLOR_INDEX" val="13"/>
  <p:tag name="KSO_WM_UNIT_FILL_TYPE" val="1"/>
  <p:tag name="KSO_WM_UNIT_LINE_FORE_SCHEMECOLOR_INDEX_BRIGHTNESS" val="0"/>
  <p:tag name="KSO_WM_UNIT_LINE_FORE_SCHEMECOLOR_INDEX" val="5"/>
  <p:tag name="KSO_WM_UNIT_LINE_FILL_TYPE" val="2"/>
  <p:tag name="KSO_WM_UNIT_USESOURCEFORMAT_APPLY" val="1"/>
</p:tagLst>
</file>

<file path=ppt/tags/tag16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19192_3*l_h_f*1_1_1"/>
  <p:tag name="KSO_WM_TEMPLATE_CATEGORY" val="diagram"/>
  <p:tag name="KSO_WM_TEMPLATE_INDEX" val="20219192"/>
  <p:tag name="KSO_WM_UNIT_LAYERLEVEL" val="1_1_1"/>
  <p:tag name="KSO_WM_TAG_VERSION" val="1.0"/>
  <p:tag name="KSO_WM_BEAUTIFY_FLAG" val="#wm#"/>
  <p:tag name="KSO_WM_UNIT_PRESET_TEXT" val="输入你的正文文字是你思想的提炼为了最终良好的效果"/>
  <p:tag name="KSO_WM_CHIP_GROUPID" val="60b9ded2d573a1aeab43bc99"/>
  <p:tag name="KSO_WM_CHIP_XID" val="60b9ded2d573a1aeab43bc9a"/>
  <p:tag name="KSO_WM_ASSEMBLE_CHIP_INDEX" val="b6eb0b8731c64f41a4208d4ca88effea"/>
  <p:tag name="KSO_WM_UNIT_VALUE" val="34"/>
  <p:tag name="KSO_WM_UNIT_TEXT_FILL_FORE_SCHEMECOLOR_INDEX_BRIGHTNESS" val="0.15"/>
  <p:tag name="KSO_WM_UNIT_TEXT_FILL_FORE_SCHEMECOLOR_INDEX" val="13"/>
  <p:tag name="KSO_WM_UNIT_TEXT_FILL_TYPE" val="1"/>
  <p:tag name="KSO_WM_UNIT_USESOURCEFORMAT_APPLY"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19192_3*l_h_i*1_2_1"/>
  <p:tag name="KSO_WM_TEMPLATE_CATEGORY" val="diagram"/>
  <p:tag name="KSO_WM_TEMPLATE_INDEX" val="20219192"/>
  <p:tag name="KSO_WM_UNIT_LAYERLEVEL" val="1_1_1"/>
  <p:tag name="KSO_WM_TAG_VERSION" val="1.0"/>
  <p:tag name="KSO_WM_BEAUTIFY_FLAG" val="#wm#"/>
  <p:tag name="KSO_WM_CHIP_GROUPID" val="60b9ded2d573a1aeab43bc99"/>
  <p:tag name="KSO_WM_CHIP_XID" val="60b9ded2d573a1aeab43bc9a"/>
  <p:tag name="KSO_WM_ASSEMBLE_CHIP_INDEX" val="b6eb0b8731c64f41a4208d4ca88effea"/>
  <p:tag name="KSO_WM_UNIT_VALUE" val="4"/>
  <p:tag name="KSO_WM_UNIT_FILL_FORE_SCHEMECOLOR_INDEX_BRIGHTNESS" val="0"/>
  <p:tag name="KSO_WM_UNIT_FILL_FORE_SCHEMECOLOR_INDEX" val="14"/>
  <p:tag name="KSO_WM_UNIT_FILL_TYPE" val="1"/>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19192_3*l_h_i*1_2_2"/>
  <p:tag name="KSO_WM_TEMPLATE_CATEGORY" val="diagram"/>
  <p:tag name="KSO_WM_TEMPLATE_INDEX" val="20219192"/>
  <p:tag name="KSO_WM_UNIT_LAYERLEVEL" val="1_1_1"/>
  <p:tag name="KSO_WM_TAG_VERSION" val="1.0"/>
  <p:tag name="KSO_WM_BEAUTIFY_FLAG" val="#wm#"/>
  <p:tag name="KSO_WM_CHIP_GROUPID" val="60b9ded2d573a1aeab43bc99"/>
  <p:tag name="KSO_WM_CHIP_XID" val="60b9ded2d573a1aeab43bc9a"/>
  <p:tag name="KSO_WM_ASSEMBLE_CHIP_INDEX" val="b6eb0b8731c64f41a4208d4ca88effea"/>
  <p:tag name="KSO_WM_UNIT_VALUE" val="0"/>
  <p:tag name="KSO_WM_UNIT_FILL_FORE_SCHEMECOLOR_INDEX_BRIGHTNESS" val="0.15"/>
  <p:tag name="KSO_WM_UNIT_FILL_FORE_SCHEMECOLOR_INDEX" val="13"/>
  <p:tag name="KSO_WM_UNIT_FILL_TYPE" val="1"/>
  <p:tag name="KSO_WM_UNIT_LINE_FORE_SCHEMECOLOR_INDEX_BRIGHTNESS" val="0"/>
  <p:tag name="KSO_WM_UNIT_LINE_FORE_SCHEMECOLOR_INDEX" val="6"/>
  <p:tag name="KSO_WM_UNIT_LINE_FILL_TYPE" val="2"/>
  <p:tag name="KSO_WM_UNIT_USESOURCEFORMAT_APPLY" val="1"/>
</p:tagLst>
</file>

<file path=ppt/tags/tag16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9192_3*l_h_f*1_2_1"/>
  <p:tag name="KSO_WM_TEMPLATE_CATEGORY" val="diagram"/>
  <p:tag name="KSO_WM_TEMPLATE_INDEX" val="20219192"/>
  <p:tag name="KSO_WM_UNIT_LAYERLEVEL" val="1_1_1"/>
  <p:tag name="KSO_WM_TAG_VERSION" val="1.0"/>
  <p:tag name="KSO_WM_BEAUTIFY_FLAG" val="#wm#"/>
  <p:tag name="KSO_WM_UNIT_PRESET_TEXT" val="输入你的正文文字是你思想的提炼为了最终良好的效果"/>
  <p:tag name="KSO_WM_CHIP_GROUPID" val="60b9ded2d573a1aeab43bc99"/>
  <p:tag name="KSO_WM_CHIP_XID" val="60b9ded2d573a1aeab43bc9a"/>
  <p:tag name="KSO_WM_ASSEMBLE_CHIP_INDEX" val="b6eb0b8731c64f41a4208d4ca88effea"/>
  <p:tag name="KSO_WM_UNIT_VALUE" val="34"/>
  <p:tag name="KSO_WM_UNIT_TEXT_FILL_FORE_SCHEMECOLOR_INDEX_BRIGHTNESS" val="0.15"/>
  <p:tag name="KSO_WM_UNIT_TEXT_FILL_FORE_SCHEMECOLOR_INDEX" val="13"/>
  <p:tag name="KSO_WM_UNIT_TEXT_FILL_TYPE" val="1"/>
  <p:tag name="KSO_WM_UNIT_USESOURCEFORMAT_APPLY"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19192_3*l_h_i*1_3_1"/>
  <p:tag name="KSO_WM_TEMPLATE_CATEGORY" val="diagram"/>
  <p:tag name="KSO_WM_TEMPLATE_INDEX" val="20219192"/>
  <p:tag name="KSO_WM_UNIT_LAYERLEVEL" val="1_1_1"/>
  <p:tag name="KSO_WM_TAG_VERSION" val="1.0"/>
  <p:tag name="KSO_WM_BEAUTIFY_FLAG" val="#wm#"/>
  <p:tag name="KSO_WM_CHIP_GROUPID" val="60b9ded2d573a1aeab43bc99"/>
  <p:tag name="KSO_WM_CHIP_XID" val="60b9ded2d573a1aeab43bc9a"/>
  <p:tag name="KSO_WM_ASSEMBLE_CHIP_INDEX" val="b6eb0b8731c64f41a4208d4ca88effea"/>
  <p:tag name="KSO_WM_UNIT_VALUE" val="4"/>
  <p:tag name="KSO_WM_UNIT_FILL_FORE_SCHEMECOLOR_INDEX_BRIGHTNESS" val="0"/>
  <p:tag name="KSO_WM_UNIT_FILL_FORE_SCHEMECOLOR_INDEX" val="14"/>
  <p:tag name="KSO_WM_UNIT_FILL_TYPE" val="1"/>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19192_3*l_h_i*1_3_2"/>
  <p:tag name="KSO_WM_TEMPLATE_CATEGORY" val="diagram"/>
  <p:tag name="KSO_WM_TEMPLATE_INDEX" val="20219192"/>
  <p:tag name="KSO_WM_UNIT_LAYERLEVEL" val="1_1_1"/>
  <p:tag name="KSO_WM_TAG_VERSION" val="1.0"/>
  <p:tag name="KSO_WM_BEAUTIFY_FLAG" val="#wm#"/>
  <p:tag name="KSO_WM_CHIP_GROUPID" val="60b9ded2d573a1aeab43bc99"/>
  <p:tag name="KSO_WM_CHIP_XID" val="60b9ded2d573a1aeab43bc9a"/>
  <p:tag name="KSO_WM_ASSEMBLE_CHIP_INDEX" val="b6eb0b8731c64f41a4208d4ca88effea"/>
  <p:tag name="KSO_WM_UNIT_VALUE" val="0"/>
  <p:tag name="KSO_WM_UNIT_FILL_FORE_SCHEMECOLOR_INDEX_BRIGHTNESS" val="0.15"/>
  <p:tag name="KSO_WM_UNIT_FILL_FORE_SCHEMECOLOR_INDEX" val="13"/>
  <p:tag name="KSO_WM_UNIT_FILL_TYPE" val="1"/>
  <p:tag name="KSO_WM_UNIT_LINE_FORE_SCHEMECOLOR_INDEX_BRIGHTNESS" val="0"/>
  <p:tag name="KSO_WM_UNIT_LINE_FORE_SCHEMECOLOR_INDEX" val="7"/>
  <p:tag name="KSO_WM_UNIT_LINE_FILL_TYPE" val="2"/>
  <p:tag name="KSO_WM_UNIT_USESOURCEFORMAT_APPLY" val="1"/>
</p:tagLst>
</file>

<file path=ppt/tags/tag16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19192_3*l_h_f*1_3_1"/>
  <p:tag name="KSO_WM_TEMPLATE_CATEGORY" val="diagram"/>
  <p:tag name="KSO_WM_TEMPLATE_INDEX" val="20219192"/>
  <p:tag name="KSO_WM_UNIT_LAYERLEVEL" val="1_1_1"/>
  <p:tag name="KSO_WM_TAG_VERSION" val="1.0"/>
  <p:tag name="KSO_WM_BEAUTIFY_FLAG" val="#wm#"/>
  <p:tag name="KSO_WM_UNIT_PRESET_TEXT" val="输入你的正文文字是你思想的提炼为了最终良好的效果"/>
  <p:tag name="KSO_WM_CHIP_GROUPID" val="60b9ded2d573a1aeab43bc99"/>
  <p:tag name="KSO_WM_CHIP_XID" val="60b9ded2d573a1aeab43bc9a"/>
  <p:tag name="KSO_WM_ASSEMBLE_CHIP_INDEX" val="b6eb0b8731c64f41a4208d4ca88effea"/>
  <p:tag name="KSO_WM_UNIT_VALUE" val="34"/>
  <p:tag name="KSO_WM_UNIT_TEXT_FILL_FORE_SCHEMECOLOR_INDEX_BRIGHTNESS" val="0.15"/>
  <p:tag name="KSO_WM_UNIT_TEXT_FILL_FORE_SCHEMECOLOR_INDEX" val="13"/>
  <p:tag name="KSO_WM_UNIT_TEXT_FILL_TYPE" val="1"/>
  <p:tag name="KSO_WM_UNIT_USESOURCEFORMAT_APPLY"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19192_3*l_h_i*1_4_1"/>
  <p:tag name="KSO_WM_TEMPLATE_CATEGORY" val="diagram"/>
  <p:tag name="KSO_WM_TEMPLATE_INDEX" val="20219192"/>
  <p:tag name="KSO_WM_UNIT_LAYERLEVEL" val="1_1_1"/>
  <p:tag name="KSO_WM_TAG_VERSION" val="1.0"/>
  <p:tag name="KSO_WM_BEAUTIFY_FLAG" val="#wm#"/>
  <p:tag name="KSO_WM_CHIP_GROUPID" val="60b9ded2d573a1aeab43bc99"/>
  <p:tag name="KSO_WM_CHIP_XID" val="60b9ded2d573a1aeab43bc9a"/>
  <p:tag name="KSO_WM_ASSEMBLE_CHIP_INDEX" val="b6eb0b8731c64f41a4208d4ca88effea"/>
  <p:tag name="KSO_WM_UNIT_VALUE" val="4"/>
  <p:tag name="KSO_WM_UNIT_FILL_FORE_SCHEMECOLOR_INDEX_BRIGHTNESS" val="0"/>
  <p:tag name="KSO_WM_UNIT_FILL_FORE_SCHEMECOLOR_INDEX" val="14"/>
  <p:tag name="KSO_WM_UNIT_FILL_TYPE" val="1"/>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19192_3*l_h_i*1_4_2"/>
  <p:tag name="KSO_WM_TEMPLATE_CATEGORY" val="diagram"/>
  <p:tag name="KSO_WM_TEMPLATE_INDEX" val="20219192"/>
  <p:tag name="KSO_WM_UNIT_LAYERLEVEL" val="1_1_1"/>
  <p:tag name="KSO_WM_TAG_VERSION" val="1.0"/>
  <p:tag name="KSO_WM_BEAUTIFY_FLAG" val="#wm#"/>
  <p:tag name="KSO_WM_CHIP_GROUPID" val="60b9ded2d573a1aeab43bc99"/>
  <p:tag name="KSO_WM_CHIP_XID" val="60b9ded2d573a1aeab43bc9a"/>
  <p:tag name="KSO_WM_ASSEMBLE_CHIP_INDEX" val="b6eb0b8731c64f41a4208d4ca88effea"/>
  <p:tag name="KSO_WM_UNIT_VALUE" val="0"/>
  <p:tag name="KSO_WM_UNIT_FILL_FORE_SCHEMECOLOR_INDEX_BRIGHTNESS" val="0.15"/>
  <p:tag name="KSO_WM_UNIT_FILL_FORE_SCHEMECOLOR_INDEX" val="13"/>
  <p:tag name="KSO_WM_UNIT_FILL_TYPE" val="1"/>
  <p:tag name="KSO_WM_UNIT_LINE_FORE_SCHEMECOLOR_INDEX_BRIGHTNESS" val="0"/>
  <p:tag name="KSO_WM_UNIT_LINE_FORE_SCHEMECOLOR_INDEX" val="8"/>
  <p:tag name="KSO_WM_UNIT_LINE_FILL_TYPE" val="2"/>
  <p:tag name="KSO_WM_UNIT_USESOURCEFORMAT_APPLY" val="1"/>
</p:tagLst>
</file>

<file path=ppt/tags/tag16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19192_3*l_h_f*1_4_1"/>
  <p:tag name="KSO_WM_TEMPLATE_CATEGORY" val="diagram"/>
  <p:tag name="KSO_WM_TEMPLATE_INDEX" val="20219192"/>
  <p:tag name="KSO_WM_UNIT_LAYERLEVEL" val="1_1_1"/>
  <p:tag name="KSO_WM_TAG_VERSION" val="1.0"/>
  <p:tag name="KSO_WM_BEAUTIFY_FLAG" val="#wm#"/>
  <p:tag name="KSO_WM_UNIT_PRESET_TEXT" val="输入你的正文文字是你思想的提炼为了最终良好的效果"/>
  <p:tag name="KSO_WM_CHIP_GROUPID" val="60b9ded2d573a1aeab43bc99"/>
  <p:tag name="KSO_WM_CHIP_XID" val="60b9ded2d573a1aeab43bc9a"/>
  <p:tag name="KSO_WM_ASSEMBLE_CHIP_INDEX" val="b6eb0b8731c64f41a4208d4ca88effea"/>
  <p:tag name="KSO_WM_UNIT_VALUE" val="34"/>
  <p:tag name="KSO_WM_UNIT_TEXT_FILL_FORE_SCHEMECOLOR_INDEX_BRIGHTNESS" val="0.15"/>
  <p:tag name="KSO_WM_UNIT_TEXT_FILL_FORE_SCHEMECOLOR_INDEX" val="13"/>
  <p:tag name="KSO_WM_UNIT_TEXT_FILL_TYPE" val="1"/>
  <p:tag name="KSO_WM_UNIT_USESOURCEFORMAT_APPL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15"/>
  <p:tag name="KSO_WM_UNIT_TEXT_FILL_FORE_SCHEMECOLOR_INDEX" val="13"/>
  <p:tag name="KSO_WM_UNIT_TEXT_FILL_TYPE" val="1"/>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SLIDE_ITEM_CNT" val="5"/>
</p:tagLst>
</file>

<file path=ppt/tags/tag236.xml><?xml version="1.0" encoding="utf-8"?>
<p:tagLst xmlns:p="http://schemas.openxmlformats.org/presentationml/2006/main">
  <p:tag name="KSO_WM_UNIT_PLACING_PICTURE_USER_VIEWPORT" val="{&quot;height&quot;:589,&quot;width&quot;:2604}"/>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5830_4*m_h_i*1_1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238.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30_4*m_h_f*1_1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SLIDE_ITEM_CNT" val="5"/>
</p:tagLst>
</file>

<file path=ppt/tags/tag305.xml><?xml version="1.0" encoding="utf-8"?>
<p:tagLst xmlns:p="http://schemas.openxmlformats.org/presentationml/2006/main">
  <p:tag name="KSO_WM_UNIT_PLACING_PICTURE_USER_VIEWPORT" val="{&quot;height&quot;:589,&quot;width&quot;:2604}"/>
</p:tagLst>
</file>

<file path=ppt/tags/tag306.xml><?xml version="1.0" encoding="utf-8"?>
<p:tagLst xmlns:p="http://schemas.openxmlformats.org/presentationml/2006/main">
  <p:tag name="KSO_WM_TAG_VERSION" val="1.0"/>
  <p:tag name="KSO_WM_BEAUTIFY_FLAG" val="#wm#"/>
  <p:tag name="KSO_WM_UNIT_TYPE" val="i"/>
  <p:tag name="KSO_WM_UNIT_ID" val="diagram160513_4*i*1"/>
  <p:tag name="KSO_WM_TEMPLATE_CATEGORY" val="diagram"/>
  <p:tag name="KSO_WM_TEMPLATE_INDEX" val="160513"/>
  <p:tag name="KSO_WM_UNIT_INDEX" val="1"/>
</p:tagLst>
</file>

<file path=ppt/tags/tag307.xml><?xml version="1.0" encoding="utf-8"?>
<p:tagLst xmlns:p="http://schemas.openxmlformats.org/presentationml/2006/main">
  <p:tag name="KSO_WM_TEMPLATE_CATEGORY" val="diagram"/>
  <p:tag name="KSO_WM_TEMPLATE_INDEX" val="160513"/>
  <p:tag name="KSO_WM_TAG_VERSION" val="1.0"/>
  <p:tag name="KSO_WM_BEAUTIFY_FLAG" val="#wm#"/>
  <p:tag name="KSO_WM_UNIT_TYPE" val="m_i"/>
  <p:tag name="KSO_WM_UNIT_INDEX" val="1_1"/>
  <p:tag name="KSO_WM_UNIT_ID" val="diagram160513_4*m_i*1_1"/>
  <p:tag name="KSO_WM_UNIT_CLEAR" val="1"/>
  <p:tag name="KSO_WM_UNIT_LAYERLEVEL" val="1_1"/>
  <p:tag name="KSO_WM_DIAGRAM_GROUP_CODE" val="m1-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308.xml><?xml version="1.0" encoding="utf-8"?>
<p:tagLst xmlns:p="http://schemas.openxmlformats.org/presentationml/2006/main">
  <p:tag name="KSO_WM_TEMPLATE_CATEGORY" val="diagram"/>
  <p:tag name="KSO_WM_TEMPLATE_INDEX" val="160513"/>
  <p:tag name="KSO_WM_TAG_VERSION" val="1.0"/>
  <p:tag name="KSO_WM_BEAUTIFY_FLAG" val="#wm#"/>
  <p:tag name="KSO_WM_UNIT_TYPE" val="m_h_f"/>
  <p:tag name="KSO_WM_UNIT_INDEX" val="1_1_1"/>
  <p:tag name="KSO_WM_UNIT_ID" val="diagram160513_4*m_h_f*1_1_1"/>
  <p:tag name="KSO_WM_UNIT_CLEAR" val="1"/>
  <p:tag name="KSO_WM_UNIT_LAYERLEVEL" val="1_1_1"/>
  <p:tag name="KSO_WM_UNIT_VALUE" val="48"/>
  <p:tag name="KSO_WM_UNIT_HIGHLIGHT" val="0"/>
  <p:tag name="KSO_WM_UNIT_COMPATIBLE" val="0"/>
  <p:tag name="KSO_WM_DIAGRAM_GROUP_CODE" val="m1-1"/>
  <p:tag name="KSO_WM_UNIT_PRESET_TEXT" val="Lorem ipsum dolor sit amet consectetur"/>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309.xml><?xml version="1.0" encoding="utf-8"?>
<p:tagLst xmlns:p="http://schemas.openxmlformats.org/presentationml/2006/main">
  <p:tag name="KSO_WM_TEMPLATE_CATEGORY" val="diagram"/>
  <p:tag name="KSO_WM_TEMPLATE_INDEX" val="160513"/>
  <p:tag name="KSO_WM_TAG_VERSION" val="1.0"/>
  <p:tag name="KSO_WM_BEAUTIFY_FLAG" val="#wm#"/>
  <p:tag name="KSO_WM_UNIT_TYPE" val="m_i"/>
  <p:tag name="KSO_WM_UNIT_INDEX" val="1_2"/>
  <p:tag name="KSO_WM_UNIT_ID" val="diagram160513_4*m_i*1_2"/>
  <p:tag name="KSO_WM_UNIT_CLEAR" val="1"/>
  <p:tag name="KSO_WM_UNIT_LAYERLEVEL" val="1_1"/>
  <p:tag name="KSO_WM_DIAGRAM_GROUP_CODE" val="m1-1"/>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4"/>
  <p:tag name="KSO_WM_UNIT_TEXT_FILL_TYPE" val="1"/>
  <p:tag name="KSO_WM_UNIT_USESOURCEFORMAT_APPLY" val="1"/>
</p:tagLst>
</file>

<file path=ppt/tags/tag310.xml><?xml version="1.0" encoding="utf-8"?>
<p:tagLst xmlns:p="http://schemas.openxmlformats.org/presentationml/2006/main">
  <p:tag name="KSO_WM_TAG_VERSION" val="1.0"/>
  <p:tag name="KSO_WM_BEAUTIFY_FLAG" val="#wm#"/>
  <p:tag name="KSO_WM_UNIT_TYPE" val="i"/>
  <p:tag name="KSO_WM_UNIT_ID" val="diagram160513_4*i*8"/>
  <p:tag name="KSO_WM_TEMPLATE_CATEGORY" val="diagram"/>
  <p:tag name="KSO_WM_TEMPLATE_INDEX" val="160513"/>
  <p:tag name="KSO_WM_UNIT_INDEX" val="8"/>
</p:tagLst>
</file>

<file path=ppt/tags/tag311.xml><?xml version="1.0" encoding="utf-8"?>
<p:tagLst xmlns:p="http://schemas.openxmlformats.org/presentationml/2006/main">
  <p:tag name="KSO_WM_TEMPLATE_CATEGORY" val="diagram"/>
  <p:tag name="KSO_WM_TEMPLATE_INDEX" val="160513"/>
  <p:tag name="KSO_WM_TAG_VERSION" val="1.0"/>
  <p:tag name="KSO_WM_BEAUTIFY_FLAG" val="#wm#"/>
  <p:tag name="KSO_WM_UNIT_TYPE" val="m_i"/>
  <p:tag name="KSO_WM_UNIT_INDEX" val="1_3"/>
  <p:tag name="KSO_WM_UNIT_ID" val="diagram160513_4*m_i*1_3"/>
  <p:tag name="KSO_WM_UNIT_CLEAR" val="1"/>
  <p:tag name="KSO_WM_UNIT_LAYERLEVEL" val="1_1"/>
  <p:tag name="KSO_WM_DIAGRAM_GROUP_CODE" val="m1-1"/>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312.xml><?xml version="1.0" encoding="utf-8"?>
<p:tagLst xmlns:p="http://schemas.openxmlformats.org/presentationml/2006/main">
  <p:tag name="KSO_WM_TEMPLATE_CATEGORY" val="diagram"/>
  <p:tag name="KSO_WM_TEMPLATE_INDEX" val="160513"/>
  <p:tag name="KSO_WM_TAG_VERSION" val="1.0"/>
  <p:tag name="KSO_WM_BEAUTIFY_FLAG" val="#wm#"/>
  <p:tag name="KSO_WM_UNIT_TYPE" val="m_h_f"/>
  <p:tag name="KSO_WM_UNIT_INDEX" val="1_2_1"/>
  <p:tag name="KSO_WM_UNIT_ID" val="diagram160513_4*m_h_f*1_2_1"/>
  <p:tag name="KSO_WM_UNIT_CLEAR" val="1"/>
  <p:tag name="KSO_WM_UNIT_LAYERLEVEL" val="1_1_1"/>
  <p:tag name="KSO_WM_UNIT_VALUE" val="48"/>
  <p:tag name="KSO_WM_UNIT_HIGHLIGHT" val="0"/>
  <p:tag name="KSO_WM_UNIT_COMPATIBLE" val="0"/>
  <p:tag name="KSO_WM_DIAGRAM_GROUP_CODE" val="m1-1"/>
  <p:tag name="KSO_WM_UNIT_PRESET_TEXT" val="Lorem ipsum dolor sit amet consectetur"/>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313.xml><?xml version="1.0" encoding="utf-8"?>
<p:tagLst xmlns:p="http://schemas.openxmlformats.org/presentationml/2006/main">
  <p:tag name="KSO_WM_TEMPLATE_CATEGORY" val="diagram"/>
  <p:tag name="KSO_WM_TEMPLATE_INDEX" val="160513"/>
  <p:tag name="KSO_WM_TAG_VERSION" val="1.0"/>
  <p:tag name="KSO_WM_BEAUTIFY_FLAG" val="#wm#"/>
  <p:tag name="KSO_WM_UNIT_TYPE" val="m_i"/>
  <p:tag name="KSO_WM_UNIT_INDEX" val="1_4"/>
  <p:tag name="KSO_WM_UNIT_ID" val="diagram160513_4*m_i*1_4"/>
  <p:tag name="KSO_WM_UNIT_CLEAR" val="1"/>
  <p:tag name="KSO_WM_UNIT_LAYERLEVEL" val="1_1"/>
  <p:tag name="KSO_WM_DIAGRAM_GROUP_CODE" val="m1-1"/>
  <p:tag name="KSO_WM_UNIT_FILL_FORE_SCHEMECOLOR_INDEX_BRIGHTNESS" val="0"/>
  <p:tag name="KSO_WM_UNIT_FILL_FORE_SCHEMECOLOR_INDEX" val="6"/>
  <p:tag name="KSO_WM_UNIT_FILL_TYPE" val="1"/>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4"/>
  <p:tag name="KSO_WM_UNIT_TEXT_FILL_TYPE" val="1"/>
  <p:tag name="KSO_WM_UNIT_USESOURCEFORMAT_APPLY" val="1"/>
</p:tagLst>
</file>

<file path=ppt/tags/tag314.xml><?xml version="1.0" encoding="utf-8"?>
<p:tagLst xmlns:p="http://schemas.openxmlformats.org/presentationml/2006/main">
  <p:tag name="KSO_WM_TAG_VERSION" val="1.0"/>
  <p:tag name="KSO_WM_BEAUTIFY_FLAG" val="#wm#"/>
  <p:tag name="KSO_WM_UNIT_TYPE" val="i"/>
  <p:tag name="KSO_WM_UNIT_ID" val="diagram160513_4*i*15"/>
  <p:tag name="KSO_WM_TEMPLATE_CATEGORY" val="diagram"/>
  <p:tag name="KSO_WM_TEMPLATE_INDEX" val="160513"/>
  <p:tag name="KSO_WM_UNIT_INDEX" val="15"/>
</p:tagLst>
</file>

<file path=ppt/tags/tag315.xml><?xml version="1.0" encoding="utf-8"?>
<p:tagLst xmlns:p="http://schemas.openxmlformats.org/presentationml/2006/main">
  <p:tag name="KSO_WM_TEMPLATE_CATEGORY" val="diagram"/>
  <p:tag name="KSO_WM_TEMPLATE_INDEX" val="160513"/>
  <p:tag name="KSO_WM_TAG_VERSION" val="1.0"/>
  <p:tag name="KSO_WM_BEAUTIFY_FLAG" val="#wm#"/>
  <p:tag name="KSO_WM_UNIT_TYPE" val="m_i"/>
  <p:tag name="KSO_WM_UNIT_INDEX" val="1_5"/>
  <p:tag name="KSO_WM_UNIT_ID" val="diagram160513_4*m_i*1_5"/>
  <p:tag name="KSO_WM_UNIT_CLEAR" val="1"/>
  <p:tag name="KSO_WM_UNIT_LAYERLEVEL" val="1_1"/>
  <p:tag name="KSO_WM_DIAGRAM_GROUP_CODE" val="m1-1"/>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316.xml><?xml version="1.0" encoding="utf-8"?>
<p:tagLst xmlns:p="http://schemas.openxmlformats.org/presentationml/2006/main">
  <p:tag name="KSO_WM_TEMPLATE_CATEGORY" val="diagram"/>
  <p:tag name="KSO_WM_TEMPLATE_INDEX" val="160513"/>
  <p:tag name="KSO_WM_TAG_VERSION" val="1.0"/>
  <p:tag name="KSO_WM_BEAUTIFY_FLAG" val="#wm#"/>
  <p:tag name="KSO_WM_UNIT_TYPE" val="m_h_f"/>
  <p:tag name="KSO_WM_UNIT_INDEX" val="1_3_1"/>
  <p:tag name="KSO_WM_UNIT_ID" val="diagram160513_4*m_h_f*1_3_1"/>
  <p:tag name="KSO_WM_UNIT_CLEAR" val="1"/>
  <p:tag name="KSO_WM_UNIT_LAYERLEVEL" val="1_1_1"/>
  <p:tag name="KSO_WM_UNIT_VALUE" val="48"/>
  <p:tag name="KSO_WM_UNIT_HIGHLIGHT" val="0"/>
  <p:tag name="KSO_WM_UNIT_COMPATIBLE" val="0"/>
  <p:tag name="KSO_WM_DIAGRAM_GROUP_CODE" val="m1-1"/>
  <p:tag name="KSO_WM_UNIT_PRESET_TEXT" val="Lorem ipsum dolor sit amet consectetur"/>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317.xml><?xml version="1.0" encoding="utf-8"?>
<p:tagLst xmlns:p="http://schemas.openxmlformats.org/presentationml/2006/main">
  <p:tag name="KSO_WM_TEMPLATE_CATEGORY" val="diagram"/>
  <p:tag name="KSO_WM_TEMPLATE_INDEX" val="160513"/>
  <p:tag name="KSO_WM_TAG_VERSION" val="1.0"/>
  <p:tag name="KSO_WM_BEAUTIFY_FLAG" val="#wm#"/>
  <p:tag name="KSO_WM_UNIT_TYPE" val="m_i"/>
  <p:tag name="KSO_WM_UNIT_INDEX" val="1_6"/>
  <p:tag name="KSO_WM_UNIT_ID" val="diagram160513_4*m_i*1_6"/>
  <p:tag name="KSO_WM_UNIT_CLEAR" val="1"/>
  <p:tag name="KSO_WM_UNIT_LAYERLEVEL" val="1_1"/>
  <p:tag name="KSO_WM_DIAGRAM_GROUP_CODE" val="m1-1"/>
  <p:tag name="KSO_WM_UNIT_FILL_FORE_SCHEMECOLOR_INDEX_BRIGHTNESS" val="0"/>
  <p:tag name="KSO_WM_UNIT_FILL_FORE_SCHEMECOLOR_INDEX" val="7"/>
  <p:tag name="KSO_WM_UNIT_FILL_TYPE" val="1"/>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14"/>
  <p:tag name="KSO_WM_UNIT_TEXT_FILL_TYPE" val="1"/>
  <p:tag name="KSO_WM_UNIT_USESOURCEFORMAT_APPLY" val="1"/>
</p:tagLst>
</file>

<file path=ppt/tags/tag318.xml><?xml version="1.0" encoding="utf-8"?>
<p:tagLst xmlns:p="http://schemas.openxmlformats.org/presentationml/2006/main">
  <p:tag name="KSO_WM_TAG_VERSION" val="1.0"/>
  <p:tag name="KSO_WM_BEAUTIFY_FLAG" val="#wm#"/>
  <p:tag name="KSO_WM_UNIT_TYPE" val="i"/>
  <p:tag name="KSO_WM_UNIT_ID" val="diagram160513_4*i*22"/>
  <p:tag name="KSO_WM_TEMPLATE_CATEGORY" val="diagram"/>
  <p:tag name="KSO_WM_TEMPLATE_INDEX" val="160513"/>
  <p:tag name="KSO_WM_UNIT_INDEX" val="22"/>
</p:tagLst>
</file>

<file path=ppt/tags/tag319.xml><?xml version="1.0" encoding="utf-8"?>
<p:tagLst xmlns:p="http://schemas.openxmlformats.org/presentationml/2006/main">
  <p:tag name="KSO_WM_TEMPLATE_CATEGORY" val="diagram"/>
  <p:tag name="KSO_WM_TEMPLATE_INDEX" val="160513"/>
  <p:tag name="KSO_WM_TAG_VERSION" val="1.0"/>
  <p:tag name="KSO_WM_BEAUTIFY_FLAG" val="#wm#"/>
  <p:tag name="KSO_WM_UNIT_TYPE" val="m_i"/>
  <p:tag name="KSO_WM_UNIT_INDEX" val="1_7"/>
  <p:tag name="KSO_WM_UNIT_ID" val="diagram160513_4*m_i*1_7"/>
  <p:tag name="KSO_WM_UNIT_CLEAR" val="1"/>
  <p:tag name="KSO_WM_UNIT_LAYERLEVEL" val="1_1"/>
  <p:tag name="KSO_WM_DIAGRAM_GROUP_CODE" val="m1-1"/>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320.xml><?xml version="1.0" encoding="utf-8"?>
<p:tagLst xmlns:p="http://schemas.openxmlformats.org/presentationml/2006/main">
  <p:tag name="KSO_WM_TEMPLATE_CATEGORY" val="diagram"/>
  <p:tag name="KSO_WM_TEMPLATE_INDEX" val="160513"/>
  <p:tag name="KSO_WM_TAG_VERSION" val="1.0"/>
  <p:tag name="KSO_WM_BEAUTIFY_FLAG" val="#wm#"/>
  <p:tag name="KSO_WM_UNIT_TYPE" val="m_h_f"/>
  <p:tag name="KSO_WM_UNIT_INDEX" val="1_4_1"/>
  <p:tag name="KSO_WM_UNIT_ID" val="diagram160513_4*m_h_f*1_4_1"/>
  <p:tag name="KSO_WM_UNIT_CLEAR" val="1"/>
  <p:tag name="KSO_WM_UNIT_LAYERLEVEL" val="1_1_1"/>
  <p:tag name="KSO_WM_UNIT_VALUE" val="48"/>
  <p:tag name="KSO_WM_UNIT_HIGHLIGHT" val="0"/>
  <p:tag name="KSO_WM_UNIT_COMPATIBLE" val="0"/>
  <p:tag name="KSO_WM_DIAGRAM_GROUP_CODE" val="m1-1"/>
  <p:tag name="KSO_WM_UNIT_PRESET_TEXT" val="Lorem ipsum dolor sit amet consectetur"/>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13"/>
  <p:tag name="KSO_WM_UNIT_TEXT_FILL_TYPE" val="1"/>
  <p:tag name="KSO_WM_UNIT_USESOURCEFORMAT_APPLY" val="1"/>
</p:tagLst>
</file>

<file path=ppt/tags/tag321.xml><?xml version="1.0" encoding="utf-8"?>
<p:tagLst xmlns:p="http://schemas.openxmlformats.org/presentationml/2006/main">
  <p:tag name="KSO_WM_TEMPLATE_CATEGORY" val="diagram"/>
  <p:tag name="KSO_WM_TEMPLATE_INDEX" val="160513"/>
  <p:tag name="KSO_WM_TAG_VERSION" val="1.0"/>
  <p:tag name="KSO_WM_BEAUTIFY_FLAG" val="#wm#"/>
  <p:tag name="KSO_WM_UNIT_TYPE" val="m_i"/>
  <p:tag name="KSO_WM_UNIT_INDEX" val="1_8"/>
  <p:tag name="KSO_WM_UNIT_ID" val="diagram160513_4*m_i*1_8"/>
  <p:tag name="KSO_WM_UNIT_CLEAR" val="1"/>
  <p:tag name="KSO_WM_UNIT_LAYERLEVEL" val="1_1"/>
  <p:tag name="KSO_WM_DIAGRAM_GROUP_CODE" val="m1-1"/>
  <p:tag name="KSO_WM_UNIT_FILL_FORE_SCHEMECOLOR_INDEX_BRIGHTNESS" val="0"/>
  <p:tag name="KSO_WM_UNIT_FILL_FORE_SCHEMECOLOR_INDEX" val="8"/>
  <p:tag name="KSO_WM_UNIT_FILL_TYPE" val="1"/>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14"/>
  <p:tag name="KSO_WM_UNIT_TEXT_FILL_TYPE" val="1"/>
  <p:tag name="KSO_WM_UNIT_USESOURCEFORMAT_APPLY" val="1"/>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15"/>
  <p:tag name="KSO_WM_UNIT_TEXT_FILL_FORE_SCHEMECOLOR_INDEX" val="13"/>
  <p:tag name="KSO_WM_UNIT_TEXT_FILL_TYPE" val="1"/>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SLIDE_ITEM_CNT" val="4"/>
</p:tagLst>
</file>

<file path=ppt/tags/tag388.xml><?xml version="1.0" encoding="utf-8"?>
<p:tagLst xmlns:p="http://schemas.openxmlformats.org/presentationml/2006/main">
  <p:tag name="KSO_WM_UNIT_PLACING_PICTURE_USER_VIEWPORT" val="{&quot;height&quot;:589,&quot;width&quot;:2604}"/>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5830_4*m_h_i*1_1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390.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30_4*m_h_f*1_1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SLIDE_ITEM_CNT" val="5"/>
</p:tagLst>
</file>

<file path=ppt/tags/tag456.xml><?xml version="1.0" encoding="utf-8"?>
<p:tagLst xmlns:p="http://schemas.openxmlformats.org/presentationml/2006/main">
  <p:tag name="KSO_WM_UNIT_PLACING_PICTURE_USER_VIEWPORT" val="{&quot;height&quot;:589,&quot;width&quot;:2604}"/>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5830_4*m_h_i*1_1_2"/>
  <p:tag name="KSO_WM_TEMPLATE_CATEGORY" val="diagram"/>
  <p:tag name="KSO_WM_TEMPLATE_INDEX" val="20205830"/>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5"/>
  <p:tag name="KSO_WM_UNIT_LINE_FORE_SCHEMECOLOR_INDEX" val="13"/>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458.xml><?xml version="1.0" encoding="utf-8"?>
<p:tagLst xmlns:p="http://schemas.openxmlformats.org/presentationml/2006/main">
  <p:tag name="KSO_WM_UNIT_SUBTYPE" val="a"/>
  <p:tag name="KSO_WM_UNIT_PRESET_TEXT" val="单点击此处添加正文，文字是您思想的提炼，为了演示发布的良好效果，请您尽可能提炼思想的精髓，然后简单的阐述您的观点。如果您的内容确实非常重要又难以精简，也请使用分段处理，对内容进行简单的梳理和提炼，这样会使逻辑框架相对清晰。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5830_4*m_h_f*1_1_1"/>
  <p:tag name="KSO_WM_TEMPLATE_CATEGORY" val="diagram"/>
  <p:tag name="KSO_WM_TEMPLATE_INDEX" val="20205830"/>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SLIDE_ITEM_CNT" val="5"/>
</p:tagLst>
</file>

<file path=ppt/tags/tag524.xml><?xml version="1.0" encoding="utf-8"?>
<p:tagLst xmlns:p="http://schemas.openxmlformats.org/presentationml/2006/main">
  <p:tag name="KSO_WM_TEMPLATE_CATEGORY" val="diagram"/>
  <p:tag name="KSO_WM_TEMPLATE_INDEX" val="191"/>
  <p:tag name="KSO_WM_TAG_VERSION" val="1.0"/>
  <p:tag name="KSO_WM_BEAUTIFY_FLAG" val="#wm#"/>
  <p:tag name="KSO_WM_UNIT_TYPE" val="a"/>
  <p:tag name="KSO_WM_UNIT_INDEX" val="1"/>
  <p:tag name="KSO_WM_UNIT_ID" val="diagram191_4*a*1"/>
  <p:tag name="KSO_WM_UNIT_CLEAR" val="1"/>
  <p:tag name="KSO_WM_UNIT_LAYERLEVEL" val="1"/>
  <p:tag name="KSO_WM_UNIT_VALUE" val="24"/>
  <p:tag name="KSO_WM_UNIT_ISCONTENTSTITLE" val="0"/>
  <p:tag name="KSO_WM_UNIT_HIGHLIGHT" val="0"/>
  <p:tag name="KSO_WM_UNIT_COMPATIBLE" val="1"/>
  <p:tag name="KSO_WM_UNIT_PRESET_TEXT_INDEX" val="3"/>
  <p:tag name="KSO_WM_UNIT_PRESET_TEXT_LEN" val="23"/>
</p:tagLst>
</file>

<file path=ppt/tags/tag525.xml><?xml version="1.0" encoding="utf-8"?>
<p:tagLst xmlns:p="http://schemas.openxmlformats.org/presentationml/2006/main">
  <p:tag name="KSO_WM_TAG_VERSION" val="1.0"/>
  <p:tag name="KSO_WM_BEAUTIFY_FLAG" val="#wm#"/>
  <p:tag name="KSO_WM_UNIT_TYPE" val="i"/>
  <p:tag name="KSO_WM_UNIT_ID" val="diagram191_2*i*1"/>
  <p:tag name="KSO_WM_TEMPLATE_CATEGORY" val="diagram"/>
  <p:tag name="KSO_WM_TEMPLATE_INDEX" val="191"/>
  <p:tag name="KSO_WM_UNIT_INDEX" val="1"/>
</p:tagLst>
</file>

<file path=ppt/tags/tag526.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1"/>
  <p:tag name="KSO_WM_UNIT_ID" val="diagram191_2*m_i*1_1"/>
  <p:tag name="KSO_WM_UNIT_LAYERLEVEL" val="1_1"/>
  <p:tag name="KSO_WM_DIAGRAM_GROUP_CODE" val="m1-1"/>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27.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2"/>
  <p:tag name="KSO_WM_UNIT_ID" val="diagram191_2*m_i*1_2"/>
  <p:tag name="KSO_WM_UNIT_LAYERLEVEL" val="1_1"/>
  <p:tag name="KSO_WM_DIAGRAM_GROUP_CODE" val="m1-1"/>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28.xml><?xml version="1.0" encoding="utf-8"?>
<p:tagLst xmlns:p="http://schemas.openxmlformats.org/presentationml/2006/main">
  <p:tag name="KSO_WM_TEMPLATE_CATEGORY" val="diagram"/>
  <p:tag name="KSO_WM_TEMPLATE_INDEX" val="191"/>
  <p:tag name="KSO_WM_TAG_VERSION" val="1.0"/>
  <p:tag name="KSO_WM_BEAUTIFY_FLAG" val="#wm#"/>
  <p:tag name="KSO_WM_UNIT_TYPE" val="m_h_a"/>
  <p:tag name="KSO_WM_UNIT_INDEX" val="1_1_1"/>
  <p:tag name="KSO_WM_UNIT_ID" val="diagram191_2*m_h_a*1_1_1"/>
  <p:tag name="KSO_WM_UNIT_LAYERLEVEL" val="1_1_1"/>
  <p:tag name="KSO_WM_UNIT_VALUE" val="8"/>
  <p:tag name="KSO_WM_UNIT_HIGHLIGHT" val="0"/>
  <p:tag name="KSO_WM_UNIT_COMPATIBLE" val="0"/>
  <p:tag name="KSO_WM_UNIT_CLEAR" val="0"/>
  <p:tag name="KSO_WM_DIAGRAM_GROUP_CODE" val="m1-1"/>
  <p:tag name="KSO_WM_UNIT_PRESET_TEXT" val="EIUSMOD"/>
  <p:tag name="KSO_WM_UNIT_TEXT_FILL_FORE_SCHEMECOLOR_INDEX_BRIGHTNESS" val="0"/>
  <p:tag name="KSO_WM_UNIT_TEXT_FILL_FORE_SCHEMECOLOR_INDEX" val="5"/>
  <p:tag name="KSO_WM_UNIT_TEXT_FILL_TYPE" val="1"/>
  <p:tag name="KSO_WM_UNIT_USESOURCEFORMAT_APPLY" val="1"/>
</p:tagLst>
</file>

<file path=ppt/tags/tag529.xml><?xml version="1.0" encoding="utf-8"?>
<p:tagLst xmlns:p="http://schemas.openxmlformats.org/presentationml/2006/main">
  <p:tag name="KSO_WM_TEMPLATE_CATEGORY" val="diagram"/>
  <p:tag name="KSO_WM_TEMPLATE_INDEX" val="191"/>
  <p:tag name="KSO_WM_TAG_VERSION" val="1.0"/>
  <p:tag name="KSO_WM_BEAUTIFY_FLAG" val="#wm#"/>
  <p:tag name="KSO_WM_UNIT_TYPE" val="m_h_f"/>
  <p:tag name="KSO_WM_UNIT_INDEX" val="1_1_1"/>
  <p:tag name="KSO_WM_UNIT_ID" val="diagram191_2*m_h_f*1_1_1"/>
  <p:tag name="KSO_WM_UNIT_LAYERLEVEL" val="1_1_1"/>
  <p:tag name="KSO_WM_UNIT_VALUE" val="14"/>
  <p:tag name="KSO_WM_UNIT_HIGHLIGHT" val="0"/>
  <p:tag name="KSO_WM_UNIT_COMPATIBLE" val="0"/>
  <p:tag name="KSO_WM_UNIT_CLEAR" val="0"/>
  <p:tag name="KSO_WM_DIAGRAM_GROUP_CODE" val="m1-1"/>
  <p:tag name="KSO_WM_UNIT_PRESET_TEXT" val="Lorem ipsum dolor sit amet"/>
  <p:tag name="KSO_WM_UNIT_TEXT_FILL_FORE_SCHEMECOLOR_INDEX_BRIGHTNESS" val="0"/>
  <p:tag name="KSO_WM_UNIT_TEXT_FILL_FORE_SCHEMECOLOR_INDEX" val="13"/>
  <p:tag name="KSO_WM_UNIT_TEXT_FILL_TYPE" val="1"/>
  <p:tag name="KSO_WM_UNIT_USESOURCEFORMAT_APPLY" val="1"/>
</p:tagLst>
</file>

<file path=ppt/tags/tag530.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3"/>
  <p:tag name="KSO_WM_UNIT_ID" val="diagram191_2*m_i*1_3"/>
  <p:tag name="KSO_WM_UNIT_LAYERLEVEL" val="1_1"/>
  <p:tag name="KSO_WM_DIAGRAM_GROUP_CODE" val="m1-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5"/>
  <p:tag name="KSO_WM_UNIT_TEXT_FILL_TYPE" val="1"/>
  <p:tag name="KSO_WM_UNIT_USESOURCEFORMAT_APPLY" val="1"/>
</p:tagLst>
</file>

<file path=ppt/tags/tag531.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4"/>
  <p:tag name="KSO_WM_UNIT_ID" val="diagram191_2*m_i*1_4"/>
  <p:tag name="KSO_WM_UNIT_LAYERLEVEL" val="1_1"/>
  <p:tag name="KSO_WM_DIAGRAM_GROUP_CODE" val="m1-1"/>
  <p:tag name="KSO_WM_UNIT_LINE_FORE_SCHEMECOLOR_INDEX_BRIGHTNESS" val="-0.25"/>
  <p:tag name="KSO_WM_UNIT_LINE_FORE_SCHEMECOLOR_INDEX" val="14"/>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532.xml><?xml version="1.0" encoding="utf-8"?>
<p:tagLst xmlns:p="http://schemas.openxmlformats.org/presentationml/2006/main">
  <p:tag name="KSO_WM_TAG_VERSION" val="1.0"/>
  <p:tag name="KSO_WM_BEAUTIFY_FLAG" val="#wm#"/>
  <p:tag name="KSO_WM_UNIT_TYPE" val="i"/>
  <p:tag name="KSO_WM_UNIT_ID" val="diagram191_2*i*14"/>
  <p:tag name="KSO_WM_TEMPLATE_CATEGORY" val="diagram"/>
  <p:tag name="KSO_WM_TEMPLATE_INDEX" val="191"/>
  <p:tag name="KSO_WM_UNIT_INDEX" val="14"/>
</p:tagLst>
</file>

<file path=ppt/tags/tag533.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5"/>
  <p:tag name="KSO_WM_UNIT_ID" val="diagram191_2*m_i*1_5"/>
  <p:tag name="KSO_WM_UNIT_LAYERLEVEL" val="1_1"/>
  <p:tag name="KSO_WM_DIAGRAM_GROUP_CODE" val="m1-1"/>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34.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6"/>
  <p:tag name="KSO_WM_UNIT_ID" val="diagram191_2*m_i*1_6"/>
  <p:tag name="KSO_WM_UNIT_LAYERLEVEL" val="1_1"/>
  <p:tag name="KSO_WM_DIAGRAM_GROUP_CODE" val="m1-1"/>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35.xml><?xml version="1.0" encoding="utf-8"?>
<p:tagLst xmlns:p="http://schemas.openxmlformats.org/presentationml/2006/main">
  <p:tag name="KSO_WM_TEMPLATE_CATEGORY" val="diagram"/>
  <p:tag name="KSO_WM_TEMPLATE_INDEX" val="191"/>
  <p:tag name="KSO_WM_TAG_VERSION" val="1.0"/>
  <p:tag name="KSO_WM_BEAUTIFY_FLAG" val="#wm#"/>
  <p:tag name="KSO_WM_UNIT_TYPE" val="m_h_a"/>
  <p:tag name="KSO_WM_UNIT_INDEX" val="1_2_1"/>
  <p:tag name="KSO_WM_UNIT_ID" val="diagram191_2*m_h_a*1_2_1"/>
  <p:tag name="KSO_WM_UNIT_LAYERLEVEL" val="1_1_1"/>
  <p:tag name="KSO_WM_UNIT_VALUE" val="8"/>
  <p:tag name="KSO_WM_UNIT_HIGHLIGHT" val="0"/>
  <p:tag name="KSO_WM_UNIT_COMPATIBLE" val="0"/>
  <p:tag name="KSO_WM_UNIT_CLEAR" val="0"/>
  <p:tag name="KSO_WM_DIAGRAM_GROUP_CODE" val="m1-1"/>
  <p:tag name="KSO_WM_UNIT_PRESET_TEXT" val="EIUSMOD"/>
  <p:tag name="KSO_WM_UNIT_TEXT_FILL_FORE_SCHEMECOLOR_INDEX_BRIGHTNESS" val="0"/>
  <p:tag name="KSO_WM_UNIT_TEXT_FILL_FORE_SCHEMECOLOR_INDEX" val="6"/>
  <p:tag name="KSO_WM_UNIT_TEXT_FILL_TYPE" val="1"/>
  <p:tag name="KSO_WM_UNIT_USESOURCEFORMAT_APPLY" val="1"/>
</p:tagLst>
</file>

<file path=ppt/tags/tag536.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7"/>
  <p:tag name="KSO_WM_UNIT_ID" val="diagram191_2*m_i*1_7"/>
  <p:tag name="KSO_WM_UNIT_LAYERLEVEL" val="1_1"/>
  <p:tag name="KSO_WM_DIAGRAM_GROUP_CODE" val="m1-1"/>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6"/>
  <p:tag name="KSO_WM_UNIT_TEXT_FILL_TYPE" val="1"/>
  <p:tag name="KSO_WM_UNIT_USESOURCEFORMAT_APPLY" val="1"/>
</p:tagLst>
</file>

<file path=ppt/tags/tag537.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8"/>
  <p:tag name="KSO_WM_UNIT_ID" val="diagram191_2*m_i*1_8"/>
  <p:tag name="KSO_WM_UNIT_LAYERLEVEL" val="1_1"/>
  <p:tag name="KSO_WM_DIAGRAM_GROUP_CODE" val="m1-1"/>
  <p:tag name="KSO_WM_UNIT_LINE_FORE_SCHEMECOLOR_INDEX_BRIGHTNESS" val="-0.25"/>
  <p:tag name="KSO_WM_UNIT_LINE_FORE_SCHEMECOLOR_INDEX" val="14"/>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538.xml><?xml version="1.0" encoding="utf-8"?>
<p:tagLst xmlns:p="http://schemas.openxmlformats.org/presentationml/2006/main">
  <p:tag name="KSO_WM_TEMPLATE_CATEGORY" val="diagram"/>
  <p:tag name="KSO_WM_TEMPLATE_INDEX" val="191"/>
  <p:tag name="KSO_WM_TAG_VERSION" val="1.0"/>
  <p:tag name="KSO_WM_BEAUTIFY_FLAG" val="#wm#"/>
  <p:tag name="KSO_WM_UNIT_TYPE" val="m_h_f"/>
  <p:tag name="KSO_WM_UNIT_INDEX" val="1_2_1"/>
  <p:tag name="KSO_WM_UNIT_ID" val="diagram191_2*m_h_f*1_2_1"/>
  <p:tag name="KSO_WM_UNIT_LAYERLEVEL" val="1_1_1"/>
  <p:tag name="KSO_WM_UNIT_VALUE" val="14"/>
  <p:tag name="KSO_WM_UNIT_HIGHLIGHT" val="0"/>
  <p:tag name="KSO_WM_UNIT_COMPATIBLE" val="0"/>
  <p:tag name="KSO_WM_UNIT_CLEAR" val="0"/>
  <p:tag name="KSO_WM_DIAGRAM_GROUP_CODE" val="m1-1"/>
  <p:tag name="KSO_WM_UNIT_PRESET_TEXT" val="Lorem ipsum dolor sit amet"/>
  <p:tag name="KSO_WM_UNIT_TEXT_FILL_FORE_SCHEMECOLOR_INDEX_BRIGHTNESS" val="0"/>
  <p:tag name="KSO_WM_UNIT_TEXT_FILL_FORE_SCHEMECOLOR_INDEX" val="13"/>
  <p:tag name="KSO_WM_UNIT_TEXT_FILL_TYPE" val="1"/>
  <p:tag name="KSO_WM_UNIT_USESOURCEFORMAT_APPLY" val="1"/>
</p:tagLst>
</file>

<file path=ppt/tags/tag539.xml><?xml version="1.0" encoding="utf-8"?>
<p:tagLst xmlns:p="http://schemas.openxmlformats.org/presentationml/2006/main">
  <p:tag name="KSO_WM_TAG_VERSION" val="1.0"/>
  <p:tag name="KSO_WM_BEAUTIFY_FLAG" val="#wm#"/>
  <p:tag name="KSO_WM_UNIT_TYPE" val="i"/>
  <p:tag name="KSO_WM_UNIT_ID" val="diagram191_2*i*27"/>
  <p:tag name="KSO_WM_TEMPLATE_CATEGORY" val="diagram"/>
  <p:tag name="KSO_WM_TEMPLATE_INDEX" val="191"/>
  <p:tag name="KSO_WM_UNIT_INDEX" val="27"/>
</p:tagLst>
</file>

<file path=ppt/tags/tag540.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9"/>
  <p:tag name="KSO_WM_UNIT_ID" val="diagram191_2*m_i*1_9"/>
  <p:tag name="KSO_WM_UNIT_LAYERLEVEL" val="1_1"/>
  <p:tag name="KSO_WM_DIAGRAM_GROUP_CODE" val="m1-1"/>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41.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10"/>
  <p:tag name="KSO_WM_UNIT_ID" val="diagram191_2*m_i*1_10"/>
  <p:tag name="KSO_WM_UNIT_LAYERLEVEL" val="1_1"/>
  <p:tag name="KSO_WM_DIAGRAM_GROUP_CODE" val="m1-1"/>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42.xml><?xml version="1.0" encoding="utf-8"?>
<p:tagLst xmlns:p="http://schemas.openxmlformats.org/presentationml/2006/main">
  <p:tag name="KSO_WM_TEMPLATE_CATEGORY" val="diagram"/>
  <p:tag name="KSO_WM_TEMPLATE_INDEX" val="191"/>
  <p:tag name="KSO_WM_TAG_VERSION" val="1.0"/>
  <p:tag name="KSO_WM_BEAUTIFY_FLAG" val="#wm#"/>
  <p:tag name="KSO_WM_UNIT_TYPE" val="m_h_a"/>
  <p:tag name="KSO_WM_UNIT_INDEX" val="1_3_1"/>
  <p:tag name="KSO_WM_UNIT_ID" val="diagram191_2*m_h_a*1_3_1"/>
  <p:tag name="KSO_WM_UNIT_LAYERLEVEL" val="1_1_1"/>
  <p:tag name="KSO_WM_UNIT_VALUE" val="8"/>
  <p:tag name="KSO_WM_UNIT_HIGHLIGHT" val="0"/>
  <p:tag name="KSO_WM_UNIT_COMPATIBLE" val="0"/>
  <p:tag name="KSO_WM_UNIT_CLEAR" val="0"/>
  <p:tag name="KSO_WM_DIAGRAM_GROUP_CODE" val="m1-1"/>
  <p:tag name="KSO_WM_UNIT_PRESET_TEXT" val="EIUSMOD"/>
  <p:tag name="KSO_WM_UNIT_TEXT_FILL_FORE_SCHEMECOLOR_INDEX_BRIGHTNESS" val="0"/>
  <p:tag name="KSO_WM_UNIT_TEXT_FILL_FORE_SCHEMECOLOR_INDEX" val="7"/>
  <p:tag name="KSO_WM_UNIT_TEXT_FILL_TYPE" val="1"/>
  <p:tag name="KSO_WM_UNIT_USESOURCEFORMAT_APPLY" val="1"/>
</p:tagLst>
</file>

<file path=ppt/tags/tag543.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11"/>
  <p:tag name="KSO_WM_UNIT_ID" val="diagram191_2*m_i*1_11"/>
  <p:tag name="KSO_WM_UNIT_LAYERLEVEL" val="1_1"/>
  <p:tag name="KSO_WM_DIAGRAM_GROUP_CODE" val="m1-1"/>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7"/>
  <p:tag name="KSO_WM_UNIT_TEXT_FILL_TYPE" val="1"/>
  <p:tag name="KSO_WM_UNIT_USESOURCEFORMAT_APPLY" val="1"/>
</p:tagLst>
</file>

<file path=ppt/tags/tag544.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12"/>
  <p:tag name="KSO_WM_UNIT_ID" val="diagram191_2*m_i*1_12"/>
  <p:tag name="KSO_WM_UNIT_LAYERLEVEL" val="1_1"/>
  <p:tag name="KSO_WM_DIAGRAM_GROUP_CODE" val="m1-1"/>
  <p:tag name="KSO_WM_UNIT_LINE_FORE_SCHEMECOLOR_INDEX_BRIGHTNESS" val="-0.25"/>
  <p:tag name="KSO_WM_UNIT_LINE_FORE_SCHEMECOLOR_INDEX" val="14"/>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545.xml><?xml version="1.0" encoding="utf-8"?>
<p:tagLst xmlns:p="http://schemas.openxmlformats.org/presentationml/2006/main">
  <p:tag name="KSO_WM_TEMPLATE_CATEGORY" val="diagram"/>
  <p:tag name="KSO_WM_TEMPLATE_INDEX" val="191"/>
  <p:tag name="KSO_WM_TAG_VERSION" val="1.0"/>
  <p:tag name="KSO_WM_BEAUTIFY_FLAG" val="#wm#"/>
  <p:tag name="KSO_WM_UNIT_TYPE" val="m_h_f"/>
  <p:tag name="KSO_WM_UNIT_INDEX" val="1_3_1"/>
  <p:tag name="KSO_WM_UNIT_ID" val="diagram191_2*m_h_f*1_3_1"/>
  <p:tag name="KSO_WM_UNIT_LAYERLEVEL" val="1_1_1"/>
  <p:tag name="KSO_WM_UNIT_VALUE" val="14"/>
  <p:tag name="KSO_WM_UNIT_HIGHLIGHT" val="0"/>
  <p:tag name="KSO_WM_UNIT_COMPATIBLE" val="0"/>
  <p:tag name="KSO_WM_UNIT_CLEAR" val="0"/>
  <p:tag name="KSO_WM_DIAGRAM_GROUP_CODE" val="m1-1"/>
  <p:tag name="KSO_WM_UNIT_PRESET_TEXT" val="Lorem ipsum dolor sit amet"/>
  <p:tag name="KSO_WM_UNIT_TEXT_FILL_FORE_SCHEMECOLOR_INDEX_BRIGHTNESS" val="0"/>
  <p:tag name="KSO_WM_UNIT_TEXT_FILL_FORE_SCHEMECOLOR_INDEX" val="13"/>
  <p:tag name="KSO_WM_UNIT_TEXT_FILL_TYPE" val="1"/>
  <p:tag name="KSO_WM_UNIT_USESOURCEFORMAT_APPLY" val="1"/>
</p:tagLst>
</file>

<file path=ppt/tags/tag546.xml><?xml version="1.0" encoding="utf-8"?>
<p:tagLst xmlns:p="http://schemas.openxmlformats.org/presentationml/2006/main">
  <p:tag name="KSO_WM_TAG_VERSION" val="1.0"/>
  <p:tag name="KSO_WM_BEAUTIFY_FLAG" val="#wm#"/>
  <p:tag name="KSO_WM_UNIT_TYPE" val="i"/>
  <p:tag name="KSO_WM_UNIT_ID" val="diagram191_2*i*40"/>
  <p:tag name="KSO_WM_TEMPLATE_CATEGORY" val="diagram"/>
  <p:tag name="KSO_WM_TEMPLATE_INDEX" val="191"/>
  <p:tag name="KSO_WM_UNIT_INDEX" val="40"/>
</p:tagLst>
</file>

<file path=ppt/tags/tag547.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13"/>
  <p:tag name="KSO_WM_UNIT_ID" val="diagram191_2*m_i*1_13"/>
  <p:tag name="KSO_WM_UNIT_LAYERLEVEL" val="1_1"/>
  <p:tag name="KSO_WM_DIAGRAM_GROUP_CODE" val="m1-1"/>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48.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14"/>
  <p:tag name="KSO_WM_UNIT_ID" val="diagram191_2*m_i*1_14"/>
  <p:tag name="KSO_WM_UNIT_LAYERLEVEL" val="1_1"/>
  <p:tag name="KSO_WM_DIAGRAM_GROUP_CODE" val="m1-1"/>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49.xml><?xml version="1.0" encoding="utf-8"?>
<p:tagLst xmlns:p="http://schemas.openxmlformats.org/presentationml/2006/main">
  <p:tag name="KSO_WM_TEMPLATE_CATEGORY" val="diagram"/>
  <p:tag name="KSO_WM_TEMPLATE_INDEX" val="191"/>
  <p:tag name="KSO_WM_TAG_VERSION" val="1.0"/>
  <p:tag name="KSO_WM_BEAUTIFY_FLAG" val="#wm#"/>
  <p:tag name="KSO_WM_UNIT_TYPE" val="m_h_a"/>
  <p:tag name="KSO_WM_UNIT_INDEX" val="1_4_1"/>
  <p:tag name="KSO_WM_UNIT_ID" val="diagram191_2*m_h_a*1_4_1"/>
  <p:tag name="KSO_WM_UNIT_LAYERLEVEL" val="1_1_1"/>
  <p:tag name="KSO_WM_UNIT_VALUE" val="8"/>
  <p:tag name="KSO_WM_UNIT_HIGHLIGHT" val="0"/>
  <p:tag name="KSO_WM_UNIT_COMPATIBLE" val="0"/>
  <p:tag name="KSO_WM_UNIT_CLEAR" val="0"/>
  <p:tag name="KSO_WM_DIAGRAM_GROUP_CODE" val="m1-1"/>
  <p:tag name="KSO_WM_UNIT_PRESET_TEXT" val="EIUSMOD"/>
  <p:tag name="KSO_WM_UNIT_TEXT_FILL_FORE_SCHEMECOLOR_INDEX_BRIGHTNESS" val="0"/>
  <p:tag name="KSO_WM_UNIT_TEXT_FILL_FORE_SCHEMECOLOR_INDEX" val="8"/>
  <p:tag name="KSO_WM_UNIT_TEXT_FILL_TYPE" val="1"/>
  <p:tag name="KSO_WM_UNIT_USESOURCEFORMAT_APPLY" val="1"/>
</p:tagLst>
</file>

<file path=ppt/tags/tag550.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15"/>
  <p:tag name="KSO_WM_UNIT_ID" val="diagram191_2*m_i*1_15"/>
  <p:tag name="KSO_WM_UNIT_LAYERLEVEL" val="1_1"/>
  <p:tag name="KSO_WM_DIAGRAM_GROUP_CODE" val="m1-1"/>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8"/>
  <p:tag name="KSO_WM_UNIT_TEXT_FILL_TYPE" val="1"/>
  <p:tag name="KSO_WM_UNIT_USESOURCEFORMAT_APPLY" val="1"/>
</p:tagLst>
</file>

<file path=ppt/tags/tag551.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16"/>
  <p:tag name="KSO_WM_UNIT_ID" val="diagram191_2*m_i*1_16"/>
  <p:tag name="KSO_WM_UNIT_LAYERLEVEL" val="1_1"/>
  <p:tag name="KSO_WM_DIAGRAM_GROUP_CODE" val="m1-1"/>
  <p:tag name="KSO_WM_UNIT_LINE_FORE_SCHEMECOLOR_INDEX_BRIGHTNESS" val="-0.25"/>
  <p:tag name="KSO_WM_UNIT_LINE_FORE_SCHEMECOLOR_INDEX" val="14"/>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552.xml><?xml version="1.0" encoding="utf-8"?>
<p:tagLst xmlns:p="http://schemas.openxmlformats.org/presentationml/2006/main">
  <p:tag name="KSO_WM_TEMPLATE_CATEGORY" val="diagram"/>
  <p:tag name="KSO_WM_TEMPLATE_INDEX" val="191"/>
  <p:tag name="KSO_WM_TAG_VERSION" val="1.0"/>
  <p:tag name="KSO_WM_BEAUTIFY_FLAG" val="#wm#"/>
  <p:tag name="KSO_WM_UNIT_TYPE" val="m_h_f"/>
  <p:tag name="KSO_WM_UNIT_INDEX" val="1_4_1"/>
  <p:tag name="KSO_WM_UNIT_ID" val="diagram191_2*m_h_f*1_4_1"/>
  <p:tag name="KSO_WM_UNIT_LAYERLEVEL" val="1_1_1"/>
  <p:tag name="KSO_WM_UNIT_VALUE" val="14"/>
  <p:tag name="KSO_WM_UNIT_HIGHLIGHT" val="0"/>
  <p:tag name="KSO_WM_UNIT_COMPATIBLE" val="0"/>
  <p:tag name="KSO_WM_UNIT_CLEAR" val="0"/>
  <p:tag name="KSO_WM_DIAGRAM_GROUP_CODE" val="m1-1"/>
  <p:tag name="KSO_WM_UNIT_PRESET_TEXT" val="Lorem ipsum dolor sit amet"/>
  <p:tag name="KSO_WM_UNIT_TEXT_FILL_FORE_SCHEMECOLOR_INDEX_BRIGHTNESS" val="0"/>
  <p:tag name="KSO_WM_UNIT_TEXT_FILL_FORE_SCHEMECOLOR_INDEX" val="13"/>
  <p:tag name="KSO_WM_UNIT_TEXT_FILL_TYPE" val="1"/>
  <p:tag name="KSO_WM_UNIT_USESOURCEFORMAT_APPLY" val="1"/>
</p:tagLst>
</file>

<file path=ppt/tags/tag553.xml><?xml version="1.0" encoding="utf-8"?>
<p:tagLst xmlns:p="http://schemas.openxmlformats.org/presentationml/2006/main">
  <p:tag name="KSO_WM_TAG_VERSION" val="1.0"/>
  <p:tag name="KSO_WM_BEAUTIFY_FLAG" val="#wm#"/>
  <p:tag name="KSO_WM_UNIT_TYPE" val="i"/>
  <p:tag name="KSO_WM_UNIT_ID" val="diagram191_2*i*53"/>
  <p:tag name="KSO_WM_TEMPLATE_CATEGORY" val="diagram"/>
  <p:tag name="KSO_WM_TEMPLATE_INDEX" val="191"/>
  <p:tag name="KSO_WM_UNIT_INDEX" val="53"/>
</p:tagLst>
</file>

<file path=ppt/tags/tag554.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17"/>
  <p:tag name="KSO_WM_UNIT_ID" val="diagram191_2*m_i*1_17"/>
  <p:tag name="KSO_WM_UNIT_LAYERLEVEL" val="1_1"/>
  <p:tag name="KSO_WM_DIAGRAM_GROUP_CODE" val="m1-1"/>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55.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18"/>
  <p:tag name="KSO_WM_UNIT_ID" val="diagram191_2*m_i*1_18"/>
  <p:tag name="KSO_WM_UNIT_LAYERLEVEL" val="1_1"/>
  <p:tag name="KSO_WM_DIAGRAM_GROUP_CODE" val="m1-1"/>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56.xml><?xml version="1.0" encoding="utf-8"?>
<p:tagLst xmlns:p="http://schemas.openxmlformats.org/presentationml/2006/main">
  <p:tag name="KSO_WM_TEMPLATE_CATEGORY" val="diagram"/>
  <p:tag name="KSO_WM_TEMPLATE_INDEX" val="191"/>
  <p:tag name="KSO_WM_TAG_VERSION" val="1.0"/>
  <p:tag name="KSO_WM_BEAUTIFY_FLAG" val="#wm#"/>
  <p:tag name="KSO_WM_UNIT_TYPE" val="m_h_a"/>
  <p:tag name="KSO_WM_UNIT_INDEX" val="1_5_1"/>
  <p:tag name="KSO_WM_UNIT_ID" val="diagram191_2*m_h_a*1_5_1"/>
  <p:tag name="KSO_WM_UNIT_LAYERLEVEL" val="1_1_1"/>
  <p:tag name="KSO_WM_UNIT_VALUE" val="8"/>
  <p:tag name="KSO_WM_UNIT_HIGHLIGHT" val="0"/>
  <p:tag name="KSO_WM_UNIT_COMPATIBLE" val="0"/>
  <p:tag name="KSO_WM_UNIT_CLEAR" val="0"/>
  <p:tag name="KSO_WM_DIAGRAM_GROUP_CODE" val="m1-1"/>
  <p:tag name="KSO_WM_UNIT_PRESET_TEXT" val="EIUSMOD"/>
  <p:tag name="KSO_WM_UNIT_TEXT_FILL_FORE_SCHEMECOLOR_INDEX_BRIGHTNESS" val="0"/>
  <p:tag name="KSO_WM_UNIT_TEXT_FILL_FORE_SCHEMECOLOR_INDEX" val="10"/>
  <p:tag name="KSO_WM_UNIT_TEXT_FILL_TYPE" val="1"/>
  <p:tag name="KSO_WM_UNIT_USESOURCEFORMAT_APPLY" val="1"/>
</p:tagLst>
</file>

<file path=ppt/tags/tag557.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19"/>
  <p:tag name="KSO_WM_UNIT_ID" val="diagram191_2*m_i*1_19"/>
  <p:tag name="KSO_WM_UNIT_LAYERLEVEL" val="1_1"/>
  <p:tag name="KSO_WM_DIAGRAM_GROUP_CODE" val="m1-1"/>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0"/>
  <p:tag name="KSO_WM_UNIT_TEXT_FILL_TYPE" val="1"/>
  <p:tag name="KSO_WM_UNIT_USESOURCEFORMAT_APPLY" val="1"/>
</p:tagLst>
</file>

<file path=ppt/tags/tag558.xml><?xml version="1.0" encoding="utf-8"?>
<p:tagLst xmlns:p="http://schemas.openxmlformats.org/presentationml/2006/main">
  <p:tag name="KSO_WM_TEMPLATE_CATEGORY" val="diagram"/>
  <p:tag name="KSO_WM_TEMPLATE_INDEX" val="191"/>
  <p:tag name="KSO_WM_UNIT_CLEAR" val="1"/>
  <p:tag name="KSO_WM_TAG_VERSION" val="1.0"/>
  <p:tag name="KSO_WM_BEAUTIFY_FLAG" val="#wm#"/>
  <p:tag name="KSO_WM_UNIT_TYPE" val="m_i"/>
  <p:tag name="KSO_WM_UNIT_INDEX" val="1_20"/>
  <p:tag name="KSO_WM_UNIT_ID" val="diagram191_2*m_i*1_20"/>
  <p:tag name="KSO_WM_UNIT_LAYERLEVEL" val="1_1"/>
  <p:tag name="KSO_WM_DIAGRAM_GROUP_CODE" val="m1-1"/>
  <p:tag name="KSO_WM_UNIT_LINE_FORE_SCHEMECOLOR_INDEX_BRIGHTNESS" val="-0.25"/>
  <p:tag name="KSO_WM_UNIT_LINE_FORE_SCHEMECOLOR_INDEX" val="14"/>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559.xml><?xml version="1.0" encoding="utf-8"?>
<p:tagLst xmlns:p="http://schemas.openxmlformats.org/presentationml/2006/main">
  <p:tag name="KSO_WM_TEMPLATE_CATEGORY" val="diagram"/>
  <p:tag name="KSO_WM_TEMPLATE_INDEX" val="191"/>
  <p:tag name="KSO_WM_TAG_VERSION" val="1.0"/>
  <p:tag name="KSO_WM_BEAUTIFY_FLAG" val="#wm#"/>
  <p:tag name="KSO_WM_UNIT_TYPE" val="m_h_f"/>
  <p:tag name="KSO_WM_UNIT_INDEX" val="1_5_1"/>
  <p:tag name="KSO_WM_UNIT_ID" val="diagram191_2*m_h_f*1_5_1"/>
  <p:tag name="KSO_WM_UNIT_LAYERLEVEL" val="1_1_1"/>
  <p:tag name="KSO_WM_UNIT_VALUE" val="14"/>
  <p:tag name="KSO_WM_UNIT_HIGHLIGHT" val="0"/>
  <p:tag name="KSO_WM_UNIT_COMPATIBLE" val="0"/>
  <p:tag name="KSO_WM_UNIT_CLEAR" val="0"/>
  <p:tag name="KSO_WM_DIAGRAM_GROUP_CODE" val="m1-1"/>
  <p:tag name="KSO_WM_UNIT_PRESET_TEXT" val="Lorem ipsum dolor sit amet"/>
  <p:tag name="KSO_WM_UNIT_TEXT_FILL_FORE_SCHEMECOLOR_INDEX_BRIGHTNESS" val="0"/>
  <p:tag name="KSO_WM_UNIT_TEXT_FILL_FORE_SCHEMECOLOR_INDEX" val="13"/>
  <p:tag name="KSO_WM_UNIT_TEXT_FILL_TYPE" val="1"/>
  <p:tag name="KSO_WM_UNIT_USESOURCEFORMAT_APPLY" val="1"/>
</p:tagLst>
</file>

<file path=ppt/tags/tag560.xml><?xml version="1.0" encoding="utf-8"?>
<p:tagLst xmlns:p="http://schemas.openxmlformats.org/presentationml/2006/main">
  <p:tag name="KSO_WM_SLIDE_ITEM_CNT" val="5"/>
</p:tagLst>
</file>

<file path=ppt/tags/tag561.xml><?xml version="1.0" encoding="utf-8"?>
<p:tagLst xmlns:p="http://schemas.openxmlformats.org/presentationml/2006/main">
  <p:tag name="KSO_WM_SLIDE_ITEM_CNT" val="5"/>
</p:tagLst>
</file>

<file path=ppt/tags/tag562.xml><?xml version="1.0" encoding="utf-8"?>
<p:tagLst xmlns:p="http://schemas.openxmlformats.org/presentationml/2006/main">
  <p:tag name="KSO_WM_UNIT_PLACING_PICTURE_USER_VIEWPORT" val="{&quot;height&quot;:7723.766929133858,&quot;width&quot;:13715.322834645669}"/>
</p:tagLst>
</file>

<file path=ppt/tags/tag563.xml><?xml version="1.0" encoding="utf-8"?>
<p:tagLst xmlns:p="http://schemas.openxmlformats.org/presentationml/2006/main">
  <p:tag name="KSO_WM_SLIDE_ITEM_CNT" val="5"/>
</p:tagLst>
</file>

<file path=ppt/tags/tag564.xml><?xml version="1.0" encoding="utf-8"?>
<p:tagLst xmlns:p="http://schemas.openxmlformats.org/presentationml/2006/main">
  <p:tag name="KSO_WM_SLIDE_ITEM_CNT" val="5"/>
</p:tagLst>
</file>

<file path=ppt/tags/tag565.xml><?xml version="1.0" encoding="utf-8"?>
<p:tagLst xmlns:p="http://schemas.openxmlformats.org/presentationml/2006/main">
  <p:tag name="KSO_WM_SLIDE_ITEM_CNT" val="5"/>
</p:tagLst>
</file>

<file path=ppt/tags/tag566.xml><?xml version="1.0" encoding="utf-8"?>
<p:tagLst xmlns:p="http://schemas.openxmlformats.org/presentationml/2006/main">
  <p:tag name="KSO_WM_SLIDE_ITEM_CNT" val="5"/>
</p:tagLst>
</file>

<file path=ppt/tags/tag567.xml><?xml version="1.0" encoding="utf-8"?>
<p:tagLst xmlns:p="http://schemas.openxmlformats.org/presentationml/2006/main">
  <p:tag name="KSO_WM_SLIDE_ITEM_CNT" val="5"/>
</p:tagLst>
</file>

<file path=ppt/tags/tag568.xml><?xml version="1.0" encoding="utf-8"?>
<p:tagLst xmlns:p="http://schemas.openxmlformats.org/presentationml/2006/main">
  <p:tag name="KSO_WM_SLIDE_ITEM_CNT" val="5"/>
</p:tagLst>
</file>

<file path=ppt/tags/tag569.xml><?xml version="1.0" encoding="utf-8"?>
<p:tagLst xmlns:p="http://schemas.openxmlformats.org/presentationml/2006/main">
  <p:tag name="KSO_WM_SLIDE_ITEM_CNT" val="5"/>
</p:tagLst>
</file>

<file path=ppt/tags/tag570.xml><?xml version="1.0" encoding="utf-8"?>
<p:tagLst xmlns:p="http://schemas.openxmlformats.org/presentationml/2006/main">
  <p:tag name="KSO_WM_SLIDE_ITEM_CNT" val="5"/>
</p:tagLst>
</file>

<file path=ppt/tags/tag571.xml><?xml version="1.0" encoding="utf-8"?>
<p:tagLst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13123</Words>
  <Application>WPS 演示</Application>
  <PresentationFormat>Widescreen</PresentationFormat>
  <Paragraphs>1377</Paragraphs>
  <Slides>58</Slides>
  <Notes>0</Notes>
  <HiddenSlides>0</HiddenSlides>
  <MMClips>0</MMClips>
  <ScaleCrop>false</ScaleCrop>
  <HeadingPairs>
    <vt:vector size="6" baseType="variant">
      <vt:variant>
        <vt:lpstr>已用的字体</vt:lpstr>
      </vt:variant>
      <vt:variant>
        <vt:i4>34</vt:i4>
      </vt:variant>
      <vt:variant>
        <vt:lpstr>主题</vt:lpstr>
      </vt:variant>
      <vt:variant>
        <vt:i4>1</vt:i4>
      </vt:variant>
      <vt:variant>
        <vt:lpstr>幻灯片标题</vt:lpstr>
      </vt:variant>
      <vt:variant>
        <vt:i4>58</vt:i4>
      </vt:variant>
    </vt:vector>
  </HeadingPairs>
  <TitlesOfParts>
    <vt:vector size="93" baseType="lpstr">
      <vt:lpstr>Arial</vt:lpstr>
      <vt:lpstr>宋体</vt:lpstr>
      <vt:lpstr>Wingdings</vt:lpstr>
      <vt:lpstr>微软雅黑</vt:lpstr>
      <vt:lpstr>汉仪旗黑</vt:lpstr>
      <vt:lpstr>Times New Roman</vt:lpstr>
      <vt:lpstr>Wingdings</vt:lpstr>
      <vt:lpstr>宋体-简</vt:lpstr>
      <vt:lpstr>宋体</vt:lpstr>
      <vt:lpstr>Arial Unicode MS</vt:lpstr>
      <vt:lpstr>Calibri Light</vt:lpstr>
      <vt:lpstr>Helvetica Neue</vt:lpstr>
      <vt:lpstr>Calibri</vt:lpstr>
      <vt:lpstr>PMingLiU</vt:lpstr>
      <vt:lpstr>宋体-繁</vt:lpstr>
      <vt:lpstr>微软雅黑 Light</vt:lpstr>
      <vt:lpstr>MS Mincho</vt:lpstr>
      <vt:lpstr>华文楷体</vt:lpstr>
      <vt:lpstr>Adobe Arabic</vt:lpstr>
      <vt:lpstr>Thonburi</vt:lpstr>
      <vt:lpstr>Times New Roman Bold</vt:lpstr>
      <vt:lpstr>Times New Roman Italic</vt:lpstr>
      <vt:lpstr>Gill Sans</vt:lpstr>
      <vt:lpstr>黑体</vt:lpstr>
      <vt:lpstr>黑体-简</vt:lpstr>
      <vt:lpstr>Arial</vt:lpstr>
      <vt:lpstr>微软雅黑</vt:lpstr>
      <vt:lpstr>Adobe Clean Han</vt:lpstr>
      <vt:lpstr>Times New Roman</vt:lpstr>
      <vt:lpstr>Helvetica Neue</vt:lpstr>
      <vt:lpstr>Space Grotesk</vt:lpstr>
      <vt:lpstr>Wingdings</vt:lpstr>
      <vt:lpstr>Hiragino Sans</vt:lpstr>
      <vt:lpstr>苹方-简</vt:lpstr>
      <vt:lpstr>Office Theme</vt:lpstr>
      <vt:lpstr>Data Structures</vt:lpstr>
      <vt:lpstr>Course Information (I)</vt:lpstr>
      <vt:lpstr>Course Information (II)</vt:lpstr>
      <vt:lpstr>Course Information</vt:lpstr>
      <vt:lpstr>Course Topics of Data Structure</vt:lpstr>
      <vt:lpstr>Three Goals</vt:lpstr>
      <vt:lpstr>Data Structures: What?</vt:lpstr>
      <vt:lpstr>Data Structures: What?</vt:lpstr>
      <vt:lpstr>Data Structures: Why?</vt:lpstr>
      <vt:lpstr>Data Structures: Why?</vt:lpstr>
      <vt:lpstr>Tips for Learning (V)</vt:lpstr>
      <vt:lpstr>大数据与数据结构</vt:lpstr>
      <vt:lpstr>1. 什么是大数据?</vt:lpstr>
      <vt:lpstr>大数据的背景——数据爆炸</vt:lpstr>
      <vt:lpstr>大数据的定义和特征</vt:lpstr>
      <vt:lpstr>大数据的特征——巨量性</vt:lpstr>
      <vt:lpstr>大数据的特征——即时性</vt:lpstr>
      <vt:lpstr>大数据的特征——多样性</vt:lpstr>
      <vt:lpstr>大数据的特征——价值性</vt:lpstr>
      <vt:lpstr>大数据的特征——价值性</vt:lpstr>
      <vt:lpstr>2. 大数据开发与应用的战略意义</vt:lpstr>
      <vt:lpstr>PowerPoint 演示文稿</vt:lpstr>
      <vt:lpstr>PowerPoint 演示文稿</vt:lpstr>
      <vt:lpstr>PowerPoint 演示文稿</vt:lpstr>
      <vt:lpstr>5. 大数据与数据结构</vt:lpstr>
      <vt:lpstr>6. 大数据与大模型</vt:lpstr>
      <vt:lpstr>人工智能近四十年的发展</vt:lpstr>
      <vt:lpstr>人工智能近四十年的发展</vt:lpstr>
      <vt:lpstr>人工智能近四十年的发展</vt:lpstr>
      <vt:lpstr>人工智能近四十年的发展</vt:lpstr>
      <vt:lpstr>人工智能近四十年的发展</vt:lpstr>
      <vt:lpstr>人工智能近四十年的发展</vt:lpstr>
      <vt:lpstr>人工智能近四十年的发展</vt:lpstr>
      <vt:lpstr>人工智能近四十年的发展</vt:lpstr>
      <vt:lpstr>大模型时代的到来</vt:lpstr>
      <vt:lpstr>ChatGPT——大模型的点火试验</vt:lpstr>
      <vt:lpstr>比尔·盖茨：ChatGPT出现的意义,不亚于互联网和个人电脑的诞生</vt:lpstr>
      <vt:lpstr>在以往模型的基础上有了多方面的显著提升</vt:lpstr>
      <vt:lpstr>百模大战——大模型时代</vt:lpstr>
      <vt:lpstr>大语言模型应用覆盖较多领域</vt:lpstr>
      <vt:lpstr>1. 数字人大脑</vt:lpstr>
      <vt:lpstr>2. 写文章/编辑文章/提炼文字</vt:lpstr>
      <vt:lpstr>3. 多语种转化</vt:lpstr>
      <vt:lpstr>4. 古诗词生成</vt:lpstr>
      <vt:lpstr>5. 与机器人领域的结合</vt:lpstr>
      <vt:lpstr>国产大模型1：文心大模型（百度）</vt:lpstr>
      <vt:lpstr>国产大模型2：通义大模型（阿里巴巴）</vt:lpstr>
      <vt:lpstr>国产大模型3：盘古大模型聚焦实业（华为）</vt:lpstr>
      <vt:lpstr>国产大模型4：DeepSeek-R1 （DeepSeek）</vt:lpstr>
      <vt:lpstr>PowerPoint 演示文稿</vt:lpstr>
      <vt:lpstr>PowerPoint 演示文稿</vt:lpstr>
      <vt:lpstr>PowerPoint 演示文稿</vt:lpstr>
      <vt:lpstr>PowerPoint 演示文稿</vt:lpstr>
      <vt:lpstr>美国调查：50%企业已在用ChatGPT，其中48%已让其代替员工</vt:lpstr>
      <vt:lpstr>OpenAI CEO承认害怕ChatGPT：AI会取代许多工作</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dc:title>
  <dc:creator>jiexin</dc:creator>
  <cp:lastModifiedBy>jiexin</cp:lastModifiedBy>
  <cp:revision>200</cp:revision>
  <dcterms:created xsi:type="dcterms:W3CDTF">2025-09-02T09:04:56Z</dcterms:created>
  <dcterms:modified xsi:type="dcterms:W3CDTF">2025-09-02T09:04:56Z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2052-6.12.0.8652</vt:lpwstr>
  </property>
  <property fmtid="{D5CDD505-2E9C-101B-9397-08002B2CF9AE}" pid="3" name="ICV">
    <vt:lpwstr>1174F5AC2C5736388D6AB1681A40EB1B_43</vt:lpwstr>
  </property>
</Properties>
</file>