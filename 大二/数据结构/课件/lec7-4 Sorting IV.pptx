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651" r:id="rId3"/>
    <p:sldId id="982" r:id="rId4"/>
    <p:sldId id="992" r:id="rId5"/>
    <p:sldId id="993" r:id="rId6"/>
    <p:sldId id="994" r:id="rId7"/>
    <p:sldId id="995" r:id="rId8"/>
    <p:sldId id="996" r:id="rId9"/>
    <p:sldId id="997" r:id="rId10"/>
    <p:sldId id="998" r:id="rId11"/>
    <p:sldId id="999" r:id="rId12"/>
    <p:sldId id="1000" r:id="rId13"/>
    <p:sldId id="1002" r:id="rId14"/>
    <p:sldId id="1003" r:id="rId15"/>
    <p:sldId id="1004" r:id="rId16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96429" autoAdjust="0"/>
  </p:normalViewPr>
  <p:slideViewPr>
    <p:cSldViewPr>
      <p:cViewPr varScale="1">
        <p:scale>
          <a:sx n="85" d="100"/>
          <a:sy n="85" d="100"/>
        </p:scale>
        <p:origin x="2784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231D7C-9D65-42E2-ACD1-5FB86D27E7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E94083-4E96-46A7-93C8-B713535A5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DB2A9-5C9A-4E1E-8B31-40FEB4AF99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F56E0E-E226-41AB-A2CE-A0C4482D349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5EEFFD-E756-4FBD-8609-751F741C85E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F1A1C-2367-4D9C-B00C-E2DA1CD8DE0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E9B166-CD60-4954-BCF4-DA2549AB585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06FA9-E4F1-47C4-917E-12977F68D8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70C02-3069-4307-BB92-E00CCFFCED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F7ED0-9384-4199-8951-AE1A98A8D4A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1444F48-4AE8-431D-9BAD-D74D4CDF28A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Sorting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Lower Bound for Sorting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21957E-8DDB-4EDD-90E3-B376C153ED0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General Lower Bound for Sorting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75385" y="2438403"/>
            <a:ext cx="5977951" cy="5801783"/>
          </a:xfrm>
        </p:spPr>
        <p:txBody>
          <a:bodyPr>
            <a:normAutofit/>
          </a:bodyPr>
          <a:lstStyle/>
          <a:p>
            <a:r>
              <a:rPr lang="en-US" altLang="zh-CN" dirty="0"/>
              <a:t>The problem of sorting is bounded by </a:t>
            </a:r>
            <a:r>
              <a:rPr lang="en-US" altLang="zh-CN" dirty="0" smtClean="0"/>
              <a:t>Ω(N) </a:t>
            </a:r>
            <a:r>
              <a:rPr lang="en-US" altLang="zh-CN" dirty="0"/>
              <a:t>and </a:t>
            </a:r>
            <a:r>
              <a:rPr lang="en-US" altLang="zh-CN" dirty="0" smtClean="0"/>
              <a:t>O(N </a:t>
            </a:r>
            <a:r>
              <a:rPr lang="en-US" altLang="zh-CN" dirty="0" err="1" smtClean="0"/>
              <a:t>logN</a:t>
            </a:r>
            <a:r>
              <a:rPr lang="en-US" altLang="zh-CN" dirty="0" smtClean="0"/>
              <a:t>).</a:t>
            </a:r>
            <a:endParaRPr lang="en-US" altLang="zh-CN" dirty="0"/>
          </a:p>
          <a:p>
            <a:pPr lvl="1"/>
            <a:r>
              <a:rPr lang="en-US" altLang="zh-CN" dirty="0"/>
              <a:t>A sorting problem cannot be solved by any algorithm in less than </a:t>
            </a:r>
            <a:r>
              <a:rPr lang="en-US" altLang="zh-CN" dirty="0" smtClean="0"/>
              <a:t>Ω(N) </a:t>
            </a:r>
            <a:r>
              <a:rPr lang="en-US" altLang="zh-CN" dirty="0"/>
              <a:t>time</a:t>
            </a:r>
            <a:endParaRPr lang="en-US" altLang="zh-CN" dirty="0"/>
          </a:p>
          <a:p>
            <a:pPr lvl="1"/>
            <a:r>
              <a:rPr lang="en-US" altLang="zh-CN" dirty="0"/>
              <a:t>Current best known sorting algorithm is in 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 </a:t>
            </a:r>
            <a:r>
              <a:rPr lang="en-US" altLang="zh-CN" dirty="0"/>
              <a:t>(for average and worst cases)</a:t>
            </a:r>
            <a:endParaRPr lang="en-US" altLang="zh-CN" dirty="0" smtClean="0"/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One of the most important and most useful proofs in computer </a:t>
            </a:r>
            <a:r>
              <a:rPr lang="en-US" altLang="zh-CN" dirty="0" smtClean="0"/>
              <a:t>science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548680" y="5796136"/>
            <a:ext cx="5570961" cy="12926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600" dirty="0" smtClean="0">
                <a:solidFill>
                  <a:srgbClr val="FF0000"/>
                </a:solidFill>
                <a:latin typeface="Helvetica" pitchFamily="34" charset="0"/>
              </a:rPr>
              <a:t>No </a:t>
            </a:r>
            <a:r>
              <a:rPr lang="en-US" altLang="zh-CN" sz="2600" dirty="0">
                <a:solidFill>
                  <a:srgbClr val="FF0000"/>
                </a:solidFill>
                <a:latin typeface="Helvetica" pitchFamily="34" charset="0"/>
              </a:rPr>
              <a:t>sorting algorithm based on </a:t>
            </a:r>
            <a:r>
              <a:rPr lang="en-US" altLang="zh-CN" sz="2600" b="1" dirty="0">
                <a:solidFill>
                  <a:srgbClr val="FF0000"/>
                </a:solidFill>
                <a:latin typeface="Helvetica" pitchFamily="34" charset="0"/>
              </a:rPr>
              <a:t>key comparisons </a:t>
            </a:r>
            <a:r>
              <a:rPr lang="en-US" altLang="zh-CN" sz="2600" dirty="0">
                <a:solidFill>
                  <a:srgbClr val="FF0000"/>
                </a:solidFill>
                <a:latin typeface="Helvetica" pitchFamily="34" charset="0"/>
              </a:rPr>
              <a:t>can possibly be faster than </a:t>
            </a:r>
            <a:r>
              <a:rPr lang="el-GR" altLang="zh-CN" sz="2600" dirty="0">
                <a:solidFill>
                  <a:srgbClr val="FF0000"/>
                </a:solidFill>
                <a:latin typeface="Helvetica" pitchFamily="34" charset="0"/>
              </a:rPr>
              <a:t>Ω</a:t>
            </a:r>
            <a:r>
              <a:rPr lang="en-US" altLang="zh-CN" sz="2600" dirty="0" smtClean="0">
                <a:solidFill>
                  <a:srgbClr val="FF0000"/>
                </a:solidFill>
                <a:latin typeface="Helvetica" pitchFamily="34" charset="0"/>
              </a:rPr>
              <a:t>(N </a:t>
            </a:r>
            <a:r>
              <a:rPr lang="en-US" altLang="zh-CN" sz="2600" dirty="0" err="1" smtClean="0">
                <a:solidFill>
                  <a:srgbClr val="FF0000"/>
                </a:solidFill>
                <a:latin typeface="Helvetica" pitchFamily="34" charset="0"/>
              </a:rPr>
              <a:t>logN</a:t>
            </a:r>
            <a:r>
              <a:rPr lang="en-US" altLang="zh-CN" sz="2600" dirty="0" smtClean="0">
                <a:solidFill>
                  <a:srgbClr val="FF0000"/>
                </a:solidFill>
                <a:latin typeface="Helvetica" pitchFamily="34" charset="0"/>
              </a:rPr>
              <a:t>) </a:t>
            </a:r>
            <a:r>
              <a:rPr lang="en-US" altLang="zh-CN" sz="2600" dirty="0">
                <a:solidFill>
                  <a:srgbClr val="FF0000"/>
                </a:solidFill>
                <a:latin typeface="Helvetica" pitchFamily="34" charset="0"/>
              </a:rPr>
              <a:t>in the worst case. </a:t>
            </a:r>
            <a:endParaRPr lang="en-US" altLang="zh-CN" sz="2600" dirty="0">
              <a:solidFill>
                <a:srgbClr val="FF0000"/>
              </a:solidFill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Decision Tree</a:t>
            </a:r>
            <a:endParaRPr lang="zh-CN" altLang="en-US" dirty="0" smtClean="0"/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 smtClean="0"/>
              <a:t>Assume </a:t>
            </a:r>
            <a:r>
              <a:rPr lang="en-US" altLang="zh-CN" sz="2100" dirty="0"/>
              <a:t>that all N elements are distinct</a:t>
            </a:r>
            <a:endParaRPr lang="en-US" altLang="zh-CN" sz="2100" dirty="0"/>
          </a:p>
          <a:p>
            <a:endParaRPr lang="en-US" altLang="zh-CN" sz="2100" dirty="0" smtClean="0"/>
          </a:p>
          <a:p>
            <a:r>
              <a:rPr lang="en-US" altLang="zh-CN" sz="2100" dirty="0" smtClean="0"/>
              <a:t>Any </a:t>
            </a:r>
            <a:r>
              <a:rPr lang="en-US" altLang="zh-CN" sz="2100" dirty="0"/>
              <a:t>sorting algorithm based on comparisons can be modeled by a </a:t>
            </a:r>
            <a:r>
              <a:rPr lang="en-US" altLang="zh-CN" sz="2100" b="1" dirty="0">
                <a:solidFill>
                  <a:srgbClr val="FF0000"/>
                </a:solidFill>
              </a:rPr>
              <a:t>decision tree</a:t>
            </a:r>
            <a:r>
              <a:rPr lang="en-US" altLang="zh-CN" sz="2100" dirty="0"/>
              <a:t>.</a:t>
            </a:r>
            <a:endParaRPr lang="zh-CN" altLang="en-US" sz="2100" dirty="0"/>
          </a:p>
          <a:p>
            <a:endParaRPr lang="en-US" altLang="zh-CN" sz="2100" dirty="0"/>
          </a:p>
          <a:p>
            <a:r>
              <a:rPr lang="en-US" altLang="zh-CN" sz="2100" dirty="0"/>
              <a:t>A decision tree is a </a:t>
            </a:r>
            <a:r>
              <a:rPr lang="en-US" altLang="zh-CN" sz="2100" dirty="0">
                <a:solidFill>
                  <a:srgbClr val="FF0000"/>
                </a:solidFill>
              </a:rPr>
              <a:t>binary tree </a:t>
            </a:r>
            <a:r>
              <a:rPr lang="en-US" altLang="zh-CN" sz="2100" dirty="0"/>
              <a:t>that can model the processing for any algorithm that makes </a:t>
            </a:r>
            <a:r>
              <a:rPr lang="en-US" altLang="zh-CN" sz="2100" dirty="0">
                <a:solidFill>
                  <a:srgbClr val="FF0000"/>
                </a:solidFill>
              </a:rPr>
              <a:t>binary decisions</a:t>
            </a:r>
            <a:r>
              <a:rPr lang="en-US" altLang="zh-CN" sz="2100" dirty="0"/>
              <a:t>.</a:t>
            </a:r>
            <a:endParaRPr lang="en-US" altLang="zh-CN" sz="1800" dirty="0"/>
          </a:p>
          <a:p>
            <a:pPr lvl="1"/>
            <a:r>
              <a:rPr lang="en-US" altLang="zh-CN" sz="1800" dirty="0"/>
              <a:t>Binary decision: yes or no; smaller than or larger than</a:t>
            </a:r>
            <a:endParaRPr lang="en-US" altLang="zh-CN" sz="1800" dirty="0"/>
          </a:p>
          <a:p>
            <a:pPr lvl="1"/>
            <a:r>
              <a:rPr lang="en-US" altLang="zh-CN" sz="1800" dirty="0"/>
              <a:t>Each decision is represented by a branch in the tree</a:t>
            </a:r>
            <a:endParaRPr lang="en-US" altLang="zh-CN" sz="2100" dirty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E97BC4E3-5D9D-425A-9458-B09AAA3FD3FB}" type="slidenum">
              <a:rPr lang="en-US" altLang="zh-CN" smtClean="0"/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Decision-Tree</a:t>
            </a:r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  <p:pic>
        <p:nvPicPr>
          <p:cNvPr id="19" name="Picture 4" descr="C:\Shaffer\CS2604\Figs\DecTree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" t="2475" r="3954" b="1649"/>
          <a:stretch>
            <a:fillRect/>
          </a:stretch>
        </p:blipFill>
        <p:spPr bwMode="auto">
          <a:xfrm>
            <a:off x="188640" y="2411760"/>
            <a:ext cx="6372225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标注 5"/>
          <p:cNvSpPr/>
          <p:nvPr/>
        </p:nvSpPr>
        <p:spPr>
          <a:xfrm>
            <a:off x="80146" y="3635896"/>
            <a:ext cx="1476646" cy="1368152"/>
          </a:xfrm>
          <a:prstGeom prst="wedgeRectCallout">
            <a:avLst>
              <a:gd name="adj1" fmla="val 84412"/>
              <a:gd name="adj2" fmla="val 27529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Sitka Text" panose="02000505000000020004" pitchFamily="2" charset="0"/>
              </a:rPr>
              <a:t>Each node represents a set of possible </a:t>
            </a:r>
            <a:r>
              <a:rPr lang="en-US" altLang="zh-CN" dirty="0" smtClean="0">
                <a:solidFill>
                  <a:schemeClr val="tx1"/>
                </a:solidFill>
                <a:latin typeface="Sitka Text" panose="02000505000000020004" pitchFamily="2" charset="0"/>
              </a:rPr>
              <a:t>orderings</a:t>
            </a:r>
            <a:endParaRPr lang="en-US" altLang="zh-CN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  <p:sp>
        <p:nvSpPr>
          <p:cNvPr id="20" name="矩形标注 19"/>
          <p:cNvSpPr/>
          <p:nvPr/>
        </p:nvSpPr>
        <p:spPr>
          <a:xfrm>
            <a:off x="5192712" y="2627784"/>
            <a:ext cx="1476647" cy="864096"/>
          </a:xfrm>
          <a:prstGeom prst="wedgeRectCallout">
            <a:avLst>
              <a:gd name="adj1" fmla="val -94578"/>
              <a:gd name="adj2" fmla="val 89259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Sitka Text" panose="02000505000000020004" pitchFamily="2" charset="0"/>
              </a:rPr>
              <a:t>The results of the comparison</a:t>
            </a:r>
            <a:endParaRPr lang="en-US" altLang="zh-CN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  <p:sp>
        <p:nvSpPr>
          <p:cNvPr id="21" name="矩形标注 20"/>
          <p:cNvSpPr/>
          <p:nvPr/>
        </p:nvSpPr>
        <p:spPr>
          <a:xfrm>
            <a:off x="4187373" y="1669807"/>
            <a:ext cx="2218852" cy="615288"/>
          </a:xfrm>
          <a:prstGeom prst="wedgeRectCallout">
            <a:avLst>
              <a:gd name="adj1" fmla="val -47301"/>
              <a:gd name="adj2" fmla="val 10863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Sitka Text" panose="02000505000000020004" pitchFamily="2" charset="0"/>
              </a:rPr>
              <a:t>The initial state of the </a:t>
            </a:r>
            <a:r>
              <a:rPr lang="en-US" altLang="zh-CN" dirty="0" smtClean="0">
                <a:solidFill>
                  <a:schemeClr val="tx1"/>
                </a:solidFill>
                <a:latin typeface="Sitka Text" panose="02000505000000020004" pitchFamily="2" charset="0"/>
              </a:rPr>
              <a:t>algorithm(root)</a:t>
            </a:r>
            <a:endParaRPr lang="en-US" altLang="zh-CN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570" y="7807170"/>
            <a:ext cx="57967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74FFF"/>
                </a:solidFill>
                <a:latin typeface="Sitka Text" panose="02000505000000020004" pitchFamily="2" charset="0"/>
              </a:rPr>
              <a:t>Decision tree for Insertion </a:t>
            </a:r>
            <a:r>
              <a:rPr lang="en-US" altLang="zh-CN" dirty="0" smtClean="0">
                <a:solidFill>
                  <a:srgbClr val="374FFF"/>
                </a:solidFill>
                <a:latin typeface="Sitka Text" panose="02000505000000020004" pitchFamily="2" charset="0"/>
              </a:rPr>
              <a:t>Sort of </a:t>
            </a:r>
            <a:r>
              <a:rPr lang="en-US" altLang="zh-CN" dirty="0">
                <a:solidFill>
                  <a:srgbClr val="374FFF"/>
                </a:solidFill>
                <a:latin typeface="Sitka Text" panose="02000505000000020004" pitchFamily="2" charset="0"/>
              </a:rPr>
              <a:t>array A=[X, Y, Z]</a:t>
            </a:r>
            <a:endParaRPr lang="en-US" altLang="zh-CN" dirty="0">
              <a:solidFill>
                <a:srgbClr val="374FFF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1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Decision-Tree</a:t>
            </a:r>
            <a:endParaRPr lang="zh-CN" altLang="en-US" dirty="0" smtClean="0"/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All sorting algorithms can be viewed as algorithms to </a:t>
            </a:r>
            <a:r>
              <a:rPr lang="en-US" altLang="zh-CN" dirty="0">
                <a:solidFill>
                  <a:srgbClr val="374FFF"/>
                </a:solidFill>
              </a:rPr>
              <a:t>“find” the correct permutation</a:t>
            </a:r>
            <a:r>
              <a:rPr lang="en-US" altLang="zh-CN" dirty="0"/>
              <a:t> of the input that yields a sorting list.</a:t>
            </a:r>
            <a:endParaRPr lang="en-US" altLang="zh-CN" dirty="0"/>
          </a:p>
          <a:p>
            <a:pPr lvl="1"/>
            <a:r>
              <a:rPr lang="en-US" altLang="zh-CN" dirty="0"/>
              <a:t>Proceed by making branches in the tree based on the results of key comparisons</a:t>
            </a:r>
            <a:endParaRPr lang="en-US" altLang="zh-CN" dirty="0"/>
          </a:p>
          <a:p>
            <a:pPr lvl="1"/>
            <a:r>
              <a:rPr lang="en-US" altLang="zh-CN" dirty="0"/>
              <a:t>The algorithm can terminate once a node with </a:t>
            </a:r>
            <a:r>
              <a:rPr lang="en-US" altLang="zh-CN" dirty="0" smtClean="0"/>
              <a:t>a single permutation has </a:t>
            </a:r>
            <a:r>
              <a:rPr lang="en-US" altLang="zh-CN" dirty="0"/>
              <a:t>been </a:t>
            </a:r>
            <a:r>
              <a:rPr lang="en-US" altLang="zh-CN" dirty="0" smtClean="0"/>
              <a:t>reached (</a:t>
            </a:r>
            <a:r>
              <a:rPr lang="en-US" altLang="zh-CN" dirty="0" smtClean="0">
                <a:solidFill>
                  <a:srgbClr val="374FFF"/>
                </a:solidFill>
              </a:rPr>
              <a:t>leaf</a:t>
            </a:r>
            <a:r>
              <a:rPr lang="en-US" altLang="zh-CN" dirty="0" smtClean="0"/>
              <a:t>).</a:t>
            </a:r>
            <a:endParaRPr lang="en-US" altLang="zh-CN" dirty="0"/>
          </a:p>
          <a:p>
            <a:pPr lvl="1"/>
            <a:endParaRPr lang="en-US" altLang="zh-CN" sz="1800" dirty="0"/>
          </a:p>
          <a:p>
            <a:r>
              <a:rPr lang="en-US" altLang="zh-CN" dirty="0">
                <a:solidFill>
                  <a:srgbClr val="374FFF"/>
                </a:solidFill>
              </a:rPr>
              <a:t>The depth of the deepest node </a:t>
            </a:r>
            <a:r>
              <a:rPr lang="en-US" altLang="zh-CN" dirty="0"/>
              <a:t>represents the longest series of decisions required by the algorithm to reach an answer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It corresponds to the worst-case cost of the algorithm!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995EBC4-31C4-42E9-BB48-DD239E1369B9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tree properties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A binary </a:t>
                </a:r>
                <a:r>
                  <a:rPr lang="en-US" altLang="zh-CN" dirty="0"/>
                  <a:t>tree of </a:t>
                </a:r>
                <a:r>
                  <a:rPr lang="en-US" altLang="zh-CN" dirty="0" smtClean="0"/>
                  <a:t>depth d </a:t>
                </a:r>
                <a:r>
                  <a:rPr lang="en-US" altLang="zh-CN" dirty="0" smtClean="0"/>
                  <a:t>has </a:t>
                </a:r>
                <a:r>
                  <a:rPr lang="en-US" altLang="zh-CN" dirty="0"/>
                  <a:t>at most 2</a:t>
                </a:r>
                <a:r>
                  <a:rPr lang="en-US" altLang="zh-CN" baseline="30000" dirty="0"/>
                  <a:t>d</a:t>
                </a:r>
                <a:r>
                  <a:rPr lang="en-US" altLang="zh-CN" dirty="0"/>
                  <a:t> leaves</a:t>
                </a:r>
                <a:r>
                  <a:rPr lang="en-US" altLang="zh-CN" dirty="0" smtClean="0"/>
                  <a:t>.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en-US" altLang="zh-CN" dirty="0"/>
                  <a:t>A binary tree with L leaves must have depth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</p:txBody>
          </p:sp>
        </mc:Choice>
        <mc:Fallback>
          <p:sp>
            <p:nvSpPr>
              <p:cNvPr id="67587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1707" r="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General Lower Bound for Sorting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What is 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smallest depth possible </a:t>
                </a:r>
                <a:r>
                  <a:rPr lang="en-US" altLang="zh-CN" dirty="0"/>
                  <a:t>for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the deepest node in the tree for any sorting algorithm </a:t>
                </a:r>
                <a:r>
                  <a:rPr lang="en-US" altLang="zh-CN" dirty="0" smtClean="0"/>
                  <a:t>using </a:t>
                </a:r>
                <a:r>
                  <a:rPr lang="en-US" altLang="zh-CN" dirty="0"/>
                  <a:t>only comparisons?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en-US" altLang="zh-CN" dirty="0" smtClean="0"/>
                  <a:t>Any sorting algorithm that uses only comparisons requires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US" altLang="zh-CN" i="1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b="0" i="1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 smtClean="0"/>
                  <a:t>  comparisons </a:t>
                </a:r>
                <a:r>
                  <a:rPr lang="en-US" altLang="zh-CN" dirty="0"/>
                  <a:t>in the worst case</a:t>
                </a:r>
                <a:r>
                  <a:rPr lang="en-US" altLang="zh-CN" dirty="0" smtClean="0"/>
                  <a:t>.</a:t>
                </a:r>
                <a:endParaRPr lang="en-US" altLang="zh-CN" dirty="0" smtClean="0"/>
              </a:p>
              <a:p>
                <a:pPr lvl="1"/>
                <a:r>
                  <a:rPr lang="en-US" altLang="zh-CN" dirty="0"/>
                  <a:t>A decision tree to sort N elements </a:t>
                </a:r>
                <a:r>
                  <a:rPr lang="en-US" altLang="zh-CN" dirty="0" smtClean="0"/>
                  <a:t>must have </a:t>
                </a:r>
                <a:r>
                  <a:rPr lang="en-US" altLang="zh-CN" dirty="0"/>
                  <a:t>N! </a:t>
                </a:r>
                <a:r>
                  <a:rPr lang="en-US" altLang="zh-CN" dirty="0" smtClean="0"/>
                  <a:t>leaves.(</a:t>
                </a:r>
                <a:r>
                  <a:rPr lang="en-US" altLang="zh-CN" dirty="0"/>
                  <a:t>Each </a:t>
                </a:r>
                <a:r>
                  <a:rPr lang="en-US" altLang="zh-CN" dirty="0" smtClean="0"/>
                  <a:t>leaf </a:t>
                </a:r>
                <a:r>
                  <a:rPr lang="en-US" altLang="zh-CN" dirty="0"/>
                  <a:t>corresponds to a permutation of </a:t>
                </a:r>
                <a:r>
                  <a:rPr lang="en-US" altLang="zh-CN" dirty="0" smtClean="0"/>
                  <a:t>N </a:t>
                </a:r>
                <a:r>
                  <a:rPr lang="en-US" altLang="zh-CN" dirty="0"/>
                  <a:t>elements</a:t>
                </a:r>
                <a:r>
                  <a:rPr lang="en-US" altLang="zh-CN" dirty="0" smtClean="0"/>
                  <a:t>)</a:t>
                </a:r>
                <a:endParaRPr lang="en-US" altLang="zh-CN" dirty="0" smtClean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67587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405" r="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General Lower Bound for Sorting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Any </a:t>
            </a:r>
            <a:r>
              <a:rPr lang="en-US" altLang="zh-CN" dirty="0">
                <a:solidFill>
                  <a:srgbClr val="FF0000"/>
                </a:solidFill>
              </a:rPr>
              <a:t>sorting algorithm that uses only comparisons between elements </a:t>
            </a:r>
            <a:r>
              <a:rPr lang="en-US" altLang="zh-CN" dirty="0" smtClean="0">
                <a:solidFill>
                  <a:srgbClr val="FF0000"/>
                </a:solidFill>
              </a:rPr>
              <a:t>requires </a:t>
            </a:r>
            <a:r>
              <a:rPr lang="el-GR" altLang="zh-CN" dirty="0">
                <a:solidFill>
                  <a:srgbClr val="FF0000"/>
                </a:solidFill>
              </a:rPr>
              <a:t>Ω 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N </a:t>
            </a:r>
            <a:r>
              <a:rPr lang="en-US" altLang="zh-CN" dirty="0" err="1">
                <a:solidFill>
                  <a:srgbClr val="FF0000"/>
                </a:solidFill>
              </a:rPr>
              <a:t>logN</a:t>
            </a:r>
            <a:r>
              <a:rPr lang="en-US" altLang="zh-CN" dirty="0">
                <a:solidFill>
                  <a:srgbClr val="FF0000"/>
                </a:solidFill>
              </a:rPr>
              <a:t>) comparisons</a:t>
            </a:r>
            <a:r>
              <a:rPr lang="en-US" altLang="zh-CN" dirty="0"/>
              <a:t>.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  <p:sp>
        <p:nvSpPr>
          <p:cNvPr id="2" name="矩形 1"/>
          <p:cNvSpPr/>
          <p:nvPr/>
        </p:nvSpPr>
        <p:spPr>
          <a:xfrm>
            <a:off x="475385" y="4283968"/>
            <a:ext cx="581120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log⁡(N</a:t>
            </a:r>
            <a:r>
              <a:rPr lang="en-US" altLang="zh-CN" sz="2000" dirty="0" smtClean="0">
                <a:latin typeface="Sitka Text" panose="02000505000000020004" pitchFamily="2" charset="0"/>
              </a:rPr>
              <a:t>!) = </a:t>
            </a:r>
            <a:r>
              <a:rPr lang="pt-BR" altLang="zh-CN" sz="2000" dirty="0">
                <a:latin typeface="Sitka Text" panose="02000505000000020004" pitchFamily="2" charset="0"/>
              </a:rPr>
              <a:t>log(N(N − 1)(N − 2) · · · (2)(1</a:t>
            </a:r>
            <a:r>
              <a:rPr lang="pt-BR" altLang="zh-CN" sz="2000" dirty="0" smtClean="0">
                <a:latin typeface="Sitka Text" panose="02000505000000020004" pitchFamily="2" charset="0"/>
              </a:rPr>
              <a:t>))</a:t>
            </a:r>
            <a:endParaRPr lang="pt-BR" altLang="zh-CN" sz="2000" dirty="0" smtClean="0">
              <a:latin typeface="Sitka Text" panose="02000505000000020004" pitchFamily="2" charset="0"/>
            </a:endParaRPr>
          </a:p>
          <a:p>
            <a:r>
              <a:rPr lang="pt-BR" altLang="zh-CN" sz="2000" dirty="0">
                <a:latin typeface="Sitka Text" panose="02000505000000020004" pitchFamily="2" charset="0"/>
              </a:rPr>
              <a:t> </a:t>
            </a:r>
            <a:r>
              <a:rPr lang="pt-BR" altLang="zh-CN" sz="2000" dirty="0" smtClean="0">
                <a:latin typeface="Sitka Text" panose="02000505000000020004" pitchFamily="2" charset="0"/>
              </a:rPr>
              <a:t>            =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pt-BR" altLang="zh-CN" sz="2000" dirty="0" smtClean="0">
                <a:latin typeface="Sitka Text" panose="02000505000000020004" pitchFamily="2" charset="0"/>
              </a:rPr>
              <a:t>logN </a:t>
            </a:r>
            <a:r>
              <a:rPr lang="pt-BR" altLang="zh-CN" sz="2000" dirty="0">
                <a:latin typeface="Sitka Text" panose="02000505000000020004" pitchFamily="2" charset="0"/>
              </a:rPr>
              <a:t>+ log(N − 1) + </a:t>
            </a:r>
            <a:r>
              <a:rPr lang="pt-BR" altLang="zh-CN" sz="2000" dirty="0" smtClean="0">
                <a:latin typeface="Sitka Text" panose="02000505000000020004" pitchFamily="2" charset="0"/>
              </a:rPr>
              <a:t>· </a:t>
            </a:r>
            <a:r>
              <a:rPr lang="pt-BR" altLang="zh-CN" sz="2000" dirty="0">
                <a:latin typeface="Sitka Text" panose="02000505000000020004" pitchFamily="2" charset="0"/>
              </a:rPr>
              <a:t>· ·+log 2 + log </a:t>
            </a:r>
            <a:r>
              <a:rPr lang="pt-BR" altLang="zh-CN" sz="2000" dirty="0" smtClean="0">
                <a:latin typeface="Sitka Text" panose="02000505000000020004" pitchFamily="2" charset="0"/>
              </a:rPr>
              <a:t>1</a:t>
            </a:r>
            <a:endParaRPr lang="pt-BR" altLang="zh-CN" sz="2000" dirty="0" smtClean="0">
              <a:latin typeface="Sitka Text" panose="02000505000000020004" pitchFamily="2" charset="0"/>
            </a:endParaRPr>
          </a:p>
          <a:p>
            <a:r>
              <a:rPr lang="pt-BR" altLang="zh-CN" sz="2000" dirty="0" smtClean="0">
                <a:latin typeface="Sitka Text" panose="02000505000000020004" pitchFamily="2" charset="0"/>
              </a:rPr>
              <a:t>             ≥ </a:t>
            </a:r>
            <a:r>
              <a:rPr lang="pt-BR" altLang="zh-CN" sz="2000" dirty="0">
                <a:latin typeface="Sitka Text" panose="02000505000000020004" pitchFamily="2" charset="0"/>
              </a:rPr>
              <a:t>logN + log(N − 1) </a:t>
            </a:r>
            <a:r>
              <a:rPr lang="pt-BR" altLang="zh-CN" sz="2000" dirty="0" smtClean="0">
                <a:latin typeface="Sitka Text" panose="02000505000000020004" pitchFamily="2" charset="0"/>
              </a:rPr>
              <a:t>· </a:t>
            </a:r>
            <a:r>
              <a:rPr lang="pt-BR" altLang="zh-CN" sz="2000" dirty="0">
                <a:latin typeface="Sitka Text" panose="02000505000000020004" pitchFamily="2" charset="0"/>
              </a:rPr>
              <a:t>· ·+log(N/2</a:t>
            </a:r>
            <a:r>
              <a:rPr lang="pt-BR" altLang="zh-CN" sz="2000" dirty="0" smtClean="0">
                <a:latin typeface="Sitka Text" panose="02000505000000020004" pitchFamily="2" charset="0"/>
              </a:rPr>
              <a:t>)</a:t>
            </a:r>
            <a:endParaRPr lang="pt-BR" altLang="zh-CN" sz="2000" dirty="0" smtClean="0">
              <a:latin typeface="Sitka Text" panose="02000505000000020004" pitchFamily="2" charset="0"/>
            </a:endParaRPr>
          </a:p>
          <a:p>
            <a:r>
              <a:rPr lang="pt-BR" altLang="zh-CN" sz="2000" dirty="0" smtClean="0">
                <a:latin typeface="Sitka Text" panose="02000505000000020004" pitchFamily="2" charset="0"/>
              </a:rPr>
              <a:t>             ≥ (N/2) log(N/2)</a:t>
            </a:r>
            <a:endParaRPr lang="pt-BR" altLang="zh-CN" sz="2000" dirty="0" smtClean="0">
              <a:latin typeface="Sitka Text" panose="02000505000000020004" pitchFamily="2" charset="0"/>
            </a:endParaRPr>
          </a:p>
          <a:p>
            <a:r>
              <a:rPr lang="pt-BR" altLang="zh-CN" sz="2000" dirty="0" smtClean="0">
                <a:latin typeface="Sitka Text" panose="02000505000000020004" pitchFamily="2" charset="0"/>
              </a:rPr>
              <a:t>             ≥ (N/2) logN – (N/2)</a:t>
            </a:r>
            <a:endParaRPr lang="pt-BR" altLang="zh-CN" sz="2000" dirty="0" smtClean="0">
              <a:latin typeface="Sitka Text" panose="02000505000000020004" pitchFamily="2" charset="0"/>
            </a:endParaRPr>
          </a:p>
          <a:p>
            <a:r>
              <a:rPr lang="pt-BR" altLang="zh-CN" sz="2000" dirty="0" smtClean="0">
                <a:latin typeface="Sitka Text" panose="02000505000000020004" pitchFamily="2" charset="0"/>
              </a:rPr>
              <a:t>             = </a:t>
            </a:r>
            <a:r>
              <a:rPr lang="el-GR" altLang="zh-CN" sz="2000" dirty="0">
                <a:latin typeface="Sitka Text" panose="02000505000000020004" pitchFamily="2" charset="0"/>
              </a:rPr>
              <a:t>Ω </a:t>
            </a:r>
            <a:r>
              <a:rPr lang="pt-BR" altLang="zh-CN" sz="2000" dirty="0" smtClean="0">
                <a:latin typeface="Sitka Text" panose="02000505000000020004" pitchFamily="2" charset="0"/>
              </a:rPr>
              <a:t>(</a:t>
            </a:r>
            <a:r>
              <a:rPr lang="pt-BR" altLang="zh-CN" sz="2000" dirty="0">
                <a:latin typeface="Sitka Text" panose="02000505000000020004" pitchFamily="2" charset="0"/>
              </a:rPr>
              <a:t>N logN)</a:t>
            </a:r>
            <a:endParaRPr lang="pt-BR" altLang="zh-CN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Decision-Tree </a:t>
            </a:r>
            <a:r>
              <a:rPr lang="en-US" altLang="zh-CN" dirty="0"/>
              <a:t>Lower Bounds for Selection</a:t>
            </a:r>
            <a:br>
              <a:rPr lang="en-US" altLang="zh-CN" dirty="0"/>
            </a:br>
            <a:r>
              <a:rPr lang="en-US" altLang="zh-CN" dirty="0"/>
              <a:t>Problems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Selection Problems</a:t>
            </a:r>
            <a:endParaRPr lang="en-US" altLang="zh-CN" dirty="0" smtClean="0"/>
          </a:p>
          <a:p>
            <a:pPr lvl="1"/>
            <a:r>
              <a:rPr lang="en-US" altLang="zh-CN" dirty="0"/>
              <a:t>find the smallest item in an N-element </a:t>
            </a:r>
            <a:r>
              <a:rPr lang="en-US" altLang="zh-CN" dirty="0" smtClean="0"/>
              <a:t>collection</a:t>
            </a:r>
            <a:endParaRPr lang="en-US" altLang="zh-CN" dirty="0" smtClean="0"/>
          </a:p>
          <a:p>
            <a:pPr lvl="1"/>
            <a:r>
              <a:rPr lang="en-US" altLang="zh-CN" dirty="0"/>
              <a:t>find the two smallest </a:t>
            </a:r>
            <a:r>
              <a:rPr lang="en-US" altLang="zh-CN" dirty="0" smtClean="0"/>
              <a:t>items </a:t>
            </a:r>
            <a:r>
              <a:rPr lang="en-US" altLang="zh-CN" dirty="0"/>
              <a:t>in an N-element collection</a:t>
            </a:r>
            <a:endParaRPr lang="en-US" altLang="zh-CN" dirty="0"/>
          </a:p>
          <a:p>
            <a:pPr lvl="1"/>
            <a:r>
              <a:rPr lang="en-US" altLang="zh-CN" dirty="0"/>
              <a:t>find the </a:t>
            </a:r>
            <a:r>
              <a:rPr lang="en-US" altLang="zh-CN" dirty="0" smtClean="0"/>
              <a:t>median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 smtClean="0"/>
              <a:t> The lower </a:t>
            </a:r>
            <a:r>
              <a:rPr lang="en-US" altLang="zh-CN" dirty="0"/>
              <a:t>bounds of these problems solved by comparison-based algorithms can be determined </a:t>
            </a:r>
            <a:r>
              <a:rPr lang="en-US" altLang="zh-CN" dirty="0" smtClean="0"/>
              <a:t>using </a:t>
            </a:r>
            <a:r>
              <a:rPr lang="en-US" altLang="zh-CN" dirty="0"/>
              <a:t>decision </a:t>
            </a:r>
            <a:r>
              <a:rPr lang="en-US" altLang="zh-CN" dirty="0" smtClean="0"/>
              <a:t>trees. 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Decision-Tree </a:t>
            </a:r>
            <a:r>
              <a:rPr lang="en-US" altLang="zh-CN" dirty="0"/>
              <a:t>Lower Bounds for Selection</a:t>
            </a:r>
            <a:br>
              <a:rPr lang="en-US" altLang="zh-CN" dirty="0"/>
            </a:br>
            <a:r>
              <a:rPr lang="en-US" altLang="zh-CN" dirty="0"/>
              <a:t>Problems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Assume all items are </a:t>
                </a:r>
                <a:r>
                  <a:rPr lang="en-US" altLang="zh-CN" dirty="0" smtClean="0"/>
                  <a:t>unique</a:t>
                </a:r>
                <a:endParaRPr lang="en-US" altLang="zh-CN" dirty="0" smtClean="0"/>
              </a:p>
              <a:p>
                <a:r>
                  <a:rPr lang="en-US" altLang="zh-CN" dirty="0" smtClean="0">
                    <a:solidFill>
                      <a:srgbClr val="263AF8"/>
                    </a:solidFill>
                  </a:rPr>
                  <a:t>N-k +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solidFill>
                              <a:srgbClr val="263AF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solidFill>
                              <a:srgbClr val="263AF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pt-BR" altLang="zh-CN" i="1" smtClean="0">
                                <a:solidFill>
                                  <a:srgbClr val="263AF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altLang="zh-CN" i="1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pt-BR" altLang="zh-CN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CN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altLang="zh-CN" dirty="0">
                    <a:solidFill>
                      <a:srgbClr val="263AF8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263AF8"/>
                    </a:solidFill>
                  </a:rPr>
                  <a:t>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comparisons are necessary </a:t>
                </a:r>
                <a:r>
                  <a:rPr lang="en-US" altLang="zh-CN" dirty="0" smtClean="0">
                    <a:solidFill>
                      <a:srgbClr val="263AF8"/>
                    </a:solidFill>
                  </a:rPr>
                  <a:t>to find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the </a:t>
                </a:r>
                <a:r>
                  <a:rPr lang="en-US" altLang="zh-CN" dirty="0" smtClean="0">
                    <a:solidFill>
                      <a:srgbClr val="263AF8"/>
                    </a:solidFill>
                  </a:rPr>
                  <a:t>kth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smallest </a:t>
                </a:r>
                <a:r>
                  <a:rPr lang="en-US" altLang="zh-CN" dirty="0" smtClean="0">
                    <a:solidFill>
                      <a:srgbClr val="263AF8"/>
                    </a:solidFill>
                  </a:rPr>
                  <a:t>items?</a:t>
                </a:r>
                <a:endParaRPr lang="en-US" altLang="zh-CN" dirty="0" smtClean="0">
                  <a:solidFill>
                    <a:srgbClr val="263AF8"/>
                  </a:solidFill>
                </a:endParaRPr>
              </a:p>
              <a:p>
                <a:endParaRPr lang="en-US" altLang="zh-CN" dirty="0"/>
              </a:p>
              <a:p>
                <a:r>
                  <a:rPr lang="en-US" altLang="zh-CN" dirty="0" smtClean="0"/>
                  <a:t>Any </a:t>
                </a:r>
                <a:r>
                  <a:rPr lang="en-US" altLang="zh-CN" dirty="0"/>
                  <a:t>comparison-based algorithm to find the smallest element must use at least </a:t>
                </a:r>
                <a:r>
                  <a:rPr lang="en-US" altLang="zh-CN" dirty="0" smtClean="0"/>
                  <a:t>N−1 comparisons. </a:t>
                </a:r>
                <a:endParaRPr lang="en-US" altLang="zh-CN" dirty="0" smtClean="0"/>
              </a:p>
              <a:p>
                <a:pPr lvl="1"/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67587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405" r="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Decision-Tree </a:t>
            </a:r>
            <a:r>
              <a:rPr lang="en-US" altLang="zh-CN" dirty="0"/>
              <a:t>Lower Bounds for Selection</a:t>
            </a:r>
            <a:br>
              <a:rPr lang="en-US" altLang="zh-CN" dirty="0"/>
            </a:br>
            <a:r>
              <a:rPr lang="en-US" altLang="zh-CN" dirty="0"/>
              <a:t>Problems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If </a:t>
            </a:r>
            <a:r>
              <a:rPr lang="en-US" altLang="zh-CN" dirty="0"/>
              <a:t>all the leaves in a decision tree are at depth d or higher, the decision tree must </a:t>
            </a:r>
            <a:r>
              <a:rPr lang="en-US" altLang="zh-CN" dirty="0" smtClean="0"/>
              <a:t>have at </a:t>
            </a:r>
            <a:r>
              <a:rPr lang="en-US" altLang="zh-CN" dirty="0"/>
              <a:t>least 2</a:t>
            </a:r>
            <a:r>
              <a:rPr lang="en-US" altLang="zh-CN" baseline="30000" dirty="0"/>
              <a:t>d</a:t>
            </a:r>
            <a:r>
              <a:rPr lang="en-US" altLang="zh-CN" dirty="0"/>
              <a:t> leaves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decision </a:t>
            </a:r>
            <a:r>
              <a:rPr lang="en-US" altLang="zh-CN" dirty="0" smtClean="0"/>
              <a:t>tree is a binary tree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binary tree with depth d must have at most 2</a:t>
            </a:r>
            <a:r>
              <a:rPr lang="en-US" altLang="zh-CN" baseline="30000" dirty="0" smtClean="0"/>
              <a:t>d</a:t>
            </a:r>
            <a:r>
              <a:rPr lang="en-US" altLang="zh-CN" dirty="0" smtClean="0"/>
              <a:t> leaves.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Here, all non-leaf nodes have two children.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The </a:t>
            </a:r>
            <a:r>
              <a:rPr lang="en-US" altLang="zh-CN" dirty="0"/>
              <a:t>decision tree for finding the smallest of N elements must have at least 2</a:t>
            </a:r>
            <a:r>
              <a:rPr lang="en-US" altLang="zh-CN" baseline="30000" dirty="0"/>
              <a:t>N−1 </a:t>
            </a:r>
            <a:r>
              <a:rPr lang="en-US" altLang="zh-CN" dirty="0"/>
              <a:t>leaves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All </a:t>
            </a:r>
            <a:r>
              <a:rPr lang="en-US" altLang="zh-CN" dirty="0"/>
              <a:t>leaves in this decision tree are at depth N − 1 or higher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Decision-Tree </a:t>
            </a:r>
            <a:r>
              <a:rPr lang="en-US" altLang="zh-CN" dirty="0"/>
              <a:t>Lower Bounds for Selection</a:t>
            </a:r>
            <a:br>
              <a:rPr lang="en-US" altLang="zh-CN" dirty="0"/>
            </a:br>
            <a:r>
              <a:rPr lang="en-US" altLang="zh-CN" dirty="0"/>
              <a:t>Problems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The </a:t>
                </a:r>
                <a:r>
                  <a:rPr lang="en-US" altLang="zh-CN" dirty="0"/>
                  <a:t>decision tree </a:t>
                </a:r>
                <a:r>
                  <a:rPr lang="en-US" altLang="zh-CN" dirty="0" smtClean="0"/>
                  <a:t>T for </a:t>
                </a:r>
                <a:r>
                  <a:rPr lang="en-US" altLang="zh-CN" dirty="0"/>
                  <a:t>finding the kth smallest of N elements must have at </a:t>
                </a:r>
                <a:r>
                  <a:rPr lang="en-US" altLang="zh-CN" dirty="0" smtClean="0"/>
                  <a:t>least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pt-BR" altLang="zh-CN" i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altLang="zh-CN" dirty="0" smtClean="0"/>
                  <a:t> leaves.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If t is </a:t>
                </a:r>
                <a:r>
                  <a:rPr lang="en-US" altLang="zh-CN" dirty="0"/>
                  <a:t>the kth </a:t>
                </a:r>
                <a:r>
                  <a:rPr lang="en-US" altLang="zh-CN" dirty="0" smtClean="0"/>
                  <a:t>smallest element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S = {x</a:t>
                </a:r>
                <a:r>
                  <a:rPr lang="en-US" altLang="zh-CN" baseline="-25000" dirty="0" smtClean="0"/>
                  <a:t>1</a:t>
                </a:r>
                <a:r>
                  <a:rPr lang="en-US" altLang="zh-CN" dirty="0" smtClean="0"/>
                  <a:t>,x</a:t>
                </a:r>
                <a:r>
                  <a:rPr lang="en-US" altLang="zh-CN" baseline="-25000" dirty="0" smtClean="0"/>
                  <a:t>2</a:t>
                </a:r>
                <a:r>
                  <a:rPr lang="en-US" altLang="zh-CN" dirty="0" smtClean="0"/>
                  <a:t>,…x</a:t>
                </a:r>
                <a:r>
                  <a:rPr lang="en-US" altLang="zh-CN" baseline="-25000" dirty="0" smtClean="0"/>
                  <a:t>k-1</a:t>
                </a:r>
                <a:r>
                  <a:rPr lang="en-US" altLang="zh-CN" dirty="0" smtClean="0"/>
                  <a:t>| x</a:t>
                </a:r>
                <a:r>
                  <a:rPr lang="en-US" altLang="zh-CN" baseline="-25000" dirty="0" smtClean="0"/>
                  <a:t>i</a:t>
                </a:r>
                <a:r>
                  <a:rPr lang="en-US" altLang="zh-CN" dirty="0" smtClean="0"/>
                  <a:t> &lt;t,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=1,2,…,k-1}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R = </a:t>
                </a:r>
                <a:r>
                  <a:rPr lang="en-US" altLang="zh-CN" dirty="0"/>
                  <a:t>{</a:t>
                </a:r>
                <a:r>
                  <a:rPr lang="en-US" altLang="zh-CN" dirty="0" smtClean="0"/>
                  <a:t>x</a:t>
                </a:r>
                <a:r>
                  <a:rPr lang="en-US" altLang="zh-CN" baseline="-25000" dirty="0" smtClean="0"/>
                  <a:t>k</a:t>
                </a:r>
                <a:r>
                  <a:rPr lang="en-US" altLang="zh-CN" dirty="0" smtClean="0"/>
                  <a:t>,x</a:t>
                </a:r>
                <a:r>
                  <a:rPr lang="en-US" altLang="zh-CN" baseline="-25000" dirty="0" smtClean="0"/>
                  <a:t>k+1</a:t>
                </a:r>
                <a:r>
                  <a:rPr lang="en-US" altLang="zh-CN" dirty="0" smtClean="0"/>
                  <a:t>,…</a:t>
                </a:r>
                <a:r>
                  <a:rPr lang="en-US" altLang="zh-CN" dirty="0" err="1" smtClean="0"/>
                  <a:t>x</a:t>
                </a:r>
                <a:r>
                  <a:rPr lang="en-US" altLang="zh-CN" baseline="-25000" dirty="0" err="1" smtClean="0"/>
                  <a:t>N</a:t>
                </a:r>
                <a:r>
                  <a:rPr lang="en-US" altLang="zh-CN" dirty="0" smtClean="0"/>
                  <a:t>| </a:t>
                </a:r>
                <a:r>
                  <a:rPr lang="en-US" altLang="zh-CN" dirty="0" err="1" smtClean="0"/>
                  <a:t>x</a:t>
                </a:r>
                <a:r>
                  <a:rPr lang="en-US" altLang="zh-CN" baseline="-25000" dirty="0" err="1" smtClean="0"/>
                  <a:t>j</a:t>
                </a:r>
                <a:r>
                  <a:rPr lang="en-US" altLang="zh-CN" dirty="0" smtClean="0"/>
                  <a:t> &lt;=t</a:t>
                </a:r>
                <a:r>
                  <a:rPr lang="en-US" altLang="zh-CN" dirty="0"/>
                  <a:t>, </a:t>
                </a:r>
                <a:r>
                  <a:rPr lang="en-US" altLang="zh-CN" dirty="0" smtClean="0"/>
                  <a:t>j=k,k+2,…,N}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T’ is a decision tree in which does not include the comparisons between any element in S and that in R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T’ </a:t>
                </a:r>
                <a:r>
                  <a:rPr lang="en-US" altLang="zh-CN" dirty="0"/>
                  <a:t>must have at least 2</a:t>
                </a:r>
                <a:r>
                  <a:rPr lang="en-US" altLang="zh-CN" baseline="30000" dirty="0"/>
                  <a:t>|R|−1 </a:t>
                </a:r>
                <a:r>
                  <a:rPr lang="en-US" altLang="zh-CN" dirty="0"/>
                  <a:t>= 2</a:t>
                </a:r>
                <a:r>
                  <a:rPr lang="en-US" altLang="zh-CN" baseline="30000" dirty="0"/>
                  <a:t>N−k </a:t>
                </a:r>
                <a:r>
                  <a:rPr lang="en-US" altLang="zh-CN" dirty="0"/>
                  <a:t>leaves which are correspond </a:t>
                </a:r>
                <a:r>
                  <a:rPr lang="en-US" altLang="zh-CN" dirty="0" smtClean="0"/>
                  <a:t>to the elements in </a:t>
                </a:r>
                <a:r>
                  <a:rPr lang="en-US" altLang="zh-CN" dirty="0"/>
                  <a:t>S</a:t>
                </a:r>
                <a:r>
                  <a:rPr lang="en-US" altLang="zh-CN" dirty="0" smtClean="0"/>
                  <a:t>.</a:t>
                </a:r>
                <a:endParaRPr lang="en-US" altLang="zh-CN" dirty="0" smtClean="0"/>
              </a:p>
              <a:p>
                <a:pPr lvl="1"/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pt-BR" altLang="zh-CN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 smtClean="0"/>
                  <a:t> choices for S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there must be at </a:t>
                </a:r>
                <a:r>
                  <a:rPr lang="en-US" altLang="zh-CN" dirty="0" smtClean="0"/>
                  <a:t>least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pt-BR" altLang="zh-CN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altLang="zh-CN" dirty="0" smtClean="0"/>
                  <a:t> </a:t>
                </a:r>
                <a:r>
                  <a:rPr lang="en-US" altLang="zh-CN" dirty="0"/>
                  <a:t>leaves in </a:t>
                </a:r>
                <a:r>
                  <a:rPr lang="en-US" altLang="zh-CN" dirty="0" smtClean="0"/>
                  <a:t>T</a:t>
                </a:r>
                <a:endParaRPr lang="en-US" altLang="zh-CN" dirty="0" smtClean="0"/>
              </a:p>
              <a:p>
                <a:r>
                  <a:rPr lang="en-US" altLang="zh-CN" dirty="0" smtClean="0"/>
                  <a:t>T must </a:t>
                </a:r>
                <a:r>
                  <a:rPr lang="en-US" altLang="zh-CN" dirty="0"/>
                  <a:t>have depth at </a:t>
                </a:r>
                <a:r>
                  <a:rPr lang="en-US" altLang="zh-CN" dirty="0" smtClean="0"/>
                  <a:t>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pt-BR" altLang="zh-CN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67587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405" r="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Homework 5-4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Self study 7.10 Adversary augment for lower bounds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4051</Words>
  <Application>WPS Presentation</Application>
  <PresentationFormat>全屏显示(4:3)</PresentationFormat>
  <Paragraphs>157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SimSun</vt:lpstr>
      <vt:lpstr>宋体-简</vt:lpstr>
      <vt:lpstr>Helvetica</vt:lpstr>
      <vt:lpstr>Cambria Math</vt:lpstr>
      <vt:lpstr>Kingsoft Math</vt:lpstr>
      <vt:lpstr>Microsoft YaHei</vt:lpstr>
      <vt:lpstr>汉仪旗黑</vt:lpstr>
      <vt:lpstr>Arial Unicode MS</vt:lpstr>
      <vt:lpstr>Calibri</vt:lpstr>
      <vt:lpstr>Helvetica Neue</vt:lpstr>
      <vt:lpstr>SimSun</vt:lpstr>
      <vt:lpstr>DejaVu Math TeX Gyre</vt:lpstr>
      <vt:lpstr>等线</vt:lpstr>
      <vt:lpstr>HDOfficeLightV0</vt:lpstr>
      <vt:lpstr>Sorting</vt:lpstr>
      <vt:lpstr>Lower Bound for Sorting</vt:lpstr>
      <vt:lpstr>A General Lower Bound for Sorting</vt:lpstr>
      <vt:lpstr>Decision Tree</vt:lpstr>
      <vt:lpstr>Decision-Tree</vt:lpstr>
      <vt:lpstr>Decision-Tree</vt:lpstr>
      <vt:lpstr>Binary tree properties</vt:lpstr>
      <vt:lpstr>A General Lower Bound for Sorting</vt:lpstr>
      <vt:lpstr>A General Lower Bound for Sorting</vt:lpstr>
      <vt:lpstr>Decision-Tree Lower Bounds for Selection Problems</vt:lpstr>
      <vt:lpstr>Decision-Tree Lower Bounds for Selection Problems</vt:lpstr>
      <vt:lpstr>Decision-Tree Lower Bounds for Selection Problems</vt:lpstr>
      <vt:lpstr>Decision-Tree Lower Bounds for Selection Problems</vt:lpstr>
      <vt:lpstr>Homework 5-4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823</cp:revision>
  <dcterms:created xsi:type="dcterms:W3CDTF">2023-10-20T02:20:05Z</dcterms:created>
  <dcterms:modified xsi:type="dcterms:W3CDTF">2023-10-20T02:20:05Z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