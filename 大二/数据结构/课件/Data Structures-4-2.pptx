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3"/>
  </p:handoutMasterIdLst>
  <p:sldIdLst>
    <p:sldId id="303" r:id="rId3"/>
    <p:sldId id="275" r:id="rId5"/>
    <p:sldId id="518" r:id="rId6"/>
    <p:sldId id="521" r:id="rId7"/>
    <p:sldId id="522" r:id="rId8"/>
    <p:sldId id="523" r:id="rId9"/>
    <p:sldId id="524" r:id="rId10"/>
    <p:sldId id="525" r:id="rId11"/>
    <p:sldId id="526" r:id="rId12"/>
    <p:sldId id="527" r:id="rId13"/>
    <p:sldId id="528" r:id="rId14"/>
    <p:sldId id="529" r:id="rId15"/>
    <p:sldId id="530" r:id="rId16"/>
    <p:sldId id="531" r:id="rId17"/>
    <p:sldId id="532" r:id="rId18"/>
    <p:sldId id="533" r:id="rId19"/>
    <p:sldId id="534" r:id="rId20"/>
    <p:sldId id="535" r:id="rId21"/>
    <p:sldId id="536" r:id="rId22"/>
    <p:sldId id="537" r:id="rId23"/>
    <p:sldId id="538" r:id="rId24"/>
    <p:sldId id="539" r:id="rId25"/>
    <p:sldId id="540" r:id="rId26"/>
    <p:sldId id="541" r:id="rId27"/>
    <p:sldId id="542" r:id="rId28"/>
    <p:sldId id="543" r:id="rId29"/>
    <p:sldId id="544" r:id="rId30"/>
    <p:sldId id="545" r:id="rId31"/>
    <p:sldId id="546" r:id="rId32"/>
    <p:sldId id="547" r:id="rId33"/>
    <p:sldId id="548" r:id="rId34"/>
    <p:sldId id="549" r:id="rId35"/>
    <p:sldId id="550" r:id="rId36"/>
    <p:sldId id="551" r:id="rId37"/>
    <p:sldId id="552" r:id="rId38"/>
    <p:sldId id="553" r:id="rId39"/>
    <p:sldId id="554" r:id="rId40"/>
    <p:sldId id="555" r:id="rId41"/>
    <p:sldId id="556" r:id="rId42"/>
    <p:sldId id="557" r:id="rId43"/>
    <p:sldId id="558" r:id="rId44"/>
    <p:sldId id="559" r:id="rId45"/>
    <p:sldId id="560" r:id="rId46"/>
    <p:sldId id="561" r:id="rId47"/>
    <p:sldId id="562" r:id="rId48"/>
    <p:sldId id="563" r:id="rId49"/>
    <p:sldId id="564" r:id="rId50"/>
    <p:sldId id="565" r:id="rId51"/>
    <p:sldId id="56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-A230" initials="P" lastIdx="1" clrIdx="0"/>
  <p:cmAuthor id="2" name="jiexin" initials="j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9D201F-8FE8-4ABE-B5E1-44447EA8E256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 smtClean="0">
              <a:solidFill>
                <a:srgbClr val="FF0000"/>
              </a:solidFill>
              <a:ea typeface="SimSun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smtClean="0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6395" y="897255"/>
            <a:ext cx="9144000" cy="1924050"/>
          </a:xfrm>
        </p:spPr>
        <p:txBody>
          <a:bodyPr/>
          <a:p>
            <a:r>
              <a:rPr lang="en-US" altLang="zh-CN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Structures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52140"/>
            <a:ext cx="9144000" cy="2526030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sz="32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sz="32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sz="32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p>
            <a:r>
              <a:rPr lang="en-US"/>
              <a:t>Chapter 4-2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 sz="3600" dirty="0">
                <a:sym typeface="+mn-ea"/>
              </a:rPr>
              <a:t>Tree I</a:t>
            </a:r>
            <a:r>
              <a:rPr lang="en-US" altLang="zh-CN" sz="3600" dirty="0">
                <a:sym typeface="+mn-ea"/>
              </a:rPr>
              <a:t>I</a:t>
            </a:r>
            <a:endParaRPr lang="en-US" altLang="zh-CN" sz="3600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Contents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>
                <a:ea typeface="SimSun" pitchFamily="2" charset="-122"/>
              </a:rPr>
              <a:t>Definitions of tree</a:t>
            </a:r>
            <a:endParaRPr lang="en-US" altLang="zh-CN" dirty="0">
              <a:ea typeface="SimSun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ea typeface="SimSun" pitchFamily="2" charset="-122"/>
              </a:rPr>
              <a:t>Binary tree</a:t>
            </a:r>
            <a:endParaRPr lang="en-US" altLang="zh-CN" dirty="0" smtClean="0">
              <a:ea typeface="SimSun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imSun" pitchFamily="2" charset="-122"/>
              </a:rPr>
              <a:t>AVL tree</a:t>
            </a:r>
            <a:endParaRPr lang="en-US" altLang="zh-CN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SimSun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ea typeface="SimSun" pitchFamily="2" charset="-122"/>
              </a:rPr>
              <a:t>Splay tree</a:t>
            </a:r>
            <a:endParaRPr lang="en-US" altLang="zh-CN" dirty="0" smtClean="0">
              <a:ea typeface="SimSun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ea typeface="SimSun" pitchFamily="2" charset="-122"/>
              </a:rPr>
              <a:t>B-tree</a:t>
            </a:r>
            <a:endParaRPr lang="en-US" altLang="zh-CN" dirty="0" smtClean="0">
              <a:ea typeface="SimSun" pitchFamily="2" charset="-122"/>
            </a:endParaRPr>
          </a:p>
          <a:p>
            <a:pPr lvl="1">
              <a:spcBef>
                <a:spcPts val="395"/>
              </a:spcBef>
              <a:spcAft>
                <a:spcPts val="395"/>
              </a:spcAft>
            </a:pPr>
            <a:endParaRPr lang="en-US" altLang="zh-CN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Binary Search Tree - Best Time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2345" y="2169795"/>
            <a:ext cx="11073765" cy="417004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SimSun" pitchFamily="2" charset="-122"/>
              </a:rPr>
              <a:t>All BST operations are O(d) in average case, where d is tree depth</a:t>
            </a:r>
            <a:endParaRPr lang="en-US" altLang="zh-CN" sz="28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SimSun" pitchFamily="2" charset="-122"/>
              </a:rPr>
              <a:t>minimum d is               </a:t>
            </a:r>
            <a:r>
              <a:rPr lang="en-US" altLang="zh-CN" sz="2800" dirty="0" smtClean="0">
                <a:ea typeface="SimSun" pitchFamily="2" charset="-122"/>
                <a:sym typeface="Symbol" panose="05050102010706020507" pitchFamily="18" charset="2"/>
              </a:rPr>
              <a:t>for a binary tree with N nodes</a:t>
            </a:r>
            <a:endParaRPr lang="en-US" altLang="zh-CN" sz="2800" dirty="0" smtClean="0"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What is the best case tree?</a:t>
            </a:r>
            <a:r>
              <a:rPr lang="en-US" altLang="zh-CN" sz="2000" dirty="0" smtClean="0">
                <a:ea typeface="SimSun" pitchFamily="2" charset="-122"/>
                <a:sym typeface="Symbol" panose="05050102010706020507" pitchFamily="18" charset="2"/>
              </a:rPr>
              <a:t> </a:t>
            </a:r>
            <a:endParaRPr lang="en-US" altLang="zh-CN" sz="2000" dirty="0" smtClean="0"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 smtClean="0">
                <a:solidFill>
                  <a:srgbClr val="0066CC"/>
                </a:solidFill>
                <a:ea typeface="SimSun" pitchFamily="2" charset="-122"/>
                <a:sym typeface="Symbol" panose="05050102010706020507" pitchFamily="18" charset="2"/>
              </a:rPr>
              <a:t>What is the worst case tree?</a:t>
            </a:r>
            <a:endParaRPr lang="en-US" altLang="zh-CN" sz="2000" dirty="0" smtClean="0">
              <a:solidFill>
                <a:srgbClr val="0066CC"/>
              </a:solidFill>
              <a:ea typeface="SimSun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SimSun" pitchFamily="2" charset="-122"/>
                <a:sym typeface="Symbol" panose="05050102010706020507" pitchFamily="18" charset="2"/>
              </a:rPr>
              <a:t>So, </a:t>
            </a:r>
            <a:r>
              <a:rPr lang="en-US" altLang="zh-CN" sz="2800" dirty="0" smtClean="0">
                <a:ea typeface="SimSun" pitchFamily="2" charset="-122"/>
                <a:sym typeface="Symbol" panose="05050102010706020507" pitchFamily="18" charset="2"/>
              </a:rPr>
              <a:t>operation </a:t>
            </a:r>
            <a:r>
              <a:rPr lang="en-US" altLang="zh-CN" sz="2800" dirty="0" smtClean="0">
                <a:ea typeface="SimSun" pitchFamily="2" charset="-122"/>
                <a:sym typeface="Symbol" panose="05050102010706020507" pitchFamily="18" charset="2"/>
              </a:rPr>
              <a:t>running time of </a:t>
            </a:r>
            <a:r>
              <a:rPr lang="en-US" altLang="zh-CN" sz="2800" dirty="0" smtClean="0">
                <a:ea typeface="SimSun" pitchFamily="2" charset="-122"/>
                <a:sym typeface="Symbol" panose="05050102010706020507" pitchFamily="18" charset="2"/>
              </a:rPr>
              <a:t>best case </a:t>
            </a:r>
            <a:r>
              <a:rPr lang="en-US" altLang="zh-CN" sz="2800" dirty="0" smtClean="0">
                <a:ea typeface="SimSun" pitchFamily="2" charset="-122"/>
                <a:sym typeface="Symbol" panose="05050102010706020507" pitchFamily="18" charset="2"/>
              </a:rPr>
              <a:t>BST is O(log N)</a:t>
            </a:r>
            <a:endParaRPr lang="en-US" altLang="zh-CN" sz="2800" dirty="0" smtClean="0">
              <a:ea typeface="SimSun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1991" name="Object 4"/>
          <p:cNvGraphicFramePr>
            <a:graphicFrameLocks noChangeAspect="1"/>
          </p:cNvGraphicFramePr>
          <p:nvPr/>
        </p:nvGraphicFramePr>
        <p:xfrm>
          <a:off x="3599180" y="2713990"/>
          <a:ext cx="1324610" cy="370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Equation" r:id="rId1" imgW="736600" imgH="228600" progId="Equation.3">
                  <p:embed/>
                </p:oleObj>
              </mc:Choice>
              <mc:Fallback>
                <p:oleObj name="Equation" r:id="rId1" imgW="736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180" y="2713990"/>
                        <a:ext cx="1324610" cy="370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Binary Search Tree - Worst Time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SimSun" pitchFamily="2" charset="-122"/>
                <a:sym typeface="Symbol" panose="05050102010706020507" pitchFamily="18" charset="2"/>
              </a:rPr>
              <a:t>Worst case running time is O(N) </a:t>
            </a:r>
            <a:endParaRPr lang="en-US" altLang="zh-CN" sz="2800" dirty="0" smtClean="0"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  <a:sym typeface="Symbol" panose="05050102010706020507" pitchFamily="18" charset="2"/>
              </a:rPr>
              <a:t>What happens when you Insert elements in ascending order?</a:t>
            </a:r>
            <a:endParaRPr lang="en-US" altLang="zh-CN" sz="2400" dirty="0" smtClean="0">
              <a:ea typeface="SimSun" pitchFamily="2" charset="-122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lang="en-US" altLang="zh-CN" sz="1800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Insert: 2, 4, 6, 8, 10, 12 into an empty BST</a:t>
            </a:r>
            <a:endParaRPr lang="en-US" altLang="zh-CN" sz="1800" dirty="0" smtClean="0">
              <a:solidFill>
                <a:srgbClr val="FF0000"/>
              </a:solidFill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zh-CN" sz="2400" dirty="0" smtClean="0"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  <a:sym typeface="Symbol" panose="05050102010706020507" pitchFamily="18" charset="2"/>
              </a:rPr>
              <a:t>Problem: Lack of</a:t>
            </a:r>
            <a:r>
              <a:rPr lang="en-US" altLang="zh-CN" sz="2400" dirty="0" smtClean="0">
                <a:solidFill>
                  <a:srgbClr val="0000FF"/>
                </a:solidFill>
                <a:ea typeface="SimSun" pitchFamily="2" charset="-122"/>
                <a:sym typeface="Symbol" panose="05050102010706020507" pitchFamily="18" charset="2"/>
              </a:rPr>
              <a:t> “balance”: </a:t>
            </a:r>
            <a:endParaRPr lang="en-US" altLang="zh-CN" sz="2400" dirty="0" smtClean="0">
              <a:solidFill>
                <a:srgbClr val="0000FF"/>
              </a:solidFill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zh-CN" sz="2400" dirty="0" smtClean="0"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  <a:sym typeface="Symbol" panose="05050102010706020507" pitchFamily="18" charset="2"/>
              </a:rPr>
              <a:t>Unbalanced degenerate tree</a:t>
            </a:r>
            <a:endParaRPr lang="en-US" altLang="zh-CN" sz="2400" dirty="0" smtClean="0">
              <a:ea typeface="SimSun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534275" y="2226945"/>
            <a:ext cx="2703830" cy="1562735"/>
            <a:chOff x="3829050" y="2987824"/>
            <a:chExt cx="2343150" cy="1428750"/>
          </a:xfrm>
        </p:grpSpPr>
        <p:sp>
          <p:nvSpPr>
            <p:cNvPr id="44038" name="Oval 4"/>
            <p:cNvSpPr>
              <a:spLocks noChangeArrowheads="1"/>
            </p:cNvSpPr>
            <p:nvPr/>
          </p:nvSpPr>
          <p:spPr bwMode="auto">
            <a:xfrm>
              <a:off x="5143500" y="29878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4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39" name="Oval 5"/>
            <p:cNvSpPr>
              <a:spLocks noChangeArrowheads="1"/>
            </p:cNvSpPr>
            <p:nvPr/>
          </p:nvSpPr>
          <p:spPr bwMode="auto">
            <a:xfrm>
              <a:off x="4343400" y="35021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2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40" name="Oval 6"/>
            <p:cNvSpPr>
              <a:spLocks noChangeArrowheads="1"/>
            </p:cNvSpPr>
            <p:nvPr/>
          </p:nvSpPr>
          <p:spPr bwMode="auto">
            <a:xfrm>
              <a:off x="5829300" y="35021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5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41" name="Oval 9"/>
            <p:cNvSpPr>
              <a:spLocks noChangeArrowheads="1"/>
            </p:cNvSpPr>
            <p:nvPr/>
          </p:nvSpPr>
          <p:spPr bwMode="auto">
            <a:xfrm>
              <a:off x="3829050" y="40736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42" name="Oval 10"/>
            <p:cNvSpPr>
              <a:spLocks noChangeArrowheads="1"/>
            </p:cNvSpPr>
            <p:nvPr/>
          </p:nvSpPr>
          <p:spPr bwMode="auto">
            <a:xfrm>
              <a:off x="4800600" y="40736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3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44043" name="AutoShape 11"/>
            <p:cNvCxnSpPr>
              <a:cxnSpLocks noChangeShapeType="1"/>
              <a:stCxn id="44038" idx="3"/>
              <a:endCxn id="44039" idx="7"/>
            </p:cNvCxnSpPr>
            <p:nvPr/>
          </p:nvCxnSpPr>
          <p:spPr bwMode="auto">
            <a:xfrm flipH="1">
              <a:off x="4636294" y="3280718"/>
              <a:ext cx="557213" cy="271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44" name="AutoShape 12"/>
            <p:cNvCxnSpPr>
              <a:cxnSpLocks noChangeShapeType="1"/>
              <a:stCxn id="44038" idx="5"/>
              <a:endCxn id="44040" idx="1"/>
            </p:cNvCxnSpPr>
            <p:nvPr/>
          </p:nvCxnSpPr>
          <p:spPr bwMode="auto">
            <a:xfrm>
              <a:off x="5436394" y="3280718"/>
              <a:ext cx="442913" cy="271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45" name="AutoShape 13"/>
            <p:cNvCxnSpPr>
              <a:cxnSpLocks noChangeShapeType="1"/>
              <a:stCxn id="44039" idx="3"/>
              <a:endCxn id="44041" idx="0"/>
            </p:cNvCxnSpPr>
            <p:nvPr/>
          </p:nvCxnSpPr>
          <p:spPr bwMode="auto">
            <a:xfrm flipH="1">
              <a:off x="4000501" y="3795068"/>
              <a:ext cx="39290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46" name="AutoShape 14"/>
            <p:cNvCxnSpPr>
              <a:cxnSpLocks noChangeShapeType="1"/>
              <a:stCxn id="44039" idx="5"/>
              <a:endCxn id="44042" idx="0"/>
            </p:cNvCxnSpPr>
            <p:nvPr/>
          </p:nvCxnSpPr>
          <p:spPr bwMode="auto">
            <a:xfrm>
              <a:off x="4636294" y="3795068"/>
              <a:ext cx="33575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4368165" y="1833880"/>
            <a:ext cx="2362835" cy="2868930"/>
            <a:chOff x="1943100" y="2987824"/>
            <a:chExt cx="2628900" cy="2971800"/>
          </a:xfrm>
        </p:grpSpPr>
        <p:sp>
          <p:nvSpPr>
            <p:cNvPr id="44047" name="Oval 17"/>
            <p:cNvSpPr>
              <a:spLocks noChangeArrowheads="1"/>
            </p:cNvSpPr>
            <p:nvPr/>
          </p:nvSpPr>
          <p:spPr bwMode="auto">
            <a:xfrm>
              <a:off x="1943100" y="29878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48" name="Oval 18"/>
            <p:cNvSpPr>
              <a:spLocks noChangeArrowheads="1"/>
            </p:cNvSpPr>
            <p:nvPr/>
          </p:nvSpPr>
          <p:spPr bwMode="auto">
            <a:xfrm>
              <a:off x="3429000" y="47023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5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49" name="Oval 19"/>
            <p:cNvSpPr>
              <a:spLocks noChangeArrowheads="1"/>
            </p:cNvSpPr>
            <p:nvPr/>
          </p:nvSpPr>
          <p:spPr bwMode="auto">
            <a:xfrm>
              <a:off x="2286000" y="33878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2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50" name="Oval 20"/>
            <p:cNvSpPr>
              <a:spLocks noChangeArrowheads="1"/>
            </p:cNvSpPr>
            <p:nvPr/>
          </p:nvSpPr>
          <p:spPr bwMode="auto">
            <a:xfrm>
              <a:off x="3028950" y="42451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4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51" name="Oval 21"/>
            <p:cNvSpPr>
              <a:spLocks noChangeArrowheads="1"/>
            </p:cNvSpPr>
            <p:nvPr/>
          </p:nvSpPr>
          <p:spPr bwMode="auto">
            <a:xfrm>
              <a:off x="2628900" y="37879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3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52" name="Oval 22"/>
            <p:cNvSpPr>
              <a:spLocks noChangeArrowheads="1"/>
            </p:cNvSpPr>
            <p:nvPr/>
          </p:nvSpPr>
          <p:spPr bwMode="auto">
            <a:xfrm>
              <a:off x="422910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7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53" name="Oval 23"/>
            <p:cNvSpPr>
              <a:spLocks noChangeArrowheads="1"/>
            </p:cNvSpPr>
            <p:nvPr/>
          </p:nvSpPr>
          <p:spPr bwMode="auto">
            <a:xfrm>
              <a:off x="3829050" y="51595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6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44054" name="AutoShape 24"/>
            <p:cNvCxnSpPr>
              <a:cxnSpLocks noChangeShapeType="1"/>
              <a:stCxn id="44050" idx="5"/>
              <a:endCxn id="44048" idx="7"/>
            </p:cNvCxnSpPr>
            <p:nvPr/>
          </p:nvCxnSpPr>
          <p:spPr bwMode="auto">
            <a:xfrm>
              <a:off x="3321844" y="4538018"/>
              <a:ext cx="400050" cy="2143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5" name="AutoShape 25"/>
            <p:cNvCxnSpPr>
              <a:cxnSpLocks noChangeShapeType="1"/>
              <a:stCxn id="44047" idx="5"/>
              <a:endCxn id="44049" idx="0"/>
            </p:cNvCxnSpPr>
            <p:nvPr/>
          </p:nvCxnSpPr>
          <p:spPr bwMode="auto">
            <a:xfrm>
              <a:off x="2235994" y="3280718"/>
              <a:ext cx="22145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6" name="AutoShape 26"/>
            <p:cNvCxnSpPr>
              <a:cxnSpLocks noChangeShapeType="1"/>
              <a:stCxn id="44053" idx="5"/>
              <a:endCxn id="44052" idx="0"/>
            </p:cNvCxnSpPr>
            <p:nvPr/>
          </p:nvCxnSpPr>
          <p:spPr bwMode="auto">
            <a:xfrm>
              <a:off x="4121944" y="5452418"/>
              <a:ext cx="27860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7" name="AutoShape 27"/>
            <p:cNvCxnSpPr>
              <a:cxnSpLocks noChangeShapeType="1"/>
              <a:stCxn id="44048" idx="5"/>
              <a:endCxn id="44053" idx="0"/>
            </p:cNvCxnSpPr>
            <p:nvPr/>
          </p:nvCxnSpPr>
          <p:spPr bwMode="auto">
            <a:xfrm>
              <a:off x="3721894" y="4995218"/>
              <a:ext cx="27860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8" name="AutoShape 28"/>
            <p:cNvCxnSpPr>
              <a:cxnSpLocks noChangeShapeType="1"/>
              <a:stCxn id="44051" idx="5"/>
              <a:endCxn id="44050" idx="0"/>
            </p:cNvCxnSpPr>
            <p:nvPr/>
          </p:nvCxnSpPr>
          <p:spPr bwMode="auto">
            <a:xfrm>
              <a:off x="2921794" y="4080818"/>
              <a:ext cx="27860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9" name="AutoShape 29"/>
            <p:cNvCxnSpPr>
              <a:cxnSpLocks noChangeShapeType="1"/>
              <a:stCxn id="44049" idx="5"/>
              <a:endCxn id="44051" idx="0"/>
            </p:cNvCxnSpPr>
            <p:nvPr/>
          </p:nvCxnSpPr>
          <p:spPr bwMode="auto">
            <a:xfrm>
              <a:off x="2578894" y="3680768"/>
              <a:ext cx="22145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1417320" y="2663190"/>
            <a:ext cx="2884170" cy="1475105"/>
            <a:chOff x="400050" y="4530874"/>
            <a:chExt cx="2800350" cy="1428750"/>
          </a:xfrm>
        </p:grpSpPr>
        <p:sp>
          <p:nvSpPr>
            <p:cNvPr id="44060" name="Oval 32"/>
            <p:cNvSpPr>
              <a:spLocks noChangeArrowheads="1"/>
            </p:cNvSpPr>
            <p:nvPr/>
          </p:nvSpPr>
          <p:spPr bwMode="auto">
            <a:xfrm>
              <a:off x="1714500" y="45308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4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61" name="Oval 33"/>
            <p:cNvSpPr>
              <a:spLocks noChangeArrowheads="1"/>
            </p:cNvSpPr>
            <p:nvPr/>
          </p:nvSpPr>
          <p:spPr bwMode="auto">
            <a:xfrm>
              <a:off x="914400" y="50452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2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62" name="Oval 34"/>
            <p:cNvSpPr>
              <a:spLocks noChangeArrowheads="1"/>
            </p:cNvSpPr>
            <p:nvPr/>
          </p:nvSpPr>
          <p:spPr bwMode="auto">
            <a:xfrm>
              <a:off x="2400300" y="50452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6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63" name="Oval 35"/>
            <p:cNvSpPr>
              <a:spLocks noChangeArrowheads="1"/>
            </p:cNvSpPr>
            <p:nvPr/>
          </p:nvSpPr>
          <p:spPr bwMode="auto">
            <a:xfrm>
              <a:off x="194310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5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64" name="Oval 36"/>
            <p:cNvSpPr>
              <a:spLocks noChangeArrowheads="1"/>
            </p:cNvSpPr>
            <p:nvPr/>
          </p:nvSpPr>
          <p:spPr bwMode="auto">
            <a:xfrm>
              <a:off x="285750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7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65" name="Oval 37"/>
            <p:cNvSpPr>
              <a:spLocks noChangeArrowheads="1"/>
            </p:cNvSpPr>
            <p:nvPr/>
          </p:nvSpPr>
          <p:spPr bwMode="auto">
            <a:xfrm>
              <a:off x="40005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4066" name="Oval 38"/>
            <p:cNvSpPr>
              <a:spLocks noChangeArrowheads="1"/>
            </p:cNvSpPr>
            <p:nvPr/>
          </p:nvSpPr>
          <p:spPr bwMode="auto">
            <a:xfrm>
              <a:off x="137160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3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44067" name="AutoShape 39"/>
            <p:cNvCxnSpPr>
              <a:cxnSpLocks noChangeShapeType="1"/>
              <a:stCxn id="44060" idx="3"/>
              <a:endCxn id="44061" idx="7"/>
            </p:cNvCxnSpPr>
            <p:nvPr/>
          </p:nvCxnSpPr>
          <p:spPr bwMode="auto">
            <a:xfrm flipH="1">
              <a:off x="1207294" y="4823768"/>
              <a:ext cx="557213" cy="271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68" name="AutoShape 40"/>
            <p:cNvCxnSpPr>
              <a:cxnSpLocks noChangeShapeType="1"/>
              <a:stCxn id="44060" idx="5"/>
              <a:endCxn id="44062" idx="1"/>
            </p:cNvCxnSpPr>
            <p:nvPr/>
          </p:nvCxnSpPr>
          <p:spPr bwMode="auto">
            <a:xfrm>
              <a:off x="2007394" y="4823768"/>
              <a:ext cx="442913" cy="271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69" name="AutoShape 41"/>
            <p:cNvCxnSpPr>
              <a:cxnSpLocks noChangeShapeType="1"/>
              <a:stCxn id="44061" idx="3"/>
              <a:endCxn id="44065" idx="0"/>
            </p:cNvCxnSpPr>
            <p:nvPr/>
          </p:nvCxnSpPr>
          <p:spPr bwMode="auto">
            <a:xfrm flipH="1">
              <a:off x="571501" y="5338118"/>
              <a:ext cx="39290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0" name="AutoShape 42"/>
            <p:cNvCxnSpPr>
              <a:cxnSpLocks noChangeShapeType="1"/>
              <a:stCxn id="44061" idx="5"/>
              <a:endCxn id="44066" idx="0"/>
            </p:cNvCxnSpPr>
            <p:nvPr/>
          </p:nvCxnSpPr>
          <p:spPr bwMode="auto">
            <a:xfrm>
              <a:off x="1207294" y="5338118"/>
              <a:ext cx="33575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1" name="AutoShape 43"/>
            <p:cNvCxnSpPr>
              <a:cxnSpLocks noChangeShapeType="1"/>
              <a:stCxn id="44062" idx="3"/>
              <a:endCxn id="44063" idx="0"/>
            </p:cNvCxnSpPr>
            <p:nvPr/>
          </p:nvCxnSpPr>
          <p:spPr bwMode="auto">
            <a:xfrm flipH="1">
              <a:off x="2114551" y="5338118"/>
              <a:ext cx="33575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2" name="AutoShape 44"/>
            <p:cNvCxnSpPr>
              <a:cxnSpLocks noChangeShapeType="1"/>
              <a:stCxn id="44062" idx="5"/>
              <a:endCxn id="44064" idx="0"/>
            </p:cNvCxnSpPr>
            <p:nvPr/>
          </p:nvCxnSpPr>
          <p:spPr bwMode="auto">
            <a:xfrm>
              <a:off x="2693194" y="5338118"/>
              <a:ext cx="33575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4073" name="Text Box 45"/>
          <p:cNvSpPr txBox="1">
            <a:spLocks noChangeArrowheads="1"/>
          </p:cNvSpPr>
          <p:nvPr/>
        </p:nvSpPr>
        <p:spPr bwMode="auto">
          <a:xfrm>
            <a:off x="8070871" y="4340382"/>
            <a:ext cx="225552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Is this “balanced”?</a:t>
            </a:r>
            <a:endParaRPr lang="en-US" altLang="zh-CN" dirty="0">
              <a:solidFill>
                <a:srgbClr val="0000FF"/>
              </a:solidFill>
              <a:ea typeface="SimSun" pitchFamily="2" charset="-122"/>
            </a:endParaRPr>
          </a:p>
        </p:txBody>
      </p:sp>
      <p:sp>
        <p:nvSpPr>
          <p:cNvPr id="42" name="Rectangle 2"/>
          <p:cNvSpPr txBox="1">
            <a:spLocks noChangeArrowheads="1"/>
          </p:cNvSpPr>
          <p:nvPr/>
        </p:nvSpPr>
        <p:spPr>
          <a:xfrm>
            <a:off x="3230880" y="350520"/>
            <a:ext cx="6071870" cy="13252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/>
              <a:t>Balanced and unbalanced BST</a:t>
            </a:r>
            <a:endParaRPr lang="en-US" altLang="zh-CN" sz="3200" dirty="0" smtClean="0">
              <a:ea typeface="SimSun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25445" y="5454015"/>
            <a:ext cx="5145405" cy="39878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How to determine that a </a:t>
            </a:r>
            <a:r>
              <a:rPr lang="en-US" altLang="zh-CN" sz="2000" dirty="0" smtClean="0">
                <a:solidFill>
                  <a:srgbClr val="FF0000"/>
                </a:solidFill>
              </a:rPr>
              <a:t>BST</a:t>
            </a:r>
            <a:r>
              <a:rPr lang="zh-CN" altLang="en-US" sz="2000" dirty="0" smtClean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is </a:t>
            </a:r>
            <a:r>
              <a:rPr lang="zh-CN" altLang="en-US" sz="2000" dirty="0" smtClean="0">
                <a:solidFill>
                  <a:srgbClr val="FF0000"/>
                </a:solidFill>
              </a:rPr>
              <a:t>balanced</a:t>
            </a:r>
            <a:r>
              <a:rPr lang="en-US" altLang="zh-CN" sz="2000" dirty="0" smtClean="0">
                <a:solidFill>
                  <a:srgbClr val="FF0000"/>
                </a:solidFill>
              </a:rPr>
              <a:t>?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73" grpId="0" bldLvl="0" animBg="1"/>
      <p:bldP spid="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Approaches to balancing trees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8315" y="1562100"/>
            <a:ext cx="8674735" cy="3618230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rgbClr val="CC0000"/>
                </a:solidFill>
                <a:ea typeface="SimSun" pitchFamily="2" charset="-122"/>
              </a:rPr>
              <a:t>Don't balance</a:t>
            </a:r>
            <a:endParaRPr lang="en-US" altLang="zh-CN" sz="2400" dirty="0">
              <a:solidFill>
                <a:srgbClr val="CC0000"/>
              </a:solidFill>
              <a:ea typeface="SimSun" pitchFamily="2" charset="-122"/>
            </a:endParaRPr>
          </a:p>
          <a:p>
            <a:pPr lvl="1"/>
            <a:r>
              <a:rPr lang="en-US" altLang="zh-CN" sz="2000" dirty="0">
                <a:ea typeface="SimSun" pitchFamily="2" charset="-122"/>
              </a:rPr>
              <a:t>May end up with some nodes very </a:t>
            </a:r>
            <a:r>
              <a:rPr lang="en-US" altLang="zh-CN" sz="2000" dirty="0" smtClean="0">
                <a:ea typeface="SimSun" pitchFamily="2" charset="-122"/>
              </a:rPr>
              <a:t>deep</a:t>
            </a:r>
            <a:endParaRPr lang="en-US" altLang="zh-CN" sz="2000" dirty="0" smtClean="0">
              <a:ea typeface="SimSun" pitchFamily="2" charset="-122"/>
            </a:endParaRPr>
          </a:p>
          <a:p>
            <a:pPr lvl="1"/>
            <a:endParaRPr lang="en-US" altLang="zh-CN" sz="2000" dirty="0">
              <a:ea typeface="SimSun" pitchFamily="2" charset="-122"/>
            </a:endParaRPr>
          </a:p>
          <a:p>
            <a:r>
              <a:rPr lang="en-US" altLang="zh-CN" sz="2400" dirty="0">
                <a:solidFill>
                  <a:srgbClr val="008000"/>
                </a:solidFill>
                <a:ea typeface="SimSun" pitchFamily="2" charset="-122"/>
              </a:rPr>
              <a:t>Strict balance</a:t>
            </a:r>
            <a:endParaRPr lang="en-US" altLang="zh-CN" sz="2400" dirty="0">
              <a:solidFill>
                <a:srgbClr val="008000"/>
              </a:solidFill>
              <a:ea typeface="SimSun" pitchFamily="2" charset="-122"/>
            </a:endParaRPr>
          </a:p>
          <a:p>
            <a:pPr lvl="1"/>
            <a:r>
              <a:rPr lang="en-US" altLang="zh-CN" sz="2000" dirty="0">
                <a:ea typeface="SimSun" pitchFamily="2" charset="-122"/>
              </a:rPr>
              <a:t>The tree must always be balanced </a:t>
            </a:r>
            <a:r>
              <a:rPr lang="en-US" altLang="zh-CN" sz="2000" dirty="0" smtClean="0">
                <a:ea typeface="SimSun" pitchFamily="2" charset="-122"/>
              </a:rPr>
              <a:t>perfectly</a:t>
            </a:r>
            <a:endParaRPr lang="en-US" altLang="zh-CN" sz="2000" dirty="0" smtClean="0">
              <a:ea typeface="SimSun" pitchFamily="2" charset="-122"/>
            </a:endParaRPr>
          </a:p>
          <a:p>
            <a:pPr lvl="1"/>
            <a:endParaRPr lang="en-US" altLang="zh-CN" sz="2000" dirty="0">
              <a:ea typeface="SimSun" pitchFamily="2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Pretty good balance</a:t>
            </a:r>
            <a:endParaRPr lang="en-US" altLang="zh-CN" sz="2400" dirty="0">
              <a:solidFill>
                <a:srgbClr val="FF0000"/>
              </a:solidFill>
              <a:ea typeface="SimSun" pitchFamily="2" charset="-122"/>
            </a:endParaRPr>
          </a:p>
          <a:p>
            <a:pPr lvl="1"/>
            <a:r>
              <a:rPr lang="en-US" altLang="zh-CN" sz="2000" dirty="0">
                <a:ea typeface="SimSun" pitchFamily="2" charset="-122"/>
              </a:rPr>
              <a:t>Only allow a little out of </a:t>
            </a:r>
            <a:r>
              <a:rPr lang="en-US" altLang="zh-CN" sz="2000" dirty="0" smtClean="0">
                <a:ea typeface="SimSun" pitchFamily="2" charset="-122"/>
              </a:rPr>
              <a:t>balance</a:t>
            </a:r>
            <a:endParaRPr lang="en-US" altLang="zh-CN" sz="2000" dirty="0" smtClean="0">
              <a:ea typeface="SimSun" pitchFamily="2" charset="-122"/>
            </a:endParaRPr>
          </a:p>
          <a:p>
            <a:pPr lvl="1"/>
            <a:endParaRPr lang="en-US" altLang="zh-CN" sz="2000" dirty="0">
              <a:ea typeface="SimSun" pitchFamily="2" charset="-122"/>
            </a:endParaRPr>
          </a:p>
          <a:p>
            <a:r>
              <a:rPr lang="en-US" altLang="zh-CN" sz="2400" dirty="0">
                <a:solidFill>
                  <a:srgbClr val="6600CC"/>
                </a:solidFill>
                <a:ea typeface="SimSun" pitchFamily="2" charset="-122"/>
              </a:rPr>
              <a:t>Adjust on access</a:t>
            </a:r>
            <a:endParaRPr lang="en-US" altLang="zh-CN" sz="2400" dirty="0">
              <a:solidFill>
                <a:srgbClr val="6600CC"/>
              </a:solidFill>
              <a:ea typeface="SimSun" pitchFamily="2" charset="-122"/>
            </a:endParaRPr>
          </a:p>
          <a:p>
            <a:pPr lvl="1"/>
            <a:r>
              <a:rPr lang="en-US" altLang="zh-CN" sz="2000" dirty="0">
                <a:ea typeface="SimSun" pitchFamily="2" charset="-122"/>
              </a:rPr>
              <a:t>Self-adjusting</a:t>
            </a:r>
            <a:endParaRPr lang="en-US" altLang="zh-CN" sz="2000" dirty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Full Binary Trees</a:t>
            </a:r>
            <a:endParaRPr lang="zh-CN" altLang="en-US" dirty="0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 smtClean="0"/>
              <a:t>In a </a:t>
            </a:r>
            <a:r>
              <a:rPr lang="en-US" altLang="zh-CN" sz="2800" dirty="0" smtClean="0">
                <a:solidFill>
                  <a:srgbClr val="FF0000"/>
                </a:solidFill>
              </a:rPr>
              <a:t>full binary tree</a:t>
            </a:r>
            <a:r>
              <a:rPr lang="en-US" altLang="zh-CN" sz="2800" dirty="0" smtClean="0"/>
              <a:t>, each node is either (1) an internal node with exactly two non-empty children or (2) a leaf.</a:t>
            </a:r>
            <a:endParaRPr lang="en-US" altLang="zh-CN" sz="2800" dirty="0" smtClean="0"/>
          </a:p>
          <a:p>
            <a:pPr eaLnBrk="1" hangingPunct="1"/>
            <a:endParaRPr lang="en-US" altLang="zh-CN" sz="2800" dirty="0" smtClean="0"/>
          </a:p>
        </p:txBody>
      </p:sp>
      <p:pic>
        <p:nvPicPr>
          <p:cNvPr id="11269" name="Picture 4" descr="C:\Shaffer\CS2604\Figs\FullComp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" r="3473" b="2127"/>
          <a:stretch>
            <a:fillRect/>
          </a:stretch>
        </p:blipFill>
        <p:spPr bwMode="auto">
          <a:xfrm>
            <a:off x="1780540" y="3302635"/>
            <a:ext cx="7461250" cy="208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r="44818" b="23360"/>
          <a:stretch>
            <a:fillRect/>
          </a:stretch>
        </p:blipFill>
        <p:spPr bwMode="auto">
          <a:xfrm>
            <a:off x="7250729" y="5214183"/>
            <a:ext cx="729555" cy="768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2" t="24525" b="29491"/>
          <a:stretch>
            <a:fillRect/>
          </a:stretch>
        </p:blipFill>
        <p:spPr bwMode="auto">
          <a:xfrm>
            <a:off x="3087529" y="5213906"/>
            <a:ext cx="682229" cy="6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Complete Binary Trees</a:t>
            </a:r>
            <a:endParaRPr lang="zh-CN" altLang="en-US" dirty="0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1686560" y="1637665"/>
            <a:ext cx="8818880" cy="2481580"/>
          </a:xfrm>
        </p:spPr>
        <p:txBody>
          <a:bodyPr>
            <a:normAutofit fontScale="80000"/>
          </a:bodyPr>
          <a:lstStyle/>
          <a:p>
            <a:pPr eaLnBrk="1" hangingPunct="1"/>
            <a:r>
              <a:rPr lang="en-US" altLang="zh-CN" dirty="0"/>
              <a:t>In a </a:t>
            </a:r>
            <a:r>
              <a:rPr lang="en-US" altLang="zh-CN" dirty="0">
                <a:solidFill>
                  <a:srgbClr val="FF0000"/>
                </a:solidFill>
              </a:rPr>
              <a:t>complete binary tree </a:t>
            </a:r>
            <a:r>
              <a:rPr lang="en-US" altLang="zh-CN" dirty="0"/>
              <a:t>of </a:t>
            </a:r>
            <a:r>
              <a:rPr lang="en-US" altLang="zh-CN" dirty="0" smtClean="0"/>
              <a:t>depth </a:t>
            </a:r>
            <a:r>
              <a:rPr lang="en-US" altLang="zh-CN" i="1" dirty="0" smtClean="0"/>
              <a:t>d</a:t>
            </a:r>
            <a:r>
              <a:rPr lang="en-US" altLang="zh-CN" dirty="0" smtClean="0"/>
              <a:t>, </a:t>
            </a:r>
            <a:r>
              <a:rPr lang="en-US" altLang="zh-CN" dirty="0"/>
              <a:t>all levels except possibly level </a:t>
            </a:r>
            <a:r>
              <a:rPr lang="en-US" altLang="zh-CN" i="1" dirty="0" smtClean="0"/>
              <a:t>d</a:t>
            </a:r>
            <a:r>
              <a:rPr lang="en-US" altLang="zh-CN" dirty="0" smtClean="0"/>
              <a:t>-1 </a:t>
            </a:r>
            <a:r>
              <a:rPr lang="en-US" altLang="zh-CN" dirty="0"/>
              <a:t>are completely full. The bottom level has its nodes filled in from the left side.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 complete binary tree is obtained by starting at the root and filling the tree by levels from left to right.</a:t>
            </a:r>
            <a:endParaRPr lang="en-US" altLang="zh-CN" dirty="0"/>
          </a:p>
        </p:txBody>
      </p:sp>
      <p:pic>
        <p:nvPicPr>
          <p:cNvPr id="12293" name="Picture 4" descr="C:\Shaffer\CS2604\Figs\FullComp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" r="3473" b="2127"/>
          <a:stretch>
            <a:fillRect/>
          </a:stretch>
        </p:blipFill>
        <p:spPr bwMode="auto">
          <a:xfrm>
            <a:off x="3191510" y="3749675"/>
            <a:ext cx="6783070" cy="1894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r="44818" b="23360"/>
          <a:stretch>
            <a:fillRect/>
          </a:stretch>
        </p:blipFill>
        <p:spPr bwMode="auto">
          <a:xfrm>
            <a:off x="4305188" y="5563047"/>
            <a:ext cx="728663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2" t="24525" b="29491"/>
          <a:stretch>
            <a:fillRect/>
          </a:stretch>
        </p:blipFill>
        <p:spPr bwMode="auto">
          <a:xfrm>
            <a:off x="8025058" y="5644167"/>
            <a:ext cx="682229" cy="607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Perfect Balance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2800" y="1417955"/>
            <a:ext cx="7760335" cy="1924685"/>
          </a:xfrm>
        </p:spPr>
        <p:txBody>
          <a:bodyPr/>
          <a:lstStyle/>
          <a:p>
            <a:r>
              <a:rPr lang="en-US" altLang="zh-CN" sz="2400" dirty="0" smtClean="0">
                <a:ea typeface="SimSun" pitchFamily="2" charset="-122"/>
              </a:rPr>
              <a:t>Want a </a:t>
            </a:r>
            <a:r>
              <a:rPr lang="en-US" altLang="zh-CN" sz="2400" dirty="0" smtClean="0">
                <a:solidFill>
                  <a:srgbClr val="0000FF"/>
                </a:solidFill>
                <a:ea typeface="SimSun" pitchFamily="2" charset="-122"/>
              </a:rPr>
              <a:t>complete tree</a:t>
            </a:r>
            <a:r>
              <a:rPr lang="en-US" altLang="zh-CN" sz="2400" dirty="0" smtClean="0">
                <a:ea typeface="SimSun" pitchFamily="2" charset="-122"/>
              </a:rPr>
              <a:t> after every operation</a:t>
            </a:r>
            <a:endParaRPr lang="en-US" altLang="zh-CN" sz="2400" dirty="0" smtClean="0">
              <a:ea typeface="SimSun" pitchFamily="2" charset="-122"/>
            </a:endParaRPr>
          </a:p>
          <a:p>
            <a:pPr lvl="1"/>
            <a:r>
              <a:rPr lang="en-US" altLang="zh-CN" sz="2000" dirty="0" smtClean="0">
                <a:ea typeface="SimSun" pitchFamily="2" charset="-122"/>
              </a:rPr>
              <a:t>tree is full except possibly in the lower right</a:t>
            </a:r>
            <a:endParaRPr lang="en-US" altLang="zh-CN" sz="2000" dirty="0" smtClean="0">
              <a:ea typeface="SimSun" pitchFamily="2" charset="-122"/>
            </a:endParaRPr>
          </a:p>
          <a:p>
            <a:endParaRPr lang="en-US" altLang="zh-CN" sz="2400" dirty="0" smtClean="0">
              <a:ea typeface="SimSun" pitchFamily="2" charset="-122"/>
            </a:endParaRPr>
          </a:p>
          <a:p>
            <a:pPr lvl="1"/>
            <a:r>
              <a:rPr lang="en-US" altLang="zh-CN" sz="2000" dirty="0" smtClean="0">
                <a:ea typeface="SimSun" pitchFamily="2" charset="-122"/>
              </a:rPr>
              <a:t>For example, insert 2 in the tree on the left and then rebuild as a complete tree</a:t>
            </a:r>
            <a:endParaRPr lang="en-US" altLang="zh-CN" sz="2000" dirty="0" smtClean="0">
              <a:ea typeface="SimSun" pitchFamily="2" charset="-122"/>
            </a:endParaRPr>
          </a:p>
        </p:txBody>
      </p:sp>
      <p:sp>
        <p:nvSpPr>
          <p:cNvPr id="47111" name="Text Box 42"/>
          <p:cNvSpPr txBox="1">
            <a:spLocks noChangeArrowheads="1"/>
          </p:cNvSpPr>
          <p:nvPr/>
        </p:nvSpPr>
        <p:spPr bwMode="auto">
          <a:xfrm>
            <a:off x="5396230" y="5036185"/>
            <a:ext cx="190500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ea typeface="SimSun" pitchFamily="2" charset="-122"/>
              </a:rPr>
              <a:t>Insert 2 &amp;</a:t>
            </a:r>
            <a:endParaRPr lang="en-US" altLang="zh-CN" sz="1800" dirty="0">
              <a:solidFill>
                <a:srgbClr val="0000FF"/>
              </a:solidFill>
              <a:ea typeface="SimSun" pitchFamily="2" charset="-122"/>
            </a:endParaRPr>
          </a:p>
          <a:p>
            <a:r>
              <a:rPr lang="en-US" altLang="zh-CN" sz="1800" dirty="0">
                <a:solidFill>
                  <a:srgbClr val="0000FF"/>
                </a:solidFill>
                <a:ea typeface="SimSun" pitchFamily="2" charset="-122"/>
              </a:rPr>
              <a:t>complete tree</a:t>
            </a:r>
            <a:endParaRPr lang="en-US" altLang="zh-CN" sz="1800" dirty="0">
              <a:solidFill>
                <a:srgbClr val="0000FF"/>
              </a:solidFill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57245" y="3393440"/>
            <a:ext cx="6163945" cy="1591945"/>
            <a:chOff x="457200" y="5314950"/>
            <a:chExt cx="6115050" cy="1314450"/>
          </a:xfrm>
        </p:grpSpPr>
        <p:sp>
          <p:nvSpPr>
            <p:cNvPr id="47112" name="Oval 43"/>
            <p:cNvSpPr>
              <a:spLocks noChangeArrowheads="1"/>
            </p:cNvSpPr>
            <p:nvPr/>
          </p:nvSpPr>
          <p:spPr bwMode="auto">
            <a:xfrm>
              <a:off x="1771650" y="53149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6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13" name="Oval 44"/>
            <p:cNvSpPr>
              <a:spLocks noChangeArrowheads="1"/>
            </p:cNvSpPr>
            <p:nvPr/>
          </p:nvSpPr>
          <p:spPr bwMode="auto">
            <a:xfrm>
              <a:off x="971550" y="57602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4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14" name="Oval 45"/>
            <p:cNvSpPr>
              <a:spLocks noChangeArrowheads="1"/>
            </p:cNvSpPr>
            <p:nvPr/>
          </p:nvSpPr>
          <p:spPr bwMode="auto">
            <a:xfrm>
              <a:off x="2457450" y="57602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9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15" name="Oval 46"/>
            <p:cNvSpPr>
              <a:spLocks noChangeArrowheads="1"/>
            </p:cNvSpPr>
            <p:nvPr/>
          </p:nvSpPr>
          <p:spPr bwMode="auto">
            <a:xfrm>
              <a:off x="20002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8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16" name="Oval 48"/>
            <p:cNvSpPr>
              <a:spLocks noChangeArrowheads="1"/>
            </p:cNvSpPr>
            <p:nvPr/>
          </p:nvSpPr>
          <p:spPr bwMode="auto">
            <a:xfrm>
              <a:off x="45720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17" name="Oval 49"/>
            <p:cNvSpPr>
              <a:spLocks noChangeArrowheads="1"/>
            </p:cNvSpPr>
            <p:nvPr/>
          </p:nvSpPr>
          <p:spPr bwMode="auto">
            <a:xfrm>
              <a:off x="14287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5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47118" name="AutoShape 50"/>
            <p:cNvCxnSpPr>
              <a:cxnSpLocks noChangeShapeType="1"/>
              <a:stCxn id="47112" idx="3"/>
              <a:endCxn id="47113" idx="7"/>
            </p:cNvCxnSpPr>
            <p:nvPr/>
          </p:nvCxnSpPr>
          <p:spPr bwMode="auto">
            <a:xfrm flipH="1">
              <a:off x="1264444" y="5607844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19" name="AutoShape 51"/>
            <p:cNvCxnSpPr>
              <a:cxnSpLocks noChangeShapeType="1"/>
              <a:stCxn id="47112" idx="5"/>
              <a:endCxn id="47114" idx="1"/>
            </p:cNvCxnSpPr>
            <p:nvPr/>
          </p:nvCxnSpPr>
          <p:spPr bwMode="auto">
            <a:xfrm>
              <a:off x="2064544" y="5607844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20" name="AutoShape 52"/>
            <p:cNvCxnSpPr>
              <a:cxnSpLocks noChangeShapeType="1"/>
              <a:stCxn id="47113" idx="3"/>
              <a:endCxn id="47116" idx="0"/>
            </p:cNvCxnSpPr>
            <p:nvPr/>
          </p:nvCxnSpPr>
          <p:spPr bwMode="auto">
            <a:xfrm flipH="1">
              <a:off x="628651" y="6053137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21" name="AutoShape 53"/>
            <p:cNvCxnSpPr>
              <a:cxnSpLocks noChangeShapeType="1"/>
              <a:stCxn id="47113" idx="5"/>
              <a:endCxn id="47117" idx="0"/>
            </p:cNvCxnSpPr>
            <p:nvPr/>
          </p:nvCxnSpPr>
          <p:spPr bwMode="auto">
            <a:xfrm>
              <a:off x="1264444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22" name="AutoShape 54"/>
            <p:cNvCxnSpPr>
              <a:cxnSpLocks noChangeShapeType="1"/>
              <a:stCxn id="47114" idx="3"/>
              <a:endCxn id="47115" idx="0"/>
            </p:cNvCxnSpPr>
            <p:nvPr/>
          </p:nvCxnSpPr>
          <p:spPr bwMode="auto">
            <a:xfrm flipH="1">
              <a:off x="2171701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123" name="Oval 56"/>
            <p:cNvSpPr>
              <a:spLocks noChangeArrowheads="1"/>
            </p:cNvSpPr>
            <p:nvPr/>
          </p:nvSpPr>
          <p:spPr bwMode="auto">
            <a:xfrm>
              <a:off x="5086350" y="53149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5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24" name="Oval 57"/>
            <p:cNvSpPr>
              <a:spLocks noChangeArrowheads="1"/>
            </p:cNvSpPr>
            <p:nvPr/>
          </p:nvSpPr>
          <p:spPr bwMode="auto">
            <a:xfrm>
              <a:off x="4286250" y="5760244"/>
              <a:ext cx="342900" cy="342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chemeClr val="bg1"/>
                  </a:solidFill>
                  <a:latin typeface="Times New Roman" panose="02020603050405020304" pitchFamily="18" charset="0"/>
                  <a:ea typeface="SimSun" pitchFamily="2" charset="-122"/>
                </a:rPr>
                <a:t>2</a:t>
              </a:r>
              <a:endParaRPr lang="en-US" altLang="zh-CN" sz="1350" dirty="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25" name="Oval 58"/>
            <p:cNvSpPr>
              <a:spLocks noChangeArrowheads="1"/>
            </p:cNvSpPr>
            <p:nvPr/>
          </p:nvSpPr>
          <p:spPr bwMode="auto">
            <a:xfrm>
              <a:off x="5772150" y="57602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8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26" name="Oval 59"/>
            <p:cNvSpPr>
              <a:spLocks noChangeArrowheads="1"/>
            </p:cNvSpPr>
            <p:nvPr/>
          </p:nvSpPr>
          <p:spPr bwMode="auto">
            <a:xfrm>
              <a:off x="53149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6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27" name="Oval 60"/>
            <p:cNvSpPr>
              <a:spLocks noChangeArrowheads="1"/>
            </p:cNvSpPr>
            <p:nvPr/>
          </p:nvSpPr>
          <p:spPr bwMode="auto">
            <a:xfrm>
              <a:off x="62293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9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28" name="Oval 61"/>
            <p:cNvSpPr>
              <a:spLocks noChangeArrowheads="1"/>
            </p:cNvSpPr>
            <p:nvPr/>
          </p:nvSpPr>
          <p:spPr bwMode="auto">
            <a:xfrm>
              <a:off x="377190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47129" name="Oval 62"/>
            <p:cNvSpPr>
              <a:spLocks noChangeArrowheads="1"/>
            </p:cNvSpPr>
            <p:nvPr/>
          </p:nvSpPr>
          <p:spPr bwMode="auto">
            <a:xfrm>
              <a:off x="47434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4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47130" name="AutoShape 63"/>
            <p:cNvCxnSpPr>
              <a:cxnSpLocks noChangeShapeType="1"/>
              <a:stCxn id="47123" idx="3"/>
              <a:endCxn id="47124" idx="7"/>
            </p:cNvCxnSpPr>
            <p:nvPr/>
          </p:nvCxnSpPr>
          <p:spPr bwMode="auto">
            <a:xfrm flipH="1">
              <a:off x="4579144" y="5607844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1" name="AutoShape 64"/>
            <p:cNvCxnSpPr>
              <a:cxnSpLocks noChangeShapeType="1"/>
              <a:stCxn id="47123" idx="5"/>
              <a:endCxn id="47125" idx="1"/>
            </p:cNvCxnSpPr>
            <p:nvPr/>
          </p:nvCxnSpPr>
          <p:spPr bwMode="auto">
            <a:xfrm>
              <a:off x="5379244" y="5607844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2" name="AutoShape 65"/>
            <p:cNvCxnSpPr>
              <a:cxnSpLocks noChangeShapeType="1"/>
              <a:stCxn id="47124" idx="3"/>
              <a:endCxn id="47128" idx="0"/>
            </p:cNvCxnSpPr>
            <p:nvPr/>
          </p:nvCxnSpPr>
          <p:spPr bwMode="auto">
            <a:xfrm flipH="1">
              <a:off x="3943351" y="6053137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3" name="AutoShape 66"/>
            <p:cNvCxnSpPr>
              <a:cxnSpLocks noChangeShapeType="1"/>
              <a:stCxn id="47124" idx="5"/>
              <a:endCxn id="47129" idx="0"/>
            </p:cNvCxnSpPr>
            <p:nvPr/>
          </p:nvCxnSpPr>
          <p:spPr bwMode="auto">
            <a:xfrm>
              <a:off x="4579144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4" name="AutoShape 67"/>
            <p:cNvCxnSpPr>
              <a:cxnSpLocks noChangeShapeType="1"/>
              <a:stCxn id="47125" idx="3"/>
              <a:endCxn id="47126" idx="0"/>
            </p:cNvCxnSpPr>
            <p:nvPr/>
          </p:nvCxnSpPr>
          <p:spPr bwMode="auto">
            <a:xfrm flipH="1">
              <a:off x="5486401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5" name="AutoShape 68"/>
            <p:cNvCxnSpPr>
              <a:cxnSpLocks noChangeShapeType="1"/>
              <a:stCxn id="47125" idx="5"/>
              <a:endCxn id="47127" idx="0"/>
            </p:cNvCxnSpPr>
            <p:nvPr/>
          </p:nvCxnSpPr>
          <p:spPr bwMode="auto">
            <a:xfrm>
              <a:off x="6065044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136" name="Line 69"/>
            <p:cNvSpPr>
              <a:spLocks noChangeShapeType="1"/>
            </p:cNvSpPr>
            <p:nvPr/>
          </p:nvSpPr>
          <p:spPr bwMode="auto">
            <a:xfrm>
              <a:off x="3086100" y="6286500"/>
              <a:ext cx="457200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</p:grpSp>
      <p:sp>
        <p:nvSpPr>
          <p:cNvPr id="3" name="矩形 2"/>
          <p:cNvSpPr/>
          <p:nvPr/>
        </p:nvSpPr>
        <p:spPr>
          <a:xfrm>
            <a:off x="5302391" y="5799012"/>
            <a:ext cx="1998980" cy="36830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This is </a:t>
            </a:r>
            <a:r>
              <a:rPr lang="en-US" altLang="zh-CN" dirty="0" smtClean="0">
                <a:solidFill>
                  <a:srgbClr val="FF0000"/>
                </a:solidFill>
              </a:rPr>
              <a:t>expensive!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169285"/>
            <a:ext cx="3008630" cy="19608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Balancing Binary Search Trees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6945" y="1788795"/>
            <a:ext cx="10390505" cy="4065905"/>
          </a:xfrm>
        </p:spPr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Many algorithms exist for keeping binary search trees balanced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Adelson-</a:t>
            </a:r>
            <a:r>
              <a:rPr lang="en-US" altLang="zh-CN" dirty="0" err="1" smtClean="0">
                <a:ea typeface="SimSun" pitchFamily="2" charset="-122"/>
              </a:rPr>
              <a:t>Velskii</a:t>
            </a:r>
            <a:r>
              <a:rPr lang="en-US" altLang="zh-CN" dirty="0" smtClean="0">
                <a:ea typeface="SimSun" pitchFamily="2" charset="-122"/>
              </a:rPr>
              <a:t> and Landis (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AVL</a:t>
            </a:r>
            <a:r>
              <a:rPr lang="en-US" altLang="zh-CN" dirty="0" smtClean="0">
                <a:ea typeface="SimSun" pitchFamily="2" charset="-122"/>
              </a:rPr>
              <a:t>)</a:t>
            </a:r>
            <a:r>
              <a:rPr lang="en-US" altLang="zh-CN" dirty="0" smtClean="0">
                <a:solidFill>
                  <a:schemeClr val="accent2"/>
                </a:solidFill>
                <a:ea typeface="SimSun" pitchFamily="2" charset="-122"/>
              </a:rPr>
              <a:t> </a:t>
            </a:r>
            <a:r>
              <a:rPr lang="en-US" altLang="zh-CN" dirty="0" smtClean="0">
                <a:ea typeface="SimSun" pitchFamily="2" charset="-122"/>
              </a:rPr>
              <a:t>trees (height-balanced trees) 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Splay trees </a:t>
            </a:r>
            <a:r>
              <a:rPr lang="en-US" altLang="zh-CN" dirty="0" smtClean="0">
                <a:ea typeface="SimSun" pitchFamily="2" charset="-122"/>
              </a:rPr>
              <a:t>and other self-adjusting trees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endParaRPr lang="en-US" altLang="zh-CN" dirty="0" smtClean="0">
              <a:ea typeface="SimSun" pitchFamily="2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B-trees</a:t>
            </a:r>
            <a:r>
              <a:rPr lang="en-US" altLang="zh-CN" dirty="0" smtClean="0">
                <a:ea typeface="SimSun" pitchFamily="2" charset="-122"/>
              </a:rPr>
              <a:t> and other multiway search trees</a:t>
            </a:r>
            <a:endParaRPr lang="en-US" altLang="zh-CN" dirty="0" smtClean="0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AVL - Good but not Perfect Balance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53820" y="1811020"/>
            <a:ext cx="9873615" cy="246634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SimSun" pitchFamily="2" charset="-122"/>
              </a:rPr>
              <a:t>AVL trees are height-balanced binary search trees</a:t>
            </a:r>
            <a:endParaRPr lang="en-US" altLang="zh-CN" sz="28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solidFill>
                  <a:srgbClr val="0000FF"/>
                </a:solidFill>
                <a:ea typeface="SimSun" pitchFamily="2" charset="-122"/>
              </a:rPr>
              <a:t>Balance factor</a:t>
            </a:r>
            <a:r>
              <a:rPr lang="en-US" altLang="zh-CN" sz="2800" dirty="0" smtClean="0">
                <a:ea typeface="SimSun" pitchFamily="2" charset="-122"/>
              </a:rPr>
              <a:t> of a node</a:t>
            </a:r>
            <a:endParaRPr lang="en-US" altLang="zh-CN" sz="2800" dirty="0" smtClean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ea typeface="SimSun" pitchFamily="2" charset="-122"/>
              </a:rPr>
              <a:t>height(left subtree) - height(right subtree)</a:t>
            </a:r>
            <a:endParaRPr lang="en-US" altLang="zh-CN" sz="2400" dirty="0" smtClean="0">
              <a:solidFill>
                <a:srgbClr val="FF0000"/>
              </a:solidFill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SimSun" pitchFamily="2" charset="-122"/>
              </a:rPr>
              <a:t>An AVL tree has balance factor calculated at every node</a:t>
            </a:r>
            <a:endParaRPr lang="en-US" altLang="zh-CN" sz="2800" dirty="0" smtClean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</a:rPr>
              <a:t>For every node, heights of left and right subtree can differ by </a:t>
            </a:r>
            <a:r>
              <a:rPr lang="en-US" altLang="zh-CN" sz="2400" dirty="0" smtClean="0">
                <a:solidFill>
                  <a:srgbClr val="FF0000"/>
                </a:solidFill>
                <a:ea typeface="SimSun" pitchFamily="2" charset="-122"/>
              </a:rPr>
              <a:t>no more than 1</a:t>
            </a:r>
            <a:endParaRPr lang="en-US" altLang="zh-CN" sz="2400" dirty="0" smtClean="0">
              <a:solidFill>
                <a:srgbClr val="FF0000"/>
              </a:solidFill>
              <a:ea typeface="SimSun" pitchFamily="2" charset="-122"/>
            </a:endParaRPr>
          </a:p>
          <a:p>
            <a:pPr lvl="1"/>
            <a:r>
              <a:rPr lang="en-US" altLang="zh-CN" sz="2400" dirty="0" smtClean="0">
                <a:ea typeface="SimSun" pitchFamily="2" charset="-122"/>
              </a:rPr>
              <a:t>Store current </a:t>
            </a:r>
            <a:r>
              <a:rPr lang="en-US" altLang="zh-CN" sz="2400" dirty="0"/>
              <a:t>heights/balance factor  </a:t>
            </a:r>
            <a:r>
              <a:rPr lang="en-US" altLang="zh-CN" sz="2400" dirty="0" smtClean="0">
                <a:ea typeface="SimSun" pitchFamily="2" charset="-122"/>
              </a:rPr>
              <a:t>in each node</a:t>
            </a:r>
            <a:endParaRPr lang="en-US" altLang="zh-CN" sz="2400" dirty="0" smtClean="0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Height of an AVL Tree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SimSun" pitchFamily="2" charset="-122"/>
              </a:rPr>
              <a:t>S(h) = </a:t>
            </a:r>
            <a:r>
              <a:rPr lang="en-US" altLang="zh-CN" sz="2800" dirty="0" smtClean="0">
                <a:solidFill>
                  <a:srgbClr val="FF0000"/>
                </a:solidFill>
                <a:ea typeface="SimSun" pitchFamily="2" charset="-122"/>
              </a:rPr>
              <a:t>minimum </a:t>
            </a:r>
            <a:r>
              <a:rPr lang="en-US" altLang="zh-CN" sz="2800" dirty="0" smtClean="0">
                <a:ea typeface="SimSun" pitchFamily="2" charset="-122"/>
              </a:rPr>
              <a:t>number of nodes in an AVL tree of height h.</a:t>
            </a:r>
            <a:endParaRPr lang="en-US" altLang="zh-CN" sz="28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ea typeface="SimSun" pitchFamily="2" charset="-122"/>
              </a:rPr>
              <a:t>Basis</a:t>
            </a:r>
            <a:endParaRPr lang="en-US" altLang="zh-CN" sz="2800" dirty="0" smtClean="0">
              <a:solidFill>
                <a:srgbClr val="FF0000"/>
              </a:solidFill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</a:rPr>
              <a:t>S(0) = 1, S(1) = 2</a:t>
            </a:r>
            <a:endParaRPr lang="en-US" altLang="zh-CN" sz="24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solidFill>
                  <a:srgbClr val="008000"/>
                </a:solidFill>
                <a:ea typeface="SimSun" pitchFamily="2" charset="-122"/>
              </a:rPr>
              <a:t>Induction</a:t>
            </a:r>
            <a:endParaRPr lang="en-US" altLang="zh-CN" sz="2800" dirty="0" smtClean="0">
              <a:solidFill>
                <a:srgbClr val="008000"/>
              </a:solidFill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</a:rPr>
              <a:t>S(h) = S(h-1) + S(h-2) + 1</a:t>
            </a:r>
            <a:endParaRPr lang="en-US" altLang="zh-CN" sz="24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solidFill>
                  <a:srgbClr val="0000FF"/>
                </a:solidFill>
                <a:ea typeface="SimSun" pitchFamily="2" charset="-122"/>
              </a:rPr>
              <a:t>Solution</a:t>
            </a:r>
            <a:endParaRPr lang="en-US" altLang="zh-CN" sz="1400" dirty="0">
              <a:solidFill>
                <a:srgbClr val="008000"/>
              </a:solidFill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</a:rPr>
              <a:t>S(h) </a:t>
            </a:r>
            <a:r>
              <a:rPr lang="en-US" altLang="zh-CN" sz="2400" u="sng" dirty="0" smtClean="0">
                <a:ea typeface="SimSun" pitchFamily="2" charset="-122"/>
              </a:rPr>
              <a:t>&gt;</a:t>
            </a:r>
            <a:r>
              <a:rPr lang="en-US" altLang="zh-CN" sz="2400" dirty="0" smtClean="0">
                <a:ea typeface="SimSun" pitchFamily="2" charset="-122"/>
              </a:rPr>
              <a:t> </a:t>
            </a:r>
            <a:r>
              <a:rPr lang="en-US" altLang="zh-CN" sz="2400" dirty="0" smtClean="0">
                <a:ea typeface="SimSun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2400" baseline="30000" dirty="0" smtClean="0">
                <a:ea typeface="SimSun" pitchFamily="2" charset="-122"/>
                <a:sym typeface="Symbol" panose="05050102010706020507" pitchFamily="18" charset="2"/>
              </a:rPr>
              <a:t>h</a:t>
            </a:r>
            <a:r>
              <a:rPr lang="en-US" altLang="zh-CN" sz="2400" dirty="0" smtClean="0">
                <a:ea typeface="SimSun" pitchFamily="2" charset="-122"/>
                <a:sym typeface="Symbol" panose="05050102010706020507" pitchFamily="18" charset="2"/>
              </a:rPr>
              <a:t>   (  1.62)</a:t>
            </a:r>
            <a:endParaRPr lang="en-US" altLang="zh-CN" sz="2400" dirty="0" smtClean="0">
              <a:ea typeface="SimSun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sz="2400" dirty="0" smtClean="0">
                <a:sym typeface="Symbol" panose="05050102010706020507" pitchFamily="18" charset="2"/>
              </a:rPr>
              <a:t>recall </a:t>
            </a:r>
            <a:r>
              <a:rPr lang="en-US" altLang="zh-CN" sz="2400" dirty="0">
                <a:sym typeface="Symbol" panose="05050102010706020507" pitchFamily="18" charset="2"/>
              </a:rPr>
              <a:t>Fibonacci </a:t>
            </a:r>
            <a:r>
              <a:rPr lang="en-US" altLang="zh-CN" sz="2400" dirty="0" smtClean="0">
                <a:sym typeface="Symbol" panose="05050102010706020507" pitchFamily="18" charset="2"/>
              </a:rPr>
              <a:t>analysis (refer to textbook page 24)</a:t>
            </a:r>
            <a:endParaRPr lang="en-US" altLang="zh-CN" sz="2400" dirty="0" smtClean="0">
              <a:ea typeface="SimSun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85392" y="2667077"/>
            <a:ext cx="1097756" cy="1214021"/>
            <a:chOff x="4886325" y="4914900"/>
            <a:chExt cx="1463675" cy="1618695"/>
          </a:xfrm>
        </p:grpSpPr>
        <p:sp>
          <p:nvSpPr>
            <p:cNvPr id="49159" name="AutoShape 4"/>
            <p:cNvSpPr>
              <a:spLocks noChangeArrowheads="1"/>
            </p:cNvSpPr>
            <p:nvPr/>
          </p:nvSpPr>
          <p:spPr bwMode="auto">
            <a:xfrm>
              <a:off x="4886325" y="5600700"/>
              <a:ext cx="628650" cy="54411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49160" name="AutoShape 5"/>
            <p:cNvSpPr>
              <a:spLocks noChangeArrowheads="1"/>
            </p:cNvSpPr>
            <p:nvPr/>
          </p:nvSpPr>
          <p:spPr bwMode="auto">
            <a:xfrm>
              <a:off x="5700713" y="5558710"/>
              <a:ext cx="628650" cy="457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49161" name="Line 6"/>
            <p:cNvSpPr>
              <a:spLocks noChangeShapeType="1"/>
            </p:cNvSpPr>
            <p:nvPr/>
          </p:nvSpPr>
          <p:spPr bwMode="auto">
            <a:xfrm flipV="1">
              <a:off x="5200650" y="5257800"/>
              <a:ext cx="342900" cy="342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9162" name="Oval 7"/>
            <p:cNvSpPr>
              <a:spLocks noChangeArrowheads="1"/>
            </p:cNvSpPr>
            <p:nvPr/>
          </p:nvSpPr>
          <p:spPr bwMode="auto">
            <a:xfrm>
              <a:off x="5504584" y="5086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49163" name="Line 8"/>
            <p:cNvSpPr>
              <a:spLocks noChangeShapeType="1"/>
            </p:cNvSpPr>
            <p:nvPr/>
          </p:nvSpPr>
          <p:spPr bwMode="auto">
            <a:xfrm flipH="1" flipV="1">
              <a:off x="5729288" y="5265482"/>
              <a:ext cx="28575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9164" name="Text Box 9"/>
            <p:cNvSpPr txBox="1">
              <a:spLocks noChangeArrowheads="1"/>
            </p:cNvSpPr>
            <p:nvPr/>
          </p:nvSpPr>
          <p:spPr bwMode="auto">
            <a:xfrm>
              <a:off x="4960144" y="6180535"/>
              <a:ext cx="520700" cy="353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>
                  <a:ea typeface="SimSun" pitchFamily="2" charset="-122"/>
                </a:rPr>
                <a:t>h-1</a:t>
              </a:r>
              <a:endParaRPr lang="en-US" altLang="zh-CN" sz="1125">
                <a:ea typeface="SimSun" pitchFamily="2" charset="-122"/>
              </a:endParaRPr>
            </a:p>
          </p:txBody>
        </p:sp>
        <p:sp>
          <p:nvSpPr>
            <p:cNvPr id="49165" name="Text Box 10"/>
            <p:cNvSpPr txBox="1">
              <a:spLocks noChangeArrowheads="1"/>
            </p:cNvSpPr>
            <p:nvPr/>
          </p:nvSpPr>
          <p:spPr bwMode="auto">
            <a:xfrm>
              <a:off x="5829300" y="6057900"/>
              <a:ext cx="520700" cy="353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>
                  <a:ea typeface="SimSun" pitchFamily="2" charset="-122"/>
                </a:rPr>
                <a:t>h-2</a:t>
              </a:r>
              <a:endParaRPr lang="en-US" altLang="zh-CN" sz="1125">
                <a:ea typeface="SimSun" pitchFamily="2" charset="-122"/>
              </a:endParaRPr>
            </a:p>
          </p:txBody>
        </p:sp>
        <p:sp>
          <p:nvSpPr>
            <p:cNvPr id="49166" name="Text Box 11"/>
            <p:cNvSpPr txBox="1">
              <a:spLocks noChangeArrowheads="1"/>
            </p:cNvSpPr>
            <p:nvPr/>
          </p:nvSpPr>
          <p:spPr bwMode="auto">
            <a:xfrm>
              <a:off x="5829300" y="4914900"/>
              <a:ext cx="350520" cy="353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>
                  <a:ea typeface="SimSun" pitchFamily="2" charset="-122"/>
                </a:rPr>
                <a:t>h</a:t>
              </a:r>
              <a:endParaRPr lang="en-US" altLang="zh-CN" sz="1125">
                <a:ea typeface="SimSun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Height of an AVL Tree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S(h) </a:t>
            </a:r>
            <a:r>
              <a:rPr lang="en-US" altLang="zh-CN" u="sng" dirty="0" smtClean="0">
                <a:ea typeface="SimSun" pitchFamily="2" charset="-122"/>
              </a:rPr>
              <a:t>&gt;</a:t>
            </a:r>
            <a:r>
              <a:rPr lang="en-US" altLang="zh-CN" dirty="0" smtClean="0">
                <a:ea typeface="SimSun" pitchFamily="2" charset="-122"/>
              </a:rPr>
              <a:t> </a:t>
            </a: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</a:t>
            </a:r>
            <a:r>
              <a:rPr lang="en-US" altLang="zh-CN" baseline="30000" dirty="0" smtClean="0">
                <a:ea typeface="SimSun" pitchFamily="2" charset="-122"/>
                <a:sym typeface="Symbol" panose="05050102010706020507" pitchFamily="18" charset="2"/>
              </a:rPr>
              <a:t>h</a:t>
            </a: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   (  1.62)</a:t>
            </a:r>
            <a:endParaRPr lang="en-US" altLang="zh-CN" dirty="0" smtClean="0">
              <a:ea typeface="SimSun" pitchFamily="2" charset="-122"/>
              <a:sym typeface="Symbol" panose="05050102010706020507" pitchFamily="18" charset="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Suppose we have n nodes in an AVL tree of height h.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n </a:t>
            </a:r>
            <a:r>
              <a:rPr lang="en-US" altLang="zh-CN" u="sng" dirty="0" smtClean="0">
                <a:ea typeface="SimSun" pitchFamily="2" charset="-122"/>
              </a:rPr>
              <a:t>&gt;</a:t>
            </a: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 smtClean="0">
                <a:ea typeface="SimSun" pitchFamily="2" charset="-122"/>
              </a:rPr>
              <a:t>S(h) </a:t>
            </a:r>
            <a:r>
              <a:rPr lang="en-US" altLang="zh-CN" dirty="0">
                <a:solidFill>
                  <a:srgbClr val="008000"/>
                </a:solidFill>
                <a:ea typeface="SimSun" pitchFamily="2" charset="-122"/>
              </a:rPr>
              <a:t>(because </a:t>
            </a:r>
            <a:r>
              <a:rPr lang="en-US" altLang="zh-CN" dirty="0" smtClean="0">
                <a:solidFill>
                  <a:srgbClr val="008000"/>
                </a:solidFill>
                <a:ea typeface="SimSun" pitchFamily="2" charset="-122"/>
              </a:rPr>
              <a:t>S(h</a:t>
            </a:r>
            <a:r>
              <a:rPr lang="en-US" altLang="zh-CN" dirty="0">
                <a:solidFill>
                  <a:srgbClr val="008000"/>
                </a:solidFill>
                <a:ea typeface="SimSun" pitchFamily="2" charset="-122"/>
              </a:rPr>
              <a:t>) was the minimum)</a:t>
            </a:r>
            <a:endParaRPr lang="en-US" altLang="zh-CN" dirty="0" smtClean="0">
              <a:solidFill>
                <a:srgbClr val="008000"/>
              </a:solidFill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n </a:t>
            </a:r>
            <a:r>
              <a:rPr lang="en-US" altLang="zh-CN" u="sng" dirty="0" smtClean="0">
                <a:ea typeface="SimSun" pitchFamily="2" charset="-122"/>
              </a:rPr>
              <a:t>&gt;</a:t>
            </a:r>
            <a:r>
              <a:rPr lang="en-US" altLang="zh-CN" dirty="0" smtClean="0">
                <a:ea typeface="SimSun" pitchFamily="2" charset="-122"/>
              </a:rPr>
              <a:t> </a:t>
            </a: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</a:t>
            </a:r>
            <a:r>
              <a:rPr lang="en-US" altLang="zh-CN" baseline="30000" dirty="0" smtClean="0">
                <a:ea typeface="SimSun" pitchFamily="2" charset="-122"/>
                <a:sym typeface="Symbol" panose="05050102010706020507" pitchFamily="18" charset="2"/>
              </a:rPr>
              <a:t>h</a:t>
            </a: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 hence 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log</a:t>
            </a:r>
            <a:r>
              <a:rPr lang="en-US" altLang="zh-CN" baseline="-25000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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 n </a:t>
            </a:r>
            <a:r>
              <a:rPr lang="en-US" altLang="zh-CN" u="sng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&gt;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 h</a:t>
            </a: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  (relatively well balanced tree!!)</a:t>
            </a:r>
            <a:endParaRPr lang="en-US" altLang="zh-CN" dirty="0" smtClean="0">
              <a:ea typeface="SimSun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h </a:t>
            </a:r>
            <a:r>
              <a:rPr lang="en-US" altLang="zh-CN" u="sng" dirty="0" smtClean="0">
                <a:ea typeface="SimSun" pitchFamily="2" charset="-122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 1.44 log</a:t>
            </a:r>
            <a:r>
              <a:rPr lang="en-US" altLang="zh-CN" baseline="-25000" dirty="0" smtClean="0">
                <a:ea typeface="SimSun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n (i.e., 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Find takes O(</a:t>
            </a:r>
            <a:r>
              <a:rPr lang="en-US" altLang="zh-CN" dirty="0" err="1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logn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Symbol" panose="05050102010706020507" pitchFamily="18" charset="2"/>
              </a:rPr>
              <a:t>)</a:t>
            </a: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)</a:t>
            </a:r>
            <a:endParaRPr lang="en-US" altLang="zh-CN" dirty="0" smtClean="0">
              <a:ea typeface="SimSun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Node Heights</a:t>
            </a:r>
            <a:endParaRPr lang="en-US" altLang="zh-CN" dirty="0" smtClean="0">
              <a:ea typeface="SimSun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490335" y="2959100"/>
            <a:ext cx="2646680" cy="1808480"/>
            <a:chOff x="3303985" y="3955256"/>
            <a:chExt cx="2343150" cy="1314450"/>
          </a:xfrm>
        </p:grpSpPr>
        <p:sp>
          <p:nvSpPr>
            <p:cNvPr id="51211" name="Oval 67"/>
            <p:cNvSpPr>
              <a:spLocks noChangeArrowheads="1"/>
            </p:cNvSpPr>
            <p:nvPr/>
          </p:nvSpPr>
          <p:spPr bwMode="auto">
            <a:xfrm>
              <a:off x="4618435" y="395525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dirty="0">
                  <a:latin typeface="Times New Roman" panose="02020603050405020304" pitchFamily="18" charset="0"/>
                  <a:ea typeface="SimSun" pitchFamily="2" charset="-122"/>
                </a:rPr>
                <a:t>6</a:t>
              </a:r>
              <a:endParaRPr lang="en-US" altLang="zh-CN" sz="1350" dirty="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2" name="Oval 68"/>
            <p:cNvSpPr>
              <a:spLocks noChangeArrowheads="1"/>
            </p:cNvSpPr>
            <p:nvPr/>
          </p:nvSpPr>
          <p:spPr bwMode="auto">
            <a:xfrm>
              <a:off x="3818335" y="44005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4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3" name="Oval 69"/>
            <p:cNvSpPr>
              <a:spLocks noChangeArrowheads="1"/>
            </p:cNvSpPr>
            <p:nvPr/>
          </p:nvSpPr>
          <p:spPr bwMode="auto">
            <a:xfrm>
              <a:off x="5304235" y="44005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9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4" name="Oval 70"/>
            <p:cNvSpPr>
              <a:spLocks noChangeArrowheads="1"/>
            </p:cNvSpPr>
            <p:nvPr/>
          </p:nvSpPr>
          <p:spPr bwMode="auto">
            <a:xfrm>
              <a:off x="484703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8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5" name="Oval 71"/>
            <p:cNvSpPr>
              <a:spLocks noChangeArrowheads="1"/>
            </p:cNvSpPr>
            <p:nvPr/>
          </p:nvSpPr>
          <p:spPr bwMode="auto">
            <a:xfrm>
              <a:off x="330398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6" name="Oval 72"/>
            <p:cNvSpPr>
              <a:spLocks noChangeArrowheads="1"/>
            </p:cNvSpPr>
            <p:nvPr/>
          </p:nvSpPr>
          <p:spPr bwMode="auto">
            <a:xfrm>
              <a:off x="427553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5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51217" name="AutoShape 73"/>
            <p:cNvCxnSpPr>
              <a:cxnSpLocks noChangeShapeType="1"/>
              <a:stCxn id="51211" idx="3"/>
              <a:endCxn id="51212" idx="7"/>
            </p:cNvCxnSpPr>
            <p:nvPr/>
          </p:nvCxnSpPr>
          <p:spPr bwMode="auto">
            <a:xfrm flipH="1">
              <a:off x="4111228" y="4248151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18" name="AutoShape 74"/>
            <p:cNvCxnSpPr>
              <a:cxnSpLocks noChangeShapeType="1"/>
              <a:stCxn id="51211" idx="5"/>
              <a:endCxn id="51213" idx="1"/>
            </p:cNvCxnSpPr>
            <p:nvPr/>
          </p:nvCxnSpPr>
          <p:spPr bwMode="auto">
            <a:xfrm>
              <a:off x="4911328" y="4248151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19" name="AutoShape 75"/>
            <p:cNvCxnSpPr>
              <a:cxnSpLocks noChangeShapeType="1"/>
              <a:stCxn id="51212" idx="3"/>
              <a:endCxn id="51215" idx="0"/>
            </p:cNvCxnSpPr>
            <p:nvPr/>
          </p:nvCxnSpPr>
          <p:spPr bwMode="auto">
            <a:xfrm flipH="1">
              <a:off x="3475435" y="4693444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20" name="AutoShape 76"/>
            <p:cNvCxnSpPr>
              <a:cxnSpLocks noChangeShapeType="1"/>
              <a:stCxn id="51212" idx="5"/>
              <a:endCxn id="51216" idx="0"/>
            </p:cNvCxnSpPr>
            <p:nvPr/>
          </p:nvCxnSpPr>
          <p:spPr bwMode="auto">
            <a:xfrm>
              <a:off x="4111229" y="4693444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21" name="AutoShape 77"/>
            <p:cNvCxnSpPr>
              <a:cxnSpLocks noChangeShapeType="1"/>
              <a:stCxn id="51213" idx="3"/>
              <a:endCxn id="51214" idx="0"/>
            </p:cNvCxnSpPr>
            <p:nvPr/>
          </p:nvCxnSpPr>
          <p:spPr bwMode="auto">
            <a:xfrm flipH="1">
              <a:off x="5018485" y="4693444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6517010" y="2584450"/>
            <a:ext cx="2672074" cy="1766407"/>
            <a:chOff x="3020108" y="3613149"/>
            <a:chExt cx="2807572" cy="1185969"/>
          </a:xfrm>
        </p:grpSpPr>
        <p:sp>
          <p:nvSpPr>
            <p:cNvPr id="51206" name="Text Box 21"/>
            <p:cNvSpPr txBox="1">
              <a:spLocks noChangeArrowheads="1"/>
            </p:cNvSpPr>
            <p:nvPr/>
          </p:nvSpPr>
          <p:spPr bwMode="auto">
            <a:xfrm>
              <a:off x="5431440" y="4070349"/>
              <a:ext cx="396240" cy="247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07" name="Text Box 22"/>
            <p:cNvSpPr txBox="1">
              <a:spLocks noChangeArrowheads="1"/>
            </p:cNvSpPr>
            <p:nvPr/>
          </p:nvSpPr>
          <p:spPr bwMode="auto">
            <a:xfrm>
              <a:off x="4848141" y="4551841"/>
              <a:ext cx="396240" cy="247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 sz="18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08" name="Text Box 23"/>
            <p:cNvSpPr txBox="1">
              <a:spLocks noChangeArrowheads="1"/>
            </p:cNvSpPr>
            <p:nvPr/>
          </p:nvSpPr>
          <p:spPr bwMode="auto">
            <a:xfrm>
              <a:off x="3020108" y="4551841"/>
              <a:ext cx="396240" cy="247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 sz="18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09" name="Text Box 24"/>
            <p:cNvSpPr txBox="1">
              <a:spLocks noChangeArrowheads="1"/>
            </p:cNvSpPr>
            <p:nvPr/>
          </p:nvSpPr>
          <p:spPr bwMode="auto">
            <a:xfrm>
              <a:off x="4544723" y="3613149"/>
              <a:ext cx="396240" cy="247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2</a:t>
              </a:r>
              <a:endPara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0" name="Text Box 25"/>
            <p:cNvSpPr txBox="1">
              <a:spLocks noChangeArrowheads="1"/>
            </p:cNvSpPr>
            <p:nvPr/>
          </p:nvSpPr>
          <p:spPr bwMode="auto">
            <a:xfrm>
              <a:off x="4220597" y="4542888"/>
              <a:ext cx="396240" cy="247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 sz="18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22" name="Text Box 79"/>
            <p:cNvSpPr txBox="1">
              <a:spLocks noChangeArrowheads="1"/>
            </p:cNvSpPr>
            <p:nvPr/>
          </p:nvSpPr>
          <p:spPr bwMode="auto">
            <a:xfrm>
              <a:off x="3632535" y="4070349"/>
              <a:ext cx="396240" cy="247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</p:grpSp>
      <p:sp>
        <p:nvSpPr>
          <p:cNvPr id="51223" name="Text Box 81"/>
          <p:cNvSpPr txBox="1">
            <a:spLocks noChangeArrowheads="1"/>
          </p:cNvSpPr>
          <p:nvPr/>
        </p:nvSpPr>
        <p:spPr bwMode="auto">
          <a:xfrm>
            <a:off x="4256405" y="5314950"/>
            <a:ext cx="400050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SimSun" pitchFamily="2" charset="-122"/>
              </a:rPr>
              <a:t>height of node =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h</a:t>
            </a:r>
            <a:endParaRPr lang="en-US" altLang="zh-CN" sz="2400" dirty="0">
              <a:solidFill>
                <a:srgbClr val="FF0000"/>
              </a:solidFill>
              <a:ea typeface="SimSun" pitchFamily="2" charset="-122"/>
            </a:endParaRPr>
          </a:p>
          <a:p>
            <a:r>
              <a:rPr lang="en-US" altLang="zh-CN" sz="2400" dirty="0">
                <a:ea typeface="SimSun" pitchFamily="2" charset="-122"/>
              </a:rPr>
              <a:t>balance factor = </a:t>
            </a:r>
            <a:r>
              <a:rPr lang="en-US" altLang="zh-CN" sz="2400" dirty="0" err="1">
                <a:solidFill>
                  <a:srgbClr val="FF0000"/>
                </a:solidFill>
                <a:ea typeface="SimSun" pitchFamily="2" charset="-122"/>
              </a:rPr>
              <a:t>h</a:t>
            </a:r>
            <a:r>
              <a:rPr lang="en-US" altLang="zh-CN" sz="2400" baseline="-25000" dirty="0" err="1">
                <a:solidFill>
                  <a:srgbClr val="FF0000"/>
                </a:solidFill>
                <a:ea typeface="SimSun" pitchFamily="2" charset="-122"/>
              </a:rPr>
              <a:t>left</a:t>
            </a:r>
            <a:r>
              <a:rPr lang="en-US" altLang="zh-CN" sz="2400" dirty="0" err="1">
                <a:solidFill>
                  <a:srgbClr val="FF0000"/>
                </a:solidFill>
                <a:ea typeface="SimSun" pitchFamily="2" charset="-122"/>
              </a:rPr>
              <a:t>-h</a:t>
            </a:r>
            <a:r>
              <a:rPr lang="en-US" altLang="zh-CN" sz="2400" baseline="-25000" dirty="0" err="1">
                <a:solidFill>
                  <a:srgbClr val="FF0000"/>
                </a:solidFill>
                <a:ea typeface="SimSun" pitchFamily="2" charset="-122"/>
              </a:rPr>
              <a:t>right</a:t>
            </a:r>
            <a:endParaRPr lang="en-US" altLang="zh-CN" sz="2400" baseline="-25000" dirty="0">
              <a:solidFill>
                <a:srgbClr val="FF0000"/>
              </a:solidFill>
              <a:ea typeface="SimSun" pitchFamily="2" charset="-122"/>
            </a:endParaRPr>
          </a:p>
          <a:p>
            <a:r>
              <a:rPr lang="en-US" altLang="zh-CN" sz="2400" dirty="0">
                <a:ea typeface="SimSun" pitchFamily="2" charset="-122"/>
              </a:rPr>
              <a:t>empty height = -1</a:t>
            </a:r>
            <a:endParaRPr lang="en-US" altLang="zh-CN" sz="2400" baseline="-25000" dirty="0">
              <a:ea typeface="SimSun" pitchFamily="2" charset="-122"/>
            </a:endParaRPr>
          </a:p>
        </p:txBody>
      </p:sp>
      <p:sp>
        <p:nvSpPr>
          <p:cNvPr id="51226" name="Text Box 104"/>
          <p:cNvSpPr txBox="1">
            <a:spLocks noChangeArrowheads="1"/>
          </p:cNvSpPr>
          <p:nvPr/>
        </p:nvSpPr>
        <p:spPr bwMode="auto">
          <a:xfrm>
            <a:off x="2938776" y="2328520"/>
            <a:ext cx="277304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height=2   BF=1-0=1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38780" y="2957830"/>
            <a:ext cx="2600325" cy="1647190"/>
            <a:chOff x="342900" y="3943350"/>
            <a:chExt cx="2343150" cy="1314450"/>
          </a:xfrm>
        </p:grpSpPr>
        <p:sp>
          <p:nvSpPr>
            <p:cNvPr id="51228" name="Oval 106"/>
            <p:cNvSpPr>
              <a:spLocks noChangeArrowheads="1"/>
            </p:cNvSpPr>
            <p:nvPr/>
          </p:nvSpPr>
          <p:spPr bwMode="auto">
            <a:xfrm>
              <a:off x="1657350" y="39433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6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29" name="Oval 107"/>
            <p:cNvSpPr>
              <a:spLocks noChangeArrowheads="1"/>
            </p:cNvSpPr>
            <p:nvPr/>
          </p:nvSpPr>
          <p:spPr bwMode="auto">
            <a:xfrm>
              <a:off x="857250" y="43886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4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30" name="Oval 108"/>
            <p:cNvSpPr>
              <a:spLocks noChangeArrowheads="1"/>
            </p:cNvSpPr>
            <p:nvPr/>
          </p:nvSpPr>
          <p:spPr bwMode="auto">
            <a:xfrm>
              <a:off x="2343150" y="43886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9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31" name="Oval 110"/>
            <p:cNvSpPr>
              <a:spLocks noChangeArrowheads="1"/>
            </p:cNvSpPr>
            <p:nvPr/>
          </p:nvSpPr>
          <p:spPr bwMode="auto">
            <a:xfrm>
              <a:off x="342900" y="49149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32" name="Oval 111"/>
            <p:cNvSpPr>
              <a:spLocks noChangeArrowheads="1"/>
            </p:cNvSpPr>
            <p:nvPr/>
          </p:nvSpPr>
          <p:spPr bwMode="auto">
            <a:xfrm>
              <a:off x="1314450" y="49149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5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51233" name="AutoShape 112"/>
            <p:cNvCxnSpPr>
              <a:cxnSpLocks noChangeShapeType="1"/>
              <a:stCxn id="51228" idx="3"/>
              <a:endCxn id="51229" idx="7"/>
            </p:cNvCxnSpPr>
            <p:nvPr/>
          </p:nvCxnSpPr>
          <p:spPr bwMode="auto">
            <a:xfrm flipH="1">
              <a:off x="1150144" y="4236244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4" name="AutoShape 113"/>
            <p:cNvCxnSpPr>
              <a:cxnSpLocks noChangeShapeType="1"/>
              <a:stCxn id="51228" idx="5"/>
              <a:endCxn id="51230" idx="1"/>
            </p:cNvCxnSpPr>
            <p:nvPr/>
          </p:nvCxnSpPr>
          <p:spPr bwMode="auto">
            <a:xfrm>
              <a:off x="1950244" y="4236244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5" name="AutoShape 114"/>
            <p:cNvCxnSpPr>
              <a:cxnSpLocks noChangeShapeType="1"/>
              <a:stCxn id="51229" idx="3"/>
              <a:endCxn id="51231" idx="0"/>
            </p:cNvCxnSpPr>
            <p:nvPr/>
          </p:nvCxnSpPr>
          <p:spPr bwMode="auto">
            <a:xfrm flipH="1">
              <a:off x="514351" y="4681537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6" name="AutoShape 115"/>
            <p:cNvCxnSpPr>
              <a:cxnSpLocks noChangeShapeType="1"/>
              <a:stCxn id="51229" idx="5"/>
              <a:endCxn id="51232" idx="0"/>
            </p:cNvCxnSpPr>
            <p:nvPr/>
          </p:nvCxnSpPr>
          <p:spPr bwMode="auto">
            <a:xfrm>
              <a:off x="1150144" y="46815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2969891" y="3167380"/>
            <a:ext cx="2576201" cy="1056374"/>
            <a:chOff x="104107" y="4051601"/>
            <a:chExt cx="2812623" cy="1060426"/>
          </a:xfrm>
        </p:grpSpPr>
        <p:sp>
          <p:nvSpPr>
            <p:cNvPr id="51224" name="Text Box 101"/>
            <p:cNvSpPr txBox="1">
              <a:spLocks noChangeArrowheads="1"/>
            </p:cNvSpPr>
            <p:nvPr/>
          </p:nvSpPr>
          <p:spPr bwMode="auto">
            <a:xfrm>
              <a:off x="2545890" y="4076893"/>
              <a:ext cx="370840" cy="400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25" name="Text Box 103"/>
            <p:cNvSpPr txBox="1">
              <a:spLocks noChangeArrowheads="1"/>
            </p:cNvSpPr>
            <p:nvPr/>
          </p:nvSpPr>
          <p:spPr bwMode="auto">
            <a:xfrm>
              <a:off x="104107" y="4698331"/>
              <a:ext cx="370840" cy="400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27" name="Text Box 105"/>
            <p:cNvSpPr txBox="1">
              <a:spLocks noChangeArrowheads="1"/>
            </p:cNvSpPr>
            <p:nvPr/>
          </p:nvSpPr>
          <p:spPr bwMode="auto">
            <a:xfrm>
              <a:off x="1327923" y="4711717"/>
              <a:ext cx="370840" cy="400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37" name="Text Box 118"/>
            <p:cNvSpPr txBox="1">
              <a:spLocks noChangeArrowheads="1"/>
            </p:cNvSpPr>
            <p:nvPr/>
          </p:nvSpPr>
          <p:spPr bwMode="auto">
            <a:xfrm>
              <a:off x="705811" y="4051601"/>
              <a:ext cx="370840" cy="400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</p:grpSp>
      <p:sp>
        <p:nvSpPr>
          <p:cNvPr id="51238" name="Text Box 120"/>
          <p:cNvSpPr txBox="1">
            <a:spLocks noChangeArrowheads="1"/>
          </p:cNvSpPr>
          <p:nvPr/>
        </p:nvSpPr>
        <p:spPr bwMode="auto">
          <a:xfrm>
            <a:off x="3139440" y="1685925"/>
            <a:ext cx="237236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ea typeface="SimSun" pitchFamily="2" charset="-122"/>
              </a:rPr>
              <a:t>Tree A (AVL)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51239" name="Text Box 121"/>
          <p:cNvSpPr txBox="1">
            <a:spLocks noChangeArrowheads="1"/>
          </p:cNvSpPr>
          <p:nvPr/>
        </p:nvSpPr>
        <p:spPr bwMode="auto">
          <a:xfrm>
            <a:off x="6705600" y="1689100"/>
            <a:ext cx="278384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ea typeface="SimSun" pitchFamily="2" charset="-122"/>
              </a:rPr>
              <a:t>Tree B (AVL)</a:t>
            </a:r>
            <a:endParaRPr lang="en-US" altLang="zh-CN" sz="2400" dirty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3" grpId="0" bldLvl="0" animBg="1"/>
      <p:bldP spid="51226" grpId="0" bldLvl="0" animBg="1"/>
      <p:bldP spid="51238" grpId="0" bldLvl="0" animBg="1"/>
      <p:bldP spid="51239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Node Heights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51226" name="Text Box 104"/>
          <p:cNvSpPr txBox="1">
            <a:spLocks noChangeArrowheads="1"/>
          </p:cNvSpPr>
          <p:nvPr/>
        </p:nvSpPr>
        <p:spPr bwMode="auto">
          <a:xfrm>
            <a:off x="5227955" y="3302635"/>
            <a:ext cx="20116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   BF=1-0=1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853815" y="3662680"/>
            <a:ext cx="2903220" cy="1847850"/>
            <a:chOff x="342900" y="3943350"/>
            <a:chExt cx="2343150" cy="1314450"/>
          </a:xfrm>
        </p:grpSpPr>
        <p:sp>
          <p:nvSpPr>
            <p:cNvPr id="51228" name="Oval 106"/>
            <p:cNvSpPr>
              <a:spLocks noChangeArrowheads="1"/>
            </p:cNvSpPr>
            <p:nvPr/>
          </p:nvSpPr>
          <p:spPr bwMode="auto">
            <a:xfrm>
              <a:off x="1657350" y="39433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6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29" name="Oval 107"/>
            <p:cNvSpPr>
              <a:spLocks noChangeArrowheads="1"/>
            </p:cNvSpPr>
            <p:nvPr/>
          </p:nvSpPr>
          <p:spPr bwMode="auto">
            <a:xfrm>
              <a:off x="857250" y="43886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4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30" name="Oval 108"/>
            <p:cNvSpPr>
              <a:spLocks noChangeArrowheads="1"/>
            </p:cNvSpPr>
            <p:nvPr/>
          </p:nvSpPr>
          <p:spPr bwMode="auto">
            <a:xfrm>
              <a:off x="2343150" y="43886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9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31" name="Oval 110"/>
            <p:cNvSpPr>
              <a:spLocks noChangeArrowheads="1"/>
            </p:cNvSpPr>
            <p:nvPr/>
          </p:nvSpPr>
          <p:spPr bwMode="auto">
            <a:xfrm>
              <a:off x="342900" y="49149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32" name="Oval 111"/>
            <p:cNvSpPr>
              <a:spLocks noChangeArrowheads="1"/>
            </p:cNvSpPr>
            <p:nvPr/>
          </p:nvSpPr>
          <p:spPr bwMode="auto">
            <a:xfrm>
              <a:off x="1314450" y="49149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5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51233" name="AutoShape 112"/>
            <p:cNvCxnSpPr>
              <a:cxnSpLocks noChangeShapeType="1"/>
              <a:stCxn id="51228" idx="3"/>
              <a:endCxn id="51229" idx="7"/>
            </p:cNvCxnSpPr>
            <p:nvPr/>
          </p:nvCxnSpPr>
          <p:spPr bwMode="auto">
            <a:xfrm flipH="1">
              <a:off x="1150144" y="4236244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4" name="AutoShape 113"/>
            <p:cNvCxnSpPr>
              <a:cxnSpLocks noChangeShapeType="1"/>
              <a:stCxn id="51228" idx="5"/>
              <a:endCxn id="51230" idx="1"/>
            </p:cNvCxnSpPr>
            <p:nvPr/>
          </p:nvCxnSpPr>
          <p:spPr bwMode="auto">
            <a:xfrm>
              <a:off x="1950244" y="4236244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5" name="AutoShape 114"/>
            <p:cNvCxnSpPr>
              <a:cxnSpLocks noChangeShapeType="1"/>
              <a:stCxn id="51229" idx="3"/>
              <a:endCxn id="51231" idx="0"/>
            </p:cNvCxnSpPr>
            <p:nvPr/>
          </p:nvCxnSpPr>
          <p:spPr bwMode="auto">
            <a:xfrm flipH="1">
              <a:off x="514351" y="4681537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6" name="AutoShape 115"/>
            <p:cNvCxnSpPr>
              <a:cxnSpLocks noChangeShapeType="1"/>
              <a:stCxn id="51229" idx="5"/>
              <a:endCxn id="51232" idx="0"/>
            </p:cNvCxnSpPr>
            <p:nvPr/>
          </p:nvCxnSpPr>
          <p:spPr bwMode="auto">
            <a:xfrm>
              <a:off x="1150144" y="46815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1224" name="Text Box 101"/>
          <p:cNvSpPr txBox="1">
            <a:spLocks noChangeArrowheads="1"/>
          </p:cNvSpPr>
          <p:nvPr/>
        </p:nvSpPr>
        <p:spPr bwMode="auto">
          <a:xfrm>
            <a:off x="6395085" y="3966845"/>
            <a:ext cx="4432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800" dirty="0" smtClean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950970" y="3966845"/>
            <a:ext cx="1668145" cy="1108329"/>
            <a:chOff x="716756" y="5005143"/>
            <a:chExt cx="1347153" cy="788165"/>
          </a:xfrm>
        </p:grpSpPr>
        <p:sp>
          <p:nvSpPr>
            <p:cNvPr id="51225" name="Text Box 103"/>
            <p:cNvSpPr txBox="1">
              <a:spLocks noChangeArrowheads="1"/>
            </p:cNvSpPr>
            <p:nvPr/>
          </p:nvSpPr>
          <p:spPr bwMode="auto">
            <a:xfrm>
              <a:off x="716756" y="5531399"/>
              <a:ext cx="370840" cy="2619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27" name="Text Box 105"/>
            <p:cNvSpPr txBox="1">
              <a:spLocks noChangeArrowheads="1"/>
            </p:cNvSpPr>
            <p:nvPr/>
          </p:nvSpPr>
          <p:spPr bwMode="auto">
            <a:xfrm>
              <a:off x="1693069" y="5531399"/>
              <a:ext cx="370840" cy="2619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37" name="Text Box 118"/>
            <p:cNvSpPr txBox="1">
              <a:spLocks noChangeArrowheads="1"/>
            </p:cNvSpPr>
            <p:nvPr/>
          </p:nvSpPr>
          <p:spPr bwMode="auto">
            <a:xfrm>
              <a:off x="1231106" y="5005143"/>
              <a:ext cx="370840" cy="2619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</p:grpSp>
      <p:sp>
        <p:nvSpPr>
          <p:cNvPr id="51238" name="Text Box 120"/>
          <p:cNvSpPr txBox="1">
            <a:spLocks noChangeArrowheads="1"/>
          </p:cNvSpPr>
          <p:nvPr/>
        </p:nvSpPr>
        <p:spPr bwMode="auto">
          <a:xfrm>
            <a:off x="4916170" y="2668905"/>
            <a:ext cx="229171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ea typeface="SimSun" pitchFamily="2" charset="-122"/>
              </a:rPr>
              <a:t>Tree A (AVL)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49320" y="1480820"/>
            <a:ext cx="467614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node into AVL</a:t>
            </a:r>
            <a:endParaRPr lang="en-US" altLang="zh-CN" sz="2800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insert 7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Box 101"/>
          <p:cNvSpPr txBox="1">
            <a:spLocks noChangeArrowheads="1"/>
          </p:cNvSpPr>
          <p:nvPr/>
        </p:nvSpPr>
        <p:spPr bwMode="auto">
          <a:xfrm>
            <a:off x="6326505" y="3917950"/>
            <a:ext cx="459105" cy="368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dirty="0" smtClean="0">
              <a:solidFill>
                <a:srgbClr val="0000FF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754370" y="4662170"/>
            <a:ext cx="619760" cy="799465"/>
            <a:chOff x="2047812" y="5970733"/>
            <a:chExt cx="500063" cy="569118"/>
          </a:xfrm>
        </p:grpSpPr>
        <p:sp>
          <p:nvSpPr>
            <p:cNvPr id="45" name="Oval 53"/>
            <p:cNvSpPr>
              <a:spLocks noChangeArrowheads="1"/>
            </p:cNvSpPr>
            <p:nvPr/>
          </p:nvSpPr>
          <p:spPr bwMode="auto">
            <a:xfrm>
              <a:off x="2047812" y="6196951"/>
              <a:ext cx="342900" cy="342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7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46" name="AutoShape 54"/>
            <p:cNvCxnSpPr>
              <a:cxnSpLocks noChangeShapeType="1"/>
              <a:endCxn id="45" idx="0"/>
            </p:cNvCxnSpPr>
            <p:nvPr/>
          </p:nvCxnSpPr>
          <p:spPr bwMode="auto">
            <a:xfrm flipH="1">
              <a:off x="2219262" y="5970733"/>
              <a:ext cx="328613" cy="2262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7" name="Text Box 105"/>
          <p:cNvSpPr txBox="1">
            <a:spLocks noChangeArrowheads="1"/>
          </p:cNvSpPr>
          <p:nvPr/>
        </p:nvSpPr>
        <p:spPr bwMode="auto">
          <a:xfrm>
            <a:off x="5732780" y="4611370"/>
            <a:ext cx="45910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800" b="1" dirty="0">
              <a:solidFill>
                <a:srgbClr val="0000FF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1" name="Text Box 104"/>
          <p:cNvSpPr txBox="1">
            <a:spLocks noChangeArrowheads="1"/>
          </p:cNvSpPr>
          <p:nvPr/>
        </p:nvSpPr>
        <p:spPr bwMode="auto">
          <a:xfrm>
            <a:off x="4853940" y="3201035"/>
            <a:ext cx="2353310" cy="3987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   BF=1-</a:t>
            </a: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=</a:t>
            </a: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b="1" dirty="0" smtClean="0">
              <a:solidFill>
                <a:srgbClr val="0000FF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47" grpId="0" bldLvl="0" animBg="1"/>
      <p:bldP spid="51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Node Heights</a:t>
            </a:r>
            <a:endParaRPr lang="en-US" altLang="zh-CN" dirty="0" smtClean="0">
              <a:ea typeface="SimSun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45850" y="3416435"/>
            <a:ext cx="1757363" cy="985838"/>
            <a:chOff x="3303985" y="3955256"/>
            <a:chExt cx="2343150" cy="1314450"/>
          </a:xfrm>
        </p:grpSpPr>
        <p:sp>
          <p:nvSpPr>
            <p:cNvPr id="51211" name="Oval 67"/>
            <p:cNvSpPr>
              <a:spLocks noChangeArrowheads="1"/>
            </p:cNvSpPr>
            <p:nvPr/>
          </p:nvSpPr>
          <p:spPr bwMode="auto">
            <a:xfrm>
              <a:off x="4618435" y="395525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dirty="0">
                  <a:latin typeface="Times New Roman" panose="02020603050405020304" pitchFamily="18" charset="0"/>
                  <a:ea typeface="SimSun" pitchFamily="2" charset="-122"/>
                </a:rPr>
                <a:t>6</a:t>
              </a:r>
              <a:endParaRPr lang="en-US" altLang="zh-CN" sz="1350" dirty="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2" name="Oval 68"/>
            <p:cNvSpPr>
              <a:spLocks noChangeArrowheads="1"/>
            </p:cNvSpPr>
            <p:nvPr/>
          </p:nvSpPr>
          <p:spPr bwMode="auto">
            <a:xfrm>
              <a:off x="3818335" y="44005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4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3" name="Oval 69"/>
            <p:cNvSpPr>
              <a:spLocks noChangeArrowheads="1"/>
            </p:cNvSpPr>
            <p:nvPr/>
          </p:nvSpPr>
          <p:spPr bwMode="auto">
            <a:xfrm>
              <a:off x="5304235" y="44005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9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4" name="Oval 70"/>
            <p:cNvSpPr>
              <a:spLocks noChangeArrowheads="1"/>
            </p:cNvSpPr>
            <p:nvPr/>
          </p:nvSpPr>
          <p:spPr bwMode="auto">
            <a:xfrm>
              <a:off x="484703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8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5" name="Oval 71"/>
            <p:cNvSpPr>
              <a:spLocks noChangeArrowheads="1"/>
            </p:cNvSpPr>
            <p:nvPr/>
          </p:nvSpPr>
          <p:spPr bwMode="auto">
            <a:xfrm>
              <a:off x="330398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6" name="Oval 72"/>
            <p:cNvSpPr>
              <a:spLocks noChangeArrowheads="1"/>
            </p:cNvSpPr>
            <p:nvPr/>
          </p:nvSpPr>
          <p:spPr bwMode="auto">
            <a:xfrm>
              <a:off x="427553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5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51217" name="AutoShape 73"/>
            <p:cNvCxnSpPr>
              <a:cxnSpLocks noChangeShapeType="1"/>
              <a:stCxn id="51211" idx="3"/>
              <a:endCxn id="51212" idx="7"/>
            </p:cNvCxnSpPr>
            <p:nvPr/>
          </p:nvCxnSpPr>
          <p:spPr bwMode="auto">
            <a:xfrm flipH="1">
              <a:off x="4111228" y="4248151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18" name="AutoShape 74"/>
            <p:cNvCxnSpPr>
              <a:cxnSpLocks noChangeShapeType="1"/>
              <a:stCxn id="51211" idx="5"/>
              <a:endCxn id="51213" idx="1"/>
            </p:cNvCxnSpPr>
            <p:nvPr/>
          </p:nvCxnSpPr>
          <p:spPr bwMode="auto">
            <a:xfrm>
              <a:off x="4911328" y="4248151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19" name="AutoShape 75"/>
            <p:cNvCxnSpPr>
              <a:cxnSpLocks noChangeShapeType="1"/>
              <a:stCxn id="51212" idx="3"/>
              <a:endCxn id="51215" idx="0"/>
            </p:cNvCxnSpPr>
            <p:nvPr/>
          </p:nvCxnSpPr>
          <p:spPr bwMode="auto">
            <a:xfrm flipH="1">
              <a:off x="3475435" y="4693444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20" name="AutoShape 76"/>
            <p:cNvCxnSpPr>
              <a:cxnSpLocks noChangeShapeType="1"/>
              <a:stCxn id="51212" idx="5"/>
              <a:endCxn id="51216" idx="0"/>
            </p:cNvCxnSpPr>
            <p:nvPr/>
          </p:nvCxnSpPr>
          <p:spPr bwMode="auto">
            <a:xfrm>
              <a:off x="4111229" y="4693444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21" name="AutoShape 77"/>
            <p:cNvCxnSpPr>
              <a:cxnSpLocks noChangeShapeType="1"/>
              <a:stCxn id="51213" idx="3"/>
              <a:endCxn id="51214" idx="0"/>
            </p:cNvCxnSpPr>
            <p:nvPr/>
          </p:nvCxnSpPr>
          <p:spPr bwMode="auto">
            <a:xfrm flipH="1">
              <a:off x="5018485" y="4693444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4785140" y="3159855"/>
            <a:ext cx="1772365" cy="1036678"/>
            <a:chOff x="3356372" y="3613149"/>
            <a:chExt cx="2363153" cy="1382237"/>
          </a:xfrm>
        </p:grpSpPr>
        <p:sp>
          <p:nvSpPr>
            <p:cNvPr id="51206" name="Text Box 21"/>
            <p:cNvSpPr txBox="1">
              <a:spLocks noChangeArrowheads="1"/>
            </p:cNvSpPr>
            <p:nvPr/>
          </p:nvSpPr>
          <p:spPr bwMode="auto">
            <a:xfrm>
              <a:off x="5361385" y="4070349"/>
              <a:ext cx="358140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350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07" name="Text Box 22"/>
            <p:cNvSpPr txBox="1">
              <a:spLocks noChangeArrowheads="1"/>
            </p:cNvSpPr>
            <p:nvPr/>
          </p:nvSpPr>
          <p:spPr bwMode="auto">
            <a:xfrm>
              <a:off x="4904185" y="4596606"/>
              <a:ext cx="358140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35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 sz="135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08" name="Text Box 23"/>
            <p:cNvSpPr txBox="1">
              <a:spLocks noChangeArrowheads="1"/>
            </p:cNvSpPr>
            <p:nvPr/>
          </p:nvSpPr>
          <p:spPr bwMode="auto">
            <a:xfrm>
              <a:off x="3356372" y="4596606"/>
              <a:ext cx="358140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350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 sz="135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09" name="Text Box 24"/>
            <p:cNvSpPr txBox="1">
              <a:spLocks noChangeArrowheads="1"/>
            </p:cNvSpPr>
            <p:nvPr/>
          </p:nvSpPr>
          <p:spPr bwMode="auto">
            <a:xfrm>
              <a:off x="4670822" y="3613149"/>
              <a:ext cx="358140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350" dirty="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2</a:t>
              </a:r>
              <a:endParaRPr lang="en-US" altLang="zh-CN" sz="135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10" name="Text Box 25"/>
            <p:cNvSpPr txBox="1">
              <a:spLocks noChangeArrowheads="1"/>
            </p:cNvSpPr>
            <p:nvPr/>
          </p:nvSpPr>
          <p:spPr bwMode="auto">
            <a:xfrm>
              <a:off x="4332685" y="4596606"/>
              <a:ext cx="358140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35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0</a:t>
              </a:r>
              <a:endParaRPr lang="en-US" altLang="zh-CN" sz="135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sp>
          <p:nvSpPr>
            <p:cNvPr id="51222" name="Text Box 79"/>
            <p:cNvSpPr txBox="1">
              <a:spLocks noChangeArrowheads="1"/>
            </p:cNvSpPr>
            <p:nvPr/>
          </p:nvSpPr>
          <p:spPr bwMode="auto">
            <a:xfrm>
              <a:off x="3870722" y="4070349"/>
              <a:ext cx="358140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350">
                  <a:solidFill>
                    <a:srgbClr val="FF0000"/>
                  </a:solidFill>
                  <a:latin typeface="Times New Roman" panose="02020603050405020304" pitchFamily="18" charset="0"/>
                  <a:ea typeface="SimSun" pitchFamily="2" charset="-122"/>
                </a:rPr>
                <a:t>1</a:t>
              </a:r>
              <a:endParaRPr lang="en-US" altLang="zh-CN" sz="135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</p:grpSp>
      <p:sp>
        <p:nvSpPr>
          <p:cNvPr id="51239" name="Text Box 121"/>
          <p:cNvSpPr txBox="1">
            <a:spLocks noChangeArrowheads="1"/>
          </p:cNvSpPr>
          <p:nvPr/>
        </p:nvSpPr>
        <p:spPr bwMode="auto">
          <a:xfrm>
            <a:off x="5309870" y="2552700"/>
            <a:ext cx="182054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ea typeface="SimSun" pitchFamily="2" charset="-122"/>
              </a:rPr>
              <a:t>Tree B (AVL)</a:t>
            </a:r>
            <a:endParaRPr lang="en-US" altLang="zh-CN" sz="1800" dirty="0">
              <a:ea typeface="SimSun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88859" y="1437599"/>
            <a:ext cx="314134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node into AVL</a:t>
            </a:r>
            <a:endParaRPr lang="en-US" altLang="zh-CN" sz="2400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insert 7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683484" y="4364611"/>
            <a:ext cx="257317" cy="621453"/>
            <a:chOff x="2209205" y="5456586"/>
            <a:chExt cx="343089" cy="753276"/>
          </a:xfrm>
        </p:grpSpPr>
        <p:sp>
          <p:nvSpPr>
            <p:cNvPr id="53" name="Oval 53"/>
            <p:cNvSpPr>
              <a:spLocks noChangeArrowheads="1"/>
            </p:cNvSpPr>
            <p:nvPr/>
          </p:nvSpPr>
          <p:spPr bwMode="auto">
            <a:xfrm>
              <a:off x="2209205" y="5866962"/>
              <a:ext cx="342900" cy="342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latin typeface="Times New Roman" panose="02020603050405020304" pitchFamily="18" charset="0"/>
                  <a:ea typeface="SimSun" pitchFamily="2" charset="-122"/>
                </a:rPr>
                <a:t>7</a:t>
              </a:r>
              <a:endParaRPr lang="en-US" altLang="zh-CN" sz="1350">
                <a:latin typeface="Times New Roman" panose="02020603050405020304" pitchFamily="18" charset="0"/>
                <a:ea typeface="SimSun" pitchFamily="2" charset="-122"/>
              </a:endParaRPr>
            </a:p>
          </p:txBody>
        </p:sp>
        <p:cxnSp>
          <p:nvCxnSpPr>
            <p:cNvPr id="54" name="AutoShape 54"/>
            <p:cNvCxnSpPr>
              <a:cxnSpLocks noChangeShapeType="1"/>
              <a:stCxn id="51214" idx="3"/>
              <a:endCxn id="53" idx="0"/>
            </p:cNvCxnSpPr>
            <p:nvPr/>
          </p:nvCxnSpPr>
          <p:spPr bwMode="auto">
            <a:xfrm flipH="1">
              <a:off x="2380655" y="5456586"/>
              <a:ext cx="171639" cy="4103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5" name="Text Box 105"/>
          <p:cNvSpPr txBox="1">
            <a:spLocks noChangeArrowheads="1"/>
          </p:cNvSpPr>
          <p:nvPr/>
        </p:nvSpPr>
        <p:spPr bwMode="auto">
          <a:xfrm>
            <a:off x="5635247" y="4425062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 dirty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 b="1" dirty="0">
              <a:solidFill>
                <a:srgbClr val="0000FF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7" name="Text Box 101"/>
          <p:cNvSpPr txBox="1">
            <a:spLocks noChangeArrowheads="1"/>
          </p:cNvSpPr>
          <p:nvPr/>
        </p:nvSpPr>
        <p:spPr bwMode="auto">
          <a:xfrm>
            <a:off x="5920753" y="3818441"/>
            <a:ext cx="202796" cy="3219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 b="1" dirty="0">
              <a:solidFill>
                <a:srgbClr val="0000FF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8" name="Text Box 101"/>
          <p:cNvSpPr txBox="1">
            <a:spLocks noChangeArrowheads="1"/>
          </p:cNvSpPr>
          <p:nvPr/>
        </p:nvSpPr>
        <p:spPr bwMode="auto">
          <a:xfrm>
            <a:off x="6317664" y="3418598"/>
            <a:ext cx="278130" cy="3219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500" b="1" dirty="0">
              <a:solidFill>
                <a:srgbClr val="0000FF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60" name="Text Box 121"/>
          <p:cNvSpPr txBox="1">
            <a:spLocks noChangeArrowheads="1"/>
          </p:cNvSpPr>
          <p:nvPr/>
        </p:nvSpPr>
        <p:spPr bwMode="auto">
          <a:xfrm>
            <a:off x="5248910" y="2506345"/>
            <a:ext cx="2348865" cy="368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ea typeface="SimSun" pitchFamily="2" charset="-122"/>
              </a:rPr>
              <a:t>Tree B </a:t>
            </a:r>
            <a:r>
              <a:rPr lang="en-US" altLang="zh-CN" sz="1800" dirty="0" smtClean="0">
                <a:ea typeface="SimSun" pitchFamily="2" charset="-122"/>
              </a:rPr>
              <a:t>(</a:t>
            </a:r>
            <a:r>
              <a:rPr lang="en-US" altLang="zh-CN" sz="1800" b="1" dirty="0" smtClean="0">
                <a:solidFill>
                  <a:srgbClr val="0000FF"/>
                </a:solidFill>
                <a:ea typeface="SimSun" pitchFamily="2" charset="-122"/>
              </a:rPr>
              <a:t>non-AVL</a:t>
            </a:r>
            <a:r>
              <a:rPr lang="en-US" altLang="zh-CN" sz="1800" dirty="0">
                <a:ea typeface="SimSun" pitchFamily="2" charset="-122"/>
              </a:rPr>
              <a:t>)</a:t>
            </a:r>
            <a:endParaRPr lang="en-US" altLang="zh-CN" sz="1800" dirty="0">
              <a:ea typeface="SimSun" pitchFamily="2" charset="-122"/>
            </a:endParaRPr>
          </a:p>
        </p:txBody>
      </p:sp>
      <p:sp>
        <p:nvSpPr>
          <p:cNvPr id="61" name="Text Box 101"/>
          <p:cNvSpPr txBox="1">
            <a:spLocks noChangeArrowheads="1"/>
          </p:cNvSpPr>
          <p:nvPr/>
        </p:nvSpPr>
        <p:spPr bwMode="auto">
          <a:xfrm>
            <a:off x="5786642" y="3094562"/>
            <a:ext cx="278130" cy="3219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500" b="1" dirty="0">
              <a:solidFill>
                <a:srgbClr val="0000FF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9" name="AutoShape 64"/>
          <p:cNvSpPr>
            <a:spLocks noChangeArrowheads="1"/>
          </p:cNvSpPr>
          <p:nvPr/>
        </p:nvSpPr>
        <p:spPr bwMode="auto">
          <a:xfrm>
            <a:off x="6924675" y="3075623"/>
            <a:ext cx="1858645" cy="706754"/>
          </a:xfrm>
          <a:prstGeom prst="wedgeRectCallout">
            <a:avLst>
              <a:gd name="adj1" fmla="val -74601"/>
              <a:gd name="adj2" fmla="val 58569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balance factor 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1-(-1) = 2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248785" y="5651500"/>
            <a:ext cx="3737610" cy="70675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Inserting(deleting) a node </a:t>
            </a:r>
            <a:r>
              <a:rPr lang="en-US" altLang="zh-CN" sz="2000" dirty="0">
                <a:solidFill>
                  <a:srgbClr val="FF0000"/>
                </a:solidFill>
              </a:rPr>
              <a:t>could violate the AVL tree </a:t>
            </a:r>
            <a:r>
              <a:rPr lang="en-US" altLang="zh-CN" sz="2000" dirty="0" smtClean="0">
                <a:solidFill>
                  <a:srgbClr val="FF0000"/>
                </a:solidFill>
              </a:rPr>
              <a:t>property.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57" grpId="0" bldLvl="0" animBg="1"/>
      <p:bldP spid="58" grpId="0" bldLvl="0" animBg="1"/>
      <p:bldP spid="60" grpId="0" bldLvl="0" animBg="1"/>
      <p:bldP spid="61" grpId="0" bldLvl="0" animBg="1"/>
      <p:bldP spid="59" grpId="0" bldLvl="0" animBg="1"/>
      <p:bldP spid="62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Insert and Rotation in AVL Trees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3555" y="1782445"/>
            <a:ext cx="8168005" cy="28505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SimSun" pitchFamily="2" charset="-122"/>
              </a:rPr>
              <a:t>Insert operation may cause balance factor to become 2 or –2 for some node </a:t>
            </a:r>
            <a:endParaRPr lang="en-US" altLang="zh-CN" sz="2800" dirty="0" smtClean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ea typeface="SimSun" pitchFamily="2" charset="-122"/>
              </a:rPr>
              <a:t>only nodes on the path from insertion point to root node have possibly changed in height</a:t>
            </a:r>
            <a:endParaRPr lang="en-US" altLang="zh-CN" sz="2400" dirty="0" smtClean="0">
              <a:solidFill>
                <a:srgbClr val="FF0000"/>
              </a:solidFill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400" dirty="0" smtClean="0">
              <a:solidFill>
                <a:srgbClr val="FF0000"/>
              </a:solidFill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</a:rPr>
              <a:t>So after the Insert, </a:t>
            </a:r>
            <a:r>
              <a:rPr lang="en-US" altLang="zh-CN" sz="2400" dirty="0" smtClean="0">
                <a:solidFill>
                  <a:srgbClr val="0000FF"/>
                </a:solidFill>
                <a:ea typeface="SimSun" pitchFamily="2" charset="-122"/>
              </a:rPr>
              <a:t>go back up </a:t>
            </a:r>
            <a:r>
              <a:rPr lang="en-US" altLang="zh-CN" sz="2400" dirty="0" smtClean="0">
                <a:ea typeface="SimSun" pitchFamily="2" charset="-122"/>
              </a:rPr>
              <a:t>to the root node by node, updating heights</a:t>
            </a:r>
            <a:endParaRPr lang="en-US" altLang="zh-CN" sz="2400" dirty="0" smtClean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400" dirty="0" smtClean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</a:rPr>
              <a:t>If a new balance factor (the difference </a:t>
            </a:r>
            <a:r>
              <a:rPr lang="en-US" altLang="zh-CN" sz="2400" dirty="0" err="1" smtClean="0">
                <a:ea typeface="SimSun" pitchFamily="2" charset="-122"/>
              </a:rPr>
              <a:t>h</a:t>
            </a:r>
            <a:r>
              <a:rPr lang="en-US" altLang="zh-CN" sz="2400" baseline="-25000" dirty="0" err="1" smtClean="0">
                <a:ea typeface="SimSun" pitchFamily="2" charset="-122"/>
              </a:rPr>
              <a:t>left</a:t>
            </a:r>
            <a:r>
              <a:rPr lang="en-US" altLang="zh-CN" sz="2400" dirty="0" err="1" smtClean="0">
                <a:ea typeface="SimSun" pitchFamily="2" charset="-122"/>
              </a:rPr>
              <a:t>-h</a:t>
            </a:r>
            <a:r>
              <a:rPr lang="en-US" altLang="zh-CN" sz="2400" baseline="-25000" dirty="0" err="1" smtClean="0">
                <a:ea typeface="SimSun" pitchFamily="2" charset="-122"/>
              </a:rPr>
              <a:t>right</a:t>
            </a:r>
            <a:r>
              <a:rPr lang="en-US" altLang="zh-CN" sz="2400" dirty="0" smtClean="0">
                <a:ea typeface="SimSun" pitchFamily="2" charset="-122"/>
              </a:rPr>
              <a:t>) is 2 or –2, adjust tree by </a:t>
            </a:r>
            <a:r>
              <a:rPr lang="en-US" altLang="zh-CN" sz="2400" b="1" i="1" dirty="0" smtClean="0">
                <a:solidFill>
                  <a:srgbClr val="FF0000"/>
                </a:solidFill>
                <a:ea typeface="SimSun" pitchFamily="2" charset="-122"/>
              </a:rPr>
              <a:t>rotation</a:t>
            </a:r>
            <a:r>
              <a:rPr lang="en-US" altLang="zh-CN" sz="2400" dirty="0" smtClean="0">
                <a:ea typeface="SimSun" pitchFamily="2" charset="-122"/>
              </a:rPr>
              <a:t> around the node</a:t>
            </a:r>
            <a:endParaRPr lang="en-US" altLang="zh-CN" sz="2400" dirty="0" smtClean="0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Rotation in an AVL Tree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54278" name="Text Box 56"/>
          <p:cNvSpPr txBox="1">
            <a:spLocks noChangeArrowheads="1"/>
          </p:cNvSpPr>
          <p:nvPr/>
        </p:nvSpPr>
        <p:spPr bwMode="auto">
          <a:xfrm>
            <a:off x="5493526" y="3015816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chemeClr val="accent2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79" name="Text Box 57"/>
          <p:cNvSpPr txBox="1">
            <a:spLocks noChangeArrowheads="1"/>
          </p:cNvSpPr>
          <p:nvPr/>
        </p:nvSpPr>
        <p:spPr bwMode="auto">
          <a:xfrm>
            <a:off x="5150626" y="3410509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chemeClr val="accent2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0" name="Text Box 58"/>
          <p:cNvSpPr txBox="1">
            <a:spLocks noChangeArrowheads="1"/>
          </p:cNvSpPr>
          <p:nvPr/>
        </p:nvSpPr>
        <p:spPr bwMode="auto">
          <a:xfrm>
            <a:off x="3989766" y="3410509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1" name="Text Box 59"/>
          <p:cNvSpPr txBox="1">
            <a:spLocks noChangeArrowheads="1"/>
          </p:cNvSpPr>
          <p:nvPr/>
        </p:nvSpPr>
        <p:spPr bwMode="auto">
          <a:xfrm>
            <a:off x="4975604" y="2672916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125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2" name="Text Box 60"/>
          <p:cNvSpPr txBox="1">
            <a:spLocks noChangeArrowheads="1"/>
          </p:cNvSpPr>
          <p:nvPr/>
        </p:nvSpPr>
        <p:spPr bwMode="auto">
          <a:xfrm>
            <a:off x="4722001" y="3374994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3" name="Oval 61"/>
          <p:cNvSpPr>
            <a:spLocks noChangeArrowheads="1"/>
          </p:cNvSpPr>
          <p:nvPr/>
        </p:nvSpPr>
        <p:spPr bwMode="auto">
          <a:xfrm>
            <a:off x="4981575" y="2880717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4" name="Oval 62"/>
          <p:cNvSpPr>
            <a:spLocks noChangeArrowheads="1"/>
          </p:cNvSpPr>
          <p:nvPr/>
        </p:nvSpPr>
        <p:spPr bwMode="auto">
          <a:xfrm>
            <a:off x="4381500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5" name="Oval 63"/>
          <p:cNvSpPr>
            <a:spLocks noChangeArrowheads="1"/>
          </p:cNvSpPr>
          <p:nvPr/>
        </p:nvSpPr>
        <p:spPr bwMode="auto">
          <a:xfrm>
            <a:off x="549592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9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6" name="Oval 64"/>
          <p:cNvSpPr>
            <a:spLocks noChangeArrowheads="1"/>
          </p:cNvSpPr>
          <p:nvPr/>
        </p:nvSpPr>
        <p:spPr bwMode="auto">
          <a:xfrm>
            <a:off x="5153025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8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7" name="Oval 65"/>
          <p:cNvSpPr>
            <a:spLocks noChangeArrowheads="1"/>
          </p:cNvSpPr>
          <p:nvPr/>
        </p:nvSpPr>
        <p:spPr bwMode="auto">
          <a:xfrm>
            <a:off x="3995738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8" name="Oval 66"/>
          <p:cNvSpPr>
            <a:spLocks noChangeArrowheads="1"/>
          </p:cNvSpPr>
          <p:nvPr/>
        </p:nvSpPr>
        <p:spPr bwMode="auto">
          <a:xfrm>
            <a:off x="4724400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4289" name="AutoShape 67"/>
          <p:cNvCxnSpPr>
            <a:cxnSpLocks noChangeShapeType="1"/>
            <a:stCxn id="54283" idx="3"/>
            <a:endCxn id="54284" idx="7"/>
          </p:cNvCxnSpPr>
          <p:nvPr/>
        </p:nvCxnSpPr>
        <p:spPr bwMode="auto">
          <a:xfrm flipH="1">
            <a:off x="4601171" y="3100388"/>
            <a:ext cx="417910" cy="1518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0" name="AutoShape 68"/>
          <p:cNvCxnSpPr>
            <a:cxnSpLocks noChangeShapeType="1"/>
            <a:stCxn id="54283" idx="5"/>
            <a:endCxn id="54285" idx="1"/>
          </p:cNvCxnSpPr>
          <p:nvPr/>
        </p:nvCxnSpPr>
        <p:spPr bwMode="auto">
          <a:xfrm>
            <a:off x="5201246" y="3100388"/>
            <a:ext cx="332185" cy="1518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1" name="AutoShape 69"/>
          <p:cNvCxnSpPr>
            <a:cxnSpLocks noChangeShapeType="1"/>
            <a:stCxn id="54284" idx="3"/>
            <a:endCxn id="54287" idx="0"/>
          </p:cNvCxnSpPr>
          <p:nvPr/>
        </p:nvCxnSpPr>
        <p:spPr bwMode="auto">
          <a:xfrm flipH="1">
            <a:off x="4124326" y="3434358"/>
            <a:ext cx="294680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2" name="AutoShape 70"/>
          <p:cNvCxnSpPr>
            <a:cxnSpLocks noChangeShapeType="1"/>
            <a:stCxn id="54284" idx="5"/>
            <a:endCxn id="54288" idx="0"/>
          </p:cNvCxnSpPr>
          <p:nvPr/>
        </p:nvCxnSpPr>
        <p:spPr bwMode="auto">
          <a:xfrm>
            <a:off x="4601171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3" name="AutoShape 71"/>
          <p:cNvCxnSpPr>
            <a:cxnSpLocks noChangeShapeType="1"/>
            <a:stCxn id="54285" idx="3"/>
            <a:endCxn id="54286" idx="0"/>
          </p:cNvCxnSpPr>
          <p:nvPr/>
        </p:nvCxnSpPr>
        <p:spPr bwMode="auto">
          <a:xfrm flipH="1">
            <a:off x="5281613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94" name="Text Box 72"/>
          <p:cNvSpPr txBox="1">
            <a:spLocks noChangeArrowheads="1"/>
          </p:cNvSpPr>
          <p:nvPr/>
        </p:nvSpPr>
        <p:spPr bwMode="auto">
          <a:xfrm>
            <a:off x="4375529" y="3015816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95" name="Text Box 73"/>
          <p:cNvSpPr txBox="1">
            <a:spLocks noChangeArrowheads="1"/>
          </p:cNvSpPr>
          <p:nvPr/>
        </p:nvSpPr>
        <p:spPr bwMode="auto">
          <a:xfrm>
            <a:off x="4893451" y="3873066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chemeClr val="accent2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96" name="Oval 74"/>
          <p:cNvSpPr>
            <a:spLocks noChangeArrowheads="1"/>
          </p:cNvSpPr>
          <p:nvPr/>
        </p:nvSpPr>
        <p:spPr bwMode="auto">
          <a:xfrm>
            <a:off x="4895850" y="4071938"/>
            <a:ext cx="257175" cy="2571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4297" name="AutoShape 75"/>
          <p:cNvCxnSpPr>
            <a:cxnSpLocks noChangeShapeType="1"/>
            <a:stCxn id="54286" idx="3"/>
            <a:endCxn id="54296" idx="0"/>
          </p:cNvCxnSpPr>
          <p:nvPr/>
        </p:nvCxnSpPr>
        <p:spPr bwMode="auto">
          <a:xfrm flipH="1">
            <a:off x="5024438" y="3829050"/>
            <a:ext cx="166092" cy="2428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98" name="Text Box 77"/>
          <p:cNvSpPr txBox="1">
            <a:spLocks noChangeArrowheads="1"/>
          </p:cNvSpPr>
          <p:nvPr/>
        </p:nvSpPr>
        <p:spPr bwMode="auto">
          <a:xfrm>
            <a:off x="8019380" y="3358716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chemeClr val="accent2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99" name="Text Box 78"/>
          <p:cNvSpPr txBox="1">
            <a:spLocks noChangeArrowheads="1"/>
          </p:cNvSpPr>
          <p:nvPr/>
        </p:nvSpPr>
        <p:spPr bwMode="auto">
          <a:xfrm>
            <a:off x="7730059" y="3015816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chemeClr val="accent2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00" name="Text Box 79"/>
          <p:cNvSpPr txBox="1">
            <a:spLocks noChangeArrowheads="1"/>
          </p:cNvSpPr>
          <p:nvPr/>
        </p:nvSpPr>
        <p:spPr bwMode="auto">
          <a:xfrm>
            <a:off x="6312024" y="3410509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01" name="Text Box 80"/>
          <p:cNvSpPr txBox="1">
            <a:spLocks noChangeArrowheads="1"/>
          </p:cNvSpPr>
          <p:nvPr/>
        </p:nvSpPr>
        <p:spPr bwMode="auto">
          <a:xfrm>
            <a:off x="7297862" y="2672916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02" name="Text Box 81"/>
          <p:cNvSpPr txBox="1">
            <a:spLocks noChangeArrowheads="1"/>
          </p:cNvSpPr>
          <p:nvPr/>
        </p:nvSpPr>
        <p:spPr bwMode="auto">
          <a:xfrm>
            <a:off x="7044259" y="3410509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03" name="Oval 82"/>
          <p:cNvSpPr>
            <a:spLocks noChangeArrowheads="1"/>
          </p:cNvSpPr>
          <p:nvPr/>
        </p:nvSpPr>
        <p:spPr bwMode="auto">
          <a:xfrm>
            <a:off x="7296150" y="2880717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04" name="Oval 83"/>
          <p:cNvSpPr>
            <a:spLocks noChangeArrowheads="1"/>
          </p:cNvSpPr>
          <p:nvPr/>
        </p:nvSpPr>
        <p:spPr bwMode="auto">
          <a:xfrm>
            <a:off x="669607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05" name="Oval 84"/>
          <p:cNvSpPr>
            <a:spLocks noChangeArrowheads="1"/>
          </p:cNvSpPr>
          <p:nvPr/>
        </p:nvSpPr>
        <p:spPr bwMode="auto">
          <a:xfrm>
            <a:off x="8014097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9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06" name="Oval 85"/>
          <p:cNvSpPr>
            <a:spLocks noChangeArrowheads="1"/>
          </p:cNvSpPr>
          <p:nvPr/>
        </p:nvSpPr>
        <p:spPr bwMode="auto">
          <a:xfrm>
            <a:off x="772477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8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07" name="Oval 86"/>
          <p:cNvSpPr>
            <a:spLocks noChangeArrowheads="1"/>
          </p:cNvSpPr>
          <p:nvPr/>
        </p:nvSpPr>
        <p:spPr bwMode="auto">
          <a:xfrm>
            <a:off x="6310313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08" name="Oval 87"/>
          <p:cNvSpPr>
            <a:spLocks noChangeArrowheads="1"/>
          </p:cNvSpPr>
          <p:nvPr/>
        </p:nvSpPr>
        <p:spPr bwMode="auto">
          <a:xfrm>
            <a:off x="7038975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4309" name="AutoShape 88"/>
          <p:cNvCxnSpPr>
            <a:cxnSpLocks noChangeShapeType="1"/>
            <a:stCxn id="54303" idx="3"/>
            <a:endCxn id="54304" idx="7"/>
          </p:cNvCxnSpPr>
          <p:nvPr/>
        </p:nvCxnSpPr>
        <p:spPr bwMode="auto">
          <a:xfrm flipH="1">
            <a:off x="6915746" y="3100388"/>
            <a:ext cx="417910" cy="1518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310" name="AutoShape 89"/>
          <p:cNvCxnSpPr>
            <a:cxnSpLocks noChangeShapeType="1"/>
            <a:stCxn id="54303" idx="5"/>
            <a:endCxn id="54306" idx="0"/>
          </p:cNvCxnSpPr>
          <p:nvPr/>
        </p:nvCxnSpPr>
        <p:spPr bwMode="auto">
          <a:xfrm>
            <a:off x="7515821" y="3100388"/>
            <a:ext cx="337542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311" name="AutoShape 90"/>
          <p:cNvCxnSpPr>
            <a:cxnSpLocks noChangeShapeType="1"/>
            <a:stCxn id="54304" idx="3"/>
            <a:endCxn id="54307" idx="0"/>
          </p:cNvCxnSpPr>
          <p:nvPr/>
        </p:nvCxnSpPr>
        <p:spPr bwMode="auto">
          <a:xfrm flipH="1">
            <a:off x="6438901" y="3434358"/>
            <a:ext cx="294680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312" name="AutoShape 91"/>
          <p:cNvCxnSpPr>
            <a:cxnSpLocks noChangeShapeType="1"/>
            <a:stCxn id="54304" idx="5"/>
            <a:endCxn id="54308" idx="0"/>
          </p:cNvCxnSpPr>
          <p:nvPr/>
        </p:nvCxnSpPr>
        <p:spPr bwMode="auto">
          <a:xfrm>
            <a:off x="6915746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313" name="AutoShape 92"/>
          <p:cNvCxnSpPr>
            <a:cxnSpLocks noChangeShapeType="1"/>
            <a:stCxn id="54305" idx="0"/>
            <a:endCxn id="54306" idx="5"/>
          </p:cNvCxnSpPr>
          <p:nvPr/>
        </p:nvCxnSpPr>
        <p:spPr bwMode="auto">
          <a:xfrm flipH="1" flipV="1">
            <a:off x="7944446" y="3434358"/>
            <a:ext cx="198239" cy="16609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314" name="Text Box 93"/>
          <p:cNvSpPr txBox="1">
            <a:spLocks noChangeArrowheads="1"/>
          </p:cNvSpPr>
          <p:nvPr/>
        </p:nvSpPr>
        <p:spPr bwMode="auto">
          <a:xfrm>
            <a:off x="6697787" y="3015816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15" name="Text Box 94"/>
          <p:cNvSpPr txBox="1">
            <a:spLocks noChangeArrowheads="1"/>
          </p:cNvSpPr>
          <p:nvPr/>
        </p:nvSpPr>
        <p:spPr bwMode="auto">
          <a:xfrm>
            <a:off x="7472884" y="3401578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chemeClr val="accent2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316" name="Oval 95"/>
          <p:cNvSpPr>
            <a:spLocks noChangeArrowheads="1"/>
          </p:cNvSpPr>
          <p:nvPr/>
        </p:nvSpPr>
        <p:spPr bwMode="auto">
          <a:xfrm>
            <a:off x="7467600" y="3600450"/>
            <a:ext cx="257175" cy="2571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4317" name="AutoShape 96"/>
          <p:cNvCxnSpPr>
            <a:cxnSpLocks noChangeShapeType="1"/>
            <a:stCxn id="54306" idx="3"/>
            <a:endCxn id="54316" idx="0"/>
          </p:cNvCxnSpPr>
          <p:nvPr/>
        </p:nvCxnSpPr>
        <p:spPr bwMode="auto">
          <a:xfrm flipH="1">
            <a:off x="7596188" y="3434358"/>
            <a:ext cx="166092" cy="16609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318" name="Oval 97"/>
          <p:cNvSpPr>
            <a:spLocks noChangeArrowheads="1"/>
          </p:cNvSpPr>
          <p:nvPr/>
        </p:nvSpPr>
        <p:spPr bwMode="auto">
          <a:xfrm rot="18900000">
            <a:off x="4852988" y="3257550"/>
            <a:ext cx="1157288" cy="5143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4319" name="Oval 98"/>
          <p:cNvSpPr>
            <a:spLocks noChangeArrowheads="1"/>
          </p:cNvSpPr>
          <p:nvPr/>
        </p:nvSpPr>
        <p:spPr bwMode="auto">
          <a:xfrm rot="2700000">
            <a:off x="7446169" y="3257550"/>
            <a:ext cx="1157288" cy="5143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8" grpId="0" bldLvl="0" animBg="1"/>
      <p:bldP spid="54299" grpId="0" bldLvl="0" animBg="1"/>
      <p:bldP spid="54300" grpId="0" bldLvl="0" animBg="1"/>
      <p:bldP spid="54301" grpId="0" bldLvl="0" animBg="1"/>
      <p:bldP spid="54302" grpId="0" bldLvl="0" animBg="1"/>
      <p:bldP spid="54303" grpId="0" bldLvl="0" animBg="1"/>
      <p:bldP spid="54304" grpId="0" bldLvl="0" animBg="1"/>
      <p:bldP spid="54305" grpId="0" bldLvl="0" animBg="1"/>
      <p:bldP spid="54306" grpId="0" bldLvl="0" animBg="1"/>
      <p:bldP spid="54307" grpId="0" bldLvl="0" animBg="1"/>
      <p:bldP spid="54308" grpId="0" bldLvl="0" animBg="1"/>
      <p:bldP spid="54314" grpId="0" bldLvl="0" animBg="1"/>
      <p:bldP spid="54315" grpId="0" bldLvl="0" animBg="1"/>
      <p:bldP spid="54316" grpId="0" bldLvl="0" animBg="1"/>
      <p:bldP spid="54318" grpId="0" bldLvl="0" animBg="1"/>
      <p:bldP spid="5431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Text Box 2"/>
          <p:cNvSpPr txBox="1">
            <a:spLocks noChangeArrowheads="1"/>
          </p:cNvSpPr>
          <p:nvPr/>
        </p:nvSpPr>
        <p:spPr bwMode="auto">
          <a:xfrm>
            <a:off x="2873172" y="1883128"/>
            <a:ext cx="6318250" cy="390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Let the node that needs rebalancing be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endParaRPr lang="en-US" altLang="zh-CN" sz="28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There are 4 cases:</a:t>
            </a:r>
            <a:endParaRPr lang="en-US" altLang="zh-CN" sz="28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Outside Cases </a:t>
            </a:r>
            <a:r>
              <a:rPr lang="en-US" altLang="zh-CN" sz="28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(require single rotation) :</a:t>
            </a:r>
            <a:endParaRPr lang="en-US" altLang="zh-CN" sz="28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1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 Insertion into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left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subtree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of left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child of . </a:t>
            </a:r>
            <a:r>
              <a:rPr lang="zh-CN" altLang="en-US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LL</a:t>
            </a:r>
            <a:r>
              <a:rPr lang="zh-CN" altLang="en-US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2. Insertion into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right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subtree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of right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child of 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RR</a:t>
            </a:r>
            <a:r>
              <a:rPr lang="zh-CN" altLang="en-US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Inside Cases </a:t>
            </a:r>
            <a:r>
              <a:rPr lang="en-US" altLang="zh-CN" sz="28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(require double rotation) :</a:t>
            </a:r>
            <a:endParaRPr lang="en-US" altLang="zh-CN" sz="28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 Insertion into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right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subtree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of left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child of . </a:t>
            </a:r>
            <a:r>
              <a:rPr lang="zh-CN" altLang="en-US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LR</a:t>
            </a:r>
            <a:r>
              <a:rPr lang="zh-CN" altLang="en-US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4. Insertion into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left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subtree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of right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child of .  </a:t>
            </a:r>
            <a:r>
              <a:rPr lang="zh-CN" altLang="en-US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RL</a:t>
            </a:r>
            <a:r>
              <a:rPr lang="zh-CN" altLang="en-US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878230" y="361453"/>
            <a:ext cx="4436269" cy="132556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defTabSz="514350">
              <a:lnSpc>
                <a:spcPct val="90000"/>
              </a:lnSpc>
              <a:spcBef>
                <a:spcPct val="0"/>
              </a:spcBef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/>
              <a:t>Insertions in AVL Trees</a:t>
            </a: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Oval 2"/>
          <p:cNvSpPr>
            <a:spLocks noChangeArrowheads="1"/>
          </p:cNvSpPr>
          <p:nvPr/>
        </p:nvSpPr>
        <p:spPr bwMode="auto">
          <a:xfrm>
            <a:off x="5721847" y="2452092"/>
            <a:ext cx="471488" cy="471488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6326" name="Text Box 3"/>
          <p:cNvSpPr txBox="1">
            <a:spLocks noChangeArrowheads="1"/>
          </p:cNvSpPr>
          <p:nvPr/>
        </p:nvSpPr>
        <p:spPr bwMode="auto">
          <a:xfrm>
            <a:off x="5850434" y="2366368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j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56327" name="Oval 4"/>
          <p:cNvSpPr>
            <a:spLocks noChangeArrowheads="1"/>
          </p:cNvSpPr>
          <p:nvPr/>
        </p:nvSpPr>
        <p:spPr bwMode="auto">
          <a:xfrm>
            <a:off x="4778872" y="3223617"/>
            <a:ext cx="471488" cy="4714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6328" name="Text Box 5"/>
          <p:cNvSpPr txBox="1">
            <a:spLocks noChangeArrowheads="1"/>
          </p:cNvSpPr>
          <p:nvPr/>
        </p:nvSpPr>
        <p:spPr bwMode="auto">
          <a:xfrm>
            <a:off x="4856659" y="3180755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56329" name="AutoShape 6"/>
          <p:cNvCxnSpPr>
            <a:cxnSpLocks noChangeShapeType="1"/>
            <a:stCxn id="56325" idx="3"/>
            <a:endCxn id="56327" idx="7"/>
          </p:cNvCxnSpPr>
          <p:nvPr/>
        </p:nvCxnSpPr>
        <p:spPr bwMode="auto">
          <a:xfrm flipH="1">
            <a:off x="5181601" y="2854822"/>
            <a:ext cx="609005" cy="43755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30" name="AutoShape 7"/>
          <p:cNvSpPr>
            <a:spLocks noChangeArrowheads="1"/>
          </p:cNvSpPr>
          <p:nvPr/>
        </p:nvSpPr>
        <p:spPr bwMode="auto">
          <a:xfrm>
            <a:off x="3835897" y="3995142"/>
            <a:ext cx="900113" cy="7286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56331" name="AutoShape 8"/>
          <p:cNvCxnSpPr>
            <a:cxnSpLocks noChangeShapeType="1"/>
            <a:stCxn id="56327" idx="3"/>
            <a:endCxn id="56330" idx="0"/>
          </p:cNvCxnSpPr>
          <p:nvPr/>
        </p:nvCxnSpPr>
        <p:spPr bwMode="auto">
          <a:xfrm flipH="1">
            <a:off x="4285953" y="3626347"/>
            <a:ext cx="561677" cy="36879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32" name="Text Box 9"/>
          <p:cNvSpPr txBox="1">
            <a:spLocks noChangeArrowheads="1"/>
          </p:cNvSpPr>
          <p:nvPr/>
        </p:nvSpPr>
        <p:spPr bwMode="auto">
          <a:xfrm>
            <a:off x="4085134" y="4252318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X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56333" name="AutoShape 10"/>
          <p:cNvSpPr>
            <a:spLocks noChangeArrowheads="1"/>
          </p:cNvSpPr>
          <p:nvPr/>
        </p:nvSpPr>
        <p:spPr bwMode="auto">
          <a:xfrm>
            <a:off x="5336084" y="4038005"/>
            <a:ext cx="857250" cy="685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6334" name="Text Box 11"/>
          <p:cNvSpPr txBox="1">
            <a:spLocks noChangeArrowheads="1"/>
          </p:cNvSpPr>
          <p:nvPr/>
        </p:nvSpPr>
        <p:spPr bwMode="auto">
          <a:xfrm>
            <a:off x="5542459" y="4252318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Y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56335" name="AutoShape 12"/>
          <p:cNvSpPr>
            <a:spLocks noChangeArrowheads="1"/>
          </p:cNvSpPr>
          <p:nvPr/>
        </p:nvSpPr>
        <p:spPr bwMode="auto">
          <a:xfrm>
            <a:off x="6450509" y="3480792"/>
            <a:ext cx="900113" cy="7286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6336" name="Text Box 13"/>
          <p:cNvSpPr txBox="1">
            <a:spLocks noChangeArrowheads="1"/>
          </p:cNvSpPr>
          <p:nvPr/>
        </p:nvSpPr>
        <p:spPr bwMode="auto">
          <a:xfrm>
            <a:off x="6699746" y="3652243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56337" name="AutoShape 14"/>
          <p:cNvCxnSpPr>
            <a:cxnSpLocks noChangeShapeType="1"/>
            <a:stCxn id="56327" idx="5"/>
            <a:endCxn id="56333" idx="0"/>
          </p:cNvCxnSpPr>
          <p:nvPr/>
        </p:nvCxnSpPr>
        <p:spPr bwMode="auto">
          <a:xfrm>
            <a:off x="5181600" y="3626347"/>
            <a:ext cx="583109" cy="41165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8" name="AutoShape 15"/>
          <p:cNvCxnSpPr>
            <a:cxnSpLocks noChangeShapeType="1"/>
            <a:stCxn id="56325" idx="5"/>
            <a:endCxn id="56335" idx="0"/>
          </p:cNvCxnSpPr>
          <p:nvPr/>
        </p:nvCxnSpPr>
        <p:spPr bwMode="auto">
          <a:xfrm>
            <a:off x="6124575" y="2854822"/>
            <a:ext cx="775991" cy="62597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39" name="Line 16"/>
          <p:cNvSpPr>
            <a:spLocks noChangeShapeType="1"/>
          </p:cNvSpPr>
          <p:nvPr/>
        </p:nvSpPr>
        <p:spPr bwMode="auto">
          <a:xfrm>
            <a:off x="7564934" y="4209455"/>
            <a:ext cx="90011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6340" name="Line 17"/>
          <p:cNvSpPr>
            <a:spLocks noChangeShapeType="1"/>
          </p:cNvSpPr>
          <p:nvPr/>
        </p:nvSpPr>
        <p:spPr bwMode="auto">
          <a:xfrm>
            <a:off x="7564934" y="4723805"/>
            <a:ext cx="90011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6341" name="Text Box 18"/>
          <p:cNvSpPr txBox="1">
            <a:spLocks noChangeArrowheads="1"/>
          </p:cNvSpPr>
          <p:nvPr/>
        </p:nvSpPr>
        <p:spPr bwMode="auto">
          <a:xfrm>
            <a:off x="3297555" y="2278380"/>
            <a:ext cx="203835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ea typeface="SimSun" pitchFamily="2" charset="-122"/>
              </a:rPr>
              <a:t>Consider a valid</a:t>
            </a:r>
            <a:endParaRPr lang="en-US" altLang="zh-CN" sz="1800" dirty="0">
              <a:ea typeface="SimSun" pitchFamily="2" charset="-122"/>
            </a:endParaRPr>
          </a:p>
          <a:p>
            <a:r>
              <a:rPr lang="en-US" altLang="zh-CN" sz="1800" dirty="0">
                <a:ea typeface="SimSun" pitchFamily="2" charset="-122"/>
              </a:rPr>
              <a:t>AVL subtree</a:t>
            </a:r>
            <a:endParaRPr lang="en-US" altLang="zh-CN" sz="1800" dirty="0">
              <a:ea typeface="SimSun" pitchFamily="2" charset="-122"/>
            </a:endParaRPr>
          </a:p>
        </p:txBody>
      </p:sp>
      <p:sp>
        <p:nvSpPr>
          <p:cNvPr id="56343" name="Text Box 21"/>
          <p:cNvSpPr txBox="1">
            <a:spLocks noChangeArrowheads="1"/>
          </p:cNvSpPr>
          <p:nvPr/>
        </p:nvSpPr>
        <p:spPr bwMode="auto">
          <a:xfrm>
            <a:off x="6438900" y="3300413"/>
            <a:ext cx="2959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SimSun" pitchFamily="2" charset="-122"/>
              </a:rPr>
              <a:t>h</a:t>
            </a:r>
            <a:endParaRPr lang="en-US" altLang="zh-CN" sz="1600">
              <a:ea typeface="SimSun" pitchFamily="2" charset="-122"/>
            </a:endParaRPr>
          </a:p>
        </p:txBody>
      </p:sp>
      <p:sp>
        <p:nvSpPr>
          <p:cNvPr id="56344" name="Text Box 22"/>
          <p:cNvSpPr txBox="1">
            <a:spLocks noChangeArrowheads="1"/>
          </p:cNvSpPr>
          <p:nvPr/>
        </p:nvSpPr>
        <p:spPr bwMode="auto">
          <a:xfrm>
            <a:off x="4510088" y="3857625"/>
            <a:ext cx="2959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SimSun" pitchFamily="2" charset="-122"/>
              </a:rPr>
              <a:t>h</a:t>
            </a:r>
            <a:endParaRPr lang="en-US" altLang="zh-CN" sz="1600">
              <a:ea typeface="SimSun" pitchFamily="2" charset="-122"/>
            </a:endParaRPr>
          </a:p>
        </p:txBody>
      </p:sp>
      <p:sp>
        <p:nvSpPr>
          <p:cNvPr id="56345" name="Text Box 23"/>
          <p:cNvSpPr txBox="1">
            <a:spLocks noChangeArrowheads="1"/>
          </p:cNvSpPr>
          <p:nvPr/>
        </p:nvSpPr>
        <p:spPr bwMode="auto">
          <a:xfrm>
            <a:off x="5881688" y="3771900"/>
            <a:ext cx="2959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SimSun" pitchFamily="2" charset="-122"/>
              </a:rPr>
              <a:t>h</a:t>
            </a:r>
            <a:endParaRPr lang="en-US" altLang="zh-CN" sz="1600">
              <a:ea typeface="SimSun" pitchFamily="2" charset="-122"/>
            </a:endParaRPr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>
          <a:xfrm>
            <a:off x="3884930" y="343535"/>
            <a:ext cx="5057775" cy="13252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defTabSz="514350">
              <a:lnSpc>
                <a:spcPct val="90000"/>
              </a:lnSpc>
              <a:spcBef>
                <a:spcPct val="0"/>
              </a:spcBef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3000" dirty="0"/>
              <a:t>AVL Insertion: Outside Case </a:t>
            </a:r>
            <a:endParaRPr lang="en-US" altLang="zh-CN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Oval 2"/>
          <p:cNvSpPr>
            <a:spLocks noChangeArrowheads="1"/>
          </p:cNvSpPr>
          <p:nvPr/>
        </p:nvSpPr>
        <p:spPr bwMode="auto">
          <a:xfrm>
            <a:off x="5762030" y="2467273"/>
            <a:ext cx="443806" cy="41791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7350" name="Text Box 3"/>
          <p:cNvSpPr txBox="1">
            <a:spLocks noChangeArrowheads="1"/>
          </p:cNvSpPr>
          <p:nvPr/>
        </p:nvSpPr>
        <p:spPr bwMode="auto">
          <a:xfrm>
            <a:off x="5889328" y="2372123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j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57351" name="Oval 4"/>
          <p:cNvSpPr>
            <a:spLocks noChangeArrowheads="1"/>
          </p:cNvSpPr>
          <p:nvPr/>
        </p:nvSpPr>
        <p:spPr bwMode="auto">
          <a:xfrm>
            <a:off x="4873526" y="3150394"/>
            <a:ext cx="444698" cy="41791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7352" name="Text Box 5"/>
          <p:cNvSpPr txBox="1">
            <a:spLocks noChangeArrowheads="1"/>
          </p:cNvSpPr>
          <p:nvPr/>
        </p:nvSpPr>
        <p:spPr bwMode="auto">
          <a:xfrm>
            <a:off x="4919564" y="3119537"/>
            <a:ext cx="270569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57353" name="AutoShape 6"/>
          <p:cNvCxnSpPr>
            <a:cxnSpLocks noChangeShapeType="1"/>
            <a:stCxn id="57349" idx="3"/>
            <a:endCxn id="57351" idx="7"/>
          </p:cNvCxnSpPr>
          <p:nvPr/>
        </p:nvCxnSpPr>
        <p:spPr bwMode="auto">
          <a:xfrm flipH="1">
            <a:off x="5253038" y="2823568"/>
            <a:ext cx="573286" cy="38754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54" name="AutoShape 7"/>
          <p:cNvSpPr>
            <a:spLocks noChangeArrowheads="1"/>
          </p:cNvSpPr>
          <p:nvPr/>
        </p:nvSpPr>
        <p:spPr bwMode="auto">
          <a:xfrm>
            <a:off x="3985916" y="3833516"/>
            <a:ext cx="847427" cy="110103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57355" name="AutoShape 8"/>
          <p:cNvCxnSpPr>
            <a:cxnSpLocks noChangeShapeType="1"/>
            <a:stCxn id="57351" idx="3"/>
            <a:endCxn id="57354" idx="0"/>
          </p:cNvCxnSpPr>
          <p:nvPr/>
        </p:nvCxnSpPr>
        <p:spPr bwMode="auto">
          <a:xfrm flipH="1">
            <a:off x="4410075" y="3507581"/>
            <a:ext cx="528638" cy="32593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56" name="Text Box 9"/>
          <p:cNvSpPr txBox="1">
            <a:spLocks noChangeArrowheads="1"/>
          </p:cNvSpPr>
          <p:nvPr/>
        </p:nvSpPr>
        <p:spPr bwMode="auto">
          <a:xfrm>
            <a:off x="4225760" y="4428630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X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57357" name="AutoShape 10"/>
          <p:cNvSpPr>
            <a:spLocks noChangeArrowheads="1"/>
          </p:cNvSpPr>
          <p:nvPr/>
        </p:nvSpPr>
        <p:spPr bwMode="auto">
          <a:xfrm>
            <a:off x="5398592" y="3871913"/>
            <a:ext cx="807244" cy="60721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7358" name="Text Box 11"/>
          <p:cNvSpPr txBox="1">
            <a:spLocks noChangeArrowheads="1"/>
          </p:cNvSpPr>
          <p:nvPr/>
        </p:nvSpPr>
        <p:spPr bwMode="auto">
          <a:xfrm>
            <a:off x="5585751" y="4041974"/>
            <a:ext cx="27235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Y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57359" name="AutoShape 12"/>
          <p:cNvSpPr>
            <a:spLocks noChangeArrowheads="1"/>
          </p:cNvSpPr>
          <p:nvPr/>
        </p:nvSpPr>
        <p:spPr bwMode="auto">
          <a:xfrm>
            <a:off x="6447830" y="3378101"/>
            <a:ext cx="848321" cy="64561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7360" name="Text Box 13"/>
          <p:cNvSpPr txBox="1">
            <a:spLocks noChangeArrowheads="1"/>
          </p:cNvSpPr>
          <p:nvPr/>
        </p:nvSpPr>
        <p:spPr bwMode="auto">
          <a:xfrm>
            <a:off x="6663564" y="3524945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57361" name="AutoShape 14"/>
          <p:cNvCxnSpPr>
            <a:cxnSpLocks noChangeShapeType="1"/>
            <a:stCxn id="57351" idx="5"/>
            <a:endCxn id="57357" idx="0"/>
          </p:cNvCxnSpPr>
          <p:nvPr/>
        </p:nvCxnSpPr>
        <p:spPr bwMode="auto">
          <a:xfrm>
            <a:off x="5253038" y="3507581"/>
            <a:ext cx="549176" cy="36433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2" name="AutoShape 15"/>
          <p:cNvCxnSpPr>
            <a:cxnSpLocks noChangeShapeType="1"/>
            <a:stCxn id="57349" idx="5"/>
            <a:endCxn id="57359" idx="0"/>
          </p:cNvCxnSpPr>
          <p:nvPr/>
        </p:nvCxnSpPr>
        <p:spPr bwMode="auto">
          <a:xfrm>
            <a:off x="6141542" y="2823567"/>
            <a:ext cx="730448" cy="55453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63" name="Line 16"/>
          <p:cNvSpPr>
            <a:spLocks noChangeShapeType="1"/>
          </p:cNvSpPr>
          <p:nvPr/>
        </p:nvSpPr>
        <p:spPr bwMode="auto">
          <a:xfrm>
            <a:off x="7497961" y="4023717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7364" name="Line 17"/>
          <p:cNvSpPr>
            <a:spLocks noChangeShapeType="1"/>
          </p:cNvSpPr>
          <p:nvPr/>
        </p:nvSpPr>
        <p:spPr bwMode="auto">
          <a:xfrm>
            <a:off x="7497961" y="4479131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7365" name="Line 18"/>
          <p:cNvSpPr>
            <a:spLocks noChangeShapeType="1"/>
          </p:cNvSpPr>
          <p:nvPr/>
        </p:nvSpPr>
        <p:spPr bwMode="auto">
          <a:xfrm>
            <a:off x="7497961" y="4896149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7366" name="Text Box 19"/>
          <p:cNvSpPr txBox="1">
            <a:spLocks noChangeArrowheads="1"/>
          </p:cNvSpPr>
          <p:nvPr/>
        </p:nvSpPr>
        <p:spPr bwMode="auto">
          <a:xfrm>
            <a:off x="7088505" y="2284790"/>
            <a:ext cx="1986280" cy="92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Inserting into X</a:t>
            </a:r>
            <a:endParaRPr lang="en-US" altLang="zh-CN" sz="1800">
              <a:ea typeface="SimSun" pitchFamily="2" charset="-122"/>
            </a:endParaRPr>
          </a:p>
          <a:p>
            <a:r>
              <a:rPr lang="en-US" altLang="zh-CN" sz="1800">
                <a:ea typeface="SimSun" pitchFamily="2" charset="-122"/>
              </a:rPr>
              <a:t>destroys the AVL </a:t>
            </a:r>
            <a:endParaRPr lang="en-US" altLang="zh-CN" sz="1800">
              <a:ea typeface="SimSun" pitchFamily="2" charset="-122"/>
            </a:endParaRPr>
          </a:p>
          <a:p>
            <a:r>
              <a:rPr lang="en-US" altLang="zh-CN" sz="1800">
                <a:ea typeface="SimSun" pitchFamily="2" charset="-122"/>
              </a:rPr>
              <a:t>property at node j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57367" name="Rectangle 20"/>
          <p:cNvSpPr>
            <a:spLocks noChangeArrowheads="1"/>
          </p:cNvSpPr>
          <p:nvPr/>
        </p:nvSpPr>
        <p:spPr bwMode="auto">
          <a:xfrm>
            <a:off x="3613785" y="694055"/>
            <a:ext cx="5318125" cy="46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AVL Insertion: Outside Case</a:t>
            </a:r>
            <a:r>
              <a:rPr lang="en-US" altLang="zh-CN" sz="3200">
                <a:solidFill>
                  <a:schemeClr val="accent2"/>
                </a:solidFill>
                <a:ea typeface="SimSun" pitchFamily="2" charset="-122"/>
              </a:rPr>
              <a:t> </a:t>
            </a:r>
            <a:endParaRPr lang="en-US" altLang="zh-CN" sz="3200">
              <a:solidFill>
                <a:schemeClr val="accent2"/>
              </a:solidFill>
              <a:ea typeface="SimSun" pitchFamily="2" charset="-122"/>
            </a:endParaRPr>
          </a:p>
        </p:txBody>
      </p:sp>
      <p:sp>
        <p:nvSpPr>
          <p:cNvPr id="57368" name="Text Box 22"/>
          <p:cNvSpPr txBox="1">
            <a:spLocks noChangeArrowheads="1"/>
          </p:cNvSpPr>
          <p:nvPr/>
        </p:nvSpPr>
        <p:spPr bwMode="auto">
          <a:xfrm>
            <a:off x="6447790" y="3302953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57369" name="Text Box 25"/>
          <p:cNvSpPr txBox="1">
            <a:spLocks noChangeArrowheads="1"/>
          </p:cNvSpPr>
          <p:nvPr/>
        </p:nvSpPr>
        <p:spPr bwMode="auto">
          <a:xfrm>
            <a:off x="4552951" y="3771900"/>
            <a:ext cx="5702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h+1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57370" name="Text Box 26"/>
          <p:cNvSpPr txBox="1">
            <a:spLocks noChangeArrowheads="1"/>
          </p:cNvSpPr>
          <p:nvPr/>
        </p:nvSpPr>
        <p:spPr bwMode="auto">
          <a:xfrm>
            <a:off x="5881688" y="377190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</a:t>
            </a:r>
            <a:endParaRPr lang="en-US" altLang="zh-CN" sz="18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Oval 2"/>
          <p:cNvSpPr>
            <a:spLocks noChangeArrowheads="1"/>
          </p:cNvSpPr>
          <p:nvPr/>
        </p:nvSpPr>
        <p:spPr bwMode="auto">
          <a:xfrm>
            <a:off x="5762030" y="2467273"/>
            <a:ext cx="443806" cy="41791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8374" name="Text Box 3"/>
          <p:cNvSpPr txBox="1">
            <a:spLocks noChangeArrowheads="1"/>
          </p:cNvSpPr>
          <p:nvPr/>
        </p:nvSpPr>
        <p:spPr bwMode="auto">
          <a:xfrm>
            <a:off x="5880861" y="2372123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j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58375" name="Oval 4"/>
          <p:cNvSpPr>
            <a:spLocks noChangeArrowheads="1"/>
          </p:cNvSpPr>
          <p:nvPr/>
        </p:nvSpPr>
        <p:spPr bwMode="auto">
          <a:xfrm>
            <a:off x="4873526" y="3150394"/>
            <a:ext cx="444698" cy="41791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8376" name="Text Box 5"/>
          <p:cNvSpPr txBox="1">
            <a:spLocks noChangeArrowheads="1"/>
          </p:cNvSpPr>
          <p:nvPr/>
        </p:nvSpPr>
        <p:spPr bwMode="auto">
          <a:xfrm>
            <a:off x="4911097" y="3119537"/>
            <a:ext cx="270569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58377" name="AutoShape 6"/>
          <p:cNvCxnSpPr>
            <a:cxnSpLocks noChangeShapeType="1"/>
            <a:stCxn id="58373" idx="3"/>
            <a:endCxn id="58375" idx="7"/>
          </p:cNvCxnSpPr>
          <p:nvPr/>
        </p:nvCxnSpPr>
        <p:spPr bwMode="auto">
          <a:xfrm flipH="1">
            <a:off x="5253038" y="2823568"/>
            <a:ext cx="573286" cy="38754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78" name="AutoShape 7"/>
          <p:cNvSpPr>
            <a:spLocks noChangeArrowheads="1"/>
          </p:cNvSpPr>
          <p:nvPr/>
        </p:nvSpPr>
        <p:spPr bwMode="auto">
          <a:xfrm>
            <a:off x="3985916" y="3833516"/>
            <a:ext cx="847427" cy="110103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58379" name="AutoShape 8"/>
          <p:cNvCxnSpPr>
            <a:cxnSpLocks noChangeShapeType="1"/>
            <a:stCxn id="58375" idx="3"/>
            <a:endCxn id="58378" idx="0"/>
          </p:cNvCxnSpPr>
          <p:nvPr/>
        </p:nvCxnSpPr>
        <p:spPr bwMode="auto">
          <a:xfrm flipH="1">
            <a:off x="4410075" y="3507581"/>
            <a:ext cx="528638" cy="32593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0" name="Text Box 9"/>
          <p:cNvSpPr txBox="1">
            <a:spLocks noChangeArrowheads="1"/>
          </p:cNvSpPr>
          <p:nvPr/>
        </p:nvSpPr>
        <p:spPr bwMode="auto">
          <a:xfrm>
            <a:off x="4234226" y="4428630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X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58381" name="AutoShape 10"/>
          <p:cNvSpPr>
            <a:spLocks noChangeArrowheads="1"/>
          </p:cNvSpPr>
          <p:nvPr/>
        </p:nvSpPr>
        <p:spPr bwMode="auto">
          <a:xfrm>
            <a:off x="5398592" y="3871913"/>
            <a:ext cx="807244" cy="60721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8382" name="Text Box 11"/>
          <p:cNvSpPr txBox="1">
            <a:spLocks noChangeArrowheads="1"/>
          </p:cNvSpPr>
          <p:nvPr/>
        </p:nvSpPr>
        <p:spPr bwMode="auto">
          <a:xfrm>
            <a:off x="5594218" y="4041974"/>
            <a:ext cx="27235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Y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58383" name="AutoShape 12"/>
          <p:cNvSpPr>
            <a:spLocks noChangeArrowheads="1"/>
          </p:cNvSpPr>
          <p:nvPr/>
        </p:nvSpPr>
        <p:spPr bwMode="auto">
          <a:xfrm>
            <a:off x="6447830" y="3378101"/>
            <a:ext cx="848321" cy="64561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8384" name="Text Box 13"/>
          <p:cNvSpPr txBox="1">
            <a:spLocks noChangeArrowheads="1"/>
          </p:cNvSpPr>
          <p:nvPr/>
        </p:nvSpPr>
        <p:spPr bwMode="auto">
          <a:xfrm>
            <a:off x="6672031" y="3524945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58385" name="AutoShape 14"/>
          <p:cNvCxnSpPr>
            <a:cxnSpLocks noChangeShapeType="1"/>
            <a:stCxn id="58375" idx="5"/>
            <a:endCxn id="58381" idx="0"/>
          </p:cNvCxnSpPr>
          <p:nvPr/>
        </p:nvCxnSpPr>
        <p:spPr bwMode="auto">
          <a:xfrm>
            <a:off x="5253038" y="3507581"/>
            <a:ext cx="549176" cy="36433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6" name="AutoShape 15"/>
          <p:cNvCxnSpPr>
            <a:cxnSpLocks noChangeShapeType="1"/>
            <a:stCxn id="58373" idx="5"/>
            <a:endCxn id="58383" idx="0"/>
          </p:cNvCxnSpPr>
          <p:nvPr/>
        </p:nvCxnSpPr>
        <p:spPr bwMode="auto">
          <a:xfrm>
            <a:off x="6141542" y="2823567"/>
            <a:ext cx="730448" cy="55453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7" name="Line 16"/>
          <p:cNvSpPr>
            <a:spLocks noChangeShapeType="1"/>
          </p:cNvSpPr>
          <p:nvPr/>
        </p:nvSpPr>
        <p:spPr bwMode="auto">
          <a:xfrm>
            <a:off x="7497961" y="4023717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8388" name="Line 17"/>
          <p:cNvSpPr>
            <a:spLocks noChangeShapeType="1"/>
          </p:cNvSpPr>
          <p:nvPr/>
        </p:nvSpPr>
        <p:spPr bwMode="auto">
          <a:xfrm>
            <a:off x="7497961" y="4479131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8389" name="Line 18"/>
          <p:cNvSpPr>
            <a:spLocks noChangeShapeType="1"/>
          </p:cNvSpPr>
          <p:nvPr/>
        </p:nvSpPr>
        <p:spPr bwMode="auto">
          <a:xfrm>
            <a:off x="7497961" y="4896149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8390" name="Text Box 19"/>
          <p:cNvSpPr txBox="1">
            <a:spLocks noChangeArrowheads="1"/>
          </p:cNvSpPr>
          <p:nvPr/>
        </p:nvSpPr>
        <p:spPr bwMode="auto">
          <a:xfrm>
            <a:off x="6672104" y="2308563"/>
            <a:ext cx="236791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SimSun" pitchFamily="2" charset="-122"/>
              </a:rPr>
              <a:t>Do a </a:t>
            </a:r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“right rotation”</a:t>
            </a:r>
            <a:endParaRPr lang="en-US" altLang="zh-CN" dirty="0">
              <a:solidFill>
                <a:srgbClr val="0000FF"/>
              </a:solidFill>
              <a:ea typeface="SimSun" pitchFamily="2" charset="-122"/>
            </a:endParaRPr>
          </a:p>
        </p:txBody>
      </p:sp>
      <p:sp>
        <p:nvSpPr>
          <p:cNvPr id="58392" name="Freeform 21"/>
          <p:cNvSpPr/>
          <p:nvPr/>
        </p:nvSpPr>
        <p:spPr bwMode="auto">
          <a:xfrm>
            <a:off x="4981575" y="2528888"/>
            <a:ext cx="675085" cy="570608"/>
          </a:xfrm>
          <a:custGeom>
            <a:avLst/>
            <a:gdLst>
              <a:gd name="T0" fmla="*/ 0 w 639"/>
              <a:gd name="T1" fmla="*/ 1014413 h 579"/>
              <a:gd name="T2" fmla="*/ 317411 w 639"/>
              <a:gd name="T3" fmla="*/ 154177 h 579"/>
              <a:gd name="T4" fmla="*/ 1200150 w 639"/>
              <a:gd name="T5" fmla="*/ 91104 h 57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39" h="579">
                <a:moveTo>
                  <a:pt x="0" y="579"/>
                </a:moveTo>
                <a:cubicBezTo>
                  <a:pt x="31" y="377"/>
                  <a:pt x="63" y="176"/>
                  <a:pt x="169" y="88"/>
                </a:cubicBezTo>
                <a:cubicBezTo>
                  <a:pt x="275" y="0"/>
                  <a:pt x="457" y="26"/>
                  <a:pt x="639" y="5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58393" name="Oval 22"/>
          <p:cNvSpPr>
            <a:spLocks noChangeArrowheads="1"/>
          </p:cNvSpPr>
          <p:nvPr/>
        </p:nvSpPr>
        <p:spPr bwMode="auto">
          <a:xfrm rot="19500000">
            <a:off x="4552950" y="2614613"/>
            <a:ext cx="1928813" cy="83671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8394" name="Text Box 27"/>
          <p:cNvSpPr txBox="1">
            <a:spLocks noChangeArrowheads="1"/>
          </p:cNvSpPr>
          <p:nvPr/>
        </p:nvSpPr>
        <p:spPr bwMode="auto">
          <a:xfrm>
            <a:off x="6438900" y="3300413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58395" name="Text Box 28"/>
          <p:cNvSpPr txBox="1">
            <a:spLocks noChangeArrowheads="1"/>
          </p:cNvSpPr>
          <p:nvPr/>
        </p:nvSpPr>
        <p:spPr bwMode="auto">
          <a:xfrm>
            <a:off x="4552951" y="3771900"/>
            <a:ext cx="5702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h+1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58396" name="Text Box 29"/>
          <p:cNvSpPr txBox="1">
            <a:spLocks noChangeArrowheads="1"/>
          </p:cNvSpPr>
          <p:nvPr/>
        </p:nvSpPr>
        <p:spPr bwMode="auto">
          <a:xfrm>
            <a:off x="5881688" y="377190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57367" name="Rectangle 20"/>
          <p:cNvSpPr>
            <a:spLocks noChangeArrowheads="1"/>
          </p:cNvSpPr>
          <p:nvPr/>
        </p:nvSpPr>
        <p:spPr bwMode="auto">
          <a:xfrm>
            <a:off x="3613785" y="694055"/>
            <a:ext cx="5318125" cy="46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AVL Insertion: Outside Case</a:t>
            </a:r>
            <a:r>
              <a:rPr lang="en-US" altLang="zh-CN" sz="3200">
                <a:solidFill>
                  <a:schemeClr val="accent2"/>
                </a:solidFill>
                <a:ea typeface="SimSun" pitchFamily="2" charset="-122"/>
              </a:rPr>
              <a:t> </a:t>
            </a:r>
            <a:endParaRPr lang="en-US" altLang="zh-CN" sz="3200">
              <a:solidFill>
                <a:schemeClr val="accent2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Oval 2"/>
          <p:cNvSpPr>
            <a:spLocks noChangeArrowheads="1"/>
          </p:cNvSpPr>
          <p:nvPr/>
        </p:nvSpPr>
        <p:spPr bwMode="auto">
          <a:xfrm>
            <a:off x="5762030" y="2467273"/>
            <a:ext cx="443806" cy="41791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9398" name="Text Box 3"/>
          <p:cNvSpPr txBox="1">
            <a:spLocks noChangeArrowheads="1"/>
          </p:cNvSpPr>
          <p:nvPr/>
        </p:nvSpPr>
        <p:spPr bwMode="auto">
          <a:xfrm>
            <a:off x="5880861" y="2372123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j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59399" name="Oval 4"/>
          <p:cNvSpPr>
            <a:spLocks noChangeArrowheads="1"/>
          </p:cNvSpPr>
          <p:nvPr/>
        </p:nvSpPr>
        <p:spPr bwMode="auto">
          <a:xfrm>
            <a:off x="4873526" y="3150394"/>
            <a:ext cx="444698" cy="41791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9400" name="Text Box 5"/>
          <p:cNvSpPr txBox="1">
            <a:spLocks noChangeArrowheads="1"/>
          </p:cNvSpPr>
          <p:nvPr/>
        </p:nvSpPr>
        <p:spPr bwMode="auto">
          <a:xfrm>
            <a:off x="4911097" y="3119537"/>
            <a:ext cx="270569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59401" name="AutoShape 6"/>
          <p:cNvSpPr>
            <a:spLocks noChangeArrowheads="1"/>
          </p:cNvSpPr>
          <p:nvPr/>
        </p:nvSpPr>
        <p:spPr bwMode="auto">
          <a:xfrm>
            <a:off x="3985916" y="3833516"/>
            <a:ext cx="847427" cy="110103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59402" name="AutoShape 7"/>
          <p:cNvCxnSpPr>
            <a:cxnSpLocks noChangeShapeType="1"/>
            <a:stCxn id="59399" idx="3"/>
            <a:endCxn id="59401" idx="0"/>
          </p:cNvCxnSpPr>
          <p:nvPr/>
        </p:nvCxnSpPr>
        <p:spPr bwMode="auto">
          <a:xfrm flipH="1">
            <a:off x="4410075" y="3507581"/>
            <a:ext cx="528638" cy="32593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03" name="Text Box 8"/>
          <p:cNvSpPr txBox="1">
            <a:spLocks noChangeArrowheads="1"/>
          </p:cNvSpPr>
          <p:nvPr/>
        </p:nvSpPr>
        <p:spPr bwMode="auto">
          <a:xfrm>
            <a:off x="4234226" y="4428630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X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59404" name="AutoShape 9"/>
          <p:cNvSpPr>
            <a:spLocks noChangeArrowheads="1"/>
          </p:cNvSpPr>
          <p:nvPr/>
        </p:nvSpPr>
        <p:spPr bwMode="auto">
          <a:xfrm>
            <a:off x="5398592" y="3871913"/>
            <a:ext cx="807244" cy="60721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9405" name="Text Box 10"/>
          <p:cNvSpPr txBox="1">
            <a:spLocks noChangeArrowheads="1"/>
          </p:cNvSpPr>
          <p:nvPr/>
        </p:nvSpPr>
        <p:spPr bwMode="auto">
          <a:xfrm>
            <a:off x="5594218" y="4041974"/>
            <a:ext cx="27235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Y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59406" name="AutoShape 11"/>
          <p:cNvSpPr>
            <a:spLocks noChangeArrowheads="1"/>
          </p:cNvSpPr>
          <p:nvPr/>
        </p:nvSpPr>
        <p:spPr bwMode="auto">
          <a:xfrm>
            <a:off x="6447830" y="3378101"/>
            <a:ext cx="848321" cy="64561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9407" name="Text Box 12"/>
          <p:cNvSpPr txBox="1">
            <a:spLocks noChangeArrowheads="1"/>
          </p:cNvSpPr>
          <p:nvPr/>
        </p:nvSpPr>
        <p:spPr bwMode="auto">
          <a:xfrm>
            <a:off x="6672031" y="3524945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59408" name="AutoShape 13"/>
          <p:cNvCxnSpPr>
            <a:cxnSpLocks noChangeShapeType="1"/>
            <a:stCxn id="59397" idx="5"/>
            <a:endCxn id="59406" idx="0"/>
          </p:cNvCxnSpPr>
          <p:nvPr/>
        </p:nvCxnSpPr>
        <p:spPr bwMode="auto">
          <a:xfrm>
            <a:off x="6141542" y="2823567"/>
            <a:ext cx="730448" cy="55453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09" name="Line 14"/>
          <p:cNvSpPr>
            <a:spLocks noChangeShapeType="1"/>
          </p:cNvSpPr>
          <p:nvPr/>
        </p:nvSpPr>
        <p:spPr bwMode="auto">
          <a:xfrm>
            <a:off x="7497961" y="4023717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410" name="Line 15"/>
          <p:cNvSpPr>
            <a:spLocks noChangeShapeType="1"/>
          </p:cNvSpPr>
          <p:nvPr/>
        </p:nvSpPr>
        <p:spPr bwMode="auto">
          <a:xfrm>
            <a:off x="7497961" y="4479131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411" name="Line 16"/>
          <p:cNvSpPr>
            <a:spLocks noChangeShapeType="1"/>
          </p:cNvSpPr>
          <p:nvPr/>
        </p:nvSpPr>
        <p:spPr bwMode="auto">
          <a:xfrm>
            <a:off x="7497961" y="4896149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412" name="Text Box 17"/>
          <p:cNvSpPr txBox="1">
            <a:spLocks noChangeArrowheads="1"/>
          </p:cNvSpPr>
          <p:nvPr/>
        </p:nvSpPr>
        <p:spPr bwMode="auto">
          <a:xfrm>
            <a:off x="6872129" y="2467313"/>
            <a:ext cx="21513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ea typeface="SimSun" pitchFamily="2" charset="-122"/>
              </a:rPr>
              <a:t>Do a </a:t>
            </a:r>
            <a:r>
              <a:rPr lang="en-US" altLang="zh-CN" sz="1800" dirty="0">
                <a:solidFill>
                  <a:srgbClr val="0000FF"/>
                </a:solidFill>
                <a:ea typeface="SimSun" pitchFamily="2" charset="-122"/>
              </a:rPr>
              <a:t>“right rotation”</a:t>
            </a:r>
            <a:endParaRPr lang="en-US" altLang="zh-CN" sz="1800" dirty="0">
              <a:solidFill>
                <a:srgbClr val="0000FF"/>
              </a:solidFill>
              <a:ea typeface="SimSun" pitchFamily="2" charset="-122"/>
            </a:endParaRPr>
          </a:p>
        </p:txBody>
      </p:sp>
      <p:sp>
        <p:nvSpPr>
          <p:cNvPr id="59413" name="Rectangle 18"/>
          <p:cNvSpPr>
            <a:spLocks noChangeArrowheads="1"/>
          </p:cNvSpPr>
          <p:nvPr/>
        </p:nvSpPr>
        <p:spPr bwMode="auto">
          <a:xfrm>
            <a:off x="3986035" y="1394996"/>
            <a:ext cx="4395192" cy="450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75">
                <a:solidFill>
                  <a:srgbClr val="FF0000"/>
                </a:solidFill>
                <a:ea typeface="SimSun" pitchFamily="2" charset="-122"/>
              </a:rPr>
              <a:t>Single right rotation</a:t>
            </a:r>
            <a:endParaRPr lang="en-US" altLang="zh-CN" sz="2475">
              <a:solidFill>
                <a:srgbClr val="FF0000"/>
              </a:solidFill>
              <a:ea typeface="SimSun" pitchFamily="2" charset="-122"/>
            </a:endParaRPr>
          </a:p>
        </p:txBody>
      </p:sp>
      <p:cxnSp>
        <p:nvCxnSpPr>
          <p:cNvPr id="59414" name="AutoShape 20"/>
          <p:cNvCxnSpPr>
            <a:cxnSpLocks noChangeShapeType="1"/>
            <a:stCxn id="59397" idx="3"/>
          </p:cNvCxnSpPr>
          <p:nvPr/>
        </p:nvCxnSpPr>
        <p:spPr bwMode="auto">
          <a:xfrm flipH="1">
            <a:off x="5801321" y="2823568"/>
            <a:ext cx="25897" cy="108138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5" name="AutoShape 21"/>
          <p:cNvCxnSpPr>
            <a:cxnSpLocks noChangeShapeType="1"/>
            <a:stCxn id="59399" idx="7"/>
            <a:endCxn id="59397" idx="3"/>
          </p:cNvCxnSpPr>
          <p:nvPr/>
        </p:nvCxnSpPr>
        <p:spPr bwMode="auto">
          <a:xfrm flipV="1">
            <a:off x="5253038" y="2823568"/>
            <a:ext cx="574179" cy="388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16" name="Line 23"/>
          <p:cNvSpPr>
            <a:spLocks noChangeShapeType="1"/>
          </p:cNvSpPr>
          <p:nvPr/>
        </p:nvSpPr>
        <p:spPr bwMode="auto">
          <a:xfrm>
            <a:off x="5453063" y="2957513"/>
            <a:ext cx="214313" cy="128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417" name="Line 24"/>
          <p:cNvSpPr>
            <a:spLocks noChangeShapeType="1"/>
          </p:cNvSpPr>
          <p:nvPr/>
        </p:nvSpPr>
        <p:spPr bwMode="auto">
          <a:xfrm flipH="1">
            <a:off x="5453063" y="2914650"/>
            <a:ext cx="171450" cy="2143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cxnSp>
        <p:nvCxnSpPr>
          <p:cNvPr id="59418" name="AutoShape 25"/>
          <p:cNvCxnSpPr>
            <a:cxnSpLocks noChangeShapeType="1"/>
            <a:stCxn id="59399" idx="5"/>
            <a:endCxn id="59404" idx="0"/>
          </p:cNvCxnSpPr>
          <p:nvPr/>
        </p:nvCxnSpPr>
        <p:spPr bwMode="auto">
          <a:xfrm>
            <a:off x="5253038" y="3506689"/>
            <a:ext cx="549176" cy="365224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19" name="Line 26"/>
          <p:cNvSpPr>
            <a:spLocks noChangeShapeType="1"/>
          </p:cNvSpPr>
          <p:nvPr/>
        </p:nvSpPr>
        <p:spPr bwMode="auto">
          <a:xfrm>
            <a:off x="5410200" y="3643313"/>
            <a:ext cx="214313" cy="128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420" name="Line 27"/>
          <p:cNvSpPr>
            <a:spLocks noChangeShapeType="1"/>
          </p:cNvSpPr>
          <p:nvPr/>
        </p:nvSpPr>
        <p:spPr bwMode="auto">
          <a:xfrm flipH="1">
            <a:off x="5410200" y="3600450"/>
            <a:ext cx="171450" cy="2143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9421" name="Text Box 32"/>
          <p:cNvSpPr txBox="1">
            <a:spLocks noChangeArrowheads="1"/>
          </p:cNvSpPr>
          <p:nvPr/>
        </p:nvSpPr>
        <p:spPr bwMode="auto">
          <a:xfrm>
            <a:off x="6438900" y="3300413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59422" name="Text Box 33"/>
          <p:cNvSpPr txBox="1">
            <a:spLocks noChangeArrowheads="1"/>
          </p:cNvSpPr>
          <p:nvPr/>
        </p:nvSpPr>
        <p:spPr bwMode="auto">
          <a:xfrm>
            <a:off x="4552951" y="3771900"/>
            <a:ext cx="5702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h+1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59423" name="Text Box 34"/>
          <p:cNvSpPr txBox="1">
            <a:spLocks noChangeArrowheads="1"/>
          </p:cNvSpPr>
          <p:nvPr/>
        </p:nvSpPr>
        <p:spPr bwMode="auto">
          <a:xfrm>
            <a:off x="5881688" y="377190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54278" name="Text Box 56"/>
          <p:cNvSpPr txBox="1">
            <a:spLocks noChangeArrowheads="1"/>
          </p:cNvSpPr>
          <p:nvPr/>
        </p:nvSpPr>
        <p:spPr bwMode="auto">
          <a:xfrm>
            <a:off x="2179461" y="4692851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chemeClr val="accent2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0" name="Text Box 58"/>
          <p:cNvSpPr txBox="1">
            <a:spLocks noChangeArrowheads="1"/>
          </p:cNvSpPr>
          <p:nvPr/>
        </p:nvSpPr>
        <p:spPr bwMode="auto">
          <a:xfrm>
            <a:off x="675701" y="5087544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2" name="Text Box 60"/>
          <p:cNvSpPr txBox="1">
            <a:spLocks noChangeArrowheads="1"/>
          </p:cNvSpPr>
          <p:nvPr/>
        </p:nvSpPr>
        <p:spPr bwMode="auto">
          <a:xfrm>
            <a:off x="1407936" y="5052029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125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3" name="Oval 61"/>
          <p:cNvSpPr>
            <a:spLocks noChangeArrowheads="1"/>
          </p:cNvSpPr>
          <p:nvPr/>
        </p:nvSpPr>
        <p:spPr bwMode="auto">
          <a:xfrm>
            <a:off x="1667510" y="4557752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4" name="Oval 62"/>
          <p:cNvSpPr>
            <a:spLocks noChangeArrowheads="1"/>
          </p:cNvSpPr>
          <p:nvPr/>
        </p:nvSpPr>
        <p:spPr bwMode="auto">
          <a:xfrm>
            <a:off x="1067435" y="4891723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5" name="Oval 63"/>
          <p:cNvSpPr>
            <a:spLocks noChangeArrowheads="1"/>
          </p:cNvSpPr>
          <p:nvPr/>
        </p:nvSpPr>
        <p:spPr bwMode="auto">
          <a:xfrm>
            <a:off x="2181860" y="4891723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9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7" name="Oval 65"/>
          <p:cNvSpPr>
            <a:spLocks noChangeArrowheads="1"/>
          </p:cNvSpPr>
          <p:nvPr/>
        </p:nvSpPr>
        <p:spPr bwMode="auto">
          <a:xfrm>
            <a:off x="681673" y="5286415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88" name="Oval 66"/>
          <p:cNvSpPr>
            <a:spLocks noChangeArrowheads="1"/>
          </p:cNvSpPr>
          <p:nvPr/>
        </p:nvSpPr>
        <p:spPr bwMode="auto">
          <a:xfrm>
            <a:off x="1410335" y="5286415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4289" name="AutoShape 67"/>
          <p:cNvCxnSpPr>
            <a:cxnSpLocks noChangeShapeType="1"/>
            <a:stCxn id="54283" idx="3"/>
            <a:endCxn id="54284" idx="7"/>
          </p:cNvCxnSpPr>
          <p:nvPr/>
        </p:nvCxnSpPr>
        <p:spPr bwMode="auto">
          <a:xfrm flipH="1">
            <a:off x="1287106" y="4777423"/>
            <a:ext cx="417910" cy="1518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0" name="AutoShape 68"/>
          <p:cNvCxnSpPr>
            <a:cxnSpLocks noChangeShapeType="1"/>
            <a:stCxn id="54283" idx="5"/>
            <a:endCxn id="54285" idx="1"/>
          </p:cNvCxnSpPr>
          <p:nvPr/>
        </p:nvCxnSpPr>
        <p:spPr bwMode="auto">
          <a:xfrm>
            <a:off x="1887181" y="4777423"/>
            <a:ext cx="332185" cy="1518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1" name="AutoShape 69"/>
          <p:cNvCxnSpPr>
            <a:cxnSpLocks noChangeShapeType="1"/>
            <a:stCxn id="54284" idx="3"/>
            <a:endCxn id="54287" idx="0"/>
          </p:cNvCxnSpPr>
          <p:nvPr/>
        </p:nvCxnSpPr>
        <p:spPr bwMode="auto">
          <a:xfrm flipH="1">
            <a:off x="810261" y="5111393"/>
            <a:ext cx="294680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2" name="AutoShape 70"/>
          <p:cNvCxnSpPr>
            <a:cxnSpLocks noChangeShapeType="1"/>
            <a:stCxn id="54284" idx="5"/>
            <a:endCxn id="54288" idx="0"/>
          </p:cNvCxnSpPr>
          <p:nvPr/>
        </p:nvCxnSpPr>
        <p:spPr bwMode="auto">
          <a:xfrm>
            <a:off x="1287106" y="5111393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94" name="Text Box 72"/>
          <p:cNvSpPr txBox="1">
            <a:spLocks noChangeArrowheads="1"/>
          </p:cNvSpPr>
          <p:nvPr/>
        </p:nvSpPr>
        <p:spPr bwMode="auto">
          <a:xfrm>
            <a:off x="1061464" y="4692851"/>
            <a:ext cx="25463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125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4296" name="Oval 74"/>
          <p:cNvSpPr>
            <a:spLocks noChangeArrowheads="1"/>
          </p:cNvSpPr>
          <p:nvPr/>
        </p:nvSpPr>
        <p:spPr bwMode="auto">
          <a:xfrm>
            <a:off x="290195" y="5828983"/>
            <a:ext cx="257175" cy="2571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4297" name="AutoShape 75"/>
          <p:cNvCxnSpPr>
            <a:cxnSpLocks noChangeShapeType="1"/>
            <a:endCxn id="54296" idx="0"/>
          </p:cNvCxnSpPr>
          <p:nvPr/>
        </p:nvCxnSpPr>
        <p:spPr bwMode="auto">
          <a:xfrm flipH="1">
            <a:off x="419100" y="5550535"/>
            <a:ext cx="313690" cy="2787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Oval 2"/>
          <p:cNvSpPr>
            <a:spLocks noChangeArrowheads="1"/>
          </p:cNvSpPr>
          <p:nvPr/>
        </p:nvSpPr>
        <p:spPr bwMode="auto">
          <a:xfrm>
            <a:off x="6096000" y="3119102"/>
            <a:ext cx="443806" cy="41791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 dirty="0">
                <a:ea typeface="SimSun" pitchFamily="2" charset="-122"/>
              </a:rPr>
              <a:t>j</a:t>
            </a:r>
            <a:endParaRPr lang="en-US" altLang="zh-CN" sz="1350" dirty="0">
              <a:ea typeface="SimSun" pitchFamily="2" charset="-122"/>
            </a:endParaRPr>
          </a:p>
        </p:txBody>
      </p:sp>
      <p:sp>
        <p:nvSpPr>
          <p:cNvPr id="60422" name="Oval 4"/>
          <p:cNvSpPr>
            <a:spLocks noChangeArrowheads="1"/>
          </p:cNvSpPr>
          <p:nvPr/>
        </p:nvSpPr>
        <p:spPr bwMode="auto">
          <a:xfrm>
            <a:off x="5074445" y="2554784"/>
            <a:ext cx="444698" cy="41791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0423" name="Text Box 5"/>
          <p:cNvSpPr txBox="1">
            <a:spLocks noChangeArrowheads="1"/>
          </p:cNvSpPr>
          <p:nvPr/>
        </p:nvSpPr>
        <p:spPr bwMode="auto">
          <a:xfrm>
            <a:off x="5145881" y="2498527"/>
            <a:ext cx="27057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0424" name="AutoShape 6"/>
          <p:cNvSpPr>
            <a:spLocks noChangeArrowheads="1"/>
          </p:cNvSpPr>
          <p:nvPr/>
        </p:nvSpPr>
        <p:spPr bwMode="auto">
          <a:xfrm>
            <a:off x="3848399" y="3463826"/>
            <a:ext cx="847427" cy="110103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0425" name="Text Box 7"/>
          <p:cNvSpPr txBox="1">
            <a:spLocks noChangeArrowheads="1"/>
          </p:cNvSpPr>
          <p:nvPr/>
        </p:nvSpPr>
        <p:spPr bwMode="auto">
          <a:xfrm>
            <a:off x="4096709" y="4033541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X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0426" name="AutoShape 8"/>
          <p:cNvSpPr>
            <a:spLocks noChangeArrowheads="1"/>
          </p:cNvSpPr>
          <p:nvPr/>
        </p:nvSpPr>
        <p:spPr bwMode="auto">
          <a:xfrm>
            <a:off x="5392341" y="3954066"/>
            <a:ext cx="807244" cy="60721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0427" name="Text Box 9"/>
          <p:cNvSpPr txBox="1">
            <a:spLocks noChangeArrowheads="1"/>
          </p:cNvSpPr>
          <p:nvPr/>
        </p:nvSpPr>
        <p:spPr bwMode="auto">
          <a:xfrm>
            <a:off x="5587967" y="4098727"/>
            <a:ext cx="272355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Y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0428" name="AutoShape 10"/>
          <p:cNvSpPr>
            <a:spLocks noChangeArrowheads="1"/>
          </p:cNvSpPr>
          <p:nvPr/>
        </p:nvSpPr>
        <p:spPr bwMode="auto">
          <a:xfrm>
            <a:off x="6454081" y="3912096"/>
            <a:ext cx="848321" cy="64561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0429" name="Text Box 11"/>
          <p:cNvSpPr txBox="1">
            <a:spLocks noChangeArrowheads="1"/>
          </p:cNvSpPr>
          <p:nvPr/>
        </p:nvSpPr>
        <p:spPr bwMode="auto">
          <a:xfrm>
            <a:off x="6678281" y="4033541"/>
            <a:ext cx="27146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0430" name="Line 12"/>
          <p:cNvSpPr>
            <a:spLocks noChangeShapeType="1"/>
          </p:cNvSpPr>
          <p:nvPr/>
        </p:nvSpPr>
        <p:spPr bwMode="auto">
          <a:xfrm>
            <a:off x="7497961" y="3953174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0431" name="Line 13"/>
          <p:cNvSpPr>
            <a:spLocks noChangeShapeType="1"/>
          </p:cNvSpPr>
          <p:nvPr/>
        </p:nvSpPr>
        <p:spPr bwMode="auto">
          <a:xfrm>
            <a:off x="7510463" y="4558607"/>
            <a:ext cx="847428" cy="89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0432" name="Text Box 14"/>
          <p:cNvSpPr txBox="1">
            <a:spLocks noChangeArrowheads="1"/>
          </p:cNvSpPr>
          <p:nvPr/>
        </p:nvSpPr>
        <p:spPr bwMode="auto">
          <a:xfrm>
            <a:off x="7434104" y="2413992"/>
            <a:ext cx="2762250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SimSun" pitchFamily="2" charset="-122"/>
              </a:rPr>
              <a:t>“Right rotation” done!</a:t>
            </a:r>
            <a:endParaRPr lang="en-US" altLang="zh-CN">
              <a:ea typeface="SimSun" pitchFamily="2" charset="-122"/>
            </a:endParaRPr>
          </a:p>
          <a:p>
            <a:r>
              <a:rPr lang="en-US" altLang="zh-CN">
                <a:ea typeface="SimSun" pitchFamily="2" charset="-122"/>
              </a:rPr>
              <a:t>(“Left rotation” is mirror</a:t>
            </a:r>
            <a:endParaRPr lang="en-US" altLang="zh-CN">
              <a:ea typeface="SimSun" pitchFamily="2" charset="-122"/>
            </a:endParaRPr>
          </a:p>
          <a:p>
            <a:r>
              <a:rPr lang="en-US" altLang="zh-CN">
                <a:ea typeface="SimSun" pitchFamily="2" charset="-122"/>
              </a:rPr>
              <a:t>   symmetric)</a:t>
            </a:r>
            <a:endParaRPr lang="en-US" altLang="zh-CN">
              <a:ea typeface="SimSun" pitchFamily="2" charset="-122"/>
            </a:endParaRPr>
          </a:p>
        </p:txBody>
      </p:sp>
      <p:sp>
        <p:nvSpPr>
          <p:cNvPr id="60433" name="Rectangle 15"/>
          <p:cNvSpPr>
            <a:spLocks noChangeArrowheads="1"/>
          </p:cNvSpPr>
          <p:nvPr/>
        </p:nvSpPr>
        <p:spPr bwMode="auto">
          <a:xfrm>
            <a:off x="3898405" y="1863626"/>
            <a:ext cx="4395192" cy="450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75">
                <a:solidFill>
                  <a:srgbClr val="FF0000"/>
                </a:solidFill>
                <a:ea typeface="SimSun" pitchFamily="2" charset="-122"/>
              </a:rPr>
              <a:t>Outside Case Completed</a:t>
            </a:r>
            <a:endParaRPr lang="en-US" altLang="zh-CN" sz="2475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60434" name="Line 16"/>
          <p:cNvSpPr>
            <a:spLocks noChangeShapeType="1"/>
          </p:cNvSpPr>
          <p:nvPr/>
        </p:nvSpPr>
        <p:spPr bwMode="auto">
          <a:xfrm flipV="1">
            <a:off x="4270772" y="2899470"/>
            <a:ext cx="859036" cy="5706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60435" name="Line 18"/>
          <p:cNvSpPr>
            <a:spLocks noChangeShapeType="1"/>
          </p:cNvSpPr>
          <p:nvPr/>
        </p:nvSpPr>
        <p:spPr bwMode="auto">
          <a:xfrm flipH="1">
            <a:off x="5795070" y="3495080"/>
            <a:ext cx="369689" cy="4643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60436" name="Line 19"/>
          <p:cNvSpPr>
            <a:spLocks noChangeShapeType="1"/>
          </p:cNvSpPr>
          <p:nvPr/>
        </p:nvSpPr>
        <p:spPr bwMode="auto">
          <a:xfrm>
            <a:off x="6485335" y="3482578"/>
            <a:ext cx="394692" cy="43309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60437" name="Text Box 20"/>
          <p:cNvSpPr txBox="1">
            <a:spLocks noChangeArrowheads="1"/>
          </p:cNvSpPr>
          <p:nvPr/>
        </p:nvSpPr>
        <p:spPr bwMode="auto">
          <a:xfrm>
            <a:off x="4995188" y="4978579"/>
            <a:ext cx="384873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SimSun" pitchFamily="2" charset="-122"/>
              </a:rPr>
              <a:t>AVL property has been restored!</a:t>
            </a:r>
            <a:endParaRPr lang="en-US" altLang="zh-CN">
              <a:ea typeface="SimSun" pitchFamily="2" charset="-122"/>
            </a:endParaRPr>
          </a:p>
        </p:txBody>
      </p:sp>
      <p:cxnSp>
        <p:nvCxnSpPr>
          <p:cNvPr id="60438" name="AutoShape 21"/>
          <p:cNvCxnSpPr>
            <a:cxnSpLocks noChangeShapeType="1"/>
            <a:stCxn id="60422" idx="5"/>
            <a:endCxn id="60421" idx="0"/>
          </p:cNvCxnSpPr>
          <p:nvPr/>
        </p:nvCxnSpPr>
        <p:spPr bwMode="auto">
          <a:xfrm>
            <a:off x="5454018" y="2911492"/>
            <a:ext cx="863885" cy="207611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439" name="Oval 23"/>
          <p:cNvSpPr>
            <a:spLocks noChangeArrowheads="1"/>
          </p:cNvSpPr>
          <p:nvPr/>
        </p:nvSpPr>
        <p:spPr bwMode="auto">
          <a:xfrm rot="1680000">
            <a:off x="4852988" y="2614613"/>
            <a:ext cx="1928813" cy="83671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0440" name="Text Box 28"/>
          <p:cNvSpPr txBox="1">
            <a:spLocks noChangeArrowheads="1"/>
          </p:cNvSpPr>
          <p:nvPr/>
        </p:nvSpPr>
        <p:spPr bwMode="auto">
          <a:xfrm>
            <a:off x="6996113" y="3729038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60441" name="Text Box 29"/>
          <p:cNvSpPr txBox="1">
            <a:spLocks noChangeArrowheads="1"/>
          </p:cNvSpPr>
          <p:nvPr/>
        </p:nvSpPr>
        <p:spPr bwMode="auto">
          <a:xfrm>
            <a:off x="4424363" y="3429000"/>
            <a:ext cx="5702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h+1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60442" name="Text Box 30"/>
          <p:cNvSpPr txBox="1">
            <a:spLocks noChangeArrowheads="1"/>
          </p:cNvSpPr>
          <p:nvPr/>
        </p:nvSpPr>
        <p:spPr bwMode="auto">
          <a:xfrm>
            <a:off x="5881688" y="377190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h</a:t>
            </a:r>
            <a:endParaRPr lang="en-US" altLang="zh-CN" sz="18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Oval 2"/>
          <p:cNvSpPr>
            <a:spLocks noChangeArrowheads="1"/>
          </p:cNvSpPr>
          <p:nvPr/>
        </p:nvSpPr>
        <p:spPr bwMode="auto">
          <a:xfrm>
            <a:off x="5753100" y="2452092"/>
            <a:ext cx="471488" cy="4714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1446" name="Text Box 3"/>
          <p:cNvSpPr txBox="1">
            <a:spLocks noChangeArrowheads="1"/>
          </p:cNvSpPr>
          <p:nvPr/>
        </p:nvSpPr>
        <p:spPr bwMode="auto">
          <a:xfrm>
            <a:off x="5881688" y="2366368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j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1447" name="Oval 4"/>
          <p:cNvSpPr>
            <a:spLocks noChangeArrowheads="1"/>
          </p:cNvSpPr>
          <p:nvPr/>
        </p:nvSpPr>
        <p:spPr bwMode="auto">
          <a:xfrm>
            <a:off x="4810125" y="3223617"/>
            <a:ext cx="471488" cy="4714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1448" name="Text Box 5"/>
          <p:cNvSpPr txBox="1">
            <a:spLocks noChangeArrowheads="1"/>
          </p:cNvSpPr>
          <p:nvPr/>
        </p:nvSpPr>
        <p:spPr bwMode="auto">
          <a:xfrm>
            <a:off x="4887913" y="3180755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k</a:t>
            </a:r>
            <a:endParaRPr lang="en-US" altLang="zh-CN" sz="1575" dirty="0">
              <a:ea typeface="SimSun" pitchFamily="2" charset="-122"/>
            </a:endParaRPr>
          </a:p>
        </p:txBody>
      </p:sp>
      <p:cxnSp>
        <p:nvCxnSpPr>
          <p:cNvPr id="61449" name="AutoShape 6"/>
          <p:cNvCxnSpPr>
            <a:cxnSpLocks noChangeShapeType="1"/>
            <a:stCxn id="61445" idx="3"/>
            <a:endCxn id="61447" idx="7"/>
          </p:cNvCxnSpPr>
          <p:nvPr/>
        </p:nvCxnSpPr>
        <p:spPr bwMode="auto">
          <a:xfrm flipH="1">
            <a:off x="5212855" y="2854822"/>
            <a:ext cx="609005" cy="43755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450" name="AutoShape 7"/>
          <p:cNvSpPr>
            <a:spLocks noChangeArrowheads="1"/>
          </p:cNvSpPr>
          <p:nvPr/>
        </p:nvSpPr>
        <p:spPr bwMode="auto">
          <a:xfrm>
            <a:off x="3867150" y="3995142"/>
            <a:ext cx="900113" cy="7286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61451" name="AutoShape 8"/>
          <p:cNvCxnSpPr>
            <a:cxnSpLocks noChangeShapeType="1"/>
            <a:stCxn id="61447" idx="3"/>
            <a:endCxn id="61450" idx="0"/>
          </p:cNvCxnSpPr>
          <p:nvPr/>
        </p:nvCxnSpPr>
        <p:spPr bwMode="auto">
          <a:xfrm flipH="1">
            <a:off x="4317206" y="3626347"/>
            <a:ext cx="561678" cy="36879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452" name="Text Box 9"/>
          <p:cNvSpPr txBox="1">
            <a:spLocks noChangeArrowheads="1"/>
          </p:cNvSpPr>
          <p:nvPr/>
        </p:nvSpPr>
        <p:spPr bwMode="auto">
          <a:xfrm>
            <a:off x="4116388" y="4252318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X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1453" name="AutoShape 10"/>
          <p:cNvSpPr>
            <a:spLocks noChangeArrowheads="1"/>
          </p:cNvSpPr>
          <p:nvPr/>
        </p:nvSpPr>
        <p:spPr bwMode="auto">
          <a:xfrm>
            <a:off x="5367338" y="4038005"/>
            <a:ext cx="857250" cy="685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1454" name="Text Box 11"/>
          <p:cNvSpPr txBox="1">
            <a:spLocks noChangeArrowheads="1"/>
          </p:cNvSpPr>
          <p:nvPr/>
        </p:nvSpPr>
        <p:spPr bwMode="auto">
          <a:xfrm>
            <a:off x="5573713" y="4252318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Y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1455" name="AutoShape 12"/>
          <p:cNvSpPr>
            <a:spLocks noChangeArrowheads="1"/>
          </p:cNvSpPr>
          <p:nvPr/>
        </p:nvSpPr>
        <p:spPr bwMode="auto">
          <a:xfrm>
            <a:off x="6481763" y="3480792"/>
            <a:ext cx="900113" cy="7286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1456" name="Text Box 13"/>
          <p:cNvSpPr txBox="1">
            <a:spLocks noChangeArrowheads="1"/>
          </p:cNvSpPr>
          <p:nvPr/>
        </p:nvSpPr>
        <p:spPr bwMode="auto">
          <a:xfrm>
            <a:off x="6731000" y="3652243"/>
            <a:ext cx="28753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1457" name="AutoShape 14"/>
          <p:cNvCxnSpPr>
            <a:cxnSpLocks noChangeShapeType="1"/>
            <a:stCxn id="61447" idx="5"/>
            <a:endCxn id="61453" idx="0"/>
          </p:cNvCxnSpPr>
          <p:nvPr/>
        </p:nvCxnSpPr>
        <p:spPr bwMode="auto">
          <a:xfrm>
            <a:off x="5212855" y="3626347"/>
            <a:ext cx="583109" cy="41165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58" name="AutoShape 15"/>
          <p:cNvCxnSpPr>
            <a:cxnSpLocks noChangeShapeType="1"/>
            <a:stCxn id="61445" idx="5"/>
            <a:endCxn id="61455" idx="0"/>
          </p:cNvCxnSpPr>
          <p:nvPr/>
        </p:nvCxnSpPr>
        <p:spPr bwMode="auto">
          <a:xfrm>
            <a:off x="6155830" y="2854822"/>
            <a:ext cx="775990" cy="62597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459" name="Line 16"/>
          <p:cNvSpPr>
            <a:spLocks noChangeShapeType="1"/>
          </p:cNvSpPr>
          <p:nvPr/>
        </p:nvSpPr>
        <p:spPr bwMode="auto">
          <a:xfrm>
            <a:off x="7596188" y="4209455"/>
            <a:ext cx="90011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1460" name="Line 17"/>
          <p:cNvSpPr>
            <a:spLocks noChangeShapeType="1"/>
          </p:cNvSpPr>
          <p:nvPr/>
        </p:nvSpPr>
        <p:spPr bwMode="auto">
          <a:xfrm>
            <a:off x="7596188" y="4723805"/>
            <a:ext cx="90011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1462" name="Text Box 19"/>
          <p:cNvSpPr txBox="1">
            <a:spLocks noChangeArrowheads="1"/>
          </p:cNvSpPr>
          <p:nvPr/>
        </p:nvSpPr>
        <p:spPr bwMode="auto">
          <a:xfrm>
            <a:off x="3467180" y="2351664"/>
            <a:ext cx="18211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Consider a valid</a:t>
            </a:r>
            <a:endParaRPr lang="en-US" altLang="zh-CN" sz="1800">
              <a:ea typeface="SimSun" pitchFamily="2" charset="-122"/>
            </a:endParaRPr>
          </a:p>
          <a:p>
            <a:r>
              <a:rPr lang="en-US" altLang="zh-CN" sz="1800">
                <a:ea typeface="SimSun" pitchFamily="2" charset="-122"/>
              </a:rPr>
              <a:t>AVL subtree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61463" name="Text Box 20"/>
          <p:cNvSpPr txBox="1">
            <a:spLocks noChangeArrowheads="1"/>
          </p:cNvSpPr>
          <p:nvPr/>
        </p:nvSpPr>
        <p:spPr bwMode="auto">
          <a:xfrm>
            <a:off x="7038975" y="3386138"/>
            <a:ext cx="26289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61464" name="Text Box 22"/>
          <p:cNvSpPr txBox="1">
            <a:spLocks noChangeArrowheads="1"/>
          </p:cNvSpPr>
          <p:nvPr/>
        </p:nvSpPr>
        <p:spPr bwMode="auto">
          <a:xfrm>
            <a:off x="5881688" y="3857625"/>
            <a:ext cx="26289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61465" name="Text Box 23"/>
          <p:cNvSpPr txBox="1">
            <a:spLocks noChangeArrowheads="1"/>
          </p:cNvSpPr>
          <p:nvPr/>
        </p:nvSpPr>
        <p:spPr bwMode="auto">
          <a:xfrm>
            <a:off x="4467225" y="3900488"/>
            <a:ext cx="26289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61466" name="Rectangle 2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 </a:t>
            </a:r>
            <a:endParaRPr lang="en-US" altLang="zh-CN" smtClean="0">
              <a:ea typeface="SimSun" pitchFamily="2" charset="-122"/>
            </a:endParaRPr>
          </a:p>
        </p:txBody>
      </p:sp>
      <p:sp>
        <p:nvSpPr>
          <p:cNvPr id="57367" name="Rectangle 20"/>
          <p:cNvSpPr>
            <a:spLocks noChangeArrowheads="1"/>
          </p:cNvSpPr>
          <p:nvPr/>
        </p:nvSpPr>
        <p:spPr bwMode="auto">
          <a:xfrm>
            <a:off x="3613785" y="694055"/>
            <a:ext cx="5318125" cy="46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AVL Insertion: </a:t>
            </a:r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Inside Case</a:t>
            </a:r>
            <a:r>
              <a:rPr lang="en-US" altLang="zh-CN" sz="3200">
                <a:solidFill>
                  <a:schemeClr val="accent2"/>
                </a:solidFill>
                <a:ea typeface="SimSun" pitchFamily="2" charset="-122"/>
              </a:rPr>
              <a:t> </a:t>
            </a:r>
            <a:endParaRPr lang="en-US" altLang="zh-CN" sz="3200">
              <a:solidFill>
                <a:schemeClr val="accent2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9" name="Text Box 2"/>
          <p:cNvSpPr txBox="1">
            <a:spLocks noChangeArrowheads="1"/>
          </p:cNvSpPr>
          <p:nvPr/>
        </p:nvSpPr>
        <p:spPr bwMode="auto">
          <a:xfrm>
            <a:off x="3480276" y="2360276"/>
            <a:ext cx="159512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SimSun" pitchFamily="2" charset="-122"/>
              </a:rPr>
              <a:t>Inserting into Y </a:t>
            </a:r>
            <a:endParaRPr lang="en-US" altLang="zh-CN" sz="1600">
              <a:ea typeface="SimSun" pitchFamily="2" charset="-122"/>
            </a:endParaRPr>
          </a:p>
          <a:p>
            <a:r>
              <a:rPr lang="en-US" altLang="zh-CN" sz="1600">
                <a:ea typeface="SimSun" pitchFamily="2" charset="-122"/>
              </a:rPr>
              <a:t>destroys the</a:t>
            </a:r>
            <a:endParaRPr lang="en-US" altLang="zh-CN" sz="1600">
              <a:ea typeface="SimSun" pitchFamily="2" charset="-122"/>
            </a:endParaRPr>
          </a:p>
          <a:p>
            <a:r>
              <a:rPr lang="en-US" altLang="zh-CN" sz="1600">
                <a:ea typeface="SimSun" pitchFamily="2" charset="-122"/>
              </a:rPr>
              <a:t>AVL property</a:t>
            </a:r>
            <a:endParaRPr lang="en-US" altLang="zh-CN" sz="1600">
              <a:ea typeface="SimSun" pitchFamily="2" charset="-122"/>
            </a:endParaRPr>
          </a:p>
          <a:p>
            <a:r>
              <a:rPr lang="en-US" altLang="zh-CN" sz="1600">
                <a:ea typeface="SimSun" pitchFamily="2" charset="-122"/>
              </a:rPr>
              <a:t>at node j </a:t>
            </a:r>
            <a:endParaRPr lang="en-US" altLang="zh-CN" sz="1600">
              <a:ea typeface="SimSun" pitchFamily="2" charset="-122"/>
            </a:endParaRPr>
          </a:p>
        </p:txBody>
      </p:sp>
      <p:sp>
        <p:nvSpPr>
          <p:cNvPr id="62470" name="Oval 3"/>
          <p:cNvSpPr>
            <a:spLocks noChangeArrowheads="1"/>
          </p:cNvSpPr>
          <p:nvPr/>
        </p:nvSpPr>
        <p:spPr bwMode="auto">
          <a:xfrm>
            <a:off x="6043316" y="2529781"/>
            <a:ext cx="390227" cy="3768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2471" name="Text Box 4"/>
          <p:cNvSpPr txBox="1">
            <a:spLocks noChangeArrowheads="1"/>
          </p:cNvSpPr>
          <p:nvPr/>
        </p:nvSpPr>
        <p:spPr bwMode="auto">
          <a:xfrm>
            <a:off x="6138895" y="2404766"/>
            <a:ext cx="23931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j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2472" name="Oval 5"/>
          <p:cNvSpPr>
            <a:spLocks noChangeArrowheads="1"/>
          </p:cNvSpPr>
          <p:nvPr/>
        </p:nvSpPr>
        <p:spPr bwMode="auto">
          <a:xfrm>
            <a:off x="5262861" y="3146822"/>
            <a:ext cx="390227" cy="3768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2473" name="Text Box 6"/>
          <p:cNvSpPr txBox="1">
            <a:spLocks noChangeArrowheads="1"/>
          </p:cNvSpPr>
          <p:nvPr/>
        </p:nvSpPr>
        <p:spPr bwMode="auto">
          <a:xfrm>
            <a:off x="5314686" y="3081636"/>
            <a:ext cx="23753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k</a:t>
            </a:r>
            <a:endParaRPr lang="en-US" altLang="zh-CN" sz="1575" dirty="0">
              <a:ea typeface="SimSun" pitchFamily="2" charset="-122"/>
            </a:endParaRPr>
          </a:p>
        </p:txBody>
      </p:sp>
      <p:cxnSp>
        <p:nvCxnSpPr>
          <p:cNvPr id="62474" name="AutoShape 7"/>
          <p:cNvCxnSpPr>
            <a:cxnSpLocks noChangeShapeType="1"/>
            <a:stCxn id="62470" idx="3"/>
            <a:endCxn id="62472" idx="7"/>
          </p:cNvCxnSpPr>
          <p:nvPr/>
        </p:nvCxnSpPr>
        <p:spPr bwMode="auto">
          <a:xfrm flipH="1">
            <a:off x="5595938" y="2852142"/>
            <a:ext cx="504528" cy="35004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475" name="AutoShape 8"/>
          <p:cNvSpPr>
            <a:spLocks noChangeArrowheads="1"/>
          </p:cNvSpPr>
          <p:nvPr/>
        </p:nvSpPr>
        <p:spPr bwMode="auto">
          <a:xfrm>
            <a:off x="4481513" y="3763864"/>
            <a:ext cx="745629" cy="58310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62476" name="AutoShape 9"/>
          <p:cNvCxnSpPr>
            <a:cxnSpLocks noChangeShapeType="1"/>
            <a:stCxn id="62472" idx="3"/>
            <a:endCxn id="62475" idx="0"/>
          </p:cNvCxnSpPr>
          <p:nvPr/>
        </p:nvCxnSpPr>
        <p:spPr bwMode="auto">
          <a:xfrm flipH="1">
            <a:off x="4853882" y="3469184"/>
            <a:ext cx="465236" cy="29468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477" name="Text Box 10"/>
          <p:cNvSpPr txBox="1">
            <a:spLocks noChangeArrowheads="1"/>
          </p:cNvSpPr>
          <p:nvPr/>
        </p:nvSpPr>
        <p:spPr bwMode="auto">
          <a:xfrm>
            <a:off x="4662818" y="3887987"/>
            <a:ext cx="23842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X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2478" name="AutoShape 11"/>
          <p:cNvSpPr>
            <a:spLocks noChangeArrowheads="1"/>
          </p:cNvSpPr>
          <p:nvPr/>
        </p:nvSpPr>
        <p:spPr bwMode="auto">
          <a:xfrm>
            <a:off x="5723633" y="3797797"/>
            <a:ext cx="709910" cy="994767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2479" name="Text Box 12"/>
          <p:cNvSpPr txBox="1">
            <a:spLocks noChangeArrowheads="1"/>
          </p:cNvSpPr>
          <p:nvPr/>
        </p:nvSpPr>
        <p:spPr bwMode="auto">
          <a:xfrm>
            <a:off x="5867499" y="4200525"/>
            <a:ext cx="23842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Y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2480" name="AutoShape 13"/>
          <p:cNvSpPr>
            <a:spLocks noChangeArrowheads="1"/>
          </p:cNvSpPr>
          <p:nvPr/>
        </p:nvSpPr>
        <p:spPr bwMode="auto">
          <a:xfrm>
            <a:off x="6646962" y="3352205"/>
            <a:ext cx="745629" cy="58310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2481" name="Text Box 14"/>
          <p:cNvSpPr txBox="1">
            <a:spLocks noChangeArrowheads="1"/>
          </p:cNvSpPr>
          <p:nvPr/>
        </p:nvSpPr>
        <p:spPr bwMode="auto">
          <a:xfrm>
            <a:off x="6828268" y="3453111"/>
            <a:ext cx="23842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Z</a:t>
            </a:r>
            <a:endParaRPr lang="en-US" altLang="zh-CN" sz="1575" dirty="0">
              <a:ea typeface="SimSun" pitchFamily="2" charset="-122"/>
            </a:endParaRPr>
          </a:p>
        </p:txBody>
      </p:sp>
      <p:cxnSp>
        <p:nvCxnSpPr>
          <p:cNvPr id="62482" name="AutoShape 15"/>
          <p:cNvCxnSpPr>
            <a:cxnSpLocks noChangeShapeType="1"/>
            <a:stCxn id="62472" idx="5"/>
            <a:endCxn id="62478" idx="0"/>
          </p:cNvCxnSpPr>
          <p:nvPr/>
        </p:nvCxnSpPr>
        <p:spPr bwMode="auto">
          <a:xfrm>
            <a:off x="5595938" y="3469184"/>
            <a:ext cx="483097" cy="3286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83" name="AutoShape 16"/>
          <p:cNvCxnSpPr>
            <a:cxnSpLocks noChangeShapeType="1"/>
            <a:stCxn id="62470" idx="5"/>
            <a:endCxn id="62480" idx="0"/>
          </p:cNvCxnSpPr>
          <p:nvPr/>
        </p:nvCxnSpPr>
        <p:spPr bwMode="auto">
          <a:xfrm>
            <a:off x="6377285" y="2852142"/>
            <a:ext cx="642044" cy="50006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484" name="Line 17"/>
          <p:cNvSpPr>
            <a:spLocks noChangeShapeType="1"/>
          </p:cNvSpPr>
          <p:nvPr/>
        </p:nvSpPr>
        <p:spPr bwMode="auto">
          <a:xfrm>
            <a:off x="7569399" y="3935314"/>
            <a:ext cx="74562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2485" name="Line 18"/>
          <p:cNvSpPr>
            <a:spLocks noChangeShapeType="1"/>
          </p:cNvSpPr>
          <p:nvPr/>
        </p:nvSpPr>
        <p:spPr bwMode="auto">
          <a:xfrm>
            <a:off x="7581901" y="4365725"/>
            <a:ext cx="74562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2486" name="Line 19"/>
          <p:cNvSpPr>
            <a:spLocks noChangeShapeType="1"/>
          </p:cNvSpPr>
          <p:nvPr/>
        </p:nvSpPr>
        <p:spPr bwMode="auto">
          <a:xfrm>
            <a:off x="7586365" y="4792564"/>
            <a:ext cx="74562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2488" name="Text Box 21"/>
          <p:cNvSpPr txBox="1">
            <a:spLocks noChangeArrowheads="1"/>
          </p:cNvSpPr>
          <p:nvPr/>
        </p:nvSpPr>
        <p:spPr bwMode="auto">
          <a:xfrm>
            <a:off x="7019488" y="2494320"/>
            <a:ext cx="197993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SimSun" pitchFamily="2" charset="-122"/>
              </a:rPr>
              <a:t>Does “right rotation”</a:t>
            </a:r>
            <a:endParaRPr lang="en-US" altLang="zh-CN" sz="1600">
              <a:ea typeface="SimSun" pitchFamily="2" charset="-122"/>
            </a:endParaRPr>
          </a:p>
          <a:p>
            <a:r>
              <a:rPr lang="en-US" altLang="zh-CN" sz="1600">
                <a:ea typeface="SimSun" pitchFamily="2" charset="-122"/>
              </a:rPr>
              <a:t>restore balance?</a:t>
            </a:r>
            <a:endParaRPr lang="en-US" altLang="zh-CN" sz="1600">
              <a:ea typeface="SimSun" pitchFamily="2" charset="-122"/>
            </a:endParaRPr>
          </a:p>
        </p:txBody>
      </p:sp>
      <p:sp>
        <p:nvSpPr>
          <p:cNvPr id="62489" name="Oval 22"/>
          <p:cNvSpPr>
            <a:spLocks noChangeArrowheads="1"/>
          </p:cNvSpPr>
          <p:nvPr/>
        </p:nvSpPr>
        <p:spPr bwMode="auto">
          <a:xfrm rot="19500000">
            <a:off x="4852988" y="2614613"/>
            <a:ext cx="1928813" cy="83671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2490" name="Text Box 23"/>
          <p:cNvSpPr txBox="1">
            <a:spLocks noChangeArrowheads="1"/>
          </p:cNvSpPr>
          <p:nvPr/>
        </p:nvSpPr>
        <p:spPr bwMode="auto">
          <a:xfrm>
            <a:off x="7081838" y="3214688"/>
            <a:ext cx="183059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SimSun" pitchFamily="2" charset="-122"/>
              </a:rPr>
              <a:t>h</a:t>
            </a:r>
            <a:endParaRPr lang="en-US" altLang="zh-CN" sz="1400">
              <a:ea typeface="SimSun" pitchFamily="2" charset="-122"/>
            </a:endParaRPr>
          </a:p>
        </p:txBody>
      </p:sp>
      <p:sp>
        <p:nvSpPr>
          <p:cNvPr id="62491" name="Text Box 25"/>
          <p:cNvSpPr txBox="1">
            <a:spLocks noChangeArrowheads="1"/>
          </p:cNvSpPr>
          <p:nvPr/>
        </p:nvSpPr>
        <p:spPr bwMode="auto">
          <a:xfrm>
            <a:off x="6102033" y="3704908"/>
            <a:ext cx="48514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SimSun" pitchFamily="2" charset="-122"/>
              </a:rPr>
              <a:t>h+1</a:t>
            </a:r>
            <a:endParaRPr lang="en-US" altLang="zh-CN" sz="1400">
              <a:ea typeface="SimSun" pitchFamily="2" charset="-122"/>
            </a:endParaRPr>
          </a:p>
        </p:txBody>
      </p:sp>
      <p:sp>
        <p:nvSpPr>
          <p:cNvPr id="62492" name="Text Box 26"/>
          <p:cNvSpPr txBox="1">
            <a:spLocks noChangeArrowheads="1"/>
          </p:cNvSpPr>
          <p:nvPr/>
        </p:nvSpPr>
        <p:spPr bwMode="auto">
          <a:xfrm>
            <a:off x="4938713" y="3729038"/>
            <a:ext cx="28194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SimSun" pitchFamily="2" charset="-122"/>
              </a:rPr>
              <a:t>h</a:t>
            </a:r>
            <a:endParaRPr lang="en-US" altLang="zh-CN" sz="1400">
              <a:ea typeface="SimSun" pitchFamily="2" charset="-122"/>
            </a:endParaRPr>
          </a:p>
        </p:txBody>
      </p:sp>
      <p:sp>
        <p:nvSpPr>
          <p:cNvPr id="57367" name="Rectangle 20"/>
          <p:cNvSpPr>
            <a:spLocks noChangeArrowheads="1"/>
          </p:cNvSpPr>
          <p:nvPr/>
        </p:nvSpPr>
        <p:spPr bwMode="auto">
          <a:xfrm>
            <a:off x="3613785" y="694055"/>
            <a:ext cx="5318125" cy="46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AVL Insertion: </a:t>
            </a:r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Inside Case</a:t>
            </a:r>
            <a:r>
              <a:rPr lang="en-US" altLang="zh-CN" sz="3200">
                <a:solidFill>
                  <a:schemeClr val="accent2"/>
                </a:solidFill>
                <a:ea typeface="SimSun" pitchFamily="2" charset="-122"/>
              </a:rPr>
              <a:t> </a:t>
            </a:r>
            <a:endParaRPr lang="en-US" altLang="zh-CN" sz="3200">
              <a:solidFill>
                <a:schemeClr val="accent2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Oval 2"/>
          <p:cNvSpPr>
            <a:spLocks noChangeArrowheads="1"/>
          </p:cNvSpPr>
          <p:nvPr/>
        </p:nvSpPr>
        <p:spPr bwMode="auto">
          <a:xfrm>
            <a:off x="6136184" y="3005733"/>
            <a:ext cx="437555" cy="42505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3494" name="Text Box 3"/>
          <p:cNvSpPr txBox="1">
            <a:spLocks noChangeArrowheads="1"/>
          </p:cNvSpPr>
          <p:nvPr/>
        </p:nvSpPr>
        <p:spPr bwMode="auto">
          <a:xfrm>
            <a:off x="6255842" y="2896791"/>
            <a:ext cx="266105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j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3495" name="Oval 4"/>
          <p:cNvSpPr>
            <a:spLocks noChangeArrowheads="1"/>
          </p:cNvSpPr>
          <p:nvPr/>
        </p:nvSpPr>
        <p:spPr bwMode="auto">
          <a:xfrm>
            <a:off x="5200352" y="2487811"/>
            <a:ext cx="438448" cy="42505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3496" name="Text Box 5"/>
          <p:cNvSpPr txBox="1">
            <a:spLocks noChangeArrowheads="1"/>
          </p:cNvSpPr>
          <p:nvPr/>
        </p:nvSpPr>
        <p:spPr bwMode="auto">
          <a:xfrm>
            <a:off x="5276255" y="2436912"/>
            <a:ext cx="266998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3497" name="AutoShape 6"/>
          <p:cNvCxnSpPr>
            <a:cxnSpLocks noChangeShapeType="1"/>
            <a:stCxn id="63493" idx="3"/>
            <a:endCxn id="63501" idx="0"/>
          </p:cNvCxnSpPr>
          <p:nvPr/>
        </p:nvCxnSpPr>
        <p:spPr bwMode="auto">
          <a:xfrm flipH="1">
            <a:off x="5778104" y="3369172"/>
            <a:ext cx="421481" cy="29378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498" name="AutoShape 7"/>
          <p:cNvSpPr>
            <a:spLocks noChangeArrowheads="1"/>
          </p:cNvSpPr>
          <p:nvPr/>
        </p:nvSpPr>
        <p:spPr bwMode="auto">
          <a:xfrm>
            <a:off x="4325244" y="3183434"/>
            <a:ext cx="816173" cy="63400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63499" name="AutoShape 8"/>
          <p:cNvCxnSpPr>
            <a:cxnSpLocks noChangeShapeType="1"/>
            <a:stCxn id="63495" idx="3"/>
            <a:endCxn id="63498" idx="0"/>
          </p:cNvCxnSpPr>
          <p:nvPr/>
        </p:nvCxnSpPr>
        <p:spPr bwMode="auto">
          <a:xfrm flipH="1">
            <a:off x="4733330" y="2851250"/>
            <a:ext cx="531317" cy="33218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500" name="Text Box 9"/>
          <p:cNvSpPr txBox="1">
            <a:spLocks noChangeArrowheads="1"/>
          </p:cNvSpPr>
          <p:nvPr/>
        </p:nvSpPr>
        <p:spPr bwMode="auto">
          <a:xfrm>
            <a:off x="4523118" y="3308450"/>
            <a:ext cx="266998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X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3501" name="AutoShape 10"/>
          <p:cNvSpPr>
            <a:spLocks noChangeArrowheads="1"/>
          </p:cNvSpPr>
          <p:nvPr/>
        </p:nvSpPr>
        <p:spPr bwMode="auto">
          <a:xfrm>
            <a:off x="5379839" y="3662958"/>
            <a:ext cx="795635" cy="119747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3502" name="Text Box 11"/>
          <p:cNvSpPr txBox="1">
            <a:spLocks noChangeArrowheads="1"/>
          </p:cNvSpPr>
          <p:nvPr/>
        </p:nvSpPr>
        <p:spPr bwMode="auto">
          <a:xfrm>
            <a:off x="5575928" y="4242495"/>
            <a:ext cx="266998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Y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3503" name="AutoShape 12"/>
          <p:cNvSpPr>
            <a:spLocks noChangeArrowheads="1"/>
          </p:cNvSpPr>
          <p:nvPr/>
        </p:nvSpPr>
        <p:spPr bwMode="auto">
          <a:xfrm>
            <a:off x="6494264" y="3662958"/>
            <a:ext cx="835819" cy="65633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3504" name="Text Box 13"/>
          <p:cNvSpPr txBox="1">
            <a:spLocks noChangeArrowheads="1"/>
          </p:cNvSpPr>
          <p:nvPr/>
        </p:nvSpPr>
        <p:spPr bwMode="auto">
          <a:xfrm>
            <a:off x="6705534" y="3817442"/>
            <a:ext cx="266998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3505" name="AutoShape 14"/>
          <p:cNvCxnSpPr>
            <a:cxnSpLocks noChangeShapeType="1"/>
            <a:stCxn id="63493" idx="5"/>
            <a:endCxn id="63503" idx="0"/>
          </p:cNvCxnSpPr>
          <p:nvPr/>
        </p:nvCxnSpPr>
        <p:spPr bwMode="auto">
          <a:xfrm>
            <a:off x="6510338" y="3369172"/>
            <a:ext cx="401836" cy="29378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6" name="AutoShape 15"/>
          <p:cNvCxnSpPr>
            <a:cxnSpLocks noChangeShapeType="1"/>
            <a:stCxn id="63495" idx="5"/>
            <a:endCxn id="63493" idx="1"/>
          </p:cNvCxnSpPr>
          <p:nvPr/>
        </p:nvCxnSpPr>
        <p:spPr bwMode="auto">
          <a:xfrm>
            <a:off x="5574506" y="2851250"/>
            <a:ext cx="625079" cy="21609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507" name="Line 16"/>
          <p:cNvSpPr>
            <a:spLocks noChangeShapeType="1"/>
          </p:cNvSpPr>
          <p:nvPr/>
        </p:nvSpPr>
        <p:spPr bwMode="auto">
          <a:xfrm>
            <a:off x="7449741" y="4319291"/>
            <a:ext cx="83492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3508" name="Line 17"/>
          <p:cNvSpPr>
            <a:spLocks noChangeShapeType="1"/>
          </p:cNvSpPr>
          <p:nvPr/>
        </p:nvSpPr>
        <p:spPr bwMode="auto">
          <a:xfrm>
            <a:off x="7449741" y="3855839"/>
            <a:ext cx="83492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3509" name="Line 18"/>
          <p:cNvSpPr>
            <a:spLocks noChangeShapeType="1"/>
          </p:cNvSpPr>
          <p:nvPr/>
        </p:nvSpPr>
        <p:spPr bwMode="auto">
          <a:xfrm flipV="1">
            <a:off x="7489031" y="4815781"/>
            <a:ext cx="835819" cy="6251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3510" name="Text Box 19"/>
          <p:cNvSpPr txBox="1">
            <a:spLocks noChangeArrowheads="1"/>
          </p:cNvSpPr>
          <p:nvPr/>
        </p:nvSpPr>
        <p:spPr bwMode="auto">
          <a:xfrm>
            <a:off x="7045008" y="2100620"/>
            <a:ext cx="210058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“Right rotation”</a:t>
            </a:r>
            <a:endParaRPr lang="en-US" altLang="zh-CN" sz="1800">
              <a:ea typeface="SimSun" pitchFamily="2" charset="-122"/>
            </a:endParaRPr>
          </a:p>
          <a:p>
            <a:r>
              <a:rPr lang="en-US" altLang="zh-CN" sz="1800">
                <a:ea typeface="SimSun" pitchFamily="2" charset="-122"/>
              </a:rPr>
              <a:t>does not restore</a:t>
            </a:r>
            <a:endParaRPr lang="en-US" altLang="zh-CN" sz="1800">
              <a:ea typeface="SimSun" pitchFamily="2" charset="-122"/>
            </a:endParaRPr>
          </a:p>
          <a:p>
            <a:r>
              <a:rPr lang="en-US" altLang="zh-CN" sz="1800">
                <a:ea typeface="SimSun" pitchFamily="2" charset="-122"/>
              </a:rPr>
              <a:t>balance… now k is</a:t>
            </a:r>
            <a:endParaRPr lang="en-US" altLang="zh-CN" sz="1800">
              <a:ea typeface="SimSun" pitchFamily="2" charset="-122"/>
            </a:endParaRPr>
          </a:p>
          <a:p>
            <a:r>
              <a:rPr lang="en-US" altLang="zh-CN" sz="1800">
                <a:ea typeface="SimSun" pitchFamily="2" charset="-122"/>
              </a:rPr>
              <a:t>out of balance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63512" name="Oval 21"/>
          <p:cNvSpPr>
            <a:spLocks noChangeArrowheads="1"/>
          </p:cNvSpPr>
          <p:nvPr/>
        </p:nvSpPr>
        <p:spPr bwMode="auto">
          <a:xfrm rot="1680000">
            <a:off x="4981575" y="2614613"/>
            <a:ext cx="1928813" cy="83671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3513" name="Text Box 22"/>
          <p:cNvSpPr txBox="1">
            <a:spLocks noChangeArrowheads="1"/>
          </p:cNvSpPr>
          <p:nvPr/>
        </p:nvSpPr>
        <p:spPr bwMode="auto">
          <a:xfrm>
            <a:off x="7038975" y="3514725"/>
            <a:ext cx="183059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SimSun" pitchFamily="2" charset="-122"/>
              </a:rPr>
              <a:t>h</a:t>
            </a:r>
            <a:endParaRPr lang="en-US" altLang="zh-CN" sz="1600">
              <a:ea typeface="SimSun" pitchFamily="2" charset="-122"/>
            </a:endParaRPr>
          </a:p>
        </p:txBody>
      </p:sp>
      <p:sp>
        <p:nvSpPr>
          <p:cNvPr id="63514" name="Text Box 24"/>
          <p:cNvSpPr txBox="1">
            <a:spLocks noChangeArrowheads="1"/>
          </p:cNvSpPr>
          <p:nvPr/>
        </p:nvSpPr>
        <p:spPr bwMode="auto">
          <a:xfrm>
            <a:off x="5881688" y="3600450"/>
            <a:ext cx="52768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SimSun" pitchFamily="2" charset="-122"/>
              </a:rPr>
              <a:t>h+1</a:t>
            </a:r>
            <a:endParaRPr lang="en-US" altLang="zh-CN" sz="1600">
              <a:ea typeface="SimSun" pitchFamily="2" charset="-122"/>
            </a:endParaRPr>
          </a:p>
        </p:txBody>
      </p:sp>
      <p:sp>
        <p:nvSpPr>
          <p:cNvPr id="63515" name="Text Box 25"/>
          <p:cNvSpPr txBox="1">
            <a:spLocks noChangeArrowheads="1"/>
          </p:cNvSpPr>
          <p:nvPr/>
        </p:nvSpPr>
        <p:spPr bwMode="auto">
          <a:xfrm>
            <a:off x="4895850" y="3086100"/>
            <a:ext cx="2959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SimSun" pitchFamily="2" charset="-122"/>
              </a:rPr>
              <a:t>h</a:t>
            </a:r>
            <a:endParaRPr lang="en-US" altLang="zh-CN" sz="1600">
              <a:ea typeface="SimSun" pitchFamily="2" charset="-122"/>
            </a:endParaRPr>
          </a:p>
        </p:txBody>
      </p:sp>
      <p:sp>
        <p:nvSpPr>
          <p:cNvPr id="57367" name="Rectangle 20"/>
          <p:cNvSpPr>
            <a:spLocks noChangeArrowheads="1"/>
          </p:cNvSpPr>
          <p:nvPr/>
        </p:nvSpPr>
        <p:spPr bwMode="auto">
          <a:xfrm>
            <a:off x="3613785" y="694055"/>
            <a:ext cx="5318125" cy="46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AVL Insertion: </a:t>
            </a:r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Inside Case</a:t>
            </a:r>
            <a:r>
              <a:rPr lang="en-US" altLang="zh-CN" sz="3200">
                <a:solidFill>
                  <a:schemeClr val="accent2"/>
                </a:solidFill>
                <a:ea typeface="SimSun" pitchFamily="2" charset="-122"/>
              </a:rPr>
              <a:t> </a:t>
            </a:r>
            <a:endParaRPr lang="en-US" altLang="zh-CN" sz="3200">
              <a:solidFill>
                <a:schemeClr val="accent2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Text Box 2"/>
          <p:cNvSpPr txBox="1">
            <a:spLocks noChangeArrowheads="1"/>
          </p:cNvSpPr>
          <p:nvPr/>
        </p:nvSpPr>
        <p:spPr bwMode="auto">
          <a:xfrm>
            <a:off x="3549491" y="2357736"/>
            <a:ext cx="24307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Consider the structure</a:t>
            </a:r>
            <a:endParaRPr lang="en-US" altLang="zh-CN" sz="1800">
              <a:ea typeface="SimSun" pitchFamily="2" charset="-122"/>
            </a:endParaRPr>
          </a:p>
          <a:p>
            <a:r>
              <a:rPr lang="en-US" altLang="zh-CN" sz="1800">
                <a:ea typeface="SimSun" pitchFamily="2" charset="-122"/>
              </a:rPr>
              <a:t>of subtree Y…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64518" name="Oval 3"/>
          <p:cNvSpPr>
            <a:spLocks noChangeArrowheads="1"/>
          </p:cNvSpPr>
          <p:nvPr/>
        </p:nvSpPr>
        <p:spPr bwMode="auto">
          <a:xfrm>
            <a:off x="6043316" y="2529781"/>
            <a:ext cx="390227" cy="3768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4519" name="Text Box 4"/>
          <p:cNvSpPr txBox="1">
            <a:spLocks noChangeArrowheads="1"/>
          </p:cNvSpPr>
          <p:nvPr/>
        </p:nvSpPr>
        <p:spPr bwMode="auto">
          <a:xfrm>
            <a:off x="6155829" y="2404766"/>
            <a:ext cx="239316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j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4520" name="Oval 5"/>
          <p:cNvSpPr>
            <a:spLocks noChangeArrowheads="1"/>
          </p:cNvSpPr>
          <p:nvPr/>
        </p:nvSpPr>
        <p:spPr bwMode="auto">
          <a:xfrm>
            <a:off x="5262861" y="3146822"/>
            <a:ext cx="390227" cy="3768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4521" name="Text Box 6"/>
          <p:cNvSpPr txBox="1">
            <a:spLocks noChangeArrowheads="1"/>
          </p:cNvSpPr>
          <p:nvPr/>
        </p:nvSpPr>
        <p:spPr bwMode="auto">
          <a:xfrm>
            <a:off x="5297753" y="3081636"/>
            <a:ext cx="23753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k</a:t>
            </a:r>
            <a:endParaRPr lang="en-US" altLang="zh-CN" sz="1575" dirty="0">
              <a:ea typeface="SimSun" pitchFamily="2" charset="-122"/>
            </a:endParaRPr>
          </a:p>
        </p:txBody>
      </p:sp>
      <p:cxnSp>
        <p:nvCxnSpPr>
          <p:cNvPr id="64522" name="AutoShape 7"/>
          <p:cNvCxnSpPr>
            <a:cxnSpLocks noChangeShapeType="1"/>
            <a:stCxn id="64518" idx="3"/>
            <a:endCxn id="64520" idx="7"/>
          </p:cNvCxnSpPr>
          <p:nvPr/>
        </p:nvCxnSpPr>
        <p:spPr bwMode="auto">
          <a:xfrm flipH="1">
            <a:off x="5595938" y="2852142"/>
            <a:ext cx="504528" cy="35004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523" name="AutoShape 8"/>
          <p:cNvSpPr>
            <a:spLocks noChangeArrowheads="1"/>
          </p:cNvSpPr>
          <p:nvPr/>
        </p:nvSpPr>
        <p:spPr bwMode="auto">
          <a:xfrm>
            <a:off x="4481513" y="3763864"/>
            <a:ext cx="745629" cy="58310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64524" name="AutoShape 9"/>
          <p:cNvCxnSpPr>
            <a:cxnSpLocks noChangeShapeType="1"/>
            <a:stCxn id="64520" idx="3"/>
            <a:endCxn id="64523" idx="0"/>
          </p:cNvCxnSpPr>
          <p:nvPr/>
        </p:nvCxnSpPr>
        <p:spPr bwMode="auto">
          <a:xfrm flipH="1">
            <a:off x="4853882" y="3469184"/>
            <a:ext cx="465236" cy="29468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525" name="Text Box 10"/>
          <p:cNvSpPr txBox="1">
            <a:spLocks noChangeArrowheads="1"/>
          </p:cNvSpPr>
          <p:nvPr/>
        </p:nvSpPr>
        <p:spPr bwMode="auto">
          <a:xfrm>
            <a:off x="4645885" y="3887987"/>
            <a:ext cx="23842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X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4526" name="AutoShape 11"/>
          <p:cNvSpPr>
            <a:spLocks noChangeArrowheads="1"/>
          </p:cNvSpPr>
          <p:nvPr/>
        </p:nvSpPr>
        <p:spPr bwMode="auto">
          <a:xfrm>
            <a:off x="5723633" y="3797797"/>
            <a:ext cx="709910" cy="994767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4527" name="Text Box 12"/>
          <p:cNvSpPr txBox="1">
            <a:spLocks noChangeArrowheads="1"/>
          </p:cNvSpPr>
          <p:nvPr/>
        </p:nvSpPr>
        <p:spPr bwMode="auto">
          <a:xfrm>
            <a:off x="5884433" y="4200525"/>
            <a:ext cx="23842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Y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4528" name="AutoShape 13"/>
          <p:cNvSpPr>
            <a:spLocks noChangeArrowheads="1"/>
          </p:cNvSpPr>
          <p:nvPr/>
        </p:nvSpPr>
        <p:spPr bwMode="auto">
          <a:xfrm>
            <a:off x="6646962" y="3352205"/>
            <a:ext cx="745629" cy="58310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4529" name="Text Box 14"/>
          <p:cNvSpPr txBox="1">
            <a:spLocks noChangeArrowheads="1"/>
          </p:cNvSpPr>
          <p:nvPr/>
        </p:nvSpPr>
        <p:spPr bwMode="auto">
          <a:xfrm>
            <a:off x="6811334" y="3453111"/>
            <a:ext cx="23842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4530" name="AutoShape 15"/>
          <p:cNvCxnSpPr>
            <a:cxnSpLocks noChangeShapeType="1"/>
            <a:stCxn id="64520" idx="5"/>
            <a:endCxn id="64526" idx="0"/>
          </p:cNvCxnSpPr>
          <p:nvPr/>
        </p:nvCxnSpPr>
        <p:spPr bwMode="auto">
          <a:xfrm>
            <a:off x="5595938" y="3469184"/>
            <a:ext cx="483097" cy="3286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1" name="AutoShape 16"/>
          <p:cNvCxnSpPr>
            <a:cxnSpLocks noChangeShapeType="1"/>
            <a:stCxn id="64518" idx="5"/>
            <a:endCxn id="64528" idx="0"/>
          </p:cNvCxnSpPr>
          <p:nvPr/>
        </p:nvCxnSpPr>
        <p:spPr bwMode="auto">
          <a:xfrm>
            <a:off x="6377285" y="2852142"/>
            <a:ext cx="642044" cy="50006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532" name="Line 17"/>
          <p:cNvSpPr>
            <a:spLocks noChangeShapeType="1"/>
          </p:cNvSpPr>
          <p:nvPr/>
        </p:nvSpPr>
        <p:spPr bwMode="auto">
          <a:xfrm>
            <a:off x="7569399" y="3935314"/>
            <a:ext cx="74562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4533" name="Line 18"/>
          <p:cNvSpPr>
            <a:spLocks noChangeShapeType="1"/>
          </p:cNvSpPr>
          <p:nvPr/>
        </p:nvSpPr>
        <p:spPr bwMode="auto">
          <a:xfrm>
            <a:off x="7581901" y="4365725"/>
            <a:ext cx="74562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4534" name="Line 19"/>
          <p:cNvSpPr>
            <a:spLocks noChangeShapeType="1"/>
          </p:cNvSpPr>
          <p:nvPr/>
        </p:nvSpPr>
        <p:spPr bwMode="auto">
          <a:xfrm>
            <a:off x="7586365" y="4792564"/>
            <a:ext cx="74562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4536" name="Text Box 21"/>
          <p:cNvSpPr txBox="1">
            <a:spLocks noChangeArrowheads="1"/>
          </p:cNvSpPr>
          <p:nvPr/>
        </p:nvSpPr>
        <p:spPr bwMode="auto">
          <a:xfrm>
            <a:off x="7081838" y="3214688"/>
            <a:ext cx="183059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64537" name="Text Box 23"/>
          <p:cNvSpPr txBox="1">
            <a:spLocks noChangeArrowheads="1"/>
          </p:cNvSpPr>
          <p:nvPr/>
        </p:nvSpPr>
        <p:spPr bwMode="auto">
          <a:xfrm>
            <a:off x="6224588" y="3729038"/>
            <a:ext cx="42672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h+1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64538" name="Text Box 24"/>
          <p:cNvSpPr txBox="1">
            <a:spLocks noChangeArrowheads="1"/>
          </p:cNvSpPr>
          <p:nvPr/>
        </p:nvSpPr>
        <p:spPr bwMode="auto">
          <a:xfrm>
            <a:off x="4938713" y="3729038"/>
            <a:ext cx="26289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57367" name="Rectangle 20"/>
          <p:cNvSpPr>
            <a:spLocks noChangeArrowheads="1"/>
          </p:cNvSpPr>
          <p:nvPr/>
        </p:nvSpPr>
        <p:spPr bwMode="auto">
          <a:xfrm>
            <a:off x="3613785" y="694055"/>
            <a:ext cx="5318125" cy="46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AVL Insertion: </a:t>
            </a:r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Inside Case</a:t>
            </a:r>
            <a:r>
              <a:rPr lang="en-US" altLang="zh-CN" sz="3200">
                <a:solidFill>
                  <a:schemeClr val="accent2"/>
                </a:solidFill>
                <a:ea typeface="SimSun" pitchFamily="2" charset="-122"/>
              </a:rPr>
              <a:t> </a:t>
            </a:r>
            <a:endParaRPr lang="en-US" altLang="zh-CN" sz="3200">
              <a:solidFill>
                <a:schemeClr val="accent2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Oval 2"/>
          <p:cNvSpPr>
            <a:spLocks noChangeArrowheads="1"/>
          </p:cNvSpPr>
          <p:nvPr/>
        </p:nvSpPr>
        <p:spPr bwMode="auto">
          <a:xfrm>
            <a:off x="5803106" y="2453879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5542" name="Text Box 3"/>
          <p:cNvSpPr txBox="1">
            <a:spLocks noChangeArrowheads="1"/>
          </p:cNvSpPr>
          <p:nvPr/>
        </p:nvSpPr>
        <p:spPr bwMode="auto">
          <a:xfrm>
            <a:off x="5920086" y="2342258"/>
            <a:ext cx="26253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j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5543" name="Oval 4"/>
          <p:cNvSpPr>
            <a:spLocks noChangeArrowheads="1"/>
          </p:cNvSpPr>
          <p:nvPr/>
        </p:nvSpPr>
        <p:spPr bwMode="auto">
          <a:xfrm>
            <a:off x="4944964" y="3119141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5544" name="Text Box 5"/>
          <p:cNvSpPr txBox="1">
            <a:spLocks noChangeArrowheads="1"/>
          </p:cNvSpPr>
          <p:nvPr/>
        </p:nvSpPr>
        <p:spPr bwMode="auto">
          <a:xfrm>
            <a:off x="5030689" y="3050381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5545" name="AutoShape 6"/>
          <p:cNvCxnSpPr>
            <a:cxnSpLocks noChangeShapeType="1"/>
            <a:stCxn id="65541" idx="3"/>
            <a:endCxn id="65543" idx="7"/>
          </p:cNvCxnSpPr>
          <p:nvPr/>
        </p:nvCxnSpPr>
        <p:spPr bwMode="auto">
          <a:xfrm flipH="1">
            <a:off x="5311081" y="2801243"/>
            <a:ext cx="554534" cy="37683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46" name="AutoShape 7"/>
          <p:cNvSpPr>
            <a:spLocks noChangeArrowheads="1"/>
          </p:cNvSpPr>
          <p:nvPr/>
        </p:nvSpPr>
        <p:spPr bwMode="auto">
          <a:xfrm>
            <a:off x="4086821" y="3784402"/>
            <a:ext cx="818853" cy="62775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65547" name="AutoShape 8"/>
          <p:cNvCxnSpPr>
            <a:cxnSpLocks noChangeShapeType="1"/>
            <a:stCxn id="65543" idx="3"/>
            <a:endCxn id="65546" idx="0"/>
          </p:cNvCxnSpPr>
          <p:nvPr/>
        </p:nvCxnSpPr>
        <p:spPr bwMode="auto">
          <a:xfrm flipH="1">
            <a:off x="4496693" y="3466505"/>
            <a:ext cx="510779" cy="3178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48" name="Text Box 9"/>
          <p:cNvSpPr txBox="1">
            <a:spLocks noChangeArrowheads="1"/>
          </p:cNvSpPr>
          <p:nvPr/>
        </p:nvSpPr>
        <p:spPr bwMode="auto">
          <a:xfrm>
            <a:off x="4278941" y="3918347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X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5549" name="AutoShape 10"/>
          <p:cNvSpPr>
            <a:spLocks noChangeArrowheads="1"/>
          </p:cNvSpPr>
          <p:nvPr/>
        </p:nvSpPr>
        <p:spPr bwMode="auto">
          <a:xfrm>
            <a:off x="4984255" y="4264819"/>
            <a:ext cx="741164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5550" name="Text Box 11"/>
          <p:cNvSpPr txBox="1">
            <a:spLocks noChangeArrowheads="1"/>
          </p:cNvSpPr>
          <p:nvPr/>
        </p:nvSpPr>
        <p:spPr bwMode="auto">
          <a:xfrm>
            <a:off x="5131725" y="4467524"/>
            <a:ext cx="261641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V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5551" name="AutoShape 12"/>
          <p:cNvSpPr>
            <a:spLocks noChangeArrowheads="1"/>
          </p:cNvSpPr>
          <p:nvPr/>
        </p:nvSpPr>
        <p:spPr bwMode="auto">
          <a:xfrm>
            <a:off x="6465689" y="3340597"/>
            <a:ext cx="819746" cy="6286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5552" name="Text Box 13"/>
          <p:cNvSpPr txBox="1">
            <a:spLocks noChangeArrowheads="1"/>
          </p:cNvSpPr>
          <p:nvPr/>
        </p:nvSpPr>
        <p:spPr bwMode="auto">
          <a:xfrm>
            <a:off x="6700541" y="3495080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5553" name="AutoShape 14"/>
          <p:cNvCxnSpPr>
            <a:cxnSpLocks noChangeShapeType="1"/>
            <a:stCxn id="65543" idx="5"/>
            <a:endCxn id="65560" idx="1"/>
          </p:cNvCxnSpPr>
          <p:nvPr/>
        </p:nvCxnSpPr>
        <p:spPr bwMode="auto">
          <a:xfrm>
            <a:off x="5311081" y="3466505"/>
            <a:ext cx="359867" cy="26610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554" name="AutoShape 15"/>
          <p:cNvCxnSpPr>
            <a:cxnSpLocks noChangeShapeType="1"/>
            <a:stCxn id="65541" idx="5"/>
            <a:endCxn id="65551" idx="0"/>
          </p:cNvCxnSpPr>
          <p:nvPr/>
        </p:nvCxnSpPr>
        <p:spPr bwMode="auto">
          <a:xfrm>
            <a:off x="6169224" y="2801243"/>
            <a:ext cx="706339" cy="53935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55" name="Line 16"/>
          <p:cNvSpPr>
            <a:spLocks noChangeShapeType="1"/>
          </p:cNvSpPr>
          <p:nvPr/>
        </p:nvSpPr>
        <p:spPr bwMode="auto">
          <a:xfrm>
            <a:off x="7480102" y="3969247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5556" name="Line 17"/>
          <p:cNvSpPr>
            <a:spLocks noChangeShapeType="1"/>
          </p:cNvSpPr>
          <p:nvPr/>
        </p:nvSpPr>
        <p:spPr bwMode="auto">
          <a:xfrm>
            <a:off x="7480102" y="4412159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5557" name="Line 18"/>
          <p:cNvSpPr>
            <a:spLocks noChangeShapeType="1"/>
          </p:cNvSpPr>
          <p:nvPr/>
        </p:nvSpPr>
        <p:spPr bwMode="auto">
          <a:xfrm>
            <a:off x="7519392" y="4892576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5558" name="AutoShape 19"/>
          <p:cNvSpPr>
            <a:spLocks noChangeArrowheads="1"/>
          </p:cNvSpPr>
          <p:nvPr/>
        </p:nvSpPr>
        <p:spPr bwMode="auto">
          <a:xfrm>
            <a:off x="5959376" y="4264819"/>
            <a:ext cx="740271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5559" name="Text Box 20"/>
          <p:cNvSpPr txBox="1">
            <a:spLocks noChangeArrowheads="1"/>
          </p:cNvSpPr>
          <p:nvPr/>
        </p:nvSpPr>
        <p:spPr bwMode="auto">
          <a:xfrm>
            <a:off x="6028266" y="4460380"/>
            <a:ext cx="260747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W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5560" name="Oval 21"/>
          <p:cNvSpPr>
            <a:spLocks noChangeArrowheads="1"/>
          </p:cNvSpPr>
          <p:nvPr/>
        </p:nvSpPr>
        <p:spPr bwMode="auto">
          <a:xfrm>
            <a:off x="5607547" y="3673674"/>
            <a:ext cx="429518" cy="406301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5561" name="Text Box 22"/>
          <p:cNvSpPr txBox="1">
            <a:spLocks noChangeArrowheads="1"/>
          </p:cNvSpPr>
          <p:nvPr/>
        </p:nvSpPr>
        <p:spPr bwMode="auto">
          <a:xfrm>
            <a:off x="5712917" y="3617417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i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5562" name="AutoShape 23"/>
          <p:cNvCxnSpPr>
            <a:cxnSpLocks noChangeShapeType="1"/>
            <a:stCxn id="65560" idx="3"/>
            <a:endCxn id="65549" idx="0"/>
          </p:cNvCxnSpPr>
          <p:nvPr/>
        </p:nvCxnSpPr>
        <p:spPr bwMode="auto">
          <a:xfrm flipH="1">
            <a:off x="5354837" y="4020146"/>
            <a:ext cx="316111" cy="24467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563" name="AutoShape 24"/>
          <p:cNvCxnSpPr>
            <a:cxnSpLocks noChangeShapeType="1"/>
            <a:stCxn id="65560" idx="5"/>
            <a:endCxn id="65558" idx="0"/>
          </p:cNvCxnSpPr>
          <p:nvPr/>
        </p:nvCxnSpPr>
        <p:spPr bwMode="auto">
          <a:xfrm>
            <a:off x="5974556" y="4020146"/>
            <a:ext cx="355402" cy="24467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64" name="Text Box 25"/>
          <p:cNvSpPr txBox="1">
            <a:spLocks noChangeArrowheads="1"/>
          </p:cNvSpPr>
          <p:nvPr/>
        </p:nvSpPr>
        <p:spPr bwMode="auto">
          <a:xfrm>
            <a:off x="3613626" y="2306301"/>
            <a:ext cx="19989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Y = node i and</a:t>
            </a:r>
            <a:endParaRPr lang="en-US" altLang="zh-CN" sz="1800">
              <a:ea typeface="SimSun" pitchFamily="2" charset="-122"/>
            </a:endParaRPr>
          </a:p>
          <a:p>
            <a:r>
              <a:rPr lang="en-US" altLang="zh-CN" sz="1800">
                <a:ea typeface="SimSun" pitchFamily="2" charset="-122"/>
              </a:rPr>
              <a:t>subtrees V and W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65566" name="Text Box 27"/>
          <p:cNvSpPr txBox="1">
            <a:spLocks noChangeArrowheads="1"/>
          </p:cNvSpPr>
          <p:nvPr/>
        </p:nvSpPr>
        <p:spPr bwMode="auto">
          <a:xfrm>
            <a:off x="6910388" y="3214688"/>
            <a:ext cx="183059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65567" name="Text Box 29"/>
          <p:cNvSpPr txBox="1">
            <a:spLocks noChangeArrowheads="1"/>
          </p:cNvSpPr>
          <p:nvPr/>
        </p:nvSpPr>
        <p:spPr bwMode="auto">
          <a:xfrm>
            <a:off x="6053138" y="3729038"/>
            <a:ext cx="42672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h+1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65568" name="Text Box 30"/>
          <p:cNvSpPr txBox="1">
            <a:spLocks noChangeArrowheads="1"/>
          </p:cNvSpPr>
          <p:nvPr/>
        </p:nvSpPr>
        <p:spPr bwMode="auto">
          <a:xfrm>
            <a:off x="4638675" y="3729038"/>
            <a:ext cx="26289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65569" name="Text Box 31"/>
          <p:cNvSpPr txBox="1">
            <a:spLocks noChangeArrowheads="1"/>
          </p:cNvSpPr>
          <p:nvPr/>
        </p:nvSpPr>
        <p:spPr bwMode="auto">
          <a:xfrm>
            <a:off x="5581650" y="4200525"/>
            <a:ext cx="67818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>
                <a:ea typeface="SimSun" pitchFamily="2" charset="-122"/>
              </a:rPr>
              <a:t>h or h-1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57367" name="Rectangle 20"/>
          <p:cNvSpPr>
            <a:spLocks noChangeArrowheads="1"/>
          </p:cNvSpPr>
          <p:nvPr/>
        </p:nvSpPr>
        <p:spPr bwMode="auto">
          <a:xfrm>
            <a:off x="3613785" y="694055"/>
            <a:ext cx="5318125" cy="46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AVL Insertion: </a:t>
            </a:r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Inside Case</a:t>
            </a:r>
            <a:r>
              <a:rPr lang="en-US" altLang="zh-CN" sz="3200">
                <a:solidFill>
                  <a:schemeClr val="accent2"/>
                </a:solidFill>
                <a:ea typeface="SimSun" pitchFamily="2" charset="-122"/>
              </a:rPr>
              <a:t> </a:t>
            </a:r>
            <a:endParaRPr lang="en-US" altLang="zh-CN" sz="3200">
              <a:solidFill>
                <a:schemeClr val="accent2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Oval 2"/>
          <p:cNvSpPr>
            <a:spLocks noChangeArrowheads="1"/>
          </p:cNvSpPr>
          <p:nvPr/>
        </p:nvSpPr>
        <p:spPr bwMode="auto">
          <a:xfrm>
            <a:off x="5803106" y="2453879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6566" name="Text Box 3"/>
          <p:cNvSpPr txBox="1">
            <a:spLocks noChangeArrowheads="1"/>
          </p:cNvSpPr>
          <p:nvPr/>
        </p:nvSpPr>
        <p:spPr bwMode="auto">
          <a:xfrm>
            <a:off x="5920086" y="2342258"/>
            <a:ext cx="26253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j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6567" name="Oval 4"/>
          <p:cNvSpPr>
            <a:spLocks noChangeArrowheads="1"/>
          </p:cNvSpPr>
          <p:nvPr/>
        </p:nvSpPr>
        <p:spPr bwMode="auto">
          <a:xfrm>
            <a:off x="4944964" y="3119141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6568" name="Text Box 5"/>
          <p:cNvSpPr txBox="1">
            <a:spLocks noChangeArrowheads="1"/>
          </p:cNvSpPr>
          <p:nvPr/>
        </p:nvSpPr>
        <p:spPr bwMode="auto">
          <a:xfrm>
            <a:off x="5030689" y="3050381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6569" name="AutoShape 6"/>
          <p:cNvCxnSpPr>
            <a:cxnSpLocks noChangeShapeType="1"/>
            <a:stCxn id="66565" idx="3"/>
            <a:endCxn id="66567" idx="7"/>
          </p:cNvCxnSpPr>
          <p:nvPr/>
        </p:nvCxnSpPr>
        <p:spPr bwMode="auto">
          <a:xfrm flipH="1">
            <a:off x="5311081" y="2801243"/>
            <a:ext cx="554534" cy="37683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570" name="AutoShape 7"/>
          <p:cNvSpPr>
            <a:spLocks noChangeArrowheads="1"/>
          </p:cNvSpPr>
          <p:nvPr/>
        </p:nvSpPr>
        <p:spPr bwMode="auto">
          <a:xfrm>
            <a:off x="4086821" y="3784402"/>
            <a:ext cx="818853" cy="62775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66571" name="AutoShape 8"/>
          <p:cNvCxnSpPr>
            <a:cxnSpLocks noChangeShapeType="1"/>
            <a:stCxn id="66567" idx="3"/>
            <a:endCxn id="66570" idx="0"/>
          </p:cNvCxnSpPr>
          <p:nvPr/>
        </p:nvCxnSpPr>
        <p:spPr bwMode="auto">
          <a:xfrm flipH="1">
            <a:off x="4496693" y="3466505"/>
            <a:ext cx="510779" cy="3178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572" name="Text Box 9"/>
          <p:cNvSpPr txBox="1">
            <a:spLocks noChangeArrowheads="1"/>
          </p:cNvSpPr>
          <p:nvPr/>
        </p:nvSpPr>
        <p:spPr bwMode="auto">
          <a:xfrm>
            <a:off x="4346675" y="3918347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X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6573" name="AutoShape 10"/>
          <p:cNvSpPr>
            <a:spLocks noChangeArrowheads="1"/>
          </p:cNvSpPr>
          <p:nvPr/>
        </p:nvSpPr>
        <p:spPr bwMode="auto">
          <a:xfrm>
            <a:off x="4984255" y="4264819"/>
            <a:ext cx="741164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6574" name="Text Box 11"/>
          <p:cNvSpPr txBox="1">
            <a:spLocks noChangeArrowheads="1"/>
          </p:cNvSpPr>
          <p:nvPr/>
        </p:nvSpPr>
        <p:spPr bwMode="auto">
          <a:xfrm>
            <a:off x="5199459" y="4467524"/>
            <a:ext cx="261641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V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6575" name="AutoShape 12"/>
          <p:cNvSpPr>
            <a:spLocks noChangeArrowheads="1"/>
          </p:cNvSpPr>
          <p:nvPr/>
        </p:nvSpPr>
        <p:spPr bwMode="auto">
          <a:xfrm>
            <a:off x="6465689" y="3340597"/>
            <a:ext cx="819746" cy="6286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6576" name="Text Box 13"/>
          <p:cNvSpPr txBox="1">
            <a:spLocks noChangeArrowheads="1"/>
          </p:cNvSpPr>
          <p:nvPr/>
        </p:nvSpPr>
        <p:spPr bwMode="auto">
          <a:xfrm>
            <a:off x="6700541" y="3495080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6577" name="AutoShape 14"/>
          <p:cNvCxnSpPr>
            <a:cxnSpLocks noChangeShapeType="1"/>
            <a:stCxn id="66567" idx="5"/>
            <a:endCxn id="66584" idx="1"/>
          </p:cNvCxnSpPr>
          <p:nvPr/>
        </p:nvCxnSpPr>
        <p:spPr bwMode="auto">
          <a:xfrm>
            <a:off x="5311081" y="3466505"/>
            <a:ext cx="359867" cy="26610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578" name="AutoShape 15"/>
          <p:cNvCxnSpPr>
            <a:cxnSpLocks noChangeShapeType="1"/>
            <a:stCxn id="66565" idx="5"/>
            <a:endCxn id="66575" idx="0"/>
          </p:cNvCxnSpPr>
          <p:nvPr/>
        </p:nvCxnSpPr>
        <p:spPr bwMode="auto">
          <a:xfrm>
            <a:off x="6169224" y="2801243"/>
            <a:ext cx="706339" cy="53935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579" name="Line 16"/>
          <p:cNvSpPr>
            <a:spLocks noChangeShapeType="1"/>
          </p:cNvSpPr>
          <p:nvPr/>
        </p:nvSpPr>
        <p:spPr bwMode="auto">
          <a:xfrm>
            <a:off x="7480102" y="3969247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6580" name="Line 17"/>
          <p:cNvSpPr>
            <a:spLocks noChangeShapeType="1"/>
          </p:cNvSpPr>
          <p:nvPr/>
        </p:nvSpPr>
        <p:spPr bwMode="auto">
          <a:xfrm>
            <a:off x="7480102" y="4412159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6581" name="Line 18"/>
          <p:cNvSpPr>
            <a:spLocks noChangeShapeType="1"/>
          </p:cNvSpPr>
          <p:nvPr/>
        </p:nvSpPr>
        <p:spPr bwMode="auto">
          <a:xfrm>
            <a:off x="7519392" y="4892576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6582" name="AutoShape 19"/>
          <p:cNvSpPr>
            <a:spLocks noChangeArrowheads="1"/>
          </p:cNvSpPr>
          <p:nvPr/>
        </p:nvSpPr>
        <p:spPr bwMode="auto">
          <a:xfrm>
            <a:off x="5959376" y="4264819"/>
            <a:ext cx="740271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6583" name="Text Box 20"/>
          <p:cNvSpPr txBox="1">
            <a:spLocks noChangeArrowheads="1"/>
          </p:cNvSpPr>
          <p:nvPr/>
        </p:nvSpPr>
        <p:spPr bwMode="auto">
          <a:xfrm>
            <a:off x="6096000" y="4460380"/>
            <a:ext cx="260747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W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6584" name="Oval 21"/>
          <p:cNvSpPr>
            <a:spLocks noChangeArrowheads="1"/>
          </p:cNvSpPr>
          <p:nvPr/>
        </p:nvSpPr>
        <p:spPr bwMode="auto">
          <a:xfrm>
            <a:off x="5607547" y="3673674"/>
            <a:ext cx="429518" cy="406301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6585" name="Text Box 22"/>
          <p:cNvSpPr txBox="1">
            <a:spLocks noChangeArrowheads="1"/>
          </p:cNvSpPr>
          <p:nvPr/>
        </p:nvSpPr>
        <p:spPr bwMode="auto">
          <a:xfrm>
            <a:off x="5712917" y="3617417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i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6586" name="AutoShape 23"/>
          <p:cNvCxnSpPr>
            <a:cxnSpLocks noChangeShapeType="1"/>
            <a:stCxn id="66584" idx="3"/>
            <a:endCxn id="66573" idx="0"/>
          </p:cNvCxnSpPr>
          <p:nvPr/>
        </p:nvCxnSpPr>
        <p:spPr bwMode="auto">
          <a:xfrm flipH="1">
            <a:off x="5354837" y="4020146"/>
            <a:ext cx="316111" cy="24467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587" name="AutoShape 24"/>
          <p:cNvCxnSpPr>
            <a:cxnSpLocks noChangeShapeType="1"/>
            <a:stCxn id="66584" idx="5"/>
            <a:endCxn id="66582" idx="0"/>
          </p:cNvCxnSpPr>
          <p:nvPr/>
        </p:nvCxnSpPr>
        <p:spPr bwMode="auto">
          <a:xfrm>
            <a:off x="5974556" y="4020146"/>
            <a:ext cx="355402" cy="24467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589" name="Text Box 26"/>
          <p:cNvSpPr txBox="1">
            <a:spLocks noChangeArrowheads="1"/>
          </p:cNvSpPr>
          <p:nvPr/>
        </p:nvSpPr>
        <p:spPr bwMode="auto">
          <a:xfrm>
            <a:off x="7018715" y="2311440"/>
            <a:ext cx="23672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ea typeface="SimSun" pitchFamily="2" charset="-122"/>
              </a:rPr>
              <a:t>We will do a </a:t>
            </a:r>
            <a:r>
              <a:rPr lang="en-US" altLang="zh-CN" sz="1800" dirty="0">
                <a:solidFill>
                  <a:srgbClr val="FF0000"/>
                </a:solidFill>
                <a:ea typeface="SimSun" pitchFamily="2" charset="-122"/>
              </a:rPr>
              <a:t>left-right </a:t>
            </a:r>
            <a:endParaRPr lang="en-US" altLang="zh-CN" sz="1800" dirty="0">
              <a:solidFill>
                <a:srgbClr val="FF0000"/>
              </a:solidFill>
              <a:ea typeface="SimSun" pitchFamily="2" charset="-122"/>
            </a:endParaRPr>
          </a:p>
          <a:p>
            <a:r>
              <a:rPr lang="en-US" altLang="zh-CN" sz="1800" dirty="0">
                <a:solidFill>
                  <a:srgbClr val="FF0000"/>
                </a:solidFill>
                <a:ea typeface="SimSun" pitchFamily="2" charset="-122"/>
              </a:rPr>
              <a:t>“double rotation” </a:t>
            </a:r>
            <a:r>
              <a:rPr lang="en-US" altLang="zh-CN" sz="1800" dirty="0">
                <a:ea typeface="SimSun" pitchFamily="2" charset="-122"/>
              </a:rPr>
              <a:t>. . .</a:t>
            </a:r>
            <a:endParaRPr lang="en-US" altLang="zh-CN" sz="1800" dirty="0">
              <a:ea typeface="SimSun" pitchFamily="2" charset="-122"/>
            </a:endParaRPr>
          </a:p>
        </p:txBody>
      </p:sp>
      <p:sp>
        <p:nvSpPr>
          <p:cNvPr id="66590" name="Freeform 27"/>
          <p:cNvSpPr/>
          <p:nvPr/>
        </p:nvSpPr>
        <p:spPr bwMode="auto">
          <a:xfrm>
            <a:off x="5487889" y="3178969"/>
            <a:ext cx="413444" cy="472381"/>
          </a:xfrm>
          <a:custGeom>
            <a:avLst/>
            <a:gdLst>
              <a:gd name="T0" fmla="*/ 735012 w 463"/>
              <a:gd name="T1" fmla="*/ 839788 h 529"/>
              <a:gd name="T2" fmla="*/ 579437 w 463"/>
              <a:gd name="T3" fmla="*/ 138113 h 529"/>
              <a:gd name="T4" fmla="*/ 0 w 463"/>
              <a:gd name="T5" fmla="*/ 15875 h 5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63" h="529">
                <a:moveTo>
                  <a:pt x="463" y="529"/>
                </a:moveTo>
                <a:cubicBezTo>
                  <a:pt x="452" y="351"/>
                  <a:pt x="442" y="174"/>
                  <a:pt x="365" y="87"/>
                </a:cubicBezTo>
                <a:cubicBezTo>
                  <a:pt x="288" y="0"/>
                  <a:pt x="144" y="5"/>
                  <a:pt x="0" y="1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66591" name="Freeform 28"/>
          <p:cNvSpPr/>
          <p:nvPr/>
        </p:nvSpPr>
        <p:spPr bwMode="auto">
          <a:xfrm>
            <a:off x="5246787" y="2711054"/>
            <a:ext cx="459879" cy="464344"/>
          </a:xfrm>
          <a:custGeom>
            <a:avLst/>
            <a:gdLst>
              <a:gd name="T0" fmla="*/ 327025 w 515"/>
              <a:gd name="T1" fmla="*/ 825500 h 520"/>
              <a:gd name="T2" fmla="*/ 82550 w 515"/>
              <a:gd name="T3" fmla="*/ 144463 h 520"/>
              <a:gd name="T4" fmla="*/ 817562 w 515"/>
              <a:gd name="T5" fmla="*/ 0 h 5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5" h="520">
                <a:moveTo>
                  <a:pt x="206" y="520"/>
                </a:moveTo>
                <a:cubicBezTo>
                  <a:pt x="103" y="349"/>
                  <a:pt x="0" y="178"/>
                  <a:pt x="52" y="91"/>
                </a:cubicBezTo>
                <a:cubicBezTo>
                  <a:pt x="104" y="4"/>
                  <a:pt x="309" y="2"/>
                  <a:pt x="515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66592" name="Oval 30"/>
          <p:cNvSpPr>
            <a:spLocks noChangeArrowheads="1"/>
          </p:cNvSpPr>
          <p:nvPr/>
        </p:nvSpPr>
        <p:spPr bwMode="auto">
          <a:xfrm rot="1680000">
            <a:off x="4510088" y="3192364"/>
            <a:ext cx="1928813" cy="836711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6593" name="Oval 31"/>
          <p:cNvSpPr>
            <a:spLocks noChangeArrowheads="1"/>
          </p:cNvSpPr>
          <p:nvPr/>
        </p:nvSpPr>
        <p:spPr bwMode="auto">
          <a:xfrm rot="19500000">
            <a:off x="4638675" y="2528888"/>
            <a:ext cx="1928813" cy="836712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57367" name="Rectangle 20"/>
          <p:cNvSpPr>
            <a:spLocks noChangeArrowheads="1"/>
          </p:cNvSpPr>
          <p:nvPr/>
        </p:nvSpPr>
        <p:spPr bwMode="auto">
          <a:xfrm>
            <a:off x="3613785" y="694055"/>
            <a:ext cx="5318125" cy="46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AVL Insertion: </a:t>
            </a:r>
            <a:r>
              <a:rPr lang="en-US" altLang="zh-CN" sz="3200">
                <a:solidFill>
                  <a:srgbClr val="FF0000"/>
                </a:solidFill>
                <a:ea typeface="SimSun" pitchFamily="2" charset="-122"/>
              </a:rPr>
              <a:t>Inside Case</a:t>
            </a:r>
            <a:r>
              <a:rPr lang="en-US" altLang="zh-CN" sz="3200">
                <a:solidFill>
                  <a:schemeClr val="accent2"/>
                </a:solidFill>
                <a:ea typeface="SimSun" pitchFamily="2" charset="-122"/>
              </a:rPr>
              <a:t> </a:t>
            </a:r>
            <a:endParaRPr lang="en-US" altLang="zh-CN" sz="3200">
              <a:solidFill>
                <a:schemeClr val="accent2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9" name="Oval 2"/>
          <p:cNvSpPr>
            <a:spLocks noChangeArrowheads="1"/>
          </p:cNvSpPr>
          <p:nvPr/>
        </p:nvSpPr>
        <p:spPr bwMode="auto">
          <a:xfrm>
            <a:off x="5803106" y="2453879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7590" name="Text Box 3"/>
          <p:cNvSpPr txBox="1">
            <a:spLocks noChangeArrowheads="1"/>
          </p:cNvSpPr>
          <p:nvPr/>
        </p:nvSpPr>
        <p:spPr bwMode="auto">
          <a:xfrm>
            <a:off x="5920086" y="2342258"/>
            <a:ext cx="26253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j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7591" name="Oval 4"/>
          <p:cNvSpPr>
            <a:spLocks noChangeArrowheads="1"/>
          </p:cNvSpPr>
          <p:nvPr/>
        </p:nvSpPr>
        <p:spPr bwMode="auto">
          <a:xfrm>
            <a:off x="4552950" y="3626347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3040" i="1">
              <a:ea typeface="SimSun" pitchFamily="2" charset="-122"/>
            </a:endParaRPr>
          </a:p>
        </p:txBody>
      </p:sp>
      <p:cxnSp>
        <p:nvCxnSpPr>
          <p:cNvPr id="67592" name="AutoShape 6"/>
          <p:cNvCxnSpPr>
            <a:cxnSpLocks noChangeShapeType="1"/>
            <a:stCxn id="67589" idx="3"/>
            <a:endCxn id="67606" idx="0"/>
          </p:cNvCxnSpPr>
          <p:nvPr/>
        </p:nvCxnSpPr>
        <p:spPr bwMode="auto">
          <a:xfrm flipH="1">
            <a:off x="5153918" y="2800350"/>
            <a:ext cx="711696" cy="3286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593" name="AutoShape 7"/>
          <p:cNvSpPr>
            <a:spLocks noChangeArrowheads="1"/>
          </p:cNvSpPr>
          <p:nvPr/>
        </p:nvSpPr>
        <p:spPr bwMode="auto">
          <a:xfrm>
            <a:off x="3867150" y="4286250"/>
            <a:ext cx="818853" cy="62775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67594" name="AutoShape 8"/>
          <p:cNvCxnSpPr>
            <a:cxnSpLocks noChangeShapeType="1"/>
            <a:stCxn id="67591" idx="3"/>
            <a:endCxn id="67593" idx="0"/>
          </p:cNvCxnSpPr>
          <p:nvPr/>
        </p:nvCxnSpPr>
        <p:spPr bwMode="auto">
          <a:xfrm flipH="1">
            <a:off x="4277023" y="3972818"/>
            <a:ext cx="338435" cy="31343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595" name="Text Box 9"/>
          <p:cNvSpPr txBox="1">
            <a:spLocks noChangeArrowheads="1"/>
          </p:cNvSpPr>
          <p:nvPr/>
        </p:nvSpPr>
        <p:spPr bwMode="auto">
          <a:xfrm>
            <a:off x="4076204" y="4457700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X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7596" name="AutoShape 10"/>
          <p:cNvSpPr>
            <a:spLocks noChangeArrowheads="1"/>
          </p:cNvSpPr>
          <p:nvPr/>
        </p:nvSpPr>
        <p:spPr bwMode="auto">
          <a:xfrm>
            <a:off x="4850309" y="4243388"/>
            <a:ext cx="741164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V</a:t>
            </a:r>
            <a:endParaRPr lang="en-US" altLang="zh-CN" sz="3040" i="1">
              <a:ea typeface="SimSun" pitchFamily="2" charset="-122"/>
            </a:endParaRPr>
          </a:p>
        </p:txBody>
      </p:sp>
      <p:sp>
        <p:nvSpPr>
          <p:cNvPr id="67597" name="AutoShape 12"/>
          <p:cNvSpPr>
            <a:spLocks noChangeArrowheads="1"/>
          </p:cNvSpPr>
          <p:nvPr/>
        </p:nvSpPr>
        <p:spPr bwMode="auto">
          <a:xfrm>
            <a:off x="6465689" y="3340597"/>
            <a:ext cx="819746" cy="6286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7598" name="Text Box 13"/>
          <p:cNvSpPr txBox="1">
            <a:spLocks noChangeArrowheads="1"/>
          </p:cNvSpPr>
          <p:nvPr/>
        </p:nvSpPr>
        <p:spPr bwMode="auto">
          <a:xfrm>
            <a:off x="6700541" y="3495080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7599" name="AutoShape 14"/>
          <p:cNvCxnSpPr>
            <a:cxnSpLocks noChangeShapeType="1"/>
            <a:stCxn id="67591" idx="5"/>
            <a:endCxn id="67596" idx="0"/>
          </p:cNvCxnSpPr>
          <p:nvPr/>
        </p:nvCxnSpPr>
        <p:spPr bwMode="auto">
          <a:xfrm>
            <a:off x="4919068" y="3972818"/>
            <a:ext cx="301823" cy="27056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600" name="AutoShape 15"/>
          <p:cNvCxnSpPr>
            <a:cxnSpLocks noChangeShapeType="1"/>
            <a:stCxn id="67589" idx="5"/>
            <a:endCxn id="67597" idx="0"/>
          </p:cNvCxnSpPr>
          <p:nvPr/>
        </p:nvCxnSpPr>
        <p:spPr bwMode="auto">
          <a:xfrm>
            <a:off x="6169224" y="2801243"/>
            <a:ext cx="706339" cy="53935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601" name="Line 16"/>
          <p:cNvSpPr>
            <a:spLocks noChangeShapeType="1"/>
          </p:cNvSpPr>
          <p:nvPr/>
        </p:nvSpPr>
        <p:spPr bwMode="auto">
          <a:xfrm>
            <a:off x="7480102" y="3969247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7602" name="Line 17"/>
          <p:cNvSpPr>
            <a:spLocks noChangeShapeType="1"/>
          </p:cNvSpPr>
          <p:nvPr/>
        </p:nvSpPr>
        <p:spPr bwMode="auto">
          <a:xfrm>
            <a:off x="7480102" y="4412159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7603" name="Line 18"/>
          <p:cNvSpPr>
            <a:spLocks noChangeShapeType="1"/>
          </p:cNvSpPr>
          <p:nvPr/>
        </p:nvSpPr>
        <p:spPr bwMode="auto">
          <a:xfrm>
            <a:off x="7519392" y="4892576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7604" name="AutoShape 19"/>
          <p:cNvSpPr>
            <a:spLocks noChangeArrowheads="1"/>
          </p:cNvSpPr>
          <p:nvPr/>
        </p:nvSpPr>
        <p:spPr bwMode="auto">
          <a:xfrm>
            <a:off x="5667375" y="3771900"/>
            <a:ext cx="740272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7605" name="Text Box 20"/>
          <p:cNvSpPr txBox="1">
            <a:spLocks noChangeArrowheads="1"/>
          </p:cNvSpPr>
          <p:nvPr/>
        </p:nvSpPr>
        <p:spPr bwMode="auto">
          <a:xfrm>
            <a:off x="5753199" y="3967461"/>
            <a:ext cx="260747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W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7606" name="Oval 21"/>
          <p:cNvSpPr>
            <a:spLocks noChangeArrowheads="1"/>
          </p:cNvSpPr>
          <p:nvPr/>
        </p:nvSpPr>
        <p:spPr bwMode="auto">
          <a:xfrm>
            <a:off x="4938713" y="3128963"/>
            <a:ext cx="429518" cy="406301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i</a:t>
            </a:r>
            <a:endParaRPr lang="en-US" altLang="zh-CN" sz="3040" i="1">
              <a:ea typeface="SimSun" pitchFamily="2" charset="-122"/>
            </a:endParaRPr>
          </a:p>
        </p:txBody>
      </p:sp>
      <p:cxnSp>
        <p:nvCxnSpPr>
          <p:cNvPr id="67607" name="AutoShape 24"/>
          <p:cNvCxnSpPr>
            <a:cxnSpLocks noChangeShapeType="1"/>
            <a:stCxn id="67606" idx="5"/>
            <a:endCxn id="67604" idx="0"/>
          </p:cNvCxnSpPr>
          <p:nvPr/>
        </p:nvCxnSpPr>
        <p:spPr bwMode="auto">
          <a:xfrm>
            <a:off x="5305723" y="3475434"/>
            <a:ext cx="732235" cy="29646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608" name="Rectangle 25"/>
          <p:cNvSpPr>
            <a:spLocks noChangeArrowheads="1"/>
          </p:cNvSpPr>
          <p:nvPr/>
        </p:nvSpPr>
        <p:spPr bwMode="auto">
          <a:xfrm>
            <a:off x="3942715" y="1511300"/>
            <a:ext cx="4899025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solidFill>
                  <a:srgbClr val="FF0000"/>
                </a:solidFill>
                <a:ea typeface="SimSun" pitchFamily="2" charset="-122"/>
              </a:rPr>
              <a:t>Double rotation : first rotation</a:t>
            </a:r>
            <a:endParaRPr lang="en-US" altLang="zh-CN" sz="280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67609" name="Text Box 26"/>
          <p:cNvSpPr txBox="1">
            <a:spLocks noChangeArrowheads="1"/>
          </p:cNvSpPr>
          <p:nvPr/>
        </p:nvSpPr>
        <p:spPr bwMode="auto">
          <a:xfrm>
            <a:off x="6538020" y="2494954"/>
            <a:ext cx="23037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ea typeface="SimSun" pitchFamily="2" charset="-122"/>
              </a:rPr>
              <a:t>left rotation complete</a:t>
            </a:r>
            <a:endParaRPr lang="en-US" altLang="zh-CN" sz="1800" dirty="0">
              <a:solidFill>
                <a:srgbClr val="FF0000"/>
              </a:solidFill>
              <a:ea typeface="SimSun" pitchFamily="2" charset="-122"/>
            </a:endParaRPr>
          </a:p>
        </p:txBody>
      </p:sp>
      <p:cxnSp>
        <p:nvCxnSpPr>
          <p:cNvPr id="67610" name="AutoShape 31"/>
          <p:cNvCxnSpPr>
            <a:cxnSpLocks noChangeShapeType="1"/>
            <a:stCxn id="67606" idx="3"/>
            <a:endCxn id="67591" idx="0"/>
          </p:cNvCxnSpPr>
          <p:nvPr/>
        </p:nvCxnSpPr>
        <p:spPr bwMode="auto">
          <a:xfrm flipH="1">
            <a:off x="4767263" y="3475435"/>
            <a:ext cx="233958" cy="1509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611" name="Oval 34"/>
          <p:cNvSpPr>
            <a:spLocks noChangeArrowheads="1"/>
          </p:cNvSpPr>
          <p:nvPr/>
        </p:nvSpPr>
        <p:spPr bwMode="auto">
          <a:xfrm rot="19500000">
            <a:off x="3910013" y="3171825"/>
            <a:ext cx="1928813" cy="83671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3" name="Oval 2"/>
          <p:cNvSpPr>
            <a:spLocks noChangeArrowheads="1"/>
          </p:cNvSpPr>
          <p:nvPr/>
        </p:nvSpPr>
        <p:spPr bwMode="auto">
          <a:xfrm>
            <a:off x="5803106" y="2453879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8614" name="Text Box 3"/>
          <p:cNvSpPr txBox="1">
            <a:spLocks noChangeArrowheads="1"/>
          </p:cNvSpPr>
          <p:nvPr/>
        </p:nvSpPr>
        <p:spPr bwMode="auto">
          <a:xfrm>
            <a:off x="5920086" y="2342258"/>
            <a:ext cx="26253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j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8615" name="Oval 4"/>
          <p:cNvSpPr>
            <a:spLocks noChangeArrowheads="1"/>
          </p:cNvSpPr>
          <p:nvPr/>
        </p:nvSpPr>
        <p:spPr bwMode="auto">
          <a:xfrm>
            <a:off x="4552950" y="3626347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3040" i="1">
              <a:ea typeface="SimSun" pitchFamily="2" charset="-122"/>
            </a:endParaRPr>
          </a:p>
        </p:txBody>
      </p:sp>
      <p:cxnSp>
        <p:nvCxnSpPr>
          <p:cNvPr id="68616" name="AutoShape 5"/>
          <p:cNvCxnSpPr>
            <a:cxnSpLocks noChangeShapeType="1"/>
            <a:stCxn id="68613" idx="3"/>
            <a:endCxn id="68630" idx="0"/>
          </p:cNvCxnSpPr>
          <p:nvPr/>
        </p:nvCxnSpPr>
        <p:spPr bwMode="auto">
          <a:xfrm flipH="1">
            <a:off x="5153918" y="2800350"/>
            <a:ext cx="711696" cy="3286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617" name="AutoShape 6"/>
          <p:cNvSpPr>
            <a:spLocks noChangeArrowheads="1"/>
          </p:cNvSpPr>
          <p:nvPr/>
        </p:nvSpPr>
        <p:spPr bwMode="auto">
          <a:xfrm>
            <a:off x="3867150" y="4286250"/>
            <a:ext cx="818853" cy="62775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68618" name="AutoShape 7"/>
          <p:cNvCxnSpPr>
            <a:cxnSpLocks noChangeShapeType="1"/>
            <a:stCxn id="68615" idx="3"/>
            <a:endCxn id="68617" idx="0"/>
          </p:cNvCxnSpPr>
          <p:nvPr/>
        </p:nvCxnSpPr>
        <p:spPr bwMode="auto">
          <a:xfrm flipH="1">
            <a:off x="4277023" y="3972818"/>
            <a:ext cx="338435" cy="31343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619" name="Text Box 8"/>
          <p:cNvSpPr txBox="1">
            <a:spLocks noChangeArrowheads="1"/>
          </p:cNvSpPr>
          <p:nvPr/>
        </p:nvSpPr>
        <p:spPr bwMode="auto">
          <a:xfrm>
            <a:off x="4065041" y="4457700"/>
            <a:ext cx="216231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X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8620" name="AutoShape 9"/>
          <p:cNvSpPr>
            <a:spLocks noChangeArrowheads="1"/>
          </p:cNvSpPr>
          <p:nvPr/>
        </p:nvSpPr>
        <p:spPr bwMode="auto">
          <a:xfrm>
            <a:off x="4850309" y="4243388"/>
            <a:ext cx="741164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V</a:t>
            </a:r>
            <a:endParaRPr lang="en-US" altLang="zh-CN" sz="3040" i="1">
              <a:ea typeface="SimSun" pitchFamily="2" charset="-122"/>
            </a:endParaRPr>
          </a:p>
        </p:txBody>
      </p:sp>
      <p:sp>
        <p:nvSpPr>
          <p:cNvPr id="68621" name="AutoShape 10"/>
          <p:cNvSpPr>
            <a:spLocks noChangeArrowheads="1"/>
          </p:cNvSpPr>
          <p:nvPr/>
        </p:nvSpPr>
        <p:spPr bwMode="auto">
          <a:xfrm>
            <a:off x="6465689" y="3340597"/>
            <a:ext cx="819746" cy="6286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8622" name="Text Box 11"/>
          <p:cNvSpPr txBox="1">
            <a:spLocks noChangeArrowheads="1"/>
          </p:cNvSpPr>
          <p:nvPr/>
        </p:nvSpPr>
        <p:spPr bwMode="auto">
          <a:xfrm>
            <a:off x="6700541" y="3495080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8623" name="AutoShape 12"/>
          <p:cNvCxnSpPr>
            <a:cxnSpLocks noChangeShapeType="1"/>
            <a:stCxn id="68615" idx="5"/>
            <a:endCxn id="68620" idx="0"/>
          </p:cNvCxnSpPr>
          <p:nvPr/>
        </p:nvCxnSpPr>
        <p:spPr bwMode="auto">
          <a:xfrm>
            <a:off x="4919068" y="3972818"/>
            <a:ext cx="301823" cy="27056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24" name="AutoShape 13"/>
          <p:cNvCxnSpPr>
            <a:cxnSpLocks noChangeShapeType="1"/>
            <a:stCxn id="68613" idx="5"/>
            <a:endCxn id="68621" idx="0"/>
          </p:cNvCxnSpPr>
          <p:nvPr/>
        </p:nvCxnSpPr>
        <p:spPr bwMode="auto">
          <a:xfrm>
            <a:off x="6169224" y="2801243"/>
            <a:ext cx="706339" cy="53935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625" name="Line 14"/>
          <p:cNvSpPr>
            <a:spLocks noChangeShapeType="1"/>
          </p:cNvSpPr>
          <p:nvPr/>
        </p:nvSpPr>
        <p:spPr bwMode="auto">
          <a:xfrm>
            <a:off x="7480102" y="3969247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8626" name="Line 15"/>
          <p:cNvSpPr>
            <a:spLocks noChangeShapeType="1"/>
          </p:cNvSpPr>
          <p:nvPr/>
        </p:nvSpPr>
        <p:spPr bwMode="auto">
          <a:xfrm>
            <a:off x="7480102" y="4412159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8627" name="Line 16"/>
          <p:cNvSpPr>
            <a:spLocks noChangeShapeType="1"/>
          </p:cNvSpPr>
          <p:nvPr/>
        </p:nvSpPr>
        <p:spPr bwMode="auto">
          <a:xfrm>
            <a:off x="7519392" y="4892576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8628" name="AutoShape 17"/>
          <p:cNvSpPr>
            <a:spLocks noChangeArrowheads="1"/>
          </p:cNvSpPr>
          <p:nvPr/>
        </p:nvSpPr>
        <p:spPr bwMode="auto">
          <a:xfrm>
            <a:off x="5667375" y="3771900"/>
            <a:ext cx="740272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8629" name="Text Box 18"/>
          <p:cNvSpPr txBox="1">
            <a:spLocks noChangeArrowheads="1"/>
          </p:cNvSpPr>
          <p:nvPr/>
        </p:nvSpPr>
        <p:spPr bwMode="auto">
          <a:xfrm>
            <a:off x="5741959" y="3967461"/>
            <a:ext cx="215494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SimSun" pitchFamily="2" charset="-122"/>
              </a:rPr>
              <a:t>W</a:t>
            </a:r>
            <a:endParaRPr lang="en-US" altLang="zh-CN" sz="1575" dirty="0">
              <a:ea typeface="SimSun" pitchFamily="2" charset="-122"/>
            </a:endParaRPr>
          </a:p>
        </p:txBody>
      </p:sp>
      <p:sp>
        <p:nvSpPr>
          <p:cNvPr id="68630" name="Oval 19"/>
          <p:cNvSpPr>
            <a:spLocks noChangeArrowheads="1"/>
          </p:cNvSpPr>
          <p:nvPr/>
        </p:nvSpPr>
        <p:spPr bwMode="auto">
          <a:xfrm>
            <a:off x="4938713" y="3128963"/>
            <a:ext cx="429518" cy="406301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i</a:t>
            </a:r>
            <a:endParaRPr lang="en-US" altLang="zh-CN" sz="3040" i="1">
              <a:ea typeface="SimSun" pitchFamily="2" charset="-122"/>
            </a:endParaRPr>
          </a:p>
        </p:txBody>
      </p:sp>
      <p:cxnSp>
        <p:nvCxnSpPr>
          <p:cNvPr id="68631" name="AutoShape 20"/>
          <p:cNvCxnSpPr>
            <a:cxnSpLocks noChangeShapeType="1"/>
            <a:stCxn id="68630" idx="5"/>
            <a:endCxn id="68628" idx="0"/>
          </p:cNvCxnSpPr>
          <p:nvPr/>
        </p:nvCxnSpPr>
        <p:spPr bwMode="auto">
          <a:xfrm>
            <a:off x="5305723" y="3475434"/>
            <a:ext cx="732235" cy="29646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33" name="AutoShape 23"/>
          <p:cNvCxnSpPr>
            <a:cxnSpLocks noChangeShapeType="1"/>
            <a:stCxn id="68630" idx="3"/>
            <a:endCxn id="68615" idx="0"/>
          </p:cNvCxnSpPr>
          <p:nvPr/>
        </p:nvCxnSpPr>
        <p:spPr bwMode="auto">
          <a:xfrm flipH="1">
            <a:off x="4767263" y="3475435"/>
            <a:ext cx="233958" cy="1509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634" name="Oval 24"/>
          <p:cNvSpPr>
            <a:spLocks noChangeArrowheads="1"/>
          </p:cNvSpPr>
          <p:nvPr/>
        </p:nvSpPr>
        <p:spPr bwMode="auto">
          <a:xfrm rot="19500000">
            <a:off x="4595813" y="2592289"/>
            <a:ext cx="1928813" cy="836711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8635" name="Text Box 25"/>
          <p:cNvSpPr txBox="1">
            <a:spLocks noChangeArrowheads="1"/>
          </p:cNvSpPr>
          <p:nvPr/>
        </p:nvSpPr>
        <p:spPr bwMode="auto">
          <a:xfrm>
            <a:off x="6515696" y="2599433"/>
            <a:ext cx="24815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ea typeface="SimSun" pitchFamily="2" charset="-122"/>
              </a:rPr>
              <a:t>Now do a right rotation</a:t>
            </a:r>
            <a:endParaRPr lang="en-US" altLang="zh-CN" sz="1800" dirty="0">
              <a:solidFill>
                <a:srgbClr val="0000FF"/>
              </a:solidFill>
              <a:ea typeface="SimSun" pitchFamily="2" charset="-122"/>
            </a:endParaRPr>
          </a:p>
        </p:txBody>
      </p:sp>
      <p:sp>
        <p:nvSpPr>
          <p:cNvPr id="67608" name="Rectangle 25"/>
          <p:cNvSpPr>
            <a:spLocks noChangeArrowheads="1"/>
          </p:cNvSpPr>
          <p:nvPr/>
        </p:nvSpPr>
        <p:spPr bwMode="auto">
          <a:xfrm>
            <a:off x="3942715" y="1511300"/>
            <a:ext cx="4899025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solidFill>
                  <a:srgbClr val="FF0000"/>
                </a:solidFill>
                <a:ea typeface="SimSun" pitchFamily="2" charset="-122"/>
              </a:rPr>
              <a:t>Double rotation : first rotation</a:t>
            </a:r>
            <a:endParaRPr lang="en-US" altLang="zh-CN" sz="2800">
              <a:solidFill>
                <a:srgbClr val="FF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Oval 2"/>
          <p:cNvSpPr>
            <a:spLocks noChangeArrowheads="1"/>
          </p:cNvSpPr>
          <p:nvPr/>
        </p:nvSpPr>
        <p:spPr bwMode="auto">
          <a:xfrm>
            <a:off x="6229946" y="3622775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j</a:t>
            </a:r>
            <a:endParaRPr lang="en-US" altLang="zh-CN" sz="3040" i="1">
              <a:ea typeface="SimSun" pitchFamily="2" charset="-122"/>
            </a:endParaRPr>
          </a:p>
        </p:txBody>
      </p:sp>
      <p:sp>
        <p:nvSpPr>
          <p:cNvPr id="69638" name="Oval 4"/>
          <p:cNvSpPr>
            <a:spLocks noChangeArrowheads="1"/>
          </p:cNvSpPr>
          <p:nvPr/>
        </p:nvSpPr>
        <p:spPr bwMode="auto">
          <a:xfrm>
            <a:off x="4552950" y="3626347"/>
            <a:ext cx="428625" cy="4063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k</a:t>
            </a:r>
            <a:endParaRPr lang="en-US" altLang="zh-CN" sz="3040" i="1">
              <a:ea typeface="SimSun" pitchFamily="2" charset="-122"/>
            </a:endParaRPr>
          </a:p>
        </p:txBody>
      </p:sp>
      <p:sp>
        <p:nvSpPr>
          <p:cNvPr id="69639" name="AutoShape 6"/>
          <p:cNvSpPr>
            <a:spLocks noChangeArrowheads="1"/>
          </p:cNvSpPr>
          <p:nvPr/>
        </p:nvSpPr>
        <p:spPr bwMode="auto">
          <a:xfrm>
            <a:off x="3867150" y="4286250"/>
            <a:ext cx="818853" cy="62775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69640" name="AutoShape 7"/>
          <p:cNvCxnSpPr>
            <a:cxnSpLocks noChangeShapeType="1"/>
            <a:stCxn id="69638" idx="3"/>
            <a:endCxn id="69639" idx="0"/>
          </p:cNvCxnSpPr>
          <p:nvPr/>
        </p:nvCxnSpPr>
        <p:spPr bwMode="auto">
          <a:xfrm flipH="1">
            <a:off x="4277023" y="3972818"/>
            <a:ext cx="338435" cy="31343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641" name="Text Box 8"/>
          <p:cNvSpPr txBox="1">
            <a:spLocks noChangeArrowheads="1"/>
          </p:cNvSpPr>
          <p:nvPr/>
        </p:nvSpPr>
        <p:spPr bwMode="auto">
          <a:xfrm>
            <a:off x="4127005" y="4457700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latin typeface="Times New Roman" panose="02020603050405020304" pitchFamily="18" charset="0"/>
                <a:ea typeface="SimSun" pitchFamily="2" charset="-122"/>
              </a:rPr>
              <a:t>X</a:t>
            </a:r>
            <a:endParaRPr lang="en-US" altLang="zh-CN" sz="1575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69642" name="AutoShape 9"/>
          <p:cNvSpPr>
            <a:spLocks noChangeArrowheads="1"/>
          </p:cNvSpPr>
          <p:nvPr/>
        </p:nvSpPr>
        <p:spPr bwMode="auto">
          <a:xfrm>
            <a:off x="4850309" y="4243388"/>
            <a:ext cx="741164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V</a:t>
            </a:r>
            <a:endParaRPr lang="en-US" altLang="zh-CN" sz="3040" i="1">
              <a:ea typeface="SimSun" pitchFamily="2" charset="-122"/>
            </a:endParaRPr>
          </a:p>
        </p:txBody>
      </p:sp>
      <p:sp>
        <p:nvSpPr>
          <p:cNvPr id="69643" name="AutoShape 10"/>
          <p:cNvSpPr>
            <a:spLocks noChangeArrowheads="1"/>
          </p:cNvSpPr>
          <p:nvPr/>
        </p:nvSpPr>
        <p:spPr bwMode="auto">
          <a:xfrm>
            <a:off x="6465689" y="4260354"/>
            <a:ext cx="819746" cy="6286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9644" name="Text Box 11"/>
          <p:cNvSpPr txBox="1">
            <a:spLocks noChangeArrowheads="1"/>
          </p:cNvSpPr>
          <p:nvPr/>
        </p:nvSpPr>
        <p:spPr bwMode="auto">
          <a:xfrm>
            <a:off x="6700541" y="4414838"/>
            <a:ext cx="26164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Z</a:t>
            </a:r>
            <a:endParaRPr lang="en-US" altLang="zh-CN" sz="1575">
              <a:ea typeface="SimSun" pitchFamily="2" charset="-122"/>
            </a:endParaRPr>
          </a:p>
        </p:txBody>
      </p:sp>
      <p:cxnSp>
        <p:nvCxnSpPr>
          <p:cNvPr id="69645" name="AutoShape 12"/>
          <p:cNvCxnSpPr>
            <a:cxnSpLocks noChangeShapeType="1"/>
            <a:stCxn id="69638" idx="5"/>
            <a:endCxn id="69642" idx="0"/>
          </p:cNvCxnSpPr>
          <p:nvPr/>
        </p:nvCxnSpPr>
        <p:spPr bwMode="auto">
          <a:xfrm>
            <a:off x="4919068" y="3972818"/>
            <a:ext cx="301823" cy="27056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646" name="AutoShape 13"/>
          <p:cNvCxnSpPr>
            <a:cxnSpLocks noChangeShapeType="1"/>
            <a:stCxn id="69637" idx="5"/>
            <a:endCxn id="69643" idx="0"/>
          </p:cNvCxnSpPr>
          <p:nvPr/>
        </p:nvCxnSpPr>
        <p:spPr bwMode="auto">
          <a:xfrm>
            <a:off x="6596063" y="3969247"/>
            <a:ext cx="279500" cy="29110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647" name="Line 14"/>
          <p:cNvSpPr>
            <a:spLocks noChangeShapeType="1"/>
          </p:cNvSpPr>
          <p:nvPr/>
        </p:nvSpPr>
        <p:spPr bwMode="auto">
          <a:xfrm>
            <a:off x="7480102" y="3969247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9648" name="Line 15"/>
          <p:cNvSpPr>
            <a:spLocks noChangeShapeType="1"/>
          </p:cNvSpPr>
          <p:nvPr/>
        </p:nvSpPr>
        <p:spPr bwMode="auto">
          <a:xfrm>
            <a:off x="7480102" y="4412159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9649" name="Line 16"/>
          <p:cNvSpPr>
            <a:spLocks noChangeShapeType="1"/>
          </p:cNvSpPr>
          <p:nvPr/>
        </p:nvSpPr>
        <p:spPr bwMode="auto">
          <a:xfrm>
            <a:off x="7519392" y="4892576"/>
            <a:ext cx="81885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69650" name="AutoShape 17"/>
          <p:cNvSpPr>
            <a:spLocks noChangeArrowheads="1"/>
          </p:cNvSpPr>
          <p:nvPr/>
        </p:nvSpPr>
        <p:spPr bwMode="auto">
          <a:xfrm>
            <a:off x="5667375" y="4243388"/>
            <a:ext cx="740272" cy="665262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9651" name="Text Box 18"/>
          <p:cNvSpPr txBox="1">
            <a:spLocks noChangeArrowheads="1"/>
          </p:cNvSpPr>
          <p:nvPr/>
        </p:nvSpPr>
        <p:spPr bwMode="auto">
          <a:xfrm>
            <a:off x="5804000" y="4438949"/>
            <a:ext cx="260747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SimSun" pitchFamily="2" charset="-122"/>
              </a:rPr>
              <a:t>W</a:t>
            </a:r>
            <a:endParaRPr lang="en-US" altLang="zh-CN" sz="1575">
              <a:ea typeface="SimSun" pitchFamily="2" charset="-122"/>
            </a:endParaRPr>
          </a:p>
        </p:txBody>
      </p:sp>
      <p:sp>
        <p:nvSpPr>
          <p:cNvPr id="69652" name="Oval 19"/>
          <p:cNvSpPr>
            <a:spLocks noChangeArrowheads="1"/>
          </p:cNvSpPr>
          <p:nvPr/>
        </p:nvSpPr>
        <p:spPr bwMode="auto">
          <a:xfrm>
            <a:off x="5324475" y="3128963"/>
            <a:ext cx="429518" cy="406301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040" i="1">
                <a:ea typeface="SimSun" pitchFamily="2" charset="-122"/>
              </a:rPr>
              <a:t>i</a:t>
            </a:r>
            <a:endParaRPr lang="en-US" altLang="zh-CN" sz="3040" i="1">
              <a:ea typeface="SimSun" pitchFamily="2" charset="-122"/>
            </a:endParaRPr>
          </a:p>
        </p:txBody>
      </p:sp>
      <p:cxnSp>
        <p:nvCxnSpPr>
          <p:cNvPr id="69653" name="AutoShape 20"/>
          <p:cNvCxnSpPr>
            <a:cxnSpLocks noChangeShapeType="1"/>
            <a:stCxn id="69637" idx="3"/>
            <a:endCxn id="69650" idx="0"/>
          </p:cNvCxnSpPr>
          <p:nvPr/>
        </p:nvCxnSpPr>
        <p:spPr bwMode="auto">
          <a:xfrm flipH="1">
            <a:off x="6037958" y="3969246"/>
            <a:ext cx="254496" cy="27414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655" name="AutoShape 22"/>
          <p:cNvCxnSpPr>
            <a:cxnSpLocks noChangeShapeType="1"/>
            <a:stCxn id="69652" idx="3"/>
            <a:endCxn id="69638" idx="0"/>
          </p:cNvCxnSpPr>
          <p:nvPr/>
        </p:nvCxnSpPr>
        <p:spPr bwMode="auto">
          <a:xfrm flipH="1">
            <a:off x="4767263" y="3475435"/>
            <a:ext cx="619721" cy="1509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656" name="AutoShape 26"/>
          <p:cNvCxnSpPr>
            <a:cxnSpLocks noChangeShapeType="1"/>
            <a:stCxn id="69637" idx="0"/>
            <a:endCxn id="69652" idx="5"/>
          </p:cNvCxnSpPr>
          <p:nvPr/>
        </p:nvCxnSpPr>
        <p:spPr bwMode="auto">
          <a:xfrm flipH="1" flipV="1">
            <a:off x="5691485" y="3475434"/>
            <a:ext cx="752773" cy="14734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657" name="Oval 27"/>
          <p:cNvSpPr>
            <a:spLocks noChangeArrowheads="1"/>
          </p:cNvSpPr>
          <p:nvPr/>
        </p:nvSpPr>
        <p:spPr bwMode="auto">
          <a:xfrm rot="1680000">
            <a:off x="5067300" y="3192364"/>
            <a:ext cx="1928813" cy="836711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69658" name="Text Box 28"/>
          <p:cNvSpPr txBox="1">
            <a:spLocks noChangeArrowheads="1"/>
          </p:cNvSpPr>
          <p:nvPr/>
        </p:nvSpPr>
        <p:spPr bwMode="auto">
          <a:xfrm>
            <a:off x="6438900" y="2599690"/>
            <a:ext cx="38544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ea typeface="SimSun" pitchFamily="2" charset="-122"/>
              </a:rPr>
              <a:t>right rotation complete</a:t>
            </a:r>
            <a:endParaRPr lang="en-US" altLang="zh-CN" sz="1800" dirty="0">
              <a:solidFill>
                <a:srgbClr val="0000FF"/>
              </a:solidFill>
              <a:ea typeface="SimSun" pitchFamily="2" charset="-122"/>
            </a:endParaRPr>
          </a:p>
        </p:txBody>
      </p:sp>
      <p:sp>
        <p:nvSpPr>
          <p:cNvPr id="69659" name="Text Box 29"/>
          <p:cNvSpPr txBox="1">
            <a:spLocks noChangeArrowheads="1"/>
          </p:cNvSpPr>
          <p:nvPr/>
        </p:nvSpPr>
        <p:spPr bwMode="auto">
          <a:xfrm>
            <a:off x="6653530" y="3047365"/>
            <a:ext cx="32734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itchFamily="2" charset="-122"/>
              </a:rPr>
              <a:t>Balance has been restored</a:t>
            </a:r>
            <a:endParaRPr lang="en-US" altLang="zh-CN" sz="1800">
              <a:ea typeface="SimSun" pitchFamily="2" charset="-122"/>
            </a:endParaRPr>
          </a:p>
        </p:txBody>
      </p:sp>
      <p:sp>
        <p:nvSpPr>
          <p:cNvPr id="69660" name="Text Box 30"/>
          <p:cNvSpPr txBox="1">
            <a:spLocks noChangeArrowheads="1"/>
          </p:cNvSpPr>
          <p:nvPr/>
        </p:nvSpPr>
        <p:spPr bwMode="auto">
          <a:xfrm>
            <a:off x="6996113" y="4071938"/>
            <a:ext cx="183059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SimSun" pitchFamily="2" charset="-122"/>
              </a:rPr>
              <a:t>h</a:t>
            </a:r>
            <a:endParaRPr lang="en-US" altLang="zh-CN" sz="1400">
              <a:ea typeface="SimSun" pitchFamily="2" charset="-122"/>
            </a:endParaRPr>
          </a:p>
        </p:txBody>
      </p:sp>
      <p:sp>
        <p:nvSpPr>
          <p:cNvPr id="69661" name="Text Box 33"/>
          <p:cNvSpPr txBox="1">
            <a:spLocks noChangeArrowheads="1"/>
          </p:cNvSpPr>
          <p:nvPr/>
        </p:nvSpPr>
        <p:spPr bwMode="auto">
          <a:xfrm>
            <a:off x="4038600" y="4114800"/>
            <a:ext cx="28194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SimSun" pitchFamily="2" charset="-122"/>
              </a:rPr>
              <a:t>h</a:t>
            </a:r>
            <a:endParaRPr lang="en-US" altLang="zh-CN" sz="1400">
              <a:ea typeface="SimSun" pitchFamily="2" charset="-122"/>
            </a:endParaRPr>
          </a:p>
        </p:txBody>
      </p:sp>
      <p:sp>
        <p:nvSpPr>
          <p:cNvPr id="69662" name="Text Box 34"/>
          <p:cNvSpPr txBox="1">
            <a:spLocks noChangeArrowheads="1"/>
          </p:cNvSpPr>
          <p:nvPr/>
        </p:nvSpPr>
        <p:spPr bwMode="auto">
          <a:xfrm>
            <a:off x="5294948" y="4144328"/>
            <a:ext cx="79629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SimSun" pitchFamily="2" charset="-122"/>
              </a:rPr>
              <a:t>h or h-1</a:t>
            </a:r>
            <a:endParaRPr lang="en-US" altLang="zh-CN" sz="1400">
              <a:ea typeface="SimSun" pitchFamily="2" charset="-122"/>
            </a:endParaRPr>
          </a:p>
        </p:txBody>
      </p:sp>
      <p:sp>
        <p:nvSpPr>
          <p:cNvPr id="67608" name="Rectangle 25"/>
          <p:cNvSpPr>
            <a:spLocks noChangeArrowheads="1"/>
          </p:cNvSpPr>
          <p:nvPr/>
        </p:nvSpPr>
        <p:spPr bwMode="auto">
          <a:xfrm>
            <a:off x="3942715" y="1511300"/>
            <a:ext cx="4899025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solidFill>
                  <a:srgbClr val="FF0000"/>
                </a:solidFill>
                <a:ea typeface="SimSun" pitchFamily="2" charset="-122"/>
              </a:rPr>
              <a:t>Double rotation : first rotation</a:t>
            </a:r>
            <a:endParaRPr lang="en-US" altLang="zh-CN" sz="2800">
              <a:solidFill>
                <a:srgbClr val="FF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>
          <a:xfrm>
            <a:off x="899160" y="88265"/>
            <a:ext cx="10515600" cy="1398270"/>
          </a:xfrm>
        </p:spPr>
        <p:txBody>
          <a:bodyPr/>
          <a:lstStyle/>
          <a:p>
            <a:r>
              <a:rPr lang="en-US" altLang="zh-CN" sz="5400" dirty="0" smtClean="0">
                <a:solidFill>
                  <a:srgbClr val="FF0000"/>
                </a:solidFill>
                <a:ea typeface="SimSun" pitchFamily="2" charset="-122"/>
              </a:rPr>
              <a:t>Implementation</a:t>
            </a:r>
            <a:endParaRPr lang="en-US" altLang="zh-CN" sz="5400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70672" name="Text Box 13"/>
          <p:cNvSpPr txBox="1">
            <a:spLocks noChangeArrowheads="1"/>
          </p:cNvSpPr>
          <p:nvPr/>
        </p:nvSpPr>
        <p:spPr bwMode="auto">
          <a:xfrm>
            <a:off x="4035689" y="3445124"/>
            <a:ext cx="4243388" cy="1706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500" dirty="0">
                <a:ea typeface="SimSun" pitchFamily="2" charset="-122"/>
              </a:rPr>
              <a:t>No need to keep the height; just the difference in height, </a:t>
            </a:r>
            <a:r>
              <a:rPr lang="en-US" altLang="zh-CN" sz="1500" dirty="0" smtClean="0">
                <a:ea typeface="SimSun" pitchFamily="2" charset="-122"/>
              </a:rPr>
              <a:t>i.e</a:t>
            </a:r>
            <a:r>
              <a:rPr lang="en-US" altLang="zh-CN" sz="1500" dirty="0">
                <a:ea typeface="SimSun" pitchFamily="2" charset="-122"/>
              </a:rPr>
              <a:t>. the </a:t>
            </a:r>
            <a:r>
              <a:rPr lang="en-US" altLang="zh-CN" sz="1500" dirty="0">
                <a:solidFill>
                  <a:srgbClr val="0000FF"/>
                </a:solidFill>
                <a:ea typeface="SimSun" pitchFamily="2" charset="-122"/>
              </a:rPr>
              <a:t>balance factor</a:t>
            </a:r>
            <a:r>
              <a:rPr lang="en-US" altLang="zh-CN" sz="1500" dirty="0">
                <a:ea typeface="SimSun" pitchFamily="2" charset="-122"/>
              </a:rPr>
              <a:t>; </a:t>
            </a:r>
            <a:endParaRPr lang="en-US" altLang="zh-CN" sz="1500" dirty="0" smtClean="0">
              <a:ea typeface="SimSun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500" dirty="0" smtClean="0">
                <a:ea typeface="SimSun" pitchFamily="2" charset="-122"/>
              </a:rPr>
              <a:t>this </a:t>
            </a:r>
            <a:r>
              <a:rPr lang="en-US" altLang="zh-CN" sz="1500" dirty="0">
                <a:ea typeface="SimSun" pitchFamily="2" charset="-122"/>
              </a:rPr>
              <a:t>has to be modified on the path of insertion even if you don’t perform rotations</a:t>
            </a:r>
            <a:endParaRPr lang="en-US" altLang="zh-CN" sz="1500" dirty="0">
              <a:ea typeface="SimSun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500" dirty="0">
                <a:ea typeface="SimSun" pitchFamily="2" charset="-122"/>
              </a:rPr>
              <a:t>Once you have performed a rotation (single or double) you won’t need to go back up the tree</a:t>
            </a:r>
            <a:endParaRPr lang="en-US" altLang="zh-CN" sz="1500" dirty="0">
              <a:ea typeface="SimSun" pitchFamily="2" charset="-122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5609946" y="2515001"/>
            <a:ext cx="28575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itchFamily="2" charset="-122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5895696" y="2515001"/>
            <a:ext cx="28575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itchFamily="2" charset="-122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5609946" y="2229251"/>
            <a:ext cx="5715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itchFamily="2" charset="-122"/>
            </a:endParaRPr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 flipH="1">
            <a:off x="5438496" y="2686451"/>
            <a:ext cx="3429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6067146" y="2686451"/>
            <a:ext cx="3429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5609946" y="1943501"/>
            <a:ext cx="5715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itchFamily="2" charset="-122"/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6226690" y="1894685"/>
            <a:ext cx="208978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ea typeface="SimSun" pitchFamily="2" charset="-122"/>
              </a:rPr>
              <a:t>h</a:t>
            </a:r>
            <a:r>
              <a:rPr lang="en-US" altLang="zh-CN" sz="1500" dirty="0" smtClean="0">
                <a:ea typeface="SimSun" pitchFamily="2" charset="-122"/>
              </a:rPr>
              <a:t>eight/balance </a:t>
            </a:r>
            <a:r>
              <a:rPr lang="en-US" altLang="zh-CN" sz="1500" dirty="0">
                <a:ea typeface="SimSun" pitchFamily="2" charset="-122"/>
              </a:rPr>
              <a:t>(1,0,-1)</a:t>
            </a:r>
            <a:endParaRPr lang="en-US" altLang="zh-CN" sz="1500" dirty="0">
              <a:ea typeface="SimSun" pitchFamily="2" charset="-122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6226690" y="2180435"/>
            <a:ext cx="47942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key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6283840" y="2523335"/>
            <a:ext cx="55372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right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5095596" y="2515001"/>
            <a:ext cx="4368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left</a:t>
            </a:r>
            <a:endParaRPr lang="en-US" altLang="zh-CN" sz="15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719830" y="2065655"/>
            <a:ext cx="5975350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//Node declaration for AVL trees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err="1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{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Comparable element;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*left;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*right;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height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//keep the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height. You can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balance factor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Comparable &amp;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ele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*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lt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, </a:t>
            </a:r>
            <a:endParaRPr lang="en-US" altLang="zh-CN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dirty="0" err="1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h = 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0)</a:t>
            </a:r>
            <a:endParaRPr lang="en-US" altLang="zh-CN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: element{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ele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}, left{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lt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}, right{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}, height{ h } { }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…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};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4"/>
          <p:cNvSpPr>
            <a:spLocks noGrp="1"/>
          </p:cNvSpPr>
          <p:nvPr/>
        </p:nvSpPr>
        <p:spPr>
          <a:xfrm>
            <a:off x="838200" y="0"/>
            <a:ext cx="10515600" cy="15328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5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0" dirty="0"/>
              <a:t>Implementation</a:t>
            </a:r>
            <a:endParaRPr lang="en-US" altLang="zh-CN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89766" y="2024844"/>
            <a:ext cx="4806534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the height of node t or -1 if </a:t>
            </a:r>
            <a:r>
              <a:rPr lang="en-US" altLang="zh-CN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err="1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height(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*t ) </a:t>
            </a:r>
            <a:r>
              <a:rPr lang="en-US" altLang="zh-CN" dirty="0" err="1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{ </a:t>
            </a:r>
            <a:endParaRPr lang="en-US" altLang="zh-CN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return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t ==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? -1 : t-&gt;height;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}</a:t>
            </a:r>
            <a:endParaRPr lang="en-US" altLang="zh-CN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endParaRPr lang="en-US" altLang="zh-CN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4"/>
          <p:cNvSpPr>
            <a:spLocks noGrp="1"/>
          </p:cNvSpPr>
          <p:nvPr/>
        </p:nvSpPr>
        <p:spPr>
          <a:xfrm>
            <a:off x="838200" y="0"/>
            <a:ext cx="10515600" cy="15328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5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0" dirty="0"/>
              <a:t>Implementation</a:t>
            </a:r>
            <a:endParaRPr lang="en-US" altLang="zh-CN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itchFamily="2" charset="-122"/>
              </a:rPr>
              <a:t>Insertion in AVL Trees</a:t>
            </a:r>
            <a:endParaRPr lang="en-US" altLang="zh-CN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5425" y="1885315"/>
            <a:ext cx="8707120" cy="2314575"/>
          </a:xfrm>
        </p:spPr>
        <p:txBody>
          <a:bodyPr/>
          <a:lstStyle/>
          <a:p>
            <a:r>
              <a:rPr lang="en-US" altLang="zh-CN" sz="2800" dirty="0" smtClean="0">
                <a:ea typeface="SimSun" pitchFamily="2" charset="-122"/>
              </a:rPr>
              <a:t>Insert at the leaf (as for all BST)</a:t>
            </a:r>
            <a:endParaRPr lang="en-US" altLang="zh-CN" sz="2800" dirty="0" smtClean="0">
              <a:ea typeface="SimSun" pitchFamily="2" charset="-122"/>
            </a:endParaRPr>
          </a:p>
          <a:p>
            <a:pPr lvl="1"/>
            <a:r>
              <a:rPr lang="en-US" altLang="zh-CN" sz="2400" dirty="0" smtClean="0">
                <a:solidFill>
                  <a:srgbClr val="FF0000"/>
                </a:solidFill>
                <a:ea typeface="SimSun" pitchFamily="2" charset="-122"/>
              </a:rPr>
              <a:t>only nodes on the path from insertion point to root node have possibly changed in height</a:t>
            </a:r>
            <a:endParaRPr lang="en-US" altLang="zh-CN" sz="2400" dirty="0" smtClean="0">
              <a:solidFill>
                <a:srgbClr val="FF0000"/>
              </a:solidFill>
              <a:ea typeface="SimSun" pitchFamily="2" charset="-122"/>
            </a:endParaRPr>
          </a:p>
          <a:p>
            <a:pPr lvl="1"/>
            <a:r>
              <a:rPr lang="en-US" altLang="zh-CN" sz="2400" dirty="0" smtClean="0">
                <a:ea typeface="SimSun" pitchFamily="2" charset="-122"/>
              </a:rPr>
              <a:t>So after the Insert, </a:t>
            </a:r>
            <a:r>
              <a:rPr lang="en-US" altLang="zh-CN" sz="2400" dirty="0" smtClean="0">
                <a:solidFill>
                  <a:srgbClr val="0000FF"/>
                </a:solidFill>
                <a:ea typeface="SimSun" pitchFamily="2" charset="-122"/>
              </a:rPr>
              <a:t>go back up </a:t>
            </a:r>
            <a:r>
              <a:rPr lang="en-US" altLang="zh-CN" sz="2400" dirty="0" smtClean="0">
                <a:ea typeface="SimSun" pitchFamily="2" charset="-122"/>
              </a:rPr>
              <a:t>to the root node by node, updating heights</a:t>
            </a:r>
            <a:endParaRPr lang="en-US" altLang="zh-CN" sz="2400" dirty="0" smtClean="0">
              <a:ea typeface="SimSun" pitchFamily="2" charset="-122"/>
            </a:endParaRPr>
          </a:p>
          <a:p>
            <a:pPr lvl="1"/>
            <a:r>
              <a:rPr lang="en-US" altLang="zh-CN" sz="2400" dirty="0" smtClean="0">
                <a:ea typeface="SimSun" pitchFamily="2" charset="-122"/>
              </a:rPr>
              <a:t>If a new balance factor (the difference </a:t>
            </a:r>
            <a:r>
              <a:rPr lang="en-US" altLang="zh-CN" sz="2400" dirty="0" err="1" smtClean="0">
                <a:ea typeface="SimSun" pitchFamily="2" charset="-122"/>
              </a:rPr>
              <a:t>h</a:t>
            </a:r>
            <a:r>
              <a:rPr lang="en-US" altLang="zh-CN" sz="2400" baseline="-25000" dirty="0" err="1" smtClean="0">
                <a:ea typeface="SimSun" pitchFamily="2" charset="-122"/>
              </a:rPr>
              <a:t>left</a:t>
            </a:r>
            <a:r>
              <a:rPr lang="en-US" altLang="zh-CN" sz="2400" dirty="0" err="1" smtClean="0">
                <a:ea typeface="SimSun" pitchFamily="2" charset="-122"/>
              </a:rPr>
              <a:t>-h</a:t>
            </a:r>
            <a:r>
              <a:rPr lang="en-US" altLang="zh-CN" sz="2400" baseline="-25000" dirty="0" err="1" smtClean="0">
                <a:ea typeface="SimSun" pitchFamily="2" charset="-122"/>
              </a:rPr>
              <a:t>right</a:t>
            </a:r>
            <a:r>
              <a:rPr lang="en-US" altLang="zh-CN" sz="2400" dirty="0" smtClean="0">
                <a:ea typeface="SimSun" pitchFamily="2" charset="-122"/>
              </a:rPr>
              <a:t>) is 2 or –2, adjust tree by </a:t>
            </a:r>
            <a:r>
              <a:rPr lang="en-US" altLang="zh-CN" sz="2400" dirty="0">
                <a:solidFill>
                  <a:srgbClr val="0000FF"/>
                </a:solidFill>
                <a:ea typeface="SimSun" pitchFamily="2" charset="-122"/>
              </a:rPr>
              <a:t>rotation</a:t>
            </a:r>
            <a:r>
              <a:rPr lang="en-US" altLang="zh-CN" sz="2400" dirty="0" smtClean="0">
                <a:ea typeface="SimSun" pitchFamily="2" charset="-122"/>
              </a:rPr>
              <a:t> around the node</a:t>
            </a:r>
            <a:endParaRPr lang="en-US" altLang="zh-CN" sz="2400" dirty="0" smtClean="0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63545" y="1756208"/>
            <a:ext cx="4265228" cy="479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Internal method to insert into a subtree.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x is the item to insert.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t is the node that roots the subtree.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Set the new root of the subtree.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void insert(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Comparable &amp; x,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* &amp; t ){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if( t ==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)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t = new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{ x,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};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else if( x &lt; t-&gt;element )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insert( x, t-&gt;left );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else if( t-&gt;element &lt; x )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insert( x, t-&gt;right );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balance( t );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标题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2890"/>
          </a:xfrm>
        </p:spPr>
        <p:txBody>
          <a:bodyPr/>
          <a:lstStyle/>
          <a:p>
            <a:r>
              <a:rPr lang="en-US" altLang="zh-CN" sz="5400" dirty="0"/>
              <a:t>Implementation</a:t>
            </a:r>
            <a:endParaRPr lang="en-US" altLang="zh-CN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184525" y="1713865"/>
            <a:ext cx="6298565" cy="479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Assume t is balanced or within one of being balanced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void balance(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* &amp; t ){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if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 t == </a:t>
            </a:r>
            <a:r>
              <a:rPr lang="en-US" altLang="zh-CN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) 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return;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if( 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height(t-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left)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height(t-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right)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dirty="0" smtClean="0">
                <a:solidFill>
                  <a:srgbClr val="B545B5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IMBALANCE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if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 height( t-&gt;left-&gt;left ) &gt;= height( t-&gt;left-&gt;right ) )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rotateWithLeftChild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 t );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else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doubleWithLeftChild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 t );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else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if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 height( t-&gt;right ) - height( t-&gt;left ) &gt; </a:t>
            </a:r>
            <a:r>
              <a:rPr lang="en-US" altLang="zh-CN" dirty="0" smtClean="0">
                <a:solidFill>
                  <a:srgbClr val="B545B5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IMBALANCE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if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 height( t-&gt;right-&gt;right ) &gt;= height( t-&gt;right-&gt;left ) )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rotateWithRightChild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 t );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else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doubleWithRightChild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 t 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);</a:t>
            </a:r>
            <a:endParaRPr lang="en-US" altLang="zh-CN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t-&gt;height = max( height( t-&gt;left ), height( t-&gt;right ) ) + 1;</a:t>
            </a:r>
            <a:endParaRPr lang="en-US" altLang="zh-CN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}</a:t>
            </a:r>
            <a:endParaRPr lang="en-US" altLang="zh-CN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4"/>
          <p:cNvSpPr>
            <a:spLocks noGrp="1"/>
          </p:cNvSpPr>
          <p:nvPr/>
        </p:nvSpPr>
        <p:spPr>
          <a:xfrm>
            <a:off x="838200" y="0"/>
            <a:ext cx="10515600" cy="15328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5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0" dirty="0"/>
              <a:t>Implementation</a:t>
            </a:r>
            <a:endParaRPr lang="en-US" altLang="zh-CN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622175" y="1592796"/>
            <a:ext cx="5056026" cy="3553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  <a:endParaRPr lang="en-US" altLang="zh-CN" sz="15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15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Rotate binary tree node with left child.</a:t>
            </a:r>
            <a:endParaRPr lang="en-US" altLang="zh-CN" sz="15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15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AVL trees, this is a single rotation for case 1.</a:t>
            </a:r>
            <a:endParaRPr lang="en-US" altLang="zh-CN" sz="15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15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heights, then set new root.</a:t>
            </a:r>
            <a:endParaRPr lang="en-US" altLang="zh-CN" sz="15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altLang="zh-CN" sz="15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1500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rotateWithLeftChild</a:t>
            </a:r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1500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* &amp; k2 )</a:t>
            </a:r>
            <a:endParaRPr lang="en-US" altLang="zh-CN" sz="15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{</a:t>
            </a:r>
            <a:endParaRPr lang="en-US" altLang="zh-CN" sz="15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500" dirty="0" err="1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*k1 = k2-&gt;left;</a:t>
            </a:r>
            <a:endParaRPr lang="en-US" altLang="zh-CN" sz="15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k2-</a:t>
            </a:r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&gt;left = k1-&gt;right;</a:t>
            </a:r>
            <a:endParaRPr lang="en-US" altLang="zh-CN" sz="15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k1-</a:t>
            </a:r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&gt;right = k2;</a:t>
            </a:r>
            <a:endParaRPr lang="en-US" altLang="zh-CN" sz="15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k2-</a:t>
            </a:r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&gt;height = max( height( k2-&gt;left ), height( k2-&gt;right ) ) + 1;</a:t>
            </a:r>
            <a:endParaRPr lang="en-US" altLang="zh-CN" sz="15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k1-</a:t>
            </a:r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&gt;height = max( height( k1-&gt;left ), k2-&gt;height ) + 1;</a:t>
            </a:r>
            <a:endParaRPr lang="en-US" altLang="zh-CN" sz="15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 smtClean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   k2 </a:t>
            </a:r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= k1;</a:t>
            </a:r>
            <a:endParaRPr lang="en-US" altLang="zh-CN" sz="15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}</a:t>
            </a:r>
            <a:endParaRPr lang="zh-CN" altLang="en-US" sz="15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7074044" y="5065150"/>
            <a:ext cx="171450" cy="1714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6634349" y="5508576"/>
            <a:ext cx="171450" cy="1714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7418490" y="5508576"/>
            <a:ext cx="257175" cy="3857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125" dirty="0">
                <a:ea typeface="SimSun" pitchFamily="2" charset="-122"/>
              </a:rPr>
              <a:t>X</a:t>
            </a:r>
            <a:endParaRPr lang="en-US" altLang="zh-CN" sz="1125" dirty="0">
              <a:ea typeface="SimSun" pitchFamily="2" charset="-122"/>
            </a:endParaRP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6377174" y="5894339"/>
            <a:ext cx="257175" cy="3857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125">
                <a:ea typeface="SimSun" pitchFamily="2" charset="-122"/>
              </a:rPr>
              <a:t>Y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6848661" y="5894339"/>
            <a:ext cx="257175" cy="3857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125">
                <a:ea typeface="SimSun" pitchFamily="2" charset="-122"/>
              </a:rPr>
              <a:t>Z</a:t>
            </a:r>
            <a:endParaRPr lang="en-US" altLang="zh-CN" sz="1125">
              <a:ea typeface="SimSun" pitchFamily="2" charset="-122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H="1">
            <a:off x="6805799" y="5212723"/>
            <a:ext cx="256790" cy="2884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7247040" y="5191550"/>
            <a:ext cx="300038" cy="300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 flipH="1">
            <a:off x="6505761" y="5637164"/>
            <a:ext cx="128588" cy="257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6805799" y="5637164"/>
            <a:ext cx="171450" cy="257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6805799" y="4893699"/>
            <a:ext cx="171450" cy="1528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6557475" y="4643924"/>
            <a:ext cx="334645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25" dirty="0" smtClean="0">
                <a:ea typeface="SimSun" pitchFamily="2" charset="-122"/>
              </a:rPr>
              <a:t>k2</a:t>
            </a:r>
            <a:endParaRPr lang="en-US" altLang="zh-CN" sz="1125" dirty="0">
              <a:ea typeface="SimSun" pitchFamily="2" charset="-122"/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 flipH="1">
            <a:off x="5741488" y="6087220"/>
            <a:ext cx="4428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5627080" y="5823415"/>
            <a:ext cx="514350" cy="438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125" dirty="0">
                <a:ea typeface="SimSun" pitchFamily="2" charset="-122"/>
              </a:rPr>
              <a:t>Insert</a:t>
            </a:r>
            <a:endParaRPr lang="en-US" altLang="zh-CN" sz="1125" dirty="0">
              <a:ea typeface="SimSun" pitchFamily="2" charset="-122"/>
            </a:endParaRPr>
          </a:p>
        </p:txBody>
      </p:sp>
      <p:sp>
        <p:nvSpPr>
          <p:cNvPr id="21" name="标题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2890"/>
          </a:xfrm>
        </p:spPr>
        <p:txBody>
          <a:bodyPr/>
          <a:p>
            <a:r>
              <a:rPr lang="en-US" altLang="zh-CN" sz="5400" dirty="0"/>
              <a:t>Implementation</a:t>
            </a:r>
            <a:endParaRPr lang="en-US" altLang="zh-CN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2890"/>
          </a:xfrm>
        </p:spPr>
        <p:txBody>
          <a:bodyPr/>
          <a:lstStyle/>
          <a:p>
            <a:r>
              <a:rPr lang="en-US" altLang="zh-CN" sz="5400" dirty="0"/>
              <a:t>Implementation</a:t>
            </a:r>
            <a:endParaRPr lang="en-US" altLang="zh-CN" sz="5400" dirty="0"/>
          </a:p>
        </p:txBody>
      </p:sp>
      <p:sp>
        <p:nvSpPr>
          <p:cNvPr id="6" name="矩形 5"/>
          <p:cNvSpPr/>
          <p:nvPr/>
        </p:nvSpPr>
        <p:spPr>
          <a:xfrm>
            <a:off x="3870241" y="1916832"/>
            <a:ext cx="5056026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  <a:endParaRPr lang="en-US" altLang="zh-CN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Double rotate binary tree node: first left child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its right child; then node k3 with new left child.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For AVL trees, this is a double rotation for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Update heights, then set new root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  <a:endParaRPr lang="en-US" altLang="zh-CN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doubleWithLeftChild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AvlNode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&amp; k3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rotateWithRightChild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k3-&gt;left );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rotateWithLeftChild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k3 );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 of Insertions in an AVL Tree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6806" name="Text Box 3"/>
          <p:cNvSpPr txBox="1">
            <a:spLocks noChangeArrowheads="1"/>
          </p:cNvSpPr>
          <p:nvPr/>
        </p:nvSpPr>
        <p:spPr bwMode="auto">
          <a:xfrm>
            <a:off x="5538788" y="2901750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6807" name="Text Box 4"/>
          <p:cNvSpPr txBox="1">
            <a:spLocks noChangeArrowheads="1"/>
          </p:cNvSpPr>
          <p:nvPr/>
        </p:nvSpPr>
        <p:spPr bwMode="auto">
          <a:xfrm>
            <a:off x="5153025" y="3290936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6808" name="Text Box 5"/>
          <p:cNvSpPr txBox="1">
            <a:spLocks noChangeArrowheads="1"/>
          </p:cNvSpPr>
          <p:nvPr/>
        </p:nvSpPr>
        <p:spPr bwMode="auto">
          <a:xfrm>
            <a:off x="5020865" y="2577714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6809" name="Oval 6"/>
          <p:cNvSpPr>
            <a:spLocks noChangeArrowheads="1"/>
          </p:cNvSpPr>
          <p:nvPr/>
        </p:nvSpPr>
        <p:spPr bwMode="auto">
          <a:xfrm>
            <a:off x="4990465" y="2899093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6810" name="Oval 7"/>
          <p:cNvSpPr>
            <a:spLocks noChangeArrowheads="1"/>
          </p:cNvSpPr>
          <p:nvPr/>
        </p:nvSpPr>
        <p:spPr bwMode="auto">
          <a:xfrm>
            <a:off x="4381500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6811" name="Oval 8"/>
          <p:cNvSpPr>
            <a:spLocks noChangeArrowheads="1"/>
          </p:cNvSpPr>
          <p:nvPr/>
        </p:nvSpPr>
        <p:spPr bwMode="auto">
          <a:xfrm>
            <a:off x="549592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6812" name="Oval 9"/>
          <p:cNvSpPr>
            <a:spLocks noChangeArrowheads="1"/>
          </p:cNvSpPr>
          <p:nvPr/>
        </p:nvSpPr>
        <p:spPr bwMode="auto">
          <a:xfrm>
            <a:off x="5153025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76813" name="AutoShape 10"/>
          <p:cNvCxnSpPr>
            <a:cxnSpLocks noChangeShapeType="1"/>
            <a:stCxn id="76809" idx="3"/>
            <a:endCxn id="76810" idx="7"/>
          </p:cNvCxnSpPr>
          <p:nvPr/>
        </p:nvCxnSpPr>
        <p:spPr bwMode="auto">
          <a:xfrm flipH="1">
            <a:off x="4601251" y="3119398"/>
            <a:ext cx="426720" cy="133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4" name="AutoShape 11"/>
          <p:cNvCxnSpPr>
            <a:cxnSpLocks noChangeShapeType="1"/>
            <a:stCxn id="76809" idx="5"/>
            <a:endCxn id="76811" idx="1"/>
          </p:cNvCxnSpPr>
          <p:nvPr/>
        </p:nvCxnSpPr>
        <p:spPr bwMode="auto">
          <a:xfrm>
            <a:off x="5210136" y="3119398"/>
            <a:ext cx="323215" cy="133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5" name="AutoShape 12"/>
          <p:cNvCxnSpPr>
            <a:cxnSpLocks noChangeShapeType="1"/>
            <a:stCxn id="76811" idx="3"/>
            <a:endCxn id="76812" idx="0"/>
          </p:cNvCxnSpPr>
          <p:nvPr/>
        </p:nvCxnSpPr>
        <p:spPr bwMode="auto">
          <a:xfrm flipH="1">
            <a:off x="5281613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816" name="Text Box 13"/>
          <p:cNvSpPr txBox="1">
            <a:spLocks noChangeArrowheads="1"/>
          </p:cNvSpPr>
          <p:nvPr/>
        </p:nvSpPr>
        <p:spPr bwMode="auto">
          <a:xfrm>
            <a:off x="4420790" y="2901750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6817" name="Oval 14"/>
          <p:cNvSpPr>
            <a:spLocks noChangeArrowheads="1"/>
          </p:cNvSpPr>
          <p:nvPr/>
        </p:nvSpPr>
        <p:spPr bwMode="auto">
          <a:xfrm>
            <a:off x="5753100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6818" name="Line 15"/>
          <p:cNvSpPr>
            <a:spLocks noChangeShapeType="1"/>
          </p:cNvSpPr>
          <p:nvPr/>
        </p:nvSpPr>
        <p:spPr bwMode="auto">
          <a:xfrm>
            <a:off x="5710238" y="3429000"/>
            <a:ext cx="128588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6819" name="Text Box 16"/>
          <p:cNvSpPr txBox="1">
            <a:spLocks noChangeArrowheads="1"/>
          </p:cNvSpPr>
          <p:nvPr/>
        </p:nvSpPr>
        <p:spPr bwMode="auto">
          <a:xfrm>
            <a:off x="5838825" y="3290936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6820" name="Text Box 17"/>
          <p:cNvSpPr txBox="1">
            <a:spLocks noChangeArrowheads="1"/>
          </p:cNvSpPr>
          <p:nvPr/>
        </p:nvSpPr>
        <p:spPr bwMode="auto">
          <a:xfrm>
            <a:off x="6224588" y="2957513"/>
            <a:ext cx="149159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ea typeface="SimSun" pitchFamily="2" charset="-122"/>
              </a:rPr>
              <a:t>Insert 5, 40</a:t>
            </a:r>
            <a:endParaRPr lang="en-US" altLang="zh-CN" sz="1800" dirty="0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 of Insertions in an AVL Tree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7830" name="Text Box 3"/>
          <p:cNvSpPr txBox="1">
            <a:spLocks noChangeArrowheads="1"/>
          </p:cNvSpPr>
          <p:nvPr/>
        </p:nvSpPr>
        <p:spPr bwMode="auto">
          <a:xfrm>
            <a:off x="5538788" y="2961810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31" name="Text Box 4"/>
          <p:cNvSpPr txBox="1">
            <a:spLocks noChangeArrowheads="1"/>
          </p:cNvSpPr>
          <p:nvPr/>
        </p:nvSpPr>
        <p:spPr bwMode="auto">
          <a:xfrm>
            <a:off x="5153025" y="3304710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32" name="Text Box 5"/>
          <p:cNvSpPr txBox="1">
            <a:spLocks noChangeArrowheads="1"/>
          </p:cNvSpPr>
          <p:nvPr/>
        </p:nvSpPr>
        <p:spPr bwMode="auto">
          <a:xfrm>
            <a:off x="5020865" y="2618910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33" name="Oval 6"/>
          <p:cNvSpPr>
            <a:spLocks noChangeArrowheads="1"/>
          </p:cNvSpPr>
          <p:nvPr/>
        </p:nvSpPr>
        <p:spPr bwMode="auto">
          <a:xfrm>
            <a:off x="4981575" y="28717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34" name="Oval 7"/>
          <p:cNvSpPr>
            <a:spLocks noChangeArrowheads="1"/>
          </p:cNvSpPr>
          <p:nvPr/>
        </p:nvSpPr>
        <p:spPr bwMode="auto">
          <a:xfrm>
            <a:off x="4381500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35" name="Oval 8"/>
          <p:cNvSpPr>
            <a:spLocks noChangeArrowheads="1"/>
          </p:cNvSpPr>
          <p:nvPr/>
        </p:nvSpPr>
        <p:spPr bwMode="auto">
          <a:xfrm>
            <a:off x="549592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36" name="Oval 9"/>
          <p:cNvSpPr>
            <a:spLocks noChangeArrowheads="1"/>
          </p:cNvSpPr>
          <p:nvPr/>
        </p:nvSpPr>
        <p:spPr bwMode="auto">
          <a:xfrm>
            <a:off x="5153025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77837" name="AutoShape 10"/>
          <p:cNvCxnSpPr>
            <a:cxnSpLocks noChangeShapeType="1"/>
            <a:stCxn id="77833" idx="3"/>
            <a:endCxn id="77834" idx="7"/>
          </p:cNvCxnSpPr>
          <p:nvPr/>
        </p:nvCxnSpPr>
        <p:spPr bwMode="auto">
          <a:xfrm flipH="1">
            <a:off x="4601171" y="3091458"/>
            <a:ext cx="417910" cy="16073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38" name="AutoShape 11"/>
          <p:cNvCxnSpPr>
            <a:cxnSpLocks noChangeShapeType="1"/>
            <a:stCxn id="77833" idx="5"/>
            <a:endCxn id="77835" idx="1"/>
          </p:cNvCxnSpPr>
          <p:nvPr/>
        </p:nvCxnSpPr>
        <p:spPr bwMode="auto">
          <a:xfrm>
            <a:off x="5201246" y="3091458"/>
            <a:ext cx="332185" cy="1607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39" name="AutoShape 12"/>
          <p:cNvCxnSpPr>
            <a:cxnSpLocks noChangeShapeType="1"/>
            <a:stCxn id="77835" idx="3"/>
            <a:endCxn id="77836" idx="0"/>
          </p:cNvCxnSpPr>
          <p:nvPr/>
        </p:nvCxnSpPr>
        <p:spPr bwMode="auto">
          <a:xfrm flipH="1">
            <a:off x="5281613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840" name="Text Box 13"/>
          <p:cNvSpPr txBox="1">
            <a:spLocks noChangeArrowheads="1"/>
          </p:cNvSpPr>
          <p:nvPr/>
        </p:nvSpPr>
        <p:spPr bwMode="auto">
          <a:xfrm>
            <a:off x="4420790" y="2961810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41" name="Oval 14"/>
          <p:cNvSpPr>
            <a:spLocks noChangeArrowheads="1"/>
          </p:cNvSpPr>
          <p:nvPr/>
        </p:nvSpPr>
        <p:spPr bwMode="auto">
          <a:xfrm>
            <a:off x="5753100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42" name="Line 15"/>
          <p:cNvSpPr>
            <a:spLocks noChangeShapeType="1"/>
          </p:cNvSpPr>
          <p:nvPr/>
        </p:nvSpPr>
        <p:spPr bwMode="auto">
          <a:xfrm>
            <a:off x="5710238" y="3429000"/>
            <a:ext cx="128588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43" name="Text Box 16"/>
          <p:cNvSpPr txBox="1">
            <a:spLocks noChangeArrowheads="1"/>
          </p:cNvSpPr>
          <p:nvPr/>
        </p:nvSpPr>
        <p:spPr bwMode="auto">
          <a:xfrm>
            <a:off x="5838825" y="3304710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44" name="Oval 17"/>
          <p:cNvSpPr>
            <a:spLocks noChangeArrowheads="1"/>
          </p:cNvSpPr>
          <p:nvPr/>
        </p:nvSpPr>
        <p:spPr bwMode="auto">
          <a:xfrm>
            <a:off x="4081463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45" name="Line 18"/>
          <p:cNvSpPr>
            <a:spLocks noChangeShapeType="1"/>
          </p:cNvSpPr>
          <p:nvPr/>
        </p:nvSpPr>
        <p:spPr bwMode="auto">
          <a:xfrm flipH="1">
            <a:off x="4252913" y="3471863"/>
            <a:ext cx="171450" cy="128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46" name="Text Box 19"/>
          <p:cNvSpPr txBox="1">
            <a:spLocks noChangeArrowheads="1"/>
          </p:cNvSpPr>
          <p:nvPr/>
        </p:nvSpPr>
        <p:spPr bwMode="auto">
          <a:xfrm>
            <a:off x="4081463" y="3347572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47" name="Oval 20"/>
          <p:cNvSpPr>
            <a:spLocks noChangeArrowheads="1"/>
          </p:cNvSpPr>
          <p:nvPr/>
        </p:nvSpPr>
        <p:spPr bwMode="auto">
          <a:xfrm>
            <a:off x="7124700" y="29146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48" name="Oval 21"/>
          <p:cNvSpPr>
            <a:spLocks noChangeArrowheads="1"/>
          </p:cNvSpPr>
          <p:nvPr/>
        </p:nvSpPr>
        <p:spPr bwMode="auto">
          <a:xfrm>
            <a:off x="6610350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49" name="Oval 22"/>
          <p:cNvSpPr>
            <a:spLocks noChangeArrowheads="1"/>
          </p:cNvSpPr>
          <p:nvPr/>
        </p:nvSpPr>
        <p:spPr bwMode="auto">
          <a:xfrm>
            <a:off x="772477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50" name="Oval 23"/>
          <p:cNvSpPr>
            <a:spLocks noChangeArrowheads="1"/>
          </p:cNvSpPr>
          <p:nvPr/>
        </p:nvSpPr>
        <p:spPr bwMode="auto">
          <a:xfrm>
            <a:off x="7381875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77851" name="AutoShape 24"/>
          <p:cNvCxnSpPr>
            <a:cxnSpLocks noChangeShapeType="1"/>
            <a:stCxn id="77847" idx="3"/>
            <a:endCxn id="77848" idx="7"/>
          </p:cNvCxnSpPr>
          <p:nvPr/>
        </p:nvCxnSpPr>
        <p:spPr bwMode="auto">
          <a:xfrm flipH="1">
            <a:off x="6830021" y="3134321"/>
            <a:ext cx="332185" cy="11787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52" name="AutoShape 25"/>
          <p:cNvCxnSpPr>
            <a:cxnSpLocks noChangeShapeType="1"/>
          </p:cNvCxnSpPr>
          <p:nvPr/>
        </p:nvCxnSpPr>
        <p:spPr bwMode="auto">
          <a:xfrm>
            <a:off x="7344371" y="3134321"/>
            <a:ext cx="417910" cy="117872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53" name="AutoShape 26"/>
          <p:cNvCxnSpPr>
            <a:cxnSpLocks noChangeShapeType="1"/>
            <a:stCxn id="77849" idx="3"/>
            <a:endCxn id="77850" idx="0"/>
          </p:cNvCxnSpPr>
          <p:nvPr/>
        </p:nvCxnSpPr>
        <p:spPr bwMode="auto">
          <a:xfrm flipH="1">
            <a:off x="7510463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854" name="Text Box 27"/>
          <p:cNvSpPr txBox="1">
            <a:spLocks noChangeArrowheads="1"/>
          </p:cNvSpPr>
          <p:nvPr/>
        </p:nvSpPr>
        <p:spPr bwMode="auto">
          <a:xfrm>
            <a:off x="6610350" y="2930091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55" name="Oval 28"/>
          <p:cNvSpPr>
            <a:spLocks noChangeArrowheads="1"/>
          </p:cNvSpPr>
          <p:nvPr/>
        </p:nvSpPr>
        <p:spPr bwMode="auto">
          <a:xfrm>
            <a:off x="7981950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56" name="Line 29"/>
          <p:cNvSpPr>
            <a:spLocks noChangeShapeType="1"/>
          </p:cNvSpPr>
          <p:nvPr/>
        </p:nvSpPr>
        <p:spPr bwMode="auto">
          <a:xfrm>
            <a:off x="7939088" y="3429000"/>
            <a:ext cx="128588" cy="2143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57" name="Oval 30"/>
          <p:cNvSpPr>
            <a:spLocks noChangeArrowheads="1"/>
          </p:cNvSpPr>
          <p:nvPr/>
        </p:nvSpPr>
        <p:spPr bwMode="auto">
          <a:xfrm>
            <a:off x="6310313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58" name="Line 31"/>
          <p:cNvSpPr>
            <a:spLocks noChangeShapeType="1"/>
          </p:cNvSpPr>
          <p:nvPr/>
        </p:nvSpPr>
        <p:spPr bwMode="auto">
          <a:xfrm flipH="1">
            <a:off x="6481763" y="3471863"/>
            <a:ext cx="171450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59" name="Oval 32"/>
          <p:cNvSpPr>
            <a:spLocks noChangeArrowheads="1"/>
          </p:cNvSpPr>
          <p:nvPr/>
        </p:nvSpPr>
        <p:spPr bwMode="auto">
          <a:xfrm>
            <a:off x="8153400" y="4029075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60" name="Line 33"/>
          <p:cNvSpPr>
            <a:spLocks noChangeShapeType="1"/>
          </p:cNvSpPr>
          <p:nvPr/>
        </p:nvSpPr>
        <p:spPr bwMode="auto">
          <a:xfrm>
            <a:off x="8196263" y="3814763"/>
            <a:ext cx="85725" cy="2143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61" name="Text Box 34"/>
          <p:cNvSpPr txBox="1">
            <a:spLocks noChangeArrowheads="1"/>
          </p:cNvSpPr>
          <p:nvPr/>
        </p:nvSpPr>
        <p:spPr bwMode="auto">
          <a:xfrm>
            <a:off x="6267450" y="3358716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62" name="Text Box 35"/>
          <p:cNvSpPr txBox="1">
            <a:spLocks noChangeArrowheads="1"/>
          </p:cNvSpPr>
          <p:nvPr/>
        </p:nvSpPr>
        <p:spPr bwMode="auto">
          <a:xfrm>
            <a:off x="8281988" y="3744478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63" name="Text Box 36"/>
          <p:cNvSpPr txBox="1">
            <a:spLocks noChangeArrowheads="1"/>
          </p:cNvSpPr>
          <p:nvPr/>
        </p:nvSpPr>
        <p:spPr bwMode="auto">
          <a:xfrm>
            <a:off x="7296150" y="3320988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64" name="Text Box 37"/>
          <p:cNvSpPr txBox="1">
            <a:spLocks noChangeArrowheads="1"/>
          </p:cNvSpPr>
          <p:nvPr/>
        </p:nvSpPr>
        <p:spPr bwMode="auto">
          <a:xfrm>
            <a:off x="8239125" y="3315853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65" name="Text Box 38"/>
          <p:cNvSpPr txBox="1">
            <a:spLocks noChangeArrowheads="1"/>
          </p:cNvSpPr>
          <p:nvPr/>
        </p:nvSpPr>
        <p:spPr bwMode="auto">
          <a:xfrm>
            <a:off x="7939088" y="2930091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66" name="Text Box 39"/>
          <p:cNvSpPr txBox="1">
            <a:spLocks noChangeArrowheads="1"/>
          </p:cNvSpPr>
          <p:nvPr/>
        </p:nvSpPr>
        <p:spPr bwMode="auto">
          <a:xfrm>
            <a:off x="7339013" y="2672916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7867" name="Text Box 40"/>
          <p:cNvSpPr txBox="1">
            <a:spLocks noChangeArrowheads="1"/>
          </p:cNvSpPr>
          <p:nvPr/>
        </p:nvSpPr>
        <p:spPr bwMode="auto">
          <a:xfrm>
            <a:off x="6310313" y="4157663"/>
            <a:ext cx="132873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500" dirty="0">
                <a:ea typeface="SimSun" pitchFamily="2" charset="-122"/>
              </a:rPr>
              <a:t>Now Insert 45</a:t>
            </a:r>
            <a:endParaRPr lang="en-US" altLang="zh-CN" sz="1500" dirty="0">
              <a:ea typeface="SimSun" pitchFamily="2" charset="-122"/>
            </a:endParaRPr>
          </a:p>
        </p:txBody>
      </p:sp>
      <p:sp>
        <p:nvSpPr>
          <p:cNvPr id="77868" name="Line 41"/>
          <p:cNvSpPr>
            <a:spLocks noChangeShapeType="1"/>
          </p:cNvSpPr>
          <p:nvPr/>
        </p:nvSpPr>
        <p:spPr bwMode="auto">
          <a:xfrm>
            <a:off x="6096000" y="2700338"/>
            <a:ext cx="0" cy="2014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7869" name="Line 42"/>
          <p:cNvSpPr>
            <a:spLocks noChangeShapeType="1"/>
          </p:cNvSpPr>
          <p:nvPr/>
        </p:nvSpPr>
        <p:spPr bwMode="auto">
          <a:xfrm>
            <a:off x="7339013" y="4457700"/>
            <a:ext cx="9858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67" grpId="0" bldLvl="0" animBg="1"/>
      <p:bldP spid="77869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itchFamily="2" charset="-122"/>
              </a:rPr>
              <a:t>Single rotation (outside case)</a:t>
            </a:r>
            <a:endParaRPr lang="en-US" altLang="zh-CN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78854" name="Text Box 3"/>
          <p:cNvSpPr txBox="1">
            <a:spLocks noChangeArrowheads="1"/>
          </p:cNvSpPr>
          <p:nvPr/>
        </p:nvSpPr>
        <p:spPr bwMode="auto">
          <a:xfrm>
            <a:off x="5501097" y="2907804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55" name="Text Box 4"/>
          <p:cNvSpPr txBox="1">
            <a:spLocks noChangeArrowheads="1"/>
          </p:cNvSpPr>
          <p:nvPr/>
        </p:nvSpPr>
        <p:spPr bwMode="auto">
          <a:xfrm>
            <a:off x="5115335" y="3250704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56" name="Text Box 5"/>
          <p:cNvSpPr txBox="1">
            <a:spLocks noChangeArrowheads="1"/>
          </p:cNvSpPr>
          <p:nvPr/>
        </p:nvSpPr>
        <p:spPr bwMode="auto">
          <a:xfrm>
            <a:off x="4983175" y="2564904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57" name="Oval 6"/>
          <p:cNvSpPr>
            <a:spLocks noChangeArrowheads="1"/>
          </p:cNvSpPr>
          <p:nvPr/>
        </p:nvSpPr>
        <p:spPr bwMode="auto">
          <a:xfrm>
            <a:off x="4981575" y="28717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58" name="Oval 7"/>
          <p:cNvSpPr>
            <a:spLocks noChangeArrowheads="1"/>
          </p:cNvSpPr>
          <p:nvPr/>
        </p:nvSpPr>
        <p:spPr bwMode="auto">
          <a:xfrm>
            <a:off x="4381500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59" name="Oval 8"/>
          <p:cNvSpPr>
            <a:spLocks noChangeArrowheads="1"/>
          </p:cNvSpPr>
          <p:nvPr/>
        </p:nvSpPr>
        <p:spPr bwMode="auto">
          <a:xfrm>
            <a:off x="549592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60" name="Oval 9"/>
          <p:cNvSpPr>
            <a:spLocks noChangeArrowheads="1"/>
          </p:cNvSpPr>
          <p:nvPr/>
        </p:nvSpPr>
        <p:spPr bwMode="auto">
          <a:xfrm>
            <a:off x="5153025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78861" name="AutoShape 10"/>
          <p:cNvCxnSpPr>
            <a:cxnSpLocks noChangeShapeType="1"/>
            <a:stCxn id="78857" idx="3"/>
            <a:endCxn id="78858" idx="7"/>
          </p:cNvCxnSpPr>
          <p:nvPr/>
        </p:nvCxnSpPr>
        <p:spPr bwMode="auto">
          <a:xfrm flipH="1">
            <a:off x="4601171" y="3091458"/>
            <a:ext cx="417910" cy="1607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2" name="AutoShape 11"/>
          <p:cNvCxnSpPr>
            <a:cxnSpLocks noChangeShapeType="1"/>
            <a:stCxn id="78857" idx="5"/>
            <a:endCxn id="78859" idx="1"/>
          </p:cNvCxnSpPr>
          <p:nvPr/>
        </p:nvCxnSpPr>
        <p:spPr bwMode="auto">
          <a:xfrm>
            <a:off x="5201246" y="3091458"/>
            <a:ext cx="332185" cy="16073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3" name="AutoShape 12"/>
          <p:cNvCxnSpPr>
            <a:cxnSpLocks noChangeShapeType="1"/>
            <a:stCxn id="78859" idx="3"/>
            <a:endCxn id="78860" idx="0"/>
          </p:cNvCxnSpPr>
          <p:nvPr/>
        </p:nvCxnSpPr>
        <p:spPr bwMode="auto">
          <a:xfrm flipH="1">
            <a:off x="5281613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864" name="Text Box 13"/>
          <p:cNvSpPr txBox="1">
            <a:spLocks noChangeArrowheads="1"/>
          </p:cNvSpPr>
          <p:nvPr/>
        </p:nvSpPr>
        <p:spPr bwMode="auto">
          <a:xfrm>
            <a:off x="4383100" y="2907804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65" name="Oval 14"/>
          <p:cNvSpPr>
            <a:spLocks noChangeArrowheads="1"/>
          </p:cNvSpPr>
          <p:nvPr/>
        </p:nvSpPr>
        <p:spPr bwMode="auto">
          <a:xfrm>
            <a:off x="5753100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66" name="Line 15"/>
          <p:cNvSpPr>
            <a:spLocks noChangeShapeType="1"/>
          </p:cNvSpPr>
          <p:nvPr/>
        </p:nvSpPr>
        <p:spPr bwMode="auto">
          <a:xfrm>
            <a:off x="5710238" y="3429000"/>
            <a:ext cx="128588" cy="2143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867" name="Text Box 16"/>
          <p:cNvSpPr txBox="1">
            <a:spLocks noChangeArrowheads="1"/>
          </p:cNvSpPr>
          <p:nvPr/>
        </p:nvSpPr>
        <p:spPr bwMode="auto">
          <a:xfrm>
            <a:off x="5801135" y="3320988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68" name="Oval 17"/>
          <p:cNvSpPr>
            <a:spLocks noChangeArrowheads="1"/>
          </p:cNvSpPr>
          <p:nvPr/>
        </p:nvSpPr>
        <p:spPr bwMode="auto">
          <a:xfrm>
            <a:off x="4081463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69" name="Line 18"/>
          <p:cNvSpPr>
            <a:spLocks noChangeShapeType="1"/>
          </p:cNvSpPr>
          <p:nvPr/>
        </p:nvSpPr>
        <p:spPr bwMode="auto">
          <a:xfrm flipH="1">
            <a:off x="4252913" y="3471863"/>
            <a:ext cx="171450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870" name="Text Box 19"/>
          <p:cNvSpPr txBox="1">
            <a:spLocks noChangeArrowheads="1"/>
          </p:cNvSpPr>
          <p:nvPr/>
        </p:nvSpPr>
        <p:spPr bwMode="auto">
          <a:xfrm>
            <a:off x="4043772" y="3293567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71" name="Oval 20"/>
          <p:cNvSpPr>
            <a:spLocks noChangeArrowheads="1"/>
          </p:cNvSpPr>
          <p:nvPr/>
        </p:nvSpPr>
        <p:spPr bwMode="auto">
          <a:xfrm>
            <a:off x="7124700" y="29146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72" name="Oval 21"/>
          <p:cNvSpPr>
            <a:spLocks noChangeArrowheads="1"/>
          </p:cNvSpPr>
          <p:nvPr/>
        </p:nvSpPr>
        <p:spPr bwMode="auto">
          <a:xfrm>
            <a:off x="6610350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73" name="Oval 22"/>
          <p:cNvSpPr>
            <a:spLocks noChangeArrowheads="1"/>
          </p:cNvSpPr>
          <p:nvPr/>
        </p:nvSpPr>
        <p:spPr bwMode="auto">
          <a:xfrm>
            <a:off x="772477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74" name="Oval 23"/>
          <p:cNvSpPr>
            <a:spLocks noChangeArrowheads="1"/>
          </p:cNvSpPr>
          <p:nvPr/>
        </p:nvSpPr>
        <p:spPr bwMode="auto">
          <a:xfrm>
            <a:off x="7381875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78875" name="AutoShape 24"/>
          <p:cNvCxnSpPr>
            <a:cxnSpLocks noChangeShapeType="1"/>
            <a:stCxn id="78871" idx="3"/>
            <a:endCxn id="78872" idx="7"/>
          </p:cNvCxnSpPr>
          <p:nvPr/>
        </p:nvCxnSpPr>
        <p:spPr bwMode="auto">
          <a:xfrm flipH="1">
            <a:off x="6830021" y="3134321"/>
            <a:ext cx="332185" cy="11787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6" name="AutoShape 25"/>
          <p:cNvCxnSpPr>
            <a:cxnSpLocks noChangeShapeType="1"/>
          </p:cNvCxnSpPr>
          <p:nvPr/>
        </p:nvCxnSpPr>
        <p:spPr bwMode="auto">
          <a:xfrm>
            <a:off x="7344371" y="3134321"/>
            <a:ext cx="417910" cy="11787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7" name="AutoShape 26"/>
          <p:cNvCxnSpPr>
            <a:cxnSpLocks noChangeShapeType="1"/>
            <a:stCxn id="78873" idx="3"/>
            <a:endCxn id="78874" idx="0"/>
          </p:cNvCxnSpPr>
          <p:nvPr/>
        </p:nvCxnSpPr>
        <p:spPr bwMode="auto">
          <a:xfrm flipH="1">
            <a:off x="7510463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878" name="Text Box 27"/>
          <p:cNvSpPr txBox="1">
            <a:spLocks noChangeArrowheads="1"/>
          </p:cNvSpPr>
          <p:nvPr/>
        </p:nvSpPr>
        <p:spPr bwMode="auto">
          <a:xfrm>
            <a:off x="6600918" y="2930091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79" name="Oval 28"/>
          <p:cNvSpPr>
            <a:spLocks noChangeArrowheads="1"/>
          </p:cNvSpPr>
          <p:nvPr/>
        </p:nvSpPr>
        <p:spPr bwMode="auto">
          <a:xfrm>
            <a:off x="7981950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0" name="Line 29"/>
          <p:cNvSpPr>
            <a:spLocks noChangeShapeType="1"/>
          </p:cNvSpPr>
          <p:nvPr/>
        </p:nvSpPr>
        <p:spPr bwMode="auto">
          <a:xfrm>
            <a:off x="7939088" y="3429000"/>
            <a:ext cx="128588" cy="2143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881" name="Oval 30"/>
          <p:cNvSpPr>
            <a:spLocks noChangeArrowheads="1"/>
          </p:cNvSpPr>
          <p:nvPr/>
        </p:nvSpPr>
        <p:spPr bwMode="auto">
          <a:xfrm>
            <a:off x="6310313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2" name="Line 31"/>
          <p:cNvSpPr>
            <a:spLocks noChangeShapeType="1"/>
          </p:cNvSpPr>
          <p:nvPr/>
        </p:nvSpPr>
        <p:spPr bwMode="auto">
          <a:xfrm flipH="1">
            <a:off x="6481763" y="3471863"/>
            <a:ext cx="171450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883" name="Oval 32"/>
          <p:cNvSpPr>
            <a:spLocks noChangeArrowheads="1"/>
          </p:cNvSpPr>
          <p:nvPr/>
        </p:nvSpPr>
        <p:spPr bwMode="auto">
          <a:xfrm>
            <a:off x="5924550" y="407193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4" name="Line 33"/>
          <p:cNvSpPr>
            <a:spLocks noChangeShapeType="1"/>
          </p:cNvSpPr>
          <p:nvPr/>
        </p:nvSpPr>
        <p:spPr bwMode="auto">
          <a:xfrm>
            <a:off x="5924550" y="3857625"/>
            <a:ext cx="85725" cy="2143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885" name="Text Box 34"/>
          <p:cNvSpPr txBox="1">
            <a:spLocks noChangeArrowheads="1"/>
          </p:cNvSpPr>
          <p:nvPr/>
        </p:nvSpPr>
        <p:spPr bwMode="auto">
          <a:xfrm>
            <a:off x="6258018" y="3358716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6" name="Text Box 35"/>
          <p:cNvSpPr txBox="1">
            <a:spLocks noChangeArrowheads="1"/>
          </p:cNvSpPr>
          <p:nvPr/>
        </p:nvSpPr>
        <p:spPr bwMode="auto">
          <a:xfrm>
            <a:off x="5843997" y="4322267"/>
            <a:ext cx="17145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7" name="Text Box 36"/>
          <p:cNvSpPr txBox="1">
            <a:spLocks noChangeArrowheads="1"/>
          </p:cNvSpPr>
          <p:nvPr/>
        </p:nvSpPr>
        <p:spPr bwMode="auto">
          <a:xfrm>
            <a:off x="7286718" y="3401578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8" name="Text Box 37"/>
          <p:cNvSpPr txBox="1">
            <a:spLocks noChangeArrowheads="1"/>
          </p:cNvSpPr>
          <p:nvPr/>
        </p:nvSpPr>
        <p:spPr bwMode="auto">
          <a:xfrm>
            <a:off x="5672547" y="3979367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9" name="Text Box 38"/>
          <p:cNvSpPr txBox="1">
            <a:spLocks noChangeArrowheads="1"/>
          </p:cNvSpPr>
          <p:nvPr/>
        </p:nvSpPr>
        <p:spPr bwMode="auto">
          <a:xfrm>
            <a:off x="7929656" y="2930091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90" name="Text Box 39"/>
          <p:cNvSpPr txBox="1">
            <a:spLocks noChangeArrowheads="1"/>
          </p:cNvSpPr>
          <p:nvPr/>
        </p:nvSpPr>
        <p:spPr bwMode="auto">
          <a:xfrm>
            <a:off x="7329581" y="2672916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91" name="Oval 40"/>
          <p:cNvSpPr>
            <a:spLocks noChangeArrowheads="1"/>
          </p:cNvSpPr>
          <p:nvPr/>
        </p:nvSpPr>
        <p:spPr bwMode="auto">
          <a:xfrm>
            <a:off x="6053138" y="4500563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92" name="Line 41"/>
          <p:cNvSpPr>
            <a:spLocks noChangeShapeType="1"/>
          </p:cNvSpPr>
          <p:nvPr/>
        </p:nvSpPr>
        <p:spPr bwMode="auto">
          <a:xfrm>
            <a:off x="6096000" y="4329113"/>
            <a:ext cx="42863" cy="171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893" name="Text Box 42"/>
          <p:cNvSpPr txBox="1">
            <a:spLocks noChangeArrowheads="1"/>
          </p:cNvSpPr>
          <p:nvPr/>
        </p:nvSpPr>
        <p:spPr bwMode="auto">
          <a:xfrm>
            <a:off x="4381500" y="4157663"/>
            <a:ext cx="111442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500" dirty="0">
                <a:ea typeface="SimSun" pitchFamily="2" charset="-122"/>
              </a:rPr>
              <a:t>Imbalance</a:t>
            </a:r>
            <a:endParaRPr lang="en-US" altLang="zh-CN" sz="1500" dirty="0">
              <a:ea typeface="SimSun" pitchFamily="2" charset="-122"/>
            </a:endParaRPr>
          </a:p>
        </p:txBody>
      </p:sp>
      <p:sp>
        <p:nvSpPr>
          <p:cNvPr id="78894" name="Line 43"/>
          <p:cNvSpPr>
            <a:spLocks noChangeShapeType="1"/>
          </p:cNvSpPr>
          <p:nvPr/>
        </p:nvSpPr>
        <p:spPr bwMode="auto">
          <a:xfrm flipV="1">
            <a:off x="5367338" y="3857625"/>
            <a:ext cx="385763" cy="257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895" name="Oval 44"/>
          <p:cNvSpPr>
            <a:spLocks noChangeArrowheads="1"/>
          </p:cNvSpPr>
          <p:nvPr/>
        </p:nvSpPr>
        <p:spPr bwMode="auto">
          <a:xfrm>
            <a:off x="7767638" y="3986213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96" name="Oval 45"/>
          <p:cNvSpPr>
            <a:spLocks noChangeArrowheads="1"/>
          </p:cNvSpPr>
          <p:nvPr/>
        </p:nvSpPr>
        <p:spPr bwMode="auto">
          <a:xfrm>
            <a:off x="8281988" y="4029075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97" name="Line 46"/>
          <p:cNvSpPr>
            <a:spLocks noChangeShapeType="1"/>
          </p:cNvSpPr>
          <p:nvPr/>
        </p:nvSpPr>
        <p:spPr bwMode="auto">
          <a:xfrm>
            <a:off x="8196263" y="3814763"/>
            <a:ext cx="17145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898" name="Line 47"/>
          <p:cNvSpPr>
            <a:spLocks noChangeShapeType="1"/>
          </p:cNvSpPr>
          <p:nvPr/>
        </p:nvSpPr>
        <p:spPr bwMode="auto">
          <a:xfrm flipH="1">
            <a:off x="7939088" y="3857625"/>
            <a:ext cx="128588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899" name="Text Box 48"/>
          <p:cNvSpPr txBox="1">
            <a:spLocks noChangeArrowheads="1"/>
          </p:cNvSpPr>
          <p:nvPr/>
        </p:nvSpPr>
        <p:spPr bwMode="auto">
          <a:xfrm>
            <a:off x="7672481" y="3776990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900" name="Text Box 49"/>
          <p:cNvSpPr txBox="1">
            <a:spLocks noChangeArrowheads="1"/>
          </p:cNvSpPr>
          <p:nvPr/>
        </p:nvSpPr>
        <p:spPr bwMode="auto">
          <a:xfrm>
            <a:off x="8315418" y="3776990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901" name="Text Box 50"/>
          <p:cNvSpPr txBox="1">
            <a:spLocks noChangeArrowheads="1"/>
          </p:cNvSpPr>
          <p:nvPr/>
        </p:nvSpPr>
        <p:spPr bwMode="auto">
          <a:xfrm>
            <a:off x="8229693" y="3444441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902" name="Text Box 51"/>
          <p:cNvSpPr txBox="1">
            <a:spLocks noChangeArrowheads="1"/>
          </p:cNvSpPr>
          <p:nvPr/>
        </p:nvSpPr>
        <p:spPr bwMode="auto">
          <a:xfrm>
            <a:off x="6567488" y="4538961"/>
            <a:ext cx="145732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500" dirty="0">
                <a:ea typeface="SimSun" pitchFamily="2" charset="-122"/>
              </a:rPr>
              <a:t>Now Insert 34</a:t>
            </a:r>
            <a:endParaRPr lang="en-US" altLang="zh-CN" sz="1500" dirty="0">
              <a:ea typeface="SimSun" pitchFamily="2" charset="-122"/>
            </a:endParaRPr>
          </a:p>
        </p:txBody>
      </p:sp>
      <p:sp>
        <p:nvSpPr>
          <p:cNvPr id="78903" name="Line 52"/>
          <p:cNvSpPr>
            <a:spLocks noChangeShapeType="1"/>
          </p:cNvSpPr>
          <p:nvPr/>
        </p:nvSpPr>
        <p:spPr bwMode="auto">
          <a:xfrm>
            <a:off x="5881688" y="2614613"/>
            <a:ext cx="642938" cy="2271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904" name="Line 53"/>
          <p:cNvSpPr>
            <a:spLocks noChangeShapeType="1"/>
          </p:cNvSpPr>
          <p:nvPr/>
        </p:nvSpPr>
        <p:spPr bwMode="auto">
          <a:xfrm flipV="1">
            <a:off x="7596188" y="4329113"/>
            <a:ext cx="171450" cy="257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93" grpId="0" bldLvl="0" animBg="1"/>
      <p:bldP spid="78894" grpId="0" bldLvl="0" animBg="1"/>
      <p:bldP spid="78902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itchFamily="2" charset="-122"/>
              </a:rPr>
              <a:t>Double rotation (inside case)</a:t>
            </a:r>
            <a:endParaRPr lang="en-US" altLang="zh-CN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79878" name="Text Box 1027"/>
          <p:cNvSpPr txBox="1">
            <a:spLocks noChangeArrowheads="1"/>
          </p:cNvSpPr>
          <p:nvPr/>
        </p:nvSpPr>
        <p:spPr bwMode="auto">
          <a:xfrm>
            <a:off x="5538788" y="2907804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79" name="Text Box 1028"/>
          <p:cNvSpPr txBox="1">
            <a:spLocks noChangeArrowheads="1"/>
          </p:cNvSpPr>
          <p:nvPr/>
        </p:nvSpPr>
        <p:spPr bwMode="auto">
          <a:xfrm>
            <a:off x="5153025" y="3331212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80" name="Text Box 1029"/>
          <p:cNvSpPr txBox="1">
            <a:spLocks noChangeArrowheads="1"/>
          </p:cNvSpPr>
          <p:nvPr/>
        </p:nvSpPr>
        <p:spPr bwMode="auto">
          <a:xfrm>
            <a:off x="5020865" y="2564904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81" name="Oval 1030"/>
          <p:cNvSpPr>
            <a:spLocks noChangeArrowheads="1"/>
          </p:cNvSpPr>
          <p:nvPr/>
        </p:nvSpPr>
        <p:spPr bwMode="auto">
          <a:xfrm>
            <a:off x="4981575" y="28717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82" name="Oval 1031"/>
          <p:cNvSpPr>
            <a:spLocks noChangeArrowheads="1"/>
          </p:cNvSpPr>
          <p:nvPr/>
        </p:nvSpPr>
        <p:spPr bwMode="auto">
          <a:xfrm>
            <a:off x="4381500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83" name="Oval 1032"/>
          <p:cNvSpPr>
            <a:spLocks noChangeArrowheads="1"/>
          </p:cNvSpPr>
          <p:nvPr/>
        </p:nvSpPr>
        <p:spPr bwMode="auto">
          <a:xfrm>
            <a:off x="549592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84" name="Oval 1033"/>
          <p:cNvSpPr>
            <a:spLocks noChangeArrowheads="1"/>
          </p:cNvSpPr>
          <p:nvPr/>
        </p:nvSpPr>
        <p:spPr bwMode="auto">
          <a:xfrm>
            <a:off x="5153025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79885" name="AutoShape 1034"/>
          <p:cNvCxnSpPr>
            <a:cxnSpLocks noChangeShapeType="1"/>
            <a:stCxn id="79881" idx="3"/>
            <a:endCxn id="79882" idx="7"/>
          </p:cNvCxnSpPr>
          <p:nvPr/>
        </p:nvCxnSpPr>
        <p:spPr bwMode="auto">
          <a:xfrm flipH="1">
            <a:off x="4601171" y="3091458"/>
            <a:ext cx="417910" cy="1607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886" name="AutoShape 1035"/>
          <p:cNvCxnSpPr>
            <a:cxnSpLocks noChangeShapeType="1"/>
            <a:stCxn id="79881" idx="5"/>
            <a:endCxn id="79883" idx="1"/>
          </p:cNvCxnSpPr>
          <p:nvPr/>
        </p:nvCxnSpPr>
        <p:spPr bwMode="auto">
          <a:xfrm>
            <a:off x="5201246" y="3091458"/>
            <a:ext cx="332185" cy="16073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887" name="AutoShape 1036"/>
          <p:cNvCxnSpPr>
            <a:cxnSpLocks noChangeShapeType="1"/>
            <a:stCxn id="79883" idx="3"/>
            <a:endCxn id="79884" idx="0"/>
          </p:cNvCxnSpPr>
          <p:nvPr/>
        </p:nvCxnSpPr>
        <p:spPr bwMode="auto">
          <a:xfrm flipH="1">
            <a:off x="5281613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888" name="Text Box 1037"/>
          <p:cNvSpPr txBox="1">
            <a:spLocks noChangeArrowheads="1"/>
          </p:cNvSpPr>
          <p:nvPr/>
        </p:nvSpPr>
        <p:spPr bwMode="auto">
          <a:xfrm>
            <a:off x="4420790" y="2907804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89" name="Oval 1038"/>
          <p:cNvSpPr>
            <a:spLocks noChangeArrowheads="1"/>
          </p:cNvSpPr>
          <p:nvPr/>
        </p:nvSpPr>
        <p:spPr bwMode="auto">
          <a:xfrm>
            <a:off x="5753100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90" name="Line 1039"/>
          <p:cNvSpPr>
            <a:spLocks noChangeShapeType="1"/>
          </p:cNvSpPr>
          <p:nvPr/>
        </p:nvSpPr>
        <p:spPr bwMode="auto">
          <a:xfrm>
            <a:off x="5710238" y="3429000"/>
            <a:ext cx="128588" cy="2143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891" name="Text Box 1040"/>
          <p:cNvSpPr txBox="1">
            <a:spLocks noChangeArrowheads="1"/>
          </p:cNvSpPr>
          <p:nvPr/>
        </p:nvSpPr>
        <p:spPr bwMode="auto">
          <a:xfrm>
            <a:off x="5838825" y="3331212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92" name="Oval 1041"/>
          <p:cNvSpPr>
            <a:spLocks noChangeArrowheads="1"/>
          </p:cNvSpPr>
          <p:nvPr/>
        </p:nvSpPr>
        <p:spPr bwMode="auto">
          <a:xfrm>
            <a:off x="4081463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93" name="Line 1042"/>
          <p:cNvSpPr>
            <a:spLocks noChangeShapeType="1"/>
          </p:cNvSpPr>
          <p:nvPr/>
        </p:nvSpPr>
        <p:spPr bwMode="auto">
          <a:xfrm flipH="1">
            <a:off x="4252913" y="3471863"/>
            <a:ext cx="171450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894" name="Text Box 1043"/>
          <p:cNvSpPr txBox="1">
            <a:spLocks noChangeArrowheads="1"/>
          </p:cNvSpPr>
          <p:nvPr/>
        </p:nvSpPr>
        <p:spPr bwMode="auto">
          <a:xfrm>
            <a:off x="4081463" y="3293567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95" name="Oval 1044"/>
          <p:cNvSpPr>
            <a:spLocks noChangeArrowheads="1"/>
          </p:cNvSpPr>
          <p:nvPr/>
        </p:nvSpPr>
        <p:spPr bwMode="auto">
          <a:xfrm>
            <a:off x="7124700" y="29146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96" name="Oval 1045"/>
          <p:cNvSpPr>
            <a:spLocks noChangeArrowheads="1"/>
          </p:cNvSpPr>
          <p:nvPr/>
        </p:nvSpPr>
        <p:spPr bwMode="auto">
          <a:xfrm>
            <a:off x="6610350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10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97" name="Oval 1046"/>
          <p:cNvSpPr>
            <a:spLocks noChangeArrowheads="1"/>
          </p:cNvSpPr>
          <p:nvPr/>
        </p:nvSpPr>
        <p:spPr bwMode="auto">
          <a:xfrm>
            <a:off x="7724775" y="321468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898" name="Oval 1047"/>
          <p:cNvSpPr>
            <a:spLocks noChangeArrowheads="1"/>
          </p:cNvSpPr>
          <p:nvPr/>
        </p:nvSpPr>
        <p:spPr bwMode="auto">
          <a:xfrm>
            <a:off x="7381875" y="360938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79899" name="AutoShape 1048"/>
          <p:cNvCxnSpPr>
            <a:cxnSpLocks noChangeShapeType="1"/>
            <a:stCxn id="79895" idx="3"/>
            <a:endCxn id="79896" idx="7"/>
          </p:cNvCxnSpPr>
          <p:nvPr/>
        </p:nvCxnSpPr>
        <p:spPr bwMode="auto">
          <a:xfrm flipH="1">
            <a:off x="6830021" y="3134321"/>
            <a:ext cx="332185" cy="11787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900" name="AutoShape 1049"/>
          <p:cNvCxnSpPr>
            <a:cxnSpLocks noChangeShapeType="1"/>
          </p:cNvCxnSpPr>
          <p:nvPr/>
        </p:nvCxnSpPr>
        <p:spPr bwMode="auto">
          <a:xfrm>
            <a:off x="7344371" y="3134321"/>
            <a:ext cx="417910" cy="11787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901" name="AutoShape 1050"/>
          <p:cNvCxnSpPr>
            <a:cxnSpLocks noChangeShapeType="1"/>
            <a:stCxn id="79897" idx="3"/>
            <a:endCxn id="79898" idx="0"/>
          </p:cNvCxnSpPr>
          <p:nvPr/>
        </p:nvCxnSpPr>
        <p:spPr bwMode="auto">
          <a:xfrm flipH="1">
            <a:off x="7510463" y="3434358"/>
            <a:ext cx="251817" cy="175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902" name="Text Box 1051"/>
          <p:cNvSpPr txBox="1">
            <a:spLocks noChangeArrowheads="1"/>
          </p:cNvSpPr>
          <p:nvPr/>
        </p:nvSpPr>
        <p:spPr bwMode="auto">
          <a:xfrm>
            <a:off x="6600918" y="2930091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03" name="Oval 1052"/>
          <p:cNvSpPr>
            <a:spLocks noChangeArrowheads="1"/>
          </p:cNvSpPr>
          <p:nvPr/>
        </p:nvSpPr>
        <p:spPr bwMode="auto">
          <a:xfrm>
            <a:off x="7981950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40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04" name="Line 1053"/>
          <p:cNvSpPr>
            <a:spLocks noChangeShapeType="1"/>
          </p:cNvSpPr>
          <p:nvPr/>
        </p:nvSpPr>
        <p:spPr bwMode="auto">
          <a:xfrm>
            <a:off x="7939088" y="3429000"/>
            <a:ext cx="128588" cy="2143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05" name="Oval 1054"/>
          <p:cNvSpPr>
            <a:spLocks noChangeArrowheads="1"/>
          </p:cNvSpPr>
          <p:nvPr/>
        </p:nvSpPr>
        <p:spPr bwMode="auto">
          <a:xfrm>
            <a:off x="6310313" y="360045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06" name="Line 1055"/>
          <p:cNvSpPr>
            <a:spLocks noChangeShapeType="1"/>
          </p:cNvSpPr>
          <p:nvPr/>
        </p:nvSpPr>
        <p:spPr bwMode="auto">
          <a:xfrm flipH="1">
            <a:off x="6481763" y="3471863"/>
            <a:ext cx="171450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07" name="Oval 1056"/>
          <p:cNvSpPr>
            <a:spLocks noChangeArrowheads="1"/>
          </p:cNvSpPr>
          <p:nvPr/>
        </p:nvSpPr>
        <p:spPr bwMode="auto">
          <a:xfrm>
            <a:off x="5924550" y="407193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08" name="Line 1057"/>
          <p:cNvSpPr>
            <a:spLocks noChangeShapeType="1"/>
          </p:cNvSpPr>
          <p:nvPr/>
        </p:nvSpPr>
        <p:spPr bwMode="auto">
          <a:xfrm>
            <a:off x="5924550" y="3857625"/>
            <a:ext cx="85725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09" name="Text Box 1058"/>
          <p:cNvSpPr txBox="1">
            <a:spLocks noChangeArrowheads="1"/>
          </p:cNvSpPr>
          <p:nvPr/>
        </p:nvSpPr>
        <p:spPr bwMode="auto">
          <a:xfrm>
            <a:off x="6258018" y="3358716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10" name="Text Box 1059"/>
          <p:cNvSpPr txBox="1">
            <a:spLocks noChangeArrowheads="1"/>
          </p:cNvSpPr>
          <p:nvPr/>
        </p:nvSpPr>
        <p:spPr bwMode="auto">
          <a:xfrm>
            <a:off x="7286718" y="3401578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11" name="Text Box 1060"/>
          <p:cNvSpPr txBox="1">
            <a:spLocks noChangeArrowheads="1"/>
          </p:cNvSpPr>
          <p:nvPr/>
        </p:nvSpPr>
        <p:spPr bwMode="auto">
          <a:xfrm>
            <a:off x="7929656" y="2930091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12" name="Text Box 1061"/>
          <p:cNvSpPr txBox="1">
            <a:spLocks noChangeArrowheads="1"/>
          </p:cNvSpPr>
          <p:nvPr/>
        </p:nvSpPr>
        <p:spPr bwMode="auto">
          <a:xfrm>
            <a:off x="7329581" y="2672916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13" name="Text Box 1062"/>
          <p:cNvSpPr txBox="1">
            <a:spLocks noChangeArrowheads="1"/>
          </p:cNvSpPr>
          <p:nvPr/>
        </p:nvSpPr>
        <p:spPr bwMode="auto">
          <a:xfrm>
            <a:off x="5466715" y="2329180"/>
            <a:ext cx="136334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500" dirty="0">
                <a:ea typeface="SimSun" pitchFamily="2" charset="-122"/>
              </a:rPr>
              <a:t>Imbalance</a:t>
            </a:r>
            <a:endParaRPr lang="en-US" altLang="zh-CN" sz="1500" dirty="0">
              <a:ea typeface="SimSun" pitchFamily="2" charset="-122"/>
            </a:endParaRPr>
          </a:p>
        </p:txBody>
      </p:sp>
      <p:sp>
        <p:nvSpPr>
          <p:cNvPr id="79914" name="Line 1063"/>
          <p:cNvSpPr>
            <a:spLocks noChangeShapeType="1"/>
          </p:cNvSpPr>
          <p:nvPr/>
        </p:nvSpPr>
        <p:spPr bwMode="auto">
          <a:xfrm flipH="1">
            <a:off x="5795962" y="2645412"/>
            <a:ext cx="217884" cy="526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15" name="Oval 1064"/>
          <p:cNvSpPr>
            <a:spLocks noChangeArrowheads="1"/>
          </p:cNvSpPr>
          <p:nvPr/>
        </p:nvSpPr>
        <p:spPr bwMode="auto">
          <a:xfrm>
            <a:off x="8281988" y="4029075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45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16" name="Line 1065"/>
          <p:cNvSpPr>
            <a:spLocks noChangeShapeType="1"/>
          </p:cNvSpPr>
          <p:nvPr/>
        </p:nvSpPr>
        <p:spPr bwMode="auto">
          <a:xfrm>
            <a:off x="8196263" y="3814763"/>
            <a:ext cx="17145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17" name="Text Box 1066"/>
          <p:cNvSpPr txBox="1">
            <a:spLocks noChangeArrowheads="1"/>
          </p:cNvSpPr>
          <p:nvPr/>
        </p:nvSpPr>
        <p:spPr bwMode="auto">
          <a:xfrm>
            <a:off x="8351248" y="3776990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18" name="Text Box 1067"/>
          <p:cNvSpPr txBox="1">
            <a:spLocks noChangeArrowheads="1"/>
          </p:cNvSpPr>
          <p:nvPr/>
        </p:nvSpPr>
        <p:spPr bwMode="auto">
          <a:xfrm>
            <a:off x="8229693" y="3444441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19" name="Text Box 1068"/>
          <p:cNvSpPr txBox="1">
            <a:spLocks noChangeArrowheads="1"/>
          </p:cNvSpPr>
          <p:nvPr/>
        </p:nvSpPr>
        <p:spPr bwMode="auto">
          <a:xfrm>
            <a:off x="3611724" y="4371975"/>
            <a:ext cx="1498438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500" dirty="0">
                <a:ea typeface="SimSun" pitchFamily="2" charset="-122"/>
              </a:rPr>
              <a:t>Insertion of  34</a:t>
            </a:r>
            <a:endParaRPr lang="en-US" altLang="zh-CN" sz="1500" dirty="0">
              <a:ea typeface="SimSun" pitchFamily="2" charset="-122"/>
            </a:endParaRPr>
          </a:p>
        </p:txBody>
      </p:sp>
      <p:sp>
        <p:nvSpPr>
          <p:cNvPr id="79920" name="Oval 1069"/>
          <p:cNvSpPr>
            <a:spLocks noChangeArrowheads="1"/>
          </p:cNvSpPr>
          <p:nvPr/>
        </p:nvSpPr>
        <p:spPr bwMode="auto">
          <a:xfrm>
            <a:off x="5495925" y="4071938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21" name="Line 1070"/>
          <p:cNvSpPr>
            <a:spLocks noChangeShapeType="1"/>
          </p:cNvSpPr>
          <p:nvPr/>
        </p:nvSpPr>
        <p:spPr bwMode="auto">
          <a:xfrm flipH="1">
            <a:off x="5710238" y="3857625"/>
            <a:ext cx="128588" cy="257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22" name="Oval 1071"/>
          <p:cNvSpPr>
            <a:spLocks noChangeArrowheads="1"/>
          </p:cNvSpPr>
          <p:nvPr/>
        </p:nvSpPr>
        <p:spPr bwMode="auto">
          <a:xfrm>
            <a:off x="5281613" y="4457700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34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23" name="Line 1072"/>
          <p:cNvSpPr>
            <a:spLocks noChangeShapeType="1"/>
          </p:cNvSpPr>
          <p:nvPr/>
        </p:nvSpPr>
        <p:spPr bwMode="auto">
          <a:xfrm flipH="1">
            <a:off x="5453063" y="4329113"/>
            <a:ext cx="128588" cy="128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24" name="Text Box 1073"/>
          <p:cNvSpPr txBox="1">
            <a:spLocks noChangeArrowheads="1"/>
          </p:cNvSpPr>
          <p:nvPr/>
        </p:nvSpPr>
        <p:spPr bwMode="auto">
          <a:xfrm>
            <a:off x="6224588" y="4017012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25" name="Text Box 1074"/>
          <p:cNvSpPr txBox="1">
            <a:spLocks noChangeArrowheads="1"/>
          </p:cNvSpPr>
          <p:nvPr/>
        </p:nvSpPr>
        <p:spPr bwMode="auto">
          <a:xfrm>
            <a:off x="5110163" y="4317050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26" name="Text Box 1075"/>
          <p:cNvSpPr txBox="1">
            <a:spLocks noChangeArrowheads="1"/>
          </p:cNvSpPr>
          <p:nvPr/>
        </p:nvSpPr>
        <p:spPr bwMode="auto">
          <a:xfrm>
            <a:off x="5324475" y="3974150"/>
            <a:ext cx="27813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27" name="Oval 1076"/>
          <p:cNvSpPr>
            <a:spLocks noChangeArrowheads="1"/>
          </p:cNvSpPr>
          <p:nvPr/>
        </p:nvSpPr>
        <p:spPr bwMode="auto">
          <a:xfrm>
            <a:off x="7124700" y="3986213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25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28" name="Oval 1077"/>
          <p:cNvSpPr>
            <a:spLocks noChangeArrowheads="1"/>
          </p:cNvSpPr>
          <p:nvPr/>
        </p:nvSpPr>
        <p:spPr bwMode="auto">
          <a:xfrm>
            <a:off x="7681913" y="3986213"/>
            <a:ext cx="257175" cy="2571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SimSun" pitchFamily="2" charset="-122"/>
              </a:rPr>
              <a:t>34</a:t>
            </a:r>
            <a:endParaRPr lang="en-US" altLang="zh-CN" sz="135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9929" name="Line 1078"/>
          <p:cNvSpPr>
            <a:spLocks noChangeShapeType="1"/>
          </p:cNvSpPr>
          <p:nvPr/>
        </p:nvSpPr>
        <p:spPr bwMode="auto">
          <a:xfrm flipH="1">
            <a:off x="7339013" y="3857625"/>
            <a:ext cx="85725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30" name="Line 1079"/>
          <p:cNvSpPr>
            <a:spLocks noChangeShapeType="1"/>
          </p:cNvSpPr>
          <p:nvPr/>
        </p:nvSpPr>
        <p:spPr bwMode="auto">
          <a:xfrm>
            <a:off x="7596188" y="3857625"/>
            <a:ext cx="171450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31" name="Text Box 1080"/>
          <p:cNvSpPr txBox="1">
            <a:spLocks noChangeArrowheads="1"/>
          </p:cNvSpPr>
          <p:nvPr/>
        </p:nvSpPr>
        <p:spPr bwMode="auto">
          <a:xfrm>
            <a:off x="6900956" y="3915928"/>
            <a:ext cx="17502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0</a:t>
            </a:r>
            <a:endParaRPr lang="en-US" altLang="zh-CN" sz="150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13" grpId="0" bldLvl="0" animBg="1"/>
      <p:bldP spid="79914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itchFamily="2" charset="-122"/>
              </a:rPr>
              <a:t>AVL Tree Deletion</a:t>
            </a:r>
            <a:endParaRPr lang="en-US" altLang="zh-CN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Similar but more complex than insertion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Rotations and double rotations needed to rebalance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Imbalance may propagate upward so that many rotations may be needed.</a:t>
            </a:r>
            <a:endParaRPr lang="en-US" altLang="zh-CN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Pros </a:t>
            </a:r>
            <a:r>
              <a:rPr lang="en-US" altLang="zh-CN" dirty="0" smtClean="0">
                <a:solidFill>
                  <a:srgbClr val="FF0000"/>
                </a:solidFill>
              </a:rPr>
              <a:t>&amp; </a:t>
            </a:r>
            <a:r>
              <a:rPr lang="en-US" altLang="zh-CN" dirty="0">
                <a:solidFill>
                  <a:srgbClr val="FF0000"/>
                </a:solidFill>
              </a:rPr>
              <a:t>Cons of AVL Trees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17955"/>
            <a:ext cx="10972800" cy="4525963"/>
          </a:xfrm>
        </p:spPr>
        <p:txBody>
          <a:bodyPr/>
          <a:lstStyle/>
          <a:p>
            <a:r>
              <a:rPr lang="en-US" altLang="zh-CN" sz="2400" dirty="0"/>
              <a:t>Arguments for AVL </a:t>
            </a:r>
            <a:r>
              <a:rPr lang="en-US" altLang="zh-CN" sz="2400" dirty="0" smtClean="0"/>
              <a:t>trees </a:t>
            </a:r>
            <a:endParaRPr lang="en-US" altLang="zh-CN" sz="2400" dirty="0" smtClean="0"/>
          </a:p>
          <a:p>
            <a:pPr lvl="1"/>
            <a:r>
              <a:rPr lang="en-US" altLang="zh-CN" sz="2000" dirty="0"/>
              <a:t>Search is O(log N) since AVL trees are always balanced.</a:t>
            </a:r>
            <a:endParaRPr lang="en-US" altLang="zh-CN" sz="2000" dirty="0"/>
          </a:p>
          <a:p>
            <a:pPr lvl="1"/>
            <a:r>
              <a:rPr lang="en-US" altLang="zh-CN" sz="2000" dirty="0"/>
              <a:t>Insertion and deletions are also O(</a:t>
            </a:r>
            <a:r>
              <a:rPr lang="en-US" altLang="zh-CN" sz="2000" dirty="0" err="1"/>
              <a:t>logn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/>
            <a:r>
              <a:rPr lang="en-US" altLang="zh-CN" sz="2000" dirty="0"/>
              <a:t>The height balancing adds no more than a constant factor to the speed of </a:t>
            </a:r>
            <a:r>
              <a:rPr lang="en-US" altLang="zh-CN" sz="2000" dirty="0" smtClean="0"/>
              <a:t>insertion</a:t>
            </a:r>
            <a:endParaRPr lang="en-US" altLang="zh-CN" sz="2000" dirty="0" smtClean="0"/>
          </a:p>
          <a:p>
            <a:pPr lvl="1"/>
            <a:endParaRPr lang="en-US" altLang="zh-CN" sz="2000" dirty="0">
              <a:ea typeface="SimSun" pitchFamily="2" charset="-122"/>
            </a:endParaRPr>
          </a:p>
          <a:p>
            <a:r>
              <a:rPr lang="en-US" altLang="zh-CN" sz="2400" dirty="0"/>
              <a:t>Arguments against using AVL </a:t>
            </a:r>
            <a:r>
              <a:rPr lang="en-US" altLang="zh-CN" sz="2400" dirty="0" smtClean="0"/>
              <a:t>trees</a:t>
            </a:r>
            <a:endParaRPr lang="en-US" altLang="zh-CN" sz="2400" dirty="0" smtClean="0"/>
          </a:p>
          <a:p>
            <a:pPr lvl="1"/>
            <a:r>
              <a:rPr lang="en-US" altLang="zh-CN" sz="2000" dirty="0"/>
              <a:t>Difficult to program &amp; debug; more space for balance factor.</a:t>
            </a:r>
            <a:endParaRPr lang="en-US" altLang="zh-CN" sz="2000" dirty="0"/>
          </a:p>
          <a:p>
            <a:pPr lvl="1"/>
            <a:r>
              <a:rPr lang="en-US" altLang="zh-CN" sz="2000" dirty="0"/>
              <a:t>Asymptotically faster but rebalancing costs time.</a:t>
            </a:r>
            <a:endParaRPr lang="en-US" altLang="zh-CN" sz="2000" dirty="0"/>
          </a:p>
          <a:p>
            <a:pPr lvl="1"/>
            <a:r>
              <a:rPr lang="en-US" altLang="zh-CN" sz="2000" dirty="0"/>
              <a:t>Most large searches are done in database systems on disk and use other structures (e.g. B-trees).</a:t>
            </a:r>
            <a:endParaRPr lang="en-US" altLang="zh-CN" sz="2000" dirty="0"/>
          </a:p>
          <a:p>
            <a:pPr lvl="1"/>
            <a:r>
              <a:rPr lang="en-US" altLang="zh-CN" sz="2000" dirty="0"/>
              <a:t>May be OK to have O(N) for a single operation if total run time for many consecutive operations is fast (e.g. Splay trees).</a:t>
            </a:r>
            <a:endParaRPr lang="en-US" altLang="zh-CN" sz="2000" dirty="0"/>
          </a:p>
          <a:p>
            <a:pPr lvl="1"/>
            <a:endParaRPr lang="en-US" altLang="zh-CN" sz="2000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Homework 3-2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Textbook exercises 4.19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9119</Words>
  <Application>WPS Writer</Application>
  <PresentationFormat>Widescreen</PresentationFormat>
  <Paragraphs>1110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5" baseType="lpstr">
      <vt:lpstr>Arial</vt:lpstr>
      <vt:lpstr>SimSun</vt:lpstr>
      <vt:lpstr>Wingdings</vt:lpstr>
      <vt:lpstr>Times New Roman</vt:lpstr>
      <vt:lpstr>宋体-简</vt:lpstr>
      <vt:lpstr>Symbol</vt:lpstr>
      <vt:lpstr>Microsoft YaHei</vt:lpstr>
      <vt:lpstr>汉仪旗黑</vt:lpstr>
      <vt:lpstr>Arial Unicode MS</vt:lpstr>
      <vt:lpstr>Calibri</vt:lpstr>
      <vt:lpstr>Helvetica Neue</vt:lpstr>
      <vt:lpstr>Kingsoft Sign</vt:lpstr>
      <vt:lpstr>SimSun</vt:lpstr>
      <vt:lpstr>SimSun</vt:lpstr>
      <vt:lpstr>1_Default Design</vt:lpstr>
      <vt:lpstr>Equation.3</vt:lpstr>
      <vt:lpstr>Data Structures</vt:lpstr>
      <vt:lpstr>Chapter 4-2</vt:lpstr>
      <vt:lpstr>Contents</vt:lpstr>
      <vt:lpstr>Binary Search Tree - Best Time</vt:lpstr>
      <vt:lpstr>Binary Search Tree - Worst Time</vt:lpstr>
      <vt:lpstr>PowerPoint 演示文稿</vt:lpstr>
      <vt:lpstr>Approaches to balancing trees</vt:lpstr>
      <vt:lpstr>Full Binary Trees</vt:lpstr>
      <vt:lpstr>Complete Binary Trees</vt:lpstr>
      <vt:lpstr>Perfect Balance</vt:lpstr>
      <vt:lpstr>Balancing Binary Search Trees</vt:lpstr>
      <vt:lpstr>AVL - Good but not Perfect Balance</vt:lpstr>
      <vt:lpstr>Height of an AVL Tree</vt:lpstr>
      <vt:lpstr>Height of an AVL Tree</vt:lpstr>
      <vt:lpstr>Node Heights</vt:lpstr>
      <vt:lpstr>Node Heights</vt:lpstr>
      <vt:lpstr>Node Heights</vt:lpstr>
      <vt:lpstr>Insert and Rotation in AVL Trees</vt:lpstr>
      <vt:lpstr>Rotation in an AVL Tree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Implementation</vt:lpstr>
      <vt:lpstr>PowerPoint 演示文稿</vt:lpstr>
      <vt:lpstr>PowerPoint 演示文稿</vt:lpstr>
      <vt:lpstr>Insertion in AVL Trees</vt:lpstr>
      <vt:lpstr>Implementation</vt:lpstr>
      <vt:lpstr>PowerPoint 演示文稿</vt:lpstr>
      <vt:lpstr>Implementation</vt:lpstr>
      <vt:lpstr>Implementation</vt:lpstr>
      <vt:lpstr>Example of Insertions in an AVL Tree</vt:lpstr>
      <vt:lpstr>Example of Insertions in an AVL Tree</vt:lpstr>
      <vt:lpstr>Single rotation (outside case)</vt:lpstr>
      <vt:lpstr>Double rotation (inside case)</vt:lpstr>
      <vt:lpstr>AVL Tree Deletion</vt:lpstr>
      <vt:lpstr>Pros &amp; Cons of AVL Trees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jiexin</dc:creator>
  <cp:lastModifiedBy>JXWang</cp:lastModifiedBy>
  <cp:revision>120</cp:revision>
  <dcterms:created xsi:type="dcterms:W3CDTF">2023-09-15T07:16:39Z</dcterms:created>
  <dcterms:modified xsi:type="dcterms:W3CDTF">2023-09-15T07:16:39Z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1033-4.4.1.7618</vt:lpwstr>
  </property>
</Properties>
</file>