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1025" r:id="rId3"/>
    <p:sldId id="1003" r:id="rId5"/>
    <p:sldId id="1004" r:id="rId6"/>
    <p:sldId id="1002" r:id="rId7"/>
    <p:sldId id="1005" r:id="rId8"/>
    <p:sldId id="1007" r:id="rId9"/>
    <p:sldId id="1008" r:id="rId10"/>
    <p:sldId id="1009" r:id="rId11"/>
    <p:sldId id="1010" r:id="rId12"/>
    <p:sldId id="1017" r:id="rId13"/>
    <p:sldId id="1018" r:id="rId14"/>
    <p:sldId id="1012" r:id="rId15"/>
    <p:sldId id="1013" r:id="rId16"/>
    <p:sldId id="1014" r:id="rId17"/>
    <p:sldId id="1019" r:id="rId18"/>
    <p:sldId id="1016" r:id="rId19"/>
    <p:sldId id="1021" r:id="rId20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263AF8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77" autoAdjust="0"/>
    <p:restoredTop sz="96429" autoAdjust="0"/>
  </p:normalViewPr>
  <p:slideViewPr>
    <p:cSldViewPr>
      <p:cViewPr varScale="1">
        <p:scale>
          <a:sx n="85" d="100"/>
          <a:sy n="85" d="100"/>
        </p:scale>
        <p:origin x="2778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6F3FE6-94CA-489F-AF86-2A643E955FD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6F3FE6-94CA-489F-AF86-2A643E955FD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22FB22-F7E6-4A7F-B777-2BEE7F64511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itka Small" panose="02000505000000020004" pitchFamily="2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>
                <a:latin typeface="Sitka Text" panose="02000505000000020004" pitchFamily="2" charset="0"/>
              </a:defRPr>
            </a:lvl1pPr>
            <a:lvl2pPr>
              <a:defRPr sz="2000">
                <a:latin typeface="Sitka Text" panose="02000505000000020004" pitchFamily="2" charset="0"/>
              </a:defRPr>
            </a:lvl2pPr>
            <a:lvl3pPr>
              <a:defRPr sz="1800">
                <a:latin typeface="Sitka Text" panose="02000505000000020004" pitchFamily="2" charset="0"/>
              </a:defRPr>
            </a:lvl3pPr>
            <a:lvl4pPr>
              <a:defRPr sz="1400">
                <a:latin typeface="Sitka Text" panose="02000505000000020004" pitchFamily="2" charset="0"/>
              </a:defRPr>
            </a:lvl4pPr>
            <a:lvl5pPr>
              <a:defRPr sz="1400">
                <a:latin typeface="Sitka Text" panose="02000505000000020004" pitchFamily="2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7CABFA-108F-49F6-AC2B-6BEEA73840A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85FFDB-0183-4397-97C1-7865D60A66B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CFEA96-4878-4578-A160-1093C69C388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274117-0AF3-434A-A9DA-C9C0EAB1DDA7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C68990-DA45-458F-8661-F2713B5F085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AB1139-56E5-44E0-AA1C-F7063CE5F7C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2C6FA9-40F0-48EF-A33D-DC8C2ADCDDE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FA2C1D-A747-4146-8C67-3A0D7B32D02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1B3EF0-1AB3-41C8-A843-898478BE828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E98526-F3FA-45E5-B573-CF707EA69BA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371E994D-A1E2-4B75-A34C-8953964E2E2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anose="02000505000000020004" pitchFamily="2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0" y="2350296"/>
            <a:ext cx="6858000" cy="1185863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Sorting</a:t>
            </a:r>
            <a:endParaRPr lang="zh-CN" altLang="en-US" dirty="0" smtClean="0">
              <a:latin typeface="Sitka Small" panose="02000505000000020004" pitchFamily="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57250" y="4416266"/>
            <a:ext cx="5143500" cy="1420892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“Linear-Time” Sorts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6B560C-85F2-4274-B027-236D85801EB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Bucket </a:t>
            </a:r>
            <a:r>
              <a:rPr lang="en-US" altLang="zh-CN" dirty="0"/>
              <a:t>Sort</a:t>
            </a:r>
            <a:endParaRPr lang="zh-CN" altLang="en-US" dirty="0" smtClean="0"/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>
          <a:xfrm>
            <a:off x="342901" y="3131840"/>
            <a:ext cx="6326981" cy="4392487"/>
          </a:xfrm>
        </p:spPr>
        <p:txBody>
          <a:bodyPr>
            <a:normAutofit/>
          </a:bodyPr>
          <a:lstStyle/>
          <a:p>
            <a:pPr lvl="3"/>
            <a:endParaRPr lang="en-US" altLang="zh-CN" dirty="0"/>
          </a:p>
          <a:p>
            <a:pPr lvl="2"/>
            <a:endParaRPr lang="en-US" altLang="zh-CN" sz="1600" dirty="0"/>
          </a:p>
          <a:p>
            <a:r>
              <a:rPr lang="en-US" altLang="zh-CN" dirty="0" smtClean="0"/>
              <a:t>Bucket Sort</a:t>
            </a:r>
            <a:endParaRPr lang="en-US" altLang="zh-CN" dirty="0"/>
          </a:p>
          <a:p>
            <a:pPr lvl="1"/>
            <a:r>
              <a:rPr lang="en-US" altLang="zh-CN" dirty="0"/>
              <a:t>The key values are used to determine the positions for the records in the final sorted array.</a:t>
            </a:r>
            <a:endParaRPr lang="en-US" altLang="zh-CN" dirty="0"/>
          </a:p>
          <a:p>
            <a:pPr lvl="1"/>
            <a:r>
              <a:rPr lang="en-US" altLang="zh-CN" dirty="0"/>
              <a:t>It works only for a permutation of the numbers from 0 to </a:t>
            </a:r>
            <a:r>
              <a:rPr lang="en-US" altLang="zh-CN" dirty="0" smtClean="0"/>
              <a:t>N-1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r>
              <a:rPr lang="en-US" altLang="zh-CN" dirty="0"/>
              <a:t>The cost is </a:t>
            </a:r>
            <a:r>
              <a:rPr lang="el-GR" altLang="zh-CN" dirty="0"/>
              <a:t>Θ</a:t>
            </a:r>
            <a:r>
              <a:rPr lang="en-US" altLang="zh-CN" dirty="0" smtClean="0"/>
              <a:t>(N) </a:t>
            </a:r>
            <a:r>
              <a:rPr lang="en-US" altLang="zh-CN" dirty="0"/>
              <a:t>time regardless of the initial ordering of the keys.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4B971178-32A6-42D9-9583-994BF97D11A4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矩形 1"/>
          <p:cNvSpPr/>
          <p:nvPr/>
        </p:nvSpPr>
        <p:spPr>
          <a:xfrm>
            <a:off x="1124744" y="2505311"/>
            <a:ext cx="3429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>
                <a:latin typeface="Sitka Text" panose="02000505000000020004" pitchFamily="2" charset="0"/>
              </a:rPr>
              <a:t>for (</a:t>
            </a:r>
            <a:r>
              <a:rPr lang="en-US" altLang="zh-CN" sz="2400" dirty="0" err="1">
                <a:latin typeface="Sitka Text" panose="02000505000000020004" pitchFamily="2" charset="0"/>
              </a:rPr>
              <a:t>i</a:t>
            </a:r>
            <a:r>
              <a:rPr lang="en-US" altLang="zh-CN" sz="2400" dirty="0">
                <a:latin typeface="Sitka Text" panose="02000505000000020004" pitchFamily="2" charset="0"/>
              </a:rPr>
              <a:t>=0; </a:t>
            </a:r>
            <a:r>
              <a:rPr lang="en-US" altLang="zh-CN" sz="2400" dirty="0" err="1">
                <a:latin typeface="Sitka Text" panose="02000505000000020004" pitchFamily="2" charset="0"/>
              </a:rPr>
              <a:t>i</a:t>
            </a:r>
            <a:r>
              <a:rPr lang="en-US" altLang="zh-CN" sz="2400" dirty="0">
                <a:latin typeface="Sitka Text" panose="02000505000000020004" pitchFamily="2" charset="0"/>
              </a:rPr>
              <a:t>&lt;n; </a:t>
            </a:r>
            <a:r>
              <a:rPr lang="en-US" altLang="zh-CN" sz="2400" dirty="0" err="1">
                <a:latin typeface="Sitka Text" panose="02000505000000020004" pitchFamily="2" charset="0"/>
              </a:rPr>
              <a:t>i</a:t>
            </a:r>
            <a:r>
              <a:rPr lang="en-US" altLang="zh-CN" sz="2400" dirty="0">
                <a:latin typeface="Sitka Text" panose="02000505000000020004" pitchFamily="2" charset="0"/>
              </a:rPr>
              <a:t>++)</a:t>
            </a:r>
            <a:endParaRPr lang="en-US" altLang="zh-CN" sz="2400" dirty="0">
              <a:latin typeface="Sitka Text" panose="02000505000000020004" pitchFamily="2" charset="0"/>
            </a:endParaRPr>
          </a:p>
          <a:p>
            <a:r>
              <a:rPr lang="en-US" altLang="zh-CN" sz="2400" dirty="0">
                <a:latin typeface="Sitka Text" panose="02000505000000020004" pitchFamily="2" charset="0"/>
              </a:rPr>
              <a:t>  </a:t>
            </a:r>
            <a:r>
              <a:rPr lang="en-US" altLang="zh-CN" sz="2400" dirty="0" smtClean="0">
                <a:latin typeface="Sitka Text" panose="02000505000000020004" pitchFamily="2" charset="0"/>
              </a:rPr>
              <a:t> B[A[</a:t>
            </a:r>
            <a:r>
              <a:rPr lang="en-US" altLang="zh-CN" sz="2400" dirty="0" err="1" smtClean="0">
                <a:latin typeface="Sitka Text" panose="02000505000000020004" pitchFamily="2" charset="0"/>
              </a:rPr>
              <a:t>i</a:t>
            </a:r>
            <a:r>
              <a:rPr lang="en-US" altLang="zh-CN" sz="2400" dirty="0">
                <a:latin typeface="Sitka Text" panose="02000505000000020004" pitchFamily="2" charset="0"/>
              </a:rPr>
              <a:t>]] = A[</a:t>
            </a:r>
            <a:r>
              <a:rPr lang="en-US" altLang="zh-CN" sz="2400" dirty="0" err="1">
                <a:latin typeface="Sitka Text" panose="02000505000000020004" pitchFamily="2" charset="0"/>
              </a:rPr>
              <a:t>i</a:t>
            </a:r>
            <a:r>
              <a:rPr lang="en-US" altLang="zh-CN" sz="2400" dirty="0">
                <a:latin typeface="Sitka Text" panose="02000505000000020004" pitchFamily="2" charset="0"/>
              </a:rPr>
              <a:t>];</a:t>
            </a:r>
            <a:endParaRPr lang="en-US" altLang="zh-CN" sz="2400" dirty="0">
              <a:latin typeface="Sitka Text" panose="02000505000000020004" pitchFamily="2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44DB61-56AB-46B9-BCAA-17BA30C91A1C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Bucket Sort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FBB6D8-B933-45A0-9F43-F39F5BFE782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1972806"/>
            <a:ext cx="6858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/** </a:t>
            </a:r>
            <a:endParaRPr lang="en-US" altLang="zh-CN" sz="2000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Bucket Sort</a:t>
            </a:r>
            <a:endParaRPr lang="en-US" altLang="zh-CN" sz="2000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Allow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for duplicate values among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keys</a:t>
            </a:r>
            <a:endParaRPr lang="en-US" altLang="zh-CN" sz="2000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Allow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for a set of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N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records falling in a range larger </a:t>
            </a:r>
            <a:endParaRPr lang="en-US" altLang="zh-CN" sz="2000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than N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([0,MaxKeyValue-1])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**/</a:t>
            </a:r>
            <a:endParaRPr lang="en-US" altLang="zh-CN" sz="2000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template </a:t>
            </a:r>
            <a:r>
              <a:rPr lang="en-US" altLang="zh-CN" sz="2000" dirty="0">
                <a:latin typeface="Sitka Text" panose="02000505000000020004" pitchFamily="2" charset="0"/>
              </a:rPr>
              <a:t>&lt;</a:t>
            </a:r>
            <a:r>
              <a:rPr lang="en-US" altLang="zh-CN" sz="2000" dirty="0" err="1">
                <a:latin typeface="Sitka Text" panose="02000505000000020004" pitchFamily="2" charset="0"/>
              </a:rPr>
              <a:t>typename</a:t>
            </a:r>
            <a:r>
              <a:rPr lang="en-US" altLang="zh-CN" sz="2000" dirty="0">
                <a:latin typeface="Sitka Text" panose="02000505000000020004" pitchFamily="2" charset="0"/>
              </a:rPr>
              <a:t> E, class </a:t>
            </a:r>
            <a:r>
              <a:rPr lang="en-US" altLang="zh-CN" sz="2000" dirty="0" err="1">
                <a:latin typeface="Sitka Text" panose="02000505000000020004" pitchFamily="2" charset="0"/>
              </a:rPr>
              <a:t>getKey</a:t>
            </a:r>
            <a:r>
              <a:rPr lang="en-US" altLang="zh-CN" sz="2000" dirty="0">
                <a:latin typeface="Sitka Text" panose="02000505000000020004" pitchFamily="2" charset="0"/>
              </a:rPr>
              <a:t>&gt;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void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bucketsort</a:t>
            </a:r>
            <a:r>
              <a:rPr lang="en-US" altLang="zh-CN" sz="2000" dirty="0" smtClean="0">
                <a:latin typeface="Sitka Text" panose="02000505000000020004" pitchFamily="2" charset="0"/>
              </a:rPr>
              <a:t>(E </a:t>
            </a:r>
            <a:r>
              <a:rPr lang="en-US" altLang="zh-CN" sz="2000" dirty="0">
                <a:latin typeface="Sitka Text" panose="02000505000000020004" pitchFamily="2" charset="0"/>
              </a:rPr>
              <a:t>A[], </a:t>
            </a:r>
            <a:r>
              <a:rPr lang="en-US" altLang="zh-CN" sz="2000" dirty="0" err="1">
                <a:latin typeface="Sitka Text" panose="02000505000000020004" pitchFamily="2" charset="0"/>
              </a:rPr>
              <a:t>int</a:t>
            </a:r>
            <a:r>
              <a:rPr lang="en-US" altLang="zh-CN" sz="2000" dirty="0">
                <a:latin typeface="Sitka Text" panose="02000505000000020004" pitchFamily="2" charset="0"/>
              </a:rPr>
              <a:t> n) </a:t>
            </a:r>
            <a:r>
              <a:rPr lang="en-US" altLang="zh-CN" sz="2000" dirty="0" smtClean="0">
                <a:latin typeface="Sitka Text" panose="02000505000000020004" pitchFamily="2" charset="0"/>
              </a:rPr>
              <a:t>{</a:t>
            </a:r>
            <a:endParaRPr lang="en-US" altLang="zh-CN" sz="2000" dirty="0" smtClean="0">
              <a:latin typeface="Sitka Text" panose="02000505000000020004" pitchFamily="2" charset="0"/>
            </a:endParaRPr>
          </a:p>
          <a:p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List&lt;E&gt; B[</a:t>
            </a:r>
            <a:r>
              <a:rPr lang="en-US" altLang="zh-CN" sz="2000" dirty="0" err="1">
                <a:latin typeface="Sitka Text" panose="02000505000000020004" pitchFamily="2" charset="0"/>
              </a:rPr>
              <a:t>MaxKeyValue</a:t>
            </a:r>
            <a:r>
              <a:rPr lang="en-US" altLang="zh-CN" sz="2000" dirty="0">
                <a:latin typeface="Sitka Text" panose="02000505000000020004" pitchFamily="2" charset="0"/>
              </a:rPr>
              <a:t>];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//An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array of linked 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lists</a:t>
            </a:r>
            <a:endParaRPr lang="en-US" altLang="zh-CN" sz="2000" dirty="0" smtClean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latin typeface="Sitka Text" panose="02000505000000020004" pitchFamily="2" charset="0"/>
              </a:rPr>
              <a:t> E </a:t>
            </a:r>
            <a:r>
              <a:rPr lang="en-US" altLang="zh-CN" sz="2000" dirty="0">
                <a:latin typeface="Sitka Text" panose="02000505000000020004" pitchFamily="2" charset="0"/>
              </a:rPr>
              <a:t>item;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//assign records to bins 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for (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=0;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&lt;n;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 smtClean="0">
                <a:latin typeface="Sitka Text" panose="02000505000000020004" pitchFamily="2" charset="0"/>
              </a:rPr>
              <a:t>++)</a:t>
            </a:r>
            <a:endParaRPr lang="en-US" altLang="zh-CN" sz="2000" dirty="0" smtClean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//All records with key value </a:t>
            </a:r>
            <a:r>
              <a:rPr lang="en-US" altLang="zh-CN" sz="2000" dirty="0" err="1">
                <a:solidFill>
                  <a:srgbClr val="008000"/>
                </a:solidFill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 are placed in bin B[</a:t>
            </a:r>
            <a:r>
              <a:rPr lang="en-US" altLang="zh-CN" sz="2000" dirty="0" err="1">
                <a:solidFill>
                  <a:srgbClr val="008000"/>
                </a:solidFill>
                <a:latin typeface="Sitka Text" panose="02000505000000020004" pitchFamily="2" charset="0"/>
              </a:rPr>
              <a:t>i</a:t>
            </a:r>
            <a:r>
              <a:rPr lang="en-US" altLang="zh-CN" sz="2000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]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  B[</a:t>
            </a:r>
            <a:r>
              <a:rPr lang="en-US" altLang="zh-CN" sz="2000" dirty="0" err="1">
                <a:latin typeface="Sitka Text" panose="02000505000000020004" pitchFamily="2" charset="0"/>
              </a:rPr>
              <a:t>getKey</a:t>
            </a:r>
            <a:r>
              <a:rPr lang="en-US" altLang="zh-CN" sz="2000" dirty="0">
                <a:latin typeface="Sitka Text" panose="02000505000000020004" pitchFamily="2" charset="0"/>
              </a:rPr>
              <a:t>::key(A[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])].append(</a:t>
            </a:r>
            <a:r>
              <a:rPr lang="en-US" altLang="zh-CN" sz="2000" dirty="0" err="1">
                <a:latin typeface="Sitka Text" panose="02000505000000020004" pitchFamily="2" charset="0"/>
              </a:rPr>
              <a:t>getKey</a:t>
            </a:r>
            <a:r>
              <a:rPr lang="en-US" altLang="zh-CN" sz="2000" dirty="0">
                <a:latin typeface="Sitka Text" panose="02000505000000020004" pitchFamily="2" charset="0"/>
              </a:rPr>
              <a:t>::key(A[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]));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  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//process </a:t>
            </a:r>
            <a:r>
              <a:rPr lang="en-US" altLang="zh-CN" sz="2000" dirty="0" err="1">
                <a:solidFill>
                  <a:srgbClr val="008000"/>
                </a:solidFill>
                <a:latin typeface="Sitka Text" panose="02000505000000020004" pitchFamily="2" charset="0"/>
              </a:rPr>
              <a:t>MaxKeyValue</a:t>
            </a:r>
            <a:r>
              <a:rPr lang="en-US" altLang="zh-CN" sz="2000" dirty="0">
                <a:solidFill>
                  <a:srgbClr val="008000"/>
                </a:solidFill>
                <a:latin typeface="Sitka Text" panose="02000505000000020004" pitchFamily="2" charset="0"/>
              </a:rPr>
              <a:t> bins to output records</a:t>
            </a:r>
            <a:endParaRPr lang="en-US" altLang="zh-CN" sz="2000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for (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=0;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&lt;</a:t>
            </a:r>
            <a:r>
              <a:rPr lang="en-US" altLang="zh-CN" sz="2000" dirty="0" err="1">
                <a:latin typeface="Sitka Text" panose="02000505000000020004" pitchFamily="2" charset="0"/>
              </a:rPr>
              <a:t>MaxKeyValue</a:t>
            </a:r>
            <a:r>
              <a:rPr lang="en-US" altLang="zh-CN" sz="2000" dirty="0">
                <a:latin typeface="Sitka Text" panose="02000505000000020004" pitchFamily="2" charset="0"/>
              </a:rPr>
              <a:t>; 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++)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  for (B[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].</a:t>
            </a:r>
            <a:r>
              <a:rPr lang="en-US" altLang="zh-CN" sz="2000" dirty="0" err="1">
                <a:latin typeface="Sitka Text" panose="02000505000000020004" pitchFamily="2" charset="0"/>
              </a:rPr>
              <a:t>setStart</a:t>
            </a:r>
            <a:r>
              <a:rPr lang="en-US" altLang="zh-CN" sz="2000" dirty="0">
                <a:latin typeface="Sitka Text" panose="02000505000000020004" pitchFamily="2" charset="0"/>
              </a:rPr>
              <a:t>(); B[</a:t>
            </a:r>
            <a:r>
              <a:rPr lang="en-US" altLang="zh-CN" sz="2000" dirty="0" err="1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].</a:t>
            </a:r>
            <a:r>
              <a:rPr lang="en-US" altLang="zh-CN" sz="2000" dirty="0" err="1">
                <a:latin typeface="Sitka Text" panose="02000505000000020004" pitchFamily="2" charset="0"/>
              </a:rPr>
              <a:t>getValue</a:t>
            </a:r>
            <a:r>
              <a:rPr lang="en-US" altLang="zh-CN" sz="2000" dirty="0">
                <a:latin typeface="Sitka Text" panose="02000505000000020004" pitchFamily="2" charset="0"/>
              </a:rPr>
              <a:t>(item); </a:t>
            </a:r>
            <a:r>
              <a:rPr lang="en-US" altLang="zh-CN" sz="2000" dirty="0" smtClean="0">
                <a:latin typeface="Sitka Text" panose="02000505000000020004" pitchFamily="2" charset="0"/>
              </a:rPr>
              <a:t>B[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i</a:t>
            </a:r>
            <a:r>
              <a:rPr lang="en-US" altLang="zh-CN" sz="2000" dirty="0">
                <a:latin typeface="Sitka Text" panose="02000505000000020004" pitchFamily="2" charset="0"/>
              </a:rPr>
              <a:t>].next())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      output(item);</a:t>
            </a:r>
            <a:endParaRPr lang="en-US" altLang="zh-CN" sz="2000" dirty="0">
              <a:latin typeface="Sitka Text" panose="02000505000000020004" pitchFamily="2" charset="0"/>
            </a:endParaRPr>
          </a:p>
          <a:p>
            <a:r>
              <a:rPr lang="en-US" altLang="zh-CN" sz="2000" dirty="0">
                <a:latin typeface="Sitka Text" panose="02000505000000020004" pitchFamily="2" charset="0"/>
              </a:rPr>
              <a:t>}</a:t>
            </a:r>
            <a:endParaRPr lang="en-US" altLang="zh-CN" sz="2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Bucket </a:t>
            </a:r>
            <a:r>
              <a:rPr lang="en-US" altLang="zh-CN" dirty="0"/>
              <a:t>Sort </a:t>
            </a:r>
            <a:endParaRPr lang="zh-CN" altLang="en-US" dirty="0" smtClean="0"/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The time cost consists of 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ym typeface="Symbol" panose="05050102010706020507" pitchFamily="18" charset="2"/>
              </a:rPr>
              <a:t>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 for assigning 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 records to </a:t>
            </a:r>
            <a:r>
              <a:rPr lang="en-US" altLang="zh-CN" dirty="0" smtClean="0"/>
              <a:t>buckets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Scan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MaxKeyValue</a:t>
            </a:r>
            <a:r>
              <a:rPr lang="en-US" altLang="zh-CN" dirty="0" smtClean="0"/>
              <a:t> </a:t>
            </a:r>
            <a:r>
              <a:rPr lang="en-US" altLang="zh-CN" dirty="0" smtClean="0"/>
              <a:t>buckets </a:t>
            </a:r>
            <a:r>
              <a:rPr lang="en-US" altLang="zh-CN" dirty="0" smtClean="0"/>
              <a:t>to output </a:t>
            </a:r>
            <a:r>
              <a:rPr lang="en-US" altLang="zh-CN" dirty="0"/>
              <a:t>N</a:t>
            </a:r>
            <a:r>
              <a:rPr lang="en-US" altLang="zh-CN" dirty="0" smtClean="0"/>
              <a:t> records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If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MaxKeyValue</a:t>
            </a:r>
            <a:r>
              <a:rPr lang="en-US" altLang="zh-CN" b="1" dirty="0" smtClean="0">
                <a:cs typeface="Courier New" panose="02070309020205020404" pitchFamily="49" charset="0"/>
              </a:rPr>
              <a:t> is </a:t>
            </a:r>
            <a:r>
              <a:rPr lang="en-US" altLang="zh-CN" dirty="0" smtClean="0">
                <a:sym typeface="Symbol" panose="05050102010706020507" pitchFamily="18" charset="2"/>
              </a:rPr>
              <a:t></a:t>
            </a:r>
            <a:r>
              <a:rPr lang="en-US" altLang="zh-CN" dirty="0" smtClean="0"/>
              <a:t>(N), the total cost is </a:t>
            </a:r>
            <a:r>
              <a:rPr lang="en-US" altLang="zh-CN" dirty="0" smtClean="0">
                <a:sym typeface="Symbol" panose="05050102010706020507" pitchFamily="18" charset="2"/>
              </a:rPr>
              <a:t></a:t>
            </a:r>
            <a:r>
              <a:rPr lang="en-US" altLang="zh-CN" dirty="0" smtClean="0"/>
              <a:t>(N);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If </a:t>
            </a:r>
            <a:r>
              <a:rPr lang="en-US" altLang="zh-CN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MaxKeyValue</a:t>
            </a:r>
            <a:r>
              <a:rPr lang="en-US" altLang="zh-CN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smtClean="0"/>
              <a:t>is </a:t>
            </a:r>
            <a:r>
              <a:rPr lang="en-US" altLang="zh-CN" dirty="0" smtClean="0">
                <a:sym typeface="Symbol" panose="05050102010706020507" pitchFamily="18" charset="2"/>
              </a:rPr>
              <a:t></a:t>
            </a:r>
            <a:r>
              <a:rPr lang="en-US" altLang="zh-CN" dirty="0" smtClean="0"/>
              <a:t>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), </a:t>
            </a:r>
            <a:r>
              <a:rPr lang="en-US" altLang="zh-CN" dirty="0" smtClean="0">
                <a:solidFill>
                  <a:srgbClr val="FF0000"/>
                </a:solidFill>
              </a:rPr>
              <a:t>the total cost becomes </a:t>
            </a:r>
            <a:r>
              <a:rPr lang="en-US" altLang="zh-CN" dirty="0" smtClean="0">
                <a:solidFill>
                  <a:srgbClr val="FF0000"/>
                </a:solidFill>
                <a:sym typeface="Symbol" panose="05050102010706020507" pitchFamily="18" charset="2"/>
              </a:rPr>
              <a:t></a:t>
            </a:r>
            <a:r>
              <a:rPr lang="en-US" altLang="zh-CN" dirty="0" smtClean="0">
                <a:solidFill>
                  <a:srgbClr val="FF0000"/>
                </a:solidFill>
              </a:rPr>
              <a:t>(N+N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</a:rPr>
              <a:t>)=</a:t>
            </a:r>
            <a:r>
              <a:rPr lang="en-US" altLang="zh-CN" dirty="0" smtClean="0">
                <a:solidFill>
                  <a:srgbClr val="FF0000"/>
                </a:solidFill>
                <a:sym typeface="Symbol" panose="05050102010706020507" pitchFamily="18" charset="2"/>
              </a:rPr>
              <a:t></a:t>
            </a:r>
            <a:r>
              <a:rPr lang="en-US" altLang="zh-CN" dirty="0" smtClean="0">
                <a:solidFill>
                  <a:srgbClr val="FF0000"/>
                </a:solidFill>
              </a:rPr>
              <a:t>(N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</a:rPr>
              <a:t>);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3"/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en-US" altLang="zh-CN" dirty="0" smtClean="0"/>
              <a:t>A large key range requires an unacceptably large array B.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Useful only for a limited key range.</a:t>
            </a:r>
            <a:endParaRPr lang="en-US" altLang="zh-CN" dirty="0" smtClean="0"/>
          </a:p>
          <a:p>
            <a:pPr lvl="3"/>
            <a:endParaRPr lang="zh-CN" alt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FBCA907B-7E93-4784-ADDE-7CE70AEBC824}" type="slidenum">
              <a:rPr lang="en-US" altLang="zh-CN" smtClean="0"/>
            </a:fld>
            <a:endParaRPr lang="en-US" altLang="zh-CN" dirty="0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2F85CD-20E6-4A87-BF9E-D49C3D857E9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Bucket Sort </a:t>
            </a:r>
            <a:endParaRPr lang="zh-CN" altLang="en-US" dirty="0" smtClean="0"/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A further generalization</a:t>
            </a:r>
            <a:endParaRPr lang="en-US" altLang="zh-CN" dirty="0"/>
          </a:p>
          <a:p>
            <a:pPr lvl="1"/>
            <a:r>
              <a:rPr lang="en-US" altLang="zh-CN" dirty="0"/>
              <a:t>Each </a:t>
            </a:r>
            <a:r>
              <a:rPr lang="en-US" altLang="zh-CN" dirty="0" smtClean="0"/>
              <a:t>bucket </a:t>
            </a:r>
            <a:r>
              <a:rPr lang="en-US" altLang="zh-CN" dirty="0"/>
              <a:t>is associated with </a:t>
            </a:r>
            <a:r>
              <a:rPr lang="en-US" altLang="zh-CN" dirty="0">
                <a:solidFill>
                  <a:srgbClr val="FF0000"/>
                </a:solidFill>
              </a:rPr>
              <a:t>a range of key values</a:t>
            </a:r>
            <a:r>
              <a:rPr lang="en-US" altLang="zh-CN" dirty="0"/>
              <a:t>, instead of a single key value</a:t>
            </a:r>
            <a:endParaRPr lang="en-US" altLang="zh-CN" dirty="0"/>
          </a:p>
          <a:p>
            <a:pPr lvl="4"/>
            <a:endParaRPr lang="en-US" altLang="zh-CN" dirty="0"/>
          </a:p>
          <a:p>
            <a:r>
              <a:rPr lang="en-US" altLang="zh-CN" dirty="0"/>
              <a:t>A bucket sort assigns records to </a:t>
            </a:r>
            <a:r>
              <a:rPr lang="en-US" altLang="zh-CN" dirty="0" smtClean="0"/>
              <a:t>buckets </a:t>
            </a:r>
            <a:r>
              <a:rPr lang="en-US" altLang="zh-CN" dirty="0"/>
              <a:t>and then relies on some other sorting technique to sort the records within each </a:t>
            </a:r>
            <a:r>
              <a:rPr lang="en-US" altLang="zh-CN" dirty="0" smtClean="0"/>
              <a:t>bucket.</a:t>
            </a:r>
            <a:endParaRPr lang="en-US" altLang="zh-CN" dirty="0"/>
          </a:p>
          <a:p>
            <a:pPr lvl="1"/>
            <a:r>
              <a:rPr lang="en-US" altLang="zh-CN" dirty="0"/>
              <a:t>A small number of records will be put in each </a:t>
            </a:r>
            <a:r>
              <a:rPr lang="en-US" altLang="zh-CN" dirty="0" smtClean="0"/>
              <a:t>bucket </a:t>
            </a:r>
            <a:r>
              <a:rPr lang="en-US" altLang="zh-CN" dirty="0"/>
              <a:t>by relatively inexpensive bucketing process</a:t>
            </a:r>
            <a:endParaRPr lang="en-US" altLang="zh-CN" dirty="0"/>
          </a:p>
          <a:p>
            <a:pPr lvl="1"/>
            <a:r>
              <a:rPr lang="en-US" altLang="zh-CN" dirty="0"/>
              <a:t>A cleanup sort within the </a:t>
            </a:r>
            <a:r>
              <a:rPr lang="en-US" altLang="zh-CN" dirty="0" smtClean="0"/>
              <a:t>bucket </a:t>
            </a:r>
            <a:r>
              <a:rPr lang="en-US" altLang="zh-CN" dirty="0"/>
              <a:t>will be relatively cheap.</a:t>
            </a:r>
            <a:endParaRPr lang="zh-CN" altLang="en-US" dirty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9BAE296F-158E-49B9-9346-3186B74E8C51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8EAF21-7DF8-4160-B5B9-6E81C7A8E998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Bucket Sort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385" y="1979711"/>
            <a:ext cx="5915025" cy="6260475"/>
          </a:xfrm>
        </p:spPr>
        <p:txBody>
          <a:bodyPr>
            <a:normAutofit/>
          </a:bodyPr>
          <a:lstStyle/>
          <a:p>
            <a:r>
              <a:rPr lang="en-US" altLang="zh-CN" sz="2000" dirty="0" smtClean="0"/>
              <a:t>Consider a sequence of records with keys in the range 0 to 99</a:t>
            </a:r>
            <a:endParaRPr lang="en-US" altLang="zh-CN" sz="2000" dirty="0" smtClean="0"/>
          </a:p>
          <a:p>
            <a:pPr lvl="1"/>
            <a:r>
              <a:rPr lang="en-US" altLang="zh-CN" sz="1600" b="1" dirty="0" smtClean="0">
                <a:solidFill>
                  <a:srgbClr val="263AF8"/>
                </a:solidFill>
              </a:rPr>
              <a:t>27,91,1,97,17,23,84,28,72,5,67,25</a:t>
            </a:r>
            <a:endParaRPr lang="en-US" altLang="zh-CN" sz="1600" b="1" dirty="0" smtClean="0">
              <a:solidFill>
                <a:srgbClr val="263AF8"/>
              </a:solidFill>
            </a:endParaRPr>
          </a:p>
          <a:p>
            <a:r>
              <a:rPr lang="en-US" altLang="zh-CN" sz="2000" dirty="0" smtClean="0"/>
              <a:t>There are </a:t>
            </a:r>
            <a:r>
              <a:rPr lang="en-US" altLang="zh-CN" sz="2000" dirty="0" smtClean="0">
                <a:solidFill>
                  <a:srgbClr val="263AF8"/>
                </a:solidFill>
              </a:rPr>
              <a:t>10</a:t>
            </a:r>
            <a:r>
              <a:rPr lang="en-US" altLang="zh-CN" sz="2000" dirty="0" smtClean="0"/>
              <a:t> buckets available</a:t>
            </a:r>
            <a:endParaRPr lang="en-US" altLang="zh-CN" sz="2000" dirty="0" smtClean="0"/>
          </a:p>
          <a:p>
            <a:r>
              <a:rPr lang="en-US" altLang="zh-CN" sz="2000" dirty="0" smtClean="0"/>
              <a:t>We can assign records to buckets by taking </a:t>
            </a:r>
            <a:r>
              <a:rPr lang="en-US" altLang="zh-CN" sz="2000" dirty="0" smtClean="0">
                <a:solidFill>
                  <a:srgbClr val="263AF8"/>
                </a:solidFill>
                <a:cs typeface="Courier New" panose="02070309020205020404" pitchFamily="49" charset="0"/>
              </a:rPr>
              <a:t>key%10</a:t>
            </a:r>
            <a:r>
              <a:rPr lang="en-US" altLang="zh-CN" sz="2000" dirty="0" smtClean="0"/>
              <a:t>.</a:t>
            </a:r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AA1974-F1F9-42D6-964F-E3CF3E0F21C7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640" y="4427984"/>
            <a:ext cx="3162251" cy="3228131"/>
          </a:xfrm>
          <a:prstGeom prst="rect">
            <a:avLst/>
          </a:prstGeom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419364" y="3993008"/>
            <a:ext cx="19446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B[A[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]%10]</a:t>
            </a:r>
            <a:endParaRPr lang="zh-CN" alt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878" y="7952894"/>
            <a:ext cx="3419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Sitka Text" panose="02000505000000020004" pitchFamily="2" charset="0"/>
              </a:rPr>
              <a:t>91,1,72,23,84,5,25,27,97,17,67,28</a:t>
            </a:r>
            <a:endParaRPr lang="zh-CN" altLang="en-US" sz="1600" dirty="0">
              <a:latin typeface="Sitka Text" panose="02000505000000020004" pitchFamily="2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864" y="4512221"/>
            <a:ext cx="3072291" cy="3180471"/>
          </a:xfrm>
          <a:prstGeom prst="rect">
            <a:avLst/>
          </a:prstGeom>
        </p:spPr>
      </p:pic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3910459" y="4039214"/>
            <a:ext cx="19446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B[A[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]/10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zh-CN" alt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48526" y="7927263"/>
            <a:ext cx="3582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1,5,17,23,25,27,28,67,72,84,91,97</a:t>
            </a:r>
            <a:endParaRPr lang="zh-CN" altLang="en-US" sz="1600" dirty="0">
              <a:solidFill>
                <a:srgbClr val="263AF8"/>
              </a:solidFill>
              <a:latin typeface="Sitka Text" panose="02000505000000020004" pitchFamily="2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71B9E7-7FC1-4540-9A08-5E06D3A138C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Bucket Sort</a:t>
            </a:r>
            <a:endParaRPr lang="zh-CN" altLang="en-US" dirty="0" smtClean="0"/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In the previous example, </a:t>
            </a:r>
            <a:endParaRPr lang="en-US" altLang="zh-CN" sz="2000" dirty="0"/>
          </a:p>
          <a:p>
            <a:pPr lvl="1"/>
            <a:r>
              <a:rPr lang="en-US" altLang="zh-CN" sz="1800" dirty="0"/>
              <a:t>There are </a:t>
            </a:r>
            <a:r>
              <a:rPr lang="en-US" altLang="zh-CN" sz="1800" dirty="0" smtClean="0"/>
              <a:t>b=10 buckets </a:t>
            </a:r>
            <a:r>
              <a:rPr lang="en-US" altLang="zh-CN" sz="1800" dirty="0"/>
              <a:t>and </a:t>
            </a:r>
            <a:r>
              <a:rPr lang="en-US" altLang="zh-CN" sz="1800" dirty="0" smtClean="0"/>
              <a:t>N=12 </a:t>
            </a:r>
            <a:r>
              <a:rPr lang="en-US" altLang="zh-CN" sz="1800" dirty="0"/>
              <a:t>keys;</a:t>
            </a:r>
            <a:endParaRPr lang="en-US" altLang="zh-CN" sz="1800" dirty="0"/>
          </a:p>
          <a:p>
            <a:pPr lvl="1"/>
            <a:r>
              <a:rPr lang="en-US" altLang="zh-CN" sz="1800" dirty="0"/>
              <a:t>The key values are in the range of 0 to </a:t>
            </a:r>
            <a:r>
              <a:rPr lang="en-US" altLang="zh-CN" sz="1800" dirty="0" smtClean="0"/>
              <a:t>b</a:t>
            </a:r>
            <a:r>
              <a:rPr lang="en-US" altLang="zh-CN" sz="1800" baseline="30000" dirty="0" smtClean="0"/>
              <a:t>2</a:t>
            </a:r>
            <a:r>
              <a:rPr lang="en-US" altLang="zh-CN" sz="1800" dirty="0" smtClean="0"/>
              <a:t>-1</a:t>
            </a:r>
            <a:r>
              <a:rPr lang="en-US" altLang="zh-CN" sz="1800" dirty="0"/>
              <a:t>;</a:t>
            </a:r>
            <a:endParaRPr lang="en-US" altLang="zh-CN" sz="1800" dirty="0"/>
          </a:p>
          <a:p>
            <a:pPr lvl="3"/>
            <a:endParaRPr lang="en-US" altLang="zh-CN" sz="1600" dirty="0"/>
          </a:p>
          <a:p>
            <a:r>
              <a:rPr lang="en-US" altLang="zh-CN" sz="2000" dirty="0"/>
              <a:t>The records are assigned to </a:t>
            </a:r>
            <a:r>
              <a:rPr lang="en-US" altLang="zh-CN" sz="2000" dirty="0" smtClean="0"/>
              <a:t>buckets </a:t>
            </a:r>
            <a:r>
              <a:rPr lang="en-US" altLang="zh-CN" sz="2000" dirty="0"/>
              <a:t>based on the keys’ </a:t>
            </a:r>
            <a:r>
              <a:rPr lang="en-US" altLang="zh-CN" sz="2000" dirty="0">
                <a:solidFill>
                  <a:srgbClr val="FF0000"/>
                </a:solidFill>
              </a:rPr>
              <a:t>digit values </a:t>
            </a:r>
            <a:r>
              <a:rPr lang="en-US" altLang="zh-CN" sz="2000" dirty="0"/>
              <a:t>working </a:t>
            </a:r>
            <a:r>
              <a:rPr lang="en-US" altLang="zh-CN" sz="2000" dirty="0">
                <a:solidFill>
                  <a:srgbClr val="FF0000"/>
                </a:solidFill>
              </a:rPr>
              <a:t>from the rightmost digit to the leftmost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pPr lvl="1"/>
            <a:r>
              <a:rPr lang="en-US" altLang="zh-CN" sz="1800" dirty="0"/>
              <a:t>Round 1: the bin number is 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B[A[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]%10]</a:t>
            </a:r>
            <a:endParaRPr lang="zh-CN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800" dirty="0"/>
              <a:t>Round 2: the bin number is 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B[A[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]/10]</a:t>
            </a:r>
            <a:endParaRPr lang="en-US" altLang="zh-CN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800" dirty="0"/>
              <a:t>Finally, the records are taken from the </a:t>
            </a:r>
            <a:r>
              <a:rPr lang="en-US" altLang="zh-CN" sz="1800" dirty="0" smtClean="0"/>
              <a:t>buckets </a:t>
            </a:r>
            <a:r>
              <a:rPr lang="en-US" altLang="zh-CN" sz="1800" i="1" dirty="0">
                <a:solidFill>
                  <a:srgbClr val="FF0000"/>
                </a:solidFill>
              </a:rPr>
              <a:t>in order </a:t>
            </a:r>
            <a:r>
              <a:rPr lang="en-US" altLang="zh-CN" sz="1800" dirty="0"/>
              <a:t>which produces a sorted list</a:t>
            </a:r>
            <a:endParaRPr lang="en-US" altLang="zh-CN" sz="1800" dirty="0"/>
          </a:p>
          <a:p>
            <a:pPr lvl="4"/>
            <a:endParaRPr lang="en-US" altLang="zh-CN" sz="1200" dirty="0"/>
          </a:p>
          <a:p>
            <a:r>
              <a:rPr lang="en-US" altLang="zh-CN" sz="2000" dirty="0"/>
              <a:t>The time cost is </a:t>
            </a:r>
            <a:r>
              <a:rPr lang="en-US" altLang="zh-CN" sz="2000" dirty="0">
                <a:sym typeface="Symbol" panose="05050102010706020507" pitchFamily="18" charset="2"/>
              </a:rPr>
              <a:t></a:t>
            </a:r>
            <a:r>
              <a:rPr lang="en-US" altLang="zh-CN" sz="2000" dirty="0" smtClean="0"/>
              <a:t>(N).</a:t>
            </a:r>
            <a:endParaRPr lang="en-US" altLang="zh-CN" sz="2000" dirty="0"/>
          </a:p>
          <a:p>
            <a:endParaRPr lang="zh-CN" altLang="en-US" dirty="0"/>
          </a:p>
          <a:p>
            <a:pPr lvl="1"/>
            <a:endParaRPr lang="en-US" altLang="zh-CN" sz="1800" dirty="0"/>
          </a:p>
          <a:p>
            <a:endParaRPr lang="zh-CN" altLang="en-US" sz="2800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6D2EB0E8-3DBD-4FAC-92CE-4E2DC6D17FD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6B0BBC-0CDD-4387-8FE2-9DE4B082230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Radix Sort</a:t>
            </a:r>
            <a:endParaRPr lang="zh-CN" altLang="en-US" dirty="0" smtClean="0"/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332032" y="2339752"/>
            <a:ext cx="6255867" cy="4258692"/>
          </a:xfrm>
        </p:spPr>
        <p:txBody>
          <a:bodyPr>
            <a:noAutofit/>
          </a:bodyPr>
          <a:lstStyle/>
          <a:p>
            <a:r>
              <a:rPr lang="en-US" altLang="zh-CN" dirty="0"/>
              <a:t>Radix Sort – assign records to </a:t>
            </a:r>
            <a:r>
              <a:rPr lang="en-US" altLang="zh-CN" dirty="0" smtClean="0"/>
              <a:t>buckets </a:t>
            </a:r>
            <a:r>
              <a:rPr lang="en-US" altLang="zh-CN" dirty="0"/>
              <a:t>with the buckets computed based on the </a:t>
            </a:r>
            <a:r>
              <a:rPr lang="en-US" altLang="zh-CN" dirty="0">
                <a:solidFill>
                  <a:srgbClr val="FF0000"/>
                </a:solidFill>
              </a:rPr>
              <a:t>radix</a:t>
            </a:r>
            <a:r>
              <a:rPr lang="en-US" altLang="zh-CN" dirty="0"/>
              <a:t> or the </a:t>
            </a:r>
            <a:r>
              <a:rPr lang="en-US" altLang="zh-CN" dirty="0">
                <a:solidFill>
                  <a:srgbClr val="FF0000"/>
                </a:solidFill>
              </a:rPr>
              <a:t>base</a:t>
            </a:r>
            <a:r>
              <a:rPr lang="en-US" altLang="zh-CN" dirty="0"/>
              <a:t> of the key values</a:t>
            </a:r>
            <a:endParaRPr lang="en-US" altLang="zh-CN" dirty="0"/>
          </a:p>
          <a:p>
            <a:pPr lvl="1"/>
            <a:r>
              <a:rPr lang="en-US" altLang="zh-CN" dirty="0"/>
              <a:t>It would work for any number of </a:t>
            </a:r>
            <a:r>
              <a:rPr lang="en-US" altLang="zh-CN" dirty="0" smtClean="0"/>
              <a:t>buckets</a:t>
            </a:r>
            <a:endParaRPr lang="en-US" altLang="zh-CN" dirty="0"/>
          </a:p>
          <a:p>
            <a:pPr lvl="2"/>
            <a:r>
              <a:rPr lang="en-US" altLang="zh-CN" dirty="0" smtClean="0"/>
              <a:t>base </a:t>
            </a:r>
            <a:r>
              <a:rPr lang="en-US" altLang="zh-CN" dirty="0"/>
              <a:t>= 10, 2, 8, 16, …</a:t>
            </a:r>
            <a:endParaRPr lang="en-US" altLang="zh-CN" dirty="0"/>
          </a:p>
          <a:p>
            <a:pPr lvl="1"/>
            <a:r>
              <a:rPr lang="en-US" altLang="zh-CN" dirty="0"/>
              <a:t>It can be extended to any number of keys in any key range</a:t>
            </a:r>
            <a:endParaRPr lang="en-US" altLang="zh-CN" dirty="0"/>
          </a:p>
          <a:p>
            <a:pPr lvl="1"/>
            <a:r>
              <a:rPr lang="en-US" altLang="zh-CN" dirty="0"/>
              <a:t>Assign records to </a:t>
            </a:r>
            <a:r>
              <a:rPr lang="en-US" altLang="zh-CN" dirty="0" smtClean="0"/>
              <a:t>buckets </a:t>
            </a:r>
            <a:r>
              <a:rPr lang="en-US" altLang="zh-CN" dirty="0"/>
              <a:t>based on the keys’ </a:t>
            </a:r>
            <a:r>
              <a:rPr lang="en-US" altLang="zh-CN" dirty="0">
                <a:solidFill>
                  <a:srgbClr val="263AF8"/>
                </a:solidFill>
              </a:rPr>
              <a:t>digit values </a:t>
            </a:r>
            <a:r>
              <a:rPr lang="en-US" altLang="zh-CN" dirty="0"/>
              <a:t>working from the rightmost digit to the leftmost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B051EA52-B896-4116-9C3B-75D9FB12CD59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352CD4-FFA5-4FDE-A4F2-C1DA877E588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Radix Sort</a:t>
            </a:r>
            <a:endParaRPr lang="zh-CN" altLang="en-US" dirty="0" smtClean="0"/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332032" y="2339752"/>
            <a:ext cx="6255867" cy="4258692"/>
          </a:xfrm>
        </p:spPr>
        <p:txBody>
          <a:bodyPr>
            <a:noAutofit/>
          </a:bodyPr>
          <a:lstStyle/>
          <a:p>
            <a:r>
              <a:rPr lang="en-US" altLang="zh-CN" sz="2000" dirty="0" smtClean="0"/>
              <a:t>Example</a:t>
            </a:r>
            <a:r>
              <a:rPr lang="en-US" altLang="zh-CN" sz="2000" dirty="0"/>
              <a:t>: the number of </a:t>
            </a:r>
            <a:r>
              <a:rPr lang="en-US" altLang="zh-CN" sz="2000" dirty="0" smtClean="0"/>
              <a:t>buckets </a:t>
            </a:r>
            <a:r>
              <a:rPr lang="en-US" altLang="zh-CN" sz="2000" dirty="0"/>
              <a:t>is 8, and a key is 999</a:t>
            </a:r>
            <a:endParaRPr lang="en-US" altLang="zh-CN" sz="2000" dirty="0"/>
          </a:p>
          <a:p>
            <a:pPr lvl="1"/>
            <a:r>
              <a:rPr lang="en-US" altLang="zh-CN" sz="1800" dirty="0"/>
              <a:t>Round 1: 999%8 = 7, 	key 999 -&gt; </a:t>
            </a:r>
            <a:r>
              <a:rPr lang="en-US" altLang="zh-CN" sz="1800" dirty="0" smtClean="0"/>
              <a:t>bucket </a:t>
            </a:r>
            <a:r>
              <a:rPr lang="en-US" altLang="zh-CN" sz="1800" dirty="0"/>
              <a:t>7</a:t>
            </a:r>
            <a:endParaRPr lang="en-US" altLang="zh-CN" sz="1800" dirty="0"/>
          </a:p>
          <a:p>
            <a:pPr lvl="1"/>
            <a:r>
              <a:rPr lang="en-US" altLang="zh-CN" sz="1800" dirty="0"/>
              <a:t>Round 2: (999/8)%8 = 4, 	key 999 -&gt; bucket 4</a:t>
            </a:r>
            <a:endParaRPr lang="en-US" altLang="zh-CN" sz="1800" dirty="0"/>
          </a:p>
          <a:p>
            <a:pPr lvl="1"/>
            <a:r>
              <a:rPr lang="en-US" altLang="zh-CN" sz="1800" dirty="0"/>
              <a:t>Round 3: (999/8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)%8 = 7,	key 999 -&gt; bucket 7</a:t>
            </a:r>
            <a:endParaRPr lang="en-US" altLang="zh-CN" sz="1800" dirty="0"/>
          </a:p>
          <a:p>
            <a:pPr lvl="1"/>
            <a:r>
              <a:rPr lang="en-US" altLang="zh-CN" sz="1800" dirty="0"/>
              <a:t>Round 4: (999/8</a:t>
            </a:r>
            <a:r>
              <a:rPr lang="en-US" altLang="zh-CN" sz="1800" baseline="30000" dirty="0"/>
              <a:t>3</a:t>
            </a:r>
            <a:r>
              <a:rPr lang="en-US" altLang="zh-CN" sz="1800" dirty="0"/>
              <a:t>)%8 = 1,	key 999 -&gt; bucket 1</a:t>
            </a:r>
            <a:endParaRPr lang="en-US" altLang="zh-CN" sz="1800" dirty="0"/>
          </a:p>
          <a:p>
            <a:pPr lvl="1"/>
            <a:r>
              <a:rPr lang="en-US" altLang="zh-CN" sz="1800" dirty="0"/>
              <a:t>Convert 999 to an octal number: 999 = 1*8</a:t>
            </a:r>
            <a:r>
              <a:rPr lang="en-US" altLang="zh-CN" sz="1800" baseline="30000" dirty="0"/>
              <a:t>3</a:t>
            </a:r>
            <a:r>
              <a:rPr lang="en-US" altLang="zh-CN" sz="1800" dirty="0"/>
              <a:t>+7*8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+4*8+7 = 0x1747</a:t>
            </a:r>
            <a:endParaRPr lang="en-US" altLang="zh-CN" sz="1800" dirty="0"/>
          </a:p>
          <a:p>
            <a:pPr lvl="2"/>
            <a:endParaRPr lang="en-US" altLang="zh-CN" sz="1600" dirty="0"/>
          </a:p>
          <a:p>
            <a:pPr lvl="1"/>
            <a:r>
              <a:rPr lang="en-US" altLang="zh-CN" sz="1800" dirty="0"/>
              <a:t>Convert </a:t>
            </a:r>
            <a:r>
              <a:rPr lang="en-US" altLang="zh-CN" sz="1800" dirty="0" err="1">
                <a:cs typeface="Courier New" panose="02070309020205020404" pitchFamily="49" charset="0"/>
              </a:rPr>
              <a:t>MaxKeyValue</a:t>
            </a:r>
            <a:r>
              <a:rPr lang="en-US" altLang="zh-CN" sz="1800" dirty="0"/>
              <a:t> to a number with </a:t>
            </a:r>
            <a:r>
              <a:rPr lang="en-US" altLang="zh-CN" sz="1800" dirty="0" smtClean="0">
                <a:solidFill>
                  <a:srgbClr val="263AF8"/>
                </a:solidFill>
              </a:rPr>
              <a:t>b(number of buckets) </a:t>
            </a:r>
            <a:r>
              <a:rPr lang="en-US" altLang="zh-CN" sz="1800" dirty="0">
                <a:solidFill>
                  <a:srgbClr val="263AF8"/>
                </a:solidFill>
              </a:rPr>
              <a:t>as the base</a:t>
            </a:r>
            <a:endParaRPr lang="zh-CN" altLang="en-US" sz="1800" dirty="0">
              <a:solidFill>
                <a:srgbClr val="263AF8"/>
              </a:solidFill>
            </a:endParaRPr>
          </a:p>
          <a:p>
            <a:pPr lvl="1"/>
            <a:r>
              <a:rPr lang="en-US" altLang="zh-CN" sz="1800" dirty="0"/>
              <a:t>If the converted </a:t>
            </a:r>
            <a:r>
              <a:rPr lang="en-US" altLang="zh-CN" sz="1800" dirty="0" err="1">
                <a:cs typeface="Courier New" panose="02070309020205020404" pitchFamily="49" charset="0"/>
              </a:rPr>
              <a:t>MaxKeyValue</a:t>
            </a:r>
            <a:r>
              <a:rPr lang="en-US" altLang="zh-CN" sz="1800" dirty="0"/>
              <a:t> has r digits, all the keys are assigned to </a:t>
            </a:r>
            <a:r>
              <a:rPr lang="en-US" altLang="zh-CN" sz="1800" dirty="0" smtClean="0"/>
              <a:t>buckets </a:t>
            </a:r>
            <a:r>
              <a:rPr lang="en-US" altLang="zh-CN" sz="1800" dirty="0">
                <a:solidFill>
                  <a:srgbClr val="263AF8"/>
                </a:solidFill>
              </a:rPr>
              <a:t>r times</a:t>
            </a:r>
            <a:endParaRPr lang="en-US" altLang="zh-CN" sz="1800" dirty="0">
              <a:solidFill>
                <a:srgbClr val="263AF8"/>
              </a:solidFill>
            </a:endParaRPr>
          </a:p>
          <a:p>
            <a:pPr lvl="1"/>
            <a:r>
              <a:rPr lang="en-US" altLang="zh-CN" sz="1800" dirty="0"/>
              <a:t>Keys are taken from the </a:t>
            </a:r>
            <a:r>
              <a:rPr lang="en-US" altLang="zh-CN" sz="1800" dirty="0" smtClean="0"/>
              <a:t>buckets </a:t>
            </a:r>
            <a:r>
              <a:rPr lang="en-US" altLang="zh-CN" sz="1800" dirty="0">
                <a:solidFill>
                  <a:srgbClr val="263AF8"/>
                </a:solidFill>
              </a:rPr>
              <a:t>in order </a:t>
            </a:r>
            <a:r>
              <a:rPr lang="en-US" altLang="zh-CN" sz="1800" dirty="0"/>
              <a:t>and reassign to the </a:t>
            </a:r>
            <a:r>
              <a:rPr lang="en-US" altLang="zh-CN" sz="1800" dirty="0" smtClean="0"/>
              <a:t>buckets </a:t>
            </a:r>
            <a:r>
              <a:rPr lang="en-US" altLang="zh-CN" sz="1800" dirty="0"/>
              <a:t>for the next round</a:t>
            </a:r>
            <a:r>
              <a:rPr lang="en-US" altLang="zh-CN" sz="1600" dirty="0" smtClean="0"/>
              <a:t>.</a:t>
            </a:r>
            <a:endParaRPr lang="en-US" altLang="zh-CN" sz="1600" dirty="0" smtClean="0"/>
          </a:p>
          <a:p>
            <a:pPr lvl="1"/>
            <a:endParaRPr lang="en-US" altLang="zh-CN" sz="1600" dirty="0" smtClean="0"/>
          </a:p>
          <a:p>
            <a:r>
              <a:rPr lang="en-US" altLang="zh-CN" sz="2000" dirty="0" smtClean="0"/>
              <a:t>The </a:t>
            </a:r>
            <a:r>
              <a:rPr lang="en-US" altLang="zh-CN" sz="2000" dirty="0"/>
              <a:t>running time is </a:t>
            </a:r>
            <a:r>
              <a:rPr lang="en-US" altLang="zh-CN" sz="2000" dirty="0" smtClean="0">
                <a:solidFill>
                  <a:srgbClr val="FF0000"/>
                </a:solidFill>
              </a:rPr>
              <a:t>O(r(N </a:t>
            </a:r>
            <a:r>
              <a:rPr lang="en-US" altLang="zh-CN" sz="2000" dirty="0">
                <a:solidFill>
                  <a:srgbClr val="FF0000"/>
                </a:solidFill>
              </a:rPr>
              <a:t>+ b))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en-US" altLang="zh-CN" sz="1800" dirty="0" smtClean="0"/>
              <a:t>r </a:t>
            </a:r>
            <a:r>
              <a:rPr lang="en-US" altLang="zh-CN" sz="1800" dirty="0"/>
              <a:t>is the number of passes,</a:t>
            </a:r>
            <a:endParaRPr lang="en-US" altLang="zh-CN" sz="1800" dirty="0"/>
          </a:p>
          <a:p>
            <a:pPr lvl="1"/>
            <a:r>
              <a:rPr lang="en-US" altLang="zh-CN" sz="1800" dirty="0"/>
              <a:t>N is the number of elements to </a:t>
            </a:r>
            <a:r>
              <a:rPr lang="en-US" altLang="zh-CN" sz="1800" dirty="0" smtClean="0"/>
              <a:t>sort,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b </a:t>
            </a:r>
            <a:r>
              <a:rPr lang="en-US" altLang="zh-CN" sz="1800" dirty="0"/>
              <a:t>is the number of </a:t>
            </a:r>
            <a:r>
              <a:rPr lang="en-US" altLang="zh-CN" sz="1800" dirty="0" smtClean="0"/>
              <a:t>buckets.</a:t>
            </a:r>
            <a:endParaRPr lang="zh-CN" altLang="en-US" sz="1600" dirty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B051EA52-B896-4116-9C3B-75D9FB12CD59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4D2CDD-0410-4A31-B238-711D32D7365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Radix Sort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20049F-2890-4543-BA56-926737B013D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3602" y="1907704"/>
            <a:ext cx="655272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/*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Radix sort an array of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Strings.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Assume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all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characters are ASCII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, residing in the first 256 </a:t>
            </a:r>
            <a:endParaRPr lang="en-US" altLang="zh-CN" dirty="0" smtClean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positions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of the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Unicode character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set.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Assume all have same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length(</a:t>
            </a:r>
            <a:r>
              <a:rPr lang="en-US" altLang="zh-CN" dirty="0" err="1">
                <a:solidFill>
                  <a:srgbClr val="008000"/>
                </a:solidFill>
                <a:latin typeface="Sitka Text" panose="02000505000000020004" pitchFamily="2" charset="0"/>
              </a:rPr>
              <a:t>stringLen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).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*/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void </a:t>
            </a:r>
            <a:r>
              <a:rPr lang="en-US" altLang="zh-CN" dirty="0" err="1">
                <a:latin typeface="Sitka Text" panose="02000505000000020004" pitchFamily="2" charset="0"/>
              </a:rPr>
              <a:t>radixSortA</a:t>
            </a:r>
            <a:r>
              <a:rPr lang="en-US" altLang="zh-CN" dirty="0" smtClean="0">
                <a:latin typeface="Sitka Text" panose="02000505000000020004" pitchFamily="2" charset="0"/>
              </a:rPr>
              <a:t>( vector&lt;string&gt; &amp; </a:t>
            </a:r>
            <a:r>
              <a:rPr lang="en-US" altLang="zh-CN" dirty="0" err="1" smtClean="0">
                <a:latin typeface="Sitka Text" panose="02000505000000020004" pitchFamily="2" charset="0"/>
              </a:rPr>
              <a:t>arr</a:t>
            </a:r>
            <a:r>
              <a:rPr lang="en-US" altLang="zh-CN" dirty="0" smtClean="0">
                <a:latin typeface="Sitka Text" panose="02000505000000020004" pitchFamily="2" charset="0"/>
              </a:rPr>
              <a:t>, 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err="1">
                <a:latin typeface="Sitka Text" panose="02000505000000020004" pitchFamily="2" charset="0"/>
              </a:rPr>
              <a:t>stringLen</a:t>
            </a:r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){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</a:t>
            </a:r>
            <a:r>
              <a:rPr lang="en-US" altLang="zh-CN" dirty="0" err="1" smtClean="0">
                <a:latin typeface="Sitka Text" panose="02000505000000020004" pitchFamily="2" charset="0"/>
              </a:rPr>
              <a:t>const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BUCKETS = 256</a:t>
            </a:r>
            <a:r>
              <a:rPr lang="en-US" altLang="zh-CN" dirty="0" smtClean="0">
                <a:latin typeface="Sitka Text" panose="02000505000000020004" pitchFamily="2" charset="0"/>
              </a:rPr>
              <a:t>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vector&lt;vector&lt;string</a:t>
            </a:r>
            <a:r>
              <a:rPr lang="en-US" altLang="zh-CN" dirty="0">
                <a:latin typeface="Sitka Text" panose="02000505000000020004" pitchFamily="2" charset="0"/>
              </a:rPr>
              <a:t>&gt;&gt; buckets( BUCKETS 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   for</a:t>
            </a:r>
            <a:r>
              <a:rPr lang="en-US" altLang="zh-CN" dirty="0">
                <a:latin typeface="Sitka Text" panose="02000505000000020004" pitchFamily="2" charset="0"/>
              </a:rPr>
              <a:t>( </a:t>
            </a:r>
            <a:r>
              <a:rPr lang="en-US" altLang="zh-CN" dirty="0" err="1">
                <a:latin typeface="Sitka Text" panose="02000505000000020004" pitchFamily="2" charset="0"/>
              </a:rPr>
              <a:t>int</a:t>
            </a:r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err="1">
                <a:latin typeface="Sitka Text" panose="02000505000000020004" pitchFamily="2" charset="0"/>
              </a:rPr>
              <a:t>pos</a:t>
            </a:r>
            <a:r>
              <a:rPr lang="en-US" altLang="zh-CN" dirty="0">
                <a:latin typeface="Sitka Text" panose="02000505000000020004" pitchFamily="2" charset="0"/>
              </a:rPr>
              <a:t> = </a:t>
            </a:r>
            <a:r>
              <a:rPr lang="en-US" altLang="zh-CN" dirty="0" err="1">
                <a:latin typeface="Sitka Text" panose="02000505000000020004" pitchFamily="2" charset="0"/>
              </a:rPr>
              <a:t>stringLen</a:t>
            </a:r>
            <a:r>
              <a:rPr lang="en-US" altLang="zh-CN" dirty="0">
                <a:latin typeface="Sitka Text" panose="02000505000000020004" pitchFamily="2" charset="0"/>
              </a:rPr>
              <a:t> - 1; </a:t>
            </a:r>
            <a:r>
              <a:rPr lang="en-US" altLang="zh-CN" dirty="0" err="1">
                <a:latin typeface="Sitka Text" panose="02000505000000020004" pitchFamily="2" charset="0"/>
              </a:rPr>
              <a:t>pos</a:t>
            </a:r>
            <a:r>
              <a:rPr lang="en-US" altLang="zh-CN" dirty="0">
                <a:latin typeface="Sitka Text" panose="02000505000000020004" pitchFamily="2" charset="0"/>
              </a:rPr>
              <a:t> &gt;= 0; --</a:t>
            </a:r>
            <a:r>
              <a:rPr lang="en-US" altLang="zh-CN" dirty="0" err="1">
                <a:latin typeface="Sitka Text" panose="02000505000000020004" pitchFamily="2" charset="0"/>
              </a:rPr>
              <a:t>pos</a:t>
            </a:r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){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   for</a:t>
            </a:r>
            <a:r>
              <a:rPr lang="en-US" altLang="zh-CN" dirty="0">
                <a:latin typeface="Sitka Text" panose="02000505000000020004" pitchFamily="2" charset="0"/>
              </a:rPr>
              <a:t>( string &amp; s : </a:t>
            </a:r>
            <a:r>
              <a:rPr lang="en-US" altLang="zh-CN" dirty="0" err="1">
                <a:latin typeface="Sitka Text" panose="02000505000000020004" pitchFamily="2" charset="0"/>
              </a:rPr>
              <a:t>arr</a:t>
            </a:r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)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         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//Adds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s at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the end of </a:t>
            </a:r>
            <a:r>
              <a:rPr lang="en-US" altLang="zh-CN" dirty="0" smtClean="0">
                <a:solidFill>
                  <a:srgbClr val="008000"/>
                </a:solidFill>
                <a:latin typeface="Sitka Text" panose="02000505000000020004" pitchFamily="2" charset="0"/>
              </a:rPr>
              <a:t>the 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buckets[ s[ </a:t>
            </a:r>
            <a:r>
              <a:rPr lang="en-US" altLang="zh-CN" dirty="0" err="1">
                <a:solidFill>
                  <a:srgbClr val="008000"/>
                </a:solidFill>
                <a:latin typeface="Sitka Text" panose="02000505000000020004" pitchFamily="2" charset="0"/>
              </a:rPr>
              <a:t>pos</a:t>
            </a:r>
            <a:r>
              <a:rPr lang="en-US" altLang="zh-CN" dirty="0">
                <a:solidFill>
                  <a:srgbClr val="008000"/>
                </a:solidFill>
                <a:latin typeface="Sitka Text" panose="02000505000000020004" pitchFamily="2" charset="0"/>
              </a:rPr>
              <a:t> ] ]</a:t>
            </a:r>
            <a:endParaRPr lang="en-US" altLang="zh-CN" dirty="0">
              <a:solidFill>
                <a:srgbClr val="008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      buckets</a:t>
            </a:r>
            <a:r>
              <a:rPr lang="en-US" altLang="zh-CN" dirty="0">
                <a:latin typeface="Sitka Text" panose="02000505000000020004" pitchFamily="2" charset="0"/>
              </a:rPr>
              <a:t>[ s[ </a:t>
            </a:r>
            <a:r>
              <a:rPr lang="en-US" altLang="zh-CN" dirty="0" err="1">
                <a:latin typeface="Sitka Text" panose="02000505000000020004" pitchFamily="2" charset="0"/>
              </a:rPr>
              <a:t>pos</a:t>
            </a:r>
            <a:r>
              <a:rPr lang="en-US" altLang="zh-CN" dirty="0">
                <a:latin typeface="Sitka Text" panose="02000505000000020004" pitchFamily="2" charset="0"/>
              </a:rPr>
              <a:t> ] ].</a:t>
            </a:r>
            <a:r>
              <a:rPr lang="en-US" altLang="zh-CN" dirty="0" err="1">
                <a:latin typeface="Sitka Text" panose="02000505000000020004" pitchFamily="2" charset="0"/>
              </a:rPr>
              <a:t>push_back</a:t>
            </a:r>
            <a:r>
              <a:rPr lang="en-US" altLang="zh-CN" dirty="0">
                <a:latin typeface="Sitka Text" panose="02000505000000020004" pitchFamily="2" charset="0"/>
              </a:rPr>
              <a:t>( </a:t>
            </a:r>
            <a:r>
              <a:rPr lang="en-US" altLang="zh-CN" dirty="0" err="1">
                <a:latin typeface="Sitka Text" panose="02000505000000020004" pitchFamily="2" charset="0"/>
              </a:rPr>
              <a:t>std</a:t>
            </a:r>
            <a:r>
              <a:rPr lang="en-US" altLang="zh-CN" dirty="0">
                <a:latin typeface="Sitka Text" panose="02000505000000020004" pitchFamily="2" charset="0"/>
              </a:rPr>
              <a:t>::move( s ) </a:t>
            </a:r>
            <a:r>
              <a:rPr lang="en-US" altLang="zh-CN" dirty="0" smtClean="0">
                <a:latin typeface="Sitka Text" panose="02000505000000020004" pitchFamily="2" charset="0"/>
              </a:rPr>
              <a:t>);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   </a:t>
            </a:r>
            <a:r>
              <a:rPr lang="en-US" altLang="zh-CN" dirty="0" err="1" smtClean="0">
                <a:latin typeface="Sitka Text" panose="02000505000000020004" pitchFamily="2" charset="0"/>
              </a:rPr>
              <a:t>int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 err="1">
                <a:latin typeface="Sitka Text" panose="02000505000000020004" pitchFamily="2" charset="0"/>
              </a:rPr>
              <a:t>idx</a:t>
            </a:r>
            <a:r>
              <a:rPr lang="en-US" altLang="zh-CN" dirty="0">
                <a:latin typeface="Sitka Text" panose="02000505000000020004" pitchFamily="2" charset="0"/>
              </a:rPr>
              <a:t> = 0;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   for</a:t>
            </a:r>
            <a:r>
              <a:rPr lang="en-US" altLang="zh-CN" dirty="0">
                <a:latin typeface="Sitka Text" panose="02000505000000020004" pitchFamily="2" charset="0"/>
              </a:rPr>
              <a:t>( auto &amp; </a:t>
            </a:r>
            <a:r>
              <a:rPr lang="en-US" altLang="zh-CN" dirty="0" err="1">
                <a:latin typeface="Sitka Text" panose="02000505000000020004" pitchFamily="2" charset="0"/>
              </a:rPr>
              <a:t>thisBucket</a:t>
            </a:r>
            <a:r>
              <a:rPr lang="en-US" altLang="zh-CN" dirty="0">
                <a:latin typeface="Sitka Text" panose="02000505000000020004" pitchFamily="2" charset="0"/>
              </a:rPr>
              <a:t> : buckets </a:t>
            </a:r>
            <a:r>
              <a:rPr lang="en-US" altLang="zh-CN" dirty="0" smtClean="0">
                <a:latin typeface="Sitka Text" panose="02000505000000020004" pitchFamily="2" charset="0"/>
              </a:rPr>
              <a:t>){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       for</a:t>
            </a:r>
            <a:r>
              <a:rPr lang="en-US" altLang="zh-CN" dirty="0">
                <a:latin typeface="Sitka Text" panose="02000505000000020004" pitchFamily="2" charset="0"/>
              </a:rPr>
              <a:t>( string &amp; s : </a:t>
            </a:r>
            <a:r>
              <a:rPr lang="en-US" altLang="zh-CN" dirty="0" err="1">
                <a:latin typeface="Sitka Text" panose="02000505000000020004" pitchFamily="2" charset="0"/>
              </a:rPr>
              <a:t>thisBucket</a:t>
            </a:r>
            <a:r>
              <a:rPr lang="en-US" altLang="zh-CN" dirty="0">
                <a:latin typeface="Sitka Text" panose="02000505000000020004" pitchFamily="2" charset="0"/>
              </a:rPr>
              <a:t> )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            </a:t>
            </a:r>
            <a:r>
              <a:rPr lang="en-US" altLang="zh-CN" dirty="0" err="1" smtClean="0">
                <a:latin typeface="Sitka Text" panose="02000505000000020004" pitchFamily="2" charset="0"/>
              </a:rPr>
              <a:t>arr</a:t>
            </a:r>
            <a:r>
              <a:rPr lang="en-US" altLang="zh-CN" dirty="0">
                <a:latin typeface="Sitka Text" panose="02000505000000020004" pitchFamily="2" charset="0"/>
              </a:rPr>
              <a:t>[ </a:t>
            </a:r>
            <a:r>
              <a:rPr lang="en-US" altLang="zh-CN" dirty="0" err="1">
                <a:latin typeface="Sitka Text" panose="02000505000000020004" pitchFamily="2" charset="0"/>
              </a:rPr>
              <a:t>idx</a:t>
            </a:r>
            <a:r>
              <a:rPr lang="en-US" altLang="zh-CN" dirty="0">
                <a:latin typeface="Sitka Text" panose="02000505000000020004" pitchFamily="2" charset="0"/>
              </a:rPr>
              <a:t>++ ] = </a:t>
            </a:r>
            <a:r>
              <a:rPr lang="en-US" altLang="zh-CN" dirty="0" err="1">
                <a:latin typeface="Sitka Text" panose="02000505000000020004" pitchFamily="2" charset="0"/>
              </a:rPr>
              <a:t>std</a:t>
            </a:r>
            <a:r>
              <a:rPr lang="en-US" altLang="zh-CN" dirty="0">
                <a:latin typeface="Sitka Text" panose="02000505000000020004" pitchFamily="2" charset="0"/>
              </a:rPr>
              <a:t>::move( s 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       </a:t>
            </a:r>
            <a:r>
              <a:rPr lang="en-US" altLang="zh-CN" dirty="0" err="1" smtClean="0">
                <a:latin typeface="Sitka Text" panose="02000505000000020004" pitchFamily="2" charset="0"/>
              </a:rPr>
              <a:t>thisBucket.clear</a:t>
            </a:r>
            <a:r>
              <a:rPr lang="en-US" altLang="zh-CN" dirty="0">
                <a:latin typeface="Sitka Text" panose="02000505000000020004" pitchFamily="2" charset="0"/>
              </a:rPr>
              <a:t>( );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   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}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}</a:t>
            </a:r>
            <a:endParaRPr lang="zh-CN" altLang="en-US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Radix Sort 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2555777"/>
            <a:ext cx="6272213" cy="404266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How to implement the Radix Sort efficiently?</a:t>
            </a:r>
            <a:endParaRPr lang="en-US" altLang="zh-CN" sz="2000" dirty="0"/>
          </a:p>
          <a:p>
            <a:pPr lvl="1"/>
            <a:r>
              <a:rPr lang="en-US" altLang="zh-CN" sz="1800" dirty="0"/>
              <a:t>The number of keys assigned to a </a:t>
            </a:r>
            <a:r>
              <a:rPr lang="en-US" altLang="zh-CN" sz="1800" dirty="0" smtClean="0"/>
              <a:t>bucket </a:t>
            </a:r>
            <a:r>
              <a:rPr lang="en-US" altLang="zh-CN" sz="1800" dirty="0"/>
              <a:t>can be greater than one and may be as large as the total number of keys</a:t>
            </a:r>
            <a:endParaRPr lang="en-US" altLang="zh-CN" sz="1800" dirty="0"/>
          </a:p>
          <a:p>
            <a:pPr lvl="2"/>
            <a:r>
              <a:rPr lang="en-US" altLang="zh-CN" dirty="0"/>
              <a:t>Let a </a:t>
            </a:r>
            <a:r>
              <a:rPr lang="en-US" altLang="zh-CN" dirty="0" smtClean="0"/>
              <a:t>bucket </a:t>
            </a:r>
            <a:r>
              <a:rPr lang="en-US" altLang="zh-CN" dirty="0"/>
              <a:t>points to an array with size equal to the number of keys?</a:t>
            </a:r>
            <a:endParaRPr lang="en-US" altLang="zh-CN" dirty="0"/>
          </a:p>
          <a:p>
            <a:pPr lvl="2"/>
            <a:r>
              <a:rPr lang="en-US" altLang="zh-CN" dirty="0"/>
              <a:t>Let a </a:t>
            </a:r>
            <a:r>
              <a:rPr lang="en-US" altLang="zh-CN" dirty="0" smtClean="0"/>
              <a:t>bucket </a:t>
            </a:r>
            <a:r>
              <a:rPr lang="en-US" altLang="zh-CN" dirty="0"/>
              <a:t>points to a linked list of keys?</a:t>
            </a:r>
            <a:endParaRPr lang="en-US" altLang="zh-CN" dirty="0"/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Neither is good!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2000" dirty="0" smtClean="0"/>
              <a:t>The </a:t>
            </a:r>
            <a:r>
              <a:rPr lang="en-US" altLang="zh-CN" sz="2000" dirty="0"/>
              <a:t>total number of keys in all the </a:t>
            </a:r>
            <a:r>
              <a:rPr lang="en-US" altLang="zh-CN" sz="2000" dirty="0" smtClean="0"/>
              <a:t>buckets </a:t>
            </a:r>
            <a:r>
              <a:rPr lang="en-US" altLang="zh-CN" sz="2000" dirty="0"/>
              <a:t>is known!</a:t>
            </a:r>
            <a:endParaRPr lang="en-US" altLang="zh-CN" sz="2000" dirty="0"/>
          </a:p>
          <a:p>
            <a:pPr lvl="1"/>
            <a:r>
              <a:rPr lang="en-US" altLang="zh-CN" sz="1800" dirty="0"/>
              <a:t>Reserve an array with the size of the total number of keys</a:t>
            </a:r>
            <a:endParaRPr lang="en-US" altLang="zh-CN" sz="1800" dirty="0"/>
          </a:p>
          <a:p>
            <a:pPr lvl="1"/>
            <a:r>
              <a:rPr lang="en-US" altLang="zh-CN" sz="1800" dirty="0"/>
              <a:t>Get to know the number of keys in each </a:t>
            </a:r>
            <a:r>
              <a:rPr lang="en-US" altLang="zh-CN" sz="1800" dirty="0" smtClean="0"/>
              <a:t>bucket</a:t>
            </a:r>
            <a:endParaRPr lang="en-US" altLang="zh-CN" sz="1600" dirty="0"/>
          </a:p>
          <a:p>
            <a:endParaRPr lang="en-US" altLang="zh-CN" sz="2000" dirty="0" smtClean="0"/>
          </a:p>
          <a:p>
            <a:pPr lvl="1"/>
            <a:endParaRPr lang="zh-CN" altLang="en-US" sz="1600" dirty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C50990DA-DD8C-4122-9441-C3472B2684E8}" type="slidenum">
              <a:rPr lang="en-US" altLang="zh-CN" smtClean="0"/>
            </a:fld>
            <a:endParaRPr lang="en-US" altLang="zh-CN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1192" y="7320502"/>
          <a:ext cx="5112540" cy="28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  <a:gridCol w="255627"/>
              </a:tblGrid>
              <a:tr h="275034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7" marR="68587" marT="34379" marB="34379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7" marR="68587" marT="34379" marB="34379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7" marR="68587" marT="34379" marB="34379"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7" marR="68587" marT="34379" marB="34379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91192" y="7033009"/>
            <a:ext cx="51375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zh-CN" sz="1350"/>
              <a:t>   Bin 0           Bin 1       Bin 2            …………                 Bin (r-1)</a:t>
            </a:r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5C3D4C-149A-4DDF-A10F-BB8BD2C9050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Radix Sort (V)</a:t>
            </a:r>
            <a:endParaRPr lang="zh-CN" altLang="en-US" smtClean="0"/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>
          <a:xfrm>
            <a:off x="197294" y="1907704"/>
            <a:ext cx="6525344" cy="6912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dirty="0" smtClean="0">
                <a:solidFill>
                  <a:srgbClr val="008000"/>
                </a:solidFill>
              </a:rPr>
              <a:t>/*</a:t>
            </a:r>
            <a:endParaRPr lang="en-US" altLang="zh-CN" sz="1800" dirty="0" smtClean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008000"/>
                </a:solidFill>
              </a:rPr>
              <a:t>* Counting </a:t>
            </a:r>
            <a:r>
              <a:rPr lang="en-US" altLang="zh-CN" sz="1800" dirty="0">
                <a:solidFill>
                  <a:srgbClr val="008000"/>
                </a:solidFill>
              </a:rPr>
              <a:t>radix </a:t>
            </a:r>
            <a:r>
              <a:rPr lang="en-US" altLang="zh-CN" sz="1800" dirty="0" smtClean="0">
                <a:solidFill>
                  <a:srgbClr val="008000"/>
                </a:solidFill>
              </a:rPr>
              <a:t>sort</a:t>
            </a:r>
            <a:endParaRPr lang="en-US" altLang="zh-CN" sz="1800" dirty="0" smtClean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008000"/>
                </a:solidFill>
              </a:rPr>
              <a:t>* B[] is array for buckets</a:t>
            </a:r>
            <a:endParaRPr lang="en-US" altLang="zh-CN" sz="1800" dirty="0" smtClean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008000"/>
                </a:solidFill>
              </a:rPr>
              <a:t>* </a:t>
            </a:r>
            <a:r>
              <a:rPr lang="en-US" altLang="zh-CN" sz="1800" dirty="0" err="1" smtClean="0">
                <a:solidFill>
                  <a:srgbClr val="008000"/>
                </a:solidFill>
              </a:rPr>
              <a:t>cnt</a:t>
            </a:r>
            <a:r>
              <a:rPr lang="en-US" altLang="zh-CN" sz="1800" dirty="0" smtClean="0">
                <a:solidFill>
                  <a:srgbClr val="008000"/>
                </a:solidFill>
              </a:rPr>
              <a:t>[</a:t>
            </a:r>
            <a:r>
              <a:rPr lang="en-US" altLang="zh-CN" sz="1800" dirty="0" err="1" smtClean="0">
                <a:solidFill>
                  <a:srgbClr val="008000"/>
                </a:solidFill>
              </a:rPr>
              <a:t>i</a:t>
            </a:r>
            <a:r>
              <a:rPr lang="en-US" altLang="zh-CN" sz="1800" dirty="0">
                <a:solidFill>
                  <a:srgbClr val="008000"/>
                </a:solidFill>
              </a:rPr>
              <a:t>] stores </a:t>
            </a:r>
            <a:r>
              <a:rPr lang="en-US" altLang="zh-CN" sz="1800" dirty="0" smtClean="0">
                <a:solidFill>
                  <a:srgbClr val="008000"/>
                </a:solidFill>
              </a:rPr>
              <a:t>numbers </a:t>
            </a:r>
            <a:r>
              <a:rPr lang="en-US" altLang="zh-CN" sz="1800" dirty="0">
                <a:solidFill>
                  <a:srgbClr val="008000"/>
                </a:solidFill>
              </a:rPr>
              <a:t>of records in </a:t>
            </a:r>
            <a:r>
              <a:rPr lang="en-US" altLang="zh-CN" sz="1800" dirty="0" smtClean="0">
                <a:solidFill>
                  <a:srgbClr val="008000"/>
                </a:solidFill>
              </a:rPr>
              <a:t>bucket[</a:t>
            </a:r>
            <a:r>
              <a:rPr lang="en-US" altLang="zh-CN" sz="1800" dirty="0" err="1" smtClean="0">
                <a:solidFill>
                  <a:srgbClr val="008000"/>
                </a:solidFill>
              </a:rPr>
              <a:t>i</a:t>
            </a:r>
            <a:r>
              <a:rPr lang="en-US" altLang="zh-CN" sz="1800" dirty="0" smtClean="0">
                <a:solidFill>
                  <a:srgbClr val="008000"/>
                </a:solidFill>
              </a:rPr>
              <a:t>]</a:t>
            </a:r>
            <a:endParaRPr lang="en-US" altLang="zh-CN" sz="1800" dirty="0" smtClean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008000"/>
                </a:solidFill>
              </a:rPr>
              <a:t>* b is numbers of buckets(base), r </a:t>
            </a:r>
            <a:r>
              <a:rPr lang="en-US" altLang="zh-CN" sz="1800" dirty="0">
                <a:solidFill>
                  <a:srgbClr val="008000"/>
                </a:solidFill>
              </a:rPr>
              <a:t>is number of passes</a:t>
            </a:r>
            <a:endParaRPr lang="en-US" altLang="zh-CN" sz="1800" dirty="0" smtClean="0">
              <a:solidFill>
                <a:srgbClr val="008000"/>
              </a:solidFill>
            </a:endParaRPr>
          </a:p>
          <a:p>
            <a:pPr marL="0" indent="0">
              <a:buNone/>
            </a:pPr>
            <a:r>
              <a:rPr lang="en-US" altLang="zh-CN" sz="1800" dirty="0" smtClean="0">
                <a:solidFill>
                  <a:srgbClr val="008000"/>
                </a:solidFill>
              </a:rPr>
              <a:t>*/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template &lt;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E, 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</a:t>
            </a:r>
            <a:r>
              <a:rPr lang="en-US" altLang="zh-CN" sz="1800" dirty="0" err="1"/>
              <a:t>getKey</a:t>
            </a:r>
            <a:r>
              <a:rPr lang="en-US" altLang="zh-CN" sz="1800" dirty="0"/>
              <a:t>&gt;</a:t>
            </a:r>
            <a:endParaRPr lang="en-US" altLang="zh-CN" sz="1800" dirty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void </a:t>
            </a:r>
            <a:r>
              <a:rPr lang="en-US" altLang="zh-CN" sz="1800" dirty="0">
                <a:solidFill>
                  <a:srgbClr val="FF0000"/>
                </a:solidFill>
              </a:rPr>
              <a:t>radix</a:t>
            </a:r>
            <a:r>
              <a:rPr lang="en-US" altLang="zh-CN" sz="1800" dirty="0"/>
              <a:t>(E A[], E B[],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r,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b,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cnt</a:t>
            </a:r>
            <a:r>
              <a:rPr lang="en-US" altLang="zh-CN" sz="1800" dirty="0"/>
              <a:t>[]) {</a:t>
            </a:r>
            <a:endParaRPr lang="en-US" altLang="zh-CN" sz="1800" dirty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j;</a:t>
            </a:r>
            <a:endParaRPr lang="en-US" altLang="zh-CN" sz="1800" dirty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</a:t>
            </a:r>
            <a:endParaRPr lang="en-US" altLang="zh-CN" sz="1800" dirty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=0, </a:t>
            </a:r>
            <a:r>
              <a:rPr lang="en-US" altLang="zh-CN" sz="1800" dirty="0" err="1" smtClean="0"/>
              <a:t>btoi</a:t>
            </a:r>
            <a:r>
              <a:rPr lang="en-US" altLang="zh-CN" sz="1800" dirty="0" smtClean="0"/>
              <a:t>=1</a:t>
            </a:r>
            <a:r>
              <a:rPr lang="en-US" altLang="zh-CN" sz="1800" dirty="0"/>
              <a:t>; </a:t>
            </a:r>
            <a:r>
              <a:rPr lang="en-US" altLang="zh-CN" sz="1800" dirty="0" err="1" smtClean="0"/>
              <a:t>i</a:t>
            </a:r>
            <a:r>
              <a:rPr lang="en-US" altLang="zh-CN" sz="1800" dirty="0" smtClean="0"/>
              <a:t>&lt;r;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++, </a:t>
            </a:r>
            <a:r>
              <a:rPr lang="en-US" altLang="zh-CN" sz="1800" dirty="0" err="1" smtClean="0"/>
              <a:t>btoi</a:t>
            </a:r>
            <a:r>
              <a:rPr lang="en-US" altLang="zh-CN" sz="1800" dirty="0" smtClean="0"/>
              <a:t>*=b) </a:t>
            </a:r>
            <a:r>
              <a:rPr lang="en-US" altLang="zh-CN" sz="1800" dirty="0"/>
              <a:t>{</a:t>
            </a:r>
            <a:r>
              <a:rPr lang="en-US" altLang="zh-CN" sz="1800" dirty="0">
                <a:solidFill>
                  <a:srgbClr val="00B050"/>
                </a:solidFill>
              </a:rPr>
              <a:t>//for </a:t>
            </a:r>
            <a:r>
              <a:rPr lang="en-US" altLang="zh-CN" sz="1800" dirty="0" smtClean="0">
                <a:solidFill>
                  <a:srgbClr val="00B050"/>
                </a:solidFill>
              </a:rPr>
              <a:t>r </a:t>
            </a:r>
            <a:r>
              <a:rPr lang="en-US" altLang="zh-CN" sz="1800" dirty="0">
                <a:solidFill>
                  <a:srgbClr val="00B050"/>
                </a:solidFill>
              </a:rPr>
              <a:t>digits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  for (j=0; </a:t>
            </a:r>
            <a:r>
              <a:rPr lang="en-US" altLang="zh-CN" sz="1800" dirty="0" smtClean="0"/>
              <a:t>j&lt;b; </a:t>
            </a:r>
            <a:r>
              <a:rPr lang="en-US" altLang="zh-CN" sz="1800" dirty="0" err="1" smtClean="0"/>
              <a:t>j++</a:t>
            </a:r>
            <a:r>
              <a:rPr lang="en-US" altLang="zh-CN" sz="1800" dirty="0" smtClean="0"/>
              <a:t>) </a:t>
            </a:r>
            <a:r>
              <a:rPr lang="en-US" altLang="zh-CN" sz="1800" dirty="0" err="1" smtClean="0"/>
              <a:t>cnt</a:t>
            </a:r>
            <a:r>
              <a:rPr lang="en-US" altLang="zh-CN" sz="1800" dirty="0" smtClean="0"/>
              <a:t>[j</a:t>
            </a:r>
            <a:r>
              <a:rPr lang="en-US" altLang="zh-CN" sz="1800" dirty="0"/>
              <a:t>] = 0</a:t>
            </a:r>
            <a:r>
              <a:rPr lang="en-US" altLang="zh-CN" sz="1800" dirty="0" smtClean="0"/>
              <a:t>; </a:t>
            </a:r>
            <a:endParaRPr lang="en-US" altLang="zh-CN" sz="1800" dirty="0"/>
          </a:p>
          <a:p>
            <a:pPr eaLnBrk="1" hangingPunct="1">
              <a:lnSpc>
                <a:spcPct val="60000"/>
              </a:lnSpc>
              <a:buFontTx/>
              <a:buNone/>
            </a:pPr>
            <a:endParaRPr lang="en-US" altLang="zh-CN" sz="1000" dirty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1800" dirty="0">
                <a:solidFill>
                  <a:srgbClr val="00B050"/>
                </a:solidFill>
              </a:rPr>
              <a:t>//Count # of records for each </a:t>
            </a:r>
            <a:r>
              <a:rPr lang="en-US" altLang="zh-CN" sz="1800" dirty="0" smtClean="0">
                <a:solidFill>
                  <a:srgbClr val="00B050"/>
                </a:solidFill>
              </a:rPr>
              <a:t>buckets </a:t>
            </a:r>
            <a:r>
              <a:rPr lang="en-US" altLang="zh-CN" sz="1800" dirty="0">
                <a:solidFill>
                  <a:srgbClr val="00B050"/>
                </a:solidFill>
              </a:rPr>
              <a:t>on this pass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  for(j=0; j&lt;n; </a:t>
            </a:r>
            <a:r>
              <a:rPr lang="en-US" altLang="zh-CN" sz="1800" dirty="0" err="1"/>
              <a:t>j++</a:t>
            </a:r>
            <a:r>
              <a:rPr lang="en-US" altLang="zh-CN" sz="1800" dirty="0"/>
              <a:t>) </a:t>
            </a:r>
            <a:r>
              <a:rPr lang="en-US" altLang="zh-CN" sz="1800" dirty="0" err="1"/>
              <a:t>cnt</a:t>
            </a:r>
            <a:r>
              <a:rPr lang="en-US" altLang="zh-CN" sz="1800" dirty="0"/>
              <a:t>[(</a:t>
            </a:r>
            <a:r>
              <a:rPr lang="en-US" altLang="zh-CN" sz="1800" dirty="0" err="1"/>
              <a:t>getKey</a:t>
            </a:r>
            <a:r>
              <a:rPr lang="en-US" altLang="zh-CN" sz="1800" dirty="0"/>
              <a:t>::key(A[j</a:t>
            </a:r>
            <a:r>
              <a:rPr lang="en-US" altLang="zh-CN" sz="1800" dirty="0" smtClean="0"/>
              <a:t>])/</a:t>
            </a:r>
            <a:r>
              <a:rPr lang="en-US" altLang="zh-CN" sz="1800" dirty="0" err="1" smtClean="0"/>
              <a:t>btoi</a:t>
            </a:r>
            <a:r>
              <a:rPr lang="en-US" altLang="zh-CN" sz="1800" dirty="0" smtClean="0"/>
              <a:t>)%b]++;</a:t>
            </a:r>
            <a:endParaRPr lang="en-US" altLang="zh-CN" sz="1800" dirty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000" dirty="0"/>
              <a:t>    	</a:t>
            </a:r>
            <a:endParaRPr lang="en-US" altLang="zh-CN" sz="1000" dirty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1800" dirty="0">
                <a:solidFill>
                  <a:srgbClr val="00B050"/>
                </a:solidFill>
              </a:rPr>
              <a:t>//Index B: </a:t>
            </a:r>
            <a:r>
              <a:rPr lang="en-US" altLang="zh-CN" sz="1800" dirty="0" err="1">
                <a:solidFill>
                  <a:srgbClr val="00B050"/>
                </a:solidFill>
              </a:rPr>
              <a:t>cnt</a:t>
            </a:r>
            <a:r>
              <a:rPr lang="en-US" altLang="zh-CN" sz="1800" dirty="0">
                <a:solidFill>
                  <a:srgbClr val="00B050"/>
                </a:solidFill>
              </a:rPr>
              <a:t>[j] will be index for last slot of </a:t>
            </a:r>
            <a:r>
              <a:rPr lang="en-US" altLang="zh-CN" sz="1800" dirty="0" smtClean="0">
                <a:solidFill>
                  <a:srgbClr val="00B050"/>
                </a:solidFill>
              </a:rPr>
              <a:t>bucket </a:t>
            </a:r>
            <a:r>
              <a:rPr lang="en-US" altLang="zh-CN" sz="1800" dirty="0">
                <a:solidFill>
                  <a:srgbClr val="00B050"/>
                </a:solidFill>
              </a:rPr>
              <a:t>j.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1800" dirty="0">
                <a:solidFill>
                  <a:srgbClr val="FF0000"/>
                </a:solidFill>
              </a:rPr>
              <a:t>for (j=1; </a:t>
            </a:r>
            <a:r>
              <a:rPr lang="en-US" altLang="zh-CN" sz="1800" dirty="0" smtClean="0">
                <a:solidFill>
                  <a:srgbClr val="FF0000"/>
                </a:solidFill>
              </a:rPr>
              <a:t>j&lt;b; </a:t>
            </a:r>
            <a:r>
              <a:rPr lang="en-US" altLang="zh-CN" sz="1800" dirty="0" err="1">
                <a:solidFill>
                  <a:srgbClr val="FF0000"/>
                </a:solidFill>
              </a:rPr>
              <a:t>j++</a:t>
            </a:r>
            <a:r>
              <a:rPr lang="en-US" altLang="zh-CN" sz="1800" dirty="0">
                <a:solidFill>
                  <a:srgbClr val="FF0000"/>
                </a:solidFill>
              </a:rPr>
              <a:t>) </a:t>
            </a:r>
            <a:r>
              <a:rPr lang="en-US" altLang="zh-CN" sz="1800" dirty="0" err="1">
                <a:solidFill>
                  <a:srgbClr val="FF0000"/>
                </a:solidFill>
              </a:rPr>
              <a:t>cnt</a:t>
            </a:r>
            <a:r>
              <a:rPr lang="en-US" altLang="zh-CN" sz="1800" dirty="0">
                <a:solidFill>
                  <a:srgbClr val="FF0000"/>
                </a:solidFill>
              </a:rPr>
              <a:t>[j] </a:t>
            </a:r>
            <a:r>
              <a:rPr lang="en-US" altLang="zh-CN" sz="1800" dirty="0" smtClean="0">
                <a:solidFill>
                  <a:srgbClr val="FF0000"/>
                </a:solidFill>
              </a:rPr>
              <a:t>+= </a:t>
            </a:r>
            <a:r>
              <a:rPr lang="en-US" altLang="zh-CN" sz="1800" dirty="0" err="1">
                <a:solidFill>
                  <a:srgbClr val="FF0000"/>
                </a:solidFill>
              </a:rPr>
              <a:t>cnt</a:t>
            </a:r>
            <a:r>
              <a:rPr lang="en-US" altLang="zh-CN" sz="1800" dirty="0">
                <a:solidFill>
                  <a:srgbClr val="FF0000"/>
                </a:solidFill>
              </a:rPr>
              <a:t>[j-1] </a:t>
            </a:r>
            <a:r>
              <a:rPr lang="en-US" altLang="zh-CN" sz="1800" dirty="0" smtClean="0">
                <a:solidFill>
                  <a:srgbClr val="FF0000"/>
                </a:solidFill>
              </a:rPr>
              <a:t>;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000" dirty="0"/>
              <a:t>    </a:t>
            </a:r>
            <a:endParaRPr lang="en-US" altLang="zh-CN" sz="1000" dirty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1800" dirty="0" smtClean="0">
                <a:solidFill>
                  <a:srgbClr val="00B050"/>
                </a:solidFill>
              </a:rPr>
              <a:t>/*Put </a:t>
            </a:r>
            <a:r>
              <a:rPr lang="en-US" altLang="zh-CN" sz="1800" dirty="0">
                <a:solidFill>
                  <a:srgbClr val="00B050"/>
                </a:solidFill>
              </a:rPr>
              <a:t>records into </a:t>
            </a:r>
            <a:r>
              <a:rPr lang="en-US" altLang="zh-CN" sz="1800" dirty="0" smtClean="0">
                <a:solidFill>
                  <a:srgbClr val="00B050"/>
                </a:solidFill>
              </a:rPr>
              <a:t>buckets, from </a:t>
            </a:r>
            <a:r>
              <a:rPr lang="en-US" altLang="zh-CN" sz="1800" dirty="0">
                <a:solidFill>
                  <a:srgbClr val="00B050"/>
                </a:solidFill>
              </a:rPr>
              <a:t>bottom of </a:t>
            </a:r>
            <a:r>
              <a:rPr lang="en-US" altLang="zh-CN" sz="1800" dirty="0" smtClean="0">
                <a:solidFill>
                  <a:srgbClr val="00B050"/>
                </a:solidFill>
              </a:rPr>
              <a:t>each bucket.*/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  for (j=n-1; j&gt;=0; j--) </a:t>
            </a:r>
            <a:endParaRPr lang="en-US" altLang="zh-CN" sz="1800" dirty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    B[--</a:t>
            </a:r>
            <a:r>
              <a:rPr lang="en-US" altLang="zh-CN" sz="1800" dirty="0" err="1"/>
              <a:t>cnt</a:t>
            </a:r>
            <a:r>
              <a:rPr lang="en-US" altLang="zh-CN" sz="1800" dirty="0"/>
              <a:t>[(</a:t>
            </a:r>
            <a:r>
              <a:rPr lang="en-US" altLang="zh-CN" sz="1800" dirty="0" err="1"/>
              <a:t>getKey</a:t>
            </a:r>
            <a:r>
              <a:rPr lang="en-US" altLang="zh-CN" sz="1800" dirty="0"/>
              <a:t>::key(A[j</a:t>
            </a:r>
            <a:r>
              <a:rPr lang="en-US" altLang="zh-CN" sz="1800" dirty="0" smtClean="0"/>
              <a:t>])/</a:t>
            </a:r>
            <a:r>
              <a:rPr lang="en-US" altLang="zh-CN" sz="1800" dirty="0" err="1" smtClean="0"/>
              <a:t>btoi</a:t>
            </a:r>
            <a:r>
              <a:rPr lang="en-US" altLang="zh-CN" sz="1800" dirty="0" smtClean="0"/>
              <a:t>)%b]] </a:t>
            </a:r>
            <a:r>
              <a:rPr lang="en-US" altLang="zh-CN" sz="1800" dirty="0"/>
              <a:t>= A[j];</a:t>
            </a:r>
            <a:endParaRPr lang="en-US" altLang="zh-CN" sz="1800" dirty="0"/>
          </a:p>
          <a:p>
            <a:pPr eaLnBrk="1" hangingPunct="1">
              <a:lnSpc>
                <a:spcPct val="60000"/>
              </a:lnSpc>
              <a:buFontTx/>
              <a:buNone/>
            </a:pPr>
            <a:endParaRPr lang="en-US" altLang="zh-CN" sz="1000" dirty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  for (j=0; j&lt;n; </a:t>
            </a:r>
            <a:r>
              <a:rPr lang="en-US" altLang="zh-CN" sz="1800" dirty="0" err="1"/>
              <a:t>j++</a:t>
            </a:r>
            <a:r>
              <a:rPr lang="en-US" altLang="zh-CN" sz="1800" dirty="0"/>
              <a:t>) A[j] = B[j]; </a:t>
            </a:r>
            <a:r>
              <a:rPr lang="en-US" altLang="zh-CN" sz="1800" dirty="0">
                <a:solidFill>
                  <a:srgbClr val="00B050"/>
                </a:solidFill>
              </a:rPr>
              <a:t>//Copy B back to A.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/>
              <a:t>  </a:t>
            </a:r>
            <a:r>
              <a:rPr lang="en-US" altLang="zh-CN" sz="1800" dirty="0" smtClean="0"/>
              <a:t>}</a:t>
            </a:r>
            <a:endParaRPr lang="en-US" altLang="zh-CN" sz="1800" dirty="0" smtClean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800" dirty="0" smtClean="0"/>
              <a:t>}</a:t>
            </a:r>
            <a:endParaRPr lang="en-US" altLang="zh-CN" sz="1800" dirty="0"/>
          </a:p>
          <a:p>
            <a:endParaRPr lang="zh-CN" altLang="en-US" sz="2000" dirty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86E4012E-3E20-4A6E-A29A-1B86BA065955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4C9DB2-7216-4E4E-A1D6-1227F8274AAD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Radix Sort</a:t>
            </a:r>
            <a:endParaRPr lang="zh-CN" altLang="en-US" dirty="0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FB81BDE3-5D58-4286-8E5D-0D60E91FED1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4" name="文本框 3"/>
          <p:cNvSpPr txBox="1"/>
          <p:nvPr/>
        </p:nvSpPr>
        <p:spPr>
          <a:xfrm>
            <a:off x="260648" y="3275856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Sitka Text" panose="02000505000000020004" pitchFamily="2" charset="0"/>
              </a:rPr>
              <a:t>Array</a:t>
            </a:r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A[]</a:t>
            </a:r>
            <a:endParaRPr lang="en-US" altLang="zh-CN" dirty="0" smtClean="0">
              <a:latin typeface="Sitka Text" panose="02000505000000020004" pitchFamily="2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0539" y="4039753"/>
            <a:ext cx="1212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Count in 1</a:t>
            </a:r>
            <a:r>
              <a:rPr lang="en-US" altLang="zh-CN" baseline="30000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st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 pass</a:t>
            </a:r>
            <a:endParaRPr lang="en-US" altLang="zh-CN" dirty="0" smtClean="0">
              <a:solidFill>
                <a:srgbClr val="263AF8"/>
              </a:solidFill>
              <a:latin typeface="Sitka Text" panose="02000505000000020004" pitchFamily="2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30538" y="4853700"/>
            <a:ext cx="1212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Index positions for B[]</a:t>
            </a:r>
            <a:endParaRPr lang="en-US" altLang="zh-CN" dirty="0" smtClean="0">
              <a:solidFill>
                <a:srgbClr val="263AF8"/>
              </a:solidFill>
              <a:latin typeface="Sitka Text" panose="02000505000000020004" pitchFamily="2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30538" y="5777030"/>
            <a:ext cx="1316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Sitka Text" panose="02000505000000020004" pitchFamily="2" charset="0"/>
              </a:rPr>
              <a:t>Array</a:t>
            </a:r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A[] in the end of 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1</a:t>
            </a:r>
            <a:r>
              <a:rPr lang="en-US" altLang="zh-CN" baseline="30000" dirty="0">
                <a:solidFill>
                  <a:srgbClr val="263AF8"/>
                </a:solidFill>
                <a:latin typeface="Sitka Text" panose="02000505000000020004" pitchFamily="2" charset="0"/>
              </a:rPr>
              <a:t>st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 pass</a:t>
            </a:r>
            <a:endParaRPr lang="en-US" altLang="zh-CN" dirty="0" smtClean="0">
              <a:latin typeface="Sitka Text" panose="02000505000000020004" pitchFamily="2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816" y="3260062"/>
            <a:ext cx="4181475" cy="495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816" y="4013619"/>
            <a:ext cx="3524250" cy="6572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816" y="5040723"/>
            <a:ext cx="3457575" cy="6286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982" y="5030563"/>
            <a:ext cx="4162425" cy="138112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1628800" y="6954735"/>
            <a:ext cx="4955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B[--</a:t>
            </a:r>
            <a:r>
              <a:rPr lang="en-US" altLang="zh-CN" dirty="0" err="1">
                <a:latin typeface="Sitka Text" panose="02000505000000020004" pitchFamily="2" charset="0"/>
              </a:rPr>
              <a:t>cnt</a:t>
            </a:r>
            <a:r>
              <a:rPr lang="en-US" altLang="zh-CN" dirty="0">
                <a:latin typeface="Sitka Text" panose="02000505000000020004" pitchFamily="2" charset="0"/>
              </a:rPr>
              <a:t>[(</a:t>
            </a:r>
            <a:r>
              <a:rPr lang="en-US" altLang="zh-CN" dirty="0" err="1">
                <a:latin typeface="Sitka Text" panose="02000505000000020004" pitchFamily="2" charset="0"/>
              </a:rPr>
              <a:t>getKey</a:t>
            </a:r>
            <a:r>
              <a:rPr lang="en-US" altLang="zh-CN" dirty="0">
                <a:latin typeface="Sitka Text" panose="02000505000000020004" pitchFamily="2" charset="0"/>
              </a:rPr>
              <a:t>::key(A[j])/</a:t>
            </a:r>
            <a:r>
              <a:rPr lang="en-US" altLang="zh-CN" dirty="0" err="1">
                <a:latin typeface="Sitka Text" panose="02000505000000020004" pitchFamily="2" charset="0"/>
              </a:rPr>
              <a:t>btoi</a:t>
            </a:r>
            <a:r>
              <a:rPr lang="en-US" altLang="zh-CN" dirty="0">
                <a:latin typeface="Sitka Text" panose="02000505000000020004" pitchFamily="2" charset="0"/>
              </a:rPr>
              <a:t>)%b]] = A[j];</a:t>
            </a:r>
            <a:endParaRPr lang="zh-CN" altLang="en-US" dirty="0">
              <a:latin typeface="Sitka Text" panose="02000505000000020004" pitchFamily="2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14CFCA-915D-4F7A-BA4C-9F3DF3A71AD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6" grpId="0"/>
      <p:bldP spid="18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Radix Sort</a:t>
            </a:r>
            <a:endParaRPr lang="zh-CN" altLang="en-US" dirty="0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FB81BDE3-5D58-4286-8E5D-0D60E91FED1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4" name="文本框 3"/>
          <p:cNvSpPr txBox="1"/>
          <p:nvPr/>
        </p:nvSpPr>
        <p:spPr>
          <a:xfrm>
            <a:off x="245592" y="2482501"/>
            <a:ext cx="1286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Sitka Text" panose="02000505000000020004" pitchFamily="2" charset="0"/>
              </a:rPr>
              <a:t>Array</a:t>
            </a:r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A[] </a:t>
            </a:r>
            <a:r>
              <a:rPr lang="en-US" altLang="zh-CN" dirty="0">
                <a:latin typeface="Sitka Text" panose="02000505000000020004" pitchFamily="2" charset="0"/>
              </a:rPr>
              <a:t>in the end of 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1</a:t>
            </a:r>
            <a:r>
              <a:rPr lang="en-US" altLang="zh-CN" baseline="30000" dirty="0">
                <a:solidFill>
                  <a:srgbClr val="263AF8"/>
                </a:solidFill>
                <a:latin typeface="Sitka Text" panose="02000505000000020004" pitchFamily="2" charset="0"/>
              </a:rPr>
              <a:t>st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 pass</a:t>
            </a:r>
            <a:endParaRPr lang="en-US" altLang="zh-CN" dirty="0">
              <a:latin typeface="Sitka Text" panose="02000505000000020004" pitchFamily="2" charset="0"/>
            </a:endParaRPr>
          </a:p>
          <a:p>
            <a:endParaRPr lang="en-US" altLang="zh-CN" dirty="0" smtClean="0">
              <a:latin typeface="Sitka Text" panose="02000505000000020004" pitchFamily="2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0538" y="3780543"/>
            <a:ext cx="1212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Count in 2</a:t>
            </a:r>
            <a:r>
              <a:rPr lang="en-US" altLang="zh-CN" baseline="30000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nd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 pass</a:t>
            </a:r>
            <a:endParaRPr lang="en-US" altLang="zh-CN" dirty="0" smtClean="0">
              <a:solidFill>
                <a:srgbClr val="263AF8"/>
              </a:solidFill>
              <a:latin typeface="Sitka Text" panose="02000505000000020004" pitchFamily="2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2585" y="4725044"/>
            <a:ext cx="1212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Index positions for B[]</a:t>
            </a:r>
            <a:endParaRPr lang="en-US" altLang="zh-CN" dirty="0" smtClean="0">
              <a:solidFill>
                <a:srgbClr val="263AF8"/>
              </a:solidFill>
              <a:latin typeface="Sitka Text" panose="02000505000000020004" pitchFamily="2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30538" y="5767258"/>
            <a:ext cx="1316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Sitka Text" panose="02000505000000020004" pitchFamily="2" charset="0"/>
              </a:rPr>
              <a:t>Array</a:t>
            </a:r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A[] in the end of 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2</a:t>
            </a:r>
            <a:r>
              <a:rPr lang="en-US" altLang="zh-CN" baseline="30000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st</a:t>
            </a:r>
            <a:r>
              <a:rPr lang="en-US" altLang="zh-CN" dirty="0" smtClean="0">
                <a:solidFill>
                  <a:srgbClr val="263AF8"/>
                </a:solidFill>
                <a:latin typeface="Sitka Text" panose="02000505000000020004" pitchFamily="2" charset="0"/>
              </a:rPr>
              <a:t> 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pass</a:t>
            </a:r>
            <a:endParaRPr lang="en-US" altLang="zh-CN" dirty="0" smtClean="0">
              <a:latin typeface="Sitka Text" panose="02000505000000020004" pitchFamily="2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628800" y="6954735"/>
            <a:ext cx="4955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anose="02000505000000020004" pitchFamily="2" charset="0"/>
              </a:rPr>
              <a:t>B[--</a:t>
            </a:r>
            <a:r>
              <a:rPr lang="en-US" altLang="zh-CN" dirty="0" err="1">
                <a:latin typeface="Sitka Text" panose="02000505000000020004" pitchFamily="2" charset="0"/>
              </a:rPr>
              <a:t>cnt</a:t>
            </a:r>
            <a:r>
              <a:rPr lang="en-US" altLang="zh-CN" dirty="0">
                <a:latin typeface="Sitka Text" panose="02000505000000020004" pitchFamily="2" charset="0"/>
              </a:rPr>
              <a:t>[(</a:t>
            </a:r>
            <a:r>
              <a:rPr lang="en-US" altLang="zh-CN" dirty="0" err="1">
                <a:latin typeface="Sitka Text" panose="02000505000000020004" pitchFamily="2" charset="0"/>
              </a:rPr>
              <a:t>getKey</a:t>
            </a:r>
            <a:r>
              <a:rPr lang="en-US" altLang="zh-CN" dirty="0">
                <a:latin typeface="Sitka Text" panose="02000505000000020004" pitchFamily="2" charset="0"/>
              </a:rPr>
              <a:t>::key(A[j])/</a:t>
            </a:r>
            <a:r>
              <a:rPr lang="en-US" altLang="zh-CN" dirty="0" err="1">
                <a:latin typeface="Sitka Text" panose="02000505000000020004" pitchFamily="2" charset="0"/>
              </a:rPr>
              <a:t>btoi</a:t>
            </a:r>
            <a:r>
              <a:rPr lang="en-US" altLang="zh-CN" dirty="0">
                <a:latin typeface="Sitka Text" panose="02000505000000020004" pitchFamily="2" charset="0"/>
              </a:rPr>
              <a:t>)%b]] = A[j];</a:t>
            </a:r>
            <a:endParaRPr lang="zh-CN" altLang="en-US" dirty="0">
              <a:latin typeface="Sitka Text" panose="02000505000000020004" pitchFamily="2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9264" y="3778519"/>
            <a:ext cx="3495675" cy="695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739" y="4913331"/>
            <a:ext cx="3505200" cy="685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104" y="4920605"/>
            <a:ext cx="4171950" cy="14382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104" y="2783884"/>
            <a:ext cx="4133850" cy="381000"/>
          </a:xfrm>
          <a:prstGeom prst="rect">
            <a:avLst/>
          </a:prstGeom>
        </p:spPr>
      </p:pic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24A7EC-A993-428A-876C-1A392A2BD44D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6" grpId="0"/>
      <p:bldP spid="18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Radix Sort</a:t>
            </a:r>
            <a:endParaRPr lang="zh-CN" altLang="en-US" dirty="0" smtClean="0"/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>
          <a:xfrm>
            <a:off x="342900" y="2123728"/>
            <a:ext cx="6182444" cy="5832647"/>
          </a:xfrm>
        </p:spPr>
        <p:txBody>
          <a:bodyPr>
            <a:noAutofit/>
          </a:bodyPr>
          <a:lstStyle/>
          <a:p>
            <a:r>
              <a:rPr lang="en-US" altLang="zh-CN" dirty="0"/>
              <a:t>Time complexity analysis</a:t>
            </a:r>
            <a:endParaRPr lang="en-US" altLang="zh-CN" dirty="0"/>
          </a:p>
          <a:p>
            <a:pPr lvl="1"/>
            <a:r>
              <a:rPr lang="en-US" altLang="zh-CN" dirty="0"/>
              <a:t>It requires </a:t>
            </a:r>
            <a:r>
              <a:rPr lang="en-US" altLang="zh-CN" dirty="0" smtClean="0"/>
              <a:t>r </a:t>
            </a:r>
            <a:r>
              <a:rPr lang="en-US" altLang="zh-CN" dirty="0"/>
              <a:t>passes over the list of </a:t>
            </a:r>
            <a:r>
              <a:rPr lang="en-US" altLang="zh-CN" dirty="0" smtClean="0"/>
              <a:t>N </a:t>
            </a:r>
            <a:r>
              <a:rPr lang="en-US" altLang="zh-CN" dirty="0"/>
              <a:t>numbers in base </a:t>
            </a:r>
            <a:r>
              <a:rPr lang="en-US" altLang="zh-CN" dirty="0" smtClean="0"/>
              <a:t>b, </a:t>
            </a:r>
            <a:r>
              <a:rPr lang="en-US" altLang="zh-CN" dirty="0"/>
              <a:t>with </a:t>
            </a:r>
            <a:r>
              <a:rPr lang="el-GR" altLang="zh-CN" dirty="0" smtClean="0"/>
              <a:t>Θ </a:t>
            </a:r>
            <a:r>
              <a:rPr lang="en-US" altLang="zh-CN" dirty="0" smtClean="0"/>
              <a:t>(N </a:t>
            </a:r>
            <a:r>
              <a:rPr lang="en-US" altLang="zh-CN" dirty="0"/>
              <a:t>+ </a:t>
            </a:r>
            <a:r>
              <a:rPr lang="en-US" altLang="zh-CN" dirty="0" smtClean="0"/>
              <a:t>b) </a:t>
            </a:r>
            <a:r>
              <a:rPr lang="en-US" altLang="zh-CN" dirty="0"/>
              <a:t>work done at each pass</a:t>
            </a:r>
            <a:endParaRPr lang="en-US" altLang="zh-CN" dirty="0"/>
          </a:p>
          <a:p>
            <a:pPr lvl="1"/>
            <a:r>
              <a:rPr lang="en-US" altLang="zh-CN" dirty="0"/>
              <a:t>The total cost is </a:t>
            </a:r>
            <a:r>
              <a:rPr lang="el-GR" altLang="zh-CN" dirty="0"/>
              <a:t>Θ </a:t>
            </a:r>
            <a:r>
              <a:rPr lang="en-US" altLang="zh-CN" dirty="0" smtClean="0">
                <a:solidFill>
                  <a:srgbClr val="FF0000"/>
                </a:solidFill>
              </a:rPr>
              <a:t>(r(N </a:t>
            </a:r>
            <a:r>
              <a:rPr lang="en-US" altLang="zh-CN" dirty="0">
                <a:solidFill>
                  <a:srgbClr val="FF0000"/>
                </a:solidFill>
              </a:rPr>
              <a:t>+ </a:t>
            </a:r>
            <a:r>
              <a:rPr lang="en-US" altLang="zh-CN" dirty="0" smtClean="0">
                <a:solidFill>
                  <a:srgbClr val="FF0000"/>
                </a:solidFill>
              </a:rPr>
              <a:t>b))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dirty="0" smtClean="0"/>
              <a:t>How </a:t>
            </a:r>
            <a:r>
              <a:rPr lang="en-US" altLang="zh-CN" dirty="0"/>
              <a:t>do </a:t>
            </a:r>
            <a:r>
              <a:rPr lang="en-US" altLang="zh-CN" dirty="0" smtClean="0"/>
              <a:t>r, b, </a:t>
            </a:r>
            <a:r>
              <a:rPr lang="en-US" altLang="zh-CN" dirty="0"/>
              <a:t>and </a:t>
            </a:r>
            <a:r>
              <a:rPr lang="en-US" altLang="zh-CN" dirty="0" smtClean="0"/>
              <a:t>N </a:t>
            </a:r>
            <a:r>
              <a:rPr lang="en-US" altLang="zh-CN" dirty="0"/>
              <a:t>relate?</a:t>
            </a:r>
            <a:endParaRPr lang="en-US" altLang="zh-CN" dirty="0"/>
          </a:p>
          <a:p>
            <a:pPr lvl="1"/>
            <a:r>
              <a:rPr lang="en-US" altLang="zh-CN" dirty="0"/>
              <a:t>The base </a:t>
            </a:r>
            <a:r>
              <a:rPr lang="en-US" altLang="zh-CN" dirty="0" smtClean="0"/>
              <a:t>b </a:t>
            </a:r>
            <a:r>
              <a:rPr lang="en-US" altLang="zh-CN" dirty="0"/>
              <a:t>is usually a small number.</a:t>
            </a:r>
            <a:endParaRPr lang="en-US" altLang="zh-CN" dirty="0"/>
          </a:p>
          <a:p>
            <a:pPr lvl="2"/>
            <a:r>
              <a:rPr lang="en-US" altLang="zh-CN" sz="2000" dirty="0" smtClean="0"/>
              <a:t>e.g. 2 </a:t>
            </a:r>
            <a:r>
              <a:rPr lang="en-US" altLang="zh-CN" sz="2000" dirty="0"/>
              <a:t>or 10 for numbers; 26 for character strings</a:t>
            </a:r>
            <a:endParaRPr lang="en-US" altLang="zh-CN" sz="2000" dirty="0"/>
          </a:p>
          <a:p>
            <a:pPr lvl="1"/>
            <a:r>
              <a:rPr lang="en-US" altLang="zh-CN" dirty="0"/>
              <a:t>A minimum of </a:t>
            </a:r>
            <a:r>
              <a:rPr lang="en-US" altLang="zh-CN" dirty="0" err="1" smtClean="0"/>
              <a:t>log</a:t>
            </a:r>
            <a:r>
              <a:rPr lang="en-US" altLang="zh-CN" baseline="-25000" dirty="0" err="1" smtClean="0"/>
              <a:t>b</a:t>
            </a:r>
            <a:r>
              <a:rPr lang="en-US" altLang="zh-CN" dirty="0" err="1" smtClean="0"/>
              <a:t>N</a:t>
            </a:r>
            <a:r>
              <a:rPr lang="en-US" altLang="zh-CN" dirty="0" smtClean="0"/>
              <a:t> digits </a:t>
            </a:r>
            <a:r>
              <a:rPr lang="en-US" altLang="zh-CN" dirty="0"/>
              <a:t>are needed to represent N distinct key values, </a:t>
            </a:r>
            <a:endParaRPr lang="en-US" altLang="zh-CN" i="1" dirty="0"/>
          </a:p>
          <a:p>
            <a:pPr lvl="2"/>
            <a:r>
              <a:rPr lang="en-US" altLang="zh-CN" sz="2000" dirty="0"/>
              <a:t>If there are </a:t>
            </a:r>
            <a:r>
              <a:rPr lang="en-US" altLang="zh-CN" sz="2000" dirty="0" smtClean="0"/>
              <a:t>N </a:t>
            </a:r>
            <a:r>
              <a:rPr lang="en-US" altLang="zh-CN" sz="2000" dirty="0"/>
              <a:t>unique keys, </a:t>
            </a:r>
            <a:r>
              <a:rPr lang="en-US" altLang="zh-CN" sz="2000" dirty="0" smtClean="0"/>
              <a:t>r </a:t>
            </a:r>
            <a:r>
              <a:rPr lang="en-US" altLang="zh-CN" sz="2000" dirty="0"/>
              <a:t>is in </a:t>
            </a:r>
            <a:r>
              <a:rPr lang="el-GR" altLang="zh-CN" sz="2000" dirty="0"/>
              <a:t>Ω</a:t>
            </a:r>
            <a:r>
              <a:rPr lang="en-US" altLang="zh-CN" sz="2000" dirty="0"/>
              <a:t>(log </a:t>
            </a:r>
            <a:r>
              <a:rPr lang="en-US" altLang="zh-CN" sz="2000" dirty="0" smtClean="0"/>
              <a:t>N)</a:t>
            </a:r>
            <a:endParaRPr lang="en-US" altLang="zh-CN" sz="2000" dirty="0"/>
          </a:p>
          <a:p>
            <a:pPr lvl="2"/>
            <a:endParaRPr lang="en-US" altLang="zh-CN" sz="1600" dirty="0"/>
          </a:p>
          <a:p>
            <a:r>
              <a:rPr lang="en-US" altLang="zh-CN" dirty="0"/>
              <a:t>The asymptotic complexity of Radix Sort is </a:t>
            </a:r>
            <a:r>
              <a:rPr lang="el-GR" altLang="zh-CN" dirty="0">
                <a:solidFill>
                  <a:srgbClr val="FF0000"/>
                </a:solidFill>
              </a:rPr>
              <a:t>Ω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en-US" altLang="zh-CN" dirty="0" err="1" smtClean="0">
                <a:solidFill>
                  <a:srgbClr val="FF0000"/>
                </a:solidFill>
              </a:rPr>
              <a:t>Nlog</a:t>
            </a:r>
            <a:r>
              <a:rPr lang="en-US" altLang="zh-CN" dirty="0" smtClean="0">
                <a:solidFill>
                  <a:srgbClr val="FF0000"/>
                </a:solidFill>
              </a:rPr>
              <a:t> N)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Radix Sort is stable, not </a:t>
            </a:r>
            <a:r>
              <a:rPr lang="en-US" altLang="zh-CN" dirty="0" smtClean="0"/>
              <a:t>“In-place”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A136C698-9881-4D3C-BD15-4055337A76AE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49590F-30F2-4E54-A692-DFB011E61BF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7-3 Sorting III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5-3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T</a:t>
            </a:r>
            <a:r>
              <a:rPr lang="en-US" altLang="zh-CN" dirty="0" smtClean="0"/>
              <a:t>o Implement </a:t>
            </a:r>
            <a:r>
              <a:rPr lang="en-US" altLang="zh-CN" dirty="0"/>
              <a:t>all sorting algorithms </a:t>
            </a:r>
            <a:r>
              <a:rPr lang="en-US" altLang="zh-CN" dirty="0" smtClean="0"/>
              <a:t>discussed. (</a:t>
            </a:r>
            <a:r>
              <a:rPr lang="en-US" altLang="zh-CN" dirty="0" smtClean="0">
                <a:solidFill>
                  <a:srgbClr val="FF0000"/>
                </a:solidFill>
              </a:rPr>
              <a:t>The mission is not homework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r>
              <a:rPr lang="en-US" altLang="zh-CN" dirty="0" smtClean="0"/>
              <a:t> According </a:t>
            </a:r>
            <a:r>
              <a:rPr lang="en-US" altLang="zh-CN" dirty="0"/>
              <a:t>to the Radix </a:t>
            </a:r>
            <a:r>
              <a:rPr lang="en-US" altLang="zh-CN" dirty="0" smtClean="0"/>
              <a:t>sorting </a:t>
            </a:r>
            <a:r>
              <a:rPr lang="en-US" altLang="zh-CN" dirty="0"/>
              <a:t>algorithm</a:t>
            </a:r>
            <a:r>
              <a:rPr lang="en-US" altLang="zh-CN" dirty="0" smtClean="0"/>
              <a:t> </a:t>
            </a:r>
            <a:r>
              <a:rPr lang="en-US" altLang="zh-CN" dirty="0"/>
              <a:t>for variable-length </a:t>
            </a:r>
            <a:r>
              <a:rPr lang="en-US" altLang="zh-CN" dirty="0" smtClean="0"/>
              <a:t>strings in textbook Figure 7.27, show the sorting process for the input “</a:t>
            </a:r>
            <a:r>
              <a:rPr lang="en-US" altLang="zh-CN" dirty="0" smtClean="0">
                <a:solidFill>
                  <a:srgbClr val="263AF8"/>
                </a:solidFill>
              </a:rPr>
              <a:t>We, can, extend, either, version, of, radix, sort, to, work, with, variable, length, strings</a:t>
            </a:r>
            <a:r>
              <a:rPr lang="en-US" altLang="zh-CN" dirty="0"/>
              <a:t>”</a:t>
            </a:r>
            <a:r>
              <a:rPr lang="en-US" altLang="zh-CN" dirty="0" smtClean="0"/>
              <a:t>. 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Deadline</a:t>
            </a:r>
            <a:r>
              <a:rPr lang="en-US" altLang="zh-CN" dirty="0"/>
              <a:t>: to be confirmed.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B8533C-8186-4F96-AFFE-5B2D104E341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Lec7 Sorting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6899</Words>
  <Application>WPS Presentation</Application>
  <PresentationFormat>全屏显示(4:3)</PresentationFormat>
  <Paragraphs>344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7" baseType="lpstr">
      <vt:lpstr>Arial</vt:lpstr>
      <vt:lpstr>SimSun</vt:lpstr>
      <vt:lpstr>Wingdings</vt:lpstr>
      <vt:lpstr>Sitka Small</vt:lpstr>
      <vt:lpstr>苹方-简</vt:lpstr>
      <vt:lpstr>Times New Roman</vt:lpstr>
      <vt:lpstr>Wingdings 2</vt:lpstr>
      <vt:lpstr>Sitka Text</vt:lpstr>
      <vt:lpstr>SimSun</vt:lpstr>
      <vt:lpstr>宋体-简</vt:lpstr>
      <vt:lpstr>Symbol</vt:lpstr>
      <vt:lpstr>Kingsoft Sign</vt:lpstr>
      <vt:lpstr>Courier New</vt:lpstr>
      <vt:lpstr>Microsoft YaHei</vt:lpstr>
      <vt:lpstr>汉仪旗黑</vt:lpstr>
      <vt:lpstr>Arial Unicode MS</vt:lpstr>
      <vt:lpstr>Calibri</vt:lpstr>
      <vt:lpstr>Helvetica Neue</vt:lpstr>
      <vt:lpstr>等线</vt:lpstr>
      <vt:lpstr>HDOfficeLightV0</vt:lpstr>
      <vt:lpstr>Sorting</vt:lpstr>
      <vt:lpstr>“Linear-Time” Sorts</vt:lpstr>
      <vt:lpstr>Bucket Sort</vt:lpstr>
      <vt:lpstr>Bucket Sort</vt:lpstr>
      <vt:lpstr>Bucket Sort </vt:lpstr>
      <vt:lpstr>Bucket Sort </vt:lpstr>
      <vt:lpstr>Bucket Sort </vt:lpstr>
      <vt:lpstr>Bucket Sort</vt:lpstr>
      <vt:lpstr>Radix Sort</vt:lpstr>
      <vt:lpstr>Radix Sort</vt:lpstr>
      <vt:lpstr>Radix Sort</vt:lpstr>
      <vt:lpstr>Radix Sort </vt:lpstr>
      <vt:lpstr>Radix Sort (V)</vt:lpstr>
      <vt:lpstr>Radix Sort</vt:lpstr>
      <vt:lpstr>Radix Sort</vt:lpstr>
      <vt:lpstr>Radix Sort</vt:lpstr>
      <vt:lpstr>Homework 5-3 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jiexin</cp:lastModifiedBy>
  <cp:revision>832</cp:revision>
  <dcterms:created xsi:type="dcterms:W3CDTF">2023-10-16T07:03:25Z</dcterms:created>
  <dcterms:modified xsi:type="dcterms:W3CDTF">2023-10-16T07:03:25Z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1033-4.4.1.7618</vt:lpwstr>
  </property>
</Properties>
</file>