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62"/>
  </p:notesMasterIdLst>
  <p:sldIdLst>
    <p:sldId id="257" r:id="rId3"/>
    <p:sldId id="258" r:id="rId4"/>
    <p:sldId id="259" r:id="rId5"/>
    <p:sldId id="271" r:id="rId6"/>
    <p:sldId id="374" r:id="rId7"/>
    <p:sldId id="320" r:id="rId8"/>
    <p:sldId id="321" r:id="rId9"/>
    <p:sldId id="322" r:id="rId10"/>
    <p:sldId id="323" r:id="rId11"/>
    <p:sldId id="381" r:id="rId12"/>
    <p:sldId id="308" r:id="rId13"/>
    <p:sldId id="328" r:id="rId14"/>
    <p:sldId id="329" r:id="rId15"/>
    <p:sldId id="330" r:id="rId16"/>
    <p:sldId id="334" r:id="rId17"/>
    <p:sldId id="331" r:id="rId18"/>
    <p:sldId id="332" r:id="rId19"/>
    <p:sldId id="394" r:id="rId20"/>
    <p:sldId id="318" r:id="rId21"/>
    <p:sldId id="337" r:id="rId22"/>
    <p:sldId id="340" r:id="rId23"/>
    <p:sldId id="333" r:id="rId24"/>
    <p:sldId id="335" r:id="rId25"/>
    <p:sldId id="336" r:id="rId26"/>
    <p:sldId id="338" r:id="rId27"/>
    <p:sldId id="339" r:id="rId28"/>
    <p:sldId id="341" r:id="rId29"/>
    <p:sldId id="344" r:id="rId30"/>
    <p:sldId id="345" r:id="rId31"/>
    <p:sldId id="346" r:id="rId32"/>
    <p:sldId id="342" r:id="rId33"/>
    <p:sldId id="343" r:id="rId34"/>
    <p:sldId id="417" r:id="rId35"/>
    <p:sldId id="347" r:id="rId36"/>
    <p:sldId id="348" r:id="rId37"/>
    <p:sldId id="349" r:id="rId38"/>
    <p:sldId id="408" r:id="rId39"/>
    <p:sldId id="364" r:id="rId40"/>
    <p:sldId id="365" r:id="rId41"/>
    <p:sldId id="379" r:id="rId42"/>
    <p:sldId id="384" r:id="rId43"/>
    <p:sldId id="391" r:id="rId44"/>
    <p:sldId id="319" r:id="rId45"/>
    <p:sldId id="350" r:id="rId46"/>
    <p:sldId id="351" r:id="rId47"/>
    <p:sldId id="352" r:id="rId48"/>
    <p:sldId id="353" r:id="rId49"/>
    <p:sldId id="354" r:id="rId50"/>
    <p:sldId id="355" r:id="rId51"/>
    <p:sldId id="356" r:id="rId52"/>
    <p:sldId id="357" r:id="rId53"/>
    <p:sldId id="358" r:id="rId54"/>
    <p:sldId id="362" r:id="rId55"/>
    <p:sldId id="363" r:id="rId56"/>
    <p:sldId id="367" r:id="rId57"/>
    <p:sldId id="366" r:id="rId58"/>
    <p:sldId id="411" r:id="rId59"/>
    <p:sldId id="383" r:id="rId60"/>
    <p:sldId id="303" r:id="rId6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8C1602"/>
    <a:srgbClr val="EF6F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92" autoAdjust="0"/>
    <p:restoredTop sz="94661" autoAdjust="0"/>
  </p:normalViewPr>
  <p:slideViewPr>
    <p:cSldViewPr showGuides="1">
      <p:cViewPr varScale="1">
        <p:scale>
          <a:sx n="114" d="100"/>
          <a:sy n="114" d="100"/>
        </p:scale>
        <p:origin x="2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DF2D3C38-1778-4DEF-9710-93D7F8E3F58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这个</a:t>
            </a:r>
          </a:p>
        </p:txBody>
      </p:sp>
      <p:sp>
        <p:nvSpPr>
          <p:cNvPr id="74756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FB766E6-3E20-4339-9B91-262650977F9C}" type="slidenum">
              <a:rPr lang="en-US" altLang="zh-CN"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50179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0180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7B103F-1E3D-455C-A999-F17073C69D9B}" type="slidenum">
              <a:rPr lang="en-US" altLang="zh-CN"/>
              <a:t>52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83971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397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EF16473-C6F3-480C-8651-C201E6F39977}" type="slidenum">
              <a:rPr lang="en-US" altLang="zh-CN"/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a1"/>
          <p:cNvSpPr>
            <a:spLocks noChangeArrowheads="1"/>
          </p:cNvSpPr>
          <p:nvPr/>
        </p:nvSpPr>
        <p:spPr bwMode="gray">
          <a:xfrm>
            <a:off x="2286000" y="0"/>
            <a:ext cx="2286000" cy="31242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gray">
          <a:xfrm>
            <a:off x="0" y="0"/>
            <a:ext cx="2209800" cy="312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4648200" y="0"/>
            <a:ext cx="2209800" cy="3124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Rectangle 5" descr="a2"/>
          <p:cNvSpPr>
            <a:spLocks noChangeArrowheads="1"/>
          </p:cNvSpPr>
          <p:nvPr/>
        </p:nvSpPr>
        <p:spPr bwMode="gray">
          <a:xfrm>
            <a:off x="6934200" y="0"/>
            <a:ext cx="2209800" cy="3124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gray"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gray"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444500" y="2514600"/>
            <a:ext cx="17653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  <p:sp>
        <p:nvSpPr>
          <p:cNvPr id="12296" name="Rectangle 8"/>
          <p:cNvSpPr>
            <a:spLocks noGrp="1" noChangeArrowheads="1"/>
          </p:cNvSpPr>
          <p:nvPr>
            <p:ph type="ctrTitle"/>
          </p:nvPr>
        </p:nvSpPr>
        <p:spPr>
          <a:xfrm>
            <a:off x="2286000" y="3048000"/>
            <a:ext cx="6705600" cy="685800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2297" name="Rectangle 9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2286000" y="3886200"/>
            <a:ext cx="6719888" cy="381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000">
                <a:latin typeface="Verdana" panose="020B0604030504040204" pitchFamily="34" charset="0"/>
              </a:defRPr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dt" sz="half" idx="10"/>
          </p:nvPr>
        </p:nvSpPr>
        <p:spPr bwMode="gray">
          <a:xfrm>
            <a:off x="457200" y="6551613"/>
            <a:ext cx="2133600" cy="169862"/>
          </a:xfrm>
        </p:spPr>
        <p:txBody>
          <a:bodyPr/>
          <a:lstStyle>
            <a:lvl1pPr>
              <a:defRPr>
                <a:effectLst/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F8ED465-F571-4F8A-A26A-532634A798AD}" type="datetime1">
              <a:rPr lang="zh-CN" altLang="en-US"/>
              <a:t>2026/9/27</a:t>
            </a:fld>
            <a:endParaRPr lang="en-US" altLang="zh-CN"/>
          </a:p>
        </p:txBody>
      </p:sp>
      <p:sp>
        <p:nvSpPr>
          <p:cNvPr id="10" name="Rectangle 11"/>
          <p:cNvSpPr>
            <a:spLocks noGrp="1" noChangeArrowheads="1"/>
          </p:cNvSpPr>
          <p:nvPr>
            <p:ph type="ftr" sz="quarter" idx="11"/>
          </p:nvPr>
        </p:nvSpPr>
        <p:spPr bwMode="gray">
          <a:xfrm>
            <a:off x="3124200" y="6553200"/>
            <a:ext cx="2895600" cy="168275"/>
          </a:xfrm>
        </p:spPr>
        <p:txBody>
          <a:bodyPr/>
          <a:lstStyle>
            <a:lvl1pPr algn="ctr">
              <a:defRPr>
                <a:effectLst/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sldNum" sz="quarter" idx="12"/>
          </p:nvPr>
        </p:nvSpPr>
        <p:spPr bwMode="gray">
          <a:xfrm>
            <a:off x="6553200" y="6553200"/>
            <a:ext cx="2133600" cy="168275"/>
          </a:xfrm>
        </p:spPr>
        <p:txBody>
          <a:bodyPr/>
          <a:lstStyle>
            <a:lvl1pPr algn="r">
              <a:defRPr>
                <a:effectLst/>
                <a:latin typeface="Arial" panose="020B0604020202020204" pitchFamily="34" charset="0"/>
              </a:defRPr>
            </a:lvl1pPr>
          </a:lstStyle>
          <a:p>
            <a:fld id="{055E943A-C119-41BE-AB68-2CDF4403BE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B8697-4E7F-40A6-B806-3D33CDD99D62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BA5DDD-EC01-4ED6-9ABE-3BC3160AA76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C8A9EF-40B2-4C4E-B3C4-7B9930BE1112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02E833-3E7A-4987-8A4B-4C8005D8DB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6D5359-8059-4F9F-996A-68015900094A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3606D6-FF30-4B61-AA1E-B5872E3FB97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26833-43F7-4D2A-B1F4-4DC6699EBC3F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9588CA-76ED-4228-8B2B-87362B4CF85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3F4A7-432D-4CC1-AFA8-69F9F9700D14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3BA678-1224-434B-8438-16138B8595F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8A718-4446-41B9-B95C-DDC6696BF20B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A48DCE-5718-44BD-A040-47497A80F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410083-5807-4CE7-943F-BEB8CF1778EE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8B3E43-5978-4F8C-B20A-BC89458C98B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7FF24-E3C0-4637-85A1-BC96E1162C99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E95C8F-04E8-404A-B68F-6819AEC080C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B1ABC-408D-4175-A1EA-20617B0E82B7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BB048D-200B-4B3C-B8DB-C25E8DB7CCE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416E4-8FBF-47E2-BEC7-CC6986B172EC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E54C42-FAD3-4252-B3F2-8EEFDB1D6AB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19225"/>
            <a:ext cx="4038600" cy="23637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5413"/>
            <a:ext cx="4038600" cy="23637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A5F43A-9DD7-4543-83CA-9922616D026F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7CA31A-35DF-439D-86BF-236F394019F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19225"/>
            <a:ext cx="8229600" cy="48799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3ECD98-862F-4101-AD0A-1997D983467F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C3AE52-4903-480F-89EF-48E6426B7E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419225"/>
            <a:ext cx="8229600" cy="48799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B4DA9D-0156-4B4F-A181-C6D96DFD014F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03A4FE-EFDD-48A0-A6A4-18C53E79DAC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a1"/>
          <p:cNvSpPr>
            <a:spLocks noChangeArrowheads="1"/>
          </p:cNvSpPr>
          <p:nvPr/>
        </p:nvSpPr>
        <p:spPr bwMode="gray">
          <a:xfrm>
            <a:off x="2286000" y="0"/>
            <a:ext cx="2286000" cy="31242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gray">
          <a:xfrm>
            <a:off x="0" y="0"/>
            <a:ext cx="2209800" cy="312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4648200" y="0"/>
            <a:ext cx="2209800" cy="3124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Rectangle 5" descr="a2"/>
          <p:cNvSpPr>
            <a:spLocks noChangeArrowheads="1"/>
          </p:cNvSpPr>
          <p:nvPr/>
        </p:nvSpPr>
        <p:spPr bwMode="gray">
          <a:xfrm>
            <a:off x="6934200" y="0"/>
            <a:ext cx="2209800" cy="3124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gray"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gray"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444500" y="2514600"/>
            <a:ext cx="17653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  <p:sp>
        <p:nvSpPr>
          <p:cNvPr id="12296" name="Rectangle 8"/>
          <p:cNvSpPr>
            <a:spLocks noGrp="1" noChangeArrowheads="1"/>
          </p:cNvSpPr>
          <p:nvPr>
            <p:ph type="ctrTitle"/>
          </p:nvPr>
        </p:nvSpPr>
        <p:spPr>
          <a:xfrm>
            <a:off x="2286000" y="3048000"/>
            <a:ext cx="6705600" cy="685800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2297" name="Rectangle 9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2286000" y="3886200"/>
            <a:ext cx="6719888" cy="381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000">
                <a:latin typeface="Verdana" panose="020B0604030504040204" pitchFamily="34" charset="0"/>
              </a:defRPr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dt" sz="half" idx="10"/>
          </p:nvPr>
        </p:nvSpPr>
        <p:spPr bwMode="gray">
          <a:xfrm>
            <a:off x="457200" y="6551613"/>
            <a:ext cx="2133600" cy="169862"/>
          </a:xfrm>
        </p:spPr>
        <p:txBody>
          <a:bodyPr/>
          <a:lstStyle>
            <a:lvl1pPr>
              <a:defRPr>
                <a:effectLst/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2058670-2A6E-458D-8778-0CC6B7281B2D}" type="datetime1">
              <a:rPr lang="zh-CN" altLang="en-US"/>
              <a:t>2026/9/27</a:t>
            </a:fld>
            <a:endParaRPr lang="en-US" altLang="zh-CN"/>
          </a:p>
        </p:txBody>
      </p:sp>
      <p:sp>
        <p:nvSpPr>
          <p:cNvPr id="10" name="Rectangle 11"/>
          <p:cNvSpPr>
            <a:spLocks noGrp="1" noChangeArrowheads="1"/>
          </p:cNvSpPr>
          <p:nvPr>
            <p:ph type="ftr" sz="quarter" idx="11"/>
          </p:nvPr>
        </p:nvSpPr>
        <p:spPr bwMode="gray">
          <a:xfrm>
            <a:off x="3124200" y="6553200"/>
            <a:ext cx="2895600" cy="168275"/>
          </a:xfrm>
        </p:spPr>
        <p:txBody>
          <a:bodyPr/>
          <a:lstStyle>
            <a:lvl1pPr algn="ctr">
              <a:defRPr>
                <a:effectLst/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sldNum" sz="quarter" idx="12"/>
          </p:nvPr>
        </p:nvSpPr>
        <p:spPr bwMode="gray">
          <a:xfrm>
            <a:off x="6553200" y="6553200"/>
            <a:ext cx="2133600" cy="168275"/>
          </a:xfrm>
        </p:spPr>
        <p:txBody>
          <a:bodyPr/>
          <a:lstStyle>
            <a:lvl1pPr algn="r">
              <a:defRPr>
                <a:effectLst/>
                <a:latin typeface="Arial" panose="020B0604020202020204" pitchFamily="34" charset="0"/>
              </a:defRPr>
            </a:lvl1pPr>
          </a:lstStyle>
          <a:p>
            <a:fld id="{F92B8C14-C52E-47A6-8362-7265197070B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CF6C2-6B60-472A-8624-DD98DF1721D4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7D43CC-2904-41FF-A343-E0628DB98FE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8970BE-6654-45DC-B3A2-EE7CCA03B391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297495-DEDF-4C90-8D12-1AFC91B0CF5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CCF8A-E536-48F7-8695-1247E7B04641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8E4C70-D9E6-47A6-95E5-6409DEAB35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59D9D-C05A-4DD2-A381-17DC087BD079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D5D2CC-84CB-4111-9385-F7AE84A75C0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3BA2A-D68A-44D3-9E3E-70619EB9D21B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B1F762-5275-4603-A820-112C9A60D08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EDC40-E666-4F43-8D15-7CEBB4D9B898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024002-E3EC-4D29-A6E8-7B31C4CC05A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7AFFD4-891B-4867-9882-8CEE96923ED7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F9D28E-EF3C-4159-9951-D6FF6B49588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9A05A7-6415-4055-BD58-702C9719CB12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1F4D63-CDF0-47C1-AD9A-75CE7E62FCB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EE7D5E-45C5-4BDE-A73F-26CDC4527EB8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A20FB-6115-490F-8B8B-08E06E83553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EFDA01-A10D-40B3-BA76-EE826DE61DE9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10E5C4-D48B-4AF8-B6E1-FA8AA3A6518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19225"/>
            <a:ext cx="4038600" cy="23637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5413"/>
            <a:ext cx="4038600" cy="23637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8A296-51C5-4388-BFB1-778C821352DA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D6DB2E-E895-400E-9280-B68D2D11BE5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19225"/>
            <a:ext cx="8229600" cy="48799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6916C-5886-42A5-A328-EF8E5C82BF3D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DFE68B-0848-439A-8062-4293F938A2B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419225"/>
            <a:ext cx="8229600" cy="48799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FCCDE-7572-4449-B542-E8607706FA8D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8D218D-02B5-478F-B4B5-C7D38721EE7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a1"/>
          <p:cNvSpPr>
            <a:spLocks noChangeArrowheads="1"/>
          </p:cNvSpPr>
          <p:nvPr/>
        </p:nvSpPr>
        <p:spPr bwMode="gray">
          <a:xfrm>
            <a:off x="592138" y="0"/>
            <a:ext cx="2066925" cy="838200"/>
          </a:xfrm>
          <a:prstGeom prst="rect">
            <a:avLst/>
          </a:prstGeom>
          <a:blipFill dpi="0" rotWithShape="1">
            <a:blip r:embed="rId16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gray">
          <a:xfrm>
            <a:off x="2730500" y="0"/>
            <a:ext cx="2138363" cy="838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Rectangle 4" descr="a2"/>
          <p:cNvSpPr>
            <a:spLocks noChangeArrowheads="1"/>
          </p:cNvSpPr>
          <p:nvPr/>
        </p:nvSpPr>
        <p:spPr bwMode="gray">
          <a:xfrm>
            <a:off x="4938713" y="0"/>
            <a:ext cx="2066925" cy="838200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7077075" y="0"/>
            <a:ext cx="2066925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gray"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1031" name="Group 7"/>
          <p:cNvGrpSpPr/>
          <p:nvPr/>
        </p:nvGrpSpPr>
        <p:grpSpPr bwMode="auto">
          <a:xfrm>
            <a:off x="0" y="685800"/>
            <a:ext cx="9144000" cy="609600"/>
            <a:chOff x="0" y="432"/>
            <a:chExt cx="5760" cy="384"/>
          </a:xfrm>
        </p:grpSpPr>
        <p:sp>
          <p:nvSpPr>
            <p:cNvPr id="2" name="Rectangle 8"/>
            <p:cNvSpPr>
              <a:spLocks noChangeArrowheads="1"/>
            </p:cNvSpPr>
            <p:nvPr/>
          </p:nvSpPr>
          <p:spPr bwMode="gray">
            <a:xfrm>
              <a:off x="0" y="432"/>
              <a:ext cx="5760" cy="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Rectangle 9"/>
            <p:cNvSpPr>
              <a:spLocks noChangeArrowheads="1"/>
            </p:cNvSpPr>
            <p:nvPr/>
          </p:nvSpPr>
          <p:spPr bwMode="gray">
            <a:xfrm>
              <a:off x="362" y="432"/>
              <a:ext cx="5398" cy="3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32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27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61125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1A857C74-13CB-44B3-8CA7-839D2686838D}" type="datetime1">
              <a:rPr lang="zh-CN" altLang="en-US"/>
              <a:t>2026/9/27</a:t>
            </a:fld>
            <a:r>
              <a:rPr lang="en-US" altLang="zh-CN"/>
              <a:t>2024/10/18www.themegallery.com</a:t>
            </a:r>
          </a:p>
        </p:txBody>
      </p:sp>
      <p:sp>
        <p:nvSpPr>
          <p:cNvPr id="1127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77000"/>
            <a:ext cx="2895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公司标志</a:t>
            </a:r>
          </a:p>
        </p:txBody>
      </p:sp>
      <p:sp>
        <p:nvSpPr>
          <p:cNvPr id="1127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fld id="{0212310C-CE02-42AA-925A-42C2692C97A1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36" name="Rectangle 1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7" name="Text Box 15"/>
          <p:cNvSpPr txBox="1">
            <a:spLocks noChangeArrowheads="1"/>
          </p:cNvSpPr>
          <p:nvPr/>
        </p:nvSpPr>
        <p:spPr bwMode="auto">
          <a:xfrm>
            <a:off x="7391400" y="76200"/>
            <a:ext cx="17653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a1"/>
          <p:cNvSpPr>
            <a:spLocks noChangeArrowheads="1"/>
          </p:cNvSpPr>
          <p:nvPr/>
        </p:nvSpPr>
        <p:spPr bwMode="gray">
          <a:xfrm>
            <a:off x="592138" y="0"/>
            <a:ext cx="2066925" cy="838200"/>
          </a:xfrm>
          <a:prstGeom prst="rect">
            <a:avLst/>
          </a:prstGeom>
          <a:blipFill dpi="0" rotWithShape="1">
            <a:blip r:embed="rId16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gray">
          <a:xfrm>
            <a:off x="2730500" y="0"/>
            <a:ext cx="2138363" cy="838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Rectangle 4" descr="a2"/>
          <p:cNvSpPr>
            <a:spLocks noChangeArrowheads="1"/>
          </p:cNvSpPr>
          <p:nvPr/>
        </p:nvSpPr>
        <p:spPr bwMode="gray">
          <a:xfrm>
            <a:off x="4938713" y="0"/>
            <a:ext cx="2066925" cy="838200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7077075" y="0"/>
            <a:ext cx="2066925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gray"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2055" name="Group 7"/>
          <p:cNvGrpSpPr/>
          <p:nvPr/>
        </p:nvGrpSpPr>
        <p:grpSpPr bwMode="auto">
          <a:xfrm>
            <a:off x="0" y="685800"/>
            <a:ext cx="9144000" cy="609600"/>
            <a:chOff x="0" y="432"/>
            <a:chExt cx="5760" cy="384"/>
          </a:xfrm>
        </p:grpSpPr>
        <p:sp>
          <p:nvSpPr>
            <p:cNvPr id="1038" name="Rectangle 8"/>
            <p:cNvSpPr>
              <a:spLocks noChangeArrowheads="1"/>
            </p:cNvSpPr>
            <p:nvPr/>
          </p:nvSpPr>
          <p:spPr bwMode="gray">
            <a:xfrm>
              <a:off x="0" y="432"/>
              <a:ext cx="5760" cy="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Rectangle 9"/>
            <p:cNvSpPr>
              <a:spLocks noChangeArrowheads="1"/>
            </p:cNvSpPr>
            <p:nvPr/>
          </p:nvSpPr>
          <p:spPr bwMode="gray">
            <a:xfrm>
              <a:off x="362" y="432"/>
              <a:ext cx="5398" cy="3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2056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27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61125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BD9ABDFD-E5E1-4F05-A661-AA5C0CBBF0CE}" type="datetime1">
              <a:rPr lang="zh-CN" altLang="en-US"/>
              <a:t>2026/9/27</a:t>
            </a:fld>
            <a:r>
              <a:rPr lang="en-US" altLang="zh-CN"/>
              <a:t>2024/10/18www.themegallery.com</a:t>
            </a:r>
          </a:p>
        </p:txBody>
      </p:sp>
      <p:sp>
        <p:nvSpPr>
          <p:cNvPr id="1127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77000"/>
            <a:ext cx="2895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公司标志</a:t>
            </a:r>
          </a:p>
        </p:txBody>
      </p:sp>
      <p:sp>
        <p:nvSpPr>
          <p:cNvPr id="1127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fld id="{849CFFB0-3917-42C7-8096-D0CFD407D8D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2060" name="Rectangle 1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7" name="Text Box 15"/>
          <p:cNvSpPr txBox="1">
            <a:spLocks noChangeArrowheads="1"/>
          </p:cNvSpPr>
          <p:nvPr/>
        </p:nvSpPr>
        <p:spPr bwMode="auto">
          <a:xfrm>
            <a:off x="7391400" y="76200"/>
            <a:ext cx="17653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3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wmf"/><Relationship Id="rId4" Type="http://schemas.openxmlformats.org/officeDocument/2006/relationships/oleObject" Target="../embeddings/oleObject9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11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1.wmf"/><Relationship Id="rId3" Type="http://schemas.openxmlformats.org/officeDocument/2006/relationships/oleObject" Target="../embeddings/oleObject12.bin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7.bin"/><Relationship Id="rId17" Type="http://schemas.openxmlformats.org/officeDocument/2006/relationships/oleObject" Target="../embeddings/oleObject20.bin"/><Relationship Id="rId2" Type="http://schemas.openxmlformats.org/officeDocument/2006/relationships/image" Target="../media/image15.png"/><Relationship Id="rId16" Type="http://schemas.openxmlformats.org/officeDocument/2006/relationships/image" Target="../media/image20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8.wmf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9.bin"/><Relationship Id="rId10" Type="http://schemas.openxmlformats.org/officeDocument/2006/relationships/oleObject" Target="../embeddings/oleObject16.bin"/><Relationship Id="rId4" Type="http://schemas.openxmlformats.org/officeDocument/2006/relationships/image" Target="../media/image14.wmf"/><Relationship Id="rId9" Type="http://schemas.openxmlformats.org/officeDocument/2006/relationships/image" Target="../media/image17.wmf"/><Relationship Id="rId14" Type="http://schemas.openxmlformats.org/officeDocument/2006/relationships/image" Target="../media/image19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9AE118A-4F47-4318-A49D-17BCFF66C5A9}" type="slidenum">
              <a:rPr lang="en-US" altLang="zh-CN" sz="1200"/>
              <a:t>1</a:t>
            </a:fld>
            <a:endParaRPr lang="en-US" altLang="zh-CN" sz="1200"/>
          </a:p>
        </p:txBody>
      </p:sp>
      <p:sp>
        <p:nvSpPr>
          <p:cNvPr id="6147" name="Rectangle 12"/>
          <p:cNvSpPr txBox="1">
            <a:spLocks noGrp="1" noChangeArrowheads="1"/>
          </p:cNvSpPr>
          <p:nvPr/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BED3E23-0F48-4A7C-9786-745EE91A1F3A}" type="slidenum">
              <a:rPr lang="en-US" altLang="zh-CN" sz="1200"/>
              <a:t>1</a:t>
            </a:fld>
            <a:endParaRPr lang="en-US" altLang="zh-CN" sz="1200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0" y="2743200"/>
            <a:ext cx="6705600" cy="990600"/>
          </a:xfrm>
        </p:spPr>
        <p:txBody>
          <a:bodyPr anchor="b"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离散数学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95400" y="5715000"/>
            <a:ext cx="6719888" cy="3810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r>
              <a:rPr lang="en-US" altLang="zh-CN" b="1">
                <a:ea typeface="宋体" panose="02010600030101010101" pitchFamily="2" charset="-122"/>
              </a:rPr>
              <a:t>华南理工大学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225C2A0-F60F-4EB5-B09A-24F459D1524F}" type="slidenum">
              <a:rPr lang="en-US" altLang="zh-CN" sz="1200"/>
              <a:t>2</a:t>
            </a:fld>
            <a:endParaRPr lang="en-US" altLang="zh-CN" sz="1200"/>
          </a:p>
        </p:txBody>
      </p:sp>
      <p:sp>
        <p:nvSpPr>
          <p:cNvPr id="7171" name="Rectangle 12"/>
          <p:cNvSpPr txBox="1">
            <a:spLocks noGrp="1" noChangeArrowheads="1"/>
          </p:cNvSpPr>
          <p:nvPr/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298C166-2C89-45BE-B455-5585AF95BC1B}" type="slidenum">
              <a:rPr lang="en-US" altLang="zh-CN" sz="1200"/>
              <a:t>2</a:t>
            </a:fld>
            <a:endParaRPr lang="en-US" altLang="zh-CN" sz="120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038600" y="6096000"/>
            <a:ext cx="1447800" cy="30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第 3.1 节</a:t>
            </a:r>
          </a:p>
        </p:txBody>
      </p:sp>
      <p:sp>
        <p:nvSpPr>
          <p:cNvPr id="7173" name="Text Box 3"/>
          <p:cNvSpPr txBox="1">
            <a:spLocks noChangeArrowheads="1"/>
          </p:cNvSpPr>
          <p:nvPr/>
        </p:nvSpPr>
        <p:spPr bwMode="auto">
          <a:xfrm>
            <a:off x="2362200" y="32766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第 3 章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：关系模型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5126" name="WordArt 4"/>
          <p:cNvSpPr>
            <a:spLocks noChangeArrowheads="1" noChangeShapeType="1" noTextEdit="1"/>
          </p:cNvSpPr>
          <p:nvPr/>
        </p:nvSpPr>
        <p:spPr bwMode="auto">
          <a:xfrm>
            <a:off x="1866916" y="4495800"/>
            <a:ext cx="5410168" cy="8382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 dirty="0" err="1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关系及其</a:t>
            </a:r>
            <a:r>
              <a:rPr lang="zh-CN" altLang="en-US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1695A8-CDE0-4CE3-9396-F7A47D7DEC19}" type="slidenum">
              <a:rPr lang="en-US" altLang="zh-CN" sz="1200">
                <a:latin typeface="Verdana" panose="020B0604030504040204" pitchFamily="34" charset="0"/>
              </a:rPr>
              <a:t>3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24" name="灯片编号占位符 5"/>
          <p:cNvSpPr txBox="1">
            <a:spLocks noGrp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fld id="{EC63729A-4F3D-4D23-8F4E-58CAC08D555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目录</a:t>
            </a:r>
            <a:endParaRPr lang="en-US" altLang="zh-CN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8197" name="AutoShape 4"/>
          <p:cNvSpPr>
            <a:spLocks noChangeArrowheads="1"/>
          </p:cNvSpPr>
          <p:nvPr/>
        </p:nvSpPr>
        <p:spPr bwMode="auto">
          <a:xfrm>
            <a:off x="2438400" y="2252663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8198" name="AutoShape 5"/>
          <p:cNvSpPr>
            <a:spLocks noChangeArrowheads="1"/>
          </p:cNvSpPr>
          <p:nvPr/>
        </p:nvSpPr>
        <p:spPr bwMode="auto">
          <a:xfrm>
            <a:off x="2057400" y="2133600"/>
            <a:ext cx="685800" cy="685800"/>
          </a:xfrm>
          <a:prstGeom prst="diamond">
            <a:avLst/>
          </a:prstGeom>
          <a:solidFill>
            <a:schemeClr val="accent2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8199" name="Text Box 6"/>
          <p:cNvSpPr txBox="1">
            <a:spLocks noChangeArrowheads="1"/>
          </p:cNvSpPr>
          <p:nvPr/>
        </p:nvSpPr>
        <p:spPr bwMode="auto">
          <a:xfrm>
            <a:off x="2667000" y="2308225"/>
            <a:ext cx="403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b="1"/>
              <a:t>导言</a:t>
            </a:r>
          </a:p>
        </p:txBody>
      </p:sp>
      <p:sp>
        <p:nvSpPr>
          <p:cNvPr id="8200" name="Text Box 7"/>
          <p:cNvSpPr txBox="1">
            <a:spLocks noChangeArrowheads="1"/>
          </p:cNvSpPr>
          <p:nvPr/>
        </p:nvSpPr>
        <p:spPr bwMode="auto">
          <a:xfrm>
            <a:off x="2211388" y="22320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201" name="AutoShape 9"/>
          <p:cNvSpPr>
            <a:spLocks noChangeArrowheads="1"/>
          </p:cNvSpPr>
          <p:nvPr/>
        </p:nvSpPr>
        <p:spPr bwMode="auto">
          <a:xfrm>
            <a:off x="2438400" y="3090863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8202" name="AutoShape 10"/>
          <p:cNvSpPr>
            <a:spLocks noChangeArrowheads="1"/>
          </p:cNvSpPr>
          <p:nvPr/>
        </p:nvSpPr>
        <p:spPr bwMode="auto">
          <a:xfrm>
            <a:off x="2057400" y="2971800"/>
            <a:ext cx="685800" cy="685800"/>
          </a:xfrm>
          <a:prstGeom prst="diamond">
            <a:avLst/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2743200" y="3146425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 err="1"/>
              <a:t>集合上的函数和关系</a:t>
            </a:r>
            <a:endParaRPr lang="en-US" altLang="zh-CN" sz="1800" b="1" dirty="0"/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2211388" y="30702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205" name="AutoShape 14"/>
          <p:cNvSpPr>
            <a:spLocks noChangeArrowheads="1"/>
          </p:cNvSpPr>
          <p:nvPr/>
        </p:nvSpPr>
        <p:spPr bwMode="auto">
          <a:xfrm>
            <a:off x="2438400" y="3929063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8206" name="AutoShape 15"/>
          <p:cNvSpPr>
            <a:spLocks noChangeArrowheads="1"/>
          </p:cNvSpPr>
          <p:nvPr/>
        </p:nvSpPr>
        <p:spPr bwMode="auto">
          <a:xfrm>
            <a:off x="2057400" y="3810000"/>
            <a:ext cx="685800" cy="685800"/>
          </a:xfrm>
          <a:prstGeom prst="diamond">
            <a:avLst/>
          </a:prstGeom>
          <a:solidFill>
            <a:schemeClr val="hlink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8207" name="Text Box 16"/>
          <p:cNvSpPr txBox="1">
            <a:spLocks noChangeArrowheads="1"/>
          </p:cNvSpPr>
          <p:nvPr/>
        </p:nvSpPr>
        <p:spPr bwMode="auto">
          <a:xfrm>
            <a:off x="2667000" y="3984625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/>
              <a:t> </a:t>
            </a:r>
            <a:r>
              <a:rPr lang="en-US" altLang="zh-CN" sz="1800" b="1" dirty="0" err="1"/>
              <a:t>关系</a:t>
            </a:r>
            <a:r>
              <a:rPr lang="zh-CN" altLang="en-US" sz="1800" b="1" dirty="0"/>
              <a:t>性质</a:t>
            </a:r>
            <a:endParaRPr lang="en-US" altLang="zh-CN" sz="1800" b="1" dirty="0"/>
          </a:p>
        </p:txBody>
      </p:sp>
      <p:sp>
        <p:nvSpPr>
          <p:cNvPr id="8208" name="Text Box 17"/>
          <p:cNvSpPr txBox="1">
            <a:spLocks noChangeArrowheads="1"/>
          </p:cNvSpPr>
          <p:nvPr/>
        </p:nvSpPr>
        <p:spPr bwMode="auto">
          <a:xfrm>
            <a:off x="2211388" y="39084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209" name="AutoShape 4"/>
          <p:cNvSpPr>
            <a:spLocks noChangeArrowheads="1"/>
          </p:cNvSpPr>
          <p:nvPr/>
        </p:nvSpPr>
        <p:spPr bwMode="auto">
          <a:xfrm>
            <a:off x="2452688" y="4752975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8210" name="AutoShape 5"/>
          <p:cNvSpPr>
            <a:spLocks noChangeArrowheads="1"/>
          </p:cNvSpPr>
          <p:nvPr/>
        </p:nvSpPr>
        <p:spPr bwMode="auto">
          <a:xfrm>
            <a:off x="2071688" y="4633913"/>
            <a:ext cx="685800" cy="685800"/>
          </a:xfrm>
          <a:prstGeom prst="diamond">
            <a:avLst/>
          </a:prstGeom>
          <a:solidFill>
            <a:schemeClr val="accent2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8211" name="Text Box 6"/>
          <p:cNvSpPr txBox="1">
            <a:spLocks noChangeArrowheads="1"/>
          </p:cNvSpPr>
          <p:nvPr/>
        </p:nvSpPr>
        <p:spPr bwMode="auto">
          <a:xfrm>
            <a:off x="2681288" y="4808538"/>
            <a:ext cx="4038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b="1"/>
              <a:t>组合关系</a:t>
            </a:r>
          </a:p>
        </p:txBody>
      </p:sp>
      <p:sp>
        <p:nvSpPr>
          <p:cNvPr id="8212" name="Text Box 7"/>
          <p:cNvSpPr txBox="1">
            <a:spLocks noChangeArrowheads="1"/>
          </p:cNvSpPr>
          <p:nvPr/>
        </p:nvSpPr>
        <p:spPr bwMode="auto">
          <a:xfrm>
            <a:off x="2225675" y="473233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763274-35BF-480F-A070-5B5A2994CA2E}" type="slidenum">
              <a:rPr lang="en-US" altLang="zh-CN" sz="1200">
                <a:latin typeface="Verdana" panose="020B0604030504040204" pitchFamily="34" charset="0"/>
              </a:rPr>
              <a:t>4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fld id="{254C23AD-02A8-4C0A-AF3C-438E346BD07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9221" name="Group 4"/>
          <p:cNvGrpSpPr/>
          <p:nvPr/>
        </p:nvGrpSpPr>
        <p:grpSpPr bwMode="auto">
          <a:xfrm>
            <a:off x="1981200" y="2819400"/>
            <a:ext cx="5029200" cy="2438400"/>
            <a:chOff x="1997" y="1314"/>
            <a:chExt cx="1889" cy="1009"/>
          </a:xfrm>
        </p:grpSpPr>
        <p:grpSp>
          <p:nvGrpSpPr>
            <p:cNvPr id="9223" name="Group 5"/>
            <p:cNvGrpSpPr/>
            <p:nvPr/>
          </p:nvGrpSpPr>
          <p:grpSpPr bwMode="auto">
            <a:xfrm>
              <a:off x="1997" y="1404"/>
              <a:ext cx="1889" cy="919"/>
              <a:chOff x="1973" y="1027"/>
              <a:chExt cx="1926" cy="937"/>
            </a:xfrm>
          </p:grpSpPr>
          <p:sp>
            <p:nvSpPr>
              <p:cNvPr id="55302" name="Oval 6"/>
              <p:cNvSpPr>
                <a:spLocks noChangeArrowheads="1"/>
              </p:cNvSpPr>
              <p:nvPr/>
            </p:nvSpPr>
            <p:spPr bwMode="gray">
              <a:xfrm>
                <a:off x="1994" y="105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8627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55303" name="Oval 7"/>
              <p:cNvSpPr>
                <a:spLocks noChangeArrowheads="1"/>
              </p:cNvSpPr>
              <p:nvPr/>
            </p:nvSpPr>
            <p:spPr bwMode="gray">
              <a:xfrm>
                <a:off x="1973" y="102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44314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5304" name="Oval 8"/>
            <p:cNvSpPr>
              <a:spLocks noChangeArrowheads="1"/>
            </p:cNvSpPr>
            <p:nvPr/>
          </p:nvSpPr>
          <p:spPr bwMode="gray">
            <a:xfrm>
              <a:off x="2086" y="1314"/>
              <a:ext cx="1691" cy="845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5305" name="Oval 9"/>
            <p:cNvSpPr>
              <a:spLocks noChangeArrowheads="1"/>
            </p:cNvSpPr>
            <p:nvPr/>
          </p:nvSpPr>
          <p:spPr bwMode="gray">
            <a:xfrm>
              <a:off x="2108" y="1319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tint val="34902"/>
                    <a:invGamma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5306" name="Oval 10"/>
            <p:cNvSpPr>
              <a:spLocks noChangeArrowheads="1"/>
            </p:cNvSpPr>
            <p:nvPr/>
          </p:nvSpPr>
          <p:spPr bwMode="gray">
            <a:xfrm>
              <a:off x="2125" y="1327"/>
              <a:ext cx="1570" cy="77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79216"/>
                    <a:invGamma/>
                  </a:schemeClr>
                </a:gs>
                <a:gs pos="100000">
                  <a:schemeClr val="accent1">
                    <a:alpha val="4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5307" name="Oval 11"/>
            <p:cNvSpPr>
              <a:spLocks noChangeArrowheads="1"/>
            </p:cNvSpPr>
            <p:nvPr/>
          </p:nvSpPr>
          <p:spPr bwMode="gray">
            <a:xfrm>
              <a:off x="2208" y="1344"/>
              <a:ext cx="1382" cy="6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>
                    <a:alpha val="3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9222" name="Rectangle 3"/>
          <p:cNvSpPr>
            <a:spLocks noGrp="1" noChangeArrowheads="1"/>
          </p:cNvSpPr>
          <p:nvPr>
            <p:ph idx="1"/>
          </p:nvPr>
        </p:nvSpPr>
        <p:spPr>
          <a:xfrm>
            <a:off x="3048000" y="3505200"/>
            <a:ext cx="3048000" cy="533400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3600" b="1" dirty="0" err="1">
                <a:ea typeface="宋体" panose="02010600030101010101" pitchFamily="2" charset="-122"/>
              </a:rPr>
              <a:t>导言</a:t>
            </a:r>
            <a:endParaRPr lang="en-US" altLang="zh-CN" sz="36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416CA09-BF66-4D31-BE17-68AB63EEF490}" type="slidenum">
              <a:rPr lang="en-US" altLang="zh-CN" sz="1200">
                <a:latin typeface="Verdana" panose="020B0604030504040204" pitchFamily="34" charset="0"/>
              </a:rPr>
              <a:t>5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示例1 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b="1">
                <a:ea typeface="宋体" panose="02010600030101010101" pitchFamily="2" charset="-122"/>
              </a:rPr>
              <a:t>在一群学生中间，我们可以说，如果两位学生是同一个班的话，那么这两位学生是有关系的。</a:t>
            </a:r>
          </a:p>
          <a:p>
            <a:r>
              <a:rPr lang="en-US" altLang="zh-CN" sz="2400" b="1">
                <a:ea typeface="宋体" panose="02010600030101010101" pitchFamily="2" charset="-122"/>
              </a:rPr>
              <a:t>在一组计算机程序中，我们可以说，假若两个程序共享一些数据的话，那么这两个程序是有关系的。</a:t>
            </a:r>
          </a:p>
          <a:p>
            <a:r>
              <a:rPr lang="en-US" altLang="zh-CN" sz="2400" b="1">
                <a:ea typeface="宋体" panose="02010600030101010101" pitchFamily="2" charset="-122"/>
              </a:rPr>
              <a:t>在计算机科学中我们会碰到许多关系，如数据库的数据特性关系，计算机语言的字符关系，一种计算语言与这个语言的一个有效语句之间的关系，计算机程序的输入输出关系，一个程序与它所使用的一个变量之间的关系，等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E6223F4-E5AC-4808-A91B-836C07398423}" type="slidenum">
              <a:rPr lang="en-US" altLang="zh-CN" sz="1200">
                <a:latin typeface="Verdana" panose="020B0604030504040204" pitchFamily="34" charset="0"/>
              </a:rPr>
              <a:t>6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二元关系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b="1" dirty="0">
                <a:ea typeface="宋体" panose="02010600030101010101" pitchFamily="2" charset="-122"/>
              </a:rPr>
              <a:t>设 </a:t>
            </a:r>
            <a:r>
              <a:rPr lang="en-US" altLang="zh-CN" sz="2800" b="1" i="1" dirty="0"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ea typeface="宋体" panose="02010600030101010101" pitchFamily="2" charset="-122"/>
              </a:rPr>
              <a:t>、</a:t>
            </a:r>
            <a:r>
              <a:rPr lang="en-US" altLang="zh-CN" sz="2800" b="1" i="1" dirty="0">
                <a:ea typeface="宋体" panose="02010600030101010101" pitchFamily="2" charset="-122"/>
              </a:rPr>
              <a:t>B </a:t>
            </a:r>
            <a:r>
              <a:rPr lang="en-US" altLang="zh-CN" sz="2800" b="1" dirty="0" err="1">
                <a:ea typeface="宋体" panose="02010600030101010101" pitchFamily="2" charset="-122"/>
              </a:rPr>
              <a:t>为任意集合</a:t>
            </a:r>
            <a:r>
              <a:rPr lang="zh-CN" altLang="en-US" sz="2800" b="1" dirty="0"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ea typeface="宋体" panose="02010600030101010101" pitchFamily="2" charset="-122"/>
              </a:rPr>
              <a:t>从 </a:t>
            </a:r>
            <a:r>
              <a:rPr lang="en-US" altLang="zh-CN" sz="2800" b="1" i="1" dirty="0">
                <a:ea typeface="宋体" panose="02010600030101010101" pitchFamily="2" charset="-122"/>
              </a:rPr>
              <a:t>A </a:t>
            </a:r>
            <a:r>
              <a:rPr lang="en-US" altLang="zh-CN" sz="2800" b="1" dirty="0">
                <a:ea typeface="宋体" panose="02010600030101010101" pitchFamily="2" charset="-122"/>
              </a:rPr>
              <a:t>到 </a:t>
            </a:r>
            <a:r>
              <a:rPr lang="en-US" altLang="zh-CN" sz="2800" b="1" i="1" dirty="0">
                <a:ea typeface="宋体" panose="02010600030101010101" pitchFamily="2" charset="-122"/>
              </a:rPr>
              <a:t>B </a:t>
            </a:r>
            <a:r>
              <a:rPr lang="en-US" altLang="zh-CN" sz="2800" b="1" i="1" dirty="0" err="1">
                <a:ea typeface="宋体" panose="02010600030101010101" pitchFamily="2" charset="-122"/>
              </a:rPr>
              <a:t>的二元关系</a:t>
            </a:r>
            <a:r>
              <a:rPr lang="en-US" altLang="zh-CN" sz="2800" b="1" i="1" dirty="0">
                <a:ea typeface="宋体" panose="02010600030101010101" pitchFamily="2" charset="-122"/>
              </a:rPr>
              <a:t> R</a:t>
            </a:r>
            <a:r>
              <a:rPr lang="en-US" altLang="zh-CN" sz="2800" b="1" dirty="0">
                <a:ea typeface="宋体" panose="02010600030101010101" pitchFamily="2" charset="-122"/>
              </a:rPr>
              <a:t>（</a:t>
            </a:r>
            <a:r>
              <a:rPr lang="zh-CN" altLang="en-US" sz="2800" b="1" dirty="0">
                <a:ea typeface="宋体" panose="02010600030101010101" pitchFamily="2" charset="-122"/>
              </a:rPr>
              <a:t>记</a:t>
            </a:r>
            <a:r>
              <a:rPr lang="en-US" altLang="zh-CN" sz="2800" b="1" dirty="0">
                <a:ea typeface="宋体" panose="02010600030101010101" pitchFamily="2" charset="-122"/>
              </a:rPr>
              <a:t>为 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×B</a:t>
            </a:r>
            <a:r>
              <a:rPr lang="zh-CN" altLang="en-US" sz="2800" b="1" dirty="0">
                <a:ea typeface="宋体" panose="02010600030101010101" pitchFamily="2" charset="-122"/>
              </a:rPr>
              <a:t>）</a:t>
            </a:r>
            <a:r>
              <a:rPr lang="en-US" altLang="zh-CN" sz="2800" b="1" dirty="0" err="1">
                <a:ea typeface="宋体" panose="02010600030101010101" pitchFamily="2" charset="-122"/>
              </a:rPr>
              <a:t>可以</a:t>
            </a:r>
            <a:r>
              <a:rPr lang="zh-CN" altLang="en-US" sz="2800" b="1" dirty="0">
                <a:ea typeface="宋体" panose="02010600030101010101" pitchFamily="2" charset="-122"/>
              </a:rPr>
              <a:t>由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A×B </a:t>
            </a:r>
            <a:r>
              <a:rPr lang="en-US" altLang="zh-CN" sz="2800" b="1" dirty="0" err="1">
                <a:ea typeface="宋体" panose="02010600030101010101" pitchFamily="2" charset="-122"/>
              </a:rPr>
              <a:t>的子集确定</a:t>
            </a:r>
            <a:r>
              <a:rPr lang="en-US" altLang="zh-CN" sz="2800" b="1" dirty="0">
                <a:ea typeface="宋体" panose="02010600030101010101" pitchFamily="2" charset="-122"/>
              </a:rPr>
              <a:t>。  </a:t>
            </a:r>
          </a:p>
          <a:p>
            <a:pPr lvl="1">
              <a:lnSpc>
                <a:spcPct val="90000"/>
              </a:lnSpc>
            </a:pP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例如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，&lt; 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可以看作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 {(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m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&lt;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m}</a:t>
            </a: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 dirty="0" err="1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  <a:r>
              <a:rPr lang="en-US" altLang="zh-CN" sz="2800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R </a:t>
            </a:r>
            <a:r>
              <a:rPr lang="en-US" altLang="zh-CN" sz="2800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表示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ea typeface="宋体" panose="02010600030101010101" pitchFamily="2" charset="-122"/>
                <a:sym typeface="Symbol" panose="05050102010706020507" pitchFamily="18" charset="2"/>
              </a:rPr>
              <a:t>a 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与 </a:t>
            </a:r>
            <a:r>
              <a:rPr lang="en-US" altLang="zh-CN" sz="2800" b="1" i="1" dirty="0"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相关（通过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ea typeface="宋体" panose="02010600030101010101" pitchFamily="2" charset="-122"/>
                <a:sym typeface="Symbol" panose="05050102010706020507" pitchFamily="18" charset="2"/>
              </a:rPr>
              <a:t>R）</a:t>
            </a:r>
          </a:p>
          <a:p>
            <a:pPr>
              <a:lnSpc>
                <a:spcPct val="90000"/>
              </a:lnSpc>
            </a:pPr>
            <a:r>
              <a:rPr lang="en-US" altLang="zh-CN" sz="2800" b="1" dirty="0" err="1">
                <a:solidFill>
                  <a:srgbClr val="FF0000"/>
                </a:solidFill>
                <a:ea typeface="宋体" panose="02010600030101010101" pitchFamily="2" charset="-122"/>
              </a:rPr>
              <a:t>也写作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i="1" dirty="0" err="1">
                <a:ea typeface="宋体" panose="02010600030101010101" pitchFamily="2" charset="-122"/>
              </a:rPr>
              <a:t>aRb</a:t>
            </a:r>
            <a:r>
              <a:rPr lang="en-US" altLang="zh-CN" sz="2800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；</a:t>
            </a:r>
            <a:r>
              <a:rPr lang="en-US" altLang="zh-CN" sz="2800" b="1" dirty="0" err="1">
                <a:solidFill>
                  <a:srgbClr val="FF0000"/>
                </a:solidFill>
                <a:ea typeface="宋体" panose="02010600030101010101" pitchFamily="2" charset="-122"/>
              </a:rPr>
              <a:t>也写作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ea typeface="宋体" panose="02010600030101010101" pitchFamily="2" charset="-122"/>
              </a:rPr>
              <a:t>R(</a:t>
            </a:r>
            <a:r>
              <a:rPr lang="en-US" altLang="zh-CN" sz="2800" b="1" i="1" dirty="0" err="1">
                <a:ea typeface="宋体" panose="02010600030101010101" pitchFamily="2" charset="-122"/>
              </a:rPr>
              <a:t>a,b</a:t>
            </a:r>
            <a:r>
              <a:rPr lang="en-US" altLang="zh-CN" sz="2800" b="1" i="1" dirty="0">
                <a:ea typeface="宋体" panose="02010600030101010101" pitchFamily="2" charset="-122"/>
              </a:rPr>
              <a:t>)</a:t>
            </a:r>
            <a:endParaRPr lang="en-US" altLang="zh-CN" sz="2800" b="1" i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例如，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Arial Unicode MS" charset="0"/>
                <a:ea typeface="宋体" panose="02010600030101010101" pitchFamily="2" charset="-122"/>
              </a:rPr>
              <a:t>&lt;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和 </a:t>
            </a:r>
            <a:r>
              <a:rPr lang="en-US" altLang="zh-CN" b="1" dirty="0">
                <a:latin typeface="Arial Unicode MS" charset="0"/>
                <a:ea typeface="宋体" panose="02010600030101010101" pitchFamily="2" charset="-122"/>
              </a:rPr>
              <a:t>&lt;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都表示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) </a:t>
            </a:r>
            <a:r>
              <a:rPr lang="en-US" altLang="zh-CN" b="1" dirty="0">
                <a:latin typeface="Arial Unicode MS" charset="0"/>
                <a:ea typeface="宋体" panose="02010600030101010101" pitchFamily="2" charset="-122"/>
              </a:rPr>
              <a:t>&lt;</a:t>
            </a:r>
            <a:endParaRPr lang="en-US" altLang="zh-CN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二元关系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对应一个特征函数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800" b="1" i="1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: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A×B→{T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F}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F88A3E-A79E-4DA5-85A8-A6B9C6789B0E}" type="slidenum">
              <a:rPr lang="en-US" altLang="zh-CN" sz="1200">
                <a:latin typeface="Verdana" panose="020B0604030504040204" pitchFamily="34" charset="0"/>
              </a:rPr>
              <a:t>7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ea typeface="宋体" panose="02010600030101010101" pitchFamily="2" charset="-122"/>
              </a:rPr>
              <a:t>示例</a:t>
            </a:r>
            <a:r>
              <a:rPr lang="en-US" altLang="zh-CN" sz="2800" dirty="0">
                <a:ea typeface="宋体" panose="02010600030101010101" pitchFamily="2" charset="-122"/>
              </a:rPr>
              <a:t> 2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假设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 </a:t>
            </a:r>
            <a:r>
              <a:rPr lang="en-US" altLang="zh-CN" dirty="0">
                <a:ea typeface="宋体" panose="02010600030101010101" pitchFamily="2" charset="-122"/>
              </a:rPr>
              <a:t>是学校学生的集合。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让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B </a:t>
            </a:r>
            <a:r>
              <a:rPr lang="en-US" altLang="zh-CN" dirty="0" err="1">
                <a:ea typeface="宋体" panose="02010600030101010101" pitchFamily="2" charset="-122"/>
              </a:rPr>
              <a:t>成为课程</a:t>
            </a:r>
            <a:r>
              <a:rPr lang="zh-CN" altLang="en-US" dirty="0">
                <a:ea typeface="宋体" panose="02010600030101010101" pitchFamily="2" charset="-122"/>
              </a:rPr>
              <a:t>的</a:t>
            </a:r>
            <a:r>
              <a:rPr lang="en-US" altLang="zh-CN" dirty="0">
                <a:ea typeface="宋体" panose="02010600030101010101" pitchFamily="2" charset="-122"/>
              </a:rPr>
              <a:t>集</a:t>
            </a:r>
            <a:r>
              <a:rPr lang="zh-CN" altLang="en-US" dirty="0">
                <a:ea typeface="宋体" panose="02010600030101010101" pitchFamily="2" charset="-122"/>
              </a:rPr>
              <a:t>合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让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R </a:t>
            </a:r>
            <a:r>
              <a:rPr lang="en-US" altLang="zh-CN" dirty="0" err="1">
                <a:ea typeface="宋体" panose="02010600030101010101" pitchFamily="2" charset="-122"/>
              </a:rPr>
              <a:t>成为由一对关系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(a, b)</a:t>
            </a:r>
            <a:r>
              <a:rPr lang="en-US" altLang="zh-CN" dirty="0" err="1">
                <a:ea typeface="宋体" panose="02010600030101010101" pitchFamily="2" charset="-122"/>
              </a:rPr>
              <a:t>组成的关系，其中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 </a:t>
            </a:r>
            <a:r>
              <a:rPr lang="en-US" altLang="zh-CN" dirty="0">
                <a:ea typeface="宋体" panose="02010600030101010101" pitchFamily="2" charset="-122"/>
              </a:rPr>
              <a:t>是选修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b </a:t>
            </a:r>
            <a:r>
              <a:rPr lang="en-US" altLang="zh-CN" dirty="0">
                <a:ea typeface="宋体" panose="02010600030101010101" pitchFamily="2" charset="-122"/>
              </a:rPr>
              <a:t>课程的学生。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(小白, </a:t>
            </a:r>
            <a:r>
              <a:rPr lang="zh-CN" altLang="en-US" dirty="0">
                <a:ea typeface="宋体" panose="02010600030101010101" pitchFamily="2" charset="-122"/>
              </a:rPr>
              <a:t>离散数学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(小黄, </a:t>
            </a:r>
            <a:r>
              <a:rPr lang="zh-CN" altLang="en-US" dirty="0">
                <a:ea typeface="宋体" panose="02010600030101010101" pitchFamily="2" charset="-122"/>
              </a:rPr>
              <a:t>离散数学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(小黄, </a:t>
            </a:r>
            <a:r>
              <a:rPr lang="zh-CN" altLang="en-US" dirty="0">
                <a:ea typeface="宋体" panose="02010600030101010101" pitchFamily="2" charset="-122"/>
              </a:rPr>
              <a:t>算法设计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AB033F-9EF8-4F02-8FCB-01C39E4B767D}" type="slidenum">
              <a:rPr lang="en-US" altLang="zh-CN" sz="1200">
                <a:latin typeface="Verdana" panose="020B0604030504040204" pitchFamily="34" charset="0"/>
              </a:rPr>
              <a:t>8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ea typeface="宋体" panose="02010600030101010101" pitchFamily="2" charset="-122"/>
              </a:rPr>
              <a:t>示例</a:t>
            </a:r>
            <a:r>
              <a:rPr lang="en-US" altLang="zh-CN" sz="2800" dirty="0">
                <a:ea typeface="宋体" panose="02010600030101010101" pitchFamily="2" charset="-122"/>
              </a:rPr>
              <a:t> 3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ea typeface="宋体" panose="02010600030101010101" pitchFamily="2" charset="-122"/>
              </a:rPr>
              <a:t>设 A={ 0, 1, 2 }，B={ a, b }。</a:t>
            </a:r>
          </a:p>
          <a:p>
            <a:r>
              <a:rPr lang="en-US" altLang="zh-CN" b="1" dirty="0">
                <a:ea typeface="宋体" panose="02010600030101010101" pitchFamily="2" charset="-122"/>
              </a:rPr>
              <a:t>那么 { (0,a),(0,b),(1,b),(2,a) } 是一个从 A 到 B 的关系。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0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R a  2 R b</a:t>
            </a:r>
          </a:p>
        </p:txBody>
      </p:sp>
      <p:sp>
        <p:nvSpPr>
          <p:cNvPr id="13317" name="Line 4"/>
          <p:cNvSpPr>
            <a:spLocks noChangeShapeType="1"/>
          </p:cNvSpPr>
          <p:nvPr/>
        </p:nvSpPr>
        <p:spPr bwMode="auto">
          <a:xfrm flipV="1">
            <a:off x="2133664" y="3124208"/>
            <a:ext cx="45720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C2C3FE9-6B21-4A9B-8AE4-F6B5BD6C4E7D}" type="slidenum">
              <a:rPr lang="en-US" altLang="zh-CN" sz="1200">
                <a:latin typeface="Verdana" panose="020B0604030504040204" pitchFamily="34" charset="0"/>
              </a:rPr>
              <a:t>9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逆</a:t>
            </a:r>
            <a:r>
              <a:rPr lang="en-US" altLang="zh-CN" dirty="0" err="1">
                <a:ea typeface="宋体" panose="02010600030101010101" pitchFamily="2" charset="-122"/>
              </a:rPr>
              <a:t>关系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9225"/>
            <a:ext cx="8686800" cy="4879975"/>
          </a:xfrm>
        </p:spPr>
        <p:txBody>
          <a:bodyPr/>
          <a:lstStyle/>
          <a:p>
            <a:r>
              <a:rPr lang="en-US" altLang="zh-CN" b="1" dirty="0" err="1">
                <a:ea typeface="宋体" panose="02010600030101010101" pitchFamily="2" charset="-122"/>
              </a:rPr>
              <a:t>任何二元关系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A×B </a:t>
            </a:r>
            <a:r>
              <a:rPr lang="en-US" altLang="zh-CN" b="1" dirty="0" err="1">
                <a:ea typeface="宋体" panose="02010600030101010101" pitchFamily="2" charset="-122"/>
              </a:rPr>
              <a:t>都有一个</a:t>
            </a:r>
            <a:r>
              <a:rPr lang="en-US" altLang="zh-CN" b="1" i="1" dirty="0" err="1">
                <a:ea typeface="宋体" panose="02010600030101010101" pitchFamily="2" charset="-122"/>
              </a:rPr>
              <a:t>逆关系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−1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 :B×A</a:t>
            </a:r>
            <a:r>
              <a:rPr lang="en-US" altLang="zh-CN" b="1" dirty="0">
                <a:ea typeface="宋体" panose="02010600030101010101" pitchFamily="2" charset="-122"/>
              </a:rPr>
              <a:t>, </a:t>
            </a:r>
            <a:r>
              <a:rPr lang="en-US" altLang="zh-CN" b="1" dirty="0" err="1">
                <a:ea typeface="宋体" panose="02010600030101010101" pitchFamily="2" charset="-122"/>
              </a:rPr>
              <a:t>其定义为</a:t>
            </a:r>
            <a:br>
              <a:rPr lang="en-US" altLang="zh-CN" b="1" dirty="0">
                <a:ea typeface="宋体" panose="02010600030101010101" pitchFamily="2" charset="-122"/>
              </a:rPr>
            </a:b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	R</a:t>
            </a:r>
            <a:r>
              <a:rPr lang="en-US" altLang="zh-CN" b="1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−1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 :≡ {(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) | (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R}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baseline="300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例如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，&lt;</a:t>
            </a:r>
            <a:r>
              <a:rPr lang="en-US" altLang="zh-CN" b="1" baseline="300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−1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= {(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| a&lt;b}</a:t>
            </a:r>
            <a:r>
              <a:rPr lang="en-US" altLang="zh-CN" b="1" baseline="300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−1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= {(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|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b&gt;a}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&gt;。</a:t>
            </a:r>
          </a:p>
          <a:p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例如，如果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人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x 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食物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的定义是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     </a:t>
            </a:r>
            <a:b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a R b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 吃 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，那么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：  </a:t>
            </a:r>
            <a:b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b R</a:t>
            </a:r>
            <a:r>
              <a:rPr lang="en-US" altLang="zh-CN" b="1" baseline="30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−1</a:t>
            </a:r>
            <a:r>
              <a:rPr lang="en-US" altLang="zh-CN" b="1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a 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 is eaten by a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. （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被动语态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练习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3491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419225"/>
            <a:ext cx="8382000" cy="48799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1.在 {0,1} </a:t>
            </a:r>
            <a:r>
              <a:rPr lang="en-US" altLang="zh-CN" dirty="0" err="1">
                <a:ea typeface="宋体" panose="02010600030101010101" pitchFamily="2" charset="-122"/>
              </a:rPr>
              <a:t>上的</a:t>
            </a:r>
            <a:r>
              <a:rPr lang="en-US" altLang="zh-CN" dirty="0">
                <a:ea typeface="宋体" panose="02010600030101010101" pitchFamily="2" charset="-122"/>
              </a:rPr>
              <a:t> 16 </a:t>
            </a:r>
            <a:r>
              <a:rPr lang="en-US" altLang="zh-CN" dirty="0" err="1">
                <a:ea typeface="宋体" panose="02010600030101010101" pitchFamily="2" charset="-122"/>
              </a:rPr>
              <a:t>种不同关系中，有多少种包含一对</a:t>
            </a:r>
            <a:r>
              <a:rPr lang="en-US" altLang="zh-CN" dirty="0">
                <a:ea typeface="宋体" panose="02010600030101010101" pitchFamily="2" charset="-122"/>
              </a:rPr>
              <a:t> (0,1)？  (    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A．2 B．8 C．171 </a:t>
            </a:r>
            <a:r>
              <a:rPr lang="en-US" altLang="zh-CN" dirty="0">
                <a:ea typeface="宋体" panose="02010600030101010101" pitchFamily="2" charset="-122"/>
              </a:rPr>
              <a:t>D．13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9FBF70-8AA8-40AA-855A-5946240EC397}" type="slidenum">
              <a:rPr lang="en-US" altLang="zh-CN" sz="1200">
                <a:latin typeface="Verdana" panose="020B0604030504040204" pitchFamily="34" charset="0"/>
              </a:rPr>
              <a:t>10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2BA471-CAD3-4D16-A1C7-4BACD66040FC}" type="slidenum">
              <a:rPr lang="en-US" altLang="zh-CN" sz="1200">
                <a:latin typeface="Verdana" panose="020B0604030504040204" pitchFamily="34" charset="0"/>
              </a:rPr>
              <a:t>11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fld id="{EB64E978-0BD5-4A64-AE39-BDC03496A22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15365" name="Group 4"/>
          <p:cNvGrpSpPr/>
          <p:nvPr/>
        </p:nvGrpSpPr>
        <p:grpSpPr bwMode="auto">
          <a:xfrm>
            <a:off x="1981200" y="2819400"/>
            <a:ext cx="5029200" cy="2438400"/>
            <a:chOff x="1997" y="1314"/>
            <a:chExt cx="1889" cy="1009"/>
          </a:xfrm>
        </p:grpSpPr>
        <p:grpSp>
          <p:nvGrpSpPr>
            <p:cNvPr id="15367" name="Group 5"/>
            <p:cNvGrpSpPr/>
            <p:nvPr/>
          </p:nvGrpSpPr>
          <p:grpSpPr bwMode="auto">
            <a:xfrm>
              <a:off x="1997" y="1404"/>
              <a:ext cx="1889" cy="919"/>
              <a:chOff x="1973" y="1027"/>
              <a:chExt cx="1926" cy="937"/>
            </a:xfrm>
          </p:grpSpPr>
          <p:sp>
            <p:nvSpPr>
              <p:cNvPr id="55302" name="Oval 6"/>
              <p:cNvSpPr>
                <a:spLocks noChangeArrowheads="1"/>
              </p:cNvSpPr>
              <p:nvPr/>
            </p:nvSpPr>
            <p:spPr bwMode="gray">
              <a:xfrm>
                <a:off x="1994" y="105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8627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55303" name="Oval 7"/>
              <p:cNvSpPr>
                <a:spLocks noChangeArrowheads="1"/>
              </p:cNvSpPr>
              <p:nvPr/>
            </p:nvSpPr>
            <p:spPr bwMode="gray">
              <a:xfrm>
                <a:off x="1973" y="102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44314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5304" name="Oval 8"/>
            <p:cNvSpPr>
              <a:spLocks noChangeArrowheads="1"/>
            </p:cNvSpPr>
            <p:nvPr/>
          </p:nvSpPr>
          <p:spPr bwMode="gray">
            <a:xfrm>
              <a:off x="2086" y="1314"/>
              <a:ext cx="1691" cy="845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5305" name="Oval 9"/>
            <p:cNvSpPr>
              <a:spLocks noChangeArrowheads="1"/>
            </p:cNvSpPr>
            <p:nvPr/>
          </p:nvSpPr>
          <p:spPr bwMode="gray">
            <a:xfrm>
              <a:off x="2108" y="1319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tint val="34902"/>
                    <a:invGamma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5306" name="Oval 10"/>
            <p:cNvSpPr>
              <a:spLocks noChangeArrowheads="1"/>
            </p:cNvSpPr>
            <p:nvPr/>
          </p:nvSpPr>
          <p:spPr bwMode="gray">
            <a:xfrm>
              <a:off x="2125" y="1327"/>
              <a:ext cx="1570" cy="77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79216"/>
                    <a:invGamma/>
                  </a:schemeClr>
                </a:gs>
                <a:gs pos="100000">
                  <a:schemeClr val="accent1">
                    <a:alpha val="4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5307" name="Oval 11"/>
            <p:cNvSpPr>
              <a:spLocks noChangeArrowheads="1"/>
            </p:cNvSpPr>
            <p:nvPr/>
          </p:nvSpPr>
          <p:spPr bwMode="gray">
            <a:xfrm>
              <a:off x="2208" y="1344"/>
              <a:ext cx="1382" cy="6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>
                    <a:alpha val="3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536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67000" y="3352800"/>
            <a:ext cx="3657600" cy="685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集合上的函数和关系式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4F9F369-8D9C-4B1A-B9D3-52FA801F7460}" type="slidenum">
              <a:rPr lang="en-US" altLang="zh-CN" sz="1200">
                <a:latin typeface="Verdana" panose="020B0604030504040204" pitchFamily="34" charset="0"/>
              </a:rPr>
              <a:t>12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函数</a:t>
            </a:r>
            <a:r>
              <a:rPr lang="en-US" altLang="zh-CN" dirty="0">
                <a:ea typeface="宋体" panose="02010600030101010101" pitchFamily="2" charset="-122"/>
              </a:rPr>
              <a:t>性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828800"/>
            <a:ext cx="8686800" cy="4648200"/>
          </a:xfrm>
        </p:spPr>
        <p:txBody>
          <a:bodyPr/>
          <a:lstStyle/>
          <a:p>
            <a:r>
              <a:rPr lang="en-US" altLang="zh-CN" b="1" dirty="0" err="1">
                <a:ea typeface="宋体" panose="02010600030101010101" pitchFamily="2" charset="-122"/>
              </a:rPr>
              <a:t>关系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A×B </a:t>
            </a:r>
            <a:r>
              <a:rPr lang="zh-CN" altLang="en-US" b="1" dirty="0">
                <a:ea typeface="宋体" panose="02010600030101010101" pitchFamily="2" charset="-122"/>
              </a:rPr>
              <a:t>满足函数性当且仅当</a:t>
            </a:r>
            <a:r>
              <a:rPr lang="en-US" altLang="zh-CN" b="1" dirty="0" err="1">
                <a:ea typeface="宋体" panose="02010600030101010101" pitchFamily="2" charset="-122"/>
              </a:rPr>
              <a:t>对于每一个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i="1" dirty="0" err="1">
                <a:ea typeface="宋体" panose="02010600030101010101" pitchFamily="2" charset="-122"/>
              </a:rPr>
              <a:t>a</a:t>
            </a:r>
            <a:r>
              <a:rPr lang="en-US" altLang="zh-CN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A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1" i="1" dirty="0" err="1">
                <a:ea typeface="宋体" panose="02010600030101010101" pitchFamily="2" charset="-122"/>
              </a:rPr>
              <a:t>最多有一个</a:t>
            </a:r>
            <a:r>
              <a:rPr lang="en-US" altLang="zh-CN" b="1" i="1" dirty="0"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b </a:t>
            </a:r>
            <a:r>
              <a:rPr lang="en-US" altLang="zh-CN" b="1" i="1" dirty="0" err="1">
                <a:ea typeface="宋体" panose="02010600030101010101" pitchFamily="2" charset="-122"/>
              </a:rPr>
              <a:t>B</a:t>
            </a:r>
            <a:r>
              <a:rPr lang="en-US" altLang="zh-CN" b="1" dirty="0" err="1">
                <a:ea typeface="宋体" panose="02010600030101010101" pitchFamily="2" charset="-122"/>
              </a:rPr>
              <a:t>，使得</a:t>
            </a:r>
            <a:r>
              <a:rPr lang="en-US" altLang="zh-CN" b="1" dirty="0">
                <a:ea typeface="宋体" panose="02010600030101010101" pitchFamily="2" charset="-122"/>
              </a:rPr>
              <a:t> (</a:t>
            </a:r>
            <a:r>
              <a:rPr lang="en-US" altLang="zh-CN" b="1" i="1" dirty="0" err="1">
                <a:ea typeface="宋体" panose="02010600030101010101" pitchFamily="2" charset="-122"/>
              </a:rPr>
              <a:t>a</a:t>
            </a:r>
            <a:r>
              <a:rPr lang="en-US" altLang="zh-CN" b="1" dirty="0" err="1"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ea typeface="宋体" panose="02010600030101010101" pitchFamily="2" charset="-122"/>
              </a:rPr>
              <a:t>b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R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. </a:t>
            </a:r>
            <a:b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</a:br>
            <a:endParaRPr lang="en-US" altLang="zh-CN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请尝试</a:t>
            </a:r>
            <a:r>
              <a:rPr lang="en-GB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用谓词逻辑来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表达上述内容</a:t>
            </a:r>
            <a:endParaRPr lang="en-US" altLang="zh-CN" sz="1200" b="1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CFFBEC7-E64B-4193-8759-5BCB8EA2380A}" type="slidenum">
              <a:rPr lang="en-US" altLang="zh-CN" sz="1200">
                <a:latin typeface="Verdana" panose="020B0604030504040204" pitchFamily="34" charset="0"/>
              </a:rPr>
              <a:t>13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203779" name="Rectangle 3"/>
          <p:cNvSpPr>
            <a:spLocks noGrp="1" noChangeArrowheads="1"/>
          </p:cNvSpPr>
          <p:nvPr>
            <p:ph idx="1"/>
          </p:nvPr>
        </p:nvSpPr>
        <p:spPr>
          <a:xfrm>
            <a:off x="0" y="1295400"/>
            <a:ext cx="9144000" cy="5029200"/>
          </a:xfrm>
        </p:spPr>
        <p:txBody>
          <a:bodyPr/>
          <a:lstStyle/>
          <a:p>
            <a:r>
              <a:rPr lang="en-US" altLang="zh-CN" sz="2800" b="1" dirty="0" err="1"/>
              <a:t>关系</a:t>
            </a:r>
            <a:r>
              <a:rPr lang="en-US" altLang="zh-CN" sz="2800" b="1" dirty="0"/>
              <a:t> </a:t>
            </a:r>
            <a:r>
              <a:rPr lang="en-US" altLang="zh-CN" sz="2800" b="1" i="1" dirty="0">
                <a:solidFill>
                  <a:srgbClr val="FF0000"/>
                </a:solidFill>
              </a:rPr>
              <a:t>R</a:t>
            </a:r>
            <a:r>
              <a:rPr lang="en-US" altLang="zh-CN" sz="2800" b="1" dirty="0">
                <a:solidFill>
                  <a:srgbClr val="FF0000"/>
                </a:solidFill>
              </a:rPr>
              <a:t>：</a:t>
            </a:r>
            <a:r>
              <a:rPr lang="en-US" altLang="zh-CN" sz="2800" b="1" i="1" dirty="0">
                <a:solidFill>
                  <a:srgbClr val="FF0000"/>
                </a:solidFill>
              </a:rPr>
              <a:t>A×B </a:t>
            </a:r>
            <a:r>
              <a:rPr lang="zh-CN" altLang="en-US" sz="2800" b="1" dirty="0"/>
              <a:t>满足函数性当且仅当</a:t>
            </a:r>
            <a:r>
              <a:rPr lang="en-US" altLang="zh-CN" sz="2800" b="1" dirty="0" err="1"/>
              <a:t>对于每一个</a:t>
            </a:r>
            <a:r>
              <a:rPr lang="en-US" altLang="zh-CN" sz="2800" b="1" dirty="0"/>
              <a:t> </a:t>
            </a:r>
            <a:r>
              <a:rPr lang="en-US" altLang="zh-CN" sz="2800" b="1" i="1" dirty="0" err="1"/>
              <a:t>a</a:t>
            </a:r>
            <a:r>
              <a:rPr lang="en-US" altLang="zh-CN" sz="2800" b="1" i="1" dirty="0" err="1">
                <a:sym typeface="Symbol" panose="05050102010706020507" pitchFamily="18" charset="2"/>
              </a:rPr>
              <a:t>A</a:t>
            </a:r>
            <a:r>
              <a:rPr lang="en-US" altLang="zh-CN" sz="2800" b="1" dirty="0" err="1">
                <a:sym typeface="Symbol" panose="05050102010706020507" pitchFamily="18" charset="2"/>
              </a:rPr>
              <a:t>，</a:t>
            </a:r>
            <a:r>
              <a:rPr lang="en-US" altLang="zh-CN" sz="2800" b="1" i="1" dirty="0" err="1"/>
              <a:t>最多有一个</a:t>
            </a:r>
            <a:r>
              <a:rPr lang="en-US" altLang="zh-CN" sz="2800" b="1" i="1" dirty="0"/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b </a:t>
            </a:r>
            <a:r>
              <a:rPr lang="en-US" altLang="zh-CN" sz="2800" b="1" i="1" dirty="0" err="1"/>
              <a:t>B</a:t>
            </a:r>
            <a:r>
              <a:rPr lang="en-US" altLang="zh-CN" sz="2800" b="1" dirty="0" err="1"/>
              <a:t>，使得</a:t>
            </a:r>
            <a:r>
              <a:rPr lang="en-US" altLang="zh-CN" sz="2800" b="1" dirty="0"/>
              <a:t> (</a:t>
            </a:r>
            <a:r>
              <a:rPr lang="en-US" altLang="zh-CN" sz="2800" b="1" i="1" dirty="0" err="1"/>
              <a:t>a</a:t>
            </a:r>
            <a:r>
              <a:rPr lang="en-US" altLang="zh-CN" sz="2800" b="1" dirty="0" err="1"/>
              <a:t>,</a:t>
            </a:r>
            <a:r>
              <a:rPr lang="en-US" altLang="zh-CN" sz="2800" b="1" i="1" dirty="0" err="1"/>
              <a:t>b</a:t>
            </a:r>
            <a:r>
              <a:rPr lang="en-US" altLang="zh-CN" sz="2800" b="1" dirty="0">
                <a:sym typeface="Symbol" panose="05050102010706020507" pitchFamily="18" charset="2"/>
              </a:rPr>
              <a:t>)</a:t>
            </a:r>
            <a:r>
              <a:rPr lang="en-US" altLang="zh-CN" sz="2800" b="1" i="1" dirty="0">
                <a:sym typeface="Symbol" panose="05050102010706020507" pitchFamily="18" charset="2"/>
              </a:rPr>
              <a:t>R</a:t>
            </a:r>
            <a:r>
              <a:rPr lang="en-US" altLang="zh-CN" sz="2800" b="1" dirty="0">
                <a:sym typeface="Symbol" panose="05050102010706020507" pitchFamily="18" charset="2"/>
              </a:rPr>
              <a:t>. 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b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aA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¬ 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b</a:t>
            </a:r>
            <a:r>
              <a:rPr lang="en-US" altLang="zh-CN" sz="2800" b="1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B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="1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≠b</a:t>
            </a:r>
            <a:r>
              <a:rPr lang="en-US" altLang="zh-CN" sz="2800" b="1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aRb</a:t>
            </a:r>
            <a:r>
              <a:rPr lang="en-US" altLang="zh-CN" sz="2800" b="1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aRb</a:t>
            </a:r>
            <a:r>
              <a:rPr lang="en-US" altLang="zh-CN" sz="2800" b="1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 ). </a:t>
            </a:r>
          </a:p>
          <a:p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如果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sz="2800" b="1" dirty="0"/>
              <a:t>满足函数性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那么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 R 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可以看作是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一个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函数或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是一个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函数</a:t>
            </a:r>
            <a:r>
              <a:rPr lang="en-US" altLang="zh-CN" sz="2800" b="1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ea typeface="宋体" panose="02010600030101010101" pitchFamily="2" charset="-122"/>
              </a:rPr>
              <a:t>R</a:t>
            </a:r>
            <a:r>
              <a:rPr lang="en-US" altLang="zh-CN" sz="2800" b="1" dirty="0">
                <a:ea typeface="宋体" panose="02010600030101010101" pitchFamily="2" charset="-122"/>
              </a:rPr>
              <a:t>：</a:t>
            </a:r>
            <a:r>
              <a:rPr lang="en-US" altLang="zh-CN" sz="2800" b="1" i="1" dirty="0">
                <a:ea typeface="宋体" panose="02010600030101010101" pitchFamily="2" charset="-122"/>
              </a:rPr>
              <a:t>A→B </a:t>
            </a:r>
            <a:r>
              <a:rPr lang="zh-CN" altLang="en-US" sz="2800" b="1" dirty="0">
                <a:ea typeface="宋体" panose="02010600030101010101" pitchFamily="2" charset="-122"/>
              </a:rPr>
              <a:t>的部分</a:t>
            </a:r>
            <a:r>
              <a:rPr lang="en-US" altLang="zh-CN" sz="2800" b="1" i="1" dirty="0">
                <a:ea typeface="宋体" panose="02010600030101010101" pitchFamily="2" charset="-122"/>
              </a:rPr>
              <a:t>   </a:t>
            </a:r>
            <a:br>
              <a:rPr lang="en-US" altLang="zh-CN" sz="2800" b="1" i="1" dirty="0">
                <a:ea typeface="宋体" panose="02010600030101010101" pitchFamily="2" charset="-122"/>
              </a:rPr>
            </a:br>
            <a:r>
              <a:rPr lang="zh-CN" altLang="en-US" sz="2800" b="1" i="1" dirty="0">
                <a:solidFill>
                  <a:srgbClr val="006600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800" b="1" i="1" dirty="0" err="1">
                <a:solidFill>
                  <a:srgbClr val="006600"/>
                </a:solidFill>
                <a:ea typeface="宋体" panose="02010600030101010101" pitchFamily="2" charset="-122"/>
              </a:rPr>
              <a:t>因此可以写成</a:t>
            </a:r>
            <a:r>
              <a:rPr lang="en-US" altLang="zh-CN" sz="2800" b="1" i="1" dirty="0">
                <a:solidFill>
                  <a:srgbClr val="0066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)=b </a:t>
            </a:r>
            <a:r>
              <a:rPr lang="en-US" altLang="zh-CN" sz="2800" b="1" i="1" dirty="0" err="1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以及</a:t>
            </a:r>
            <a:r>
              <a:rPr lang="en-US" altLang="zh-CN" sz="2800" b="1" i="1" dirty="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 err="1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aRb、R</a:t>
            </a:r>
            <a:r>
              <a:rPr lang="en-US" altLang="zh-CN" sz="2800" b="1" i="1" dirty="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 err="1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2800" b="1" i="1" dirty="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)和</a:t>
            </a:r>
            <a:r>
              <a:rPr lang="en-US" altLang="zh-CN" sz="2800" b="1" i="1" dirty="0">
                <a:solidFill>
                  <a:srgbClr val="0066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006600"/>
                </a:solidFill>
                <a:sym typeface="Symbol" panose="05050102010706020507" pitchFamily="18" charset="2"/>
              </a:rPr>
              <a:t>(</a:t>
            </a:r>
            <a:r>
              <a:rPr lang="en-US" altLang="zh-CN" sz="2800" b="1" dirty="0" err="1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2800" b="1" dirty="0">
                <a:solidFill>
                  <a:srgbClr val="006600"/>
                </a:solidFill>
                <a:sym typeface="Symbol" panose="05050102010706020507" pitchFamily="18" charset="2"/>
              </a:rPr>
              <a:t>)</a:t>
            </a:r>
            <a:r>
              <a:rPr lang="en-US" altLang="zh-CN" sz="2800" b="1" i="1" dirty="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sz="2800" b="1" i="1" dirty="0" err="1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R。它们的意思都一样</a:t>
            </a:r>
            <a:r>
              <a:rPr lang="en-US" altLang="zh-CN" sz="2800" b="1" i="1" dirty="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）。</a:t>
            </a:r>
          </a:p>
          <a:p>
            <a:r>
              <a:rPr lang="en-GB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注：函数关系</a:t>
            </a:r>
            <a:r>
              <a:rPr lang="en-GB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A×B </a:t>
            </a:r>
            <a:r>
              <a:rPr lang="en-GB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不一定是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全的</a:t>
            </a:r>
            <a:r>
              <a:rPr lang="en-GB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GB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即可能存在</a:t>
            </a:r>
            <a:r>
              <a:rPr lang="en-GB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aA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 ，</a:t>
            </a:r>
            <a:r>
              <a:rPr lang="en-US" altLang="zh-CN" sz="28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使得</a:t>
            </a:r>
            <a:r>
              <a:rPr lang="en-US" altLang="zh-CN" sz="2800" b="1" i="1" dirty="0">
                <a:ea typeface="宋体" panose="02010600030101010101" pitchFamily="2" charset="-122"/>
                <a:sym typeface="Symbol" panose="05050102010706020507" pitchFamily="18" charset="2"/>
              </a:rPr>
              <a:t> ¬</a:t>
            </a:r>
            <a:r>
              <a:rPr lang="en-US" altLang="zh-CN" sz="28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bB</a:t>
            </a:r>
            <a:r>
              <a:rPr lang="en-US" altLang="zh-CN" sz="2800" b="1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aRb</a:t>
            </a:r>
            <a:r>
              <a:rPr lang="en-US" altLang="zh-CN" sz="2800" b="1" i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）。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36F0D7-47F5-4005-8E48-6DF90200BAA4}" type="slidenum">
              <a:rPr lang="en-US" altLang="zh-CN" sz="1200">
                <a:latin typeface="Verdana" panose="020B0604030504040204" pitchFamily="34" charset="0"/>
              </a:rPr>
              <a:t>14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函数</a:t>
            </a:r>
            <a:r>
              <a:rPr lang="en-US" altLang="zh-CN" dirty="0">
                <a:ea typeface="宋体" panose="02010600030101010101" pitchFamily="2" charset="-122"/>
              </a:rPr>
              <a:t>性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76400"/>
            <a:ext cx="8763000" cy="4572000"/>
          </a:xfrm>
        </p:spPr>
        <p:txBody>
          <a:bodyPr/>
          <a:lstStyle/>
          <a:p>
            <a:r>
              <a:rPr lang="en-GB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GB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定理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关系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是（全）函数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A→B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当且仅当关系</a:t>
            </a:r>
            <a:r>
              <a:rPr lang="en-US" altLang="zh-CN" b="1" i="1" dirty="0">
                <a:sym typeface="Symbol" panose="05050102010706020507" pitchFamily="18" charset="2"/>
              </a:rPr>
              <a:t>R </a:t>
            </a:r>
            <a:r>
              <a:rPr lang="zh-CN" altLang="en-US" b="1" dirty="0">
                <a:sym typeface="Symbol" panose="05050102010706020507" pitchFamily="18" charset="2"/>
              </a:rPr>
              <a:t>满足函数性且是全的。</a:t>
            </a:r>
            <a:b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(即，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当且仅当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aA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b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aRb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定义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：关系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满足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反函数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性</a:t>
            </a:r>
            <a:r>
              <a:rPr lang="zh-CN" altLang="en-US" b="1" dirty="0">
                <a:sym typeface="Symbol" panose="05050102010706020507" pitchFamily="18" charset="2"/>
              </a:rPr>
              <a:t>当且仅当其逆</a:t>
            </a:r>
            <a:r>
              <a:rPr lang="en-US" altLang="zh-CN" b="1" dirty="0" err="1">
                <a:sym typeface="Symbol" panose="05050102010706020507" pitchFamily="18" charset="2"/>
              </a:rPr>
              <a:t>关系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ym typeface="Symbol" panose="05050102010706020507" pitchFamily="18" charset="2"/>
              </a:rPr>
              <a:t>R</a:t>
            </a:r>
            <a:r>
              <a:rPr lang="en-US" altLang="zh-CN" b="1" baseline="30000" dirty="0">
                <a:sym typeface="Symbol" panose="05050102010706020507" pitchFamily="18" charset="2"/>
              </a:rPr>
              <a:t>−1 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zh-CN" altLang="en-US" b="1" dirty="0">
                <a:sym typeface="Symbol" panose="05050102010706020507" pitchFamily="18" charset="2"/>
              </a:rPr>
              <a:t>满足函数性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。  </a:t>
            </a:r>
          </a:p>
          <a:p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 (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练习：证明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当且仅当关系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既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满足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函数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性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又是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满足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反函数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性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且它和它的逆是全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那么</a:t>
            </a:r>
            <a:r>
              <a:rPr lang="zh-CN" altLang="en-US" b="1" dirty="0">
                <a:sym typeface="Symbol" panose="05050102010706020507" pitchFamily="18" charset="2"/>
              </a:rPr>
              <a:t>关系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ym typeface="Symbol" panose="05050102010706020507" pitchFamily="18" charset="2"/>
              </a:rPr>
              <a:t>R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是双射函数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2CB0FF-C916-49EE-B543-26F5FA27A898}" type="slidenum">
              <a:rPr lang="en-US" altLang="zh-CN" sz="1200">
                <a:latin typeface="Verdana" panose="020B0604030504040204" pitchFamily="34" charset="0"/>
              </a:rPr>
              <a:t>15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集合上的关系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9225"/>
            <a:ext cx="8458200" cy="4879975"/>
          </a:xfrm>
        </p:spPr>
        <p:txBody>
          <a:bodyPr/>
          <a:lstStyle/>
          <a:p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从集合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A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到自身的（二元）关系称为集合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A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的关系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</a:p>
          <a:p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例如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，前面的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"&lt;"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关系被定义为自然数集合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N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上的关系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</a:p>
          <a:p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接下来的幻灯片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将展示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集合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A 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上的关系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  <a:endParaRPr lang="en-US" altLang="zh-CN" b="1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F590D89-D8A0-48C8-9665-CB8D8D29BA11}" type="slidenum">
              <a:rPr lang="en-US" altLang="zh-CN" sz="1200">
                <a:latin typeface="Verdana" panose="020B0604030504040204" pitchFamily="34" charset="0"/>
              </a:rPr>
              <a:t>16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集合上的关系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>
                <a:ea typeface="宋体" panose="02010600030101010101" pitchFamily="2" charset="-122"/>
              </a:rPr>
              <a:t>集合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A </a:t>
            </a:r>
            <a:r>
              <a:rPr lang="en-US" altLang="zh-CN" b="1">
                <a:ea typeface="宋体" panose="02010600030101010101" pitchFamily="2" charset="-122"/>
              </a:rPr>
              <a:t>上的关系是从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A </a:t>
            </a:r>
            <a:r>
              <a:rPr lang="en-US" altLang="zh-CN" b="1">
                <a:ea typeface="宋体" panose="02010600030101010101" pitchFamily="2" charset="-122"/>
              </a:rPr>
              <a:t>到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>
                <a:ea typeface="宋体" panose="02010600030101010101" pitchFamily="2" charset="-122"/>
              </a:rPr>
              <a:t> 的关系。</a:t>
            </a:r>
          </a:p>
          <a:p>
            <a:r>
              <a:rPr lang="en-US" altLang="zh-CN" b="1">
                <a:ea typeface="宋体" panose="02010600030101010101" pitchFamily="2" charset="-122"/>
              </a:rPr>
              <a:t>设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A </a:t>
            </a:r>
            <a:r>
              <a:rPr lang="en-US" altLang="zh-CN" b="1">
                <a:ea typeface="宋体" panose="02010600030101010101" pitchFamily="2" charset="-122"/>
              </a:rPr>
              <a:t>为集合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{ 1, 2, 3, 4 }。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R = { (a, b) | a </a:t>
            </a:r>
            <a:r>
              <a:rPr lang="en-US" altLang="zh-CN" b="1">
                <a:ea typeface="宋体" panose="02010600030101010101" pitchFamily="2" charset="-122"/>
              </a:rPr>
              <a:t>除以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b }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R = { (1, 1), (1, 2), (1, 3), (1, 4), (2, 2),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            (2, 4), (3, 3), (4, 4) 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F9BA4A-DB47-4B80-85DD-0BFB94106868}" type="slidenum">
              <a:rPr lang="en-US" altLang="zh-CN" sz="1200">
                <a:latin typeface="Verdana" panose="020B0604030504040204" pitchFamily="34" charset="0"/>
              </a:rPr>
              <a:t>17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 err="1">
                <a:ea typeface="宋体" panose="02010600030101010101" pitchFamily="2" charset="-122"/>
              </a:rPr>
              <a:t>示例</a:t>
            </a:r>
            <a:r>
              <a:rPr lang="en-US" altLang="zh-CN" sz="2800" dirty="0">
                <a:ea typeface="宋体" panose="02010600030101010101" pitchFamily="2" charset="-122"/>
              </a:rPr>
              <a:t> 4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R1 = { (a, b) | a ≤ b }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R2 = { (a, b) | a &gt; b }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R3 = { (a, b) | a = b 或 a = -b }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R4 = { (a, b) | a = b }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R5 = { (a, b) | a = b + 1 }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R6 = { (a, b) | a + b ≤ 3}</a:t>
            </a:r>
          </a:p>
          <a:p>
            <a:r>
              <a:rPr lang="en-US" altLang="zh-CN" b="1">
                <a:ea typeface="宋体" panose="02010600030101010101" pitchFamily="2" charset="-122"/>
              </a:rPr>
              <a:t>(1,1) 位于 R1、R3、R4 和 R6 中</a:t>
            </a:r>
          </a:p>
          <a:p>
            <a:r>
              <a:rPr lang="en-US" altLang="zh-CN" b="1">
                <a:ea typeface="宋体" panose="02010600030101010101" pitchFamily="2" charset="-122"/>
              </a:rPr>
              <a:t>(2,1) 位于 R2、R5 和 R6 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6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6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练习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1683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419225"/>
            <a:ext cx="8382000" cy="48799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2.列出关系 R 中从 A = {1, 2, 3, 4} 到 B = {1, 2, 3}的有序对，其中 (a, b) ∈ R，当且仅当 a | b.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7E68023-40D3-4C15-AAC0-951F3CC353BB}" type="slidenum">
              <a:rPr lang="en-US" altLang="zh-CN" sz="1200">
                <a:latin typeface="Verdana" panose="020B0604030504040204" pitchFamily="34" charset="0"/>
              </a:rPr>
              <a:t>18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6DE534-F2A9-4C40-B326-E6521A5FB2E2}" type="slidenum">
              <a:rPr lang="en-US" altLang="zh-CN" sz="1200">
                <a:latin typeface="Verdana" panose="020B0604030504040204" pitchFamily="34" charset="0"/>
              </a:rPr>
              <a:t>19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fld id="{BC343F7C-3F33-4097-87A4-5D2A367BEF0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22533" name="Group 4"/>
          <p:cNvGrpSpPr/>
          <p:nvPr/>
        </p:nvGrpSpPr>
        <p:grpSpPr bwMode="auto">
          <a:xfrm>
            <a:off x="1981200" y="2819400"/>
            <a:ext cx="5029200" cy="2438400"/>
            <a:chOff x="1997" y="1314"/>
            <a:chExt cx="1889" cy="1009"/>
          </a:xfrm>
        </p:grpSpPr>
        <p:grpSp>
          <p:nvGrpSpPr>
            <p:cNvPr id="22535" name="Group 5"/>
            <p:cNvGrpSpPr/>
            <p:nvPr/>
          </p:nvGrpSpPr>
          <p:grpSpPr bwMode="auto">
            <a:xfrm>
              <a:off x="1997" y="1404"/>
              <a:ext cx="1889" cy="919"/>
              <a:chOff x="1973" y="1027"/>
              <a:chExt cx="1926" cy="937"/>
            </a:xfrm>
          </p:grpSpPr>
          <p:sp>
            <p:nvSpPr>
              <p:cNvPr id="55302" name="Oval 6"/>
              <p:cNvSpPr>
                <a:spLocks noChangeArrowheads="1"/>
              </p:cNvSpPr>
              <p:nvPr/>
            </p:nvSpPr>
            <p:spPr bwMode="gray">
              <a:xfrm>
                <a:off x="1994" y="105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8627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55303" name="Oval 7"/>
              <p:cNvSpPr>
                <a:spLocks noChangeArrowheads="1"/>
              </p:cNvSpPr>
              <p:nvPr/>
            </p:nvSpPr>
            <p:spPr bwMode="gray">
              <a:xfrm>
                <a:off x="1973" y="102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44314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5304" name="Oval 8"/>
            <p:cNvSpPr>
              <a:spLocks noChangeArrowheads="1"/>
            </p:cNvSpPr>
            <p:nvPr/>
          </p:nvSpPr>
          <p:spPr bwMode="gray">
            <a:xfrm>
              <a:off x="2086" y="1314"/>
              <a:ext cx="1691" cy="845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5305" name="Oval 9"/>
            <p:cNvSpPr>
              <a:spLocks noChangeArrowheads="1"/>
            </p:cNvSpPr>
            <p:nvPr/>
          </p:nvSpPr>
          <p:spPr bwMode="gray">
            <a:xfrm>
              <a:off x="2108" y="1319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tint val="34902"/>
                    <a:invGamma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5306" name="Oval 10"/>
            <p:cNvSpPr>
              <a:spLocks noChangeArrowheads="1"/>
            </p:cNvSpPr>
            <p:nvPr/>
          </p:nvSpPr>
          <p:spPr bwMode="gray">
            <a:xfrm>
              <a:off x="2125" y="1327"/>
              <a:ext cx="1570" cy="77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79216"/>
                    <a:invGamma/>
                  </a:schemeClr>
                </a:gs>
                <a:gs pos="100000">
                  <a:schemeClr val="accent1">
                    <a:alpha val="4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5307" name="Oval 11"/>
            <p:cNvSpPr>
              <a:spLocks noChangeArrowheads="1"/>
            </p:cNvSpPr>
            <p:nvPr/>
          </p:nvSpPr>
          <p:spPr bwMode="gray">
            <a:xfrm>
              <a:off x="2208" y="1344"/>
              <a:ext cx="1382" cy="6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>
                    <a:alpha val="3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2253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72745" y="3462740"/>
            <a:ext cx="2667000" cy="9144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 err="1">
                <a:ea typeface="宋体" panose="02010600030101010101" pitchFamily="2" charset="-122"/>
              </a:rPr>
              <a:t>关系属性</a:t>
            </a:r>
            <a:endParaRPr lang="en-US" altLang="zh-CN" sz="28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D7E632-6EF4-4119-83E9-C89E2596D7E9}" type="slidenum">
              <a:rPr lang="en-US" altLang="zh-CN" sz="1200">
                <a:latin typeface="Verdana" panose="020B0604030504040204" pitchFamily="34" charset="0"/>
              </a:rPr>
              <a:t>20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自反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19225"/>
            <a:ext cx="8458200" cy="4879975"/>
          </a:xfrm>
        </p:spPr>
        <p:txBody>
          <a:bodyPr/>
          <a:lstStyle/>
          <a:p>
            <a:r>
              <a:rPr lang="en-US" altLang="zh-CN" b="1" dirty="0" err="1">
                <a:ea typeface="宋体" panose="02010600030101010101" pitchFamily="2" charset="-122"/>
              </a:rPr>
              <a:t>如果</a:t>
            </a:r>
            <a:r>
              <a:rPr lang="en-US" altLang="zh-CN" b="1" dirty="0" err="1">
                <a:sym typeface="Symbol" panose="05050102010706020507" pitchFamily="18" charset="2"/>
              </a:rPr>
              <a:t>对于每个元素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sym typeface="Symbol" panose="05050102010706020507" pitchFamily="18" charset="2"/>
              </a:rPr>
              <a:t>a A </a:t>
            </a:r>
            <a:r>
              <a:rPr lang="en-US" altLang="zh-CN" b="1" dirty="0" err="1">
                <a:sym typeface="Symbol" panose="05050102010706020507" pitchFamily="18" charset="2"/>
              </a:rPr>
              <a:t>而言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a,a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R</a:t>
            </a:r>
            <a:r>
              <a:rPr lang="en-US" altLang="zh-CN" b="1" dirty="0">
                <a:ea typeface="宋体" panose="02010600030101010101" pitchFamily="2" charset="-122"/>
              </a:rPr>
              <a:t>，</a:t>
            </a:r>
            <a:r>
              <a:rPr lang="zh-CN" altLang="en-US" b="1" dirty="0">
                <a:ea typeface="宋体" panose="02010600030101010101" pitchFamily="2" charset="-122"/>
              </a:rPr>
              <a:t>则</a:t>
            </a:r>
            <a:r>
              <a:rPr lang="en-US" altLang="zh-CN" b="1" dirty="0" err="1">
                <a:ea typeface="宋体" panose="02010600030101010101" pitchFamily="2" charset="-122"/>
              </a:rPr>
              <a:t>集合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A </a:t>
            </a:r>
            <a:r>
              <a:rPr lang="en-US" altLang="zh-CN" b="1" dirty="0">
                <a:ea typeface="宋体" panose="02010600030101010101" pitchFamily="2" charset="-122"/>
              </a:rPr>
              <a:t>上的关系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 </a:t>
            </a:r>
            <a:r>
              <a:rPr lang="en-US" altLang="zh-CN" b="1" dirty="0" err="1">
                <a:ea typeface="宋体" panose="02010600030101010101" pitchFamily="2" charset="-122"/>
              </a:rPr>
              <a:t>称为</a:t>
            </a:r>
            <a:r>
              <a:rPr lang="zh-CN" altLang="en-US" b="1" dirty="0">
                <a:ea typeface="宋体" panose="02010600030101010101" pitchFamily="2" charset="-122"/>
              </a:rPr>
              <a:t>自反</a:t>
            </a:r>
            <a:r>
              <a:rPr lang="en-US" altLang="zh-CN" b="1" dirty="0" err="1">
                <a:ea typeface="宋体" panose="02010600030101010101" pitchFamily="2" charset="-122"/>
              </a:rPr>
              <a:t>关系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A = { 1, 2, 3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R1 = {(1,1),(1,2),(2,1),(2,2),(3,1)}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R2 = {(1,1),(1,2),(2,1)}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R3 = {(1,1),(1,2),(2,1),(2,2),(3,3)}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R3 是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自反关系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但其他的不是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1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1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1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1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1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1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8F9A73-41B4-4369-B699-0E496697C188}" type="slidenum">
              <a:rPr lang="en-US" altLang="zh-CN" sz="1200">
                <a:latin typeface="Verdana" panose="020B0604030504040204" pitchFamily="34" charset="0"/>
              </a:rPr>
              <a:t>21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自反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R1 = { (a, b) | a ≤ 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R2 = { (a, b) | a &gt; 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R3 = { (a, b) | a = b 或 a = -b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R4 = { (a, b) | a = 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R5 = { (a, b) | a = b + 1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R6 = { (a, b) | a + b ≤ 3}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R1、R3 和 R4 是</a:t>
            </a:r>
            <a:r>
              <a:rPr lang="zh-CN" altLang="en-US" dirty="0">
                <a:ea typeface="宋体" panose="02010600030101010101" pitchFamily="2" charset="-122"/>
              </a:rPr>
              <a:t>自反</a:t>
            </a:r>
            <a:r>
              <a:rPr lang="en-US" altLang="zh-CN" dirty="0">
                <a:ea typeface="宋体" panose="02010600030101010101" pitchFamily="2" charset="-122"/>
              </a:rPr>
              <a:t>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8ED290F-5FE9-4C14-82F3-6DE81144C465}" type="slidenum">
              <a:rPr lang="en-US" altLang="zh-CN" sz="1200">
                <a:latin typeface="Verdana" panose="020B0604030504040204" pitchFamily="34" charset="0"/>
              </a:rPr>
              <a:t>22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自反</a:t>
            </a:r>
            <a:r>
              <a:rPr lang="en-US" altLang="zh-CN" sz="2800" dirty="0">
                <a:ea typeface="宋体" panose="02010600030101010101" pitchFamily="2" charset="-122"/>
              </a:rPr>
              <a:t>性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419225"/>
            <a:ext cx="8915400" cy="54387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 dirty="0" err="1">
                <a:ea typeface="宋体" panose="02010600030101010101" pitchFamily="2" charset="-122"/>
              </a:rPr>
              <a:t>如果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aA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aRa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ea typeface="宋体" panose="02010600030101010101" pitchFamily="2" charset="-122"/>
              </a:rPr>
              <a:t>，则 A </a:t>
            </a:r>
            <a:r>
              <a:rPr lang="en-US" altLang="zh-CN" b="1" dirty="0" err="1">
                <a:ea typeface="宋体" panose="02010600030101010101" pitchFamily="2" charset="-122"/>
              </a:rPr>
              <a:t>上的关系</a:t>
            </a:r>
            <a:r>
              <a:rPr lang="en-US" altLang="zh-CN" b="1" dirty="0">
                <a:ea typeface="宋体" panose="02010600030101010101" pitchFamily="2" charset="-122"/>
              </a:rPr>
              <a:t> R 是</a:t>
            </a:r>
            <a:r>
              <a:rPr lang="zh-CN" altLang="en-US" b="1" dirty="0">
                <a:ea typeface="宋体" panose="02010600030101010101" pitchFamily="2" charset="-122"/>
              </a:rPr>
              <a:t>自反</a:t>
            </a:r>
            <a:r>
              <a:rPr lang="en-US" altLang="zh-CN" b="1" dirty="0">
                <a:ea typeface="宋体" panose="02010600030101010101" pitchFamily="2" charset="-122"/>
              </a:rPr>
              <a:t>的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3200" b="1" dirty="0" err="1">
                <a:ea typeface="宋体" panose="02010600030101010101" pitchFamily="2" charset="-122"/>
                <a:sym typeface="Symbol" panose="05050102010706020507" pitchFamily="18" charset="2"/>
              </a:rPr>
              <a:t>例如，关系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 ≥ </a:t>
            </a: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:≡ {(</a:t>
            </a:r>
            <a:r>
              <a:rPr lang="en-US" altLang="zh-CN" sz="3200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| </a:t>
            </a:r>
            <a:r>
              <a:rPr lang="en-US" altLang="zh-CN" sz="3200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a≥b</a:t>
            </a: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} 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sz="3200" b="1" dirty="0">
                <a:ea typeface="宋体" panose="02010600030101010101" pitchFamily="2" charset="-122"/>
              </a:rPr>
              <a:t>自反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的。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3200" b="1" dirty="0" err="1">
                <a:ea typeface="宋体" panose="02010600030101010101" pitchFamily="2" charset="-122"/>
                <a:sym typeface="Symbol" panose="05050102010706020507" pitchFamily="18" charset="2"/>
              </a:rPr>
              <a:t>由于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200" b="1" dirty="0" err="1">
                <a:ea typeface="宋体" panose="02010600030101010101" pitchFamily="2" charset="-122"/>
                <a:sym typeface="Symbol" panose="05050102010706020507" pitchFamily="18" charset="2"/>
              </a:rPr>
              <a:t>a|a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200" b="1" dirty="0" err="1">
                <a:ea typeface="宋体" panose="02010600030101010101" pitchFamily="2" charset="-122"/>
                <a:sym typeface="Symbol" panose="05050102010706020507" pitchFamily="18" charset="2"/>
              </a:rPr>
              <a:t>成立，所以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“</a:t>
            </a:r>
            <a:r>
              <a:rPr lang="zh-CN" altLang="en-US" sz="3200" b="1" dirty="0">
                <a:ea typeface="宋体" panose="02010600030101010101" pitchFamily="2" charset="-122"/>
                <a:sym typeface="Symbol" panose="05050102010706020507" pitchFamily="18" charset="2"/>
              </a:rPr>
              <a:t>整除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sz="3200" b="1" dirty="0">
                <a:ea typeface="宋体" panose="02010600030101010101" pitchFamily="2" charset="-122"/>
              </a:rPr>
              <a:t>自反</a:t>
            </a:r>
            <a:r>
              <a:rPr lang="en-US" altLang="zh-CN" sz="3200" b="1" dirty="0">
                <a:ea typeface="宋体" panose="02010600030101010101" pitchFamily="2" charset="-122"/>
                <a:sym typeface="Symbol" panose="05050102010706020507" pitchFamily="18" charset="2"/>
              </a:rPr>
              <a:t>的。</a:t>
            </a:r>
          </a:p>
          <a:p>
            <a:pPr>
              <a:lnSpc>
                <a:spcPct val="90000"/>
              </a:lnSpc>
            </a:pP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R 是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反</a:t>
            </a:r>
            <a:r>
              <a:rPr lang="zh-CN" altLang="en-US" b="1" dirty="0"/>
              <a:t>自反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的，如果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aA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(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aRa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endParaRPr lang="en-US" altLang="zh-CN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请注意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“</a:t>
            </a:r>
            <a:r>
              <a:rPr lang="zh-CN" altLang="en-US" b="1" dirty="0">
                <a:sym typeface="Symbol" panose="05050102010706020507" pitchFamily="18" charset="2"/>
              </a:rPr>
              <a:t>反自反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”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并不意味着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“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非自反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”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“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zh-CN" altLang="en-US" b="1" dirty="0">
                <a:sym typeface="Symbol" panose="05050102010706020507" pitchFamily="18" charset="2"/>
              </a:rPr>
              <a:t>非自反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只是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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aA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aRa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>
              <a:lnSpc>
                <a:spcPct val="90000"/>
              </a:lnSpc>
            </a:pPr>
            <a:r>
              <a:rPr lang="en-GB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例如，如果</a:t>
            </a:r>
            <a:r>
              <a:rPr lang="en-GB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Adore={(</a:t>
            </a:r>
            <a:r>
              <a:rPr lang="en-GB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j,m</a:t>
            </a:r>
            <a:r>
              <a:rPr lang="en-GB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),(</a:t>
            </a:r>
            <a:r>
              <a:rPr lang="en-GB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b,m</a:t>
            </a:r>
            <a:r>
              <a:rPr lang="en-GB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),(</a:t>
            </a:r>
            <a:r>
              <a:rPr lang="en-GB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m,b</a:t>
            </a:r>
            <a:r>
              <a:rPr lang="en-GB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),(</a:t>
            </a:r>
            <a:r>
              <a:rPr lang="en-GB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j,j</a:t>
            </a:r>
            <a:r>
              <a:rPr lang="en-GB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)}，</a:t>
            </a:r>
            <a:r>
              <a:rPr lang="en-GB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那么这个关系既不是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自反</a:t>
            </a:r>
            <a:r>
              <a:rPr lang="en-GB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的，也不是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反自反</a:t>
            </a:r>
            <a:r>
              <a:rPr lang="en-GB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endParaRPr lang="en-US" altLang="zh-CN" b="1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7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0975B00-16F9-48A2-AB80-54DE86B5F5D3}" type="slidenum">
              <a:rPr lang="en-US" altLang="zh-CN" sz="1200">
                <a:latin typeface="Verdana" panose="020B0604030504040204" pitchFamily="34" charset="0"/>
              </a:rPr>
              <a:t>23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自反性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定理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：当且仅当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关系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反自反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的，则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其互补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关系是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自反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的。</a:t>
            </a:r>
          </a:p>
          <a:p>
            <a:pPr lvl="1">
              <a:lnSpc>
                <a:spcPct val="90000"/>
              </a:lnSpc>
            </a:pP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例如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：&lt; 是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反自反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的；≥ 是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自反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的。</a:t>
            </a:r>
          </a:p>
          <a:p>
            <a:pPr lvl="1">
              <a:lnSpc>
                <a:spcPct val="90000"/>
              </a:lnSpc>
            </a:pPr>
            <a:endParaRPr lang="en-GB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endParaRPr lang="en-GB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你能想到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的</a:t>
            </a:r>
            <a:endParaRPr lang="en-GB" altLang="zh-CN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自反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关系</a:t>
            </a:r>
            <a:endParaRPr lang="en-GB" altLang="zh-CN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反自反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关系</a:t>
            </a:r>
            <a:endParaRPr lang="en-GB" altLang="zh-CN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涉及数字、命题或集合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？</a:t>
            </a:r>
            <a:endParaRPr lang="en-US" altLang="zh-CN" b="1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CDB6CEE-012E-46D2-82B4-657072270129}" type="slidenum">
              <a:rPr lang="en-US" altLang="zh-CN" sz="1200">
                <a:latin typeface="Verdana" panose="020B0604030504040204" pitchFamily="34" charset="0"/>
              </a:rPr>
              <a:t>24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示例</a:t>
            </a:r>
            <a:r>
              <a:rPr lang="en-US" altLang="zh-CN" dirty="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19225"/>
            <a:ext cx="8915400" cy="4879975"/>
          </a:xfrm>
        </p:spPr>
        <p:txBody>
          <a:bodyPr/>
          <a:lstStyle/>
          <a:p>
            <a:pPr marL="609600" indent="-609600"/>
            <a:r>
              <a:rPr lang="zh-CN" altLang="en-US" sz="4000" b="1" dirty="0">
                <a:solidFill>
                  <a:srgbClr val="000000"/>
                </a:solidFill>
                <a:ea typeface="宋体" panose="02010600030101010101" pitchFamily="2" charset="-122"/>
              </a:rPr>
              <a:t>自反性</a:t>
            </a:r>
            <a:r>
              <a:rPr lang="en-GB" altLang="zh-CN" sz="4000" b="1" dirty="0">
                <a:solidFill>
                  <a:srgbClr val="000000"/>
                </a:solidFill>
                <a:ea typeface="宋体" panose="02010600030101010101" pitchFamily="2" charset="-122"/>
              </a:rPr>
              <a:t>： </a:t>
            </a:r>
          </a:p>
          <a:p>
            <a:pPr marL="990600" lvl="1" indent="-533400">
              <a:buFont typeface="Wingdings" panose="05000000000000000000" pitchFamily="2" charset="2"/>
              <a:buNone/>
            </a:pPr>
            <a:r>
              <a:rPr lang="en-GB" altLang="zh-CN" sz="4000" b="1" dirty="0">
                <a:solidFill>
                  <a:srgbClr val="000000"/>
                </a:solidFill>
                <a:ea typeface="宋体" panose="02010600030101010101" pitchFamily="2" charset="-122"/>
              </a:rPr>
              <a:t>=, ‘</a:t>
            </a:r>
            <a:r>
              <a:rPr lang="zh-CN" altLang="en-US" sz="4000" b="1" dirty="0">
                <a:solidFill>
                  <a:srgbClr val="000000"/>
                </a:solidFill>
                <a:ea typeface="宋体" panose="02010600030101010101" pitchFamily="2" charset="-122"/>
              </a:rPr>
              <a:t>有相同基数</a:t>
            </a:r>
            <a:r>
              <a:rPr lang="en-GB" altLang="zh-CN" sz="4000" b="1" dirty="0">
                <a:solidFill>
                  <a:srgbClr val="000000"/>
                </a:solidFill>
                <a:ea typeface="宋体" panose="02010600030101010101" pitchFamily="2" charset="-122"/>
              </a:rPr>
              <a:t>', </a:t>
            </a:r>
            <a:r>
              <a:rPr lang="en-GB" altLang="zh-CN" sz="4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</a:p>
          <a:p>
            <a:pPr marL="990600" lvl="1" indent="-533400">
              <a:buFont typeface="Wingdings" panose="05000000000000000000" pitchFamily="2" charset="2"/>
              <a:buNone/>
            </a:pPr>
            <a:r>
              <a:rPr lang="en-GB" altLang="zh-CN" sz="4000" b="1" dirty="0">
                <a:solidFill>
                  <a:srgbClr val="000000"/>
                </a:solidFill>
                <a:ea typeface="宋体" panose="02010600030101010101" pitchFamily="2" charset="-122"/>
              </a:rPr>
              <a:t>&lt;=、&gt;=、</a:t>
            </a:r>
            <a:r>
              <a:rPr lang="en-GB" altLang="zh-CN" sz="4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、 等。</a:t>
            </a:r>
          </a:p>
          <a:p>
            <a:pPr marL="609600" indent="-609600"/>
            <a:r>
              <a:rPr lang="zh-CN" altLang="en-US" sz="4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反自反性</a:t>
            </a:r>
            <a:r>
              <a:rPr lang="en-GB" altLang="zh-CN" sz="4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</a:p>
          <a:p>
            <a:pPr marL="990600" lvl="1" indent="-533400">
              <a:buFont typeface="Wingdings" panose="05000000000000000000" pitchFamily="2" charset="2"/>
              <a:buNone/>
            </a:pPr>
            <a:r>
              <a:rPr lang="en-GB" altLang="zh-CN" sz="4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&lt;，&gt;，“</a:t>
            </a:r>
            <a:r>
              <a:rPr lang="zh-CN" altLang="en-US" sz="4000" b="1" dirty="0">
                <a:solidFill>
                  <a:srgbClr val="000000"/>
                </a:solidFill>
                <a:ea typeface="宋体" panose="02010600030101010101" pitchFamily="2" charset="-122"/>
              </a:rPr>
              <a:t>有不同基数</a:t>
            </a:r>
            <a:r>
              <a:rPr lang="en-GB" altLang="zh-CN" sz="4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"，</a:t>
            </a:r>
          </a:p>
          <a:p>
            <a:pPr marL="990600" lvl="1" indent="-533400"/>
            <a:endParaRPr lang="en-GB" altLang="zh-CN" sz="4000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BCB2B1-C12A-48D9-B1D2-6FD3AC7356F9}" type="slidenum">
              <a:rPr lang="en-US" altLang="zh-CN" sz="1200">
                <a:latin typeface="Verdana" panose="020B0604030504040204" pitchFamily="34" charset="0"/>
              </a:rPr>
              <a:t>25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对称 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19225"/>
            <a:ext cx="8686800" cy="48799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 dirty="0" err="1">
                <a:ea typeface="宋体" panose="02010600030101010101" pitchFamily="2" charset="-122"/>
              </a:rPr>
              <a:t>如果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对于所有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A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而言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a,b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R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b,a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，则</a:t>
            </a:r>
            <a:r>
              <a:rPr lang="en-US" altLang="zh-CN" b="1" dirty="0" err="1">
                <a:ea typeface="宋体" panose="02010600030101010101" pitchFamily="2" charset="-122"/>
              </a:rPr>
              <a:t>集合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>
                <a:ea typeface="宋体" panose="02010600030101010101" pitchFamily="2" charset="-122"/>
              </a:rPr>
              <a:t> 上的关系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 </a:t>
            </a:r>
            <a:r>
              <a:rPr lang="en-US" altLang="zh-CN" b="1" dirty="0">
                <a:ea typeface="宋体" panose="02010600030101010101" pitchFamily="2" charset="-122"/>
              </a:rPr>
              <a:t>称为对称关系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。 </a:t>
            </a:r>
          </a:p>
          <a:p>
            <a:pPr>
              <a:lnSpc>
                <a:spcPct val="90000"/>
              </a:lnSpc>
            </a:pP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如果对于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所有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A 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而言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a,b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R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且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b,a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R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仅当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a=b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成立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则集合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A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的关系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称为反对称关系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。  </a:t>
            </a:r>
          </a:p>
          <a:p>
            <a:pPr>
              <a:lnSpc>
                <a:spcPct val="90000"/>
              </a:lnSpc>
            </a:pPr>
            <a:endParaRPr lang="en-US" altLang="zh-CN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zh-CN" altLang="en-US" sz="3600" b="1" dirty="0">
                <a:ea typeface="宋体" panose="02010600030101010101" pitchFamily="2" charset="-122"/>
                <a:sym typeface="Symbol" panose="05050102010706020507" pitchFamily="18" charset="2"/>
              </a:rPr>
              <a:t>“整除”</a:t>
            </a:r>
            <a:r>
              <a:rPr lang="en-US" altLang="zh-CN" sz="3600" b="1" dirty="0" err="1">
                <a:ea typeface="宋体" panose="02010600030101010101" pitchFamily="2" charset="-122"/>
                <a:sym typeface="Symbol" panose="05050102010706020507" pitchFamily="18" charset="2"/>
              </a:rPr>
              <a:t>是反对称的，因为如果正整数</a:t>
            </a:r>
            <a:r>
              <a:rPr lang="en-US" altLang="zh-CN" sz="3600" b="1" dirty="0">
                <a:ea typeface="宋体" panose="02010600030101010101" pitchFamily="2" charset="-122"/>
                <a:sym typeface="Symbol" panose="05050102010706020507" pitchFamily="18" charset="2"/>
              </a:rPr>
              <a:t> a、b 具有 </a:t>
            </a:r>
            <a:r>
              <a:rPr lang="en-US" altLang="zh-CN" sz="3600" b="1" dirty="0" err="1">
                <a:ea typeface="宋体" panose="02010600030101010101" pitchFamily="2" charset="-122"/>
                <a:sym typeface="Symbol" panose="05050102010706020507" pitchFamily="18" charset="2"/>
              </a:rPr>
              <a:t>a|b</a:t>
            </a:r>
            <a:r>
              <a:rPr lang="en-US" altLang="zh-CN" sz="3600" b="1" dirty="0">
                <a:ea typeface="宋体" panose="02010600030101010101" pitchFamily="2" charset="-122"/>
                <a:sym typeface="Symbol" panose="05050102010706020507" pitchFamily="18" charset="2"/>
              </a:rPr>
              <a:t> 和 </a:t>
            </a:r>
            <a:r>
              <a:rPr lang="en-US" altLang="zh-CN" sz="3600" b="1" dirty="0" err="1">
                <a:ea typeface="宋体" panose="02010600030101010101" pitchFamily="2" charset="-122"/>
                <a:sym typeface="Symbol" panose="05050102010706020507" pitchFamily="18" charset="2"/>
              </a:rPr>
              <a:t>b|a，则</a:t>
            </a:r>
            <a:r>
              <a:rPr lang="en-US" altLang="zh-CN" sz="3600" b="1" dirty="0">
                <a:ea typeface="宋体" panose="02010600030101010101" pitchFamily="2" charset="-122"/>
                <a:sym typeface="Symbol" panose="05050102010706020507" pitchFamily="18" charset="2"/>
              </a:rPr>
              <a:t> a=b。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DA1D50-E7AD-4285-A5A7-DE08A37BB1A3}" type="slidenum">
              <a:rPr lang="en-US" altLang="zh-CN" sz="1200">
                <a:latin typeface="Verdana" panose="020B0604030504040204" pitchFamily="34" charset="0"/>
              </a:rPr>
              <a:t>26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对称</a:t>
            </a: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2140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9225"/>
            <a:ext cx="8458200" cy="4879975"/>
          </a:xfrm>
        </p:spPr>
        <p:txBody>
          <a:bodyPr/>
          <a:lstStyle/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R1 ={ (1,1),(1,2),(2,1),(2,2),(3,4),(4,1),(4,4)}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R2 = {(1,1),(1,2),(2,1)}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R3 = {(1,1),(1,2),(1,4),(2,1),(2,2),(3,3),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(4,1),(4,4)}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R4 = {(2,1),(3,1),(3,2),(4,1),(4,2),(4,3)}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R2 和 R3 是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对称的。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R4 是反对称的。</a:t>
            </a:r>
            <a:endParaRPr lang="en-US" altLang="zh-CN" b="1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4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8FC472B-07A7-41E1-86A4-471762271668}" type="slidenum">
              <a:rPr lang="en-US" altLang="zh-CN" sz="1200">
                <a:latin typeface="Verdana" panose="020B0604030504040204" pitchFamily="34" charset="0"/>
              </a:rPr>
              <a:t>27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对称</a:t>
            </a: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R1 = { (a, b) | a ≤ 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R2 = { (a, b) | a &gt; 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R3 = { (a, b) | a = b 或 a = -b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R4 = { (a, b) | a = 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R5 = { (a, b) | a = b + 1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R6 = { (a, b) | a + b ≤ 3}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R3、R4 和 R6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是对称的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R1、R2、R4 和 R5 是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反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对称的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7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5F5D9D6-4DA8-4A02-9D61-A22AF3F10A4B}" type="slidenum">
              <a:rPr lang="en-US" altLang="zh-CN" sz="1200">
                <a:latin typeface="Verdana" panose="020B0604030504040204" pitchFamily="34" charset="0"/>
              </a:rPr>
              <a:t>28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ea typeface="宋体" panose="02010600030101010101" pitchFamily="2" charset="-122"/>
              </a:rPr>
              <a:t>反</a:t>
            </a:r>
            <a:r>
              <a:rPr lang="en-US" altLang="zh-CN" dirty="0" err="1">
                <a:ea typeface="宋体" panose="02010600030101010101" pitchFamily="2" charset="-122"/>
              </a:rPr>
              <a:t>对称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229600" cy="4724400"/>
          </a:xfrm>
        </p:spPr>
        <p:txBody>
          <a:bodyPr/>
          <a:lstStyle/>
          <a:p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考虑关系 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xy</a:t>
            </a:r>
            <a:endParaRPr lang="en-GB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对称吗？不</a:t>
            </a:r>
            <a:endParaRPr lang="en-GB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反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对称吗？不</a:t>
            </a:r>
            <a:endParaRPr lang="en-GB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自反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吗？是</a:t>
            </a:r>
            <a:endParaRPr lang="en-GB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反自反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吗？不</a:t>
            </a:r>
            <a:endParaRPr lang="en-GB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/>
              <p:cNvSpPr txBox="1">
                <a:spLocks noChangeArrowheads="1"/>
              </p:cNvSpPr>
              <p:nvPr/>
            </p:nvSpPr>
            <p:spPr bwMode="auto">
              <a:xfrm>
                <a:off x="533400" y="4902602"/>
                <a:ext cx="8686800" cy="1476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zh-CN" altLang="en-US" b="1" kern="0" dirty="0">
                    <a:ea typeface="宋体" panose="02010600030101010101" pitchFamily="2" charset="-122"/>
                  </a:rPr>
                  <a:t>非</a:t>
                </a:r>
                <a:r>
                  <a:rPr lang="en-US" altLang="zh-CN" b="1" kern="0" dirty="0" err="1">
                    <a:ea typeface="宋体" panose="02010600030101010101" pitchFamily="2" charset="-122"/>
                  </a:rPr>
                  <a:t>对称</a:t>
                </a:r>
                <a:r>
                  <a:rPr lang="zh-CN" altLang="en-US" b="1" kern="0" dirty="0">
                    <a:ea typeface="宋体" panose="02010600030101010101" pitchFamily="2" charset="-122"/>
                  </a:rPr>
                  <a:t>：</a:t>
                </a:r>
                <a:r>
                  <a:rPr lang="en-US" altLang="zh-CN" b="1" kern="0" dirty="0">
                    <a:ea typeface="宋体" panose="02010600030101010101" pitchFamily="2" charset="-122"/>
                  </a:rPr>
                  <a:t>不</a:t>
                </a:r>
                <a:r>
                  <a:rPr lang="zh-CN" altLang="en-US" b="1" kern="0" dirty="0">
                    <a:ea typeface="宋体" panose="02010600030101010101" pitchFamily="2" charset="-122"/>
                  </a:rPr>
                  <a:t>是</a:t>
                </a:r>
                <a:r>
                  <a:rPr lang="en-US" altLang="zh-CN" b="1" kern="0" dirty="0" err="1">
                    <a:ea typeface="宋体" panose="02010600030101010101" pitchFamily="2" charset="-122"/>
                  </a:rPr>
                  <a:t>对称</a:t>
                </a:r>
                <a:r>
                  <a:rPr lang="zh-CN" altLang="en-US" b="1" kern="0" dirty="0">
                    <a:ea typeface="宋体" panose="02010600030101010101" pitchFamily="2" charset="-122"/>
                  </a:rPr>
                  <a:t>的</a:t>
                </a:r>
                <a:r>
                  <a:rPr lang="en-US" altLang="zh-CN" b="1" kern="0" dirty="0">
                    <a:ea typeface="宋体" panose="02010600030101010101" pitchFamily="2" charset="-122"/>
                  </a:rPr>
                  <a:t>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b="1" kern="0" dirty="0">
                    <a:ea typeface="宋体" panose="02010600030101010101" pitchFamily="2" charset="-122"/>
                  </a:rPr>
                  <a:t>(存在 </a:t>
                </a:r>
                <a:r>
                  <a:rPr lang="en-US" altLang="zh-CN" b="1" kern="0" dirty="0" err="1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a,b </a:t>
                </a:r>
                <a:r>
                  <a:rPr lang="en-US" altLang="zh-CN" b="1" kern="0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A </a:t>
                </a:r>
                <a:r>
                  <a:rPr lang="en-US" altLang="zh-CN" b="1" kern="0" dirty="0">
                    <a:ea typeface="宋体" panose="02010600030101010101" pitchFamily="2" charset="-122"/>
                    <a:sym typeface="Symbol" panose="05050102010706020507" pitchFamily="18" charset="2"/>
                  </a:rPr>
                  <a:t>，使得 </a:t>
                </a:r>
                <a:r>
                  <a:rPr lang="en-US" altLang="zh-CN" b="1" kern="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(</a:t>
                </a:r>
                <a:r>
                  <a:rPr lang="en-US" altLang="zh-CN" b="1" kern="0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a,b</a:t>
                </a:r>
                <a:r>
                  <a:rPr lang="en-US" altLang="zh-CN" b="1" kern="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) </a:t>
                </a:r>
                <a:r>
                  <a:rPr lang="en-US" altLang="zh-CN" b="1" kern="0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R </a:t>
                </a:r>
                <a:r>
                  <a:rPr lang="en-US" altLang="zh-CN" b="1" kern="0" dirty="0">
                    <a:ea typeface="宋体" panose="02010600030101010101" pitchFamily="2" charset="-122"/>
                    <a:sym typeface="Symbol" panose="05050102010706020507" pitchFamily="18" charset="2"/>
                  </a:rPr>
                  <a:t>但 </a:t>
                </a:r>
                <a:r>
                  <a:rPr lang="en-US" altLang="zh-CN" b="1" kern="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(</a:t>
                </a:r>
                <a:r>
                  <a:rPr lang="en-US" altLang="zh-CN" b="1" kern="0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b,a</a:t>
                </a:r>
                <a:r>
                  <a:rPr lang="en-US" altLang="zh-CN" b="1" kern="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)</a:t>
                </a:r>
                <a:r>
                  <a:rPr lang="en-US" altLang="zh-CN" b="1" kern="0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∉ </m:t>
                    </m:r>
                  </m:oMath>
                </a14:m>
                <a:r>
                  <a:rPr lang="en-US" altLang="zh-CN" b="1" kern="0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R</a:t>
                </a:r>
                <a:r>
                  <a:rPr lang="en-US" altLang="zh-CN" b="1" kern="0" dirty="0">
                    <a:ea typeface="宋体" panose="02010600030101010101" pitchFamily="2" charset="-122"/>
                    <a:sym typeface="Symbol" panose="05050102010706020507" pitchFamily="18" charset="2"/>
                  </a:rPr>
                  <a:t>）</a:t>
                </a:r>
              </a:p>
            </p:txBody>
          </p:sp>
        </mc:Choice>
        <mc:Fallback xmlns="">
          <p:sp>
            <p:nvSpPr>
              <p:cNvPr id="2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4902602"/>
                <a:ext cx="8686800" cy="1476389"/>
              </a:xfrm>
              <a:prstGeom prst="rect">
                <a:avLst/>
              </a:prstGeom>
              <a:blipFill rotWithShape="1">
                <a:blip r:embed="rId2"/>
                <a:stretch>
                  <a:fillRect t="-27" b="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0A735F6-62B1-4CBD-BC4E-7575A96AC806}" type="slidenum">
              <a:rPr lang="en-US" altLang="zh-CN" sz="1200">
                <a:latin typeface="Verdana" panose="020B0604030504040204" pitchFamily="34" charset="0"/>
              </a:rPr>
              <a:t>29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ea typeface="宋体" panose="02010600030101010101" pitchFamily="2" charset="-122"/>
              </a:rPr>
              <a:t>反</a:t>
            </a:r>
            <a:r>
              <a:rPr lang="en-US" altLang="zh-CN" dirty="0" err="1">
                <a:ea typeface="宋体" panose="02010600030101010101" pitchFamily="2" charset="-122"/>
              </a:rPr>
              <a:t>对称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229600" cy="4724400"/>
          </a:xfrm>
        </p:spPr>
        <p:txBody>
          <a:bodyPr/>
          <a:lstStyle/>
          <a:p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考虑关系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xy</a:t>
            </a:r>
            <a:endParaRPr lang="en-GB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它不是对称的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例如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56 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但不是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65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endParaRPr lang="en-GB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它不是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非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对称的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。(例如，5 5）</a:t>
            </a:r>
          </a:p>
          <a:p>
            <a:pPr lvl="1"/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) 和 (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b,a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)  时，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只有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a=b</a:t>
            </a:r>
          </a:p>
          <a:p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这就是所谓的反对称</a:t>
            </a:r>
            <a:b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你能用谓词逻辑来表达这个意思吗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  <a:endParaRPr lang="en-US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9D47B65-344B-46D4-8252-874935258B26}" type="slidenum">
              <a:rPr lang="en-US" altLang="zh-CN" sz="1200">
                <a:latin typeface="Verdana" panose="020B0604030504040204" pitchFamily="34" charset="0"/>
              </a:rPr>
              <a:t>30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反</a:t>
            </a:r>
            <a:r>
              <a:rPr lang="en-US" altLang="zh-CN" dirty="0" err="1">
                <a:ea typeface="宋体" panose="02010600030101010101" pitchFamily="2" charset="-122"/>
              </a:rPr>
              <a:t>对称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3796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229600" cy="4724400"/>
          </a:xfrm>
        </p:spPr>
        <p:txBody>
          <a:bodyPr/>
          <a:lstStyle/>
          <a:p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A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上的二元关系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R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是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反对称的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，如果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b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)R)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a=b)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实例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：, , </a:t>
            </a:r>
          </a:p>
          <a:p>
            <a:endParaRPr lang="en-GB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2BF9D4E-B269-4F45-97A0-835EC671D54C}" type="slidenum">
              <a:rPr lang="en-US" altLang="zh-CN" sz="1200">
                <a:latin typeface="Verdana" panose="020B0604030504040204" pitchFamily="34" charset="0"/>
              </a:rPr>
              <a:t>31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传递性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482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 dirty="0" err="1">
                <a:ea typeface="宋体" panose="02010600030101010101" pitchFamily="2" charset="-122"/>
              </a:rPr>
              <a:t>如果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对于所有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a,b,c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R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而言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a,b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R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b,c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，那么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a,c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，则</a:t>
            </a:r>
            <a:r>
              <a:rPr lang="en-US" altLang="zh-CN" b="1" dirty="0" err="1">
                <a:ea typeface="宋体" panose="02010600030101010101" pitchFamily="2" charset="-122"/>
              </a:rPr>
              <a:t>集合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>
                <a:ea typeface="宋体" panose="02010600030101010101" pitchFamily="2" charset="-122"/>
              </a:rPr>
              <a:t> 上的关系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 </a:t>
            </a:r>
            <a:r>
              <a:rPr lang="en-US" altLang="zh-CN" b="1" dirty="0">
                <a:ea typeface="宋体" panose="02010600030101010101" pitchFamily="2" charset="-122"/>
              </a:rPr>
              <a:t>称为传递关系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>
              <a:lnSpc>
                <a:spcPct val="90000"/>
              </a:lnSpc>
            </a:pPr>
            <a:endParaRPr lang="en-US" altLang="zh-CN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R0 = {(2,1),(3,1),(3,2),(4,1),(4,2),(4,3)}</a:t>
            </a:r>
          </a:p>
          <a:p>
            <a:pPr>
              <a:lnSpc>
                <a:spcPct val="90000"/>
              </a:lnSpc>
            </a:pP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R0 具有传递性。</a:t>
            </a:r>
          </a:p>
          <a:p>
            <a:pPr>
              <a:lnSpc>
                <a:spcPct val="90000"/>
              </a:lnSpc>
            </a:pPr>
            <a:endParaRPr lang="en-US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“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整除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”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是传递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关系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因为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a|b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和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b|c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则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a|c</a:t>
            </a:r>
            <a:endParaRPr lang="en-US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4C9644-A7E4-4F8F-9F0E-19EDCED5969F}" type="slidenum">
              <a:rPr lang="en-US" altLang="zh-CN" sz="1200">
                <a:latin typeface="Verdana" panose="020B0604030504040204" pitchFamily="34" charset="0"/>
              </a:rPr>
              <a:t>32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传递性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R1 = { (a, b) | a ≤ 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R2 = { (a, b) | a &gt; 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R3 = { (a, b) | a = b 或 a = -b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R4 = { (a, b) | a = 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R5 = { (a, b) | a = b + 1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R6 = { (a, b) | a + b ≤ 3}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4C9644-A7E4-4F8F-9F0E-19EDCED5969F}" type="slidenum">
              <a:rPr lang="en-US" altLang="zh-CN" sz="1200">
                <a:latin typeface="Verdana" panose="020B0604030504040204" pitchFamily="34" charset="0"/>
              </a:rPr>
              <a:t>33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ea typeface="宋体" panose="02010600030101010101" pitchFamily="2" charset="-122"/>
              </a:rPr>
              <a:t>传递性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R1 = { (a, b) | a ≤ 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R2 = { (a, b) | a &gt; 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R3 = { (a, b) | a = b 或 a = -b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R4 = { (a, b) | a = b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R5 = { (a, b) | a = b + 1 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R6 = { (a, b) | a + b ≤ 3}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R1、R2、R3 和 R4 具有传递性。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AD91E78-14AC-423F-8ACB-9888A87D1440}" type="slidenum">
              <a:rPr lang="en-US" altLang="zh-CN" sz="1200">
                <a:latin typeface="Verdana" panose="020B0604030504040204" pitchFamily="34" charset="0"/>
              </a:rPr>
              <a:t>34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ea typeface="宋体" panose="02010600030101010101" pitchFamily="2" charset="-122"/>
              </a:rPr>
              <a:t>传递性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68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关系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R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是传递关系，如果对于所有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有</a:t>
            </a:r>
            <a:b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	((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)R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→ 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)R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如果一个关系不是传递关系，那么它就是非传递关系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关系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是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反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传递的，如果对于所有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有</a:t>
            </a:r>
            <a:b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	((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)R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→ (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)R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0AC02E9-2F5C-4C63-B0F2-A24F4C27CA2E}" type="slidenum">
              <a:rPr lang="en-US" altLang="zh-CN" sz="1200">
                <a:latin typeface="Verdana" panose="020B0604030504040204" pitchFamily="34" charset="0"/>
              </a:rPr>
              <a:t>35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ea typeface="宋体" panose="02010600030101010101" pitchFamily="2" charset="-122"/>
              </a:rPr>
              <a:t>传递性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这些例子又如何呢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？ </a:t>
            </a:r>
          </a:p>
          <a:p>
            <a:pPr lvl="1"/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x是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的祖先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" </a:t>
            </a:r>
          </a:p>
          <a:p>
            <a:pPr lvl="1"/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x喜欢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" </a:t>
            </a:r>
          </a:p>
          <a:p>
            <a:pPr lvl="1"/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x位于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的1英里范围内" </a:t>
            </a:r>
          </a:p>
          <a:p>
            <a:pPr lvl="1"/>
            <a:r>
              <a:rPr lang="en-GB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"x +1 =y"</a:t>
            </a:r>
          </a:p>
          <a:p>
            <a:pPr lvl="1"/>
            <a:r>
              <a:rPr lang="en-GB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GB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X在比赛中击败了Y</a:t>
            </a:r>
            <a:r>
              <a:rPr lang="en-GB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</a:p>
          <a:p>
            <a:pPr lvl="1"/>
            <a:r>
              <a:rPr lang="en-GB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GB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X比Y强</a:t>
            </a:r>
            <a:r>
              <a:rPr lang="en-GB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endParaRPr lang="en-US" altLang="zh-CN" sz="3200" b="1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7625021-6F09-419A-8ECD-18074F9A444E}" type="slidenum">
              <a:rPr lang="en-US" altLang="zh-CN" sz="1200">
                <a:latin typeface="Verdana" panose="020B0604030504040204" pitchFamily="34" charset="0"/>
              </a:rPr>
              <a:t>36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ea typeface="宋体" panose="02010600030101010101" pitchFamily="2" charset="-122"/>
              </a:rPr>
              <a:t>传递性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89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这些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例子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又如何呢？</a:t>
            </a:r>
          </a:p>
          <a:p>
            <a:pPr lvl="1"/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“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是......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的祖先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”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传递的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lvl="1"/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“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喜欢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”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既不</a:t>
            </a:r>
            <a:r>
              <a:rPr lang="zh-CN" altLang="en-US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传递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也不反</a:t>
            </a:r>
            <a:r>
              <a:rPr lang="zh-CN" altLang="en-US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传递。</a:t>
            </a:r>
            <a:endParaRPr lang="en-US" altLang="zh-CN" sz="3200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“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位于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......1 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英里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范围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内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” 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既不</a:t>
            </a:r>
            <a:r>
              <a:rPr lang="zh-CN" altLang="en-US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传递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也不反</a:t>
            </a:r>
            <a:r>
              <a:rPr lang="zh-CN" altLang="en-US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传递。</a:t>
            </a:r>
            <a:endParaRPr lang="en-US" altLang="zh-CN" sz="3200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en-GB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“x+1=y ”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是</a:t>
            </a:r>
            <a:r>
              <a:rPr lang="zh-CN" altLang="en-US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不传递的。</a:t>
            </a:r>
            <a:endParaRPr lang="en-GB" altLang="zh-CN" sz="3200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en-GB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“</a:t>
            </a:r>
            <a:r>
              <a:rPr lang="en-GB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x在锦标赛中击败了y</a:t>
            </a:r>
            <a:r>
              <a:rPr lang="en-GB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”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既不</a:t>
            </a:r>
            <a:r>
              <a:rPr lang="zh-CN" altLang="en-US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传递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也不反</a:t>
            </a:r>
            <a:r>
              <a:rPr lang="zh-CN" altLang="en-US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传递。</a:t>
            </a:r>
            <a:endParaRPr lang="en-GB" altLang="zh-CN" sz="3200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en-GB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"x 强于 y "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是</a:t>
            </a:r>
            <a:r>
              <a:rPr lang="zh-CN" altLang="en-US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传递的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7625021-6F09-419A-8ECD-18074F9A444E}" type="slidenum">
              <a:rPr lang="en-US" altLang="zh-CN" sz="1200">
                <a:latin typeface="Verdana" panose="020B0604030504040204" pitchFamily="34" charset="0"/>
              </a:rPr>
              <a:t>37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ea typeface="宋体" panose="02010600030101010101" pitchFamily="2" charset="-122"/>
              </a:rPr>
              <a:t>传递性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3" name="4808be1c129a8b9f986f63ff94b42c8c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43564" y="1422675"/>
            <a:ext cx="2744787" cy="4879975"/>
          </a:xfrm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419225"/>
            <a:ext cx="5333968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b="1" kern="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R={ (a, b) | a比b强 } 是</a:t>
            </a:r>
            <a:r>
              <a:rPr lang="zh-CN" altLang="en-US" b="1" kern="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传递的</a:t>
            </a:r>
            <a:r>
              <a:rPr lang="en-US" altLang="zh-CN" b="1" kern="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endParaRPr lang="en-US" altLang="zh-CN" b="1" kern="0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b="1" kern="0" dirty="0" err="1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前提</a:t>
            </a:r>
            <a:r>
              <a:rPr lang="en-US" altLang="zh-CN" b="1" kern="0" dirty="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: (</a:t>
            </a:r>
            <a:r>
              <a:rPr lang="en-US" altLang="zh-CN" b="1" kern="0" dirty="0" err="1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小白,小黄</a:t>
            </a:r>
            <a:r>
              <a:rPr lang="en-US" altLang="zh-CN" b="1" kern="0" dirty="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) </a:t>
            </a:r>
            <a:r>
              <a:rPr lang="zh-CN" altLang="en-US" b="1" kern="0" dirty="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∈</a:t>
            </a:r>
            <a:r>
              <a:rPr lang="en-US" altLang="zh-CN" b="1" kern="0" dirty="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R，</a:t>
            </a:r>
          </a:p>
          <a:p>
            <a:pPr marL="0" indent="0">
              <a:buNone/>
            </a:pPr>
            <a:r>
              <a:rPr lang="en-US" altLang="zh-CN" b="1" kern="0" dirty="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              (</a:t>
            </a:r>
            <a:r>
              <a:rPr lang="en-US" altLang="zh-CN" b="1" kern="0" dirty="0" err="1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小花,小白</a:t>
            </a:r>
            <a:r>
              <a:rPr lang="en-US" altLang="zh-CN" b="1" kern="0" dirty="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)</a:t>
            </a:r>
            <a:r>
              <a:rPr lang="zh-CN" altLang="en-US" b="1" kern="0" dirty="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∈ </a:t>
            </a:r>
            <a:r>
              <a:rPr lang="en-US" altLang="zh-CN" b="1" kern="0" dirty="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R</a:t>
            </a:r>
          </a:p>
          <a:p>
            <a:r>
              <a:rPr lang="en-US" altLang="zh-CN" b="1" kern="0" dirty="0" err="1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结论</a:t>
            </a:r>
            <a:r>
              <a:rPr lang="en-US" altLang="zh-CN" b="1" kern="0" dirty="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: (</a:t>
            </a:r>
            <a:r>
              <a:rPr lang="en-US" altLang="zh-CN" b="1" kern="0" dirty="0" err="1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小花,小黄</a:t>
            </a:r>
            <a:r>
              <a:rPr lang="en-US" altLang="zh-CN" b="1" kern="0" dirty="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) </a:t>
            </a:r>
            <a:r>
              <a:rPr lang="zh-CN" altLang="en-US" b="1" kern="0" dirty="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∈ </a:t>
            </a:r>
            <a:r>
              <a:rPr lang="en-US" altLang="zh-CN" b="1" kern="0" dirty="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R</a:t>
            </a:r>
            <a:endParaRPr lang="en-US" altLang="zh-CN" b="1" kern="0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16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应用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4275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下列关系具有哪些性质？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dirty="0">
                <a:ea typeface="宋体" panose="02010600030101010101" pitchFamily="2" charset="-122"/>
              </a:rPr>
              <a:t>（1）S上的关系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（2）t={1,2,3...10}上的关系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A14E352-E200-4AE8-B146-9C896D9E4553}" type="slidenum">
              <a:rPr lang="en-US" altLang="zh-CN" sz="1200">
                <a:latin typeface="Verdana" panose="020B0604030504040204" pitchFamily="34" charset="0"/>
              </a:rPr>
              <a:t>38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graphicFrame>
        <p:nvGraphicFramePr>
          <p:cNvPr id="54278" name="Object 5"/>
          <p:cNvGraphicFramePr>
            <a:graphicFrameLocks noChangeAspect="1"/>
          </p:cNvGraphicFramePr>
          <p:nvPr/>
        </p:nvGraphicFramePr>
        <p:xfrm>
          <a:off x="1981268" y="3990975"/>
          <a:ext cx="49069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36800" imgH="254000" progId="Equation.DSMT4">
                  <p:embed/>
                </p:oleObj>
              </mc:Choice>
              <mc:Fallback>
                <p:oleObj r:id="rId2" imgW="23368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68" y="3990975"/>
                        <a:ext cx="49069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3478213" y="2057400"/>
          <a:ext cx="43481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70100" imgH="254000" progId="Equation.DSMT4">
                  <p:embed/>
                </p:oleObj>
              </mc:Choice>
              <mc:Fallback>
                <p:oleObj r:id="rId4" imgW="2070100" imgH="25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2057400"/>
                        <a:ext cx="434816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应用1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5299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下列关系具有哪些性质？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dirty="0">
                <a:ea typeface="宋体" panose="02010600030101010101" pitchFamily="2" charset="-122"/>
              </a:rPr>
              <a:t>（1）S上的关系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（2）t={1,2,3...10}上的关系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2D39EEE-0485-40A6-8D55-481F7C10B4C9}" type="slidenum">
              <a:rPr lang="en-US" altLang="zh-CN" sz="1200">
                <a:latin typeface="Verdana" panose="020B0604030504040204" pitchFamily="34" charset="0"/>
              </a:rPr>
              <a:t>39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990600" y="4343400"/>
          <a:ext cx="49069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36800" imgH="254000" progId="Equation.DSMT4">
                  <p:embed/>
                </p:oleObj>
              </mc:Choice>
              <mc:Fallback>
                <p:oleObj r:id="rId2" imgW="23368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343400"/>
                        <a:ext cx="49069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3"/>
          <p:cNvGraphicFramePr>
            <a:graphicFrameLocks noChangeAspect="1"/>
          </p:cNvGraphicFramePr>
          <p:nvPr/>
        </p:nvGraphicFramePr>
        <p:xfrm>
          <a:off x="3478213" y="2057400"/>
          <a:ext cx="43481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70100" imgH="254000" progId="Equation.DSMT4">
                  <p:embed/>
                </p:oleObj>
              </mc:Choice>
              <mc:Fallback>
                <p:oleObj r:id="rId4" imgW="2070100" imgH="25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2057400"/>
                        <a:ext cx="434816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776288" y="2674938"/>
            <a:ext cx="67516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838200" y="5037138"/>
            <a:ext cx="2646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928688" y="2827338"/>
            <a:ext cx="67516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/>
              <a:t> R</a:t>
            </a:r>
            <a:r>
              <a:rPr lang="zh-CN" altLang="en-US" dirty="0"/>
              <a:t>是反对称的，反自反的，传递的。</a:t>
            </a:r>
            <a:endParaRPr lang="en-US" altLang="zh-CN" dirty="0"/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990600" y="5189538"/>
            <a:ext cx="2646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/>
              <a:t> R</a:t>
            </a:r>
            <a:r>
              <a:rPr lang="zh-CN" altLang="en-US" dirty="0"/>
              <a:t>是对称的。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练习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43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419225"/>
            <a:ext cx="8382000" cy="48799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2.关系 R，U =Z-{0}，（x，y）∈R，当且仅当 xy≥1 时，所以 R 是 (     )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A) </a:t>
            </a:r>
            <a:r>
              <a:rPr lang="zh-CN" altLang="en-US" dirty="0">
                <a:ea typeface="宋体" panose="02010600030101010101" pitchFamily="2" charset="-122"/>
              </a:rPr>
              <a:t>自反</a:t>
            </a:r>
            <a:r>
              <a:rPr lang="en-US" altLang="zh-CN" dirty="0" err="1">
                <a:ea typeface="宋体" panose="02010600030101010101" pitchFamily="2" charset="-122"/>
              </a:rPr>
              <a:t>和反对称</a:t>
            </a:r>
            <a:r>
              <a:rPr lang="en-US" altLang="zh-CN" dirty="0">
                <a:ea typeface="宋体" panose="02010600030101010101" pitchFamily="2" charset="-122"/>
              </a:rPr>
              <a:t> 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B) </a:t>
            </a:r>
            <a:r>
              <a:rPr lang="zh-CN" altLang="en-US" dirty="0">
                <a:ea typeface="宋体" panose="02010600030101010101" pitchFamily="2" charset="-122"/>
              </a:rPr>
              <a:t>非</a:t>
            </a:r>
            <a:r>
              <a:rPr lang="en-US" altLang="zh-CN" dirty="0" err="1">
                <a:ea typeface="宋体" panose="02010600030101010101" pitchFamily="2" charset="-122"/>
              </a:rPr>
              <a:t>对称和传递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C) </a:t>
            </a:r>
            <a:r>
              <a:rPr lang="zh-CN" altLang="en-US" dirty="0">
                <a:ea typeface="宋体" panose="02010600030101010101" pitchFamily="2" charset="-122"/>
              </a:rPr>
              <a:t>自反、反对称</a:t>
            </a:r>
            <a:r>
              <a:rPr lang="en-US" altLang="zh-CN" dirty="0" err="1">
                <a:ea typeface="宋体" panose="02010600030101010101" pitchFamily="2" charset="-122"/>
              </a:rPr>
              <a:t>和传递</a:t>
            </a:r>
            <a:r>
              <a:rPr lang="en-US" altLang="zh-CN" dirty="0">
                <a:ea typeface="宋体" panose="02010600030101010101" pitchFamily="2" charset="-122"/>
              </a:rPr>
              <a:t>     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D) </a:t>
            </a:r>
            <a:r>
              <a:rPr lang="zh-CN" altLang="en-US" dirty="0">
                <a:ea typeface="宋体" panose="02010600030101010101" pitchFamily="2" charset="-122"/>
              </a:rPr>
              <a:t>自反</a:t>
            </a:r>
            <a:r>
              <a:rPr lang="en-US" altLang="zh-CN" dirty="0">
                <a:ea typeface="宋体" panose="02010600030101010101" pitchFamily="2" charset="-122"/>
              </a:rPr>
              <a:t>、</a:t>
            </a:r>
            <a:r>
              <a:rPr lang="en-US" altLang="zh-CN" dirty="0" err="1">
                <a:ea typeface="宋体" panose="02010600030101010101" pitchFamily="2" charset="-122"/>
              </a:rPr>
              <a:t>对称和传递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31862C4-6D0F-4BED-B278-3248498C73CD}" type="slidenum">
              <a:rPr lang="en-US" altLang="zh-CN" sz="1200">
                <a:latin typeface="Verdana" panose="020B0604030504040204" pitchFamily="34" charset="0"/>
              </a:rPr>
              <a:t>40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练习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5539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419225"/>
            <a:ext cx="8382000" cy="48799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3.设                                             ① </a:t>
            </a:r>
            <a:r>
              <a:rPr lang="zh-CN" altLang="en-US" dirty="0">
                <a:ea typeface="宋体" panose="02010600030101010101" pitchFamily="2" charset="-122"/>
              </a:rPr>
              <a:t>反自反</a:t>
            </a:r>
            <a:r>
              <a:rPr lang="en-US" altLang="zh-CN" dirty="0">
                <a:ea typeface="宋体" panose="02010600030101010101" pitchFamily="2" charset="-122"/>
              </a:rPr>
              <a:t> ② </a:t>
            </a:r>
            <a:r>
              <a:rPr lang="zh-CN" altLang="en-US" dirty="0">
                <a:ea typeface="宋体" panose="02010600030101010101" pitchFamily="2" charset="-122"/>
              </a:rPr>
              <a:t>自反</a:t>
            </a:r>
            <a:r>
              <a:rPr lang="en-US" altLang="zh-CN" dirty="0">
                <a:ea typeface="宋体" panose="02010600030101010101" pitchFamily="2" charset="-122"/>
              </a:rPr>
              <a:t> ③ 对称 ④ 反对称 ⑤ 传递。   R 具有 </a:t>
            </a:r>
            <a:r>
              <a:rPr lang="en-US" altLang="zh-CN" u="sng" dirty="0">
                <a:ea typeface="宋体" panose="02010600030101010101" pitchFamily="2" charset="-122"/>
              </a:rPr>
              <a:t>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F1032E1-30B5-4C6A-9B75-BFECA903F40A}" type="slidenum">
              <a:rPr lang="en-US" altLang="zh-CN" sz="1200">
                <a:latin typeface="Verdana" panose="020B0604030504040204" pitchFamily="34" charset="0"/>
              </a:rPr>
              <a:t>41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graphicFrame>
        <p:nvGraphicFramePr>
          <p:cNvPr id="65541" name="对象 5"/>
          <p:cNvGraphicFramePr>
            <a:graphicFrameLocks noChangeAspect="1"/>
          </p:cNvGraphicFramePr>
          <p:nvPr/>
        </p:nvGraphicFramePr>
        <p:xfrm>
          <a:off x="1505546" y="1473200"/>
          <a:ext cx="37258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100" imgH="254000" progId="Equation.DSMT4">
                  <p:embed/>
                </p:oleObj>
              </mc:Choice>
              <mc:Fallback>
                <p:oleObj name="Equation" r:id="rId2" imgW="2070100" imgH="254000" progId="Equation.DSMT4">
                  <p:embed/>
                  <p:pic>
                    <p:nvPicPr>
                      <p:cNvPr id="65541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5546" y="1473200"/>
                        <a:ext cx="37258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练习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1683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419225"/>
            <a:ext cx="8382000" cy="48799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4.对于集合 {1, 2, 3, 4} </a:t>
            </a:r>
            <a:r>
              <a:rPr lang="en-US" altLang="zh-CN" dirty="0" err="1">
                <a:ea typeface="宋体" panose="02010600030101010101" pitchFamily="2" charset="-122"/>
              </a:rPr>
              <a:t>上的关系式</a:t>
            </a:r>
            <a:r>
              <a:rPr lang="en-US" altLang="zh-CN" dirty="0">
                <a:ea typeface="宋体" panose="02010600030101010101" pitchFamily="2" charset="-122"/>
              </a:rPr>
              <a:t>{(1, 3), (1, 4), (2, 3), (2, 4), (3, 1), (3, 4)}, </a:t>
            </a:r>
            <a:r>
              <a:rPr lang="en-US" altLang="zh-CN" dirty="0" err="1">
                <a:ea typeface="宋体" panose="02010600030101010101" pitchFamily="2" charset="-122"/>
              </a:rPr>
              <a:t>判断它是</a:t>
            </a:r>
            <a:r>
              <a:rPr lang="en-US" altLang="zh-CN" dirty="0">
                <a:ea typeface="宋体" panose="02010600030101010101" pitchFamily="2" charset="-122"/>
              </a:rPr>
              <a:t> (    )</a:t>
            </a:r>
          </a:p>
          <a:p>
            <a:pPr marL="514350" indent="-514350">
              <a:buClr>
                <a:schemeClr val="tx1"/>
              </a:buClr>
              <a:buFont typeface="+mj-lt"/>
              <a:buAutoNum type="alphaUcPeriod"/>
              <a:defRPr/>
            </a:pPr>
            <a:r>
              <a:rPr lang="zh-CN" altLang="en-US" dirty="0">
                <a:ea typeface="宋体" panose="02010600030101010101" pitchFamily="2" charset="-122"/>
              </a:rPr>
              <a:t>自反的</a:t>
            </a:r>
            <a:r>
              <a:rPr lang="en-US" altLang="zh-CN" dirty="0">
                <a:ea typeface="宋体" panose="02010600030101010101" pitchFamily="2" charset="-122"/>
              </a:rPr>
              <a:t>      </a:t>
            </a:r>
          </a:p>
          <a:p>
            <a:pPr marL="514350" indent="-514350">
              <a:buClr>
                <a:schemeClr val="tx1"/>
              </a:buClr>
              <a:buFont typeface="+mj-lt"/>
              <a:buAutoNum type="alphaUcPeriod"/>
              <a:defRPr/>
            </a:pPr>
            <a:r>
              <a:rPr lang="en-US" altLang="zh-CN" dirty="0" err="1">
                <a:ea typeface="宋体" panose="02010600030101010101" pitchFamily="2" charset="-122"/>
              </a:rPr>
              <a:t>对称</a:t>
            </a:r>
            <a:r>
              <a:rPr lang="zh-CN" altLang="en-US" dirty="0">
                <a:ea typeface="宋体" panose="02010600030101010101" pitchFamily="2" charset="-122"/>
              </a:rPr>
              <a:t>的</a:t>
            </a:r>
            <a:endParaRPr lang="en-US" altLang="zh-CN" dirty="0">
              <a:ea typeface="宋体" panose="02010600030101010101" pitchFamily="2" charset="-122"/>
            </a:endParaRPr>
          </a:p>
          <a:p>
            <a:pPr marL="514350" indent="-514350">
              <a:buClr>
                <a:schemeClr val="tx1"/>
              </a:buClr>
              <a:buFont typeface="+mj-lt"/>
              <a:buAutoNum type="alphaUcPeriod"/>
              <a:defRPr/>
            </a:pPr>
            <a:r>
              <a:rPr lang="zh-CN" altLang="en-US" dirty="0">
                <a:ea typeface="宋体" panose="02010600030101010101" pitchFamily="2" charset="-122"/>
              </a:rPr>
              <a:t>传递的</a:t>
            </a:r>
            <a:r>
              <a:rPr lang="en-US" altLang="zh-CN" dirty="0">
                <a:ea typeface="宋体" panose="02010600030101010101" pitchFamily="2" charset="-122"/>
              </a:rPr>
              <a:t>      </a:t>
            </a:r>
          </a:p>
          <a:p>
            <a:pPr marL="514350" indent="-514350">
              <a:buClr>
                <a:schemeClr val="tx1"/>
              </a:buClr>
              <a:buFont typeface="+mj-lt"/>
              <a:buAutoNum type="alphaUcPeriod"/>
              <a:defRPr/>
            </a:pPr>
            <a:r>
              <a:rPr lang="en-US" altLang="zh-CN" dirty="0">
                <a:ea typeface="宋体" panose="02010600030101010101" pitchFamily="2" charset="-122"/>
              </a:rPr>
              <a:t>无上述任何特性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8751921-5FE6-480C-98E3-401A6D34E5DB}" type="slidenum">
              <a:rPr lang="en-US" altLang="zh-CN" sz="1200">
                <a:latin typeface="Verdana" panose="020B0604030504040204" pitchFamily="34" charset="0"/>
              </a:rPr>
              <a:t>42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3B326DE-FC58-4E28-92CB-604DC11A5552}" type="slidenum">
              <a:rPr lang="en-US" altLang="zh-CN" sz="1200">
                <a:latin typeface="Verdana" panose="020B0604030504040204" pitchFamily="34" charset="0"/>
              </a:rPr>
              <a:t>43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fld id="{5BA130DC-2425-42A5-A15B-E16963670CA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39941" name="Group 4"/>
          <p:cNvGrpSpPr/>
          <p:nvPr/>
        </p:nvGrpSpPr>
        <p:grpSpPr bwMode="auto">
          <a:xfrm>
            <a:off x="1981200" y="2819400"/>
            <a:ext cx="5029200" cy="2438400"/>
            <a:chOff x="1997" y="1314"/>
            <a:chExt cx="1889" cy="1009"/>
          </a:xfrm>
        </p:grpSpPr>
        <p:grpSp>
          <p:nvGrpSpPr>
            <p:cNvPr id="39943" name="Group 5"/>
            <p:cNvGrpSpPr/>
            <p:nvPr/>
          </p:nvGrpSpPr>
          <p:grpSpPr bwMode="auto">
            <a:xfrm>
              <a:off x="1997" y="1404"/>
              <a:ext cx="1889" cy="919"/>
              <a:chOff x="1973" y="1027"/>
              <a:chExt cx="1926" cy="937"/>
            </a:xfrm>
          </p:grpSpPr>
          <p:sp>
            <p:nvSpPr>
              <p:cNvPr id="55302" name="Oval 6"/>
              <p:cNvSpPr>
                <a:spLocks noChangeArrowheads="1"/>
              </p:cNvSpPr>
              <p:nvPr/>
            </p:nvSpPr>
            <p:spPr bwMode="gray">
              <a:xfrm>
                <a:off x="1994" y="105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8627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55303" name="Oval 7"/>
              <p:cNvSpPr>
                <a:spLocks noChangeArrowheads="1"/>
              </p:cNvSpPr>
              <p:nvPr/>
            </p:nvSpPr>
            <p:spPr bwMode="gray">
              <a:xfrm>
                <a:off x="1973" y="102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44314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5304" name="Oval 8"/>
            <p:cNvSpPr>
              <a:spLocks noChangeArrowheads="1"/>
            </p:cNvSpPr>
            <p:nvPr/>
          </p:nvSpPr>
          <p:spPr bwMode="gray">
            <a:xfrm>
              <a:off x="2086" y="1314"/>
              <a:ext cx="1691" cy="845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5305" name="Oval 9"/>
            <p:cNvSpPr>
              <a:spLocks noChangeArrowheads="1"/>
            </p:cNvSpPr>
            <p:nvPr/>
          </p:nvSpPr>
          <p:spPr bwMode="gray">
            <a:xfrm>
              <a:off x="2108" y="1319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tint val="34902"/>
                    <a:invGamma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5306" name="Oval 10"/>
            <p:cNvSpPr>
              <a:spLocks noChangeArrowheads="1"/>
            </p:cNvSpPr>
            <p:nvPr/>
          </p:nvSpPr>
          <p:spPr bwMode="gray">
            <a:xfrm>
              <a:off x="2125" y="1327"/>
              <a:ext cx="1570" cy="77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79216"/>
                    <a:invGamma/>
                  </a:schemeClr>
                </a:gs>
                <a:gs pos="100000">
                  <a:schemeClr val="accent1">
                    <a:alpha val="4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5307" name="Oval 11"/>
            <p:cNvSpPr>
              <a:spLocks noChangeArrowheads="1"/>
            </p:cNvSpPr>
            <p:nvPr/>
          </p:nvSpPr>
          <p:spPr bwMode="gray">
            <a:xfrm>
              <a:off x="2208" y="1344"/>
              <a:ext cx="1382" cy="6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>
                    <a:alpha val="3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3994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505228" y="3359370"/>
            <a:ext cx="2667000" cy="91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ea typeface="宋体" panose="02010600030101010101" pitchFamily="2" charset="-122"/>
              </a:rPr>
              <a:t>复合</a:t>
            </a:r>
            <a:r>
              <a:rPr lang="en-US" altLang="zh-CN" sz="2800" b="1" dirty="0" err="1">
                <a:ea typeface="宋体" panose="02010600030101010101" pitchFamily="2" charset="-122"/>
              </a:rPr>
              <a:t>关系</a:t>
            </a:r>
            <a:endParaRPr lang="en-US" altLang="zh-CN" sz="28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93927F-2DCC-4203-A10C-4F8CACD96A3F}" type="slidenum">
              <a:rPr lang="en-US" altLang="zh-CN" sz="1200">
                <a:latin typeface="Verdana" panose="020B0604030504040204" pitchFamily="34" charset="0"/>
              </a:rPr>
              <a:t>44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复合关系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ea typeface="宋体" panose="02010600030101010101" pitchFamily="2" charset="-122"/>
              </a:rPr>
              <a:t>设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A×B</a:t>
            </a:r>
            <a:r>
              <a:rPr lang="en-US" altLang="zh-CN" b="1" dirty="0"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B×C</a:t>
            </a:r>
            <a:r>
              <a:rPr lang="en-US" altLang="zh-CN" b="1" dirty="0">
                <a:ea typeface="宋体" panose="02010600030101010101" pitchFamily="2" charset="-122"/>
              </a:rPr>
              <a:t>.  </a:t>
            </a:r>
            <a:r>
              <a:rPr lang="en-US" altLang="zh-CN" b="1" dirty="0" err="1">
                <a:ea typeface="宋体" panose="02010600030101010101" pitchFamily="2" charset="-122"/>
              </a:rPr>
              <a:t>那么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</a:rPr>
              <a:t>R </a:t>
            </a:r>
            <a:r>
              <a:rPr lang="en-US" altLang="zh-CN" b="1" dirty="0">
                <a:ea typeface="宋体" panose="02010600030101010101" pitchFamily="2" charset="-122"/>
              </a:rPr>
              <a:t>和 </a:t>
            </a:r>
            <a:r>
              <a:rPr lang="en-US" altLang="zh-CN" b="1" i="1" dirty="0">
                <a:ea typeface="宋体" panose="02010600030101010101" pitchFamily="2" charset="-122"/>
              </a:rPr>
              <a:t>S </a:t>
            </a:r>
            <a:r>
              <a:rPr lang="en-US" altLang="zh-CN" b="1" dirty="0" err="1">
                <a:ea typeface="宋体" panose="02010600030101010101" pitchFamily="2" charset="-122"/>
              </a:rPr>
              <a:t>的</a:t>
            </a:r>
            <a:r>
              <a:rPr lang="en-US" altLang="zh-CN" b="1" i="1" dirty="0" err="1">
                <a:ea typeface="宋体" panose="02010600030101010101" pitchFamily="2" charset="-122"/>
              </a:rPr>
              <a:t>合成</a:t>
            </a:r>
            <a:r>
              <a:rPr lang="en-US" altLang="zh-CN" b="1" i="1" dirty="0"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 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R </a:t>
            </a:r>
            <a:r>
              <a:rPr lang="en-US" altLang="zh-CN" b="1" dirty="0" err="1">
                <a:ea typeface="宋体" panose="02010600030101010101" pitchFamily="2" charset="-122"/>
              </a:rPr>
              <a:t>定义如下</a:t>
            </a:r>
            <a:r>
              <a:rPr lang="en-US" altLang="zh-CN" b="1" dirty="0">
                <a:ea typeface="宋体" panose="02010600030101010101" pitchFamily="2" charset="-122"/>
              </a:rPr>
              <a:t>：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		SR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= {(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c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) |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b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aRb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bSc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  <a:p>
            <a:r>
              <a:rPr lang="en-GB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这是否让你想起了什么</a:t>
            </a:r>
            <a:r>
              <a:rPr lang="en-GB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  <a:endParaRPr lang="en-US" altLang="zh-CN" b="1" dirty="0">
              <a:ea typeface="宋体" panose="02010600030101010101" pitchFamily="2" charset="-122"/>
              <a:sym typeface="MT Extra" panose="05050102010205020202" pitchFamily="18" charset="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1462B9-1E8E-457C-8231-CE2B4751A7C5}" type="slidenum">
              <a:rPr lang="en-US" altLang="zh-CN" sz="1200">
                <a:latin typeface="Verdana" panose="020B0604030504040204" pitchFamily="34" charset="0"/>
              </a:rPr>
              <a:t>45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复合关系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ea typeface="宋体" panose="02010600030101010101" pitchFamily="2" charset="-122"/>
              </a:rPr>
              <a:t>设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A×B</a:t>
            </a:r>
            <a:r>
              <a:rPr lang="en-US" altLang="zh-CN" b="1" dirty="0"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B×C</a:t>
            </a:r>
            <a:r>
              <a:rPr lang="en-US" altLang="zh-CN" b="1" dirty="0">
                <a:ea typeface="宋体" panose="02010600030101010101" pitchFamily="2" charset="-122"/>
              </a:rPr>
              <a:t>.  </a:t>
            </a:r>
            <a:r>
              <a:rPr lang="en-US" altLang="zh-CN" b="1" dirty="0" err="1">
                <a:ea typeface="宋体" panose="02010600030101010101" pitchFamily="2" charset="-122"/>
              </a:rPr>
              <a:t>那么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</a:rPr>
              <a:t>R </a:t>
            </a:r>
            <a:r>
              <a:rPr lang="en-US" altLang="zh-CN" b="1" dirty="0">
                <a:ea typeface="宋体" panose="02010600030101010101" pitchFamily="2" charset="-122"/>
              </a:rPr>
              <a:t>和 </a:t>
            </a:r>
            <a:r>
              <a:rPr lang="en-US" altLang="zh-CN" b="1" i="1" dirty="0">
                <a:ea typeface="宋体" panose="02010600030101010101" pitchFamily="2" charset="-122"/>
              </a:rPr>
              <a:t>S </a:t>
            </a:r>
            <a:r>
              <a:rPr lang="en-US" altLang="zh-CN" b="1" dirty="0" err="1">
                <a:ea typeface="宋体" panose="02010600030101010101" pitchFamily="2" charset="-122"/>
              </a:rPr>
              <a:t>的</a:t>
            </a:r>
            <a:r>
              <a:rPr lang="en-US" altLang="zh-CN" b="1" i="1" dirty="0" err="1">
                <a:ea typeface="宋体" panose="02010600030101010101" pitchFamily="2" charset="-122"/>
              </a:rPr>
              <a:t>合成</a:t>
            </a:r>
            <a:r>
              <a:rPr lang="en-US" altLang="zh-CN" b="1" i="1" dirty="0"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 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R </a:t>
            </a:r>
            <a:r>
              <a:rPr lang="en-US" altLang="zh-CN" b="1" dirty="0" err="1">
                <a:ea typeface="宋体" panose="02010600030101010101" pitchFamily="2" charset="-122"/>
              </a:rPr>
              <a:t>定义如下</a:t>
            </a:r>
            <a:r>
              <a:rPr lang="en-US" altLang="zh-CN" b="1" dirty="0">
                <a:ea typeface="宋体" panose="02010600030101010101" pitchFamily="2" charset="-122"/>
              </a:rPr>
              <a:t>：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		SR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= {(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c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) |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aRb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bSc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  <a:p>
            <a:r>
              <a:rPr lang="en-GB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这是否让你想起了什么</a:t>
            </a:r>
            <a:r>
              <a:rPr lang="en-GB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</a:p>
          <a:p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函数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复合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ea typeface="宋体" panose="02010600030101010101" pitchFamily="2" charset="-122"/>
                <a:sym typeface="MT Extra" panose="05050102010205020202" pitchFamily="18" charset="2"/>
              </a:rPr>
              <a:t>...</a:t>
            </a:r>
          </a:p>
          <a:p>
            <a:r>
              <a:rPr lang="en-GB" altLang="zh-CN" b="1" dirty="0">
                <a:ea typeface="宋体" panose="02010600030101010101" pitchFamily="2" charset="-122"/>
                <a:sym typeface="MT Extra" panose="05050102010205020202" pitchFamily="18" charset="2"/>
              </a:rPr>
              <a:t>..</a:t>
            </a:r>
            <a:r>
              <a:rPr lang="en-US" altLang="zh-CN" b="1" dirty="0">
                <a:ea typeface="宋体" panose="02010600030101010101" pitchFamily="2" charset="-122"/>
              </a:rPr>
              <a:t>.</a:t>
            </a:r>
            <a:r>
              <a:rPr lang="en-GB" altLang="zh-CN" b="1" dirty="0" err="1">
                <a:ea typeface="宋体" panose="02010600030101010101" pitchFamily="2" charset="-122"/>
                <a:sym typeface="MT Extra" panose="05050102010205020202" pitchFamily="18" charset="2"/>
              </a:rPr>
              <a:t>只不过</a:t>
            </a:r>
            <a:r>
              <a:rPr lang="en-GB" altLang="zh-CN" b="1" dirty="0">
                <a:ea typeface="宋体" panose="02010600030101010101" pitchFamily="2" charset="-122"/>
                <a:sym typeface="MT Extra" panose="05050102010205020202" pitchFamily="18" charset="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SR </a:t>
            </a:r>
            <a:r>
              <a:rPr lang="en-US" altLang="zh-CN" b="1" dirty="0" err="1">
                <a:ea typeface="宋体" panose="02010600030101010101" pitchFamily="2" charset="-122"/>
              </a:rPr>
              <a:t>可以照顾到以下事实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br>
              <a:rPr lang="en-US" altLang="zh-CN" b="1" dirty="0">
                <a:ea typeface="宋体" panose="02010600030101010101" pitchFamily="2" charset="-122"/>
              </a:rPr>
            </a:br>
            <a:r>
              <a:rPr lang="en-US" altLang="zh-CN" b="1" dirty="0">
                <a:ea typeface="宋体" panose="02010600030101010101" pitchFamily="2" charset="-122"/>
              </a:rPr>
              <a:t>S 和 R </a:t>
            </a:r>
            <a:r>
              <a:rPr lang="en-US" altLang="zh-CN" b="1" dirty="0" err="1">
                <a:ea typeface="宋体" panose="02010600030101010101" pitchFamily="2" charset="-122"/>
              </a:rPr>
              <a:t>可能不是</a:t>
            </a:r>
            <a:r>
              <a:rPr lang="zh-CN" altLang="en-US" b="1" dirty="0">
                <a:ea typeface="宋体" panose="02010600030101010101" pitchFamily="2" charset="-122"/>
              </a:rPr>
              <a:t>满足函数</a:t>
            </a:r>
            <a:r>
              <a:rPr lang="en-US" altLang="zh-CN" b="1" dirty="0" err="1">
                <a:ea typeface="宋体" panose="02010600030101010101" pitchFamily="2" charset="-122"/>
              </a:rPr>
              <a:t>性的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A3E92B-6D38-4905-AF90-724BEB4CB2BD}" type="slidenum">
              <a:rPr lang="en-US" altLang="zh-CN" sz="1200">
                <a:latin typeface="Verdana" panose="020B0604030504040204" pitchFamily="34" charset="0"/>
              </a:rPr>
              <a:t>46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复合关系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b="1" dirty="0">
                <a:ea typeface="宋体" panose="02010600030101010101" pitchFamily="2" charset="-122"/>
              </a:rPr>
              <a:t>设 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A×B</a:t>
            </a:r>
            <a:r>
              <a:rPr lang="en-US" altLang="zh-CN" sz="2800" b="1" dirty="0">
                <a:ea typeface="宋体" panose="02010600030101010101" pitchFamily="2" charset="-122"/>
              </a:rPr>
              <a:t>, 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B×C</a:t>
            </a:r>
            <a:r>
              <a:rPr lang="en-US" altLang="zh-CN" sz="2800" b="1" dirty="0">
                <a:ea typeface="宋体" panose="02010600030101010101" pitchFamily="2" charset="-122"/>
              </a:rPr>
              <a:t>.  </a:t>
            </a:r>
            <a:r>
              <a:rPr lang="en-US" altLang="zh-CN" sz="2800" b="1" dirty="0" err="1">
                <a:ea typeface="宋体" panose="02010600030101010101" pitchFamily="2" charset="-122"/>
              </a:rPr>
              <a:t>那么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ea typeface="宋体" panose="02010600030101010101" pitchFamily="2" charset="-122"/>
              </a:rPr>
              <a:t>R </a:t>
            </a:r>
            <a:r>
              <a:rPr lang="en-US" altLang="zh-CN" sz="2800" b="1" dirty="0">
                <a:ea typeface="宋体" panose="02010600030101010101" pitchFamily="2" charset="-122"/>
              </a:rPr>
              <a:t>和 </a:t>
            </a:r>
            <a:r>
              <a:rPr lang="en-US" altLang="zh-CN" sz="2800" b="1" i="1" dirty="0">
                <a:ea typeface="宋体" panose="02010600030101010101" pitchFamily="2" charset="-122"/>
              </a:rPr>
              <a:t>S </a:t>
            </a:r>
            <a:r>
              <a:rPr lang="en-US" altLang="zh-CN" sz="2800" b="1" dirty="0" err="1">
                <a:ea typeface="宋体" panose="02010600030101010101" pitchFamily="2" charset="-122"/>
              </a:rPr>
              <a:t>的</a:t>
            </a:r>
            <a:r>
              <a:rPr lang="en-US" altLang="zh-CN" sz="2800" b="1" i="1" dirty="0" err="1">
                <a:ea typeface="宋体" panose="02010600030101010101" pitchFamily="2" charset="-122"/>
              </a:rPr>
              <a:t>合成</a:t>
            </a:r>
            <a:r>
              <a:rPr lang="en-US" altLang="zh-CN" sz="2800" b="1" i="1" dirty="0"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  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R </a:t>
            </a:r>
            <a:r>
              <a:rPr lang="en-US" altLang="zh-CN" sz="2800" b="1" dirty="0" err="1">
                <a:ea typeface="宋体" panose="02010600030101010101" pitchFamily="2" charset="-122"/>
              </a:rPr>
              <a:t>定义如下</a:t>
            </a:r>
            <a:r>
              <a:rPr lang="en-US" altLang="zh-CN" sz="2800" b="1" dirty="0">
                <a:ea typeface="宋体" panose="02010600030101010101" pitchFamily="2" charset="-122"/>
              </a:rPr>
              <a:t>：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		SR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= {(</a:t>
            </a:r>
            <a:r>
              <a:rPr lang="en-US" altLang="zh-CN" sz="2800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 dirty="0" err="1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  <a:r>
              <a:rPr lang="en-US" altLang="zh-CN" sz="2800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) |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2800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aRb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bSc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altLang="zh-CN" sz="2800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函数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复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合</a:t>
            </a:r>
            <a:r>
              <a:rPr lang="en-US" altLang="zh-CN" sz="2800" b="1" dirty="0" err="1">
                <a:ea typeface="宋体" panose="02010600030101010101" pitchFamily="2" charset="-122"/>
                <a:sym typeface="MT Extra" panose="05050102010205020202" pitchFamily="18" charset="2"/>
              </a:rPr>
              <a:t>是关系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复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合</a:t>
            </a:r>
            <a:r>
              <a:rPr lang="en-US" altLang="zh-CN" sz="2800" b="1" dirty="0" err="1">
                <a:ea typeface="宋体" panose="02010600030101010101" pitchFamily="2" charset="-122"/>
                <a:sym typeface="MT Extra" panose="05050102010205020202" pitchFamily="18" charset="2"/>
              </a:rPr>
              <a:t>的特例：假设</a:t>
            </a:r>
            <a:r>
              <a:rPr lang="en-US" altLang="zh-CN" sz="2800" b="1" dirty="0">
                <a:ea typeface="宋体" panose="02010600030101010101" pitchFamily="2" charset="-122"/>
                <a:sym typeface="MT Extra" panose="05050102010205020202" pitchFamily="18" charset="2"/>
              </a:rPr>
              <a:t> S 和 R </a:t>
            </a:r>
            <a:r>
              <a:rPr lang="en-US" altLang="zh-CN" sz="2800" b="1" dirty="0" err="1">
                <a:ea typeface="宋体" panose="02010600030101010101" pitchFamily="2" charset="-122"/>
                <a:sym typeface="MT Extra" panose="05050102010205020202" pitchFamily="18" charset="2"/>
              </a:rPr>
              <a:t>都是函数。那么我们有（使用上面的定义，然后转换为函数符号</a:t>
            </a:r>
            <a:r>
              <a:rPr lang="en-US" altLang="zh-CN" sz="2800" b="1" dirty="0">
                <a:ea typeface="宋体" panose="02010600030101010101" pitchFamily="2" charset="-122"/>
                <a:sym typeface="MT Extra" panose="05050102010205020202" pitchFamily="18" charset="2"/>
              </a:rPr>
              <a:t>）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   S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  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 dirty="0" err="1">
                <a:solidFill>
                  <a:srgbClr val="FF0000"/>
                </a:solidFill>
                <a:ea typeface="宋体" panose="02010600030101010101" pitchFamily="2" charset="-122"/>
              </a:rPr>
              <a:t>,</a:t>
            </a:r>
            <a:r>
              <a:rPr lang="en-US" altLang="zh-CN" sz="2800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800" b="1" dirty="0" err="1">
                <a:solidFill>
                  <a:srgbClr val="FF0000"/>
                </a:solidFill>
                <a:ea typeface="宋体" panose="02010600030101010101" pitchFamily="2" charset="-122"/>
              </a:rPr>
              <a:t>iff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b="1" i="1" dirty="0"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2800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aRb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bSc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</a:t>
            </a:r>
            <a:b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iff</a:t>
            </a:r>
            <a:r>
              <a:rPr lang="en-US" altLang="zh-CN" sz="2800" b="1" i="1" dirty="0">
                <a:ea typeface="宋体" panose="02010600030101010101" pitchFamily="2" charset="-122"/>
                <a:sym typeface="Symbol" panose="05050102010706020507" pitchFamily="18" charset="2"/>
              </a:rPr>
              <a:t> R(a)=b 和 S(b)=c  </a:t>
            </a:r>
            <a:r>
              <a:rPr lang="en-US" altLang="zh-CN" sz="2800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iff</a:t>
            </a:r>
            <a:r>
              <a:rPr lang="en-US" altLang="zh-CN" sz="2800" b="1" i="1" dirty="0">
                <a:ea typeface="宋体" panose="02010600030101010101" pitchFamily="2" charset="-122"/>
                <a:sym typeface="Symbol" panose="05050102010706020507" pitchFamily="18" charset="2"/>
              </a:rPr>
              <a:t> S(R(a))</a:t>
            </a:r>
            <a:r>
              <a:rPr lang="en-US" altLang="zh-CN" sz="2800" b="1" dirty="0">
                <a:ea typeface="宋体" panose="02010600030101010101" pitchFamily="2" charset="-122"/>
                <a:sym typeface="MT Extra" panose="05050102010205020202" pitchFamily="18" charset="2"/>
              </a:rPr>
              <a:t>=c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8DAB39D-E47A-46EE-B0A3-4CD38CA7E883}" type="slidenum">
              <a:rPr lang="en-US" altLang="zh-CN" sz="1200">
                <a:latin typeface="Verdana" panose="020B0604030504040204" pitchFamily="34" charset="0"/>
              </a:rPr>
              <a:t>47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示例6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 = {(1,1),(1,4),(2,3),(3,1),(3,4)}</a:t>
            </a:r>
          </a:p>
          <a:p>
            <a:pPr>
              <a:lnSpc>
                <a:spcPct val="90000"/>
              </a:lnSpc>
            </a:pP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S = {(1,0),(2,0),(3,1),(3,2),(4,1)}</a:t>
            </a:r>
          </a:p>
          <a:p>
            <a:pPr>
              <a:lnSpc>
                <a:spcPct val="90000"/>
              </a:lnSpc>
            </a:pPr>
            <a:r>
              <a:rPr lang="en-US" altLang="zh-CN" b="1" dirty="0">
                <a:solidFill>
                  <a:srgbClr val="000000"/>
                </a:solidFill>
              </a:rPr>
              <a:t>S</a:t>
            </a:r>
            <a:r>
              <a:rPr lang="en-US" altLang="zh-CN" b="1" dirty="0">
                <a:solidFill>
                  <a:srgbClr val="000000"/>
                </a:solidFill>
                <a:sym typeface="MT Extra" panose="05050102010205020202" pitchFamily="18" charset="2"/>
              </a:rPr>
              <a:t>  </a:t>
            </a:r>
            <a:r>
              <a:rPr lang="en-US" altLang="zh-CN" b="1" dirty="0">
                <a:solidFill>
                  <a:srgbClr val="000000"/>
                </a:solidFill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=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{(1,0),(1,1),(2,1),(2,2),(3,0),(3,1)}</a:t>
            </a:r>
          </a:p>
          <a:p>
            <a:pPr>
              <a:lnSpc>
                <a:spcPct val="90000"/>
              </a:lnSpc>
            </a:pPr>
            <a:endParaRPr lang="en-US" altLang="zh-CN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R={(1,1),(2,1),(3,2),(4,3)}</a:t>
            </a:r>
          </a:p>
          <a:p>
            <a:pPr>
              <a:lnSpc>
                <a:spcPct val="90000"/>
              </a:lnSpc>
            </a:pPr>
            <a:r>
              <a:rPr lang="en-US" altLang="zh-CN" b="1" dirty="0">
                <a:solidFill>
                  <a:srgbClr val="000000"/>
                </a:solidFill>
              </a:rPr>
              <a:t>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^2 = </a:t>
            </a:r>
            <a:r>
              <a:rPr lang="en-US" altLang="zh-CN" b="1" dirty="0">
                <a:solidFill>
                  <a:srgbClr val="000000"/>
                </a:solidFill>
              </a:rPr>
              <a:t>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 </a:t>
            </a:r>
            <a:r>
              <a:rPr lang="en-US" altLang="zh-CN" b="1" dirty="0">
                <a:solidFill>
                  <a:srgbClr val="000000"/>
                </a:solidFill>
              </a:rPr>
              <a:t>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={(1,1),(2,1),(3,1),(4,2)} </a:t>
            </a:r>
          </a:p>
          <a:p>
            <a:pPr>
              <a:lnSpc>
                <a:spcPct val="90000"/>
              </a:lnSpc>
            </a:pPr>
            <a:r>
              <a:rPr lang="en-US" altLang="zh-CN" b="1" dirty="0">
                <a:solidFill>
                  <a:srgbClr val="000000"/>
                </a:solidFill>
              </a:rPr>
              <a:t>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^3 = </a:t>
            </a:r>
            <a:r>
              <a:rPr lang="en-US" altLang="zh-CN" b="1" dirty="0">
                <a:solidFill>
                  <a:srgbClr val="000000"/>
                </a:solidFill>
              </a:rPr>
              <a:t>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 </a:t>
            </a:r>
            <a:r>
              <a:rPr lang="en-US" altLang="zh-CN" b="1" dirty="0">
                <a:solidFill>
                  <a:srgbClr val="000000"/>
                </a:solidFill>
              </a:rPr>
              <a:t>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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</a:rPr>
              <a:t>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={(1,1),(2,1),(3,1),(4,1)}</a:t>
            </a:r>
          </a:p>
          <a:p>
            <a:pPr>
              <a:lnSpc>
                <a:spcPct val="90000"/>
              </a:lnSpc>
            </a:pP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R^n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= 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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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R ={(1,1),(2,1),(3,1),(4,1)}</a:t>
            </a:r>
          </a:p>
          <a:p>
            <a:pPr>
              <a:lnSpc>
                <a:spcPct val="90000"/>
              </a:lnSpc>
            </a:pP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n≥3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60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60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60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CE4B896-7C83-482C-991D-FEA13369DD40}" type="slidenum">
              <a:rPr lang="en-US" altLang="zh-CN" sz="1200">
                <a:latin typeface="Verdana" panose="020B0604030504040204" pitchFamily="34" charset="0"/>
              </a:rPr>
              <a:t>48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506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定理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1 </a:t>
            </a:r>
          </a:p>
          <a:p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当且仅当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R^n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 R 为 n = 1,2,3... 时，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集合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A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上的关系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R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是传递关系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</a:p>
          <a:p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证明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(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R 和 (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b,c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R 则 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a,c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R^2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和 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GB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a,c</a:t>
            </a:r>
            <a:r>
              <a:rPr lang="en-GB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R。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......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使用数学归纳法</a:t>
            </a:r>
            <a:endParaRPr lang="en-US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C42D326-9351-4D08-A9B0-AB922EC98598}" type="slidenum">
              <a:rPr lang="en-US" altLang="zh-CN" sz="1200">
                <a:latin typeface="Verdana" panose="020B0604030504040204" pitchFamily="34" charset="0"/>
              </a:rPr>
              <a:t>49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复合关系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让我们看看将</a:t>
            </a:r>
            <a:r>
              <a:rPr lang="en-GB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R </a:t>
            </a:r>
            <a:r>
              <a:rPr lang="en-GB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与自身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合</a:t>
            </a:r>
            <a:r>
              <a:rPr lang="en-GB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成时会出现什么情况</a:t>
            </a:r>
            <a:endParaRPr lang="en-GB" altLang="zh-CN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练习：证明如果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 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，则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A×A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是传递的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。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F7E6091-8DAB-4A5F-BAD6-6A8B14F25BD2}" type="slidenum">
              <a:rPr lang="en-US" altLang="zh-CN" sz="1200">
                <a:latin typeface="Verdana" panose="020B0604030504040204" pitchFamily="34" charset="0"/>
              </a:rPr>
              <a:t>50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>
                <a:ea typeface="宋体" panose="02010600030101010101" pitchFamily="2" charset="-122"/>
              </a:rPr>
              <a:t>复合关系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7108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19225"/>
            <a:ext cx="8763000" cy="4879975"/>
          </a:xfrm>
        </p:spPr>
        <p:txBody>
          <a:bodyPr/>
          <a:lstStyle/>
          <a:p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关于集合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A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的关系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的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baseline="30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th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幂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i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</a:p>
          <a:p>
            <a:pPr lvl="1"/>
            <a:r>
              <a:rPr lang="en-GB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R 的 1</a:t>
            </a:r>
            <a:r>
              <a:rPr lang="en-GB" altLang="zh-CN" b="1" i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st</a:t>
            </a:r>
            <a:r>
              <a:rPr lang="en-GB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幂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为 </a:t>
            </a:r>
            <a:r>
              <a:rPr lang="en-GB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GB" altLang="zh-CN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本身</a:t>
            </a:r>
            <a:endParaRPr lang="en-US" altLang="zh-CN" b="1" i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en-GB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R 的 2</a:t>
            </a:r>
            <a:r>
              <a:rPr lang="en-GB" altLang="zh-CN" b="1" i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nd</a:t>
            </a:r>
            <a:r>
              <a:rPr lang="en-GB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幂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为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b="1" i="1" dirty="0">
                <a:ea typeface="宋体" panose="02010600030101010101" pitchFamily="2" charset="-122"/>
                <a:sym typeface="MT Extra" panose="05050102010205020202" pitchFamily="18" charset="2"/>
              </a:rPr>
              <a:t> = RR</a:t>
            </a:r>
          </a:p>
          <a:p>
            <a:pPr lvl="1"/>
            <a:r>
              <a:rPr lang="en-US" altLang="zh-CN" b="1" i="1" dirty="0">
                <a:ea typeface="宋体" panose="02010600030101010101" pitchFamily="2" charset="-122"/>
                <a:sym typeface="MT Extra" panose="05050102010205020202" pitchFamily="18" charset="2"/>
              </a:rPr>
              <a:t>R 的 3</a:t>
            </a:r>
            <a:r>
              <a:rPr lang="en-US" altLang="zh-CN" b="1" i="1" baseline="30000" dirty="0">
                <a:ea typeface="宋体" panose="02010600030101010101" pitchFamily="2" charset="-122"/>
                <a:sym typeface="MT Extra" panose="05050102010205020202" pitchFamily="18" charset="2"/>
              </a:rPr>
              <a:t>rd</a:t>
            </a:r>
            <a:r>
              <a:rPr lang="en-US" altLang="zh-CN" b="1" i="1" dirty="0">
                <a:ea typeface="宋体" panose="02010600030101010101" pitchFamily="2" charset="-122"/>
                <a:sym typeface="MT Extra" panose="05050102010205020202" pitchFamily="18" charset="2"/>
              </a:rPr>
              <a:t>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幂</a:t>
            </a:r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为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3 </a:t>
            </a:r>
            <a:r>
              <a:rPr lang="en-US" altLang="zh-CN" b="1" i="1" dirty="0">
                <a:ea typeface="宋体" panose="02010600030101010101" pitchFamily="2" charset="-122"/>
                <a:sym typeface="MT Extra" panose="05050102010205020202" pitchFamily="18" charset="2"/>
              </a:rPr>
              <a:t> = RRR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ea typeface="宋体" panose="02010600030101010101" pitchFamily="2" charset="-122"/>
                <a:sym typeface="MT Extra" panose="05050102010205020202" pitchFamily="18" charset="2"/>
              </a:rPr>
              <a:t>…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9C6BE46-9039-4C4A-A768-EE3AE7848997}" type="slidenum">
              <a:rPr lang="en-US" altLang="zh-CN" sz="1200">
                <a:latin typeface="Verdana" panose="020B0604030504040204" pitchFamily="34" charset="0"/>
              </a:rPr>
              <a:t>51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复合关系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981200"/>
            <a:ext cx="8686800" cy="4191000"/>
          </a:xfrm>
        </p:spPr>
        <p:txBody>
          <a:bodyPr/>
          <a:lstStyle/>
          <a:p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集合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A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上关系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的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baseline="300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th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幂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i="1" baseline="30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可以递归定义如下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b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R</a:t>
            </a:r>
            <a:r>
              <a:rPr lang="en-US" altLang="zh-CN" b="1" baseline="30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:≡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i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; R</a:t>
            </a:r>
            <a:r>
              <a:rPr lang="en-US" altLang="zh-CN" b="1" i="1" baseline="30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baseline="30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+1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:≡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i="1" baseline="30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 R </a:t>
            </a:r>
            <a:r>
              <a:rPr lang="en-US" altLang="zh-CN" b="1" dirty="0" err="1">
                <a:ea typeface="宋体" panose="02010600030101010101" pitchFamily="2" charset="-122"/>
                <a:sym typeface="MT Extra" panose="05050102010205020202" pitchFamily="18" charset="2"/>
              </a:rPr>
              <a:t>对于所有</a:t>
            </a:r>
            <a:r>
              <a:rPr lang="en-US" altLang="zh-CN" b="1" dirty="0">
                <a:ea typeface="宋体" panose="02010600030101010101" pitchFamily="2" charset="-122"/>
                <a:sym typeface="MT Extra" panose="05050102010205020202" pitchFamily="18" charset="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n≥1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的关系</a:t>
            </a:r>
            <a:endParaRPr lang="en-US" altLang="zh-CN" b="1" dirty="0">
              <a:ea typeface="宋体" panose="02010600030101010101" pitchFamily="2" charset="-122"/>
              <a:sym typeface="MT Extra" panose="05050102010205020202" pitchFamily="18" charset="2"/>
            </a:endParaRPr>
          </a:p>
          <a:p>
            <a:r>
              <a:rPr lang="en-GB" altLang="zh-CN" b="1" dirty="0" err="1">
                <a:ea typeface="宋体" panose="02010600030101010101" pitchFamily="2" charset="-122"/>
                <a:sym typeface="MT Extra" panose="05050102010205020202" pitchFamily="18" charset="2"/>
              </a:rPr>
              <a:t>例如</a:t>
            </a:r>
            <a:r>
              <a:rPr lang="en-GB" altLang="zh-CN" b="1" dirty="0">
                <a:ea typeface="宋体" panose="02010600030101010101" pitchFamily="2" charset="-122"/>
                <a:sym typeface="MT Extra" panose="05050102010205020202" pitchFamily="18" charset="2"/>
              </a:rPr>
              <a:t>，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 2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=</a:t>
            </a:r>
            <a:r>
              <a:rPr lang="en-US" altLang="zh-CN" b="1" baseline="30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 RR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;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 3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=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 RRR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ea typeface="宋体" panose="02010600030101010101" pitchFamily="2" charset="-122"/>
                <a:sym typeface="MT Extra" panose="05050102010205020202" pitchFamily="18" charset="2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b="1" dirty="0">
              <a:ea typeface="宋体" panose="02010600030101010101" pitchFamily="2" charset="-122"/>
              <a:sym typeface="MT Extra" panose="05050102010205020202" pitchFamily="18" charset="2"/>
            </a:endParaRPr>
          </a:p>
        </p:txBody>
      </p:sp>
      <p:sp>
        <p:nvSpPr>
          <p:cNvPr id="48133" name="AutoShape 4"/>
          <p:cNvSpPr>
            <a:spLocks noChangeArrowheads="1"/>
          </p:cNvSpPr>
          <p:nvPr/>
        </p:nvSpPr>
        <p:spPr bwMode="auto">
          <a:xfrm>
            <a:off x="3200400" y="4419600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48134" name="AutoShape 5"/>
          <p:cNvSpPr>
            <a:spLocks noChangeArrowheads="1"/>
          </p:cNvSpPr>
          <p:nvPr/>
        </p:nvSpPr>
        <p:spPr bwMode="auto">
          <a:xfrm>
            <a:off x="4419600" y="5486400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48135" name="AutoShape 6"/>
          <p:cNvSpPr>
            <a:spLocks noChangeArrowheads="1"/>
          </p:cNvSpPr>
          <p:nvPr/>
        </p:nvSpPr>
        <p:spPr bwMode="auto">
          <a:xfrm>
            <a:off x="4343400" y="4648200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48136" name="AutoShape 7"/>
          <p:cNvSpPr>
            <a:spLocks noChangeArrowheads="1"/>
          </p:cNvSpPr>
          <p:nvPr/>
        </p:nvSpPr>
        <p:spPr bwMode="auto">
          <a:xfrm>
            <a:off x="3276600" y="5562600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48137" name="AutoShape 8"/>
          <p:cNvSpPr>
            <a:spLocks noChangeArrowheads="1"/>
          </p:cNvSpPr>
          <p:nvPr/>
        </p:nvSpPr>
        <p:spPr bwMode="auto">
          <a:xfrm>
            <a:off x="2362200" y="5105400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48138" name="Line 9"/>
          <p:cNvSpPr>
            <a:spLocks noChangeShapeType="1"/>
          </p:cNvSpPr>
          <p:nvPr/>
        </p:nvSpPr>
        <p:spPr bwMode="auto">
          <a:xfrm>
            <a:off x="2514600" y="5257800"/>
            <a:ext cx="685800" cy="30480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9" name="Line 10"/>
          <p:cNvSpPr>
            <a:spLocks noChangeShapeType="1"/>
          </p:cNvSpPr>
          <p:nvPr/>
        </p:nvSpPr>
        <p:spPr bwMode="auto">
          <a:xfrm>
            <a:off x="4267200" y="4953000"/>
            <a:ext cx="76200" cy="45720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0" name="Line 11"/>
          <p:cNvSpPr>
            <a:spLocks noChangeShapeType="1"/>
          </p:cNvSpPr>
          <p:nvPr/>
        </p:nvSpPr>
        <p:spPr bwMode="auto">
          <a:xfrm flipV="1">
            <a:off x="3429000" y="5486400"/>
            <a:ext cx="838200" cy="7620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1" name="Line 12"/>
          <p:cNvSpPr>
            <a:spLocks noChangeShapeType="1"/>
          </p:cNvSpPr>
          <p:nvPr/>
        </p:nvSpPr>
        <p:spPr bwMode="auto">
          <a:xfrm flipH="1" flipV="1">
            <a:off x="4419600" y="4876800"/>
            <a:ext cx="76200" cy="53340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2" name="Text Box 13"/>
          <p:cNvSpPr txBox="1">
            <a:spLocks noChangeArrowheads="1"/>
          </p:cNvSpPr>
          <p:nvPr/>
        </p:nvSpPr>
        <p:spPr bwMode="auto">
          <a:xfrm>
            <a:off x="1905000" y="4876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8143" name="Text Box 14"/>
          <p:cNvSpPr txBox="1">
            <a:spLocks noChangeArrowheads="1"/>
          </p:cNvSpPr>
          <p:nvPr/>
        </p:nvSpPr>
        <p:spPr bwMode="auto">
          <a:xfrm>
            <a:off x="1905000" y="49530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zh-CN" sz="2400">
                <a:latin typeface="Times New Roman" panose="02020603050405020304" pitchFamily="18" charset="0"/>
              </a:rPr>
              <a:t>a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48144" name="Text Box 15"/>
          <p:cNvSpPr txBox="1">
            <a:spLocks noChangeArrowheads="1"/>
          </p:cNvSpPr>
          <p:nvPr/>
        </p:nvSpPr>
        <p:spPr bwMode="auto">
          <a:xfrm>
            <a:off x="3048000" y="5638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zh-CN" sz="2400">
                <a:latin typeface="Times New Roman" panose="02020603050405020304" pitchFamily="18" charset="0"/>
              </a:rPr>
              <a:t>b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48145" name="Text Box 16"/>
          <p:cNvSpPr txBox="1">
            <a:spLocks noChangeArrowheads="1"/>
          </p:cNvSpPr>
          <p:nvPr/>
        </p:nvSpPr>
        <p:spPr bwMode="auto">
          <a:xfrm>
            <a:off x="4267200" y="5486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zh-CN" sz="2400">
                <a:latin typeface="Times New Roman" panose="02020603050405020304" pitchFamily="18" charset="0"/>
              </a:rPr>
              <a:t>c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48146" name="Text Box 17"/>
          <p:cNvSpPr txBox="1">
            <a:spLocks noChangeArrowheads="1"/>
          </p:cNvSpPr>
          <p:nvPr/>
        </p:nvSpPr>
        <p:spPr bwMode="auto">
          <a:xfrm>
            <a:off x="4518025" y="44878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zh-CN" sz="2400">
                <a:latin typeface="Times New Roman" panose="02020603050405020304" pitchFamily="18" charset="0"/>
              </a:rPr>
              <a:t>d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48147" name="Text Box 18"/>
          <p:cNvSpPr txBox="1">
            <a:spLocks noChangeArrowheads="1"/>
          </p:cNvSpPr>
          <p:nvPr/>
        </p:nvSpPr>
        <p:spPr bwMode="auto">
          <a:xfrm>
            <a:off x="2819400" y="40386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zh-CN" sz="2400">
                <a:latin typeface="Times New Roman" panose="02020603050405020304" pitchFamily="18" charset="0"/>
              </a:rPr>
              <a:t>e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09B4D9D-0186-4449-B03C-B6E49703D70A}" type="slidenum">
              <a:rPr lang="en-US" altLang="zh-CN" sz="1200">
                <a:latin typeface="Verdana" panose="020B0604030504040204" pitchFamily="34" charset="0"/>
              </a:rPr>
              <a:t>52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复合关系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981200"/>
            <a:ext cx="7772400" cy="4114800"/>
          </a:xfrm>
        </p:spPr>
        <p:txBody>
          <a:bodyPr/>
          <a:lstStyle/>
          <a:p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=</a:t>
            </a:r>
            <a:r>
              <a:rPr lang="en-US" altLang="zh-CN" b="1" baseline="30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 RR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= {(a,c),(b,d),(c,c),(d,d)}</a:t>
            </a:r>
            <a:b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</a:br>
            <a:endParaRPr lang="en-US" altLang="zh-CN" sz="800" b="1" i="1">
              <a:solidFill>
                <a:srgbClr val="FF0000"/>
              </a:solidFill>
              <a:ea typeface="宋体" panose="02010600030101010101" pitchFamily="2" charset="-122"/>
              <a:sym typeface="MT Extra" panose="05050102010205020202" pitchFamily="18" charset="2"/>
            </a:endParaRPr>
          </a:p>
          <a:p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a: c d: d</a:t>
            </a:r>
            <a:b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</a:b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b: d e: -</a:t>
            </a:r>
            <a:b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</a:b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c: c</a:t>
            </a:r>
            <a:endParaRPr lang="en-US" altLang="zh-CN" b="1">
              <a:solidFill>
                <a:srgbClr val="000000"/>
              </a:solidFill>
              <a:ea typeface="宋体" panose="02010600030101010101" pitchFamily="2" charset="-122"/>
              <a:sym typeface="MT Extra" panose="05050102010205020202" pitchFamily="18" charset="2"/>
            </a:endParaRPr>
          </a:p>
        </p:txBody>
      </p:sp>
      <p:sp>
        <p:nvSpPr>
          <p:cNvPr id="49157" name="AutoShape 4"/>
          <p:cNvSpPr>
            <a:spLocks noChangeArrowheads="1"/>
          </p:cNvSpPr>
          <p:nvPr/>
        </p:nvSpPr>
        <p:spPr bwMode="auto">
          <a:xfrm>
            <a:off x="3200400" y="4419600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49158" name="AutoShape 5"/>
          <p:cNvSpPr>
            <a:spLocks noChangeArrowheads="1"/>
          </p:cNvSpPr>
          <p:nvPr/>
        </p:nvSpPr>
        <p:spPr bwMode="auto">
          <a:xfrm>
            <a:off x="4419600" y="5486400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49159" name="AutoShape 6"/>
          <p:cNvSpPr>
            <a:spLocks noChangeArrowheads="1"/>
          </p:cNvSpPr>
          <p:nvPr/>
        </p:nvSpPr>
        <p:spPr bwMode="auto">
          <a:xfrm>
            <a:off x="4343400" y="4648200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49160" name="AutoShape 7"/>
          <p:cNvSpPr>
            <a:spLocks noChangeArrowheads="1"/>
          </p:cNvSpPr>
          <p:nvPr/>
        </p:nvSpPr>
        <p:spPr bwMode="auto">
          <a:xfrm>
            <a:off x="3276600" y="5562600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49161" name="AutoShape 8"/>
          <p:cNvSpPr>
            <a:spLocks noChangeArrowheads="1"/>
          </p:cNvSpPr>
          <p:nvPr/>
        </p:nvSpPr>
        <p:spPr bwMode="auto">
          <a:xfrm>
            <a:off x="2362200" y="5105400"/>
            <a:ext cx="76200" cy="76200"/>
          </a:xfrm>
          <a:prstGeom prst="octagon">
            <a:avLst>
              <a:gd name="adj" fmla="val 2928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/>
          </a:p>
        </p:txBody>
      </p:sp>
      <p:sp>
        <p:nvSpPr>
          <p:cNvPr id="49162" name="Line 9"/>
          <p:cNvSpPr>
            <a:spLocks noChangeShapeType="1"/>
          </p:cNvSpPr>
          <p:nvPr/>
        </p:nvSpPr>
        <p:spPr bwMode="auto">
          <a:xfrm>
            <a:off x="2514600" y="5257800"/>
            <a:ext cx="685800" cy="30480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3" name="Line 10"/>
          <p:cNvSpPr>
            <a:spLocks noChangeShapeType="1"/>
          </p:cNvSpPr>
          <p:nvPr/>
        </p:nvSpPr>
        <p:spPr bwMode="auto">
          <a:xfrm>
            <a:off x="4267200" y="4953000"/>
            <a:ext cx="76200" cy="45720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4" name="Line 11"/>
          <p:cNvSpPr>
            <a:spLocks noChangeShapeType="1"/>
          </p:cNvSpPr>
          <p:nvPr/>
        </p:nvSpPr>
        <p:spPr bwMode="auto">
          <a:xfrm flipV="1">
            <a:off x="3429000" y="5486400"/>
            <a:ext cx="838200" cy="7620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5" name="Line 12"/>
          <p:cNvSpPr>
            <a:spLocks noChangeShapeType="1"/>
          </p:cNvSpPr>
          <p:nvPr/>
        </p:nvSpPr>
        <p:spPr bwMode="auto">
          <a:xfrm flipH="1" flipV="1">
            <a:off x="4419600" y="4876800"/>
            <a:ext cx="76200" cy="53340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6" name="Text Box 13"/>
          <p:cNvSpPr txBox="1">
            <a:spLocks noChangeArrowheads="1"/>
          </p:cNvSpPr>
          <p:nvPr/>
        </p:nvSpPr>
        <p:spPr bwMode="auto">
          <a:xfrm>
            <a:off x="1905000" y="4876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9167" name="Text Box 14"/>
          <p:cNvSpPr txBox="1">
            <a:spLocks noChangeArrowheads="1"/>
          </p:cNvSpPr>
          <p:nvPr/>
        </p:nvSpPr>
        <p:spPr bwMode="auto">
          <a:xfrm>
            <a:off x="1905000" y="49530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zh-CN" sz="2400">
                <a:latin typeface="Times New Roman" panose="02020603050405020304" pitchFamily="18" charset="0"/>
              </a:rPr>
              <a:t>a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49168" name="Text Box 15"/>
          <p:cNvSpPr txBox="1">
            <a:spLocks noChangeArrowheads="1"/>
          </p:cNvSpPr>
          <p:nvPr/>
        </p:nvSpPr>
        <p:spPr bwMode="auto">
          <a:xfrm>
            <a:off x="3048000" y="5638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zh-CN" sz="2400">
                <a:latin typeface="Times New Roman" panose="02020603050405020304" pitchFamily="18" charset="0"/>
              </a:rPr>
              <a:t>b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49169" name="Text Box 16"/>
          <p:cNvSpPr txBox="1">
            <a:spLocks noChangeArrowheads="1"/>
          </p:cNvSpPr>
          <p:nvPr/>
        </p:nvSpPr>
        <p:spPr bwMode="auto">
          <a:xfrm>
            <a:off x="4267200" y="5486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zh-CN" sz="2400">
                <a:latin typeface="Times New Roman" panose="02020603050405020304" pitchFamily="18" charset="0"/>
              </a:rPr>
              <a:t>c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49170" name="Text Box 17"/>
          <p:cNvSpPr txBox="1">
            <a:spLocks noChangeArrowheads="1"/>
          </p:cNvSpPr>
          <p:nvPr/>
        </p:nvSpPr>
        <p:spPr bwMode="auto">
          <a:xfrm>
            <a:off x="4518025" y="4487863"/>
            <a:ext cx="358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GB" altLang="zh-CN" sz="2400">
                <a:latin typeface="Times New Roman" panose="02020603050405020304" pitchFamily="18" charset="0"/>
              </a:rPr>
              <a:t>d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49171" name="Text Box 18"/>
          <p:cNvSpPr txBox="1">
            <a:spLocks noChangeArrowheads="1"/>
          </p:cNvSpPr>
          <p:nvPr/>
        </p:nvSpPr>
        <p:spPr bwMode="auto">
          <a:xfrm>
            <a:off x="2819400" y="40386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zh-CN" sz="2400">
                <a:latin typeface="Times New Roman" panose="02020603050405020304" pitchFamily="18" charset="0"/>
              </a:rPr>
              <a:t>e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应用2</a:t>
            </a:r>
            <a:endParaRPr lang="zh-CN" altLang="en-US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227" name="内容占位符 2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  <a:p>
                <a:pPr marL="514350" indent="-514350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𝑅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={&lt;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𝑦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&gt;|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𝑦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是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的</m:t>
                          </m:r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父亲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={&lt;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&gt;|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是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的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母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亲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sz="2400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  <a:p>
                <a:pPr marL="514350" indent="-514350">
                  <a:buFont typeface="Wingdings" panose="05000000000000000000" pitchFamily="2" charset="2"/>
                  <a:buNone/>
                </a:pPr>
                <a:r>
                  <a: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（1）        表示的是什么关系。</a:t>
                </a:r>
                <a:endPara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  <a:p>
                <a:pPr marL="514350" indent="-514350">
                  <a:buFont typeface="Wingdings" panose="05000000000000000000" pitchFamily="2" charset="2"/>
                  <a:buNone/>
                </a:pPr>
                <a:r>
                  <a: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（2）         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表示的是什么关系。</a:t>
                </a:r>
                <a:endPara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2227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40FFA10-8314-451F-8B04-B3E3D5F330B4}" type="slidenum">
              <a:rPr lang="en-US" altLang="zh-CN" sz="1200">
                <a:latin typeface="Verdana" panose="020B0604030504040204" pitchFamily="34" charset="0"/>
              </a:rPr>
              <a:t>53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graphicFrame>
        <p:nvGraphicFramePr>
          <p:cNvPr id="5223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511927"/>
              </p:ext>
            </p:extLst>
          </p:nvPr>
        </p:nvGraphicFramePr>
        <p:xfrm>
          <a:off x="1338320" y="3886188"/>
          <a:ext cx="10239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55600" imgH="165100" progId="Equation.DSMT4">
                  <p:embed/>
                </p:oleObj>
              </mc:Choice>
              <mc:Fallback>
                <p:oleObj r:id="rId3" imgW="355600" imgH="165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320" y="3886188"/>
                        <a:ext cx="10239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425165"/>
              </p:ext>
            </p:extLst>
          </p:nvPr>
        </p:nvGraphicFramePr>
        <p:xfrm>
          <a:off x="1308154" y="4419556"/>
          <a:ext cx="1206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19100" imgH="241300" progId="Equation.DSMT4">
                  <p:embed/>
                </p:oleObj>
              </mc:Choice>
              <mc:Fallback>
                <p:oleObj r:id="rId5" imgW="419100" imgH="241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154" y="4419556"/>
                        <a:ext cx="12065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应用2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325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（1）        表示的是什么关系。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514350" indent="-514350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514350" indent="-514350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514350" indent="-514350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514350" indent="-51435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（2）         表示的是什么关系。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D3A855D-A191-4E5F-884C-97D17630D626}" type="slidenum">
              <a:rPr lang="en-US" altLang="zh-CN" sz="1200">
                <a:latin typeface="Verdana" panose="020B0604030504040204" pitchFamily="34" charset="0"/>
              </a:rPr>
              <a:t>54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graphicFrame>
        <p:nvGraphicFramePr>
          <p:cNvPr id="53253" name="Object 6"/>
          <p:cNvGraphicFramePr>
            <a:graphicFrameLocks noChangeAspect="1"/>
          </p:cNvGraphicFramePr>
          <p:nvPr/>
        </p:nvGraphicFramePr>
        <p:xfrm>
          <a:off x="1447800" y="1447800"/>
          <a:ext cx="10239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55600" imgH="165100" progId="Equation.DSMT4">
                  <p:embed/>
                </p:oleObj>
              </mc:Choice>
              <mc:Fallback>
                <p:oleObj r:id="rId2" imgW="355600" imgH="165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447800"/>
                        <a:ext cx="10239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4" name="Object 7"/>
          <p:cNvGraphicFramePr>
            <a:graphicFrameLocks noChangeAspect="1"/>
          </p:cNvGraphicFramePr>
          <p:nvPr/>
        </p:nvGraphicFramePr>
        <p:xfrm>
          <a:off x="1352550" y="3733800"/>
          <a:ext cx="12080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19100" imgH="241300" progId="Equation.DSMT4">
                  <p:embed/>
                </p:oleObj>
              </mc:Choice>
              <mc:Fallback>
                <p:oleObj r:id="rId4" imgW="419100" imgH="241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550" y="3733800"/>
                        <a:ext cx="120808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97442" y="4767612"/>
            <a:ext cx="4871398" cy="369332"/>
          </a:xfrm>
          <a:prstGeom prst="rect">
            <a:avLst/>
          </a:prstGeom>
          <a:blipFill>
            <a:blip r:embed="rId6"/>
            <a:stretch>
              <a:fillRect b="-1639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43486A0-E7B4-238C-B16B-76532A08AE5C}"/>
                  </a:ext>
                </a:extLst>
              </p:cNvPr>
              <p:cNvSpPr txBox="1"/>
              <p:nvPr/>
            </p:nvSpPr>
            <p:spPr>
              <a:xfrm>
                <a:off x="839652" y="2232600"/>
                <a:ext cx="670269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14350" indent="-514350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={&lt;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&gt;|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是</m:t>
                          </m:r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的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祖父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00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43486A0-E7B4-238C-B16B-76532A08A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52" y="2232600"/>
                <a:ext cx="6702696" cy="400110"/>
              </a:xfrm>
              <a:prstGeom prst="rect">
                <a:avLst/>
              </a:prstGeom>
              <a:blipFill>
                <a:blip r:embed="rId7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应用3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6323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 err="1">
                <a:ea typeface="宋体" panose="02010600030101010101" pitchFamily="2" charset="-122"/>
              </a:rPr>
              <a:t>设R,S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是集合A 上的关系，试证明或否定以下断言。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（1）设 R,S </a:t>
            </a:r>
            <a:r>
              <a:rPr lang="en-US" altLang="zh-CN" dirty="0" err="1">
                <a:ea typeface="宋体" panose="02010600030101010101" pitchFamily="2" charset="-122"/>
              </a:rPr>
              <a:t>是自反的，则</a:t>
            </a:r>
            <a:r>
              <a:rPr lang="zh-CN" altLang="en-US" dirty="0">
                <a:ea typeface="宋体" panose="02010600030101010101" pitchFamily="2" charset="-122"/>
              </a:rPr>
              <a:t>是        自反的。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（2）若 R,S </a:t>
            </a:r>
            <a:r>
              <a:rPr lang="en-US" altLang="zh-CN" dirty="0" err="1">
                <a:ea typeface="宋体" panose="02010600030101010101" pitchFamily="2" charset="-122"/>
              </a:rPr>
              <a:t>是传递的，则</a:t>
            </a:r>
            <a:r>
              <a:rPr lang="zh-CN" altLang="en-US" dirty="0">
                <a:ea typeface="宋体" panose="02010600030101010101" pitchFamily="2" charset="-122"/>
              </a:rPr>
              <a:t>是        传递的。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D637A01-1A5F-462E-9858-9CDDDE17C623}" type="slidenum">
              <a:rPr lang="en-US" altLang="zh-CN" sz="1200">
                <a:latin typeface="Verdana" panose="020B0604030504040204" pitchFamily="34" charset="0"/>
              </a:rPr>
              <a:t>55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graphicFrame>
        <p:nvGraphicFramePr>
          <p:cNvPr id="56325" name="Object 2"/>
          <p:cNvGraphicFramePr>
            <a:graphicFrameLocks noChangeAspect="1"/>
          </p:cNvGraphicFramePr>
          <p:nvPr/>
        </p:nvGraphicFramePr>
        <p:xfrm>
          <a:off x="5486354" y="2590800"/>
          <a:ext cx="838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2900" imgH="177800" progId="Equation.DSMT4">
                  <p:embed/>
                </p:oleObj>
              </mc:Choice>
              <mc:Fallback>
                <p:oleObj r:id="rId2" imgW="342900" imgH="17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354" y="2590800"/>
                        <a:ext cx="8382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3"/>
          <p:cNvGraphicFramePr>
            <a:graphicFrameLocks noChangeAspect="1"/>
          </p:cNvGraphicFramePr>
          <p:nvPr/>
        </p:nvGraphicFramePr>
        <p:xfrm>
          <a:off x="5486354" y="3146421"/>
          <a:ext cx="838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42900" imgH="177800" progId="Equation.DSMT4">
                  <p:embed/>
                </p:oleObj>
              </mc:Choice>
              <mc:Fallback>
                <p:oleObj r:id="rId4" imgW="342900" imgH="177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354" y="3146421"/>
                        <a:ext cx="8382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应用3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156" name="内容占位符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457200" y="1419225"/>
            <a:ext cx="8382000" cy="5438775"/>
          </a:xfrm>
          <a:blipFill>
            <a:blip r:embed="rId2"/>
            <a:stretch>
              <a:fillRect l="-1818" t="-1794" r="-1818" b="-4148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F3639FF-E0D6-45D2-BA94-7FEB2AFCE768}" type="slidenum">
              <a:rPr lang="en-US" altLang="zh-CN" sz="1200">
                <a:latin typeface="Verdana" panose="020B0604030504040204" pitchFamily="34" charset="0"/>
              </a:rPr>
              <a:t>56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p:graphicFrame>
        <p:nvGraphicFramePr>
          <p:cNvPr id="57349" name="Object 2"/>
          <p:cNvGraphicFramePr>
            <a:graphicFrameLocks noChangeAspect="1"/>
          </p:cNvGraphicFramePr>
          <p:nvPr/>
        </p:nvGraphicFramePr>
        <p:xfrm>
          <a:off x="5181600" y="1524000"/>
          <a:ext cx="838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42900" imgH="177800" progId="Equation.DSMT4">
                  <p:embed/>
                </p:oleObj>
              </mc:Choice>
              <mc:Fallback>
                <p:oleObj r:id="rId3" imgW="342900" imgH="17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524000"/>
                        <a:ext cx="8382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3"/>
          <p:cNvGraphicFramePr>
            <a:graphicFrameLocks noChangeAspect="1"/>
          </p:cNvGraphicFramePr>
          <p:nvPr/>
        </p:nvGraphicFramePr>
        <p:xfrm>
          <a:off x="5257800" y="3657600"/>
          <a:ext cx="838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42900" imgH="177800" progId="Equation.DSMT4">
                  <p:embed/>
                </p:oleObj>
              </mc:Choice>
              <mc:Fallback>
                <p:oleObj r:id="rId5" imgW="342900" imgH="177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657600"/>
                        <a:ext cx="8382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4"/>
          <p:cNvGraphicFramePr>
            <a:graphicFrameLocks noChangeAspect="1"/>
          </p:cNvGraphicFramePr>
          <p:nvPr/>
        </p:nvGraphicFramePr>
        <p:xfrm>
          <a:off x="3429000" y="2057400"/>
          <a:ext cx="9477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68300" imgH="177800" progId="Equation.DSMT4">
                  <p:embed/>
                </p:oleObj>
              </mc:Choice>
              <mc:Fallback>
                <p:oleObj r:id="rId6" imgW="368300" imgH="177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057400"/>
                        <a:ext cx="9477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2" name="Object 5"/>
          <p:cNvGraphicFramePr>
            <a:graphicFrameLocks noChangeAspect="1"/>
          </p:cNvGraphicFramePr>
          <p:nvPr/>
        </p:nvGraphicFramePr>
        <p:xfrm>
          <a:off x="1422400" y="2540000"/>
          <a:ext cx="372586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47165" imgH="203200" progId="Equation.DSMT4">
                  <p:embed/>
                </p:oleObj>
              </mc:Choice>
              <mc:Fallback>
                <p:oleObj r:id="rId8" imgW="1447165" imgH="20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2540000"/>
                        <a:ext cx="3725863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Object 6"/>
          <p:cNvGraphicFramePr>
            <a:graphicFrameLocks noChangeAspect="1"/>
          </p:cNvGraphicFramePr>
          <p:nvPr/>
        </p:nvGraphicFramePr>
        <p:xfrm>
          <a:off x="1676400" y="3048000"/>
          <a:ext cx="23526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914400" imgH="203200" progId="Equation.DSMT4">
                  <p:embed/>
                </p:oleObj>
              </mc:Choice>
              <mc:Fallback>
                <p:oleObj r:id="rId10" imgW="914400" imgH="203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048000"/>
                        <a:ext cx="235267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4" name="Object 7"/>
          <p:cNvGraphicFramePr>
            <a:graphicFrameLocks noChangeAspect="1"/>
          </p:cNvGraphicFramePr>
          <p:nvPr/>
        </p:nvGraphicFramePr>
        <p:xfrm>
          <a:off x="5257800" y="3048000"/>
          <a:ext cx="838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42900" imgH="177800" progId="Equation.DSMT4">
                  <p:embed/>
                </p:oleObj>
              </mc:Choice>
              <mc:Fallback>
                <p:oleObj r:id="rId12" imgW="342900" imgH="177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048000"/>
                        <a:ext cx="8382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5" name="Object 8"/>
          <p:cNvGraphicFramePr>
            <a:graphicFrameLocks noChangeAspect="1"/>
          </p:cNvGraphicFramePr>
          <p:nvPr/>
        </p:nvGraphicFramePr>
        <p:xfrm>
          <a:off x="3048000" y="4191000"/>
          <a:ext cx="48339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841500" imgH="203200" progId="Equation.DSMT4">
                  <p:embed/>
                </p:oleObj>
              </mc:Choice>
              <mc:Fallback>
                <p:oleObj r:id="rId13" imgW="1841500" imgH="203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191000"/>
                        <a:ext cx="48339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6" name="Object 9"/>
          <p:cNvGraphicFramePr>
            <a:graphicFrameLocks noChangeAspect="1"/>
          </p:cNvGraphicFramePr>
          <p:nvPr/>
        </p:nvGraphicFramePr>
        <p:xfrm>
          <a:off x="914400" y="4800600"/>
          <a:ext cx="35004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333500" imgH="203200" progId="Equation.DSMT4">
                  <p:embed/>
                </p:oleObj>
              </mc:Choice>
              <mc:Fallback>
                <p:oleObj r:id="rId15" imgW="1333500" imgH="203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800600"/>
                        <a:ext cx="35004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7" name="Object 10"/>
          <p:cNvGraphicFramePr>
            <a:graphicFrameLocks noChangeAspect="1"/>
          </p:cNvGraphicFramePr>
          <p:nvPr/>
        </p:nvGraphicFramePr>
        <p:xfrm>
          <a:off x="914400" y="5362575"/>
          <a:ext cx="52339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993900" imgH="203200" progId="Equation.DSMT4">
                  <p:embed/>
                </p:oleObj>
              </mc:Choice>
              <mc:Fallback>
                <p:oleObj r:id="rId17" imgW="1993900" imgH="203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362575"/>
                        <a:ext cx="52339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练习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9CF65B-E654-48C4-BB6E-9412BBEA5F75}" type="slidenum">
              <a:rPr lang="en-US" altLang="zh-CN" sz="1200">
                <a:latin typeface="Verdana" panose="020B0604030504040204" pitchFamily="34" charset="0"/>
              </a:rPr>
              <a:t>57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19112" y="1330775"/>
                <a:ext cx="8548570" cy="48799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5.</a:t>
                </a:r>
                <a:r>
                  <a:rPr lang="zh-CN" altLang="en-US" dirty="0"/>
                  <a:t>令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={&lt;1,2&gt;,&lt;1,3&gt;,&lt;2,2&gt;,&lt;2,3&gt;,&lt;3,3&gt;}</m:t>
                    </m:r>
                  </m:oMath>
                </a14:m>
                <a:r>
                  <a:rPr lang="en-US" altLang="zh-CN" sz="3200" dirty="0"/>
                  <a:t>,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={&lt;1,0&gt;,&lt;1,3&gt;,&lt;2,0&gt;,&lt;2,3&gt;,&lt;3,3&gt;}</m:t>
                    </m:r>
                  </m:oMath>
                </a14:m>
                <a:r>
                  <a:rPr lang="en-US" altLang="zh-CN" dirty="0"/>
                  <a:t> , 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 =______。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112" y="1330775"/>
                <a:ext cx="8548570" cy="4879975"/>
              </a:xfrm>
              <a:blipFill>
                <a:blip r:embed="rId2"/>
                <a:stretch>
                  <a:fillRect l="-1780" t="-2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练习</a:t>
            </a:r>
            <a:endParaRPr lang="zh-CN" altLang="en-US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563" name="内容占位符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419225"/>
                <a:ext cx="8382000" cy="4879975"/>
              </a:xfrm>
            </p:spPr>
            <p:txBody>
              <a:bodyPr/>
              <a:lstStyle/>
              <a:p>
                <a:pPr>
                  <a:buNone/>
                </a:pPr>
                <a:r>
                  <a:rPr lang="en-US" altLang="zh-CN" dirty="0">
                    <a:ea typeface="宋体" panose="02010600030101010101" pitchFamily="2" charset="-122"/>
                  </a:rPr>
                  <a:t>6.A={ l，m，n }，B={ a，b，c }，C={ x，y，z }。R：A→B，S：B→C，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𝑅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={ &lt;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𝑙</m:t>
                    </m:r>
                    <m:r>
                      <a:rPr lang="zh-CN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&gt;,&lt;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𝑚</m:t>
                    </m:r>
                    <m:r>
                      <a:rPr lang="zh-CN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𝑎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&gt;,&lt;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𝑛</m:t>
                    </m:r>
                    <m:r>
                      <a:rPr lang="zh-CN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𝑐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&gt; }</m:t>
                    </m:r>
                  </m:oMath>
                </a14:m>
                <a:r>
                  <a:rPr lang="zh-CN" altLang="zh-CN" dirty="0">
                    <a:ea typeface="宋体" panose="02010600030101010101" pitchFamily="2" charset="-122"/>
                  </a:rPr>
                  <a:t> 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={&lt;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&gt;,&lt;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&gt;,&lt;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&gt;,&lt;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&gt;} </m:t>
                    </m:r>
                  </m:oMath>
                </a14:m>
                <a:r>
                  <a:rPr lang="zh-CN" altLang="en-US" dirty="0">
                    <a:ea typeface="宋体" panose="02010600030101010101" pitchFamily="2" charset="-122"/>
                  </a:rPr>
                  <a:t>，</a:t>
                </a:r>
                <a:r>
                  <a:rPr lang="en-US" altLang="zh-CN" dirty="0">
                    <a:ea typeface="宋体" panose="02010600030101010101" pitchFamily="2" charset="-122"/>
                  </a:rPr>
                  <a:t>SоR</a:t>
                </a:r>
                <a:r>
                  <a:rPr lang="en-US" altLang="zh-CN" dirty="0" err="1">
                    <a:ea typeface="宋体" panose="02010600030101010101" pitchFamily="2" charset="-122"/>
                  </a:rPr>
                  <a:t>=？</a:t>
                </a:r>
                <a:endParaRPr lang="en-US" altLang="zh-CN" dirty="0">
                  <a:ea typeface="宋体" panose="02010600030101010101" pitchFamily="2" charset="-122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6656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9225"/>
                <a:ext cx="8382000" cy="4879975"/>
              </a:xfrm>
              <a:blipFill>
                <a:blip r:embed="rId2"/>
                <a:stretch>
                  <a:fillRect l="-1818" t="-2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38425F1-62A8-4B3C-8563-78C7949CDA76}" type="slidenum">
              <a:rPr lang="en-US" altLang="zh-CN" sz="1200">
                <a:latin typeface="Verdana" panose="020B0604030504040204" pitchFamily="34" charset="0"/>
              </a:rPr>
              <a:t>58</a:t>
            </a:fld>
            <a:endParaRPr lang="en-US" altLang="zh-CN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3368C3-A02C-4447-B712-91B45ACC5F43}" type="slidenum">
              <a:rPr lang="en-US" altLang="zh-CN" sz="1200"/>
              <a:t>59</a:t>
            </a:fld>
            <a:endParaRPr lang="en-US" altLang="zh-CN" sz="1200"/>
          </a:p>
        </p:txBody>
      </p:sp>
      <p:sp>
        <p:nvSpPr>
          <p:cNvPr id="82947" name="Rectangle 12"/>
          <p:cNvSpPr txBox="1">
            <a:spLocks noGrp="1" noChangeArrowheads="1"/>
          </p:cNvSpPr>
          <p:nvPr/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655F57F-5FAF-4A1A-8491-A583FF6D060B}" type="slidenum">
              <a:rPr lang="en-US" altLang="zh-CN" sz="1200"/>
              <a:t>59</a:t>
            </a:fld>
            <a:endParaRPr lang="en-US" altLang="zh-CN" sz="1200"/>
          </a:p>
        </p:txBody>
      </p:sp>
      <p:sp>
        <p:nvSpPr>
          <p:cNvPr id="82948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19400" y="4953000"/>
            <a:ext cx="5167313" cy="414338"/>
          </a:xfrm>
        </p:spPr>
        <p:txBody>
          <a:bodyPr/>
          <a:lstStyle/>
          <a:p>
            <a:pPr algn="dist" eaLnBrk="1" hangingPunct="1">
              <a:lnSpc>
                <a:spcPct val="80000"/>
              </a:lnSpc>
            </a:pPr>
            <a:r>
              <a:rPr lang="en-US" altLang="zh-CN" sz="18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点击编辑公司标语。</a:t>
            </a:r>
          </a:p>
        </p:txBody>
      </p:sp>
      <p:sp>
        <p:nvSpPr>
          <p:cNvPr id="56325" name="WordArt 3"/>
          <p:cNvSpPr>
            <a:spLocks noChangeArrowheads="1" noChangeShapeType="1" noTextEdit="1"/>
          </p:cNvSpPr>
          <p:nvPr/>
        </p:nvSpPr>
        <p:spPr bwMode="auto">
          <a:xfrm>
            <a:off x="1219200" y="4572000"/>
            <a:ext cx="68580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第 3.1 节结束 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mple">
  <a:themeElements>
    <a:clrScheme name="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ample">
  <a:themeElements>
    <a:clrScheme name="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顶级ppt模版1</Template>
  <TotalTime>41</TotalTime>
  <Words>3282</Words>
  <Application>Microsoft Macintosh PowerPoint</Application>
  <PresentationFormat>全屏显示(4:3)</PresentationFormat>
  <Paragraphs>389</Paragraphs>
  <Slides>59</Slides>
  <Notes>3</Notes>
  <HiddenSlides>0</HiddenSlides>
  <MMClips>1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59</vt:i4>
      </vt:variant>
    </vt:vector>
  </HeadingPairs>
  <TitlesOfParts>
    <vt:vector size="74" baseType="lpstr">
      <vt:lpstr>宋体</vt:lpstr>
      <vt:lpstr>Arial Unicode MS</vt:lpstr>
      <vt:lpstr>Arial</vt:lpstr>
      <vt:lpstr>Arial Black</vt:lpstr>
      <vt:lpstr>Calibri</vt:lpstr>
      <vt:lpstr>Cambria Math</vt:lpstr>
      <vt:lpstr>MT Extra</vt:lpstr>
      <vt:lpstr>Symbol</vt:lpstr>
      <vt:lpstr>Times New Roman</vt:lpstr>
      <vt:lpstr>Verdana</vt:lpstr>
      <vt:lpstr>Wingdings</vt:lpstr>
      <vt:lpstr>sample</vt:lpstr>
      <vt:lpstr>1_sample</vt:lpstr>
      <vt:lpstr>Equation.DSMT4</vt:lpstr>
      <vt:lpstr>Equation</vt:lpstr>
      <vt:lpstr>离散数学</vt:lpstr>
      <vt:lpstr>PowerPoint 演示文稿</vt:lpstr>
      <vt:lpstr>目录</vt:lpstr>
      <vt:lpstr>PowerPoint 演示文稿</vt:lpstr>
      <vt:lpstr>示例1 </vt:lpstr>
      <vt:lpstr>二元关系</vt:lpstr>
      <vt:lpstr>示例 2</vt:lpstr>
      <vt:lpstr>示例 3</vt:lpstr>
      <vt:lpstr>逆关系</vt:lpstr>
      <vt:lpstr>练习</vt:lpstr>
      <vt:lpstr>PowerPoint 演示文稿</vt:lpstr>
      <vt:lpstr>函数性</vt:lpstr>
      <vt:lpstr>函数性</vt:lpstr>
      <vt:lpstr>函数性</vt:lpstr>
      <vt:lpstr>集合上的关系</vt:lpstr>
      <vt:lpstr>集合上的关系</vt:lpstr>
      <vt:lpstr>示例 4</vt:lpstr>
      <vt:lpstr>练习</vt:lpstr>
      <vt:lpstr>PowerPoint 演示文稿</vt:lpstr>
      <vt:lpstr>自反</vt:lpstr>
      <vt:lpstr>自反</vt:lpstr>
      <vt:lpstr>自反性</vt:lpstr>
      <vt:lpstr>自反性</vt:lpstr>
      <vt:lpstr>示例5</vt:lpstr>
      <vt:lpstr>对称 </vt:lpstr>
      <vt:lpstr>对称</vt:lpstr>
      <vt:lpstr>对称</vt:lpstr>
      <vt:lpstr>反对称</vt:lpstr>
      <vt:lpstr>反对称</vt:lpstr>
      <vt:lpstr>反对称</vt:lpstr>
      <vt:lpstr>传递性</vt:lpstr>
      <vt:lpstr>传递性</vt:lpstr>
      <vt:lpstr>传递性</vt:lpstr>
      <vt:lpstr>传递性</vt:lpstr>
      <vt:lpstr>传递性</vt:lpstr>
      <vt:lpstr>传递性</vt:lpstr>
      <vt:lpstr>传递性</vt:lpstr>
      <vt:lpstr>应用</vt:lpstr>
      <vt:lpstr>应用1</vt:lpstr>
      <vt:lpstr>练习</vt:lpstr>
      <vt:lpstr>练习</vt:lpstr>
      <vt:lpstr>练习</vt:lpstr>
      <vt:lpstr>PowerPoint 演示文稿</vt:lpstr>
      <vt:lpstr>复合关系</vt:lpstr>
      <vt:lpstr>复合关系</vt:lpstr>
      <vt:lpstr>复合关系</vt:lpstr>
      <vt:lpstr>示例6</vt:lpstr>
      <vt:lpstr>PowerPoint 演示文稿</vt:lpstr>
      <vt:lpstr>复合关系</vt:lpstr>
      <vt:lpstr>复合关系</vt:lpstr>
      <vt:lpstr>复合关系</vt:lpstr>
      <vt:lpstr>复合关系</vt:lpstr>
      <vt:lpstr>应用2</vt:lpstr>
      <vt:lpstr>应用2</vt:lpstr>
      <vt:lpstr>应用3</vt:lpstr>
      <vt:lpstr>应用3</vt:lpstr>
      <vt:lpstr>练习</vt:lpstr>
      <vt:lpstr>练习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keywords>, docId:69318BCFA4D6E5C2109DBB82C4132BE3</cp:keywords>
  <cp:lastModifiedBy>Ying Su</cp:lastModifiedBy>
  <cp:revision>395</cp:revision>
  <dcterms:created xsi:type="dcterms:W3CDTF">2019-08-28T06:42:00Z</dcterms:created>
  <dcterms:modified xsi:type="dcterms:W3CDTF">2026-09-27T04:18:52Z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2052-12.1.0.20784</vt:lpwstr>
  </property>
  <property fmtid="{D5CDD505-2E9C-101B-9397-08002B2CF9AE}" pid="4" name="ICV">
    <vt:lpwstr>7ABA0A4969A04D5B84B6EF3CC1D4ED11_12</vt:lpwstr>
  </property>
</Properties>
</file>