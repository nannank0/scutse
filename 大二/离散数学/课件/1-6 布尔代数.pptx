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7" r:id="rId2"/>
    <p:sldId id="269" r:id="rId3"/>
    <p:sldId id="364" r:id="rId4"/>
    <p:sldId id="270" r:id="rId5"/>
    <p:sldId id="363" r:id="rId6"/>
    <p:sldId id="365" r:id="rId7"/>
    <p:sldId id="272" r:id="rId8"/>
    <p:sldId id="273" r:id="rId9"/>
    <p:sldId id="274" r:id="rId10"/>
    <p:sldId id="275" r:id="rId11"/>
    <p:sldId id="299" r:id="rId12"/>
    <p:sldId id="276" r:id="rId13"/>
    <p:sldId id="371" r:id="rId14"/>
    <p:sldId id="373" r:id="rId15"/>
    <p:sldId id="277" r:id="rId16"/>
    <p:sldId id="278" r:id="rId17"/>
    <p:sldId id="375" r:id="rId18"/>
    <p:sldId id="377" r:id="rId19"/>
    <p:sldId id="379" r:id="rId20"/>
    <p:sldId id="366" r:id="rId21"/>
    <p:sldId id="279" r:id="rId22"/>
    <p:sldId id="367" r:id="rId23"/>
    <p:sldId id="280" r:id="rId24"/>
    <p:sldId id="281" r:id="rId25"/>
    <p:sldId id="368" r:id="rId26"/>
    <p:sldId id="282" r:id="rId27"/>
    <p:sldId id="283" r:id="rId28"/>
    <p:sldId id="284" r:id="rId29"/>
    <p:sldId id="285" r:id="rId30"/>
    <p:sldId id="369" r:id="rId31"/>
    <p:sldId id="286" r:id="rId32"/>
    <p:sldId id="287" r:id="rId33"/>
    <p:sldId id="288" r:id="rId34"/>
    <p:sldId id="268" r:id="rId3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8E8E8"/>
    <a:srgbClr val="000000"/>
    <a:srgbClr val="8E2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27"/>
    <p:restoredTop sz="88036"/>
  </p:normalViewPr>
  <p:slideViewPr>
    <p:cSldViewPr showGuides="1">
      <p:cViewPr varScale="1">
        <p:scale>
          <a:sx n="110" d="100"/>
          <a:sy n="110" d="100"/>
        </p:scale>
        <p:origin x="704" y="176"/>
      </p:cViewPr>
      <p:guideLst>
        <p:guide orient="horz" pos="219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noProof="1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4FA7CE-D1E4-4BA1-819E-14A31566B8AA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2026/9/10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  <a:t>‹#›</a:t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11</a:t>
            </a:fld>
            <a:endParaRPr lang="en-US" altLang="zh-CN" sz="1200" dirty="0"/>
          </a:p>
        </p:txBody>
      </p:sp>
      <p:sp>
        <p:nvSpPr>
          <p:cNvPr id="153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en-US" altLang="zh-CN" dirty="0"/>
              <a:t>p:msoffice\My Projects\Rosen 6e 2007\Imagebank\JPEGs07-24-06\ch11\jpeg\11_1_01.jpg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a1"/>
          <p:cNvSpPr>
            <a:spLocks noChangeArrowheads="1"/>
          </p:cNvSpPr>
          <p:nvPr/>
        </p:nvSpPr>
        <p:spPr bwMode="gray">
          <a:xfrm>
            <a:off x="2286000" y="0"/>
            <a:ext cx="2286000" cy="31242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gray">
          <a:xfrm>
            <a:off x="0" y="0"/>
            <a:ext cx="2209800" cy="312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648200" y="0"/>
            <a:ext cx="2209800" cy="312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 descr="a2"/>
          <p:cNvSpPr>
            <a:spLocks noChangeArrowheads="1"/>
          </p:cNvSpPr>
          <p:nvPr/>
        </p:nvSpPr>
        <p:spPr bwMode="gray">
          <a:xfrm>
            <a:off x="6934200" y="0"/>
            <a:ext cx="2209800" cy="3124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gray"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gray"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444500" y="2514600"/>
            <a:ext cx="17653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L o g o</a:t>
            </a:r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ctrTitle"/>
          </p:nvPr>
        </p:nvSpPr>
        <p:spPr>
          <a:xfrm>
            <a:off x="2286000" y="3048000"/>
            <a:ext cx="6705600" cy="685800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8201" name="Rectangle 9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286000" y="3886200"/>
            <a:ext cx="6719888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000">
                <a:latin typeface="Verdana" panose="020B0604030504040204" pitchFamily="34" charset="0"/>
              </a:defRPr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551613"/>
            <a:ext cx="2133600" cy="169863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1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553200"/>
            <a:ext cx="2895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>
                <a:effectLst/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6553200"/>
            <a:ext cx="2133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  <a:t>‹#›</a:t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www.themegallery.com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</a:rPr>
              <a:t>‹#›</a:t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www.themegallery.com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</a:rPr>
              <a:t>‹#›</a:t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www.themegallery.com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</a:rPr>
              <a:t>‹#›</a:t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www.themegallery.com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</a:rPr>
              <a:t>‹#›</a:t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www.themegallery.com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</a:rPr>
              <a:t>‹#›</a:t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www.themegallery.com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</a:rPr>
              <a:t>‹#›</a:t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www.themegallery.com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</a:rPr>
              <a:t>‹#›</a:t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www.themegallery.com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</a:rPr>
              <a:t>‹#›</a:t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www.themegallery.com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</a:rPr>
              <a:t>‹#›</a:t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www.themegallery.com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</a:rPr>
              <a:t>‹#›</a:t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a1"/>
          <p:cNvSpPr>
            <a:spLocks noChangeArrowheads="1"/>
          </p:cNvSpPr>
          <p:nvPr/>
        </p:nvSpPr>
        <p:spPr bwMode="gray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gray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 descr="a2"/>
          <p:cNvSpPr>
            <a:spLocks noChangeArrowheads="1"/>
          </p:cNvSpPr>
          <p:nvPr/>
        </p:nvSpPr>
        <p:spPr bwMode="gray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1" name="Group 7"/>
          <p:cNvGrpSpPr/>
          <p:nvPr/>
        </p:nvGrpSpPr>
        <p:grpSpPr>
          <a:xfrm>
            <a:off x="0" y="685800"/>
            <a:ext cx="9144000" cy="609600"/>
            <a:chOff x="0" y="432"/>
            <a:chExt cx="5760" cy="384"/>
          </a:xfrm>
        </p:grpSpPr>
        <p:sp>
          <p:nvSpPr>
            <p:cNvPr id="1038" name="Rectangle 8"/>
            <p:cNvSpPr>
              <a:spLocks noChangeArrowheads="1"/>
            </p:cNvSpPr>
            <p:nvPr/>
          </p:nvSpPr>
          <p:spPr bwMode="gray">
            <a:xfrm>
              <a:off x="0" y="432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Rectangle 9"/>
            <p:cNvSpPr>
              <a:spLocks noChangeArrowheads="1"/>
            </p:cNvSpPr>
            <p:nvPr/>
          </p:nvSpPr>
          <p:spPr bwMode="gray">
            <a:xfrm>
              <a:off x="362" y="432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32" name="Rectangle 10"/>
          <p:cNvSpPr>
            <a:spLocks noGrp="1"/>
          </p:cNvSpPr>
          <p:nvPr>
            <p:ph type="body"/>
          </p:nvPr>
        </p:nvSpPr>
        <p:spPr>
          <a:xfrm>
            <a:off x="457200" y="1419225"/>
            <a:ext cx="8229600" cy="48799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www.themegallery.com</a:t>
            </a:r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公司标志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</a:rPr>
              <a:t>‹#›</a:t>
            </a:fld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36" name="Rectangle 14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7" name="Text Box 15"/>
          <p:cNvSpPr txBox="1">
            <a:spLocks noChangeArrowheads="1"/>
          </p:cNvSpPr>
          <p:nvPr/>
        </p:nvSpPr>
        <p:spPr bwMode="auto">
          <a:xfrm>
            <a:off x="7391400" y="76200"/>
            <a:ext cx="17653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2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ctrTitle"/>
          </p:nvPr>
        </p:nvSpPr>
        <p:spPr>
          <a:xfrm>
            <a:off x="2286000" y="2743200"/>
            <a:ext cx="6705600" cy="990600"/>
          </a:xfrm>
        </p:spPr>
        <p:txBody>
          <a:bodyPr vert="horz" wrap="square" lIns="91440" tIns="45720" rIns="91440" bIns="45720" anchor="b" anchorCtr="0"/>
          <a:lstStyle/>
          <a:p>
            <a:pPr eaLnBrk="1" hangingPunct="1">
              <a:buClrTx/>
              <a:buSzTx/>
              <a:buFontTx/>
            </a:pP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离散数学</a:t>
            </a:r>
          </a:p>
        </p:txBody>
      </p:sp>
      <p:sp>
        <p:nvSpPr>
          <p:cNvPr id="5124" name="Rectangle 3"/>
          <p:cNvSpPr>
            <a:spLocks noGrp="1"/>
          </p:cNvSpPr>
          <p:nvPr>
            <p:ph type="subTitle" idx="1"/>
          </p:nvPr>
        </p:nvSpPr>
        <p:spPr>
          <a:xfrm>
            <a:off x="1295400" y="5715000"/>
            <a:ext cx="6719888" cy="381000"/>
          </a:xfrm>
        </p:spPr>
        <p:txBody>
          <a:bodyPr vert="horz" wrap="square" lIns="91440" tIns="45720" rIns="91440" bIns="45720" anchor="t" anchorCtr="0"/>
          <a:lstStyle/>
          <a:p>
            <a:pPr algn="ctr" eaLnBrk="1" hangingPunct="1">
              <a:lnSpc>
                <a:spcPct val="90000"/>
              </a:lnSpc>
              <a:buSzTx/>
            </a:pPr>
            <a:r>
              <a:rPr lang="en-US" altLang="zh-CN" b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华南理工大学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2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type="subTitle" idx="1"/>
          </p:nvPr>
        </p:nvSpPr>
        <p:spPr>
          <a:xfrm>
            <a:off x="2819400" y="4953000"/>
            <a:ext cx="5167313" cy="414338"/>
          </a:xfrm>
        </p:spPr>
        <p:txBody>
          <a:bodyPr vert="horz" wrap="square" lIns="91440" tIns="45720" rIns="91440" bIns="45720" anchor="t" anchorCtr="0"/>
          <a:lstStyle/>
          <a:p>
            <a:pPr algn="dist" eaLnBrk="1" hangingPunct="1">
              <a:lnSpc>
                <a:spcPct val="80000"/>
              </a:lnSpc>
              <a:buSzTx/>
            </a:pPr>
            <a:r>
              <a:rPr lang="en-US" altLang="zh-CN" sz="1800" b="1" dirty="0">
                <a:solidFill>
                  <a:schemeClr val="bg1"/>
                </a:solidFill>
                <a:latin typeface="+mn-lt"/>
                <a:ea typeface="宋体" panose="02010600030101010101" pitchFamily="2" charset="-122"/>
                <a:cs typeface="+mn-cs"/>
              </a:rPr>
              <a:t>点击编辑公司标语。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000500" y="6073775"/>
            <a:ext cx="14478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第 1.6 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14496" y="4512934"/>
            <a:ext cx="7619795" cy="11416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7200" b="1" i="0" u="none" strike="noStrike" kern="10" cap="none" spc="0" normalizeH="0" baseline="0" noProof="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uLnTx/>
                <a:uFillTx/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布尔代数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7FFB573-D332-42B8-9B47-633171DCBE4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目录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7172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362200" y="159607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73" name="AutoShap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81200" y="1477010"/>
            <a:ext cx="685800" cy="685800"/>
          </a:xfrm>
          <a:prstGeom prst="diamond">
            <a:avLst/>
          </a:prstGeom>
          <a:solidFill>
            <a:schemeClr val="accent2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74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90800" y="1651635"/>
            <a:ext cx="403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/>
              <a:t>布尔函数</a:t>
            </a:r>
          </a:p>
        </p:txBody>
      </p:sp>
      <p:sp>
        <p:nvSpPr>
          <p:cNvPr id="7175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35188" y="1575435"/>
            <a:ext cx="3540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176" name="AutoShap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362200" y="243427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77" name="AutoShap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981200" y="2315210"/>
            <a:ext cx="685800" cy="685800"/>
          </a:xfrm>
          <a:prstGeom prst="diamond">
            <a:avLst/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78" name="Text Box 9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667000" y="2489835"/>
            <a:ext cx="396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/>
              <a:t>对偶性</a:t>
            </a:r>
          </a:p>
        </p:txBody>
      </p:sp>
      <p:sp>
        <p:nvSpPr>
          <p:cNvPr id="7179" name="Text Box 10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135188" y="2413635"/>
            <a:ext cx="3540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180" name="AutoShap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362200" y="327247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81" name="AutoShap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981200" y="3153410"/>
            <a:ext cx="685800" cy="685800"/>
          </a:xfrm>
          <a:prstGeom prst="diamond">
            <a:avLst/>
          </a:prstGeom>
          <a:solidFill>
            <a:schemeClr val="hlink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82" name="Text Box 13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590800" y="3328035"/>
            <a:ext cx="396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b="1"/>
              <a:t>  </a:t>
            </a:r>
            <a:r>
              <a:rPr lang="zh-CN" altLang="en-US" sz="1800" b="1"/>
              <a:t>布尔代数的抽象定义</a:t>
            </a:r>
          </a:p>
        </p:txBody>
      </p:sp>
      <p:sp>
        <p:nvSpPr>
          <p:cNvPr id="7183" name="Text Box 14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135188" y="3251835"/>
            <a:ext cx="3540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184" name="AutoShape 15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362200" y="411067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85" name="AutoShape 16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981200" y="3991610"/>
            <a:ext cx="685800" cy="685800"/>
          </a:xfrm>
          <a:prstGeom prst="diamond">
            <a:avLst/>
          </a:prstGeom>
          <a:solidFill>
            <a:schemeClr val="tx1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86" name="Text Box 17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667000" y="4166235"/>
            <a:ext cx="396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/>
              <a:t>布尔函数的表示</a:t>
            </a:r>
          </a:p>
        </p:txBody>
      </p:sp>
      <p:sp>
        <p:nvSpPr>
          <p:cNvPr id="7187" name="Text Box 18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135188" y="4090035"/>
            <a:ext cx="3540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188" name="AutoShape 19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362200" y="494887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89" name="AutoShape 20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1981200" y="4829810"/>
            <a:ext cx="685800" cy="685800"/>
          </a:xfrm>
          <a:prstGeom prst="diamond">
            <a:avLst/>
          </a:prstGeom>
          <a:solidFill>
            <a:srgbClr val="FF99FF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90" name="Text Box 21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590800" y="5004435"/>
            <a:ext cx="4114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/>
              <a:t>函数完备性、可逆布尔函数、量子逻辑</a:t>
            </a:r>
          </a:p>
        </p:txBody>
      </p:sp>
      <p:sp>
        <p:nvSpPr>
          <p:cNvPr id="7191" name="Text Box 22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135188" y="4928235"/>
            <a:ext cx="3540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Text Box 10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133442" y="5795010"/>
            <a:ext cx="3524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EF730C-A90C-4D97-9B41-0931FAA659F8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4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什么是布尔代数？</a:t>
            </a:r>
          </a:p>
        </p:txBody>
      </p:sp>
      <p:sp>
        <p:nvSpPr>
          <p:cNvPr id="7174" name="Rectangle 3"/>
          <p:cNvSpPr>
            <a:spLocks noGrp="1"/>
          </p:cNvSpPr>
          <p:nvPr>
            <p:ph idx="1"/>
          </p:nvPr>
        </p:nvSpPr>
        <p:spPr>
          <a:xfrm>
            <a:off x="304800" y="1524000"/>
            <a:ext cx="8534400" cy="4572000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命题逻辑的一个小概括。</a:t>
            </a: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一般来说，</a:t>
            </a:r>
            <a:r>
              <a:rPr lang="en-US" altLang="zh-CN" sz="2400" i="1" dirty="0">
                <a:ea typeface="宋体" panose="02010600030101010101" pitchFamily="2" charset="-122"/>
              </a:rPr>
              <a:t>代数</a:t>
            </a:r>
            <a:r>
              <a:rPr lang="en-US" altLang="zh-CN" sz="2400" dirty="0">
                <a:ea typeface="宋体" panose="02010600030101010101" pitchFamily="2" charset="-122"/>
              </a:rPr>
              <a:t>是满足某些标准代数公理的任何数学结构。</a:t>
            </a:r>
          </a:p>
          <a:p>
            <a:pPr lvl="2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如联立/交换/传递定律</a:t>
            </a:r>
            <a:r>
              <a:rPr lang="en-US" altLang="zh-CN" sz="2000" i="1" dirty="0">
                <a:ea typeface="宋体" panose="02010600030101010101" pitchFamily="2" charset="-122"/>
              </a:rPr>
              <a:t>等。</a:t>
            </a: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关于代数的一般定理适用于满足这些公理的</a:t>
            </a:r>
            <a:r>
              <a:rPr lang="en-US" altLang="zh-CN" sz="2400" i="1" dirty="0">
                <a:ea typeface="宋体" panose="02010600030101010101" pitchFamily="2" charset="-122"/>
              </a:rPr>
              <a:t>任何</a:t>
            </a:r>
            <a:r>
              <a:rPr lang="en-US" altLang="zh-CN" sz="2400" dirty="0">
                <a:ea typeface="宋体" panose="02010600030101010101" pitchFamily="2" charset="-122"/>
              </a:rPr>
              <a:t>结构。</a:t>
            </a:r>
          </a:p>
          <a:p>
            <a:pPr>
              <a:lnSpc>
                <a:spcPct val="80000"/>
              </a:lnSpc>
            </a:pPr>
            <a:r>
              <a:rPr lang="en-US" altLang="zh-CN" sz="2800" i="1" dirty="0">
                <a:ea typeface="宋体" panose="02010600030101010101" pitchFamily="2" charset="-122"/>
              </a:rPr>
              <a:t>布尔代数</a:t>
            </a:r>
            <a:r>
              <a:rPr lang="en-US" altLang="zh-CN" sz="2800" dirty="0">
                <a:ea typeface="宋体" panose="02010600030101010101" pitchFamily="2" charset="-122"/>
              </a:rPr>
              <a:t>只是将命题逻辑的规则推广到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{T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,F} </a:t>
            </a:r>
            <a:r>
              <a:rPr lang="en-US" altLang="zh-CN" sz="2800" dirty="0">
                <a:ea typeface="宋体" panose="02010600030101010101" pitchFamily="2" charset="-122"/>
              </a:rPr>
              <a:t>以外的集合。</a:t>
            </a:r>
          </a:p>
          <a:p>
            <a:pPr lvl="1">
              <a:lnSpc>
                <a:spcPct val="80000"/>
              </a:lnSpc>
            </a:pPr>
            <a:r>
              <a:rPr lang="en-US" altLang="zh-CN" sz="2400" i="1" dirty="0">
                <a:ea typeface="宋体" panose="02010600030101010101" pitchFamily="2" charset="-122"/>
              </a:rPr>
              <a:t>例如</a:t>
            </a:r>
            <a:r>
              <a:rPr lang="en-US" altLang="zh-CN" sz="2400" dirty="0">
                <a:ea typeface="宋体" panose="02010600030101010101" pitchFamily="2" charset="-122"/>
              </a:rPr>
              <a:t>，以 2 为基数的数字集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{0,1} </a:t>
            </a:r>
            <a:r>
              <a:rPr lang="en-US" altLang="zh-CN" sz="2400" dirty="0" err="1">
                <a:ea typeface="宋体" panose="02010600030101010101" pitchFamily="2" charset="-122"/>
              </a:rPr>
              <a:t>或电路中的低电平和高电平集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{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 ,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 }</a:t>
            </a:r>
            <a:r>
              <a:rPr lang="en-US" altLang="zh-CN" sz="2400" dirty="0">
                <a:ea typeface="宋体" panose="02010600030101010101" pitchFamily="2" charset="-122"/>
              </a:rPr>
              <a:t>。 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{V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 ,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400" dirty="0">
                <a:ea typeface="宋体" panose="02010600030101010101" pitchFamily="2" charset="-122"/>
              </a:rPr>
              <a:t> } 电路中的低电压和高电压电平。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我们将看到，这种代数观点适用于</a:t>
            </a:r>
            <a:r>
              <a:rPr lang="en-US" altLang="zh-CN" sz="2800" i="1" dirty="0">
                <a:ea typeface="宋体" panose="02010600030101010101" pitchFamily="2" charset="-122"/>
              </a:rPr>
              <a:t>数字逻辑电路</a:t>
            </a:r>
            <a:r>
              <a:rPr lang="en-US" altLang="zh-CN" sz="2800" dirty="0">
                <a:ea typeface="宋体" panose="02010600030101010101" pitchFamily="2" charset="-122"/>
              </a:rPr>
              <a:t>的设计。</a:t>
            </a:r>
          </a:p>
        </p:txBody>
      </p:sp>
      <p:sp>
        <p:nvSpPr>
          <p:cNvPr id="7175" name="Text Box 4"/>
          <p:cNvSpPr txBox="1"/>
          <p:nvPr/>
        </p:nvSpPr>
        <p:spPr>
          <a:xfrm>
            <a:off x="6172200" y="5997575"/>
            <a:ext cx="2447925" cy="860425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克劳德-香农的</a:t>
            </a:r>
            <a:br>
              <a:rPr lang="en-US" altLang="zh-CN" sz="1800" dirty="0">
                <a:ea typeface="宋体" panose="02010600030101010101" pitchFamily="2" charset="-122"/>
              </a:rPr>
            </a:br>
            <a:r>
              <a:rPr lang="en-US" altLang="zh-CN" sz="1800" dirty="0">
                <a:ea typeface="宋体" panose="02010600030101010101" pitchFamily="2" charset="-122"/>
              </a:rPr>
              <a:t>硕士论文！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5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示例 </a:t>
            </a:r>
          </a:p>
        </p:txBody>
      </p:sp>
      <p:pic>
        <p:nvPicPr>
          <p:cNvPr id="8196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1582738"/>
            <a:ext cx="8154987" cy="2787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425AFB2-3253-41D5-8977-1124D6E4526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8196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8198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8203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8204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8199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0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1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2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819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>
                <a:ea typeface="宋体" panose="02010600030101010101" pitchFamily="2" charset="-122"/>
              </a:rPr>
              <a:t>布尔函数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BA90F6-E14E-47B3-AB1D-01EF1F12D84F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7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2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布尔函数</a:t>
            </a:r>
          </a:p>
        </p:txBody>
      </p:sp>
      <p:sp>
        <p:nvSpPr>
          <p:cNvPr id="102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布尔补码、和、乘积。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布尔表达式和函数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布尔代数特性</a:t>
            </a:r>
          </a:p>
          <a:p>
            <a:r>
              <a:rPr lang="zh-CN" altLang="en-US" dirty="0">
                <a:ea typeface="宋体" panose="02010600030101010101" pitchFamily="2" charset="-122"/>
              </a:rPr>
              <a:t>对偶</a:t>
            </a:r>
            <a:r>
              <a:rPr lang="en-US" altLang="zh-CN" dirty="0">
                <a:ea typeface="宋体" panose="02010600030101010101" pitchFamily="2" charset="-122"/>
              </a:rPr>
              <a:t>性。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布尔代数的抽象定义。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2514A6-B48D-4250-93B0-6192E9EC0E4F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8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2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补充、总和、乘积</a:t>
            </a:r>
          </a:p>
        </p:txBody>
      </p:sp>
      <p:sp>
        <p:nvSpPr>
          <p:cNvPr id="1127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对应逻辑 NOT、OR 和 AND。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我们将这两个逻辑值分别表示为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≡F </a:t>
            </a:r>
            <a:r>
              <a:rPr lang="en-US" altLang="zh-CN" dirty="0">
                <a:ea typeface="宋体" panose="02010600030101010101" pitchFamily="2" charset="-122"/>
              </a:rPr>
              <a:t>和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:≡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，而不是 </a:t>
            </a:r>
            <a:r>
              <a:rPr lang="en-US" altLang="zh-CN" b="1" dirty="0">
                <a:ea typeface="宋体" panose="02010600030101010101" pitchFamily="2" charset="-122"/>
              </a:rPr>
              <a:t>False </a:t>
            </a:r>
            <a:r>
              <a:rPr lang="en-US" altLang="zh-CN" dirty="0">
                <a:ea typeface="宋体" panose="02010600030101010101" pitchFamily="2" charset="-122"/>
              </a:rPr>
              <a:t>和 </a:t>
            </a:r>
            <a:r>
              <a:rPr lang="en-US" altLang="zh-CN" b="1" dirty="0">
                <a:ea typeface="宋体" panose="02010600030101010101" pitchFamily="2" charset="-122"/>
              </a:rPr>
              <a:t>True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使用数字鼓励代数思维。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为最常用的布尔运算符添加了新的代数符号： </a:t>
            </a:r>
          </a:p>
        </p:txBody>
      </p:sp>
      <p:graphicFrame>
        <p:nvGraphicFramePr>
          <p:cNvPr id="11271" name="Object 2"/>
          <p:cNvGraphicFramePr>
            <a:graphicFrameLocks noGrp="1"/>
          </p:cNvGraphicFramePr>
          <p:nvPr>
            <p:ph idx="1"/>
          </p:nvPr>
        </p:nvGraphicFramePr>
        <p:xfrm>
          <a:off x="1447800" y="5375275"/>
          <a:ext cx="1219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81965" imgH="165100" progId="Equation.3">
                  <p:embed/>
                </p:oleObj>
              </mc:Choice>
              <mc:Fallback>
                <p:oleObj r:id="rId2" imgW="481965" imgH="165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1447800" y="5375275"/>
                        <a:ext cx="1219200" cy="415925"/>
                      </a:xfrm>
                      <a:prstGeom prst="rect">
                        <a:avLst/>
                      </a:prstGeom>
                      <a:solidFill>
                        <a:srgbClr val="FFCCCC">
                          <a:alpha val="100000"/>
                        </a:srgb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3"/>
          <p:cNvGraphicFramePr>
            <a:graphicFrameLocks noGrp="1"/>
          </p:cNvGraphicFramePr>
          <p:nvPr>
            <p:ph idx="1"/>
          </p:nvPr>
        </p:nvGraphicFramePr>
        <p:xfrm>
          <a:off x="6248400" y="5418138"/>
          <a:ext cx="21336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36930" imgH="177800" progId="Equation.3">
                  <p:embed/>
                </p:oleObj>
              </mc:Choice>
              <mc:Fallback>
                <p:oleObj r:id="rId4" imgW="836930" imgH="1778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>
                      <a:xfrm>
                        <a:off x="6248400" y="5418138"/>
                        <a:ext cx="2133600" cy="449262"/>
                      </a:xfrm>
                      <a:prstGeom prst="rect">
                        <a:avLst/>
                      </a:prstGeom>
                      <a:solidFill>
                        <a:srgbClr val="FFCCCC">
                          <a:alpha val="100000"/>
                        </a:srgb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4"/>
          <p:cNvGraphicFramePr>
            <a:graphicFrameLocks noGrp="1"/>
          </p:cNvGraphicFramePr>
          <p:nvPr>
            <p:ph idx="1"/>
          </p:nvPr>
        </p:nvGraphicFramePr>
        <p:xfrm>
          <a:off x="3505200" y="5429250"/>
          <a:ext cx="20574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73430" imgH="165100" progId="Equation.3">
                  <p:embed/>
                </p:oleObj>
              </mc:Choice>
              <mc:Fallback>
                <p:oleObj r:id="rId6" imgW="773430" imgH="1651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>
                      <a:xfrm>
                        <a:off x="3505200" y="5429250"/>
                        <a:ext cx="2057400" cy="438150"/>
                      </a:xfrm>
                      <a:prstGeom prst="rect">
                        <a:avLst/>
                      </a:prstGeom>
                      <a:solidFill>
                        <a:srgbClr val="FFCCCC">
                          <a:alpha val="100000"/>
                        </a:srgb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Line 10"/>
          <p:cNvSpPr/>
          <p:nvPr/>
        </p:nvSpPr>
        <p:spPr>
          <a:xfrm>
            <a:off x="1981200" y="5867400"/>
            <a:ext cx="5257800" cy="0"/>
          </a:xfrm>
          <a:prstGeom prst="line">
            <a:avLst/>
          </a:prstGeom>
          <a:ln w="57150" cap="flat" cmpd="sng">
            <a:solidFill>
              <a:srgbClr val="0066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75" name="Text Box 11"/>
          <p:cNvSpPr txBox="1"/>
          <p:nvPr/>
        </p:nvSpPr>
        <p:spPr>
          <a:xfrm>
            <a:off x="3276600" y="5943600"/>
            <a:ext cx="2606675" cy="469900"/>
          </a:xfrm>
          <a:prstGeom prst="rect">
            <a:avLst/>
          </a:prstGeom>
          <a:solidFill>
            <a:srgbClr val="FFFFCC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优先顺序→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A44C7-D70E-4EEA-91E9-9A66685C8A27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9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22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布尔函数</a:t>
            </a:r>
          </a:p>
        </p:txBody>
      </p:sp>
      <p:sp>
        <p:nvSpPr>
          <p:cNvPr id="12294" name="Rectangle 3"/>
          <p:cNvSpPr>
            <a:spLocks noGrp="1"/>
          </p:cNvSpPr>
          <p:nvPr>
            <p:ph idx="1"/>
          </p:nvPr>
        </p:nvSpPr>
        <p:spPr>
          <a:xfrm>
            <a:off x="381000" y="1295400"/>
            <a:ext cx="8458200" cy="4114800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让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B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= {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}，</a:t>
            </a:r>
            <a:r>
              <a:rPr lang="en-US" altLang="zh-CN" dirty="0">
                <a:ea typeface="宋体" panose="02010600030101010101" pitchFamily="2" charset="-122"/>
              </a:rPr>
              <a:t>即布尔值集合。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对于所有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nZ</a:t>
            </a:r>
            <a:r>
              <a:rPr lang="en-US" altLang="zh-CN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，任何函数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i="1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 →B </a:t>
            </a:r>
            <a:r>
              <a:rPr lang="en-US" altLang="zh-CN" dirty="0">
                <a:ea typeface="宋体" panose="02010600030101010101" pitchFamily="2" charset="-122"/>
              </a:rPr>
              <a:t>都称为</a:t>
            </a:r>
            <a:r>
              <a:rPr lang="en-US" altLang="zh-CN" i="1" dirty="0">
                <a:ea typeface="宋体" panose="02010600030101010101" pitchFamily="2" charset="-122"/>
              </a:rPr>
              <a:t>度数为 n 的布尔函数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有 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+mn-ea"/>
              </a:rPr>
              <a:t>ⁿ</a:t>
            </a:r>
            <a:r>
              <a:rPr lang="en-US" altLang="zh-CN" dirty="0">
                <a:ea typeface="Arial Unicode MS" panose="020B0604020202020204" pitchFamily="34" charset="-122"/>
                <a:sym typeface="+mn-ea"/>
              </a:rPr>
              <a:t> (wow!) </a:t>
            </a:r>
            <a:r>
              <a:rPr lang="en-US" altLang="zh-CN" dirty="0">
                <a:ea typeface="Arial Unicode MS" panose="020B0604020202020204" pitchFamily="34" charset="-122"/>
              </a:rPr>
              <a:t>度数为 </a:t>
            </a:r>
            <a:r>
              <a:rPr lang="en-US" altLang="zh-CN" i="1" dirty="0">
                <a:ea typeface="Arial Unicode MS" panose="020B0604020202020204" pitchFamily="34" charset="-122"/>
              </a:rPr>
              <a:t>n </a:t>
            </a:r>
            <a:r>
              <a:rPr lang="en-US" altLang="zh-CN" dirty="0">
                <a:ea typeface="Arial Unicode MS" panose="020B0604020202020204" pitchFamily="34" charset="-122"/>
              </a:rPr>
              <a:t>的独特布尔函数。</a:t>
            </a:r>
          </a:p>
          <a:p>
            <a:pPr lvl="1"/>
            <a:r>
              <a:rPr lang="en-US" altLang="zh-CN" dirty="0">
                <a:ea typeface="Arial Unicode MS" panose="020B0604020202020204" pitchFamily="34" charset="-122"/>
              </a:rPr>
              <a:t>B/c </a:t>
            </a:r>
            <a:r>
              <a:rPr lang="en-US" altLang="zh-CN" dirty="0">
                <a:ea typeface="Arial Unicode MS" panose="020B0604020202020204" pitchFamily="34" charset="-122"/>
                <a:sym typeface="Symbol" panose="05050102010706020507" pitchFamily="18" charset="2"/>
              </a:rPr>
              <a:t>真值表中</a:t>
            </a:r>
            <a:r>
              <a:rPr lang="en-US" altLang="zh-CN" dirty="0">
                <a:solidFill>
                  <a:srgbClr val="FF0000"/>
                </a:solidFill>
                <a:ea typeface="Arial Unicode MS" panose="020B0604020202020204" pitchFamily="34" charset="-122"/>
                <a:sym typeface="Symbol" panose="05050102010706020507" pitchFamily="18" charset="2"/>
              </a:rPr>
              <a:t> 2</a:t>
            </a:r>
            <a:r>
              <a:rPr lang="en-US" altLang="zh-CN" i="1" baseline="30000" dirty="0">
                <a:solidFill>
                  <a:srgbClr val="FF0000"/>
                </a:solidFill>
                <a:ea typeface="Arial Unicode MS" panose="020B0604020202020204" pitchFamily="34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Arial Unicode MS" panose="020B0604020202020204" pitchFamily="34" charset="-122"/>
                <a:sym typeface="Symbol" panose="05050102010706020507" pitchFamily="18" charset="2"/>
              </a:rPr>
              <a:t> 行，每行都有 0 或 1。</a:t>
            </a:r>
          </a:p>
        </p:txBody>
      </p:sp>
      <p:sp>
        <p:nvSpPr>
          <p:cNvPr id="2" name="Text Box 4"/>
          <p:cNvSpPr txBox="1"/>
          <p:nvPr/>
        </p:nvSpPr>
        <p:spPr>
          <a:xfrm>
            <a:off x="457200" y="4572000"/>
            <a:ext cx="8153400" cy="1630045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u="sng" dirty="0">
                <a:ea typeface="宋体" panose="02010600030101010101" pitchFamily="2" charset="-122"/>
              </a:rPr>
              <a:t>度数</a:t>
            </a:r>
            <a:r>
              <a:rPr lang="en-US" altLang="zh-CN" sz="2000" dirty="0">
                <a:ea typeface="宋体" panose="02010600030101010101" pitchFamily="2" charset="-122"/>
              </a:rPr>
              <a:t>	        </a:t>
            </a:r>
            <a:r>
              <a:rPr lang="zh-CN" altLang="en-US" sz="2000" b="1" u="sng" dirty="0">
                <a:ea typeface="宋体" panose="02010600030101010101" pitchFamily="2" charset="-122"/>
              </a:rPr>
              <a:t>个数</a:t>
            </a:r>
            <a:r>
              <a:rPr lang="en-US" altLang="zh-CN" sz="2000" dirty="0">
                <a:ea typeface="宋体" panose="02010600030101010101" pitchFamily="2" charset="-122"/>
              </a:rPr>
              <a:t>	     </a:t>
            </a:r>
            <a:r>
              <a:rPr lang="zh-CN" altLang="en-US" sz="2000" b="1" u="sng" dirty="0">
                <a:ea typeface="宋体" panose="02010600030101010101" pitchFamily="2" charset="-122"/>
              </a:rPr>
              <a:t>度数</a:t>
            </a:r>
            <a:r>
              <a:rPr lang="en-US" altLang="zh-CN" sz="2000" dirty="0">
                <a:ea typeface="宋体" panose="02010600030101010101" pitchFamily="2" charset="-122"/>
              </a:rPr>
              <a:t>                         </a:t>
            </a:r>
            <a:r>
              <a:rPr lang="zh-CN" altLang="en-US" sz="2000" b="1" u="sng" dirty="0">
                <a:ea typeface="宋体" panose="02010600030101010101" pitchFamily="2" charset="-122"/>
              </a:rPr>
              <a:t>个数</a:t>
            </a:r>
            <a:endParaRPr lang="en-US" altLang="zh-CN" sz="2000" b="1" u="sng" dirty="0"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   0 	          2                     4                          65,536             	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     1                 4                    5                    4,294,967,296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     2                16                   6          18,446,744,073,709,551,616.</a:t>
            </a: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   3               256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950059-5C7B-417E-A782-16087C3DEBA1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10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3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布尔表达式</a:t>
            </a:r>
          </a:p>
        </p:txBody>
      </p:sp>
      <p:sp>
        <p:nvSpPr>
          <p:cNvPr id="13318" name="Rectangle 3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4419600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假设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 , ...,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ea typeface="宋体" panose="02010600030101010101" pitchFamily="2" charset="-122"/>
              </a:rPr>
              <a:t> 是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n 个</a:t>
            </a:r>
            <a:r>
              <a:rPr lang="en-US" altLang="zh-CN" sz="2800" dirty="0">
                <a:ea typeface="宋体" panose="02010600030101010101" pitchFamily="2" charset="-122"/>
              </a:rPr>
              <a:t>不同的布尔变量。</a:t>
            </a:r>
          </a:p>
          <a:p>
            <a:pPr lvl="1">
              <a:lnSpc>
                <a:spcPct val="90000"/>
              </a:lnSpc>
            </a:pP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 </a:t>
            </a:r>
            <a:r>
              <a:rPr lang="en-US" altLang="zh-CN" dirty="0">
                <a:ea typeface="宋体" panose="02010600030101010101" pitchFamily="2" charset="-122"/>
              </a:rPr>
              <a:t>可根据需要随意增大。</a:t>
            </a:r>
          </a:p>
          <a:p>
            <a:pPr>
              <a:lnSpc>
                <a:spcPct val="90000"/>
              </a:lnSpc>
            </a:pPr>
            <a:r>
              <a:rPr lang="en-US" altLang="zh-CN" sz="2800" i="1" dirty="0">
                <a:ea typeface="宋体" panose="02010600030101010101" pitchFamily="2" charset="-122"/>
              </a:rPr>
              <a:t>布尔表达式</a:t>
            </a:r>
            <a:r>
              <a:rPr lang="en-US" altLang="zh-CN" sz="2800" dirty="0">
                <a:ea typeface="宋体" panose="02010600030101010101" pitchFamily="2" charset="-122"/>
              </a:rPr>
              <a:t>（递归定义）是下列形式之一的字符串：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基本情况：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dirty="0"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，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，......，</a:t>
            </a:r>
            <a:r>
              <a:rPr lang="en-US" altLang="zh-CN" dirty="0" err="1">
                <a:ea typeface="宋体" panose="02010600030101010101" pitchFamily="2" charset="-122"/>
              </a:rPr>
              <a:t>或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zh-CN" altLang="en-US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递归情况：</a:t>
            </a:r>
            <a:r>
              <a:rPr lang="en-US" altLang="zh-CN" sz="3200" i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E</a:t>
            </a:r>
            <a:r>
              <a:rPr lang="en-US" altLang="zh-CN" sz="3200" baseline="-250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1</a:t>
            </a:r>
            <a:r>
              <a:rPr lang="en-US" altLang="zh-CN" sz="3200" dirty="0">
                <a:ea typeface="宋体" panose="02010600030101010101" pitchFamily="2" charset="-122"/>
                <a:cs typeface="+mn-cs"/>
                <a:sym typeface="+mn-ea"/>
              </a:rPr>
              <a:t>, </a:t>
            </a:r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(</a:t>
            </a:r>
            <a:r>
              <a:rPr lang="en-US" altLang="zh-CN" sz="3200" i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E</a:t>
            </a:r>
            <a:r>
              <a:rPr lang="en-US" altLang="zh-CN" sz="3200" baseline="-250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1</a:t>
            </a:r>
            <a:r>
              <a:rPr lang="en-US" altLang="zh-CN" sz="3200" i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E</a:t>
            </a:r>
            <a:r>
              <a:rPr lang="en-US" altLang="zh-CN" sz="3200" baseline="-250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2</a:t>
            </a:r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)</a:t>
            </a:r>
            <a:r>
              <a:rPr lang="en-US" altLang="zh-CN" sz="3200" dirty="0">
                <a:ea typeface="宋体" panose="02010600030101010101" pitchFamily="2" charset="-122"/>
                <a:cs typeface="+mn-cs"/>
                <a:sym typeface="+mn-ea"/>
              </a:rPr>
              <a:t>,</a:t>
            </a:r>
            <a:r>
              <a:rPr lang="en-US" altLang="zh-CN" dirty="0">
                <a:ea typeface="宋体" panose="02010600030101010101" pitchFamily="2" charset="-122"/>
              </a:rPr>
              <a:t> 或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 +E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), 其中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和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是布尔表达式。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布尔表达式表示布尔函数。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此外，</a:t>
            </a:r>
            <a:r>
              <a:rPr lang="en-US" altLang="zh-CN" i="1" dirty="0">
                <a:ea typeface="宋体" panose="02010600030101010101" pitchFamily="2" charset="-122"/>
              </a:rPr>
              <a:t>每个</a:t>
            </a:r>
            <a:r>
              <a:rPr lang="en-US" altLang="zh-CN" dirty="0">
                <a:ea typeface="宋体" panose="02010600030101010101" pitchFamily="2" charset="-122"/>
              </a:rPr>
              <a:t>布尔函数（给定度数）都可以用布尔表达式来表示。</a:t>
            </a:r>
          </a:p>
        </p:txBody>
      </p:sp>
      <p:sp>
        <p:nvSpPr>
          <p:cNvPr id="13319" name="Line 4"/>
          <p:cNvSpPr/>
          <p:nvPr/>
        </p:nvSpPr>
        <p:spPr>
          <a:xfrm>
            <a:off x="3267075" y="4210050"/>
            <a:ext cx="3048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11_1_01.jpg</a:t>
            </a:r>
          </a:p>
        </p:txBody>
      </p:sp>
      <p:pic>
        <p:nvPicPr>
          <p:cNvPr id="14339" name="Picture 3" descr="11_1_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1000"/>
            <a:ext cx="8596313" cy="6007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B04BD1-4311-4C02-A6F5-D43FDD2AFBBA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31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12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63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超立方表示法</a:t>
            </a:r>
          </a:p>
        </p:txBody>
      </p:sp>
      <p:sp>
        <p:nvSpPr>
          <p:cNvPr id="1639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度数为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 的布尔函数可以用一个 </a:t>
            </a:r>
            <a:r>
              <a:rPr lang="en-US" altLang="zh-CN" i="1" dirty="0">
                <a:ea typeface="宋体" panose="02010600030101010101" pitchFamily="2" charset="-122"/>
              </a:rPr>
              <a:t>n 立方体</a:t>
            </a:r>
            <a:r>
              <a:rPr lang="en-US" altLang="zh-CN" dirty="0">
                <a:ea typeface="宋体" panose="02010600030101010101" pitchFamily="2" charset="-122"/>
              </a:rPr>
              <a:t>（超立方体）来表示，每个顶点都有相应的函数值。</a:t>
            </a:r>
          </a:p>
        </p:txBody>
      </p:sp>
      <p:sp>
        <p:nvSpPr>
          <p:cNvPr id="16391" name="Rectangle 4"/>
          <p:cNvSpPr/>
          <p:nvPr/>
        </p:nvSpPr>
        <p:spPr>
          <a:xfrm>
            <a:off x="3130550" y="4343400"/>
            <a:ext cx="1371600" cy="12192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16392" name="Rectangle 5"/>
          <p:cNvSpPr/>
          <p:nvPr/>
        </p:nvSpPr>
        <p:spPr>
          <a:xfrm>
            <a:off x="3511550" y="4114800"/>
            <a:ext cx="1371600" cy="12192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16393" name="Line 6"/>
          <p:cNvSpPr/>
          <p:nvPr/>
        </p:nvSpPr>
        <p:spPr>
          <a:xfrm flipV="1">
            <a:off x="3130550" y="4114800"/>
            <a:ext cx="38100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4" name="Line 7"/>
          <p:cNvSpPr/>
          <p:nvPr/>
        </p:nvSpPr>
        <p:spPr>
          <a:xfrm flipV="1">
            <a:off x="3130550" y="5334000"/>
            <a:ext cx="38100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5" name="Line 8"/>
          <p:cNvSpPr/>
          <p:nvPr/>
        </p:nvSpPr>
        <p:spPr>
          <a:xfrm flipV="1">
            <a:off x="4502150" y="5334000"/>
            <a:ext cx="38100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6" name="Line 9"/>
          <p:cNvSpPr/>
          <p:nvPr/>
        </p:nvSpPr>
        <p:spPr>
          <a:xfrm flipV="1">
            <a:off x="4502150" y="4114800"/>
            <a:ext cx="38100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7" name="Text Box 10"/>
          <p:cNvSpPr txBox="1"/>
          <p:nvPr/>
        </p:nvSpPr>
        <p:spPr>
          <a:xfrm>
            <a:off x="2133600" y="5410200"/>
            <a:ext cx="9969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(0,0,0)</a:t>
            </a:r>
          </a:p>
        </p:txBody>
      </p:sp>
      <p:sp>
        <p:nvSpPr>
          <p:cNvPr id="16398" name="Text Box 11"/>
          <p:cNvSpPr txBox="1"/>
          <p:nvPr/>
        </p:nvSpPr>
        <p:spPr>
          <a:xfrm>
            <a:off x="4495800" y="5410200"/>
            <a:ext cx="9969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(0,0,1)</a:t>
            </a:r>
          </a:p>
        </p:txBody>
      </p:sp>
      <p:sp>
        <p:nvSpPr>
          <p:cNvPr id="16399" name="Text Box 12"/>
          <p:cNvSpPr txBox="1"/>
          <p:nvPr/>
        </p:nvSpPr>
        <p:spPr>
          <a:xfrm>
            <a:off x="2139950" y="4114800"/>
            <a:ext cx="9969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(0,1,0)</a:t>
            </a:r>
          </a:p>
        </p:txBody>
      </p:sp>
      <p:sp>
        <p:nvSpPr>
          <p:cNvPr id="16400" name="Text Box 13"/>
          <p:cNvSpPr txBox="1"/>
          <p:nvPr/>
        </p:nvSpPr>
        <p:spPr>
          <a:xfrm>
            <a:off x="4502150" y="4191000"/>
            <a:ext cx="9969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(0,1,1)</a:t>
            </a:r>
          </a:p>
        </p:txBody>
      </p:sp>
      <p:sp>
        <p:nvSpPr>
          <p:cNvPr id="16401" name="Text Box 14"/>
          <p:cNvSpPr txBox="1"/>
          <p:nvPr/>
        </p:nvSpPr>
        <p:spPr>
          <a:xfrm>
            <a:off x="3505200" y="4876800"/>
            <a:ext cx="9969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(1,0,0)</a:t>
            </a:r>
          </a:p>
        </p:txBody>
      </p:sp>
      <p:sp>
        <p:nvSpPr>
          <p:cNvPr id="16402" name="Text Box 15"/>
          <p:cNvSpPr txBox="1"/>
          <p:nvPr/>
        </p:nvSpPr>
        <p:spPr>
          <a:xfrm>
            <a:off x="4876800" y="5029200"/>
            <a:ext cx="9969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(1,0,1)</a:t>
            </a:r>
          </a:p>
        </p:txBody>
      </p:sp>
      <p:sp>
        <p:nvSpPr>
          <p:cNvPr id="16403" name="Text Box 16"/>
          <p:cNvSpPr txBox="1"/>
          <p:nvPr/>
        </p:nvSpPr>
        <p:spPr>
          <a:xfrm>
            <a:off x="2667000" y="3657600"/>
            <a:ext cx="9969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(1,1,0)</a:t>
            </a:r>
          </a:p>
        </p:txBody>
      </p:sp>
      <p:sp>
        <p:nvSpPr>
          <p:cNvPr id="16404" name="Text Box 17"/>
          <p:cNvSpPr txBox="1"/>
          <p:nvPr/>
        </p:nvSpPr>
        <p:spPr>
          <a:xfrm>
            <a:off x="4876800" y="3810000"/>
            <a:ext cx="9969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(1,1,1)</a:t>
            </a:r>
          </a:p>
        </p:txBody>
      </p:sp>
      <p:sp>
        <p:nvSpPr>
          <p:cNvPr id="16405" name="Text Box 18"/>
          <p:cNvSpPr txBox="1"/>
          <p:nvPr/>
        </p:nvSpPr>
        <p:spPr>
          <a:xfrm>
            <a:off x="3340100" y="38862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6406" name="Text Box 19"/>
          <p:cNvSpPr txBox="1"/>
          <p:nvPr/>
        </p:nvSpPr>
        <p:spPr>
          <a:xfrm>
            <a:off x="2946400" y="53340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407" name="Text Box 20"/>
          <p:cNvSpPr txBox="1"/>
          <p:nvPr/>
        </p:nvSpPr>
        <p:spPr>
          <a:xfrm>
            <a:off x="3349625" y="508635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6408" name="Text Box 21"/>
          <p:cNvSpPr txBox="1"/>
          <p:nvPr/>
        </p:nvSpPr>
        <p:spPr>
          <a:xfrm>
            <a:off x="2978150" y="4114800"/>
            <a:ext cx="312738" cy="369888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6409" name="Text Box 22"/>
          <p:cNvSpPr txBox="1"/>
          <p:nvPr/>
        </p:nvSpPr>
        <p:spPr>
          <a:xfrm>
            <a:off x="4318000" y="5334000"/>
            <a:ext cx="312738" cy="369888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410" name="Text Box 23"/>
          <p:cNvSpPr txBox="1"/>
          <p:nvPr/>
        </p:nvSpPr>
        <p:spPr>
          <a:xfrm>
            <a:off x="4718050" y="386715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411" name="Text Box 24"/>
          <p:cNvSpPr txBox="1"/>
          <p:nvPr/>
        </p:nvSpPr>
        <p:spPr>
          <a:xfrm>
            <a:off x="4702175" y="5095875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6412" name="Text Box 25"/>
          <p:cNvSpPr txBox="1"/>
          <p:nvPr/>
        </p:nvSpPr>
        <p:spPr>
          <a:xfrm>
            <a:off x="4349750" y="4105275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</a:p>
        </p:txBody>
      </p:sp>
      <p:graphicFrame>
        <p:nvGraphicFramePr>
          <p:cNvPr id="16413" name="Object 2"/>
          <p:cNvGraphicFramePr>
            <a:graphicFrameLocks noGrp="1"/>
          </p:cNvGraphicFramePr>
          <p:nvPr>
            <p:ph idx="1"/>
          </p:nvPr>
        </p:nvGraphicFramePr>
        <p:xfrm>
          <a:off x="6035675" y="4419600"/>
          <a:ext cx="1971675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21665" imgH="215900" progId="Equation.3">
                  <p:embed/>
                </p:oleObj>
              </mc:Choice>
              <mc:Fallback>
                <p:oleObj r:id="rId2" imgW="621665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6035675" y="4419600"/>
                        <a:ext cx="1971675" cy="684213"/>
                      </a:xfrm>
                      <a:prstGeom prst="rect">
                        <a:avLst/>
                      </a:prstGeom>
                      <a:solidFill>
                        <a:srgbClr val="FFCCCC">
                          <a:alpha val="100000"/>
                        </a:srgb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4" name="Text Box 28"/>
          <p:cNvSpPr txBox="1"/>
          <p:nvPr/>
        </p:nvSpPr>
        <p:spPr>
          <a:xfrm>
            <a:off x="6165850" y="3565525"/>
            <a:ext cx="1765300" cy="701675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4000" i="1" dirty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dirty="0">
                <a:solidFill>
                  <a:srgbClr val="FF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4000" i="1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4000" dirty="0">
                <a:solidFill>
                  <a:srgbClr val="FF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4000" i="1" dirty="0">
                <a:solidFill>
                  <a:srgbClr val="FF00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40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6415" name="AutoShape 29"/>
          <p:cNvSpPr/>
          <p:nvPr/>
        </p:nvSpPr>
        <p:spPr>
          <a:xfrm>
            <a:off x="5045075" y="4752975"/>
            <a:ext cx="914400" cy="257175"/>
          </a:xfrm>
          <a:prstGeom prst="leftArrow">
            <a:avLst>
              <a:gd name="adj1" fmla="val 50000"/>
              <a:gd name="adj2" fmla="val 88855"/>
            </a:avLst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DE0160E-130C-40CE-924C-159933F45E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761F455-47AB-49E8-A24C-502A314E37C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0117" name="矩形 1"/>
          <p:cNvSpPr>
            <a:spLocks noChangeArrowheads="1"/>
          </p:cNvSpPr>
          <p:nvPr/>
        </p:nvSpPr>
        <p:spPr bwMode="auto">
          <a:xfrm>
            <a:off x="533400" y="1905000"/>
            <a:ext cx="807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/>
              <a:t>(1)  (1 · 1) + (0 · 1 + 0)：____</a:t>
            </a:r>
            <a:endParaRPr lang="zh-CN" altLang="zh-CN" sz="1800"/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1854835" y="1981200"/>
            <a:ext cx="504000" cy="0"/>
          </a:xfrm>
          <a:prstGeom prst="line">
            <a:avLst/>
          </a:prstGeom>
          <a:ln w="1905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DE0160E-130C-40CE-924C-159933F45E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761F455-47AB-49E8-A24C-502A314E37C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0117" name="矩形 1"/>
          <p:cNvSpPr>
            <a:spLocks noChangeArrowheads="1"/>
          </p:cNvSpPr>
          <p:nvPr/>
        </p:nvSpPr>
        <p:spPr bwMode="auto">
          <a:xfrm>
            <a:off x="533400" y="1905000"/>
            <a:ext cx="807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/>
              <a:t>(2) (1 · 0) + (1 · 0)：____</a:t>
            </a:r>
            <a:endParaRPr lang="zh-CN" altLang="zh-CN" sz="1800"/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2209800" y="1981200"/>
            <a:ext cx="180000" cy="0"/>
          </a:xfrm>
          <a:prstGeom prst="line">
            <a:avLst/>
          </a:prstGeom>
          <a:ln w="1905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1371600" y="1981200"/>
            <a:ext cx="180000" cy="0"/>
          </a:xfrm>
          <a:prstGeom prst="line">
            <a:avLst/>
          </a:prstGeom>
          <a:ln w="1905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990600" y="1981200"/>
            <a:ext cx="255905" cy="0"/>
          </a:xfrm>
          <a:prstGeom prst="line">
            <a:avLst/>
          </a:prstGeom>
          <a:ln w="1905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AC4648-ACB2-4F06-B8E8-DCC42D408757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15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74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布尔等价，布尔表达式的运算</a:t>
            </a:r>
          </a:p>
        </p:txBody>
      </p:sp>
      <p:sp>
        <p:nvSpPr>
          <p:cNvPr id="1741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r>
              <a:rPr lang="en-US" altLang="zh-CN" sz="2800" dirty="0">
                <a:ea typeface="宋体" panose="02010600030101010101" pitchFamily="2" charset="-122"/>
              </a:rPr>
              <a:t>表示</a:t>
            </a:r>
            <a:r>
              <a:rPr lang="en-US" altLang="zh-CN" sz="2800" i="1" dirty="0">
                <a:ea typeface="宋体" panose="02010600030101010101" pitchFamily="2" charset="-122"/>
              </a:rPr>
              <a:t>完全相同的</a:t>
            </a:r>
            <a:r>
              <a:rPr lang="en-US" altLang="zh-CN" sz="2800" dirty="0">
                <a:ea typeface="宋体" panose="02010600030101010101" pitchFamily="2" charset="-122"/>
              </a:rPr>
              <a:t>函数 </a:t>
            </a:r>
            <a:r>
              <a:rPr lang="en-US" altLang="zh-CN" sz="2800" i="1" dirty="0">
                <a:ea typeface="宋体" panose="02010600030101010101" pitchFamily="2" charset="-122"/>
              </a:rPr>
              <a:t>f </a:t>
            </a:r>
            <a:r>
              <a:rPr lang="en-US" altLang="zh-CN" sz="2800" dirty="0">
                <a:ea typeface="宋体" panose="02010600030101010101" pitchFamily="2" charset="-122"/>
              </a:rPr>
              <a:t>的两个布尔表达式 </a:t>
            </a:r>
            <a:r>
              <a:rPr lang="en-US" altLang="zh-CN" sz="2800" i="1" dirty="0">
                <a:ea typeface="宋体" panose="02010600030101010101" pitchFamily="2" charset="-122"/>
              </a:rPr>
              <a:t>e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 和 </a:t>
            </a:r>
            <a:r>
              <a:rPr lang="en-US" altLang="zh-CN" sz="2800" i="1" dirty="0">
                <a:ea typeface="宋体" panose="02010600030101010101" pitchFamily="2" charset="-122"/>
              </a:rPr>
              <a:t>e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 称为</a:t>
            </a:r>
            <a:r>
              <a:rPr lang="en-US" altLang="zh-CN" sz="2800" i="1" dirty="0">
                <a:ea typeface="宋体" panose="02010600030101010101" pitchFamily="2" charset="-122"/>
              </a:rPr>
              <a:t>等价</a:t>
            </a:r>
            <a:r>
              <a:rPr lang="en-US" altLang="zh-CN" sz="2800" dirty="0">
                <a:ea typeface="宋体" panose="02010600030101010101" pitchFamily="2" charset="-122"/>
              </a:rPr>
              <a:t>表达式</a:t>
            </a:r>
            <a:r>
              <a:rPr lang="en-US" altLang="zh-CN" sz="2800" i="1" dirty="0">
                <a:ea typeface="宋体" panose="02010600030101010101" pitchFamily="2" charset="-122"/>
              </a:rPr>
              <a:t>。  </a:t>
            </a:r>
            <a:r>
              <a:rPr lang="en-US" altLang="zh-CN" sz="2800" dirty="0">
                <a:ea typeface="宋体" panose="02010600030101010101" pitchFamily="2" charset="-122"/>
              </a:rPr>
              <a:t>我们把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e</a:t>
            </a:r>
            <a:r>
              <a:rPr lang="en-US" altLang="zh-CN" sz="2800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 ，或只</a:t>
            </a:r>
            <a:r>
              <a:rPr lang="en-US" altLang="zh-CN" sz="2800" dirty="0">
                <a:ea typeface="宋体" panose="02010600030101010101" pitchFamily="2" charset="-122"/>
              </a:rPr>
              <a:t>写成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8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隐含地说，对于 </a:t>
            </a: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4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和 </a:t>
            </a: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4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中出现的</a:t>
            </a: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所有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自由变量值，这两个表达式具有相同的值。</a:t>
            </a:r>
          </a:p>
          <a:p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运算符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¯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- 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可以通过显而易见的方式，从操作表达式扩展到操作它们所代表的函数。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日期占位符 4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1287A0-082D-44E9-992F-32E94766A5B9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25" name="灯片编号占位符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16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84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一些常用的布尔特性</a:t>
            </a:r>
          </a:p>
        </p:txBody>
      </p:sp>
      <p:sp>
        <p:nvSpPr>
          <p:cNvPr id="18440" name="Text Box 6"/>
          <p:cNvSpPr txBox="1"/>
          <p:nvPr/>
        </p:nvSpPr>
        <p:spPr>
          <a:xfrm>
            <a:off x="8229600" y="4038600"/>
            <a:ext cx="914400" cy="830263"/>
          </a:xfrm>
          <a:prstGeom prst="rect">
            <a:avLst/>
          </a:prstGeom>
          <a:solidFill>
            <a:srgbClr val="FF9999"/>
          </a:solidFill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← 在普通</a:t>
            </a:r>
            <a:br>
              <a:rPr lang="en-US" altLang="zh-CN" sz="1200" dirty="0">
                <a:ea typeface="宋体" panose="02010600030101010101" pitchFamily="2" charset="-122"/>
              </a:rPr>
            </a:br>
            <a:r>
              <a:rPr lang="en-US" altLang="zh-CN" sz="1200" dirty="0">
                <a:ea typeface="宋体" panose="02010600030101010101" pitchFamily="2" charset="-122"/>
              </a:rPr>
              <a:t>代数</a:t>
            </a:r>
          </a:p>
        </p:txBody>
      </p:sp>
      <p:sp>
        <p:nvSpPr>
          <p:cNvPr id="18441" name="AutoShape 15"/>
          <p:cNvSpPr/>
          <p:nvPr/>
        </p:nvSpPr>
        <p:spPr>
          <a:xfrm flipH="1" flipV="1">
            <a:off x="8001000" y="4865688"/>
            <a:ext cx="914400" cy="1001712"/>
          </a:xfrm>
          <a:custGeom>
            <a:avLst/>
            <a:gdLst/>
            <a:ahLst/>
            <a:cxnLst>
              <a:cxn ang="0">
                <a:pos x="38709600" y="14915274"/>
              </a:cxn>
              <a:cxn ang="0">
                <a:pos x="22270551" y="0"/>
              </a:cxn>
              <a:cxn ang="0">
                <a:pos x="22270551" y="9568949"/>
              </a:cxn>
              <a:cxn ang="0">
                <a:pos x="0" y="29830594"/>
              </a:cxn>
              <a:cxn ang="0">
                <a:pos x="0" y="52997259"/>
              </a:cxn>
              <a:cxn ang="0">
                <a:pos x="7982077" y="52997259"/>
              </a:cxn>
              <a:cxn ang="0">
                <a:pos x="7982077" y="29830594"/>
              </a:cxn>
              <a:cxn ang="0">
                <a:pos x="22270551" y="20261645"/>
              </a:cxn>
              <a:cxn ang="0">
                <a:pos x="22270551" y="29830594"/>
              </a:cxn>
            </a:cxnLst>
            <a:rect l="0" t="0" r="0" b="0"/>
            <a:pathLst>
              <a:path w="21600" h="21600">
                <a:moveTo>
                  <a:pt x="21600" y="6079"/>
                </a:moveTo>
                <a:lnTo>
                  <a:pt x="12427" y="0"/>
                </a:lnTo>
                <a:lnTo>
                  <a:pt x="12427" y="3900"/>
                </a:lnTo>
                <a:cubicBezTo>
                  <a:pt x="5564" y="3900"/>
                  <a:pt x="0" y="7597"/>
                  <a:pt x="0" y="12158"/>
                </a:cubicBezTo>
                <a:lnTo>
                  <a:pt x="0" y="21600"/>
                </a:lnTo>
                <a:lnTo>
                  <a:pt x="4454" y="21600"/>
                </a:lnTo>
                <a:lnTo>
                  <a:pt x="4454" y="12158"/>
                </a:lnTo>
                <a:cubicBezTo>
                  <a:pt x="4454" y="10004"/>
                  <a:pt x="8024" y="8258"/>
                  <a:pt x="12427" y="8258"/>
                </a:cubicBezTo>
                <a:lnTo>
                  <a:pt x="12427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9999">
              <a:alpha val="100000"/>
            </a:srgbClr>
          </a:solidFill>
          <a:ln w="38100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2" name="Text Box 16"/>
          <p:cNvSpPr txBox="1"/>
          <p:nvPr/>
        </p:nvSpPr>
        <p:spPr>
          <a:xfrm>
            <a:off x="685800" y="5867400"/>
            <a:ext cx="7942263" cy="4953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还有单位性质：</a:t>
            </a:r>
            <a:r>
              <a:rPr lang="en-US" altLang="zh-CN" sz="1800" i="1" dirty="0">
                <a:solidFill>
                  <a:schemeClr val="accent2"/>
                </a:solidFill>
                <a:ea typeface="宋体" panose="02010600030101010101" pitchFamily="2" charset="-122"/>
              </a:rPr>
              <a:t>x </a:t>
            </a:r>
            <a:r>
              <a:rPr lang="en-US" altLang="zh-CN" sz="1800" dirty="0">
                <a:solidFill>
                  <a:schemeClr val="accent2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1800" i="1" dirty="0">
                <a:solidFill>
                  <a:schemeClr val="accent2"/>
                </a:solidFill>
                <a:ea typeface="宋体" panose="02010600030101010101" pitchFamily="2" charset="-122"/>
              </a:rPr>
              <a:t>x </a:t>
            </a:r>
            <a:r>
              <a:rPr lang="en-US" altLang="zh-CN" sz="1800" dirty="0">
                <a:solidFill>
                  <a:schemeClr val="accent2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1800" b="1" dirty="0">
                <a:solidFill>
                  <a:schemeClr val="accent2"/>
                </a:solidFill>
                <a:ea typeface="宋体" panose="02010600030101010101" pitchFamily="2" charset="-122"/>
              </a:rPr>
              <a:t>1 </a:t>
            </a:r>
            <a:r>
              <a:rPr lang="en-US" altLang="zh-CN" sz="1800" dirty="0">
                <a:ea typeface="宋体" panose="02010600030101010101" pitchFamily="2" charset="-122"/>
              </a:rPr>
              <a:t>和零点性质：</a:t>
            </a:r>
            <a:r>
              <a:rPr lang="en-US" altLang="zh-CN" sz="1800" i="1" dirty="0">
                <a:solidFill>
                  <a:schemeClr val="accent2"/>
                </a:solidFill>
                <a:ea typeface="宋体" panose="02010600030101010101" pitchFamily="2" charset="-122"/>
              </a:rPr>
              <a:t>x </a:t>
            </a:r>
            <a:r>
              <a:rPr lang="en-US" altLang="zh-CN" sz="1800" dirty="0">
                <a:solidFill>
                  <a:schemeClr val="accent2"/>
                </a:solidFill>
                <a:ea typeface="宋体" panose="02010600030101010101" pitchFamily="2" charset="-122"/>
              </a:rPr>
              <a:t>- </a:t>
            </a:r>
            <a:r>
              <a:rPr lang="en-US" altLang="zh-CN" sz="1800" i="1" dirty="0">
                <a:solidFill>
                  <a:schemeClr val="accent2"/>
                </a:solidFill>
                <a:ea typeface="宋体" panose="02010600030101010101" pitchFamily="2" charset="-122"/>
              </a:rPr>
              <a:t>x </a:t>
            </a:r>
            <a:r>
              <a:rPr lang="en-US" altLang="zh-CN" sz="1800" dirty="0">
                <a:solidFill>
                  <a:schemeClr val="accent2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1800" b="1" dirty="0">
                <a:solidFill>
                  <a:schemeClr val="accent2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" name="Rectangle 4"/>
          <p:cNvSpPr>
            <a:spLocks noGrp="1"/>
          </p:cNvSpPr>
          <p:nvPr>
            <p:ph sz="half" idx="1"/>
          </p:nvPr>
        </p:nvSpPr>
        <p:spPr/>
        <p:txBody>
          <a:bodyPr vert="horz" wrap="square" lIns="91440" tIns="45720" rIns="91440" bIns="45720" anchor="t" anchorCtr="0"/>
          <a:lstStyle/>
          <a:p>
            <a:pPr>
              <a:buSzTx/>
            </a:pPr>
            <a:r>
              <a:rPr lang="zh-CN" altLang="en-US" sz="2400" dirty="0">
                <a:latin typeface="+mn-lt"/>
                <a:ea typeface="宋体" panose="02010600030101010101" pitchFamily="2" charset="-122"/>
                <a:cs typeface="+mn-cs"/>
              </a:rPr>
              <a:t>双重补律</a:t>
            </a: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:</a:t>
            </a:r>
          </a:p>
          <a:p>
            <a:pPr lvl="1">
              <a:buFontTx/>
              <a:buNone/>
            </a:pP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endParaRPr lang="en-US" altLang="zh-CN" sz="2000" dirty="0">
              <a:latin typeface="+mn-lt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sz="2400" dirty="0">
                <a:latin typeface="+mn-lt"/>
                <a:ea typeface="宋体" panose="02010600030101010101" pitchFamily="2" charset="-122"/>
                <a:cs typeface="+mn-cs"/>
              </a:rPr>
              <a:t>幂等律</a:t>
            </a: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:</a:t>
            </a:r>
          </a:p>
          <a:p>
            <a:pPr lvl="1">
              <a:buFontTx/>
              <a:buNone/>
            </a:pP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 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+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,         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 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·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</a:p>
          <a:p>
            <a:pPr>
              <a:buSzTx/>
            </a:pPr>
            <a:r>
              <a:rPr lang="zh-CN" altLang="en-US" sz="2400" dirty="0">
                <a:latin typeface="+mn-lt"/>
                <a:ea typeface="宋体" panose="02010600030101010101" pitchFamily="2" charset="-122"/>
                <a:cs typeface="+mn-cs"/>
              </a:rPr>
              <a:t>同一律</a:t>
            </a: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:</a:t>
            </a:r>
          </a:p>
          <a:p>
            <a:pPr lvl="1">
              <a:buFontTx/>
              <a:buNone/>
            </a:pP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+ </a:t>
            </a:r>
            <a:r>
              <a:rPr lang="en-US" altLang="zh-CN" sz="2000" b="1" dirty="0">
                <a:latin typeface="+mn-lt"/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,         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· </a:t>
            </a:r>
            <a:r>
              <a:rPr lang="en-US" altLang="zh-CN" sz="2000" b="1" dirty="0">
                <a:latin typeface="+mn-lt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endParaRPr lang="en-US" altLang="zh-CN" sz="2000" dirty="0">
              <a:latin typeface="+mn-lt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sz="2400" dirty="0">
                <a:latin typeface="+mn-lt"/>
                <a:ea typeface="宋体" panose="02010600030101010101" pitchFamily="2" charset="-122"/>
                <a:cs typeface="+mn-cs"/>
              </a:rPr>
              <a:t>支配率</a:t>
            </a: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:</a:t>
            </a:r>
          </a:p>
          <a:p>
            <a:pPr lvl="1">
              <a:buFontTx/>
              <a:buNone/>
            </a:pP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+ </a:t>
            </a:r>
            <a:r>
              <a:rPr lang="en-US" altLang="zh-CN" sz="2000" b="1" dirty="0">
                <a:latin typeface="+mn-lt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= </a:t>
            </a:r>
            <a:r>
              <a:rPr lang="en-US" altLang="zh-CN" sz="2000" b="1" dirty="0">
                <a:latin typeface="+mn-lt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,         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· </a:t>
            </a:r>
            <a:r>
              <a:rPr lang="en-US" altLang="zh-CN" sz="2000" b="1" dirty="0">
                <a:latin typeface="+mn-lt"/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= </a:t>
            </a:r>
            <a:r>
              <a:rPr lang="en-US" altLang="zh-CN" sz="2000" b="1" dirty="0">
                <a:latin typeface="+mn-lt"/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</a:t>
            </a:r>
          </a:p>
          <a:p>
            <a:pPr>
              <a:buSzTx/>
            </a:pPr>
            <a:r>
              <a:rPr lang="zh-CN" altLang="en-US" sz="2400" dirty="0">
                <a:latin typeface="+mn-lt"/>
                <a:ea typeface="宋体" panose="02010600030101010101" pitchFamily="2" charset="-122"/>
                <a:cs typeface="+mn-cs"/>
              </a:rPr>
              <a:t>交换律</a:t>
            </a: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:</a:t>
            </a:r>
          </a:p>
          <a:p>
            <a:pPr lvl="1">
              <a:buFontTx/>
              <a:buNone/>
            </a:pP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+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y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y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+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,    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·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y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y</a:t>
            </a: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· </a:t>
            </a: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6" name="Oval 17"/>
          <p:cNvSpPr/>
          <p:nvPr/>
        </p:nvSpPr>
        <p:spPr>
          <a:xfrm>
            <a:off x="838200" y="5029200"/>
            <a:ext cx="1676400" cy="533400"/>
          </a:xfrm>
          <a:prstGeom prst="ellipse">
            <a:avLst/>
          </a:prstGeom>
          <a:noFill/>
          <a:ln w="38100" cap="flat" cmpd="sng">
            <a:solidFill>
              <a:srgbClr val="FF99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7" name="Oval 18"/>
          <p:cNvSpPr/>
          <p:nvPr/>
        </p:nvSpPr>
        <p:spPr>
          <a:xfrm>
            <a:off x="685800" y="3352800"/>
            <a:ext cx="1676400" cy="533400"/>
          </a:xfrm>
          <a:prstGeom prst="ellipse">
            <a:avLst/>
          </a:prstGeom>
          <a:noFill/>
          <a:ln w="38100" cap="flat" cmpd="sng">
            <a:solidFill>
              <a:srgbClr val="FF99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8" name="Oval 19"/>
          <p:cNvSpPr/>
          <p:nvPr/>
        </p:nvSpPr>
        <p:spPr>
          <a:xfrm>
            <a:off x="2438400" y="3429000"/>
            <a:ext cx="1676400" cy="533400"/>
          </a:xfrm>
          <a:prstGeom prst="ellipse">
            <a:avLst/>
          </a:prstGeom>
          <a:noFill/>
          <a:ln w="38100" cap="flat" cmpd="sng">
            <a:solidFill>
              <a:srgbClr val="FF99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15" name="Rectangle 4"/>
          <p:cNvSpPr>
            <a:spLocks noGrp="1"/>
          </p:cNvSpPr>
          <p:nvPr/>
        </p:nvSpPr>
        <p:spPr>
          <a:xfrm>
            <a:off x="4572000" y="1371600"/>
            <a:ext cx="4038600" cy="48799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SzTx/>
            </a:pPr>
            <a:r>
              <a:rPr lang="zh-CN" altLang="en-US" sz="2400" dirty="0">
                <a:latin typeface="+mn-lt"/>
                <a:ea typeface="宋体" panose="02010600030101010101" pitchFamily="2" charset="-122"/>
                <a:cs typeface="+mn-cs"/>
              </a:rPr>
              <a:t>结合律</a:t>
            </a: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:</a:t>
            </a:r>
          </a:p>
          <a:p>
            <a:pPr lvl="1">
              <a:buFontTx/>
              <a:buNone/>
            </a:pP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x+(y+z)=(x+y)+z</a:t>
            </a:r>
          </a:p>
          <a:p>
            <a:pPr lvl="1">
              <a:buFontTx/>
              <a:buNone/>
            </a:pP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x·(y·z)=(x·y)·z</a:t>
            </a:r>
          </a:p>
          <a:p>
            <a:pPr>
              <a:buSzTx/>
            </a:pPr>
            <a:r>
              <a:rPr lang="zh-CN" altLang="en-US" sz="2400" dirty="0">
                <a:latin typeface="+mn-lt"/>
                <a:ea typeface="宋体" panose="02010600030101010101" pitchFamily="2" charset="-122"/>
                <a:cs typeface="+mn-cs"/>
              </a:rPr>
              <a:t>分配律</a:t>
            </a: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:</a:t>
            </a:r>
          </a:p>
          <a:p>
            <a:pPr lvl="1">
              <a:buFontTx/>
              <a:buNone/>
            </a:pP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x+(y·z)=(x+y)·(x+z)</a:t>
            </a:r>
          </a:p>
          <a:p>
            <a:pPr lvl="1">
              <a:buFontTx/>
              <a:buNone/>
            </a:pPr>
            <a:r>
              <a:rPr lang="en-US" altLang="zh-CN" sz="2000" i="1" dirty="0">
                <a:latin typeface="+mn-lt"/>
                <a:ea typeface="宋体" panose="02010600030101010101" pitchFamily="2" charset="-122"/>
              </a:rPr>
              <a:t>x·(y+z)=x·y+x·z</a:t>
            </a:r>
          </a:p>
          <a:p>
            <a:pPr>
              <a:buSzTx/>
            </a:pPr>
            <a:r>
              <a:rPr lang="zh-CN" altLang="en-US" sz="2400" dirty="0">
                <a:latin typeface="+mn-lt"/>
                <a:ea typeface="宋体" panose="02010600030101010101" pitchFamily="2" charset="-122"/>
                <a:cs typeface="+mn-cs"/>
              </a:rPr>
              <a:t>德摩根律</a:t>
            </a: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:</a:t>
            </a:r>
          </a:p>
          <a:p>
            <a:pPr lvl="1">
              <a:buFontTx/>
              <a:buNone/>
            </a:pPr>
            <a:endParaRPr lang="en-US" altLang="zh-CN" sz="2000" dirty="0">
              <a:latin typeface="+mn-lt"/>
              <a:ea typeface="宋体" panose="02010600030101010101" pitchFamily="2" charset="-122"/>
            </a:endParaRPr>
          </a:p>
          <a:p>
            <a:pPr>
              <a:buSzTx/>
            </a:pPr>
            <a:r>
              <a:rPr lang="zh-CN" altLang="en-US" sz="2400" dirty="0">
                <a:latin typeface="+mn-lt"/>
                <a:ea typeface="宋体" panose="02010600030101010101" pitchFamily="2" charset="-122"/>
                <a:cs typeface="+mn-cs"/>
              </a:rPr>
              <a:t>吸收律</a:t>
            </a: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:</a:t>
            </a:r>
          </a:p>
          <a:p>
            <a:pPr lvl="1">
              <a:buFontTx/>
              <a:buNone/>
            </a:pPr>
            <a:r>
              <a:rPr lang="en-US" altLang="zh-CN" sz="2000" dirty="0">
                <a:latin typeface="+mn-lt"/>
                <a:ea typeface="宋体" panose="02010600030101010101" pitchFamily="2" charset="-122"/>
              </a:rPr>
              <a:t> </a:t>
            </a:r>
          </a:p>
          <a:p>
            <a:pPr>
              <a:buSzTx/>
            </a:pPr>
            <a:endParaRPr lang="en-US" altLang="zh-CN" sz="2000" i="1" dirty="0"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rcRect l="9434" t="57722" r="13208" b="34477"/>
          <a:stretch>
            <a:fillRect/>
          </a:stretch>
        </p:blipFill>
        <p:spPr>
          <a:xfrm>
            <a:off x="4953000" y="4191000"/>
            <a:ext cx="3124200" cy="381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rcRect l="11321" t="74883" r="9434" b="18331"/>
          <a:stretch>
            <a:fillRect/>
          </a:stretch>
        </p:blipFill>
        <p:spPr>
          <a:xfrm>
            <a:off x="4953000" y="5053965"/>
            <a:ext cx="3200400" cy="3314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DE0160E-130C-40CE-924C-159933F45E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761F455-47AB-49E8-A24C-502A314E37C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0117" name="矩形 1"/>
          <p:cNvSpPr>
            <a:spLocks noChangeArrowheads="1"/>
          </p:cNvSpPr>
          <p:nvPr/>
        </p:nvSpPr>
        <p:spPr bwMode="auto">
          <a:xfrm>
            <a:off x="533400" y="1905000"/>
            <a:ext cx="807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/>
              <a:t>(3)</a:t>
            </a:r>
            <a:r>
              <a:rPr lang="zh-CN" altLang="en-US" sz="1800"/>
              <a:t>布尔变元</a:t>
            </a:r>
            <a:r>
              <a:rPr lang="en-US" altLang="zh-CN" sz="1800"/>
              <a:t> x </a:t>
            </a:r>
            <a:r>
              <a:rPr lang="zh-CN" altLang="en-US" sz="1800"/>
              <a:t>和</a:t>
            </a:r>
            <a:r>
              <a:rPr lang="en-US" altLang="zh-CN" sz="1800"/>
              <a:t> y </a:t>
            </a:r>
            <a:r>
              <a:rPr lang="zh-CN" altLang="en-US" sz="1800"/>
              <a:t>分别取</a:t>
            </a:r>
            <a:r>
              <a:rPr lang="en-US" altLang="zh-CN" sz="1800"/>
              <a:t>____</a:t>
            </a:r>
            <a:r>
              <a:rPr lang="zh-CN" altLang="en-US" sz="1800"/>
              <a:t>和</a:t>
            </a:r>
            <a:r>
              <a:rPr lang="en-US" altLang="zh-CN" sz="1800">
                <a:sym typeface="+mn-ea"/>
              </a:rPr>
              <a:t>____</a:t>
            </a:r>
            <a:r>
              <a:rPr lang="zh-CN" altLang="en-US" sz="1800">
                <a:sym typeface="+mn-ea"/>
              </a:rPr>
              <a:t>，可满足</a:t>
            </a:r>
            <a:r>
              <a:rPr lang="en-US" altLang="zh-CN" sz="1800">
                <a:sym typeface="+mn-ea"/>
              </a:rPr>
              <a:t>x · y = x + 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DE0160E-130C-40CE-924C-159933F45E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761F455-47AB-49E8-A24C-502A314E37C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0117" name="矩形 1"/>
          <p:cNvSpPr>
            <a:spLocks noChangeArrowheads="1"/>
          </p:cNvSpPr>
          <p:nvPr/>
        </p:nvSpPr>
        <p:spPr bwMode="auto">
          <a:xfrm>
            <a:off x="533400" y="1905000"/>
            <a:ext cx="807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/>
              <a:t>(4) </a:t>
            </a:r>
            <a:r>
              <a:rPr lang="zh-CN" altLang="en-US" sz="1800">
                <a:sym typeface="+mn-ea"/>
              </a:rPr>
              <a:t>证明分配律</a:t>
            </a:r>
            <a:r>
              <a:rPr lang="en-US" altLang="zh-CN" sz="1800">
                <a:sym typeface="+mn-ea"/>
              </a:rPr>
              <a:t> x · (y + z) = x · y + x · z </a:t>
            </a:r>
            <a:r>
              <a:rPr lang="zh-CN" altLang="en-US" sz="1800">
                <a:sym typeface="+mn-ea"/>
              </a:rPr>
              <a:t>是正确的</a:t>
            </a:r>
            <a:endParaRPr lang="en-US" altLang="zh-CN" sz="180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7134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DE0160E-130C-40CE-924C-159933F45E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761F455-47AB-49E8-A24C-502A314E37C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0117" name="矩形 1"/>
          <p:cNvSpPr>
            <a:spLocks noChangeArrowheads="1"/>
          </p:cNvSpPr>
          <p:nvPr/>
        </p:nvSpPr>
        <p:spPr bwMode="auto">
          <a:xfrm>
            <a:off x="533400" y="1905000"/>
            <a:ext cx="807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/>
              <a:t>(5) </a:t>
            </a:r>
            <a:r>
              <a:rPr lang="zh-CN" altLang="en-US" sz="1800">
                <a:sym typeface="+mn-ea"/>
              </a:rPr>
              <a:t>证明吸收律</a:t>
            </a:r>
            <a:r>
              <a:rPr lang="en-US" altLang="zh-CN" sz="1800">
                <a:sym typeface="+mn-ea"/>
              </a:rPr>
              <a:t> x · (x + y) = x </a:t>
            </a:r>
            <a:r>
              <a:rPr lang="zh-CN" altLang="en-US" sz="1800">
                <a:sym typeface="+mn-ea"/>
              </a:rPr>
              <a:t>是正确的</a:t>
            </a:r>
            <a:endParaRPr lang="en-US" altLang="zh-CN" sz="180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6085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425AFB2-3253-41D5-8977-1124D6E4526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8196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8198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8203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8204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8199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0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1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2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819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>
                <a:ea typeface="宋体" panose="02010600030101010101" pitchFamily="2" charset="-122"/>
              </a:rPr>
              <a:t>对偶性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6323D3-76B9-47D8-8954-9F56DF362F99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21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94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ea typeface="宋体" panose="02010600030101010101" pitchFamily="2" charset="-122"/>
              </a:rPr>
              <a:t>对偶</a:t>
            </a:r>
            <a:r>
              <a:rPr lang="en-US" altLang="zh-CN" dirty="0">
                <a:ea typeface="宋体" panose="02010600030101010101" pitchFamily="2" charset="-122"/>
              </a:rPr>
              <a:t>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62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 vert="horz" wrap="square" lIns="91440" tIns="45720" rIns="91440" bIns="45720" anchor="t" anchorCtr="0"/>
              <a:lstStyle/>
              <a:p>
                <a:r>
                  <a:rPr lang="en-US" altLang="zh-CN" dirty="0">
                    <a:ea typeface="宋体" panose="02010600030101010101" pitchFamily="2" charset="-122"/>
                  </a:rPr>
                  <a:t>表示函数 </a:t>
                </a:r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f </a:t>
                </a:r>
                <a:r>
                  <a:rPr lang="en-US" altLang="zh-CN" dirty="0">
                    <a:ea typeface="宋体" panose="02010600030101010101" pitchFamily="2" charset="-122"/>
                  </a:rPr>
                  <a:t>的布尔表达式 </a:t>
                </a:r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e </a:t>
                </a:r>
                <a:r>
                  <a:rPr lang="en-US" altLang="zh-CN" i="1" dirty="0">
                    <a:ea typeface="宋体" panose="02010600030101010101" pitchFamily="2" charset="-122"/>
                  </a:rPr>
                  <a:t>的对偶 </a:t>
                </a:r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e</a:t>
                </a:r>
                <a:r>
                  <a:rPr lang="en-US" altLang="zh-CN" baseline="30000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d</a:t>
                </a:r>
                <a:r>
                  <a:rPr lang="en-US" altLang="zh-CN" dirty="0">
                    <a:ea typeface="宋体" panose="02010600030101010101" pitchFamily="2" charset="-122"/>
                  </a:rPr>
                  <a:t> 是通过在 </a:t>
                </a:r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e 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中用</a:t>
                </a:r>
                <a:r>
                  <a:rPr lang="en-US" altLang="zh-CN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替换</a:t>
                </a:r>
                <a:r>
                  <a:rPr lang="en-US" altLang="zh-CN" dirty="0">
                    <a:ea typeface="宋体" panose="02010600030101010101" pitchFamily="2" charset="-122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+</a:t>
                </a:r>
                <a:r>
                  <a:rPr lang="en-US" altLang="zh-CN" dirty="0">
                    <a:ea typeface="宋体" panose="02010600030101010101" pitchFamily="2" charset="-122"/>
                  </a:rPr>
                  <a:t>，用 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1 </a:t>
                </a:r>
                <a:r>
                  <a:rPr lang="en-US" altLang="zh-CN" dirty="0">
                    <a:ea typeface="宋体" panose="02010600030101010101" pitchFamily="2" charset="-122"/>
                  </a:rPr>
                  <a:t>替换 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0 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而得到的</a:t>
                </a:r>
                <a:r>
                  <a:rPr lang="en-US" altLang="zh-CN" dirty="0">
                    <a:ea typeface="宋体" panose="02010600030101010101" pitchFamily="2" charset="-122"/>
                  </a:rPr>
                  <a:t>。</a:t>
                </a:r>
              </a:p>
              <a:p>
                <a:pPr lvl="1"/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e</a:t>
                </a:r>
                <a:r>
                  <a:rPr lang="en-US" altLang="zh-CN" baseline="30000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d</a:t>
                </a:r>
                <a:r>
                  <a:rPr lang="en-US" altLang="zh-CN" dirty="0">
                    <a:ea typeface="宋体" panose="02010600030101010101" pitchFamily="2" charset="-122"/>
                  </a:rPr>
                  <a:t> 表示的函数为</a:t>
                </a:r>
                <a:r>
                  <a:rPr lang="en-US" altLang="zh-CN" sz="3200" dirty="0">
                    <a:ea typeface="宋体" panose="02010600030101010101" pitchFamily="2" charset="-122"/>
                    <a:cs typeface="+mn-cs"/>
                    <a:sym typeface="+mn-ea"/>
                  </a:rPr>
                  <a:t> </a:t>
                </a:r>
                <a:r>
                  <a:rPr lang="en-US" altLang="zh-CN" sz="3200" i="1" dirty="0">
                    <a:solidFill>
                      <a:srgbClr val="FF0000"/>
                    </a:solidFill>
                    <a:ea typeface="宋体" panose="02010600030101010101" pitchFamily="2" charset="-122"/>
                    <a:cs typeface="+mn-cs"/>
                    <a:sym typeface="+mn-ea"/>
                  </a:rPr>
                  <a:t>f</a:t>
                </a:r>
                <a:r>
                  <a:rPr lang="en-US" altLang="zh-CN" sz="3200" baseline="30000" dirty="0">
                    <a:solidFill>
                      <a:srgbClr val="FF0000"/>
                    </a:solidFill>
                    <a:ea typeface="宋体" panose="02010600030101010101" pitchFamily="2" charset="-122"/>
                    <a:cs typeface="+mn-cs"/>
                    <a:sym typeface="+mn-ea"/>
                  </a:rPr>
                  <a:t>d</a:t>
                </a:r>
                <a:endParaRPr lang="en-US" altLang="zh-CN" dirty="0">
                  <a:ea typeface="宋体" panose="02010600030101010101" pitchFamily="2" charset="-122"/>
                </a:endParaRPr>
              </a:p>
              <a:p>
                <a:r>
                  <a:rPr lang="en-US" altLang="zh-CN" b="1" dirty="0">
                    <a:ea typeface="宋体" panose="02010600030101010101" pitchFamily="2" charset="-122"/>
                  </a:rPr>
                  <a:t>对偶原理：</a:t>
                </a:r>
                <a:r>
                  <a:rPr lang="en-US" altLang="zh-CN" dirty="0">
                    <a:ea typeface="宋体" panose="02010600030101010101" pitchFamily="2" charset="-122"/>
                  </a:rPr>
                  <a:t>如果 </a:t>
                </a:r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  <a:sym typeface="+mn-ea"/>
                  </a:rPr>
                  <a:t>e</a:t>
                </a:r>
                <a:r>
                  <a:rPr lang="en-US" altLang="zh-CN" baseline="-25000" dirty="0">
                    <a:solidFill>
                      <a:srgbClr val="FF0000"/>
                    </a:solidFill>
                    <a:ea typeface="宋体" panose="02010600030101010101" pitchFamily="2" charset="-122"/>
                    <a:sym typeface="+mn-ea"/>
                  </a:rPr>
                  <a:t>1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</a:t>
                </a:r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e</a:t>
                </a:r>
                <a:r>
                  <a:rPr lang="en-US" altLang="zh-CN" baseline="-25000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 ，那么 </a:t>
                </a:r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e</a:t>
                </a:r>
                <a:r>
                  <a:rPr lang="en-US" altLang="zh-CN" baseline="-25000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r>
                  <a:rPr lang="en-US" altLang="zh-CN" baseline="30000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d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</a:t>
                </a:r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e</a:t>
                </a:r>
                <a:r>
                  <a:rPr lang="en-US" altLang="zh-CN" baseline="-25000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r>
                  <a:rPr lang="en-US" altLang="zh-CN" baseline="30000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d</a:t>
                </a:r>
                <a:endParaRPr lang="en-US" altLang="zh-CN" dirty="0">
                  <a:ea typeface="宋体" panose="02010600030101010101" pitchFamily="2" charset="-122"/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b="1" dirty="0">
                    <a:ea typeface="宋体" panose="02010600030101010101" pitchFamily="2" charset="-122"/>
                  </a:rPr>
                  <a:t>例题  </a:t>
                </a:r>
                <a:r>
                  <a:rPr lang="en-US" altLang="zh-CN" dirty="0">
                    <a:ea typeface="宋体" panose="02010600030101010101" pitchFamily="2" charset="-122"/>
                  </a:rPr>
                  <a:t>等价关系 </a:t>
                </a:r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x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(</a:t>
                </a:r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x+y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) 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= </a:t>
                </a:r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x </a:t>
                </a:r>
                <a:b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</a:br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蕴含着 </a:t>
                </a:r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x 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+ </a:t>
                </a:r>
                <a:r>
                  <a:rPr lang="en-US" altLang="zh-CN" i="1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xy 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= </a:t>
                </a:r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x </a:t>
                </a:r>
                <a:r>
                  <a:rPr lang="en-US" altLang="zh-CN" i="1" dirty="0">
                    <a:ea typeface="宋体" panose="02010600030101010101" pitchFamily="2" charset="-122"/>
                    <a:sym typeface="Symbol" panose="05050102010706020507" pitchFamily="18" charset="2"/>
                  </a:rPr>
                  <a:t>。</a:t>
                </a:r>
                <a:endParaRPr lang="en-US" altLang="zh-CN" dirty="0"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194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425AFB2-3253-41D5-8977-1124D6E4526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8196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8198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8203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8204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8199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0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1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2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819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>
                <a:ea typeface="宋体" panose="02010600030101010101" pitchFamily="2" charset="-122"/>
              </a:rPr>
              <a:t>布尔代数的抽象定义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D4D60-B1C1-418A-B1BD-8C31D86D4F8F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23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04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ea typeface="宋体" panose="02010600030101010101" pitchFamily="2" charset="-122"/>
              </a:rPr>
              <a:t>布尔代数的抽象定义</a:t>
            </a:r>
          </a:p>
        </p:txBody>
      </p:sp>
      <p:sp>
        <p:nvSpPr>
          <p:cNvPr id="2048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r>
              <a:rPr lang="en-US" altLang="zh-CN" sz="2800" dirty="0">
                <a:ea typeface="宋体" panose="02010600030101010101" pitchFamily="2" charset="-122"/>
              </a:rPr>
              <a:t>一般</a:t>
            </a:r>
            <a:r>
              <a:rPr lang="en-US" altLang="zh-CN" sz="2800" i="1" dirty="0">
                <a:ea typeface="宋体" panose="02010600030101010101" pitchFamily="2" charset="-122"/>
              </a:rPr>
              <a:t>布尔代数</a:t>
            </a:r>
            <a:r>
              <a:rPr lang="en-US" altLang="zh-CN" sz="2800" dirty="0">
                <a:ea typeface="宋体" panose="02010600030101010101" pitchFamily="2" charset="-122"/>
              </a:rPr>
              <a:t>是指具有元素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800" dirty="0"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、两个二元算子 </a:t>
            </a:r>
            <a:r>
              <a:rPr lang="en-US" altLang="zh-CN" sz="2800" b="1" dirty="0">
                <a:solidFill>
                  <a:srgbClr val="FF0000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, 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和一个一元算子 </a:t>
            </a:r>
            <a:r>
              <a:rPr lang="en-US" altLang="zh-CN" sz="2800" b="1" dirty="0">
                <a:solidFill>
                  <a:srgbClr val="FF0000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sz="2800" i="1" dirty="0">
                <a:ea typeface="宋体" panose="02010600030101010101" pitchFamily="2" charset="-122"/>
              </a:rPr>
              <a:t>的任意</a:t>
            </a:r>
            <a:r>
              <a:rPr lang="en-US" altLang="zh-CN" sz="2800" dirty="0">
                <a:ea typeface="宋体" panose="02010600030101010101" pitchFamily="2" charset="-122"/>
              </a:rPr>
              <a:t>集合 </a:t>
            </a:r>
            <a:r>
              <a:rPr lang="en-US" altLang="zh-CN" sz="2800" i="1" dirty="0">
                <a:ea typeface="宋体" panose="02010600030101010101" pitchFamily="2" charset="-122"/>
              </a:rPr>
              <a:t>B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，它满足以下规律：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同一律：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0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1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互补定律：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x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x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endParaRPr lang="en-US" altLang="zh-CN" sz="2400" b="1" i="1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关联法则：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xy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z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yz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),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xy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z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yz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交换律：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algn="l"/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分配律：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z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= 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z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,  			                                   				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z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z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34AFBD-F185-4E9F-9D44-73FDB6A0764C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24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15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关于布尔代数的更多信息</a:t>
            </a:r>
          </a:p>
        </p:txBody>
      </p:sp>
      <p:sp>
        <p:nvSpPr>
          <p:cNvPr id="215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</a:pPr>
            <a:r>
              <a:rPr lang="en-US" altLang="zh-CN" sz="2800" i="1" dirty="0">
                <a:ea typeface="宋体" panose="02010600030101010101" pitchFamily="2" charset="-122"/>
              </a:rPr>
              <a:t>任何</a:t>
            </a:r>
            <a:r>
              <a:rPr lang="en-US" altLang="zh-CN" sz="2800" dirty="0">
                <a:ea typeface="宋体" panose="02010600030101010101" pitchFamily="2" charset="-122"/>
              </a:rPr>
              <a:t>布尔代数都可以证明满足 "普通 "</a:t>
            </a:r>
            <a:r>
              <a:rPr lang="en-US" altLang="zh-CN" sz="2800" dirty="0" err="1">
                <a:ea typeface="宋体" panose="02010600030101010101" pitchFamily="2" charset="-122"/>
              </a:rPr>
              <a:t>布尔代数的所有定理</a:t>
            </a:r>
            <a:r>
              <a:rPr lang="en-US" altLang="zh-CN" sz="2800" dirty="0">
                <a:ea typeface="宋体" panose="02010600030101010101" pitchFamily="2" charset="-122"/>
              </a:rPr>
              <a:t>！</a:t>
            </a:r>
          </a:p>
          <a:p>
            <a:pPr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另一个布尔代数的例子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对于任意集合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U</a:t>
            </a:r>
            <a:r>
              <a:rPr lang="en-US" altLang="zh-CN" sz="2400" dirty="0">
                <a:ea typeface="宋体" panose="02010600030101010101" pitchFamily="2" charset="-122"/>
              </a:rPr>
              <a:t>，设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B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 = 2</a:t>
            </a:r>
            <a:r>
              <a:rPr lang="en-US" altLang="zh-CN" sz="2400" i="1" baseline="300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U</a:t>
            </a:r>
            <a:r>
              <a:rPr lang="en-US" altLang="zh-CN" sz="2400" dirty="0">
                <a:ea typeface="宋体" panose="02010600030101010101" pitchFamily="2" charset="-122"/>
                <a:cs typeface="+mn-cs"/>
                <a:sym typeface="+mn-ea"/>
              </a:rPr>
              <a:t>,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0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Symbol" panose="05050102010706020507" pitchFamily="18" charset="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</a:t>
            </a:r>
            <a:r>
              <a:rPr lang="en-US" altLang="zh-CN" sz="2400" dirty="0"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U</a:t>
            </a:r>
            <a:r>
              <a:rPr lang="en-US" altLang="zh-CN" sz="2400" dirty="0"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=</a:t>
            </a:r>
            <a:r>
              <a:rPr lang="en-US" altLang="zh-CN" sz="2400" dirty="0"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=</a:t>
            </a:r>
            <a:r>
              <a:rPr lang="en-US" altLang="zh-CN" sz="2400" dirty="0"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，以及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=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¯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（集合补集）。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那么，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,,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）</a:t>
            </a:r>
            <a:r>
              <a:rPr lang="en-US" altLang="zh-CN" sz="2000" dirty="0" err="1">
                <a:ea typeface="宋体" panose="02010600030101010101" pitchFamily="2" charset="-122"/>
                <a:sym typeface="Symbol" panose="05050102010706020507" pitchFamily="18" charset="2"/>
              </a:rPr>
              <a:t>就是一个布尔代数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425AFB2-3253-41D5-8977-1124D6E4526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8196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8198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8203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8204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8199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0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1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2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819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>
                <a:ea typeface="宋体" panose="02010600030101010101" pitchFamily="2" charset="-122"/>
              </a:rPr>
              <a:t>布尔函数的表示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09227A-C40C-474C-84DA-4EBC35807FD7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26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25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sz="2400" dirty="0">
                <a:ea typeface="宋体" panose="02010600030101010101" pitchFamily="2" charset="-122"/>
              </a:rPr>
              <a:t>表示布尔函数</a:t>
            </a:r>
          </a:p>
        </p:txBody>
      </p:sp>
      <p:sp>
        <p:nvSpPr>
          <p:cNvPr id="2253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乘积总和展开式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又名</a:t>
            </a:r>
            <a:r>
              <a:rPr lang="zh-CN" altLang="en-US" dirty="0">
                <a:ea typeface="宋体" panose="02010600030101010101" pitchFamily="2" charset="-122"/>
              </a:rPr>
              <a:t>析取范式</a:t>
            </a:r>
            <a:r>
              <a:rPr lang="en-US" altLang="zh-CN" dirty="0">
                <a:ea typeface="宋体" panose="02010600030101010101" pitchFamily="2" charset="-122"/>
              </a:rPr>
              <a:t> (DNF)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和</a:t>
            </a:r>
            <a:r>
              <a:rPr lang="zh-CN" altLang="en-US" dirty="0">
                <a:ea typeface="宋体" panose="02010600030101010101" pitchFamily="2" charset="-122"/>
              </a:rPr>
              <a:t>之</a:t>
            </a:r>
            <a:r>
              <a:rPr lang="en-US" altLang="zh-CN" dirty="0">
                <a:ea typeface="宋体" panose="02010600030101010101" pitchFamily="2" charset="-122"/>
              </a:rPr>
              <a:t>积扩展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又称</a:t>
            </a:r>
            <a:r>
              <a:rPr lang="zh-CN" altLang="en-US" dirty="0">
                <a:ea typeface="宋体" panose="02010600030101010101" pitchFamily="2" charset="-122"/>
              </a:rPr>
              <a:t>合取范式</a:t>
            </a:r>
            <a:r>
              <a:rPr lang="en-US" altLang="zh-CN" dirty="0">
                <a:ea typeface="宋体" panose="02010600030101010101" pitchFamily="2" charset="-122"/>
              </a:rPr>
              <a:t> (CNF)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功能完整性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最小功能完整的算子集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549391-C5B5-481F-B3F6-1E6AD33E48A5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27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乘积总和展开式</a:t>
            </a:r>
          </a:p>
        </p:txBody>
      </p:sp>
      <p:sp>
        <p:nvSpPr>
          <p:cNvPr id="235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r>
              <a:rPr lang="en-US" altLang="zh-CN" b="1" dirty="0">
                <a:ea typeface="宋体" panose="02010600030101010101" pitchFamily="2" charset="-122"/>
              </a:rPr>
              <a:t>定理</a:t>
            </a:r>
            <a:r>
              <a:rPr lang="en-US" altLang="zh-CN" dirty="0">
                <a:ea typeface="宋体" panose="02010600030101010101" pitchFamily="2" charset="-122"/>
              </a:rPr>
              <a:t>  任何布尔函数都可以表示为变量及其补码的乘积之和。</a:t>
            </a:r>
          </a:p>
          <a:p>
            <a:pPr lvl="1"/>
            <a:r>
              <a:rPr lang="en-US" altLang="zh-CN" b="1" dirty="0">
                <a:ea typeface="宋体" panose="02010600030101010101" pitchFamily="2" charset="-122"/>
              </a:rPr>
              <a:t>证明</a:t>
            </a:r>
            <a:r>
              <a:rPr lang="en-US" altLang="zh-CN" dirty="0">
                <a:ea typeface="宋体" panose="02010600030101010101" pitchFamily="2" charset="-122"/>
              </a:rPr>
              <a:t>  根据函数真值表构造。  对于每一行中的 1，在总和中加入一个项，这个项是一个乘积，代表变量具有该行给定值的条件。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6121BB-45D7-490C-89A2-2AE5ED279D5D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28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45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ea typeface="宋体" panose="02010600030101010101" pitchFamily="2" charset="-122"/>
              </a:rPr>
              <a:t>文字</a:t>
            </a:r>
            <a:r>
              <a:rPr lang="en-US" altLang="zh-CN" dirty="0">
                <a:ea typeface="宋体" panose="02010600030101010101" pitchFamily="2" charset="-122"/>
              </a:rPr>
              <a:t>、</a:t>
            </a:r>
            <a:r>
              <a:rPr lang="zh-CN" altLang="en-US" dirty="0">
                <a:ea typeface="宋体" panose="02010600030101010101" pitchFamily="2" charset="-122"/>
              </a:rPr>
              <a:t>小项</a:t>
            </a:r>
            <a:r>
              <a:rPr lang="en-US" altLang="zh-CN" dirty="0">
                <a:ea typeface="宋体" panose="02010600030101010101" pitchFamily="2" charset="-122"/>
              </a:rPr>
              <a:t>、DNF</a:t>
            </a:r>
          </a:p>
        </p:txBody>
      </p:sp>
      <p:sp>
        <p:nvSpPr>
          <p:cNvPr id="2458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一个文字</a:t>
            </a:r>
            <a:r>
              <a:rPr lang="en-US" altLang="zh-CN" sz="2800" dirty="0">
                <a:ea typeface="宋体" panose="02010600030101010101" pitchFamily="2" charset="-122"/>
              </a:rPr>
              <a:t>是布尔变量或其补码。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布尔变量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 ,...,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ea typeface="宋体" panose="02010600030101010101" pitchFamily="2" charset="-122"/>
              </a:rPr>
              <a:t> 的</a:t>
            </a:r>
            <a:r>
              <a:rPr lang="en-US" altLang="zh-CN" sz="2800" i="1" dirty="0">
                <a:ea typeface="宋体" panose="02010600030101010101" pitchFamily="2" charset="-122"/>
              </a:rPr>
              <a:t>最小</a:t>
            </a:r>
            <a:r>
              <a:rPr lang="en-US" altLang="zh-CN" sz="2800" dirty="0">
                <a:ea typeface="宋体" panose="02010600030101010101" pitchFamily="2" charset="-122"/>
              </a:rPr>
              <a:t>项是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n 个</a:t>
            </a:r>
            <a:r>
              <a:rPr lang="en-US" altLang="zh-CN" sz="2800" dirty="0">
                <a:ea typeface="宋体" panose="02010600030101010101" pitchFamily="2" charset="-122"/>
              </a:rPr>
              <a:t>字面量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 ...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en-US" altLang="zh-CN" sz="2800" i="1" u="sng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ea typeface="宋体" panose="02010600030101010101" pitchFamily="2" charset="-122"/>
              </a:rPr>
              <a:t> 的布尔积，其中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en-US" altLang="zh-CN" sz="2800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ea typeface="宋体" panose="02010600030101010101" pitchFamily="2" charset="-122"/>
              </a:rPr>
              <a:t> 是字面量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ea typeface="宋体" panose="02010600030101010101" pitchFamily="2" charset="-122"/>
              </a:rPr>
              <a:t> 或其补码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x 。</a:t>
            </a:r>
            <a:r>
              <a:rPr lang="en-US" altLang="zh-CN" sz="2800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请注意，最多有一个 </a:t>
            </a:r>
            <a:r>
              <a:rPr lang="zh-CN" altLang="en-US" sz="2400" dirty="0">
                <a:ea typeface="宋体" panose="02010600030101010101" pitchFamily="2" charset="-122"/>
              </a:rPr>
              <a:t>小项</a:t>
            </a:r>
            <a:r>
              <a:rPr lang="en-US" altLang="zh-CN" sz="2400" dirty="0">
                <a:ea typeface="宋体" panose="02010600030101010101" pitchFamily="2" charset="-122"/>
              </a:rPr>
              <a:t>的值为 1。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度-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800" dirty="0">
                <a:ea typeface="宋体" panose="02010600030101010101" pitchFamily="2" charset="-122"/>
              </a:rPr>
              <a:t>布尔函数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800" dirty="0">
                <a:ea typeface="宋体" panose="02010600030101010101" pitchFamily="2" charset="-122"/>
              </a:rPr>
              <a:t>的</a:t>
            </a:r>
            <a:r>
              <a:rPr lang="zh-CN" altLang="en-US" sz="2800" i="1" dirty="0">
                <a:ea typeface="宋体" panose="02010600030101010101" pitchFamily="2" charset="-122"/>
              </a:rPr>
              <a:t>析取范式</a:t>
            </a:r>
            <a:r>
              <a:rPr lang="en-US" altLang="zh-CN" sz="2800" dirty="0">
                <a:ea typeface="宋体" panose="02010600030101010101" pitchFamily="2" charset="-122"/>
              </a:rPr>
              <a:t>(DNF) 是表示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800" dirty="0">
                <a:ea typeface="宋体" panose="02010600030101010101" pitchFamily="2" charset="-122"/>
              </a:rPr>
              <a:t>的变量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 ,...,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ea typeface="宋体" panose="02010600030101010101" pitchFamily="2" charset="-122"/>
              </a:rPr>
              <a:t> 的唯一最小项之和。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又称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dirty="0">
                <a:ea typeface="宋体" panose="02010600030101010101" pitchFamily="2" charset="-122"/>
              </a:rPr>
              <a:t>的乘积总和展开式。</a:t>
            </a:r>
          </a:p>
        </p:txBody>
      </p:sp>
      <p:sp>
        <p:nvSpPr>
          <p:cNvPr id="24583" name="Line 4"/>
          <p:cNvSpPr/>
          <p:nvPr/>
        </p:nvSpPr>
        <p:spPr>
          <a:xfrm>
            <a:off x="6629400" y="2743200"/>
            <a:ext cx="30480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127776-5F54-479C-981E-1158972A4F24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29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56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ea typeface="宋体" panose="02010600030101010101" pitchFamily="2" charset="-122"/>
              </a:rPr>
              <a:t>合取范式</a:t>
            </a:r>
          </a:p>
        </p:txBody>
      </p:sp>
      <p:sp>
        <p:nvSpPr>
          <p:cNvPr id="2560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r>
              <a:rPr lang="zh-CN" altLang="en-US" sz="2800" i="1" dirty="0">
                <a:ea typeface="宋体" panose="02010600030101010101" pitchFamily="2" charset="-122"/>
              </a:rPr>
              <a:t>大项</a:t>
            </a:r>
            <a:r>
              <a:rPr lang="en-US" altLang="zh-CN" sz="2800" dirty="0">
                <a:ea typeface="宋体" panose="02010600030101010101" pitchFamily="2" charset="-122"/>
              </a:rPr>
              <a:t>是字面量的总和。</a:t>
            </a:r>
          </a:p>
          <a:p>
            <a:r>
              <a:rPr lang="en-US" altLang="zh-CN" sz="2800" dirty="0">
                <a:ea typeface="宋体" panose="02010600030101010101" pitchFamily="2" charset="-122"/>
              </a:rPr>
              <a:t>CNF 是一种 "</a:t>
            </a:r>
            <a:r>
              <a:rPr lang="en-US" altLang="zh-CN" sz="2800" i="1" dirty="0">
                <a:ea typeface="宋体" panose="02010600030101010101" pitchFamily="2" charset="-122"/>
              </a:rPr>
              <a:t>积"（product-of-maxterms</a:t>
            </a:r>
            <a:r>
              <a:rPr lang="en-US" altLang="zh-CN" sz="2800" dirty="0">
                <a:ea typeface="宋体" panose="02010600030101010101" pitchFamily="2" charset="-122"/>
              </a:rPr>
              <a:t>）表示法。</a:t>
            </a:r>
          </a:p>
          <a:p>
            <a:r>
              <a:rPr lang="en-US" altLang="zh-CN" sz="2800" dirty="0">
                <a:ea typeface="宋体" panose="02010600030101010101" pitchFamily="2" charset="-122"/>
              </a:rPr>
              <a:t>找出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800" dirty="0">
                <a:ea typeface="宋体" panose="02010600030101010101" pitchFamily="2" charset="-122"/>
              </a:rPr>
              <a:t>的 CNF 表示、</a:t>
            </a:r>
          </a:p>
          <a:p>
            <a:r>
              <a:rPr lang="en-US" altLang="zh-CN" sz="2800" dirty="0">
                <a:ea typeface="宋体" panose="02010600030101010101" pitchFamily="2" charset="-122"/>
              </a:rPr>
              <a:t>以 DNF 表示补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800" dirty="0">
                <a:ea typeface="宋体" panose="02010600030101010101" pitchFamily="2" charset="-122"/>
              </a:rPr>
              <a:t>、</a:t>
            </a:r>
          </a:p>
          <a:p>
            <a:pPr lvl="1" algn="l"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 			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 =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 ∑</a:t>
            </a:r>
            <a:r>
              <a:rPr lang="en-US" altLang="zh-CN" sz="2400" i="1" baseline="-25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∏</a:t>
            </a:r>
            <a:r>
              <a:rPr lang="en-US" altLang="zh-CN" sz="2400" i="1" baseline="-25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 y</a:t>
            </a:r>
            <a:r>
              <a:rPr lang="en-US" altLang="zh-CN" sz="2400" i="1" baseline="-25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sz="2400" i="1" baseline="-25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j</a:t>
            </a:r>
            <a:endParaRPr lang="en-US" altLang="zh-CN" sz="2400" i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然后对双方进行补充，应用德摩根定律获得：</a:t>
            </a:r>
          </a:p>
          <a:p>
            <a:pPr lvl="1" algn="l"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			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 =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 ∏</a:t>
            </a:r>
            <a:r>
              <a:rPr lang="en-US" altLang="zh-CN" sz="2400" i="1" baseline="-25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∑</a:t>
            </a:r>
            <a:r>
              <a:rPr lang="en-US" altLang="zh-CN" sz="2400" i="1" baseline="-25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y</a:t>
            </a:r>
            <a:r>
              <a:rPr lang="en-US" altLang="zh-CN" sz="2400" i="1" baseline="-25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sz="2400" i="1" baseline="-25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j</a:t>
            </a:r>
            <a:endParaRPr lang="en-US" altLang="zh-CN" sz="2400" i="1" baseline="-25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5607" name="Text Box 4"/>
          <p:cNvSpPr txBox="1"/>
          <p:nvPr/>
        </p:nvSpPr>
        <p:spPr>
          <a:xfrm>
            <a:off x="5486400" y="4953000"/>
            <a:ext cx="3098800" cy="1225550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也可以更直接地获取 CNF</a:t>
            </a:r>
            <a:br>
              <a:rPr lang="en-US" altLang="zh-CN" sz="1800" dirty="0">
                <a:ea typeface="宋体" panose="02010600030101010101" pitchFamily="2" charset="-122"/>
              </a:rPr>
            </a:br>
            <a:r>
              <a:rPr lang="en-US" altLang="zh-CN" sz="1800" dirty="0">
                <a:ea typeface="宋体" panose="02010600030101010101" pitchFamily="2" charset="-122"/>
              </a:rPr>
              <a:t>直接使用真值表的 0</a:t>
            </a:r>
            <a:br>
              <a:rPr lang="en-US" altLang="zh-CN" sz="1800" dirty="0">
                <a:ea typeface="宋体" panose="02010600030101010101" pitchFamily="2" charset="-122"/>
              </a:rPr>
            </a:br>
            <a:r>
              <a:rPr lang="en-US" altLang="zh-CN" sz="1800" dirty="0">
                <a:ea typeface="宋体" panose="02010600030101010101" pitchFamily="2" charset="-122"/>
              </a:rPr>
              <a:t>真值表中的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425AFB2-3253-41D5-8977-1124D6E4526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8196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8198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8203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8204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8199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0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1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2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819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>
                <a:ea typeface="宋体" panose="02010600030101010101" pitchFamily="2" charset="-122"/>
              </a:rPr>
              <a:t>函数完备性、可逆布尔函数、量子逻辑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D46C76-FB92-44BE-859D-133714097851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31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66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ea typeface="宋体" panose="02010600030101010101" pitchFamily="2" charset="-122"/>
              </a:rPr>
              <a:t>函数完备性</a:t>
            </a:r>
          </a:p>
        </p:txBody>
      </p:sp>
      <p:sp>
        <p:nvSpPr>
          <p:cNvPr id="2663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由于每个布尔函数都可以用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-</a:t>
            </a:r>
            <a:r>
              <a:rPr lang="en-US" altLang="zh-CN" sz="2800" dirty="0">
                <a:ea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+</a:t>
            </a:r>
            <a:r>
              <a:rPr lang="en-US" altLang="zh-CN" sz="2800" dirty="0">
                <a:ea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¯</a:t>
            </a:r>
            <a:r>
              <a:rPr lang="en-US" altLang="zh-CN" sz="2800" dirty="0">
                <a:ea typeface="宋体" panose="02010600030101010101" pitchFamily="2" charset="-122"/>
              </a:rPr>
              <a:t>来表示，因此我们说运算符集合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{-,+,¯} </a:t>
            </a:r>
            <a:r>
              <a:rPr lang="en-US" altLang="zh-CN" sz="2800" i="1" dirty="0">
                <a:ea typeface="宋体" panose="02010600030101010101" pitchFamily="2" charset="-122"/>
              </a:rPr>
              <a:t>在函数上是完备的</a:t>
            </a:r>
            <a:r>
              <a:rPr lang="en-US" altLang="zh-CN" sz="2800" dirty="0"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还有一些较小的运算符组，它们在功能上也是完整的。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我们可以利用德摩根定律消除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- </a:t>
            </a:r>
            <a:r>
              <a:rPr lang="en-US" altLang="zh-CN" sz="2400" dirty="0">
                <a:ea typeface="宋体" panose="02010600030101010101" pitchFamily="2" charset="-122"/>
              </a:rPr>
              <a:t>或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+。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NAND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 | </a:t>
            </a:r>
            <a:r>
              <a:rPr lang="en-US" altLang="zh-CN" sz="2800" dirty="0">
                <a:ea typeface="宋体" panose="02010600030101010101" pitchFamily="2" charset="-122"/>
              </a:rPr>
              <a:t>和 NOR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 ↓ </a:t>
            </a:r>
            <a:r>
              <a:rPr lang="en-US" altLang="zh-CN" sz="2800" dirty="0">
                <a:ea typeface="宋体" panose="02010600030101010101" pitchFamily="2" charset="-122"/>
              </a:rPr>
              <a:t>本身也是功能完备的（作为单子集）。</a:t>
            </a:r>
          </a:p>
          <a:p>
            <a:pPr lvl="1">
              <a:lnSpc>
                <a:spcPct val="90000"/>
              </a:lnSpc>
            </a:pPr>
            <a:r>
              <a:rPr lang="en-US" altLang="zh-CN" sz="2400" i="1" dirty="0">
                <a:ea typeface="宋体" panose="02010600030101010101" pitchFamily="2" charset="-122"/>
              </a:rPr>
              <a:t>例如</a:t>
            </a:r>
            <a:r>
              <a:rPr lang="en-US" altLang="zh-CN" sz="2400" dirty="0">
                <a:ea typeface="宋体" panose="02010600030101010101" pitchFamily="2" charset="-122"/>
              </a:rPr>
              <a:t>，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x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x|x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xy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x|y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)|(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x|y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8DA22D-4223-43C1-9585-D0904A3EAB40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32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76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可逆布尔逻辑</a:t>
            </a:r>
          </a:p>
        </p:txBody>
      </p:sp>
      <p:sp>
        <p:nvSpPr>
          <p:cNvPr id="276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度数为 </a:t>
            </a:r>
            <a:r>
              <a:rPr lang="en-US" altLang="zh-CN" sz="2800" i="1" dirty="0">
                <a:ea typeface="宋体" panose="02010600030101010101" pitchFamily="2" charset="-122"/>
              </a:rPr>
              <a:t>n 的可逆</a:t>
            </a:r>
            <a:r>
              <a:rPr lang="en-US" altLang="zh-CN" sz="2800" dirty="0">
                <a:ea typeface="宋体" panose="02010600030101010101" pitchFamily="2" charset="-122"/>
              </a:rPr>
              <a:t>布尔函数是一个双射函数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: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 sz="2800" i="1" baseline="30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↔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 sz="2800" i="1" baseline="30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n</a:t>
            </a:r>
          </a:p>
          <a:p>
            <a:pPr lvl="1">
              <a:lnSpc>
                <a:spcPct val="90000"/>
              </a:lnSpc>
            </a:pPr>
            <a:r>
              <a:rPr lang="en-US" altLang="zh-CN" sz="2100" dirty="0">
                <a:ea typeface="宋体" panose="02010600030101010101" pitchFamily="2" charset="-122"/>
              </a:rPr>
              <a:t>也对应于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B</a:t>
            </a:r>
            <a:r>
              <a:rPr lang="en-US" altLang="zh-CN" sz="2400" i="1" baseline="300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n</a:t>
            </a:r>
            <a:r>
              <a:rPr lang="en-US" altLang="zh-CN" sz="2100" dirty="0"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可逆一元布尔算子和二元布尔算子分别是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B </a:t>
            </a:r>
            <a:r>
              <a:rPr lang="en-US" altLang="zh-CN" sz="2800" dirty="0">
                <a:ea typeface="宋体" panose="02010600030101010101" pitchFamily="2" charset="-122"/>
              </a:rPr>
              <a:t>和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8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 上的双射算子。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一元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B↔B</a:t>
            </a:r>
            <a:r>
              <a:rPr lang="en-US" altLang="zh-CN" sz="2400" dirty="0">
                <a:ea typeface="宋体" panose="02010600030101010101" pitchFamily="2" charset="-122"/>
              </a:rPr>
              <a:t>，二元 </a:t>
            </a:r>
            <a:r>
              <a:rPr lang="en-US" altLang="zh-CN" sz="2400" dirty="0">
                <a:ea typeface="宋体" panose="02010600030101010101" pitchFamily="2" charset="-122"/>
                <a:cs typeface="+mn-cs"/>
                <a:sym typeface="+mn-ea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f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: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B</a:t>
            </a:r>
            <a:r>
              <a:rPr lang="en-US" altLang="zh-CN" sz="2400" baseline="300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↔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B</a:t>
            </a:r>
            <a:r>
              <a:rPr lang="en-US" altLang="zh-CN" sz="2400" baseline="30000" dirty="0">
                <a:solidFill>
                  <a:srgbClr val="FF0000"/>
                </a:solidFill>
                <a:ea typeface="宋体" panose="02010600030101010101" pitchFamily="2" charset="-122"/>
                <a:cs typeface="+mn-cs"/>
                <a:sym typeface="+mn-ea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事实证明，</a:t>
            </a:r>
            <a:r>
              <a:rPr lang="en-US" altLang="zh-CN" sz="2400" i="1" dirty="0">
                <a:ea typeface="宋体" panose="02010600030101010101" pitchFamily="2" charset="-122"/>
              </a:rPr>
              <a:t>没有</a:t>
            </a:r>
            <a:r>
              <a:rPr lang="en-US" altLang="zh-CN" sz="2400" dirty="0">
                <a:ea typeface="宋体" panose="02010600030101010101" pitchFamily="2" charset="-122"/>
              </a:rPr>
              <a:t>一组可逆的一元和二元布尔算子在功能上是完整的！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然而，有许多三元可逆算子即使作为单子，在功能上也是完整的。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0F6BA0-E099-4744-8554-329268B9871F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9/10/26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(c)2001-2003, Michael P. Frank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zh-CN" sz="1200" dirty="0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</a:rPr>
              <a:t>33</a:t>
            </a:fld>
            <a:endParaRPr lang="en-US" altLang="zh-CN" sz="1200" dirty="0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86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ea typeface="宋体" panose="02010600030101010101" pitchFamily="2" charset="-122"/>
              </a:rPr>
              <a:t>一点量子逻辑</a:t>
            </a:r>
          </a:p>
        </p:txBody>
      </p:sp>
      <p:sp>
        <p:nvSpPr>
          <p:cNvPr id="2867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</a:pPr>
            <a:r>
              <a:rPr lang="en-US" altLang="zh-CN" sz="2800" i="1" dirty="0">
                <a:ea typeface="宋体" panose="02010600030101010101" pitchFamily="2" charset="-122"/>
              </a:rPr>
              <a:t>量子布尔函数</a:t>
            </a:r>
            <a:r>
              <a:rPr lang="en-US" altLang="zh-CN" sz="2800" dirty="0">
                <a:ea typeface="宋体" panose="02010600030101010101" pitchFamily="2" charset="-122"/>
              </a:rPr>
              <a:t>是一个双射线性函数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:C</a:t>
            </a:r>
            <a:r>
              <a:rPr lang="en-US" altLang="zh-CN" sz="2800" baseline="30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2800" baseline="30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+mn-ea"/>
              </a:rPr>
              <a:t>ⁿ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↔C</a:t>
            </a:r>
            <a:r>
              <a:rPr lang="en-US" altLang="zh-CN" sz="2800" baseline="30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2800" baseline="30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sym typeface="+mn-ea"/>
              </a:rPr>
              <a:t>ⁿ</a:t>
            </a:r>
            <a:endParaRPr lang="en-US" altLang="zh-CN" sz="2800" dirty="0">
              <a:ea typeface="Arial Unicode MS" panose="020B0604020202020204" pitchFamily="34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ea typeface="Arial Unicode MS" panose="020B0604020202020204" pitchFamily="34" charset="-122"/>
              </a:rPr>
              <a:t>也就是说，它将 </a:t>
            </a:r>
            <a:r>
              <a:rPr lang="en-US" altLang="zh-CN" sz="2400" dirty="0">
                <a:solidFill>
                  <a:srgbClr val="FF0000"/>
                </a:solidFill>
                <a:ea typeface="Arial Unicode MS" panose="020B0604020202020204" pitchFamily="34" charset="-122"/>
              </a:rPr>
              <a:t>2</a:t>
            </a:r>
            <a:r>
              <a:rPr lang="en-US" altLang="zh-CN" sz="2400" i="1" baseline="30000" dirty="0">
                <a:solidFill>
                  <a:srgbClr val="FF0000"/>
                </a:solidFill>
                <a:ea typeface="Arial Unicode MS" panose="020B0604020202020204" pitchFamily="34" charset="-122"/>
              </a:rPr>
              <a:t>n</a:t>
            </a:r>
            <a:r>
              <a:rPr lang="en-US" altLang="zh-CN" sz="2400" dirty="0">
                <a:ea typeface="Arial Unicode MS" panose="020B0604020202020204" pitchFamily="34" charset="-122"/>
              </a:rPr>
              <a:t> 复数向量（每个 </a:t>
            </a:r>
            <a:r>
              <a:rPr lang="en-US" altLang="zh-CN" sz="2400" i="1" dirty="0">
                <a:solidFill>
                  <a:srgbClr val="FF0000"/>
                </a:solidFill>
                <a:ea typeface="Arial Unicode MS" panose="020B0604020202020204" pitchFamily="34" charset="-122"/>
              </a:rPr>
              <a:t>n 位</a:t>
            </a:r>
            <a:r>
              <a:rPr lang="en-US" altLang="zh-CN" sz="2400" dirty="0">
                <a:ea typeface="Arial Unicode MS" panose="020B0604020202020204" pitchFamily="34" charset="-122"/>
              </a:rPr>
              <a:t>布尔值字符串对应一个复数向量）进行可逆的线性映射。</a:t>
            </a: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ea typeface="Arial Unicode MS" panose="020B0604020202020204" pitchFamily="34" charset="-122"/>
              </a:rPr>
              <a:t>任何可逆布尔函数都对应于量子布尔函数，其中 </a:t>
            </a:r>
            <a:r>
              <a:rPr lang="en-US" altLang="zh-CN" sz="2400" i="1" dirty="0">
                <a:solidFill>
                  <a:srgbClr val="FF0000"/>
                </a:solidFill>
                <a:ea typeface="Arial Unicode MS" panose="020B0604020202020204" pitchFamily="34" charset="-122"/>
              </a:rPr>
              <a:t>B</a:t>
            </a:r>
            <a:r>
              <a:rPr lang="en-US" altLang="zh-CN" sz="2400" i="1" baseline="30000" dirty="0">
                <a:solidFill>
                  <a:srgbClr val="FF0000"/>
                </a:solidFill>
                <a:ea typeface="Arial Unicode MS" panose="020B0604020202020204" pitchFamily="34" charset="-122"/>
              </a:rPr>
              <a:t>n</a:t>
            </a:r>
            <a:r>
              <a:rPr lang="en-US" altLang="zh-CN" sz="2400" dirty="0">
                <a:ea typeface="Arial Unicode MS" panose="020B0604020202020204" pitchFamily="34" charset="-122"/>
              </a:rPr>
              <a:t> 中的字符串用 </a:t>
            </a:r>
            <a:r>
              <a:rPr lang="en-US" altLang="zh-CN" sz="2400" dirty="0">
                <a:solidFill>
                  <a:srgbClr val="FF0000"/>
                </a:solidFill>
                <a:ea typeface="Arial Unicode MS" panose="020B0604020202020204" pitchFamily="34" charset="-122"/>
              </a:rPr>
              <a:t>c=1 </a:t>
            </a:r>
            <a:r>
              <a:rPr lang="en-US" altLang="zh-CN" sz="2400" dirty="0">
                <a:ea typeface="Arial Unicode MS" panose="020B0604020202020204" pitchFamily="34" charset="-122"/>
              </a:rPr>
              <a:t>表示，其他字符串用 </a:t>
            </a:r>
            <a:r>
              <a:rPr lang="en-US" altLang="zh-CN" sz="2400" dirty="0">
                <a:solidFill>
                  <a:srgbClr val="FF0000"/>
                </a:solidFill>
                <a:ea typeface="Arial Unicode MS" panose="020B0604020202020204" pitchFamily="34" charset="-122"/>
              </a:rPr>
              <a:t>c=0 </a:t>
            </a:r>
            <a:r>
              <a:rPr lang="en-US" altLang="zh-CN" sz="2400" dirty="0">
                <a:ea typeface="Arial Unicode MS" panose="020B0604020202020204" pitchFamily="34" charset="-122"/>
              </a:rPr>
              <a:t>表示。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ea typeface="Arial Unicode MS" panose="020B0604020202020204" pitchFamily="34" charset="-122"/>
              </a:rPr>
              <a:t>任何量子布尔函数都可以由只操作 </a:t>
            </a:r>
            <a:r>
              <a:rPr lang="en-US" altLang="zh-CN" sz="2800" dirty="0">
                <a:ea typeface="宋体" panose="02010600030101010101" pitchFamily="2" charset="-122"/>
              </a:rPr>
              <a:t>C 和 C</a:t>
            </a:r>
            <a:r>
              <a:rPr lang="en-US" altLang="zh-CN" sz="2800" baseline="30000" dirty="0">
                <a:ea typeface="宋体" panose="02010600030101010101" pitchFamily="2" charset="-122"/>
              </a:rPr>
              <a:t>2</a:t>
            </a:r>
            <a:r>
              <a:rPr lang="en-US" altLang="zh-CN" sz="2800" i="1" dirty="0">
                <a:ea typeface="Arial Unicode MS" panose="020B0604020202020204" pitchFamily="34" charset="-122"/>
              </a:rPr>
              <a:t> 的量子算子</a:t>
            </a:r>
            <a:r>
              <a:rPr lang="en-US" altLang="zh-CN" sz="2800" dirty="0">
                <a:ea typeface="Arial Unicode MS" panose="020B0604020202020204" pitchFamily="34" charset="-122"/>
              </a:rPr>
              <a:t>构建而成。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ea typeface="Arial Unicode MS" panose="020B0604020202020204" pitchFamily="34" charset="-122"/>
              </a:rPr>
              <a:t>量化技术无需三元门！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12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34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119811" name="Rectangle 2"/>
          <p:cNvSpPr>
            <a:spLocks noGrp="1"/>
          </p:cNvSpPr>
          <p:nvPr>
            <p:ph type="subTitle" idx="1"/>
          </p:nvPr>
        </p:nvSpPr>
        <p:spPr>
          <a:xfrm>
            <a:off x="2819400" y="4953000"/>
            <a:ext cx="5167313" cy="414338"/>
          </a:xfrm>
        </p:spPr>
        <p:txBody>
          <a:bodyPr vert="horz" wrap="square" lIns="91440" tIns="45720" rIns="91440" bIns="45720" anchor="t" anchorCtr="0"/>
          <a:lstStyle/>
          <a:p>
            <a:pPr algn="dist" eaLnBrk="1" hangingPunct="1">
              <a:lnSpc>
                <a:spcPct val="80000"/>
              </a:lnSpc>
              <a:buSzTx/>
            </a:pPr>
            <a:r>
              <a:rPr lang="en-US" altLang="zh-CN" sz="1800" b="1" dirty="0">
                <a:solidFill>
                  <a:schemeClr val="bg1"/>
                </a:solidFill>
                <a:latin typeface="+mn-lt"/>
                <a:ea typeface="宋体" panose="02010600030101010101" pitchFamily="2" charset="-122"/>
                <a:cs typeface="+mn-cs"/>
              </a:rPr>
              <a:t>点击编辑公司标语。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295486" y="4818581"/>
            <a:ext cx="6829425" cy="11416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6000" b="1" i="0" u="none" strike="noStrike" kern="10" cap="none" spc="0" normalizeH="0" baseline="0" noProof="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uLnTx/>
                <a:uFillTx/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第 1.6 节结束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5.95,&quot;left&quot;:29.98755905511812,&quot;top&quot;:116.3,&quot;width&quot;:504.0124409448819}"/>
</p:tagLst>
</file>

<file path=ppt/theme/theme1.xml><?xml version="1.0" encoding="utf-8"?>
<a:theme xmlns:a="http://schemas.openxmlformats.org/drawingml/2006/main" name="sample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1433</Words>
  <Application>Microsoft Macintosh PowerPoint</Application>
  <PresentationFormat>全屏显示(4:3)</PresentationFormat>
  <Paragraphs>257</Paragraphs>
  <Slides>34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宋体</vt:lpstr>
      <vt:lpstr>Arial Unicode MS</vt:lpstr>
      <vt:lpstr>Arial</vt:lpstr>
      <vt:lpstr>Arial Black</vt:lpstr>
      <vt:lpstr>Cambria Math</vt:lpstr>
      <vt:lpstr>Symbol</vt:lpstr>
      <vt:lpstr>Verdana</vt:lpstr>
      <vt:lpstr>Wingdings</vt:lpstr>
      <vt:lpstr>sample</vt:lpstr>
      <vt:lpstr>Equation.3</vt:lpstr>
      <vt:lpstr>离散数学</vt:lpstr>
      <vt:lpstr>PowerPoint 演示文稿</vt:lpstr>
      <vt:lpstr>目录</vt:lpstr>
      <vt:lpstr>什么是布尔代数？</vt:lpstr>
      <vt:lpstr>示例 </vt:lpstr>
      <vt:lpstr>PowerPoint 演示文稿</vt:lpstr>
      <vt:lpstr>布尔函数</vt:lpstr>
      <vt:lpstr>补充、总和、乘积</vt:lpstr>
      <vt:lpstr>布尔函数</vt:lpstr>
      <vt:lpstr>布尔表达式</vt:lpstr>
      <vt:lpstr>11_1_01.jpg</vt:lpstr>
      <vt:lpstr>超立方表示法</vt:lpstr>
      <vt:lpstr>练习</vt:lpstr>
      <vt:lpstr>练习</vt:lpstr>
      <vt:lpstr>布尔等价，布尔表达式的运算</vt:lpstr>
      <vt:lpstr>一些常用的布尔特性</vt:lpstr>
      <vt:lpstr>练习</vt:lpstr>
      <vt:lpstr>练习</vt:lpstr>
      <vt:lpstr>练习</vt:lpstr>
      <vt:lpstr>PowerPoint 演示文稿</vt:lpstr>
      <vt:lpstr>对偶性</vt:lpstr>
      <vt:lpstr>PowerPoint 演示文稿</vt:lpstr>
      <vt:lpstr>布尔代数的抽象定义</vt:lpstr>
      <vt:lpstr>关于布尔代数的更多信息</vt:lpstr>
      <vt:lpstr>PowerPoint 演示文稿</vt:lpstr>
      <vt:lpstr>表示布尔函数</vt:lpstr>
      <vt:lpstr>乘积总和展开式</vt:lpstr>
      <vt:lpstr>文字、小项、DNF</vt:lpstr>
      <vt:lpstr>合取范式</vt:lpstr>
      <vt:lpstr>PowerPoint 演示文稿</vt:lpstr>
      <vt:lpstr>函数完备性</vt:lpstr>
      <vt:lpstr>可逆布尔逻辑</vt:lpstr>
      <vt:lpstr>一点量子逻辑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keywords>, docId:50BFE682DA20EB1F77840F037BF09EF1</cp:keywords>
  <cp:lastModifiedBy>Ying Su</cp:lastModifiedBy>
  <cp:revision>88</cp:revision>
  <dcterms:created xsi:type="dcterms:W3CDTF">2019-08-26T12:55:00Z</dcterms:created>
  <dcterms:modified xsi:type="dcterms:W3CDTF">2026-09-10T08:54:53Z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2052-12.1.0.21541</vt:lpwstr>
  </property>
  <property fmtid="{D5CDD505-2E9C-101B-9397-08002B2CF9AE}" pid="4" name="ICV">
    <vt:lpwstr>8D2BE353FDFA4F14910B493553598FA7_13</vt:lpwstr>
  </property>
</Properties>
</file>