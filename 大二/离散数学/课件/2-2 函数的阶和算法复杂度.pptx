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</p:sldMasterIdLst>
  <p:notesMasterIdLst>
    <p:notesMasterId r:id="rId133"/>
  </p:notesMasterIdLst>
  <p:sldIdLst>
    <p:sldId id="257" r:id="rId4"/>
    <p:sldId id="258" r:id="rId5"/>
    <p:sldId id="259" r:id="rId6"/>
    <p:sldId id="260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422" r:id="rId16"/>
    <p:sldId id="287" r:id="rId17"/>
    <p:sldId id="289" r:id="rId18"/>
    <p:sldId id="290" r:id="rId19"/>
    <p:sldId id="291" r:id="rId20"/>
    <p:sldId id="292" r:id="rId21"/>
    <p:sldId id="299" r:id="rId22"/>
    <p:sldId id="396" r:id="rId23"/>
    <p:sldId id="301" r:id="rId24"/>
    <p:sldId id="300" r:id="rId25"/>
    <p:sldId id="302" r:id="rId26"/>
    <p:sldId id="303" r:id="rId27"/>
    <p:sldId id="304" r:id="rId28"/>
    <p:sldId id="305" r:id="rId29"/>
    <p:sldId id="306" r:id="rId30"/>
    <p:sldId id="307" r:id="rId31"/>
    <p:sldId id="308" r:id="rId32"/>
    <p:sldId id="309" r:id="rId33"/>
    <p:sldId id="311" r:id="rId34"/>
    <p:sldId id="312" r:id="rId35"/>
    <p:sldId id="313" r:id="rId36"/>
    <p:sldId id="314" r:id="rId37"/>
    <p:sldId id="315" r:id="rId38"/>
    <p:sldId id="316" r:id="rId39"/>
    <p:sldId id="317" r:id="rId40"/>
    <p:sldId id="318" r:id="rId41"/>
    <p:sldId id="319" r:id="rId42"/>
    <p:sldId id="320" r:id="rId43"/>
    <p:sldId id="321" r:id="rId44"/>
    <p:sldId id="322" r:id="rId45"/>
    <p:sldId id="373" r:id="rId46"/>
    <p:sldId id="392" r:id="rId47"/>
    <p:sldId id="393" r:id="rId48"/>
    <p:sldId id="298" r:id="rId49"/>
    <p:sldId id="323" r:id="rId50"/>
    <p:sldId id="324" r:id="rId51"/>
    <p:sldId id="325" r:id="rId52"/>
    <p:sldId id="326" r:id="rId53"/>
    <p:sldId id="327" r:id="rId54"/>
    <p:sldId id="328" r:id="rId55"/>
    <p:sldId id="329" r:id="rId56"/>
    <p:sldId id="395" r:id="rId57"/>
    <p:sldId id="293" r:id="rId58"/>
    <p:sldId id="294" r:id="rId59"/>
    <p:sldId id="295" r:id="rId60"/>
    <p:sldId id="296" r:id="rId61"/>
    <p:sldId id="297" r:id="rId62"/>
    <p:sldId id="401" r:id="rId63"/>
    <p:sldId id="399" r:id="rId64"/>
    <p:sldId id="400" r:id="rId65"/>
    <p:sldId id="331" r:id="rId66"/>
    <p:sldId id="332" r:id="rId67"/>
    <p:sldId id="333" r:id="rId68"/>
    <p:sldId id="334" r:id="rId69"/>
    <p:sldId id="335" r:id="rId70"/>
    <p:sldId id="336" r:id="rId71"/>
    <p:sldId id="337" r:id="rId72"/>
    <p:sldId id="405" r:id="rId73"/>
    <p:sldId id="398" r:id="rId74"/>
    <p:sldId id="416" r:id="rId75"/>
    <p:sldId id="340" r:id="rId76"/>
    <p:sldId id="341" r:id="rId77"/>
    <p:sldId id="342" r:id="rId78"/>
    <p:sldId id="343" r:id="rId79"/>
    <p:sldId id="271" r:id="rId80"/>
    <p:sldId id="436" r:id="rId81"/>
    <p:sldId id="437" r:id="rId82"/>
    <p:sldId id="438" r:id="rId83"/>
    <p:sldId id="440" r:id="rId84"/>
    <p:sldId id="441" r:id="rId85"/>
    <p:sldId id="442" r:id="rId86"/>
    <p:sldId id="310" r:id="rId87"/>
    <p:sldId id="443" r:id="rId88"/>
    <p:sldId id="444" r:id="rId89"/>
    <p:sldId id="445" r:id="rId90"/>
    <p:sldId id="446" r:id="rId91"/>
    <p:sldId id="447" r:id="rId92"/>
    <p:sldId id="448" r:id="rId93"/>
    <p:sldId id="449" r:id="rId94"/>
    <p:sldId id="451" r:id="rId95"/>
    <p:sldId id="452" r:id="rId96"/>
    <p:sldId id="453" r:id="rId97"/>
    <p:sldId id="454" r:id="rId98"/>
    <p:sldId id="455" r:id="rId99"/>
    <p:sldId id="456" r:id="rId100"/>
    <p:sldId id="457" r:id="rId101"/>
    <p:sldId id="458" r:id="rId102"/>
    <p:sldId id="459" r:id="rId103"/>
    <p:sldId id="460" r:id="rId104"/>
    <p:sldId id="330" r:id="rId105"/>
    <p:sldId id="465" r:id="rId106"/>
    <p:sldId id="466" r:id="rId107"/>
    <p:sldId id="467" r:id="rId108"/>
    <p:sldId id="468" r:id="rId109"/>
    <p:sldId id="469" r:id="rId110"/>
    <p:sldId id="471" r:id="rId111"/>
    <p:sldId id="472" r:id="rId112"/>
    <p:sldId id="473" r:id="rId113"/>
    <p:sldId id="474" r:id="rId114"/>
    <p:sldId id="475" r:id="rId115"/>
    <p:sldId id="476" r:id="rId116"/>
    <p:sldId id="477" r:id="rId117"/>
    <p:sldId id="478" r:id="rId118"/>
    <p:sldId id="479" r:id="rId119"/>
    <p:sldId id="432" r:id="rId120"/>
    <p:sldId id="480" r:id="rId121"/>
    <p:sldId id="481" r:id="rId122"/>
    <p:sldId id="482" r:id="rId123"/>
    <p:sldId id="483" r:id="rId124"/>
    <p:sldId id="484" r:id="rId125"/>
    <p:sldId id="485" r:id="rId126"/>
    <p:sldId id="486" r:id="rId127"/>
    <p:sldId id="487" r:id="rId128"/>
    <p:sldId id="488" r:id="rId129"/>
    <p:sldId id="489" r:id="rId130"/>
    <p:sldId id="490" r:id="rId131"/>
    <p:sldId id="278" r:id="rId13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8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0711"/>
    <a:srgbClr val="17347D"/>
    <a:srgbClr val="8E2D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985" autoAdjust="0"/>
    <p:restoredTop sz="91749" autoAdjust="0"/>
  </p:normalViewPr>
  <p:slideViewPr>
    <p:cSldViewPr showGuides="1">
      <p:cViewPr varScale="1">
        <p:scale>
          <a:sx n="112" d="100"/>
          <a:sy n="112" d="100"/>
        </p:scale>
        <p:origin x="376" y="200"/>
      </p:cViewPr>
      <p:guideLst>
        <p:guide orient="horz" pos="2188"/>
        <p:guide pos="289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4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63" Type="http://schemas.openxmlformats.org/officeDocument/2006/relationships/slide" Target="slides/slide60.xml"/><Relationship Id="rId84" Type="http://schemas.openxmlformats.org/officeDocument/2006/relationships/slide" Target="slides/slide81.xml"/><Relationship Id="rId16" Type="http://schemas.openxmlformats.org/officeDocument/2006/relationships/slide" Target="slides/slide13.xml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123" Type="http://schemas.openxmlformats.org/officeDocument/2006/relationships/slide" Target="slides/slide120.xml"/><Relationship Id="rId128" Type="http://schemas.openxmlformats.org/officeDocument/2006/relationships/slide" Target="slides/slide125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113" Type="http://schemas.openxmlformats.org/officeDocument/2006/relationships/slide" Target="slides/slide110.xml"/><Relationship Id="rId118" Type="http://schemas.openxmlformats.org/officeDocument/2006/relationships/slide" Target="slides/slide115.xml"/><Relationship Id="rId134" Type="http://schemas.openxmlformats.org/officeDocument/2006/relationships/presProps" Target="presProps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08" Type="http://schemas.openxmlformats.org/officeDocument/2006/relationships/slide" Target="slides/slide105.xml"/><Relationship Id="rId124" Type="http://schemas.openxmlformats.org/officeDocument/2006/relationships/slide" Target="slides/slide121.xml"/><Relationship Id="rId129" Type="http://schemas.openxmlformats.org/officeDocument/2006/relationships/slide" Target="slides/slide126.xml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49" Type="http://schemas.openxmlformats.org/officeDocument/2006/relationships/slide" Target="slides/slide46.xml"/><Relationship Id="rId114" Type="http://schemas.openxmlformats.org/officeDocument/2006/relationships/slide" Target="slides/slide111.xml"/><Relationship Id="rId119" Type="http://schemas.openxmlformats.org/officeDocument/2006/relationships/slide" Target="slides/slide116.xml"/><Relationship Id="rId44" Type="http://schemas.openxmlformats.org/officeDocument/2006/relationships/slide" Target="slides/slide41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130" Type="http://schemas.openxmlformats.org/officeDocument/2006/relationships/slide" Target="slides/slide127.xml"/><Relationship Id="rId135" Type="http://schemas.openxmlformats.org/officeDocument/2006/relationships/viewProps" Target="viewProps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slide" Target="slides/slide10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120" Type="http://schemas.openxmlformats.org/officeDocument/2006/relationships/slide" Target="slides/slide117.xml"/><Relationship Id="rId125" Type="http://schemas.openxmlformats.org/officeDocument/2006/relationships/slide" Target="slides/slide122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slide" Target="slides/slide107.xml"/><Relationship Id="rId115" Type="http://schemas.openxmlformats.org/officeDocument/2006/relationships/slide" Target="slides/slide112.xml"/><Relationship Id="rId131" Type="http://schemas.openxmlformats.org/officeDocument/2006/relationships/slide" Target="slides/slide128.xml"/><Relationship Id="rId136" Type="http://schemas.openxmlformats.org/officeDocument/2006/relationships/theme" Target="theme/theme1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126" Type="http://schemas.openxmlformats.org/officeDocument/2006/relationships/slide" Target="slides/slide123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121" Type="http://schemas.openxmlformats.org/officeDocument/2006/relationships/slide" Target="slides/slide118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116" Type="http://schemas.openxmlformats.org/officeDocument/2006/relationships/slide" Target="slides/slide113.xml"/><Relationship Id="rId137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slide" Target="slides/slide108.xml"/><Relationship Id="rId132" Type="http://schemas.openxmlformats.org/officeDocument/2006/relationships/slide" Target="slides/slide129.xml"/><Relationship Id="rId15" Type="http://schemas.openxmlformats.org/officeDocument/2006/relationships/slide" Target="slides/slide12.xml"/><Relationship Id="rId36" Type="http://schemas.openxmlformats.org/officeDocument/2006/relationships/slide" Target="slides/slide33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Relationship Id="rId127" Type="http://schemas.openxmlformats.org/officeDocument/2006/relationships/slide" Target="slides/slide12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52" Type="http://schemas.openxmlformats.org/officeDocument/2006/relationships/slide" Target="slides/slide49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122" Type="http://schemas.openxmlformats.org/officeDocument/2006/relationships/slide" Target="slides/slide119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26" Type="http://schemas.openxmlformats.org/officeDocument/2006/relationships/slide" Target="slides/slide23.xml"/><Relationship Id="rId47" Type="http://schemas.openxmlformats.org/officeDocument/2006/relationships/slide" Target="slides/slide44.xml"/><Relationship Id="rId68" Type="http://schemas.openxmlformats.org/officeDocument/2006/relationships/slide" Target="slides/slide65.xml"/><Relationship Id="rId89" Type="http://schemas.openxmlformats.org/officeDocument/2006/relationships/slide" Target="slides/slide86.xml"/><Relationship Id="rId112" Type="http://schemas.openxmlformats.org/officeDocument/2006/relationships/slide" Target="slides/slide109.xml"/><Relationship Id="rId13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 cmpd="sng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fld id="{3D679A02-DD83-45AA-B699-ACEBE380707E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138238" y="701675"/>
            <a:ext cx="4583112" cy="3436938"/>
          </a:xfrm>
        </p:spPr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71975"/>
            <a:ext cx="5029200" cy="4060825"/>
          </a:xfrm>
        </p:spPr>
        <p:txBody>
          <a:bodyPr anchor="t"/>
          <a:lstStyle/>
          <a:p>
            <a:r>
              <a:rPr lang="en-GB" altLang="en-US"/>
              <a:t>请注意，左图中两个函数的反函数不是函数。</a:t>
            </a:r>
          </a:p>
          <a:p>
            <a:endParaRPr lang="en-GB" altLang="en-US"/>
          </a:p>
          <a:p>
            <a:r>
              <a:rPr lang="en-GB" altLang="en-US"/>
              <a:t>还需要注意的是，如果函数的域不是集合 R</a:t>
            </a:r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138238" y="701675"/>
            <a:ext cx="4583112" cy="3436938"/>
          </a:xfrm>
        </p:spPr>
      </p:sp>
      <p:sp>
        <p:nvSpPr>
          <p:cNvPr id="6041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71975"/>
            <a:ext cx="5029200" cy="4060825"/>
          </a:xfrm>
        </p:spPr>
        <p:txBody>
          <a:bodyPr anchor="t"/>
          <a:lstStyle/>
          <a:p>
            <a:r>
              <a:rPr lang="en-GB" altLang="en-US"/>
              <a:t>f(x)=x^2 和 g(x)=x 的平方根是两个函数，它们的所有参数都相乘。</a:t>
            </a:r>
          </a:p>
          <a:p>
            <a:r>
              <a:rPr lang="en-GB" altLang="en-US"/>
              <a:t>两个函数的组成从不相通：f(x)=x^2 和 g(x)=-x。</a:t>
            </a:r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138238" y="701675"/>
            <a:ext cx="4583112" cy="3436938"/>
          </a:xfrm>
        </p:spPr>
      </p:sp>
      <p:sp>
        <p:nvSpPr>
          <p:cNvPr id="655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71975"/>
            <a:ext cx="5029200" cy="4060825"/>
          </a:xfrm>
        </p:spPr>
        <p:txBody>
          <a:bodyPr anchor="t"/>
          <a:lstStyle/>
          <a:p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138238" y="701675"/>
            <a:ext cx="4583112" cy="3436938"/>
          </a:xfrm>
        </p:spPr>
      </p:sp>
      <p:sp>
        <p:nvSpPr>
          <p:cNvPr id="317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4371975"/>
            <a:ext cx="5029200" cy="4060825"/>
          </a:xfrm>
        </p:spPr>
        <p:txBody>
          <a:bodyPr/>
          <a:lstStyle/>
          <a:p>
            <a:r>
              <a:rPr lang="en-US" altLang="zh-CN"/>
              <a:t>本例首先需要算法。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03CB72-F118-4E43-BD5E-F200164D15CF}" type="datetime1">
              <a:rPr lang="zh-CN" altLang="en-US"/>
              <a:t>2026/9/27</a:t>
            </a:fld>
            <a:r>
              <a:rPr lang="en-US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F3EFBA-4521-4521-B070-8A9B4684820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92C0DD-5EE4-473F-8648-CEBCC7AB2749}" type="datetime1">
              <a:rPr lang="zh-CN" altLang="en-US"/>
              <a:t>2026/9/27</a:t>
            </a:fld>
            <a:r>
              <a:rPr lang="en-US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AE881C-A11D-466F-ABB0-A8A85E2F33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4A93B0-BC80-41E0-880A-8987FA0F7EFD}" type="datetime1">
              <a:rPr lang="zh-CN" altLang="en-US"/>
              <a:t>2026/9/27</a:t>
            </a:fld>
            <a:r>
              <a:rPr lang="en-US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1D470A-9803-49D3-A624-A73B81DD9AF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87CD1F-413F-44F9-B660-746FB1C495C9}" type="datetime1">
              <a:rPr lang="zh-CN" altLang="en-US"/>
              <a:t>2026/9/27</a:t>
            </a:fld>
            <a:r>
              <a:rPr lang="en-US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853FFA-D890-424E-B4EB-97A377B8F7A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EF9D6A-8363-4C27-9748-115C644180FF}" type="datetime1">
              <a:rPr lang="zh-CN" altLang="en-US"/>
              <a:t>2026/9/27</a:t>
            </a:fld>
            <a:r>
              <a:rPr lang="en-US"/>
              <a:t>www.themegallery.com</a:t>
            </a:r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C539A3-46C2-4126-A45A-BCEB33832D9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AADB54-9EC2-4012-804D-BD9CE7D92B54}" type="datetime1">
              <a:rPr lang="zh-CN" altLang="en-US"/>
              <a:t>2026/9/27</a:t>
            </a:fld>
            <a:r>
              <a:rPr lang="en-US"/>
              <a:t>www.themegallery.com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8D7719-2457-42AA-8476-7F623D108D3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04BE9B-AF51-43B6-ADAC-9D9BDDF67365}" type="datetime1">
              <a:rPr lang="zh-CN" altLang="en-US"/>
              <a:t>2026/9/27</a:t>
            </a:fld>
            <a:r>
              <a:rPr lang="en-US"/>
              <a:t>www.themegallery.com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333C7D-A9D6-469D-B609-786DE6D7F4D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7078B6-64E2-4969-B43F-ECED3DC05829}" type="datetime1">
              <a:rPr lang="zh-CN" altLang="en-US"/>
              <a:t>2026/9/27</a:t>
            </a:fld>
            <a:r>
              <a:rPr lang="en-US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E0F10E-0C66-4A7E-A55C-545AB8FA98F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CDC238-709A-4EC2-9C6C-E7AC205F5170}" type="datetime1">
              <a:rPr lang="zh-CN" altLang="en-US"/>
              <a:t>2026/9/27</a:t>
            </a:fld>
            <a:r>
              <a:rPr lang="en-US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7273B9-521C-4BD1-8ED3-F98F5650D40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FB47D4-D747-4161-BE71-EA15B92802F5}" type="datetime1">
              <a:rPr lang="zh-CN" altLang="en-US"/>
              <a:t>2026/9/27</a:t>
            </a:fld>
            <a:r>
              <a:rPr lang="en-US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D8D298-C5B8-4FDD-ABE8-3B1B4DE667D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731838"/>
            <a:ext cx="2057400" cy="5567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731838"/>
            <a:ext cx="6019800" cy="5567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CDBCF3-A2F7-4D7A-B45B-E46A36F2AE80}" type="datetime1">
              <a:rPr lang="zh-CN" altLang="en-US"/>
              <a:t>2026/9/27</a:t>
            </a:fld>
            <a:r>
              <a:rPr lang="en-US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80F4B9-237E-4A3F-AB30-637C936446B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31B66A-DB1A-4F77-AA7D-A459A1BFD21E}" type="datetime1">
              <a:rPr lang="zh-CN" altLang="en-US"/>
              <a:t>2026/9/27</a:t>
            </a:fld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CA8C2-B19B-4A61-A5E5-C71909A7E2E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F6E6A1-0D82-4E2C-9963-5F5DE4E69B5F}" type="datetime1">
              <a:rPr lang="zh-CN" altLang="en-US"/>
              <a:t>2026/9/27</a:t>
            </a:fld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4EB04F-3483-46CB-9430-0AD724E39CE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4A9A08-47DE-410D-9CD0-0FD7BCDFAC83}" type="datetime1">
              <a:rPr lang="zh-CN" altLang="en-US"/>
              <a:t>2026/9/27</a:t>
            </a:fld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F7CDB6-17FB-45FE-889E-5E73E3727F8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C1497D-12E4-4451-8AD8-B224FEB29378}" type="datetime1">
              <a:rPr lang="zh-CN" altLang="en-US"/>
              <a:t>2026/9/27</a:t>
            </a:fld>
            <a:endParaRPr 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E42346-9E90-4400-A259-59682B6AC3C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D3EDF0-31A4-4E48-99C8-93E94F1ECC2E}" type="datetime1">
              <a:rPr lang="zh-CN" altLang="en-US"/>
              <a:t>2026/9/27</a:t>
            </a:fld>
            <a:endParaRPr lang="en-US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BFA67F-DD29-484A-9B2A-F33945E09A9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C99CC5-9F0F-46DA-BDB7-732E19A39651}" type="datetime1">
              <a:rPr lang="zh-CN" altLang="en-US"/>
              <a:t>2026/9/27</a:t>
            </a:fld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B0C6C9-1215-42B3-81FB-A41AE9DA978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37F45F-F669-4BE7-8CF2-2EC5D29407F8}" type="datetime1">
              <a:rPr lang="zh-CN" altLang="en-US"/>
              <a:t>2026/9/27</a:t>
            </a:fld>
            <a:endParaRPr 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682E0F-CC6C-4EE2-82A4-5E7BDB57261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524CE0-7244-4AAA-9F48-2CB5C2482F1A}" type="datetime1">
              <a:rPr lang="zh-CN" altLang="en-US"/>
              <a:t>2026/9/27</a:t>
            </a:fld>
            <a:endParaRPr 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2ECBFE-0080-4E93-AC8E-B22FA4D8BB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94586A-6EA8-4EC2-A79C-A5546F322E35}" type="datetime1">
              <a:rPr lang="zh-CN" altLang="en-US"/>
              <a:t>2026/9/27</a:t>
            </a:fld>
            <a:endParaRPr lang="en-US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65CE6F-60E0-4560-91E6-97BAA35817B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24BCFC-AB99-4B3F-A73E-5D2C762036ED}" type="datetime1">
              <a:rPr lang="zh-CN" altLang="en-US"/>
              <a:t>2026/9/27</a:t>
            </a:fld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46FA54-92D9-437F-985B-DD63A717ABF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731838"/>
            <a:ext cx="2057400" cy="5567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731838"/>
            <a:ext cx="6019800" cy="5567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D62FC1-4AD7-4F3B-B9B1-5C8ED34238C0}" type="datetime1">
              <a:rPr lang="zh-CN" altLang="en-US"/>
              <a:t>2026/9/27</a:t>
            </a:fld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8AD144-332E-4150-891E-C179F7D3119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 descr="a1"/>
          <p:cNvSpPr>
            <a:spLocks noChangeArrowheads="1"/>
          </p:cNvSpPr>
          <p:nvPr/>
        </p:nvSpPr>
        <p:spPr bwMode="gray">
          <a:xfrm>
            <a:off x="2286000" y="0"/>
            <a:ext cx="2286000" cy="31242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gray">
          <a:xfrm>
            <a:off x="0" y="0"/>
            <a:ext cx="2209800" cy="3124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gray">
          <a:xfrm>
            <a:off x="4648200" y="0"/>
            <a:ext cx="2209800" cy="31242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5" name="Rectangle 5" descr="a2"/>
          <p:cNvSpPr>
            <a:spLocks noChangeArrowheads="1"/>
          </p:cNvSpPr>
          <p:nvPr/>
        </p:nvSpPr>
        <p:spPr bwMode="gray">
          <a:xfrm>
            <a:off x="6934200" y="0"/>
            <a:ext cx="2209800" cy="312420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gray">
          <a:xfrm>
            <a:off x="2286000" y="3124200"/>
            <a:ext cx="6858000" cy="6096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gray">
          <a:xfrm>
            <a:off x="0" y="3124200"/>
            <a:ext cx="9144000" cy="1524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8" name="Text Box 13"/>
          <p:cNvSpPr txBox="1">
            <a:spLocks noChangeArrowheads="1"/>
          </p:cNvSpPr>
          <p:nvPr/>
        </p:nvSpPr>
        <p:spPr bwMode="auto">
          <a:xfrm>
            <a:off x="444500" y="2514600"/>
            <a:ext cx="1765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b="1">
                <a:solidFill>
                  <a:schemeClr val="bg1"/>
                </a:solidFill>
                <a:latin typeface="Arial Black" panose="020B0A04020102020204" pitchFamily="34" charset="0"/>
              </a:rPr>
              <a:t>L o g o</a:t>
            </a:r>
          </a:p>
        </p:txBody>
      </p:sp>
      <p:sp>
        <p:nvSpPr>
          <p:cNvPr id="12296" name="Rectangle 8"/>
          <p:cNvSpPr>
            <a:spLocks noGrp="1" noChangeArrowheads="1"/>
          </p:cNvSpPr>
          <p:nvPr>
            <p:ph type="ctrTitle"/>
          </p:nvPr>
        </p:nvSpPr>
        <p:spPr>
          <a:xfrm>
            <a:off x="2286000" y="3048000"/>
            <a:ext cx="6705600" cy="685800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2297" name="Rectangle 9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2286000" y="3886200"/>
            <a:ext cx="6719888" cy="3810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000">
                <a:latin typeface="Verdana" panose="020B0604030504040204" pitchFamily="34" charset="0"/>
              </a:defRPr>
            </a:lvl1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9" name="Rectangle 10"/>
          <p:cNvSpPr>
            <a:spLocks noGrp="1" noChangeArrowheads="1"/>
          </p:cNvSpPr>
          <p:nvPr>
            <p:ph type="dt" sz="half" idx="10"/>
          </p:nvPr>
        </p:nvSpPr>
        <p:spPr bwMode="gray">
          <a:xfrm>
            <a:off x="457200" y="6551613"/>
            <a:ext cx="2133600" cy="169862"/>
          </a:xfrm>
        </p:spPr>
        <p:txBody>
          <a:bodyPr/>
          <a:lstStyle>
            <a:lvl1pPr>
              <a:defRPr>
                <a:effectLst/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2BDFB09-F023-4B70-A33A-E16588A5AED0}" type="datetime1">
              <a:rPr lang="zh-CN" altLang="en-US"/>
              <a:t>2026/9/27</a:t>
            </a:fld>
            <a:endParaRPr lang="en-US" altLang="zh-CN"/>
          </a:p>
        </p:txBody>
      </p:sp>
      <p:sp>
        <p:nvSpPr>
          <p:cNvPr id="10" name="Rectangle 11"/>
          <p:cNvSpPr>
            <a:spLocks noGrp="1" noChangeArrowheads="1"/>
          </p:cNvSpPr>
          <p:nvPr>
            <p:ph type="ftr" sz="quarter" idx="11"/>
          </p:nvPr>
        </p:nvSpPr>
        <p:spPr bwMode="gray">
          <a:xfrm>
            <a:off x="3124200" y="6553200"/>
            <a:ext cx="2895600" cy="168275"/>
          </a:xfrm>
        </p:spPr>
        <p:txBody>
          <a:bodyPr/>
          <a:lstStyle>
            <a:lvl1pPr algn="ctr">
              <a:defRPr>
                <a:effectLst/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Rectangle 12"/>
          <p:cNvSpPr>
            <a:spLocks noGrp="1" noChangeArrowheads="1"/>
          </p:cNvSpPr>
          <p:nvPr>
            <p:ph type="sldNum" sz="quarter" idx="12"/>
          </p:nvPr>
        </p:nvSpPr>
        <p:spPr bwMode="gray">
          <a:xfrm>
            <a:off x="6553200" y="6553200"/>
            <a:ext cx="2133600" cy="168275"/>
          </a:xfrm>
        </p:spPr>
        <p:txBody>
          <a:bodyPr/>
          <a:lstStyle>
            <a:lvl1pPr algn="r">
              <a:defRPr>
                <a:effectLst/>
                <a:latin typeface="Arial" panose="020B0604020202020204" pitchFamily="34" charset="0"/>
              </a:defRPr>
            </a:lvl1pPr>
          </a:lstStyle>
          <a:p>
            <a:fld id="{0C244F54-E8EC-4D2C-96A8-F7141CDB144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E80790-5B58-45B3-854F-215A1834BD51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D8E3A7-1D7D-4162-840D-91E2DB54E52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F7596-49E7-4BB0-BEE5-B4B18AD93F6B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EA869E-B19A-4E59-ABB0-1EA4FB44948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19225"/>
            <a:ext cx="4038600" cy="4879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83BCE4-2226-4B06-8D95-27F03CA70595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04DC6A-0CC9-4DF7-80E9-B1F521DEC39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4CAF33-2C7E-4C5C-AA1A-F6AE9BEA8AD0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8986C6-EB66-4B47-95F4-4C6D8558B1F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6398C3-991E-4188-BB94-FE65CD127E50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F0D1F8-EEF5-418B-8CA7-04B678623AC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2C2F5E-243C-4AB2-8F93-6FCEA4B97A24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F7AA0C-1D04-402E-B9BD-125C8FE63F6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0EDE0C-6B99-49D8-9E1B-C725488F4CD0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19878-0694-4553-BCDF-B8AB7E670F1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B494CA-4171-43FE-A688-2103061317A8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EC4BC4-56BC-4F07-86D5-BF1676CD698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3E30F5-7556-4766-87BA-83546232ADD6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1B5AC9-C513-4481-9396-27F2041610E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731838"/>
            <a:ext cx="2057400" cy="5567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731838"/>
            <a:ext cx="6019800" cy="5567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BE4B72-E4FB-4114-B04D-B5AAECBCFE6D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11FFE1-8337-4CB2-991F-F664FC44EE6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3425" y="731838"/>
            <a:ext cx="7800975" cy="563562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419225"/>
            <a:ext cx="4038600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19225"/>
            <a:ext cx="4038600" cy="23637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5413"/>
            <a:ext cx="4038600" cy="23637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6EACC0-295A-4C00-948D-62AAFA9CB931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5D5C8C-5C1D-4A26-B0DF-E381AAD7097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3425" y="731838"/>
            <a:ext cx="7800975" cy="563562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419225"/>
            <a:ext cx="8229600" cy="487997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BD02C2-8DBA-4C89-878E-03FABF18FB38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300ADF-47E3-4D38-BD82-91FAD4DC6CC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3425" y="731838"/>
            <a:ext cx="7800975" cy="563562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457200" y="1419225"/>
            <a:ext cx="8229600" cy="487997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B30FE3-CCC8-4200-9B7F-362838FAE28A}" type="datetime1">
              <a:rPr lang="zh-CN" altLang="en-US"/>
              <a:t>2026/9/27</a:t>
            </a:fld>
            <a:r>
              <a:rPr lang="en-US" altLang="zh-CN"/>
              <a:t>www.themegallery.com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Company Logo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18E8C4-E982-40C3-A2CB-EA4CA2D627E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 descr="a1"/>
          <p:cNvSpPr>
            <a:spLocks noChangeArrowheads="1"/>
          </p:cNvSpPr>
          <p:nvPr/>
        </p:nvSpPr>
        <p:spPr bwMode="auto">
          <a:xfrm>
            <a:off x="592138" y="0"/>
            <a:ext cx="2066925" cy="838200"/>
          </a:xfrm>
          <a:prstGeom prst="rect">
            <a:avLst/>
          </a:prstGeom>
          <a:blipFill dpi="0" rotWithShape="1">
            <a:blip r:embed="rId1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2730500" y="0"/>
            <a:ext cx="2138363" cy="8382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8" name="Rectangle 4" descr="a2"/>
          <p:cNvSpPr>
            <a:spLocks noChangeArrowheads="1"/>
          </p:cNvSpPr>
          <p:nvPr/>
        </p:nvSpPr>
        <p:spPr bwMode="auto">
          <a:xfrm>
            <a:off x="4938713" y="0"/>
            <a:ext cx="2066925" cy="838200"/>
          </a:xfrm>
          <a:prstGeom prst="rect">
            <a:avLst/>
          </a:prstGeom>
          <a:blipFill dpi="0" rotWithShape="1">
            <a:blip r:embed="rId1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7077075" y="0"/>
            <a:ext cx="2066925" cy="838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457200" y="6477000"/>
            <a:ext cx="8686800" cy="381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grpSp>
        <p:nvGrpSpPr>
          <p:cNvPr id="1031" name="Group 7"/>
          <p:cNvGrpSpPr/>
          <p:nvPr/>
        </p:nvGrpSpPr>
        <p:grpSpPr bwMode="auto">
          <a:xfrm>
            <a:off x="0" y="685800"/>
            <a:ext cx="9144000" cy="609600"/>
            <a:chOff x="0" y="0"/>
            <a:chExt cx="5760" cy="384"/>
          </a:xfrm>
        </p:grpSpPr>
        <p:sp>
          <p:nvSpPr>
            <p:cNvPr id="1038" name="Rectangle 8"/>
            <p:cNvSpPr>
              <a:spLocks noChangeArrowheads="1"/>
            </p:cNvSpPr>
            <p:nvPr userDrawn="1"/>
          </p:nvSpPr>
          <p:spPr bwMode="auto">
            <a:xfrm>
              <a:off x="0" y="0"/>
              <a:ext cx="5760" cy="9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39" name="Rectangle 9"/>
            <p:cNvSpPr>
              <a:spLocks noChangeArrowheads="1"/>
            </p:cNvSpPr>
            <p:nvPr userDrawn="1"/>
          </p:nvSpPr>
          <p:spPr bwMode="auto">
            <a:xfrm>
              <a:off x="362" y="0"/>
              <a:ext cx="5398" cy="38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1032" name="Rectangle 10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419225"/>
            <a:ext cx="8229600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61125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fld id="{F34B8E17-6744-4DC3-8A57-C1E314F46121}" type="datetime1">
              <a:rPr lang="zh-CN" altLang="en-US"/>
              <a:t>2026/9/27</a:t>
            </a:fld>
            <a:r>
              <a:rPr lang="en-US"/>
              <a:t>2024/10/15www.themegallery.com</a:t>
            </a: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867400" y="6477000"/>
            <a:ext cx="2895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/>
              <a:t>公司标志</a:t>
            </a:r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defRPr>
            </a:lvl1pPr>
          </a:lstStyle>
          <a:p>
            <a:fld id="{4D90E49E-FB80-41F3-A104-4CFC112F2A70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2" name="Rectangle 14"/>
          <p:cNvSpPr>
            <a:spLocks noGrp="1" noChangeArrowheads="1"/>
          </p:cNvSpPr>
          <p:nvPr>
            <p:ph type="title" idx="9"/>
          </p:nvPr>
        </p:nvSpPr>
        <p:spPr bwMode="auto">
          <a:xfrm>
            <a:off x="733425" y="731838"/>
            <a:ext cx="7800975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3" name="Text Box 15"/>
          <p:cNvSpPr txBox="1">
            <a:spLocks noChangeArrowheads="1"/>
          </p:cNvSpPr>
          <p:nvPr/>
        </p:nvSpPr>
        <p:spPr bwMode="auto">
          <a:xfrm>
            <a:off x="7391400" y="76200"/>
            <a:ext cx="1765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b="1">
                <a:solidFill>
                  <a:schemeClr val="bg1"/>
                </a:solidFill>
                <a:latin typeface="Arial Black" panose="020B0A04020102020204" pitchFamily="34" charset="0"/>
              </a:rPr>
              <a:t>L o g 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 descr="a1"/>
          <p:cNvSpPr>
            <a:spLocks noChangeArrowheads="1"/>
          </p:cNvSpPr>
          <p:nvPr/>
        </p:nvSpPr>
        <p:spPr bwMode="auto">
          <a:xfrm>
            <a:off x="2286000" y="0"/>
            <a:ext cx="2286000" cy="3124200"/>
          </a:xfrm>
          <a:prstGeom prst="rect">
            <a:avLst/>
          </a:prstGeom>
          <a:blipFill dpi="0" rotWithShape="1">
            <a:blip r:embed="rId1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0" y="0"/>
            <a:ext cx="2209800" cy="3124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4648200" y="0"/>
            <a:ext cx="2209800" cy="31242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2053" name="Rectangle 5" descr="a2"/>
          <p:cNvSpPr>
            <a:spLocks noChangeArrowheads="1"/>
          </p:cNvSpPr>
          <p:nvPr/>
        </p:nvSpPr>
        <p:spPr bwMode="auto">
          <a:xfrm>
            <a:off x="6934200" y="0"/>
            <a:ext cx="2209800" cy="3124200"/>
          </a:xfrm>
          <a:prstGeom prst="rect">
            <a:avLst/>
          </a:prstGeom>
          <a:blipFill dpi="0" rotWithShape="1">
            <a:blip r:embed="rId1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2286000" y="3124200"/>
            <a:ext cx="6858000" cy="6096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0" y="3124200"/>
            <a:ext cx="9144000" cy="1524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2056" name="Text Box 13"/>
          <p:cNvSpPr txBox="1">
            <a:spLocks noChangeArrowheads="1"/>
          </p:cNvSpPr>
          <p:nvPr/>
        </p:nvSpPr>
        <p:spPr bwMode="auto">
          <a:xfrm>
            <a:off x="444500" y="2514600"/>
            <a:ext cx="1765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b="1">
                <a:solidFill>
                  <a:schemeClr val="bg1"/>
                </a:solidFill>
                <a:latin typeface="Arial Black" panose="020B0A04020102020204" pitchFamily="34" charset="0"/>
              </a:rPr>
              <a:t>L o g o</a:t>
            </a:r>
          </a:p>
        </p:txBody>
      </p:sp>
      <p:sp>
        <p:nvSpPr>
          <p:cNvPr id="2057" name="Rectangle 10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419225"/>
            <a:ext cx="8229600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2058" name="Rectangle 14"/>
          <p:cNvSpPr>
            <a:spLocks noGrp="1" noChangeArrowheads="1"/>
          </p:cNvSpPr>
          <p:nvPr>
            <p:ph type="title" idx="9"/>
          </p:nvPr>
        </p:nvSpPr>
        <p:spPr bwMode="auto">
          <a:xfrm>
            <a:off x="733425" y="731838"/>
            <a:ext cx="7800975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2059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551613"/>
            <a:ext cx="2133600" cy="1698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37B90BA4-8DE0-49E8-B872-396943C20145}" type="datetime1">
              <a:rPr lang="zh-CN" altLang="en-US"/>
              <a:t>2026/9/27</a:t>
            </a:fld>
            <a:endParaRPr lang="en-US"/>
          </a:p>
        </p:txBody>
      </p:sp>
      <p:sp>
        <p:nvSpPr>
          <p:cNvPr id="2060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1682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61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53200"/>
            <a:ext cx="2133600" cy="1682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fld id="{AE0D855B-3789-4609-860A-FA4454E1CDA2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 descr="a1"/>
          <p:cNvSpPr>
            <a:spLocks noChangeArrowheads="1"/>
          </p:cNvSpPr>
          <p:nvPr/>
        </p:nvSpPr>
        <p:spPr bwMode="gray">
          <a:xfrm>
            <a:off x="592138" y="0"/>
            <a:ext cx="2066925" cy="838200"/>
          </a:xfrm>
          <a:prstGeom prst="rect">
            <a:avLst/>
          </a:prstGeom>
          <a:blipFill dpi="0" rotWithShape="1">
            <a:blip r:embed="rId1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gray">
          <a:xfrm>
            <a:off x="2730500" y="0"/>
            <a:ext cx="2138363" cy="8382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8" name="Rectangle 4" descr="a2"/>
          <p:cNvSpPr>
            <a:spLocks noChangeArrowheads="1"/>
          </p:cNvSpPr>
          <p:nvPr/>
        </p:nvSpPr>
        <p:spPr bwMode="gray">
          <a:xfrm>
            <a:off x="4938713" y="0"/>
            <a:ext cx="2066925" cy="838200"/>
          </a:xfrm>
          <a:prstGeom prst="rect">
            <a:avLst/>
          </a:prstGeom>
          <a:blipFill dpi="0" rotWithShape="1">
            <a:blip r:embed="rId1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gray">
          <a:xfrm>
            <a:off x="7077075" y="0"/>
            <a:ext cx="2066925" cy="838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gray">
          <a:xfrm>
            <a:off x="457200" y="6477000"/>
            <a:ext cx="8686800" cy="381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grpSp>
        <p:nvGrpSpPr>
          <p:cNvPr id="1031" name="Group 7"/>
          <p:cNvGrpSpPr/>
          <p:nvPr/>
        </p:nvGrpSpPr>
        <p:grpSpPr bwMode="auto">
          <a:xfrm>
            <a:off x="0" y="685800"/>
            <a:ext cx="9144000" cy="609600"/>
            <a:chOff x="0" y="432"/>
            <a:chExt cx="5760" cy="384"/>
          </a:xfrm>
        </p:grpSpPr>
        <p:sp>
          <p:nvSpPr>
            <p:cNvPr id="2" name="Rectangle 8"/>
            <p:cNvSpPr>
              <a:spLocks noChangeArrowheads="1"/>
            </p:cNvSpPr>
            <p:nvPr/>
          </p:nvSpPr>
          <p:spPr bwMode="gray">
            <a:xfrm>
              <a:off x="0" y="432"/>
              <a:ext cx="5760" cy="9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039" name="Rectangle 9"/>
            <p:cNvSpPr>
              <a:spLocks noChangeArrowheads="1"/>
            </p:cNvSpPr>
            <p:nvPr/>
          </p:nvSpPr>
          <p:spPr bwMode="gray">
            <a:xfrm>
              <a:off x="362" y="432"/>
              <a:ext cx="5398" cy="38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1032" name="Rectangle 10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419225"/>
            <a:ext cx="8229600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27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61125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31A358BA-F9EB-457E-8EC2-6042A8256926}" type="datetime1">
              <a:rPr lang="zh-CN" altLang="en-US"/>
              <a:t>2026/9/27</a:t>
            </a:fld>
            <a:r>
              <a:rPr lang="en-US" altLang="zh-CN"/>
              <a:t>2024/10/15www.themegallery.com</a:t>
            </a:r>
          </a:p>
        </p:txBody>
      </p:sp>
      <p:sp>
        <p:nvSpPr>
          <p:cNvPr id="1127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867400" y="6477000"/>
            <a:ext cx="2895600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公司标志</a:t>
            </a:r>
          </a:p>
        </p:txBody>
      </p:sp>
      <p:sp>
        <p:nvSpPr>
          <p:cNvPr id="1127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defRPr>
            </a:lvl1pPr>
          </a:lstStyle>
          <a:p>
            <a:fld id="{F0BD5C5B-4976-46FC-B33A-53F50A508DBA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36" name="Rectangle 14"/>
          <p:cNvSpPr>
            <a:spLocks noGrp="1" noChangeArrowheads="1"/>
          </p:cNvSpPr>
          <p:nvPr>
            <p:ph type="title" idx="9"/>
          </p:nvPr>
        </p:nvSpPr>
        <p:spPr bwMode="auto">
          <a:xfrm>
            <a:off x="733425" y="731838"/>
            <a:ext cx="7800975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7" name="Text Box 15"/>
          <p:cNvSpPr txBox="1">
            <a:spLocks noChangeArrowheads="1"/>
          </p:cNvSpPr>
          <p:nvPr/>
        </p:nvSpPr>
        <p:spPr bwMode="auto">
          <a:xfrm>
            <a:off x="7391400" y="76200"/>
            <a:ext cx="1765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b="1">
                <a:solidFill>
                  <a:schemeClr val="bg1"/>
                </a:solidFill>
                <a:latin typeface="Arial Black" panose="020B0A04020102020204" pitchFamily="34" charset="0"/>
              </a:rPr>
              <a:t>L o g 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19.wmf"/><Relationship Id="rId18" Type="http://schemas.openxmlformats.org/officeDocument/2006/relationships/oleObject" Target="../embeddings/oleObject11.bin"/><Relationship Id="rId3" Type="http://schemas.openxmlformats.org/officeDocument/2006/relationships/image" Target="../media/image14.wmf"/><Relationship Id="rId21" Type="http://schemas.openxmlformats.org/officeDocument/2006/relationships/image" Target="../media/image23.wmf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8.bin"/><Relationship Id="rId17" Type="http://schemas.openxmlformats.org/officeDocument/2006/relationships/image" Target="../media/image21.wmf"/><Relationship Id="rId25" Type="http://schemas.openxmlformats.org/officeDocument/2006/relationships/image" Target="../media/image25.wmf"/><Relationship Id="rId2" Type="http://schemas.openxmlformats.org/officeDocument/2006/relationships/oleObject" Target="../embeddings/oleObject3.bin"/><Relationship Id="rId16" Type="http://schemas.openxmlformats.org/officeDocument/2006/relationships/oleObject" Target="../embeddings/oleObject10.bin"/><Relationship Id="rId20" Type="http://schemas.openxmlformats.org/officeDocument/2006/relationships/oleObject" Target="../embeddings/oleObject1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18.wmf"/><Relationship Id="rId24" Type="http://schemas.openxmlformats.org/officeDocument/2006/relationships/oleObject" Target="../embeddings/oleObject14.bin"/><Relationship Id="rId5" Type="http://schemas.openxmlformats.org/officeDocument/2006/relationships/image" Target="../media/image15.wmf"/><Relationship Id="rId15" Type="http://schemas.openxmlformats.org/officeDocument/2006/relationships/image" Target="../media/image20.wmf"/><Relationship Id="rId23" Type="http://schemas.openxmlformats.org/officeDocument/2006/relationships/image" Target="../media/image24.wmf"/><Relationship Id="rId10" Type="http://schemas.openxmlformats.org/officeDocument/2006/relationships/oleObject" Target="../embeddings/oleObject7.bin"/><Relationship Id="rId19" Type="http://schemas.openxmlformats.org/officeDocument/2006/relationships/image" Target="../media/image22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17.wmf"/><Relationship Id="rId14" Type="http://schemas.openxmlformats.org/officeDocument/2006/relationships/oleObject" Target="../embeddings/oleObject9.bin"/><Relationship Id="rId22" Type="http://schemas.openxmlformats.org/officeDocument/2006/relationships/oleObject" Target="../embeddings/oleObject13.bin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wmf"/><Relationship Id="rId4" Type="http://schemas.openxmlformats.org/officeDocument/2006/relationships/oleObject" Target="../embeddings/oleObject16.bin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7" Type="http://schemas.openxmlformats.org/officeDocument/2006/relationships/image" Target="../media/image31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19.bin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oleObject" Target="../embeddings/oleObject27.bin"/><Relationship Id="rId3" Type="http://schemas.openxmlformats.org/officeDocument/2006/relationships/image" Target="../media/image29.wmf"/><Relationship Id="rId7" Type="http://schemas.openxmlformats.org/officeDocument/2006/relationships/image" Target="../media/image31.wmf"/><Relationship Id="rId12" Type="http://schemas.openxmlformats.org/officeDocument/2006/relationships/image" Target="../media/image34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.bin"/><Relationship Id="rId11" Type="http://schemas.openxmlformats.org/officeDocument/2006/relationships/oleObject" Target="../embeddings/oleObject26.bin"/><Relationship Id="rId5" Type="http://schemas.openxmlformats.org/officeDocument/2006/relationships/image" Target="../media/image32.wmf"/><Relationship Id="rId10" Type="http://schemas.openxmlformats.org/officeDocument/2006/relationships/oleObject" Target="../embeddings/oleObject25.bin"/><Relationship Id="rId4" Type="http://schemas.openxmlformats.org/officeDocument/2006/relationships/oleObject" Target="../embeddings/oleObject22.bin"/><Relationship Id="rId9" Type="http://schemas.openxmlformats.org/officeDocument/2006/relationships/image" Target="../media/image33.wmf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4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5.wmf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24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5.wav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7.wmf"/><Relationship Id="rId4" Type="http://schemas.openxmlformats.org/officeDocument/2006/relationships/oleObject" Target="../embeddings/oleObject30.bin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7" Type="http://schemas.openxmlformats.org/officeDocument/2006/relationships/image" Target="../media/image40.wmf"/><Relationship Id="rId2" Type="http://schemas.openxmlformats.org/officeDocument/2006/relationships/oleObject" Target="../embeddings/oleObject31.bin"/><Relationship Id="rId1" Type="http://schemas.openxmlformats.org/officeDocument/2006/relationships/slideLayout" Target="../slideLayouts/slideLayout24.xml"/><Relationship Id="rId6" Type="http://schemas.openxmlformats.org/officeDocument/2006/relationships/oleObject" Target="../embeddings/oleObject33.bin"/><Relationship Id="rId5" Type="http://schemas.openxmlformats.org/officeDocument/2006/relationships/image" Target="../media/image39.wmf"/><Relationship Id="rId4" Type="http://schemas.openxmlformats.org/officeDocument/2006/relationships/oleObject" Target="../embeddings/oleObject32.bin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4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24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4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ChangeArrowheads="1"/>
          </p:cNvSpPr>
          <p:nvPr/>
        </p:nvSpPr>
        <p:spPr bwMode="auto">
          <a:xfrm>
            <a:off x="2286000" y="2743200"/>
            <a:ext cx="6705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4000" b="1">
                <a:solidFill>
                  <a:schemeClr val="bg1"/>
                </a:solidFill>
                <a:latin typeface="Verdana" panose="020B0604030504040204" pitchFamily="34" charset="0"/>
              </a:rPr>
              <a:t>离散数学</a:t>
            </a:r>
          </a:p>
        </p:txBody>
      </p:sp>
      <p:sp>
        <p:nvSpPr>
          <p:cNvPr id="4102" name="Rectangle 3"/>
          <p:cNvSpPr>
            <a:spLocks noChangeArrowheads="1"/>
          </p:cNvSpPr>
          <p:nvPr/>
        </p:nvSpPr>
        <p:spPr bwMode="auto">
          <a:xfrm>
            <a:off x="1295400" y="5715000"/>
            <a:ext cx="6553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altLang="zh-CN" sz="2000" b="1">
                <a:latin typeface="Verdana" panose="020B0604030504040204" pitchFamily="34" charset="0"/>
              </a:rPr>
              <a:t>华南理工大学</a:t>
            </a:r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7BC0F9C3-7552-1A06-60FE-950F23992E7C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fld id="{1F39D7F0-075E-414C-8A57-DCEA874578F4}" type="slidenum">
              <a:rPr altLang="zh-CN" sz="1200" noProof="1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</a:t>
            </a:fld>
            <a:endParaRPr lang="zh-CN" altLang="zh-CN" sz="1200" noProof="1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ChangeArrowheads="1"/>
          </p:cNvSpPr>
          <p:nvPr/>
        </p:nvSpPr>
        <p:spPr bwMode="auto">
          <a:xfrm>
            <a:off x="4038600" y="6096000"/>
            <a:ext cx="1752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zh-CN" sz="1800" b="1" dirty="0">
                <a:latin typeface="Verdana" panose="020B0604030504040204" pitchFamily="34" charset="0"/>
              </a:rPr>
              <a:t>第 2.2 节</a:t>
            </a:r>
          </a:p>
        </p:txBody>
      </p:sp>
      <p:sp>
        <p:nvSpPr>
          <p:cNvPr id="5125" name="Text Box 3"/>
          <p:cNvSpPr txBox="1">
            <a:spLocks noChangeArrowheads="1"/>
          </p:cNvSpPr>
          <p:nvPr/>
        </p:nvSpPr>
        <p:spPr bwMode="auto">
          <a:xfrm>
            <a:off x="2362200" y="3276600"/>
            <a:ext cx="67818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Euclid" pitchFamily="18" charset="0"/>
                <a:ea typeface="Dotum" panose="020B0600000101010101" pitchFamily="34" charset="-127"/>
              </a:rPr>
              <a:t>第 2 章 </a:t>
            </a:r>
            <a:r>
              <a:rPr lang="zh-CN" altLang="en-US" sz="2400" b="1" dirty="0">
                <a:solidFill>
                  <a:schemeClr val="bg1"/>
                </a:solidFill>
                <a:latin typeface="Euclid" pitchFamily="18" charset="0"/>
                <a:ea typeface="Dotum" panose="020B0600000101010101" pitchFamily="34" charset="-127"/>
              </a:rPr>
              <a:t>集合模型</a:t>
            </a:r>
          </a:p>
        </p:txBody>
      </p:sp>
      <p:sp>
        <p:nvSpPr>
          <p:cNvPr id="5126" name="WordArt 4"/>
          <p:cNvSpPr>
            <a:spLocks noChangeArrowheads="1" noChangeShapeType="1" noTextEdit="1"/>
          </p:cNvSpPr>
          <p:nvPr/>
        </p:nvSpPr>
        <p:spPr bwMode="auto">
          <a:xfrm>
            <a:off x="1752600" y="4648200"/>
            <a:ext cx="6019800" cy="7620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3600" b="1" kern="10" dirty="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tx1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cs typeface="Arial" panose="020B0604020202020204" pitchFamily="34" charset="0"/>
              </a:rPr>
              <a:t>函数</a:t>
            </a:r>
            <a:r>
              <a:rPr lang="zh-CN" altLang="en-US" sz="3600" b="1" kern="10" dirty="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tx1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cs typeface="Arial" panose="020B0604020202020204" pitchFamily="34" charset="0"/>
              </a:rPr>
              <a:t>的阶</a:t>
            </a:r>
            <a:r>
              <a:rPr lang="en-US" altLang="zh-CN" sz="3600" b="1" kern="10" dirty="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tx1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cs typeface="Arial" panose="020B0604020202020204" pitchFamily="34" charset="0"/>
              </a:rPr>
              <a:t>和算法复杂度</a:t>
            </a:r>
            <a:endParaRPr lang="zh-CN" altLang="en-US" sz="3600" b="1" kern="10" dirty="0">
              <a:ln w="19050">
                <a:solidFill>
                  <a:schemeClr val="bg1"/>
                </a:solidFill>
                <a:round/>
              </a:ln>
              <a:gradFill rotWithShape="1">
                <a:gsLst>
                  <a:gs pos="0">
                    <a:schemeClr val="tx1"/>
                  </a:gs>
                  <a:gs pos="100000">
                    <a:schemeClr val="hlink"/>
                  </a:gs>
                </a:gsLst>
                <a:lin ang="0" scaled="1"/>
              </a:gradFill>
              <a:effectLst>
                <a:outerShdw dist="63500" dir="2212194" algn="ctr" rotWithShape="0">
                  <a:srgbClr val="868686">
                    <a:alpha val="50000"/>
                  </a:srgbClr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2FDD1F7A-55FC-F65D-3792-0367CBF4DA22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fld id="{1F39D7F0-075E-414C-8A57-DCEA874578F4}" type="slidenum">
              <a:rPr altLang="zh-CN" sz="1200" noProof="1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</a:t>
            </a:fld>
            <a:endParaRPr lang="zh-CN" altLang="zh-CN" sz="1200" noProof="1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8CEBF050-E593-4E03-963D-68D8166F0B3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147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93185A7-BA34-4D25-A26D-4B77E8EE6694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panose="02010600030101010101" pitchFamily="2" charset="-122"/>
              </a:rPr>
              <a:t>目录</a:t>
            </a:r>
            <a:endParaRPr lang="en-US" altLang="zh-CN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  <p:sp>
        <p:nvSpPr>
          <p:cNvPr id="6149" name="AutoShape 3"/>
          <p:cNvSpPr>
            <a:spLocks noChangeArrowheads="1"/>
          </p:cNvSpPr>
          <p:nvPr/>
        </p:nvSpPr>
        <p:spPr bwMode="auto">
          <a:xfrm>
            <a:off x="914496" y="1524050"/>
            <a:ext cx="76962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2"/>
            </a:solidFill>
            <a:round/>
          </a:ln>
          <a:effectLst>
            <a:outerShdw dist="99190" dir="238833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0" b="1"/>
              <a:t>导言</a:t>
            </a:r>
            <a:endParaRPr lang="en-US" altLang="zh-CN" sz="2400" b="1"/>
          </a:p>
        </p:txBody>
      </p:sp>
      <p:sp>
        <p:nvSpPr>
          <p:cNvPr id="6150" name="AutoShape 4"/>
          <p:cNvSpPr>
            <a:spLocks noChangeArrowheads="1"/>
          </p:cNvSpPr>
          <p:nvPr/>
        </p:nvSpPr>
        <p:spPr bwMode="auto">
          <a:xfrm>
            <a:off x="533496" y="1404987"/>
            <a:ext cx="685800" cy="685800"/>
          </a:xfrm>
          <a:prstGeom prst="diamond">
            <a:avLst/>
          </a:prstGeom>
          <a:solidFill>
            <a:schemeClr val="accent2"/>
          </a:solidFill>
          <a:ln w="25400">
            <a:solidFill>
              <a:schemeClr val="bg1"/>
            </a:solidFill>
            <a:miter lim="800000"/>
          </a:ln>
          <a:effectLst>
            <a:outerShdw dist="63500" dir="221219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6151" name="Text Box 6"/>
          <p:cNvSpPr txBox="1">
            <a:spLocks noChangeArrowheads="1"/>
          </p:cNvSpPr>
          <p:nvPr/>
        </p:nvSpPr>
        <p:spPr bwMode="auto">
          <a:xfrm>
            <a:off x="687484" y="1503412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152" name="AutoShape 7"/>
          <p:cNvSpPr>
            <a:spLocks noChangeArrowheads="1"/>
          </p:cNvSpPr>
          <p:nvPr/>
        </p:nvSpPr>
        <p:spPr bwMode="auto">
          <a:xfrm>
            <a:off x="914496" y="2362250"/>
            <a:ext cx="76962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1"/>
            </a:solidFill>
            <a:round/>
          </a:ln>
          <a:effectLst>
            <a:outerShdw dist="99190" dir="238833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b="1" dirty="0"/>
              <a:t> 类型和</a:t>
            </a:r>
            <a:r>
              <a:rPr lang="zh-CN" altLang="en-US" sz="2400" b="1" dirty="0"/>
              <a:t>运算</a:t>
            </a:r>
          </a:p>
        </p:txBody>
      </p:sp>
      <p:sp>
        <p:nvSpPr>
          <p:cNvPr id="6153" name="AutoShape 8"/>
          <p:cNvSpPr>
            <a:spLocks noChangeArrowheads="1"/>
          </p:cNvSpPr>
          <p:nvPr/>
        </p:nvSpPr>
        <p:spPr bwMode="auto">
          <a:xfrm>
            <a:off x="533496" y="2243187"/>
            <a:ext cx="685800" cy="685800"/>
          </a:xfrm>
          <a:prstGeom prst="diamond">
            <a:avLst/>
          </a:prstGeom>
          <a:solidFill>
            <a:schemeClr val="accent1"/>
          </a:solidFill>
          <a:ln w="25400">
            <a:solidFill>
              <a:schemeClr val="bg1"/>
            </a:solidFill>
            <a:miter lim="800000"/>
          </a:ln>
          <a:effectLst>
            <a:outerShdw dist="63500" dir="221219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6154" name="Text Box 10"/>
          <p:cNvSpPr txBox="1">
            <a:spLocks noChangeArrowheads="1"/>
          </p:cNvSpPr>
          <p:nvPr/>
        </p:nvSpPr>
        <p:spPr bwMode="auto">
          <a:xfrm>
            <a:off x="687484" y="2341612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155" name="AutoShape 11"/>
          <p:cNvSpPr>
            <a:spLocks noChangeArrowheads="1"/>
          </p:cNvSpPr>
          <p:nvPr/>
        </p:nvSpPr>
        <p:spPr bwMode="auto">
          <a:xfrm>
            <a:off x="914496" y="3200450"/>
            <a:ext cx="76962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hlink"/>
            </a:solidFill>
            <a:round/>
          </a:ln>
          <a:effectLst>
            <a:outerShdw dist="99190" dir="238833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6156" name="AutoShape 12"/>
          <p:cNvSpPr>
            <a:spLocks noChangeArrowheads="1"/>
          </p:cNvSpPr>
          <p:nvPr/>
        </p:nvSpPr>
        <p:spPr bwMode="auto">
          <a:xfrm>
            <a:off x="533496" y="3081387"/>
            <a:ext cx="685800" cy="685800"/>
          </a:xfrm>
          <a:prstGeom prst="diamond">
            <a:avLst/>
          </a:prstGeom>
          <a:solidFill>
            <a:schemeClr val="hlink"/>
          </a:solidFill>
          <a:ln w="25400">
            <a:solidFill>
              <a:schemeClr val="bg1"/>
            </a:solidFill>
            <a:miter lim="800000"/>
          </a:ln>
          <a:effectLst>
            <a:outerShdw dist="63500" dir="221219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6157" name="Text Box 13"/>
          <p:cNvSpPr txBox="1">
            <a:spLocks noChangeArrowheads="1"/>
          </p:cNvSpPr>
          <p:nvPr/>
        </p:nvSpPr>
        <p:spPr bwMode="auto">
          <a:xfrm>
            <a:off x="1143096" y="3233787"/>
            <a:ext cx="73914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b="1" dirty="0"/>
              <a:t>函数</a:t>
            </a:r>
            <a:r>
              <a:rPr lang="en-US" altLang="zh-CN" sz="2400" b="1" dirty="0"/>
              <a:t>的应用 </a:t>
            </a:r>
          </a:p>
        </p:txBody>
      </p:sp>
      <p:sp>
        <p:nvSpPr>
          <p:cNvPr id="6158" name="Text Box 14"/>
          <p:cNvSpPr txBox="1">
            <a:spLocks noChangeArrowheads="1"/>
          </p:cNvSpPr>
          <p:nvPr/>
        </p:nvSpPr>
        <p:spPr bwMode="auto">
          <a:xfrm>
            <a:off x="687484" y="3179812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159" name="AutoShape 15"/>
          <p:cNvSpPr>
            <a:spLocks noChangeArrowheads="1"/>
          </p:cNvSpPr>
          <p:nvPr/>
        </p:nvSpPr>
        <p:spPr bwMode="auto">
          <a:xfrm>
            <a:off x="914496" y="4038650"/>
            <a:ext cx="76962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1"/>
            </a:solidFill>
            <a:round/>
          </a:ln>
          <a:effectLst>
            <a:outerShdw dist="99190" dir="238833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6160" name="AutoShape 16"/>
          <p:cNvSpPr>
            <a:spLocks noChangeArrowheads="1"/>
          </p:cNvSpPr>
          <p:nvPr/>
        </p:nvSpPr>
        <p:spPr bwMode="auto">
          <a:xfrm>
            <a:off x="533496" y="3919587"/>
            <a:ext cx="685800" cy="685800"/>
          </a:xfrm>
          <a:prstGeom prst="diamond">
            <a:avLst/>
          </a:prstGeom>
          <a:solidFill>
            <a:schemeClr val="accent5">
              <a:lumMod val="50000"/>
            </a:schemeClr>
          </a:solidFill>
          <a:ln w="25400">
            <a:solidFill>
              <a:schemeClr val="bg1"/>
            </a:solidFill>
            <a:miter lim="800000"/>
          </a:ln>
          <a:effectLst>
            <a:outerShdw dist="63500" dir="221219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6161" name="Text Box 17"/>
          <p:cNvSpPr txBox="1">
            <a:spLocks noChangeArrowheads="1"/>
          </p:cNvSpPr>
          <p:nvPr/>
        </p:nvSpPr>
        <p:spPr bwMode="auto">
          <a:xfrm>
            <a:off x="1219296" y="4071987"/>
            <a:ext cx="73152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b="1" dirty="0"/>
              <a:t>函数的</a:t>
            </a:r>
            <a:r>
              <a:rPr lang="en-US" altLang="zh-CN" sz="2400" b="1" dirty="0"/>
              <a:t>增长</a:t>
            </a:r>
          </a:p>
        </p:txBody>
      </p:sp>
      <p:sp>
        <p:nvSpPr>
          <p:cNvPr id="6162" name="Text Box 18"/>
          <p:cNvSpPr txBox="1">
            <a:spLocks noChangeArrowheads="1"/>
          </p:cNvSpPr>
          <p:nvPr/>
        </p:nvSpPr>
        <p:spPr bwMode="auto">
          <a:xfrm>
            <a:off x="687484" y="4018012"/>
            <a:ext cx="354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" name="AutoShape 15"/>
          <p:cNvSpPr>
            <a:spLocks noChangeArrowheads="1"/>
          </p:cNvSpPr>
          <p:nvPr/>
        </p:nvSpPr>
        <p:spPr bwMode="auto">
          <a:xfrm>
            <a:off x="914496" y="4919713"/>
            <a:ext cx="76962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1"/>
            </a:solidFill>
            <a:round/>
          </a:ln>
          <a:effectLst>
            <a:outerShdw dist="99190" dir="238833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3" name="AutoShape 16"/>
          <p:cNvSpPr>
            <a:spLocks noChangeArrowheads="1"/>
          </p:cNvSpPr>
          <p:nvPr/>
        </p:nvSpPr>
        <p:spPr bwMode="auto">
          <a:xfrm>
            <a:off x="533496" y="4800650"/>
            <a:ext cx="685800" cy="685800"/>
          </a:xfrm>
          <a:prstGeom prst="diamond">
            <a:avLst/>
          </a:prstGeom>
          <a:solidFill>
            <a:schemeClr val="tx1"/>
          </a:solidFill>
          <a:ln w="25400">
            <a:solidFill>
              <a:schemeClr val="bg1"/>
            </a:solidFill>
            <a:miter lim="800000"/>
          </a:ln>
          <a:effectLst>
            <a:outerShdw dist="63500" dir="221219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4" name="Text Box 17"/>
          <p:cNvSpPr txBox="1">
            <a:spLocks noChangeArrowheads="1"/>
          </p:cNvSpPr>
          <p:nvPr/>
        </p:nvSpPr>
        <p:spPr bwMode="auto">
          <a:xfrm>
            <a:off x="1219296" y="4953050"/>
            <a:ext cx="73152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b="1" dirty="0"/>
              <a:t>时间复杂</a:t>
            </a:r>
            <a:r>
              <a:rPr lang="zh-CN" altLang="en-US" sz="2400" b="1" dirty="0"/>
              <a:t>度</a:t>
            </a:r>
          </a:p>
        </p:txBody>
      </p:sp>
      <p:sp>
        <p:nvSpPr>
          <p:cNvPr id="5" name="Text Box 18"/>
          <p:cNvSpPr txBox="1">
            <a:spLocks noChangeArrowheads="1"/>
          </p:cNvSpPr>
          <p:nvPr/>
        </p:nvSpPr>
        <p:spPr bwMode="auto">
          <a:xfrm>
            <a:off x="686396" y="4899075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" name="AutoShape 15"/>
          <p:cNvSpPr>
            <a:spLocks noChangeArrowheads="1"/>
          </p:cNvSpPr>
          <p:nvPr/>
        </p:nvSpPr>
        <p:spPr bwMode="auto">
          <a:xfrm>
            <a:off x="914496" y="5805539"/>
            <a:ext cx="76962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chemeClr val="accent1"/>
            </a:solidFill>
            <a:round/>
          </a:ln>
          <a:effectLst>
            <a:outerShdw dist="99190" dir="2388334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7" name="AutoShape 16"/>
          <p:cNvSpPr>
            <a:spLocks noChangeArrowheads="1"/>
          </p:cNvSpPr>
          <p:nvPr/>
        </p:nvSpPr>
        <p:spPr bwMode="auto">
          <a:xfrm>
            <a:off x="533496" y="5686476"/>
            <a:ext cx="685800" cy="685800"/>
          </a:xfrm>
          <a:prstGeom prst="diamond">
            <a:avLst/>
          </a:prstGeom>
          <a:solidFill>
            <a:schemeClr val="accent5">
              <a:lumMod val="10000"/>
            </a:schemeClr>
          </a:solidFill>
          <a:ln w="25400">
            <a:solidFill>
              <a:schemeClr val="bg1"/>
            </a:solidFill>
            <a:miter lim="800000"/>
          </a:ln>
          <a:effectLst>
            <a:outerShdw dist="63500" dir="2212194" algn="ctr" rotWithShape="0">
              <a:srgbClr val="333333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1219296" y="5838876"/>
            <a:ext cx="73152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b="1" dirty="0"/>
              <a:t>算法的时间复杂</a:t>
            </a:r>
            <a:r>
              <a:rPr lang="zh-CN" altLang="en-US" sz="2400" b="1" dirty="0"/>
              <a:t>度</a:t>
            </a:r>
          </a:p>
        </p:txBody>
      </p:sp>
      <p:sp>
        <p:nvSpPr>
          <p:cNvPr id="9" name="Text Box 18"/>
          <p:cNvSpPr txBox="1">
            <a:spLocks noChangeArrowheads="1"/>
          </p:cNvSpPr>
          <p:nvPr/>
        </p:nvSpPr>
        <p:spPr bwMode="auto">
          <a:xfrm>
            <a:off x="686396" y="5784901"/>
            <a:ext cx="3561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FF5B6FE9-275B-4ACA-AECF-E8C280B793A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171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D5F0AC7B-2BD4-473B-A1B2-73519C085959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7173" name="Group 3"/>
          <p:cNvGrpSpPr/>
          <p:nvPr/>
        </p:nvGrpSpPr>
        <p:grpSpPr bwMode="auto">
          <a:xfrm>
            <a:off x="1981200" y="2819400"/>
            <a:ext cx="5029200" cy="2438400"/>
            <a:chOff x="0" y="0"/>
            <a:chExt cx="1889" cy="1009"/>
          </a:xfrm>
        </p:grpSpPr>
        <p:grpSp>
          <p:nvGrpSpPr>
            <p:cNvPr id="7175" name="Group 4"/>
            <p:cNvGrpSpPr/>
            <p:nvPr/>
          </p:nvGrpSpPr>
          <p:grpSpPr bwMode="auto">
            <a:xfrm>
              <a:off x="0" y="90"/>
              <a:ext cx="1889" cy="919"/>
              <a:chOff x="0" y="0"/>
              <a:chExt cx="1926" cy="937"/>
            </a:xfrm>
          </p:grpSpPr>
          <p:sp>
            <p:nvSpPr>
              <p:cNvPr id="7180" name="Oval 5"/>
              <p:cNvSpPr>
                <a:spLocks noChangeArrowheads="1"/>
              </p:cNvSpPr>
              <p:nvPr/>
            </p:nvSpPr>
            <p:spPr bwMode="auto">
              <a:xfrm>
                <a:off x="21" y="3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4A4A7C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  <p:sp>
            <p:nvSpPr>
              <p:cNvPr id="7181" name="Oval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rgbClr val="D2D2FF"/>
                  </a:gs>
                  <a:gs pos="100000">
                    <a:schemeClr val="hlink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</p:grpSp>
        <p:sp>
          <p:nvSpPr>
            <p:cNvPr id="7176" name="Oval 7"/>
            <p:cNvSpPr>
              <a:spLocks noChangeArrowheads="1"/>
            </p:cNvSpPr>
            <p:nvPr/>
          </p:nvSpPr>
          <p:spPr bwMode="auto">
            <a:xfrm>
              <a:off x="89" y="0"/>
              <a:ext cx="1691" cy="845"/>
            </a:xfrm>
            <a:prstGeom prst="ellipse">
              <a:avLst/>
            </a:prstGeom>
            <a:gradFill rotWithShape="1">
              <a:gsLst>
                <a:gs pos="0">
                  <a:srgbClr val="37556B"/>
                </a:gs>
                <a:gs pos="100000">
                  <a:schemeClr val="accent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7177" name="Oval 8"/>
            <p:cNvSpPr>
              <a:spLocks noChangeArrowheads="1"/>
            </p:cNvSpPr>
            <p:nvPr/>
          </p:nvSpPr>
          <p:spPr bwMode="auto">
            <a:xfrm>
              <a:off x="111" y="5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rgbClr val="D0E6F7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7178" name="Oval 9"/>
            <p:cNvSpPr>
              <a:spLocks noChangeArrowheads="1"/>
            </p:cNvSpPr>
            <p:nvPr/>
          </p:nvSpPr>
          <p:spPr bwMode="auto">
            <a:xfrm>
              <a:off x="128" y="13"/>
              <a:ext cx="1570" cy="770"/>
            </a:xfrm>
            <a:prstGeom prst="ellipse">
              <a:avLst/>
            </a:prstGeom>
            <a:gradFill rotWithShape="1">
              <a:gsLst>
                <a:gs pos="0">
                  <a:srgbClr val="5E91B7"/>
                </a:gs>
                <a:gs pos="100000">
                  <a:schemeClr val="accent1">
                    <a:alpha val="48000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7179" name="Oval 10"/>
            <p:cNvSpPr>
              <a:spLocks noChangeArrowheads="1"/>
            </p:cNvSpPr>
            <p:nvPr/>
          </p:nvSpPr>
          <p:spPr bwMode="auto">
            <a:xfrm>
              <a:off x="211" y="30"/>
              <a:ext cx="1382" cy="62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1">
                    <a:alpha val="37999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</p:grpSp>
      <p:sp>
        <p:nvSpPr>
          <p:cNvPr id="7174" name="Rectangle 11"/>
          <p:cNvSpPr>
            <a:spLocks noGrp="1" noChangeArrowheads="1"/>
          </p:cNvSpPr>
          <p:nvPr>
            <p:ph type="body" idx="4294967295"/>
          </p:nvPr>
        </p:nvSpPr>
        <p:spPr>
          <a:xfrm>
            <a:off x="2209800" y="3505200"/>
            <a:ext cx="4572000" cy="685800"/>
          </a:xfrm>
        </p:spPr>
        <p:txBody>
          <a:bodyPr/>
          <a:lstStyle/>
          <a:p>
            <a:pPr algn="ctr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 b="1">
                <a:ea typeface="宋体" panose="02010600030101010101" pitchFamily="2" charset="-122"/>
              </a:rPr>
              <a:t>导言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62B93D4E-1EAC-4A35-97C6-CA39B954C584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函数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>
              <a:lnSpc>
                <a:spcPct val="90000"/>
              </a:lnSpc>
            </a:pPr>
            <a:r>
              <a:rPr lang="en-US" altLang="zh-CN" sz="2800">
                <a:solidFill>
                  <a:srgbClr val="030711"/>
                </a:solidFill>
                <a:ea typeface="宋体" panose="02010600030101010101" pitchFamily="2" charset="-122"/>
              </a:rPr>
              <a:t>从微积分中，你知道</a:t>
            </a:r>
            <a:r>
              <a:rPr lang="zh-CN" altLang="en-US" sz="2800">
                <a:solidFill>
                  <a:srgbClr val="030711"/>
                </a:solidFill>
                <a:ea typeface="宋体" panose="02010600030101010101" pitchFamily="2" charset="-122"/>
              </a:rPr>
              <a:t>了</a:t>
            </a:r>
            <a:r>
              <a:rPr lang="en-US" altLang="zh-CN" sz="2800">
                <a:solidFill>
                  <a:srgbClr val="030711"/>
                </a:solidFill>
                <a:ea typeface="宋体" panose="02010600030101010101" pitchFamily="2" charset="-122"/>
              </a:rPr>
              <a:t>实值函数 </a:t>
            </a:r>
            <a:r>
              <a:rPr lang="en-US" altLang="zh-CN" sz="2800" i="1">
                <a:solidFill>
                  <a:srgbClr val="030711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800">
                <a:solidFill>
                  <a:srgbClr val="030711"/>
                </a:solidFill>
                <a:ea typeface="宋体" panose="02010600030101010101" pitchFamily="2" charset="-122"/>
              </a:rPr>
              <a:t>的概念，它为每个数 </a:t>
            </a:r>
            <a: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</a:rPr>
              <a:t>R </a:t>
            </a:r>
            <a:r>
              <a:rPr lang="en-US" altLang="zh-CN" sz="2800">
                <a:solidFill>
                  <a:srgbClr val="030711"/>
                </a:solidFill>
                <a:ea typeface="宋体" panose="02010600030101010101" pitchFamily="2" charset="-122"/>
              </a:rPr>
              <a:t>赋一个特定的值 </a:t>
            </a:r>
            <a:r>
              <a:rPr lang="en-US" altLang="zh-CN" sz="2800" i="1">
                <a:solidFill>
                  <a:srgbClr val="030711"/>
                </a:solidFill>
                <a:ea typeface="宋体" panose="02010600030101010101" pitchFamily="2" charset="-122"/>
              </a:rPr>
              <a:t>y=f</a:t>
            </a:r>
            <a:r>
              <a:rPr lang="en-US" altLang="zh-CN" sz="2800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i="1">
                <a:solidFill>
                  <a:srgbClr val="030711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>
                <a:solidFill>
                  <a:srgbClr val="030711"/>
                </a:solidFill>
                <a:ea typeface="宋体" panose="02010600030101010101" pitchFamily="2" charset="-122"/>
              </a:rPr>
              <a:t>)，其中 </a:t>
            </a:r>
            <a: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</a:rPr>
              <a:t>y</a:t>
            </a:r>
            <a:r>
              <a:rPr lang="en-US" altLang="zh-CN" sz="280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</a:rPr>
              <a:t>R</a:t>
            </a:r>
            <a:r>
              <a:rPr lang="en-US" altLang="zh-CN" sz="2800">
                <a:solidFill>
                  <a:srgbClr val="030711"/>
                </a:solidFill>
                <a:ea typeface="宋体" panose="02010600030101010101" pitchFamily="2" charset="-122"/>
              </a:rPr>
              <a:t>。</a:t>
            </a:r>
          </a:p>
          <a:p>
            <a:pPr algn="just">
              <a:lnSpc>
                <a:spcPct val="90000"/>
              </a:lnSpc>
            </a:pPr>
            <a:r>
              <a:rPr lang="en-GB" altLang="en-US" sz="2800" i="1">
                <a:solidFill>
                  <a:srgbClr val="030711"/>
                </a:solidFill>
                <a:ea typeface="宋体" panose="02010600030101010101" pitchFamily="2" charset="-122"/>
              </a:rPr>
              <a:t>例题</a:t>
            </a:r>
            <a:r>
              <a:rPr lang="en-GB" altLang="en-US" sz="2800">
                <a:solidFill>
                  <a:srgbClr val="030711"/>
                </a:solidFill>
                <a:ea typeface="宋体" panose="02010600030101010101" pitchFamily="2" charset="-122"/>
              </a:rPr>
              <a:t>：</a:t>
            </a:r>
            <a:r>
              <a:rPr lang="en-GB" altLang="en-US" sz="2800" i="1">
                <a:solidFill>
                  <a:srgbClr val="030711"/>
                </a:solidFill>
                <a:ea typeface="宋体" panose="02010600030101010101" pitchFamily="2" charset="-122"/>
              </a:rPr>
              <a:t>f </a:t>
            </a:r>
            <a:r>
              <a:rPr lang="en-GB" altLang="en-US" sz="2800">
                <a:solidFill>
                  <a:srgbClr val="030711"/>
                </a:solidFill>
                <a:ea typeface="宋体" panose="02010600030101010101" pitchFamily="2" charset="-122"/>
              </a:rPr>
              <a:t>的定义规则是 f</a:t>
            </a:r>
            <a:r>
              <a:rPr lang="en-GB" altLang="en-US" sz="2800" i="1">
                <a:solidFill>
                  <a:srgbClr val="030711"/>
                </a:solidFill>
                <a:ea typeface="宋体" panose="02010600030101010101" pitchFamily="2" charset="-122"/>
              </a:rPr>
              <a:t>(x)=x</a:t>
            </a:r>
            <a:r>
              <a:rPr lang="en-GB" altLang="en-US" sz="2800" i="1" baseline="30000">
                <a:solidFill>
                  <a:srgbClr val="030711"/>
                </a:solidFill>
                <a:ea typeface="宋体" panose="02010600030101010101" pitchFamily="2" charset="-122"/>
              </a:rPr>
              <a:t>2</a:t>
            </a:r>
            <a:endParaRPr lang="en-US" altLang="zh-CN" sz="2800" i="1" baseline="30000">
              <a:solidFill>
                <a:srgbClr val="030711"/>
              </a:solidFill>
              <a:ea typeface="宋体" panose="02010600030101010101" pitchFamily="2" charset="-122"/>
            </a:endParaRPr>
          </a:p>
          <a:p>
            <a:pPr algn="just">
              <a:lnSpc>
                <a:spcPct val="90000"/>
              </a:lnSpc>
            </a:pPr>
            <a:r>
              <a:rPr lang="en-US" altLang="zh-CN" sz="2800">
                <a:solidFill>
                  <a:srgbClr val="030711"/>
                </a:solidFill>
                <a:ea typeface="宋体" panose="02010600030101010101" pitchFamily="2" charset="-122"/>
              </a:rPr>
              <a:t>函数的概念可以概括为将</a:t>
            </a:r>
            <a:r>
              <a:rPr lang="en-US" altLang="zh-CN" sz="2800" i="1">
                <a:solidFill>
                  <a:srgbClr val="030711"/>
                </a:solidFill>
                <a:ea typeface="宋体" panose="02010600030101010101" pitchFamily="2" charset="-122"/>
              </a:rPr>
              <a:t>任意</a:t>
            </a:r>
            <a:r>
              <a:rPr lang="en-US" altLang="zh-CN" sz="2800">
                <a:solidFill>
                  <a:srgbClr val="030711"/>
                </a:solidFill>
                <a:ea typeface="宋体" panose="02010600030101010101" pitchFamily="2" charset="-122"/>
              </a:rPr>
              <a:t>集合的元素赋值给</a:t>
            </a:r>
            <a:r>
              <a:rPr lang="en-US" altLang="zh-CN" sz="2800" i="1">
                <a:solidFill>
                  <a:srgbClr val="030711"/>
                </a:solidFill>
                <a:ea typeface="宋体" panose="02010600030101010101" pitchFamily="2" charset="-122"/>
              </a:rPr>
              <a:t>任意</a:t>
            </a:r>
            <a:r>
              <a:rPr lang="en-US" altLang="zh-CN" sz="2800">
                <a:solidFill>
                  <a:srgbClr val="030711"/>
                </a:solidFill>
                <a:ea typeface="宋体" panose="02010600030101010101" pitchFamily="2" charset="-122"/>
              </a:rPr>
              <a:t>集合的元素。</a:t>
            </a:r>
          </a:p>
          <a:p>
            <a:pPr algn="just">
              <a:lnSpc>
                <a:spcPct val="90000"/>
              </a:lnSpc>
            </a:pPr>
            <a:r>
              <a:rPr lang="en-GB" altLang="en-US" sz="2800">
                <a:solidFill>
                  <a:srgbClr val="030711"/>
                </a:solidFill>
                <a:ea typeface="宋体" panose="02010600030101010101" pitchFamily="2" charset="-122"/>
              </a:rPr>
              <a:t>函数也称为运算符。</a:t>
            </a:r>
            <a:endParaRPr lang="en-US" altLang="zh-CN" sz="2800">
              <a:solidFill>
                <a:srgbClr val="03071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8CB65716-9211-44A9-B75F-C19E33F1724A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函数</a:t>
            </a:r>
            <a:r>
              <a:rPr lang="en-US" altLang="zh-CN">
                <a:ea typeface="宋体" panose="02010600030101010101" pitchFamily="2" charset="-122"/>
              </a:rPr>
              <a:t>：正式定义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/>
            <a:r>
              <a:rPr lang="en-US" altLang="zh-CN" i="1">
                <a:ea typeface="宋体" panose="02010600030101010101" pitchFamily="2" charset="-122"/>
              </a:rPr>
              <a:t>从 A 到 B 的函数 f（或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 "</a:t>
            </a:r>
            <a:r>
              <a:rPr lang="en-US" altLang="zh-CN" i="1">
                <a:ea typeface="宋体" panose="02010600030101010101" pitchFamily="2" charset="-122"/>
              </a:rPr>
              <a:t>映射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i="1">
                <a:ea typeface="宋体" panose="02010600030101010101" pitchFamily="2" charset="-122"/>
              </a:rPr>
              <a:t>）</a:t>
            </a:r>
            <a:r>
              <a:rPr lang="en-US" altLang="zh-CN">
                <a:ea typeface="宋体" panose="02010600030101010101" pitchFamily="2" charset="-122"/>
              </a:rPr>
              <a:t>（</a:t>
            </a:r>
            <a:r>
              <a:rPr lang="en-US" altLang="zh-CN" i="1">
                <a:ea typeface="宋体" panose="02010600030101010101" pitchFamily="2" charset="-122"/>
              </a:rPr>
              <a:t>f</a:t>
            </a:r>
            <a:r>
              <a:rPr lang="en-US" altLang="zh-CN">
                <a:ea typeface="宋体" panose="02010600030101010101" pitchFamily="2" charset="-122"/>
              </a:rPr>
              <a:t>:</a:t>
            </a:r>
            <a:r>
              <a:rPr lang="en-US" altLang="zh-CN" i="1">
                <a:ea typeface="宋体" panose="02010600030101010101" pitchFamily="2" charset="-122"/>
              </a:rPr>
              <a:t>A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B</a:t>
            </a:r>
            <a:r>
              <a:rPr lang="en-US" altLang="zh-CN">
                <a:ea typeface="宋体" panose="02010600030101010101" pitchFamily="2" charset="-122"/>
              </a:rPr>
              <a:t>）是将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一个</a:t>
            </a:r>
            <a:r>
              <a:rPr lang="en-US" altLang="zh-CN">
                <a:ea typeface="宋体" panose="02010600030101010101" pitchFamily="2" charset="-122"/>
              </a:rPr>
              <a:t>元素 </a:t>
            </a:r>
            <a:r>
              <a:rPr lang="en-US" altLang="zh-CN" i="1">
                <a:ea typeface="宋体" panose="02010600030101010101" pitchFamily="2" charset="-122"/>
              </a:rPr>
              <a:t>f</a:t>
            </a:r>
            <a:r>
              <a:rPr lang="en-US" altLang="zh-CN">
                <a:ea typeface="宋体" panose="02010600030101010101" pitchFamily="2" charset="-122"/>
              </a:rPr>
              <a:t>(</a:t>
            </a:r>
            <a:r>
              <a:rPr lang="en-US" altLang="zh-CN" i="1">
                <a:ea typeface="宋体" panose="02010600030101010101" pitchFamily="2" charset="-122"/>
              </a:rPr>
              <a:t>x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i="1">
                <a:ea typeface="宋体" panose="02010600030101010101" pitchFamily="2" charset="-122"/>
              </a:rPr>
              <a:t>B </a:t>
            </a:r>
            <a:r>
              <a:rPr lang="en-US" altLang="zh-CN">
                <a:ea typeface="宋体" panose="02010600030101010101" pitchFamily="2" charset="-122"/>
              </a:rPr>
              <a:t>赋值给每个元素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i="1">
                <a:ea typeface="宋体" panose="02010600030101010101" pitchFamily="2" charset="-122"/>
              </a:rPr>
              <a:t>A。</a:t>
            </a:r>
          </a:p>
          <a:p>
            <a:r>
              <a:rPr lang="en-US" altLang="zh-CN">
                <a:solidFill>
                  <a:srgbClr val="006600"/>
                </a:solidFill>
                <a:ea typeface="宋体" panose="02010600030101010101" pitchFamily="2" charset="-122"/>
              </a:rPr>
              <a:t>对这一观点的进一步概括：</a:t>
            </a:r>
          </a:p>
          <a:p>
            <a:pPr lvl="1"/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n 个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参数的函数： </a:t>
            </a:r>
            <a:b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</a:b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f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: (A</a:t>
            </a:r>
            <a:r>
              <a:rPr lang="en-US" altLang="zh-CN" b="1" baseline="-25000">
                <a:solidFill>
                  <a:srgbClr val="030711"/>
                </a:solidFill>
                <a:ea typeface="宋体" panose="02010600030101010101" pitchFamily="2" charset="-122"/>
              </a:rPr>
              <a:t>1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 x A</a:t>
            </a:r>
            <a:r>
              <a:rPr lang="en-US" altLang="zh-CN" b="1" baseline="-25000">
                <a:solidFill>
                  <a:srgbClr val="03071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 ... x A )</a:t>
            </a:r>
            <a:r>
              <a:rPr lang="en-US" altLang="zh-CN" b="1" baseline="-25000">
                <a:solidFill>
                  <a:srgbClr val="030711"/>
                </a:solidFill>
                <a:ea typeface="宋体" panose="02010600030101010101" pitchFamily="2" charset="-122"/>
              </a:rPr>
              <a:t>n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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B． </a:t>
            </a:r>
          </a:p>
          <a:p>
            <a:pPr lvl="1"/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部分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（非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总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）函数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f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将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B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中的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0 个或 1 个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元素分配给每个元素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x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。</a:t>
            </a:r>
          </a:p>
          <a:p>
            <a:pPr lvl="1"/>
            <a:endParaRPr lang="zh-CN" altLang="en-US" b="1" i="1">
              <a:solidFill>
                <a:srgbClr val="03071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37C90DED-2731-4482-85B0-A0D214213C84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447800"/>
            <a:ext cx="8229600" cy="4419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800">
                <a:solidFill>
                  <a:srgbClr val="030711"/>
                </a:solidFill>
                <a:ea typeface="宋体" panose="02010600030101010101" pitchFamily="2" charset="-122"/>
              </a:rPr>
              <a:t>我们可以将函数 </a:t>
            </a:r>
            <a:r>
              <a:rPr lang="en-US" altLang="zh-CN" sz="2800" i="1">
                <a:solidFill>
                  <a:srgbClr val="030711"/>
                </a:solidFill>
                <a:ea typeface="宋体" panose="02010600030101010101" pitchFamily="2" charset="-122"/>
              </a:rPr>
              <a:t>f</a:t>
            </a:r>
            <a:r>
              <a:rPr lang="en-US" altLang="zh-CN" sz="2800">
                <a:solidFill>
                  <a:srgbClr val="030711"/>
                </a:solidFill>
                <a:ea typeface="宋体" panose="02010600030101010101" pitchFamily="2" charset="-122"/>
              </a:rPr>
              <a:t>:</a:t>
            </a:r>
            <a:r>
              <a:rPr lang="en-US" altLang="zh-CN" sz="2800" i="1">
                <a:solidFill>
                  <a:srgbClr val="030711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i="1">
                <a:solidFill>
                  <a:srgbClr val="030711"/>
                </a:solidFill>
                <a:ea typeface="宋体" panose="02010600030101010101" pitchFamily="2" charset="-122"/>
              </a:rPr>
              <a:t>B </a:t>
            </a:r>
            <a:r>
              <a:rPr lang="en-US" altLang="zh-CN" sz="2800">
                <a:solidFill>
                  <a:srgbClr val="030711"/>
                </a:solidFill>
                <a:ea typeface="宋体" panose="02010600030101010101" pitchFamily="2" charset="-122"/>
              </a:rPr>
              <a:t>表示为一组有序对 </a:t>
            </a:r>
            <a:r>
              <a:rPr lang="en-US" altLang="zh-CN" sz="2800" i="1">
                <a:solidFill>
                  <a:srgbClr val="030711"/>
                </a:solidFill>
                <a:ea typeface="宋体" panose="02010600030101010101" pitchFamily="2" charset="-122"/>
              </a:rPr>
              <a:t>f </a:t>
            </a:r>
            <a:r>
              <a:rPr lang="en-US" altLang="zh-CN" sz="2800">
                <a:solidFill>
                  <a:srgbClr val="030711"/>
                </a:solidFill>
                <a:ea typeface="宋体" panose="02010600030101010101" pitchFamily="2" charset="-122"/>
              </a:rPr>
              <a:t>={(</a:t>
            </a:r>
            <a:r>
              <a:rPr lang="en-US" altLang="zh-CN" sz="2800" i="1">
                <a:solidFill>
                  <a:srgbClr val="030711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>
                <a:solidFill>
                  <a:srgbClr val="030711"/>
                </a:solidFill>
                <a:ea typeface="宋体" panose="02010600030101010101" pitchFamily="2" charset="-122"/>
              </a:rPr>
              <a:t>,</a:t>
            </a:r>
            <a:r>
              <a:rPr lang="en-US" altLang="zh-CN" sz="2800" i="1">
                <a:solidFill>
                  <a:srgbClr val="030711"/>
                </a:solidFill>
                <a:ea typeface="宋体" panose="02010600030101010101" pitchFamily="2" charset="-122"/>
              </a:rPr>
              <a:t>f</a:t>
            </a:r>
            <a:r>
              <a:rPr lang="en-US" altLang="zh-CN" sz="2800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i="1">
                <a:solidFill>
                  <a:srgbClr val="030711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>
                <a:solidFill>
                  <a:srgbClr val="030711"/>
                </a:solidFill>
                <a:ea typeface="宋体" panose="02010600030101010101" pitchFamily="2" charset="-122"/>
              </a:rPr>
              <a:t>))| </a:t>
            </a:r>
            <a:r>
              <a:rPr lang="en-US" altLang="zh-CN" sz="2800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aA}</a:t>
            </a:r>
            <a:r>
              <a:rPr lang="en-US" altLang="zh-CN" sz="280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  <a:p>
            <a:pPr>
              <a:lnSpc>
                <a:spcPct val="80000"/>
              </a:lnSpc>
            </a:pPr>
            <a:r>
              <a:rPr lang="en-GB" altLang="en-US" sz="280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这使得 </a:t>
            </a:r>
            <a:r>
              <a:rPr lang="en-GB" altLang="en-US" sz="2800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 </a:t>
            </a:r>
            <a:r>
              <a:rPr lang="en-GB" altLang="en-US" sz="280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成为 A 和 B 之间的关系：</a:t>
            </a:r>
            <a:br>
              <a:rPr lang="en-GB" altLang="en-US" sz="280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GB" altLang="en-US" sz="280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 是 A x B 的子集。</a:t>
            </a:r>
            <a:r>
              <a:rPr lang="en-US" altLang="zh-CN" sz="280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但函数是特</a:t>
            </a:r>
            <a:r>
              <a:rPr lang="zh-CN" altLang="en-US" sz="280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别</a:t>
            </a:r>
            <a:r>
              <a:rPr lang="en-US" altLang="zh-CN" sz="280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的：</a:t>
            </a:r>
          </a:p>
          <a:p>
            <a:pPr lvl="1">
              <a:lnSpc>
                <a:spcPct val="80000"/>
              </a:lnSpc>
            </a:pPr>
            <a:r>
              <a:rPr lang="en-US" altLang="zh-CN" sz="240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对于每一个 </a:t>
            </a:r>
            <a:r>
              <a:rPr lang="en-US" altLang="zh-CN" sz="2400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aA</a:t>
            </a:r>
            <a:r>
              <a:rPr lang="en-US" altLang="zh-CN" sz="240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，至少有一对 (</a:t>
            </a:r>
            <a:r>
              <a:rPr lang="en-US" altLang="zh-CN" sz="2400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40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400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40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)。</a:t>
            </a:r>
            <a:r>
              <a:rPr lang="en-US" altLang="zh-CN" sz="2400">
                <a:solidFill>
                  <a:srgbClr val="030711"/>
                </a:solidFill>
                <a:ea typeface="宋体" panose="02010600030101010101" pitchFamily="2" charset="-122"/>
              </a:rPr>
              <a:t>形式上是 </a:t>
            </a:r>
            <a:br>
              <a:rPr lang="en-US" altLang="zh-CN" sz="2400">
                <a:solidFill>
                  <a:srgbClr val="030711"/>
                </a:solidFill>
                <a:ea typeface="宋体" panose="02010600030101010101" pitchFamily="2" charset="-122"/>
              </a:rPr>
            </a:br>
            <a:r>
              <a:rPr lang="en-US" altLang="zh-CN" sz="2400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aAbB((a,b)f) </a:t>
            </a:r>
          </a:p>
          <a:p>
            <a:pPr lvl="1">
              <a:lnSpc>
                <a:spcPct val="80000"/>
              </a:lnSpc>
            </a:pPr>
            <a:r>
              <a:rPr lang="en-US" altLang="zh-CN" sz="240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对于每一个 </a:t>
            </a:r>
            <a:r>
              <a:rPr lang="en-US" altLang="zh-CN" sz="2400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aA</a:t>
            </a:r>
            <a:r>
              <a:rPr lang="en-US" altLang="zh-CN" sz="240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，最多有一对 (</a:t>
            </a:r>
            <a:r>
              <a:rPr lang="en-US" altLang="zh-CN" sz="2400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40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400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sz="240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)。</a:t>
            </a:r>
            <a:r>
              <a:rPr lang="en-US" altLang="zh-CN" sz="2400">
                <a:solidFill>
                  <a:srgbClr val="030711"/>
                </a:solidFill>
                <a:ea typeface="宋体" panose="02010600030101010101" pitchFamily="2" charset="-122"/>
              </a:rPr>
              <a:t>形式上是 </a:t>
            </a:r>
            <a:br>
              <a:rPr lang="en-US" altLang="zh-CN" sz="2400">
                <a:solidFill>
                  <a:srgbClr val="030711"/>
                </a:solidFill>
                <a:ea typeface="宋体" panose="02010600030101010101" pitchFamily="2" charset="-122"/>
              </a:rPr>
            </a:br>
            <a:r>
              <a:rPr lang="en-US" altLang="zh-CN" sz="2400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a,b,c((a,b)f  (a,c)f  bc) </a:t>
            </a:r>
          </a:p>
          <a:p>
            <a:pPr>
              <a:lnSpc>
                <a:spcPct val="80000"/>
              </a:lnSpc>
            </a:pPr>
            <a:r>
              <a:rPr lang="en-US" altLang="zh-CN" sz="280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数字关系可以表示为平面上的一组点。  (点是一对 (</a:t>
            </a:r>
            <a:r>
              <a:rPr lang="en-US" altLang="zh-CN" sz="2800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x,y</a:t>
            </a:r>
            <a:r>
              <a:rPr lang="en-US" altLang="zh-CN" sz="280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)）。</a:t>
            </a:r>
          </a:p>
          <a:p>
            <a:pPr lvl="1">
              <a:lnSpc>
                <a:spcPct val="80000"/>
              </a:lnSpc>
            </a:pPr>
            <a:r>
              <a:rPr lang="en-US" altLang="zh-CN" sz="240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函数就是一条曲线（点的集合）、 </a:t>
            </a:r>
            <a:br>
              <a:rPr lang="en-US" altLang="zh-CN" sz="240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240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每个 </a:t>
            </a:r>
            <a:r>
              <a:rPr lang="en-US" altLang="zh-CN" sz="2400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sz="240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只有一个 </a:t>
            </a:r>
            <a:r>
              <a:rPr lang="en-US" altLang="zh-CN" sz="2400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sz="240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。 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endParaRPr lang="zh-CN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5ABF9D6-D178-49ED-8384-D68AD62677B8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函数可以通过几种方式用图形表示：</a:t>
            </a:r>
          </a:p>
        </p:txBody>
      </p:sp>
      <p:sp>
        <p:nvSpPr>
          <p:cNvPr id="11269" name="Oval 4"/>
          <p:cNvSpPr>
            <a:spLocks noChangeArrowheads="1"/>
          </p:cNvSpPr>
          <p:nvPr/>
        </p:nvSpPr>
        <p:spPr bwMode="auto">
          <a:xfrm>
            <a:off x="914400" y="3581400"/>
            <a:ext cx="990600" cy="1524000"/>
          </a:xfrm>
          <a:prstGeom prst="ellipse">
            <a:avLst/>
          </a:prstGeom>
          <a:solidFill>
            <a:srgbClr val="33CCCC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11270" name="Oval 5"/>
          <p:cNvSpPr>
            <a:spLocks noChangeArrowheads="1"/>
          </p:cNvSpPr>
          <p:nvPr/>
        </p:nvSpPr>
        <p:spPr bwMode="auto">
          <a:xfrm>
            <a:off x="2209800" y="3657600"/>
            <a:ext cx="990600" cy="1600200"/>
          </a:xfrm>
          <a:prstGeom prst="ellipse">
            <a:avLst/>
          </a:prstGeom>
          <a:solidFill>
            <a:srgbClr val="33CCCC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11271" name="Text Box 6"/>
          <p:cNvSpPr txBox="1">
            <a:spLocks noChangeArrowheads="1"/>
          </p:cNvSpPr>
          <p:nvPr/>
        </p:nvSpPr>
        <p:spPr bwMode="auto">
          <a:xfrm>
            <a:off x="1189038" y="3962400"/>
            <a:ext cx="290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11272" name="Text Box 7"/>
          <p:cNvSpPr txBox="1">
            <a:spLocks noChangeArrowheads="1"/>
          </p:cNvSpPr>
          <p:nvPr/>
        </p:nvSpPr>
        <p:spPr bwMode="auto">
          <a:xfrm>
            <a:off x="2514600" y="3962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11273" name="Freeform 8"/>
          <p:cNvSpPr>
            <a:spLocks noChangeArrowheads="1"/>
          </p:cNvSpPr>
          <p:nvPr/>
        </p:nvSpPr>
        <p:spPr bwMode="auto">
          <a:xfrm>
            <a:off x="1295400" y="3721100"/>
            <a:ext cx="1295400" cy="469900"/>
          </a:xfrm>
          <a:custGeom>
            <a:avLst/>
            <a:gdLst>
              <a:gd name="T0" fmla="*/ 0 w 816"/>
              <a:gd name="T1" fmla="*/ 2147483646 h 296"/>
              <a:gd name="T2" fmla="*/ 2147483646 w 816"/>
              <a:gd name="T3" fmla="*/ 2147483646 h 296"/>
              <a:gd name="T4" fmla="*/ 2147483646 w 816"/>
              <a:gd name="T5" fmla="*/ 2147483646 h 2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816" h="296">
                <a:moveTo>
                  <a:pt x="0" y="296"/>
                </a:moveTo>
                <a:cubicBezTo>
                  <a:pt x="172" y="156"/>
                  <a:pt x="344" y="16"/>
                  <a:pt x="480" y="8"/>
                </a:cubicBezTo>
                <a:cubicBezTo>
                  <a:pt x="616" y="0"/>
                  <a:pt x="716" y="124"/>
                  <a:pt x="816" y="248"/>
                </a:cubicBezTo>
              </a:path>
            </a:pathLst>
          </a:custGeom>
          <a:noFill/>
          <a:ln w="12700">
            <a:solidFill>
              <a:schemeClr val="tx1"/>
            </a:solidFill>
            <a:bevel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4" name="Text Box 9"/>
          <p:cNvSpPr txBox="1">
            <a:spLocks noChangeArrowheads="1"/>
          </p:cNvSpPr>
          <p:nvPr/>
        </p:nvSpPr>
        <p:spPr bwMode="auto">
          <a:xfrm>
            <a:off x="1143000" y="5105400"/>
            <a:ext cx="36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A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11275" name="Text Box 10"/>
          <p:cNvSpPr txBox="1">
            <a:spLocks noChangeArrowheads="1"/>
          </p:cNvSpPr>
          <p:nvPr/>
        </p:nvSpPr>
        <p:spPr bwMode="auto">
          <a:xfrm>
            <a:off x="2519363" y="5295900"/>
            <a:ext cx="369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B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11276" name="Freeform 11"/>
          <p:cNvSpPr>
            <a:spLocks noChangeArrowheads="1"/>
          </p:cNvSpPr>
          <p:nvPr/>
        </p:nvSpPr>
        <p:spPr bwMode="auto">
          <a:xfrm>
            <a:off x="1447800" y="3127375"/>
            <a:ext cx="1190625" cy="528638"/>
          </a:xfrm>
          <a:custGeom>
            <a:avLst/>
            <a:gdLst>
              <a:gd name="T0" fmla="*/ 0 w 750"/>
              <a:gd name="T1" fmla="*/ 2147483646 h 333"/>
              <a:gd name="T2" fmla="*/ 2147483646 w 750"/>
              <a:gd name="T3" fmla="*/ 2147483646 h 333"/>
              <a:gd name="T4" fmla="*/ 2147483646 w 750"/>
              <a:gd name="T5" fmla="*/ 2147483646 h 333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50" h="333">
                <a:moveTo>
                  <a:pt x="0" y="294"/>
                </a:moveTo>
                <a:cubicBezTo>
                  <a:pt x="172" y="154"/>
                  <a:pt x="355" y="0"/>
                  <a:pt x="480" y="6"/>
                </a:cubicBezTo>
                <a:cubicBezTo>
                  <a:pt x="605" y="12"/>
                  <a:pt x="694" y="265"/>
                  <a:pt x="750" y="333"/>
                </a:cubicBezTo>
              </a:path>
            </a:pathLst>
          </a:custGeom>
          <a:noFill/>
          <a:ln w="12700">
            <a:solidFill>
              <a:schemeClr val="tx1"/>
            </a:solidFill>
            <a:bevel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77" name="Text Box 12"/>
          <p:cNvSpPr txBox="1">
            <a:spLocks noChangeArrowheads="1"/>
          </p:cNvSpPr>
          <p:nvPr/>
        </p:nvSpPr>
        <p:spPr bwMode="auto">
          <a:xfrm>
            <a:off x="1143000" y="41148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a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11278" name="Text Box 13"/>
          <p:cNvSpPr txBox="1">
            <a:spLocks noChangeArrowheads="1"/>
          </p:cNvSpPr>
          <p:nvPr/>
        </p:nvSpPr>
        <p:spPr bwMode="auto">
          <a:xfrm>
            <a:off x="2498725" y="41910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b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11279" name="Text Box 14"/>
          <p:cNvSpPr txBox="1">
            <a:spLocks noChangeArrowheads="1"/>
          </p:cNvSpPr>
          <p:nvPr/>
        </p:nvSpPr>
        <p:spPr bwMode="auto">
          <a:xfrm>
            <a:off x="1981200" y="3657600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f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11280" name="Text Box 15"/>
          <p:cNvSpPr txBox="1">
            <a:spLocks noChangeArrowheads="1"/>
          </p:cNvSpPr>
          <p:nvPr/>
        </p:nvSpPr>
        <p:spPr bwMode="auto">
          <a:xfrm>
            <a:off x="2057400" y="3124200"/>
            <a:ext cx="26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f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11281" name="Text Box 16"/>
          <p:cNvSpPr txBox="1">
            <a:spLocks noChangeArrowheads="1"/>
          </p:cNvSpPr>
          <p:nvPr/>
        </p:nvSpPr>
        <p:spPr bwMode="auto">
          <a:xfrm>
            <a:off x="3581400" y="4419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11282" name="Text Box 17"/>
          <p:cNvSpPr txBox="1">
            <a:spLocks noChangeArrowheads="1"/>
          </p:cNvSpPr>
          <p:nvPr/>
        </p:nvSpPr>
        <p:spPr bwMode="auto">
          <a:xfrm>
            <a:off x="3581400" y="4038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11283" name="Text Box 18"/>
          <p:cNvSpPr txBox="1">
            <a:spLocks noChangeArrowheads="1"/>
          </p:cNvSpPr>
          <p:nvPr/>
        </p:nvSpPr>
        <p:spPr bwMode="auto">
          <a:xfrm>
            <a:off x="3581400" y="37338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11284" name="Text Box 19"/>
          <p:cNvSpPr txBox="1">
            <a:spLocks noChangeArrowheads="1"/>
          </p:cNvSpPr>
          <p:nvPr/>
        </p:nvSpPr>
        <p:spPr bwMode="auto">
          <a:xfrm>
            <a:off x="3581400" y="3429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11285" name="Text Box 20"/>
          <p:cNvSpPr txBox="1">
            <a:spLocks noChangeArrowheads="1"/>
          </p:cNvSpPr>
          <p:nvPr/>
        </p:nvSpPr>
        <p:spPr bwMode="auto">
          <a:xfrm>
            <a:off x="4724400" y="4191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11286" name="Text Box 21"/>
          <p:cNvSpPr txBox="1">
            <a:spLocks noChangeArrowheads="1"/>
          </p:cNvSpPr>
          <p:nvPr/>
        </p:nvSpPr>
        <p:spPr bwMode="auto">
          <a:xfrm>
            <a:off x="4724400" y="4648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11287" name="Text Box 22"/>
          <p:cNvSpPr txBox="1">
            <a:spLocks noChangeArrowheads="1"/>
          </p:cNvSpPr>
          <p:nvPr/>
        </p:nvSpPr>
        <p:spPr bwMode="auto">
          <a:xfrm>
            <a:off x="4724400" y="3810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11288" name="Text Box 23"/>
          <p:cNvSpPr txBox="1">
            <a:spLocks noChangeArrowheads="1"/>
          </p:cNvSpPr>
          <p:nvPr/>
        </p:nvSpPr>
        <p:spPr bwMode="auto">
          <a:xfrm>
            <a:off x="4724400" y="3429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11289" name="Line 24"/>
          <p:cNvSpPr>
            <a:spLocks noChangeShapeType="1"/>
          </p:cNvSpPr>
          <p:nvPr/>
        </p:nvSpPr>
        <p:spPr bwMode="auto">
          <a:xfrm>
            <a:off x="3733800" y="3657600"/>
            <a:ext cx="1143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90" name="Line 25"/>
          <p:cNvSpPr>
            <a:spLocks noChangeShapeType="1"/>
          </p:cNvSpPr>
          <p:nvPr/>
        </p:nvSpPr>
        <p:spPr bwMode="auto">
          <a:xfrm flipV="1">
            <a:off x="3733800" y="48768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91" name="Line 26"/>
          <p:cNvSpPr>
            <a:spLocks noChangeShapeType="1"/>
          </p:cNvSpPr>
          <p:nvPr/>
        </p:nvSpPr>
        <p:spPr bwMode="auto">
          <a:xfrm flipV="1">
            <a:off x="3733800" y="36576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92" name="Line 27"/>
          <p:cNvSpPr>
            <a:spLocks noChangeShapeType="1"/>
          </p:cNvSpPr>
          <p:nvPr/>
        </p:nvSpPr>
        <p:spPr bwMode="auto">
          <a:xfrm>
            <a:off x="3733800" y="4267200"/>
            <a:ext cx="1143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93" name="Line 28"/>
          <p:cNvSpPr>
            <a:spLocks noChangeShapeType="1"/>
          </p:cNvSpPr>
          <p:nvPr/>
        </p:nvSpPr>
        <p:spPr bwMode="auto">
          <a:xfrm flipV="1">
            <a:off x="3733800" y="4419600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94" name="Text Box 29"/>
          <p:cNvSpPr txBox="1">
            <a:spLocks noChangeArrowheads="1"/>
          </p:cNvSpPr>
          <p:nvPr/>
        </p:nvSpPr>
        <p:spPr bwMode="auto">
          <a:xfrm>
            <a:off x="3581400" y="4800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11295" name="Line 30"/>
          <p:cNvSpPr>
            <a:spLocks noChangeShapeType="1"/>
          </p:cNvSpPr>
          <p:nvPr/>
        </p:nvSpPr>
        <p:spPr bwMode="auto">
          <a:xfrm>
            <a:off x="5638800" y="49530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96" name="Line 31"/>
          <p:cNvSpPr>
            <a:spLocks noChangeShapeType="1"/>
          </p:cNvSpPr>
          <p:nvPr/>
        </p:nvSpPr>
        <p:spPr bwMode="auto">
          <a:xfrm flipV="1">
            <a:off x="5638800" y="3048000"/>
            <a:ext cx="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97" name="Freeform 32"/>
          <p:cNvSpPr>
            <a:spLocks noChangeArrowheads="1"/>
          </p:cNvSpPr>
          <p:nvPr/>
        </p:nvSpPr>
        <p:spPr bwMode="auto">
          <a:xfrm>
            <a:off x="5638800" y="3479800"/>
            <a:ext cx="2057400" cy="1473200"/>
          </a:xfrm>
          <a:custGeom>
            <a:avLst/>
            <a:gdLst>
              <a:gd name="T0" fmla="*/ 0 w 1296"/>
              <a:gd name="T1" fmla="*/ 2147483646 h 928"/>
              <a:gd name="T2" fmla="*/ 2147483646 w 1296"/>
              <a:gd name="T3" fmla="*/ 2147483646 h 928"/>
              <a:gd name="T4" fmla="*/ 2147483646 w 1296"/>
              <a:gd name="T5" fmla="*/ 2147483646 h 928"/>
              <a:gd name="T6" fmla="*/ 2147483646 w 1296"/>
              <a:gd name="T7" fmla="*/ 2147483646 h 928"/>
              <a:gd name="T8" fmla="*/ 2147483646 w 1296"/>
              <a:gd name="T9" fmla="*/ 2147483646 h 9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96" h="928">
                <a:moveTo>
                  <a:pt x="0" y="928"/>
                </a:moveTo>
                <a:cubicBezTo>
                  <a:pt x="100" y="892"/>
                  <a:pt x="200" y="856"/>
                  <a:pt x="288" y="736"/>
                </a:cubicBezTo>
                <a:cubicBezTo>
                  <a:pt x="376" y="616"/>
                  <a:pt x="424" y="328"/>
                  <a:pt x="528" y="208"/>
                </a:cubicBezTo>
                <a:cubicBezTo>
                  <a:pt x="632" y="88"/>
                  <a:pt x="784" y="0"/>
                  <a:pt x="912" y="16"/>
                </a:cubicBezTo>
                <a:cubicBezTo>
                  <a:pt x="1040" y="32"/>
                  <a:pt x="1168" y="168"/>
                  <a:pt x="1296" y="304"/>
                </a:cubicBezTo>
              </a:path>
            </a:pathLst>
          </a:custGeom>
          <a:noFill/>
          <a:ln w="9525">
            <a:solidFill>
              <a:schemeClr val="tx1"/>
            </a:solidFill>
            <a:beve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98" name="Text Box 33"/>
          <p:cNvSpPr txBox="1">
            <a:spLocks noChangeArrowheads="1"/>
          </p:cNvSpPr>
          <p:nvPr/>
        </p:nvSpPr>
        <p:spPr bwMode="auto">
          <a:xfrm>
            <a:off x="6621463" y="4953000"/>
            <a:ext cx="319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11299" name="Text Box 34"/>
          <p:cNvSpPr txBox="1">
            <a:spLocks noChangeArrowheads="1"/>
          </p:cNvSpPr>
          <p:nvPr/>
        </p:nvSpPr>
        <p:spPr bwMode="auto">
          <a:xfrm>
            <a:off x="5334000" y="3962400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11300" name="Text Box 35"/>
          <p:cNvSpPr txBox="1">
            <a:spLocks noChangeArrowheads="1"/>
          </p:cNvSpPr>
          <p:nvPr/>
        </p:nvSpPr>
        <p:spPr bwMode="auto">
          <a:xfrm>
            <a:off x="6384767" y="5600383"/>
            <a:ext cx="7924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图形</a:t>
            </a:r>
          </a:p>
        </p:txBody>
      </p:sp>
      <p:sp>
        <p:nvSpPr>
          <p:cNvPr id="11301" name="Text Box 36"/>
          <p:cNvSpPr txBox="1">
            <a:spLocks noChangeArrowheads="1"/>
          </p:cNvSpPr>
          <p:nvPr/>
        </p:nvSpPr>
        <p:spPr bwMode="auto">
          <a:xfrm>
            <a:off x="3809683" y="5636578"/>
            <a:ext cx="10972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二</a:t>
            </a:r>
            <a:r>
              <a:rPr lang="zh-CN" altLang="en-US" sz="2400">
                <a:latin typeface="Times New Roman" panose="02020603050405020304" pitchFamily="18" charset="0"/>
              </a:rPr>
              <a:t>分</a:t>
            </a:r>
            <a:r>
              <a:rPr lang="en-US" altLang="zh-CN" sz="2400">
                <a:latin typeface="Times New Roman" panose="02020603050405020304" pitchFamily="18" charset="0"/>
              </a:rPr>
              <a:t>图</a:t>
            </a:r>
          </a:p>
        </p:txBody>
      </p:sp>
      <p:sp>
        <p:nvSpPr>
          <p:cNvPr id="11302" name="Text Box 37"/>
          <p:cNvSpPr txBox="1">
            <a:spLocks noChangeArrowheads="1"/>
          </p:cNvSpPr>
          <p:nvPr/>
        </p:nvSpPr>
        <p:spPr bwMode="auto">
          <a:xfrm>
            <a:off x="682625" y="5600700"/>
            <a:ext cx="2670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如维恩图</a:t>
            </a:r>
          </a:p>
        </p:txBody>
      </p:sp>
      <p:sp>
        <p:nvSpPr>
          <p:cNvPr id="11303" name="Text Box 38"/>
          <p:cNvSpPr txBox="1">
            <a:spLocks noChangeArrowheads="1"/>
          </p:cNvSpPr>
          <p:nvPr/>
        </p:nvSpPr>
        <p:spPr bwMode="auto">
          <a:xfrm>
            <a:off x="3581400" y="3048000"/>
            <a:ext cx="36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1304" name="Text Box 39"/>
          <p:cNvSpPr txBox="1">
            <a:spLocks noChangeArrowheads="1"/>
          </p:cNvSpPr>
          <p:nvPr/>
        </p:nvSpPr>
        <p:spPr bwMode="auto">
          <a:xfrm>
            <a:off x="4659313" y="3048000"/>
            <a:ext cx="369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6371D376-FB82-4125-94FA-B493182A29F8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我们目前</a:t>
            </a:r>
            <a:r>
              <a:rPr lang="zh-CN" altLang="en-US">
                <a:ea typeface="宋体" panose="02010600030101010101" pitchFamily="2" charset="-122"/>
              </a:rPr>
              <a:t>知道</a:t>
            </a:r>
            <a:r>
              <a:rPr lang="en-US" altLang="zh-CN">
                <a:ea typeface="宋体" panose="02010600030101010101" pitchFamily="2" charset="-122"/>
              </a:rPr>
              <a:t>的</a:t>
            </a:r>
            <a:r>
              <a:rPr lang="zh-CN" altLang="en-US">
                <a:ea typeface="宋体" panose="02010600030101010101" pitchFamily="2" charset="-122"/>
              </a:rPr>
              <a:t>函数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676400"/>
            <a:ext cx="7772400" cy="4191000"/>
          </a:xfrm>
        </p:spPr>
        <p:txBody>
          <a:bodyPr/>
          <a:lstStyle/>
          <a:p>
            <a:r>
              <a:rPr lang="en-US" altLang="zh-CN" sz="2800" i="1" dirty="0">
                <a:ea typeface="宋体" panose="02010600030101010101" pitchFamily="2" charset="-122"/>
              </a:rPr>
              <a:t>命题 </a:t>
            </a:r>
            <a:r>
              <a:rPr lang="en-US" altLang="zh-CN" sz="2800" dirty="0">
                <a:ea typeface="宋体" panose="02010600030101010101" pitchFamily="2" charset="-122"/>
              </a:rPr>
              <a:t>可被视为从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"</a:t>
            </a:r>
            <a:r>
              <a:rPr lang="en-US" altLang="zh-CN" sz="2800" dirty="0">
                <a:ea typeface="宋体" panose="02010600030101010101" pitchFamily="2" charset="-122"/>
              </a:rPr>
              <a:t>情况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"</a:t>
            </a:r>
            <a:r>
              <a:rPr lang="en-US" altLang="zh-CN" sz="2800" dirty="0">
                <a:ea typeface="宋体" panose="02010600030101010101" pitchFamily="2" charset="-122"/>
              </a:rPr>
              <a:t>到真值 </a:t>
            </a:r>
            <a:r>
              <a:rPr lang="en-US" altLang="zh-CN" sz="2800" b="1" dirty="0">
                <a:ea typeface="宋体" panose="02010600030101010101" pitchFamily="2" charset="-122"/>
              </a:rPr>
              <a:t>{T</a:t>
            </a:r>
            <a:r>
              <a:rPr lang="en-US" altLang="zh-CN" sz="2800" dirty="0">
                <a:ea typeface="宋体" panose="02010600030101010101" pitchFamily="2" charset="-122"/>
              </a:rPr>
              <a:t>,F} 的函数</a:t>
            </a:r>
          </a:p>
          <a:p>
            <a:pPr lvl="1"/>
            <a:r>
              <a:rPr lang="en-US" altLang="zh-CN" i="1" dirty="0">
                <a:ea typeface="宋体" panose="02010600030101010101" pitchFamily="2" charset="-122"/>
              </a:rPr>
              <a:t>p</a:t>
            </a:r>
            <a:r>
              <a:rPr lang="en-US" altLang="zh-CN" dirty="0">
                <a:ea typeface="宋体" panose="02010600030101010101" pitchFamily="2" charset="-122"/>
              </a:rPr>
              <a:t>=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dirty="0">
                <a:ea typeface="宋体" panose="02010600030101010101" pitchFamily="2" charset="-122"/>
              </a:rPr>
              <a:t>下雨了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dirty="0">
                <a:ea typeface="宋体" panose="02010600030101010101" pitchFamily="2" charset="-122"/>
              </a:rPr>
              <a:t>。</a:t>
            </a:r>
          </a:p>
          <a:p>
            <a:pPr lvl="1"/>
            <a:r>
              <a:rPr lang="en-US" altLang="zh-CN" i="1" dirty="0">
                <a:ea typeface="宋体" panose="02010600030101010101" pitchFamily="2" charset="-122"/>
              </a:rPr>
              <a:t>s= 我们</a:t>
            </a:r>
            <a:r>
              <a:rPr lang="en-US" altLang="zh-CN" dirty="0" err="1">
                <a:ea typeface="宋体" panose="02010600030101010101" pitchFamily="2" charset="-122"/>
              </a:rPr>
              <a:t>现在的</a:t>
            </a:r>
            <a:r>
              <a:rPr lang="en-US" altLang="zh-CN" dirty="0">
                <a:ea typeface="宋体" panose="02010600030101010101" pitchFamily="2" charset="-122"/>
              </a:rPr>
              <a:t>情况</a:t>
            </a:r>
          </a:p>
          <a:p>
            <a:pPr lvl="1"/>
            <a:r>
              <a:rPr lang="en-US" altLang="zh-CN" i="1" dirty="0">
                <a:ea typeface="宋体" panose="02010600030101010101" pitchFamily="2" charset="-122"/>
              </a:rPr>
              <a:t>p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i="1" dirty="0">
                <a:ea typeface="宋体" panose="02010600030101010101" pitchFamily="2" charset="-122"/>
              </a:rPr>
              <a:t>s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{T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F}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  <a:p>
            <a:r>
              <a:rPr lang="en-US" altLang="zh-CN" i="1" dirty="0">
                <a:ea typeface="宋体" panose="02010600030101010101" pitchFamily="2" charset="-122"/>
              </a:rPr>
              <a:t>命题运算符</a:t>
            </a:r>
            <a:r>
              <a:rPr lang="en-US" altLang="zh-CN" dirty="0">
                <a:ea typeface="宋体" panose="02010600030101010101" pitchFamily="2" charset="-122"/>
              </a:rPr>
              <a:t>可视为从</a:t>
            </a:r>
            <a:r>
              <a:rPr lang="en-US" altLang="zh-CN" i="1" dirty="0">
                <a:ea typeface="宋体" panose="02010600030101010101" pitchFamily="2" charset="-122"/>
              </a:rPr>
              <a:t>有序</a:t>
            </a:r>
            <a:r>
              <a:rPr lang="en-US" altLang="zh-CN" dirty="0">
                <a:ea typeface="宋体" panose="02010600030101010101" pitchFamily="2" charset="-122"/>
              </a:rPr>
              <a:t>真值</a:t>
            </a:r>
            <a:r>
              <a:rPr lang="en-US" altLang="zh-CN" i="1" dirty="0">
                <a:ea typeface="宋体" panose="02010600030101010101" pitchFamily="2" charset="-122"/>
              </a:rPr>
              <a:t>对</a:t>
            </a:r>
            <a:r>
              <a:rPr lang="en-US" altLang="zh-CN" dirty="0">
                <a:ea typeface="宋体" panose="02010600030101010101" pitchFamily="2" charset="-122"/>
              </a:rPr>
              <a:t>到真值的函数：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例如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，((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)) =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endParaRPr lang="en-US" altLang="zh-CN" dirty="0">
              <a:solidFill>
                <a:srgbClr val="030711"/>
              </a:solidFill>
              <a:ea typeface="宋体" panose="02010600030101010101" pitchFamily="2" charset="-122"/>
            </a:endParaRPr>
          </a:p>
        </p:txBody>
      </p:sp>
      <p:sp>
        <p:nvSpPr>
          <p:cNvPr id="13317" name="Text Box 4"/>
          <p:cNvSpPr txBox="1">
            <a:spLocks noChangeArrowheads="1"/>
          </p:cNvSpPr>
          <p:nvPr/>
        </p:nvSpPr>
        <p:spPr bwMode="auto">
          <a:xfrm>
            <a:off x="4065588" y="5943600"/>
            <a:ext cx="4240212" cy="485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另一个例子： →((</a:t>
            </a:r>
            <a:r>
              <a:rPr lang="en-US" altLang="zh-CN" sz="2400" b="1">
                <a:latin typeface="Times New Roman" panose="02020603050405020304" pitchFamily="18" charset="0"/>
              </a:rPr>
              <a:t>T</a:t>
            </a:r>
            <a:r>
              <a:rPr lang="en-US" altLang="zh-CN" sz="2400">
                <a:latin typeface="Times New Roman" panose="02020603050405020304" pitchFamily="18" charset="0"/>
              </a:rPr>
              <a:t>,</a:t>
            </a:r>
            <a:r>
              <a:rPr lang="en-US" altLang="zh-CN" sz="2400" b="1">
                <a:latin typeface="Times New Roman" panose="02020603050405020304" pitchFamily="18" charset="0"/>
              </a:rPr>
              <a:t>F</a:t>
            </a:r>
            <a:r>
              <a:rPr lang="en-US" altLang="zh-CN" sz="2400">
                <a:latin typeface="Times New Roman" panose="02020603050405020304" pitchFamily="18" charset="0"/>
              </a:rPr>
              <a:t>)) = </a:t>
            </a:r>
            <a:r>
              <a:rPr lang="en-US" altLang="zh-CN" sz="2400" b="1">
                <a:latin typeface="Times New Roman" panose="02020603050405020304" pitchFamily="18" charset="0"/>
              </a:rPr>
              <a:t>F</a:t>
            </a:r>
            <a:r>
              <a:rPr lang="en-US" altLang="zh-CN" sz="2400">
                <a:latin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F2A8C3A0-FC91-40E5-91DF-BF03E9674C36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到目前为止的更多</a:t>
            </a:r>
            <a:r>
              <a:rPr lang="zh-CN" altLang="en-US">
                <a:ea typeface="宋体" panose="02010600030101010101" pitchFamily="2" charset="-122"/>
              </a:rPr>
              <a:t>函数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...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i="1" dirty="0">
                <a:ea typeface="宋体" panose="02010600030101010101" pitchFamily="2" charset="-122"/>
              </a:rPr>
              <a:t>谓词 </a:t>
            </a:r>
            <a:r>
              <a:rPr lang="en-US" altLang="zh-CN" dirty="0">
                <a:ea typeface="宋体" panose="02010600030101010101" pitchFamily="2" charset="-122"/>
              </a:rPr>
              <a:t>可以看作是从</a:t>
            </a:r>
            <a:r>
              <a:rPr lang="en-US" altLang="zh-CN" i="1" dirty="0">
                <a:ea typeface="宋体" panose="02010600030101010101" pitchFamily="2" charset="-122"/>
              </a:rPr>
              <a:t>对象</a:t>
            </a:r>
            <a:r>
              <a:rPr lang="en-US" altLang="zh-CN" dirty="0">
                <a:ea typeface="宋体" panose="02010600030101010101" pitchFamily="2" charset="-122"/>
              </a:rPr>
              <a:t>到</a:t>
            </a:r>
            <a:r>
              <a:rPr lang="en-US" altLang="zh-CN" i="1" dirty="0">
                <a:ea typeface="宋体" panose="02010600030101010101" pitchFamily="2" charset="-122"/>
              </a:rPr>
              <a:t>命题</a:t>
            </a:r>
            <a:r>
              <a:rPr lang="en-US" altLang="zh-CN" dirty="0">
                <a:ea typeface="宋体" panose="02010600030101010101" pitchFamily="2" charset="-122"/>
              </a:rPr>
              <a:t>的函数： 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P 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:≡ </a:t>
            </a:r>
            <a:r>
              <a:rPr lang="en-US" altLang="zh-CN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"身高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 7 英尺"； </a:t>
            </a:r>
            <a:b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</a:b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P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</a:rPr>
              <a:t>Xiaokun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) = </a:t>
            </a:r>
            <a:r>
              <a:rPr lang="en-US" altLang="zh-CN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dirty="0" err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小坤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身高 7 英尺</a:t>
            </a:r>
            <a:r>
              <a:rPr lang="en-US" altLang="zh-CN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。</a:t>
            </a:r>
          </a:p>
          <a:p>
            <a:endParaRPr lang="en-US" altLang="zh-CN" dirty="0">
              <a:solidFill>
                <a:srgbClr val="030711"/>
              </a:solidFill>
              <a:ea typeface="宋体" panose="02010600030101010101" pitchFamily="2" charset="-122"/>
            </a:endParaRPr>
          </a:p>
          <a:p>
            <a:r>
              <a:rPr lang="zh-CN" altLang="en-US" dirty="0">
                <a:ea typeface="宋体" panose="02010600030101010101" pitchFamily="2" charset="-122"/>
              </a:rPr>
              <a:t>全集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ea typeface="宋体" panose="02010600030101010101" pitchFamily="2" charset="-122"/>
              </a:rPr>
              <a:t>U </a:t>
            </a:r>
            <a:r>
              <a:rPr lang="en-US" altLang="zh-CN" dirty="0">
                <a:ea typeface="宋体" panose="02010600030101010101" pitchFamily="2" charset="-122"/>
              </a:rPr>
              <a:t>上的</a:t>
            </a:r>
            <a:r>
              <a:rPr lang="en-US" altLang="zh-CN" i="1" dirty="0">
                <a:ea typeface="宋体" panose="02010600030101010101" pitchFamily="2" charset="-122"/>
              </a:rPr>
              <a:t>集合 S </a:t>
            </a:r>
            <a:r>
              <a:rPr lang="en-US" altLang="zh-CN" dirty="0">
                <a:ea typeface="宋体" panose="02010600030101010101" pitchFamily="2" charset="-122"/>
              </a:rPr>
              <a:t>可以看作是从 </a:t>
            </a:r>
            <a:r>
              <a:rPr lang="en-US" altLang="zh-CN" i="1" dirty="0">
                <a:ea typeface="宋体" panose="02010600030101010101" pitchFamily="2" charset="-122"/>
              </a:rPr>
              <a:t>U </a:t>
            </a:r>
            <a:r>
              <a:rPr lang="en-US" altLang="zh-CN" dirty="0" err="1">
                <a:ea typeface="宋体" panose="02010600030101010101" pitchFamily="2" charset="-122"/>
              </a:rPr>
              <a:t>的元素到</a:t>
            </a:r>
            <a:r>
              <a:rPr lang="en-US" altLang="zh-CN" dirty="0">
                <a:ea typeface="宋体" panose="02010600030101010101" pitchFamily="2" charset="-122"/>
              </a:rPr>
              <a:t> …</a:t>
            </a:r>
            <a:r>
              <a:rPr lang="en-US" altLang="zh-CN" dirty="0" err="1">
                <a:ea typeface="宋体" panose="02010600030101010101" pitchFamily="2" charset="-122"/>
              </a:rPr>
              <a:t>的函数</a:t>
            </a:r>
            <a:r>
              <a:rPr lang="en-US" altLang="zh-CN" dirty="0"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1B8A939-8DC8-4999-9A00-8BD6E5CB4F81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更多</a:t>
            </a:r>
            <a:r>
              <a:rPr lang="zh-CN" altLang="en-US">
                <a:ea typeface="宋体" panose="02010600030101010101" pitchFamily="2" charset="-122"/>
              </a:rPr>
              <a:t>函数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752600"/>
            <a:ext cx="7772400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>
                <a:ea typeface="宋体" panose="02010600030101010101" pitchFamily="2" charset="-122"/>
              </a:rPr>
              <a:t>全集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ea typeface="宋体" panose="02010600030101010101" pitchFamily="2" charset="-122"/>
              </a:rPr>
              <a:t>U </a:t>
            </a:r>
            <a:r>
              <a:rPr lang="en-US" altLang="zh-CN" dirty="0" err="1">
                <a:ea typeface="宋体" panose="02010600030101010101" pitchFamily="2" charset="-122"/>
              </a:rPr>
              <a:t>上的</a:t>
            </a:r>
            <a:r>
              <a:rPr lang="en-US" altLang="zh-CN" i="1" dirty="0" err="1">
                <a:ea typeface="宋体" panose="02010600030101010101" pitchFamily="2" charset="-122"/>
              </a:rPr>
              <a:t>集合</a:t>
            </a:r>
            <a:r>
              <a:rPr lang="en-US" altLang="zh-CN" i="1" dirty="0">
                <a:ea typeface="宋体" panose="02010600030101010101" pitchFamily="2" charset="-122"/>
              </a:rPr>
              <a:t> S </a:t>
            </a:r>
            <a:r>
              <a:rPr lang="en-US" altLang="zh-CN" dirty="0" err="1">
                <a:ea typeface="宋体" panose="02010600030101010101" pitchFamily="2" charset="-122"/>
              </a:rPr>
              <a:t>可以看作是从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ea typeface="宋体" panose="02010600030101010101" pitchFamily="2" charset="-122"/>
              </a:rPr>
              <a:t>U </a:t>
            </a:r>
            <a:r>
              <a:rPr lang="en-US" altLang="zh-CN" dirty="0" err="1">
                <a:ea typeface="宋体" panose="02010600030101010101" pitchFamily="2" charset="-122"/>
              </a:rPr>
              <a:t>的元素到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...</a:t>
            </a:r>
            <a:r>
              <a:rPr lang="en-US" altLang="zh-CN" dirty="0" err="1">
                <a:ea typeface="宋体" panose="02010600030101010101" pitchFamily="2" charset="-122"/>
              </a:rPr>
              <a:t>的函数</a:t>
            </a:r>
            <a:r>
              <a:rPr lang="en-US" altLang="zh-CN" dirty="0">
                <a:ea typeface="宋体" panose="02010600030101010101" pitchFamily="2" charset="-122"/>
              </a:rPr>
              <a:t>。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en-US" dirty="0">
                <a:ea typeface="宋体" panose="02010600030101010101" pitchFamily="2" charset="-122"/>
              </a:rPr>
              <a:t>    ...</a:t>
            </a:r>
            <a:r>
              <a:rPr lang="en-US" altLang="zh-CN" dirty="0">
                <a:ea typeface="宋体" panose="02010600030101010101" pitchFamily="2" charset="-122"/>
              </a:rPr>
              <a:t>{</a:t>
            </a:r>
            <a:r>
              <a:rPr lang="en-US" altLang="zh-CN" b="1" dirty="0">
                <a:ea typeface="宋体" panose="02010600030101010101" pitchFamily="2" charset="-122"/>
              </a:rPr>
              <a:t>T</a:t>
            </a:r>
            <a:r>
              <a:rPr lang="en-US" altLang="zh-CN" dirty="0"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ea typeface="宋体" panose="02010600030101010101" pitchFamily="2" charset="-122"/>
              </a:rPr>
              <a:t>F}</a:t>
            </a:r>
            <a:r>
              <a:rPr lang="en-US" altLang="zh-CN" dirty="0">
                <a:ea typeface="宋体" panose="02010600030101010101" pitchFamily="2" charset="-122"/>
              </a:rPr>
              <a:t>，</a:t>
            </a:r>
            <a:r>
              <a:rPr lang="en-US" altLang="zh-CN" dirty="0" err="1">
                <a:ea typeface="宋体" panose="02010600030101010101" pitchFamily="2" charset="-122"/>
              </a:rPr>
              <a:t>指出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ea typeface="宋体" panose="02010600030101010101" pitchFamily="2" charset="-122"/>
              </a:rPr>
              <a:t>U </a:t>
            </a:r>
            <a:r>
              <a:rPr lang="en-US" altLang="zh-CN" dirty="0" err="1">
                <a:ea typeface="宋体" panose="02010600030101010101" pitchFamily="2" charset="-122"/>
              </a:rPr>
              <a:t>的每个元素是否在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ea typeface="宋体" panose="02010600030101010101" pitchFamily="2" charset="-122"/>
              </a:rPr>
              <a:t>S </a:t>
            </a:r>
            <a:r>
              <a:rPr lang="en-US" altLang="zh-CN" i="1" dirty="0" err="1">
                <a:ea typeface="宋体" panose="02010600030101010101" pitchFamily="2" charset="-122"/>
              </a:rPr>
              <a:t>中</a:t>
            </a:r>
            <a:r>
              <a:rPr lang="en-US" altLang="zh-CN" dirty="0">
                <a:ea typeface="宋体" panose="02010600030101010101" pitchFamily="2" charset="-122"/>
              </a:rPr>
              <a:t>。 </a:t>
            </a:r>
            <a:br>
              <a:rPr lang="en-US" altLang="zh-CN" dirty="0">
                <a:ea typeface="宋体" panose="02010600030101010101" pitchFamily="2" charset="-122"/>
              </a:rPr>
            </a:br>
            <a:endParaRPr lang="en-US" altLang="zh-CN" dirty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   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</a:rPr>
              <a:t>假设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 U={0,1,2,3,4}。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</a:rPr>
              <a:t>那么</a:t>
            </a:r>
            <a:endParaRPr lang="en-US" altLang="zh-CN" dirty="0">
              <a:solidFill>
                <a:srgbClr val="030711"/>
              </a:solidFill>
              <a:ea typeface="宋体" panose="02010600030101010101" pitchFamily="2" charset="-12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   S={1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,3}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   </a:t>
            </a:r>
            <a:b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</a:b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  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S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(0)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=S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(2)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=S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(4)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</a:rPr>
              <a:t>=F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, S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1)=S(3)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</a:rPr>
              <a:t>=T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406DED7B-2448-4DD3-80E9-4D2165989A5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更多</a:t>
            </a:r>
            <a:r>
              <a:rPr lang="zh-CN" altLang="en-US">
                <a:ea typeface="宋体" panose="02010600030101010101" pitchFamily="2" charset="-122"/>
              </a:rPr>
              <a:t>函数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981200"/>
            <a:ext cx="7772400" cy="4495800"/>
          </a:xfrm>
        </p:spPr>
        <p:txBody>
          <a:bodyPr/>
          <a:lstStyle/>
          <a:p>
            <a:r>
              <a:rPr lang="en-US" altLang="zh-CN" i="1" dirty="0">
                <a:ea typeface="宋体" panose="02010600030101010101" pitchFamily="2" charset="-122"/>
              </a:rPr>
              <a:t>集合运算符</a:t>
            </a:r>
            <a:r>
              <a:rPr lang="en-US" altLang="zh-CN" dirty="0">
                <a:ea typeface="宋体" panose="02010600030101010101" pitchFamily="2" charset="-122"/>
              </a:rPr>
              <a:t>（如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 或 ）可视为函数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...</a:t>
            </a:r>
            <a:b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</a:br>
            <a:b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...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从有序的集合对、 </a:t>
            </a:r>
            <a:b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到集合的函数。 </a:t>
            </a:r>
          </a:p>
          <a:p>
            <a:pPr lvl="1"/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示例： ({1,3},{3,4}) = {3}</a:t>
            </a:r>
            <a:endParaRPr lang="en-US" altLang="zh-CN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18A23171-3249-4BBF-A967-29B2F9EB41A1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880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>
                <a:ea typeface="宋体" panose="02010600030101010101" pitchFamily="2" charset="-122"/>
              </a:rPr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068" name="Rectangle 3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228600" y="1471613"/>
                <a:ext cx="8610600" cy="4725987"/>
              </a:xfrm>
            </p:spPr>
            <p:txBody>
              <a:bodyPr/>
              <a:lstStyle/>
              <a:p>
                <a:r>
                  <a:rPr lang="en-US" altLang="zh-CN" sz="2800" dirty="0">
                    <a:ea typeface="宋体" panose="02010600030101010101" pitchFamily="2" charset="-122"/>
                  </a:rPr>
                  <a:t>1.  </a:t>
                </a:r>
                <a:r>
                  <a:rPr lang="en-US" altLang="zh-CN" dirty="0">
                    <a:ea typeface="宋体" panose="02010600030101010101" pitchFamily="2" charset="-122"/>
                  </a:rPr>
                  <a:t>设 A = {a, b, c, d, e} 和 B = {a, b, c, d, e, f, g, h}。B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lang="en-US" altLang="zh-CN" dirty="0">
                    <a:ea typeface="宋体" panose="02010600030101010101" pitchFamily="2" charset="-122"/>
                  </a:rPr>
                  <a:t> A=______</a:t>
                </a:r>
              </a:p>
              <a:p>
                <a:endParaRPr lang="en-US" altLang="zh-CN" dirty="0">
                  <a:ea typeface="宋体" panose="02010600030101010101" pitchFamily="2" charset="-122"/>
                </a:endParaRPr>
              </a:p>
              <a:p>
                <a:endParaRPr lang="en-US" altLang="zh-CN" dirty="0">
                  <a:ea typeface="宋体" panose="02010600030101010101" pitchFamily="2" charset="-122"/>
                </a:endParaRPr>
              </a:p>
              <a:p>
                <a:pPr algn="just"/>
                <a:endParaRPr lang="en-US" altLang="zh-CN" sz="2000" b="1" dirty="0"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8806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228600" y="1471613"/>
                <a:ext cx="8610600" cy="4725987"/>
              </a:xfrm>
              <a:blipFill>
                <a:blip r:embed="rId2"/>
                <a:stretch>
                  <a:fillRect l="-1327" t="-2139" r="-20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34DF48B-C0C0-49FE-98AB-8664D283504E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altLang="en-US">
                <a:ea typeface="宋体" panose="02010600030101010101" pitchFamily="2" charset="-122"/>
              </a:rPr>
              <a:t>新的</a:t>
            </a:r>
            <a:r>
              <a:rPr lang="zh-CN" altLang="en-GB">
                <a:ea typeface="宋体" panose="02010600030101010101" pitchFamily="2" charset="-122"/>
              </a:rPr>
              <a:t>概念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600200"/>
            <a:ext cx="7772400" cy="4179888"/>
          </a:xfrm>
        </p:spPr>
        <p:txBody>
          <a:bodyPr/>
          <a:lstStyle/>
          <a:p>
            <a:r>
              <a:rPr lang="en-US" altLang="zh-CN" dirty="0" err="1">
                <a:ea typeface="宋体" panose="02010600030101010101" pitchFamily="2" charset="-122"/>
              </a:rPr>
              <a:t>有时，我们用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ea typeface="宋体" panose="02010600030101010101" pitchFamily="2" charset="-122"/>
              </a:rPr>
              <a:t>Y</a:t>
            </a:r>
            <a:r>
              <a:rPr lang="en-US" altLang="zh-CN" i="1" baseline="30000" dirty="0">
                <a:ea typeface="宋体" panose="02010600030101010101" pitchFamily="2" charset="-122"/>
              </a:rPr>
              <a:t>X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ea typeface="宋体" panose="02010600030101010101" pitchFamily="2" charset="-122"/>
              </a:rPr>
              <a:t>来表示</a:t>
            </a:r>
            <a:r>
              <a:rPr lang="en-US" altLang="zh-CN" i="1" dirty="0" err="1">
                <a:ea typeface="宋体" panose="02010600030101010101" pitchFamily="2" charset="-122"/>
              </a:rPr>
              <a:t>所有</a:t>
            </a:r>
            <a:r>
              <a:rPr lang="en-US" altLang="zh-CN" dirty="0" err="1">
                <a:ea typeface="宋体" panose="02010600030101010101" pitchFamily="2" charset="-122"/>
              </a:rPr>
              <a:t>可能函数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ea typeface="宋体" panose="02010600030101010101" pitchFamily="2" charset="-122"/>
              </a:rPr>
              <a:t>f </a:t>
            </a:r>
            <a:r>
              <a:rPr lang="en-US" altLang="zh-CN" dirty="0" err="1">
                <a:ea typeface="宋体" panose="02010600030101010101" pitchFamily="2" charset="-122"/>
              </a:rPr>
              <a:t>的集合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06600"/>
                </a:solidFill>
                <a:ea typeface="宋体" panose="02010600030101010101" pitchFamily="2" charset="-122"/>
              </a:rPr>
              <a:t>F</a:t>
            </a:r>
            <a:r>
              <a:rPr lang="en-US" altLang="zh-CN" dirty="0">
                <a:ea typeface="宋体" panose="02010600030101010101" pitchFamily="2" charset="-122"/>
              </a:rPr>
              <a:t>：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ea typeface="宋体" panose="02010600030101010101" pitchFamily="2" charset="-122"/>
              </a:rPr>
              <a:t>Y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r>
              <a:rPr lang="en-GB" altLang="en-US" dirty="0" err="1">
                <a:ea typeface="宋体" panose="02010600030101010101" pitchFamily="2" charset="-122"/>
                <a:sym typeface="Symbol" panose="05050102010706020507" pitchFamily="18" charset="2"/>
              </a:rPr>
              <a:t>因此，</a:t>
            </a:r>
            <a:r>
              <a:rPr lang="en-GB" altLang="en-US" b="1" i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GB" altLang="en-US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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Y</a:t>
            </a:r>
            <a:r>
              <a:rPr lang="en-US" altLang="zh-CN" i="1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ea typeface="宋体" panose="02010600030101010101" pitchFamily="2" charset="-122"/>
              </a:rPr>
              <a:t>的另一种说法是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i="1" dirty="0">
                <a:ea typeface="宋体" panose="02010600030101010101" pitchFamily="2" charset="-122"/>
              </a:rPr>
              <a:t>f</a:t>
            </a:r>
            <a:r>
              <a:rPr lang="en-US" altLang="zh-CN" dirty="0">
                <a:ea typeface="宋体" panose="02010600030101010101" pitchFamily="2" charset="-122"/>
              </a:rPr>
              <a:t>: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XY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b="1" i="1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这个符号特别合适，因为对于有限的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、</a:t>
            </a:r>
            <a:r>
              <a:rPr lang="en-US" altLang="zh-CN" i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Y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，我们有</a:t>
            </a:r>
            <a:r>
              <a:rPr lang="en-US" altLang="zh-CN" i="1" dirty="0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|F|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|Y|</a:t>
            </a:r>
            <a:r>
              <a:rPr lang="en-US" altLang="zh-CN" baseline="30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|</a:t>
            </a:r>
            <a:r>
              <a:rPr lang="en-US" altLang="zh-CN" i="1" baseline="30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aseline="30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|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。)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8459D845-AB0A-4002-935A-C52DE04A31E9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一些</a:t>
            </a:r>
            <a:r>
              <a:rPr lang="zh-CN" altLang="en-US">
                <a:ea typeface="宋体" panose="02010600030101010101" pitchFamily="2" charset="-122"/>
              </a:rPr>
              <a:t>函数</a:t>
            </a:r>
            <a:r>
              <a:rPr lang="en-US" altLang="zh-CN">
                <a:ea typeface="宋体" panose="02010600030101010101" pitchFamily="2" charset="-122"/>
              </a:rPr>
              <a:t>术语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如果 </a:t>
            </a:r>
            <a:r>
              <a:rPr lang="en-US" altLang="zh-CN" i="1">
                <a:ea typeface="宋体" panose="02010600030101010101" pitchFamily="2" charset="-122"/>
              </a:rPr>
              <a:t>f</a:t>
            </a:r>
            <a:r>
              <a:rPr lang="en-US" altLang="zh-CN">
                <a:ea typeface="宋体" panose="02010600030101010101" pitchFamily="2" charset="-122"/>
              </a:rPr>
              <a:t>:</a:t>
            </a:r>
            <a:r>
              <a:rPr lang="en-US" altLang="zh-CN" i="1">
                <a:ea typeface="宋体" panose="02010600030101010101" pitchFamily="2" charset="-122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i="1">
                <a:ea typeface="宋体" panose="02010600030101010101" pitchFamily="2" charset="-122"/>
              </a:rPr>
              <a:t>B</a:t>
            </a:r>
            <a:r>
              <a:rPr lang="en-US" altLang="zh-CN">
                <a:ea typeface="宋体" panose="02010600030101010101" pitchFamily="2" charset="-122"/>
              </a:rPr>
              <a:t>，并且 </a:t>
            </a:r>
            <a:r>
              <a:rPr lang="en-US" altLang="zh-CN" i="1">
                <a:ea typeface="宋体" panose="02010600030101010101" pitchFamily="2" charset="-122"/>
              </a:rPr>
              <a:t>f</a:t>
            </a:r>
            <a:r>
              <a:rPr lang="en-US" altLang="zh-CN">
                <a:ea typeface="宋体" panose="02010600030101010101" pitchFamily="2" charset="-122"/>
              </a:rPr>
              <a:t>(</a:t>
            </a:r>
            <a:r>
              <a:rPr lang="en-US" altLang="zh-CN" i="1">
                <a:ea typeface="宋体" panose="02010600030101010101" pitchFamily="2" charset="-122"/>
              </a:rPr>
              <a:t>a</a:t>
            </a:r>
            <a:r>
              <a:rPr lang="en-US" altLang="zh-CN">
                <a:ea typeface="宋体" panose="02010600030101010101" pitchFamily="2" charset="-122"/>
              </a:rPr>
              <a:t>)=b （其中 </a:t>
            </a:r>
            <a:r>
              <a:rPr lang="en-US" altLang="zh-CN" i="1">
                <a:ea typeface="宋体" panose="02010600030101010101" pitchFamily="2" charset="-122"/>
              </a:rPr>
              <a:t>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i="1">
                <a:ea typeface="宋体" panose="02010600030101010101" pitchFamily="2" charset="-122"/>
              </a:rPr>
              <a:t>A </a:t>
            </a:r>
            <a:r>
              <a:rPr lang="en-US" altLang="zh-CN">
                <a:ea typeface="宋体" panose="02010600030101010101" pitchFamily="2" charset="-122"/>
              </a:rPr>
              <a:t>&amp; </a:t>
            </a:r>
            <a:r>
              <a:rPr lang="en-US" altLang="zh-CN" i="1">
                <a:ea typeface="宋体" panose="02010600030101010101" pitchFamily="2" charset="-122"/>
              </a:rPr>
              <a:t>b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i="1">
                <a:ea typeface="宋体" panose="02010600030101010101" pitchFamily="2" charset="-122"/>
              </a:rPr>
              <a:t>B</a:t>
            </a:r>
            <a:r>
              <a:rPr lang="en-US" altLang="zh-CN">
                <a:ea typeface="宋体" panose="02010600030101010101" pitchFamily="2" charset="-122"/>
              </a:rPr>
              <a:t>），那么我们就说</a:t>
            </a:r>
          </a:p>
          <a:p>
            <a:pPr lvl="1">
              <a:lnSpc>
                <a:spcPct val="90000"/>
              </a:lnSpc>
            </a:pP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A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是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f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的</a:t>
            </a:r>
            <a:r>
              <a:rPr lang="zh-CN" altLang="en-US" b="1">
                <a:solidFill>
                  <a:srgbClr val="030711"/>
                </a:solidFill>
                <a:ea typeface="宋体" panose="02010600030101010101" pitchFamily="2" charset="-122"/>
              </a:rPr>
              <a:t>定义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域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。  </a:t>
            </a:r>
          </a:p>
          <a:p>
            <a:pPr lvl="1">
              <a:lnSpc>
                <a:spcPct val="90000"/>
              </a:lnSpc>
            </a:pP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B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是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f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的</a:t>
            </a:r>
            <a:r>
              <a:rPr lang="zh-CN" altLang="en-US" b="1">
                <a:solidFill>
                  <a:srgbClr val="030711"/>
                </a:solidFill>
                <a:ea typeface="宋体" panose="02010600030101010101" pitchFamily="2" charset="-122"/>
              </a:rPr>
              <a:t>值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域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。</a:t>
            </a:r>
          </a:p>
          <a:p>
            <a:pPr lvl="1">
              <a:lnSpc>
                <a:spcPct val="90000"/>
              </a:lnSpc>
            </a:pP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b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是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a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在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f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下的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像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。</a:t>
            </a:r>
          </a:p>
          <a:p>
            <a:pPr lvl="1">
              <a:lnSpc>
                <a:spcPct val="90000"/>
              </a:lnSpc>
            </a:pP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a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是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b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在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f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下的</a:t>
            </a:r>
            <a:r>
              <a:rPr lang="zh-CN" altLang="en-US" b="1">
                <a:solidFill>
                  <a:srgbClr val="030711"/>
                </a:solidFill>
                <a:ea typeface="宋体" panose="02010600030101010101" pitchFamily="2" charset="-122"/>
              </a:rPr>
              <a:t>原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像。</a:t>
            </a:r>
          </a:p>
          <a:p>
            <a:pPr lvl="2">
              <a:lnSpc>
                <a:spcPct val="90000"/>
              </a:lnSpc>
            </a:pP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一般来说，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b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可能有不止一个</a:t>
            </a:r>
            <a:r>
              <a:rPr lang="zh-CN" altLang="en-US" b="1">
                <a:solidFill>
                  <a:srgbClr val="030711"/>
                </a:solidFill>
                <a:ea typeface="宋体" panose="02010600030101010101" pitchFamily="2" charset="-122"/>
              </a:rPr>
              <a:t>原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像。</a:t>
            </a:r>
          </a:p>
          <a:p>
            <a:pPr lvl="1">
              <a:lnSpc>
                <a:spcPct val="90000"/>
              </a:lnSpc>
            </a:pP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f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的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范围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RB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是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R={b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 |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a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f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=b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}。</a:t>
            </a:r>
          </a:p>
        </p:txBody>
      </p:sp>
      <p:sp>
        <p:nvSpPr>
          <p:cNvPr id="19461" name="Text Box 4"/>
          <p:cNvSpPr txBox="1">
            <a:spLocks noChangeArrowheads="1"/>
          </p:cNvSpPr>
          <p:nvPr/>
        </p:nvSpPr>
        <p:spPr bwMode="auto">
          <a:xfrm>
            <a:off x="6484938" y="2965450"/>
            <a:ext cx="2011680" cy="1198880"/>
          </a:xfrm>
          <a:prstGeom prst="rect">
            <a:avLst/>
          </a:prstGeom>
          <a:solidFill>
            <a:srgbClr val="FFFFCC"/>
          </a:solidFill>
          <a:ln w="38100">
            <a:solidFill>
              <a:srgbClr val="006600"/>
            </a:solidFill>
            <a:miter lim="800000"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我们还可以说</a:t>
            </a:r>
            <a:br>
              <a:rPr lang="en-US" altLang="zh-CN" sz="2400">
                <a:latin typeface="Times New Roman" panose="02020603050405020304" pitchFamily="18" charset="0"/>
              </a:rPr>
            </a:br>
            <a:r>
              <a:rPr lang="zh-CN" altLang="en-US" sz="2400">
                <a:latin typeface="Times New Roman" panose="02020603050405020304" pitchFamily="18" charset="0"/>
              </a:rPr>
              <a:t>函数</a:t>
            </a:r>
            <a:r>
              <a:rPr lang="en-US" altLang="zh-CN" sz="2400" b="1" i="1">
                <a:solidFill>
                  <a:srgbClr val="030711"/>
                </a:solidFill>
                <a:sym typeface="+mn-ea"/>
              </a:rPr>
              <a:t>f </a:t>
            </a:r>
            <a:r>
              <a:rPr lang="en-US" altLang="zh-CN" sz="2400">
                <a:latin typeface="Times New Roman" panose="02020603050405020304" pitchFamily="18" charset="0"/>
              </a:rPr>
              <a:t>的</a:t>
            </a:r>
            <a:r>
              <a:rPr lang="en-US" altLang="zh-CN" sz="2400" i="1">
                <a:latin typeface="Times New Roman" panose="02020603050405020304" pitchFamily="18" charset="0"/>
              </a:rPr>
              <a:t>签名</a:t>
            </a:r>
            <a:br>
              <a:rPr lang="en-US" altLang="zh-CN" sz="2400">
                <a:latin typeface="Times New Roman" panose="02020603050405020304" pitchFamily="18" charset="0"/>
              </a:rPr>
            </a:br>
            <a:r>
              <a:rPr lang="en-US" altLang="zh-CN" sz="2400">
                <a:latin typeface="Times New Roman" panose="02020603050405020304" pitchFamily="18" charset="0"/>
              </a:rPr>
              <a:t>是 </a:t>
            </a:r>
            <a:r>
              <a:rPr lang="en-US" altLang="zh-CN" sz="2400" i="1">
                <a:latin typeface="Times New Roman" panose="02020603050405020304" pitchFamily="18" charset="0"/>
              </a:rPr>
              <a:t>A→B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F1F9D034-BA6E-459E-8732-2015B7B56E07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取值</a:t>
            </a:r>
            <a:r>
              <a:rPr lang="en-US" altLang="zh-CN">
                <a:ea typeface="宋体" panose="02010600030101010101" pitchFamily="2" charset="-122"/>
              </a:rPr>
              <a:t>范围与</a:t>
            </a:r>
            <a:r>
              <a:rPr lang="zh-CN" altLang="en-US">
                <a:ea typeface="宋体" panose="02010600030101010101" pitchFamily="2" charset="-122"/>
              </a:rPr>
              <a:t>值</a:t>
            </a:r>
            <a:r>
              <a:rPr lang="en-US" altLang="zh-CN">
                <a:ea typeface="宋体" panose="02010600030101010101" pitchFamily="2" charset="-122"/>
              </a:rPr>
              <a:t>域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19225"/>
            <a:ext cx="8153294" cy="48799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dirty="0" err="1">
                <a:solidFill>
                  <a:srgbClr val="030711"/>
                </a:solidFill>
                <a:ea typeface="宋体" panose="02010600030101010101" pitchFamily="2" charset="-122"/>
              </a:rPr>
              <a:t>函数的取值范围可能不是其整个</a:t>
            </a:r>
            <a:r>
              <a:rPr lang="zh-CN" altLang="en-US" sz="2800" dirty="0">
                <a:solidFill>
                  <a:srgbClr val="030711"/>
                </a:solidFill>
                <a:ea typeface="宋体" panose="02010600030101010101" pitchFamily="2" charset="-122"/>
              </a:rPr>
              <a:t>值</a:t>
            </a:r>
            <a:r>
              <a:rPr lang="en-US" altLang="zh-CN" sz="2800" dirty="0" err="1">
                <a:solidFill>
                  <a:srgbClr val="030711"/>
                </a:solidFill>
                <a:ea typeface="宋体" panose="02010600030101010101" pitchFamily="2" charset="-122"/>
              </a:rPr>
              <a:t>域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</a:rPr>
              <a:t>。</a:t>
            </a:r>
          </a:p>
          <a:p>
            <a:pPr>
              <a:lnSpc>
                <a:spcPct val="90000"/>
              </a:lnSpc>
            </a:pPr>
            <a:r>
              <a:rPr lang="zh-CN" altLang="en-US" sz="2800" dirty="0">
                <a:solidFill>
                  <a:srgbClr val="030711"/>
                </a:solidFill>
                <a:ea typeface="宋体" panose="02010600030101010101" pitchFamily="2" charset="-122"/>
              </a:rPr>
              <a:t>值</a:t>
            </a:r>
            <a:r>
              <a:rPr lang="en-US" altLang="zh-CN" sz="2800" dirty="0" err="1">
                <a:solidFill>
                  <a:srgbClr val="030711"/>
                </a:solidFill>
                <a:ea typeface="宋体" panose="02010600030101010101" pitchFamily="2" charset="-122"/>
              </a:rPr>
              <a:t>域是函数被</a:t>
            </a:r>
            <a:r>
              <a:rPr lang="en-US" altLang="zh-CN" sz="2800" i="1" dirty="0" err="1">
                <a:solidFill>
                  <a:srgbClr val="030711"/>
                </a:solidFill>
                <a:ea typeface="宋体" panose="02010600030101010101" pitchFamily="2" charset="-122"/>
              </a:rPr>
              <a:t>声明</a:t>
            </a:r>
            <a:r>
              <a:rPr lang="en-US" altLang="zh-CN" sz="2800" dirty="0" err="1">
                <a:solidFill>
                  <a:srgbClr val="030711"/>
                </a:solidFill>
                <a:ea typeface="宋体" panose="02010600030101010101" pitchFamily="2" charset="-122"/>
              </a:rPr>
              <a:t>为将所有域值映射到其中的集合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</a:rPr>
              <a:t>。</a:t>
            </a:r>
          </a:p>
          <a:p>
            <a:pPr>
              <a:lnSpc>
                <a:spcPct val="90000"/>
              </a:lnSpc>
            </a:pPr>
            <a:r>
              <a:rPr lang="en-US" altLang="zh-CN" sz="2800" dirty="0" err="1">
                <a:solidFill>
                  <a:srgbClr val="030711"/>
                </a:solidFill>
                <a:ea typeface="宋体" panose="02010600030101010101" pitchFamily="2" charset="-122"/>
              </a:rPr>
              <a:t>范围是指函数</a:t>
            </a:r>
            <a:r>
              <a:rPr lang="en-US" altLang="zh-CN" sz="2800" i="1" dirty="0" err="1">
                <a:solidFill>
                  <a:srgbClr val="030711"/>
                </a:solidFill>
                <a:ea typeface="宋体" panose="02010600030101010101" pitchFamily="2" charset="-122"/>
              </a:rPr>
              <a:t>实际</a:t>
            </a:r>
            <a:r>
              <a:rPr lang="en-US" altLang="zh-CN" sz="2800" dirty="0" err="1">
                <a:solidFill>
                  <a:srgbClr val="030711"/>
                </a:solidFill>
                <a:ea typeface="宋体" panose="02010600030101010101" pitchFamily="2" charset="-122"/>
              </a:rPr>
              <a:t>映射域元素时所映射的</a:t>
            </a:r>
            <a:r>
              <a:rPr lang="zh-CN" altLang="en-US" sz="2800" dirty="0">
                <a:solidFill>
                  <a:srgbClr val="030711"/>
                </a:solidFill>
                <a:ea typeface="宋体" panose="02010600030101010101" pitchFamily="2" charset="-122"/>
              </a:rPr>
              <a:t>值</a:t>
            </a:r>
            <a:r>
              <a:rPr lang="en-US" altLang="zh-CN" sz="2800" dirty="0" err="1">
                <a:solidFill>
                  <a:srgbClr val="030711"/>
                </a:solidFill>
                <a:ea typeface="宋体" panose="02010600030101010101" pitchFamily="2" charset="-122"/>
              </a:rPr>
              <a:t>域中的</a:t>
            </a:r>
            <a:r>
              <a:rPr lang="en-US" altLang="zh-CN" sz="2800" i="1" dirty="0" err="1">
                <a:solidFill>
                  <a:srgbClr val="030711"/>
                </a:solidFill>
                <a:ea typeface="宋体" panose="02010600030101010101" pitchFamily="2" charset="-122"/>
              </a:rPr>
              <a:t>特定</a:t>
            </a:r>
            <a:r>
              <a:rPr lang="en-US" altLang="zh-CN" sz="2800" dirty="0" err="1">
                <a:solidFill>
                  <a:srgbClr val="030711"/>
                </a:solidFill>
                <a:ea typeface="宋体" panose="02010600030101010101" pitchFamily="2" charset="-122"/>
              </a:rPr>
              <a:t>值集合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</a:rPr>
              <a:t>。</a:t>
            </a:r>
          </a:p>
          <a:p>
            <a:pPr>
              <a:lnSpc>
                <a:spcPct val="90000"/>
              </a:lnSpc>
            </a:pPr>
            <a:r>
              <a:rPr lang="en-GB" altLang="en-US" sz="2800" dirty="0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GB" altLang="en-US" sz="2800" dirty="0" err="1">
                <a:solidFill>
                  <a:srgbClr val="030711"/>
                </a:solidFill>
                <a:ea typeface="宋体" panose="02010600030101010101" pitchFamily="2" charset="-122"/>
              </a:rPr>
              <a:t>可以这么说：范围是可用作其</a:t>
            </a:r>
            <a:r>
              <a:rPr lang="zh-CN" altLang="en-GB" sz="2800" dirty="0">
                <a:solidFill>
                  <a:srgbClr val="030711"/>
                </a:solidFill>
                <a:ea typeface="宋体" panose="02010600030101010101" pitchFamily="2" charset="-122"/>
              </a:rPr>
              <a:t>值</a:t>
            </a:r>
            <a:r>
              <a:rPr lang="en-GB" altLang="en-US" sz="2800" dirty="0" err="1">
                <a:solidFill>
                  <a:srgbClr val="030711"/>
                </a:solidFill>
                <a:ea typeface="宋体" panose="02010600030101010101" pitchFamily="2" charset="-122"/>
              </a:rPr>
              <a:t>域的最小集合</a:t>
            </a:r>
            <a:r>
              <a:rPr lang="en-GB" altLang="en-US" sz="2800" dirty="0">
                <a:solidFill>
                  <a:srgbClr val="030711"/>
                </a:solidFill>
                <a:ea typeface="宋体" panose="02010600030101010101" pitchFamily="2" charset="-122"/>
              </a:rPr>
              <a:t>）。</a:t>
            </a:r>
            <a:endParaRPr lang="en-US" altLang="zh-CN" sz="2800" dirty="0">
              <a:solidFill>
                <a:srgbClr val="03071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FF915472-63F2-4229-A1D6-3DAA32E7E2C6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取值</a:t>
            </a:r>
            <a:r>
              <a:rPr lang="en-US" altLang="zh-CN">
                <a:ea typeface="宋体" panose="02010600030101010101" pitchFamily="2" charset="-122"/>
              </a:rPr>
              <a:t>范围与</a:t>
            </a:r>
            <a:r>
              <a:rPr lang="zh-CN" altLang="en-US">
                <a:ea typeface="宋体" panose="02010600030101010101" pitchFamily="2" charset="-122"/>
              </a:rPr>
              <a:t>值</a:t>
            </a:r>
            <a:r>
              <a:rPr lang="en-US" altLang="zh-CN">
                <a:ea typeface="宋体" panose="02010600030101010101" pitchFamily="2" charset="-122"/>
              </a:rPr>
              <a:t>域 - 示例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371600"/>
            <a:ext cx="8229600" cy="48768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假设我对你说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i="1">
                <a:ea typeface="宋体" panose="02010600030101010101" pitchFamily="2" charset="-122"/>
              </a:rPr>
              <a:t>f</a:t>
            </a:r>
            <a:r>
              <a:rPr lang="en-US" altLang="zh-CN">
                <a:ea typeface="宋体" panose="02010600030101010101" pitchFamily="2" charset="-122"/>
              </a:rPr>
              <a:t>是一个将本班学生映射到成绩集合{A,B,C,D,E}的函数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>
                <a:ea typeface="宋体" panose="02010600030101010101" pitchFamily="2" charset="-122"/>
              </a:rPr>
              <a:t>。</a:t>
            </a:r>
          </a:p>
          <a:p>
            <a:r>
              <a:rPr lang="en-US" altLang="zh-CN">
                <a:ea typeface="宋体" panose="02010600030101010101" pitchFamily="2" charset="-122"/>
              </a:rPr>
              <a:t>此时，你知道 </a:t>
            </a:r>
            <a:r>
              <a:rPr lang="en-US" altLang="zh-CN" i="1">
                <a:ea typeface="宋体" panose="02010600030101010101" pitchFamily="2" charset="-122"/>
              </a:rPr>
              <a:t>f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zh-CN" altLang="en-US">
                <a:latin typeface="Times New Roman" panose="02020603050405020304" pitchFamily="18" charset="0"/>
                <a:ea typeface="宋体" panose="02010600030101010101" pitchFamily="2" charset="-122"/>
              </a:rPr>
              <a:t>值</a:t>
            </a:r>
            <a:r>
              <a:rPr lang="en-US" altLang="zh-CN">
                <a:ea typeface="宋体" panose="02010600030101010101" pitchFamily="2" charset="-122"/>
              </a:rPr>
              <a:t>域是： __________，其</a:t>
            </a:r>
            <a:r>
              <a:rPr lang="zh-CN" altLang="en-US">
                <a:ea typeface="宋体" panose="02010600030101010101" pitchFamily="2" charset="-122"/>
              </a:rPr>
              <a:t>取值</a:t>
            </a:r>
            <a:r>
              <a:rPr lang="en-US" altLang="zh-CN">
                <a:ea typeface="宋体" panose="02010600030101010101" pitchFamily="2" charset="-122"/>
              </a:rPr>
              <a:t>范围是 ________。</a:t>
            </a:r>
          </a:p>
          <a:p>
            <a:r>
              <a:rPr lang="en-US" altLang="zh-CN">
                <a:ea typeface="宋体" panose="02010600030101010101" pitchFamily="2" charset="-122"/>
              </a:rPr>
              <a:t>假设成绩都是 A 和 B。</a:t>
            </a:r>
          </a:p>
          <a:p>
            <a:r>
              <a:rPr lang="en-US" altLang="zh-CN">
                <a:ea typeface="宋体" panose="02010600030101010101" pitchFamily="2" charset="-122"/>
              </a:rPr>
              <a:t>那么 </a:t>
            </a:r>
            <a:r>
              <a:rPr lang="en-US" altLang="zh-CN" i="1">
                <a:ea typeface="宋体" panose="02010600030101010101" pitchFamily="2" charset="-122"/>
              </a:rPr>
              <a:t>f </a:t>
            </a:r>
            <a:r>
              <a:rPr lang="en-US" altLang="zh-CN">
                <a:ea typeface="宋体" panose="02010600030101010101" pitchFamily="2" charset="-122"/>
              </a:rPr>
              <a:t>的</a:t>
            </a:r>
            <a:r>
              <a:rPr lang="zh-CN" altLang="en-US">
                <a:ea typeface="宋体" panose="02010600030101010101" pitchFamily="2" charset="-122"/>
              </a:rPr>
              <a:t>取值</a:t>
            </a:r>
            <a:r>
              <a:rPr lang="en-US" altLang="zh-CN">
                <a:ea typeface="宋体" panose="02010600030101010101" pitchFamily="2" charset="-122"/>
              </a:rPr>
              <a:t>范围是 _________，但它的</a:t>
            </a:r>
            <a:r>
              <a:rPr lang="zh-CN" altLang="en-US">
                <a:ea typeface="宋体" panose="02010600030101010101" pitchFamily="2" charset="-122"/>
              </a:rPr>
              <a:t>值</a:t>
            </a:r>
            <a:r>
              <a:rPr lang="en-US" altLang="zh-CN">
                <a:ea typeface="宋体" panose="02010600030101010101" pitchFamily="2" charset="-122"/>
              </a:rPr>
              <a:t>域是 __________________。</a:t>
            </a:r>
          </a:p>
        </p:txBody>
      </p:sp>
      <p:sp>
        <p:nvSpPr>
          <p:cNvPr id="21509" name="Text Box 4"/>
          <p:cNvSpPr txBox="1">
            <a:spLocks noChangeArrowheads="1"/>
          </p:cNvSpPr>
          <p:nvPr/>
        </p:nvSpPr>
        <p:spPr bwMode="auto">
          <a:xfrm>
            <a:off x="6476683" y="2361883"/>
            <a:ext cx="23590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{A,B,C,D,E}。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21510" name="Text Box 5"/>
          <p:cNvSpPr txBox="1">
            <a:spLocks noChangeArrowheads="1"/>
          </p:cNvSpPr>
          <p:nvPr/>
        </p:nvSpPr>
        <p:spPr bwMode="auto">
          <a:xfrm>
            <a:off x="3581400" y="2895600"/>
            <a:ext cx="16970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未知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21511" name="Text Box 6"/>
          <p:cNvSpPr txBox="1">
            <a:spLocks noChangeArrowheads="1"/>
          </p:cNvSpPr>
          <p:nvPr/>
        </p:nvSpPr>
        <p:spPr bwMode="auto">
          <a:xfrm>
            <a:off x="5181600" y="3962400"/>
            <a:ext cx="12414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{A、B｝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21512" name="Text Box 7"/>
          <p:cNvSpPr txBox="1">
            <a:spLocks noChangeArrowheads="1"/>
          </p:cNvSpPr>
          <p:nvPr/>
        </p:nvSpPr>
        <p:spPr bwMode="auto">
          <a:xfrm>
            <a:off x="3124200" y="4618038"/>
            <a:ext cx="30702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仍为{A、B、C、D、E}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5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5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9" grpId="0"/>
      <p:bldP spid="21510" grpId="0"/>
      <p:bldP spid="21511" grpId="0"/>
      <p:bldP spid="215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09F01667-415B-4759-B771-33C85EE281C1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altLang="en-US">
                <a:ea typeface="宋体" panose="02010600030101010101" pitchFamily="2" charset="-122"/>
              </a:rPr>
              <a:t>集合上的</a:t>
            </a:r>
            <a:r>
              <a:rPr lang="zh-CN" altLang="en-GB">
                <a:ea typeface="宋体" panose="02010600030101010101" pitchFamily="2" charset="-122"/>
              </a:rPr>
              <a:t>（</a:t>
            </a:r>
            <a:r>
              <a:rPr lang="en-US" altLang="zh-CN">
                <a:ea typeface="宋体" panose="02010600030101010101" pitchFamily="2" charset="-122"/>
              </a:rPr>
              <a:t>n</a:t>
            </a:r>
            <a:r>
              <a:rPr lang="zh-CN" altLang="en-US">
                <a:ea typeface="宋体" panose="02010600030101010101" pitchFamily="2" charset="-122"/>
              </a:rPr>
              <a:t>元</a:t>
            </a:r>
            <a:r>
              <a:rPr lang="zh-CN" altLang="en-GB">
                <a:ea typeface="宋体" panose="02010600030101010101" pitchFamily="2" charset="-122"/>
              </a:rPr>
              <a:t>）函数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600200"/>
            <a:ext cx="7772400" cy="4267200"/>
          </a:xfrm>
        </p:spPr>
        <p:txBody>
          <a:bodyPr/>
          <a:lstStyle/>
          <a:p>
            <a:r>
              <a:rPr lang="en-US" altLang="zh-CN" i="1">
                <a:ea typeface="宋体" panose="02010600030101010101" pitchFamily="2" charset="-122"/>
              </a:rPr>
              <a:t>S 上的 n </a:t>
            </a:r>
            <a:r>
              <a:rPr lang="zh-CN" altLang="en-US" i="1">
                <a:ea typeface="宋体" panose="02010600030101010101" pitchFamily="2" charset="-122"/>
              </a:rPr>
              <a:t>元</a:t>
            </a:r>
            <a:r>
              <a:rPr lang="en-US" altLang="zh-CN">
                <a:ea typeface="宋体" panose="02010600030101010101" pitchFamily="2" charset="-122"/>
              </a:rPr>
              <a:t>函数（又称：n</a:t>
            </a:r>
            <a:r>
              <a:rPr lang="zh-CN" altLang="en-US">
                <a:ea typeface="宋体" panose="02010600030101010101" pitchFamily="2" charset="-122"/>
              </a:rPr>
              <a:t>元运算符</a:t>
            </a:r>
            <a:r>
              <a:rPr lang="en-US" altLang="zh-CN">
                <a:ea typeface="宋体" panose="02010600030101010101" pitchFamily="2" charset="-122"/>
              </a:rPr>
              <a:t>）是指从 </a:t>
            </a:r>
            <a:r>
              <a:rPr lang="en-US" altLang="zh-CN" i="1">
                <a:ea typeface="宋体" panose="02010600030101010101" pitchFamily="2" charset="-122"/>
              </a:rPr>
              <a:t>S </a:t>
            </a:r>
            <a:r>
              <a:rPr lang="en-US" altLang="zh-CN">
                <a:ea typeface="宋体" panose="02010600030101010101" pitchFamily="2" charset="-122"/>
              </a:rPr>
              <a:t>中元素的有序 </a:t>
            </a:r>
            <a:r>
              <a:rPr lang="en-US" altLang="zh-CN" i="1">
                <a:ea typeface="宋体" panose="02010600030101010101" pitchFamily="2" charset="-122"/>
              </a:rPr>
              <a:t>n 元组</a:t>
            </a:r>
            <a:r>
              <a:rPr lang="en-US" altLang="zh-CN">
                <a:ea typeface="宋体" panose="02010600030101010101" pitchFamily="2" charset="-122"/>
              </a:rPr>
              <a:t>集合到 </a:t>
            </a:r>
            <a:r>
              <a:rPr lang="en-US" altLang="zh-CN" i="1">
                <a:ea typeface="宋体" panose="02010600030101010101" pitchFamily="2" charset="-122"/>
              </a:rPr>
              <a:t>S </a:t>
            </a:r>
            <a:r>
              <a:rPr lang="en-US" altLang="zh-CN">
                <a:ea typeface="宋体" panose="02010600030101010101" pitchFamily="2" charset="-122"/>
              </a:rPr>
              <a:t>本身的任何函数。</a:t>
            </a:r>
          </a:p>
          <a:p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例如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，如果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S={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T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F}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，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 可视为一元运算符，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,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是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上的二元运算符。</a:t>
            </a: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另一个例子：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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和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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是所有集合上的二元运算符。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F743093B-CAF9-4E33-B43C-F560972F5A7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函数下的集合图像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dirty="0" err="1">
                <a:ea typeface="宋体" panose="02010600030101010101" pitchFamily="2" charset="-122"/>
              </a:rPr>
              <a:t>鉴于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 err="1">
                <a:ea typeface="宋体" panose="02010600030101010101" pitchFamily="2" charset="-122"/>
              </a:rPr>
              <a:t>f</a:t>
            </a:r>
            <a:r>
              <a:rPr lang="en-US" altLang="zh-CN" dirty="0" err="1">
                <a:ea typeface="宋体" panose="02010600030101010101" pitchFamily="2" charset="-122"/>
              </a:rPr>
              <a:t>:</a:t>
            </a:r>
            <a:r>
              <a:rPr lang="en-US" altLang="zh-CN" i="1" dirty="0" err="1">
                <a:ea typeface="宋体" panose="02010600030101010101" pitchFamily="2" charset="-122"/>
                <a:sym typeface="Symbol" panose="05050102010706020507" pitchFamily="18" charset="2"/>
              </a:rPr>
              <a:t>AB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和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SA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、</a:t>
            </a:r>
          </a:p>
          <a:p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S 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在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f 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下的</a:t>
            </a:r>
            <a:r>
              <a:rPr lang="en-US" altLang="zh-CN" i="1" dirty="0" err="1">
                <a:ea typeface="宋体" panose="02010600030101010101" pitchFamily="2" charset="-122"/>
                <a:sym typeface="Symbol" panose="05050102010706020507" pitchFamily="18" charset="2"/>
              </a:rPr>
              <a:t>映像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是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S 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元素所有映像（在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f 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下）的集合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b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f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: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{f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| </a:t>
            </a:r>
            <a:r>
              <a:rPr lang="en-US" altLang="zh-CN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sS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。</a:t>
            </a:r>
            <a:b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    :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{b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|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i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sS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)=b}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  <a:p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f 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的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取值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范围等于</a:t>
            </a:r>
            <a:b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dirty="0" err="1">
                <a:solidFill>
                  <a:schemeClr val="tx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的域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（在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chemeClr val="tx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下）</a:t>
            </a:r>
            <a:r>
              <a:rPr lang="en-US" altLang="zh-CN" dirty="0" err="1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的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图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像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FCF87F8-78C4-4C7F-A53C-EEECD1E1326F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8499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8499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471613"/>
            <a:ext cx="8610600" cy="4725987"/>
          </a:xfrm>
        </p:spPr>
        <p:txBody>
          <a:bodyPr/>
          <a:lstStyle/>
          <a:p>
            <a:pPr algn="just"/>
            <a:r>
              <a:rPr lang="en-US" altLang="zh-CN" dirty="0">
                <a:ea typeface="宋体" panose="02010600030101010101" pitchFamily="2" charset="-122"/>
              </a:rPr>
              <a:t>2.假设"f是将本班学生映射到成绩集合{1, 2, 3 ,4, 5}</a:t>
            </a:r>
            <a:r>
              <a:rPr lang="en-US" altLang="zh-CN" dirty="0" err="1">
                <a:ea typeface="宋体" panose="02010600030101010101" pitchFamily="2" charset="-122"/>
              </a:rPr>
              <a:t>的函数</a:t>
            </a:r>
            <a:r>
              <a:rPr lang="en-US" altLang="zh-CN" dirty="0">
                <a:ea typeface="宋体" panose="02010600030101010101" pitchFamily="2" charset="-122"/>
              </a:rPr>
              <a:t>"。</a:t>
            </a:r>
            <a:r>
              <a:rPr lang="en-US" altLang="zh-CN" dirty="0" err="1">
                <a:ea typeface="宋体" panose="02010600030101010101" pitchFamily="2" charset="-122"/>
              </a:rPr>
              <a:t>而且，成绩都是</a:t>
            </a:r>
            <a:r>
              <a:rPr lang="en-US" altLang="zh-CN" dirty="0">
                <a:ea typeface="宋体" panose="02010600030101010101" pitchFamily="2" charset="-122"/>
              </a:rPr>
              <a:t> 3 </a:t>
            </a:r>
            <a:r>
              <a:rPr lang="en-US" altLang="zh-CN" dirty="0" err="1">
                <a:ea typeface="宋体" panose="02010600030101010101" pitchFamily="2" charset="-122"/>
              </a:rPr>
              <a:t>和</a:t>
            </a:r>
            <a:r>
              <a:rPr lang="en-US" altLang="zh-CN" dirty="0">
                <a:ea typeface="宋体" panose="02010600030101010101" pitchFamily="2" charset="-122"/>
              </a:rPr>
              <a:t> 4。则 f </a:t>
            </a:r>
            <a:r>
              <a:rPr lang="en-US" altLang="zh-CN" dirty="0" err="1">
                <a:ea typeface="宋体" panose="02010600030101010101" pitchFamily="2" charset="-122"/>
              </a:rPr>
              <a:t>的取值范围为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zh-CN" altLang="zh-CN" dirty="0">
                <a:ea typeface="宋体" panose="02010600030101010101" pitchFamily="2" charset="-122"/>
              </a:rPr>
              <a:t>（ ）。</a:t>
            </a:r>
          </a:p>
          <a:p>
            <a:pPr algn="just"/>
            <a:r>
              <a:rPr lang="en-US" altLang="zh-CN" dirty="0">
                <a:ea typeface="宋体" panose="02010600030101010101" pitchFamily="2" charset="-122"/>
              </a:rPr>
              <a:t>A) {1, 2, 3 ,4, 5}  </a:t>
            </a:r>
          </a:p>
          <a:p>
            <a:pPr algn="just"/>
            <a:r>
              <a:rPr lang="en-US" altLang="zh-CN" dirty="0">
                <a:ea typeface="宋体" panose="02010600030101010101" pitchFamily="2" charset="-122"/>
              </a:rPr>
              <a:t>B) {3 ,4}    </a:t>
            </a:r>
          </a:p>
          <a:p>
            <a:pPr algn="just"/>
            <a:r>
              <a:rPr lang="en-US" altLang="zh-CN" dirty="0">
                <a:ea typeface="宋体" panose="02010600030101010101" pitchFamily="2" charset="-122"/>
              </a:rPr>
              <a:t>C){3 ,4} </a:t>
            </a:r>
            <a:r>
              <a:rPr lang="en-US" altLang="zh-CN" dirty="0" err="1">
                <a:ea typeface="宋体" panose="02010600030101010101" pitchFamily="2" charset="-122"/>
              </a:rPr>
              <a:t>或</a:t>
            </a:r>
            <a:r>
              <a:rPr lang="en-US" altLang="zh-CN" dirty="0">
                <a:ea typeface="宋体" panose="02010600030101010101" pitchFamily="2" charset="-122"/>
              </a:rPr>
              <a:t> {1, 2, 3 ,4, 5}  </a:t>
            </a:r>
          </a:p>
          <a:p>
            <a:pPr algn="just"/>
            <a:r>
              <a:rPr lang="en-US" altLang="zh-CN" dirty="0">
                <a:ea typeface="宋体" panose="02010600030101010101" pitchFamily="2" charset="-122"/>
              </a:rPr>
              <a:t>D) </a:t>
            </a:r>
            <a:r>
              <a:rPr lang="en-US" altLang="zh-CN" dirty="0" err="1">
                <a:ea typeface="宋体" panose="02010600030101010101" pitchFamily="2" charset="-122"/>
              </a:rPr>
              <a:t>未知</a:t>
            </a:r>
            <a:endParaRPr lang="zh-CN" altLang="zh-CN" dirty="0">
              <a:ea typeface="宋体" panose="02010600030101010101" pitchFamily="2" charset="-122"/>
            </a:endParaRPr>
          </a:p>
          <a:p>
            <a:pPr algn="just">
              <a:buFont typeface="Wingdings" panose="05000000000000000000" pitchFamily="2" charset="2"/>
              <a:buNone/>
            </a:pPr>
            <a:endParaRPr lang="en-US" altLang="zh-CN" sz="20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2D1D0D4-A8E7-423F-923E-BEF61B43912A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4579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B88D9DB-9D9B-455E-B160-966AED11105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24581" name="Group 3"/>
          <p:cNvGrpSpPr/>
          <p:nvPr/>
        </p:nvGrpSpPr>
        <p:grpSpPr bwMode="auto">
          <a:xfrm>
            <a:off x="1981200" y="2819400"/>
            <a:ext cx="5029200" cy="2438400"/>
            <a:chOff x="0" y="0"/>
            <a:chExt cx="1889" cy="1009"/>
          </a:xfrm>
        </p:grpSpPr>
        <p:grpSp>
          <p:nvGrpSpPr>
            <p:cNvPr id="24583" name="Group 4"/>
            <p:cNvGrpSpPr/>
            <p:nvPr/>
          </p:nvGrpSpPr>
          <p:grpSpPr bwMode="auto">
            <a:xfrm>
              <a:off x="0" y="90"/>
              <a:ext cx="1889" cy="919"/>
              <a:chOff x="0" y="0"/>
              <a:chExt cx="1926" cy="937"/>
            </a:xfrm>
          </p:grpSpPr>
          <p:sp>
            <p:nvSpPr>
              <p:cNvPr id="24588" name="Oval 5"/>
              <p:cNvSpPr>
                <a:spLocks noChangeArrowheads="1"/>
              </p:cNvSpPr>
              <p:nvPr/>
            </p:nvSpPr>
            <p:spPr bwMode="auto">
              <a:xfrm>
                <a:off x="21" y="3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4A4A7C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  <p:sp>
            <p:nvSpPr>
              <p:cNvPr id="24589" name="Oval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rgbClr val="D2D2FF"/>
                  </a:gs>
                  <a:gs pos="100000">
                    <a:schemeClr val="hlink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</p:grpSp>
        <p:sp>
          <p:nvSpPr>
            <p:cNvPr id="24584" name="Oval 7"/>
            <p:cNvSpPr>
              <a:spLocks noChangeArrowheads="1"/>
            </p:cNvSpPr>
            <p:nvPr/>
          </p:nvSpPr>
          <p:spPr bwMode="auto">
            <a:xfrm>
              <a:off x="89" y="0"/>
              <a:ext cx="1691" cy="845"/>
            </a:xfrm>
            <a:prstGeom prst="ellipse">
              <a:avLst/>
            </a:prstGeom>
            <a:gradFill rotWithShape="1">
              <a:gsLst>
                <a:gs pos="0">
                  <a:srgbClr val="37556B"/>
                </a:gs>
                <a:gs pos="100000">
                  <a:schemeClr val="accent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24585" name="Oval 8"/>
            <p:cNvSpPr>
              <a:spLocks noChangeArrowheads="1"/>
            </p:cNvSpPr>
            <p:nvPr/>
          </p:nvSpPr>
          <p:spPr bwMode="auto">
            <a:xfrm>
              <a:off x="111" y="5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rgbClr val="D0E6F7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24586" name="Oval 9"/>
            <p:cNvSpPr>
              <a:spLocks noChangeArrowheads="1"/>
            </p:cNvSpPr>
            <p:nvPr/>
          </p:nvSpPr>
          <p:spPr bwMode="auto">
            <a:xfrm>
              <a:off x="128" y="13"/>
              <a:ext cx="1570" cy="770"/>
            </a:xfrm>
            <a:prstGeom prst="ellipse">
              <a:avLst/>
            </a:prstGeom>
            <a:gradFill rotWithShape="1">
              <a:gsLst>
                <a:gs pos="0">
                  <a:srgbClr val="5E91B7"/>
                </a:gs>
                <a:gs pos="100000">
                  <a:schemeClr val="accent1">
                    <a:alpha val="48000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24587" name="Oval 10"/>
            <p:cNvSpPr>
              <a:spLocks noChangeArrowheads="1"/>
            </p:cNvSpPr>
            <p:nvPr/>
          </p:nvSpPr>
          <p:spPr bwMode="auto">
            <a:xfrm>
              <a:off x="211" y="30"/>
              <a:ext cx="1382" cy="62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1">
                    <a:alpha val="37999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</p:grpSp>
      <p:sp>
        <p:nvSpPr>
          <p:cNvPr id="24582" name="Rectangle 11"/>
          <p:cNvSpPr>
            <a:spLocks noGrp="1" noChangeArrowheads="1"/>
          </p:cNvSpPr>
          <p:nvPr>
            <p:ph type="body" idx="4294967295"/>
          </p:nvPr>
        </p:nvSpPr>
        <p:spPr>
          <a:xfrm>
            <a:off x="2209800" y="3505200"/>
            <a:ext cx="4572000" cy="685800"/>
          </a:xfrm>
        </p:spPr>
        <p:txBody>
          <a:bodyPr/>
          <a:lstStyle/>
          <a:p>
            <a:pPr algn="ctr">
              <a:lnSpc>
                <a:spcPct val="8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 sz="2400" b="1" dirty="0">
                <a:ea typeface="宋体" panose="02010600030101010101" pitchFamily="2" charset="-122"/>
              </a:rPr>
              <a:t>类型和</a:t>
            </a:r>
            <a:r>
              <a:rPr lang="zh-CN" altLang="en-US" sz="2400" b="1" dirty="0">
                <a:ea typeface="宋体" panose="02010600030101010101" pitchFamily="2" charset="-122"/>
              </a:rPr>
              <a:t>运算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D4A42E34-1A1E-4C16-A649-2C3B5AD25FD4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一对一</a:t>
            </a:r>
            <a:r>
              <a:rPr lang="zh-CN" altLang="en-US">
                <a:ea typeface="宋体" panose="02010600030101010101" pitchFamily="2" charset="-122"/>
              </a:rPr>
              <a:t>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604" name="Rectangle 3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685800" y="1524000"/>
                <a:ext cx="7772400" cy="4267200"/>
              </a:xfrm>
            </p:spPr>
            <p:txBody>
              <a:bodyPr/>
              <a:lstStyle/>
              <a:p>
                <a:r>
                  <a:rPr lang="en-US" altLang="zh-CN" sz="2800" b="1" dirty="0" err="1">
                    <a:solidFill>
                      <a:srgbClr val="030711"/>
                    </a:solidFill>
                    <a:ea typeface="宋体" panose="02010600030101010101" pitchFamily="2" charset="-122"/>
                  </a:rPr>
                  <a:t>如果函数</a:t>
                </a:r>
                <a:r>
                  <a:rPr lang="zh-CN" altLang="en-US" sz="2800" b="1" dirty="0">
                    <a:solidFill>
                      <a:srgbClr val="030711"/>
                    </a:solidFill>
                    <a:ea typeface="宋体" panose="02010600030101010101" pitchFamily="2" charset="-122"/>
                  </a:rPr>
                  <a:t>取值</a:t>
                </a:r>
                <a:r>
                  <a:rPr lang="en-US" altLang="zh-CN" sz="2800" b="1" dirty="0" err="1">
                    <a:solidFill>
                      <a:srgbClr val="030711"/>
                    </a:solidFill>
                    <a:ea typeface="宋体" panose="02010600030101010101" pitchFamily="2" charset="-122"/>
                  </a:rPr>
                  <a:t>范围中的每个元素都</a:t>
                </a:r>
                <a:r>
                  <a:rPr lang="en-US" altLang="zh-CN" sz="2800" b="1" i="1" dirty="0" err="1">
                    <a:solidFill>
                      <a:srgbClr val="030711"/>
                    </a:solidFill>
                    <a:ea typeface="宋体" panose="02010600030101010101" pitchFamily="2" charset="-122"/>
                  </a:rPr>
                  <a:t>只有</a:t>
                </a:r>
                <a:r>
                  <a:rPr lang="en-US" altLang="zh-CN" sz="2800" b="1" dirty="0" err="1">
                    <a:solidFill>
                      <a:srgbClr val="030711"/>
                    </a:solidFill>
                    <a:ea typeface="宋体" panose="02010600030101010101" pitchFamily="2" charset="-122"/>
                  </a:rPr>
                  <a:t>一个</a:t>
                </a:r>
                <a:r>
                  <a:rPr lang="zh-CN" altLang="en-US" sz="2800" b="1" dirty="0">
                    <a:solidFill>
                      <a:srgbClr val="030711"/>
                    </a:solidFill>
                    <a:ea typeface="宋体" panose="02010600030101010101" pitchFamily="2" charset="-122"/>
                  </a:rPr>
                  <a:t>原</a:t>
                </a:r>
                <a:r>
                  <a:rPr lang="en-US" altLang="zh-CN" sz="2800" b="1" dirty="0">
                    <a:solidFill>
                      <a:srgbClr val="030711"/>
                    </a:solidFill>
                    <a:ea typeface="宋体" panose="02010600030101010101" pitchFamily="2" charset="-122"/>
                  </a:rPr>
                  <a:t>像，那么这个函数就是</a:t>
                </a:r>
                <a:r>
                  <a:rPr lang="en-US" altLang="zh-CN" sz="2800" b="1" i="1" dirty="0">
                    <a:solidFill>
                      <a:srgbClr val="030711"/>
                    </a:solidFill>
                    <a:ea typeface="宋体" panose="02010600030101010101" pitchFamily="2" charset="-122"/>
                  </a:rPr>
                  <a:t>一一对应（1-1）</a:t>
                </a:r>
                <a:r>
                  <a:rPr lang="en-US" altLang="zh-CN" sz="2800" b="1" dirty="0">
                    <a:solidFill>
                      <a:srgbClr val="030711"/>
                    </a:solidFill>
                    <a:ea typeface="宋体" panose="02010600030101010101" pitchFamily="2" charset="-122"/>
                  </a:rPr>
                  <a:t>函数，或</a:t>
                </a:r>
                <a:r>
                  <a:rPr lang="zh-CN" altLang="en-US" sz="2800" b="1" i="1" dirty="0">
                    <a:solidFill>
                      <a:srgbClr val="030711"/>
                    </a:solidFill>
                    <a:ea typeface="宋体" panose="02010600030101010101" pitchFamily="2" charset="-122"/>
                  </a:rPr>
                  <a:t>单射</a:t>
                </a:r>
                <a:r>
                  <a:rPr lang="en-US" altLang="zh-CN" sz="2800" b="1" dirty="0">
                    <a:solidFill>
                      <a:srgbClr val="030711"/>
                    </a:solidFill>
                    <a:ea typeface="宋体" panose="02010600030101010101" pitchFamily="2" charset="-122"/>
                  </a:rPr>
                  <a:t>。 </a:t>
                </a:r>
              </a:p>
              <a:p>
                <a:pPr lvl="1"/>
                <a:r>
                  <a:rPr lang="en-US" altLang="zh-CN" sz="2400" b="1" dirty="0" err="1">
                    <a:solidFill>
                      <a:srgbClr val="030711"/>
                    </a:solidFill>
                    <a:ea typeface="宋体" panose="02010600030101010101" pitchFamily="2" charset="-122"/>
                  </a:rPr>
                  <a:t>形式上：给定</a:t>
                </a:r>
                <a:r>
                  <a:rPr lang="en-US" altLang="zh-CN" sz="2400" b="1" dirty="0">
                    <a:solidFill>
                      <a:srgbClr val="030711"/>
                    </a:solidFill>
                    <a:ea typeface="宋体" panose="02010600030101010101" pitchFamily="2" charset="-122"/>
                  </a:rPr>
                  <a:t> </a:t>
                </a:r>
                <a:r>
                  <a:rPr lang="en-US" altLang="zh-CN" sz="2400" b="1" i="1" dirty="0" err="1">
                    <a:solidFill>
                      <a:srgbClr val="030711"/>
                    </a:solidFill>
                    <a:ea typeface="宋体" panose="02010600030101010101" pitchFamily="2" charset="-122"/>
                  </a:rPr>
                  <a:t>f</a:t>
                </a:r>
                <a:r>
                  <a:rPr lang="en-US" altLang="zh-CN" sz="2400" b="1" dirty="0" err="1">
                    <a:solidFill>
                      <a:srgbClr val="030711"/>
                    </a:solidFill>
                    <a:ea typeface="宋体" panose="02010600030101010101" pitchFamily="2" charset="-122"/>
                  </a:rPr>
                  <a:t>:</a:t>
                </a:r>
                <a:r>
                  <a:rPr lang="en-US" altLang="zh-CN" sz="2400" b="1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307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→</m:t>
                    </m:r>
                  </m:oMath>
                </a14:m>
                <a:r>
                  <a:rPr lang="en-US" altLang="zh-CN" sz="2400" b="1" i="1" dirty="0">
                    <a:solidFill>
                      <a:srgbClr val="030711"/>
                    </a:solidFill>
                    <a:ea typeface="宋体" panose="02010600030101010101" pitchFamily="2" charset="-122"/>
                  </a:rPr>
                  <a:t>B</a:t>
                </a:r>
                <a:r>
                  <a:rPr lang="en-US" altLang="zh-CN" sz="2400" b="1" i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、</a:t>
                </a:r>
                <a:br>
                  <a:rPr lang="en-US" altLang="zh-CN" sz="2400" b="1" dirty="0">
                    <a:solidFill>
                      <a:srgbClr val="030711"/>
                    </a:solidFill>
                    <a:ea typeface="宋体" panose="02010600030101010101" pitchFamily="2" charset="-122"/>
                  </a:rPr>
                </a:br>
                <a:r>
                  <a:rPr lang="en-US" altLang="zh-CN" sz="2400" b="1" dirty="0">
                    <a:solidFill>
                      <a:srgbClr val="03071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"</a:t>
                </a:r>
                <a:r>
                  <a:rPr lang="en-US" altLang="zh-CN" sz="2400" b="1" i="1" dirty="0">
                    <a:solidFill>
                      <a:srgbClr val="030711"/>
                    </a:solidFill>
                    <a:ea typeface="宋体" panose="02010600030101010101" pitchFamily="2" charset="-122"/>
                  </a:rPr>
                  <a:t>x </a:t>
                </a:r>
                <a:r>
                  <a:rPr lang="en-US" altLang="zh-CN" sz="2400" b="1" dirty="0" err="1">
                    <a:solidFill>
                      <a:srgbClr val="030711"/>
                    </a:solidFill>
                    <a:ea typeface="宋体" panose="02010600030101010101" pitchFamily="2" charset="-122"/>
                  </a:rPr>
                  <a:t>是注入的</a:t>
                </a:r>
                <a:r>
                  <a:rPr lang="en-US" altLang="zh-CN" sz="2400" b="1" dirty="0">
                    <a:solidFill>
                      <a:srgbClr val="03071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" </a:t>
                </a:r>
                <a:r>
                  <a:rPr lang="en-US" altLang="zh-CN" sz="2400" b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: (</a:t>
                </a:r>
                <a:r>
                  <a:rPr lang="en-US" altLang="zh-CN" sz="2400" b="1" i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</a:t>
                </a:r>
                <a:r>
                  <a:rPr lang="en-US" altLang="zh-CN" sz="2400" b="1" i="1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x</a:t>
                </a:r>
                <a:r>
                  <a:rPr lang="en-US" altLang="zh-CN" sz="2400" b="1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,</a:t>
                </a:r>
                <a:r>
                  <a:rPr lang="en-US" altLang="zh-CN" sz="2400" b="1" i="1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y</a:t>
                </a:r>
                <a:r>
                  <a:rPr lang="en-US" altLang="zh-CN" sz="2400" b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: </a:t>
                </a:r>
                <a:r>
                  <a:rPr lang="en-US" altLang="zh-CN" sz="2400" b="1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xy</a:t>
                </a:r>
                <a:r>
                  <a:rPr lang="en-US" altLang="zh-CN" sz="2400" b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  </a:t>
                </a:r>
                <a:r>
                  <a:rPr lang="en-US" altLang="zh-CN" sz="2400" b="1" i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f</a:t>
                </a:r>
                <a:r>
                  <a:rPr lang="en-US" altLang="zh-CN" sz="2400" b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(</a:t>
                </a:r>
                <a:r>
                  <a:rPr lang="en-US" altLang="zh-CN" sz="2400" b="1" i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x</a:t>
                </a:r>
                <a:r>
                  <a:rPr lang="en-US" altLang="zh-CN" sz="2400" b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)</a:t>
                </a:r>
                <a:r>
                  <a:rPr lang="en-US" altLang="zh-CN" sz="2400" b="1" i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f</a:t>
                </a:r>
                <a:r>
                  <a:rPr lang="en-US" altLang="zh-CN" sz="2400" b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(</a:t>
                </a:r>
                <a:r>
                  <a:rPr lang="en-US" altLang="zh-CN" sz="2400" b="1" i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y</a:t>
                </a:r>
                <a:r>
                  <a:rPr lang="en-US" altLang="zh-CN" sz="2400" b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)).</a:t>
                </a:r>
              </a:p>
              <a:p>
                <a:r>
                  <a:rPr lang="en-US" altLang="zh-CN" sz="2800" b="1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换句话说：只有</a:t>
                </a:r>
                <a:r>
                  <a:rPr lang="zh-CN" altLang="en-US" sz="2800" b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定义</a:t>
                </a:r>
                <a:r>
                  <a:rPr lang="en-US" altLang="zh-CN" sz="2800" b="1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域中的</a:t>
                </a:r>
                <a:r>
                  <a:rPr lang="en-US" altLang="zh-CN" sz="2800" b="1" u="sng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一个</a:t>
                </a:r>
                <a:r>
                  <a:rPr lang="en-US" altLang="zh-CN" sz="2800" b="1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元素可以映射</a:t>
                </a:r>
                <a:r>
                  <a:rPr lang="en-US" altLang="zh-CN" sz="2800" b="1" u="sng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到</a:t>
                </a:r>
                <a:r>
                  <a:rPr lang="zh-CN" altLang="en-US" sz="2800" b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取值范</a:t>
                </a:r>
                <a:r>
                  <a:rPr lang="en-US" altLang="zh-CN" sz="2800" b="1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围中的任何给定元素</a:t>
                </a:r>
                <a:r>
                  <a:rPr lang="en-US" altLang="zh-CN" sz="2800" b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。</a:t>
                </a:r>
              </a:p>
              <a:p>
                <a:pPr lvl="1"/>
                <a:r>
                  <a:rPr lang="en-US" altLang="zh-CN" sz="2400" b="1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在这种情况下</a:t>
                </a:r>
                <a:r>
                  <a:rPr lang="en-US" altLang="zh-CN" sz="2400" b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，</a:t>
                </a:r>
                <a:r>
                  <a:rPr lang="zh-CN" altLang="en-US" sz="2400" b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定义域</a:t>
                </a:r>
                <a:r>
                  <a:rPr lang="en-US" altLang="zh-CN" sz="2400" b="1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和</a:t>
                </a:r>
                <a:r>
                  <a:rPr lang="zh-CN" altLang="en-US" sz="2400" b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取值</a:t>
                </a:r>
                <a:r>
                  <a:rPr lang="en-US" altLang="zh-CN" sz="2400" b="1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范围的</a:t>
                </a:r>
                <a:r>
                  <a:rPr lang="en-US" altLang="zh-CN" sz="2400" b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 </a:t>
                </a:r>
                <a:r>
                  <a:rPr lang="zh-CN" altLang="en-US" sz="2400" b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基数</a:t>
                </a:r>
                <a:r>
                  <a:rPr lang="en-US" altLang="zh-CN" sz="2400" b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 </a:t>
                </a:r>
                <a:r>
                  <a:rPr lang="en-US" altLang="zh-CN" sz="2400" b="1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相同</a:t>
                </a:r>
                <a:r>
                  <a:rPr lang="en-US" altLang="zh-CN" sz="2400" b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。 </a:t>
                </a:r>
                <a:br>
                  <a:rPr lang="en-US" altLang="zh-CN" sz="2400" b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</a:br>
                <a:r>
                  <a:rPr lang="en-US" altLang="zh-CN" sz="2400" b="1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那么</a:t>
                </a:r>
                <a:r>
                  <a:rPr lang="zh-CN" altLang="en-US" sz="2400" b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值</a:t>
                </a:r>
                <a:r>
                  <a:rPr lang="en-US" altLang="zh-CN" sz="2400" b="1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域呢</a:t>
                </a:r>
                <a:r>
                  <a:rPr lang="en-US" altLang="zh-CN" sz="2400" b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？</a:t>
                </a:r>
                <a:endParaRPr lang="en-US" altLang="zh-CN" b="1" i="1" dirty="0">
                  <a:solidFill>
                    <a:srgbClr val="030711"/>
                  </a:solidFill>
                  <a:ea typeface="宋体" panose="02010600030101010101" pitchFamily="2" charset="-122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2560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685800" y="1524000"/>
                <a:ext cx="7772400" cy="4267200"/>
              </a:xfrm>
              <a:blipFill>
                <a:blip r:embed="rId2"/>
                <a:stretch>
                  <a:fillRect l="-1468" t="-1780" r="-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03A02D99-6B5C-4A69-AC61-D56E44C737B9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一对一</a:t>
            </a:r>
            <a:r>
              <a:rPr lang="zh-CN" altLang="en-US">
                <a:ea typeface="宋体" panose="02010600030101010101" pitchFamily="2" charset="-122"/>
              </a:rPr>
              <a:t>函数示例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905000"/>
            <a:ext cx="7772400" cy="41148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这些关系是一一对应的函数吗？</a:t>
            </a:r>
          </a:p>
        </p:txBody>
      </p:sp>
      <p:sp>
        <p:nvSpPr>
          <p:cNvPr id="26629" name="Text Box 4"/>
          <p:cNvSpPr txBox="1">
            <a:spLocks noChangeArrowheads="1"/>
          </p:cNvSpPr>
          <p:nvPr/>
        </p:nvSpPr>
        <p:spPr bwMode="auto">
          <a:xfrm>
            <a:off x="1295400" y="4191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6630" name="Text Box 5"/>
          <p:cNvSpPr txBox="1">
            <a:spLocks noChangeArrowheads="1"/>
          </p:cNvSpPr>
          <p:nvPr/>
        </p:nvSpPr>
        <p:spPr bwMode="auto">
          <a:xfrm>
            <a:off x="1295400" y="3810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6631" name="Text Box 6"/>
          <p:cNvSpPr txBox="1">
            <a:spLocks noChangeArrowheads="1"/>
          </p:cNvSpPr>
          <p:nvPr/>
        </p:nvSpPr>
        <p:spPr bwMode="auto">
          <a:xfrm>
            <a:off x="1295400" y="3505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6632" name="Text Box 7"/>
          <p:cNvSpPr txBox="1">
            <a:spLocks noChangeArrowheads="1"/>
          </p:cNvSpPr>
          <p:nvPr/>
        </p:nvSpPr>
        <p:spPr bwMode="auto">
          <a:xfrm>
            <a:off x="1295400" y="3200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6633" name="Text Box 8"/>
          <p:cNvSpPr txBox="1">
            <a:spLocks noChangeArrowheads="1"/>
          </p:cNvSpPr>
          <p:nvPr/>
        </p:nvSpPr>
        <p:spPr bwMode="auto">
          <a:xfrm>
            <a:off x="2438400" y="3962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6634" name="Text Box 9"/>
          <p:cNvSpPr txBox="1">
            <a:spLocks noChangeArrowheads="1"/>
          </p:cNvSpPr>
          <p:nvPr/>
        </p:nvSpPr>
        <p:spPr bwMode="auto">
          <a:xfrm>
            <a:off x="2438400" y="4419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6635" name="Text Box 10"/>
          <p:cNvSpPr txBox="1">
            <a:spLocks noChangeArrowheads="1"/>
          </p:cNvSpPr>
          <p:nvPr/>
        </p:nvSpPr>
        <p:spPr bwMode="auto">
          <a:xfrm>
            <a:off x="2438400" y="3581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6636" name="Text Box 11"/>
          <p:cNvSpPr txBox="1">
            <a:spLocks noChangeArrowheads="1"/>
          </p:cNvSpPr>
          <p:nvPr/>
        </p:nvSpPr>
        <p:spPr bwMode="auto">
          <a:xfrm>
            <a:off x="2438400" y="3200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6637" name="Line 12"/>
          <p:cNvSpPr>
            <a:spLocks noChangeShapeType="1"/>
          </p:cNvSpPr>
          <p:nvPr/>
        </p:nvSpPr>
        <p:spPr bwMode="auto">
          <a:xfrm>
            <a:off x="1447800" y="3429000"/>
            <a:ext cx="1143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8" name="Line 13"/>
          <p:cNvSpPr>
            <a:spLocks noChangeShapeType="1"/>
          </p:cNvSpPr>
          <p:nvPr/>
        </p:nvSpPr>
        <p:spPr bwMode="auto">
          <a:xfrm flipV="1">
            <a:off x="1447800" y="34290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9" name="Line 14"/>
          <p:cNvSpPr>
            <a:spLocks noChangeShapeType="1"/>
          </p:cNvSpPr>
          <p:nvPr/>
        </p:nvSpPr>
        <p:spPr bwMode="auto">
          <a:xfrm>
            <a:off x="1447800" y="40386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0" name="Line 15"/>
          <p:cNvSpPr>
            <a:spLocks noChangeShapeType="1"/>
          </p:cNvSpPr>
          <p:nvPr/>
        </p:nvSpPr>
        <p:spPr bwMode="auto">
          <a:xfrm>
            <a:off x="1447800" y="4419600"/>
            <a:ext cx="1143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1" name="Text Box 16"/>
          <p:cNvSpPr txBox="1">
            <a:spLocks noChangeArrowheads="1"/>
          </p:cNvSpPr>
          <p:nvPr/>
        </p:nvSpPr>
        <p:spPr bwMode="auto">
          <a:xfrm>
            <a:off x="2438400" y="4724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6642" name="Text Box 17"/>
          <p:cNvSpPr txBox="1">
            <a:spLocks noChangeArrowheads="1"/>
          </p:cNvSpPr>
          <p:nvPr/>
        </p:nvSpPr>
        <p:spPr bwMode="auto">
          <a:xfrm>
            <a:off x="3657600" y="4191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6643" name="Text Box 18"/>
          <p:cNvSpPr txBox="1">
            <a:spLocks noChangeArrowheads="1"/>
          </p:cNvSpPr>
          <p:nvPr/>
        </p:nvSpPr>
        <p:spPr bwMode="auto">
          <a:xfrm>
            <a:off x="3657600" y="3886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6644" name="Text Box 19"/>
          <p:cNvSpPr txBox="1">
            <a:spLocks noChangeArrowheads="1"/>
          </p:cNvSpPr>
          <p:nvPr/>
        </p:nvSpPr>
        <p:spPr bwMode="auto">
          <a:xfrm>
            <a:off x="3657600" y="3581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6645" name="Text Box 20"/>
          <p:cNvSpPr txBox="1">
            <a:spLocks noChangeArrowheads="1"/>
          </p:cNvSpPr>
          <p:nvPr/>
        </p:nvSpPr>
        <p:spPr bwMode="auto">
          <a:xfrm>
            <a:off x="3657600" y="3276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6646" name="Text Box 21"/>
          <p:cNvSpPr txBox="1">
            <a:spLocks noChangeArrowheads="1"/>
          </p:cNvSpPr>
          <p:nvPr/>
        </p:nvSpPr>
        <p:spPr bwMode="auto">
          <a:xfrm>
            <a:off x="4800600" y="4038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6647" name="Text Box 22"/>
          <p:cNvSpPr txBox="1">
            <a:spLocks noChangeArrowheads="1"/>
          </p:cNvSpPr>
          <p:nvPr/>
        </p:nvSpPr>
        <p:spPr bwMode="auto">
          <a:xfrm>
            <a:off x="4800600" y="4343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6648" name="Text Box 23"/>
          <p:cNvSpPr txBox="1">
            <a:spLocks noChangeArrowheads="1"/>
          </p:cNvSpPr>
          <p:nvPr/>
        </p:nvSpPr>
        <p:spPr bwMode="auto">
          <a:xfrm>
            <a:off x="4800600" y="3657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6649" name="Text Box 24"/>
          <p:cNvSpPr txBox="1">
            <a:spLocks noChangeArrowheads="1"/>
          </p:cNvSpPr>
          <p:nvPr/>
        </p:nvSpPr>
        <p:spPr bwMode="auto">
          <a:xfrm>
            <a:off x="4800600" y="3276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6650" name="Line 25"/>
          <p:cNvSpPr>
            <a:spLocks noChangeShapeType="1"/>
          </p:cNvSpPr>
          <p:nvPr/>
        </p:nvSpPr>
        <p:spPr bwMode="auto">
          <a:xfrm>
            <a:off x="3810000" y="3505200"/>
            <a:ext cx="1143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51" name="Line 26"/>
          <p:cNvSpPr>
            <a:spLocks noChangeShapeType="1"/>
          </p:cNvSpPr>
          <p:nvPr/>
        </p:nvSpPr>
        <p:spPr bwMode="auto">
          <a:xfrm flipV="1">
            <a:off x="3810000" y="35052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52" name="Line 27"/>
          <p:cNvSpPr>
            <a:spLocks noChangeShapeType="1"/>
          </p:cNvSpPr>
          <p:nvPr/>
        </p:nvSpPr>
        <p:spPr bwMode="auto">
          <a:xfrm flipV="1">
            <a:off x="3810000" y="3505200"/>
            <a:ext cx="1143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53" name="Line 28"/>
          <p:cNvSpPr>
            <a:spLocks noChangeShapeType="1"/>
          </p:cNvSpPr>
          <p:nvPr/>
        </p:nvSpPr>
        <p:spPr bwMode="auto">
          <a:xfrm>
            <a:off x="3810000" y="4419600"/>
            <a:ext cx="1143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54" name="Text Box 29"/>
          <p:cNvSpPr txBox="1">
            <a:spLocks noChangeArrowheads="1"/>
          </p:cNvSpPr>
          <p:nvPr/>
        </p:nvSpPr>
        <p:spPr bwMode="auto">
          <a:xfrm>
            <a:off x="4800600" y="4648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6655" name="Text Box 30"/>
          <p:cNvSpPr txBox="1">
            <a:spLocks noChangeArrowheads="1"/>
          </p:cNvSpPr>
          <p:nvPr/>
        </p:nvSpPr>
        <p:spPr bwMode="auto">
          <a:xfrm>
            <a:off x="6324600" y="4343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6656" name="Text Box 31"/>
          <p:cNvSpPr txBox="1">
            <a:spLocks noChangeArrowheads="1"/>
          </p:cNvSpPr>
          <p:nvPr/>
        </p:nvSpPr>
        <p:spPr bwMode="auto">
          <a:xfrm>
            <a:off x="6324600" y="4038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6657" name="Text Box 32"/>
          <p:cNvSpPr txBox="1">
            <a:spLocks noChangeArrowheads="1"/>
          </p:cNvSpPr>
          <p:nvPr/>
        </p:nvSpPr>
        <p:spPr bwMode="auto">
          <a:xfrm>
            <a:off x="6324600" y="37338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6658" name="Text Box 33"/>
          <p:cNvSpPr txBox="1">
            <a:spLocks noChangeArrowheads="1"/>
          </p:cNvSpPr>
          <p:nvPr/>
        </p:nvSpPr>
        <p:spPr bwMode="auto">
          <a:xfrm>
            <a:off x="6324600" y="3429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6659" name="Text Box 34"/>
          <p:cNvSpPr txBox="1">
            <a:spLocks noChangeArrowheads="1"/>
          </p:cNvSpPr>
          <p:nvPr/>
        </p:nvSpPr>
        <p:spPr bwMode="auto">
          <a:xfrm>
            <a:off x="7467600" y="4191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6660" name="Text Box 35"/>
          <p:cNvSpPr txBox="1">
            <a:spLocks noChangeArrowheads="1"/>
          </p:cNvSpPr>
          <p:nvPr/>
        </p:nvSpPr>
        <p:spPr bwMode="auto">
          <a:xfrm>
            <a:off x="7467600" y="44958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6661" name="Text Box 36"/>
          <p:cNvSpPr txBox="1">
            <a:spLocks noChangeArrowheads="1"/>
          </p:cNvSpPr>
          <p:nvPr/>
        </p:nvSpPr>
        <p:spPr bwMode="auto">
          <a:xfrm>
            <a:off x="7467600" y="3810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6662" name="Text Box 37"/>
          <p:cNvSpPr txBox="1">
            <a:spLocks noChangeArrowheads="1"/>
          </p:cNvSpPr>
          <p:nvPr/>
        </p:nvSpPr>
        <p:spPr bwMode="auto">
          <a:xfrm>
            <a:off x="7467600" y="3429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6663" name="Line 38"/>
          <p:cNvSpPr>
            <a:spLocks noChangeShapeType="1"/>
          </p:cNvSpPr>
          <p:nvPr/>
        </p:nvSpPr>
        <p:spPr bwMode="auto">
          <a:xfrm>
            <a:off x="6477000" y="3657600"/>
            <a:ext cx="1143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64" name="Line 39"/>
          <p:cNvSpPr>
            <a:spLocks noChangeShapeType="1"/>
          </p:cNvSpPr>
          <p:nvPr/>
        </p:nvSpPr>
        <p:spPr bwMode="auto">
          <a:xfrm flipV="1">
            <a:off x="6477000" y="36576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65" name="Line 40"/>
          <p:cNvSpPr>
            <a:spLocks noChangeShapeType="1"/>
          </p:cNvSpPr>
          <p:nvPr/>
        </p:nvSpPr>
        <p:spPr bwMode="auto">
          <a:xfrm>
            <a:off x="6477000" y="4267200"/>
            <a:ext cx="1143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66" name="Line 41"/>
          <p:cNvSpPr>
            <a:spLocks noChangeShapeType="1"/>
          </p:cNvSpPr>
          <p:nvPr/>
        </p:nvSpPr>
        <p:spPr bwMode="auto">
          <a:xfrm>
            <a:off x="6477000" y="4572000"/>
            <a:ext cx="1143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67" name="Text Box 42"/>
          <p:cNvSpPr txBox="1">
            <a:spLocks noChangeArrowheads="1"/>
          </p:cNvSpPr>
          <p:nvPr/>
        </p:nvSpPr>
        <p:spPr bwMode="auto">
          <a:xfrm>
            <a:off x="7467600" y="4800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6668" name="Line 43"/>
          <p:cNvSpPr>
            <a:spLocks noChangeShapeType="1"/>
          </p:cNvSpPr>
          <p:nvPr/>
        </p:nvSpPr>
        <p:spPr bwMode="auto">
          <a:xfrm>
            <a:off x="6477000" y="42672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74B7C85-1E04-4DEA-B241-BE0681EC0114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一对一</a:t>
            </a:r>
            <a:r>
              <a:rPr lang="zh-CN" altLang="en-US">
                <a:ea typeface="宋体" panose="02010600030101010101" pitchFamily="2" charset="-122"/>
              </a:rPr>
              <a:t>函数示例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905000"/>
            <a:ext cx="7772400" cy="41148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这些关系是一一对应的函数吗？</a:t>
            </a:r>
          </a:p>
        </p:txBody>
      </p:sp>
      <p:sp>
        <p:nvSpPr>
          <p:cNvPr id="27653" name="Text Box 4"/>
          <p:cNvSpPr txBox="1">
            <a:spLocks noChangeArrowheads="1"/>
          </p:cNvSpPr>
          <p:nvPr/>
        </p:nvSpPr>
        <p:spPr bwMode="auto">
          <a:xfrm>
            <a:off x="1295400" y="4191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7654" name="Text Box 5"/>
          <p:cNvSpPr txBox="1">
            <a:spLocks noChangeArrowheads="1"/>
          </p:cNvSpPr>
          <p:nvPr/>
        </p:nvSpPr>
        <p:spPr bwMode="auto">
          <a:xfrm>
            <a:off x="1295400" y="3810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7655" name="Text Box 6"/>
          <p:cNvSpPr txBox="1">
            <a:spLocks noChangeArrowheads="1"/>
          </p:cNvSpPr>
          <p:nvPr/>
        </p:nvSpPr>
        <p:spPr bwMode="auto">
          <a:xfrm>
            <a:off x="1295400" y="3505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7656" name="Text Box 7"/>
          <p:cNvSpPr txBox="1">
            <a:spLocks noChangeArrowheads="1"/>
          </p:cNvSpPr>
          <p:nvPr/>
        </p:nvSpPr>
        <p:spPr bwMode="auto">
          <a:xfrm>
            <a:off x="1295400" y="3200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7657" name="Text Box 8"/>
          <p:cNvSpPr txBox="1">
            <a:spLocks noChangeArrowheads="1"/>
          </p:cNvSpPr>
          <p:nvPr/>
        </p:nvSpPr>
        <p:spPr bwMode="auto">
          <a:xfrm>
            <a:off x="2438400" y="3962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7658" name="Text Box 9"/>
          <p:cNvSpPr txBox="1">
            <a:spLocks noChangeArrowheads="1"/>
          </p:cNvSpPr>
          <p:nvPr/>
        </p:nvSpPr>
        <p:spPr bwMode="auto">
          <a:xfrm>
            <a:off x="2438400" y="4419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7659" name="Text Box 10"/>
          <p:cNvSpPr txBox="1">
            <a:spLocks noChangeArrowheads="1"/>
          </p:cNvSpPr>
          <p:nvPr/>
        </p:nvSpPr>
        <p:spPr bwMode="auto">
          <a:xfrm>
            <a:off x="2438400" y="3581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7660" name="Text Box 11"/>
          <p:cNvSpPr txBox="1">
            <a:spLocks noChangeArrowheads="1"/>
          </p:cNvSpPr>
          <p:nvPr/>
        </p:nvSpPr>
        <p:spPr bwMode="auto">
          <a:xfrm>
            <a:off x="2438400" y="3200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7661" name="Line 12"/>
          <p:cNvSpPr>
            <a:spLocks noChangeShapeType="1"/>
          </p:cNvSpPr>
          <p:nvPr/>
        </p:nvSpPr>
        <p:spPr bwMode="auto">
          <a:xfrm>
            <a:off x="1447800" y="3429000"/>
            <a:ext cx="1143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2" name="Line 13"/>
          <p:cNvSpPr>
            <a:spLocks noChangeShapeType="1"/>
          </p:cNvSpPr>
          <p:nvPr/>
        </p:nvSpPr>
        <p:spPr bwMode="auto">
          <a:xfrm flipV="1">
            <a:off x="1447800" y="34290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3" name="Line 14"/>
          <p:cNvSpPr>
            <a:spLocks noChangeShapeType="1"/>
          </p:cNvSpPr>
          <p:nvPr/>
        </p:nvSpPr>
        <p:spPr bwMode="auto">
          <a:xfrm>
            <a:off x="1447800" y="40386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4" name="Line 15"/>
          <p:cNvSpPr>
            <a:spLocks noChangeShapeType="1"/>
          </p:cNvSpPr>
          <p:nvPr/>
        </p:nvSpPr>
        <p:spPr bwMode="auto">
          <a:xfrm>
            <a:off x="1447800" y="4419600"/>
            <a:ext cx="1143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5" name="Text Box 16"/>
          <p:cNvSpPr txBox="1">
            <a:spLocks noChangeArrowheads="1"/>
          </p:cNvSpPr>
          <p:nvPr/>
        </p:nvSpPr>
        <p:spPr bwMode="auto">
          <a:xfrm>
            <a:off x="2438400" y="4724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7666" name="Text Box 17"/>
          <p:cNvSpPr txBox="1">
            <a:spLocks noChangeArrowheads="1"/>
          </p:cNvSpPr>
          <p:nvPr/>
        </p:nvSpPr>
        <p:spPr bwMode="auto">
          <a:xfrm>
            <a:off x="1236663" y="5334000"/>
            <a:ext cx="1571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一对一</a:t>
            </a:r>
          </a:p>
        </p:txBody>
      </p:sp>
      <p:sp>
        <p:nvSpPr>
          <p:cNvPr id="27667" name="Text Box 18"/>
          <p:cNvSpPr txBox="1">
            <a:spLocks noChangeArrowheads="1"/>
          </p:cNvSpPr>
          <p:nvPr/>
        </p:nvSpPr>
        <p:spPr bwMode="auto">
          <a:xfrm>
            <a:off x="3657600" y="4191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7668" name="Text Box 19"/>
          <p:cNvSpPr txBox="1">
            <a:spLocks noChangeArrowheads="1"/>
          </p:cNvSpPr>
          <p:nvPr/>
        </p:nvSpPr>
        <p:spPr bwMode="auto">
          <a:xfrm>
            <a:off x="3657600" y="3886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7669" name="Text Box 20"/>
          <p:cNvSpPr txBox="1">
            <a:spLocks noChangeArrowheads="1"/>
          </p:cNvSpPr>
          <p:nvPr/>
        </p:nvSpPr>
        <p:spPr bwMode="auto">
          <a:xfrm>
            <a:off x="3657600" y="3581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7670" name="Text Box 21"/>
          <p:cNvSpPr txBox="1">
            <a:spLocks noChangeArrowheads="1"/>
          </p:cNvSpPr>
          <p:nvPr/>
        </p:nvSpPr>
        <p:spPr bwMode="auto">
          <a:xfrm>
            <a:off x="3657600" y="3276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7671" name="Text Box 22"/>
          <p:cNvSpPr txBox="1">
            <a:spLocks noChangeArrowheads="1"/>
          </p:cNvSpPr>
          <p:nvPr/>
        </p:nvSpPr>
        <p:spPr bwMode="auto">
          <a:xfrm>
            <a:off x="4800600" y="4038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7672" name="Text Box 23"/>
          <p:cNvSpPr txBox="1">
            <a:spLocks noChangeArrowheads="1"/>
          </p:cNvSpPr>
          <p:nvPr/>
        </p:nvSpPr>
        <p:spPr bwMode="auto">
          <a:xfrm>
            <a:off x="4800600" y="4343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7673" name="Text Box 24"/>
          <p:cNvSpPr txBox="1">
            <a:spLocks noChangeArrowheads="1"/>
          </p:cNvSpPr>
          <p:nvPr/>
        </p:nvSpPr>
        <p:spPr bwMode="auto">
          <a:xfrm>
            <a:off x="4800600" y="3657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7674" name="Text Box 25"/>
          <p:cNvSpPr txBox="1">
            <a:spLocks noChangeArrowheads="1"/>
          </p:cNvSpPr>
          <p:nvPr/>
        </p:nvSpPr>
        <p:spPr bwMode="auto">
          <a:xfrm>
            <a:off x="4800600" y="3276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7675" name="Line 26"/>
          <p:cNvSpPr>
            <a:spLocks noChangeShapeType="1"/>
          </p:cNvSpPr>
          <p:nvPr/>
        </p:nvSpPr>
        <p:spPr bwMode="auto">
          <a:xfrm>
            <a:off x="3810000" y="3505200"/>
            <a:ext cx="1143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6" name="Line 27"/>
          <p:cNvSpPr>
            <a:spLocks noChangeShapeType="1"/>
          </p:cNvSpPr>
          <p:nvPr/>
        </p:nvSpPr>
        <p:spPr bwMode="auto">
          <a:xfrm flipV="1">
            <a:off x="3810000" y="35052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7" name="Line 28"/>
          <p:cNvSpPr>
            <a:spLocks noChangeShapeType="1"/>
          </p:cNvSpPr>
          <p:nvPr/>
        </p:nvSpPr>
        <p:spPr bwMode="auto">
          <a:xfrm flipV="1">
            <a:off x="3810000" y="3505200"/>
            <a:ext cx="1143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8" name="Line 29"/>
          <p:cNvSpPr>
            <a:spLocks noChangeShapeType="1"/>
          </p:cNvSpPr>
          <p:nvPr/>
        </p:nvSpPr>
        <p:spPr bwMode="auto">
          <a:xfrm>
            <a:off x="3810000" y="4419600"/>
            <a:ext cx="1143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79" name="Text Box 30"/>
          <p:cNvSpPr txBox="1">
            <a:spLocks noChangeArrowheads="1"/>
          </p:cNvSpPr>
          <p:nvPr/>
        </p:nvSpPr>
        <p:spPr bwMode="auto">
          <a:xfrm>
            <a:off x="4800600" y="4648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7680" name="Text Box 31"/>
          <p:cNvSpPr txBox="1">
            <a:spLocks noChangeArrowheads="1"/>
          </p:cNvSpPr>
          <p:nvPr/>
        </p:nvSpPr>
        <p:spPr bwMode="auto">
          <a:xfrm>
            <a:off x="6324600" y="4343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7681" name="Text Box 32"/>
          <p:cNvSpPr txBox="1">
            <a:spLocks noChangeArrowheads="1"/>
          </p:cNvSpPr>
          <p:nvPr/>
        </p:nvSpPr>
        <p:spPr bwMode="auto">
          <a:xfrm>
            <a:off x="6324600" y="4038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7682" name="Text Box 33"/>
          <p:cNvSpPr txBox="1">
            <a:spLocks noChangeArrowheads="1"/>
          </p:cNvSpPr>
          <p:nvPr/>
        </p:nvSpPr>
        <p:spPr bwMode="auto">
          <a:xfrm>
            <a:off x="6324600" y="37338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7683" name="Text Box 34"/>
          <p:cNvSpPr txBox="1">
            <a:spLocks noChangeArrowheads="1"/>
          </p:cNvSpPr>
          <p:nvPr/>
        </p:nvSpPr>
        <p:spPr bwMode="auto">
          <a:xfrm>
            <a:off x="6324600" y="3429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7684" name="Text Box 35"/>
          <p:cNvSpPr txBox="1">
            <a:spLocks noChangeArrowheads="1"/>
          </p:cNvSpPr>
          <p:nvPr/>
        </p:nvSpPr>
        <p:spPr bwMode="auto">
          <a:xfrm>
            <a:off x="7467600" y="4191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7685" name="Text Box 36"/>
          <p:cNvSpPr txBox="1">
            <a:spLocks noChangeArrowheads="1"/>
          </p:cNvSpPr>
          <p:nvPr/>
        </p:nvSpPr>
        <p:spPr bwMode="auto">
          <a:xfrm>
            <a:off x="7467600" y="44958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7686" name="Text Box 37"/>
          <p:cNvSpPr txBox="1">
            <a:spLocks noChangeArrowheads="1"/>
          </p:cNvSpPr>
          <p:nvPr/>
        </p:nvSpPr>
        <p:spPr bwMode="auto">
          <a:xfrm>
            <a:off x="7467600" y="3810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7687" name="Text Box 38"/>
          <p:cNvSpPr txBox="1">
            <a:spLocks noChangeArrowheads="1"/>
          </p:cNvSpPr>
          <p:nvPr/>
        </p:nvSpPr>
        <p:spPr bwMode="auto">
          <a:xfrm>
            <a:off x="7467600" y="3429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7688" name="Line 39"/>
          <p:cNvSpPr>
            <a:spLocks noChangeShapeType="1"/>
          </p:cNvSpPr>
          <p:nvPr/>
        </p:nvSpPr>
        <p:spPr bwMode="auto">
          <a:xfrm>
            <a:off x="6477000" y="3657600"/>
            <a:ext cx="1143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89" name="Line 40"/>
          <p:cNvSpPr>
            <a:spLocks noChangeShapeType="1"/>
          </p:cNvSpPr>
          <p:nvPr/>
        </p:nvSpPr>
        <p:spPr bwMode="auto">
          <a:xfrm flipV="1">
            <a:off x="6477000" y="36576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0" name="Line 41"/>
          <p:cNvSpPr>
            <a:spLocks noChangeShapeType="1"/>
          </p:cNvSpPr>
          <p:nvPr/>
        </p:nvSpPr>
        <p:spPr bwMode="auto">
          <a:xfrm>
            <a:off x="6477000" y="4267200"/>
            <a:ext cx="1143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1" name="Line 42"/>
          <p:cNvSpPr>
            <a:spLocks noChangeShapeType="1"/>
          </p:cNvSpPr>
          <p:nvPr/>
        </p:nvSpPr>
        <p:spPr bwMode="auto">
          <a:xfrm>
            <a:off x="6477000" y="4572000"/>
            <a:ext cx="1143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2" name="Text Box 43"/>
          <p:cNvSpPr txBox="1">
            <a:spLocks noChangeArrowheads="1"/>
          </p:cNvSpPr>
          <p:nvPr/>
        </p:nvSpPr>
        <p:spPr bwMode="auto">
          <a:xfrm>
            <a:off x="7467600" y="4800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7693" name="Line 44"/>
          <p:cNvSpPr>
            <a:spLocks noChangeShapeType="1"/>
          </p:cNvSpPr>
          <p:nvPr/>
        </p:nvSpPr>
        <p:spPr bwMode="auto">
          <a:xfrm>
            <a:off x="6477000" y="42672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396FB61A-1A91-4DF2-856C-09A92E5A3A82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一对一</a:t>
            </a:r>
            <a:r>
              <a:rPr lang="zh-CN" altLang="en-US">
                <a:ea typeface="宋体" panose="02010600030101010101" pitchFamily="2" charset="-122"/>
              </a:rPr>
              <a:t>函数示例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905000"/>
            <a:ext cx="7772400" cy="41148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这些关系是一一对应的函数吗？</a:t>
            </a:r>
          </a:p>
        </p:txBody>
      </p:sp>
      <p:sp>
        <p:nvSpPr>
          <p:cNvPr id="28677" name="Text Box 4"/>
          <p:cNvSpPr txBox="1">
            <a:spLocks noChangeArrowheads="1"/>
          </p:cNvSpPr>
          <p:nvPr/>
        </p:nvSpPr>
        <p:spPr bwMode="auto">
          <a:xfrm>
            <a:off x="1295400" y="4191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8678" name="Text Box 5"/>
          <p:cNvSpPr txBox="1">
            <a:spLocks noChangeArrowheads="1"/>
          </p:cNvSpPr>
          <p:nvPr/>
        </p:nvSpPr>
        <p:spPr bwMode="auto">
          <a:xfrm>
            <a:off x="1295400" y="3810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8679" name="Text Box 6"/>
          <p:cNvSpPr txBox="1">
            <a:spLocks noChangeArrowheads="1"/>
          </p:cNvSpPr>
          <p:nvPr/>
        </p:nvSpPr>
        <p:spPr bwMode="auto">
          <a:xfrm>
            <a:off x="1295400" y="3505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8680" name="Text Box 7"/>
          <p:cNvSpPr txBox="1">
            <a:spLocks noChangeArrowheads="1"/>
          </p:cNvSpPr>
          <p:nvPr/>
        </p:nvSpPr>
        <p:spPr bwMode="auto">
          <a:xfrm>
            <a:off x="1295400" y="3200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8681" name="Text Box 8"/>
          <p:cNvSpPr txBox="1">
            <a:spLocks noChangeArrowheads="1"/>
          </p:cNvSpPr>
          <p:nvPr/>
        </p:nvSpPr>
        <p:spPr bwMode="auto">
          <a:xfrm>
            <a:off x="2438400" y="3962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8682" name="Text Box 9"/>
          <p:cNvSpPr txBox="1">
            <a:spLocks noChangeArrowheads="1"/>
          </p:cNvSpPr>
          <p:nvPr/>
        </p:nvSpPr>
        <p:spPr bwMode="auto">
          <a:xfrm>
            <a:off x="2438400" y="4419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8683" name="Text Box 10"/>
          <p:cNvSpPr txBox="1">
            <a:spLocks noChangeArrowheads="1"/>
          </p:cNvSpPr>
          <p:nvPr/>
        </p:nvSpPr>
        <p:spPr bwMode="auto">
          <a:xfrm>
            <a:off x="2438400" y="3581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8684" name="Text Box 11"/>
          <p:cNvSpPr txBox="1">
            <a:spLocks noChangeArrowheads="1"/>
          </p:cNvSpPr>
          <p:nvPr/>
        </p:nvSpPr>
        <p:spPr bwMode="auto">
          <a:xfrm>
            <a:off x="2438400" y="3200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8685" name="Line 12"/>
          <p:cNvSpPr>
            <a:spLocks noChangeShapeType="1"/>
          </p:cNvSpPr>
          <p:nvPr/>
        </p:nvSpPr>
        <p:spPr bwMode="auto">
          <a:xfrm>
            <a:off x="1447800" y="3429000"/>
            <a:ext cx="1143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6" name="Line 13"/>
          <p:cNvSpPr>
            <a:spLocks noChangeShapeType="1"/>
          </p:cNvSpPr>
          <p:nvPr/>
        </p:nvSpPr>
        <p:spPr bwMode="auto">
          <a:xfrm flipV="1">
            <a:off x="1447800" y="34290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7" name="Line 14"/>
          <p:cNvSpPr>
            <a:spLocks noChangeShapeType="1"/>
          </p:cNvSpPr>
          <p:nvPr/>
        </p:nvSpPr>
        <p:spPr bwMode="auto">
          <a:xfrm>
            <a:off x="1447800" y="40386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8" name="Line 15"/>
          <p:cNvSpPr>
            <a:spLocks noChangeShapeType="1"/>
          </p:cNvSpPr>
          <p:nvPr/>
        </p:nvSpPr>
        <p:spPr bwMode="auto">
          <a:xfrm>
            <a:off x="1447800" y="4419600"/>
            <a:ext cx="1143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9" name="Text Box 16"/>
          <p:cNvSpPr txBox="1">
            <a:spLocks noChangeArrowheads="1"/>
          </p:cNvSpPr>
          <p:nvPr/>
        </p:nvSpPr>
        <p:spPr bwMode="auto">
          <a:xfrm>
            <a:off x="2438400" y="4724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8690" name="Text Box 17"/>
          <p:cNvSpPr txBox="1">
            <a:spLocks noChangeArrowheads="1"/>
          </p:cNvSpPr>
          <p:nvPr/>
        </p:nvSpPr>
        <p:spPr bwMode="auto">
          <a:xfrm>
            <a:off x="1236663" y="5334000"/>
            <a:ext cx="1571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一对一</a:t>
            </a:r>
          </a:p>
        </p:txBody>
      </p:sp>
      <p:sp>
        <p:nvSpPr>
          <p:cNvPr id="28691" name="Text Box 18"/>
          <p:cNvSpPr txBox="1">
            <a:spLocks noChangeArrowheads="1"/>
          </p:cNvSpPr>
          <p:nvPr/>
        </p:nvSpPr>
        <p:spPr bwMode="auto">
          <a:xfrm>
            <a:off x="3657600" y="4191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8692" name="Text Box 19"/>
          <p:cNvSpPr txBox="1">
            <a:spLocks noChangeArrowheads="1"/>
          </p:cNvSpPr>
          <p:nvPr/>
        </p:nvSpPr>
        <p:spPr bwMode="auto">
          <a:xfrm>
            <a:off x="3657600" y="3886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8693" name="Text Box 20"/>
          <p:cNvSpPr txBox="1">
            <a:spLocks noChangeArrowheads="1"/>
          </p:cNvSpPr>
          <p:nvPr/>
        </p:nvSpPr>
        <p:spPr bwMode="auto">
          <a:xfrm>
            <a:off x="3657600" y="3581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8694" name="Text Box 21"/>
          <p:cNvSpPr txBox="1">
            <a:spLocks noChangeArrowheads="1"/>
          </p:cNvSpPr>
          <p:nvPr/>
        </p:nvSpPr>
        <p:spPr bwMode="auto">
          <a:xfrm>
            <a:off x="3657600" y="3276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8695" name="Text Box 22"/>
          <p:cNvSpPr txBox="1">
            <a:spLocks noChangeArrowheads="1"/>
          </p:cNvSpPr>
          <p:nvPr/>
        </p:nvSpPr>
        <p:spPr bwMode="auto">
          <a:xfrm>
            <a:off x="4800600" y="4038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8696" name="Text Box 23"/>
          <p:cNvSpPr txBox="1">
            <a:spLocks noChangeArrowheads="1"/>
          </p:cNvSpPr>
          <p:nvPr/>
        </p:nvSpPr>
        <p:spPr bwMode="auto">
          <a:xfrm>
            <a:off x="4800600" y="4343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8697" name="Text Box 24"/>
          <p:cNvSpPr txBox="1">
            <a:spLocks noChangeArrowheads="1"/>
          </p:cNvSpPr>
          <p:nvPr/>
        </p:nvSpPr>
        <p:spPr bwMode="auto">
          <a:xfrm>
            <a:off x="4800600" y="3657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8698" name="Text Box 25"/>
          <p:cNvSpPr txBox="1">
            <a:spLocks noChangeArrowheads="1"/>
          </p:cNvSpPr>
          <p:nvPr/>
        </p:nvSpPr>
        <p:spPr bwMode="auto">
          <a:xfrm>
            <a:off x="4800600" y="3276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8699" name="Line 26"/>
          <p:cNvSpPr>
            <a:spLocks noChangeShapeType="1"/>
          </p:cNvSpPr>
          <p:nvPr/>
        </p:nvSpPr>
        <p:spPr bwMode="auto">
          <a:xfrm>
            <a:off x="3810000" y="3505200"/>
            <a:ext cx="1143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00" name="Line 27"/>
          <p:cNvSpPr>
            <a:spLocks noChangeShapeType="1"/>
          </p:cNvSpPr>
          <p:nvPr/>
        </p:nvSpPr>
        <p:spPr bwMode="auto">
          <a:xfrm flipV="1">
            <a:off x="3810000" y="35052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01" name="Line 28"/>
          <p:cNvSpPr>
            <a:spLocks noChangeShapeType="1"/>
          </p:cNvSpPr>
          <p:nvPr/>
        </p:nvSpPr>
        <p:spPr bwMode="auto">
          <a:xfrm flipV="1">
            <a:off x="3810000" y="3505200"/>
            <a:ext cx="1143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02" name="Line 29"/>
          <p:cNvSpPr>
            <a:spLocks noChangeShapeType="1"/>
          </p:cNvSpPr>
          <p:nvPr/>
        </p:nvSpPr>
        <p:spPr bwMode="auto">
          <a:xfrm>
            <a:off x="3810000" y="4419600"/>
            <a:ext cx="1143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03" name="Text Box 30"/>
          <p:cNvSpPr txBox="1">
            <a:spLocks noChangeArrowheads="1"/>
          </p:cNvSpPr>
          <p:nvPr/>
        </p:nvSpPr>
        <p:spPr bwMode="auto">
          <a:xfrm>
            <a:off x="4800600" y="4648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8704" name="Text Box 31"/>
          <p:cNvSpPr txBox="1">
            <a:spLocks noChangeArrowheads="1"/>
          </p:cNvSpPr>
          <p:nvPr/>
        </p:nvSpPr>
        <p:spPr bwMode="auto">
          <a:xfrm>
            <a:off x="3429000" y="5029200"/>
            <a:ext cx="2036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非一对一</a:t>
            </a:r>
          </a:p>
        </p:txBody>
      </p:sp>
      <p:sp>
        <p:nvSpPr>
          <p:cNvPr id="28705" name="Text Box 32"/>
          <p:cNvSpPr txBox="1">
            <a:spLocks noChangeArrowheads="1"/>
          </p:cNvSpPr>
          <p:nvPr/>
        </p:nvSpPr>
        <p:spPr bwMode="auto">
          <a:xfrm>
            <a:off x="6324600" y="4343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8706" name="Text Box 33"/>
          <p:cNvSpPr txBox="1">
            <a:spLocks noChangeArrowheads="1"/>
          </p:cNvSpPr>
          <p:nvPr/>
        </p:nvSpPr>
        <p:spPr bwMode="auto">
          <a:xfrm>
            <a:off x="6324600" y="4038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8707" name="Text Box 34"/>
          <p:cNvSpPr txBox="1">
            <a:spLocks noChangeArrowheads="1"/>
          </p:cNvSpPr>
          <p:nvPr/>
        </p:nvSpPr>
        <p:spPr bwMode="auto">
          <a:xfrm>
            <a:off x="6324600" y="37338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8708" name="Text Box 35"/>
          <p:cNvSpPr txBox="1">
            <a:spLocks noChangeArrowheads="1"/>
          </p:cNvSpPr>
          <p:nvPr/>
        </p:nvSpPr>
        <p:spPr bwMode="auto">
          <a:xfrm>
            <a:off x="6324600" y="3429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8709" name="Text Box 36"/>
          <p:cNvSpPr txBox="1">
            <a:spLocks noChangeArrowheads="1"/>
          </p:cNvSpPr>
          <p:nvPr/>
        </p:nvSpPr>
        <p:spPr bwMode="auto">
          <a:xfrm>
            <a:off x="7467600" y="4191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8710" name="Text Box 37"/>
          <p:cNvSpPr txBox="1">
            <a:spLocks noChangeArrowheads="1"/>
          </p:cNvSpPr>
          <p:nvPr/>
        </p:nvSpPr>
        <p:spPr bwMode="auto">
          <a:xfrm>
            <a:off x="7467600" y="44958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8711" name="Text Box 38"/>
          <p:cNvSpPr txBox="1">
            <a:spLocks noChangeArrowheads="1"/>
          </p:cNvSpPr>
          <p:nvPr/>
        </p:nvSpPr>
        <p:spPr bwMode="auto">
          <a:xfrm>
            <a:off x="7467600" y="3810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8712" name="Text Box 39"/>
          <p:cNvSpPr txBox="1">
            <a:spLocks noChangeArrowheads="1"/>
          </p:cNvSpPr>
          <p:nvPr/>
        </p:nvSpPr>
        <p:spPr bwMode="auto">
          <a:xfrm>
            <a:off x="7467600" y="3429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8713" name="Line 40"/>
          <p:cNvSpPr>
            <a:spLocks noChangeShapeType="1"/>
          </p:cNvSpPr>
          <p:nvPr/>
        </p:nvSpPr>
        <p:spPr bwMode="auto">
          <a:xfrm>
            <a:off x="6477000" y="3657600"/>
            <a:ext cx="1143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14" name="Line 41"/>
          <p:cNvSpPr>
            <a:spLocks noChangeShapeType="1"/>
          </p:cNvSpPr>
          <p:nvPr/>
        </p:nvSpPr>
        <p:spPr bwMode="auto">
          <a:xfrm flipV="1">
            <a:off x="6477000" y="36576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15" name="Line 42"/>
          <p:cNvSpPr>
            <a:spLocks noChangeShapeType="1"/>
          </p:cNvSpPr>
          <p:nvPr/>
        </p:nvSpPr>
        <p:spPr bwMode="auto">
          <a:xfrm>
            <a:off x="6477000" y="4267200"/>
            <a:ext cx="1143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16" name="Line 43"/>
          <p:cNvSpPr>
            <a:spLocks noChangeShapeType="1"/>
          </p:cNvSpPr>
          <p:nvPr/>
        </p:nvSpPr>
        <p:spPr bwMode="auto">
          <a:xfrm>
            <a:off x="6477000" y="4572000"/>
            <a:ext cx="1143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17" name="Text Box 44"/>
          <p:cNvSpPr txBox="1">
            <a:spLocks noChangeArrowheads="1"/>
          </p:cNvSpPr>
          <p:nvPr/>
        </p:nvSpPr>
        <p:spPr bwMode="auto">
          <a:xfrm>
            <a:off x="7467600" y="4800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28718" name="Line 45"/>
          <p:cNvSpPr>
            <a:spLocks noChangeShapeType="1"/>
          </p:cNvSpPr>
          <p:nvPr/>
        </p:nvSpPr>
        <p:spPr bwMode="auto">
          <a:xfrm>
            <a:off x="6477000" y="42672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2726CAEC-83FC-4542-96C6-468F00281A80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一对一</a:t>
            </a:r>
            <a:r>
              <a:rPr lang="zh-CN" altLang="en-US">
                <a:ea typeface="宋体" panose="02010600030101010101" pitchFamily="2" charset="-122"/>
              </a:rPr>
              <a:t>函数示例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905000"/>
            <a:ext cx="7772400" cy="41148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这些关系是一一对应的函数吗？</a:t>
            </a:r>
          </a:p>
        </p:txBody>
      </p:sp>
      <p:sp>
        <p:nvSpPr>
          <p:cNvPr id="29714" name="Text Box 17"/>
          <p:cNvSpPr txBox="1">
            <a:spLocks noChangeArrowheads="1"/>
          </p:cNvSpPr>
          <p:nvPr/>
        </p:nvSpPr>
        <p:spPr bwMode="auto">
          <a:xfrm>
            <a:off x="1236663" y="5334000"/>
            <a:ext cx="1571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一对一</a:t>
            </a:r>
          </a:p>
        </p:txBody>
      </p:sp>
      <p:sp>
        <p:nvSpPr>
          <p:cNvPr id="29728" name="Text Box 31"/>
          <p:cNvSpPr txBox="1">
            <a:spLocks noChangeArrowheads="1"/>
          </p:cNvSpPr>
          <p:nvPr/>
        </p:nvSpPr>
        <p:spPr bwMode="auto">
          <a:xfrm>
            <a:off x="3389154" y="5334000"/>
            <a:ext cx="2036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dirty="0" err="1">
                <a:latin typeface="Times New Roman" panose="02020603050405020304" pitchFamily="18" charset="0"/>
              </a:rPr>
              <a:t>非一对一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29742" name="Text Box 45"/>
          <p:cNvSpPr txBox="1">
            <a:spLocks noChangeArrowheads="1"/>
          </p:cNvSpPr>
          <p:nvPr/>
        </p:nvSpPr>
        <p:spPr bwMode="auto">
          <a:xfrm>
            <a:off x="6006783" y="5256213"/>
            <a:ext cx="23164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dirty="0" err="1">
                <a:latin typeface="Times New Roman" panose="02020603050405020304" pitchFamily="18" charset="0"/>
              </a:rPr>
              <a:t>甚至</a:t>
            </a:r>
            <a:r>
              <a:rPr lang="zh-CN" altLang="en-US" sz="2400" dirty="0">
                <a:latin typeface="Times New Roman" panose="02020603050405020304" pitchFamily="18" charset="0"/>
              </a:rPr>
              <a:t>不是函数</a:t>
            </a:r>
            <a:r>
              <a:rPr lang="en-US" altLang="zh-CN" sz="2400" dirty="0">
                <a:latin typeface="Times New Roman" panose="02020603050405020304" pitchFamily="18" charset="0"/>
              </a:rPr>
              <a:t>！</a:t>
            </a:r>
          </a:p>
        </p:txBody>
      </p:sp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1295400" y="4191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•</a:t>
            </a: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1295400" y="3810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•</a:t>
            </a: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1295400" y="3505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•</a:t>
            </a: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295400" y="3200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•</a:t>
            </a: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2438400" y="3962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•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2438400" y="4419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•</a:t>
            </a: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2438400" y="3581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•</a:t>
            </a: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2438400" y="3200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•</a:t>
            </a:r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>
            <a:off x="1447800" y="3429000"/>
            <a:ext cx="1143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 flipV="1">
            <a:off x="1447800" y="34290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>
            <a:off x="1447800" y="40386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15"/>
          <p:cNvSpPr>
            <a:spLocks noChangeShapeType="1"/>
          </p:cNvSpPr>
          <p:nvPr/>
        </p:nvSpPr>
        <p:spPr bwMode="auto">
          <a:xfrm>
            <a:off x="1447800" y="4419600"/>
            <a:ext cx="1143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Box 18"/>
          <p:cNvSpPr txBox="1">
            <a:spLocks noChangeArrowheads="1"/>
          </p:cNvSpPr>
          <p:nvPr/>
        </p:nvSpPr>
        <p:spPr bwMode="auto">
          <a:xfrm>
            <a:off x="3657600" y="4191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•</a:t>
            </a:r>
          </a:p>
        </p:txBody>
      </p:sp>
      <p:sp>
        <p:nvSpPr>
          <p:cNvPr id="15" name="Text Box 19"/>
          <p:cNvSpPr txBox="1">
            <a:spLocks noChangeArrowheads="1"/>
          </p:cNvSpPr>
          <p:nvPr/>
        </p:nvSpPr>
        <p:spPr bwMode="auto">
          <a:xfrm>
            <a:off x="3657600" y="3886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•</a:t>
            </a:r>
          </a:p>
        </p:txBody>
      </p:sp>
      <p:sp>
        <p:nvSpPr>
          <p:cNvPr id="16" name="Text Box 20"/>
          <p:cNvSpPr txBox="1">
            <a:spLocks noChangeArrowheads="1"/>
          </p:cNvSpPr>
          <p:nvPr/>
        </p:nvSpPr>
        <p:spPr bwMode="auto">
          <a:xfrm>
            <a:off x="3657600" y="3581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•</a:t>
            </a:r>
          </a:p>
        </p:txBody>
      </p:sp>
      <p:sp>
        <p:nvSpPr>
          <p:cNvPr id="17" name="Text Box 21"/>
          <p:cNvSpPr txBox="1">
            <a:spLocks noChangeArrowheads="1"/>
          </p:cNvSpPr>
          <p:nvPr/>
        </p:nvSpPr>
        <p:spPr bwMode="auto">
          <a:xfrm>
            <a:off x="3657600" y="3276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•</a:t>
            </a:r>
          </a:p>
        </p:txBody>
      </p:sp>
      <p:sp>
        <p:nvSpPr>
          <p:cNvPr id="18" name="Text Box 22"/>
          <p:cNvSpPr txBox="1">
            <a:spLocks noChangeArrowheads="1"/>
          </p:cNvSpPr>
          <p:nvPr/>
        </p:nvSpPr>
        <p:spPr bwMode="auto">
          <a:xfrm>
            <a:off x="4800600" y="4038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•</a:t>
            </a:r>
          </a:p>
        </p:txBody>
      </p:sp>
      <p:sp>
        <p:nvSpPr>
          <p:cNvPr id="19" name="Text Box 23"/>
          <p:cNvSpPr txBox="1">
            <a:spLocks noChangeArrowheads="1"/>
          </p:cNvSpPr>
          <p:nvPr/>
        </p:nvSpPr>
        <p:spPr bwMode="auto">
          <a:xfrm>
            <a:off x="4800600" y="4343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•</a:t>
            </a:r>
          </a:p>
        </p:txBody>
      </p:sp>
      <p:sp>
        <p:nvSpPr>
          <p:cNvPr id="20" name="Text Box 24"/>
          <p:cNvSpPr txBox="1">
            <a:spLocks noChangeArrowheads="1"/>
          </p:cNvSpPr>
          <p:nvPr/>
        </p:nvSpPr>
        <p:spPr bwMode="auto">
          <a:xfrm>
            <a:off x="4800600" y="3657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•</a:t>
            </a:r>
          </a:p>
        </p:txBody>
      </p:sp>
      <p:sp>
        <p:nvSpPr>
          <p:cNvPr id="21" name="Text Box 25"/>
          <p:cNvSpPr txBox="1">
            <a:spLocks noChangeArrowheads="1"/>
          </p:cNvSpPr>
          <p:nvPr/>
        </p:nvSpPr>
        <p:spPr bwMode="auto">
          <a:xfrm>
            <a:off x="4800600" y="3276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•</a:t>
            </a:r>
          </a:p>
        </p:txBody>
      </p:sp>
      <p:sp>
        <p:nvSpPr>
          <p:cNvPr id="22" name="Line 26"/>
          <p:cNvSpPr>
            <a:spLocks noChangeShapeType="1"/>
          </p:cNvSpPr>
          <p:nvPr/>
        </p:nvSpPr>
        <p:spPr bwMode="auto">
          <a:xfrm>
            <a:off x="3810000" y="3505200"/>
            <a:ext cx="1143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Line 27"/>
          <p:cNvSpPr>
            <a:spLocks noChangeShapeType="1"/>
          </p:cNvSpPr>
          <p:nvPr/>
        </p:nvSpPr>
        <p:spPr bwMode="auto">
          <a:xfrm flipV="1">
            <a:off x="3810000" y="35052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Line 28"/>
          <p:cNvSpPr>
            <a:spLocks noChangeShapeType="1"/>
          </p:cNvSpPr>
          <p:nvPr/>
        </p:nvSpPr>
        <p:spPr bwMode="auto">
          <a:xfrm flipV="1">
            <a:off x="3810000" y="3505200"/>
            <a:ext cx="1143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Line 29"/>
          <p:cNvSpPr>
            <a:spLocks noChangeShapeType="1"/>
          </p:cNvSpPr>
          <p:nvPr/>
        </p:nvSpPr>
        <p:spPr bwMode="auto">
          <a:xfrm>
            <a:off x="3810000" y="4419600"/>
            <a:ext cx="1143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Text Box 9"/>
          <p:cNvSpPr txBox="1">
            <a:spLocks noChangeArrowheads="1"/>
          </p:cNvSpPr>
          <p:nvPr/>
        </p:nvSpPr>
        <p:spPr bwMode="auto">
          <a:xfrm>
            <a:off x="2438400" y="4724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•</a:t>
            </a:r>
          </a:p>
        </p:txBody>
      </p:sp>
      <p:sp>
        <p:nvSpPr>
          <p:cNvPr id="27" name="Text Box 9"/>
          <p:cNvSpPr txBox="1">
            <a:spLocks noChangeArrowheads="1"/>
          </p:cNvSpPr>
          <p:nvPr/>
        </p:nvSpPr>
        <p:spPr bwMode="auto">
          <a:xfrm>
            <a:off x="4800600" y="4648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•</a:t>
            </a:r>
          </a:p>
        </p:txBody>
      </p:sp>
      <p:sp>
        <p:nvSpPr>
          <p:cNvPr id="28" name="Text Box 32"/>
          <p:cNvSpPr txBox="1">
            <a:spLocks noChangeArrowheads="1"/>
          </p:cNvSpPr>
          <p:nvPr/>
        </p:nvSpPr>
        <p:spPr bwMode="auto">
          <a:xfrm>
            <a:off x="6324600" y="4343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•</a:t>
            </a:r>
          </a:p>
        </p:txBody>
      </p:sp>
      <p:sp>
        <p:nvSpPr>
          <p:cNvPr id="29" name="Text Box 33"/>
          <p:cNvSpPr txBox="1">
            <a:spLocks noChangeArrowheads="1"/>
          </p:cNvSpPr>
          <p:nvPr/>
        </p:nvSpPr>
        <p:spPr bwMode="auto">
          <a:xfrm>
            <a:off x="6324600" y="4038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•</a:t>
            </a:r>
          </a:p>
        </p:txBody>
      </p:sp>
      <p:sp>
        <p:nvSpPr>
          <p:cNvPr id="30" name="Text Box 34"/>
          <p:cNvSpPr txBox="1">
            <a:spLocks noChangeArrowheads="1"/>
          </p:cNvSpPr>
          <p:nvPr/>
        </p:nvSpPr>
        <p:spPr bwMode="auto">
          <a:xfrm>
            <a:off x="6324600" y="37338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•</a:t>
            </a:r>
          </a:p>
        </p:txBody>
      </p:sp>
      <p:sp>
        <p:nvSpPr>
          <p:cNvPr id="31" name="Text Box 35"/>
          <p:cNvSpPr txBox="1">
            <a:spLocks noChangeArrowheads="1"/>
          </p:cNvSpPr>
          <p:nvPr/>
        </p:nvSpPr>
        <p:spPr bwMode="auto">
          <a:xfrm>
            <a:off x="6324600" y="3429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•</a:t>
            </a:r>
          </a:p>
        </p:txBody>
      </p:sp>
      <p:sp>
        <p:nvSpPr>
          <p:cNvPr id="32" name="Text Box 36"/>
          <p:cNvSpPr txBox="1">
            <a:spLocks noChangeArrowheads="1"/>
          </p:cNvSpPr>
          <p:nvPr/>
        </p:nvSpPr>
        <p:spPr bwMode="auto">
          <a:xfrm>
            <a:off x="7467600" y="4191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•</a:t>
            </a:r>
          </a:p>
        </p:txBody>
      </p:sp>
      <p:sp>
        <p:nvSpPr>
          <p:cNvPr id="33" name="Text Box 37"/>
          <p:cNvSpPr txBox="1">
            <a:spLocks noChangeArrowheads="1"/>
          </p:cNvSpPr>
          <p:nvPr/>
        </p:nvSpPr>
        <p:spPr bwMode="auto">
          <a:xfrm>
            <a:off x="7467600" y="44958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•</a:t>
            </a:r>
          </a:p>
        </p:txBody>
      </p:sp>
      <p:sp>
        <p:nvSpPr>
          <p:cNvPr id="34" name="Text Box 38"/>
          <p:cNvSpPr txBox="1">
            <a:spLocks noChangeArrowheads="1"/>
          </p:cNvSpPr>
          <p:nvPr/>
        </p:nvSpPr>
        <p:spPr bwMode="auto">
          <a:xfrm>
            <a:off x="7467600" y="3810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•</a:t>
            </a:r>
          </a:p>
        </p:txBody>
      </p:sp>
      <p:sp>
        <p:nvSpPr>
          <p:cNvPr id="35" name="Text Box 39"/>
          <p:cNvSpPr txBox="1">
            <a:spLocks noChangeArrowheads="1"/>
          </p:cNvSpPr>
          <p:nvPr/>
        </p:nvSpPr>
        <p:spPr bwMode="auto">
          <a:xfrm>
            <a:off x="7467600" y="3429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•</a:t>
            </a:r>
          </a:p>
        </p:txBody>
      </p:sp>
      <p:sp>
        <p:nvSpPr>
          <p:cNvPr id="36" name="Line 40"/>
          <p:cNvSpPr>
            <a:spLocks noChangeShapeType="1"/>
          </p:cNvSpPr>
          <p:nvPr/>
        </p:nvSpPr>
        <p:spPr bwMode="auto">
          <a:xfrm>
            <a:off x="6477000" y="3657600"/>
            <a:ext cx="1143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Line 41"/>
          <p:cNvSpPr>
            <a:spLocks noChangeShapeType="1"/>
          </p:cNvSpPr>
          <p:nvPr/>
        </p:nvSpPr>
        <p:spPr bwMode="auto">
          <a:xfrm flipV="1">
            <a:off x="6477000" y="36576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Line 42"/>
          <p:cNvSpPr>
            <a:spLocks noChangeShapeType="1"/>
          </p:cNvSpPr>
          <p:nvPr/>
        </p:nvSpPr>
        <p:spPr bwMode="auto">
          <a:xfrm>
            <a:off x="6477000" y="4267200"/>
            <a:ext cx="1143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Line 43"/>
          <p:cNvSpPr>
            <a:spLocks noChangeShapeType="1"/>
          </p:cNvSpPr>
          <p:nvPr/>
        </p:nvSpPr>
        <p:spPr bwMode="auto">
          <a:xfrm>
            <a:off x="6477000" y="4572000"/>
            <a:ext cx="1143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Line 46"/>
          <p:cNvSpPr>
            <a:spLocks noChangeShapeType="1"/>
          </p:cNvSpPr>
          <p:nvPr/>
        </p:nvSpPr>
        <p:spPr bwMode="auto">
          <a:xfrm>
            <a:off x="6477000" y="42672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Text Box 23"/>
          <p:cNvSpPr txBox="1">
            <a:spLocks noChangeArrowheads="1"/>
          </p:cNvSpPr>
          <p:nvPr/>
        </p:nvSpPr>
        <p:spPr bwMode="auto">
          <a:xfrm>
            <a:off x="7543800" y="4800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•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F4BF2585-F459-4D54-8A00-83423884F3CA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1-1 </a:t>
            </a:r>
            <a:r>
              <a:rPr lang="zh-CN" altLang="en-US">
                <a:ea typeface="宋体" panose="02010600030101010101" pitchFamily="2" charset="-122"/>
              </a:rPr>
              <a:t>映射</a:t>
            </a:r>
            <a:r>
              <a:rPr lang="en-US" altLang="zh-CN">
                <a:ea typeface="宋体" panose="02010600030101010101" pitchFamily="2" charset="-122"/>
              </a:rPr>
              <a:t>的充分条件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对于数上的函数 </a:t>
            </a:r>
            <a:r>
              <a:rPr lang="en-US" altLang="zh-CN" i="1">
                <a:ea typeface="宋体" panose="02010600030101010101" pitchFamily="2" charset="-122"/>
              </a:rPr>
              <a:t>f</a:t>
            </a:r>
            <a:r>
              <a:rPr lang="en-US" altLang="zh-CN">
                <a:ea typeface="宋体" panose="02010600030101010101" pitchFamily="2" charset="-122"/>
              </a:rPr>
              <a:t>，我们说</a:t>
            </a:r>
          </a:p>
          <a:p>
            <a:pPr lvl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对于</a:t>
            </a:r>
            <a:r>
              <a:rPr lang="zh-CN" altLang="en-US" b="1">
                <a:solidFill>
                  <a:srgbClr val="030711"/>
                </a:solidFill>
                <a:ea typeface="宋体" panose="02010600030101010101" pitchFamily="2" charset="-122"/>
              </a:rPr>
              <a:t>定义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域中的所有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x，y，f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是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严格递增的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，如果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x&gt;y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x)&gt;f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y)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；</a:t>
            </a:r>
          </a:p>
          <a:p>
            <a:pPr lvl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对于</a:t>
            </a:r>
            <a:r>
              <a:rPr lang="zh-CN" altLang="en-US" b="1">
                <a:solidFill>
                  <a:srgbClr val="030711"/>
                </a:solidFill>
                <a:ea typeface="宋体" panose="02010600030101010101" pitchFamily="2" charset="-122"/>
              </a:rPr>
              <a:t>定义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域中的所有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x，y，f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是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严格递减的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，如果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x&gt;y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x)&lt;f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</a:rPr>
              <a:t>) ；</a:t>
            </a:r>
          </a:p>
          <a:p>
            <a:r>
              <a:rPr lang="en-US" altLang="zh-CN">
                <a:ea typeface="宋体" panose="02010600030101010101" pitchFamily="2" charset="-122"/>
              </a:rPr>
              <a:t>如果 </a:t>
            </a:r>
            <a:r>
              <a:rPr lang="en-US" altLang="zh-CN" i="1">
                <a:ea typeface="宋体" panose="02010600030101010101" pitchFamily="2" charset="-122"/>
              </a:rPr>
              <a:t>f </a:t>
            </a:r>
            <a:r>
              <a:rPr lang="en-US" altLang="zh-CN">
                <a:ea typeface="宋体" panose="02010600030101010101" pitchFamily="2" charset="-122"/>
              </a:rPr>
              <a:t>是严格递增或严格递减的，那么 </a:t>
            </a:r>
            <a:r>
              <a:rPr lang="en-US" altLang="zh-CN" i="1">
                <a:ea typeface="宋体" panose="02010600030101010101" pitchFamily="2" charset="-122"/>
              </a:rPr>
              <a:t>f </a:t>
            </a:r>
            <a:r>
              <a:rPr lang="en-US" altLang="zh-CN">
                <a:ea typeface="宋体" panose="02010600030101010101" pitchFamily="2" charset="-122"/>
              </a:rPr>
              <a:t>一定是一一对应的。</a:t>
            </a:r>
          </a:p>
          <a:p>
            <a:pPr lvl="1"/>
            <a:r>
              <a:rPr lang="en-GB" altLang="en-US" b="1">
                <a:solidFill>
                  <a:srgbClr val="030711"/>
                </a:solidFill>
                <a:ea typeface="宋体" panose="02010600030101010101" pitchFamily="2" charset="-122"/>
              </a:rPr>
              <a:t>反之亦然吗？</a:t>
            </a:r>
            <a:endParaRPr lang="en-US" altLang="zh-CN" b="1">
              <a:solidFill>
                <a:srgbClr val="03071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5C321C24-DDA7-4384-97E4-AC66E9D8215F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endParaRPr lang="zh-CN" altLang="zh-CN">
              <a:ea typeface="宋体" panose="02010600030101010101" pitchFamily="2" charset="-122"/>
            </a:endParaRP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609600" indent="-609600"/>
            <a:r>
              <a:rPr lang="en-US" altLang="zh-CN">
                <a:ea typeface="宋体" panose="02010600030101010101" pitchFamily="2" charset="-122"/>
              </a:rPr>
              <a:t>如果 </a:t>
            </a:r>
            <a:r>
              <a:rPr lang="en-US" altLang="zh-CN" i="1">
                <a:ea typeface="宋体" panose="02010600030101010101" pitchFamily="2" charset="-122"/>
              </a:rPr>
              <a:t>f </a:t>
            </a:r>
            <a:r>
              <a:rPr lang="en-US" altLang="zh-CN">
                <a:ea typeface="宋体" panose="02010600030101010101" pitchFamily="2" charset="-122"/>
              </a:rPr>
              <a:t>是严格递增或严格递减的，那么 </a:t>
            </a:r>
            <a:r>
              <a:rPr lang="en-US" altLang="zh-CN" i="1">
                <a:ea typeface="宋体" panose="02010600030101010101" pitchFamily="2" charset="-122"/>
              </a:rPr>
              <a:t>f </a:t>
            </a:r>
            <a:r>
              <a:rPr lang="en-US" altLang="zh-CN">
                <a:ea typeface="宋体" panose="02010600030101010101" pitchFamily="2" charset="-122"/>
              </a:rPr>
              <a:t>就是一一对应的。</a:t>
            </a:r>
          </a:p>
          <a:p>
            <a:pPr marL="990600" lvl="1" indent="-533400"/>
            <a:r>
              <a:rPr lang="en-GB" altLang="en-US">
                <a:ea typeface="宋体" panose="02010600030101010101" pitchFamily="2" charset="-122"/>
              </a:rPr>
              <a:t>反之亦然吗？否</a:t>
            </a:r>
          </a:p>
          <a:p>
            <a:pPr marL="609600" indent="-609600"/>
            <a:r>
              <a:rPr lang="en-GB" altLang="en-US">
                <a:ea typeface="宋体" panose="02010600030101010101" pitchFamily="2" charset="-122"/>
              </a:rPr>
              <a:t>例如，f:N</a:t>
            </a:r>
            <a:r>
              <a:rPr lang="en-GB" altLang="en-US">
                <a:ea typeface="宋体" panose="02010600030101010101" pitchFamily="2" charset="-122"/>
                <a:sym typeface="Wingdings" panose="05000000000000000000" pitchFamily="2" charset="2"/>
              </a:rPr>
              <a:t>N</a:t>
            </a:r>
            <a:r>
              <a:rPr lang="en-GB" altLang="en-US">
                <a:ea typeface="宋体" panose="02010600030101010101" pitchFamily="2" charset="-122"/>
              </a:rPr>
              <a:t>，这样</a:t>
            </a:r>
            <a:br>
              <a:rPr lang="en-GB" altLang="en-US">
                <a:ea typeface="宋体" panose="02010600030101010101" pitchFamily="2" charset="-122"/>
              </a:rPr>
            </a:br>
            <a:r>
              <a:rPr lang="en-GB" altLang="en-US">
                <a:ea typeface="宋体" panose="02010600030101010101" pitchFamily="2" charset="-122"/>
              </a:rPr>
              <a:t>如果 x 是偶数，则 f(x)=x+1</a:t>
            </a:r>
            <a:br>
              <a:rPr lang="en-GB" altLang="en-US">
                <a:ea typeface="宋体" panose="02010600030101010101" pitchFamily="2" charset="-122"/>
              </a:rPr>
            </a:br>
            <a:r>
              <a:rPr lang="en-GB" altLang="en-US">
                <a:ea typeface="宋体" panose="02010600030101010101" pitchFamily="2" charset="-122"/>
              </a:rPr>
              <a:t>如果 x 是奇数，则 f(x)=x-1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812FE286-CE0A-4644-87C3-25A7B803FF86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29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满射</a:t>
            </a:r>
            <a:r>
              <a:rPr lang="en-US" altLang="zh-CN">
                <a:ea typeface="宋体" panose="02010600030101010101" pitchFamily="2" charset="-122"/>
              </a:rPr>
              <a:t>函数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600200"/>
            <a:ext cx="7772400" cy="42672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如果</a:t>
            </a:r>
            <a:r>
              <a:rPr lang="en-US" altLang="zh-CN">
                <a:ea typeface="宋体" panose="02010600030101010101" pitchFamily="2" charset="-122"/>
              </a:rPr>
              <a:t>函数 </a:t>
            </a:r>
            <a:r>
              <a:rPr lang="en-US" altLang="zh-CN" i="1">
                <a:ea typeface="宋体" panose="02010600030101010101" pitchFamily="2" charset="-122"/>
              </a:rPr>
              <a:t>f</a:t>
            </a:r>
            <a:r>
              <a:rPr lang="en-US" altLang="zh-CN">
                <a:ea typeface="宋体" panose="02010600030101010101" pitchFamily="2" charset="-122"/>
              </a:rPr>
              <a:t>: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AB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的</a:t>
            </a: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取值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范围等于其 </a:t>
            </a: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值域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b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B，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a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A：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)=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）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则</a:t>
            </a:r>
            <a:r>
              <a:rPr lang="en-US" altLang="zh-CN">
                <a:ea typeface="宋体" panose="02010600030101010101" pitchFamily="2" charset="-122"/>
              </a:rPr>
              <a:t>函数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>
                <a:ea typeface="宋体" panose="02010600030101010101" pitchFamily="2" charset="-122"/>
              </a:rPr>
              <a:t>: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AB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是</a:t>
            </a: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满射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考虑</a:t>
            </a:r>
            <a:r>
              <a:rPr lang="en-US" altLang="zh-CN" i="1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"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出生国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"：AB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、</a:t>
            </a:r>
            <a:b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Wingdings" panose="05000000000000000000" pitchFamily="2" charset="2"/>
              </a:rPr>
            </a:b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其中 A=人，B=国家。 </a:t>
            </a:r>
            <a:b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Wingdings" panose="05000000000000000000" pitchFamily="2" charset="2"/>
              </a:rPr>
            </a:br>
            <a: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这是函数吗？ </a:t>
            </a:r>
            <a:b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是</a:t>
            </a:r>
            <a:r>
              <a:rPr lang="zh-CN" altLang="en-US" sz="2800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单射</a:t>
            </a:r>
            <a: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吗？ </a:t>
            </a:r>
            <a:b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是</a:t>
            </a:r>
            <a:r>
              <a:rPr lang="zh-CN" altLang="en-US" sz="2800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满</a:t>
            </a:r>
            <a:r>
              <a:rPr lang="en-US" altLang="zh-CN" sz="2800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射吗？</a:t>
            </a:r>
            <a:endParaRPr lang="en-US" altLang="zh-CN" sz="2800" b="1" i="1">
              <a:solidFill>
                <a:srgbClr val="03071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6BC4762F-3399-49BB-AC14-1C8AD50D9CA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满射</a:t>
            </a:r>
            <a:r>
              <a:rPr lang="en-US" altLang="zh-CN">
                <a:ea typeface="宋体" panose="02010600030101010101" pitchFamily="2" charset="-122"/>
              </a:rPr>
              <a:t>函数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524000"/>
            <a:ext cx="8610600" cy="4267200"/>
          </a:xfrm>
        </p:spPr>
        <p:txBody>
          <a:bodyPr/>
          <a:lstStyle/>
          <a:p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如果</a:t>
            </a:r>
            <a:r>
              <a:rPr lang="en-US" altLang="zh-CN" dirty="0" err="1">
                <a:ea typeface="宋体" panose="02010600030101010101" pitchFamily="2" charset="-122"/>
              </a:rPr>
              <a:t>函数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 err="1">
                <a:ea typeface="宋体" panose="02010600030101010101" pitchFamily="2" charset="-122"/>
              </a:rPr>
              <a:t>f</a:t>
            </a:r>
            <a:r>
              <a:rPr lang="en-US" altLang="zh-CN" dirty="0" err="1">
                <a:ea typeface="宋体" panose="02010600030101010101" pitchFamily="2" charset="-122"/>
              </a:rPr>
              <a:t>:</a:t>
            </a:r>
            <a:r>
              <a:rPr lang="en-US" altLang="zh-CN" i="1" dirty="0" err="1">
                <a:ea typeface="宋体" panose="02010600030101010101" pitchFamily="2" charset="-122"/>
                <a:sym typeface="Symbol" panose="05050102010706020507" pitchFamily="18" charset="2"/>
              </a:rPr>
              <a:t>AB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的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取值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范围等于其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值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域，则该</a:t>
            </a:r>
            <a:r>
              <a:rPr lang="en-US" altLang="zh-CN" dirty="0" err="1">
                <a:ea typeface="宋体" panose="02010600030101010101" pitchFamily="2" charset="-122"/>
              </a:rPr>
              <a:t>函数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ea typeface="宋体" panose="02010600030101010101" pitchFamily="2" charset="-122"/>
              </a:rPr>
              <a:t>f 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是</a:t>
            </a:r>
            <a:r>
              <a:rPr lang="zh-CN" altLang="en-US" i="1" dirty="0">
                <a:ea typeface="宋体" panose="02010600030101010101" pitchFamily="2" charset="-122"/>
                <a:sym typeface="Symbol" panose="05050102010706020507" pitchFamily="18" charset="2"/>
              </a:rPr>
              <a:t>满射</a:t>
            </a:r>
            <a:r>
              <a:rPr lang="en-US" altLang="zh-CN" i="1" dirty="0" err="1">
                <a:ea typeface="宋体" panose="02010600030101010101" pitchFamily="2" charset="-122"/>
                <a:sym typeface="Symbol" panose="05050102010706020507" pitchFamily="18" charset="2"/>
              </a:rPr>
              <a:t>的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</a:p>
          <a:p>
            <a:r>
              <a:rPr lang="en-US" altLang="zh-CN" b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考虑</a:t>
            </a:r>
            <a:r>
              <a:rPr lang="en-US" altLang="zh-CN" b="1" i="1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"</a:t>
            </a:r>
            <a:r>
              <a:rPr lang="en-US" altLang="zh-CN" b="1" i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出生国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"：A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、</a:t>
            </a:r>
            <a:b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Wingdings" panose="05000000000000000000" pitchFamily="2" charset="2"/>
              </a:rPr>
            </a:br>
            <a:r>
              <a:rPr lang="en-US" altLang="zh-CN" b="1" dirty="0" err="1">
                <a:solidFill>
                  <a:srgbClr val="03071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其中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 A=</a:t>
            </a:r>
            <a:r>
              <a:rPr lang="en-US" altLang="zh-CN" b="1" dirty="0" err="1">
                <a:solidFill>
                  <a:srgbClr val="03071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人，B</a:t>
            </a:r>
            <a:r>
              <a:rPr lang="en-US" altLang="zh-CN" b="1" dirty="0">
                <a:solidFill>
                  <a:srgbClr val="03071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=</a:t>
            </a:r>
            <a:r>
              <a:rPr lang="en-US" altLang="zh-CN" b="1" dirty="0" err="1">
                <a:solidFill>
                  <a:srgbClr val="03071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国家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。 </a:t>
            </a:r>
            <a:b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  <a:sym typeface="Wingdings" panose="05000000000000000000" pitchFamily="2" charset="2"/>
              </a:rPr>
            </a:br>
            <a:r>
              <a:rPr lang="en-US" altLang="zh-CN" sz="2800" b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这是一个函数吗？</a:t>
            </a:r>
            <a:r>
              <a:rPr lang="en-US" altLang="zh-CN" sz="2800" b="1" dirty="0" err="1">
                <a:ea typeface="宋体" panose="02010600030101010101" pitchFamily="2" charset="-122"/>
                <a:sym typeface="Symbol" panose="05050102010706020507" pitchFamily="18" charset="2"/>
              </a:rPr>
              <a:t>是（始终为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 1 </a:t>
            </a:r>
            <a:r>
              <a:rPr lang="en-US" altLang="zh-CN" sz="2800" b="1" dirty="0" err="1">
                <a:ea typeface="宋体" panose="02010600030101010101" pitchFamily="2" charset="-122"/>
                <a:sym typeface="Symbol" panose="05050102010706020507" pitchFamily="18" charset="2"/>
              </a:rPr>
              <a:t>c.o.b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  <a:t>）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。 </a:t>
            </a:r>
            <a:br>
              <a:rPr lang="en-US" altLang="zh-CN" sz="2800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2800" b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它是一个</a:t>
            </a:r>
            <a:r>
              <a:rPr lang="zh-CN" altLang="en-US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单射</a:t>
            </a:r>
            <a:r>
              <a:rPr lang="en-US" altLang="zh-CN" sz="2800" b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吗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？  </a:t>
            </a:r>
            <a:r>
              <a:rPr lang="en-US" altLang="zh-CN" sz="2800" b="1" dirty="0" err="1">
                <a:ea typeface="宋体" panose="02010600030101010101" pitchFamily="2" charset="-122"/>
                <a:sym typeface="Symbol" panose="05050102010706020507" pitchFamily="18" charset="2"/>
              </a:rPr>
              <a:t>不是（许多函数的c.o.b.相同</a:t>
            </a:r>
            <a:r>
              <a:rPr lang="en-US" altLang="zh-CN" sz="2800" b="1" dirty="0">
                <a:ea typeface="宋体" panose="02010600030101010101" pitchFamily="2" charset="-122"/>
                <a:sym typeface="Symbol" panose="05050102010706020507" pitchFamily="18" charset="2"/>
              </a:rPr>
              <a:t>） </a:t>
            </a:r>
            <a:br>
              <a:rPr lang="en-US" altLang="zh-CN" sz="2800" dirty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2800" b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是</a:t>
            </a:r>
            <a:r>
              <a:rPr lang="zh-CN" altLang="en-US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满</a:t>
            </a:r>
            <a:r>
              <a:rPr lang="en-US" altLang="zh-CN" sz="2800" b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射吗</a:t>
            </a:r>
            <a:r>
              <a:rPr lang="en-US" altLang="zh-CN" sz="2800" b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？  </a:t>
            </a:r>
            <a:r>
              <a:rPr lang="en-US" altLang="zh-CN" sz="2800" b="1" dirty="0" err="1">
                <a:ea typeface="宋体" panose="02010600030101010101" pitchFamily="2" charset="-122"/>
                <a:sym typeface="Symbol" panose="05050102010706020507" pitchFamily="18" charset="2"/>
              </a:rPr>
              <a:t>可能是</a:t>
            </a:r>
            <a:endParaRPr lang="en-US" altLang="zh-CN" sz="2800" b="1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C38F72F-0D17-4961-B219-F86EA3EE2AAF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满射</a:t>
            </a:r>
            <a:r>
              <a:rPr lang="en-US" altLang="zh-CN">
                <a:ea typeface="宋体" panose="02010600030101010101" pitchFamily="2" charset="-122"/>
              </a:rPr>
              <a:t>函数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524000"/>
            <a:ext cx="7772400" cy="4267200"/>
          </a:xfrm>
        </p:spPr>
        <p:txBody>
          <a:bodyPr/>
          <a:lstStyle/>
          <a:p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如果</a:t>
            </a:r>
            <a:r>
              <a:rPr lang="en-US" altLang="zh-CN" dirty="0" err="1">
                <a:ea typeface="宋体" panose="02010600030101010101" pitchFamily="2" charset="-122"/>
              </a:rPr>
              <a:t>函数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 err="1">
                <a:ea typeface="宋体" panose="02010600030101010101" pitchFamily="2" charset="-122"/>
              </a:rPr>
              <a:t>f</a:t>
            </a:r>
            <a:r>
              <a:rPr lang="en-US" altLang="zh-CN" dirty="0" err="1">
                <a:ea typeface="宋体" panose="02010600030101010101" pitchFamily="2" charset="-122"/>
              </a:rPr>
              <a:t>:</a:t>
            </a:r>
            <a:r>
              <a:rPr lang="en-US" altLang="zh-CN" i="1" dirty="0" err="1">
                <a:ea typeface="宋体" panose="02010600030101010101" pitchFamily="2" charset="-122"/>
                <a:sym typeface="Symbol" panose="05050102010706020507" pitchFamily="18" charset="2"/>
              </a:rPr>
              <a:t>AB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的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取值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范围等于其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值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域，则该</a:t>
            </a:r>
            <a:r>
              <a:rPr lang="en-US" altLang="zh-CN" dirty="0" err="1">
                <a:ea typeface="宋体" panose="02010600030101010101" pitchFamily="2" charset="-122"/>
              </a:rPr>
              <a:t>函数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ea typeface="宋体" panose="02010600030101010101" pitchFamily="2" charset="-122"/>
              </a:rPr>
              <a:t>f 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是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满射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。 </a:t>
            </a:r>
          </a:p>
          <a:p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在谓词逻辑中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</a:t>
            </a:r>
            <a:r>
              <a:rPr lang="en-US" altLang="zh-CN" i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bBaA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f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=b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559CAD2B-971B-4A94-9D1E-3E9D8F4C9343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满射</a:t>
            </a:r>
            <a:r>
              <a:rPr lang="en-US" altLang="zh-CN">
                <a:ea typeface="宋体" panose="02010600030101010101" pitchFamily="2" charset="-122"/>
              </a:rPr>
              <a:t>函数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524000"/>
            <a:ext cx="7772400" cy="42672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如果</a:t>
            </a:r>
            <a:r>
              <a:rPr lang="en-US" altLang="zh-CN">
                <a:ea typeface="宋体" panose="02010600030101010101" pitchFamily="2" charset="-122"/>
              </a:rPr>
              <a:t>函数 </a:t>
            </a:r>
            <a:r>
              <a:rPr lang="en-US" altLang="zh-CN" i="1">
                <a:ea typeface="宋体" panose="02010600030101010101" pitchFamily="2" charset="-122"/>
              </a:rPr>
              <a:t>f</a:t>
            </a:r>
            <a:r>
              <a:rPr lang="en-US" altLang="zh-CN">
                <a:ea typeface="宋体" panose="02010600030101010101" pitchFamily="2" charset="-122"/>
              </a:rPr>
              <a:t>: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AB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的</a:t>
            </a: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取值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范围等于其 </a:t>
            </a: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值域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（bB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a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A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)=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），则该</a:t>
            </a:r>
            <a:r>
              <a:rPr lang="en-US" altLang="zh-CN">
                <a:ea typeface="宋体" panose="02010600030101010101" pitchFamily="2" charset="-122"/>
              </a:rPr>
              <a:t>函数 </a:t>
            </a:r>
            <a:r>
              <a:rPr lang="en-US" altLang="zh-CN" i="1">
                <a:ea typeface="宋体" panose="02010600030101010101" pitchFamily="2" charset="-122"/>
              </a:rPr>
              <a:t>f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是 </a:t>
            </a:r>
            <a:r>
              <a:rPr lang="zh-CN" altLang="en-US" i="1">
                <a:ea typeface="宋体" panose="02010600030101010101" pitchFamily="2" charset="-122"/>
                <a:sym typeface="Symbol" panose="05050102010706020507" pitchFamily="18" charset="2"/>
              </a:rPr>
              <a:t>满射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r>
              <a:rPr lang="en-US" altLang="zh-CN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想想看一个</a:t>
            </a:r>
            <a:r>
              <a:rPr lang="zh-CN" altLang="en-US" i="1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满射</a:t>
            </a:r>
            <a:r>
              <a:rPr lang="en-US" altLang="zh-CN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函数将集合 </a:t>
            </a:r>
            <a:r>
              <a:rPr lang="en-US" altLang="zh-CN" i="1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 </a:t>
            </a:r>
            <a:r>
              <a:rPr lang="en-US" altLang="zh-CN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映射</a:t>
            </a:r>
            <a:r>
              <a:rPr lang="en-US" altLang="zh-CN" u="sng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到</a:t>
            </a:r>
            <a:r>
              <a:rPr lang="en-US" altLang="zh-CN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（覆盖）集合 </a:t>
            </a:r>
            <a:r>
              <a:rPr lang="en-US" altLang="zh-CN" i="1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 </a:t>
            </a:r>
            <a:r>
              <a:rPr lang="en-US" altLang="zh-CN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的</a:t>
            </a:r>
            <a:r>
              <a:rPr lang="en-US" altLang="zh-CN" i="1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全部</a:t>
            </a:r>
            <a:r>
              <a:rPr lang="en-US" altLang="zh-CN">
                <a:solidFill>
                  <a:srgbClr val="0066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，而不仅仅是其中的一部分。</a:t>
            </a:r>
          </a:p>
          <a:p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例如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，对于</a:t>
            </a:r>
            <a:r>
              <a:rPr lang="zh-CN" altLang="en-US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定义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域 </a:t>
            </a:r>
            <a:r>
              <a:rPr lang="zh-CN" altLang="en-US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和值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域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aseline="3000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3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是 </a:t>
            </a:r>
            <a:r>
              <a:rPr lang="zh-CN" altLang="en-US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满射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的，而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aseline="3000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不是。  (为什么不是？）</a:t>
            </a:r>
            <a:endParaRPr lang="en-US" altLang="zh-CN" i="1">
              <a:solidFill>
                <a:srgbClr val="03071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C4A11C2-80C1-4829-97D4-E2C127AE4E60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满射</a:t>
            </a:r>
            <a:r>
              <a:rPr lang="en-US" altLang="zh-CN">
                <a:ea typeface="宋体" panose="02010600030101010101" pitchFamily="2" charset="-122"/>
              </a:rPr>
              <a:t>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68" name="Rectangle 3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457200" y="1600200"/>
                <a:ext cx="8229600" cy="4648200"/>
              </a:xfrm>
            </p:spPr>
            <p:txBody>
              <a:bodyPr/>
              <a:lstStyle/>
              <a:p>
                <a:pPr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zh-CN" i="1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例如</a:t>
                </a:r>
                <a:r>
                  <a:rPr lang="en-US" altLang="zh-CN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，对于</a:t>
                </a:r>
                <a:r>
                  <a:rPr lang="zh-CN" altLang="en-US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定义</a:t>
                </a:r>
                <a:r>
                  <a:rPr lang="en-US" altLang="zh-CN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域和</a:t>
                </a:r>
                <a:r>
                  <a:rPr lang="zh-CN" altLang="en-US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值</a:t>
                </a:r>
                <a:r>
                  <a:rPr lang="en-US" altLang="zh-CN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域</a:t>
                </a:r>
                <a:r>
                  <a:rPr lang="en-US" altLang="zh-CN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 R、  </a:t>
                </a:r>
              </a:p>
              <a:p>
                <a:pPr>
                  <a:lnSpc>
                    <a:spcPct val="90000"/>
                  </a:lnSpc>
                  <a:buFont typeface="Wingdings" panose="05000000000000000000" pitchFamily="2" charset="2"/>
                  <a:buNone/>
                </a:pPr>
                <a:r>
                  <a:rPr lang="en-US" altLang="zh-CN" i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x</a:t>
                </a:r>
                <a:r>
                  <a:rPr lang="en-US" altLang="zh-CN" baseline="30000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3 </a:t>
                </a:r>
                <a:r>
                  <a:rPr lang="en-US" altLang="zh-CN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 </a:t>
                </a:r>
                <a:r>
                  <a:rPr lang="en-US" altLang="zh-CN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是</a:t>
                </a:r>
                <a:r>
                  <a:rPr lang="zh-CN" altLang="en-US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满射</a:t>
                </a:r>
                <a:r>
                  <a:rPr lang="en-US" altLang="zh-CN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的，但</a:t>
                </a:r>
                <a:r>
                  <a:rPr lang="en-US" altLang="zh-CN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 </a:t>
                </a:r>
                <a:r>
                  <a:rPr lang="en-US" altLang="zh-CN" i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x</a:t>
                </a:r>
                <a:r>
                  <a:rPr lang="en-US" altLang="zh-CN" baseline="30000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2  </a:t>
                </a:r>
                <a:r>
                  <a:rPr lang="en-US" altLang="zh-CN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 </a:t>
                </a:r>
                <a:r>
                  <a:rPr lang="en-US" altLang="zh-CN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不是</a:t>
                </a:r>
                <a:r>
                  <a:rPr lang="en-US" altLang="zh-CN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。  (</a:t>
                </a:r>
                <a:r>
                  <a:rPr lang="en-US" altLang="zh-CN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为什么不是</a:t>
                </a:r>
                <a:r>
                  <a:rPr lang="en-US" altLang="zh-CN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？）</a:t>
                </a:r>
              </a:p>
              <a:p>
                <a:pPr>
                  <a:lnSpc>
                    <a:spcPct val="90000"/>
                  </a:lnSpc>
                </a:pPr>
                <a:r>
                  <a:rPr lang="en-GB" altLang="en-US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考虑</a:t>
                </a:r>
                <a:r>
                  <a:rPr lang="en-GB" altLang="en-US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 </a:t>
                </a:r>
                <a:r>
                  <a:rPr lang="en-GB" altLang="en-US" i="1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f:R</a:t>
                </a:r>
                <a14:m>
                  <m:oMath xmlns:m="http://schemas.openxmlformats.org/officeDocument/2006/math">
                    <m:r>
                      <a:rPr lang="en-GB" altLang="en-US" i="1" smtClean="0">
                        <a:solidFill>
                          <a:srgbClr val="0307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→</m:t>
                    </m:r>
                  </m:oMath>
                </a14:m>
                <a:r>
                  <a:rPr lang="en-GB" altLang="en-US" i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R </a:t>
                </a:r>
                <a:r>
                  <a:rPr lang="en-GB" altLang="en-US" i="1" dirty="0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，</a:t>
                </a:r>
                <a:r>
                  <a:rPr lang="en-GB" altLang="en-US" i="1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对于所有</a:t>
                </a:r>
                <a:r>
                  <a:rPr lang="en-GB" altLang="en-US" i="1" dirty="0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 </a:t>
                </a:r>
                <a:r>
                  <a:rPr lang="en-GB" altLang="en-US" i="1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x，f</a:t>
                </a:r>
                <a:r>
                  <a:rPr lang="en-GB" altLang="en-US" i="1" dirty="0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(x)=x</a:t>
                </a:r>
                <a:r>
                  <a:rPr lang="en-GB" altLang="en-US" i="1" baseline="30000" dirty="0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2</a:t>
                </a:r>
                <a:r>
                  <a:rPr lang="en-GB" altLang="en-US" i="1" dirty="0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 。</a:t>
                </a:r>
                <a:br>
                  <a:rPr lang="en-GB" altLang="en-US" dirty="0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</a:br>
                <a:r>
                  <a:rPr lang="en-GB" altLang="en-US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考虑</a:t>
                </a:r>
                <a:r>
                  <a:rPr lang="en-GB" altLang="en-US" dirty="0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 R </a:t>
                </a:r>
                <a:r>
                  <a:rPr lang="en-GB" altLang="en-US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中的任意负数</a:t>
                </a:r>
                <a:r>
                  <a:rPr lang="en-GB" altLang="en-US" dirty="0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 a=-b.</a:t>
                </a:r>
                <a:br>
                  <a:rPr lang="en-GB" altLang="en-US" dirty="0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</a:br>
                <a:r>
                  <a:rPr lang="en-US" altLang="zh-CN" i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x</a:t>
                </a:r>
                <a:r>
                  <a:rPr lang="en-US" altLang="zh-CN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(x</a:t>
                </a:r>
                <a:r>
                  <a:rPr lang="en-US" altLang="zh-CN" baseline="30000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2</a:t>
                </a:r>
                <a:r>
                  <a:rPr lang="en-US" altLang="zh-CN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 =a)。</a:t>
                </a:r>
                <a:r>
                  <a:rPr lang="en-US" altLang="zh-CN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因此，</a:t>
                </a:r>
                <a:r>
                  <a:rPr lang="en-US" altLang="zh-CN" i="1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f</a:t>
                </a:r>
                <a:r>
                  <a:rPr lang="en-US" altLang="zh-CN" i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 </a:t>
                </a:r>
                <a:r>
                  <a:rPr lang="en-US" altLang="zh-CN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不是</a:t>
                </a:r>
                <a:r>
                  <a:rPr lang="zh-CN" altLang="en-US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满</a:t>
                </a:r>
                <a:r>
                  <a:rPr lang="en-US" altLang="zh-CN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射的</a:t>
                </a:r>
                <a:r>
                  <a:rPr lang="en-US" altLang="zh-CN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。</a:t>
                </a:r>
                <a:endParaRPr lang="en-GB" altLang="en-US" dirty="0">
                  <a:solidFill>
                    <a:srgbClr val="030711"/>
                  </a:solidFill>
                  <a:ea typeface="宋体" panose="02010600030101010101" pitchFamily="2" charset="-122"/>
                  <a:sym typeface="Wingdings" panose="05000000000000000000" pitchFamily="2" charset="2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en-GB" altLang="en-US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考虑</a:t>
                </a:r>
                <a:r>
                  <a:rPr lang="en-GB" altLang="en-US" dirty="0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 </a:t>
                </a:r>
                <a:r>
                  <a:rPr lang="en-GB" altLang="en-US" i="1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f:R</a:t>
                </a:r>
                <a:r>
                  <a:rPr lang="en-GB" altLang="en-US" dirty="0">
                    <a:solidFill>
                      <a:srgbClr val="030711"/>
                    </a:solidFill>
                    <a:ea typeface="Cambria Math" panose="020405030504060302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GB" altLang="en-US" i="1">
                        <a:solidFill>
                          <a:srgbClr val="03071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→ </m:t>
                    </m:r>
                  </m:oMath>
                </a14:m>
                <a:r>
                  <a:rPr lang="en-GB" altLang="en-US" i="1" dirty="0">
                    <a:solidFill>
                      <a:srgbClr val="030711"/>
                    </a:solidFill>
                    <a:ea typeface="宋体" panose="02010600030101010101" pitchFamily="2" charset="-122"/>
                    <a:sym typeface="Symbol" panose="05050102010706020507" pitchFamily="18" charset="2"/>
                  </a:rPr>
                  <a:t>R </a:t>
                </a:r>
                <a:r>
                  <a:rPr lang="en-GB" altLang="en-US" i="1" dirty="0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，</a:t>
                </a:r>
                <a:r>
                  <a:rPr lang="en-GB" altLang="en-US" i="1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使得对于所有</a:t>
                </a:r>
                <a:r>
                  <a:rPr lang="en-GB" altLang="en-US" i="1" dirty="0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 </a:t>
                </a:r>
                <a:r>
                  <a:rPr lang="en-GB" altLang="en-US" i="1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x，f</a:t>
                </a:r>
                <a:r>
                  <a:rPr lang="en-GB" altLang="en-US" i="1" dirty="0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(x)=x</a:t>
                </a:r>
                <a:r>
                  <a:rPr lang="en-GB" altLang="en-US" i="1" baseline="30000" dirty="0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3</a:t>
                </a:r>
                <a:r>
                  <a:rPr lang="en-GB" altLang="en-US" i="1" dirty="0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 。</a:t>
                </a:r>
                <a:br>
                  <a:rPr lang="en-GB" altLang="en-US" i="1" dirty="0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</a:br>
                <a:r>
                  <a:rPr lang="en-GB" altLang="en-US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考虑</a:t>
                </a:r>
                <a:r>
                  <a:rPr lang="en-GB" altLang="en-US" dirty="0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 R </a:t>
                </a:r>
                <a:r>
                  <a:rPr lang="en-GB" altLang="en-US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中的任意负数</a:t>
                </a:r>
                <a:r>
                  <a:rPr lang="en-GB" altLang="en-US" dirty="0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 a=-b。</a:t>
                </a:r>
                <a:br>
                  <a:rPr lang="en-GB" altLang="en-US" dirty="0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</a:br>
                <a:r>
                  <a:rPr lang="en-GB" altLang="en-US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设</a:t>
                </a:r>
                <a:r>
                  <a:rPr lang="en-GB" altLang="en-US" dirty="0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 </a:t>
                </a:r>
                <a:r>
                  <a:rPr lang="en-GB" altLang="en-US" i="1" dirty="0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z </a:t>
                </a:r>
                <a:r>
                  <a:rPr lang="en-GB" altLang="en-US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是这样的数，即</a:t>
                </a:r>
                <a:r>
                  <a:rPr lang="en-GB" altLang="en-US" dirty="0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 </a:t>
                </a:r>
                <a:r>
                  <a:rPr lang="en-GB" altLang="en-US" i="1" dirty="0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z</a:t>
                </a:r>
                <a:r>
                  <a:rPr lang="en-GB" altLang="en-US" i="1" baseline="30000" dirty="0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3</a:t>
                </a:r>
                <a:r>
                  <a:rPr lang="en-GB" altLang="en-US" i="1" dirty="0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 =</a:t>
                </a:r>
                <a:r>
                  <a:rPr lang="en-GB" altLang="en-US" i="1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b。</a:t>
                </a:r>
                <a:r>
                  <a:rPr lang="en-GB" altLang="en-US" dirty="0" err="1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那么</a:t>
                </a:r>
                <a:r>
                  <a:rPr lang="en-GB" altLang="en-US" dirty="0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 </a:t>
                </a:r>
                <a:r>
                  <a:rPr lang="en-GB" altLang="en-US" i="1" dirty="0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(-z) =-b=a</a:t>
                </a:r>
                <a:r>
                  <a:rPr lang="en-GB" altLang="en-US" i="1" baseline="30000" dirty="0">
                    <a:solidFill>
                      <a:srgbClr val="030711"/>
                    </a:solidFill>
                    <a:ea typeface="宋体" panose="02010600030101010101" pitchFamily="2" charset="-122"/>
                    <a:sym typeface="Wingdings" panose="05000000000000000000" pitchFamily="2" charset="2"/>
                  </a:rPr>
                  <a:t>3</a:t>
                </a:r>
                <a:endParaRPr lang="en-US" altLang="zh-CN" i="1" dirty="0">
                  <a:solidFill>
                    <a:srgbClr val="030711"/>
                  </a:solidFill>
                  <a:ea typeface="宋体" panose="02010600030101010101" pitchFamily="2" charset="-122"/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36868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457200" y="1600200"/>
                <a:ext cx="8229600" cy="4648200"/>
              </a:xfrm>
              <a:blipFill>
                <a:blip r:embed="rId2"/>
                <a:stretch>
                  <a:fillRect l="-1852" t="-3270" r="-1698" b="-65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8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8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8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FA10838-1EF5-4523-BC73-3A813CF2885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恒等函数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对于任意域 </a:t>
            </a:r>
            <a:r>
              <a:rPr lang="en-US" altLang="zh-CN" i="1">
                <a:ea typeface="宋体" panose="02010600030101010101" pitchFamily="2" charset="-122"/>
              </a:rPr>
              <a:t>A</a:t>
            </a:r>
            <a:r>
              <a:rPr lang="en-US" altLang="zh-CN">
                <a:ea typeface="宋体" panose="02010600030101010101" pitchFamily="2" charset="-122"/>
              </a:rPr>
              <a:t>，</a:t>
            </a:r>
            <a:r>
              <a:rPr lang="en-US" altLang="zh-CN" i="1">
                <a:ea typeface="宋体" panose="02010600030101010101" pitchFamily="2" charset="-122"/>
              </a:rPr>
              <a:t>A </a:t>
            </a:r>
            <a:r>
              <a:rPr lang="en-US" altLang="zh-CN">
                <a:ea typeface="宋体" panose="02010600030101010101" pitchFamily="2" charset="-122"/>
              </a:rPr>
              <a:t>上的</a:t>
            </a:r>
            <a:r>
              <a:rPr lang="zh-CN" altLang="en-US" i="1">
                <a:ea typeface="宋体" panose="02010600030101010101" pitchFamily="2" charset="-122"/>
              </a:rPr>
              <a:t>恒等</a:t>
            </a:r>
            <a:r>
              <a:rPr lang="en-US" altLang="zh-CN" i="1">
                <a:ea typeface="宋体" panose="02010600030101010101" pitchFamily="2" charset="-122"/>
              </a:rPr>
              <a:t>函数 I:A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A</a:t>
            </a:r>
            <a:r>
              <a:rPr lang="en-US" altLang="zh-CN">
                <a:ea typeface="宋体" panose="02010600030101010101" pitchFamily="2" charset="-122"/>
              </a:rPr>
              <a:t>（也写作 </a:t>
            </a:r>
            <a:r>
              <a:rPr lang="en-US" altLang="zh-CN" i="1">
                <a:ea typeface="宋体" panose="02010600030101010101" pitchFamily="2" charset="-122"/>
              </a:rPr>
              <a:t>I</a:t>
            </a:r>
            <a:r>
              <a:rPr lang="en-US" altLang="zh-CN" i="1" baseline="-25000">
                <a:ea typeface="宋体" panose="02010600030101010101" pitchFamily="2" charset="-122"/>
              </a:rPr>
              <a:t>A</a:t>
            </a:r>
            <a:r>
              <a:rPr lang="en-US" altLang="zh-CN">
                <a:ea typeface="宋体" panose="02010600030101010101" pitchFamily="2" charset="-122"/>
              </a:rPr>
              <a:t> ）是这样的函数：</a:t>
            </a:r>
            <a:r>
              <a:rPr lang="zh-CN" altLang="en-US">
                <a:ea typeface="宋体" panose="02010600030101010101" pitchFamily="2" charset="-122"/>
              </a:rPr>
              <a:t>自身</a:t>
            </a:r>
            <a:r>
              <a:rPr lang="en-US" altLang="zh-CN">
                <a:ea typeface="宋体" panose="02010600030101010101" pitchFamily="2" charset="-122"/>
              </a:rPr>
              <a:t>映射到自身</a:t>
            </a:r>
          </a:p>
          <a:p>
            <a:r>
              <a:rPr lang="en-GB" altLang="en-US">
                <a:ea typeface="宋体" panose="02010600030101010101" pitchFamily="2" charset="-122"/>
              </a:rPr>
              <a:t>在谓词逻辑中：</a:t>
            </a:r>
            <a:br>
              <a:rPr lang="en-GB" altLang="en-US">
                <a:ea typeface="宋体" panose="02010600030101010101" pitchFamily="2" charset="-122"/>
              </a:rPr>
            </a:b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aA I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7564DBD-3DF1-443B-B69C-C1CB3B40A1E3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恒等函数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609600" indent="-609600"/>
            <a:r>
              <a:rPr lang="en-US" altLang="zh-CN">
                <a:ea typeface="宋体" panose="02010600030101010101" pitchFamily="2" charset="-122"/>
              </a:rPr>
              <a:t>对于任意</a:t>
            </a:r>
            <a:r>
              <a:rPr lang="zh-CN" altLang="en-US">
                <a:ea typeface="宋体" panose="02010600030101010101" pitchFamily="2" charset="-122"/>
              </a:rPr>
              <a:t>定义</a:t>
            </a:r>
            <a:r>
              <a:rPr lang="en-US" altLang="zh-CN">
                <a:ea typeface="宋体" panose="02010600030101010101" pitchFamily="2" charset="-122"/>
              </a:rPr>
              <a:t>域 </a:t>
            </a:r>
            <a:r>
              <a:rPr lang="en-US" altLang="zh-CN" i="1">
                <a:ea typeface="宋体" panose="02010600030101010101" pitchFamily="2" charset="-122"/>
              </a:rPr>
              <a:t>A</a:t>
            </a:r>
            <a:r>
              <a:rPr lang="en-US" altLang="zh-CN">
                <a:ea typeface="宋体" panose="02010600030101010101" pitchFamily="2" charset="-122"/>
              </a:rPr>
              <a:t>，</a:t>
            </a:r>
            <a:r>
              <a:rPr lang="en-US" altLang="zh-CN" i="1">
                <a:ea typeface="宋体" panose="02010600030101010101" pitchFamily="2" charset="-122"/>
              </a:rPr>
              <a:t>A </a:t>
            </a:r>
            <a:r>
              <a:rPr lang="en-US" altLang="zh-CN">
                <a:ea typeface="宋体" panose="02010600030101010101" pitchFamily="2" charset="-122"/>
              </a:rPr>
              <a:t>上的</a:t>
            </a:r>
            <a:r>
              <a:rPr lang="zh-CN" altLang="en-US" i="1">
                <a:ea typeface="宋体" panose="02010600030101010101" pitchFamily="2" charset="-122"/>
              </a:rPr>
              <a:t>恒等</a:t>
            </a:r>
            <a:r>
              <a:rPr lang="en-US" altLang="zh-CN" i="1">
                <a:ea typeface="宋体" panose="02010600030101010101" pitchFamily="2" charset="-122"/>
              </a:rPr>
              <a:t>函数 I: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AA </a:t>
            </a:r>
            <a:r>
              <a:rPr lang="en-US" altLang="zh-CN">
                <a:ea typeface="宋体" panose="02010600030101010101" pitchFamily="2" charset="-122"/>
              </a:rPr>
              <a:t>（也写作 </a:t>
            </a:r>
            <a:r>
              <a:rPr lang="en-US" altLang="zh-CN" i="1">
                <a:ea typeface="宋体" panose="02010600030101010101" pitchFamily="2" charset="-122"/>
              </a:rPr>
              <a:t>I</a:t>
            </a:r>
            <a:r>
              <a:rPr lang="en-US" altLang="zh-CN" i="1" baseline="-25000">
                <a:ea typeface="宋体" panose="02010600030101010101" pitchFamily="2" charset="-122"/>
              </a:rPr>
              <a:t>A</a:t>
            </a:r>
            <a:r>
              <a:rPr lang="en-US" altLang="zh-CN">
                <a:ea typeface="宋体" panose="02010600030101010101" pitchFamily="2" charset="-122"/>
              </a:rPr>
              <a:t> ）是这样的函数：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a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A I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  <a:p>
            <a:pPr marL="609600" indent="-609600"/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是</a:t>
            </a: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恒等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函数 </a:t>
            </a:r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17347D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1. 一对一（</a:t>
            </a:r>
            <a:r>
              <a:rPr lang="zh-CN" altLang="en-US" b="1">
                <a:solidFill>
                  <a:srgbClr val="17347D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单射</a:t>
            </a:r>
            <a:r>
              <a:rPr lang="en-US" altLang="zh-CN" b="1">
                <a:solidFill>
                  <a:srgbClr val="17347D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）？</a:t>
            </a:r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17347D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2. </a:t>
            </a:r>
            <a:r>
              <a:rPr lang="zh-CN" altLang="en-US" b="1">
                <a:solidFill>
                  <a:srgbClr val="17347D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满射</a:t>
            </a:r>
            <a:r>
              <a:rPr lang="en-US" altLang="zh-CN" b="1">
                <a:solidFill>
                  <a:srgbClr val="17347D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F7FCB309-9210-4005-AB20-7FFB475B08D3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恒等函数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609600" indent="-609600"/>
            <a:r>
              <a:rPr lang="en-US" altLang="zh-CN">
                <a:ea typeface="宋体" panose="02010600030101010101" pitchFamily="2" charset="-122"/>
              </a:rPr>
              <a:t>对于任意</a:t>
            </a:r>
            <a:r>
              <a:rPr lang="zh-CN" altLang="en-US">
                <a:ea typeface="宋体" panose="02010600030101010101" pitchFamily="2" charset="-122"/>
              </a:rPr>
              <a:t>定义</a:t>
            </a:r>
            <a:r>
              <a:rPr lang="en-US" altLang="zh-CN">
                <a:ea typeface="宋体" panose="02010600030101010101" pitchFamily="2" charset="-122"/>
              </a:rPr>
              <a:t>域 </a:t>
            </a:r>
            <a:r>
              <a:rPr lang="en-US" altLang="zh-CN" i="1">
                <a:ea typeface="宋体" panose="02010600030101010101" pitchFamily="2" charset="-122"/>
              </a:rPr>
              <a:t>A</a:t>
            </a:r>
            <a:r>
              <a:rPr lang="en-US" altLang="zh-CN">
                <a:ea typeface="宋体" panose="02010600030101010101" pitchFamily="2" charset="-122"/>
              </a:rPr>
              <a:t>，</a:t>
            </a:r>
            <a:r>
              <a:rPr lang="en-US" altLang="zh-CN" i="1">
                <a:ea typeface="宋体" panose="02010600030101010101" pitchFamily="2" charset="-122"/>
              </a:rPr>
              <a:t>A </a:t>
            </a:r>
            <a:r>
              <a:rPr lang="en-US" altLang="zh-CN">
                <a:ea typeface="宋体" panose="02010600030101010101" pitchFamily="2" charset="-122"/>
              </a:rPr>
              <a:t>上的</a:t>
            </a:r>
            <a:r>
              <a:rPr lang="zh-CN" altLang="en-US">
                <a:ea typeface="宋体" panose="02010600030101010101" pitchFamily="2" charset="-122"/>
              </a:rPr>
              <a:t>恒等</a:t>
            </a:r>
            <a:r>
              <a:rPr lang="en-US" altLang="zh-CN" i="1">
                <a:ea typeface="宋体" panose="02010600030101010101" pitchFamily="2" charset="-122"/>
              </a:rPr>
              <a:t>函数 I: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AA </a:t>
            </a:r>
            <a:r>
              <a:rPr lang="en-US" altLang="zh-CN">
                <a:ea typeface="宋体" panose="02010600030101010101" pitchFamily="2" charset="-122"/>
              </a:rPr>
              <a:t>（也写作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I</a:t>
            </a:r>
            <a:r>
              <a:rPr lang="en-US" altLang="zh-CN" i="1" baseline="-25000">
                <a:solidFill>
                  <a:srgbClr val="030711"/>
                </a:solidFill>
                <a:ea typeface="宋体" panose="02010600030101010101" pitchFamily="2" charset="-122"/>
              </a:rPr>
              <a:t>A</a:t>
            </a:r>
            <a:r>
              <a:rPr lang="en-US" altLang="zh-CN">
                <a:ea typeface="宋体" panose="02010600030101010101" pitchFamily="2" charset="-122"/>
              </a:rPr>
              <a:t> ）是这样的函数：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a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A I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=a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  <a:p>
            <a:pPr marL="609600" indent="-609600"/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是</a:t>
            </a: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恒等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函数 </a:t>
            </a:r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17347D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1. 一对一（</a:t>
            </a:r>
            <a:r>
              <a:rPr lang="zh-CN" altLang="en-US" b="1">
                <a:solidFill>
                  <a:srgbClr val="17347D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单射</a:t>
            </a:r>
            <a:r>
              <a:rPr lang="en-US" altLang="zh-CN" b="1">
                <a:solidFill>
                  <a:srgbClr val="17347D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）？</a:t>
            </a:r>
          </a:p>
          <a:p>
            <a:pPr marL="457200" lvl="1" indent="0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17347D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2. </a:t>
            </a:r>
            <a:r>
              <a:rPr lang="zh-CN" altLang="en-US" b="1">
                <a:solidFill>
                  <a:srgbClr val="17347D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满射</a:t>
            </a:r>
            <a:r>
              <a:rPr lang="en-US" altLang="zh-CN" b="1">
                <a:solidFill>
                  <a:srgbClr val="17347D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? 	 是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664EB38F-1D34-473C-8BB9-26337B97E269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恒等</a:t>
            </a:r>
            <a:r>
              <a:rPr lang="en-US" altLang="zh-CN">
                <a:ea typeface="宋体" panose="02010600030101010101" pitchFamily="2" charset="-122"/>
              </a:rPr>
              <a:t>函数</a:t>
            </a:r>
          </a:p>
        </p:txBody>
      </p:sp>
      <p:sp>
        <p:nvSpPr>
          <p:cNvPr id="40964" name="Oval 3"/>
          <p:cNvSpPr>
            <a:spLocks noChangeArrowheads="1"/>
          </p:cNvSpPr>
          <p:nvPr/>
        </p:nvSpPr>
        <p:spPr bwMode="auto">
          <a:xfrm>
            <a:off x="990600" y="2895600"/>
            <a:ext cx="2286000" cy="2590800"/>
          </a:xfrm>
          <a:prstGeom prst="ellipse">
            <a:avLst/>
          </a:prstGeom>
          <a:solidFill>
            <a:srgbClr val="33CCCC"/>
          </a:solidFill>
          <a:ln w="9525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40965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恒等函数例子</a:t>
            </a:r>
          </a:p>
        </p:txBody>
      </p:sp>
      <p:grpSp>
        <p:nvGrpSpPr>
          <p:cNvPr id="40966" name="Group 5"/>
          <p:cNvGrpSpPr/>
          <p:nvPr/>
        </p:nvGrpSpPr>
        <p:grpSpPr bwMode="auto">
          <a:xfrm>
            <a:off x="1520825" y="3546475"/>
            <a:ext cx="436563" cy="568325"/>
            <a:chOff x="0" y="0"/>
            <a:chExt cx="275" cy="358"/>
          </a:xfrm>
        </p:grpSpPr>
        <p:sp>
          <p:nvSpPr>
            <p:cNvPr id="40998" name="Text Box 6"/>
            <p:cNvSpPr txBox="1">
              <a:spLocks noChangeArrowheads="1"/>
            </p:cNvSpPr>
            <p:nvPr/>
          </p:nvSpPr>
          <p:spPr bwMode="auto">
            <a:xfrm>
              <a:off x="50" y="70"/>
              <a:ext cx="1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40999" name="Freeform 7"/>
            <p:cNvSpPr>
              <a:spLocks noChangeArrowheads="1"/>
            </p:cNvSpPr>
            <p:nvPr/>
          </p:nvSpPr>
          <p:spPr bwMode="auto">
            <a:xfrm>
              <a:off x="0" y="0"/>
              <a:ext cx="275" cy="214"/>
            </a:xfrm>
            <a:custGeom>
              <a:avLst/>
              <a:gdLst>
                <a:gd name="T0" fmla="*/ 193 w 275"/>
                <a:gd name="T1" fmla="*/ 206 h 214"/>
                <a:gd name="T2" fmla="*/ 266 w 275"/>
                <a:gd name="T3" fmla="*/ 93 h 214"/>
                <a:gd name="T4" fmla="*/ 137 w 275"/>
                <a:gd name="T5" fmla="*/ 4 h 214"/>
                <a:gd name="T6" fmla="*/ 7 w 275"/>
                <a:gd name="T7" fmla="*/ 69 h 214"/>
                <a:gd name="T8" fmla="*/ 96 w 275"/>
                <a:gd name="T9" fmla="*/ 214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5" h="214">
                  <a:moveTo>
                    <a:pt x="193" y="206"/>
                  </a:moveTo>
                  <a:cubicBezTo>
                    <a:pt x="205" y="187"/>
                    <a:pt x="275" y="127"/>
                    <a:pt x="266" y="93"/>
                  </a:cubicBezTo>
                  <a:cubicBezTo>
                    <a:pt x="257" y="59"/>
                    <a:pt x="180" y="8"/>
                    <a:pt x="137" y="4"/>
                  </a:cubicBezTo>
                  <a:cubicBezTo>
                    <a:pt x="94" y="0"/>
                    <a:pt x="14" y="34"/>
                    <a:pt x="7" y="69"/>
                  </a:cubicBezTo>
                  <a:cubicBezTo>
                    <a:pt x="0" y="104"/>
                    <a:pt x="78" y="184"/>
                    <a:pt x="96" y="21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bevel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0967" name="Group 8"/>
          <p:cNvGrpSpPr/>
          <p:nvPr/>
        </p:nvGrpSpPr>
        <p:grpSpPr bwMode="auto">
          <a:xfrm>
            <a:off x="1905000" y="3886200"/>
            <a:ext cx="436563" cy="568325"/>
            <a:chOff x="0" y="0"/>
            <a:chExt cx="275" cy="358"/>
          </a:xfrm>
        </p:grpSpPr>
        <p:sp>
          <p:nvSpPr>
            <p:cNvPr id="40996" name="Text Box 9"/>
            <p:cNvSpPr txBox="1">
              <a:spLocks noChangeArrowheads="1"/>
            </p:cNvSpPr>
            <p:nvPr/>
          </p:nvSpPr>
          <p:spPr bwMode="auto">
            <a:xfrm>
              <a:off x="50" y="70"/>
              <a:ext cx="1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40997" name="Freeform 10"/>
            <p:cNvSpPr>
              <a:spLocks noChangeArrowheads="1"/>
            </p:cNvSpPr>
            <p:nvPr/>
          </p:nvSpPr>
          <p:spPr bwMode="auto">
            <a:xfrm>
              <a:off x="0" y="0"/>
              <a:ext cx="275" cy="214"/>
            </a:xfrm>
            <a:custGeom>
              <a:avLst/>
              <a:gdLst>
                <a:gd name="T0" fmla="*/ 193 w 275"/>
                <a:gd name="T1" fmla="*/ 206 h 214"/>
                <a:gd name="T2" fmla="*/ 266 w 275"/>
                <a:gd name="T3" fmla="*/ 93 h 214"/>
                <a:gd name="T4" fmla="*/ 137 w 275"/>
                <a:gd name="T5" fmla="*/ 4 h 214"/>
                <a:gd name="T6" fmla="*/ 7 w 275"/>
                <a:gd name="T7" fmla="*/ 69 h 214"/>
                <a:gd name="T8" fmla="*/ 96 w 275"/>
                <a:gd name="T9" fmla="*/ 214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5" h="214">
                  <a:moveTo>
                    <a:pt x="193" y="206"/>
                  </a:moveTo>
                  <a:cubicBezTo>
                    <a:pt x="205" y="187"/>
                    <a:pt x="275" y="127"/>
                    <a:pt x="266" y="93"/>
                  </a:cubicBezTo>
                  <a:cubicBezTo>
                    <a:pt x="257" y="59"/>
                    <a:pt x="180" y="8"/>
                    <a:pt x="137" y="4"/>
                  </a:cubicBezTo>
                  <a:cubicBezTo>
                    <a:pt x="94" y="0"/>
                    <a:pt x="14" y="34"/>
                    <a:pt x="7" y="69"/>
                  </a:cubicBezTo>
                  <a:cubicBezTo>
                    <a:pt x="0" y="104"/>
                    <a:pt x="78" y="184"/>
                    <a:pt x="96" y="21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bevel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0968" name="Group 11"/>
          <p:cNvGrpSpPr/>
          <p:nvPr/>
        </p:nvGrpSpPr>
        <p:grpSpPr bwMode="auto">
          <a:xfrm>
            <a:off x="2438400" y="4724400"/>
            <a:ext cx="436563" cy="568325"/>
            <a:chOff x="0" y="0"/>
            <a:chExt cx="275" cy="358"/>
          </a:xfrm>
        </p:grpSpPr>
        <p:sp>
          <p:nvSpPr>
            <p:cNvPr id="40994" name="Text Box 12"/>
            <p:cNvSpPr txBox="1">
              <a:spLocks noChangeArrowheads="1"/>
            </p:cNvSpPr>
            <p:nvPr/>
          </p:nvSpPr>
          <p:spPr bwMode="auto">
            <a:xfrm>
              <a:off x="50" y="70"/>
              <a:ext cx="1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40995" name="Freeform 13"/>
            <p:cNvSpPr>
              <a:spLocks noChangeArrowheads="1"/>
            </p:cNvSpPr>
            <p:nvPr/>
          </p:nvSpPr>
          <p:spPr bwMode="auto">
            <a:xfrm>
              <a:off x="0" y="0"/>
              <a:ext cx="275" cy="214"/>
            </a:xfrm>
            <a:custGeom>
              <a:avLst/>
              <a:gdLst>
                <a:gd name="T0" fmla="*/ 193 w 275"/>
                <a:gd name="T1" fmla="*/ 206 h 214"/>
                <a:gd name="T2" fmla="*/ 266 w 275"/>
                <a:gd name="T3" fmla="*/ 93 h 214"/>
                <a:gd name="T4" fmla="*/ 137 w 275"/>
                <a:gd name="T5" fmla="*/ 4 h 214"/>
                <a:gd name="T6" fmla="*/ 7 w 275"/>
                <a:gd name="T7" fmla="*/ 69 h 214"/>
                <a:gd name="T8" fmla="*/ 96 w 275"/>
                <a:gd name="T9" fmla="*/ 214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5" h="214">
                  <a:moveTo>
                    <a:pt x="193" y="206"/>
                  </a:moveTo>
                  <a:cubicBezTo>
                    <a:pt x="205" y="187"/>
                    <a:pt x="275" y="127"/>
                    <a:pt x="266" y="93"/>
                  </a:cubicBezTo>
                  <a:cubicBezTo>
                    <a:pt x="257" y="59"/>
                    <a:pt x="180" y="8"/>
                    <a:pt x="137" y="4"/>
                  </a:cubicBezTo>
                  <a:cubicBezTo>
                    <a:pt x="94" y="0"/>
                    <a:pt x="14" y="34"/>
                    <a:pt x="7" y="69"/>
                  </a:cubicBezTo>
                  <a:cubicBezTo>
                    <a:pt x="0" y="104"/>
                    <a:pt x="78" y="184"/>
                    <a:pt x="96" y="21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bevel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0969" name="Group 14"/>
          <p:cNvGrpSpPr/>
          <p:nvPr/>
        </p:nvGrpSpPr>
        <p:grpSpPr bwMode="auto">
          <a:xfrm>
            <a:off x="2514600" y="4343400"/>
            <a:ext cx="436563" cy="568325"/>
            <a:chOff x="0" y="0"/>
            <a:chExt cx="275" cy="358"/>
          </a:xfrm>
        </p:grpSpPr>
        <p:sp>
          <p:nvSpPr>
            <p:cNvPr id="40992" name="Text Box 15"/>
            <p:cNvSpPr txBox="1">
              <a:spLocks noChangeArrowheads="1"/>
            </p:cNvSpPr>
            <p:nvPr/>
          </p:nvSpPr>
          <p:spPr bwMode="auto">
            <a:xfrm>
              <a:off x="50" y="70"/>
              <a:ext cx="1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40993" name="Freeform 16"/>
            <p:cNvSpPr>
              <a:spLocks noChangeArrowheads="1"/>
            </p:cNvSpPr>
            <p:nvPr/>
          </p:nvSpPr>
          <p:spPr bwMode="auto">
            <a:xfrm>
              <a:off x="0" y="0"/>
              <a:ext cx="275" cy="214"/>
            </a:xfrm>
            <a:custGeom>
              <a:avLst/>
              <a:gdLst>
                <a:gd name="T0" fmla="*/ 193 w 275"/>
                <a:gd name="T1" fmla="*/ 206 h 214"/>
                <a:gd name="T2" fmla="*/ 266 w 275"/>
                <a:gd name="T3" fmla="*/ 93 h 214"/>
                <a:gd name="T4" fmla="*/ 137 w 275"/>
                <a:gd name="T5" fmla="*/ 4 h 214"/>
                <a:gd name="T6" fmla="*/ 7 w 275"/>
                <a:gd name="T7" fmla="*/ 69 h 214"/>
                <a:gd name="T8" fmla="*/ 96 w 275"/>
                <a:gd name="T9" fmla="*/ 214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5" h="214">
                  <a:moveTo>
                    <a:pt x="193" y="206"/>
                  </a:moveTo>
                  <a:cubicBezTo>
                    <a:pt x="205" y="187"/>
                    <a:pt x="275" y="127"/>
                    <a:pt x="266" y="93"/>
                  </a:cubicBezTo>
                  <a:cubicBezTo>
                    <a:pt x="257" y="59"/>
                    <a:pt x="180" y="8"/>
                    <a:pt x="137" y="4"/>
                  </a:cubicBezTo>
                  <a:cubicBezTo>
                    <a:pt x="94" y="0"/>
                    <a:pt x="14" y="34"/>
                    <a:pt x="7" y="69"/>
                  </a:cubicBezTo>
                  <a:cubicBezTo>
                    <a:pt x="0" y="104"/>
                    <a:pt x="78" y="184"/>
                    <a:pt x="96" y="21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bevel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0970" name="Group 17"/>
          <p:cNvGrpSpPr/>
          <p:nvPr/>
        </p:nvGrpSpPr>
        <p:grpSpPr bwMode="auto">
          <a:xfrm>
            <a:off x="2362200" y="3657600"/>
            <a:ext cx="436563" cy="568325"/>
            <a:chOff x="0" y="0"/>
            <a:chExt cx="275" cy="358"/>
          </a:xfrm>
        </p:grpSpPr>
        <p:sp>
          <p:nvSpPr>
            <p:cNvPr id="40990" name="Text Box 18"/>
            <p:cNvSpPr txBox="1">
              <a:spLocks noChangeArrowheads="1"/>
            </p:cNvSpPr>
            <p:nvPr/>
          </p:nvSpPr>
          <p:spPr bwMode="auto">
            <a:xfrm>
              <a:off x="50" y="70"/>
              <a:ext cx="1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40991" name="Freeform 19"/>
            <p:cNvSpPr>
              <a:spLocks noChangeArrowheads="1"/>
            </p:cNvSpPr>
            <p:nvPr/>
          </p:nvSpPr>
          <p:spPr bwMode="auto">
            <a:xfrm>
              <a:off x="0" y="0"/>
              <a:ext cx="275" cy="214"/>
            </a:xfrm>
            <a:custGeom>
              <a:avLst/>
              <a:gdLst>
                <a:gd name="T0" fmla="*/ 193 w 275"/>
                <a:gd name="T1" fmla="*/ 206 h 214"/>
                <a:gd name="T2" fmla="*/ 266 w 275"/>
                <a:gd name="T3" fmla="*/ 93 h 214"/>
                <a:gd name="T4" fmla="*/ 137 w 275"/>
                <a:gd name="T5" fmla="*/ 4 h 214"/>
                <a:gd name="T6" fmla="*/ 7 w 275"/>
                <a:gd name="T7" fmla="*/ 69 h 214"/>
                <a:gd name="T8" fmla="*/ 96 w 275"/>
                <a:gd name="T9" fmla="*/ 214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5" h="214">
                  <a:moveTo>
                    <a:pt x="193" y="206"/>
                  </a:moveTo>
                  <a:cubicBezTo>
                    <a:pt x="205" y="187"/>
                    <a:pt x="275" y="127"/>
                    <a:pt x="266" y="93"/>
                  </a:cubicBezTo>
                  <a:cubicBezTo>
                    <a:pt x="257" y="59"/>
                    <a:pt x="180" y="8"/>
                    <a:pt x="137" y="4"/>
                  </a:cubicBezTo>
                  <a:cubicBezTo>
                    <a:pt x="94" y="0"/>
                    <a:pt x="14" y="34"/>
                    <a:pt x="7" y="69"/>
                  </a:cubicBezTo>
                  <a:cubicBezTo>
                    <a:pt x="0" y="104"/>
                    <a:pt x="78" y="184"/>
                    <a:pt x="96" y="21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bevel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0971" name="Group 20"/>
          <p:cNvGrpSpPr/>
          <p:nvPr/>
        </p:nvGrpSpPr>
        <p:grpSpPr bwMode="auto">
          <a:xfrm>
            <a:off x="2133600" y="3276600"/>
            <a:ext cx="436563" cy="568325"/>
            <a:chOff x="0" y="0"/>
            <a:chExt cx="275" cy="358"/>
          </a:xfrm>
        </p:grpSpPr>
        <p:sp>
          <p:nvSpPr>
            <p:cNvPr id="40988" name="Text Box 21"/>
            <p:cNvSpPr txBox="1">
              <a:spLocks noChangeArrowheads="1"/>
            </p:cNvSpPr>
            <p:nvPr/>
          </p:nvSpPr>
          <p:spPr bwMode="auto">
            <a:xfrm>
              <a:off x="50" y="70"/>
              <a:ext cx="1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40989" name="Freeform 22"/>
            <p:cNvSpPr>
              <a:spLocks noChangeArrowheads="1"/>
            </p:cNvSpPr>
            <p:nvPr/>
          </p:nvSpPr>
          <p:spPr bwMode="auto">
            <a:xfrm>
              <a:off x="0" y="0"/>
              <a:ext cx="275" cy="214"/>
            </a:xfrm>
            <a:custGeom>
              <a:avLst/>
              <a:gdLst>
                <a:gd name="T0" fmla="*/ 193 w 275"/>
                <a:gd name="T1" fmla="*/ 206 h 214"/>
                <a:gd name="T2" fmla="*/ 266 w 275"/>
                <a:gd name="T3" fmla="*/ 93 h 214"/>
                <a:gd name="T4" fmla="*/ 137 w 275"/>
                <a:gd name="T5" fmla="*/ 4 h 214"/>
                <a:gd name="T6" fmla="*/ 7 w 275"/>
                <a:gd name="T7" fmla="*/ 69 h 214"/>
                <a:gd name="T8" fmla="*/ 96 w 275"/>
                <a:gd name="T9" fmla="*/ 214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5" h="214">
                  <a:moveTo>
                    <a:pt x="193" y="206"/>
                  </a:moveTo>
                  <a:cubicBezTo>
                    <a:pt x="205" y="187"/>
                    <a:pt x="275" y="127"/>
                    <a:pt x="266" y="93"/>
                  </a:cubicBezTo>
                  <a:cubicBezTo>
                    <a:pt x="257" y="59"/>
                    <a:pt x="180" y="8"/>
                    <a:pt x="137" y="4"/>
                  </a:cubicBezTo>
                  <a:cubicBezTo>
                    <a:pt x="94" y="0"/>
                    <a:pt x="14" y="34"/>
                    <a:pt x="7" y="69"/>
                  </a:cubicBezTo>
                  <a:cubicBezTo>
                    <a:pt x="0" y="104"/>
                    <a:pt x="78" y="184"/>
                    <a:pt x="96" y="21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bevel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0972" name="Group 23"/>
          <p:cNvGrpSpPr/>
          <p:nvPr/>
        </p:nvGrpSpPr>
        <p:grpSpPr bwMode="auto">
          <a:xfrm>
            <a:off x="1752600" y="4648200"/>
            <a:ext cx="436563" cy="568325"/>
            <a:chOff x="0" y="0"/>
            <a:chExt cx="275" cy="358"/>
          </a:xfrm>
        </p:grpSpPr>
        <p:sp>
          <p:nvSpPr>
            <p:cNvPr id="40986" name="Text Box 24"/>
            <p:cNvSpPr txBox="1">
              <a:spLocks noChangeArrowheads="1"/>
            </p:cNvSpPr>
            <p:nvPr/>
          </p:nvSpPr>
          <p:spPr bwMode="auto">
            <a:xfrm>
              <a:off x="50" y="70"/>
              <a:ext cx="1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40987" name="Freeform 25"/>
            <p:cNvSpPr>
              <a:spLocks noChangeArrowheads="1"/>
            </p:cNvSpPr>
            <p:nvPr/>
          </p:nvSpPr>
          <p:spPr bwMode="auto">
            <a:xfrm>
              <a:off x="0" y="0"/>
              <a:ext cx="275" cy="214"/>
            </a:xfrm>
            <a:custGeom>
              <a:avLst/>
              <a:gdLst>
                <a:gd name="T0" fmla="*/ 193 w 275"/>
                <a:gd name="T1" fmla="*/ 206 h 214"/>
                <a:gd name="T2" fmla="*/ 266 w 275"/>
                <a:gd name="T3" fmla="*/ 93 h 214"/>
                <a:gd name="T4" fmla="*/ 137 w 275"/>
                <a:gd name="T5" fmla="*/ 4 h 214"/>
                <a:gd name="T6" fmla="*/ 7 w 275"/>
                <a:gd name="T7" fmla="*/ 69 h 214"/>
                <a:gd name="T8" fmla="*/ 96 w 275"/>
                <a:gd name="T9" fmla="*/ 214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5" h="214">
                  <a:moveTo>
                    <a:pt x="193" y="206"/>
                  </a:moveTo>
                  <a:cubicBezTo>
                    <a:pt x="205" y="187"/>
                    <a:pt x="275" y="127"/>
                    <a:pt x="266" y="93"/>
                  </a:cubicBezTo>
                  <a:cubicBezTo>
                    <a:pt x="257" y="59"/>
                    <a:pt x="180" y="8"/>
                    <a:pt x="137" y="4"/>
                  </a:cubicBezTo>
                  <a:cubicBezTo>
                    <a:pt x="94" y="0"/>
                    <a:pt x="14" y="34"/>
                    <a:pt x="7" y="69"/>
                  </a:cubicBezTo>
                  <a:cubicBezTo>
                    <a:pt x="0" y="104"/>
                    <a:pt x="78" y="184"/>
                    <a:pt x="96" y="21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bevel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0973" name="Group 26"/>
          <p:cNvGrpSpPr/>
          <p:nvPr/>
        </p:nvGrpSpPr>
        <p:grpSpPr bwMode="auto">
          <a:xfrm>
            <a:off x="1371600" y="4343400"/>
            <a:ext cx="436563" cy="568325"/>
            <a:chOff x="0" y="0"/>
            <a:chExt cx="275" cy="358"/>
          </a:xfrm>
        </p:grpSpPr>
        <p:sp>
          <p:nvSpPr>
            <p:cNvPr id="40984" name="Text Box 27"/>
            <p:cNvSpPr txBox="1">
              <a:spLocks noChangeArrowheads="1"/>
            </p:cNvSpPr>
            <p:nvPr/>
          </p:nvSpPr>
          <p:spPr bwMode="auto">
            <a:xfrm>
              <a:off x="50" y="70"/>
              <a:ext cx="1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40985" name="Freeform 28"/>
            <p:cNvSpPr>
              <a:spLocks noChangeArrowheads="1"/>
            </p:cNvSpPr>
            <p:nvPr/>
          </p:nvSpPr>
          <p:spPr bwMode="auto">
            <a:xfrm>
              <a:off x="0" y="0"/>
              <a:ext cx="275" cy="214"/>
            </a:xfrm>
            <a:custGeom>
              <a:avLst/>
              <a:gdLst>
                <a:gd name="T0" fmla="*/ 193 w 275"/>
                <a:gd name="T1" fmla="*/ 206 h 214"/>
                <a:gd name="T2" fmla="*/ 266 w 275"/>
                <a:gd name="T3" fmla="*/ 93 h 214"/>
                <a:gd name="T4" fmla="*/ 137 w 275"/>
                <a:gd name="T5" fmla="*/ 4 h 214"/>
                <a:gd name="T6" fmla="*/ 7 w 275"/>
                <a:gd name="T7" fmla="*/ 69 h 214"/>
                <a:gd name="T8" fmla="*/ 96 w 275"/>
                <a:gd name="T9" fmla="*/ 214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5" h="214">
                  <a:moveTo>
                    <a:pt x="193" y="206"/>
                  </a:moveTo>
                  <a:cubicBezTo>
                    <a:pt x="205" y="187"/>
                    <a:pt x="275" y="127"/>
                    <a:pt x="266" y="93"/>
                  </a:cubicBezTo>
                  <a:cubicBezTo>
                    <a:pt x="257" y="59"/>
                    <a:pt x="180" y="8"/>
                    <a:pt x="137" y="4"/>
                  </a:cubicBezTo>
                  <a:cubicBezTo>
                    <a:pt x="94" y="0"/>
                    <a:pt x="14" y="34"/>
                    <a:pt x="7" y="69"/>
                  </a:cubicBezTo>
                  <a:cubicBezTo>
                    <a:pt x="0" y="104"/>
                    <a:pt x="78" y="184"/>
                    <a:pt x="96" y="21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bevel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0974" name="Group 29"/>
          <p:cNvGrpSpPr/>
          <p:nvPr/>
        </p:nvGrpSpPr>
        <p:grpSpPr bwMode="auto">
          <a:xfrm>
            <a:off x="1143000" y="3886200"/>
            <a:ext cx="436563" cy="568325"/>
            <a:chOff x="0" y="0"/>
            <a:chExt cx="275" cy="358"/>
          </a:xfrm>
        </p:grpSpPr>
        <p:sp>
          <p:nvSpPr>
            <p:cNvPr id="40982" name="Text Box 30"/>
            <p:cNvSpPr txBox="1">
              <a:spLocks noChangeArrowheads="1"/>
            </p:cNvSpPr>
            <p:nvPr/>
          </p:nvSpPr>
          <p:spPr bwMode="auto">
            <a:xfrm>
              <a:off x="50" y="70"/>
              <a:ext cx="1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-</a:t>
              </a:r>
            </a:p>
          </p:txBody>
        </p:sp>
        <p:sp>
          <p:nvSpPr>
            <p:cNvPr id="40983" name="Freeform 31"/>
            <p:cNvSpPr>
              <a:spLocks noChangeArrowheads="1"/>
            </p:cNvSpPr>
            <p:nvPr/>
          </p:nvSpPr>
          <p:spPr bwMode="auto">
            <a:xfrm>
              <a:off x="0" y="0"/>
              <a:ext cx="275" cy="214"/>
            </a:xfrm>
            <a:custGeom>
              <a:avLst/>
              <a:gdLst>
                <a:gd name="T0" fmla="*/ 193 w 275"/>
                <a:gd name="T1" fmla="*/ 206 h 214"/>
                <a:gd name="T2" fmla="*/ 266 w 275"/>
                <a:gd name="T3" fmla="*/ 93 h 214"/>
                <a:gd name="T4" fmla="*/ 137 w 275"/>
                <a:gd name="T5" fmla="*/ 4 h 214"/>
                <a:gd name="T6" fmla="*/ 7 w 275"/>
                <a:gd name="T7" fmla="*/ 69 h 214"/>
                <a:gd name="T8" fmla="*/ 96 w 275"/>
                <a:gd name="T9" fmla="*/ 214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5" h="214">
                  <a:moveTo>
                    <a:pt x="193" y="206"/>
                  </a:moveTo>
                  <a:cubicBezTo>
                    <a:pt x="205" y="187"/>
                    <a:pt x="275" y="127"/>
                    <a:pt x="266" y="93"/>
                  </a:cubicBezTo>
                  <a:cubicBezTo>
                    <a:pt x="257" y="59"/>
                    <a:pt x="180" y="8"/>
                    <a:pt x="137" y="4"/>
                  </a:cubicBezTo>
                  <a:cubicBezTo>
                    <a:pt x="94" y="0"/>
                    <a:pt x="14" y="34"/>
                    <a:pt x="7" y="69"/>
                  </a:cubicBezTo>
                  <a:cubicBezTo>
                    <a:pt x="0" y="104"/>
                    <a:pt x="78" y="184"/>
                    <a:pt x="96" y="21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bevel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0975" name="Text Box 32"/>
          <p:cNvSpPr txBox="1">
            <a:spLocks noChangeArrowheads="1"/>
          </p:cNvSpPr>
          <p:nvPr/>
        </p:nvSpPr>
        <p:spPr bwMode="auto">
          <a:xfrm>
            <a:off x="828516" y="5522913"/>
            <a:ext cx="262128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>
                <a:latin typeface="Times New Roman" panose="02020603050405020304" pitchFamily="18" charset="0"/>
              </a:rPr>
              <a:t>定义域</a:t>
            </a:r>
            <a:r>
              <a:rPr lang="en-US" altLang="zh-CN" sz="2400">
                <a:latin typeface="Times New Roman" panose="02020603050405020304" pitchFamily="18" charset="0"/>
              </a:rPr>
              <a:t>和</a:t>
            </a:r>
            <a:r>
              <a:rPr lang="zh-CN" altLang="en-US" sz="2400">
                <a:latin typeface="Times New Roman" panose="02020603050405020304" pitchFamily="18" charset="0"/>
              </a:rPr>
              <a:t>取值</a:t>
            </a:r>
            <a:r>
              <a:rPr lang="en-US" altLang="zh-CN" sz="2400">
                <a:latin typeface="Times New Roman" panose="02020603050405020304" pitchFamily="18" charset="0"/>
              </a:rPr>
              <a:t>范围</a:t>
            </a:r>
          </a:p>
        </p:txBody>
      </p:sp>
      <p:sp>
        <p:nvSpPr>
          <p:cNvPr id="40976" name="Line 33"/>
          <p:cNvSpPr>
            <a:spLocks noChangeShapeType="1"/>
          </p:cNvSpPr>
          <p:nvPr/>
        </p:nvSpPr>
        <p:spPr bwMode="auto">
          <a:xfrm>
            <a:off x="5029200" y="2895600"/>
            <a:ext cx="0" cy="2362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77" name="Line 34"/>
          <p:cNvSpPr>
            <a:spLocks noChangeShapeType="1"/>
          </p:cNvSpPr>
          <p:nvPr/>
        </p:nvSpPr>
        <p:spPr bwMode="auto">
          <a:xfrm>
            <a:off x="5029200" y="52578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78" name="Line 35"/>
          <p:cNvSpPr>
            <a:spLocks noChangeShapeType="1"/>
          </p:cNvSpPr>
          <p:nvPr/>
        </p:nvSpPr>
        <p:spPr bwMode="auto">
          <a:xfrm flipV="1">
            <a:off x="5029200" y="3124200"/>
            <a:ext cx="2133600" cy="213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79" name="Text Box 36"/>
          <p:cNvSpPr txBox="1">
            <a:spLocks noChangeArrowheads="1"/>
          </p:cNvSpPr>
          <p:nvPr/>
        </p:nvSpPr>
        <p:spPr bwMode="auto">
          <a:xfrm>
            <a:off x="5745163" y="5410200"/>
            <a:ext cx="319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40980" name="Text Box 37"/>
          <p:cNvSpPr txBox="1">
            <a:spLocks noChangeArrowheads="1"/>
          </p:cNvSpPr>
          <p:nvPr/>
        </p:nvSpPr>
        <p:spPr bwMode="auto">
          <a:xfrm>
            <a:off x="4487863" y="3733800"/>
            <a:ext cx="319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40981" name="Text Box 38"/>
          <p:cNvSpPr txBox="1">
            <a:spLocks noChangeArrowheads="1"/>
          </p:cNvSpPr>
          <p:nvPr/>
        </p:nvSpPr>
        <p:spPr bwMode="auto">
          <a:xfrm>
            <a:off x="6400800" y="3810000"/>
            <a:ext cx="13604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000" b="1" i="1">
                <a:solidFill>
                  <a:srgbClr val="030711"/>
                </a:solidFill>
                <a:latin typeface="Times New Roman" panose="02020603050405020304" pitchFamily="18" charset="0"/>
              </a:rPr>
              <a:t>y </a:t>
            </a:r>
            <a:r>
              <a:rPr lang="en-US" altLang="zh-CN" sz="2000" b="1">
                <a:solidFill>
                  <a:srgbClr val="030711"/>
                </a:solidFill>
                <a:latin typeface="Times New Roman" panose="02020603050405020304" pitchFamily="18" charset="0"/>
              </a:rPr>
              <a:t>= </a:t>
            </a:r>
            <a:r>
              <a:rPr lang="en-US" altLang="zh-CN" sz="2000" b="1" i="1">
                <a:solidFill>
                  <a:srgbClr val="030711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000" b="1">
                <a:solidFill>
                  <a:srgbClr val="03071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b="1" i="1">
                <a:solidFill>
                  <a:srgbClr val="03071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b="1">
                <a:solidFill>
                  <a:srgbClr val="030711"/>
                </a:solidFill>
                <a:latin typeface="Times New Roman" panose="02020603050405020304" pitchFamily="18" charset="0"/>
              </a:rPr>
              <a:t>) = </a:t>
            </a:r>
            <a:r>
              <a:rPr lang="en-US" altLang="zh-CN" sz="2000" b="1" i="1">
                <a:solidFill>
                  <a:srgbClr val="030711"/>
                </a:solidFill>
                <a:latin typeface="Times New Roman" panose="02020603050405020304" pitchFamily="18" charset="0"/>
              </a:rPr>
              <a:t>x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08DAFC55-42A3-4F81-989D-220C9A04E25A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满射</a:t>
            </a:r>
            <a:r>
              <a:rPr lang="en-US" altLang="zh-CN">
                <a:ea typeface="宋体" panose="02010600030101010101" pitchFamily="2" charset="-122"/>
              </a:rPr>
              <a:t>的</a:t>
            </a:r>
            <a:r>
              <a:rPr lang="zh-CN" altLang="en-US">
                <a:ea typeface="宋体" panose="02010600030101010101" pitchFamily="2" charset="-122"/>
              </a:rPr>
              <a:t>说明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这些</a:t>
            </a:r>
            <a:r>
              <a:rPr lang="zh-CN" altLang="en-US">
                <a:ea typeface="宋体" panose="02010600030101010101" pitchFamily="2" charset="-122"/>
              </a:rPr>
              <a:t>函数</a:t>
            </a:r>
            <a:r>
              <a:rPr lang="en-US" altLang="zh-CN">
                <a:ea typeface="宋体" panose="02010600030101010101" pitchFamily="2" charset="-122"/>
              </a:rPr>
              <a:t>是</a:t>
            </a:r>
            <a:r>
              <a:rPr lang="zh-CN" altLang="en-US">
                <a:ea typeface="宋体" panose="02010600030101010101" pitchFamily="2" charset="-122"/>
              </a:rPr>
              <a:t>否在它们的值</a:t>
            </a:r>
            <a:r>
              <a:rPr lang="en-US" altLang="zh-CN">
                <a:ea typeface="宋体" panose="02010600030101010101" pitchFamily="2" charset="-122"/>
              </a:rPr>
              <a:t>域</a:t>
            </a:r>
            <a:r>
              <a:rPr lang="zh-CN" altLang="en-US">
                <a:ea typeface="宋体" panose="02010600030101010101" pitchFamily="2" charset="-122"/>
              </a:rPr>
              <a:t>上是满射的</a:t>
            </a:r>
            <a:r>
              <a:rPr lang="en-US" altLang="zh-CN">
                <a:ea typeface="宋体" panose="02010600030101010101" pitchFamily="2" charset="-122"/>
              </a:rPr>
              <a:t>？</a:t>
            </a:r>
          </a:p>
        </p:txBody>
      </p:sp>
      <p:sp>
        <p:nvSpPr>
          <p:cNvPr id="41989" name="Text Box 4"/>
          <p:cNvSpPr txBox="1">
            <a:spLocks noChangeArrowheads="1"/>
          </p:cNvSpPr>
          <p:nvPr/>
        </p:nvSpPr>
        <p:spPr bwMode="auto">
          <a:xfrm>
            <a:off x="1219200" y="41148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1990" name="Text Box 5"/>
          <p:cNvSpPr txBox="1">
            <a:spLocks noChangeArrowheads="1"/>
          </p:cNvSpPr>
          <p:nvPr/>
        </p:nvSpPr>
        <p:spPr bwMode="auto">
          <a:xfrm>
            <a:off x="1219200" y="37338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1991" name="Text Box 6"/>
          <p:cNvSpPr txBox="1">
            <a:spLocks noChangeArrowheads="1"/>
          </p:cNvSpPr>
          <p:nvPr/>
        </p:nvSpPr>
        <p:spPr bwMode="auto">
          <a:xfrm>
            <a:off x="1219200" y="3429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1992" name="Text Box 7"/>
          <p:cNvSpPr txBox="1">
            <a:spLocks noChangeArrowheads="1"/>
          </p:cNvSpPr>
          <p:nvPr/>
        </p:nvSpPr>
        <p:spPr bwMode="auto">
          <a:xfrm>
            <a:off x="1219200" y="3124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1993" name="Text Box 8"/>
          <p:cNvSpPr txBox="1">
            <a:spLocks noChangeArrowheads="1"/>
          </p:cNvSpPr>
          <p:nvPr/>
        </p:nvSpPr>
        <p:spPr bwMode="auto">
          <a:xfrm>
            <a:off x="2362200" y="3886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1994" name="Text Box 9"/>
          <p:cNvSpPr txBox="1">
            <a:spLocks noChangeArrowheads="1"/>
          </p:cNvSpPr>
          <p:nvPr/>
        </p:nvSpPr>
        <p:spPr bwMode="auto">
          <a:xfrm>
            <a:off x="1219200" y="44958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1995" name="Text Box 10"/>
          <p:cNvSpPr txBox="1">
            <a:spLocks noChangeArrowheads="1"/>
          </p:cNvSpPr>
          <p:nvPr/>
        </p:nvSpPr>
        <p:spPr bwMode="auto">
          <a:xfrm>
            <a:off x="2362200" y="3505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1996" name="Text Box 11"/>
          <p:cNvSpPr txBox="1">
            <a:spLocks noChangeArrowheads="1"/>
          </p:cNvSpPr>
          <p:nvPr/>
        </p:nvSpPr>
        <p:spPr bwMode="auto">
          <a:xfrm>
            <a:off x="2362200" y="3124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1997" name="Line 12"/>
          <p:cNvSpPr>
            <a:spLocks noChangeShapeType="1"/>
          </p:cNvSpPr>
          <p:nvPr/>
        </p:nvSpPr>
        <p:spPr bwMode="auto">
          <a:xfrm>
            <a:off x="1371600" y="3352800"/>
            <a:ext cx="1143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98" name="Line 13"/>
          <p:cNvSpPr>
            <a:spLocks noChangeShapeType="1"/>
          </p:cNvSpPr>
          <p:nvPr/>
        </p:nvSpPr>
        <p:spPr bwMode="auto">
          <a:xfrm flipV="1">
            <a:off x="1371600" y="33528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999" name="Line 14"/>
          <p:cNvSpPr>
            <a:spLocks noChangeShapeType="1"/>
          </p:cNvSpPr>
          <p:nvPr/>
        </p:nvSpPr>
        <p:spPr bwMode="auto">
          <a:xfrm>
            <a:off x="1371600" y="39624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0" name="Line 15"/>
          <p:cNvSpPr>
            <a:spLocks noChangeShapeType="1"/>
          </p:cNvSpPr>
          <p:nvPr/>
        </p:nvSpPr>
        <p:spPr bwMode="auto">
          <a:xfrm>
            <a:off x="1371600" y="43434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1" name="Text Box 16"/>
          <p:cNvSpPr txBox="1">
            <a:spLocks noChangeArrowheads="1"/>
          </p:cNvSpPr>
          <p:nvPr/>
        </p:nvSpPr>
        <p:spPr bwMode="auto">
          <a:xfrm>
            <a:off x="2362200" y="4267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2002" name="Line 17"/>
          <p:cNvSpPr>
            <a:spLocks noChangeShapeType="1"/>
          </p:cNvSpPr>
          <p:nvPr/>
        </p:nvSpPr>
        <p:spPr bwMode="auto">
          <a:xfrm flipV="1">
            <a:off x="1371600" y="4495800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03" name="Text Box 18"/>
          <p:cNvSpPr txBox="1">
            <a:spLocks noChangeArrowheads="1"/>
          </p:cNvSpPr>
          <p:nvPr/>
        </p:nvSpPr>
        <p:spPr bwMode="auto">
          <a:xfrm>
            <a:off x="3276600" y="41148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2004" name="Text Box 19"/>
          <p:cNvSpPr txBox="1">
            <a:spLocks noChangeArrowheads="1"/>
          </p:cNvSpPr>
          <p:nvPr/>
        </p:nvSpPr>
        <p:spPr bwMode="auto">
          <a:xfrm>
            <a:off x="3276600" y="37338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2005" name="Text Box 20"/>
          <p:cNvSpPr txBox="1">
            <a:spLocks noChangeArrowheads="1"/>
          </p:cNvSpPr>
          <p:nvPr/>
        </p:nvSpPr>
        <p:spPr bwMode="auto">
          <a:xfrm>
            <a:off x="3276600" y="3429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2006" name="Text Box 21"/>
          <p:cNvSpPr txBox="1">
            <a:spLocks noChangeArrowheads="1"/>
          </p:cNvSpPr>
          <p:nvPr/>
        </p:nvSpPr>
        <p:spPr bwMode="auto">
          <a:xfrm>
            <a:off x="3276600" y="3124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2007" name="Text Box 22"/>
          <p:cNvSpPr txBox="1">
            <a:spLocks noChangeArrowheads="1"/>
          </p:cNvSpPr>
          <p:nvPr/>
        </p:nvSpPr>
        <p:spPr bwMode="auto">
          <a:xfrm>
            <a:off x="4419600" y="3886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2008" name="Text Box 23"/>
          <p:cNvSpPr txBox="1">
            <a:spLocks noChangeArrowheads="1"/>
          </p:cNvSpPr>
          <p:nvPr/>
        </p:nvSpPr>
        <p:spPr bwMode="auto">
          <a:xfrm>
            <a:off x="3276600" y="44958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2009" name="Text Box 24"/>
          <p:cNvSpPr txBox="1">
            <a:spLocks noChangeArrowheads="1"/>
          </p:cNvSpPr>
          <p:nvPr/>
        </p:nvSpPr>
        <p:spPr bwMode="auto">
          <a:xfrm>
            <a:off x="4419600" y="3505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2010" name="Text Box 25"/>
          <p:cNvSpPr txBox="1">
            <a:spLocks noChangeArrowheads="1"/>
          </p:cNvSpPr>
          <p:nvPr/>
        </p:nvSpPr>
        <p:spPr bwMode="auto">
          <a:xfrm>
            <a:off x="4419600" y="3124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2011" name="Line 26"/>
          <p:cNvSpPr>
            <a:spLocks noChangeShapeType="1"/>
          </p:cNvSpPr>
          <p:nvPr/>
        </p:nvSpPr>
        <p:spPr bwMode="auto">
          <a:xfrm>
            <a:off x="3429000" y="3352800"/>
            <a:ext cx="1143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12" name="Line 27"/>
          <p:cNvSpPr>
            <a:spLocks noChangeShapeType="1"/>
          </p:cNvSpPr>
          <p:nvPr/>
        </p:nvSpPr>
        <p:spPr bwMode="auto">
          <a:xfrm flipV="1">
            <a:off x="3429000" y="33528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13" name="Line 28"/>
          <p:cNvSpPr>
            <a:spLocks noChangeShapeType="1"/>
          </p:cNvSpPr>
          <p:nvPr/>
        </p:nvSpPr>
        <p:spPr bwMode="auto">
          <a:xfrm flipV="1">
            <a:off x="3429000" y="3733800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14" name="Line 29"/>
          <p:cNvSpPr>
            <a:spLocks noChangeShapeType="1"/>
          </p:cNvSpPr>
          <p:nvPr/>
        </p:nvSpPr>
        <p:spPr bwMode="auto">
          <a:xfrm>
            <a:off x="3429000" y="43434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15" name="Text Box 30"/>
          <p:cNvSpPr txBox="1">
            <a:spLocks noChangeArrowheads="1"/>
          </p:cNvSpPr>
          <p:nvPr/>
        </p:nvSpPr>
        <p:spPr bwMode="auto">
          <a:xfrm>
            <a:off x="4419600" y="4267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2016" name="Line 31"/>
          <p:cNvSpPr>
            <a:spLocks noChangeShapeType="1"/>
          </p:cNvSpPr>
          <p:nvPr/>
        </p:nvSpPr>
        <p:spPr bwMode="auto">
          <a:xfrm flipV="1">
            <a:off x="3429000" y="4495800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17" name="Text Box 32"/>
          <p:cNvSpPr txBox="1">
            <a:spLocks noChangeArrowheads="1"/>
          </p:cNvSpPr>
          <p:nvPr/>
        </p:nvSpPr>
        <p:spPr bwMode="auto">
          <a:xfrm>
            <a:off x="5105400" y="4191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2018" name="Text Box 33"/>
          <p:cNvSpPr txBox="1">
            <a:spLocks noChangeArrowheads="1"/>
          </p:cNvSpPr>
          <p:nvPr/>
        </p:nvSpPr>
        <p:spPr bwMode="auto">
          <a:xfrm>
            <a:off x="5105400" y="3810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2019" name="Text Box 34"/>
          <p:cNvSpPr txBox="1">
            <a:spLocks noChangeArrowheads="1"/>
          </p:cNvSpPr>
          <p:nvPr/>
        </p:nvSpPr>
        <p:spPr bwMode="auto">
          <a:xfrm>
            <a:off x="5105400" y="3505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2020" name="Text Box 35"/>
          <p:cNvSpPr txBox="1">
            <a:spLocks noChangeArrowheads="1"/>
          </p:cNvSpPr>
          <p:nvPr/>
        </p:nvSpPr>
        <p:spPr bwMode="auto">
          <a:xfrm>
            <a:off x="5105400" y="3200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2021" name="Text Box 36"/>
          <p:cNvSpPr txBox="1">
            <a:spLocks noChangeArrowheads="1"/>
          </p:cNvSpPr>
          <p:nvPr/>
        </p:nvSpPr>
        <p:spPr bwMode="auto">
          <a:xfrm>
            <a:off x="6248400" y="3962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2022" name="Text Box 37"/>
          <p:cNvSpPr txBox="1">
            <a:spLocks noChangeArrowheads="1"/>
          </p:cNvSpPr>
          <p:nvPr/>
        </p:nvSpPr>
        <p:spPr bwMode="auto">
          <a:xfrm>
            <a:off x="6248400" y="3581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2023" name="Text Box 38"/>
          <p:cNvSpPr txBox="1">
            <a:spLocks noChangeArrowheads="1"/>
          </p:cNvSpPr>
          <p:nvPr/>
        </p:nvSpPr>
        <p:spPr bwMode="auto">
          <a:xfrm>
            <a:off x="6248400" y="3200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2024" name="Line 39"/>
          <p:cNvSpPr>
            <a:spLocks noChangeShapeType="1"/>
          </p:cNvSpPr>
          <p:nvPr/>
        </p:nvSpPr>
        <p:spPr bwMode="auto">
          <a:xfrm flipV="1">
            <a:off x="5257800" y="34290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25" name="Line 40"/>
          <p:cNvSpPr>
            <a:spLocks noChangeShapeType="1"/>
          </p:cNvSpPr>
          <p:nvPr/>
        </p:nvSpPr>
        <p:spPr bwMode="auto">
          <a:xfrm flipV="1">
            <a:off x="5257800" y="3810000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26" name="Line 41"/>
          <p:cNvSpPr>
            <a:spLocks noChangeShapeType="1"/>
          </p:cNvSpPr>
          <p:nvPr/>
        </p:nvSpPr>
        <p:spPr bwMode="auto">
          <a:xfrm>
            <a:off x="5257800" y="3429000"/>
            <a:ext cx="11430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27" name="Text Box 42"/>
          <p:cNvSpPr txBox="1">
            <a:spLocks noChangeArrowheads="1"/>
          </p:cNvSpPr>
          <p:nvPr/>
        </p:nvSpPr>
        <p:spPr bwMode="auto">
          <a:xfrm>
            <a:off x="6248400" y="4343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2028" name="Line 43"/>
          <p:cNvSpPr>
            <a:spLocks noChangeShapeType="1"/>
          </p:cNvSpPr>
          <p:nvPr/>
        </p:nvSpPr>
        <p:spPr bwMode="auto">
          <a:xfrm flipV="1">
            <a:off x="5334000" y="4191000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29" name="Text Box 44"/>
          <p:cNvSpPr txBox="1">
            <a:spLocks noChangeArrowheads="1"/>
          </p:cNvSpPr>
          <p:nvPr/>
        </p:nvSpPr>
        <p:spPr bwMode="auto">
          <a:xfrm>
            <a:off x="6781800" y="4191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2030" name="Text Box 45"/>
          <p:cNvSpPr txBox="1">
            <a:spLocks noChangeArrowheads="1"/>
          </p:cNvSpPr>
          <p:nvPr/>
        </p:nvSpPr>
        <p:spPr bwMode="auto">
          <a:xfrm>
            <a:off x="6781800" y="3810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2031" name="Text Box 46"/>
          <p:cNvSpPr txBox="1">
            <a:spLocks noChangeArrowheads="1"/>
          </p:cNvSpPr>
          <p:nvPr/>
        </p:nvSpPr>
        <p:spPr bwMode="auto">
          <a:xfrm>
            <a:off x="6781800" y="3505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2032" name="Text Box 47"/>
          <p:cNvSpPr txBox="1">
            <a:spLocks noChangeArrowheads="1"/>
          </p:cNvSpPr>
          <p:nvPr/>
        </p:nvSpPr>
        <p:spPr bwMode="auto">
          <a:xfrm>
            <a:off x="6781800" y="3200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2033" name="Text Box 48"/>
          <p:cNvSpPr txBox="1">
            <a:spLocks noChangeArrowheads="1"/>
          </p:cNvSpPr>
          <p:nvPr/>
        </p:nvSpPr>
        <p:spPr bwMode="auto">
          <a:xfrm>
            <a:off x="7924800" y="3962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2034" name="Text Box 49"/>
          <p:cNvSpPr txBox="1">
            <a:spLocks noChangeArrowheads="1"/>
          </p:cNvSpPr>
          <p:nvPr/>
        </p:nvSpPr>
        <p:spPr bwMode="auto">
          <a:xfrm>
            <a:off x="7924800" y="3581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2035" name="Text Box 50"/>
          <p:cNvSpPr txBox="1">
            <a:spLocks noChangeArrowheads="1"/>
          </p:cNvSpPr>
          <p:nvPr/>
        </p:nvSpPr>
        <p:spPr bwMode="auto">
          <a:xfrm>
            <a:off x="7924800" y="3200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2036" name="Line 51"/>
          <p:cNvSpPr>
            <a:spLocks noChangeShapeType="1"/>
          </p:cNvSpPr>
          <p:nvPr/>
        </p:nvSpPr>
        <p:spPr bwMode="auto">
          <a:xfrm flipV="1">
            <a:off x="6934200" y="34290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37" name="Line 52"/>
          <p:cNvSpPr>
            <a:spLocks noChangeShapeType="1"/>
          </p:cNvSpPr>
          <p:nvPr/>
        </p:nvSpPr>
        <p:spPr bwMode="auto">
          <a:xfrm flipV="1">
            <a:off x="6934200" y="3810000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38" name="Line 53"/>
          <p:cNvSpPr>
            <a:spLocks noChangeShapeType="1"/>
          </p:cNvSpPr>
          <p:nvPr/>
        </p:nvSpPr>
        <p:spPr bwMode="auto">
          <a:xfrm>
            <a:off x="6934200" y="3429000"/>
            <a:ext cx="11430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39" name="Text Box 54"/>
          <p:cNvSpPr txBox="1">
            <a:spLocks noChangeArrowheads="1"/>
          </p:cNvSpPr>
          <p:nvPr/>
        </p:nvSpPr>
        <p:spPr bwMode="auto">
          <a:xfrm>
            <a:off x="7924800" y="4343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2040" name="Line 55"/>
          <p:cNvSpPr>
            <a:spLocks noChangeShapeType="1"/>
          </p:cNvSpPr>
          <p:nvPr/>
        </p:nvSpPr>
        <p:spPr bwMode="auto">
          <a:xfrm flipV="1">
            <a:off x="7010400" y="4191000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041" name="Text Box 56"/>
          <p:cNvSpPr txBox="1">
            <a:spLocks noChangeArrowheads="1"/>
          </p:cNvSpPr>
          <p:nvPr/>
        </p:nvSpPr>
        <p:spPr bwMode="auto">
          <a:xfrm>
            <a:off x="7924800" y="2667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561DB3A0-B23B-4DBE-BE38-4DFEBA686CD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39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满射的说明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  <a:sym typeface="+mn-ea"/>
              </a:rPr>
              <a:t>这些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函数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是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否是满射</a:t>
            </a:r>
            <a:r>
              <a:rPr lang="en-US" altLang="zh-CN">
                <a:ea typeface="宋体" panose="02010600030101010101" pitchFamily="2" charset="-122"/>
              </a:rPr>
              <a:t>？</a:t>
            </a:r>
          </a:p>
        </p:txBody>
      </p:sp>
      <p:sp>
        <p:nvSpPr>
          <p:cNvPr id="43013" name="Text Box 4"/>
          <p:cNvSpPr txBox="1">
            <a:spLocks noChangeArrowheads="1"/>
          </p:cNvSpPr>
          <p:nvPr/>
        </p:nvSpPr>
        <p:spPr bwMode="auto">
          <a:xfrm>
            <a:off x="1930400" y="4084638"/>
            <a:ext cx="1841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br>
              <a:rPr lang="zh-CN" altLang="en-US" sz="2400">
                <a:latin typeface="Times New Roman" panose="02020603050405020304" pitchFamily="18" charset="0"/>
              </a:rPr>
            </a:b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3014" name="Text Box 5"/>
          <p:cNvSpPr txBox="1">
            <a:spLocks noChangeArrowheads="1"/>
          </p:cNvSpPr>
          <p:nvPr/>
        </p:nvSpPr>
        <p:spPr bwMode="auto">
          <a:xfrm>
            <a:off x="1219200" y="3505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15" name="Text Box 6"/>
          <p:cNvSpPr txBox="1">
            <a:spLocks noChangeArrowheads="1"/>
          </p:cNvSpPr>
          <p:nvPr/>
        </p:nvSpPr>
        <p:spPr bwMode="auto">
          <a:xfrm>
            <a:off x="1219200" y="3124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16" name="Text Box 7"/>
          <p:cNvSpPr txBox="1">
            <a:spLocks noChangeArrowheads="1"/>
          </p:cNvSpPr>
          <p:nvPr/>
        </p:nvSpPr>
        <p:spPr bwMode="auto">
          <a:xfrm>
            <a:off x="1219200" y="2819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17" name="Text Box 8"/>
          <p:cNvSpPr txBox="1">
            <a:spLocks noChangeArrowheads="1"/>
          </p:cNvSpPr>
          <p:nvPr/>
        </p:nvSpPr>
        <p:spPr bwMode="auto">
          <a:xfrm>
            <a:off x="1219200" y="2514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18" name="Text Box 9"/>
          <p:cNvSpPr txBox="1">
            <a:spLocks noChangeArrowheads="1"/>
          </p:cNvSpPr>
          <p:nvPr/>
        </p:nvSpPr>
        <p:spPr bwMode="auto">
          <a:xfrm>
            <a:off x="2362200" y="3276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19" name="Text Box 10"/>
          <p:cNvSpPr txBox="1">
            <a:spLocks noChangeArrowheads="1"/>
          </p:cNvSpPr>
          <p:nvPr/>
        </p:nvSpPr>
        <p:spPr bwMode="auto">
          <a:xfrm>
            <a:off x="1219200" y="3886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20" name="Text Box 11"/>
          <p:cNvSpPr txBox="1">
            <a:spLocks noChangeArrowheads="1"/>
          </p:cNvSpPr>
          <p:nvPr/>
        </p:nvSpPr>
        <p:spPr bwMode="auto">
          <a:xfrm>
            <a:off x="2362200" y="2895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21" name="Text Box 12"/>
          <p:cNvSpPr txBox="1">
            <a:spLocks noChangeArrowheads="1"/>
          </p:cNvSpPr>
          <p:nvPr/>
        </p:nvSpPr>
        <p:spPr bwMode="auto">
          <a:xfrm>
            <a:off x="2362200" y="2514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22" name="Line 13"/>
          <p:cNvSpPr>
            <a:spLocks noChangeShapeType="1"/>
          </p:cNvSpPr>
          <p:nvPr/>
        </p:nvSpPr>
        <p:spPr bwMode="auto">
          <a:xfrm>
            <a:off x="1371600" y="2743200"/>
            <a:ext cx="1143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23" name="Line 14"/>
          <p:cNvSpPr>
            <a:spLocks noChangeShapeType="1"/>
          </p:cNvSpPr>
          <p:nvPr/>
        </p:nvSpPr>
        <p:spPr bwMode="auto">
          <a:xfrm flipV="1">
            <a:off x="1371600" y="27432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24" name="Line 15"/>
          <p:cNvSpPr>
            <a:spLocks noChangeShapeType="1"/>
          </p:cNvSpPr>
          <p:nvPr/>
        </p:nvSpPr>
        <p:spPr bwMode="auto">
          <a:xfrm>
            <a:off x="1371600" y="33528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25" name="Line 16"/>
          <p:cNvSpPr>
            <a:spLocks noChangeShapeType="1"/>
          </p:cNvSpPr>
          <p:nvPr/>
        </p:nvSpPr>
        <p:spPr bwMode="auto">
          <a:xfrm>
            <a:off x="1371600" y="37338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26" name="Text Box 17"/>
          <p:cNvSpPr txBox="1">
            <a:spLocks noChangeArrowheads="1"/>
          </p:cNvSpPr>
          <p:nvPr/>
        </p:nvSpPr>
        <p:spPr bwMode="auto">
          <a:xfrm>
            <a:off x="2362200" y="3657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27" name="Line 18"/>
          <p:cNvSpPr>
            <a:spLocks noChangeShapeType="1"/>
          </p:cNvSpPr>
          <p:nvPr/>
        </p:nvSpPr>
        <p:spPr bwMode="auto">
          <a:xfrm flipV="1">
            <a:off x="1371600" y="3886200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28" name="Text Box 19"/>
          <p:cNvSpPr txBox="1">
            <a:spLocks noChangeArrowheads="1"/>
          </p:cNvSpPr>
          <p:nvPr/>
        </p:nvSpPr>
        <p:spPr bwMode="auto">
          <a:xfrm>
            <a:off x="3276600" y="3505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29" name="Text Box 20"/>
          <p:cNvSpPr txBox="1">
            <a:spLocks noChangeArrowheads="1"/>
          </p:cNvSpPr>
          <p:nvPr/>
        </p:nvSpPr>
        <p:spPr bwMode="auto">
          <a:xfrm>
            <a:off x="3276600" y="3124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30" name="Text Box 21"/>
          <p:cNvSpPr txBox="1">
            <a:spLocks noChangeArrowheads="1"/>
          </p:cNvSpPr>
          <p:nvPr/>
        </p:nvSpPr>
        <p:spPr bwMode="auto">
          <a:xfrm>
            <a:off x="3276600" y="2819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31" name="Text Box 22"/>
          <p:cNvSpPr txBox="1">
            <a:spLocks noChangeArrowheads="1"/>
          </p:cNvSpPr>
          <p:nvPr/>
        </p:nvSpPr>
        <p:spPr bwMode="auto">
          <a:xfrm>
            <a:off x="3276600" y="2514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32" name="Text Box 23"/>
          <p:cNvSpPr txBox="1">
            <a:spLocks noChangeArrowheads="1"/>
          </p:cNvSpPr>
          <p:nvPr/>
        </p:nvSpPr>
        <p:spPr bwMode="auto">
          <a:xfrm>
            <a:off x="4419600" y="3276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33" name="Text Box 24"/>
          <p:cNvSpPr txBox="1">
            <a:spLocks noChangeArrowheads="1"/>
          </p:cNvSpPr>
          <p:nvPr/>
        </p:nvSpPr>
        <p:spPr bwMode="auto">
          <a:xfrm>
            <a:off x="3276600" y="3886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34" name="Text Box 25"/>
          <p:cNvSpPr txBox="1">
            <a:spLocks noChangeArrowheads="1"/>
          </p:cNvSpPr>
          <p:nvPr/>
        </p:nvSpPr>
        <p:spPr bwMode="auto">
          <a:xfrm>
            <a:off x="4419600" y="2895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35" name="Text Box 26"/>
          <p:cNvSpPr txBox="1">
            <a:spLocks noChangeArrowheads="1"/>
          </p:cNvSpPr>
          <p:nvPr/>
        </p:nvSpPr>
        <p:spPr bwMode="auto">
          <a:xfrm>
            <a:off x="4419600" y="2514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36" name="Line 27"/>
          <p:cNvSpPr>
            <a:spLocks noChangeShapeType="1"/>
          </p:cNvSpPr>
          <p:nvPr/>
        </p:nvSpPr>
        <p:spPr bwMode="auto">
          <a:xfrm>
            <a:off x="3429000" y="2743200"/>
            <a:ext cx="1143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37" name="Line 28"/>
          <p:cNvSpPr>
            <a:spLocks noChangeShapeType="1"/>
          </p:cNvSpPr>
          <p:nvPr/>
        </p:nvSpPr>
        <p:spPr bwMode="auto">
          <a:xfrm flipV="1">
            <a:off x="3429000" y="27432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38" name="Line 29"/>
          <p:cNvSpPr>
            <a:spLocks noChangeShapeType="1"/>
          </p:cNvSpPr>
          <p:nvPr/>
        </p:nvSpPr>
        <p:spPr bwMode="auto">
          <a:xfrm flipV="1">
            <a:off x="3429000" y="3124200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39" name="Line 30"/>
          <p:cNvSpPr>
            <a:spLocks noChangeShapeType="1"/>
          </p:cNvSpPr>
          <p:nvPr/>
        </p:nvSpPr>
        <p:spPr bwMode="auto">
          <a:xfrm>
            <a:off x="3429000" y="37338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40" name="Text Box 31"/>
          <p:cNvSpPr txBox="1">
            <a:spLocks noChangeArrowheads="1"/>
          </p:cNvSpPr>
          <p:nvPr/>
        </p:nvSpPr>
        <p:spPr bwMode="auto">
          <a:xfrm>
            <a:off x="4419600" y="3657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41" name="Line 32"/>
          <p:cNvSpPr>
            <a:spLocks noChangeShapeType="1"/>
          </p:cNvSpPr>
          <p:nvPr/>
        </p:nvSpPr>
        <p:spPr bwMode="auto">
          <a:xfrm flipV="1">
            <a:off x="3429000" y="3886200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42" name="Text Box 33"/>
          <p:cNvSpPr txBox="1">
            <a:spLocks noChangeArrowheads="1"/>
          </p:cNvSpPr>
          <p:nvPr/>
        </p:nvSpPr>
        <p:spPr bwMode="auto">
          <a:xfrm>
            <a:off x="5816600" y="4160838"/>
            <a:ext cx="1841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br>
              <a:rPr lang="zh-CN" altLang="en-US" sz="2400">
                <a:latin typeface="Times New Roman" panose="02020603050405020304" pitchFamily="18" charset="0"/>
              </a:rPr>
            </a:b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3043" name="Text Box 34"/>
          <p:cNvSpPr txBox="1">
            <a:spLocks noChangeArrowheads="1"/>
          </p:cNvSpPr>
          <p:nvPr/>
        </p:nvSpPr>
        <p:spPr bwMode="auto">
          <a:xfrm>
            <a:off x="5105400" y="3581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44" name="Text Box 35"/>
          <p:cNvSpPr txBox="1">
            <a:spLocks noChangeArrowheads="1"/>
          </p:cNvSpPr>
          <p:nvPr/>
        </p:nvSpPr>
        <p:spPr bwMode="auto">
          <a:xfrm>
            <a:off x="5105400" y="3200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45" name="Text Box 36"/>
          <p:cNvSpPr txBox="1">
            <a:spLocks noChangeArrowheads="1"/>
          </p:cNvSpPr>
          <p:nvPr/>
        </p:nvSpPr>
        <p:spPr bwMode="auto">
          <a:xfrm>
            <a:off x="5105400" y="2895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46" name="Text Box 37"/>
          <p:cNvSpPr txBox="1">
            <a:spLocks noChangeArrowheads="1"/>
          </p:cNvSpPr>
          <p:nvPr/>
        </p:nvSpPr>
        <p:spPr bwMode="auto">
          <a:xfrm>
            <a:off x="5105400" y="25908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47" name="Text Box 38"/>
          <p:cNvSpPr txBox="1">
            <a:spLocks noChangeArrowheads="1"/>
          </p:cNvSpPr>
          <p:nvPr/>
        </p:nvSpPr>
        <p:spPr bwMode="auto">
          <a:xfrm>
            <a:off x="6248400" y="33528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48" name="Text Box 39"/>
          <p:cNvSpPr txBox="1">
            <a:spLocks noChangeArrowheads="1"/>
          </p:cNvSpPr>
          <p:nvPr/>
        </p:nvSpPr>
        <p:spPr bwMode="auto">
          <a:xfrm>
            <a:off x="6248400" y="29718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49" name="Text Box 40"/>
          <p:cNvSpPr txBox="1">
            <a:spLocks noChangeArrowheads="1"/>
          </p:cNvSpPr>
          <p:nvPr/>
        </p:nvSpPr>
        <p:spPr bwMode="auto">
          <a:xfrm>
            <a:off x="6248400" y="25908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50" name="Line 41"/>
          <p:cNvSpPr>
            <a:spLocks noChangeShapeType="1"/>
          </p:cNvSpPr>
          <p:nvPr/>
        </p:nvSpPr>
        <p:spPr bwMode="auto">
          <a:xfrm flipV="1">
            <a:off x="5257800" y="28194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51" name="Line 42"/>
          <p:cNvSpPr>
            <a:spLocks noChangeShapeType="1"/>
          </p:cNvSpPr>
          <p:nvPr/>
        </p:nvSpPr>
        <p:spPr bwMode="auto">
          <a:xfrm flipV="1">
            <a:off x="5257800" y="3200400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52" name="Line 43"/>
          <p:cNvSpPr>
            <a:spLocks noChangeShapeType="1"/>
          </p:cNvSpPr>
          <p:nvPr/>
        </p:nvSpPr>
        <p:spPr bwMode="auto">
          <a:xfrm>
            <a:off x="5257800" y="2819400"/>
            <a:ext cx="11430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53" name="Text Box 44"/>
          <p:cNvSpPr txBox="1">
            <a:spLocks noChangeArrowheads="1"/>
          </p:cNvSpPr>
          <p:nvPr/>
        </p:nvSpPr>
        <p:spPr bwMode="auto">
          <a:xfrm>
            <a:off x="6248400" y="37338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54" name="Line 45"/>
          <p:cNvSpPr>
            <a:spLocks noChangeShapeType="1"/>
          </p:cNvSpPr>
          <p:nvPr/>
        </p:nvSpPr>
        <p:spPr bwMode="auto">
          <a:xfrm flipV="1">
            <a:off x="5334000" y="3581400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55" name="Text Box 46"/>
          <p:cNvSpPr txBox="1">
            <a:spLocks noChangeArrowheads="1"/>
          </p:cNvSpPr>
          <p:nvPr/>
        </p:nvSpPr>
        <p:spPr bwMode="auto">
          <a:xfrm>
            <a:off x="6781800" y="3581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56" name="Text Box 47"/>
          <p:cNvSpPr txBox="1">
            <a:spLocks noChangeArrowheads="1"/>
          </p:cNvSpPr>
          <p:nvPr/>
        </p:nvSpPr>
        <p:spPr bwMode="auto">
          <a:xfrm>
            <a:off x="6781800" y="3200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57" name="Text Box 48"/>
          <p:cNvSpPr txBox="1">
            <a:spLocks noChangeArrowheads="1"/>
          </p:cNvSpPr>
          <p:nvPr/>
        </p:nvSpPr>
        <p:spPr bwMode="auto">
          <a:xfrm>
            <a:off x="6781800" y="2895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58" name="Text Box 49"/>
          <p:cNvSpPr txBox="1">
            <a:spLocks noChangeArrowheads="1"/>
          </p:cNvSpPr>
          <p:nvPr/>
        </p:nvSpPr>
        <p:spPr bwMode="auto">
          <a:xfrm>
            <a:off x="6781800" y="25908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59" name="Text Box 50"/>
          <p:cNvSpPr txBox="1">
            <a:spLocks noChangeArrowheads="1"/>
          </p:cNvSpPr>
          <p:nvPr/>
        </p:nvSpPr>
        <p:spPr bwMode="auto">
          <a:xfrm>
            <a:off x="7924800" y="33528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60" name="Text Box 51"/>
          <p:cNvSpPr txBox="1">
            <a:spLocks noChangeArrowheads="1"/>
          </p:cNvSpPr>
          <p:nvPr/>
        </p:nvSpPr>
        <p:spPr bwMode="auto">
          <a:xfrm>
            <a:off x="7924800" y="29718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61" name="Text Box 52"/>
          <p:cNvSpPr txBox="1">
            <a:spLocks noChangeArrowheads="1"/>
          </p:cNvSpPr>
          <p:nvPr/>
        </p:nvSpPr>
        <p:spPr bwMode="auto">
          <a:xfrm>
            <a:off x="7924800" y="25908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62" name="Line 53"/>
          <p:cNvSpPr>
            <a:spLocks noChangeShapeType="1"/>
          </p:cNvSpPr>
          <p:nvPr/>
        </p:nvSpPr>
        <p:spPr bwMode="auto">
          <a:xfrm flipV="1">
            <a:off x="6934200" y="28194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63" name="Line 54"/>
          <p:cNvSpPr>
            <a:spLocks noChangeShapeType="1"/>
          </p:cNvSpPr>
          <p:nvPr/>
        </p:nvSpPr>
        <p:spPr bwMode="auto">
          <a:xfrm flipV="1">
            <a:off x="6934200" y="3200400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64" name="Line 55"/>
          <p:cNvSpPr>
            <a:spLocks noChangeShapeType="1"/>
          </p:cNvSpPr>
          <p:nvPr/>
        </p:nvSpPr>
        <p:spPr bwMode="auto">
          <a:xfrm>
            <a:off x="6934200" y="2819400"/>
            <a:ext cx="11430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65" name="Text Box 56"/>
          <p:cNvSpPr txBox="1">
            <a:spLocks noChangeArrowheads="1"/>
          </p:cNvSpPr>
          <p:nvPr/>
        </p:nvSpPr>
        <p:spPr bwMode="auto">
          <a:xfrm>
            <a:off x="7924800" y="37338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3066" name="Line 57"/>
          <p:cNvSpPr>
            <a:spLocks noChangeShapeType="1"/>
          </p:cNvSpPr>
          <p:nvPr/>
        </p:nvSpPr>
        <p:spPr bwMode="auto">
          <a:xfrm flipV="1">
            <a:off x="7010400" y="3581400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067" name="Text Box 58"/>
          <p:cNvSpPr txBox="1">
            <a:spLocks noChangeArrowheads="1"/>
          </p:cNvSpPr>
          <p:nvPr/>
        </p:nvSpPr>
        <p:spPr bwMode="auto">
          <a:xfrm>
            <a:off x="7924800" y="22098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62B80CDE-E632-4335-B32B-709814248C1F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满射</a:t>
            </a:r>
            <a:r>
              <a:rPr lang="en-US" altLang="zh-CN">
                <a:ea typeface="宋体" panose="02010600030101010101" pitchFamily="2" charset="-122"/>
              </a:rPr>
              <a:t>的说明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  <a:sym typeface="+mn-ea"/>
              </a:rPr>
              <a:t>这些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函数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是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否是满射</a:t>
            </a:r>
            <a:r>
              <a:rPr lang="en-US" altLang="zh-CN">
                <a:ea typeface="宋体" panose="02010600030101010101" pitchFamily="2" charset="-122"/>
              </a:rPr>
              <a:t>？</a:t>
            </a:r>
          </a:p>
        </p:txBody>
      </p:sp>
      <p:sp>
        <p:nvSpPr>
          <p:cNvPr id="44037" name="Text Box 4"/>
          <p:cNvSpPr txBox="1">
            <a:spLocks noChangeArrowheads="1"/>
          </p:cNvSpPr>
          <p:nvPr/>
        </p:nvSpPr>
        <p:spPr bwMode="auto">
          <a:xfrm>
            <a:off x="1627029" y="4050665"/>
            <a:ext cx="79248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br>
              <a:rPr lang="zh-CN" altLang="en-US" sz="2400">
                <a:latin typeface="Times New Roman" panose="02020603050405020304" pitchFamily="18" charset="0"/>
              </a:rPr>
            </a:br>
            <a:r>
              <a:rPr lang="zh-CN" altLang="en-US" sz="2400">
                <a:latin typeface="Times New Roman" panose="02020603050405020304" pitchFamily="18" charset="0"/>
              </a:rPr>
              <a:t>满射</a:t>
            </a:r>
          </a:p>
        </p:txBody>
      </p:sp>
      <p:sp>
        <p:nvSpPr>
          <p:cNvPr id="44038" name="Text Box 5"/>
          <p:cNvSpPr txBox="1">
            <a:spLocks noChangeArrowheads="1"/>
          </p:cNvSpPr>
          <p:nvPr/>
        </p:nvSpPr>
        <p:spPr bwMode="auto">
          <a:xfrm>
            <a:off x="1219200" y="34750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39" name="Text Box 6"/>
          <p:cNvSpPr txBox="1">
            <a:spLocks noChangeArrowheads="1"/>
          </p:cNvSpPr>
          <p:nvPr/>
        </p:nvSpPr>
        <p:spPr bwMode="auto">
          <a:xfrm>
            <a:off x="1219200" y="30940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40" name="Text Box 7"/>
          <p:cNvSpPr txBox="1">
            <a:spLocks noChangeArrowheads="1"/>
          </p:cNvSpPr>
          <p:nvPr/>
        </p:nvSpPr>
        <p:spPr bwMode="auto">
          <a:xfrm>
            <a:off x="1219200" y="27892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41" name="Text Box 8"/>
          <p:cNvSpPr txBox="1">
            <a:spLocks noChangeArrowheads="1"/>
          </p:cNvSpPr>
          <p:nvPr/>
        </p:nvSpPr>
        <p:spPr bwMode="auto">
          <a:xfrm>
            <a:off x="1219200" y="24844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42" name="Text Box 9"/>
          <p:cNvSpPr txBox="1">
            <a:spLocks noChangeArrowheads="1"/>
          </p:cNvSpPr>
          <p:nvPr/>
        </p:nvSpPr>
        <p:spPr bwMode="auto">
          <a:xfrm>
            <a:off x="2362200" y="32464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43" name="Text Box 10"/>
          <p:cNvSpPr txBox="1">
            <a:spLocks noChangeArrowheads="1"/>
          </p:cNvSpPr>
          <p:nvPr/>
        </p:nvSpPr>
        <p:spPr bwMode="auto">
          <a:xfrm>
            <a:off x="1219200" y="38560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44" name="Text Box 11"/>
          <p:cNvSpPr txBox="1">
            <a:spLocks noChangeArrowheads="1"/>
          </p:cNvSpPr>
          <p:nvPr/>
        </p:nvSpPr>
        <p:spPr bwMode="auto">
          <a:xfrm>
            <a:off x="2362200" y="28654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45" name="Text Box 12"/>
          <p:cNvSpPr txBox="1">
            <a:spLocks noChangeArrowheads="1"/>
          </p:cNvSpPr>
          <p:nvPr/>
        </p:nvSpPr>
        <p:spPr bwMode="auto">
          <a:xfrm>
            <a:off x="2362200" y="24844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46" name="Line 13"/>
          <p:cNvSpPr>
            <a:spLocks noChangeShapeType="1"/>
          </p:cNvSpPr>
          <p:nvPr/>
        </p:nvSpPr>
        <p:spPr bwMode="auto">
          <a:xfrm>
            <a:off x="1371600" y="2713038"/>
            <a:ext cx="1143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47" name="Line 14"/>
          <p:cNvSpPr>
            <a:spLocks noChangeShapeType="1"/>
          </p:cNvSpPr>
          <p:nvPr/>
        </p:nvSpPr>
        <p:spPr bwMode="auto">
          <a:xfrm flipV="1">
            <a:off x="1371600" y="2713038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48" name="Line 15"/>
          <p:cNvSpPr>
            <a:spLocks noChangeShapeType="1"/>
          </p:cNvSpPr>
          <p:nvPr/>
        </p:nvSpPr>
        <p:spPr bwMode="auto">
          <a:xfrm>
            <a:off x="1371600" y="3322638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49" name="Line 16"/>
          <p:cNvSpPr>
            <a:spLocks noChangeShapeType="1"/>
          </p:cNvSpPr>
          <p:nvPr/>
        </p:nvSpPr>
        <p:spPr bwMode="auto">
          <a:xfrm>
            <a:off x="1371600" y="3703638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50" name="Text Box 17"/>
          <p:cNvSpPr txBox="1">
            <a:spLocks noChangeArrowheads="1"/>
          </p:cNvSpPr>
          <p:nvPr/>
        </p:nvSpPr>
        <p:spPr bwMode="auto">
          <a:xfrm>
            <a:off x="2362200" y="36274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51" name="Line 18"/>
          <p:cNvSpPr>
            <a:spLocks noChangeShapeType="1"/>
          </p:cNvSpPr>
          <p:nvPr/>
        </p:nvSpPr>
        <p:spPr bwMode="auto">
          <a:xfrm flipV="1">
            <a:off x="1371600" y="3856038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52" name="Text Box 19"/>
          <p:cNvSpPr txBox="1">
            <a:spLocks noChangeArrowheads="1"/>
          </p:cNvSpPr>
          <p:nvPr/>
        </p:nvSpPr>
        <p:spPr bwMode="auto">
          <a:xfrm>
            <a:off x="3532823" y="4050665"/>
            <a:ext cx="109728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br>
              <a:rPr lang="zh-CN" altLang="en-US" sz="2400">
                <a:latin typeface="Times New Roman" panose="02020603050405020304" pitchFamily="18" charset="0"/>
              </a:rPr>
            </a:br>
            <a:r>
              <a:rPr lang="zh-CN" altLang="en-US" sz="2400">
                <a:latin typeface="Times New Roman" panose="02020603050405020304" pitchFamily="18" charset="0"/>
              </a:rPr>
              <a:t>非满射</a:t>
            </a:r>
          </a:p>
        </p:txBody>
      </p:sp>
      <p:sp>
        <p:nvSpPr>
          <p:cNvPr id="44053" name="Text Box 20"/>
          <p:cNvSpPr txBox="1">
            <a:spLocks noChangeArrowheads="1"/>
          </p:cNvSpPr>
          <p:nvPr/>
        </p:nvSpPr>
        <p:spPr bwMode="auto">
          <a:xfrm>
            <a:off x="3276600" y="34750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54" name="Text Box 21"/>
          <p:cNvSpPr txBox="1">
            <a:spLocks noChangeArrowheads="1"/>
          </p:cNvSpPr>
          <p:nvPr/>
        </p:nvSpPr>
        <p:spPr bwMode="auto">
          <a:xfrm>
            <a:off x="3276600" y="30940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55" name="Text Box 22"/>
          <p:cNvSpPr txBox="1">
            <a:spLocks noChangeArrowheads="1"/>
          </p:cNvSpPr>
          <p:nvPr/>
        </p:nvSpPr>
        <p:spPr bwMode="auto">
          <a:xfrm>
            <a:off x="3276600" y="27892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56" name="Text Box 23"/>
          <p:cNvSpPr txBox="1">
            <a:spLocks noChangeArrowheads="1"/>
          </p:cNvSpPr>
          <p:nvPr/>
        </p:nvSpPr>
        <p:spPr bwMode="auto">
          <a:xfrm>
            <a:off x="3276600" y="24844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57" name="Text Box 24"/>
          <p:cNvSpPr txBox="1">
            <a:spLocks noChangeArrowheads="1"/>
          </p:cNvSpPr>
          <p:nvPr/>
        </p:nvSpPr>
        <p:spPr bwMode="auto">
          <a:xfrm>
            <a:off x="4419600" y="32464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58" name="Text Box 25"/>
          <p:cNvSpPr txBox="1">
            <a:spLocks noChangeArrowheads="1"/>
          </p:cNvSpPr>
          <p:nvPr/>
        </p:nvSpPr>
        <p:spPr bwMode="auto">
          <a:xfrm>
            <a:off x="3276600" y="38560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59" name="Text Box 26"/>
          <p:cNvSpPr txBox="1">
            <a:spLocks noChangeArrowheads="1"/>
          </p:cNvSpPr>
          <p:nvPr/>
        </p:nvSpPr>
        <p:spPr bwMode="auto">
          <a:xfrm>
            <a:off x="4419600" y="28654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60" name="Text Box 27"/>
          <p:cNvSpPr txBox="1">
            <a:spLocks noChangeArrowheads="1"/>
          </p:cNvSpPr>
          <p:nvPr/>
        </p:nvSpPr>
        <p:spPr bwMode="auto">
          <a:xfrm>
            <a:off x="4419600" y="24844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61" name="Line 28"/>
          <p:cNvSpPr>
            <a:spLocks noChangeShapeType="1"/>
          </p:cNvSpPr>
          <p:nvPr/>
        </p:nvSpPr>
        <p:spPr bwMode="auto">
          <a:xfrm>
            <a:off x="3429000" y="2713038"/>
            <a:ext cx="1143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62" name="Line 29"/>
          <p:cNvSpPr>
            <a:spLocks noChangeShapeType="1"/>
          </p:cNvSpPr>
          <p:nvPr/>
        </p:nvSpPr>
        <p:spPr bwMode="auto">
          <a:xfrm flipV="1">
            <a:off x="3429000" y="2713038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63" name="Line 30"/>
          <p:cNvSpPr>
            <a:spLocks noChangeShapeType="1"/>
          </p:cNvSpPr>
          <p:nvPr/>
        </p:nvSpPr>
        <p:spPr bwMode="auto">
          <a:xfrm flipV="1">
            <a:off x="3429000" y="3094038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64" name="Line 31"/>
          <p:cNvSpPr>
            <a:spLocks noChangeShapeType="1"/>
          </p:cNvSpPr>
          <p:nvPr/>
        </p:nvSpPr>
        <p:spPr bwMode="auto">
          <a:xfrm>
            <a:off x="3429000" y="3703638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65" name="Text Box 32"/>
          <p:cNvSpPr txBox="1">
            <a:spLocks noChangeArrowheads="1"/>
          </p:cNvSpPr>
          <p:nvPr/>
        </p:nvSpPr>
        <p:spPr bwMode="auto">
          <a:xfrm>
            <a:off x="4419600" y="36274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66" name="Line 33"/>
          <p:cNvSpPr>
            <a:spLocks noChangeShapeType="1"/>
          </p:cNvSpPr>
          <p:nvPr/>
        </p:nvSpPr>
        <p:spPr bwMode="auto">
          <a:xfrm flipV="1">
            <a:off x="3429000" y="3856038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67" name="Text Box 34"/>
          <p:cNvSpPr txBox="1">
            <a:spLocks noChangeArrowheads="1"/>
          </p:cNvSpPr>
          <p:nvPr/>
        </p:nvSpPr>
        <p:spPr bwMode="auto">
          <a:xfrm>
            <a:off x="5529104" y="4049078"/>
            <a:ext cx="79248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br>
              <a:rPr lang="zh-CN" altLang="en-US" sz="2400">
                <a:latin typeface="Times New Roman" panose="02020603050405020304" pitchFamily="18" charset="0"/>
              </a:rPr>
            </a:br>
            <a:r>
              <a:rPr lang="zh-CN" altLang="en-US" sz="2400">
                <a:latin typeface="Times New Roman" panose="02020603050405020304" pitchFamily="18" charset="0"/>
              </a:rPr>
              <a:t>满射</a:t>
            </a:r>
          </a:p>
        </p:txBody>
      </p:sp>
      <p:sp>
        <p:nvSpPr>
          <p:cNvPr id="44068" name="Text Box 35"/>
          <p:cNvSpPr txBox="1">
            <a:spLocks noChangeArrowheads="1"/>
          </p:cNvSpPr>
          <p:nvPr/>
        </p:nvSpPr>
        <p:spPr bwMode="auto">
          <a:xfrm>
            <a:off x="5105400" y="35512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69" name="Text Box 36"/>
          <p:cNvSpPr txBox="1">
            <a:spLocks noChangeArrowheads="1"/>
          </p:cNvSpPr>
          <p:nvPr/>
        </p:nvSpPr>
        <p:spPr bwMode="auto">
          <a:xfrm>
            <a:off x="5105400" y="31702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70" name="Text Box 37"/>
          <p:cNvSpPr txBox="1">
            <a:spLocks noChangeArrowheads="1"/>
          </p:cNvSpPr>
          <p:nvPr/>
        </p:nvSpPr>
        <p:spPr bwMode="auto">
          <a:xfrm>
            <a:off x="5105400" y="28654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71" name="Text Box 38"/>
          <p:cNvSpPr txBox="1">
            <a:spLocks noChangeArrowheads="1"/>
          </p:cNvSpPr>
          <p:nvPr/>
        </p:nvSpPr>
        <p:spPr bwMode="auto">
          <a:xfrm>
            <a:off x="5105400" y="25606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72" name="Text Box 39"/>
          <p:cNvSpPr txBox="1">
            <a:spLocks noChangeArrowheads="1"/>
          </p:cNvSpPr>
          <p:nvPr/>
        </p:nvSpPr>
        <p:spPr bwMode="auto">
          <a:xfrm>
            <a:off x="6248400" y="33226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73" name="Text Box 40"/>
          <p:cNvSpPr txBox="1">
            <a:spLocks noChangeArrowheads="1"/>
          </p:cNvSpPr>
          <p:nvPr/>
        </p:nvSpPr>
        <p:spPr bwMode="auto">
          <a:xfrm>
            <a:off x="6248400" y="29416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74" name="Text Box 41"/>
          <p:cNvSpPr txBox="1">
            <a:spLocks noChangeArrowheads="1"/>
          </p:cNvSpPr>
          <p:nvPr/>
        </p:nvSpPr>
        <p:spPr bwMode="auto">
          <a:xfrm>
            <a:off x="6248400" y="25606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75" name="Line 42"/>
          <p:cNvSpPr>
            <a:spLocks noChangeShapeType="1"/>
          </p:cNvSpPr>
          <p:nvPr/>
        </p:nvSpPr>
        <p:spPr bwMode="auto">
          <a:xfrm flipV="1">
            <a:off x="5257800" y="2789238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76" name="Line 43"/>
          <p:cNvSpPr>
            <a:spLocks noChangeShapeType="1"/>
          </p:cNvSpPr>
          <p:nvPr/>
        </p:nvSpPr>
        <p:spPr bwMode="auto">
          <a:xfrm flipV="1">
            <a:off x="5257800" y="3170238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77" name="Line 44"/>
          <p:cNvSpPr>
            <a:spLocks noChangeShapeType="1"/>
          </p:cNvSpPr>
          <p:nvPr/>
        </p:nvSpPr>
        <p:spPr bwMode="auto">
          <a:xfrm>
            <a:off x="5257800" y="2789238"/>
            <a:ext cx="11430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78" name="Text Box 45"/>
          <p:cNvSpPr txBox="1">
            <a:spLocks noChangeArrowheads="1"/>
          </p:cNvSpPr>
          <p:nvPr/>
        </p:nvSpPr>
        <p:spPr bwMode="auto">
          <a:xfrm>
            <a:off x="6248400" y="37036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79" name="Line 46"/>
          <p:cNvSpPr>
            <a:spLocks noChangeShapeType="1"/>
          </p:cNvSpPr>
          <p:nvPr/>
        </p:nvSpPr>
        <p:spPr bwMode="auto">
          <a:xfrm flipV="1">
            <a:off x="5334000" y="3551238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80" name="Text Box 47"/>
          <p:cNvSpPr txBox="1">
            <a:spLocks noChangeArrowheads="1"/>
          </p:cNvSpPr>
          <p:nvPr/>
        </p:nvSpPr>
        <p:spPr bwMode="auto">
          <a:xfrm>
            <a:off x="7001511" y="4049078"/>
            <a:ext cx="109728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br>
              <a:rPr lang="zh-CN" altLang="en-US" sz="2400">
                <a:latin typeface="Times New Roman" panose="02020603050405020304" pitchFamily="18" charset="0"/>
              </a:rPr>
            </a:br>
            <a:r>
              <a:rPr lang="zh-CN" altLang="en-US" sz="2400">
                <a:latin typeface="Times New Roman" panose="02020603050405020304" pitchFamily="18" charset="0"/>
              </a:rPr>
              <a:t>非满射</a:t>
            </a:r>
          </a:p>
        </p:txBody>
      </p:sp>
      <p:sp>
        <p:nvSpPr>
          <p:cNvPr id="44081" name="Text Box 48"/>
          <p:cNvSpPr txBox="1">
            <a:spLocks noChangeArrowheads="1"/>
          </p:cNvSpPr>
          <p:nvPr/>
        </p:nvSpPr>
        <p:spPr bwMode="auto">
          <a:xfrm>
            <a:off x="6781800" y="35512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82" name="Text Box 49"/>
          <p:cNvSpPr txBox="1">
            <a:spLocks noChangeArrowheads="1"/>
          </p:cNvSpPr>
          <p:nvPr/>
        </p:nvSpPr>
        <p:spPr bwMode="auto">
          <a:xfrm>
            <a:off x="6781800" y="31702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83" name="Text Box 50"/>
          <p:cNvSpPr txBox="1">
            <a:spLocks noChangeArrowheads="1"/>
          </p:cNvSpPr>
          <p:nvPr/>
        </p:nvSpPr>
        <p:spPr bwMode="auto">
          <a:xfrm>
            <a:off x="6781800" y="28654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84" name="Text Box 51"/>
          <p:cNvSpPr txBox="1">
            <a:spLocks noChangeArrowheads="1"/>
          </p:cNvSpPr>
          <p:nvPr/>
        </p:nvSpPr>
        <p:spPr bwMode="auto">
          <a:xfrm>
            <a:off x="6781800" y="25606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85" name="Text Box 52"/>
          <p:cNvSpPr txBox="1">
            <a:spLocks noChangeArrowheads="1"/>
          </p:cNvSpPr>
          <p:nvPr/>
        </p:nvSpPr>
        <p:spPr bwMode="auto">
          <a:xfrm>
            <a:off x="7924800" y="33226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86" name="Text Box 53"/>
          <p:cNvSpPr txBox="1">
            <a:spLocks noChangeArrowheads="1"/>
          </p:cNvSpPr>
          <p:nvPr/>
        </p:nvSpPr>
        <p:spPr bwMode="auto">
          <a:xfrm>
            <a:off x="7924800" y="29416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87" name="Text Box 54"/>
          <p:cNvSpPr txBox="1">
            <a:spLocks noChangeArrowheads="1"/>
          </p:cNvSpPr>
          <p:nvPr/>
        </p:nvSpPr>
        <p:spPr bwMode="auto">
          <a:xfrm>
            <a:off x="7924800" y="25606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88" name="Line 55"/>
          <p:cNvSpPr>
            <a:spLocks noChangeShapeType="1"/>
          </p:cNvSpPr>
          <p:nvPr/>
        </p:nvSpPr>
        <p:spPr bwMode="auto">
          <a:xfrm flipV="1">
            <a:off x="6934200" y="2789238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89" name="Line 56"/>
          <p:cNvSpPr>
            <a:spLocks noChangeShapeType="1"/>
          </p:cNvSpPr>
          <p:nvPr/>
        </p:nvSpPr>
        <p:spPr bwMode="auto">
          <a:xfrm flipV="1">
            <a:off x="6934200" y="3170238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90" name="Line 57"/>
          <p:cNvSpPr>
            <a:spLocks noChangeShapeType="1"/>
          </p:cNvSpPr>
          <p:nvPr/>
        </p:nvSpPr>
        <p:spPr bwMode="auto">
          <a:xfrm>
            <a:off x="6934200" y="2789238"/>
            <a:ext cx="11430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91" name="Text Box 58"/>
          <p:cNvSpPr txBox="1">
            <a:spLocks noChangeArrowheads="1"/>
          </p:cNvSpPr>
          <p:nvPr/>
        </p:nvSpPr>
        <p:spPr bwMode="auto">
          <a:xfrm>
            <a:off x="7924800" y="37036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4092" name="Line 59"/>
          <p:cNvSpPr>
            <a:spLocks noChangeShapeType="1"/>
          </p:cNvSpPr>
          <p:nvPr/>
        </p:nvSpPr>
        <p:spPr bwMode="auto">
          <a:xfrm flipV="1">
            <a:off x="7010400" y="3551238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93" name="Text Box 60"/>
          <p:cNvSpPr txBox="1">
            <a:spLocks noChangeArrowheads="1"/>
          </p:cNvSpPr>
          <p:nvPr/>
        </p:nvSpPr>
        <p:spPr bwMode="auto">
          <a:xfrm>
            <a:off x="7924800" y="21796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0E6810AA-2A31-4D16-8DA6-1FDDE42EA4B3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满射</a:t>
            </a:r>
            <a:r>
              <a:rPr lang="en-US" altLang="zh-CN">
                <a:ea typeface="宋体" panose="02010600030101010101" pitchFamily="2" charset="-122"/>
              </a:rPr>
              <a:t>的说明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dirty="0" err="1">
                <a:ea typeface="宋体" panose="02010600030101010101" pitchFamily="2" charset="-122"/>
              </a:rPr>
              <a:t>这些</a:t>
            </a:r>
            <a:r>
              <a:rPr lang="zh-CN" altLang="en-US" dirty="0">
                <a:ea typeface="宋体" panose="02010600030101010101" pitchFamily="2" charset="-122"/>
              </a:rPr>
              <a:t>函数</a:t>
            </a:r>
            <a:r>
              <a:rPr lang="en-US" altLang="zh-CN" dirty="0" err="1">
                <a:ea typeface="宋体" panose="02010600030101010101" pitchFamily="2" charset="-122"/>
              </a:rPr>
              <a:t>是</a:t>
            </a:r>
            <a:r>
              <a:rPr lang="en-US" altLang="zh-CN" dirty="0">
                <a:ea typeface="宋体" panose="02010600030101010101" pitchFamily="2" charset="-122"/>
              </a:rPr>
              <a:t> 1-1 </a:t>
            </a:r>
            <a:r>
              <a:rPr lang="zh-CN" altLang="en-US" dirty="0">
                <a:ea typeface="宋体" panose="02010600030101010101" pitchFamily="2" charset="-122"/>
              </a:rPr>
              <a:t>映射的</a:t>
            </a:r>
            <a:r>
              <a:rPr lang="en-US" altLang="zh-CN" dirty="0" err="1">
                <a:ea typeface="宋体" panose="02010600030101010101" pitchFamily="2" charset="-122"/>
              </a:rPr>
              <a:t>吗</a:t>
            </a:r>
            <a:r>
              <a:rPr lang="en-US" altLang="zh-CN" dirty="0">
                <a:ea typeface="宋体" panose="02010600030101010101" pitchFamily="2" charset="-122"/>
              </a:rPr>
              <a:t>？</a:t>
            </a:r>
          </a:p>
        </p:txBody>
      </p:sp>
      <p:sp>
        <p:nvSpPr>
          <p:cNvPr id="45061" name="Text Box 4"/>
          <p:cNvSpPr txBox="1">
            <a:spLocks noChangeArrowheads="1"/>
          </p:cNvSpPr>
          <p:nvPr/>
        </p:nvSpPr>
        <p:spPr bwMode="auto">
          <a:xfrm>
            <a:off x="1627029" y="3898265"/>
            <a:ext cx="79248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br>
              <a:rPr lang="zh-CN" altLang="en-US" sz="2400" dirty="0">
                <a:latin typeface="Times New Roman" panose="02020603050405020304" pitchFamily="18" charset="0"/>
              </a:rPr>
            </a:br>
            <a:r>
              <a:rPr lang="zh-CN" altLang="en-US" sz="2400" dirty="0">
                <a:latin typeface="Times New Roman" panose="02020603050405020304" pitchFamily="18" charset="0"/>
              </a:rPr>
              <a:t>满射</a:t>
            </a:r>
          </a:p>
        </p:txBody>
      </p:sp>
      <p:sp>
        <p:nvSpPr>
          <p:cNvPr id="45062" name="Text Box 5"/>
          <p:cNvSpPr txBox="1">
            <a:spLocks noChangeArrowheads="1"/>
          </p:cNvSpPr>
          <p:nvPr/>
        </p:nvSpPr>
        <p:spPr bwMode="auto">
          <a:xfrm>
            <a:off x="1219200" y="33226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063" name="Text Box 6"/>
          <p:cNvSpPr txBox="1">
            <a:spLocks noChangeArrowheads="1"/>
          </p:cNvSpPr>
          <p:nvPr/>
        </p:nvSpPr>
        <p:spPr bwMode="auto">
          <a:xfrm>
            <a:off x="1219200" y="29416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064" name="Text Box 7"/>
          <p:cNvSpPr txBox="1">
            <a:spLocks noChangeArrowheads="1"/>
          </p:cNvSpPr>
          <p:nvPr/>
        </p:nvSpPr>
        <p:spPr bwMode="auto">
          <a:xfrm>
            <a:off x="1219200" y="26368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065" name="Text Box 8"/>
          <p:cNvSpPr txBox="1">
            <a:spLocks noChangeArrowheads="1"/>
          </p:cNvSpPr>
          <p:nvPr/>
        </p:nvSpPr>
        <p:spPr bwMode="auto">
          <a:xfrm>
            <a:off x="1219200" y="23320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066" name="Text Box 9"/>
          <p:cNvSpPr txBox="1">
            <a:spLocks noChangeArrowheads="1"/>
          </p:cNvSpPr>
          <p:nvPr/>
        </p:nvSpPr>
        <p:spPr bwMode="auto">
          <a:xfrm>
            <a:off x="2362200" y="30940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067" name="Text Box 10"/>
          <p:cNvSpPr txBox="1">
            <a:spLocks noChangeArrowheads="1"/>
          </p:cNvSpPr>
          <p:nvPr/>
        </p:nvSpPr>
        <p:spPr bwMode="auto">
          <a:xfrm>
            <a:off x="1219200" y="37036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068" name="Text Box 11"/>
          <p:cNvSpPr txBox="1">
            <a:spLocks noChangeArrowheads="1"/>
          </p:cNvSpPr>
          <p:nvPr/>
        </p:nvSpPr>
        <p:spPr bwMode="auto">
          <a:xfrm>
            <a:off x="2362200" y="27130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069" name="Text Box 12"/>
          <p:cNvSpPr txBox="1">
            <a:spLocks noChangeArrowheads="1"/>
          </p:cNvSpPr>
          <p:nvPr/>
        </p:nvSpPr>
        <p:spPr bwMode="auto">
          <a:xfrm>
            <a:off x="2362200" y="23320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070" name="Line 13"/>
          <p:cNvSpPr>
            <a:spLocks noChangeShapeType="1"/>
          </p:cNvSpPr>
          <p:nvPr/>
        </p:nvSpPr>
        <p:spPr bwMode="auto">
          <a:xfrm>
            <a:off x="1371600" y="2560638"/>
            <a:ext cx="1143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71" name="Line 14"/>
          <p:cNvSpPr>
            <a:spLocks noChangeShapeType="1"/>
          </p:cNvSpPr>
          <p:nvPr/>
        </p:nvSpPr>
        <p:spPr bwMode="auto">
          <a:xfrm flipV="1">
            <a:off x="1371600" y="2560638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72" name="Line 15"/>
          <p:cNvSpPr>
            <a:spLocks noChangeShapeType="1"/>
          </p:cNvSpPr>
          <p:nvPr/>
        </p:nvSpPr>
        <p:spPr bwMode="auto">
          <a:xfrm>
            <a:off x="1371600" y="3170238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73" name="Line 16"/>
          <p:cNvSpPr>
            <a:spLocks noChangeShapeType="1"/>
          </p:cNvSpPr>
          <p:nvPr/>
        </p:nvSpPr>
        <p:spPr bwMode="auto">
          <a:xfrm>
            <a:off x="1371600" y="3551238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74" name="Text Box 17"/>
          <p:cNvSpPr txBox="1">
            <a:spLocks noChangeArrowheads="1"/>
          </p:cNvSpPr>
          <p:nvPr/>
        </p:nvSpPr>
        <p:spPr bwMode="auto">
          <a:xfrm>
            <a:off x="2362200" y="34750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075" name="Line 18"/>
          <p:cNvSpPr>
            <a:spLocks noChangeShapeType="1"/>
          </p:cNvSpPr>
          <p:nvPr/>
        </p:nvSpPr>
        <p:spPr bwMode="auto">
          <a:xfrm flipV="1">
            <a:off x="1371600" y="3703638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76" name="Text Box 19"/>
          <p:cNvSpPr txBox="1">
            <a:spLocks noChangeArrowheads="1"/>
          </p:cNvSpPr>
          <p:nvPr/>
        </p:nvSpPr>
        <p:spPr bwMode="auto">
          <a:xfrm>
            <a:off x="3532823" y="3898265"/>
            <a:ext cx="109728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br>
              <a:rPr lang="zh-CN" altLang="en-US" sz="2400">
                <a:latin typeface="Times New Roman" panose="02020603050405020304" pitchFamily="18" charset="0"/>
              </a:rPr>
            </a:br>
            <a:r>
              <a:rPr lang="zh-CN" altLang="en-US" sz="2400">
                <a:latin typeface="Times New Roman" panose="02020603050405020304" pitchFamily="18" charset="0"/>
              </a:rPr>
              <a:t>非满射</a:t>
            </a:r>
          </a:p>
        </p:txBody>
      </p:sp>
      <p:sp>
        <p:nvSpPr>
          <p:cNvPr id="45077" name="Text Box 20"/>
          <p:cNvSpPr txBox="1">
            <a:spLocks noChangeArrowheads="1"/>
          </p:cNvSpPr>
          <p:nvPr/>
        </p:nvSpPr>
        <p:spPr bwMode="auto">
          <a:xfrm>
            <a:off x="3276600" y="33226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078" name="Text Box 21"/>
          <p:cNvSpPr txBox="1">
            <a:spLocks noChangeArrowheads="1"/>
          </p:cNvSpPr>
          <p:nvPr/>
        </p:nvSpPr>
        <p:spPr bwMode="auto">
          <a:xfrm>
            <a:off x="3276600" y="29416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079" name="Text Box 22"/>
          <p:cNvSpPr txBox="1">
            <a:spLocks noChangeArrowheads="1"/>
          </p:cNvSpPr>
          <p:nvPr/>
        </p:nvSpPr>
        <p:spPr bwMode="auto">
          <a:xfrm>
            <a:off x="3276600" y="26368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080" name="Text Box 23"/>
          <p:cNvSpPr txBox="1">
            <a:spLocks noChangeArrowheads="1"/>
          </p:cNvSpPr>
          <p:nvPr/>
        </p:nvSpPr>
        <p:spPr bwMode="auto">
          <a:xfrm>
            <a:off x="3276600" y="23320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081" name="Text Box 24"/>
          <p:cNvSpPr txBox="1">
            <a:spLocks noChangeArrowheads="1"/>
          </p:cNvSpPr>
          <p:nvPr/>
        </p:nvSpPr>
        <p:spPr bwMode="auto">
          <a:xfrm>
            <a:off x="4419600" y="30940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082" name="Text Box 25"/>
          <p:cNvSpPr txBox="1">
            <a:spLocks noChangeArrowheads="1"/>
          </p:cNvSpPr>
          <p:nvPr/>
        </p:nvSpPr>
        <p:spPr bwMode="auto">
          <a:xfrm>
            <a:off x="3276600" y="37036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083" name="Text Box 26"/>
          <p:cNvSpPr txBox="1">
            <a:spLocks noChangeArrowheads="1"/>
          </p:cNvSpPr>
          <p:nvPr/>
        </p:nvSpPr>
        <p:spPr bwMode="auto">
          <a:xfrm>
            <a:off x="4419600" y="27130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084" name="Text Box 27"/>
          <p:cNvSpPr txBox="1">
            <a:spLocks noChangeArrowheads="1"/>
          </p:cNvSpPr>
          <p:nvPr/>
        </p:nvSpPr>
        <p:spPr bwMode="auto">
          <a:xfrm>
            <a:off x="4419600" y="23320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085" name="Line 28"/>
          <p:cNvSpPr>
            <a:spLocks noChangeShapeType="1"/>
          </p:cNvSpPr>
          <p:nvPr/>
        </p:nvSpPr>
        <p:spPr bwMode="auto">
          <a:xfrm>
            <a:off x="3429000" y="2560638"/>
            <a:ext cx="1143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86" name="Line 29"/>
          <p:cNvSpPr>
            <a:spLocks noChangeShapeType="1"/>
          </p:cNvSpPr>
          <p:nvPr/>
        </p:nvSpPr>
        <p:spPr bwMode="auto">
          <a:xfrm flipV="1">
            <a:off x="3429000" y="2560638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87" name="Line 30"/>
          <p:cNvSpPr>
            <a:spLocks noChangeShapeType="1"/>
          </p:cNvSpPr>
          <p:nvPr/>
        </p:nvSpPr>
        <p:spPr bwMode="auto">
          <a:xfrm flipV="1">
            <a:off x="3429000" y="2941638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88" name="Line 31"/>
          <p:cNvSpPr>
            <a:spLocks noChangeShapeType="1"/>
          </p:cNvSpPr>
          <p:nvPr/>
        </p:nvSpPr>
        <p:spPr bwMode="auto">
          <a:xfrm>
            <a:off x="3429000" y="3551238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89" name="Text Box 32"/>
          <p:cNvSpPr txBox="1">
            <a:spLocks noChangeArrowheads="1"/>
          </p:cNvSpPr>
          <p:nvPr/>
        </p:nvSpPr>
        <p:spPr bwMode="auto">
          <a:xfrm>
            <a:off x="4419600" y="34750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090" name="Line 33"/>
          <p:cNvSpPr>
            <a:spLocks noChangeShapeType="1"/>
          </p:cNvSpPr>
          <p:nvPr/>
        </p:nvSpPr>
        <p:spPr bwMode="auto">
          <a:xfrm flipV="1">
            <a:off x="3429000" y="3703638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91" name="Text Box 34"/>
          <p:cNvSpPr txBox="1">
            <a:spLocks noChangeArrowheads="1"/>
          </p:cNvSpPr>
          <p:nvPr/>
        </p:nvSpPr>
        <p:spPr bwMode="auto">
          <a:xfrm>
            <a:off x="5513229" y="3974465"/>
            <a:ext cx="79248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br>
              <a:rPr lang="zh-CN" altLang="en-US" sz="2400">
                <a:latin typeface="Times New Roman" panose="02020603050405020304" pitchFamily="18" charset="0"/>
              </a:rPr>
            </a:br>
            <a:r>
              <a:rPr lang="zh-CN" altLang="en-US" sz="2400">
                <a:latin typeface="Times New Roman" panose="02020603050405020304" pitchFamily="18" charset="0"/>
              </a:rPr>
              <a:t>满射</a:t>
            </a:r>
          </a:p>
        </p:txBody>
      </p:sp>
      <p:sp>
        <p:nvSpPr>
          <p:cNvPr id="45092" name="Text Box 35"/>
          <p:cNvSpPr txBox="1">
            <a:spLocks noChangeArrowheads="1"/>
          </p:cNvSpPr>
          <p:nvPr/>
        </p:nvSpPr>
        <p:spPr bwMode="auto">
          <a:xfrm>
            <a:off x="5105400" y="33988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093" name="Text Box 36"/>
          <p:cNvSpPr txBox="1">
            <a:spLocks noChangeArrowheads="1"/>
          </p:cNvSpPr>
          <p:nvPr/>
        </p:nvSpPr>
        <p:spPr bwMode="auto">
          <a:xfrm>
            <a:off x="5105400" y="30178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094" name="Text Box 37"/>
          <p:cNvSpPr txBox="1">
            <a:spLocks noChangeArrowheads="1"/>
          </p:cNvSpPr>
          <p:nvPr/>
        </p:nvSpPr>
        <p:spPr bwMode="auto">
          <a:xfrm>
            <a:off x="5105400" y="27130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095" name="Text Box 38"/>
          <p:cNvSpPr txBox="1">
            <a:spLocks noChangeArrowheads="1"/>
          </p:cNvSpPr>
          <p:nvPr/>
        </p:nvSpPr>
        <p:spPr bwMode="auto">
          <a:xfrm>
            <a:off x="5105400" y="24082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096" name="Text Box 39"/>
          <p:cNvSpPr txBox="1">
            <a:spLocks noChangeArrowheads="1"/>
          </p:cNvSpPr>
          <p:nvPr/>
        </p:nvSpPr>
        <p:spPr bwMode="auto">
          <a:xfrm>
            <a:off x="6248400" y="31702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097" name="Text Box 40"/>
          <p:cNvSpPr txBox="1">
            <a:spLocks noChangeArrowheads="1"/>
          </p:cNvSpPr>
          <p:nvPr/>
        </p:nvSpPr>
        <p:spPr bwMode="auto">
          <a:xfrm>
            <a:off x="6248400" y="27892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098" name="Text Box 41"/>
          <p:cNvSpPr txBox="1">
            <a:spLocks noChangeArrowheads="1"/>
          </p:cNvSpPr>
          <p:nvPr/>
        </p:nvSpPr>
        <p:spPr bwMode="auto">
          <a:xfrm>
            <a:off x="6248400" y="24082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099" name="Line 42"/>
          <p:cNvSpPr>
            <a:spLocks noChangeShapeType="1"/>
          </p:cNvSpPr>
          <p:nvPr/>
        </p:nvSpPr>
        <p:spPr bwMode="auto">
          <a:xfrm flipV="1">
            <a:off x="5257800" y="2636838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00" name="Line 43"/>
          <p:cNvSpPr>
            <a:spLocks noChangeShapeType="1"/>
          </p:cNvSpPr>
          <p:nvPr/>
        </p:nvSpPr>
        <p:spPr bwMode="auto">
          <a:xfrm flipV="1">
            <a:off x="5257800" y="3017838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01" name="Line 44"/>
          <p:cNvSpPr>
            <a:spLocks noChangeShapeType="1"/>
          </p:cNvSpPr>
          <p:nvPr/>
        </p:nvSpPr>
        <p:spPr bwMode="auto">
          <a:xfrm>
            <a:off x="5257800" y="2636838"/>
            <a:ext cx="11430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02" name="Text Box 45"/>
          <p:cNvSpPr txBox="1">
            <a:spLocks noChangeArrowheads="1"/>
          </p:cNvSpPr>
          <p:nvPr/>
        </p:nvSpPr>
        <p:spPr bwMode="auto">
          <a:xfrm>
            <a:off x="6248400" y="35512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103" name="Line 46"/>
          <p:cNvSpPr>
            <a:spLocks noChangeShapeType="1"/>
          </p:cNvSpPr>
          <p:nvPr/>
        </p:nvSpPr>
        <p:spPr bwMode="auto">
          <a:xfrm flipV="1">
            <a:off x="5334000" y="3398838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04" name="Text Box 47"/>
          <p:cNvSpPr txBox="1">
            <a:spLocks noChangeArrowheads="1"/>
          </p:cNvSpPr>
          <p:nvPr/>
        </p:nvSpPr>
        <p:spPr bwMode="auto">
          <a:xfrm>
            <a:off x="7038023" y="3974465"/>
            <a:ext cx="109728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br>
              <a:rPr lang="zh-CN" altLang="en-US" sz="2400">
                <a:latin typeface="Times New Roman" panose="02020603050405020304" pitchFamily="18" charset="0"/>
              </a:rPr>
            </a:br>
            <a:r>
              <a:rPr lang="zh-CN" altLang="en-US" sz="2400">
                <a:latin typeface="Times New Roman" panose="02020603050405020304" pitchFamily="18" charset="0"/>
              </a:rPr>
              <a:t>非满射</a:t>
            </a:r>
          </a:p>
        </p:txBody>
      </p:sp>
      <p:sp>
        <p:nvSpPr>
          <p:cNvPr id="45105" name="Text Box 48"/>
          <p:cNvSpPr txBox="1">
            <a:spLocks noChangeArrowheads="1"/>
          </p:cNvSpPr>
          <p:nvPr/>
        </p:nvSpPr>
        <p:spPr bwMode="auto">
          <a:xfrm>
            <a:off x="6781800" y="33988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106" name="Text Box 49"/>
          <p:cNvSpPr txBox="1">
            <a:spLocks noChangeArrowheads="1"/>
          </p:cNvSpPr>
          <p:nvPr/>
        </p:nvSpPr>
        <p:spPr bwMode="auto">
          <a:xfrm>
            <a:off x="6781800" y="30178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107" name="Text Box 50"/>
          <p:cNvSpPr txBox="1">
            <a:spLocks noChangeArrowheads="1"/>
          </p:cNvSpPr>
          <p:nvPr/>
        </p:nvSpPr>
        <p:spPr bwMode="auto">
          <a:xfrm>
            <a:off x="6781800" y="27130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108" name="Text Box 51"/>
          <p:cNvSpPr txBox="1">
            <a:spLocks noChangeArrowheads="1"/>
          </p:cNvSpPr>
          <p:nvPr/>
        </p:nvSpPr>
        <p:spPr bwMode="auto">
          <a:xfrm>
            <a:off x="6781800" y="24082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109" name="Text Box 52"/>
          <p:cNvSpPr txBox="1">
            <a:spLocks noChangeArrowheads="1"/>
          </p:cNvSpPr>
          <p:nvPr/>
        </p:nvSpPr>
        <p:spPr bwMode="auto">
          <a:xfrm>
            <a:off x="7924800" y="31702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110" name="Text Box 53"/>
          <p:cNvSpPr txBox="1">
            <a:spLocks noChangeArrowheads="1"/>
          </p:cNvSpPr>
          <p:nvPr/>
        </p:nvSpPr>
        <p:spPr bwMode="auto">
          <a:xfrm>
            <a:off x="7924800" y="27892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111" name="Text Box 54"/>
          <p:cNvSpPr txBox="1">
            <a:spLocks noChangeArrowheads="1"/>
          </p:cNvSpPr>
          <p:nvPr/>
        </p:nvSpPr>
        <p:spPr bwMode="auto">
          <a:xfrm>
            <a:off x="7924800" y="24082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112" name="Line 55"/>
          <p:cNvSpPr>
            <a:spLocks noChangeShapeType="1"/>
          </p:cNvSpPr>
          <p:nvPr/>
        </p:nvSpPr>
        <p:spPr bwMode="auto">
          <a:xfrm flipV="1">
            <a:off x="6934200" y="2636838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13" name="Line 56"/>
          <p:cNvSpPr>
            <a:spLocks noChangeShapeType="1"/>
          </p:cNvSpPr>
          <p:nvPr/>
        </p:nvSpPr>
        <p:spPr bwMode="auto">
          <a:xfrm flipV="1">
            <a:off x="6934200" y="3017838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14" name="Line 57"/>
          <p:cNvSpPr>
            <a:spLocks noChangeShapeType="1"/>
          </p:cNvSpPr>
          <p:nvPr/>
        </p:nvSpPr>
        <p:spPr bwMode="auto">
          <a:xfrm>
            <a:off x="6934200" y="2636838"/>
            <a:ext cx="11430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15" name="Text Box 58"/>
          <p:cNvSpPr txBox="1">
            <a:spLocks noChangeArrowheads="1"/>
          </p:cNvSpPr>
          <p:nvPr/>
        </p:nvSpPr>
        <p:spPr bwMode="auto">
          <a:xfrm>
            <a:off x="7924800" y="35512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5116" name="Line 59"/>
          <p:cNvSpPr>
            <a:spLocks noChangeShapeType="1"/>
          </p:cNvSpPr>
          <p:nvPr/>
        </p:nvSpPr>
        <p:spPr bwMode="auto">
          <a:xfrm flipV="1">
            <a:off x="7010400" y="3398838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117" name="Text Box 60"/>
          <p:cNvSpPr txBox="1">
            <a:spLocks noChangeArrowheads="1"/>
          </p:cNvSpPr>
          <p:nvPr/>
        </p:nvSpPr>
        <p:spPr bwMode="auto">
          <a:xfrm>
            <a:off x="7924800" y="2027238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2AEF8B19-EE23-4AA9-8792-F42A53D59D5B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满射</a:t>
            </a:r>
            <a:r>
              <a:rPr lang="en-US" altLang="zh-CN">
                <a:ea typeface="宋体" panose="02010600030101010101" pitchFamily="2" charset="-122"/>
              </a:rPr>
              <a:t>的说明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这些</a:t>
            </a:r>
            <a:r>
              <a:rPr lang="zh-CN" altLang="en-US">
                <a:ea typeface="宋体" panose="02010600030101010101" pitchFamily="2" charset="-122"/>
              </a:rPr>
              <a:t>函数</a:t>
            </a:r>
            <a:r>
              <a:rPr lang="en-US" altLang="zh-CN">
                <a:ea typeface="宋体" panose="02010600030101010101" pitchFamily="2" charset="-122"/>
              </a:rPr>
              <a:t>是 1-1 吗？</a:t>
            </a:r>
          </a:p>
        </p:txBody>
      </p:sp>
      <p:sp>
        <p:nvSpPr>
          <p:cNvPr id="46085" name="Text Box 4"/>
          <p:cNvSpPr txBox="1">
            <a:spLocks noChangeArrowheads="1"/>
          </p:cNvSpPr>
          <p:nvPr/>
        </p:nvSpPr>
        <p:spPr bwMode="auto">
          <a:xfrm>
            <a:off x="1538129" y="4004628"/>
            <a:ext cx="97028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非 1-1</a:t>
            </a:r>
            <a:br>
              <a:rPr lang="en-US" altLang="zh-CN" sz="2400">
                <a:latin typeface="Times New Roman" panose="02020603050405020304" pitchFamily="18" charset="0"/>
              </a:rPr>
            </a:br>
            <a:r>
              <a:rPr lang="zh-CN" altLang="en-US" sz="2400">
                <a:latin typeface="Times New Roman" panose="02020603050405020304" pitchFamily="18" charset="0"/>
              </a:rPr>
              <a:t>满射</a:t>
            </a:r>
          </a:p>
        </p:txBody>
      </p:sp>
      <p:sp>
        <p:nvSpPr>
          <p:cNvPr id="46086" name="Text Box 5"/>
          <p:cNvSpPr txBox="1">
            <a:spLocks noChangeArrowheads="1"/>
          </p:cNvSpPr>
          <p:nvPr/>
        </p:nvSpPr>
        <p:spPr bwMode="auto">
          <a:xfrm>
            <a:off x="1219200" y="3429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087" name="Text Box 6"/>
          <p:cNvSpPr txBox="1">
            <a:spLocks noChangeArrowheads="1"/>
          </p:cNvSpPr>
          <p:nvPr/>
        </p:nvSpPr>
        <p:spPr bwMode="auto">
          <a:xfrm>
            <a:off x="1219200" y="3048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088" name="Text Box 7"/>
          <p:cNvSpPr txBox="1">
            <a:spLocks noChangeArrowheads="1"/>
          </p:cNvSpPr>
          <p:nvPr/>
        </p:nvSpPr>
        <p:spPr bwMode="auto">
          <a:xfrm>
            <a:off x="1219200" y="2743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089" name="Text Box 8"/>
          <p:cNvSpPr txBox="1">
            <a:spLocks noChangeArrowheads="1"/>
          </p:cNvSpPr>
          <p:nvPr/>
        </p:nvSpPr>
        <p:spPr bwMode="auto">
          <a:xfrm>
            <a:off x="1219200" y="2438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090" name="Text Box 9"/>
          <p:cNvSpPr txBox="1">
            <a:spLocks noChangeArrowheads="1"/>
          </p:cNvSpPr>
          <p:nvPr/>
        </p:nvSpPr>
        <p:spPr bwMode="auto">
          <a:xfrm>
            <a:off x="2362200" y="3200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091" name="Text Box 10"/>
          <p:cNvSpPr txBox="1">
            <a:spLocks noChangeArrowheads="1"/>
          </p:cNvSpPr>
          <p:nvPr/>
        </p:nvSpPr>
        <p:spPr bwMode="auto">
          <a:xfrm>
            <a:off x="1219200" y="3810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092" name="Text Box 11"/>
          <p:cNvSpPr txBox="1">
            <a:spLocks noChangeArrowheads="1"/>
          </p:cNvSpPr>
          <p:nvPr/>
        </p:nvSpPr>
        <p:spPr bwMode="auto">
          <a:xfrm>
            <a:off x="2362200" y="2819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093" name="Text Box 12"/>
          <p:cNvSpPr txBox="1">
            <a:spLocks noChangeArrowheads="1"/>
          </p:cNvSpPr>
          <p:nvPr/>
        </p:nvSpPr>
        <p:spPr bwMode="auto">
          <a:xfrm>
            <a:off x="2362200" y="2438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094" name="Line 13"/>
          <p:cNvSpPr>
            <a:spLocks noChangeShapeType="1"/>
          </p:cNvSpPr>
          <p:nvPr/>
        </p:nvSpPr>
        <p:spPr bwMode="auto">
          <a:xfrm>
            <a:off x="1371600" y="2667000"/>
            <a:ext cx="1143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5" name="Line 14"/>
          <p:cNvSpPr>
            <a:spLocks noChangeShapeType="1"/>
          </p:cNvSpPr>
          <p:nvPr/>
        </p:nvSpPr>
        <p:spPr bwMode="auto">
          <a:xfrm flipV="1">
            <a:off x="1371600" y="26670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6" name="Line 15"/>
          <p:cNvSpPr>
            <a:spLocks noChangeShapeType="1"/>
          </p:cNvSpPr>
          <p:nvPr/>
        </p:nvSpPr>
        <p:spPr bwMode="auto">
          <a:xfrm>
            <a:off x="1371600" y="32766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7" name="Line 16"/>
          <p:cNvSpPr>
            <a:spLocks noChangeShapeType="1"/>
          </p:cNvSpPr>
          <p:nvPr/>
        </p:nvSpPr>
        <p:spPr bwMode="auto">
          <a:xfrm>
            <a:off x="1371600" y="36576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98" name="Text Box 17"/>
          <p:cNvSpPr txBox="1">
            <a:spLocks noChangeArrowheads="1"/>
          </p:cNvSpPr>
          <p:nvPr/>
        </p:nvSpPr>
        <p:spPr bwMode="auto">
          <a:xfrm>
            <a:off x="2362200" y="3581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099" name="Line 18"/>
          <p:cNvSpPr>
            <a:spLocks noChangeShapeType="1"/>
          </p:cNvSpPr>
          <p:nvPr/>
        </p:nvSpPr>
        <p:spPr bwMode="auto">
          <a:xfrm flipV="1">
            <a:off x="1371600" y="3810000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00" name="Text Box 19"/>
          <p:cNvSpPr txBox="1">
            <a:spLocks noChangeArrowheads="1"/>
          </p:cNvSpPr>
          <p:nvPr/>
        </p:nvSpPr>
        <p:spPr bwMode="auto">
          <a:xfrm>
            <a:off x="3532823" y="4004628"/>
            <a:ext cx="109728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非 1-1</a:t>
            </a:r>
            <a:br>
              <a:rPr lang="en-US" altLang="zh-CN" sz="2400">
                <a:latin typeface="Times New Roman" panose="02020603050405020304" pitchFamily="18" charset="0"/>
              </a:rPr>
            </a:br>
            <a:r>
              <a:rPr lang="zh-CN" altLang="en-US" sz="2400">
                <a:latin typeface="Times New Roman" panose="02020603050405020304" pitchFamily="18" charset="0"/>
              </a:rPr>
              <a:t>非满射</a:t>
            </a:r>
          </a:p>
        </p:txBody>
      </p:sp>
      <p:sp>
        <p:nvSpPr>
          <p:cNvPr id="46101" name="Text Box 20"/>
          <p:cNvSpPr txBox="1">
            <a:spLocks noChangeArrowheads="1"/>
          </p:cNvSpPr>
          <p:nvPr/>
        </p:nvSpPr>
        <p:spPr bwMode="auto">
          <a:xfrm>
            <a:off x="3276600" y="3429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102" name="Text Box 21"/>
          <p:cNvSpPr txBox="1">
            <a:spLocks noChangeArrowheads="1"/>
          </p:cNvSpPr>
          <p:nvPr/>
        </p:nvSpPr>
        <p:spPr bwMode="auto">
          <a:xfrm>
            <a:off x="3276600" y="3048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103" name="Text Box 22"/>
          <p:cNvSpPr txBox="1">
            <a:spLocks noChangeArrowheads="1"/>
          </p:cNvSpPr>
          <p:nvPr/>
        </p:nvSpPr>
        <p:spPr bwMode="auto">
          <a:xfrm>
            <a:off x="3276600" y="2743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104" name="Text Box 23"/>
          <p:cNvSpPr txBox="1">
            <a:spLocks noChangeArrowheads="1"/>
          </p:cNvSpPr>
          <p:nvPr/>
        </p:nvSpPr>
        <p:spPr bwMode="auto">
          <a:xfrm>
            <a:off x="3276600" y="2438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105" name="Text Box 24"/>
          <p:cNvSpPr txBox="1">
            <a:spLocks noChangeArrowheads="1"/>
          </p:cNvSpPr>
          <p:nvPr/>
        </p:nvSpPr>
        <p:spPr bwMode="auto">
          <a:xfrm>
            <a:off x="4419600" y="3200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106" name="Text Box 25"/>
          <p:cNvSpPr txBox="1">
            <a:spLocks noChangeArrowheads="1"/>
          </p:cNvSpPr>
          <p:nvPr/>
        </p:nvSpPr>
        <p:spPr bwMode="auto">
          <a:xfrm>
            <a:off x="3276600" y="38100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107" name="Text Box 26"/>
          <p:cNvSpPr txBox="1">
            <a:spLocks noChangeArrowheads="1"/>
          </p:cNvSpPr>
          <p:nvPr/>
        </p:nvSpPr>
        <p:spPr bwMode="auto">
          <a:xfrm>
            <a:off x="4419600" y="2819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108" name="Text Box 27"/>
          <p:cNvSpPr txBox="1">
            <a:spLocks noChangeArrowheads="1"/>
          </p:cNvSpPr>
          <p:nvPr/>
        </p:nvSpPr>
        <p:spPr bwMode="auto">
          <a:xfrm>
            <a:off x="4419600" y="2438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109" name="Line 28"/>
          <p:cNvSpPr>
            <a:spLocks noChangeShapeType="1"/>
          </p:cNvSpPr>
          <p:nvPr/>
        </p:nvSpPr>
        <p:spPr bwMode="auto">
          <a:xfrm>
            <a:off x="3429000" y="2667000"/>
            <a:ext cx="1143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10" name="Line 29"/>
          <p:cNvSpPr>
            <a:spLocks noChangeShapeType="1"/>
          </p:cNvSpPr>
          <p:nvPr/>
        </p:nvSpPr>
        <p:spPr bwMode="auto">
          <a:xfrm flipV="1">
            <a:off x="3429000" y="26670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11" name="Line 30"/>
          <p:cNvSpPr>
            <a:spLocks noChangeShapeType="1"/>
          </p:cNvSpPr>
          <p:nvPr/>
        </p:nvSpPr>
        <p:spPr bwMode="auto">
          <a:xfrm flipV="1">
            <a:off x="3429000" y="3048000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12" name="Line 31"/>
          <p:cNvSpPr>
            <a:spLocks noChangeShapeType="1"/>
          </p:cNvSpPr>
          <p:nvPr/>
        </p:nvSpPr>
        <p:spPr bwMode="auto">
          <a:xfrm>
            <a:off x="3429000" y="36576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13" name="Text Box 32"/>
          <p:cNvSpPr txBox="1">
            <a:spLocks noChangeArrowheads="1"/>
          </p:cNvSpPr>
          <p:nvPr/>
        </p:nvSpPr>
        <p:spPr bwMode="auto">
          <a:xfrm>
            <a:off x="4419600" y="3581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114" name="Line 33"/>
          <p:cNvSpPr>
            <a:spLocks noChangeShapeType="1"/>
          </p:cNvSpPr>
          <p:nvPr/>
        </p:nvSpPr>
        <p:spPr bwMode="auto">
          <a:xfrm flipV="1">
            <a:off x="3429000" y="3810000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15" name="Text Box 34"/>
          <p:cNvSpPr txBox="1">
            <a:spLocks noChangeArrowheads="1"/>
          </p:cNvSpPr>
          <p:nvPr/>
        </p:nvSpPr>
        <p:spPr bwMode="auto">
          <a:xfrm>
            <a:off x="5514817" y="4006215"/>
            <a:ext cx="79248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1-1</a:t>
            </a:r>
            <a:br>
              <a:rPr lang="en-US" altLang="zh-CN" sz="2400">
                <a:latin typeface="Times New Roman" panose="02020603050405020304" pitchFamily="18" charset="0"/>
              </a:rPr>
            </a:br>
            <a:r>
              <a:rPr lang="zh-CN" altLang="en-US" sz="2400">
                <a:latin typeface="Times New Roman" panose="02020603050405020304" pitchFamily="18" charset="0"/>
              </a:rPr>
              <a:t>满射</a:t>
            </a:r>
          </a:p>
        </p:txBody>
      </p:sp>
      <p:sp>
        <p:nvSpPr>
          <p:cNvPr id="46116" name="Text Box 35"/>
          <p:cNvSpPr txBox="1">
            <a:spLocks noChangeArrowheads="1"/>
          </p:cNvSpPr>
          <p:nvPr/>
        </p:nvSpPr>
        <p:spPr bwMode="auto">
          <a:xfrm>
            <a:off x="5105400" y="3505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117" name="Text Box 36"/>
          <p:cNvSpPr txBox="1">
            <a:spLocks noChangeArrowheads="1"/>
          </p:cNvSpPr>
          <p:nvPr/>
        </p:nvSpPr>
        <p:spPr bwMode="auto">
          <a:xfrm>
            <a:off x="5105400" y="3124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118" name="Text Box 37"/>
          <p:cNvSpPr txBox="1">
            <a:spLocks noChangeArrowheads="1"/>
          </p:cNvSpPr>
          <p:nvPr/>
        </p:nvSpPr>
        <p:spPr bwMode="auto">
          <a:xfrm>
            <a:off x="5105400" y="2819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119" name="Text Box 38"/>
          <p:cNvSpPr txBox="1">
            <a:spLocks noChangeArrowheads="1"/>
          </p:cNvSpPr>
          <p:nvPr/>
        </p:nvSpPr>
        <p:spPr bwMode="auto">
          <a:xfrm>
            <a:off x="5105400" y="2514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120" name="Text Box 39"/>
          <p:cNvSpPr txBox="1">
            <a:spLocks noChangeArrowheads="1"/>
          </p:cNvSpPr>
          <p:nvPr/>
        </p:nvSpPr>
        <p:spPr bwMode="auto">
          <a:xfrm>
            <a:off x="6248400" y="3276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121" name="Text Box 40"/>
          <p:cNvSpPr txBox="1">
            <a:spLocks noChangeArrowheads="1"/>
          </p:cNvSpPr>
          <p:nvPr/>
        </p:nvSpPr>
        <p:spPr bwMode="auto">
          <a:xfrm>
            <a:off x="6248400" y="2895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122" name="Text Box 41"/>
          <p:cNvSpPr txBox="1">
            <a:spLocks noChangeArrowheads="1"/>
          </p:cNvSpPr>
          <p:nvPr/>
        </p:nvSpPr>
        <p:spPr bwMode="auto">
          <a:xfrm>
            <a:off x="6248400" y="2514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123" name="Line 42"/>
          <p:cNvSpPr>
            <a:spLocks noChangeShapeType="1"/>
          </p:cNvSpPr>
          <p:nvPr/>
        </p:nvSpPr>
        <p:spPr bwMode="auto">
          <a:xfrm flipV="1">
            <a:off x="5257800" y="27432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24" name="Line 43"/>
          <p:cNvSpPr>
            <a:spLocks noChangeShapeType="1"/>
          </p:cNvSpPr>
          <p:nvPr/>
        </p:nvSpPr>
        <p:spPr bwMode="auto">
          <a:xfrm flipV="1">
            <a:off x="5257800" y="3124200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25" name="Line 44"/>
          <p:cNvSpPr>
            <a:spLocks noChangeShapeType="1"/>
          </p:cNvSpPr>
          <p:nvPr/>
        </p:nvSpPr>
        <p:spPr bwMode="auto">
          <a:xfrm>
            <a:off x="5257800" y="2743200"/>
            <a:ext cx="11430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26" name="Text Box 45"/>
          <p:cNvSpPr txBox="1">
            <a:spLocks noChangeArrowheads="1"/>
          </p:cNvSpPr>
          <p:nvPr/>
        </p:nvSpPr>
        <p:spPr bwMode="auto">
          <a:xfrm>
            <a:off x="6248400" y="3657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127" name="Line 46"/>
          <p:cNvSpPr>
            <a:spLocks noChangeShapeType="1"/>
          </p:cNvSpPr>
          <p:nvPr/>
        </p:nvSpPr>
        <p:spPr bwMode="auto">
          <a:xfrm flipV="1">
            <a:off x="5334000" y="3505200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28" name="Text Box 47"/>
          <p:cNvSpPr txBox="1">
            <a:spLocks noChangeArrowheads="1"/>
          </p:cNvSpPr>
          <p:nvPr/>
        </p:nvSpPr>
        <p:spPr bwMode="auto">
          <a:xfrm>
            <a:off x="7026911" y="3998278"/>
            <a:ext cx="109728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1-1</a:t>
            </a:r>
            <a:br>
              <a:rPr lang="en-US" altLang="zh-CN" sz="2400">
                <a:latin typeface="Times New Roman" panose="02020603050405020304" pitchFamily="18" charset="0"/>
              </a:rPr>
            </a:br>
            <a:r>
              <a:rPr lang="zh-CN" altLang="en-US" sz="2400">
                <a:latin typeface="Times New Roman" panose="02020603050405020304" pitchFamily="18" charset="0"/>
              </a:rPr>
              <a:t>非满射</a:t>
            </a:r>
          </a:p>
        </p:txBody>
      </p:sp>
      <p:sp>
        <p:nvSpPr>
          <p:cNvPr id="46129" name="Text Box 48"/>
          <p:cNvSpPr txBox="1">
            <a:spLocks noChangeArrowheads="1"/>
          </p:cNvSpPr>
          <p:nvPr/>
        </p:nvSpPr>
        <p:spPr bwMode="auto">
          <a:xfrm>
            <a:off x="6781800" y="3505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130" name="Text Box 49"/>
          <p:cNvSpPr txBox="1">
            <a:spLocks noChangeArrowheads="1"/>
          </p:cNvSpPr>
          <p:nvPr/>
        </p:nvSpPr>
        <p:spPr bwMode="auto">
          <a:xfrm>
            <a:off x="6781800" y="31242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131" name="Text Box 50"/>
          <p:cNvSpPr txBox="1">
            <a:spLocks noChangeArrowheads="1"/>
          </p:cNvSpPr>
          <p:nvPr/>
        </p:nvSpPr>
        <p:spPr bwMode="auto">
          <a:xfrm>
            <a:off x="6781800" y="28194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132" name="Text Box 51"/>
          <p:cNvSpPr txBox="1">
            <a:spLocks noChangeArrowheads="1"/>
          </p:cNvSpPr>
          <p:nvPr/>
        </p:nvSpPr>
        <p:spPr bwMode="auto">
          <a:xfrm>
            <a:off x="6781800" y="2514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133" name="Text Box 52"/>
          <p:cNvSpPr txBox="1">
            <a:spLocks noChangeArrowheads="1"/>
          </p:cNvSpPr>
          <p:nvPr/>
        </p:nvSpPr>
        <p:spPr bwMode="auto">
          <a:xfrm>
            <a:off x="7924800" y="3276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134" name="Text Box 53"/>
          <p:cNvSpPr txBox="1">
            <a:spLocks noChangeArrowheads="1"/>
          </p:cNvSpPr>
          <p:nvPr/>
        </p:nvSpPr>
        <p:spPr bwMode="auto">
          <a:xfrm>
            <a:off x="7924800" y="2895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135" name="Text Box 54"/>
          <p:cNvSpPr txBox="1">
            <a:spLocks noChangeArrowheads="1"/>
          </p:cNvSpPr>
          <p:nvPr/>
        </p:nvSpPr>
        <p:spPr bwMode="auto">
          <a:xfrm>
            <a:off x="7924800" y="2514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136" name="Line 55"/>
          <p:cNvSpPr>
            <a:spLocks noChangeShapeType="1"/>
          </p:cNvSpPr>
          <p:nvPr/>
        </p:nvSpPr>
        <p:spPr bwMode="auto">
          <a:xfrm flipV="1">
            <a:off x="6934200" y="27432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37" name="Line 56"/>
          <p:cNvSpPr>
            <a:spLocks noChangeShapeType="1"/>
          </p:cNvSpPr>
          <p:nvPr/>
        </p:nvSpPr>
        <p:spPr bwMode="auto">
          <a:xfrm flipV="1">
            <a:off x="6934200" y="3124200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38" name="Line 57"/>
          <p:cNvSpPr>
            <a:spLocks noChangeShapeType="1"/>
          </p:cNvSpPr>
          <p:nvPr/>
        </p:nvSpPr>
        <p:spPr bwMode="auto">
          <a:xfrm>
            <a:off x="6934200" y="2743200"/>
            <a:ext cx="11430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39" name="Text Box 58"/>
          <p:cNvSpPr txBox="1">
            <a:spLocks noChangeArrowheads="1"/>
          </p:cNvSpPr>
          <p:nvPr/>
        </p:nvSpPr>
        <p:spPr bwMode="auto">
          <a:xfrm>
            <a:off x="7924800" y="3657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  <p:sp>
        <p:nvSpPr>
          <p:cNvPr id="46140" name="Line 59"/>
          <p:cNvSpPr>
            <a:spLocks noChangeShapeType="1"/>
          </p:cNvSpPr>
          <p:nvPr/>
        </p:nvSpPr>
        <p:spPr bwMode="auto">
          <a:xfrm flipV="1">
            <a:off x="7010400" y="3505200"/>
            <a:ext cx="1143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141" name="Text Box 60"/>
          <p:cNvSpPr txBox="1">
            <a:spLocks noChangeArrowheads="1"/>
          </p:cNvSpPr>
          <p:nvPr/>
        </p:nvSpPr>
        <p:spPr bwMode="auto">
          <a:xfrm>
            <a:off x="7924800" y="2133600"/>
            <a:ext cx="290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-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57F2724A-F860-4D07-A34E-CB85DED6FEAF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2" name="Rectangle 3"/>
          <p:cNvSpPr>
            <a:spLocks noGrp="1" noChangeArrowheads="1"/>
          </p:cNvSpPr>
          <p:nvPr/>
        </p:nvSpPr>
        <p:spPr>
          <a:xfrm>
            <a:off x="228600" y="1471613"/>
            <a:ext cx="8610600" cy="47259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/>
            <a:r>
              <a:rPr lang="en-US" altLang="zh-CN" sz="2800" dirty="0">
                <a:ea typeface="宋体" panose="02010600030101010101" pitchFamily="2" charset="-122"/>
              </a:rPr>
              <a:t>3.</a:t>
            </a:r>
            <a:r>
              <a:rPr lang="zh-CN" altLang="en-US" dirty="0">
                <a:ea typeface="宋体" panose="02010600030101010101" pitchFamily="2" charset="-122"/>
              </a:rPr>
              <a:t>函数</a:t>
            </a:r>
            <a:r>
              <a:rPr lang="en-US" altLang="zh-CN" dirty="0">
                <a:ea typeface="宋体" panose="02010600030101010101" pitchFamily="2" charset="-122"/>
              </a:rPr>
              <a:t>f</a:t>
            </a:r>
            <a:r>
              <a:rPr lang="zh-CN" altLang="en-US" dirty="0">
                <a:ea typeface="宋体" panose="02010600030101010101" pitchFamily="2" charset="-122"/>
              </a:rPr>
              <a:t>的定义如</a:t>
            </a:r>
            <a:r>
              <a:rPr lang="en-US" altLang="zh-CN" dirty="0">
                <a:ea typeface="宋体" panose="02010600030101010101" pitchFamily="2" charset="-122"/>
              </a:rPr>
              <a:t> f: Z→Z</a:t>
            </a:r>
            <a:r>
              <a:rPr lang="zh-CN" altLang="en-US" dirty="0">
                <a:ea typeface="宋体" panose="02010600030101010101" pitchFamily="2" charset="-122"/>
              </a:rPr>
              <a:t>，</a:t>
            </a:r>
            <a:r>
              <a:rPr lang="en-US" altLang="zh-CN" dirty="0">
                <a:ea typeface="宋体" panose="02010600030101010101" pitchFamily="2" charset="-122"/>
              </a:rPr>
              <a:t>f(x) = |x|-4x</a:t>
            </a:r>
            <a:r>
              <a:rPr lang="zh-CN" altLang="en-US" dirty="0">
                <a:ea typeface="宋体" panose="02010600030101010101" pitchFamily="2" charset="-122"/>
              </a:rPr>
              <a:t>，则</a:t>
            </a:r>
            <a:r>
              <a:rPr lang="en-US" altLang="zh-CN" dirty="0">
                <a:ea typeface="宋体" panose="02010600030101010101" pitchFamily="2" charset="-122"/>
              </a:rPr>
              <a:t>f</a:t>
            </a:r>
            <a:r>
              <a:rPr lang="zh-CN" altLang="en-US" dirty="0">
                <a:ea typeface="宋体" panose="02010600030101010101" pitchFamily="2" charset="-122"/>
              </a:rPr>
              <a:t>是</a:t>
            </a:r>
            <a:r>
              <a:rPr lang="en-US" altLang="zh-CN" dirty="0">
                <a:ea typeface="宋体" panose="02010600030101010101" pitchFamily="2" charset="-122"/>
              </a:rPr>
              <a:t> ( )</a:t>
            </a:r>
            <a:endParaRPr lang="zh-CN" altLang="zh-CN" dirty="0">
              <a:ea typeface="宋体" panose="02010600030101010101" pitchFamily="2" charset="-122"/>
            </a:endParaRPr>
          </a:p>
          <a:p>
            <a:pPr algn="just"/>
            <a:r>
              <a:rPr lang="en-US" altLang="zh-CN" dirty="0">
                <a:ea typeface="宋体" panose="02010600030101010101" pitchFamily="2" charset="-122"/>
              </a:rPr>
              <a:t>A）</a:t>
            </a:r>
            <a:r>
              <a:rPr lang="zh-CN" altLang="en-US" dirty="0">
                <a:ea typeface="宋体" panose="02010600030101010101" pitchFamily="2" charset="-122"/>
              </a:rPr>
              <a:t>满射</a:t>
            </a:r>
            <a:r>
              <a:rPr lang="en-US" altLang="zh-CN" dirty="0">
                <a:ea typeface="宋体" panose="02010600030101010101" pitchFamily="2" charset="-122"/>
              </a:rPr>
              <a:t>               </a:t>
            </a:r>
          </a:p>
          <a:p>
            <a:pPr algn="just"/>
            <a:r>
              <a:rPr lang="en-US" altLang="zh-CN" dirty="0">
                <a:ea typeface="宋体" panose="02010600030101010101" pitchFamily="2" charset="-122"/>
              </a:rPr>
              <a:t>B）</a:t>
            </a:r>
            <a:r>
              <a:rPr lang="zh-CN" altLang="en-US" dirty="0">
                <a:ea typeface="宋体" panose="02010600030101010101" pitchFamily="2" charset="-122"/>
              </a:rPr>
              <a:t>单射</a:t>
            </a:r>
            <a:endParaRPr lang="zh-CN" altLang="zh-CN" dirty="0">
              <a:ea typeface="宋体" panose="02010600030101010101" pitchFamily="2" charset="-122"/>
            </a:endParaRPr>
          </a:p>
          <a:p>
            <a:pPr algn="just"/>
            <a:r>
              <a:rPr lang="en-US" altLang="zh-CN" dirty="0">
                <a:ea typeface="宋体" panose="02010600030101010101" pitchFamily="2" charset="-122"/>
              </a:rPr>
              <a:t>C）</a:t>
            </a:r>
            <a:r>
              <a:rPr lang="zh-CN" altLang="en-US" dirty="0">
                <a:ea typeface="宋体" panose="02010600030101010101" pitchFamily="2" charset="-122"/>
              </a:rPr>
              <a:t>单射和满射</a:t>
            </a:r>
            <a:r>
              <a:rPr lang="en-US" altLang="zh-CN" dirty="0">
                <a:ea typeface="宋体" panose="02010600030101010101" pitchFamily="2" charset="-122"/>
              </a:rPr>
              <a:t>     </a:t>
            </a:r>
          </a:p>
          <a:p>
            <a:pPr algn="just"/>
            <a:r>
              <a:rPr lang="en-US" altLang="zh-CN" dirty="0">
                <a:ea typeface="宋体" panose="02010600030101010101" pitchFamily="2" charset="-122"/>
              </a:rPr>
              <a:t>D）</a:t>
            </a:r>
            <a:r>
              <a:rPr lang="zh-CN" altLang="en-US" dirty="0">
                <a:ea typeface="宋体" panose="02010600030101010101" pitchFamily="2" charset="-122"/>
              </a:rPr>
              <a:t>既不是单射也不是满射</a:t>
            </a:r>
            <a:endParaRPr lang="zh-CN" altLang="zh-CN" dirty="0">
              <a:ea typeface="宋体" panose="02010600030101010101" pitchFamily="2" charset="-122"/>
            </a:endParaRPr>
          </a:p>
          <a:p>
            <a:pPr algn="just">
              <a:buFont typeface="Wingdings" panose="05000000000000000000" pitchFamily="2" charset="2"/>
              <a:buNone/>
            </a:pPr>
            <a:endParaRPr lang="en-US" altLang="zh-CN" sz="20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5A52FB82-9B41-4BF6-B66D-2F05671A9FD4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885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3"/>
              <p:cNvSpPr>
                <a:spLocks noGrp="1" noChangeArrowheads="1"/>
              </p:cNvSpPr>
              <p:nvPr/>
            </p:nvSpPr>
            <p:spPr>
              <a:xfrm>
                <a:off x="228600" y="1471613"/>
                <a:ext cx="8610600" cy="47259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+mn-lt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algn="just"/>
                <a:r>
                  <a:rPr lang="en-US" altLang="zh-CN" sz="2800" dirty="0">
                    <a:ea typeface="宋体" panose="02010600030101010101" pitchFamily="2" charset="-122"/>
                  </a:rPr>
                  <a:t>4.</a:t>
                </a:r>
                <a:r>
                  <a:rPr lang="zh-CN" altLang="en-US" dirty="0">
                    <a:ea typeface="宋体" panose="02010600030101010101" pitchFamily="2" charset="-122"/>
                  </a:rPr>
                  <a:t>函数</a:t>
                </a:r>
                <a:r>
                  <a:rPr lang="en-US" altLang="zh-CN" dirty="0">
                    <a:ea typeface="宋体" panose="02010600030101010101" pitchFamily="2" charset="-122"/>
                  </a:rPr>
                  <a:t>f</a:t>
                </a:r>
                <a:r>
                  <a:rPr lang="zh-CN" altLang="en-US" dirty="0">
                    <a:ea typeface="宋体" panose="02010600030101010101" pitchFamily="2" charset="-122"/>
                  </a:rPr>
                  <a:t>的定义如</a:t>
                </a:r>
                <a:r>
                  <a:rPr lang="en-US" altLang="zh-CN" dirty="0">
                    <a:ea typeface="宋体" panose="02010600030101010101" pitchFamily="2" charset="-122"/>
                  </a:rPr>
                  <a:t> f: Z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dirty="0">
                    <a:ea typeface="宋体" panose="02010600030101010101" pitchFamily="2" charset="-122"/>
                  </a:rPr>
                  <a:t>Z→Z</a:t>
                </a:r>
                <a:r>
                  <a:rPr lang="zh-CN" altLang="en-US" dirty="0">
                    <a:ea typeface="宋体" panose="02010600030101010101" pitchFamily="2" charset="-122"/>
                  </a:rPr>
                  <a:t>，下列哪一项不是满射</a:t>
                </a:r>
                <a:r>
                  <a:rPr lang="en-US" altLang="zh-CN" dirty="0">
                    <a:ea typeface="宋体" panose="02010600030101010101" pitchFamily="2" charset="-122"/>
                  </a:rPr>
                  <a:t> </a:t>
                </a:r>
                <a:r>
                  <a:rPr lang="zh-CN" altLang="en-US" dirty="0">
                    <a:ea typeface="宋体" panose="02010600030101010101" pitchFamily="2" charset="-122"/>
                  </a:rPr>
                  <a:t>？</a:t>
                </a:r>
                <a:r>
                  <a:rPr lang="en-US" altLang="zh-CN" dirty="0">
                    <a:ea typeface="宋体" panose="02010600030101010101" pitchFamily="2" charset="-122"/>
                  </a:rPr>
                  <a:t>( )</a:t>
                </a:r>
                <a:endParaRPr lang="zh-CN" altLang="zh-CN" dirty="0">
                  <a:ea typeface="宋体" panose="02010600030101010101" pitchFamily="2" charset="-122"/>
                </a:endParaRPr>
              </a:p>
              <a:p>
                <a:pPr algn="just"/>
                <a:r>
                  <a:rPr lang="en-US" altLang="zh-CN" dirty="0" err="1">
                    <a:ea typeface="宋体" panose="02010600030101010101" pitchFamily="2" charset="-122"/>
                  </a:rPr>
                  <a:t>A）f</a:t>
                </a:r>
                <a:r>
                  <a:rPr lang="en-US" altLang="zh-CN" dirty="0">
                    <a:ea typeface="宋体" panose="02010600030101010101" pitchFamily="2" charset="-122"/>
                  </a:rPr>
                  <a:t>(</a:t>
                </a:r>
                <a:r>
                  <a:rPr lang="en-US" altLang="zh-CN" dirty="0" err="1">
                    <a:ea typeface="宋体" panose="02010600030101010101" pitchFamily="2" charset="-122"/>
                  </a:rPr>
                  <a:t>m,n</a:t>
                </a:r>
                <a:r>
                  <a:rPr lang="en-US" altLang="zh-CN" dirty="0">
                    <a:ea typeface="宋体" panose="02010600030101010101" pitchFamily="2" charset="-122"/>
                  </a:rPr>
                  <a:t>) = m + n               </a:t>
                </a:r>
              </a:p>
              <a:p>
                <a:pPr algn="just"/>
                <a:r>
                  <a:rPr lang="en-US" altLang="zh-CN" dirty="0" err="1">
                    <a:ea typeface="宋体" panose="02010600030101010101" pitchFamily="2" charset="-122"/>
                  </a:rPr>
                  <a:t>B）</a:t>
                </a:r>
                <a:r>
                  <a:rPr lang="en-US" altLang="zh-CN" dirty="0" err="1">
                    <a:ea typeface="宋体" panose="02010600030101010101" pitchFamily="2" charset="-122"/>
                    <a:sym typeface="+mn-ea"/>
                  </a:rPr>
                  <a:t>f</a:t>
                </a:r>
                <a:r>
                  <a:rPr lang="en-US" altLang="zh-CN" dirty="0">
                    <a:ea typeface="宋体" panose="02010600030101010101" pitchFamily="2" charset="-122"/>
                    <a:sym typeface="+mn-ea"/>
                  </a:rPr>
                  <a:t>(</a:t>
                </a:r>
                <a:r>
                  <a:rPr lang="en-US" altLang="zh-CN" dirty="0" err="1">
                    <a:ea typeface="宋体" panose="02010600030101010101" pitchFamily="2" charset="-122"/>
                    <a:sym typeface="+mn-ea"/>
                  </a:rPr>
                  <a:t>m,n</a:t>
                </a:r>
                <a:r>
                  <a:rPr lang="en-US" altLang="zh-CN" dirty="0">
                    <a:ea typeface="宋体" panose="02010600030101010101" pitchFamily="2" charset="-122"/>
                    <a:sym typeface="+mn-ea"/>
                  </a:rPr>
                  <a:t>) = m</a:t>
                </a:r>
                <a:r>
                  <a:rPr lang="en-US" altLang="zh-CN" baseline="30000" dirty="0">
                    <a:ea typeface="宋体" panose="02010600030101010101" pitchFamily="2" charset="-122"/>
                    <a:sym typeface="+mn-ea"/>
                  </a:rPr>
                  <a:t>2</a:t>
                </a:r>
                <a:r>
                  <a:rPr lang="en-US" altLang="zh-CN" dirty="0">
                    <a:ea typeface="宋体" panose="02010600030101010101" pitchFamily="2" charset="-122"/>
                    <a:sym typeface="+mn-ea"/>
                  </a:rPr>
                  <a:t> + n</a:t>
                </a:r>
                <a:r>
                  <a:rPr lang="en-US" altLang="zh-CN" baseline="30000" dirty="0">
                    <a:ea typeface="宋体" panose="02010600030101010101" pitchFamily="2" charset="-122"/>
                    <a:sym typeface="+mn-ea"/>
                  </a:rPr>
                  <a:t>2</a:t>
                </a:r>
                <a:r>
                  <a:rPr lang="en-US" altLang="zh-CN" dirty="0">
                    <a:ea typeface="宋体" panose="02010600030101010101" pitchFamily="2" charset="-122"/>
                    <a:sym typeface="+mn-ea"/>
                  </a:rPr>
                  <a:t> </a:t>
                </a:r>
                <a:endParaRPr lang="zh-CN" altLang="zh-CN" dirty="0">
                  <a:ea typeface="宋体" panose="02010600030101010101" pitchFamily="2" charset="-122"/>
                </a:endParaRPr>
              </a:p>
              <a:p>
                <a:pPr algn="just"/>
                <a:r>
                  <a:rPr lang="en-US" altLang="zh-CN" dirty="0" err="1">
                    <a:ea typeface="宋体" panose="02010600030101010101" pitchFamily="2" charset="-122"/>
                  </a:rPr>
                  <a:t>C）</a:t>
                </a:r>
                <a:r>
                  <a:rPr lang="en-US" altLang="zh-CN" dirty="0" err="1">
                    <a:ea typeface="宋体" panose="02010600030101010101" pitchFamily="2" charset="-122"/>
                    <a:sym typeface="+mn-ea"/>
                  </a:rPr>
                  <a:t>f</a:t>
                </a:r>
                <a:r>
                  <a:rPr lang="en-US" altLang="zh-CN" dirty="0">
                    <a:ea typeface="宋体" panose="02010600030101010101" pitchFamily="2" charset="-122"/>
                    <a:sym typeface="+mn-ea"/>
                  </a:rPr>
                  <a:t>(</a:t>
                </a:r>
                <a:r>
                  <a:rPr lang="en-US" altLang="zh-CN" dirty="0" err="1">
                    <a:ea typeface="宋体" panose="02010600030101010101" pitchFamily="2" charset="-122"/>
                    <a:sym typeface="+mn-ea"/>
                  </a:rPr>
                  <a:t>m,n</a:t>
                </a:r>
                <a:r>
                  <a:rPr lang="en-US" altLang="zh-CN" dirty="0">
                    <a:ea typeface="宋体" panose="02010600030101010101" pitchFamily="2" charset="-122"/>
                    <a:sym typeface="+mn-ea"/>
                  </a:rPr>
                  <a:t>) = m </a:t>
                </a:r>
                <a:r>
                  <a:rPr lang="en-US" altLang="zh-CN" dirty="0">
                    <a:ea typeface="宋体" panose="02010600030101010101" pitchFamily="2" charset="-122"/>
                  </a:rPr>
                  <a:t>     </a:t>
                </a:r>
              </a:p>
              <a:p>
                <a:pPr algn="just"/>
                <a:r>
                  <a:rPr lang="en-US" altLang="zh-CN" dirty="0" err="1">
                    <a:ea typeface="宋体" panose="02010600030101010101" pitchFamily="2" charset="-122"/>
                  </a:rPr>
                  <a:t>D）</a:t>
                </a:r>
                <a:r>
                  <a:rPr lang="en-US" altLang="zh-CN" dirty="0" err="1">
                    <a:ea typeface="宋体" panose="02010600030101010101" pitchFamily="2" charset="-122"/>
                    <a:sym typeface="+mn-ea"/>
                  </a:rPr>
                  <a:t>f</a:t>
                </a:r>
                <a:r>
                  <a:rPr lang="en-US" altLang="zh-CN" dirty="0">
                    <a:ea typeface="宋体" panose="02010600030101010101" pitchFamily="2" charset="-122"/>
                    <a:sym typeface="+mn-ea"/>
                  </a:rPr>
                  <a:t>(</a:t>
                </a:r>
                <a:r>
                  <a:rPr lang="en-US" altLang="zh-CN" dirty="0" err="1">
                    <a:ea typeface="宋体" panose="02010600030101010101" pitchFamily="2" charset="-122"/>
                    <a:sym typeface="+mn-ea"/>
                  </a:rPr>
                  <a:t>m,n</a:t>
                </a:r>
                <a:r>
                  <a:rPr lang="en-US" altLang="zh-CN" dirty="0">
                    <a:ea typeface="宋体" panose="02010600030101010101" pitchFamily="2" charset="-122"/>
                    <a:sym typeface="+mn-ea"/>
                  </a:rPr>
                  <a:t>) = m - n </a:t>
                </a:r>
                <a:endParaRPr lang="zh-CN" altLang="zh-CN" dirty="0">
                  <a:ea typeface="宋体" panose="02010600030101010101" pitchFamily="2" charset="-122"/>
                </a:endParaRPr>
              </a:p>
              <a:p>
                <a:pPr algn="just">
                  <a:buFont typeface="Wingdings" panose="05000000000000000000" pitchFamily="2" charset="2"/>
                  <a:buNone/>
                </a:pPr>
                <a:endParaRPr lang="en-US" altLang="zh-CN" sz="2000" b="1" dirty="0"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471613"/>
                <a:ext cx="8610600" cy="4725987"/>
              </a:xfrm>
              <a:prstGeom prst="rect">
                <a:avLst/>
              </a:prstGeom>
              <a:blipFill>
                <a:blip r:embed="rId2"/>
                <a:stretch>
                  <a:fillRect l="-1622" t="-2139" r="-177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5332FB3-15E8-43AB-80F5-72ECC07BF14B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8089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2" name="Rectangle 3"/>
          <p:cNvSpPr>
            <a:spLocks noGrp="1" noChangeArrowheads="1"/>
          </p:cNvSpPr>
          <p:nvPr/>
        </p:nvSpPr>
        <p:spPr>
          <a:xfrm>
            <a:off x="228600" y="1471613"/>
            <a:ext cx="8610600" cy="47259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/>
            <a:r>
              <a:rPr lang="en-US" altLang="zh-CN" sz="2800" dirty="0">
                <a:ea typeface="宋体" panose="02010600030101010101" pitchFamily="2" charset="-122"/>
              </a:rPr>
              <a:t>5. </a:t>
            </a:r>
            <a:r>
              <a:rPr lang="zh-CN" altLang="en-US" sz="2800" dirty="0">
                <a:ea typeface="宋体" panose="02010600030101010101" pitchFamily="2" charset="-122"/>
              </a:rPr>
              <a:t>哪一个函数是从</a:t>
            </a:r>
            <a:r>
              <a:rPr lang="en-US" altLang="zh-CN" sz="2800" dirty="0">
                <a:ea typeface="宋体" panose="02010600030101010101" pitchFamily="2" charset="-122"/>
              </a:rPr>
              <a:t>Z</a:t>
            </a:r>
            <a:r>
              <a:rPr lang="zh-CN" altLang="en-US" sz="2800" dirty="0">
                <a:ea typeface="宋体" panose="02010600030101010101" pitchFamily="2" charset="-122"/>
              </a:rPr>
              <a:t>到</a:t>
            </a:r>
            <a:r>
              <a:rPr lang="en-US" altLang="zh-CN" sz="2800" dirty="0">
                <a:ea typeface="宋体" panose="02010600030101010101" pitchFamily="2" charset="-122"/>
              </a:rPr>
              <a:t>Z</a:t>
            </a:r>
            <a:r>
              <a:rPr lang="zh-CN" altLang="en-US" sz="2800" dirty="0">
                <a:ea typeface="宋体" panose="02010600030101010101" pitchFamily="2" charset="-122"/>
              </a:rPr>
              <a:t>的满射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zh-CN" altLang="en-US" dirty="0">
                <a:ea typeface="宋体" panose="02010600030101010101" pitchFamily="2" charset="-122"/>
              </a:rPr>
              <a:t>？</a:t>
            </a:r>
            <a:r>
              <a:rPr lang="en-US" altLang="zh-CN" dirty="0">
                <a:ea typeface="宋体" panose="02010600030101010101" pitchFamily="2" charset="-122"/>
              </a:rPr>
              <a:t>( )</a:t>
            </a:r>
            <a:endParaRPr lang="zh-CN" altLang="zh-CN" dirty="0">
              <a:ea typeface="宋体" panose="02010600030101010101" pitchFamily="2" charset="-122"/>
            </a:endParaRPr>
          </a:p>
          <a:p>
            <a:pPr algn="just"/>
            <a:r>
              <a:rPr lang="en-US" altLang="zh-CN" dirty="0" err="1">
                <a:ea typeface="宋体" panose="02010600030101010101" pitchFamily="2" charset="-122"/>
              </a:rPr>
              <a:t>A）f</a:t>
            </a:r>
            <a:r>
              <a:rPr lang="en-US" altLang="zh-CN" dirty="0">
                <a:ea typeface="宋体" panose="02010600030101010101" pitchFamily="2" charset="-122"/>
              </a:rPr>
              <a:t>(n) = n</a:t>
            </a:r>
            <a:r>
              <a:rPr lang="en-US" altLang="zh-CN" baseline="30000" dirty="0">
                <a:ea typeface="宋体" panose="02010600030101010101" pitchFamily="2" charset="-122"/>
              </a:rPr>
              <a:t>3</a:t>
            </a:r>
            <a:r>
              <a:rPr lang="en-US" altLang="zh-CN" dirty="0">
                <a:ea typeface="宋体" panose="02010600030101010101" pitchFamily="2" charset="-122"/>
              </a:rPr>
              <a:t>              </a:t>
            </a:r>
          </a:p>
          <a:p>
            <a:pPr algn="just"/>
            <a:r>
              <a:rPr lang="en-US" altLang="zh-CN" dirty="0" err="1">
                <a:ea typeface="宋体" panose="02010600030101010101" pitchFamily="2" charset="-122"/>
              </a:rPr>
              <a:t>B）</a:t>
            </a:r>
            <a:r>
              <a:rPr lang="en-US" altLang="zh-CN" dirty="0" err="1">
                <a:ea typeface="宋体" panose="02010600030101010101" pitchFamily="2" charset="-122"/>
                <a:sym typeface="+mn-ea"/>
              </a:rPr>
              <a:t>f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(n) = n</a:t>
            </a:r>
            <a:r>
              <a:rPr lang="en-US" altLang="zh-CN" baseline="30000" dirty="0">
                <a:ea typeface="宋体" panose="02010600030101010101" pitchFamily="2" charset="-122"/>
                <a:sym typeface="+mn-ea"/>
              </a:rPr>
              <a:t>2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 + 1 </a:t>
            </a:r>
            <a:endParaRPr lang="zh-CN" altLang="zh-CN" dirty="0">
              <a:ea typeface="宋体" panose="02010600030101010101" pitchFamily="2" charset="-122"/>
            </a:endParaRPr>
          </a:p>
          <a:p>
            <a:pPr algn="just"/>
            <a:r>
              <a:rPr lang="en-US" altLang="zh-CN" dirty="0" err="1">
                <a:ea typeface="宋体" panose="02010600030101010101" pitchFamily="2" charset="-122"/>
              </a:rPr>
              <a:t>C）</a:t>
            </a:r>
            <a:r>
              <a:rPr lang="en-US" altLang="zh-CN" dirty="0" err="1">
                <a:ea typeface="宋体" panose="02010600030101010101" pitchFamily="2" charset="-122"/>
                <a:sym typeface="+mn-ea"/>
              </a:rPr>
              <a:t>f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(n) = n</a:t>
            </a:r>
            <a:r>
              <a:rPr lang="en-US" altLang="zh-CN" baseline="30000" dirty="0">
                <a:ea typeface="宋体" panose="02010600030101010101" pitchFamily="2" charset="-122"/>
                <a:sym typeface="+mn-ea"/>
              </a:rPr>
              <a:t>3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+ 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n</a:t>
            </a:r>
            <a:r>
              <a:rPr lang="en-US" altLang="zh-CN" baseline="30000" dirty="0">
                <a:ea typeface="宋体" panose="02010600030101010101" pitchFamily="2" charset="-122"/>
                <a:sym typeface="+mn-ea"/>
              </a:rPr>
              <a:t>2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 + 1</a:t>
            </a:r>
            <a:r>
              <a:rPr lang="en-US" altLang="zh-CN" dirty="0">
                <a:ea typeface="宋体" panose="02010600030101010101" pitchFamily="2" charset="-122"/>
              </a:rPr>
              <a:t>  </a:t>
            </a:r>
          </a:p>
          <a:p>
            <a:pPr algn="just"/>
            <a:r>
              <a:rPr lang="en-US" altLang="zh-CN" dirty="0" err="1">
                <a:ea typeface="宋体" panose="02010600030101010101" pitchFamily="2" charset="-122"/>
              </a:rPr>
              <a:t>D）</a:t>
            </a:r>
            <a:r>
              <a:rPr lang="en-US" altLang="zh-CN" dirty="0" err="1">
                <a:ea typeface="宋体" panose="02010600030101010101" pitchFamily="2" charset="-122"/>
                <a:sym typeface="+mn-ea"/>
              </a:rPr>
              <a:t>f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(n) = n - 1 </a:t>
            </a:r>
            <a:endParaRPr lang="zh-CN" altLang="zh-CN" dirty="0">
              <a:ea typeface="宋体" panose="02010600030101010101" pitchFamily="2" charset="-122"/>
            </a:endParaRPr>
          </a:p>
          <a:p>
            <a:pPr algn="just">
              <a:buFont typeface="Wingdings" panose="05000000000000000000" pitchFamily="2" charset="2"/>
              <a:buNone/>
            </a:pPr>
            <a:endParaRPr lang="en-US" altLang="zh-CN" sz="20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788554D-5AF1-4767-8141-2210FF46D110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7107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A260F6E-E55C-4734-A010-37786ACDC230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710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47109" name="Group 3"/>
          <p:cNvGrpSpPr/>
          <p:nvPr/>
        </p:nvGrpSpPr>
        <p:grpSpPr bwMode="auto">
          <a:xfrm>
            <a:off x="1981200" y="2819400"/>
            <a:ext cx="5029200" cy="2438400"/>
            <a:chOff x="0" y="0"/>
            <a:chExt cx="1889" cy="1009"/>
          </a:xfrm>
        </p:grpSpPr>
        <p:grpSp>
          <p:nvGrpSpPr>
            <p:cNvPr id="47111" name="Group 4"/>
            <p:cNvGrpSpPr/>
            <p:nvPr/>
          </p:nvGrpSpPr>
          <p:grpSpPr bwMode="auto">
            <a:xfrm>
              <a:off x="0" y="90"/>
              <a:ext cx="1889" cy="919"/>
              <a:chOff x="0" y="0"/>
              <a:chExt cx="1926" cy="937"/>
            </a:xfrm>
          </p:grpSpPr>
          <p:sp>
            <p:nvSpPr>
              <p:cNvPr id="47116" name="Oval 5"/>
              <p:cNvSpPr>
                <a:spLocks noChangeArrowheads="1"/>
              </p:cNvSpPr>
              <p:nvPr/>
            </p:nvSpPr>
            <p:spPr bwMode="auto">
              <a:xfrm>
                <a:off x="21" y="3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4A4A7C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  <p:sp>
            <p:nvSpPr>
              <p:cNvPr id="47117" name="Oval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rgbClr val="D2D2FF"/>
                  </a:gs>
                  <a:gs pos="100000">
                    <a:schemeClr val="hlink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</p:grpSp>
        <p:sp>
          <p:nvSpPr>
            <p:cNvPr id="47112" name="Oval 7"/>
            <p:cNvSpPr>
              <a:spLocks noChangeArrowheads="1"/>
            </p:cNvSpPr>
            <p:nvPr/>
          </p:nvSpPr>
          <p:spPr bwMode="auto">
            <a:xfrm>
              <a:off x="89" y="0"/>
              <a:ext cx="1691" cy="845"/>
            </a:xfrm>
            <a:prstGeom prst="ellipse">
              <a:avLst/>
            </a:prstGeom>
            <a:gradFill rotWithShape="1">
              <a:gsLst>
                <a:gs pos="0">
                  <a:srgbClr val="37556B"/>
                </a:gs>
                <a:gs pos="100000">
                  <a:schemeClr val="accent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47113" name="Oval 8"/>
            <p:cNvSpPr>
              <a:spLocks noChangeArrowheads="1"/>
            </p:cNvSpPr>
            <p:nvPr/>
          </p:nvSpPr>
          <p:spPr bwMode="auto">
            <a:xfrm>
              <a:off x="111" y="5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rgbClr val="D0E6F7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47114" name="Oval 9"/>
            <p:cNvSpPr>
              <a:spLocks noChangeArrowheads="1"/>
            </p:cNvSpPr>
            <p:nvPr/>
          </p:nvSpPr>
          <p:spPr bwMode="auto">
            <a:xfrm>
              <a:off x="128" y="13"/>
              <a:ext cx="1570" cy="770"/>
            </a:xfrm>
            <a:prstGeom prst="ellipse">
              <a:avLst/>
            </a:prstGeom>
            <a:gradFill rotWithShape="1">
              <a:gsLst>
                <a:gs pos="0">
                  <a:srgbClr val="5E91B7"/>
                </a:gs>
                <a:gs pos="100000">
                  <a:schemeClr val="accent1">
                    <a:alpha val="48000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47115" name="Oval 10"/>
            <p:cNvSpPr>
              <a:spLocks noChangeArrowheads="1"/>
            </p:cNvSpPr>
            <p:nvPr/>
          </p:nvSpPr>
          <p:spPr bwMode="auto">
            <a:xfrm>
              <a:off x="211" y="30"/>
              <a:ext cx="1382" cy="62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1">
                    <a:alpha val="37999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</p:grpSp>
      <p:sp>
        <p:nvSpPr>
          <p:cNvPr id="47110" name="Rectangle 11"/>
          <p:cNvSpPr>
            <a:spLocks noGrp="1" noChangeArrowheads="1"/>
          </p:cNvSpPr>
          <p:nvPr>
            <p:ph type="body" idx="4294967295"/>
          </p:nvPr>
        </p:nvSpPr>
        <p:spPr>
          <a:xfrm>
            <a:off x="2133600" y="3352800"/>
            <a:ext cx="4572000" cy="685800"/>
          </a:xfrm>
        </p:spPr>
        <p:txBody>
          <a:bodyPr/>
          <a:lstStyle/>
          <a:p>
            <a:pPr algn="ctr">
              <a:lnSpc>
                <a:spcPct val="8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400" b="1" dirty="0">
                <a:ea typeface="宋体" panose="02010600030101010101" pitchFamily="2" charset="-122"/>
              </a:rPr>
              <a:t>函数</a:t>
            </a:r>
            <a:r>
              <a:rPr lang="en-US" altLang="zh-CN" sz="2400" b="1" dirty="0">
                <a:ea typeface="宋体" panose="02010600030101010101" pitchFamily="2" charset="-122"/>
              </a:rPr>
              <a:t>的应用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3D6C04FE-9BCF-46BF-96E5-5AD81EA3D9E7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双射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/>
            <a:r>
              <a:rPr lang="en-US" altLang="zh-CN" dirty="0" err="1">
                <a:ea typeface="宋体" panose="02010600030101010101" pitchFamily="2" charset="-122"/>
              </a:rPr>
              <a:t>如果</a:t>
            </a:r>
            <a:r>
              <a:rPr lang="en-US" altLang="zh-CN" dirty="0">
                <a:ea typeface="宋体" panose="02010600030101010101" pitchFamily="2" charset="-122"/>
              </a:rPr>
              <a:t>一个函数既是</a:t>
            </a:r>
            <a:r>
              <a:rPr lang="en-US" altLang="zh-CN" b="1" i="1" dirty="0">
                <a:ea typeface="宋体" panose="02010600030101010101" pitchFamily="2" charset="-122"/>
              </a:rPr>
              <a:t>一一对应的，</a:t>
            </a:r>
            <a:r>
              <a:rPr lang="en-US" altLang="zh-CN" dirty="0">
                <a:ea typeface="宋体" panose="02010600030101010101" pitchFamily="2" charset="-122"/>
              </a:rPr>
              <a:t>又是</a:t>
            </a:r>
            <a:r>
              <a:rPr lang="en-US" altLang="zh-CN" i="1" dirty="0">
                <a:ea typeface="宋体" panose="02010600030101010101" pitchFamily="2" charset="-122"/>
              </a:rPr>
              <a:t>一对一的</a:t>
            </a:r>
            <a:r>
              <a:rPr lang="en-US" altLang="zh-CN" dirty="0">
                <a:ea typeface="宋体" panose="02010600030101010101" pitchFamily="2" charset="-122"/>
              </a:rPr>
              <a:t>，</a:t>
            </a:r>
            <a:r>
              <a:rPr lang="en-US" altLang="zh-CN" dirty="0" err="1">
                <a:ea typeface="宋体" panose="02010600030101010101" pitchFamily="2" charset="-122"/>
              </a:rPr>
              <a:t>那么</a:t>
            </a:r>
            <a:r>
              <a:rPr lang="en-US" altLang="zh-CN" dirty="0">
                <a:ea typeface="宋体" panose="02010600030101010101" pitchFamily="2" charset="-122"/>
              </a:rPr>
              <a:t>它就是</a:t>
            </a:r>
            <a:r>
              <a:rPr lang="en-US" altLang="zh-CN" i="1" dirty="0">
                <a:ea typeface="宋体" panose="02010600030101010101" pitchFamily="2" charset="-122"/>
              </a:rPr>
              <a:t>一一对应</a:t>
            </a:r>
            <a:r>
              <a:rPr lang="en-US" altLang="zh-CN" dirty="0">
                <a:ea typeface="宋体" panose="02010600030101010101" pitchFamily="2" charset="-122"/>
              </a:rPr>
              <a:t>函数，或者说</a:t>
            </a:r>
            <a:r>
              <a:rPr lang="en-US" altLang="zh-CN" i="1" dirty="0">
                <a:ea typeface="宋体" panose="02010600030101010101" pitchFamily="2" charset="-122"/>
              </a:rPr>
              <a:t>是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双射</a:t>
            </a:r>
            <a:r>
              <a:rPr lang="en-US" altLang="zh-CN" dirty="0">
                <a:ea typeface="宋体" panose="02010600030101010101" pitchFamily="2" charset="-122"/>
              </a:rPr>
              <a:t>函数。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u="sng" dirty="0">
                <a:ea typeface="宋体" panose="02010600030101010101" pitchFamily="2" charset="-122"/>
              </a:rPr>
              <a:t>既是</a:t>
            </a:r>
            <a:r>
              <a:rPr lang="en-US" altLang="zh-CN" dirty="0">
                <a:ea typeface="宋体" panose="02010600030101010101" pitchFamily="2" charset="-122"/>
              </a:rPr>
              <a:t>一一对应的</a:t>
            </a:r>
            <a:r>
              <a:rPr lang="en-US" altLang="zh-CN" u="sng" dirty="0">
                <a:ea typeface="宋体" panose="02010600030101010101" pitchFamily="2" charset="-122"/>
              </a:rPr>
              <a:t>，又是</a:t>
            </a:r>
            <a:r>
              <a:rPr lang="zh-CN" altLang="en-US" dirty="0">
                <a:ea typeface="宋体" panose="02010600030101010101" pitchFamily="2" charset="-122"/>
              </a:rPr>
              <a:t>满射</a:t>
            </a:r>
            <a:r>
              <a:rPr lang="en-US" altLang="zh-CN" dirty="0">
                <a:ea typeface="宋体" panose="02010600030101010101" pitchFamily="2" charset="-122"/>
              </a:rPr>
              <a:t>的。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4DA38813-E2E3-4E95-9DB7-9E6051485942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425" y="731838"/>
            <a:ext cx="8181975" cy="563562"/>
          </a:xfrm>
        </p:spPr>
        <p:txBody>
          <a:bodyPr/>
          <a:lstStyle/>
          <a:p>
            <a:r>
              <a:rPr lang="zh-CN" altLang="en-GB" sz="2400">
                <a:ea typeface="宋体" panose="02010600030101010101" pitchFamily="2" charset="-122"/>
              </a:rPr>
              <a:t>关于函数</a:t>
            </a:r>
            <a:r>
              <a:rPr lang="en-GB" altLang="en-US" sz="2400">
                <a:ea typeface="宋体" panose="02010600030101010101" pitchFamily="2" charset="-122"/>
              </a:rPr>
              <a:t>的两种术语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sp>
        <p:nvSpPr>
          <p:cNvPr id="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GB" altLang="en-US" dirty="0">
                <a:solidFill>
                  <a:srgbClr val="030711"/>
                </a:solidFill>
                <a:ea typeface="宋体" panose="02010600030101010101" pitchFamily="2" charset="-122"/>
              </a:rPr>
              <a:t>1. </a:t>
            </a:r>
            <a:r>
              <a:rPr lang="zh-CN" altLang="en-GB" dirty="0">
                <a:solidFill>
                  <a:srgbClr val="030711"/>
                </a:solidFill>
                <a:ea typeface="宋体" panose="02010600030101010101" pitchFamily="2" charset="-122"/>
              </a:rPr>
              <a:t>单射</a:t>
            </a:r>
            <a:r>
              <a:rPr lang="en-GB" altLang="en-US" dirty="0">
                <a:solidFill>
                  <a:srgbClr val="030711"/>
                </a:solidFill>
                <a:ea typeface="宋体" panose="02010600030101010101" pitchFamily="2" charset="-122"/>
              </a:rPr>
              <a:t> </a:t>
            </a:r>
            <a:r>
              <a:rPr lang="en-GB" altLang="en-US" dirty="0">
                <a:ea typeface="宋体" panose="02010600030101010101" pitchFamily="2" charset="-122"/>
              </a:rPr>
              <a:t>= 一对一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GB" altLang="en-US" dirty="0">
                <a:solidFill>
                  <a:srgbClr val="030711"/>
                </a:solidFill>
                <a:ea typeface="宋体" panose="02010600030101010101" pitchFamily="2" charset="-122"/>
              </a:rPr>
              <a:t>2. </a:t>
            </a:r>
            <a:r>
              <a:rPr lang="zh-CN" altLang="en-GB" dirty="0">
                <a:solidFill>
                  <a:srgbClr val="030711"/>
                </a:solidFill>
                <a:ea typeface="宋体" panose="02010600030101010101" pitchFamily="2" charset="-122"/>
              </a:rPr>
              <a:t>满射</a:t>
            </a:r>
            <a:r>
              <a:rPr lang="en-GB" altLang="en-US" dirty="0">
                <a:solidFill>
                  <a:srgbClr val="030711"/>
                </a:solidFill>
                <a:ea typeface="宋体" panose="02010600030101010101" pitchFamily="2" charset="-122"/>
              </a:rPr>
              <a:t> </a:t>
            </a:r>
            <a:r>
              <a:rPr lang="en-GB" altLang="en-US" dirty="0">
                <a:ea typeface="宋体" panose="02010600030101010101" pitchFamily="2" charset="-122"/>
              </a:rPr>
              <a:t>= </a:t>
            </a:r>
            <a:r>
              <a:rPr lang="zh-CN" altLang="en-GB" dirty="0">
                <a:ea typeface="宋体" panose="02010600030101010101" pitchFamily="2" charset="-122"/>
              </a:rPr>
              <a:t>满射</a:t>
            </a:r>
            <a:endParaRPr lang="en-GB" altLang="en-US" dirty="0">
              <a:ea typeface="宋体" panose="02010600030101010101" pitchFamily="2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GB" altLang="en-US" dirty="0">
                <a:solidFill>
                  <a:srgbClr val="030711"/>
                </a:solidFill>
                <a:ea typeface="宋体" panose="02010600030101010101" pitchFamily="2" charset="-122"/>
              </a:rPr>
              <a:t>3. 双射 </a:t>
            </a:r>
            <a:r>
              <a:rPr lang="en-GB" altLang="en-US" dirty="0">
                <a:ea typeface="宋体" panose="02010600030101010101" pitchFamily="2" charset="-122"/>
              </a:rPr>
              <a:t>= 一一对应</a:t>
            </a:r>
          </a:p>
          <a:p>
            <a:pPr marL="609600" indent="-609600">
              <a:buFont typeface="Wingdings" panose="05000000000000000000" pitchFamily="2" charset="2"/>
              <a:buNone/>
              <a:defRPr/>
            </a:pPr>
            <a:endParaRPr lang="en-GB" altLang="en-US" dirty="0">
              <a:ea typeface="宋体" panose="02010600030101010101" pitchFamily="2" charset="-122"/>
            </a:endParaRPr>
          </a:p>
          <a:p>
            <a:pPr marL="609600" indent="-609600">
              <a:buFont typeface="Wingdings" panose="05000000000000000000" pitchFamily="2" charset="2"/>
              <a:buNone/>
              <a:defRPr/>
            </a:pPr>
            <a:r>
              <a:rPr lang="en-GB" altLang="en-US" dirty="0">
                <a:ea typeface="宋体" panose="02010600030101010101" pitchFamily="2" charset="-122"/>
              </a:rPr>
              <a:t>3 = 1&amp;2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8BB6D685-4F0A-499C-9461-C397A2CDA32E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49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双射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dirty="0" err="1">
                <a:ea typeface="宋体" panose="02010600030101010101" pitchFamily="2" charset="-122"/>
              </a:rPr>
              <a:t>对于双射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ea typeface="宋体" panose="02010600030101010101" pitchFamily="2" charset="-122"/>
              </a:rPr>
              <a:t>f: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ea typeface="宋体" panose="02010600030101010101" pitchFamily="2" charset="-122"/>
              </a:rPr>
              <a:t>B</a:t>
            </a:r>
            <a:r>
              <a:rPr lang="en-US" altLang="zh-CN" dirty="0">
                <a:ea typeface="宋体" panose="02010600030101010101" pitchFamily="2" charset="-122"/>
              </a:rPr>
              <a:t>，存在一个 </a:t>
            </a:r>
            <a:r>
              <a:rPr lang="en-US" altLang="zh-CN" i="1" dirty="0">
                <a:ea typeface="宋体" panose="02010600030101010101" pitchFamily="2" charset="-122"/>
              </a:rPr>
              <a:t>f </a:t>
            </a:r>
            <a:r>
              <a:rPr lang="en-US" altLang="zh-CN" dirty="0" err="1">
                <a:ea typeface="宋体" panose="02010600030101010101" pitchFamily="2" charset="-122"/>
              </a:rPr>
              <a:t>的</a:t>
            </a:r>
            <a:r>
              <a:rPr lang="en-US" altLang="zh-CN" i="1" dirty="0" err="1">
                <a:solidFill>
                  <a:srgbClr val="FF0000"/>
                </a:solidFill>
                <a:ea typeface="宋体" panose="02010600030101010101" pitchFamily="2" charset="-122"/>
              </a:rPr>
              <a:t>逆</a:t>
            </a:r>
            <a:r>
              <a:rPr lang="en-US" altLang="zh-CN" dirty="0" err="1">
                <a:ea typeface="宋体" panose="02010600030101010101" pitchFamily="2" charset="-122"/>
              </a:rPr>
              <a:t>，写成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ea typeface="宋体" panose="02010600030101010101" pitchFamily="2" charset="-122"/>
              </a:rPr>
              <a:t>f</a:t>
            </a:r>
            <a:r>
              <a:rPr lang="en-US" altLang="zh-CN" baseline="30000" dirty="0"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ea typeface="宋体" panose="02010600030101010101" pitchFamily="2" charset="-122"/>
              </a:rPr>
              <a:t>1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 : BA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 err="1">
                <a:ea typeface="宋体" panose="02010600030101010101" pitchFamily="2" charset="-122"/>
              </a:rPr>
              <a:t>直观地说</a:t>
            </a:r>
            <a:r>
              <a:rPr lang="en-US" altLang="zh-CN" dirty="0">
                <a:ea typeface="宋体" panose="02010600030101010101" pitchFamily="2" charset="-122"/>
              </a:rPr>
              <a:t>，</a:t>
            </a:r>
            <a:r>
              <a:rPr lang="zh-CN" altLang="en-US" dirty="0">
                <a:ea typeface="宋体" panose="02010600030101010101" pitchFamily="2" charset="-122"/>
              </a:rPr>
              <a:t>函数的逆是对函数的反向操作</a:t>
            </a:r>
          </a:p>
          <a:p>
            <a:r>
              <a:rPr lang="en-US" altLang="zh-CN" dirty="0" err="1">
                <a:ea typeface="宋体" panose="02010600030101010101" pitchFamily="2" charset="-122"/>
              </a:rPr>
              <a:t>形式上，它是唯一的函数，使得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              ...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5393D413-A843-4F3A-9E38-1AE50B66E8C1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双射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对于双射 </a:t>
            </a:r>
            <a:r>
              <a:rPr lang="en-US" altLang="zh-CN" i="1" dirty="0">
                <a:ea typeface="宋体" panose="02010600030101010101" pitchFamily="2" charset="-122"/>
              </a:rPr>
              <a:t>f: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 </a:t>
            </a:r>
            <a:r>
              <a:rPr lang="en-US" altLang="zh-CN" i="1" dirty="0" err="1">
                <a:ea typeface="宋体" panose="02010600030101010101" pitchFamily="2" charset="-122"/>
              </a:rPr>
              <a:t>B</a:t>
            </a:r>
            <a:r>
              <a:rPr lang="en-US" altLang="zh-CN" dirty="0" err="1">
                <a:ea typeface="宋体" panose="02010600030101010101" pitchFamily="2" charset="-122"/>
              </a:rPr>
              <a:t>，存在一个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ea typeface="宋体" panose="02010600030101010101" pitchFamily="2" charset="-122"/>
              </a:rPr>
              <a:t>f </a:t>
            </a:r>
            <a:r>
              <a:rPr lang="en-US" altLang="zh-CN" dirty="0">
                <a:ea typeface="宋体" panose="02010600030101010101" pitchFamily="2" charset="-122"/>
              </a:rPr>
              <a:t>的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逆</a:t>
            </a:r>
            <a:r>
              <a:rPr lang="en-US" altLang="zh-CN" dirty="0">
                <a:ea typeface="宋体" panose="02010600030101010101" pitchFamily="2" charset="-122"/>
              </a:rPr>
              <a:t>，写为 </a:t>
            </a:r>
            <a:r>
              <a:rPr lang="en-US" altLang="zh-CN" i="1" dirty="0">
                <a:ea typeface="宋体" panose="02010600030101010101" pitchFamily="2" charset="-122"/>
              </a:rPr>
              <a:t>f</a:t>
            </a:r>
            <a:r>
              <a:rPr lang="en-US" altLang="zh-CN" baseline="30000" dirty="0"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ea typeface="宋体" panose="02010600030101010101" pitchFamily="2" charset="-122"/>
              </a:rPr>
              <a:t>1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 : BA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 err="1">
                <a:ea typeface="宋体" panose="02010600030101010101" pitchFamily="2" charset="-122"/>
                <a:sym typeface="+mn-ea"/>
              </a:rPr>
              <a:t>直观地说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，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函数的逆是对函数的反向操作</a:t>
            </a:r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形式上，它是唯一的函数，使得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                 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dirty="0">
                <a:ea typeface="宋体" panose="02010600030101010101" pitchFamily="2" charset="-122"/>
              </a:rPr>
              <a:t>(回顾一下，</a:t>
            </a:r>
            <a:r>
              <a:rPr lang="en-US" altLang="zh-CN" i="1" dirty="0">
                <a:ea typeface="宋体" panose="02010600030101010101" pitchFamily="2" charset="-122"/>
              </a:rPr>
              <a:t>I</a:t>
            </a:r>
            <a:r>
              <a:rPr lang="en-US" altLang="zh-CN" i="1" baseline="-25000" dirty="0">
                <a:ea typeface="宋体" panose="02010600030101010101" pitchFamily="2" charset="-122"/>
              </a:rPr>
              <a:t>A</a:t>
            </a:r>
            <a:r>
              <a:rPr lang="en-US" altLang="zh-CN" dirty="0">
                <a:ea typeface="宋体" panose="02010600030101010101" pitchFamily="2" charset="-122"/>
              </a:rPr>
              <a:t> 是 </a:t>
            </a:r>
            <a:r>
              <a:rPr lang="en-US" altLang="zh-CN" i="1" dirty="0">
                <a:ea typeface="宋体" panose="02010600030101010101" pitchFamily="2" charset="-122"/>
              </a:rPr>
              <a:t>A </a:t>
            </a:r>
            <a:r>
              <a:rPr lang="en-US" altLang="zh-CN" dirty="0">
                <a:ea typeface="宋体" panose="02010600030101010101" pitchFamily="2" charset="-122"/>
              </a:rPr>
              <a:t>上的</a:t>
            </a:r>
            <a:r>
              <a:rPr lang="zh-CN" altLang="en-US" dirty="0">
                <a:ea typeface="宋体" panose="02010600030101010101" pitchFamily="2" charset="-122"/>
              </a:rPr>
              <a:t>恒等</a:t>
            </a:r>
            <a:r>
              <a:rPr lang="en-US" altLang="zh-CN" dirty="0">
                <a:ea typeface="宋体" panose="02010600030101010101" pitchFamily="2" charset="-122"/>
              </a:rPr>
              <a:t>函数）</a:t>
            </a:r>
            <a:endParaRPr lang="en-US" altLang="zh-CN" baseline="30000" dirty="0">
              <a:ea typeface="宋体" panose="02010600030101010101" pitchFamily="2" charset="-122"/>
            </a:endParaRPr>
          </a:p>
        </p:txBody>
      </p:sp>
      <p:graphicFrame>
        <p:nvGraphicFramePr>
          <p:cNvPr id="51205" name="Object 5"/>
          <p:cNvGraphicFramePr>
            <a:graphicFrameLocks noChangeAspect="1"/>
          </p:cNvGraphicFramePr>
          <p:nvPr/>
        </p:nvGraphicFramePr>
        <p:xfrm>
          <a:off x="1219200" y="3547110"/>
          <a:ext cx="2078038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62000" imgH="228600" progId="">
                  <p:embed/>
                </p:oleObj>
              </mc:Choice>
              <mc:Fallback>
                <p:oleObj r:id="rId2" imgW="762000" imgH="22860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547110"/>
                        <a:ext cx="2078038" cy="623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997A181-1B22-405A-8060-3916DEC2BC3A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双射</a:t>
            </a:r>
          </a:p>
        </p:txBody>
      </p:sp>
      <p:sp>
        <p:nvSpPr>
          <p:cNvPr id="5222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GB" altLang="en-US">
                <a:ea typeface="宋体" panose="02010600030101010101" pitchFamily="2" charset="-122"/>
              </a:rPr>
              <a:t>例 1：设 f: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ZZ </a:t>
            </a:r>
            <a:r>
              <a:rPr lang="en-GB" altLang="en-US">
                <a:ea typeface="宋体" panose="02010600030101010101" pitchFamily="2" charset="-122"/>
              </a:rPr>
              <a:t>定义为 </a:t>
            </a:r>
            <a:r>
              <a:rPr lang="en-GB" altLang="en-US">
                <a:solidFill>
                  <a:srgbClr val="FF0000"/>
                </a:solidFill>
                <a:ea typeface="宋体" panose="02010600030101010101" pitchFamily="2" charset="-122"/>
              </a:rPr>
              <a:t>f(x)=x+1</a:t>
            </a:r>
            <a:r>
              <a:rPr lang="en-GB" altLang="en-US">
                <a:ea typeface="宋体" panose="02010600030101010101" pitchFamily="2" charset="-122"/>
              </a:rPr>
              <a:t>.  </a:t>
            </a:r>
            <a:r>
              <a:rPr lang="en-US" altLang="zh-CN">
                <a:ea typeface="宋体" panose="02010600030101010101" pitchFamily="2" charset="-122"/>
              </a:rPr>
              <a:t>f</a:t>
            </a:r>
            <a:r>
              <a:rPr lang="en-US" altLang="zh-CN" baseline="30000"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baseline="30000">
                <a:ea typeface="宋体" panose="02010600030101010101" pitchFamily="2" charset="-122"/>
              </a:rPr>
              <a:t>1 </a:t>
            </a:r>
            <a:r>
              <a:rPr lang="en-US" altLang="zh-CN">
                <a:ea typeface="宋体" panose="02010600030101010101" pitchFamily="2" charset="-122"/>
              </a:rPr>
              <a:t> 是什么？</a:t>
            </a:r>
            <a:endParaRPr lang="en-GB" altLang="en-US">
              <a:ea typeface="宋体" panose="02010600030101010101" pitchFamily="2" charset="-122"/>
            </a:endParaRPr>
          </a:p>
          <a:p>
            <a:r>
              <a:rPr lang="en-GB" altLang="en-US">
                <a:ea typeface="宋体" panose="02010600030101010101" pitchFamily="2" charset="-122"/>
              </a:rPr>
              <a:t>例 2：设 g</a:t>
            </a:r>
            <a:r>
              <a:rPr lang="en-US" altLang="zh-CN">
                <a:ea typeface="宋体" panose="02010600030101010101" pitchFamily="2" charset="-122"/>
              </a:rPr>
              <a:t>: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ZN </a:t>
            </a:r>
            <a:r>
              <a:rPr lang="en-GB" altLang="en-US">
                <a:ea typeface="宋体" panose="02010600030101010101" pitchFamily="2" charset="-122"/>
              </a:rPr>
              <a:t>定义为 </a:t>
            </a:r>
            <a:r>
              <a:rPr lang="en-GB" altLang="en-US">
                <a:solidFill>
                  <a:srgbClr val="FF0000"/>
                </a:solidFill>
                <a:ea typeface="宋体" panose="02010600030101010101" pitchFamily="2" charset="-122"/>
              </a:rPr>
              <a:t>g(x)=|x|</a:t>
            </a:r>
            <a:r>
              <a:rPr lang="en-US" altLang="zh-CN">
                <a:ea typeface="宋体" panose="02010600030101010101" pitchFamily="2" charset="-122"/>
              </a:rPr>
              <a:t>。    g</a:t>
            </a:r>
            <a:r>
              <a:rPr lang="en-US" altLang="zh-CN" baseline="30000"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baseline="30000">
                <a:ea typeface="宋体" panose="02010600030101010101" pitchFamily="2" charset="-122"/>
              </a:rPr>
              <a:t>1 </a:t>
            </a:r>
            <a:r>
              <a:rPr lang="en-US" altLang="zh-CN">
                <a:ea typeface="宋体" panose="02010600030101010101" pitchFamily="2" charset="-122"/>
              </a:rPr>
              <a:t> 是什么？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77546A9-CEF3-4EA5-A0CC-E13AEAFB5186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双射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24000"/>
            <a:ext cx="8229600" cy="4879975"/>
          </a:xfrm>
        </p:spPr>
        <p:txBody>
          <a:bodyPr/>
          <a:lstStyle/>
          <a:p>
            <a:r>
              <a:rPr lang="en-GB" altLang="en-US" dirty="0">
                <a:ea typeface="宋体" panose="02010600030101010101" pitchFamily="2" charset="-122"/>
              </a:rPr>
              <a:t>例 1：设 f: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ZZ </a:t>
            </a:r>
            <a:r>
              <a:rPr lang="en-GB" altLang="en-US" dirty="0">
                <a:ea typeface="宋体" panose="02010600030101010101" pitchFamily="2" charset="-122"/>
              </a:rPr>
              <a:t>定义为 f(x)=x+1.  </a:t>
            </a:r>
            <a:r>
              <a:rPr lang="en-US" altLang="zh-CN" dirty="0">
                <a:ea typeface="宋体" panose="02010600030101010101" pitchFamily="2" charset="-122"/>
              </a:rPr>
              <a:t>f</a:t>
            </a:r>
            <a:r>
              <a:rPr lang="en-US" altLang="zh-CN" baseline="30000" dirty="0"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ea typeface="宋体" panose="02010600030101010101" pitchFamily="2" charset="-122"/>
              </a:rPr>
              <a:t>1 </a:t>
            </a:r>
            <a:r>
              <a:rPr lang="en-US" altLang="zh-CN" dirty="0">
                <a:ea typeface="宋体" panose="02010600030101010101" pitchFamily="2" charset="-122"/>
              </a:rPr>
              <a:t> 是什么？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f</a:t>
            </a:r>
            <a:r>
              <a:rPr lang="en-US" altLang="zh-CN" baseline="30000" dirty="0"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ea typeface="宋体" panose="02010600030101010101" pitchFamily="2" charset="-122"/>
              </a:rPr>
              <a:t>1</a:t>
            </a:r>
            <a:r>
              <a:rPr lang="en-GB" altLang="en-US" dirty="0">
                <a:ea typeface="宋体" panose="02010600030101010101" pitchFamily="2" charset="-122"/>
              </a:rPr>
              <a:t> 是函数（我们称之为 h） </a:t>
            </a:r>
            <a:br>
              <a:rPr lang="en-GB" altLang="en-US" dirty="0">
                <a:ea typeface="宋体" panose="02010600030101010101" pitchFamily="2" charset="-122"/>
              </a:rPr>
            </a:br>
            <a:r>
              <a:rPr lang="en-GB" altLang="en-US" dirty="0">
                <a:ea typeface="宋体" panose="02010600030101010101" pitchFamily="2" charset="-122"/>
              </a:rPr>
              <a:t>h: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ZZ </a:t>
            </a:r>
            <a:r>
              <a:rPr lang="en-GB" altLang="en-US" dirty="0">
                <a:ea typeface="宋体" panose="02010600030101010101" pitchFamily="2" charset="-122"/>
              </a:rPr>
              <a:t>定义为 h(x)=x-1。 </a:t>
            </a:r>
          </a:p>
          <a:p>
            <a:r>
              <a:rPr lang="en-GB" altLang="en-US" dirty="0">
                <a:ea typeface="宋体" panose="02010600030101010101" pitchFamily="2" charset="-122"/>
              </a:rPr>
              <a:t>证明： </a:t>
            </a:r>
          </a:p>
        </p:txBody>
      </p:sp>
      <p:graphicFrame>
        <p:nvGraphicFramePr>
          <p:cNvPr id="53253" name="Object 5"/>
          <p:cNvGraphicFramePr>
            <a:graphicFrameLocks noChangeAspect="1"/>
          </p:cNvGraphicFramePr>
          <p:nvPr/>
        </p:nvGraphicFramePr>
        <p:xfrm>
          <a:off x="2727325" y="4114800"/>
          <a:ext cx="1801813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60400" imgH="254000" progId="">
                  <p:embed/>
                </p:oleObj>
              </mc:Choice>
              <mc:Fallback>
                <p:oleObj r:id="rId2" imgW="660400" imgH="25400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7325" y="4114800"/>
                        <a:ext cx="1801813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4" name="Text Box 5"/>
          <p:cNvSpPr txBox="1">
            <a:spLocks noChangeArrowheads="1"/>
          </p:cNvSpPr>
          <p:nvPr/>
        </p:nvSpPr>
        <p:spPr bwMode="auto">
          <a:xfrm>
            <a:off x="1143000" y="4953000"/>
            <a:ext cx="3657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endParaRPr lang="zh-CN" altLang="en-US" sz="3600">
              <a:latin typeface="Times New Roman" panose="02020603050405020304" pitchFamily="18" charset="0"/>
            </a:endParaRPr>
          </a:p>
        </p:txBody>
      </p:sp>
      <p:sp>
        <p:nvSpPr>
          <p:cNvPr id="53255" name="Text Box 6"/>
          <p:cNvSpPr txBox="1">
            <a:spLocks noChangeArrowheads="1"/>
          </p:cNvSpPr>
          <p:nvPr/>
        </p:nvSpPr>
        <p:spPr bwMode="auto">
          <a:xfrm>
            <a:off x="1143000" y="5181600"/>
            <a:ext cx="4343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GB" altLang="en-US" sz="3600" dirty="0">
                <a:latin typeface="Times New Roman" panose="02020603050405020304" pitchFamily="18" charset="0"/>
              </a:rPr>
              <a:t>h(f(x)) = (x+1)-1 = x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00D27F11-492A-40FC-A7A2-C1EF2F2F93A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双射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dirty="0">
                <a:ea typeface="宋体" panose="02010600030101010101" pitchFamily="2" charset="-122"/>
              </a:rPr>
              <a:t>例 2：设 g</a:t>
            </a:r>
            <a:r>
              <a:rPr lang="en-US" altLang="zh-CN" dirty="0">
                <a:ea typeface="宋体" panose="02010600030101010101" pitchFamily="2" charset="-122"/>
              </a:rPr>
              <a:t>: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ZN </a:t>
            </a:r>
            <a:r>
              <a:rPr lang="en-GB" altLang="en-US" dirty="0">
                <a:ea typeface="宋体" panose="02010600030101010101" pitchFamily="2" charset="-122"/>
              </a:rPr>
              <a:t>定义为 g(x)=|x|</a:t>
            </a:r>
            <a:r>
              <a:rPr lang="en-US" altLang="zh-CN" dirty="0">
                <a:ea typeface="宋体" panose="02010600030101010101" pitchFamily="2" charset="-122"/>
              </a:rPr>
              <a:t>。   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>
                <a:ea typeface="宋体" panose="02010600030101010101" pitchFamily="2" charset="-122"/>
              </a:rPr>
              <a:t>g</a:t>
            </a:r>
            <a:r>
              <a:rPr lang="en-US" altLang="zh-CN" baseline="30000" dirty="0"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ea typeface="宋体" panose="02010600030101010101" pitchFamily="2" charset="-122"/>
              </a:rPr>
              <a:t>1 </a:t>
            </a:r>
            <a:r>
              <a:rPr lang="en-US" altLang="zh-CN" dirty="0">
                <a:ea typeface="宋体" panose="02010600030101010101" pitchFamily="2" charset="-122"/>
              </a:rPr>
              <a:t> 是什么？</a:t>
            </a:r>
          </a:p>
          <a:p>
            <a:pPr>
              <a:lnSpc>
                <a:spcPct val="90000"/>
              </a:lnSpc>
            </a:pPr>
            <a:r>
              <a:rPr lang="en-GB" altLang="en-US" dirty="0">
                <a:ea typeface="宋体" panose="02010600030101010101" pitchFamily="2" charset="-122"/>
              </a:rPr>
              <a:t>这是一个技巧问题：没有这样的函数，因为 g 不是双射：</a:t>
            </a:r>
            <a:br>
              <a:rPr lang="en-GB" altLang="en-US" dirty="0">
                <a:ea typeface="宋体" panose="02010600030101010101" pitchFamily="2" charset="-122"/>
              </a:rPr>
            </a:br>
            <a:r>
              <a:rPr lang="en-GB" altLang="en-US" dirty="0">
                <a:ea typeface="宋体" panose="02010600030101010101" pitchFamily="2" charset="-122"/>
              </a:rPr>
              <a:t>没有</a:t>
            </a:r>
            <a:r>
              <a:rPr lang="en-GB" altLang="en-US" dirty="0">
                <a:solidFill>
                  <a:srgbClr val="030711"/>
                </a:solidFill>
                <a:ea typeface="宋体" panose="02010600030101010101" pitchFamily="2" charset="-122"/>
              </a:rPr>
              <a:t>函数 </a:t>
            </a:r>
            <a:r>
              <a:rPr lang="en-GB" altLang="en-US" dirty="0">
                <a:ea typeface="宋体" panose="02010600030101010101" pitchFamily="2" charset="-122"/>
              </a:rPr>
              <a:t>h 能使 </a:t>
            </a:r>
            <a:br>
              <a:rPr lang="en-GB" altLang="en-US" dirty="0">
                <a:ea typeface="宋体" panose="02010600030101010101" pitchFamily="2" charset="-122"/>
              </a:rPr>
            </a:br>
            <a:r>
              <a:rPr lang="en-GB" altLang="en-US" dirty="0">
                <a:ea typeface="宋体" panose="02010600030101010101" pitchFamily="2" charset="-122"/>
              </a:rPr>
              <a:t>h(|x|)=x 和 h(|x|)=x </a:t>
            </a:r>
          </a:p>
          <a:p>
            <a:pPr>
              <a:lnSpc>
                <a:spcPct val="90000"/>
              </a:lnSpc>
            </a:pPr>
            <a:r>
              <a:rPr lang="en-GB" altLang="en-US" dirty="0">
                <a:ea typeface="宋体" panose="02010600030101010101" pitchFamily="2" charset="-122"/>
              </a:rPr>
              <a:t>(注：有一种</a:t>
            </a:r>
            <a:r>
              <a:rPr lang="en-GB" altLang="en-US" dirty="0">
                <a:solidFill>
                  <a:srgbClr val="030711"/>
                </a:solidFill>
                <a:ea typeface="宋体" panose="02010600030101010101" pitchFamily="2" charset="-122"/>
              </a:rPr>
              <a:t>关系 </a:t>
            </a:r>
            <a:r>
              <a:rPr lang="en-GB" altLang="en-US" dirty="0">
                <a:ea typeface="宋体" panose="02010600030101010101" pitchFamily="2" charset="-122"/>
              </a:rPr>
              <a:t>h 可以证明这一点。）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B39199D-3A8E-4935-9437-CFE9DF34B4EC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8294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829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471613"/>
            <a:ext cx="8610600" cy="4725987"/>
          </a:xfrm>
        </p:spPr>
        <p:txBody>
          <a:bodyPr/>
          <a:lstStyle/>
          <a:p>
            <a:pPr algn="just"/>
            <a:r>
              <a:rPr lang="en-US" altLang="zh-CN" sz="2800" dirty="0">
                <a:ea typeface="宋体" panose="02010600030101010101" pitchFamily="2" charset="-122"/>
              </a:rPr>
              <a:t>6.</a:t>
            </a:r>
            <a:r>
              <a:rPr lang="en-US" altLang="zh-CN" dirty="0">
                <a:ea typeface="宋体" panose="02010600030101010101" pitchFamily="2" charset="-122"/>
              </a:rPr>
              <a:t>下面哪个函数是从 </a:t>
            </a:r>
            <a:r>
              <a:rPr lang="en-US" altLang="zh-CN" i="1" dirty="0">
                <a:ea typeface="宋体" panose="02010600030101010101" pitchFamily="2" charset="-122"/>
              </a:rPr>
              <a:t>R </a:t>
            </a:r>
            <a:r>
              <a:rPr lang="en-US" altLang="zh-CN" dirty="0" err="1">
                <a:ea typeface="宋体" panose="02010600030101010101" pitchFamily="2" charset="-122"/>
              </a:rPr>
              <a:t>到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ea typeface="宋体" panose="02010600030101010101" pitchFamily="2" charset="-122"/>
              </a:rPr>
              <a:t>R </a:t>
            </a:r>
            <a:r>
              <a:rPr lang="en-US" altLang="zh-CN" dirty="0" err="1">
                <a:ea typeface="宋体" panose="02010600030101010101" pitchFamily="2" charset="-122"/>
              </a:rPr>
              <a:t>的双射函数</a:t>
            </a:r>
            <a:r>
              <a:rPr lang="en-US" altLang="zh-CN" dirty="0">
                <a:ea typeface="宋体" panose="02010600030101010101" pitchFamily="2" charset="-122"/>
              </a:rPr>
              <a:t> ( )</a:t>
            </a:r>
            <a:endParaRPr lang="zh-CN" altLang="zh-CN" dirty="0">
              <a:ea typeface="宋体" panose="02010600030101010101" pitchFamily="2" charset="-122"/>
            </a:endParaRPr>
          </a:p>
          <a:p>
            <a:pPr algn="just"/>
            <a:r>
              <a:rPr lang="en-US" altLang="zh-CN" dirty="0" err="1">
                <a:ea typeface="宋体" panose="02010600030101010101" pitchFamily="2" charset="-122"/>
              </a:rPr>
              <a:t>A）f（x</a:t>
            </a:r>
            <a:r>
              <a:rPr lang="en-US" altLang="zh-CN" dirty="0">
                <a:ea typeface="宋体" panose="02010600030101010101" pitchFamily="2" charset="-122"/>
              </a:rPr>
              <a:t>）=1/x                </a:t>
            </a:r>
          </a:p>
          <a:p>
            <a:pPr algn="just"/>
            <a:r>
              <a:rPr lang="en-US" altLang="zh-CN" dirty="0" err="1">
                <a:ea typeface="宋体" panose="02010600030101010101" pitchFamily="2" charset="-122"/>
              </a:rPr>
              <a:t>B）f（x</a:t>
            </a:r>
            <a:r>
              <a:rPr lang="en-US" altLang="zh-CN" dirty="0">
                <a:ea typeface="宋体" panose="02010600030101010101" pitchFamily="2" charset="-122"/>
              </a:rPr>
              <a:t>）=-3x</a:t>
            </a:r>
            <a:r>
              <a:rPr lang="en-US" altLang="zh-CN" baseline="30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+7</a:t>
            </a:r>
          </a:p>
          <a:p>
            <a:pPr algn="just"/>
            <a:r>
              <a:rPr lang="en-US" altLang="zh-CN" dirty="0" err="1">
                <a:ea typeface="宋体" panose="02010600030101010101" pitchFamily="2" charset="-122"/>
              </a:rPr>
              <a:t>C）f</a:t>
            </a:r>
            <a:r>
              <a:rPr lang="en-US" altLang="zh-CN" dirty="0">
                <a:ea typeface="宋体" panose="02010600030101010101" pitchFamily="2" charset="-122"/>
              </a:rPr>
              <a:t>(x) = (x+1)/ (</a:t>
            </a:r>
            <a:r>
              <a:rPr lang="en-US" altLang="zh-CN" i="1" dirty="0">
                <a:ea typeface="宋体" panose="02010600030101010101" pitchFamily="2" charset="-122"/>
              </a:rPr>
              <a:t>x+2</a:t>
            </a:r>
            <a:r>
              <a:rPr lang="en-US" altLang="zh-CN" dirty="0">
                <a:ea typeface="宋体" panose="02010600030101010101" pitchFamily="2" charset="-122"/>
              </a:rPr>
              <a:t>)     </a:t>
            </a:r>
          </a:p>
          <a:p>
            <a:pPr algn="just"/>
            <a:r>
              <a:rPr lang="en-US" altLang="zh-CN" dirty="0" err="1">
                <a:ea typeface="宋体" panose="02010600030101010101" pitchFamily="2" charset="-122"/>
              </a:rPr>
              <a:t>D）f（x</a:t>
            </a:r>
            <a:r>
              <a:rPr lang="en-US" altLang="zh-CN" dirty="0">
                <a:ea typeface="宋体" panose="02010600030101010101" pitchFamily="2" charset="-122"/>
              </a:rPr>
              <a:t>）=x</a:t>
            </a:r>
            <a:r>
              <a:rPr lang="en-US" altLang="zh-CN" baseline="30000" dirty="0">
                <a:ea typeface="宋体" panose="02010600030101010101" pitchFamily="2" charset="-122"/>
              </a:rPr>
              <a:t>5</a:t>
            </a:r>
            <a:r>
              <a:rPr lang="en-US" altLang="zh-CN" dirty="0">
                <a:ea typeface="宋体" panose="02010600030101010101" pitchFamily="2" charset="-122"/>
              </a:rPr>
              <a:t> +1</a:t>
            </a:r>
            <a:endParaRPr lang="zh-CN" altLang="zh-CN" dirty="0">
              <a:ea typeface="宋体" panose="02010600030101010101" pitchFamily="2" charset="-122"/>
            </a:endParaRPr>
          </a:p>
          <a:p>
            <a:pPr algn="just">
              <a:buFont typeface="Wingdings" panose="05000000000000000000" pitchFamily="2" charset="2"/>
              <a:buNone/>
            </a:pPr>
            <a:endParaRPr lang="en-US" altLang="zh-CN" sz="2000" b="1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27795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501470F-C13F-4650-9D74-3010B9CADC1B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函数运算符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/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如果 （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点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）是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上的n</a:t>
            </a: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元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运算符，那么我们可以将  扩展为也表示从 A 到 B 的</a:t>
            </a:r>
            <a:r>
              <a:rPr lang="en-US" altLang="zh-CN" u="sng">
                <a:ea typeface="宋体" panose="02010600030101010101" pitchFamily="2" charset="-122"/>
                <a:sym typeface="Symbol" panose="05050102010706020507" pitchFamily="18" charset="2"/>
              </a:rPr>
              <a:t>函数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运算符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algn="just"/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例如</a:t>
            </a:r>
            <a:r>
              <a:rPr lang="zh-CN" altLang="en-US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：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给定任何二元运算符 ： 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BBB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，以及函数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、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：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AB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，我们定义 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)：AB 是由以下函数定义的函数：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aA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 (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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)(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=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g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EB6CC6E-CEF0-4991-8884-89043D63D55A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函数</a:t>
            </a:r>
            <a:r>
              <a:rPr lang="zh-CN" altLang="en-US">
                <a:ea typeface="宋体" panose="02010600030101010101" pitchFamily="2" charset="-122"/>
              </a:rPr>
              <a:t>运算</a:t>
            </a:r>
            <a:r>
              <a:rPr lang="en-US" altLang="zh-CN">
                <a:ea typeface="宋体" panose="02010600030101010101" pitchFamily="2" charset="-122"/>
              </a:rPr>
              <a:t>符示例</a:t>
            </a:r>
          </a:p>
        </p:txBody>
      </p:sp>
      <p:sp>
        <p:nvSpPr>
          <p:cNvPr id="5632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,×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（加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、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乘）是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的二元运算符（普通加法和乘法）。</a:t>
            </a:r>
          </a:p>
          <a:p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因此，我们还可以对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函数 f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进行</a:t>
            </a:r>
            <a:r>
              <a:rPr lang="en-US" altLang="zh-CN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"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加法 </a:t>
            </a:r>
            <a:r>
              <a:rPr lang="en-US" altLang="zh-CN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和</a:t>
            </a:r>
            <a:r>
              <a:rPr lang="en-US" altLang="zh-CN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"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乘法 "运算：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RR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：</a:t>
            </a:r>
            <a:endParaRPr lang="en-US" altLang="zh-CN" b="1">
              <a:solidFill>
                <a:srgbClr val="030711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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):RR, 其中 (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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)(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=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x)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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pPr lvl="1"/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 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×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)：RR，其中 (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f×g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)(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=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× 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F8F9A882-47B2-4472-ADBF-499786A9780E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函数</a:t>
            </a:r>
            <a:r>
              <a:rPr lang="zh-CN" altLang="en-US">
                <a:ea typeface="宋体" panose="02010600030101010101" pitchFamily="2" charset="-122"/>
              </a:rPr>
              <a:t>复合运算</a:t>
            </a:r>
            <a:r>
              <a:rPr lang="en-US" altLang="zh-CN">
                <a:ea typeface="宋体" panose="02010600030101010101" pitchFamily="2" charset="-122"/>
              </a:rPr>
              <a:t>符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对于函数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AB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和 </a:t>
            </a:r>
            <a:r>
              <a:rPr lang="en-US" altLang="zh-CN" i="1">
                <a:ea typeface="宋体" panose="02010600030101010101" pitchFamily="2" charset="-122"/>
              </a:rPr>
              <a:t>f</a:t>
            </a:r>
            <a:r>
              <a:rPr lang="en-US" altLang="zh-CN">
                <a:ea typeface="宋体" panose="02010600030101010101" pitchFamily="2" charset="-122"/>
              </a:rPr>
              <a:t>:</a:t>
            </a:r>
            <a:r>
              <a:rPr lang="en-US" altLang="zh-CN" i="1">
                <a:ea typeface="宋体" panose="02010600030101010101" pitchFamily="2" charset="-122"/>
              </a:rPr>
              <a:t>B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C</a:t>
            </a:r>
            <a:r>
              <a:rPr lang="en-US" altLang="zh-CN">
                <a:ea typeface="宋体" panose="02010600030101010101" pitchFamily="2" charset="-122"/>
              </a:rPr>
              <a:t>，有一个特殊的运算符叫做</a:t>
            </a:r>
            <a:r>
              <a:rPr lang="zh-CN" altLang="en-US" i="1">
                <a:ea typeface="宋体" panose="02010600030101010101" pitchFamily="2" charset="-122"/>
              </a:rPr>
              <a:t>复合运算</a:t>
            </a:r>
            <a:r>
              <a:rPr lang="en-US" altLang="zh-CN">
                <a:ea typeface="宋体" panose="02010600030101010101" pitchFamily="2" charset="-122"/>
              </a:rPr>
              <a:t>（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>
                <a:ea typeface="宋体" panose="02010600030101010101" pitchFamily="2" charset="-122"/>
              </a:rPr>
              <a:t>○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>
                <a:ea typeface="宋体" panose="02010600030101010101" pitchFamily="2" charset="-122"/>
              </a:rPr>
              <a:t>）。</a:t>
            </a:r>
          </a:p>
          <a:p>
            <a:pPr lvl="1"/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它通过</a:t>
            </a:r>
            <a:r>
              <a:rPr lang="zh-CN" altLang="en-US">
                <a:solidFill>
                  <a:srgbClr val="030711"/>
                </a:solidFill>
                <a:ea typeface="宋体" panose="02010600030101010101" pitchFamily="2" charset="-122"/>
              </a:rPr>
              <a:t>将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 g </a:t>
            </a:r>
            <a:r>
              <a:rPr lang="zh-CN" altLang="en-US">
                <a:solidFill>
                  <a:srgbClr val="030711"/>
                </a:solidFill>
                <a:ea typeface="宋体" panose="02010600030101010101" pitchFamily="2" charset="-122"/>
              </a:rPr>
              <a:t>的结果输出作为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 f </a:t>
            </a:r>
            <a:r>
              <a:rPr lang="zh-CN" altLang="en-US">
                <a:solidFill>
                  <a:srgbClr val="030711"/>
                </a:solidFill>
                <a:ea typeface="宋体" panose="02010600030101010101" pitchFamily="2" charset="-122"/>
              </a:rPr>
              <a:t>的输入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，用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f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和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g </a:t>
            </a:r>
            <a:r>
              <a:rPr lang="zh-CN" altLang="en-US" i="1">
                <a:solidFill>
                  <a:srgbClr val="030711"/>
                </a:solidFill>
                <a:ea typeface="宋体" panose="02010600030101010101" pitchFamily="2" charset="-122"/>
              </a:rPr>
              <a:t>复合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（创建）一个新函数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。</a:t>
            </a:r>
            <a:endParaRPr lang="en-US" altLang="zh-CN">
              <a:solidFill>
                <a:srgbClr val="030711"/>
              </a:solidFill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我们说 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f○g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):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A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C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，其中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f○g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)(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a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) :≡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f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g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a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))。</a:t>
            </a:r>
          </a:p>
          <a:p>
            <a:pPr lvl="1"/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g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a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B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，所以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g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a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)) 已定义，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g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a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))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C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endParaRPr lang="en-US" altLang="zh-CN">
              <a:solidFill>
                <a:srgbClr val="030711"/>
              </a:solidFill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请注意，○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是</a:t>
            </a:r>
            <a:r>
              <a:rPr lang="zh-CN" altLang="en-US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不满足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交换</a:t>
            </a:r>
            <a:r>
              <a:rPr lang="zh-CN" altLang="en-US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律</a:t>
            </a:r>
            <a:r>
              <a:rPr lang="en-US" altLang="zh-CN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的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（即我们并不总是有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f○g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g○f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）。</a:t>
            </a:r>
          </a:p>
        </p:txBody>
      </p:sp>
      <p:sp>
        <p:nvSpPr>
          <p:cNvPr id="57349" name="Freeform 4"/>
          <p:cNvSpPr>
            <a:spLocks noChangeArrowheads="1"/>
          </p:cNvSpPr>
          <p:nvPr/>
        </p:nvSpPr>
        <p:spPr bwMode="auto">
          <a:xfrm>
            <a:off x="4537075" y="1671638"/>
            <a:ext cx="1276350" cy="492125"/>
          </a:xfrm>
          <a:custGeom>
            <a:avLst/>
            <a:gdLst>
              <a:gd name="T0" fmla="*/ 0 w 804"/>
              <a:gd name="T1" fmla="*/ 2147483646 h 310"/>
              <a:gd name="T2" fmla="*/ 2147483646 w 804"/>
              <a:gd name="T3" fmla="*/ 2147483646 h 310"/>
              <a:gd name="T4" fmla="*/ 2147483646 w 804"/>
              <a:gd name="T5" fmla="*/ 2147483646 h 310"/>
              <a:gd name="T6" fmla="*/ 2147483646 w 804"/>
              <a:gd name="T7" fmla="*/ 2147483646 h 310"/>
              <a:gd name="T8" fmla="*/ 2147483646 w 804"/>
              <a:gd name="T9" fmla="*/ 0 h 310"/>
              <a:gd name="T10" fmla="*/ 2147483646 w 804"/>
              <a:gd name="T11" fmla="*/ 2147483646 h 310"/>
              <a:gd name="T12" fmla="*/ 2147483646 w 804"/>
              <a:gd name="T13" fmla="*/ 2147483646 h 310"/>
              <a:gd name="T14" fmla="*/ 2147483646 w 804"/>
              <a:gd name="T15" fmla="*/ 2147483646 h 310"/>
              <a:gd name="T16" fmla="*/ 2147483646 w 804"/>
              <a:gd name="T17" fmla="*/ 2147483646 h 310"/>
              <a:gd name="T18" fmla="*/ 2147483646 w 804"/>
              <a:gd name="T19" fmla="*/ 2147483646 h 310"/>
              <a:gd name="T20" fmla="*/ 2147483646 w 804"/>
              <a:gd name="T21" fmla="*/ 2147483646 h 31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804" h="310">
                <a:moveTo>
                  <a:pt x="0" y="310"/>
                </a:moveTo>
                <a:cubicBezTo>
                  <a:pt x="8" y="276"/>
                  <a:pt x="34" y="246"/>
                  <a:pt x="54" y="218"/>
                </a:cubicBezTo>
                <a:cubicBezTo>
                  <a:pt x="69" y="196"/>
                  <a:pt x="64" y="157"/>
                  <a:pt x="81" y="136"/>
                </a:cubicBezTo>
                <a:cubicBezTo>
                  <a:pt x="107" y="103"/>
                  <a:pt x="171" y="56"/>
                  <a:pt x="212" y="44"/>
                </a:cubicBezTo>
                <a:cubicBezTo>
                  <a:pt x="249" y="18"/>
                  <a:pt x="281" y="8"/>
                  <a:pt x="326" y="0"/>
                </a:cubicBezTo>
                <a:cubicBezTo>
                  <a:pt x="400" y="2"/>
                  <a:pt x="475" y="3"/>
                  <a:pt x="549" y="6"/>
                </a:cubicBezTo>
                <a:cubicBezTo>
                  <a:pt x="595" y="8"/>
                  <a:pt x="637" y="36"/>
                  <a:pt x="679" y="49"/>
                </a:cubicBezTo>
                <a:cubicBezTo>
                  <a:pt x="693" y="71"/>
                  <a:pt x="717" y="89"/>
                  <a:pt x="739" y="104"/>
                </a:cubicBezTo>
                <a:cubicBezTo>
                  <a:pt x="750" y="120"/>
                  <a:pt x="755" y="136"/>
                  <a:pt x="766" y="152"/>
                </a:cubicBezTo>
                <a:cubicBezTo>
                  <a:pt x="777" y="188"/>
                  <a:pt x="764" y="150"/>
                  <a:pt x="782" y="185"/>
                </a:cubicBezTo>
                <a:cubicBezTo>
                  <a:pt x="803" y="224"/>
                  <a:pt x="804" y="268"/>
                  <a:pt x="804" y="310"/>
                </a:cubicBezTo>
              </a:path>
            </a:pathLst>
          </a:custGeom>
          <a:noFill/>
          <a:ln w="57150">
            <a:solidFill>
              <a:srgbClr val="FF0000"/>
            </a:solidFill>
            <a:bevel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50" name="Text Box 5"/>
          <p:cNvSpPr txBox="1">
            <a:spLocks noChangeArrowheads="1"/>
          </p:cNvSpPr>
          <p:nvPr/>
        </p:nvSpPr>
        <p:spPr bwMode="auto">
          <a:xfrm>
            <a:off x="5943600" y="1682750"/>
            <a:ext cx="1619250" cy="374650"/>
          </a:xfrm>
          <a:prstGeom prst="rect">
            <a:avLst/>
          </a:prstGeom>
          <a:solidFill>
            <a:srgbClr val="FFFFCC"/>
          </a:solidFill>
          <a:ln w="38100">
            <a:solidFill>
              <a:srgbClr val="006600"/>
            </a:solidFill>
            <a:miter lim="800000"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注意这里的匹配。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048FFCE2-7612-474A-89C3-9748E694AE2C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函数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复合运算</a:t>
            </a:r>
            <a:r>
              <a:rPr lang="en-US" altLang="zh-CN">
                <a:ea typeface="宋体" panose="02010600030101010101" pitchFamily="2" charset="-122"/>
              </a:rPr>
              <a:t>符</a:t>
            </a:r>
          </a:p>
        </p:txBody>
      </p:sp>
      <p:sp>
        <p:nvSpPr>
          <p:cNvPr id="5837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f○g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g○f </a:t>
            </a:r>
            <a:r>
              <a:rPr lang="zh-CN" altLang="en-US" i="1">
                <a:ea typeface="宋体" panose="02010600030101010101" pitchFamily="2" charset="-122"/>
                <a:sym typeface="Symbol" panose="05050102010706020507" pitchFamily="18" charset="2"/>
              </a:rPr>
              <a:t>并不总是成立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GB" altLang="en-US">
                <a:ea typeface="宋体" panose="02010600030101010101" pitchFamily="2" charset="-122"/>
                <a:sym typeface="Symbol" panose="05050102010706020507" pitchFamily="18" charset="2"/>
              </a:rPr>
              <a:t>你能用谓词逻辑来表达吗？</a:t>
            </a:r>
            <a:endParaRPr lang="en-US" altLang="zh-CN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87F50587-287A-4958-91ED-81550BDF3502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59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函数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复合运算</a:t>
            </a:r>
            <a:r>
              <a:rPr lang="en-US" altLang="zh-CN">
                <a:ea typeface="宋体" panose="02010600030101010101" pitchFamily="2" charset="-122"/>
              </a:rPr>
              <a:t>符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90513" y="1423988"/>
            <a:ext cx="8686800" cy="4879975"/>
          </a:xfrm>
        </p:spPr>
        <p:txBody>
          <a:bodyPr/>
          <a:lstStyle/>
          <a:p>
            <a:pPr algn="just">
              <a:buFont typeface="Wingdings" panose="05000000000000000000" pitchFamily="2" charset="2"/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>
                <a:ea typeface="宋体" panose="02010600030101010101" pitchFamily="2" charset="-122"/>
              </a:rPr>
              <a:t>f○g 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sz="2800" b="1" i="1">
                <a:ea typeface="宋体" panose="02010600030101010101" pitchFamily="2" charset="-122"/>
                <a:sym typeface="Symbol" panose="05050102010706020507" pitchFamily="18" charset="2"/>
              </a:rPr>
              <a:t>g○f </a:t>
            </a:r>
            <a:r>
              <a:rPr lang="zh-CN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并不总是成立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endParaRPr lang="en-US" altLang="zh-CN" sz="2800" b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GB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你能用谓词逻辑来表达吗？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GB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(fg</a:t>
            </a:r>
            <a:r>
              <a:rPr lang="en-GB" altLang="en-US" sz="28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</a:t>
            </a:r>
            <a:r>
              <a:rPr lang="en-GB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f○g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sz="2800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=g○f 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GB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))。  </a:t>
            </a:r>
          </a:p>
          <a:p>
            <a:pPr algn="just">
              <a:buFont typeface="Wingdings" panose="05000000000000000000" pitchFamily="2" charset="2"/>
              <a:buNone/>
            </a:pPr>
            <a:r>
              <a:rPr lang="en-GB" altLang="en-US" sz="2400" b="1">
                <a:ea typeface="宋体" panose="02010600030101010101" pitchFamily="2" charset="-122"/>
                <a:sym typeface="Symbol" panose="05050102010706020507" pitchFamily="18" charset="2"/>
              </a:rPr>
              <a:t>        [请勿写为：fgx(</a:t>
            </a:r>
            <a:r>
              <a:rPr lang="en-US" altLang="zh-CN" sz="2400" b="1" i="1">
                <a:ea typeface="宋体" panose="02010600030101010101" pitchFamily="2" charset="-122"/>
                <a:sym typeface="Symbol" panose="05050102010706020507" pitchFamily="18" charset="2"/>
              </a:rPr>
              <a:t>f○g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(x)  </a:t>
            </a:r>
            <a:r>
              <a:rPr lang="en-US" altLang="zh-CN" sz="2400" b="1" i="1">
                <a:ea typeface="宋体" panose="02010600030101010101" pitchFamily="2" charset="-122"/>
                <a:sym typeface="Symbol" panose="05050102010706020507" pitchFamily="18" charset="2"/>
              </a:rPr>
              <a:t>g○f</a:t>
            </a:r>
            <a:r>
              <a:rPr lang="en-US" altLang="zh-CN" sz="2400" b="1">
                <a:ea typeface="宋体" panose="02010600030101010101" pitchFamily="2" charset="-122"/>
                <a:sym typeface="Symbol" panose="05050102010706020507" pitchFamily="18" charset="2"/>
              </a:rPr>
              <a:t>(x)</a:t>
            </a:r>
            <a:r>
              <a:rPr lang="en-GB" altLang="en-US" sz="2400" b="1">
                <a:ea typeface="宋体" panose="02010600030101010101" pitchFamily="2" charset="-122"/>
                <a:sym typeface="Symbol" panose="05050102010706020507" pitchFamily="18" charset="2"/>
              </a:rPr>
              <a:t>)]。</a:t>
            </a:r>
          </a:p>
          <a:p>
            <a:pPr algn="just">
              <a:buFont typeface="Wingdings" panose="05000000000000000000" pitchFamily="2" charset="2"/>
              <a:buNone/>
            </a:pPr>
            <a:endParaRPr lang="en-GB" altLang="en-US" sz="800" b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algn="just">
              <a:buFont typeface="Wingdings" panose="05000000000000000000" pitchFamily="2" charset="2"/>
              <a:buNone/>
            </a:pPr>
            <a:r>
              <a:rPr lang="en-GB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   (请注意，这个公式既可以量化</a:t>
            </a:r>
            <a:r>
              <a:rPr lang="en-GB" altLang="en-US" sz="2800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函数</a:t>
            </a:r>
            <a:r>
              <a:rPr lang="en-GB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，也可以量化</a:t>
            </a:r>
            <a:r>
              <a:rPr lang="en-GB" altLang="en-US" sz="2800" b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普通对象</a:t>
            </a:r>
            <a:r>
              <a:rPr lang="en-GB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--这在本课程前面讲授的</a:t>
            </a:r>
            <a:r>
              <a:rPr lang="en-GB" altLang="en-US" sz="2800" b="1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一阶</a:t>
            </a:r>
            <a:r>
              <a:rPr lang="en-GB" altLang="en-US" sz="2800" b="1">
                <a:ea typeface="宋体" panose="02010600030101010101" pitchFamily="2" charset="-122"/>
                <a:sym typeface="Symbol" panose="05050102010706020507" pitchFamily="18" charset="2"/>
              </a:rPr>
              <a:t>谓词逻辑（FOPL）中是不可能实现的）。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6154EF04-AFDA-4A8E-8CCA-F200FF300FEC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9523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9523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471613"/>
            <a:ext cx="8610600" cy="4725987"/>
          </a:xfrm>
        </p:spPr>
        <p:txBody>
          <a:bodyPr/>
          <a:lstStyle/>
          <a:p>
            <a:r>
              <a:rPr lang="en-US" altLang="zh-CN" sz="2800" dirty="0">
                <a:ea typeface="宋体" panose="02010600030101010101" pitchFamily="2" charset="-122"/>
              </a:rPr>
              <a:t>7.  </a:t>
            </a:r>
            <a:r>
              <a:rPr lang="en-US" altLang="zh-CN" dirty="0">
                <a:ea typeface="宋体" panose="02010600030101010101" pitchFamily="2" charset="-122"/>
              </a:rPr>
              <a:t>假设 </a:t>
            </a:r>
            <a:r>
              <a:rPr lang="en-US" altLang="zh-CN" sz="2800" dirty="0">
                <a:ea typeface="宋体" panose="02010600030101010101" pitchFamily="2" charset="-122"/>
              </a:rPr>
              <a:t>f</a:t>
            </a:r>
            <a:r>
              <a:rPr lang="en-US" altLang="zh-CN" dirty="0">
                <a:ea typeface="宋体" panose="02010600030101010101" pitchFamily="2" charset="-122"/>
              </a:rPr>
              <a:t>(x)</a:t>
            </a:r>
            <a:r>
              <a:rPr lang="en-US" altLang="zh-CN" i="1" dirty="0">
                <a:ea typeface="宋体" panose="02010600030101010101" pitchFamily="2" charset="-122"/>
              </a:rPr>
              <a:t>=x</a:t>
            </a:r>
            <a:r>
              <a:rPr lang="en-US" altLang="zh-CN" baseline="30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+1 和 </a:t>
            </a:r>
            <a:r>
              <a:rPr lang="en-US" altLang="zh-CN" i="1" dirty="0">
                <a:ea typeface="宋体" panose="02010600030101010101" pitchFamily="2" charset="-122"/>
              </a:rPr>
              <a:t>g</a:t>
            </a:r>
            <a:r>
              <a:rPr lang="en-US" altLang="zh-CN" dirty="0">
                <a:ea typeface="宋体" panose="02010600030101010101" pitchFamily="2" charset="-122"/>
              </a:rPr>
              <a:t>(x)</a:t>
            </a:r>
            <a:r>
              <a:rPr lang="en-US" altLang="zh-CN" i="1" dirty="0">
                <a:ea typeface="宋体" panose="02010600030101010101" pitchFamily="2" charset="-122"/>
              </a:rPr>
              <a:t>=x+2 </a:t>
            </a:r>
            <a:r>
              <a:rPr lang="en-US" altLang="zh-CN" dirty="0">
                <a:ea typeface="宋体" panose="02010600030101010101" pitchFamily="2" charset="-122"/>
              </a:rPr>
              <a:t>是从 </a:t>
            </a:r>
            <a:r>
              <a:rPr lang="en-US" altLang="zh-CN" i="1" dirty="0">
                <a:ea typeface="宋体" panose="02010600030101010101" pitchFamily="2" charset="-122"/>
              </a:rPr>
              <a:t>R </a:t>
            </a:r>
            <a:r>
              <a:rPr lang="en-US" altLang="zh-CN" dirty="0">
                <a:ea typeface="宋体" panose="02010600030101010101" pitchFamily="2" charset="-122"/>
              </a:rPr>
              <a:t>到 </a:t>
            </a:r>
            <a:r>
              <a:rPr lang="en-US" altLang="zh-CN" i="1" dirty="0">
                <a:ea typeface="宋体" panose="02010600030101010101" pitchFamily="2" charset="-122"/>
              </a:rPr>
              <a:t>R </a:t>
            </a:r>
            <a:r>
              <a:rPr lang="en-US" altLang="zh-CN" dirty="0">
                <a:ea typeface="宋体" panose="02010600030101010101" pitchFamily="2" charset="-122"/>
              </a:rPr>
              <a:t>的函数。</a:t>
            </a:r>
            <a:r>
              <a:rPr lang="zh-CN" altLang="en-US" dirty="0">
                <a:ea typeface="宋体" panose="02010600030101010101" pitchFamily="2" charset="-122"/>
                <a:sym typeface="+mn-ea"/>
              </a:rPr>
              <a:t>则</a:t>
            </a:r>
            <a:r>
              <a:rPr lang="en-US" altLang="zh-CN" i="1" dirty="0" err="1">
                <a:ea typeface="宋体" panose="02010600030101010101" pitchFamily="2" charset="-122"/>
                <a:sym typeface="+mn-ea"/>
              </a:rPr>
              <a:t>f</a:t>
            </a:r>
            <a:r>
              <a:rPr lang="en-US" altLang="zh-CN" dirty="0" err="1">
                <a:ea typeface="宋体" panose="02010600030101010101" pitchFamily="2" charset="-122"/>
                <a:sym typeface="+mn-ea"/>
              </a:rPr>
              <a:t>+</a:t>
            </a:r>
            <a:r>
              <a:rPr lang="en-US" altLang="zh-CN" i="1" dirty="0" err="1">
                <a:ea typeface="宋体" panose="02010600030101010101" pitchFamily="2" charset="-122"/>
                <a:sym typeface="+mn-ea"/>
              </a:rPr>
              <a:t>g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=</a:t>
            </a:r>
            <a:r>
              <a:rPr lang="en-US" altLang="zh-CN" u="sng" dirty="0">
                <a:ea typeface="宋体" panose="02010600030101010101" pitchFamily="2" charset="-122"/>
                <a:sym typeface="+mn-ea"/>
              </a:rPr>
              <a:t>______</a:t>
            </a:r>
            <a:r>
              <a:rPr lang="en-US" altLang="zh-CN" dirty="0">
                <a:ea typeface="宋体" panose="02010600030101010101" pitchFamily="2" charset="-122"/>
                <a:sym typeface="+mn-ea"/>
              </a:rPr>
              <a:t> </a:t>
            </a:r>
            <a:endParaRPr lang="en-US" altLang="zh-CN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19D7C9A7-0709-4CD4-82B3-DE106A9657A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9113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76804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4294967295"/>
          </p:nvPr>
        </p:nvSpPr>
        <p:spPr>
          <a:xfrm>
            <a:off x="228714" y="1472159"/>
            <a:ext cx="8610494" cy="4725988"/>
          </a:xfrm>
          <a:blipFill>
            <a:blip r:embed="rId2"/>
            <a:stretch>
              <a:fillRect l="-1275" t="-1675" r="-1771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</a:p>
        </p:txBody>
      </p:sp>
      <p:sp>
        <p:nvSpPr>
          <p:cNvPr id="91141" name="矩形 4"/>
          <p:cNvSpPr>
            <a:spLocks noChangeArrowheads="1"/>
          </p:cNvSpPr>
          <p:nvPr/>
        </p:nvSpPr>
        <p:spPr bwMode="auto">
          <a:xfrm>
            <a:off x="617538" y="1524000"/>
            <a:ext cx="526106" cy="46166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8. </a:t>
            </a:r>
            <a:endParaRPr lang="zh-CN" altLang="en-US" sz="2400" dirty="0"/>
          </a:p>
        </p:txBody>
      </p:sp>
      <p:sp>
        <p:nvSpPr>
          <p:cNvPr id="2" name="矩形 1"/>
          <p:cNvSpPr/>
          <p:nvPr/>
        </p:nvSpPr>
        <p:spPr>
          <a:xfrm>
            <a:off x="1524000" y="1524000"/>
            <a:ext cx="5751195" cy="46164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3200" b="0" i="0" u="none" strike="noStrike" kern="0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是实数域上的数。</a:t>
            </a:r>
            <a:r>
              <a:rPr kumimoji="0" lang="en-US" altLang="zh-CN" sz="3200" b="0" i="0" u="none" strike="noStrike" kern="0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             </a:t>
            </a:r>
            <a:r>
              <a:rPr kumimoji="0" lang="zh-CN" altLang="en-US" sz="3200" b="0" i="0" u="none" strike="noStrike" kern="0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对于</a:t>
            </a:r>
          </a:p>
        </p:txBody>
      </p:sp>
      <p:sp>
        <p:nvSpPr>
          <p:cNvPr id="3" name="矩形 2"/>
          <p:cNvSpPr/>
          <p:nvPr/>
        </p:nvSpPr>
        <p:spPr>
          <a:xfrm>
            <a:off x="5715000" y="1985645"/>
            <a:ext cx="973455" cy="4343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3200" b="0" i="0" u="none" strike="noStrike" kern="0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  </a:t>
            </a:r>
            <a:r>
              <a:rPr kumimoji="0" lang="zh-CN" altLang="en-US" sz="3200" b="0" i="0" u="none" strike="noStrike" kern="0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且</a:t>
            </a:r>
          </a:p>
        </p:txBody>
      </p:sp>
      <p:sp>
        <p:nvSpPr>
          <p:cNvPr id="4" name="矩形 3"/>
          <p:cNvSpPr/>
          <p:nvPr/>
        </p:nvSpPr>
        <p:spPr>
          <a:xfrm>
            <a:off x="617855" y="2514600"/>
            <a:ext cx="123063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3200" b="0" i="0" u="none" strike="noStrike" kern="0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  </a:t>
            </a:r>
            <a:r>
              <a:rPr kumimoji="0" lang="zh-CN" altLang="en-US" sz="3200" b="0" i="0" u="none" strike="noStrike" kern="0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则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9854418-2A2D-490F-A7B5-EC30CCFCC353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9318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76804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4294967295"/>
          </p:nvPr>
        </p:nvSpPr>
        <p:spPr>
          <a:xfrm>
            <a:off x="228714" y="1472159"/>
            <a:ext cx="8610494" cy="4725988"/>
          </a:xfrm>
          <a:blipFill>
            <a:blip r:embed="rId2"/>
            <a:stretch>
              <a:fillRect l="-1275" t="-1675" r="-1771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</a:p>
        </p:txBody>
      </p:sp>
      <p:sp>
        <p:nvSpPr>
          <p:cNvPr id="93189" name="矩形 4"/>
          <p:cNvSpPr>
            <a:spLocks noChangeArrowheads="1"/>
          </p:cNvSpPr>
          <p:nvPr/>
        </p:nvSpPr>
        <p:spPr bwMode="auto">
          <a:xfrm>
            <a:off x="617538" y="1524000"/>
            <a:ext cx="526106" cy="46166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9. </a:t>
            </a:r>
            <a:endParaRPr lang="zh-CN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1905000" y="1524000"/>
            <a:ext cx="5871845" cy="46164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3200" b="0" i="0" u="none" strike="noStrike" kern="0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是实数域上的数。</a:t>
            </a:r>
            <a:r>
              <a:rPr kumimoji="0" lang="en-US" altLang="zh-CN" sz="3200" b="0" i="0" u="none" strike="noStrike" kern="0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             </a:t>
            </a:r>
            <a:r>
              <a:rPr kumimoji="0" lang="zh-CN" altLang="en-US" sz="3200" b="0" i="0" u="none" strike="noStrike" kern="0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对于</a:t>
            </a:r>
          </a:p>
        </p:txBody>
      </p:sp>
      <p:sp>
        <p:nvSpPr>
          <p:cNvPr id="4" name="矩形 3"/>
          <p:cNvSpPr/>
          <p:nvPr/>
        </p:nvSpPr>
        <p:spPr>
          <a:xfrm>
            <a:off x="5791200" y="1985645"/>
            <a:ext cx="973455" cy="4343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3200" b="0" i="0" u="none" strike="noStrike" kern="0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  </a:t>
            </a:r>
            <a:r>
              <a:rPr kumimoji="0" lang="zh-CN" altLang="en-US" sz="3200" b="0" i="0" u="none" strike="noStrike" kern="0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且</a:t>
            </a:r>
          </a:p>
        </p:txBody>
      </p:sp>
      <p:sp>
        <p:nvSpPr>
          <p:cNvPr id="5" name="矩形 4"/>
          <p:cNvSpPr/>
          <p:nvPr/>
        </p:nvSpPr>
        <p:spPr>
          <a:xfrm>
            <a:off x="617855" y="2514600"/>
            <a:ext cx="123063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3200" b="0" i="0" u="none" strike="noStrike" kern="0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  </a:t>
            </a:r>
            <a:r>
              <a:rPr kumimoji="0" lang="zh-CN" altLang="en-US" sz="3200" b="0" i="0" u="none" strike="noStrike" kern="0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则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6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86BBA273-12FE-4526-9456-7EB1A04A3BC0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关于</a:t>
            </a:r>
            <a:r>
              <a:rPr lang="zh-CN" altLang="en-US">
                <a:ea typeface="宋体" panose="02010600030101010101" pitchFamily="2" charset="-122"/>
              </a:rPr>
              <a:t>表示</a:t>
            </a:r>
          </a:p>
        </p:txBody>
      </p:sp>
      <p:sp>
        <p:nvSpPr>
          <p:cNvPr id="62468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11138" y="1828800"/>
            <a:ext cx="7391400" cy="4114800"/>
          </a:xfrm>
        </p:spPr>
        <p:txBody>
          <a:bodyPr/>
          <a:lstStyle/>
          <a:p>
            <a:pPr algn="just">
              <a:lnSpc>
                <a:spcPct val="80000"/>
              </a:lnSpc>
            </a:pPr>
            <a:r>
              <a:rPr lang="en-US" altLang="zh-CN">
                <a:ea typeface="宋体" panose="02010600030101010101" pitchFamily="2" charset="-122"/>
              </a:rPr>
              <a:t>任何类型的离散结构（命题、位串、数字、集合、有序对、函数）都可以用其他结构的某种组合来表示。</a:t>
            </a:r>
          </a:p>
          <a:p>
            <a:pPr algn="just">
              <a:lnSpc>
                <a:spcPct val="80000"/>
              </a:lnSpc>
            </a:pP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也许这些结构中没有一个比其他结构更基本</a:t>
            </a:r>
            <a:r>
              <a:rPr lang="zh-CN" altLang="en-US">
                <a:solidFill>
                  <a:srgbClr val="030711"/>
                </a:solidFill>
                <a:ea typeface="宋体" panose="02010600030101010101" pitchFamily="2" charset="-122"/>
              </a:rPr>
              <a:t>。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然而，逻辑和集合常常被用作其他一切的基础。                            </a:t>
            </a:r>
            <a:b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</a:b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</a:rPr>
              <a:t>                                            例如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</a:rPr>
              <a:t>，在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</a:t>
            </a:r>
            <a:endParaRPr lang="en-US" altLang="zh-CN">
              <a:solidFill>
                <a:srgbClr val="030711"/>
              </a:solidFill>
              <a:ea typeface="宋体" panose="02010600030101010101" pitchFamily="2" charset="-122"/>
            </a:endParaRPr>
          </a:p>
        </p:txBody>
      </p:sp>
      <p:pic>
        <p:nvPicPr>
          <p:cNvPr id="62469" name="Picture 4" descr="052106791X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02538" y="4114800"/>
            <a:ext cx="1541462" cy="2217738"/>
          </a:xfr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E07DCCED-2CC1-4EA3-985F-09FF8CBAD1E3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一些关键函数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419225"/>
            <a:ext cx="8382000" cy="48799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在离散数学中，我们经常使用以下两个实数函数：</a:t>
            </a:r>
          </a:p>
          <a:p>
            <a:pPr lvl="1"/>
            <a:r>
              <a:rPr lang="zh-CN" altLang="en-US" b="1">
                <a:ea typeface="宋体" panose="02010600030101010101" pitchFamily="2" charset="-122"/>
                <a:sym typeface="Symbol" panose="05050102010706020507" pitchFamily="18" charset="2"/>
              </a:rPr>
              <a:t>向下取整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函数 -:R→Z，其中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x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的下限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）指最大整数 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x，即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、 </a:t>
            </a:r>
            <a:b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x 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:≡ max(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{iZ|i≤x}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  <a:p>
            <a:pPr lvl="1"/>
            <a:r>
              <a:rPr lang="zh-CN" altLang="en-US" b="1">
                <a:ea typeface="宋体" panose="02010600030101010101" pitchFamily="2" charset="-122"/>
                <a:sym typeface="Symbol" panose="05050102010706020507" pitchFamily="18" charset="2"/>
              </a:rPr>
              <a:t>向上取整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函数 - :R→Z ，其中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x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的上限</a:t>
            </a:r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）指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最小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整数 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。 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x 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:≡ min(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{iZ|i≥x}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0B5A41F0-0D15-495C-A1C2-F347A8639A9B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直观上的向上</a:t>
            </a:r>
            <a:r>
              <a:rPr lang="en-US" altLang="zh-CN">
                <a:ea typeface="宋体" panose="02010600030101010101" pitchFamily="2" charset="-122"/>
              </a:rPr>
              <a:t>/</a:t>
            </a:r>
            <a:r>
              <a:rPr lang="zh-CN" altLang="en-US">
                <a:ea typeface="宋体" panose="02010600030101010101" pitchFamily="2" charset="-122"/>
              </a:rPr>
              <a:t>向下取整</a:t>
            </a:r>
          </a:p>
        </p:txBody>
      </p:sp>
      <p:sp>
        <p:nvSpPr>
          <p:cNvPr id="6451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实数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"</a:t>
            </a:r>
            <a:r>
              <a:rPr lang="zh-CN" altLang="en-US">
                <a:ea typeface="宋体" panose="02010600030101010101" pitchFamily="2" charset="-122"/>
              </a:rPr>
              <a:t>取最小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"</a:t>
            </a:r>
            <a:r>
              <a:rPr lang="en-US" altLang="zh-CN">
                <a:ea typeface="宋体" panose="02010600030101010101" pitchFamily="2" charset="-122"/>
              </a:rPr>
              <a:t>或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"</a:t>
            </a:r>
            <a:r>
              <a:rPr lang="zh-CN" altLang="en-US">
                <a:ea typeface="宋体" panose="02010600030101010101" pitchFamily="2" charset="-122"/>
              </a:rPr>
              <a:t>取最大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>
                <a:ea typeface="宋体" panose="02010600030101010101" pitchFamily="2" charset="-122"/>
              </a:rPr>
              <a:t>。</a:t>
            </a:r>
          </a:p>
        </p:txBody>
      </p:sp>
      <p:sp>
        <p:nvSpPr>
          <p:cNvPr id="64517" name="Line 4"/>
          <p:cNvSpPr>
            <a:spLocks noChangeShapeType="1"/>
          </p:cNvSpPr>
          <p:nvPr/>
        </p:nvSpPr>
        <p:spPr bwMode="auto">
          <a:xfrm flipV="1">
            <a:off x="5410200" y="2590800"/>
            <a:ext cx="0" cy="3276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18" name="Line 5"/>
          <p:cNvSpPr>
            <a:spLocks noChangeShapeType="1"/>
          </p:cNvSpPr>
          <p:nvPr/>
        </p:nvSpPr>
        <p:spPr bwMode="auto">
          <a:xfrm>
            <a:off x="5257800" y="2895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19" name="Line 6"/>
          <p:cNvSpPr>
            <a:spLocks noChangeShapeType="1"/>
          </p:cNvSpPr>
          <p:nvPr/>
        </p:nvSpPr>
        <p:spPr bwMode="auto">
          <a:xfrm>
            <a:off x="5257800" y="3276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0" name="Line 7"/>
          <p:cNvSpPr>
            <a:spLocks noChangeShapeType="1"/>
          </p:cNvSpPr>
          <p:nvPr/>
        </p:nvSpPr>
        <p:spPr bwMode="auto">
          <a:xfrm>
            <a:off x="5257800" y="3733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1" name="Line 8"/>
          <p:cNvSpPr>
            <a:spLocks noChangeShapeType="1"/>
          </p:cNvSpPr>
          <p:nvPr/>
        </p:nvSpPr>
        <p:spPr bwMode="auto">
          <a:xfrm>
            <a:off x="5257800" y="4191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2" name="Line 9"/>
          <p:cNvSpPr>
            <a:spLocks noChangeShapeType="1"/>
          </p:cNvSpPr>
          <p:nvPr/>
        </p:nvSpPr>
        <p:spPr bwMode="auto">
          <a:xfrm>
            <a:off x="5257800" y="4648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3" name="Line 10"/>
          <p:cNvSpPr>
            <a:spLocks noChangeShapeType="1"/>
          </p:cNvSpPr>
          <p:nvPr/>
        </p:nvSpPr>
        <p:spPr bwMode="auto">
          <a:xfrm>
            <a:off x="5257800" y="51054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4" name="Line 11"/>
          <p:cNvSpPr>
            <a:spLocks noChangeShapeType="1"/>
          </p:cNvSpPr>
          <p:nvPr/>
        </p:nvSpPr>
        <p:spPr bwMode="auto">
          <a:xfrm>
            <a:off x="5257800" y="5562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5" name="Text Box 12"/>
          <p:cNvSpPr txBox="1">
            <a:spLocks noChangeArrowheads="1"/>
          </p:cNvSpPr>
          <p:nvPr/>
        </p:nvSpPr>
        <p:spPr bwMode="auto">
          <a:xfrm>
            <a:off x="4984750" y="4037013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1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64526" name="Text Box 13"/>
          <p:cNvSpPr txBox="1">
            <a:spLocks noChangeArrowheads="1"/>
          </p:cNvSpPr>
          <p:nvPr/>
        </p:nvSpPr>
        <p:spPr bwMode="auto">
          <a:xfrm>
            <a:off x="4865688" y="4494213"/>
            <a:ext cx="3698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1">
                <a:latin typeface="Times New Roman" panose="02020603050405020304" pitchFamily="18" charset="0"/>
              </a:rPr>
              <a:t>1</a:t>
            </a:r>
          </a:p>
        </p:txBody>
      </p:sp>
      <p:sp>
        <p:nvSpPr>
          <p:cNvPr id="64527" name="Text Box 14"/>
          <p:cNvSpPr txBox="1">
            <a:spLocks noChangeArrowheads="1"/>
          </p:cNvSpPr>
          <p:nvPr/>
        </p:nvSpPr>
        <p:spPr bwMode="auto">
          <a:xfrm>
            <a:off x="4953000" y="3579813"/>
            <a:ext cx="336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1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64528" name="Text Box 15"/>
          <p:cNvSpPr txBox="1">
            <a:spLocks noChangeArrowheads="1"/>
          </p:cNvSpPr>
          <p:nvPr/>
        </p:nvSpPr>
        <p:spPr bwMode="auto">
          <a:xfrm>
            <a:off x="4984750" y="3122613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1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64529" name="Text Box 16"/>
          <p:cNvSpPr txBox="1">
            <a:spLocks noChangeArrowheads="1"/>
          </p:cNvSpPr>
          <p:nvPr/>
        </p:nvSpPr>
        <p:spPr bwMode="auto">
          <a:xfrm>
            <a:off x="4984750" y="2741613"/>
            <a:ext cx="273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1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64530" name="Text Box 17"/>
          <p:cNvSpPr txBox="1">
            <a:spLocks noChangeArrowheads="1"/>
          </p:cNvSpPr>
          <p:nvPr/>
        </p:nvSpPr>
        <p:spPr bwMode="auto">
          <a:xfrm>
            <a:off x="4865688" y="4951413"/>
            <a:ext cx="3698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1">
                <a:latin typeface="Times New Roman" panose="02020603050405020304" pitchFamily="18" charset="0"/>
              </a:rPr>
              <a:t>2</a:t>
            </a:r>
          </a:p>
        </p:txBody>
      </p:sp>
      <p:sp>
        <p:nvSpPr>
          <p:cNvPr id="64531" name="Text Box 18"/>
          <p:cNvSpPr txBox="1">
            <a:spLocks noChangeArrowheads="1"/>
          </p:cNvSpPr>
          <p:nvPr/>
        </p:nvSpPr>
        <p:spPr bwMode="auto">
          <a:xfrm>
            <a:off x="4865688" y="5408613"/>
            <a:ext cx="3698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1">
                <a:latin typeface="Times New Roman" panose="02020603050405020304" pitchFamily="18" charset="0"/>
              </a:rPr>
              <a:t>3</a:t>
            </a:r>
          </a:p>
        </p:txBody>
      </p:sp>
      <p:sp>
        <p:nvSpPr>
          <p:cNvPr id="64532" name="Text Box 19"/>
          <p:cNvSpPr txBox="1">
            <a:spLocks noChangeArrowheads="1"/>
          </p:cNvSpPr>
          <p:nvPr/>
        </p:nvSpPr>
        <p:spPr bwMode="auto">
          <a:xfrm>
            <a:off x="5654675" y="3198813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64533" name="Text Box 20"/>
          <p:cNvSpPr txBox="1">
            <a:spLocks noChangeArrowheads="1"/>
          </p:cNvSpPr>
          <p:nvPr/>
        </p:nvSpPr>
        <p:spPr bwMode="auto">
          <a:xfrm>
            <a:off x="5826125" y="3484563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64534" name="Text Box 21"/>
          <p:cNvSpPr txBox="1">
            <a:spLocks noChangeArrowheads="1"/>
          </p:cNvSpPr>
          <p:nvPr/>
        </p:nvSpPr>
        <p:spPr bwMode="auto">
          <a:xfrm>
            <a:off x="5959475" y="3027363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64535" name="Text Box 22"/>
          <p:cNvSpPr txBox="1">
            <a:spLocks noChangeArrowheads="1"/>
          </p:cNvSpPr>
          <p:nvPr/>
        </p:nvSpPr>
        <p:spPr bwMode="auto">
          <a:xfrm>
            <a:off x="5959475" y="4398963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64536" name="Text Box 23"/>
          <p:cNvSpPr txBox="1">
            <a:spLocks noChangeArrowheads="1"/>
          </p:cNvSpPr>
          <p:nvPr/>
        </p:nvSpPr>
        <p:spPr bwMode="auto">
          <a:xfrm>
            <a:off x="5730875" y="4570413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64537" name="Text Box 24"/>
          <p:cNvSpPr txBox="1">
            <a:spLocks noChangeArrowheads="1"/>
          </p:cNvSpPr>
          <p:nvPr/>
        </p:nvSpPr>
        <p:spPr bwMode="auto">
          <a:xfrm>
            <a:off x="6188075" y="4856163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64538" name="Freeform 25"/>
          <p:cNvSpPr>
            <a:spLocks noChangeArrowheads="1"/>
          </p:cNvSpPr>
          <p:nvPr/>
        </p:nvSpPr>
        <p:spPr bwMode="auto">
          <a:xfrm>
            <a:off x="5792788" y="3462338"/>
            <a:ext cx="141287" cy="257175"/>
          </a:xfrm>
          <a:custGeom>
            <a:avLst/>
            <a:gdLst>
              <a:gd name="T0" fmla="*/ 0 w 89"/>
              <a:gd name="T1" fmla="*/ 0 h 162"/>
              <a:gd name="T2" fmla="*/ 2147483646 w 89"/>
              <a:gd name="T3" fmla="*/ 2147483646 h 162"/>
              <a:gd name="T4" fmla="*/ 2147483646 w 89"/>
              <a:gd name="T5" fmla="*/ 2147483646 h 162"/>
              <a:gd name="T6" fmla="*/ 2147483646 w 89"/>
              <a:gd name="T7" fmla="*/ 2147483646 h 16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89" h="162">
                <a:moveTo>
                  <a:pt x="0" y="0"/>
                </a:moveTo>
                <a:cubicBezTo>
                  <a:pt x="39" y="13"/>
                  <a:pt x="23" y="21"/>
                  <a:pt x="49" y="49"/>
                </a:cubicBezTo>
                <a:cubicBezTo>
                  <a:pt x="68" y="106"/>
                  <a:pt x="56" y="83"/>
                  <a:pt x="81" y="122"/>
                </a:cubicBezTo>
                <a:cubicBezTo>
                  <a:pt x="84" y="135"/>
                  <a:pt x="89" y="162"/>
                  <a:pt x="89" y="162"/>
                </a:cubicBezTo>
              </a:path>
            </a:pathLst>
          </a:custGeom>
          <a:noFill/>
          <a:ln w="9525">
            <a:solidFill>
              <a:schemeClr val="tx1"/>
            </a:solidFill>
            <a:bevel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39" name="Freeform 26"/>
          <p:cNvSpPr>
            <a:spLocks noChangeArrowheads="1"/>
          </p:cNvSpPr>
          <p:nvPr/>
        </p:nvSpPr>
        <p:spPr bwMode="auto">
          <a:xfrm>
            <a:off x="5791200" y="3321050"/>
            <a:ext cx="266700" cy="127000"/>
          </a:xfrm>
          <a:custGeom>
            <a:avLst/>
            <a:gdLst>
              <a:gd name="T0" fmla="*/ 0 w 168"/>
              <a:gd name="T1" fmla="*/ 2147483646 h 80"/>
              <a:gd name="T2" fmla="*/ 2147483646 w 168"/>
              <a:gd name="T3" fmla="*/ 2147483646 h 80"/>
              <a:gd name="T4" fmla="*/ 2147483646 w 168"/>
              <a:gd name="T5" fmla="*/ 2147483646 h 80"/>
              <a:gd name="T6" fmla="*/ 2147483646 w 168"/>
              <a:gd name="T7" fmla="*/ 2147483646 h 80"/>
              <a:gd name="T8" fmla="*/ 2147483646 w 168"/>
              <a:gd name="T9" fmla="*/ 0 h 8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8" h="80">
                <a:moveTo>
                  <a:pt x="0" y="80"/>
                </a:moveTo>
                <a:cubicBezTo>
                  <a:pt x="32" y="69"/>
                  <a:pt x="64" y="65"/>
                  <a:pt x="96" y="56"/>
                </a:cubicBezTo>
                <a:cubicBezTo>
                  <a:pt x="104" y="54"/>
                  <a:pt x="112" y="51"/>
                  <a:pt x="120" y="48"/>
                </a:cubicBezTo>
                <a:cubicBezTo>
                  <a:pt x="129" y="45"/>
                  <a:pt x="144" y="32"/>
                  <a:pt x="144" y="32"/>
                </a:cubicBezTo>
                <a:cubicBezTo>
                  <a:pt x="152" y="21"/>
                  <a:pt x="162" y="12"/>
                  <a:pt x="168" y="0"/>
                </a:cubicBezTo>
              </a:path>
            </a:pathLst>
          </a:custGeom>
          <a:noFill/>
          <a:ln w="9525">
            <a:solidFill>
              <a:schemeClr val="tx1"/>
            </a:solidFill>
            <a:bevel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40" name="Text Box 27"/>
          <p:cNvSpPr txBox="1">
            <a:spLocks noChangeArrowheads="1"/>
          </p:cNvSpPr>
          <p:nvPr/>
        </p:nvSpPr>
        <p:spPr bwMode="auto">
          <a:xfrm>
            <a:off x="5730875" y="5313363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64541" name="Text Box 28"/>
          <p:cNvSpPr txBox="1">
            <a:spLocks noChangeArrowheads="1"/>
          </p:cNvSpPr>
          <p:nvPr/>
        </p:nvSpPr>
        <p:spPr bwMode="auto">
          <a:xfrm>
            <a:off x="5883275" y="5313363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64542" name="Text Box 29"/>
          <p:cNvSpPr txBox="1">
            <a:spLocks noChangeArrowheads="1"/>
          </p:cNvSpPr>
          <p:nvPr/>
        </p:nvSpPr>
        <p:spPr bwMode="auto">
          <a:xfrm>
            <a:off x="6124575" y="5313363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64543" name="Freeform 30"/>
          <p:cNvSpPr>
            <a:spLocks noChangeArrowheads="1"/>
          </p:cNvSpPr>
          <p:nvPr/>
        </p:nvSpPr>
        <p:spPr bwMode="auto">
          <a:xfrm>
            <a:off x="5861050" y="4826000"/>
            <a:ext cx="433388" cy="273050"/>
          </a:xfrm>
          <a:custGeom>
            <a:avLst/>
            <a:gdLst>
              <a:gd name="T0" fmla="*/ 0 w 273"/>
              <a:gd name="T1" fmla="*/ 0 h 172"/>
              <a:gd name="T2" fmla="*/ 2147483646 w 273"/>
              <a:gd name="T3" fmla="*/ 2147483646 h 172"/>
              <a:gd name="T4" fmla="*/ 2147483646 w 273"/>
              <a:gd name="T5" fmla="*/ 2147483646 h 172"/>
              <a:gd name="T6" fmla="*/ 2147483646 w 273"/>
              <a:gd name="T7" fmla="*/ 2147483646 h 172"/>
              <a:gd name="T8" fmla="*/ 2147483646 w 273"/>
              <a:gd name="T9" fmla="*/ 2147483646 h 172"/>
              <a:gd name="T10" fmla="*/ 2147483646 w 273"/>
              <a:gd name="T11" fmla="*/ 2147483646 h 172"/>
              <a:gd name="T12" fmla="*/ 2147483646 w 273"/>
              <a:gd name="T13" fmla="*/ 2147483646 h 172"/>
              <a:gd name="T14" fmla="*/ 2147483646 w 273"/>
              <a:gd name="T15" fmla="*/ 2147483646 h 172"/>
              <a:gd name="T16" fmla="*/ 2147483646 w 273"/>
              <a:gd name="T17" fmla="*/ 2147483646 h 172"/>
              <a:gd name="T18" fmla="*/ 2147483646 w 273"/>
              <a:gd name="T19" fmla="*/ 2147483646 h 17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73" h="172">
                <a:moveTo>
                  <a:pt x="0" y="0"/>
                </a:moveTo>
                <a:cubicBezTo>
                  <a:pt x="45" y="15"/>
                  <a:pt x="94" y="24"/>
                  <a:pt x="140" y="36"/>
                </a:cubicBezTo>
                <a:cubicBezTo>
                  <a:pt x="152" y="39"/>
                  <a:pt x="164" y="44"/>
                  <a:pt x="176" y="48"/>
                </a:cubicBezTo>
                <a:cubicBezTo>
                  <a:pt x="184" y="51"/>
                  <a:pt x="200" y="56"/>
                  <a:pt x="200" y="56"/>
                </a:cubicBezTo>
                <a:cubicBezTo>
                  <a:pt x="211" y="67"/>
                  <a:pt x="236" y="84"/>
                  <a:pt x="236" y="84"/>
                </a:cubicBezTo>
                <a:cubicBezTo>
                  <a:pt x="237" y="88"/>
                  <a:pt x="237" y="93"/>
                  <a:pt x="240" y="96"/>
                </a:cubicBezTo>
                <a:cubicBezTo>
                  <a:pt x="243" y="100"/>
                  <a:pt x="249" y="100"/>
                  <a:pt x="252" y="104"/>
                </a:cubicBezTo>
                <a:cubicBezTo>
                  <a:pt x="256" y="111"/>
                  <a:pt x="255" y="121"/>
                  <a:pt x="260" y="128"/>
                </a:cubicBezTo>
                <a:cubicBezTo>
                  <a:pt x="263" y="132"/>
                  <a:pt x="265" y="136"/>
                  <a:pt x="268" y="140"/>
                </a:cubicBezTo>
                <a:cubicBezTo>
                  <a:pt x="273" y="161"/>
                  <a:pt x="272" y="151"/>
                  <a:pt x="272" y="172"/>
                </a:cubicBezTo>
              </a:path>
            </a:pathLst>
          </a:custGeom>
          <a:noFill/>
          <a:ln w="9525">
            <a:solidFill>
              <a:schemeClr val="tx1"/>
            </a:solidFill>
            <a:bevel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44" name="Freeform 31"/>
          <p:cNvSpPr>
            <a:spLocks noChangeArrowheads="1"/>
          </p:cNvSpPr>
          <p:nvPr/>
        </p:nvSpPr>
        <p:spPr bwMode="auto">
          <a:xfrm>
            <a:off x="5854700" y="4705350"/>
            <a:ext cx="190500" cy="114300"/>
          </a:xfrm>
          <a:custGeom>
            <a:avLst/>
            <a:gdLst>
              <a:gd name="T0" fmla="*/ 0 w 120"/>
              <a:gd name="T1" fmla="*/ 2147483646 h 72"/>
              <a:gd name="T2" fmla="*/ 2147483646 w 120"/>
              <a:gd name="T3" fmla="*/ 2147483646 h 72"/>
              <a:gd name="T4" fmla="*/ 2147483646 w 120"/>
              <a:gd name="T5" fmla="*/ 2147483646 h 72"/>
              <a:gd name="T6" fmla="*/ 2147483646 w 120"/>
              <a:gd name="T7" fmla="*/ 0 h 7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0" h="72">
                <a:moveTo>
                  <a:pt x="0" y="72"/>
                </a:moveTo>
                <a:cubicBezTo>
                  <a:pt x="21" y="65"/>
                  <a:pt x="43" y="59"/>
                  <a:pt x="64" y="52"/>
                </a:cubicBezTo>
                <a:cubicBezTo>
                  <a:pt x="77" y="48"/>
                  <a:pt x="88" y="32"/>
                  <a:pt x="100" y="24"/>
                </a:cubicBezTo>
                <a:cubicBezTo>
                  <a:pt x="104" y="18"/>
                  <a:pt x="120" y="6"/>
                  <a:pt x="120" y="0"/>
                </a:cubicBezTo>
              </a:path>
            </a:pathLst>
          </a:custGeom>
          <a:noFill/>
          <a:ln w="9525">
            <a:solidFill>
              <a:schemeClr val="tx1"/>
            </a:solidFill>
            <a:bevel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45" name="Freeform 32"/>
          <p:cNvSpPr>
            <a:spLocks noChangeArrowheads="1"/>
          </p:cNvSpPr>
          <p:nvPr/>
        </p:nvSpPr>
        <p:spPr bwMode="auto">
          <a:xfrm>
            <a:off x="5842000" y="5365750"/>
            <a:ext cx="381000" cy="177800"/>
          </a:xfrm>
          <a:custGeom>
            <a:avLst/>
            <a:gdLst>
              <a:gd name="T0" fmla="*/ 0 w 252"/>
              <a:gd name="T1" fmla="*/ 2147483646 h 112"/>
              <a:gd name="T2" fmla="*/ 2147483646 w 252"/>
              <a:gd name="T3" fmla="*/ 2147483646 h 112"/>
              <a:gd name="T4" fmla="*/ 2147483646 w 252"/>
              <a:gd name="T5" fmla="*/ 2147483646 h 112"/>
              <a:gd name="T6" fmla="*/ 2147483646 w 252"/>
              <a:gd name="T7" fmla="*/ 0 h 112"/>
              <a:gd name="T8" fmla="*/ 2147483646 w 252"/>
              <a:gd name="T9" fmla="*/ 2147483646 h 112"/>
              <a:gd name="T10" fmla="*/ 2147483646 w 252"/>
              <a:gd name="T11" fmla="*/ 2147483646 h 112"/>
              <a:gd name="T12" fmla="*/ 2147483646 w 252"/>
              <a:gd name="T13" fmla="*/ 2147483646 h 11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2" h="112">
                <a:moveTo>
                  <a:pt x="0" y="112"/>
                </a:moveTo>
                <a:cubicBezTo>
                  <a:pt x="25" y="74"/>
                  <a:pt x="56" y="44"/>
                  <a:pt x="96" y="24"/>
                </a:cubicBezTo>
                <a:cubicBezTo>
                  <a:pt x="109" y="17"/>
                  <a:pt x="122" y="12"/>
                  <a:pt x="136" y="8"/>
                </a:cubicBezTo>
                <a:cubicBezTo>
                  <a:pt x="144" y="6"/>
                  <a:pt x="160" y="0"/>
                  <a:pt x="160" y="0"/>
                </a:cubicBezTo>
                <a:cubicBezTo>
                  <a:pt x="188" y="3"/>
                  <a:pt x="209" y="5"/>
                  <a:pt x="232" y="20"/>
                </a:cubicBezTo>
                <a:cubicBezTo>
                  <a:pt x="239" y="42"/>
                  <a:pt x="248" y="56"/>
                  <a:pt x="252" y="80"/>
                </a:cubicBezTo>
                <a:cubicBezTo>
                  <a:pt x="251" y="88"/>
                  <a:pt x="248" y="104"/>
                  <a:pt x="248" y="104"/>
                </a:cubicBezTo>
              </a:path>
            </a:pathLst>
          </a:custGeom>
          <a:noFill/>
          <a:ln w="9525">
            <a:solidFill>
              <a:schemeClr val="tx1"/>
            </a:solidFill>
            <a:bevel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46" name="Freeform 33"/>
          <p:cNvSpPr>
            <a:spLocks noChangeArrowheads="1"/>
          </p:cNvSpPr>
          <p:nvPr/>
        </p:nvSpPr>
        <p:spPr bwMode="auto">
          <a:xfrm>
            <a:off x="5822950" y="5581650"/>
            <a:ext cx="209550" cy="165100"/>
          </a:xfrm>
          <a:custGeom>
            <a:avLst/>
            <a:gdLst>
              <a:gd name="T0" fmla="*/ 2147483646 w 132"/>
              <a:gd name="T1" fmla="*/ 0 h 104"/>
              <a:gd name="T2" fmla="*/ 2147483646 w 132"/>
              <a:gd name="T3" fmla="*/ 2147483646 h 104"/>
              <a:gd name="T4" fmla="*/ 2147483646 w 132"/>
              <a:gd name="T5" fmla="*/ 2147483646 h 104"/>
              <a:gd name="T6" fmla="*/ 2147483646 w 132"/>
              <a:gd name="T7" fmla="*/ 2147483646 h 104"/>
              <a:gd name="T8" fmla="*/ 2147483646 w 132"/>
              <a:gd name="T9" fmla="*/ 2147483646 h 10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2" h="104">
                <a:moveTo>
                  <a:pt x="4" y="0"/>
                </a:moveTo>
                <a:cubicBezTo>
                  <a:pt x="0" y="13"/>
                  <a:pt x="11" y="75"/>
                  <a:pt x="20" y="84"/>
                </a:cubicBezTo>
                <a:cubicBezTo>
                  <a:pt x="30" y="94"/>
                  <a:pt x="56" y="104"/>
                  <a:pt x="56" y="104"/>
                </a:cubicBezTo>
                <a:cubicBezTo>
                  <a:pt x="80" y="101"/>
                  <a:pt x="101" y="100"/>
                  <a:pt x="124" y="92"/>
                </a:cubicBezTo>
                <a:cubicBezTo>
                  <a:pt x="132" y="59"/>
                  <a:pt x="131" y="34"/>
                  <a:pt x="116" y="4"/>
                </a:cubicBezTo>
              </a:path>
            </a:pathLst>
          </a:custGeom>
          <a:noFill/>
          <a:ln w="9525">
            <a:solidFill>
              <a:schemeClr val="tx1"/>
            </a:solidFill>
            <a:bevel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47" name="Text Box 34"/>
          <p:cNvSpPr txBox="1">
            <a:spLocks noChangeArrowheads="1"/>
          </p:cNvSpPr>
          <p:nvPr/>
        </p:nvSpPr>
        <p:spPr bwMode="auto">
          <a:xfrm>
            <a:off x="5422900" y="3300413"/>
            <a:ext cx="406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1">
                <a:latin typeface="Times New Roman" panose="02020603050405020304" pitchFamily="18" charset="0"/>
              </a:rPr>
              <a:t>1.6</a:t>
            </a:r>
          </a:p>
        </p:txBody>
      </p:sp>
      <p:sp>
        <p:nvSpPr>
          <p:cNvPr id="64548" name="Text Box 35"/>
          <p:cNvSpPr txBox="1">
            <a:spLocks noChangeArrowheads="1"/>
          </p:cNvSpPr>
          <p:nvPr/>
        </p:nvSpPr>
        <p:spPr bwMode="auto">
          <a:xfrm>
            <a:off x="5980113" y="2955925"/>
            <a:ext cx="7318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1">
                <a:latin typeface="Times New Roman" panose="02020603050405020304" pitchFamily="18" charset="0"/>
              </a:rPr>
              <a:t>1.</a:t>
            </a:r>
            <a:r>
              <a:rPr lang="en-US" altLang="zh-CN" sz="1400" b="1">
                <a:latin typeface="Times New Roman" panose="02020603050405020304" pitchFamily="18" charset="0"/>
                <a:sym typeface="Symbol" panose="05050102010706020507" pitchFamily="18" charset="2"/>
              </a:rPr>
              <a:t>6=2</a:t>
            </a:r>
            <a:endParaRPr lang="en-US" altLang="zh-CN" sz="1400" b="1">
              <a:latin typeface="Times New Roman" panose="02020603050405020304" pitchFamily="18" charset="0"/>
            </a:endParaRPr>
          </a:p>
        </p:txBody>
      </p:sp>
      <p:sp>
        <p:nvSpPr>
          <p:cNvPr id="64549" name="Text Box 36"/>
          <p:cNvSpPr txBox="1">
            <a:spLocks noChangeArrowheads="1"/>
          </p:cNvSpPr>
          <p:nvPr/>
        </p:nvSpPr>
        <p:spPr bwMode="auto">
          <a:xfrm>
            <a:off x="6191250" y="5089525"/>
            <a:ext cx="9747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1">
                <a:latin typeface="Times New Roman" panose="02020603050405020304" pitchFamily="18" charset="0"/>
              </a:rPr>
              <a:t>1.4= </a:t>
            </a:r>
            <a:r>
              <a:rPr lang="en-US" altLang="zh-CN" sz="1400" b="1">
                <a:latin typeface="Times New Roman" panose="02020603050405020304" pitchFamily="18" charset="0"/>
                <a:sym typeface="Symbol" panose="05050102010706020507" pitchFamily="18" charset="2"/>
              </a:rPr>
              <a:t>2</a:t>
            </a:r>
          </a:p>
        </p:txBody>
      </p:sp>
      <p:sp>
        <p:nvSpPr>
          <p:cNvPr id="64550" name="Text Box 37"/>
          <p:cNvSpPr txBox="1">
            <a:spLocks noChangeArrowheads="1"/>
          </p:cNvSpPr>
          <p:nvPr/>
        </p:nvSpPr>
        <p:spPr bwMode="auto">
          <a:xfrm>
            <a:off x="5418138" y="4665663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1">
                <a:latin typeface="Times New Roman" panose="02020603050405020304" pitchFamily="18" charset="0"/>
              </a:rPr>
              <a:t>1.4</a:t>
            </a:r>
          </a:p>
        </p:txBody>
      </p:sp>
      <p:sp>
        <p:nvSpPr>
          <p:cNvPr id="64551" name="Text Box 38"/>
          <p:cNvSpPr txBox="1">
            <a:spLocks noChangeArrowheads="1"/>
          </p:cNvSpPr>
          <p:nvPr/>
        </p:nvSpPr>
        <p:spPr bwMode="auto">
          <a:xfrm>
            <a:off x="5886450" y="4327525"/>
            <a:ext cx="9747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1">
                <a:latin typeface="Times New Roman" panose="02020603050405020304" pitchFamily="18" charset="0"/>
              </a:rPr>
              <a:t>1.4= 1</a:t>
            </a:r>
          </a:p>
        </p:txBody>
      </p:sp>
      <p:sp>
        <p:nvSpPr>
          <p:cNvPr id="64552" name="Line 39"/>
          <p:cNvSpPr>
            <a:spLocks noChangeShapeType="1"/>
          </p:cNvSpPr>
          <p:nvPr/>
        </p:nvSpPr>
        <p:spPr bwMode="auto">
          <a:xfrm>
            <a:off x="5638800" y="3276600"/>
            <a:ext cx="1295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53" name="Line 40"/>
          <p:cNvSpPr>
            <a:spLocks noChangeShapeType="1"/>
          </p:cNvSpPr>
          <p:nvPr/>
        </p:nvSpPr>
        <p:spPr bwMode="auto">
          <a:xfrm>
            <a:off x="5638800" y="3733800"/>
            <a:ext cx="1295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54" name="Line 41"/>
          <p:cNvSpPr>
            <a:spLocks noChangeShapeType="1"/>
          </p:cNvSpPr>
          <p:nvPr/>
        </p:nvSpPr>
        <p:spPr bwMode="auto">
          <a:xfrm>
            <a:off x="5638800" y="4648200"/>
            <a:ext cx="1295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55" name="Line 42"/>
          <p:cNvSpPr>
            <a:spLocks noChangeShapeType="1"/>
          </p:cNvSpPr>
          <p:nvPr/>
        </p:nvSpPr>
        <p:spPr bwMode="auto">
          <a:xfrm>
            <a:off x="5638800" y="5105400"/>
            <a:ext cx="1295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56" name="Line 43"/>
          <p:cNvSpPr>
            <a:spLocks noChangeShapeType="1"/>
          </p:cNvSpPr>
          <p:nvPr/>
        </p:nvSpPr>
        <p:spPr bwMode="auto">
          <a:xfrm>
            <a:off x="5638800" y="5562600"/>
            <a:ext cx="12954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57" name="Text Box 44"/>
          <p:cNvSpPr txBox="1">
            <a:spLocks noChangeArrowheads="1"/>
          </p:cNvSpPr>
          <p:nvPr/>
        </p:nvSpPr>
        <p:spPr bwMode="auto">
          <a:xfrm>
            <a:off x="5827713" y="3717925"/>
            <a:ext cx="7318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1">
                <a:latin typeface="Times New Roman" panose="02020603050405020304" pitchFamily="18" charset="0"/>
              </a:rPr>
              <a:t>1.</a:t>
            </a:r>
            <a:r>
              <a:rPr lang="en-US" altLang="zh-CN" sz="1400" b="1">
                <a:latin typeface="Times New Roman" panose="02020603050405020304" pitchFamily="18" charset="0"/>
                <a:sym typeface="Symbol" panose="05050102010706020507" pitchFamily="18" charset="2"/>
              </a:rPr>
              <a:t>6=1</a:t>
            </a:r>
            <a:endParaRPr lang="en-US" altLang="zh-CN" sz="1400" b="1">
              <a:latin typeface="Times New Roman" panose="02020603050405020304" pitchFamily="18" charset="0"/>
            </a:endParaRPr>
          </a:p>
        </p:txBody>
      </p:sp>
      <p:sp>
        <p:nvSpPr>
          <p:cNvPr id="64558" name="Text Box 45"/>
          <p:cNvSpPr txBox="1">
            <a:spLocks noChangeArrowheads="1"/>
          </p:cNvSpPr>
          <p:nvPr/>
        </p:nvSpPr>
        <p:spPr bwMode="auto">
          <a:xfrm>
            <a:off x="5564188" y="5318125"/>
            <a:ext cx="3698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1">
                <a:latin typeface="Times New Roman" panose="02020603050405020304" pitchFamily="18" charset="0"/>
              </a:rPr>
              <a:t>3</a:t>
            </a:r>
          </a:p>
        </p:txBody>
      </p:sp>
      <p:sp>
        <p:nvSpPr>
          <p:cNvPr id="64559" name="Text Box 46"/>
          <p:cNvSpPr txBox="1">
            <a:spLocks noChangeArrowheads="1"/>
          </p:cNvSpPr>
          <p:nvPr/>
        </p:nvSpPr>
        <p:spPr bwMode="auto">
          <a:xfrm>
            <a:off x="5940425" y="5546725"/>
            <a:ext cx="12668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1">
                <a:latin typeface="Times New Roman" panose="02020603050405020304" pitchFamily="18" charset="0"/>
              </a:rPr>
              <a:t>3=3= 3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B8E6BFA-1C42-4265-A75B-70D09A700887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altLang="en-US">
                <a:ea typeface="宋体" panose="02010600030101010101" pitchFamily="2" charset="-122"/>
              </a:rPr>
              <a:t>这些等</a:t>
            </a:r>
            <a:r>
              <a:rPr lang="zh-CN" altLang="en-GB">
                <a:ea typeface="宋体" panose="02010600030101010101" pitchFamily="2" charset="-122"/>
              </a:rPr>
              <a:t>式</a:t>
            </a:r>
            <a:r>
              <a:rPr lang="en-GB" altLang="en-US">
                <a:ea typeface="宋体" panose="02010600030101010101" pitchFamily="2" charset="-122"/>
              </a:rPr>
              <a:t>是否成立？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x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 </a:t>
            </a: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x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&amp;</a:t>
            </a:r>
            <a:b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i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x </a:t>
            </a:r>
            <a:r>
              <a:rPr lang="en-US" altLang="zh-CN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 x</a:t>
            </a:r>
            <a:endParaRPr lang="en-US" altLang="zh-CN">
              <a:solidFill>
                <a:srgbClr val="030711"/>
              </a:solidFill>
              <a:ea typeface="宋体" panose="02010600030101010101" pitchFamily="2" charset="-122"/>
            </a:endParaRPr>
          </a:p>
          <a:p>
            <a:endParaRPr lang="zh-CN" altLang="en-US" b="1">
              <a:solidFill>
                <a:srgbClr val="03071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B62D169-4132-4899-B0FB-93366B3141AE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GB" altLang="en-US" sz="2800">
                <a:ea typeface="宋体" panose="02010600030101010101" pitchFamily="2" charset="-122"/>
              </a:rPr>
              <a:t>这取决于 x 是否是整数</a:t>
            </a:r>
            <a:endParaRPr lang="en-US" altLang="zh-CN" sz="2800">
              <a:ea typeface="宋体" panose="02010600030101010101" pitchFamily="2" charset="-122"/>
            </a:endParaRPr>
          </a:p>
        </p:txBody>
      </p:sp>
      <p:sp>
        <p:nvSpPr>
          <p:cNvPr id="6758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如果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x 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 </a:t>
            </a:r>
            <a:r>
              <a:rPr lang="en-US" altLang="zh-CN" i="1" dirty="0" err="1">
                <a:solidFill>
                  <a:srgbClr val="030711"/>
                </a:solidFill>
                <a:ea typeface="宋体" panose="02010600030101010101" pitchFamily="2" charset="-122"/>
              </a:rPr>
              <a:t>Z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，那么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x 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x 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i="1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，所以</a:t>
            </a:r>
            <a:b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x 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x = 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x 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&amp;</a:t>
            </a:r>
            <a:b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x 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x =  x</a:t>
            </a:r>
            <a:endParaRPr lang="en-US" altLang="zh-CN" dirty="0">
              <a:solidFill>
                <a:srgbClr val="030711"/>
              </a:solidFill>
              <a:ea typeface="宋体" panose="02010600030101010101" pitchFamily="2" charset="-122"/>
            </a:endParaRPr>
          </a:p>
          <a:p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</a:rPr>
              <a:t>但如果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</a:rPr>
              <a:t>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 </a:t>
            </a:r>
            <a:r>
              <a:rPr lang="en-US" altLang="zh-CN" i="1" dirty="0" err="1">
                <a:solidFill>
                  <a:srgbClr val="030711"/>
                </a:solidFill>
                <a:ea typeface="宋体" panose="02010600030101010101" pitchFamily="2" charset="-122"/>
              </a:rPr>
              <a:t>Z</a:t>
            </a:r>
            <a:r>
              <a:rPr lang="en-US" altLang="zh-CN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，那么</a:t>
            </a:r>
            <a:b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x 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 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x 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&amp;</a:t>
            </a:r>
            <a:b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x 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  x</a:t>
            </a:r>
          </a:p>
          <a:p>
            <a:r>
              <a:rPr lang="en-GB" altLang="en-US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例如</a:t>
            </a:r>
            <a:r>
              <a:rPr lang="en-GB" altLang="en-US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3.4 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4  3 = </a:t>
            </a:r>
            <a:r>
              <a:rPr lang="en-US" altLang="zh-CN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3.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4 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4386B1A5-4D10-4286-9CED-CE09DD58BDD6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取整函数的图像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00200"/>
            <a:ext cx="8763000" cy="4876800"/>
          </a:xfrm>
        </p:spPr>
        <p:txBody>
          <a:bodyPr/>
          <a:lstStyle/>
          <a:p>
            <a:pPr algn="just">
              <a:lnSpc>
                <a:spcPct val="90000"/>
              </a:lnSpc>
              <a:defRPr/>
            </a:pP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</a:rPr>
              <a:t>请注意，对于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</a:rPr>
              <a:t>f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=x 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的所有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 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值，即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a0 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和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a&lt;1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 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的图形包括点 (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，0)，但对于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a=1 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的值，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 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的图形不包括点 (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，0)。  </a:t>
            </a:r>
          </a:p>
          <a:p>
            <a:pPr algn="just">
              <a:lnSpc>
                <a:spcPct val="90000"/>
              </a:lnSpc>
              <a:defRPr/>
            </a:pPr>
            <a:r>
              <a:rPr lang="en-US" altLang="zh-CN" sz="2800" dirty="0" err="1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{xR 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x 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0} = （非正式） =</a:t>
            </a:r>
          </a:p>
          <a:p>
            <a:pPr marL="0" indent="0" algn="just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{0，...，0.1，...0.2，...，</a:t>
            </a:r>
            <a:r>
              <a:rPr lang="en-US" altLang="zh-CN" sz="2800" dirty="0">
                <a:solidFill>
                  <a:srgbClr val="030711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..0.9，...}不包括其</a:t>
            </a:r>
            <a:r>
              <a:rPr lang="en-US" altLang="zh-CN" sz="28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极限 </a:t>
            </a: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1。  </a:t>
            </a:r>
          </a:p>
          <a:p>
            <a:pPr lvl="1" algn="just">
              <a:lnSpc>
                <a:spcPct val="90000"/>
              </a:lnSpc>
              <a:defRPr/>
            </a:pPr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不包括所有极限点的集合一般称为</a:t>
            </a:r>
            <a:r>
              <a:rPr lang="en-US" altLang="zh-CN" sz="2400" i="1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开集</a:t>
            </a:r>
            <a:r>
              <a:rPr lang="en-US" altLang="zh-CN" sz="24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。  </a:t>
            </a:r>
          </a:p>
          <a:p>
            <a:pPr algn="just">
              <a:lnSpc>
                <a:spcPct val="90000"/>
              </a:lnSpc>
              <a:defRPr/>
            </a:pPr>
            <a:r>
              <a:rPr lang="en-US" altLang="zh-CN" sz="2800" dirty="0">
                <a:solidFill>
                  <a:srgbClr val="03071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在曲线图中，如果曲线的极限点不在曲线上，我们就用开放点（圆圈）来绘制，如果在曲线上，我们就用封闭点（实心）来绘制。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D0A86C4-2B7C-426A-8BE2-6BCF7ED0B71C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69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  <a:sym typeface="+mn-ea"/>
              </a:rPr>
              <a:t>取整函数的图像</a:t>
            </a:r>
            <a:r>
              <a:rPr lang="en-US" altLang="zh-CN">
                <a:ea typeface="宋体" panose="02010600030101010101" pitchFamily="2" charset="-122"/>
              </a:rPr>
              <a:t>：示例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函数 </a:t>
            </a:r>
            <a:r>
              <a:rPr lang="en-US" altLang="zh-CN" i="1" dirty="0">
                <a:ea typeface="宋体" panose="02010600030101010101" pitchFamily="2" charset="-122"/>
              </a:rPr>
              <a:t>f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i="1" dirty="0">
                <a:ea typeface="宋体" panose="02010600030101010101" pitchFamily="2" charset="-122"/>
              </a:rPr>
              <a:t>x</a:t>
            </a:r>
            <a:r>
              <a:rPr lang="en-US" altLang="zh-CN" dirty="0">
                <a:ea typeface="宋体" panose="02010600030101010101" pitchFamily="2" charset="-122"/>
              </a:rPr>
              <a:t>) =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x/3 </a:t>
            </a:r>
            <a:r>
              <a:rPr lang="en-US" altLang="zh-CN" dirty="0">
                <a:ea typeface="宋体" panose="02010600030101010101" pitchFamily="2" charset="-122"/>
              </a:rPr>
              <a:t>的图形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：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69637" name="Line 4"/>
          <p:cNvSpPr>
            <a:spLocks noChangeShapeType="1"/>
          </p:cNvSpPr>
          <p:nvPr/>
        </p:nvSpPr>
        <p:spPr bwMode="auto">
          <a:xfrm flipV="1">
            <a:off x="4572000" y="2590800"/>
            <a:ext cx="0" cy="3276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38" name="Line 5"/>
          <p:cNvSpPr>
            <a:spLocks noChangeShapeType="1"/>
          </p:cNvSpPr>
          <p:nvPr/>
        </p:nvSpPr>
        <p:spPr bwMode="auto">
          <a:xfrm>
            <a:off x="1143000" y="4191000"/>
            <a:ext cx="7162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39" name="Line 6"/>
          <p:cNvSpPr>
            <a:spLocks noChangeShapeType="1"/>
          </p:cNvSpPr>
          <p:nvPr/>
        </p:nvSpPr>
        <p:spPr bwMode="auto">
          <a:xfrm>
            <a:off x="5029200" y="4038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40" name="Line 7"/>
          <p:cNvSpPr>
            <a:spLocks noChangeShapeType="1"/>
          </p:cNvSpPr>
          <p:nvPr/>
        </p:nvSpPr>
        <p:spPr bwMode="auto">
          <a:xfrm>
            <a:off x="5486400" y="4038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41" name="Line 8"/>
          <p:cNvSpPr>
            <a:spLocks noChangeShapeType="1"/>
          </p:cNvSpPr>
          <p:nvPr/>
        </p:nvSpPr>
        <p:spPr bwMode="auto">
          <a:xfrm>
            <a:off x="5943600" y="4038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42" name="Line 9"/>
          <p:cNvSpPr>
            <a:spLocks noChangeShapeType="1"/>
          </p:cNvSpPr>
          <p:nvPr/>
        </p:nvSpPr>
        <p:spPr bwMode="auto">
          <a:xfrm>
            <a:off x="6400800" y="4038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43" name="Line 10"/>
          <p:cNvSpPr>
            <a:spLocks noChangeShapeType="1"/>
          </p:cNvSpPr>
          <p:nvPr/>
        </p:nvSpPr>
        <p:spPr bwMode="auto">
          <a:xfrm>
            <a:off x="6858000" y="4038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44" name="Line 11"/>
          <p:cNvSpPr>
            <a:spLocks noChangeShapeType="1"/>
          </p:cNvSpPr>
          <p:nvPr/>
        </p:nvSpPr>
        <p:spPr bwMode="auto">
          <a:xfrm>
            <a:off x="7315200" y="4038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45" name="Line 12"/>
          <p:cNvSpPr>
            <a:spLocks noChangeShapeType="1"/>
          </p:cNvSpPr>
          <p:nvPr/>
        </p:nvSpPr>
        <p:spPr bwMode="auto">
          <a:xfrm>
            <a:off x="7772400" y="4038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46" name="Line 13"/>
          <p:cNvSpPr>
            <a:spLocks noChangeShapeType="1"/>
          </p:cNvSpPr>
          <p:nvPr/>
        </p:nvSpPr>
        <p:spPr bwMode="auto">
          <a:xfrm flipH="1">
            <a:off x="4419600" y="3733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47" name="Line 14"/>
          <p:cNvSpPr>
            <a:spLocks noChangeShapeType="1"/>
          </p:cNvSpPr>
          <p:nvPr/>
        </p:nvSpPr>
        <p:spPr bwMode="auto">
          <a:xfrm flipH="1">
            <a:off x="4419600" y="3352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48" name="Line 15"/>
          <p:cNvSpPr>
            <a:spLocks noChangeShapeType="1"/>
          </p:cNvSpPr>
          <p:nvPr/>
        </p:nvSpPr>
        <p:spPr bwMode="auto">
          <a:xfrm flipH="1">
            <a:off x="4419600" y="2971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49" name="Line 16"/>
          <p:cNvSpPr>
            <a:spLocks noChangeShapeType="1"/>
          </p:cNvSpPr>
          <p:nvPr/>
        </p:nvSpPr>
        <p:spPr bwMode="auto">
          <a:xfrm flipH="1">
            <a:off x="4419600" y="4572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50" name="Line 17"/>
          <p:cNvSpPr>
            <a:spLocks noChangeShapeType="1"/>
          </p:cNvSpPr>
          <p:nvPr/>
        </p:nvSpPr>
        <p:spPr bwMode="auto">
          <a:xfrm flipH="1">
            <a:off x="4419600" y="4953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51" name="Line 18"/>
          <p:cNvSpPr>
            <a:spLocks noChangeShapeType="1"/>
          </p:cNvSpPr>
          <p:nvPr/>
        </p:nvSpPr>
        <p:spPr bwMode="auto">
          <a:xfrm flipH="1">
            <a:off x="4419600" y="5334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52" name="Line 19"/>
          <p:cNvSpPr>
            <a:spLocks noChangeShapeType="1"/>
          </p:cNvSpPr>
          <p:nvPr/>
        </p:nvSpPr>
        <p:spPr bwMode="auto">
          <a:xfrm>
            <a:off x="4114800" y="4038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53" name="Line 20"/>
          <p:cNvSpPr>
            <a:spLocks noChangeShapeType="1"/>
          </p:cNvSpPr>
          <p:nvPr/>
        </p:nvSpPr>
        <p:spPr bwMode="auto">
          <a:xfrm>
            <a:off x="3657600" y="4038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54" name="Line 21"/>
          <p:cNvSpPr>
            <a:spLocks noChangeShapeType="1"/>
          </p:cNvSpPr>
          <p:nvPr/>
        </p:nvSpPr>
        <p:spPr bwMode="auto">
          <a:xfrm>
            <a:off x="3200400" y="4038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55" name="Line 22"/>
          <p:cNvSpPr>
            <a:spLocks noChangeShapeType="1"/>
          </p:cNvSpPr>
          <p:nvPr/>
        </p:nvSpPr>
        <p:spPr bwMode="auto">
          <a:xfrm>
            <a:off x="2743200" y="4038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56" name="Line 23"/>
          <p:cNvSpPr>
            <a:spLocks noChangeShapeType="1"/>
          </p:cNvSpPr>
          <p:nvPr/>
        </p:nvSpPr>
        <p:spPr bwMode="auto">
          <a:xfrm>
            <a:off x="2286000" y="4038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57" name="Line 24"/>
          <p:cNvSpPr>
            <a:spLocks noChangeShapeType="1"/>
          </p:cNvSpPr>
          <p:nvPr/>
        </p:nvSpPr>
        <p:spPr bwMode="auto">
          <a:xfrm>
            <a:off x="1828800" y="4038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58" name="Oval 25"/>
          <p:cNvSpPr>
            <a:spLocks noChangeArrowheads="1"/>
          </p:cNvSpPr>
          <p:nvPr/>
        </p:nvSpPr>
        <p:spPr bwMode="auto">
          <a:xfrm>
            <a:off x="4495800" y="4114800"/>
            <a:ext cx="152400" cy="152400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69659" name="Oval 26"/>
          <p:cNvSpPr>
            <a:spLocks noChangeArrowheads="1"/>
          </p:cNvSpPr>
          <p:nvPr/>
        </p:nvSpPr>
        <p:spPr bwMode="auto">
          <a:xfrm>
            <a:off x="5867400" y="3657600"/>
            <a:ext cx="152400" cy="152400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69660" name="Oval 27"/>
          <p:cNvSpPr>
            <a:spLocks noChangeArrowheads="1"/>
          </p:cNvSpPr>
          <p:nvPr/>
        </p:nvSpPr>
        <p:spPr bwMode="auto">
          <a:xfrm>
            <a:off x="7239000" y="3276600"/>
            <a:ext cx="152400" cy="152400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69661" name="Oval 28"/>
          <p:cNvSpPr>
            <a:spLocks noChangeArrowheads="1"/>
          </p:cNvSpPr>
          <p:nvPr/>
        </p:nvSpPr>
        <p:spPr bwMode="auto">
          <a:xfrm>
            <a:off x="3124200" y="4495800"/>
            <a:ext cx="152400" cy="152400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69662" name="Oval 29"/>
          <p:cNvSpPr>
            <a:spLocks noChangeArrowheads="1"/>
          </p:cNvSpPr>
          <p:nvPr/>
        </p:nvSpPr>
        <p:spPr bwMode="auto">
          <a:xfrm>
            <a:off x="1752600" y="4876800"/>
            <a:ext cx="152400" cy="152400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69663" name="Oval 30"/>
          <p:cNvSpPr>
            <a:spLocks noChangeArrowheads="1"/>
          </p:cNvSpPr>
          <p:nvPr/>
        </p:nvSpPr>
        <p:spPr bwMode="auto">
          <a:xfrm>
            <a:off x="5867400" y="4114800"/>
            <a:ext cx="152400" cy="152400"/>
          </a:xfrm>
          <a:prstGeom prst="ellipse">
            <a:avLst/>
          </a:prstGeom>
          <a:noFill/>
          <a:ln w="254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69664" name="Line 31"/>
          <p:cNvSpPr>
            <a:spLocks noChangeShapeType="1"/>
          </p:cNvSpPr>
          <p:nvPr/>
        </p:nvSpPr>
        <p:spPr bwMode="auto">
          <a:xfrm>
            <a:off x="4572000" y="4191000"/>
            <a:ext cx="1295400" cy="0"/>
          </a:xfrm>
          <a:prstGeom prst="line">
            <a:avLst/>
          </a:prstGeom>
          <a:noFill/>
          <a:ln w="635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65" name="Line 32"/>
          <p:cNvSpPr>
            <a:spLocks noChangeShapeType="1"/>
          </p:cNvSpPr>
          <p:nvPr/>
        </p:nvSpPr>
        <p:spPr bwMode="auto">
          <a:xfrm>
            <a:off x="5943600" y="3733800"/>
            <a:ext cx="1295400" cy="0"/>
          </a:xfrm>
          <a:prstGeom prst="line">
            <a:avLst/>
          </a:prstGeom>
          <a:noFill/>
          <a:ln w="635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66" name="Line 33"/>
          <p:cNvSpPr>
            <a:spLocks noChangeShapeType="1"/>
          </p:cNvSpPr>
          <p:nvPr/>
        </p:nvSpPr>
        <p:spPr bwMode="auto">
          <a:xfrm>
            <a:off x="7315200" y="3352800"/>
            <a:ext cx="1066800" cy="0"/>
          </a:xfrm>
          <a:prstGeom prst="line">
            <a:avLst/>
          </a:prstGeom>
          <a:noFill/>
          <a:ln w="635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67" name="Line 34"/>
          <p:cNvSpPr>
            <a:spLocks noChangeShapeType="1"/>
          </p:cNvSpPr>
          <p:nvPr/>
        </p:nvSpPr>
        <p:spPr bwMode="auto">
          <a:xfrm>
            <a:off x="3200400" y="4572000"/>
            <a:ext cx="1295400" cy="0"/>
          </a:xfrm>
          <a:prstGeom prst="line">
            <a:avLst/>
          </a:prstGeom>
          <a:noFill/>
          <a:ln w="635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68" name="Line 35"/>
          <p:cNvSpPr>
            <a:spLocks noChangeShapeType="1"/>
          </p:cNvSpPr>
          <p:nvPr/>
        </p:nvSpPr>
        <p:spPr bwMode="auto">
          <a:xfrm>
            <a:off x="1828800" y="4953000"/>
            <a:ext cx="1295400" cy="0"/>
          </a:xfrm>
          <a:prstGeom prst="line">
            <a:avLst/>
          </a:prstGeom>
          <a:noFill/>
          <a:ln w="635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69" name="Oval 36"/>
          <p:cNvSpPr>
            <a:spLocks noChangeArrowheads="1"/>
          </p:cNvSpPr>
          <p:nvPr/>
        </p:nvSpPr>
        <p:spPr bwMode="auto">
          <a:xfrm>
            <a:off x="7239000" y="3657600"/>
            <a:ext cx="152400" cy="152400"/>
          </a:xfrm>
          <a:prstGeom prst="ellipse">
            <a:avLst/>
          </a:prstGeom>
          <a:noFill/>
          <a:ln w="254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69670" name="Oval 37"/>
          <p:cNvSpPr>
            <a:spLocks noChangeArrowheads="1"/>
          </p:cNvSpPr>
          <p:nvPr/>
        </p:nvSpPr>
        <p:spPr bwMode="auto">
          <a:xfrm>
            <a:off x="4495800" y="4495800"/>
            <a:ext cx="152400" cy="152400"/>
          </a:xfrm>
          <a:prstGeom prst="ellipse">
            <a:avLst/>
          </a:prstGeom>
          <a:noFill/>
          <a:ln w="254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69671" name="Oval 38"/>
          <p:cNvSpPr>
            <a:spLocks noChangeArrowheads="1"/>
          </p:cNvSpPr>
          <p:nvPr/>
        </p:nvSpPr>
        <p:spPr bwMode="auto">
          <a:xfrm>
            <a:off x="3124200" y="4876800"/>
            <a:ext cx="152400" cy="152400"/>
          </a:xfrm>
          <a:prstGeom prst="ellipse">
            <a:avLst/>
          </a:prstGeom>
          <a:noFill/>
          <a:ln w="254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69672" name="Text Box 39"/>
          <p:cNvSpPr txBox="1">
            <a:spLocks noChangeArrowheads="1"/>
          </p:cNvSpPr>
          <p:nvPr/>
        </p:nvSpPr>
        <p:spPr bwMode="auto">
          <a:xfrm>
            <a:off x="7924800" y="4114800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69673" name="Text Box 40"/>
          <p:cNvSpPr txBox="1">
            <a:spLocks noChangeArrowheads="1"/>
          </p:cNvSpPr>
          <p:nvPr/>
        </p:nvSpPr>
        <p:spPr bwMode="auto">
          <a:xfrm>
            <a:off x="4648200" y="2362200"/>
            <a:ext cx="606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f(x)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69674" name="Line 41"/>
          <p:cNvSpPr>
            <a:spLocks noChangeShapeType="1"/>
          </p:cNvSpPr>
          <p:nvPr/>
        </p:nvSpPr>
        <p:spPr bwMode="auto">
          <a:xfrm>
            <a:off x="762000" y="5334000"/>
            <a:ext cx="990600" cy="0"/>
          </a:xfrm>
          <a:prstGeom prst="line">
            <a:avLst/>
          </a:prstGeom>
          <a:noFill/>
          <a:ln w="635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75" name="Oval 42"/>
          <p:cNvSpPr>
            <a:spLocks noChangeArrowheads="1"/>
          </p:cNvSpPr>
          <p:nvPr/>
        </p:nvSpPr>
        <p:spPr bwMode="auto">
          <a:xfrm>
            <a:off x="1752600" y="5257800"/>
            <a:ext cx="152400" cy="152400"/>
          </a:xfrm>
          <a:prstGeom prst="ellipse">
            <a:avLst/>
          </a:prstGeom>
          <a:noFill/>
          <a:ln w="25400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69676" name="Text Box 43"/>
          <p:cNvSpPr txBox="1">
            <a:spLocks noChangeArrowheads="1"/>
          </p:cNvSpPr>
          <p:nvPr/>
        </p:nvSpPr>
        <p:spPr bwMode="auto">
          <a:xfrm>
            <a:off x="1220788" y="3124200"/>
            <a:ext cx="2835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30711"/>
                </a:solidFill>
                <a:latin typeface="Times New Roman" panose="02020603050405020304" pitchFamily="18" charset="0"/>
              </a:rPr>
              <a:t>点集合 (</a:t>
            </a:r>
            <a:r>
              <a:rPr lang="en-US" altLang="zh-CN" sz="2400" b="1" i="1" dirty="0">
                <a:solidFill>
                  <a:srgbClr val="03071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30711"/>
                </a:solidFill>
                <a:latin typeface="Times New Roman" panose="02020603050405020304" pitchFamily="18" charset="0"/>
              </a:rPr>
              <a:t>, </a:t>
            </a:r>
            <a:r>
              <a:rPr lang="en-US" altLang="zh-CN" sz="2400" b="1" i="1" dirty="0">
                <a:solidFill>
                  <a:srgbClr val="030711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="1" dirty="0">
                <a:solidFill>
                  <a:srgbClr val="030711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rgbClr val="030711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30711"/>
                </a:solidFill>
                <a:latin typeface="Times New Roman" panose="02020603050405020304" pitchFamily="18" charset="0"/>
              </a:rPr>
              <a:t>))</a:t>
            </a:r>
          </a:p>
        </p:txBody>
      </p:sp>
      <p:sp>
        <p:nvSpPr>
          <p:cNvPr id="69677" name="Text Box 44"/>
          <p:cNvSpPr txBox="1">
            <a:spLocks noChangeArrowheads="1"/>
          </p:cNvSpPr>
          <p:nvPr/>
        </p:nvSpPr>
        <p:spPr bwMode="auto">
          <a:xfrm>
            <a:off x="5715000" y="4191000"/>
            <a:ext cx="50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+3</a:t>
            </a:r>
          </a:p>
        </p:txBody>
      </p:sp>
      <p:sp>
        <p:nvSpPr>
          <p:cNvPr id="69678" name="Text Box 45"/>
          <p:cNvSpPr txBox="1">
            <a:spLocks noChangeArrowheads="1"/>
          </p:cNvSpPr>
          <p:nvPr/>
        </p:nvSpPr>
        <p:spPr bwMode="auto">
          <a:xfrm>
            <a:off x="4727575" y="4724400"/>
            <a:ext cx="503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2</a:t>
            </a:r>
          </a:p>
        </p:txBody>
      </p:sp>
      <p:sp>
        <p:nvSpPr>
          <p:cNvPr id="69679" name="Text Box 46"/>
          <p:cNvSpPr txBox="1">
            <a:spLocks noChangeArrowheads="1"/>
          </p:cNvSpPr>
          <p:nvPr/>
        </p:nvSpPr>
        <p:spPr bwMode="auto">
          <a:xfrm>
            <a:off x="4800600" y="3124200"/>
            <a:ext cx="50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+2</a:t>
            </a:r>
          </a:p>
        </p:txBody>
      </p:sp>
      <p:sp>
        <p:nvSpPr>
          <p:cNvPr id="69680" name="Text Box 47"/>
          <p:cNvSpPr txBox="1">
            <a:spLocks noChangeArrowheads="1"/>
          </p:cNvSpPr>
          <p:nvPr/>
        </p:nvSpPr>
        <p:spPr bwMode="auto">
          <a:xfrm>
            <a:off x="2971800" y="4114800"/>
            <a:ext cx="503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3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5DC306E5-0609-41AA-BBDA-1D82CBBAAA42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9933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76804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4294967295"/>
          </p:nvPr>
        </p:nvSpPr>
        <p:spPr>
          <a:xfrm>
            <a:off x="228714" y="1472159"/>
            <a:ext cx="9296156" cy="4725988"/>
          </a:xfrm>
          <a:blipFill>
            <a:blip r:embed="rId2"/>
            <a:stretch>
              <a:fillRect l="-1181" t="-1160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</a:p>
        </p:txBody>
      </p:sp>
      <p:sp>
        <p:nvSpPr>
          <p:cNvPr id="99333" name="矩形 4"/>
          <p:cNvSpPr>
            <a:spLocks noChangeArrowheads="1"/>
          </p:cNvSpPr>
          <p:nvPr/>
        </p:nvSpPr>
        <p:spPr bwMode="auto">
          <a:xfrm>
            <a:off x="617538" y="1524000"/>
            <a:ext cx="697627" cy="46166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10. 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1219200" y="1524000"/>
            <a:ext cx="736600" cy="46228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3200" b="0" i="0" u="none" strike="noStrike" kern="0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设</a:t>
            </a:r>
          </a:p>
        </p:txBody>
      </p:sp>
    </p:spTree>
    <p:extLst>
      <p:ext uri="{BB962C8B-B14F-4D97-AF65-F5344CB8AC3E}">
        <p14:creationId xmlns:p14="http://schemas.microsoft.com/office/powerpoint/2010/main" val="256806680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88B98-7594-04DE-C5A4-4E240684B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>
            <a:extLst>
              <a:ext uri="{FF2B5EF4-FFF2-40B4-BE49-F238E27FC236}">
                <a16:creationId xmlns:a16="http://schemas.microsoft.com/office/drawing/2014/main" id="{4CD46054-31BA-7C9B-A1A7-B4C23541ED8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E3180390-EC50-48CE-B771-6EF1993C75F0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6C772829-5A69-4617-2A21-B432B564BBA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A1A7C26C-E38C-9E10-09F0-7702AD20B76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4294967295"/>
          </p:nvPr>
        </p:nvSpPr>
        <p:spPr>
          <a:xfrm>
            <a:off x="228714" y="1472159"/>
            <a:ext cx="8610494" cy="4725988"/>
          </a:xfrm>
          <a:blipFill>
            <a:blip r:embed="rId2"/>
            <a:stretch>
              <a:fillRect l="-1275" t="-902" r="-1416"/>
            </a:stretch>
          </a:blipFill>
        </p:spPr>
        <p:txBody>
          <a:bodyPr/>
          <a:lstStyle/>
          <a:p>
            <a:pPr>
              <a:defRPr/>
            </a:pPr>
            <a:r>
              <a:rPr lang="zh-CN" altLang="en-US" dirty="0">
                <a:noFill/>
              </a:rPr>
              <a:t> </a:t>
            </a:r>
          </a:p>
        </p:txBody>
      </p:sp>
      <p:sp>
        <p:nvSpPr>
          <p:cNvPr id="89093" name="矩形 1">
            <a:extLst>
              <a:ext uri="{FF2B5EF4-FFF2-40B4-BE49-F238E27FC236}">
                <a16:creationId xmlns:a16="http://schemas.microsoft.com/office/drawing/2014/main" id="{FE7F99E7-A0DA-1A59-82DD-5D260B0C6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538" y="1524000"/>
            <a:ext cx="674800" cy="46166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11. </a:t>
            </a:r>
            <a:endParaRPr lang="zh-CN" altLang="en-US" sz="24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6BA387F-D45A-10B7-6AFE-BCDC981E516D}"/>
              </a:ext>
            </a:extLst>
          </p:cNvPr>
          <p:cNvSpPr/>
          <p:nvPr/>
        </p:nvSpPr>
        <p:spPr>
          <a:xfrm>
            <a:off x="1143000" y="1524000"/>
            <a:ext cx="609600" cy="381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3200" b="0" i="0" u="none" strike="noStrike" kern="0" cap="none" normalizeH="0" baseline="0" dirty="0">
                <a:solidFill>
                  <a:schemeClr val="tx1"/>
                </a:solidFill>
                <a:latin typeface="+mn-lt"/>
                <a:ea typeface="宋体" panose="02010600030101010101" pitchFamily="2" charset="-122"/>
              </a:rPr>
              <a:t>设</a:t>
            </a:r>
          </a:p>
        </p:txBody>
      </p:sp>
    </p:spTree>
    <p:extLst>
      <p:ext uri="{BB962C8B-B14F-4D97-AF65-F5344CB8AC3E}">
        <p14:creationId xmlns:p14="http://schemas.microsoft.com/office/powerpoint/2010/main" val="292945750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59EF5931-EF00-4402-8D6C-E8B71FBCC42F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0659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16047B3E-BFC0-4A1A-85FF-5D2E4D7899A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066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70661" name="Group 3"/>
          <p:cNvGrpSpPr/>
          <p:nvPr/>
        </p:nvGrpSpPr>
        <p:grpSpPr bwMode="auto">
          <a:xfrm>
            <a:off x="1981200" y="2819400"/>
            <a:ext cx="5029200" cy="2438400"/>
            <a:chOff x="0" y="0"/>
            <a:chExt cx="1889" cy="1009"/>
          </a:xfrm>
        </p:grpSpPr>
        <p:grpSp>
          <p:nvGrpSpPr>
            <p:cNvPr id="70663" name="Group 4"/>
            <p:cNvGrpSpPr/>
            <p:nvPr/>
          </p:nvGrpSpPr>
          <p:grpSpPr bwMode="auto">
            <a:xfrm>
              <a:off x="0" y="90"/>
              <a:ext cx="1889" cy="919"/>
              <a:chOff x="0" y="0"/>
              <a:chExt cx="1926" cy="937"/>
            </a:xfrm>
          </p:grpSpPr>
          <p:sp>
            <p:nvSpPr>
              <p:cNvPr id="70668" name="Oval 5"/>
              <p:cNvSpPr>
                <a:spLocks noChangeArrowheads="1"/>
              </p:cNvSpPr>
              <p:nvPr/>
            </p:nvSpPr>
            <p:spPr bwMode="auto">
              <a:xfrm>
                <a:off x="21" y="3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4A4A7C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  <p:sp>
            <p:nvSpPr>
              <p:cNvPr id="70669" name="Oval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rgbClr val="D2D2FF"/>
                  </a:gs>
                  <a:gs pos="100000">
                    <a:schemeClr val="hlink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</p:grpSp>
        <p:sp>
          <p:nvSpPr>
            <p:cNvPr id="70664" name="Oval 7"/>
            <p:cNvSpPr>
              <a:spLocks noChangeArrowheads="1"/>
            </p:cNvSpPr>
            <p:nvPr/>
          </p:nvSpPr>
          <p:spPr bwMode="auto">
            <a:xfrm>
              <a:off x="89" y="0"/>
              <a:ext cx="1691" cy="845"/>
            </a:xfrm>
            <a:prstGeom prst="ellipse">
              <a:avLst/>
            </a:prstGeom>
            <a:gradFill rotWithShape="1">
              <a:gsLst>
                <a:gs pos="0">
                  <a:srgbClr val="37556B"/>
                </a:gs>
                <a:gs pos="100000">
                  <a:schemeClr val="accent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70665" name="Oval 8"/>
            <p:cNvSpPr>
              <a:spLocks noChangeArrowheads="1"/>
            </p:cNvSpPr>
            <p:nvPr/>
          </p:nvSpPr>
          <p:spPr bwMode="auto">
            <a:xfrm>
              <a:off x="111" y="5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rgbClr val="D0E6F7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70666" name="Oval 9"/>
            <p:cNvSpPr>
              <a:spLocks noChangeArrowheads="1"/>
            </p:cNvSpPr>
            <p:nvPr/>
          </p:nvSpPr>
          <p:spPr bwMode="auto">
            <a:xfrm>
              <a:off x="128" y="13"/>
              <a:ext cx="1570" cy="770"/>
            </a:xfrm>
            <a:prstGeom prst="ellipse">
              <a:avLst/>
            </a:prstGeom>
            <a:gradFill rotWithShape="1">
              <a:gsLst>
                <a:gs pos="0">
                  <a:srgbClr val="5E91B7"/>
                </a:gs>
                <a:gs pos="100000">
                  <a:schemeClr val="accent1">
                    <a:alpha val="48000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70667" name="Oval 10"/>
            <p:cNvSpPr>
              <a:spLocks noChangeArrowheads="1"/>
            </p:cNvSpPr>
            <p:nvPr/>
          </p:nvSpPr>
          <p:spPr bwMode="auto">
            <a:xfrm>
              <a:off x="211" y="30"/>
              <a:ext cx="1382" cy="62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1">
                    <a:alpha val="37999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</p:grpSp>
      <p:sp>
        <p:nvSpPr>
          <p:cNvPr id="70662" name="Rectangle 11"/>
          <p:cNvSpPr>
            <a:spLocks noGrp="1" noChangeArrowheads="1"/>
          </p:cNvSpPr>
          <p:nvPr>
            <p:ph type="body" idx="4294967295"/>
          </p:nvPr>
        </p:nvSpPr>
        <p:spPr>
          <a:xfrm>
            <a:off x="2133600" y="3352800"/>
            <a:ext cx="4572000" cy="685800"/>
          </a:xfrm>
        </p:spPr>
        <p:txBody>
          <a:bodyPr/>
          <a:lstStyle/>
          <a:p>
            <a:pPr algn="ctr">
              <a:lnSpc>
                <a:spcPct val="80000"/>
              </a:lnSpc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 sz="2400" b="1">
                <a:ea typeface="宋体" panose="02010600030101010101" pitchFamily="2" charset="-122"/>
              </a:rPr>
              <a:t>应用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灯片编号占位符 1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7959895-786C-41E9-8CFB-F0AE5F587E0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graphicFrame>
        <p:nvGraphicFramePr>
          <p:cNvPr id="71684" name="Group 4"/>
          <p:cNvGraphicFramePr>
            <a:graphicFrameLocks noGrp="1"/>
          </p:cNvGraphicFramePr>
          <p:nvPr/>
        </p:nvGraphicFramePr>
        <p:xfrm>
          <a:off x="762000" y="2209800"/>
          <a:ext cx="7643813" cy="2243139"/>
        </p:xfrm>
        <a:graphic>
          <a:graphicData uri="http://schemas.openxmlformats.org/drawingml/2006/table">
            <a:tbl>
              <a:tblPr/>
              <a:tblGrid>
                <a:gridCol w="573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75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159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5603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3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3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661988" y="1528763"/>
            <a:ext cx="8045450" cy="509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/>
              <a:t>假设</a:t>
            </a:r>
            <a:r>
              <a:rPr lang="en-US" altLang="zh-CN"/>
              <a:t>f</a:t>
            </a:r>
            <a:r>
              <a:rPr lang="zh-CN" altLang="en-US"/>
              <a:t>定义如下表。</a:t>
            </a: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/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0000CC"/>
                </a:solidFill>
              </a:rPr>
              <a:t>即</a:t>
            </a:r>
            <a:r>
              <a:rPr lang="pt-BR" altLang="en-US">
                <a:solidFill>
                  <a:srgbClr val="0000CC"/>
                </a:solidFill>
              </a:rPr>
              <a:t>f(A)=D,f(B)=E,f(C)=S,</a:t>
            </a:r>
            <a:r>
              <a:rPr lang="pt-BR" altLang="en-US">
                <a:solidFill>
                  <a:srgbClr val="0000CC"/>
                </a:solidFill>
                <a:latin typeface="宋体" panose="02010600030101010101" pitchFamily="2" charset="-122"/>
              </a:rPr>
              <a:t>…</a:t>
            </a:r>
            <a:r>
              <a:rPr lang="zh-CN" altLang="en-US">
                <a:solidFill>
                  <a:srgbClr val="0000CC"/>
                </a:solidFill>
              </a:rPr>
              <a:t>等等。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/>
              <a:t>试找出给定密文</a:t>
            </a:r>
            <a:r>
              <a:rPr lang="zh-CN" altLang="en-US">
                <a:latin typeface="宋体" panose="02010600030101010101" pitchFamily="2" charset="-122"/>
              </a:rPr>
              <a:t>“</a:t>
            </a:r>
            <a:r>
              <a:rPr lang="en-US" altLang="zh-CN"/>
              <a:t>QAIQORSFDOOBUIPQKJBYAQ</a:t>
            </a:r>
            <a:r>
              <a:rPr lang="en-US" altLang="zh-CN">
                <a:latin typeface="宋体" panose="02010600030101010101" pitchFamily="2" charset="-122"/>
              </a:rPr>
              <a:t>”</a:t>
            </a:r>
            <a:r>
              <a:rPr lang="zh-CN" altLang="en-US"/>
              <a:t>对应的明文。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灯片编号占位符 1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8A036F4-371D-40AC-98BE-9A4DA4166846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graphicFrame>
        <p:nvGraphicFramePr>
          <p:cNvPr id="72708" name="Group 4"/>
          <p:cNvGraphicFramePr>
            <a:graphicFrameLocks noGrp="1"/>
          </p:cNvGraphicFramePr>
          <p:nvPr/>
        </p:nvGraphicFramePr>
        <p:xfrm>
          <a:off x="990600" y="2286000"/>
          <a:ext cx="6853238" cy="2082801"/>
        </p:xfrm>
        <a:graphic>
          <a:graphicData uri="http://schemas.openxmlformats.org/drawingml/2006/table">
            <a:tbl>
              <a:tblPr/>
              <a:tblGrid>
                <a:gridCol w="51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95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593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508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857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1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6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Wingdings" panose="05000000000000000000" pitchFamily="2" charset="2"/>
                        <a:tabLst>
                          <a:tab pos="4749800" algn="l"/>
                        </a:tabLs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Wingdings" panose="05000000000000000000" pitchFamily="2" charset="2"/>
                        <a:tabLst>
                          <a:tab pos="4749800" algn="l"/>
                        </a:tabLs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749800" algn="l"/>
                        </a:tabLst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300">
                        <a:alpha val="8980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Rectangle 3"/>
          <p:cNvSpPr txBox="1">
            <a:spLocks noChangeArrowheads="1"/>
          </p:cNvSpPr>
          <p:nvPr/>
        </p:nvSpPr>
        <p:spPr bwMode="auto">
          <a:xfrm>
            <a:off x="687388" y="1528763"/>
            <a:ext cx="8159750" cy="458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/>
              <a:t>解由表知，</a:t>
            </a:r>
            <a:r>
              <a:rPr lang="en-US" altLang="zh-CN"/>
              <a:t>f</a:t>
            </a:r>
            <a:r>
              <a:rPr lang="en-US" altLang="zh-CN" baseline="30000"/>
              <a:t>-1</a:t>
            </a:r>
            <a:r>
              <a:rPr lang="zh-CN" altLang="en-US"/>
              <a:t>如下表所示。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zh-CN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zh-CN"/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zh-CN"/>
          </a:p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/>
              <a:t>将密文</a:t>
            </a:r>
            <a:r>
              <a:rPr lang="zh-CN" altLang="en-US">
                <a:latin typeface="宋体" panose="02010600030101010101" pitchFamily="2" charset="-122"/>
              </a:rPr>
              <a:t>“</a:t>
            </a:r>
            <a:r>
              <a:rPr lang="en-US" altLang="zh-CN"/>
              <a:t>QAIQORSFDOOBUIPQKJBYAQ</a:t>
            </a:r>
            <a:r>
              <a:rPr lang="en-US" altLang="zh-CN">
                <a:latin typeface="宋体" panose="02010600030101010101" pitchFamily="2" charset="-122"/>
              </a:rPr>
              <a:t>”</a:t>
            </a:r>
            <a:r>
              <a:rPr lang="zh-CN" altLang="en-US"/>
              <a:t>中的</a:t>
            </a:r>
            <a:r>
              <a:rPr lang="zh-CN" altLang="en-US">
                <a:solidFill>
                  <a:srgbClr val="0000CC"/>
                </a:solidFill>
              </a:rPr>
              <a:t>每一个字母在</a:t>
            </a:r>
            <a:r>
              <a:rPr lang="en-US" altLang="zh-CN">
                <a:solidFill>
                  <a:srgbClr val="0000CC"/>
                </a:solidFill>
              </a:rPr>
              <a:t>f</a:t>
            </a:r>
            <a:r>
              <a:rPr lang="en-US" altLang="zh-CN" baseline="30000">
                <a:solidFill>
                  <a:srgbClr val="0000CC"/>
                </a:solidFill>
              </a:rPr>
              <a:t>-1</a:t>
            </a:r>
            <a:r>
              <a:rPr lang="zh-CN" altLang="en-US">
                <a:solidFill>
                  <a:srgbClr val="0000CC"/>
                </a:solidFill>
              </a:rPr>
              <a:t>中找出其对应的象</a:t>
            </a:r>
            <a:r>
              <a:rPr lang="zh-CN" altLang="en-US"/>
              <a:t>就可得出对应的明文：</a:t>
            </a:r>
            <a:r>
              <a:rPr lang="zh-CN" altLang="en-US">
                <a:latin typeface="宋体" panose="02010600030101010101" pitchFamily="2" charset="-122"/>
              </a:rPr>
              <a:t>“</a:t>
            </a:r>
            <a:r>
              <a:rPr lang="en-US" altLang="zh-CN"/>
              <a:t>THETRUCKARRIVESGONIGHT</a:t>
            </a:r>
            <a:r>
              <a:rPr lang="en-US" altLang="zh-CN">
                <a:latin typeface="宋体" panose="02010600030101010101" pitchFamily="2" charset="-122"/>
              </a:rPr>
              <a:t>”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2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矩形 1"/>
          <p:cNvSpPr>
            <a:spLocks noChangeArrowheads="1"/>
          </p:cNvSpPr>
          <p:nvPr/>
        </p:nvSpPr>
        <p:spPr bwMode="auto">
          <a:xfrm>
            <a:off x="533400" y="1752600"/>
            <a:ext cx="8305688" cy="3240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br>
              <a:rPr lang="zh-CN" altLang="en-US" sz="2800" dirty="0"/>
            </a:br>
            <a:r>
              <a:rPr lang="zh-CN" altLang="en-US" sz="2800" dirty="0"/>
              <a:t>前面是一条沟。</a:t>
            </a:r>
            <a:br>
              <a:rPr lang="zh-CN" altLang="en-US" sz="2800" dirty="0"/>
            </a:br>
            <a:r>
              <a:rPr lang="zh-CN" altLang="en-US" sz="2800" dirty="0"/>
              <a:t>答曰："沟、沟、沟。"</a:t>
            </a:r>
            <a:br>
              <a:rPr lang="zh-CN" altLang="en-US" sz="2800" dirty="0"/>
            </a:br>
            <a:r>
              <a:rPr lang="zh-CN" altLang="en-US" sz="2800" dirty="0"/>
              <a:t>没想到B酷爱英语，以为是 "go、go、go</a:t>
            </a:r>
            <a:r>
              <a:rPr lang="en-US" altLang="zh-CN" sz="2800" dirty="0"/>
              <a:t>"，B大胆地往前走，结果掉沟里了。</a:t>
            </a:r>
          </a:p>
        </p:txBody>
      </p:sp>
      <p:sp>
        <p:nvSpPr>
          <p:cNvPr id="73731" name="TextBox 4"/>
          <p:cNvSpPr txBox="1">
            <a:spLocks noChangeArrowheads="1"/>
          </p:cNvSpPr>
          <p:nvPr/>
        </p:nvSpPr>
        <p:spPr bwMode="auto">
          <a:xfrm>
            <a:off x="685800" y="838200"/>
            <a:ext cx="4953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1">
                <a:solidFill>
                  <a:schemeClr val="bg1"/>
                </a:solidFill>
              </a:rPr>
              <a:t>为什么函数比一般的映射对人来说更重要？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矩形 1"/>
          <p:cNvSpPr>
            <a:spLocks noChangeArrowheads="1"/>
          </p:cNvSpPr>
          <p:nvPr/>
        </p:nvSpPr>
        <p:spPr bwMode="auto">
          <a:xfrm>
            <a:off x="609600" y="1828800"/>
            <a:ext cx="7924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/>
              <a:t>这个例子说明严密定义很重要，不然不清楚你说的沟是什么。</a:t>
            </a:r>
          </a:p>
        </p:txBody>
      </p:sp>
      <p:sp>
        <p:nvSpPr>
          <p:cNvPr id="74755" name="矩形 2"/>
          <p:cNvSpPr>
            <a:spLocks noChangeArrowheads="1"/>
          </p:cNvSpPr>
          <p:nvPr/>
        </p:nvSpPr>
        <p:spPr bwMode="auto">
          <a:xfrm>
            <a:off x="1143000" y="3352800"/>
            <a:ext cx="15017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800"/>
              <a:t>"沟 "的声音</a:t>
            </a:r>
          </a:p>
        </p:txBody>
      </p:sp>
      <p:cxnSp>
        <p:nvCxnSpPr>
          <p:cNvPr id="74756" name="直接箭头连接符 4"/>
          <p:cNvCxnSpPr>
            <a:cxnSpLocks noChangeShapeType="1"/>
            <a:stCxn id="74755" idx="3"/>
          </p:cNvCxnSpPr>
          <p:nvPr/>
        </p:nvCxnSpPr>
        <p:spPr bwMode="auto">
          <a:xfrm flipV="1">
            <a:off x="2644775" y="2971800"/>
            <a:ext cx="1393825" cy="6429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757" name="直接箭头连接符 6"/>
          <p:cNvCxnSpPr>
            <a:cxnSpLocks noChangeShapeType="1"/>
            <a:stCxn id="74755" idx="3"/>
          </p:cNvCxnSpPr>
          <p:nvPr/>
        </p:nvCxnSpPr>
        <p:spPr bwMode="auto">
          <a:xfrm>
            <a:off x="2644775" y="3614738"/>
            <a:ext cx="1317625" cy="7286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747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276600"/>
            <a:ext cx="45720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9" name="矩形 12"/>
          <p:cNvSpPr>
            <a:spLocks noChangeArrowheads="1"/>
          </p:cNvSpPr>
          <p:nvPr/>
        </p:nvSpPr>
        <p:spPr bwMode="auto">
          <a:xfrm>
            <a:off x="4114800" y="2819400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1800"/>
              <a:t>沟</a:t>
            </a:r>
          </a:p>
        </p:txBody>
      </p:sp>
      <p:sp>
        <p:nvSpPr>
          <p:cNvPr id="74760" name="矩形 13"/>
          <p:cNvSpPr>
            <a:spLocks noChangeArrowheads="1"/>
          </p:cNvSpPr>
          <p:nvPr/>
        </p:nvSpPr>
        <p:spPr bwMode="auto">
          <a:xfrm>
            <a:off x="4038600" y="4114800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 dirty="0"/>
              <a:t>go</a:t>
            </a:r>
            <a:endParaRPr lang="zh-CN" altLang="en-US" sz="1800" dirty="0"/>
          </a:p>
        </p:txBody>
      </p:sp>
      <p:sp>
        <p:nvSpPr>
          <p:cNvPr id="74761" name="矩形 14"/>
          <p:cNvSpPr>
            <a:spLocks noChangeArrowheads="1"/>
          </p:cNvSpPr>
          <p:nvPr/>
        </p:nvSpPr>
        <p:spPr bwMode="auto">
          <a:xfrm>
            <a:off x="5181600" y="3429000"/>
            <a:ext cx="13573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0000"/>
                </a:solidFill>
                <a:latin typeface="Times New Roman" panose="02020603050405020304" pitchFamily="18" charset="0"/>
              </a:rPr>
              <a:t>非 1-1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74762" name="矩形 15"/>
          <p:cNvSpPr>
            <a:spLocks noChangeArrowheads="1"/>
          </p:cNvSpPr>
          <p:nvPr/>
        </p:nvSpPr>
        <p:spPr bwMode="auto">
          <a:xfrm>
            <a:off x="609600" y="4876800"/>
            <a:ext cx="3505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000" b="1"/>
              <a:t>这是个映射，而不是函数</a:t>
            </a:r>
          </a:p>
        </p:txBody>
      </p:sp>
      <p:sp>
        <p:nvSpPr>
          <p:cNvPr id="74763" name="TextBox 17"/>
          <p:cNvSpPr txBox="1">
            <a:spLocks noChangeArrowheads="1"/>
          </p:cNvSpPr>
          <p:nvPr/>
        </p:nvSpPr>
        <p:spPr bwMode="auto">
          <a:xfrm>
            <a:off x="609600" y="5867400"/>
            <a:ext cx="8153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FF0000"/>
                </a:solidFill>
              </a:rPr>
              <a:t>这说明了函数的重要性，因为一对多的映射确实容易出问题。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540B66C4-D994-4720-A903-945B6DAECC67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171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FACC55F2-A345-494D-803A-969A8B49AE7F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7173" name="Group 4"/>
          <p:cNvGrpSpPr/>
          <p:nvPr/>
        </p:nvGrpSpPr>
        <p:grpSpPr bwMode="auto">
          <a:xfrm>
            <a:off x="1981268" y="2971812"/>
            <a:ext cx="5029200" cy="2438400"/>
            <a:chOff x="0" y="0"/>
            <a:chExt cx="1889" cy="1009"/>
          </a:xfrm>
        </p:grpSpPr>
        <p:grpSp>
          <p:nvGrpSpPr>
            <p:cNvPr id="7175" name="Group 5"/>
            <p:cNvGrpSpPr/>
            <p:nvPr/>
          </p:nvGrpSpPr>
          <p:grpSpPr bwMode="auto">
            <a:xfrm>
              <a:off x="0" y="90"/>
              <a:ext cx="1889" cy="919"/>
              <a:chOff x="0" y="0"/>
              <a:chExt cx="1926" cy="937"/>
            </a:xfrm>
          </p:grpSpPr>
          <p:sp>
            <p:nvSpPr>
              <p:cNvPr id="7180" name="Oval 6"/>
              <p:cNvSpPr>
                <a:spLocks noChangeArrowheads="1"/>
              </p:cNvSpPr>
              <p:nvPr/>
            </p:nvSpPr>
            <p:spPr bwMode="auto">
              <a:xfrm>
                <a:off x="21" y="3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4A4A7C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  <p:sp>
            <p:nvSpPr>
              <p:cNvPr id="7181" name="Oval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rgbClr val="D2D2FF"/>
                  </a:gs>
                  <a:gs pos="100000">
                    <a:schemeClr val="hlink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</p:grpSp>
        <p:sp>
          <p:nvSpPr>
            <p:cNvPr id="7176" name="Oval 8"/>
            <p:cNvSpPr>
              <a:spLocks noChangeArrowheads="1"/>
            </p:cNvSpPr>
            <p:nvPr/>
          </p:nvSpPr>
          <p:spPr bwMode="auto">
            <a:xfrm>
              <a:off x="89" y="0"/>
              <a:ext cx="1691" cy="845"/>
            </a:xfrm>
            <a:prstGeom prst="ellipse">
              <a:avLst/>
            </a:prstGeom>
            <a:gradFill rotWithShape="1">
              <a:gsLst>
                <a:gs pos="0">
                  <a:srgbClr val="37556B"/>
                </a:gs>
                <a:gs pos="100000">
                  <a:schemeClr val="accent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7177" name="Oval 9"/>
            <p:cNvSpPr>
              <a:spLocks noChangeArrowheads="1"/>
            </p:cNvSpPr>
            <p:nvPr/>
          </p:nvSpPr>
          <p:spPr bwMode="auto">
            <a:xfrm>
              <a:off x="111" y="5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rgbClr val="D0E6F7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7178" name="Oval 10"/>
            <p:cNvSpPr>
              <a:spLocks noChangeArrowheads="1"/>
            </p:cNvSpPr>
            <p:nvPr/>
          </p:nvSpPr>
          <p:spPr bwMode="auto">
            <a:xfrm>
              <a:off x="128" y="13"/>
              <a:ext cx="1570" cy="770"/>
            </a:xfrm>
            <a:prstGeom prst="ellipse">
              <a:avLst/>
            </a:prstGeom>
            <a:gradFill rotWithShape="1">
              <a:gsLst>
                <a:gs pos="0">
                  <a:srgbClr val="5E91B7"/>
                </a:gs>
                <a:gs pos="100000">
                  <a:schemeClr val="accent1">
                    <a:alpha val="48000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7179" name="Oval 11"/>
            <p:cNvSpPr>
              <a:spLocks noChangeArrowheads="1"/>
            </p:cNvSpPr>
            <p:nvPr/>
          </p:nvSpPr>
          <p:spPr bwMode="auto">
            <a:xfrm>
              <a:off x="211" y="30"/>
              <a:ext cx="1382" cy="62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1">
                    <a:alpha val="37999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</p:grpSp>
      <p:sp>
        <p:nvSpPr>
          <p:cNvPr id="717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0" y="3505200"/>
            <a:ext cx="3048000" cy="5334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None/>
            </a:pPr>
            <a:r>
              <a:rPr lang="zh-CN" altLang="en-US" sz="3600" b="1" dirty="0"/>
              <a:t>函数的</a:t>
            </a:r>
            <a:r>
              <a:rPr lang="en-US" altLang="zh-CN" sz="3600" b="1" dirty="0"/>
              <a:t>增长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3600" b="1" dirty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36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6BDB8D9-D45E-4986-A240-9FDEB51A54E1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阶的增长</a:t>
            </a:r>
            <a:r>
              <a:rPr lang="en-US" altLang="zh-CN">
                <a:ea typeface="宋体" panose="02010600030101010101" pitchFamily="2" charset="-122"/>
              </a:rPr>
              <a:t> - 动机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447800"/>
            <a:ext cx="8686800" cy="4267200"/>
          </a:xfrm>
        </p:spPr>
        <p:txBody>
          <a:bodyPr/>
          <a:lstStyle/>
          <a:p>
            <a:r>
              <a:rPr lang="en-US" altLang="zh-CN" b="1">
                <a:ea typeface="宋体" panose="02010600030101010101" pitchFamily="2" charset="-122"/>
              </a:rPr>
              <a:t>假设您正在设计一个处理用户数据（</a:t>
            </a:r>
            <a:r>
              <a:rPr lang="en-US" altLang="zh-CN" b="1" i="1">
                <a:ea typeface="宋体" panose="02010600030101010101" pitchFamily="2" charset="-122"/>
              </a:rPr>
              <a:t>如</a:t>
            </a:r>
            <a:r>
              <a:rPr lang="en-US" altLang="zh-CN" b="1">
                <a:ea typeface="宋体" panose="02010600030101010101" pitchFamily="2" charset="-122"/>
              </a:rPr>
              <a:t>财务记录）的网站。</a:t>
            </a:r>
          </a:p>
          <a:p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假设数据库程序 A 处理任意 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</a:rPr>
              <a:t>n 条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记录需要 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</a:rPr>
              <a:t>f</a:t>
            </a:r>
            <a:r>
              <a:rPr lang="en-US" altLang="zh-CN" b="1" baseline="-25000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</a:rPr>
              <a:t> (n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</a:rPr>
              <a:t>=30n+8 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微秒，而程序 B 处理 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</a:rPr>
              <a:t>n 条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记录需要 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</a:rPr>
              <a:t>f</a:t>
            </a:r>
            <a:r>
              <a:rPr lang="en-US" altLang="zh-CN" b="1" baseline="-25000">
                <a:solidFill>
                  <a:srgbClr val="FF0000"/>
                </a:solidFill>
                <a:ea typeface="宋体" panose="02010600030101010101" pitchFamily="2" charset="-122"/>
              </a:rPr>
              <a:t>B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</a:rPr>
              <a:t> (n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</a:rPr>
              <a:t>=n</a:t>
            </a:r>
            <a:r>
              <a:rPr lang="en-US" altLang="zh-CN" b="1" baseline="3000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 +1 微秒。</a:t>
            </a: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要知道您需要支持数百万用户，您会选择哪个程序？</a:t>
            </a:r>
          </a:p>
        </p:txBody>
      </p:sp>
      <p:sp>
        <p:nvSpPr>
          <p:cNvPr id="8197" name="WordArt 4"/>
          <p:cNvSpPr>
            <a:spLocks noChangeArrowheads="1" noChangeShapeType="1" noTextEdit="1"/>
          </p:cNvSpPr>
          <p:nvPr/>
        </p:nvSpPr>
        <p:spPr bwMode="auto">
          <a:xfrm>
            <a:off x="8077200" y="5334000"/>
            <a:ext cx="1044575" cy="1331913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13944"/>
              </a:avLst>
            </a:prstTxWarp>
          </a:bodyPr>
          <a:lstStyle/>
          <a:p>
            <a:pPr algn="ctr"/>
            <a:r>
              <a:rPr lang="en-US" altLang="zh-CN" sz="3600" kern="10">
                <a:ln w="9525">
                  <a:solidFill>
                    <a:srgbClr val="CC99FF"/>
                  </a:solidFill>
                  <a:rou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9999FF"/>
                  </a:outerShdw>
                </a:effectLst>
                <a:latin typeface="Impact" panose="020B0806030902050204" pitchFamily="34" charset="0"/>
              </a:rPr>
              <a:t>A</a:t>
            </a:r>
            <a:endParaRPr lang="zh-CN" altLang="en-US" sz="3600" kern="10">
              <a:ln w="9525">
                <a:solidFill>
                  <a:srgbClr val="CC99FF"/>
                </a:solidFill>
                <a:rou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5400000" scaled="1"/>
              </a:gradFill>
              <a:effectLst>
                <a:outerShdw dist="53882" dir="2700000" algn="ctr" rotWithShape="0">
                  <a:srgbClr val="9999FF"/>
                </a:outerShdw>
              </a:effectLst>
              <a:latin typeface="Impact" panose="020B080603090205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BA4CF8B-7CA3-4750-B3EA-9765046111DF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79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阶的增长图像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algn="just"/>
            <a:r>
              <a:rPr lang="en-US" altLang="zh-CN" sz="2800">
                <a:ea typeface="宋体" panose="02010600030101010101" pitchFamily="2" charset="-122"/>
              </a:rPr>
              <a:t>在图形上，当你向右移动时，增长越快的函数</a:t>
            </a:r>
            <a:br>
              <a:rPr lang="en-US" altLang="zh-CN" sz="2800">
                <a:ea typeface="宋体" panose="02010600030101010101" pitchFamily="2" charset="-122"/>
              </a:rPr>
            </a:br>
            <a:r>
              <a:rPr lang="en-US" altLang="zh-CN" sz="2800">
                <a:ea typeface="宋体" panose="02010600030101010101" pitchFamily="2" charset="-122"/>
              </a:rPr>
              <a:t>函数最终总是变大... </a:t>
            </a:r>
          </a:p>
        </p:txBody>
      </p:sp>
      <p:sp>
        <p:nvSpPr>
          <p:cNvPr id="9221" name="Line 4"/>
          <p:cNvSpPr>
            <a:spLocks noChangeShapeType="1"/>
          </p:cNvSpPr>
          <p:nvPr/>
        </p:nvSpPr>
        <p:spPr bwMode="auto">
          <a:xfrm flipV="1">
            <a:off x="3429000" y="2667000"/>
            <a:ext cx="0" cy="3048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2" name="Line 5"/>
          <p:cNvSpPr>
            <a:spLocks noChangeShapeType="1"/>
          </p:cNvSpPr>
          <p:nvPr/>
        </p:nvSpPr>
        <p:spPr bwMode="auto">
          <a:xfrm>
            <a:off x="3429000" y="5715000"/>
            <a:ext cx="2971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3" name="Line 6"/>
          <p:cNvSpPr>
            <a:spLocks noChangeShapeType="1"/>
          </p:cNvSpPr>
          <p:nvPr/>
        </p:nvSpPr>
        <p:spPr bwMode="auto">
          <a:xfrm flipV="1">
            <a:off x="3429000" y="2819400"/>
            <a:ext cx="2895600" cy="2438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4" name="Freeform 7"/>
          <p:cNvSpPr>
            <a:spLocks noChangeArrowheads="1"/>
          </p:cNvSpPr>
          <p:nvPr/>
        </p:nvSpPr>
        <p:spPr bwMode="auto">
          <a:xfrm>
            <a:off x="3429000" y="2590800"/>
            <a:ext cx="1752600" cy="3048000"/>
          </a:xfrm>
          <a:custGeom>
            <a:avLst/>
            <a:gdLst>
              <a:gd name="T0" fmla="*/ 0 w 1104"/>
              <a:gd name="T1" fmla="*/ 2147483646 h 1920"/>
              <a:gd name="T2" fmla="*/ 2147483646 w 1104"/>
              <a:gd name="T3" fmla="*/ 2147483646 h 1920"/>
              <a:gd name="T4" fmla="*/ 2147483646 w 1104"/>
              <a:gd name="T5" fmla="*/ 0 h 192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104" h="1920">
                <a:moveTo>
                  <a:pt x="0" y="1920"/>
                </a:moveTo>
                <a:cubicBezTo>
                  <a:pt x="244" y="1840"/>
                  <a:pt x="488" y="1760"/>
                  <a:pt x="672" y="1440"/>
                </a:cubicBezTo>
                <a:cubicBezTo>
                  <a:pt x="856" y="1120"/>
                  <a:pt x="980" y="560"/>
                  <a:pt x="1104" y="0"/>
                </a:cubicBezTo>
              </a:path>
            </a:pathLst>
          </a:custGeom>
          <a:noFill/>
          <a:ln w="38100">
            <a:solidFill>
              <a:srgbClr val="FF0000"/>
            </a:solidFill>
            <a:beve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5" name="Text Box 8"/>
          <p:cNvSpPr txBox="1">
            <a:spLocks noChangeArrowheads="1"/>
          </p:cNvSpPr>
          <p:nvPr/>
        </p:nvSpPr>
        <p:spPr bwMode="auto">
          <a:xfrm>
            <a:off x="5715000" y="3124200"/>
            <a:ext cx="1722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f</a:t>
            </a:r>
            <a:r>
              <a:rPr lang="en-US" altLang="zh-CN" sz="2400" baseline="-25000">
                <a:latin typeface="Times New Roman" panose="02020603050405020304" pitchFamily="18" charset="0"/>
              </a:rPr>
              <a:t>A</a:t>
            </a:r>
            <a:r>
              <a:rPr lang="en-US" altLang="zh-CN" sz="2400" i="1">
                <a:latin typeface="Times New Roman" panose="02020603050405020304" pitchFamily="18" charset="0"/>
              </a:rPr>
              <a:t> (n</a:t>
            </a:r>
            <a:r>
              <a:rPr lang="en-US" altLang="zh-CN" sz="2400">
                <a:latin typeface="Times New Roman" panose="02020603050405020304" pitchFamily="18" charset="0"/>
              </a:rPr>
              <a:t>)=30n+8</a:t>
            </a:r>
            <a:endParaRPr lang="en-US" altLang="zh-CN" sz="2400" i="1">
              <a:latin typeface="Times New Roman" panose="02020603050405020304" pitchFamily="18" charset="0"/>
            </a:endParaRPr>
          </a:p>
        </p:txBody>
      </p:sp>
      <p:sp>
        <p:nvSpPr>
          <p:cNvPr id="9226" name="Text Box 9"/>
          <p:cNvSpPr txBox="1">
            <a:spLocks noChangeArrowheads="1"/>
          </p:cNvSpPr>
          <p:nvPr/>
        </p:nvSpPr>
        <p:spPr bwMode="auto">
          <a:xfrm>
            <a:off x="4038600" y="57150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增加 </a:t>
            </a:r>
            <a:r>
              <a:rPr lang="en-US" altLang="zh-CN" sz="2400" i="1">
                <a:latin typeface="Times New Roman" panose="02020603050405020304" pitchFamily="18" charset="0"/>
              </a:rPr>
              <a:t>n </a:t>
            </a: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227" name="Text Box 10"/>
          <p:cNvSpPr txBox="1">
            <a:spLocks noChangeArrowheads="1"/>
          </p:cNvSpPr>
          <p:nvPr/>
        </p:nvSpPr>
        <p:spPr bwMode="auto">
          <a:xfrm>
            <a:off x="4572000" y="4572000"/>
            <a:ext cx="1508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400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</a:rPr>
              <a:t> (n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400" i="1">
                <a:solidFill>
                  <a:srgbClr val="FF0000"/>
                </a:solidFill>
                <a:latin typeface="Times New Roman" panose="02020603050405020304" pitchFamily="18" charset="0"/>
              </a:rPr>
              <a:t>=n</a:t>
            </a:r>
            <a:r>
              <a:rPr lang="en-US" altLang="zh-CN" sz="2400" baseline="30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>
                <a:solidFill>
                  <a:srgbClr val="FF0000"/>
                </a:solidFill>
                <a:latin typeface="Times New Roman" panose="02020603050405020304" pitchFamily="18" charset="0"/>
              </a:rPr>
              <a:t> +1</a:t>
            </a:r>
            <a:endParaRPr lang="en-US" altLang="zh-CN" sz="2400" i="1">
              <a:latin typeface="Times New Roman" panose="02020603050405020304" pitchFamily="18" charset="0"/>
            </a:endParaRPr>
          </a:p>
        </p:txBody>
      </p:sp>
      <p:sp>
        <p:nvSpPr>
          <p:cNvPr id="9228" name="Text Box 11"/>
          <p:cNvSpPr txBox="1">
            <a:spLocks noChangeArrowheads="1"/>
          </p:cNvSpPr>
          <p:nvPr/>
        </p:nvSpPr>
        <p:spPr bwMode="auto">
          <a:xfrm rot="-5400000">
            <a:off x="1846262" y="4021138"/>
            <a:ext cx="2708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函数值 </a:t>
            </a: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7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6ECA73B-5528-40A8-8F32-70CC43936F7C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80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阶的</a:t>
            </a:r>
            <a:r>
              <a:rPr lang="en-US" altLang="zh-CN">
                <a:ea typeface="宋体" panose="02010600030101010101" pitchFamily="2" charset="-122"/>
              </a:rPr>
              <a:t>增长的概念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52400" y="1676400"/>
            <a:ext cx="8839200" cy="4343400"/>
          </a:xfrm>
        </p:spPr>
        <p:txBody>
          <a:bodyPr/>
          <a:lstStyle/>
          <a:p>
            <a:r>
              <a:rPr lang="en-US" altLang="zh-CN" sz="2800" b="1" dirty="0" err="1">
                <a:ea typeface="宋体" panose="02010600030101010101" pitchFamily="2" charset="-122"/>
              </a:rPr>
              <a:t>我们说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f</a:t>
            </a:r>
            <a:r>
              <a:rPr lang="en-US" altLang="zh-CN" sz="2800" b="1" baseline="-25000" dirty="0" err="1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</a:rPr>
              <a:t> (n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)=30n+8 </a:t>
            </a: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</a:rPr>
              <a:t>（</a:t>
            </a:r>
            <a:r>
              <a:rPr lang="en-US" altLang="zh-CN" sz="2800" b="1" i="1" dirty="0" err="1">
                <a:ea typeface="宋体" panose="02010600030101010101" pitchFamily="2" charset="-122"/>
              </a:rPr>
              <a:t>最多）</a:t>
            </a:r>
            <a:r>
              <a:rPr lang="en-US" altLang="zh-CN" sz="2800" b="1" dirty="0" err="1">
                <a:ea typeface="宋体" panose="02010600030101010101" pitchFamily="2" charset="-122"/>
              </a:rPr>
              <a:t>是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b="1" i="1" dirty="0">
                <a:ea typeface="宋体" panose="02010600030101010101" pitchFamily="2" charset="-122"/>
              </a:rPr>
              <a:t>n </a:t>
            </a:r>
            <a:r>
              <a:rPr lang="en-US" altLang="zh-CN" sz="2800" b="1" i="1" dirty="0" err="1">
                <a:ea typeface="宋体" panose="02010600030101010101" pitchFamily="2" charset="-122"/>
              </a:rPr>
              <a:t>阶</a:t>
            </a:r>
            <a:r>
              <a:rPr lang="en-US" altLang="zh-CN" sz="2800" b="1" dirty="0" err="1">
                <a:ea typeface="宋体" panose="02010600030101010101" pitchFamily="2" charset="-122"/>
              </a:rPr>
              <a:t>，或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b="1" dirty="0" err="1">
                <a:solidFill>
                  <a:srgbClr val="FF0000"/>
                </a:solidFill>
                <a:ea typeface="宋体" panose="02010600030101010101" pitchFamily="2" charset="-122"/>
              </a:rPr>
              <a:t>O（</a:t>
            </a:r>
            <a:r>
              <a:rPr lang="en-US" altLang="zh-CN" sz="2800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）</a:t>
            </a:r>
            <a:r>
              <a:rPr lang="en-US" altLang="zh-CN" sz="2800" b="1" dirty="0">
                <a:ea typeface="宋体" panose="02010600030101010101" pitchFamily="2" charset="-122"/>
              </a:rPr>
              <a:t>。</a:t>
            </a:r>
          </a:p>
          <a:p>
            <a:pPr lvl="1"/>
            <a:r>
              <a:rPr lang="en-US" altLang="zh-CN" sz="2400" b="1" dirty="0" err="1">
                <a:ea typeface="宋体" panose="02010600030101010101" pitchFamily="2" charset="-122"/>
              </a:rPr>
              <a:t>它最多与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ea typeface="宋体" panose="02010600030101010101" pitchFamily="2" charset="-122"/>
              </a:rPr>
              <a:t>n </a:t>
            </a:r>
            <a:r>
              <a:rPr lang="en-US" altLang="zh-CN" sz="2400" b="1" dirty="0" err="1">
                <a:ea typeface="宋体" panose="02010600030101010101" pitchFamily="2" charset="-122"/>
              </a:rPr>
              <a:t>大致</a:t>
            </a:r>
            <a:r>
              <a:rPr lang="en-US" altLang="zh-CN" sz="2400" b="1" i="1" dirty="0" err="1">
                <a:ea typeface="宋体" panose="02010600030101010101" pitchFamily="2" charset="-122"/>
              </a:rPr>
              <a:t>成正比</a:t>
            </a:r>
            <a:r>
              <a:rPr lang="en-US" altLang="zh-CN" sz="2400" b="1" dirty="0">
                <a:ea typeface="宋体" panose="02010600030101010101" pitchFamily="2" charset="-122"/>
              </a:rPr>
              <a:t>。</a:t>
            </a:r>
          </a:p>
          <a:p>
            <a:r>
              <a:rPr lang="en-US" altLang="zh-CN" sz="2800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f</a:t>
            </a:r>
            <a:r>
              <a:rPr lang="en-US" altLang="zh-CN" sz="2800" b="1" baseline="-25000" dirty="0" err="1">
                <a:solidFill>
                  <a:srgbClr val="FF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</a:rPr>
              <a:t> (n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</a:rPr>
              <a:t>=n</a:t>
            </a:r>
            <a:r>
              <a:rPr lang="en-US" altLang="zh-CN" sz="2800" b="1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 +1 </a:t>
            </a:r>
            <a:r>
              <a:rPr lang="en-US" altLang="zh-CN" sz="2800" b="1" dirty="0" err="1">
                <a:ea typeface="宋体" panose="02010600030101010101" pitchFamily="2" charset="-122"/>
              </a:rPr>
              <a:t>是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b="1" i="1" dirty="0">
                <a:ea typeface="宋体" panose="02010600030101010101" pitchFamily="2" charset="-122"/>
              </a:rPr>
              <a:t>n</a:t>
            </a:r>
            <a:r>
              <a:rPr lang="en-US" altLang="zh-CN" sz="2800" b="1" baseline="30000" dirty="0">
                <a:ea typeface="宋体" panose="02010600030101010101" pitchFamily="2" charset="-122"/>
              </a:rPr>
              <a:t> 2</a:t>
            </a:r>
            <a:r>
              <a:rPr lang="en-US" altLang="zh-CN" sz="2800" b="1" i="1" dirty="0">
                <a:ea typeface="宋体" panose="02010600030101010101" pitchFamily="2" charset="-122"/>
              </a:rPr>
              <a:t> </a:t>
            </a:r>
            <a:r>
              <a:rPr lang="en-US" altLang="zh-CN" sz="2800" b="1" i="1" dirty="0" err="1">
                <a:ea typeface="宋体" panose="02010600030101010101" pitchFamily="2" charset="-122"/>
              </a:rPr>
              <a:t>阶</a:t>
            </a:r>
            <a:r>
              <a:rPr lang="en-US" altLang="zh-CN" sz="2800" b="1" dirty="0">
                <a:ea typeface="宋体" panose="02010600030101010101" pitchFamily="2" charset="-122"/>
              </a:rPr>
              <a:t> ，</a:t>
            </a:r>
            <a:r>
              <a:rPr lang="en-US" altLang="zh-CN" sz="2800" b="1" dirty="0" err="1">
                <a:ea typeface="宋体" panose="02010600030101010101" pitchFamily="2" charset="-122"/>
              </a:rPr>
              <a:t>或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ea typeface="宋体" panose="02010600030101010101" pitchFamily="2" charset="-122"/>
              </a:rPr>
              <a:t>O(</a:t>
            </a:r>
            <a:r>
              <a:rPr lang="en-US" altLang="zh-CN" sz="2800" b="1" i="1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800" b="1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b="1" dirty="0">
                <a:ea typeface="宋体" panose="02010600030101010101" pitchFamily="2" charset="-122"/>
              </a:rPr>
              <a:t> ) 。  </a:t>
            </a:r>
          </a:p>
          <a:p>
            <a:pPr lvl="1"/>
            <a:r>
              <a:rPr lang="en-US" altLang="zh-CN" sz="2400" b="1" dirty="0" err="1">
                <a:ea typeface="宋体" panose="02010600030101010101" pitchFamily="2" charset="-122"/>
              </a:rPr>
              <a:t>它（最多）与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400" b="1" i="1" dirty="0">
                <a:ea typeface="宋体" panose="02010600030101010101" pitchFamily="2" charset="-122"/>
              </a:rPr>
              <a:t>n </a:t>
            </a:r>
            <a:r>
              <a:rPr lang="en-US" altLang="zh-CN" sz="2400" b="1" baseline="30000" dirty="0">
                <a:ea typeface="宋体" panose="02010600030101010101" pitchFamily="2" charset="-122"/>
              </a:rPr>
              <a:t>2 </a:t>
            </a:r>
            <a:r>
              <a:rPr lang="en-US" altLang="zh-CN" sz="2400" b="1" dirty="0" err="1">
                <a:ea typeface="宋体" panose="02010600030101010101" pitchFamily="2" charset="-122"/>
              </a:rPr>
              <a:t>大致成正比</a:t>
            </a:r>
            <a:r>
              <a:rPr lang="en-US" altLang="zh-CN" sz="2400" b="1" dirty="0"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ea typeface="宋体" panose="02010600030101010101" pitchFamily="2" charset="-122"/>
              </a:rPr>
              <a:t>。</a:t>
            </a:r>
            <a:endParaRPr lang="en-US" altLang="zh-CN" sz="2000" b="1" baseline="30000" dirty="0">
              <a:ea typeface="宋体" panose="02010600030101010101" pitchFamily="2" charset="-122"/>
            </a:endParaRPr>
          </a:p>
          <a:p>
            <a:r>
              <a:rPr lang="en-US" altLang="zh-CN" sz="2800" b="1" dirty="0" err="1">
                <a:ea typeface="宋体" panose="02010600030101010101" pitchFamily="2" charset="-122"/>
              </a:rPr>
              <a:t>任何</a:t>
            </a:r>
            <a:r>
              <a:rPr lang="en-US" altLang="zh-CN" sz="2800" b="1" i="1" dirty="0" err="1">
                <a:ea typeface="宋体" panose="02010600030101010101" pitchFamily="2" charset="-122"/>
              </a:rPr>
              <a:t>精确</a:t>
            </a:r>
            <a:r>
              <a:rPr lang="en-US" altLang="zh-CN" sz="2800" b="1" dirty="0" err="1">
                <a:ea typeface="宋体" panose="02010600030101010101" pitchFamily="2" charset="-122"/>
              </a:rPr>
              <a:t>（最严格）阶为</a:t>
            </a:r>
            <a:r>
              <a:rPr lang="en-US" altLang="zh-CN" sz="2800" b="1" dirty="0">
                <a:ea typeface="宋体" panose="02010600030101010101" pitchFamily="2" charset="-122"/>
              </a:rPr>
              <a:t> O(</a:t>
            </a:r>
            <a:r>
              <a:rPr lang="en-US" altLang="zh-CN" sz="2800" b="1" i="1" dirty="0">
                <a:ea typeface="宋体" panose="02010600030101010101" pitchFamily="2" charset="-122"/>
              </a:rPr>
              <a:t>n</a:t>
            </a:r>
            <a:r>
              <a:rPr lang="en-US" altLang="zh-CN" sz="2800" b="1" baseline="30000" dirty="0">
                <a:ea typeface="宋体" panose="02010600030101010101" pitchFamily="2" charset="-122"/>
              </a:rPr>
              <a:t>2</a:t>
            </a:r>
            <a:r>
              <a:rPr lang="en-US" altLang="zh-CN" sz="2800" b="1" dirty="0">
                <a:ea typeface="宋体" panose="02010600030101010101" pitchFamily="2" charset="-122"/>
              </a:rPr>
              <a:t> ) </a:t>
            </a:r>
            <a:r>
              <a:rPr lang="en-US" altLang="zh-CN" sz="2800" b="1" dirty="0" err="1">
                <a:ea typeface="宋体" panose="02010600030101010101" pitchFamily="2" charset="-122"/>
              </a:rPr>
              <a:t>的函数都比任何</a:t>
            </a:r>
            <a:r>
              <a:rPr lang="en-US" altLang="zh-CN" sz="2800" b="1" dirty="0">
                <a:ea typeface="宋体" panose="02010600030101010101" pitchFamily="2" charset="-122"/>
              </a:rPr>
              <a:t> O(</a:t>
            </a:r>
            <a:r>
              <a:rPr lang="en-US" altLang="zh-CN" sz="2800" b="1" i="1" dirty="0">
                <a:ea typeface="宋体" panose="02010600030101010101" pitchFamily="2" charset="-122"/>
              </a:rPr>
              <a:t>n</a:t>
            </a:r>
            <a:r>
              <a:rPr lang="en-US" altLang="zh-CN" sz="2800" b="1" dirty="0">
                <a:ea typeface="宋体" panose="02010600030101010101" pitchFamily="2" charset="-122"/>
              </a:rPr>
              <a:t>) </a:t>
            </a:r>
            <a:r>
              <a:rPr lang="en-US" altLang="zh-CN" sz="2800" b="1" dirty="0" err="1">
                <a:ea typeface="宋体" panose="02010600030101010101" pitchFamily="2" charset="-122"/>
              </a:rPr>
              <a:t>的函数增长更快</a:t>
            </a:r>
            <a:r>
              <a:rPr lang="en-US" altLang="zh-CN" sz="2800" b="1" dirty="0">
                <a:ea typeface="宋体" panose="02010600030101010101" pitchFamily="2" charset="-122"/>
              </a:rPr>
              <a:t>。</a:t>
            </a:r>
          </a:p>
          <a:p>
            <a:pPr lvl="1"/>
            <a:r>
              <a:rPr lang="en-US" altLang="zh-CN" sz="2400" b="1" dirty="0" err="1">
                <a:ea typeface="宋体" panose="02010600030101010101" pitchFamily="2" charset="-122"/>
              </a:rPr>
              <a:t>稍后，我们将引入</a:t>
            </a:r>
            <a:r>
              <a:rPr lang="el-GR" altLang="en-US" sz="2400" b="1" dirty="0"/>
              <a:t> Θ </a:t>
            </a:r>
            <a:r>
              <a:rPr lang="en-US" altLang="zh-CN" sz="2400" b="1" dirty="0" err="1">
                <a:ea typeface="宋体" panose="02010600030101010101" pitchFamily="2" charset="-122"/>
              </a:rPr>
              <a:t>来表达</a:t>
            </a:r>
            <a:r>
              <a:rPr lang="en-US" altLang="zh-CN" sz="2400" b="1" i="1" dirty="0" err="1">
                <a:ea typeface="宋体" panose="02010600030101010101" pitchFamily="2" charset="-122"/>
              </a:rPr>
              <a:t>精确</a:t>
            </a:r>
            <a:r>
              <a:rPr lang="en-US" altLang="zh-CN" sz="2400" b="1" dirty="0" err="1">
                <a:ea typeface="宋体" panose="02010600030101010101" pitchFamily="2" charset="-122"/>
              </a:rPr>
              <a:t>顺序</a:t>
            </a:r>
            <a:r>
              <a:rPr lang="en-US" altLang="zh-CN" sz="2400" b="1" dirty="0">
                <a:ea typeface="宋体" panose="02010600030101010101" pitchFamily="2" charset="-122"/>
              </a:rPr>
              <a:t>。</a:t>
            </a:r>
            <a:endParaRPr lang="el-GR" altLang="en-US" sz="2400" b="1" dirty="0"/>
          </a:p>
          <a:p>
            <a:r>
              <a:rPr lang="en-US" altLang="zh-CN" sz="2800" b="1" dirty="0" err="1">
                <a:ea typeface="宋体" panose="02010600030101010101" pitchFamily="2" charset="-122"/>
              </a:rPr>
              <a:t>对于大量用户记录，精确阶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b="1" i="1" dirty="0">
                <a:ea typeface="宋体" panose="02010600030101010101" pitchFamily="2" charset="-122"/>
              </a:rPr>
              <a:t>n</a:t>
            </a:r>
            <a:r>
              <a:rPr lang="en-US" altLang="zh-CN" sz="2800" b="1" baseline="30000" dirty="0">
                <a:ea typeface="宋体" panose="02010600030101010101" pitchFamily="2" charset="-122"/>
              </a:rPr>
              <a:t>2</a:t>
            </a:r>
            <a:r>
              <a:rPr lang="en-US" altLang="zh-CN" sz="2800" b="1" dirty="0">
                <a:ea typeface="宋体" panose="02010600030101010101" pitchFamily="2" charset="-122"/>
              </a:rPr>
              <a:t> </a:t>
            </a:r>
            <a:r>
              <a:rPr lang="en-US" altLang="zh-CN" sz="2800" b="1" dirty="0" err="1">
                <a:ea typeface="宋体" panose="02010600030101010101" pitchFamily="2" charset="-122"/>
              </a:rPr>
              <a:t>函数总是需要更多时间</a:t>
            </a:r>
            <a:r>
              <a:rPr lang="en-US" altLang="zh-CN" sz="2800" b="1" dirty="0"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8E8BF6EC-2979-48E1-A3FF-8D12ADF1015E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81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定义</a:t>
            </a:r>
            <a:r>
              <a:rPr lang="zh-CN" altLang="en-US">
                <a:ea typeface="宋体" panose="02010600030101010101" pitchFamily="2" charset="-122"/>
              </a:rPr>
              <a:t>：</a:t>
            </a:r>
            <a:r>
              <a:rPr lang="en-US" altLang="zh-CN" i="1">
                <a:ea typeface="宋体" panose="02010600030101010101" pitchFamily="2" charset="-122"/>
              </a:rPr>
              <a:t>O(g)</a:t>
            </a:r>
            <a:r>
              <a:rPr lang="en-US" altLang="zh-CN">
                <a:ea typeface="宋体" panose="02010600030101010101" pitchFamily="2" charset="-122"/>
              </a:rPr>
              <a:t>，</a:t>
            </a:r>
            <a:r>
              <a:rPr lang="zh-CN" altLang="en-US" i="1">
                <a:ea typeface="宋体" panose="02010600030101010101" pitchFamily="2" charset="-122"/>
              </a:rPr>
              <a:t>渐进上界</a:t>
            </a:r>
            <a:r>
              <a:rPr lang="en-US" altLang="zh-CN" i="1">
                <a:ea typeface="宋体" panose="02010600030101010101" pitchFamily="2" charset="-122"/>
              </a:rPr>
              <a:t> g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76400"/>
            <a:ext cx="8610600" cy="4267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ea typeface="宋体" panose="02010600030101010101" pitchFamily="2" charset="-122"/>
              </a:rPr>
              <a:t>设</a:t>
            </a:r>
            <a:r>
              <a:rPr lang="en-US" altLang="zh-CN" i="1" dirty="0">
                <a:ea typeface="宋体" panose="02010600030101010101" pitchFamily="2" charset="-122"/>
              </a:rPr>
              <a:t>g</a:t>
            </a:r>
            <a:r>
              <a:rPr lang="zh-CN" altLang="en-US" i="1" dirty="0">
                <a:ea typeface="宋体" panose="02010600030101010101" pitchFamily="2" charset="-122"/>
              </a:rPr>
              <a:t>为</a:t>
            </a:r>
            <a:r>
              <a:rPr lang="en-US" altLang="zh-CN" dirty="0" err="1">
                <a:ea typeface="宋体" panose="02010600030101010101" pitchFamily="2" charset="-122"/>
              </a:rPr>
              <a:t>任意函数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RR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  <a:p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定义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"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渐进上界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g"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写作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O(</a:t>
            </a:r>
            <a:r>
              <a:rPr lang="en-US" altLang="zh-CN" i="1" dirty="0">
                <a:ea typeface="宋体" panose="02010600030101010101" pitchFamily="2" charset="-122"/>
              </a:rPr>
              <a:t>g</a:t>
            </a:r>
            <a:r>
              <a:rPr lang="en-US" altLang="zh-CN" dirty="0">
                <a:ea typeface="宋体" panose="02010600030101010101" pitchFamily="2" charset="-122"/>
              </a:rPr>
              <a:t>)：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{</a:t>
            </a:r>
            <a:r>
              <a:rPr lang="en-US" altLang="zh-CN" i="1" dirty="0" err="1">
                <a:solidFill>
                  <a:srgbClr val="FF0000"/>
                </a:solidFill>
                <a:ea typeface="宋体" panose="02010600030101010101" pitchFamily="2" charset="-122"/>
              </a:rPr>
              <a:t>f</a:t>
            </a:r>
            <a:r>
              <a:rPr lang="en-US" altLang="zh-CN" dirty="0" err="1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  <a:r>
              <a:rPr lang="en-US" altLang="zh-CN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RR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|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i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i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x&gt;k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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cg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)}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  <a:p>
            <a:pPr lvl="1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在某一点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k 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以外，函数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f 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最多是常数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c 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乘以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即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与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g 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成正比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）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i="1" dirty="0">
                <a:ea typeface="宋体" panose="02010600030101010101" pitchFamily="2" charset="-122"/>
              </a:rPr>
              <a:t>g</a:t>
            </a:r>
            <a:r>
              <a:rPr lang="zh-CN" altLang="en-US" i="1" dirty="0">
                <a:ea typeface="宋体" panose="02010600030101010101" pitchFamily="2" charset="-122"/>
              </a:rPr>
              <a:t>是</a:t>
            </a:r>
            <a:r>
              <a:rPr lang="en-US" altLang="zh-CN" i="1" dirty="0">
                <a:ea typeface="宋体" panose="02010600030101010101" pitchFamily="2" charset="-122"/>
              </a:rPr>
              <a:t>f</a:t>
            </a:r>
            <a:r>
              <a:rPr lang="zh-CN" altLang="en-US" i="1" dirty="0">
                <a:ea typeface="宋体" panose="02010600030101010101" pitchFamily="2" charset="-122"/>
              </a:rPr>
              <a:t>的渐进上界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dirty="0">
                <a:ea typeface="宋体" panose="02010600030101010101" pitchFamily="2" charset="-122"/>
              </a:rPr>
              <a:t>，</a:t>
            </a:r>
            <a:r>
              <a:rPr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或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i="1" dirty="0" err="1">
                <a:ea typeface="宋体" panose="02010600030101010101" pitchFamily="2" charset="-122"/>
              </a:rPr>
              <a:t>f</a:t>
            </a:r>
            <a:r>
              <a:rPr lang="en-US" altLang="zh-CN" dirty="0" err="1">
                <a:ea typeface="宋体" panose="02010600030101010101" pitchFamily="2" charset="-122"/>
              </a:rPr>
              <a:t>为O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i="1" dirty="0">
                <a:ea typeface="宋体" panose="02010600030101010101" pitchFamily="2" charset="-122"/>
              </a:rPr>
              <a:t>g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"，</a:t>
            </a:r>
            <a:r>
              <a:rPr lang="en-US" altLang="zh-CN" dirty="0" err="1">
                <a:ea typeface="宋体" panose="02010600030101010101" pitchFamily="2" charset="-122"/>
              </a:rPr>
              <a:t>或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i="1" dirty="0">
                <a:ea typeface="宋体" panose="02010600030101010101" pitchFamily="2" charset="-122"/>
              </a:rPr>
              <a:t>f=O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i="1" dirty="0">
                <a:ea typeface="宋体" panose="02010600030101010101" pitchFamily="2" charset="-122"/>
              </a:rPr>
              <a:t>g</a:t>
            </a:r>
            <a:r>
              <a:rPr lang="en-US" altLang="zh-CN" dirty="0">
                <a:ea typeface="宋体" panose="02010600030101010101" pitchFamily="2" charset="-122"/>
              </a:rPr>
              <a:t>)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dirty="0" err="1">
                <a:ea typeface="宋体" panose="02010600030101010101" pitchFamily="2" charset="-122"/>
              </a:rPr>
              <a:t>只是表示</a:t>
            </a:r>
            <a:r>
              <a:rPr lang="en-US" altLang="zh-CN" i="1" dirty="0" err="1">
                <a:ea typeface="宋体" panose="02010600030101010101" pitchFamily="2" charset="-122"/>
              </a:rPr>
              <a:t>f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i="1" dirty="0" err="1">
                <a:ea typeface="宋体" panose="02010600030101010101" pitchFamily="2" charset="-122"/>
              </a:rPr>
              <a:t>O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E1FD724D-41FB-47A4-8BB2-2D79285A5D98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82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定义</a:t>
            </a:r>
            <a:r>
              <a:rPr lang="zh-CN" altLang="en-US">
                <a:ea typeface="宋体" panose="02010600030101010101" pitchFamily="2" charset="-122"/>
              </a:rPr>
              <a:t>的</a:t>
            </a:r>
            <a:r>
              <a:rPr lang="en-US" altLang="zh-CN">
                <a:ea typeface="宋体" panose="02010600030101010101" pitchFamily="2" charset="-122"/>
              </a:rPr>
              <a:t>要点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76400"/>
            <a:ext cx="8839200" cy="42672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请注意，只要存在满足定义的 </a:t>
            </a:r>
            <a:r>
              <a:rPr lang="en-US" altLang="zh-CN" i="1">
                <a:ea typeface="宋体" panose="02010600030101010101" pitchFamily="2" charset="-122"/>
              </a:rPr>
              <a:t>c </a:t>
            </a:r>
            <a:r>
              <a:rPr lang="en-US" altLang="zh-CN">
                <a:ea typeface="宋体" panose="02010600030101010101" pitchFamily="2" charset="-122"/>
              </a:rPr>
              <a:t>和 </a:t>
            </a:r>
            <a:r>
              <a:rPr lang="en-US" altLang="zh-CN" i="1">
                <a:ea typeface="宋体" panose="02010600030101010101" pitchFamily="2" charset="-122"/>
              </a:rPr>
              <a:t>k </a:t>
            </a:r>
            <a:r>
              <a:rPr lang="en-US" altLang="zh-CN">
                <a:ea typeface="宋体" panose="02010600030101010101" pitchFamily="2" charset="-122"/>
              </a:rPr>
              <a:t>值，</a:t>
            </a:r>
            <a:r>
              <a:rPr lang="en-US" altLang="zh-CN" i="1">
                <a:ea typeface="宋体" panose="02010600030101010101" pitchFamily="2" charset="-122"/>
              </a:rPr>
              <a:t>f </a:t>
            </a:r>
            <a:r>
              <a:rPr lang="en-US" altLang="zh-CN">
                <a:ea typeface="宋体" panose="02010600030101010101" pitchFamily="2" charset="-122"/>
              </a:rPr>
              <a:t>就是 O(</a:t>
            </a:r>
            <a:r>
              <a:rPr lang="en-US" altLang="zh-CN" i="1">
                <a:ea typeface="宋体" panose="02010600030101010101" pitchFamily="2" charset="-122"/>
              </a:rPr>
              <a:t>g</a:t>
            </a:r>
            <a:r>
              <a:rPr lang="en-US" altLang="zh-CN">
                <a:ea typeface="宋体" panose="02010600030101010101" pitchFamily="2" charset="-122"/>
              </a:rPr>
              <a:t>)。</a:t>
            </a:r>
          </a:p>
          <a:p>
            <a:r>
              <a:rPr lang="en-US" altLang="zh-CN">
                <a:ea typeface="宋体" panose="02010600030101010101" pitchFamily="2" charset="-122"/>
              </a:rPr>
              <a:t>但是：使声明成立的特定 </a:t>
            </a:r>
            <a:r>
              <a:rPr lang="en-US" altLang="zh-CN" i="1">
                <a:ea typeface="宋体" panose="02010600030101010101" pitchFamily="2" charset="-122"/>
              </a:rPr>
              <a:t>c</a:t>
            </a:r>
            <a:r>
              <a:rPr lang="en-US" altLang="zh-CN">
                <a:ea typeface="宋体" panose="02010600030101010101" pitchFamily="2" charset="-122"/>
              </a:rPr>
              <a:t>、</a:t>
            </a:r>
            <a:r>
              <a:rPr lang="en-US" altLang="zh-CN" i="1">
                <a:ea typeface="宋体" panose="02010600030101010101" pitchFamily="2" charset="-122"/>
              </a:rPr>
              <a:t>k </a:t>
            </a:r>
            <a:r>
              <a:rPr lang="en-US" altLang="zh-CN">
                <a:ea typeface="宋体" panose="02010600030101010101" pitchFamily="2" charset="-122"/>
              </a:rPr>
              <a:t>值</a:t>
            </a:r>
            <a:r>
              <a:rPr lang="en-US" altLang="zh-CN" i="1">
                <a:ea typeface="宋体" panose="02010600030101010101" pitchFamily="2" charset="-122"/>
              </a:rPr>
              <a:t>并不是</a:t>
            </a:r>
            <a:r>
              <a:rPr lang="en-US" altLang="zh-CN">
                <a:ea typeface="宋体" panose="02010600030101010101" pitchFamily="2" charset="-122"/>
              </a:rPr>
              <a:t>唯一的：</a:t>
            </a:r>
            <a:r>
              <a:rPr lang="en-US" altLang="zh-CN" b="1">
                <a:ea typeface="宋体" panose="02010600030101010101" pitchFamily="2" charset="-122"/>
              </a:rPr>
              <a:t>任何较大的 </a:t>
            </a:r>
            <a:r>
              <a:rPr lang="en-US" altLang="zh-CN" b="1" i="1">
                <a:ea typeface="宋体" panose="02010600030101010101" pitchFamily="2" charset="-122"/>
              </a:rPr>
              <a:t>c </a:t>
            </a:r>
            <a:r>
              <a:rPr lang="en-US" altLang="zh-CN" b="1">
                <a:ea typeface="宋体" panose="02010600030101010101" pitchFamily="2" charset="-122"/>
              </a:rPr>
              <a:t>值和/或 </a:t>
            </a:r>
            <a:r>
              <a:rPr lang="en-US" altLang="zh-CN" b="1" i="1">
                <a:ea typeface="宋体" panose="02010600030101010101" pitchFamily="2" charset="-122"/>
              </a:rPr>
              <a:t>k </a:t>
            </a:r>
            <a:r>
              <a:rPr lang="en-US" altLang="zh-CN" b="1">
                <a:ea typeface="宋体" panose="02010600030101010101" pitchFamily="2" charset="-122"/>
              </a:rPr>
              <a:t>值也会起作用</a:t>
            </a:r>
            <a:r>
              <a:rPr lang="en-US" altLang="zh-CN">
                <a:ea typeface="宋体" panose="02010600030101010101" pitchFamily="2" charset="-122"/>
              </a:rPr>
              <a:t>。 </a:t>
            </a:r>
          </a:p>
          <a:p>
            <a:r>
              <a:rPr lang="en-US" altLang="zh-CN">
                <a:ea typeface="宋体" panose="02010600030101010101" pitchFamily="2" charset="-122"/>
              </a:rPr>
              <a:t>您</a:t>
            </a:r>
            <a:r>
              <a:rPr lang="en-US" altLang="zh-CN" b="1">
                <a:ea typeface="宋体" panose="02010600030101010101" pitchFamily="2" charset="-122"/>
              </a:rPr>
              <a:t>不</a:t>
            </a:r>
            <a:r>
              <a:rPr lang="en-US" altLang="zh-CN">
                <a:ea typeface="宋体" panose="02010600030101010101" pitchFamily="2" charset="-122"/>
              </a:rPr>
              <a:t>需要找到最小的 </a:t>
            </a:r>
            <a:r>
              <a:rPr lang="en-US" altLang="zh-CN" i="1">
                <a:ea typeface="宋体" panose="02010600030101010101" pitchFamily="2" charset="-122"/>
              </a:rPr>
              <a:t>c </a:t>
            </a:r>
            <a:r>
              <a:rPr lang="en-US" altLang="zh-CN">
                <a:ea typeface="宋体" panose="02010600030101010101" pitchFamily="2" charset="-122"/>
              </a:rPr>
              <a:t>值和 </a:t>
            </a:r>
            <a:r>
              <a:rPr lang="en-US" altLang="zh-CN" i="1">
                <a:ea typeface="宋体" panose="02010600030101010101" pitchFamily="2" charset="-122"/>
              </a:rPr>
              <a:t>k </a:t>
            </a:r>
            <a:r>
              <a:rPr lang="en-US" altLang="zh-CN">
                <a:ea typeface="宋体" panose="02010600030101010101" pitchFamily="2" charset="-122"/>
              </a:rPr>
              <a:t>值。  (事实上，在某些情况下，可能没有最小值！）。</a:t>
            </a:r>
          </a:p>
        </p:txBody>
      </p:sp>
      <p:sp>
        <p:nvSpPr>
          <p:cNvPr id="13317" name="Text Box 4"/>
          <p:cNvSpPr txBox="1">
            <a:spLocks noChangeArrowheads="1"/>
          </p:cNvSpPr>
          <p:nvPr/>
        </p:nvSpPr>
        <p:spPr bwMode="auto">
          <a:xfrm>
            <a:off x="914400" y="6219825"/>
            <a:ext cx="8099425" cy="485775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不过，你应该</a:t>
            </a:r>
            <a:r>
              <a:rPr lang="en-US" altLang="zh-CN" sz="2400" b="1">
                <a:latin typeface="Times New Roman" panose="02020603050405020304" pitchFamily="18" charset="0"/>
              </a:rPr>
              <a:t>证明</a:t>
            </a:r>
            <a:r>
              <a:rPr lang="en-US" altLang="zh-CN" sz="2400">
                <a:latin typeface="Times New Roman" panose="02020603050405020304" pitchFamily="18" charset="0"/>
              </a:rPr>
              <a:t>你选择的值确实有效。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177DF0B-99C9-48CB-8A28-BF77662FBEBB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83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"大 O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>
                <a:ea typeface="宋体" panose="02010600030101010101" pitchFamily="2" charset="-122"/>
              </a:rPr>
              <a:t>证明示例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419225"/>
            <a:ext cx="8534400" cy="4879975"/>
          </a:xfrm>
        </p:spPr>
        <p:txBody>
          <a:bodyPr/>
          <a:lstStyle/>
          <a:p>
            <a:r>
              <a:rPr lang="en-US" altLang="zh-CN" dirty="0" err="1">
                <a:ea typeface="宋体" panose="02010600030101010101" pitchFamily="2" charset="-122"/>
              </a:rPr>
              <a:t>证明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i="1" dirty="0">
                <a:ea typeface="宋体" panose="02010600030101010101" pitchFamily="2" charset="-122"/>
              </a:rPr>
              <a:t>30n+8 </a:t>
            </a:r>
            <a:r>
              <a:rPr lang="en-US" altLang="zh-CN" dirty="0" err="1">
                <a:ea typeface="宋体" panose="02010600030101010101" pitchFamily="2" charset="-122"/>
              </a:rPr>
              <a:t>是</a:t>
            </a:r>
            <a:r>
              <a:rPr lang="en-US" altLang="zh-CN" dirty="0">
                <a:ea typeface="宋体" panose="02010600030101010101" pitchFamily="2" charset="-122"/>
              </a:rPr>
              <a:t> O(</a:t>
            </a:r>
            <a:r>
              <a:rPr lang="en-US" altLang="zh-CN" i="1" dirty="0">
                <a:ea typeface="宋体" panose="02010600030101010101" pitchFamily="2" charset="-122"/>
              </a:rPr>
              <a:t>n</a:t>
            </a:r>
            <a:r>
              <a:rPr lang="en-US" altLang="zh-CN" dirty="0">
                <a:ea typeface="宋体" panose="02010600030101010101" pitchFamily="2" charset="-122"/>
              </a:rPr>
              <a:t>)。</a:t>
            </a:r>
          </a:p>
          <a:p>
            <a:pPr lvl="1"/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显示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n&gt;k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：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30n+8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 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cn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  <a:p>
            <a:pPr marL="914400" lvl="2" indent="0">
              <a:buFont typeface="Wingdings" panose="05000000000000000000" pitchFamily="2" charset="2"/>
              <a:buNone/>
            </a:pPr>
            <a:r>
              <a:rPr lang="en-US" altLang="zh-CN" sz="2800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假设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c=31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k=8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。  </a:t>
            </a:r>
            <a:r>
              <a:rPr lang="en-US" altLang="zh-CN" sz="2800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假设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n&gt;k=8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。  </a:t>
            </a:r>
            <a:r>
              <a:rPr lang="en-US" altLang="zh-CN" sz="2800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那么</a:t>
            </a:r>
            <a:b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2800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cn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31n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30n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&gt;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30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n+8，所以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30n+8 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&lt; </a:t>
            </a:r>
            <a:r>
              <a:rPr lang="en-US" altLang="zh-CN" sz="2800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cn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证明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i="1" dirty="0">
                <a:ea typeface="宋体" panose="02010600030101010101" pitchFamily="2" charset="-122"/>
              </a:rPr>
              <a:t>n</a:t>
            </a:r>
            <a:r>
              <a:rPr lang="en-US" altLang="zh-CN" baseline="30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+1 </a:t>
            </a:r>
            <a:r>
              <a:rPr lang="en-US" altLang="zh-CN" dirty="0" err="1">
                <a:ea typeface="宋体" panose="02010600030101010101" pitchFamily="2" charset="-122"/>
              </a:rPr>
              <a:t>是</a:t>
            </a:r>
            <a:r>
              <a:rPr lang="en-US" altLang="zh-CN" dirty="0">
                <a:ea typeface="宋体" panose="02010600030101010101" pitchFamily="2" charset="-122"/>
              </a:rPr>
              <a:t> O(</a:t>
            </a:r>
            <a:r>
              <a:rPr lang="en-US" altLang="zh-CN" i="1" dirty="0">
                <a:ea typeface="宋体" panose="02010600030101010101" pitchFamily="2" charset="-122"/>
              </a:rPr>
              <a:t>n</a:t>
            </a:r>
            <a:r>
              <a:rPr lang="en-US" altLang="zh-CN" baseline="30000" dirty="0">
                <a:ea typeface="宋体" panose="02010600030101010101" pitchFamily="2" charset="-122"/>
              </a:rPr>
              <a:t>2</a:t>
            </a:r>
            <a:r>
              <a:rPr lang="en-US" altLang="zh-CN" dirty="0">
                <a:ea typeface="宋体" panose="02010600030101010101" pitchFamily="2" charset="-122"/>
              </a:rPr>
              <a:t> ).</a:t>
            </a:r>
          </a:p>
          <a:p>
            <a:pPr lvl="1"/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显示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n&gt;k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en-US" altLang="zh-CN" b="1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 +1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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cn</a:t>
            </a:r>
            <a:r>
              <a:rPr lang="en-US" altLang="zh-CN" b="1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。</a:t>
            </a:r>
            <a:endParaRPr lang="en-US" altLang="zh-CN" b="1" baseline="30000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lvl="1"/>
            <a:r>
              <a:rPr lang="en-US" altLang="zh-CN" sz="2800" b="1" dirty="0" err="1">
                <a:solidFill>
                  <a:srgbClr val="000000"/>
                </a:solidFill>
                <a:ea typeface="宋体" panose="02010600030101010101" pitchFamily="2" charset="-122"/>
              </a:rPr>
              <a:t>假设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c=2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，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k=1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。  </a:t>
            </a:r>
            <a:r>
              <a:rPr lang="en-US" altLang="zh-CN" sz="2800" b="1" dirty="0" err="1">
                <a:solidFill>
                  <a:srgbClr val="000000"/>
                </a:solidFill>
                <a:ea typeface="宋体" panose="02010600030101010101" pitchFamily="2" charset="-122"/>
              </a:rPr>
              <a:t>假设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n&gt;1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，则 </a:t>
            </a:r>
            <a:b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</a:b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cn</a:t>
            </a:r>
            <a:r>
              <a:rPr lang="en-US" altLang="zh-CN" sz="2800" b="1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 =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2n</a:t>
            </a:r>
            <a:r>
              <a:rPr lang="en-US" altLang="zh-CN" sz="2800" b="1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 =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800" b="1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 +n</a:t>
            </a:r>
            <a:r>
              <a:rPr lang="en-US" altLang="zh-CN" sz="2800" b="1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 &gt;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800" b="1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 +1, </a:t>
            </a:r>
            <a:r>
              <a:rPr lang="en-US" altLang="zh-CN" sz="2800" b="1" dirty="0" err="1">
                <a:solidFill>
                  <a:srgbClr val="000000"/>
                </a:solidFill>
                <a:ea typeface="宋体" panose="02010600030101010101" pitchFamily="2" charset="-122"/>
              </a:rPr>
              <a:t>或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800" b="1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b="1" dirty="0">
                <a:solidFill>
                  <a:srgbClr val="000000"/>
                </a:solidFill>
                <a:ea typeface="宋体" panose="02010600030101010101" pitchFamily="2" charset="-122"/>
              </a:rPr>
              <a:t> +1&lt; </a:t>
            </a:r>
            <a:r>
              <a:rPr lang="en-US" altLang="zh-CN" sz="2800" b="1" i="1" dirty="0" err="1">
                <a:solidFill>
                  <a:srgbClr val="000000"/>
                </a:solidFill>
                <a:ea typeface="宋体" panose="02010600030101010101" pitchFamily="2" charset="-122"/>
              </a:rPr>
              <a:t>cn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b="1" i="1" dirty="0">
                <a:solidFill>
                  <a:srgbClr val="000000"/>
                </a:solidFill>
                <a:ea typeface="宋体" panose="02010600030101010101" pitchFamily="2" charset="-122"/>
              </a:rPr>
              <a:t>。</a:t>
            </a:r>
            <a:endParaRPr lang="en-US" altLang="zh-CN" sz="2800" b="1" baseline="3000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638563D3-DEE9-478C-9F8F-045AEDC529E1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84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z="2800" b="1">
                <a:ea typeface="宋体" panose="02010600030101010101" pitchFamily="2" charset="-122"/>
              </a:rPr>
              <a:t>注意 </a:t>
            </a:r>
            <a:r>
              <a:rPr lang="en-US" altLang="zh-CN" sz="2800" b="1" i="1">
                <a:ea typeface="宋体" panose="02010600030101010101" pitchFamily="2" charset="-122"/>
              </a:rPr>
              <a:t>30n+8 </a:t>
            </a:r>
            <a:r>
              <a:rPr lang="en-US" altLang="zh-CN" sz="2800" b="1">
                <a:ea typeface="宋体" panose="02010600030101010101" pitchFamily="2" charset="-122"/>
              </a:rPr>
              <a:t>并非</a:t>
            </a:r>
            <a:br>
              <a:rPr lang="en-US" altLang="zh-CN" sz="2800" b="1">
                <a:ea typeface="宋体" panose="02010600030101010101" pitchFamily="2" charset="-122"/>
              </a:rPr>
            </a:br>
            <a:r>
              <a:rPr lang="zh-CN" altLang="en-US" sz="2800" b="1">
                <a:ea typeface="宋体" panose="02010600030101010101" pitchFamily="2" charset="-122"/>
              </a:rPr>
              <a:t>一直</a:t>
            </a:r>
            <a:r>
              <a:rPr lang="en-US" altLang="zh-CN" sz="2800" b="1">
                <a:ea typeface="宋体" panose="02010600030101010101" pitchFamily="2" charset="-122"/>
              </a:rPr>
              <a:t>小于 </a:t>
            </a:r>
            <a:r>
              <a:rPr lang="en-US" altLang="zh-CN" sz="2800" b="1" i="1">
                <a:ea typeface="宋体" panose="02010600030101010101" pitchFamily="2" charset="-122"/>
              </a:rPr>
              <a:t>n</a:t>
            </a:r>
            <a:r>
              <a:rPr lang="en-US" altLang="zh-CN" sz="2800" b="1">
                <a:ea typeface="宋体" panose="02010600030101010101" pitchFamily="2" charset="-122"/>
              </a:rPr>
              <a:t>（</a:t>
            </a:r>
            <a:r>
              <a:rPr lang="en-US" altLang="zh-CN" sz="2800" b="1" i="1">
                <a:ea typeface="宋体" panose="02010600030101010101" pitchFamily="2" charset="-122"/>
              </a:rPr>
              <a:t>n&gt;0</a:t>
            </a:r>
            <a:r>
              <a:rPr lang="en-US" altLang="zh-CN" sz="2800" b="1">
                <a:ea typeface="宋体" panose="02010600030101010101" pitchFamily="2" charset="-122"/>
              </a:rPr>
              <a:t>）。</a:t>
            </a:r>
          </a:p>
          <a:p>
            <a:r>
              <a:rPr lang="en-US" altLang="zh-CN" sz="2800" b="1">
                <a:ea typeface="宋体" panose="02010600030101010101" pitchFamily="2" charset="-122"/>
              </a:rPr>
              <a:t>甚至</a:t>
            </a:r>
            <a:r>
              <a:rPr lang="zh-CN" altLang="en-US" sz="2800" b="1">
                <a:ea typeface="宋体" panose="02010600030101010101" pitchFamily="2" charset="-122"/>
              </a:rPr>
              <a:t>均</a:t>
            </a:r>
            <a:br>
              <a:rPr lang="en-US" altLang="zh-CN" sz="2800" b="1">
                <a:ea typeface="宋体" panose="02010600030101010101" pitchFamily="2" charset="-122"/>
              </a:rPr>
            </a:br>
            <a:r>
              <a:rPr lang="en-US" altLang="zh-CN" sz="2800" b="1">
                <a:ea typeface="宋体" panose="02010600030101010101" pitchFamily="2" charset="-122"/>
              </a:rPr>
              <a:t>小于 </a:t>
            </a:r>
            <a:r>
              <a:rPr lang="en-US" altLang="zh-CN" sz="2800" b="1" i="1">
                <a:ea typeface="宋体" panose="02010600030101010101" pitchFamily="2" charset="-122"/>
              </a:rPr>
              <a:t>31n</a:t>
            </a:r>
            <a:br>
              <a:rPr lang="en-US" altLang="zh-CN" sz="2800" b="1">
                <a:ea typeface="宋体" panose="02010600030101010101" pitchFamily="2" charset="-122"/>
              </a:rPr>
            </a:br>
            <a:endParaRPr lang="en-US" altLang="zh-CN" sz="2800" b="1">
              <a:ea typeface="宋体" panose="02010600030101010101" pitchFamily="2" charset="-122"/>
            </a:endParaRPr>
          </a:p>
          <a:p>
            <a:r>
              <a:rPr lang="en-US" altLang="zh-CN" sz="2800" b="1">
                <a:ea typeface="宋体" panose="02010600030101010101" pitchFamily="2" charset="-122"/>
              </a:rPr>
              <a:t>但它在</a:t>
            </a:r>
            <a:br>
              <a:rPr lang="en-US" altLang="zh-CN" sz="2800" b="1">
                <a:ea typeface="宋体" panose="02010600030101010101" pitchFamily="2" charset="-122"/>
              </a:rPr>
            </a:br>
            <a:r>
              <a:rPr lang="en-US" altLang="zh-CN" sz="2800" b="1" i="1">
                <a:ea typeface="宋体" panose="02010600030101010101" pitchFamily="2" charset="-122"/>
              </a:rPr>
              <a:t>31n</a:t>
            </a:r>
            <a:br>
              <a:rPr lang="en-US" altLang="zh-CN" sz="2800" b="1" u="sng">
                <a:ea typeface="宋体" panose="02010600030101010101" pitchFamily="2" charset="-122"/>
              </a:rPr>
            </a:br>
            <a:r>
              <a:rPr lang="en-US" altLang="zh-CN" sz="2800" b="1" u="sng">
                <a:ea typeface="宋体" panose="02010600030101010101" pitchFamily="2" charset="-122"/>
              </a:rPr>
              <a:t>的右边都小于 31n</a:t>
            </a:r>
            <a:r>
              <a:rPr lang="en-US" altLang="zh-CN" sz="2800">
                <a:ea typeface="宋体" panose="02010600030101010101" pitchFamily="2" charset="-122"/>
              </a:rPr>
              <a:t>。 </a:t>
            </a:r>
          </a:p>
        </p:txBody>
      </p:sp>
      <p:grpSp>
        <p:nvGrpSpPr>
          <p:cNvPr id="15364" name="Group 3"/>
          <p:cNvGrpSpPr/>
          <p:nvPr/>
        </p:nvGrpSpPr>
        <p:grpSpPr bwMode="auto">
          <a:xfrm>
            <a:off x="5410200" y="2209800"/>
            <a:ext cx="2057400" cy="3200400"/>
            <a:chOff x="0" y="0"/>
            <a:chExt cx="1296" cy="2016"/>
          </a:xfrm>
        </p:grpSpPr>
        <p:sp>
          <p:nvSpPr>
            <p:cNvPr id="15378" name="Rectangle 4"/>
            <p:cNvSpPr>
              <a:spLocks noChangeArrowheads="1"/>
            </p:cNvSpPr>
            <p:nvPr/>
          </p:nvSpPr>
          <p:spPr bwMode="auto">
            <a:xfrm>
              <a:off x="0" y="0"/>
              <a:ext cx="1296" cy="2016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15379" name="Line 5"/>
            <p:cNvSpPr>
              <a:spLocks noChangeShapeType="1"/>
            </p:cNvSpPr>
            <p:nvPr/>
          </p:nvSpPr>
          <p:spPr bwMode="auto">
            <a:xfrm flipV="1">
              <a:off x="0" y="0"/>
              <a:ext cx="0" cy="201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0" name="Text Box 6"/>
            <p:cNvSpPr txBox="1">
              <a:spLocks noChangeArrowheads="1"/>
            </p:cNvSpPr>
            <p:nvPr/>
          </p:nvSpPr>
          <p:spPr bwMode="auto">
            <a:xfrm>
              <a:off x="0" y="1680"/>
              <a:ext cx="86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n&gt;k=8 </a:t>
              </a:r>
              <a:r>
                <a:rPr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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15365" name="Rectangle 7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图解大 O 示例</a:t>
            </a:r>
          </a:p>
        </p:txBody>
      </p:sp>
      <p:sp>
        <p:nvSpPr>
          <p:cNvPr id="15366" name="Line 8"/>
          <p:cNvSpPr>
            <a:spLocks noChangeShapeType="1"/>
          </p:cNvSpPr>
          <p:nvPr/>
        </p:nvSpPr>
        <p:spPr bwMode="auto">
          <a:xfrm flipV="1">
            <a:off x="4572000" y="2209800"/>
            <a:ext cx="0" cy="3200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7" name="Line 9"/>
          <p:cNvSpPr>
            <a:spLocks noChangeShapeType="1"/>
          </p:cNvSpPr>
          <p:nvPr/>
        </p:nvSpPr>
        <p:spPr bwMode="auto">
          <a:xfrm>
            <a:off x="4572000" y="5410200"/>
            <a:ext cx="2971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8" name="Line 10"/>
          <p:cNvSpPr>
            <a:spLocks noChangeShapeType="1"/>
          </p:cNvSpPr>
          <p:nvPr/>
        </p:nvSpPr>
        <p:spPr bwMode="auto">
          <a:xfrm flipV="1">
            <a:off x="4572000" y="2209800"/>
            <a:ext cx="2209800" cy="2895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69" name="Text Box 11"/>
          <p:cNvSpPr txBox="1">
            <a:spLocks noChangeArrowheads="1"/>
          </p:cNvSpPr>
          <p:nvPr/>
        </p:nvSpPr>
        <p:spPr bwMode="auto">
          <a:xfrm>
            <a:off x="5181600" y="54102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增加 </a:t>
            </a:r>
            <a:r>
              <a:rPr lang="en-US" altLang="zh-CN" sz="2400" i="1">
                <a:latin typeface="Times New Roman" panose="02020603050405020304" pitchFamily="18" charset="0"/>
              </a:rPr>
              <a:t>n </a:t>
            </a: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15370" name="Text Box 12"/>
          <p:cNvSpPr txBox="1">
            <a:spLocks noChangeArrowheads="1"/>
          </p:cNvSpPr>
          <p:nvPr/>
        </p:nvSpPr>
        <p:spPr bwMode="auto">
          <a:xfrm rot="-5400000">
            <a:off x="2989262" y="3716338"/>
            <a:ext cx="2708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函数值 </a:t>
            </a: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15371" name="Line 13"/>
          <p:cNvSpPr>
            <a:spLocks noChangeShapeType="1"/>
          </p:cNvSpPr>
          <p:nvPr/>
        </p:nvSpPr>
        <p:spPr bwMode="auto">
          <a:xfrm flipV="1">
            <a:off x="4572000" y="3886200"/>
            <a:ext cx="2819400" cy="1524000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2" name="Text Box 14"/>
          <p:cNvSpPr txBox="1">
            <a:spLocks noChangeArrowheads="1"/>
          </p:cNvSpPr>
          <p:nvPr/>
        </p:nvSpPr>
        <p:spPr bwMode="auto">
          <a:xfrm>
            <a:off x="6934200" y="3962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i="1">
                <a:solidFill>
                  <a:srgbClr val="006600"/>
                </a:solidFill>
                <a:latin typeface="Times New Roman" panose="02020603050405020304" pitchFamily="18" charset="0"/>
              </a:rPr>
              <a:t>n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15373" name="Text Box 15"/>
          <p:cNvSpPr txBox="1">
            <a:spLocks noChangeArrowheads="1"/>
          </p:cNvSpPr>
          <p:nvPr/>
        </p:nvSpPr>
        <p:spPr bwMode="auto">
          <a:xfrm>
            <a:off x="6324600" y="25146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30n+8</a:t>
            </a:r>
          </a:p>
        </p:txBody>
      </p:sp>
      <p:grpSp>
        <p:nvGrpSpPr>
          <p:cNvPr id="15377" name="Group 16"/>
          <p:cNvGrpSpPr/>
          <p:nvPr/>
        </p:nvGrpSpPr>
        <p:grpSpPr bwMode="auto">
          <a:xfrm>
            <a:off x="4572000" y="2133600"/>
            <a:ext cx="1905000" cy="3276600"/>
            <a:chOff x="0" y="0"/>
            <a:chExt cx="1200" cy="2064"/>
          </a:xfrm>
        </p:grpSpPr>
        <p:sp>
          <p:nvSpPr>
            <p:cNvPr id="15376" name="Line 17"/>
            <p:cNvSpPr>
              <a:spLocks noChangeShapeType="1"/>
            </p:cNvSpPr>
            <p:nvPr/>
          </p:nvSpPr>
          <p:spPr bwMode="auto">
            <a:xfrm flipV="1">
              <a:off x="0" y="48"/>
              <a:ext cx="1200" cy="201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" name="Text Box 18"/>
            <p:cNvSpPr txBox="1">
              <a:spLocks noChangeArrowheads="1"/>
            </p:cNvSpPr>
            <p:nvPr/>
          </p:nvSpPr>
          <p:spPr bwMode="auto">
            <a:xfrm>
              <a:off x="480" y="0"/>
              <a:ext cx="624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r>
                <a:rPr lang="en-US" altLang="zh-CN" sz="2400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cn </a:t>
              </a:r>
              <a:r>
                <a:rPr lang="en-US" altLang="zh-CN" sz="2400">
                  <a:solidFill>
                    <a:schemeClr val="accent2"/>
                  </a:solidFill>
                  <a:latin typeface="Times New Roman" panose="02020603050405020304" pitchFamily="18" charset="0"/>
                </a:rPr>
                <a:t>=</a:t>
              </a:r>
              <a:br>
                <a:rPr lang="en-US" altLang="zh-CN" sz="2400">
                  <a:solidFill>
                    <a:schemeClr val="accent2"/>
                  </a:solidFill>
                  <a:latin typeface="Times New Roman" panose="02020603050405020304" pitchFamily="18" charset="0"/>
                </a:rPr>
              </a:br>
              <a:r>
                <a:rPr lang="en-US" altLang="zh-CN" sz="2400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31n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3" name="Text Box 19"/>
          <p:cNvSpPr txBox="1">
            <a:spLocks noChangeArrowheads="1"/>
          </p:cNvSpPr>
          <p:nvPr/>
        </p:nvSpPr>
        <p:spPr bwMode="auto">
          <a:xfrm>
            <a:off x="7543800" y="3455988"/>
            <a:ext cx="1447800" cy="1241425"/>
          </a:xfrm>
          <a:prstGeom prst="rect">
            <a:avLst/>
          </a:prstGeom>
          <a:solidFill>
            <a:schemeClr val="bg1"/>
          </a:solidFill>
          <a:ln w="50800">
            <a:solidFill>
              <a:schemeClr val="tx1"/>
            </a:solidFill>
            <a:miter lim="800000"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 typeface="Arial" panose="020B0604020202020204" pitchFamily="34" charset="0"/>
              <a:buNone/>
            </a:pPr>
            <a:r>
              <a:rPr lang="en-US" altLang="zh-CN" sz="3600">
                <a:latin typeface="Times New Roman" panose="02020603050405020304" pitchFamily="18" charset="0"/>
              </a:rPr>
              <a:t>30n+8</a:t>
            </a:r>
            <a:br>
              <a:rPr lang="en-US" altLang="zh-CN" sz="3600">
                <a:latin typeface="Times New Roman" panose="02020603050405020304" pitchFamily="18" charset="0"/>
              </a:rPr>
            </a:br>
            <a:r>
              <a:rPr lang="en-US" altLang="zh-CN" sz="3600">
                <a:latin typeface="Times New Roman" panose="02020603050405020304" pitchFamily="18" charset="0"/>
                <a:sym typeface="Symbol" panose="05050102010706020507" pitchFamily="18" charset="2"/>
              </a:rPr>
              <a:t>O(</a:t>
            </a:r>
            <a:r>
              <a:rPr lang="en-US" altLang="zh-CN" sz="3600" i="1">
                <a:solidFill>
                  <a:srgbClr val="0066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3600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84E734B8-C230-4C02-96D9-020611CAADDC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85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关于大 O 的实用信息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724025"/>
            <a:ext cx="8458200" cy="4219575"/>
          </a:xfrm>
        </p:spPr>
        <p:txBody>
          <a:bodyPr/>
          <a:lstStyle/>
          <a:p>
            <a:r>
              <a:rPr lang="en-US" altLang="zh-CN" dirty="0" err="1">
                <a:ea typeface="宋体" panose="02010600030101010101" pitchFamily="2" charset="-122"/>
              </a:rPr>
              <a:t>大</a:t>
            </a:r>
            <a:r>
              <a:rPr lang="en-US" altLang="zh-CN" dirty="0">
                <a:ea typeface="宋体" panose="02010600030101010101" pitchFamily="2" charset="-122"/>
              </a:rPr>
              <a:t> O </a:t>
            </a:r>
            <a:r>
              <a:rPr lang="en-US" altLang="zh-CN" dirty="0" err="1">
                <a:ea typeface="宋体" panose="02010600030101010101" pitchFamily="2" charset="-122"/>
              </a:rPr>
              <a:t>作为一种关系，具有传递性</a:t>
            </a:r>
            <a:r>
              <a:rPr lang="en-US" altLang="zh-CN" dirty="0">
                <a:ea typeface="宋体" panose="02010600030101010101" pitchFamily="2" charset="-122"/>
              </a:rPr>
              <a:t>： 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fO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i="1" dirty="0">
                <a:ea typeface="宋体" panose="02010600030101010101" pitchFamily="2" charset="-122"/>
              </a:rPr>
              <a:t>g</a:t>
            </a:r>
            <a:r>
              <a:rPr lang="en-US" altLang="zh-CN" dirty="0">
                <a:ea typeface="宋体" panose="02010600030101010101" pitchFamily="2" charset="-122"/>
              </a:rPr>
              <a:t>)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gO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i="1" dirty="0">
                <a:ea typeface="宋体" panose="02010600030101010101" pitchFamily="2" charset="-122"/>
              </a:rPr>
              <a:t>h</a:t>
            </a:r>
            <a:r>
              <a:rPr lang="en-US" altLang="zh-CN" dirty="0">
                <a:ea typeface="宋体" panose="02010600030101010101" pitchFamily="2" charset="-122"/>
              </a:rPr>
              <a:t>)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fO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i="1" dirty="0">
                <a:ea typeface="宋体" panose="02010600030101010101" pitchFamily="2" charset="-122"/>
              </a:rPr>
              <a:t>h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  <a:p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O 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与常数倍数、根和对数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...</a:t>
            </a:r>
            <a:b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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f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(in (1)) &amp; constants </a:t>
            </a:r>
            <a:r>
              <a:rPr lang="en-US" altLang="zh-CN" i="1" dirty="0" err="1">
                <a:ea typeface="宋体" panose="02010600030101010101" pitchFamily="2" charset="-122"/>
              </a:rPr>
              <a:t>a</a:t>
            </a:r>
            <a:r>
              <a:rPr lang="en-US" altLang="zh-CN" dirty="0" err="1">
                <a:ea typeface="宋体" panose="02010600030101010101" pitchFamily="2" charset="-122"/>
              </a:rPr>
              <a:t>,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bR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, with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0、</a:t>
            </a:r>
            <a:b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i="1" dirty="0" err="1">
                <a:ea typeface="宋体" panose="02010600030101010101" pitchFamily="2" charset="-122"/>
              </a:rPr>
              <a:t>af</a:t>
            </a:r>
            <a:r>
              <a:rPr lang="en-US" altLang="zh-CN" dirty="0">
                <a:ea typeface="宋体" panose="02010600030101010101" pitchFamily="2" charset="-122"/>
              </a:rPr>
              <a:t>, </a:t>
            </a:r>
            <a:r>
              <a:rPr lang="en-US" altLang="zh-CN" i="1" dirty="0">
                <a:ea typeface="宋体" panose="02010600030101010101" pitchFamily="2" charset="-122"/>
              </a:rPr>
              <a:t>f</a:t>
            </a:r>
            <a:r>
              <a:rPr lang="en-US" altLang="zh-CN" baseline="30000" dirty="0">
                <a:ea typeface="宋体" panose="02010600030101010101" pitchFamily="2" charset="-122"/>
              </a:rPr>
              <a:t>1-</a:t>
            </a:r>
            <a:r>
              <a:rPr lang="en-US" altLang="zh-CN" i="1" baseline="30000" dirty="0">
                <a:ea typeface="宋体" panose="02010600030101010101" pitchFamily="2" charset="-122"/>
              </a:rPr>
              <a:t>b</a:t>
            </a:r>
            <a:r>
              <a:rPr lang="en-US" altLang="zh-CN" dirty="0">
                <a:ea typeface="宋体" panose="02010600030101010101" pitchFamily="2" charset="-122"/>
              </a:rPr>
              <a:t> , </a:t>
            </a:r>
            <a:r>
              <a:rPr lang="en-US" altLang="zh-CN" dirty="0" err="1">
                <a:ea typeface="宋体" panose="02010600030101010101" pitchFamily="2" charset="-122"/>
              </a:rPr>
              <a:t>和</a:t>
            </a:r>
            <a:r>
              <a:rPr lang="en-US" altLang="zh-CN" dirty="0">
                <a:ea typeface="宋体" panose="02010600030101010101" pitchFamily="2" charset="-122"/>
              </a:rPr>
              <a:t> (</a:t>
            </a:r>
            <a:r>
              <a:rPr lang="en-US" altLang="zh-CN" dirty="0" err="1">
                <a:ea typeface="宋体" panose="02010600030101010101" pitchFamily="2" charset="-122"/>
              </a:rPr>
              <a:t>log</a:t>
            </a:r>
            <a:r>
              <a:rPr lang="en-US" altLang="zh-CN" i="1" baseline="-25000" dirty="0" err="1">
                <a:ea typeface="宋体" panose="02010600030101010101" pitchFamily="2" charset="-122"/>
              </a:rPr>
              <a:t>b</a:t>
            </a:r>
            <a:r>
              <a:rPr lang="en-US" altLang="zh-CN" i="1" dirty="0">
                <a:ea typeface="宋体" panose="02010600030101010101" pitchFamily="2" charset="-122"/>
              </a:rPr>
              <a:t> f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  <a:r>
              <a:rPr lang="en-US" altLang="zh-CN" i="1" baseline="30000" dirty="0">
                <a:ea typeface="宋体" panose="02010600030101010101" pitchFamily="2" charset="-122"/>
              </a:rPr>
              <a:t>a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ea typeface="宋体" panose="02010600030101010101" pitchFamily="2" charset="-122"/>
              </a:rPr>
              <a:t>都是</a:t>
            </a:r>
            <a:r>
              <a:rPr lang="en-US" altLang="zh-CN" dirty="0">
                <a:ea typeface="宋体" panose="02010600030101010101" pitchFamily="2" charset="-122"/>
              </a:rPr>
              <a:t> O(</a:t>
            </a:r>
            <a:r>
              <a:rPr lang="en-US" altLang="zh-CN" i="1" dirty="0">
                <a:ea typeface="宋体" panose="02010600030101010101" pitchFamily="2" charset="-122"/>
              </a:rPr>
              <a:t>f</a:t>
            </a:r>
            <a:r>
              <a:rPr lang="en-US" altLang="zh-CN" dirty="0">
                <a:ea typeface="宋体" panose="02010600030101010101" pitchFamily="2" charset="-122"/>
              </a:rPr>
              <a:t>)。</a:t>
            </a:r>
          </a:p>
          <a:p>
            <a:r>
              <a:rPr lang="en-US" altLang="zh-CN" dirty="0" err="1">
                <a:ea typeface="宋体" panose="02010600030101010101" pitchFamily="2" charset="-122"/>
              </a:rPr>
              <a:t>函数之和</a:t>
            </a:r>
            <a:r>
              <a:rPr lang="en-US" altLang="zh-CN" dirty="0">
                <a:ea typeface="宋体" panose="02010600030101010101" pitchFamily="2" charset="-122"/>
              </a:rPr>
              <a:t>：</a:t>
            </a:r>
            <a:br>
              <a:rPr lang="en-US" altLang="zh-CN" dirty="0">
                <a:ea typeface="宋体" panose="02010600030101010101" pitchFamily="2" charset="-122"/>
              </a:rPr>
            </a:br>
            <a:r>
              <a:rPr lang="en-US" altLang="zh-CN" dirty="0" err="1">
                <a:ea typeface="宋体" panose="02010600030101010101" pitchFamily="2" charset="-122"/>
              </a:rPr>
              <a:t>如果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gO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i="1" dirty="0">
                <a:ea typeface="宋体" panose="02010600030101010101" pitchFamily="2" charset="-122"/>
              </a:rPr>
              <a:t>f</a:t>
            </a:r>
            <a:r>
              <a:rPr lang="en-US" altLang="zh-CN" dirty="0">
                <a:ea typeface="宋体" panose="02010600030101010101" pitchFamily="2" charset="-122"/>
              </a:rPr>
              <a:t>) </a:t>
            </a:r>
            <a:r>
              <a:rPr lang="en-US" altLang="zh-CN" dirty="0" err="1">
                <a:ea typeface="宋体" panose="02010600030101010101" pitchFamily="2" charset="-122"/>
              </a:rPr>
              <a:t>和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hO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i="1" dirty="0">
                <a:ea typeface="宋体" panose="02010600030101010101" pitchFamily="2" charset="-122"/>
              </a:rPr>
              <a:t>f</a:t>
            </a:r>
            <a:r>
              <a:rPr lang="en-US" altLang="zh-CN" dirty="0">
                <a:ea typeface="宋体" panose="02010600030101010101" pitchFamily="2" charset="-122"/>
              </a:rPr>
              <a:t>), </a:t>
            </a:r>
            <a:r>
              <a:rPr lang="en-US" altLang="zh-CN" dirty="0" err="1">
                <a:ea typeface="宋体" panose="02010600030101010101" pitchFamily="2" charset="-122"/>
              </a:rPr>
              <a:t>那么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  <a:r>
              <a:rPr lang="en-US" altLang="zh-CN" dirty="0" err="1">
                <a:ea typeface="宋体" panose="02010600030101010101" pitchFamily="2" charset="-122"/>
                <a:sym typeface="Symbol" panose="05050102010706020507" pitchFamily="18" charset="2"/>
              </a:rPr>
              <a:t>g+hO</a:t>
            </a:r>
            <a:r>
              <a:rPr lang="en-US" altLang="zh-CN" dirty="0">
                <a:ea typeface="宋体" panose="02010600030101010101" pitchFamily="2" charset="-122"/>
              </a:rPr>
              <a:t>(</a:t>
            </a:r>
            <a:r>
              <a:rPr lang="en-US" altLang="zh-CN" i="1" dirty="0">
                <a:ea typeface="宋体" panose="02010600030101010101" pitchFamily="2" charset="-122"/>
              </a:rPr>
              <a:t>f</a:t>
            </a:r>
            <a:r>
              <a:rPr lang="en-US" altLang="zh-CN" dirty="0">
                <a:ea typeface="宋体" panose="02010600030101010101" pitchFamily="2" charset="-122"/>
              </a:rPr>
              <a:t>).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862B9164-7998-4E12-A001-BBEB207EF960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86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更多 Big-O 知识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c&gt;0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O(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</a:rPr>
              <a:t>cf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=O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</a:rPr>
              <a:t>f+c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)=O(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fc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=O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endParaRPr lang="en-US" altLang="zh-CN" b="1" i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en-US" altLang="zh-CN" b="1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O(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b="1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) 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en-US" altLang="zh-CN" b="1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O(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b="1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) </a:t>
            </a:r>
          </a:p>
          <a:p>
            <a:pPr lvl="1"/>
            <a:r>
              <a:rPr lang="en-US" altLang="zh-CN" sz="3200" b="1" i="1" dirty="0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en-US" altLang="zh-CN" sz="3200" b="1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3200" b="1" i="1" dirty="0">
                <a:solidFill>
                  <a:srgbClr val="000000"/>
                </a:solidFill>
                <a:ea typeface="宋体" panose="02010600030101010101" pitchFamily="2" charset="-122"/>
              </a:rPr>
              <a:t> f</a:t>
            </a:r>
            <a:r>
              <a:rPr lang="en-US" altLang="zh-CN" sz="3200" b="1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 2 </a:t>
            </a:r>
            <a:r>
              <a:rPr lang="en-US" altLang="zh-CN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O(</a:t>
            </a:r>
            <a:r>
              <a:rPr lang="en-US" altLang="zh-CN" sz="32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sz="3200" b="1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32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g</a:t>
            </a:r>
            <a:r>
              <a:rPr lang="en-US" altLang="zh-CN" sz="3200" b="1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32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3200" b="1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</a:p>
          <a:p>
            <a:pPr lvl="1"/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en-US" altLang="zh-CN" b="1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 +f</a:t>
            </a:r>
            <a:r>
              <a:rPr lang="en-US" altLang="zh-CN" b="1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2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O(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b="1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+g</a:t>
            </a:r>
            <a:r>
              <a:rPr lang="en-US" altLang="zh-CN" b="1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 2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)</a:t>
            </a:r>
            <a:br>
              <a:rPr lang="en-US" altLang="zh-CN" sz="3200" b="1" dirty="0">
                <a:solidFill>
                  <a:srgbClr val="000000"/>
                </a:solidFill>
                <a:ea typeface="宋体" panose="02010600030101010101" pitchFamily="2" charset="-122"/>
              </a:rPr>
            </a:br>
            <a:r>
              <a:rPr lang="en-US" altLang="zh-CN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= O(max(</a:t>
            </a:r>
            <a:r>
              <a:rPr lang="en-US" altLang="zh-CN" sz="32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sz="3200" b="1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32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,g</a:t>
            </a:r>
            <a:r>
              <a:rPr lang="en-US" altLang="zh-CN" b="1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 2</a:t>
            </a:r>
            <a:r>
              <a:rPr lang="en-US" altLang="zh-CN" sz="32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))</a:t>
            </a:r>
            <a:br>
              <a:rPr lang="en-US" altLang="zh-CN" sz="3200" b="1" dirty="0">
                <a:solidFill>
                  <a:srgbClr val="000000"/>
                </a:solidFill>
                <a:ea typeface="宋体" panose="02010600030101010101" pitchFamily="2" charset="-122"/>
              </a:rPr>
            </a:br>
            <a:r>
              <a:rPr lang="en-US" altLang="zh-CN" sz="3200" b="1" dirty="0">
                <a:solidFill>
                  <a:srgbClr val="000000"/>
                </a:solidFill>
                <a:ea typeface="宋体" panose="02010600030101010101" pitchFamily="2" charset="-122"/>
              </a:rPr>
              <a:t>	      = O(</a:t>
            </a:r>
            <a:r>
              <a:rPr lang="en-US" altLang="zh-CN" sz="32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sz="3200" b="1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3200" b="1" dirty="0">
                <a:solidFill>
                  <a:srgbClr val="000000"/>
                </a:solidFill>
                <a:ea typeface="宋体" panose="02010600030101010101" pitchFamily="2" charset="-122"/>
              </a:rPr>
              <a:t> ) </a:t>
            </a:r>
            <a:r>
              <a:rPr lang="en-US" altLang="zh-CN" sz="3200" b="1" dirty="0" err="1">
                <a:solidFill>
                  <a:srgbClr val="000000"/>
                </a:solidFill>
                <a:ea typeface="宋体" panose="02010600030101010101" pitchFamily="2" charset="-122"/>
              </a:rPr>
              <a:t>如果</a:t>
            </a:r>
            <a:r>
              <a:rPr lang="en-US" altLang="zh-CN" sz="3200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32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sz="3200" b="1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3200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O(</a:t>
            </a:r>
            <a:r>
              <a:rPr lang="en-US" altLang="zh-CN" sz="3200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sz="3200" b="1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sz="3200" b="1" dirty="0">
                <a:solidFill>
                  <a:srgbClr val="000000"/>
                </a:solidFill>
                <a:ea typeface="宋体" panose="02010600030101010101" pitchFamily="2" charset="-122"/>
              </a:rPr>
              <a:t> ) </a:t>
            </a:r>
          </a:p>
          <a:p>
            <a:pPr lvl="1"/>
            <a:r>
              <a:rPr lang="en-US" altLang="zh-CN" sz="3200" b="1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sz="3200" b="1" dirty="0" err="1">
                <a:solidFill>
                  <a:srgbClr val="000000"/>
                </a:solidFill>
                <a:ea typeface="宋体" panose="02010600030101010101" pitchFamily="2" charset="-122"/>
              </a:rPr>
              <a:t>非常有用</a:t>
            </a:r>
            <a:r>
              <a:rPr lang="en-US" altLang="zh-CN" sz="3200" b="1" dirty="0">
                <a:solidFill>
                  <a:srgbClr val="000000"/>
                </a:solidFill>
                <a:ea typeface="宋体" panose="02010600030101010101" pitchFamily="2" charset="-122"/>
              </a:rPr>
              <a:t>）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CA0DB50-B529-442B-A12B-0525FF72A540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87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阶的</a:t>
            </a:r>
            <a:r>
              <a:rPr lang="en-US" altLang="zh-CN">
                <a:ea typeface="宋体" panose="02010600030101010101" pitchFamily="2" charset="-122"/>
              </a:rPr>
              <a:t>增长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600200"/>
            <a:ext cx="8686800" cy="4267200"/>
          </a:xfrm>
        </p:spPr>
        <p:txBody>
          <a:bodyPr/>
          <a:lstStyle/>
          <a:p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对于任意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r>
              <a:rPr lang="en-US" altLang="zh-CN" b="1" dirty="0">
                <a:ea typeface="宋体" panose="02010600030101010101" pitchFamily="2" charset="-122"/>
              </a:rPr>
              <a:t>R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ea typeface="宋体" panose="02010600030101010101" pitchFamily="2" charset="-122"/>
              </a:rPr>
              <a:t>R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zh-CN" altLang="en-US" b="1" i="1" dirty="0">
                <a:ea typeface="宋体" panose="02010600030101010101" pitchFamily="2" charset="-122"/>
                <a:sym typeface="Symbol" panose="05050102010706020507" pitchFamily="18" charset="2"/>
              </a:rPr>
              <a:t>渐进上界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 g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"、</a:t>
            </a:r>
            <a:b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 dirty="0">
                <a:ea typeface="宋体" panose="02010600030101010101" pitchFamily="2" charset="-122"/>
              </a:rPr>
              <a:t>O(</a:t>
            </a:r>
            <a:r>
              <a:rPr lang="en-US" altLang="zh-CN" b="1" i="1" dirty="0">
                <a:ea typeface="宋体" panose="02010600030101010101" pitchFamily="2" charset="-122"/>
              </a:rPr>
              <a:t>g</a:t>
            </a:r>
            <a:r>
              <a:rPr lang="en-US" altLang="zh-CN" b="1" dirty="0">
                <a:ea typeface="宋体" panose="02010600030101010101" pitchFamily="2" charset="-122"/>
              </a:rPr>
              <a:t>)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 </a:t>
            </a:r>
            <a:r>
              <a:rPr lang="en-US" altLang="zh-CN" b="1" i="1" dirty="0">
                <a:ea typeface="宋体" panose="02010600030101010101" pitchFamily="2" charset="-122"/>
              </a:rPr>
              <a:t>{</a:t>
            </a:r>
            <a:r>
              <a:rPr lang="en-US" altLang="zh-CN" b="1" i="1" dirty="0" err="1">
                <a:ea typeface="宋体" panose="02010600030101010101" pitchFamily="2" charset="-122"/>
              </a:rPr>
              <a:t>f</a:t>
            </a:r>
            <a:r>
              <a:rPr lang="en-US" altLang="zh-CN" b="1" dirty="0" err="1">
                <a:ea typeface="宋体" panose="02010600030101010101" pitchFamily="2" charset="-122"/>
              </a:rPr>
              <a:t>:R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dirty="0">
                <a:ea typeface="宋体" panose="02010600030101010101" pitchFamily="2" charset="-122"/>
              </a:rPr>
              <a:t>R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| 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x&gt;k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 |f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)|  |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cg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)|}。</a:t>
            </a:r>
          </a:p>
          <a:p>
            <a:pPr lvl="1"/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通常，我们只处理正函数，可以忽略绝对值符号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r>
              <a:rPr lang="en-US" altLang="zh-CN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fO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通常被写成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f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is O(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) "或 "f=O(g)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b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或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"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f=O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lvl="1"/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后一种形式是一种更普遍的惯例的实例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......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79288A4B-B75F-4713-B005-11C74F8309B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88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阶的</a:t>
            </a:r>
            <a:r>
              <a:rPr lang="en-US" altLang="zh-CN">
                <a:ea typeface="宋体" panose="02010600030101010101" pitchFamily="2" charset="-122"/>
              </a:rPr>
              <a:t>增长表达式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1600200"/>
            <a:ext cx="8610600" cy="4724400"/>
          </a:xfrm>
        </p:spPr>
        <p:txBody>
          <a:bodyPr/>
          <a:lstStyle/>
          <a:p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b="1" dirty="0">
                <a:ea typeface="宋体" panose="02010600030101010101" pitchFamily="2" charset="-122"/>
              </a:rPr>
              <a:t>O(</a:t>
            </a:r>
            <a:r>
              <a:rPr lang="en-US" altLang="zh-CN" b="1" i="1" dirty="0">
                <a:ea typeface="宋体" panose="02010600030101010101" pitchFamily="2" charset="-122"/>
              </a:rPr>
              <a:t>f</a:t>
            </a:r>
            <a:r>
              <a:rPr lang="en-US" altLang="zh-CN" b="1" dirty="0">
                <a:ea typeface="宋体" panose="02010600030101010101" pitchFamily="2" charset="-122"/>
              </a:rPr>
              <a:t>)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b="1" dirty="0" err="1">
                <a:ea typeface="宋体" panose="02010600030101010101" pitchFamily="2" charset="-122"/>
              </a:rPr>
              <a:t>作为算术表达式中的一个术语是指</a:t>
            </a:r>
            <a:r>
              <a:rPr lang="en-US" altLang="zh-CN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b="1" dirty="0" err="1">
                <a:ea typeface="宋体" panose="02010600030101010101" pitchFamily="2" charset="-122"/>
              </a:rPr>
              <a:t>某个函数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  <a:r>
              <a:rPr lang="en-US" altLang="zh-CN" b="1" i="1" dirty="0" err="1">
                <a:ea typeface="宋体" panose="02010600030101010101" pitchFamily="2" charset="-122"/>
              </a:rPr>
              <a:t>f</a:t>
            </a:r>
            <a:r>
              <a:rPr lang="en-US" altLang="zh-CN" b="1" dirty="0" err="1">
                <a:ea typeface="宋体" panose="02010600030101010101" pitchFamily="2" charset="-122"/>
              </a:rPr>
              <a:t>，使得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ea typeface="宋体" panose="02010600030101010101" pitchFamily="2" charset="-122"/>
              </a:rPr>
              <a:t>f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 </a:t>
            </a:r>
            <a:r>
              <a:rPr lang="en-US" altLang="zh-CN" b="1" i="1" dirty="0">
                <a:ea typeface="宋体" panose="02010600030101010101" pitchFamily="2" charset="-122"/>
              </a:rPr>
              <a:t>O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  <a:p>
            <a:r>
              <a:rPr lang="en-US" altLang="zh-CN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例如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+O(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表示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"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 baseline="30000" dirty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加上某个为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O(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的函数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从形式上看，你可以认为任何这样的表达式都表示</a:t>
            </a:r>
            <a:r>
              <a:rPr lang="en-US" altLang="zh-CN" b="1" u="sng" dirty="0" err="1">
                <a:ea typeface="宋体" panose="02010600030101010101" pitchFamily="2" charset="-122"/>
                <a:sym typeface="Symbol" panose="05050102010706020507" pitchFamily="18" charset="2"/>
              </a:rPr>
              <a:t>一组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函数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： </a:t>
            </a:r>
          </a:p>
          <a:p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 baseline="30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+O(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: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{g | 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fO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):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)=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 baseline="30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+f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61059882-7AEB-449E-B65C-56909187B73C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89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阶的增长等式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676400"/>
            <a:ext cx="8305800" cy="4267200"/>
          </a:xfrm>
        </p:spPr>
        <p:txBody>
          <a:bodyPr/>
          <a:lstStyle/>
          <a:p>
            <a:pPr marL="339725" indent="-339725"/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假设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b="1" baseline="-2500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 和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b="1" baseline="-2500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 分别是与函数集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</a:rPr>
              <a:t>S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和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</a:rPr>
              <a:t>T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相对应的增长阶表达式。 </a:t>
            </a:r>
          </a:p>
          <a:p>
            <a:pPr marL="339725" indent="-339725"/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那么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"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等式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"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b="1" baseline="-2500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</a:rPr>
              <a:t> =E</a:t>
            </a:r>
            <a:r>
              <a:rPr lang="en-US" altLang="zh-CN" b="1" baseline="-2500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的真正含义是</a:t>
            </a:r>
            <a:b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fS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 gT :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f=g</a:t>
            </a:r>
            <a:b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或简称为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T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endParaRPr lang="en-US" altLang="zh-CN" b="1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339725" indent="-339725"/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例如：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 baseline="300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+ O(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= O(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 baseline="300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) 表示</a:t>
            </a:r>
            <a:b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fO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):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gO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 baseline="300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):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 baseline="300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+f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=g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 build="p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AC8DAAFC-EDA6-444A-A382-DBEA539C3FEB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90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关于大 O 的实用信息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295456"/>
            <a:ext cx="7772400" cy="4876800"/>
          </a:xfrm>
        </p:spPr>
        <p:txBody>
          <a:bodyPr/>
          <a:lstStyle/>
          <a:p>
            <a:r>
              <a:rPr lang="zh-CN" altLang="en-US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 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f,g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&amp; constants 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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R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 with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0、</a:t>
            </a:r>
          </a:p>
          <a:p>
            <a:pPr lvl="1"/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</a:rPr>
              <a:t>af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= O(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)；（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例如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3x</a:t>
            </a:r>
            <a:r>
              <a:rPr lang="en-US" altLang="zh-CN" b="1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2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 = O(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x )</a:t>
            </a:r>
            <a:r>
              <a:rPr lang="en-US" altLang="zh-CN" b="1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</a:p>
          <a:p>
            <a:pPr lvl="1"/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</a:rPr>
              <a:t>f+O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=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O(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)；（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例如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 +x =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O(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x )</a:t>
            </a:r>
            <a:r>
              <a:rPr lang="en-US" altLang="zh-CN" b="1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</a:p>
          <a:p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另外，如果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 f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(1)（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至少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阶次为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1），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那么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：</a:t>
            </a:r>
          </a:p>
          <a:p>
            <a:pPr lvl="1"/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|f|</a:t>
            </a:r>
            <a:r>
              <a:rPr lang="en-US" altLang="zh-CN" b="1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1-</a:t>
            </a:r>
            <a:r>
              <a:rPr lang="en-US" altLang="zh-CN" b="1" i="1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b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 = O(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)；（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例如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baseline="30000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1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= O(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en-US" altLang="zh-CN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lvl="1"/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log</a:t>
            </a:r>
            <a:r>
              <a:rPr lang="en-US" altLang="zh-CN" b="1" i="1" baseline="-25000" dirty="0" err="1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 |f|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 = O(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)。  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</a:rPr>
              <a:t>例如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log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x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= O(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))</a:t>
            </a:r>
          </a:p>
          <a:p>
            <a:pPr lvl="1"/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f=O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</a:rPr>
              <a:t>fg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) （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例如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x =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O(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x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log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</a:p>
          <a:p>
            <a:pPr lvl="1"/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</a:rPr>
              <a:t>fg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 O(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g) （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例如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log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 O(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en-US" altLang="zh-CN" b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lvl="1"/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a=O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f) （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例如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 3 =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O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15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5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15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15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build="p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0C39FEC2-DAC1-4BD5-A80F-7D289A6CB196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91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案例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57200" y="1419225"/>
            <a:ext cx="8382000" cy="5210175"/>
          </a:xfrm>
        </p:spPr>
        <p:txBody>
          <a:bodyPr/>
          <a:lstStyle/>
          <a:p>
            <a:r>
              <a:rPr lang="en-US" altLang="zh-CN" sz="2800">
                <a:ea typeface="宋体" panose="02010600030101010101" pitchFamily="2" charset="-122"/>
              </a:rPr>
              <a:t>让</a:t>
            </a:r>
          </a:p>
          <a:p>
            <a:r>
              <a:rPr lang="en-US" altLang="zh-CN" sz="2800">
                <a:ea typeface="宋体" panose="02010600030101010101" pitchFamily="2" charset="-122"/>
              </a:rPr>
              <a:t>                                    是实数。</a:t>
            </a:r>
          </a:p>
          <a:p>
            <a:endParaRPr lang="en-US" altLang="zh-CN" sz="2800">
              <a:ea typeface="宋体" panose="02010600030101010101" pitchFamily="2" charset="-122"/>
            </a:endParaRPr>
          </a:p>
          <a:p>
            <a:endParaRPr lang="en-US" altLang="zh-CN" sz="2800">
              <a:ea typeface="宋体" panose="02010600030101010101" pitchFamily="2" charset="-122"/>
            </a:endParaRPr>
          </a:p>
          <a:p>
            <a:endParaRPr lang="en-US" altLang="zh-CN" sz="2800">
              <a:ea typeface="宋体" panose="02010600030101010101" pitchFamily="2" charset="-122"/>
            </a:endParaRPr>
          </a:p>
          <a:p>
            <a:endParaRPr lang="en-US" altLang="zh-CN" sz="2800">
              <a:ea typeface="宋体" panose="02010600030101010101" pitchFamily="2" charset="-122"/>
            </a:endParaRPr>
          </a:p>
          <a:p>
            <a:endParaRPr lang="en-US" altLang="zh-CN" sz="2800">
              <a:ea typeface="宋体" panose="02010600030101010101" pitchFamily="2" charset="-122"/>
            </a:endParaRPr>
          </a:p>
          <a:p>
            <a:endParaRPr lang="en-US" altLang="zh-CN" sz="2800">
              <a:ea typeface="宋体" panose="02010600030101010101" pitchFamily="2" charset="-122"/>
            </a:endParaRPr>
          </a:p>
          <a:p>
            <a:r>
              <a:rPr lang="en-US" altLang="zh-CN" sz="2800">
                <a:ea typeface="宋体" panose="02010600030101010101" pitchFamily="2" charset="-122"/>
              </a:rPr>
              <a:t>  </a:t>
            </a:r>
          </a:p>
          <a:p>
            <a:r>
              <a:rPr lang="en-US" altLang="zh-CN" sz="2800">
                <a:ea typeface="宋体" panose="02010600030101010101" pitchFamily="2" charset="-122"/>
              </a:rPr>
              <a:t>          是   </a:t>
            </a:r>
          </a:p>
        </p:txBody>
      </p:sp>
      <p:graphicFrame>
        <p:nvGraphicFramePr>
          <p:cNvPr id="22533" name="Object 5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752600" y="1419225"/>
          <a:ext cx="502920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159000" imgH="241300" progId="Equation.DSMT4">
                  <p:embed/>
                </p:oleObj>
              </mc:Choice>
              <mc:Fallback>
                <p:oleObj r:id="rId2" imgW="2159000" imgH="2413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419225"/>
                        <a:ext cx="502920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6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800225" y="1884363"/>
          <a:ext cx="2573338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78535" imgH="228600" progId="Equation.DSMT4">
                  <p:embed/>
                </p:oleObj>
              </mc:Choice>
              <mc:Fallback>
                <p:oleObj r:id="rId4" imgW="978535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225" y="1884363"/>
                        <a:ext cx="2573338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7"/>
          <p:cNvGraphicFramePr>
            <a:graphicFrameLocks noChangeAspect="1"/>
          </p:cNvGraphicFramePr>
          <p:nvPr/>
        </p:nvGraphicFramePr>
        <p:xfrm>
          <a:off x="1009650" y="2698750"/>
          <a:ext cx="52959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274570" imgH="279400" progId="Equation.DSMT4">
                  <p:embed/>
                </p:oleObj>
              </mc:Choice>
              <mc:Fallback>
                <p:oleObj r:id="rId6" imgW="2274570" imgH="279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9650" y="2698750"/>
                        <a:ext cx="5295900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Object 8"/>
          <p:cNvGraphicFramePr>
            <a:graphicFrameLocks noChangeAspect="1"/>
          </p:cNvGraphicFramePr>
          <p:nvPr/>
        </p:nvGraphicFramePr>
        <p:xfrm>
          <a:off x="1887538" y="3429000"/>
          <a:ext cx="4970462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132965" imgH="254000" progId="Equation.DSMT4">
                  <p:embed/>
                </p:oleObj>
              </mc:Choice>
              <mc:Fallback>
                <p:oleObj r:id="rId8" imgW="2132965" imgH="2540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7538" y="3429000"/>
                        <a:ext cx="4970462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Object 9"/>
          <p:cNvGraphicFramePr>
            <a:graphicFrameLocks noChangeAspect="1"/>
          </p:cNvGraphicFramePr>
          <p:nvPr/>
        </p:nvGraphicFramePr>
        <p:xfrm>
          <a:off x="1905000" y="4056063"/>
          <a:ext cx="6242050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677160" imgH="254000" progId="Equation.DSMT4">
                  <p:embed/>
                </p:oleObj>
              </mc:Choice>
              <mc:Fallback>
                <p:oleObj r:id="rId10" imgW="2677160" imgH="254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056063"/>
                        <a:ext cx="6242050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8" name="Object 10"/>
          <p:cNvGraphicFramePr>
            <a:graphicFrameLocks noChangeAspect="1"/>
          </p:cNvGraphicFramePr>
          <p:nvPr/>
        </p:nvGraphicFramePr>
        <p:xfrm>
          <a:off x="1905000" y="4665663"/>
          <a:ext cx="4348163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866265" imgH="254000" progId="Equation.DSMT4">
                  <p:embed/>
                </p:oleObj>
              </mc:Choice>
              <mc:Fallback>
                <p:oleObj r:id="rId12" imgW="1866265" imgH="2540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665663"/>
                        <a:ext cx="4348163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9" name="Object 11"/>
          <p:cNvGraphicFramePr>
            <a:graphicFrameLocks noChangeAspect="1"/>
          </p:cNvGraphicFramePr>
          <p:nvPr/>
        </p:nvGraphicFramePr>
        <p:xfrm>
          <a:off x="7010400" y="4724400"/>
          <a:ext cx="100488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431800" imgH="203200" progId="Equation.DSMT4">
                  <p:embed/>
                </p:oleObj>
              </mc:Choice>
              <mc:Fallback>
                <p:oleObj r:id="rId14" imgW="431800" imgH="203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4724400"/>
                        <a:ext cx="1004888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0" name="Object 12"/>
          <p:cNvGraphicFramePr>
            <a:graphicFrameLocks noChangeAspect="1"/>
          </p:cNvGraphicFramePr>
          <p:nvPr/>
        </p:nvGraphicFramePr>
        <p:xfrm>
          <a:off x="914400" y="5410200"/>
          <a:ext cx="165735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711200" imgH="228600" progId="Equation.DSMT4">
                  <p:embed/>
                </p:oleObj>
              </mc:Choice>
              <mc:Fallback>
                <p:oleObj r:id="rId16" imgW="711200" imgH="2286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5410200"/>
                        <a:ext cx="165735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1" name="Object 13"/>
          <p:cNvGraphicFramePr>
            <a:graphicFrameLocks noChangeAspect="1"/>
          </p:cNvGraphicFramePr>
          <p:nvPr/>
        </p:nvGraphicFramePr>
        <p:xfrm>
          <a:off x="3684588" y="5410200"/>
          <a:ext cx="3679825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764665" imgH="254000" progId="Equation.DSMT4">
                  <p:embed/>
                </p:oleObj>
              </mc:Choice>
              <mc:Fallback>
                <p:oleObj r:id="rId18" imgW="1764665" imgH="2540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4588" y="5410200"/>
                        <a:ext cx="3679825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2" name="Object 14"/>
          <p:cNvGraphicFramePr>
            <a:graphicFrameLocks noChangeAspect="1"/>
          </p:cNvGraphicFramePr>
          <p:nvPr/>
        </p:nvGraphicFramePr>
        <p:xfrm>
          <a:off x="7924800" y="5495925"/>
          <a:ext cx="68897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330200" imgH="177800" progId="Equation.DSMT4">
                  <p:embed/>
                </p:oleObj>
              </mc:Choice>
              <mc:Fallback>
                <p:oleObj r:id="rId20" imgW="330200" imgH="1778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5495925"/>
                        <a:ext cx="68897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3" name="Object 15"/>
          <p:cNvGraphicFramePr>
            <a:graphicFrameLocks noChangeAspect="1"/>
          </p:cNvGraphicFramePr>
          <p:nvPr/>
        </p:nvGraphicFramePr>
        <p:xfrm>
          <a:off x="914400" y="6080125"/>
          <a:ext cx="79851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342900" imgH="203200" progId="Equation.DSMT4">
                  <p:embed/>
                </p:oleObj>
              </mc:Choice>
              <mc:Fallback>
                <p:oleObj r:id="rId22" imgW="342900" imgH="2032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6080125"/>
                        <a:ext cx="79851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4" name="Object 16"/>
          <p:cNvGraphicFramePr>
            <a:graphicFrameLocks noChangeAspect="1"/>
          </p:cNvGraphicFramePr>
          <p:nvPr/>
        </p:nvGraphicFramePr>
        <p:xfrm>
          <a:off x="2252663" y="6067425"/>
          <a:ext cx="94615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406400" imgH="228600" progId="Equation.DSMT4">
                  <p:embed/>
                </p:oleObj>
              </mc:Choice>
              <mc:Fallback>
                <p:oleObj r:id="rId24" imgW="406400" imgH="2286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2663" y="6067425"/>
                        <a:ext cx="94615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0F3EFFAA-A2AF-4BB1-8CB4-4BFF5B3AF8A0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92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定义：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(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)，</a:t>
            </a: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渐进</a:t>
            </a:r>
            <a:r>
              <a:rPr lang="zh-CN" altLang="en-US" i="1">
                <a:ea typeface="宋体" panose="02010600030101010101" pitchFamily="2" charset="-122"/>
                <a:sym typeface="Symbol" panose="05050102010706020507" pitchFamily="18" charset="2"/>
              </a:rPr>
              <a:t>紧确界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 g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600200"/>
            <a:ext cx="8001000" cy="4419600"/>
          </a:xfrm>
        </p:spPr>
        <p:txBody>
          <a:bodyPr/>
          <a:lstStyle/>
          <a:p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</a:rPr>
              <a:t>如果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</a:rPr>
              <a:t>O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和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</a:rPr>
              <a:t>g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</a:rPr>
              <a:t>O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)，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那么我们就说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"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 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和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f 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的阶相同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或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"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 </a:t>
            </a:r>
            <a:r>
              <a:rPr lang="en-US" altLang="zh-CN" b="1" i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是（完全）阶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g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并写成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(</a:t>
            </a:r>
            <a:r>
              <a:rPr lang="en-US" altLang="zh-CN" b="1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)。</a:t>
            </a:r>
          </a:p>
          <a:p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另一个等效定义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：</a:t>
            </a:r>
            <a:b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(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 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{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:RR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| </a:t>
            </a:r>
            <a:b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c</a:t>
            </a:r>
            <a:r>
              <a:rPr lang="en-US" altLang="zh-CN" b="1" baseline="-25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c</a:t>
            </a:r>
            <a:r>
              <a:rPr lang="en-US" altLang="zh-CN" b="1" baseline="-25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k&gt;0 x&gt;k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：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|c</a:t>
            </a:r>
            <a:r>
              <a:rPr lang="en-US" altLang="zh-CN" b="1" baseline="-25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g(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||f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||c</a:t>
            </a:r>
            <a:r>
              <a:rPr lang="en-US" altLang="zh-CN" b="1" baseline="-25000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g(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x)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| }</a:t>
            </a:r>
          </a:p>
          <a:p>
            <a:pPr lvl="1"/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在某点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k 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以外的任何地方，</a:t>
            </a:r>
            <a:r>
              <a:rPr lang="en-US" altLang="zh-CN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都位于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的两个倍数之间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29B468FE-CF6A-44FD-B7B4-410DA6A61351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93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 </a:t>
            </a: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的</a:t>
            </a:r>
            <a:r>
              <a:rPr lang="en-US" altLang="zh-CN">
                <a:ea typeface="宋体" panose="02010600030101010101" pitchFamily="2" charset="-122"/>
              </a:rPr>
              <a:t>规则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676400"/>
            <a:ext cx="8382000" cy="4343400"/>
          </a:xfrm>
        </p:spPr>
        <p:txBody>
          <a:bodyPr/>
          <a:lstStyle/>
          <a:p>
            <a:r>
              <a:rPr lang="en-US" altLang="zh-CN" b="1" dirty="0" err="1">
                <a:ea typeface="宋体" panose="02010600030101010101" pitchFamily="2" charset="-122"/>
              </a:rPr>
              <a:t>与</a:t>
            </a:r>
            <a:r>
              <a:rPr lang="en-US" altLang="zh-CN" b="1" dirty="0">
                <a:ea typeface="宋体" panose="02010600030101010101" pitchFamily="2" charset="-122"/>
              </a:rPr>
              <a:t> O( )</a:t>
            </a:r>
            <a:r>
              <a:rPr lang="en-US" altLang="zh-CN" b="1" dirty="0" err="1">
                <a:ea typeface="宋体" panose="02010600030101010101" pitchFamily="2" charset="-122"/>
              </a:rPr>
              <a:t>的规则基本相同</a:t>
            </a:r>
            <a:r>
              <a:rPr lang="en-US" altLang="zh-CN" b="1" dirty="0">
                <a:ea typeface="宋体" panose="02010600030101010101" pitchFamily="2" charset="-122"/>
              </a:rPr>
              <a:t>，</a:t>
            </a:r>
            <a:r>
              <a:rPr lang="zh-CN" altLang="en-US" b="1" dirty="0">
                <a:ea typeface="宋体" panose="02010600030101010101" pitchFamily="2" charset="-122"/>
              </a:rPr>
              <a:t>只是</a:t>
            </a:r>
            <a:r>
              <a:rPr lang="en-US" altLang="zh-CN" b="1" dirty="0">
                <a:ea typeface="宋体" panose="02010600030101010101" pitchFamily="2" charset="-122"/>
              </a:rPr>
              <a:t>：</a:t>
            </a:r>
          </a:p>
          <a:p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 </a:t>
            </a:r>
            <a:r>
              <a:rPr lang="en-US" altLang="zh-CN" b="1" i="1" dirty="0" err="1">
                <a:ea typeface="宋体" panose="02010600030101010101" pitchFamily="2" charset="-122"/>
                <a:sym typeface="Symbol" panose="05050102010706020507" pitchFamily="18" charset="2"/>
              </a:rPr>
              <a:t>f,g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&gt;0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&amp; 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常量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 err="1">
                <a:ea typeface="宋体" panose="02010600030101010101" pitchFamily="2" charset="-122"/>
              </a:rPr>
              <a:t>a</a:t>
            </a:r>
            <a:r>
              <a:rPr lang="en-US" altLang="zh-CN" b="1" dirty="0" err="1">
                <a:ea typeface="宋体" panose="02010600030101010101" pitchFamily="2" charset="-122"/>
              </a:rPr>
              <a:t>,</a:t>
            </a:r>
            <a:r>
              <a:rPr lang="en-US" altLang="zh-CN" b="1" i="1" dirty="0" err="1">
                <a:ea typeface="宋体" panose="02010600030101010101" pitchFamily="2" charset="-122"/>
              </a:rPr>
              <a:t>b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 </a:t>
            </a:r>
            <a:r>
              <a:rPr lang="en-US" altLang="zh-CN" b="1" i="1" dirty="0">
                <a:ea typeface="宋体" panose="02010600030101010101" pitchFamily="2" charset="-122"/>
              </a:rPr>
              <a:t>R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其中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b&gt;0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、</a:t>
            </a:r>
            <a:b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</a:rPr>
              <a:t>af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 (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b="1" i="1" dirty="0">
                <a:ea typeface="宋体" panose="02010600030101010101" pitchFamily="2" charset="-122"/>
              </a:rPr>
              <a:t>，</a:t>
            </a:r>
            <a:r>
              <a:rPr lang="en-US" altLang="zh-CN" b="1" dirty="0" err="1">
                <a:ea typeface="宋体" panose="02010600030101010101" pitchFamily="2" charset="-122"/>
              </a:rPr>
              <a:t>但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 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与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O 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相同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br>
              <a:rPr lang="en-US" altLang="zh-CN" b="1" dirty="0">
                <a:solidFill>
                  <a:schemeClr val="accent2"/>
                </a:solidFill>
                <a:ea typeface="宋体" panose="02010600030101010101" pitchFamily="2" charset="-122"/>
              </a:rPr>
            </a:b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 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 (</a:t>
            </a:r>
            <a:r>
              <a:rPr lang="en-US" altLang="zh-CN" b="1" i="1" dirty="0" err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fg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 dirty="0" err="1">
                <a:ea typeface="宋体" panose="02010600030101010101" pitchFamily="2" charset="-122"/>
                <a:sym typeface="Symbol" panose="05050102010706020507" pitchFamily="18" charset="2"/>
              </a:rPr>
              <a:t>除非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g=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(1)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 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与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O 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不同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br>
              <a:rPr lang="en-US" altLang="zh-CN" b="1" dirty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|f|</a:t>
            </a:r>
            <a:r>
              <a:rPr lang="en-US" altLang="zh-CN" b="1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1-</a:t>
            </a:r>
            <a:r>
              <a:rPr lang="en-US" altLang="zh-CN" b="1" i="1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b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 (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b="1" dirty="0">
                <a:ea typeface="宋体" panose="02010600030101010101" pitchFamily="2" charset="-122"/>
              </a:rPr>
              <a:t>，</a:t>
            </a:r>
            <a:r>
              <a:rPr lang="en-US" altLang="zh-CN" b="1" dirty="0" err="1">
                <a:ea typeface="宋体" panose="02010600030101010101" pitchFamily="2" charset="-122"/>
              </a:rPr>
              <a:t>和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  <a:r>
              <a:rPr lang="en-US" altLang="zh-CN" b="1" dirty="0" err="1">
                <a:ea typeface="宋体" panose="02010600030101010101" pitchFamily="2" charset="-122"/>
              </a:rPr>
              <a:t>与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O 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不同</a:t>
            </a:r>
            <a:r>
              <a:rPr lang="en-US" altLang="zh-CN" b="1" dirty="0">
                <a:ea typeface="宋体" panose="02010600030101010101" pitchFamily="2" charset="-122"/>
              </a:rPr>
              <a:t>。 </a:t>
            </a:r>
            <a:br>
              <a:rPr lang="en-US" altLang="zh-CN" b="1" dirty="0">
                <a:ea typeface="宋体" panose="02010600030101010101" pitchFamily="2" charset="-122"/>
              </a:rPr>
            </a:b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dirty="0" err="1">
                <a:solidFill>
                  <a:srgbClr val="FF0000"/>
                </a:solidFill>
                <a:ea typeface="宋体" panose="02010600030101010101" pitchFamily="2" charset="-122"/>
              </a:rPr>
              <a:t>log</a:t>
            </a:r>
            <a:r>
              <a:rPr lang="en-US" altLang="zh-CN" b="1" i="1" baseline="-25000" dirty="0" err="1">
                <a:solidFill>
                  <a:srgbClr val="FF0000"/>
                </a:solidFill>
                <a:ea typeface="宋体" panose="02010600030101010101" pitchFamily="2" charset="-122"/>
              </a:rPr>
              <a:t>b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</a:rPr>
              <a:t> |f|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 baseline="30000" dirty="0">
                <a:solidFill>
                  <a:srgbClr val="FF0000"/>
                </a:solidFill>
                <a:ea typeface="宋体" panose="02010600030101010101" pitchFamily="2" charset="-122"/>
              </a:rPr>
              <a:t>c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 (</a:t>
            </a:r>
            <a:r>
              <a:rPr lang="en-US" altLang="zh-CN" b="1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。          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 </a:t>
            </a:r>
            <a:r>
              <a:rPr lang="en-US" altLang="zh-CN" b="1" dirty="0" err="1">
                <a:ea typeface="宋体" panose="02010600030101010101" pitchFamily="2" charset="-122"/>
                <a:sym typeface="+mn-ea"/>
              </a:rPr>
              <a:t>与</a:t>
            </a:r>
            <a:r>
              <a:rPr lang="en-US" altLang="zh-CN" b="1" dirty="0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O </a:t>
            </a:r>
            <a:r>
              <a:rPr lang="en-US" altLang="zh-CN" b="1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不同</a:t>
            </a:r>
            <a:r>
              <a:rPr lang="en-US" altLang="zh-CN" b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  <a:p>
            <a:r>
              <a:rPr lang="en-US" altLang="zh-CN" b="1" dirty="0" err="1">
                <a:ea typeface="宋体" panose="02010600030101010101" pitchFamily="2" charset="-122"/>
              </a:rPr>
              <a:t>我们说，后两种情况下的函数的</a:t>
            </a:r>
            <a:r>
              <a:rPr lang="en-US" altLang="zh-CN" b="1" i="1" dirty="0" err="1">
                <a:ea typeface="宋体" panose="02010600030101010101" pitchFamily="2" charset="-122"/>
              </a:rPr>
              <a:t>阶数严格</a:t>
            </a:r>
            <a:r>
              <a:rPr lang="en-US" altLang="zh-CN" b="1" dirty="0" err="1">
                <a:ea typeface="宋体" panose="02010600030101010101" pitchFamily="2" charset="-122"/>
              </a:rPr>
              <a:t>低于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(</a:t>
            </a:r>
            <a:r>
              <a:rPr lang="en-US" altLang="zh-CN" b="1" i="1" dirty="0"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b="1" dirty="0">
                <a:ea typeface="宋体" panose="02010600030101010101" pitchFamily="2" charset="-122"/>
                <a:sym typeface="Symbol" panose="05050102010706020507" pitchFamily="18" charset="2"/>
              </a:rPr>
              <a:t>)。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D03ECCBC-779F-4662-A08B-48D79237C35C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94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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示例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b="1">
                <a:ea typeface="宋体" panose="02010600030101010101" pitchFamily="2" charset="-122"/>
              </a:rPr>
              <a:t>确定是否</a:t>
            </a:r>
          </a:p>
          <a:p>
            <a:r>
              <a:rPr lang="en-US" altLang="zh-CN" b="1">
                <a:ea typeface="宋体" panose="02010600030101010101" pitchFamily="2" charset="-122"/>
              </a:rPr>
              <a:t>快速解决方案：</a:t>
            </a:r>
          </a:p>
        </p:txBody>
      </p:sp>
      <p:graphicFrame>
        <p:nvGraphicFramePr>
          <p:cNvPr id="26629" name="Object 5"/>
          <p:cNvGraphicFramePr>
            <a:graphicFrameLocks noChangeAspect="1"/>
          </p:cNvGraphicFramePr>
          <p:nvPr/>
        </p:nvGraphicFramePr>
        <p:xfrm>
          <a:off x="4495800" y="2057400"/>
          <a:ext cx="2205038" cy="111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901700" imgH="457200" progId="">
                  <p:embed/>
                </p:oleObj>
              </mc:Choice>
              <mc:Fallback>
                <p:oleObj r:id="rId2" imgW="901700" imgH="45720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057400"/>
                        <a:ext cx="2205038" cy="1119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Object 6"/>
          <p:cNvGraphicFramePr>
            <a:graphicFrameLocks noChangeAspect="1"/>
          </p:cNvGraphicFramePr>
          <p:nvPr/>
        </p:nvGraphicFramePr>
        <p:xfrm>
          <a:off x="1663700" y="3109913"/>
          <a:ext cx="2890838" cy="286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181100" imgH="1168400" progId="">
                  <p:embed/>
                </p:oleObj>
              </mc:Choice>
              <mc:Fallback>
                <p:oleObj r:id="rId4" imgW="1181100" imgH="11684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3700" y="3109913"/>
                        <a:ext cx="2890838" cy="286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631" name="Group 6"/>
          <p:cNvGrpSpPr/>
          <p:nvPr/>
        </p:nvGrpSpPr>
        <p:grpSpPr bwMode="auto">
          <a:xfrm>
            <a:off x="3200400" y="3429000"/>
            <a:ext cx="914400" cy="1371600"/>
            <a:chOff x="0" y="0"/>
            <a:chExt cx="576" cy="864"/>
          </a:xfrm>
        </p:grpSpPr>
        <p:sp>
          <p:nvSpPr>
            <p:cNvPr id="26641" name="Oval 7"/>
            <p:cNvSpPr>
              <a:spLocks noChangeArrowheads="1"/>
            </p:cNvSpPr>
            <p:nvPr/>
          </p:nvSpPr>
          <p:spPr bwMode="auto">
            <a:xfrm>
              <a:off x="0" y="0"/>
              <a:ext cx="576" cy="33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26642" name="Oval 8"/>
            <p:cNvSpPr>
              <a:spLocks noChangeArrowheads="1"/>
            </p:cNvSpPr>
            <p:nvPr/>
          </p:nvSpPr>
          <p:spPr bwMode="auto">
            <a:xfrm>
              <a:off x="48" y="528"/>
              <a:ext cx="528" cy="33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26643" name="Line 9"/>
            <p:cNvSpPr>
              <a:spLocks noChangeShapeType="1"/>
            </p:cNvSpPr>
            <p:nvPr/>
          </p:nvSpPr>
          <p:spPr bwMode="auto">
            <a:xfrm>
              <a:off x="240" y="336"/>
              <a:ext cx="48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6635" name="Group 10"/>
          <p:cNvGrpSpPr/>
          <p:nvPr/>
        </p:nvGrpSpPr>
        <p:grpSpPr bwMode="auto">
          <a:xfrm>
            <a:off x="3276600" y="4267200"/>
            <a:ext cx="1371600" cy="1066800"/>
            <a:chOff x="0" y="0"/>
            <a:chExt cx="864" cy="672"/>
          </a:xfrm>
        </p:grpSpPr>
        <p:sp>
          <p:nvSpPr>
            <p:cNvPr id="26638" name="Oval 11"/>
            <p:cNvSpPr>
              <a:spLocks noChangeArrowheads="1"/>
            </p:cNvSpPr>
            <p:nvPr/>
          </p:nvSpPr>
          <p:spPr bwMode="auto">
            <a:xfrm>
              <a:off x="0" y="0"/>
              <a:ext cx="864" cy="28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26639" name="Oval 12"/>
            <p:cNvSpPr>
              <a:spLocks noChangeArrowheads="1"/>
            </p:cNvSpPr>
            <p:nvPr/>
          </p:nvSpPr>
          <p:spPr bwMode="auto">
            <a:xfrm>
              <a:off x="0" y="384"/>
              <a:ext cx="576" cy="28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26640" name="Line 13"/>
            <p:cNvSpPr>
              <a:spLocks noChangeShapeType="1"/>
            </p:cNvSpPr>
            <p:nvPr/>
          </p:nvSpPr>
          <p:spPr bwMode="auto">
            <a:xfrm flipH="1">
              <a:off x="480" y="288"/>
              <a:ext cx="96" cy="1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14"/>
          <p:cNvGrpSpPr/>
          <p:nvPr/>
        </p:nvGrpSpPr>
        <p:grpSpPr bwMode="auto">
          <a:xfrm>
            <a:off x="2895600" y="4876800"/>
            <a:ext cx="1295400" cy="1066800"/>
            <a:chOff x="0" y="0"/>
            <a:chExt cx="816" cy="672"/>
          </a:xfrm>
        </p:grpSpPr>
        <p:sp>
          <p:nvSpPr>
            <p:cNvPr id="4" name="Oval 15"/>
            <p:cNvSpPr>
              <a:spLocks noChangeArrowheads="1"/>
            </p:cNvSpPr>
            <p:nvPr/>
          </p:nvSpPr>
          <p:spPr bwMode="auto">
            <a:xfrm>
              <a:off x="0" y="0"/>
              <a:ext cx="816" cy="28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26636" name="Oval 16"/>
            <p:cNvSpPr>
              <a:spLocks noChangeArrowheads="1"/>
            </p:cNvSpPr>
            <p:nvPr/>
          </p:nvSpPr>
          <p:spPr bwMode="auto">
            <a:xfrm>
              <a:off x="0" y="384"/>
              <a:ext cx="720" cy="288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26637" name="Line 17"/>
            <p:cNvSpPr>
              <a:spLocks noChangeShapeType="1"/>
            </p:cNvSpPr>
            <p:nvPr/>
          </p:nvSpPr>
          <p:spPr bwMode="auto">
            <a:xfrm flipH="1">
              <a:off x="624" y="240"/>
              <a:ext cx="96" cy="1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634" name="矩形 3"/>
          <p:cNvSpPr>
            <a:spLocks noChangeArrowheads="1"/>
          </p:cNvSpPr>
          <p:nvPr/>
        </p:nvSpPr>
        <p:spPr bwMode="auto">
          <a:xfrm>
            <a:off x="5446713" y="2081213"/>
            <a:ext cx="303212" cy="29051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E551DD84-1F09-48B9-8AF5-A7E68C650C9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95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其他</a:t>
            </a:r>
            <a:r>
              <a:rPr lang="zh-CN" altLang="en-US">
                <a:ea typeface="宋体" panose="02010600030101010101" pitchFamily="2" charset="-122"/>
              </a:rPr>
              <a:t>阶的</a:t>
            </a:r>
            <a:r>
              <a:rPr lang="en-US" altLang="zh-CN">
                <a:ea typeface="宋体" panose="02010600030101010101" pitchFamily="2" charset="-122"/>
              </a:rPr>
              <a:t>增长关系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752600"/>
            <a:ext cx="8534400" cy="4495800"/>
          </a:xfrm>
        </p:spPr>
        <p:txBody>
          <a:bodyPr/>
          <a:lstStyle/>
          <a:p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(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= 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{f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| 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gO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)}</a:t>
            </a:r>
            <a:b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至少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是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 阶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的函数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o(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</a:rPr>
              <a:t>g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) = 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</a:rPr>
              <a:t>{f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 | 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c&gt;0 k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x&gt;k 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：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|f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)| &lt;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|cg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)|}</a:t>
            </a:r>
            <a:b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严格低阶于 g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的函数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" 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o(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 O(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 (g)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(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= 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</a:rPr>
              <a:t>{f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 | 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c&gt;0 k x&gt;k 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：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|cg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)| &lt;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|f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)|}</a:t>
            </a:r>
            <a:b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严格高阶于 g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的函数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"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(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 (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 (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6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6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2" grpId="0" build="p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225C1FA3-698B-4880-9B67-D65F5AC1B6A5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96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函数的阶</a:t>
            </a:r>
            <a:r>
              <a:rPr lang="en-US" altLang="zh-CN">
                <a:ea typeface="宋体" panose="02010600030101010101" pitchFamily="2" charset="-122"/>
              </a:rPr>
              <a:t>之间的</a:t>
            </a:r>
            <a:r>
              <a:rPr lang="zh-CN" altLang="en-US">
                <a:ea typeface="宋体" panose="02010600030101010101" pitchFamily="2" charset="-122"/>
              </a:rPr>
              <a:t>集合</a:t>
            </a:r>
            <a:r>
              <a:rPr lang="en-US" altLang="zh-CN">
                <a:ea typeface="宋体" panose="02010600030101010101" pitchFamily="2" charset="-122"/>
              </a:rPr>
              <a:t>关系</a:t>
            </a:r>
          </a:p>
        </p:txBody>
      </p:sp>
      <p:sp>
        <p:nvSpPr>
          <p:cNvPr id="28676" name="Rectangle 3"/>
          <p:cNvSpPr>
            <a:spLocks noChangeArrowheads="1"/>
          </p:cNvSpPr>
          <p:nvPr/>
        </p:nvSpPr>
        <p:spPr bwMode="auto">
          <a:xfrm>
            <a:off x="1371600" y="3200400"/>
            <a:ext cx="6477000" cy="2743200"/>
          </a:xfrm>
          <a:prstGeom prst="rect">
            <a:avLst/>
          </a:prstGeom>
          <a:solidFill>
            <a:srgbClr val="FFFFFF"/>
          </a:solidFill>
          <a:ln w="38100">
            <a:solidFill>
              <a:schemeClr val="tx1"/>
            </a:solidFill>
            <a:miter lim="800000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8677" name="Rectangle 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阶</a:t>
            </a:r>
            <a:r>
              <a:rPr lang="en-US" altLang="zh-CN">
                <a:ea typeface="宋体" panose="02010600030101010101" pitchFamily="2" charset="-122"/>
              </a:rPr>
              <a:t>之间的关系</a:t>
            </a:r>
          </a:p>
        </p:txBody>
      </p:sp>
      <p:sp>
        <p:nvSpPr>
          <p:cNvPr id="28678" name="Oval 5"/>
          <p:cNvSpPr>
            <a:spLocks noChangeArrowheads="1"/>
          </p:cNvSpPr>
          <p:nvPr/>
        </p:nvSpPr>
        <p:spPr bwMode="auto">
          <a:xfrm>
            <a:off x="1752600" y="3657600"/>
            <a:ext cx="3505200" cy="1905000"/>
          </a:xfrm>
          <a:prstGeom prst="ellipse">
            <a:avLst/>
          </a:prstGeom>
          <a:solidFill>
            <a:srgbClr val="FF9900"/>
          </a:solidFill>
          <a:ln w="381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28679" name="Oval 6"/>
          <p:cNvSpPr>
            <a:spLocks noChangeArrowheads="1"/>
          </p:cNvSpPr>
          <p:nvPr/>
        </p:nvSpPr>
        <p:spPr bwMode="auto">
          <a:xfrm>
            <a:off x="3733800" y="3657600"/>
            <a:ext cx="3505200" cy="1905000"/>
          </a:xfrm>
          <a:prstGeom prst="ellipse">
            <a:avLst/>
          </a:prstGeom>
          <a:solidFill>
            <a:srgbClr val="00FF00">
              <a:alpha val="50195"/>
            </a:srgbClr>
          </a:solidFill>
          <a:ln w="381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28680" name="Text Box 7"/>
          <p:cNvSpPr txBox="1">
            <a:spLocks noChangeArrowheads="1"/>
          </p:cNvSpPr>
          <p:nvPr/>
        </p:nvSpPr>
        <p:spPr bwMode="auto">
          <a:xfrm>
            <a:off x="3886200" y="2709863"/>
            <a:ext cx="11731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RR</a:t>
            </a:r>
            <a:endParaRPr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28681" name="Oval 8"/>
          <p:cNvSpPr>
            <a:spLocks noChangeArrowheads="1"/>
          </p:cNvSpPr>
          <p:nvPr/>
        </p:nvSpPr>
        <p:spPr bwMode="auto">
          <a:xfrm>
            <a:off x="2133600" y="4038600"/>
            <a:ext cx="1447800" cy="1143000"/>
          </a:xfrm>
          <a:prstGeom prst="ellipse">
            <a:avLst/>
          </a:prstGeom>
          <a:solidFill>
            <a:srgbClr val="FF0000"/>
          </a:solidFill>
          <a:ln w="381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28682" name="Oval 9"/>
          <p:cNvSpPr>
            <a:spLocks noChangeArrowheads="1"/>
          </p:cNvSpPr>
          <p:nvPr/>
        </p:nvSpPr>
        <p:spPr bwMode="auto">
          <a:xfrm>
            <a:off x="5410200" y="4038600"/>
            <a:ext cx="1447800" cy="114300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tx1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28683" name="Oval 10"/>
          <p:cNvSpPr>
            <a:spLocks noChangeArrowheads="1"/>
          </p:cNvSpPr>
          <p:nvPr/>
        </p:nvSpPr>
        <p:spPr bwMode="auto">
          <a:xfrm>
            <a:off x="1752600" y="3657600"/>
            <a:ext cx="3505200" cy="1905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800"/>
          </a:p>
        </p:txBody>
      </p:sp>
      <p:sp>
        <p:nvSpPr>
          <p:cNvPr id="28684" name="Text Box 11"/>
          <p:cNvSpPr txBox="1">
            <a:spLocks noChangeArrowheads="1"/>
          </p:cNvSpPr>
          <p:nvPr/>
        </p:nvSpPr>
        <p:spPr bwMode="auto">
          <a:xfrm>
            <a:off x="4954588" y="3097213"/>
            <a:ext cx="10826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(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8685" name="Text Box 12"/>
          <p:cNvSpPr txBox="1">
            <a:spLocks noChangeArrowheads="1"/>
          </p:cNvSpPr>
          <p:nvPr/>
        </p:nvSpPr>
        <p:spPr bwMode="auto">
          <a:xfrm>
            <a:off x="2906713" y="3111500"/>
            <a:ext cx="10636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O(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8686" name="Text Box 13"/>
          <p:cNvSpPr txBox="1">
            <a:spLocks noChangeArrowheads="1"/>
          </p:cNvSpPr>
          <p:nvPr/>
        </p:nvSpPr>
        <p:spPr bwMode="auto">
          <a:xfrm>
            <a:off x="3967163" y="4283075"/>
            <a:ext cx="10715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(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8687" name="Text Box 14"/>
          <p:cNvSpPr txBox="1">
            <a:spLocks noChangeArrowheads="1"/>
          </p:cNvSpPr>
          <p:nvPr/>
        </p:nvSpPr>
        <p:spPr bwMode="auto">
          <a:xfrm>
            <a:off x="5578475" y="4283075"/>
            <a:ext cx="10493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(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8688" name="Text Box 15"/>
          <p:cNvSpPr txBox="1">
            <a:spLocks noChangeArrowheads="1"/>
          </p:cNvSpPr>
          <p:nvPr/>
        </p:nvSpPr>
        <p:spPr bwMode="auto">
          <a:xfrm>
            <a:off x="2332038" y="4283075"/>
            <a:ext cx="9731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o( </a:t>
            </a:r>
            <a:r>
              <a:rPr lang="en-US" altLang="zh-CN" i="1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28689" name="Text Box 16"/>
          <p:cNvSpPr txBox="1">
            <a:spLocks noChangeArrowheads="1"/>
          </p:cNvSpPr>
          <p:nvPr/>
        </p:nvSpPr>
        <p:spPr bwMode="auto">
          <a:xfrm>
            <a:off x="4343400" y="3886200"/>
            <a:ext cx="450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- f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9257E693-855A-4B6C-8185-A2BA1352F177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97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为什么 o(</a:t>
            </a:r>
            <a:r>
              <a:rPr lang="en-US" altLang="zh-CN" i="1">
                <a:ea typeface="宋体" panose="02010600030101010101" pitchFamily="2" charset="-122"/>
              </a:rPr>
              <a:t>f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)O(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)(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一个函数是 O(</a:t>
            </a:r>
            <a:r>
              <a:rPr lang="en-US" altLang="zh-CN" i="1">
                <a:ea typeface="宋体" panose="02010600030101010101" pitchFamily="2" charset="-122"/>
              </a:rPr>
              <a:t>x</a:t>
            </a:r>
            <a:r>
              <a:rPr lang="en-US" altLang="zh-CN">
                <a:ea typeface="宋体" panose="02010600030101010101" pitchFamily="2" charset="-122"/>
              </a:rPr>
              <a:t>)，但既不是 o(</a:t>
            </a:r>
            <a:r>
              <a:rPr lang="en-US" altLang="zh-CN" i="1">
                <a:ea typeface="宋体" panose="02010600030101010101" pitchFamily="2" charset="-122"/>
              </a:rPr>
              <a:t>x</a:t>
            </a:r>
            <a:r>
              <a:rPr lang="en-US" altLang="zh-CN">
                <a:ea typeface="宋体" panose="02010600030101010101" pitchFamily="2" charset="-122"/>
              </a:rPr>
              <a:t>)，也不是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(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)：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9701" name="Line 4"/>
          <p:cNvSpPr>
            <a:spLocks noChangeShapeType="1"/>
          </p:cNvSpPr>
          <p:nvPr/>
        </p:nvSpPr>
        <p:spPr bwMode="auto">
          <a:xfrm>
            <a:off x="2667000" y="5562600"/>
            <a:ext cx="3810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2" name="Line 5"/>
          <p:cNvSpPr>
            <a:spLocks noChangeShapeType="1"/>
          </p:cNvSpPr>
          <p:nvPr/>
        </p:nvSpPr>
        <p:spPr bwMode="auto">
          <a:xfrm flipV="1">
            <a:off x="2667000" y="2743200"/>
            <a:ext cx="0" cy="2819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3" name="Line 6"/>
          <p:cNvSpPr>
            <a:spLocks noChangeShapeType="1"/>
          </p:cNvSpPr>
          <p:nvPr/>
        </p:nvSpPr>
        <p:spPr bwMode="auto">
          <a:xfrm flipV="1">
            <a:off x="2667000" y="2819400"/>
            <a:ext cx="2743200" cy="27432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4" name="Freeform 7"/>
          <p:cNvSpPr>
            <a:spLocks noChangeArrowheads="1"/>
          </p:cNvSpPr>
          <p:nvPr/>
        </p:nvSpPr>
        <p:spPr bwMode="auto">
          <a:xfrm>
            <a:off x="2667000" y="2971800"/>
            <a:ext cx="2895600" cy="2692400"/>
          </a:xfrm>
          <a:custGeom>
            <a:avLst/>
            <a:gdLst>
              <a:gd name="T0" fmla="*/ 0 w 1824"/>
              <a:gd name="T1" fmla="*/ 2147483646 h 1696"/>
              <a:gd name="T2" fmla="*/ 2147483646 w 1824"/>
              <a:gd name="T3" fmla="*/ 2147483646 h 1696"/>
              <a:gd name="T4" fmla="*/ 2147483646 w 1824"/>
              <a:gd name="T5" fmla="*/ 2147483646 h 1696"/>
              <a:gd name="T6" fmla="*/ 2147483646 w 1824"/>
              <a:gd name="T7" fmla="*/ 2147483646 h 1696"/>
              <a:gd name="T8" fmla="*/ 2147483646 w 1824"/>
              <a:gd name="T9" fmla="*/ 2147483646 h 1696"/>
              <a:gd name="T10" fmla="*/ 2147483646 w 1824"/>
              <a:gd name="T11" fmla="*/ 2147483646 h 1696"/>
              <a:gd name="T12" fmla="*/ 2147483646 w 1824"/>
              <a:gd name="T13" fmla="*/ 2147483646 h 1696"/>
              <a:gd name="T14" fmla="*/ 2147483646 w 1824"/>
              <a:gd name="T15" fmla="*/ 2147483646 h 1696"/>
              <a:gd name="T16" fmla="*/ 2147483646 w 1824"/>
              <a:gd name="T17" fmla="*/ 2147483646 h 1696"/>
              <a:gd name="T18" fmla="*/ 2147483646 w 1824"/>
              <a:gd name="T19" fmla="*/ 2147483646 h 1696"/>
              <a:gd name="T20" fmla="*/ 2147483646 w 1824"/>
              <a:gd name="T21" fmla="*/ 2147483646 h 1696"/>
              <a:gd name="T22" fmla="*/ 2147483646 w 1824"/>
              <a:gd name="T23" fmla="*/ 2147483646 h 1696"/>
              <a:gd name="T24" fmla="*/ 2147483646 w 1824"/>
              <a:gd name="T25" fmla="*/ 2147483646 h 1696"/>
              <a:gd name="T26" fmla="*/ 2147483646 w 1824"/>
              <a:gd name="T27" fmla="*/ 2147483646 h 1696"/>
              <a:gd name="T28" fmla="*/ 2147483646 w 1824"/>
              <a:gd name="T29" fmla="*/ 2147483646 h 1696"/>
              <a:gd name="T30" fmla="*/ 2147483646 w 1824"/>
              <a:gd name="T31" fmla="*/ 2147483646 h 1696"/>
              <a:gd name="T32" fmla="*/ 2147483646 w 1824"/>
              <a:gd name="T33" fmla="*/ 2147483646 h 1696"/>
              <a:gd name="T34" fmla="*/ 2147483646 w 1824"/>
              <a:gd name="T35" fmla="*/ 2147483646 h 1696"/>
              <a:gd name="T36" fmla="*/ 2147483646 w 1824"/>
              <a:gd name="T37" fmla="*/ 2147483646 h 1696"/>
              <a:gd name="T38" fmla="*/ 2147483646 w 1824"/>
              <a:gd name="T39" fmla="*/ 2147483646 h 1696"/>
              <a:gd name="T40" fmla="*/ 2147483646 w 1824"/>
              <a:gd name="T41" fmla="*/ 0 h 1696"/>
              <a:gd name="T42" fmla="*/ 2147483646 w 1824"/>
              <a:gd name="T43" fmla="*/ 2147483646 h 169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1824" h="1696">
                <a:moveTo>
                  <a:pt x="0" y="1632"/>
                </a:moveTo>
                <a:cubicBezTo>
                  <a:pt x="76" y="1628"/>
                  <a:pt x="152" y="1624"/>
                  <a:pt x="192" y="1584"/>
                </a:cubicBezTo>
                <a:cubicBezTo>
                  <a:pt x="232" y="1544"/>
                  <a:pt x="224" y="1384"/>
                  <a:pt x="240" y="1392"/>
                </a:cubicBezTo>
                <a:cubicBezTo>
                  <a:pt x="256" y="1400"/>
                  <a:pt x="272" y="1656"/>
                  <a:pt x="288" y="1632"/>
                </a:cubicBezTo>
                <a:cubicBezTo>
                  <a:pt x="304" y="1608"/>
                  <a:pt x="320" y="1248"/>
                  <a:pt x="336" y="1248"/>
                </a:cubicBezTo>
                <a:cubicBezTo>
                  <a:pt x="352" y="1248"/>
                  <a:pt x="368" y="1640"/>
                  <a:pt x="384" y="1632"/>
                </a:cubicBezTo>
                <a:cubicBezTo>
                  <a:pt x="400" y="1624"/>
                  <a:pt x="416" y="1192"/>
                  <a:pt x="432" y="1200"/>
                </a:cubicBezTo>
                <a:cubicBezTo>
                  <a:pt x="448" y="1208"/>
                  <a:pt x="464" y="1696"/>
                  <a:pt x="480" y="1680"/>
                </a:cubicBezTo>
                <a:cubicBezTo>
                  <a:pt x="496" y="1664"/>
                  <a:pt x="512" y="1112"/>
                  <a:pt x="528" y="1104"/>
                </a:cubicBezTo>
                <a:cubicBezTo>
                  <a:pt x="544" y="1096"/>
                  <a:pt x="560" y="1648"/>
                  <a:pt x="576" y="1632"/>
                </a:cubicBezTo>
                <a:cubicBezTo>
                  <a:pt x="592" y="1616"/>
                  <a:pt x="600" y="1008"/>
                  <a:pt x="624" y="1008"/>
                </a:cubicBezTo>
                <a:cubicBezTo>
                  <a:pt x="648" y="1008"/>
                  <a:pt x="696" y="1656"/>
                  <a:pt x="720" y="1632"/>
                </a:cubicBezTo>
                <a:cubicBezTo>
                  <a:pt x="744" y="1608"/>
                  <a:pt x="736" y="864"/>
                  <a:pt x="768" y="864"/>
                </a:cubicBezTo>
                <a:cubicBezTo>
                  <a:pt x="800" y="864"/>
                  <a:pt x="880" y="1664"/>
                  <a:pt x="912" y="1632"/>
                </a:cubicBezTo>
                <a:cubicBezTo>
                  <a:pt x="944" y="1600"/>
                  <a:pt x="920" y="672"/>
                  <a:pt x="960" y="672"/>
                </a:cubicBezTo>
                <a:cubicBezTo>
                  <a:pt x="1000" y="672"/>
                  <a:pt x="1112" y="1672"/>
                  <a:pt x="1152" y="1632"/>
                </a:cubicBezTo>
                <a:cubicBezTo>
                  <a:pt x="1192" y="1592"/>
                  <a:pt x="1160" y="432"/>
                  <a:pt x="1200" y="432"/>
                </a:cubicBezTo>
                <a:cubicBezTo>
                  <a:pt x="1240" y="432"/>
                  <a:pt x="1352" y="1680"/>
                  <a:pt x="1392" y="1632"/>
                </a:cubicBezTo>
                <a:cubicBezTo>
                  <a:pt x="1432" y="1584"/>
                  <a:pt x="1400" y="152"/>
                  <a:pt x="1440" y="144"/>
                </a:cubicBezTo>
                <a:cubicBezTo>
                  <a:pt x="1480" y="136"/>
                  <a:pt x="1600" y="1608"/>
                  <a:pt x="1632" y="1584"/>
                </a:cubicBezTo>
                <a:cubicBezTo>
                  <a:pt x="1664" y="1560"/>
                  <a:pt x="1600" y="0"/>
                  <a:pt x="1632" y="0"/>
                </a:cubicBezTo>
                <a:cubicBezTo>
                  <a:pt x="1664" y="0"/>
                  <a:pt x="1744" y="792"/>
                  <a:pt x="1824" y="1584"/>
                </a:cubicBezTo>
              </a:path>
            </a:pathLst>
          </a:custGeom>
          <a:noFill/>
          <a:ln w="38100">
            <a:solidFill>
              <a:schemeClr val="accent2"/>
            </a:solidFill>
            <a:beve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607E1F5-2A59-4A88-9DC7-CC6CDABE41AF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98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函数</a:t>
            </a:r>
            <a:r>
              <a:rPr lang="zh-CN" altLang="en-US">
                <a:ea typeface="宋体" panose="02010600030101010101" pitchFamily="2" charset="-122"/>
              </a:rPr>
              <a:t>的阶</a:t>
            </a:r>
            <a:r>
              <a:rPr lang="en-US" altLang="zh-CN">
                <a:ea typeface="宋体" panose="02010600030101010101" pitchFamily="2" charset="-122"/>
              </a:rPr>
              <a:t>的严格排序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419225"/>
            <a:ext cx="8763000" cy="4879975"/>
          </a:xfrm>
        </p:spPr>
        <p:txBody>
          <a:bodyPr/>
          <a:lstStyle/>
          <a:p>
            <a:r>
              <a:rPr lang="en-US" altLang="zh-CN" b="1">
                <a:ea typeface="宋体" panose="02010600030101010101" pitchFamily="2" charset="-122"/>
              </a:rPr>
              <a:t>暂且把 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</a:rPr>
              <a:t>f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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</a:rPr>
              <a:t>g </a:t>
            </a:r>
            <a:r>
              <a:rPr lang="en-US" altLang="zh-CN" b="1">
                <a:ea typeface="宋体" panose="02010600030101010101" pitchFamily="2" charset="-122"/>
              </a:rPr>
              <a:t>写成 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</a:rPr>
              <a:t>f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</a:rPr>
              <a:t>o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、</a:t>
            </a:r>
            <a:b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           f~g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表示 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(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请注意 </a:t>
            </a:r>
            <a:b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</a:br>
            <a:endParaRPr lang="en-US" altLang="zh-CN" b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endParaRPr lang="en-US" altLang="zh-CN" b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设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k&gt;1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，则下列各项为真：</a:t>
            </a:r>
            <a:b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 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 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log log 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 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 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log 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 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~ log</a:t>
            </a:r>
            <a:r>
              <a:rPr lang="en-US" altLang="zh-CN" b="1" i="1" baseline="-2500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n 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 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log</a:t>
            </a:r>
            <a:r>
              <a:rPr lang="en-US" altLang="zh-CN" b="1" i="1" baseline="3000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n </a:t>
            </a:r>
            <a:b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 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b="1" baseline="3000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1/</a:t>
            </a:r>
            <a:r>
              <a:rPr lang="en-US" altLang="zh-CN" b="1" i="1" baseline="3000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 n 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 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 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log 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 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 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b="1" i="1" baseline="3000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  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k</a:t>
            </a:r>
            <a:r>
              <a:rPr lang="en-US" altLang="zh-CN" b="1" i="1" baseline="3000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  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! 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MT Extra" panose="05050102010205020202" pitchFamily="18" charset="2"/>
              </a:rPr>
              <a:t> 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b="1" i="1" baseline="3000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b="1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.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.. </a:t>
            </a:r>
          </a:p>
        </p:txBody>
      </p:sp>
      <p:graphicFrame>
        <p:nvGraphicFramePr>
          <p:cNvPr id="30725" name="Object 5"/>
          <p:cNvGraphicFramePr>
            <a:graphicFrameLocks noChangeAspect="1"/>
          </p:cNvGraphicFramePr>
          <p:nvPr/>
        </p:nvGraphicFramePr>
        <p:xfrm>
          <a:off x="2895600" y="2819400"/>
          <a:ext cx="4068763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448435" imgH="419100" progId="">
                  <p:embed/>
                </p:oleObj>
              </mc:Choice>
              <mc:Fallback>
                <p:oleObj r:id="rId2" imgW="1448435" imgH="41910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819400"/>
                        <a:ext cx="4068763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FFC6B485-8F52-4AC6-AA28-555F8592CC6D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99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3425" y="731838"/>
            <a:ext cx="8410575" cy="563562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回顾：</a:t>
            </a:r>
            <a:r>
              <a:rPr lang="zh-CN" altLang="en-US">
                <a:ea typeface="宋体" panose="02010600030101010101" pitchFamily="2" charset="-122"/>
              </a:rPr>
              <a:t>函数的阶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85800" y="1600200"/>
            <a:ext cx="7772400" cy="4267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>
                <a:ea typeface="宋体" panose="02010600030101010101" pitchFamily="2" charset="-122"/>
              </a:rPr>
              <a:t>函数的阶</a:t>
            </a:r>
            <a:r>
              <a:rPr lang="en-US" altLang="zh-CN">
                <a:ea typeface="宋体" panose="02010600030101010101" pitchFamily="2" charset="-122"/>
              </a:rPr>
              <a:t>的定义，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g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RR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O(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</a:rPr>
              <a:t>g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)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: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</a:rPr>
              <a:t>{f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| 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c&gt;0 k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x&gt;k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|f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)|≤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|cg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)|}</a:t>
            </a:r>
          </a:p>
          <a:p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 o(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</a:rPr>
              <a:t>g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)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: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</a:rPr>
              <a:t>{f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 |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c&gt;0 k x&gt;k |f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)| &lt;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|cg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)|}</a:t>
            </a:r>
          </a:p>
          <a:p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(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: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{f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|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gO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)}</a:t>
            </a:r>
          </a:p>
          <a:p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(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: 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</a:rPr>
              <a:t>{f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</a:rPr>
              <a:t> | 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c&gt;0 k x&gt;k 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：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|cg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)| &lt;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|f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80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)|}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(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: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O(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</a:rPr>
              <a:t>g)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 (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13D43383-47DA-47BA-80A6-81284D4D5418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100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2771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6CFA4F05-1A1D-474F-AA1E-309741881163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100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32773" name="Group 4"/>
          <p:cNvGrpSpPr/>
          <p:nvPr/>
        </p:nvGrpSpPr>
        <p:grpSpPr bwMode="auto">
          <a:xfrm>
            <a:off x="1981200" y="2819400"/>
            <a:ext cx="5029200" cy="2438400"/>
            <a:chOff x="0" y="0"/>
            <a:chExt cx="1889" cy="1009"/>
          </a:xfrm>
        </p:grpSpPr>
        <p:grpSp>
          <p:nvGrpSpPr>
            <p:cNvPr id="32775" name="Group 5"/>
            <p:cNvGrpSpPr/>
            <p:nvPr/>
          </p:nvGrpSpPr>
          <p:grpSpPr bwMode="auto">
            <a:xfrm>
              <a:off x="0" y="90"/>
              <a:ext cx="1889" cy="919"/>
              <a:chOff x="0" y="0"/>
              <a:chExt cx="1926" cy="937"/>
            </a:xfrm>
          </p:grpSpPr>
          <p:sp>
            <p:nvSpPr>
              <p:cNvPr id="32780" name="Oval 6"/>
              <p:cNvSpPr>
                <a:spLocks noChangeArrowheads="1"/>
              </p:cNvSpPr>
              <p:nvPr/>
            </p:nvSpPr>
            <p:spPr bwMode="auto">
              <a:xfrm>
                <a:off x="21" y="3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4A4A7C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  <p:sp>
            <p:nvSpPr>
              <p:cNvPr id="32781" name="Oval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rgbClr val="D2D2FF"/>
                  </a:gs>
                  <a:gs pos="100000">
                    <a:schemeClr val="hlink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Wingdings" panose="05000000000000000000" pitchFamily="2" charset="2"/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Wingdings" panose="05000000000000000000" pitchFamily="2" charset="2"/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Wingdings" panose="05000000000000000000" pitchFamily="2" charset="2"/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 typeface="Arial" panose="020B0604020202020204" pitchFamily="34" charset="0"/>
                  <a:buNone/>
                </a:pPr>
                <a:endParaRPr lang="zh-CN" altLang="en-US" sz="1800"/>
              </a:p>
            </p:txBody>
          </p:sp>
        </p:grpSp>
        <p:sp>
          <p:nvSpPr>
            <p:cNvPr id="32776" name="Oval 8"/>
            <p:cNvSpPr>
              <a:spLocks noChangeArrowheads="1"/>
            </p:cNvSpPr>
            <p:nvPr/>
          </p:nvSpPr>
          <p:spPr bwMode="auto">
            <a:xfrm>
              <a:off x="89" y="0"/>
              <a:ext cx="1691" cy="845"/>
            </a:xfrm>
            <a:prstGeom prst="ellipse">
              <a:avLst/>
            </a:prstGeom>
            <a:gradFill rotWithShape="1">
              <a:gsLst>
                <a:gs pos="0">
                  <a:srgbClr val="37556B"/>
                </a:gs>
                <a:gs pos="100000">
                  <a:schemeClr val="accent1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32777" name="Oval 9"/>
            <p:cNvSpPr>
              <a:spLocks noChangeArrowheads="1"/>
            </p:cNvSpPr>
            <p:nvPr/>
          </p:nvSpPr>
          <p:spPr bwMode="auto">
            <a:xfrm>
              <a:off x="111" y="5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rgbClr val="D0E6F7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32778" name="Oval 10"/>
            <p:cNvSpPr>
              <a:spLocks noChangeArrowheads="1"/>
            </p:cNvSpPr>
            <p:nvPr/>
          </p:nvSpPr>
          <p:spPr bwMode="auto">
            <a:xfrm>
              <a:off x="128" y="13"/>
              <a:ext cx="1570" cy="770"/>
            </a:xfrm>
            <a:prstGeom prst="ellipse">
              <a:avLst/>
            </a:prstGeom>
            <a:gradFill rotWithShape="1">
              <a:gsLst>
                <a:gs pos="0">
                  <a:srgbClr val="5E91B7"/>
                </a:gs>
                <a:gs pos="100000">
                  <a:schemeClr val="accent1">
                    <a:alpha val="48000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  <p:sp>
          <p:nvSpPr>
            <p:cNvPr id="32779" name="Oval 11"/>
            <p:cNvSpPr>
              <a:spLocks noChangeArrowheads="1"/>
            </p:cNvSpPr>
            <p:nvPr/>
          </p:nvSpPr>
          <p:spPr bwMode="auto">
            <a:xfrm>
              <a:off x="211" y="30"/>
              <a:ext cx="1382" cy="62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1">
                    <a:alpha val="37999"/>
                  </a:schemeClr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Arial" panose="020B0604020202020204" pitchFamily="34" charset="0"/>
                <a:buNone/>
              </a:pPr>
              <a:endParaRPr lang="zh-CN" altLang="en-US" sz="1800"/>
            </a:p>
          </p:txBody>
        </p:sp>
      </p:grpSp>
      <p:sp>
        <p:nvSpPr>
          <p:cNvPr id="3277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819400" y="3505200"/>
            <a:ext cx="3657600" cy="685800"/>
          </a:xfrm>
        </p:spPr>
        <p:txBody>
          <a:bodyPr/>
          <a:lstStyle/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ea typeface="宋体" panose="02010600030101010101" pitchFamily="2" charset="-122"/>
              </a:rPr>
              <a:t>应用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63541F62-3559-4FB5-B5E4-D3679DC9B803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101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快速证明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b="1">
                <a:ea typeface="宋体" panose="02010600030101010101" pitchFamily="2" charset="-122"/>
              </a:rPr>
              <a:t>快速证明：</a:t>
            </a:r>
          </a:p>
          <a:p>
            <a:r>
              <a:rPr lang="en-US" altLang="zh-CN" b="1">
                <a:ea typeface="宋体" panose="02010600030101010101" pitchFamily="2" charset="-122"/>
              </a:rPr>
              <a:t>1.</a:t>
            </a:r>
          </a:p>
          <a:p>
            <a:r>
              <a:rPr lang="en-US" altLang="zh-CN" b="1">
                <a:ea typeface="宋体" panose="02010600030101010101" pitchFamily="2" charset="-122"/>
              </a:rPr>
              <a:t>2.  </a:t>
            </a:r>
          </a:p>
        </p:txBody>
      </p:sp>
      <p:graphicFrame>
        <p:nvGraphicFramePr>
          <p:cNvPr id="33797" name="Object 5"/>
          <p:cNvGraphicFramePr>
            <a:graphicFrameLocks noChangeAspect="1"/>
          </p:cNvGraphicFramePr>
          <p:nvPr/>
        </p:nvGraphicFramePr>
        <p:xfrm>
          <a:off x="4514850" y="3340100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4300" imgH="177800" progId="Equation.DSMT4">
                  <p:embed/>
                </p:oleObj>
              </mc:Choice>
              <mc:Fallback>
                <p:oleObj r:id="rId2" imgW="114300" imgH="177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40100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Object 6"/>
          <p:cNvGraphicFramePr>
            <a:graphicFrameLocks noChangeAspect="1"/>
          </p:cNvGraphicFramePr>
          <p:nvPr/>
        </p:nvGraphicFramePr>
        <p:xfrm>
          <a:off x="1371600" y="1981200"/>
          <a:ext cx="187325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98500" imgH="279400" progId="Equation.DSMT4">
                  <p:embed/>
                </p:oleObj>
              </mc:Choice>
              <mc:Fallback>
                <p:oleObj r:id="rId4" imgW="698500" imgH="279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981200"/>
                        <a:ext cx="187325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9" name="Object 7"/>
          <p:cNvGraphicFramePr>
            <a:graphicFrameLocks noChangeAspect="1"/>
          </p:cNvGraphicFramePr>
          <p:nvPr/>
        </p:nvGraphicFramePr>
        <p:xfrm>
          <a:off x="1387475" y="2514600"/>
          <a:ext cx="1839913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86435" imgH="279400" progId="Equation.DSMT4">
                  <p:embed/>
                </p:oleObj>
              </mc:Choice>
              <mc:Fallback>
                <p:oleObj r:id="rId6" imgW="686435" imgH="279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475" y="2514600"/>
                        <a:ext cx="1839913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3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F088A8D4-A18F-415D-ABB3-78D8E867CBA3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102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快速证明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b="1">
                <a:ea typeface="宋体" panose="02010600030101010101" pitchFamily="2" charset="-122"/>
              </a:rPr>
              <a:t>快速证明：</a:t>
            </a:r>
          </a:p>
          <a:p>
            <a:r>
              <a:rPr lang="en-US" altLang="zh-CN" b="1">
                <a:ea typeface="宋体" panose="02010600030101010101" pitchFamily="2" charset="-122"/>
              </a:rPr>
              <a:t>1.</a:t>
            </a:r>
          </a:p>
          <a:p>
            <a:r>
              <a:rPr lang="en-US" altLang="zh-CN" b="1">
                <a:ea typeface="宋体" panose="02010600030101010101" pitchFamily="2" charset="-122"/>
              </a:rPr>
              <a:t>2.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ea typeface="宋体" panose="02010600030101010101" pitchFamily="2" charset="-122"/>
              </a:rPr>
              <a:t>解决方案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ea typeface="宋体" panose="02010600030101010101" pitchFamily="2" charset="-122"/>
              </a:rPr>
              <a:t>1.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b="1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ea typeface="宋体" panose="02010600030101010101" pitchFamily="2" charset="-122"/>
              </a:rPr>
              <a:t>2.   </a:t>
            </a:r>
          </a:p>
        </p:txBody>
      </p:sp>
      <p:graphicFrame>
        <p:nvGraphicFramePr>
          <p:cNvPr id="34821" name="Object 5"/>
          <p:cNvGraphicFramePr>
            <a:graphicFrameLocks noChangeAspect="1"/>
          </p:cNvGraphicFramePr>
          <p:nvPr/>
        </p:nvGraphicFramePr>
        <p:xfrm>
          <a:off x="4514850" y="3340100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4300" imgH="177800" progId="Equation.DSMT4">
                  <p:embed/>
                </p:oleObj>
              </mc:Choice>
              <mc:Fallback>
                <p:oleObj r:id="rId2" imgW="114300" imgH="177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40100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2" name="Object 6"/>
          <p:cNvGraphicFramePr>
            <a:graphicFrameLocks noChangeAspect="1"/>
          </p:cNvGraphicFramePr>
          <p:nvPr/>
        </p:nvGraphicFramePr>
        <p:xfrm>
          <a:off x="1371600" y="1981200"/>
          <a:ext cx="187325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98500" imgH="279400" progId="Equation.DSMT4">
                  <p:embed/>
                </p:oleObj>
              </mc:Choice>
              <mc:Fallback>
                <p:oleObj r:id="rId4" imgW="698500" imgH="2794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981200"/>
                        <a:ext cx="187325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3" name="Object 7"/>
          <p:cNvGraphicFramePr>
            <a:graphicFrameLocks noChangeAspect="1"/>
          </p:cNvGraphicFramePr>
          <p:nvPr/>
        </p:nvGraphicFramePr>
        <p:xfrm>
          <a:off x="1387475" y="2514600"/>
          <a:ext cx="1839913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86435" imgH="279400" progId="Equation.DSMT4">
                  <p:embed/>
                </p:oleObj>
              </mc:Choice>
              <mc:Fallback>
                <p:oleObj r:id="rId6" imgW="686435" imgH="279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475" y="2514600"/>
                        <a:ext cx="1839913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4" name="Object 8"/>
          <p:cNvGraphicFramePr>
            <a:graphicFrameLocks noChangeAspect="1"/>
          </p:cNvGraphicFramePr>
          <p:nvPr/>
        </p:nvGraphicFramePr>
        <p:xfrm>
          <a:off x="990600" y="4800600"/>
          <a:ext cx="18351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800100" imgH="431800" progId="Equation.DSMT4">
                  <p:embed/>
                </p:oleObj>
              </mc:Choice>
              <mc:Fallback>
                <p:oleObj r:id="rId8" imgW="800100" imgH="431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800600"/>
                        <a:ext cx="183515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5" name="Object 9"/>
          <p:cNvGraphicFramePr>
            <a:graphicFrameLocks noChangeAspect="1"/>
          </p:cNvGraphicFramePr>
          <p:nvPr/>
        </p:nvGraphicFramePr>
        <p:xfrm>
          <a:off x="2971800" y="4953000"/>
          <a:ext cx="1839913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686435" imgH="279400" progId="Equation.DSMT4">
                  <p:embed/>
                </p:oleObj>
              </mc:Choice>
              <mc:Fallback>
                <p:oleObj r:id="rId10" imgW="686435" imgH="2794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953000"/>
                        <a:ext cx="1839913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6" name="Object 10"/>
          <p:cNvGraphicFramePr>
            <a:graphicFrameLocks noChangeAspect="1"/>
          </p:cNvGraphicFramePr>
          <p:nvPr/>
        </p:nvGraphicFramePr>
        <p:xfrm>
          <a:off x="990600" y="3733800"/>
          <a:ext cx="1893888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825500" imgH="431800" progId="Equation.DSMT4">
                  <p:embed/>
                </p:oleObj>
              </mc:Choice>
              <mc:Fallback>
                <p:oleObj r:id="rId11" imgW="825500" imgH="4318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733800"/>
                        <a:ext cx="1893888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7" name="Object 11"/>
          <p:cNvGraphicFramePr>
            <a:graphicFrameLocks noChangeAspect="1"/>
          </p:cNvGraphicFramePr>
          <p:nvPr/>
        </p:nvGraphicFramePr>
        <p:xfrm>
          <a:off x="2971800" y="3886200"/>
          <a:ext cx="187325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698500" imgH="279400" progId="Equation.DSMT4">
                  <p:embed/>
                </p:oleObj>
              </mc:Choice>
              <mc:Fallback>
                <p:oleObj r:id="rId13" imgW="698500" imgH="2794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886200"/>
                        <a:ext cx="1873250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8" name="TextBox 12"/>
          <p:cNvSpPr txBox="1">
            <a:spLocks noChangeArrowheads="1"/>
          </p:cNvSpPr>
          <p:nvPr/>
        </p:nvSpPr>
        <p:spPr bwMode="auto">
          <a:xfrm>
            <a:off x="5029200" y="2667000"/>
            <a:ext cx="3200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800"/>
              <a:t>这些简单的例子告诉你如何证明这一点。</a:t>
            </a:r>
            <a:endParaRPr lang="zh-CN" altLang="en-US" sz="180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35E387F-2AFD-4412-BECA-89BD774E283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103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 txBox="1">
            <a:spLocks noGrp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3DE31B2-55E1-4170-8A5E-65780013EC6C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103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7173" name="Group 4"/>
          <p:cNvGrpSpPr/>
          <p:nvPr/>
        </p:nvGrpSpPr>
        <p:grpSpPr bwMode="auto">
          <a:xfrm>
            <a:off x="1981200" y="2819400"/>
            <a:ext cx="5029200" cy="2438400"/>
            <a:chOff x="1997" y="1314"/>
            <a:chExt cx="1889" cy="1009"/>
          </a:xfrm>
        </p:grpSpPr>
        <p:grpSp>
          <p:nvGrpSpPr>
            <p:cNvPr id="7175" name="Group 5"/>
            <p:cNvGrpSpPr/>
            <p:nvPr/>
          </p:nvGrpSpPr>
          <p:grpSpPr bwMode="auto">
            <a:xfrm>
              <a:off x="1997" y="1404"/>
              <a:ext cx="1889" cy="919"/>
              <a:chOff x="1973" y="1027"/>
              <a:chExt cx="1926" cy="937"/>
            </a:xfrm>
          </p:grpSpPr>
          <p:sp>
            <p:nvSpPr>
              <p:cNvPr id="55302" name="Oval 6"/>
              <p:cNvSpPr>
                <a:spLocks noChangeArrowheads="1"/>
              </p:cNvSpPr>
              <p:nvPr/>
            </p:nvSpPr>
            <p:spPr bwMode="gray">
              <a:xfrm>
                <a:off x="1994" y="1057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hlink">
                      <a:gamma/>
                      <a:shade val="48627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17347D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5303" name="Oval 7"/>
              <p:cNvSpPr>
                <a:spLocks noChangeArrowheads="1"/>
              </p:cNvSpPr>
              <p:nvPr/>
            </p:nvSpPr>
            <p:spPr bwMode="gray">
              <a:xfrm>
                <a:off x="1973" y="1027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44314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17347D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5304" name="Oval 8"/>
            <p:cNvSpPr>
              <a:spLocks noChangeArrowheads="1"/>
            </p:cNvSpPr>
            <p:nvPr/>
          </p:nvSpPr>
          <p:spPr bwMode="gray">
            <a:xfrm>
              <a:off x="2086" y="1314"/>
              <a:ext cx="1691" cy="845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05" name="Oval 9"/>
            <p:cNvSpPr>
              <a:spLocks noChangeArrowheads="1"/>
            </p:cNvSpPr>
            <p:nvPr/>
          </p:nvSpPr>
          <p:spPr bwMode="gray">
            <a:xfrm>
              <a:off x="2108" y="1319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gamma/>
                    <a:tint val="34902"/>
                    <a:invGamma/>
                  </a:schemeClr>
                </a:gs>
              </a:gsLst>
              <a:lin ang="27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06" name="Oval 10"/>
            <p:cNvSpPr>
              <a:spLocks noChangeArrowheads="1"/>
            </p:cNvSpPr>
            <p:nvPr/>
          </p:nvSpPr>
          <p:spPr bwMode="gray">
            <a:xfrm>
              <a:off x="2125" y="1327"/>
              <a:ext cx="1570" cy="770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79216"/>
                    <a:invGamma/>
                  </a:schemeClr>
                </a:gs>
                <a:gs pos="100000">
                  <a:schemeClr val="accent1">
                    <a:alpha val="48000"/>
                  </a:schemeClr>
                </a:gs>
              </a:gsLst>
              <a:lin ang="27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07" name="Oval 11"/>
            <p:cNvSpPr>
              <a:spLocks noChangeArrowheads="1"/>
            </p:cNvSpPr>
            <p:nvPr/>
          </p:nvSpPr>
          <p:spPr bwMode="gray">
            <a:xfrm>
              <a:off x="2208" y="1344"/>
              <a:ext cx="1382" cy="6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chemeClr val="accent1">
                    <a:alpha val="38000"/>
                  </a:schemeClr>
                </a:gs>
              </a:gsLst>
              <a:lin ang="27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7174" name="Rectangle 3"/>
          <p:cNvSpPr>
            <a:spLocks noGrp="1" noChangeArrowheads="1"/>
          </p:cNvSpPr>
          <p:nvPr>
            <p:ph idx="1"/>
          </p:nvPr>
        </p:nvSpPr>
        <p:spPr>
          <a:xfrm>
            <a:off x="3136312" y="3429000"/>
            <a:ext cx="3940755" cy="5334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3600" b="1" dirty="0">
                <a:ea typeface="宋体" panose="02010600030101010101" pitchFamily="2" charset="-122"/>
              </a:rPr>
              <a:t>时间复杂</a:t>
            </a:r>
            <a:r>
              <a:rPr lang="zh-CN" altLang="en-US" sz="3600" b="1" dirty="0">
                <a:ea typeface="宋体" panose="02010600030101010101" pitchFamily="2" charset="-122"/>
              </a:rPr>
              <a:t>度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CC6FF63-B2A3-4645-ACCE-DDD6C568BAC2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104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什么是</a:t>
            </a:r>
            <a:r>
              <a:rPr lang="en-US" altLang="zh-CN" i="1">
                <a:ea typeface="宋体" panose="02010600030101010101" pitchFamily="2" charset="-122"/>
              </a:rPr>
              <a:t>复杂</a:t>
            </a:r>
            <a:r>
              <a:rPr lang="zh-CN" altLang="en-US" i="1">
                <a:ea typeface="宋体" panose="02010600030101010101" pitchFamily="2" charset="-122"/>
              </a:rPr>
              <a:t>度</a:t>
            </a:r>
            <a:r>
              <a:rPr lang="en-US" altLang="zh-CN">
                <a:ea typeface="宋体" panose="02010600030101010101" pitchFamily="2" charset="-122"/>
              </a:rPr>
              <a:t>？</a:t>
            </a:r>
          </a:p>
        </p:txBody>
      </p:sp>
      <p:sp>
        <p:nvSpPr>
          <p:cNvPr id="16691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524000"/>
            <a:ext cx="8610600" cy="42672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800" b="1" i="1">
                <a:ea typeface="宋体" panose="02010600030101010101" pitchFamily="2" charset="-122"/>
              </a:rPr>
              <a:t>复杂</a:t>
            </a:r>
            <a:r>
              <a:rPr lang="zh-CN" altLang="en-US" sz="2800" b="1" i="1">
                <a:ea typeface="宋体" panose="02010600030101010101" pitchFamily="2" charset="-122"/>
              </a:rPr>
              <a:t>度</a:t>
            </a:r>
            <a:r>
              <a:rPr lang="en-US" altLang="zh-CN" sz="2800" b="1">
                <a:ea typeface="宋体" panose="02010600030101010101" pitchFamily="2" charset="-122"/>
              </a:rPr>
              <a:t>一词在不同的研究领域有各种不同的技术含义。</a:t>
            </a:r>
          </a:p>
          <a:p>
            <a:pPr>
              <a:lnSpc>
                <a:spcPct val="80000"/>
              </a:lnSpc>
            </a:pP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复杂系统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是一个研究复杂、难以分析的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非线性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和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混沌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自然与人工系统的领域。</a:t>
            </a:r>
          </a:p>
          <a:p>
            <a:pPr>
              <a:lnSpc>
                <a:spcPct val="80000"/>
              </a:lnSpc>
            </a:pPr>
            <a:r>
              <a:rPr lang="en-US" altLang="zh-CN" sz="2800" b="1">
                <a:solidFill>
                  <a:srgbClr val="006600"/>
                </a:solidFill>
                <a:ea typeface="宋体" panose="02010600030101010101" pitchFamily="2" charset="-122"/>
              </a:rPr>
              <a:t>另一个概念：</a:t>
            </a:r>
            <a:r>
              <a:rPr lang="en-US" altLang="zh-CN" sz="2800" b="1" i="1">
                <a:solidFill>
                  <a:srgbClr val="006600"/>
                </a:solidFill>
                <a:ea typeface="宋体" panose="02010600030101010101" pitchFamily="2" charset="-122"/>
              </a:rPr>
              <a:t>信息或描述复杂性</a:t>
            </a:r>
            <a:r>
              <a:rPr lang="en-US" altLang="zh-CN" sz="2800" b="1">
                <a:solidFill>
                  <a:srgbClr val="006600"/>
                </a:solidFill>
                <a:ea typeface="宋体" panose="02010600030101010101" pitchFamily="2" charset="-122"/>
              </a:rPr>
              <a:t>：完整描述一个对象所需的</a:t>
            </a:r>
            <a:r>
              <a:rPr lang="en-US" altLang="zh-CN" sz="2800" b="1" i="1">
                <a:solidFill>
                  <a:srgbClr val="006600"/>
                </a:solidFill>
                <a:ea typeface="宋体" panose="02010600030101010101" pitchFamily="2" charset="-122"/>
              </a:rPr>
              <a:t>信息量</a:t>
            </a:r>
            <a:r>
              <a:rPr lang="en-US" altLang="zh-CN" sz="2800" b="1">
                <a:solidFill>
                  <a:srgbClr val="006600"/>
                </a:solidFill>
                <a:ea typeface="宋体" panose="02010600030101010101" pitchFamily="2" charset="-122"/>
              </a:rPr>
              <a:t>。</a:t>
            </a:r>
          </a:p>
          <a:p>
            <a:pPr lvl="1">
              <a:lnSpc>
                <a:spcPct val="80000"/>
              </a:lnSpc>
            </a:pPr>
            <a:r>
              <a:rPr lang="en-US" altLang="zh-CN" sz="2400" b="1">
                <a:ea typeface="宋体" panose="02010600030101010101" pitchFamily="2" charset="-122"/>
              </a:rPr>
              <a:t>正如 Kolmogorov、Chaitin、Bennett 等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人</a:t>
            </a:r>
            <a:r>
              <a:rPr lang="en-US" altLang="zh-CN" sz="2400" b="1">
                <a:ea typeface="宋体" panose="02010600030101010101" pitchFamily="2" charset="-122"/>
              </a:rPr>
              <a:t>所研究的那样</a:t>
            </a:r>
            <a:r>
              <a:rPr lang="en-US" altLang="zh-CN" sz="2400">
                <a:ea typeface="宋体" panose="02010600030101010101" pitchFamily="2" charset="-122"/>
              </a:rPr>
              <a:t>... </a:t>
            </a:r>
            <a:endParaRPr lang="en-US" altLang="zh-CN" sz="2400">
              <a:solidFill>
                <a:srgbClr val="800080"/>
              </a:solidFill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在本课程中，我们将学习</a:t>
            </a:r>
            <a:r>
              <a:rPr lang="en-US" altLang="zh-CN" sz="2800" b="1" i="1">
                <a:solidFill>
                  <a:srgbClr val="FF0000"/>
                </a:solidFill>
                <a:ea typeface="宋体" panose="02010600030101010101" pitchFamily="2" charset="-122"/>
              </a:rPr>
              <a:t>算法或计算</a:t>
            </a:r>
            <a:r>
              <a:rPr lang="zh-CN" altLang="en-US" sz="2800" b="1" i="1">
                <a:solidFill>
                  <a:srgbClr val="FF0000"/>
                </a:solidFill>
                <a:ea typeface="宋体" panose="02010600030101010101" pitchFamily="2" charset="-122"/>
              </a:rPr>
              <a:t>复杂度</a:t>
            </a: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66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5" grpId="0" build="p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AAC30F-35FB-4DA8-BC69-18D5FDEDE61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105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§2.3:算法复杂</a:t>
            </a:r>
            <a:r>
              <a:rPr lang="zh-CN" altLang="en-US">
                <a:ea typeface="宋体" panose="02010600030101010101" pitchFamily="2" charset="-122"/>
              </a:rPr>
              <a:t>度</a:t>
            </a:r>
          </a:p>
        </p:txBody>
      </p:sp>
      <p:sp>
        <p:nvSpPr>
          <p:cNvPr id="167939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600200"/>
            <a:ext cx="8991600" cy="4267200"/>
          </a:xfrm>
        </p:spPr>
        <p:txBody>
          <a:bodyPr/>
          <a:lstStyle/>
          <a:p>
            <a:r>
              <a:rPr lang="zh-CN" altLang="en-US" sz="2800" b="1">
                <a:ea typeface="宋体" panose="02010600030101010101" pitchFamily="2" charset="-122"/>
              </a:rPr>
              <a:t>计算的算法复杂度通常是衡量执行该计算任务难度的标准</a:t>
            </a:r>
            <a:r>
              <a:rPr lang="en-US" altLang="zh-CN" sz="2800" b="1">
                <a:ea typeface="宋体" panose="02010600030101010101" pitchFamily="2" charset="-122"/>
              </a:rPr>
              <a:t>。</a:t>
            </a:r>
          </a:p>
          <a:p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也就是说，它衡量的是计算成本的某个方面（一般意义上的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"</a:t>
            </a: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成本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）。</a:t>
            </a:r>
          </a:p>
          <a:p>
            <a:pPr lvl="1"/>
            <a:r>
              <a:rPr lang="en-US" altLang="zh-CN" sz="2400" b="1">
                <a:ea typeface="宋体" panose="02010600030101010101" pitchFamily="2" charset="-122"/>
              </a:rPr>
              <a:t>进行计算所需的资源量。</a:t>
            </a:r>
          </a:p>
          <a:p>
            <a:r>
              <a:rPr lang="en-US" altLang="zh-CN" sz="2800" b="1">
                <a:ea typeface="宋体" panose="02010600030101010101" pitchFamily="2" charset="-122"/>
              </a:rPr>
              <a:t>一些最常见的复杂性措施：</a:t>
            </a:r>
          </a:p>
          <a:p>
            <a:pPr lvl="1"/>
            <a:r>
              <a:rPr lang="en-US" altLang="zh-CN" sz="2400" b="1">
                <a:ea typeface="宋体" panose="02010600030101010101" pitchFamily="2" charset="-122"/>
              </a:rPr>
              <a:t>"时间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 "</a:t>
            </a:r>
            <a:r>
              <a:rPr lang="en-US" altLang="zh-CN" sz="2400" b="1">
                <a:ea typeface="宋体" panose="02010600030101010101" pitchFamily="2" charset="-122"/>
              </a:rPr>
              <a:t>复杂</a:t>
            </a:r>
            <a:r>
              <a:rPr lang="zh-CN" altLang="en-US" sz="2400" b="1">
                <a:ea typeface="宋体" panose="02010600030101010101" pitchFamily="2" charset="-122"/>
              </a:rPr>
              <a:t>度</a:t>
            </a:r>
            <a:r>
              <a:rPr lang="en-US" altLang="zh-CN" sz="2400" b="1">
                <a:ea typeface="宋体" panose="02010600030101010101" pitchFamily="2" charset="-122"/>
              </a:rPr>
              <a:t>：# 所需的操作或步骤数</a:t>
            </a:r>
          </a:p>
          <a:p>
            <a:pPr lvl="1"/>
            <a:r>
              <a:rPr lang="en-US" altLang="zh-CN" sz="2400" b="1">
                <a:ea typeface="宋体" panose="02010600030101010101" pitchFamily="2" charset="-122"/>
              </a:rPr>
              <a:t>"空间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sz="2400" b="1">
                <a:ea typeface="宋体" panose="02010600030101010101" pitchFamily="2" charset="-122"/>
              </a:rPr>
              <a:t>复杂</a:t>
            </a:r>
            <a:r>
              <a:rPr lang="zh-CN" altLang="en-US" sz="2400" b="1">
                <a:ea typeface="宋体" panose="02010600030101010101" pitchFamily="2" charset="-122"/>
              </a:rPr>
              <a:t>度</a:t>
            </a:r>
            <a:r>
              <a:rPr lang="en-US" altLang="zh-CN" sz="2400" b="1">
                <a:ea typeface="宋体" panose="02010600030101010101" pitchFamily="2" charset="-122"/>
              </a:rPr>
              <a:t>：# 所需内存位数</a:t>
            </a:r>
          </a:p>
        </p:txBody>
      </p:sp>
      <p:grpSp>
        <p:nvGrpSpPr>
          <p:cNvPr id="2" name="Group 4"/>
          <p:cNvGrpSpPr/>
          <p:nvPr/>
        </p:nvGrpSpPr>
        <p:grpSpPr bwMode="auto">
          <a:xfrm>
            <a:off x="1066800" y="4767263"/>
            <a:ext cx="7086600" cy="1219200"/>
            <a:chOff x="720" y="3264"/>
            <a:chExt cx="4464" cy="768"/>
          </a:xfrm>
        </p:grpSpPr>
        <p:sp>
          <p:nvSpPr>
            <p:cNvPr id="9222" name="Oval 5"/>
            <p:cNvSpPr>
              <a:spLocks noChangeArrowheads="1"/>
            </p:cNvSpPr>
            <p:nvPr/>
          </p:nvSpPr>
          <p:spPr bwMode="auto">
            <a:xfrm>
              <a:off x="720" y="3264"/>
              <a:ext cx="4464" cy="384"/>
            </a:xfrm>
            <a:prstGeom prst="ellipse">
              <a:avLst/>
            </a:prstGeom>
            <a:noFill/>
            <a:ln w="63500">
              <a:solidFill>
                <a:srgbClr val="FF0000"/>
              </a:solidFill>
              <a:rou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23" name="WordArt 6"/>
            <p:cNvSpPr>
              <a:spLocks noChangeArrowheads="1" noChangeShapeType="1" noTextEdit="1"/>
            </p:cNvSpPr>
            <p:nvPr/>
          </p:nvSpPr>
          <p:spPr bwMode="auto">
            <a:xfrm>
              <a:off x="1056" y="3840"/>
              <a:ext cx="3504" cy="192"/>
            </a:xfrm>
            <a:prstGeom prst="rect">
              <a:avLst/>
            </a:prstGeom>
          </p:spPr>
          <p:txBody>
            <a:bodyPr spcFirstLastPara="1" wrap="none" fromWordArt="1">
              <a:prstTxWarp prst="textArchDown">
                <a:avLst>
                  <a:gd name="adj" fmla="val 0"/>
                </a:avLst>
              </a:prstTxWarp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0" i="0" u="none" strike="noStrike" kern="10" cap="none" spc="0" normalizeH="0" baseline="0" noProof="0">
                  <a:ln w="50800">
                    <a:solidFill>
                      <a:srgbClr val="000000"/>
                    </a:solidFill>
                    <a:round/>
                    <a:tailEnd type="none" w="lg" len="med"/>
                  </a:ln>
                  <a:gradFill rotWithShape="1">
                    <a:gsLst>
                      <a:gs pos="0">
                        <a:srgbClr val="77B7E7"/>
                      </a:gs>
                      <a:gs pos="100000">
                        <a:srgbClr val="F6B05C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Plump MT"/>
                  <a:ea typeface="宋体" panose="02010600030101010101" pitchFamily="2" charset="-122"/>
                  <a:cs typeface="+mn-cs"/>
                </a:rPr>
                <a:t>我们的重点</a:t>
              </a:r>
              <a:endParaRPr kumimoji="0" lang="zh-CN" altLang="en-US" sz="3600" b="0" i="0" u="none" strike="noStrike" kern="10" cap="none" spc="0" normalizeH="0" baseline="0" noProof="0">
                <a:ln w="50800">
                  <a:solidFill>
                    <a:srgbClr val="000000"/>
                  </a:solidFill>
                  <a:round/>
                  <a:tailEnd type="none" w="lg" len="med"/>
                </a:ln>
                <a:gradFill rotWithShape="1">
                  <a:gsLst>
                    <a:gs pos="0">
                      <a:srgbClr val="77B7E7"/>
                    </a:gs>
                    <a:gs pos="100000">
                      <a:srgbClr val="F6B05C"/>
                    </a:gs>
                  </a:gsLst>
                  <a:lin ang="5400000" scaled="1"/>
                </a:gradFill>
                <a:effectLst/>
                <a:uLnTx/>
                <a:uFillTx/>
                <a:latin typeface="Plump MT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67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39" grpId="0" build="p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BE365AC-699F-45BE-A0D6-41FF4CD76BB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106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复杂</a:t>
            </a:r>
            <a:r>
              <a:rPr lang="zh-CN" altLang="en-US">
                <a:ea typeface="宋体" panose="02010600030101010101" pitchFamily="2" charset="-122"/>
              </a:rPr>
              <a:t>度</a:t>
            </a:r>
            <a:r>
              <a:rPr lang="en-US" altLang="zh-CN">
                <a:ea typeface="宋体" panose="02010600030101010101" pitchFamily="2" charset="-122"/>
              </a:rPr>
              <a:t>取决于输入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752600"/>
            <a:ext cx="8382000" cy="4191000"/>
          </a:xfrm>
        </p:spPr>
        <p:txBody>
          <a:bodyPr/>
          <a:lstStyle/>
          <a:p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大多数算法对于不同大小的输入具有不同的复杂</a:t>
            </a:r>
            <a:r>
              <a:rPr lang="zh-CN" altLang="en-US">
                <a:solidFill>
                  <a:srgbClr val="000000"/>
                </a:solidFill>
                <a:ea typeface="宋体" panose="02010600030101010101" pitchFamily="2" charset="-122"/>
              </a:rPr>
              <a:t>度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。</a:t>
            </a:r>
            <a:r>
              <a:rPr lang="en-US" altLang="zh-CN">
                <a:ea typeface="宋体" panose="02010600030101010101" pitchFamily="2" charset="-122"/>
              </a:rPr>
              <a:t>  </a:t>
            </a:r>
          </a:p>
          <a:p>
            <a:pPr lvl="1"/>
            <a:r>
              <a:rPr lang="en-US" altLang="zh-CN" b="1" i="1">
                <a:ea typeface="宋体" panose="02010600030101010101" pitchFamily="2" charset="-122"/>
              </a:rPr>
              <a:t>例如，</a:t>
            </a:r>
            <a:r>
              <a:rPr lang="en-US" altLang="zh-CN" b="1">
                <a:ea typeface="宋体" panose="02010600030101010101" pitchFamily="2" charset="-122"/>
              </a:rPr>
              <a:t>搜索长列表通常要比搜索短列表花费更多时间。</a:t>
            </a:r>
          </a:p>
          <a:p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因此，复杂度通常用输入长度的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</a:rPr>
              <a:t>函数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来表示。</a:t>
            </a:r>
          </a:p>
          <a:p>
            <a:pPr lvl="1"/>
            <a:r>
              <a:rPr lang="en-US" altLang="zh-CN" b="1">
                <a:ea typeface="宋体" panose="02010600030101010101" pitchFamily="2" charset="-122"/>
              </a:rPr>
              <a:t>该函数通常给出任何给定长度的</a:t>
            </a:r>
            <a:r>
              <a:rPr lang="en-US" altLang="zh-CN" b="1" i="1">
                <a:ea typeface="宋体" panose="02010600030101010101" pitchFamily="2" charset="-122"/>
              </a:rPr>
              <a:t>最坏情况</a:t>
            </a:r>
            <a:r>
              <a:rPr lang="en-US" altLang="zh-CN" b="1">
                <a:ea typeface="宋体" panose="02010600030101010101" pitchFamily="2" charset="-122"/>
              </a:rPr>
              <a:t>输入的复杂度。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D747968-251F-4268-9BBA-B1955202B70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107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复杂</a:t>
            </a:r>
            <a:r>
              <a:rPr lang="zh-CN" altLang="en-US">
                <a:ea typeface="宋体" panose="02010600030101010101" pitchFamily="2" charset="-122"/>
              </a:rPr>
              <a:t>度</a:t>
            </a:r>
            <a:r>
              <a:rPr lang="en-US" altLang="zh-CN">
                <a:ea typeface="宋体" panose="02010600030101010101" pitchFamily="2" charset="-122"/>
              </a:rPr>
              <a:t>和</a:t>
            </a:r>
            <a:r>
              <a:rPr lang="zh-CN" altLang="en-US">
                <a:ea typeface="宋体" panose="02010600030101010101" pitchFamily="2" charset="-122"/>
              </a:rPr>
              <a:t>函数的阶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假设对于长度为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n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的输入，算法 A 的最坏情况时间复杂度（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</a:rPr>
              <a:t>w.c.t.c.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，或简称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时间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）为 </a:t>
            </a:r>
            <a:r>
              <a:rPr lang="en-US" altLang="zh-CN" dirty="0">
                <a:solidFill>
                  <a:schemeClr val="accent2"/>
                </a:solidFill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，而算法 B（同样的任务）需要时间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g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。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假设 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(</a:t>
            </a:r>
            <a:r>
              <a:rPr lang="en-US" altLang="zh-CN" i="1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，也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写作 。</a:t>
            </a:r>
          </a:p>
          <a:p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在所有足够大的最坏输入情况下，哪种算法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最快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？</a:t>
            </a: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1269" name="Object 4"/>
          <p:cNvGraphicFramePr>
            <a:graphicFrameLocks noChangeAspect="1"/>
          </p:cNvGraphicFramePr>
          <p:nvPr/>
        </p:nvGraphicFramePr>
        <p:xfrm>
          <a:off x="7074694" y="3466701"/>
          <a:ext cx="1143000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05765" imgH="203200" progId="Equation.3">
                  <p:embed/>
                </p:oleObj>
              </mc:Choice>
              <mc:Fallback>
                <p:oleObj r:id="rId3" imgW="405765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4694" y="3466701"/>
                        <a:ext cx="1143000" cy="569913"/>
                      </a:xfrm>
                      <a:prstGeom prst="rect">
                        <a:avLst/>
                      </a:prstGeom>
                      <a:solidFill>
                        <a:srgbClr val="FFCC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0" name="WordArt 5"/>
          <p:cNvSpPr>
            <a:spLocks noChangeArrowheads="1" noChangeShapeType="1" noTextEdit="1"/>
          </p:cNvSpPr>
          <p:nvPr/>
        </p:nvSpPr>
        <p:spPr bwMode="auto">
          <a:xfrm>
            <a:off x="7239000" y="5105400"/>
            <a:ext cx="814388" cy="1123950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67514"/>
              </a:avLst>
            </a:prstTxWarp>
            <a:scene3d>
              <a:camera prst="legacyPerspectiveFront">
                <a:rot lat="20519995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  <a:contourClr>
                <a:srgbClr val="FFE701"/>
              </a:contourClr>
            </a:sp3d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0" cap="none" spc="0" normalizeH="0" baseline="0" noProof="0">
                <a:ln w="9525">
                  <a:round/>
                </a:ln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</a:gradFill>
                <a:effectLst/>
                <a:uLnTx/>
                <a:uFillTx/>
                <a:latin typeface="Impact" panose="020B0806030902050204" pitchFamily="34" charset="0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3600" b="0" i="0" u="none" strike="noStrike" kern="10" cap="none" spc="0" normalizeH="0" baseline="0" noProof="0">
              <a:ln w="9525">
                <a:round/>
              </a:ln>
              <a:gradFill rotWithShape="1">
                <a:gsLst>
                  <a:gs pos="0">
                    <a:srgbClr val="FFE701"/>
                  </a:gs>
                  <a:gs pos="100000">
                    <a:srgbClr val="FE3E02"/>
                  </a:gs>
                </a:gsLst>
                <a:lin ang="5400000" scaled="1"/>
              </a:gradFill>
              <a:effectLst/>
              <a:uLnTx/>
              <a:uFillTx/>
              <a:latin typeface="Impact" panose="020B080603090205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PPLAUS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908E4DF-1740-4C75-96B8-CFD1A4DC2E3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108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例 1：</a:t>
            </a:r>
            <a:r>
              <a:rPr lang="zh-CN" altLang="en-US" dirty="0">
                <a:ea typeface="宋体" panose="02010600030101010101" pitchFamily="2" charset="-122"/>
              </a:rPr>
              <a:t>寻找</a:t>
            </a:r>
            <a:r>
              <a:rPr lang="en-US" altLang="zh-CN" dirty="0">
                <a:ea typeface="宋体" panose="02010600030101010101" pitchFamily="2" charset="-122"/>
              </a:rPr>
              <a:t>最大</a:t>
            </a:r>
            <a:r>
              <a:rPr lang="zh-CN" altLang="en-US" dirty="0">
                <a:ea typeface="宋体" panose="02010600030101010101" pitchFamily="2" charset="-122"/>
              </a:rPr>
              <a:t>值</a:t>
            </a:r>
            <a:r>
              <a:rPr lang="en-US" altLang="zh-CN" dirty="0">
                <a:ea typeface="宋体" panose="02010600030101010101" pitchFamily="2" charset="-122"/>
              </a:rPr>
              <a:t>算法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ea typeface="宋体" panose="02010600030101010101" pitchFamily="2" charset="-122"/>
              </a:rPr>
              <a:t>问题：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假设每行代码每次执行都需要一定的时间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（不同行代码可能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需要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不同的时间），</a:t>
            </a:r>
            <a:r>
              <a:rPr lang="en-US" altLang="zh-CN" dirty="0">
                <a:ea typeface="宋体" panose="02010600030101010101" pitchFamily="2" charset="-122"/>
              </a:rPr>
              <a:t>求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最大</a:t>
            </a:r>
            <a:r>
              <a:rPr lang="zh-CN" altLang="en-US" i="1" dirty="0">
                <a:ea typeface="宋体" panose="02010600030101010101" pitchFamily="2" charset="-122"/>
                <a:sym typeface="Symbol" panose="05050102010706020507" pitchFamily="18" charset="2"/>
              </a:rPr>
              <a:t>值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算法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最坏情况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时间复杂度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w.c.t.c.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）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的</a:t>
            </a:r>
            <a:r>
              <a:rPr lang="en-US" altLang="zh-CN" i="1" dirty="0">
                <a:ea typeface="宋体" panose="02010600030101010101" pitchFamily="2" charset="-122"/>
              </a:rPr>
              <a:t>精确</a:t>
            </a:r>
            <a:r>
              <a:rPr lang="en-US" altLang="zh-CN" dirty="0">
                <a:ea typeface="宋体" panose="02010600030101010101" pitchFamily="2" charset="-122"/>
              </a:rPr>
              <a:t>增长顺序的</a:t>
            </a:r>
            <a:r>
              <a:rPr lang="en-US" altLang="zh-CN" i="1" dirty="0">
                <a:ea typeface="宋体" panose="02010600030101010101" pitchFamily="2" charset="-122"/>
              </a:rPr>
              <a:t>最简单形式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)。</a:t>
            </a: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AD5972C-23CF-4573-8D43-648637EDEEC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109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i="1">
                <a:ea typeface="宋体" panose="02010600030101010101" pitchFamily="2" charset="-122"/>
              </a:rPr>
              <a:t>求</a:t>
            </a:r>
            <a:r>
              <a:rPr lang="en-US" altLang="zh-CN" i="1">
                <a:ea typeface="宋体" panose="02010600030101010101" pitchFamily="2" charset="-122"/>
              </a:rPr>
              <a:t>最大值的</a:t>
            </a:r>
            <a:r>
              <a:rPr lang="en-US" altLang="zh-CN">
                <a:ea typeface="宋体" panose="02010600030101010101" pitchFamily="2" charset="-122"/>
              </a:rPr>
              <a:t>复杂</a:t>
            </a:r>
            <a:r>
              <a:rPr lang="zh-CN" altLang="en-US">
                <a:ea typeface="宋体" panose="02010600030101010101" pitchFamily="2" charset="-122"/>
              </a:rPr>
              <a:t>度</a:t>
            </a:r>
            <a:r>
              <a:rPr lang="en-US" altLang="zh-CN">
                <a:ea typeface="宋体" panose="02010600030101010101" pitchFamily="2" charset="-122"/>
              </a:rPr>
              <a:t>分析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ea typeface="宋体" panose="02010600030101010101" pitchFamily="2" charset="-122"/>
                <a:sym typeface="+mn-ea"/>
              </a:rPr>
              <a:t>procedure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max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baseline="-25000">
                <a:ea typeface="宋体" panose="02010600030101010101" pitchFamily="2" charset="-122"/>
                <a:sym typeface="+mn-ea"/>
              </a:rPr>
              <a:t>1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,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baseline="-25000">
                <a:ea typeface="宋体" panose="02010600030101010101" pitchFamily="2" charset="-122"/>
                <a:sym typeface="+mn-ea"/>
              </a:rPr>
              <a:t>2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,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…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,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i="1" baseline="-25000">
                <a:ea typeface="宋体" panose="02010600030101010101" pitchFamily="2" charset="-122"/>
                <a:sym typeface="+mn-ea"/>
              </a:rPr>
              <a:t>n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: integers)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  <a:sym typeface="+mn-ea"/>
              </a:rPr>
              <a:t>    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v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>
                <a:latin typeface="Lucida Console" panose="020B0609040504020204" pitchFamily="49" charset="0"/>
                <a:ea typeface="宋体" panose="02010600030101010101" pitchFamily="2" charset="-122"/>
                <a:sym typeface="+mn-ea"/>
              </a:rPr>
              <a:t>:=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baseline="-25000">
                <a:ea typeface="宋体" panose="02010600030101010101" pitchFamily="2" charset="-122"/>
                <a:sym typeface="+mn-ea"/>
              </a:rPr>
              <a:t>1		                 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t</a:t>
            </a:r>
            <a:r>
              <a:rPr lang="en-US" altLang="zh-CN" baseline="-2500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1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  <a:sym typeface="+mn-ea"/>
              </a:rPr>
              <a:t>     </a:t>
            </a:r>
            <a:r>
              <a:rPr lang="en-US" altLang="zh-CN" b="1">
                <a:ea typeface="宋体" panose="02010600030101010101" pitchFamily="2" charset="-122"/>
                <a:sym typeface="+mn-ea"/>
              </a:rPr>
              <a:t>for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i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>
                <a:latin typeface="Lucida Console" panose="020B0609040504020204" pitchFamily="49" charset="0"/>
                <a:ea typeface="宋体" panose="02010600030101010101" pitchFamily="2" charset="-122"/>
                <a:sym typeface="+mn-ea"/>
              </a:rPr>
              <a:t>:=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2 </a:t>
            </a:r>
            <a:r>
              <a:rPr lang="en-US" altLang="zh-CN" b="1">
                <a:ea typeface="宋体" panose="02010600030101010101" pitchFamily="2" charset="-122"/>
                <a:sym typeface="+mn-ea"/>
              </a:rPr>
              <a:t>to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n		   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t</a:t>
            </a:r>
            <a:r>
              <a:rPr lang="en-US" altLang="zh-CN" baseline="-2500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2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  <a:sym typeface="+mn-ea"/>
              </a:rPr>
              <a:t>          </a:t>
            </a:r>
            <a:r>
              <a:rPr lang="en-US" altLang="zh-CN" b="1">
                <a:ea typeface="宋体" panose="02010600030101010101" pitchFamily="2" charset="-122"/>
                <a:sym typeface="+mn-ea"/>
              </a:rPr>
              <a:t>if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i="1" baseline="-25000">
                <a:ea typeface="宋体" panose="02010600030101010101" pitchFamily="2" charset="-122"/>
                <a:sym typeface="+mn-ea"/>
              </a:rPr>
              <a:t>i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&gt;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v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b="1">
                <a:ea typeface="宋体" panose="02010600030101010101" pitchFamily="2" charset="-122"/>
                <a:sym typeface="+mn-ea"/>
              </a:rPr>
              <a:t>then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v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>
                <a:latin typeface="Lucida Console" panose="020B0609040504020204" pitchFamily="49" charset="0"/>
                <a:ea typeface="宋体" panose="02010600030101010101" pitchFamily="2" charset="-122"/>
                <a:sym typeface="+mn-ea"/>
              </a:rPr>
              <a:t>:=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i="1" baseline="-25000">
                <a:ea typeface="宋体" panose="02010600030101010101" pitchFamily="2" charset="-122"/>
                <a:sym typeface="+mn-ea"/>
              </a:rPr>
              <a:t>i   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t</a:t>
            </a:r>
            <a:r>
              <a:rPr lang="en-US" altLang="zh-CN" baseline="-2500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3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  <a:sym typeface="+mn-ea"/>
              </a:rPr>
              <a:t>     </a:t>
            </a:r>
            <a:r>
              <a:rPr lang="en-US" altLang="zh-CN" b="1">
                <a:ea typeface="宋体" panose="02010600030101010101" pitchFamily="2" charset="-122"/>
                <a:sym typeface="+mn-ea"/>
              </a:rPr>
              <a:t>return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v		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   首先，最坏情况下总时间的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</a:rPr>
              <a:t>精确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表达式是什么？(而不是其</a:t>
            </a:r>
            <a:r>
              <a:rPr lang="zh-CN" altLang="en-US" b="1">
                <a:solidFill>
                  <a:srgbClr val="000000"/>
                </a:solidFill>
                <a:ea typeface="宋体" panose="02010600030101010101" pitchFamily="2" charset="-122"/>
              </a:rPr>
              <a:t>函数的阶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）。</a:t>
            </a:r>
            <a:endParaRPr lang="en-US" altLang="zh-CN" b="1" baseline="-2500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4341" name="AutoShape 4"/>
          <p:cNvSpPr/>
          <p:nvPr/>
        </p:nvSpPr>
        <p:spPr bwMode="auto">
          <a:xfrm>
            <a:off x="6019800" y="2133600"/>
            <a:ext cx="457200" cy="2209800"/>
          </a:xfrm>
          <a:prstGeom prst="rightBrace">
            <a:avLst>
              <a:gd name="adj1" fmla="val 40255"/>
              <a:gd name="adj2" fmla="val 50000"/>
            </a:avLst>
          </a:prstGeom>
          <a:noFill/>
          <a:ln w="63500">
            <a:solidFill>
              <a:srgbClr val="FF0000"/>
            </a:solidFill>
            <a:rou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342" name="Text Box 5"/>
          <p:cNvSpPr txBox="1">
            <a:spLocks noChangeArrowheads="1"/>
          </p:cNvSpPr>
          <p:nvPr/>
        </p:nvSpPr>
        <p:spPr bwMode="auto">
          <a:xfrm>
            <a:off x="6678613" y="2438400"/>
            <a:ext cx="14478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每一行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每次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执行的时间。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A3FA274-F7C6-4F2F-A49F-7FCE304D752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110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复杂</a:t>
            </a:r>
            <a:r>
              <a:rPr lang="zh-CN" altLang="en-US">
                <a:ea typeface="宋体" panose="02010600030101010101" pitchFamily="2" charset="-122"/>
              </a:rPr>
              <a:t>度</a:t>
            </a:r>
            <a:r>
              <a:rPr lang="en-US" altLang="zh-CN">
                <a:ea typeface="宋体" panose="02010600030101010101" pitchFamily="2" charset="-122"/>
              </a:rPr>
              <a:t>分析，续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ea typeface="宋体" panose="02010600030101010101" pitchFamily="2" charset="-122"/>
                <a:sym typeface="+mn-ea"/>
              </a:rPr>
              <a:t>procedure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max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baseline="-25000">
                <a:ea typeface="宋体" panose="02010600030101010101" pitchFamily="2" charset="-122"/>
                <a:sym typeface="+mn-ea"/>
              </a:rPr>
              <a:t>1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,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baseline="-25000">
                <a:ea typeface="宋体" panose="02010600030101010101" pitchFamily="2" charset="-122"/>
                <a:sym typeface="+mn-ea"/>
              </a:rPr>
              <a:t>2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,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…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,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i="1" baseline="-25000">
                <a:ea typeface="宋体" panose="02010600030101010101" pitchFamily="2" charset="-122"/>
                <a:sym typeface="+mn-ea"/>
              </a:rPr>
              <a:t>n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: integers)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  <a:sym typeface="+mn-ea"/>
              </a:rPr>
              <a:t>    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v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>
                <a:latin typeface="Lucida Console" panose="020B0609040504020204" pitchFamily="49" charset="0"/>
                <a:ea typeface="宋体" panose="02010600030101010101" pitchFamily="2" charset="-122"/>
                <a:sym typeface="+mn-ea"/>
              </a:rPr>
              <a:t>:=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baseline="-25000">
                <a:ea typeface="宋体" panose="02010600030101010101" pitchFamily="2" charset="-122"/>
                <a:sym typeface="+mn-ea"/>
              </a:rPr>
              <a:t>1				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t</a:t>
            </a:r>
            <a:r>
              <a:rPr lang="en-US" altLang="zh-CN" baseline="-2500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1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  <a:sym typeface="+mn-ea"/>
              </a:rPr>
              <a:t>     </a:t>
            </a:r>
            <a:r>
              <a:rPr lang="en-US" altLang="zh-CN" b="1">
                <a:ea typeface="宋体" panose="02010600030101010101" pitchFamily="2" charset="-122"/>
                <a:sym typeface="+mn-ea"/>
              </a:rPr>
              <a:t>for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i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>
                <a:latin typeface="Lucida Console" panose="020B0609040504020204" pitchFamily="49" charset="0"/>
                <a:ea typeface="宋体" panose="02010600030101010101" pitchFamily="2" charset="-122"/>
                <a:sym typeface="+mn-ea"/>
              </a:rPr>
              <a:t>:=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2 </a:t>
            </a:r>
            <a:r>
              <a:rPr lang="en-US" altLang="zh-CN" b="1">
                <a:ea typeface="宋体" panose="02010600030101010101" pitchFamily="2" charset="-122"/>
                <a:sym typeface="+mn-ea"/>
              </a:rPr>
              <a:t>to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n			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t</a:t>
            </a:r>
            <a:r>
              <a:rPr lang="en-US" altLang="zh-CN" baseline="-2500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2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  <a:sym typeface="+mn-ea"/>
              </a:rPr>
              <a:t>          </a:t>
            </a:r>
            <a:r>
              <a:rPr lang="en-US" altLang="zh-CN" b="1">
                <a:ea typeface="宋体" panose="02010600030101010101" pitchFamily="2" charset="-122"/>
                <a:sym typeface="+mn-ea"/>
              </a:rPr>
              <a:t>if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i="1" baseline="-25000">
                <a:ea typeface="宋体" panose="02010600030101010101" pitchFamily="2" charset="-122"/>
                <a:sym typeface="+mn-ea"/>
              </a:rPr>
              <a:t>i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&gt;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v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b="1">
                <a:ea typeface="宋体" panose="02010600030101010101" pitchFamily="2" charset="-122"/>
                <a:sym typeface="+mn-ea"/>
              </a:rPr>
              <a:t>then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v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>
                <a:latin typeface="Lucida Console" panose="020B0609040504020204" pitchFamily="49" charset="0"/>
                <a:ea typeface="宋体" panose="02010600030101010101" pitchFamily="2" charset="-122"/>
                <a:sym typeface="+mn-ea"/>
              </a:rPr>
              <a:t>:=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i="1" baseline="-25000">
                <a:ea typeface="宋体" panose="02010600030101010101" pitchFamily="2" charset="-122"/>
                <a:sym typeface="+mn-ea"/>
              </a:rPr>
              <a:t>i	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t</a:t>
            </a:r>
            <a:r>
              <a:rPr lang="en-US" altLang="zh-CN" baseline="-2500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3</a:t>
            </a:r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  <a:sym typeface="+mn-ea"/>
              </a:rPr>
              <a:t>     </a:t>
            </a:r>
            <a:r>
              <a:rPr lang="en-US" altLang="zh-CN" b="1">
                <a:ea typeface="宋体" panose="02010600030101010101" pitchFamily="2" charset="-122"/>
                <a:sym typeface="+mn-ea"/>
              </a:rPr>
              <a:t>return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v				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t</a:t>
            </a:r>
            <a:r>
              <a:rPr lang="en-US" altLang="zh-CN" baseline="-2500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4</a:t>
            </a:r>
            <a:endParaRPr lang="en-US" altLang="zh-CN" baseline="-250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w.c.t.c.: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</a:t>
            </a:r>
            <a:endParaRPr lang="en-US" altLang="zh-CN" baseline="-25000">
              <a:ea typeface="宋体" panose="02010600030101010101" pitchFamily="2" charset="-122"/>
            </a:endParaRPr>
          </a:p>
        </p:txBody>
      </p:sp>
      <p:sp>
        <p:nvSpPr>
          <p:cNvPr id="15365" name="AutoShape 4"/>
          <p:cNvSpPr/>
          <p:nvPr/>
        </p:nvSpPr>
        <p:spPr bwMode="auto">
          <a:xfrm>
            <a:off x="6629400" y="2209800"/>
            <a:ext cx="457200" cy="2209800"/>
          </a:xfrm>
          <a:prstGeom prst="rightBrace">
            <a:avLst>
              <a:gd name="adj1" fmla="val 40255"/>
              <a:gd name="adj2" fmla="val 50000"/>
            </a:avLst>
          </a:prstGeom>
          <a:noFill/>
          <a:ln w="63500">
            <a:solidFill>
              <a:srgbClr val="FF0000"/>
            </a:solidFill>
            <a:rou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6" name="Text Box 5"/>
          <p:cNvSpPr txBox="1">
            <a:spLocks noChangeArrowheads="1"/>
          </p:cNvSpPr>
          <p:nvPr/>
        </p:nvSpPr>
        <p:spPr bwMode="auto">
          <a:xfrm>
            <a:off x="7239000" y="2362200"/>
            <a:ext cx="14478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每一行</a:t>
            </a: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每次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执行的时间。</a:t>
            </a:r>
          </a:p>
        </p:txBody>
      </p:sp>
      <p:graphicFrame>
        <p:nvGraphicFramePr>
          <p:cNvPr id="15367" name="Object 6"/>
          <p:cNvGraphicFramePr>
            <a:graphicFrameLocks noChangeAspect="1"/>
          </p:cNvGraphicFramePr>
          <p:nvPr/>
        </p:nvGraphicFramePr>
        <p:xfrm>
          <a:off x="2286000" y="5105400"/>
          <a:ext cx="5091113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651000" imgH="457200" progId="Equation.3">
                  <p:embed/>
                </p:oleObj>
              </mc:Choice>
              <mc:Fallback>
                <p:oleObj r:id="rId2" imgW="1651000" imgH="457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105400"/>
                        <a:ext cx="5091113" cy="140970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3810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A948AB9-5EE8-48E3-B13B-1861FC7EAB1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111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复杂</a:t>
            </a:r>
            <a:r>
              <a:rPr lang="zh-CN" altLang="en-US">
                <a:ea typeface="宋体" panose="02010600030101010101" pitchFamily="2" charset="-122"/>
              </a:rPr>
              <a:t>度</a:t>
            </a:r>
            <a:r>
              <a:rPr lang="en-US" altLang="zh-CN">
                <a:ea typeface="宋体" panose="02010600030101010101" pitchFamily="2" charset="-122"/>
              </a:rPr>
              <a:t>分析，</a:t>
            </a:r>
            <a:r>
              <a:rPr lang="en-US" altLang="zh-CN" i="1">
                <a:ea typeface="宋体" panose="02010600030101010101" pitchFamily="2" charset="-122"/>
              </a:rPr>
              <a:t>续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</a:rPr>
              <a:t>   t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) 的</a:t>
            </a:r>
            <a:r>
              <a:rPr lang="zh-CN" altLang="en-US" b="1">
                <a:solidFill>
                  <a:srgbClr val="000000"/>
                </a:solidFill>
                <a:ea typeface="宋体" panose="02010600030101010101" pitchFamily="2" charset="-122"/>
              </a:rPr>
              <a:t>渐进紧缺界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(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) 增长阶次的最简单形式是什么？</a:t>
            </a:r>
          </a:p>
        </p:txBody>
      </p:sp>
      <p:graphicFrame>
        <p:nvGraphicFramePr>
          <p:cNvPr id="16389" name="Object 4"/>
          <p:cNvGraphicFramePr>
            <a:graphicFrameLocks noChangeAspect="1"/>
          </p:cNvGraphicFramePr>
          <p:nvPr/>
        </p:nvGraphicFramePr>
        <p:xfrm>
          <a:off x="838200" y="2971800"/>
          <a:ext cx="7378700" cy="282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022600" imgH="1155700" progId="Equation.3">
                  <p:embed/>
                </p:oleObj>
              </mc:Choice>
              <mc:Fallback>
                <p:oleObj r:id="rId4" imgW="3022600" imgH="1155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971800"/>
                        <a:ext cx="7378700" cy="282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/>
          <p:nvPr/>
        </p:nvGrpSpPr>
        <p:grpSpPr bwMode="auto">
          <a:xfrm>
            <a:off x="1900238" y="3276600"/>
            <a:ext cx="2976562" cy="1219200"/>
            <a:chOff x="1197" y="2064"/>
            <a:chExt cx="1875" cy="768"/>
          </a:xfrm>
        </p:grpSpPr>
        <p:sp>
          <p:nvSpPr>
            <p:cNvPr id="16403" name="Line 6"/>
            <p:cNvSpPr>
              <a:spLocks noChangeShapeType="1"/>
            </p:cNvSpPr>
            <p:nvPr/>
          </p:nvSpPr>
          <p:spPr bwMode="auto">
            <a:xfrm>
              <a:off x="1197" y="2349"/>
              <a:ext cx="190" cy="432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6404" name="Group 7"/>
            <p:cNvGrpSpPr/>
            <p:nvPr/>
          </p:nvGrpSpPr>
          <p:grpSpPr bwMode="auto">
            <a:xfrm>
              <a:off x="1872" y="2064"/>
              <a:ext cx="720" cy="768"/>
              <a:chOff x="1872" y="2064"/>
              <a:chExt cx="720" cy="768"/>
            </a:xfrm>
          </p:grpSpPr>
          <p:sp>
            <p:nvSpPr>
              <p:cNvPr id="16406" name="Oval 8"/>
              <p:cNvSpPr>
                <a:spLocks noChangeArrowheads="1"/>
              </p:cNvSpPr>
              <p:nvPr/>
            </p:nvSpPr>
            <p:spPr bwMode="auto">
              <a:xfrm>
                <a:off x="1872" y="2064"/>
                <a:ext cx="720" cy="336"/>
              </a:xfrm>
              <a:prstGeom prst="ellipse">
                <a:avLst/>
              </a:prstGeom>
              <a:noFill/>
              <a:ln w="63500">
                <a:solidFill>
                  <a:srgbClr val="FF0000"/>
                </a:solidFill>
                <a:round/>
                <a:tailEnd type="none" w="lg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17347D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407" name="Line 9"/>
              <p:cNvSpPr>
                <a:spLocks noChangeShapeType="1"/>
              </p:cNvSpPr>
              <p:nvPr/>
            </p:nvSpPr>
            <p:spPr bwMode="auto">
              <a:xfrm>
                <a:off x="2304" y="2400"/>
                <a:ext cx="48" cy="432"/>
              </a:xfrm>
              <a:prstGeom prst="line">
                <a:avLst/>
              </a:prstGeom>
              <a:noFill/>
              <a:ln w="63500">
                <a:solidFill>
                  <a:srgbClr val="FF0000"/>
                </a:solidFill>
                <a:round/>
                <a:tailEnd type="stealth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17347D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6405" name="Line 10"/>
            <p:cNvSpPr>
              <a:spLocks noChangeShapeType="1"/>
            </p:cNvSpPr>
            <p:nvPr/>
          </p:nvSpPr>
          <p:spPr bwMode="auto">
            <a:xfrm>
              <a:off x="2928" y="2352"/>
              <a:ext cx="144" cy="48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" name="Group 11"/>
          <p:cNvGrpSpPr/>
          <p:nvPr/>
        </p:nvGrpSpPr>
        <p:grpSpPr bwMode="auto">
          <a:xfrm>
            <a:off x="2895600" y="3721100"/>
            <a:ext cx="5410200" cy="1612900"/>
            <a:chOff x="1824" y="2344"/>
            <a:chExt cx="3408" cy="1016"/>
          </a:xfrm>
        </p:grpSpPr>
        <p:sp>
          <p:nvSpPr>
            <p:cNvPr id="16400" name="Oval 12"/>
            <p:cNvSpPr>
              <a:spLocks noChangeArrowheads="1"/>
            </p:cNvSpPr>
            <p:nvPr/>
          </p:nvSpPr>
          <p:spPr bwMode="auto">
            <a:xfrm>
              <a:off x="1824" y="2592"/>
              <a:ext cx="768" cy="768"/>
            </a:xfrm>
            <a:prstGeom prst="ellipse">
              <a:avLst/>
            </a:prstGeom>
            <a:noFill/>
            <a:ln w="63500">
              <a:solidFill>
                <a:srgbClr val="FF0000"/>
              </a:solidFill>
              <a:rou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401" name="Freeform 13"/>
            <p:cNvSpPr>
              <a:spLocks noChangeArrowheads="1"/>
            </p:cNvSpPr>
            <p:nvPr/>
          </p:nvSpPr>
          <p:spPr bwMode="auto">
            <a:xfrm>
              <a:off x="2496" y="2344"/>
              <a:ext cx="1920" cy="392"/>
            </a:xfrm>
            <a:custGeom>
              <a:avLst/>
              <a:gdLst>
                <a:gd name="T0" fmla="*/ 0 w 2256"/>
                <a:gd name="T1" fmla="*/ 344 h 392"/>
                <a:gd name="T2" fmla="*/ 1043 w 2256"/>
                <a:gd name="T3" fmla="*/ 8 h 392"/>
                <a:gd name="T4" fmla="*/ 1634 w 2256"/>
                <a:gd name="T5" fmla="*/ 392 h 3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56" h="392">
                  <a:moveTo>
                    <a:pt x="0" y="344"/>
                  </a:moveTo>
                  <a:cubicBezTo>
                    <a:pt x="532" y="172"/>
                    <a:pt x="1064" y="0"/>
                    <a:pt x="1440" y="8"/>
                  </a:cubicBezTo>
                  <a:cubicBezTo>
                    <a:pt x="1816" y="16"/>
                    <a:pt x="2036" y="204"/>
                    <a:pt x="2256" y="392"/>
                  </a:cubicBezTo>
                </a:path>
              </a:pathLst>
            </a:custGeom>
            <a:noFill/>
            <a:ln w="63500">
              <a:solidFill>
                <a:srgbClr val="FF0000"/>
              </a:solidFill>
              <a:rou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402" name="Oval 14"/>
            <p:cNvSpPr>
              <a:spLocks noChangeArrowheads="1"/>
            </p:cNvSpPr>
            <p:nvPr/>
          </p:nvSpPr>
          <p:spPr bwMode="auto">
            <a:xfrm>
              <a:off x="4080" y="2736"/>
              <a:ext cx="1152" cy="432"/>
            </a:xfrm>
            <a:prstGeom prst="ellipse">
              <a:avLst/>
            </a:prstGeom>
            <a:noFill/>
            <a:ln w="63500">
              <a:solidFill>
                <a:srgbClr val="FF0000"/>
              </a:solidFill>
              <a:rou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" name="Group 15"/>
          <p:cNvGrpSpPr/>
          <p:nvPr/>
        </p:nvGrpSpPr>
        <p:grpSpPr bwMode="auto">
          <a:xfrm>
            <a:off x="2743200" y="4419600"/>
            <a:ext cx="4724400" cy="1371600"/>
            <a:chOff x="1728" y="2784"/>
            <a:chExt cx="2976" cy="864"/>
          </a:xfrm>
        </p:grpSpPr>
        <p:sp>
          <p:nvSpPr>
            <p:cNvPr id="16397" name="Oval 16"/>
            <p:cNvSpPr>
              <a:spLocks noChangeArrowheads="1"/>
            </p:cNvSpPr>
            <p:nvPr/>
          </p:nvSpPr>
          <p:spPr bwMode="auto">
            <a:xfrm>
              <a:off x="4128" y="2784"/>
              <a:ext cx="576" cy="336"/>
            </a:xfrm>
            <a:prstGeom prst="ellipse">
              <a:avLst/>
            </a:prstGeom>
            <a:noFill/>
            <a:ln w="63500">
              <a:solidFill>
                <a:srgbClr val="FF0000"/>
              </a:solidFill>
              <a:rou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398" name="Freeform 17"/>
            <p:cNvSpPr>
              <a:spLocks noChangeArrowheads="1"/>
            </p:cNvSpPr>
            <p:nvPr/>
          </p:nvSpPr>
          <p:spPr bwMode="auto">
            <a:xfrm>
              <a:off x="2160" y="3072"/>
              <a:ext cx="2178" cy="288"/>
            </a:xfrm>
            <a:custGeom>
              <a:avLst/>
              <a:gdLst>
                <a:gd name="T0" fmla="*/ 2026 w 2274"/>
                <a:gd name="T1" fmla="*/ 0 h 336"/>
                <a:gd name="T2" fmla="*/ 1805 w 2274"/>
                <a:gd name="T3" fmla="*/ 141 h 336"/>
                <a:gd name="T4" fmla="*/ 339 w 2274"/>
                <a:gd name="T5" fmla="*/ 67 h 336"/>
                <a:gd name="T6" fmla="*/ 0 w 2274"/>
                <a:gd name="T7" fmla="*/ 247 h 3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74" h="336">
                  <a:moveTo>
                    <a:pt x="2208" y="0"/>
                  </a:moveTo>
                  <a:cubicBezTo>
                    <a:pt x="2252" y="88"/>
                    <a:pt x="2274" y="177"/>
                    <a:pt x="1968" y="192"/>
                  </a:cubicBezTo>
                  <a:cubicBezTo>
                    <a:pt x="1662" y="207"/>
                    <a:pt x="698" y="67"/>
                    <a:pt x="370" y="91"/>
                  </a:cubicBezTo>
                  <a:cubicBezTo>
                    <a:pt x="42" y="115"/>
                    <a:pt x="77" y="285"/>
                    <a:pt x="0" y="336"/>
                  </a:cubicBezTo>
                </a:path>
              </a:pathLst>
            </a:custGeom>
            <a:noFill/>
            <a:ln w="63500">
              <a:solidFill>
                <a:srgbClr val="FF0000"/>
              </a:solidFill>
              <a:rou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399" name="Oval 18"/>
            <p:cNvSpPr>
              <a:spLocks noChangeArrowheads="1"/>
            </p:cNvSpPr>
            <p:nvPr/>
          </p:nvSpPr>
          <p:spPr bwMode="auto">
            <a:xfrm>
              <a:off x="1728" y="3312"/>
              <a:ext cx="528" cy="336"/>
            </a:xfrm>
            <a:prstGeom prst="ellipse">
              <a:avLst/>
            </a:prstGeom>
            <a:noFill/>
            <a:ln w="63500">
              <a:solidFill>
                <a:srgbClr val="FF0000"/>
              </a:solidFill>
              <a:rou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6" name="Group 19"/>
          <p:cNvGrpSpPr/>
          <p:nvPr/>
        </p:nvGrpSpPr>
        <p:grpSpPr bwMode="auto">
          <a:xfrm>
            <a:off x="2743200" y="5257800"/>
            <a:ext cx="3048000" cy="622300"/>
            <a:chOff x="1728" y="3312"/>
            <a:chExt cx="1920" cy="392"/>
          </a:xfrm>
        </p:grpSpPr>
        <p:sp>
          <p:nvSpPr>
            <p:cNvPr id="16395" name="Oval 20"/>
            <p:cNvSpPr>
              <a:spLocks noChangeArrowheads="1"/>
            </p:cNvSpPr>
            <p:nvPr/>
          </p:nvSpPr>
          <p:spPr bwMode="auto">
            <a:xfrm>
              <a:off x="1728" y="3312"/>
              <a:ext cx="960" cy="336"/>
            </a:xfrm>
            <a:prstGeom prst="ellipse">
              <a:avLst/>
            </a:prstGeom>
            <a:noFill/>
            <a:ln w="63500">
              <a:solidFill>
                <a:srgbClr val="FF0000"/>
              </a:solidFill>
              <a:round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396" name="Freeform 21"/>
            <p:cNvSpPr>
              <a:spLocks noChangeArrowheads="1"/>
            </p:cNvSpPr>
            <p:nvPr/>
          </p:nvSpPr>
          <p:spPr bwMode="auto">
            <a:xfrm>
              <a:off x="2592" y="3552"/>
              <a:ext cx="1056" cy="152"/>
            </a:xfrm>
            <a:custGeom>
              <a:avLst/>
              <a:gdLst>
                <a:gd name="T0" fmla="*/ 0 w 1056"/>
                <a:gd name="T1" fmla="*/ 48 h 152"/>
                <a:gd name="T2" fmla="*/ 576 w 1056"/>
                <a:gd name="T3" fmla="*/ 144 h 152"/>
                <a:gd name="T4" fmla="*/ 1056 w 1056"/>
                <a:gd name="T5" fmla="*/ 0 h 15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56" h="152">
                  <a:moveTo>
                    <a:pt x="0" y="48"/>
                  </a:moveTo>
                  <a:cubicBezTo>
                    <a:pt x="200" y="100"/>
                    <a:pt x="400" y="152"/>
                    <a:pt x="576" y="144"/>
                  </a:cubicBezTo>
                  <a:cubicBezTo>
                    <a:pt x="752" y="136"/>
                    <a:pt x="904" y="68"/>
                    <a:pt x="1056" y="0"/>
                  </a:cubicBezTo>
                </a:path>
              </a:pathLst>
            </a:custGeom>
            <a:noFill/>
            <a:ln w="63500">
              <a:solidFill>
                <a:srgbClr val="FF0000"/>
              </a:solidFill>
              <a:rou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75126" name="Oval 22"/>
          <p:cNvSpPr>
            <a:spLocks noChangeArrowheads="1"/>
          </p:cNvSpPr>
          <p:nvPr/>
        </p:nvSpPr>
        <p:spPr bwMode="auto">
          <a:xfrm>
            <a:off x="6553200" y="5257800"/>
            <a:ext cx="990600" cy="533400"/>
          </a:xfrm>
          <a:prstGeom prst="ellipse">
            <a:avLst/>
          </a:prstGeom>
          <a:noFill/>
          <a:ln w="63500">
            <a:solidFill>
              <a:schemeClr val="accent2"/>
            </a:solidFill>
            <a:rou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26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E4B5542-65FA-4712-B9BC-B5CAD7A961F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112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例 2：线性搜索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procedure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linear search 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: integer, </a:t>
            </a:r>
            <a:b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</a:b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baseline="-2500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1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,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baseline="-2500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2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, 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…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,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i="1" baseline="-2500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n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: distinct integers)</a:t>
            </a:r>
            <a:br>
              <a:rPr lang="en-US" altLang="zh-CN">
                <a:ea typeface="宋体" panose="02010600030101010101" pitchFamily="2" charset="-122"/>
                <a:sym typeface="+mn-ea"/>
              </a:rPr>
            </a:b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i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b="1">
                <a:solidFill>
                  <a:srgbClr val="000000"/>
                </a:solidFill>
                <a:latin typeface="Lucida Console" panose="020B0609040504020204" pitchFamily="49" charset="0"/>
                <a:ea typeface="宋体" panose="02010600030101010101" pitchFamily="2" charset="-122"/>
                <a:sym typeface="+mn-ea"/>
              </a:rPr>
              <a:t>:=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 1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					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t</a:t>
            </a:r>
            <a:r>
              <a:rPr lang="en-US" altLang="zh-CN" baseline="-2500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1</a:t>
            </a:r>
            <a:br>
              <a:rPr lang="en-US" altLang="zh-CN">
                <a:ea typeface="宋体" panose="02010600030101010101" pitchFamily="2" charset="-122"/>
                <a:sym typeface="+mn-ea"/>
              </a:rPr>
            </a:b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while (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i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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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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b="1" i="1" baseline="-250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	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t</a:t>
            </a:r>
            <a:r>
              <a:rPr lang="en-US" altLang="zh-CN" baseline="-2500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2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b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solidFill>
                  <a:srgbClr val="000000"/>
                </a:solidFill>
                <a:latin typeface="Lucida Console" panose="020B0609040504020204" pitchFamily="49" charset="0"/>
                <a:ea typeface="宋体" panose="02010600030101010101" pitchFamily="2" charset="-122"/>
                <a:sym typeface="+mn-ea"/>
              </a:rPr>
              <a:t>:=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+ 1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				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t</a:t>
            </a:r>
            <a:r>
              <a:rPr lang="en-US" altLang="zh-CN" baseline="-2500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3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b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if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i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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then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location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solidFill>
                  <a:srgbClr val="000000"/>
                </a:solidFill>
                <a:latin typeface="Lucida Console" panose="020B0609040504020204" pitchFamily="49" charset="0"/>
                <a:ea typeface="宋体" panose="02010600030101010101" pitchFamily="2" charset="-122"/>
                <a:sym typeface="+mn-ea"/>
              </a:rPr>
              <a:t>:=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t</a:t>
            </a:r>
            <a:r>
              <a:rPr lang="en-US" altLang="zh-CN" baseline="-2500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4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b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else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location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solidFill>
                  <a:srgbClr val="000000"/>
                </a:solidFill>
                <a:latin typeface="Lucida Console" panose="020B0609040504020204" pitchFamily="49" charset="0"/>
                <a:ea typeface="宋体" panose="02010600030101010101" pitchFamily="2" charset="-122"/>
                <a:sym typeface="+mn-ea"/>
              </a:rPr>
              <a:t>:=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 0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		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t</a:t>
            </a:r>
            <a:r>
              <a:rPr lang="en-US" altLang="zh-CN" baseline="-2500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5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 </a:t>
            </a:r>
            <a:br>
              <a:rPr lang="en-US" altLang="zh-CN">
                <a:ea typeface="宋体" panose="02010600030101010101" pitchFamily="2" charset="-122"/>
                <a:sym typeface="+mn-ea"/>
              </a:rPr>
            </a:b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return 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location</a:t>
            </a:r>
            <a:r>
              <a:rPr lang="en-US" altLang="zh-CN" i="1">
                <a:ea typeface="宋体" panose="02010600030101010101" pitchFamily="2" charset="-122"/>
                <a:sym typeface="+mn-ea"/>
              </a:rPr>
              <a:t>			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t</a:t>
            </a:r>
            <a:r>
              <a:rPr lang="en-US" altLang="zh-CN" baseline="-2500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6</a:t>
            </a:r>
            <a:endParaRPr lang="en-US" altLang="zh-CN" baseline="-2500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4ABBD22-7A51-4E8F-8B43-D1F8407FC0A4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113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线性搜索分析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最坏情况下的时间复杂</a:t>
            </a:r>
            <a:r>
              <a:rPr lang="zh-CN" altLang="en-US">
                <a:solidFill>
                  <a:srgbClr val="FF0000"/>
                </a:solidFill>
                <a:ea typeface="宋体" panose="02010600030101010101" pitchFamily="2" charset="-122"/>
              </a:rPr>
              <a:t>度的阶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：</a:t>
            </a:r>
          </a:p>
          <a:p>
            <a:endParaRPr lang="en-US" altLang="zh-CN">
              <a:solidFill>
                <a:srgbClr val="FF0000"/>
              </a:solidFill>
              <a:ea typeface="宋体" panose="02010600030101010101" pitchFamily="2" charset="-122"/>
            </a:endParaRPr>
          </a:p>
          <a:p>
            <a:endParaRPr lang="en-US" altLang="zh-CN">
              <a:solidFill>
                <a:srgbClr val="008000"/>
              </a:solidFill>
              <a:ea typeface="宋体" panose="02010600030101010101" pitchFamily="2" charset="-122"/>
            </a:endParaRPr>
          </a:p>
          <a:p>
            <a:r>
              <a:rPr lang="en-US" altLang="zh-CN" b="1">
                <a:solidFill>
                  <a:srgbClr val="008000"/>
                </a:solidFill>
                <a:ea typeface="宋体" panose="02010600030101010101" pitchFamily="2" charset="-122"/>
              </a:rPr>
              <a:t>最好的情况</a:t>
            </a:r>
          </a:p>
          <a:p>
            <a:endParaRPr lang="en-US" altLang="zh-CN">
              <a:solidFill>
                <a:srgbClr val="008000"/>
              </a:solidFill>
              <a:ea typeface="宋体" panose="02010600030101010101" pitchFamily="2" charset="-122"/>
            </a:endParaRPr>
          </a:p>
          <a:p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平均情况（如果有项目）：</a:t>
            </a:r>
          </a:p>
        </p:txBody>
      </p:sp>
      <p:graphicFrame>
        <p:nvGraphicFramePr>
          <p:cNvPr id="18437" name="Object 4"/>
          <p:cNvGraphicFramePr>
            <a:graphicFrameLocks noChangeAspect="1"/>
          </p:cNvGraphicFramePr>
          <p:nvPr/>
        </p:nvGraphicFramePr>
        <p:xfrm>
          <a:off x="1447800" y="2025650"/>
          <a:ext cx="7086600" cy="1250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590800" imgH="457200" progId="Equation.3">
                  <p:embed/>
                </p:oleObj>
              </mc:Choice>
              <mc:Fallback>
                <p:oleObj r:id="rId2" imgW="25908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025650"/>
                        <a:ext cx="7086600" cy="1250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5"/>
          <p:cNvGraphicFramePr>
            <a:graphicFrameLocks noChangeAspect="1"/>
          </p:cNvGraphicFramePr>
          <p:nvPr/>
        </p:nvGraphicFramePr>
        <p:xfrm>
          <a:off x="1676400" y="3589338"/>
          <a:ext cx="5486400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663700" imgH="228600" progId="Equation.3">
                  <p:embed/>
                </p:oleObj>
              </mc:Choice>
              <mc:Fallback>
                <p:oleObj r:id="rId4" imgW="16637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589338"/>
                        <a:ext cx="5486400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9" name="Object 6"/>
          <p:cNvGraphicFramePr>
            <a:graphicFrameLocks noChangeAspect="1"/>
          </p:cNvGraphicFramePr>
          <p:nvPr/>
        </p:nvGraphicFramePr>
        <p:xfrm>
          <a:off x="533400" y="4953000"/>
          <a:ext cx="7315200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590800" imgH="457200" progId="Equation.3">
                  <p:embed/>
                </p:oleObj>
              </mc:Choice>
              <mc:Fallback>
                <p:oleObj r:id="rId6" imgW="2590800" imgH="457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953000"/>
                        <a:ext cx="7315200" cy="1290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D9AA42A-7569-4DA3-9913-56F5727DDD5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114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复习 §2.3：复杂</a:t>
            </a:r>
            <a:r>
              <a:rPr lang="zh-CN" altLang="en-US">
                <a:ea typeface="宋体" panose="02010600030101010101" pitchFamily="2" charset="-122"/>
              </a:rPr>
              <a:t>度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981200"/>
            <a:ext cx="8610600" cy="4267200"/>
          </a:xfrm>
        </p:spPr>
        <p:txBody>
          <a:bodyPr/>
          <a:lstStyle/>
          <a:p>
            <a:r>
              <a:rPr lang="en-US" altLang="zh-CN" sz="2800" b="1">
                <a:ea typeface="宋体" panose="02010600030101010101" pitchFamily="2" charset="-122"/>
              </a:rPr>
              <a:t>算法复杂</a:t>
            </a:r>
            <a:r>
              <a:rPr lang="zh-CN" altLang="en-US" sz="2800" b="1">
                <a:ea typeface="宋体" panose="02010600030101010101" pitchFamily="2" charset="-122"/>
              </a:rPr>
              <a:t>度</a:t>
            </a:r>
            <a:r>
              <a:rPr lang="en-US" altLang="zh-CN" sz="2800" b="1">
                <a:ea typeface="宋体" panose="02010600030101010101" pitchFamily="2" charset="-122"/>
              </a:rPr>
              <a:t> = 计算成本。</a:t>
            </a:r>
          </a:p>
          <a:p>
            <a:r>
              <a:rPr lang="en-US" altLang="zh-CN" sz="2800" b="1">
                <a:ea typeface="宋体" panose="02010600030101010101" pitchFamily="2" charset="-122"/>
              </a:rPr>
              <a:t>关注我们课程的</a:t>
            </a:r>
            <a:r>
              <a:rPr lang="en-US" altLang="zh-CN" sz="2800" b="1" i="1">
                <a:ea typeface="宋体" panose="02010600030101010101" pitchFamily="2" charset="-122"/>
              </a:rPr>
              <a:t>时间</a:t>
            </a:r>
            <a:r>
              <a:rPr lang="en-US" altLang="zh-CN" sz="2800" b="1">
                <a:ea typeface="宋体" panose="02010600030101010101" pitchFamily="2" charset="-122"/>
              </a:rPr>
              <a:t>复杂性。</a:t>
            </a:r>
          </a:p>
          <a:p>
            <a:pPr lvl="1"/>
            <a:r>
              <a:rPr lang="en-US" altLang="zh-CN" sz="2400" b="1">
                <a:ea typeface="宋体" panose="02010600030101010101" pitchFamily="2" charset="-122"/>
              </a:rPr>
              <a:t>尽管空间和能源也很重要。</a:t>
            </a:r>
          </a:p>
          <a:p>
            <a:r>
              <a:rPr lang="en-US" altLang="zh-CN" sz="2800" b="1">
                <a:ea typeface="宋体" panose="02010600030101010101" pitchFamily="2" charset="-122"/>
              </a:rPr>
              <a:t>将复杂</a:t>
            </a:r>
            <a:r>
              <a:rPr lang="zh-CN" altLang="en-US" sz="2800" b="1">
                <a:ea typeface="宋体" panose="02010600030101010101" pitchFamily="2" charset="-122"/>
              </a:rPr>
              <a:t>度</a:t>
            </a:r>
            <a:r>
              <a:rPr lang="en-US" altLang="zh-CN" sz="2800" b="1">
                <a:ea typeface="宋体" panose="02010600030101010101" pitchFamily="2" charset="-122"/>
              </a:rPr>
              <a:t>描述为输入大小的函数：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最坏情况、最佳情况或平均情况。</a:t>
            </a:r>
          </a:p>
          <a:p>
            <a:r>
              <a:rPr lang="en-US" altLang="zh-CN" sz="2800" b="1">
                <a:ea typeface="宋体" panose="02010600030101010101" pitchFamily="2" charset="-122"/>
              </a:rPr>
              <a:t>使用阶数符号简明扼要地概括复杂性函数的增长特性。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B9A67C0-4DF7-403F-A8FC-447E2246BD6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115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例 3：二进制搜索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001000" cy="4876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procedure 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binary search 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:integer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, a</a:t>
            </a:r>
            <a:r>
              <a:rPr lang="en-US" altLang="zh-CN" sz="2800" b="1" baseline="-2500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1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, 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sz="2800" b="1" baseline="-2500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2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, 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…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, 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a</a:t>
            </a:r>
            <a:r>
              <a:rPr lang="en-US" altLang="zh-CN" sz="2800" b="1" i="1" baseline="-25000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n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: distinct integers, sorted smallest to largest)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 </a:t>
            </a:r>
            <a:b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</a:b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i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800" b="1">
                <a:solidFill>
                  <a:srgbClr val="000000"/>
                </a:solidFill>
                <a:latin typeface="Lucida Console" panose="020B0609040504020204" pitchFamily="49" charset="0"/>
                <a:ea typeface="宋体" panose="02010600030101010101" pitchFamily="2" charset="-122"/>
                <a:sym typeface="+mn-ea"/>
              </a:rPr>
              <a:t>:=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 1  </a:t>
            </a:r>
            <a:b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</a:b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j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800" b="1">
                <a:solidFill>
                  <a:srgbClr val="000000"/>
                </a:solidFill>
                <a:latin typeface="Lucida Console" panose="020B0609040504020204" pitchFamily="49" charset="0"/>
                <a:ea typeface="宋体" panose="02010600030101010101" pitchFamily="2" charset="-122"/>
                <a:sym typeface="+mn-ea"/>
              </a:rPr>
              <a:t>:=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n</a:t>
            </a:r>
            <a:b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</a:b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while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 i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&lt;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j 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begin</a:t>
            </a:r>
            <a:b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</a:b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	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m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800" b="1">
                <a:solidFill>
                  <a:srgbClr val="000000"/>
                </a:solidFill>
                <a:latin typeface="Lucida Console" panose="020B0609040504020204" pitchFamily="49" charset="0"/>
                <a:ea typeface="宋体" panose="02010600030101010101" pitchFamily="2" charset="-122"/>
                <a:sym typeface="+mn-ea"/>
              </a:rPr>
              <a:t>:=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(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j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)/2</a:t>
            </a:r>
            <a:b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if 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&gt;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b="1" i="1" baseline="-250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m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then 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 </a:t>
            </a:r>
            <a:r>
              <a:rPr lang="en-US" altLang="zh-CN" sz="2800" b="1">
                <a:solidFill>
                  <a:srgbClr val="000000"/>
                </a:solidFill>
                <a:latin typeface="Lucida Console" panose="020B0609040504020204" pitchFamily="49" charset="0"/>
                <a:ea typeface="宋体" panose="02010600030101010101" pitchFamily="2" charset="-122"/>
                <a:sym typeface="+mn-ea"/>
              </a:rPr>
              <a:t>:=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m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+1 else 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j </a:t>
            </a:r>
            <a:r>
              <a:rPr lang="en-US" altLang="zh-CN" sz="2800" b="1">
                <a:solidFill>
                  <a:srgbClr val="000000"/>
                </a:solidFill>
                <a:latin typeface="Lucida Console" panose="020B0609040504020204" pitchFamily="49" charset="0"/>
                <a:ea typeface="宋体" panose="02010600030101010101" pitchFamily="2" charset="-122"/>
                <a:sym typeface="+mn-ea"/>
              </a:rPr>
              <a:t>:=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m</a:t>
            </a:r>
            <a:b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end</a:t>
            </a:r>
            <a:b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if 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= 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b="1" i="1" baseline="-25000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then 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location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>
                <a:solidFill>
                  <a:srgbClr val="000000"/>
                </a:solidFill>
                <a:latin typeface="Lucida Console" panose="020B0609040504020204" pitchFamily="49" charset="0"/>
                <a:ea typeface="宋体" panose="02010600030101010101" pitchFamily="2" charset="-122"/>
                <a:sym typeface="+mn-ea"/>
              </a:rPr>
              <a:t>:=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else 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location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>
                <a:solidFill>
                  <a:srgbClr val="000000"/>
                </a:solidFill>
                <a:latin typeface="Lucida Console" panose="020B0609040504020204" pitchFamily="49" charset="0"/>
                <a:ea typeface="宋体" panose="02010600030101010101" pitchFamily="2" charset="-122"/>
                <a:sym typeface="+mn-ea"/>
              </a:rPr>
              <a:t>:=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0</a:t>
            </a:r>
            <a:b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</a:b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return 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location</a:t>
            </a:r>
            <a:endParaRPr lang="en-US" altLang="zh-CN" sz="2800" b="1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0485" name="AutoShape 4"/>
          <p:cNvSpPr/>
          <p:nvPr/>
        </p:nvSpPr>
        <p:spPr bwMode="auto">
          <a:xfrm>
            <a:off x="2057400" y="2895600"/>
            <a:ext cx="381000" cy="838200"/>
          </a:xfrm>
          <a:prstGeom prst="rightBrace">
            <a:avLst>
              <a:gd name="adj1" fmla="val 18323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6" name="AutoShape 5"/>
          <p:cNvSpPr/>
          <p:nvPr/>
        </p:nvSpPr>
        <p:spPr bwMode="auto">
          <a:xfrm>
            <a:off x="7010400" y="4191000"/>
            <a:ext cx="381000" cy="762000"/>
          </a:xfrm>
          <a:prstGeom prst="rightBrace">
            <a:avLst>
              <a:gd name="adj1" fmla="val 16657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7" name="AutoShape 6"/>
          <p:cNvSpPr/>
          <p:nvPr/>
        </p:nvSpPr>
        <p:spPr bwMode="auto">
          <a:xfrm>
            <a:off x="8077200" y="5410200"/>
            <a:ext cx="381000" cy="838200"/>
          </a:xfrm>
          <a:prstGeom prst="rightBrace">
            <a:avLst>
              <a:gd name="adj1" fmla="val 18323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8" name="Text Box 7"/>
          <p:cNvSpPr txBox="1">
            <a:spLocks noChangeArrowheads="1"/>
          </p:cNvSpPr>
          <p:nvPr/>
        </p:nvSpPr>
        <p:spPr bwMode="auto">
          <a:xfrm>
            <a:off x="2514600" y="3124200"/>
            <a:ext cx="765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(1)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89" name="Text Box 8"/>
          <p:cNvSpPr txBox="1">
            <a:spLocks noChangeArrowheads="1"/>
          </p:cNvSpPr>
          <p:nvPr/>
        </p:nvSpPr>
        <p:spPr bwMode="auto">
          <a:xfrm>
            <a:off x="7464425" y="4343400"/>
            <a:ext cx="765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(1)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90" name="Text Box 9"/>
          <p:cNvSpPr txBox="1">
            <a:spLocks noChangeArrowheads="1"/>
          </p:cNvSpPr>
          <p:nvPr/>
        </p:nvSpPr>
        <p:spPr bwMode="auto">
          <a:xfrm>
            <a:off x="8302625" y="5638800"/>
            <a:ext cx="765175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(1)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9210" name="Text Box 10"/>
          <p:cNvSpPr txBox="1">
            <a:spLocks noChangeArrowheads="1"/>
          </p:cNvSpPr>
          <p:nvPr/>
        </p:nvSpPr>
        <p:spPr bwMode="auto">
          <a:xfrm>
            <a:off x="3581400" y="2743200"/>
            <a:ext cx="4622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关键问题</a:t>
            </a:r>
            <a:b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3200" b="0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循环迭代多少次？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9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9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10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FC73B2-C2D1-48DA-B0F4-23B94B21885E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116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二元搜索分析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419225"/>
            <a:ext cx="8686800" cy="4879975"/>
          </a:xfrm>
        </p:spPr>
        <p:txBody>
          <a:bodyPr/>
          <a:lstStyle/>
          <a:p>
            <a:r>
              <a:rPr lang="en-US" altLang="zh-CN" sz="2800" b="1">
                <a:ea typeface="宋体" panose="02010600030101010101" pitchFamily="2" charset="-122"/>
              </a:rPr>
              <a:t>假设 </a:t>
            </a:r>
            <a:r>
              <a:rPr lang="en-US" altLang="zh-CN" sz="2800" b="1" i="1">
                <a:ea typeface="宋体" panose="02010600030101010101" pitchFamily="2" charset="-122"/>
              </a:rPr>
              <a:t>n </a:t>
            </a:r>
            <a:r>
              <a:rPr lang="en-US" altLang="zh-CN" sz="2800" b="1">
                <a:ea typeface="宋体" panose="02010600030101010101" pitchFamily="2" charset="-122"/>
              </a:rPr>
              <a:t>是 2 的幂次，</a:t>
            </a:r>
            <a:r>
              <a:rPr lang="en-US" altLang="zh-CN" sz="2800" b="1" i="1">
                <a:ea typeface="宋体" panose="02010600030101010101" pitchFamily="2" charset="-122"/>
              </a:rPr>
              <a:t>即 </a:t>
            </a:r>
            <a:r>
              <a:rPr lang="en-US" altLang="zh-CN" sz="2800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 k</a:t>
            </a: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: </a:t>
            </a: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n=2</a:t>
            </a:r>
            <a:r>
              <a:rPr lang="en-US" altLang="zh-CN" sz="2800" b="1" i="1" baseline="30000">
                <a:solidFill>
                  <a:srgbClr val="FF0000"/>
                </a:solidFill>
                <a:ea typeface="宋体" panose="02010600030101010101" pitchFamily="2" charset="-122"/>
                <a:sym typeface="+mn-ea"/>
              </a:rPr>
              <a:t>k</a:t>
            </a: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。</a:t>
            </a:r>
            <a:endParaRPr lang="en-US" altLang="zh-CN" sz="2800" b="1" i="1" baseline="300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r>
              <a:rPr lang="en-US" altLang="zh-CN" sz="2800" b="1">
                <a:ea typeface="宋体" panose="02010600030101010101" pitchFamily="2" charset="-122"/>
              </a:rPr>
              <a:t>从 </a:t>
            </a: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i=1 </a:t>
            </a:r>
            <a:r>
              <a:rPr lang="en-US" altLang="zh-CN" sz="2800" b="1">
                <a:ea typeface="宋体" panose="02010600030101010101" pitchFamily="2" charset="-122"/>
              </a:rPr>
              <a:t>到 </a:t>
            </a:r>
            <a:r>
              <a:rPr lang="en-US" altLang="zh-CN" sz="2800" b="1" i="1">
                <a:solidFill>
                  <a:srgbClr val="FF0000"/>
                </a:solidFill>
                <a:ea typeface="宋体" panose="02010600030101010101" pitchFamily="2" charset="-122"/>
              </a:rPr>
              <a:t>j=n </a:t>
            </a:r>
            <a:r>
              <a:rPr lang="en-US" altLang="zh-CN" sz="2800" b="1">
                <a:ea typeface="宋体" panose="02010600030101010101" pitchFamily="2" charset="-122"/>
              </a:rPr>
              <a:t>的原始范围包含 </a:t>
            </a:r>
            <a:r>
              <a:rPr lang="en-US" altLang="zh-CN" sz="2800" b="1" i="1">
                <a:ea typeface="宋体" panose="02010600030101010101" pitchFamily="2" charset="-122"/>
              </a:rPr>
              <a:t>n 个</a:t>
            </a:r>
            <a:r>
              <a:rPr lang="zh-CN" altLang="en-US" sz="2800" b="1" i="1">
                <a:ea typeface="宋体" panose="02010600030101010101" pitchFamily="2" charset="-122"/>
              </a:rPr>
              <a:t>值</a:t>
            </a:r>
            <a:r>
              <a:rPr lang="en-US" altLang="zh-CN" sz="2800" b="1">
                <a:ea typeface="宋体" panose="02010600030101010101" pitchFamily="2" charset="-122"/>
              </a:rPr>
              <a:t>。</a:t>
            </a:r>
          </a:p>
          <a:p>
            <a:r>
              <a:rPr lang="en-US" altLang="zh-CN" sz="2800" b="1">
                <a:ea typeface="宋体" panose="02010600030101010101" pitchFamily="2" charset="-122"/>
              </a:rPr>
              <a:t>每次迭代：范围大小 </a:t>
            </a: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j-i+1 </a:t>
            </a:r>
            <a:r>
              <a:rPr lang="en-US" altLang="zh-CN" sz="2800" b="1">
                <a:ea typeface="宋体" panose="02010600030101010101" pitchFamily="2" charset="-122"/>
              </a:rPr>
              <a:t>减半。</a:t>
            </a:r>
          </a:p>
          <a:p>
            <a:r>
              <a:rPr lang="en-US" altLang="zh-CN" sz="2800" b="1">
                <a:ea typeface="宋体" panose="02010600030101010101" pitchFamily="2" charset="-122"/>
              </a:rPr>
              <a:t>当范围大小为 </a:t>
            </a: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1=2</a:t>
            </a:r>
            <a:r>
              <a:rPr lang="en-US" altLang="zh-CN" sz="2800" b="1" baseline="30000">
                <a:solidFill>
                  <a:srgbClr val="FF0000"/>
                </a:solidFill>
                <a:ea typeface="宋体" panose="02010600030101010101" pitchFamily="2" charset="-122"/>
              </a:rPr>
              <a:t>0</a:t>
            </a: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 (</a:t>
            </a:r>
            <a:r>
              <a:rPr lang="en-US" altLang="zh-CN" sz="2800" b="1" i="1">
                <a:solidFill>
                  <a:srgbClr val="FF0000"/>
                </a:solidFill>
                <a:ea typeface="宋体" panose="02010600030101010101" pitchFamily="2" charset="-122"/>
              </a:rPr>
              <a:t>i=j</a:t>
            </a: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) </a:t>
            </a:r>
            <a:r>
              <a:rPr lang="en-US" altLang="zh-CN" sz="2800" b="1">
                <a:ea typeface="宋体" panose="02010600030101010101" pitchFamily="2" charset="-122"/>
              </a:rPr>
              <a:t>时，循环终止。</a:t>
            </a:r>
          </a:p>
          <a:p>
            <a:r>
              <a:rPr lang="en-US" altLang="zh-CN" sz="2800" b="1">
                <a:ea typeface="宋体" panose="02010600030101010101" pitchFamily="2" charset="-122"/>
              </a:rPr>
              <a:t>因此，迭代次数为</a:t>
            </a:r>
            <a:br>
              <a:rPr lang="en-US" altLang="zh-CN" sz="2800" b="1">
                <a:ea typeface="宋体" panose="02010600030101010101" pitchFamily="2" charset="-122"/>
              </a:rPr>
            </a:br>
            <a:r>
              <a:rPr lang="en-US" altLang="zh-CN" sz="2800" b="1" i="1">
                <a:solidFill>
                  <a:srgbClr val="FF0000"/>
                </a:solidFill>
                <a:ea typeface="宋体" panose="02010600030101010101" pitchFamily="2" charset="-122"/>
              </a:rPr>
              <a:t>	      k </a:t>
            </a: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= log</a:t>
            </a:r>
            <a:r>
              <a:rPr lang="en-US" altLang="zh-CN" sz="2800" b="1" baseline="-2500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 n = </a:t>
            </a: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(log</a:t>
            </a:r>
            <a:r>
              <a:rPr lang="en-US" altLang="zh-CN" sz="2800" b="1" baseline="-2500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n</a:t>
            </a: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)= (log </a:t>
            </a:r>
            <a:r>
              <a:rPr lang="en-US" altLang="zh-CN" sz="2800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en-US" altLang="zh-CN" sz="2800" b="1">
              <a:solidFill>
                <a:srgbClr val="FF0000"/>
              </a:solidFill>
              <a:ea typeface="宋体" panose="02010600030101010101" pitchFamily="2" charset="-122"/>
            </a:endParaRPr>
          </a:p>
          <a:p>
            <a:r>
              <a:rPr lang="en-US" altLang="zh-CN" sz="2800" b="1">
                <a:ea typeface="宋体" panose="02010600030101010101" pitchFamily="2" charset="-122"/>
              </a:rPr>
              <a:t>即使对于 </a:t>
            </a: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</a:t>
            </a: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b="1" i="1" baseline="30000">
                <a:solidFill>
                  <a:srgbClr val="FF0000"/>
                </a:solidFill>
                <a:ea typeface="宋体" panose="02010600030101010101" pitchFamily="2" charset="-122"/>
              </a:rPr>
              <a:t>k</a:t>
            </a:r>
            <a:r>
              <a:rPr lang="en-US" altLang="zh-CN" sz="2800" b="1">
                <a:ea typeface="宋体" panose="02010600030101010101" pitchFamily="2" charset="-122"/>
              </a:rPr>
              <a:t> （不是 2 的整数幂）</a:t>
            </a:r>
            <a:r>
              <a:rPr lang="zh-CN" altLang="en-US" sz="2800" b="1">
                <a:ea typeface="宋体" panose="02010600030101010101" pitchFamily="2" charset="-122"/>
              </a:rPr>
              <a:t>，</a:t>
            </a:r>
            <a:br>
              <a:rPr lang="en-US" altLang="zh-CN" sz="2800" b="1">
                <a:ea typeface="宋体" panose="02010600030101010101" pitchFamily="2" charset="-122"/>
              </a:rPr>
            </a:br>
            <a:r>
              <a:rPr lang="en-US" altLang="zh-CN" sz="2800" b="1">
                <a:ea typeface="宋体" panose="02010600030101010101" pitchFamily="2" charset="-122"/>
              </a:rPr>
              <a:t>时间复杂度仍然是 </a:t>
            </a: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(log</a:t>
            </a:r>
            <a:r>
              <a:rPr lang="en-US" altLang="zh-CN" sz="2800" b="1" baseline="-2500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800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n</a:t>
            </a: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= (log </a:t>
            </a:r>
            <a:r>
              <a:rPr lang="en-US" altLang="zh-CN" sz="2800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en-US" altLang="zh-CN" sz="2800" b="1"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/>
          <p:cNvSpPr txBox="1">
            <a:spLocks noGrp="1" noChangeArrowheads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8F2E13F-095F-4696-91AB-DA2E0B025BD2}" type="slidenum">
              <a:rPr lang="en-US" altLang="zh-CN" sz="120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117</a:t>
            </a:fld>
            <a:endParaRPr lang="en-US" altLang="zh-CN" sz="120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</a:endParaRPr>
          </a:p>
        </p:txBody>
      </p:sp>
      <p:sp>
        <p:nvSpPr>
          <p:cNvPr id="9625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zh-CN" sz="2800">
                <a:ea typeface="宋体" panose="02010600030101010101" pitchFamily="2" charset="-122"/>
              </a:rPr>
              <a:t>练习</a:t>
            </a:r>
          </a:p>
        </p:txBody>
      </p:sp>
      <p:sp>
        <p:nvSpPr>
          <p:cNvPr id="9626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471613"/>
            <a:ext cx="8610600" cy="4725987"/>
          </a:xfrm>
        </p:spPr>
        <p:txBody>
          <a:bodyPr/>
          <a:lstStyle/>
          <a:p>
            <a:r>
              <a:rPr lang="en-US" altLang="zh-CN" sz="2800" dirty="0">
                <a:ea typeface="宋体" panose="02010600030101010101" pitchFamily="2" charset="-122"/>
              </a:rPr>
              <a:t>12.请证明 </a:t>
            </a:r>
            <a:br>
              <a:rPr lang="en-US" altLang="zh-CN" sz="2800" dirty="0">
                <a:ea typeface="宋体" panose="02010600030101010101" pitchFamily="2" charset="-122"/>
              </a:rPr>
            </a:br>
            <a:r>
              <a:rPr lang="en-US" altLang="zh-CN" sz="2800" dirty="0">
                <a:ea typeface="宋体" panose="02010600030101010101" pitchFamily="2" charset="-122"/>
              </a:rPr>
              <a:t>x</a:t>
            </a:r>
            <a:r>
              <a:rPr lang="en-US" altLang="zh-CN" sz="2800" baseline="30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 +4x+17 的时间复杂度是 O(x</a:t>
            </a:r>
            <a:r>
              <a:rPr lang="en-US" altLang="zh-CN" sz="2800" baseline="30000" dirty="0"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ea typeface="宋体" panose="02010600030101010101" pitchFamily="2" charset="-122"/>
              </a:rPr>
              <a:t> ), 但 x</a:t>
            </a:r>
            <a:r>
              <a:rPr lang="en-US" altLang="zh-CN" sz="2800" baseline="30000" dirty="0">
                <a:ea typeface="宋体" panose="02010600030101010101" pitchFamily="2" charset="-122"/>
              </a:rPr>
              <a:t>3</a:t>
            </a:r>
            <a:r>
              <a:rPr lang="en-US" altLang="zh-CN" sz="2800" dirty="0">
                <a:ea typeface="宋体" panose="02010600030101010101" pitchFamily="2" charset="-122"/>
              </a:rPr>
              <a:t> 的复杂度不是 </a:t>
            </a:r>
            <a:br>
              <a:rPr lang="en-US" altLang="zh-CN" sz="2800" dirty="0">
                <a:ea typeface="宋体" panose="02010600030101010101" pitchFamily="2" charset="-122"/>
              </a:rPr>
            </a:br>
            <a:r>
              <a:rPr lang="en-US" altLang="zh-CN" sz="2800" dirty="0">
                <a:ea typeface="宋体" panose="02010600030101010101" pitchFamily="2" charset="-122"/>
              </a:rPr>
              <a:t>O(x</a:t>
            </a:r>
            <a:r>
              <a:rPr lang="en-US" altLang="zh-CN" sz="2800" baseline="30000" dirty="0">
                <a:ea typeface="宋体" panose="02010600030101010101" pitchFamily="2" charset="-122"/>
              </a:rPr>
              <a:t>2</a:t>
            </a:r>
            <a:r>
              <a:rPr lang="en-US" altLang="zh-CN" sz="2800" dirty="0">
                <a:ea typeface="宋体" panose="02010600030101010101" pitchFamily="2" charset="-122"/>
              </a:rPr>
              <a:t> +4x+17 )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4597B23-22F1-4A80-80A8-08CC99E6D9FD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118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灯片编号占位符 5"/>
          <p:cNvSpPr txBox="1">
            <a:spLocks noGrp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miter lim="800000"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C108954-E554-49E7-8DE0-04A4B1DA55A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118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endParaRPr lang="zh-CN" altLang="zh-CN">
              <a:ea typeface="宋体" panose="02010600030101010101" pitchFamily="2" charset="-122"/>
            </a:endParaRPr>
          </a:p>
        </p:txBody>
      </p:sp>
      <p:grpSp>
        <p:nvGrpSpPr>
          <p:cNvPr id="22533" name="Group 4"/>
          <p:cNvGrpSpPr/>
          <p:nvPr/>
        </p:nvGrpSpPr>
        <p:grpSpPr bwMode="auto">
          <a:xfrm>
            <a:off x="1981200" y="2819400"/>
            <a:ext cx="5029200" cy="2438400"/>
            <a:chOff x="1997" y="1314"/>
            <a:chExt cx="1889" cy="1009"/>
          </a:xfrm>
        </p:grpSpPr>
        <p:grpSp>
          <p:nvGrpSpPr>
            <p:cNvPr id="22535" name="Group 5"/>
            <p:cNvGrpSpPr/>
            <p:nvPr/>
          </p:nvGrpSpPr>
          <p:grpSpPr bwMode="auto">
            <a:xfrm>
              <a:off x="1997" y="1404"/>
              <a:ext cx="1889" cy="919"/>
              <a:chOff x="1973" y="1027"/>
              <a:chExt cx="1926" cy="937"/>
            </a:xfrm>
          </p:grpSpPr>
          <p:sp>
            <p:nvSpPr>
              <p:cNvPr id="55302" name="Oval 6"/>
              <p:cNvSpPr>
                <a:spLocks noChangeArrowheads="1"/>
              </p:cNvSpPr>
              <p:nvPr/>
            </p:nvSpPr>
            <p:spPr bwMode="gray">
              <a:xfrm>
                <a:off x="1994" y="1057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hlink">
                      <a:gamma/>
                      <a:shade val="48627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17347D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5303" name="Oval 7"/>
              <p:cNvSpPr>
                <a:spLocks noChangeArrowheads="1"/>
              </p:cNvSpPr>
              <p:nvPr/>
            </p:nvSpPr>
            <p:spPr bwMode="gray">
              <a:xfrm>
                <a:off x="1973" y="1027"/>
                <a:ext cx="1905" cy="907"/>
              </a:xfrm>
              <a:prstGeom prst="ellipse">
                <a:avLst/>
              </a:prstGeom>
              <a:gradFill rotWithShape="1">
                <a:gsLst>
                  <a:gs pos="0">
                    <a:schemeClr val="hlink">
                      <a:gamma/>
                      <a:tint val="44314"/>
                      <a:invGamma/>
                    </a:schemeClr>
                  </a:gs>
                  <a:gs pos="100000">
                    <a:schemeClr val="hlink"/>
                  </a:gs>
                </a:gsLst>
                <a:lin ang="2700000" scaled="1"/>
              </a:gradFill>
              <a:ln w="9525">
                <a:noFill/>
                <a:round/>
              </a:ln>
              <a:effectLst/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17347D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5304" name="Oval 8"/>
            <p:cNvSpPr>
              <a:spLocks noChangeArrowheads="1"/>
            </p:cNvSpPr>
            <p:nvPr/>
          </p:nvSpPr>
          <p:spPr bwMode="gray">
            <a:xfrm>
              <a:off x="2086" y="1314"/>
              <a:ext cx="1691" cy="845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100000">
                  <a:schemeClr val="accent1"/>
                </a:gs>
              </a:gsLst>
              <a:lin ang="27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05" name="Oval 9"/>
            <p:cNvSpPr>
              <a:spLocks noChangeArrowheads="1"/>
            </p:cNvSpPr>
            <p:nvPr/>
          </p:nvSpPr>
          <p:spPr bwMode="gray">
            <a:xfrm>
              <a:off x="2108" y="1319"/>
              <a:ext cx="1650" cy="8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gamma/>
                    <a:tint val="34902"/>
                    <a:invGamma/>
                  </a:schemeClr>
                </a:gs>
              </a:gsLst>
              <a:lin ang="27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06" name="Oval 10"/>
            <p:cNvSpPr>
              <a:spLocks noChangeArrowheads="1"/>
            </p:cNvSpPr>
            <p:nvPr/>
          </p:nvSpPr>
          <p:spPr bwMode="gray">
            <a:xfrm>
              <a:off x="2125" y="1327"/>
              <a:ext cx="1570" cy="770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shade val="79216"/>
                    <a:invGamma/>
                  </a:schemeClr>
                </a:gs>
                <a:gs pos="100000">
                  <a:schemeClr val="accent1">
                    <a:alpha val="48000"/>
                  </a:schemeClr>
                </a:gs>
              </a:gsLst>
              <a:lin ang="27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307" name="Oval 11"/>
            <p:cNvSpPr>
              <a:spLocks noChangeArrowheads="1"/>
            </p:cNvSpPr>
            <p:nvPr/>
          </p:nvSpPr>
          <p:spPr bwMode="gray">
            <a:xfrm>
              <a:off x="2208" y="1344"/>
              <a:ext cx="1382" cy="624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gamma/>
                    <a:tint val="0"/>
                    <a:invGamma/>
                  </a:schemeClr>
                </a:gs>
                <a:gs pos="100000">
                  <a:schemeClr val="accent1">
                    <a:alpha val="38000"/>
                  </a:schemeClr>
                </a:gs>
              </a:gsLst>
              <a:lin ang="2700000" scaled="1"/>
            </a:gradFill>
            <a:ln w="9525" algn="ctr">
              <a:noFill/>
              <a:round/>
            </a:ln>
            <a:effectLst/>
          </p:spPr>
          <p:txBody>
            <a:bodyPr vert="eaVert"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253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048000" y="3276600"/>
            <a:ext cx="3276600" cy="914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ea typeface="宋体" panose="02010600030101010101" pitchFamily="2" charset="-122"/>
              </a:rPr>
              <a:t>算法的时间复杂性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282E591-A569-4A86-B766-06D09D23D17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119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733425" y="731838"/>
            <a:ext cx="8258175" cy="563562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一些阶的名称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19225"/>
            <a:ext cx="8686800" cy="4879975"/>
          </a:xfrm>
        </p:spPr>
        <p:txBody>
          <a:bodyPr/>
          <a:lstStyle/>
          <a:p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(1)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常量</a:t>
            </a:r>
          </a:p>
          <a:p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(log</a:t>
            </a:r>
            <a:r>
              <a:rPr lang="en-US" altLang="zh-CN" b="1" i="1" baseline="-2500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n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) 对数（同阶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c）</a:t>
            </a:r>
          </a:p>
          <a:p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(log</a:t>
            </a:r>
            <a:r>
              <a:rPr lang="en-US" altLang="zh-CN" b="1" i="1" baseline="3000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n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多对数</a:t>
            </a:r>
          </a:p>
          <a:p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(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线性</a:t>
            </a:r>
          </a:p>
          <a:p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(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b="1" i="1" baseline="3000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) 多项式（对于任意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c）</a:t>
            </a:r>
          </a:p>
          <a:p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(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b="1" i="1" baseline="3000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) 指数（对于 c&gt;1）</a:t>
            </a:r>
          </a:p>
          <a:p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(</a:t>
            </a:r>
            <a:r>
              <a:rPr lang="en-US" altLang="zh-CN" b="1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!) </a:t>
            </a:r>
            <a:r>
              <a:rPr lang="zh-CN" altLang="en-US" b="1">
                <a:ea typeface="宋体" panose="02010600030101010101" pitchFamily="2" charset="-122"/>
                <a:sym typeface="Symbol" panose="05050102010706020507" pitchFamily="18" charset="2"/>
              </a:rPr>
              <a:t>阶乘</a:t>
            </a: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6400752" y="3962386"/>
            <a:ext cx="24383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以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为常数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）。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7522FE7-E177-409A-A11C-CBDC402ED44B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120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复习 §2.3：复杂</a:t>
            </a:r>
            <a:r>
              <a:rPr lang="zh-CN" altLang="en-US">
                <a:ea typeface="宋体" panose="02010600030101010101" pitchFamily="2" charset="-122"/>
              </a:rPr>
              <a:t>度</a:t>
            </a:r>
          </a:p>
        </p:txBody>
      </p:sp>
      <p:sp>
        <p:nvSpPr>
          <p:cNvPr id="18227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981200"/>
            <a:ext cx="8458200" cy="4267200"/>
          </a:xfrm>
        </p:spPr>
        <p:txBody>
          <a:bodyPr/>
          <a:lstStyle/>
          <a:p>
            <a:r>
              <a:rPr lang="en-US" altLang="zh-CN" sz="2800" b="1">
                <a:ea typeface="宋体" panose="02010600030101010101" pitchFamily="2" charset="-122"/>
              </a:rPr>
              <a:t>算法复杂度 = 计算成本。</a:t>
            </a:r>
          </a:p>
          <a:p>
            <a:r>
              <a:rPr lang="en-US" altLang="zh-CN" sz="2800" b="1">
                <a:ea typeface="宋体" panose="02010600030101010101" pitchFamily="2" charset="-122"/>
              </a:rPr>
              <a:t>关注我们课程的</a:t>
            </a:r>
            <a:r>
              <a:rPr lang="en-US" altLang="zh-CN" sz="2800" b="1" i="1">
                <a:ea typeface="宋体" panose="02010600030101010101" pitchFamily="2" charset="-122"/>
              </a:rPr>
              <a:t>时间</a:t>
            </a:r>
            <a:r>
              <a:rPr lang="en-US" altLang="zh-CN" sz="2800" b="1">
                <a:ea typeface="宋体" panose="02010600030101010101" pitchFamily="2" charset="-122"/>
              </a:rPr>
              <a:t>复杂</a:t>
            </a:r>
            <a:r>
              <a:rPr lang="zh-CN" altLang="en-US" sz="2800" b="1">
                <a:ea typeface="宋体" panose="02010600030101010101" pitchFamily="2" charset="-122"/>
              </a:rPr>
              <a:t>度</a:t>
            </a:r>
            <a:r>
              <a:rPr lang="en-US" altLang="zh-CN" sz="2800" b="1">
                <a:ea typeface="宋体" panose="02010600030101010101" pitchFamily="2" charset="-122"/>
              </a:rPr>
              <a:t>。</a:t>
            </a:r>
          </a:p>
          <a:p>
            <a:pPr lvl="1"/>
            <a:r>
              <a:rPr lang="en-US" altLang="zh-CN" sz="2400" b="1">
                <a:ea typeface="宋体" panose="02010600030101010101" pitchFamily="2" charset="-122"/>
              </a:rPr>
              <a:t>尽管空间和能源也很重要。</a:t>
            </a:r>
          </a:p>
          <a:p>
            <a:r>
              <a:rPr lang="en-US" altLang="zh-CN" sz="2800" b="1">
                <a:ea typeface="宋体" panose="02010600030101010101" pitchFamily="2" charset="-122"/>
              </a:rPr>
              <a:t>将复杂</a:t>
            </a:r>
            <a:r>
              <a:rPr lang="zh-CN" altLang="en-US" sz="2800" b="1">
                <a:ea typeface="宋体" panose="02010600030101010101" pitchFamily="2" charset="-122"/>
              </a:rPr>
              <a:t>度</a:t>
            </a:r>
            <a:r>
              <a:rPr lang="en-US" altLang="zh-CN" sz="2800" b="1">
                <a:ea typeface="宋体" panose="02010600030101010101" pitchFamily="2" charset="-122"/>
              </a:rPr>
              <a:t>描述为输入大小的函数：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最坏情况、最佳情况或平均情况</a:t>
            </a:r>
            <a:r>
              <a:rPr lang="en-US" altLang="zh-CN" sz="2800" b="1">
                <a:solidFill>
                  <a:schemeClr val="accent2"/>
                </a:solidFill>
                <a:ea typeface="宋体" panose="02010600030101010101" pitchFamily="2" charset="-122"/>
              </a:rPr>
              <a:t>。</a:t>
            </a:r>
          </a:p>
          <a:p>
            <a:r>
              <a:rPr lang="en-US" altLang="zh-CN" sz="2800" b="1">
                <a:ea typeface="宋体" panose="02010600030101010101" pitchFamily="2" charset="-122"/>
              </a:rPr>
              <a:t>使用</a:t>
            </a:r>
            <a:r>
              <a:rPr lang="zh-CN" altLang="en-US" sz="2800" b="1">
                <a:ea typeface="宋体" panose="02010600030101010101" pitchFamily="2" charset="-122"/>
              </a:rPr>
              <a:t>函数的</a:t>
            </a:r>
            <a:r>
              <a:rPr lang="en-US" altLang="zh-CN" sz="2800" b="1">
                <a:ea typeface="宋体" panose="02010600030101010101" pitchFamily="2" charset="-122"/>
              </a:rPr>
              <a:t>阶</a:t>
            </a:r>
            <a:r>
              <a:rPr lang="zh-CN" altLang="en-US" sz="2800" b="1">
                <a:ea typeface="宋体" panose="02010600030101010101" pitchFamily="2" charset="-122"/>
              </a:rPr>
              <a:t>的</a:t>
            </a:r>
            <a:r>
              <a:rPr lang="en-US" altLang="zh-CN" sz="2800" b="1">
                <a:ea typeface="宋体" panose="02010600030101010101" pitchFamily="2" charset="-122"/>
              </a:rPr>
              <a:t>符号简明扼要地概括复杂性函数的增长特性。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2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2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2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82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82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5" grpId="0" build="p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BA8DFB-CF9B-4309-A9BA-D9C4D755C5E1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121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问题的复杂</a:t>
            </a:r>
            <a:r>
              <a:rPr lang="zh-CN" altLang="en-US">
                <a:ea typeface="宋体" panose="02010600030101010101" pitchFamily="2" charset="-122"/>
              </a:rPr>
              <a:t>度</a:t>
            </a:r>
          </a:p>
        </p:txBody>
      </p:sp>
      <p:sp>
        <p:nvSpPr>
          <p:cNvPr id="1843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19225"/>
            <a:ext cx="8534400" cy="48799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计算</a:t>
            </a:r>
            <a:r>
              <a:rPr lang="en-US" altLang="zh-CN" i="1">
                <a:ea typeface="宋体" panose="02010600030101010101" pitchFamily="2" charset="-122"/>
              </a:rPr>
              <a:t>问题</a:t>
            </a:r>
            <a:r>
              <a:rPr lang="en-US" altLang="zh-CN">
                <a:ea typeface="宋体" panose="02010600030101010101" pitchFamily="2" charset="-122"/>
              </a:rPr>
              <a:t>或</a:t>
            </a:r>
            <a:r>
              <a:rPr lang="en-US" altLang="zh-CN" i="1">
                <a:ea typeface="宋体" panose="02010600030101010101" pitchFamily="2" charset="-122"/>
              </a:rPr>
              <a:t>任务的</a:t>
            </a:r>
            <a:r>
              <a:rPr lang="en-US" altLang="zh-CN">
                <a:ea typeface="宋体" panose="02010600030101010101" pitchFamily="2" charset="-122"/>
              </a:rPr>
              <a:t>复杂度是解决该问题或执行该任务的</a:t>
            </a:r>
            <a:r>
              <a:rPr lang="zh-CN" altLang="en-US" u="sng">
                <a:ea typeface="宋体" panose="02010600030101010101" pitchFamily="2" charset="-122"/>
              </a:rPr>
              <a:t>具有最低复杂度增长阶的算法</a:t>
            </a:r>
            <a:br>
              <a:rPr lang="zh-CN" altLang="en-US" u="sng">
                <a:ea typeface="宋体" panose="02010600030101010101" pitchFamily="2" charset="-122"/>
              </a:rPr>
            </a:br>
            <a:r>
              <a:rPr lang="en-US" altLang="zh-CN">
                <a:ea typeface="宋体" panose="02010600030101010101" pitchFamily="2" charset="-122"/>
              </a:rPr>
              <a:t>（</a:t>
            </a:r>
            <a:r>
              <a:rPr lang="zh-CN" altLang="en-US">
                <a:ea typeface="宋体" panose="02010600030101010101" pitchFamily="2" charset="-122"/>
              </a:rPr>
              <a:t>函数的阶</a:t>
            </a:r>
            <a:r>
              <a:rPr lang="en-US" altLang="zh-CN">
                <a:ea typeface="宋体" panose="02010600030101010101" pitchFamily="2" charset="-122"/>
              </a:rPr>
              <a:t>）。</a:t>
            </a:r>
          </a:p>
          <a:p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</a:rPr>
              <a:t>例如，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搜索有序列表问题的时间复杂度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</a:rPr>
              <a:t>最多为对数。 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(复杂度为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O(log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</a:rPr>
              <a:t>n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3" grpId="0" build="p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5E22A25-632C-452D-BDEB-9884C00AD22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122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问题与困难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具有最</a:t>
            </a:r>
            <a:r>
              <a:rPr lang="zh-CN" altLang="en-US" sz="2800" b="1">
                <a:solidFill>
                  <a:srgbClr val="000000"/>
                </a:solidFill>
                <a:ea typeface="宋体" panose="02010600030101010101" pitchFamily="2" charset="-122"/>
              </a:rPr>
              <a:t>大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多项式时间复杂度的问题或算法被认为是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可处理的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（或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可行的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）。</a:t>
            </a:r>
            <a:r>
              <a:rPr lang="en-US" altLang="zh-CN" sz="2800" b="1">
                <a:ea typeface="宋体" panose="02010600030101010101" pitchFamily="2" charset="-122"/>
              </a:rPr>
              <a:t>  P 是所有可处理问题的集合。</a:t>
            </a:r>
          </a:p>
          <a:p>
            <a:pPr>
              <a:lnSpc>
                <a:spcPct val="90000"/>
              </a:lnSpc>
            </a:pP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复杂度大于多项式的问题或算法被视为难以解决（或</a:t>
            </a:r>
            <a:r>
              <a:rPr lang="en-US" altLang="zh-CN" sz="2800" b="1" i="1">
                <a:solidFill>
                  <a:srgbClr val="FF0000"/>
                </a:solidFill>
                <a:ea typeface="宋体" panose="02010600030101010101" pitchFamily="2" charset="-122"/>
              </a:rPr>
              <a:t>不可行</a:t>
            </a:r>
            <a:r>
              <a:rPr lang="en-US" altLang="zh-CN" sz="2800" b="1">
                <a:solidFill>
                  <a:srgbClr val="FF0000"/>
                </a:solidFill>
                <a:ea typeface="宋体" panose="02010600030101010101" pitchFamily="2" charset="-122"/>
              </a:rPr>
              <a:t>）</a:t>
            </a:r>
            <a:r>
              <a:rPr lang="en-US" altLang="zh-CN" sz="2800" b="1" i="1">
                <a:solidFill>
                  <a:srgbClr val="FF0000"/>
                </a:solidFill>
                <a:ea typeface="宋体" panose="02010600030101010101" pitchFamily="2" charset="-122"/>
              </a:rPr>
              <a:t>。</a:t>
            </a:r>
          </a:p>
          <a:p>
            <a:pPr>
              <a:lnSpc>
                <a:spcPct val="90000"/>
              </a:lnSpc>
            </a:pP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需要注意的是，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800" b="1" baseline="30000">
                <a:solidFill>
                  <a:srgbClr val="000000"/>
                </a:solidFill>
                <a:ea typeface="宋体" panose="02010600030101010101" pitchFamily="2" charset="-122"/>
              </a:rPr>
              <a:t>1,000,000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 在技术上是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可行的，但实际上非常困难。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nlog </a:t>
            </a:r>
            <a:r>
              <a:rPr lang="en-US" altLang="zh-CN" sz="2800" b="1" baseline="30000">
                <a:solidFill>
                  <a:srgbClr val="000000"/>
                </a:solidFill>
                <a:ea typeface="宋体" panose="02010600030101010101" pitchFamily="2" charset="-122"/>
              </a:rPr>
              <a:t>log</a:t>
            </a:r>
            <a:r>
              <a:rPr lang="en-US" altLang="zh-CN" sz="2800" b="1" i="1" baseline="3000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en-US" altLang="zh-CN" sz="2800" b="1" i="1">
                <a:solidFill>
                  <a:srgbClr val="000000"/>
                </a:solidFill>
                <a:ea typeface="宋体" panose="02010600030101010101" pitchFamily="2" charset="-122"/>
              </a:rPr>
              <a:t> 在技术上是</a:t>
            </a:r>
            <a:r>
              <a:rPr lang="en-US" altLang="zh-CN" sz="2800" b="1">
                <a:solidFill>
                  <a:srgbClr val="000000"/>
                </a:solidFill>
                <a:ea typeface="宋体" panose="02010600030101010101" pitchFamily="2" charset="-122"/>
              </a:rPr>
              <a:t>不可行的，但很容易。  不过这种情况很少见。</a:t>
            </a:r>
            <a:endParaRPr lang="en-US" altLang="zh-CN" sz="2800" b="1" i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5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5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7" grpId="0" build="p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20DF2A7-4CD9-4CB9-81CE-2C9FE4ABEE07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123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计算时间示例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idx="1"/>
          </p:nvPr>
        </p:nvSpPr>
        <p:spPr>
          <a:xfrm>
            <a:off x="6172200" y="1600200"/>
            <a:ext cx="2743200" cy="4114800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>
                <a:ea typeface="宋体" panose="02010600030101010101" pitchFamily="2" charset="-122"/>
              </a:rPr>
              <a:t>假设每个操作的时间 = 1 ns（10</a:t>
            </a:r>
            <a:r>
              <a:rPr lang="en-US" altLang="zh-CN" baseline="30000">
                <a:ea typeface="宋体" panose="02010600030101010101" pitchFamily="2" charset="-122"/>
                <a:sym typeface="Symbol" panose="05050102010706020507" pitchFamily="18" charset="2"/>
              </a:rPr>
              <a:t></a:t>
            </a:r>
            <a:r>
              <a:rPr lang="en-US" altLang="zh-CN" baseline="30000">
                <a:ea typeface="宋体" panose="02010600030101010101" pitchFamily="2" charset="-122"/>
              </a:rPr>
              <a:t>9</a:t>
            </a:r>
            <a:r>
              <a:rPr lang="en-US" altLang="zh-CN">
                <a:ea typeface="宋体" panose="02010600030101010101" pitchFamily="2" charset="-122"/>
              </a:rPr>
              <a:t> 秒），问题大小 = </a:t>
            </a:r>
            <a:r>
              <a:rPr lang="en-US" altLang="zh-CN" i="1">
                <a:ea typeface="宋体" panose="02010600030101010101" pitchFamily="2" charset="-122"/>
              </a:rPr>
              <a:t>n </a:t>
            </a:r>
            <a:r>
              <a:rPr lang="en-US" altLang="zh-CN">
                <a:ea typeface="宋体" panose="02010600030101010101" pitchFamily="2" charset="-122"/>
              </a:rPr>
              <a:t>位，#ops 是 </a:t>
            </a:r>
            <a:r>
              <a:rPr lang="en-US" altLang="zh-CN" i="1">
                <a:ea typeface="宋体" panose="02010600030101010101" pitchFamily="2" charset="-122"/>
              </a:rPr>
              <a:t>n </a:t>
            </a:r>
            <a:r>
              <a:rPr lang="en-US" altLang="zh-CN">
                <a:ea typeface="宋体" panose="02010600030101010101" pitchFamily="2" charset="-122"/>
              </a:rPr>
              <a:t>的函数，如图所示。</a:t>
            </a:r>
          </a:p>
        </p:txBody>
      </p:sp>
      <p:graphicFrame>
        <p:nvGraphicFramePr>
          <p:cNvPr id="27653" name="Object 4"/>
          <p:cNvGraphicFramePr>
            <a:graphicFrameLocks noChangeAspect="1"/>
          </p:cNvGraphicFramePr>
          <p:nvPr/>
        </p:nvGraphicFramePr>
        <p:xfrm>
          <a:off x="690563" y="1978025"/>
          <a:ext cx="5365750" cy="4021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440680" imgH="4065905" progId="Word.Document.8">
                  <p:embed/>
                </p:oleObj>
              </mc:Choice>
              <mc:Fallback>
                <p:oleObj r:id="rId2" imgW="5440680" imgH="4065905" progId="Word.Document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563" y="1978025"/>
                        <a:ext cx="5365750" cy="40211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Text Box 5"/>
          <p:cNvSpPr txBox="1">
            <a:spLocks noChangeArrowheads="1"/>
          </p:cNvSpPr>
          <p:nvPr/>
        </p:nvSpPr>
        <p:spPr bwMode="auto">
          <a:xfrm>
            <a:off x="4495800" y="1524000"/>
            <a:ext cx="12763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(125 kB)</a:t>
            </a:r>
          </a:p>
        </p:txBody>
      </p:sp>
      <p:sp>
        <p:nvSpPr>
          <p:cNvPr id="27655" name="Text Box 6"/>
          <p:cNvSpPr txBox="1">
            <a:spLocks noChangeArrowheads="1"/>
          </p:cNvSpPr>
          <p:nvPr/>
        </p:nvSpPr>
        <p:spPr bwMode="auto">
          <a:xfrm>
            <a:off x="2286000" y="1600200"/>
            <a:ext cx="1639888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(1.25 字节)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84C3572-B3E7-4663-BA5D-8D4E3D6606A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124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无法解决的问题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419225"/>
            <a:ext cx="8686800" cy="487997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图灵在 20 世纪 30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年代</a:t>
            </a:r>
            <a:r>
              <a:rPr lang="en-US" altLang="zh-CN">
                <a:ea typeface="宋体" panose="02010600030101010101" pitchFamily="2" charset="-122"/>
              </a:rPr>
              <a:t>发现，有些问题是</a:t>
            </a:r>
            <a:r>
              <a:rPr lang="en-US" altLang="zh-CN" i="1">
                <a:ea typeface="宋体" panose="02010600030101010101" pitchFamily="2" charset="-122"/>
              </a:rPr>
              <a:t>任何</a:t>
            </a:r>
            <a:r>
              <a:rPr lang="en-US" altLang="zh-CN">
                <a:ea typeface="宋体" panose="02010600030101010101" pitchFamily="2" charset="-122"/>
              </a:rPr>
              <a:t>算法都无法解决的。</a:t>
            </a:r>
          </a:p>
          <a:p>
            <a:pPr lvl="1"/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或者换句话说，有不可判定的 "是/否 "问题，也有不可计算的函数。</a:t>
            </a:r>
          </a:p>
          <a:p>
            <a:r>
              <a:rPr lang="en-US" altLang="zh-CN">
                <a:ea typeface="宋体" panose="02010600030101010101" pitchFamily="2" charset="-122"/>
              </a:rPr>
              <a:t>经典例子：</a:t>
            </a:r>
            <a:r>
              <a:rPr lang="zh-CN" altLang="en-US">
                <a:ea typeface="宋体" panose="02010600030101010101" pitchFamily="2" charset="-122"/>
              </a:rPr>
              <a:t>停机</a:t>
            </a:r>
            <a:r>
              <a:rPr lang="en-US" altLang="zh-CN" i="1">
                <a:ea typeface="宋体" panose="02010600030101010101" pitchFamily="2" charset="-122"/>
              </a:rPr>
              <a:t>问题</a:t>
            </a:r>
            <a:r>
              <a:rPr lang="en-US" altLang="zh-CN">
                <a:ea typeface="宋体" panose="02010600030101010101" pitchFamily="2" charset="-122"/>
              </a:rPr>
              <a:t>。</a:t>
            </a:r>
          </a:p>
          <a:p>
            <a:pPr lvl="1"/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给定一个任意算法及其输入，该算法最终会停止，还是会在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"</a:t>
            </a:r>
            <a:r>
              <a:rPr lang="en-US" altLang="zh-CN" b="1" i="1">
                <a:solidFill>
                  <a:srgbClr val="000000"/>
                </a:solidFill>
                <a:ea typeface="宋体" panose="02010600030101010101" pitchFamily="2" charset="-122"/>
              </a:rPr>
              <a:t>无限循环 </a:t>
            </a:r>
            <a:r>
              <a:rPr lang="en-US" altLang="zh-CN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</a:rPr>
              <a:t>中永远继续下去？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7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7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5" grpId="0" build="p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C290FD-AAE0-45E4-9D96-BF324F6BBC3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125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停机</a:t>
            </a:r>
            <a:r>
              <a:rPr lang="en-US" altLang="zh-CN">
                <a:ea typeface="宋体" panose="02010600030101010101" pitchFamily="2" charset="-122"/>
              </a:rPr>
              <a:t>问题（图灵 36）</a:t>
            </a:r>
          </a:p>
        </p:txBody>
      </p:sp>
      <p:sp>
        <p:nvSpPr>
          <p:cNvPr id="18841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76400"/>
            <a:ext cx="7772400" cy="42672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400" i="1">
                <a:ea typeface="宋体" panose="02010600030101010101" pitchFamily="2" charset="-122"/>
              </a:rPr>
              <a:t>停机</a:t>
            </a:r>
            <a:r>
              <a:rPr lang="en-US" altLang="zh-CN" sz="2400" i="1">
                <a:ea typeface="宋体" panose="02010600030101010101" pitchFamily="2" charset="-122"/>
              </a:rPr>
              <a:t>问题</a:t>
            </a:r>
            <a:r>
              <a:rPr lang="en-US" altLang="zh-CN" sz="2400">
                <a:ea typeface="宋体" panose="02010600030101010101" pitchFamily="2" charset="-122"/>
              </a:rPr>
              <a:t>是第一个</a:t>
            </a:r>
            <a:r>
              <a:rPr lang="zh-CN" altLang="en-US" sz="2400">
                <a:ea typeface="宋体" panose="02010600030101010101" pitchFamily="2" charset="-122"/>
              </a:rPr>
              <a:t>被</a:t>
            </a:r>
            <a:r>
              <a:rPr lang="en-US" altLang="zh-CN" sz="2400">
                <a:ea typeface="宋体" panose="02010600030101010101" pitchFamily="2" charset="-122"/>
              </a:rPr>
              <a:t>证明</a:t>
            </a:r>
            <a:r>
              <a:rPr lang="en-US" altLang="zh-CN" sz="2400" i="1">
                <a:ea typeface="宋体" panose="02010600030101010101" pitchFamily="2" charset="-122"/>
              </a:rPr>
              <a:t>没有</a:t>
            </a:r>
            <a:r>
              <a:rPr lang="en-US" altLang="zh-CN" sz="2400">
                <a:ea typeface="宋体" panose="02010600030101010101" pitchFamily="2" charset="-122"/>
              </a:rPr>
              <a:t>算法 </a:t>
            </a:r>
            <a:br>
              <a:rPr lang="en-US" altLang="zh-CN" sz="2400">
                <a:ea typeface="宋体" panose="02010600030101010101" pitchFamily="2" charset="-122"/>
              </a:rPr>
            </a:br>
            <a:r>
              <a:rPr lang="zh-CN" altLang="en-US" sz="2400">
                <a:ea typeface="宋体" panose="02010600030101010101" pitchFamily="2" charset="-122"/>
              </a:rPr>
              <a:t>可以</a:t>
            </a:r>
            <a:r>
              <a:rPr lang="en-US" altLang="zh-CN" sz="2400">
                <a:ea typeface="宋体" panose="02010600030101010101" pitchFamily="2" charset="-122"/>
              </a:rPr>
              <a:t>计算的数学函数！  </a:t>
            </a:r>
          </a:p>
          <a:p>
            <a:pPr lvl="1">
              <a:lnSpc>
                <a:spcPct val="80000"/>
              </a:lnSpc>
            </a:pPr>
            <a:r>
              <a:rPr lang="en-US" altLang="zh-CN" sz="2000">
                <a:ea typeface="宋体" panose="02010600030101010101" pitchFamily="2" charset="-122"/>
              </a:rPr>
              <a:t>我们说，这是</a:t>
            </a:r>
            <a:r>
              <a:rPr lang="en-US" altLang="zh-CN" sz="2000" i="1">
                <a:ea typeface="宋体" panose="02010600030101010101" pitchFamily="2" charset="-122"/>
              </a:rPr>
              <a:t>无法计算的。</a:t>
            </a:r>
            <a:endParaRPr lang="en-US" altLang="zh-CN" sz="2000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所需的函数是 </a:t>
            </a:r>
            <a:r>
              <a:rPr lang="en-US" altLang="zh-CN" sz="2400" i="1">
                <a:ea typeface="宋体" panose="02010600030101010101" pitchFamily="2" charset="-122"/>
              </a:rPr>
              <a:t>Halts</a:t>
            </a:r>
            <a:r>
              <a:rPr lang="en-US" altLang="zh-CN" sz="2400">
                <a:ea typeface="宋体" panose="02010600030101010101" pitchFamily="2" charset="-122"/>
              </a:rPr>
              <a:t>(</a:t>
            </a:r>
            <a:r>
              <a:rPr lang="en-US" altLang="zh-CN" sz="2400" i="1">
                <a:ea typeface="宋体" panose="02010600030101010101" pitchFamily="2" charset="-122"/>
              </a:rPr>
              <a:t>P</a:t>
            </a:r>
            <a:r>
              <a:rPr lang="en-US" altLang="zh-CN" sz="2400">
                <a:ea typeface="宋体" panose="02010600030101010101" pitchFamily="2" charset="-122"/>
              </a:rPr>
              <a:t>,</a:t>
            </a:r>
            <a:r>
              <a:rPr lang="en-US" altLang="zh-CN" sz="2400" i="1">
                <a:ea typeface="宋体" panose="02010600030101010101" pitchFamily="2" charset="-122"/>
              </a:rPr>
              <a:t>I</a:t>
            </a:r>
            <a:r>
              <a:rPr lang="en-US" altLang="zh-CN" sz="2400">
                <a:ea typeface="宋体" panose="02010600030101010101" pitchFamily="2" charset="-122"/>
              </a:rPr>
              <a:t>) :≡ 此语句的真值 </a:t>
            </a:r>
            <a:br>
              <a:rPr lang="en-US" altLang="zh-CN" sz="2400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的真值： </a:t>
            </a:r>
          </a:p>
          <a:p>
            <a:pPr lvl="1">
              <a:lnSpc>
                <a:spcPct val="80000"/>
              </a:lnSpc>
            </a:pP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sz="2000" i="1">
                <a:ea typeface="宋体" panose="02010600030101010101" pitchFamily="2" charset="-122"/>
              </a:rPr>
              <a:t>给定输入 I 的程序 P 最终会终止</a:t>
            </a:r>
            <a:r>
              <a:rPr lang="en-US" altLang="zh-CN" sz="2000" i="1">
                <a:latin typeface="Times New Roman" panose="02020603050405020304" pitchFamily="18" charset="0"/>
                <a:ea typeface="宋体" panose="02010600030101010101" pitchFamily="2" charset="-122"/>
              </a:rPr>
              <a:t>"</a:t>
            </a:r>
            <a:r>
              <a:rPr lang="en-US" altLang="zh-CN" sz="2000" i="1">
                <a:ea typeface="宋体" panose="02010600030101010101" pitchFamily="2" charset="-122"/>
              </a:rPr>
              <a:t>。</a:t>
            </a:r>
          </a:p>
          <a:p>
            <a:pPr>
              <a:lnSpc>
                <a:spcPct val="80000"/>
              </a:lnSpc>
            </a:pPr>
            <a:r>
              <a:rPr lang="en-US" altLang="zh-CN" sz="2400" b="1">
                <a:ea typeface="宋体" panose="02010600030101010101" pitchFamily="2" charset="-122"/>
              </a:rPr>
              <a:t>定理  </a:t>
            </a:r>
            <a:r>
              <a:rPr lang="en-US" altLang="zh-CN" sz="2400" i="1">
                <a:ea typeface="宋体" panose="02010600030101010101" pitchFamily="2" charset="-122"/>
              </a:rPr>
              <a:t>半晕</a:t>
            </a:r>
            <a:r>
              <a:rPr lang="en-US" altLang="zh-CN" sz="2400">
                <a:ea typeface="宋体" panose="02010600030101010101" pitchFamily="2" charset="-122"/>
              </a:rPr>
              <a:t>不可计算</a:t>
            </a:r>
          </a:p>
          <a:p>
            <a:pPr lvl="1">
              <a:lnSpc>
                <a:spcPct val="80000"/>
              </a:lnSpc>
            </a:pPr>
            <a:r>
              <a:rPr lang="en-US" altLang="zh-CN" sz="2000" i="1">
                <a:ea typeface="宋体" panose="02010600030101010101" pitchFamily="2" charset="-122"/>
              </a:rPr>
              <a:t>也就是说</a:t>
            </a:r>
            <a:r>
              <a:rPr lang="en-US" altLang="zh-CN" sz="2000">
                <a:ea typeface="宋体" panose="02010600030101010101" pitchFamily="2" charset="-122"/>
              </a:rPr>
              <a:t>，</a:t>
            </a:r>
            <a:r>
              <a:rPr lang="en-US" altLang="zh-CN" sz="2000" i="1">
                <a:ea typeface="宋体" panose="02010600030101010101" pitchFamily="2" charset="-122"/>
              </a:rPr>
              <a:t>不</a:t>
            </a:r>
            <a:r>
              <a:rPr lang="en-US" altLang="zh-CN" sz="2000">
                <a:ea typeface="宋体" panose="02010600030101010101" pitchFamily="2" charset="-122"/>
              </a:rPr>
              <a:t>存在</a:t>
            </a:r>
            <a:r>
              <a:rPr lang="en-US" altLang="zh-CN" sz="2000" i="1">
                <a:ea typeface="宋体" panose="02010600030101010101" pitchFamily="2" charset="-122"/>
              </a:rPr>
              <a:t>任何</a:t>
            </a:r>
            <a:r>
              <a:rPr lang="en-US" altLang="zh-CN" sz="2000">
                <a:ea typeface="宋体" panose="02010600030101010101" pitchFamily="2" charset="-122"/>
              </a:rPr>
              <a:t>算法 </a:t>
            </a:r>
            <a:r>
              <a:rPr lang="en-US" altLang="zh-CN" sz="2000" i="1">
                <a:ea typeface="宋体" panose="02010600030101010101" pitchFamily="2" charset="-122"/>
              </a:rPr>
              <a:t>A </a:t>
            </a:r>
            <a:r>
              <a:rPr lang="en-US" altLang="zh-CN" sz="2000">
                <a:ea typeface="宋体" panose="02010600030101010101" pitchFamily="2" charset="-122"/>
              </a:rPr>
              <a:t>可以 </a:t>
            </a:r>
            <a:br>
              <a:rPr lang="en-US" altLang="zh-CN" sz="2000">
                <a:ea typeface="宋体" panose="02010600030101010101" pitchFamily="2" charset="-122"/>
              </a:rPr>
            </a:br>
            <a:r>
              <a:rPr lang="en-US" altLang="zh-CN" sz="2000">
                <a:ea typeface="宋体" panose="02010600030101010101" pitchFamily="2" charset="-122"/>
              </a:rPr>
              <a:t>能正确计算</a:t>
            </a:r>
            <a:r>
              <a:rPr lang="en-US" altLang="zh-CN" sz="2000" i="1">
                <a:ea typeface="宋体" panose="02010600030101010101" pitchFamily="2" charset="-122"/>
              </a:rPr>
              <a:t>所有</a:t>
            </a:r>
            <a:r>
              <a:rPr lang="en-US" altLang="zh-CN" sz="2000">
                <a:ea typeface="宋体" panose="02010600030101010101" pitchFamily="2" charset="-122"/>
              </a:rPr>
              <a:t>可能输入的 </a:t>
            </a:r>
            <a:r>
              <a:rPr lang="en-US" altLang="zh-CN" sz="2000" i="1">
                <a:ea typeface="宋体" panose="02010600030101010101" pitchFamily="2" charset="-122"/>
              </a:rPr>
              <a:t>Halts。</a:t>
            </a:r>
            <a:endParaRPr lang="en-US" altLang="zh-CN" sz="2000" b="1"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2400">
                <a:ea typeface="宋体" panose="02010600030101010101" pitchFamily="2" charset="-122"/>
              </a:rPr>
              <a:t>因此，它的证明是不存在的证明。</a:t>
            </a:r>
          </a:p>
          <a:p>
            <a:pPr>
              <a:lnSpc>
                <a:spcPct val="80000"/>
              </a:lnSpc>
            </a:pPr>
            <a:r>
              <a:rPr lang="en-US" altLang="zh-CN" sz="2400" b="1">
                <a:solidFill>
                  <a:srgbClr val="FF0000"/>
                </a:solidFill>
                <a:ea typeface="宋体" panose="02010600030101010101" pitchFamily="2" charset="-122"/>
              </a:rPr>
              <a:t>推论：</a:t>
            </a: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对任意计算机程序进行预测分析的一般</a:t>
            </a:r>
            <a:b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</a:b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不可能性。</a:t>
            </a:r>
          </a:p>
        </p:txBody>
      </p:sp>
      <p:pic>
        <p:nvPicPr>
          <p:cNvPr id="29701" name="Picture 4" descr="ALAN%20TURING%2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3" y="1600200"/>
            <a:ext cx="2065337" cy="2895600"/>
          </a:xfrm>
          <a:prstGeom prst="rect">
            <a:avLst/>
          </a:prstGeom>
          <a:noFill/>
          <a:ln w="57150">
            <a:solidFill>
              <a:srgbClr val="00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702" name="Text Box 5"/>
          <p:cNvSpPr txBox="1">
            <a:spLocks noChangeArrowheads="1"/>
          </p:cNvSpPr>
          <p:nvPr/>
        </p:nvSpPr>
        <p:spPr bwMode="auto">
          <a:xfrm>
            <a:off x="7315200" y="4537075"/>
            <a:ext cx="1489075" cy="758825"/>
          </a:xfrm>
          <a:prstGeom prst="rect">
            <a:avLst/>
          </a:prstGeom>
          <a:solidFill>
            <a:srgbClr val="FFFF99"/>
          </a:solidFill>
          <a:ln w="57150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阿兰-图灵</a:t>
            </a:r>
            <a:b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1912-1954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8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8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8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8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88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88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88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88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19" grpId="0" build="p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A3F6806-F64E-457D-BF2F-93D1F83D4886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126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证明定理</a:t>
            </a:r>
          </a:p>
        </p:txBody>
      </p:sp>
      <p:sp>
        <p:nvSpPr>
          <p:cNvPr id="189443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981200"/>
            <a:ext cx="8153400" cy="42672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给定</a:t>
            </a:r>
            <a:r>
              <a:rPr lang="en-US" altLang="zh-CN" i="1">
                <a:ea typeface="宋体" panose="02010600030101010101" pitchFamily="2" charset="-122"/>
              </a:rPr>
              <a:t>任意</a:t>
            </a:r>
            <a:r>
              <a:rPr lang="en-US" altLang="zh-CN">
                <a:ea typeface="宋体" panose="02010600030101010101" pitchFamily="2" charset="-122"/>
              </a:rPr>
              <a:t>程序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</a:rPr>
              <a:t>H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</a:rPr>
              <a:t>P,I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)</a:t>
            </a:r>
            <a:r>
              <a:rPr lang="en-US" altLang="zh-CN">
                <a:ea typeface="宋体" panose="02010600030101010101" pitchFamily="2" charset="-122"/>
              </a:rPr>
              <a:t>、</a:t>
            </a:r>
          </a:p>
          <a:p>
            <a:r>
              <a:rPr lang="en-US" altLang="zh-CN">
                <a:ea typeface="宋体" panose="02010600030101010101" pitchFamily="2" charset="-122"/>
              </a:rPr>
              <a:t>考虑 </a:t>
            </a:r>
            <a:r>
              <a:rPr lang="en-US" altLang="zh-CN" i="1">
                <a:ea typeface="宋体" panose="02010600030101010101" pitchFamily="2" charset="-122"/>
              </a:rPr>
              <a:t>Foiler </a:t>
            </a:r>
            <a:r>
              <a:rPr lang="en-US" altLang="zh-CN">
                <a:ea typeface="宋体" panose="02010600030101010101" pitchFamily="2" charset="-122"/>
              </a:rPr>
              <a:t>算法，其定义如下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procedure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Foiler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P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: a program)</a:t>
            </a:r>
            <a:b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</a:b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	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halts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:=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H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P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,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P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)</a:t>
            </a:r>
            <a:b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</a:b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	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if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halts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b="1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then 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+mn-ea"/>
              </a:rPr>
              <a:t>loop forever</a:t>
            </a:r>
            <a:endParaRPr lang="en-US" altLang="zh-CN">
              <a:solidFill>
                <a:srgbClr val="00000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注意，如果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H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Foiler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Foiler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= 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，则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Foiler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Foiler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) 停止。</a:t>
            </a: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因此，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H </a:t>
            </a:r>
            <a:r>
              <a:rPr lang="zh-CN" altLang="en-US">
                <a:ea typeface="宋体" panose="02010600030101010101" pitchFamily="2" charset="-122"/>
                <a:sym typeface="Symbol" panose="05050102010706020507" pitchFamily="18" charset="2"/>
              </a:rPr>
              <a:t>无法计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算函数 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Halts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！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0725" name="Text Box 4"/>
          <p:cNvSpPr txBox="1">
            <a:spLocks noChangeArrowheads="1"/>
          </p:cNvSpPr>
          <p:nvPr/>
        </p:nvSpPr>
        <p:spPr bwMode="auto">
          <a:xfrm>
            <a:off x="6705600" y="3182938"/>
            <a:ext cx="2286000" cy="1322070"/>
          </a:xfrm>
          <a:prstGeom prst="rect">
            <a:avLst/>
          </a:prstGeom>
          <a:solidFill>
            <a:srgbClr val="FFFF99"/>
          </a:solidFill>
          <a:ln w="57150">
            <a:solidFill>
              <a:srgbClr val="008000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Foiler让 H </a:t>
            </a:r>
            <a:b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通过 </a:t>
            </a:r>
            <a:b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b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只需做与 </a:t>
            </a:r>
            <a:r>
              <a:rPr kumimoji="0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 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预测</a:t>
            </a:r>
            <a:r>
              <a:rPr kumimoji="0" lang="en-US" altLang="zh-CN" sz="2000" b="0" i="1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相反的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事情即可！</a:t>
            </a:r>
          </a:p>
        </p:txBody>
      </p:sp>
      <p:sp>
        <p:nvSpPr>
          <p:cNvPr id="30726" name="Text Box 5"/>
          <p:cNvSpPr txBox="1">
            <a:spLocks noChangeArrowheads="1"/>
          </p:cNvSpPr>
          <p:nvPr/>
        </p:nvSpPr>
        <p:spPr bwMode="auto">
          <a:xfrm>
            <a:off x="1708150" y="1485900"/>
            <a:ext cx="3840480" cy="460375"/>
          </a:xfrm>
          <a:prstGeom prst="rect">
            <a:avLst/>
          </a:prstGeom>
          <a:solidFill>
            <a:srgbClr val="FFFFCC"/>
          </a:solidFill>
          <a:ln w="38100">
            <a:solidFill>
              <a:srgbClr val="008000"/>
            </a:solidFill>
            <a:miter lim="800000"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停机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问题的不可判定性之谜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9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3" grpId="0" build="p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78D5BF2-E768-4601-B68B-58684C323F35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127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>
                <a:ea typeface="宋体" panose="02010600030101010101" pitchFamily="2" charset="-122"/>
              </a:rPr>
              <a:t>P </a:t>
            </a:r>
            <a:r>
              <a:rPr lang="en-US" altLang="zh-CN" i="1">
                <a:ea typeface="宋体" panose="02010600030101010101" pitchFamily="2" charset="-122"/>
              </a:rPr>
              <a:t>与 </a:t>
            </a:r>
            <a:r>
              <a:rPr lang="en-US" altLang="zh-CN" b="0">
                <a:ea typeface="宋体" panose="02010600030101010101" pitchFamily="2" charset="-122"/>
              </a:rPr>
              <a:t>NP</a:t>
            </a:r>
          </a:p>
        </p:txBody>
      </p:sp>
      <p:sp>
        <p:nvSpPr>
          <p:cNvPr id="191491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752600"/>
            <a:ext cx="8153400" cy="4267200"/>
          </a:xfrm>
        </p:spPr>
        <p:txBody>
          <a:bodyPr/>
          <a:lstStyle/>
          <a:p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NP </a:t>
            </a:r>
            <a:r>
              <a:rPr lang="en-US" altLang="zh-CN">
                <a:ea typeface="宋体" panose="02010600030101010101" pitchFamily="2" charset="-122"/>
              </a:rPr>
              <a:t>是这样一组问题：对于这些问题，存在一种可行的算法来</a:t>
            </a:r>
            <a:r>
              <a:rPr lang="en-US" altLang="zh-CN" i="1">
                <a:ea typeface="宋体" panose="02010600030101010101" pitchFamily="2" charset="-122"/>
              </a:rPr>
              <a:t>检查所提出的解决方案</a:t>
            </a:r>
            <a:r>
              <a:rPr lang="en-US" altLang="zh-CN">
                <a:ea typeface="宋体" panose="02010600030101010101" pitchFamily="2" charset="-122"/>
              </a:rPr>
              <a:t>是否正确。</a:t>
            </a:r>
          </a:p>
          <a:p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我们知道，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NP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，但计算机科学中最著名的未经证实的猜想是，这种包含是</a:t>
            </a:r>
            <a:r>
              <a:rPr lang="en-US" altLang="zh-CN" i="1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适当的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pPr lvl="1"/>
            <a:r>
              <a:rPr lang="en-US" altLang="zh-CN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也就是说，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PNP，</a:t>
            </a:r>
            <a:r>
              <a:rPr lang="en-US" altLang="zh-CN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而不是 </a:t>
            </a:r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P=NP</a:t>
            </a:r>
            <a:r>
              <a:rPr lang="en-US" altLang="zh-CN">
                <a:solidFill>
                  <a:srgbClr val="008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。</a:t>
            </a:r>
          </a:p>
          <a:p>
            <a:r>
              <a:rPr lang="en-US" altLang="zh-CN">
                <a:solidFill>
                  <a:srgbClr val="80008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谁能首先证明这一点，谁就能一举成名！</a:t>
            </a:r>
            <a:endParaRPr lang="en-US" altLang="zh-CN" b="1">
              <a:solidFill>
                <a:srgbClr val="800080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32773" name="Text Box 4"/>
          <p:cNvSpPr txBox="1">
            <a:spLocks noChangeArrowheads="1"/>
          </p:cNvSpPr>
          <p:nvPr/>
        </p:nvSpPr>
        <p:spPr bwMode="auto">
          <a:xfrm>
            <a:off x="4495800" y="5943600"/>
            <a:ext cx="2270125" cy="495300"/>
          </a:xfrm>
          <a:prstGeom prst="rect">
            <a:avLst/>
          </a:prstGeom>
          <a:solidFill>
            <a:srgbClr val="FFFFCC"/>
          </a:solidFill>
          <a:ln w="38100">
            <a:solidFill>
              <a:schemeClr val="tx1"/>
            </a:solidFill>
            <a:miter lim="800000"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(或推翻它！）</a:t>
            </a:r>
          </a:p>
        </p:txBody>
      </p:sp>
      <p:sp>
        <p:nvSpPr>
          <p:cNvPr id="32774" name="Freeform 5"/>
          <p:cNvSpPr>
            <a:spLocks noChangeArrowheads="1"/>
          </p:cNvSpPr>
          <p:nvPr/>
        </p:nvSpPr>
        <p:spPr bwMode="auto">
          <a:xfrm>
            <a:off x="5370513" y="5486400"/>
            <a:ext cx="268287" cy="146050"/>
          </a:xfrm>
          <a:custGeom>
            <a:avLst/>
            <a:gdLst>
              <a:gd name="T0" fmla="*/ 0 w 169"/>
              <a:gd name="T1" fmla="*/ 0 h 92"/>
              <a:gd name="T2" fmla="*/ 219252391 w 169"/>
              <a:gd name="T3" fmla="*/ 231854375 h 92"/>
              <a:gd name="T4" fmla="*/ 315018150 w 169"/>
              <a:gd name="T5" fmla="*/ 123488450 h 92"/>
              <a:gd name="T6" fmla="*/ 383063036 w 169"/>
              <a:gd name="T7" fmla="*/ 55443438 h 92"/>
              <a:gd name="T8" fmla="*/ 410783909 w 169"/>
              <a:gd name="T9" fmla="*/ 12601575 h 92"/>
              <a:gd name="T10" fmla="*/ 425904819 w 169"/>
              <a:gd name="T11" fmla="*/ 0 h 9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69" h="92">
                <a:moveTo>
                  <a:pt x="0" y="0"/>
                </a:moveTo>
                <a:cubicBezTo>
                  <a:pt x="56" y="13"/>
                  <a:pt x="46" y="79"/>
                  <a:pt x="87" y="92"/>
                </a:cubicBezTo>
                <a:cubicBezTo>
                  <a:pt x="113" y="55"/>
                  <a:pt x="98" y="67"/>
                  <a:pt x="125" y="49"/>
                </a:cubicBezTo>
                <a:cubicBezTo>
                  <a:pt x="155" y="2"/>
                  <a:pt x="115" y="59"/>
                  <a:pt x="152" y="22"/>
                </a:cubicBezTo>
                <a:cubicBezTo>
                  <a:pt x="157" y="17"/>
                  <a:pt x="159" y="10"/>
                  <a:pt x="163" y="5"/>
                </a:cubicBezTo>
                <a:cubicBezTo>
                  <a:pt x="165" y="3"/>
                  <a:pt x="167" y="2"/>
                  <a:pt x="169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1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1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91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91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1" grpId="0" build="p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DF017F9-C474-4FFD-B5BB-8F7E979B7169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7347D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128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17347D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须知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算法复杂</a:t>
            </a:r>
            <a:r>
              <a:rPr lang="zh-CN" altLang="en-US">
                <a:ea typeface="宋体" panose="02010600030101010101" pitchFamily="2" charset="-122"/>
              </a:rPr>
              <a:t>度</a:t>
            </a:r>
            <a:r>
              <a:rPr lang="en-US" altLang="zh-CN">
                <a:ea typeface="宋体" panose="02010600030101010101" pitchFamily="2" charset="-122"/>
              </a:rPr>
              <a:t>、时间复杂</a:t>
            </a:r>
            <a:r>
              <a:rPr lang="zh-CN" altLang="en-US">
                <a:ea typeface="宋体" panose="02010600030101010101" pitchFamily="2" charset="-122"/>
              </a:rPr>
              <a:t>度</a:t>
            </a:r>
            <a:r>
              <a:rPr lang="en-US" altLang="zh-CN">
                <a:ea typeface="宋体" panose="02010600030101010101" pitchFamily="2" charset="-122"/>
              </a:rPr>
              <a:t>、最坏情况时间复杂性的定义。</a:t>
            </a:r>
          </a:p>
          <a:p>
            <a:r>
              <a:rPr lang="zh-CN" altLang="en-US">
                <a:solidFill>
                  <a:srgbClr val="000000"/>
                </a:solidFill>
                <a:ea typeface="宋体" panose="02010600030101010101" pitchFamily="2" charset="-122"/>
              </a:rPr>
              <a:t>特定的函数增长的阶的名称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。</a:t>
            </a:r>
          </a:p>
          <a:p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如何分析简单算法时间复杂度的最坏、最好或平均</a:t>
            </a:r>
            <a:r>
              <a:rPr lang="zh-CN" altLang="en-US">
                <a:solidFill>
                  <a:srgbClr val="000000"/>
                </a:solidFill>
                <a:ea typeface="宋体" panose="02010600030101010101" pitchFamily="2" charset="-122"/>
              </a:rPr>
              <a:t>情况下的阶</a:t>
            </a: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5" name="WordArt 2"/>
          <p:cNvSpPr>
            <a:spLocks noChangeArrowheads="1" noChangeShapeType="1" noTextEdit="1"/>
          </p:cNvSpPr>
          <p:nvPr/>
        </p:nvSpPr>
        <p:spPr bwMode="auto">
          <a:xfrm>
            <a:off x="1600200" y="4267200"/>
            <a:ext cx="5943600" cy="7620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3600" b="1" kern="10" dirty="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tx1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cs typeface="Arial" panose="020B0604020202020204" pitchFamily="34" charset="0"/>
              </a:rPr>
              <a:t>第 2.2 节结束</a:t>
            </a:r>
            <a:endParaRPr lang="zh-CN" altLang="en-US" sz="3600" b="1" kern="10" dirty="0">
              <a:ln w="19050">
                <a:solidFill>
                  <a:schemeClr val="bg1"/>
                </a:solidFill>
                <a:round/>
              </a:ln>
              <a:gradFill rotWithShape="1">
                <a:gsLst>
                  <a:gs pos="0">
                    <a:schemeClr val="tx1"/>
                  </a:gs>
                  <a:gs pos="100000">
                    <a:schemeClr val="hlink"/>
                  </a:gs>
                </a:gsLst>
                <a:lin ang="0" scaled="1"/>
              </a:gradFill>
              <a:effectLst>
                <a:outerShdw dist="63500" dir="2212194" algn="ctr" rotWithShape="0">
                  <a:srgbClr val="868686">
                    <a:alpha val="50000"/>
                  </a:srgbClr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2" name="灯片编号占位符 5">
            <a:extLst>
              <a:ext uri="{FF2B5EF4-FFF2-40B4-BE49-F238E27FC236}">
                <a16:creationId xmlns:a16="http://schemas.microsoft.com/office/drawing/2014/main" id="{6167482E-3231-CB19-E07A-5456AF7BB979}"/>
              </a:ext>
            </a:extLst>
          </p:cNvPr>
          <p:cNvSpPr txBox="1">
            <a:spLocks noGrp="1"/>
          </p:cNvSpPr>
          <p:nvPr/>
        </p:nvSpPr>
        <p:spPr bwMode="auto">
          <a:xfrm>
            <a:off x="3124200" y="6477000"/>
            <a:ext cx="2133600" cy="320675"/>
          </a:xfrm>
          <a:prstGeom prst="rect">
            <a:avLst/>
          </a:prstGeom>
          <a:noFill/>
          <a:ln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fld id="{1F39D7F0-075E-414C-8A57-DCEA874578F4}" type="slidenum">
              <a:rPr altLang="zh-CN" sz="1200" noProof="1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</a:rPr>
              <a:t>129</a:t>
            </a:fld>
            <a:endParaRPr lang="zh-CN" altLang="zh-CN" sz="1200" noProof="1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68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68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ample">
  <a:themeElements>
    <a:clrScheme name="sample 3">
      <a:dk1>
        <a:srgbClr val="17347D"/>
      </a:dk1>
      <a:lt1>
        <a:srgbClr val="FFFFFF"/>
      </a:lt1>
      <a:dk2>
        <a:srgbClr val="3366CC"/>
      </a:dk2>
      <a:lt2>
        <a:srgbClr val="DDDDDD"/>
      </a:lt2>
      <a:accent1>
        <a:srgbClr val="77B7E7"/>
      </a:accent1>
      <a:accent2>
        <a:srgbClr val="45AB7D"/>
      </a:accent2>
      <a:accent3>
        <a:srgbClr val="FFFFFF"/>
      </a:accent3>
      <a:accent4>
        <a:srgbClr val="122B6A"/>
      </a:accent4>
      <a:accent5>
        <a:srgbClr val="BDD8F1"/>
      </a:accent5>
      <a:accent6>
        <a:srgbClr val="3E9B71"/>
      </a:accent6>
      <a:hlink>
        <a:srgbClr val="9999FF"/>
      </a:hlink>
      <a:folHlink>
        <a:srgbClr val="969696"/>
      </a:folHlink>
    </a:clrScheme>
    <a:fontScheme name="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ample 1">
        <a:dk1>
          <a:srgbClr val="1B525F"/>
        </a:dk1>
        <a:lt1>
          <a:srgbClr val="FFFFFF"/>
        </a:lt1>
        <a:dk2>
          <a:srgbClr val="339966"/>
        </a:dk2>
        <a:lt2>
          <a:srgbClr val="DDDDDD"/>
        </a:lt2>
        <a:accent1>
          <a:srgbClr val="C5BA6B"/>
        </a:accent1>
        <a:accent2>
          <a:srgbClr val="669900"/>
        </a:accent2>
        <a:accent3>
          <a:srgbClr val="FFFFFF"/>
        </a:accent3>
        <a:accent4>
          <a:srgbClr val="154550"/>
        </a:accent4>
        <a:accent5>
          <a:srgbClr val="DFD9BA"/>
        </a:accent5>
        <a:accent6>
          <a:srgbClr val="5C8A00"/>
        </a:accent6>
        <a:hlink>
          <a:srgbClr val="E57C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91961"/>
        </a:dk1>
        <a:lt1>
          <a:srgbClr val="FFFFFF"/>
        </a:lt1>
        <a:dk2>
          <a:srgbClr val="5D4CDC"/>
        </a:dk2>
        <a:lt2>
          <a:srgbClr val="DDDDDD"/>
        </a:lt2>
        <a:accent1>
          <a:srgbClr val="31B36C"/>
        </a:accent1>
        <a:accent2>
          <a:srgbClr val="0099FF"/>
        </a:accent2>
        <a:accent3>
          <a:srgbClr val="FFFFFF"/>
        </a:accent3>
        <a:accent4>
          <a:srgbClr val="141452"/>
        </a:accent4>
        <a:accent5>
          <a:srgbClr val="ADD6BA"/>
        </a:accent5>
        <a:accent6>
          <a:srgbClr val="008AE7"/>
        </a:accent6>
        <a:hlink>
          <a:srgbClr val="A0963C"/>
        </a:hlink>
        <a:folHlink>
          <a:srgbClr val="A0963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17347D"/>
        </a:dk1>
        <a:lt1>
          <a:srgbClr val="FFFFFF"/>
        </a:lt1>
        <a:dk2>
          <a:srgbClr val="3366CC"/>
        </a:dk2>
        <a:lt2>
          <a:srgbClr val="DDDDDD"/>
        </a:lt2>
        <a:accent1>
          <a:srgbClr val="77B7E7"/>
        </a:accent1>
        <a:accent2>
          <a:srgbClr val="45AB7D"/>
        </a:accent2>
        <a:accent3>
          <a:srgbClr val="FFFFFF"/>
        </a:accent3>
        <a:accent4>
          <a:srgbClr val="122B6A"/>
        </a:accent4>
        <a:accent5>
          <a:srgbClr val="BDD8F1"/>
        </a:accent5>
        <a:accent6>
          <a:srgbClr val="3E9B71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ample">
  <a:themeElements>
    <a:clrScheme name="1_sample 3">
      <a:dk1>
        <a:srgbClr val="17347D"/>
      </a:dk1>
      <a:lt1>
        <a:srgbClr val="FFFFFF"/>
      </a:lt1>
      <a:dk2>
        <a:srgbClr val="3366CC"/>
      </a:dk2>
      <a:lt2>
        <a:srgbClr val="DDDDDD"/>
      </a:lt2>
      <a:accent1>
        <a:srgbClr val="77B7E7"/>
      </a:accent1>
      <a:accent2>
        <a:srgbClr val="45AB7D"/>
      </a:accent2>
      <a:accent3>
        <a:srgbClr val="FFFFFF"/>
      </a:accent3>
      <a:accent4>
        <a:srgbClr val="122B6A"/>
      </a:accent4>
      <a:accent5>
        <a:srgbClr val="BDD8F1"/>
      </a:accent5>
      <a:accent6>
        <a:srgbClr val="3E9B71"/>
      </a:accent6>
      <a:hlink>
        <a:srgbClr val="9999FF"/>
      </a:hlink>
      <a:folHlink>
        <a:srgbClr val="969696"/>
      </a:folHlink>
    </a:clrScheme>
    <a:fontScheme name="1_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sample 1">
        <a:dk1>
          <a:srgbClr val="1B525F"/>
        </a:dk1>
        <a:lt1>
          <a:srgbClr val="FFFFFF"/>
        </a:lt1>
        <a:dk2>
          <a:srgbClr val="339966"/>
        </a:dk2>
        <a:lt2>
          <a:srgbClr val="DDDDDD"/>
        </a:lt2>
        <a:accent1>
          <a:srgbClr val="C5BA6B"/>
        </a:accent1>
        <a:accent2>
          <a:srgbClr val="669900"/>
        </a:accent2>
        <a:accent3>
          <a:srgbClr val="FFFFFF"/>
        </a:accent3>
        <a:accent4>
          <a:srgbClr val="154550"/>
        </a:accent4>
        <a:accent5>
          <a:srgbClr val="DFD9BA"/>
        </a:accent5>
        <a:accent6>
          <a:srgbClr val="5C8A00"/>
        </a:accent6>
        <a:hlink>
          <a:srgbClr val="E57C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ample 2">
        <a:dk1>
          <a:srgbClr val="191961"/>
        </a:dk1>
        <a:lt1>
          <a:srgbClr val="FFFFFF"/>
        </a:lt1>
        <a:dk2>
          <a:srgbClr val="5D4CDC"/>
        </a:dk2>
        <a:lt2>
          <a:srgbClr val="DDDDDD"/>
        </a:lt2>
        <a:accent1>
          <a:srgbClr val="31B36C"/>
        </a:accent1>
        <a:accent2>
          <a:srgbClr val="0099FF"/>
        </a:accent2>
        <a:accent3>
          <a:srgbClr val="FFFFFF"/>
        </a:accent3>
        <a:accent4>
          <a:srgbClr val="141452"/>
        </a:accent4>
        <a:accent5>
          <a:srgbClr val="ADD6BA"/>
        </a:accent5>
        <a:accent6>
          <a:srgbClr val="008AE7"/>
        </a:accent6>
        <a:hlink>
          <a:srgbClr val="A0963C"/>
        </a:hlink>
        <a:folHlink>
          <a:srgbClr val="A0963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ample 3">
        <a:dk1>
          <a:srgbClr val="17347D"/>
        </a:dk1>
        <a:lt1>
          <a:srgbClr val="FFFFFF"/>
        </a:lt1>
        <a:dk2>
          <a:srgbClr val="3366CC"/>
        </a:dk2>
        <a:lt2>
          <a:srgbClr val="DDDDDD"/>
        </a:lt2>
        <a:accent1>
          <a:srgbClr val="77B7E7"/>
        </a:accent1>
        <a:accent2>
          <a:srgbClr val="45AB7D"/>
        </a:accent2>
        <a:accent3>
          <a:srgbClr val="FFFFFF"/>
        </a:accent3>
        <a:accent4>
          <a:srgbClr val="122B6A"/>
        </a:accent4>
        <a:accent5>
          <a:srgbClr val="BDD8F1"/>
        </a:accent5>
        <a:accent6>
          <a:srgbClr val="3E9B71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sample">
  <a:themeElements>
    <a:clrScheme name="sample 3">
      <a:dk1>
        <a:srgbClr val="17347D"/>
      </a:dk1>
      <a:lt1>
        <a:srgbClr val="FFFFFF"/>
      </a:lt1>
      <a:dk2>
        <a:srgbClr val="3366CC"/>
      </a:dk2>
      <a:lt2>
        <a:srgbClr val="DDDDDD"/>
      </a:lt2>
      <a:accent1>
        <a:srgbClr val="77B7E7"/>
      </a:accent1>
      <a:accent2>
        <a:srgbClr val="45AB7D"/>
      </a:accent2>
      <a:accent3>
        <a:srgbClr val="FFFFFF"/>
      </a:accent3>
      <a:accent4>
        <a:srgbClr val="122B6A"/>
      </a:accent4>
      <a:accent5>
        <a:srgbClr val="BDD8F1"/>
      </a:accent5>
      <a:accent6>
        <a:srgbClr val="3E9B71"/>
      </a:accent6>
      <a:hlink>
        <a:srgbClr val="9999FF"/>
      </a:hlink>
      <a:folHlink>
        <a:srgbClr val="969696"/>
      </a:folHlink>
    </a:clrScheme>
    <a:fontScheme name="sampl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1B525F"/>
        </a:dk1>
        <a:lt1>
          <a:srgbClr val="FFFFFF"/>
        </a:lt1>
        <a:dk2>
          <a:srgbClr val="339966"/>
        </a:dk2>
        <a:lt2>
          <a:srgbClr val="DDDDDD"/>
        </a:lt2>
        <a:accent1>
          <a:srgbClr val="C5BA6B"/>
        </a:accent1>
        <a:accent2>
          <a:srgbClr val="669900"/>
        </a:accent2>
        <a:accent3>
          <a:srgbClr val="FFFFFF"/>
        </a:accent3>
        <a:accent4>
          <a:srgbClr val="154550"/>
        </a:accent4>
        <a:accent5>
          <a:srgbClr val="DFD9BA"/>
        </a:accent5>
        <a:accent6>
          <a:srgbClr val="5C8A00"/>
        </a:accent6>
        <a:hlink>
          <a:srgbClr val="E57C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91961"/>
        </a:dk1>
        <a:lt1>
          <a:srgbClr val="FFFFFF"/>
        </a:lt1>
        <a:dk2>
          <a:srgbClr val="5D4CDC"/>
        </a:dk2>
        <a:lt2>
          <a:srgbClr val="DDDDDD"/>
        </a:lt2>
        <a:accent1>
          <a:srgbClr val="31B36C"/>
        </a:accent1>
        <a:accent2>
          <a:srgbClr val="0099FF"/>
        </a:accent2>
        <a:accent3>
          <a:srgbClr val="FFFFFF"/>
        </a:accent3>
        <a:accent4>
          <a:srgbClr val="141452"/>
        </a:accent4>
        <a:accent5>
          <a:srgbClr val="ADD6BA"/>
        </a:accent5>
        <a:accent6>
          <a:srgbClr val="008AE7"/>
        </a:accent6>
        <a:hlink>
          <a:srgbClr val="A0963C"/>
        </a:hlink>
        <a:folHlink>
          <a:srgbClr val="A0963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17347D"/>
        </a:dk1>
        <a:lt1>
          <a:srgbClr val="FFFFFF"/>
        </a:lt1>
        <a:dk2>
          <a:srgbClr val="3366CC"/>
        </a:dk2>
        <a:lt2>
          <a:srgbClr val="DDDDDD"/>
        </a:lt2>
        <a:accent1>
          <a:srgbClr val="77B7E7"/>
        </a:accent1>
        <a:accent2>
          <a:srgbClr val="45AB7D"/>
        </a:accent2>
        <a:accent3>
          <a:srgbClr val="FFFFFF"/>
        </a:accent3>
        <a:accent4>
          <a:srgbClr val="122B6A"/>
        </a:accent4>
        <a:accent5>
          <a:srgbClr val="BDD8F1"/>
        </a:accent5>
        <a:accent6>
          <a:srgbClr val="3E9B71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顶级ppt模版1</Template>
  <TotalTime>383</TotalTime>
  <Words>6837</Words>
  <Application>Microsoft Macintosh PowerPoint</Application>
  <PresentationFormat>全屏显示(4:3)</PresentationFormat>
  <Paragraphs>1216</Paragraphs>
  <Slides>129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129</vt:i4>
      </vt:variant>
    </vt:vector>
  </HeadingPairs>
  <TitlesOfParts>
    <vt:vector size="146" baseType="lpstr">
      <vt:lpstr>宋体</vt:lpstr>
      <vt:lpstr>Euclid</vt:lpstr>
      <vt:lpstr>Plump MT</vt:lpstr>
      <vt:lpstr>Arial</vt:lpstr>
      <vt:lpstr>Arial Black</vt:lpstr>
      <vt:lpstr>Cambria Math</vt:lpstr>
      <vt:lpstr>Impact</vt:lpstr>
      <vt:lpstr>Lucida Console</vt:lpstr>
      <vt:lpstr>Times New Roman</vt:lpstr>
      <vt:lpstr>Verdana</vt:lpstr>
      <vt:lpstr>Wingdings</vt:lpstr>
      <vt:lpstr>sample</vt:lpstr>
      <vt:lpstr>1_sample</vt:lpstr>
      <vt:lpstr>2_sample</vt:lpstr>
      <vt:lpstr>Equation.DSMT4</vt:lpstr>
      <vt:lpstr>Equation.3</vt:lpstr>
      <vt:lpstr>Word.Document.8</vt:lpstr>
      <vt:lpstr>PowerPoint 演示文稿</vt:lpstr>
      <vt:lpstr>PowerPoint 演示文稿</vt:lpstr>
      <vt:lpstr>目录</vt:lpstr>
      <vt:lpstr>PowerPoint 演示文稿</vt:lpstr>
      <vt:lpstr>函数</vt:lpstr>
      <vt:lpstr>函数：正式定义</vt:lpstr>
      <vt:lpstr>PowerPoint 演示文稿</vt:lpstr>
      <vt:lpstr>PowerPoint 演示文稿</vt:lpstr>
      <vt:lpstr>我们目前知道的函数</vt:lpstr>
      <vt:lpstr>到目前为止的更多函数...</vt:lpstr>
      <vt:lpstr>更多函数</vt:lpstr>
      <vt:lpstr>更多函数</vt:lpstr>
      <vt:lpstr>练习</vt:lpstr>
      <vt:lpstr>新的概念</vt:lpstr>
      <vt:lpstr>一些函数术语</vt:lpstr>
      <vt:lpstr>取值范围与值域</vt:lpstr>
      <vt:lpstr>取值范围与值域 - 示例</vt:lpstr>
      <vt:lpstr>集合上的（n元）函数</vt:lpstr>
      <vt:lpstr>函数下的集合图像</vt:lpstr>
      <vt:lpstr>练习</vt:lpstr>
      <vt:lpstr>PowerPoint 演示文稿</vt:lpstr>
      <vt:lpstr>一对一函数</vt:lpstr>
      <vt:lpstr>一对一函数示例</vt:lpstr>
      <vt:lpstr>一对一函数示例</vt:lpstr>
      <vt:lpstr>一对一函数示例</vt:lpstr>
      <vt:lpstr>一对一函数示例</vt:lpstr>
      <vt:lpstr>1-1 映射的充分条件</vt:lpstr>
      <vt:lpstr>PowerPoint 演示文稿</vt:lpstr>
      <vt:lpstr>满射函数</vt:lpstr>
      <vt:lpstr>满射函数</vt:lpstr>
      <vt:lpstr>满射函数</vt:lpstr>
      <vt:lpstr>满射函数</vt:lpstr>
      <vt:lpstr>满射函数</vt:lpstr>
      <vt:lpstr>恒等函数</vt:lpstr>
      <vt:lpstr>恒等函数</vt:lpstr>
      <vt:lpstr>恒等函数</vt:lpstr>
      <vt:lpstr>恒等函数例子</vt:lpstr>
      <vt:lpstr>满射的说明</vt:lpstr>
      <vt:lpstr>满射的说明</vt:lpstr>
      <vt:lpstr>满射的说明</vt:lpstr>
      <vt:lpstr>满射的说明</vt:lpstr>
      <vt:lpstr>满射的说明</vt:lpstr>
      <vt:lpstr>练习</vt:lpstr>
      <vt:lpstr>练习</vt:lpstr>
      <vt:lpstr>练习</vt:lpstr>
      <vt:lpstr>PowerPoint 演示文稿</vt:lpstr>
      <vt:lpstr>双射</vt:lpstr>
      <vt:lpstr>关于函数的两种术语</vt:lpstr>
      <vt:lpstr>双射</vt:lpstr>
      <vt:lpstr>双射</vt:lpstr>
      <vt:lpstr>双射</vt:lpstr>
      <vt:lpstr>双射</vt:lpstr>
      <vt:lpstr>双射</vt:lpstr>
      <vt:lpstr>练习</vt:lpstr>
      <vt:lpstr>函数运算符</vt:lpstr>
      <vt:lpstr>函数运算符示例</vt:lpstr>
      <vt:lpstr>函数复合运算符</vt:lpstr>
      <vt:lpstr>函数复合运算符</vt:lpstr>
      <vt:lpstr>函数复合运算符</vt:lpstr>
      <vt:lpstr>练习</vt:lpstr>
      <vt:lpstr>练习</vt:lpstr>
      <vt:lpstr>练习</vt:lpstr>
      <vt:lpstr>关于表示</vt:lpstr>
      <vt:lpstr>一些关键函数</vt:lpstr>
      <vt:lpstr>直观上的向上/向下取整</vt:lpstr>
      <vt:lpstr>这些等式是否成立？</vt:lpstr>
      <vt:lpstr>这取决于 x 是否是整数</vt:lpstr>
      <vt:lpstr>取整函数的图像</vt:lpstr>
      <vt:lpstr>取整函数的图像：示例</vt:lpstr>
      <vt:lpstr>练习</vt:lpstr>
      <vt:lpstr>练习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阶的增长 - 动机</vt:lpstr>
      <vt:lpstr>阶的增长图像</vt:lpstr>
      <vt:lpstr>阶的增长的概念</vt:lpstr>
      <vt:lpstr>定义：O(g)，渐进上界 g</vt:lpstr>
      <vt:lpstr>定义的要点</vt:lpstr>
      <vt:lpstr>"大 O "证明示例</vt:lpstr>
      <vt:lpstr>图解大 O 示例</vt:lpstr>
      <vt:lpstr>关于大 O 的实用信息</vt:lpstr>
      <vt:lpstr>更多 Big-O 知识</vt:lpstr>
      <vt:lpstr>阶的增长</vt:lpstr>
      <vt:lpstr>阶的增长表达式</vt:lpstr>
      <vt:lpstr>阶的增长等式</vt:lpstr>
      <vt:lpstr>关于大 O 的实用信息</vt:lpstr>
      <vt:lpstr>案例</vt:lpstr>
      <vt:lpstr>定义：(g)，渐进紧确界 g</vt:lpstr>
      <vt:lpstr> 的规则</vt:lpstr>
      <vt:lpstr> 示例</vt:lpstr>
      <vt:lpstr>其他阶的增长关系</vt:lpstr>
      <vt:lpstr>阶之间的关系</vt:lpstr>
      <vt:lpstr>为什么 o(f)O(x)(x)</vt:lpstr>
      <vt:lpstr>函数的阶的严格排序</vt:lpstr>
      <vt:lpstr>回顾：函数的阶</vt:lpstr>
      <vt:lpstr>PowerPoint 演示文稿</vt:lpstr>
      <vt:lpstr>快速证明</vt:lpstr>
      <vt:lpstr>快速证明</vt:lpstr>
      <vt:lpstr>PowerPoint 演示文稿</vt:lpstr>
      <vt:lpstr>什么是复杂度？</vt:lpstr>
      <vt:lpstr>§2.3:算法复杂度</vt:lpstr>
      <vt:lpstr>复杂度取决于输入</vt:lpstr>
      <vt:lpstr>复杂度和函数的阶</vt:lpstr>
      <vt:lpstr>例 1：寻找最大值算法</vt:lpstr>
      <vt:lpstr>求最大值的复杂度分析</vt:lpstr>
      <vt:lpstr>复杂度分析，续</vt:lpstr>
      <vt:lpstr>复杂度分析，续</vt:lpstr>
      <vt:lpstr>例 2：线性搜索</vt:lpstr>
      <vt:lpstr>线性搜索分析</vt:lpstr>
      <vt:lpstr>复习 §2.3：复杂度</vt:lpstr>
      <vt:lpstr>例 3：二进制搜索</vt:lpstr>
      <vt:lpstr>二元搜索分析</vt:lpstr>
      <vt:lpstr>练习</vt:lpstr>
      <vt:lpstr>PowerPoint 演示文稿</vt:lpstr>
      <vt:lpstr>一些阶的名称</vt:lpstr>
      <vt:lpstr>复习 §2.3：复杂度</vt:lpstr>
      <vt:lpstr>问题的复杂度</vt:lpstr>
      <vt:lpstr>问题与困难</vt:lpstr>
      <vt:lpstr>计算时间示例</vt:lpstr>
      <vt:lpstr>无法解决的问题</vt:lpstr>
      <vt:lpstr>停机问题（图灵 36）</vt:lpstr>
      <vt:lpstr>证明定理</vt:lpstr>
      <vt:lpstr>P 与 NP</vt:lpstr>
      <vt:lpstr>须知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CZ M</dc:creator>
  <cp:keywords>, docId:7FFB1C260E2DC7D95390D53AF9CC098C</cp:keywords>
  <cp:lastModifiedBy>Ying Su</cp:lastModifiedBy>
  <cp:revision>350</cp:revision>
  <dcterms:created xsi:type="dcterms:W3CDTF">2015-10-08T08:14:00Z</dcterms:created>
  <dcterms:modified xsi:type="dcterms:W3CDTF">2026-09-27T03:39:53Z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2052-12.1.0.20305</vt:lpwstr>
  </property>
  <property fmtid="{D5CDD505-2E9C-101B-9397-08002B2CF9AE}" pid="4" name="ICV">
    <vt:lpwstr>C228B756EEF24EF1B6598441688FBBB3_12</vt:lpwstr>
  </property>
</Properties>
</file>