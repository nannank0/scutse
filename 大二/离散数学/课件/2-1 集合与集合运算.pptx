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80"/>
  </p:notesMasterIdLst>
  <p:sldIdLst>
    <p:sldId id="257" r:id="rId4"/>
    <p:sldId id="258" r:id="rId5"/>
    <p:sldId id="259" r:id="rId6"/>
    <p:sldId id="260" r:id="rId7"/>
    <p:sldId id="279" r:id="rId8"/>
    <p:sldId id="285" r:id="rId9"/>
    <p:sldId id="286" r:id="rId10"/>
    <p:sldId id="281" r:id="rId11"/>
    <p:sldId id="410" r:id="rId12"/>
    <p:sldId id="287" r:id="rId13"/>
    <p:sldId id="291" r:id="rId14"/>
    <p:sldId id="288" r:id="rId15"/>
    <p:sldId id="290" r:id="rId16"/>
    <p:sldId id="292" r:id="rId17"/>
    <p:sldId id="293" r:id="rId18"/>
    <p:sldId id="294" r:id="rId19"/>
    <p:sldId id="295" r:id="rId20"/>
    <p:sldId id="296" r:id="rId21"/>
    <p:sldId id="358" r:id="rId22"/>
    <p:sldId id="308" r:id="rId23"/>
    <p:sldId id="304" r:id="rId24"/>
    <p:sldId id="397" r:id="rId25"/>
    <p:sldId id="399" r:id="rId26"/>
    <p:sldId id="432" r:id="rId27"/>
    <p:sldId id="377" r:id="rId28"/>
    <p:sldId id="430" r:id="rId29"/>
    <p:sldId id="404" r:id="rId30"/>
    <p:sldId id="297" r:id="rId31"/>
    <p:sldId id="298" r:id="rId32"/>
    <p:sldId id="299" r:id="rId33"/>
    <p:sldId id="306" r:id="rId34"/>
    <p:sldId id="359" r:id="rId35"/>
    <p:sldId id="307" r:id="rId36"/>
    <p:sldId id="309" r:id="rId37"/>
    <p:sldId id="422" r:id="rId38"/>
    <p:sldId id="425" r:id="rId39"/>
    <p:sldId id="414" r:id="rId40"/>
    <p:sldId id="310" r:id="rId41"/>
    <p:sldId id="311" r:id="rId42"/>
    <p:sldId id="312" r:id="rId43"/>
    <p:sldId id="313" r:id="rId44"/>
    <p:sldId id="314" r:id="rId45"/>
    <p:sldId id="411" r:id="rId46"/>
    <p:sldId id="318" r:id="rId47"/>
    <p:sldId id="319" r:id="rId48"/>
    <p:sldId id="320" r:id="rId49"/>
    <p:sldId id="416" r:id="rId50"/>
    <p:sldId id="417" r:id="rId51"/>
    <p:sldId id="321" r:id="rId52"/>
    <p:sldId id="322" r:id="rId53"/>
    <p:sldId id="323" r:id="rId54"/>
    <p:sldId id="324" r:id="rId55"/>
    <p:sldId id="419" r:id="rId56"/>
    <p:sldId id="433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6" r:id="rId68"/>
    <p:sldId id="398" r:id="rId69"/>
    <p:sldId id="406" r:id="rId70"/>
    <p:sldId id="383" r:id="rId71"/>
    <p:sldId id="408" r:id="rId72"/>
    <p:sldId id="362" r:id="rId73"/>
    <p:sldId id="343" r:id="rId74"/>
    <p:sldId id="345" r:id="rId75"/>
    <p:sldId id="363" r:id="rId76"/>
    <p:sldId id="364" r:id="rId77"/>
    <p:sldId id="426" r:id="rId78"/>
    <p:sldId id="278" r:id="rId7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711"/>
    <a:srgbClr val="8E2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02" autoAdjust="0"/>
    <p:restoredTop sz="87553" autoAdjust="0"/>
  </p:normalViewPr>
  <p:slideViewPr>
    <p:cSldViewPr showGuides="1">
      <p:cViewPr varScale="1">
        <p:scale>
          <a:sx n="98" d="100"/>
          <a:sy n="98" d="100"/>
        </p:scale>
        <p:origin x="200" y="392"/>
      </p:cViewPr>
      <p:guideLst>
        <p:guide orient="horz" pos="2153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tableStyles" Target="tableStyle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viewProps" Target="view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fld id="{15EFCDA7-6D4B-4CD8-9CFC-F74EEAED4F4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7EC3D421-CB08-4BD2-BB26-944B18EE74B1}" type="slidenum">
              <a:rPr lang="en-US" altLang="zh-CN"/>
              <a:t>10</a:t>
            </a:fld>
            <a:endParaRPr lang="en-US" altLang="zh-CN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143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00DC593E-0A2C-44B9-990C-618CCDA60810}" type="slidenum">
              <a:rPr lang="en-US" altLang="zh-CN"/>
              <a:t>12</a:t>
            </a:fld>
            <a:endParaRPr lang="en-US" altLang="zh-CN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88B4F5E6-3E57-48DA-A6C3-6A85C2E3AA40}" type="slidenum">
              <a:rPr lang="en-US" altLang="zh-CN"/>
              <a:t>13</a:t>
            </a:fld>
            <a:endParaRPr lang="en-US" altLang="zh-CN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EC78A54E-072C-43F2-BE66-13F0095658DD}" type="slidenum">
              <a:rPr lang="en-US" altLang="zh-CN"/>
              <a:t>14</a:t>
            </a:fld>
            <a:endParaRPr lang="en-US" altLang="zh-CN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3F018B4C-A122-4304-9755-18CAA5AD94BF}" type="slidenum">
              <a:rPr lang="en-US" altLang="zh-CN"/>
              <a:t>15</a:t>
            </a:fld>
            <a:endParaRPr lang="en-US" altLang="zh-CN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2355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AAEC16E1-4F0C-4CBF-BECA-2FB80911C392}" type="slidenum">
              <a:rPr lang="en-US" altLang="zh-CN"/>
              <a:t>16</a:t>
            </a:fld>
            <a:endParaRPr lang="en-US" altLang="zh-CN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256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FF96B18E-C664-4560-80E1-872279B9C6E0}" type="slidenum">
              <a:rPr lang="en-US" altLang="zh-CN"/>
              <a:t>17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276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FCDA7-6D4B-4CD8-9CFC-F74EEAED4F40}" type="slidenum">
              <a:rPr lang="en-US" altLang="zh-CN" smtClean="0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6747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9142416D-3040-4D53-8A07-D63FFF795D21}" type="slidenum">
              <a:rPr lang="en-US" altLang="zh-CN"/>
              <a:t>20</a:t>
            </a:fld>
            <a:endParaRPr lang="en-US" altLang="zh-CN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317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71D81F7B-52C3-42F9-9EE3-E061EB37923F}" type="slidenum">
              <a:rPr lang="en-US" altLang="zh-CN"/>
              <a:t>21</a:t>
            </a:fld>
            <a:endParaRPr lang="en-US" altLang="zh-CN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337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B9153DEE-59D9-4AC0-B30A-06A558319446}" type="slidenum">
              <a:rPr lang="en-US" altLang="zh-CN"/>
              <a:t>29</a:t>
            </a:fld>
            <a:endParaRPr lang="en-US" altLang="zh-CN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3686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EFCDA7-6D4B-4CD8-9CFC-F74EEAED4F40}" type="slidenum">
              <a:rPr lang="en-US" altLang="zh-CN" smtClean="0"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359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7E99148E-47BB-4841-ABFC-E969DF37C48B}" type="slidenum">
              <a:rPr lang="en-US" altLang="zh-CN"/>
              <a:t>31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430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AED1EC8B-F4A3-44A7-B684-858D011DF248}" type="slidenum">
              <a:rPr lang="en-US" altLang="zh-CN"/>
              <a:t>33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450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9200C084-954B-4962-A0F0-C3E691E786A8}" type="slidenum">
              <a:rPr lang="en-US" altLang="zh-CN"/>
              <a:t>44</a:t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583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B78143AB-8C10-4142-B73A-6EFCE7F51B9F}" type="slidenum">
              <a:rPr lang="en-US" altLang="zh-CN"/>
              <a:t>55</a:t>
            </a:fld>
            <a:endParaRPr lang="en-US" altLang="zh-CN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6758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1C03059B-449D-4DE1-A460-1632875DEA78}" type="slidenum">
              <a:rPr lang="en-US" altLang="zh-CN"/>
              <a:t>59</a:t>
            </a:fld>
            <a:endParaRPr lang="en-US" altLang="zh-CN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727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pPr eaLnBrk="1" hangingPunct="1"/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A16CEC-71BD-45D9-BC1D-C5B32A393BE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85422-3F00-4E02-99B4-87E9273A479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FA354A-836E-4960-87CC-731AA4191F6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475B2B-19F5-4184-9337-7EAC7447FF6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8A99FD-79B2-4EAA-AE51-41396A016C9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672F00-3F68-4DF6-A911-8EC873B99D4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A21A70-2023-4CA5-8204-4EF6E6546D4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A806A5-C30E-44A0-9C1E-E15B58B4F32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CD5D65-23DC-4746-A549-9C6B4ACD6A7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089F04-DBB8-4F5E-A38D-278A2A97591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2DB0E1-549F-4334-A5F2-955C15EE6ED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29E52B-06E3-42FC-9FC1-53AB10C2384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E07C7B-4AD1-4739-892D-CDAB9D7A55B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912A7-5F3D-4C91-8537-F88358EF294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413599-DB29-443E-BF4F-2807AEC7768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2BDC54-188A-4984-A138-CA7F96E6DA1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0D72DE-4743-4CEB-A227-8239D33B45D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D4BEA6-842A-4A44-87A8-04656FFD341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127A38-3267-4651-945D-181067DAD5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8A0BC-12A4-4949-92A3-F61955E99A6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456382-A6E7-4928-B642-882670ECB35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AF5944-C6D1-4162-9BE8-C0849130093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D1CF41-B8E6-4472-99F4-B2DC22AF3F6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A62C00-8009-423D-87CB-961B3CFEA27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A67AA1-F807-4BED-BDBC-655530787E4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632755-4A04-4E96-8ABC-7463A5C0FA7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B7C69F-FFF0-4E28-B1E2-CB239E290C0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186D6B-B14A-4742-8D69-7108AD77092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6B5927-A066-41BD-9F86-3E7A2C7C7C3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B56EB4-8972-45FF-A6C3-7958F09897B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22AA47-AF2C-4CB2-B714-3718CCDBBC5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37031B-7A3E-4BF0-9DCB-7BCB49100A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B1D0E4-4D47-4F11-BE7F-91DCF16034F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a1"/>
          <p:cNvSpPr>
            <a:spLocks noChangeArrowheads="1"/>
          </p:cNvSpPr>
          <p:nvPr/>
        </p:nvSpPr>
        <p:spPr bwMode="auto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730500" y="0"/>
            <a:ext cx="2138363" cy="838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28" name="Rectangle 4" descr="a2"/>
          <p:cNvSpPr>
            <a:spLocks noChangeArrowheads="1"/>
          </p:cNvSpPr>
          <p:nvPr/>
        </p:nvSpPr>
        <p:spPr bwMode="auto">
          <a:xfrm>
            <a:off x="4938713" y="0"/>
            <a:ext cx="2066925" cy="838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7077075" y="0"/>
            <a:ext cx="2066925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grpSp>
        <p:nvGrpSpPr>
          <p:cNvPr id="1031" name="Group 7"/>
          <p:cNvGrpSpPr/>
          <p:nvPr/>
        </p:nvGrpSpPr>
        <p:grpSpPr bwMode="auto">
          <a:xfrm>
            <a:off x="0" y="685800"/>
            <a:ext cx="9144000" cy="609600"/>
            <a:chOff x="0" y="0"/>
            <a:chExt cx="5760" cy="384"/>
          </a:xfrm>
        </p:grpSpPr>
        <p:sp>
          <p:nvSpPr>
            <p:cNvPr id="2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5760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362" y="0"/>
              <a:ext cx="5398" cy="3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sp>
        <p:nvSpPr>
          <p:cNvPr id="1032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61125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公司标志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fld id="{24A5F09D-6609-48C9-8E47-98F5147DE6D5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7391400" y="76200"/>
            <a:ext cx="17653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 descr="a1"/>
          <p:cNvSpPr>
            <a:spLocks noChangeArrowheads="1"/>
          </p:cNvSpPr>
          <p:nvPr/>
        </p:nvSpPr>
        <p:spPr bwMode="auto">
          <a:xfrm>
            <a:off x="2286000" y="0"/>
            <a:ext cx="2286000" cy="3124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0"/>
            <a:ext cx="2209800" cy="312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4648200" y="0"/>
            <a:ext cx="2209800" cy="312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3" name="Rectangle 5" descr="a2"/>
          <p:cNvSpPr>
            <a:spLocks noChangeArrowheads="1"/>
          </p:cNvSpPr>
          <p:nvPr/>
        </p:nvSpPr>
        <p:spPr bwMode="auto">
          <a:xfrm>
            <a:off x="6934200" y="0"/>
            <a:ext cx="2209800" cy="3124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2056" name="Text Box 13"/>
          <p:cNvSpPr txBox="1">
            <a:spLocks noChangeArrowheads="1"/>
          </p:cNvSpPr>
          <p:nvPr/>
        </p:nvSpPr>
        <p:spPr bwMode="auto">
          <a:xfrm>
            <a:off x="444500" y="2514600"/>
            <a:ext cx="17653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  <p:sp>
        <p:nvSpPr>
          <p:cNvPr id="2057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2058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5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51613"/>
            <a:ext cx="2133600" cy="1698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fld id="{23C929A6-397B-4295-9DF4-93C352157D27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a1"/>
          <p:cNvSpPr>
            <a:spLocks noChangeArrowheads="1"/>
          </p:cNvSpPr>
          <p:nvPr/>
        </p:nvSpPr>
        <p:spPr bwMode="auto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730500" y="0"/>
            <a:ext cx="2138363" cy="838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28" name="Rectangle 4" descr="a2"/>
          <p:cNvSpPr>
            <a:spLocks noChangeArrowheads="1"/>
          </p:cNvSpPr>
          <p:nvPr/>
        </p:nvSpPr>
        <p:spPr bwMode="auto">
          <a:xfrm>
            <a:off x="4938713" y="0"/>
            <a:ext cx="2066925" cy="838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7077075" y="0"/>
            <a:ext cx="2066925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grpSp>
        <p:nvGrpSpPr>
          <p:cNvPr id="3079" name="Group 7"/>
          <p:cNvGrpSpPr/>
          <p:nvPr/>
        </p:nvGrpSpPr>
        <p:grpSpPr bwMode="auto">
          <a:xfrm>
            <a:off x="0" y="685800"/>
            <a:ext cx="9144000" cy="609600"/>
            <a:chOff x="0" y="0"/>
            <a:chExt cx="5760" cy="384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5760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362" y="0"/>
              <a:ext cx="5398" cy="3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</p:grpSp>
      <p:sp>
        <p:nvSpPr>
          <p:cNvPr id="3080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61125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www.themegallery.com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公司标志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fld id="{DA254673-E93D-4AB0-B5B6-E1F578B5FCA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084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7391400" y="76200"/>
            <a:ext cx="17653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audio" Target="../media/audio5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7.wav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4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audio" Target="../media/audio8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8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4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6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2"/>
          <p:cNvSpPr txBox="1">
            <a:spLocks noGrp="1" noChangeArrowheads="1"/>
          </p:cNvSpPr>
          <p:nvPr/>
        </p:nvSpPr>
        <p:spPr bwMode="auto">
          <a:xfrm>
            <a:off x="3429000" y="6553118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3BB27C0-8A9B-4808-AB11-7BFC2149BB22}" type="slidenum">
              <a:rPr lang="en-US" altLang="zh-CN" sz="1200"/>
              <a:t>1</a:t>
            </a:fld>
            <a:endParaRPr lang="en-US" altLang="zh-CN" sz="1200"/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2286000" y="2743200"/>
            <a:ext cx="6705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000" b="1">
                <a:solidFill>
                  <a:schemeClr val="bg1"/>
                </a:solidFill>
                <a:latin typeface="Verdana" panose="020B0604030504040204" pitchFamily="34" charset="0"/>
              </a:rPr>
              <a:t>离散数学</a:t>
            </a:r>
          </a:p>
        </p:txBody>
      </p:sp>
      <p:sp>
        <p:nvSpPr>
          <p:cNvPr id="5125" name="Rectangle 3"/>
          <p:cNvSpPr>
            <a:spLocks noChangeArrowheads="1"/>
          </p:cNvSpPr>
          <p:nvPr/>
        </p:nvSpPr>
        <p:spPr bwMode="auto">
          <a:xfrm>
            <a:off x="1295400" y="5715000"/>
            <a:ext cx="6553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000" b="1">
                <a:latin typeface="Verdana" panose="020B0604030504040204" pitchFamily="34" charset="0"/>
              </a:rPr>
              <a:t>华南理工大学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2"/>
          <p:cNvSpPr txBox="1">
            <a:spLocks noGrp="1" noChangeArrowheads="1"/>
          </p:cNvSpPr>
          <p:nvPr/>
        </p:nvSpPr>
        <p:spPr bwMode="auto">
          <a:xfrm>
            <a:off x="3505200" y="6553118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3111C92E-8F0F-4D95-B7E1-4E4605E3359A}" type="slidenum">
              <a:rPr lang="en-US" altLang="zh-CN" sz="1200"/>
              <a:t>2</a:t>
            </a:fld>
            <a:endParaRPr lang="en-US" altLang="zh-CN" sz="1200"/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3657600" y="6096000"/>
            <a:ext cx="2438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b="1" dirty="0">
                <a:latin typeface="Verdana" panose="020B0604030504040204" pitchFamily="34" charset="0"/>
              </a:rPr>
              <a:t>第 2.1 节</a:t>
            </a:r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2362200" y="3276600"/>
            <a:ext cx="678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Euclid" pitchFamily="18" charset="0"/>
                <a:ea typeface="Dotum" panose="020B0600000101010101" pitchFamily="34" charset="-127"/>
              </a:rPr>
              <a:t>第 2 章 </a:t>
            </a:r>
            <a:r>
              <a:rPr lang="zh-CN" altLang="en-US" sz="2400" b="1" dirty="0">
                <a:solidFill>
                  <a:schemeClr val="bg1"/>
                </a:solidFill>
                <a:latin typeface="Euclid" pitchFamily="18" charset="0"/>
                <a:ea typeface="Dotum" panose="020B0600000101010101" pitchFamily="34" charset="-127"/>
              </a:rPr>
              <a:t>集合</a:t>
            </a:r>
            <a:r>
              <a:rPr lang="en-US" altLang="zh-CN" sz="2400" b="1" dirty="0">
                <a:solidFill>
                  <a:schemeClr val="bg1"/>
                </a:solidFill>
                <a:latin typeface="Euclid" pitchFamily="18" charset="0"/>
                <a:ea typeface="Dotum" panose="020B0600000101010101" pitchFamily="34" charset="-127"/>
              </a:rPr>
              <a:t>模型</a:t>
            </a:r>
          </a:p>
        </p:txBody>
      </p:sp>
      <p:sp>
        <p:nvSpPr>
          <p:cNvPr id="5125" name="WordArt 4"/>
          <p:cNvSpPr>
            <a:spLocks noChangeArrowheads="1" noChangeShapeType="1" noTextEdit="1"/>
          </p:cNvSpPr>
          <p:nvPr/>
        </p:nvSpPr>
        <p:spPr bwMode="auto">
          <a:xfrm>
            <a:off x="2286060" y="4648200"/>
            <a:ext cx="5867246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集合</a:t>
            </a:r>
            <a:r>
              <a:rPr lang="zh-CN" altLang="en-US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与</a:t>
            </a:r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集合运算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78D44AE-CED6-46D2-BFB2-9C6789A96CC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目录</a:t>
            </a:r>
            <a:endParaRPr lang="en-US" altLang="zh-CN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7172" name="AutoShape 3"/>
          <p:cNvSpPr>
            <a:spLocks noChangeArrowheads="1"/>
          </p:cNvSpPr>
          <p:nvPr/>
        </p:nvSpPr>
        <p:spPr bwMode="auto">
          <a:xfrm>
            <a:off x="914400" y="2176463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0" b="1" dirty="0" err="1"/>
              <a:t>集合</a:t>
            </a:r>
            <a:r>
              <a:rPr lang="zh-CN" altLang="en-US" sz="2800" b="1" dirty="0"/>
              <a:t>简介</a:t>
            </a:r>
          </a:p>
        </p:txBody>
      </p:sp>
      <p:sp>
        <p:nvSpPr>
          <p:cNvPr id="7173" name="AutoShape 4"/>
          <p:cNvSpPr>
            <a:spLocks noChangeArrowheads="1"/>
          </p:cNvSpPr>
          <p:nvPr/>
        </p:nvSpPr>
        <p:spPr bwMode="auto">
          <a:xfrm>
            <a:off x="533400" y="2057400"/>
            <a:ext cx="685800" cy="685800"/>
          </a:xfrm>
          <a:prstGeom prst="diamond">
            <a:avLst/>
          </a:prstGeom>
          <a:solidFill>
            <a:schemeClr val="accent2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687388" y="21558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175" name="AutoShape 7"/>
          <p:cNvSpPr>
            <a:spLocks noChangeArrowheads="1"/>
          </p:cNvSpPr>
          <p:nvPr/>
        </p:nvSpPr>
        <p:spPr bwMode="auto">
          <a:xfrm>
            <a:off x="914400" y="3014663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b="1" dirty="0"/>
              <a:t> </a:t>
            </a:r>
            <a:r>
              <a:rPr lang="zh-CN" altLang="en-US" sz="2800" b="1" dirty="0"/>
              <a:t>幂集合</a:t>
            </a:r>
            <a:r>
              <a:rPr lang="en-US" altLang="zh-CN" sz="2800" b="1" dirty="0"/>
              <a:t> </a:t>
            </a:r>
          </a:p>
        </p:txBody>
      </p:sp>
      <p:sp>
        <p:nvSpPr>
          <p:cNvPr id="7176" name="AutoShape 8"/>
          <p:cNvSpPr>
            <a:spLocks noChangeArrowheads="1"/>
          </p:cNvSpPr>
          <p:nvPr/>
        </p:nvSpPr>
        <p:spPr bwMode="auto">
          <a:xfrm>
            <a:off x="533400" y="2895600"/>
            <a:ext cx="685800" cy="685800"/>
          </a:xfrm>
          <a:prstGeom prst="diamond">
            <a:avLst/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77" name="Text Box 10"/>
          <p:cNvSpPr txBox="1">
            <a:spLocks noChangeArrowheads="1"/>
          </p:cNvSpPr>
          <p:nvPr/>
        </p:nvSpPr>
        <p:spPr bwMode="auto">
          <a:xfrm>
            <a:off x="687388" y="29940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178" name="AutoShape 11"/>
          <p:cNvSpPr>
            <a:spLocks noChangeArrowheads="1"/>
          </p:cNvSpPr>
          <p:nvPr/>
        </p:nvSpPr>
        <p:spPr bwMode="auto">
          <a:xfrm>
            <a:off x="914400" y="3852863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79" name="AutoShape 12"/>
          <p:cNvSpPr>
            <a:spLocks noChangeArrowheads="1"/>
          </p:cNvSpPr>
          <p:nvPr/>
        </p:nvSpPr>
        <p:spPr bwMode="auto">
          <a:xfrm>
            <a:off x="533400" y="3733800"/>
            <a:ext cx="685800" cy="685800"/>
          </a:xfrm>
          <a:prstGeom prst="diamond">
            <a:avLst/>
          </a:prstGeom>
          <a:solidFill>
            <a:schemeClr val="hlink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80" name="Text Box 13"/>
          <p:cNvSpPr txBox="1">
            <a:spLocks noChangeArrowheads="1"/>
          </p:cNvSpPr>
          <p:nvPr/>
        </p:nvSpPr>
        <p:spPr bwMode="auto">
          <a:xfrm>
            <a:off x="1143000" y="3886200"/>
            <a:ext cx="7391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800" b="1" dirty="0"/>
              <a:t>集合运算</a:t>
            </a:r>
            <a:r>
              <a:rPr lang="en-US" altLang="zh-CN" sz="2800" b="1" dirty="0"/>
              <a:t> </a:t>
            </a:r>
          </a:p>
        </p:txBody>
      </p:sp>
      <p:sp>
        <p:nvSpPr>
          <p:cNvPr id="7181" name="Text Box 14"/>
          <p:cNvSpPr txBox="1">
            <a:spLocks noChangeArrowheads="1"/>
          </p:cNvSpPr>
          <p:nvPr/>
        </p:nvSpPr>
        <p:spPr bwMode="auto">
          <a:xfrm>
            <a:off x="687388" y="38322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FEEFFB8-6021-4DE3-BF2D-F9CD0BF8AE7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8196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8198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8203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8204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8199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0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1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2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8197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175135" y="3302995"/>
            <a:ext cx="4572000" cy="685800"/>
          </a:xfrm>
        </p:spPr>
        <p:txBody>
          <a:bodyPr/>
          <a:lstStyle/>
          <a:p>
            <a:pPr algn="ctr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b="1" dirty="0" err="1">
                <a:ea typeface="宋体" panose="02010600030101010101" pitchFamily="2" charset="-122"/>
              </a:rPr>
              <a:t>集合</a:t>
            </a:r>
            <a:r>
              <a:rPr lang="zh-CN" altLang="en-US" b="1" dirty="0">
                <a:ea typeface="宋体" panose="02010600030101010101" pitchFamily="2" charset="-122"/>
              </a:rPr>
              <a:t>简介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B236E8F-BDD9-4AAB-AFBC-4E7BEB0CF768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集合导论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 b="1" i="1" dirty="0">
                <a:ea typeface="宋体" panose="02010600030101010101" pitchFamily="2" charset="-122"/>
              </a:rPr>
              <a:t>集合</a:t>
            </a:r>
            <a:r>
              <a:rPr lang="en-US" altLang="zh-CN" sz="2800" b="1" dirty="0">
                <a:ea typeface="宋体" panose="02010600030101010101" pitchFamily="2" charset="-122"/>
              </a:rPr>
              <a:t>是</a:t>
            </a:r>
            <a:r>
              <a:rPr lang="zh-CN" altLang="en-US" sz="2800" b="1" dirty="0">
                <a:ea typeface="宋体" panose="02010600030101010101" pitchFamily="2" charset="-122"/>
              </a:rPr>
              <a:t>一些</a:t>
            </a:r>
            <a:r>
              <a:rPr lang="en-US" altLang="zh-CN" sz="2800" b="1" i="1" dirty="0">
                <a:ea typeface="宋体" panose="02010600030101010101" pitchFamily="2" charset="-122"/>
              </a:rPr>
              <a:t>对象的无序</a:t>
            </a:r>
            <a:r>
              <a:rPr lang="zh-CN" altLang="en-US" sz="2800" b="1" i="1" dirty="0">
                <a:ea typeface="宋体" panose="02010600030101010101" pitchFamily="2" charset="-122"/>
              </a:rPr>
              <a:t>组合整体</a:t>
            </a:r>
            <a:r>
              <a:rPr lang="en-US" altLang="zh-CN" sz="2800" b="1" dirty="0">
                <a:ea typeface="宋体" panose="02010600030101010101" pitchFamily="2" charset="-122"/>
              </a:rPr>
              <a:t>。</a:t>
            </a:r>
          </a:p>
          <a:p>
            <a:pPr eaLnBrk="1" hangingPunct="1"/>
            <a:endParaRPr lang="en-US" altLang="zh-CN" sz="2800" b="1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  <a:t>康托尔</a:t>
            </a:r>
            <a:r>
              <a:rPr lang="en-US" altLang="zh-CN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 sz="28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工作</a:t>
            </a:r>
            <a:r>
              <a:rPr lang="zh-CN" altLang="en-US" sz="2800" b="1" dirty="0">
                <a:solidFill>
                  <a:srgbClr val="030711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30711"/>
                </a:solidFill>
                <a:ea typeface="宋体" panose="02010600030101010101" pitchFamily="2" charset="-122"/>
              </a:rPr>
              <a:t>我将给本城所有不给自己刮脸的人刮脸</a:t>
            </a:r>
            <a:endParaRPr lang="en-US" altLang="zh-CN" sz="2800" b="1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</a:rPr>
              <a:t>悖论 公理 原始集合论</a:t>
            </a:r>
          </a:p>
          <a:p>
            <a:pPr eaLnBrk="1" hangingPunct="1"/>
            <a:endParaRPr lang="en-US" altLang="zh-CN" sz="2800" b="1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 dirty="0">
                <a:ea typeface="宋体" panose="02010600030101010101" pitchFamily="2" charset="-122"/>
              </a:rPr>
              <a:t>集合在计算机软件系统中无处不在。</a:t>
            </a:r>
          </a:p>
          <a:p>
            <a:pPr eaLnBrk="1" hangingPunct="1"/>
            <a:r>
              <a:rPr lang="en-US" altLang="zh-CN" sz="2800" b="1" dirty="0">
                <a:ea typeface="宋体" panose="02010600030101010101" pitchFamily="2" charset="-122"/>
              </a:rPr>
              <a:t>所有数学都可以用集合论的形式来定义。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16089C1-35D7-4722-9579-AD56B91D5F9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04950"/>
            <a:ext cx="8458200" cy="49720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集合中的对象也称为集合的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元素</a:t>
            </a:r>
            <a:r>
              <a:rPr lang="en-US" altLang="zh-CN" dirty="0">
                <a:ea typeface="宋体" panose="02010600030101010101" pitchFamily="2" charset="-122"/>
              </a:rPr>
              <a:t>或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成员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  <a:b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一个集合可以说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包含了</a:t>
            </a:r>
            <a:r>
              <a:rPr lang="en-US" altLang="zh-CN" dirty="0">
                <a:ea typeface="宋体" panose="02010600030101010101" pitchFamily="2" charset="-122"/>
              </a:rPr>
              <a:t>它的元素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。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例 1： V={a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,e,I,o,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u}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例 2：     O={1,3,5,7,9}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例 3：{a,2,Wang,Guang,Zhou}。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例 4：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  N = {0, 1, 2, ..</a:t>
            </a:r>
            <a:r>
              <a:rPr lang="en-US" altLang="zh-CN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}    自然数。</a:t>
            </a:r>
            <a:b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Z = {..., -2, -1, 0, 1, 2, </a:t>
            </a:r>
            <a:r>
              <a:rPr lang="en-US" altLang="zh-CN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...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}  整数。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Q={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p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/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q |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p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</a:rPr>
              <a:t>Z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,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q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</a:rPr>
              <a:t>Z,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q≠0}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是有理数集合。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CDC0EF6-8C6A-45EA-9FED-E3548D3877C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419225"/>
            <a:ext cx="8915400" cy="4879975"/>
          </a:xfrm>
        </p:spPr>
        <p:txBody>
          <a:bodyPr/>
          <a:lstStyle/>
          <a:p>
            <a:pPr eaLnBrk="1" hangingPunct="1"/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当且仅当两个集合的元素相同时，它们才</a:t>
            </a:r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</a:rPr>
              <a:t>相等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pPr eaLnBrk="1" hangingPunct="1"/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{1，3，5}和{3，5，1}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相等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pPr eaLnBrk="1" hangingPunct="1"/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{1，3，3，3，5，5，5}与{1，3，5}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相同</a:t>
            </a:r>
            <a:endParaRPr lang="en-US" altLang="zh-CN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无论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a、b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和 c 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表示什么对象</a:t>
            </a:r>
            <a:r>
              <a:rPr lang="zh-CN" altLang="en-US" dirty="0">
                <a:solidFill>
                  <a:srgbClr val="030711"/>
                </a:solidFill>
                <a:ea typeface="宋体" panose="02010600030101010101" pitchFamily="2" charset="-122"/>
              </a:rPr>
              <a:t>，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</a:t>
            </a:r>
            <a:b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</a:br>
            <a:r>
              <a:rPr lang="en-US" altLang="zh-CN" sz="3600" b="1" dirty="0">
                <a:solidFill>
                  <a:srgbClr val="030711"/>
                </a:solidFill>
                <a:ea typeface="宋体" panose="02010600030101010101" pitchFamily="2" charset="-122"/>
              </a:rPr>
              <a:t>{</a:t>
            </a:r>
            <a:r>
              <a:rPr lang="en-US" altLang="zh-CN" sz="3600" b="1" dirty="0" err="1">
                <a:solidFill>
                  <a:srgbClr val="030711"/>
                </a:solidFill>
                <a:ea typeface="宋体" panose="02010600030101010101" pitchFamily="2" charset="-122"/>
              </a:rPr>
              <a:t>a、b、c</a:t>
            </a:r>
            <a:r>
              <a:rPr lang="en-US" altLang="zh-CN" sz="3600" b="1" dirty="0">
                <a:solidFill>
                  <a:srgbClr val="030711"/>
                </a:solidFill>
                <a:ea typeface="宋体" panose="02010600030101010101" pitchFamily="2" charset="-122"/>
              </a:rPr>
              <a:t>} = {</a:t>
            </a:r>
            <a:r>
              <a:rPr lang="en-US" altLang="zh-CN" sz="3600" b="1" dirty="0" err="1">
                <a:solidFill>
                  <a:srgbClr val="030711"/>
                </a:solidFill>
                <a:ea typeface="宋体" panose="02010600030101010101" pitchFamily="2" charset="-122"/>
              </a:rPr>
              <a:t>a、c、b</a:t>
            </a:r>
            <a:r>
              <a:rPr lang="en-US" altLang="zh-CN" sz="3600" b="1" dirty="0">
                <a:solidFill>
                  <a:srgbClr val="030711"/>
                </a:solidFill>
                <a:ea typeface="宋体" panose="02010600030101010101" pitchFamily="2" charset="-122"/>
              </a:rPr>
              <a:t>} = {</a:t>
            </a:r>
            <a:r>
              <a:rPr lang="en-US" altLang="zh-CN" sz="3600" b="1" dirty="0" err="1">
                <a:solidFill>
                  <a:srgbClr val="030711"/>
                </a:solidFill>
                <a:ea typeface="宋体" panose="02010600030101010101" pitchFamily="2" charset="-122"/>
              </a:rPr>
              <a:t>b、a、c</a:t>
            </a:r>
            <a:r>
              <a:rPr lang="en-US" altLang="zh-CN" sz="3600" b="1" dirty="0">
                <a:solidFill>
                  <a:srgbClr val="030711"/>
                </a:solidFill>
                <a:ea typeface="宋体" panose="02010600030101010101" pitchFamily="2" charset="-122"/>
              </a:rPr>
              <a:t>} = .</a:t>
            </a:r>
            <a:r>
              <a:rPr lang="en-US" altLang="zh-CN" sz="3600" b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..</a:t>
            </a:r>
            <a:endParaRPr lang="en-US" altLang="zh-CN" sz="3600" b="1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030711"/>
                </a:solidFill>
                <a:ea typeface="宋体" panose="02010600030101010101" pitchFamily="2" charset="-122"/>
              </a:rPr>
              <a:t>重复罗列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没有区别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030711"/>
                </a:solidFill>
                <a:ea typeface="宋体" panose="02010600030101010101" pitchFamily="2" charset="-122"/>
              </a:rPr>
              <a:t> {</a:t>
            </a:r>
            <a:r>
              <a:rPr lang="en-US" altLang="zh-CN" sz="3200" b="1" dirty="0" err="1">
                <a:solidFill>
                  <a:srgbClr val="030711"/>
                </a:solidFill>
                <a:ea typeface="宋体" panose="02010600030101010101" pitchFamily="2" charset="-122"/>
              </a:rPr>
              <a:t>a，a，c，c，c，c</a:t>
            </a:r>
            <a:r>
              <a:rPr lang="en-US" altLang="zh-CN" sz="3200" b="1" dirty="0">
                <a:solidFill>
                  <a:srgbClr val="030711"/>
                </a:solidFill>
                <a:ea typeface="宋体" panose="02010600030101010101" pitchFamily="2" charset="-122"/>
              </a:rPr>
              <a:t>}={</a:t>
            </a:r>
            <a:r>
              <a:rPr lang="en-US" altLang="zh-CN" sz="3200" b="1" dirty="0" err="1">
                <a:solidFill>
                  <a:srgbClr val="030711"/>
                </a:solidFill>
                <a:ea typeface="宋体" panose="02010600030101010101" pitchFamily="2" charset="-122"/>
              </a:rPr>
              <a:t>a，c</a:t>
            </a:r>
            <a:r>
              <a:rPr lang="en-US" altLang="zh-CN" sz="3200" b="1" dirty="0">
                <a:solidFill>
                  <a:srgbClr val="030711"/>
                </a:solidFill>
                <a:ea typeface="宋体" panose="02010600030101010101" pitchFamily="2" charset="-122"/>
              </a:rPr>
              <a:t>}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812122D-5D54-432D-AE20-22209CA5C51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集合的基本</a:t>
            </a:r>
            <a:r>
              <a:rPr lang="zh-CN" altLang="en-US">
                <a:ea typeface="宋体" panose="02010600030101010101" pitchFamily="2" charset="-122"/>
              </a:rPr>
              <a:t>性质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 eaLnBrk="1" hangingPunct="1"/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</a:rPr>
              <a:t>集合</a:t>
            </a:r>
            <a:r>
              <a:rPr lang="zh-CN" altLang="en-US" sz="2800" i="1" dirty="0">
                <a:solidFill>
                  <a:srgbClr val="030711"/>
                </a:solidFill>
                <a:ea typeface="宋体" panose="02010600030101010101" pitchFamily="2" charset="-122"/>
              </a:rPr>
              <a:t>构造符号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</a:rPr>
              <a:t>：</a:t>
            </a:r>
            <a:r>
              <a:rPr lang="zh-CN" altLang="en-US" sz="2800" dirty="0">
                <a:solidFill>
                  <a:srgbClr val="030711"/>
                </a:solidFill>
                <a:ea typeface="宋体" panose="02010600030101010101" pitchFamily="2" charset="-122"/>
              </a:rPr>
              <a:t>对于任意关于某一讨论领域的命题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</a:rPr>
              <a:t>)，</a:t>
            </a:r>
            <a:r>
              <a:rPr lang="en-US" altLang="zh-CN" sz="2800" i="1" dirty="0" err="1">
                <a:solidFill>
                  <a:srgbClr val="030711"/>
                </a:solidFill>
                <a:ea typeface="宋体" panose="02010600030101010101" pitchFamily="2" charset="-122"/>
              </a:rPr>
              <a:t>{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</a:rPr>
              <a:t>x|P(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</a:rPr>
              <a:t>)} 是</a:t>
            </a:r>
            <a:r>
              <a:rPr lang="zh-CN" altLang="en-US" sz="2800" dirty="0">
                <a:solidFill>
                  <a:srgbClr val="030711"/>
                </a:solidFill>
                <a:ea typeface="宋体" panose="02010600030101010101" pitchFamily="2" charset="-122"/>
              </a:rPr>
              <a:t>满足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</a:rPr>
              <a:t>P(x)</a:t>
            </a:r>
            <a:r>
              <a:rPr lang="zh-CN" altLang="en-US" sz="2800" i="1" dirty="0">
                <a:solidFill>
                  <a:srgbClr val="030711"/>
                </a:solidFill>
                <a:ea typeface="宋体" panose="02010600030101010101" pitchFamily="2" charset="-122"/>
              </a:rPr>
              <a:t>的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</a:rPr>
              <a:t>所有 x </a:t>
            </a:r>
            <a:r>
              <a:rPr lang="zh-CN" altLang="en-US" sz="2800" i="1" dirty="0">
                <a:solidFill>
                  <a:srgbClr val="030711"/>
                </a:solidFill>
                <a:ea typeface="宋体" panose="02010600030101010101" pitchFamily="2" charset="-122"/>
              </a:rPr>
              <a:t>组成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</a:rPr>
              <a:t>的集合。</a:t>
            </a:r>
          </a:p>
          <a:p>
            <a:pPr eaLnBrk="1" hangingPunct="1"/>
            <a:r>
              <a:rPr lang="en-US" altLang="zh-CN" sz="2800" b="1" dirty="0">
                <a:ea typeface="宋体" panose="02010600030101010101" pitchFamily="2" charset="-122"/>
              </a:rPr>
              <a:t>例如 </a:t>
            </a:r>
            <a:br>
              <a:rPr lang="en-US" altLang="zh-CN" sz="2800" b="1" dirty="0">
                <a:ea typeface="宋体" panose="02010600030101010101" pitchFamily="2" charset="-122"/>
              </a:rPr>
            </a:br>
            <a:r>
              <a:rPr lang="en-US" altLang="zh-CN" sz="2800" b="1" dirty="0">
                <a:ea typeface="宋体" panose="02010600030101010101" pitchFamily="2" charset="-122"/>
              </a:rPr>
              <a:t>{1, 2, 3, 4}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=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br>
              <a:rPr lang="en-US" altLang="zh-CN" sz="2800" b="1" dirty="0">
                <a:ea typeface="宋体" panose="02010600030101010101" pitchFamily="2" charset="-122"/>
              </a:rPr>
            </a:br>
            <a:r>
              <a:rPr lang="en-US" altLang="zh-CN" sz="2800" b="1" i="1" dirty="0">
                <a:ea typeface="宋体" panose="02010600030101010101" pitchFamily="2" charset="-122"/>
              </a:rPr>
              <a:t>{x</a:t>
            </a:r>
            <a:r>
              <a:rPr lang="en-US" altLang="zh-CN" sz="2800" b="1" dirty="0">
                <a:ea typeface="宋体" panose="02010600030101010101" pitchFamily="2" charset="-122"/>
              </a:rPr>
              <a:t> | x 为整数，其中 </a:t>
            </a:r>
            <a:r>
              <a:rPr lang="en-US" altLang="zh-CN" sz="2800" b="1" i="1" dirty="0">
                <a:ea typeface="宋体" panose="02010600030101010101" pitchFamily="2" charset="-122"/>
              </a:rPr>
              <a:t>x&gt;0 </a:t>
            </a:r>
            <a:r>
              <a:rPr lang="en-US" altLang="zh-CN" sz="2800" b="1" dirty="0">
                <a:ea typeface="宋体" panose="02010600030101010101" pitchFamily="2" charset="-122"/>
              </a:rPr>
              <a:t>且 </a:t>
            </a:r>
            <a:r>
              <a:rPr lang="en-US" altLang="zh-CN" sz="2800" b="1" i="1" dirty="0">
                <a:ea typeface="宋体" panose="02010600030101010101" pitchFamily="2" charset="-122"/>
              </a:rPr>
              <a:t>x&lt;5 </a:t>
            </a:r>
            <a:r>
              <a:rPr lang="en-US" altLang="zh-CN" sz="2800" b="1" dirty="0">
                <a:ea typeface="宋体" panose="02010600030101010101" pitchFamily="2" charset="-122"/>
              </a:rPr>
              <a:t>}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=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br>
              <a:rPr lang="en-US" altLang="zh-CN" sz="2800" b="1" dirty="0">
                <a:ea typeface="宋体" panose="02010600030101010101" pitchFamily="2" charset="-122"/>
              </a:rPr>
            </a:br>
            <a:r>
              <a:rPr lang="en-US" altLang="zh-CN" sz="2800" b="1" i="1" dirty="0">
                <a:ea typeface="宋体" panose="02010600030101010101" pitchFamily="2" charset="-122"/>
              </a:rPr>
              <a:t>{x</a:t>
            </a:r>
            <a:r>
              <a:rPr lang="en-US" altLang="zh-CN" sz="2800" b="1" dirty="0">
                <a:ea typeface="宋体" panose="02010600030101010101" pitchFamily="2" charset="-122"/>
              </a:rPr>
              <a:t> | </a:t>
            </a:r>
            <a:r>
              <a:rPr lang="en-US" altLang="zh-CN" sz="2800" b="1" i="1" dirty="0">
                <a:ea typeface="宋体" panose="02010600030101010101" pitchFamily="2" charset="-122"/>
              </a:rPr>
              <a:t>x </a:t>
            </a:r>
            <a:r>
              <a:rPr lang="en-US" altLang="zh-CN" sz="2800" b="1" dirty="0">
                <a:ea typeface="宋体" panose="02010600030101010101" pitchFamily="2" charset="-122"/>
              </a:rPr>
              <a:t>是一个正整数，其平方大于 0 且小于 25}</a:t>
            </a:r>
            <a:endParaRPr lang="en-US" altLang="zh-CN" sz="2800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lvl="1" eaLnBrk="1" hangingPunct="1"/>
            <a:endParaRPr lang="en-US" altLang="zh-CN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593E6D2-1B53-4775-9DB1-260D7BF96AC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114692" name="Rectangle 3"/>
          <p:cNvSpPr>
            <a:spLocks noGrp="1" noChangeArrowheads="1"/>
          </p:cNvSpPr>
          <p:nvPr/>
        </p:nvSpPr>
        <p:spPr>
          <a:xfrm>
            <a:off x="0" y="1295400"/>
            <a:ext cx="9145588" cy="47259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ea typeface="宋体" panose="02010600030101010101" pitchFamily="2" charset="-122"/>
              </a:rPr>
              <a:t>1.</a:t>
            </a:r>
            <a:r>
              <a:rPr lang="zh-CN" altLang="en-US" dirty="0">
                <a:ea typeface="宋体" panose="02010600030101010101" pitchFamily="2" charset="-122"/>
              </a:rPr>
              <a:t>列出集合</a:t>
            </a:r>
            <a:r>
              <a:rPr lang="en-US" altLang="zh-CN" dirty="0">
                <a:ea typeface="宋体" panose="02010600030101010101" pitchFamily="2" charset="-122"/>
              </a:rPr>
              <a:t>{x|x</a:t>
            </a:r>
            <a:r>
              <a:rPr lang="zh-CN" altLang="en-US" dirty="0">
                <a:ea typeface="宋体" panose="02010600030101010101" pitchFamily="2" charset="-122"/>
              </a:rPr>
              <a:t>是实数，使得</a:t>
            </a:r>
            <a:r>
              <a:rPr lang="en-US" altLang="zh-CN" dirty="0">
                <a:ea typeface="宋体" panose="02010600030101010101" pitchFamily="2" charset="-122"/>
              </a:rPr>
              <a:t>x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=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1}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的成员。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307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3E0210A-3E50-4B0D-8A64-35DC071F763D}" type="slidenum">
              <a:rPr lang="en-US" altLang="zh-CN" sz="120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</a:rPr>
              <a:t>10</a:t>
            </a:fld>
            <a:endParaRPr lang="en-US" altLang="zh-CN" sz="1200"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维恩图/欧拉图</a:t>
            </a:r>
          </a:p>
        </p:txBody>
      </p:sp>
      <p:sp>
        <p:nvSpPr>
          <p:cNvPr id="13316" name="WordArt 3"/>
          <p:cNvSpPr>
            <a:spLocks noChangeArrowheads="1" noChangeShapeType="1" noTextEdit="1"/>
          </p:cNvSpPr>
          <p:nvPr/>
        </p:nvSpPr>
        <p:spPr bwMode="auto">
          <a:xfrm>
            <a:off x="1447800" y="2971800"/>
            <a:ext cx="24765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0</a:t>
            </a:r>
            <a:endParaRPr lang="zh-CN" altLang="en-US" sz="36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13317" name="WordArt 4"/>
          <p:cNvSpPr>
            <a:spLocks noChangeArrowheads="1" noChangeShapeType="1" noTextEdit="1"/>
          </p:cNvSpPr>
          <p:nvPr/>
        </p:nvSpPr>
        <p:spPr bwMode="auto">
          <a:xfrm>
            <a:off x="990600" y="3924300"/>
            <a:ext cx="53340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-1</a:t>
            </a:r>
            <a:endParaRPr lang="zh-CN" altLang="en-US" sz="36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13318" name="WordArt 5"/>
          <p:cNvSpPr>
            <a:spLocks noChangeArrowheads="1" noChangeShapeType="1" noTextEdit="1"/>
          </p:cNvSpPr>
          <p:nvPr/>
        </p:nvSpPr>
        <p:spPr bwMode="auto">
          <a:xfrm>
            <a:off x="2590800" y="3657600"/>
            <a:ext cx="24765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1</a:t>
            </a:r>
            <a:endParaRPr lang="zh-CN" altLang="en-US" sz="36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13319" name="WordArt 6"/>
          <p:cNvSpPr>
            <a:spLocks noChangeArrowheads="1" noChangeShapeType="1" noTextEdit="1"/>
          </p:cNvSpPr>
          <p:nvPr/>
        </p:nvSpPr>
        <p:spPr bwMode="auto">
          <a:xfrm>
            <a:off x="4267200" y="2895600"/>
            <a:ext cx="24765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2</a:t>
            </a:r>
            <a:endParaRPr lang="zh-CN" altLang="en-US" sz="36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13320" name="WordArt 7"/>
          <p:cNvSpPr>
            <a:spLocks noChangeArrowheads="1" noChangeShapeType="1" noTextEdit="1"/>
          </p:cNvSpPr>
          <p:nvPr/>
        </p:nvSpPr>
        <p:spPr bwMode="auto">
          <a:xfrm>
            <a:off x="3657600" y="4114800"/>
            <a:ext cx="24765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3</a:t>
            </a:r>
            <a:endParaRPr lang="zh-CN" altLang="en-US" sz="36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13321" name="WordArt 8"/>
          <p:cNvSpPr>
            <a:spLocks noChangeArrowheads="1" noChangeShapeType="1" noTextEdit="1"/>
          </p:cNvSpPr>
          <p:nvPr/>
        </p:nvSpPr>
        <p:spPr bwMode="auto">
          <a:xfrm>
            <a:off x="5715000" y="3124200"/>
            <a:ext cx="24765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4</a:t>
            </a:r>
            <a:endParaRPr lang="zh-CN" altLang="en-US" sz="36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13322" name="WordArt 9"/>
          <p:cNvSpPr>
            <a:spLocks noChangeArrowheads="1" noChangeShapeType="1" noTextEdit="1"/>
          </p:cNvSpPr>
          <p:nvPr/>
        </p:nvSpPr>
        <p:spPr bwMode="auto">
          <a:xfrm>
            <a:off x="4343400" y="4114800"/>
            <a:ext cx="24765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5</a:t>
            </a:r>
            <a:endParaRPr lang="zh-CN" altLang="en-US" sz="36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13323" name="WordArt 10"/>
          <p:cNvSpPr>
            <a:spLocks noChangeArrowheads="1" noChangeShapeType="1" noTextEdit="1"/>
          </p:cNvSpPr>
          <p:nvPr/>
        </p:nvSpPr>
        <p:spPr bwMode="auto">
          <a:xfrm>
            <a:off x="6324600" y="3352800"/>
            <a:ext cx="24765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6</a:t>
            </a:r>
            <a:endParaRPr lang="zh-CN" altLang="en-US" sz="36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13324" name="WordArt 11"/>
          <p:cNvSpPr>
            <a:spLocks noChangeArrowheads="1" noChangeShapeType="1" noTextEdit="1"/>
          </p:cNvSpPr>
          <p:nvPr/>
        </p:nvSpPr>
        <p:spPr bwMode="auto">
          <a:xfrm>
            <a:off x="4953000" y="4343400"/>
            <a:ext cx="24765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7</a:t>
            </a:r>
            <a:endParaRPr lang="zh-CN" altLang="en-US" sz="36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13325" name="WordArt 12"/>
          <p:cNvSpPr>
            <a:spLocks noChangeArrowheads="1" noChangeShapeType="1" noTextEdit="1"/>
          </p:cNvSpPr>
          <p:nvPr/>
        </p:nvSpPr>
        <p:spPr bwMode="auto">
          <a:xfrm>
            <a:off x="7010400" y="3581400"/>
            <a:ext cx="24765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8</a:t>
            </a:r>
            <a:endParaRPr lang="zh-CN" altLang="en-US" sz="36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13326" name="WordArt 13"/>
          <p:cNvSpPr>
            <a:spLocks noChangeArrowheads="1" noChangeShapeType="1" noTextEdit="1"/>
          </p:cNvSpPr>
          <p:nvPr/>
        </p:nvSpPr>
        <p:spPr bwMode="auto">
          <a:xfrm>
            <a:off x="6248400" y="4572000"/>
            <a:ext cx="24765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3600" kern="10">
                <a:ln w="19050">
                  <a:solidFill>
                    <a:srgbClr val="99CCFF"/>
                  </a:solidFill>
                  <a:rou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9</a:t>
            </a:r>
            <a:endParaRPr lang="zh-CN" altLang="en-US" sz="3600" kern="10">
              <a:ln w="19050">
                <a:solidFill>
                  <a:srgbClr val="99CCFF"/>
                </a:solidFill>
                <a:round/>
              </a:ln>
              <a:solidFill>
                <a:srgbClr val="0066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13327" name="Oval 14"/>
          <p:cNvSpPr>
            <a:spLocks noChangeArrowheads="1"/>
          </p:cNvSpPr>
          <p:nvPr/>
        </p:nvSpPr>
        <p:spPr bwMode="auto">
          <a:xfrm>
            <a:off x="533400" y="1905000"/>
            <a:ext cx="8077200" cy="41910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13328" name="Oval 15"/>
          <p:cNvSpPr>
            <a:spLocks noChangeArrowheads="1"/>
          </p:cNvSpPr>
          <p:nvPr/>
        </p:nvSpPr>
        <p:spPr bwMode="auto">
          <a:xfrm>
            <a:off x="2133600" y="2133600"/>
            <a:ext cx="6096000" cy="3581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13329" name="Oval 16"/>
          <p:cNvSpPr>
            <a:spLocks noChangeArrowheads="1"/>
          </p:cNvSpPr>
          <p:nvPr/>
        </p:nvSpPr>
        <p:spPr bwMode="auto">
          <a:xfrm>
            <a:off x="3352800" y="2286000"/>
            <a:ext cx="2209800" cy="3200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13330" name="Oval 17"/>
          <p:cNvSpPr>
            <a:spLocks noChangeArrowheads="1"/>
          </p:cNvSpPr>
          <p:nvPr/>
        </p:nvSpPr>
        <p:spPr bwMode="auto">
          <a:xfrm rot="752356">
            <a:off x="2286000" y="3733800"/>
            <a:ext cx="4495800" cy="1295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13331" name="Oval 18"/>
          <p:cNvSpPr>
            <a:spLocks noChangeArrowheads="1"/>
          </p:cNvSpPr>
          <p:nvPr/>
        </p:nvSpPr>
        <p:spPr bwMode="auto">
          <a:xfrm rot="752356">
            <a:off x="3505200" y="2743200"/>
            <a:ext cx="4495800" cy="12954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12308" name="WordArt 19" descr="Narrow vertical"/>
          <p:cNvSpPr>
            <a:spLocks noChangeArrowheads="1" noChangeShapeType="1" noTextEdit="1"/>
          </p:cNvSpPr>
          <p:nvPr/>
        </p:nvSpPr>
        <p:spPr bwMode="auto">
          <a:xfrm>
            <a:off x="2286000" y="5486400"/>
            <a:ext cx="5400675" cy="1084263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altLang="zh-CN" sz="3600" kern="10">
                <a:ln w="12700">
                  <a:solidFill>
                    <a:srgbClr val="000000"/>
                  </a:solidFill>
                  <a:rou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从 -1 到 9 的整数</a:t>
            </a:r>
            <a:endParaRPr lang="zh-CN" altLang="en-US" sz="3600" kern="10">
              <a:ln w="12700">
                <a:solidFill>
                  <a:srgbClr val="000000"/>
                </a:solidFill>
                <a:round/>
              </a:ln>
              <a:blipFill dpi="0" rotWithShape="0">
                <a:blip r:embed="rId3"/>
                <a:srcRect/>
                <a:tile tx="0" ty="0" sx="100000" sy="100000" flip="none" algn="tl"/>
              </a:blipFill>
              <a:effectLst>
                <a:outerShdw dist="45791" dir="2021404" algn="ctr" rotWithShape="0">
                  <a:srgbClr val="808080"/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2309" name="WordArt 20" descr="Narrow vertical"/>
          <p:cNvSpPr>
            <a:spLocks noChangeArrowheads="1" noChangeShapeType="1" noTextEdit="1"/>
          </p:cNvSpPr>
          <p:nvPr/>
        </p:nvSpPr>
        <p:spPr bwMode="auto">
          <a:xfrm>
            <a:off x="3657600" y="5029200"/>
            <a:ext cx="3505200" cy="9144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6852"/>
              </a:avLst>
            </a:prstTxWarp>
          </a:bodyPr>
          <a:lstStyle/>
          <a:p>
            <a:pPr algn="ctr"/>
            <a:r>
              <a:rPr lang="en-US" altLang="zh-CN" sz="3200" kern="10">
                <a:ln w="12700">
                  <a:solidFill>
                    <a:srgbClr val="000000"/>
                  </a:solidFill>
                  <a:rou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小于 10 的正整数</a:t>
            </a:r>
            <a:endParaRPr lang="zh-CN" altLang="en-US" sz="3200" kern="10">
              <a:ln w="12700">
                <a:solidFill>
                  <a:srgbClr val="000000"/>
                </a:solidFill>
                <a:round/>
              </a:ln>
              <a:blipFill dpi="0" rotWithShape="0">
                <a:blip r:embed="rId3"/>
                <a:srcRect/>
                <a:tile tx="0" ty="0" sx="100000" sy="100000" flip="none" algn="tl"/>
              </a:blipFill>
              <a:effectLst>
                <a:outerShdw dist="45791" dir="2021404" algn="ctr" rotWithShape="0">
                  <a:srgbClr val="808080"/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2310" name="WordArt 21" descr="Narrow vertical"/>
          <p:cNvSpPr>
            <a:spLocks noChangeArrowheads="1" noChangeShapeType="1" noTextEdit="1"/>
          </p:cNvSpPr>
          <p:nvPr/>
        </p:nvSpPr>
        <p:spPr bwMode="auto">
          <a:xfrm>
            <a:off x="5486400" y="3657600"/>
            <a:ext cx="2743200" cy="7620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6852"/>
              </a:avLst>
            </a:prstTxWarp>
          </a:bodyPr>
          <a:lstStyle/>
          <a:p>
            <a:pPr algn="ctr"/>
            <a:r>
              <a:rPr lang="en-US" altLang="zh-CN" sz="3200" kern="10">
                <a:ln w="12700">
                  <a:solidFill>
                    <a:srgbClr val="000000"/>
                  </a:solidFill>
                  <a:rou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从 2 到 9 的偶数整数</a:t>
            </a:r>
            <a:endParaRPr lang="zh-CN" altLang="en-US" sz="3200" kern="10">
              <a:ln w="12700">
                <a:solidFill>
                  <a:srgbClr val="000000"/>
                </a:solidFill>
                <a:round/>
              </a:ln>
              <a:blipFill dpi="0" rotWithShape="0">
                <a:blip r:embed="rId3"/>
                <a:srcRect/>
                <a:tile tx="0" ty="0" sx="100000" sy="100000" flip="none" algn="tl"/>
              </a:blipFill>
              <a:effectLst>
                <a:outerShdw dist="45791" dir="2021404" algn="ctr" rotWithShape="0">
                  <a:srgbClr val="808080"/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2311" name="WordArt 22" descr="Narrow vertical"/>
          <p:cNvSpPr>
            <a:spLocks noChangeArrowheads="1" noChangeShapeType="1" noTextEdit="1"/>
          </p:cNvSpPr>
          <p:nvPr/>
        </p:nvSpPr>
        <p:spPr bwMode="auto">
          <a:xfrm>
            <a:off x="4191000" y="4876800"/>
            <a:ext cx="2819400" cy="3810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29167"/>
              </a:avLst>
            </a:prstTxWarp>
          </a:bodyPr>
          <a:lstStyle/>
          <a:p>
            <a:pPr algn="ctr"/>
            <a:r>
              <a:rPr lang="en-US" altLang="zh-CN" sz="3200" kern="10">
                <a:ln w="12700">
                  <a:solidFill>
                    <a:srgbClr val="000000"/>
                  </a:solidFill>
                  <a:rou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从 1 到 9 的奇数整数</a:t>
            </a:r>
            <a:endParaRPr lang="zh-CN" altLang="en-US" sz="3200" kern="10">
              <a:ln w="12700">
                <a:solidFill>
                  <a:srgbClr val="000000"/>
                </a:solidFill>
                <a:round/>
              </a:ln>
              <a:blipFill dpi="0" rotWithShape="0">
                <a:blip r:embed="rId3"/>
                <a:srcRect/>
                <a:tile tx="0" ty="0" sx="100000" sy="100000" flip="none" algn="tl"/>
              </a:blipFill>
              <a:effectLst>
                <a:outerShdw dist="45791" dir="2021404" algn="ctr" rotWithShape="0">
                  <a:srgbClr val="808080"/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2312" name="WordArt 23" descr="Narrow vertical"/>
          <p:cNvSpPr>
            <a:spLocks noChangeArrowheads="1" noChangeShapeType="1" noTextEdit="1"/>
          </p:cNvSpPr>
          <p:nvPr/>
        </p:nvSpPr>
        <p:spPr bwMode="auto">
          <a:xfrm>
            <a:off x="3886200" y="5105400"/>
            <a:ext cx="1143000" cy="4572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29167"/>
              </a:avLst>
            </a:prstTxWarp>
          </a:bodyPr>
          <a:lstStyle/>
          <a:p>
            <a:pPr algn="ctr"/>
            <a:r>
              <a:rPr lang="en-US" altLang="zh-CN" sz="3200" kern="10">
                <a:ln w="12700">
                  <a:solidFill>
                    <a:srgbClr val="000000"/>
                  </a:solidFill>
                  <a:rou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 panose="020B0A04020102020204" pitchFamily="34" charset="0"/>
              </a:rPr>
              <a:t>质数 &lt;10</a:t>
            </a:r>
            <a:endParaRPr lang="zh-CN" altLang="en-US" sz="3200" kern="10">
              <a:ln w="12700">
                <a:solidFill>
                  <a:srgbClr val="000000"/>
                </a:solidFill>
                <a:round/>
              </a:ln>
              <a:blipFill dpi="0" rotWithShape="0">
                <a:blip r:embed="rId3"/>
                <a:srcRect/>
                <a:tile tx="0" ty="0" sx="100000" sy="100000" flip="none" algn="tl"/>
              </a:blipFill>
              <a:effectLst>
                <a:outerShdw dist="45791" dir="2021404" algn="ctr" rotWithShape="0">
                  <a:srgbClr val="808080"/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13337" name="Picture 24" descr="venn"/>
          <p:cNvPicPr>
            <a:picLocks noGrp="1" noChangeAspect="1" noChangeArrowheads="1"/>
          </p:cNvPicPr>
          <p:nvPr>
            <p:ph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50125" y="0"/>
            <a:ext cx="1793875" cy="2133600"/>
          </a:xfrm>
          <a:ln w="38100">
            <a:solidFill>
              <a:srgbClr val="006600"/>
            </a:solidFill>
            <a:miter lim="800000"/>
            <a:headEnd/>
            <a:tailEnd/>
          </a:ln>
        </p:spPr>
      </p:pic>
      <p:sp>
        <p:nvSpPr>
          <p:cNvPr id="13338" name="Text Box 25"/>
          <p:cNvSpPr txBox="1">
            <a:spLocks noChangeArrowheads="1"/>
          </p:cNvSpPr>
          <p:nvPr/>
        </p:nvSpPr>
        <p:spPr bwMode="auto">
          <a:xfrm>
            <a:off x="7600950" y="2111375"/>
            <a:ext cx="1503680" cy="829945"/>
          </a:xfrm>
          <a:prstGeom prst="rect">
            <a:avLst/>
          </a:prstGeom>
          <a:solidFill>
            <a:srgbClr val="FFFFCC"/>
          </a:solidFill>
          <a:ln w="38100">
            <a:solidFill>
              <a:srgbClr val="006600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约翰-</a:t>
            </a:r>
            <a:r>
              <a:rPr lang="zh-CN" altLang="en-US" sz="2400">
                <a:latin typeface="Times New Roman" panose="02020603050405020304" pitchFamily="18" charset="0"/>
              </a:rPr>
              <a:t>维恩</a:t>
            </a:r>
            <a:br>
              <a:rPr lang="en-US" altLang="zh-CN" sz="2400">
                <a:latin typeface="Times New Roman" panose="02020603050405020304" pitchFamily="18" charset="0"/>
              </a:rPr>
            </a:br>
            <a:r>
              <a:rPr lang="en-US" altLang="zh-CN" sz="2400">
                <a:latin typeface="Times New Roman" panose="02020603050405020304" pitchFamily="18" charset="0"/>
              </a:rPr>
              <a:t>1834-1923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2F14BF4-EE7B-4DBF-B00F-73412869FBA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空集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我们已经看到，存在唯一一个空集合，因此我们可以给它命名</a:t>
            </a:r>
            <a:r>
              <a:rPr lang="en-GB" altLang="en-US" dirty="0"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（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空集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）是唯一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一个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不包含任何元素的集合。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 = {} = 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{x|xx}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= ... = {x|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False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A76B3C2-1F0D-46B1-A608-4BACD486A73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子集和超集关系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419225"/>
            <a:ext cx="8839200" cy="4879975"/>
          </a:xfrm>
        </p:spPr>
        <p:txBody>
          <a:bodyPr/>
          <a:lstStyle/>
          <a:p>
            <a:pPr eaLnBrk="1" hangingPunct="1"/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ST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是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T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的子集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）表示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的每个元素也是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T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的元素。</a:t>
            </a:r>
          </a:p>
          <a:p>
            <a:pPr eaLnBrk="1" hangingPunct="1"/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ST :</a:t>
            </a:r>
            <a:r>
              <a:rPr lang="en-US" altLang="zh-CN" b="1" baseline="-25000">
                <a:ea typeface="宋体" panose="02010600030101010101" pitchFamily="2" charset="-122"/>
                <a:sym typeface="Symbol" panose="05050102010706020507" pitchFamily="18" charset="2"/>
              </a:rPr>
              <a:t>def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x (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xS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xT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zh-CN" altLang="en-GB" b="1">
                <a:ea typeface="宋体" panose="02010600030101010101" pitchFamily="2" charset="-122"/>
                <a:sym typeface="Symbol" panose="05050102010706020507" pitchFamily="18" charset="2"/>
              </a:rPr>
              <a:t>你</a:t>
            </a:r>
            <a:r>
              <a:rPr lang="en-GB" altLang="en-US" b="1">
                <a:ea typeface="宋体" panose="02010600030101010101" pitchFamily="2" charset="-122"/>
                <a:sym typeface="Symbol" panose="05050102010706020507" pitchFamily="18" charset="2"/>
              </a:rPr>
              <a:t>对这些</a:t>
            </a:r>
            <a:r>
              <a:rPr lang="zh-CN" altLang="en-GB" b="1">
                <a:ea typeface="宋体" panose="02010600030101010101" pitchFamily="2" charset="-122"/>
                <a:sym typeface="Symbol" panose="05050102010706020507" pitchFamily="18" charset="2"/>
              </a:rPr>
              <a:t>怎么看</a:t>
            </a:r>
            <a:r>
              <a:rPr lang="en-GB" altLang="en-US" b="1"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  <a:endParaRPr lang="en-US" altLang="zh-CN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S ?</a:t>
            </a:r>
          </a:p>
          <a:p>
            <a:pPr lvl="1" eaLnBrk="1" hangingPunct="1"/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SS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B7AEB29-EB55-4D9A-BAD1-D9830A9514A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子集和超集关系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T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T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的子集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表示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的每个元素也是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T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的元素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ST :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def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x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xS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xT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zh-CN" altLang="en-GB" dirty="0">
                <a:ea typeface="宋体" panose="02010600030101010101" pitchFamily="2" charset="-122"/>
                <a:sym typeface="Symbol" panose="05050102010706020507" pitchFamily="18" charset="2"/>
              </a:rPr>
              <a:t>你</a:t>
            </a:r>
            <a:r>
              <a:rPr lang="en-GB" altLang="en-US" dirty="0" err="1">
                <a:ea typeface="宋体" panose="02010600030101010101" pitchFamily="2" charset="-122"/>
                <a:sym typeface="Symbol" panose="05050102010706020507" pitchFamily="18" charset="2"/>
              </a:rPr>
              <a:t>对这些</a:t>
            </a:r>
            <a:r>
              <a:rPr lang="zh-CN" altLang="en-GB" dirty="0">
                <a:ea typeface="宋体" panose="02010600030101010101" pitchFamily="2" charset="-122"/>
                <a:sym typeface="Symbol" panose="05050102010706020507" pitchFamily="18" charset="2"/>
              </a:rPr>
              <a:t>怎么</a:t>
            </a:r>
            <a:r>
              <a:rPr lang="en-GB" altLang="en-US" dirty="0" err="1">
                <a:ea typeface="宋体" panose="02010600030101010101" pitchFamily="2" charset="-122"/>
                <a:sym typeface="Symbol" panose="05050102010706020507" pitchFamily="18" charset="2"/>
              </a:rPr>
              <a:t>看</a:t>
            </a:r>
            <a:r>
              <a:rPr lang="en-GB" altLang="en-US" dirty="0"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S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?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endParaRPr lang="en-US" altLang="zh-CN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SS ? 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endParaRPr lang="en-US" altLang="zh-CN" b="1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BE8B08A-1321-4CF0-B496-DBDF5E4F2DC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子集和超集关系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GB" altLang="en-US" i="1" dirty="0">
                <a:ea typeface="宋体" panose="02010600030101010101" pitchFamily="2" charset="-122"/>
              </a:rPr>
              <a:t>更多</a:t>
            </a:r>
            <a:r>
              <a:rPr lang="zh-CN" altLang="en-GB" i="1" dirty="0">
                <a:ea typeface="宋体" panose="02010600030101010101" pitchFamily="2" charset="-122"/>
              </a:rPr>
              <a:t>注意项</a:t>
            </a:r>
            <a:r>
              <a:rPr lang="en-GB" altLang="en-US" i="1" dirty="0">
                <a:ea typeface="宋体" panose="02010600030101010101" pitchFamily="2" charset="-122"/>
              </a:rPr>
              <a:t>：</a:t>
            </a:r>
            <a:endParaRPr lang="en-US" altLang="zh-CN" i="1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ST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是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T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的超集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 :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def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TS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   注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S=T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 ST 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T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          :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def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(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ST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)，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即 x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xS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xT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buNone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(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ST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  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x(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xS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xT</a:t>
            </a:r>
            <a:r>
              <a:rPr lang="en-US" altLang="zh-CN" dirty="0">
                <a:ea typeface="Cambria Math" panose="02040503050406030204" pitchFamily="18" charset="0"/>
                <a:sym typeface="Symbol" panose="05050102010706020507" pitchFamily="18" charset="2"/>
              </a:rPr>
              <a:t>) </a:t>
            </a:r>
            <a:endParaRPr lang="en-US" altLang="zh-CN" i="1" dirty="0">
              <a:latin typeface="Cambria Math" panose="02040503050406030204" pitchFamily="18" charset="0"/>
              <a:ea typeface="Cambria Math" panose="020405030504060302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None/>
            </a:pP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           x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((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xS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  (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xT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</a:p>
          <a:p>
            <a:pPr marL="0" indent="0" eaLnBrk="1" hangingPunct="1">
              <a:buNone/>
            </a:pP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           x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xS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xT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buNone/>
            </a:pP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990600" y="3810000"/>
          <a:ext cx="12096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57200" imgH="203200" progId="Equation.DSMT4">
                  <p:embed/>
                </p:oleObj>
              </mc:Choice>
              <mc:Fallback>
                <p:oleObj r:id="rId3" imgW="457200" imgH="20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810000"/>
                        <a:ext cx="12096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8F66933-4A13-458C-9EAB-1C78F29173D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ea typeface="宋体" panose="02010600030101010101" pitchFamily="2" charset="-122"/>
              </a:rPr>
              <a:t>真子集与超集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ST （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是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T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的一个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真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子集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）表示 ST 但         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endParaRPr lang="en-US" altLang="zh-CN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示例：{1,2}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 {1</a:t>
            </a:r>
            <a:r>
              <a:rPr lang="en-US" altLang="zh-CN">
                <a:ea typeface="宋体" panose="02010600030101010101" pitchFamily="2" charset="-122"/>
              </a:rPr>
              <a:t>,2,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3}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GB">
                <a:ea typeface="宋体" panose="02010600030101010101" pitchFamily="2" charset="-122"/>
                <a:sym typeface="Symbol" panose="05050102010706020507" pitchFamily="18" charset="2"/>
              </a:rPr>
              <a:t>故</a:t>
            </a:r>
            <a:r>
              <a:rPr lang="en-GB" altLang="en-US">
                <a:ea typeface="宋体" panose="02010600030101010101" pitchFamily="2" charset="-122"/>
                <a:sym typeface="Symbol" panose="05050102010706020507" pitchFamily="18" charset="2"/>
              </a:rPr>
              <a:t> {1,2,3}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 {1,2,3}、 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                但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非</a:t>
            </a:r>
            <a:r>
              <a:rPr lang="en-US" altLang="zh-CN">
                <a:ea typeface="宋体" panose="02010600030101010101" pitchFamily="2" charset="-122"/>
              </a:rPr>
              <a:t>{1,2,3}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 {1</a:t>
            </a:r>
            <a:r>
              <a:rPr lang="en-US" altLang="zh-CN">
                <a:ea typeface="宋体" panose="02010600030101010101" pitchFamily="2" charset="-122"/>
              </a:rPr>
              <a:t>,2,3}</a:t>
            </a:r>
            <a:endParaRPr lang="en-US" altLang="zh-CN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1371600" y="1981200"/>
          <a:ext cx="10429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93700" imgH="203200" progId="Equation.3">
                  <p:embed/>
                </p:oleObj>
              </mc:Choice>
              <mc:Fallback>
                <p:oleObj r:id="rId3" imgW="393700" imgH="20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981200"/>
                        <a:ext cx="104298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B89B75E-5CAC-4768-9BBF-A551D0666A7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集合也是对象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7772400" cy="4191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作为集合元素的对象</a:t>
            </a:r>
            <a:r>
              <a:rPr lang="en-US" altLang="zh-CN" i="1" dirty="0">
                <a:ea typeface="宋体" panose="02010600030101010101" pitchFamily="2" charset="-122"/>
              </a:rPr>
              <a:t>本身也</a:t>
            </a:r>
            <a:r>
              <a:rPr lang="en-US" altLang="zh-CN" dirty="0">
                <a:ea typeface="宋体" panose="02010600030101010101" pitchFamily="2" charset="-122"/>
              </a:rPr>
              <a:t>可以是集合。</a:t>
            </a:r>
          </a:p>
          <a:p>
            <a:pPr eaLnBrk="1" hangingPunct="1"/>
            <a:r>
              <a:rPr lang="en-US" altLang="zh-CN" i="1" dirty="0">
                <a:ea typeface="宋体" panose="02010600030101010101" pitchFamily="2" charset="-122"/>
              </a:rPr>
              <a:t>例如</a:t>
            </a:r>
            <a:r>
              <a:rPr lang="en-US" altLang="zh-CN" dirty="0">
                <a:ea typeface="宋体" panose="02010600030101010101" pitchFamily="2" charset="-122"/>
              </a:rPr>
              <a:t>，设 S={x</a:t>
            </a:r>
            <a:r>
              <a:rPr lang="en-US" altLang="zh-CN" i="1" dirty="0">
                <a:ea typeface="宋体" panose="02010600030101010101" pitchFamily="2" charset="-122"/>
              </a:rPr>
              <a:t> | </a:t>
            </a:r>
            <a:r>
              <a:rPr lang="en-US" altLang="zh-CN" dirty="0">
                <a:ea typeface="宋体" panose="02010600030101010101" pitchFamily="2" charset="-122"/>
              </a:rPr>
              <a:t>x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 {1,2,3}}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则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 =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...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1CEAA6F-AAA0-4A34-91DA-1167ED1CAAD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集合也是对象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7772400" cy="4191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作为集合元素的对象</a:t>
            </a:r>
            <a:r>
              <a:rPr lang="en-US" altLang="zh-CN" i="1" dirty="0">
                <a:ea typeface="宋体" panose="02010600030101010101" pitchFamily="2" charset="-122"/>
              </a:rPr>
              <a:t>本身也</a:t>
            </a:r>
            <a:r>
              <a:rPr lang="en-US" altLang="zh-CN" dirty="0">
                <a:ea typeface="宋体" panose="02010600030101010101" pitchFamily="2" charset="-122"/>
              </a:rPr>
              <a:t>可以是集合。</a:t>
            </a:r>
          </a:p>
          <a:p>
            <a:pPr eaLnBrk="1" hangingPunct="1"/>
            <a:r>
              <a:rPr lang="en-US" altLang="zh-CN" i="1" dirty="0">
                <a:ea typeface="宋体" panose="02010600030101010101" pitchFamily="2" charset="-122"/>
              </a:rPr>
              <a:t>例如</a:t>
            </a:r>
            <a:r>
              <a:rPr lang="en-US" altLang="zh-CN" dirty="0">
                <a:ea typeface="宋体" panose="02010600030101010101" pitchFamily="2" charset="-122"/>
              </a:rPr>
              <a:t>，设 S={x</a:t>
            </a:r>
            <a:r>
              <a:rPr lang="en-US" altLang="zh-CN" i="1" dirty="0">
                <a:ea typeface="宋体" panose="02010600030101010101" pitchFamily="2" charset="-122"/>
              </a:rPr>
              <a:t> | </a:t>
            </a:r>
            <a:r>
              <a:rPr lang="en-US" altLang="zh-CN" dirty="0">
                <a:ea typeface="宋体" panose="02010600030101010101" pitchFamily="2" charset="-122"/>
              </a:rPr>
              <a:t>x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 {1,2,3}}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则 S={、 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             {1}, {2}, {3},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             {1,2}, {1,3}, {2,3},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             {1,2,3}}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请注意，1  {1} {{1}}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B7428CD-288B-4E49-8E1F-1F2ED460BBE8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基数与有限性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|S</a:t>
            </a:r>
            <a:r>
              <a:rPr lang="en-US" altLang="zh-CN" i="1" dirty="0">
                <a:ea typeface="宋体" panose="02010600030101010101" pitchFamily="2" charset="-122"/>
              </a:rPr>
              <a:t>|</a:t>
            </a:r>
            <a:r>
              <a:rPr lang="en-US" altLang="zh-CN" dirty="0">
                <a:ea typeface="宋体" panose="02010600030101010101" pitchFamily="2" charset="-122"/>
              </a:rPr>
              <a:t>（读作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 i="1" dirty="0">
                <a:ea typeface="宋体" panose="02010600030101010101" pitchFamily="2" charset="-122"/>
              </a:rPr>
              <a:t>S </a:t>
            </a:r>
            <a:r>
              <a:rPr lang="en-US" altLang="zh-CN" dirty="0">
                <a:ea typeface="宋体" panose="02010600030101010101" pitchFamily="2" charset="-122"/>
              </a:rPr>
              <a:t>的</a:t>
            </a:r>
            <a:r>
              <a:rPr lang="zh-CN" altLang="en-US" i="1" dirty="0">
                <a:ea typeface="宋体" panose="02010600030101010101" pitchFamily="2" charset="-122"/>
              </a:rPr>
              <a:t>基数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dirty="0">
                <a:ea typeface="宋体" panose="02010600030101010101" pitchFamily="2" charset="-122"/>
              </a:rPr>
              <a:t>）是衡量 </a:t>
            </a:r>
            <a:r>
              <a:rPr lang="en-US" altLang="zh-CN" i="1" dirty="0">
                <a:ea typeface="宋体" panose="02010600030101010101" pitchFamily="2" charset="-122"/>
              </a:rPr>
              <a:t>S </a:t>
            </a:r>
            <a:r>
              <a:rPr lang="en-US" altLang="zh-CN" dirty="0">
                <a:ea typeface="宋体" panose="02010600030101010101" pitchFamily="2" charset="-122"/>
              </a:rPr>
              <a:t>有多少不同元素的指标。</a:t>
            </a:r>
          </a:p>
          <a:p>
            <a:pPr eaLnBrk="1" hangingPunct="1"/>
            <a:r>
              <a:rPr lang="en-US" altLang="zh-CN" i="1" dirty="0">
                <a:ea typeface="宋体" panose="02010600030101010101" pitchFamily="2" charset="-122"/>
              </a:rPr>
              <a:t>例如</a:t>
            </a:r>
            <a:r>
              <a:rPr lang="en-US" altLang="zh-CN" dirty="0">
                <a:ea typeface="宋体" panose="02010600030101010101" pitchFamily="2" charset="-122"/>
              </a:rPr>
              <a:t>，|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en-US" altLang="zh-CN" dirty="0">
                <a:ea typeface="宋体" panose="02010600030101010101" pitchFamily="2" charset="-122"/>
              </a:rPr>
              <a:t>|=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dirty="0">
                <a:ea typeface="宋体" panose="02010600030101010101" pitchFamily="2" charset="-122"/>
              </a:rPr>
              <a:t>，|{1,2,3}| = 3，|{a</a:t>
            </a:r>
            <a:r>
              <a:rPr lang="en-US" altLang="zh-CN" dirty="0" err="1">
                <a:ea typeface="宋体" panose="02010600030101010101" pitchFamily="2" charset="-122"/>
              </a:rPr>
              <a:t>,b}| </a:t>
            </a:r>
            <a:r>
              <a:rPr lang="en-US" altLang="zh-CN" dirty="0">
                <a:ea typeface="宋体" panose="02010600030101010101" pitchFamily="2" charset="-122"/>
              </a:rPr>
              <a:t>= 2、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     |{{1,2,3},{4,5}}| = ____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如果 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|</a:t>
            </a:r>
            <a:r>
              <a:rPr lang="en-US" altLang="zh-CN" i="1" dirty="0"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|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，那么我们说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有限的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否则，我们说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无限的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53" name="WordArt 4"/>
          <p:cNvSpPr>
            <a:spLocks noChangeArrowheads="1" noChangeShapeType="1" noTextEdit="1"/>
          </p:cNvSpPr>
          <p:nvPr/>
        </p:nvSpPr>
        <p:spPr bwMode="auto">
          <a:xfrm>
            <a:off x="5070475" y="3048000"/>
            <a:ext cx="45720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TopLeft"/>
              <a:lightRig rig="legacyNormal3" dir="r"/>
            </a:scene3d>
            <a:sp3d extrusionH="201600" prstMaterial="legacyMatte">
              <a:extrusionClr>
                <a:srgbClr val="FFFFFF"/>
              </a:extrusionClr>
              <a:contourClr>
                <a:srgbClr val="CBCBCB"/>
              </a:contourClr>
            </a:sp3d>
          </a:bodyPr>
          <a:lstStyle/>
          <a:p>
            <a:pPr algn="ctr"/>
            <a:r>
              <a:rPr lang="en-US" altLang="zh-CN" sz="3600" kern="10">
                <a:ln w="9525">
                  <a:round/>
                </a:ln>
                <a:gradFill rotWithShape="1">
                  <a:gsLst>
                    <a:gs pos="0">
                      <a:srgbClr val="CBCBCB"/>
                    </a:gs>
                    <a:gs pos="13000">
                      <a:srgbClr val="5F5F5F"/>
                    </a:gs>
                    <a:gs pos="21001">
                      <a:srgbClr val="5F5F5F"/>
                    </a:gs>
                    <a:gs pos="63000">
                      <a:srgbClr val="FFFFFF"/>
                    </a:gs>
                    <a:gs pos="67000">
                      <a:srgbClr val="B2B2B2"/>
                    </a:gs>
                    <a:gs pos="69000">
                      <a:srgbClr val="292929"/>
                    </a:gs>
                    <a:gs pos="82001">
                      <a:srgbClr val="777777"/>
                    </a:gs>
                    <a:gs pos="100000">
                      <a:srgbClr val="EAEAEA"/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3600" kern="10">
              <a:ln w="9525">
                <a:round/>
              </a:ln>
              <a:gradFill rotWithShape="1">
                <a:gsLst>
                  <a:gs pos="0">
                    <a:srgbClr val="CBCBCB"/>
                  </a:gs>
                  <a:gs pos="13000">
                    <a:srgbClr val="5F5F5F"/>
                  </a:gs>
                  <a:gs pos="21001">
                    <a:srgbClr val="5F5F5F"/>
                  </a:gs>
                  <a:gs pos="63000">
                    <a:srgbClr val="FFFFFF"/>
                  </a:gs>
                  <a:gs pos="67000">
                    <a:srgbClr val="B2B2B2"/>
                  </a:gs>
                  <a:gs pos="69000">
                    <a:srgbClr val="292929"/>
                  </a:gs>
                  <a:gs pos="82001">
                    <a:srgbClr val="777777"/>
                  </a:gs>
                  <a:gs pos="100000">
                    <a:srgbClr val="EAEAEA"/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DE58BB1-70E2-4B3F-BA2E-569B0AA5464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</a:t>
            </a:r>
          </a:p>
        </p:txBody>
      </p:sp>
      <p:pic>
        <p:nvPicPr>
          <p:cNvPr id="29700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1444625"/>
            <a:ext cx="741045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286060" y="5763925"/>
                <a:ext cx="426990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200" dirty="0"/>
                  <a:t>|A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altLang="zh-CN" sz="3200" dirty="0"/>
                  <a:t>B|=|A|+|B|-|A</a:t>
                </a:r>
                <a:r>
                  <a:rPr lang="zh-CN" altLang="zh-CN" sz="3200" dirty="0"/>
                  <a:t>∩</a:t>
                </a:r>
                <a:r>
                  <a:rPr lang="en-US" altLang="zh-CN" sz="3200" dirty="0"/>
                  <a:t>B|</a:t>
                </a:r>
                <a:endParaRPr lang="zh-CN" altLang="zh-CN" sz="320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60" y="5763925"/>
                <a:ext cx="4269902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1" t="-5" r="5" b="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55C7CFB-0F78-463B-947C-4A95B4A4D38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731838"/>
            <a:ext cx="8715375" cy="563562"/>
          </a:xfrm>
        </p:spPr>
        <p:txBody>
          <a:bodyPr/>
          <a:lstStyle/>
          <a:p>
            <a:pPr eaLnBrk="1" hangingPunct="1"/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828800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b="1">
                <a:ea typeface="宋体" panose="02010600030101010101" pitchFamily="2" charset="-122"/>
              </a:rPr>
              <a:t>罗素悖论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b="1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考虑与谓词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x </a:t>
            </a:r>
            <a:r>
              <a:rPr lang="en-US" altLang="zh-CN">
                <a:ea typeface="宋体" panose="02010600030101010101" pitchFamily="2" charset="-122"/>
              </a:rPr>
              <a:t>对应的集合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 x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>
                <a:ea typeface="宋体" panose="02010600030101010101" pitchFamily="2" charset="-122"/>
              </a:rPr>
              <a:t>                          S </a:t>
            </a:r>
            <a:r>
              <a:rPr lang="en-US" altLang="zh-CN">
                <a:ea typeface="宋体" panose="02010600030101010101" pitchFamily="2" charset="-122"/>
              </a:rPr>
              <a:t>= {x</a:t>
            </a:r>
            <a:r>
              <a:rPr lang="en-US" altLang="zh-CN" i="1">
                <a:ea typeface="宋体" panose="02010600030101010101" pitchFamily="2" charset="-122"/>
              </a:rPr>
              <a:t> |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xx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现在请问：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SS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</a:p>
        </p:txBody>
      </p:sp>
      <p:pic>
        <p:nvPicPr>
          <p:cNvPr id="30725" name="Picture 4" descr="Russel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85"/>
          <a:stretch>
            <a:fillRect/>
          </a:stretch>
        </p:blipFill>
        <p:spPr bwMode="auto">
          <a:xfrm>
            <a:off x="7467600" y="4848225"/>
            <a:ext cx="1676400" cy="2009775"/>
          </a:xfrm>
          <a:prstGeom prst="rect">
            <a:avLst/>
          </a:prstGeom>
          <a:noFill/>
          <a:ln w="38100">
            <a:solidFill>
              <a:srgbClr val="99FF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26" name="Text Box 5"/>
          <p:cNvSpPr txBox="1">
            <a:spLocks noChangeArrowheads="1"/>
          </p:cNvSpPr>
          <p:nvPr/>
        </p:nvSpPr>
        <p:spPr bwMode="auto">
          <a:xfrm>
            <a:off x="5486400" y="5957888"/>
            <a:ext cx="1938338" cy="758825"/>
          </a:xfrm>
          <a:prstGeom prst="rect">
            <a:avLst/>
          </a:prstGeom>
          <a:solidFill>
            <a:srgbClr val="FFFFCC"/>
          </a:solidFill>
          <a:ln w="57150">
            <a:solidFill>
              <a:srgbClr val="006600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伯特兰-罗素</a:t>
            </a:r>
            <a:br>
              <a:rPr lang="en-US" altLang="zh-CN" sz="2000">
                <a:latin typeface="Times New Roman" panose="02020603050405020304" pitchFamily="18" charset="0"/>
              </a:rPr>
            </a:br>
            <a:r>
              <a:rPr lang="en-US" altLang="zh-CN" sz="2000">
                <a:latin typeface="Times New Roman" panose="02020603050405020304" pitchFamily="18" charset="0"/>
              </a:rPr>
              <a:t>1872-1970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914D876-064E-4567-8B3E-339D528C95F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罗素悖论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828800"/>
            <a:ext cx="85344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ea typeface="宋体" panose="02010600030101010101" pitchFamily="2" charset="-122"/>
              </a:rPr>
              <a:t>设</a:t>
            </a:r>
            <a:r>
              <a:rPr lang="en-US" altLang="zh-CN" sz="2800" b="1">
                <a:ea typeface="宋体" panose="02010600030101010101" pitchFamily="2" charset="-122"/>
              </a:rPr>
              <a:t> </a:t>
            </a:r>
            <a:r>
              <a:rPr lang="en-US" altLang="zh-CN" sz="2800" b="1" i="1">
                <a:ea typeface="宋体" panose="02010600030101010101" pitchFamily="2" charset="-122"/>
              </a:rPr>
              <a:t>S </a:t>
            </a:r>
            <a:r>
              <a:rPr lang="en-US" altLang="zh-CN" sz="2800" b="1">
                <a:ea typeface="宋体" panose="02010600030101010101" pitchFamily="2" charset="-122"/>
              </a:rPr>
              <a:t>= {x</a:t>
            </a:r>
            <a:r>
              <a:rPr lang="en-US" altLang="zh-CN" sz="2800" b="1" i="1">
                <a:ea typeface="宋体" panose="02010600030101010101" pitchFamily="2" charset="-122"/>
              </a:rPr>
              <a:t> | 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xx 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}。  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SS 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吗？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如果 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SS</a:t>
            </a: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，那么 S 就是 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xx </a:t>
            </a: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的对象 </a:t>
            </a:r>
            <a:r>
              <a:rPr lang="en-GB" altLang="en-US" sz="2800" b="1" i="1"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之一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换句话说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b="1" i="1">
                <a:ea typeface="宋体" panose="02010600030101010101" pitchFamily="2" charset="-122"/>
              </a:rPr>
              <a:t>S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S</a:t>
            </a:r>
            <a:b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根据还原法，我们有 SS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如果 </a:t>
            </a:r>
            <a:r>
              <a:rPr lang="en-US" altLang="zh-CN" sz="2800" b="1" i="1">
                <a:ea typeface="宋体" panose="02010600030101010101" pitchFamily="2" charset="-122"/>
              </a:rPr>
              <a:t>S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S</a:t>
            </a: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，那么 S 不是 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xx </a:t>
            </a: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的对象 </a:t>
            </a:r>
            <a:r>
              <a:rPr lang="en-GB" altLang="en-US" sz="2800" b="1" i="1"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之一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换句话说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b="1" i="1">
                <a:ea typeface="宋体" panose="02010600030101010101" pitchFamily="2" charset="-122"/>
              </a:rPr>
              <a:t>S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S</a:t>
            </a:r>
            <a:b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根据还原法，我们有 SS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我们的结论是，</a:t>
            </a:r>
            <a:r>
              <a:rPr lang="en-US" altLang="zh-CN" sz="2800" b="1">
                <a:ea typeface="宋体" panose="02010600030101010101" pitchFamily="2" charset="-122"/>
              </a:rPr>
              <a:t>S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S </a:t>
            </a: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SS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悖论！  (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没有假设可以归咎于此，因此我们不能再使用反证法</a:t>
            </a: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）。</a:t>
            </a:r>
            <a:endParaRPr lang="en-US" altLang="zh-CN" sz="2800" b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1C1B1A0-AD12-4DA5-B72D-CE731718343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11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pPr algn="just"/>
            <a:r>
              <a:rPr lang="en-US" altLang="zh-CN" sz="2800" dirty="0">
                <a:ea typeface="宋体" panose="02010600030101010101" pitchFamily="2" charset="-122"/>
              </a:rPr>
              <a:t>2.</a:t>
            </a:r>
            <a:r>
              <a:rPr lang="en-US" altLang="zh-CN" sz="2800" b="1" dirty="0">
                <a:ea typeface="宋体" panose="02010600030101010101" pitchFamily="2" charset="-122"/>
              </a:rPr>
              <a:t>下列哪项陈述是正确的</a:t>
            </a:r>
            <a:r>
              <a:rPr lang="zh-CN" altLang="en-US" sz="2800" b="1" dirty="0">
                <a:ea typeface="宋体" panose="02010600030101010101" pitchFamily="2" charset="-122"/>
              </a:rPr>
              <a:t>（）</a:t>
            </a:r>
            <a:r>
              <a:rPr lang="en-US" altLang="zh-CN" sz="2800" b="1" dirty="0">
                <a:ea typeface="宋体" panose="02010600030101010101" pitchFamily="2" charset="-122"/>
              </a:rPr>
              <a:t>？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  <a:sym typeface="+mn-ea"/>
              </a:rPr>
              <a:t>A) 0 </a:t>
            </a:r>
            <a:r>
              <a:rPr lang="zh-CN" altLang="zh-CN" dirty="0">
                <a:ea typeface="宋体" panose="02010600030101010101" pitchFamily="2" charset="-122"/>
                <a:sym typeface="+mn-ea"/>
              </a:rPr>
              <a:t>∈ 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∅ 				B) ∅ </a:t>
            </a:r>
            <a:r>
              <a:rPr lang="zh-CN" altLang="zh-CN" dirty="0">
                <a:ea typeface="宋体" panose="02010600030101010101" pitchFamily="2" charset="-122"/>
                <a:sym typeface="+mn-ea"/>
              </a:rPr>
              <a:t>∈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 {0}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  <a:sym typeface="+mn-ea"/>
              </a:rPr>
              <a:t>C) {0} ⊂ ∅ 			D) ∅ ⊂ {0}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endParaRPr lang="en-US" altLang="zh-CN" sz="2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CEA1D20-5F0A-440B-BF1A-6E58604C9C6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52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sz="2800" b="1" dirty="0">
                <a:ea typeface="宋体" panose="02010600030101010101" pitchFamily="2" charset="-122"/>
              </a:rPr>
              <a:t>3.</a:t>
            </a:r>
            <a:r>
              <a:rPr lang="en-US" altLang="zh-CN" dirty="0">
                <a:ea typeface="宋体" panose="02010600030101010101" pitchFamily="2" charset="-122"/>
              </a:rPr>
              <a:t>以下哪个选项是正确的？  ()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a)| ø | = 1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b) | { x, x }| = 2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c) | {x}</a:t>
            </a:r>
            <a:r>
              <a:rPr lang="zh-CN" altLang="zh-CN" dirty="0">
                <a:ea typeface="宋体" panose="02010600030101010101" pitchFamily="2" charset="-122"/>
              </a:rPr>
              <a:t> ∩ ø</a:t>
            </a:r>
            <a:r>
              <a:rPr lang="en-US" altLang="zh-CN" dirty="0">
                <a:ea typeface="宋体" panose="02010600030101010101" pitchFamily="2" charset="-122"/>
              </a:rPr>
              <a:t> | = 0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d)| ø | = ø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/>
            <a:endParaRPr lang="en-US" altLang="zh-CN" sz="2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93A802C-3797-49C5-B6F4-FBC578CCEA1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sz="2800" b="1" dirty="0">
                <a:ea typeface="宋体" panose="02010600030101010101" pitchFamily="2" charset="-122"/>
              </a:rPr>
              <a:t>4.</a:t>
            </a:r>
            <a:r>
              <a:rPr lang="en-US" altLang="zh-CN" dirty="0">
                <a:ea typeface="宋体" panose="02010600030101010101" pitchFamily="2" charset="-122"/>
              </a:rPr>
              <a:t>设集合 A=B。下列哪项是正确的？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A) A = {{a}}, B = {a, {a}}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B) </a:t>
            </a:r>
            <a:r>
              <a:rPr lang="pt-BR" altLang="zh-CN" dirty="0">
                <a:ea typeface="宋体" panose="02010600030101010101" pitchFamily="2" charset="-122"/>
              </a:rPr>
              <a:t>A = {∅, a, b} , B = {a, b}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C)A = {a, b} ∪ ∅, B = {a, b} ∪ {∅}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D) A = {∅, {a} , {b}, {a, b}}, B = {x| x 是 {a, b}} 的子集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D22E16E-6CBF-4095-927E-B24DE26D7F7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1140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  <a:blipFill>
            <a:blip r:embed="rId2"/>
            <a:stretch>
              <a:fillRect l="-1467" t="-167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781742" y="1524050"/>
            <a:ext cx="457188" cy="533386"/>
            <a:chOff x="5714970" y="6343882"/>
            <a:chExt cx="457188" cy="533386"/>
          </a:xfrm>
        </p:grpSpPr>
        <p:sp>
          <p:nvSpPr>
            <p:cNvPr id="3" name="矩形 2"/>
            <p:cNvSpPr/>
            <p:nvPr/>
          </p:nvSpPr>
          <p:spPr bwMode="auto">
            <a:xfrm>
              <a:off x="5714970" y="6343882"/>
              <a:ext cx="457188" cy="53338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714970" y="6343882"/>
              <a:ext cx="419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i="1" dirty="0">
                  <a:latin typeface="+mn-lt"/>
                </a:rPr>
                <a:t>T</a:t>
              </a:r>
              <a:endParaRPr lang="zh-CN" altLang="en-US" sz="2800" i="1" dirty="0">
                <a:latin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352832" y="2590822"/>
            <a:ext cx="457188" cy="533386"/>
            <a:chOff x="5714970" y="6343882"/>
            <a:chExt cx="457188" cy="533386"/>
          </a:xfrm>
        </p:grpSpPr>
        <p:sp>
          <p:nvSpPr>
            <p:cNvPr id="6" name="矩形 5"/>
            <p:cNvSpPr/>
            <p:nvPr/>
          </p:nvSpPr>
          <p:spPr bwMode="auto">
            <a:xfrm>
              <a:off x="5714970" y="6343882"/>
              <a:ext cx="457188" cy="53338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714970" y="6343882"/>
              <a:ext cx="419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i="1" dirty="0">
                  <a:latin typeface="+mn-lt"/>
                </a:rPr>
                <a:t>T</a:t>
              </a:r>
              <a:endParaRPr lang="zh-CN" altLang="en-US" sz="2800" i="1" dirty="0">
                <a:latin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981268" y="3151711"/>
            <a:ext cx="457188" cy="533386"/>
            <a:chOff x="5714970" y="6343882"/>
            <a:chExt cx="457188" cy="533386"/>
          </a:xfrm>
        </p:grpSpPr>
        <p:sp>
          <p:nvSpPr>
            <p:cNvPr id="9" name="矩形 8"/>
            <p:cNvSpPr/>
            <p:nvPr/>
          </p:nvSpPr>
          <p:spPr bwMode="auto">
            <a:xfrm>
              <a:off x="5714970" y="6343882"/>
              <a:ext cx="457188" cy="53338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714970" y="6343882"/>
              <a:ext cx="419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i="1" dirty="0">
                  <a:latin typeface="+mn-lt"/>
                </a:rPr>
                <a:t>T</a:t>
              </a:r>
              <a:endParaRPr lang="zh-CN" altLang="en-US" sz="2800" i="1" dirty="0">
                <a:latin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137247" y="3733844"/>
            <a:ext cx="457188" cy="533386"/>
            <a:chOff x="5714970" y="6343882"/>
            <a:chExt cx="457188" cy="533386"/>
          </a:xfrm>
        </p:grpSpPr>
        <p:sp>
          <p:nvSpPr>
            <p:cNvPr id="12" name="矩形 11"/>
            <p:cNvSpPr/>
            <p:nvPr/>
          </p:nvSpPr>
          <p:spPr bwMode="auto">
            <a:xfrm>
              <a:off x="5714970" y="6343882"/>
              <a:ext cx="457188" cy="53338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714970" y="6343882"/>
              <a:ext cx="419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i="1" dirty="0">
                  <a:latin typeface="+mn-lt"/>
                </a:rPr>
                <a:t>T</a:t>
              </a:r>
              <a:endParaRPr lang="zh-CN" altLang="en-US" sz="2800" i="1" dirty="0">
                <a:latin typeface="+mn-lt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754150" y="1447822"/>
            <a:ext cx="2403475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 dirty="0" err="1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设</a:t>
            </a:r>
            <a:endParaRPr kumimoji="0" lang="en-US" altLang="zh-CN" sz="3200" b="0" i="0" u="none" strike="noStrike" cap="none" normalizeH="0" baseline="0" dirty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019800" y="1524000"/>
            <a:ext cx="7620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algn="l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且</a:t>
            </a:r>
          </a:p>
        </p:txBody>
      </p:sp>
      <p:sp>
        <p:nvSpPr>
          <p:cNvPr id="16" name="矩形 15"/>
          <p:cNvSpPr/>
          <p:nvPr/>
        </p:nvSpPr>
        <p:spPr>
          <a:xfrm>
            <a:off x="2514600" y="2057400"/>
            <a:ext cx="45720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 dirty="0" err="1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下列哪个是错的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620000" y="1981200"/>
            <a:ext cx="762000" cy="609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93A802C-3797-49C5-B6F4-FBC578CCEA1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sz="2800" b="1" dirty="0">
                <a:ea typeface="宋体" panose="02010600030101010101" pitchFamily="2" charset="-122"/>
              </a:rPr>
              <a:t>6.</a:t>
            </a:r>
            <a:r>
              <a:rPr lang="en-US" altLang="zh-CN" dirty="0">
                <a:ea typeface="宋体" panose="02010600030101010101" pitchFamily="2" charset="-122"/>
              </a:rPr>
              <a:t>对于下面的每个集合，请判断 2 是否是该集合的元素。( )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A) {2, {2}}    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B) {{2}, {{2}}}    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C){{2}, {2,{2}}}    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D) {{{2}}}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/>
            <a:endParaRPr lang="en-US" altLang="zh-CN" sz="2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D29526F-6229-415A-9253-FE36A896BEE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练习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0" y="1371654"/>
            <a:ext cx="9145588" cy="4802134"/>
            <a:chOff x="0" y="1371654"/>
            <a:chExt cx="9145588" cy="4802134"/>
          </a:xfrm>
        </p:grpSpPr>
        <p:sp>
          <p:nvSpPr>
            <p:cNvPr id="91140" name="Rectangle 3"/>
            <p:cNvSpPr>
              <a:spLocks noGrp="1" noRot="1" noChangeAspect="1" noMove="1" noResize="1" noEditPoints="1" noAdjustHandles="1" noChangeArrowheads="1" noChangeShapeType="1"/>
            </p:cNvSpPr>
            <p:nvPr>
              <p:ph type="body" idx="4294967295"/>
            </p:nvPr>
          </p:nvSpPr>
          <p:spPr>
            <a:xfrm>
              <a:off x="0" y="1447800"/>
              <a:ext cx="9145588" cy="4725988"/>
            </a:xfrm>
            <a:blipFill>
              <a:blip r:embed="rId2"/>
              <a:stretch>
                <a:fillRect l="-1467" t="-1677" r="-2267"/>
              </a:stretch>
            </a:blipFill>
          </p:spPr>
          <p:txBody>
            <a:bodyPr/>
            <a:lstStyle/>
            <a:p>
              <a:pPr>
                <a:defRPr/>
              </a:pPr>
              <a:r>
                <a:rPr lang="zh-CN" altLang="en-US" dirty="0">
                  <a:noFill/>
                </a:rPr>
                <a:t> </a:t>
              </a:r>
            </a:p>
          </p:txBody>
        </p:sp>
        <p:pic>
          <p:nvPicPr>
            <p:cNvPr id="3" name="图片 2" descr="图标&#10;&#10;描述已自动生成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" y="1371654"/>
              <a:ext cx="761980" cy="664112"/>
            </a:xfrm>
            <a:prstGeom prst="rect">
              <a:avLst/>
            </a:prstGeom>
          </p:spPr>
        </p:pic>
      </p:grpSp>
      <p:sp>
        <p:nvSpPr>
          <p:cNvPr id="2" name="矩形 1"/>
          <p:cNvSpPr/>
          <p:nvPr/>
        </p:nvSpPr>
        <p:spPr>
          <a:xfrm>
            <a:off x="762000" y="1447800"/>
            <a:ext cx="8305800" cy="533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  </a:t>
            </a:r>
            <a:r>
              <a:rPr kumimoji="0" lang="en-US" altLang="zh-CN" sz="3200" b="0" i="0" u="none" strike="noStrike" cap="none" normalizeH="0" baseline="0" dirty="0" err="1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判断下列哪项是错的</a:t>
            </a:r>
            <a:r>
              <a:rPr kumimoji="0" lang="en-US" altLang="zh-CN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C6B0C1-AC07-9A49-6420-CB4E15803972}"/>
              </a:ext>
            </a:extLst>
          </p:cNvPr>
          <p:cNvSpPr txBox="1"/>
          <p:nvPr/>
        </p:nvSpPr>
        <p:spPr>
          <a:xfrm>
            <a:off x="381110" y="1458018"/>
            <a:ext cx="76198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/>
              <a:t>7</a:t>
            </a:r>
            <a:r>
              <a:rPr lang="en-US" altLang="zh-CN" sz="2800" b="1" dirty="0"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8976A1F-200C-439D-9330-4B43910254C8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34820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34822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34827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34828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34823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34824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34825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34826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34821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b="1">
                <a:ea typeface="宋体" panose="02010600030101010101" pitchFamily="2" charset="-122"/>
              </a:rPr>
              <a:t>幂集合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51514CE-3FCC-4BC4-AA1F-F2A1D4BB465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i="1">
                <a:ea typeface="宋体" panose="02010600030101010101" pitchFamily="2" charset="-122"/>
              </a:rPr>
              <a:t>幂集的操作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集合 </a:t>
            </a:r>
            <a:r>
              <a:rPr lang="en-US" altLang="zh-CN" i="1" dirty="0">
                <a:ea typeface="宋体" panose="02010600030101010101" pitchFamily="2" charset="-122"/>
              </a:rPr>
              <a:t>S </a:t>
            </a:r>
            <a:r>
              <a:rPr lang="en-US" altLang="zh-CN" dirty="0">
                <a:ea typeface="宋体" panose="02010600030101010101" pitchFamily="2" charset="-122"/>
              </a:rPr>
              <a:t>的</a:t>
            </a:r>
            <a:r>
              <a:rPr lang="en-US" altLang="zh-CN" i="1" dirty="0">
                <a:ea typeface="宋体" panose="02010600030101010101" pitchFamily="2" charset="-122"/>
              </a:rPr>
              <a:t>幂集 </a:t>
            </a:r>
            <a:r>
              <a:rPr lang="en-US" altLang="zh-CN" dirty="0">
                <a:ea typeface="宋体" panose="02010600030101010101" pitchFamily="2" charset="-122"/>
              </a:rPr>
              <a:t>P(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) 是 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 的所有子集的集合。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P(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) :≡ {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x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| </a:t>
            </a:r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}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.</a:t>
            </a:r>
          </a:p>
          <a:p>
            <a:pPr eaLnBrk="1" hangingPunct="1"/>
            <a:r>
              <a:rPr lang="en-US" altLang="zh-CN" i="1" dirty="0">
                <a:ea typeface="宋体" panose="02010600030101010101" pitchFamily="2" charset="-122"/>
              </a:rPr>
              <a:t>例如</a:t>
            </a:r>
            <a:r>
              <a:rPr lang="en-US" altLang="zh-CN" dirty="0">
                <a:ea typeface="宋体" panose="02010600030101010101" pitchFamily="2" charset="-122"/>
              </a:rPr>
              <a:t>，P({a</a:t>
            </a:r>
            <a:r>
              <a:rPr lang="en-US" altLang="zh-CN" dirty="0" err="1">
                <a:ea typeface="宋体" panose="02010600030101010101" pitchFamily="2" charset="-122"/>
              </a:rPr>
              <a:t>,b}</a:t>
            </a:r>
            <a:r>
              <a:rPr lang="en-US" altLang="zh-CN" dirty="0">
                <a:ea typeface="宋体" panose="02010600030101010101" pitchFamily="2" charset="-122"/>
              </a:rPr>
              <a:t>) = {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en-US" altLang="zh-CN" dirty="0">
                <a:ea typeface="宋体" panose="02010600030101010101" pitchFamily="2" charset="-122"/>
              </a:rPr>
              <a:t>, {a}, {b}, {a</a:t>
            </a:r>
            <a:r>
              <a:rPr lang="en-US" altLang="zh-CN" dirty="0" err="1">
                <a:ea typeface="宋体" panose="02010600030101010101" pitchFamily="2" charset="-122"/>
              </a:rPr>
              <a:t>,</a:t>
            </a:r>
            <a:r>
              <a:rPr lang="en-US" altLang="zh-CN" dirty="0">
                <a:ea typeface="宋体" panose="02010600030101010101" pitchFamily="2" charset="-122"/>
              </a:rPr>
              <a:t>b}}。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有时，P(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) 被写成 </a:t>
            </a:r>
            <a:r>
              <a:rPr lang="en-US" altLang="zh-CN" b="1" dirty="0">
                <a:ea typeface="宋体" panose="02010600030101010101" pitchFamily="2" charset="-122"/>
              </a:rPr>
              <a:t>2</a:t>
            </a:r>
            <a:r>
              <a:rPr lang="en-US" altLang="zh-CN" i="1" baseline="30000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 ，因为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|P(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)| = 2</a:t>
            </a:r>
            <a:r>
              <a:rPr lang="en-US" altLang="zh-CN" baseline="30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|</a:t>
            </a:r>
            <a:r>
              <a:rPr lang="en-US" altLang="zh-CN" i="1" baseline="30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baseline="300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|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。</a:t>
            </a:r>
            <a:endParaRPr lang="en-US" altLang="zh-CN" baseline="300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结果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S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:|P(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)|&gt;|S|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例如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|P(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)| &gt; |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|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  <a:br>
              <a:rPr lang="en-US" altLang="zh-CN" i="1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B24D3D4-2A13-41D7-BECB-1BEA64E1C71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实例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  <a:sym typeface="+mn-ea"/>
              </a:rPr>
              <a:t>P({0, 1, 2})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={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,{0},{1},{2},{0,1},{1,2},{0,2},{1,2},{0,1,2}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}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  <a:sym typeface="+mn-ea"/>
              </a:rPr>
              <a:t>P({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})={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, {}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}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  <a:sym typeface="+mn-ea"/>
              </a:rPr>
              <a:t>P(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)={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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}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3B05B01-39B4-4D62-AC8B-BF2D30FDD64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集合的笛卡儿积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对于集合 </a:t>
            </a:r>
            <a:r>
              <a:rPr lang="en-US" altLang="zh-CN" i="1" dirty="0">
                <a:ea typeface="宋体" panose="02010600030101010101" pitchFamily="2" charset="-122"/>
              </a:rPr>
              <a:t>A</a:t>
            </a:r>
            <a:r>
              <a:rPr lang="en-US" altLang="zh-CN" dirty="0">
                <a:ea typeface="宋体" panose="02010600030101010101" pitchFamily="2" charset="-122"/>
              </a:rPr>
              <a:t>、</a:t>
            </a:r>
            <a:r>
              <a:rPr lang="en-US" altLang="zh-CN" i="1" dirty="0">
                <a:ea typeface="宋体" panose="02010600030101010101" pitchFamily="2" charset="-122"/>
              </a:rPr>
              <a:t>B</a:t>
            </a:r>
            <a:r>
              <a:rPr lang="en-US" altLang="zh-CN" dirty="0">
                <a:ea typeface="宋体" panose="02010600030101010101" pitchFamily="2" charset="-122"/>
              </a:rPr>
              <a:t>，它们的</a:t>
            </a:r>
            <a:r>
              <a:rPr lang="en-US" altLang="zh-CN" i="1" dirty="0">
                <a:ea typeface="宋体" panose="02010600030101010101" pitchFamily="2" charset="-122"/>
              </a:rPr>
              <a:t>笛卡尔积</a:t>
            </a:r>
            <a:br>
              <a:rPr lang="en-US" altLang="zh-CN" i="1" dirty="0"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AB : {(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b)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aA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bB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例如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{a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,b}{1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,2} = {(a,1),(a,2),(b,1),(b,2)}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4D0EABF-E492-4E94-B184-4B945266BC2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</a:t>
            </a:r>
          </a:p>
        </p:txBody>
      </p:sp>
      <p:pic>
        <p:nvPicPr>
          <p:cNvPr id="40964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8" y="1504950"/>
            <a:ext cx="7486650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9C9B740-B634-43A5-A685-94BA31C4C8C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集合的笛卡儿积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19225"/>
            <a:ext cx="8686800" cy="487997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请注意 </a:t>
            </a:r>
          </a:p>
          <a:p>
            <a:pPr lvl="1" eaLnBrk="1" hangingPunct="1"/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对于有限集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, |AB| = |A|-|B|</a:t>
            </a:r>
          </a:p>
          <a:p>
            <a:pPr lvl="1" eaLnBrk="1" hangingPunct="1"/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笛卡尔积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不是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交换式：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即 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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AB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b="1" i="1" dirty="0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b="1" i="1" dirty="0">
                <a:ea typeface="宋体" panose="02010600030101010101" pitchFamily="2" charset="-122"/>
                <a:sym typeface="+mn-ea"/>
              </a:rPr>
              <a:t>B=B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b="1" i="1" dirty="0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lvl="1" eaLnBrk="1" hangingPunct="1"/>
            <a:r>
              <a:rPr lang="zh-CN" altLang="en-US" b="1" dirty="0">
                <a:ea typeface="宋体" panose="02010600030101010101" pitchFamily="2" charset="-122"/>
                <a:sym typeface="Symbol" panose="05050102010706020507" pitchFamily="18" charset="2"/>
              </a:rPr>
              <a:t>笛卡尔积是有序集</a:t>
            </a:r>
            <a:endParaRPr lang="en-US" altLang="zh-CN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b="1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417EDBC-ACBC-49CB-B125-29EEB1C3852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使用带量词的集合符号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1419225"/>
            <a:ext cx="8763000" cy="4879975"/>
          </a:xfrm>
        </p:spPr>
        <p:txBody>
          <a:bodyPr/>
          <a:lstStyle/>
          <a:p>
            <a:pPr eaLnBrk="1" hangingPunct="1"/>
            <a:r>
              <a:rPr lang="en-US" altLang="zh-CN" sz="30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xS</a:t>
            </a:r>
            <a:r>
              <a:rPr lang="en-US" altLang="zh-CN" sz="30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0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0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3000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表示</a:t>
            </a:r>
            <a:r>
              <a:rPr lang="zh-CN" altLang="en-US" sz="30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全体量词</a:t>
            </a:r>
            <a:endParaRPr lang="en-US" altLang="zh-CN" sz="3000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30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30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xS</a:t>
            </a:r>
            <a:r>
              <a:rPr lang="en-US" altLang="zh-CN" sz="30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0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0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3000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表示存在</a:t>
            </a:r>
            <a:r>
              <a:rPr lang="zh-CN" altLang="en-US" sz="30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量词</a:t>
            </a:r>
            <a:endParaRPr lang="en-US" altLang="zh-CN" sz="3000" dirty="0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30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0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xR</a:t>
            </a:r>
            <a:r>
              <a:rPr lang="en-US" altLang="zh-CN" sz="30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0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x^2≥0) </a:t>
            </a:r>
            <a:r>
              <a:rPr lang="en-US" altLang="zh-CN" sz="3000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sz="30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0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sz="30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xZ</a:t>
            </a:r>
            <a:r>
              <a:rPr lang="en-US" altLang="zh-CN" sz="30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0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x^2=1</a:t>
            </a:r>
            <a:r>
              <a:rPr lang="en-US" altLang="zh-CN" sz="30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0886CC4-A2BD-464D-B768-B5A817F3059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46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1146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sz="2800" b="1" dirty="0">
                <a:ea typeface="宋体" panose="02010600030101010101" pitchFamily="2" charset="-122"/>
              </a:rPr>
              <a:t>13..</a:t>
            </a:r>
            <a:r>
              <a:rPr lang="en-US" altLang="zh-CN" dirty="0">
                <a:ea typeface="宋体" panose="02010600030101010101" pitchFamily="2" charset="-122"/>
              </a:rPr>
              <a:t>A = {∅, {∅}} 且 ρ(A) 是集合 A 的幂集，则 ρ(A)= ________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57308" y="1447800"/>
            <a:ext cx="45718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8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0886CC4-A2BD-464D-B768-B5A817F3059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46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1146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sz="2800" b="1" dirty="0">
                <a:ea typeface="宋体" panose="02010600030101010101" pitchFamily="2" charset="-122"/>
              </a:rPr>
              <a:t>13.</a:t>
            </a:r>
            <a:r>
              <a:rPr lang="en-US" altLang="zh-CN" dirty="0">
                <a:ea typeface="宋体" panose="02010600030101010101" pitchFamily="2" charset="-122"/>
              </a:rPr>
              <a:t>当且仅当 A ⊆ B 时，幂集 P(A) ⊆ P(B) 成立，真或假________。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1110" y="1447800"/>
            <a:ext cx="53338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9.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F968AE3-99A5-47EF-8D7C-E8B6F65D98B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239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1140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  <a:blipFill>
            <a:blip r:embed="rId2"/>
            <a:stretch>
              <a:fillRect l="-1133" t="-1677" r="-60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1110" y="1447800"/>
            <a:ext cx="639919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10</a:t>
            </a:r>
            <a:endParaRPr lang="zh-CN" altLang="en-US" sz="3200" b="1" dirty="0"/>
          </a:p>
        </p:txBody>
      </p:sp>
      <p:sp>
        <p:nvSpPr>
          <p:cNvPr id="2" name="矩形 1"/>
          <p:cNvSpPr/>
          <p:nvPr/>
        </p:nvSpPr>
        <p:spPr>
          <a:xfrm>
            <a:off x="5105400" y="1524000"/>
            <a:ext cx="37338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是A的幂集合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AAE9878-AF69-458B-9AF7-5D0F33CCA4B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47108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47110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47115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47116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47111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47112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47113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47114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47109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37218" y="3302995"/>
            <a:ext cx="4572000" cy="685800"/>
          </a:xfrm>
        </p:spPr>
        <p:txBody>
          <a:bodyPr/>
          <a:lstStyle/>
          <a:p>
            <a:pPr algn="ctr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b="1" dirty="0">
                <a:ea typeface="宋体" panose="02010600030101010101" pitchFamily="2" charset="-122"/>
              </a:rPr>
              <a:t>集合的</a:t>
            </a:r>
            <a:r>
              <a:rPr lang="en-US" altLang="zh-CN" b="1" dirty="0" err="1">
                <a:ea typeface="宋体" panose="02010600030101010101" pitchFamily="2" charset="-122"/>
              </a:rPr>
              <a:t>操作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EC5D809-B829-4127-BFCE-596CD02F09C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并运算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对于集合 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、</a:t>
            </a:r>
            <a:r>
              <a:rPr lang="en-US" altLang="zh-CN" i="1">
                <a:ea typeface="宋体" panose="02010600030101010101" pitchFamily="2" charset="-122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，它们的</a:t>
            </a:r>
            <a:r>
              <a:rPr lang="zh-CN" altLang="en-US" i="1">
                <a:ea typeface="宋体" panose="02010600030101010101" pitchFamily="2" charset="-122"/>
              </a:rPr>
              <a:t>并</a:t>
            </a:r>
            <a:r>
              <a:rPr lang="en-US" altLang="zh-CN">
                <a:ea typeface="宋体" panose="02010600030101010101" pitchFamily="2" charset="-122"/>
              </a:rPr>
              <a:t>集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 i="1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是包含所有元素的集合，这些元素要么在 </a:t>
            </a:r>
            <a:r>
              <a:rPr lang="en-US" altLang="zh-CN" i="1">
                <a:ea typeface="宋体" panose="02010600030101010101" pitchFamily="2" charset="-122"/>
              </a:rPr>
              <a:t>A 中</a:t>
            </a:r>
            <a:r>
              <a:rPr lang="en-US" altLang="zh-CN">
                <a:ea typeface="宋体" panose="02010600030101010101" pitchFamily="2" charset="-122"/>
              </a:rPr>
              <a:t>，</a:t>
            </a:r>
            <a:r>
              <a:rPr lang="en-US" altLang="zh-CN" b="1">
                <a:ea typeface="宋体" panose="02010600030101010101" pitchFamily="2" charset="-122"/>
              </a:rPr>
              <a:t>要么</a:t>
            </a:r>
            <a:r>
              <a:rPr lang="en-US" altLang="zh-CN">
                <a:ea typeface="宋体" panose="02010600030101010101" pitchFamily="2" charset="-122"/>
              </a:rPr>
              <a:t>（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""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>
                <a:ea typeface="宋体" panose="02010600030101010101" pitchFamily="2" charset="-122"/>
              </a:rPr>
              <a:t>在 </a:t>
            </a:r>
            <a:r>
              <a:rPr lang="en-US" altLang="zh-CN" i="1">
                <a:ea typeface="宋体" panose="02010600030101010101" pitchFamily="2" charset="-122"/>
              </a:rPr>
              <a:t>B </a:t>
            </a:r>
            <a:r>
              <a:rPr lang="en-US" altLang="zh-CN">
                <a:ea typeface="宋体" panose="02010600030101010101" pitchFamily="2" charset="-122"/>
              </a:rPr>
              <a:t>中（当然，也可能两者都在）。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形式上，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{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x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|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}。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请注意，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B </a:t>
            </a:r>
            <a:r>
              <a:rPr lang="en-US" altLang="zh-CN">
                <a:ea typeface="宋体" panose="02010600030101010101" pitchFamily="2" charset="-122"/>
              </a:rPr>
              <a:t>是 </a:t>
            </a:r>
            <a:r>
              <a:rPr lang="en-US" altLang="zh-CN" i="1">
                <a:ea typeface="宋体" panose="02010600030101010101" pitchFamily="2" charset="-122"/>
              </a:rPr>
              <a:t>A </a:t>
            </a:r>
            <a:r>
              <a:rPr lang="en-US" altLang="zh-CN">
                <a:ea typeface="宋体" panose="02010600030101010101" pitchFamily="2" charset="-122"/>
              </a:rPr>
              <a:t>和 </a:t>
            </a:r>
            <a:r>
              <a:rPr lang="en-US" altLang="zh-CN" i="1">
                <a:ea typeface="宋体" panose="02010600030101010101" pitchFamily="2" charset="-122"/>
              </a:rPr>
              <a:t>B </a:t>
            </a:r>
            <a:r>
              <a:rPr lang="en-US" altLang="zh-CN">
                <a:ea typeface="宋体" panose="02010600030101010101" pitchFamily="2" charset="-122"/>
              </a:rPr>
              <a:t>的</a:t>
            </a:r>
            <a:r>
              <a:rPr lang="en-US" altLang="zh-CN" b="1">
                <a:ea typeface="宋体" panose="02010600030101010101" pitchFamily="2" charset="-122"/>
              </a:rPr>
              <a:t>超集</a:t>
            </a:r>
            <a:r>
              <a:rPr lang="en-US" altLang="zh-CN">
                <a:ea typeface="宋体" panose="02010600030101010101" pitchFamily="2" charset="-122"/>
              </a:rPr>
              <a:t>（事实上，它是最小的超集）</a:t>
            </a:r>
            <a:r>
              <a:rPr lang="en-US" altLang="zh-CN" i="1">
                <a:ea typeface="宋体" panose="02010600030101010101" pitchFamily="2" charset="-122"/>
              </a:rPr>
              <a:t>：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B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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 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B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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519506A-972D-4386-8B55-8C7D9BB604A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{a</a:t>
            </a:r>
            <a:r>
              <a:rPr lang="en-US" altLang="zh-CN" dirty="0" err="1">
                <a:ea typeface="宋体" panose="02010600030101010101" pitchFamily="2" charset="-122"/>
              </a:rPr>
              <a:t>,b,c}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{2,3} = {a,b,c,2,3}</a:t>
            </a:r>
          </a:p>
          <a:p>
            <a:pPr eaLnBrk="1" hangingPunct="1"/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{2,3,5}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{3,5,7}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= {2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,3,5,3,5,7}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={2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,3</a:t>
            </a:r>
            <a:r>
              <a:rPr lang="en-US" altLang="zh-CN" dirty="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5,7} 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46084" name="Group 3"/>
          <p:cNvGrpSpPr/>
          <p:nvPr/>
        </p:nvGrpSpPr>
        <p:grpSpPr bwMode="auto">
          <a:xfrm>
            <a:off x="1219200" y="3505200"/>
            <a:ext cx="3505200" cy="1981200"/>
            <a:chOff x="0" y="0"/>
            <a:chExt cx="2208" cy="1248"/>
          </a:xfrm>
        </p:grpSpPr>
        <p:sp>
          <p:nvSpPr>
            <p:cNvPr id="49165" name="Oval 4"/>
            <p:cNvSpPr>
              <a:spLocks noChangeArrowheads="1"/>
            </p:cNvSpPr>
            <p:nvPr/>
          </p:nvSpPr>
          <p:spPr bwMode="auto">
            <a:xfrm>
              <a:off x="0" y="0"/>
              <a:ext cx="1680" cy="960"/>
            </a:xfrm>
            <a:prstGeom prst="ellipse">
              <a:avLst/>
            </a:prstGeom>
            <a:solidFill>
              <a:srgbClr val="008000">
                <a:alpha val="50195"/>
              </a:srgbClr>
            </a:solidFill>
            <a:ln w="9525">
              <a:solidFill>
                <a:srgbClr val="008000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49166" name="Oval 5"/>
            <p:cNvSpPr>
              <a:spLocks noChangeArrowheads="1"/>
            </p:cNvSpPr>
            <p:nvPr/>
          </p:nvSpPr>
          <p:spPr bwMode="auto">
            <a:xfrm>
              <a:off x="480" y="336"/>
              <a:ext cx="1728" cy="912"/>
            </a:xfrm>
            <a:prstGeom prst="ellipse">
              <a:avLst/>
            </a:prstGeom>
            <a:solidFill>
              <a:srgbClr val="008000">
                <a:alpha val="50195"/>
              </a:srgbClr>
            </a:solidFill>
            <a:ln w="9525">
              <a:solidFill>
                <a:srgbClr val="008000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49157" name="Rectangle 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并运算示例</a:t>
            </a:r>
          </a:p>
        </p:txBody>
      </p:sp>
      <p:grpSp>
        <p:nvGrpSpPr>
          <p:cNvPr id="46088" name="Group 10"/>
          <p:cNvGrpSpPr/>
          <p:nvPr/>
        </p:nvGrpSpPr>
        <p:grpSpPr bwMode="auto">
          <a:xfrm>
            <a:off x="1219200" y="3505200"/>
            <a:ext cx="3505200" cy="1981200"/>
            <a:chOff x="0" y="0"/>
            <a:chExt cx="2208" cy="1248"/>
          </a:xfrm>
        </p:grpSpPr>
        <p:sp>
          <p:nvSpPr>
            <p:cNvPr id="49159" name="Oval 11"/>
            <p:cNvSpPr>
              <a:spLocks noChangeArrowheads="1"/>
            </p:cNvSpPr>
            <p:nvPr/>
          </p:nvSpPr>
          <p:spPr bwMode="auto">
            <a:xfrm>
              <a:off x="0" y="0"/>
              <a:ext cx="1680" cy="960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49160" name="Oval 12"/>
            <p:cNvSpPr>
              <a:spLocks noChangeArrowheads="1"/>
            </p:cNvSpPr>
            <p:nvPr/>
          </p:nvSpPr>
          <p:spPr bwMode="auto">
            <a:xfrm>
              <a:off x="480" y="336"/>
              <a:ext cx="1728" cy="91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49161" name="WordArt 13"/>
            <p:cNvSpPr>
              <a:spLocks noChangeArrowheads="1" noChangeShapeType="1" noTextEdit="1"/>
            </p:cNvSpPr>
            <p:nvPr/>
          </p:nvSpPr>
          <p:spPr bwMode="auto">
            <a:xfrm>
              <a:off x="384" y="240"/>
              <a:ext cx="144" cy="24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Arial Black" panose="020B0A04020102020204" pitchFamily="34" charset="0"/>
                </a:rPr>
                <a:t>2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9162" name="WordArt 14"/>
            <p:cNvSpPr>
              <a:spLocks noChangeArrowheads="1" noChangeShapeType="1" noTextEdit="1"/>
            </p:cNvSpPr>
            <p:nvPr/>
          </p:nvSpPr>
          <p:spPr bwMode="auto">
            <a:xfrm>
              <a:off x="768" y="576"/>
              <a:ext cx="144" cy="24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Arial Black" panose="020B0A04020102020204" pitchFamily="34" charset="0"/>
                </a:rPr>
                <a:t>3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9163" name="WordArt 15"/>
            <p:cNvSpPr>
              <a:spLocks noChangeArrowheads="1" noChangeShapeType="1" noTextEdit="1"/>
            </p:cNvSpPr>
            <p:nvPr/>
          </p:nvSpPr>
          <p:spPr bwMode="auto">
            <a:xfrm>
              <a:off x="1248" y="480"/>
              <a:ext cx="144" cy="24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Arial Black" panose="020B0A04020102020204" pitchFamily="34" charset="0"/>
                </a:rPr>
                <a:t>5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9164" name="WordArt 16"/>
            <p:cNvSpPr>
              <a:spLocks noChangeArrowheads="1" noChangeShapeType="1" noTextEdit="1"/>
            </p:cNvSpPr>
            <p:nvPr/>
          </p:nvSpPr>
          <p:spPr bwMode="auto">
            <a:xfrm>
              <a:off x="1776" y="720"/>
              <a:ext cx="144" cy="24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Arial Black" panose="020B0A04020102020204" pitchFamily="34" charset="0"/>
                </a:rPr>
                <a:t>7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Arial Black" panose="020B0A040201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4333FA4-2DBF-4DD9-9A17-F4D6D960E3D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交运算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对于集合 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、</a:t>
            </a:r>
            <a:r>
              <a:rPr lang="en-US" altLang="zh-CN" i="1">
                <a:ea typeface="宋体" panose="02010600030101010101" pitchFamily="2" charset="-122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，它们的</a:t>
            </a:r>
            <a:r>
              <a:rPr lang="en-US" altLang="zh-CN" i="1">
                <a:ea typeface="宋体" panose="02010600030101010101" pitchFamily="2" charset="-122"/>
              </a:rPr>
              <a:t>交集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 i="1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是包含所有同时在 </a:t>
            </a:r>
            <a:r>
              <a:rPr lang="en-US" altLang="zh-CN" i="1">
                <a:ea typeface="宋体" panose="02010600030101010101" pitchFamily="2" charset="-122"/>
              </a:rPr>
              <a:t>A </a:t>
            </a:r>
            <a:r>
              <a:rPr lang="en-US" altLang="zh-CN" b="1">
                <a:ea typeface="宋体" panose="02010600030101010101" pitchFamily="2" charset="-122"/>
              </a:rPr>
              <a:t>和</a:t>
            </a:r>
            <a:r>
              <a:rPr lang="en-US" altLang="zh-CN">
                <a:ea typeface="宋体" panose="02010600030101010101" pitchFamily="2" charset="-122"/>
              </a:rPr>
              <a:t>（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""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i="1">
                <a:ea typeface="宋体" panose="02010600030101010101" pitchFamily="2" charset="-122"/>
              </a:rPr>
              <a:t>B </a:t>
            </a:r>
            <a:r>
              <a:rPr lang="en-US" altLang="zh-CN">
                <a:ea typeface="宋体" panose="02010600030101010101" pitchFamily="2" charset="-122"/>
              </a:rPr>
              <a:t>中的元素的集合。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形式上，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{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x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|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请注意，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B </a:t>
            </a:r>
            <a:r>
              <a:rPr lang="en-US" altLang="zh-CN">
                <a:ea typeface="宋体" panose="02010600030101010101" pitchFamily="2" charset="-122"/>
              </a:rPr>
              <a:t>是 A 和 B 的</a:t>
            </a:r>
            <a:r>
              <a:rPr lang="en-US" altLang="zh-CN" b="1">
                <a:ea typeface="宋体" panose="02010600030101010101" pitchFamily="2" charset="-122"/>
              </a:rPr>
              <a:t>子集</a:t>
            </a:r>
            <a:r>
              <a:rPr lang="en-US" altLang="zh-CN">
                <a:ea typeface="宋体" panose="02010600030101010101" pitchFamily="2" charset="-122"/>
              </a:rPr>
              <a:t>（事实上，它是最大的子集）</a:t>
            </a:r>
            <a:r>
              <a:rPr lang="en-US" altLang="zh-CN" i="1">
                <a:ea typeface="宋体" panose="02010600030101010101" pitchFamily="2" charset="-122"/>
              </a:rPr>
              <a:t>：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B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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 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B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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buNone/>
            </a:pP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A025F32-EE12-4461-A9C6-0833AFAF33F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{</a:t>
            </a:r>
            <a:r>
              <a:rPr lang="en-US" altLang="zh-CN" dirty="0" err="1">
                <a:ea typeface="宋体" panose="02010600030101010101" pitchFamily="2" charset="-122"/>
              </a:rPr>
              <a:t>a，b，c</a:t>
            </a:r>
            <a:r>
              <a:rPr lang="en-US" altLang="zh-CN" dirty="0">
                <a:ea typeface="宋体" panose="02010600030101010101" pitchFamily="2" charset="-122"/>
              </a:rPr>
              <a:t>}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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{2,3} = ___</a:t>
            </a:r>
          </a:p>
          <a:p>
            <a:pPr eaLnBrk="1" hangingPunct="1"/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{2,4,6}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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{3,4,5}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= ______</a:t>
            </a:r>
          </a:p>
        </p:txBody>
      </p:sp>
      <p:sp>
        <p:nvSpPr>
          <p:cNvPr id="48132" name="Freeform 3"/>
          <p:cNvSpPr>
            <a:spLocks noChangeArrowheads="1"/>
          </p:cNvSpPr>
          <p:nvPr/>
        </p:nvSpPr>
        <p:spPr bwMode="auto">
          <a:xfrm>
            <a:off x="2424113" y="4114800"/>
            <a:ext cx="968375" cy="939800"/>
          </a:xfrm>
          <a:custGeom>
            <a:avLst/>
            <a:gdLst>
              <a:gd name="T0" fmla="*/ 2147483646 w 610"/>
              <a:gd name="T1" fmla="*/ 2147483646 h 592"/>
              <a:gd name="T2" fmla="*/ 2147483646 w 610"/>
              <a:gd name="T3" fmla="*/ 2147483646 h 592"/>
              <a:gd name="T4" fmla="*/ 2147483646 w 610"/>
              <a:gd name="T5" fmla="*/ 2147483646 h 592"/>
              <a:gd name="T6" fmla="*/ 2147483646 w 610"/>
              <a:gd name="T7" fmla="*/ 2147483646 h 592"/>
              <a:gd name="T8" fmla="*/ 2147483646 w 610"/>
              <a:gd name="T9" fmla="*/ 2147483646 h 592"/>
              <a:gd name="T10" fmla="*/ 2147483646 w 610"/>
              <a:gd name="T11" fmla="*/ 2147483646 h 592"/>
              <a:gd name="T12" fmla="*/ 2147483646 w 610"/>
              <a:gd name="T13" fmla="*/ 2147483646 h 592"/>
              <a:gd name="T14" fmla="*/ 2147483646 w 610"/>
              <a:gd name="T15" fmla="*/ 2147483646 h 592"/>
              <a:gd name="T16" fmla="*/ 2147483646 w 610"/>
              <a:gd name="T17" fmla="*/ 2147483646 h 592"/>
              <a:gd name="T18" fmla="*/ 2147483646 w 610"/>
              <a:gd name="T19" fmla="*/ 2147483646 h 592"/>
              <a:gd name="T20" fmla="*/ 2147483646 w 610"/>
              <a:gd name="T21" fmla="*/ 2147483646 h 592"/>
              <a:gd name="T22" fmla="*/ 2147483646 w 610"/>
              <a:gd name="T23" fmla="*/ 2147483646 h 592"/>
              <a:gd name="T24" fmla="*/ 2147483646 w 610"/>
              <a:gd name="T25" fmla="*/ 2147483646 h 59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610" h="592">
                <a:moveTo>
                  <a:pt x="41" y="569"/>
                </a:moveTo>
                <a:cubicBezTo>
                  <a:pt x="9" y="471"/>
                  <a:pt x="0" y="372"/>
                  <a:pt x="14" y="270"/>
                </a:cubicBezTo>
                <a:cubicBezTo>
                  <a:pt x="7" y="210"/>
                  <a:pt x="23" y="130"/>
                  <a:pt x="25" y="74"/>
                </a:cubicBezTo>
                <a:cubicBezTo>
                  <a:pt x="26" y="57"/>
                  <a:pt x="25" y="31"/>
                  <a:pt x="41" y="26"/>
                </a:cubicBezTo>
                <a:cubicBezTo>
                  <a:pt x="86" y="11"/>
                  <a:pt x="57" y="19"/>
                  <a:pt x="130" y="10"/>
                </a:cubicBezTo>
                <a:cubicBezTo>
                  <a:pt x="165" y="0"/>
                  <a:pt x="208" y="17"/>
                  <a:pt x="244" y="10"/>
                </a:cubicBezTo>
                <a:cubicBezTo>
                  <a:pt x="355" y="13"/>
                  <a:pt x="438" y="10"/>
                  <a:pt x="576" y="26"/>
                </a:cubicBezTo>
                <a:cubicBezTo>
                  <a:pt x="590" y="68"/>
                  <a:pt x="565" y="84"/>
                  <a:pt x="573" y="140"/>
                </a:cubicBezTo>
                <a:cubicBezTo>
                  <a:pt x="577" y="162"/>
                  <a:pt x="608" y="265"/>
                  <a:pt x="608" y="285"/>
                </a:cubicBezTo>
                <a:cubicBezTo>
                  <a:pt x="608" y="394"/>
                  <a:pt x="610" y="484"/>
                  <a:pt x="576" y="585"/>
                </a:cubicBezTo>
                <a:cubicBezTo>
                  <a:pt x="574" y="592"/>
                  <a:pt x="431" y="559"/>
                  <a:pt x="422" y="561"/>
                </a:cubicBezTo>
                <a:cubicBezTo>
                  <a:pt x="315" y="583"/>
                  <a:pt x="288" y="568"/>
                  <a:pt x="179" y="577"/>
                </a:cubicBezTo>
                <a:cubicBezTo>
                  <a:pt x="140" y="564"/>
                  <a:pt x="98" y="586"/>
                  <a:pt x="81" y="569"/>
                </a:cubicBezTo>
              </a:path>
            </a:pathLst>
          </a:custGeom>
          <a:solidFill>
            <a:srgbClr val="0080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5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交</a:t>
            </a:r>
            <a:r>
              <a:rPr lang="zh-CN" altLang="en-US">
                <a:ea typeface="宋体" panose="02010600030101010101" pitchFamily="2" charset="-122"/>
              </a:rPr>
              <a:t>运算</a:t>
            </a:r>
            <a:r>
              <a:rPr lang="en-US" altLang="zh-CN">
                <a:ea typeface="宋体" panose="02010600030101010101" pitchFamily="2" charset="-122"/>
              </a:rPr>
              <a:t>示例</a:t>
            </a:r>
          </a:p>
        </p:txBody>
      </p:sp>
      <p:grpSp>
        <p:nvGrpSpPr>
          <p:cNvPr id="48135" name="Group 6"/>
          <p:cNvGrpSpPr/>
          <p:nvPr/>
        </p:nvGrpSpPr>
        <p:grpSpPr bwMode="auto">
          <a:xfrm>
            <a:off x="1219200" y="3276600"/>
            <a:ext cx="3352800" cy="2590800"/>
            <a:chOff x="0" y="0"/>
            <a:chExt cx="2112" cy="1632"/>
          </a:xfrm>
        </p:grpSpPr>
        <p:sp>
          <p:nvSpPr>
            <p:cNvPr id="51210" name="Oval 7"/>
            <p:cNvSpPr>
              <a:spLocks noChangeArrowheads="1"/>
            </p:cNvSpPr>
            <p:nvPr/>
          </p:nvSpPr>
          <p:spPr bwMode="auto">
            <a:xfrm>
              <a:off x="0" y="528"/>
              <a:ext cx="2112" cy="576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51211" name="Oval 8"/>
            <p:cNvSpPr>
              <a:spLocks noChangeArrowheads="1"/>
            </p:cNvSpPr>
            <p:nvPr/>
          </p:nvSpPr>
          <p:spPr bwMode="auto">
            <a:xfrm>
              <a:off x="768" y="0"/>
              <a:ext cx="576" cy="163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51212" name="WordArt 9"/>
            <p:cNvSpPr>
              <a:spLocks noChangeArrowheads="1" noChangeShapeType="1" noTextEdit="1"/>
            </p:cNvSpPr>
            <p:nvPr/>
          </p:nvSpPr>
          <p:spPr bwMode="auto">
            <a:xfrm>
              <a:off x="432" y="672"/>
              <a:ext cx="144" cy="24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Arial Black" panose="020B0A04020102020204" pitchFamily="34" charset="0"/>
                </a:rPr>
                <a:t>2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1213" name="WordArt 10"/>
            <p:cNvSpPr>
              <a:spLocks noChangeArrowheads="1" noChangeShapeType="1" noTextEdit="1"/>
            </p:cNvSpPr>
            <p:nvPr/>
          </p:nvSpPr>
          <p:spPr bwMode="auto">
            <a:xfrm>
              <a:off x="1008" y="144"/>
              <a:ext cx="144" cy="24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Arial Black" panose="020B0A04020102020204" pitchFamily="34" charset="0"/>
                </a:rPr>
                <a:t>3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1214" name="WordArt 11"/>
            <p:cNvSpPr>
              <a:spLocks noChangeArrowheads="1" noChangeShapeType="1" noTextEdit="1"/>
            </p:cNvSpPr>
            <p:nvPr/>
          </p:nvSpPr>
          <p:spPr bwMode="auto">
            <a:xfrm>
              <a:off x="960" y="1200"/>
              <a:ext cx="144" cy="24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Arial Black" panose="020B0A04020102020204" pitchFamily="34" charset="0"/>
                </a:rPr>
                <a:t>5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1215" name="WordArt 12"/>
            <p:cNvSpPr>
              <a:spLocks noChangeArrowheads="1" noChangeShapeType="1" noTextEdit="1"/>
            </p:cNvSpPr>
            <p:nvPr/>
          </p:nvSpPr>
          <p:spPr bwMode="auto">
            <a:xfrm>
              <a:off x="1536" y="720"/>
              <a:ext cx="144" cy="24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Arial Black" panose="020B0A04020102020204" pitchFamily="34" charset="0"/>
                </a:rPr>
                <a:t>6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1216" name="WordArt 13"/>
            <p:cNvSpPr>
              <a:spLocks noChangeArrowheads="1" noChangeShapeType="1" noTextEdit="1"/>
            </p:cNvSpPr>
            <p:nvPr/>
          </p:nvSpPr>
          <p:spPr bwMode="auto">
            <a:xfrm>
              <a:off x="960" y="720"/>
              <a:ext cx="144" cy="24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</a:ln>
                  <a:solidFill>
                    <a:srgbClr val="000000"/>
                  </a:solidFill>
                  <a:latin typeface="Arial Black" panose="020B0A04020102020204" pitchFamily="34" charset="0"/>
                </a:rPr>
                <a:t>4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</a:ln>
                <a:solidFill>
                  <a:srgbClr val="000000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Text Box 14"/>
          <p:cNvSpPr txBox="1">
            <a:spLocks noChangeArrowheads="1"/>
          </p:cNvSpPr>
          <p:nvPr/>
        </p:nvSpPr>
        <p:spPr bwMode="auto">
          <a:xfrm>
            <a:off x="4495800" y="137160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4572000" y="1905000"/>
            <a:ext cx="83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{4}</a:t>
            </a:r>
            <a:endParaRPr lang="en-US" altLang="zh-CN" sz="2400">
              <a:solidFill>
                <a:srgbClr val="0066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A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D5B2086-78BD-465B-82D6-8BF2761D356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77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1177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sz="2800" b="1" dirty="0">
                <a:ea typeface="宋体" panose="02010600030101010101" pitchFamily="2" charset="-122"/>
              </a:rPr>
              <a:t>15.</a:t>
            </a:r>
            <a:r>
              <a:rPr lang="en-US" altLang="zh-CN" dirty="0">
                <a:ea typeface="宋体" panose="02010600030101010101" pitchFamily="2" charset="-122"/>
              </a:rPr>
              <a:t>设 A = {1，2，3，4，5}，B = {0，3，6｝</a:t>
            </a:r>
          </a:p>
          <a:p>
            <a:r>
              <a:rPr lang="zh-CN" altLang="zh-CN" dirty="0">
                <a:ea typeface="宋体" panose="02010600030101010101" pitchFamily="2" charset="-122"/>
              </a:rPr>
              <a:t>A∩B </a:t>
            </a:r>
            <a:r>
              <a:rPr lang="en-US" altLang="zh-CN" dirty="0">
                <a:ea typeface="宋体" panose="02010600030101010101" pitchFamily="2" charset="-122"/>
              </a:rPr>
              <a:t>=? </a:t>
            </a:r>
            <a:r>
              <a:rPr lang="en-US" altLang="zh-CN" u="sng" dirty="0">
                <a:ea typeface="宋体" panose="02010600030101010101" pitchFamily="2" charset="-122"/>
              </a:rPr>
              <a:t>                  </a:t>
            </a:r>
            <a:endParaRPr lang="zh-CN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3409" y="1447800"/>
            <a:ext cx="617285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11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0A7B2B3-09E9-4901-85BF-16DEACBF92D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集合的差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对于集合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A</a:t>
            </a:r>
            <a:r>
              <a:rPr lang="en-US" altLang="zh-CN" dirty="0">
                <a:ea typeface="宋体" panose="02010600030101010101" pitchFamily="2" charset="-122"/>
              </a:rPr>
              <a:t>、</a:t>
            </a:r>
            <a:r>
              <a:rPr lang="en-US" altLang="zh-CN" i="1" dirty="0">
                <a:ea typeface="宋体" panose="02010600030101010101" pitchFamily="2" charset="-122"/>
              </a:rPr>
              <a:t>B</a:t>
            </a:r>
            <a:r>
              <a:rPr lang="en-US" altLang="zh-CN" dirty="0">
                <a:ea typeface="宋体" panose="02010600030101010101" pitchFamily="2" charset="-122"/>
              </a:rPr>
              <a:t>，</a:t>
            </a:r>
            <a:r>
              <a:rPr lang="en-US" altLang="zh-CN" i="1" dirty="0">
                <a:ea typeface="宋体" panose="02010600030101010101" pitchFamily="2" charset="-122"/>
              </a:rPr>
              <a:t>A </a:t>
            </a:r>
            <a:r>
              <a:rPr lang="en-US" altLang="zh-CN" i="1" dirty="0" err="1">
                <a:ea typeface="宋体" panose="02010600030101010101" pitchFamily="2" charset="-122"/>
              </a:rPr>
              <a:t>和</a:t>
            </a:r>
            <a:r>
              <a:rPr lang="en-US" altLang="zh-CN" i="1" dirty="0">
                <a:ea typeface="宋体" panose="02010600030101010101" pitchFamily="2" charset="-122"/>
              </a:rPr>
              <a:t> B </a:t>
            </a:r>
            <a:r>
              <a:rPr lang="en-US" altLang="zh-CN" i="1" dirty="0" err="1">
                <a:ea typeface="宋体" panose="02010600030101010101" pitchFamily="2" charset="-122"/>
              </a:rPr>
              <a:t>的差集</a:t>
            </a:r>
            <a:r>
              <a:rPr lang="en-US" altLang="zh-CN" dirty="0" err="1">
                <a:ea typeface="宋体" panose="02010600030101010101" pitchFamily="2" charset="-122"/>
              </a:rPr>
              <a:t>（写为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 err="1">
                <a:ea typeface="宋体" panose="02010600030101010101" pitchFamily="2" charset="-122"/>
              </a:rPr>
              <a:t>B</a:t>
            </a:r>
            <a:r>
              <a:rPr lang="en-US" altLang="zh-CN" dirty="0" err="1">
                <a:ea typeface="宋体" panose="02010600030101010101" pitchFamily="2" charset="-122"/>
              </a:rPr>
              <a:t>）是所有在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A </a:t>
            </a:r>
            <a:r>
              <a:rPr lang="en-US" altLang="zh-CN" dirty="0" err="1">
                <a:ea typeface="宋体" panose="02010600030101010101" pitchFamily="2" charset="-122"/>
              </a:rPr>
              <a:t>中但不在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B </a:t>
            </a:r>
            <a:r>
              <a:rPr lang="en-US" altLang="zh-CN" i="1" dirty="0" err="1">
                <a:ea typeface="宋体" panose="02010600030101010101" pitchFamily="2" charset="-122"/>
              </a:rPr>
              <a:t>中</a:t>
            </a:r>
            <a:r>
              <a:rPr lang="en-US" altLang="zh-CN" dirty="0" err="1">
                <a:ea typeface="宋体" panose="02010600030101010101" pitchFamily="2" charset="-122"/>
              </a:rPr>
              <a:t>的元素的集合。形式上</a:t>
            </a:r>
            <a:r>
              <a:rPr lang="en-US" altLang="zh-CN" dirty="0">
                <a:ea typeface="宋体" panose="02010600030101010101" pitchFamily="2" charset="-122"/>
              </a:rPr>
              <a:t>：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	 A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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B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: x  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xA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xB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</a:t>
            </a:r>
            <a:b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  </a:t>
            </a:r>
          </a:p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也称为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i="1" dirty="0">
                <a:ea typeface="宋体" panose="02010600030101010101" pitchFamily="2" charset="-122"/>
              </a:rPr>
              <a:t>B </a:t>
            </a:r>
            <a:r>
              <a:rPr lang="en-US" altLang="zh-CN" i="1" dirty="0" err="1">
                <a:ea typeface="宋体" panose="02010600030101010101" pitchFamily="2" charset="-122"/>
              </a:rPr>
              <a:t>相对于</a:t>
            </a:r>
            <a:r>
              <a:rPr lang="en-US" altLang="zh-CN" i="1" dirty="0">
                <a:ea typeface="宋体" panose="02010600030101010101" pitchFamily="2" charset="-122"/>
              </a:rPr>
              <a:t> A </a:t>
            </a:r>
            <a:r>
              <a:rPr lang="en-US" altLang="zh-CN" i="1" dirty="0" err="1">
                <a:ea typeface="宋体" panose="02010600030101010101" pitchFamily="2" charset="-122"/>
              </a:rPr>
              <a:t>的</a:t>
            </a:r>
            <a:r>
              <a:rPr lang="zh-CN" altLang="en-US" i="1" dirty="0">
                <a:ea typeface="宋体" panose="02010600030101010101" pitchFamily="2" charset="-122"/>
              </a:rPr>
              <a:t>补集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8B6AA2B-4775-461B-BFD0-C1F90296146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集合差示例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  {1,2,3,4,5,6}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 </a:t>
            </a:r>
            <a:r>
              <a:rPr lang="en-US" altLang="zh-CN" dirty="0">
                <a:ea typeface="宋体" panose="02010600030101010101" pitchFamily="2" charset="-122"/>
              </a:rPr>
              <a:t>{2,3,5,7,9,11} =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       ___________</a:t>
            </a:r>
            <a:endParaRPr lang="en-US" altLang="zh-CN" b="1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b="1" dirty="0">
                <a:ea typeface="宋体" panose="02010600030101010101" pitchFamily="2" charset="-122"/>
              </a:rPr>
              <a:t>z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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n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 {.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..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 -1, 0, 1, 2, .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..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} {0, 1,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...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          = {x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| x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是整数但不是 nat。#}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          =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{x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是负整数} = {...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          = {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.. , -3, -2, -1}</a:t>
            </a:r>
          </a:p>
        </p:txBody>
      </p:sp>
      <p:sp>
        <p:nvSpPr>
          <p:cNvPr id="56325" name="Text Box 4"/>
          <p:cNvSpPr txBox="1">
            <a:spLocks noChangeArrowheads="1"/>
          </p:cNvSpPr>
          <p:nvPr/>
        </p:nvSpPr>
        <p:spPr bwMode="auto">
          <a:xfrm>
            <a:off x="2590800" y="2514600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6600"/>
                </a:solidFill>
                <a:latin typeface="Times New Roman" panose="02020603050405020304" pitchFamily="18" charset="0"/>
              </a:rPr>
              <a:t>{1,4,6}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56326" name="Line 5"/>
          <p:cNvSpPr>
            <a:spLocks noChangeShapeType="1"/>
          </p:cNvSpPr>
          <p:nvPr/>
        </p:nvSpPr>
        <p:spPr bwMode="auto">
          <a:xfrm flipH="1">
            <a:off x="1676400" y="2133600"/>
            <a:ext cx="152400" cy="4572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7" name="Line 6"/>
          <p:cNvSpPr>
            <a:spLocks noChangeShapeType="1"/>
          </p:cNvSpPr>
          <p:nvPr/>
        </p:nvSpPr>
        <p:spPr bwMode="auto">
          <a:xfrm flipH="1">
            <a:off x="1981200" y="2133600"/>
            <a:ext cx="152400" cy="4572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8" name="Line 7"/>
          <p:cNvSpPr>
            <a:spLocks noChangeShapeType="1"/>
          </p:cNvSpPr>
          <p:nvPr/>
        </p:nvSpPr>
        <p:spPr bwMode="auto">
          <a:xfrm flipH="1">
            <a:off x="2590800" y="2133600"/>
            <a:ext cx="152400" cy="4572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9" name="Freeform 8"/>
          <p:cNvSpPr>
            <a:spLocks noChangeArrowheads="1"/>
          </p:cNvSpPr>
          <p:nvPr/>
        </p:nvSpPr>
        <p:spPr bwMode="auto">
          <a:xfrm>
            <a:off x="1828800" y="1600200"/>
            <a:ext cx="2057400" cy="533400"/>
          </a:xfrm>
          <a:custGeom>
            <a:avLst/>
            <a:gdLst>
              <a:gd name="T0" fmla="*/ 2147483646 w 1392"/>
              <a:gd name="T1" fmla="*/ 2147483646 h 336"/>
              <a:gd name="T2" fmla="*/ 2147483646 w 1392"/>
              <a:gd name="T3" fmla="*/ 0 h 336"/>
              <a:gd name="T4" fmla="*/ 0 w 1392"/>
              <a:gd name="T5" fmla="*/ 2147483646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92" h="336">
                <a:moveTo>
                  <a:pt x="1392" y="336"/>
                </a:moveTo>
                <a:cubicBezTo>
                  <a:pt x="1148" y="168"/>
                  <a:pt x="904" y="0"/>
                  <a:pt x="672" y="0"/>
                </a:cubicBezTo>
                <a:cubicBezTo>
                  <a:pt x="440" y="0"/>
                  <a:pt x="112" y="280"/>
                  <a:pt x="0" y="336"/>
                </a:cubicBezTo>
              </a:path>
            </a:pathLst>
          </a:custGeom>
          <a:noFill/>
          <a:ln w="38100">
            <a:solidFill>
              <a:srgbClr val="FF6600"/>
            </a:solidFill>
            <a:bevel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0" name="Freeform 9"/>
          <p:cNvSpPr>
            <a:spLocks noChangeArrowheads="1"/>
          </p:cNvSpPr>
          <p:nvPr/>
        </p:nvSpPr>
        <p:spPr bwMode="auto">
          <a:xfrm>
            <a:off x="2133600" y="1600200"/>
            <a:ext cx="2057400" cy="533400"/>
          </a:xfrm>
          <a:custGeom>
            <a:avLst/>
            <a:gdLst>
              <a:gd name="T0" fmla="*/ 2147483646 w 1392"/>
              <a:gd name="T1" fmla="*/ 2147483646 h 336"/>
              <a:gd name="T2" fmla="*/ 2147483646 w 1392"/>
              <a:gd name="T3" fmla="*/ 0 h 336"/>
              <a:gd name="T4" fmla="*/ 0 w 1392"/>
              <a:gd name="T5" fmla="*/ 2147483646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92" h="336">
                <a:moveTo>
                  <a:pt x="1392" y="336"/>
                </a:moveTo>
                <a:cubicBezTo>
                  <a:pt x="1148" y="168"/>
                  <a:pt x="904" y="0"/>
                  <a:pt x="672" y="0"/>
                </a:cubicBezTo>
                <a:cubicBezTo>
                  <a:pt x="440" y="0"/>
                  <a:pt x="112" y="280"/>
                  <a:pt x="0" y="336"/>
                </a:cubicBezTo>
              </a:path>
            </a:pathLst>
          </a:custGeom>
          <a:noFill/>
          <a:ln w="38100">
            <a:solidFill>
              <a:srgbClr val="FF6600"/>
            </a:solidFill>
            <a:bevel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1" name="Freeform 10"/>
          <p:cNvSpPr>
            <a:spLocks noChangeArrowheads="1"/>
          </p:cNvSpPr>
          <p:nvPr/>
        </p:nvSpPr>
        <p:spPr bwMode="auto">
          <a:xfrm>
            <a:off x="2743200" y="1600200"/>
            <a:ext cx="1828800" cy="533400"/>
          </a:xfrm>
          <a:custGeom>
            <a:avLst/>
            <a:gdLst>
              <a:gd name="T0" fmla="*/ 2147483646 w 1392"/>
              <a:gd name="T1" fmla="*/ 2147483646 h 336"/>
              <a:gd name="T2" fmla="*/ 2147483646 w 1392"/>
              <a:gd name="T3" fmla="*/ 0 h 336"/>
              <a:gd name="T4" fmla="*/ 0 w 1392"/>
              <a:gd name="T5" fmla="*/ 2147483646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92" h="336">
                <a:moveTo>
                  <a:pt x="1392" y="336"/>
                </a:moveTo>
                <a:cubicBezTo>
                  <a:pt x="1148" y="168"/>
                  <a:pt x="904" y="0"/>
                  <a:pt x="672" y="0"/>
                </a:cubicBezTo>
                <a:cubicBezTo>
                  <a:pt x="440" y="0"/>
                  <a:pt x="112" y="280"/>
                  <a:pt x="0" y="336"/>
                </a:cubicBezTo>
              </a:path>
            </a:pathLst>
          </a:custGeom>
          <a:noFill/>
          <a:ln w="38100">
            <a:solidFill>
              <a:srgbClr val="FF6600"/>
            </a:solidFill>
            <a:bevel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2" name="Oval 11"/>
          <p:cNvSpPr>
            <a:spLocks noChangeArrowheads="1"/>
          </p:cNvSpPr>
          <p:nvPr/>
        </p:nvSpPr>
        <p:spPr bwMode="auto">
          <a:xfrm>
            <a:off x="1295400" y="2057400"/>
            <a:ext cx="304800" cy="533400"/>
          </a:xfrm>
          <a:prstGeom prst="ellipse">
            <a:avLst/>
          </a:prstGeom>
          <a:noFill/>
          <a:ln w="57150">
            <a:solidFill>
              <a:srgbClr val="00CC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56333" name="Oval 12"/>
          <p:cNvSpPr>
            <a:spLocks noChangeArrowheads="1"/>
          </p:cNvSpPr>
          <p:nvPr/>
        </p:nvSpPr>
        <p:spPr bwMode="auto">
          <a:xfrm>
            <a:off x="2209800" y="2057400"/>
            <a:ext cx="304800" cy="533400"/>
          </a:xfrm>
          <a:prstGeom prst="ellipse">
            <a:avLst/>
          </a:prstGeom>
          <a:noFill/>
          <a:ln w="57150">
            <a:solidFill>
              <a:srgbClr val="00CC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56334" name="Oval 13"/>
          <p:cNvSpPr>
            <a:spLocks noChangeArrowheads="1"/>
          </p:cNvSpPr>
          <p:nvPr/>
        </p:nvSpPr>
        <p:spPr bwMode="auto">
          <a:xfrm>
            <a:off x="2819400" y="2057400"/>
            <a:ext cx="304800" cy="533400"/>
          </a:xfrm>
          <a:prstGeom prst="ellipse">
            <a:avLst/>
          </a:prstGeom>
          <a:noFill/>
          <a:ln w="57150">
            <a:solidFill>
              <a:srgbClr val="00CC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6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6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6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6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6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6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/>
      <p:bldP spid="56332" grpId="0" animBg="1"/>
      <p:bldP spid="56333" grpId="0" animBg="1"/>
      <p:bldP spid="5633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FF86CED-FAC4-4382-8EEB-7AEF7066561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集合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zh-CN">
                <a:ea typeface="宋体" panose="02010600030101010101" pitchFamily="2" charset="-122"/>
              </a:rPr>
              <a:t>差 - 维恩图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i="1">
                <a:ea typeface="宋体" panose="02010600030101010101" pitchFamily="2" charset="-122"/>
              </a:rPr>
              <a:t>A-B </a:t>
            </a:r>
            <a:r>
              <a:rPr lang="en-US" altLang="zh-CN">
                <a:ea typeface="宋体" panose="02010600030101010101" pitchFamily="2" charset="-122"/>
              </a:rPr>
              <a:t>是 </a:t>
            </a:r>
            <a:r>
              <a:rPr lang="en-US" altLang="zh-CN" i="1">
                <a:ea typeface="宋体" panose="02010600030101010101" pitchFamily="2" charset="-122"/>
              </a:rPr>
              <a:t>B </a:t>
            </a:r>
            <a:r>
              <a:rPr lang="en-US" altLang="zh-CN">
                <a:ea typeface="宋体" panose="02010600030101010101" pitchFamily="2" charset="-122"/>
              </a:rPr>
              <a:t>之后剩下的部分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>
                <a:ea typeface="宋体" panose="02010600030101010101" pitchFamily="2" charset="-122"/>
              </a:rPr>
              <a:t>咬了一口 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0421" name="Oval 4"/>
          <p:cNvSpPr>
            <a:spLocks noChangeArrowheads="1"/>
          </p:cNvSpPr>
          <p:nvPr/>
        </p:nvSpPr>
        <p:spPr bwMode="auto">
          <a:xfrm>
            <a:off x="1371600" y="3124200"/>
            <a:ext cx="3200400" cy="20574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0422" name="Text Box 5"/>
          <p:cNvSpPr txBox="1">
            <a:spLocks noChangeArrowheads="1"/>
          </p:cNvSpPr>
          <p:nvPr/>
        </p:nvSpPr>
        <p:spPr bwMode="auto">
          <a:xfrm>
            <a:off x="2286000" y="5105400"/>
            <a:ext cx="1447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000" i="1">
                <a:latin typeface="Times New Roman" panose="02020603050405020304" pitchFamily="18" charset="0"/>
              </a:rPr>
              <a:t>A </a:t>
            </a:r>
            <a:r>
              <a:rPr lang="en-US" altLang="zh-CN" sz="4000">
                <a:latin typeface="Times New Roman" panose="02020603050405020304" pitchFamily="18" charset="0"/>
              </a:rPr>
              <a:t>组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60423" name="Oval 6"/>
          <p:cNvSpPr>
            <a:spLocks noChangeArrowheads="1"/>
          </p:cNvSpPr>
          <p:nvPr/>
        </p:nvSpPr>
        <p:spPr bwMode="auto">
          <a:xfrm>
            <a:off x="3429000" y="3200400"/>
            <a:ext cx="3276600" cy="2057400"/>
          </a:xfrm>
          <a:prstGeom prst="ellipse">
            <a:avLst/>
          </a:prstGeom>
          <a:solidFill>
            <a:srgbClr val="0000FF">
              <a:alpha val="50195"/>
            </a:srgbClr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0424" name="Text Box 7"/>
          <p:cNvSpPr txBox="1">
            <a:spLocks noChangeArrowheads="1"/>
          </p:cNvSpPr>
          <p:nvPr/>
        </p:nvSpPr>
        <p:spPr bwMode="auto">
          <a:xfrm>
            <a:off x="4419600" y="5181600"/>
            <a:ext cx="1447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000" i="1">
                <a:latin typeface="Times New Roman" panose="02020603050405020304" pitchFamily="18" charset="0"/>
              </a:rPr>
              <a:t>B </a:t>
            </a:r>
            <a:r>
              <a:rPr lang="en-US" altLang="zh-CN" sz="4000">
                <a:latin typeface="Times New Roman" panose="02020603050405020304" pitchFamily="18" charset="0"/>
              </a:rPr>
              <a:t>组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grpSp>
        <p:nvGrpSpPr>
          <p:cNvPr id="57353" name="Group 8"/>
          <p:cNvGrpSpPr/>
          <p:nvPr/>
        </p:nvGrpSpPr>
        <p:grpSpPr bwMode="auto">
          <a:xfrm>
            <a:off x="1397000" y="3140075"/>
            <a:ext cx="2695575" cy="2046288"/>
            <a:chOff x="0" y="0"/>
            <a:chExt cx="1698" cy="1289"/>
          </a:xfrm>
        </p:grpSpPr>
        <p:sp>
          <p:nvSpPr>
            <p:cNvPr id="60440" name="Freeform 9"/>
            <p:cNvSpPr>
              <a:spLocks noChangeArrowheads="1"/>
            </p:cNvSpPr>
            <p:nvPr/>
          </p:nvSpPr>
          <p:spPr bwMode="auto">
            <a:xfrm>
              <a:off x="0" y="0"/>
              <a:ext cx="1698" cy="1289"/>
            </a:xfrm>
            <a:custGeom>
              <a:avLst/>
              <a:gdLst>
                <a:gd name="T0" fmla="*/ 466 w 1698"/>
                <a:gd name="T1" fmla="*/ 1176 h 1289"/>
                <a:gd name="T2" fmla="*/ 320 w 1698"/>
                <a:gd name="T3" fmla="*/ 1119 h 1289"/>
                <a:gd name="T4" fmla="*/ 271 w 1698"/>
                <a:gd name="T5" fmla="*/ 1087 h 1289"/>
                <a:gd name="T6" fmla="*/ 198 w 1698"/>
                <a:gd name="T7" fmla="*/ 1006 h 1289"/>
                <a:gd name="T8" fmla="*/ 166 w 1698"/>
                <a:gd name="T9" fmla="*/ 965 h 1289"/>
                <a:gd name="T10" fmla="*/ 125 w 1698"/>
                <a:gd name="T11" fmla="*/ 933 h 1289"/>
                <a:gd name="T12" fmla="*/ 93 w 1698"/>
                <a:gd name="T13" fmla="*/ 860 h 1289"/>
                <a:gd name="T14" fmla="*/ 61 w 1698"/>
                <a:gd name="T15" fmla="*/ 819 h 1289"/>
                <a:gd name="T16" fmla="*/ 36 w 1698"/>
                <a:gd name="T17" fmla="*/ 746 h 1289"/>
                <a:gd name="T18" fmla="*/ 28 w 1698"/>
                <a:gd name="T19" fmla="*/ 722 h 1289"/>
                <a:gd name="T20" fmla="*/ 20 w 1698"/>
                <a:gd name="T21" fmla="*/ 511 h 1289"/>
                <a:gd name="T22" fmla="*/ 69 w 1698"/>
                <a:gd name="T23" fmla="*/ 398 h 1289"/>
                <a:gd name="T24" fmla="*/ 101 w 1698"/>
                <a:gd name="T25" fmla="*/ 333 h 1289"/>
                <a:gd name="T26" fmla="*/ 158 w 1698"/>
                <a:gd name="T27" fmla="*/ 276 h 1289"/>
                <a:gd name="T28" fmla="*/ 231 w 1698"/>
                <a:gd name="T29" fmla="*/ 227 h 1289"/>
                <a:gd name="T30" fmla="*/ 312 w 1698"/>
                <a:gd name="T31" fmla="*/ 162 h 1289"/>
                <a:gd name="T32" fmla="*/ 450 w 1698"/>
                <a:gd name="T33" fmla="*/ 106 h 1289"/>
                <a:gd name="T34" fmla="*/ 701 w 1698"/>
                <a:gd name="T35" fmla="*/ 25 h 1289"/>
                <a:gd name="T36" fmla="*/ 1034 w 1698"/>
                <a:gd name="T37" fmla="*/ 0 h 1289"/>
                <a:gd name="T38" fmla="*/ 1423 w 1698"/>
                <a:gd name="T39" fmla="*/ 73 h 1289"/>
                <a:gd name="T40" fmla="*/ 1577 w 1698"/>
                <a:gd name="T41" fmla="*/ 122 h 1289"/>
                <a:gd name="T42" fmla="*/ 1691 w 1698"/>
                <a:gd name="T43" fmla="*/ 171 h 1289"/>
                <a:gd name="T44" fmla="*/ 1609 w 1698"/>
                <a:gd name="T45" fmla="*/ 195 h 1289"/>
                <a:gd name="T46" fmla="*/ 1536 w 1698"/>
                <a:gd name="T47" fmla="*/ 235 h 1289"/>
                <a:gd name="T48" fmla="*/ 1455 w 1698"/>
                <a:gd name="T49" fmla="*/ 292 h 1289"/>
                <a:gd name="T50" fmla="*/ 1439 w 1698"/>
                <a:gd name="T51" fmla="*/ 325 h 1289"/>
                <a:gd name="T52" fmla="*/ 1374 w 1698"/>
                <a:gd name="T53" fmla="*/ 389 h 1289"/>
                <a:gd name="T54" fmla="*/ 1342 w 1698"/>
                <a:gd name="T55" fmla="*/ 438 h 1289"/>
                <a:gd name="T56" fmla="*/ 1293 w 1698"/>
                <a:gd name="T57" fmla="*/ 519 h 1289"/>
                <a:gd name="T58" fmla="*/ 1277 w 1698"/>
                <a:gd name="T59" fmla="*/ 584 h 1289"/>
                <a:gd name="T60" fmla="*/ 1269 w 1698"/>
                <a:gd name="T61" fmla="*/ 633 h 1289"/>
                <a:gd name="T62" fmla="*/ 1285 w 1698"/>
                <a:gd name="T63" fmla="*/ 852 h 1289"/>
                <a:gd name="T64" fmla="*/ 1399 w 1698"/>
                <a:gd name="T65" fmla="*/ 1046 h 1289"/>
                <a:gd name="T66" fmla="*/ 1601 w 1698"/>
                <a:gd name="T67" fmla="*/ 1168 h 1289"/>
                <a:gd name="T68" fmla="*/ 1285 w 1698"/>
                <a:gd name="T69" fmla="*/ 1273 h 1289"/>
                <a:gd name="T70" fmla="*/ 985 w 1698"/>
                <a:gd name="T71" fmla="*/ 1289 h 1289"/>
                <a:gd name="T72" fmla="*/ 685 w 1698"/>
                <a:gd name="T73" fmla="*/ 1257 h 1289"/>
                <a:gd name="T74" fmla="*/ 555 w 1698"/>
                <a:gd name="T75" fmla="*/ 1200 h 1289"/>
                <a:gd name="T76" fmla="*/ 466 w 1698"/>
                <a:gd name="T77" fmla="*/ 1176 h 1289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698" h="1289">
                  <a:moveTo>
                    <a:pt x="466" y="1176"/>
                  </a:moveTo>
                  <a:cubicBezTo>
                    <a:pt x="416" y="1160"/>
                    <a:pt x="366" y="1144"/>
                    <a:pt x="320" y="1119"/>
                  </a:cubicBezTo>
                  <a:cubicBezTo>
                    <a:pt x="303" y="1110"/>
                    <a:pt x="271" y="1087"/>
                    <a:pt x="271" y="1087"/>
                  </a:cubicBezTo>
                  <a:cubicBezTo>
                    <a:pt x="260" y="1051"/>
                    <a:pt x="227" y="1029"/>
                    <a:pt x="198" y="1006"/>
                  </a:cubicBezTo>
                  <a:cubicBezTo>
                    <a:pt x="163" y="978"/>
                    <a:pt x="202" y="1001"/>
                    <a:pt x="166" y="965"/>
                  </a:cubicBezTo>
                  <a:cubicBezTo>
                    <a:pt x="154" y="953"/>
                    <a:pt x="138" y="945"/>
                    <a:pt x="125" y="933"/>
                  </a:cubicBezTo>
                  <a:cubicBezTo>
                    <a:pt x="117" y="909"/>
                    <a:pt x="106" y="881"/>
                    <a:pt x="93" y="860"/>
                  </a:cubicBezTo>
                  <a:cubicBezTo>
                    <a:pt x="65" y="812"/>
                    <a:pt x="88" y="880"/>
                    <a:pt x="61" y="819"/>
                  </a:cubicBezTo>
                  <a:cubicBezTo>
                    <a:pt x="58" y="812"/>
                    <a:pt x="41" y="762"/>
                    <a:pt x="36" y="746"/>
                  </a:cubicBezTo>
                  <a:cubicBezTo>
                    <a:pt x="33" y="738"/>
                    <a:pt x="28" y="722"/>
                    <a:pt x="28" y="722"/>
                  </a:cubicBezTo>
                  <a:cubicBezTo>
                    <a:pt x="38" y="622"/>
                    <a:pt x="0" y="610"/>
                    <a:pt x="20" y="511"/>
                  </a:cubicBezTo>
                  <a:cubicBezTo>
                    <a:pt x="22" y="499"/>
                    <a:pt x="64" y="402"/>
                    <a:pt x="69" y="398"/>
                  </a:cubicBezTo>
                  <a:cubicBezTo>
                    <a:pt x="85" y="387"/>
                    <a:pt x="82" y="339"/>
                    <a:pt x="101" y="333"/>
                  </a:cubicBezTo>
                  <a:cubicBezTo>
                    <a:pt x="117" y="328"/>
                    <a:pt x="144" y="285"/>
                    <a:pt x="158" y="276"/>
                  </a:cubicBezTo>
                  <a:cubicBezTo>
                    <a:pt x="214" y="239"/>
                    <a:pt x="188" y="241"/>
                    <a:pt x="231" y="227"/>
                  </a:cubicBezTo>
                  <a:cubicBezTo>
                    <a:pt x="274" y="164"/>
                    <a:pt x="226" y="243"/>
                    <a:pt x="312" y="162"/>
                  </a:cubicBezTo>
                  <a:cubicBezTo>
                    <a:pt x="332" y="144"/>
                    <a:pt x="423" y="117"/>
                    <a:pt x="450" y="106"/>
                  </a:cubicBezTo>
                  <a:cubicBezTo>
                    <a:pt x="511" y="80"/>
                    <a:pt x="637" y="37"/>
                    <a:pt x="701" y="25"/>
                  </a:cubicBezTo>
                  <a:cubicBezTo>
                    <a:pt x="831" y="1"/>
                    <a:pt x="903" y="18"/>
                    <a:pt x="1034" y="0"/>
                  </a:cubicBezTo>
                  <a:cubicBezTo>
                    <a:pt x="1185" y="14"/>
                    <a:pt x="1278" y="27"/>
                    <a:pt x="1423" y="73"/>
                  </a:cubicBezTo>
                  <a:cubicBezTo>
                    <a:pt x="1450" y="91"/>
                    <a:pt x="1546" y="112"/>
                    <a:pt x="1577" y="122"/>
                  </a:cubicBezTo>
                  <a:cubicBezTo>
                    <a:pt x="1582" y="128"/>
                    <a:pt x="1685" y="166"/>
                    <a:pt x="1691" y="171"/>
                  </a:cubicBezTo>
                  <a:cubicBezTo>
                    <a:pt x="1698" y="177"/>
                    <a:pt x="1609" y="185"/>
                    <a:pt x="1609" y="195"/>
                  </a:cubicBezTo>
                  <a:cubicBezTo>
                    <a:pt x="1609" y="199"/>
                    <a:pt x="1543" y="229"/>
                    <a:pt x="1536" y="235"/>
                  </a:cubicBezTo>
                  <a:cubicBezTo>
                    <a:pt x="1512" y="254"/>
                    <a:pt x="1482" y="276"/>
                    <a:pt x="1455" y="292"/>
                  </a:cubicBezTo>
                  <a:cubicBezTo>
                    <a:pt x="1401" y="324"/>
                    <a:pt x="1494" y="281"/>
                    <a:pt x="1439" y="325"/>
                  </a:cubicBezTo>
                  <a:cubicBezTo>
                    <a:pt x="1412" y="347"/>
                    <a:pt x="1398" y="363"/>
                    <a:pt x="1374" y="389"/>
                  </a:cubicBezTo>
                  <a:cubicBezTo>
                    <a:pt x="1358" y="437"/>
                    <a:pt x="1379" y="391"/>
                    <a:pt x="1342" y="438"/>
                  </a:cubicBezTo>
                  <a:cubicBezTo>
                    <a:pt x="1319" y="468"/>
                    <a:pt x="1314" y="487"/>
                    <a:pt x="1293" y="519"/>
                  </a:cubicBezTo>
                  <a:cubicBezTo>
                    <a:pt x="1283" y="533"/>
                    <a:pt x="1283" y="568"/>
                    <a:pt x="1277" y="584"/>
                  </a:cubicBezTo>
                  <a:cubicBezTo>
                    <a:pt x="1274" y="592"/>
                    <a:pt x="1269" y="633"/>
                    <a:pt x="1269" y="633"/>
                  </a:cubicBezTo>
                  <a:cubicBezTo>
                    <a:pt x="1287" y="746"/>
                    <a:pt x="1249" y="743"/>
                    <a:pt x="1285" y="852"/>
                  </a:cubicBezTo>
                  <a:cubicBezTo>
                    <a:pt x="1291" y="870"/>
                    <a:pt x="1388" y="1030"/>
                    <a:pt x="1399" y="1046"/>
                  </a:cubicBezTo>
                  <a:cubicBezTo>
                    <a:pt x="1445" y="1115"/>
                    <a:pt x="1575" y="1091"/>
                    <a:pt x="1601" y="1168"/>
                  </a:cubicBezTo>
                  <a:cubicBezTo>
                    <a:pt x="1514" y="1197"/>
                    <a:pt x="1389" y="1268"/>
                    <a:pt x="1285" y="1273"/>
                  </a:cubicBezTo>
                  <a:cubicBezTo>
                    <a:pt x="1217" y="1282"/>
                    <a:pt x="1052" y="1276"/>
                    <a:pt x="985" y="1289"/>
                  </a:cubicBezTo>
                  <a:cubicBezTo>
                    <a:pt x="861" y="1274"/>
                    <a:pt x="810" y="1268"/>
                    <a:pt x="685" y="1257"/>
                  </a:cubicBezTo>
                  <a:cubicBezTo>
                    <a:pt x="656" y="1251"/>
                    <a:pt x="591" y="1210"/>
                    <a:pt x="555" y="1200"/>
                  </a:cubicBezTo>
                  <a:cubicBezTo>
                    <a:pt x="527" y="1192"/>
                    <a:pt x="495" y="1176"/>
                    <a:pt x="466" y="1176"/>
                  </a:cubicBezTo>
                  <a:close/>
                </a:path>
              </a:pathLst>
            </a:custGeom>
            <a:noFill/>
            <a:ln w="101600">
              <a:solidFill>
                <a:srgbClr val="FF0000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1" name="Text Box 10"/>
            <p:cNvSpPr txBox="1">
              <a:spLocks noChangeArrowheads="1"/>
            </p:cNvSpPr>
            <p:nvPr/>
          </p:nvSpPr>
          <p:spPr bwMode="auto">
            <a:xfrm>
              <a:off x="320" y="182"/>
              <a:ext cx="912" cy="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4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40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集合</a:t>
              </a:r>
              <a:br>
                <a:rPr lang="en-US" altLang="zh-CN" sz="4000" b="1">
                  <a:solidFill>
                    <a:srgbClr val="FF0000"/>
                  </a:solidFill>
                  <a:latin typeface="Times New Roman" panose="02020603050405020304" pitchFamily="18" charset="0"/>
                </a:rPr>
              </a:br>
              <a:r>
                <a:rPr lang="en-US" altLang="zh-CN" sz="4000" b="1" i="1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AB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356" name="Group 11"/>
          <p:cNvGrpSpPr/>
          <p:nvPr/>
        </p:nvGrpSpPr>
        <p:grpSpPr bwMode="auto">
          <a:xfrm>
            <a:off x="3657600" y="2514600"/>
            <a:ext cx="5181600" cy="2514600"/>
            <a:chOff x="0" y="0"/>
            <a:chExt cx="3264" cy="1584"/>
          </a:xfrm>
        </p:grpSpPr>
        <p:sp>
          <p:nvSpPr>
            <p:cNvPr id="60427" name="AutoShape 12"/>
            <p:cNvSpPr>
              <a:spLocks noChangeArrowheads="1"/>
            </p:cNvSpPr>
            <p:nvPr/>
          </p:nvSpPr>
          <p:spPr bwMode="auto">
            <a:xfrm>
              <a:off x="1968" y="0"/>
              <a:ext cx="1296" cy="864"/>
            </a:xfrm>
            <a:prstGeom prst="wedgeEllipseCallout">
              <a:avLst>
                <a:gd name="adj1" fmla="val -58796"/>
                <a:gd name="adj2" fmla="val 3622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4000" dirty="0">
                  <a:latin typeface="Beesknees ITC" pitchFamily="2" charset="0"/>
                </a:rPr>
                <a:t>咬</a:t>
              </a:r>
              <a:r>
                <a:rPr lang="en-US" altLang="zh-CN" sz="4000" dirty="0">
                  <a:latin typeface="Beesknees ITC" pitchFamily="2" charset="0"/>
                </a:rPr>
                <a:t>！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0428" name="Group 13"/>
            <p:cNvGrpSpPr/>
            <p:nvPr/>
          </p:nvGrpSpPr>
          <p:grpSpPr bwMode="auto">
            <a:xfrm rot="240913">
              <a:off x="0" y="1056"/>
              <a:ext cx="624" cy="528"/>
              <a:chOff x="0" y="0"/>
              <a:chExt cx="624" cy="528"/>
            </a:xfrm>
          </p:grpSpPr>
          <p:sp>
            <p:nvSpPr>
              <p:cNvPr id="60435" name="AutoShape 14"/>
              <p:cNvSpPr>
                <a:spLocks noChangeArrowheads="1"/>
              </p:cNvSpPr>
              <p:nvPr/>
            </p:nvSpPr>
            <p:spPr bwMode="auto">
              <a:xfrm rot="-2945991">
                <a:off x="48" y="336"/>
                <a:ext cx="144" cy="24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60436" name="AutoShape 15"/>
              <p:cNvSpPr>
                <a:spLocks noChangeArrowheads="1"/>
              </p:cNvSpPr>
              <p:nvPr/>
            </p:nvSpPr>
            <p:spPr bwMode="auto">
              <a:xfrm rot="-2945991">
                <a:off x="240" y="144"/>
                <a:ext cx="144" cy="24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60437" name="AutoShape 16"/>
              <p:cNvSpPr>
                <a:spLocks noChangeArrowheads="1"/>
              </p:cNvSpPr>
              <p:nvPr/>
            </p:nvSpPr>
            <p:spPr bwMode="auto">
              <a:xfrm rot="-2945991">
                <a:off x="144" y="240"/>
                <a:ext cx="144" cy="24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60438" name="AutoShape 17"/>
              <p:cNvSpPr>
                <a:spLocks noChangeArrowheads="1"/>
              </p:cNvSpPr>
              <p:nvPr/>
            </p:nvSpPr>
            <p:spPr bwMode="auto">
              <a:xfrm rot="-2945991">
                <a:off x="432" y="-48"/>
                <a:ext cx="144" cy="24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60439" name="AutoShape 18"/>
              <p:cNvSpPr>
                <a:spLocks noChangeArrowheads="1"/>
              </p:cNvSpPr>
              <p:nvPr/>
            </p:nvSpPr>
            <p:spPr bwMode="auto">
              <a:xfrm rot="-2945991">
                <a:off x="336" y="48"/>
                <a:ext cx="144" cy="24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grpSp>
          <p:nvGrpSpPr>
            <p:cNvPr id="60429" name="Group 19"/>
            <p:cNvGrpSpPr/>
            <p:nvPr/>
          </p:nvGrpSpPr>
          <p:grpSpPr bwMode="auto">
            <a:xfrm rot="21577889" flipV="1">
              <a:off x="96" y="624"/>
              <a:ext cx="624" cy="528"/>
              <a:chOff x="0" y="0"/>
              <a:chExt cx="624" cy="528"/>
            </a:xfrm>
          </p:grpSpPr>
          <p:sp>
            <p:nvSpPr>
              <p:cNvPr id="60430" name="AutoShape 20"/>
              <p:cNvSpPr>
                <a:spLocks noChangeArrowheads="1"/>
              </p:cNvSpPr>
              <p:nvPr/>
            </p:nvSpPr>
            <p:spPr bwMode="auto">
              <a:xfrm rot="-2945991">
                <a:off x="48" y="336"/>
                <a:ext cx="144" cy="24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60431" name="AutoShape 21"/>
              <p:cNvSpPr>
                <a:spLocks noChangeArrowheads="1"/>
              </p:cNvSpPr>
              <p:nvPr/>
            </p:nvSpPr>
            <p:spPr bwMode="auto">
              <a:xfrm rot="-2945991">
                <a:off x="240" y="144"/>
                <a:ext cx="144" cy="24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60432" name="AutoShape 22"/>
              <p:cNvSpPr>
                <a:spLocks noChangeArrowheads="1"/>
              </p:cNvSpPr>
              <p:nvPr/>
            </p:nvSpPr>
            <p:spPr bwMode="auto">
              <a:xfrm rot="-2945991">
                <a:off x="144" y="240"/>
                <a:ext cx="144" cy="24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60433" name="AutoShape 23"/>
              <p:cNvSpPr>
                <a:spLocks noChangeArrowheads="1"/>
              </p:cNvSpPr>
              <p:nvPr/>
            </p:nvSpPr>
            <p:spPr bwMode="auto">
              <a:xfrm rot="-2945991">
                <a:off x="432" y="-48"/>
                <a:ext cx="144" cy="24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60434" name="AutoShape 24"/>
              <p:cNvSpPr>
                <a:spLocks noChangeArrowheads="1"/>
              </p:cNvSpPr>
              <p:nvPr/>
            </p:nvSpPr>
            <p:spPr bwMode="auto">
              <a:xfrm rot="-2945991">
                <a:off x="336" y="48"/>
                <a:ext cx="144" cy="24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58C742E-54BE-41EB-B4AF-29DD63FE4E0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2595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1140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  <a:blipFill>
            <a:blip r:embed="rId2"/>
            <a:stretch>
              <a:fillRect t="-167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125957" name="文本框 1"/>
          <p:cNvSpPr txBox="1">
            <a:spLocks noChangeArrowheads="1"/>
          </p:cNvSpPr>
          <p:nvPr/>
        </p:nvSpPr>
        <p:spPr bwMode="auto">
          <a:xfrm>
            <a:off x="428625" y="1524000"/>
            <a:ext cx="609600" cy="4619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/>
              <a:t>19</a:t>
            </a:r>
            <a:endParaRPr lang="zh-CN" altLang="en-US" sz="2400" b="1"/>
          </a:p>
        </p:txBody>
      </p:sp>
      <p:sp>
        <p:nvSpPr>
          <p:cNvPr id="2" name="文本框 1"/>
          <p:cNvSpPr txBox="1"/>
          <p:nvPr/>
        </p:nvSpPr>
        <p:spPr>
          <a:xfrm>
            <a:off x="304912" y="1447800"/>
            <a:ext cx="639919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12</a:t>
            </a:r>
            <a:endParaRPr lang="zh-CN" altLang="en-US" sz="3200" b="1" dirty="0"/>
          </a:p>
        </p:txBody>
      </p:sp>
      <p:sp>
        <p:nvSpPr>
          <p:cNvPr id="3" name="矩形 2"/>
          <p:cNvSpPr/>
          <p:nvPr/>
        </p:nvSpPr>
        <p:spPr>
          <a:xfrm>
            <a:off x="838298" y="1447800"/>
            <a:ext cx="433705" cy="45275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 dirty="0" err="1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若</a:t>
            </a:r>
            <a:r>
              <a:rPr kumimoji="0" lang="en-US" altLang="zh-CN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" name="矩形 3"/>
          <p:cNvSpPr/>
          <p:nvPr/>
        </p:nvSpPr>
        <p:spPr>
          <a:xfrm>
            <a:off x="7239000" y="1524000"/>
            <a:ext cx="696595" cy="44767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algn="l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且</a:t>
            </a:r>
          </a:p>
        </p:txBody>
      </p:sp>
      <p:sp>
        <p:nvSpPr>
          <p:cNvPr id="5" name="矩形 4"/>
          <p:cNvSpPr/>
          <p:nvPr/>
        </p:nvSpPr>
        <p:spPr>
          <a:xfrm>
            <a:off x="2590800" y="1986280"/>
            <a:ext cx="850900" cy="4438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algn="l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 则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1DC0EFA-DB84-4C7F-AB99-2DD1ED5FF55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280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1280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sz="2800" b="1" dirty="0">
                <a:ea typeface="宋体" panose="02010600030101010101" pitchFamily="2" charset="-122"/>
              </a:rPr>
              <a:t>20. </a:t>
            </a:r>
            <a:r>
              <a:rPr lang="en-US" altLang="zh-CN" dirty="0" err="1">
                <a:ea typeface="宋体" panose="02010600030101010101" pitchFamily="2" charset="-122"/>
              </a:rPr>
              <a:t>设</a:t>
            </a:r>
            <a:r>
              <a:rPr lang="en-US" altLang="zh-CN" dirty="0">
                <a:ea typeface="宋体" panose="02010600030101010101" pitchFamily="2" charset="-122"/>
              </a:rPr>
              <a:t> A={1,2,3,4,5}，B={0,3,6}。 </a:t>
            </a:r>
          </a:p>
          <a:p>
            <a:r>
              <a:rPr lang="en-US" altLang="zh-CN" dirty="0" err="1">
                <a:ea typeface="宋体" panose="02010600030101010101" pitchFamily="2" charset="-122"/>
              </a:rPr>
              <a:t>求</a:t>
            </a:r>
            <a:r>
              <a:rPr lang="en-US" altLang="zh-CN" dirty="0">
                <a:ea typeface="宋体" panose="02010600030101010101" pitchFamily="2" charset="-122"/>
              </a:rPr>
              <a:t> A - B=？     </a:t>
            </a:r>
            <a:endParaRPr lang="zh-CN" altLang="zh-CN" dirty="0">
              <a:ea typeface="宋体" panose="02010600030101010101" pitchFamily="2" charset="-122"/>
            </a:endParaRPr>
          </a:p>
          <a:p>
            <a:endParaRPr lang="en-US" altLang="zh-CN" u="sng" dirty="0">
              <a:ea typeface="宋体" panose="02010600030101010101" pitchFamily="2" charset="-122"/>
            </a:endParaRPr>
          </a:p>
          <a:p>
            <a:endParaRPr lang="en-US" altLang="zh-CN" u="sng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000" b="1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1110" y="1447800"/>
            <a:ext cx="639919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13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45E0F1D-7874-4AD2-813B-13AE9A47AB7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补集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i="1">
                <a:ea typeface="宋体" panose="02010600030101010101" pitchFamily="2" charset="-122"/>
              </a:rPr>
              <a:t>集合所在的域</a:t>
            </a:r>
            <a:r>
              <a:rPr lang="en-US" altLang="zh-CN">
                <a:ea typeface="宋体" panose="02010600030101010101" pitchFamily="2" charset="-122"/>
              </a:rPr>
              <a:t>本身可以被视为一个集合，称为 </a:t>
            </a:r>
            <a:r>
              <a:rPr lang="en-US" altLang="zh-CN" i="1">
                <a:ea typeface="宋体" panose="02010600030101010101" pitchFamily="2" charset="-122"/>
              </a:rPr>
              <a:t>U</a:t>
            </a:r>
            <a:r>
              <a:rPr lang="en-US" altLang="zh-CN">
                <a:ea typeface="宋体" panose="02010600030101010101" pitchFamily="2" charset="-122"/>
              </a:rPr>
              <a:t>。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当上下文明确定义了 </a:t>
            </a:r>
            <a:r>
              <a:rPr lang="en-US" altLang="zh-CN" i="1">
                <a:ea typeface="宋体" panose="02010600030101010101" pitchFamily="2" charset="-122"/>
              </a:rPr>
              <a:t>U </a:t>
            </a:r>
            <a:r>
              <a:rPr lang="en-US" altLang="zh-CN">
                <a:ea typeface="宋体" panose="02010600030101010101" pitchFamily="2" charset="-122"/>
              </a:rPr>
              <a:t>时，我们说，对于任何集合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AU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i="1">
                <a:ea typeface="宋体" panose="02010600030101010101" pitchFamily="2" charset="-122"/>
              </a:rPr>
              <a:t>A </a:t>
            </a:r>
            <a:r>
              <a:rPr lang="en-US" altLang="zh-CN">
                <a:ea typeface="宋体" panose="02010600030101010101" pitchFamily="2" charset="-122"/>
              </a:rPr>
              <a:t>的</a:t>
            </a:r>
            <a:r>
              <a:rPr lang="en-US" altLang="zh-CN" i="1">
                <a:ea typeface="宋体" panose="02010600030101010101" pitchFamily="2" charset="-122"/>
              </a:rPr>
              <a:t>补集</a:t>
            </a:r>
            <a:r>
              <a:rPr lang="en-US" altLang="zh-CN">
                <a:ea typeface="宋体" panose="02010600030101010101" pitchFamily="2" charset="-122"/>
              </a:rPr>
              <a:t>，写作 ，是 </a:t>
            </a:r>
            <a:r>
              <a:rPr lang="en-US" altLang="zh-CN" i="1">
                <a:ea typeface="宋体" panose="02010600030101010101" pitchFamily="2" charset="-122"/>
              </a:rPr>
              <a:t>A </a:t>
            </a:r>
            <a:r>
              <a:rPr lang="en-US" altLang="zh-CN">
                <a:ea typeface="宋体" panose="02010600030101010101" pitchFamily="2" charset="-122"/>
              </a:rPr>
              <a:t>在 </a:t>
            </a:r>
            <a:r>
              <a:rPr lang="en-US" altLang="zh-CN" i="1">
                <a:ea typeface="宋体" panose="02010600030101010101" pitchFamily="2" charset="-122"/>
              </a:rPr>
              <a:t>U </a:t>
            </a:r>
            <a:r>
              <a:rPr lang="en-US" altLang="zh-CN">
                <a:ea typeface="宋体" panose="02010600030101010101" pitchFamily="2" charset="-122"/>
              </a:rPr>
              <a:t>方面的补集，</a:t>
            </a:r>
            <a:r>
              <a:rPr lang="en-US" altLang="zh-CN" i="1">
                <a:ea typeface="宋体" panose="02010600030101010101" pitchFamily="2" charset="-122"/>
              </a:rPr>
              <a:t>即     </a:t>
            </a:r>
            <a:r>
              <a:rPr lang="zh-CN" altLang="en-US" i="1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它是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UA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例如，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如果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U=N</a:t>
            </a:r>
            <a:r>
              <a:rPr lang="zh-CN" altLang="en-US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i="1">
                <a:ea typeface="宋体" panose="02010600030101010101" pitchFamily="2" charset="-122"/>
              </a:rPr>
              <a:t> </a:t>
            </a:r>
            <a:endParaRPr lang="en-US" altLang="zh-CN">
              <a:ea typeface="宋体" panose="02010600030101010101" pitchFamily="2" charset="-122"/>
            </a:endParaRPr>
          </a:p>
        </p:txBody>
      </p:sp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4724083" y="3505200"/>
          <a:ext cx="4587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5100" imgH="190500" progId="Equation.3">
                  <p:embed/>
                </p:oleObj>
              </mc:Choice>
              <mc:Fallback>
                <p:oleObj r:id="rId2" imgW="165100" imgH="190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083" y="3505200"/>
                        <a:ext cx="4587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6"/>
          <p:cNvGraphicFramePr>
            <a:graphicFrameLocks noChangeAspect="1"/>
          </p:cNvGraphicFramePr>
          <p:nvPr/>
        </p:nvGraphicFramePr>
        <p:xfrm>
          <a:off x="3657600" y="5029200"/>
          <a:ext cx="42799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71600" imgH="241300" progId="Equation.3">
                  <p:embed/>
                </p:oleObj>
              </mc:Choice>
              <mc:Fallback>
                <p:oleObj r:id="rId4" imgW="13716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029200"/>
                        <a:ext cx="42799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CC1BB88-DB95-490F-A21A-400111BD92A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集合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zh-CN">
                <a:ea typeface="宋体" panose="02010600030101010101" pitchFamily="2" charset="-122"/>
              </a:rPr>
              <a:t>性</a:t>
            </a:r>
            <a:r>
              <a:rPr lang="zh-CN" altLang="en-US">
                <a:ea typeface="宋体" panose="02010600030101010101" pitchFamily="2" charset="-122"/>
              </a:rPr>
              <a:t>质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b="1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 =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U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b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 = 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b="1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b="1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  <a:b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b="1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(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b="1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)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C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(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b="1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)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endParaRPr lang="en-US" altLang="zh-CN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b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60421" name="Object 5"/>
          <p:cNvGraphicFramePr>
            <a:graphicFrameLocks noChangeAspect="1"/>
          </p:cNvGraphicFramePr>
          <p:nvPr/>
        </p:nvGraphicFramePr>
        <p:xfrm>
          <a:off x="914400" y="5484813"/>
          <a:ext cx="1417638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20700" imgH="254000" progId="Equation.DSMT4">
                  <p:embed/>
                </p:oleObj>
              </mc:Choice>
              <mc:Fallback>
                <p:oleObj r:id="rId2" imgW="5207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484813"/>
                        <a:ext cx="1417638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231735A-B5E8-42D1-B49F-2C98E86B62A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(不用担心他们的名字）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  <a:sym typeface="+mn-ea"/>
              </a:rPr>
              <a:t>同一律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:         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 =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</a:p>
          <a:p>
            <a:pPr eaLnBrk="1" hangingPunct="1"/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零律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:  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U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U 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  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 = </a:t>
            </a:r>
          </a:p>
          <a:p>
            <a:pPr eaLnBrk="1" hangingPunct="1"/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幂等律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:     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</a:p>
          <a:p>
            <a:pPr eaLnBrk="1" hangingPunct="1"/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否定律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</a:p>
          <a:p>
            <a:pPr eaLnBrk="1" hangingPunct="1"/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交换律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: 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A 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</a:p>
          <a:p>
            <a:pPr eaLnBrk="1" hangingPunct="1"/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结合律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:   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)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C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b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                       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(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)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64517" name="Object 5"/>
          <p:cNvGraphicFramePr>
            <a:graphicFrameLocks noChangeAspect="1"/>
          </p:cNvGraphicFramePr>
          <p:nvPr/>
        </p:nvGraphicFramePr>
        <p:xfrm>
          <a:off x="4754563" y="3124200"/>
          <a:ext cx="1417637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20700" imgH="254000" progId="Equation.3">
                  <p:embed/>
                </p:oleObj>
              </mc:Choice>
              <mc:Fallback>
                <p:oleObj r:id="rId2" imgW="520700" imgH="254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4563" y="3124200"/>
                        <a:ext cx="1417637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0F4534F-CE51-4628-B558-60582EC46CA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德摩根集合定律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与命题的</a:t>
            </a:r>
            <a:r>
              <a:rPr lang="en-US" altLang="zh-CN" dirty="0" err="1">
                <a:ea typeface="宋体" panose="02010600030101010101" pitchFamily="2" charset="-122"/>
              </a:rPr>
              <a:t>德摩根</a:t>
            </a:r>
            <a:r>
              <a:rPr lang="en-US" altLang="zh-CN" dirty="0">
                <a:ea typeface="宋体" panose="02010600030101010101" pitchFamily="2" charset="-122"/>
              </a:rPr>
              <a:t>定律完全类似（并可证明）。</a:t>
            </a: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2971842" y="2549544"/>
          <a:ext cx="2607057" cy="1235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65835" imgH="457200" progId="Equation.3">
                  <p:embed/>
                </p:oleObj>
              </mc:Choice>
              <mc:Fallback>
                <p:oleObj r:id="rId2" imgW="965835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42" y="2549544"/>
                        <a:ext cx="2607057" cy="12350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09704" y="4072493"/>
                <a:ext cx="3264227" cy="1687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∉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altLang="zh-CN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US" altLang="zh-CN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∉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</m:oMath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r>
                  <a:rPr lang="en-US" altLang="zh-CN" b="0" dirty="0">
                    <a:ea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en-US" altLang="zh-CN" b="0" dirty="0">
                    <a:ea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∉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∉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en-US" altLang="zh-CN" b="0" dirty="0">
                    <a:ea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∩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04" y="4072493"/>
                <a:ext cx="3264227" cy="1687000"/>
              </a:xfrm>
              <a:prstGeom prst="rect">
                <a:avLst/>
              </a:prstGeom>
              <a:blipFill rotWithShape="1">
                <a:blip r:embed="rId4"/>
                <a:stretch>
                  <a:fillRect l="-3" t="-14" r="13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724396" y="3962386"/>
                <a:ext cx="3264227" cy="1687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⋀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∉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br>
                  <a:rPr lang="en-US" altLang="zh-CN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US" altLang="zh-CN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∉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</m:oMath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r>
                  <a:rPr lang="en-US" altLang="zh-CN" b="0" dirty="0">
                    <a:ea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en-US" altLang="zh-CN" b="0" dirty="0">
                    <a:ea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∉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∉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en-US" altLang="zh-CN" b="0" dirty="0">
                    <a:ea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∪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6" y="3962386"/>
                <a:ext cx="3264227" cy="1687000"/>
              </a:xfrm>
              <a:prstGeom prst="rect">
                <a:avLst/>
              </a:prstGeom>
              <a:blipFill rotWithShape="1">
                <a:blip r:embed="rId5"/>
                <a:stretch>
                  <a:fillRect l="-19" t="-37" r="10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BF13739-83CD-4D9B-A779-3911D7190C38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320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1140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  <a:blipFill>
            <a:blip r:embed="rId2"/>
            <a:stretch>
              <a:fillRect l="-1133" t="-1677" r="-1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132101" name="文本框 4"/>
          <p:cNvSpPr txBox="1">
            <a:spLocks noChangeArrowheads="1"/>
          </p:cNvSpPr>
          <p:nvPr/>
        </p:nvSpPr>
        <p:spPr bwMode="auto">
          <a:xfrm>
            <a:off x="428625" y="1524000"/>
            <a:ext cx="609600" cy="4619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14</a:t>
            </a:r>
            <a:endParaRPr lang="zh-CN" altLang="en-US" sz="2400" b="1" dirty="0"/>
          </a:p>
        </p:txBody>
      </p:sp>
      <p:sp>
        <p:nvSpPr>
          <p:cNvPr id="2" name="矩形 1"/>
          <p:cNvSpPr/>
          <p:nvPr/>
        </p:nvSpPr>
        <p:spPr>
          <a:xfrm>
            <a:off x="838200" y="1524000"/>
            <a:ext cx="2227580" cy="533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用谓词表达式证明</a:t>
            </a:r>
          </a:p>
        </p:txBody>
      </p:sp>
      <p:sp>
        <p:nvSpPr>
          <p:cNvPr id="3" name="矩形 2"/>
          <p:cNvSpPr/>
          <p:nvPr/>
        </p:nvSpPr>
        <p:spPr>
          <a:xfrm>
            <a:off x="7985760" y="1452880"/>
            <a:ext cx="1160145" cy="533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1000" y="2057400"/>
            <a:ext cx="3944620" cy="533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C318987-FDCF-485B-A953-A14C432694C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341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1140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  <a:blipFill>
            <a:blip r:embed="rId2"/>
            <a:stretch>
              <a:fillRect l="-1133" t="-1677" r="-166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134149" name="文本框 4"/>
          <p:cNvSpPr txBox="1">
            <a:spLocks noChangeArrowheads="1"/>
          </p:cNvSpPr>
          <p:nvPr/>
        </p:nvSpPr>
        <p:spPr bwMode="auto">
          <a:xfrm>
            <a:off x="428625" y="1524000"/>
            <a:ext cx="609600" cy="4619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25</a:t>
            </a:r>
            <a:endParaRPr lang="zh-CN" altLang="en-US" sz="2400" b="1" dirty="0"/>
          </a:p>
        </p:txBody>
      </p:sp>
      <p:sp>
        <p:nvSpPr>
          <p:cNvPr id="2" name="矩形 1"/>
          <p:cNvSpPr/>
          <p:nvPr/>
        </p:nvSpPr>
        <p:spPr>
          <a:xfrm>
            <a:off x="457200" y="1447800"/>
            <a:ext cx="8763000" cy="1066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3200" dirty="0">
                <a:latin typeface="+mn-lt"/>
              </a:rPr>
              <a:t>15</a:t>
            </a:r>
            <a:r>
              <a:rPr kumimoji="0" lang="en-US" altLang="zh-CN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. 设A，B和C是任意集合。请证明或证否：</a:t>
            </a:r>
            <a:br>
              <a:rPr kumimoji="0" lang="en-US" altLang="zh-CN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</a:b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86280"/>
            <a:ext cx="6315075" cy="58102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74A4FF1-8DBB-4C41-A2F9-79BDA9100CF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证明集合同一</a:t>
            </a:r>
            <a:r>
              <a:rPr lang="zh-CN" altLang="en-US">
                <a:ea typeface="宋体" panose="02010600030101010101" pitchFamily="2" charset="-122"/>
              </a:rPr>
              <a:t>性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要证明</a:t>
            </a:r>
            <a:r>
              <a:rPr lang="en-US" altLang="zh-CN" i="1" dirty="0"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= </a:t>
            </a:r>
            <a:r>
              <a:rPr lang="en-US" altLang="zh-CN" i="1" dirty="0"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（其中 Es 是集合表达式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r>
              <a:rPr lang="en-US" altLang="zh-CN" dirty="0">
                <a:ea typeface="宋体" panose="02010600030101010101" pitchFamily="2" charset="-122"/>
              </a:rPr>
              <a:t>有三种</a:t>
            </a:r>
            <a:r>
              <a:rPr lang="zh-CN" altLang="en-US" dirty="0">
                <a:ea typeface="宋体" panose="02010600030101010101" pitchFamily="2" charset="-122"/>
              </a:rPr>
              <a:t>方法</a:t>
            </a:r>
            <a:r>
              <a:rPr lang="en-US" altLang="zh-CN" dirty="0">
                <a:ea typeface="宋体" panose="02010600030101010101" pitchFamily="2" charset="-122"/>
              </a:rPr>
              <a:t>：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1.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分别证明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30711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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30711"/>
                </a:solidFill>
                <a:ea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和 E</a:t>
            </a:r>
            <a:r>
              <a:rPr lang="en-US" altLang="zh-CN" baseline="-25000" dirty="0">
                <a:solidFill>
                  <a:srgbClr val="030711"/>
                </a:solidFill>
                <a:ea typeface="宋体" panose="02010600030101010101" pitchFamily="2" charset="-122"/>
              </a:rPr>
              <a:t> 2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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30711"/>
                </a:solidFill>
                <a:ea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2.</a:t>
            </a:r>
            <a:r>
              <a:rPr lang="zh-CN" altLang="en-US" dirty="0">
                <a:solidFill>
                  <a:srgbClr val="030711"/>
                </a:solidFill>
                <a:ea typeface="宋体" panose="02010600030101010101" pitchFamily="2" charset="-122"/>
              </a:rPr>
              <a:t>借助逻辑等式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3.使用</a:t>
            </a:r>
            <a:r>
              <a:rPr lang="zh-CN" altLang="en-US" dirty="0">
                <a:solidFill>
                  <a:srgbClr val="030711"/>
                </a:solidFill>
                <a:ea typeface="宋体" panose="02010600030101010101" pitchFamily="2" charset="-122"/>
              </a:rPr>
              <a:t>关系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表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521A9AF-FA50-47D6-8FC4-A42729FC611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方法 1：相互子集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8160385" cy="469201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</a:rPr>
              <a:t>举例说明：显示 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(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BC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AB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)(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AC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).</a:t>
            </a:r>
          </a:p>
          <a:p>
            <a:pPr eaLnBrk="1" hangingPunct="1"/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第 1 部分：显示 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(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BC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)(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AB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)(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AC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).</a:t>
            </a:r>
          </a:p>
          <a:p>
            <a:pPr eaLnBrk="1" hangingPunct="1"/>
            <a:r>
              <a:rPr lang="en-US" altLang="zh-CN" sz="2400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假设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(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BC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), &amp; 显示 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(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AB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)(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AC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)。</a:t>
            </a:r>
          </a:p>
          <a:p>
            <a:pPr eaLnBrk="1" hangingPunct="1"/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我们知道 </a:t>
            </a:r>
            <a:r>
              <a:rPr lang="en-US" altLang="zh-CN" sz="2400" i="1" dirty="0" err="1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400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solidFill>
                  <a:srgbClr val="030711"/>
                </a:solidFill>
                <a:ea typeface="宋体" panose="02010600030101010101" pitchFamily="2" charset="-122"/>
              </a:rPr>
              <a:t>A 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</a:rPr>
              <a:t>和 </a:t>
            </a:r>
            <a:r>
              <a:rPr lang="en-US" altLang="zh-CN" sz="2400" i="1" dirty="0" err="1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400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solidFill>
                  <a:srgbClr val="030711"/>
                </a:solidFill>
                <a:ea typeface="宋体" panose="02010600030101010101" pitchFamily="2" charset="-122"/>
              </a:rPr>
              <a:t>B 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</a:rPr>
              <a:t>或 </a:t>
            </a:r>
            <a:r>
              <a:rPr lang="en-US" altLang="zh-CN" sz="2400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solidFill>
                  <a:srgbClr val="030711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pPr eaLnBrk="1" hangingPunct="1"/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</a:rPr>
              <a:t>情况 1：</a:t>
            </a:r>
            <a:r>
              <a:rPr lang="en-US" altLang="zh-CN" sz="2400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solidFill>
                  <a:srgbClr val="03071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</a:rPr>
              <a:t>。  那么 </a:t>
            </a:r>
            <a:r>
              <a:rPr lang="en-US" altLang="zh-CN" sz="2400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xAB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，所以 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(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AB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)(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AC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)。</a:t>
            </a:r>
          </a:p>
          <a:p>
            <a:pPr eaLnBrk="1" hangingPunct="1"/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情况 2：</a:t>
            </a:r>
            <a:r>
              <a:rPr lang="en-US" altLang="zh-CN" sz="2400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400" i="1" dirty="0" err="1">
                <a:solidFill>
                  <a:srgbClr val="030711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</a:rPr>
              <a:t>那么 </a:t>
            </a:r>
            <a:r>
              <a:rPr lang="en-US" altLang="zh-CN" sz="2400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xAC 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，所以 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(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AB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)(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AC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)。</a:t>
            </a:r>
          </a:p>
          <a:p>
            <a:pPr eaLnBrk="1" hangingPunct="1"/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因此，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(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AB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)(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AC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)。</a:t>
            </a:r>
          </a:p>
          <a:p>
            <a:pPr eaLnBrk="1" hangingPunct="1"/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因此，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(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BC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)(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AB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)(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AC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)。</a:t>
            </a:r>
          </a:p>
          <a:p>
            <a:pPr eaLnBrk="1" hangingPunct="1"/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第 2 部分：显示 (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AB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)(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AC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 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(</a:t>
            </a:r>
            <a:r>
              <a:rPr lang="en-US" altLang="zh-CN" sz="2400" b="1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BC</a:t>
            </a:r>
            <a:r>
              <a:rPr lang="en-US" altLang="zh-CN" sz="24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)。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类比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55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5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5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55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55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55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55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55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18ACD7F-0704-4A35-A4B5-B08AF59C642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方法 2：逻辑相等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ea typeface="宋体" panose="02010600030101010101" pitchFamily="2" charset="-122"/>
                <a:sym typeface="Symbol" panose="05050102010706020507" pitchFamily="18" charset="2"/>
              </a:rPr>
              <a:t>这种方法的一个变种：转化为命题逻辑，然后在命题逻辑中进行推理，最后再转化回集合论。例如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显示 </a:t>
            </a:r>
            <a:r>
              <a:rPr lang="en-US" altLang="zh-CN" i="1" dirty="0">
                <a:ea typeface="宋体" panose="02010600030101010101" pitchFamily="2" charset="-122"/>
              </a:rPr>
              <a:t>A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BC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)(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AB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)(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AC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).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假设 </a:t>
            </a:r>
            <a:r>
              <a:rPr lang="en-US" altLang="zh-CN" i="1" dirty="0" err="1">
                <a:ea typeface="宋体" panose="02010600030101010101" pitchFamily="2" charset="-122"/>
              </a:rPr>
              <a:t>x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ea typeface="宋体" panose="02010600030101010101" pitchFamily="2" charset="-122"/>
              </a:rPr>
              <a:t>A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 (</a:t>
            </a:r>
            <a:r>
              <a:rPr lang="en-US" altLang="zh-CN" i="1" dirty="0" err="1">
                <a:ea typeface="宋体" panose="02010600030101010101" pitchFamily="2" charset="-122"/>
              </a:rPr>
              <a:t>x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ea typeface="宋体" panose="02010600030101010101" pitchFamily="2" charset="-122"/>
              </a:rPr>
              <a:t>B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ea typeface="宋体" panose="02010600030101010101" pitchFamily="2" charset="-122"/>
              </a:rPr>
              <a:t>C</a:t>
            </a:r>
            <a:r>
              <a:rPr lang="en-US" altLang="zh-CN" i="1" dirty="0">
                <a:ea typeface="宋体" panose="02010600030101010101" pitchFamily="2" charset="-122"/>
              </a:rPr>
              <a:t>)。 </a:t>
            </a:r>
            <a:br>
              <a:rPr lang="en-US" altLang="zh-CN" i="1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证明 (</a:t>
            </a:r>
            <a:r>
              <a:rPr lang="en-US" altLang="zh-CN" i="1" dirty="0" err="1">
                <a:ea typeface="宋体" panose="02010600030101010101" pitchFamily="2" charset="-122"/>
              </a:rPr>
              <a:t>x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ea typeface="宋体" panose="02010600030101010101" pitchFamily="2" charset="-122"/>
              </a:rPr>
              <a:t>A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 dirty="0" err="1">
                <a:ea typeface="宋体" panose="02010600030101010101" pitchFamily="2" charset="-122"/>
              </a:rPr>
              <a:t>x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ea typeface="宋体" panose="02010600030101010101" pitchFamily="2" charset="-122"/>
              </a:rPr>
              <a:t>B</a:t>
            </a:r>
            <a:r>
              <a:rPr lang="en-US" altLang="zh-CN" i="1" dirty="0">
                <a:ea typeface="宋体" panose="02010600030101010101" pitchFamily="2" charset="-122"/>
              </a:rPr>
              <a:t>)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 (</a:t>
            </a:r>
            <a:r>
              <a:rPr lang="en-US" altLang="zh-CN" i="1" dirty="0" err="1">
                <a:ea typeface="宋体" panose="02010600030101010101" pitchFamily="2" charset="-122"/>
              </a:rPr>
              <a:t>x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ea typeface="宋体" panose="02010600030101010101" pitchFamily="2" charset="-122"/>
              </a:rPr>
              <a:t>A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ea typeface="宋体" panose="02010600030101010101" pitchFamily="2" charset="-122"/>
              </a:rPr>
              <a:t>C</a:t>
            </a:r>
            <a:r>
              <a:rPr lang="en-US" altLang="zh-CN" i="1" dirty="0">
                <a:ea typeface="宋体" panose="02010600030101010101" pitchFamily="2" charset="-122"/>
              </a:rPr>
              <a:t>)。 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373F7A9-F041-4C5A-BA08-4D84B740E56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方法 3：</a:t>
            </a:r>
            <a:r>
              <a:rPr lang="zh-CN" altLang="en-US">
                <a:ea typeface="宋体" panose="02010600030101010101" pitchFamily="2" charset="-122"/>
              </a:rPr>
              <a:t>关系</a:t>
            </a:r>
            <a:r>
              <a:rPr lang="en-US" altLang="zh-CN">
                <a:ea typeface="宋体" panose="02010600030101010101" pitchFamily="2" charset="-122"/>
              </a:rPr>
              <a:t>表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就像命题逻辑的真值表一样。</a:t>
            </a: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关系表的列包含了出现在给定集合组合中的所有表达式</a:t>
            </a:r>
            <a:r>
              <a:rPr lang="en-US" altLang="zh-CN">
                <a:ea typeface="宋体" panose="02010600030101010101" pitchFamily="2" charset="-122"/>
              </a:rPr>
              <a:t>。</a:t>
            </a:r>
          </a:p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关系表的行表示表达式的关系</a:t>
            </a:r>
            <a:r>
              <a:rPr lang="en-US" altLang="zh-CN">
                <a:ea typeface="宋体" panose="02010600030101010101" pitchFamily="2" charset="-122"/>
              </a:rPr>
              <a:t>。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用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>
                <a:ea typeface="宋体" panose="02010600030101010101" pitchFamily="2" charset="-122"/>
              </a:rPr>
              <a:t>表示</a:t>
            </a:r>
            <a:r>
              <a:rPr lang="zh-CN" altLang="en-US">
                <a:ea typeface="宋体" panose="02010600030101010101" pitchFamily="2" charset="-122"/>
              </a:rPr>
              <a:t>有元素存在于这个表达式下</a:t>
            </a:r>
            <a:r>
              <a:rPr lang="en-US" altLang="zh-CN">
                <a:ea typeface="宋体" panose="02010600030101010101" pitchFamily="2" charset="-122"/>
              </a:rPr>
              <a:t>，用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>
                <a:ea typeface="宋体" panose="02010600030101010101" pitchFamily="2" charset="-122"/>
              </a:rPr>
              <a:t>表示</a:t>
            </a:r>
            <a:r>
              <a:rPr lang="zh-CN" altLang="en-US">
                <a:ea typeface="宋体" panose="02010600030101010101" pitchFamily="2" charset="-122"/>
              </a:rPr>
              <a:t>不存在满足该表达式的元素</a:t>
            </a:r>
            <a:r>
              <a:rPr lang="en-US" altLang="zh-CN">
                <a:ea typeface="宋体" panose="02010600030101010101" pitchFamily="2" charset="-122"/>
              </a:rPr>
              <a:t>。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用相同的列证明等价性。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C8FF1CC-5C9A-452F-9978-9EA0AD29269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关系</a:t>
            </a:r>
            <a:r>
              <a:rPr lang="en-US" altLang="zh-CN">
                <a:ea typeface="宋体" panose="02010600030101010101" pitchFamily="2" charset="-122"/>
              </a:rPr>
              <a:t>表示例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证明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=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 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71685" name="Object 4"/>
          <p:cNvGraphicFramePr>
            <a:graphicFrameLocks noChangeAspect="1"/>
          </p:cNvGraphicFramePr>
          <p:nvPr/>
        </p:nvGraphicFramePr>
        <p:xfrm>
          <a:off x="1081088" y="2649538"/>
          <a:ext cx="6850062" cy="319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315585" imgH="2639695" progId="Word.Document.8">
                  <p:embed/>
                </p:oleObj>
              </mc:Choice>
              <mc:Fallback>
                <p:oleObj r:id="rId4" imgW="5315585" imgH="263969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2649538"/>
                        <a:ext cx="6850062" cy="319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4" name="Oval 5"/>
          <p:cNvSpPr>
            <a:spLocks noChangeArrowheads="1"/>
          </p:cNvSpPr>
          <p:nvPr/>
        </p:nvSpPr>
        <p:spPr bwMode="auto">
          <a:xfrm>
            <a:off x="4865688" y="3268663"/>
            <a:ext cx="695325" cy="2522537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8615" name="Oval 6"/>
          <p:cNvSpPr>
            <a:spLocks noChangeArrowheads="1"/>
          </p:cNvSpPr>
          <p:nvPr/>
        </p:nvSpPr>
        <p:spPr bwMode="auto">
          <a:xfrm>
            <a:off x="6819900" y="3292475"/>
            <a:ext cx="695325" cy="2522538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8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4" grpId="0" animBg="1"/>
      <p:bldP spid="6861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8B4E24A-C2D5-4950-9C1F-8BFF8A9E193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关系</a:t>
            </a:r>
            <a:r>
              <a:rPr lang="en-US" altLang="zh-CN">
                <a:ea typeface="宋体" panose="02010600030101010101" pitchFamily="2" charset="-122"/>
              </a:rPr>
              <a:t>表练习</a:t>
            </a: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证明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= 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73733" name="Object 4"/>
          <p:cNvGraphicFramePr>
            <a:graphicFrameLocks noChangeAspect="1"/>
          </p:cNvGraphicFramePr>
          <p:nvPr/>
        </p:nvGraphicFramePr>
        <p:xfrm>
          <a:off x="900113" y="2638425"/>
          <a:ext cx="7002462" cy="325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925185" imgH="2858770" progId="Word.Document.8">
                  <p:embed/>
                </p:oleObj>
              </mc:Choice>
              <mc:Fallback>
                <p:oleObj r:id="rId2" imgW="5925185" imgH="285877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638425"/>
                        <a:ext cx="7002462" cy="325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73AE5DB-A2E5-478F-B34B-D18532FB4C6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关系</a:t>
            </a:r>
            <a:r>
              <a:rPr lang="en-US" altLang="zh-CN">
                <a:ea typeface="宋体" panose="02010600030101010101" pitchFamily="2" charset="-122"/>
              </a:rPr>
              <a:t>表练习</a:t>
            </a:r>
          </a:p>
        </p:txBody>
      </p:sp>
      <p:sp>
        <p:nvSpPr>
          <p:cNvPr id="7475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证明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= 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。</a:t>
            </a:r>
          </a:p>
        </p:txBody>
      </p:sp>
      <p:graphicFrame>
        <p:nvGraphicFramePr>
          <p:cNvPr id="74757" name="Object 4"/>
          <p:cNvGraphicFramePr>
            <a:graphicFrameLocks noChangeAspect="1"/>
          </p:cNvGraphicFramePr>
          <p:nvPr/>
        </p:nvGraphicFramePr>
        <p:xfrm>
          <a:off x="900113" y="2632075"/>
          <a:ext cx="6886575" cy="332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929630" imgH="2856230" progId="Word.Document.8">
                  <p:embed/>
                </p:oleObj>
              </mc:Choice>
              <mc:Fallback>
                <p:oleObj r:id="rId2" imgW="5929630" imgH="285623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632075"/>
                        <a:ext cx="6886575" cy="332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314CAC4-2AB9-45F9-BEE3-9AF822DB5C5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关系</a:t>
            </a:r>
            <a:r>
              <a:rPr lang="en-US" altLang="zh-CN">
                <a:ea typeface="宋体" panose="02010600030101010101" pitchFamily="2" charset="-122"/>
              </a:rPr>
              <a:t>表练习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证明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= 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。</a:t>
            </a:r>
          </a:p>
        </p:txBody>
      </p:sp>
      <p:graphicFrame>
        <p:nvGraphicFramePr>
          <p:cNvPr id="75781" name="Object 4"/>
          <p:cNvGraphicFramePr>
            <a:graphicFrameLocks noChangeAspect="1"/>
          </p:cNvGraphicFramePr>
          <p:nvPr/>
        </p:nvGraphicFramePr>
        <p:xfrm>
          <a:off x="900113" y="2632075"/>
          <a:ext cx="6886575" cy="332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929630" imgH="2856230" progId="Word.Document.8">
                  <p:embed/>
                </p:oleObj>
              </mc:Choice>
              <mc:Fallback>
                <p:oleObj r:id="rId2" imgW="5929630" imgH="285623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632075"/>
                        <a:ext cx="6886575" cy="332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26B32CF-FA09-402B-A768-6BCAD8986F8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关系表</a:t>
            </a:r>
            <a:r>
              <a:rPr lang="en-US" altLang="zh-CN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证明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= 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。</a:t>
            </a:r>
          </a:p>
        </p:txBody>
      </p:sp>
      <p:graphicFrame>
        <p:nvGraphicFramePr>
          <p:cNvPr id="76805" name="Object 4"/>
          <p:cNvGraphicFramePr>
            <a:graphicFrameLocks noChangeAspect="1"/>
          </p:cNvGraphicFramePr>
          <p:nvPr/>
        </p:nvGraphicFramePr>
        <p:xfrm>
          <a:off x="900113" y="2633663"/>
          <a:ext cx="6970712" cy="336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929630" imgH="2856230" progId="Word.Document.8">
                  <p:embed/>
                </p:oleObj>
              </mc:Choice>
              <mc:Fallback>
                <p:oleObj r:id="rId2" imgW="5929630" imgH="285623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633663"/>
                        <a:ext cx="6970712" cy="336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AF8288F-BF2D-4E0C-89EF-19A73FC4504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广义并集</a:t>
            </a: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二进制联合运算符：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AB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n-ary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union：</a:t>
            </a:r>
            <a:b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: ((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)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(分组和顺序无关）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大 U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符号</a:t>
            </a:r>
            <a:b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</a:b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或无限集合的集合：</a:t>
            </a:r>
            <a:b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</a:br>
            <a:endParaRPr lang="en-US" altLang="zh-CN" i="1" baseline="-250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77829" name="Object 5"/>
          <p:cNvGraphicFramePr>
            <a:graphicFrameLocks noChangeAspect="1"/>
          </p:cNvGraphicFramePr>
          <p:nvPr/>
        </p:nvGraphicFramePr>
        <p:xfrm>
          <a:off x="4267200" y="3429000"/>
          <a:ext cx="931863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2900" imgH="431800" progId="Equation.3">
                  <p:embed/>
                </p:oleObj>
              </mc:Choice>
              <mc:Fallback>
                <p:oleObj r:id="rId2" imgW="3429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429000"/>
                        <a:ext cx="931863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0" name="Object 6"/>
          <p:cNvGraphicFramePr>
            <a:graphicFrameLocks noChangeAspect="1"/>
          </p:cNvGraphicFramePr>
          <p:nvPr/>
        </p:nvGraphicFramePr>
        <p:xfrm>
          <a:off x="5715000" y="4572000"/>
          <a:ext cx="100965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42900" imgH="342900" progId="Equation.3">
                  <p:embed/>
                </p:oleObj>
              </mc:Choice>
              <mc:Fallback>
                <p:oleObj r:id="rId4" imgW="342900" imgH="342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572000"/>
                        <a:ext cx="1009650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C31A6DA-53E1-4EEF-915F-7E06786A6CD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广义交集</a:t>
            </a:r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二进制相交运算符：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AB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n-ary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交点：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((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)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)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(分组和顺序无关）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"大拱门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符号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或无限集合的集合：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78853" name="Object 5"/>
          <p:cNvGraphicFramePr>
            <a:graphicFrameLocks noChangeAspect="1"/>
          </p:cNvGraphicFramePr>
          <p:nvPr/>
        </p:nvGraphicFramePr>
        <p:xfrm>
          <a:off x="4648200" y="3429000"/>
          <a:ext cx="931863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2900" imgH="431800" progId="Equation.3">
                  <p:embed/>
                </p:oleObj>
              </mc:Choice>
              <mc:Fallback>
                <p:oleObj r:id="rId2" imgW="3429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429000"/>
                        <a:ext cx="931863" cy="117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4" name="Object 6"/>
          <p:cNvGraphicFramePr>
            <a:graphicFrameLocks noChangeAspect="1"/>
          </p:cNvGraphicFramePr>
          <p:nvPr/>
        </p:nvGraphicFramePr>
        <p:xfrm>
          <a:off x="5715000" y="4572000"/>
          <a:ext cx="100965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42900" imgH="342900" progId="Equation.3">
                  <p:embed/>
                </p:oleObj>
              </mc:Choice>
              <mc:Fallback>
                <p:oleObj r:id="rId4" imgW="342900" imgH="342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572000"/>
                        <a:ext cx="1009650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298F3AD-E35A-4B40-BB54-F5577AA236A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1140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  <a:blipFill>
            <a:blip r:embed="rId2"/>
            <a:stretch>
              <a:fillRect l="-1467" t="-141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2" name="矩形 1"/>
          <p:cNvSpPr/>
          <p:nvPr/>
        </p:nvSpPr>
        <p:spPr>
          <a:xfrm>
            <a:off x="762000" y="1524000"/>
            <a:ext cx="403860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2160" y="1459230"/>
            <a:ext cx="4028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ym typeface="+mn-ea"/>
              </a:rPr>
              <a:t> </a:t>
            </a:r>
            <a:r>
              <a:rPr lang="en-US" altLang="zh-CN" sz="2800" b="1" dirty="0" err="1">
                <a:sym typeface="+mn-ea"/>
              </a:rPr>
              <a:t>下列哪项陈述是正确的</a:t>
            </a:r>
            <a:endParaRPr lang="en-US" altLang="zh-CN" sz="2800" b="1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4980" y="129222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6D7C86-4382-4632-1B96-7067409F6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110" y="1519275"/>
            <a:ext cx="609600" cy="4619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16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86A8EED-8676-4A86-83D7-19CC50006AA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075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1075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sz="2800" b="1" dirty="0">
                <a:ea typeface="宋体" panose="02010600030101010101" pitchFamily="2" charset="-122"/>
              </a:rPr>
              <a:t>17.</a:t>
            </a:r>
            <a:r>
              <a:rPr lang="zh-CN" altLang="zh-CN" dirty="0">
                <a:ea typeface="宋体" panose="02010600030101010101" pitchFamily="2" charset="-122"/>
              </a:rPr>
              <a:t>|A∪B∪C|= </a:t>
            </a:r>
            <a:r>
              <a:rPr lang="en-US" altLang="zh-CN" dirty="0">
                <a:ea typeface="宋体" panose="02010600030101010101" pitchFamily="2" charset="-122"/>
              </a:rPr>
              <a:t>()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A.|A|+|B∪C|           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 err="1">
                <a:ea typeface="宋体" panose="02010600030101010101" pitchFamily="2" charset="-122"/>
              </a:rPr>
              <a:t>B.|a</a:t>
            </a:r>
            <a:r>
              <a:rPr lang="en-US" altLang="zh-CN" dirty="0">
                <a:ea typeface="宋体" panose="02010600030101010101" pitchFamily="2" charset="-122"/>
              </a:rPr>
              <a:t>|+|b|+|c|-|a∩b|-|c∩b|-|a∩c|+|a∩b∩c|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C.|A∪B|+||C|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D.|a|+|b|+|c|+|a∩b|+|</a:t>
            </a:r>
            <a:r>
              <a:rPr lang="en-US" altLang="zh-CN" sz="2800" b="1" dirty="0">
                <a:ea typeface="宋体" panose="02010600030101010101" pitchFamily="2" charset="-122"/>
              </a:rPr>
              <a:t>c∩b|+|a∩c|-|</a:t>
            </a:r>
            <a:r>
              <a:rPr lang="en-US" altLang="zh-CN" sz="2800" b="1" dirty="0" err="1">
                <a:ea typeface="宋体" panose="02010600030101010101" pitchFamily="2" charset="-122"/>
              </a:rPr>
              <a:t>a∩b∩c</a:t>
            </a:r>
            <a:r>
              <a:rPr lang="en-US" altLang="zh-CN" sz="2800" b="1" dirty="0">
                <a:ea typeface="宋体" panose="02010600030101010101" pitchFamily="2" charset="-122"/>
              </a:rPr>
              <a:t>|</a:t>
            </a:r>
          </a:p>
          <a:p>
            <a:endParaRPr lang="en-US" altLang="zh-CN" sz="2800" b="1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800" b="1" dirty="0">
                <a:ea typeface="宋体" panose="02010600030101010101" pitchFamily="2" charset="-122"/>
              </a:rPr>
              <a:t>A=a, B=b, C=c </a:t>
            </a:r>
            <a:endParaRPr lang="en-US" altLang="zh-CN" sz="2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7C1B930-A6DF-4E2F-93DE-A0E848EC74A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1140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  <a:blipFill>
            <a:blip r:embed="rId2"/>
            <a:stretch>
              <a:fillRect l="-1467" t="-167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110597" name="矩形 5"/>
          <p:cNvSpPr>
            <a:spLocks noChangeArrowheads="1"/>
          </p:cNvSpPr>
          <p:nvPr/>
        </p:nvSpPr>
        <p:spPr bwMode="auto">
          <a:xfrm>
            <a:off x="4356100" y="2497138"/>
            <a:ext cx="555625" cy="647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110598" name="矩形 1"/>
          <p:cNvSpPr>
            <a:spLocks noChangeArrowheads="1"/>
          </p:cNvSpPr>
          <p:nvPr/>
        </p:nvSpPr>
        <p:spPr bwMode="auto">
          <a:xfrm>
            <a:off x="4370388" y="2384425"/>
            <a:ext cx="5556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3600"/>
              <a:t>C</a:t>
            </a:r>
            <a:endParaRPr lang="zh-CN" altLang="en-US" sz="3600"/>
          </a:p>
        </p:txBody>
      </p:sp>
      <p:sp>
        <p:nvSpPr>
          <p:cNvPr id="2" name="矩形 1"/>
          <p:cNvSpPr/>
          <p:nvPr/>
        </p:nvSpPr>
        <p:spPr>
          <a:xfrm>
            <a:off x="990600" y="1447800"/>
            <a:ext cx="2438400" cy="5930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            假设</a:t>
            </a:r>
          </a:p>
        </p:txBody>
      </p:sp>
      <p:sp>
        <p:nvSpPr>
          <p:cNvPr id="3" name="矩形 2"/>
          <p:cNvSpPr/>
          <p:nvPr/>
        </p:nvSpPr>
        <p:spPr>
          <a:xfrm>
            <a:off x="4370705" y="1447800"/>
            <a:ext cx="762000" cy="55499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和</a:t>
            </a:r>
          </a:p>
        </p:txBody>
      </p:sp>
      <p:sp>
        <p:nvSpPr>
          <p:cNvPr id="4" name="矩形 3"/>
          <p:cNvSpPr/>
          <p:nvPr/>
        </p:nvSpPr>
        <p:spPr>
          <a:xfrm>
            <a:off x="381000" y="2497455"/>
            <a:ext cx="3414395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algn="l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是全集</a:t>
            </a:r>
          </a:p>
        </p:txBody>
      </p:sp>
      <p:sp>
        <p:nvSpPr>
          <p:cNvPr id="5" name="矩形 4"/>
          <p:cNvSpPr/>
          <p:nvPr/>
        </p:nvSpPr>
        <p:spPr>
          <a:xfrm>
            <a:off x="3886200" y="1988185"/>
            <a:ext cx="439547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下列哪个选项是正确的</a:t>
            </a:r>
          </a:p>
        </p:txBody>
      </p:sp>
      <p:sp>
        <p:nvSpPr>
          <p:cNvPr id="6" name="矩形 5"/>
          <p:cNvSpPr/>
          <p:nvPr/>
        </p:nvSpPr>
        <p:spPr>
          <a:xfrm>
            <a:off x="457200" y="1988185"/>
            <a:ext cx="654050" cy="4572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622290" y="1447800"/>
            <a:ext cx="3220720" cy="5340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有如下性质成立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04875" y="4191000"/>
            <a:ext cx="408940" cy="48958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若</a:t>
            </a:r>
          </a:p>
        </p:txBody>
      </p:sp>
      <p:sp>
        <p:nvSpPr>
          <p:cNvPr id="9" name="矩形 8"/>
          <p:cNvSpPr/>
          <p:nvPr/>
        </p:nvSpPr>
        <p:spPr>
          <a:xfrm>
            <a:off x="838200" y="4800600"/>
            <a:ext cx="475615" cy="46482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若</a:t>
            </a:r>
          </a:p>
        </p:txBody>
      </p:sp>
      <p:sp>
        <p:nvSpPr>
          <p:cNvPr id="10" name="矩形 9"/>
          <p:cNvSpPr/>
          <p:nvPr/>
        </p:nvSpPr>
        <p:spPr>
          <a:xfrm>
            <a:off x="4191000" y="4191000"/>
            <a:ext cx="885825" cy="48958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 </a:t>
            </a:r>
            <a:r>
              <a:rPr kumimoji="0" lang="zh-CN" altLang="en-US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则</a:t>
            </a:r>
          </a:p>
        </p:txBody>
      </p:sp>
      <p:sp>
        <p:nvSpPr>
          <p:cNvPr id="11" name="矩形 10"/>
          <p:cNvSpPr/>
          <p:nvPr/>
        </p:nvSpPr>
        <p:spPr>
          <a:xfrm>
            <a:off x="2590800" y="4775835"/>
            <a:ext cx="885825" cy="48958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 </a:t>
            </a:r>
            <a:r>
              <a:rPr kumimoji="0" lang="zh-CN" altLang="en-US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则</a:t>
            </a:r>
          </a:p>
        </p:txBody>
      </p:sp>
      <p:sp>
        <p:nvSpPr>
          <p:cNvPr id="12" name="矩形 11"/>
          <p:cNvSpPr/>
          <p:nvPr/>
        </p:nvSpPr>
        <p:spPr>
          <a:xfrm>
            <a:off x="4205287" y="4191000"/>
            <a:ext cx="885825" cy="48958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 </a:t>
            </a:r>
            <a:r>
              <a:rPr kumimoji="0" lang="zh-CN" altLang="en-US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则</a:t>
            </a:r>
          </a:p>
        </p:txBody>
      </p:sp>
      <p:sp>
        <p:nvSpPr>
          <p:cNvPr id="13" name="矩形 12"/>
          <p:cNvSpPr/>
          <p:nvPr/>
        </p:nvSpPr>
        <p:spPr>
          <a:xfrm>
            <a:off x="4436745" y="2498090"/>
            <a:ext cx="394335" cy="48958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 </a:t>
            </a:r>
            <a:endParaRPr kumimoji="0" lang="zh-CN" altLang="en-US" sz="3200" b="0" i="0" u="none" strike="noStrike" cap="none" normalizeH="0" baseline="0" dirty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772824D5-EFA3-0413-2947-950D8BCDF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524000"/>
            <a:ext cx="609600" cy="4619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/>
              <a:t>18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3C8E8F10-F432-474D-AA5D-A32D2B1ED09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16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1140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  <a:blipFill>
            <a:blip r:embed="rId2"/>
            <a:stretch>
              <a:fillRect l="-1467" t="-1677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1110" y="1447800"/>
            <a:ext cx="639919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19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17DE15A-77C9-4908-9C26-845033B44D0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84996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84998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85003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85004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84999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5000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5001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5002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84997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lnSpc>
                <a:spcPct val="8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应用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示例 1</a:t>
            </a:r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86019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269875" y="1503363"/>
            <a:ext cx="8264525" cy="48799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30711"/>
                </a:solidFill>
                <a:ea typeface="宋体" panose="02010600030101010101" pitchFamily="2" charset="-122"/>
              </a:rPr>
              <a:t>     某个研究所有170名职工，其中120人会英语，80人会法语，60人会日语，50人会英语和法语，25人会英语和日语，30人会法语和日语，10人会英语、日语和法语。</a:t>
            </a:r>
            <a:endParaRPr lang="zh-CN" altLang="zh-CN" sz="2400" b="1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82948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8AF5BFD-C8CC-425F-98FE-88CA6D799B8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示例 1</a:t>
            </a:r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87043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204788" y="1419225"/>
            <a:ext cx="8229600" cy="48799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zh-CN" sz="2000" dirty="0">
                <a:solidFill>
                  <a:srgbClr val="030711"/>
                </a:solidFill>
                <a:ea typeface="宋体" panose="02010600030101010101" pitchFamily="2" charset="-122"/>
              </a:rPr>
              <a:t>     </a:t>
            </a:r>
            <a:r>
              <a:rPr lang="zh-CN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某个研究所有170名职工，其中120人会英语，80人会法语，60人会日语，50人会英语和法语，25人会英语和日语，30人会法语和日语，10人会英语、日语和法语。问有多少人不会这三种语言？</a:t>
            </a:r>
            <a:endParaRPr lang="zh-CN" altLang="en-US" sz="2000" b="1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   </a:t>
            </a:r>
            <a:endParaRPr lang="zh-CN" altLang="en-US" sz="2000" b="1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    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解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: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令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U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为全集，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E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J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分别为会英语、法语和日语</a:t>
            </a:r>
            <a:endParaRPr lang="zh-CN" altLang="en-US" sz="2000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        人的集合。|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U|=170</a:t>
            </a:r>
            <a:endParaRPr lang="en-US" altLang="zh-CN" sz="2000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        |E|=120 |F|=80 |J|=60 |E∩F|=50 </a:t>
            </a:r>
            <a:endParaRPr lang="en-US" altLang="zh-CN" sz="2000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        |E∩J|=25 |F∩J|=30 |E∩F∩J|=10</a:t>
            </a:r>
            <a:endParaRPr lang="en-US" altLang="zh-CN" sz="2000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        |E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∪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∪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J|=|E|+|F|+|J|-|E∩F|-|E∩J|-|F∩J|+|E∩F∩J|</a:t>
            </a:r>
            <a:endParaRPr lang="en-US" altLang="zh-CN" sz="2000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                        = 120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＋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80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＋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60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－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50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－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25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－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30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＋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10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＝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165</a:t>
            </a:r>
            <a:endParaRPr lang="en-US" altLang="zh-CN" sz="2000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         |U-(E∪F∪J)|=170-165=5   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即有</a:t>
            </a:r>
            <a:r>
              <a:rPr lang="en-US" altLang="zh-CN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5</a:t>
            </a:r>
            <a:r>
              <a:rPr lang="zh-CN" altLang="en-US" sz="2000" dirty="0">
                <a:solidFill>
                  <a:srgbClr val="030711"/>
                </a:solidFill>
                <a:ea typeface="宋体" panose="02010600030101010101" pitchFamily="2" charset="-122"/>
                <a:sym typeface="+mn-ea"/>
              </a:rPr>
              <a:t>人不会这三种语言。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83972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77333D7-095C-4FDC-BBE6-98EA3A5ACFB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grpSp>
        <p:nvGrpSpPr>
          <p:cNvPr id="87045" name="Group 16"/>
          <p:cNvGrpSpPr/>
          <p:nvPr/>
        </p:nvGrpSpPr>
        <p:grpSpPr bwMode="auto">
          <a:xfrm>
            <a:off x="6650038" y="2765425"/>
            <a:ext cx="2438400" cy="2189163"/>
            <a:chOff x="0" y="0"/>
            <a:chExt cx="1536" cy="1379"/>
          </a:xfrm>
        </p:grpSpPr>
        <p:sp>
          <p:nvSpPr>
            <p:cNvPr id="87046" name="Rectangle 5"/>
            <p:cNvSpPr>
              <a:spLocks noChangeArrowheads="1"/>
            </p:cNvSpPr>
            <p:nvPr/>
          </p:nvSpPr>
          <p:spPr bwMode="auto">
            <a:xfrm>
              <a:off x="0" y="35"/>
              <a:ext cx="1488" cy="13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7047" name="Oval 6"/>
            <p:cNvSpPr>
              <a:spLocks noChangeArrowheads="1"/>
            </p:cNvSpPr>
            <p:nvPr/>
          </p:nvSpPr>
          <p:spPr bwMode="auto">
            <a:xfrm>
              <a:off x="144" y="144"/>
              <a:ext cx="768" cy="76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7048" name="Oval 7"/>
            <p:cNvSpPr>
              <a:spLocks noChangeArrowheads="1"/>
            </p:cNvSpPr>
            <p:nvPr/>
          </p:nvSpPr>
          <p:spPr bwMode="auto">
            <a:xfrm>
              <a:off x="624" y="144"/>
              <a:ext cx="816" cy="7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7049" name="Oval 8"/>
            <p:cNvSpPr>
              <a:spLocks noChangeArrowheads="1"/>
            </p:cNvSpPr>
            <p:nvPr/>
          </p:nvSpPr>
          <p:spPr bwMode="auto">
            <a:xfrm>
              <a:off x="384" y="576"/>
              <a:ext cx="816" cy="7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7050" name="Text Box 9"/>
            <p:cNvSpPr txBox="1">
              <a:spLocks noChangeArrowheads="1"/>
            </p:cNvSpPr>
            <p:nvPr/>
          </p:nvSpPr>
          <p:spPr bwMode="auto">
            <a:xfrm>
              <a:off x="288" y="33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/>
                <a:t>E</a:t>
              </a:r>
            </a:p>
          </p:txBody>
        </p:sp>
        <p:sp>
          <p:nvSpPr>
            <p:cNvPr id="87051" name="Text Box 10"/>
            <p:cNvSpPr txBox="1">
              <a:spLocks noChangeArrowheads="1"/>
            </p:cNvSpPr>
            <p:nvPr/>
          </p:nvSpPr>
          <p:spPr bwMode="auto">
            <a:xfrm>
              <a:off x="1008" y="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/>
                <a:t>F</a:t>
              </a:r>
            </a:p>
          </p:txBody>
        </p:sp>
        <p:sp>
          <p:nvSpPr>
            <p:cNvPr id="87052" name="Text Box 11"/>
            <p:cNvSpPr txBox="1">
              <a:spLocks noChangeArrowheads="1"/>
            </p:cNvSpPr>
            <p:nvPr/>
          </p:nvSpPr>
          <p:spPr bwMode="auto">
            <a:xfrm>
              <a:off x="720" y="96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/>
                <a:t>J</a:t>
              </a:r>
            </a:p>
          </p:txBody>
        </p:sp>
        <p:sp>
          <p:nvSpPr>
            <p:cNvPr id="87053" name="Text Box 12"/>
            <p:cNvSpPr txBox="1">
              <a:spLocks noChangeArrowheads="1"/>
            </p:cNvSpPr>
            <p:nvPr/>
          </p:nvSpPr>
          <p:spPr bwMode="auto">
            <a:xfrm>
              <a:off x="624" y="5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/>
                <a:t>10</a:t>
              </a:r>
            </a:p>
          </p:txBody>
        </p:sp>
        <p:sp>
          <p:nvSpPr>
            <p:cNvPr id="87054" name="Text Box 15"/>
            <p:cNvSpPr txBox="1">
              <a:spLocks noChangeArrowheads="1"/>
            </p:cNvSpPr>
            <p:nvPr/>
          </p:nvSpPr>
          <p:spPr bwMode="auto">
            <a:xfrm>
              <a:off x="1248" y="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/>
                <a:t>U</a:t>
              </a: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示例 2</a:t>
            </a:r>
          </a:p>
        </p:txBody>
      </p:sp>
      <p:sp>
        <p:nvSpPr>
          <p:cNvPr id="82948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020D96C-3A2C-4488-8108-DF3A17A7B3C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pic>
        <p:nvPicPr>
          <p:cNvPr id="8806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1577975"/>
            <a:ext cx="7804150" cy="213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示例 2</a:t>
            </a:r>
          </a:p>
        </p:txBody>
      </p:sp>
      <p:sp>
        <p:nvSpPr>
          <p:cNvPr id="82948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D0ADC10-9651-4DF4-9619-6021588D787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pic>
        <p:nvPicPr>
          <p:cNvPr id="89092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8" y="1414463"/>
            <a:ext cx="7362825" cy="530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794878C-C7B1-4FB7-8311-AE246B5B7AC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310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13107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sz="2800" b="1" dirty="0">
                <a:ea typeface="宋体" panose="02010600030101010101" pitchFamily="2" charset="-122"/>
              </a:rPr>
              <a:t>20.</a:t>
            </a:r>
            <a:r>
              <a:rPr lang="en-US" altLang="zh-CN" dirty="0">
                <a:ea typeface="宋体" panose="02010600030101010101" pitchFamily="2" charset="-122"/>
              </a:rPr>
              <a:t>200 人中有 150 人讲英语或德语或两种语言都讲，如果有 85 人讲英语，60 人两种语言都讲，那么有多少人讲德语________。</a:t>
            </a:r>
            <a:endParaRPr lang="en-US" altLang="zh-CN" sz="2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ECD453A-D8B4-40C8-8796-3BABCF52E49E}" type="slidenum">
              <a:rPr lang="en-US" altLang="zh-CN" sz="1200"/>
              <a:t>76</a:t>
            </a:fld>
            <a:endParaRPr lang="en-US" altLang="zh-CN" sz="1200"/>
          </a:p>
        </p:txBody>
      </p:sp>
      <p:sp>
        <p:nvSpPr>
          <p:cNvPr id="136195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DE38B5A-EAB8-4B34-9A91-0C671C74DABF}" type="slidenum">
              <a:rPr lang="en-US" altLang="zh-CN" sz="1200"/>
              <a:t>76</a:t>
            </a:fld>
            <a:endParaRPr lang="en-US" altLang="zh-CN" sz="1200"/>
          </a:p>
        </p:txBody>
      </p:sp>
      <p:sp>
        <p:nvSpPr>
          <p:cNvPr id="86020" name="WordArt 2"/>
          <p:cNvSpPr>
            <a:spLocks noChangeArrowheads="1" noChangeShapeType="1" noTextEdit="1"/>
          </p:cNvSpPr>
          <p:nvPr/>
        </p:nvSpPr>
        <p:spPr bwMode="auto">
          <a:xfrm>
            <a:off x="1295400" y="4267200"/>
            <a:ext cx="64008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第 2.1 节结束</a:t>
            </a:r>
            <a:endParaRPr lang="zh-CN" altLang="en-US" sz="3600" b="1" kern="1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mple">
  <a:themeElements>
    <a:clrScheme name="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ample">
  <a:themeElements>
    <a:clrScheme name="1_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1_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sample">
  <a:themeElements>
    <a:clrScheme name="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顶级ppt模版1</Template>
  <TotalTime>99</TotalTime>
  <Words>3316</Words>
  <Application>Microsoft Macintosh PowerPoint</Application>
  <PresentationFormat>全屏显示(4:3)</PresentationFormat>
  <Paragraphs>475</Paragraphs>
  <Slides>76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76</vt:i4>
      </vt:variant>
    </vt:vector>
  </HeadingPairs>
  <TitlesOfParts>
    <vt:vector size="92" baseType="lpstr">
      <vt:lpstr>宋体</vt:lpstr>
      <vt:lpstr>Beesknees ITC</vt:lpstr>
      <vt:lpstr>Euclid</vt:lpstr>
      <vt:lpstr>Arial</vt:lpstr>
      <vt:lpstr>Arial Black</vt:lpstr>
      <vt:lpstr>Cambria Math</vt:lpstr>
      <vt:lpstr>Impact</vt:lpstr>
      <vt:lpstr>Times New Roman</vt:lpstr>
      <vt:lpstr>Verdana</vt:lpstr>
      <vt:lpstr>Wingdings</vt:lpstr>
      <vt:lpstr>sample</vt:lpstr>
      <vt:lpstr>1_sample</vt:lpstr>
      <vt:lpstr>2_sample</vt:lpstr>
      <vt:lpstr>Equation.DSMT4</vt:lpstr>
      <vt:lpstr>Equation.3</vt:lpstr>
      <vt:lpstr>Word.Document.8</vt:lpstr>
      <vt:lpstr>PowerPoint 演示文稿</vt:lpstr>
      <vt:lpstr>PowerPoint 演示文稿</vt:lpstr>
      <vt:lpstr>目录</vt:lpstr>
      <vt:lpstr>PowerPoint 演示文稿</vt:lpstr>
      <vt:lpstr>集合导论</vt:lpstr>
      <vt:lpstr>PowerPoint 演示文稿</vt:lpstr>
      <vt:lpstr>PowerPoint 演示文稿</vt:lpstr>
      <vt:lpstr>集合的基本性质</vt:lpstr>
      <vt:lpstr>练习</vt:lpstr>
      <vt:lpstr>维恩图/欧拉图</vt:lpstr>
      <vt:lpstr>空集</vt:lpstr>
      <vt:lpstr>子集和超集关系</vt:lpstr>
      <vt:lpstr>子集和超集关系</vt:lpstr>
      <vt:lpstr>子集和超集关系</vt:lpstr>
      <vt:lpstr>真子集与超集</vt:lpstr>
      <vt:lpstr>集合也是对象</vt:lpstr>
      <vt:lpstr>集合也是对象</vt:lpstr>
      <vt:lpstr>基数与有限性</vt:lpstr>
      <vt:lpstr>示例 </vt:lpstr>
      <vt:lpstr>PowerPoint 演示文稿</vt:lpstr>
      <vt:lpstr>罗素悖论</vt:lpstr>
      <vt:lpstr>练习</vt:lpstr>
      <vt:lpstr>练习</vt:lpstr>
      <vt:lpstr>练习</vt:lpstr>
      <vt:lpstr>练习</vt:lpstr>
      <vt:lpstr>练习</vt:lpstr>
      <vt:lpstr>练习</vt:lpstr>
      <vt:lpstr>PowerPoint 演示文稿</vt:lpstr>
      <vt:lpstr>幂集的操作</vt:lpstr>
      <vt:lpstr>实例</vt:lpstr>
      <vt:lpstr>集合的笛卡儿积</vt:lpstr>
      <vt:lpstr>示例 </vt:lpstr>
      <vt:lpstr>集合的笛卡儿积</vt:lpstr>
      <vt:lpstr>使用带量词的集合符号</vt:lpstr>
      <vt:lpstr>练习</vt:lpstr>
      <vt:lpstr>练习</vt:lpstr>
      <vt:lpstr>练习</vt:lpstr>
      <vt:lpstr>PowerPoint 演示文稿</vt:lpstr>
      <vt:lpstr>并运算</vt:lpstr>
      <vt:lpstr>并运算示例</vt:lpstr>
      <vt:lpstr>交运算</vt:lpstr>
      <vt:lpstr>交运算示例</vt:lpstr>
      <vt:lpstr>练习</vt:lpstr>
      <vt:lpstr>集合的差</vt:lpstr>
      <vt:lpstr>集合差示例</vt:lpstr>
      <vt:lpstr>集合的差 - 维恩图</vt:lpstr>
      <vt:lpstr>练习</vt:lpstr>
      <vt:lpstr>练习</vt:lpstr>
      <vt:lpstr>补集</vt:lpstr>
      <vt:lpstr>集合的性质</vt:lpstr>
      <vt:lpstr>(不用担心他们的名字）</vt:lpstr>
      <vt:lpstr>德摩根集合定律</vt:lpstr>
      <vt:lpstr>练习</vt:lpstr>
      <vt:lpstr>练习</vt:lpstr>
      <vt:lpstr>证明集合同一性</vt:lpstr>
      <vt:lpstr>方法 1：相互子集</vt:lpstr>
      <vt:lpstr>方法 2：逻辑相等</vt:lpstr>
      <vt:lpstr>方法 3：关系表</vt:lpstr>
      <vt:lpstr>关系表示例</vt:lpstr>
      <vt:lpstr>关系表练习</vt:lpstr>
      <vt:lpstr>关系表练习</vt:lpstr>
      <vt:lpstr>关系表练习</vt:lpstr>
      <vt:lpstr>关系表练习</vt:lpstr>
      <vt:lpstr>广义并集</vt:lpstr>
      <vt:lpstr>广义交集</vt:lpstr>
      <vt:lpstr>练习</vt:lpstr>
      <vt:lpstr>练习</vt:lpstr>
      <vt:lpstr>练习</vt:lpstr>
      <vt:lpstr>练习</vt:lpstr>
      <vt:lpstr>PowerPoint 演示文稿</vt:lpstr>
      <vt:lpstr>示例 1</vt:lpstr>
      <vt:lpstr>示例 1</vt:lpstr>
      <vt:lpstr>示例 2</vt:lpstr>
      <vt:lpstr>示例 2</vt:lpstr>
      <vt:lpstr>练习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keywords>, docId:7D4E1DFEA0EECB7026AADAEB74351680</cp:keywords>
  <cp:lastModifiedBy>Ying Su</cp:lastModifiedBy>
  <cp:revision>385</cp:revision>
  <dcterms:created xsi:type="dcterms:W3CDTF">2015-09-29T10:25:00Z</dcterms:created>
  <dcterms:modified xsi:type="dcterms:W3CDTF">2026-09-20T03:36:49Z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2052-12.1.0.20784</vt:lpwstr>
  </property>
  <property fmtid="{D5CDD505-2E9C-101B-9397-08002B2CF9AE}" pid="4" name="ICV">
    <vt:lpwstr>6A966C963AAE40D18C146790F6FFD653_12</vt:lpwstr>
  </property>
</Properties>
</file>