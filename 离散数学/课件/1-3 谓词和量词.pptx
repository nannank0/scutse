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  <p:sldMasterId id="2147483672" r:id="rId3"/>
  </p:sldMasterIdLst>
  <p:notesMasterIdLst>
    <p:notesMasterId r:id="rId84"/>
  </p:notesMasterIdLst>
  <p:sldIdLst>
    <p:sldId id="256" r:id="rId4"/>
    <p:sldId id="257" r:id="rId5"/>
    <p:sldId id="269" r:id="rId6"/>
    <p:sldId id="270" r:id="rId7"/>
    <p:sldId id="258" r:id="rId8"/>
    <p:sldId id="342" r:id="rId9"/>
    <p:sldId id="343" r:id="rId10"/>
    <p:sldId id="286" r:id="rId11"/>
    <p:sldId id="287" r:id="rId12"/>
    <p:sldId id="288" r:id="rId13"/>
    <p:sldId id="289" r:id="rId14"/>
    <p:sldId id="271" r:id="rId15"/>
    <p:sldId id="272" r:id="rId16"/>
    <p:sldId id="273" r:id="rId17"/>
    <p:sldId id="290" r:id="rId18"/>
    <p:sldId id="297" r:id="rId19"/>
    <p:sldId id="291" r:id="rId20"/>
    <p:sldId id="295" r:id="rId21"/>
    <p:sldId id="292" r:id="rId22"/>
    <p:sldId id="293" r:id="rId23"/>
    <p:sldId id="294" r:id="rId24"/>
    <p:sldId id="296" r:id="rId25"/>
    <p:sldId id="274" r:id="rId26"/>
    <p:sldId id="275" r:id="rId27"/>
    <p:sldId id="298" r:id="rId28"/>
    <p:sldId id="299" r:id="rId29"/>
    <p:sldId id="301" r:id="rId30"/>
    <p:sldId id="300" r:id="rId31"/>
    <p:sldId id="366" r:id="rId32"/>
    <p:sldId id="279" r:id="rId33"/>
    <p:sldId id="303" r:id="rId34"/>
    <p:sldId id="278" r:id="rId35"/>
    <p:sldId id="280" r:id="rId36"/>
    <p:sldId id="307" r:id="rId37"/>
    <p:sldId id="306" r:id="rId38"/>
    <p:sldId id="382" r:id="rId39"/>
    <p:sldId id="402" r:id="rId40"/>
    <p:sldId id="302" r:id="rId41"/>
    <p:sldId id="304" r:id="rId42"/>
    <p:sldId id="308" r:id="rId43"/>
    <p:sldId id="312" r:id="rId44"/>
    <p:sldId id="309" r:id="rId45"/>
    <p:sldId id="310" r:id="rId46"/>
    <p:sldId id="360" r:id="rId47"/>
    <p:sldId id="362" r:id="rId48"/>
    <p:sldId id="401" r:id="rId49"/>
    <p:sldId id="419" r:id="rId50"/>
    <p:sldId id="414" r:id="rId51"/>
    <p:sldId id="415" r:id="rId52"/>
    <p:sldId id="416" r:id="rId53"/>
    <p:sldId id="417" r:id="rId54"/>
    <p:sldId id="325" r:id="rId55"/>
    <p:sldId id="368" r:id="rId56"/>
    <p:sldId id="355" r:id="rId57"/>
    <p:sldId id="313" r:id="rId58"/>
    <p:sldId id="311" r:id="rId59"/>
    <p:sldId id="316" r:id="rId60"/>
    <p:sldId id="314" r:id="rId61"/>
    <p:sldId id="315" r:id="rId62"/>
    <p:sldId id="367" r:id="rId63"/>
    <p:sldId id="396" r:id="rId64"/>
    <p:sldId id="318" r:id="rId65"/>
    <p:sldId id="319" r:id="rId66"/>
    <p:sldId id="320" r:id="rId67"/>
    <p:sldId id="321" r:id="rId68"/>
    <p:sldId id="322" r:id="rId69"/>
    <p:sldId id="323" r:id="rId70"/>
    <p:sldId id="324" r:id="rId71"/>
    <p:sldId id="327" r:id="rId72"/>
    <p:sldId id="329" r:id="rId73"/>
    <p:sldId id="330" r:id="rId74"/>
    <p:sldId id="331" r:id="rId75"/>
    <p:sldId id="262" r:id="rId76"/>
    <p:sldId id="268" r:id="rId77"/>
    <p:sldId id="409" r:id="rId78"/>
    <p:sldId id="410" r:id="rId79"/>
    <p:sldId id="411" r:id="rId80"/>
    <p:sldId id="412" r:id="rId81"/>
    <p:sldId id="413" r:id="rId82"/>
    <p:sldId id="326" r:id="rId83"/>
  </p:sldIdLst>
  <p:sldSz cx="9144000" cy="6858000" type="screen4x3"/>
  <p:notesSz cx="6858000" cy="9144000"/>
  <p:custDataLst>
    <p:tags r:id="rId85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92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FF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242" autoAdjust="0"/>
    <p:restoredTop sz="83123" autoAdjust="0"/>
  </p:normalViewPr>
  <p:slideViewPr>
    <p:cSldViewPr showGuides="1">
      <p:cViewPr varScale="1">
        <p:scale>
          <a:sx n="102" d="100"/>
          <a:sy n="102" d="100"/>
        </p:scale>
        <p:origin x="456" y="176"/>
      </p:cViewPr>
      <p:guideLst>
        <p:guide orient="horz" pos="2160"/>
        <p:guide pos="292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198" cy="7619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slide" Target="slides/slide65.xml"/><Relationship Id="rId84" Type="http://schemas.openxmlformats.org/officeDocument/2006/relationships/notesMaster" Target="notesMasters/notesMaster1.xml"/><Relationship Id="rId89" Type="http://schemas.openxmlformats.org/officeDocument/2006/relationships/tableStyles" Target="tableStyles.xml"/><Relationship Id="rId16" Type="http://schemas.openxmlformats.org/officeDocument/2006/relationships/slide" Target="slides/slide13.xml"/><Relationship Id="rId11" Type="http://schemas.openxmlformats.org/officeDocument/2006/relationships/slide" Target="slides/slide8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74" Type="http://schemas.openxmlformats.org/officeDocument/2006/relationships/slide" Target="slides/slide71.xml"/><Relationship Id="rId79" Type="http://schemas.openxmlformats.org/officeDocument/2006/relationships/slide" Target="slides/slide76.xml"/><Relationship Id="rId5" Type="http://schemas.openxmlformats.org/officeDocument/2006/relationships/slide" Target="slides/slide2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slide" Target="slides/slide61.xml"/><Relationship Id="rId69" Type="http://schemas.openxmlformats.org/officeDocument/2006/relationships/slide" Target="slides/slide66.xml"/><Relationship Id="rId77" Type="http://schemas.openxmlformats.org/officeDocument/2006/relationships/slide" Target="slides/slide74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slide" Target="slides/slide69.xml"/><Relationship Id="rId80" Type="http://schemas.openxmlformats.org/officeDocument/2006/relationships/slide" Target="slides/slide77.xml"/><Relationship Id="rId85" Type="http://schemas.openxmlformats.org/officeDocument/2006/relationships/tags" Target="tags/tag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slide" Target="slides/slide64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slide" Target="slides/slide67.xml"/><Relationship Id="rId75" Type="http://schemas.openxmlformats.org/officeDocument/2006/relationships/slide" Target="slides/slide72.xml"/><Relationship Id="rId83" Type="http://schemas.openxmlformats.org/officeDocument/2006/relationships/slide" Target="slides/slide80.xml"/><Relationship Id="rId88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73" Type="http://schemas.openxmlformats.org/officeDocument/2006/relationships/slide" Target="slides/slide70.xml"/><Relationship Id="rId78" Type="http://schemas.openxmlformats.org/officeDocument/2006/relationships/slide" Target="slides/slide75.xml"/><Relationship Id="rId81" Type="http://schemas.openxmlformats.org/officeDocument/2006/relationships/slide" Target="slides/slide78.xml"/><Relationship Id="rId86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6" Type="http://schemas.openxmlformats.org/officeDocument/2006/relationships/slide" Target="slides/slide73.xml"/><Relationship Id="rId7" Type="http://schemas.openxmlformats.org/officeDocument/2006/relationships/slide" Target="slides/slide4.xml"/><Relationship Id="rId71" Type="http://schemas.openxmlformats.org/officeDocument/2006/relationships/slide" Target="slides/slide68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4" Type="http://schemas.openxmlformats.org/officeDocument/2006/relationships/slide" Target="slides/slide21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66" Type="http://schemas.openxmlformats.org/officeDocument/2006/relationships/slide" Target="slides/slide63.xml"/><Relationship Id="rId87" Type="http://schemas.openxmlformats.org/officeDocument/2006/relationships/viewProps" Target="viewProps.xml"/><Relationship Id="rId61" Type="http://schemas.openxmlformats.org/officeDocument/2006/relationships/slide" Target="slides/slide58.xml"/><Relationship Id="rId82" Type="http://schemas.openxmlformats.org/officeDocument/2006/relationships/slide" Target="slides/slide79.xml"/><Relationship Id="rId19" Type="http://schemas.openxmlformats.org/officeDocument/2006/relationships/slide" Target="slides/slide1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0" name="Rectangle 4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 cmpd="sng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/>
            </a:lvl1pPr>
          </a:lstStyle>
          <a:p>
            <a:fld id="{6D16C3AF-416B-4480-A093-21F754C6D18A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Arial" panose="020B0604020202020204" pitchFamily="34" charset="0"/>
              <a:buChar char="•"/>
            </a:pPr>
            <a:fld id="{E90E7A6B-C184-4592-B460-A1300D104880}" type="slidenum">
              <a:rPr lang="en-US" altLang="zh-CN"/>
              <a:t>16</a:t>
            </a:fld>
            <a:endParaRPr lang="en-US" altLang="zh-CN"/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xfrm>
            <a:off x="1141413" y="701675"/>
            <a:ext cx="4578350" cy="3435350"/>
          </a:xfrm>
        </p:spPr>
      </p:sp>
      <p:sp>
        <p:nvSpPr>
          <p:cNvPr id="2253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912813" y="4371975"/>
            <a:ext cx="5032375" cy="4060825"/>
          </a:xfrm>
        </p:spPr>
        <p:txBody>
          <a:bodyPr anchor="t"/>
          <a:lstStyle/>
          <a:p>
            <a:pPr eaLnBrk="1" hangingPunct="1"/>
            <a:endParaRPr lang="en-US" altLang="zh-CN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www.themegallery.com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Company Logo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38E0438-5B2F-41F7-A12B-BF62359D3A8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www.themegallery.com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Company Logo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1CF142E-D6E5-42CB-8A6B-B186E08AE2F9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www.themegallery.com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Company Logo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8BD9950-8EAC-4254-9B7C-D85FA5EC4F5A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419225"/>
            <a:ext cx="4038600" cy="48799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19225"/>
            <a:ext cx="4038600" cy="48799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www.themegallery.com</a:t>
            </a: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Company Logo</a:t>
            </a: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D6E1C84-4F10-4B18-9514-8588FE13F1E9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www.themegallery.com</a:t>
            </a:r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Company Logo</a:t>
            </a:r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5DD10B9-FBF0-42CA-9C5D-7FF13958A1A9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www.themegallery.com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Company Logo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39E8E3E-248C-41D9-B86F-238269E429FA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www.themegallery.com</a:t>
            </a:r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Company Logo</a:t>
            </a: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1A8924E-6505-4777-9244-DF8D8B990395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www.themegallery.com</a:t>
            </a: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Company Logo</a:t>
            </a: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677D5DD-8662-4457-A606-7963472E4A56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www.themegallery.com</a:t>
            </a: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Company Logo</a:t>
            </a: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AE24C57-0398-483C-B5E2-8668F66F0319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www.themegallery.com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Company Logo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51FD24-F304-4730-956F-32D7E6BC5759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731838"/>
            <a:ext cx="2057400" cy="5567362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731838"/>
            <a:ext cx="6019800" cy="5567362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www.themegallery.com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Company Logo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6A1A415-BF1A-4BC1-B779-71D94A25B142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F69DFFF-ECFA-4BAE-846D-F210DA2CB666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CDD4EBD-831D-4286-A803-5065CE020C72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A29BFA8-339C-4F00-B01B-CA38735DF8E4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419225"/>
            <a:ext cx="4038600" cy="48799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19225"/>
            <a:ext cx="4038600" cy="48799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E32E6F2-E887-4579-B94C-074CE0CDF695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1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1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235B473-37F8-46C7-9A92-94A243C93014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CAAD0A-1E88-41BF-ABEB-A46F24904CB7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1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D87A77F-6ACC-4F28-B910-CF6F6DD4FB8D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AA738BA-6E61-400E-A836-1AA0244DE238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FF97DDE-709D-432B-A48C-0F19ED9B7B5B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7AA4211-AC32-4E55-BAD5-A93BFC43E506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731838"/>
            <a:ext cx="2057400" cy="5567362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731838"/>
            <a:ext cx="6019800" cy="5567362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C2800A6-49F8-46DE-9F0A-D2EBE0E1C61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www.themegallery.com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Company Logo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EDFFBEF-D2F4-491E-87C2-487ECE4E7883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www.themegallery.com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Company Logo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3F5C83-F9DA-415A-B1E1-81A354C608FD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www.themegallery.com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Company Logo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0AEF8D8-2169-4D33-B94C-BCF4C01270CF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419225"/>
            <a:ext cx="4038600" cy="48799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19225"/>
            <a:ext cx="4038600" cy="48799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www.themegallery.com</a:t>
            </a: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Company Logo</a:t>
            </a: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E35525C-BDF8-4918-94EE-1642541C93F8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www.themegallery.com</a:t>
            </a:r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Company Logo</a:t>
            </a:r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F32BB52-45BB-4FA9-90FA-25ADA3B0B9FB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www.themegallery.com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Company Logo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3BD3AD4-7F54-4619-9D72-1A7D90E07244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www.themegallery.com</a:t>
            </a:r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Company Logo</a:t>
            </a: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E60589C-06D2-45D5-A38B-839D63871B1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www.themegallery.com</a:t>
            </a: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Company Logo</a:t>
            </a: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8B5B62B-D36C-4ADE-9C5D-531856D9F857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www.themegallery.com</a:t>
            </a: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Company Logo</a:t>
            </a: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254319-54A8-4573-BEC3-ACFE51FBAB44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www.themegallery.com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Company Logo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D1B3C61-5CAB-4DAA-94CC-84D855A98857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731838"/>
            <a:ext cx="2057400" cy="5567362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731838"/>
            <a:ext cx="6019800" cy="5567362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www.themegallery.com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Company Logo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79A8B6D-AFEC-4AB8-950B-33A111DF1EA2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jpe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 descr="a1"/>
          <p:cNvSpPr>
            <a:spLocks noChangeArrowheads="1"/>
          </p:cNvSpPr>
          <p:nvPr/>
        </p:nvSpPr>
        <p:spPr bwMode="auto">
          <a:xfrm>
            <a:off x="592138" y="0"/>
            <a:ext cx="2066925" cy="838200"/>
          </a:xfrm>
          <a:prstGeom prst="rect">
            <a:avLst/>
          </a:prstGeom>
          <a:blipFill dpi="0" rotWithShape="1">
            <a:blip r:embed="rId13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auto">
          <a:xfrm>
            <a:off x="2730500" y="0"/>
            <a:ext cx="2138363" cy="838200"/>
          </a:xfrm>
          <a:prstGeom prst="rect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28" name="Rectangle 4" descr="a2"/>
          <p:cNvSpPr>
            <a:spLocks noChangeArrowheads="1"/>
          </p:cNvSpPr>
          <p:nvPr/>
        </p:nvSpPr>
        <p:spPr bwMode="auto">
          <a:xfrm>
            <a:off x="4938713" y="0"/>
            <a:ext cx="2066925" cy="838200"/>
          </a:xfrm>
          <a:prstGeom prst="rect">
            <a:avLst/>
          </a:prstGeom>
          <a:blipFill dpi="0" rotWithShape="1">
            <a:blip r:embed="rId14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7077075" y="0"/>
            <a:ext cx="2066925" cy="8382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auto">
          <a:xfrm>
            <a:off x="457200" y="6477000"/>
            <a:ext cx="8686800" cy="381000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grpSp>
        <p:nvGrpSpPr>
          <p:cNvPr id="1031" name="Group 7"/>
          <p:cNvGrpSpPr/>
          <p:nvPr/>
        </p:nvGrpSpPr>
        <p:grpSpPr bwMode="auto">
          <a:xfrm>
            <a:off x="0" y="685800"/>
            <a:ext cx="9144000" cy="609600"/>
            <a:chOff x="0" y="0"/>
            <a:chExt cx="5760" cy="384"/>
          </a:xfrm>
        </p:grpSpPr>
        <p:sp>
          <p:nvSpPr>
            <p:cNvPr id="1038" name="Rectangle 8"/>
            <p:cNvSpPr>
              <a:spLocks noChangeArrowheads="1"/>
            </p:cNvSpPr>
            <p:nvPr userDrawn="1"/>
          </p:nvSpPr>
          <p:spPr bwMode="auto">
            <a:xfrm>
              <a:off x="0" y="0"/>
              <a:ext cx="5760" cy="9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039" name="Rectangle 9"/>
            <p:cNvSpPr>
              <a:spLocks noChangeArrowheads="1"/>
            </p:cNvSpPr>
            <p:nvPr userDrawn="1"/>
          </p:nvSpPr>
          <p:spPr bwMode="auto">
            <a:xfrm>
              <a:off x="362" y="0"/>
              <a:ext cx="5398" cy="384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</p:grpSp>
      <p:sp>
        <p:nvSpPr>
          <p:cNvPr id="1032" name="Rectangle 10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57200" y="1419225"/>
            <a:ext cx="8229600" cy="487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zh-CN"/>
              <a:t>单击此处编辑母版文本样式</a:t>
            </a:r>
          </a:p>
          <a:p>
            <a:pPr lvl="1"/>
            <a:r>
              <a:rPr lang="zh-CN" altLang="zh-CN"/>
              <a:t>第二级</a:t>
            </a:r>
          </a:p>
          <a:p>
            <a:pPr lvl="2"/>
            <a:r>
              <a:rPr lang="zh-CN" altLang="zh-CN"/>
              <a:t>第三级</a:t>
            </a:r>
          </a:p>
          <a:p>
            <a:pPr lvl="3"/>
            <a:r>
              <a:rPr lang="zh-CN" altLang="zh-CN"/>
              <a:t>第四级</a:t>
            </a:r>
          </a:p>
          <a:p>
            <a:pPr lvl="4"/>
            <a:r>
              <a:rPr lang="zh-CN" altLang="zh-CN"/>
              <a:t>第五级</a:t>
            </a:r>
          </a:p>
        </p:txBody>
      </p:sp>
      <p:sp>
        <p:nvSpPr>
          <p:cNvPr id="1035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61125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20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</a:defRPr>
            </a:lvl1pPr>
          </a:lstStyle>
          <a:p>
            <a:pPr>
              <a:defRPr/>
            </a:pPr>
            <a:r>
              <a:rPr lang="en-US"/>
              <a:t>www.themegallery.com</a:t>
            </a:r>
          </a:p>
        </p:txBody>
      </p:sp>
      <p:sp>
        <p:nvSpPr>
          <p:cNvPr id="1036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867400" y="6477000"/>
            <a:ext cx="2895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</a:defRPr>
            </a:lvl1pPr>
          </a:lstStyle>
          <a:p>
            <a:pPr>
              <a:defRPr/>
            </a:pPr>
            <a:r>
              <a:rPr lang="en-US"/>
              <a:t>公司标志</a:t>
            </a:r>
          </a:p>
        </p:txBody>
      </p:sp>
      <p:sp>
        <p:nvSpPr>
          <p:cNvPr id="1037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buFont typeface="Arial" panose="020B0604020202020204" pitchFamily="34" charset="0"/>
              <a:buNone/>
              <a:defRPr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defRPr>
            </a:lvl1pPr>
          </a:lstStyle>
          <a:p>
            <a:fld id="{A5E42853-7BA4-4E46-A611-31C49420D32B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2" name="Rectangle 14"/>
          <p:cNvSpPr>
            <a:spLocks noGrp="1" noChangeArrowheads="1"/>
          </p:cNvSpPr>
          <p:nvPr>
            <p:ph type="title" idx="9"/>
          </p:nvPr>
        </p:nvSpPr>
        <p:spPr bwMode="auto">
          <a:xfrm>
            <a:off x="733425" y="731838"/>
            <a:ext cx="7800975" cy="563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zh-CN"/>
              <a:t>单击此处编辑母版标题样式</a:t>
            </a:r>
          </a:p>
        </p:txBody>
      </p:sp>
      <p:sp>
        <p:nvSpPr>
          <p:cNvPr id="3" name="Text Box 15"/>
          <p:cNvSpPr txBox="1">
            <a:spLocks noChangeArrowheads="1"/>
          </p:cNvSpPr>
          <p:nvPr/>
        </p:nvSpPr>
        <p:spPr bwMode="auto">
          <a:xfrm>
            <a:off x="7391400" y="76200"/>
            <a:ext cx="1765300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800" b="1">
                <a:solidFill>
                  <a:schemeClr val="bg1"/>
                </a:solidFill>
                <a:latin typeface="Arial Black" panose="020B0A04020102020204" pitchFamily="34" charset="0"/>
              </a:rPr>
              <a:t>L o g o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 descr="a1"/>
          <p:cNvSpPr>
            <a:spLocks noChangeArrowheads="1"/>
          </p:cNvSpPr>
          <p:nvPr/>
        </p:nvSpPr>
        <p:spPr bwMode="auto">
          <a:xfrm>
            <a:off x="2286000" y="0"/>
            <a:ext cx="2286000" cy="3124200"/>
          </a:xfrm>
          <a:prstGeom prst="rect">
            <a:avLst/>
          </a:prstGeom>
          <a:blipFill dpi="0" rotWithShape="1">
            <a:blip r:embed="rId13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0" y="0"/>
            <a:ext cx="2209800" cy="31242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2052" name="Rectangle 4"/>
          <p:cNvSpPr>
            <a:spLocks noChangeArrowheads="1"/>
          </p:cNvSpPr>
          <p:nvPr/>
        </p:nvSpPr>
        <p:spPr bwMode="auto">
          <a:xfrm>
            <a:off x="4648200" y="0"/>
            <a:ext cx="2209800" cy="3124200"/>
          </a:xfrm>
          <a:prstGeom prst="rect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2053" name="Rectangle 5" descr="a2"/>
          <p:cNvSpPr>
            <a:spLocks noChangeArrowheads="1"/>
          </p:cNvSpPr>
          <p:nvPr/>
        </p:nvSpPr>
        <p:spPr bwMode="auto">
          <a:xfrm>
            <a:off x="6934200" y="0"/>
            <a:ext cx="2209800" cy="3124200"/>
          </a:xfrm>
          <a:prstGeom prst="rect">
            <a:avLst/>
          </a:prstGeom>
          <a:blipFill dpi="0" rotWithShape="1">
            <a:blip r:embed="rId14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2054" name="Rectangle 6"/>
          <p:cNvSpPr>
            <a:spLocks noChangeArrowheads="1"/>
          </p:cNvSpPr>
          <p:nvPr/>
        </p:nvSpPr>
        <p:spPr bwMode="auto">
          <a:xfrm>
            <a:off x="2286000" y="3124200"/>
            <a:ext cx="6858000" cy="609600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2055" name="Rectangle 7"/>
          <p:cNvSpPr>
            <a:spLocks noChangeArrowheads="1"/>
          </p:cNvSpPr>
          <p:nvPr/>
        </p:nvSpPr>
        <p:spPr bwMode="auto">
          <a:xfrm>
            <a:off x="0" y="3124200"/>
            <a:ext cx="9144000" cy="152400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2056" name="Text Box 13"/>
          <p:cNvSpPr txBox="1">
            <a:spLocks noChangeArrowheads="1"/>
          </p:cNvSpPr>
          <p:nvPr/>
        </p:nvSpPr>
        <p:spPr bwMode="auto">
          <a:xfrm>
            <a:off x="444500" y="2514600"/>
            <a:ext cx="1765300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800" b="1">
                <a:solidFill>
                  <a:schemeClr val="bg1"/>
                </a:solidFill>
                <a:latin typeface="Arial Black" panose="020B0A04020102020204" pitchFamily="34" charset="0"/>
              </a:rPr>
              <a:t>L o g o</a:t>
            </a:r>
          </a:p>
        </p:txBody>
      </p:sp>
      <p:sp>
        <p:nvSpPr>
          <p:cNvPr id="2057" name="Rectangle 10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57200" y="1419225"/>
            <a:ext cx="8229600" cy="487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zh-CN"/>
              <a:t>单击此处编辑母版文本样式</a:t>
            </a:r>
          </a:p>
          <a:p>
            <a:pPr lvl="1"/>
            <a:r>
              <a:rPr lang="zh-CN" altLang="zh-CN"/>
              <a:t>第二级</a:t>
            </a:r>
          </a:p>
          <a:p>
            <a:pPr lvl="2"/>
            <a:r>
              <a:rPr lang="zh-CN" altLang="zh-CN"/>
              <a:t>第三级</a:t>
            </a:r>
          </a:p>
          <a:p>
            <a:pPr lvl="3"/>
            <a:r>
              <a:rPr lang="zh-CN" altLang="zh-CN"/>
              <a:t>第四级</a:t>
            </a:r>
          </a:p>
          <a:p>
            <a:pPr lvl="4"/>
            <a:r>
              <a:rPr lang="zh-CN" altLang="zh-CN"/>
              <a:t>第五级</a:t>
            </a:r>
          </a:p>
        </p:txBody>
      </p:sp>
      <p:sp>
        <p:nvSpPr>
          <p:cNvPr id="2058" name="Rectangle 14"/>
          <p:cNvSpPr>
            <a:spLocks noGrp="1" noChangeArrowheads="1"/>
          </p:cNvSpPr>
          <p:nvPr>
            <p:ph type="title" idx="9"/>
          </p:nvPr>
        </p:nvSpPr>
        <p:spPr bwMode="auto">
          <a:xfrm>
            <a:off x="733425" y="731838"/>
            <a:ext cx="7800975" cy="563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zh-CN"/>
              <a:t>单击此处编辑母版标题样式</a:t>
            </a:r>
          </a:p>
        </p:txBody>
      </p:sp>
      <p:sp>
        <p:nvSpPr>
          <p:cNvPr id="2059" name="Rectangle 1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551613"/>
            <a:ext cx="2133600" cy="16986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60" name="Rectangle 1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553200"/>
            <a:ext cx="2895600" cy="1682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61" name="Rectangle 1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553200"/>
            <a:ext cx="2133600" cy="1682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/>
            </a:lvl1pPr>
          </a:lstStyle>
          <a:p>
            <a:fld id="{8BF4FD4C-6EE5-4AA0-AB49-9DB213F2D37B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 descr="a1"/>
          <p:cNvSpPr>
            <a:spLocks noChangeArrowheads="1"/>
          </p:cNvSpPr>
          <p:nvPr/>
        </p:nvSpPr>
        <p:spPr bwMode="auto">
          <a:xfrm>
            <a:off x="592138" y="0"/>
            <a:ext cx="2066925" cy="838200"/>
          </a:xfrm>
          <a:prstGeom prst="rect">
            <a:avLst/>
          </a:prstGeom>
          <a:blipFill dpi="0" rotWithShape="1">
            <a:blip r:embed="rId13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2730500" y="0"/>
            <a:ext cx="2138363" cy="838200"/>
          </a:xfrm>
          <a:prstGeom prst="rect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3076" name="Rectangle 4" descr="a2"/>
          <p:cNvSpPr>
            <a:spLocks noChangeArrowheads="1"/>
          </p:cNvSpPr>
          <p:nvPr/>
        </p:nvSpPr>
        <p:spPr bwMode="auto">
          <a:xfrm>
            <a:off x="4938713" y="0"/>
            <a:ext cx="2066925" cy="838200"/>
          </a:xfrm>
          <a:prstGeom prst="rect">
            <a:avLst/>
          </a:prstGeom>
          <a:blipFill dpi="0" rotWithShape="1">
            <a:blip r:embed="rId14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3077" name="Rectangle 5"/>
          <p:cNvSpPr>
            <a:spLocks noChangeArrowheads="1"/>
          </p:cNvSpPr>
          <p:nvPr/>
        </p:nvSpPr>
        <p:spPr bwMode="auto">
          <a:xfrm>
            <a:off x="7077075" y="0"/>
            <a:ext cx="2066925" cy="8382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3078" name="Rectangle 6"/>
          <p:cNvSpPr>
            <a:spLocks noChangeArrowheads="1"/>
          </p:cNvSpPr>
          <p:nvPr/>
        </p:nvSpPr>
        <p:spPr bwMode="auto">
          <a:xfrm>
            <a:off x="457200" y="6477000"/>
            <a:ext cx="8686800" cy="381000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grpSp>
        <p:nvGrpSpPr>
          <p:cNvPr id="3079" name="Group 7"/>
          <p:cNvGrpSpPr/>
          <p:nvPr/>
        </p:nvGrpSpPr>
        <p:grpSpPr bwMode="auto">
          <a:xfrm>
            <a:off x="0" y="685800"/>
            <a:ext cx="9144000" cy="609600"/>
            <a:chOff x="0" y="0"/>
            <a:chExt cx="5760" cy="384"/>
          </a:xfrm>
        </p:grpSpPr>
        <p:sp>
          <p:nvSpPr>
            <p:cNvPr id="3086" name="Rectangle 8"/>
            <p:cNvSpPr>
              <a:spLocks noChangeArrowheads="1"/>
            </p:cNvSpPr>
            <p:nvPr userDrawn="1"/>
          </p:nvSpPr>
          <p:spPr bwMode="auto">
            <a:xfrm>
              <a:off x="0" y="0"/>
              <a:ext cx="5760" cy="9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3087" name="Rectangle 9"/>
            <p:cNvSpPr>
              <a:spLocks noChangeArrowheads="1"/>
            </p:cNvSpPr>
            <p:nvPr userDrawn="1"/>
          </p:nvSpPr>
          <p:spPr bwMode="auto">
            <a:xfrm>
              <a:off x="362" y="0"/>
              <a:ext cx="5398" cy="384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</p:grpSp>
      <p:sp>
        <p:nvSpPr>
          <p:cNvPr id="3080" name="Rectangle 10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57200" y="1419225"/>
            <a:ext cx="8229600" cy="487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zh-CN"/>
              <a:t>单击此处编辑母版文本样式</a:t>
            </a:r>
          </a:p>
          <a:p>
            <a:pPr lvl="1"/>
            <a:r>
              <a:rPr lang="zh-CN" altLang="zh-CN"/>
              <a:t>第二级</a:t>
            </a:r>
          </a:p>
          <a:p>
            <a:pPr lvl="2"/>
            <a:r>
              <a:rPr lang="zh-CN" altLang="zh-CN"/>
              <a:t>第三级</a:t>
            </a:r>
          </a:p>
          <a:p>
            <a:pPr lvl="3"/>
            <a:r>
              <a:rPr lang="zh-CN" altLang="zh-CN"/>
              <a:t>第四级</a:t>
            </a:r>
          </a:p>
          <a:p>
            <a:pPr lvl="4"/>
            <a:r>
              <a:rPr lang="zh-CN" altLang="zh-CN"/>
              <a:t>第五级</a:t>
            </a:r>
          </a:p>
        </p:txBody>
      </p:sp>
      <p:sp>
        <p:nvSpPr>
          <p:cNvPr id="1035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61125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20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</a:defRPr>
            </a:lvl1pPr>
          </a:lstStyle>
          <a:p>
            <a:pPr>
              <a:defRPr/>
            </a:pPr>
            <a:r>
              <a:rPr lang="en-US"/>
              <a:t>www.themegallery.com</a:t>
            </a:r>
          </a:p>
        </p:txBody>
      </p:sp>
      <p:sp>
        <p:nvSpPr>
          <p:cNvPr id="1036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867400" y="6477000"/>
            <a:ext cx="2895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</a:defRPr>
            </a:lvl1pPr>
          </a:lstStyle>
          <a:p>
            <a:pPr>
              <a:defRPr/>
            </a:pPr>
            <a:r>
              <a:rPr lang="en-US"/>
              <a:t>公司标志</a:t>
            </a:r>
          </a:p>
        </p:txBody>
      </p:sp>
      <p:sp>
        <p:nvSpPr>
          <p:cNvPr id="1037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buFont typeface="Arial" panose="020B0604020202020204" pitchFamily="34" charset="0"/>
              <a:buNone/>
              <a:defRPr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defRPr>
            </a:lvl1pPr>
          </a:lstStyle>
          <a:p>
            <a:fld id="{BE1FA4A4-38C9-4A1E-935A-B0A08F109246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3084" name="Rectangle 14"/>
          <p:cNvSpPr>
            <a:spLocks noGrp="1" noChangeArrowheads="1"/>
          </p:cNvSpPr>
          <p:nvPr>
            <p:ph type="title" idx="9"/>
          </p:nvPr>
        </p:nvSpPr>
        <p:spPr bwMode="auto">
          <a:xfrm>
            <a:off x="733425" y="731838"/>
            <a:ext cx="7800975" cy="563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zh-CN"/>
              <a:t>单击此处编辑母版标题样式</a:t>
            </a:r>
          </a:p>
        </p:txBody>
      </p:sp>
      <p:sp>
        <p:nvSpPr>
          <p:cNvPr id="3085" name="Text Box 15"/>
          <p:cNvSpPr txBox="1">
            <a:spLocks noChangeArrowheads="1"/>
          </p:cNvSpPr>
          <p:nvPr/>
        </p:nvSpPr>
        <p:spPr bwMode="auto">
          <a:xfrm>
            <a:off x="7391400" y="76200"/>
            <a:ext cx="1765300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800" b="1">
                <a:solidFill>
                  <a:schemeClr val="bg1"/>
                </a:solidFill>
                <a:latin typeface="Arial Black" panose="020B0A04020102020204" pitchFamily="34" charset="0"/>
              </a:rPr>
              <a:t>L o g o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13" Type="http://schemas.openxmlformats.org/officeDocument/2006/relationships/tags" Target="../tags/tag14.xml"/><Relationship Id="rId18" Type="http://schemas.openxmlformats.org/officeDocument/2006/relationships/tags" Target="../tags/tag19.xml"/><Relationship Id="rId3" Type="http://schemas.openxmlformats.org/officeDocument/2006/relationships/tags" Target="../tags/tag4.xml"/><Relationship Id="rId21" Type="http://schemas.openxmlformats.org/officeDocument/2006/relationships/slideLayout" Target="../slideLayouts/slideLayout7.xml"/><Relationship Id="rId7" Type="http://schemas.openxmlformats.org/officeDocument/2006/relationships/tags" Target="../tags/tag8.xml"/><Relationship Id="rId12" Type="http://schemas.openxmlformats.org/officeDocument/2006/relationships/tags" Target="../tags/tag13.xml"/><Relationship Id="rId17" Type="http://schemas.openxmlformats.org/officeDocument/2006/relationships/tags" Target="../tags/tag18.xml"/><Relationship Id="rId2" Type="http://schemas.openxmlformats.org/officeDocument/2006/relationships/tags" Target="../tags/tag3.xml"/><Relationship Id="rId16" Type="http://schemas.openxmlformats.org/officeDocument/2006/relationships/tags" Target="../tags/tag17.xml"/><Relationship Id="rId20" Type="http://schemas.openxmlformats.org/officeDocument/2006/relationships/tags" Target="../tags/tag21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5" Type="http://schemas.openxmlformats.org/officeDocument/2006/relationships/tags" Target="../tags/tag6.xml"/><Relationship Id="rId15" Type="http://schemas.openxmlformats.org/officeDocument/2006/relationships/tags" Target="../tags/tag16.xml"/><Relationship Id="rId10" Type="http://schemas.openxmlformats.org/officeDocument/2006/relationships/tags" Target="../tags/tag11.xml"/><Relationship Id="rId19" Type="http://schemas.openxmlformats.org/officeDocument/2006/relationships/tags" Target="../tags/tag20.xml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tags" Target="../tags/tag1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0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2"/>
          <p:cNvSpPr txBox="1">
            <a:spLocks noGrp="1" noChangeArrowheads="1"/>
          </p:cNvSpPr>
          <p:nvPr/>
        </p:nvSpPr>
        <p:spPr bwMode="auto">
          <a:xfrm>
            <a:off x="6553200" y="6553200"/>
            <a:ext cx="213360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5CE71EC2-B81D-484D-91E8-02EABAD35522}" type="slidenum">
              <a:rPr lang="en-US" altLang="zh-CN" sz="1200"/>
              <a:t>1</a:t>
            </a:fld>
            <a:endParaRPr lang="en-US" altLang="zh-CN" sz="1200"/>
          </a:p>
        </p:txBody>
      </p:sp>
      <p:sp>
        <p:nvSpPr>
          <p:cNvPr id="5123" name="Rectangle 2"/>
          <p:cNvSpPr>
            <a:spLocks noChangeArrowheads="1"/>
          </p:cNvSpPr>
          <p:nvPr/>
        </p:nvSpPr>
        <p:spPr bwMode="auto">
          <a:xfrm>
            <a:off x="2286000" y="2743200"/>
            <a:ext cx="67056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4000" b="1">
                <a:solidFill>
                  <a:schemeClr val="bg1"/>
                </a:solidFill>
                <a:latin typeface="Verdana" panose="020B0604030504040204" pitchFamily="34" charset="0"/>
              </a:rPr>
              <a:t>离散数学</a:t>
            </a:r>
          </a:p>
        </p:txBody>
      </p:sp>
      <p:sp>
        <p:nvSpPr>
          <p:cNvPr id="5125" name="Rectangle 3"/>
          <p:cNvSpPr>
            <a:spLocks noChangeArrowheads="1"/>
          </p:cNvSpPr>
          <p:nvPr/>
        </p:nvSpPr>
        <p:spPr bwMode="auto">
          <a:xfrm>
            <a:off x="1295400" y="5715000"/>
            <a:ext cx="65532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zh-CN" sz="2000" b="1">
                <a:latin typeface="Verdana" panose="020B0604030504040204" pitchFamily="34" charset="0"/>
              </a:rPr>
              <a:t>华南理工大学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2"/>
          <p:cNvSpPr txBox="1">
            <a:spLocks noGrp="1" noChangeArrowheads="1"/>
          </p:cNvSpPr>
          <p:nvPr/>
        </p:nvSpPr>
        <p:spPr bwMode="auto">
          <a:xfrm>
            <a:off x="6553200" y="6553200"/>
            <a:ext cx="213360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91E80DA0-D1F1-41D9-AC78-143E0133FA9B}" type="slidenum">
              <a:rPr lang="en-US" altLang="zh-CN" sz="1200"/>
              <a:t>2</a:t>
            </a:fld>
            <a:endParaRPr lang="en-US" altLang="zh-CN" sz="1200"/>
          </a:p>
        </p:txBody>
      </p:sp>
      <p:sp>
        <p:nvSpPr>
          <p:cNvPr id="6147" name="Rectangle 2"/>
          <p:cNvSpPr>
            <a:spLocks noChangeArrowheads="1"/>
          </p:cNvSpPr>
          <p:nvPr/>
        </p:nvSpPr>
        <p:spPr bwMode="auto">
          <a:xfrm>
            <a:off x="4038600" y="6096000"/>
            <a:ext cx="1752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zh-CN" sz="1800" b="1">
                <a:latin typeface="Verdana" panose="020B0604030504040204" pitchFamily="34" charset="0"/>
              </a:rPr>
              <a:t>第 1.3 节</a:t>
            </a:r>
          </a:p>
        </p:txBody>
      </p:sp>
      <p:sp>
        <p:nvSpPr>
          <p:cNvPr id="6148" name="Text Box 3"/>
          <p:cNvSpPr txBox="1">
            <a:spLocks noChangeArrowheads="1"/>
          </p:cNvSpPr>
          <p:nvPr/>
        </p:nvSpPr>
        <p:spPr bwMode="auto">
          <a:xfrm>
            <a:off x="2362200" y="3276600"/>
            <a:ext cx="678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 b="1">
                <a:solidFill>
                  <a:schemeClr val="bg1"/>
                </a:solidFill>
                <a:latin typeface="Euclid" pitchFamily="18" charset="0"/>
                <a:ea typeface="Dotum" panose="020B0600000101010101" pitchFamily="34" charset="-127"/>
              </a:rPr>
              <a:t>第 1 章逻辑与证明、集合与函数</a:t>
            </a:r>
          </a:p>
        </p:txBody>
      </p:sp>
      <p:sp>
        <p:nvSpPr>
          <p:cNvPr id="5125" name="WordArt 4"/>
          <p:cNvSpPr>
            <a:spLocks noChangeArrowheads="1" noChangeShapeType="1" noTextEdit="1"/>
          </p:cNvSpPr>
          <p:nvPr/>
        </p:nvSpPr>
        <p:spPr bwMode="auto">
          <a:xfrm>
            <a:off x="533400" y="4419600"/>
            <a:ext cx="8229600" cy="1066800"/>
          </a:xfrm>
          <a:prstGeom prst="rect">
            <a:avLst/>
          </a:prstGeom>
        </p:spPr>
        <p:txBody>
          <a:bodyPr wrap="none" fromWordArt="1">
            <a:prstTxWarp prst="textDeflate">
              <a:avLst>
                <a:gd name="adj" fmla="val 0"/>
              </a:avLst>
            </a:prstTxWarp>
          </a:bodyPr>
          <a:lstStyle/>
          <a:p>
            <a:pPr algn="ctr"/>
            <a:r>
              <a:rPr lang="en-US" altLang="zh-CN" sz="3600" b="1" kern="10">
                <a:ln w="19050">
                  <a:solidFill>
                    <a:schemeClr val="bg1"/>
                  </a:solidFill>
                  <a:round/>
                </a:ln>
                <a:gradFill rotWithShape="1">
                  <a:gsLst>
                    <a:gs pos="0">
                      <a:schemeClr val="tx1"/>
                    </a:gs>
                    <a:gs pos="100000">
                      <a:schemeClr val="hlink"/>
                    </a:gs>
                  </a:gsLst>
                  <a:lin ang="0" scaled="1"/>
                </a:gradFill>
                <a:effectLst>
                  <a:outerShdw dist="63500" dir="2212194" algn="ctr" rotWithShape="0">
                    <a:srgbClr val="868686">
                      <a:alpha val="50000"/>
                    </a:srgbClr>
                  </a:outerShdw>
                </a:effectLst>
                <a:cs typeface="Arial" panose="020B0604020202020204" pitchFamily="34" charset="0"/>
              </a:rPr>
              <a:t>谓词和量词</a:t>
            </a:r>
            <a:endParaRPr lang="zh-CN" altLang="en-US" sz="3600" b="1" kern="10">
              <a:ln w="19050">
                <a:solidFill>
                  <a:schemeClr val="bg1"/>
                </a:solidFill>
                <a:round/>
              </a:ln>
              <a:gradFill rotWithShape="1">
                <a:gsLst>
                  <a:gs pos="0">
                    <a:schemeClr val="tx1"/>
                  </a:gs>
                  <a:gs pos="100000">
                    <a:schemeClr val="hlink"/>
                  </a:gs>
                </a:gsLst>
                <a:lin ang="0" scaled="1"/>
              </a:gradFill>
              <a:effectLst>
                <a:outerShdw dist="63500" dir="2212194" algn="ctr" rotWithShape="0">
                  <a:srgbClr val="868686">
                    <a:alpha val="50000"/>
                  </a:srgbClr>
                </a:outerShdw>
              </a:effectLst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F7FFB573-D332-42B8-9B47-633171DCBE4B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3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7171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目录</a:t>
            </a:r>
            <a:endParaRPr lang="en-US" altLang="zh-CN">
              <a:solidFill>
                <a:schemeClr val="accent1"/>
              </a:solidFill>
              <a:ea typeface="宋体" panose="02010600030101010101" pitchFamily="2" charset="-122"/>
            </a:endParaRPr>
          </a:p>
        </p:txBody>
      </p:sp>
      <p:sp>
        <p:nvSpPr>
          <p:cNvPr id="7172" name="AutoShape 3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2362200" y="1947863"/>
            <a:ext cx="4343400" cy="457200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accent2"/>
            </a:solidFill>
            <a:round/>
          </a:ln>
          <a:effectLst>
            <a:outerShdw dist="99190" dir="2388334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/>
          </a:p>
        </p:txBody>
      </p:sp>
      <p:sp>
        <p:nvSpPr>
          <p:cNvPr id="7173" name="AutoShap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981200" y="1828800"/>
            <a:ext cx="685800" cy="685800"/>
          </a:xfrm>
          <a:prstGeom prst="diamond">
            <a:avLst/>
          </a:prstGeom>
          <a:solidFill>
            <a:schemeClr val="accent2"/>
          </a:solidFill>
          <a:ln w="25400">
            <a:solidFill>
              <a:schemeClr val="bg1"/>
            </a:solidFill>
            <a:miter lim="800000"/>
          </a:ln>
          <a:effectLst>
            <a:outerShdw dist="63500" dir="2212194" algn="ctr" rotWithShape="0">
              <a:srgbClr val="333333">
                <a:alpha val="50000"/>
              </a:srgb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/>
          </a:p>
        </p:txBody>
      </p:sp>
      <p:sp>
        <p:nvSpPr>
          <p:cNvPr id="7174" name="Text Box 5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590800" y="2003425"/>
            <a:ext cx="40386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800" b="1"/>
              <a:t>谓词</a:t>
            </a:r>
            <a:endParaRPr lang="zh-CN" altLang="en-US" sz="1800" b="1"/>
          </a:p>
        </p:txBody>
      </p:sp>
      <p:sp>
        <p:nvSpPr>
          <p:cNvPr id="7175" name="Text Box 6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2135188" y="1927225"/>
            <a:ext cx="3540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7176" name="AutoShape 7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2362200" y="2786063"/>
            <a:ext cx="4343400" cy="457200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accent1"/>
            </a:solidFill>
            <a:round/>
          </a:ln>
          <a:effectLst>
            <a:outerShdw dist="99190" dir="2388334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/>
          </a:p>
        </p:txBody>
      </p:sp>
      <p:sp>
        <p:nvSpPr>
          <p:cNvPr id="7177" name="AutoShape 8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981200" y="2667000"/>
            <a:ext cx="685800" cy="685800"/>
          </a:xfrm>
          <a:prstGeom prst="diamond">
            <a:avLst/>
          </a:prstGeom>
          <a:solidFill>
            <a:schemeClr val="accent1"/>
          </a:solidFill>
          <a:ln w="25400">
            <a:solidFill>
              <a:schemeClr val="bg1"/>
            </a:solidFill>
            <a:miter lim="800000"/>
          </a:ln>
          <a:effectLst>
            <a:outerShdw dist="63500" dir="2212194" algn="ctr" rotWithShape="0">
              <a:srgbClr val="333333">
                <a:alpha val="50000"/>
              </a:srgb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/>
          </a:p>
        </p:txBody>
      </p:sp>
      <p:sp>
        <p:nvSpPr>
          <p:cNvPr id="7178" name="Text Box 9"/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2667000" y="2841625"/>
            <a:ext cx="3962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800" b="1"/>
              <a:t>量词</a:t>
            </a:r>
          </a:p>
        </p:txBody>
      </p:sp>
      <p:sp>
        <p:nvSpPr>
          <p:cNvPr id="7179" name="Text Box 10"/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2135188" y="2765425"/>
            <a:ext cx="3540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7180" name="AutoShape 11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2362200" y="3624263"/>
            <a:ext cx="4343400" cy="457200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hlink"/>
            </a:solidFill>
            <a:round/>
          </a:ln>
          <a:effectLst>
            <a:outerShdw dist="99190" dir="2388334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/>
          </a:p>
        </p:txBody>
      </p:sp>
      <p:sp>
        <p:nvSpPr>
          <p:cNvPr id="7181" name="AutoShape 12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1981200" y="3505200"/>
            <a:ext cx="685800" cy="685800"/>
          </a:xfrm>
          <a:prstGeom prst="diamond">
            <a:avLst/>
          </a:prstGeom>
          <a:solidFill>
            <a:schemeClr val="hlink"/>
          </a:solidFill>
          <a:ln w="25400">
            <a:solidFill>
              <a:schemeClr val="bg1"/>
            </a:solidFill>
            <a:miter lim="800000"/>
          </a:ln>
          <a:effectLst>
            <a:outerShdw dist="63500" dir="2212194" algn="ctr" rotWithShape="0">
              <a:srgbClr val="333333">
                <a:alpha val="50000"/>
              </a:srgb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/>
          </a:p>
        </p:txBody>
      </p:sp>
      <p:sp>
        <p:nvSpPr>
          <p:cNvPr id="7182" name="Text Box 13"/>
          <p:cNvSpPr txBox="1"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2590800" y="3679825"/>
            <a:ext cx="39624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800" b="1"/>
              <a:t>  </a:t>
            </a:r>
            <a:r>
              <a:rPr lang="zh-CN" altLang="en-US" sz="1800" b="1"/>
              <a:t>约束论域的量词</a:t>
            </a:r>
          </a:p>
        </p:txBody>
      </p:sp>
      <p:sp>
        <p:nvSpPr>
          <p:cNvPr id="7183" name="Text Box 14"/>
          <p:cNvSpPr txBox="1"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2135188" y="3603625"/>
            <a:ext cx="3540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7184" name="AutoShape 15"/>
          <p:cNvSpPr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2362200" y="4462463"/>
            <a:ext cx="4343400" cy="457200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accent1"/>
            </a:solidFill>
            <a:round/>
          </a:ln>
          <a:effectLst>
            <a:outerShdw dist="99190" dir="2388334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/>
          </a:p>
        </p:txBody>
      </p:sp>
      <p:sp>
        <p:nvSpPr>
          <p:cNvPr id="7185" name="AutoShape 16"/>
          <p:cNvSpPr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1981200" y="4343400"/>
            <a:ext cx="685800" cy="685800"/>
          </a:xfrm>
          <a:prstGeom prst="diamond">
            <a:avLst/>
          </a:prstGeom>
          <a:solidFill>
            <a:schemeClr val="tx1"/>
          </a:solidFill>
          <a:ln w="25400">
            <a:solidFill>
              <a:schemeClr val="bg1"/>
            </a:solidFill>
            <a:miter lim="800000"/>
          </a:ln>
          <a:effectLst>
            <a:outerShdw dist="63500" dir="2212194" algn="ctr" rotWithShape="0">
              <a:srgbClr val="333333">
                <a:alpha val="50000"/>
              </a:srgb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/>
          </a:p>
        </p:txBody>
      </p:sp>
      <p:sp>
        <p:nvSpPr>
          <p:cNvPr id="7186" name="Text Box 17"/>
          <p:cNvSpPr txBox="1"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2667000" y="4518025"/>
            <a:ext cx="39624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1800" b="1"/>
              <a:t>自然语言至逻辑表达式</a:t>
            </a:r>
            <a:endParaRPr lang="en-US" altLang="zh-CN" sz="1800" b="1"/>
          </a:p>
        </p:txBody>
      </p:sp>
      <p:sp>
        <p:nvSpPr>
          <p:cNvPr id="7187" name="Text Box 18"/>
          <p:cNvSpPr txBox="1"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2135188" y="4441825"/>
            <a:ext cx="3540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7188" name="AutoShape 19"/>
          <p:cNvSpPr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2362200" y="5300663"/>
            <a:ext cx="4343400" cy="457200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hlink"/>
            </a:solidFill>
            <a:round/>
          </a:ln>
          <a:effectLst>
            <a:outerShdw dist="99190" dir="2388334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/>
          </a:p>
        </p:txBody>
      </p:sp>
      <p:sp>
        <p:nvSpPr>
          <p:cNvPr id="7189" name="AutoShape 20"/>
          <p:cNvSpPr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1981200" y="5181600"/>
            <a:ext cx="685800" cy="685800"/>
          </a:xfrm>
          <a:prstGeom prst="diamond">
            <a:avLst/>
          </a:prstGeom>
          <a:solidFill>
            <a:srgbClr val="FF99FF"/>
          </a:solidFill>
          <a:ln w="25400">
            <a:solidFill>
              <a:schemeClr val="bg1"/>
            </a:solidFill>
            <a:miter lim="800000"/>
          </a:ln>
          <a:effectLst>
            <a:outerShdw dist="63500" dir="2212194" algn="ctr" rotWithShape="0">
              <a:srgbClr val="333333">
                <a:alpha val="50000"/>
              </a:srgb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/>
          </a:p>
        </p:txBody>
      </p:sp>
      <p:sp>
        <p:nvSpPr>
          <p:cNvPr id="7190" name="Text Box 21"/>
          <p:cNvSpPr txBox="1"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2590800" y="5356225"/>
            <a:ext cx="3962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800" b="1"/>
              <a:t>  应用实例</a:t>
            </a:r>
          </a:p>
        </p:txBody>
      </p:sp>
      <p:sp>
        <p:nvSpPr>
          <p:cNvPr id="7191" name="Text Box 22"/>
          <p:cNvSpPr txBox="1">
            <a:spLocks noChangeArrowheads="1"/>
          </p:cNvSpPr>
          <p:nvPr>
            <p:custDataLst>
              <p:tags r:id="rId20"/>
            </p:custDataLst>
          </p:nvPr>
        </p:nvSpPr>
        <p:spPr bwMode="auto">
          <a:xfrm>
            <a:off x="2135188" y="5280025"/>
            <a:ext cx="3540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solidFill>
                  <a:schemeClr val="bg1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9425AFB2-3253-41D5-8977-1124D6E45262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4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8195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  <p:grpSp>
        <p:nvGrpSpPr>
          <p:cNvPr id="8196" name="Group 3"/>
          <p:cNvGrpSpPr/>
          <p:nvPr/>
        </p:nvGrpSpPr>
        <p:grpSpPr bwMode="auto">
          <a:xfrm>
            <a:off x="1981200" y="2819400"/>
            <a:ext cx="5029200" cy="2438400"/>
            <a:chOff x="0" y="0"/>
            <a:chExt cx="1889" cy="1009"/>
          </a:xfrm>
        </p:grpSpPr>
        <p:grpSp>
          <p:nvGrpSpPr>
            <p:cNvPr id="8198" name="Group 4"/>
            <p:cNvGrpSpPr/>
            <p:nvPr/>
          </p:nvGrpSpPr>
          <p:grpSpPr bwMode="auto">
            <a:xfrm>
              <a:off x="0" y="90"/>
              <a:ext cx="1889" cy="919"/>
              <a:chOff x="0" y="0"/>
              <a:chExt cx="1926" cy="937"/>
            </a:xfrm>
          </p:grpSpPr>
          <p:sp>
            <p:nvSpPr>
              <p:cNvPr id="8203" name="Oval 5"/>
              <p:cNvSpPr>
                <a:spLocks noChangeArrowheads="1"/>
              </p:cNvSpPr>
              <p:nvPr/>
            </p:nvSpPr>
            <p:spPr bwMode="auto">
              <a:xfrm>
                <a:off x="21" y="30"/>
                <a:ext cx="1905" cy="90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4A4A7C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/>
              </a:p>
            </p:txBody>
          </p:sp>
          <p:sp>
            <p:nvSpPr>
              <p:cNvPr id="8204" name="Oval 6"/>
              <p:cNvSpPr>
                <a:spLocks noChangeArrowheads="1"/>
              </p:cNvSpPr>
              <p:nvPr/>
            </p:nvSpPr>
            <p:spPr bwMode="auto">
              <a:xfrm>
                <a:off x="0" y="0"/>
                <a:ext cx="1905" cy="907"/>
              </a:xfrm>
              <a:prstGeom prst="ellipse">
                <a:avLst/>
              </a:prstGeom>
              <a:gradFill rotWithShape="1">
                <a:gsLst>
                  <a:gs pos="0">
                    <a:srgbClr val="D2D2FF"/>
                  </a:gs>
                  <a:gs pos="100000">
                    <a:schemeClr val="hlink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/>
              </a:p>
            </p:txBody>
          </p:sp>
        </p:grpSp>
        <p:sp>
          <p:nvSpPr>
            <p:cNvPr id="8199" name="Oval 7"/>
            <p:cNvSpPr>
              <a:spLocks noChangeArrowheads="1"/>
            </p:cNvSpPr>
            <p:nvPr/>
          </p:nvSpPr>
          <p:spPr bwMode="auto">
            <a:xfrm>
              <a:off x="89" y="0"/>
              <a:ext cx="1691" cy="845"/>
            </a:xfrm>
            <a:prstGeom prst="ellipse">
              <a:avLst/>
            </a:prstGeom>
            <a:gradFill rotWithShape="1">
              <a:gsLst>
                <a:gs pos="0">
                  <a:srgbClr val="37556B"/>
                </a:gs>
                <a:gs pos="100000">
                  <a:schemeClr val="accent1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eaVert"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/>
            </a:p>
          </p:txBody>
        </p:sp>
        <p:sp>
          <p:nvSpPr>
            <p:cNvPr id="8200" name="Oval 8"/>
            <p:cNvSpPr>
              <a:spLocks noChangeArrowheads="1"/>
            </p:cNvSpPr>
            <p:nvPr/>
          </p:nvSpPr>
          <p:spPr bwMode="auto">
            <a:xfrm>
              <a:off x="111" y="5"/>
              <a:ext cx="1650" cy="824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alpha val="0"/>
                  </a:schemeClr>
                </a:gs>
                <a:gs pos="100000">
                  <a:srgbClr val="D0E6F7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eaVert"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/>
            </a:p>
          </p:txBody>
        </p:sp>
        <p:sp>
          <p:nvSpPr>
            <p:cNvPr id="8201" name="Oval 9"/>
            <p:cNvSpPr>
              <a:spLocks noChangeArrowheads="1"/>
            </p:cNvSpPr>
            <p:nvPr/>
          </p:nvSpPr>
          <p:spPr bwMode="auto">
            <a:xfrm>
              <a:off x="128" y="13"/>
              <a:ext cx="1570" cy="770"/>
            </a:xfrm>
            <a:prstGeom prst="ellipse">
              <a:avLst/>
            </a:prstGeom>
            <a:gradFill rotWithShape="1">
              <a:gsLst>
                <a:gs pos="0">
                  <a:srgbClr val="5E91B7"/>
                </a:gs>
                <a:gs pos="100000">
                  <a:schemeClr val="accent1">
                    <a:alpha val="48000"/>
                  </a:schemeClr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eaVert"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/>
            </a:p>
          </p:txBody>
        </p:sp>
        <p:sp>
          <p:nvSpPr>
            <p:cNvPr id="8202" name="Oval 10"/>
            <p:cNvSpPr>
              <a:spLocks noChangeArrowheads="1"/>
            </p:cNvSpPr>
            <p:nvPr/>
          </p:nvSpPr>
          <p:spPr bwMode="auto">
            <a:xfrm>
              <a:off x="211" y="30"/>
              <a:ext cx="1382" cy="624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chemeClr val="accent1">
                    <a:alpha val="37999"/>
                  </a:schemeClr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eaVert"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/>
            </a:p>
          </p:txBody>
        </p:sp>
      </p:grpSp>
      <p:sp>
        <p:nvSpPr>
          <p:cNvPr id="8197" name="Rectangle 11"/>
          <p:cNvSpPr>
            <a:spLocks noGrp="1" noChangeArrowheads="1"/>
          </p:cNvSpPr>
          <p:nvPr>
            <p:ph type="body" idx="4294967295"/>
          </p:nvPr>
        </p:nvSpPr>
        <p:spPr>
          <a:xfrm>
            <a:off x="2209800" y="3505200"/>
            <a:ext cx="4572000" cy="685800"/>
          </a:xfrm>
        </p:spPr>
        <p:txBody>
          <a:bodyPr/>
          <a:lstStyle/>
          <a:p>
            <a:pPr algn="ctr">
              <a:lnSpc>
                <a:spcPct val="90000"/>
              </a:lnSpc>
              <a:spcBef>
                <a:spcPct val="0"/>
              </a:spcBef>
              <a:buClrTx/>
              <a:buFont typeface="Wingdings" panose="05000000000000000000" pitchFamily="2" charset="2"/>
              <a:buNone/>
            </a:pPr>
            <a:r>
              <a:rPr lang="en-US" altLang="zh-CN" sz="2400" b="1">
                <a:ea typeface="宋体" panose="02010600030101010101" pitchFamily="2" charset="-122"/>
              </a:rPr>
              <a:t>谓词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F68378FD-AB39-4AEA-92DA-F48995B6C2A9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5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9219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谓词逻辑</a:t>
            </a:r>
          </a:p>
        </p:txBody>
      </p:sp>
      <p:sp>
        <p:nvSpPr>
          <p:cNvPr id="9220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981200"/>
            <a:ext cx="7772400" cy="4267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GB" altLang="en-US" dirty="0" err="1">
                <a:ea typeface="宋体" panose="02010600030101010101" pitchFamily="2" charset="-122"/>
              </a:rPr>
              <a:t>我们可以用命题逻辑来证明现实生活中的某些推论是有效的</a:t>
            </a:r>
            <a:r>
              <a:rPr lang="en-GB" altLang="en-US" dirty="0">
                <a:ea typeface="宋体" panose="02010600030101010101" pitchFamily="2" charset="-122"/>
              </a:rPr>
              <a:t>。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US" dirty="0" err="1">
                <a:ea typeface="宋体" panose="02010600030101010101" pitchFamily="2" charset="-122"/>
              </a:rPr>
              <a:t>如果天气寒冷，就会下雪</a:t>
            </a:r>
            <a:r>
              <a:rPr lang="en-GB" altLang="en-US" dirty="0">
                <a:ea typeface="宋体" panose="02010600030101010101" pitchFamily="2" charset="-122"/>
              </a:rPr>
              <a:t>。                    </a:t>
            </a:r>
            <a:endParaRPr lang="en-GB" altLang="en-US" b="1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GB" altLang="en-US" dirty="0" err="1">
                <a:ea typeface="宋体" panose="02010600030101010101" pitchFamily="2" charset="-122"/>
              </a:rPr>
              <a:t>如果下雪，就会发生事故</a:t>
            </a:r>
            <a:r>
              <a:rPr lang="en-GB" altLang="en-US" dirty="0">
                <a:ea typeface="宋体" panose="02010600030101010101" pitchFamily="2" charset="-122"/>
              </a:rPr>
              <a:t>           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US" dirty="0" err="1">
                <a:ea typeface="宋体" panose="02010600030101010101" pitchFamily="2" charset="-122"/>
              </a:rPr>
              <a:t>没有意外</a:t>
            </a:r>
            <a:r>
              <a:rPr lang="en-GB" altLang="en-US" dirty="0">
                <a:ea typeface="宋体" panose="02010600030101010101" pitchFamily="2" charset="-122"/>
              </a:rPr>
              <a:t>。</a:t>
            </a:r>
            <a:r>
              <a:rPr lang="en-GB" altLang="en-US" dirty="0">
                <a:solidFill>
                  <a:srgbClr val="FF0000"/>
                </a:solidFill>
                <a:ea typeface="宋体" panose="02010600030101010101" pitchFamily="2" charset="-122"/>
              </a:rPr>
              <a:t>                     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US" dirty="0" err="1">
                <a:solidFill>
                  <a:srgbClr val="FF0000"/>
                </a:solidFill>
                <a:ea typeface="宋体" panose="02010600030101010101" pitchFamily="2" charset="-122"/>
              </a:rPr>
              <a:t>因此：</a:t>
            </a:r>
            <a:r>
              <a:rPr lang="en-GB" altLang="en-US" dirty="0" err="1">
                <a:ea typeface="宋体" panose="02010600030101010101" pitchFamily="2" charset="-122"/>
              </a:rPr>
              <a:t>不冷</a:t>
            </a:r>
            <a:endParaRPr lang="en-GB" altLang="en-US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GB" altLang="en-US" dirty="0" err="1">
                <a:ea typeface="宋体" panose="02010600030101010101" pitchFamily="2" charset="-122"/>
              </a:rPr>
              <a:t>在命题逻辑中</a:t>
            </a:r>
            <a:r>
              <a:rPr lang="en-GB" altLang="en-US" dirty="0">
                <a:ea typeface="宋体" panose="02010600030101010101" pitchFamily="2" charset="-122"/>
              </a:rPr>
              <a:t>：</a:t>
            </a:r>
          </a:p>
          <a:p>
            <a:pPr lvl="1" eaLnBrk="1" hangingPunct="1">
              <a:lnSpc>
                <a:spcPct val="90000"/>
              </a:lnSpc>
              <a:buNone/>
            </a:pPr>
            <a:r>
              <a:rPr lang="en-GB" altLang="en-US" dirty="0">
                <a:ea typeface="宋体" panose="02010600030101010101" pitchFamily="2" charset="-122"/>
              </a:rPr>
              <a:t>((</a:t>
            </a:r>
            <a:r>
              <a:rPr lang="en-GB" altLang="en-US" dirty="0" err="1">
                <a:ea typeface="宋体" panose="02010600030101010101" pitchFamily="2" charset="-122"/>
                <a:sym typeface="Symbol" panose="05050102010706020507" pitchFamily="18" charset="2"/>
              </a:rPr>
              <a:t>cs</a:t>
            </a:r>
            <a:r>
              <a:rPr lang="en-GB" altLang="en-US" dirty="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en-US" dirty="0"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r>
              <a:rPr lang="en-GB" altLang="en-US" dirty="0">
                <a:ea typeface="宋体" panose="02010600030101010101" pitchFamily="2" charset="-122"/>
                <a:sym typeface="Symbol" panose="05050102010706020507" pitchFamily="18" charset="2"/>
              </a:rPr>
              <a:t>(</a:t>
            </a:r>
            <a:r>
              <a:rPr lang="en-GB" altLang="en-US" dirty="0">
                <a:ea typeface="宋体" panose="02010600030101010101" pitchFamily="2" charset="-122"/>
              </a:rPr>
              <a:t>s</a:t>
            </a:r>
            <a:r>
              <a:rPr lang="en-GB" altLang="en-US" dirty="0">
                <a:ea typeface="宋体" panose="02010600030101010101" pitchFamily="2" charset="-122"/>
                <a:sym typeface="Symbol" panose="05050102010706020507" pitchFamily="18" charset="2"/>
              </a:rPr>
              <a:t>  </a:t>
            </a:r>
            <a:r>
              <a:rPr lang="en-GB" altLang="en-US" dirty="0">
                <a:ea typeface="宋体" panose="02010600030101010101" pitchFamily="2" charset="-122"/>
              </a:rPr>
              <a:t>a )</a:t>
            </a:r>
            <a:r>
              <a:rPr lang="en-GB" altLang="en-US" dirty="0">
                <a:ea typeface="宋体" panose="02010600030101010101" pitchFamily="2" charset="-122"/>
                <a:sym typeface="Symbol" panose="05050102010706020507" pitchFamily="18" charset="2"/>
              </a:rPr>
              <a:t>a) c</a:t>
            </a:r>
            <a:r>
              <a:rPr lang="en-GB" altLang="en-US" dirty="0">
                <a:ea typeface="宋体" panose="02010600030101010101" pitchFamily="2" charset="-122"/>
              </a:rPr>
              <a:t>) </a:t>
            </a:r>
            <a:r>
              <a:rPr lang="en-GB" altLang="en-US" dirty="0" err="1">
                <a:ea typeface="宋体" panose="02010600030101010101" pitchFamily="2" charset="-122"/>
              </a:rPr>
              <a:t>是同义反复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88549749-39CB-4E7F-8129-37CE9BF6D0B4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6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400" dirty="0" err="1">
                <a:ea typeface="宋体" panose="02010600030101010101" pitchFamily="2" charset="-122"/>
              </a:rPr>
              <a:t>示例</a:t>
            </a:r>
            <a:r>
              <a:rPr lang="en-US" altLang="zh-CN" sz="2400" dirty="0">
                <a:ea typeface="宋体" panose="02010600030101010101" pitchFamily="2" charset="-122"/>
              </a:rPr>
              <a:t> 1 </a:t>
            </a:r>
            <a:r>
              <a:rPr lang="zh-CN" altLang="en-US" sz="2400" dirty="0">
                <a:ea typeface="宋体" panose="02010600030101010101" pitchFamily="2" charset="-122"/>
              </a:rPr>
              <a:t>：视频蒙面检测</a:t>
            </a:r>
          </a:p>
        </p:txBody>
      </p:sp>
      <p:pic>
        <p:nvPicPr>
          <p:cNvPr id="11268" name="图片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425" y="1360488"/>
            <a:ext cx="3187700" cy="5386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9" name="图片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800" y="2482850"/>
            <a:ext cx="2009775" cy="202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5D7764CE-E663-434C-AF8B-B3C6DC1B809B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7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12291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400" dirty="0" err="1">
                <a:ea typeface="宋体" panose="02010600030101010101" pitchFamily="2" charset="-122"/>
              </a:rPr>
              <a:t>示例</a:t>
            </a:r>
            <a:r>
              <a:rPr lang="en-US" altLang="zh-CN" sz="2400" dirty="0">
                <a:ea typeface="宋体" panose="02010600030101010101" pitchFamily="2" charset="-122"/>
              </a:rPr>
              <a:t> 2 </a:t>
            </a:r>
            <a:r>
              <a:rPr lang="zh-CN" altLang="en-US" sz="2400" dirty="0">
                <a:ea typeface="宋体" panose="02010600030101010101" pitchFamily="2" charset="-122"/>
              </a:rPr>
              <a:t>：视频监控的安全带检测</a:t>
            </a:r>
          </a:p>
        </p:txBody>
      </p:sp>
      <p:pic>
        <p:nvPicPr>
          <p:cNvPr id="12292" name="Picture 3" descr="C:\Users\Administrator\AppData\Roaming\Tencent\Users\230472752\QQ\WinTemp\RichOle\J50TP]KQS]`0%6O3EHR0R$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300" y="1447800"/>
            <a:ext cx="4257675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3" name="图片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9975" y="1917700"/>
            <a:ext cx="4219575" cy="264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AF4F37F1-61A3-44CE-B755-7EBBED851C46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8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13315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800">
                <a:ea typeface="宋体" panose="02010600030101010101" pitchFamily="2" charset="-122"/>
              </a:rPr>
              <a:t>谓词</a:t>
            </a:r>
          </a:p>
        </p:txBody>
      </p:sp>
      <p:sp>
        <p:nvSpPr>
          <p:cNvPr id="13316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algn="just" eaLnBrk="1" hangingPunct="1"/>
            <a:r>
              <a:rPr lang="en-US" altLang="zh-CN">
                <a:ea typeface="宋体" panose="02010600030101010101" pitchFamily="2" charset="-122"/>
              </a:rPr>
              <a:t>涉及变量的语句，如</a:t>
            </a:r>
          </a:p>
          <a:p>
            <a:pPr algn="just" eaLnBrk="1" hangingPunct="1"/>
            <a:endParaRPr lang="en-US" altLang="zh-CN">
              <a:ea typeface="宋体" panose="02010600030101010101" pitchFamily="2" charset="-122"/>
            </a:endParaRPr>
          </a:p>
          <a:p>
            <a:pPr algn="just" eaLnBrk="1" hangingPunct="1"/>
            <a:r>
              <a:rPr lang="en-US" altLang="zh-CN">
                <a:ea typeface="宋体" panose="02010600030101010101" pitchFamily="2" charset="-122"/>
              </a:rPr>
              <a:t>"x&gt;3"、"x=y+3 "和 "x+y=z"</a:t>
            </a:r>
          </a:p>
          <a:p>
            <a:pPr algn="just" eaLnBrk="1" hangingPunct="1"/>
            <a:endParaRPr lang="en-US" altLang="zh-CN">
              <a:ea typeface="宋体" panose="02010600030101010101" pitchFamily="2" charset="-122"/>
            </a:endParaRPr>
          </a:p>
          <a:p>
            <a:pPr algn="just" eaLnBrk="1" hangingPunct="1"/>
            <a:r>
              <a:rPr lang="en-US" altLang="zh-CN">
                <a:ea typeface="宋体" panose="02010600030101010101" pitchFamily="2" charset="-122"/>
              </a:rPr>
              <a:t>在没有指定变量值的情况下，这些语句既不为真，也不为假。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0A82A272-894D-4539-A76C-7149FD1B2BE6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9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14339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800">
                <a:ea typeface="宋体" panose="02010600030101010101" pitchFamily="2" charset="-122"/>
              </a:rPr>
              <a:t>命题功能</a:t>
            </a:r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419225"/>
            <a:ext cx="8458200" cy="4879975"/>
          </a:xfrm>
        </p:spPr>
        <p:txBody>
          <a:bodyPr/>
          <a:lstStyle/>
          <a:p>
            <a:pPr algn="just" eaLnBrk="1" hangingPunct="1"/>
            <a:r>
              <a:rPr lang="en-US" altLang="zh-CN">
                <a:ea typeface="宋体" panose="02010600030101010101" pitchFamily="2" charset="-122"/>
              </a:rPr>
              <a:t>让我们用 P(x) 表示 "大于 3"，其中</a:t>
            </a: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</a:rPr>
              <a:t>谓词</a:t>
            </a:r>
            <a:r>
              <a:rPr lang="en-US" altLang="zh-CN">
                <a:ea typeface="宋体" panose="02010600030101010101" pitchFamily="2" charset="-122"/>
              </a:rPr>
              <a:t>是 "大于 3"，x 是</a:t>
            </a: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</a:rPr>
              <a:t>变量</a:t>
            </a:r>
            <a:r>
              <a:rPr lang="en-US" altLang="zh-CN">
                <a:ea typeface="宋体" panose="02010600030101010101" pitchFamily="2" charset="-122"/>
              </a:rPr>
              <a:t>。</a:t>
            </a:r>
          </a:p>
          <a:p>
            <a:pPr algn="just" eaLnBrk="1" hangingPunct="1"/>
            <a:r>
              <a:rPr lang="en-US" altLang="zh-CN">
                <a:ea typeface="宋体" panose="02010600030101010101" pitchFamily="2" charset="-122"/>
              </a:rPr>
              <a:t>P(x) 是</a:t>
            </a: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</a:rPr>
              <a:t>命题函数</a:t>
            </a:r>
            <a:r>
              <a:rPr lang="en-US" altLang="zh-CN">
                <a:ea typeface="宋体" panose="02010600030101010101" pitchFamily="2" charset="-122"/>
              </a:rPr>
              <a:t>在 x 处的值。</a:t>
            </a:r>
          </a:p>
          <a:p>
            <a:pPr algn="just" eaLnBrk="1" hangingPunct="1"/>
            <a:r>
              <a:rPr lang="en-US" altLang="zh-CN">
                <a:ea typeface="宋体" panose="02010600030101010101" pitchFamily="2" charset="-122"/>
              </a:rPr>
              <a:t>例 1：让 P(x) 表示 "x&gt;3"。P(4) 和 P(2) 的真值是多少？</a:t>
            </a:r>
          </a:p>
          <a:p>
            <a:pPr algn="just" eaLnBrk="1" hangingPunct="1"/>
            <a:r>
              <a:rPr lang="en-US" altLang="zh-CN">
                <a:ea typeface="宋体" panose="02010600030101010101" pitchFamily="2" charset="-122"/>
              </a:rPr>
              <a:t>P(4):4&gt;3, 真</a:t>
            </a:r>
          </a:p>
          <a:p>
            <a:pPr algn="just" eaLnBrk="1" hangingPunct="1"/>
            <a:r>
              <a:rPr lang="en-US" altLang="zh-CN">
                <a:ea typeface="宋体" panose="02010600030101010101" pitchFamily="2" charset="-122"/>
              </a:rPr>
              <a:t>P(2):2&gt;3, 假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2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2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2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2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2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2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2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2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4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465040ED-38C9-4518-B2E8-076CAD3C461B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10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15363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800">
                <a:ea typeface="宋体" panose="02010600030101010101" pitchFamily="2" charset="-122"/>
              </a:rPr>
              <a:t>示例 1</a:t>
            </a:r>
          </a:p>
        </p:txBody>
      </p:sp>
      <p:sp>
        <p:nvSpPr>
          <p:cNvPr id="15364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algn="just" eaLnBrk="1" hangingPunct="1"/>
            <a:r>
              <a:rPr lang="en-US" altLang="zh-CN">
                <a:ea typeface="宋体" panose="02010600030101010101" pitchFamily="2" charset="-122"/>
              </a:rPr>
              <a:t>让 Q(x,y) 表示语句 "x=y+3"。命题 Q(1,2) 和 Q(3,0) 的真值是多少？</a:t>
            </a:r>
          </a:p>
          <a:p>
            <a:pPr algn="just" eaLnBrk="1" hangingPunct="1"/>
            <a:endParaRPr lang="en-US" altLang="zh-CN">
              <a:ea typeface="宋体" panose="02010600030101010101" pitchFamily="2" charset="-122"/>
            </a:endParaRPr>
          </a:p>
          <a:p>
            <a:pPr algn="just" eaLnBrk="1" hangingPunct="1"/>
            <a:r>
              <a:rPr lang="en-US" altLang="zh-CN">
                <a:ea typeface="宋体" panose="02010600030101010101" pitchFamily="2" charset="-122"/>
              </a:rPr>
              <a:t>Q(1,2):"1=2+3" 为假</a:t>
            </a:r>
          </a:p>
          <a:p>
            <a:pPr algn="just" eaLnBrk="1" hangingPunct="1"/>
            <a:r>
              <a:rPr lang="en-US" altLang="zh-CN">
                <a:ea typeface="宋体" panose="02010600030101010101" pitchFamily="2" charset="-122"/>
              </a:rPr>
              <a:t>Q(3,0):"3=0+3" 为真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DC039D77-08AE-44DF-9E80-E3A4EA7D8B3A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11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16387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800">
                <a:ea typeface="宋体" panose="02010600030101010101" pitchFamily="2" charset="-122"/>
              </a:rPr>
              <a:t>示例 2</a:t>
            </a:r>
          </a:p>
        </p:txBody>
      </p:sp>
      <p:sp>
        <p:nvSpPr>
          <p:cNvPr id="16388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676400"/>
            <a:ext cx="8229600" cy="3657600"/>
          </a:xfrm>
        </p:spPr>
        <p:txBody>
          <a:bodyPr/>
          <a:lstStyle/>
          <a:p>
            <a:pPr algn="just" eaLnBrk="1" hangingPunct="1">
              <a:lnSpc>
                <a:spcPct val="80000"/>
              </a:lnSpc>
            </a:pPr>
            <a:r>
              <a:rPr lang="en-US" altLang="zh-CN">
                <a:ea typeface="宋体" panose="02010600030101010101" pitchFamily="2" charset="-122"/>
              </a:rPr>
              <a:t>命题 R(1,2,3) 和 R(0,0,1)</a:t>
            </a:r>
            <a:r>
              <a:rPr lang="en-US" altLang="zh-CN">
                <a:ea typeface="宋体" panose="02010600030101010101" pitchFamily="2" charset="-122"/>
                <a:sym typeface="+mn-ea"/>
              </a:rPr>
              <a:t>的真值是多少？</a:t>
            </a:r>
            <a:r>
              <a:rPr lang="en-US" altLang="zh-CN">
                <a:ea typeface="宋体" panose="02010600030101010101" pitchFamily="2" charset="-122"/>
              </a:rPr>
              <a:t>其中</a:t>
            </a:r>
            <a:r>
              <a:rPr lang="zh-CN" altLang="en-US">
                <a:ea typeface="宋体" panose="02010600030101010101" pitchFamily="2" charset="-122"/>
              </a:rPr>
              <a:t>，</a:t>
            </a:r>
            <a:r>
              <a:rPr lang="en-US" altLang="zh-CN">
                <a:ea typeface="宋体" panose="02010600030101010101" pitchFamily="2" charset="-122"/>
              </a:rPr>
              <a:t> R(x,y,z) 表示 "x+y=z"</a:t>
            </a:r>
            <a:r>
              <a:rPr lang="zh-CN" altLang="en-US">
                <a:ea typeface="宋体" panose="02010600030101010101" pitchFamily="2" charset="-122"/>
              </a:rPr>
              <a:t>。</a:t>
            </a:r>
            <a:endParaRPr lang="en-US" altLang="zh-CN">
              <a:ea typeface="宋体" panose="02010600030101010101" pitchFamily="2" charset="-122"/>
            </a:endParaRPr>
          </a:p>
          <a:p>
            <a:pPr algn="just" eaLnBrk="1" hangingPunct="1">
              <a:lnSpc>
                <a:spcPct val="80000"/>
              </a:lnSpc>
            </a:pPr>
            <a:endParaRPr lang="en-US" altLang="zh-CN">
              <a:ea typeface="宋体" panose="02010600030101010101" pitchFamily="2" charset="-122"/>
            </a:endParaRPr>
          </a:p>
          <a:p>
            <a:pPr algn="just" eaLnBrk="1" hangingPunct="1">
              <a:lnSpc>
                <a:spcPct val="80000"/>
              </a:lnSpc>
            </a:pPr>
            <a:r>
              <a:rPr lang="en-US" altLang="zh-CN">
                <a:ea typeface="宋体" panose="02010600030101010101" pitchFamily="2" charset="-122"/>
              </a:rPr>
              <a:t>R(1,2,3):"1+2=3 "为 True.R(0,0,1)："0+0=1 "为假。</a:t>
            </a:r>
          </a:p>
          <a:p>
            <a:pPr algn="just" eaLnBrk="1" hangingPunct="1">
              <a:lnSpc>
                <a:spcPct val="80000"/>
              </a:lnSpc>
            </a:pPr>
            <a:endParaRPr lang="en-US" altLang="zh-CN">
              <a:ea typeface="宋体" panose="02010600030101010101" pitchFamily="2" charset="-122"/>
            </a:endParaRPr>
          </a:p>
          <a:p>
            <a:pPr algn="just" eaLnBrk="1" hangingPunct="1">
              <a:lnSpc>
                <a:spcPct val="80000"/>
              </a:lnSpc>
            </a:pPr>
            <a:r>
              <a:rPr lang="en-US" altLang="zh-CN">
                <a:ea typeface="宋体" panose="02010600030101010101" pitchFamily="2" charset="-122"/>
              </a:rPr>
              <a:t>示例 4</a:t>
            </a:r>
          </a:p>
          <a:p>
            <a:pPr algn="just" eaLnBrk="1" hangingPunct="1">
              <a:lnSpc>
                <a:spcPct val="80000"/>
              </a:lnSpc>
            </a:pPr>
            <a:r>
              <a:rPr lang="en-US" altLang="zh-CN">
                <a:ea typeface="宋体" panose="02010600030101010101" pitchFamily="2" charset="-122"/>
              </a:rPr>
              <a:t>    P(x)：如果 x&gt;0 则 x=x+1.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D4874EEA-89EC-4887-AEDE-318B14830519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12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17411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800">
                <a:ea typeface="宋体" panose="02010600030101010101" pitchFamily="2" charset="-122"/>
              </a:rPr>
              <a:t>命题功能</a:t>
            </a:r>
          </a:p>
        </p:txBody>
      </p:sp>
      <p:sp>
        <p:nvSpPr>
          <p:cNvPr id="17412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algn="just" eaLnBrk="1" hangingPunct="1"/>
            <a:r>
              <a:rPr lang="en-US" altLang="zh-CN">
                <a:ea typeface="宋体" panose="02010600030101010101" pitchFamily="2" charset="-122"/>
              </a:rPr>
              <a:t>一般来说，涉及 </a:t>
            </a:r>
            <a:r>
              <a:rPr lang="en-US" altLang="zh-CN" i="1">
                <a:ea typeface="宋体" panose="02010600030101010101" pitchFamily="2" charset="-122"/>
              </a:rPr>
              <a:t>n 个</a:t>
            </a:r>
            <a:r>
              <a:rPr lang="en-US" altLang="zh-CN">
                <a:ea typeface="宋体" panose="02010600030101010101" pitchFamily="2" charset="-122"/>
              </a:rPr>
              <a:t>变量 </a:t>
            </a:r>
            <a:r>
              <a:rPr lang="en-US" altLang="zh-CN" i="1">
                <a:ea typeface="宋体" panose="02010600030101010101" pitchFamily="2" charset="-122"/>
                <a:sym typeface="+mn-ea"/>
              </a:rPr>
              <a:t>x</a:t>
            </a:r>
            <a:r>
              <a:rPr lang="en-US" altLang="zh-CN" sz="1800" b="1" i="1">
                <a:ea typeface="宋体" panose="02010600030101010101" pitchFamily="2" charset="-122"/>
                <a:sym typeface="+mn-ea"/>
              </a:rPr>
              <a:t>1</a:t>
            </a:r>
            <a:r>
              <a:rPr lang="en-US" altLang="zh-CN" b="1">
                <a:ea typeface="宋体" panose="02010600030101010101" pitchFamily="2" charset="-122"/>
                <a:sym typeface="+mn-ea"/>
              </a:rPr>
              <a:t>, </a:t>
            </a:r>
            <a:r>
              <a:rPr lang="en-US" altLang="zh-CN" i="1">
                <a:ea typeface="宋体" panose="02010600030101010101" pitchFamily="2" charset="-122"/>
                <a:sym typeface="+mn-ea"/>
              </a:rPr>
              <a:t>x</a:t>
            </a:r>
            <a:r>
              <a:rPr lang="en-US" altLang="zh-CN" sz="1800" b="1" i="1">
                <a:ea typeface="宋体" panose="02010600030101010101" pitchFamily="2" charset="-122"/>
                <a:sym typeface="+mn-ea"/>
              </a:rPr>
              <a:t>2</a:t>
            </a:r>
            <a:r>
              <a:rPr lang="en-US" altLang="zh-CN" b="1">
                <a:ea typeface="宋体" panose="02010600030101010101" pitchFamily="2" charset="-122"/>
                <a:sym typeface="+mn-ea"/>
              </a:rPr>
              <a:t>,…, </a:t>
            </a:r>
            <a:r>
              <a:rPr lang="en-US" altLang="zh-CN" i="1">
                <a:ea typeface="宋体" panose="02010600030101010101" pitchFamily="2" charset="-122"/>
                <a:sym typeface="+mn-ea"/>
              </a:rPr>
              <a:t>x</a:t>
            </a:r>
            <a:r>
              <a:rPr lang="en-US" altLang="zh-CN" sz="1800" b="1" i="1">
                <a:ea typeface="宋体" panose="02010600030101010101" pitchFamily="2" charset="-122"/>
                <a:sym typeface="+mn-ea"/>
              </a:rPr>
              <a:t>n</a:t>
            </a:r>
            <a:r>
              <a:rPr lang="en-US" altLang="zh-CN">
                <a:ea typeface="宋体" panose="02010600030101010101" pitchFamily="2" charset="-122"/>
              </a:rPr>
              <a:t>的语句可以用 </a:t>
            </a:r>
            <a:r>
              <a:rPr lang="en-US" altLang="zh-CN" i="1">
                <a:ea typeface="宋体" panose="02010600030101010101" pitchFamily="2" charset="-122"/>
                <a:sym typeface="+mn-ea"/>
              </a:rPr>
              <a:t>P</a:t>
            </a:r>
            <a:r>
              <a:rPr lang="en-US" altLang="zh-CN">
                <a:ea typeface="宋体" panose="02010600030101010101" pitchFamily="2" charset="-122"/>
                <a:sym typeface="+mn-ea"/>
              </a:rPr>
              <a:t>(</a:t>
            </a:r>
            <a:r>
              <a:rPr lang="en-US" altLang="zh-CN" i="1">
                <a:ea typeface="宋体" panose="02010600030101010101" pitchFamily="2" charset="-122"/>
                <a:sym typeface="+mn-ea"/>
              </a:rPr>
              <a:t>x</a:t>
            </a:r>
            <a:r>
              <a:rPr lang="en-US" altLang="zh-CN" sz="1800" b="1" i="1">
                <a:ea typeface="宋体" panose="02010600030101010101" pitchFamily="2" charset="-122"/>
                <a:sym typeface="+mn-ea"/>
              </a:rPr>
              <a:t>1</a:t>
            </a:r>
            <a:r>
              <a:rPr lang="en-US" altLang="zh-CN" b="1">
                <a:ea typeface="宋体" panose="02010600030101010101" pitchFamily="2" charset="-122"/>
                <a:sym typeface="+mn-ea"/>
              </a:rPr>
              <a:t>, </a:t>
            </a:r>
            <a:r>
              <a:rPr lang="en-US" altLang="zh-CN" i="1">
                <a:ea typeface="宋体" panose="02010600030101010101" pitchFamily="2" charset="-122"/>
                <a:sym typeface="+mn-ea"/>
              </a:rPr>
              <a:t>x</a:t>
            </a:r>
            <a:r>
              <a:rPr lang="en-US" altLang="zh-CN" sz="1800" b="1" i="1">
                <a:ea typeface="宋体" panose="02010600030101010101" pitchFamily="2" charset="-122"/>
                <a:sym typeface="+mn-ea"/>
              </a:rPr>
              <a:t>2</a:t>
            </a:r>
            <a:r>
              <a:rPr lang="en-US" altLang="zh-CN" b="1">
                <a:ea typeface="宋体" panose="02010600030101010101" pitchFamily="2" charset="-122"/>
                <a:sym typeface="+mn-ea"/>
              </a:rPr>
              <a:t>,…, </a:t>
            </a:r>
            <a:r>
              <a:rPr lang="en-US" altLang="zh-CN" i="1">
                <a:ea typeface="宋体" panose="02010600030101010101" pitchFamily="2" charset="-122"/>
                <a:sym typeface="+mn-ea"/>
              </a:rPr>
              <a:t>x</a:t>
            </a:r>
            <a:r>
              <a:rPr lang="en-US" altLang="zh-CN" sz="1800" b="1" i="1">
                <a:ea typeface="宋体" panose="02010600030101010101" pitchFamily="2" charset="-122"/>
                <a:sym typeface="+mn-ea"/>
              </a:rPr>
              <a:t>n</a:t>
            </a:r>
            <a:r>
              <a:rPr lang="en-US" altLang="zh-CN" b="1" i="1">
                <a:ea typeface="宋体" panose="02010600030101010101" pitchFamily="2" charset="-122"/>
                <a:sym typeface="+mn-ea"/>
              </a:rPr>
              <a:t> </a:t>
            </a:r>
            <a:r>
              <a:rPr lang="en-US" altLang="zh-CN">
                <a:ea typeface="宋体" panose="02010600030101010101" pitchFamily="2" charset="-122"/>
                <a:sym typeface="+mn-ea"/>
              </a:rPr>
              <a:t>)</a:t>
            </a:r>
            <a:r>
              <a:rPr lang="en-US" altLang="zh-CN">
                <a:ea typeface="宋体" panose="02010600030101010101" pitchFamily="2" charset="-122"/>
              </a:rPr>
              <a:t> 表示。</a:t>
            </a:r>
          </a:p>
          <a:p>
            <a:pPr algn="just" eaLnBrk="1" hangingPunct="1"/>
            <a:r>
              <a:rPr lang="en-US" altLang="zh-CN">
                <a:ea typeface="宋体" panose="02010600030101010101" pitchFamily="2" charset="-122"/>
              </a:rPr>
              <a:t>形式为 </a:t>
            </a:r>
            <a:r>
              <a:rPr lang="en-US" altLang="zh-CN" i="1">
                <a:ea typeface="宋体" panose="02010600030101010101" pitchFamily="2" charset="-122"/>
                <a:sym typeface="+mn-ea"/>
              </a:rPr>
              <a:t>P</a:t>
            </a:r>
            <a:r>
              <a:rPr lang="en-US" altLang="zh-CN">
                <a:ea typeface="宋体" panose="02010600030101010101" pitchFamily="2" charset="-122"/>
                <a:sym typeface="+mn-ea"/>
              </a:rPr>
              <a:t>(</a:t>
            </a:r>
            <a:r>
              <a:rPr lang="en-US" altLang="zh-CN" i="1">
                <a:ea typeface="宋体" panose="02010600030101010101" pitchFamily="2" charset="-122"/>
                <a:sym typeface="+mn-ea"/>
              </a:rPr>
              <a:t>x</a:t>
            </a:r>
            <a:r>
              <a:rPr lang="en-US" altLang="zh-CN" sz="1800" b="1" i="1">
                <a:ea typeface="宋体" panose="02010600030101010101" pitchFamily="2" charset="-122"/>
                <a:sym typeface="+mn-ea"/>
              </a:rPr>
              <a:t>1</a:t>
            </a:r>
            <a:r>
              <a:rPr lang="en-US" altLang="zh-CN" b="1">
                <a:ea typeface="宋体" panose="02010600030101010101" pitchFamily="2" charset="-122"/>
                <a:sym typeface="+mn-ea"/>
              </a:rPr>
              <a:t>, </a:t>
            </a:r>
            <a:r>
              <a:rPr lang="en-US" altLang="zh-CN" i="1">
                <a:ea typeface="宋体" panose="02010600030101010101" pitchFamily="2" charset="-122"/>
                <a:sym typeface="+mn-ea"/>
              </a:rPr>
              <a:t>x</a:t>
            </a:r>
            <a:r>
              <a:rPr lang="en-US" altLang="zh-CN" sz="1800" b="1" i="1">
                <a:ea typeface="宋体" panose="02010600030101010101" pitchFamily="2" charset="-122"/>
                <a:sym typeface="+mn-ea"/>
              </a:rPr>
              <a:t>2</a:t>
            </a:r>
            <a:r>
              <a:rPr lang="en-US" altLang="zh-CN" b="1">
                <a:ea typeface="宋体" panose="02010600030101010101" pitchFamily="2" charset="-122"/>
                <a:sym typeface="+mn-ea"/>
              </a:rPr>
              <a:t>,…, </a:t>
            </a:r>
            <a:r>
              <a:rPr lang="en-US" altLang="zh-CN" i="1">
                <a:ea typeface="宋体" panose="02010600030101010101" pitchFamily="2" charset="-122"/>
                <a:sym typeface="+mn-ea"/>
              </a:rPr>
              <a:t>x</a:t>
            </a:r>
            <a:r>
              <a:rPr lang="en-US" altLang="zh-CN" sz="1800" b="1" i="1">
                <a:ea typeface="宋体" panose="02010600030101010101" pitchFamily="2" charset="-122"/>
                <a:sym typeface="+mn-ea"/>
              </a:rPr>
              <a:t>n</a:t>
            </a:r>
            <a:r>
              <a:rPr lang="en-US" altLang="zh-CN" b="1" i="1">
                <a:ea typeface="宋体" panose="02010600030101010101" pitchFamily="2" charset="-122"/>
                <a:sym typeface="+mn-ea"/>
              </a:rPr>
              <a:t> </a:t>
            </a:r>
            <a:r>
              <a:rPr lang="en-US" altLang="zh-CN">
                <a:ea typeface="宋体" panose="02010600030101010101" pitchFamily="2" charset="-122"/>
                <a:sym typeface="+mn-ea"/>
              </a:rPr>
              <a:t>)</a:t>
            </a:r>
            <a:r>
              <a:rPr lang="en-US" altLang="zh-CN">
                <a:ea typeface="宋体" panose="02010600030101010101" pitchFamily="2" charset="-122"/>
              </a:rPr>
              <a:t> 的语句是</a:t>
            </a: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</a:rPr>
              <a:t>命题函数 </a:t>
            </a:r>
            <a:r>
              <a:rPr lang="en-US" altLang="zh-CN" i="1">
                <a:ea typeface="宋体" panose="02010600030101010101" pitchFamily="2" charset="-122"/>
              </a:rPr>
              <a:t>P </a:t>
            </a:r>
            <a:r>
              <a:rPr lang="en-US" altLang="zh-CN">
                <a:ea typeface="宋体" panose="02010600030101010101" pitchFamily="2" charset="-122"/>
              </a:rPr>
              <a:t>在 </a:t>
            </a:r>
            <a:r>
              <a:rPr lang="en-US" altLang="zh-CN" i="1">
                <a:ea typeface="宋体" panose="02010600030101010101" pitchFamily="2" charset="-122"/>
              </a:rPr>
              <a:t>n 元组 </a:t>
            </a:r>
            <a:r>
              <a:rPr lang="en-US" altLang="zh-CN">
                <a:ea typeface="宋体" panose="02010600030101010101" pitchFamily="2" charset="-122"/>
                <a:sym typeface="+mn-ea"/>
              </a:rPr>
              <a:t>(</a:t>
            </a:r>
            <a:r>
              <a:rPr lang="en-US" altLang="zh-CN" i="1">
                <a:ea typeface="宋体" panose="02010600030101010101" pitchFamily="2" charset="-122"/>
                <a:sym typeface="+mn-ea"/>
              </a:rPr>
              <a:t>x</a:t>
            </a:r>
            <a:r>
              <a:rPr lang="en-US" altLang="zh-CN" sz="1800" b="1" i="1">
                <a:ea typeface="宋体" panose="02010600030101010101" pitchFamily="2" charset="-122"/>
                <a:sym typeface="+mn-ea"/>
              </a:rPr>
              <a:t>1</a:t>
            </a:r>
            <a:r>
              <a:rPr lang="en-US" altLang="zh-CN" b="1">
                <a:ea typeface="宋体" panose="02010600030101010101" pitchFamily="2" charset="-122"/>
                <a:sym typeface="+mn-ea"/>
              </a:rPr>
              <a:t>, </a:t>
            </a:r>
            <a:r>
              <a:rPr lang="en-US" altLang="zh-CN" i="1">
                <a:ea typeface="宋体" panose="02010600030101010101" pitchFamily="2" charset="-122"/>
                <a:sym typeface="+mn-ea"/>
              </a:rPr>
              <a:t>x</a:t>
            </a:r>
            <a:r>
              <a:rPr lang="en-US" altLang="zh-CN" sz="1800" b="1" i="1">
                <a:ea typeface="宋体" panose="02010600030101010101" pitchFamily="2" charset="-122"/>
                <a:sym typeface="+mn-ea"/>
              </a:rPr>
              <a:t>2</a:t>
            </a:r>
            <a:r>
              <a:rPr lang="en-US" altLang="zh-CN" b="1">
                <a:ea typeface="宋体" panose="02010600030101010101" pitchFamily="2" charset="-122"/>
                <a:sym typeface="+mn-ea"/>
              </a:rPr>
              <a:t>,…, </a:t>
            </a:r>
            <a:r>
              <a:rPr lang="en-US" altLang="zh-CN" i="1">
                <a:ea typeface="宋体" panose="02010600030101010101" pitchFamily="2" charset="-122"/>
                <a:sym typeface="+mn-ea"/>
              </a:rPr>
              <a:t>x</a:t>
            </a:r>
            <a:r>
              <a:rPr lang="en-US" altLang="zh-CN" sz="1800" b="1" i="1">
                <a:ea typeface="宋体" panose="02010600030101010101" pitchFamily="2" charset="-122"/>
                <a:sym typeface="+mn-ea"/>
              </a:rPr>
              <a:t>n</a:t>
            </a:r>
            <a:r>
              <a:rPr lang="en-US" altLang="zh-CN" b="1" i="1">
                <a:ea typeface="宋体" panose="02010600030101010101" pitchFamily="2" charset="-122"/>
                <a:sym typeface="+mn-ea"/>
              </a:rPr>
              <a:t> </a:t>
            </a:r>
            <a:r>
              <a:rPr lang="en-US" altLang="zh-CN">
                <a:ea typeface="宋体" panose="02010600030101010101" pitchFamily="2" charset="-122"/>
                <a:sym typeface="+mn-ea"/>
              </a:rPr>
              <a:t>)</a:t>
            </a:r>
            <a:r>
              <a:rPr lang="en-US" altLang="zh-CN">
                <a:ea typeface="宋体" panose="02010600030101010101" pitchFamily="2" charset="-122"/>
              </a:rPr>
              <a:t> 上的值，</a:t>
            </a:r>
            <a:r>
              <a:rPr lang="en-US" altLang="zh-CN" i="1">
                <a:ea typeface="宋体" panose="02010600030101010101" pitchFamily="2" charset="-122"/>
              </a:rPr>
              <a:t>P </a:t>
            </a:r>
            <a:r>
              <a:rPr lang="en-US" altLang="zh-CN">
                <a:ea typeface="宋体" panose="02010600030101010101" pitchFamily="2" charset="-122"/>
              </a:rPr>
              <a:t>也称为</a:t>
            </a: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</a:rPr>
              <a:t>谓词</a:t>
            </a:r>
            <a:r>
              <a:rPr lang="en-US" altLang="zh-CN">
                <a:ea typeface="宋体" panose="02010600030101010101" pitchFamily="2" charset="-122"/>
              </a:rPr>
              <a:t>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99762EE0-C865-4C02-AECA-7D99DC150722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13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18435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  <p:grpSp>
        <p:nvGrpSpPr>
          <p:cNvPr id="18436" name="Group 3"/>
          <p:cNvGrpSpPr/>
          <p:nvPr/>
        </p:nvGrpSpPr>
        <p:grpSpPr bwMode="auto">
          <a:xfrm>
            <a:off x="1981200" y="2819400"/>
            <a:ext cx="5029200" cy="2438400"/>
            <a:chOff x="0" y="0"/>
            <a:chExt cx="1889" cy="1009"/>
          </a:xfrm>
        </p:grpSpPr>
        <p:grpSp>
          <p:nvGrpSpPr>
            <p:cNvPr id="18438" name="Group 4"/>
            <p:cNvGrpSpPr/>
            <p:nvPr/>
          </p:nvGrpSpPr>
          <p:grpSpPr bwMode="auto">
            <a:xfrm>
              <a:off x="0" y="90"/>
              <a:ext cx="1889" cy="919"/>
              <a:chOff x="0" y="0"/>
              <a:chExt cx="1926" cy="937"/>
            </a:xfrm>
          </p:grpSpPr>
          <p:sp>
            <p:nvSpPr>
              <p:cNvPr id="18443" name="Oval 5"/>
              <p:cNvSpPr>
                <a:spLocks noChangeArrowheads="1"/>
              </p:cNvSpPr>
              <p:nvPr/>
            </p:nvSpPr>
            <p:spPr bwMode="auto">
              <a:xfrm>
                <a:off x="21" y="30"/>
                <a:ext cx="1905" cy="90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4A4A7C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/>
              </a:p>
            </p:txBody>
          </p:sp>
          <p:sp>
            <p:nvSpPr>
              <p:cNvPr id="18444" name="Oval 6"/>
              <p:cNvSpPr>
                <a:spLocks noChangeArrowheads="1"/>
              </p:cNvSpPr>
              <p:nvPr/>
            </p:nvSpPr>
            <p:spPr bwMode="auto">
              <a:xfrm>
                <a:off x="0" y="0"/>
                <a:ext cx="1905" cy="907"/>
              </a:xfrm>
              <a:prstGeom prst="ellipse">
                <a:avLst/>
              </a:prstGeom>
              <a:gradFill rotWithShape="1">
                <a:gsLst>
                  <a:gs pos="0">
                    <a:srgbClr val="D2D2FF"/>
                  </a:gs>
                  <a:gs pos="100000">
                    <a:schemeClr val="hlink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/>
              </a:p>
            </p:txBody>
          </p:sp>
        </p:grpSp>
        <p:sp>
          <p:nvSpPr>
            <p:cNvPr id="18439" name="Oval 7"/>
            <p:cNvSpPr>
              <a:spLocks noChangeArrowheads="1"/>
            </p:cNvSpPr>
            <p:nvPr/>
          </p:nvSpPr>
          <p:spPr bwMode="auto">
            <a:xfrm>
              <a:off x="89" y="0"/>
              <a:ext cx="1691" cy="845"/>
            </a:xfrm>
            <a:prstGeom prst="ellipse">
              <a:avLst/>
            </a:prstGeom>
            <a:gradFill rotWithShape="1">
              <a:gsLst>
                <a:gs pos="0">
                  <a:srgbClr val="37556B"/>
                </a:gs>
                <a:gs pos="100000">
                  <a:schemeClr val="accent1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eaVert"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/>
            </a:p>
          </p:txBody>
        </p:sp>
        <p:sp>
          <p:nvSpPr>
            <p:cNvPr id="18440" name="Oval 8"/>
            <p:cNvSpPr>
              <a:spLocks noChangeArrowheads="1"/>
            </p:cNvSpPr>
            <p:nvPr/>
          </p:nvSpPr>
          <p:spPr bwMode="auto">
            <a:xfrm>
              <a:off x="111" y="5"/>
              <a:ext cx="1650" cy="824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alpha val="0"/>
                  </a:schemeClr>
                </a:gs>
                <a:gs pos="100000">
                  <a:srgbClr val="D0E6F7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eaVert"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/>
            </a:p>
          </p:txBody>
        </p:sp>
        <p:sp>
          <p:nvSpPr>
            <p:cNvPr id="18441" name="Oval 9"/>
            <p:cNvSpPr>
              <a:spLocks noChangeArrowheads="1"/>
            </p:cNvSpPr>
            <p:nvPr/>
          </p:nvSpPr>
          <p:spPr bwMode="auto">
            <a:xfrm>
              <a:off x="128" y="13"/>
              <a:ext cx="1570" cy="770"/>
            </a:xfrm>
            <a:prstGeom prst="ellipse">
              <a:avLst/>
            </a:prstGeom>
            <a:gradFill rotWithShape="1">
              <a:gsLst>
                <a:gs pos="0">
                  <a:srgbClr val="5E91B7"/>
                </a:gs>
                <a:gs pos="100000">
                  <a:schemeClr val="accent1">
                    <a:alpha val="48000"/>
                  </a:schemeClr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eaVert"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/>
            </a:p>
          </p:txBody>
        </p:sp>
        <p:sp>
          <p:nvSpPr>
            <p:cNvPr id="18442" name="Oval 10"/>
            <p:cNvSpPr>
              <a:spLocks noChangeArrowheads="1"/>
            </p:cNvSpPr>
            <p:nvPr/>
          </p:nvSpPr>
          <p:spPr bwMode="auto">
            <a:xfrm>
              <a:off x="211" y="30"/>
              <a:ext cx="1382" cy="624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chemeClr val="accent1">
                    <a:alpha val="37999"/>
                  </a:schemeClr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eaVert"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/>
            </a:p>
          </p:txBody>
        </p:sp>
      </p:grpSp>
      <p:sp>
        <p:nvSpPr>
          <p:cNvPr id="18437" name="Rectangle 11"/>
          <p:cNvSpPr>
            <a:spLocks noGrp="1" noChangeArrowheads="1"/>
          </p:cNvSpPr>
          <p:nvPr>
            <p:ph type="body" idx="4294967295"/>
          </p:nvPr>
        </p:nvSpPr>
        <p:spPr>
          <a:xfrm>
            <a:off x="2209800" y="3505200"/>
            <a:ext cx="4572000" cy="685800"/>
          </a:xfrm>
        </p:spPr>
        <p:txBody>
          <a:bodyPr/>
          <a:lstStyle/>
          <a:p>
            <a:pPr algn="ctr">
              <a:spcBef>
                <a:spcPct val="0"/>
              </a:spcBef>
              <a:buClrTx/>
              <a:buFont typeface="Wingdings" panose="05000000000000000000" pitchFamily="2" charset="2"/>
              <a:buNone/>
            </a:pPr>
            <a:r>
              <a:rPr lang="en-US" altLang="zh-CN" b="1">
                <a:ea typeface="宋体" panose="02010600030101010101" pitchFamily="2" charset="-122"/>
              </a:rPr>
              <a:t>量词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0F2DEFAA-FA00-4186-8A88-DCAF11573D95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14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19459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量词表达式</a:t>
            </a:r>
          </a:p>
        </p:txBody>
      </p:sp>
      <p:sp>
        <p:nvSpPr>
          <p:cNvPr id="19460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09600" y="1752600"/>
            <a:ext cx="8229600" cy="4267200"/>
          </a:xfrm>
        </p:spPr>
        <p:txBody>
          <a:bodyPr/>
          <a:lstStyle/>
          <a:p>
            <a:pPr algn="just" eaLnBrk="1" hangingPunct="1"/>
            <a:r>
              <a:rPr lang="en-US" altLang="zh-CN" i="1">
                <a:ea typeface="宋体" panose="02010600030101010101" pitchFamily="2" charset="-122"/>
              </a:rPr>
              <a:t>量词</a:t>
            </a:r>
            <a:r>
              <a:rPr lang="en-US" altLang="zh-CN">
                <a:ea typeface="宋体" panose="02010600030101010101" pitchFamily="2" charset="-122"/>
              </a:rPr>
              <a:t>提供了一种符号，让我们可以</a:t>
            </a:r>
            <a:r>
              <a:rPr lang="en-US" altLang="zh-CN" i="1">
                <a:ea typeface="宋体" panose="02010600030101010101" pitchFamily="2" charset="-122"/>
              </a:rPr>
              <a:t>量化</a:t>
            </a:r>
            <a:r>
              <a:rPr lang="en-US" altLang="zh-CN">
                <a:ea typeface="宋体" panose="02010600030101010101" pitchFamily="2" charset="-122"/>
              </a:rPr>
              <a:t>（计算）u.d.中有多少对象满足给定的谓词。</a:t>
            </a:r>
          </a:p>
          <a:p>
            <a:pPr algn="l" eaLnBrk="1" hangingPunct="1"/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"" </a:t>
            </a: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是  FOR ALL 或</a:t>
            </a:r>
            <a:r>
              <a:rPr lang="zh-CN" altLang="en-US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全称</a:t>
            </a: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量词。</a:t>
            </a:r>
            <a:br>
              <a:rPr lang="en-US" altLang="zh-CN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</a:b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"" </a:t>
            </a: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是 EXISTS 或</a:t>
            </a:r>
            <a:r>
              <a:rPr lang="en-US" altLang="zh-CN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存在</a:t>
            </a: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量词。</a:t>
            </a:r>
          </a:p>
          <a:p>
            <a:pPr algn="just" eaLnBrk="1" hangingPunct="1"/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例如，</a:t>
            </a:r>
            <a:r>
              <a:rPr lang="en-US" altLang="zh-CN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x P</a:t>
            </a: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)和 x </a:t>
            </a:r>
            <a:r>
              <a:rPr lang="en-US" altLang="zh-CN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</a:t>
            </a: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r>
              <a:rPr lang="en-GB" altLang="en-US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是命题</a:t>
            </a:r>
            <a:endParaRPr lang="en-US" altLang="zh-CN">
              <a:solidFill>
                <a:srgbClr val="00000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39DD06A5-3DED-4CA0-97BE-110CB513270F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15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20483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sz="2800">
                <a:ea typeface="宋体" panose="02010600030101010101" pitchFamily="2" charset="-122"/>
              </a:rPr>
              <a:t>全称量词</a:t>
            </a:r>
            <a:r>
              <a:rPr lang="en-US" altLang="zh-CN" sz="2800"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20484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algn="just" eaLnBrk="1" hangingPunct="1">
              <a:lnSpc>
                <a:spcPct val="90000"/>
              </a:lnSpc>
            </a:pPr>
            <a:r>
              <a:rPr lang="en-US" altLang="zh-CN" dirty="0" err="1">
                <a:ea typeface="宋体" panose="02010600030101010101" pitchFamily="2" charset="-122"/>
              </a:rPr>
              <a:t>定义</a:t>
            </a:r>
            <a:r>
              <a:rPr lang="en-US" altLang="zh-CN" dirty="0">
                <a:ea typeface="宋体" panose="02010600030101010101" pitchFamily="2" charset="-122"/>
              </a:rPr>
              <a:t> 1：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P(x) 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</a:rPr>
              <a:t>的</a:t>
            </a:r>
            <a:r>
              <a:rPr lang="zh-CN" altLang="en-US" dirty="0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全称量化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</a:rPr>
              <a:t>是命题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 "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) 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</a:rPr>
              <a:t>对于</a:t>
            </a:r>
            <a:r>
              <a:rPr lang="zh-CN" altLang="en-US" dirty="0">
                <a:solidFill>
                  <a:srgbClr val="000000"/>
                </a:solidFill>
                <a:ea typeface="宋体" panose="02010600030101010101" pitchFamily="2" charset="-122"/>
              </a:rPr>
              <a:t>论域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</a:rPr>
              <a:t>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 x 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</a:rPr>
              <a:t>的所有值都为真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"。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 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</a:rPr>
              <a:t>的</a:t>
            </a:r>
            <a:r>
              <a:rPr lang="zh-CN" altLang="en-US" dirty="0">
                <a:solidFill>
                  <a:srgbClr val="000000"/>
                </a:solidFill>
                <a:ea typeface="宋体" panose="02010600030101010101" pitchFamily="2" charset="-122"/>
              </a:rPr>
              <a:t>全称量词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 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</a:rPr>
              <a:t>表示为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x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。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命题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x 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) 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</a:rPr>
              <a:t>读作</a:t>
            </a:r>
            <a:endParaRPr lang="en-US" altLang="zh-CN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 algn="just" eaLnBrk="1" hangingPunct="1">
              <a:lnSpc>
                <a:spcPct val="90000"/>
              </a:lnSpc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"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</a:rPr>
              <a:t>对于所有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 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</a:rPr>
              <a:t>P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</a:rPr>
              <a:t>（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）"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</a:rPr>
              <a:t>或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 "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</a:rPr>
              <a:t>对于每个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 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</a:rPr>
              <a:t>P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</a:rPr>
              <a:t>（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）"</a:t>
            </a:r>
          </a:p>
          <a:p>
            <a:pPr algn="just" eaLnBrk="1" hangingPunct="1">
              <a:lnSpc>
                <a:spcPct val="90000"/>
              </a:lnSpc>
            </a:pPr>
            <a:endParaRPr lang="en-US" altLang="zh-CN" i="1" dirty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CBB44815-0E8C-46D3-B0C9-D558CFAE34EF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16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21507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例如：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</a:t>
            </a:r>
          </a:p>
        </p:txBody>
      </p:sp>
      <p:sp>
        <p:nvSpPr>
          <p:cNvPr id="21508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 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</a:rPr>
              <a:t>让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 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</a:rPr>
              <a:t>u.d.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 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</a:rPr>
              <a:t>为</a:t>
            </a:r>
            <a:r>
              <a:rPr lang="en-US" altLang="zh-CN" u="sng" dirty="0" err="1">
                <a:solidFill>
                  <a:srgbClr val="000000"/>
                </a:solidFill>
                <a:ea typeface="宋体" panose="02010600030101010101" pitchFamily="2" charset="-122"/>
              </a:rPr>
              <a:t>华南理工大学的停车位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。</a:t>
            </a:r>
            <a:b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</a:b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</a:rPr>
              <a:t>设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) 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</a:rPr>
              <a:t>是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</a:rPr>
              <a:t>命题形式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“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x 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</a:rPr>
              <a:t>被占用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”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。</a:t>
            </a:r>
            <a:br>
              <a:rPr lang="en-US" altLang="zh-CN" dirty="0">
                <a:solidFill>
                  <a:schemeClr val="accent2"/>
                </a:solidFill>
                <a:ea typeface="宋体" panose="02010600030101010101" pitchFamily="2" charset="-122"/>
              </a:rPr>
            </a:br>
            <a:r>
              <a:rPr lang="en-US" altLang="zh-CN" dirty="0" err="1">
                <a:ea typeface="宋体" panose="02010600030101010101" pitchFamily="2" charset="-122"/>
              </a:rPr>
              <a:t>那么，</a:t>
            </a:r>
            <a:r>
              <a:rPr lang="en-US" altLang="zh-CN" i="1" dirty="0" err="1">
                <a:ea typeface="宋体" panose="02010600030101010101" pitchFamily="2" charset="-122"/>
              </a:rPr>
              <a:t>P</a:t>
            </a:r>
            <a:r>
              <a:rPr lang="en-US" altLang="zh-CN" dirty="0">
                <a:ea typeface="宋体" panose="02010600030101010101" pitchFamily="2" charset="-122"/>
              </a:rPr>
              <a:t>(</a:t>
            </a:r>
            <a:r>
              <a:rPr lang="en-US" altLang="zh-CN" i="1" dirty="0">
                <a:ea typeface="宋体" panose="02010600030101010101" pitchFamily="2" charset="-122"/>
              </a:rPr>
              <a:t>x</a:t>
            </a:r>
            <a:r>
              <a:rPr lang="en-US" altLang="zh-CN" dirty="0">
                <a:ea typeface="宋体" panose="02010600030101010101" pitchFamily="2" charset="-122"/>
              </a:rPr>
              <a:t>)</a:t>
            </a:r>
            <a:r>
              <a:rPr lang="en-US" altLang="zh-CN" i="1" dirty="0" err="1">
                <a:ea typeface="宋体" panose="02010600030101010101" pitchFamily="2" charset="-122"/>
              </a:rPr>
              <a:t>的</a:t>
            </a:r>
            <a:r>
              <a:rPr lang="zh-CN" altLang="en-US" i="1" dirty="0">
                <a:ea typeface="宋体" panose="02010600030101010101" pitchFamily="2" charset="-122"/>
              </a:rPr>
              <a:t>全称量化</a:t>
            </a:r>
            <a:r>
              <a:rPr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x P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)，</a:t>
            </a:r>
            <a:r>
              <a:rPr lang="en-US" altLang="zh-CN" dirty="0" err="1">
                <a:ea typeface="宋体" panose="02010600030101010101" pitchFamily="2" charset="-122"/>
                <a:sym typeface="Symbol" panose="05050102010706020507" pitchFamily="18" charset="2"/>
              </a:rPr>
              <a:t>就是命题</a:t>
            </a:r>
            <a:r>
              <a:rPr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：</a:t>
            </a:r>
          </a:p>
          <a:p>
            <a:pPr lvl="1" eaLnBrk="1" hangingPunct="1"/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"</a:t>
            </a:r>
            <a:r>
              <a:rPr lang="en-US" altLang="zh-CN" sz="2400" dirty="0" err="1">
                <a:ea typeface="宋体" panose="02010600030101010101" pitchFamily="2" charset="-122"/>
                <a:sym typeface="Symbol" panose="05050102010706020507" pitchFamily="18" charset="2"/>
              </a:rPr>
              <a:t>华南理工大学的所有停车位都已被占用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"</a:t>
            </a:r>
            <a:r>
              <a:rPr lang="en-US" altLang="zh-CN" sz="2400" dirty="0">
                <a:ea typeface="宋体" panose="02010600030101010101" pitchFamily="2" charset="-122"/>
                <a:sym typeface="Symbol" panose="05050102010706020507" pitchFamily="18" charset="2"/>
              </a:rPr>
              <a:t>。</a:t>
            </a:r>
          </a:p>
          <a:p>
            <a:pPr lvl="1" eaLnBrk="1" hangingPunct="1"/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"</a:t>
            </a:r>
            <a:r>
              <a:rPr lang="en-US" altLang="zh-CN" sz="2400" dirty="0" err="1">
                <a:ea typeface="宋体" panose="02010600030101010101" pitchFamily="2" charset="-122"/>
                <a:sym typeface="Symbol" panose="05050102010706020507" pitchFamily="18" charset="2"/>
              </a:rPr>
              <a:t>华南理工大学的每个停车位都已停满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"</a:t>
            </a:r>
            <a:r>
              <a:rPr lang="en-US" altLang="zh-CN" sz="2400" dirty="0">
                <a:ea typeface="宋体" panose="02010600030101010101" pitchFamily="2" charset="-122"/>
                <a:sym typeface="Symbol" panose="05050102010706020507" pitchFamily="18" charset="2"/>
              </a:rPr>
              <a:t>。</a:t>
            </a:r>
          </a:p>
          <a:p>
            <a:pPr eaLnBrk="1" hangingPunct="1"/>
            <a:r>
              <a:rPr lang="en-GB" altLang="en-US" sz="2800" dirty="0" err="1">
                <a:ea typeface="宋体" panose="02010600030101010101" pitchFamily="2" charset="-122"/>
              </a:rPr>
              <a:t>在继续讨论之前，我们需要区分两种变量</a:t>
            </a:r>
            <a:r>
              <a:rPr lang="en-US" altLang="en-US" sz="2800" dirty="0">
                <a:ea typeface="宋体" panose="02010600030101010101" pitchFamily="2" charset="-122"/>
              </a:rPr>
              <a:t>。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A7CA0758-5ECA-4E79-9A61-D16991A0BAC0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17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23555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800">
                <a:ea typeface="宋体" panose="02010600030101010101" pitchFamily="2" charset="-122"/>
              </a:rPr>
              <a:t>示例 4</a:t>
            </a:r>
          </a:p>
        </p:txBody>
      </p:sp>
      <p:sp>
        <p:nvSpPr>
          <p:cNvPr id="23556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algn="just" eaLnBrk="1" hangingPunct="1"/>
            <a:r>
              <a:rPr lang="en-US" altLang="zh-CN" dirty="0" err="1">
                <a:ea typeface="宋体" panose="02010600030101010101" pitchFamily="2" charset="-122"/>
              </a:rPr>
              <a:t>假设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) </a:t>
            </a:r>
            <a:r>
              <a:rPr lang="en-US" altLang="zh-CN" dirty="0" err="1">
                <a:ea typeface="宋体" panose="02010600030101010101" pitchFamily="2" charset="-122"/>
              </a:rPr>
              <a:t>是语句</a:t>
            </a:r>
            <a:r>
              <a:rPr lang="en-US" altLang="zh-CN" dirty="0">
                <a:ea typeface="宋体" panose="02010600030101010101" pitchFamily="2" charset="-122"/>
              </a:rPr>
              <a:t> “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+1&gt; 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dirty="0">
                <a:ea typeface="宋体" panose="02010600030101010101" pitchFamily="2" charset="-122"/>
              </a:rPr>
              <a:t>”。</a:t>
            </a:r>
            <a:r>
              <a:rPr lang="en-US" altLang="zh-CN" dirty="0" err="1">
                <a:ea typeface="宋体" panose="02010600030101010101" pitchFamily="2" charset="-122"/>
              </a:rPr>
              <a:t>量</a:t>
            </a:r>
            <a:r>
              <a:rPr lang="zh-CN" altLang="en-US" dirty="0">
                <a:ea typeface="宋体" panose="02010600030101010101" pitchFamily="2" charset="-122"/>
              </a:rPr>
              <a:t>化命题</a:t>
            </a:r>
            <a:r>
              <a:rPr lang="en-US" altLang="zh-CN" dirty="0" err="1">
                <a:ea typeface="宋体" panose="02010600030101010101" pitchFamily="2" charset="-122"/>
              </a:rPr>
              <a:t>的真值是多少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  x 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)，</a:t>
            </a:r>
            <a:r>
              <a:rPr lang="en-US" altLang="zh-CN" dirty="0" err="1">
                <a:ea typeface="宋体" panose="02010600030101010101" pitchFamily="2" charset="-122"/>
              </a:rPr>
              <a:t>其中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</a:rPr>
              <a:t>的</a:t>
            </a:r>
            <a:r>
              <a:rPr lang="en-US" altLang="zh-CN" dirty="0" err="1">
                <a:ea typeface="宋体" panose="02010600030101010101" pitchFamily="2" charset="-122"/>
              </a:rPr>
              <a:t>话语宇宙由所有实数组成</a:t>
            </a:r>
            <a:r>
              <a:rPr lang="en-US" altLang="zh-CN" dirty="0">
                <a:ea typeface="宋体" panose="02010600030101010101" pitchFamily="2" charset="-122"/>
              </a:rPr>
              <a:t>？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endParaRPr lang="en-US" altLang="zh-CN" dirty="0">
              <a:ea typeface="宋体" panose="02010600030101010101" pitchFamily="2" charset="-122"/>
            </a:endParaRPr>
          </a:p>
          <a:p>
            <a:pPr algn="just" eaLnBrk="1" hangingPunct="1"/>
            <a:r>
              <a:rPr lang="en-US" altLang="zh-CN" dirty="0" err="1">
                <a:ea typeface="宋体" panose="02010600030101010101" pitchFamily="2" charset="-122"/>
              </a:rPr>
              <a:t>解答：由于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) </a:t>
            </a:r>
            <a:r>
              <a:rPr lang="en-US" altLang="zh-CN" dirty="0" err="1">
                <a:ea typeface="宋体" panose="02010600030101010101" pitchFamily="2" charset="-122"/>
              </a:rPr>
              <a:t>对所有实数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x </a:t>
            </a:r>
            <a:r>
              <a:rPr lang="en-US" altLang="zh-CN" dirty="0" err="1">
                <a:ea typeface="宋体" panose="02010600030101010101" pitchFamily="2" charset="-122"/>
              </a:rPr>
              <a:t>都为真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</a:rPr>
              <a:t>，因此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x 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) </a:t>
            </a:r>
            <a:r>
              <a:rPr lang="zh-CN" altLang="en-US" dirty="0">
                <a:ea typeface="宋体" panose="02010600030101010101" pitchFamily="2" charset="-122"/>
              </a:rPr>
              <a:t>为真</a:t>
            </a:r>
            <a:r>
              <a:rPr lang="en-US" altLang="zh-CN" dirty="0">
                <a:ea typeface="宋体" panose="02010600030101010101" pitchFamily="2" charset="-122"/>
              </a:rPr>
              <a:t>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6DEED416-582C-4AB6-B1F4-03A0FD916350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18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24579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800">
                <a:ea typeface="宋体" panose="02010600030101010101" pitchFamily="2" charset="-122"/>
              </a:rPr>
              <a:t>反例</a:t>
            </a:r>
          </a:p>
        </p:txBody>
      </p:sp>
      <p:sp>
        <p:nvSpPr>
          <p:cNvPr id="24580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419225"/>
            <a:ext cx="8305800" cy="4879975"/>
          </a:xfrm>
        </p:spPr>
        <p:txBody>
          <a:bodyPr/>
          <a:lstStyle/>
          <a:p>
            <a:pPr eaLnBrk="1" hangingPunct="1"/>
            <a:r>
              <a:rPr lang="en-US" altLang="zh-CN" dirty="0" err="1">
                <a:ea typeface="宋体" panose="02010600030101010101" pitchFamily="2" charset="-122"/>
              </a:rPr>
              <a:t>要证明形式为x</a:t>
            </a:r>
            <a:r>
              <a:rPr lang="en-US" altLang="zh-CN" dirty="0">
                <a:ea typeface="宋体" panose="02010600030101010101" pitchFamily="2" charset="-122"/>
              </a:rPr>
              <a:t> P(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)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en-US" altLang="zh-CN" dirty="0" err="1">
                <a:ea typeface="宋体" panose="02010600030101010101" pitchFamily="2" charset="-122"/>
              </a:rPr>
              <a:t>的语句是一个命题函数，我们只需要在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) </a:t>
            </a:r>
            <a:r>
              <a:rPr lang="zh-CN" altLang="en-US" dirty="0">
                <a:solidFill>
                  <a:srgbClr val="000000"/>
                </a:solidFill>
                <a:ea typeface="宋体" panose="02010600030101010101" pitchFamily="2" charset="-122"/>
              </a:rPr>
              <a:t>在论域中找到一个为假的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x</a:t>
            </a:r>
            <a:r>
              <a:rPr lang="zh-CN" altLang="en-US" dirty="0">
                <a:solidFill>
                  <a:srgbClr val="000000"/>
                </a:solidFill>
                <a:ea typeface="宋体" panose="02010600030101010101" pitchFamily="2" charset="-122"/>
              </a:rPr>
              <a:t>的赋值</a:t>
            </a:r>
            <a:r>
              <a:rPr lang="en-US" altLang="zh-CN" dirty="0">
                <a:ea typeface="宋体" panose="02010600030101010101" pitchFamily="2" charset="-122"/>
              </a:rPr>
              <a:t>。</a:t>
            </a:r>
          </a:p>
          <a:p>
            <a:pPr eaLnBrk="1" hangingPunct="1"/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 err="1">
                <a:ea typeface="宋体" panose="02010600030101010101" pitchFamily="2" charset="-122"/>
              </a:rPr>
              <a:t>这样的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 </a:t>
            </a:r>
            <a:r>
              <a:rPr lang="en-US" altLang="zh-CN" dirty="0" err="1">
                <a:ea typeface="宋体" panose="02010600030101010101" pitchFamily="2" charset="-122"/>
              </a:rPr>
              <a:t>值</a:t>
            </a:r>
            <a:r>
              <a:rPr lang="en-US" altLang="zh-CN" dirty="0" err="1">
                <a:ea typeface="宋体" panose="02010600030101010101" pitchFamily="2" charset="-122"/>
                <a:sym typeface="Symbol" panose="05050102010706020507" pitchFamily="18" charset="2"/>
              </a:rPr>
              <a:t>被称为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x 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) </a:t>
            </a:r>
            <a:r>
              <a:rPr lang="en-US" altLang="zh-CN" dirty="0" err="1">
                <a:ea typeface="宋体" panose="02010600030101010101" pitchFamily="2" charset="-122"/>
                <a:sym typeface="Symbol" panose="05050102010706020507" pitchFamily="18" charset="2"/>
              </a:rPr>
              <a:t>的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反例</a:t>
            </a:r>
            <a:r>
              <a:rPr lang="en-US" altLang="zh-CN" dirty="0">
                <a:ea typeface="宋体" panose="02010600030101010101" pitchFamily="2" charset="-122"/>
              </a:rPr>
              <a:t>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46D24AD6-7AEB-4183-9994-37F45473AE4D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19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800">
                <a:ea typeface="宋体" panose="02010600030101010101" pitchFamily="2" charset="-122"/>
              </a:rPr>
              <a:t>示例 5</a:t>
            </a:r>
          </a:p>
        </p:txBody>
      </p:sp>
      <p:sp>
        <p:nvSpPr>
          <p:cNvPr id="25604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设 </a:t>
            </a:r>
            <a:r>
              <a:rPr lang="en-US" altLang="zh-CN" i="1">
                <a:solidFill>
                  <a:srgbClr val="000000"/>
                </a:solidFill>
                <a:ea typeface="宋体" panose="02010600030101010101" pitchFamily="2" charset="-122"/>
              </a:rPr>
              <a:t>Q</a:t>
            </a: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</a:rPr>
              <a:t>(</a:t>
            </a:r>
            <a:r>
              <a:rPr lang="en-US" altLang="zh-CN" i="1">
                <a:solidFill>
                  <a:srgbClr val="000000"/>
                </a:solidFill>
                <a:ea typeface="宋体" panose="02010600030101010101" pitchFamily="2" charset="-122"/>
              </a:rPr>
              <a:t>x</a:t>
            </a: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</a:rPr>
              <a:t>) </a:t>
            </a:r>
            <a:r>
              <a:rPr lang="en-US" altLang="zh-CN">
                <a:ea typeface="宋体" panose="02010600030101010101" pitchFamily="2" charset="-122"/>
              </a:rPr>
              <a:t>是语句 "</a:t>
            </a: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</a:rPr>
              <a:t>x&lt;2</a:t>
            </a:r>
            <a:r>
              <a:rPr lang="en-US" altLang="zh-CN">
                <a:ea typeface="宋体" panose="02010600030101010101" pitchFamily="2" charset="-122"/>
              </a:rPr>
              <a:t>"。</a:t>
            </a:r>
            <a:r>
              <a:rPr lang="en-US" altLang="zh-CN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x </a:t>
            </a:r>
            <a:r>
              <a:rPr lang="en-US" altLang="zh-CN" i="1">
                <a:solidFill>
                  <a:srgbClr val="000000"/>
                </a:solidFill>
                <a:ea typeface="宋体" panose="02010600030101010101" pitchFamily="2" charset="-122"/>
              </a:rPr>
              <a:t>Q</a:t>
            </a: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</a:rPr>
              <a:t>(</a:t>
            </a:r>
            <a:r>
              <a:rPr lang="en-US" altLang="zh-CN" i="1">
                <a:solidFill>
                  <a:srgbClr val="000000"/>
                </a:solidFill>
                <a:ea typeface="宋体" panose="02010600030101010101" pitchFamily="2" charset="-122"/>
              </a:rPr>
              <a:t>x</a:t>
            </a: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</a:rPr>
              <a:t>)</a:t>
            </a:r>
            <a:r>
              <a:rPr lang="en-US" altLang="zh-CN">
                <a:ea typeface="宋体" panose="02010600030101010101" pitchFamily="2" charset="-122"/>
              </a:rPr>
              <a:t>的真值是多少</a:t>
            </a: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</a:rPr>
              <a:t>？ </a:t>
            </a:r>
          </a:p>
          <a:p>
            <a:pPr eaLnBrk="1" hangingPunct="1"/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解法</a:t>
            </a: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</a:rPr>
              <a:t>：</a:t>
            </a:r>
            <a:r>
              <a:rPr lang="en-US" altLang="zh-CN">
                <a:ea typeface="宋体" panose="02010600030101010101" pitchFamily="2" charset="-122"/>
              </a:rPr>
              <a:t>对于每个实数 </a:t>
            </a: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</a:rPr>
              <a:t>x，Q(x) </a:t>
            </a:r>
            <a:r>
              <a:rPr lang="en-US" altLang="zh-CN">
                <a:ea typeface="宋体" panose="02010600030101010101" pitchFamily="2" charset="-122"/>
              </a:rPr>
              <a:t>都不为真，例如</a:t>
            </a: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</a:rPr>
              <a:t>，Q(3) </a:t>
            </a:r>
            <a:r>
              <a:rPr lang="en-US" altLang="zh-CN">
                <a:ea typeface="宋体" panose="02010600030101010101" pitchFamily="2" charset="-122"/>
              </a:rPr>
              <a:t>为假。因此</a:t>
            </a: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</a:rPr>
              <a:t>，</a:t>
            </a:r>
            <a:r>
              <a:rPr lang="en-US" altLang="zh-CN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x </a:t>
            </a:r>
            <a:r>
              <a:rPr lang="en-US" altLang="zh-CN" i="1">
                <a:solidFill>
                  <a:srgbClr val="000000"/>
                </a:solidFill>
                <a:ea typeface="宋体" panose="02010600030101010101" pitchFamily="2" charset="-122"/>
              </a:rPr>
              <a:t>Q</a:t>
            </a: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</a:rPr>
              <a:t>(</a:t>
            </a:r>
            <a:r>
              <a:rPr lang="en-US" altLang="zh-CN" i="1">
                <a:solidFill>
                  <a:srgbClr val="000000"/>
                </a:solidFill>
                <a:ea typeface="宋体" panose="02010600030101010101" pitchFamily="2" charset="-122"/>
              </a:rPr>
              <a:t>x</a:t>
            </a: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</a:rPr>
              <a:t>) </a:t>
            </a:r>
            <a:r>
              <a:rPr lang="en-US" altLang="zh-CN">
                <a:ea typeface="宋体" panose="02010600030101010101" pitchFamily="2" charset="-122"/>
              </a:rPr>
              <a:t>为假。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8F383D97-4806-4241-8674-F9268F0B014C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20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26627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800">
                <a:ea typeface="宋体" panose="02010600030101010101" pitchFamily="2" charset="-122"/>
              </a:rPr>
              <a:t>例 6</a:t>
            </a:r>
          </a:p>
        </p:txBody>
      </p:sp>
      <p:sp>
        <p:nvSpPr>
          <p:cNvPr id="26628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如果 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) </a:t>
            </a:r>
            <a:r>
              <a:rPr lang="en-US" altLang="zh-CN" dirty="0">
                <a:ea typeface="宋体" panose="02010600030101010101" pitchFamily="2" charset="-122"/>
              </a:rPr>
              <a:t>是 "</a:t>
            </a:r>
            <a:r>
              <a:rPr lang="en-US" altLang="zh-CN" i="1" dirty="0">
                <a:ea typeface="宋体" panose="02010600030101010101" pitchFamily="2" charset="-122"/>
              </a:rPr>
              <a:t>x </a:t>
            </a:r>
            <a:r>
              <a:rPr lang="en-US" altLang="zh-CN" dirty="0">
                <a:ea typeface="宋体" panose="02010600030101010101" pitchFamily="2" charset="-122"/>
              </a:rPr>
              <a:t>有两个父母"，而话语宇宙由所有人组成，那么 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x 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) </a:t>
            </a:r>
            <a:r>
              <a:rPr lang="en-US" altLang="zh-CN" dirty="0">
                <a:ea typeface="宋体" panose="02010600030101010101" pitchFamily="2" charset="-122"/>
              </a:rPr>
              <a:t>这个语句是什么意思？</a:t>
            </a:r>
          </a:p>
          <a:p>
            <a:pPr eaLnBrk="1" hangingPunct="1"/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解答：</a:t>
            </a:r>
            <a:r>
              <a:rPr lang="en-US" altLang="zh-CN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x P</a:t>
            </a: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) </a:t>
            </a:r>
            <a:r>
              <a:rPr lang="en-US" altLang="zh-CN" dirty="0">
                <a:ea typeface="宋体" panose="02010600030101010101" pitchFamily="2" charset="-122"/>
              </a:rPr>
              <a:t>的意思是 "每个人都有两个父母"。这句话是正确的（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</a:rPr>
              <a:t>克隆人除外</a:t>
            </a:r>
            <a:r>
              <a:rPr lang="en-US" altLang="zh-CN" dirty="0">
                <a:ea typeface="宋体" panose="02010600030101010101" pitchFamily="2" charset="-122"/>
              </a:rPr>
              <a:t>）。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CCE7F3F8-1801-46C8-B4FA-DD256232482D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21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27651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800">
                <a:ea typeface="宋体" panose="02010600030101010101" pitchFamily="2" charset="-122"/>
              </a:rPr>
              <a:t>例 7</a:t>
            </a:r>
          </a:p>
        </p:txBody>
      </p:sp>
      <p:sp>
        <p:nvSpPr>
          <p:cNvPr id="27652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如果话语宇宙由所有实数组成，那么 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x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(x^2&gt;=x) </a:t>
            </a:r>
            <a:r>
              <a:rPr lang="en-US" altLang="zh-CN" dirty="0">
                <a:ea typeface="宋体" panose="02010600030101010101" pitchFamily="2" charset="-122"/>
              </a:rPr>
              <a:t>的真值是多少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？如果话语宇宙由所有整数组成，那么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x (x^2&gt;=x)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的真值又是多少？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解：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x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(x^2&gt;=x)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是假的，如果论述的宇宙由所有实数组成（因为它在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0&lt;x&lt;1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时是假的）。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x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(x^2&gt;=x)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是真的，如果话语宇宙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由所有整数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组成。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A6046821-1AA5-49AF-8259-87BD40E5F520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22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28675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800">
                <a:ea typeface="宋体" panose="02010600030101010101" pitchFamily="2" charset="-122"/>
              </a:rPr>
              <a:t>存在量词</a:t>
            </a:r>
          </a:p>
        </p:txBody>
      </p:sp>
      <p:sp>
        <p:nvSpPr>
          <p:cNvPr id="28676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419225"/>
            <a:ext cx="8229600" cy="5057775"/>
          </a:xfrm>
        </p:spPr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通过存在</a:t>
            </a:r>
            <a:r>
              <a:rPr lang="zh-CN" altLang="en-US">
                <a:ea typeface="宋体" panose="02010600030101010101" pitchFamily="2" charset="-122"/>
              </a:rPr>
              <a:t>量化</a:t>
            </a:r>
            <a:r>
              <a:rPr lang="en-US" altLang="zh-CN">
                <a:ea typeface="宋体" panose="02010600030101010101" pitchFamily="2" charset="-122"/>
              </a:rPr>
              <a:t>，我们构成一个命题，当且仅当 至少有一个 </a:t>
            </a:r>
            <a:r>
              <a:rPr lang="en-US" altLang="zh-CN" i="1">
                <a:solidFill>
                  <a:srgbClr val="000000"/>
                </a:solidFill>
                <a:ea typeface="宋体" panose="02010600030101010101" pitchFamily="2" charset="-122"/>
              </a:rPr>
              <a:t>x </a:t>
            </a:r>
            <a:r>
              <a:rPr lang="en-US" altLang="zh-CN">
                <a:ea typeface="宋体" panose="02010600030101010101" pitchFamily="2" charset="-122"/>
              </a:rPr>
              <a:t>值</a:t>
            </a:r>
            <a:r>
              <a:rPr lang="zh-CN" altLang="en-US">
                <a:ea typeface="宋体" panose="02010600030101010101" pitchFamily="2" charset="-122"/>
              </a:rPr>
              <a:t>使得</a:t>
            </a:r>
            <a:r>
              <a:rPr lang="en-US" altLang="zh-CN" i="1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P</a:t>
            </a: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(</a:t>
            </a:r>
            <a:r>
              <a:rPr lang="en-US" altLang="zh-CN" i="1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x</a:t>
            </a:r>
            <a:r>
              <a:rPr lang="en-US" altLang="zh-CN">
                <a:ea typeface="宋体" panose="02010600030101010101" pitchFamily="2" charset="-122"/>
                <a:sym typeface="+mn-ea"/>
              </a:rPr>
              <a:t>)</a:t>
            </a:r>
            <a:r>
              <a:rPr lang="en-US" altLang="zh-CN">
                <a:ea typeface="宋体" panose="02010600030101010101" pitchFamily="2" charset="-122"/>
              </a:rPr>
              <a:t>为真。</a:t>
            </a:r>
          </a:p>
          <a:p>
            <a:pPr eaLnBrk="1" hangingPunct="1"/>
            <a:endParaRPr lang="en-US" altLang="zh-CN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定义 2：</a:t>
            </a:r>
          </a:p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"在</a:t>
            </a:r>
            <a:r>
              <a:rPr lang="zh-CN" altLang="en-US">
                <a:ea typeface="宋体" panose="02010600030101010101" pitchFamily="2" charset="-122"/>
              </a:rPr>
              <a:t>论域</a:t>
            </a:r>
            <a:r>
              <a:rPr lang="en-US" altLang="zh-CN">
                <a:ea typeface="宋体" panose="02010600030101010101" pitchFamily="2" charset="-122"/>
              </a:rPr>
              <a:t>中存在一个元素 </a:t>
            </a:r>
            <a:r>
              <a:rPr lang="en-US" altLang="zh-CN" i="1">
                <a:solidFill>
                  <a:srgbClr val="000000"/>
                </a:solidFill>
                <a:ea typeface="宋体" panose="02010600030101010101" pitchFamily="2" charset="-122"/>
              </a:rPr>
              <a:t>x</a:t>
            </a:r>
            <a:r>
              <a:rPr lang="en-US" altLang="zh-CN">
                <a:ea typeface="宋体" panose="02010600030101010101" pitchFamily="2" charset="-122"/>
              </a:rPr>
              <a:t>，使得 </a:t>
            </a:r>
            <a:r>
              <a:rPr lang="en-US" altLang="zh-CN" i="1">
                <a:solidFill>
                  <a:srgbClr val="000000"/>
                </a:solidFill>
                <a:ea typeface="宋体" panose="02010600030101010101" pitchFamily="2" charset="-122"/>
              </a:rPr>
              <a:t>P</a:t>
            </a: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</a:rPr>
              <a:t>(</a:t>
            </a:r>
            <a:r>
              <a:rPr lang="en-US" altLang="zh-CN" i="1">
                <a:solidFill>
                  <a:srgbClr val="000000"/>
                </a:solidFill>
                <a:ea typeface="宋体" panose="02010600030101010101" pitchFamily="2" charset="-122"/>
              </a:rPr>
              <a:t>x</a:t>
            </a: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</a:rPr>
              <a:t>) </a:t>
            </a:r>
            <a:r>
              <a:rPr lang="en-US" altLang="zh-CN">
                <a:ea typeface="宋体" panose="02010600030101010101" pitchFamily="2" charset="-122"/>
              </a:rPr>
              <a:t>为真"。</a:t>
            </a:r>
          </a:p>
          <a:p>
            <a:pPr eaLnBrk="1" hangingPunct="1"/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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称为</a:t>
            </a:r>
            <a:r>
              <a:rPr lang="en-US" altLang="zh-CN" b="1" i="1">
                <a:solidFill>
                  <a:srgbClr val="000000"/>
                </a:solidFill>
                <a:ea typeface="宋体" panose="02010600030101010101" pitchFamily="2" charset="-122"/>
              </a:rPr>
              <a:t>存在量词</a:t>
            </a:r>
            <a:r>
              <a:rPr lang="en-US" altLang="zh-CN">
                <a:ea typeface="宋体" panose="02010600030101010101" pitchFamily="2" charset="-122"/>
              </a:rPr>
              <a:t>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9841C1B6-3E2D-4913-8CFB-CA24FEB1C119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23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29699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800">
                <a:ea typeface="宋体" panose="02010600030101010101" pitchFamily="2" charset="-122"/>
              </a:rPr>
              <a:t>量化表达式的含义</a:t>
            </a:r>
          </a:p>
        </p:txBody>
      </p:sp>
      <p:sp>
        <p:nvSpPr>
          <p:cNvPr id="29700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981200"/>
            <a:ext cx="8153400" cy="4267200"/>
          </a:xfrm>
        </p:spPr>
        <p:txBody>
          <a:bodyPr/>
          <a:lstStyle/>
          <a:p>
            <a:pPr eaLnBrk="1" hangingPunct="1"/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x </a:t>
            </a:r>
            <a:r>
              <a:rPr lang="en-US" altLang="zh-CN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</a:t>
            </a: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表示 u.d. 中</a:t>
            </a:r>
            <a:r>
              <a:rPr lang="en-US" altLang="zh-CN" i="1" u="sng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存在 </a:t>
            </a:r>
            <a:r>
              <a:rPr lang="en-US" altLang="zh-CN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（即 1 个或多个）</a:t>
            </a:r>
            <a:r>
              <a:rPr lang="en-US" altLang="zh-CN" u="sng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，使得 </a:t>
            </a:r>
            <a:r>
              <a:rPr lang="en-US" altLang="zh-CN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</a:t>
            </a: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为真。</a:t>
            </a:r>
          </a:p>
          <a:p>
            <a:pPr eaLnBrk="1" hangingPunct="1"/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x </a:t>
            </a:r>
            <a:r>
              <a:rPr lang="en-US" altLang="zh-CN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</a:t>
            </a: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读作</a:t>
            </a:r>
          </a:p>
          <a:p>
            <a:pPr eaLnBrk="1" hangingPunct="1"/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"</a:t>
            </a: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有一个 </a:t>
            </a:r>
            <a:r>
              <a:rPr lang="en-US" altLang="zh-CN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x，</a:t>
            </a: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使得 </a:t>
            </a:r>
            <a:r>
              <a:rPr lang="en-US" altLang="zh-CN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</a:t>
            </a: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"</a:t>
            </a: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。</a:t>
            </a:r>
          </a:p>
          <a:p>
            <a:pPr eaLnBrk="1" hangingPunct="1"/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"</a:t>
            </a: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至少有 </a:t>
            </a:r>
            <a:r>
              <a:rPr lang="en-US" altLang="zh-CN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，使得 </a:t>
            </a:r>
            <a:r>
              <a:rPr lang="en-US" altLang="zh-CN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</a:t>
            </a: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)，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"</a:t>
            </a:r>
            <a:endParaRPr lang="en-US" altLang="zh-CN">
              <a:solidFill>
                <a:srgbClr val="00000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或</a:t>
            </a:r>
          </a:p>
          <a:p>
            <a:pPr eaLnBrk="1" hangingPunct="1"/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"</a:t>
            </a: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对于某些 </a:t>
            </a:r>
            <a:r>
              <a:rPr lang="en-US" altLang="zh-CN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 P</a:t>
            </a: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"</a:t>
            </a:r>
            <a:endParaRPr lang="en-US" altLang="zh-CN">
              <a:solidFill>
                <a:srgbClr val="00000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F47681A7-FD05-4221-9C5F-A767A934E58F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24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例如：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</a:t>
            </a:r>
          </a:p>
        </p:txBody>
      </p:sp>
      <p:sp>
        <p:nvSpPr>
          <p:cNvPr id="30724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647825"/>
            <a:ext cx="8229600" cy="4143375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</a:rPr>
              <a:t>让 u.d. 成为</a:t>
            </a:r>
            <a:r>
              <a:rPr lang="en-US" altLang="zh-CN" u="sng">
                <a:solidFill>
                  <a:srgbClr val="000000"/>
                </a:solidFill>
                <a:ea typeface="宋体" panose="02010600030101010101" pitchFamily="2" charset="-122"/>
              </a:rPr>
              <a:t>华南理工大学的停车位</a:t>
            </a: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</a:rPr>
              <a:t>。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</a:rPr>
              <a:t>让 </a:t>
            </a:r>
            <a:r>
              <a:rPr lang="en-US" altLang="zh-CN" i="1">
                <a:solidFill>
                  <a:srgbClr val="000000"/>
                </a:solidFill>
                <a:ea typeface="宋体" panose="02010600030101010101" pitchFamily="2" charset="-122"/>
              </a:rPr>
              <a:t>P</a:t>
            </a: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</a:rPr>
              <a:t>(</a:t>
            </a:r>
            <a:r>
              <a:rPr lang="en-US" altLang="zh-CN" i="1">
                <a:solidFill>
                  <a:srgbClr val="000000"/>
                </a:solidFill>
                <a:ea typeface="宋体" panose="02010600030101010101" pitchFamily="2" charset="-122"/>
              </a:rPr>
              <a:t>x</a:t>
            </a: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</a:rPr>
              <a:t>) 表示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"</a:t>
            </a:r>
            <a:r>
              <a:rPr lang="en-US" altLang="zh-CN" i="1">
                <a:solidFill>
                  <a:srgbClr val="000000"/>
                </a:solidFill>
                <a:ea typeface="宋体" panose="02010600030101010101" pitchFamily="2" charset="-122"/>
              </a:rPr>
              <a:t>x </a:t>
            </a: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</a:rPr>
              <a:t>是满的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"</a:t>
            </a: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</a:rPr>
              <a:t>。</a:t>
            </a:r>
            <a:b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</a:br>
            <a:r>
              <a:rPr lang="en-US" altLang="zh-CN">
                <a:ea typeface="宋体" panose="02010600030101010101" pitchFamily="2" charset="-122"/>
              </a:rPr>
              <a:t>那么，</a:t>
            </a:r>
            <a:r>
              <a:rPr lang="en-US" altLang="zh-CN" i="1">
                <a:ea typeface="宋体" panose="02010600030101010101" pitchFamily="2" charset="-122"/>
              </a:rPr>
              <a:t>P</a:t>
            </a:r>
            <a:r>
              <a:rPr lang="en-US" altLang="zh-CN">
                <a:ea typeface="宋体" panose="02010600030101010101" pitchFamily="2" charset="-122"/>
              </a:rPr>
              <a:t>(</a:t>
            </a:r>
            <a:r>
              <a:rPr lang="en-US" altLang="zh-CN" i="1">
                <a:ea typeface="宋体" panose="02010600030101010101" pitchFamily="2" charset="-122"/>
              </a:rPr>
              <a:t>x</a:t>
            </a:r>
            <a:r>
              <a:rPr lang="en-US" altLang="zh-CN">
                <a:ea typeface="宋体" panose="02010600030101010101" pitchFamily="2" charset="-122"/>
              </a:rPr>
              <a:t>)</a:t>
            </a:r>
            <a:r>
              <a:rPr lang="en-US" altLang="zh-CN" i="1">
                <a:ea typeface="宋体" panose="02010600030101010101" pitchFamily="2" charset="-122"/>
              </a:rPr>
              <a:t>的存在定量</a:t>
            </a:r>
            <a:r>
              <a:rPr lang="en-US" altLang="zh-CN">
                <a:ea typeface="宋体" panose="02010600030101010101" pitchFamily="2" charset="-122"/>
              </a:rPr>
              <a:t>，</a:t>
            </a: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x P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)，就是这样一个命题：</a:t>
            </a:r>
            <a:endParaRPr lang="en-US" altLang="zh-CN" i="1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lvl="1" eaLnBrk="1" hangingPunct="1"/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"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华南理工大学的一些停车位已满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"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。</a:t>
            </a:r>
          </a:p>
          <a:p>
            <a:pPr lvl="1" eaLnBrk="1" hangingPunct="1"/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"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华南理工大学有一个停车位已经满了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"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。</a:t>
            </a:r>
          </a:p>
          <a:p>
            <a:pPr lvl="1" eaLnBrk="1" hangingPunct="1"/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"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华南理工大学至少有一个停车位已满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"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。</a:t>
            </a:r>
            <a:endParaRPr lang="en-US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059FB72B-3C10-4D1D-902D-0EE396262FD4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25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31747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800">
                <a:ea typeface="宋体" panose="02010600030101010101" pitchFamily="2" charset="-122"/>
              </a:rPr>
              <a:t>例 8</a:t>
            </a:r>
          </a:p>
        </p:txBody>
      </p:sp>
      <p:sp>
        <p:nvSpPr>
          <p:cNvPr id="31748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algn="just" eaLnBrk="1" hangingPunct="1"/>
            <a:r>
              <a:rPr lang="en-US" altLang="zh-CN">
                <a:ea typeface="宋体" panose="02010600030101010101" pitchFamily="2" charset="-122"/>
              </a:rPr>
              <a:t>让 </a:t>
            </a:r>
            <a:r>
              <a:rPr lang="en-US" altLang="zh-CN" i="1">
                <a:solidFill>
                  <a:srgbClr val="000000"/>
                </a:solidFill>
                <a:ea typeface="宋体" panose="02010600030101010101" pitchFamily="2" charset="-122"/>
              </a:rPr>
              <a:t>P</a:t>
            </a: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</a:rPr>
              <a:t>(</a:t>
            </a:r>
            <a:r>
              <a:rPr lang="en-US" altLang="zh-CN" i="1">
                <a:solidFill>
                  <a:srgbClr val="000000"/>
                </a:solidFill>
                <a:ea typeface="宋体" panose="02010600030101010101" pitchFamily="2" charset="-122"/>
              </a:rPr>
              <a:t>x</a:t>
            </a: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</a:rPr>
              <a:t>) </a:t>
            </a:r>
            <a:r>
              <a:rPr lang="en-US" altLang="zh-CN">
                <a:ea typeface="宋体" panose="02010600030101010101" pitchFamily="2" charset="-122"/>
              </a:rPr>
              <a:t>表示语句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"</a:t>
            </a:r>
            <a:r>
              <a:rPr lang="en-US" altLang="zh-CN">
                <a:ea typeface="宋体" panose="02010600030101010101" pitchFamily="2" charset="-122"/>
              </a:rPr>
              <a:t>x &gt; 3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"</a:t>
            </a:r>
            <a:r>
              <a:rPr lang="en-US" altLang="zh-CN">
                <a:ea typeface="宋体" panose="02010600030101010101" pitchFamily="2" charset="-122"/>
              </a:rPr>
              <a:t>。</a:t>
            </a:r>
            <a:r>
              <a:rPr lang="en-US" altLang="zh-CN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x </a:t>
            </a:r>
            <a:r>
              <a:rPr lang="en-US" altLang="zh-CN" i="1">
                <a:solidFill>
                  <a:srgbClr val="000000"/>
                </a:solidFill>
                <a:ea typeface="宋体" panose="02010600030101010101" pitchFamily="2" charset="-122"/>
              </a:rPr>
              <a:t>P</a:t>
            </a: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</a:rPr>
              <a:t>(</a:t>
            </a:r>
            <a:r>
              <a:rPr lang="en-US" altLang="zh-CN" i="1">
                <a:solidFill>
                  <a:srgbClr val="000000"/>
                </a:solidFill>
                <a:ea typeface="宋体" panose="02010600030101010101" pitchFamily="2" charset="-122"/>
              </a:rPr>
              <a:t>x</a:t>
            </a: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</a:rPr>
              <a:t>)的</a:t>
            </a:r>
            <a:r>
              <a:rPr lang="en-US" altLang="zh-CN">
                <a:ea typeface="宋体" panose="02010600030101010101" pitchFamily="2" charset="-122"/>
              </a:rPr>
              <a:t>真值是多少，其中 </a:t>
            </a:r>
            <a:r>
              <a:rPr lang="en-US" altLang="zh-CN" i="1">
                <a:solidFill>
                  <a:srgbClr val="000000"/>
                </a:solidFill>
                <a:ea typeface="宋体" panose="02010600030101010101" pitchFamily="2" charset="-122"/>
              </a:rPr>
              <a:t>x </a:t>
            </a:r>
            <a:r>
              <a:rPr lang="en-US" altLang="zh-CN">
                <a:ea typeface="宋体" panose="02010600030101010101" pitchFamily="2" charset="-122"/>
              </a:rPr>
              <a:t>是实数。</a:t>
            </a:r>
          </a:p>
          <a:p>
            <a:pPr algn="just" eaLnBrk="1" hangingPunct="1"/>
            <a:endParaRPr lang="en-US" altLang="zh-CN">
              <a:ea typeface="宋体" panose="02010600030101010101" pitchFamily="2" charset="-122"/>
            </a:endParaRPr>
          </a:p>
          <a:p>
            <a:pPr algn="just" eaLnBrk="1" hangingPunct="1"/>
            <a:r>
              <a:rPr lang="en-US" altLang="zh-CN">
                <a:ea typeface="宋体" panose="02010600030101010101" pitchFamily="2" charset="-122"/>
              </a:rPr>
              <a:t>解：因为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"</a:t>
            </a:r>
            <a:r>
              <a:rPr lang="en-US" altLang="zh-CN">
                <a:ea typeface="宋体" panose="02010600030101010101" pitchFamily="2" charset="-122"/>
              </a:rPr>
              <a:t>x &gt; 3 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"</a:t>
            </a:r>
            <a:r>
              <a:rPr lang="en-US" altLang="zh-CN">
                <a:ea typeface="宋体" panose="02010600030101010101" pitchFamily="2" charset="-122"/>
              </a:rPr>
              <a:t>为真，例如，当 x=4 时。因此，</a:t>
            </a:r>
            <a:r>
              <a:rPr lang="en-US" altLang="zh-CN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x </a:t>
            </a:r>
            <a:r>
              <a:rPr lang="en-US" altLang="zh-CN" i="1">
                <a:solidFill>
                  <a:srgbClr val="000000"/>
                </a:solidFill>
                <a:ea typeface="宋体" panose="02010600030101010101" pitchFamily="2" charset="-122"/>
              </a:rPr>
              <a:t>P</a:t>
            </a: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</a:rPr>
              <a:t>(</a:t>
            </a:r>
            <a:r>
              <a:rPr lang="en-US" altLang="zh-CN" i="1">
                <a:solidFill>
                  <a:srgbClr val="000000"/>
                </a:solidFill>
                <a:ea typeface="宋体" panose="02010600030101010101" pitchFamily="2" charset="-122"/>
              </a:rPr>
              <a:t>x</a:t>
            </a: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</a:rPr>
              <a:t>) </a:t>
            </a:r>
            <a:r>
              <a:rPr lang="en-US" altLang="zh-CN">
                <a:ea typeface="宋体" panose="02010600030101010101" pitchFamily="2" charset="-122"/>
              </a:rPr>
              <a:t>为真。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E553233A-6D19-4F19-8A40-985A41B127C2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26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32771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800">
                <a:ea typeface="宋体" panose="02010600030101010101" pitchFamily="2" charset="-122"/>
              </a:rPr>
              <a:t>例 9</a:t>
            </a:r>
          </a:p>
        </p:txBody>
      </p:sp>
      <p:sp>
        <p:nvSpPr>
          <p:cNvPr id="32772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让 </a:t>
            </a:r>
            <a:r>
              <a:rPr lang="en-US" altLang="zh-CN" i="1">
                <a:solidFill>
                  <a:srgbClr val="000000"/>
                </a:solidFill>
                <a:ea typeface="宋体" panose="02010600030101010101" pitchFamily="2" charset="-122"/>
              </a:rPr>
              <a:t>Q</a:t>
            </a: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</a:rPr>
              <a:t>(</a:t>
            </a:r>
            <a:r>
              <a:rPr lang="en-US" altLang="zh-CN" i="1">
                <a:solidFill>
                  <a:srgbClr val="000000"/>
                </a:solidFill>
                <a:ea typeface="宋体" panose="02010600030101010101" pitchFamily="2" charset="-122"/>
              </a:rPr>
              <a:t>x</a:t>
            </a: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</a:rPr>
              <a:t>) </a:t>
            </a:r>
            <a:r>
              <a:rPr lang="en-US" altLang="zh-CN">
                <a:ea typeface="宋体" panose="02010600030101010101" pitchFamily="2" charset="-122"/>
              </a:rPr>
              <a:t>表示语句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"</a:t>
            </a:r>
            <a:r>
              <a:rPr lang="en-US" altLang="zh-CN">
                <a:ea typeface="宋体" panose="02010600030101010101" pitchFamily="2" charset="-122"/>
              </a:rPr>
              <a:t>x = x + 1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"</a:t>
            </a:r>
            <a:r>
              <a:rPr lang="en-US" altLang="zh-CN">
                <a:ea typeface="宋体" panose="02010600030101010101" pitchFamily="2" charset="-122"/>
              </a:rPr>
              <a:t>。</a:t>
            </a:r>
            <a:r>
              <a:rPr lang="en-US" altLang="zh-CN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x </a:t>
            </a:r>
            <a:r>
              <a:rPr lang="en-US" altLang="zh-CN" i="1">
                <a:solidFill>
                  <a:srgbClr val="000000"/>
                </a:solidFill>
                <a:ea typeface="宋体" panose="02010600030101010101" pitchFamily="2" charset="-122"/>
              </a:rPr>
              <a:t>Q</a:t>
            </a: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</a:rPr>
              <a:t>(</a:t>
            </a:r>
            <a:r>
              <a:rPr lang="en-US" altLang="zh-CN" i="1">
                <a:solidFill>
                  <a:srgbClr val="000000"/>
                </a:solidFill>
                <a:ea typeface="宋体" panose="02010600030101010101" pitchFamily="2" charset="-122"/>
              </a:rPr>
              <a:t>x</a:t>
            </a: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</a:rPr>
              <a:t>)的</a:t>
            </a:r>
            <a:r>
              <a:rPr lang="en-US" altLang="zh-CN">
                <a:ea typeface="宋体" panose="02010600030101010101" pitchFamily="2" charset="-122"/>
              </a:rPr>
              <a:t>真值是多少，其中 </a:t>
            </a:r>
            <a:r>
              <a:rPr lang="en-US" altLang="zh-CN" i="1">
                <a:solidFill>
                  <a:srgbClr val="000000"/>
                </a:solidFill>
                <a:ea typeface="宋体" panose="02010600030101010101" pitchFamily="2" charset="-122"/>
              </a:rPr>
              <a:t>x </a:t>
            </a:r>
            <a:r>
              <a:rPr lang="en-US" altLang="zh-CN">
                <a:ea typeface="宋体" panose="02010600030101010101" pitchFamily="2" charset="-122"/>
              </a:rPr>
              <a:t>是实数。</a:t>
            </a:r>
          </a:p>
          <a:p>
            <a:pPr eaLnBrk="1" hangingPunct="1"/>
            <a:endParaRPr lang="en-US" altLang="zh-CN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解：因为 </a:t>
            </a:r>
            <a:r>
              <a:rPr lang="en-US" altLang="zh-CN" i="1">
                <a:solidFill>
                  <a:srgbClr val="000000"/>
                </a:solidFill>
                <a:ea typeface="宋体" panose="02010600030101010101" pitchFamily="2" charset="-122"/>
              </a:rPr>
              <a:t>Q</a:t>
            </a: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</a:rPr>
              <a:t>(</a:t>
            </a:r>
            <a:r>
              <a:rPr lang="en-US" altLang="zh-CN" i="1">
                <a:solidFill>
                  <a:srgbClr val="000000"/>
                </a:solidFill>
                <a:ea typeface="宋体" panose="02010600030101010101" pitchFamily="2" charset="-122"/>
              </a:rPr>
              <a:t>x</a:t>
            </a: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</a:rPr>
              <a:t>) </a:t>
            </a:r>
            <a:r>
              <a:rPr lang="en-US" altLang="zh-CN">
                <a:ea typeface="宋体" panose="02010600030101010101" pitchFamily="2" charset="-122"/>
              </a:rPr>
              <a:t>对每个实数都是假的，所以 </a:t>
            </a:r>
            <a:r>
              <a:rPr lang="en-US" altLang="zh-CN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x </a:t>
            </a:r>
            <a:r>
              <a:rPr lang="en-US" altLang="zh-CN" i="1">
                <a:solidFill>
                  <a:srgbClr val="000000"/>
                </a:solidFill>
                <a:ea typeface="宋体" panose="02010600030101010101" pitchFamily="2" charset="-122"/>
              </a:rPr>
              <a:t>Q </a:t>
            </a: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</a:rPr>
              <a:t>(</a:t>
            </a:r>
            <a:r>
              <a:rPr lang="en-US" altLang="zh-CN" i="1">
                <a:solidFill>
                  <a:srgbClr val="000000"/>
                </a:solidFill>
                <a:ea typeface="宋体" panose="02010600030101010101" pitchFamily="2" charset="-122"/>
              </a:rPr>
              <a:t>x</a:t>
            </a: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</a:rPr>
              <a:t>) </a:t>
            </a:r>
            <a:r>
              <a:rPr lang="en-US" altLang="zh-CN">
                <a:ea typeface="宋体" panose="02010600030101010101" pitchFamily="2" charset="-122"/>
              </a:rPr>
              <a:t>是假的。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59441D8F-1F38-4C50-B1E2-FB00055C55DE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27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33795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  <p:sp>
        <p:nvSpPr>
          <p:cNvPr id="33796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x P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)    </a:t>
            </a:r>
          </a:p>
          <a:p>
            <a:pPr eaLnBrk="1" hangingPunct="1"/>
            <a:r>
              <a:rPr lang="en-US" altLang="zh-CN" sz="3000" dirty="0">
                <a:ea typeface="宋体" panose="02010600030101010101" pitchFamily="2" charset="-122"/>
                <a:sym typeface="Symbol" panose="05050102010706020507" pitchFamily="18" charset="2"/>
              </a:rPr>
              <a:t>何时</a:t>
            </a:r>
            <a:r>
              <a:rPr lang="en-US" altLang="zh-CN" sz="3000" i="1" dirty="0">
                <a:ea typeface="宋体" panose="02010600030101010101" pitchFamily="2" charset="-122"/>
                <a:sym typeface="Symbol" panose="05050102010706020507" pitchFamily="18" charset="2"/>
              </a:rPr>
              <a:t>为真</a:t>
            </a:r>
            <a:r>
              <a:rPr lang="en-US" altLang="zh-CN" sz="3000" dirty="0">
                <a:ea typeface="宋体" panose="02010600030101010101" pitchFamily="2" charset="-122"/>
                <a:sym typeface="Symbol" panose="05050102010706020507" pitchFamily="18" charset="2"/>
              </a:rPr>
              <a:t>？   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对于每个 </a:t>
            </a:r>
            <a:r>
              <a:rPr lang="en-US" altLang="zh-CN" sz="3000" b="1" i="1" dirty="0">
                <a:ea typeface="宋体" panose="02010600030101010101" pitchFamily="2" charset="-122"/>
                <a:sym typeface="Symbol" panose="05050102010706020507" pitchFamily="18" charset="2"/>
              </a:rPr>
              <a:t>x，P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3000" b="1" i="1" dirty="0"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) 都为真。</a:t>
            </a:r>
          </a:p>
          <a:p>
            <a:pPr eaLnBrk="1" hangingPunct="1"/>
            <a:r>
              <a:rPr lang="en-US" altLang="zh-CN" sz="3000" dirty="0">
                <a:ea typeface="宋体" panose="02010600030101010101" pitchFamily="2" charset="-122"/>
                <a:sym typeface="Symbol" panose="05050102010706020507" pitchFamily="18" charset="2"/>
              </a:rPr>
              <a:t>何时</a:t>
            </a:r>
            <a:r>
              <a:rPr lang="en-US" altLang="zh-CN" sz="3000" i="1" dirty="0">
                <a:ea typeface="宋体" panose="02010600030101010101" pitchFamily="2" charset="-122"/>
                <a:sym typeface="Symbol" panose="05050102010706020507" pitchFamily="18" charset="2"/>
              </a:rPr>
              <a:t>为假</a:t>
            </a:r>
            <a:r>
              <a:rPr lang="en-US" altLang="zh-CN" sz="3000" dirty="0">
                <a:ea typeface="宋体" panose="02010600030101010101" pitchFamily="2" charset="-122"/>
                <a:sym typeface="Symbol" panose="05050102010706020507" pitchFamily="18" charset="2"/>
              </a:rPr>
              <a:t>？  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存在一个 </a:t>
            </a:r>
            <a:r>
              <a:rPr lang="en-US" altLang="zh-CN" sz="3000" b="1" i="1" dirty="0">
                <a:ea typeface="宋体" panose="02010600030101010101" pitchFamily="2" charset="-122"/>
                <a:sym typeface="Symbol" panose="05050102010706020507" pitchFamily="18" charset="2"/>
              </a:rPr>
              <a:t>P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3000" b="1" i="1" dirty="0"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) 为假的 </a:t>
            </a:r>
            <a:r>
              <a:rPr lang="en-US" altLang="zh-CN" sz="3000" b="1" i="1" dirty="0"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。</a:t>
            </a:r>
          </a:p>
          <a:p>
            <a:pPr eaLnBrk="1" hangingPunct="1"/>
            <a:r>
              <a:rPr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x P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</a:p>
          <a:p>
            <a:pPr eaLnBrk="1" hangingPunct="1"/>
            <a:r>
              <a:rPr lang="en-US" altLang="zh-CN" sz="3000" dirty="0">
                <a:ea typeface="宋体" panose="02010600030101010101" pitchFamily="2" charset="-122"/>
                <a:sym typeface="Symbol" panose="05050102010706020507" pitchFamily="18" charset="2"/>
              </a:rPr>
              <a:t>何时</a:t>
            </a:r>
            <a:r>
              <a:rPr lang="en-US" altLang="zh-CN" sz="3000" i="1" dirty="0">
                <a:ea typeface="宋体" panose="02010600030101010101" pitchFamily="2" charset="-122"/>
                <a:sym typeface="Symbol" panose="05050102010706020507" pitchFamily="18" charset="2"/>
              </a:rPr>
              <a:t>为真</a:t>
            </a:r>
            <a:r>
              <a:rPr lang="en-US" altLang="zh-CN" sz="3000" dirty="0">
                <a:ea typeface="宋体" panose="02010600030101010101" pitchFamily="2" charset="-122"/>
                <a:sym typeface="Symbol" panose="05050102010706020507" pitchFamily="18" charset="2"/>
              </a:rPr>
              <a:t>？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存在一个 </a:t>
            </a:r>
            <a:r>
              <a:rPr lang="en-US" altLang="zh-CN" sz="3000" b="1" i="1" dirty="0">
                <a:ea typeface="宋体" panose="02010600030101010101" pitchFamily="2" charset="-122"/>
                <a:sym typeface="Symbol" panose="05050102010706020507" pitchFamily="18" charset="2"/>
              </a:rPr>
              <a:t>P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3000" b="1" i="1" dirty="0"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) 为真的 </a:t>
            </a:r>
            <a:r>
              <a:rPr lang="en-US" altLang="zh-CN" sz="3000" b="1" i="1" dirty="0"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。</a:t>
            </a:r>
          </a:p>
          <a:p>
            <a:pPr eaLnBrk="1" hangingPunct="1"/>
            <a:r>
              <a:rPr lang="en-US" altLang="zh-CN" sz="3000" dirty="0">
                <a:ea typeface="宋体" panose="02010600030101010101" pitchFamily="2" charset="-122"/>
                <a:sym typeface="Symbol" panose="05050102010706020507" pitchFamily="18" charset="2"/>
              </a:rPr>
              <a:t>何时为假？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对于每个 </a:t>
            </a:r>
            <a:r>
              <a:rPr lang="en-US" altLang="zh-CN" sz="3000" b="1" i="1" dirty="0">
                <a:ea typeface="宋体" panose="02010600030101010101" pitchFamily="2" charset="-122"/>
                <a:sym typeface="Symbol" panose="05050102010706020507" pitchFamily="18" charset="2"/>
              </a:rPr>
              <a:t>x，P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3000" b="1" i="1" dirty="0"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sz="3000" b="1" dirty="0">
                <a:ea typeface="宋体" panose="02010600030101010101" pitchFamily="2" charset="-122"/>
                <a:sym typeface="Symbol" panose="05050102010706020507" pitchFamily="18" charset="2"/>
              </a:rPr>
              <a:t>) 都是假的。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灯片编号占位符 6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AD313E17-CFD6-4EDB-BED8-938985B49DB2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28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34819" name="Rectangle 4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800">
                <a:ea typeface="宋体" panose="02010600030101010101" pitchFamily="2" charset="-122"/>
              </a:rPr>
              <a:t>量词</a:t>
            </a:r>
          </a:p>
        </p:txBody>
      </p:sp>
      <p:sp>
        <p:nvSpPr>
          <p:cNvPr id="34820" name="Rectangle 5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228600" y="1419225"/>
            <a:ext cx="4267200" cy="4879975"/>
          </a:xfrm>
        </p:spPr>
        <p:txBody>
          <a:bodyPr/>
          <a:lstStyle/>
          <a:p>
            <a:pPr eaLnBrk="1" hangingPunct="1"/>
            <a:r>
              <a:rPr lang="en-US" altLang="zh-CN" sz="2800" b="1" i="1">
                <a:ea typeface="宋体" panose="02010600030101010101" pitchFamily="2" charset="-122"/>
                <a:sym typeface="Symbol" panose="05050102010706020507" pitchFamily="18" charset="2"/>
              </a:rPr>
              <a:t>x </a:t>
            </a:r>
            <a:r>
              <a:rPr lang="en-US" altLang="zh-CN" sz="2800" b="1" i="1">
                <a:ea typeface="宋体" panose="02010600030101010101" pitchFamily="2" charset="-122"/>
              </a:rPr>
              <a:t>P</a:t>
            </a:r>
            <a:r>
              <a:rPr lang="en-US" altLang="zh-CN" sz="2800" b="1">
                <a:ea typeface="宋体" panose="02010600030101010101" pitchFamily="2" charset="-122"/>
              </a:rPr>
              <a:t>(</a:t>
            </a:r>
            <a:r>
              <a:rPr lang="en-US" altLang="zh-CN" sz="2800" b="1" i="1">
                <a:ea typeface="宋体" panose="02010600030101010101" pitchFamily="2" charset="-122"/>
              </a:rPr>
              <a:t>x</a:t>
            </a:r>
            <a:r>
              <a:rPr lang="en-US" altLang="zh-CN" sz="2800" b="1">
                <a:ea typeface="宋体" panose="02010600030101010101" pitchFamily="2" charset="-122"/>
              </a:rPr>
              <a:t>)</a:t>
            </a:r>
          </a:p>
          <a:p>
            <a:pPr eaLnBrk="1" hangingPunct="1"/>
            <a:r>
              <a:rPr lang="en-US" altLang="zh-CN" sz="2800">
                <a:solidFill>
                  <a:srgbClr val="000000"/>
                </a:solidFill>
                <a:ea typeface="宋体" panose="02010600030101010101" pitchFamily="2" charset="-122"/>
              </a:rPr>
              <a:t>对于每个 </a:t>
            </a:r>
            <a:r>
              <a:rPr lang="en-US" altLang="zh-CN" sz="2800" b="1">
                <a:solidFill>
                  <a:srgbClr val="000000"/>
                </a:solidFill>
                <a:ea typeface="宋体" panose="02010600030101010101" pitchFamily="2" charset="-122"/>
              </a:rPr>
              <a:t>x，P(x) </a:t>
            </a:r>
            <a:r>
              <a:rPr lang="en-US" altLang="zh-CN" sz="2800">
                <a:solidFill>
                  <a:srgbClr val="000000"/>
                </a:solidFill>
                <a:ea typeface="宋体" panose="02010600030101010101" pitchFamily="2" charset="-122"/>
              </a:rPr>
              <a:t>都为真</a:t>
            </a:r>
            <a:r>
              <a:rPr lang="en-US" altLang="zh-CN" sz="2800" b="1">
                <a:solidFill>
                  <a:srgbClr val="000000"/>
                </a:solidFill>
                <a:ea typeface="宋体" panose="02010600030101010101" pitchFamily="2" charset="-122"/>
              </a:rPr>
              <a:t>。</a:t>
            </a:r>
          </a:p>
          <a:p>
            <a:pPr eaLnBrk="1" hangingPunct="1"/>
            <a:r>
              <a:rPr lang="en-US" altLang="zh-CN" sz="2800">
                <a:solidFill>
                  <a:srgbClr val="000000"/>
                </a:solidFill>
                <a:ea typeface="宋体" panose="02010600030101010101" pitchFamily="2" charset="-122"/>
              </a:rPr>
              <a:t>存在一个 </a:t>
            </a:r>
            <a:r>
              <a:rPr lang="en-US" altLang="zh-CN" sz="2800" b="1">
                <a:solidFill>
                  <a:srgbClr val="000000"/>
                </a:solidFill>
                <a:ea typeface="宋体" panose="02010600030101010101" pitchFamily="2" charset="-122"/>
              </a:rPr>
              <a:t>P(x) </a:t>
            </a:r>
            <a:r>
              <a:rPr lang="en-US" altLang="zh-CN" sz="2800">
                <a:solidFill>
                  <a:srgbClr val="000000"/>
                </a:solidFill>
                <a:ea typeface="宋体" panose="02010600030101010101" pitchFamily="2" charset="-122"/>
              </a:rPr>
              <a:t>为假的 </a:t>
            </a:r>
            <a:r>
              <a:rPr lang="en-US" altLang="zh-CN" sz="2800" b="1">
                <a:solidFill>
                  <a:srgbClr val="000000"/>
                </a:solidFill>
                <a:ea typeface="宋体" panose="02010600030101010101" pitchFamily="2" charset="-122"/>
              </a:rPr>
              <a:t>x。</a:t>
            </a:r>
          </a:p>
          <a:p>
            <a:pPr eaLnBrk="1" hangingPunct="1"/>
            <a:endParaRPr lang="en-US" altLang="zh-CN" sz="2800" b="1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800" b="1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P(x</a:t>
            </a:r>
            <a:r>
              <a:rPr lang="en-US" altLang="zh-CN" sz="1600" b="1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1</a:t>
            </a:r>
            <a:r>
              <a:rPr lang="en-US" altLang="zh-CN" sz="2800" b="1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) </a:t>
            </a:r>
            <a:r>
              <a:rPr lang="en-US" altLang="zh-CN" sz="2800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</a:t>
            </a:r>
            <a:r>
              <a:rPr lang="en-US" altLang="zh-CN" sz="2800" b="1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 P(x</a:t>
            </a:r>
            <a:r>
              <a:rPr lang="en-US" altLang="zh-CN" sz="1600" b="1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2</a:t>
            </a:r>
            <a:r>
              <a:rPr lang="en-US" altLang="zh-CN" sz="2800" b="1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) </a:t>
            </a:r>
            <a:r>
              <a:rPr lang="en-US" altLang="zh-CN" sz="2800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</a:t>
            </a:r>
            <a:r>
              <a:rPr lang="en-US" altLang="zh-CN" sz="2800" b="1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… </a:t>
            </a:r>
            <a:r>
              <a:rPr lang="en-US" altLang="zh-CN" sz="2800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</a:t>
            </a:r>
            <a:r>
              <a:rPr lang="en-US" altLang="zh-CN" sz="2800" b="1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 P(x</a:t>
            </a:r>
            <a:r>
              <a:rPr lang="en-US" altLang="zh-CN" sz="1600" b="1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n</a:t>
            </a:r>
            <a:r>
              <a:rPr lang="en-US" altLang="zh-CN" sz="2800" b="1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)</a:t>
            </a:r>
            <a:r>
              <a:rPr lang="en-US" altLang="zh-CN" sz="2800">
                <a:solidFill>
                  <a:srgbClr val="000000"/>
                </a:solidFill>
                <a:ea typeface="宋体" panose="02010600030101010101" pitchFamily="2" charset="-122"/>
              </a:rPr>
              <a:t> 为真，当且仅当 </a:t>
            </a:r>
            <a:r>
              <a:rPr lang="en-US" altLang="zh-CN" sz="2800" b="1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P(x</a:t>
            </a:r>
            <a:r>
              <a:rPr lang="en-US" altLang="zh-CN" sz="1600" b="1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1</a:t>
            </a:r>
            <a:r>
              <a:rPr lang="en-US" altLang="zh-CN" sz="2800" b="1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)</a:t>
            </a:r>
            <a:r>
              <a:rPr lang="en-US" altLang="zh-CN" sz="2800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,</a:t>
            </a:r>
            <a:r>
              <a:rPr lang="en-US" altLang="zh-CN" sz="2800" b="1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P(x</a:t>
            </a:r>
            <a:r>
              <a:rPr lang="en-US" altLang="zh-CN" sz="1600" b="1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2</a:t>
            </a:r>
            <a:r>
              <a:rPr lang="en-US" altLang="zh-CN" sz="2800" b="1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),…,P(x</a:t>
            </a:r>
            <a:r>
              <a:rPr lang="en-US" altLang="zh-CN" sz="1600" b="1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n</a:t>
            </a:r>
            <a:r>
              <a:rPr lang="en-US" altLang="zh-CN" sz="2800" b="1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)</a:t>
            </a:r>
            <a:r>
              <a:rPr lang="en-US" altLang="zh-CN" sz="2800">
                <a:solidFill>
                  <a:srgbClr val="000000"/>
                </a:solidFill>
                <a:ea typeface="宋体" panose="02010600030101010101" pitchFamily="2" charset="-122"/>
              </a:rPr>
              <a:t>均为真。</a:t>
            </a:r>
          </a:p>
        </p:txBody>
      </p:sp>
      <p:sp>
        <p:nvSpPr>
          <p:cNvPr id="34821" name="Rectangle 6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4648200" y="1419225"/>
            <a:ext cx="4495800" cy="4879975"/>
          </a:xfrm>
        </p:spPr>
        <p:txBody>
          <a:bodyPr/>
          <a:lstStyle/>
          <a:p>
            <a:pPr eaLnBrk="1" hangingPunct="1"/>
            <a:r>
              <a:rPr lang="en-US" altLang="zh-CN" sz="280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 </a:t>
            </a:r>
            <a:r>
              <a:rPr lang="en-US" altLang="zh-CN" sz="2800" b="1" i="1">
                <a:ea typeface="宋体" panose="02010600030101010101" pitchFamily="2" charset="-122"/>
                <a:sym typeface="Symbol" panose="05050102010706020507" pitchFamily="18" charset="2"/>
              </a:rPr>
              <a:t>x </a:t>
            </a:r>
            <a:r>
              <a:rPr lang="en-US" altLang="zh-CN" sz="2800" b="1" i="1">
                <a:ea typeface="宋体" panose="02010600030101010101" pitchFamily="2" charset="-122"/>
              </a:rPr>
              <a:t>P</a:t>
            </a:r>
            <a:r>
              <a:rPr lang="en-US" altLang="zh-CN" sz="2800" b="1">
                <a:ea typeface="宋体" panose="02010600030101010101" pitchFamily="2" charset="-122"/>
              </a:rPr>
              <a:t>(</a:t>
            </a:r>
            <a:r>
              <a:rPr lang="en-US" altLang="zh-CN" sz="2800" b="1" i="1">
                <a:ea typeface="宋体" panose="02010600030101010101" pitchFamily="2" charset="-122"/>
              </a:rPr>
              <a:t>x</a:t>
            </a:r>
            <a:r>
              <a:rPr lang="en-US" altLang="zh-CN" sz="2800" b="1">
                <a:ea typeface="宋体" panose="02010600030101010101" pitchFamily="2" charset="-122"/>
              </a:rPr>
              <a:t>)</a:t>
            </a:r>
          </a:p>
          <a:p>
            <a:pPr eaLnBrk="1" hangingPunct="1"/>
            <a:r>
              <a:rPr lang="en-US" altLang="zh-CN" sz="2800">
                <a:solidFill>
                  <a:srgbClr val="000000"/>
                </a:solidFill>
                <a:ea typeface="宋体" panose="02010600030101010101" pitchFamily="2" charset="-122"/>
              </a:rPr>
              <a:t>存在一个 </a:t>
            </a:r>
            <a:r>
              <a:rPr lang="en-US" altLang="zh-CN" sz="2800" b="1">
                <a:solidFill>
                  <a:srgbClr val="000000"/>
                </a:solidFill>
                <a:ea typeface="宋体" panose="02010600030101010101" pitchFamily="2" charset="-122"/>
              </a:rPr>
              <a:t>P(x) </a:t>
            </a:r>
            <a:r>
              <a:rPr lang="en-US" altLang="zh-CN" sz="2800">
                <a:solidFill>
                  <a:srgbClr val="000000"/>
                </a:solidFill>
                <a:ea typeface="宋体" panose="02010600030101010101" pitchFamily="2" charset="-122"/>
              </a:rPr>
              <a:t>为假的 </a:t>
            </a:r>
            <a:r>
              <a:rPr lang="en-US" altLang="zh-CN" sz="2800" b="1">
                <a:solidFill>
                  <a:srgbClr val="000000"/>
                </a:solidFill>
                <a:ea typeface="宋体" panose="02010600030101010101" pitchFamily="2" charset="-122"/>
              </a:rPr>
              <a:t>x。 </a:t>
            </a:r>
          </a:p>
          <a:p>
            <a:pPr eaLnBrk="1" hangingPunct="1"/>
            <a:r>
              <a:rPr lang="en-US" altLang="zh-CN" sz="2800">
                <a:solidFill>
                  <a:srgbClr val="000000"/>
                </a:solidFill>
                <a:ea typeface="宋体" panose="02010600030101010101" pitchFamily="2" charset="-122"/>
              </a:rPr>
              <a:t>对于每个 </a:t>
            </a:r>
            <a:r>
              <a:rPr lang="en-US" altLang="zh-CN" sz="2800" b="1">
                <a:solidFill>
                  <a:srgbClr val="000000"/>
                </a:solidFill>
                <a:ea typeface="宋体" panose="02010600030101010101" pitchFamily="2" charset="-122"/>
              </a:rPr>
              <a:t>x，P(x) </a:t>
            </a:r>
            <a:r>
              <a:rPr lang="en-US" altLang="zh-CN" sz="2800">
                <a:solidFill>
                  <a:srgbClr val="000000"/>
                </a:solidFill>
                <a:ea typeface="宋体" panose="02010600030101010101" pitchFamily="2" charset="-122"/>
              </a:rPr>
              <a:t>都是假的</a:t>
            </a:r>
            <a:r>
              <a:rPr lang="en-US" altLang="zh-CN" sz="2800" b="1">
                <a:solidFill>
                  <a:srgbClr val="000000"/>
                </a:solidFill>
                <a:ea typeface="宋体" panose="02010600030101010101" pitchFamily="2" charset="-122"/>
              </a:rPr>
              <a:t>。</a:t>
            </a:r>
          </a:p>
          <a:p>
            <a:pPr eaLnBrk="1" hangingPunct="1"/>
            <a:endParaRPr lang="en-US" altLang="zh-CN" sz="2800" b="1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800" b="1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P(x</a:t>
            </a:r>
            <a:r>
              <a:rPr lang="en-US" altLang="zh-CN" sz="1600" b="1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1</a:t>
            </a:r>
            <a:r>
              <a:rPr lang="en-US" altLang="zh-CN" sz="2800" b="1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) 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</a:t>
            </a:r>
            <a:r>
              <a:rPr lang="en-US" altLang="zh-CN" sz="2800" b="1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 P(x</a:t>
            </a:r>
            <a:r>
              <a:rPr lang="en-US" altLang="zh-CN" sz="1600" b="1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2</a:t>
            </a:r>
            <a:r>
              <a:rPr lang="en-US" altLang="zh-CN" sz="2800" b="1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) 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</a:t>
            </a:r>
            <a:r>
              <a:rPr lang="en-US" altLang="zh-CN" sz="2800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800" b="1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… 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</a:t>
            </a:r>
            <a:r>
              <a:rPr lang="en-US" altLang="zh-CN" sz="2800" b="1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P(x</a:t>
            </a:r>
            <a:r>
              <a:rPr lang="en-US" altLang="zh-CN" sz="1600" b="1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n</a:t>
            </a:r>
            <a:r>
              <a:rPr lang="en-US" altLang="zh-CN" sz="2800" b="1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)</a:t>
            </a:r>
            <a:r>
              <a:rPr lang="en-US" altLang="zh-CN" sz="2800">
                <a:solidFill>
                  <a:srgbClr val="000000"/>
                </a:solidFill>
                <a:ea typeface="宋体" panose="02010600030101010101" pitchFamily="2" charset="-122"/>
              </a:rPr>
              <a:t> 为真，当且仅当 </a:t>
            </a:r>
            <a:r>
              <a:rPr lang="en-US" altLang="zh-CN" sz="2800" b="1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P(x</a:t>
            </a:r>
            <a:r>
              <a:rPr lang="en-US" altLang="zh-CN" sz="1600" b="1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1</a:t>
            </a:r>
            <a:r>
              <a:rPr lang="en-US" altLang="zh-CN" sz="2800" b="1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)</a:t>
            </a:r>
            <a:r>
              <a:rPr lang="en-US" altLang="zh-CN" sz="2800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,</a:t>
            </a:r>
            <a:r>
              <a:rPr lang="en-US" altLang="zh-CN" sz="2800" b="1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P(x</a:t>
            </a:r>
            <a:r>
              <a:rPr lang="en-US" altLang="zh-CN" sz="1600" b="1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2</a:t>
            </a:r>
            <a:r>
              <a:rPr lang="en-US" altLang="zh-CN" sz="2800" b="1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),…,P(x</a:t>
            </a:r>
            <a:r>
              <a:rPr lang="en-US" altLang="zh-CN" sz="1600" b="1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n</a:t>
            </a:r>
            <a:r>
              <a:rPr lang="en-US" altLang="zh-CN" sz="2800" b="1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) </a:t>
            </a:r>
            <a:r>
              <a:rPr lang="en-US" altLang="zh-CN" sz="2800">
                <a:solidFill>
                  <a:srgbClr val="000000"/>
                </a:solidFill>
                <a:ea typeface="宋体" panose="02010600030101010101" pitchFamily="2" charset="-122"/>
              </a:rPr>
              <a:t>中至少有一个为真。</a:t>
            </a:r>
            <a:endParaRPr lang="en-US" altLang="zh-CN" sz="2800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34822" name="Rectangle 7"/>
          <p:cNvSpPr>
            <a:spLocks noChangeArrowheads="1"/>
          </p:cNvSpPr>
          <p:nvPr/>
        </p:nvSpPr>
        <p:spPr bwMode="auto">
          <a:xfrm>
            <a:off x="228600" y="1447800"/>
            <a:ext cx="4419600" cy="4953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>
              <a:solidFill>
                <a:schemeClr val="tx2"/>
              </a:solidFill>
            </a:endParaRPr>
          </a:p>
        </p:txBody>
      </p:sp>
      <p:sp>
        <p:nvSpPr>
          <p:cNvPr id="34823" name="Rectangle 8"/>
          <p:cNvSpPr>
            <a:spLocks noChangeArrowheads="1"/>
          </p:cNvSpPr>
          <p:nvPr/>
        </p:nvSpPr>
        <p:spPr bwMode="auto">
          <a:xfrm>
            <a:off x="4648200" y="1447800"/>
            <a:ext cx="4419600" cy="4953000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灯片编号占位符 3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5C298189-D058-4F8B-BE66-672AC99A54D8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29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67587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B7BB7795-B94E-4F61-84E3-6588AEAB24F0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29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7987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800">
                <a:ea typeface="宋体" panose="02010600030101010101" pitchFamily="2" charset="-122"/>
              </a:rPr>
              <a:t>练习</a:t>
            </a:r>
          </a:p>
        </p:txBody>
      </p:sp>
      <p:sp>
        <p:nvSpPr>
          <p:cNvPr id="3" name="矩形 5"/>
          <p:cNvSpPr>
            <a:spLocks noChangeArrowheads="1"/>
          </p:cNvSpPr>
          <p:nvPr/>
        </p:nvSpPr>
        <p:spPr bwMode="auto">
          <a:xfrm>
            <a:off x="457200" y="1524000"/>
            <a:ext cx="8154670" cy="4953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1"/>
            </a:solidFill>
            <a:round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800" dirty="0"/>
              <a:t>1</a:t>
            </a:r>
            <a:r>
              <a:rPr lang="en-US" altLang="zh-CN" sz="1800" dirty="0">
                <a:sym typeface="+mn-ea"/>
              </a:rPr>
              <a:t>.</a:t>
            </a:r>
            <a:r>
              <a:rPr lang="zh-CN" altLang="en-US" sz="1800" dirty="0">
                <a:sym typeface="+mn-ea"/>
              </a:rPr>
              <a:t>假设所有变量的论域都是所有整数，下列哪个陈述是正确的？（）</a:t>
            </a:r>
            <a:endParaRPr lang="zh-CN" altLang="zh-CN" sz="1800" dirty="0"/>
          </a:p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rcRect t="37037"/>
          <a:stretch>
            <a:fillRect/>
          </a:stretch>
        </p:blipFill>
        <p:spPr>
          <a:xfrm>
            <a:off x="457200" y="1905000"/>
            <a:ext cx="8077200" cy="12954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20D105CA-BEAD-4D24-97B4-9755CFEE6D21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30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35843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  <p:grpSp>
        <p:nvGrpSpPr>
          <p:cNvPr id="35844" name="Group 3"/>
          <p:cNvGrpSpPr/>
          <p:nvPr/>
        </p:nvGrpSpPr>
        <p:grpSpPr bwMode="auto">
          <a:xfrm>
            <a:off x="1981200" y="2819400"/>
            <a:ext cx="5029200" cy="2438400"/>
            <a:chOff x="0" y="0"/>
            <a:chExt cx="1889" cy="1009"/>
          </a:xfrm>
        </p:grpSpPr>
        <p:grpSp>
          <p:nvGrpSpPr>
            <p:cNvPr id="35846" name="Group 4"/>
            <p:cNvGrpSpPr/>
            <p:nvPr/>
          </p:nvGrpSpPr>
          <p:grpSpPr bwMode="auto">
            <a:xfrm>
              <a:off x="0" y="90"/>
              <a:ext cx="1889" cy="919"/>
              <a:chOff x="0" y="0"/>
              <a:chExt cx="1926" cy="937"/>
            </a:xfrm>
          </p:grpSpPr>
          <p:sp>
            <p:nvSpPr>
              <p:cNvPr id="35851" name="Oval 5"/>
              <p:cNvSpPr>
                <a:spLocks noChangeArrowheads="1"/>
              </p:cNvSpPr>
              <p:nvPr/>
            </p:nvSpPr>
            <p:spPr bwMode="auto">
              <a:xfrm>
                <a:off x="21" y="30"/>
                <a:ext cx="1905" cy="90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4A4A7C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/>
              </a:p>
            </p:txBody>
          </p:sp>
          <p:sp>
            <p:nvSpPr>
              <p:cNvPr id="35852" name="Oval 6"/>
              <p:cNvSpPr>
                <a:spLocks noChangeArrowheads="1"/>
              </p:cNvSpPr>
              <p:nvPr/>
            </p:nvSpPr>
            <p:spPr bwMode="auto">
              <a:xfrm>
                <a:off x="0" y="0"/>
                <a:ext cx="1905" cy="907"/>
              </a:xfrm>
              <a:prstGeom prst="ellipse">
                <a:avLst/>
              </a:prstGeom>
              <a:gradFill rotWithShape="1">
                <a:gsLst>
                  <a:gs pos="0">
                    <a:srgbClr val="D2D2FF"/>
                  </a:gs>
                  <a:gs pos="100000">
                    <a:schemeClr val="hlink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/>
              </a:p>
            </p:txBody>
          </p:sp>
        </p:grpSp>
        <p:sp>
          <p:nvSpPr>
            <p:cNvPr id="35847" name="Oval 7"/>
            <p:cNvSpPr>
              <a:spLocks noChangeArrowheads="1"/>
            </p:cNvSpPr>
            <p:nvPr/>
          </p:nvSpPr>
          <p:spPr bwMode="auto">
            <a:xfrm>
              <a:off x="89" y="0"/>
              <a:ext cx="1691" cy="845"/>
            </a:xfrm>
            <a:prstGeom prst="ellipse">
              <a:avLst/>
            </a:prstGeom>
            <a:gradFill rotWithShape="1">
              <a:gsLst>
                <a:gs pos="0">
                  <a:srgbClr val="37556B"/>
                </a:gs>
                <a:gs pos="100000">
                  <a:schemeClr val="accent1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eaVert"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/>
            </a:p>
          </p:txBody>
        </p:sp>
        <p:sp>
          <p:nvSpPr>
            <p:cNvPr id="35848" name="Oval 8"/>
            <p:cNvSpPr>
              <a:spLocks noChangeArrowheads="1"/>
            </p:cNvSpPr>
            <p:nvPr/>
          </p:nvSpPr>
          <p:spPr bwMode="auto">
            <a:xfrm>
              <a:off x="111" y="5"/>
              <a:ext cx="1650" cy="824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alpha val="0"/>
                  </a:schemeClr>
                </a:gs>
                <a:gs pos="100000">
                  <a:srgbClr val="D0E6F7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eaVert"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/>
            </a:p>
          </p:txBody>
        </p:sp>
        <p:sp>
          <p:nvSpPr>
            <p:cNvPr id="35849" name="Oval 9"/>
            <p:cNvSpPr>
              <a:spLocks noChangeArrowheads="1"/>
            </p:cNvSpPr>
            <p:nvPr/>
          </p:nvSpPr>
          <p:spPr bwMode="auto">
            <a:xfrm>
              <a:off x="128" y="13"/>
              <a:ext cx="1570" cy="770"/>
            </a:xfrm>
            <a:prstGeom prst="ellipse">
              <a:avLst/>
            </a:prstGeom>
            <a:gradFill rotWithShape="1">
              <a:gsLst>
                <a:gs pos="0">
                  <a:srgbClr val="5E91B7"/>
                </a:gs>
                <a:gs pos="100000">
                  <a:schemeClr val="accent1">
                    <a:alpha val="48000"/>
                  </a:schemeClr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eaVert"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/>
            </a:p>
          </p:txBody>
        </p:sp>
        <p:sp>
          <p:nvSpPr>
            <p:cNvPr id="35850" name="Oval 10"/>
            <p:cNvSpPr>
              <a:spLocks noChangeArrowheads="1"/>
            </p:cNvSpPr>
            <p:nvPr/>
          </p:nvSpPr>
          <p:spPr bwMode="auto">
            <a:xfrm>
              <a:off x="211" y="30"/>
              <a:ext cx="1382" cy="624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chemeClr val="accent1">
                    <a:alpha val="37999"/>
                  </a:schemeClr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eaVert"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/>
            </a:p>
          </p:txBody>
        </p:sp>
      </p:grpSp>
      <p:sp>
        <p:nvSpPr>
          <p:cNvPr id="35845" name="Rectangle 11"/>
          <p:cNvSpPr>
            <a:spLocks noGrp="1" noChangeArrowheads="1"/>
          </p:cNvSpPr>
          <p:nvPr>
            <p:ph type="body" idx="4294967295"/>
          </p:nvPr>
        </p:nvSpPr>
        <p:spPr>
          <a:xfrm>
            <a:off x="2209800" y="3505200"/>
            <a:ext cx="4572000" cy="685800"/>
          </a:xfrm>
        </p:spPr>
        <p:txBody>
          <a:bodyPr/>
          <a:lstStyle/>
          <a:p>
            <a:pPr algn="ctr">
              <a:spcBef>
                <a:spcPct val="0"/>
              </a:spcBef>
              <a:buClrTx/>
              <a:buFont typeface="Wingdings" panose="05000000000000000000" pitchFamily="2" charset="2"/>
              <a:buNone/>
            </a:pPr>
            <a:r>
              <a:rPr lang="zh-CN" altLang="en-US" b="1">
                <a:ea typeface="宋体" panose="02010600030101010101" pitchFamily="2" charset="-122"/>
              </a:rPr>
              <a:t>约束论域的量词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6B6AF28B-6E4E-4E50-A98C-DDA7839270A8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31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36867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  <p:sp>
        <p:nvSpPr>
          <p:cNvPr id="36868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如果在变量上使用了量词，我们就说变量的这次出现是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受约束的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。</a:t>
            </a: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一个变量的出现，如果没有被量词绑定或设置为等于某个特定值，则被称为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自由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变量。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885AEDA6-E7D3-46B5-AE8C-F8F888D2C172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32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37891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自由变量和</a:t>
            </a:r>
            <a:r>
              <a:rPr lang="zh-CN" altLang="en-US">
                <a:ea typeface="宋体" panose="02010600030101010101" pitchFamily="2" charset="-122"/>
              </a:rPr>
              <a:t>约束</a:t>
            </a:r>
            <a:r>
              <a:rPr lang="en-US" altLang="zh-CN">
                <a:ea typeface="宋体" panose="02010600030101010101" pitchFamily="2" charset="-122"/>
              </a:rPr>
              <a:t>变量</a:t>
            </a:r>
          </a:p>
        </p:txBody>
      </p:sp>
      <p:sp>
        <p:nvSpPr>
          <p:cNvPr id="37892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像 </a:t>
            </a:r>
            <a:r>
              <a:rPr lang="en-US" altLang="zh-CN" i="1">
                <a:ea typeface="宋体" panose="02010600030101010101" pitchFamily="2" charset="-122"/>
              </a:rPr>
              <a:t>P</a:t>
            </a:r>
            <a:r>
              <a:rPr lang="en-US" altLang="zh-CN">
                <a:ea typeface="宋体" panose="02010600030101010101" pitchFamily="2" charset="-122"/>
              </a:rPr>
              <a:t>(</a:t>
            </a:r>
            <a:r>
              <a:rPr lang="en-US" altLang="zh-CN" i="1">
                <a:ea typeface="宋体" panose="02010600030101010101" pitchFamily="2" charset="-122"/>
              </a:rPr>
              <a:t>x</a:t>
            </a:r>
            <a:r>
              <a:rPr lang="en-US" altLang="zh-CN">
                <a:ea typeface="宋体" panose="02010600030101010101" pitchFamily="2" charset="-122"/>
              </a:rPr>
              <a:t>) 这样的表达式有一个</a:t>
            </a:r>
            <a:r>
              <a:rPr lang="en-US" altLang="zh-CN" i="1">
                <a:ea typeface="宋体" panose="02010600030101010101" pitchFamily="2" charset="-122"/>
              </a:rPr>
              <a:t>自由变量 x</a:t>
            </a:r>
            <a:r>
              <a:rPr lang="en-US" altLang="zh-CN">
                <a:ea typeface="宋体" panose="02010600030101010101" pitchFamily="2" charset="-122"/>
              </a:rPr>
              <a:t>（即 </a:t>
            </a:r>
            <a:r>
              <a:rPr lang="en-US" altLang="zh-CN" i="1">
                <a:ea typeface="宋体" panose="02010600030101010101" pitchFamily="2" charset="-122"/>
              </a:rPr>
              <a:t>x </a:t>
            </a:r>
            <a:r>
              <a:rPr lang="en-US" altLang="zh-CN">
                <a:ea typeface="宋体" panose="02010600030101010101" pitchFamily="2" charset="-122"/>
              </a:rPr>
              <a:t>没有被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"</a:t>
            </a:r>
            <a:r>
              <a:rPr lang="en-US" altLang="zh-CN">
                <a:ea typeface="宋体" panose="02010600030101010101" pitchFamily="2" charset="-122"/>
              </a:rPr>
              <a:t>定义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"</a:t>
            </a:r>
            <a:r>
              <a:rPr lang="en-US" altLang="zh-CN">
                <a:ea typeface="宋体" panose="02010600030101010101" pitchFamily="2" charset="-122"/>
              </a:rPr>
              <a:t>）。</a:t>
            </a:r>
          </a:p>
          <a:p>
            <a:pPr eaLnBrk="1" hangingPunct="1"/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</a:rPr>
              <a:t>量词（</a:t>
            </a: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 </a:t>
            </a: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</a:rPr>
              <a:t>或 </a:t>
            </a: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）对具有一个或多个自由变量的表达式进行运算，并</a:t>
            </a:r>
            <a:r>
              <a:rPr lang="zh-CN" altLang="en-US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约束</a:t>
            </a: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其中一个或多个变量，从而产生一个具有一个或多个</a:t>
            </a:r>
            <a:r>
              <a:rPr lang="en-US" altLang="zh-CN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绑定变量</a:t>
            </a: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的表达式。</a:t>
            </a:r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D9EF6A61-4906-4B18-81E9-FDFDFC39FA19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33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38915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绑定示例</a:t>
            </a:r>
          </a:p>
        </p:txBody>
      </p:sp>
      <p:sp>
        <p:nvSpPr>
          <p:cNvPr id="38916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i="1" dirty="0">
                <a:ea typeface="宋体" panose="02010600030101010101" pitchFamily="2" charset="-122"/>
              </a:rPr>
              <a:t>P</a:t>
            </a:r>
            <a:r>
              <a:rPr lang="en-US" altLang="zh-CN" dirty="0">
                <a:ea typeface="宋体" panose="02010600030101010101" pitchFamily="2" charset="-122"/>
              </a:rPr>
              <a:t>(</a:t>
            </a:r>
            <a:r>
              <a:rPr lang="en-US" altLang="zh-CN" i="1" dirty="0" err="1">
                <a:ea typeface="宋体" panose="02010600030101010101" pitchFamily="2" charset="-122"/>
              </a:rPr>
              <a:t>x,y</a:t>
            </a:r>
            <a:r>
              <a:rPr lang="en-US" altLang="zh-CN" dirty="0">
                <a:ea typeface="宋体" panose="02010600030101010101" pitchFamily="2" charset="-122"/>
              </a:rPr>
              <a:t>) 有两个自由变量，即 </a:t>
            </a:r>
            <a:r>
              <a:rPr lang="en-US" altLang="zh-CN" i="1" dirty="0">
                <a:ea typeface="宋体" panose="02010600030101010101" pitchFamily="2" charset="-122"/>
              </a:rPr>
              <a:t>x </a:t>
            </a:r>
            <a:r>
              <a:rPr lang="en-US" altLang="zh-CN" dirty="0">
                <a:ea typeface="宋体" panose="02010600030101010101" pitchFamily="2" charset="-122"/>
              </a:rPr>
              <a:t>和 </a:t>
            </a:r>
            <a:r>
              <a:rPr lang="en-US" altLang="zh-CN" i="1" dirty="0">
                <a:ea typeface="宋体" panose="02010600030101010101" pitchFamily="2" charset="-122"/>
              </a:rPr>
              <a:t>y</a:t>
            </a:r>
            <a:r>
              <a:rPr lang="en-US" altLang="zh-CN" dirty="0">
                <a:ea typeface="宋体" panose="02010600030101010101" pitchFamily="2" charset="-122"/>
              </a:rPr>
              <a:t>。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x P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i="1" dirty="0" err="1"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dirty="0" err="1">
                <a:ea typeface="宋体" panose="02010600030101010101" pitchFamily="2" charset="-122"/>
                <a:sym typeface="Symbol" panose="05050102010706020507" pitchFamily="18" charset="2"/>
              </a:rPr>
              <a:t>,</a:t>
            </a:r>
            <a:r>
              <a:rPr lang="en-US" altLang="zh-CN" i="1" dirty="0" err="1">
                <a:ea typeface="宋体" panose="02010600030101010101" pitchFamily="2" charset="-122"/>
                <a:sym typeface="Symbol" panose="05050102010706020507" pitchFamily="18" charset="2"/>
              </a:rPr>
              <a:t>y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) 有一个自由变量和一个</a:t>
            </a:r>
            <a:r>
              <a:rPr lang="zh-CN" altLang="en-US" dirty="0">
                <a:ea typeface="宋体" panose="02010600030101010101" pitchFamily="2" charset="-122"/>
                <a:sym typeface="Symbol" panose="05050102010706020507" pitchFamily="18" charset="2"/>
              </a:rPr>
              <a:t>约束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变量。  </a:t>
            </a:r>
            <a:endParaRPr lang="en-US" altLang="zh-CN" dirty="0">
              <a:solidFill>
                <a:srgbClr val="00000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</a:pPr>
            <a:endParaRPr lang="en-US" altLang="zh-CN" dirty="0">
              <a:solidFill>
                <a:srgbClr val="00000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y自由，因为它没有被量词绑定，也没有为该变量赋值。</a:t>
            </a:r>
          </a:p>
          <a:p>
            <a:pPr eaLnBrk="1" hangingPunct="1">
              <a:lnSpc>
                <a:spcPct val="90000"/>
              </a:lnSpc>
            </a:pPr>
            <a:endParaRPr lang="en-US" altLang="zh-CN" dirty="0">
              <a:solidFill>
                <a:srgbClr val="00000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ADA920EB-AB1A-4913-80C1-4AFBF8843A8C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34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39939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  <p:sp>
        <p:nvSpPr>
          <p:cNvPr id="39940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419225"/>
            <a:ext cx="8498840" cy="414337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GB" altLang="en-US" sz="2800" b="1" dirty="0" err="1">
                <a:ea typeface="宋体" panose="02010600030101010101" pitchFamily="2" charset="-122"/>
              </a:rPr>
              <a:t>非自由变量的出现会被</a:t>
            </a:r>
            <a:r>
              <a:rPr lang="zh-CN" altLang="en-GB" sz="2800" b="1" dirty="0">
                <a:solidFill>
                  <a:srgbClr val="006600"/>
                </a:solidFill>
                <a:ea typeface="宋体" panose="02010600030101010101" pitchFamily="2" charset="-122"/>
              </a:rPr>
              <a:t>约束</a:t>
            </a:r>
            <a:r>
              <a:rPr lang="en-GB" altLang="en-US" sz="2800" b="1" dirty="0">
                <a:ea typeface="宋体" panose="02010600030101010101" pitchFamily="2" charset="-122"/>
              </a:rPr>
              <a:t>。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 sz="2800" b="1" dirty="0" err="1">
                <a:ea typeface="宋体" panose="02010600030101010101" pitchFamily="2" charset="-122"/>
              </a:rPr>
              <a:t>测试你的理解能力：哪些变量（如果有）是自由的</a:t>
            </a:r>
            <a:r>
              <a:rPr lang="en-GB" altLang="en-US" sz="2800" b="1" dirty="0">
                <a:ea typeface="宋体" panose="02010600030101010101" pitchFamily="2" charset="-122"/>
              </a:rPr>
              <a:t> 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x </a:t>
            </a:r>
            <a:r>
              <a:rPr lang="en-US" altLang="zh-CN" b="1" i="1" dirty="0">
                <a:ea typeface="宋体" panose="02010600030101010101" pitchFamily="2" charset="-122"/>
                <a:sym typeface="Symbol" panose="05050102010706020507" pitchFamily="18" charset="2"/>
              </a:rPr>
              <a:t>P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b="1" i="1" dirty="0"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x </a:t>
            </a:r>
            <a:r>
              <a:rPr lang="en-US" altLang="zh-CN" b="1" i="1" dirty="0">
                <a:ea typeface="宋体" panose="02010600030101010101" pitchFamily="2" charset="-122"/>
                <a:sym typeface="Symbol" panose="05050102010706020507" pitchFamily="18" charset="2"/>
              </a:rPr>
              <a:t>P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b="1" i="1" dirty="0"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</a:t>
            </a:r>
            <a:r>
              <a:rPr lang="en-US" altLang="zh-CN" b="1" dirty="0" err="1">
                <a:ea typeface="宋体" panose="02010600030101010101" pitchFamily="2" charset="-122"/>
                <a:sym typeface="Symbol" panose="05050102010706020507" pitchFamily="18" charset="2"/>
              </a:rPr>
              <a:t>yQ</a:t>
            </a:r>
            <a:r>
              <a:rPr lang="en-US" altLang="zh-CN" b="1" i="1" dirty="0">
                <a:ea typeface="宋体" panose="02010600030101010101" pitchFamily="2" charset="-122"/>
              </a:rPr>
              <a:t>(x)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b="1" i="1" dirty="0">
                <a:ea typeface="宋体" panose="02010600030101010101" pitchFamily="2" charset="-122"/>
                <a:sym typeface="Symbol" panose="05050102010706020507" pitchFamily="18" charset="2"/>
              </a:rPr>
              <a:t></a:t>
            </a:r>
            <a:r>
              <a:rPr lang="en-US" altLang="zh-CN" b="1" i="1" dirty="0" err="1">
                <a:ea typeface="宋体" panose="02010600030101010101" pitchFamily="2" charset="-122"/>
                <a:sym typeface="Symbol" panose="05050102010706020507" pitchFamily="18" charset="2"/>
              </a:rPr>
              <a:t>xP</a:t>
            </a:r>
            <a:r>
              <a:rPr lang="en-US" altLang="zh-CN" b="1" i="1" dirty="0">
                <a:ea typeface="宋体" panose="02010600030101010101" pitchFamily="2" charset="-122"/>
              </a:rPr>
              <a:t>(b) （</a:t>
            </a:r>
            <a:r>
              <a:rPr lang="en-US" altLang="zh-CN" b="1" i="1" dirty="0" err="1">
                <a:ea typeface="宋体" panose="02010600030101010101" pitchFamily="2" charset="-122"/>
              </a:rPr>
              <a:t>注：b</a:t>
            </a:r>
            <a:r>
              <a:rPr lang="en-US" altLang="zh-CN" b="1" i="1" dirty="0">
                <a:ea typeface="宋体" panose="02010600030101010101" pitchFamily="2" charset="-122"/>
              </a:rPr>
              <a:t> </a:t>
            </a:r>
            <a:r>
              <a:rPr lang="en-US" altLang="zh-CN" b="1" i="1" dirty="0" err="1">
                <a:ea typeface="宋体" panose="02010600030101010101" pitchFamily="2" charset="-122"/>
              </a:rPr>
              <a:t>是常数</a:t>
            </a:r>
            <a:r>
              <a:rPr lang="en-US" altLang="zh-CN" b="1" i="1" dirty="0">
                <a:ea typeface="宋体" panose="02010600030101010101" pitchFamily="2" charset="-122"/>
              </a:rPr>
              <a:t>）</a:t>
            </a:r>
            <a:endParaRPr lang="en-US" altLang="zh-CN" b="1" dirty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b="1" i="1" dirty="0">
                <a:ea typeface="宋体" panose="02010600030101010101" pitchFamily="2" charset="-122"/>
                <a:sym typeface="Symbol" panose="05050102010706020507" pitchFamily="18" charset="2"/>
              </a:rPr>
              <a:t>x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(y </a:t>
            </a:r>
            <a:r>
              <a:rPr lang="en-US" altLang="zh-CN" b="1" i="1" dirty="0">
                <a:ea typeface="宋体" panose="02010600030101010101" pitchFamily="2" charset="-122"/>
              </a:rPr>
              <a:t>R(</a:t>
            </a:r>
            <a:r>
              <a:rPr lang="en-US" altLang="zh-CN" b="1" i="1" dirty="0" err="1">
                <a:ea typeface="宋体" panose="02010600030101010101" pitchFamily="2" charset="-122"/>
              </a:rPr>
              <a:t>x,y</a:t>
            </a:r>
            <a:r>
              <a:rPr lang="en-US" altLang="zh-CN" b="1" dirty="0">
                <a:ea typeface="宋体" panose="02010600030101010101" pitchFamily="2" charset="-122"/>
              </a:rPr>
              <a:t>))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560FBE3A-081E-4A8D-81C1-6E0E6A97D1FB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35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40963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  <p:sp>
        <p:nvSpPr>
          <p:cNvPr id="40964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419225"/>
            <a:ext cx="8084820" cy="487997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GB" altLang="en-US" sz="2800" b="1" dirty="0" err="1">
                <a:ea typeface="宋体" panose="02010600030101010101" pitchFamily="2" charset="-122"/>
              </a:rPr>
              <a:t>非自由变量的出现</a:t>
            </a:r>
            <a:r>
              <a:rPr lang="en-GB" altLang="en-US" sz="2800" b="1" dirty="0">
                <a:ea typeface="宋体" panose="02010600030101010101" pitchFamily="2" charset="-122"/>
              </a:rPr>
              <a:t> </a:t>
            </a:r>
            <a:br>
              <a:rPr lang="en-GB" altLang="en-US" sz="2800" b="1" dirty="0">
                <a:ea typeface="宋体" panose="02010600030101010101" pitchFamily="2" charset="-122"/>
              </a:rPr>
            </a:br>
            <a:r>
              <a:rPr lang="en-GB" altLang="en-US" sz="2800" b="1" dirty="0" err="1">
                <a:ea typeface="宋体" panose="02010600030101010101" pitchFamily="2" charset="-122"/>
              </a:rPr>
              <a:t>是</a:t>
            </a:r>
            <a:r>
              <a:rPr lang="en-GB" altLang="en-US" sz="2800" b="1" dirty="0" err="1">
                <a:solidFill>
                  <a:srgbClr val="006600"/>
                </a:solidFill>
                <a:ea typeface="宋体" panose="02010600030101010101" pitchFamily="2" charset="-122"/>
              </a:rPr>
              <a:t>绑定的</a:t>
            </a:r>
            <a:r>
              <a:rPr lang="en-GB" altLang="en-US" sz="2800" b="1" dirty="0">
                <a:ea typeface="宋体" panose="02010600030101010101" pitchFamily="2" charset="-122"/>
              </a:rPr>
              <a:t>。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 sz="2800" b="1" dirty="0" err="1">
                <a:ea typeface="宋体" panose="02010600030101010101" pitchFamily="2" charset="-122"/>
              </a:rPr>
              <a:t>检查您的理解：哪些变量（如果有）是自由的</a:t>
            </a:r>
            <a:r>
              <a:rPr lang="en-GB" altLang="en-US" sz="2800" b="1" dirty="0">
                <a:ea typeface="宋体" panose="02010600030101010101" pitchFamily="2" charset="-122"/>
              </a:rPr>
              <a:t> 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x </a:t>
            </a:r>
            <a:r>
              <a:rPr lang="en-US" altLang="zh-CN" b="1" i="1" dirty="0">
                <a:ea typeface="宋体" panose="02010600030101010101" pitchFamily="2" charset="-122"/>
                <a:sym typeface="Symbol" panose="05050102010706020507" pitchFamily="18" charset="2"/>
              </a:rPr>
              <a:t>P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b="1" i="1" dirty="0"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) [</a:t>
            </a:r>
            <a:r>
              <a:rPr lang="en-US" altLang="zh-CN" b="1" dirty="0" err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无自由变量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]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x </a:t>
            </a:r>
            <a:r>
              <a:rPr lang="en-US" altLang="zh-CN" b="1" i="1" dirty="0">
                <a:ea typeface="宋体" panose="02010600030101010101" pitchFamily="2" charset="-122"/>
                <a:sym typeface="Symbol" panose="05050102010706020507" pitchFamily="18" charset="2"/>
              </a:rPr>
              <a:t>P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b="1" i="1" dirty="0"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) [</a:t>
            </a:r>
            <a:r>
              <a:rPr lang="en-US" altLang="zh-CN" b="1" dirty="0" err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无自由变量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]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</a:t>
            </a:r>
            <a:r>
              <a:rPr lang="en-US" altLang="zh-CN" b="1" dirty="0" err="1">
                <a:ea typeface="宋体" panose="02010600030101010101" pitchFamily="2" charset="-122"/>
                <a:sym typeface="Symbol" panose="05050102010706020507" pitchFamily="18" charset="2"/>
              </a:rPr>
              <a:t>yQ</a:t>
            </a:r>
            <a:r>
              <a:rPr lang="en-US" altLang="zh-CN" b="1" i="1" dirty="0">
                <a:ea typeface="宋体" panose="02010600030101010101" pitchFamily="2" charset="-122"/>
              </a:rPr>
              <a:t>(x) [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x </a:t>
            </a:r>
            <a:r>
              <a:rPr lang="en-US" altLang="zh-CN" b="1" dirty="0" err="1">
                <a:solidFill>
                  <a:srgbClr val="FF0000"/>
                </a:solidFill>
                <a:ea typeface="宋体" panose="02010600030101010101" pitchFamily="2" charset="-122"/>
              </a:rPr>
              <a:t>是自由的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]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b="1" i="1" dirty="0">
                <a:ea typeface="宋体" panose="02010600030101010101" pitchFamily="2" charset="-122"/>
                <a:sym typeface="Symbol" panose="05050102010706020507" pitchFamily="18" charset="2"/>
              </a:rPr>
              <a:t></a:t>
            </a:r>
            <a:r>
              <a:rPr lang="en-US" altLang="zh-CN" b="1" i="1" dirty="0" err="1">
                <a:ea typeface="宋体" panose="02010600030101010101" pitchFamily="2" charset="-122"/>
                <a:sym typeface="Symbol" panose="05050102010706020507" pitchFamily="18" charset="2"/>
              </a:rPr>
              <a:t>xP</a:t>
            </a:r>
            <a:r>
              <a:rPr lang="en-US" altLang="zh-CN" b="1" i="1" dirty="0">
                <a:ea typeface="宋体" panose="02010600030101010101" pitchFamily="2" charset="-122"/>
              </a:rPr>
              <a:t>(b) (</a:t>
            </a:r>
            <a:r>
              <a:rPr lang="en-US" altLang="zh-CN" b="1" i="1" dirty="0" err="1">
                <a:ea typeface="宋体" panose="02010600030101010101" pitchFamily="2" charset="-122"/>
              </a:rPr>
              <a:t>注意，b</a:t>
            </a:r>
            <a:r>
              <a:rPr lang="en-US" altLang="zh-CN" b="1" i="1" dirty="0">
                <a:ea typeface="宋体" panose="02010600030101010101" pitchFamily="2" charset="-122"/>
              </a:rPr>
              <a:t> </a:t>
            </a:r>
            <a:r>
              <a:rPr lang="en-US" altLang="zh-CN" b="1" i="1" dirty="0" err="1">
                <a:ea typeface="宋体" panose="02010600030101010101" pitchFamily="2" charset="-122"/>
              </a:rPr>
              <a:t>是常数</a:t>
            </a:r>
            <a:r>
              <a:rPr lang="en-US" altLang="zh-CN" b="1" i="1" dirty="0">
                <a:ea typeface="宋体" panose="02010600030101010101" pitchFamily="2" charset="-122"/>
              </a:rPr>
              <a:t>) [</a:t>
            </a:r>
            <a:r>
              <a:rPr lang="en-US" altLang="zh-CN" b="1" dirty="0" err="1">
                <a:solidFill>
                  <a:srgbClr val="FF0000"/>
                </a:solidFill>
                <a:ea typeface="宋体" panose="02010600030101010101" pitchFamily="2" charset="-122"/>
              </a:rPr>
              <a:t>无自由变量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]</a:t>
            </a:r>
            <a:endParaRPr lang="en-US" altLang="zh-CN" b="1" dirty="0">
              <a:solidFill>
                <a:srgbClr val="FF000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b="1" i="1" dirty="0">
                <a:ea typeface="宋体" panose="02010600030101010101" pitchFamily="2" charset="-122"/>
                <a:sym typeface="Symbol" panose="05050102010706020507" pitchFamily="18" charset="2"/>
              </a:rPr>
              <a:t>x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(y </a:t>
            </a:r>
            <a:r>
              <a:rPr lang="en-US" altLang="zh-CN" b="1" i="1" dirty="0">
                <a:ea typeface="宋体" panose="02010600030101010101" pitchFamily="2" charset="-122"/>
              </a:rPr>
              <a:t>R(</a:t>
            </a:r>
            <a:r>
              <a:rPr lang="en-US" altLang="zh-CN" b="1" i="1" dirty="0" err="1">
                <a:ea typeface="宋体" panose="02010600030101010101" pitchFamily="2" charset="-122"/>
              </a:rPr>
              <a:t>x,y</a:t>
            </a:r>
            <a:r>
              <a:rPr lang="en-US" altLang="zh-CN" b="1" dirty="0">
                <a:ea typeface="宋体" panose="02010600030101010101" pitchFamily="2" charset="-122"/>
              </a:rPr>
              <a:t>)) [</a:t>
            </a:r>
            <a:r>
              <a:rPr lang="en-US" altLang="zh-CN" b="1" dirty="0" err="1">
                <a:solidFill>
                  <a:srgbClr val="FF0000"/>
                </a:solidFill>
                <a:ea typeface="宋体" panose="02010600030101010101" pitchFamily="2" charset="-122"/>
              </a:rPr>
              <a:t>无自由变量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］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灯片编号占位符 3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B4D86699-A124-4155-BA7E-EF4CD1C9EE8D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36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67587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CC89D01A-7AF6-483A-9ACD-230A64E45A6E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36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7270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800">
                <a:ea typeface="宋体" panose="02010600030101010101" pitchFamily="2" charset="-122"/>
              </a:rPr>
              <a:t>练习</a:t>
            </a:r>
          </a:p>
        </p:txBody>
      </p:sp>
      <p:sp>
        <p:nvSpPr>
          <p:cNvPr id="72710" name="矩形 6"/>
          <p:cNvSpPr>
            <a:spLocks noChangeArrowheads="1"/>
          </p:cNvSpPr>
          <p:nvPr/>
        </p:nvSpPr>
        <p:spPr bwMode="auto">
          <a:xfrm>
            <a:off x="512763" y="1905000"/>
            <a:ext cx="381000" cy="3810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1"/>
            </a:solidFill>
            <a:round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800"/>
              <a:t>4</a:t>
            </a:r>
            <a:endParaRPr lang="zh-CN" altLang="en-US" sz="1800"/>
          </a:p>
        </p:txBody>
      </p:sp>
      <p:sp>
        <p:nvSpPr>
          <p:cNvPr id="3" name="矩形 5"/>
          <p:cNvSpPr>
            <a:spLocks noChangeArrowheads="1"/>
          </p:cNvSpPr>
          <p:nvPr/>
        </p:nvSpPr>
        <p:spPr bwMode="auto">
          <a:xfrm>
            <a:off x="513080" y="1905000"/>
            <a:ext cx="7849235" cy="3810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1"/>
            </a:solidFill>
            <a:round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800" dirty="0"/>
              <a:t>2.</a:t>
            </a:r>
            <a:r>
              <a:rPr lang="zh-CN" altLang="en-US" sz="1800" dirty="0"/>
              <a:t>在谓词</a:t>
            </a:r>
            <a:r>
              <a:rPr lang="en-US" altLang="zh-CN" sz="1800" dirty="0"/>
              <a:t> (∀x)(P(x)∨(∃y)R(y))</a:t>
            </a:r>
            <a:r>
              <a:rPr lang="en-US" altLang="en-US" sz="1800" dirty="0"/>
              <a:t>→</a:t>
            </a:r>
            <a:r>
              <a:rPr lang="en-US" altLang="zh-CN" sz="1800" dirty="0"/>
              <a:t>Q(x) </a:t>
            </a:r>
            <a:r>
              <a:rPr lang="zh-CN" altLang="en-US" sz="1800" dirty="0"/>
              <a:t>中，变量</a:t>
            </a:r>
            <a:r>
              <a:rPr lang="en-US" altLang="zh-CN" sz="1800" dirty="0"/>
              <a:t> x </a:t>
            </a:r>
            <a:r>
              <a:rPr lang="zh-CN" altLang="en-US" sz="1800" dirty="0"/>
              <a:t>是（</a:t>
            </a:r>
            <a:r>
              <a:rPr lang="en-US" altLang="zh-CN" sz="1800" dirty="0"/>
              <a:t> </a:t>
            </a:r>
            <a:r>
              <a:rPr lang="zh-CN" altLang="en-US" sz="1800" dirty="0"/>
              <a:t>）</a:t>
            </a:r>
          </a:p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 dirty="0"/>
          </a:p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800" dirty="0"/>
              <a:t>A.</a:t>
            </a:r>
            <a:r>
              <a:rPr lang="zh-CN" altLang="en-US" sz="1800" dirty="0"/>
              <a:t>同时是自由变量和受限变量</a:t>
            </a:r>
          </a:p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800" dirty="0"/>
              <a:t>B.</a:t>
            </a:r>
            <a:r>
              <a:rPr lang="zh-CN" altLang="en-US" sz="1800" dirty="0"/>
              <a:t>受限变量</a:t>
            </a:r>
          </a:p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800" dirty="0"/>
              <a:t>C.</a:t>
            </a:r>
            <a:r>
              <a:rPr lang="zh-CN" altLang="en-US" sz="1800" dirty="0"/>
              <a:t>自由变量</a:t>
            </a:r>
          </a:p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800" dirty="0"/>
              <a:t>D.</a:t>
            </a:r>
            <a:r>
              <a:rPr lang="zh-CN" altLang="en-US" sz="1800" dirty="0"/>
              <a:t>既不是自由变量也不是受限变量</a:t>
            </a:r>
          </a:p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 dirty="0"/>
          </a:p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灯片编号占位符 3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B4D86699-A124-4155-BA7E-EF4CD1C9EE8D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37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67587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CC89D01A-7AF6-483A-9ACD-230A64E45A6E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37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7270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800">
                <a:ea typeface="宋体" panose="02010600030101010101" pitchFamily="2" charset="-122"/>
              </a:rPr>
              <a:t>练习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2710" name="矩形 6"/>
              <p:cNvSpPr>
                <a:spLocks noChangeArrowheads="1"/>
              </p:cNvSpPr>
              <p:nvPr/>
            </p:nvSpPr>
            <p:spPr bwMode="auto">
              <a:xfrm>
                <a:off x="304912" y="1600249"/>
                <a:ext cx="8686572" cy="2971722"/>
              </a:xfrm>
              <a:prstGeom prst="rect">
                <a:avLst/>
              </a:prstGeom>
              <a:noFill/>
              <a:ln w="9525" algn="ctr">
                <a:solidFill>
                  <a:schemeClr val="bg1"/>
                </a:solidFill>
                <a:rou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R="306070" algn="just">
                  <a:spcAft>
                    <a:spcPts val="600"/>
                  </a:spcAft>
                  <a:buNone/>
                  <a:tabLst>
                    <a:tab pos="552450" algn="l"/>
                  </a:tabLst>
                </a:pPr>
                <a:r>
                  <a:rPr lang="en-US" altLang="zh-CN" sz="2000" dirty="0"/>
                  <a:t>3 </a:t>
                </a:r>
                <a:r>
                  <a:rPr lang="en-US" altLang="zh-CN" sz="20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哪种表达方式是</a:t>
                </a:r>
                <a:r>
                  <a:rPr lang="en-US" altLang="zh-CN" sz="2000" b="1" u="sng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错误的</a:t>
                </a:r>
                <a:r>
                  <a:rPr lang="en-US" altLang="zh-CN" sz="20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？( )</a:t>
                </a:r>
                <a:endParaRPr lang="zh-CN" altLang="zh-CN" sz="2000" kern="1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marL="133350" marR="306705" algn="just">
                  <a:spcAft>
                    <a:spcPts val="600"/>
                  </a:spcAft>
                  <a:buNone/>
                  <a:tabLst>
                    <a:tab pos="552450" algn="l"/>
                  </a:tabLst>
                </a:pPr>
                <a:r>
                  <a:rPr lang="en-US" altLang="zh-CN" sz="20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A) 在谓词</a:t>
                </a:r>
                <a14:m>
                  <m:oMath xmlns:m="http://schemas.openxmlformats.org/officeDocument/2006/math">
                    <m:r>
                      <a:rPr lang="en-US" altLang="zh-CN" sz="20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∀</m:t>
                    </m:r>
                    <m:sSub>
                      <m:sSubPr>
                        <m:ctrlPr>
                          <a:rPr lang="en-US" altLang="zh-CN" sz="20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𝑥</m:t>
                        </m:r>
                      </m:e>
                      <m:sub>
                        <m:r>
                          <a:rPr lang="en-US" altLang="zh-CN" sz="20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1</m:t>
                        </m:r>
                      </m:sub>
                    </m:sSub>
                    <m:r>
                      <a:rPr lang="en-US" altLang="zh-CN" sz="20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(∃</m:t>
                    </m:r>
                    <m:sSub>
                      <m:sSubPr>
                        <m:ctrlPr>
                          <a:rPr lang="en-US" altLang="zh-CN" sz="20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𝑥</m:t>
                        </m:r>
                      </m:e>
                      <m:sub>
                        <m:r>
                          <a:rPr lang="en-US" altLang="zh-CN" sz="20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2</m:t>
                        </m:r>
                      </m:sub>
                    </m:sSub>
                    <m:r>
                      <a:rPr lang="en-US" altLang="zh-CN" sz="20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𝑅</m:t>
                    </m:r>
                    <m:r>
                      <a:rPr lang="en-US" altLang="zh-CN" sz="20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(</m:t>
                    </m:r>
                    <m:sSub>
                      <m:sSubPr>
                        <m:ctrlPr>
                          <a:rPr lang="en-US" altLang="zh-CN" sz="20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𝑥</m:t>
                        </m:r>
                      </m:e>
                      <m:sub>
                        <m:r>
                          <a:rPr lang="en-US" altLang="zh-CN" sz="20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1</m:t>
                        </m:r>
                      </m:sub>
                    </m:sSub>
                    <m:r>
                      <a:rPr lang="en-US" altLang="zh-CN" sz="20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,</m:t>
                    </m:r>
                    <m:sSub>
                      <m:sSubPr>
                        <m:ctrlPr>
                          <a:rPr lang="en-US" altLang="zh-CN" sz="20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𝑥</m:t>
                        </m:r>
                      </m:e>
                      <m:sub>
                        <m:r>
                          <a:rPr lang="en-US" altLang="zh-CN" sz="20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2</m:t>
                        </m:r>
                      </m:sub>
                    </m:sSub>
                    <m:r>
                      <a:rPr lang="en-US" altLang="zh-CN" sz="20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))</m:t>
                    </m:r>
                  </m:oMath>
                </a14:m>
                <a:r>
                  <a:rPr lang="en-US" altLang="zh-CN" sz="20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中，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𝑥</m:t>
                        </m:r>
                      </m:e>
                      <m:sub>
                        <m:r>
                          <a:rPr lang="en-US" altLang="zh-CN" sz="20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0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是自由变量，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𝑥</m:t>
                        </m:r>
                      </m:e>
                      <m:sub>
                        <m:r>
                          <a:rPr lang="en-US" altLang="zh-CN" sz="20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0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是</a:t>
                </a:r>
                <a:r>
                  <a:rPr lang="zh-CN" altLang="en-US" sz="20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受限</a:t>
                </a:r>
                <a:r>
                  <a:rPr lang="en-US" altLang="zh-CN" sz="20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变量；</a:t>
                </a:r>
                <a:endParaRPr lang="zh-CN" altLang="zh-CN" sz="2000" kern="1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marL="133350" marR="306705" algn="just">
                  <a:spcAft>
                    <a:spcPts val="600"/>
                  </a:spcAft>
                  <a:buNone/>
                  <a:tabLst>
                    <a:tab pos="552450" algn="l"/>
                  </a:tabLst>
                </a:pPr>
                <a:r>
                  <a:rPr lang="en-US" altLang="zh-CN" sz="20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B) 在谓词</a:t>
                </a:r>
                <a14:m>
                  <m:oMath xmlns:m="http://schemas.openxmlformats.org/officeDocument/2006/math">
                    <m:r>
                      <a:rPr lang="en-US" altLang="zh-CN" sz="2000" i="1" kern="10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∀</m:t>
                    </m:r>
                    <m:sSub>
                      <m:sSubPr>
                        <m:ctrlPr>
                          <a:rPr lang="en-US" altLang="zh-CN" sz="20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𝑥</m:t>
                        </m:r>
                      </m:e>
                      <m:sub>
                        <m:r>
                          <a:rPr lang="en-US" altLang="zh-CN" sz="20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zh-CN" sz="20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r>
                          <a:rPr lang="en-US" altLang="zh-CN" sz="20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𝐵</m:t>
                        </m:r>
                        <m:d>
                          <m:dPr>
                            <m:ctrlPr>
                              <a:rPr lang="en-US" altLang="zh-CN" sz="20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000" i="1" kern="100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i="1" kern="100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2000" i="1" kern="100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US" altLang="zh-CN" sz="2000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US" altLang="zh-CN" sz="2000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P</m:t>
                        </m:r>
                        <m:d>
                          <m:dPr>
                            <m:ctrlPr>
                              <a:rPr lang="en-US" altLang="zh-CN" sz="20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000" i="1" kern="100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i="1" kern="100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2000" i="1" kern="100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r>
                  <a:rPr lang="en-US" altLang="zh-CN" sz="20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中存在一个自由变量；</a:t>
                </a:r>
                <a:endParaRPr lang="zh-CN" altLang="zh-CN" sz="2000" kern="1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marL="133350" marR="306705" algn="just">
                  <a:spcAft>
                    <a:spcPts val="600"/>
                  </a:spcAft>
                  <a:buNone/>
                  <a:tabLst>
                    <a:tab pos="552450" algn="l"/>
                  </a:tabLst>
                </a:pPr>
                <a:r>
                  <a:rPr lang="en-US" altLang="zh-CN" sz="20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C)在谓词</a:t>
                </a:r>
                <a14:m>
                  <m:oMath xmlns:m="http://schemas.openxmlformats.org/officeDocument/2006/math">
                    <m:r>
                      <a:rPr lang="zh-CN" altLang="en-US" sz="2000" i="1" kern="100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sSub>
                      <m:sSubPr>
                        <m:ctrlPr>
                          <a:rPr lang="en-US" altLang="zh-CN" sz="20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0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𝑥</m:t>
                        </m:r>
                      </m:e>
                      <m:sub>
                        <m:r>
                          <a:rPr lang="en-US" altLang="zh-CN" sz="20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zh-CN" sz="20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r>
                          <a:rPr lang="en-US" altLang="zh-CN" sz="20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𝐵</m:t>
                        </m:r>
                        <m:d>
                          <m:dPr>
                            <m:ctrlPr>
                              <a:rPr lang="en-US" altLang="zh-CN" sz="20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000" i="1" kern="100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i="1" kern="100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2000" i="1" kern="100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US" altLang="zh-CN" sz="2000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US" altLang="zh-CN" sz="2000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P</m:t>
                        </m:r>
                        <m:d>
                          <m:dPr>
                            <m:ctrlPr>
                              <a:rPr lang="en-US" altLang="zh-CN" sz="2000" i="1" kern="100"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000" i="1" kern="100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i="1" kern="100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2000" i="1" kern="100">
                                    <a:effectLst/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r>
                  <a:rPr lang="en-US" altLang="zh-CN" sz="20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中存在一个</a:t>
                </a:r>
                <a:r>
                  <a:rPr lang="zh-CN" altLang="en-US" sz="20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受限</a:t>
                </a:r>
                <a:r>
                  <a:rPr lang="en-US" altLang="zh-CN" sz="20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变量；</a:t>
                </a:r>
                <a:endParaRPr lang="zh-CN" altLang="zh-CN" sz="2000" kern="1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marL="133350" marR="306705" algn="just">
                  <a:spcAft>
                    <a:spcPts val="600"/>
                  </a:spcAft>
                  <a:buNone/>
                  <a:tabLst>
                    <a:tab pos="552450" algn="l"/>
                  </a:tabLst>
                </a:pPr>
                <a:r>
                  <a:rPr lang="en-US" altLang="zh-CN" sz="20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D) 在谓词</a:t>
                </a:r>
                <a:r>
                  <a:rPr lang="en-US" altLang="zh-CN" sz="2000" kern="100" dirty="0">
                    <a:effectLst/>
                    <a:latin typeface="Times New Roman" panose="02020603050405020304" pitchFamily="18" charset="0"/>
                    <a:sym typeface="Symbol" panose="05050102010706020507" pitchFamily="18" charset="2"/>
                  </a:rPr>
                  <a:t></a:t>
                </a:r>
                <a:r>
                  <a:rPr lang="en-US" altLang="zh-CN" sz="2000" i="1" kern="100" dirty="0">
                    <a:effectLst/>
                    <a:latin typeface="Times New Roman" panose="02020603050405020304" pitchFamily="18" charset="0"/>
                    <a:sym typeface="+mn-ea"/>
                  </a:rPr>
                  <a:t>x </a:t>
                </a:r>
                <a:r>
                  <a:rPr lang="en-US" altLang="zh-CN" sz="2000" kern="100" dirty="0">
                    <a:effectLst/>
                    <a:latin typeface="Times New Roman" panose="02020603050405020304" pitchFamily="18" charset="0"/>
                    <a:sym typeface="Symbol" panose="05050102010706020507" pitchFamily="18" charset="2"/>
                  </a:rPr>
                  <a:t></a:t>
                </a:r>
                <a:r>
                  <a:rPr lang="en-US" altLang="zh-CN" sz="2000" i="1" kern="100" dirty="0">
                    <a:effectLst/>
                    <a:latin typeface="Times New Roman" panose="02020603050405020304" pitchFamily="18" charset="0"/>
                    <a:sym typeface="+mn-ea"/>
                  </a:rPr>
                  <a:t>P</a:t>
                </a:r>
                <a:r>
                  <a:rPr lang="en-US" altLang="zh-CN" sz="2000" kern="100" dirty="0">
                    <a:effectLst/>
                    <a:latin typeface="Times New Roman" panose="02020603050405020304" pitchFamily="18" charset="0"/>
                    <a:sym typeface="+mn-ea"/>
                  </a:rPr>
                  <a:t>(</a:t>
                </a:r>
                <a:r>
                  <a:rPr lang="en-US" altLang="zh-CN" sz="2000" i="1" kern="100" dirty="0">
                    <a:effectLst/>
                    <a:latin typeface="Times New Roman" panose="02020603050405020304" pitchFamily="18" charset="0"/>
                    <a:sym typeface="+mn-ea"/>
                  </a:rPr>
                  <a:t>x</a:t>
                </a:r>
                <a:r>
                  <a:rPr lang="en-US" altLang="zh-CN" sz="2000" kern="100" dirty="0">
                    <a:effectLst/>
                    <a:latin typeface="Times New Roman" panose="02020603050405020304" pitchFamily="18" charset="0"/>
                    <a:sym typeface="+mn-ea"/>
                  </a:rPr>
                  <a:t>)</a:t>
                </a:r>
                <a:r>
                  <a:rPr lang="en-US" altLang="zh-CN" sz="20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 中，变量 x </a:t>
                </a:r>
                <a:r>
                  <a:rPr lang="en-US" altLang="zh-CN" sz="2000" kern="100" dirty="0" err="1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是</a:t>
                </a:r>
                <a:r>
                  <a:rPr lang="zh-CN" altLang="en-US" sz="20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受限</a:t>
                </a:r>
                <a:r>
                  <a:rPr lang="en-US" altLang="zh-CN" sz="2000" kern="100" dirty="0" err="1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变量</a:t>
                </a:r>
                <a:r>
                  <a:rPr lang="en-US" altLang="zh-CN" sz="2000" kern="1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；</a:t>
                </a:r>
                <a:endParaRPr lang="zh-CN" altLang="zh-CN" sz="2000" kern="1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 dirty="0"/>
              </a:p>
            </p:txBody>
          </p:sp>
        </mc:Choice>
        <mc:Fallback>
          <p:sp>
            <p:nvSpPr>
              <p:cNvPr id="72710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4912" y="1600249"/>
                <a:ext cx="8686572" cy="2971722"/>
              </a:xfrm>
              <a:prstGeom prst="rect">
                <a:avLst/>
              </a:prstGeom>
              <a:blipFill>
                <a:blip r:embed="rId2"/>
                <a:stretch>
                  <a:fillRect l="-583" t="-1271"/>
                </a:stretch>
              </a:blipFill>
              <a:ln w="9525" algn="ctr">
                <a:solidFill>
                  <a:schemeClr val="bg1"/>
                </a:solidFill>
                <a:rou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89C3EE1C-A790-481C-AED2-90FF3BE4E23D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38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41987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800">
                <a:ea typeface="宋体" panose="02010600030101010101" pitchFamily="2" charset="-122"/>
              </a:rPr>
              <a:t>否定</a:t>
            </a:r>
          </a:p>
        </p:txBody>
      </p:sp>
      <p:sp>
        <p:nvSpPr>
          <p:cNvPr id="41988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x </a:t>
            </a:r>
            <a:r>
              <a:rPr lang="en-US" altLang="zh-CN">
                <a:ea typeface="宋体" panose="02010600030101010101" pitchFamily="2" charset="-122"/>
              </a:rPr>
              <a:t>P(x) 是 "班上每个学生都学过微积分课程"。</a:t>
            </a:r>
          </a:p>
          <a:p>
            <a:pPr eaLnBrk="1" hangingPunct="1"/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x </a:t>
            </a:r>
            <a:r>
              <a:rPr lang="en-US" altLang="zh-CN">
                <a:ea typeface="宋体" panose="02010600030101010101" pitchFamily="2" charset="-122"/>
              </a:rPr>
              <a:t>P(x) 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 </a:t>
            </a: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x </a:t>
            </a:r>
            <a:r>
              <a:rPr lang="en-US" altLang="zh-CN" sz="3600">
                <a:ea typeface="宋体" panose="02010600030101010101" pitchFamily="2" charset="-122"/>
                <a:sym typeface="Symbol" panose="05050102010706020507" pitchFamily="18" charset="2"/>
              </a:rPr>
              <a:t> </a:t>
            </a:r>
            <a:r>
              <a:rPr lang="en-US" altLang="zh-CN">
                <a:ea typeface="宋体" panose="02010600030101010101" pitchFamily="2" charset="-122"/>
              </a:rPr>
              <a:t>P(x) </a:t>
            </a:r>
          </a:p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这就是 "班上有一名学生没有上过微积分课程"。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F0A8BB70-2A99-4175-88C1-7F7732225C89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39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43011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800">
                <a:ea typeface="宋体" panose="02010600030101010101" pitchFamily="2" charset="-122"/>
              </a:rPr>
              <a:t>否定</a:t>
            </a:r>
          </a:p>
        </p:txBody>
      </p:sp>
      <p:sp>
        <p:nvSpPr>
          <p:cNvPr id="43012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x </a:t>
            </a:r>
            <a:r>
              <a:rPr lang="en-US" altLang="zh-CN">
                <a:ea typeface="宋体" panose="02010600030101010101" pitchFamily="2" charset="-122"/>
              </a:rPr>
              <a:t>P(x) 是 "班上有一名学生选修了微积分课程"。</a:t>
            </a:r>
          </a:p>
          <a:p>
            <a:pPr eaLnBrk="1" hangingPunct="1"/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 x </a:t>
            </a:r>
            <a:r>
              <a:rPr lang="en-US" altLang="zh-CN">
                <a:ea typeface="宋体" panose="02010600030101010101" pitchFamily="2" charset="-122"/>
              </a:rPr>
              <a:t>P(x) 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 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 </a:t>
            </a: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x </a:t>
            </a:r>
            <a:r>
              <a:rPr lang="en-US" altLang="zh-CN" sz="3600">
                <a:ea typeface="宋体" panose="02010600030101010101" pitchFamily="2" charset="-122"/>
                <a:sym typeface="Symbol" panose="05050102010706020507" pitchFamily="18" charset="2"/>
              </a:rPr>
              <a:t> </a:t>
            </a:r>
            <a:r>
              <a:rPr lang="en-US" altLang="zh-CN">
                <a:ea typeface="宋体" panose="02010600030101010101" pitchFamily="2" charset="-122"/>
              </a:rPr>
              <a:t>P(x) </a:t>
            </a:r>
          </a:p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这就是 "班上每个学生都没有上过微积分课程"。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4EDD324D-189D-41DD-B16F-FB162A225900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40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44035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否定量词</a:t>
            </a:r>
          </a:p>
        </p:txBody>
      </p:sp>
      <p:sp>
        <p:nvSpPr>
          <p:cNvPr id="44036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en-US" altLang="zh-CN" b="1" i="1">
                <a:ea typeface="宋体" panose="02010600030101010101" pitchFamily="2" charset="-122"/>
                <a:sym typeface="Symbol" panose="05050102010706020507" pitchFamily="18" charset="2"/>
              </a:rPr>
              <a:t> x </a:t>
            </a:r>
            <a:r>
              <a:rPr lang="en-US" altLang="zh-CN" b="1">
                <a:ea typeface="宋体" panose="02010600030101010101" pitchFamily="2" charset="-122"/>
              </a:rPr>
              <a:t>P(x) 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 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 </a:t>
            </a:r>
            <a:r>
              <a:rPr lang="en-US" altLang="zh-CN" b="1" i="1">
                <a:ea typeface="宋体" panose="02010600030101010101" pitchFamily="2" charset="-122"/>
                <a:sym typeface="Symbol" panose="05050102010706020507" pitchFamily="18" charset="2"/>
              </a:rPr>
              <a:t>x 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 </a:t>
            </a:r>
            <a:r>
              <a:rPr lang="en-US" altLang="zh-CN" b="1">
                <a:ea typeface="宋体" panose="02010600030101010101" pitchFamily="2" charset="-122"/>
              </a:rPr>
              <a:t>P(x)</a:t>
            </a:r>
            <a:endParaRPr lang="en-US" altLang="zh-CN" b="1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sz="3000">
                <a:ea typeface="宋体" panose="02010600030101010101" pitchFamily="2" charset="-122"/>
                <a:sym typeface="Symbol" panose="05050102010706020507" pitchFamily="18" charset="2"/>
              </a:rPr>
              <a:t>什么情况下否定是</a:t>
            </a:r>
            <a:r>
              <a:rPr lang="en-US" altLang="zh-CN" sz="3000" i="1">
                <a:ea typeface="宋体" panose="02010600030101010101" pitchFamily="2" charset="-122"/>
                <a:sym typeface="Symbol" panose="05050102010706020507" pitchFamily="18" charset="2"/>
              </a:rPr>
              <a:t>正确的</a:t>
            </a:r>
            <a:r>
              <a:rPr lang="en-US" altLang="zh-CN" sz="3000">
                <a:ea typeface="宋体" panose="02010600030101010101" pitchFamily="2" charset="-122"/>
                <a:sym typeface="Symbol" panose="05050102010706020507" pitchFamily="18" charset="2"/>
              </a:rPr>
              <a:t>？   </a:t>
            </a:r>
            <a:r>
              <a:rPr lang="en-US" altLang="zh-CN" sz="3000" b="1">
                <a:ea typeface="宋体" panose="02010600030101010101" pitchFamily="2" charset="-122"/>
                <a:sym typeface="Symbol" panose="05050102010706020507" pitchFamily="18" charset="2"/>
              </a:rPr>
              <a:t>对于每个 </a:t>
            </a:r>
            <a:r>
              <a:rPr lang="en-US" altLang="zh-CN" sz="3000" b="1" i="1">
                <a:ea typeface="宋体" panose="02010600030101010101" pitchFamily="2" charset="-122"/>
                <a:sym typeface="Symbol" panose="05050102010706020507" pitchFamily="18" charset="2"/>
              </a:rPr>
              <a:t>x，P</a:t>
            </a:r>
            <a:r>
              <a:rPr lang="en-US" altLang="zh-CN" sz="3000" b="1"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3000" b="1" i="1"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sz="3000" b="1">
                <a:ea typeface="宋体" panose="02010600030101010101" pitchFamily="2" charset="-122"/>
                <a:sym typeface="Symbol" panose="05050102010706020507" pitchFamily="18" charset="2"/>
              </a:rPr>
              <a:t>) 都是假的。</a:t>
            </a:r>
          </a:p>
          <a:p>
            <a:pPr eaLnBrk="1" hangingPunct="1"/>
            <a:r>
              <a:rPr lang="en-US" altLang="zh-CN" sz="3000">
                <a:ea typeface="宋体" panose="02010600030101010101" pitchFamily="2" charset="-122"/>
                <a:sym typeface="Symbol" panose="05050102010706020507" pitchFamily="18" charset="2"/>
              </a:rPr>
              <a:t>何时</a:t>
            </a:r>
            <a:r>
              <a:rPr lang="en-US" altLang="zh-CN" sz="3000" i="1">
                <a:ea typeface="宋体" panose="02010600030101010101" pitchFamily="2" charset="-122"/>
                <a:sym typeface="Symbol" panose="05050102010706020507" pitchFamily="18" charset="2"/>
              </a:rPr>
              <a:t>为假</a:t>
            </a:r>
            <a:r>
              <a:rPr lang="en-US" altLang="zh-CN" sz="3000">
                <a:ea typeface="宋体" panose="02010600030101010101" pitchFamily="2" charset="-122"/>
                <a:sym typeface="Symbol" panose="05050102010706020507" pitchFamily="18" charset="2"/>
              </a:rPr>
              <a:t>？  </a:t>
            </a:r>
            <a:r>
              <a:rPr lang="en-US" altLang="zh-CN" sz="3000" b="1">
                <a:ea typeface="宋体" panose="02010600030101010101" pitchFamily="2" charset="-122"/>
                <a:sym typeface="Symbol" panose="05050102010706020507" pitchFamily="18" charset="2"/>
              </a:rPr>
              <a:t>存在一个 </a:t>
            </a:r>
            <a:r>
              <a:rPr lang="en-US" altLang="zh-CN" sz="3000" b="1" i="1">
                <a:ea typeface="宋体" panose="02010600030101010101" pitchFamily="2" charset="-122"/>
                <a:sym typeface="Symbol" panose="05050102010706020507" pitchFamily="18" charset="2"/>
              </a:rPr>
              <a:t>P</a:t>
            </a:r>
            <a:r>
              <a:rPr lang="en-US" altLang="zh-CN" sz="3000" b="1"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3000" b="1" i="1"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sz="3000" b="1">
                <a:ea typeface="宋体" panose="02010600030101010101" pitchFamily="2" charset="-122"/>
                <a:sym typeface="Symbol" panose="05050102010706020507" pitchFamily="18" charset="2"/>
              </a:rPr>
              <a:t>) 为真的 </a:t>
            </a:r>
            <a:r>
              <a:rPr lang="en-US" altLang="zh-CN" sz="3000" b="1" i="1"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sz="3000" b="1">
                <a:ea typeface="宋体" panose="02010600030101010101" pitchFamily="2" charset="-122"/>
                <a:sym typeface="Symbol" panose="05050102010706020507" pitchFamily="18" charset="2"/>
              </a:rPr>
              <a:t>。</a:t>
            </a:r>
          </a:p>
          <a:p>
            <a:pPr eaLnBrk="1" hangingPunct="1"/>
            <a:r>
              <a:rPr lang="en-US" altLang="zh-CN" b="1" i="1">
                <a:ea typeface="宋体" panose="02010600030101010101" pitchFamily="2" charset="-122"/>
                <a:sym typeface="Symbol" panose="05050102010706020507" pitchFamily="18" charset="2"/>
              </a:rPr>
              <a:t>x </a:t>
            </a:r>
            <a:r>
              <a:rPr lang="en-US" altLang="zh-CN" b="1">
                <a:ea typeface="宋体" panose="02010600030101010101" pitchFamily="2" charset="-122"/>
              </a:rPr>
              <a:t>P(x) 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 </a:t>
            </a:r>
            <a:r>
              <a:rPr lang="en-US" altLang="zh-CN" b="1" i="1">
                <a:ea typeface="宋体" panose="02010600030101010101" pitchFamily="2" charset="-122"/>
                <a:sym typeface="Symbol" panose="05050102010706020507" pitchFamily="18" charset="2"/>
              </a:rPr>
              <a:t>x 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 </a:t>
            </a:r>
            <a:r>
              <a:rPr lang="en-US" altLang="zh-CN" b="1">
                <a:ea typeface="宋体" panose="02010600030101010101" pitchFamily="2" charset="-122"/>
              </a:rPr>
              <a:t>P(x)</a:t>
            </a:r>
            <a:endParaRPr lang="en-US" altLang="zh-CN" b="1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sz="3000">
                <a:ea typeface="宋体" panose="02010600030101010101" pitchFamily="2" charset="-122"/>
                <a:sym typeface="Symbol" panose="05050102010706020507" pitchFamily="18" charset="2"/>
              </a:rPr>
              <a:t>什么情况下否定是</a:t>
            </a:r>
            <a:r>
              <a:rPr lang="en-US" altLang="zh-CN" sz="3000" i="1">
                <a:ea typeface="宋体" panose="02010600030101010101" pitchFamily="2" charset="-122"/>
                <a:sym typeface="Symbol" panose="05050102010706020507" pitchFamily="18" charset="2"/>
              </a:rPr>
              <a:t>正确的</a:t>
            </a:r>
            <a:r>
              <a:rPr lang="en-US" altLang="zh-CN" sz="3000">
                <a:ea typeface="宋体" panose="02010600030101010101" pitchFamily="2" charset="-122"/>
                <a:sym typeface="Symbol" panose="05050102010706020507" pitchFamily="18" charset="2"/>
              </a:rPr>
              <a:t>？</a:t>
            </a:r>
            <a:r>
              <a:rPr lang="en-US" altLang="zh-CN" sz="3000" b="1">
                <a:ea typeface="宋体" panose="02010600030101010101" pitchFamily="2" charset="-122"/>
                <a:sym typeface="Symbol" panose="05050102010706020507" pitchFamily="18" charset="2"/>
              </a:rPr>
              <a:t>有一个 </a:t>
            </a:r>
            <a:r>
              <a:rPr lang="en-US" altLang="zh-CN" sz="3000" b="1" i="1"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sz="3000" b="1">
                <a:ea typeface="宋体" panose="02010600030101010101" pitchFamily="2" charset="-122"/>
                <a:sym typeface="Symbol" panose="05050102010706020507" pitchFamily="18" charset="2"/>
              </a:rPr>
              <a:t>，</a:t>
            </a:r>
            <a:r>
              <a:rPr lang="en-US" altLang="zh-CN" sz="3000" b="1" i="1">
                <a:ea typeface="宋体" panose="02010600030101010101" pitchFamily="2" charset="-122"/>
                <a:sym typeface="Symbol" panose="05050102010706020507" pitchFamily="18" charset="2"/>
              </a:rPr>
              <a:t>P</a:t>
            </a:r>
            <a:r>
              <a:rPr lang="en-US" altLang="zh-CN" sz="3000" b="1"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3000" b="1" i="1"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sz="3000" b="1">
                <a:ea typeface="宋体" panose="02010600030101010101" pitchFamily="2" charset="-122"/>
                <a:sym typeface="Symbol" panose="05050102010706020507" pitchFamily="18" charset="2"/>
              </a:rPr>
              <a:t>) 是假的。</a:t>
            </a:r>
          </a:p>
          <a:p>
            <a:pPr eaLnBrk="1" hangingPunct="1"/>
            <a:r>
              <a:rPr lang="en-US" altLang="zh-CN" sz="3000">
                <a:ea typeface="宋体" panose="02010600030101010101" pitchFamily="2" charset="-122"/>
                <a:sym typeface="Symbol" panose="05050102010706020507" pitchFamily="18" charset="2"/>
              </a:rPr>
              <a:t>何时</a:t>
            </a:r>
            <a:r>
              <a:rPr lang="en-US" altLang="zh-CN" sz="3000" i="1">
                <a:ea typeface="宋体" panose="02010600030101010101" pitchFamily="2" charset="-122"/>
                <a:sym typeface="Symbol" panose="05050102010706020507" pitchFamily="18" charset="2"/>
              </a:rPr>
              <a:t>为假</a:t>
            </a:r>
            <a:r>
              <a:rPr lang="en-US" altLang="zh-CN" sz="3000">
                <a:ea typeface="宋体" panose="02010600030101010101" pitchFamily="2" charset="-122"/>
                <a:sym typeface="Symbol" panose="05050102010706020507" pitchFamily="18" charset="2"/>
              </a:rPr>
              <a:t>？</a:t>
            </a:r>
            <a:r>
              <a:rPr lang="en-US" altLang="zh-CN" sz="3000" b="1">
                <a:ea typeface="宋体" panose="02010600030101010101" pitchFamily="2" charset="-122"/>
                <a:sym typeface="Symbol" panose="05050102010706020507" pitchFamily="18" charset="2"/>
              </a:rPr>
              <a:t>对于每个 </a:t>
            </a:r>
            <a:r>
              <a:rPr lang="en-US" altLang="zh-CN" sz="3000" b="1" i="1">
                <a:ea typeface="宋体" panose="02010600030101010101" pitchFamily="2" charset="-122"/>
                <a:sym typeface="Symbol" panose="05050102010706020507" pitchFamily="18" charset="2"/>
              </a:rPr>
              <a:t>x，P</a:t>
            </a:r>
            <a:r>
              <a:rPr lang="en-US" altLang="zh-CN" sz="3000" b="1"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3000" b="1" i="1"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sz="3000" b="1">
                <a:ea typeface="宋体" panose="02010600030101010101" pitchFamily="2" charset="-122"/>
                <a:sym typeface="Symbol" panose="05050102010706020507" pitchFamily="18" charset="2"/>
              </a:rPr>
              <a:t>) 都为真。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灯片编号占位符 3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1BCCDC73-EE26-42C1-AEF2-CBFE2E5A9BE6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41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40963" name="灯片编号占位符 6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70E801EF-4AD8-4343-B008-2DFEE663F623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41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4506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800">
                <a:ea typeface="宋体" panose="02010600030101010101" pitchFamily="2" charset="-122"/>
              </a:rPr>
              <a:t>德摩根定律</a:t>
            </a:r>
          </a:p>
        </p:txBody>
      </p:sp>
      <p:sp>
        <p:nvSpPr>
          <p:cNvPr id="45061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457200" y="1419225"/>
            <a:ext cx="8382000" cy="3990975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zh-CN" sz="360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 (</a:t>
            </a:r>
            <a:r>
              <a:rPr lang="en-US" altLang="zh-CN" sz="3600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</a:t>
            </a:r>
            <a:r>
              <a:rPr lang="en-US" altLang="zh-CN" sz="360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1600" b="1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x1</a:t>
            </a:r>
            <a:r>
              <a:rPr lang="en-US" altLang="zh-CN" sz="3600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) </a:t>
            </a:r>
            <a:r>
              <a:rPr lang="en-US" altLang="zh-CN" sz="3600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</a:t>
            </a:r>
            <a:r>
              <a:rPr lang="en-US" altLang="zh-CN" sz="360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1800" b="1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x2 </a:t>
            </a:r>
            <a:r>
              <a:rPr lang="en-US" altLang="zh-CN" sz="360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  <a:r>
              <a:rPr lang="en-US" altLang="zh-CN" sz="3600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...  </a:t>
            </a:r>
            <a:r>
              <a:rPr lang="en-US" altLang="zh-CN" sz="3600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</a:t>
            </a:r>
            <a:r>
              <a:rPr lang="en-US" altLang="zh-CN" sz="360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1800" b="1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xn</a:t>
            </a:r>
            <a:r>
              <a:rPr lang="en-US" altLang="zh-CN" sz="360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))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360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= </a:t>
            </a:r>
            <a:r>
              <a:rPr lang="en-US" altLang="zh-CN" sz="3600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p</a:t>
            </a:r>
            <a:r>
              <a:rPr lang="en-US" altLang="zh-CN" sz="360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3600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x1 </a:t>
            </a:r>
            <a:r>
              <a:rPr lang="en-US" altLang="zh-CN" sz="360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  <a:r>
              <a:rPr lang="en-US" altLang="zh-CN" sz="3600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 </a:t>
            </a:r>
            <a:r>
              <a:rPr lang="en-US" altLang="zh-CN" sz="360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 </a:t>
            </a:r>
            <a:r>
              <a:rPr lang="en-US" altLang="zh-CN" sz="3600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</a:t>
            </a:r>
            <a:r>
              <a:rPr lang="en-US" altLang="zh-CN" sz="360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1800" b="1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x2 </a:t>
            </a:r>
            <a:r>
              <a:rPr lang="en-US" altLang="zh-CN" sz="360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)...   </a:t>
            </a:r>
            <a:r>
              <a:rPr lang="en-US" altLang="zh-CN" sz="3600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</a:t>
            </a:r>
            <a:r>
              <a:rPr lang="en-US" altLang="zh-CN" sz="360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1800" b="1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xn</a:t>
            </a:r>
            <a:r>
              <a:rPr lang="en-US" altLang="zh-CN" sz="360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endParaRPr lang="en-US" altLang="zh-CN" sz="3600" i="1">
              <a:solidFill>
                <a:srgbClr val="00000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CN" sz="3600">
              <a:solidFill>
                <a:srgbClr val="00000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zh-CN" sz="360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  (</a:t>
            </a:r>
            <a:r>
              <a:rPr lang="en-US" altLang="zh-CN" sz="3600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</a:t>
            </a:r>
            <a:r>
              <a:rPr lang="en-US" altLang="zh-CN" sz="360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1600" b="1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x1</a:t>
            </a:r>
            <a:r>
              <a:rPr lang="en-US" altLang="zh-CN" sz="360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  <a:r>
              <a:rPr lang="en-US" altLang="zh-CN" sz="3600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 </a:t>
            </a:r>
            <a:r>
              <a:rPr lang="en-US" altLang="zh-CN" sz="3600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</a:t>
            </a:r>
            <a:r>
              <a:rPr lang="en-US" altLang="zh-CN" sz="360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1800" b="1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x2 </a:t>
            </a:r>
            <a:r>
              <a:rPr lang="en-US" altLang="zh-CN" sz="360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  <a:r>
              <a:rPr lang="en-US" altLang="zh-CN" sz="3600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...  </a:t>
            </a:r>
            <a:r>
              <a:rPr lang="en-US" altLang="zh-CN" sz="3600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</a:t>
            </a:r>
            <a:r>
              <a:rPr lang="en-US" altLang="zh-CN" sz="360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1800" b="1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xn</a:t>
            </a:r>
            <a:r>
              <a:rPr lang="en-US" altLang="zh-CN" sz="360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))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360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=  </a:t>
            </a:r>
            <a:r>
              <a:rPr lang="en-US" altLang="zh-CN" sz="3600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</a:t>
            </a:r>
            <a:r>
              <a:rPr lang="en-US" altLang="zh-CN" sz="360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3600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x1 </a:t>
            </a:r>
            <a:r>
              <a:rPr lang="en-US" altLang="zh-CN" sz="360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  <a:r>
              <a:rPr lang="en-US" altLang="zh-CN" sz="3600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 </a:t>
            </a:r>
            <a:r>
              <a:rPr lang="en-US" altLang="zh-CN" sz="360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 </a:t>
            </a:r>
            <a:r>
              <a:rPr lang="en-US" altLang="zh-CN" sz="3600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</a:t>
            </a:r>
            <a:r>
              <a:rPr lang="en-US" altLang="zh-CN" sz="360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1800" b="1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x2 </a:t>
            </a:r>
            <a:r>
              <a:rPr lang="en-US" altLang="zh-CN" sz="360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r>
              <a:rPr lang="en-US" altLang="zh-CN" sz="3600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... </a:t>
            </a:r>
            <a:r>
              <a:rPr lang="en-US" altLang="zh-CN" sz="360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  </a:t>
            </a:r>
            <a:r>
              <a:rPr lang="en-US" altLang="zh-CN" sz="3600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</a:t>
            </a:r>
            <a:r>
              <a:rPr lang="en-US" altLang="zh-CN" sz="360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1800" b="1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xn</a:t>
            </a:r>
            <a:r>
              <a:rPr lang="en-US" altLang="zh-CN" sz="360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endParaRPr lang="en-US" altLang="zh-CN" sz="3600" i="1">
              <a:solidFill>
                <a:srgbClr val="00000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</a:pPr>
            <a:endParaRPr lang="en-US" altLang="zh-CN" sz="3600" i="1">
              <a:solidFill>
                <a:srgbClr val="00000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CC23A0CC-B44D-42EF-A6FD-90141EDFFE21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42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46083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800">
                <a:ea typeface="宋体" panose="02010600030101010101" pitchFamily="2" charset="-122"/>
              </a:rPr>
              <a:t>例 10</a:t>
            </a:r>
          </a:p>
        </p:txBody>
      </p:sp>
      <p:sp>
        <p:nvSpPr>
          <p:cNvPr id="46084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28600" y="1419225"/>
            <a:ext cx="8534400" cy="487997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dirty="0" err="1">
                <a:ea typeface="宋体" panose="02010600030101010101" pitchFamily="2" charset="-122"/>
              </a:rPr>
              <a:t>什么是</a:t>
            </a:r>
            <a:r>
              <a:rPr lang="en-US" altLang="zh-CN" dirty="0">
                <a:ea typeface="宋体" panose="02010600030101010101" pitchFamily="2" charset="-122"/>
              </a:rPr>
              <a:t> “</a:t>
            </a:r>
            <a:r>
              <a:rPr lang="en-US" altLang="zh-CN" dirty="0" err="1">
                <a:ea typeface="宋体" panose="02010600030101010101" pitchFamily="2" charset="-122"/>
              </a:rPr>
              <a:t>有一个诚实的政治家</a:t>
            </a:r>
            <a:r>
              <a:rPr lang="en-US" altLang="zh-CN" dirty="0">
                <a:ea typeface="宋体" panose="02010600030101010101" pitchFamily="2" charset="-122"/>
              </a:rPr>
              <a:t> ”</a:t>
            </a:r>
            <a:r>
              <a:rPr lang="en-US" altLang="zh-CN" dirty="0" err="1">
                <a:ea typeface="宋体" panose="02010600030101010101" pitchFamily="2" charset="-122"/>
              </a:rPr>
              <a:t>和</a:t>
            </a:r>
            <a:r>
              <a:rPr lang="en-US" altLang="zh-CN" dirty="0">
                <a:ea typeface="宋体" panose="02010600030101010101" pitchFamily="2" charset="-122"/>
              </a:rPr>
              <a:t> “</a:t>
            </a:r>
            <a:r>
              <a:rPr lang="en-US" altLang="zh-CN" dirty="0" err="1">
                <a:ea typeface="宋体" panose="02010600030101010101" pitchFamily="2" charset="-122"/>
              </a:rPr>
              <a:t>所有中国人都吃</a:t>
            </a:r>
            <a:r>
              <a:rPr lang="zh-CN" altLang="en-US" dirty="0">
                <a:ea typeface="宋体" panose="02010600030101010101" pitchFamily="2" charset="-122"/>
              </a:rPr>
              <a:t>饺子</a:t>
            </a:r>
            <a:r>
              <a:rPr lang="en-US" altLang="zh-CN" dirty="0">
                <a:ea typeface="宋体" panose="02010600030101010101" pitchFamily="2" charset="-122"/>
              </a:rPr>
              <a:t> "</a:t>
            </a:r>
            <a:r>
              <a:rPr lang="en-US" altLang="zh-CN" dirty="0" err="1">
                <a:ea typeface="宋体" panose="02010600030101010101" pitchFamily="2" charset="-122"/>
              </a:rPr>
              <a:t>的否定句</a:t>
            </a:r>
            <a:r>
              <a:rPr lang="en-US" altLang="zh-CN" dirty="0">
                <a:ea typeface="宋体" panose="02010600030101010101" pitchFamily="2" charset="-122"/>
              </a:rPr>
              <a:t>？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 err="1">
                <a:ea typeface="宋体" panose="02010600030101010101" pitchFamily="2" charset="-122"/>
              </a:rPr>
              <a:t>解：让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en-US" altLang="zh-CN" i="1" dirty="0">
                <a:ea typeface="宋体" panose="02010600030101010101" pitchFamily="2" charset="-122"/>
              </a:rPr>
              <a:t>H</a:t>
            </a:r>
            <a:r>
              <a:rPr lang="en-US" altLang="zh-CN" dirty="0">
                <a:ea typeface="宋体" panose="02010600030101010101" pitchFamily="2" charset="-122"/>
              </a:rPr>
              <a:t>(</a:t>
            </a:r>
            <a:r>
              <a:rPr lang="en-US" altLang="zh-CN" i="1" dirty="0">
                <a:ea typeface="宋体" panose="02010600030101010101" pitchFamily="2" charset="-122"/>
              </a:rPr>
              <a:t>x</a:t>
            </a:r>
            <a:r>
              <a:rPr lang="en-US" altLang="zh-CN" dirty="0">
                <a:ea typeface="宋体" panose="02010600030101010101" pitchFamily="2" charset="-122"/>
              </a:rPr>
              <a:t>) </a:t>
            </a:r>
            <a:r>
              <a:rPr lang="en-US" altLang="zh-CN" dirty="0" err="1">
                <a:ea typeface="宋体" panose="02010600030101010101" pitchFamily="2" charset="-122"/>
              </a:rPr>
              <a:t>表示</a:t>
            </a:r>
            <a:r>
              <a:rPr lang="en-US" altLang="zh-CN" dirty="0">
                <a:ea typeface="宋体" panose="02010600030101010101" pitchFamily="2" charset="-122"/>
              </a:rPr>
              <a:t> "x </a:t>
            </a:r>
            <a:r>
              <a:rPr lang="en-US" altLang="zh-CN" dirty="0" err="1">
                <a:ea typeface="宋体" panose="02010600030101010101" pitchFamily="2" charset="-122"/>
              </a:rPr>
              <a:t>是诚实的</a:t>
            </a:r>
            <a:r>
              <a:rPr lang="en-US" altLang="zh-CN" dirty="0">
                <a:ea typeface="宋体" panose="02010600030101010101" pitchFamily="2" charset="-122"/>
              </a:rPr>
              <a:t>"。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"</a:t>
            </a:r>
            <a:r>
              <a:rPr lang="en-US" altLang="zh-CN" dirty="0" err="1">
                <a:ea typeface="宋体" panose="02010600030101010101" pitchFamily="2" charset="-122"/>
              </a:rPr>
              <a:t>有一位诚实的政治家</a:t>
            </a:r>
            <a:r>
              <a:rPr lang="en-US" altLang="zh-CN" dirty="0">
                <a:ea typeface="宋体" panose="02010600030101010101" pitchFamily="2" charset="-122"/>
              </a:rPr>
              <a:t>"  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 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x H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)</a:t>
            </a:r>
            <a:r>
              <a:rPr lang="zh-CN" altLang="en-US" dirty="0">
                <a:solidFill>
                  <a:srgbClr val="000000"/>
                </a:solidFill>
                <a:ea typeface="宋体" panose="02010600030101010101" pitchFamily="2" charset="-122"/>
              </a:rPr>
              <a:t>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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 </a:t>
            </a:r>
            <a:r>
              <a:rPr lang="en-US" altLang="zh-CN" dirty="0">
                <a:ea typeface="宋体" panose="02010600030101010101" pitchFamily="2" charset="-122"/>
              </a:rPr>
              <a:t>x H(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) </a:t>
            </a:r>
            <a:r>
              <a:rPr lang="zh-CN" altLang="en-US" dirty="0">
                <a:solidFill>
                  <a:srgbClr val="000000"/>
                </a:solidFill>
                <a:ea typeface="宋体" panose="02010600030101010101" pitchFamily="2" charset="-122"/>
              </a:rPr>
              <a:t> 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</a:t>
            </a:r>
            <a:r>
              <a:rPr lang="en-US" altLang="zh-CN" dirty="0">
                <a:ea typeface="宋体" panose="02010600030101010101" pitchFamily="2" charset="-122"/>
              </a:rPr>
              <a:t> x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</a:t>
            </a:r>
            <a:r>
              <a:rPr lang="en-US" altLang="zh-CN" dirty="0">
                <a:ea typeface="宋体" panose="02010600030101010101" pitchFamily="2" charset="-122"/>
              </a:rPr>
              <a:t> H(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) 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dirty="0" err="1">
                <a:ea typeface="宋体" panose="02010600030101010101" pitchFamily="2" charset="-122"/>
              </a:rPr>
              <a:t>让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en-US" altLang="zh-CN" i="1" dirty="0">
                <a:ea typeface="宋体" panose="02010600030101010101" pitchFamily="2" charset="-122"/>
              </a:rPr>
              <a:t>C</a:t>
            </a:r>
            <a:r>
              <a:rPr lang="en-US" altLang="zh-CN" dirty="0">
                <a:ea typeface="宋体" panose="02010600030101010101" pitchFamily="2" charset="-122"/>
              </a:rPr>
              <a:t>(</a:t>
            </a:r>
            <a:r>
              <a:rPr lang="en-US" altLang="zh-CN" i="1" dirty="0">
                <a:ea typeface="宋体" panose="02010600030101010101" pitchFamily="2" charset="-122"/>
              </a:rPr>
              <a:t>x</a:t>
            </a:r>
            <a:r>
              <a:rPr lang="en-US" altLang="zh-CN" dirty="0">
                <a:ea typeface="宋体" panose="02010600030101010101" pitchFamily="2" charset="-122"/>
              </a:rPr>
              <a:t>) </a:t>
            </a:r>
            <a:r>
              <a:rPr lang="en-US" altLang="zh-CN" dirty="0" err="1">
                <a:ea typeface="宋体" panose="02010600030101010101" pitchFamily="2" charset="-122"/>
              </a:rPr>
              <a:t>表示</a:t>
            </a:r>
            <a:r>
              <a:rPr lang="en-US" altLang="zh-CN" dirty="0">
                <a:ea typeface="宋体" panose="02010600030101010101" pitchFamily="2" charset="-122"/>
              </a:rPr>
              <a:t> “x </a:t>
            </a:r>
            <a:r>
              <a:rPr lang="zh-CN" altLang="en-US" dirty="0">
                <a:ea typeface="宋体" panose="02010600030101010101" pitchFamily="2" charset="-122"/>
              </a:rPr>
              <a:t>吃饺子</a:t>
            </a:r>
            <a:r>
              <a:rPr lang="en-US" altLang="zh-CN" dirty="0">
                <a:ea typeface="宋体" panose="02010600030101010101" pitchFamily="2" charset="-122"/>
              </a:rPr>
              <a:t>"。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ea typeface="宋体" panose="02010600030101010101" pitchFamily="2" charset="-122"/>
              </a:rPr>
              <a:t>“</a:t>
            </a:r>
            <a:r>
              <a:rPr lang="en-US" altLang="zh-CN" dirty="0" err="1">
                <a:ea typeface="宋体" panose="02010600030101010101" pitchFamily="2" charset="-122"/>
              </a:rPr>
              <a:t>所有</a:t>
            </a:r>
            <a:r>
              <a:rPr lang="en-US" altLang="zh-CN" dirty="0" err="1">
                <a:ea typeface="宋体" panose="02010600030101010101" pitchFamily="2" charset="-122"/>
                <a:sym typeface="+mn-ea"/>
              </a:rPr>
              <a:t>的中国人</a:t>
            </a:r>
            <a:r>
              <a:rPr lang="en-US" altLang="zh-CN" dirty="0" err="1">
                <a:ea typeface="宋体" panose="02010600030101010101" pitchFamily="2" charset="-122"/>
              </a:rPr>
              <a:t>都吃</a:t>
            </a:r>
            <a:r>
              <a:rPr lang="zh-CN" altLang="en-US" dirty="0">
                <a:ea typeface="宋体" panose="02010600030101010101" pitchFamily="2" charset="-122"/>
                <a:sym typeface="+mn-ea"/>
              </a:rPr>
              <a:t>饺子</a:t>
            </a:r>
            <a:r>
              <a:rPr lang="en-US" altLang="zh-CN" dirty="0">
                <a:ea typeface="宋体" panose="02010600030101010101" pitchFamily="2" charset="-122"/>
              </a:rPr>
              <a:t>？"</a:t>
            </a:r>
            <a:endParaRPr lang="en-US" altLang="zh-CN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 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x 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) </a:t>
            </a:r>
            <a:r>
              <a:rPr lang="zh-CN" altLang="en-US" dirty="0">
                <a:solidFill>
                  <a:srgbClr val="000000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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x C(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) </a:t>
            </a:r>
            <a:r>
              <a:rPr lang="zh-CN" altLang="en-US" dirty="0">
                <a:solidFill>
                  <a:srgbClr val="000000"/>
                </a:solidFill>
                <a:ea typeface="宋体" panose="02010600030101010101" pitchFamily="2" charset="-122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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x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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C(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) 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42E5072F-2676-4053-B753-1C9C3C57150C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43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47107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800">
                <a:ea typeface="宋体" panose="02010600030101010101" pitchFamily="2" charset="-122"/>
              </a:rPr>
              <a:t>例 11</a:t>
            </a:r>
          </a:p>
        </p:txBody>
      </p:sp>
      <p:sp>
        <p:nvSpPr>
          <p:cNvPr id="47108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36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x </a:t>
            </a:r>
            <a:r>
              <a:rPr lang="en-US" altLang="zh-CN" sz="3600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 x^2 &gt; x) </a:t>
            </a:r>
            <a:r>
              <a:rPr lang="en-US" altLang="zh-CN" sz="3600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和</a:t>
            </a:r>
            <a:r>
              <a:rPr lang="en-US" altLang="zh-CN" sz="3600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36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x </a:t>
            </a:r>
            <a:r>
              <a:rPr lang="en-US" altLang="zh-CN" sz="3600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 x^2 = 2 ) </a:t>
            </a:r>
            <a:r>
              <a:rPr lang="en-US" altLang="zh-CN" dirty="0" err="1">
                <a:ea typeface="宋体" panose="02010600030101010101" pitchFamily="2" charset="-122"/>
              </a:rPr>
              <a:t>的否定语句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36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     x </a:t>
            </a:r>
            <a:r>
              <a:rPr lang="en-US" altLang="zh-CN" sz="3600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 x^2 &gt; x) 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3600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 x </a:t>
            </a:r>
            <a:r>
              <a:rPr lang="en-US" altLang="zh-CN" sz="36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 </a:t>
            </a:r>
            <a:r>
              <a:rPr lang="en-US" altLang="zh-CN" sz="3600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 x^2 &gt; x)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3600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 x </a:t>
            </a:r>
            <a:r>
              <a:rPr lang="en-US" altLang="zh-CN" sz="3600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 x^2 &lt;= x)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36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    x </a:t>
            </a:r>
            <a:r>
              <a:rPr lang="en-US" altLang="zh-CN" sz="3600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 x^2 = 2 )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36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 x  </a:t>
            </a:r>
            <a:r>
              <a:rPr lang="en-US" altLang="zh-CN" sz="3600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 x^2 = 2 ) </a:t>
            </a:r>
            <a:r>
              <a:rPr lang="en-US" altLang="zh-CN" sz="36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 x </a:t>
            </a:r>
            <a:r>
              <a:rPr lang="en-US" altLang="zh-CN" sz="3600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 x^2 != 2 ) 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灯片编号占位符 3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F25BBD60-6193-42B7-B383-056C13F9D656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44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67587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C60393F8-1774-4604-9C2F-197B2CBE1E26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44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7578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800">
                <a:ea typeface="宋体" panose="02010600030101010101" pitchFamily="2" charset="-122"/>
              </a:rPr>
              <a:t>练习</a:t>
            </a:r>
          </a:p>
        </p:txBody>
      </p:sp>
      <p:sp>
        <p:nvSpPr>
          <p:cNvPr id="2" name="矩形 1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33400" y="1905000"/>
            <a:ext cx="8077200" cy="1754326"/>
          </a:xfrm>
          <a:prstGeom prst="rect">
            <a:avLst/>
          </a:prstGeom>
          <a:blipFill>
            <a:blip r:embed="rId2"/>
            <a:stretch>
              <a:fillRect l="-679" t="-2091" b="-4878"/>
            </a:stretch>
          </a:blipFill>
        </p:spPr>
        <p:txBody>
          <a:bodyPr/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zh-CN" altLang="en-US">
                <a:noFill/>
              </a:rPr>
              <a:t> </a:t>
            </a:r>
          </a:p>
        </p:txBody>
      </p:sp>
      <p:sp>
        <p:nvSpPr>
          <p:cNvPr id="75782" name="矩形 5"/>
          <p:cNvSpPr>
            <a:spLocks noChangeArrowheads="1"/>
          </p:cNvSpPr>
          <p:nvPr/>
        </p:nvSpPr>
        <p:spPr bwMode="auto">
          <a:xfrm>
            <a:off x="533400" y="1905000"/>
            <a:ext cx="381000" cy="3810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1"/>
            </a:solidFill>
            <a:round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800" dirty="0"/>
              <a:t>4</a:t>
            </a:r>
            <a:endParaRPr lang="zh-CN" altLang="en-US" sz="18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灯片编号占位符 3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E89B86A3-2EAC-4B31-868A-3E78B8BC8B75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45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67587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BD80BA98-00A8-4889-A35B-FA015B29F667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45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7782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800">
                <a:ea typeface="宋体" panose="02010600030101010101" pitchFamily="2" charset="-122"/>
              </a:rPr>
              <a:t>练习</a:t>
            </a:r>
          </a:p>
        </p:txBody>
      </p:sp>
      <p:sp>
        <p:nvSpPr>
          <p:cNvPr id="78854" name="矩形 5"/>
          <p:cNvSpPr>
            <a:spLocks noChangeArrowheads="1"/>
          </p:cNvSpPr>
          <p:nvPr/>
        </p:nvSpPr>
        <p:spPr bwMode="auto">
          <a:xfrm>
            <a:off x="533400" y="1905000"/>
            <a:ext cx="8275955" cy="3810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1"/>
            </a:solidFill>
            <a:round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800" dirty="0">
                <a:sym typeface="+mn-ea"/>
              </a:rPr>
              <a:t>5.让 P(x) </a:t>
            </a:r>
            <a:r>
              <a:rPr lang="en-US" altLang="zh-CN" sz="1800" dirty="0" err="1">
                <a:sym typeface="+mn-ea"/>
              </a:rPr>
              <a:t>表示</a:t>
            </a:r>
            <a:r>
              <a:rPr lang="en-US" altLang="zh-CN" sz="1800" dirty="0">
                <a:sym typeface="+mn-ea"/>
              </a:rPr>
              <a:t> "x </a:t>
            </a:r>
            <a:r>
              <a:rPr lang="en-US" altLang="zh-CN" sz="1800" dirty="0" err="1">
                <a:sym typeface="+mn-ea"/>
              </a:rPr>
              <a:t>会说俄语</a:t>
            </a:r>
            <a:r>
              <a:rPr lang="en-US" altLang="zh-CN" sz="1800" dirty="0">
                <a:sym typeface="+mn-ea"/>
              </a:rPr>
              <a:t>"，</a:t>
            </a:r>
            <a:r>
              <a:rPr lang="en-US" altLang="zh-CN" sz="1800" dirty="0" err="1">
                <a:sym typeface="+mn-ea"/>
              </a:rPr>
              <a:t>让</a:t>
            </a:r>
            <a:r>
              <a:rPr lang="en-US" altLang="zh-CN" sz="1800" dirty="0">
                <a:sym typeface="+mn-ea"/>
              </a:rPr>
              <a:t> Q(x) </a:t>
            </a:r>
            <a:r>
              <a:rPr lang="en-US" altLang="zh-CN" sz="1800" dirty="0" err="1">
                <a:sym typeface="+mn-ea"/>
              </a:rPr>
              <a:t>表示</a:t>
            </a:r>
            <a:r>
              <a:rPr lang="en-US" altLang="zh-CN" sz="1800" dirty="0">
                <a:sym typeface="+mn-ea"/>
              </a:rPr>
              <a:t> "x </a:t>
            </a:r>
            <a:r>
              <a:rPr lang="en-US" altLang="zh-CN" sz="1800" dirty="0" err="1">
                <a:sym typeface="+mn-ea"/>
              </a:rPr>
              <a:t>会计算机语言</a:t>
            </a:r>
            <a:r>
              <a:rPr lang="en-US" altLang="zh-CN" sz="1800" dirty="0">
                <a:sym typeface="+mn-ea"/>
              </a:rPr>
              <a:t> C++"。</a:t>
            </a:r>
            <a:r>
              <a:rPr lang="en-US" altLang="zh-CN" sz="1800" dirty="0" err="1">
                <a:sym typeface="+mn-ea"/>
              </a:rPr>
              <a:t>量词的语域为贵校所有学生的集合。用</a:t>
            </a:r>
            <a:r>
              <a:rPr lang="en-US" altLang="zh-CN" sz="1800" dirty="0">
                <a:sym typeface="+mn-ea"/>
              </a:rPr>
              <a:t> P(x)、Q(x)、</a:t>
            </a:r>
            <a:r>
              <a:rPr lang="en-US" altLang="zh-CN" sz="1800" dirty="0" err="1">
                <a:sym typeface="+mn-ea"/>
              </a:rPr>
              <a:t>量词和逻辑连接词来</a:t>
            </a:r>
            <a:r>
              <a:rPr lang="zh-CN" altLang="en-US" sz="1800" dirty="0">
                <a:sym typeface="+mn-ea"/>
              </a:rPr>
              <a:t>表示</a:t>
            </a:r>
            <a:r>
              <a:rPr lang="en-US" altLang="zh-CN" sz="1800" dirty="0">
                <a:sym typeface="+mn-ea"/>
              </a:rPr>
              <a:t>“</a:t>
            </a:r>
            <a:r>
              <a:rPr lang="zh-CN" altLang="en-US" sz="1800" dirty="0">
                <a:sym typeface="+mn-ea"/>
              </a:rPr>
              <a:t>没有一个学生会俄语或者会</a:t>
            </a:r>
            <a:r>
              <a:rPr lang="en-US" altLang="zh-CN" sz="1800" dirty="0">
                <a:sym typeface="+mn-ea"/>
              </a:rPr>
              <a:t>C++”。()</a:t>
            </a:r>
            <a:endParaRPr lang="zh-CN" altLang="en-US" sz="18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rcRect t="50000"/>
          <a:stretch>
            <a:fillRect/>
          </a:stretch>
        </p:blipFill>
        <p:spPr>
          <a:xfrm>
            <a:off x="533400" y="2743200"/>
            <a:ext cx="8077200" cy="12954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灯片编号占位符 3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D391DE7C-2F94-41E9-A172-2DD01AF1C479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46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67587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EB8D0C81-502B-41DA-B760-7D5ADFDA999D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46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7475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800">
                <a:ea typeface="宋体" panose="02010600030101010101" pitchFamily="2" charset="-122"/>
              </a:rPr>
              <a:t>练习</a:t>
            </a:r>
          </a:p>
        </p:txBody>
      </p:sp>
      <p:sp>
        <p:nvSpPr>
          <p:cNvPr id="74758" name="矩形 5"/>
          <p:cNvSpPr>
            <a:spLocks noChangeArrowheads="1"/>
          </p:cNvSpPr>
          <p:nvPr/>
        </p:nvSpPr>
        <p:spPr bwMode="auto">
          <a:xfrm>
            <a:off x="525431" y="2019329"/>
            <a:ext cx="8001000" cy="373374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1"/>
            </a:solidFill>
            <a:round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000" dirty="0"/>
              <a:t>6 </a:t>
            </a:r>
            <a:r>
              <a:rPr lang="en-US" altLang="zh-CN" sz="2000" kern="100" dirty="0" err="1">
                <a:effectLst/>
                <a:latin typeface="Times New Roman" panose="02020603050405020304" pitchFamily="18" charset="0"/>
              </a:rPr>
              <a:t>假设P是</a:t>
            </a:r>
            <a:r>
              <a:rPr lang="en-US" altLang="zh-CN" sz="2000" kern="100" dirty="0">
                <a:effectLst/>
                <a:latin typeface="Times New Roman" panose="02020603050405020304" pitchFamily="18" charset="0"/>
              </a:rPr>
              <a:t> "</a:t>
            </a:r>
            <a:r>
              <a:rPr lang="en-US" altLang="zh-CN" sz="2000" i="1" kern="100" dirty="0">
                <a:effectLst/>
                <a:latin typeface="Times New Roman" panose="02020603050405020304" pitchFamily="18" charset="0"/>
              </a:rPr>
              <a:t>x </a:t>
            </a:r>
            <a:r>
              <a:rPr lang="en-US" altLang="zh-CN" sz="2000" kern="100" dirty="0" err="1">
                <a:effectLst/>
                <a:latin typeface="Times New Roman" panose="02020603050405020304" pitchFamily="18" charset="0"/>
              </a:rPr>
              <a:t>是机器人</a:t>
            </a:r>
            <a:r>
              <a:rPr lang="en-US" altLang="zh-CN" sz="2000" kern="100" dirty="0">
                <a:effectLst/>
                <a:latin typeface="Times New Roman" panose="02020603050405020304" pitchFamily="18" charset="0"/>
              </a:rPr>
              <a:t>"，</a:t>
            </a:r>
            <a:r>
              <a:rPr lang="en-US" altLang="zh-CN" sz="2000" kern="100" dirty="0" err="1">
                <a:effectLst/>
                <a:latin typeface="Times New Roman" panose="02020603050405020304" pitchFamily="18" charset="0"/>
              </a:rPr>
              <a:t>Q是</a:t>
            </a:r>
            <a:r>
              <a:rPr lang="en-US" altLang="zh-CN" sz="2000" kern="100" dirty="0">
                <a:effectLst/>
                <a:latin typeface="Times New Roman" panose="02020603050405020304" pitchFamily="18" charset="0"/>
              </a:rPr>
              <a:t> "</a:t>
            </a:r>
            <a:r>
              <a:rPr lang="en-US" altLang="zh-CN" sz="2000" i="1" kern="100" dirty="0">
                <a:effectLst/>
                <a:latin typeface="Times New Roman" panose="02020603050405020304" pitchFamily="18" charset="0"/>
              </a:rPr>
              <a:t>x </a:t>
            </a:r>
            <a:r>
              <a:rPr lang="en-US" altLang="zh-CN" sz="2000" kern="100" dirty="0">
                <a:effectLst/>
                <a:latin typeface="Times New Roman" panose="02020603050405020304" pitchFamily="18" charset="0"/>
              </a:rPr>
              <a:t>会下棋"。用谓词和量词表示命题 "有些机器人会下棋 "的</a:t>
            </a:r>
            <a:r>
              <a:rPr lang="en-US" altLang="zh-CN" sz="2000" b="1" u="sng" kern="100" dirty="0">
                <a:effectLst/>
                <a:latin typeface="Times New Roman" panose="02020603050405020304" pitchFamily="18" charset="0"/>
              </a:rPr>
              <a:t>否定</a:t>
            </a:r>
            <a:r>
              <a:rPr lang="en-US" altLang="zh-CN" sz="2000" kern="100" dirty="0">
                <a:effectLst/>
                <a:latin typeface="Times New Roman" panose="02020603050405020304" pitchFamily="18" charset="0"/>
              </a:rPr>
              <a:t>：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77317942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C1E6DC18-9437-4789-AE6F-73AEC16CC6F5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47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6147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solidFill>
                  <a:schemeClr val="accent1"/>
                </a:solidFill>
                <a:ea typeface="宋体" panose="02010600030101010101" pitchFamily="2" charset="-122"/>
              </a:rPr>
              <a:t>总结：</a:t>
            </a:r>
            <a:endParaRPr lang="en-US" altLang="zh-CN" dirty="0">
              <a:solidFill>
                <a:schemeClr val="accent1"/>
              </a:solidFill>
              <a:ea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914496" y="1981238"/>
                <a:ext cx="7162612" cy="33303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CN" sz="2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US" altLang="zh-CN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𝒙</m:t>
                      </m:r>
                      <m:d>
                        <m:dPr>
                          <m:ctrlP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𝑷</m:t>
                          </m:r>
                          <m:d>
                            <m:dPr>
                              <m:ctrlPr>
                                <a:rPr lang="en-US" altLang="zh-CN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  <m: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∨</m:t>
                          </m:r>
                          <m: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𝑸</m:t>
                          </m:r>
                          <m:d>
                            <m:dPr>
                              <m:ctrlPr>
                                <a:rPr lang="en-US" altLang="zh-CN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</m:d>
                      <m:r>
                        <a:rPr lang="en-US" altLang="zh-CN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⇐</m:t>
                      </m:r>
                      <m:r>
                        <a:rPr lang="en-US" altLang="zh-CN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US" altLang="zh-CN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𝒙𝑷</m:t>
                      </m:r>
                      <m:d>
                        <m:dPr>
                          <m:ctrlPr>
                            <a:rPr lang="en-US" altLang="zh-CN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altLang="zh-CN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∨∀</m:t>
                      </m:r>
                      <m:r>
                        <a:rPr lang="en-US" altLang="zh-CN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𝒙𝑸</m:t>
                      </m:r>
                      <m:r>
                        <a:rPr lang="en-US" altLang="zh-CN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𝒙</m:t>
                      </m:r>
                      <m:r>
                        <a:rPr lang="en-US" altLang="zh-CN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2800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zh-CN" sz="2800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CN" sz="2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US" altLang="zh-CN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𝒙</m:t>
                      </m:r>
                      <m:d>
                        <m:dPr>
                          <m:ctrlP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𝑷</m:t>
                          </m:r>
                          <m:d>
                            <m:dPr>
                              <m:ctrlPr>
                                <a:rPr lang="en-US" altLang="zh-CN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  <m: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∧</m:t>
                          </m:r>
                          <m: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𝑸</m:t>
                          </m:r>
                          <m:d>
                            <m:dPr>
                              <m:ctrlPr>
                                <a:rPr lang="en-US" altLang="zh-CN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</m:d>
                      <m:r>
                        <a:rPr lang="en-US" altLang="zh-CN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⟺</m:t>
                      </m:r>
                      <m:r>
                        <a:rPr lang="en-US" altLang="zh-CN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US" altLang="zh-CN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𝒙𝑷</m:t>
                      </m:r>
                      <m:d>
                        <m:dPr>
                          <m:ctrlPr>
                            <a:rPr lang="en-US" altLang="zh-CN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altLang="zh-CN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∧∀</m:t>
                      </m:r>
                      <m:r>
                        <a:rPr lang="en-US" altLang="zh-CN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𝒙𝑸</m:t>
                      </m:r>
                      <m:r>
                        <a:rPr lang="en-US" altLang="zh-CN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𝒙</m:t>
                      </m:r>
                      <m:r>
                        <a:rPr lang="en-US" altLang="zh-CN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2800" dirty="0">
                  <a:solidFill>
                    <a:schemeClr val="tx1"/>
                  </a:solidFill>
                </a:endParaRPr>
              </a:p>
              <a:p>
                <a:endParaRPr lang="en-US" altLang="zh-CN" sz="28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CN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∃</m:t>
                      </m:r>
                      <m:r>
                        <a:rPr lang="en-US" altLang="zh-CN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𝒙</m:t>
                      </m:r>
                      <m:d>
                        <m:d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𝑷</m:t>
                          </m:r>
                          <m:d>
                            <m:d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∧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𝑸</m:t>
                          </m:r>
                          <m:d>
                            <m:d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</m:d>
                      <m:r>
                        <a:rPr lang="en-US" altLang="zh-CN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∃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𝒙𝑷</m:t>
                      </m:r>
                      <m:d>
                        <m:dPr>
                          <m:ctrlPr>
                            <a:rPr lang="en-US" altLang="zh-CN" sz="2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∧∃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𝒙𝑸</m:t>
                      </m:r>
                      <m:d>
                        <m:d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</m:oMath>
                  </m:oMathPara>
                </a14:m>
                <a:endParaRPr lang="en-US" altLang="zh-CN" sz="2800" dirty="0"/>
              </a:p>
              <a:p>
                <a:endParaRPr lang="en-US" altLang="zh-CN" sz="2800" dirty="0"/>
              </a:p>
              <a:p>
                <a:pPr algn="ctr"/>
                <a14:m>
                  <m:oMath xmlns:m="http://schemas.openxmlformats.org/officeDocument/2006/math">
                    <m:r>
                      <a:rPr lang="en-US" altLang="zh-CN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r>
                      <a:rPr lang="en-US" altLang="zh-CN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𝒙</m:t>
                    </m:r>
                    <m:d>
                      <m:dPr>
                        <m:ctrlP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𝑷</m:t>
                        </m:r>
                        <m:d>
                          <m:d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∨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𝑸</m:t>
                        </m:r>
                        <m:d>
                          <m:d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</m:e>
                    </m:d>
                    <m:r>
                      <a:rPr lang="en-US" altLang="zh-CN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⟺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𝒙𝑷</m:t>
                    </m:r>
                    <m:d>
                      <m:dPr>
                        <m:ctrlPr>
                          <a:rPr lang="en-US" altLang="zh-CN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∨∃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𝒙𝑸</m:t>
                    </m:r>
                    <m:d>
                      <m:dPr>
                        <m:ctrlP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zh-CN" altLang="en-US" sz="2800" dirty="0"/>
                  <a:t> </a:t>
                </a: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96" y="1981238"/>
                <a:ext cx="7162612" cy="3330399"/>
              </a:xfrm>
              <a:prstGeom prst="rect">
                <a:avLst/>
              </a:prstGeom>
              <a:blipFill rotWithShape="1">
                <a:blip r:embed="rId2"/>
                <a:stretch>
                  <a:fillRect l="-1" t="-1" r="8" b="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C1E6DC18-9437-4789-AE6F-73AEC16CC6F5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48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Rectangle 2"/>
              <p:cNvSpPr>
                <a:spLocks noGrp="1" noChangeArrowheads="1"/>
              </p:cNvSpPr>
              <p:nvPr>
                <p:ph type="title" idx="4294967295"/>
              </p:nvPr>
            </p:nvSpPr>
            <p:spPr>
              <a:xfrm>
                <a:off x="733425" y="731838"/>
                <a:ext cx="8334257" cy="563618"/>
              </a:xfrm>
            </p:spPr>
            <p:txBody>
              <a:bodyPr/>
              <a:lstStyle/>
              <a:p>
                <a:pPr eaLnBrk="1" hangingPunct="1"/>
                <a14:m>
                  <m:oMathPara xmlns:m="http://schemas.openxmlformats.org/officeDocument/2006/math">
                    <m:oMath>
                      <m:r>
                        <a:rPr lang="en-US" altLang="zh-CN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US" altLang="zh-CN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𝒙</m:t>
                      </m:r>
                      <m:d>
                        <m:dPr>
                          <m:ctrlPr>
                            <a:rPr lang="en-US" altLang="zh-CN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𝑷</m:t>
                          </m:r>
                          <m:d>
                            <m:dPr>
                              <m:ctrlPr>
                                <a:rPr lang="en-US" altLang="zh-CN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  <m:r>
                            <a:rPr lang="en-US" altLang="zh-CN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∨</m:t>
                          </m:r>
                          <m:r>
                            <a:rPr lang="en-US" altLang="zh-CN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𝑸</m:t>
                          </m:r>
                          <m:d>
                            <m:dPr>
                              <m:ctrlPr>
                                <a:rPr lang="en-US" altLang="zh-CN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</m:d>
                      <m:r>
                        <a:rPr lang="en-US" altLang="zh-CN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</m:t>
                      </m:r>
                      <m:r>
                        <a:rPr lang="en-US" altLang="zh-CN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𝒗𝒔</m:t>
                      </m:r>
                      <m:r>
                        <a:rPr lang="en-US" altLang="zh-CN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∀</m:t>
                      </m:r>
                      <m:r>
                        <a:rPr lang="en-US" altLang="zh-CN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𝒙𝑷</m:t>
                      </m:r>
                      <m:d>
                        <m:dPr>
                          <m:ctrlPr>
                            <a:rPr lang="en-US" altLang="zh-CN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altLang="zh-CN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∨∀</m:t>
                      </m:r>
                      <m:r>
                        <a:rPr lang="en-US" altLang="zh-CN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𝒙𝑸</m:t>
                      </m:r>
                      <m:r>
                        <a:rPr lang="en-US" altLang="zh-CN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zh-CN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𝒙</m:t>
                      </m:r>
                      <m:r>
                        <a:rPr lang="en-US" altLang="zh-CN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dirty="0">
                  <a:solidFill>
                    <a:schemeClr val="accent1"/>
                  </a:solidFill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6147" name="Rectangle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title" idx="4294967295"/>
              </p:nvPr>
            </p:nvSpPr>
            <p:spPr>
              <a:xfrm>
                <a:off x="733425" y="731838"/>
                <a:ext cx="8334257" cy="563618"/>
              </a:xfrm>
              <a:blipFill rotWithShape="1">
                <a:blip r:embed="rId2"/>
                <a:stretch>
                  <a:fillRect t="-56" r="6" b="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/>
              <p:cNvSpPr txBox="1"/>
              <p:nvPr/>
            </p:nvSpPr>
            <p:spPr>
              <a:xfrm>
                <a:off x="0" y="1447852"/>
                <a:ext cx="9296276" cy="44804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altLang="zh-CN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𝒙</m:t>
                    </m:r>
                    <m:d>
                      <m:dPr>
                        <m:ctrlP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𝑷</m:t>
                        </m:r>
                        <m:d>
                          <m:dPr>
                            <m:ctrlPr>
                              <a:rPr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∨</m:t>
                        </m:r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𝑸</m:t>
                        </m:r>
                        <m:d>
                          <m:dPr>
                            <m:ctrlPr>
                              <a:rPr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</m:e>
                    </m:d>
                  </m:oMath>
                </a14:m>
                <a:r>
                  <a:rPr lang="en-US" altLang="zh-CN" sz="2000" dirty="0">
                    <a:solidFill>
                      <a:schemeClr val="tx1"/>
                    </a:solidFill>
                  </a:rPr>
                  <a:t>: </a:t>
                </a:r>
                <a:r>
                  <a:rPr lang="zh-CN" altLang="en-US" sz="2000" dirty="0"/>
                  <a:t>对任意的</a:t>
                </a:r>
                <a:r>
                  <a:rPr lang="en-US" altLang="zh-CN" sz="2000" dirty="0"/>
                  <a:t>x</a:t>
                </a:r>
                <a:r>
                  <a:rPr lang="zh-CN" altLang="en-US" sz="2000" dirty="0"/>
                  <a:t>都满足</a:t>
                </a:r>
                <a:r>
                  <a:rPr lang="en-US" altLang="zh-CN" sz="2000" dirty="0"/>
                  <a:t>P(x)</a:t>
                </a:r>
                <a:r>
                  <a:rPr lang="zh-CN" altLang="en-US" sz="2000" dirty="0"/>
                  <a:t>或</a:t>
                </a:r>
                <a:r>
                  <a:rPr lang="en-US" altLang="zh-CN" sz="2000" dirty="0"/>
                  <a:t>Q(x)</a:t>
                </a:r>
                <a:r>
                  <a:rPr lang="zh-CN" altLang="en-US" sz="2000" dirty="0"/>
                  <a:t>。</a:t>
                </a:r>
                <a:endParaRPr lang="en-US" altLang="zh-CN" sz="2000" dirty="0"/>
              </a:p>
              <a:p>
                <a:endParaRPr lang="en-US" altLang="zh-CN" sz="2000" dirty="0"/>
              </a:p>
              <a:p>
                <a14:m>
                  <m:oMath xmlns:m="http://schemas.openxmlformats.org/officeDocument/2006/math">
                    <m:r>
                      <a:rPr lang="en-US" altLang="zh-CN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altLang="zh-CN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𝒙𝑷</m:t>
                    </m:r>
                    <m:d>
                      <m:dPr>
                        <m:ctrlPr>
                          <a:rPr lang="en-US" altLang="zh-CN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altLang="zh-CN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∨∀</m:t>
                    </m:r>
                    <m:r>
                      <a:rPr lang="en-US" altLang="zh-CN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𝒙𝑸</m:t>
                    </m:r>
                    <m:d>
                      <m:dPr>
                        <m:ctrlP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altLang="zh-CN" sz="2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zh-CN" altLang="en-US" sz="2000" dirty="0">
                    <a:solidFill>
                      <a:schemeClr val="tx1"/>
                    </a:solidFill>
                  </a:rPr>
                  <a:t>对任意的</a:t>
                </a:r>
                <a:r>
                  <a:rPr lang="en-US" altLang="zh-CN" sz="2000" dirty="0">
                    <a:solidFill>
                      <a:schemeClr val="tx1"/>
                    </a:solidFill>
                  </a:rPr>
                  <a:t>x</a:t>
                </a:r>
                <a:r>
                  <a:rPr lang="zh-CN" altLang="en-US" sz="2000" dirty="0">
                    <a:solidFill>
                      <a:schemeClr val="tx1"/>
                    </a:solidFill>
                  </a:rPr>
                  <a:t>都满足</a:t>
                </a:r>
                <a:r>
                  <a:rPr lang="en-US" altLang="zh-CN" sz="2000" dirty="0">
                    <a:solidFill>
                      <a:schemeClr val="tx1"/>
                    </a:solidFill>
                  </a:rPr>
                  <a:t>P</a:t>
                </a:r>
                <a:r>
                  <a:rPr lang="en-US" altLang="zh-CN" sz="2000" dirty="0"/>
                  <a:t>(x)</a:t>
                </a:r>
                <a:r>
                  <a:rPr lang="zh-CN" altLang="en-US" sz="2000" dirty="0"/>
                  <a:t>，或对任意的</a:t>
                </a:r>
                <a:r>
                  <a:rPr lang="en-US" altLang="zh-CN" sz="2000" dirty="0"/>
                  <a:t>x</a:t>
                </a:r>
                <a:r>
                  <a:rPr lang="zh-CN" altLang="en-US" sz="2000" dirty="0"/>
                  <a:t>都满足</a:t>
                </a:r>
                <a:r>
                  <a:rPr lang="en-US" altLang="zh-CN" sz="2000" dirty="0"/>
                  <a:t>Q(x)</a:t>
                </a:r>
                <a:r>
                  <a:rPr lang="zh-CN" altLang="en-US" sz="2000" dirty="0"/>
                  <a:t>。</a:t>
                </a:r>
                <a:endParaRPr lang="en-US" altLang="zh-CN" sz="2000" dirty="0"/>
              </a:p>
              <a:p>
                <a:endParaRPr lang="en-US" altLang="zh-CN" sz="2000" dirty="0">
                  <a:solidFill>
                    <a:schemeClr val="tx1"/>
                  </a:solidFill>
                </a:endParaRPr>
              </a:p>
              <a:p>
                <a:r>
                  <a:rPr lang="zh-CN" altLang="en-US" sz="2000" dirty="0">
                    <a:solidFill>
                      <a:schemeClr val="tx1"/>
                    </a:solidFill>
                  </a:rPr>
                  <a:t>例：</a:t>
                </a:r>
                <a:r>
                  <a:rPr lang="en-US" altLang="zh-CN" sz="2000" dirty="0">
                    <a:solidFill>
                      <a:schemeClr val="tx1"/>
                    </a:solidFill>
                  </a:rPr>
                  <a:t>x</a:t>
                </a:r>
                <a:r>
                  <a:rPr lang="zh-CN" altLang="en-US" sz="2000" dirty="0">
                    <a:solidFill>
                      <a:schemeClr val="tx1"/>
                    </a:solidFill>
                  </a:rPr>
                  <a:t>：学生，</a:t>
                </a:r>
                <a:r>
                  <a:rPr lang="en-US" altLang="zh-CN" sz="2000" dirty="0">
                    <a:solidFill>
                      <a:schemeClr val="tx1"/>
                    </a:solidFill>
                  </a:rPr>
                  <a:t>P(x):x</a:t>
                </a:r>
                <a:r>
                  <a:rPr lang="zh-CN" altLang="en-US" sz="2000" dirty="0"/>
                  <a:t>选修了钢琴课。 </a:t>
                </a:r>
                <a:r>
                  <a:rPr lang="en-US" altLang="zh-CN" sz="2000" dirty="0"/>
                  <a:t>Q(x):</a:t>
                </a:r>
                <a:r>
                  <a:rPr lang="zh-CN" altLang="en-US" sz="2000" dirty="0"/>
                  <a:t> </a:t>
                </a:r>
                <a:r>
                  <a:rPr lang="en-US" altLang="zh-CN" sz="2000" dirty="0"/>
                  <a:t>x</a:t>
                </a:r>
                <a:r>
                  <a:rPr lang="zh-CN" altLang="en-US" sz="2000" dirty="0"/>
                  <a:t>选修了美术课。</a:t>
                </a:r>
                <a:endParaRPr lang="en-US" altLang="zh-CN" sz="2000" dirty="0"/>
              </a:p>
              <a:p>
                <a:endParaRPr lang="en-US" altLang="zh-CN" sz="2000" dirty="0"/>
              </a:p>
              <a:p>
                <a14:m>
                  <m:oMath xmlns:m="http://schemas.openxmlformats.org/officeDocument/2006/math">
                    <m:r>
                      <a:rPr lang="en-US" altLang="zh-CN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altLang="zh-CN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𝒙</m:t>
                    </m:r>
                    <m:d>
                      <m:dPr>
                        <m:ctrlP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𝑷</m:t>
                        </m:r>
                        <m:d>
                          <m:dPr>
                            <m:ctrlPr>
                              <a:rPr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∨</m:t>
                        </m:r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𝑸</m:t>
                        </m:r>
                        <m:d>
                          <m:dPr>
                            <m:ctrlPr>
                              <a:rPr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</m:e>
                    </m:d>
                  </m:oMath>
                </a14:m>
                <a:r>
                  <a:rPr lang="zh-CN" altLang="en-US" sz="2000" dirty="0">
                    <a:solidFill>
                      <a:schemeClr val="tx1"/>
                    </a:solidFill>
                  </a:rPr>
                  <a:t>： 为真时：全班同学都选修了钢琴课或美术课。</a:t>
                </a:r>
                <a:endParaRPr lang="en-US" altLang="zh-CN" sz="2000" dirty="0">
                  <a:solidFill>
                    <a:schemeClr val="tx1"/>
                  </a:solidFill>
                </a:endParaRPr>
              </a:p>
              <a:p>
                <a:r>
                  <a:rPr lang="en-US" altLang="zh-CN" sz="2000" dirty="0"/>
                  <a:t>		     </a:t>
                </a:r>
                <a:r>
                  <a:rPr lang="zh-CN" altLang="en-US" sz="2000" dirty="0"/>
                  <a:t>为假时：存在一个同学既没有选修钢琴课也没有选修美术课。</a:t>
                </a:r>
                <a:endParaRPr lang="en-US" altLang="zh-CN" sz="2000" dirty="0"/>
              </a:p>
              <a:p>
                <a:endParaRPr lang="en-US" altLang="zh-CN" sz="2000" dirty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altLang="zh-CN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altLang="zh-CN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𝒙𝑷</m:t>
                    </m:r>
                    <m:d>
                      <m:dPr>
                        <m:ctrlPr>
                          <a:rPr lang="en-US" altLang="zh-CN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altLang="zh-CN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∨∀</m:t>
                    </m:r>
                    <m:r>
                      <a:rPr lang="en-US" altLang="zh-CN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𝒙𝑸</m:t>
                    </m:r>
                    <m:d>
                      <m:dPr>
                        <m:ctrlP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zh-CN" altLang="en-US" sz="2000" dirty="0">
                    <a:solidFill>
                      <a:schemeClr val="tx1"/>
                    </a:solidFill>
                  </a:rPr>
                  <a:t>：为真时</a:t>
                </a:r>
                <a:r>
                  <a:rPr lang="zh-CN" altLang="en-US" sz="2000" dirty="0"/>
                  <a:t>：全班同学同时选修了钢琴课，或者全班同学同时选</a:t>
                </a:r>
                <a:r>
                  <a:rPr lang="en-US" altLang="zh-CN" sz="2000" dirty="0"/>
                  <a:t>		      </a:t>
                </a:r>
                <a:r>
                  <a:rPr lang="zh-CN" altLang="en-US" sz="2000" dirty="0"/>
                  <a:t>修了美术课。</a:t>
                </a:r>
                <a:endParaRPr lang="en-US" altLang="zh-CN" sz="2000" dirty="0"/>
              </a:p>
              <a:p>
                <a:r>
                  <a:rPr lang="en-US" altLang="zh-CN" sz="2000" dirty="0"/>
                  <a:t>	   	      </a:t>
                </a:r>
                <a:r>
                  <a:rPr lang="zh-CN" altLang="en-US" sz="2000" dirty="0"/>
                  <a:t>为假时：存在一个同学没选修钢琴课而且存在一个同学没             </a:t>
                </a:r>
                <a:r>
                  <a:rPr lang="en-US" altLang="zh-CN" sz="2000" dirty="0"/>
                  <a:t>		      </a:t>
                </a:r>
                <a:r>
                  <a:rPr lang="zh-CN" altLang="en-US" sz="2000" dirty="0"/>
                  <a:t>选修美术课。（不一定是同一个同学）</a:t>
                </a:r>
                <a:endParaRPr lang="en-US" altLang="zh-CN" sz="2000" dirty="0"/>
              </a:p>
              <a:p>
                <a:r>
                  <a:rPr lang="en-US" altLang="zh-CN" sz="2000" dirty="0">
                    <a:solidFill>
                      <a:schemeClr val="tx1"/>
                    </a:solidFill>
                  </a:rPr>
                  <a:t>		</a:t>
                </a:r>
                <a:endParaRPr lang="zh-CN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447852"/>
                <a:ext cx="9296276" cy="4480457"/>
              </a:xfrm>
              <a:prstGeom prst="rect">
                <a:avLst/>
              </a:prstGeom>
              <a:blipFill rotWithShape="1">
                <a:blip r:embed="rId3"/>
                <a:stretch>
                  <a:fillRect t="-1" r="5" b="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/>
              <p:cNvSpPr txBox="1"/>
              <p:nvPr/>
            </p:nvSpPr>
            <p:spPr>
              <a:xfrm>
                <a:off x="-838058" y="5762918"/>
                <a:ext cx="6400632" cy="4397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CN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US" altLang="zh-CN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𝒙</m:t>
                      </m:r>
                      <m:d>
                        <m:dPr>
                          <m:ctrlP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𝑷</m:t>
                          </m:r>
                          <m:d>
                            <m:dPr>
                              <m:ctrlP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  <m: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∨</m:t>
                          </m:r>
                          <m: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𝑸</m:t>
                          </m:r>
                          <m:d>
                            <m:dPr>
                              <m:ctrlP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</m:d>
                      <m:r>
                        <a:rPr lang="en-US" altLang="zh-CN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⇎   </m:t>
                      </m:r>
                      <m:r>
                        <a:rPr lang="en-US" altLang="zh-CN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US" altLang="zh-CN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𝒙𝑷</m:t>
                      </m:r>
                      <m:d>
                        <m:dPr>
                          <m:ctrlPr>
                            <a:rPr lang="en-US" altLang="zh-CN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altLang="zh-CN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∨∀</m:t>
                      </m:r>
                      <m:r>
                        <a:rPr lang="en-US" altLang="zh-CN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𝒙𝑸</m:t>
                      </m:r>
                      <m:r>
                        <a:rPr lang="en-US" altLang="zh-CN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zh-CN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𝒙</m:t>
                      </m:r>
                      <m:r>
                        <a:rPr lang="en-US" altLang="zh-CN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838058" y="5762918"/>
                <a:ext cx="6400632" cy="439736"/>
              </a:xfrm>
              <a:prstGeom prst="rect">
                <a:avLst/>
              </a:prstGeom>
              <a:blipFill rotWithShape="1">
                <a:blip r:embed="rId4"/>
                <a:stretch>
                  <a:fillRect l="8" t="-67" r="10" b="1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C1E6DC18-9437-4789-AE6F-73AEC16CC6F5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49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Rectangle 2"/>
              <p:cNvSpPr>
                <a:spLocks noGrp="1" noChangeArrowheads="1"/>
              </p:cNvSpPr>
              <p:nvPr>
                <p:ph type="title" idx="4294967295"/>
              </p:nvPr>
            </p:nvSpPr>
            <p:spPr>
              <a:xfrm>
                <a:off x="733425" y="731838"/>
                <a:ext cx="8334257" cy="563618"/>
              </a:xfrm>
            </p:spPr>
            <p:txBody>
              <a:bodyPr/>
              <a:lstStyle/>
              <a:p>
                <a:pPr eaLnBrk="1" hangingPunct="1"/>
                <a14:m>
                  <m:oMathPara xmlns:m="http://schemas.openxmlformats.org/officeDocument/2006/math">
                    <m:oMath>
                      <m:r>
                        <a:rPr lang="en-US" altLang="zh-CN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US" altLang="zh-CN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𝒙</m:t>
                      </m:r>
                      <m:d>
                        <m:dPr>
                          <m:ctrlPr>
                            <a:rPr lang="en-US" altLang="zh-CN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𝑷</m:t>
                          </m:r>
                          <m:d>
                            <m:dPr>
                              <m:ctrlPr>
                                <a:rPr lang="en-US" altLang="zh-CN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  <m:r>
                            <a:rPr lang="en-US" altLang="zh-CN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∧</m:t>
                          </m:r>
                          <m:r>
                            <a:rPr lang="en-US" altLang="zh-CN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𝑸</m:t>
                          </m:r>
                          <m:d>
                            <m:dPr>
                              <m:ctrlPr>
                                <a:rPr lang="en-US" altLang="zh-CN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</m:d>
                      <m:r>
                        <a:rPr lang="en-US" altLang="zh-CN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</m:t>
                      </m:r>
                      <m:r>
                        <a:rPr lang="en-US" altLang="zh-CN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𝒗𝒔</m:t>
                      </m:r>
                      <m:r>
                        <a:rPr lang="en-US" altLang="zh-CN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∀</m:t>
                      </m:r>
                      <m:r>
                        <a:rPr lang="en-US" altLang="zh-CN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𝒙𝑷</m:t>
                      </m:r>
                      <m:d>
                        <m:dPr>
                          <m:ctrlPr>
                            <a:rPr lang="en-US" altLang="zh-CN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altLang="zh-CN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∧∀</m:t>
                      </m:r>
                      <m:r>
                        <a:rPr lang="en-US" altLang="zh-CN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𝒙𝑸</m:t>
                      </m:r>
                      <m:r>
                        <a:rPr lang="en-US" altLang="zh-CN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zh-CN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𝒙</m:t>
                      </m:r>
                      <m:r>
                        <a:rPr lang="en-US" altLang="zh-CN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dirty="0">
                  <a:solidFill>
                    <a:schemeClr val="accent1"/>
                  </a:solidFill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6147" name="Rectangle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title" idx="4294967295"/>
              </p:nvPr>
            </p:nvSpPr>
            <p:spPr>
              <a:xfrm>
                <a:off x="733425" y="731838"/>
                <a:ext cx="8334257" cy="563618"/>
              </a:xfrm>
              <a:blipFill rotWithShape="1">
                <a:blip r:embed="rId2"/>
                <a:stretch>
                  <a:fillRect t="-56" r="6" b="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0" y="1447852"/>
                <a:ext cx="9296276" cy="44804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altLang="zh-CN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𝒙</m:t>
                    </m:r>
                    <m:d>
                      <m:dPr>
                        <m:ctrlP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𝑷</m:t>
                        </m:r>
                        <m:d>
                          <m:dPr>
                            <m:ctrlPr>
                              <a:rPr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∧</m:t>
                        </m:r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𝑸</m:t>
                        </m:r>
                        <m:d>
                          <m:dPr>
                            <m:ctrlPr>
                              <a:rPr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</m:e>
                    </m:d>
                  </m:oMath>
                </a14:m>
                <a:r>
                  <a:rPr lang="en-US" altLang="zh-CN" sz="2000" dirty="0">
                    <a:solidFill>
                      <a:schemeClr val="tx1"/>
                    </a:solidFill>
                  </a:rPr>
                  <a:t>: </a:t>
                </a:r>
                <a:r>
                  <a:rPr lang="zh-CN" altLang="en-US" sz="2000" dirty="0">
                    <a:solidFill>
                      <a:schemeClr val="tx1"/>
                    </a:solidFill>
                  </a:rPr>
                  <a:t>对任意的</a:t>
                </a:r>
                <a:r>
                  <a:rPr lang="en-US" altLang="zh-CN" sz="2000" dirty="0">
                    <a:solidFill>
                      <a:schemeClr val="tx1"/>
                    </a:solidFill>
                  </a:rPr>
                  <a:t>x</a:t>
                </a:r>
                <a:r>
                  <a:rPr lang="zh-CN" altLang="en-US" sz="2000" dirty="0">
                    <a:solidFill>
                      <a:schemeClr val="tx1"/>
                    </a:solidFill>
                  </a:rPr>
                  <a:t>都满足</a:t>
                </a:r>
                <a:r>
                  <a:rPr lang="en-US" altLang="zh-CN" sz="2000" dirty="0">
                    <a:solidFill>
                      <a:schemeClr val="tx1"/>
                    </a:solidFill>
                  </a:rPr>
                  <a:t>P(x)</a:t>
                </a:r>
                <a:r>
                  <a:rPr lang="zh-CN" altLang="en-US" sz="2000" dirty="0"/>
                  <a:t>和</a:t>
                </a:r>
                <a:r>
                  <a:rPr lang="en-US" altLang="zh-CN" sz="2000" dirty="0">
                    <a:solidFill>
                      <a:schemeClr val="tx1"/>
                    </a:solidFill>
                  </a:rPr>
                  <a:t>Q(x)</a:t>
                </a:r>
                <a:r>
                  <a:rPr lang="zh-CN" altLang="en-US" sz="2000" dirty="0">
                    <a:solidFill>
                      <a:schemeClr val="tx1"/>
                    </a:solidFill>
                  </a:rPr>
                  <a:t>。</a:t>
                </a:r>
                <a:endParaRPr lang="en-US" altLang="zh-CN" sz="2000" dirty="0">
                  <a:solidFill>
                    <a:schemeClr val="tx1"/>
                  </a:solidFill>
                </a:endParaRPr>
              </a:p>
              <a:p>
                <a:endParaRPr lang="en-US" altLang="zh-CN" sz="2000" dirty="0"/>
              </a:p>
              <a:p>
                <a14:m>
                  <m:oMath xmlns:m="http://schemas.openxmlformats.org/officeDocument/2006/math">
                    <m:r>
                      <a:rPr lang="en-US" altLang="zh-CN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altLang="zh-CN" sz="20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𝒙𝑷</m:t>
                    </m:r>
                    <m:d>
                      <m:dPr>
                        <m:ctrlPr>
                          <a:rPr lang="en-US" altLang="zh-CN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altLang="zh-CN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∧∀</m:t>
                    </m:r>
                    <m:r>
                      <a:rPr lang="en-US" altLang="zh-CN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𝒙𝑸</m:t>
                    </m:r>
                    <m:r>
                      <a:rPr lang="en-US" altLang="zh-CN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𝒙</m:t>
                    </m:r>
                    <m:r>
                      <a:rPr lang="en-US" altLang="zh-CN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000" dirty="0">
                    <a:solidFill>
                      <a:schemeClr val="tx1"/>
                    </a:solidFill>
                  </a:rPr>
                  <a:t>:</a:t>
                </a:r>
                <a:r>
                  <a:rPr lang="zh-CN" altLang="en-US" sz="2000" dirty="0">
                    <a:solidFill>
                      <a:schemeClr val="tx1"/>
                    </a:solidFill>
                  </a:rPr>
                  <a:t>对任意的</a:t>
                </a:r>
                <a:r>
                  <a:rPr lang="en-US" altLang="zh-CN" sz="2000" dirty="0">
                    <a:solidFill>
                      <a:schemeClr val="tx1"/>
                    </a:solidFill>
                  </a:rPr>
                  <a:t>x</a:t>
                </a:r>
                <a:r>
                  <a:rPr lang="zh-CN" altLang="en-US" sz="2000" dirty="0">
                    <a:solidFill>
                      <a:schemeClr val="tx1"/>
                    </a:solidFill>
                  </a:rPr>
                  <a:t>都满足</a:t>
                </a:r>
                <a:r>
                  <a:rPr lang="en-US" altLang="zh-CN" sz="2000" dirty="0">
                    <a:solidFill>
                      <a:schemeClr val="tx1"/>
                    </a:solidFill>
                  </a:rPr>
                  <a:t>P</a:t>
                </a:r>
                <a:r>
                  <a:rPr lang="en-US" altLang="zh-CN" sz="2000" dirty="0"/>
                  <a:t>(x)</a:t>
                </a:r>
                <a:r>
                  <a:rPr lang="zh-CN" altLang="en-US" sz="2000" dirty="0"/>
                  <a:t>，而且对任意的</a:t>
                </a:r>
                <a:r>
                  <a:rPr lang="en-US" altLang="zh-CN" sz="2000" dirty="0"/>
                  <a:t>x</a:t>
                </a:r>
                <a:r>
                  <a:rPr lang="zh-CN" altLang="en-US" sz="2000" dirty="0"/>
                  <a:t>都满足</a:t>
                </a:r>
                <a:r>
                  <a:rPr lang="en-US" altLang="zh-CN" sz="2000" dirty="0"/>
                  <a:t>Q(x)</a:t>
                </a:r>
                <a:r>
                  <a:rPr lang="zh-CN" altLang="en-US" sz="2000" dirty="0"/>
                  <a:t>。</a:t>
                </a:r>
                <a:endParaRPr lang="en-US" altLang="zh-CN" sz="2000" dirty="0"/>
              </a:p>
              <a:p>
                <a:endParaRPr lang="en-US" altLang="zh-CN" sz="2000" dirty="0">
                  <a:solidFill>
                    <a:schemeClr val="tx1"/>
                  </a:solidFill>
                </a:endParaRPr>
              </a:p>
              <a:p>
                <a:r>
                  <a:rPr lang="zh-CN" altLang="en-US" sz="2000" dirty="0">
                    <a:solidFill>
                      <a:schemeClr val="tx1"/>
                    </a:solidFill>
                  </a:rPr>
                  <a:t>例：</a:t>
                </a:r>
                <a:r>
                  <a:rPr lang="en-US" altLang="zh-CN" sz="2000" dirty="0">
                    <a:solidFill>
                      <a:schemeClr val="tx1"/>
                    </a:solidFill>
                  </a:rPr>
                  <a:t>x</a:t>
                </a:r>
                <a:r>
                  <a:rPr lang="zh-CN" altLang="en-US" sz="2000" dirty="0">
                    <a:solidFill>
                      <a:schemeClr val="tx1"/>
                    </a:solidFill>
                  </a:rPr>
                  <a:t>：学生，</a:t>
                </a:r>
                <a:r>
                  <a:rPr lang="en-US" altLang="zh-CN" sz="2000" dirty="0">
                    <a:solidFill>
                      <a:schemeClr val="tx1"/>
                    </a:solidFill>
                  </a:rPr>
                  <a:t>P(x):x</a:t>
                </a:r>
                <a:r>
                  <a:rPr lang="zh-CN" altLang="en-US" sz="2000" dirty="0"/>
                  <a:t>选修了钢琴课。 </a:t>
                </a:r>
                <a:r>
                  <a:rPr lang="en-US" altLang="zh-CN" sz="2000" dirty="0"/>
                  <a:t>Q(x):</a:t>
                </a:r>
                <a:r>
                  <a:rPr lang="zh-CN" altLang="en-US" sz="2000" dirty="0"/>
                  <a:t> </a:t>
                </a:r>
                <a:r>
                  <a:rPr lang="en-US" altLang="zh-CN" sz="2000" dirty="0"/>
                  <a:t>x</a:t>
                </a:r>
                <a:r>
                  <a:rPr lang="zh-CN" altLang="en-US" sz="2000" dirty="0"/>
                  <a:t>选修了美术课。</a:t>
                </a:r>
                <a:endParaRPr lang="en-US" altLang="zh-CN" sz="2000" dirty="0"/>
              </a:p>
              <a:p>
                <a:endParaRPr lang="en-US" altLang="zh-CN" sz="2000" dirty="0"/>
              </a:p>
              <a:p>
                <a14:m>
                  <m:oMath xmlns:m="http://schemas.openxmlformats.org/officeDocument/2006/math">
                    <m:r>
                      <a:rPr lang="en-US" altLang="zh-CN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altLang="zh-CN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𝒙</m:t>
                    </m:r>
                    <m:d>
                      <m:dPr>
                        <m:ctrlP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𝑷</m:t>
                        </m:r>
                        <m:d>
                          <m:dPr>
                            <m:ctrlPr>
                              <a:rPr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∧</m:t>
                        </m:r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𝑸</m:t>
                        </m:r>
                        <m:d>
                          <m:dPr>
                            <m:ctrlPr>
                              <a:rPr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</m:e>
                    </m:d>
                  </m:oMath>
                </a14:m>
                <a:r>
                  <a:rPr lang="zh-CN" altLang="en-US" sz="2000" dirty="0">
                    <a:solidFill>
                      <a:schemeClr val="tx1"/>
                    </a:solidFill>
                  </a:rPr>
                  <a:t>： 为真时：全班同学都选修了钢琴课和美术课。</a:t>
                </a:r>
                <a:endParaRPr lang="en-US" altLang="zh-CN" sz="2000" dirty="0">
                  <a:solidFill>
                    <a:schemeClr val="tx1"/>
                  </a:solidFill>
                </a:endParaRPr>
              </a:p>
              <a:p>
                <a:r>
                  <a:rPr lang="en-US" altLang="zh-CN" sz="2000" dirty="0"/>
                  <a:t>		     </a:t>
                </a:r>
                <a:r>
                  <a:rPr lang="zh-CN" altLang="en-US" sz="2000" dirty="0"/>
                  <a:t>为假时：存在一个同学没有选修钢琴课或美术课。</a:t>
                </a:r>
                <a:endParaRPr lang="en-US" altLang="zh-CN" sz="2000" dirty="0"/>
              </a:p>
              <a:p>
                <a:endParaRPr lang="en-US" altLang="zh-CN" sz="2000" dirty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altLang="zh-CN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altLang="zh-CN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𝒙𝑷</m:t>
                    </m:r>
                    <m:d>
                      <m:dPr>
                        <m:ctrlPr>
                          <a:rPr lang="en-US" altLang="zh-CN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  <m:r>
                      <a:rPr lang="en-US" altLang="zh-CN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altLang="zh-CN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𝒙𝑸</m:t>
                    </m:r>
                    <m:d>
                      <m:dPr>
                        <m:ctrlP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zh-CN" altLang="en-US" sz="2000" dirty="0">
                    <a:solidFill>
                      <a:schemeClr val="tx1"/>
                    </a:solidFill>
                  </a:rPr>
                  <a:t>：为真时</a:t>
                </a:r>
                <a:r>
                  <a:rPr lang="zh-CN" altLang="en-US" sz="2000" dirty="0"/>
                  <a:t>：全班同学都选修了钢琴课，而且全班同学都选</a:t>
                </a:r>
                <a:r>
                  <a:rPr lang="en-US" altLang="zh-CN" sz="2000" dirty="0"/>
                  <a:t>		      </a:t>
                </a:r>
                <a:r>
                  <a:rPr lang="zh-CN" altLang="en-US" sz="2000" dirty="0"/>
                  <a:t>修了美术课。</a:t>
                </a:r>
                <a:endParaRPr lang="en-US" altLang="zh-CN" sz="2000" dirty="0"/>
              </a:p>
              <a:p>
                <a:r>
                  <a:rPr lang="en-US" altLang="zh-CN" sz="2000" dirty="0"/>
                  <a:t>	   	      </a:t>
                </a:r>
                <a:r>
                  <a:rPr lang="zh-CN" altLang="en-US" sz="2000" dirty="0"/>
                  <a:t>为假时：存在一个同学没选修钢琴课，或存在一个同学没             </a:t>
                </a:r>
                <a:r>
                  <a:rPr lang="en-US" altLang="zh-CN" sz="2000" dirty="0"/>
                  <a:t>		      </a:t>
                </a:r>
                <a:r>
                  <a:rPr lang="zh-CN" altLang="en-US" sz="2000" dirty="0"/>
                  <a:t>选修美术课。</a:t>
                </a:r>
                <a:endParaRPr lang="en-US" altLang="zh-CN" sz="2000" dirty="0"/>
              </a:p>
              <a:p>
                <a:r>
                  <a:rPr lang="en-US" altLang="zh-CN" sz="2000" dirty="0">
                    <a:solidFill>
                      <a:schemeClr val="tx1"/>
                    </a:solidFill>
                  </a:rPr>
                  <a:t>		</a:t>
                </a:r>
                <a:endParaRPr lang="zh-CN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447852"/>
                <a:ext cx="9296276" cy="4480457"/>
              </a:xfrm>
              <a:prstGeom prst="rect">
                <a:avLst/>
              </a:prstGeom>
              <a:blipFill rotWithShape="1">
                <a:blip r:embed="rId3"/>
                <a:stretch>
                  <a:fillRect t="-1" r="5" b="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-30474" y="5797671"/>
                <a:ext cx="4678612" cy="4049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CN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US" altLang="zh-CN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𝒙</m:t>
                      </m:r>
                      <m:d>
                        <m:d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𝑷</m:t>
                          </m:r>
                          <m:d>
                            <m:dPr>
                              <m:ctrlP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∧</m:t>
                          </m:r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𝑸</m:t>
                          </m:r>
                          <m:d>
                            <m:dPr>
                              <m:ctrlP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</m:d>
                      <m:r>
                        <a:rPr lang="en-US" altLang="zh-CN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⟺      </m:t>
                      </m:r>
                      <m:r>
                        <a:rPr lang="en-US" altLang="zh-CN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US" altLang="zh-CN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𝒙𝑷</m:t>
                      </m:r>
                      <m:d>
                        <m:dPr>
                          <m:ctrlP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altLang="zh-CN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∧∀</m:t>
                      </m:r>
                      <m:r>
                        <a:rPr lang="en-US" altLang="zh-CN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𝒙𝑸</m:t>
                      </m:r>
                      <m:r>
                        <a:rPr lang="en-US" altLang="zh-CN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zh-CN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𝒙</m:t>
                      </m:r>
                      <m:r>
                        <a:rPr lang="en-US" altLang="zh-CN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0474" y="5797671"/>
                <a:ext cx="4678612" cy="404983"/>
              </a:xfrm>
              <a:prstGeom prst="rect">
                <a:avLst/>
              </a:prstGeom>
              <a:blipFill rotWithShape="1">
                <a:blip r:embed="rId4"/>
                <a:stretch>
                  <a:fillRect l="13" t="-30" r="12" b="1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C1E6DC18-9437-4789-AE6F-73AEC16CC6F5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50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Rectangle 2"/>
              <p:cNvSpPr>
                <a:spLocks noGrp="1" noChangeArrowheads="1"/>
              </p:cNvSpPr>
              <p:nvPr>
                <p:ph type="title" idx="4294967295"/>
              </p:nvPr>
            </p:nvSpPr>
            <p:spPr>
              <a:xfrm>
                <a:off x="733425" y="731838"/>
                <a:ext cx="8334257" cy="563618"/>
              </a:xfrm>
            </p:spPr>
            <p:txBody>
              <a:bodyPr/>
              <a:lstStyle/>
              <a:p>
                <a:pPr eaLnBrk="1" hangingPunct="1"/>
                <a14:m>
                  <m:oMathPara xmlns:m="http://schemas.openxmlformats.org/officeDocument/2006/math">
                    <m:oMath>
                      <m:r>
                        <a:rPr lang="en-US" altLang="zh-CN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∃</m:t>
                      </m:r>
                      <m:r>
                        <a:rPr lang="en-US" altLang="zh-CN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𝒙</m:t>
                      </m:r>
                      <m:d>
                        <m:dPr>
                          <m:ctrlPr>
                            <a:rPr lang="en-US" altLang="zh-CN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𝑷</m:t>
                          </m:r>
                          <m:d>
                            <m:dPr>
                              <m:ctrlPr>
                                <a:rPr lang="en-US" altLang="zh-CN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  <m:r>
                            <a:rPr lang="en-US" altLang="zh-CN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∧</m:t>
                          </m:r>
                          <m:r>
                            <a:rPr lang="en-US" altLang="zh-CN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𝑸</m:t>
                          </m:r>
                          <m:d>
                            <m:dPr>
                              <m:ctrlPr>
                                <a:rPr lang="en-US" altLang="zh-CN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</m:d>
                      <m:r>
                        <a:rPr lang="en-US" altLang="zh-CN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</m:t>
                      </m:r>
                      <m:r>
                        <a:rPr lang="en-US" altLang="zh-CN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𝒗𝒔</m:t>
                      </m:r>
                      <m:r>
                        <a:rPr lang="en-US" altLang="zh-CN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</m:t>
                      </m:r>
                      <m:r>
                        <a:rPr lang="en-US" altLang="zh-CN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∃</m:t>
                      </m:r>
                      <m:r>
                        <a:rPr lang="en-US" altLang="zh-CN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𝒙𝑷</m:t>
                      </m:r>
                      <m:d>
                        <m:dPr>
                          <m:ctrlPr>
                            <a:rPr lang="en-US" altLang="zh-CN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altLang="zh-CN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∧∃</m:t>
                      </m:r>
                      <m:r>
                        <a:rPr lang="en-US" altLang="zh-CN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𝒙𝑸</m:t>
                      </m:r>
                      <m:r>
                        <a:rPr lang="en-US" altLang="zh-CN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zh-CN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𝒙</m:t>
                      </m:r>
                      <m:r>
                        <a:rPr lang="en-US" altLang="zh-CN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dirty="0">
                  <a:solidFill>
                    <a:schemeClr val="accent1"/>
                  </a:solidFill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6147" name="Rectangle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title" idx="4294967295"/>
              </p:nvPr>
            </p:nvSpPr>
            <p:spPr>
              <a:xfrm>
                <a:off x="733425" y="731838"/>
                <a:ext cx="8334257" cy="563618"/>
              </a:xfrm>
              <a:blipFill rotWithShape="1">
                <a:blip r:embed="rId2"/>
                <a:stretch>
                  <a:fillRect t="-56" r="6" b="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0" y="1447852"/>
                <a:ext cx="9296276" cy="48278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r>
                      <a:rPr lang="en-US" altLang="zh-CN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𝒙</m:t>
                    </m:r>
                    <m:d>
                      <m:dPr>
                        <m:ctrlP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𝑷</m:t>
                        </m:r>
                        <m:d>
                          <m:dPr>
                            <m:ctrlPr>
                              <a:rPr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∧</m:t>
                        </m:r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𝑸</m:t>
                        </m:r>
                        <m:d>
                          <m:dPr>
                            <m:ctrlPr>
                              <a:rPr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</m:e>
                    </m:d>
                  </m:oMath>
                </a14:m>
                <a:r>
                  <a:rPr lang="en-US" altLang="zh-CN" sz="2000" dirty="0">
                    <a:solidFill>
                      <a:schemeClr val="tx1"/>
                    </a:solidFill>
                  </a:rPr>
                  <a:t>: </a:t>
                </a:r>
                <a:r>
                  <a:rPr lang="zh-CN" altLang="en-US" sz="2000" dirty="0">
                    <a:solidFill>
                      <a:schemeClr val="tx1"/>
                    </a:solidFill>
                  </a:rPr>
                  <a:t>存在</a:t>
                </a:r>
                <a:r>
                  <a:rPr lang="en-US" altLang="zh-CN" sz="2000" dirty="0">
                    <a:solidFill>
                      <a:schemeClr val="tx1"/>
                    </a:solidFill>
                  </a:rPr>
                  <a:t>x</a:t>
                </a:r>
                <a:r>
                  <a:rPr lang="zh-CN" altLang="en-US" sz="2000" dirty="0">
                    <a:solidFill>
                      <a:schemeClr val="tx1"/>
                    </a:solidFill>
                  </a:rPr>
                  <a:t>满足</a:t>
                </a:r>
                <a:r>
                  <a:rPr lang="en-US" altLang="zh-CN" sz="2000" dirty="0">
                    <a:solidFill>
                      <a:schemeClr val="tx1"/>
                    </a:solidFill>
                  </a:rPr>
                  <a:t>P(x)</a:t>
                </a:r>
                <a:r>
                  <a:rPr lang="zh-CN" altLang="en-US" sz="2000" dirty="0">
                    <a:solidFill>
                      <a:schemeClr val="tx1"/>
                    </a:solidFill>
                  </a:rPr>
                  <a:t>和</a:t>
                </a:r>
                <a:r>
                  <a:rPr lang="en-US" altLang="zh-CN" sz="2000" dirty="0">
                    <a:solidFill>
                      <a:schemeClr val="tx1"/>
                    </a:solidFill>
                  </a:rPr>
                  <a:t>Q(x)</a:t>
                </a:r>
                <a:r>
                  <a:rPr lang="zh-CN" altLang="en-US" sz="2000" dirty="0">
                    <a:solidFill>
                      <a:schemeClr val="tx1"/>
                    </a:solidFill>
                  </a:rPr>
                  <a:t>。</a:t>
                </a:r>
                <a:endParaRPr lang="en-US" altLang="zh-CN" sz="2000" dirty="0">
                  <a:solidFill>
                    <a:schemeClr val="tx1"/>
                  </a:solidFill>
                </a:endParaRPr>
              </a:p>
              <a:p>
                <a:endParaRPr lang="en-US" altLang="zh-CN" sz="2000" dirty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r>
                      <a:rPr lang="en-US" altLang="zh-CN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𝒙𝑷</m:t>
                    </m:r>
                    <m:d>
                      <m:dPr>
                        <m:ctrlPr>
                          <a:rPr lang="en-US" altLang="zh-CN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altLang="zh-CN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∧∃</m:t>
                    </m:r>
                    <m:r>
                      <a:rPr lang="en-US" altLang="zh-CN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𝒙𝑸</m:t>
                    </m:r>
                    <m:d>
                      <m:dPr>
                        <m:ctrlP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 </m:t>
                    </m:r>
                  </m:oMath>
                </a14:m>
                <a:r>
                  <a:rPr lang="zh-CN" altLang="en-US" sz="2000" dirty="0">
                    <a:solidFill>
                      <a:schemeClr val="tx1"/>
                    </a:solidFill>
                  </a:rPr>
                  <a:t>存在</a:t>
                </a:r>
                <a:r>
                  <a:rPr lang="en-US" altLang="zh-CN" sz="2000" dirty="0">
                    <a:solidFill>
                      <a:schemeClr val="tx1"/>
                    </a:solidFill>
                  </a:rPr>
                  <a:t>x</a:t>
                </a:r>
                <a:r>
                  <a:rPr lang="zh-CN" altLang="en-US" sz="2000" dirty="0">
                    <a:solidFill>
                      <a:schemeClr val="tx1"/>
                    </a:solidFill>
                  </a:rPr>
                  <a:t>满足</a:t>
                </a:r>
                <a:r>
                  <a:rPr lang="en-US" altLang="zh-CN" sz="2000" dirty="0">
                    <a:solidFill>
                      <a:schemeClr val="tx1"/>
                    </a:solidFill>
                  </a:rPr>
                  <a:t>P(x)</a:t>
                </a:r>
                <a:r>
                  <a:rPr lang="zh-CN" altLang="en-US" sz="2000" dirty="0">
                    <a:solidFill>
                      <a:schemeClr val="tx1"/>
                    </a:solidFill>
                  </a:rPr>
                  <a:t>，而且存在</a:t>
                </a:r>
                <a:r>
                  <a:rPr lang="en-US" altLang="zh-CN" sz="2000" dirty="0">
                    <a:solidFill>
                      <a:schemeClr val="tx1"/>
                    </a:solidFill>
                  </a:rPr>
                  <a:t>x</a:t>
                </a:r>
                <a:r>
                  <a:rPr lang="zh-CN" altLang="en-US" sz="2000" dirty="0">
                    <a:solidFill>
                      <a:schemeClr val="tx1"/>
                    </a:solidFill>
                  </a:rPr>
                  <a:t>满足</a:t>
                </a:r>
                <a:r>
                  <a:rPr lang="en-US" altLang="zh-CN" sz="2000" dirty="0">
                    <a:solidFill>
                      <a:schemeClr val="tx1"/>
                    </a:solidFill>
                  </a:rPr>
                  <a:t>Q(x)</a:t>
                </a:r>
                <a:r>
                  <a:rPr lang="zh-CN" altLang="en-US" sz="2000" dirty="0">
                    <a:solidFill>
                      <a:schemeClr val="tx1"/>
                    </a:solidFill>
                  </a:rPr>
                  <a:t>。</a:t>
                </a:r>
                <a:endParaRPr lang="en-US" altLang="zh-CN" sz="2000" dirty="0">
                  <a:solidFill>
                    <a:schemeClr val="tx1"/>
                  </a:solidFill>
                </a:endParaRPr>
              </a:p>
              <a:p>
                <a:endParaRPr lang="en-US" altLang="zh-CN" sz="2000" dirty="0">
                  <a:solidFill>
                    <a:schemeClr val="tx1"/>
                  </a:solidFill>
                </a:endParaRPr>
              </a:p>
              <a:p>
                <a:r>
                  <a:rPr lang="zh-CN" altLang="en-US" sz="2000" dirty="0">
                    <a:solidFill>
                      <a:schemeClr val="tx1"/>
                    </a:solidFill>
                  </a:rPr>
                  <a:t>例：</a:t>
                </a:r>
                <a:r>
                  <a:rPr lang="en-US" altLang="zh-CN" sz="2000" dirty="0">
                    <a:solidFill>
                      <a:schemeClr val="tx1"/>
                    </a:solidFill>
                  </a:rPr>
                  <a:t>x</a:t>
                </a:r>
                <a:r>
                  <a:rPr lang="zh-CN" altLang="en-US" sz="2000" dirty="0">
                    <a:solidFill>
                      <a:schemeClr val="tx1"/>
                    </a:solidFill>
                  </a:rPr>
                  <a:t>：学生，</a:t>
                </a:r>
                <a:r>
                  <a:rPr lang="en-US" altLang="zh-CN" sz="2000" dirty="0">
                    <a:solidFill>
                      <a:schemeClr val="tx1"/>
                    </a:solidFill>
                  </a:rPr>
                  <a:t>P(x):x</a:t>
                </a:r>
                <a:r>
                  <a:rPr lang="zh-CN" altLang="en-US" sz="2000" dirty="0"/>
                  <a:t>选修了钢琴课。 </a:t>
                </a:r>
                <a:r>
                  <a:rPr lang="en-US" altLang="zh-CN" sz="2000" dirty="0"/>
                  <a:t>Q(x):</a:t>
                </a:r>
                <a:r>
                  <a:rPr lang="zh-CN" altLang="en-US" sz="2000" dirty="0"/>
                  <a:t> </a:t>
                </a:r>
                <a:r>
                  <a:rPr lang="en-US" altLang="zh-CN" sz="2000" dirty="0"/>
                  <a:t>x</a:t>
                </a:r>
                <a:r>
                  <a:rPr lang="zh-CN" altLang="en-US" sz="2000" dirty="0"/>
                  <a:t>选修了美术课。</a:t>
                </a:r>
                <a:endParaRPr lang="en-US" altLang="zh-CN" sz="2000" dirty="0"/>
              </a:p>
              <a:p>
                <a:endParaRPr lang="en-US" altLang="zh-CN" sz="2000" dirty="0"/>
              </a:p>
              <a:p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𝒙</m:t>
                    </m:r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𝑷</m:t>
                        </m:r>
                        <m:d>
                          <m:d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∧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𝑸</m:t>
                        </m:r>
                        <m:d>
                          <m:d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</m:e>
                    </m:d>
                  </m:oMath>
                </a14:m>
                <a:r>
                  <a:rPr lang="zh-CN" altLang="en-US" sz="2000" dirty="0">
                    <a:solidFill>
                      <a:schemeClr val="tx1"/>
                    </a:solidFill>
                  </a:rPr>
                  <a:t>： 为真时：存在一个同学同时选修了钢琴课和美术课。</a:t>
                </a:r>
                <a:endParaRPr lang="en-US" altLang="zh-CN" sz="2000" dirty="0">
                  <a:solidFill>
                    <a:schemeClr val="tx1"/>
                  </a:solidFill>
                </a:endParaRPr>
              </a:p>
              <a:p>
                <a:r>
                  <a:rPr lang="en-US" altLang="zh-CN" sz="2000" dirty="0"/>
                  <a:t>		     </a:t>
                </a:r>
                <a:r>
                  <a:rPr lang="zh-CN" altLang="en-US" sz="2000" dirty="0"/>
                  <a:t>为假时：没有</a:t>
                </a:r>
                <a:r>
                  <a:rPr lang="zh-CN" altLang="en-US" sz="2000" dirty="0">
                    <a:solidFill>
                      <a:schemeClr val="tx1"/>
                    </a:solidFill>
                  </a:rPr>
                  <a:t>同学同时选修钢琴课和美术课</a:t>
                </a:r>
                <a:r>
                  <a:rPr lang="zh-CN" altLang="en-US" sz="2000" dirty="0"/>
                  <a:t>。</a:t>
                </a:r>
                <a:endParaRPr lang="en-US" altLang="zh-CN" sz="2000" dirty="0"/>
              </a:p>
              <a:p>
                <a:endParaRPr lang="en-US" altLang="zh-CN" sz="2000" dirty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𝒙𝑷</m:t>
                    </m:r>
                    <m:d>
                      <m:d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∧∃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𝒙𝑸</m:t>
                    </m:r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zh-CN" altLang="en-US" sz="2000" dirty="0">
                    <a:solidFill>
                      <a:schemeClr val="tx1"/>
                    </a:solidFill>
                  </a:rPr>
                  <a:t>：为真时</a:t>
                </a:r>
                <a:r>
                  <a:rPr lang="zh-CN" altLang="en-US" sz="2000" dirty="0"/>
                  <a:t>：有同学选修钢琴课，而且有同学选修美术课。</a:t>
                </a:r>
                <a:endParaRPr lang="en-US" altLang="zh-CN" sz="2000" dirty="0"/>
              </a:p>
              <a:p>
                <a:r>
                  <a:rPr lang="en-US" altLang="zh-CN" sz="2000" dirty="0"/>
                  <a:t>	      	      </a:t>
                </a:r>
                <a:r>
                  <a:rPr lang="zh-CN" altLang="en-US" sz="2000" dirty="0"/>
                  <a:t>（未必是同一个同学）</a:t>
                </a:r>
                <a:endParaRPr lang="en-US" altLang="zh-CN" sz="2000" dirty="0"/>
              </a:p>
              <a:p>
                <a:r>
                  <a:rPr lang="en-US" altLang="zh-CN" sz="2000" dirty="0"/>
                  <a:t>	   	      </a:t>
                </a:r>
                <a:r>
                  <a:rPr lang="zh-CN" altLang="en-US" sz="2000" dirty="0"/>
                  <a:t>为假时：没有同学选修钢琴课，或者没有同学选修美术课。</a:t>
                </a:r>
                <a:endParaRPr lang="en-US" altLang="zh-CN" sz="2000" dirty="0"/>
              </a:p>
              <a:p>
                <a:endParaRPr lang="en-US" altLang="zh-CN" sz="2000" dirty="0"/>
              </a:p>
              <a:p>
                <a14:m>
                  <m:oMath xmlns:m="http://schemas.openxmlformats.org/officeDocument/2006/math">
                    <m:r>
                      <a:rPr lang="en-US" altLang="zh-CN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r>
                      <a:rPr lang="en-US" altLang="zh-CN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𝒙</m:t>
                    </m:r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𝑷</m:t>
                        </m:r>
                        <m:d>
                          <m:d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∧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𝑸</m:t>
                        </m:r>
                        <m:d>
                          <m:d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</m:e>
                    </m:d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⇎∃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𝒙𝑷</m:t>
                    </m:r>
                    <m:d>
                      <m:d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∧∃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𝒙𝑸</m:t>
                    </m:r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zh-CN" altLang="en-US" sz="2000" dirty="0"/>
                  <a:t> </a:t>
                </a:r>
              </a:p>
              <a:p>
                <a:r>
                  <a:rPr lang="en-US" altLang="zh-CN" sz="2000" dirty="0">
                    <a:solidFill>
                      <a:schemeClr val="tx1"/>
                    </a:solidFill>
                  </a:rPr>
                  <a:t>		</a:t>
                </a:r>
                <a:endParaRPr lang="zh-CN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447852"/>
                <a:ext cx="9296276" cy="4827860"/>
              </a:xfrm>
              <a:prstGeom prst="rect">
                <a:avLst/>
              </a:prstGeom>
              <a:blipFill rotWithShape="1">
                <a:blip r:embed="rId3"/>
                <a:stretch>
                  <a:fillRect t="-1" r="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C1E6DC18-9437-4789-AE6F-73AEC16CC6F5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51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Rectangle 2"/>
              <p:cNvSpPr>
                <a:spLocks noGrp="1" noChangeArrowheads="1"/>
              </p:cNvSpPr>
              <p:nvPr>
                <p:ph type="title" idx="4294967295"/>
              </p:nvPr>
            </p:nvSpPr>
            <p:spPr>
              <a:xfrm>
                <a:off x="733425" y="731838"/>
                <a:ext cx="8334257" cy="563618"/>
              </a:xfrm>
            </p:spPr>
            <p:txBody>
              <a:bodyPr/>
              <a:lstStyle/>
              <a:p>
                <a:pPr eaLnBrk="1" hangingPunct="1"/>
                <a14:m>
                  <m:oMathPara xmlns:m="http://schemas.openxmlformats.org/officeDocument/2006/math">
                    <m:oMath>
                      <m:r>
                        <a:rPr lang="en-US" altLang="zh-CN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∃</m:t>
                      </m:r>
                      <m:r>
                        <a:rPr lang="en-US" altLang="zh-CN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𝒙</m:t>
                      </m:r>
                      <m:d>
                        <m:dPr>
                          <m:ctrlPr>
                            <a:rPr lang="en-US" altLang="zh-CN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𝑷</m:t>
                          </m:r>
                          <m:d>
                            <m:dPr>
                              <m:ctrlPr>
                                <a:rPr lang="en-US" altLang="zh-CN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  <m:r>
                            <a:rPr lang="en-US" altLang="zh-CN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∨</m:t>
                          </m:r>
                          <m:r>
                            <a:rPr lang="en-US" altLang="zh-CN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𝑸</m:t>
                          </m:r>
                          <m:d>
                            <m:dPr>
                              <m:ctrlPr>
                                <a:rPr lang="en-US" altLang="zh-CN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</m:d>
                      <m:r>
                        <a:rPr lang="en-US" altLang="zh-CN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</m:t>
                      </m:r>
                      <m:r>
                        <a:rPr lang="en-US" altLang="zh-CN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𝒗𝒔</m:t>
                      </m:r>
                      <m:r>
                        <a:rPr lang="en-US" altLang="zh-CN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</m:t>
                      </m:r>
                      <m:r>
                        <a:rPr lang="en-US" altLang="zh-CN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∃</m:t>
                      </m:r>
                      <m:r>
                        <a:rPr lang="en-US" altLang="zh-CN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𝒙𝑷</m:t>
                      </m:r>
                      <m:d>
                        <m:dPr>
                          <m:ctrlPr>
                            <a:rPr lang="en-US" altLang="zh-CN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altLang="zh-CN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∨∃</m:t>
                      </m:r>
                      <m:r>
                        <a:rPr lang="en-US" altLang="zh-CN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𝒙𝑸</m:t>
                      </m:r>
                      <m:r>
                        <a:rPr lang="en-US" altLang="zh-CN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zh-CN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𝒙</m:t>
                      </m:r>
                      <m:r>
                        <a:rPr lang="en-US" altLang="zh-CN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dirty="0">
                  <a:solidFill>
                    <a:schemeClr val="accent1"/>
                  </a:solidFill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6147" name="Rectangle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title" idx="4294967295"/>
              </p:nvPr>
            </p:nvSpPr>
            <p:spPr>
              <a:xfrm>
                <a:off x="733425" y="731838"/>
                <a:ext cx="8334257" cy="563618"/>
              </a:xfrm>
              <a:blipFill rotWithShape="1">
                <a:blip r:embed="rId2"/>
                <a:stretch>
                  <a:fillRect t="-56" r="6" b="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0" y="1447852"/>
                <a:ext cx="9296276" cy="48278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r>
                      <a:rPr lang="en-US" altLang="zh-CN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𝒙</m:t>
                    </m:r>
                    <m:d>
                      <m:dPr>
                        <m:ctrlP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𝑷</m:t>
                        </m:r>
                        <m:d>
                          <m:dPr>
                            <m:ctrlPr>
                              <a:rPr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∨</m:t>
                        </m:r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𝑸</m:t>
                        </m:r>
                        <m:d>
                          <m:dPr>
                            <m:ctrlPr>
                              <a:rPr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</m:e>
                    </m:d>
                  </m:oMath>
                </a14:m>
                <a:r>
                  <a:rPr lang="en-US" altLang="zh-CN" sz="2000" dirty="0">
                    <a:solidFill>
                      <a:schemeClr val="tx1"/>
                    </a:solidFill>
                  </a:rPr>
                  <a:t>: </a:t>
                </a:r>
                <a:r>
                  <a:rPr lang="zh-CN" altLang="en-US" sz="2000" dirty="0">
                    <a:solidFill>
                      <a:schemeClr val="tx1"/>
                    </a:solidFill>
                  </a:rPr>
                  <a:t>存在</a:t>
                </a:r>
                <a:r>
                  <a:rPr lang="en-US" altLang="zh-CN" sz="2000" dirty="0">
                    <a:solidFill>
                      <a:schemeClr val="tx1"/>
                    </a:solidFill>
                  </a:rPr>
                  <a:t>x</a:t>
                </a:r>
                <a:r>
                  <a:rPr lang="zh-CN" altLang="en-US" sz="2000" dirty="0">
                    <a:solidFill>
                      <a:schemeClr val="tx1"/>
                    </a:solidFill>
                  </a:rPr>
                  <a:t>满足</a:t>
                </a:r>
                <a:r>
                  <a:rPr lang="en-US" altLang="zh-CN" sz="2000" dirty="0">
                    <a:solidFill>
                      <a:schemeClr val="tx1"/>
                    </a:solidFill>
                  </a:rPr>
                  <a:t>P(x)</a:t>
                </a:r>
                <a:r>
                  <a:rPr lang="zh-CN" altLang="en-US" sz="2000" dirty="0"/>
                  <a:t>或</a:t>
                </a:r>
                <a:r>
                  <a:rPr lang="en-US" altLang="zh-CN" sz="2000" dirty="0">
                    <a:solidFill>
                      <a:schemeClr val="tx1"/>
                    </a:solidFill>
                  </a:rPr>
                  <a:t>Q(x)</a:t>
                </a:r>
                <a:r>
                  <a:rPr lang="zh-CN" altLang="en-US" sz="2000" dirty="0">
                    <a:solidFill>
                      <a:schemeClr val="tx1"/>
                    </a:solidFill>
                  </a:rPr>
                  <a:t>。</a:t>
                </a:r>
                <a:endParaRPr lang="en-US" altLang="zh-CN" sz="2000" dirty="0">
                  <a:solidFill>
                    <a:schemeClr val="tx1"/>
                  </a:solidFill>
                </a:endParaRPr>
              </a:p>
              <a:p>
                <a:endParaRPr lang="en-US" altLang="zh-CN" sz="2000" dirty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altLang="zh-CN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r>
                      <a:rPr lang="en-US" altLang="zh-CN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𝒙𝑷</m:t>
                    </m:r>
                    <m:d>
                      <m:dPr>
                        <m:ctrlPr>
                          <a:rPr lang="en-US" altLang="zh-CN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altLang="zh-CN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∨∃</m:t>
                    </m:r>
                    <m:r>
                      <a:rPr lang="en-US" altLang="zh-CN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𝒙𝑸</m:t>
                    </m:r>
                    <m:d>
                      <m:dPr>
                        <m:ctrlP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en-US" altLang="zh-CN" sz="2000" dirty="0">
                    <a:solidFill>
                      <a:schemeClr val="tx1"/>
                    </a:solidFill>
                  </a:rPr>
                  <a:t>:</a:t>
                </a:r>
                <a:r>
                  <a:rPr lang="zh-CN" altLang="en-US" sz="2000" dirty="0">
                    <a:solidFill>
                      <a:schemeClr val="tx1"/>
                    </a:solidFill>
                  </a:rPr>
                  <a:t>存在</a:t>
                </a:r>
                <a:r>
                  <a:rPr lang="en-US" altLang="zh-CN" sz="2000" dirty="0">
                    <a:solidFill>
                      <a:schemeClr val="tx1"/>
                    </a:solidFill>
                  </a:rPr>
                  <a:t>x</a:t>
                </a:r>
                <a:r>
                  <a:rPr lang="zh-CN" altLang="en-US" sz="2000" dirty="0">
                    <a:solidFill>
                      <a:schemeClr val="tx1"/>
                    </a:solidFill>
                  </a:rPr>
                  <a:t>满足</a:t>
                </a:r>
                <a:r>
                  <a:rPr lang="en-US" altLang="zh-CN" sz="2000" dirty="0">
                    <a:solidFill>
                      <a:schemeClr val="tx1"/>
                    </a:solidFill>
                  </a:rPr>
                  <a:t>P(x)</a:t>
                </a:r>
                <a:r>
                  <a:rPr lang="zh-CN" altLang="en-US" sz="2000" dirty="0">
                    <a:solidFill>
                      <a:schemeClr val="tx1"/>
                    </a:solidFill>
                  </a:rPr>
                  <a:t>，或存在</a:t>
                </a:r>
                <a:r>
                  <a:rPr lang="en-US" altLang="zh-CN" sz="2000" dirty="0">
                    <a:solidFill>
                      <a:schemeClr val="tx1"/>
                    </a:solidFill>
                  </a:rPr>
                  <a:t>x</a:t>
                </a:r>
                <a:r>
                  <a:rPr lang="zh-CN" altLang="en-US" sz="2000" dirty="0">
                    <a:solidFill>
                      <a:schemeClr val="tx1"/>
                    </a:solidFill>
                  </a:rPr>
                  <a:t>满足</a:t>
                </a:r>
                <a:r>
                  <a:rPr lang="en-US" altLang="zh-CN" sz="2000" dirty="0">
                    <a:solidFill>
                      <a:schemeClr val="tx1"/>
                    </a:solidFill>
                  </a:rPr>
                  <a:t>Q(x)</a:t>
                </a:r>
                <a:r>
                  <a:rPr lang="zh-CN" altLang="en-US" sz="2000" dirty="0">
                    <a:solidFill>
                      <a:schemeClr val="tx1"/>
                    </a:solidFill>
                  </a:rPr>
                  <a:t>。</a:t>
                </a:r>
                <a:endParaRPr lang="en-US" altLang="zh-CN" sz="2000" dirty="0">
                  <a:solidFill>
                    <a:schemeClr val="tx1"/>
                  </a:solidFill>
                </a:endParaRPr>
              </a:p>
              <a:p>
                <a:endParaRPr lang="en-US" altLang="zh-CN" sz="2000" dirty="0">
                  <a:solidFill>
                    <a:schemeClr val="tx1"/>
                  </a:solidFill>
                </a:endParaRPr>
              </a:p>
              <a:p>
                <a:r>
                  <a:rPr lang="zh-CN" altLang="en-US" sz="2000" dirty="0">
                    <a:solidFill>
                      <a:schemeClr val="tx1"/>
                    </a:solidFill>
                  </a:rPr>
                  <a:t>例：</a:t>
                </a:r>
                <a:r>
                  <a:rPr lang="en-US" altLang="zh-CN" sz="2000" dirty="0">
                    <a:solidFill>
                      <a:schemeClr val="tx1"/>
                    </a:solidFill>
                  </a:rPr>
                  <a:t>x</a:t>
                </a:r>
                <a:r>
                  <a:rPr lang="zh-CN" altLang="en-US" sz="2000" dirty="0">
                    <a:solidFill>
                      <a:schemeClr val="tx1"/>
                    </a:solidFill>
                  </a:rPr>
                  <a:t>：学生，</a:t>
                </a:r>
                <a:r>
                  <a:rPr lang="en-US" altLang="zh-CN" sz="2000" dirty="0">
                    <a:solidFill>
                      <a:schemeClr val="tx1"/>
                    </a:solidFill>
                  </a:rPr>
                  <a:t>P(x):x</a:t>
                </a:r>
                <a:r>
                  <a:rPr lang="zh-CN" altLang="en-US" sz="2000" dirty="0"/>
                  <a:t>选修了钢琴课。 </a:t>
                </a:r>
                <a:r>
                  <a:rPr lang="en-US" altLang="zh-CN" sz="2000" dirty="0"/>
                  <a:t>Q(x):</a:t>
                </a:r>
                <a:r>
                  <a:rPr lang="zh-CN" altLang="en-US" sz="2000" dirty="0"/>
                  <a:t> </a:t>
                </a:r>
                <a:r>
                  <a:rPr lang="en-US" altLang="zh-CN" sz="2000" dirty="0"/>
                  <a:t>x</a:t>
                </a:r>
                <a:r>
                  <a:rPr lang="zh-CN" altLang="en-US" sz="2000" dirty="0"/>
                  <a:t>选修了美术课。</a:t>
                </a:r>
                <a:endParaRPr lang="en-US" altLang="zh-CN" sz="2000" dirty="0"/>
              </a:p>
              <a:p>
                <a:endParaRPr lang="en-US" altLang="zh-CN" sz="2000" dirty="0"/>
              </a:p>
              <a:p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𝒙</m:t>
                    </m:r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𝑷</m:t>
                        </m:r>
                        <m:d>
                          <m:d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∨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𝑸</m:t>
                        </m:r>
                        <m:d>
                          <m:d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</m:e>
                    </m:d>
                  </m:oMath>
                </a14:m>
                <a:r>
                  <a:rPr lang="zh-CN" altLang="en-US" sz="2000" dirty="0">
                    <a:solidFill>
                      <a:schemeClr val="tx1"/>
                    </a:solidFill>
                  </a:rPr>
                  <a:t>： 为真时：有同学选修了钢琴课或美术课。</a:t>
                </a:r>
                <a:endParaRPr lang="en-US" altLang="zh-CN" sz="2000" dirty="0">
                  <a:solidFill>
                    <a:schemeClr val="tx1"/>
                  </a:solidFill>
                </a:endParaRPr>
              </a:p>
              <a:p>
                <a:r>
                  <a:rPr lang="en-US" altLang="zh-CN" sz="2000" dirty="0"/>
                  <a:t>		     </a:t>
                </a:r>
                <a:r>
                  <a:rPr lang="zh-CN" altLang="en-US" sz="2000" dirty="0"/>
                  <a:t>为假时：所有同学都没有选修钢琴课或美术课。</a:t>
                </a:r>
                <a:endParaRPr lang="en-US" altLang="zh-CN" sz="2000" dirty="0"/>
              </a:p>
              <a:p>
                <a:endParaRPr lang="en-US" altLang="zh-CN" sz="2000" dirty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𝒙𝑷</m:t>
                    </m:r>
                    <m:d>
                      <m:d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∨∃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𝒙𝑸</m:t>
                    </m:r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zh-CN" altLang="en-US" sz="2000" dirty="0">
                    <a:solidFill>
                      <a:schemeClr val="tx1"/>
                    </a:solidFill>
                  </a:rPr>
                  <a:t>：为真时</a:t>
                </a:r>
                <a:r>
                  <a:rPr lang="zh-CN" altLang="en-US" sz="2000" dirty="0"/>
                  <a:t>：有同学选修钢琴课，或有同学选修美术课。</a:t>
                </a:r>
                <a:endParaRPr lang="en-US" altLang="zh-CN" sz="2000" dirty="0"/>
              </a:p>
              <a:p>
                <a:r>
                  <a:rPr lang="en-US" altLang="zh-CN" sz="2000" dirty="0"/>
                  <a:t>	   	     </a:t>
                </a:r>
                <a:r>
                  <a:rPr lang="zh-CN" altLang="en-US" sz="2000" dirty="0"/>
                  <a:t>为假时：所有同学都没有选修钢琴课，而且所有同学都没有选              </a:t>
                </a:r>
                <a:r>
                  <a:rPr lang="en-US" altLang="zh-CN" sz="2000" dirty="0"/>
                  <a:t>	                  </a:t>
                </a:r>
                <a:r>
                  <a:rPr lang="zh-CN" altLang="en-US" sz="2000" dirty="0"/>
                  <a:t>修美术课。</a:t>
                </a:r>
                <a:endParaRPr lang="en-US" altLang="zh-CN" sz="2000" dirty="0"/>
              </a:p>
              <a:p>
                <a:endParaRPr lang="en-US" altLang="zh-CN" sz="2000" dirty="0"/>
              </a:p>
              <a:p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𝒙</m:t>
                    </m:r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𝑷</m:t>
                        </m:r>
                        <m:d>
                          <m:d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∨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𝑸</m:t>
                        </m:r>
                        <m:d>
                          <m:d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</m:e>
                    </m:d>
                    <m:r>
                      <a:rPr lang="en-US" altLang="zh-CN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⟺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𝒙𝑷</m:t>
                    </m:r>
                    <m:d>
                      <m:d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∨∃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𝒙𝑸</m:t>
                    </m:r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zh-CN" altLang="en-US" sz="2000" dirty="0"/>
                  <a:t> </a:t>
                </a:r>
              </a:p>
              <a:p>
                <a:r>
                  <a:rPr lang="en-US" altLang="zh-CN" sz="2000" dirty="0">
                    <a:solidFill>
                      <a:schemeClr val="tx1"/>
                    </a:solidFill>
                  </a:rPr>
                  <a:t>		</a:t>
                </a:r>
                <a:endParaRPr lang="zh-CN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447852"/>
                <a:ext cx="9296276" cy="4827860"/>
              </a:xfrm>
              <a:prstGeom prst="rect">
                <a:avLst/>
              </a:prstGeom>
              <a:blipFill rotWithShape="1">
                <a:blip r:embed="rId3"/>
                <a:stretch>
                  <a:fillRect t="-1" r="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灯片编号占位符 3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B035EA3A-6F09-44A3-AE04-064A07F616B7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52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67587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83C63716-5505-481B-BE74-3ABB656DB479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52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6554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800">
                <a:ea typeface="宋体" panose="02010600030101010101" pitchFamily="2" charset="-122"/>
              </a:rPr>
              <a:t>练习</a:t>
            </a:r>
          </a:p>
        </p:txBody>
      </p:sp>
      <p:sp>
        <p:nvSpPr>
          <p:cNvPr id="65542" name="矩形 2"/>
          <p:cNvSpPr>
            <a:spLocks noChangeArrowheads="1"/>
          </p:cNvSpPr>
          <p:nvPr/>
        </p:nvSpPr>
        <p:spPr bwMode="auto">
          <a:xfrm>
            <a:off x="533400" y="1905000"/>
            <a:ext cx="5749290" cy="3810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1"/>
            </a:solidFill>
            <a:round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800" dirty="0"/>
              <a:t>7. </a:t>
            </a:r>
            <a:r>
              <a:rPr lang="zh-CN" altLang="en-US" sz="1800" dirty="0"/>
              <a:t>下列哪个表达式是错误的？（）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rcRect t="22472"/>
          <a:stretch>
            <a:fillRect/>
          </a:stretch>
        </p:blipFill>
        <p:spPr>
          <a:xfrm>
            <a:off x="533400" y="2362200"/>
            <a:ext cx="8077200" cy="157734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灯片编号占位符 3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CE83F8D5-BD54-4311-8577-AE725A0136D3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53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67587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A3AAA56D-870E-4D1F-BEBF-61B9E851A2F3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53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6758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800">
                <a:ea typeface="宋体" panose="02010600030101010101" pitchFamily="2" charset="-122"/>
              </a:rPr>
              <a:t>练习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rcRect t="30303"/>
          <a:stretch>
            <a:fillRect/>
          </a:stretch>
        </p:blipFill>
        <p:spPr>
          <a:xfrm>
            <a:off x="462915" y="2209800"/>
            <a:ext cx="8077200" cy="1226820"/>
          </a:xfrm>
          <a:prstGeom prst="rect">
            <a:avLst/>
          </a:prstGeom>
        </p:spPr>
      </p:pic>
      <p:sp>
        <p:nvSpPr>
          <p:cNvPr id="65542" name="矩形 2"/>
          <p:cNvSpPr>
            <a:spLocks noChangeArrowheads="1"/>
          </p:cNvSpPr>
          <p:nvPr/>
        </p:nvSpPr>
        <p:spPr bwMode="auto">
          <a:xfrm>
            <a:off x="533400" y="1905000"/>
            <a:ext cx="5749290" cy="3810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1"/>
            </a:solidFill>
            <a:round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800" dirty="0"/>
              <a:t>8. </a:t>
            </a:r>
            <a:r>
              <a:rPr lang="zh-CN" altLang="en-US" sz="1800" dirty="0"/>
              <a:t>下列哪个表达式是错误的？（）</a:t>
            </a:r>
          </a:p>
        </p:txBody>
      </p:sp>
    </p:spTree>
    <p:extLst>
      <p:ext uri="{BB962C8B-B14F-4D97-AF65-F5344CB8AC3E}">
        <p14:creationId xmlns:p14="http://schemas.microsoft.com/office/powerpoint/2010/main" val="400451008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灯片编号占位符 3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128BDC2B-95DA-41C1-984D-A2F37CA43E70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54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67587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AC784C40-C8AE-491C-80F9-361626F4B1BC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54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8602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800">
                <a:ea typeface="宋体" panose="02010600030101010101" pitchFamily="2" charset="-122"/>
              </a:rPr>
              <a:t>练习</a:t>
            </a:r>
          </a:p>
        </p:txBody>
      </p:sp>
      <p:sp>
        <p:nvSpPr>
          <p:cNvPr id="65542" name="矩形 2"/>
          <p:cNvSpPr>
            <a:spLocks noChangeArrowheads="1"/>
          </p:cNvSpPr>
          <p:nvPr/>
        </p:nvSpPr>
        <p:spPr bwMode="auto">
          <a:xfrm>
            <a:off x="533400" y="1600200"/>
            <a:ext cx="5749290" cy="3810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1"/>
            </a:solidFill>
            <a:round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800" dirty="0"/>
              <a:t>9. </a:t>
            </a:r>
            <a:r>
              <a:rPr lang="zh-CN" altLang="en-US" sz="1800" dirty="0"/>
              <a:t>下列哪个表达式是错误的？（）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rcRect t="32684"/>
          <a:stretch>
            <a:fillRect/>
          </a:stretch>
        </p:blipFill>
        <p:spPr>
          <a:xfrm>
            <a:off x="457200" y="2057400"/>
            <a:ext cx="8077200" cy="118491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988B7489-751E-48F2-8706-34863633D14F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55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48131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  <p:grpSp>
        <p:nvGrpSpPr>
          <p:cNvPr id="48132" name="Group 3"/>
          <p:cNvGrpSpPr/>
          <p:nvPr/>
        </p:nvGrpSpPr>
        <p:grpSpPr bwMode="auto">
          <a:xfrm>
            <a:off x="1981200" y="2819400"/>
            <a:ext cx="5029200" cy="2438400"/>
            <a:chOff x="0" y="0"/>
            <a:chExt cx="1889" cy="1009"/>
          </a:xfrm>
        </p:grpSpPr>
        <p:grpSp>
          <p:nvGrpSpPr>
            <p:cNvPr id="48134" name="Group 4"/>
            <p:cNvGrpSpPr/>
            <p:nvPr/>
          </p:nvGrpSpPr>
          <p:grpSpPr bwMode="auto">
            <a:xfrm>
              <a:off x="0" y="90"/>
              <a:ext cx="1889" cy="919"/>
              <a:chOff x="0" y="0"/>
              <a:chExt cx="1926" cy="937"/>
            </a:xfrm>
          </p:grpSpPr>
          <p:sp>
            <p:nvSpPr>
              <p:cNvPr id="48139" name="Oval 5"/>
              <p:cNvSpPr>
                <a:spLocks noChangeArrowheads="1"/>
              </p:cNvSpPr>
              <p:nvPr/>
            </p:nvSpPr>
            <p:spPr bwMode="auto">
              <a:xfrm>
                <a:off x="21" y="30"/>
                <a:ext cx="1905" cy="90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4A4A7C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/>
              </a:p>
            </p:txBody>
          </p:sp>
          <p:sp>
            <p:nvSpPr>
              <p:cNvPr id="48140" name="Oval 6"/>
              <p:cNvSpPr>
                <a:spLocks noChangeArrowheads="1"/>
              </p:cNvSpPr>
              <p:nvPr/>
            </p:nvSpPr>
            <p:spPr bwMode="auto">
              <a:xfrm>
                <a:off x="0" y="0"/>
                <a:ext cx="1905" cy="907"/>
              </a:xfrm>
              <a:prstGeom prst="ellipse">
                <a:avLst/>
              </a:prstGeom>
              <a:gradFill rotWithShape="1">
                <a:gsLst>
                  <a:gs pos="0">
                    <a:srgbClr val="D2D2FF"/>
                  </a:gs>
                  <a:gs pos="100000">
                    <a:schemeClr val="hlink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/>
              </a:p>
            </p:txBody>
          </p:sp>
        </p:grpSp>
        <p:sp>
          <p:nvSpPr>
            <p:cNvPr id="48135" name="Oval 7"/>
            <p:cNvSpPr>
              <a:spLocks noChangeArrowheads="1"/>
            </p:cNvSpPr>
            <p:nvPr/>
          </p:nvSpPr>
          <p:spPr bwMode="auto">
            <a:xfrm>
              <a:off x="89" y="0"/>
              <a:ext cx="1691" cy="845"/>
            </a:xfrm>
            <a:prstGeom prst="ellipse">
              <a:avLst/>
            </a:prstGeom>
            <a:gradFill rotWithShape="1">
              <a:gsLst>
                <a:gs pos="0">
                  <a:srgbClr val="37556B"/>
                </a:gs>
                <a:gs pos="100000">
                  <a:schemeClr val="accent1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eaVert"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/>
            </a:p>
          </p:txBody>
        </p:sp>
        <p:sp>
          <p:nvSpPr>
            <p:cNvPr id="48136" name="Oval 8"/>
            <p:cNvSpPr>
              <a:spLocks noChangeArrowheads="1"/>
            </p:cNvSpPr>
            <p:nvPr/>
          </p:nvSpPr>
          <p:spPr bwMode="auto">
            <a:xfrm>
              <a:off x="111" y="5"/>
              <a:ext cx="1650" cy="824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alpha val="0"/>
                  </a:schemeClr>
                </a:gs>
                <a:gs pos="100000">
                  <a:srgbClr val="D0E6F7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eaVert"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/>
            </a:p>
          </p:txBody>
        </p:sp>
        <p:sp>
          <p:nvSpPr>
            <p:cNvPr id="48137" name="Oval 9"/>
            <p:cNvSpPr>
              <a:spLocks noChangeArrowheads="1"/>
            </p:cNvSpPr>
            <p:nvPr/>
          </p:nvSpPr>
          <p:spPr bwMode="auto">
            <a:xfrm>
              <a:off x="128" y="13"/>
              <a:ext cx="1570" cy="770"/>
            </a:xfrm>
            <a:prstGeom prst="ellipse">
              <a:avLst/>
            </a:prstGeom>
            <a:gradFill rotWithShape="1">
              <a:gsLst>
                <a:gs pos="0">
                  <a:srgbClr val="5E91B7"/>
                </a:gs>
                <a:gs pos="100000">
                  <a:schemeClr val="accent1">
                    <a:alpha val="48000"/>
                  </a:schemeClr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eaVert"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/>
            </a:p>
          </p:txBody>
        </p:sp>
        <p:sp>
          <p:nvSpPr>
            <p:cNvPr id="48138" name="Oval 10"/>
            <p:cNvSpPr>
              <a:spLocks noChangeArrowheads="1"/>
            </p:cNvSpPr>
            <p:nvPr/>
          </p:nvSpPr>
          <p:spPr bwMode="auto">
            <a:xfrm>
              <a:off x="211" y="30"/>
              <a:ext cx="1382" cy="624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chemeClr val="accent1">
                    <a:alpha val="37999"/>
                  </a:schemeClr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eaVert"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/>
            </a:p>
          </p:txBody>
        </p:sp>
      </p:grpSp>
      <p:sp>
        <p:nvSpPr>
          <p:cNvPr id="48133" name="Rectangle 11"/>
          <p:cNvSpPr>
            <a:spLocks noGrp="1" noChangeArrowheads="1"/>
          </p:cNvSpPr>
          <p:nvPr>
            <p:ph type="body" idx="4294967295"/>
          </p:nvPr>
        </p:nvSpPr>
        <p:spPr>
          <a:xfrm>
            <a:off x="2209800" y="3505200"/>
            <a:ext cx="4572000" cy="685800"/>
          </a:xfrm>
        </p:spPr>
        <p:txBody>
          <a:bodyPr/>
          <a:lstStyle/>
          <a:p>
            <a:pPr algn="ctr">
              <a:spcBef>
                <a:spcPct val="0"/>
              </a:spcBef>
              <a:buClrTx/>
              <a:buFont typeface="Wingdings" panose="05000000000000000000" pitchFamily="2" charset="2"/>
              <a:buNone/>
            </a:pPr>
            <a:r>
              <a:rPr lang="zh-CN" altLang="en-US" b="1">
                <a:sym typeface="+mn-ea"/>
              </a:rPr>
              <a:t>自然语言至逻辑表达式</a:t>
            </a:r>
            <a:endParaRPr lang="en-US" altLang="zh-CN" b="1"/>
          </a:p>
          <a:p>
            <a:pPr algn="ctr">
              <a:spcBef>
                <a:spcPct val="0"/>
              </a:spcBef>
              <a:buClrTx/>
              <a:buFont typeface="Wingdings" panose="05000000000000000000" pitchFamily="2" charset="2"/>
              <a:buNone/>
            </a:pPr>
            <a:endParaRPr lang="en-US" altLang="zh-CN" b="1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DFDE8BC3-F0A7-4091-B919-4A5334EF97D6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56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49155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800">
                <a:ea typeface="宋体" panose="02010600030101010101" pitchFamily="2" charset="-122"/>
              </a:rPr>
              <a:t>例 12</a:t>
            </a:r>
          </a:p>
        </p:txBody>
      </p:sp>
      <p:sp>
        <p:nvSpPr>
          <p:cNvPr id="49156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en-US" altLang="zh-CN" dirty="0" err="1">
                <a:ea typeface="宋体" panose="02010600030101010101" pitchFamily="2" charset="-122"/>
              </a:rPr>
              <a:t>用谓词和量词表达</a:t>
            </a:r>
            <a:r>
              <a:rPr lang="en-US" altLang="zh-CN" dirty="0">
                <a:ea typeface="宋体" panose="02010600030101010101" pitchFamily="2" charset="-122"/>
              </a:rPr>
              <a:t> "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</a:rPr>
              <a:t>这个班的每个学生都学过微积分</a:t>
            </a:r>
            <a:r>
              <a:rPr lang="en-US" altLang="zh-CN" dirty="0">
                <a:ea typeface="宋体" panose="02010600030101010101" pitchFamily="2" charset="-122"/>
              </a:rPr>
              <a:t>"。</a:t>
            </a:r>
          </a:p>
          <a:p>
            <a:pPr eaLnBrk="1" hangingPunct="1"/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“x 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</a:rPr>
              <a:t>属于</a:t>
            </a:r>
            <a:r>
              <a:rPr lang="zh-CN" altLang="en-US" dirty="0">
                <a:solidFill>
                  <a:srgbClr val="000000"/>
                </a:solidFill>
                <a:ea typeface="宋体" panose="02010600030101010101" pitchFamily="2" charset="-122"/>
              </a:rPr>
              <a:t>班上的学生</a:t>
            </a:r>
            <a:r>
              <a:rPr lang="en-US" altLang="zh-CN" dirty="0">
                <a:ea typeface="宋体" panose="02010600030101010101" pitchFamily="2" charset="-122"/>
              </a:rPr>
              <a:t>"，</a:t>
            </a:r>
            <a:r>
              <a:rPr lang="en-US" altLang="zh-CN" dirty="0" err="1">
                <a:ea typeface="宋体" panose="02010600030101010101" pitchFamily="2" charset="-122"/>
              </a:rPr>
              <a:t>表示为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S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)</a:t>
            </a:r>
          </a:p>
          <a:p>
            <a:pPr eaLnBrk="1" hangingPunct="1"/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"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</a:rPr>
              <a:t>x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</a:rPr>
              <a:t>学过微积分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"</a:t>
            </a:r>
            <a:r>
              <a:rPr lang="en-US" altLang="zh-CN" dirty="0">
                <a:ea typeface="宋体" panose="02010600030101010101" pitchFamily="2" charset="-122"/>
              </a:rPr>
              <a:t>，</a:t>
            </a:r>
            <a:r>
              <a:rPr lang="en-US" altLang="zh-CN" dirty="0" err="1">
                <a:ea typeface="宋体" panose="02010600030101010101" pitchFamily="2" charset="-122"/>
              </a:rPr>
              <a:t>用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)</a:t>
            </a:r>
            <a:r>
              <a:rPr lang="en-US" altLang="zh-CN" dirty="0" err="1">
                <a:ea typeface="宋体" panose="02010600030101010101" pitchFamily="2" charset="-122"/>
              </a:rPr>
              <a:t>表示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 err="1">
                <a:ea typeface="宋体" panose="02010600030101010101" pitchFamily="2" charset="-122"/>
              </a:rPr>
              <a:t>这句话可以表述为</a:t>
            </a:r>
            <a:endParaRPr lang="en-US" altLang="zh-CN" dirty="0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36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</a:t>
            </a:r>
            <a:r>
              <a:rPr lang="en-US" altLang="zh-CN" sz="3600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 </a:t>
            </a:r>
            <a:r>
              <a:rPr lang="en-US" altLang="zh-CN" sz="3600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3600" i="1" dirty="0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S</a:t>
            </a:r>
            <a:r>
              <a:rPr lang="en-US" altLang="zh-CN" sz="3600" dirty="0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(</a:t>
            </a:r>
            <a:r>
              <a:rPr lang="en-US" altLang="zh-CN" sz="3600" i="1" dirty="0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x</a:t>
            </a:r>
            <a:r>
              <a:rPr lang="en-US" altLang="zh-CN" sz="3600" dirty="0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) </a:t>
            </a:r>
            <a:r>
              <a:rPr lang="en-US" altLang="zh-CN" sz="36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3600" i="1" dirty="0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C</a:t>
            </a:r>
            <a:r>
              <a:rPr lang="en-US" altLang="zh-CN" sz="3600" dirty="0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(</a:t>
            </a:r>
            <a:r>
              <a:rPr lang="en-US" altLang="zh-CN" sz="3600" i="1" dirty="0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x</a:t>
            </a:r>
            <a:r>
              <a:rPr lang="en-US" altLang="zh-CN" sz="3600" dirty="0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)</a:t>
            </a:r>
            <a:r>
              <a:rPr lang="en-US" altLang="zh-CN" sz="3600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</a:p>
          <a:p>
            <a:pPr eaLnBrk="1" hangingPunct="1"/>
            <a:r>
              <a:rPr lang="en-US" altLang="zh-CN" sz="3600" dirty="0" err="1">
                <a:ea typeface="宋体" panose="02010600030101010101" pitchFamily="2" charset="-122"/>
                <a:sym typeface="Symbol" panose="05050102010706020507" pitchFamily="18" charset="2"/>
              </a:rPr>
              <a:t>但不是</a:t>
            </a:r>
            <a:r>
              <a:rPr lang="en-US" altLang="zh-CN" sz="3600" dirty="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36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</a:t>
            </a:r>
            <a:r>
              <a:rPr lang="en-US" altLang="zh-CN" sz="3600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 </a:t>
            </a:r>
            <a:r>
              <a:rPr lang="en-US" altLang="zh-CN" sz="3600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3600" i="1" dirty="0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S</a:t>
            </a:r>
            <a:r>
              <a:rPr lang="en-US" altLang="zh-CN" sz="3600" dirty="0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(</a:t>
            </a:r>
            <a:r>
              <a:rPr lang="en-US" altLang="zh-CN" sz="3600" i="1" dirty="0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x</a:t>
            </a:r>
            <a:r>
              <a:rPr lang="en-US" altLang="zh-CN" sz="3600" dirty="0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) </a:t>
            </a:r>
            <a:r>
              <a:rPr lang="en-US" altLang="zh-CN" sz="36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</a:t>
            </a:r>
            <a:r>
              <a:rPr lang="en-US" altLang="zh-CN" sz="3600" dirty="0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 </a:t>
            </a:r>
            <a:r>
              <a:rPr lang="en-US" altLang="zh-CN" sz="3600" i="1" dirty="0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C</a:t>
            </a:r>
            <a:r>
              <a:rPr lang="en-US" altLang="zh-CN" sz="3600" dirty="0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(</a:t>
            </a:r>
            <a:r>
              <a:rPr lang="en-US" altLang="zh-CN" sz="3600" i="1" dirty="0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x</a:t>
            </a:r>
            <a:r>
              <a:rPr lang="en-US" altLang="zh-CN" sz="3600" dirty="0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)</a:t>
            </a:r>
            <a:r>
              <a:rPr lang="en-US" altLang="zh-CN" sz="3600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4C6CAF92-2D34-450C-B7B6-1AA07E1AF8BD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57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50179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  <p:sp>
        <p:nvSpPr>
          <p:cNvPr id="50180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419225"/>
            <a:ext cx="8382000" cy="4879975"/>
          </a:xfrm>
        </p:spPr>
        <p:txBody>
          <a:bodyPr/>
          <a:lstStyle/>
          <a:p>
            <a:pPr eaLnBrk="1" hangingPunct="1"/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</a:rPr>
              <a:t>"</a:t>
            </a:r>
            <a:r>
              <a:rPr lang="en-US" altLang="zh-CN" i="1">
                <a:solidFill>
                  <a:srgbClr val="000000"/>
                </a:solidFill>
                <a:ea typeface="宋体" panose="02010600030101010101" pitchFamily="2" charset="-122"/>
              </a:rPr>
              <a:t>x</a:t>
            </a: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</a:rPr>
              <a:t>学习了y科目 "</a:t>
            </a:r>
            <a:r>
              <a:rPr lang="en-US" altLang="zh-CN">
                <a:ea typeface="宋体" panose="02010600030101010101" pitchFamily="2" charset="-122"/>
              </a:rPr>
              <a:t>表示为</a:t>
            </a:r>
            <a:r>
              <a:rPr lang="en-US" altLang="zh-CN" i="1">
                <a:solidFill>
                  <a:srgbClr val="000000"/>
                </a:solidFill>
                <a:ea typeface="宋体" panose="02010600030101010101" pitchFamily="2" charset="-122"/>
              </a:rPr>
              <a:t>Q</a:t>
            </a: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</a:rPr>
              <a:t>(</a:t>
            </a:r>
            <a:r>
              <a:rPr lang="en-US" altLang="zh-CN" i="1">
                <a:solidFill>
                  <a:srgbClr val="000000"/>
                </a:solidFill>
                <a:ea typeface="宋体" panose="02010600030101010101" pitchFamily="2" charset="-122"/>
              </a:rPr>
              <a:t>x,y</a:t>
            </a: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</a:rPr>
              <a:t>)</a:t>
            </a:r>
          </a:p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"</a:t>
            </a: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</a:rPr>
              <a:t>班上每个学生都学过微积分</a:t>
            </a:r>
            <a:r>
              <a:rPr lang="en-US" altLang="zh-CN">
                <a:ea typeface="宋体" panose="02010600030101010101" pitchFamily="2" charset="-122"/>
              </a:rPr>
              <a:t>"</a:t>
            </a:r>
          </a:p>
          <a:p>
            <a:pPr eaLnBrk="1" hangingPunct="1"/>
            <a:r>
              <a:rPr lang="en-US" altLang="zh-CN" sz="3600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</a:t>
            </a:r>
            <a:r>
              <a:rPr lang="en-US" altLang="zh-CN" sz="3600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 </a:t>
            </a:r>
            <a:r>
              <a:rPr lang="en-US" altLang="zh-CN" sz="360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3600" i="1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S</a:t>
            </a:r>
            <a:r>
              <a:rPr lang="en-US" altLang="zh-CN" sz="3600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(</a:t>
            </a:r>
            <a:r>
              <a:rPr lang="en-US" altLang="zh-CN" sz="3600" i="1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x</a:t>
            </a:r>
            <a:r>
              <a:rPr lang="en-US" altLang="zh-CN" sz="3600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) </a:t>
            </a:r>
            <a:r>
              <a:rPr lang="en-US" altLang="zh-CN" sz="3600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3600" i="1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Q</a:t>
            </a:r>
            <a:r>
              <a:rPr lang="en-US" altLang="zh-CN" sz="3600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(</a:t>
            </a:r>
            <a:r>
              <a:rPr lang="en-US" altLang="zh-CN" sz="3600" i="1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x , calculus</a:t>
            </a:r>
            <a:r>
              <a:rPr lang="en-US" altLang="zh-CN" sz="3600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)</a:t>
            </a:r>
            <a:r>
              <a:rPr lang="en-US" altLang="zh-CN" sz="360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endParaRPr lang="en-US" altLang="zh-CN" sz="3600">
              <a:ea typeface="宋体" panose="02010600030101010101" pitchFamily="2" charset="-122"/>
            </a:endParaRPr>
          </a:p>
          <a:p>
            <a:pPr eaLnBrk="1" hangingPunct="1"/>
            <a:endParaRPr lang="en-US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75E07655-2A6E-4D3C-AA22-8501EE1129BF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58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51203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800">
                <a:ea typeface="宋体" panose="02010600030101010101" pitchFamily="2" charset="-122"/>
              </a:rPr>
              <a:t>例 13</a:t>
            </a:r>
          </a:p>
        </p:txBody>
      </p:sp>
      <p:sp>
        <p:nvSpPr>
          <p:cNvPr id="51204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800">
                <a:ea typeface="宋体" panose="02010600030101010101" pitchFamily="2" charset="-122"/>
              </a:rPr>
              <a:t>用谓语和量词表达 "</a:t>
            </a:r>
            <a:r>
              <a:rPr lang="en-US" altLang="zh-CN" sz="2800">
                <a:solidFill>
                  <a:srgbClr val="000000"/>
                </a:solidFill>
                <a:ea typeface="宋体" panose="02010600030101010101" pitchFamily="2" charset="-122"/>
              </a:rPr>
              <a:t>本班有些学生去过北京</a:t>
            </a:r>
            <a:r>
              <a:rPr lang="en-US" altLang="zh-CN" sz="2800">
                <a:ea typeface="宋体" panose="02010600030101010101" pitchFamily="2" charset="-122"/>
              </a:rPr>
              <a:t> "和 "</a:t>
            </a:r>
            <a:r>
              <a:rPr lang="en-US" altLang="zh-CN" sz="2800">
                <a:solidFill>
                  <a:srgbClr val="000000"/>
                </a:solidFill>
                <a:ea typeface="宋体" panose="02010600030101010101" pitchFamily="2" charset="-122"/>
              </a:rPr>
              <a:t>本班每个学生都去过上海或</a:t>
            </a:r>
            <a:r>
              <a:rPr lang="en-US" altLang="zh-CN" sz="2800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北京</a:t>
            </a:r>
            <a:r>
              <a:rPr lang="en-US" altLang="zh-CN" sz="2800">
                <a:ea typeface="宋体" panose="02010600030101010101" pitchFamily="2" charset="-122"/>
              </a:rPr>
              <a:t>"。</a:t>
            </a:r>
          </a:p>
          <a:p>
            <a:pPr eaLnBrk="1" hangingPunct="1"/>
            <a:r>
              <a:rPr lang="en-US" altLang="zh-CN" sz="2800" b="1" i="1">
                <a:solidFill>
                  <a:srgbClr val="000000"/>
                </a:solidFill>
                <a:ea typeface="宋体" panose="02010600030101010101" pitchFamily="2" charset="-122"/>
              </a:rPr>
              <a:t>"x </a:t>
            </a:r>
            <a:r>
              <a:rPr lang="en-US" altLang="zh-CN" sz="2800">
                <a:solidFill>
                  <a:srgbClr val="000000"/>
                </a:solidFill>
                <a:ea typeface="宋体" panose="02010600030101010101" pitchFamily="2" charset="-122"/>
              </a:rPr>
              <a:t>是本班学生</a:t>
            </a:r>
            <a:r>
              <a:rPr lang="en-US" altLang="zh-CN" sz="2800">
                <a:ea typeface="宋体" panose="02010600030101010101" pitchFamily="2" charset="-122"/>
              </a:rPr>
              <a:t> "表示为 </a:t>
            </a:r>
            <a:r>
              <a:rPr lang="en-US" altLang="zh-CN" sz="2800" b="1" i="1">
                <a:solidFill>
                  <a:srgbClr val="000000"/>
                </a:solidFill>
                <a:ea typeface="宋体" panose="02010600030101010101" pitchFamily="2" charset="-122"/>
              </a:rPr>
              <a:t>S</a:t>
            </a:r>
            <a:r>
              <a:rPr lang="en-US" altLang="zh-CN" sz="2800" b="1">
                <a:solidFill>
                  <a:srgbClr val="000000"/>
                </a:solidFill>
                <a:ea typeface="宋体" panose="02010600030101010101" pitchFamily="2" charset="-122"/>
              </a:rPr>
              <a:t>(</a:t>
            </a:r>
            <a:r>
              <a:rPr lang="en-US" altLang="zh-CN" sz="2800" b="1" i="1">
                <a:solidFill>
                  <a:srgbClr val="000000"/>
                </a:solidFill>
                <a:ea typeface="宋体" panose="02010600030101010101" pitchFamily="2" charset="-122"/>
              </a:rPr>
              <a:t>x</a:t>
            </a:r>
            <a:r>
              <a:rPr lang="en-US" altLang="zh-CN" sz="2800" b="1">
                <a:solidFill>
                  <a:srgbClr val="000000"/>
                </a:solidFill>
                <a:ea typeface="宋体" panose="02010600030101010101" pitchFamily="2" charset="-122"/>
              </a:rPr>
              <a:t>)</a:t>
            </a:r>
          </a:p>
          <a:p>
            <a:pPr eaLnBrk="1" hangingPunct="1"/>
            <a:r>
              <a:rPr lang="en-US" altLang="zh-CN" sz="2800">
                <a:solidFill>
                  <a:srgbClr val="000000"/>
                </a:solidFill>
                <a:ea typeface="宋体" panose="02010600030101010101" pitchFamily="2" charset="-122"/>
              </a:rPr>
              <a:t>"</a:t>
            </a:r>
            <a:r>
              <a:rPr lang="en-US" altLang="zh-CN" sz="2800" b="1" i="1">
                <a:solidFill>
                  <a:srgbClr val="000000"/>
                </a:solidFill>
                <a:ea typeface="宋体" panose="02010600030101010101" pitchFamily="2" charset="-122"/>
              </a:rPr>
              <a:t>x</a:t>
            </a:r>
            <a:r>
              <a:rPr lang="en-US" altLang="zh-CN" sz="2800">
                <a:solidFill>
                  <a:srgbClr val="000000"/>
                </a:solidFill>
                <a:ea typeface="宋体" panose="02010600030101010101" pitchFamily="2" charset="-122"/>
              </a:rPr>
              <a:t>到过</a:t>
            </a:r>
            <a:r>
              <a:rPr lang="en-US" altLang="zh-CN" sz="2800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北京</a:t>
            </a:r>
            <a:r>
              <a:rPr lang="en-US" altLang="zh-CN" sz="2800">
                <a:solidFill>
                  <a:srgbClr val="000000"/>
                </a:solidFill>
                <a:ea typeface="宋体" panose="02010600030101010101" pitchFamily="2" charset="-122"/>
              </a:rPr>
              <a:t> "</a:t>
            </a:r>
            <a:r>
              <a:rPr lang="en-US" altLang="zh-CN" sz="2800">
                <a:ea typeface="宋体" panose="02010600030101010101" pitchFamily="2" charset="-122"/>
              </a:rPr>
              <a:t>记为</a:t>
            </a:r>
            <a:r>
              <a:rPr lang="en-US" altLang="zh-CN" sz="2800" b="1" i="1">
                <a:solidFill>
                  <a:srgbClr val="000000"/>
                </a:solidFill>
                <a:ea typeface="宋体" panose="02010600030101010101" pitchFamily="2" charset="-122"/>
              </a:rPr>
              <a:t>M</a:t>
            </a:r>
            <a:r>
              <a:rPr lang="en-US" altLang="zh-CN" sz="2800" b="1">
                <a:solidFill>
                  <a:srgbClr val="000000"/>
                </a:solidFill>
                <a:ea typeface="宋体" panose="02010600030101010101" pitchFamily="2" charset="-122"/>
              </a:rPr>
              <a:t>(</a:t>
            </a:r>
            <a:r>
              <a:rPr lang="en-US" altLang="zh-CN" sz="2800" b="1" i="1">
                <a:solidFill>
                  <a:srgbClr val="000000"/>
                </a:solidFill>
                <a:ea typeface="宋体" panose="02010600030101010101" pitchFamily="2" charset="-122"/>
              </a:rPr>
              <a:t>x</a:t>
            </a:r>
            <a:r>
              <a:rPr lang="en-US" altLang="zh-CN" sz="2800">
                <a:solidFill>
                  <a:srgbClr val="000000"/>
                </a:solidFill>
                <a:ea typeface="宋体" panose="02010600030101010101" pitchFamily="2" charset="-122"/>
              </a:rPr>
              <a:t>) </a:t>
            </a:r>
          </a:p>
          <a:p>
            <a:pPr eaLnBrk="1" hangingPunct="1"/>
            <a:r>
              <a:rPr lang="en-US" altLang="zh-CN" sz="2800" b="1" i="1">
                <a:solidFill>
                  <a:srgbClr val="000000"/>
                </a:solidFill>
                <a:ea typeface="宋体" panose="02010600030101010101" pitchFamily="2" charset="-122"/>
              </a:rPr>
              <a:t>"x </a:t>
            </a:r>
            <a:r>
              <a:rPr lang="en-US" altLang="zh-CN" sz="2800">
                <a:solidFill>
                  <a:srgbClr val="000000"/>
                </a:solidFill>
                <a:ea typeface="宋体" panose="02010600030101010101" pitchFamily="2" charset="-122"/>
              </a:rPr>
              <a:t>已访问过</a:t>
            </a:r>
            <a:r>
              <a:rPr lang="en-US" altLang="zh-CN" sz="2800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上海</a:t>
            </a:r>
            <a:r>
              <a:rPr lang="en-US" altLang="zh-CN" sz="2800">
                <a:solidFill>
                  <a:srgbClr val="000000"/>
                </a:solidFill>
                <a:ea typeface="宋体" panose="02010600030101010101" pitchFamily="2" charset="-122"/>
              </a:rPr>
              <a:t> "</a:t>
            </a:r>
            <a:r>
              <a:rPr lang="en-US" altLang="zh-CN" sz="2800">
                <a:ea typeface="宋体" panose="02010600030101010101" pitchFamily="2" charset="-122"/>
              </a:rPr>
              <a:t>记为 </a:t>
            </a:r>
            <a:r>
              <a:rPr lang="en-US" altLang="zh-CN" sz="2800" b="1" i="1">
                <a:solidFill>
                  <a:srgbClr val="000000"/>
                </a:solidFill>
                <a:ea typeface="宋体" panose="02010600030101010101" pitchFamily="2" charset="-122"/>
              </a:rPr>
              <a:t>C</a:t>
            </a:r>
            <a:r>
              <a:rPr lang="en-US" altLang="zh-CN" sz="2800" b="1">
                <a:solidFill>
                  <a:srgbClr val="000000"/>
                </a:solidFill>
                <a:ea typeface="宋体" panose="02010600030101010101" pitchFamily="2" charset="-122"/>
              </a:rPr>
              <a:t>(</a:t>
            </a:r>
            <a:r>
              <a:rPr lang="en-US" altLang="zh-CN" sz="2800" b="1" i="1">
                <a:solidFill>
                  <a:srgbClr val="000000"/>
                </a:solidFill>
                <a:ea typeface="宋体" panose="02010600030101010101" pitchFamily="2" charset="-122"/>
              </a:rPr>
              <a:t>x</a:t>
            </a:r>
            <a:r>
              <a:rPr lang="en-US" altLang="zh-CN" sz="2800" b="1">
                <a:solidFill>
                  <a:srgbClr val="000000"/>
                </a:solidFill>
                <a:ea typeface="宋体" panose="02010600030101010101" pitchFamily="2" charset="-122"/>
              </a:rPr>
              <a:t>)</a:t>
            </a:r>
          </a:p>
          <a:p>
            <a:pPr eaLnBrk="1" hangingPunct="1"/>
            <a:r>
              <a:rPr lang="en-US" altLang="zh-CN" sz="2800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x (</a:t>
            </a:r>
            <a:r>
              <a:rPr lang="en-US" altLang="zh-CN" sz="2800" b="1" i="1">
                <a:solidFill>
                  <a:srgbClr val="000000"/>
                </a:solidFill>
                <a:ea typeface="宋体" panose="02010600030101010101" pitchFamily="2" charset="-122"/>
              </a:rPr>
              <a:t>S</a:t>
            </a:r>
            <a:r>
              <a:rPr lang="en-US" altLang="zh-CN" sz="2800" b="1">
                <a:solidFill>
                  <a:srgbClr val="000000"/>
                </a:solidFill>
                <a:ea typeface="宋体" panose="02010600030101010101" pitchFamily="2" charset="-122"/>
              </a:rPr>
              <a:t>(</a:t>
            </a:r>
            <a:r>
              <a:rPr lang="en-US" altLang="zh-CN" sz="2800" b="1" i="1">
                <a:solidFill>
                  <a:srgbClr val="000000"/>
                </a:solidFill>
                <a:ea typeface="宋体" panose="02010600030101010101" pitchFamily="2" charset="-122"/>
              </a:rPr>
              <a:t>x</a:t>
            </a:r>
            <a:r>
              <a:rPr lang="en-US" altLang="zh-CN" sz="2800" b="1">
                <a:solidFill>
                  <a:srgbClr val="000000"/>
                </a:solidFill>
                <a:ea typeface="宋体" panose="02010600030101010101" pitchFamily="2" charset="-122"/>
              </a:rPr>
              <a:t>) </a:t>
            </a:r>
            <a:r>
              <a:rPr lang="en-US" altLang="zh-CN" sz="2800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 </a:t>
            </a:r>
            <a:r>
              <a:rPr lang="en-US" altLang="zh-CN" sz="2800" b="1" i="1">
                <a:solidFill>
                  <a:srgbClr val="000000"/>
                </a:solidFill>
                <a:ea typeface="宋体" panose="02010600030101010101" pitchFamily="2" charset="-122"/>
              </a:rPr>
              <a:t>M</a:t>
            </a:r>
            <a:r>
              <a:rPr lang="en-US" altLang="zh-CN" sz="2800" b="1">
                <a:solidFill>
                  <a:srgbClr val="000000"/>
                </a:solidFill>
                <a:ea typeface="宋体" panose="02010600030101010101" pitchFamily="2" charset="-122"/>
              </a:rPr>
              <a:t>(</a:t>
            </a:r>
            <a:r>
              <a:rPr lang="en-US" altLang="zh-CN" sz="2800" b="1" i="1">
                <a:solidFill>
                  <a:srgbClr val="000000"/>
                </a:solidFill>
                <a:ea typeface="宋体" panose="02010600030101010101" pitchFamily="2" charset="-122"/>
              </a:rPr>
              <a:t>x</a:t>
            </a:r>
            <a:r>
              <a:rPr lang="en-US" altLang="zh-CN" sz="2800" b="1">
                <a:solidFill>
                  <a:srgbClr val="000000"/>
                </a:solidFill>
                <a:ea typeface="宋体" panose="02010600030101010101" pitchFamily="2" charset="-122"/>
              </a:rPr>
              <a:t>)</a:t>
            </a:r>
            <a:r>
              <a:rPr lang="en-US" altLang="zh-CN" sz="2800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  <a:r>
              <a:rPr lang="en-US" altLang="zh-CN" sz="2800">
                <a:ea typeface="宋体" panose="02010600030101010101" pitchFamily="2" charset="-122"/>
                <a:sym typeface="Symbol" panose="05050102010706020507" pitchFamily="18" charset="2"/>
              </a:rPr>
              <a:t>而不是 </a:t>
            </a:r>
            <a:r>
              <a:rPr lang="en-US" altLang="zh-CN" sz="2800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x (</a:t>
            </a:r>
            <a:r>
              <a:rPr lang="en-US" altLang="zh-CN" sz="2800" b="1" i="1">
                <a:solidFill>
                  <a:srgbClr val="000000"/>
                </a:solidFill>
                <a:ea typeface="宋体" panose="02010600030101010101" pitchFamily="2" charset="-122"/>
              </a:rPr>
              <a:t>S</a:t>
            </a:r>
            <a:r>
              <a:rPr lang="en-US" altLang="zh-CN" sz="2800" b="1">
                <a:solidFill>
                  <a:srgbClr val="000000"/>
                </a:solidFill>
                <a:ea typeface="宋体" panose="02010600030101010101" pitchFamily="2" charset="-122"/>
              </a:rPr>
              <a:t>(</a:t>
            </a:r>
            <a:r>
              <a:rPr lang="en-US" altLang="zh-CN" sz="2800" b="1" i="1">
                <a:solidFill>
                  <a:srgbClr val="000000"/>
                </a:solidFill>
                <a:ea typeface="宋体" panose="02010600030101010101" pitchFamily="2" charset="-122"/>
              </a:rPr>
              <a:t>x</a:t>
            </a:r>
            <a:r>
              <a:rPr lang="en-US" altLang="zh-CN" sz="2800" b="1">
                <a:solidFill>
                  <a:srgbClr val="000000"/>
                </a:solidFill>
                <a:ea typeface="宋体" panose="02010600030101010101" pitchFamily="2" charset="-122"/>
              </a:rPr>
              <a:t>) 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800" b="1" i="1">
                <a:solidFill>
                  <a:srgbClr val="000000"/>
                </a:solidFill>
                <a:ea typeface="宋体" panose="02010600030101010101" pitchFamily="2" charset="-122"/>
              </a:rPr>
              <a:t>M</a:t>
            </a:r>
            <a:r>
              <a:rPr lang="en-US" altLang="zh-CN" sz="2800" b="1">
                <a:solidFill>
                  <a:srgbClr val="000000"/>
                </a:solidFill>
                <a:ea typeface="宋体" panose="02010600030101010101" pitchFamily="2" charset="-122"/>
              </a:rPr>
              <a:t>(</a:t>
            </a:r>
            <a:r>
              <a:rPr lang="en-US" altLang="zh-CN" sz="2800" b="1" i="1">
                <a:solidFill>
                  <a:srgbClr val="000000"/>
                </a:solidFill>
                <a:ea typeface="宋体" panose="02010600030101010101" pitchFamily="2" charset="-122"/>
              </a:rPr>
              <a:t>x</a:t>
            </a:r>
            <a:r>
              <a:rPr lang="en-US" altLang="zh-CN" sz="2800" b="1">
                <a:solidFill>
                  <a:srgbClr val="000000"/>
                </a:solidFill>
                <a:ea typeface="宋体" panose="02010600030101010101" pitchFamily="2" charset="-122"/>
              </a:rPr>
              <a:t>)</a:t>
            </a:r>
            <a:r>
              <a:rPr lang="en-US" altLang="zh-CN" sz="3600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</a:p>
          <a:p>
            <a:pPr eaLnBrk="1" hangingPunct="1"/>
            <a:r>
              <a:rPr lang="en-US" altLang="zh-CN" sz="2800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x (</a:t>
            </a:r>
            <a:r>
              <a:rPr lang="en-US" altLang="zh-CN" sz="2800" b="1" i="1">
                <a:solidFill>
                  <a:srgbClr val="000000"/>
                </a:solidFill>
                <a:ea typeface="宋体" panose="02010600030101010101" pitchFamily="2" charset="-122"/>
              </a:rPr>
              <a:t>S</a:t>
            </a:r>
            <a:r>
              <a:rPr lang="en-US" altLang="zh-CN" sz="2800" b="1">
                <a:solidFill>
                  <a:srgbClr val="000000"/>
                </a:solidFill>
                <a:ea typeface="宋体" panose="02010600030101010101" pitchFamily="2" charset="-122"/>
              </a:rPr>
              <a:t>(</a:t>
            </a:r>
            <a:r>
              <a:rPr lang="en-US" altLang="zh-CN" sz="2800" b="1" i="1">
                <a:solidFill>
                  <a:srgbClr val="000000"/>
                </a:solidFill>
                <a:ea typeface="宋体" panose="02010600030101010101" pitchFamily="2" charset="-122"/>
              </a:rPr>
              <a:t>x</a:t>
            </a:r>
            <a:r>
              <a:rPr lang="en-US" altLang="zh-CN" sz="2800" b="1">
                <a:solidFill>
                  <a:srgbClr val="000000"/>
                </a:solidFill>
                <a:ea typeface="宋体" panose="02010600030101010101" pitchFamily="2" charset="-122"/>
              </a:rPr>
              <a:t>) </a:t>
            </a:r>
            <a:r>
              <a:rPr lang="en-US" altLang="zh-CN" sz="2800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 (</a:t>
            </a:r>
            <a:r>
              <a:rPr lang="en-US" altLang="zh-CN" sz="2800" b="1" i="1">
                <a:solidFill>
                  <a:srgbClr val="000000"/>
                </a:solidFill>
                <a:ea typeface="宋体" panose="02010600030101010101" pitchFamily="2" charset="-122"/>
              </a:rPr>
              <a:t>C</a:t>
            </a:r>
            <a:r>
              <a:rPr lang="en-US" altLang="zh-CN" sz="2800" b="1">
                <a:solidFill>
                  <a:srgbClr val="000000"/>
                </a:solidFill>
                <a:ea typeface="宋体" panose="02010600030101010101" pitchFamily="2" charset="-122"/>
              </a:rPr>
              <a:t>(</a:t>
            </a:r>
            <a:r>
              <a:rPr lang="en-US" altLang="zh-CN" sz="2800" b="1" i="1">
                <a:solidFill>
                  <a:srgbClr val="000000"/>
                </a:solidFill>
                <a:ea typeface="宋体" panose="02010600030101010101" pitchFamily="2" charset="-122"/>
              </a:rPr>
              <a:t>x</a:t>
            </a:r>
            <a:r>
              <a:rPr lang="en-US" altLang="zh-CN" sz="2800" b="1">
                <a:solidFill>
                  <a:srgbClr val="000000"/>
                </a:solidFill>
                <a:ea typeface="宋体" panose="02010600030101010101" pitchFamily="2" charset="-122"/>
              </a:rPr>
              <a:t>) 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 </a:t>
            </a:r>
            <a:r>
              <a:rPr lang="en-US" altLang="zh-CN" sz="2800" b="1" i="1">
                <a:solidFill>
                  <a:srgbClr val="000000"/>
                </a:solidFill>
                <a:ea typeface="宋体" panose="02010600030101010101" pitchFamily="2" charset="-122"/>
              </a:rPr>
              <a:t>M</a:t>
            </a:r>
            <a:r>
              <a:rPr lang="en-US" altLang="zh-CN" sz="2800" b="1">
                <a:solidFill>
                  <a:srgbClr val="000000"/>
                </a:solidFill>
                <a:ea typeface="宋体" panose="02010600030101010101" pitchFamily="2" charset="-122"/>
              </a:rPr>
              <a:t>(</a:t>
            </a:r>
            <a:r>
              <a:rPr lang="en-US" altLang="zh-CN" sz="2800" b="1" i="1">
                <a:solidFill>
                  <a:srgbClr val="000000"/>
                </a:solidFill>
                <a:ea typeface="宋体" panose="02010600030101010101" pitchFamily="2" charset="-122"/>
              </a:rPr>
              <a:t>x</a:t>
            </a:r>
            <a:r>
              <a:rPr lang="en-US" altLang="zh-CN" sz="2800" b="1">
                <a:solidFill>
                  <a:srgbClr val="000000"/>
                </a:solidFill>
                <a:ea typeface="宋体" panose="02010600030101010101" pitchFamily="2" charset="-122"/>
              </a:rPr>
              <a:t>)</a:t>
            </a:r>
            <a:r>
              <a:rPr lang="en-US" altLang="zh-CN" sz="2800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)) ?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1D25BE1C-787D-4450-B47E-C05EECBC6E62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59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52227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  <p:sp>
        <p:nvSpPr>
          <p:cNvPr id="52228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52400" y="1419225"/>
            <a:ext cx="8991600" cy="4879975"/>
          </a:xfrm>
        </p:spPr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"对于每个人 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x</a:t>
            </a:r>
            <a:r>
              <a:rPr lang="en-US" altLang="zh-CN" dirty="0">
                <a:ea typeface="宋体" panose="02010600030101010101" pitchFamily="2" charset="-122"/>
              </a:rPr>
              <a:t>，如果 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x </a:t>
            </a:r>
            <a:r>
              <a:rPr lang="en-US" altLang="zh-CN" dirty="0">
                <a:ea typeface="宋体" panose="02010600030101010101" pitchFamily="2" charset="-122"/>
              </a:rPr>
              <a:t>是这个班的学生，那么 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x </a:t>
            </a:r>
            <a:r>
              <a:rPr lang="en-US" altLang="zh-CN" dirty="0">
                <a:ea typeface="宋体" panose="02010600030101010101" pitchFamily="2" charset="-122"/>
              </a:rPr>
              <a:t>到过北京或 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x </a:t>
            </a:r>
            <a:r>
              <a:rPr lang="en-US" altLang="zh-CN" dirty="0">
                <a:ea typeface="宋体" panose="02010600030101010101" pitchFamily="2" charset="-122"/>
              </a:rPr>
              <a:t>到过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上海</a:t>
            </a:r>
            <a:r>
              <a:rPr lang="en-US" altLang="zh-CN" dirty="0">
                <a:ea typeface="宋体" panose="02010600030101010101" pitchFamily="2" charset="-122"/>
              </a:rPr>
              <a:t>"</a:t>
            </a:r>
          </a:p>
          <a:p>
            <a:pPr eaLnBrk="1" hangingPunct="1"/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x (</a:t>
            </a:r>
            <a:r>
              <a:rPr lang="en-US" altLang="zh-CN" sz="2800" b="1" i="1" dirty="0">
                <a:solidFill>
                  <a:srgbClr val="000000"/>
                </a:solidFill>
                <a:ea typeface="宋体" panose="02010600030101010101" pitchFamily="2" charset="-122"/>
              </a:rPr>
              <a:t>S</a:t>
            </a: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</a:rPr>
              <a:t>(</a:t>
            </a:r>
            <a:r>
              <a:rPr lang="en-US" altLang="zh-CN" sz="2800" b="1" i="1" dirty="0">
                <a:solidFill>
                  <a:srgbClr val="000000"/>
                </a:solidFill>
                <a:ea typeface="宋体" panose="02010600030101010101" pitchFamily="2" charset="-122"/>
              </a:rPr>
              <a:t>x</a:t>
            </a: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</a:rPr>
              <a:t>)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2800" b="1" i="1" dirty="0">
                <a:solidFill>
                  <a:srgbClr val="000000"/>
                </a:solidFill>
                <a:ea typeface="宋体" panose="02010600030101010101" pitchFamily="2" charset="-122"/>
              </a:rPr>
              <a:t>C</a:t>
            </a: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</a:rPr>
              <a:t>(</a:t>
            </a:r>
            <a:r>
              <a:rPr lang="en-US" altLang="zh-CN" sz="2800" b="1" i="1" dirty="0">
                <a:solidFill>
                  <a:srgbClr val="000000"/>
                </a:solidFill>
                <a:ea typeface="宋体" panose="02010600030101010101" pitchFamily="2" charset="-122"/>
              </a:rPr>
              <a:t>x</a:t>
            </a: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</a:rPr>
              <a:t>)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 </a:t>
            </a:r>
            <a:r>
              <a:rPr lang="en-US" altLang="zh-CN" sz="2800" b="1" i="1" dirty="0">
                <a:solidFill>
                  <a:srgbClr val="000000"/>
                </a:solidFill>
                <a:ea typeface="宋体" panose="02010600030101010101" pitchFamily="2" charset="-122"/>
              </a:rPr>
              <a:t>M</a:t>
            </a: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</a:rPr>
              <a:t>(</a:t>
            </a:r>
            <a:r>
              <a:rPr lang="en-US" altLang="zh-CN" sz="2800" b="1" i="1" dirty="0">
                <a:solidFill>
                  <a:srgbClr val="000000"/>
                </a:solidFill>
                <a:ea typeface="宋体" panose="02010600030101010101" pitchFamily="2" charset="-122"/>
              </a:rPr>
              <a:t>x</a:t>
            </a: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</a:rPr>
              <a:t>))</a:t>
            </a: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</a:p>
          <a:p>
            <a:pPr eaLnBrk="1" hangingPunct="1"/>
            <a:endParaRPr lang="en-US" altLang="zh-CN" sz="2800" b="1" dirty="0">
              <a:solidFill>
                <a:srgbClr val="00000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sz="2800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"x </a:t>
            </a:r>
            <a:r>
              <a:rPr lang="en-US" altLang="zh-CN" sz="2800" b="1" dirty="0">
                <a:ea typeface="宋体" panose="02010600030101010101" pitchFamily="2" charset="-122"/>
                <a:sym typeface="Symbol" panose="05050102010706020507" pitchFamily="18" charset="2"/>
              </a:rPr>
              <a:t>已</a:t>
            </a:r>
            <a:r>
              <a:rPr lang="en-US" altLang="zh-CN" sz="2800" b="1">
                <a:ea typeface="宋体" panose="02010600030101010101" pitchFamily="2" charset="-122"/>
                <a:sym typeface="Symbol" panose="05050102010706020507" pitchFamily="18" charset="2"/>
              </a:rPr>
              <a:t>访问过 </a:t>
            </a:r>
            <a:r>
              <a:rPr lang="en-US" altLang="zh-CN" sz="2800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y </a:t>
            </a:r>
            <a:r>
              <a:rPr lang="en-US" altLang="zh-CN" sz="2800" b="1">
                <a:ea typeface="宋体" panose="02010600030101010101" pitchFamily="2" charset="-122"/>
                <a:sym typeface="Symbol" panose="05050102010706020507" pitchFamily="18" charset="2"/>
              </a:rPr>
              <a:t>市</a:t>
            </a:r>
            <a:r>
              <a:rPr lang="en-US" altLang="zh-CN" dirty="0">
                <a:ea typeface="宋体" panose="02010600030101010101" pitchFamily="2" charset="-122"/>
              </a:rPr>
              <a:t> "表示为 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V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(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</a:rPr>
              <a:t>x,y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)</a:t>
            </a:r>
          </a:p>
          <a:p>
            <a:pPr eaLnBrk="1" hangingPunct="1"/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x (</a:t>
            </a:r>
            <a:r>
              <a:rPr lang="en-US" altLang="zh-CN" sz="2800" b="1" i="1" dirty="0">
                <a:solidFill>
                  <a:srgbClr val="000000"/>
                </a:solidFill>
                <a:ea typeface="宋体" panose="02010600030101010101" pitchFamily="2" charset="-122"/>
              </a:rPr>
              <a:t>S</a:t>
            </a: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</a:rPr>
              <a:t>(</a:t>
            </a:r>
            <a:r>
              <a:rPr lang="en-US" altLang="zh-CN" sz="2800" b="1" i="1" dirty="0">
                <a:solidFill>
                  <a:srgbClr val="000000"/>
                </a:solidFill>
                <a:ea typeface="宋体" panose="02010600030101010101" pitchFamily="2" charset="-122"/>
              </a:rPr>
              <a:t>x</a:t>
            </a: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</a:rPr>
              <a:t>)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2800" b="1" i="1" dirty="0">
                <a:solidFill>
                  <a:srgbClr val="000000"/>
                </a:solidFill>
                <a:ea typeface="宋体" panose="02010600030101010101" pitchFamily="2" charset="-122"/>
              </a:rPr>
              <a:t>V </a:t>
            </a: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2800" b="1" i="1" dirty="0">
                <a:solidFill>
                  <a:srgbClr val="000000"/>
                </a:solidFill>
                <a:ea typeface="宋体" panose="02010600030101010101" pitchFamily="2" charset="-122"/>
              </a:rPr>
              <a:t>x , </a:t>
            </a:r>
            <a:r>
              <a:rPr lang="en-US" altLang="zh-CN" sz="2800" dirty="0">
                <a:ea typeface="宋体" panose="02010600030101010101" pitchFamily="2" charset="-122"/>
                <a:sym typeface="+mn-ea"/>
              </a:rPr>
              <a:t>Beijing </a:t>
            </a: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</a:rPr>
              <a:t>)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 </a:t>
            </a:r>
            <a:r>
              <a:rPr lang="en-US" altLang="zh-CN" sz="2800" b="1" i="1" dirty="0">
                <a:solidFill>
                  <a:srgbClr val="000000"/>
                </a:solidFill>
                <a:ea typeface="宋体" panose="02010600030101010101" pitchFamily="2" charset="-122"/>
              </a:rPr>
              <a:t>V </a:t>
            </a: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</a:rPr>
              <a:t>(</a:t>
            </a:r>
            <a:r>
              <a:rPr lang="en-US" altLang="zh-CN" sz="2800" b="1" i="1" dirty="0">
                <a:solidFill>
                  <a:srgbClr val="000000"/>
                </a:solidFill>
                <a:ea typeface="宋体" panose="02010600030101010101" pitchFamily="2" charset="-122"/>
              </a:rPr>
              <a:t>x , </a:t>
            </a:r>
            <a:r>
              <a:rPr lang="en-US" altLang="zh-CN" sz="2800" dirty="0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Shanghai </a:t>
            </a: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</a:rPr>
              <a:t>))</a:t>
            </a: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endParaRPr lang="en-US" altLang="zh-CN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 eaLnBrk="1" hangingPunct="1"/>
            <a:endParaRPr lang="en-US" altLang="zh-CN" dirty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灯片编号占位符 3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6528185A-466C-4232-9702-8266D6A0B650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60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67587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63583605-93A5-4B55-A0B1-9565DD6C410C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60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8192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800">
                <a:ea typeface="宋体" panose="02010600030101010101" pitchFamily="2" charset="-122"/>
              </a:rPr>
              <a:t>练习</a:t>
            </a:r>
          </a:p>
        </p:txBody>
      </p:sp>
      <p:sp>
        <p:nvSpPr>
          <p:cNvPr id="83974" name="矩形 5"/>
          <p:cNvSpPr>
            <a:spLocks noChangeArrowheads="1"/>
          </p:cNvSpPr>
          <p:nvPr/>
        </p:nvSpPr>
        <p:spPr bwMode="auto">
          <a:xfrm>
            <a:off x="533400" y="1905000"/>
            <a:ext cx="8154670" cy="3810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1"/>
            </a:solidFill>
            <a:round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800" dirty="0"/>
              <a:t>10</a:t>
            </a:r>
            <a:r>
              <a:rPr lang="en-US" altLang="zh-CN" sz="1800" dirty="0">
                <a:sym typeface="+mn-ea"/>
              </a:rPr>
              <a:t>.</a:t>
            </a:r>
            <a:r>
              <a:rPr lang="zh-CN" altLang="zh-CN" sz="1800" dirty="0">
                <a:sym typeface="+mn-ea"/>
              </a:rPr>
              <a:t>"</a:t>
            </a:r>
            <a:r>
              <a:rPr lang="en-US" altLang="zh-CN" sz="1800" dirty="0">
                <a:sym typeface="+mn-ea"/>
              </a:rPr>
              <a:t>x 是</a:t>
            </a:r>
            <a:r>
              <a:rPr lang="zh-CN" altLang="en-US" sz="1800" dirty="0">
                <a:sym typeface="+mn-ea"/>
              </a:rPr>
              <a:t>一名教授</a:t>
            </a:r>
            <a:r>
              <a:rPr lang="en-US" altLang="zh-CN" sz="1800" dirty="0">
                <a:sym typeface="+mn-ea"/>
              </a:rPr>
              <a:t> "表示为 P(x)，</a:t>
            </a:r>
            <a:r>
              <a:rPr lang="zh-CN" altLang="zh-CN" sz="1800" dirty="0">
                <a:sym typeface="+mn-ea"/>
              </a:rPr>
              <a:t>"</a:t>
            </a:r>
            <a:r>
              <a:rPr lang="en-US" altLang="zh-CN" sz="1800" dirty="0">
                <a:sym typeface="+mn-ea"/>
              </a:rPr>
              <a:t>x </a:t>
            </a:r>
            <a:r>
              <a:rPr lang="zh-CN" altLang="en-US" sz="1800" dirty="0">
                <a:sym typeface="+mn-ea"/>
              </a:rPr>
              <a:t>是无知的</a:t>
            </a:r>
            <a:r>
              <a:rPr lang="en-US" altLang="zh-CN" sz="1800" dirty="0">
                <a:sym typeface="+mn-ea"/>
              </a:rPr>
              <a:t> "表示为 Q(x)。使用 R(x)</a:t>
            </a:r>
            <a:r>
              <a:rPr lang="zh-CN" altLang="en-US" sz="1800" dirty="0">
                <a:sym typeface="+mn-ea"/>
              </a:rPr>
              <a:t>、</a:t>
            </a:r>
            <a:r>
              <a:rPr lang="en-US" altLang="zh-CN" sz="1800" dirty="0">
                <a:sym typeface="+mn-ea"/>
              </a:rPr>
              <a:t> S(x)</a:t>
            </a:r>
            <a:r>
              <a:rPr lang="zh-CN" altLang="en-US" sz="1800" dirty="0">
                <a:sym typeface="+mn-ea"/>
              </a:rPr>
              <a:t>、</a:t>
            </a:r>
            <a:r>
              <a:rPr lang="en-US" altLang="zh-CN" sz="1800" dirty="0">
                <a:sym typeface="+mn-ea"/>
              </a:rPr>
              <a:t>谓词</a:t>
            </a:r>
            <a:r>
              <a:rPr lang="zh-CN" altLang="en-US" sz="1800" dirty="0">
                <a:sym typeface="+mn-ea"/>
              </a:rPr>
              <a:t>、</a:t>
            </a:r>
            <a:r>
              <a:rPr lang="en-US" altLang="zh-CN" sz="1800" dirty="0">
                <a:sym typeface="+mn-ea"/>
              </a:rPr>
              <a:t>量词</a:t>
            </a:r>
            <a:r>
              <a:rPr lang="zh-CN" altLang="en-US" sz="1800" dirty="0">
                <a:sym typeface="+mn-ea"/>
              </a:rPr>
              <a:t>和逻辑运算符</a:t>
            </a:r>
            <a:r>
              <a:rPr lang="en-US" altLang="zh-CN" sz="1800" dirty="0">
                <a:sym typeface="+mn-ea"/>
              </a:rPr>
              <a:t>，"</a:t>
            </a:r>
            <a:r>
              <a:rPr lang="zh-CN" altLang="en-US" sz="1800" dirty="0">
                <a:sym typeface="+mn-ea"/>
              </a:rPr>
              <a:t>没有教授是无知的</a:t>
            </a:r>
            <a:r>
              <a:rPr lang="en-US" altLang="zh-CN" sz="1800" dirty="0">
                <a:sym typeface="+mn-ea"/>
              </a:rPr>
              <a:t> "可以表示为</a:t>
            </a:r>
            <a:r>
              <a:rPr lang="zh-CN" altLang="en-US" sz="1800" dirty="0">
                <a:sym typeface="+mn-ea"/>
              </a:rPr>
              <a:t>（）</a:t>
            </a:r>
            <a:endParaRPr lang="zh-CN" altLang="zh-CN" sz="1800" dirty="0"/>
          </a:p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rcRect t="46205"/>
          <a:stretch>
            <a:fillRect/>
          </a:stretch>
        </p:blipFill>
        <p:spPr>
          <a:xfrm>
            <a:off x="609600" y="2514600"/>
            <a:ext cx="8077200" cy="124206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灯片编号占位符 3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6954F3BE-3C82-4D17-B020-C7B86136973B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61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67587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939FAF18-A8A5-4F45-A3E4-40248BE56F47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61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8397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800">
                <a:ea typeface="宋体" panose="02010600030101010101" pitchFamily="2" charset="-122"/>
              </a:rPr>
              <a:t>练习</a:t>
            </a:r>
          </a:p>
        </p:txBody>
      </p:sp>
      <p:sp>
        <p:nvSpPr>
          <p:cNvPr id="83974" name="矩形 5"/>
          <p:cNvSpPr>
            <a:spLocks noChangeArrowheads="1"/>
          </p:cNvSpPr>
          <p:nvPr/>
        </p:nvSpPr>
        <p:spPr bwMode="auto">
          <a:xfrm>
            <a:off x="533400" y="1905000"/>
            <a:ext cx="8154670" cy="3810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1"/>
            </a:solidFill>
            <a:round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800" dirty="0"/>
              <a:t>11</a:t>
            </a:r>
            <a:r>
              <a:rPr lang="en-US" altLang="zh-CN" sz="1800" dirty="0">
                <a:sym typeface="+mn-ea"/>
              </a:rPr>
              <a:t>.</a:t>
            </a:r>
            <a:r>
              <a:rPr lang="zh-CN" altLang="zh-CN" sz="1800" dirty="0">
                <a:sym typeface="+mn-ea"/>
              </a:rPr>
              <a:t>"</a:t>
            </a:r>
            <a:r>
              <a:rPr lang="en-US" altLang="zh-CN" sz="1800" dirty="0">
                <a:sym typeface="+mn-ea"/>
              </a:rPr>
              <a:t>x 是A</a:t>
            </a:r>
            <a:r>
              <a:rPr lang="zh-CN" altLang="en-US" sz="1800" dirty="0">
                <a:sym typeface="+mn-ea"/>
              </a:rPr>
              <a:t>公司的员工</a:t>
            </a:r>
            <a:r>
              <a:rPr lang="en-US" altLang="zh-CN" sz="1800" dirty="0">
                <a:sym typeface="+mn-ea"/>
              </a:rPr>
              <a:t> "表示为 R(x)，</a:t>
            </a:r>
            <a:r>
              <a:rPr lang="zh-CN" altLang="zh-CN" sz="1800" dirty="0">
                <a:sym typeface="+mn-ea"/>
              </a:rPr>
              <a:t>"</a:t>
            </a:r>
            <a:r>
              <a:rPr lang="en-US" altLang="zh-CN" sz="1800" dirty="0">
                <a:sym typeface="+mn-ea"/>
              </a:rPr>
              <a:t>x </a:t>
            </a:r>
            <a:r>
              <a:rPr lang="zh-CN" altLang="en-US" sz="1800" dirty="0">
                <a:sym typeface="+mn-ea"/>
              </a:rPr>
              <a:t>会说法语</a:t>
            </a:r>
            <a:r>
              <a:rPr lang="en-US" altLang="zh-CN" sz="1800" dirty="0">
                <a:sym typeface="+mn-ea"/>
              </a:rPr>
              <a:t> "表示为 S(x)。使用 R(x)</a:t>
            </a:r>
            <a:r>
              <a:rPr lang="zh-CN" altLang="en-US" sz="1800" dirty="0">
                <a:sym typeface="+mn-ea"/>
              </a:rPr>
              <a:t>、</a:t>
            </a:r>
            <a:r>
              <a:rPr lang="en-US" altLang="zh-CN" sz="1800" dirty="0">
                <a:sym typeface="+mn-ea"/>
              </a:rPr>
              <a:t> S(x)</a:t>
            </a:r>
            <a:r>
              <a:rPr lang="zh-CN" altLang="en-US" sz="1800" dirty="0">
                <a:sym typeface="+mn-ea"/>
              </a:rPr>
              <a:t>、</a:t>
            </a:r>
            <a:r>
              <a:rPr lang="en-US" altLang="zh-CN" sz="1800" dirty="0">
                <a:sym typeface="+mn-ea"/>
              </a:rPr>
              <a:t>谓词</a:t>
            </a:r>
            <a:r>
              <a:rPr lang="zh-CN" altLang="en-US" sz="1800" dirty="0">
                <a:sym typeface="+mn-ea"/>
              </a:rPr>
              <a:t>、</a:t>
            </a:r>
            <a:r>
              <a:rPr lang="en-US" altLang="zh-CN" sz="1800" dirty="0">
                <a:sym typeface="+mn-ea"/>
              </a:rPr>
              <a:t>量词</a:t>
            </a:r>
            <a:r>
              <a:rPr lang="zh-CN" altLang="en-US" sz="1800" dirty="0">
                <a:sym typeface="+mn-ea"/>
              </a:rPr>
              <a:t>和逻辑运算符</a:t>
            </a:r>
            <a:r>
              <a:rPr lang="en-US" altLang="zh-CN" sz="1800" dirty="0">
                <a:sym typeface="+mn-ea"/>
              </a:rPr>
              <a:t>，"</a:t>
            </a:r>
            <a:r>
              <a:rPr lang="zh-CN" altLang="en-US" sz="1800" dirty="0">
                <a:sym typeface="+mn-ea"/>
              </a:rPr>
              <a:t>公司</a:t>
            </a:r>
            <a:r>
              <a:rPr lang="en-US" altLang="zh-CN" sz="1800" dirty="0">
                <a:sym typeface="+mn-ea"/>
              </a:rPr>
              <a:t>A</a:t>
            </a:r>
            <a:r>
              <a:rPr lang="zh-CN" altLang="en-US" sz="1800" dirty="0">
                <a:sym typeface="+mn-ea"/>
              </a:rPr>
              <a:t>的所有员工都会说法语</a:t>
            </a:r>
            <a:r>
              <a:rPr lang="en-US" altLang="zh-CN" sz="1800" dirty="0">
                <a:sym typeface="+mn-ea"/>
              </a:rPr>
              <a:t> "可以表示为</a:t>
            </a:r>
            <a:r>
              <a:rPr lang="zh-CN" altLang="en-US" sz="1800" dirty="0">
                <a:sym typeface="+mn-ea"/>
              </a:rPr>
              <a:t>（）</a:t>
            </a:r>
            <a:endParaRPr lang="zh-CN" altLang="zh-CN" sz="1800" dirty="0"/>
          </a:p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rcRect t="50000"/>
          <a:stretch>
            <a:fillRect/>
          </a:stretch>
        </p:blipFill>
        <p:spPr>
          <a:xfrm>
            <a:off x="533400" y="2514600"/>
            <a:ext cx="8077200" cy="12954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E61DC6EF-436C-427B-8328-825AA51EE00D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62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53251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  <p:grpSp>
        <p:nvGrpSpPr>
          <p:cNvPr id="53252" name="Group 3"/>
          <p:cNvGrpSpPr/>
          <p:nvPr/>
        </p:nvGrpSpPr>
        <p:grpSpPr bwMode="auto">
          <a:xfrm>
            <a:off x="1981200" y="2819400"/>
            <a:ext cx="5029200" cy="2438400"/>
            <a:chOff x="0" y="0"/>
            <a:chExt cx="1889" cy="1009"/>
          </a:xfrm>
        </p:grpSpPr>
        <p:grpSp>
          <p:nvGrpSpPr>
            <p:cNvPr id="53254" name="Group 4"/>
            <p:cNvGrpSpPr/>
            <p:nvPr/>
          </p:nvGrpSpPr>
          <p:grpSpPr bwMode="auto">
            <a:xfrm>
              <a:off x="0" y="90"/>
              <a:ext cx="1889" cy="919"/>
              <a:chOff x="0" y="0"/>
              <a:chExt cx="1926" cy="937"/>
            </a:xfrm>
          </p:grpSpPr>
          <p:sp>
            <p:nvSpPr>
              <p:cNvPr id="53259" name="Oval 5"/>
              <p:cNvSpPr>
                <a:spLocks noChangeArrowheads="1"/>
              </p:cNvSpPr>
              <p:nvPr/>
            </p:nvSpPr>
            <p:spPr bwMode="auto">
              <a:xfrm>
                <a:off x="21" y="30"/>
                <a:ext cx="1905" cy="90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4A4A7C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/>
              </a:p>
            </p:txBody>
          </p:sp>
          <p:sp>
            <p:nvSpPr>
              <p:cNvPr id="53260" name="Oval 6"/>
              <p:cNvSpPr>
                <a:spLocks noChangeArrowheads="1"/>
              </p:cNvSpPr>
              <p:nvPr/>
            </p:nvSpPr>
            <p:spPr bwMode="auto">
              <a:xfrm>
                <a:off x="0" y="0"/>
                <a:ext cx="1905" cy="907"/>
              </a:xfrm>
              <a:prstGeom prst="ellipse">
                <a:avLst/>
              </a:prstGeom>
              <a:gradFill rotWithShape="1">
                <a:gsLst>
                  <a:gs pos="0">
                    <a:srgbClr val="D2D2FF"/>
                  </a:gs>
                  <a:gs pos="100000">
                    <a:schemeClr val="hlink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/>
              </a:p>
            </p:txBody>
          </p:sp>
        </p:grpSp>
        <p:sp>
          <p:nvSpPr>
            <p:cNvPr id="53255" name="Oval 7"/>
            <p:cNvSpPr>
              <a:spLocks noChangeArrowheads="1"/>
            </p:cNvSpPr>
            <p:nvPr/>
          </p:nvSpPr>
          <p:spPr bwMode="auto">
            <a:xfrm>
              <a:off x="89" y="0"/>
              <a:ext cx="1691" cy="845"/>
            </a:xfrm>
            <a:prstGeom prst="ellipse">
              <a:avLst/>
            </a:prstGeom>
            <a:gradFill rotWithShape="1">
              <a:gsLst>
                <a:gs pos="0">
                  <a:srgbClr val="37556B"/>
                </a:gs>
                <a:gs pos="100000">
                  <a:schemeClr val="accent1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eaVert"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/>
            </a:p>
          </p:txBody>
        </p:sp>
        <p:sp>
          <p:nvSpPr>
            <p:cNvPr id="53256" name="Oval 8"/>
            <p:cNvSpPr>
              <a:spLocks noChangeArrowheads="1"/>
            </p:cNvSpPr>
            <p:nvPr/>
          </p:nvSpPr>
          <p:spPr bwMode="auto">
            <a:xfrm>
              <a:off x="111" y="5"/>
              <a:ext cx="1650" cy="824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alpha val="0"/>
                  </a:schemeClr>
                </a:gs>
                <a:gs pos="100000">
                  <a:srgbClr val="D0E6F7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eaVert"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/>
            </a:p>
          </p:txBody>
        </p:sp>
        <p:sp>
          <p:nvSpPr>
            <p:cNvPr id="53257" name="Oval 9"/>
            <p:cNvSpPr>
              <a:spLocks noChangeArrowheads="1"/>
            </p:cNvSpPr>
            <p:nvPr/>
          </p:nvSpPr>
          <p:spPr bwMode="auto">
            <a:xfrm>
              <a:off x="128" y="13"/>
              <a:ext cx="1570" cy="770"/>
            </a:xfrm>
            <a:prstGeom prst="ellipse">
              <a:avLst/>
            </a:prstGeom>
            <a:gradFill rotWithShape="1">
              <a:gsLst>
                <a:gs pos="0">
                  <a:srgbClr val="5E91B7"/>
                </a:gs>
                <a:gs pos="100000">
                  <a:schemeClr val="accent1">
                    <a:alpha val="48000"/>
                  </a:schemeClr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eaVert"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/>
            </a:p>
          </p:txBody>
        </p:sp>
        <p:sp>
          <p:nvSpPr>
            <p:cNvPr id="53258" name="Oval 10"/>
            <p:cNvSpPr>
              <a:spLocks noChangeArrowheads="1"/>
            </p:cNvSpPr>
            <p:nvPr/>
          </p:nvSpPr>
          <p:spPr bwMode="auto">
            <a:xfrm>
              <a:off x="211" y="30"/>
              <a:ext cx="1382" cy="624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chemeClr val="accent1">
                    <a:alpha val="37999"/>
                  </a:schemeClr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eaVert"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/>
            </a:p>
          </p:txBody>
        </p:sp>
      </p:grpSp>
      <p:sp>
        <p:nvSpPr>
          <p:cNvPr id="53253" name="Rectangle 11"/>
          <p:cNvSpPr>
            <a:spLocks noGrp="1" noChangeArrowheads="1"/>
          </p:cNvSpPr>
          <p:nvPr>
            <p:ph type="body" idx="4294967295"/>
          </p:nvPr>
        </p:nvSpPr>
        <p:spPr>
          <a:xfrm>
            <a:off x="2286000" y="3429000"/>
            <a:ext cx="4572000" cy="685800"/>
          </a:xfrm>
        </p:spPr>
        <p:txBody>
          <a:bodyPr/>
          <a:lstStyle/>
          <a:p>
            <a:pPr algn="ctr">
              <a:spcBef>
                <a:spcPct val="0"/>
              </a:spcBef>
              <a:buClrTx/>
              <a:buFont typeface="Wingdings" panose="05000000000000000000" pitchFamily="2" charset="2"/>
              <a:buNone/>
            </a:pPr>
            <a:r>
              <a:rPr lang="en-US" altLang="zh-CN" b="1">
                <a:ea typeface="宋体" panose="02010600030101010101" pitchFamily="2" charset="-122"/>
              </a:rPr>
              <a:t>应用实例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5A6F0AC8-7AEA-47C0-97EA-321A0654E6AD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63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55299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800">
                <a:ea typeface="宋体" panose="02010600030101010101" pitchFamily="2" charset="-122"/>
              </a:rPr>
              <a:t>例 13</a:t>
            </a:r>
          </a:p>
        </p:txBody>
      </p:sp>
      <p:sp>
        <p:nvSpPr>
          <p:cNvPr id="51204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419225"/>
            <a:ext cx="8534400" cy="4879975"/>
          </a:xfrm>
        </p:spPr>
        <p:txBody>
          <a:bodyPr/>
          <a:lstStyle/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"</a:t>
            </a:r>
            <a:r>
              <a:rPr lang="en-US" altLang="zh-CN" dirty="0" err="1">
                <a:ea typeface="宋体" panose="02010600030101010101" pitchFamily="2" charset="-122"/>
              </a:rPr>
              <a:t>狮子都很凶猛</a:t>
            </a:r>
            <a:endParaRPr lang="en-US" altLang="zh-CN" b="1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"</a:t>
            </a:r>
            <a:r>
              <a:rPr lang="en-US" altLang="zh-CN" dirty="0" err="1">
                <a:ea typeface="宋体" panose="02010600030101010101" pitchFamily="2" charset="-122"/>
              </a:rPr>
              <a:t>有些狮子不喝咖啡</a:t>
            </a:r>
            <a:endParaRPr lang="en-US" altLang="zh-CN" b="1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"</a:t>
            </a:r>
            <a:r>
              <a:rPr lang="en-US" altLang="zh-CN" dirty="0" err="1">
                <a:ea typeface="宋体" panose="02010600030101010101" pitchFamily="2" charset="-122"/>
              </a:rPr>
              <a:t>有些凶猛的动物不喝咖啡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"</a:t>
            </a:r>
          </a:p>
          <a:p>
            <a:pPr eaLnBrk="1" hangingPunct="1"/>
            <a:r>
              <a:rPr lang="en-US" altLang="zh-CN" dirty="0">
                <a:ea typeface="宋体" panose="02010600030101010101" pitchFamily="2" charset="-122"/>
              </a:rPr>
              <a:t>"</a:t>
            </a:r>
            <a:r>
              <a:rPr lang="en-US" altLang="zh-CN" b="1" i="1" dirty="0" err="1">
                <a:solidFill>
                  <a:srgbClr val="000000"/>
                </a:solidFill>
                <a:ea typeface="宋体" panose="02010600030101010101" pitchFamily="2" charset="-122"/>
              </a:rPr>
              <a:t>x</a:t>
            </a:r>
            <a:r>
              <a:rPr lang="en-US" altLang="zh-CN" dirty="0" err="1">
                <a:ea typeface="宋体" panose="02010600030101010101" pitchFamily="2" charset="-122"/>
              </a:rPr>
              <a:t>是狮子</a:t>
            </a:r>
            <a:r>
              <a:rPr lang="en-US" altLang="zh-CN" dirty="0">
                <a:ea typeface="宋体" panose="02010600030101010101" pitchFamily="2" charset="-122"/>
              </a:rPr>
              <a:t>" P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</a:rPr>
              <a:t>(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</a:rPr>
              <a:t>x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</a:rPr>
              <a:t>)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"</a:t>
            </a:r>
            <a:r>
              <a:rPr lang="en-US" altLang="zh-CN" b="1" i="1" dirty="0" err="1">
                <a:solidFill>
                  <a:srgbClr val="000000"/>
                </a:solidFill>
                <a:ea typeface="宋体" panose="02010600030101010101" pitchFamily="2" charset="-122"/>
              </a:rPr>
              <a:t>x</a:t>
            </a:r>
            <a:r>
              <a:rPr lang="en-US" altLang="zh-CN" dirty="0" err="1">
                <a:ea typeface="宋体" panose="02010600030101010101" pitchFamily="2" charset="-122"/>
              </a:rPr>
              <a:t>很凶猛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" Q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</a:rPr>
              <a:t>(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) </a:t>
            </a:r>
          </a:p>
          <a:p>
            <a:pPr eaLnBrk="1" hangingPunct="1"/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  "</a:t>
            </a:r>
            <a:r>
              <a:rPr lang="en-US" altLang="zh-CN" b="1" i="1" dirty="0" err="1">
                <a:solidFill>
                  <a:srgbClr val="000000"/>
                </a:solidFill>
                <a:ea typeface="宋体" panose="02010600030101010101" pitchFamily="2" charset="-122"/>
              </a:rPr>
              <a:t>x</a:t>
            </a:r>
            <a:r>
              <a:rPr lang="en-US" altLang="zh-CN" dirty="0" err="1">
                <a:ea typeface="宋体" panose="02010600030101010101" pitchFamily="2" charset="-122"/>
              </a:rPr>
              <a:t>喝咖啡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"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</a:rPr>
              <a:t>R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</a:rPr>
              <a:t>(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</a:rPr>
              <a:t>x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</a:rPr>
              <a:t>)</a:t>
            </a:r>
          </a:p>
          <a:p>
            <a:pPr eaLnBrk="1" hangingPunct="1"/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  x (</a:t>
            </a:r>
            <a:r>
              <a:rPr lang="en-US" altLang="zh-CN" sz="2800" b="1" i="1" dirty="0">
                <a:solidFill>
                  <a:srgbClr val="000000"/>
                </a:solidFill>
                <a:ea typeface="宋体" panose="02010600030101010101" pitchFamily="2" charset="-122"/>
              </a:rPr>
              <a:t>P</a:t>
            </a: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</a:rPr>
              <a:t>(</a:t>
            </a:r>
            <a:r>
              <a:rPr lang="en-US" altLang="zh-CN" sz="2800" b="1" i="1" dirty="0">
                <a:solidFill>
                  <a:srgbClr val="000000"/>
                </a:solidFill>
                <a:ea typeface="宋体" panose="02010600030101010101" pitchFamily="2" charset="-122"/>
              </a:rPr>
              <a:t>x</a:t>
            </a: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</a:rPr>
              <a:t>)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800" b="1" i="1" dirty="0">
                <a:solidFill>
                  <a:srgbClr val="000000"/>
                </a:solidFill>
                <a:ea typeface="宋体" panose="02010600030101010101" pitchFamily="2" charset="-122"/>
              </a:rPr>
              <a:t>Q</a:t>
            </a: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</a:rPr>
              <a:t>(</a:t>
            </a:r>
            <a:r>
              <a:rPr lang="en-US" altLang="zh-CN" sz="2800" b="1" i="1" dirty="0">
                <a:solidFill>
                  <a:srgbClr val="000000"/>
                </a:solidFill>
                <a:ea typeface="宋体" panose="02010600030101010101" pitchFamily="2" charset="-122"/>
              </a:rPr>
              <a:t>x</a:t>
            </a: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</a:rPr>
              <a:t>)) </a:t>
            </a:r>
            <a:r>
              <a:rPr lang="zh-CN" altLang="en-US" sz="2800" b="1" dirty="0">
                <a:solidFill>
                  <a:srgbClr val="000000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</a:t>
            </a: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</a:rPr>
              <a:t> x (P(</a:t>
            </a:r>
            <a:r>
              <a:rPr lang="en-US" altLang="zh-CN" sz="2800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</a:rPr>
              <a:t>)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 </a:t>
            </a: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 </a:t>
            </a:r>
            <a:r>
              <a:rPr lang="en-US" altLang="zh-CN" sz="2800" b="1" i="1" dirty="0">
                <a:solidFill>
                  <a:srgbClr val="000000"/>
                </a:solidFill>
                <a:ea typeface="宋体" panose="02010600030101010101" pitchFamily="2" charset="-122"/>
              </a:rPr>
              <a:t>R</a:t>
            </a: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</a:rPr>
              <a:t>(</a:t>
            </a:r>
            <a:r>
              <a:rPr lang="en-US" altLang="zh-CN" sz="2800" b="1" i="1" dirty="0">
                <a:solidFill>
                  <a:srgbClr val="000000"/>
                </a:solidFill>
                <a:ea typeface="宋体" panose="02010600030101010101" pitchFamily="2" charset="-122"/>
              </a:rPr>
              <a:t>x</a:t>
            </a: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</a:rPr>
              <a:t>))</a:t>
            </a:r>
          </a:p>
          <a:p>
            <a:pPr eaLnBrk="1" hangingPunct="1"/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  </a:t>
            </a:r>
            <a:r>
              <a:rPr lang="en-US" altLang="zh-CN" sz="2800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 </a:t>
            </a: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2800" b="1" i="1" dirty="0">
                <a:solidFill>
                  <a:srgbClr val="000000"/>
                </a:solidFill>
                <a:ea typeface="宋体" panose="02010600030101010101" pitchFamily="2" charset="-122"/>
              </a:rPr>
              <a:t>Q</a:t>
            </a: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</a:rPr>
              <a:t>(</a:t>
            </a:r>
            <a:r>
              <a:rPr lang="en-US" altLang="zh-CN" sz="2800" b="1" i="1" dirty="0">
                <a:solidFill>
                  <a:srgbClr val="000000"/>
                </a:solidFill>
                <a:ea typeface="宋体" panose="02010600030101010101" pitchFamily="2" charset="-122"/>
              </a:rPr>
              <a:t>x</a:t>
            </a: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</a:rPr>
              <a:t>)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 </a:t>
            </a: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 </a:t>
            </a:r>
            <a:r>
              <a:rPr lang="en-US" altLang="zh-CN" sz="2800" b="1" i="1" dirty="0">
                <a:solidFill>
                  <a:srgbClr val="000000"/>
                </a:solidFill>
                <a:ea typeface="宋体" panose="02010600030101010101" pitchFamily="2" charset="-122"/>
              </a:rPr>
              <a:t>R</a:t>
            </a: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</a:rPr>
              <a:t>(</a:t>
            </a:r>
            <a:r>
              <a:rPr lang="en-US" altLang="zh-CN" sz="2800" b="1" i="1" dirty="0">
                <a:solidFill>
                  <a:srgbClr val="000000"/>
                </a:solidFill>
                <a:ea typeface="宋体" panose="02010600030101010101" pitchFamily="2" charset="-122"/>
              </a:rPr>
              <a:t>x</a:t>
            </a: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</a:rPr>
              <a:t>))  </a:t>
            </a:r>
          </a:p>
          <a:p>
            <a:pPr eaLnBrk="1" hangingPunct="1"/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</a:rPr>
              <a:t>   </a:t>
            </a:r>
            <a:r>
              <a:rPr lang="en-US" altLang="zh-CN" sz="2800" b="1" dirty="0" err="1">
                <a:solidFill>
                  <a:srgbClr val="000000"/>
                </a:solidFill>
                <a:ea typeface="宋体" panose="02010600030101010101" pitchFamily="2" charset="-122"/>
              </a:rPr>
              <a:t>但不是</a:t>
            </a: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 </a:t>
            </a:r>
            <a:r>
              <a:rPr lang="en-US" altLang="zh-CN" sz="2800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 </a:t>
            </a: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2800" b="1" i="1" dirty="0">
                <a:solidFill>
                  <a:srgbClr val="000000"/>
                </a:solidFill>
                <a:ea typeface="宋体" panose="02010600030101010101" pitchFamily="2" charset="-122"/>
              </a:rPr>
              <a:t>Q</a:t>
            </a: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</a:rPr>
              <a:t>(</a:t>
            </a:r>
            <a:r>
              <a:rPr lang="en-US" altLang="zh-CN" sz="2800" b="1" i="1" dirty="0">
                <a:solidFill>
                  <a:srgbClr val="000000"/>
                </a:solidFill>
                <a:ea typeface="宋体" panose="02010600030101010101" pitchFamily="2" charset="-122"/>
              </a:rPr>
              <a:t>x</a:t>
            </a: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</a:rPr>
              <a:t>)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 </a:t>
            </a:r>
            <a:r>
              <a:rPr lang="en-US" altLang="zh-CN" sz="2800" b="1" i="1" dirty="0">
                <a:solidFill>
                  <a:srgbClr val="000000"/>
                </a:solidFill>
                <a:ea typeface="宋体" panose="02010600030101010101" pitchFamily="2" charset="-122"/>
              </a:rPr>
              <a:t>R</a:t>
            </a: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</a:rPr>
              <a:t>(</a:t>
            </a:r>
            <a:r>
              <a:rPr lang="en-US" altLang="zh-CN" sz="2800" b="1" i="1" dirty="0">
                <a:solidFill>
                  <a:srgbClr val="000000"/>
                </a:solidFill>
                <a:ea typeface="宋体" panose="02010600030101010101" pitchFamily="2" charset="-122"/>
              </a:rPr>
              <a:t>x</a:t>
            </a: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</a:rPr>
              <a:t>))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12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12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12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12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12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12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12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12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120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120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120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120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120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120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120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120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04" grpId="0" build="p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3433C5AE-97DC-4DBD-B1F2-5B01E3FD7619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64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56323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800">
                <a:ea typeface="宋体" panose="02010600030101010101" pitchFamily="2" charset="-122"/>
              </a:rPr>
              <a:t>例 14</a:t>
            </a:r>
          </a:p>
        </p:txBody>
      </p:sp>
      <p:sp>
        <p:nvSpPr>
          <p:cNvPr id="52228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"所有的蜂鸟都有丰富的色彩"。</a:t>
            </a:r>
          </a:p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"没有大鸟以蜂蜜为生"</a:t>
            </a:r>
          </a:p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"不以蜂蜜为生的鸟颜色暗淡"      </a:t>
            </a:r>
          </a:p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  "蜂鸟很小"</a:t>
            </a:r>
          </a:p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"</a:t>
            </a:r>
            <a:r>
              <a:rPr lang="en-US" altLang="zh-CN" i="1">
                <a:solidFill>
                  <a:srgbClr val="000000"/>
                </a:solidFill>
                <a:ea typeface="宋体" panose="02010600030101010101" pitchFamily="2" charset="-122"/>
              </a:rPr>
              <a:t>x</a:t>
            </a:r>
            <a:r>
              <a:rPr lang="en-US" altLang="zh-CN">
                <a:ea typeface="宋体" panose="02010600030101010101" pitchFamily="2" charset="-122"/>
              </a:rPr>
              <a:t>是一只蜂鸟" P(x)</a:t>
            </a:r>
          </a:p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"</a:t>
            </a:r>
            <a:r>
              <a:rPr lang="en-US" altLang="zh-CN" i="1">
                <a:solidFill>
                  <a:srgbClr val="000000"/>
                </a:solidFill>
                <a:ea typeface="宋体" panose="02010600030101010101" pitchFamily="2" charset="-122"/>
              </a:rPr>
              <a:t>x</a:t>
            </a:r>
            <a:r>
              <a:rPr lang="en-US" altLang="zh-CN">
                <a:ea typeface="宋体" panose="02010600030101010101" pitchFamily="2" charset="-122"/>
              </a:rPr>
              <a:t>很大" Q(</a:t>
            </a:r>
            <a:r>
              <a:rPr lang="en-US" altLang="zh-CN" i="1">
                <a:solidFill>
                  <a:srgbClr val="000000"/>
                </a:solidFill>
                <a:ea typeface="宋体" panose="02010600030101010101" pitchFamily="2" charset="-122"/>
              </a:rPr>
              <a:t>x</a:t>
            </a:r>
            <a:r>
              <a:rPr lang="en-US" altLang="zh-CN">
                <a:ea typeface="宋体" panose="02010600030101010101" pitchFamily="2" charset="-122"/>
              </a:rPr>
              <a:t>)    </a:t>
            </a:r>
          </a:p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"</a:t>
            </a:r>
            <a:r>
              <a:rPr lang="en-US" altLang="zh-CN" i="1">
                <a:solidFill>
                  <a:srgbClr val="000000"/>
                </a:solidFill>
                <a:ea typeface="宋体" panose="02010600030101010101" pitchFamily="2" charset="-122"/>
              </a:rPr>
              <a:t>x</a:t>
            </a:r>
            <a:r>
              <a:rPr lang="en-US" altLang="zh-CN">
                <a:ea typeface="宋体" panose="02010600030101010101" pitchFamily="2" charset="-122"/>
              </a:rPr>
              <a:t>生活在蜂蜜上" R(</a:t>
            </a:r>
            <a:r>
              <a:rPr lang="en-US" altLang="zh-CN" i="1">
                <a:solidFill>
                  <a:srgbClr val="000000"/>
                </a:solidFill>
                <a:ea typeface="宋体" panose="02010600030101010101" pitchFamily="2" charset="-122"/>
              </a:rPr>
              <a:t>x</a:t>
            </a:r>
            <a:r>
              <a:rPr lang="en-US" altLang="zh-CN">
                <a:ea typeface="宋体" panose="02010600030101010101" pitchFamily="2" charset="-122"/>
              </a:rPr>
              <a:t>) </a:t>
            </a:r>
          </a:p>
          <a:p>
            <a:pPr eaLnBrk="1" hangingPunct="1"/>
            <a:r>
              <a:rPr lang="en-US" altLang="zh-CN" i="1">
                <a:solidFill>
                  <a:srgbClr val="000000"/>
                </a:solidFill>
                <a:ea typeface="宋体" panose="02010600030101010101" pitchFamily="2" charset="-122"/>
              </a:rPr>
              <a:t>"x </a:t>
            </a:r>
            <a:r>
              <a:rPr lang="en-US" altLang="zh-CN">
                <a:ea typeface="宋体" panose="02010600030101010101" pitchFamily="2" charset="-122"/>
              </a:rPr>
              <a:t>色彩丰富" S(</a:t>
            </a:r>
            <a:r>
              <a:rPr lang="en-US" altLang="zh-CN" i="1">
                <a:solidFill>
                  <a:srgbClr val="000000"/>
                </a:solidFill>
                <a:ea typeface="宋体" panose="02010600030101010101" pitchFamily="2" charset="-122"/>
              </a:rPr>
              <a:t>x</a:t>
            </a:r>
            <a:r>
              <a:rPr lang="en-US" altLang="zh-CN">
                <a:ea typeface="宋体" panose="02010600030101010101" pitchFamily="2" charset="-122"/>
              </a:rPr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22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22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22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22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22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22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22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522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28" grpId="0" build="p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0A7B3617-9C4C-4C29-8BBC-3F5D05BB518B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65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57347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800">
                <a:ea typeface="宋体" panose="02010600030101010101" pitchFamily="2" charset="-122"/>
              </a:rPr>
              <a:t>例 14</a:t>
            </a:r>
          </a:p>
        </p:txBody>
      </p:sp>
      <p:sp>
        <p:nvSpPr>
          <p:cNvPr id="53252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"所有的蜂鸟都有丰富的色彩"。</a:t>
            </a:r>
          </a:p>
          <a:p>
            <a:pPr eaLnBrk="1" hangingPunct="1"/>
            <a:r>
              <a:rPr lang="en-US" altLang="zh-CN" sz="2800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x (</a:t>
            </a:r>
            <a:r>
              <a:rPr lang="en-US" altLang="zh-CN" sz="2800" b="1" i="1">
                <a:solidFill>
                  <a:srgbClr val="000000"/>
                </a:solidFill>
                <a:ea typeface="宋体" panose="02010600030101010101" pitchFamily="2" charset="-122"/>
              </a:rPr>
              <a:t>P</a:t>
            </a:r>
            <a:r>
              <a:rPr lang="en-US" altLang="zh-CN" sz="2800" b="1">
                <a:solidFill>
                  <a:srgbClr val="000000"/>
                </a:solidFill>
                <a:ea typeface="宋体" panose="02010600030101010101" pitchFamily="2" charset="-122"/>
              </a:rPr>
              <a:t>(</a:t>
            </a:r>
            <a:r>
              <a:rPr lang="en-US" altLang="zh-CN" sz="2800" b="1" i="1">
                <a:solidFill>
                  <a:srgbClr val="000000"/>
                </a:solidFill>
                <a:ea typeface="宋体" panose="02010600030101010101" pitchFamily="2" charset="-122"/>
              </a:rPr>
              <a:t>x</a:t>
            </a:r>
            <a:r>
              <a:rPr lang="en-US" altLang="zh-CN" sz="2800" b="1">
                <a:solidFill>
                  <a:srgbClr val="000000"/>
                </a:solidFill>
                <a:ea typeface="宋体" panose="02010600030101010101" pitchFamily="2" charset="-122"/>
              </a:rPr>
              <a:t>) 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800" b="1" i="1">
                <a:solidFill>
                  <a:srgbClr val="000000"/>
                </a:solidFill>
                <a:ea typeface="宋体" panose="02010600030101010101" pitchFamily="2" charset="-122"/>
              </a:rPr>
              <a:t>S</a:t>
            </a:r>
            <a:r>
              <a:rPr lang="en-US" altLang="zh-CN" sz="2800" b="1">
                <a:solidFill>
                  <a:srgbClr val="000000"/>
                </a:solidFill>
                <a:ea typeface="宋体" panose="02010600030101010101" pitchFamily="2" charset="-122"/>
              </a:rPr>
              <a:t>(</a:t>
            </a:r>
            <a:r>
              <a:rPr lang="en-US" altLang="zh-CN" sz="2800" b="1" i="1">
                <a:solidFill>
                  <a:srgbClr val="000000"/>
                </a:solidFill>
                <a:ea typeface="宋体" panose="02010600030101010101" pitchFamily="2" charset="-122"/>
              </a:rPr>
              <a:t>x</a:t>
            </a:r>
            <a:r>
              <a:rPr lang="en-US" altLang="zh-CN" sz="2800" b="1">
                <a:solidFill>
                  <a:srgbClr val="000000"/>
                </a:solidFill>
                <a:ea typeface="宋体" panose="02010600030101010101" pitchFamily="2" charset="-122"/>
              </a:rPr>
              <a:t>))</a:t>
            </a:r>
          </a:p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"没有大鸟以蜂蜜为生"</a:t>
            </a:r>
          </a:p>
          <a:p>
            <a:pPr eaLnBrk="1" hangingPunct="1"/>
            <a:r>
              <a:rPr lang="en-US" altLang="zh-CN" sz="2800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  </a:t>
            </a:r>
            <a:r>
              <a:rPr lang="en-US" altLang="zh-CN" sz="2800" b="1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 </a:t>
            </a:r>
            <a:r>
              <a:rPr lang="en-US" altLang="zh-CN" sz="2800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2800" b="1" i="1">
                <a:solidFill>
                  <a:srgbClr val="000000"/>
                </a:solidFill>
                <a:ea typeface="宋体" panose="02010600030101010101" pitchFamily="2" charset="-122"/>
              </a:rPr>
              <a:t>Q</a:t>
            </a:r>
            <a:r>
              <a:rPr lang="en-US" altLang="zh-CN" sz="2800" b="1">
                <a:solidFill>
                  <a:srgbClr val="000000"/>
                </a:solidFill>
                <a:ea typeface="宋体" panose="02010600030101010101" pitchFamily="2" charset="-122"/>
              </a:rPr>
              <a:t>(</a:t>
            </a:r>
            <a:r>
              <a:rPr lang="en-US" altLang="zh-CN" sz="2800" b="1" i="1">
                <a:solidFill>
                  <a:srgbClr val="000000"/>
                </a:solidFill>
                <a:ea typeface="宋体" panose="02010600030101010101" pitchFamily="2" charset="-122"/>
              </a:rPr>
              <a:t>x</a:t>
            </a:r>
            <a:r>
              <a:rPr lang="en-US" altLang="zh-CN" sz="2800" b="1">
                <a:solidFill>
                  <a:srgbClr val="000000"/>
                </a:solidFill>
                <a:ea typeface="宋体" panose="02010600030101010101" pitchFamily="2" charset="-122"/>
              </a:rPr>
              <a:t>) 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 </a:t>
            </a:r>
            <a:r>
              <a:rPr lang="en-US" altLang="zh-CN" sz="2800" b="1" i="1">
                <a:solidFill>
                  <a:srgbClr val="000000"/>
                </a:solidFill>
                <a:ea typeface="宋体" panose="02010600030101010101" pitchFamily="2" charset="-122"/>
              </a:rPr>
              <a:t>R</a:t>
            </a:r>
            <a:r>
              <a:rPr lang="en-US" altLang="zh-CN" sz="2800" b="1">
                <a:solidFill>
                  <a:srgbClr val="000000"/>
                </a:solidFill>
                <a:ea typeface="宋体" panose="02010600030101010101" pitchFamily="2" charset="-122"/>
              </a:rPr>
              <a:t>(</a:t>
            </a:r>
            <a:r>
              <a:rPr lang="en-US" altLang="zh-CN" sz="2800" b="1" i="1">
                <a:solidFill>
                  <a:srgbClr val="000000"/>
                </a:solidFill>
                <a:ea typeface="宋体" panose="02010600030101010101" pitchFamily="2" charset="-122"/>
              </a:rPr>
              <a:t>x</a:t>
            </a:r>
            <a:r>
              <a:rPr lang="en-US" altLang="zh-CN" sz="2800" b="1">
                <a:solidFill>
                  <a:srgbClr val="000000"/>
                </a:solidFill>
                <a:ea typeface="宋体" panose="02010600030101010101" pitchFamily="2" charset="-122"/>
              </a:rPr>
              <a:t>))</a:t>
            </a:r>
          </a:p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"不以蜂蜜为生的鸟儿颜色暗淡"。      </a:t>
            </a:r>
            <a:r>
              <a:rPr lang="en-US" altLang="zh-CN" sz="2800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x (  </a:t>
            </a:r>
            <a:r>
              <a:rPr lang="en-US" altLang="zh-CN" sz="2800" b="1" i="1">
                <a:solidFill>
                  <a:srgbClr val="000000"/>
                </a:solidFill>
                <a:ea typeface="宋体" panose="02010600030101010101" pitchFamily="2" charset="-122"/>
              </a:rPr>
              <a:t>R</a:t>
            </a:r>
            <a:r>
              <a:rPr lang="en-US" altLang="zh-CN" sz="2800" b="1">
                <a:solidFill>
                  <a:srgbClr val="000000"/>
                </a:solidFill>
                <a:ea typeface="宋体" panose="02010600030101010101" pitchFamily="2" charset="-122"/>
              </a:rPr>
              <a:t>(</a:t>
            </a:r>
            <a:r>
              <a:rPr lang="en-US" altLang="zh-CN" sz="2800" b="1" i="1">
                <a:solidFill>
                  <a:srgbClr val="000000"/>
                </a:solidFill>
                <a:ea typeface="宋体" panose="02010600030101010101" pitchFamily="2" charset="-122"/>
              </a:rPr>
              <a:t>x</a:t>
            </a:r>
            <a:r>
              <a:rPr lang="en-US" altLang="zh-CN" sz="2800" b="1">
                <a:solidFill>
                  <a:srgbClr val="000000"/>
                </a:solidFill>
                <a:ea typeface="宋体" panose="02010600030101010101" pitchFamily="2" charset="-122"/>
              </a:rPr>
              <a:t>) 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800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 </a:t>
            </a:r>
            <a:r>
              <a:rPr lang="en-US" altLang="zh-CN" sz="2800" b="1" i="1">
                <a:solidFill>
                  <a:srgbClr val="000000"/>
                </a:solidFill>
                <a:ea typeface="宋体" panose="02010600030101010101" pitchFamily="2" charset="-122"/>
              </a:rPr>
              <a:t>S</a:t>
            </a:r>
            <a:r>
              <a:rPr lang="en-US" altLang="zh-CN" sz="2800" b="1">
                <a:solidFill>
                  <a:srgbClr val="000000"/>
                </a:solidFill>
                <a:ea typeface="宋体" panose="02010600030101010101" pitchFamily="2" charset="-122"/>
              </a:rPr>
              <a:t>(</a:t>
            </a:r>
            <a:r>
              <a:rPr lang="en-US" altLang="zh-CN" sz="2800" b="1" i="1">
                <a:solidFill>
                  <a:srgbClr val="000000"/>
                </a:solidFill>
                <a:ea typeface="宋体" panose="02010600030101010101" pitchFamily="2" charset="-122"/>
              </a:rPr>
              <a:t>x</a:t>
            </a:r>
            <a:r>
              <a:rPr lang="en-US" altLang="zh-CN" sz="2800" b="1">
                <a:solidFill>
                  <a:srgbClr val="000000"/>
                </a:solidFill>
                <a:ea typeface="宋体" panose="02010600030101010101" pitchFamily="2" charset="-122"/>
              </a:rPr>
              <a:t>))</a:t>
            </a:r>
          </a:p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"蜂鸟很小"</a:t>
            </a:r>
          </a:p>
          <a:p>
            <a:pPr eaLnBrk="1" hangingPunct="1"/>
            <a:r>
              <a:rPr lang="en-US" altLang="zh-CN" sz="2800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x ( </a:t>
            </a:r>
            <a:r>
              <a:rPr lang="en-US" altLang="zh-CN" sz="2800" b="1" i="1">
                <a:solidFill>
                  <a:srgbClr val="000000"/>
                </a:solidFill>
                <a:ea typeface="宋体" panose="02010600030101010101" pitchFamily="2" charset="-122"/>
              </a:rPr>
              <a:t>P</a:t>
            </a:r>
            <a:r>
              <a:rPr lang="en-US" altLang="zh-CN" sz="2800" b="1">
                <a:solidFill>
                  <a:srgbClr val="000000"/>
                </a:solidFill>
                <a:ea typeface="宋体" panose="02010600030101010101" pitchFamily="2" charset="-122"/>
              </a:rPr>
              <a:t>(</a:t>
            </a:r>
            <a:r>
              <a:rPr lang="en-US" altLang="zh-CN" sz="2800" b="1" i="1">
                <a:solidFill>
                  <a:srgbClr val="000000"/>
                </a:solidFill>
                <a:ea typeface="宋体" panose="02010600030101010101" pitchFamily="2" charset="-122"/>
              </a:rPr>
              <a:t>x</a:t>
            </a:r>
            <a:r>
              <a:rPr lang="en-US" altLang="zh-CN" sz="2800" b="1">
                <a:solidFill>
                  <a:srgbClr val="000000"/>
                </a:solidFill>
                <a:ea typeface="宋体" panose="02010600030101010101" pitchFamily="2" charset="-122"/>
              </a:rPr>
              <a:t>) 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800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 </a:t>
            </a:r>
            <a:r>
              <a:rPr lang="en-US" altLang="zh-CN" sz="2800" b="1" i="1">
                <a:solidFill>
                  <a:srgbClr val="000000"/>
                </a:solidFill>
                <a:ea typeface="宋体" panose="02010600030101010101" pitchFamily="2" charset="-122"/>
              </a:rPr>
              <a:t>Q</a:t>
            </a:r>
            <a:r>
              <a:rPr lang="en-US" altLang="zh-CN" sz="2800" b="1">
                <a:solidFill>
                  <a:srgbClr val="000000"/>
                </a:solidFill>
                <a:ea typeface="宋体" panose="02010600030101010101" pitchFamily="2" charset="-122"/>
              </a:rPr>
              <a:t>(</a:t>
            </a:r>
            <a:r>
              <a:rPr lang="en-US" altLang="zh-CN" sz="2800" b="1" i="1">
                <a:solidFill>
                  <a:srgbClr val="000000"/>
                </a:solidFill>
                <a:ea typeface="宋体" panose="02010600030101010101" pitchFamily="2" charset="-122"/>
              </a:rPr>
              <a:t>x</a:t>
            </a:r>
            <a:r>
              <a:rPr lang="en-US" altLang="zh-CN" sz="2800" b="1">
                <a:solidFill>
                  <a:srgbClr val="000000"/>
                </a:solidFill>
                <a:ea typeface="宋体" panose="02010600030101010101" pitchFamily="2" charset="-122"/>
              </a:rPr>
              <a:t>))</a:t>
            </a:r>
            <a:endParaRPr lang="en-US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32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32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32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32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32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32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32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32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32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32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325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325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325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325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2" grpId="0" build="p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4638A6E5-E5C0-4A32-AD27-79320973B1C3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66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58371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800">
                <a:ea typeface="宋体" panose="02010600030101010101" pitchFamily="2" charset="-122"/>
              </a:rPr>
              <a:t>逻辑编程</a:t>
            </a:r>
          </a:p>
        </p:txBody>
      </p:sp>
      <p:sp>
        <p:nvSpPr>
          <p:cNvPr id="5837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28600" y="1419225"/>
            <a:ext cx="8458200" cy="487997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>
                <a:ea typeface="宋体" panose="02010600030101010101" pitchFamily="2" charset="-122"/>
              </a:rPr>
              <a:t>Prolog 程序包括一组声明，由两类语句组成：Prolog 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</a:rPr>
              <a:t>事实</a:t>
            </a:r>
            <a:r>
              <a:rPr lang="en-US" altLang="zh-CN">
                <a:ea typeface="宋体" panose="02010600030101010101" pitchFamily="2" charset="-122"/>
              </a:rPr>
              <a:t>和 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</a:rPr>
              <a:t>Prolog 规则</a:t>
            </a:r>
            <a:r>
              <a:rPr lang="en-US" altLang="zh-CN">
                <a:ea typeface="宋体" panose="02010600030101010101" pitchFamily="2" charset="-122"/>
              </a:rPr>
              <a:t>。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i="1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instructor</a:t>
            </a: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(</a:t>
            </a:r>
            <a:r>
              <a:rPr lang="en-US" altLang="zh-CN" i="1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p</a:t>
            </a: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, </a:t>
            </a:r>
            <a:r>
              <a:rPr lang="en-US" altLang="zh-CN" i="1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c</a:t>
            </a: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)   </a:t>
            </a:r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i="1">
                <a:solidFill>
                  <a:srgbClr val="000000"/>
                </a:solidFill>
                <a:ea typeface="宋体" panose="02010600030101010101" pitchFamily="2" charset="-122"/>
              </a:rPr>
              <a:t>p </a:t>
            </a:r>
            <a:r>
              <a:rPr lang="en-US" altLang="zh-CN">
                <a:ea typeface="宋体" panose="02010600030101010101" pitchFamily="2" charset="-122"/>
              </a:rPr>
              <a:t>是课程 </a:t>
            </a:r>
            <a:r>
              <a:rPr lang="en-US" altLang="zh-CN" i="1">
                <a:solidFill>
                  <a:srgbClr val="000000"/>
                </a:solidFill>
                <a:ea typeface="宋体" panose="02010600030101010101" pitchFamily="2" charset="-122"/>
              </a:rPr>
              <a:t>c </a:t>
            </a:r>
            <a:r>
              <a:rPr lang="en-US" altLang="zh-CN">
                <a:ea typeface="宋体" panose="02010600030101010101" pitchFamily="2" charset="-122"/>
              </a:rPr>
              <a:t>的教师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i="1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enrolled</a:t>
            </a: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(</a:t>
            </a:r>
            <a:r>
              <a:rPr lang="en-US" altLang="zh-CN" i="1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s</a:t>
            </a: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, </a:t>
            </a:r>
            <a:r>
              <a:rPr lang="en-US" altLang="zh-CN" i="1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c</a:t>
            </a: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)</a:t>
            </a:r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i="1">
                <a:solidFill>
                  <a:srgbClr val="000000"/>
                </a:solidFill>
                <a:ea typeface="宋体" panose="02010600030101010101" pitchFamily="2" charset="-122"/>
              </a:rPr>
              <a:t>s </a:t>
            </a:r>
            <a:r>
              <a:rPr lang="en-US" altLang="zh-CN">
                <a:ea typeface="宋体" panose="02010600030101010101" pitchFamily="2" charset="-122"/>
              </a:rPr>
              <a:t>注册了课程 </a:t>
            </a:r>
            <a:r>
              <a:rPr lang="en-US" altLang="zh-CN" i="1">
                <a:solidFill>
                  <a:srgbClr val="000000"/>
                </a:solidFill>
                <a:ea typeface="宋体" panose="02010600030101010101" pitchFamily="2" charset="-122"/>
              </a:rPr>
              <a:t>c。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i="1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teaches</a:t>
            </a: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(</a:t>
            </a:r>
            <a:r>
              <a:rPr lang="en-US" altLang="zh-CN" i="1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p</a:t>
            </a: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, </a:t>
            </a:r>
            <a:r>
              <a:rPr lang="en-US" altLang="zh-CN" i="1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s</a:t>
            </a: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) :  </a:t>
            </a:r>
            <a:r>
              <a:rPr lang="en-US" altLang="zh-CN" i="1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instructor</a:t>
            </a: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(</a:t>
            </a:r>
            <a:r>
              <a:rPr lang="en-US" altLang="zh-CN" i="1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p</a:t>
            </a: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, </a:t>
            </a:r>
            <a:r>
              <a:rPr lang="en-US" altLang="zh-CN" i="1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c</a:t>
            </a: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), </a:t>
            </a:r>
            <a:r>
              <a:rPr lang="en-US" altLang="zh-CN" i="1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enrolled</a:t>
            </a: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(</a:t>
            </a:r>
            <a:r>
              <a:rPr lang="en-US" altLang="zh-CN" i="1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s</a:t>
            </a: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, </a:t>
            </a:r>
            <a:r>
              <a:rPr lang="en-US" altLang="zh-CN" i="1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c</a:t>
            </a: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)</a:t>
            </a:r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i="1">
                <a:solidFill>
                  <a:srgbClr val="000000"/>
                </a:solidFill>
                <a:ea typeface="宋体" panose="02010600030101010101" pitchFamily="2" charset="-122"/>
              </a:rPr>
              <a:t>p </a:t>
            </a:r>
            <a:r>
              <a:rPr lang="en-US" altLang="zh-CN">
                <a:ea typeface="宋体" panose="02010600030101010101" pitchFamily="2" charset="-122"/>
              </a:rPr>
              <a:t>教学生 </a:t>
            </a:r>
            <a:r>
              <a:rPr lang="en-US" altLang="zh-CN" i="1">
                <a:solidFill>
                  <a:srgbClr val="000000"/>
                </a:solidFill>
                <a:ea typeface="宋体" panose="02010600030101010101" pitchFamily="2" charset="-122"/>
              </a:rPr>
              <a:t>s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B4190230-CF42-4645-B54A-2FEE8ABC7AAE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67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59395" name="Rectangle 4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800">
                <a:ea typeface="宋体" panose="02010600030101010101" pitchFamily="2" charset="-122"/>
              </a:rPr>
              <a:t>例 15</a:t>
            </a:r>
          </a:p>
        </p:txBody>
      </p:sp>
      <p:sp>
        <p:nvSpPr>
          <p:cNvPr id="59396" name="Rectangle 7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  <a:sym typeface="+mn-ea"/>
              </a:rPr>
              <a:t>instructor (chan, math273)</a:t>
            </a:r>
            <a:endParaRPr lang="en-US" altLang="zh-CN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>
                <a:ea typeface="宋体" panose="02010600030101010101" pitchFamily="2" charset="-122"/>
                <a:sym typeface="+mn-ea"/>
              </a:rPr>
              <a:t>instructor (patel, ee222)</a:t>
            </a:r>
            <a:endParaRPr lang="en-US" altLang="zh-CN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>
                <a:ea typeface="宋体" panose="02010600030101010101" pitchFamily="2" charset="-122"/>
                <a:sym typeface="+mn-ea"/>
              </a:rPr>
              <a:t>instructor (grossman, cs301)</a:t>
            </a:r>
            <a:endParaRPr lang="en-US" altLang="zh-CN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>
                <a:ea typeface="宋体" panose="02010600030101010101" pitchFamily="2" charset="-122"/>
                <a:sym typeface="+mn-ea"/>
              </a:rPr>
              <a:t>enrolled (kevin, math273)</a:t>
            </a:r>
            <a:endParaRPr lang="en-US" altLang="zh-CN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>
                <a:ea typeface="宋体" panose="02010600030101010101" pitchFamily="2" charset="-122"/>
                <a:sym typeface="+mn-ea"/>
              </a:rPr>
              <a:t>enrolled (juana, ee222)</a:t>
            </a:r>
            <a:endParaRPr lang="en-US" altLang="zh-CN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>
                <a:ea typeface="宋体" panose="02010600030101010101" pitchFamily="2" charset="-122"/>
                <a:sym typeface="+mn-ea"/>
              </a:rPr>
              <a:t>enrolled (juana, cs301)</a:t>
            </a:r>
            <a:endParaRPr lang="en-US" altLang="zh-CN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>
                <a:ea typeface="宋体" panose="02010600030101010101" pitchFamily="2" charset="-122"/>
                <a:sym typeface="+mn-ea"/>
              </a:rPr>
              <a:t>enrolled (kiko, math273)</a:t>
            </a:r>
            <a:endParaRPr lang="en-US" altLang="zh-CN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>
                <a:ea typeface="宋体" panose="02010600030101010101" pitchFamily="2" charset="-122"/>
                <a:sym typeface="+mn-ea"/>
              </a:rPr>
              <a:t>enrolled (kiko, cs301)</a:t>
            </a:r>
            <a:endParaRPr lang="en-US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灯片编号占位符 6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8073F337-AED1-4826-A139-5385FD0C2309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68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60419" name="Rectangle 4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  <p:sp>
        <p:nvSpPr>
          <p:cNvPr id="2" name="Rectangle 5"/>
          <p:cNvSpPr>
            <a:spLocks noGrp="1" noChangeArrowheads="1"/>
          </p:cNvSpPr>
          <p:nvPr/>
        </p:nvSpPr>
        <p:spPr>
          <a:xfrm>
            <a:off x="457200" y="1419225"/>
            <a:ext cx="5715000" cy="48799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/>
            <a:r>
              <a:rPr lang="en-US" altLang="zh-CN" sz="2800" b="1">
                <a:ea typeface="宋体" panose="02010600030101010101" pitchFamily="2" charset="-122"/>
              </a:rPr>
              <a:t>enrolled (kevin, math273)</a:t>
            </a:r>
          </a:p>
          <a:p>
            <a:pPr eaLnBrk="1" hangingPunct="1"/>
            <a:endParaRPr lang="en-US" altLang="zh-CN" sz="2800" b="1">
              <a:ea typeface="宋体" panose="02010600030101010101" pitchFamily="2" charset="-122"/>
            </a:endParaRPr>
          </a:p>
          <a:p>
            <a:pPr eaLnBrk="1" hangingPunct="1"/>
            <a:endParaRPr lang="en-US" altLang="zh-CN" sz="2800" b="1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800" b="1">
                <a:ea typeface="宋体" panose="02010600030101010101" pitchFamily="2" charset="-122"/>
              </a:rPr>
              <a:t>enrolled (X, math273)</a:t>
            </a:r>
          </a:p>
          <a:p>
            <a:pPr eaLnBrk="1" hangingPunct="1"/>
            <a:endParaRPr lang="en-US" altLang="zh-CN" sz="2800" b="1">
              <a:ea typeface="宋体" panose="02010600030101010101" pitchFamily="2" charset="-122"/>
            </a:endParaRPr>
          </a:p>
          <a:p>
            <a:pPr eaLnBrk="1" hangingPunct="1"/>
            <a:endParaRPr lang="en-US" altLang="zh-CN" sz="2800" b="1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800" b="1">
                <a:ea typeface="宋体" panose="02010600030101010101" pitchFamily="2" charset="-122"/>
              </a:rPr>
              <a:t>teach (X, juana)</a:t>
            </a:r>
          </a:p>
          <a:p>
            <a:pPr eaLnBrk="1" hangingPunct="1"/>
            <a:endParaRPr lang="en-US" altLang="zh-CN" sz="2800" b="1">
              <a:ea typeface="宋体" panose="02010600030101010101" pitchFamily="2" charset="-122"/>
            </a:endParaRPr>
          </a:p>
        </p:txBody>
      </p:sp>
      <p:sp>
        <p:nvSpPr>
          <p:cNvPr id="3" name="Rectangle 6"/>
          <p:cNvSpPr>
            <a:spLocks noGrp="1" noChangeArrowheads="1"/>
          </p:cNvSpPr>
          <p:nvPr/>
        </p:nvSpPr>
        <p:spPr>
          <a:xfrm>
            <a:off x="6477000" y="1419225"/>
            <a:ext cx="2362200" cy="48799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/>
            <a:r>
              <a:rPr lang="en-US" altLang="zh-CN" sz="2800" b="1">
                <a:ea typeface="宋体" panose="02010600030101010101" pitchFamily="2" charset="-122"/>
              </a:rPr>
              <a:t>Yes</a:t>
            </a:r>
          </a:p>
          <a:p>
            <a:pPr eaLnBrk="1" hangingPunct="1"/>
            <a:endParaRPr lang="en-US" altLang="zh-CN" sz="2800" b="1">
              <a:ea typeface="宋体" panose="02010600030101010101" pitchFamily="2" charset="-122"/>
            </a:endParaRPr>
          </a:p>
          <a:p>
            <a:pPr eaLnBrk="1" hangingPunct="1"/>
            <a:endParaRPr lang="en-US" altLang="zh-CN" sz="2800" b="1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800" b="1">
                <a:ea typeface="宋体" panose="02010600030101010101" pitchFamily="2" charset="-122"/>
              </a:rPr>
              <a:t>kevin</a:t>
            </a:r>
          </a:p>
          <a:p>
            <a:pPr eaLnBrk="1" hangingPunct="1"/>
            <a:r>
              <a:rPr lang="en-US" altLang="zh-CN" sz="2800" b="1">
                <a:ea typeface="宋体" panose="02010600030101010101" pitchFamily="2" charset="-122"/>
              </a:rPr>
              <a:t>Kiko</a:t>
            </a:r>
          </a:p>
          <a:p>
            <a:pPr eaLnBrk="1" hangingPunct="1"/>
            <a:endParaRPr lang="en-US" altLang="zh-CN" sz="2800" b="1">
              <a:ea typeface="宋体" panose="02010600030101010101" pitchFamily="2" charset="-122"/>
            </a:endParaRPr>
          </a:p>
          <a:p>
            <a:pPr eaLnBrk="1" hangingPunct="1"/>
            <a:r>
              <a:rPr lang="en-US" altLang="zh-CN" sz="2800" b="1">
                <a:ea typeface="宋体" panose="02010600030101010101" pitchFamily="2" charset="-122"/>
              </a:rPr>
              <a:t>patel</a:t>
            </a:r>
          </a:p>
          <a:p>
            <a:pPr eaLnBrk="1" hangingPunct="1"/>
            <a:r>
              <a:rPr lang="en-US" altLang="zh-CN" sz="2800" b="1">
                <a:ea typeface="宋体" panose="02010600030101010101" pitchFamily="2" charset="-122"/>
              </a:rPr>
              <a:t>grossman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标题 1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zh-CN">
                <a:ea typeface="宋体" panose="02010600030101010101" pitchFamily="2" charset="-122"/>
              </a:rPr>
              <a:t>命题符号化</a:t>
            </a:r>
          </a:p>
        </p:txBody>
      </p:sp>
      <p:sp>
        <p:nvSpPr>
          <p:cNvPr id="61443" name="内容占位符 2"/>
          <p:cNvSpPr>
            <a:spLocks noGrp="1" noChangeArrowheads="1"/>
          </p:cNvSpPr>
          <p:nvPr>
            <p:ph sz="half" idx="4294967295"/>
          </p:nvPr>
        </p:nvSpPr>
        <p:spPr>
          <a:xfrm>
            <a:off x="457200" y="1419225"/>
            <a:ext cx="8458200" cy="4981575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800">
                <a:ea typeface="宋体" panose="02010600030101010101" pitchFamily="2" charset="-122"/>
              </a:rPr>
              <a:t>(1)某些实数是有理数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>
                <a:ea typeface="宋体" panose="02010600030101010101" pitchFamily="2" charset="-122"/>
              </a:rPr>
              <a:t>(2)会叫的狗未必会咬人</a:t>
            </a:r>
          </a:p>
          <a:p>
            <a:pPr>
              <a:buFont typeface="Wingdings" panose="05000000000000000000" pitchFamily="2" charset="2"/>
              <a:buNone/>
            </a:pPr>
            <a:endParaRPr lang="zh-CN" altLang="en-US" sz="2800">
              <a:ea typeface="宋体" panose="02010600030101010101" pitchFamily="2" charset="-122"/>
            </a:endParaRPr>
          </a:p>
        </p:txBody>
      </p:sp>
      <p:sp>
        <p:nvSpPr>
          <p:cNvPr id="57348" name="灯片编号占位符 4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4EF77A80-5CD3-46BE-8835-C4069697F2E4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69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标题 1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zh-CN">
                <a:ea typeface="宋体" panose="02010600030101010101" pitchFamily="2" charset="-122"/>
              </a:rPr>
              <a:t>命题符号化</a:t>
            </a:r>
          </a:p>
        </p:txBody>
      </p:sp>
      <p:sp>
        <p:nvSpPr>
          <p:cNvPr id="62467" name="内容占位符 2"/>
          <p:cNvSpPr>
            <a:spLocks noGrp="1" noChangeArrowheads="1"/>
          </p:cNvSpPr>
          <p:nvPr>
            <p:ph sz="half" idx="4294967295"/>
          </p:nvPr>
        </p:nvSpPr>
        <p:spPr>
          <a:xfrm>
            <a:off x="457200" y="1419225"/>
            <a:ext cx="8458200" cy="4981575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800">
                <a:ea typeface="宋体" panose="02010600030101010101" pitchFamily="2" charset="-122"/>
              </a:rPr>
              <a:t>(1)某些实数是有理数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>
                <a:ea typeface="宋体" panose="02010600030101010101" pitchFamily="2" charset="-122"/>
              </a:rPr>
              <a:t>x 是实数，R(x)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>
                <a:ea typeface="宋体" panose="02010600030101010101" pitchFamily="2" charset="-122"/>
              </a:rPr>
              <a:t>x 是有理数，Q(x)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>
                <a:ea typeface="宋体" panose="02010600030101010101" pitchFamily="2" charset="-122"/>
                <a:sym typeface="Symbol" panose="05050102010706020507" pitchFamily="18" charset="2"/>
              </a:rPr>
              <a:t>  x (R(</a:t>
            </a:r>
            <a:r>
              <a:rPr lang="en-US" altLang="zh-CN" sz="2800">
                <a:ea typeface="宋体" panose="02010600030101010101" pitchFamily="2" charset="-122"/>
              </a:rPr>
              <a:t>x) </a:t>
            </a:r>
            <a:r>
              <a:rPr lang="en-US" altLang="zh-CN" sz="2800">
                <a:ea typeface="宋体" panose="02010600030101010101" pitchFamily="2" charset="-122"/>
                <a:sym typeface="Symbol" panose="05050102010706020507" pitchFamily="18" charset="2"/>
              </a:rPr>
              <a:t> Q</a:t>
            </a:r>
            <a:r>
              <a:rPr lang="en-US" altLang="zh-CN" sz="2800">
                <a:ea typeface="宋体" panose="02010600030101010101" pitchFamily="2" charset="-122"/>
              </a:rPr>
              <a:t>(x))</a:t>
            </a:r>
          </a:p>
          <a:p>
            <a:pPr>
              <a:buFont typeface="Symbol" panose="05050102010706020507" pitchFamily="18" charset="2"/>
              <a:buChar char="$"/>
            </a:pPr>
            <a:endParaRPr lang="en-US" altLang="zh-CN" sz="280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>
                <a:ea typeface="宋体" panose="02010600030101010101" pitchFamily="2" charset="-122"/>
              </a:rPr>
              <a:t>(2)会叫的狗未必会咬人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>
                <a:ea typeface="宋体" panose="02010600030101010101" pitchFamily="2" charset="-122"/>
              </a:rPr>
              <a:t>x是会叫的狗，R(x)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>
                <a:ea typeface="宋体" panose="02010600030101010101" pitchFamily="2" charset="-122"/>
              </a:rPr>
              <a:t>x 是会咬人的狗，Q(x)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>
                <a:ea typeface="宋体" panose="02010600030101010101" pitchFamily="2" charset="-122"/>
                <a:sym typeface="Symbol" panose="05050102010706020507" pitchFamily="18" charset="2"/>
              </a:rPr>
              <a:t>  x (R</a:t>
            </a:r>
            <a:r>
              <a:rPr lang="en-US" altLang="zh-CN" sz="2800">
                <a:ea typeface="宋体" panose="02010600030101010101" pitchFamily="2" charset="-122"/>
              </a:rPr>
              <a:t>(x) </a:t>
            </a:r>
            <a:r>
              <a:rPr lang="en-US" altLang="zh-CN" sz="2800">
                <a:ea typeface="宋体" panose="02010600030101010101" pitchFamily="2" charset="-122"/>
                <a:sym typeface="Symbol" panose="05050102010706020507" pitchFamily="18" charset="2"/>
              </a:rPr>
              <a:t>  Q</a:t>
            </a:r>
            <a:r>
              <a:rPr lang="en-US" altLang="zh-CN" sz="2800">
                <a:ea typeface="宋体" panose="02010600030101010101" pitchFamily="2" charset="-122"/>
              </a:rPr>
              <a:t>(x))</a:t>
            </a:r>
          </a:p>
          <a:p>
            <a:pPr>
              <a:buFont typeface="Wingdings" panose="05000000000000000000" pitchFamily="2" charset="2"/>
              <a:buNone/>
            </a:pPr>
            <a:endParaRPr lang="zh-CN" altLang="en-US" sz="2800">
              <a:ea typeface="宋体" panose="02010600030101010101" pitchFamily="2" charset="-122"/>
            </a:endParaRPr>
          </a:p>
        </p:txBody>
      </p:sp>
      <p:sp>
        <p:nvSpPr>
          <p:cNvPr id="58372" name="灯片编号占位符 4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5D8B409B-F497-4E4B-81CB-827923E3A01F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70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标题 1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zh-CN">
                <a:ea typeface="宋体" panose="02010600030101010101" pitchFamily="2" charset="-122"/>
              </a:rPr>
              <a:t>将命题翻译成自然语言</a:t>
            </a:r>
          </a:p>
        </p:txBody>
      </p:sp>
      <p:sp>
        <p:nvSpPr>
          <p:cNvPr id="59396" name="灯片编号占位符 4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ED338BF1-E55E-4925-A062-C6F5106EB253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71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2" name="内容占位符 2"/>
          <p:cNvSpPr>
            <a:spLocks noGrp="1" noChangeArrowheads="1"/>
          </p:cNvSpPr>
          <p:nvPr/>
        </p:nvSpPr>
        <p:spPr>
          <a:xfrm>
            <a:off x="457200" y="1419225"/>
            <a:ext cx="8458200" cy="49815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zh-CN" altLang="en-US" sz="2800">
                <a:ea typeface="宋体" panose="02010600030101010101" pitchFamily="2" charset="-122"/>
              </a:rPr>
              <a:t>已给谓词如下：</a:t>
            </a:r>
            <a:endParaRPr lang="en-US" altLang="zh-CN" sz="280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>
                <a:ea typeface="宋体" panose="02010600030101010101" pitchFamily="2" charset="-122"/>
              </a:rPr>
              <a:t>E(x):x</a:t>
            </a:r>
            <a:r>
              <a:rPr lang="zh-CN" altLang="en-US" sz="2800">
                <a:ea typeface="宋体" panose="02010600030101010101" pitchFamily="2" charset="-122"/>
              </a:rPr>
              <a:t>是偶数</a:t>
            </a:r>
            <a:endParaRPr lang="en-US" altLang="zh-CN" sz="280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>
                <a:ea typeface="宋体" panose="02010600030101010101" pitchFamily="2" charset="-122"/>
              </a:rPr>
              <a:t>N(x,y):x</a:t>
            </a:r>
            <a:r>
              <a:rPr lang="zh-CN" altLang="en-US" sz="2800">
                <a:ea typeface="宋体" panose="02010600030101010101" pitchFamily="2" charset="-122"/>
              </a:rPr>
              <a:t>可以整除</a:t>
            </a:r>
            <a:r>
              <a:rPr lang="en-US" altLang="zh-CN" sz="2800">
                <a:ea typeface="宋体" panose="02010600030101010101" pitchFamily="2" charset="-122"/>
              </a:rPr>
              <a:t>y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CN" sz="280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>
                <a:ea typeface="宋体" panose="02010600030101010101" pitchFamily="2" charset="-122"/>
              </a:rPr>
              <a:t>(1)</a:t>
            </a:r>
            <a:r>
              <a:rPr lang="en-US" altLang="zh-CN" sz="2800">
                <a:ea typeface="宋体" panose="02010600030101010101" pitchFamily="2" charset="-122"/>
                <a:sym typeface="Symbol" panose="05050102010706020507" pitchFamily="18" charset="2"/>
              </a:rPr>
              <a:t>  ( x) (</a:t>
            </a:r>
            <a:r>
              <a:rPr lang="en-US" altLang="zh-CN" sz="2800">
                <a:ea typeface="宋体" panose="02010600030101010101" pitchFamily="2" charset="-122"/>
              </a:rPr>
              <a:t>E (x) </a:t>
            </a:r>
            <a:r>
              <a:rPr lang="en-US" altLang="zh-CN" sz="2800">
                <a:ea typeface="宋体" panose="02010600030101010101" pitchFamily="2" charset="-122"/>
                <a:sym typeface="Symbol" panose="05050102010706020507" pitchFamily="18" charset="2"/>
              </a:rPr>
              <a:t>  N</a:t>
            </a:r>
            <a:r>
              <a:rPr lang="en-US" altLang="zh-CN" sz="2800">
                <a:ea typeface="宋体" panose="02010600030101010101" pitchFamily="2" charset="-122"/>
              </a:rPr>
              <a:t>(x,6))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>
                <a:ea typeface="宋体" panose="02010600030101010101" pitchFamily="2" charset="-122"/>
              </a:rPr>
              <a:t>(2)</a:t>
            </a:r>
            <a:r>
              <a:rPr lang="en-US" altLang="zh-CN" sz="2800">
                <a:ea typeface="宋体" panose="02010600030101010101" pitchFamily="2" charset="-122"/>
                <a:sym typeface="Symbol" panose="05050102010706020507" pitchFamily="18" charset="2"/>
              </a:rPr>
              <a:t> (x) (</a:t>
            </a:r>
            <a:r>
              <a:rPr lang="en-US" altLang="zh-CN" sz="2800">
                <a:ea typeface="宋体" panose="02010600030101010101" pitchFamily="2" charset="-122"/>
              </a:rPr>
              <a:t>E (x) </a:t>
            </a:r>
            <a:r>
              <a:rPr lang="en-US" altLang="zh-CN" sz="2800">
                <a:ea typeface="宋体" panose="02010600030101010101" pitchFamily="2" charset="-122"/>
                <a:sym typeface="Symbol" panose="05050102010706020507" pitchFamily="18" charset="2"/>
              </a:rPr>
              <a:t>  N</a:t>
            </a:r>
            <a:r>
              <a:rPr lang="en-US" altLang="zh-CN" sz="2800">
                <a:ea typeface="宋体" panose="02010600030101010101" pitchFamily="2" charset="-122"/>
              </a:rPr>
              <a:t>(2,x))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标题 1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zh-CN">
                <a:ea typeface="宋体" panose="02010600030101010101" pitchFamily="2" charset="-122"/>
              </a:rPr>
              <a:t>将命题翻译成自然语言</a:t>
            </a:r>
          </a:p>
        </p:txBody>
      </p:sp>
      <p:sp>
        <p:nvSpPr>
          <p:cNvPr id="60420" name="灯片编号占位符 4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8914FF9B-2215-4A8A-95FA-0350807723C1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72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3" name="内容占位符 2"/>
          <p:cNvSpPr>
            <a:spLocks noGrp="1" noChangeArrowheads="1"/>
          </p:cNvSpPr>
          <p:nvPr/>
        </p:nvSpPr>
        <p:spPr>
          <a:xfrm>
            <a:off x="457200" y="1419225"/>
            <a:ext cx="8458200" cy="49815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Wingdings" panose="05000000000000000000" pitchFamily="2" charset="2"/>
              <a:buNone/>
              <a:defRPr/>
            </a:pPr>
            <a:r>
              <a:rPr lang="zh-CN" altLang="en-US" sz="2800" dirty="0">
                <a:ea typeface="宋体" panose="02010600030101010101" pitchFamily="2" charset="-122"/>
              </a:rPr>
              <a:t>已给谓词如下：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CN" sz="2800" dirty="0">
                <a:ea typeface="宋体" panose="02010600030101010101" pitchFamily="2" charset="-122"/>
              </a:rPr>
              <a:t>E(x):x</a:t>
            </a:r>
            <a:r>
              <a:rPr lang="zh-CN" altLang="en-US" sz="2800" dirty="0">
                <a:ea typeface="宋体" panose="02010600030101010101" pitchFamily="2" charset="-122"/>
              </a:rPr>
              <a:t>是偶数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CN" sz="2800" dirty="0">
                <a:ea typeface="宋体" panose="02010600030101010101" pitchFamily="2" charset="-122"/>
              </a:rPr>
              <a:t>N(</a:t>
            </a:r>
            <a:r>
              <a:rPr lang="en-US" altLang="zh-CN" sz="2800" dirty="0" err="1">
                <a:ea typeface="宋体" panose="02010600030101010101" pitchFamily="2" charset="-122"/>
              </a:rPr>
              <a:t>x,y</a:t>
            </a:r>
            <a:r>
              <a:rPr lang="en-US" altLang="zh-CN" sz="2800" dirty="0">
                <a:ea typeface="宋体" panose="02010600030101010101" pitchFamily="2" charset="-122"/>
              </a:rPr>
              <a:t>):x</a:t>
            </a:r>
            <a:r>
              <a:rPr lang="zh-CN" altLang="en-US" sz="2800" dirty="0">
                <a:ea typeface="宋体" panose="02010600030101010101" pitchFamily="2" charset="-122"/>
              </a:rPr>
              <a:t>可以整除</a:t>
            </a:r>
            <a:r>
              <a:rPr lang="en-US" altLang="zh-CN" sz="2800" dirty="0">
                <a:ea typeface="宋体" panose="02010600030101010101" pitchFamily="2" charset="-122"/>
              </a:rPr>
              <a:t>y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altLang="zh-CN" sz="2800" dirty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2800" dirty="0">
                <a:ea typeface="宋体" panose="02010600030101010101" pitchFamily="2" charset="-122"/>
                <a:sym typeface="Symbol" panose="05050102010706020507" pitchFamily="18" charset="2"/>
              </a:rPr>
              <a:t>(1) ( x) (</a:t>
            </a:r>
            <a:r>
              <a:rPr lang="en-US" altLang="zh-CN" sz="2800" dirty="0">
                <a:ea typeface="宋体" panose="02010600030101010101" pitchFamily="2" charset="-122"/>
              </a:rPr>
              <a:t>E (x) </a:t>
            </a:r>
            <a:r>
              <a:rPr lang="en-US" altLang="zh-CN" sz="2800" dirty="0">
                <a:ea typeface="宋体" panose="02010600030101010101" pitchFamily="2" charset="-122"/>
                <a:sym typeface="Symbol" panose="05050102010706020507" pitchFamily="18" charset="2"/>
              </a:rPr>
              <a:t>  N</a:t>
            </a:r>
            <a:r>
              <a:rPr lang="en-US" altLang="zh-CN" sz="2800" dirty="0">
                <a:ea typeface="宋体" panose="02010600030101010101" pitchFamily="2" charset="-122"/>
              </a:rPr>
              <a:t>(x,6))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CN" sz="2800" dirty="0">
                <a:ea typeface="宋体" panose="02010600030101010101" pitchFamily="2" charset="-122"/>
              </a:rPr>
              <a:t>    </a:t>
            </a:r>
            <a:r>
              <a:rPr lang="zh-CN" altLang="en-US" sz="2800" dirty="0">
                <a:ea typeface="宋体" panose="02010600030101010101" pitchFamily="2" charset="-122"/>
              </a:rPr>
              <a:t>存在一个可以整除</a:t>
            </a:r>
            <a:r>
              <a:rPr lang="en-US" altLang="zh-CN" sz="2800" dirty="0">
                <a:ea typeface="宋体" panose="02010600030101010101" pitchFamily="2" charset="-122"/>
              </a:rPr>
              <a:t>6</a:t>
            </a:r>
            <a:r>
              <a:rPr lang="zh-CN" altLang="en-US" sz="2800" dirty="0">
                <a:ea typeface="宋体" panose="02010600030101010101" pitchFamily="2" charset="-122"/>
              </a:rPr>
              <a:t>的偶数</a:t>
            </a:r>
            <a:endParaRPr lang="en-US" altLang="zh-CN" sz="2800" dirty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CN" sz="2800" dirty="0">
                <a:ea typeface="宋体" panose="02010600030101010101" pitchFamily="2" charset="-122"/>
              </a:rPr>
              <a:t>(2)</a:t>
            </a:r>
            <a:r>
              <a:rPr lang="en-US" altLang="zh-CN" sz="2800" dirty="0">
                <a:ea typeface="宋体" panose="02010600030101010101" pitchFamily="2" charset="-122"/>
                <a:sym typeface="Symbol" panose="05050102010706020507" pitchFamily="18" charset="2"/>
              </a:rPr>
              <a:t> (x) (</a:t>
            </a:r>
            <a:r>
              <a:rPr lang="en-US" altLang="zh-CN" sz="2800" dirty="0">
                <a:ea typeface="宋体" panose="02010600030101010101" pitchFamily="2" charset="-122"/>
              </a:rPr>
              <a:t>E (x) </a:t>
            </a:r>
            <a:r>
              <a:rPr lang="en-US" altLang="zh-CN" sz="2800" dirty="0">
                <a:ea typeface="宋体" panose="02010600030101010101" pitchFamily="2" charset="-122"/>
                <a:sym typeface="Symbol" panose="05050102010706020507" pitchFamily="18" charset="2"/>
              </a:rPr>
              <a:t>  N</a:t>
            </a:r>
            <a:r>
              <a:rPr lang="en-US" altLang="zh-CN" sz="2800" dirty="0">
                <a:ea typeface="宋体" panose="02010600030101010101" pitchFamily="2" charset="-122"/>
              </a:rPr>
              <a:t>(2,x))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CN" sz="2800" dirty="0">
                <a:ea typeface="宋体" panose="02010600030101010101" pitchFamily="2" charset="-122"/>
              </a:rPr>
              <a:t>      </a:t>
            </a:r>
            <a:r>
              <a:rPr lang="zh-CN" altLang="en-US" sz="2800" dirty="0">
                <a:ea typeface="宋体" panose="02010600030101010101" pitchFamily="2" charset="-122"/>
              </a:rPr>
              <a:t>任意一个非偶数一定不被</a:t>
            </a:r>
            <a:r>
              <a:rPr lang="en-US" altLang="zh-CN" sz="2800" dirty="0">
                <a:ea typeface="宋体" panose="02010600030101010101" pitchFamily="2" charset="-122"/>
              </a:rPr>
              <a:t>2</a:t>
            </a:r>
            <a:r>
              <a:rPr lang="zh-CN" altLang="en-US" sz="2800" dirty="0">
                <a:ea typeface="宋体" panose="02010600030101010101" pitchFamily="2" charset="-122"/>
              </a:rPr>
              <a:t>整除</a:t>
            </a:r>
            <a:endParaRPr lang="en-US" altLang="zh-CN" sz="28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C1E6DC18-9437-4789-AE6F-73AEC16CC6F5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73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614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33425" y="731838"/>
            <a:ext cx="8334257" cy="563618"/>
          </a:xfrm>
        </p:spPr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一阶逻辑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33506" y="1447852"/>
            <a:ext cx="8381780" cy="4555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000" dirty="0"/>
              <a:t>一阶</a:t>
            </a:r>
            <a:r>
              <a:rPr lang="zh-CN" altLang="en-US" sz="2000" dirty="0"/>
              <a:t>逻辑（ </a:t>
            </a:r>
            <a:r>
              <a:rPr lang="en-US" altLang="zh-CN" sz="2000" dirty="0"/>
              <a:t>First Order Logic </a:t>
            </a:r>
            <a:r>
              <a:rPr lang="zh-CN" altLang="en-US" sz="2000" dirty="0"/>
              <a:t>，又称谓词逻辑， </a:t>
            </a:r>
            <a:r>
              <a:rPr lang="en-US" altLang="zh-CN" sz="2000" dirty="0"/>
              <a:t>Predicate Logic）用于形式化推理和表达复杂的数学和哲学概念。与传统的命题逻辑不同，一阶逻辑引入了更丰富的语法和语义元素，不仅可以表示命题之间的真假关系，还能够表达更复杂的概念和关系，以便更精确地描述和分析问题。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000" dirty="0">
                <a:effectLst/>
              </a:rPr>
              <a:t>一阶逻辑公式包含量词（Quantifier，</a:t>
            </a:r>
            <a:r>
              <a:rPr lang="en-US" altLang="zh-CN" sz="2000" dirty="0"/>
              <a:t>如∀</a:t>
            </a:r>
            <a:r>
              <a:rPr lang="en-US" altLang="zh-CN" sz="2000" dirty="0">
                <a:effectLst/>
              </a:rPr>
              <a:t>,∃），逻辑运算符（</a:t>
            </a:r>
            <a:r>
              <a:rPr lang="en-US" altLang="zh-CN" sz="2000" dirty="0"/>
              <a:t>Logical Operator，或称逻辑连接词，Logical Connective，如∧</a:t>
            </a:r>
            <a:r>
              <a:rPr lang="en-US" altLang="zh-CN" sz="2000" dirty="0">
                <a:effectLst/>
              </a:rPr>
              <a:t>,∨,¬,⇒），变量（Variable，如x, y），以及谓词（Predicate，如P(x)）和函数（Function，如f(x)）。</a:t>
            </a:r>
          </a:p>
          <a:p>
            <a:r>
              <a:rPr lang="en-US" altLang="zh-CN" sz="2000" dirty="0">
                <a:solidFill>
                  <a:schemeClr val="tx1"/>
                </a:solidFill>
              </a:rPr>
              <a:t>		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C1E6DC18-9437-4789-AE6F-73AEC16CC6F5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74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614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33425" y="731838"/>
            <a:ext cx="8334257" cy="563618"/>
          </a:xfrm>
        </p:spPr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一阶逻辑示例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33506" y="1384661"/>
            <a:ext cx="8381780" cy="5110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000" dirty="0">
                <a:solidFill>
                  <a:schemeClr val="tx1"/>
                </a:solidFill>
              </a:rPr>
              <a:t>谓词：M(x) </a:t>
            </a:r>
            <a:r>
              <a:rPr lang="zh-CN" altLang="en-US" sz="2000" dirty="0">
                <a:solidFill>
                  <a:schemeClr val="tx1"/>
                </a:solidFill>
              </a:rPr>
              <a:t>表示</a:t>
            </a:r>
            <a:r>
              <a:rPr lang="en-US" altLang="zh-CN" sz="2000" dirty="0">
                <a:solidFill>
                  <a:schemeClr val="tx1"/>
                </a:solidFill>
              </a:rPr>
              <a:t> "x 是一个男性"，F(x) </a:t>
            </a:r>
            <a:r>
              <a:rPr lang="zh-CN" altLang="en-US" sz="2000" dirty="0">
                <a:solidFill>
                  <a:schemeClr val="tx1"/>
                </a:solidFill>
              </a:rPr>
              <a:t>表示</a:t>
            </a:r>
            <a:r>
              <a:rPr lang="en-US" altLang="zh-CN" sz="2000" dirty="0">
                <a:solidFill>
                  <a:schemeClr val="tx1"/>
                </a:solidFill>
              </a:rPr>
              <a:t> "x 是一个女性"。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schemeClr val="tx1"/>
                </a:solidFill>
              </a:rPr>
              <a:t>表达式：∀</a:t>
            </a:r>
            <a:r>
              <a:rPr lang="en-US" altLang="zh-CN" sz="2000" dirty="0">
                <a:solidFill>
                  <a:schemeClr val="tx1"/>
                </a:solidFill>
              </a:rPr>
              <a:t>x (M(x) ∨ F(x)) </a:t>
            </a:r>
            <a:r>
              <a:rPr lang="zh-CN" altLang="en-US" sz="2000" dirty="0">
                <a:solidFill>
                  <a:schemeClr val="tx1"/>
                </a:solidFill>
              </a:rPr>
              <a:t>表示</a:t>
            </a:r>
            <a:r>
              <a:rPr lang="en-US" altLang="zh-CN" sz="2000" dirty="0">
                <a:solidFill>
                  <a:schemeClr val="tx1"/>
                </a:solidFill>
              </a:rPr>
              <a:t> "每个人都是男性或女性"。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zh-CN" sz="20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000" dirty="0">
                <a:solidFill>
                  <a:schemeClr val="tx1"/>
                </a:solidFill>
              </a:rPr>
              <a:t>谓词：P(x) </a:t>
            </a:r>
            <a:r>
              <a:rPr lang="zh-CN" altLang="en-US" sz="2000" dirty="0">
                <a:solidFill>
                  <a:schemeClr val="tx1"/>
                </a:solidFill>
              </a:rPr>
              <a:t>表示</a:t>
            </a:r>
            <a:r>
              <a:rPr lang="en-US" altLang="zh-CN" sz="2000" dirty="0">
                <a:solidFill>
                  <a:schemeClr val="tx1"/>
                </a:solidFill>
              </a:rPr>
              <a:t> "x 是正数"，Q(x) </a:t>
            </a:r>
            <a:r>
              <a:rPr lang="zh-CN" altLang="en-US" sz="2000" dirty="0">
                <a:solidFill>
                  <a:schemeClr val="tx1"/>
                </a:solidFill>
              </a:rPr>
              <a:t>表示</a:t>
            </a:r>
            <a:r>
              <a:rPr lang="en-US" altLang="zh-CN" sz="2000" dirty="0">
                <a:solidFill>
                  <a:schemeClr val="tx1"/>
                </a:solidFill>
              </a:rPr>
              <a:t> "x 是偶数"。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000" dirty="0">
                <a:solidFill>
                  <a:schemeClr val="tx1"/>
                </a:solidFill>
              </a:rPr>
              <a:t>表达式：∀x (P(x) → Q(x)) </a:t>
            </a:r>
            <a:r>
              <a:rPr lang="zh-CN" altLang="en-US" sz="2000" dirty="0">
                <a:solidFill>
                  <a:schemeClr val="tx1"/>
                </a:solidFill>
              </a:rPr>
              <a:t>表示</a:t>
            </a:r>
            <a:r>
              <a:rPr lang="en-US" altLang="zh-CN" sz="2000" dirty="0">
                <a:solidFill>
                  <a:schemeClr val="tx1"/>
                </a:solidFill>
              </a:rPr>
              <a:t> "每个正数都是偶数"，∃x (P(x) ∧ Q(x)) </a:t>
            </a:r>
            <a:r>
              <a:rPr lang="zh-CN" altLang="en-US" sz="2000" dirty="0">
                <a:solidFill>
                  <a:schemeClr val="tx1"/>
                </a:solidFill>
              </a:rPr>
              <a:t>表示</a:t>
            </a:r>
            <a:r>
              <a:rPr lang="en-US" altLang="zh-CN" sz="2000" dirty="0">
                <a:solidFill>
                  <a:schemeClr val="tx1"/>
                </a:solidFill>
              </a:rPr>
              <a:t> "存在一个既是正数又是偶数的数"。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zh-CN" sz="20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000" dirty="0">
                <a:solidFill>
                  <a:schemeClr val="tx1"/>
                </a:solidFill>
              </a:rPr>
              <a:t>谓词：N(x) </a:t>
            </a:r>
            <a:r>
              <a:rPr lang="zh-CN" altLang="en-US" sz="2000" dirty="0">
                <a:solidFill>
                  <a:schemeClr val="tx1"/>
                </a:solidFill>
              </a:rPr>
              <a:t>表示</a:t>
            </a:r>
            <a:r>
              <a:rPr lang="en-US" altLang="zh-CN" sz="2000" dirty="0">
                <a:solidFill>
                  <a:schemeClr val="tx1"/>
                </a:solidFill>
              </a:rPr>
              <a:t> "x 是一名护士"，D(x) </a:t>
            </a:r>
            <a:r>
              <a:rPr lang="zh-CN" altLang="en-US" sz="2000" dirty="0">
                <a:solidFill>
                  <a:schemeClr val="tx1"/>
                </a:solidFill>
              </a:rPr>
              <a:t>表示 </a:t>
            </a:r>
            <a:r>
              <a:rPr lang="en-US" altLang="zh-CN" sz="2000" dirty="0">
                <a:solidFill>
                  <a:schemeClr val="tx1"/>
                </a:solidFill>
              </a:rPr>
              <a:t>"x 是一名医生"，S(x, y) </a:t>
            </a:r>
            <a:r>
              <a:rPr lang="zh-CN" altLang="en-US" sz="2000" dirty="0">
                <a:solidFill>
                  <a:schemeClr val="tx1"/>
                </a:solidFill>
              </a:rPr>
              <a:t>表示</a:t>
            </a:r>
            <a:r>
              <a:rPr lang="en-US" altLang="zh-CN" sz="2000" dirty="0">
                <a:solidFill>
                  <a:schemeClr val="tx1"/>
                </a:solidFill>
              </a:rPr>
              <a:t> "x 在星期 y 值班"。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000" dirty="0">
                <a:solidFill>
                  <a:schemeClr val="tx1"/>
                </a:solidFill>
              </a:rPr>
              <a:t>表达式：∀x ((N(x) ∨ D(x)) ∧∀y (S(x, y) ∨¬S(x, y)) </a:t>
            </a:r>
            <a:r>
              <a:rPr lang="zh-CN" altLang="en-US" sz="2000" dirty="0">
                <a:solidFill>
                  <a:schemeClr val="tx1"/>
                </a:solidFill>
              </a:rPr>
              <a:t>表示</a:t>
            </a:r>
            <a:r>
              <a:rPr lang="en-US" altLang="zh-CN" sz="2000" dirty="0">
                <a:solidFill>
                  <a:schemeClr val="tx1"/>
                </a:solidFill>
              </a:rPr>
              <a:t> "每个人都是护士或医生，并且每个人在每个星期要么值班，要么不值班"。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C1E6DC18-9437-4789-AE6F-73AEC16CC6F5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75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614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33425" y="731838"/>
            <a:ext cx="8334257" cy="563618"/>
          </a:xfrm>
        </p:spPr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程序正当性验证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33506" y="1447852"/>
            <a:ext cx="8381780" cy="4190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b="1" dirty="0">
                <a:solidFill>
                  <a:schemeClr val="tx1"/>
                </a:solidFill>
              </a:rPr>
              <a:t>程序正确性验证：确保计算机程序按照规范执行并产生正确输出的过程。</a:t>
            </a:r>
            <a:endParaRPr lang="en-US" altLang="zh-CN" sz="2000" b="1" dirty="0">
              <a:solidFill>
                <a:schemeClr val="tx1"/>
              </a:solidFill>
            </a:endParaRPr>
          </a:p>
          <a:p>
            <a:pPr indent="457200">
              <a:lnSpc>
                <a:spcPct val="150000"/>
              </a:lnSpc>
            </a:pPr>
            <a:r>
              <a:rPr lang="zh-CN" altLang="en-US" sz="2000" dirty="0">
                <a:solidFill>
                  <a:schemeClr val="tx1"/>
                </a:solidFill>
              </a:rPr>
              <a:t>一个程序正确性验证分为两个部分：</a:t>
            </a:r>
          </a:p>
          <a:p>
            <a:pPr marL="457200" indent="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dirty="0">
                <a:solidFill>
                  <a:schemeClr val="tx1"/>
                </a:solidFill>
              </a:rPr>
              <a:t>若程序终止，则获得正确的结果 （这证明了程序的部分正确性）</a:t>
            </a:r>
          </a:p>
          <a:p>
            <a:pPr marL="457200" indent="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dirty="0">
                <a:solidFill>
                  <a:schemeClr val="tx1"/>
                </a:solidFill>
              </a:rPr>
              <a:t>程序终止</a:t>
            </a:r>
            <a:endParaRPr lang="en-US" altLang="zh-CN" sz="20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endParaRPr lang="en-US" altLang="zh-CN" sz="2000" dirty="0"/>
          </a:p>
          <a:p>
            <a:pPr>
              <a:lnSpc>
                <a:spcPct val="150000"/>
              </a:lnSpc>
            </a:pPr>
            <a:endParaRPr lang="en-US" altLang="zh-CN" sz="2000" dirty="0"/>
          </a:p>
          <a:p>
            <a:pPr>
              <a:lnSpc>
                <a:spcPct val="150000"/>
              </a:lnSpc>
            </a:pPr>
            <a:endParaRPr lang="en-US" altLang="zh-CN" sz="2000" dirty="0"/>
          </a:p>
          <a:p>
            <a:pPr>
              <a:lnSpc>
                <a:spcPct val="150000"/>
              </a:lnSpc>
            </a:pPr>
            <a:endParaRPr lang="en-US" altLang="zh-CN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0852" y="3992618"/>
            <a:ext cx="4267088" cy="2133544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C1E6DC18-9437-4789-AE6F-73AEC16CC6F5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76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614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33425" y="731838"/>
            <a:ext cx="8334257" cy="563618"/>
          </a:xfrm>
        </p:spPr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程序正当性验证</a:t>
            </a:r>
            <a:endParaRPr lang="en-US" altLang="zh-CN" dirty="0">
              <a:ea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/>
              <p:cNvSpPr txBox="1"/>
              <p:nvPr/>
            </p:nvSpPr>
            <p:spPr>
              <a:xfrm>
                <a:off x="533506" y="1393387"/>
                <a:ext cx="8381780" cy="49843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zh-CN" altLang="en-US" sz="2000" dirty="0"/>
                  <a:t>使用一阶逻辑验证程序的示例：</a:t>
                </a:r>
                <a:endParaRPr lang="en-US" altLang="zh-CN" sz="2000" dirty="0"/>
              </a:p>
              <a:p>
                <a:pPr indent="457200">
                  <a:lnSpc>
                    <a:spcPct val="150000"/>
                  </a:lnSpc>
                </a:pPr>
                <a:r>
                  <a:rPr lang="en-US" altLang="zh-CN" sz="1600" dirty="0" err="1"/>
                  <a:t>假设有一个名为 `findMax` </a:t>
                </a:r>
                <a:r>
                  <a:rPr lang="zh-CN" altLang="en-US" sz="1600" dirty="0"/>
                  <a:t>的程序，它接受一个整数列表</a:t>
                </a:r>
                <a:r>
                  <a:rPr lang="en-US" altLang="zh-CN" sz="1600" dirty="0" err="1"/>
                  <a:t> `lst` </a:t>
                </a:r>
                <a:r>
                  <a:rPr lang="zh-CN" altLang="en-US" sz="1600" dirty="0"/>
                  <a:t>作为输入，然后返回最大的整数 `</a:t>
                </a:r>
                <a:r>
                  <a:rPr lang="en-US" altLang="zh-CN" sz="1600" dirty="0"/>
                  <a:t>max`。</a:t>
                </a:r>
              </a:p>
              <a:p>
                <a:pPr indent="457200">
                  <a:lnSpc>
                    <a:spcPct val="150000"/>
                  </a:lnSpc>
                </a:pPr>
                <a:r>
                  <a:rPr lang="en-US" altLang="zh-CN" sz="1600" dirty="0"/>
                  <a:t>将程序抽象为一个状态机，包括两个状态：`Input` </a:t>
                </a:r>
                <a:r>
                  <a:rPr lang="zh-CN" altLang="en-US" sz="1600" dirty="0"/>
                  <a:t>和`Output`。</a:t>
                </a:r>
                <a:r>
                  <a:rPr lang="en-US" altLang="zh-CN" sz="1600" dirty="0"/>
                  <a:t>用谓词State()表示程序状态，State(Input)为输入状态，State(Output)为输出状态。</a:t>
                </a:r>
              </a:p>
              <a:p>
                <a:pPr indent="457200">
                  <a:lnSpc>
                    <a:spcPct val="150000"/>
                  </a:lnSpc>
                </a:pPr>
                <a:r>
                  <a:rPr lang="en-US" altLang="zh-CN" sz="1600" dirty="0"/>
                  <a:t>   - 输入`</a:t>
                </a:r>
                <a:r>
                  <a:rPr lang="zh-CN" altLang="en-US" sz="1600" dirty="0"/>
                  <a:t>状态表示程序正在接受输入列表`</a:t>
                </a:r>
                <a:r>
                  <a:rPr lang="en-US" altLang="zh-CN" sz="1600" dirty="0"/>
                  <a:t>lst`。</a:t>
                </a:r>
              </a:p>
              <a:p>
                <a:pPr indent="457200">
                  <a:lnSpc>
                    <a:spcPct val="150000"/>
                  </a:lnSpc>
                </a:pPr>
                <a:r>
                  <a:rPr lang="en-US" altLang="zh-CN" sz="1600" dirty="0"/>
                  <a:t>   - `Output` </a:t>
                </a:r>
                <a:r>
                  <a:rPr lang="zh-CN" altLang="en-US" sz="1600" dirty="0"/>
                  <a:t>状态表示程序已经计算出最大值</a:t>
                </a:r>
                <a:r>
                  <a:rPr lang="en-US" altLang="zh-CN" sz="1600" dirty="0"/>
                  <a:t> `max` </a:t>
                </a:r>
                <a:r>
                  <a:rPr lang="zh-CN" altLang="en-US" sz="1600" dirty="0"/>
                  <a:t>并准备输出。</a:t>
                </a:r>
              </a:p>
              <a:p>
                <a:pPr>
                  <a:lnSpc>
                    <a:spcPct val="150000"/>
                  </a:lnSpc>
                </a:pPr>
                <a:endParaRPr lang="en-US" altLang="zh-CN" sz="160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∀</m:t>
                          </m:r>
                        </m:e>
                        <m:sub>
                          <m:r>
                            <a:rPr lang="en-US" altLang="zh-CN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𝑙𝑠𝑡</m:t>
                          </m:r>
                        </m:sub>
                      </m:sSub>
                      <m:r>
                        <a:rPr lang="en-US" altLang="zh-CN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altLang="zh-CN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𝑆𝑡𝑎𝑡𝑒</m:t>
                      </m:r>
                      <m:r>
                        <a:rPr lang="en-US" altLang="zh-CN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𝐼𝑛𝑝𝑢𝑡</m:t>
                      </m:r>
                      <m:r>
                        <a:rPr lang="en-US" altLang="zh-CN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 ∧ </m:t>
                      </m:r>
                      <m:r>
                        <a:rPr lang="en-US" altLang="zh-CN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𝑆𝑡𝑎𝑡𝑒</m:t>
                      </m:r>
                      <m:r>
                        <a:rPr lang="en-US" altLang="zh-CN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𝑂𝑢𝑡𝑝𝑢𝑡</m:t>
                      </m:r>
                      <m:r>
                        <a:rPr lang="en-US" altLang="zh-CN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 → </m:t>
                      </m:r>
                      <m:r>
                        <a:rPr lang="en-US" altLang="zh-CN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𝐼𝑠𝑀𝑎𝑥𝐸𝑙𝑒𝑚𝑒𝑛𝑡</m:t>
                      </m:r>
                      <m:r>
                        <a:rPr lang="en-US" altLang="zh-CN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zh-CN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max</m:t>
                      </m:r>
                      <m:r>
                        <a:rPr lang="en-US" altLang="zh-CN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𝑙𝑠𝑡</m:t>
                      </m:r>
                      <m:r>
                        <a:rPr lang="en-US" altLang="zh-CN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 ∧ </m:t>
                      </m:r>
                      <m:r>
                        <m:rPr>
                          <m:sty m:val="p"/>
                        </m:rPr>
                        <a:rPr lang="en-US" altLang="zh-CN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max</m:t>
                      </m:r>
                      <m:r>
                        <a:rPr lang="en-US" altLang="zh-CN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⁡∈ </m:t>
                      </m:r>
                      <m:r>
                        <a:rPr lang="en-US" altLang="zh-CN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𝑙𝑠𝑡</m:t>
                      </m:r>
                      <m:r>
                        <a:rPr lang="en-US" altLang="zh-CN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dirty="0">
                  <a:solidFill>
                    <a:srgbClr val="FF0000"/>
                  </a:solidFill>
                </a:endParaRPr>
              </a:p>
              <a:p>
                <a:pPr indent="457200">
                  <a:lnSpc>
                    <a:spcPct val="150000"/>
                  </a:lnSpc>
                </a:pPr>
                <a:endParaRPr lang="en-US" altLang="zh-CN" sz="1600" dirty="0"/>
              </a:p>
              <a:p>
                <a:pPr indent="457200">
                  <a:lnSpc>
                    <a:spcPct val="150000"/>
                  </a:lnSpc>
                </a:pPr>
                <a:r>
                  <a:rPr lang="zh-CN" altLang="en-US" sz="1600" dirty="0"/>
                  <a:t>这个公式表示，在程序从输入状态转换到输出状态时，`max` 是</a:t>
                </a:r>
                <a:r>
                  <a:rPr lang="en-US" altLang="zh-CN" sz="1600" dirty="0" err="1"/>
                  <a:t> `lst` </a:t>
                </a:r>
                <a:r>
                  <a:rPr lang="zh-CN" altLang="en-US" sz="1600" dirty="0"/>
                  <a:t>中的一个元素，且</a:t>
                </a:r>
                <a:r>
                  <a:rPr lang="en-US" altLang="zh-CN" sz="1600" dirty="0"/>
                  <a:t> `max` </a:t>
                </a:r>
                <a:r>
                  <a:rPr lang="zh-CN" altLang="en-US" sz="1600" dirty="0"/>
                  <a:t>大于等于</a:t>
                </a:r>
                <a:r>
                  <a:rPr lang="en-US" altLang="zh-CN" sz="1600" dirty="0" err="1"/>
                  <a:t> `lst` </a:t>
                </a:r>
                <a:r>
                  <a:rPr lang="zh-CN" altLang="en-US" sz="1600" dirty="0"/>
                  <a:t>中的所有其他元素。其中</a:t>
                </a:r>
                <a:r>
                  <a:rPr lang="en-US" altLang="zh-CN" sz="1600" dirty="0" err="1"/>
                  <a:t> `IsMaxElement` </a:t>
                </a:r>
                <a:r>
                  <a:rPr lang="zh-CN" altLang="en-US" sz="1600" dirty="0"/>
                  <a:t>是一个谓词，表示</a:t>
                </a:r>
                <a:r>
                  <a:rPr lang="en-US" altLang="zh-CN" sz="1600" dirty="0"/>
                  <a:t> `max` </a:t>
                </a:r>
                <a:r>
                  <a:rPr lang="zh-CN" altLang="en-US" sz="1600" dirty="0"/>
                  <a:t>是否是</a:t>
                </a:r>
                <a:r>
                  <a:rPr lang="en-US" altLang="zh-CN" sz="1600" dirty="0" err="1"/>
                  <a:t> `lst` </a:t>
                </a:r>
                <a:r>
                  <a:rPr lang="zh-CN" altLang="en-US" sz="1600" dirty="0"/>
                  <a:t>中的最大元素。</a:t>
                </a:r>
              </a:p>
            </p:txBody>
          </p:sp>
        </mc:Choice>
        <mc:Fallback xmlns=""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506" y="1393387"/>
                <a:ext cx="8381780" cy="4984313"/>
              </a:xfrm>
              <a:prstGeom prst="rect">
                <a:avLst/>
              </a:prstGeom>
              <a:blipFill rotWithShape="1">
                <a:blip r:embed="rId2"/>
                <a:stretch>
                  <a:fillRect l="-1" t="-4" r="6" b="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C1E6DC18-9437-4789-AE6F-73AEC16CC6F5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77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614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33425" y="731838"/>
            <a:ext cx="8334257" cy="563618"/>
          </a:xfrm>
        </p:spPr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霍尔逻辑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68724" y="1447852"/>
            <a:ext cx="8762770" cy="3725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/>
              <a:t>一阶逻辑验证程序的局限性：</a:t>
            </a:r>
            <a:endParaRPr lang="en-US" altLang="zh-CN" sz="2000" dirty="0"/>
          </a:p>
          <a:p>
            <a:pPr marL="457200" indent="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dirty="0"/>
              <a:t>一阶逻辑是不完备的，无法用来表示和验证某些复杂的性质和属性。</a:t>
            </a:r>
            <a:endParaRPr lang="en-US" altLang="zh-CN" sz="2000" dirty="0"/>
          </a:p>
          <a:p>
            <a:pPr marL="457200" indent="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dirty="0"/>
              <a:t>对于大型程序，一阶逻辑规范可能会变得非常复杂，导致验证变得困难。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endParaRPr lang="en-US" altLang="zh-CN" sz="20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b="1" dirty="0"/>
              <a:t>霍尔逻辑</a:t>
            </a:r>
            <a:r>
              <a:rPr lang="zh-CN" altLang="en-US" sz="2000" dirty="0"/>
              <a:t>（</a:t>
            </a:r>
            <a:r>
              <a:rPr lang="en-US" altLang="zh-CN" sz="2000" dirty="0"/>
              <a:t>Floyd-Hoare Logic</a:t>
            </a:r>
            <a:r>
              <a:rPr lang="zh-CN" altLang="en-US" sz="2000" dirty="0"/>
              <a:t>）是一套由英国计算机科学家霍尔（</a:t>
            </a:r>
            <a:r>
              <a:rPr lang="en-US" altLang="zh-CN" sz="2000" dirty="0"/>
              <a:t>C. A. R. Hoare</a:t>
            </a:r>
            <a:r>
              <a:rPr lang="zh-CN" altLang="en-US" sz="2000" dirty="0"/>
              <a:t>）开发的形式系统，主要是用于推理验证程序的正确性。相比于一阶逻辑，霍尔逻辑更加完备，有更好的表达能力。</a:t>
            </a:r>
            <a:endParaRPr lang="en-US" altLang="zh-CN" sz="20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C1E6DC18-9437-4789-AE6F-73AEC16CC6F5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78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614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33425" y="731838"/>
            <a:ext cx="8334257" cy="563618"/>
          </a:xfrm>
        </p:spPr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霍尔逻辑</a:t>
            </a:r>
            <a:endParaRPr lang="en-US" altLang="zh-CN" dirty="0">
              <a:ea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192406" y="1447852"/>
                <a:ext cx="8875276" cy="46519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zh-CN" altLang="en-US" sz="2000" dirty="0"/>
                  <a:t>霍尔逻辑的核心概念是</a:t>
                </a:r>
                <a:r>
                  <a:rPr lang="zh-CN" altLang="en-US" sz="2000" b="1" dirty="0">
                    <a:solidFill>
                      <a:srgbClr val="FF0000"/>
                    </a:solidFill>
                  </a:rPr>
                  <a:t>霍尔三元组</a:t>
                </a:r>
                <a:r>
                  <a:rPr lang="zh-CN" altLang="en-US" sz="2000" dirty="0"/>
                  <a:t>，一般记为以下形式：</a:t>
                </a:r>
                <a:endParaRPr lang="en-US" altLang="zh-CN" sz="200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altLang="zh-CN" sz="2000" b="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altLang="zh-CN" sz="2000" i="1" dirty="0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altLang="zh-CN" sz="2000" dirty="0"/>
              </a:p>
              <a:p>
                <a:pPr indent="457200">
                  <a:lnSpc>
                    <a:spcPct val="150000"/>
                  </a:lnSpc>
                </a:pPr>
                <a:r>
                  <a:rPr lang="zh-CN" altLang="en-US" sz="2000" dirty="0"/>
                  <a:t>其中，</a:t>
                </a:r>
                <a:r>
                  <a:rPr lang="en-US" altLang="zh-CN" sz="2000" dirty="0"/>
                  <a:t>P</a:t>
                </a:r>
                <a:r>
                  <a:rPr lang="zh-CN" altLang="en-US" sz="2000" dirty="0"/>
                  <a:t>和</a:t>
                </a:r>
                <a:r>
                  <a:rPr lang="en-US" altLang="zh-CN" sz="2000" dirty="0"/>
                  <a:t>Q</a:t>
                </a:r>
                <a:r>
                  <a:rPr lang="zh-CN" altLang="en-US" sz="2000" dirty="0"/>
                  <a:t>是一阶逻辑公式，分别表示前置条件（</a:t>
                </a:r>
                <a:r>
                  <a:rPr lang="en-US" altLang="zh-CN" sz="2000" dirty="0"/>
                  <a:t>Pre-Condition</a:t>
                </a:r>
                <a:r>
                  <a:rPr lang="zh-CN" altLang="en-US" sz="2000" dirty="0"/>
                  <a:t>）和后置条件（</a:t>
                </a:r>
                <a:r>
                  <a:rPr lang="en-US" altLang="zh-CN" sz="2000" dirty="0"/>
                  <a:t>Post-Condition</a:t>
                </a:r>
                <a:r>
                  <a:rPr lang="zh-CN" altLang="en-US" sz="2000" dirty="0"/>
                  <a:t>）。</a:t>
                </a:r>
                <a:r>
                  <a:rPr lang="en-US" altLang="zh-CN" sz="2000" dirty="0"/>
                  <a:t>c</a:t>
                </a:r>
                <a:r>
                  <a:rPr lang="zh-CN" altLang="en-US" sz="2000" dirty="0"/>
                  <a:t>表示一段程序源代码。 霍尔三元组的含义是，假定前置条件</a:t>
                </a:r>
                <a:r>
                  <a:rPr lang="en-US" altLang="zh-CN" sz="2000" dirty="0"/>
                  <a:t>P</a:t>
                </a:r>
                <a:r>
                  <a:rPr lang="zh-CN" altLang="en-US" sz="2000" dirty="0"/>
                  <a:t>是有效的，那么在执行完程序</a:t>
                </a:r>
                <a:r>
                  <a:rPr lang="en-US" altLang="zh-CN" sz="2000" dirty="0"/>
                  <a:t>c</a:t>
                </a:r>
                <a:r>
                  <a:rPr lang="zh-CN" altLang="en-US" sz="2000" dirty="0"/>
                  <a:t>后，后置条件</a:t>
                </a:r>
                <a:r>
                  <a:rPr lang="en-US" altLang="zh-CN" sz="2000" dirty="0"/>
                  <a:t>Q</a:t>
                </a:r>
                <a:r>
                  <a:rPr lang="zh-CN" altLang="en-US" sz="2000" dirty="0"/>
                  <a:t>将会是有效的。</a:t>
                </a:r>
                <a:endParaRPr lang="en-US" altLang="zh-CN" sz="2000" dirty="0"/>
              </a:p>
              <a:p>
                <a:pPr indent="457200">
                  <a:lnSpc>
                    <a:spcPct val="150000"/>
                  </a:lnSpc>
                </a:pPr>
                <a:endParaRPr lang="en-US" altLang="zh-CN" sz="2000" dirty="0"/>
              </a:p>
              <a:p>
                <a:pPr marL="342900" indent="-34290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zh-CN" altLang="en-US" sz="2000" dirty="0"/>
                  <a:t>例如，</a:t>
                </a:r>
                <a14:m>
                  <m:oMath xmlns:m="http://schemas.openxmlformats.org/officeDocument/2006/math">
                    <m:r>
                      <a:rPr lang="en-US" altLang="zh-CN" sz="2000" i="1" dirty="0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sz="20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zh-CN" altLang="en-US" sz="2000" i="1" dirty="0" smtClean="0">
                        <a:latin typeface="Cambria Math" panose="02040503050406030204" pitchFamily="18" charset="0"/>
                      </a:rPr>
                      <m:t>和</m:t>
                    </m:r>
                    <m:r>
                      <a:rPr lang="en-US" altLang="zh-CN" sz="200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zh-CN" altLang="en-US" sz="2000" i="1" dirty="0" smtClean="0">
                        <a:latin typeface="Cambria Math" panose="02040503050406030204" pitchFamily="18" charset="0"/>
                      </a:rPr>
                      <m:t>是两个正整数</m:t>
                    </m:r>
                    <m:r>
                      <a:rPr lang="en-US" altLang="zh-CN" sz="2000" i="1" dirty="0" smtClean="0">
                        <a:latin typeface="Cambria Math" panose="02040503050406030204" pitchFamily="18" charset="0"/>
                      </a:rPr>
                      <m:t>}</m:t>
                    </m:r>
                    <m:r>
                      <a:rPr lang="en-US" altLang="zh-CN" sz="2000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sz="20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000" i="1" dirty="0" err="1" smtClean="0">
                        <a:latin typeface="Cambria Math" panose="02040503050406030204" pitchFamily="18" charset="0"/>
                      </a:rPr>
                      <m:t>gcd</m:t>
                    </m:r>
                    <m:r>
                      <a:rPr lang="en-US" altLang="zh-CN" sz="2000" i="1" dirty="0" smtClean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altLang="zh-CN" sz="2000" i="1" dirty="0" err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000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000" i="1" dirty="0" err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sz="2000" i="1" dirty="0" smtClean="0">
                        <a:latin typeface="Cambria Math" panose="02040503050406030204" pitchFamily="18" charset="0"/>
                      </a:rPr>
                      <m:t>){</m:t>
                    </m:r>
                    <m:r>
                      <a:rPr lang="en-US" altLang="zh-CN" sz="2000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zh-CN" altLang="en-US" sz="2000" i="1" dirty="0" smtClean="0">
                        <a:latin typeface="Cambria Math" panose="02040503050406030204" pitchFamily="18" charset="0"/>
                      </a:rPr>
                      <m:t>是</m:t>
                    </m:r>
                    <m:r>
                      <a:rPr lang="en-US" altLang="zh-CN" sz="20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zh-CN" altLang="en-US" sz="2000" i="1" dirty="0" smtClean="0">
                        <a:latin typeface="Cambria Math" panose="02040503050406030204" pitchFamily="18" charset="0"/>
                      </a:rPr>
                      <m:t>和</m:t>
                    </m:r>
                    <m:r>
                      <a:rPr lang="en-US" altLang="zh-CN" sz="200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zh-CN" altLang="en-US" sz="2000" i="1" dirty="0" smtClean="0">
                        <a:latin typeface="Cambria Math" panose="02040503050406030204" pitchFamily="18" charset="0"/>
                      </a:rPr>
                      <m:t>的最大公约数</m:t>
                    </m:r>
                    <m:r>
                      <a:rPr lang="en-US" altLang="zh-CN" sz="2000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en-US" sz="2000" dirty="0"/>
                  <a:t>，这个霍尔三元组说明，只要输入是两个正整数，那么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000" i="1" dirty="0" smtClean="0">
                        <a:latin typeface="Cambria Math" panose="02040503050406030204" pitchFamily="18" charset="0"/>
                      </a:rPr>
                      <m:t>gcd</m:t>
                    </m:r>
                    <m:r>
                      <a:rPr lang="en-US" altLang="zh-CN" sz="2000" i="1" dirty="0" smtClean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altLang="zh-CN" sz="2000" i="1" dirty="0" err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000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000" i="1" dirty="0" err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sz="20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000" dirty="0"/>
                  <a:t>函数实现的功能是正确的。</a:t>
                </a:r>
                <a:endParaRPr lang="en-US" altLang="zh-CN" sz="2000" dirty="0"/>
              </a:p>
              <a:p>
                <a:pPr indent="457200">
                  <a:lnSpc>
                    <a:spcPct val="150000"/>
                  </a:lnSpc>
                </a:pPr>
                <a:endParaRPr lang="en-US" altLang="zh-CN" sz="2000" dirty="0"/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406" y="1447852"/>
                <a:ext cx="8875276" cy="4651979"/>
              </a:xfrm>
              <a:prstGeom prst="rect">
                <a:avLst/>
              </a:prstGeom>
              <a:blipFill rotWithShape="1">
                <a:blip r:embed="rId2"/>
                <a:stretch>
                  <a:fillRect t="-1" r="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C1E6DC18-9437-4789-AE6F-73AEC16CC6F5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79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614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33425" y="731838"/>
            <a:ext cx="8334257" cy="563618"/>
          </a:xfrm>
        </p:spPr>
        <p:txBody>
          <a:bodyPr/>
          <a:lstStyle/>
          <a:p>
            <a:pPr eaLnBrk="1" hangingPunct="1"/>
            <a:r>
              <a:rPr lang="zh-CN" altLang="en-US" dirty="0">
                <a:ea typeface="宋体" panose="02010600030101010101" pitchFamily="2" charset="-122"/>
              </a:rPr>
              <a:t>霍尔逻辑示例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33425" y="1524050"/>
            <a:ext cx="2965159" cy="2308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600" dirty="0"/>
              <a:t>def add(a, b)：</a:t>
            </a:r>
          </a:p>
          <a:p>
            <a:r>
              <a:rPr lang="zh-CN" altLang="en-US" sz="1600" dirty="0"/>
              <a:t>    """</a:t>
            </a:r>
          </a:p>
          <a:p>
            <a:r>
              <a:rPr lang="zh-CN" altLang="en-US" sz="1600" dirty="0"/>
              <a:t>    计算两个整数的和</a:t>
            </a:r>
          </a:p>
          <a:p>
            <a:r>
              <a:rPr lang="zh-CN" altLang="en-US" sz="1600" dirty="0"/>
              <a:t>    :param a：第一个整数</a:t>
            </a:r>
          </a:p>
          <a:p>
            <a:r>
              <a:rPr lang="zh-CN" altLang="en-US" sz="1600" dirty="0"/>
              <a:t>    参数 b： 第二个整数</a:t>
            </a:r>
          </a:p>
          <a:p>
            <a:r>
              <a:rPr lang="zh-CN" altLang="en-US" sz="1600" dirty="0"/>
              <a:t>    返回： 两个整数的和</a:t>
            </a:r>
          </a:p>
          <a:p>
            <a:r>
              <a:rPr lang="zh-CN" altLang="en-US" sz="1600" dirty="0"/>
              <a:t>    """</a:t>
            </a:r>
          </a:p>
          <a:p>
            <a:r>
              <a:rPr lang="zh-CN" altLang="en-US" sz="1600" dirty="0"/>
              <a:t>    结果 = a + b</a:t>
            </a:r>
          </a:p>
          <a:p>
            <a:r>
              <a:rPr lang="zh-CN" altLang="en-US" sz="1600" dirty="0"/>
              <a:t>    返回结果</a:t>
            </a:r>
          </a:p>
        </p:txBody>
      </p:sp>
      <p:sp>
        <p:nvSpPr>
          <p:cNvPr id="8" name="箭头: 右 7"/>
          <p:cNvSpPr/>
          <p:nvPr/>
        </p:nvSpPr>
        <p:spPr bwMode="auto">
          <a:xfrm>
            <a:off x="3868879" y="1796008"/>
            <a:ext cx="978408" cy="484632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194173" y="1541547"/>
            <a:ext cx="3352694" cy="869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/>
              <a:t>前置条件：{a是整数，b是整数}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后置条件：{结果 == a + b}</a:t>
            </a:r>
            <a:endParaRPr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5105386" y="2910757"/>
            <a:ext cx="3441481" cy="329320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600" dirty="0"/>
              <a:t>def factorial(n)：</a:t>
            </a:r>
          </a:p>
          <a:p>
            <a:r>
              <a:rPr lang="zh-CN" altLang="en-US" sz="1600" dirty="0"/>
              <a:t>    """</a:t>
            </a:r>
          </a:p>
          <a:p>
            <a:r>
              <a:rPr lang="zh-CN" altLang="en-US" sz="1600" dirty="0"/>
              <a:t>    计算给定整数n的阶乘</a:t>
            </a:r>
          </a:p>
          <a:p>
            <a:r>
              <a:rPr lang="zh-CN" altLang="en-US" sz="1600" dirty="0"/>
              <a:t>    参数 n：非负整数</a:t>
            </a:r>
          </a:p>
          <a:p>
            <a:r>
              <a:rPr lang="zh-CN" altLang="en-US" sz="1600" dirty="0"/>
              <a:t>    :return: n的阶乘</a:t>
            </a:r>
          </a:p>
          <a:p>
            <a:r>
              <a:rPr lang="zh-CN" altLang="en-US" sz="1600" dirty="0"/>
              <a:t>    """</a:t>
            </a:r>
          </a:p>
          <a:p>
            <a:r>
              <a:rPr lang="zh-CN" altLang="en-US" sz="1600" dirty="0"/>
              <a:t>    如果 n == 0：</a:t>
            </a:r>
          </a:p>
          <a:p>
            <a:r>
              <a:rPr lang="zh-CN" altLang="en-US" sz="1600" dirty="0"/>
              <a:t>        返回 1</a:t>
            </a:r>
          </a:p>
          <a:p>
            <a:r>
              <a:rPr lang="zh-CN" altLang="en-US" sz="1600" dirty="0"/>
              <a:t>    否则</a:t>
            </a:r>
          </a:p>
          <a:p>
            <a:r>
              <a:rPr lang="zh-CN" altLang="en-US" sz="1600" dirty="0"/>
              <a:t>        结果 = 1</a:t>
            </a:r>
          </a:p>
          <a:p>
            <a:r>
              <a:rPr lang="zh-CN" altLang="en-US" sz="1600" dirty="0"/>
              <a:t>        for i in range(1, n + 1)：</a:t>
            </a:r>
          </a:p>
          <a:p>
            <a:r>
              <a:rPr lang="zh-CN" altLang="en-US" sz="1600" dirty="0"/>
              <a:t>            result *= i</a:t>
            </a:r>
          </a:p>
          <a:p>
            <a:r>
              <a:rPr lang="zh-CN" altLang="en-US" sz="1600" dirty="0"/>
              <a:t>        返回结果</a:t>
            </a:r>
          </a:p>
        </p:txBody>
      </p:sp>
      <p:sp>
        <p:nvSpPr>
          <p:cNvPr id="12" name="箭头: 左 11"/>
          <p:cNvSpPr/>
          <p:nvPr/>
        </p:nvSpPr>
        <p:spPr bwMode="auto">
          <a:xfrm>
            <a:off x="3868879" y="4800564"/>
            <a:ext cx="978408" cy="484632"/>
          </a:xfrm>
          <a:prstGeom prst="lef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09704" y="4608113"/>
            <a:ext cx="3088880" cy="869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/>
              <a:t>前置条件：{ n &gt;= 0 }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后置条件：{ result == n！}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12"/>
          <p:cNvSpPr txBox="1">
            <a:spLocks noGrp="1" noChangeArrowheads="1"/>
          </p:cNvSpPr>
          <p:nvPr/>
        </p:nvSpPr>
        <p:spPr bwMode="auto">
          <a:xfrm>
            <a:off x="6553200" y="6553200"/>
            <a:ext cx="213360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C18F9C88-E309-4C30-A865-06EB62401292}" type="slidenum">
              <a:rPr lang="en-US" altLang="zh-CN" sz="1200"/>
              <a:t>80</a:t>
            </a:fld>
            <a:endParaRPr lang="en-US" altLang="zh-CN" sz="1200"/>
          </a:p>
        </p:txBody>
      </p:sp>
      <p:sp>
        <p:nvSpPr>
          <p:cNvPr id="102403" name="Rectangle 12"/>
          <p:cNvSpPr txBox="1">
            <a:spLocks noGrp="1" noChangeArrowheads="1"/>
          </p:cNvSpPr>
          <p:nvPr/>
        </p:nvSpPr>
        <p:spPr bwMode="auto">
          <a:xfrm>
            <a:off x="6553200" y="6553200"/>
            <a:ext cx="213360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F0A8905C-67E8-4299-9AB9-130EEA36F83A}" type="slidenum">
              <a:rPr lang="en-US" altLang="zh-CN" sz="1200"/>
              <a:t>80</a:t>
            </a:fld>
            <a:endParaRPr lang="en-US" altLang="zh-CN" sz="1200"/>
          </a:p>
        </p:txBody>
      </p:sp>
      <p:sp>
        <p:nvSpPr>
          <p:cNvPr id="62468" name="WordArt 2"/>
          <p:cNvSpPr>
            <a:spLocks noChangeArrowheads="1" noChangeShapeType="1" noTextEdit="1"/>
          </p:cNvSpPr>
          <p:nvPr/>
        </p:nvSpPr>
        <p:spPr bwMode="auto">
          <a:xfrm>
            <a:off x="1600200" y="4267200"/>
            <a:ext cx="5562600" cy="762000"/>
          </a:xfrm>
          <a:prstGeom prst="rect">
            <a:avLst/>
          </a:prstGeom>
        </p:spPr>
        <p:txBody>
          <a:bodyPr wrap="none" fromWordArt="1">
            <a:prstTxWarp prst="textDeflate">
              <a:avLst>
                <a:gd name="adj" fmla="val 0"/>
              </a:avLst>
            </a:prstTxWarp>
          </a:bodyPr>
          <a:lstStyle/>
          <a:p>
            <a:pPr algn="ctr"/>
            <a:r>
              <a:rPr lang="en-US" altLang="zh-CN" sz="3600" b="1" kern="10">
                <a:ln w="19050">
                  <a:solidFill>
                    <a:schemeClr val="bg1"/>
                  </a:solidFill>
                  <a:round/>
                </a:ln>
                <a:gradFill rotWithShape="1">
                  <a:gsLst>
                    <a:gs pos="0">
                      <a:schemeClr val="tx1"/>
                    </a:gs>
                    <a:gs pos="100000">
                      <a:schemeClr val="hlink"/>
                    </a:gs>
                  </a:gsLst>
                  <a:lin ang="0" scaled="1"/>
                </a:gradFill>
                <a:effectLst>
                  <a:outerShdw dist="63500" dir="2212194" algn="ctr" rotWithShape="0">
                    <a:srgbClr val="868686">
                      <a:alpha val="50000"/>
                    </a:srgbClr>
                  </a:outerShdw>
                </a:effectLst>
                <a:cs typeface="Arial" panose="020B0604020202020204" pitchFamily="34" charset="0"/>
              </a:rPr>
              <a:t>第 1.3 节结束</a:t>
            </a:r>
            <a:endParaRPr lang="zh-CN" altLang="en-US" sz="3600" b="1" kern="10">
              <a:ln w="19050">
                <a:solidFill>
                  <a:schemeClr val="bg1"/>
                </a:solidFill>
                <a:round/>
              </a:ln>
              <a:gradFill rotWithShape="1">
                <a:gsLst>
                  <a:gs pos="0">
                    <a:schemeClr val="tx1"/>
                  </a:gs>
                  <a:gs pos="100000">
                    <a:schemeClr val="hlink"/>
                  </a:gs>
                </a:gsLst>
                <a:lin ang="0" scaled="1"/>
              </a:gradFill>
              <a:effectLst>
                <a:outerShdw dist="63500" dir="2212194" algn="ctr" rotWithShape="0">
                  <a:srgbClr val="868686">
                    <a:alpha val="50000"/>
                  </a:srgbClr>
                </a:outerShdw>
              </a:effectLst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24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24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2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OGVlNmI2MjllNjAxMGU4Yzk3OTkxNTA2ZTNlOGEyODc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8,&quot;left&quot;:156,&quot;top&quot;:144,&quot;width&quot;:372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8,&quot;left&quot;:156,&quot;top&quot;:144,&quot;width&quot;:372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8,&quot;left&quot;:156,&quot;top&quot;:144,&quot;width&quot;:372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8,&quot;left&quot;:156,&quot;top&quot;:144,&quot;width&quot;:372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8,&quot;left&quot;:156,&quot;top&quot;:144,&quot;width&quot;:372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8,&quot;left&quot;:156,&quot;top&quot;:144,&quot;width&quot;:372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8,&quot;left&quot;:156,&quot;top&quot;:144,&quot;width&quot;:372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8,&quot;left&quot;:156,&quot;top&quot;:144,&quot;width&quot;:372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8,&quot;left&quot;:156,&quot;top&quot;:144,&quot;width&quot;:372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8,&quot;left&quot;:156,&quot;top&quot;:144,&quot;width&quot;:372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8,&quot;left&quot;:156,&quot;top&quot;:144,&quot;width&quot;:372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8,&quot;left&quot;:156,&quot;top&quot;:144,&quot;width&quot;:372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8,&quot;left&quot;:156,&quot;top&quot;:144,&quot;width&quot;:372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8,&quot;left&quot;:156,&quot;top&quot;:144,&quot;width&quot;:372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8,&quot;left&quot;:156,&quot;top&quot;:144,&quot;width&quot;:372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8,&quot;left&quot;:156,&quot;top&quot;:144,&quot;width&quot;:372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8,&quot;left&quot;:156,&quot;top&quot;:144,&quot;width&quot;:372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8,&quot;left&quot;:156,&quot;top&quot;:144,&quot;width&quot;:372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8,&quot;left&quot;:156,&quot;top&quot;:144,&quot;width&quot;:372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8,&quot;left&quot;:156,&quot;top&quot;:144,&quot;width&quot;:372}"/>
</p:tagLst>
</file>

<file path=ppt/theme/theme1.xml><?xml version="1.0" encoding="utf-8"?>
<a:theme xmlns:a="http://schemas.openxmlformats.org/drawingml/2006/main" name="sample">
  <a:themeElements>
    <a:clrScheme name="sample 3">
      <a:dk1>
        <a:srgbClr val="17347D"/>
      </a:dk1>
      <a:lt1>
        <a:srgbClr val="FFFFFF"/>
      </a:lt1>
      <a:dk2>
        <a:srgbClr val="3366CC"/>
      </a:dk2>
      <a:lt2>
        <a:srgbClr val="DDDDDD"/>
      </a:lt2>
      <a:accent1>
        <a:srgbClr val="77B7E7"/>
      </a:accent1>
      <a:accent2>
        <a:srgbClr val="45AB7D"/>
      </a:accent2>
      <a:accent3>
        <a:srgbClr val="FFFFFF"/>
      </a:accent3>
      <a:accent4>
        <a:srgbClr val="122B6A"/>
      </a:accent4>
      <a:accent5>
        <a:srgbClr val="BDD8F1"/>
      </a:accent5>
      <a:accent6>
        <a:srgbClr val="3E9B71"/>
      </a:accent6>
      <a:hlink>
        <a:srgbClr val="9999FF"/>
      </a:hlink>
      <a:folHlink>
        <a:srgbClr val="969696"/>
      </a:folHlink>
    </a:clrScheme>
    <a:fontScheme name="sample">
      <a:majorFont>
        <a:latin typeface="Verdan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sample 1">
        <a:dk1>
          <a:srgbClr val="1B525F"/>
        </a:dk1>
        <a:lt1>
          <a:srgbClr val="FFFFFF"/>
        </a:lt1>
        <a:dk2>
          <a:srgbClr val="339966"/>
        </a:dk2>
        <a:lt2>
          <a:srgbClr val="DDDDDD"/>
        </a:lt2>
        <a:accent1>
          <a:srgbClr val="C5BA6B"/>
        </a:accent1>
        <a:accent2>
          <a:srgbClr val="669900"/>
        </a:accent2>
        <a:accent3>
          <a:srgbClr val="FFFFFF"/>
        </a:accent3>
        <a:accent4>
          <a:srgbClr val="154550"/>
        </a:accent4>
        <a:accent5>
          <a:srgbClr val="DFD9BA"/>
        </a:accent5>
        <a:accent6>
          <a:srgbClr val="5C8A00"/>
        </a:accent6>
        <a:hlink>
          <a:srgbClr val="E57C4D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2">
        <a:dk1>
          <a:srgbClr val="191961"/>
        </a:dk1>
        <a:lt1>
          <a:srgbClr val="FFFFFF"/>
        </a:lt1>
        <a:dk2>
          <a:srgbClr val="5D4CDC"/>
        </a:dk2>
        <a:lt2>
          <a:srgbClr val="DDDDDD"/>
        </a:lt2>
        <a:accent1>
          <a:srgbClr val="31B36C"/>
        </a:accent1>
        <a:accent2>
          <a:srgbClr val="0099FF"/>
        </a:accent2>
        <a:accent3>
          <a:srgbClr val="FFFFFF"/>
        </a:accent3>
        <a:accent4>
          <a:srgbClr val="141452"/>
        </a:accent4>
        <a:accent5>
          <a:srgbClr val="ADD6BA"/>
        </a:accent5>
        <a:accent6>
          <a:srgbClr val="008AE7"/>
        </a:accent6>
        <a:hlink>
          <a:srgbClr val="A0963C"/>
        </a:hlink>
        <a:folHlink>
          <a:srgbClr val="A0963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3">
        <a:dk1>
          <a:srgbClr val="17347D"/>
        </a:dk1>
        <a:lt1>
          <a:srgbClr val="FFFFFF"/>
        </a:lt1>
        <a:dk2>
          <a:srgbClr val="3366CC"/>
        </a:dk2>
        <a:lt2>
          <a:srgbClr val="DDDDDD"/>
        </a:lt2>
        <a:accent1>
          <a:srgbClr val="77B7E7"/>
        </a:accent1>
        <a:accent2>
          <a:srgbClr val="45AB7D"/>
        </a:accent2>
        <a:accent3>
          <a:srgbClr val="FFFFFF"/>
        </a:accent3>
        <a:accent4>
          <a:srgbClr val="122B6A"/>
        </a:accent4>
        <a:accent5>
          <a:srgbClr val="BDD8F1"/>
        </a:accent5>
        <a:accent6>
          <a:srgbClr val="3E9B71"/>
        </a:accent6>
        <a:hlink>
          <a:srgbClr val="9999F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sample">
  <a:themeElements>
    <a:clrScheme name="1_sample 3">
      <a:dk1>
        <a:srgbClr val="17347D"/>
      </a:dk1>
      <a:lt1>
        <a:srgbClr val="FFFFFF"/>
      </a:lt1>
      <a:dk2>
        <a:srgbClr val="3366CC"/>
      </a:dk2>
      <a:lt2>
        <a:srgbClr val="DDDDDD"/>
      </a:lt2>
      <a:accent1>
        <a:srgbClr val="77B7E7"/>
      </a:accent1>
      <a:accent2>
        <a:srgbClr val="45AB7D"/>
      </a:accent2>
      <a:accent3>
        <a:srgbClr val="FFFFFF"/>
      </a:accent3>
      <a:accent4>
        <a:srgbClr val="122B6A"/>
      </a:accent4>
      <a:accent5>
        <a:srgbClr val="BDD8F1"/>
      </a:accent5>
      <a:accent6>
        <a:srgbClr val="3E9B71"/>
      </a:accent6>
      <a:hlink>
        <a:srgbClr val="9999FF"/>
      </a:hlink>
      <a:folHlink>
        <a:srgbClr val="969696"/>
      </a:folHlink>
    </a:clrScheme>
    <a:fontScheme name="1_sample">
      <a:majorFont>
        <a:latin typeface="Verdan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1_sample 1">
        <a:dk1>
          <a:srgbClr val="1B525F"/>
        </a:dk1>
        <a:lt1>
          <a:srgbClr val="FFFFFF"/>
        </a:lt1>
        <a:dk2>
          <a:srgbClr val="339966"/>
        </a:dk2>
        <a:lt2>
          <a:srgbClr val="DDDDDD"/>
        </a:lt2>
        <a:accent1>
          <a:srgbClr val="C5BA6B"/>
        </a:accent1>
        <a:accent2>
          <a:srgbClr val="669900"/>
        </a:accent2>
        <a:accent3>
          <a:srgbClr val="FFFFFF"/>
        </a:accent3>
        <a:accent4>
          <a:srgbClr val="154550"/>
        </a:accent4>
        <a:accent5>
          <a:srgbClr val="DFD9BA"/>
        </a:accent5>
        <a:accent6>
          <a:srgbClr val="5C8A00"/>
        </a:accent6>
        <a:hlink>
          <a:srgbClr val="E57C4D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ample 2">
        <a:dk1>
          <a:srgbClr val="191961"/>
        </a:dk1>
        <a:lt1>
          <a:srgbClr val="FFFFFF"/>
        </a:lt1>
        <a:dk2>
          <a:srgbClr val="5D4CDC"/>
        </a:dk2>
        <a:lt2>
          <a:srgbClr val="DDDDDD"/>
        </a:lt2>
        <a:accent1>
          <a:srgbClr val="31B36C"/>
        </a:accent1>
        <a:accent2>
          <a:srgbClr val="0099FF"/>
        </a:accent2>
        <a:accent3>
          <a:srgbClr val="FFFFFF"/>
        </a:accent3>
        <a:accent4>
          <a:srgbClr val="141452"/>
        </a:accent4>
        <a:accent5>
          <a:srgbClr val="ADD6BA"/>
        </a:accent5>
        <a:accent6>
          <a:srgbClr val="008AE7"/>
        </a:accent6>
        <a:hlink>
          <a:srgbClr val="A0963C"/>
        </a:hlink>
        <a:folHlink>
          <a:srgbClr val="A0963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ample 3">
        <a:dk1>
          <a:srgbClr val="17347D"/>
        </a:dk1>
        <a:lt1>
          <a:srgbClr val="FFFFFF"/>
        </a:lt1>
        <a:dk2>
          <a:srgbClr val="3366CC"/>
        </a:dk2>
        <a:lt2>
          <a:srgbClr val="DDDDDD"/>
        </a:lt2>
        <a:accent1>
          <a:srgbClr val="77B7E7"/>
        </a:accent1>
        <a:accent2>
          <a:srgbClr val="45AB7D"/>
        </a:accent2>
        <a:accent3>
          <a:srgbClr val="FFFFFF"/>
        </a:accent3>
        <a:accent4>
          <a:srgbClr val="122B6A"/>
        </a:accent4>
        <a:accent5>
          <a:srgbClr val="BDD8F1"/>
        </a:accent5>
        <a:accent6>
          <a:srgbClr val="3E9B71"/>
        </a:accent6>
        <a:hlink>
          <a:srgbClr val="9999F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sample">
  <a:themeElements>
    <a:clrScheme name="sample 3">
      <a:dk1>
        <a:srgbClr val="17347D"/>
      </a:dk1>
      <a:lt1>
        <a:srgbClr val="FFFFFF"/>
      </a:lt1>
      <a:dk2>
        <a:srgbClr val="3366CC"/>
      </a:dk2>
      <a:lt2>
        <a:srgbClr val="DDDDDD"/>
      </a:lt2>
      <a:accent1>
        <a:srgbClr val="77B7E7"/>
      </a:accent1>
      <a:accent2>
        <a:srgbClr val="45AB7D"/>
      </a:accent2>
      <a:accent3>
        <a:srgbClr val="FFFFFF"/>
      </a:accent3>
      <a:accent4>
        <a:srgbClr val="122B6A"/>
      </a:accent4>
      <a:accent5>
        <a:srgbClr val="BDD8F1"/>
      </a:accent5>
      <a:accent6>
        <a:srgbClr val="3E9B71"/>
      </a:accent6>
      <a:hlink>
        <a:srgbClr val="9999FF"/>
      </a:hlink>
      <a:folHlink>
        <a:srgbClr val="969696"/>
      </a:folHlink>
    </a:clrScheme>
    <a:fontScheme name="sample">
      <a:majorFont>
        <a:latin typeface="Verdan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sample 1">
        <a:dk1>
          <a:srgbClr val="1B525F"/>
        </a:dk1>
        <a:lt1>
          <a:srgbClr val="FFFFFF"/>
        </a:lt1>
        <a:dk2>
          <a:srgbClr val="339966"/>
        </a:dk2>
        <a:lt2>
          <a:srgbClr val="DDDDDD"/>
        </a:lt2>
        <a:accent1>
          <a:srgbClr val="C5BA6B"/>
        </a:accent1>
        <a:accent2>
          <a:srgbClr val="669900"/>
        </a:accent2>
        <a:accent3>
          <a:srgbClr val="FFFFFF"/>
        </a:accent3>
        <a:accent4>
          <a:srgbClr val="154550"/>
        </a:accent4>
        <a:accent5>
          <a:srgbClr val="DFD9BA"/>
        </a:accent5>
        <a:accent6>
          <a:srgbClr val="5C8A00"/>
        </a:accent6>
        <a:hlink>
          <a:srgbClr val="E57C4D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2">
        <a:dk1>
          <a:srgbClr val="191961"/>
        </a:dk1>
        <a:lt1>
          <a:srgbClr val="FFFFFF"/>
        </a:lt1>
        <a:dk2>
          <a:srgbClr val="5D4CDC"/>
        </a:dk2>
        <a:lt2>
          <a:srgbClr val="DDDDDD"/>
        </a:lt2>
        <a:accent1>
          <a:srgbClr val="31B36C"/>
        </a:accent1>
        <a:accent2>
          <a:srgbClr val="0099FF"/>
        </a:accent2>
        <a:accent3>
          <a:srgbClr val="FFFFFF"/>
        </a:accent3>
        <a:accent4>
          <a:srgbClr val="141452"/>
        </a:accent4>
        <a:accent5>
          <a:srgbClr val="ADD6BA"/>
        </a:accent5>
        <a:accent6>
          <a:srgbClr val="008AE7"/>
        </a:accent6>
        <a:hlink>
          <a:srgbClr val="A0963C"/>
        </a:hlink>
        <a:folHlink>
          <a:srgbClr val="A0963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3">
        <a:dk1>
          <a:srgbClr val="17347D"/>
        </a:dk1>
        <a:lt1>
          <a:srgbClr val="FFFFFF"/>
        </a:lt1>
        <a:dk2>
          <a:srgbClr val="3366CC"/>
        </a:dk2>
        <a:lt2>
          <a:srgbClr val="DDDDDD"/>
        </a:lt2>
        <a:accent1>
          <a:srgbClr val="77B7E7"/>
        </a:accent1>
        <a:accent2>
          <a:srgbClr val="45AB7D"/>
        </a:accent2>
        <a:accent3>
          <a:srgbClr val="FFFFFF"/>
        </a:accent3>
        <a:accent4>
          <a:srgbClr val="122B6A"/>
        </a:accent4>
        <a:accent5>
          <a:srgbClr val="BDD8F1"/>
        </a:accent5>
        <a:accent6>
          <a:srgbClr val="3E9B71"/>
        </a:accent6>
        <a:hlink>
          <a:srgbClr val="9999F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</TotalTime>
  <Words>4696</Words>
  <Application>Microsoft Macintosh PowerPoint</Application>
  <PresentationFormat>全屏显示(4:3)</PresentationFormat>
  <Paragraphs>570</Paragraphs>
  <Slides>80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80</vt:i4>
      </vt:variant>
    </vt:vector>
  </HeadingPairs>
  <TitlesOfParts>
    <vt:vector size="92" baseType="lpstr">
      <vt:lpstr>宋体</vt:lpstr>
      <vt:lpstr>Euclid</vt:lpstr>
      <vt:lpstr>Arial</vt:lpstr>
      <vt:lpstr>Arial Black</vt:lpstr>
      <vt:lpstr>Cambria Math</vt:lpstr>
      <vt:lpstr>Symbol</vt:lpstr>
      <vt:lpstr>Times New Roman</vt:lpstr>
      <vt:lpstr>Verdana</vt:lpstr>
      <vt:lpstr>Wingdings</vt:lpstr>
      <vt:lpstr>sample</vt:lpstr>
      <vt:lpstr>1_sample</vt:lpstr>
      <vt:lpstr>2_sample</vt:lpstr>
      <vt:lpstr>PowerPoint 演示文稿</vt:lpstr>
      <vt:lpstr>PowerPoint 演示文稿</vt:lpstr>
      <vt:lpstr>目录</vt:lpstr>
      <vt:lpstr>PowerPoint 演示文稿</vt:lpstr>
      <vt:lpstr>谓词逻辑</vt:lpstr>
      <vt:lpstr>示例 1 ：视频蒙面检测</vt:lpstr>
      <vt:lpstr>示例 2 ：视频监控的安全带检测</vt:lpstr>
      <vt:lpstr>谓词</vt:lpstr>
      <vt:lpstr>命题功能</vt:lpstr>
      <vt:lpstr>示例 1</vt:lpstr>
      <vt:lpstr>示例 2</vt:lpstr>
      <vt:lpstr>命题功能</vt:lpstr>
      <vt:lpstr>PowerPoint 演示文稿</vt:lpstr>
      <vt:lpstr>量词表达式</vt:lpstr>
      <vt:lpstr>全称量词 </vt:lpstr>
      <vt:lpstr>例如：</vt:lpstr>
      <vt:lpstr>示例 4</vt:lpstr>
      <vt:lpstr>反例</vt:lpstr>
      <vt:lpstr>示例 5</vt:lpstr>
      <vt:lpstr>例 6</vt:lpstr>
      <vt:lpstr>例 7</vt:lpstr>
      <vt:lpstr>存在量词</vt:lpstr>
      <vt:lpstr>量化表达式的含义</vt:lpstr>
      <vt:lpstr>例如：</vt:lpstr>
      <vt:lpstr>例 8</vt:lpstr>
      <vt:lpstr>例 9</vt:lpstr>
      <vt:lpstr>PowerPoint 演示文稿</vt:lpstr>
      <vt:lpstr>量词</vt:lpstr>
      <vt:lpstr>练习</vt:lpstr>
      <vt:lpstr>PowerPoint 演示文稿</vt:lpstr>
      <vt:lpstr>PowerPoint 演示文稿</vt:lpstr>
      <vt:lpstr>自由变量和约束变量</vt:lpstr>
      <vt:lpstr>绑定示例</vt:lpstr>
      <vt:lpstr>PowerPoint 演示文稿</vt:lpstr>
      <vt:lpstr>PowerPoint 演示文稿</vt:lpstr>
      <vt:lpstr>练习</vt:lpstr>
      <vt:lpstr>练习</vt:lpstr>
      <vt:lpstr>否定</vt:lpstr>
      <vt:lpstr>否定</vt:lpstr>
      <vt:lpstr>否定量词</vt:lpstr>
      <vt:lpstr>德摩根定律</vt:lpstr>
      <vt:lpstr>例 10</vt:lpstr>
      <vt:lpstr>例 11</vt:lpstr>
      <vt:lpstr>练习</vt:lpstr>
      <vt:lpstr>练习</vt:lpstr>
      <vt:lpstr>练习</vt:lpstr>
      <vt:lpstr>总结：</vt:lpstr>
      <vt:lpstr>∀x(P(x)∨Q(x))      vs    ∀xP(x)∨∀xQ(x)</vt:lpstr>
      <vt:lpstr>∀x(P(x)∧Q(x))       vs      ∀xP(x)∧∀xQ(x)</vt:lpstr>
      <vt:lpstr>∃x(P(x)∧Q(x))       vs     ∃xP(x)∧∃xQ(x)</vt:lpstr>
      <vt:lpstr>∃x(P(x)∨Q(x))       vs      ∃xP(x)∨∃xQ(x)</vt:lpstr>
      <vt:lpstr>练习</vt:lpstr>
      <vt:lpstr>练习</vt:lpstr>
      <vt:lpstr>练习</vt:lpstr>
      <vt:lpstr>PowerPoint 演示文稿</vt:lpstr>
      <vt:lpstr>例 12</vt:lpstr>
      <vt:lpstr>PowerPoint 演示文稿</vt:lpstr>
      <vt:lpstr>例 13</vt:lpstr>
      <vt:lpstr>PowerPoint 演示文稿</vt:lpstr>
      <vt:lpstr>练习</vt:lpstr>
      <vt:lpstr>练习</vt:lpstr>
      <vt:lpstr>PowerPoint 演示文稿</vt:lpstr>
      <vt:lpstr>例 13</vt:lpstr>
      <vt:lpstr>例 14</vt:lpstr>
      <vt:lpstr>例 14</vt:lpstr>
      <vt:lpstr>逻辑编程</vt:lpstr>
      <vt:lpstr>例 15</vt:lpstr>
      <vt:lpstr>PowerPoint 演示文稿</vt:lpstr>
      <vt:lpstr>命题符号化</vt:lpstr>
      <vt:lpstr>命题符号化</vt:lpstr>
      <vt:lpstr>将命题翻译成自然语言</vt:lpstr>
      <vt:lpstr>将命题翻译成自然语言</vt:lpstr>
      <vt:lpstr>一阶逻辑</vt:lpstr>
      <vt:lpstr>一阶逻辑示例</vt:lpstr>
      <vt:lpstr>程序正当性验证</vt:lpstr>
      <vt:lpstr>程序正当性验证</vt:lpstr>
      <vt:lpstr>霍尔逻辑</vt:lpstr>
      <vt:lpstr>霍尔逻辑</vt:lpstr>
      <vt:lpstr>霍尔逻辑示例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CZ M</dc:creator>
  <cp:keywords>, docId:A27A607CFE177FCAC12FB86F93201BCD</cp:keywords>
  <cp:lastModifiedBy>Ying Su</cp:lastModifiedBy>
  <cp:revision>249</cp:revision>
  <dcterms:created xsi:type="dcterms:W3CDTF">2015-09-15T10:54:00Z</dcterms:created>
  <dcterms:modified xsi:type="dcterms:W3CDTF">2026-09-02T03:08:01Z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r8>1</vt:r8>
  </property>
  <property fmtid="{D5CDD505-2E9C-101B-9397-08002B2CF9AE}" pid="3" name="KSOProductBuildVer">
    <vt:lpwstr>2052-12.1.0.21541</vt:lpwstr>
  </property>
  <property fmtid="{D5CDD505-2E9C-101B-9397-08002B2CF9AE}" pid="4" name="ICV">
    <vt:lpwstr>D19D8202693A4968A4BD28B53413FAAB_12</vt:lpwstr>
  </property>
</Properties>
</file>