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53"/>
  </p:notesMasterIdLst>
  <p:sldIdLst>
    <p:sldId id="257" r:id="rId3"/>
    <p:sldId id="258" r:id="rId4"/>
    <p:sldId id="259" r:id="rId5"/>
    <p:sldId id="264" r:id="rId6"/>
    <p:sldId id="260" r:id="rId7"/>
    <p:sldId id="261" r:id="rId8"/>
    <p:sldId id="262" r:id="rId9"/>
    <p:sldId id="263" r:id="rId10"/>
    <p:sldId id="265" r:id="rId11"/>
    <p:sldId id="266" r:id="rId12"/>
    <p:sldId id="268" r:id="rId13"/>
    <p:sldId id="269" r:id="rId14"/>
    <p:sldId id="270" r:id="rId15"/>
    <p:sldId id="413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381" r:id="rId25"/>
    <p:sldId id="279" r:id="rId26"/>
    <p:sldId id="289" r:id="rId27"/>
    <p:sldId id="290" r:id="rId28"/>
    <p:sldId id="291" r:id="rId29"/>
    <p:sldId id="292" r:id="rId30"/>
    <p:sldId id="401" r:id="rId31"/>
    <p:sldId id="408" r:id="rId32"/>
    <p:sldId id="387" r:id="rId33"/>
    <p:sldId id="411" r:id="rId34"/>
    <p:sldId id="280" r:id="rId35"/>
    <p:sldId id="293" r:id="rId36"/>
    <p:sldId id="294" r:id="rId37"/>
    <p:sldId id="295" r:id="rId38"/>
    <p:sldId id="296" r:id="rId39"/>
    <p:sldId id="297" r:id="rId40"/>
    <p:sldId id="399" r:id="rId41"/>
    <p:sldId id="281" r:id="rId42"/>
    <p:sldId id="298" r:id="rId43"/>
    <p:sldId id="299" r:id="rId44"/>
    <p:sldId id="287" r:id="rId45"/>
    <p:sldId id="288" r:id="rId46"/>
    <p:sldId id="282" r:id="rId47"/>
    <p:sldId id="283" r:id="rId48"/>
    <p:sldId id="284" r:id="rId49"/>
    <p:sldId id="403" r:id="rId50"/>
    <p:sldId id="410" r:id="rId51"/>
    <p:sldId id="285" r:id="rId52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1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344D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634" autoAdjust="0"/>
    <p:restoredTop sz="88719" autoAdjust="0"/>
  </p:normalViewPr>
  <p:slideViewPr>
    <p:cSldViewPr showGuides="1">
      <p:cViewPr varScale="1">
        <p:scale>
          <a:sx n="108" d="100"/>
          <a:sy n="108" d="100"/>
        </p:scale>
        <p:origin x="200" y="232"/>
      </p:cViewPr>
      <p:guideLst>
        <p:guide orient="horz" pos="2160"/>
        <p:guide pos="291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198" cy="7619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tableStyles" Target="tableStyle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b="0"/>
            </a:lvl1pPr>
          </a:lstStyle>
          <a:p>
            <a:fld id="{11460DF8-369F-49AE-B2FF-63E38A40FDE6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460DF8-369F-49AE-B2FF-63E38A40FDE6}" type="slidenum">
              <a:rPr lang="en-US" altLang="zh-CN" smtClean="0"/>
              <a:t>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58DD7021-1CF2-4D26-8F8C-7D47F6C251C7}" type="slidenum">
              <a:rPr lang="en-US" altLang="zh-CN"/>
              <a:t>16</a:t>
            </a:fld>
            <a:endParaRPr lang="en-US" altLang="zh-CN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1141413" y="701675"/>
            <a:ext cx="4578350" cy="3435350"/>
          </a:xfrm>
        </p:spPr>
      </p:sp>
      <p:sp>
        <p:nvSpPr>
          <p:cNvPr id="2048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12813" y="4371975"/>
            <a:ext cx="5032375" cy="4060825"/>
          </a:xfrm>
        </p:spPr>
        <p:txBody>
          <a:bodyPr anchor="t"/>
          <a:lstStyle/>
          <a:p>
            <a:pPr eaLnBrk="1" hangingPunct="1">
              <a:lnSpc>
                <a:spcPct val="80000"/>
              </a:lnSpc>
            </a:pPr>
            <a:endParaRPr lang="en-US" altLang="zh-CN" sz="10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2C1C2EC6-2C1D-4CC3-AFDA-C260213F7C34}" type="slidenum">
              <a:rPr lang="en-US" altLang="zh-CN"/>
              <a:t>17</a:t>
            </a:fld>
            <a:endParaRPr lang="en-US" altLang="zh-CN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1141413" y="701675"/>
            <a:ext cx="4578350" cy="3435350"/>
          </a:xfrm>
        </p:spPr>
      </p:sp>
      <p:sp>
        <p:nvSpPr>
          <p:cNvPr id="2253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12813" y="4371975"/>
            <a:ext cx="5032375" cy="4060825"/>
          </a:xfrm>
        </p:spPr>
        <p:txBody>
          <a:bodyPr anchor="t"/>
          <a:lstStyle/>
          <a:p>
            <a:pPr eaLnBrk="1" hangingPunct="1">
              <a:lnSpc>
                <a:spcPct val="80000"/>
              </a:lnSpc>
            </a:pPr>
            <a:endParaRPr lang="en-US" altLang="zh-CN" sz="10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743B695A-0F93-45E4-931E-AAA5A76C91A2}" type="slidenum">
              <a:rPr lang="en-US" altLang="zh-CN"/>
              <a:t>18</a:t>
            </a:fld>
            <a:endParaRPr lang="en-US" altLang="zh-CN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1141413" y="701675"/>
            <a:ext cx="4578350" cy="3435350"/>
          </a:xfrm>
        </p:spPr>
      </p:sp>
      <p:sp>
        <p:nvSpPr>
          <p:cNvPr id="2458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12813" y="4371975"/>
            <a:ext cx="5032375" cy="4060825"/>
          </a:xfrm>
        </p:spPr>
        <p:txBody>
          <a:bodyPr anchor="t"/>
          <a:lstStyle/>
          <a:p>
            <a:pPr eaLnBrk="1" hangingPunct="1">
              <a:lnSpc>
                <a:spcPct val="80000"/>
              </a:lnSpc>
            </a:pPr>
            <a:endParaRPr lang="en-US" altLang="zh-CN" sz="10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460DF8-369F-49AE-B2FF-63E38A40FDE6}" type="slidenum">
              <a:rPr lang="en-US" altLang="zh-CN" smtClean="0"/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24701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DEA608-14EE-4E12-9277-9682CC815AD3}" type="datetime1">
              <a:rPr lang="zh-CN" altLang="en-US"/>
              <a:t>2026/9/2</a:t>
            </a:fld>
            <a:r>
              <a:rPr lang="en-US" altLang="zh-CN"/>
              <a:t>www.themegallery.com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594ED9-00E2-43ED-B110-BE723024BDE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E8FD5E-BB65-4049-BF29-644B881CA90C}" type="datetime1">
              <a:rPr lang="zh-CN" altLang="en-US"/>
              <a:t>2026/9/2</a:t>
            </a:fld>
            <a:r>
              <a:rPr lang="en-US" altLang="zh-CN"/>
              <a:t>www.themegallery.com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C4C69C-4D88-427B-A199-670E3235E78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DADC2A-328C-42CD-AFF5-8D169F7BDF7B}" type="datetime1">
              <a:rPr lang="zh-CN" altLang="en-US"/>
              <a:t>2026/9/2</a:t>
            </a:fld>
            <a:r>
              <a:rPr lang="en-US" altLang="zh-CN"/>
              <a:t>www.themegallery.com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695544-C463-45D1-8C6A-997BA2891D5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457200" y="1419225"/>
            <a:ext cx="4038600" cy="4879975"/>
          </a:xfr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48200" y="1419225"/>
            <a:ext cx="4038600" cy="4879975"/>
          </a:xfr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37CA1B-A34C-4AAD-95F5-39528EC9E626}" type="datetime1">
              <a:rPr lang="zh-CN" altLang="en-US"/>
              <a:t>2026/9/2</a:t>
            </a:fld>
            <a:r>
              <a:rPr lang="en-US" altLang="zh-CN"/>
              <a:t>www.themegallery.com</a:t>
            </a: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56B2C3-F103-4AC8-8C0D-1B10AC71910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5AE82D-0D5C-4FF3-BC4B-C781CEF0FE98}" type="datetime1">
              <a:rPr lang="zh-CN" altLang="en-US"/>
              <a:t>2026/9/2</a:t>
            </a:fld>
            <a:r>
              <a:rPr lang="en-US" altLang="zh-CN"/>
              <a:t>www.themegallery.com</a:t>
            </a:r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D34149-D817-4F4E-97E4-6F2A916476C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B61E45-3F54-4060-88FB-59734FEA7E3C}" type="datetime1">
              <a:rPr lang="zh-CN" altLang="en-US"/>
              <a:t>2026/9/2</a:t>
            </a:fld>
            <a:r>
              <a:rPr lang="en-US" altLang="zh-CN"/>
              <a:t>www.themegallery.com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2259DE-0AB3-4B76-BF6A-E02B0BCF83A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E988B7-FDEA-44FA-8C97-3AA94B2B9D6E}" type="datetime1">
              <a:rPr lang="zh-CN" altLang="en-US"/>
              <a:t>2026/9/2</a:t>
            </a:fld>
            <a:r>
              <a:rPr lang="en-US" altLang="zh-CN"/>
              <a:t>www.themegallery.com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E7406D-83C6-449F-AC14-405A729F0D8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F5A7BA-3E0C-47D8-99E2-EBC1D0F6BC06}" type="datetime1">
              <a:rPr lang="zh-CN" altLang="en-US"/>
              <a:t>2026/9/2</a:t>
            </a:fld>
            <a:r>
              <a:rPr lang="en-US" altLang="zh-CN"/>
              <a:t>www.themegallery.com</a:t>
            </a: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4C06D9-FA6A-4AD4-A4EB-BCC9FE7C616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551C0B-981F-4071-AC75-2D447E89DAAB}" type="datetime1">
              <a:rPr lang="zh-CN" altLang="en-US"/>
              <a:t>2026/9/2</a:t>
            </a:fld>
            <a:r>
              <a:rPr lang="en-US" altLang="zh-CN"/>
              <a:t>www.themegallery.com</a:t>
            </a: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C32A9B-B711-4D0D-A5A7-BE1C9F126E9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240059-AADC-41F3-9332-F2D1AE6E8541}" type="datetime1">
              <a:rPr lang="zh-CN" altLang="en-US"/>
              <a:t>2026/9/2</a:t>
            </a:fld>
            <a:r>
              <a:rPr lang="en-US" altLang="zh-CN"/>
              <a:t>www.themegallery.com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22EE8C-0AA8-46F2-870D-F8069D7E0A0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731838"/>
            <a:ext cx="2057400" cy="556736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457200" y="731838"/>
            <a:ext cx="6019800" cy="5567362"/>
          </a:xfrm>
        </p:spPr>
        <p:txBody>
          <a:bodyPr vert="eaVert"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496ED7-C95A-4D8E-92A0-5E2A400ACB7A}" type="datetime1">
              <a:rPr lang="zh-CN" altLang="en-US"/>
              <a:t>2026/9/2</a:t>
            </a:fld>
            <a:r>
              <a:rPr lang="en-US" altLang="zh-CN"/>
              <a:t>www.themegallery.com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D1094B-C915-4690-B13A-2D97C46FF73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87E94E-1BCE-4975-9BFC-41EC82DF0C2F}" type="datetime1">
              <a:rPr lang="zh-CN" altLang="en-US"/>
              <a:t>2026/9/2</a:t>
            </a:fld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70F1B1-B688-4070-ADE3-6AFE9B4F48D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C0F6BD-64C3-47A9-B87E-2C0756418E93}" type="datetime1">
              <a:rPr lang="zh-CN" altLang="en-US"/>
              <a:t>2026/9/2</a:t>
            </a:fld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2B5738-DC9B-4380-8907-7D05922BD51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A11C27-5435-4C71-BE37-56952FB19C1A}" type="datetime1">
              <a:rPr lang="zh-CN" altLang="en-US"/>
              <a:t>2026/9/2</a:t>
            </a:fld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CF6537-A435-44BC-A321-D3FFE4A2B2E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457200" y="1419225"/>
            <a:ext cx="4038600" cy="4879975"/>
          </a:xfr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48200" y="1419225"/>
            <a:ext cx="4038600" cy="4879975"/>
          </a:xfr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AEE031-60BF-47DE-92D8-F40BB19D3E80}" type="datetime1">
              <a:rPr lang="zh-CN" altLang="en-US"/>
              <a:t>2026/9/2</a:t>
            </a:fld>
            <a:endParaRPr lang="en-US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33693E-95A9-41BE-BF28-7EB19330624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A4DA77-BC6F-48C5-915B-F1795D3FBC19}" type="datetime1">
              <a:rPr lang="zh-CN" altLang="en-US"/>
              <a:t>2026/9/2</a:t>
            </a:fld>
            <a:endParaRPr lang="en-US" altLang="zh-CN"/>
          </a:p>
        </p:txBody>
      </p:sp>
      <p:sp>
        <p:nvSpPr>
          <p:cNvPr id="8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432707-B768-4909-AC34-82D16D6C7C7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5F3C5E-10D1-4F39-B709-A34B3C093895}" type="datetime1">
              <a:rPr lang="zh-CN" altLang="en-US"/>
              <a:t>2026/9/2</a:t>
            </a:fld>
            <a:endParaRPr lang="en-US" altLang="zh-CN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1015E5-4DDE-4AE6-87FD-9FD569555A1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622366-C28A-4119-AE3F-19EF4F2B7E10}" type="datetime1">
              <a:rPr lang="zh-CN" altLang="en-US"/>
              <a:t>2026/9/2</a:t>
            </a:fld>
            <a:endParaRPr lang="en-US" altLang="zh-CN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E9477E-79D5-4C28-93B3-89EBB5179E1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A5C6D6-E1C4-49F0-B4AD-59116A9AD60B}" type="datetime1">
              <a:rPr lang="zh-CN" altLang="en-US"/>
              <a:t>2026/9/2</a:t>
            </a:fld>
            <a:endParaRPr lang="en-US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98ADDC-D9C7-419F-855D-13DD5BE8D77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BFF234-F90B-478F-8A01-67B7FB074320}" type="datetime1">
              <a:rPr lang="zh-CN" altLang="en-US"/>
              <a:t>2026/9/2</a:t>
            </a:fld>
            <a:endParaRPr lang="en-US" altLang="zh-CN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D6BE01-EF3A-4CFC-9A3B-40191BB8955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C4084D-4E31-4D0A-B87C-A7C8222B93A0}" type="datetime1">
              <a:rPr lang="zh-CN" altLang="en-US"/>
              <a:t>2026/9/2</a:t>
            </a:fld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2D9379-058B-4E08-BB99-14A6224DC29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731838"/>
            <a:ext cx="2057400" cy="556736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457200" y="731838"/>
            <a:ext cx="6019800" cy="5567362"/>
          </a:xfrm>
        </p:spPr>
        <p:txBody>
          <a:bodyPr vert="eaVert"/>
          <a:lstStyle/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92755D-C942-4F45-8D8E-54E3C16DD7B4}" type="datetime1">
              <a:rPr lang="zh-CN" altLang="en-US"/>
              <a:t>2026/9/2</a:t>
            </a:fld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BDD0F4-2FBD-40E1-898B-467CFB68AE9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 descr="a1"/>
          <p:cNvSpPr>
            <a:spLocks noChangeArrowheads="1"/>
          </p:cNvSpPr>
          <p:nvPr/>
        </p:nvSpPr>
        <p:spPr bwMode="auto">
          <a:xfrm>
            <a:off x="592138" y="0"/>
            <a:ext cx="2066925" cy="838200"/>
          </a:xfrm>
          <a:prstGeom prst="rect">
            <a:avLst/>
          </a:prstGeom>
          <a:blipFill dpi="0" rotWithShape="1">
            <a:blip r:embed="rId1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 b="0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2730500" y="0"/>
            <a:ext cx="2138363" cy="838200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 b="0"/>
          </a:p>
        </p:txBody>
      </p:sp>
      <p:sp>
        <p:nvSpPr>
          <p:cNvPr id="1028" name="Rectangle 4" descr="a2"/>
          <p:cNvSpPr>
            <a:spLocks noChangeArrowheads="1"/>
          </p:cNvSpPr>
          <p:nvPr/>
        </p:nvSpPr>
        <p:spPr bwMode="auto">
          <a:xfrm>
            <a:off x="4938713" y="0"/>
            <a:ext cx="2066925" cy="838200"/>
          </a:xfrm>
          <a:prstGeom prst="rect">
            <a:avLst/>
          </a:prstGeom>
          <a:blipFill dpi="0" rotWithShape="1">
            <a:blip r:embed="rId1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 b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7077075" y="0"/>
            <a:ext cx="2066925" cy="838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 b="0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457200" y="6477000"/>
            <a:ext cx="8686800" cy="3810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 b="0"/>
          </a:p>
        </p:txBody>
      </p:sp>
      <p:grpSp>
        <p:nvGrpSpPr>
          <p:cNvPr id="1031" name="Group 7"/>
          <p:cNvGrpSpPr/>
          <p:nvPr/>
        </p:nvGrpSpPr>
        <p:grpSpPr bwMode="auto">
          <a:xfrm>
            <a:off x="0" y="685800"/>
            <a:ext cx="9144000" cy="609600"/>
            <a:chOff x="0" y="0"/>
            <a:chExt cx="5760" cy="384"/>
          </a:xfrm>
        </p:grpSpPr>
        <p:sp>
          <p:nvSpPr>
            <p:cNvPr id="2" name="Rectangle 8"/>
            <p:cNvSpPr>
              <a:spLocks noChangeArrowheads="1"/>
            </p:cNvSpPr>
            <p:nvPr/>
          </p:nvSpPr>
          <p:spPr bwMode="auto">
            <a:xfrm>
              <a:off x="0" y="0"/>
              <a:ext cx="5760" cy="9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 b="0"/>
            </a:p>
          </p:txBody>
        </p:sp>
        <p:sp>
          <p:nvSpPr>
            <p:cNvPr id="1033" name="Rectangle 9"/>
            <p:cNvSpPr>
              <a:spLocks noChangeArrowheads="1"/>
            </p:cNvSpPr>
            <p:nvPr/>
          </p:nvSpPr>
          <p:spPr bwMode="auto">
            <a:xfrm>
              <a:off x="362" y="0"/>
              <a:ext cx="5398" cy="38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 b="0"/>
            </a:p>
          </p:txBody>
        </p:sp>
      </p:grpSp>
      <p:sp>
        <p:nvSpPr>
          <p:cNvPr id="1032" name="Rectangle 10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419225"/>
            <a:ext cx="8229600" cy="487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zh-CN"/>
              <a:t>单击此处编辑母版文本样式</a:t>
            </a:r>
          </a:p>
          <a:p>
            <a:pPr lvl="1"/>
            <a:r>
              <a:rPr lang="zh-CN" altLang="zh-CN"/>
              <a:t>第二级</a:t>
            </a:r>
          </a:p>
          <a:p>
            <a:pPr lvl="2"/>
            <a:r>
              <a:rPr lang="zh-CN" altLang="zh-CN"/>
              <a:t>第三级</a:t>
            </a:r>
          </a:p>
          <a:p>
            <a:pPr lvl="3"/>
            <a:r>
              <a:rPr lang="zh-CN" altLang="zh-CN"/>
              <a:t>第四级</a:t>
            </a:r>
          </a:p>
          <a:p>
            <a:pPr lvl="4"/>
            <a:r>
              <a:rPr lang="zh-CN" altLang="zh-CN"/>
              <a:t>第五级</a:t>
            </a: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61125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 b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fld id="{C44AFC7F-3D4B-484C-B32C-E838DA38A836}" type="datetime1">
              <a:rPr lang="zh-CN" altLang="en-US"/>
              <a:t>2026/9/2</a:t>
            </a:fld>
            <a:r>
              <a:rPr lang="en-US" altLang="zh-CN"/>
              <a:t>2024/9/3www.themegallery.com</a:t>
            </a: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867400" y="6477000"/>
            <a:ext cx="2895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b="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 altLang="zh-CN"/>
              <a:t>公司标志</a:t>
            </a:r>
          </a:p>
        </p:txBody>
      </p:sp>
      <p:sp>
        <p:nvSpPr>
          <p:cNvPr id="103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anose="020B0604020202020204" pitchFamily="34" charset="0"/>
              <a:buNone/>
              <a:defRPr sz="1200" b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defRPr>
            </a:lvl1pPr>
          </a:lstStyle>
          <a:p>
            <a:fld id="{3D3FF606-EE6F-4E1A-ACC3-70DCE7314069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3" name="Rectangle 14"/>
          <p:cNvSpPr>
            <a:spLocks noGrp="1" noChangeArrowheads="1"/>
          </p:cNvSpPr>
          <p:nvPr>
            <p:ph type="title" idx="9"/>
          </p:nvPr>
        </p:nvSpPr>
        <p:spPr bwMode="auto">
          <a:xfrm>
            <a:off x="733425" y="731838"/>
            <a:ext cx="7800975" cy="56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zh-CN"/>
              <a:t>单击此处编辑母版标题样式</a:t>
            </a:r>
          </a:p>
        </p:txBody>
      </p:sp>
      <p:sp>
        <p:nvSpPr>
          <p:cNvPr id="1039" name="Text Box 15"/>
          <p:cNvSpPr txBox="1">
            <a:spLocks noChangeArrowheads="1"/>
          </p:cNvSpPr>
          <p:nvPr/>
        </p:nvSpPr>
        <p:spPr bwMode="auto">
          <a:xfrm>
            <a:off x="7391400" y="76200"/>
            <a:ext cx="17653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2800">
                <a:solidFill>
                  <a:schemeClr val="bg1"/>
                </a:solidFill>
                <a:latin typeface="Arial Black" panose="020B0A04020102020204" pitchFamily="34" charset="0"/>
              </a:rPr>
              <a:t>L o g 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 descr="a1"/>
          <p:cNvSpPr>
            <a:spLocks noChangeArrowheads="1"/>
          </p:cNvSpPr>
          <p:nvPr/>
        </p:nvSpPr>
        <p:spPr bwMode="auto">
          <a:xfrm>
            <a:off x="2286000" y="0"/>
            <a:ext cx="2286000" cy="3124200"/>
          </a:xfrm>
          <a:prstGeom prst="rect">
            <a:avLst/>
          </a:prstGeom>
          <a:blipFill dpi="0" rotWithShape="1">
            <a:blip r:embed="rId1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 b="0"/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0" y="0"/>
            <a:ext cx="2209800" cy="3124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 b="0"/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4648200" y="0"/>
            <a:ext cx="2209800" cy="3124200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 b="0"/>
          </a:p>
        </p:txBody>
      </p:sp>
      <p:sp>
        <p:nvSpPr>
          <p:cNvPr id="2053" name="Rectangle 5" descr="a2"/>
          <p:cNvSpPr>
            <a:spLocks noChangeArrowheads="1"/>
          </p:cNvSpPr>
          <p:nvPr/>
        </p:nvSpPr>
        <p:spPr bwMode="auto">
          <a:xfrm>
            <a:off x="6934200" y="0"/>
            <a:ext cx="2209800" cy="3124200"/>
          </a:xfrm>
          <a:prstGeom prst="rect">
            <a:avLst/>
          </a:prstGeom>
          <a:blipFill dpi="0" rotWithShape="1">
            <a:blip r:embed="rId1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 b="0"/>
          </a:p>
        </p:txBody>
      </p:sp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2286000" y="3124200"/>
            <a:ext cx="6858000" cy="6096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 b="0"/>
          </a:p>
        </p:txBody>
      </p:sp>
      <p:sp>
        <p:nvSpPr>
          <p:cNvPr id="2055" name="Rectangle 7"/>
          <p:cNvSpPr>
            <a:spLocks noChangeArrowheads="1"/>
          </p:cNvSpPr>
          <p:nvPr/>
        </p:nvSpPr>
        <p:spPr bwMode="auto">
          <a:xfrm>
            <a:off x="0" y="3124200"/>
            <a:ext cx="9144000" cy="1524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endParaRPr lang="zh-CN" altLang="en-US" b="0"/>
          </a:p>
        </p:txBody>
      </p:sp>
      <p:sp>
        <p:nvSpPr>
          <p:cNvPr id="2056" name="Text Box 13"/>
          <p:cNvSpPr txBox="1">
            <a:spLocks noChangeArrowheads="1"/>
          </p:cNvSpPr>
          <p:nvPr/>
        </p:nvSpPr>
        <p:spPr bwMode="auto">
          <a:xfrm>
            <a:off x="444500" y="2514600"/>
            <a:ext cx="17653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zh-CN" sz="2800">
                <a:solidFill>
                  <a:schemeClr val="bg1"/>
                </a:solidFill>
                <a:latin typeface="Arial Black" panose="020B0A04020102020204" pitchFamily="34" charset="0"/>
              </a:rPr>
              <a:t>L o g o</a:t>
            </a:r>
          </a:p>
        </p:txBody>
      </p:sp>
      <p:sp>
        <p:nvSpPr>
          <p:cNvPr id="2057" name="Rectangle 10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419225"/>
            <a:ext cx="8229600" cy="487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zh-CN"/>
              <a:t>单击此处编辑母版文本样式</a:t>
            </a:r>
          </a:p>
          <a:p>
            <a:pPr lvl="1"/>
            <a:r>
              <a:rPr lang="zh-CN" altLang="zh-CN"/>
              <a:t>第二级</a:t>
            </a:r>
          </a:p>
          <a:p>
            <a:pPr lvl="2"/>
            <a:r>
              <a:rPr lang="zh-CN" altLang="zh-CN"/>
              <a:t>第三级</a:t>
            </a:r>
          </a:p>
          <a:p>
            <a:pPr lvl="3"/>
            <a:r>
              <a:rPr lang="zh-CN" altLang="zh-CN"/>
              <a:t>第四级</a:t>
            </a:r>
          </a:p>
          <a:p>
            <a:pPr lvl="4"/>
            <a:r>
              <a:rPr lang="zh-CN" altLang="zh-CN"/>
              <a:t>第五级</a:t>
            </a:r>
          </a:p>
        </p:txBody>
      </p:sp>
      <p:sp>
        <p:nvSpPr>
          <p:cNvPr id="2058" name="Rectangle 14"/>
          <p:cNvSpPr>
            <a:spLocks noGrp="1" noChangeArrowheads="1"/>
          </p:cNvSpPr>
          <p:nvPr>
            <p:ph type="title" idx="9"/>
          </p:nvPr>
        </p:nvSpPr>
        <p:spPr bwMode="auto">
          <a:xfrm>
            <a:off x="733425" y="731838"/>
            <a:ext cx="7800975" cy="56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zh-CN"/>
              <a:t>单击此处编辑母版标题样式</a:t>
            </a:r>
          </a:p>
        </p:txBody>
      </p:sp>
      <p:sp>
        <p:nvSpPr>
          <p:cNvPr id="2059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551613"/>
            <a:ext cx="2133600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 b="0"/>
            </a:lvl1pPr>
          </a:lstStyle>
          <a:p>
            <a:pPr>
              <a:defRPr/>
            </a:pPr>
            <a:fld id="{3D30C4EF-958B-4F97-8086-6217CBC88AF8}" type="datetime1">
              <a:rPr lang="zh-CN" altLang="en-US"/>
              <a:t>2026/9/2</a:t>
            </a:fld>
            <a:endParaRPr lang="en-US" altLang="zh-CN"/>
          </a:p>
        </p:txBody>
      </p:sp>
      <p:sp>
        <p:nvSpPr>
          <p:cNvPr id="2060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53200"/>
            <a:ext cx="28956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anose="020B0604020202020204" pitchFamily="34" charset="0"/>
              <a:buNone/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61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553200"/>
            <a:ext cx="21336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b="0"/>
            </a:lvl1pPr>
          </a:lstStyle>
          <a:p>
            <a:fld id="{12BD76F6-1A22-4BDC-A970-DD5CE9D2E3D2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1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2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e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emf"/><Relationship Id="rId4" Type="http://schemas.openxmlformats.org/officeDocument/2006/relationships/oleObject" Target="../embeddings/oleObject5.bin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12"/>
          <p:cNvSpPr txBox="1">
            <a:spLocks noGrp="1" noChangeArrowheads="1"/>
          </p:cNvSpPr>
          <p:nvPr/>
        </p:nvSpPr>
        <p:spPr bwMode="auto">
          <a:xfrm>
            <a:off x="3505200" y="6553118"/>
            <a:ext cx="21336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fld id="{DCA81CFC-5BD9-494B-BBAB-3BAA2C36307B}" type="slidenum">
              <a:rPr lang="en-US" altLang="zh-CN" sz="1200" b="0"/>
              <a:t>1</a:t>
            </a:fld>
            <a:endParaRPr lang="en-US" altLang="zh-CN" sz="1200" b="0" dirty="0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2286000" y="2743200"/>
            <a:ext cx="6705600" cy="990600"/>
          </a:xfrm>
        </p:spPr>
        <p:txBody>
          <a:bodyPr anchor="b"/>
          <a:lstStyle/>
          <a:p>
            <a:pPr algn="ctr" eaLnBrk="1" hangingPunct="1"/>
            <a:r>
              <a:rPr lang="en-US" altLang="zh-CN" sz="3600">
                <a:ea typeface="宋体" panose="02010600030101010101" pitchFamily="2" charset="-122"/>
              </a:rPr>
              <a:t>离散数学</a:t>
            </a:r>
          </a:p>
        </p:txBody>
      </p:sp>
      <p:sp>
        <p:nvSpPr>
          <p:cNvPr id="4101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1295400" y="5715000"/>
            <a:ext cx="6719888" cy="381000"/>
          </a:xfrm>
        </p:spPr>
        <p:txBody>
          <a:bodyPr/>
          <a:lstStyle/>
          <a:p>
            <a:pPr marL="0" indent="0"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b="1">
                <a:latin typeface="Verdana" panose="020B0604030504040204" pitchFamily="34" charset="0"/>
                <a:ea typeface="宋体" panose="02010600030101010101" pitchFamily="2" charset="-122"/>
              </a:rPr>
              <a:t>华南理工大学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12"/>
          <p:cNvSpPr txBox="1">
            <a:spLocks noGrp="1" noChangeArrowheads="1"/>
          </p:cNvSpPr>
          <p:nvPr/>
        </p:nvSpPr>
        <p:spPr bwMode="auto">
          <a:xfrm>
            <a:off x="3505200" y="6553118"/>
            <a:ext cx="21336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fld id="{7F4A51B8-FCDA-4D42-8C44-F838F9E606F7}" type="slidenum">
              <a:rPr lang="en-US" altLang="zh-CN" sz="1200" b="0"/>
              <a:t>2</a:t>
            </a:fld>
            <a:endParaRPr lang="en-US" altLang="zh-CN" sz="1200" b="0"/>
          </a:p>
        </p:txBody>
      </p:sp>
      <p:sp>
        <p:nvSpPr>
          <p:cNvPr id="5124" name="Rectangle 2"/>
          <p:cNvSpPr>
            <a:spLocks noGrp="1" noChangeArrowheads="1"/>
          </p:cNvSpPr>
          <p:nvPr>
            <p:ph type="subTitle" idx="4294967295"/>
          </p:nvPr>
        </p:nvSpPr>
        <p:spPr>
          <a:xfrm>
            <a:off x="4038600" y="6096000"/>
            <a:ext cx="1447800" cy="304800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800" b="1">
                <a:ea typeface="宋体" panose="02010600030101010101" pitchFamily="2" charset="-122"/>
              </a:rPr>
              <a:t>第 1.2 节</a:t>
            </a:r>
          </a:p>
        </p:txBody>
      </p:sp>
      <p:sp>
        <p:nvSpPr>
          <p:cNvPr id="5125" name="Text Box 3"/>
          <p:cNvSpPr txBox="1">
            <a:spLocks noChangeArrowheads="1"/>
          </p:cNvSpPr>
          <p:nvPr/>
        </p:nvSpPr>
        <p:spPr bwMode="auto">
          <a:xfrm>
            <a:off x="2362200" y="3276600"/>
            <a:ext cx="678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chemeClr val="bg1"/>
                </a:solidFill>
                <a:latin typeface="Euclid" pitchFamily="18" charset="0"/>
                <a:ea typeface="Dotum" panose="020B0600000101010101" pitchFamily="34" charset="-127"/>
              </a:rPr>
              <a:t>第 1 章逻辑与证明、集合与函数</a:t>
            </a:r>
          </a:p>
        </p:txBody>
      </p:sp>
      <p:sp>
        <p:nvSpPr>
          <p:cNvPr id="5126" name="WordArt 4"/>
          <p:cNvSpPr>
            <a:spLocks noChangeArrowheads="1" noChangeShapeType="1" noTextEdit="1"/>
          </p:cNvSpPr>
          <p:nvPr/>
        </p:nvSpPr>
        <p:spPr bwMode="auto">
          <a:xfrm>
            <a:off x="838200" y="4495800"/>
            <a:ext cx="7620000" cy="914400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r>
              <a:rPr lang="en-US" altLang="zh-CN" sz="3600" kern="10" dirty="0">
                <a:ln w="19050">
                  <a:solidFill>
                    <a:schemeClr val="bg1"/>
                  </a:solidFill>
                  <a:round/>
                </a:ln>
                <a:gradFill rotWithShape="1">
                  <a:gsLst>
                    <a:gs pos="0">
                      <a:schemeClr val="tx1"/>
                    </a:gs>
                    <a:gs pos="100000">
                      <a:schemeClr val="hlink"/>
                    </a:gs>
                  </a:gsLst>
                  <a:lin ang="0" scaled="1"/>
                </a:gradFill>
                <a:effectLst>
                  <a:outerShdw dist="63500" dir="2212194" algn="ctr" rotWithShape="0">
                    <a:srgbClr val="868686">
                      <a:alpha val="50000"/>
                    </a:srgbClr>
                  </a:outerShdw>
                </a:effectLst>
                <a:cs typeface="Arial" panose="020B0604020202020204" pitchFamily="34" charset="0"/>
              </a:rPr>
              <a:t>命题等价性</a:t>
            </a:r>
            <a:endParaRPr lang="zh-CN" altLang="en-US" sz="3600" kern="10" dirty="0">
              <a:ln w="19050">
                <a:solidFill>
                  <a:schemeClr val="bg1"/>
                </a:solidFill>
                <a:round/>
              </a:ln>
              <a:gradFill rotWithShape="1">
                <a:gsLst>
                  <a:gs pos="0">
                    <a:schemeClr val="tx1"/>
                  </a:gs>
                  <a:gs pos="100000">
                    <a:schemeClr val="hlink"/>
                  </a:gs>
                </a:gsLst>
                <a:lin ang="0" scaled="1"/>
              </a:gradFill>
              <a:effectLst>
                <a:outerShdw dist="63500" dir="2212194" algn="ctr" rotWithShape="0">
                  <a:srgbClr val="868686">
                    <a:alpha val="50000"/>
                  </a:srgbClr>
                </a:outerShdw>
              </a:effectLst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E7289850-CD0A-4216-B9BA-1865BB2B9602}" type="slidenum">
              <a:rPr lang="en-US" altLang="zh-CN" sz="1200" b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3</a:t>
            </a:fld>
            <a:endParaRPr lang="en-US" altLang="zh-CN" sz="1200" b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6147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742A85B1-87A0-4CE3-AC2F-33F964DFD425}" type="slidenum">
              <a:rPr lang="en-US" altLang="zh-CN" sz="1200" b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3</a:t>
            </a:fld>
            <a:endParaRPr lang="en-US" altLang="zh-CN" sz="1200" b="0" dirty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目录</a:t>
            </a:r>
            <a:endParaRPr lang="en-US" altLang="zh-CN">
              <a:solidFill>
                <a:schemeClr val="accent1"/>
              </a:solidFill>
              <a:ea typeface="宋体" panose="02010600030101010101" pitchFamily="2" charset="-122"/>
            </a:endParaRPr>
          </a:p>
        </p:txBody>
      </p:sp>
      <p:sp>
        <p:nvSpPr>
          <p:cNvPr id="6149" name="AutoShap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362200" y="2481263"/>
            <a:ext cx="4343400" cy="457200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accent2"/>
            </a:solidFill>
            <a:round/>
          </a:ln>
          <a:effectLst>
            <a:outerShdw dist="99190" dir="2388334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b="0"/>
          </a:p>
        </p:txBody>
      </p:sp>
      <p:sp>
        <p:nvSpPr>
          <p:cNvPr id="6150" name="AutoShape 5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81200" y="2362200"/>
            <a:ext cx="685800" cy="685800"/>
          </a:xfrm>
          <a:prstGeom prst="diamond">
            <a:avLst/>
          </a:prstGeom>
          <a:solidFill>
            <a:schemeClr val="accent2"/>
          </a:solidFill>
          <a:ln w="25400">
            <a:solidFill>
              <a:schemeClr val="bg1"/>
            </a:solidFill>
            <a:miter lim="800000"/>
          </a:ln>
          <a:effectLst>
            <a:outerShdw dist="63500" dir="2212194" algn="ctr" rotWithShape="0">
              <a:srgbClr val="333333">
                <a:alpha val="50000"/>
              </a:srgb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b="0"/>
          </a:p>
        </p:txBody>
      </p:sp>
      <p:sp>
        <p:nvSpPr>
          <p:cNvPr id="6151" name="Text Box 6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590800" y="2536825"/>
            <a:ext cx="4038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1800" dirty="0"/>
              <a:t>永真式与矛盾式</a:t>
            </a:r>
          </a:p>
        </p:txBody>
      </p:sp>
      <p:sp>
        <p:nvSpPr>
          <p:cNvPr id="6152" name="Text Box 7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135188" y="2460625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6153" name="AutoShape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362200" y="3319463"/>
            <a:ext cx="4343400" cy="457200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accent1"/>
            </a:solidFill>
            <a:round/>
          </a:ln>
          <a:effectLst>
            <a:outerShdw dist="99190" dir="2388334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b="0"/>
          </a:p>
        </p:txBody>
      </p:sp>
      <p:sp>
        <p:nvSpPr>
          <p:cNvPr id="6154" name="AutoShape 9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981200" y="3200400"/>
            <a:ext cx="685800" cy="685800"/>
          </a:xfrm>
          <a:prstGeom prst="diamond">
            <a:avLst/>
          </a:prstGeom>
          <a:solidFill>
            <a:schemeClr val="accent1"/>
          </a:solidFill>
          <a:ln w="25400">
            <a:solidFill>
              <a:schemeClr val="bg1"/>
            </a:solidFill>
            <a:miter lim="800000"/>
          </a:ln>
          <a:effectLst>
            <a:outerShdw dist="63500" dir="2212194" algn="ctr" rotWithShape="0">
              <a:srgbClr val="333333">
                <a:alpha val="50000"/>
              </a:srgb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b="0"/>
          </a:p>
        </p:txBody>
      </p:sp>
      <p:sp>
        <p:nvSpPr>
          <p:cNvPr id="6155" name="Text Box 10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2667000" y="3375025"/>
            <a:ext cx="396240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1800">
                <a:sym typeface="+mn-ea"/>
              </a:rPr>
              <a:t>逻辑等价证明</a:t>
            </a:r>
            <a:endParaRPr lang="en-US" altLang="zh-CN" sz="1800"/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zh-CN" sz="1800" dirty="0"/>
          </a:p>
        </p:txBody>
      </p:sp>
      <p:sp>
        <p:nvSpPr>
          <p:cNvPr id="6156" name="Text Box 11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2135188" y="3298825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6160" name="Text Box 15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2135188" y="4137025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b="0">
                <a:solidFill>
                  <a:schemeClr val="bg1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8B86CA8E-A6C0-4D97-9C64-369273A1FE08}" type="slidenum">
              <a:rPr lang="en-US" altLang="zh-CN" sz="1200" b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4</a:t>
            </a:fld>
            <a:endParaRPr lang="en-US" altLang="zh-CN" sz="1200" b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7171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EB2108F1-B62F-4923-B89E-75366193DD4C}" type="slidenum">
              <a:rPr lang="en-US" altLang="zh-CN" sz="1200" b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4</a:t>
            </a:fld>
            <a:endParaRPr lang="en-US" altLang="zh-CN" sz="1200" b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grpSp>
        <p:nvGrpSpPr>
          <p:cNvPr id="7173" name="Group 3"/>
          <p:cNvGrpSpPr/>
          <p:nvPr/>
        </p:nvGrpSpPr>
        <p:grpSpPr bwMode="auto">
          <a:xfrm>
            <a:off x="1981200" y="2819400"/>
            <a:ext cx="5029200" cy="2438400"/>
            <a:chOff x="0" y="0"/>
            <a:chExt cx="1889" cy="1009"/>
          </a:xfrm>
        </p:grpSpPr>
        <p:grpSp>
          <p:nvGrpSpPr>
            <p:cNvPr id="7175" name="Group 4"/>
            <p:cNvGrpSpPr/>
            <p:nvPr/>
          </p:nvGrpSpPr>
          <p:grpSpPr bwMode="auto">
            <a:xfrm>
              <a:off x="0" y="90"/>
              <a:ext cx="1889" cy="919"/>
              <a:chOff x="0" y="0"/>
              <a:chExt cx="1926" cy="937"/>
            </a:xfrm>
          </p:grpSpPr>
          <p:sp>
            <p:nvSpPr>
              <p:cNvPr id="7180" name="Oval 5"/>
              <p:cNvSpPr>
                <a:spLocks noChangeArrowheads="1"/>
              </p:cNvSpPr>
              <p:nvPr/>
            </p:nvSpPr>
            <p:spPr bwMode="auto">
              <a:xfrm>
                <a:off x="21" y="30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4A4A7C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/>
              </a:p>
            </p:txBody>
          </p:sp>
          <p:sp>
            <p:nvSpPr>
              <p:cNvPr id="7181" name="Oval 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rgbClr val="D2D2FF"/>
                  </a:gs>
                  <a:gs pos="100000">
                    <a:schemeClr val="hlink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/>
              </a:p>
            </p:txBody>
          </p:sp>
        </p:grpSp>
        <p:sp>
          <p:nvSpPr>
            <p:cNvPr id="7176" name="Oval 7"/>
            <p:cNvSpPr>
              <a:spLocks noChangeArrowheads="1"/>
            </p:cNvSpPr>
            <p:nvPr/>
          </p:nvSpPr>
          <p:spPr bwMode="auto">
            <a:xfrm>
              <a:off x="89" y="0"/>
              <a:ext cx="1691" cy="845"/>
            </a:xfrm>
            <a:prstGeom prst="ellipse">
              <a:avLst/>
            </a:prstGeom>
            <a:gradFill rotWithShape="1">
              <a:gsLst>
                <a:gs pos="0">
                  <a:srgbClr val="37556B"/>
                </a:gs>
                <a:gs pos="100000">
                  <a:schemeClr val="accent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/>
            </a:p>
          </p:txBody>
        </p:sp>
        <p:sp>
          <p:nvSpPr>
            <p:cNvPr id="7177" name="Oval 8"/>
            <p:cNvSpPr>
              <a:spLocks noChangeArrowheads="1"/>
            </p:cNvSpPr>
            <p:nvPr/>
          </p:nvSpPr>
          <p:spPr bwMode="auto">
            <a:xfrm>
              <a:off x="111" y="5"/>
              <a:ext cx="1650" cy="8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alpha val="0"/>
                  </a:schemeClr>
                </a:gs>
                <a:gs pos="100000">
                  <a:srgbClr val="D0E6F7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/>
            </a:p>
          </p:txBody>
        </p:sp>
        <p:sp>
          <p:nvSpPr>
            <p:cNvPr id="7178" name="Oval 9"/>
            <p:cNvSpPr>
              <a:spLocks noChangeArrowheads="1"/>
            </p:cNvSpPr>
            <p:nvPr/>
          </p:nvSpPr>
          <p:spPr bwMode="auto">
            <a:xfrm>
              <a:off x="128" y="13"/>
              <a:ext cx="1570" cy="770"/>
            </a:xfrm>
            <a:prstGeom prst="ellipse">
              <a:avLst/>
            </a:prstGeom>
            <a:gradFill rotWithShape="1">
              <a:gsLst>
                <a:gs pos="0">
                  <a:srgbClr val="5E91B7"/>
                </a:gs>
                <a:gs pos="100000">
                  <a:schemeClr val="accent1">
                    <a:alpha val="48000"/>
                  </a:scheme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/>
            </a:p>
          </p:txBody>
        </p:sp>
        <p:sp>
          <p:nvSpPr>
            <p:cNvPr id="7179" name="Oval 10"/>
            <p:cNvSpPr>
              <a:spLocks noChangeArrowheads="1"/>
            </p:cNvSpPr>
            <p:nvPr/>
          </p:nvSpPr>
          <p:spPr bwMode="auto">
            <a:xfrm>
              <a:off x="211" y="30"/>
              <a:ext cx="1382" cy="62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chemeClr val="accent1">
                    <a:alpha val="37999"/>
                  </a:scheme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/>
            </a:p>
          </p:txBody>
        </p:sp>
      </p:grpSp>
      <p:sp>
        <p:nvSpPr>
          <p:cNvPr id="7174" name="Rectangle 11"/>
          <p:cNvSpPr>
            <a:spLocks noGrp="1" noChangeArrowheads="1"/>
          </p:cNvSpPr>
          <p:nvPr>
            <p:ph type="body" idx="4294967295"/>
          </p:nvPr>
        </p:nvSpPr>
        <p:spPr>
          <a:xfrm>
            <a:off x="2362200" y="3505200"/>
            <a:ext cx="4572000" cy="685800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zh-CN" altLang="en-US" sz="2800" dirty="0">
                <a:sym typeface="+mn-ea"/>
              </a:rPr>
              <a:t>永真式与矛盾式</a:t>
            </a:r>
            <a:endParaRPr lang="en-US" altLang="zh-CN" sz="2800" b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481A269A-F8FF-4E1E-B446-7F4186586458}" type="slidenum">
              <a:rPr lang="en-US" altLang="zh-CN" sz="1200" b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5</a:t>
            </a:fld>
            <a:endParaRPr lang="en-US" altLang="zh-CN" sz="1200" b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8195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CCB9E9FF-0F18-4B3D-9078-220073091211}" type="slidenum">
              <a:rPr lang="en-US" altLang="zh-CN" sz="1200" b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5</a:t>
            </a:fld>
            <a:endParaRPr lang="en-US" altLang="zh-CN" sz="1200" b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同义反复</a:t>
            </a:r>
          </a:p>
        </p:txBody>
      </p:sp>
      <p:sp>
        <p:nvSpPr>
          <p:cNvPr id="819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419225"/>
            <a:ext cx="8229600" cy="467677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i="1">
                <a:ea typeface="宋体" panose="02010600030101010101" pitchFamily="2" charset="-122"/>
              </a:rPr>
              <a:t>永真式</a:t>
            </a:r>
            <a:r>
              <a:rPr lang="en-US" altLang="zh-CN">
                <a:ea typeface="宋体" panose="02010600030101010101" pitchFamily="2" charset="-122"/>
              </a:rPr>
              <a:t>是一个复合命题，</a:t>
            </a:r>
            <a:r>
              <a:rPr lang="en-US" altLang="zh-CN" i="1">
                <a:ea typeface="宋体" panose="02010600030101010101" pitchFamily="2" charset="-122"/>
              </a:rPr>
              <a:t>无论</a:t>
            </a:r>
            <a:r>
              <a:rPr lang="en-US" altLang="zh-CN">
                <a:ea typeface="宋体" panose="02010600030101010101" pitchFamily="2" charset="-122"/>
              </a:rPr>
              <a:t>其原子命题的真值</a:t>
            </a:r>
            <a:r>
              <a:rPr lang="en-US" altLang="zh-CN" i="1">
                <a:ea typeface="宋体" panose="02010600030101010101" pitchFamily="2" charset="-122"/>
              </a:rPr>
              <a:t>如何，</a:t>
            </a:r>
            <a:r>
              <a:rPr lang="en-US" altLang="zh-CN">
                <a:ea typeface="宋体" panose="02010600030101010101" pitchFamily="2" charset="-122"/>
              </a:rPr>
              <a:t>它都是</a:t>
            </a:r>
            <a:r>
              <a:rPr lang="en-US" altLang="zh-CN" b="1">
                <a:ea typeface="宋体" panose="02010600030101010101" pitchFamily="2" charset="-122"/>
              </a:rPr>
              <a:t>真的</a:t>
            </a:r>
            <a:r>
              <a:rPr lang="en-US" altLang="zh-CN">
                <a:ea typeface="宋体" panose="02010600030101010101" pitchFamily="2" charset="-122"/>
              </a:rPr>
              <a:t>！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</a:rPr>
              <a:t>Ex. p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p 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[它的真值表是什么？]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65CFA638-ACDA-4038-8605-99CF6C4671F5}" type="slidenum">
              <a:rPr lang="en-US" altLang="zh-CN" sz="1200" b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6</a:t>
            </a:fld>
            <a:endParaRPr lang="en-US" altLang="zh-CN" sz="1200" b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9219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7BF799BB-C949-4FD0-AB46-632A64528E5C}" type="slidenum">
              <a:rPr lang="en-US" altLang="zh-CN" sz="1200" b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6</a:t>
            </a:fld>
            <a:endParaRPr lang="en-US" altLang="zh-CN" sz="1200" b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永真式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21" name="Rectangle 3"/>
              <p:cNvSpPr>
                <a:spLocks noGrp="1" noChangeArrowheads="1"/>
              </p:cNvSpPr>
              <p:nvPr>
                <p:ph type="body" idx="4294967295"/>
              </p:nvPr>
            </p:nvSpPr>
            <p:spPr/>
            <p:txBody>
              <a:bodyPr/>
              <a:lstStyle/>
              <a:p>
                <a:pPr eaLnBrk="1" hangingPunct="1"/>
                <a:r>
                  <a:rPr lang="en-GB" altLang="en-US" dirty="0">
                    <a:ea typeface="宋体" panose="02010600030101010101" pitchFamily="2" charset="-122"/>
                  </a:rPr>
                  <a:t>当真值表的每一行都给出 T.</a:t>
                </a:r>
              </a:p>
              <a:p>
                <a:pPr eaLnBrk="1" hangingPunct="1"/>
                <a:endParaRPr lang="en-GB" altLang="en-US" dirty="0">
                  <a:ea typeface="宋体" panose="02010600030101010101" pitchFamily="2" charset="-122"/>
                </a:endParaRPr>
              </a:p>
              <a:p>
                <a:pPr eaLnBrk="1" hangingPunct="1"/>
                <a:r>
                  <a:rPr lang="en-GB" altLang="en-US" dirty="0" err="1">
                    <a:ea typeface="宋体" panose="02010600030101010101" pitchFamily="2" charset="-122"/>
                  </a:rPr>
                  <a:t>示例</a:t>
                </a:r>
                <a:r>
                  <a:rPr lang="en-GB" altLang="en-US" dirty="0">
                    <a:ea typeface="宋体" panose="02010600030101010101" pitchFamily="2" charset="-122"/>
                  </a:rPr>
                  <a:t>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dirty="0">
                        <a:latin typeface="Cambria Math" panose="02040503050406030204"/>
                        <a:ea typeface="宋体" panose="02010600030101010101" pitchFamily="2" charset="-122"/>
                      </a:rPr>
                      <m:t>p</m:t>
                    </m:r>
                    <m:r>
                      <a:rPr lang="en-US" altLang="zh-CN" i="1" dirty="0" smtClean="0">
                        <a:latin typeface="Cambria Math" panose="02040503050406030204"/>
                        <a:ea typeface="Cambria Math" panose="02040503050406030204"/>
                      </a:rPr>
                      <m:t>∨¬</m:t>
                    </m:r>
                    <m:r>
                      <a:rPr lang="en-US" altLang="zh-CN" b="0" i="1" dirty="0" smtClean="0">
                        <a:latin typeface="Cambria Math" panose="02040503050406030204"/>
                        <a:ea typeface="Cambria Math" panose="02040503050406030204"/>
                      </a:rPr>
                      <m:t>𝑝</m:t>
                    </m:r>
                  </m:oMath>
                </a14:m>
                <a:br>
                  <a:rPr lang="en-US" altLang="zh-CN" dirty="0">
                    <a:ea typeface="宋体" panose="02010600030101010101" pitchFamily="2" charset="-122"/>
                    <a:sym typeface="Symbol" panose="05050102010706020507" pitchFamily="18" charset="2"/>
                  </a:rPr>
                </a:br>
                <a:r>
                  <a:rPr lang="en-US" altLang="zh-CN" dirty="0">
                    <a:ea typeface="宋体" panose="02010600030101010101" pitchFamily="2" charset="-122"/>
                    <a:sym typeface="Symbol" panose="05050102010706020507" pitchFamily="18" charset="2"/>
                  </a:rPr>
                  <a:t>           T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/>
                        <a:ea typeface="Cambria Math" panose="02040503050406030204"/>
                      </a:rPr>
                      <m:t>∨ </m:t>
                    </m:r>
                  </m:oMath>
                </a14:m>
                <a:r>
                  <a:rPr lang="en-US" altLang="zh-CN" dirty="0">
                    <a:ea typeface="宋体" panose="02010600030101010101" pitchFamily="2" charset="-122"/>
                    <a:sym typeface="Symbol" panose="05050102010706020507" pitchFamily="18" charset="2"/>
                  </a:rPr>
                  <a:t>T =T</a:t>
                </a:r>
                <a:br>
                  <a:rPr lang="en-US" altLang="zh-CN" dirty="0">
                    <a:ea typeface="宋体" panose="02010600030101010101" pitchFamily="2" charset="-122"/>
                    <a:sym typeface="Symbol" panose="05050102010706020507" pitchFamily="18" charset="2"/>
                  </a:rPr>
                </a:br>
                <a:r>
                  <a:rPr lang="en-US" altLang="zh-CN" dirty="0">
                    <a:ea typeface="宋体" panose="02010600030101010101" pitchFamily="2" charset="-122"/>
                    <a:sym typeface="Symbol" panose="05050102010706020507" pitchFamily="18" charset="2"/>
                  </a:rPr>
                  <a:t>           F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/>
                        <a:ea typeface="Cambria Math" panose="02040503050406030204"/>
                      </a:rPr>
                      <m:t>∨ </m:t>
                    </m:r>
                  </m:oMath>
                </a14:m>
                <a:r>
                  <a:rPr lang="en-US" altLang="zh-CN" dirty="0">
                    <a:ea typeface="宋体" panose="02010600030101010101" pitchFamily="2" charset="-122"/>
                    <a:sym typeface="Symbol" panose="05050102010706020507" pitchFamily="18" charset="2"/>
                  </a:rPr>
                  <a:t> F=T   </a:t>
                </a:r>
              </a:p>
              <a:p>
                <a:pPr eaLnBrk="1" hangingPunct="1"/>
                <a:r>
                  <a:rPr lang="en-US" altLang="zh-CN" dirty="0">
                    <a:ea typeface="宋体" panose="02010600030101010101" pitchFamily="2" charset="-122"/>
                    <a:sym typeface="Symbol" panose="05050102010706020507" pitchFamily="18" charset="2"/>
                  </a:rPr>
                  <a:t>                T </a:t>
                </a:r>
              </a:p>
              <a:p>
                <a:pPr eaLnBrk="1" hangingPunct="1">
                  <a:buFont typeface="Wingdings" panose="05000000000000000000" pitchFamily="2" charset="2"/>
                  <a:buNone/>
                </a:pPr>
                <a:endParaRPr lang="en-US" altLang="zh-CN" dirty="0">
                  <a:ea typeface="宋体" panose="02010600030101010101" pitchFamily="2" charset="-122"/>
                  <a:sym typeface="Symbol" panose="05050102010706020507" pitchFamily="18" charset="2"/>
                </a:endParaRPr>
              </a:p>
              <a:p>
                <a:pPr eaLnBrk="1" hangingPunct="1"/>
                <a:endParaRPr lang="en-GB" altLang="en-US" dirty="0"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9221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2E8F1F13-625C-4EBB-B9C1-01917A3B6FB6}" type="slidenum">
              <a:rPr lang="en-US" altLang="zh-CN" sz="1200" b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7</a:t>
            </a:fld>
            <a:endParaRPr lang="en-US" altLang="zh-CN" sz="1200" b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0243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8ED7B5C0-B9E9-47E9-B620-EFEAA77B0E86}" type="slidenum">
              <a:rPr lang="en-US" altLang="zh-CN" sz="1200" b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7</a:t>
            </a:fld>
            <a:endParaRPr lang="en-US" altLang="zh-CN" sz="1200" b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024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ea typeface="宋体" panose="02010600030101010101" pitchFamily="2" charset="-122"/>
              </a:rPr>
              <a:t>矛盾式</a:t>
            </a:r>
          </a:p>
        </p:txBody>
      </p:sp>
      <p:sp>
        <p:nvSpPr>
          <p:cNvPr id="1024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矛盾</a:t>
            </a:r>
            <a:r>
              <a:rPr lang="zh-CN" altLang="en-US" i="1">
                <a:ea typeface="宋体" panose="02010600030101010101" pitchFamily="2" charset="-122"/>
                <a:sym typeface="Symbol" panose="05050102010706020507" pitchFamily="18" charset="2"/>
              </a:rPr>
              <a:t>式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是一个无论如何都是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假的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复合命题！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Ex. p.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p 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[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真值表？］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BD8C6192-676B-46A2-AC00-B9C13AFFE5C7}" type="slidenum">
              <a:rPr lang="en-US" altLang="zh-CN" sz="1200" b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8</a:t>
            </a:fld>
            <a:endParaRPr lang="en-US" altLang="zh-CN" sz="1200" b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1267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EF006DCA-3E04-4A4A-AB58-E92096EC6C70}" type="slidenum">
              <a:rPr lang="en-US" altLang="zh-CN" sz="1200" b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8</a:t>
            </a:fld>
            <a:endParaRPr lang="en-US" altLang="zh-CN" sz="1200" b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GB" altLang="en-US">
                <a:ea typeface="宋体" panose="02010600030101010101" pitchFamily="2" charset="-122"/>
              </a:rPr>
              <a:t>矛盾</a:t>
            </a:r>
            <a:endParaRPr lang="en-US" altLang="zh-CN"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69" name="Rectangle 3"/>
              <p:cNvSpPr>
                <a:spLocks noGrp="1" noChangeArrowheads="1"/>
              </p:cNvSpPr>
              <p:nvPr>
                <p:ph type="body" idx="4294967295"/>
              </p:nvPr>
            </p:nvSpPr>
            <p:spPr/>
            <p:txBody>
              <a:bodyPr/>
              <a:lstStyle/>
              <a:p>
                <a:pPr eaLnBrk="1" hangingPunct="1"/>
                <a:r>
                  <a:rPr lang="en-GB" altLang="en-US" dirty="0" err="1">
                    <a:ea typeface="宋体" panose="02010600030101010101" pitchFamily="2" charset="-122"/>
                  </a:rPr>
                  <a:t>当真值表的每一行给出</a:t>
                </a:r>
                <a:r>
                  <a:rPr lang="en-GB" altLang="en-US" dirty="0">
                    <a:ea typeface="宋体" panose="02010600030101010101" pitchFamily="2" charset="-122"/>
                  </a:rPr>
                  <a:t> F</a:t>
                </a:r>
                <a:br>
                  <a:rPr lang="en-GB" altLang="en-US" dirty="0">
                    <a:ea typeface="宋体" panose="02010600030101010101" pitchFamily="2" charset="-122"/>
                  </a:rPr>
                </a:br>
                <a:endParaRPr lang="en-GB" altLang="en-US" dirty="0">
                  <a:ea typeface="宋体" panose="02010600030101010101" pitchFamily="2" charset="-122"/>
                </a:endParaRPr>
              </a:p>
              <a:p>
                <a:pPr eaLnBrk="1" hangingPunct="1"/>
                <a:r>
                  <a:rPr lang="en-GB" altLang="en-US" dirty="0">
                    <a:ea typeface="宋体" panose="02010600030101010101" pitchFamily="2" charset="-122"/>
                  </a:rPr>
                  <a:t>示例：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dirty="0">
                        <a:latin typeface="Cambria Math" panose="02040503050406030204"/>
                        <a:ea typeface="宋体" panose="02010600030101010101" pitchFamily="2" charset="-122"/>
                      </a:rPr>
                      <m:t>p</m:t>
                    </m:r>
                    <m:r>
                      <a:rPr lang="en-US" altLang="zh-CN" i="1" dirty="0" smtClean="0">
                        <a:latin typeface="Cambria Math" panose="02040503050406030204"/>
                        <a:ea typeface="Cambria Math" panose="02040503050406030204"/>
                      </a:rPr>
                      <m:t>⋀</m:t>
                    </m:r>
                    <m:r>
                      <a:rPr lang="en-US" altLang="zh-CN" i="1" dirty="0">
                        <a:latin typeface="Cambria Math" panose="02040503050406030204"/>
                        <a:ea typeface="Cambria Math" panose="02040503050406030204"/>
                      </a:rPr>
                      <m:t>¬</m:t>
                    </m:r>
                    <m:r>
                      <a:rPr lang="en-US" altLang="zh-CN" i="1" dirty="0">
                        <a:latin typeface="Cambria Math" panose="02040503050406030204"/>
                        <a:ea typeface="Cambria Math" panose="02040503050406030204"/>
                      </a:rPr>
                      <m:t>𝑝</m:t>
                    </m:r>
                  </m:oMath>
                </a14:m>
                <a:br>
                  <a:rPr lang="en-US" altLang="zh-CN" dirty="0">
                    <a:ea typeface="宋体" panose="02010600030101010101" pitchFamily="2" charset="-122"/>
                    <a:sym typeface="Symbol" panose="05050102010706020507" pitchFamily="18" charset="2"/>
                  </a:rPr>
                </a:br>
                <a:r>
                  <a:rPr lang="en-US" altLang="zh-CN" dirty="0">
                    <a:ea typeface="宋体" panose="02010600030101010101" pitchFamily="2" charset="-122"/>
                    <a:sym typeface="Symbol" panose="05050102010706020507" pitchFamily="18" charset="2"/>
                  </a:rPr>
                  <a:t>           T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/>
                        <a:ea typeface="Cambria Math" panose="02040503050406030204"/>
                      </a:rPr>
                      <m:t>⋀</m:t>
                    </m:r>
                  </m:oMath>
                </a14:m>
                <a:r>
                  <a:rPr lang="en-US" altLang="zh-CN" dirty="0">
                    <a:ea typeface="宋体" panose="02010600030101010101" pitchFamily="2" charset="-122"/>
                    <a:sym typeface="Symbol" panose="05050102010706020507" pitchFamily="18" charset="2"/>
                  </a:rPr>
                  <a:t>T =F</a:t>
                </a:r>
                <a:br>
                  <a:rPr lang="en-US" altLang="zh-CN" dirty="0">
                    <a:ea typeface="宋体" panose="02010600030101010101" pitchFamily="2" charset="-122"/>
                    <a:sym typeface="Symbol" panose="05050102010706020507" pitchFamily="18" charset="2"/>
                  </a:rPr>
                </a:br>
                <a:r>
                  <a:rPr lang="en-US" altLang="zh-CN" dirty="0">
                    <a:ea typeface="宋体" panose="02010600030101010101" pitchFamily="2" charset="-122"/>
                    <a:sym typeface="Symbol" panose="05050102010706020507" pitchFamily="18" charset="2"/>
                  </a:rPr>
                  <a:t>           F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/>
                        <a:ea typeface="Cambria Math" panose="02040503050406030204"/>
                      </a:rPr>
                      <m:t>⋀</m:t>
                    </m:r>
                  </m:oMath>
                </a14:m>
                <a:r>
                  <a:rPr lang="en-US" altLang="zh-CN" dirty="0">
                    <a:ea typeface="宋体" panose="02010600030101010101" pitchFamily="2" charset="-122"/>
                    <a:sym typeface="Symbol" panose="05050102010706020507" pitchFamily="18" charset="2"/>
                  </a:rPr>
                  <a:t> F=F   </a:t>
                </a:r>
              </a:p>
              <a:p>
                <a:pPr eaLnBrk="1" hangingPunct="1"/>
                <a:r>
                  <a:rPr lang="en-US" altLang="zh-CN" b="1" dirty="0">
                    <a:solidFill>
                      <a:srgbClr val="000000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                F</a:t>
                </a:r>
                <a:endParaRPr lang="en-US" altLang="zh-CN" dirty="0">
                  <a:ea typeface="宋体" panose="02010600030101010101" pitchFamily="2" charset="-122"/>
                  <a:sym typeface="Symbol" panose="05050102010706020507" pitchFamily="18" charset="2"/>
                </a:endParaRPr>
              </a:p>
              <a:p>
                <a:pPr eaLnBrk="1" hangingPunct="1">
                  <a:buFont typeface="Wingdings" panose="05000000000000000000" pitchFamily="2" charset="2"/>
                  <a:buNone/>
                </a:pPr>
                <a:endParaRPr lang="en-US" altLang="zh-CN" dirty="0"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11269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0E13356B-024F-419B-8D01-B5E8F3CB717E}" type="slidenum">
              <a:rPr lang="en-US" altLang="zh-CN" sz="1200" b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9</a:t>
            </a:fld>
            <a:endParaRPr lang="en-US" altLang="zh-CN" sz="1200" b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3315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77A89C7D-08BF-416C-A4E4-B8E74D96A312}" type="slidenum">
              <a:rPr lang="en-US" altLang="zh-CN" sz="1200" b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9</a:t>
            </a:fld>
            <a:endParaRPr lang="en-US" altLang="zh-CN" sz="1200" b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grpSp>
        <p:nvGrpSpPr>
          <p:cNvPr id="13317" name="Group 3"/>
          <p:cNvGrpSpPr/>
          <p:nvPr/>
        </p:nvGrpSpPr>
        <p:grpSpPr bwMode="auto">
          <a:xfrm>
            <a:off x="1981200" y="2819400"/>
            <a:ext cx="5029200" cy="2438400"/>
            <a:chOff x="0" y="0"/>
            <a:chExt cx="1889" cy="1009"/>
          </a:xfrm>
        </p:grpSpPr>
        <p:grpSp>
          <p:nvGrpSpPr>
            <p:cNvPr id="13319" name="Group 4"/>
            <p:cNvGrpSpPr/>
            <p:nvPr/>
          </p:nvGrpSpPr>
          <p:grpSpPr bwMode="auto">
            <a:xfrm>
              <a:off x="0" y="90"/>
              <a:ext cx="1889" cy="919"/>
              <a:chOff x="0" y="0"/>
              <a:chExt cx="1926" cy="937"/>
            </a:xfrm>
          </p:grpSpPr>
          <p:sp>
            <p:nvSpPr>
              <p:cNvPr id="13324" name="Oval 5"/>
              <p:cNvSpPr>
                <a:spLocks noChangeArrowheads="1"/>
              </p:cNvSpPr>
              <p:nvPr/>
            </p:nvSpPr>
            <p:spPr bwMode="auto">
              <a:xfrm>
                <a:off x="21" y="30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4A4A7C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/>
              </a:p>
            </p:txBody>
          </p:sp>
          <p:sp>
            <p:nvSpPr>
              <p:cNvPr id="13325" name="Oval 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rgbClr val="D2D2FF"/>
                  </a:gs>
                  <a:gs pos="100000">
                    <a:schemeClr val="hlink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 b="0"/>
              </a:p>
            </p:txBody>
          </p:sp>
        </p:grpSp>
        <p:sp>
          <p:nvSpPr>
            <p:cNvPr id="13320" name="Oval 7"/>
            <p:cNvSpPr>
              <a:spLocks noChangeArrowheads="1"/>
            </p:cNvSpPr>
            <p:nvPr/>
          </p:nvSpPr>
          <p:spPr bwMode="auto">
            <a:xfrm>
              <a:off x="89" y="0"/>
              <a:ext cx="1691" cy="845"/>
            </a:xfrm>
            <a:prstGeom prst="ellipse">
              <a:avLst/>
            </a:prstGeom>
            <a:gradFill rotWithShape="1">
              <a:gsLst>
                <a:gs pos="0">
                  <a:srgbClr val="37556B"/>
                </a:gs>
                <a:gs pos="100000">
                  <a:schemeClr val="accent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/>
            </a:p>
          </p:txBody>
        </p:sp>
        <p:sp>
          <p:nvSpPr>
            <p:cNvPr id="13321" name="Oval 8"/>
            <p:cNvSpPr>
              <a:spLocks noChangeArrowheads="1"/>
            </p:cNvSpPr>
            <p:nvPr/>
          </p:nvSpPr>
          <p:spPr bwMode="auto">
            <a:xfrm>
              <a:off x="111" y="5"/>
              <a:ext cx="1650" cy="8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alpha val="0"/>
                  </a:schemeClr>
                </a:gs>
                <a:gs pos="100000">
                  <a:srgbClr val="D0E6F7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/>
            </a:p>
          </p:txBody>
        </p:sp>
        <p:sp>
          <p:nvSpPr>
            <p:cNvPr id="13322" name="Oval 9"/>
            <p:cNvSpPr>
              <a:spLocks noChangeArrowheads="1"/>
            </p:cNvSpPr>
            <p:nvPr/>
          </p:nvSpPr>
          <p:spPr bwMode="auto">
            <a:xfrm>
              <a:off x="128" y="13"/>
              <a:ext cx="1570" cy="770"/>
            </a:xfrm>
            <a:prstGeom prst="ellipse">
              <a:avLst/>
            </a:prstGeom>
            <a:gradFill rotWithShape="1">
              <a:gsLst>
                <a:gs pos="0">
                  <a:srgbClr val="5E91B7"/>
                </a:gs>
                <a:gs pos="100000">
                  <a:schemeClr val="accent1">
                    <a:alpha val="48000"/>
                  </a:scheme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/>
            </a:p>
          </p:txBody>
        </p:sp>
        <p:sp>
          <p:nvSpPr>
            <p:cNvPr id="13323" name="Oval 10"/>
            <p:cNvSpPr>
              <a:spLocks noChangeArrowheads="1"/>
            </p:cNvSpPr>
            <p:nvPr/>
          </p:nvSpPr>
          <p:spPr bwMode="auto">
            <a:xfrm>
              <a:off x="211" y="30"/>
              <a:ext cx="1382" cy="62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chemeClr val="accent1">
                    <a:alpha val="37999"/>
                  </a:scheme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/>
            </a:p>
          </p:txBody>
        </p:sp>
      </p:grpSp>
      <p:sp>
        <p:nvSpPr>
          <p:cNvPr id="13318" name="Rectangle 11"/>
          <p:cNvSpPr>
            <a:spLocks noGrp="1" noChangeArrowheads="1"/>
          </p:cNvSpPr>
          <p:nvPr>
            <p:ph type="body" idx="4294967295"/>
          </p:nvPr>
        </p:nvSpPr>
        <p:spPr>
          <a:xfrm>
            <a:off x="2514600" y="3429000"/>
            <a:ext cx="3962400" cy="685800"/>
          </a:xfrm>
        </p:spPr>
        <p:txBody>
          <a:bodyPr/>
          <a:lstStyle/>
          <a:p>
            <a:pPr algn="ctr">
              <a:lnSpc>
                <a:spcPct val="80000"/>
              </a:lnSpc>
              <a:spcBef>
                <a:spcPct val="0"/>
              </a:spcBef>
              <a:buClrTx/>
              <a:buNone/>
            </a:pPr>
            <a:r>
              <a:rPr lang="zh-CN" altLang="en-US" sz="2400" b="1" dirty="0">
                <a:ea typeface="宋体" panose="02010600030101010101" pitchFamily="2" charset="-122"/>
              </a:rPr>
              <a:t>逻辑等价证明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BFC02733-C740-46FD-A179-931AF1E7C3D0}" type="slidenum">
              <a:rPr lang="en-US" altLang="zh-CN" sz="1200" b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10</a:t>
            </a:fld>
            <a:endParaRPr lang="en-US" altLang="zh-CN" sz="1200" b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4339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D0172138-4936-4171-B23D-A546941B6342}" type="slidenum">
              <a:rPr lang="en-US" altLang="zh-CN" sz="1200" b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10</a:t>
            </a:fld>
            <a:endParaRPr lang="en-US" altLang="zh-CN" sz="1200" b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命题等价性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41" name="Rectangle 3"/>
              <p:cNvSpPr>
                <a:spLocks noGrp="1" noChangeArrowheads="1"/>
              </p:cNvSpPr>
              <p:nvPr>
                <p:ph type="body" idx="4294967295"/>
              </p:nvPr>
            </p:nvSpPr>
            <p:spPr/>
            <p:txBody>
              <a:bodyPr/>
              <a:lstStyle/>
              <a:p>
                <a:pPr eaLnBrk="1" hangingPunct="1">
                  <a:buFont typeface="Wingdings" panose="05000000000000000000" pitchFamily="2" charset="2"/>
                  <a:buNone/>
                </a:pPr>
                <a:r>
                  <a:rPr lang="en-US" altLang="zh-CN" dirty="0" err="1">
                    <a:ea typeface="宋体" panose="02010600030101010101" pitchFamily="2" charset="-122"/>
                  </a:rPr>
                  <a:t>两个</a:t>
                </a:r>
                <a:r>
                  <a:rPr lang="zh-CN" altLang="en-US" dirty="0">
                    <a:ea typeface="宋体" panose="02010600030101010101" pitchFamily="2" charset="-122"/>
                  </a:rPr>
                  <a:t>在</a:t>
                </a:r>
                <a:r>
                  <a:rPr lang="zh-CN" altLang="en-US" i="1" dirty="0">
                    <a:ea typeface="宋体" panose="02010600030101010101" pitchFamily="2" charset="-122"/>
                  </a:rPr>
                  <a:t>语</a:t>
                </a:r>
                <a:r>
                  <a:rPr lang="en-US" altLang="zh-CN" i="1" dirty="0" err="1">
                    <a:ea typeface="宋体" panose="02010600030101010101" pitchFamily="2" charset="-122"/>
                  </a:rPr>
                  <a:t>法上</a:t>
                </a:r>
                <a:r>
                  <a:rPr lang="en-US" altLang="zh-CN" dirty="0" err="1">
                    <a:ea typeface="宋体" panose="02010600030101010101" pitchFamily="2" charset="-122"/>
                  </a:rPr>
                  <a:t>（</a:t>
                </a:r>
                <a:r>
                  <a:rPr lang="en-US" altLang="zh-CN" i="1" dirty="0" err="1">
                    <a:ea typeface="宋体" panose="02010600030101010101" pitchFamily="2" charset="-122"/>
                  </a:rPr>
                  <a:t>即</a:t>
                </a:r>
                <a:r>
                  <a:rPr lang="en-US" altLang="zh-CN" dirty="0" err="1">
                    <a:ea typeface="宋体" panose="02010600030101010101" pitchFamily="2" charset="-122"/>
                  </a:rPr>
                  <a:t>文本上）不同的复合命题</a:t>
                </a:r>
                <a:r>
                  <a:rPr lang="en-US" altLang="zh-CN" i="1" dirty="0" err="1">
                    <a:ea typeface="宋体" panose="02010600030101010101" pitchFamily="2" charset="-122"/>
                  </a:rPr>
                  <a:t>在语义上</a:t>
                </a:r>
                <a:r>
                  <a:rPr lang="en-US" altLang="zh-CN" dirty="0" err="1">
                    <a:ea typeface="宋体" panose="02010600030101010101" pitchFamily="2" charset="-122"/>
                  </a:rPr>
                  <a:t>可能是相同的（</a:t>
                </a:r>
                <a:r>
                  <a:rPr lang="en-US" altLang="zh-CN" i="1" dirty="0" err="1">
                    <a:ea typeface="宋体" panose="02010600030101010101" pitchFamily="2" charset="-122"/>
                  </a:rPr>
                  <a:t>即</a:t>
                </a:r>
                <a:r>
                  <a:rPr lang="en-US" altLang="zh-CN" dirty="0" err="1">
                    <a:ea typeface="宋体" panose="02010600030101010101" pitchFamily="2" charset="-122"/>
                  </a:rPr>
                  <a:t>具有相同的意义</a:t>
                </a:r>
                <a:r>
                  <a:rPr lang="en-US" altLang="zh-CN" dirty="0">
                    <a:ea typeface="宋体" panose="02010600030101010101" pitchFamily="2" charset="-122"/>
                  </a:rPr>
                  <a:t>）。  </a:t>
                </a:r>
                <a:r>
                  <a:rPr lang="en-US" altLang="zh-CN" dirty="0" err="1">
                    <a:ea typeface="宋体" panose="02010600030101010101" pitchFamily="2" charset="-122"/>
                  </a:rPr>
                  <a:t>我们称它们为</a:t>
                </a:r>
                <a:r>
                  <a:rPr lang="en-US" altLang="zh-CN" b="1" i="1" dirty="0" err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逻辑等价</a:t>
                </a:r>
                <a:r>
                  <a:rPr lang="en-US" altLang="zh-CN" dirty="0">
                    <a:ea typeface="宋体" panose="02010600030101010101" pitchFamily="2" charset="-122"/>
                  </a:rPr>
                  <a:t>。 </a:t>
                </a:r>
              </a:p>
              <a:p>
                <a:pPr eaLnBrk="1" hangingPunct="1">
                  <a:buFont typeface="Wingdings" panose="05000000000000000000" pitchFamily="2" charset="2"/>
                  <a:buNone/>
                </a:pPr>
                <a:endParaRPr lang="en-GB" altLang="en-US" dirty="0">
                  <a:ea typeface="宋体" panose="02010600030101010101" pitchFamily="2" charset="-122"/>
                </a:endParaRPr>
              </a:p>
              <a:p>
                <a:pPr eaLnBrk="1" hangingPunct="1">
                  <a:buFont typeface="Wingdings" panose="05000000000000000000" pitchFamily="2" charset="2"/>
                  <a:buNone/>
                </a:pPr>
                <a:r>
                  <a:rPr lang="en-GB" altLang="en-US" dirty="0" err="1">
                    <a:ea typeface="宋体" panose="02010600030101010101" pitchFamily="2" charset="-122"/>
                  </a:rPr>
                  <a:t>符号</a:t>
                </a:r>
                <a:r>
                  <a:rPr lang="en-GB" altLang="en-US" dirty="0">
                    <a:ea typeface="宋体" panose="02010600030101010101" pitchFamily="2" charset="-122"/>
                  </a:rPr>
                  <a:t>： ... </a:t>
                </a:r>
                <a14:m>
                  <m:oMath xmlns:m="http://schemas.openxmlformats.org/officeDocument/2006/math">
                    <m:r>
                      <a:rPr lang="en-GB" altLang="en-US" i="1" smtClean="0">
                        <a:latin typeface="Cambria Math" panose="02040503050406030204"/>
                        <a:ea typeface="Cambria Math" panose="02040503050406030204"/>
                      </a:rPr>
                      <m:t>⟺</m:t>
                    </m:r>
                  </m:oMath>
                </a14:m>
                <a:r>
                  <a:rPr lang="en-GB" altLang="en-US" dirty="0">
                    <a:ea typeface="宋体" panose="02010600030101010101" pitchFamily="2" charset="-122"/>
                  </a:rPr>
                  <a:t> </a:t>
                </a:r>
                <a:r>
                  <a:rPr lang="en-US" altLang="zh-CN" dirty="0">
                    <a:ea typeface="宋体" panose="02010600030101010101" pitchFamily="2" charset="-122"/>
                    <a:sym typeface="Symbol" panose="05050102010706020507" pitchFamily="18" charset="2"/>
                  </a:rPr>
                  <a:t>.</a:t>
                </a: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.</a:t>
                </a:r>
                <a:r>
                  <a:rPr lang="en-GB" altLang="en-US" dirty="0">
                    <a:ea typeface="宋体" panose="02010600030101010101" pitchFamily="2" charset="-122"/>
                  </a:rPr>
                  <a:t>.</a:t>
                </a:r>
                <a:endParaRPr lang="en-US" altLang="zh-CN" dirty="0">
                  <a:ea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14341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7F40ABF0-1AAC-4F61-98A7-F297AC28E170}" type="slidenum">
              <a:rPr lang="en-US" altLang="zh-CN" sz="1200" b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11</a:t>
            </a:fld>
            <a:endParaRPr lang="en-US" altLang="zh-CN" sz="1200" b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5363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9CDBC7E-DE45-44D7-A30D-617D0C8EE2CA}" type="slidenum">
              <a:rPr lang="en-US" altLang="zh-CN" sz="1200" b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11</a:t>
            </a:fld>
            <a:endParaRPr lang="en-US" altLang="zh-CN" sz="1200" b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逻辑等价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65" name="Rectangle 3"/>
              <p:cNvSpPr>
                <a:spLocks noGrp="1" noChangeArrowheads="1"/>
              </p:cNvSpPr>
              <p:nvPr>
                <p:ph type="body" idx="4294967295"/>
              </p:nvPr>
            </p:nvSpPr>
            <p:spPr/>
            <p:txBody>
              <a:bodyPr/>
              <a:lstStyle/>
              <a:p>
                <a:pPr eaLnBrk="1" hangingPunct="1">
                  <a:lnSpc>
                    <a:spcPct val="90000"/>
                  </a:lnSpc>
                  <a:buNone/>
                </a:pP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复命题 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p </a:t>
                </a:r>
                <a:r>
                  <a:rPr lang="en-US" altLang="zh-CN" i="1" u="sng" dirty="0" err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在逻辑上等价</a:t>
                </a:r>
                <a:r>
                  <a:rPr lang="en-US" altLang="zh-CN" dirty="0" err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于复命题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 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q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，</a:t>
                </a:r>
                <a:r>
                  <a:rPr lang="zh-CN" altLang="en-US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记为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 </a:t>
                </a:r>
                <a:b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</a:br>
                <a:r>
                  <a:rPr lang="en-US" altLang="zh-CN" b="1" i="1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p</a:t>
                </a:r>
                <a:r>
                  <a:rPr lang="en-GB" altLang="en-US" dirty="0">
                    <a:ea typeface="Cambria Math" panose="02040503050406030204"/>
                  </a:rPr>
                  <a:t> </a:t>
                </a:r>
                <a14:m>
                  <m:oMath xmlns:m="http://schemas.openxmlformats.org/officeDocument/2006/math">
                    <m:r>
                      <a:rPr lang="en-GB" altLang="en-US" i="1" smtClean="0">
                        <a:solidFill>
                          <a:srgbClr val="000000"/>
                        </a:solidFill>
                        <a:latin typeface="Cambria Math" panose="02040503050406030204"/>
                        <a:ea typeface="Cambria Math" panose="02040503050406030204"/>
                      </a:rPr>
                      <m:t>⟺</m:t>
                    </m:r>
                    <m:r>
                      <a:rPr lang="en-GB" altLang="en-US" i="1">
                        <a:latin typeface="Cambria Math" panose="02040503050406030204"/>
                        <a:ea typeface="Cambria Math" panose="02040503050406030204"/>
                      </a:rPr>
                      <m:t> </m:t>
                    </m:r>
                  </m:oMath>
                </a14:m>
                <a:r>
                  <a:rPr lang="en-US" altLang="zh-CN" b="1" i="1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q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, 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IFF </a:t>
                </a:r>
                <a:b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</a:rPr>
                </a:b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p 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和 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q 在其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真值表的所有行中都包含相同的真值 </a:t>
                </a:r>
                <a:b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</a:b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在其真值表的</a:t>
                </a:r>
                <a:r>
                  <a:rPr lang="en-US" altLang="zh-CN" u="sng" dirty="0">
                    <a:solidFill>
                      <a:srgbClr val="000000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所有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行中</a:t>
                </a:r>
                <a:r>
                  <a:rPr lang="en-US" altLang="zh-CN" u="sng" dirty="0">
                    <a:solidFill>
                      <a:srgbClr val="000000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都包含相同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的真值</a:t>
                </a:r>
              </a:p>
              <a:p>
                <a:pPr eaLnBrk="1" hangingPunct="1"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r>
                  <a:rPr lang="en-US" altLang="zh-CN" dirty="0">
                    <a:solidFill>
                      <a:schemeClr val="tx2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我们还会说：它们表达了相同的真值函数（=</a:t>
                </a:r>
                <a:r>
                  <a:rPr lang="en-US" altLang="zh-CN" dirty="0">
                    <a:solidFill>
                      <a:srgbClr val="FF0000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从</a:t>
                </a:r>
                <a:r>
                  <a:rPr lang="en-US" altLang="zh-CN" dirty="0">
                    <a:solidFill>
                      <a:schemeClr val="tx2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原子的值</a:t>
                </a:r>
                <a:r>
                  <a:rPr lang="en-US" altLang="zh-CN" dirty="0">
                    <a:solidFill>
                      <a:srgbClr val="FF0000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到</a:t>
                </a:r>
                <a:r>
                  <a:rPr lang="en-US" altLang="zh-CN" dirty="0">
                    <a:solidFill>
                      <a:schemeClr val="tx2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整个公式的值的相同函数）。</a:t>
                </a:r>
                <a:endParaRPr lang="en-US" altLang="zh-CN" dirty="0">
                  <a:solidFill>
                    <a:schemeClr val="tx2"/>
                  </a:solidFill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15365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CD920CE-BAAE-4AE6-98AA-0F0AE08D7566}" type="slidenum">
              <a:rPr lang="en-US" altLang="zh-CN" sz="1200" b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12</a:t>
            </a:fld>
            <a:endParaRPr lang="en-US" altLang="zh-CN" sz="1200" b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6387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4B8966DF-C07D-4DEE-BBF0-B41A1B78BA0B}" type="slidenum">
              <a:rPr lang="en-US" altLang="zh-CN" sz="1200" b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12</a:t>
            </a:fld>
            <a:endParaRPr lang="en-US" altLang="zh-CN" sz="1200" b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i="1">
                <a:ea typeface="宋体" panose="02010600030101010101" pitchFamily="2" charset="-122"/>
              </a:rPr>
              <a:t>Ex.</a:t>
            </a:r>
            <a:r>
              <a:rPr lang="en-US" altLang="zh-CN">
                <a:ea typeface="宋体" panose="02010600030101010101" pitchFamily="2" charset="-122"/>
              </a:rPr>
              <a:t>证明 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pq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 (p  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q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).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16389" name="Object 3"/>
          <p:cNvGraphicFramePr>
            <a:graphicFrameLocks noChangeAspect="1"/>
          </p:cNvGraphicFramePr>
          <p:nvPr/>
        </p:nvGraphicFramePr>
        <p:xfrm>
          <a:off x="836613" y="2895600"/>
          <a:ext cx="7310437" cy="262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7318375" imgH="2636520" progId="Word.Document.8">
                  <p:embed/>
                </p:oleObj>
              </mc:Choice>
              <mc:Fallback>
                <p:oleObj r:id="rId4" imgW="7318375" imgH="263652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6613" y="2895600"/>
                        <a:ext cx="7310437" cy="26257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0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733425" y="731838"/>
            <a:ext cx="8410575" cy="563562"/>
          </a:xfrm>
        </p:spPr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示例 2</a:t>
            </a:r>
          </a:p>
        </p:txBody>
      </p:sp>
      <p:sp>
        <p:nvSpPr>
          <p:cNvPr id="16391" name="Text Box 5"/>
          <p:cNvSpPr txBox="1">
            <a:spLocks noChangeArrowheads="1"/>
          </p:cNvSpPr>
          <p:nvPr/>
        </p:nvSpPr>
        <p:spPr bwMode="auto">
          <a:xfrm>
            <a:off x="1981200" y="3429000"/>
            <a:ext cx="2286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F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6392" name="Text Box 6"/>
          <p:cNvSpPr txBox="1">
            <a:spLocks noChangeArrowheads="1"/>
          </p:cNvSpPr>
          <p:nvPr/>
        </p:nvSpPr>
        <p:spPr bwMode="auto">
          <a:xfrm>
            <a:off x="1905000" y="3886200"/>
            <a:ext cx="3048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T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6393" name="Text Box 7"/>
          <p:cNvSpPr txBox="1">
            <a:spLocks noChangeArrowheads="1"/>
          </p:cNvSpPr>
          <p:nvPr/>
        </p:nvSpPr>
        <p:spPr bwMode="auto">
          <a:xfrm>
            <a:off x="2819400" y="3429000"/>
            <a:ext cx="3048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T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6394" name="Text Box 8"/>
          <p:cNvSpPr txBox="1">
            <a:spLocks noChangeArrowheads="1"/>
          </p:cNvSpPr>
          <p:nvPr/>
        </p:nvSpPr>
        <p:spPr bwMode="auto">
          <a:xfrm>
            <a:off x="2819400" y="3886200"/>
            <a:ext cx="3048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T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6395" name="Text Box 9"/>
          <p:cNvSpPr txBox="1">
            <a:spLocks noChangeArrowheads="1"/>
          </p:cNvSpPr>
          <p:nvPr/>
        </p:nvSpPr>
        <p:spPr bwMode="auto">
          <a:xfrm>
            <a:off x="3429000" y="3429000"/>
            <a:ext cx="3048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T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6396" name="Text Box 10"/>
          <p:cNvSpPr txBox="1">
            <a:spLocks noChangeArrowheads="1"/>
          </p:cNvSpPr>
          <p:nvPr/>
        </p:nvSpPr>
        <p:spPr bwMode="auto">
          <a:xfrm>
            <a:off x="3429000" y="4419600"/>
            <a:ext cx="3048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T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6397" name="Text Box 11"/>
          <p:cNvSpPr txBox="1">
            <a:spLocks noChangeArrowheads="1"/>
          </p:cNvSpPr>
          <p:nvPr/>
        </p:nvSpPr>
        <p:spPr bwMode="auto">
          <a:xfrm>
            <a:off x="4648200" y="3429000"/>
            <a:ext cx="3048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T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6398" name="Text Box 12"/>
          <p:cNvSpPr txBox="1">
            <a:spLocks noChangeArrowheads="1"/>
          </p:cNvSpPr>
          <p:nvPr/>
        </p:nvSpPr>
        <p:spPr bwMode="auto">
          <a:xfrm>
            <a:off x="6705600" y="4876800"/>
            <a:ext cx="3048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T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6399" name="Text Box 13"/>
          <p:cNvSpPr txBox="1">
            <a:spLocks noChangeArrowheads="1"/>
          </p:cNvSpPr>
          <p:nvPr/>
        </p:nvSpPr>
        <p:spPr bwMode="auto">
          <a:xfrm>
            <a:off x="6705600" y="4419600"/>
            <a:ext cx="3048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T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6400" name="Text Box 14"/>
          <p:cNvSpPr txBox="1">
            <a:spLocks noChangeArrowheads="1"/>
          </p:cNvSpPr>
          <p:nvPr/>
        </p:nvSpPr>
        <p:spPr bwMode="auto">
          <a:xfrm>
            <a:off x="6705600" y="3886200"/>
            <a:ext cx="3048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T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6401" name="Text Box 15"/>
          <p:cNvSpPr txBox="1">
            <a:spLocks noChangeArrowheads="1"/>
          </p:cNvSpPr>
          <p:nvPr/>
        </p:nvSpPr>
        <p:spPr bwMode="auto">
          <a:xfrm>
            <a:off x="2819400" y="4876800"/>
            <a:ext cx="2286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F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6402" name="Text Box 16"/>
          <p:cNvSpPr txBox="1">
            <a:spLocks noChangeArrowheads="1"/>
          </p:cNvSpPr>
          <p:nvPr/>
        </p:nvSpPr>
        <p:spPr bwMode="auto">
          <a:xfrm>
            <a:off x="2819400" y="4419600"/>
            <a:ext cx="2286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F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6403" name="Text Box 17"/>
          <p:cNvSpPr txBox="1">
            <a:spLocks noChangeArrowheads="1"/>
          </p:cNvSpPr>
          <p:nvPr/>
        </p:nvSpPr>
        <p:spPr bwMode="auto">
          <a:xfrm>
            <a:off x="3505200" y="4876800"/>
            <a:ext cx="2286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F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6404" name="Text Box 18"/>
          <p:cNvSpPr txBox="1">
            <a:spLocks noChangeArrowheads="1"/>
          </p:cNvSpPr>
          <p:nvPr/>
        </p:nvSpPr>
        <p:spPr bwMode="auto">
          <a:xfrm>
            <a:off x="3505200" y="3886200"/>
            <a:ext cx="2286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F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6405" name="Text Box 19"/>
          <p:cNvSpPr txBox="1">
            <a:spLocks noChangeArrowheads="1"/>
          </p:cNvSpPr>
          <p:nvPr/>
        </p:nvSpPr>
        <p:spPr bwMode="auto">
          <a:xfrm>
            <a:off x="4724400" y="4876800"/>
            <a:ext cx="2286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F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6406" name="Text Box 20"/>
          <p:cNvSpPr txBox="1">
            <a:spLocks noChangeArrowheads="1"/>
          </p:cNvSpPr>
          <p:nvPr/>
        </p:nvSpPr>
        <p:spPr bwMode="auto">
          <a:xfrm>
            <a:off x="4724400" y="4419600"/>
            <a:ext cx="2286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F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6407" name="Text Box 21"/>
          <p:cNvSpPr txBox="1">
            <a:spLocks noChangeArrowheads="1"/>
          </p:cNvSpPr>
          <p:nvPr/>
        </p:nvSpPr>
        <p:spPr bwMode="auto">
          <a:xfrm>
            <a:off x="4724400" y="3886200"/>
            <a:ext cx="2286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F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6408" name="Text Box 22"/>
          <p:cNvSpPr txBox="1">
            <a:spLocks noChangeArrowheads="1"/>
          </p:cNvSpPr>
          <p:nvPr/>
        </p:nvSpPr>
        <p:spPr bwMode="auto">
          <a:xfrm>
            <a:off x="6781800" y="3429000"/>
            <a:ext cx="2286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F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6409" name="Text Box 23"/>
          <p:cNvSpPr txBox="1">
            <a:spLocks noChangeArrowheads="1"/>
          </p:cNvSpPr>
          <p:nvPr/>
        </p:nvSpPr>
        <p:spPr bwMode="auto">
          <a:xfrm>
            <a:off x="1905000" y="4419600"/>
            <a:ext cx="3048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T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6410" name="Text Box 24"/>
          <p:cNvSpPr txBox="1">
            <a:spLocks noChangeArrowheads="1"/>
          </p:cNvSpPr>
          <p:nvPr/>
        </p:nvSpPr>
        <p:spPr bwMode="auto">
          <a:xfrm>
            <a:off x="1905000" y="4876800"/>
            <a:ext cx="3048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T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6411" name="Oval 25"/>
          <p:cNvSpPr>
            <a:spLocks noChangeArrowheads="1"/>
          </p:cNvSpPr>
          <p:nvPr/>
        </p:nvSpPr>
        <p:spPr bwMode="auto">
          <a:xfrm>
            <a:off x="1676400" y="3352800"/>
            <a:ext cx="762000" cy="2286000"/>
          </a:xfrm>
          <a:prstGeom prst="ellipse">
            <a:avLst/>
          </a:prstGeom>
          <a:noFill/>
          <a:ln w="762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b="0"/>
          </a:p>
        </p:txBody>
      </p:sp>
      <p:sp>
        <p:nvSpPr>
          <p:cNvPr id="16412" name="Oval 26"/>
          <p:cNvSpPr>
            <a:spLocks noChangeArrowheads="1"/>
          </p:cNvSpPr>
          <p:nvPr/>
        </p:nvSpPr>
        <p:spPr bwMode="auto">
          <a:xfrm>
            <a:off x="6477000" y="3352800"/>
            <a:ext cx="762000" cy="2286000"/>
          </a:xfrm>
          <a:prstGeom prst="ellipse">
            <a:avLst/>
          </a:prstGeom>
          <a:noFill/>
          <a:ln w="762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64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64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64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64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1" grpId="0"/>
      <p:bldP spid="16392" grpId="0"/>
      <p:bldP spid="16393" grpId="0"/>
      <p:bldP spid="16394" grpId="0"/>
      <p:bldP spid="16395" grpId="0"/>
      <p:bldP spid="16396" grpId="0"/>
      <p:bldP spid="16397" grpId="0"/>
      <p:bldP spid="16398" grpId="0"/>
      <p:bldP spid="16399" grpId="0"/>
      <p:bldP spid="16400" grpId="0"/>
      <p:bldP spid="16401" grpId="0"/>
      <p:bldP spid="16402" grpId="0"/>
      <p:bldP spid="16403" grpId="0"/>
      <p:bldP spid="16404" grpId="0"/>
      <p:bldP spid="16405" grpId="0"/>
      <p:bldP spid="16406" grpId="0"/>
      <p:bldP spid="16407" grpId="0"/>
      <p:bldP spid="16408" grpId="0"/>
      <p:bldP spid="16409" grpId="0"/>
      <p:bldP spid="16410" grpId="0"/>
      <p:bldP spid="16411" grpId="0" animBg="1"/>
      <p:bldP spid="164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237FEAB-118A-4E0F-895D-B2718B23BADD}" type="slidenum">
              <a:rPr lang="en-US" altLang="zh-CN" sz="1200" b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13</a:t>
            </a:fld>
            <a:endParaRPr lang="en-US" altLang="zh-CN" sz="1200" b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7411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192309D2-2BF6-4587-A78A-25555613F970}" type="slidenum">
              <a:rPr lang="en-US" altLang="zh-CN" sz="1200" b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13</a:t>
            </a:fld>
            <a:endParaRPr lang="en-US" altLang="zh-CN" sz="1200" b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i="1">
                <a:ea typeface="宋体" panose="02010600030101010101" pitchFamily="2" charset="-122"/>
              </a:rPr>
              <a:t>Ex.</a:t>
            </a:r>
            <a:r>
              <a:rPr lang="en-US" altLang="zh-CN">
                <a:ea typeface="宋体" panose="02010600030101010101" pitchFamily="2" charset="-122"/>
              </a:rPr>
              <a:t>证明 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  <a:sym typeface="Symbol" panose="05050102010706020507" pitchFamily="18" charset="2"/>
              </a:rPr>
              <a:t> 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pq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 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zh-CN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17413" name="Object 3"/>
          <p:cNvGraphicFramePr>
            <a:graphicFrameLocks noChangeAspect="1"/>
          </p:cNvGraphicFramePr>
          <p:nvPr/>
        </p:nvGraphicFramePr>
        <p:xfrm>
          <a:off x="2247900" y="2511425"/>
          <a:ext cx="3873500" cy="2525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4206240" imgH="2648585" progId="Word.Document.8">
                  <p:embed/>
                </p:oleObj>
              </mc:Choice>
              <mc:Fallback>
                <p:oleObj r:id="rId4" imgW="4206240" imgH="2648585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7900" y="2511425"/>
                        <a:ext cx="3873500" cy="25257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4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733425" y="731838"/>
            <a:ext cx="8105775" cy="563562"/>
          </a:xfrm>
        </p:spPr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示例 3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7415" name="Text Box 5"/>
          <p:cNvSpPr txBox="1">
            <a:spLocks noChangeArrowheads="1"/>
          </p:cNvSpPr>
          <p:nvPr/>
        </p:nvSpPr>
        <p:spPr bwMode="auto">
          <a:xfrm>
            <a:off x="3357563" y="3094038"/>
            <a:ext cx="22860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T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7416" name="Text Box 6"/>
          <p:cNvSpPr txBox="1">
            <a:spLocks noChangeArrowheads="1"/>
          </p:cNvSpPr>
          <p:nvPr/>
        </p:nvSpPr>
        <p:spPr bwMode="auto">
          <a:xfrm>
            <a:off x="3314700" y="3551238"/>
            <a:ext cx="30480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T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7417" name="Text Box 9"/>
          <p:cNvSpPr txBox="1">
            <a:spLocks noChangeArrowheads="1"/>
          </p:cNvSpPr>
          <p:nvPr/>
        </p:nvSpPr>
        <p:spPr bwMode="auto">
          <a:xfrm>
            <a:off x="4229100" y="3094038"/>
            <a:ext cx="304800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T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7418" name="Text Box 10"/>
          <p:cNvSpPr txBox="1">
            <a:spLocks noChangeArrowheads="1"/>
          </p:cNvSpPr>
          <p:nvPr/>
        </p:nvSpPr>
        <p:spPr bwMode="auto">
          <a:xfrm>
            <a:off x="4229100" y="4008438"/>
            <a:ext cx="30480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F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7419" name="Text Box 11"/>
          <p:cNvSpPr txBox="1">
            <a:spLocks noChangeArrowheads="1"/>
          </p:cNvSpPr>
          <p:nvPr/>
        </p:nvSpPr>
        <p:spPr bwMode="auto">
          <a:xfrm>
            <a:off x="5448300" y="3124200"/>
            <a:ext cx="3048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T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7420" name="Text Box 17"/>
          <p:cNvSpPr txBox="1">
            <a:spLocks noChangeArrowheads="1"/>
          </p:cNvSpPr>
          <p:nvPr/>
        </p:nvSpPr>
        <p:spPr bwMode="auto">
          <a:xfrm>
            <a:off x="4248150" y="4441825"/>
            <a:ext cx="22860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T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7421" name="Text Box 18"/>
          <p:cNvSpPr txBox="1">
            <a:spLocks noChangeArrowheads="1"/>
          </p:cNvSpPr>
          <p:nvPr/>
        </p:nvSpPr>
        <p:spPr bwMode="auto">
          <a:xfrm>
            <a:off x="4305300" y="3551238"/>
            <a:ext cx="22860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T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7422" name="Text Box 19"/>
          <p:cNvSpPr txBox="1">
            <a:spLocks noChangeArrowheads="1"/>
          </p:cNvSpPr>
          <p:nvPr/>
        </p:nvSpPr>
        <p:spPr bwMode="auto">
          <a:xfrm>
            <a:off x="5495925" y="4465638"/>
            <a:ext cx="228600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T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7423" name="Text Box 20"/>
          <p:cNvSpPr txBox="1">
            <a:spLocks noChangeArrowheads="1"/>
          </p:cNvSpPr>
          <p:nvPr/>
        </p:nvSpPr>
        <p:spPr bwMode="auto">
          <a:xfrm>
            <a:off x="5491163" y="4008438"/>
            <a:ext cx="22860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F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7424" name="Text Box 21"/>
          <p:cNvSpPr txBox="1">
            <a:spLocks noChangeArrowheads="1"/>
          </p:cNvSpPr>
          <p:nvPr/>
        </p:nvSpPr>
        <p:spPr bwMode="auto">
          <a:xfrm>
            <a:off x="5510213" y="3538538"/>
            <a:ext cx="22860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T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7425" name="Text Box 23"/>
          <p:cNvSpPr txBox="1">
            <a:spLocks noChangeArrowheads="1"/>
          </p:cNvSpPr>
          <p:nvPr/>
        </p:nvSpPr>
        <p:spPr bwMode="auto">
          <a:xfrm>
            <a:off x="3281363" y="3984625"/>
            <a:ext cx="30480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F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7426" name="Text Box 24"/>
          <p:cNvSpPr txBox="1">
            <a:spLocks noChangeArrowheads="1"/>
          </p:cNvSpPr>
          <p:nvPr/>
        </p:nvSpPr>
        <p:spPr bwMode="auto">
          <a:xfrm>
            <a:off x="3281363" y="4427538"/>
            <a:ext cx="30480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F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7427" name="Oval 25"/>
          <p:cNvSpPr>
            <a:spLocks noChangeArrowheads="1"/>
          </p:cNvSpPr>
          <p:nvPr/>
        </p:nvSpPr>
        <p:spPr bwMode="auto">
          <a:xfrm>
            <a:off x="4000500" y="3048000"/>
            <a:ext cx="762000" cy="2286000"/>
          </a:xfrm>
          <a:prstGeom prst="ellipse">
            <a:avLst/>
          </a:prstGeom>
          <a:noFill/>
          <a:ln w="762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b="0"/>
          </a:p>
        </p:txBody>
      </p:sp>
      <p:sp>
        <p:nvSpPr>
          <p:cNvPr id="17428" name="Oval 26"/>
          <p:cNvSpPr>
            <a:spLocks noChangeArrowheads="1"/>
          </p:cNvSpPr>
          <p:nvPr/>
        </p:nvSpPr>
        <p:spPr bwMode="auto">
          <a:xfrm>
            <a:off x="5219700" y="3048000"/>
            <a:ext cx="762000" cy="2286000"/>
          </a:xfrm>
          <a:prstGeom prst="ellipse">
            <a:avLst/>
          </a:prstGeom>
          <a:noFill/>
          <a:ln w="762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74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74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74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74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5" grpId="0"/>
      <p:bldP spid="17416" grpId="0"/>
      <p:bldP spid="17417" grpId="0"/>
      <p:bldP spid="17418" grpId="0"/>
      <p:bldP spid="17419" grpId="0"/>
      <p:bldP spid="17420" grpId="0"/>
      <p:bldP spid="17421" grpId="0"/>
      <p:bldP spid="17422" grpId="0"/>
      <p:bldP spid="17423" grpId="0"/>
      <p:bldP spid="17424" grpId="0"/>
      <p:bldP spid="17425" grpId="0"/>
      <p:bldP spid="17426" grpId="0"/>
      <p:bldP spid="17427" grpId="0" animBg="1"/>
      <p:bldP spid="1742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77766162-E3FA-41D5-9C16-B7DDDD14559B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14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7373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练习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3732" name="Rectangle 3"/>
              <p:cNvSpPr>
                <a:spLocks noGrp="1" noChangeArrowheads="1"/>
              </p:cNvSpPr>
              <p:nvPr>
                <p:ph type="body" idx="4294967295"/>
              </p:nvPr>
            </p:nvSpPr>
            <p:spPr>
              <a:xfrm>
                <a:off x="0" y="1447800"/>
                <a:ext cx="9145588" cy="4725988"/>
              </a:xfrm>
            </p:spPr>
            <p:txBody>
              <a:bodyPr/>
              <a:lstStyle/>
              <a:p>
                <a:r>
                  <a:rPr lang="en-US" altLang="zh-CN" dirty="0">
                    <a:ea typeface="宋体" panose="02010600030101010101" pitchFamily="2" charset="-122"/>
                  </a:rPr>
                  <a:t>1.证</a:t>
                </a:r>
                <a:r>
                  <a:rPr lang="zh-CN" altLang="en-US" dirty="0">
                    <a:ea typeface="宋体" panose="02010600030101010101" pitchFamily="2" charset="-122"/>
                  </a:rPr>
                  <a:t>明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𝑝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)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→¬(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∧¬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>
                    <a:ea typeface="宋体" panose="02010600030101010101" pitchFamily="2" charset="-122"/>
                  </a:rPr>
                  <a:t>是</a:t>
                </a:r>
                <a:r>
                  <a:rPr lang="zh-CN" altLang="en-US" dirty="0">
                    <a:ea typeface="宋体" panose="02010600030101010101" pitchFamily="2" charset="-122"/>
                  </a:rPr>
                  <a:t>重言式</a:t>
                </a:r>
                <a:r>
                  <a:rPr lang="en-US" altLang="zh-CN" dirty="0">
                    <a:ea typeface="宋体" panose="02010600030101010101" pitchFamily="2" charset="-122"/>
                  </a:rPr>
                  <a:t>。</a:t>
                </a:r>
                <a:endParaRPr lang="zh-CN" altLang="zh-CN" dirty="0">
                  <a:ea typeface="宋体" panose="02010600030101010101" pitchFamily="2" charset="-122"/>
                </a:endParaRPr>
              </a:p>
              <a:p>
                <a:pPr>
                  <a:buFont typeface="Wingdings" panose="05000000000000000000" pitchFamily="2" charset="2"/>
                  <a:buNone/>
                </a:pPr>
                <a:endParaRPr lang="en-US" altLang="zh-CN" sz="2400" dirty="0"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73732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0" y="1447800"/>
                <a:ext cx="9145588" cy="4725988"/>
              </a:xfrm>
              <a:blipFill>
                <a:blip r:embed="rId2"/>
                <a:stretch>
                  <a:fillRect l="-1667" t="-21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7DD9639B-E088-4BF2-A036-BB7CBBA51350}" type="slidenum">
              <a:rPr lang="en-US" altLang="zh-CN" sz="1200" b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15</a:t>
            </a:fld>
            <a:endParaRPr lang="en-US" altLang="zh-CN" sz="1200" b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8435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01AE79CE-319E-4F47-BA1F-E2D95449D7D1}" type="slidenum">
              <a:rPr lang="en-US" altLang="zh-CN" sz="1200" b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15</a:t>
            </a:fld>
            <a:endParaRPr lang="en-US" altLang="zh-CN" sz="1200" b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8436" name="Rectangle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i="1">
                <a:ea typeface="宋体" panose="02010600030101010101" pitchFamily="2" charset="-122"/>
              </a:rPr>
              <a:t>Ex.</a:t>
            </a:r>
            <a:r>
              <a:rPr lang="en-US" altLang="zh-CN">
                <a:ea typeface="宋体" panose="02010600030101010101" pitchFamily="2" charset="-122"/>
              </a:rPr>
              <a:t>证明 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 (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 r) (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)  (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r)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18437" name="Object 3"/>
          <p:cNvGraphicFramePr>
            <a:graphicFrameLocks noChangeAspect="1"/>
          </p:cNvGraphicFramePr>
          <p:nvPr/>
        </p:nvGraphicFramePr>
        <p:xfrm>
          <a:off x="844550" y="2054225"/>
          <a:ext cx="7764463" cy="416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8092440" imgH="4514215" progId="Word.Document.8">
                  <p:embed/>
                </p:oleObj>
              </mc:Choice>
              <mc:Fallback>
                <p:oleObj r:id="rId3" imgW="8092440" imgH="4514215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550" y="2054225"/>
                        <a:ext cx="7764463" cy="41640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8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733425" y="731838"/>
            <a:ext cx="8410575" cy="563562"/>
          </a:xfrm>
        </p:spPr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示例 4</a:t>
            </a:r>
          </a:p>
        </p:txBody>
      </p:sp>
      <p:sp>
        <p:nvSpPr>
          <p:cNvPr id="18439" name="Text Box 6"/>
          <p:cNvSpPr txBox="1">
            <a:spLocks noChangeArrowheads="1"/>
          </p:cNvSpPr>
          <p:nvPr/>
        </p:nvSpPr>
        <p:spPr bwMode="auto">
          <a:xfrm>
            <a:off x="5634038" y="3857625"/>
            <a:ext cx="3048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T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8440" name="Text Box 7"/>
          <p:cNvSpPr txBox="1">
            <a:spLocks noChangeArrowheads="1"/>
          </p:cNvSpPr>
          <p:nvPr/>
        </p:nvSpPr>
        <p:spPr bwMode="auto">
          <a:xfrm>
            <a:off x="2300288" y="2546350"/>
            <a:ext cx="3048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T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8441" name="Text Box 8"/>
          <p:cNvSpPr txBox="1">
            <a:spLocks noChangeArrowheads="1"/>
          </p:cNvSpPr>
          <p:nvPr/>
        </p:nvSpPr>
        <p:spPr bwMode="auto">
          <a:xfrm>
            <a:off x="3429000" y="4313238"/>
            <a:ext cx="304800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T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8442" name="Text Box 9"/>
          <p:cNvSpPr txBox="1">
            <a:spLocks noChangeArrowheads="1"/>
          </p:cNvSpPr>
          <p:nvPr/>
        </p:nvSpPr>
        <p:spPr bwMode="auto">
          <a:xfrm>
            <a:off x="3429000" y="2560638"/>
            <a:ext cx="304800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T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8443" name="Text Box 10"/>
          <p:cNvSpPr txBox="1">
            <a:spLocks noChangeArrowheads="1"/>
          </p:cNvSpPr>
          <p:nvPr/>
        </p:nvSpPr>
        <p:spPr bwMode="auto">
          <a:xfrm>
            <a:off x="3429000" y="3475038"/>
            <a:ext cx="304800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T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8444" name="Text Box 11"/>
          <p:cNvSpPr txBox="1">
            <a:spLocks noChangeArrowheads="1"/>
          </p:cNvSpPr>
          <p:nvPr/>
        </p:nvSpPr>
        <p:spPr bwMode="auto">
          <a:xfrm>
            <a:off x="4724400" y="2590800"/>
            <a:ext cx="3048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T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8445" name="Text Box 12"/>
          <p:cNvSpPr txBox="1">
            <a:spLocks noChangeArrowheads="1"/>
          </p:cNvSpPr>
          <p:nvPr/>
        </p:nvSpPr>
        <p:spPr bwMode="auto">
          <a:xfrm>
            <a:off x="7162800" y="2590800"/>
            <a:ext cx="3048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T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8446" name="Text Box 15"/>
          <p:cNvSpPr txBox="1">
            <a:spLocks noChangeArrowheads="1"/>
          </p:cNvSpPr>
          <p:nvPr/>
        </p:nvSpPr>
        <p:spPr bwMode="auto">
          <a:xfrm>
            <a:off x="3462338" y="5184775"/>
            <a:ext cx="2286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F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8447" name="Text Box 16"/>
          <p:cNvSpPr txBox="1">
            <a:spLocks noChangeArrowheads="1"/>
          </p:cNvSpPr>
          <p:nvPr/>
        </p:nvSpPr>
        <p:spPr bwMode="auto">
          <a:xfrm>
            <a:off x="3471863" y="4694238"/>
            <a:ext cx="228600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F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8448" name="Text Box 17"/>
          <p:cNvSpPr txBox="1">
            <a:spLocks noChangeArrowheads="1"/>
          </p:cNvSpPr>
          <p:nvPr/>
        </p:nvSpPr>
        <p:spPr bwMode="auto">
          <a:xfrm>
            <a:off x="3505200" y="3886200"/>
            <a:ext cx="22860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T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8449" name="Text Box 18"/>
          <p:cNvSpPr txBox="1">
            <a:spLocks noChangeArrowheads="1"/>
          </p:cNvSpPr>
          <p:nvPr/>
        </p:nvSpPr>
        <p:spPr bwMode="auto">
          <a:xfrm>
            <a:off x="3505200" y="3017838"/>
            <a:ext cx="22860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T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8450" name="Text Box 19"/>
          <p:cNvSpPr txBox="1">
            <a:spLocks noChangeArrowheads="1"/>
          </p:cNvSpPr>
          <p:nvPr/>
        </p:nvSpPr>
        <p:spPr bwMode="auto">
          <a:xfrm>
            <a:off x="4767263" y="5624513"/>
            <a:ext cx="228600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F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8451" name="Text Box 20"/>
          <p:cNvSpPr txBox="1">
            <a:spLocks noChangeArrowheads="1"/>
          </p:cNvSpPr>
          <p:nvPr/>
        </p:nvSpPr>
        <p:spPr bwMode="auto">
          <a:xfrm>
            <a:off x="4767263" y="5167313"/>
            <a:ext cx="228600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F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8452" name="Text Box 23"/>
          <p:cNvSpPr txBox="1">
            <a:spLocks noChangeArrowheads="1"/>
          </p:cNvSpPr>
          <p:nvPr/>
        </p:nvSpPr>
        <p:spPr bwMode="auto">
          <a:xfrm>
            <a:off x="5619750" y="4333875"/>
            <a:ext cx="3048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T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8453" name="Text Box 24"/>
          <p:cNvSpPr txBox="1">
            <a:spLocks noChangeArrowheads="1"/>
          </p:cNvSpPr>
          <p:nvPr/>
        </p:nvSpPr>
        <p:spPr bwMode="auto">
          <a:xfrm>
            <a:off x="5634038" y="4776788"/>
            <a:ext cx="304800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F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8454" name="Oval 25"/>
          <p:cNvSpPr>
            <a:spLocks noChangeArrowheads="1"/>
          </p:cNvSpPr>
          <p:nvPr/>
        </p:nvSpPr>
        <p:spPr bwMode="auto">
          <a:xfrm>
            <a:off x="6934200" y="2438400"/>
            <a:ext cx="762000" cy="3657600"/>
          </a:xfrm>
          <a:prstGeom prst="ellipse">
            <a:avLst/>
          </a:prstGeom>
          <a:noFill/>
          <a:ln w="762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b="0"/>
          </a:p>
        </p:txBody>
      </p:sp>
      <p:sp>
        <p:nvSpPr>
          <p:cNvPr id="18455" name="Oval 26"/>
          <p:cNvSpPr>
            <a:spLocks noChangeArrowheads="1"/>
          </p:cNvSpPr>
          <p:nvPr/>
        </p:nvSpPr>
        <p:spPr bwMode="auto">
          <a:xfrm>
            <a:off x="3200400" y="2514600"/>
            <a:ext cx="762000" cy="3657600"/>
          </a:xfrm>
          <a:prstGeom prst="ellipse">
            <a:avLst/>
          </a:prstGeom>
          <a:noFill/>
          <a:ln w="762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b="0"/>
          </a:p>
        </p:txBody>
      </p:sp>
      <p:sp>
        <p:nvSpPr>
          <p:cNvPr id="18456" name="Text Box 27"/>
          <p:cNvSpPr txBox="1">
            <a:spLocks noChangeArrowheads="1"/>
          </p:cNvSpPr>
          <p:nvPr/>
        </p:nvSpPr>
        <p:spPr bwMode="auto">
          <a:xfrm>
            <a:off x="2286000" y="2971800"/>
            <a:ext cx="3048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F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8457" name="Text Box 28"/>
          <p:cNvSpPr txBox="1">
            <a:spLocks noChangeArrowheads="1"/>
          </p:cNvSpPr>
          <p:nvPr/>
        </p:nvSpPr>
        <p:spPr bwMode="auto">
          <a:xfrm>
            <a:off x="2300288" y="3430588"/>
            <a:ext cx="30480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T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8458" name="Text Box 29"/>
          <p:cNvSpPr txBox="1">
            <a:spLocks noChangeArrowheads="1"/>
          </p:cNvSpPr>
          <p:nvPr/>
        </p:nvSpPr>
        <p:spPr bwMode="auto">
          <a:xfrm>
            <a:off x="2286000" y="3856038"/>
            <a:ext cx="304800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F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8459" name="Text Box 30"/>
          <p:cNvSpPr txBox="1">
            <a:spLocks noChangeArrowheads="1"/>
          </p:cNvSpPr>
          <p:nvPr/>
        </p:nvSpPr>
        <p:spPr bwMode="auto">
          <a:xfrm>
            <a:off x="2266950" y="4295775"/>
            <a:ext cx="30480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F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8460" name="Text Box 31"/>
          <p:cNvSpPr txBox="1">
            <a:spLocks noChangeArrowheads="1"/>
          </p:cNvSpPr>
          <p:nvPr/>
        </p:nvSpPr>
        <p:spPr bwMode="auto">
          <a:xfrm>
            <a:off x="2286000" y="4721225"/>
            <a:ext cx="3048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F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8461" name="Text Box 32"/>
          <p:cNvSpPr txBox="1">
            <a:spLocks noChangeArrowheads="1"/>
          </p:cNvSpPr>
          <p:nvPr/>
        </p:nvSpPr>
        <p:spPr bwMode="auto">
          <a:xfrm>
            <a:off x="2300288" y="5180013"/>
            <a:ext cx="304800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F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8462" name="Text Box 33"/>
          <p:cNvSpPr txBox="1">
            <a:spLocks noChangeArrowheads="1"/>
          </p:cNvSpPr>
          <p:nvPr/>
        </p:nvSpPr>
        <p:spPr bwMode="auto">
          <a:xfrm>
            <a:off x="2286000" y="5605463"/>
            <a:ext cx="304800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F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8463" name="Text Box 34"/>
          <p:cNvSpPr txBox="1">
            <a:spLocks noChangeArrowheads="1"/>
          </p:cNvSpPr>
          <p:nvPr/>
        </p:nvSpPr>
        <p:spPr bwMode="auto">
          <a:xfrm>
            <a:off x="3462338" y="5580063"/>
            <a:ext cx="228600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F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8464" name="Text Box 35"/>
          <p:cNvSpPr txBox="1">
            <a:spLocks noChangeArrowheads="1"/>
          </p:cNvSpPr>
          <p:nvPr/>
        </p:nvSpPr>
        <p:spPr bwMode="auto">
          <a:xfrm>
            <a:off x="4743450" y="3017838"/>
            <a:ext cx="304800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T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8465" name="Text Box 36"/>
          <p:cNvSpPr txBox="1">
            <a:spLocks noChangeArrowheads="1"/>
          </p:cNvSpPr>
          <p:nvPr/>
        </p:nvSpPr>
        <p:spPr bwMode="auto">
          <a:xfrm>
            <a:off x="4724400" y="3429000"/>
            <a:ext cx="3048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T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8466" name="Text Box 37"/>
          <p:cNvSpPr txBox="1">
            <a:spLocks noChangeArrowheads="1"/>
          </p:cNvSpPr>
          <p:nvPr/>
        </p:nvSpPr>
        <p:spPr bwMode="auto">
          <a:xfrm>
            <a:off x="4743450" y="3856038"/>
            <a:ext cx="304800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T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8467" name="Text Box 38"/>
          <p:cNvSpPr txBox="1">
            <a:spLocks noChangeArrowheads="1"/>
          </p:cNvSpPr>
          <p:nvPr/>
        </p:nvSpPr>
        <p:spPr bwMode="auto">
          <a:xfrm>
            <a:off x="4724400" y="4343400"/>
            <a:ext cx="3048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T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8468" name="Text Box 39"/>
          <p:cNvSpPr txBox="1">
            <a:spLocks noChangeArrowheads="1"/>
          </p:cNvSpPr>
          <p:nvPr/>
        </p:nvSpPr>
        <p:spPr bwMode="auto">
          <a:xfrm>
            <a:off x="4743450" y="4770438"/>
            <a:ext cx="304800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T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8469" name="Text Box 55"/>
          <p:cNvSpPr txBox="1">
            <a:spLocks noChangeArrowheads="1"/>
          </p:cNvSpPr>
          <p:nvPr/>
        </p:nvSpPr>
        <p:spPr bwMode="auto">
          <a:xfrm>
            <a:off x="5638800" y="2590800"/>
            <a:ext cx="3048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T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8470" name="Text Box 56"/>
          <p:cNvSpPr txBox="1">
            <a:spLocks noChangeArrowheads="1"/>
          </p:cNvSpPr>
          <p:nvPr/>
        </p:nvSpPr>
        <p:spPr bwMode="auto">
          <a:xfrm>
            <a:off x="5638800" y="3005138"/>
            <a:ext cx="304800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T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8471" name="Text Box 57"/>
          <p:cNvSpPr txBox="1">
            <a:spLocks noChangeArrowheads="1"/>
          </p:cNvSpPr>
          <p:nvPr/>
        </p:nvSpPr>
        <p:spPr bwMode="auto">
          <a:xfrm>
            <a:off x="5638800" y="3438525"/>
            <a:ext cx="3048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T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8472" name="Text Box 58"/>
          <p:cNvSpPr txBox="1">
            <a:spLocks noChangeArrowheads="1"/>
          </p:cNvSpPr>
          <p:nvPr/>
        </p:nvSpPr>
        <p:spPr bwMode="auto">
          <a:xfrm>
            <a:off x="5624513" y="5165725"/>
            <a:ext cx="3048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T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8473" name="Text Box 59"/>
          <p:cNvSpPr txBox="1">
            <a:spLocks noChangeArrowheads="1"/>
          </p:cNvSpPr>
          <p:nvPr/>
        </p:nvSpPr>
        <p:spPr bwMode="auto">
          <a:xfrm>
            <a:off x="5638800" y="5608638"/>
            <a:ext cx="304800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F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8474" name="Text Box 60"/>
          <p:cNvSpPr txBox="1">
            <a:spLocks noChangeArrowheads="1"/>
          </p:cNvSpPr>
          <p:nvPr/>
        </p:nvSpPr>
        <p:spPr bwMode="auto">
          <a:xfrm>
            <a:off x="7162800" y="3000375"/>
            <a:ext cx="3048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T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8475" name="Text Box 64"/>
          <p:cNvSpPr txBox="1">
            <a:spLocks noChangeArrowheads="1"/>
          </p:cNvSpPr>
          <p:nvPr/>
        </p:nvSpPr>
        <p:spPr bwMode="auto">
          <a:xfrm>
            <a:off x="7162800" y="3446463"/>
            <a:ext cx="304800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T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8476" name="Text Box 65"/>
          <p:cNvSpPr txBox="1">
            <a:spLocks noChangeArrowheads="1"/>
          </p:cNvSpPr>
          <p:nvPr/>
        </p:nvSpPr>
        <p:spPr bwMode="auto">
          <a:xfrm>
            <a:off x="7162800" y="3810000"/>
            <a:ext cx="3048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T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8477" name="Text Box 66"/>
          <p:cNvSpPr txBox="1">
            <a:spLocks noChangeArrowheads="1"/>
          </p:cNvSpPr>
          <p:nvPr/>
        </p:nvSpPr>
        <p:spPr bwMode="auto">
          <a:xfrm>
            <a:off x="7162800" y="4256088"/>
            <a:ext cx="304800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T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8478" name="Text Box 67"/>
          <p:cNvSpPr txBox="1">
            <a:spLocks noChangeArrowheads="1"/>
          </p:cNvSpPr>
          <p:nvPr/>
        </p:nvSpPr>
        <p:spPr bwMode="auto">
          <a:xfrm>
            <a:off x="7162800" y="4722813"/>
            <a:ext cx="304800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F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8479" name="Text Box 68"/>
          <p:cNvSpPr txBox="1">
            <a:spLocks noChangeArrowheads="1"/>
          </p:cNvSpPr>
          <p:nvPr/>
        </p:nvSpPr>
        <p:spPr bwMode="auto">
          <a:xfrm>
            <a:off x="7162800" y="5086350"/>
            <a:ext cx="3048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F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18480" name="Text Box 69"/>
          <p:cNvSpPr txBox="1">
            <a:spLocks noChangeArrowheads="1"/>
          </p:cNvSpPr>
          <p:nvPr/>
        </p:nvSpPr>
        <p:spPr bwMode="auto">
          <a:xfrm>
            <a:off x="7162800" y="5532438"/>
            <a:ext cx="304800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en-US" altLang="zh-CN" b="0">
                <a:latin typeface="Times New Roman" panose="02020603050405020304" pitchFamily="18" charset="0"/>
              </a:rPr>
              <a:t>F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2000"/>
                                        <p:tgtEl>
                                          <p:spTgt spid="184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2000" fill="hold"/>
                                        <p:tgtEl>
                                          <p:spTgt spid="184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2000" fill="hold"/>
                                        <p:tgtEl>
                                          <p:spTgt spid="184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184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184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184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184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9" grpId="0"/>
      <p:bldP spid="18440" grpId="0"/>
      <p:bldP spid="18441" grpId="0"/>
      <p:bldP spid="18442" grpId="0"/>
      <p:bldP spid="18443" grpId="0"/>
      <p:bldP spid="18444" grpId="0"/>
      <p:bldP spid="18445" grpId="0"/>
      <p:bldP spid="18446" grpId="0"/>
      <p:bldP spid="18447" grpId="0"/>
      <p:bldP spid="18448" grpId="0"/>
      <p:bldP spid="18449" grpId="0"/>
      <p:bldP spid="18450" grpId="0"/>
      <p:bldP spid="18451" grpId="0"/>
      <p:bldP spid="18452" grpId="0"/>
      <p:bldP spid="18453" grpId="0"/>
      <p:bldP spid="18454" grpId="0" animBg="1"/>
      <p:bldP spid="18455" grpId="0" animBg="1"/>
      <p:bldP spid="18456" grpId="0"/>
      <p:bldP spid="18457" grpId="0"/>
      <p:bldP spid="18458" grpId="0"/>
      <p:bldP spid="18459" grpId="0"/>
      <p:bldP spid="18460" grpId="0"/>
      <p:bldP spid="18461" grpId="0"/>
      <p:bldP spid="18462" grpId="0"/>
      <p:bldP spid="18463" grpId="0"/>
      <p:bldP spid="18464" grpId="0"/>
      <p:bldP spid="18465" grpId="0"/>
      <p:bldP spid="18466" grpId="0"/>
      <p:bldP spid="18467" grpId="0"/>
      <p:bldP spid="18468" grpId="0"/>
      <p:bldP spid="18469" grpId="0"/>
      <p:bldP spid="18470" grpId="0"/>
      <p:bldP spid="18471" grpId="0"/>
      <p:bldP spid="18472" grpId="0"/>
      <p:bldP spid="18473" grpId="0"/>
      <p:bldP spid="18474" grpId="0"/>
      <p:bldP spid="18475" grpId="0"/>
      <p:bldP spid="18476" grpId="0"/>
      <p:bldP spid="18477" grpId="0"/>
      <p:bldP spid="18478" grpId="0"/>
      <p:bldP spid="18479" grpId="0"/>
      <p:bldP spid="1848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622F65C7-74F2-41D3-AC57-2553575FDBE3}" type="slidenum">
              <a:rPr lang="en-US" altLang="zh-CN" sz="1200" b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16</a:t>
            </a:fld>
            <a:endParaRPr lang="en-US" altLang="zh-CN" sz="1200" b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9459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B04575DB-8FCE-479C-AA16-962492638670}" type="slidenum">
              <a:rPr lang="en-US" altLang="zh-CN" sz="1200" b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16</a:t>
            </a:fld>
            <a:endParaRPr lang="en-US" altLang="zh-CN" sz="1200" b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 dirty="0">
                <a:ea typeface="宋体" panose="02010600030101010101" pitchFamily="2" charset="-122"/>
              </a:rPr>
              <a:t>考虑合取范式</a:t>
            </a:r>
            <a:r>
              <a:rPr lang="en-GB" altLang="en-US" sz="2800" dirty="0">
                <a:ea typeface="宋体" panose="02010600030101010101" pitchFamily="2" charset="-122"/>
              </a:rPr>
              <a:t> </a:t>
            </a:r>
            <a:r>
              <a:rPr lang="en-US" altLang="zh-CN" sz="2800" i="1" dirty="0"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ea typeface="宋体" panose="02010600030101010101" pitchFamily="2" charset="-122"/>
              </a:rPr>
              <a:t>1</a:t>
            </a: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  </a:t>
            </a:r>
            <a:r>
              <a:rPr lang="en-US" altLang="zh-CN" sz="2800" i="1" dirty="0"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ea typeface="宋体" panose="02010600030101010101" pitchFamily="2" charset="-122"/>
              </a:rPr>
              <a:t>2 </a:t>
            </a: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  </a:t>
            </a:r>
            <a:r>
              <a:rPr lang="en-US" altLang="zh-CN" sz="2800" i="1" dirty="0">
                <a:ea typeface="宋体" panose="02010600030101010101" pitchFamily="2" charset="-122"/>
              </a:rPr>
              <a:t>p</a:t>
            </a:r>
            <a:r>
              <a:rPr lang="en-US" altLang="zh-CN" sz="2800" i="1" baseline="-25000" dirty="0">
                <a:ea typeface="宋体" panose="02010600030101010101" pitchFamily="2" charset="-122"/>
              </a:rPr>
              <a:t>3</a:t>
            </a:r>
            <a:r>
              <a:rPr lang="zh-CN" altLang="en-US" sz="2800" dirty="0">
                <a:ea typeface="宋体" panose="02010600030101010101" pitchFamily="2" charset="-122"/>
              </a:rPr>
              <a:t>的</a:t>
            </a:r>
            <a:br>
              <a:rPr lang="en-US" altLang="zh-CN" sz="2800" i="1" dirty="0">
                <a:ea typeface="宋体" panose="02010600030101010101" pitchFamily="2" charset="-122"/>
              </a:rPr>
            </a:br>
            <a:r>
              <a:rPr lang="en-US" altLang="zh-CN" sz="2800" dirty="0" err="1">
                <a:ea typeface="宋体" panose="02010600030101010101" pitchFamily="2" charset="-122"/>
              </a:rPr>
              <a:t>真值表中有多少行</a:t>
            </a:r>
            <a:r>
              <a:rPr lang="en-US" altLang="zh-CN" sz="2800" dirty="0">
                <a:ea typeface="宋体" panose="02010600030101010101" pitchFamily="2" charset="-122"/>
              </a:rPr>
              <a:t>？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800" dirty="0" err="1">
                <a:ea typeface="宋体" panose="02010600030101010101" pitchFamily="2" charset="-122"/>
              </a:rPr>
              <a:t>考虑</a:t>
            </a:r>
            <a:r>
              <a:rPr lang="en-US" altLang="zh-CN" sz="2800" i="1" dirty="0" err="1">
                <a:ea typeface="宋体" panose="02010600030101010101" pitchFamily="2" charset="-122"/>
              </a:rPr>
              <a:t>n</a:t>
            </a:r>
            <a:r>
              <a:rPr lang="en-US" altLang="zh-CN" sz="2800" i="1" dirty="0">
                <a:ea typeface="宋体" panose="02010600030101010101" pitchFamily="2" charset="-122"/>
              </a:rPr>
              <a:t> </a:t>
            </a:r>
            <a:r>
              <a:rPr lang="en-US" altLang="zh-CN" sz="2800" i="1" dirty="0" err="1">
                <a:ea typeface="宋体" panose="02010600030101010101" pitchFamily="2" charset="-122"/>
              </a:rPr>
              <a:t>个</a:t>
            </a:r>
            <a:r>
              <a:rPr lang="en-US" altLang="zh-CN" sz="2800" dirty="0" err="1">
                <a:ea typeface="宋体" panose="02010600030101010101" pitchFamily="2" charset="-122"/>
              </a:rPr>
              <a:t>命题</a:t>
            </a:r>
            <a:r>
              <a:rPr lang="zh-CN" altLang="en-US" sz="2800" dirty="0">
                <a:ea typeface="宋体" panose="02010600030101010101" pitchFamily="2" charset="-122"/>
              </a:rPr>
              <a:t>的合取范式</a:t>
            </a:r>
            <a:r>
              <a:rPr lang="en-US" altLang="zh-CN" sz="2800" i="1" dirty="0"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ea typeface="宋体" panose="02010600030101010101" pitchFamily="2" charset="-122"/>
              </a:rPr>
              <a:t>1</a:t>
            </a: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  </a:t>
            </a:r>
            <a:r>
              <a:rPr lang="en-US" altLang="zh-CN" sz="2800" i="1" dirty="0">
                <a:ea typeface="宋体" panose="02010600030101010101" pitchFamily="2" charset="-122"/>
              </a:rPr>
              <a:t>p</a:t>
            </a:r>
            <a:r>
              <a:rPr lang="en-US" altLang="zh-CN" sz="2800" baseline="-25000" dirty="0">
                <a:ea typeface="宋体" panose="02010600030101010101" pitchFamily="2" charset="-122"/>
              </a:rPr>
              <a:t>2 </a:t>
            </a: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  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..  </a:t>
            </a:r>
            <a:r>
              <a:rPr lang="en-US" altLang="zh-CN" sz="2800" i="1" dirty="0" err="1">
                <a:ea typeface="宋体" panose="02010600030101010101" pitchFamily="2" charset="-122"/>
              </a:rPr>
              <a:t>p</a:t>
            </a:r>
            <a:r>
              <a:rPr lang="en-US" altLang="zh-CN" sz="2800" i="1" baseline="-25000" dirty="0" err="1">
                <a:ea typeface="宋体" panose="02010600030101010101" pitchFamily="2" charset="-122"/>
              </a:rPr>
              <a:t>n</a:t>
            </a:r>
            <a:r>
              <a:rPr lang="en-US" altLang="zh-CN" sz="2800" dirty="0">
                <a:ea typeface="宋体" panose="02010600030101010101" pitchFamily="2" charset="-122"/>
              </a:rPr>
              <a:t> </a:t>
            </a:r>
            <a:r>
              <a:rPr lang="zh-CN" altLang="en-US" sz="2800" dirty="0">
                <a:ea typeface="宋体" panose="02010600030101010101" pitchFamily="2" charset="-122"/>
              </a:rPr>
              <a:t>，</a:t>
            </a:r>
            <a:br>
              <a:rPr lang="en-US" altLang="zh-CN" sz="2800" dirty="0">
                <a:ea typeface="宋体" panose="02010600030101010101" pitchFamily="2" charset="-122"/>
              </a:rPr>
            </a:br>
            <a:r>
              <a:rPr lang="en-US" altLang="zh-CN" sz="2800" dirty="0" err="1">
                <a:ea typeface="宋体" panose="02010600030101010101" pitchFamily="2" charset="-122"/>
              </a:rPr>
              <a:t>它的真值表有多少行</a:t>
            </a:r>
            <a:r>
              <a:rPr lang="en-US" altLang="zh-CN" sz="2800" dirty="0">
                <a:ea typeface="宋体" panose="02010600030101010101" pitchFamily="2" charset="-122"/>
              </a:rPr>
              <a:t>？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endParaRPr lang="en-US" altLang="zh-CN" sz="2800" dirty="0">
              <a:ea typeface="宋体" panose="02010600030101010101" pitchFamily="2" charset="-122"/>
            </a:endParaRP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800" dirty="0" err="1">
                <a:solidFill>
                  <a:srgbClr val="000000"/>
                </a:solidFill>
                <a:ea typeface="宋体" panose="02010600030101010101" pitchFamily="2" charset="-122"/>
              </a:rPr>
              <a:t>解释为什么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¬ </a:t>
            </a:r>
            <a:r>
              <a:rPr lang="en-US" altLang="zh-CN" sz="2800" dirty="0">
                <a:solidFill>
                  <a:srgbClr val="000000"/>
                </a:solidFill>
                <a:ea typeface="宋体" panose="02010600030101010101" pitchFamily="2" charset="-122"/>
              </a:rPr>
              <a:t>和 </a:t>
            </a:r>
            <a:r>
              <a:rPr lang="en-US" altLang="zh-CN" sz="28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sz="2800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一起足以表达</a:t>
            </a:r>
            <a:r>
              <a:rPr lang="en-US" altLang="zh-CN" sz="2800" i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任何</a:t>
            </a:r>
            <a:r>
              <a:rPr lang="en-US" altLang="zh-CN" sz="2800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布尔真值表</a:t>
            </a:r>
            <a:endParaRPr lang="en-US" altLang="zh-CN" sz="2800" dirty="0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9461" name="Rectangle 3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dirty="0" err="1">
                <a:ea typeface="宋体" panose="02010600030101010101" pitchFamily="2" charset="-122"/>
              </a:rPr>
              <a:t>思考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FDC81DBC-9273-451B-95ED-F860E4EC28AA}" type="slidenum">
              <a:rPr lang="en-US" altLang="zh-CN" sz="1200" b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17</a:t>
            </a:fld>
            <a:endParaRPr lang="en-US" altLang="zh-CN" sz="1200" b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1507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BEFA2CAE-45D9-407A-BC4E-12CF92B5EF45}" type="slidenum">
              <a:rPr lang="en-US" altLang="zh-CN" sz="1200" b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17</a:t>
            </a:fld>
            <a:endParaRPr lang="en-US" altLang="zh-CN" sz="1200" b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1508" name="Rectangle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GB" altLang="en-US" sz="2400" dirty="0" err="1">
                <a:ea typeface="宋体" panose="02010600030101010101" pitchFamily="2" charset="-122"/>
              </a:rPr>
              <a:t>考虑</a:t>
            </a:r>
            <a:r>
              <a:rPr lang="zh-CN" altLang="en-US" sz="2400" dirty="0">
                <a:ea typeface="宋体" panose="02010600030101010101" pitchFamily="2" charset="-122"/>
              </a:rPr>
              <a:t>合取范式</a:t>
            </a:r>
            <a:r>
              <a:rPr lang="en-GB" altLang="en-US" sz="2400" dirty="0">
                <a:ea typeface="宋体" panose="02010600030101010101" pitchFamily="2" charset="-122"/>
              </a:rPr>
              <a:t> </a:t>
            </a:r>
            <a:r>
              <a:rPr lang="en-US" altLang="zh-CN" sz="2400" i="1" dirty="0">
                <a:ea typeface="宋体" panose="02010600030101010101" pitchFamily="2" charset="-122"/>
              </a:rPr>
              <a:t>p</a:t>
            </a:r>
            <a:r>
              <a:rPr lang="en-US" altLang="zh-CN" sz="2400" baseline="-25000" dirty="0">
                <a:ea typeface="宋体" panose="02010600030101010101" pitchFamily="2" charset="-122"/>
              </a:rPr>
              <a:t>1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  </a:t>
            </a:r>
            <a:r>
              <a:rPr lang="en-US" altLang="zh-CN" sz="2400" i="1" dirty="0">
                <a:ea typeface="宋体" panose="02010600030101010101" pitchFamily="2" charset="-122"/>
              </a:rPr>
              <a:t>p</a:t>
            </a:r>
            <a:r>
              <a:rPr lang="en-US" altLang="zh-CN" sz="2400" baseline="-25000" dirty="0">
                <a:ea typeface="宋体" panose="02010600030101010101" pitchFamily="2" charset="-122"/>
              </a:rPr>
              <a:t>2 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  </a:t>
            </a:r>
            <a:r>
              <a:rPr lang="en-US" altLang="zh-CN" sz="2400" i="1" dirty="0">
                <a:ea typeface="宋体" panose="02010600030101010101" pitchFamily="2" charset="-122"/>
              </a:rPr>
              <a:t>p</a:t>
            </a:r>
            <a:r>
              <a:rPr lang="en-US" altLang="zh-CN" sz="2400" i="1" baseline="-25000" dirty="0">
                <a:ea typeface="宋体" panose="02010600030101010101" pitchFamily="2" charset="-122"/>
              </a:rPr>
              <a:t>3</a:t>
            </a:r>
            <a:r>
              <a:rPr lang="en-US" altLang="zh-CN" sz="2400" dirty="0">
                <a:ea typeface="宋体" panose="02010600030101010101" pitchFamily="2" charset="-122"/>
              </a:rPr>
              <a:t>的真值表有多少行？  8</a:t>
            </a:r>
            <a:br>
              <a:rPr lang="en-US" altLang="zh-CN" sz="2400" dirty="0">
                <a:ea typeface="宋体" panose="02010600030101010101" pitchFamily="2" charset="-122"/>
              </a:rPr>
            </a:br>
            <a:r>
              <a:rPr lang="en-US" altLang="zh-CN" sz="2400" i="1" dirty="0">
                <a:ea typeface="宋体" panose="02010600030101010101" pitchFamily="2" charset="-122"/>
              </a:rPr>
              <a:t>p</a:t>
            </a:r>
            <a:r>
              <a:rPr lang="en-US" altLang="zh-CN" sz="2400" baseline="-25000" dirty="0">
                <a:ea typeface="宋体" panose="02010600030101010101" pitchFamily="2" charset="-122"/>
              </a:rPr>
              <a:t>1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  </a:t>
            </a:r>
            <a:r>
              <a:rPr lang="en-US" altLang="zh-CN" sz="2400" i="1" dirty="0">
                <a:ea typeface="宋体" panose="02010600030101010101" pitchFamily="2" charset="-122"/>
              </a:rPr>
              <a:t>p</a:t>
            </a:r>
            <a:r>
              <a:rPr lang="en-US" altLang="zh-CN" sz="2400" baseline="-25000" dirty="0">
                <a:ea typeface="宋体" panose="02010600030101010101" pitchFamily="2" charset="-122"/>
              </a:rPr>
              <a:t>2 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  </a:t>
            </a:r>
            <a:r>
              <a:rPr lang="en-US" altLang="zh-CN" sz="2400" i="1" dirty="0">
                <a:ea typeface="宋体" panose="02010600030101010101" pitchFamily="2" charset="-122"/>
              </a:rPr>
              <a:t>p </a:t>
            </a:r>
            <a:r>
              <a:rPr lang="en-US" altLang="zh-CN" sz="2400" i="1" baseline="-25000" dirty="0">
                <a:ea typeface="宋体" panose="02010600030101010101" pitchFamily="2" charset="-122"/>
              </a:rPr>
              <a:t>3</a:t>
            </a:r>
            <a:br>
              <a:rPr lang="en-US" altLang="zh-CN" sz="2400" dirty="0">
                <a:ea typeface="宋体" panose="02010600030101010101" pitchFamily="2" charset="-122"/>
              </a:rPr>
            </a:br>
            <a:r>
              <a:rPr lang="en-GB" altLang="en-US" sz="2400" dirty="0">
                <a:ea typeface="宋体" panose="02010600030101010101" pitchFamily="2" charset="-122"/>
              </a:rPr>
              <a:t>1      1       1</a:t>
            </a:r>
            <a:br>
              <a:rPr lang="en-GB" altLang="en-US" sz="2400" dirty="0">
                <a:ea typeface="宋体" panose="02010600030101010101" pitchFamily="2" charset="-122"/>
              </a:rPr>
            </a:br>
            <a:r>
              <a:rPr lang="en-GB" altLang="en-US" sz="2400" dirty="0">
                <a:ea typeface="宋体" panose="02010600030101010101" pitchFamily="2" charset="-122"/>
              </a:rPr>
              <a:t>1      1       0</a:t>
            </a:r>
            <a:br>
              <a:rPr lang="en-GB" altLang="en-US" sz="2400" dirty="0">
                <a:ea typeface="宋体" panose="02010600030101010101" pitchFamily="2" charset="-122"/>
              </a:rPr>
            </a:br>
            <a:r>
              <a:rPr lang="en-GB" altLang="en-US" sz="2400" dirty="0">
                <a:ea typeface="宋体" panose="02010600030101010101" pitchFamily="2" charset="-122"/>
              </a:rPr>
              <a:t>1      0       1</a:t>
            </a:r>
            <a:br>
              <a:rPr lang="en-GB" altLang="en-US" sz="2400" dirty="0">
                <a:ea typeface="宋体" panose="02010600030101010101" pitchFamily="2" charset="-122"/>
              </a:rPr>
            </a:br>
            <a:r>
              <a:rPr lang="en-GB" altLang="en-US" sz="2400" dirty="0">
                <a:ea typeface="宋体" panose="02010600030101010101" pitchFamily="2" charset="-122"/>
              </a:rPr>
              <a:t>1      0       0</a:t>
            </a:r>
            <a:br>
              <a:rPr lang="en-GB" altLang="en-US" sz="2400" dirty="0">
                <a:ea typeface="宋体" panose="02010600030101010101" pitchFamily="2" charset="-122"/>
              </a:rPr>
            </a:br>
            <a:r>
              <a:rPr lang="en-GB" altLang="en-US" sz="2400" dirty="0">
                <a:ea typeface="宋体" panose="02010600030101010101" pitchFamily="2" charset="-122"/>
              </a:rPr>
              <a:t>0      1       1</a:t>
            </a:r>
            <a:br>
              <a:rPr lang="en-GB" altLang="en-US" sz="2400" dirty="0">
                <a:ea typeface="宋体" panose="02010600030101010101" pitchFamily="2" charset="-122"/>
              </a:rPr>
            </a:br>
            <a:r>
              <a:rPr lang="en-GB" altLang="en-US" sz="2400" dirty="0">
                <a:ea typeface="宋体" panose="02010600030101010101" pitchFamily="2" charset="-122"/>
              </a:rPr>
              <a:t>0      1       0</a:t>
            </a:r>
            <a:br>
              <a:rPr lang="en-GB" altLang="en-US" sz="2400" dirty="0">
                <a:ea typeface="宋体" panose="02010600030101010101" pitchFamily="2" charset="-122"/>
              </a:rPr>
            </a:br>
            <a:r>
              <a:rPr lang="en-GB" altLang="en-US" sz="2400" dirty="0">
                <a:ea typeface="宋体" panose="02010600030101010101" pitchFamily="2" charset="-122"/>
              </a:rPr>
              <a:t>0      0       1</a:t>
            </a:r>
            <a:br>
              <a:rPr lang="en-GB" altLang="en-US" sz="2400" dirty="0">
                <a:ea typeface="宋体" panose="02010600030101010101" pitchFamily="2" charset="-122"/>
              </a:rPr>
            </a:br>
            <a:r>
              <a:rPr lang="en-GB" altLang="en-US" sz="2400" dirty="0">
                <a:ea typeface="宋体" panose="02010600030101010101" pitchFamily="2" charset="-122"/>
              </a:rPr>
              <a:t>0      0       0</a:t>
            </a:r>
            <a:br>
              <a:rPr lang="en-GB" altLang="en-US" sz="2400" dirty="0">
                <a:ea typeface="宋体" panose="02010600030101010101" pitchFamily="2" charset="-122"/>
              </a:rPr>
            </a:br>
            <a:endParaRPr lang="en-US" altLang="zh-CN" sz="2400" dirty="0">
              <a:ea typeface="宋体" panose="02010600030101010101" pitchFamily="2" charset="-122"/>
            </a:endParaRPr>
          </a:p>
        </p:txBody>
      </p:sp>
      <p:sp>
        <p:nvSpPr>
          <p:cNvPr id="21509" name="Rectangle 3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供您思考的问题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CCFDA72-D4FD-4D2F-8E4F-61135202FED3}" type="slidenum">
              <a:rPr lang="en-US" altLang="zh-CN" sz="1200" b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18</a:t>
            </a:fld>
            <a:endParaRPr lang="en-US" altLang="zh-CN" sz="1200" b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3555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D1B13CDE-C2E5-46AB-8539-19A463297B7D}" type="slidenum">
              <a:rPr lang="en-US" altLang="zh-CN" sz="1200" b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18</a:t>
            </a:fld>
            <a:endParaRPr lang="en-US" altLang="zh-CN" sz="1200" b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3556" name="Rectangle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2.  考虑 </a:t>
            </a:r>
            <a:r>
              <a:rPr lang="en-US" altLang="zh-CN" i="1">
                <a:ea typeface="宋体" panose="02010600030101010101" pitchFamily="2" charset="-122"/>
              </a:rPr>
              <a:t>p</a:t>
            </a:r>
            <a:r>
              <a:rPr lang="en-US" altLang="zh-CN" baseline="-25000">
                <a:ea typeface="宋体" panose="02010600030101010101" pitchFamily="2" charset="-122"/>
              </a:rPr>
              <a:t>1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 </a:t>
            </a:r>
            <a:r>
              <a:rPr lang="en-US" altLang="zh-CN" i="1">
                <a:ea typeface="宋体" panose="02010600030101010101" pitchFamily="2" charset="-122"/>
              </a:rPr>
              <a:t>p</a:t>
            </a:r>
            <a:r>
              <a:rPr lang="en-US" altLang="zh-CN" baseline="-25000">
                <a:ea typeface="宋体" panose="02010600030101010101" pitchFamily="2" charset="-122"/>
              </a:rPr>
              <a:t>2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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  <a:r>
              <a:rPr lang="en-US" altLang="zh-CN" i="1">
                <a:ea typeface="宋体" panose="02010600030101010101" pitchFamily="2" charset="-122"/>
              </a:rPr>
              <a:t>.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. </a:t>
            </a:r>
            <a:r>
              <a:rPr lang="en-US" altLang="zh-CN">
                <a:ea typeface="宋体" panose="02010600030101010101" pitchFamily="2" charset="-122"/>
              </a:rPr>
              <a:t> p </a:t>
            </a:r>
            <a:r>
              <a:rPr lang="en-US" altLang="zh-CN" i="1" baseline="-25000">
                <a:ea typeface="宋体" panose="02010600030101010101" pitchFamily="2" charset="-122"/>
              </a:rPr>
              <a:t>n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它的真值表有多少行？ 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真值表中有多少行？</a:t>
            </a:r>
            <a:br>
              <a:rPr lang="en-US" altLang="zh-CN">
                <a:ea typeface="宋体" panose="02010600030101010101" pitchFamily="2" charset="-122"/>
              </a:rPr>
            </a:b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2.2.2.  .2 (n 个因子)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因此，2</a:t>
            </a:r>
            <a:r>
              <a:rPr lang="en-US" altLang="zh-CN" baseline="30000">
                <a:ea typeface="宋体" panose="02010600030101010101" pitchFamily="2" charset="-122"/>
              </a:rPr>
              <a:t>n   </a:t>
            </a:r>
            <a:r>
              <a:rPr lang="en-US" altLang="zh-CN">
                <a:ea typeface="宋体" panose="02010600030101010101" pitchFamily="2" charset="-122"/>
              </a:rPr>
              <a:t> （这是指数增长！）。</a:t>
            </a:r>
          </a:p>
        </p:txBody>
      </p:sp>
      <p:sp>
        <p:nvSpPr>
          <p:cNvPr id="23557" name="Rectangle 3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供您思考的问题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F79ADBF6-D10F-4A23-B640-579C3FCDC0D4}" type="slidenum">
              <a:rPr lang="en-US" altLang="zh-CN" sz="1200" b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19</a:t>
            </a:fld>
            <a:endParaRPr lang="en-US" altLang="zh-CN" sz="1200" b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5603" name="灯片编号占位符 6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5D4C0979-E103-4E89-8CF5-8489F9703613}" type="slidenum">
              <a:rPr lang="en-US" altLang="zh-CN" sz="1200" b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19</a:t>
            </a:fld>
            <a:endParaRPr lang="en-US" altLang="zh-CN" sz="1200" b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560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德摩根定律</a:t>
            </a:r>
          </a:p>
        </p:txBody>
      </p:sp>
      <p:sp>
        <p:nvSpPr>
          <p:cNvPr id="25605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57200" y="1419225"/>
            <a:ext cx="8305800" cy="1857375"/>
          </a:xfrm>
        </p:spPr>
        <p:txBody>
          <a:bodyPr/>
          <a:lstStyle/>
          <a:p>
            <a:pPr eaLnBrk="1" hangingPunct="1"/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(</a:t>
            </a:r>
            <a:r>
              <a:rPr lang="en-US" altLang="zh-CN" sz="1800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p1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p2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...  </a:t>
            </a:r>
            <a:r>
              <a:rPr lang="en-US" altLang="zh-CN" sz="1800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pn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)= </a:t>
            </a:r>
            <a:r>
              <a:rPr lang="en-US" altLang="zh-CN" sz="1800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p1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 </a:t>
            </a:r>
            <a:r>
              <a:rPr lang="en-US" altLang="zh-CN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p2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..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.   </a:t>
            </a:r>
            <a:r>
              <a:rPr lang="en-US" altLang="zh-CN" sz="1800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pn</a:t>
            </a:r>
            <a:endParaRPr lang="en-US" altLang="zh-CN" i="1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(</a:t>
            </a:r>
            <a:r>
              <a:rPr lang="en-US" altLang="zh-CN" sz="1800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p1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p2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...  </a:t>
            </a:r>
            <a:r>
              <a:rPr lang="en-US" altLang="zh-CN" sz="1800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pn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)= </a:t>
            </a:r>
            <a:r>
              <a:rPr lang="en-US" altLang="zh-CN" sz="1800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p1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 </a:t>
            </a:r>
            <a:r>
              <a:rPr lang="en-US" altLang="zh-CN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p2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..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.   </a:t>
            </a:r>
            <a:r>
              <a:rPr lang="en-US" altLang="zh-CN" sz="1800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pn</a:t>
            </a:r>
            <a:endParaRPr lang="en-US" altLang="zh-CN" i="1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/>
            <a:endParaRPr lang="en-US" altLang="zh-CN" sz="1600" i="1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pic>
        <p:nvPicPr>
          <p:cNvPr id="25606" name="Picture 4" descr="DeMorga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3733800"/>
            <a:ext cx="1127125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7" name="Text Box 5"/>
          <p:cNvSpPr txBox="1">
            <a:spLocks noChangeArrowheads="1"/>
          </p:cNvSpPr>
          <p:nvPr/>
        </p:nvSpPr>
        <p:spPr bwMode="auto">
          <a:xfrm>
            <a:off x="7178675" y="5105400"/>
            <a:ext cx="1327150" cy="91598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1800" b="0" dirty="0" err="1">
                <a:latin typeface="Times New Roman" panose="02020603050405020304" pitchFamily="18" charset="0"/>
              </a:rPr>
              <a:t>奥古斯</a:t>
            </a:r>
            <a:r>
              <a:rPr lang="zh-CN" altLang="en-US" sz="1800" b="0" dirty="0">
                <a:latin typeface="Times New Roman" panose="02020603050405020304" pitchFamily="18" charset="0"/>
              </a:rPr>
              <a:t>特</a:t>
            </a:r>
            <a:br>
              <a:rPr lang="en-US" altLang="zh-CN" sz="1800" b="0" dirty="0">
                <a:latin typeface="Times New Roman" panose="02020603050405020304" pitchFamily="18" charset="0"/>
              </a:rPr>
            </a:br>
            <a:r>
              <a:rPr lang="en-US" altLang="zh-CN" sz="1800" b="0" dirty="0">
                <a:latin typeface="Times New Roman" panose="02020603050405020304" pitchFamily="18" charset="0"/>
              </a:rPr>
              <a:t>德 </a:t>
            </a:r>
            <a:r>
              <a:rPr lang="en-US" altLang="zh-CN" sz="1800" b="0" dirty="0" err="1">
                <a:latin typeface="Times New Roman" panose="02020603050405020304" pitchFamily="18" charset="0"/>
              </a:rPr>
              <a:t>摩根</a:t>
            </a:r>
            <a:br>
              <a:rPr lang="en-US" altLang="zh-CN" sz="1800" b="0" dirty="0">
                <a:latin typeface="Times New Roman" panose="02020603050405020304" pitchFamily="18" charset="0"/>
              </a:rPr>
            </a:br>
            <a:r>
              <a:rPr lang="en-US" altLang="zh-CN" sz="1800" b="0" dirty="0">
                <a:latin typeface="Times New Roman" panose="02020603050405020304" pitchFamily="18" charset="0"/>
              </a:rPr>
              <a:t>(1806-1871)</a:t>
            </a:r>
          </a:p>
        </p:txBody>
      </p:sp>
      <p:sp>
        <p:nvSpPr>
          <p:cNvPr id="25608" name="Rectangle 13"/>
          <p:cNvSpPr>
            <a:spLocks noChangeArrowheads="1"/>
          </p:cNvSpPr>
          <p:nvPr/>
        </p:nvSpPr>
        <p:spPr bwMode="auto">
          <a:xfrm>
            <a:off x="457200" y="3962400"/>
            <a:ext cx="4419600" cy="185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b="0">
                <a:solidFill>
                  <a:srgbClr val="000000"/>
                </a:solidFill>
                <a:sym typeface="Symbol" panose="05050102010706020507" pitchFamily="18" charset="2"/>
              </a:rPr>
              <a:t>(</a:t>
            </a:r>
            <a:r>
              <a:rPr lang="en-US" altLang="zh-CN" b="0" i="1">
                <a:solidFill>
                  <a:srgbClr val="000000"/>
                </a:solidFill>
                <a:sym typeface="Symbol" panose="05050102010706020507" pitchFamily="18" charset="2"/>
              </a:rPr>
              <a:t>p </a:t>
            </a:r>
            <a:r>
              <a:rPr lang="en-US" altLang="zh-CN">
                <a:solidFill>
                  <a:srgbClr val="000000"/>
                </a:solidFill>
                <a:sym typeface="Symbol" panose="05050102010706020507" pitchFamily="18" charset="2"/>
              </a:rPr>
              <a:t> </a:t>
            </a:r>
            <a:r>
              <a:rPr lang="en-US" altLang="zh-CN" b="0" i="1">
                <a:solidFill>
                  <a:srgbClr val="000000"/>
                </a:solidFill>
                <a:sym typeface="Symbol" panose="05050102010706020507" pitchFamily="18" charset="2"/>
              </a:rPr>
              <a:t>q</a:t>
            </a:r>
            <a:r>
              <a:rPr lang="en-US" altLang="zh-CN" b="0">
                <a:solidFill>
                  <a:srgbClr val="000000"/>
                </a:solidFill>
                <a:sym typeface="Symbol" panose="05050102010706020507" pitchFamily="18" charset="2"/>
              </a:rPr>
              <a:t>)=  </a:t>
            </a:r>
            <a:r>
              <a:rPr lang="en-US" altLang="zh-CN" b="0" i="1">
                <a:solidFill>
                  <a:srgbClr val="000000"/>
                </a:solidFill>
                <a:sym typeface="Symbol" panose="05050102010706020507" pitchFamily="18" charset="2"/>
              </a:rPr>
              <a:t>p </a:t>
            </a:r>
            <a:r>
              <a:rPr lang="en-US" altLang="zh-CN">
                <a:solidFill>
                  <a:srgbClr val="000000"/>
                </a:solidFill>
                <a:sym typeface="Symbol" panose="05050102010706020507" pitchFamily="18" charset="2"/>
              </a:rPr>
              <a:t> </a:t>
            </a:r>
            <a:r>
              <a:rPr lang="en-US" altLang="zh-CN" b="0">
                <a:solidFill>
                  <a:srgbClr val="000000"/>
                </a:solidFill>
                <a:sym typeface="Symbol" panose="05050102010706020507" pitchFamily="18" charset="2"/>
              </a:rPr>
              <a:t> </a:t>
            </a:r>
            <a:r>
              <a:rPr lang="en-US" altLang="zh-CN" b="0" i="1">
                <a:solidFill>
                  <a:srgbClr val="000000"/>
                </a:solidFill>
                <a:sym typeface="Symbol" panose="05050102010706020507" pitchFamily="18" charset="2"/>
              </a:rPr>
              <a:t>q</a:t>
            </a:r>
          </a:p>
          <a:p>
            <a:pPr eaLnBrk="1" hangingPunct="1">
              <a:buFontTx/>
              <a:buNone/>
            </a:pPr>
            <a:endParaRPr lang="en-US" altLang="zh-CN" b="0">
              <a:solidFill>
                <a:srgbClr val="000000"/>
              </a:solidFill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b="0">
                <a:solidFill>
                  <a:srgbClr val="000000"/>
                </a:solidFill>
                <a:sym typeface="Symbol" panose="05050102010706020507" pitchFamily="18" charset="2"/>
              </a:rPr>
              <a:t>(</a:t>
            </a:r>
            <a:r>
              <a:rPr lang="en-US" altLang="zh-CN" b="0" i="1">
                <a:solidFill>
                  <a:srgbClr val="000000"/>
                </a:solidFill>
                <a:sym typeface="Symbol" panose="05050102010706020507" pitchFamily="18" charset="2"/>
              </a:rPr>
              <a:t>p </a:t>
            </a:r>
            <a:r>
              <a:rPr lang="en-US" altLang="zh-CN">
                <a:solidFill>
                  <a:srgbClr val="000000"/>
                </a:solidFill>
                <a:sym typeface="Symbol" panose="05050102010706020507" pitchFamily="18" charset="2"/>
              </a:rPr>
              <a:t> </a:t>
            </a:r>
            <a:r>
              <a:rPr lang="en-US" altLang="zh-CN" b="0" i="1">
                <a:solidFill>
                  <a:srgbClr val="000000"/>
                </a:solidFill>
                <a:sym typeface="Symbol" panose="05050102010706020507" pitchFamily="18" charset="2"/>
              </a:rPr>
              <a:t>q</a:t>
            </a:r>
            <a:r>
              <a:rPr lang="en-US" altLang="zh-CN" b="0">
                <a:solidFill>
                  <a:srgbClr val="000000"/>
                </a:solidFill>
                <a:sym typeface="Symbol" panose="05050102010706020507" pitchFamily="18" charset="2"/>
              </a:rPr>
              <a:t>)=  </a:t>
            </a:r>
            <a:r>
              <a:rPr lang="en-US" altLang="zh-CN" b="0" i="1">
                <a:solidFill>
                  <a:srgbClr val="000000"/>
                </a:solidFill>
                <a:sym typeface="Symbol" panose="05050102010706020507" pitchFamily="18" charset="2"/>
              </a:rPr>
              <a:t>p </a:t>
            </a:r>
            <a:r>
              <a:rPr lang="en-US" altLang="zh-CN">
                <a:solidFill>
                  <a:srgbClr val="000000"/>
                </a:solidFill>
                <a:sym typeface="Symbol" panose="05050102010706020507" pitchFamily="18" charset="2"/>
              </a:rPr>
              <a:t> </a:t>
            </a:r>
            <a:r>
              <a:rPr lang="en-US" altLang="zh-CN" b="0">
                <a:solidFill>
                  <a:srgbClr val="000000"/>
                </a:solidFill>
                <a:sym typeface="Symbol" panose="05050102010706020507" pitchFamily="18" charset="2"/>
              </a:rPr>
              <a:t> </a:t>
            </a:r>
            <a:r>
              <a:rPr lang="en-US" altLang="zh-CN" b="0" i="1">
                <a:solidFill>
                  <a:srgbClr val="000000"/>
                </a:solidFill>
                <a:sym typeface="Symbol" panose="05050102010706020507" pitchFamily="18" charset="2"/>
              </a:rPr>
              <a:t>q</a:t>
            </a:r>
          </a:p>
          <a:p>
            <a:pPr eaLnBrk="1" hangingPunct="1"/>
            <a:endParaRPr lang="en-US" altLang="zh-CN" sz="1600" b="0" i="1">
              <a:solidFill>
                <a:srgbClr val="000000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248BF1D5-69C6-4AA4-BABF-ACF5E4CBAEC4}" type="slidenum">
              <a:rPr lang="en-US" altLang="zh-CN" sz="1200" b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20</a:t>
            </a:fld>
            <a:endParaRPr lang="en-US" altLang="zh-CN" sz="1200" b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6627" name="灯片编号占位符 6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03266C58-5949-41C1-8069-2A858BFF13C5}" type="slidenum">
              <a:rPr lang="en-US" altLang="zh-CN" sz="1200" b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20</a:t>
            </a:fld>
            <a:endParaRPr lang="en-US" altLang="zh-CN" sz="1200" b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6628" name="Rectangle 8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德摩根定律真值表</a:t>
            </a:r>
          </a:p>
        </p:txBody>
      </p:sp>
      <p:graphicFrame>
        <p:nvGraphicFramePr>
          <p:cNvPr id="26629" name="Object 4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457200" y="2540000"/>
          <a:ext cx="4038600" cy="263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040505" imgH="2639695" progId="Word.Document.8">
                  <p:embed/>
                </p:oleObj>
              </mc:Choice>
              <mc:Fallback>
                <p:oleObj r:id="rId2" imgW="4040505" imgH="2639695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540000"/>
                        <a:ext cx="4038600" cy="26384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0" name="Object 7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4641850" y="2546350"/>
          <a:ext cx="3994150" cy="261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4061460" imgH="2660650" progId="Word.Document.8">
                  <p:embed/>
                </p:oleObj>
              </mc:Choice>
              <mc:Fallback>
                <p:oleObj r:id="rId4" imgW="4061460" imgH="2660650" progId="Word.Document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1850" y="2546350"/>
                        <a:ext cx="3994150" cy="26162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79621F0B-B24A-41BA-AAAA-5FCBABA74DF0}" type="slidenum">
              <a:rPr lang="en-US" altLang="zh-CN" sz="1200" b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21</a:t>
            </a:fld>
            <a:endParaRPr lang="en-US" altLang="zh-CN" sz="1200" b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7651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AD78C4F4-AD9C-4ABF-AC5D-4506589DF879}" type="slidenum">
              <a:rPr lang="en-US" altLang="zh-CN" sz="1200" b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21</a:t>
            </a:fld>
            <a:endParaRPr lang="en-US" altLang="zh-CN" sz="1200" b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765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等效法则 - 示例</a:t>
            </a:r>
          </a:p>
        </p:txBody>
      </p:sp>
      <p:sp>
        <p:nvSpPr>
          <p:cNvPr id="2765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  <a:sym typeface="Symbol" panose="05050102010706020507" pitchFamily="18" charset="2"/>
              </a:rPr>
              <a:t>恒等律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： 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pT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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   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pF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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endParaRPr lang="en-US" altLang="zh-CN" b="1" dirty="0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dirty="0">
                <a:ea typeface="宋体" panose="02010600030101010101" pitchFamily="2" charset="-122"/>
                <a:sym typeface="Symbol" panose="05050102010706020507" pitchFamily="18" charset="2"/>
              </a:rPr>
              <a:t>支配律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： 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pT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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T    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pF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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</a:p>
          <a:p>
            <a:pPr eaLnBrk="1" hangingPunct="1"/>
            <a:r>
              <a:rPr lang="zh-CN" altLang="en-US" dirty="0">
                <a:ea typeface="宋体" panose="02010600030101010101" pitchFamily="2" charset="-122"/>
                <a:sym typeface="Symbol" panose="05050102010706020507" pitchFamily="18" charset="2"/>
              </a:rPr>
              <a:t>幂等律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： 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pp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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   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pp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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</a:p>
          <a:p>
            <a:pPr eaLnBrk="1" hangingPunct="1"/>
            <a:r>
              <a:rPr lang="zh-CN" altLang="en-US" dirty="0">
                <a:ea typeface="宋体" panose="02010600030101010101" pitchFamily="2" charset="-122"/>
                <a:sym typeface="Symbol" panose="05050102010706020507" pitchFamily="18" charset="2"/>
              </a:rPr>
              <a:t>双重否定律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：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p 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</a:p>
          <a:p>
            <a:pPr eaLnBrk="1" hangingPunct="1"/>
            <a:r>
              <a:rPr lang="en-US" altLang="zh-CN" dirty="0" err="1">
                <a:ea typeface="宋体" panose="02010600030101010101" pitchFamily="2" charset="-122"/>
                <a:sym typeface="Symbol" panose="05050102010706020507" pitchFamily="18" charset="2"/>
              </a:rPr>
              <a:t>交换</a:t>
            </a:r>
            <a:r>
              <a:rPr lang="zh-CN" altLang="en-US" dirty="0">
                <a:ea typeface="宋体" panose="02010600030101010101" pitchFamily="2" charset="-122"/>
                <a:sym typeface="Symbol" panose="05050102010706020507" pitchFamily="18" charset="2"/>
              </a:rPr>
              <a:t>律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：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pq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 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qp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  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pq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 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qp</a:t>
            </a:r>
            <a:endParaRPr lang="en-US" altLang="zh-CN" i="1" dirty="0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dirty="0">
                <a:ea typeface="宋体" panose="02010600030101010101" pitchFamily="2" charset="-122"/>
                <a:sym typeface="Symbol" panose="05050102010706020507" pitchFamily="18" charset="2"/>
              </a:rPr>
              <a:t>结合律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：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 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pq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r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qr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b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              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pq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r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qr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6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6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6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6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6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6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6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6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76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76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10228370-1D40-4BB8-B1B4-FB863195A07D}" type="slidenum">
              <a:rPr lang="en-US" altLang="zh-CN" sz="1200" b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22</a:t>
            </a:fld>
            <a:endParaRPr lang="en-US" altLang="zh-CN" sz="1200" b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8675" name="灯片编号占位符 6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E800B534-3D59-4CCE-88CE-6CDD2ABEBDC4}" type="slidenum">
              <a:rPr lang="en-US" altLang="zh-CN" sz="1200" b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22</a:t>
            </a:fld>
            <a:endParaRPr lang="en-US" altLang="zh-CN" sz="1200" b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867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更多等价定律</a:t>
            </a:r>
          </a:p>
        </p:txBody>
      </p:sp>
      <p:sp>
        <p:nvSpPr>
          <p:cNvPr id="28677" name="Rectangle 3"/>
          <p:cNvSpPr>
            <a:spLocks noGrp="1" noChangeArrowheads="1"/>
          </p:cNvSpPr>
          <p:nvPr>
            <p:ph type="body" sz="half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>
                <a:ea typeface="宋体" panose="02010600030101010101" pitchFamily="2" charset="-122"/>
              </a:rPr>
              <a:t>分配律</a:t>
            </a:r>
            <a:r>
              <a:rPr lang="en-US" altLang="zh-CN" sz="2800" dirty="0">
                <a:ea typeface="宋体" panose="02010600030101010101" pitchFamily="2" charset="-122"/>
              </a:rPr>
              <a:t>：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p  </a:t>
            </a:r>
            <a:r>
              <a:rPr lang="en-US" altLang="zh-CN" sz="2800" dirty="0">
                <a:ea typeface="宋体" panose="02010600030101010101" pitchFamily="2" charset="-122"/>
              </a:rPr>
              <a:t>(</a:t>
            </a:r>
            <a:r>
              <a:rPr lang="en-US" altLang="zh-CN" sz="2800" b="1" i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qr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 (</a:t>
            </a:r>
            <a:r>
              <a:rPr lang="en-US" altLang="zh-CN" sz="2800" b="1" i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pq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)(</a:t>
            </a:r>
            <a:r>
              <a:rPr lang="en-US" altLang="zh-CN" sz="2800" b="1" i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pr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br>
              <a:rPr lang="en-US" altLang="zh-CN" sz="2800" dirty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                       p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(</a:t>
            </a:r>
            <a:r>
              <a:rPr lang="en-US" altLang="zh-CN" sz="2800" b="1" i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qr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 (</a:t>
            </a:r>
            <a:r>
              <a:rPr lang="en-US" altLang="zh-CN" sz="2800" b="1" i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pq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)(</a:t>
            </a:r>
            <a:r>
              <a:rPr lang="en-US" altLang="zh-CN" sz="2800" b="1" i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pr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pPr eaLnBrk="1" hangingPunct="1"/>
            <a:r>
              <a:rPr lang="zh-CN" altLang="en-US" sz="2800" dirty="0">
                <a:ea typeface="宋体" panose="02010600030101010101" pitchFamily="2" charset="-122"/>
                <a:sym typeface="Symbol" panose="05050102010706020507" pitchFamily="18" charset="2"/>
              </a:rPr>
              <a:t>德摩根律：</a:t>
            </a:r>
            <a:b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	(</a:t>
            </a:r>
            <a:r>
              <a:rPr lang="en-US" altLang="zh-CN" sz="2800" b="1" i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pq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 p  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q</a:t>
            </a:r>
            <a:b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	(</a:t>
            </a:r>
            <a:r>
              <a:rPr lang="en-US" altLang="zh-CN" sz="2800" b="1" i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pq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 p  </a:t>
            </a:r>
            <a:r>
              <a:rPr lang="en-US" altLang="zh-CN" sz="28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q </a:t>
            </a:r>
          </a:p>
          <a:p>
            <a:pPr eaLnBrk="1" hangingPunct="1"/>
            <a:r>
              <a:rPr lang="zh-CN" altLang="en-US" sz="2800" dirty="0">
                <a:ea typeface="宋体" panose="02010600030101010101" pitchFamily="2" charset="-122"/>
                <a:sym typeface="Symbol" panose="05050102010706020507" pitchFamily="18" charset="2"/>
              </a:rPr>
              <a:t>否定律：</a:t>
            </a:r>
            <a:b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    p 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p 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T   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p 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F</a:t>
            </a:r>
          </a:p>
        </p:txBody>
      </p:sp>
      <p:pic>
        <p:nvPicPr>
          <p:cNvPr id="28678" name="Picture 5" descr="DeMorgan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056438" y="2684463"/>
            <a:ext cx="1193800" cy="1627187"/>
          </a:xfrm>
        </p:spPr>
      </p:pic>
      <p:sp>
        <p:nvSpPr>
          <p:cNvPr id="28679" name="Text Box 6"/>
          <p:cNvSpPr txBox="1">
            <a:spLocks noChangeArrowheads="1"/>
          </p:cNvSpPr>
          <p:nvPr/>
        </p:nvSpPr>
        <p:spPr bwMode="auto">
          <a:xfrm>
            <a:off x="6781800" y="4419600"/>
            <a:ext cx="1327150" cy="915988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latin typeface="Times New Roman" panose="02020603050405020304" pitchFamily="18" charset="0"/>
              </a:rPr>
              <a:t>奥古斯都</a:t>
            </a:r>
            <a:br>
              <a:rPr lang="en-US" altLang="zh-CN" sz="1800" b="0">
                <a:latin typeface="Times New Roman" panose="02020603050405020304" pitchFamily="18" charset="0"/>
              </a:rPr>
            </a:br>
            <a:r>
              <a:rPr lang="en-US" altLang="zh-CN" sz="1800" b="0">
                <a:latin typeface="Times New Roman" panose="02020603050405020304" pitchFamily="18" charset="0"/>
              </a:rPr>
              <a:t>德-摩根</a:t>
            </a:r>
            <a:br>
              <a:rPr lang="en-US" altLang="zh-CN" sz="1800" b="0">
                <a:latin typeface="Times New Roman" panose="02020603050405020304" pitchFamily="18" charset="0"/>
              </a:rPr>
            </a:br>
            <a:r>
              <a:rPr lang="en-US" altLang="zh-CN" sz="1800" b="0">
                <a:latin typeface="Times New Roman" panose="02020603050405020304" pitchFamily="18" charset="0"/>
              </a:rPr>
              <a:t>(1806-1871)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6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6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6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6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7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21316C0D-4411-45EF-802E-E25963E6C8C6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23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5529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练习</a:t>
            </a:r>
          </a:p>
        </p:txBody>
      </p:sp>
      <p:sp>
        <p:nvSpPr>
          <p:cNvPr id="5530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447800"/>
            <a:ext cx="9145588" cy="4725988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2.哪个逻辑等价于 ¬ (p</a:t>
            </a:r>
            <a:r>
              <a:rPr lang="zh-CN" altLang="zh-CN" dirty="0">
                <a:ea typeface="宋体" panose="02010600030101010101" pitchFamily="2" charset="-122"/>
              </a:rPr>
              <a:t> ∨ </a:t>
            </a:r>
            <a:r>
              <a:rPr lang="en-US" altLang="zh-CN" dirty="0">
                <a:ea typeface="宋体" panose="02010600030101010101" pitchFamily="2" charset="-122"/>
              </a:rPr>
              <a:t>(¬ p</a:t>
            </a:r>
            <a:r>
              <a:rPr lang="zh-CN" altLang="zh-CN" dirty="0">
                <a:ea typeface="宋体" panose="02010600030101010101" pitchFamily="2" charset="-122"/>
              </a:rPr>
              <a:t> ∧ </a:t>
            </a:r>
            <a:r>
              <a:rPr lang="en-US" altLang="zh-CN" dirty="0">
                <a:ea typeface="宋体" panose="02010600030101010101" pitchFamily="2" charset="-122"/>
              </a:rPr>
              <a:t>q))？ 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a) ¬ p</a:t>
            </a:r>
            <a:r>
              <a:rPr lang="zh-CN" altLang="zh-CN" dirty="0">
                <a:ea typeface="宋体" panose="02010600030101010101" pitchFamily="2" charset="-122"/>
              </a:rPr>
              <a:t> ∧¬ </a:t>
            </a:r>
            <a:r>
              <a:rPr lang="en-US" altLang="zh-CN" dirty="0">
                <a:ea typeface="宋体" panose="02010600030101010101" pitchFamily="2" charset="-122"/>
              </a:rPr>
              <a:t>q</a:t>
            </a:r>
            <a:endParaRPr lang="zh-CN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b) p</a:t>
            </a:r>
            <a:r>
              <a:rPr lang="zh-CN" altLang="zh-CN" dirty="0">
                <a:ea typeface="宋体" panose="02010600030101010101" pitchFamily="2" charset="-122"/>
              </a:rPr>
              <a:t> ∨¬ </a:t>
            </a:r>
            <a:r>
              <a:rPr lang="en-US" altLang="zh-CN" dirty="0">
                <a:ea typeface="宋体" panose="02010600030101010101" pitchFamily="2" charset="-122"/>
              </a:rPr>
              <a:t>q</a:t>
            </a:r>
            <a:endParaRPr lang="zh-CN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c) ¬ p∧q</a:t>
            </a:r>
            <a:endParaRPr lang="zh-CN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d) ¬ </a:t>
            </a:r>
            <a:r>
              <a:rPr lang="zh-CN" altLang="zh-CN" dirty="0">
                <a:ea typeface="宋体" panose="02010600030101010101" pitchFamily="2" charset="-122"/>
              </a:rPr>
              <a:t>p∨¬ </a:t>
            </a:r>
            <a:r>
              <a:rPr lang="en-US" altLang="zh-CN" dirty="0">
                <a:ea typeface="宋体" panose="02010600030101010101" pitchFamily="2" charset="-122"/>
              </a:rPr>
              <a:t>q</a:t>
            </a:r>
            <a:endParaRPr lang="zh-CN" altLang="zh-CN" dirty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24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F4F0F279-E214-4C5F-88D9-90B70232C819}" type="slidenum">
              <a:rPr lang="en-US" altLang="zh-CN" sz="1200" b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24</a:t>
            </a:fld>
            <a:endParaRPr lang="en-US" altLang="zh-CN" sz="1200" b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9699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D2121CB0-3269-45E3-8E11-BABFBF851F50}" type="slidenum">
              <a:rPr lang="en-US" altLang="zh-CN" sz="1200" b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24</a:t>
            </a:fld>
            <a:endParaRPr lang="en-US" altLang="zh-CN" sz="1200" b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400" dirty="0" err="1">
                <a:ea typeface="宋体" panose="02010600030101010101" pitchFamily="2" charset="-122"/>
              </a:rPr>
              <a:t>涉及</a:t>
            </a:r>
            <a:r>
              <a:rPr lang="zh-CN" altLang="en-US" sz="2400" dirty="0">
                <a:ea typeface="宋体" panose="02010600030101010101" pitchFamily="2" charset="-122"/>
              </a:rPr>
              <a:t>条件命题</a:t>
            </a:r>
            <a:r>
              <a:rPr lang="en-US" altLang="zh-CN" sz="2400" dirty="0" err="1">
                <a:ea typeface="宋体" panose="02010600030101010101" pitchFamily="2" charset="-122"/>
              </a:rPr>
              <a:t>的逻辑等价关系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  <p:sp>
        <p:nvSpPr>
          <p:cNvPr id="2970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p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p 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p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q  q 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p</a:t>
            </a:r>
          </a:p>
          <a:p>
            <a:pPr eaLnBrk="1" hangingPunct="1"/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p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p 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p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</a:p>
          <a:p>
            <a:pPr eaLnBrk="1" hangingPunct="1"/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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</a:p>
          <a:p>
            <a:pPr eaLnBrk="1" hangingPunct="1"/>
            <a:r>
              <a:rPr lang="en-US" altLang="zh-CN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b="1" i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b="1" i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r) </a:t>
            </a:r>
            <a:r>
              <a:rPr lang="en-US" altLang="zh-CN" b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</a:t>
            </a:r>
            <a:r>
              <a:rPr lang="en-US" altLang="zh-CN" b="1" i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b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b="1" i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pPr eaLnBrk="1" hangingPunct="1"/>
            <a:r>
              <a:rPr lang="en-US" altLang="zh-CN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(</a:t>
            </a:r>
            <a:r>
              <a:rPr lang="en-US" altLang="zh-CN" b="1" i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b="1" i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b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b="1" i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</a:t>
            </a:r>
            <a:r>
              <a:rPr lang="en-US" altLang="zh-CN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b="1" i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</a:p>
          <a:p>
            <a:pPr eaLnBrk="1" hangingPunct="1"/>
            <a:r>
              <a:rPr lang="en-US" altLang="zh-CN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(</a:t>
            </a:r>
            <a:r>
              <a:rPr lang="en-US" altLang="zh-CN" b="1" i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b="1" i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b="1" i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r) </a:t>
            </a:r>
            <a:r>
              <a:rPr lang="en-US" altLang="zh-CN" b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</a:t>
            </a:r>
            <a:r>
              <a:rPr lang="en-US" altLang="zh-CN" b="1" i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b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pPr eaLnBrk="1" hangingPunct="1"/>
            <a:r>
              <a:rPr lang="en-US" altLang="zh-CN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(</a:t>
            </a:r>
            <a:r>
              <a:rPr lang="en-US" altLang="zh-CN" b="1" i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b="1" i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b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b="1" i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</a:t>
            </a:r>
            <a:r>
              <a:rPr lang="en-US" altLang="zh-CN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b="1" i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b="1" i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7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7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7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7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7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7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7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7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7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7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97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970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97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970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1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80AB7EDC-1239-4107-AEE3-C42C580A70A1}" type="slidenum">
              <a:rPr lang="en-US" altLang="zh-CN" sz="1200" b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25</a:t>
            </a:fld>
            <a:endParaRPr lang="en-US" altLang="zh-CN" sz="1200" b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800" i="1"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800" i="1"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)  (</a:t>
            </a:r>
            <a:r>
              <a:rPr lang="en-US" altLang="zh-CN" sz="2800" i="1"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800" i="1"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)  </a:t>
            </a:r>
            <a:r>
              <a:rPr lang="en-US" altLang="zh-CN" sz="2800" i="1"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 (</a:t>
            </a:r>
            <a:r>
              <a:rPr lang="en-US" altLang="zh-CN" sz="2800" i="1"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sz="2800" i="1"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endParaRPr lang="zh-CN" altLang="en-US" sz="280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 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(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(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</a:p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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endParaRPr lang="zh-CN" altLang="en-US" dirty="0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分配律</a:t>
            </a:r>
            <a:r>
              <a:rPr lang="en-US" altLang="zh-CN" dirty="0">
                <a:ea typeface="宋体" panose="02010600030101010101" pitchFamily="2" charset="-122"/>
              </a:rPr>
              <a:t>：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p</a:t>
            </a:r>
            <a:r>
              <a:rPr lang="en-US" altLang="zh-CN" dirty="0">
                <a:ea typeface="宋体" panose="02010600030101010101" pitchFamily="2" charset="-122"/>
              </a:rPr>
              <a:t>(</a:t>
            </a:r>
            <a:r>
              <a:rPr lang="en-US" altLang="zh-CN" b="1" i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qr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 (</a:t>
            </a:r>
            <a:r>
              <a:rPr lang="en-US" altLang="zh-CN" b="1" i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pq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)(</a:t>
            </a:r>
            <a:r>
              <a:rPr lang="en-US" altLang="zh-CN" b="1" i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pr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b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                       p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(</a:t>
            </a:r>
            <a:r>
              <a:rPr lang="en-US" altLang="zh-CN" b="1" i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qr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 (</a:t>
            </a:r>
            <a:r>
              <a:rPr lang="en-US" altLang="zh-CN" b="1" i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pq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)(</a:t>
            </a:r>
            <a:r>
              <a:rPr lang="en-US" altLang="zh-CN" b="1" i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pr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endParaRPr lang="zh-CN" altLang="en-US" dirty="0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7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7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7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7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7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7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4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84B066D9-F017-4270-A1D6-4C012EC6F50E}" type="slidenum">
              <a:rPr lang="en-US" altLang="zh-CN" sz="1200" b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26</a:t>
            </a:fld>
            <a:endParaRPr lang="en-US" altLang="zh-CN" sz="1200" b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800" i="1"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800" i="1"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)  (</a:t>
            </a:r>
            <a:r>
              <a:rPr lang="en-US" altLang="zh-CN" sz="2800" i="1"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800" i="1"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)  (</a:t>
            </a:r>
            <a:r>
              <a:rPr lang="en-US" altLang="zh-CN" sz="2800" i="1"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sz="2800" i="1"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)  </a:t>
            </a:r>
            <a:r>
              <a:rPr lang="en-US" altLang="zh-CN" sz="2800" i="1"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endParaRPr lang="zh-CN" altLang="en-US" sz="2800" i="1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 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(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(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</a:p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(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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</a:p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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</a:p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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</a:p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</a:p>
          <a:p>
            <a:r>
              <a:rPr lang="en-US" altLang="zh-CN" i="1" dirty="0" err="1">
                <a:ea typeface="宋体" panose="02010600030101010101" pitchFamily="2" charset="-122"/>
              </a:rPr>
              <a:t>分配</a:t>
            </a:r>
            <a:r>
              <a:rPr lang="zh-CN" altLang="en-US" i="1" dirty="0">
                <a:ea typeface="宋体" panose="02010600030101010101" pitchFamily="2" charset="-122"/>
              </a:rPr>
              <a:t>律</a:t>
            </a:r>
            <a:endParaRPr lang="zh-CN" altLang="en-US" dirty="0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endParaRPr lang="zh-CN" altLang="en-US" dirty="0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7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7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7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7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7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17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17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17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17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17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17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17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8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EB0B44F5-FCBD-4584-8E32-0198954EEFB2}" type="slidenum">
              <a:rPr lang="en-US" altLang="zh-CN" sz="1200" b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27</a:t>
            </a:fld>
            <a:endParaRPr lang="en-US" altLang="zh-CN" sz="1200" b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800" i="1"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800" i="1"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)  (</a:t>
            </a:r>
            <a:r>
              <a:rPr lang="en-US" altLang="zh-CN" sz="2800" i="1"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800" i="1"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)  </a:t>
            </a:r>
            <a:r>
              <a:rPr lang="en-US" altLang="zh-CN" sz="2800" i="1"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 (</a:t>
            </a:r>
            <a:r>
              <a:rPr lang="en-US" altLang="zh-CN" sz="2800" i="1"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sz="2800" i="1"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endParaRPr lang="zh-CN" altLang="en-US" sz="280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 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(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(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</a:p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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r>
              <a:rPr lang="en-US" altLang="zh-CN" i="1" dirty="0" err="1">
                <a:ea typeface="宋体" panose="02010600030101010101" pitchFamily="2" charset="-122"/>
              </a:rPr>
              <a:t>分配</a:t>
            </a:r>
            <a:r>
              <a:rPr lang="zh-CN" altLang="en-US" i="1" dirty="0">
                <a:ea typeface="宋体" panose="02010600030101010101" pitchFamily="2" charset="-122"/>
              </a:rPr>
              <a:t>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7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7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7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7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7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7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7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7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2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5D085905-57F0-4B05-9101-A66C914585BF}" type="slidenum">
              <a:rPr lang="en-US" altLang="zh-CN" sz="1200" b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28</a:t>
            </a:fld>
            <a:endParaRPr lang="en-US" altLang="zh-CN" sz="1200" b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800" i="1"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800" i="1"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)  (</a:t>
            </a:r>
            <a:r>
              <a:rPr lang="en-US" altLang="zh-CN" sz="2800" i="1"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800" i="1"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)  (</a:t>
            </a:r>
            <a:r>
              <a:rPr lang="en-US" altLang="zh-CN" sz="2800" i="1"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sz="2800" i="1"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)  </a:t>
            </a:r>
            <a:r>
              <a:rPr lang="en-US" altLang="zh-CN" sz="2800" i="1"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endParaRPr lang="zh-CN" altLang="en-US" sz="2800" i="1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 (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(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(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(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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 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 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 </a:t>
            </a:r>
            <a:endParaRPr lang="en-US" altLang="zh-CN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endParaRPr lang="zh-CN" altLang="en-US" b="1" i="1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7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7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7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7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7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37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37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37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37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37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6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E440CBCC-7179-4EA1-A2CB-BEE429C3976C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29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5734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练习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3"/>
              <p:cNvSpPr txBox="1">
                <a:spLocks noChangeArrowheads="1"/>
              </p:cNvSpPr>
              <p:nvPr/>
            </p:nvSpPr>
            <p:spPr bwMode="auto">
              <a:xfrm>
                <a:off x="-29592" y="1461796"/>
                <a:ext cx="9145588" cy="47259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b="0" dirty="0">
                    <a:ea typeface="宋体" panose="02010600030101010101" pitchFamily="2" charset="-122"/>
                  </a:rPr>
                  <a:t>3. </a:t>
                </a:r>
                <a:r>
                  <a:rPr lang="zh-CN" altLang="en-US" b="0" dirty="0">
                    <a:ea typeface="宋体" panose="02010600030101010101" pitchFamily="2" charset="-122"/>
                  </a:rPr>
                  <a:t>哪个逻辑命题与命题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/>
                        <a:ea typeface="Cambria Math" panose="02040503050406030204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/>
                        <a:ea typeface="Cambria Math" panose="02040503050406030204"/>
                      </a:rPr>
                      <m:t>𝑝</m:t>
                    </m:r>
                    <m:r>
                      <a:rPr lang="en-US" altLang="zh-CN" b="0" i="1" smtClean="0">
                        <a:latin typeface="Cambria Math" panose="02040503050406030204"/>
                        <a:ea typeface="Cambria Math" panose="02040503050406030204"/>
                      </a:rPr>
                      <m:t>⟶</m:t>
                    </m:r>
                    <m:r>
                      <a:rPr lang="en-US" altLang="zh-CN" b="0" i="1" smtClean="0">
                        <a:latin typeface="Cambria Math" panose="02040503050406030204"/>
                        <a:ea typeface="Cambria Math" panose="02040503050406030204"/>
                      </a:rPr>
                      <m:t>𝑞</m:t>
                    </m:r>
                    <m:r>
                      <a:rPr lang="en-US" altLang="zh-CN" b="0" i="0" smtClean="0">
                        <a:latin typeface="Cambria Math" panose="02040503050406030204"/>
                        <a:ea typeface="Cambria Math" panose="02040503050406030204"/>
                      </a:rPr>
                      <m:t>)</m:t>
                    </m:r>
                    <m:r>
                      <a:rPr lang="en-US" altLang="zh-CN" b="0" i="1" smtClean="0">
                        <a:latin typeface="Cambria Math" panose="02040503050406030204"/>
                        <a:ea typeface="Cambria Math" panose="02040503050406030204"/>
                      </a:rPr>
                      <m:t>⋁(</m:t>
                    </m:r>
                    <m:r>
                      <a:rPr lang="en-US" altLang="zh-CN" b="0" i="1">
                        <a:latin typeface="Cambria Math" panose="02040503050406030204"/>
                        <a:ea typeface="Cambria Math" panose="02040503050406030204"/>
                      </a:rPr>
                      <m:t>𝑝</m:t>
                    </m:r>
                    <m:r>
                      <a:rPr lang="en-US" altLang="zh-CN" b="0" i="1">
                        <a:latin typeface="Cambria Math" panose="02040503050406030204"/>
                        <a:ea typeface="Cambria Math" panose="02040503050406030204"/>
                      </a:rPr>
                      <m:t>⟶</m:t>
                    </m:r>
                    <m:r>
                      <a:rPr lang="en-US" altLang="zh-CN" b="0" i="1" smtClean="0">
                        <a:latin typeface="Cambria Math" panose="02040503050406030204"/>
                        <a:ea typeface="Cambria Math" panose="02040503050406030204"/>
                      </a:rPr>
                      <m:t>𝑟</m:t>
                    </m:r>
                    <m:r>
                      <a:rPr lang="en-US" altLang="zh-CN" b="0" i="1" smtClean="0">
                        <a:latin typeface="Cambria Math" panose="02040503050406030204"/>
                        <a:ea typeface="Cambria Math" panose="02040503050406030204"/>
                      </a:rPr>
                      <m:t>)</m:t>
                    </m:r>
                  </m:oMath>
                </a14:m>
                <a:r>
                  <a:rPr lang="zh-CN" altLang="en-US" b="0" dirty="0">
                    <a:ea typeface="宋体" panose="02010600030101010101" pitchFamily="2" charset="-122"/>
                  </a:rPr>
                  <a:t>逻辑等价</a:t>
                </a:r>
                <a:r>
                  <a:rPr lang="en-US" altLang="zh-CN" b="0" dirty="0">
                    <a:ea typeface="宋体" panose="02010600030101010101" pitchFamily="2" charset="-122"/>
                  </a:rPr>
                  <a:t>? </a:t>
                </a:r>
              </a:p>
              <a:p>
                <a:r>
                  <a:rPr lang="en-US" altLang="zh-CN" b="0" dirty="0">
                    <a:ea typeface="宋体" panose="02010600030101010101" pitchFamily="2" charset="-122"/>
                  </a:rPr>
                  <a:t>A) 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/>
                        <a:ea typeface="Cambria Math" panose="02040503050406030204"/>
                      </a:rPr>
                      <m:t>𝑝</m:t>
                    </m:r>
                    <m:r>
                      <a:rPr lang="en-US" altLang="zh-CN" b="0" i="1">
                        <a:latin typeface="Cambria Math" panose="02040503050406030204"/>
                        <a:ea typeface="Cambria Math" panose="02040503050406030204"/>
                      </a:rPr>
                      <m:t>⟶(</m:t>
                    </m:r>
                    <m:r>
                      <a:rPr lang="en-US" altLang="zh-CN" b="0" i="1" smtClean="0">
                        <a:latin typeface="Cambria Math" panose="02040503050406030204"/>
                        <a:ea typeface="Cambria Math" panose="02040503050406030204"/>
                      </a:rPr>
                      <m:t>𝑞</m:t>
                    </m:r>
                    <m:r>
                      <a:rPr lang="en-US" altLang="zh-CN" b="0" i="1">
                        <a:latin typeface="Cambria Math" panose="02040503050406030204"/>
                        <a:ea typeface="Cambria Math" panose="02040503050406030204"/>
                      </a:rPr>
                      <m:t>∧</m:t>
                    </m:r>
                    <m:r>
                      <a:rPr lang="en-US" altLang="zh-CN" b="0" i="1" smtClean="0">
                        <a:latin typeface="Cambria Math" panose="02040503050406030204"/>
                        <a:ea typeface="Cambria Math" panose="02040503050406030204"/>
                      </a:rPr>
                      <m:t>𝑟</m:t>
                    </m:r>
                    <m:r>
                      <a:rPr lang="en-US" altLang="zh-CN" b="0" i="1">
                        <a:latin typeface="Cambria Math" panose="02040503050406030204"/>
                        <a:ea typeface="Cambria Math" panose="02040503050406030204"/>
                      </a:rPr>
                      <m:t>)</m:t>
                    </m:r>
                  </m:oMath>
                </a14:m>
                <a:endParaRPr lang="en-US" altLang="zh-CN" b="0" dirty="0">
                  <a:ea typeface="宋体" panose="02010600030101010101" pitchFamily="2" charset="-122"/>
                </a:endParaRPr>
              </a:p>
              <a:p>
                <a:r>
                  <a:rPr lang="en-US" altLang="zh-CN" b="0" dirty="0">
                    <a:ea typeface="宋体" panose="02010600030101010101" pitchFamily="2" charset="-122"/>
                  </a:rPr>
                  <a:t>B)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/>
                        <a:ea typeface="Cambria Math" panose="02040503050406030204"/>
                      </a:rPr>
                      <m:t>¬</m:t>
                    </m:r>
                    <m:r>
                      <a:rPr lang="en-US" altLang="zh-CN" b="0" i="1">
                        <a:latin typeface="Cambria Math" panose="02040503050406030204"/>
                        <a:ea typeface="Cambria Math" panose="02040503050406030204"/>
                      </a:rPr>
                      <m:t>𝑝</m:t>
                    </m:r>
                    <m:r>
                      <a:rPr lang="en-US" altLang="zh-CN" b="0" i="1" smtClean="0">
                        <a:latin typeface="Cambria Math" panose="02040503050406030204"/>
                        <a:ea typeface="Cambria Math" panose="02040503050406030204"/>
                      </a:rPr>
                      <m:t>∨</m:t>
                    </m:r>
                    <m:r>
                      <a:rPr lang="en-US" altLang="zh-CN" b="0" i="1">
                        <a:latin typeface="Cambria Math" panose="02040503050406030204"/>
                        <a:ea typeface="Cambria Math" panose="02040503050406030204"/>
                      </a:rPr>
                      <m:t>(</m:t>
                    </m:r>
                    <m:r>
                      <a:rPr lang="en-US" altLang="zh-CN" b="0" i="1">
                        <a:latin typeface="Cambria Math" panose="02040503050406030204"/>
                        <a:ea typeface="Cambria Math" panose="02040503050406030204"/>
                      </a:rPr>
                      <m:t>𝑞</m:t>
                    </m:r>
                    <m:r>
                      <a:rPr lang="en-US" altLang="zh-CN" b="0" i="1">
                        <a:latin typeface="Cambria Math" panose="02040503050406030204"/>
                        <a:ea typeface="Cambria Math" panose="02040503050406030204"/>
                      </a:rPr>
                      <m:t>∧</m:t>
                    </m:r>
                    <m:r>
                      <a:rPr lang="en-US" altLang="zh-CN" b="0" i="1">
                        <a:latin typeface="Cambria Math" panose="02040503050406030204"/>
                        <a:ea typeface="Cambria Math" panose="02040503050406030204"/>
                      </a:rPr>
                      <m:t>𝑟</m:t>
                    </m:r>
                    <m:r>
                      <a:rPr lang="en-US" altLang="zh-CN" b="0" i="1">
                        <a:latin typeface="Cambria Math" panose="02040503050406030204"/>
                        <a:ea typeface="Cambria Math" panose="02040503050406030204"/>
                      </a:rPr>
                      <m:t>)</m:t>
                    </m:r>
                  </m:oMath>
                </a14:m>
                <a:endParaRPr lang="en-US" altLang="zh-CN" b="0" dirty="0">
                  <a:ea typeface="宋体" panose="02010600030101010101" pitchFamily="2" charset="-122"/>
                </a:endParaRPr>
              </a:p>
              <a:p>
                <a:r>
                  <a:rPr lang="en-US" altLang="zh-CN" b="0" dirty="0">
                    <a:ea typeface="宋体" panose="02010600030101010101" pitchFamily="2" charset="-122"/>
                  </a:rPr>
                  <a:t>C)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/>
                        <a:ea typeface="Cambria Math" panose="02040503050406030204"/>
                      </a:rPr>
                      <m:t> </m:t>
                    </m:r>
                    <m:r>
                      <a:rPr lang="en-US" altLang="zh-CN" b="0" i="1">
                        <a:latin typeface="Cambria Math" panose="02040503050406030204"/>
                        <a:ea typeface="Cambria Math" panose="02040503050406030204"/>
                      </a:rPr>
                      <m:t>𝑝</m:t>
                    </m:r>
                    <m:r>
                      <a:rPr lang="en-US" altLang="zh-CN" b="0" i="1">
                        <a:latin typeface="Cambria Math" panose="02040503050406030204"/>
                        <a:ea typeface="Cambria Math" panose="02040503050406030204"/>
                      </a:rPr>
                      <m:t>⟶(</m:t>
                    </m:r>
                    <m:r>
                      <a:rPr lang="en-US" altLang="zh-CN" b="0" i="1">
                        <a:latin typeface="Cambria Math" panose="02040503050406030204"/>
                        <a:ea typeface="Cambria Math" panose="02040503050406030204"/>
                      </a:rPr>
                      <m:t>𝑞</m:t>
                    </m:r>
                    <m:r>
                      <a:rPr lang="en-US" altLang="zh-CN" b="0" i="1">
                        <a:latin typeface="Cambria Math" panose="02040503050406030204"/>
                        <a:ea typeface="Cambria Math" panose="02040503050406030204"/>
                      </a:rPr>
                      <m:t>∨</m:t>
                    </m:r>
                    <m:r>
                      <a:rPr lang="en-US" altLang="zh-CN" b="0" i="1">
                        <a:latin typeface="Cambria Math" panose="02040503050406030204"/>
                        <a:ea typeface="Cambria Math" panose="02040503050406030204"/>
                      </a:rPr>
                      <m:t>𝑟</m:t>
                    </m:r>
                    <m:r>
                      <a:rPr lang="en-US" altLang="zh-CN" b="0" i="1">
                        <a:latin typeface="Cambria Math" panose="02040503050406030204"/>
                        <a:ea typeface="Cambria Math" panose="02040503050406030204"/>
                      </a:rPr>
                      <m:t>)</m:t>
                    </m:r>
                  </m:oMath>
                </a14:m>
                <a:endParaRPr lang="en-US" altLang="zh-CN" b="0" dirty="0">
                  <a:ea typeface="宋体" panose="02010600030101010101" pitchFamily="2" charset="-122"/>
                </a:endParaRPr>
              </a:p>
              <a:p>
                <a:r>
                  <a:rPr lang="en-US" altLang="zh-CN" b="0" dirty="0">
                    <a:ea typeface="宋体" panose="02010600030101010101" pitchFamily="2" charset="-122"/>
                  </a:rPr>
                  <a:t>D)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/>
                        <a:ea typeface="Cambria Math" panose="02040503050406030204"/>
                      </a:rPr>
                      <m:t> </m:t>
                    </m:r>
                    <m:r>
                      <a:rPr lang="en-US" altLang="zh-CN" b="0" i="1">
                        <a:latin typeface="Cambria Math" panose="02040503050406030204"/>
                        <a:ea typeface="Cambria Math" panose="02040503050406030204"/>
                      </a:rPr>
                      <m:t>𝑝</m:t>
                    </m:r>
                    <m:r>
                      <a:rPr lang="en-US" altLang="zh-CN" b="0" i="1">
                        <a:latin typeface="Cambria Math" panose="02040503050406030204"/>
                        <a:ea typeface="Cambria Math" panose="02040503050406030204"/>
                      </a:rPr>
                      <m:t>∧</m:t>
                    </m:r>
                    <m:r>
                      <a:rPr lang="en-US" altLang="zh-CN" b="0" i="1">
                        <a:latin typeface="Cambria Math" panose="02040503050406030204"/>
                        <a:ea typeface="Cambria Math" panose="02040503050406030204"/>
                      </a:rPr>
                      <m:t>𝑞</m:t>
                    </m:r>
                    <m:r>
                      <a:rPr lang="en-US" altLang="zh-CN" b="0" i="1">
                        <a:latin typeface="Cambria Math" panose="02040503050406030204"/>
                        <a:ea typeface="Cambria Math" panose="02040503050406030204"/>
                      </a:rPr>
                      <m:t>∧</m:t>
                    </m:r>
                    <m:r>
                      <a:rPr lang="en-US" altLang="zh-CN" b="0" i="1">
                        <a:latin typeface="Cambria Math" panose="02040503050406030204"/>
                        <a:ea typeface="Cambria Math" panose="02040503050406030204"/>
                      </a:rPr>
                      <m:t>𝑟</m:t>
                    </m:r>
                  </m:oMath>
                </a14:m>
                <a:endParaRPr lang="en-US" altLang="zh-CN" b="0" dirty="0"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5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-29592" y="1461796"/>
                <a:ext cx="9145588" cy="4725988"/>
              </a:xfrm>
              <a:prstGeom prst="rect">
                <a:avLst/>
              </a:prstGeom>
              <a:blipFill>
                <a:blip r:embed="rId2"/>
                <a:stretch>
                  <a:fillRect l="-1526" t="-2145" r="-152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89FD42BD-1ECB-4E86-894F-9FBB60AC92C3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30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5632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练习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3"/>
              <p:cNvSpPr txBox="1">
                <a:spLocks noChangeArrowheads="1"/>
              </p:cNvSpPr>
              <p:nvPr/>
            </p:nvSpPr>
            <p:spPr bwMode="auto">
              <a:xfrm>
                <a:off x="-29592" y="1461796"/>
                <a:ext cx="9145588" cy="47259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b="0" dirty="0">
                    <a:ea typeface="宋体" panose="02010600030101010101" pitchFamily="2" charset="-122"/>
                  </a:rPr>
                  <a:t>4. </a:t>
                </a:r>
                <a:r>
                  <a:rPr lang="zh-CN" altLang="en-US" b="0" dirty="0">
                    <a:ea typeface="宋体" panose="02010600030101010101" pitchFamily="2" charset="-122"/>
                  </a:rPr>
                  <a:t>哪个逻辑命题与命题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/>
                        <a:ea typeface="Cambria Math" panose="02040503050406030204"/>
                      </a:rPr>
                      <m:t>𝑝</m:t>
                    </m:r>
                    <m:r>
                      <a:rPr lang="en-US" altLang="zh-CN" b="0" i="1">
                        <a:latin typeface="Cambria Math" panose="02040503050406030204"/>
                        <a:ea typeface="Cambria Math" panose="02040503050406030204"/>
                      </a:rPr>
                      <m:t>∧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/>
                            <a:ea typeface="Cambria Math" panose="02040503050406030204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/>
                            <a:ea typeface="Cambria Math" panose="02040503050406030204"/>
                          </a:rPr>
                          <m:t>𝑞</m:t>
                        </m:r>
                        <m:r>
                          <a:rPr lang="en-US" altLang="zh-CN" b="0" i="1">
                            <a:latin typeface="Cambria Math" panose="02040503050406030204"/>
                            <a:ea typeface="Cambria Math" panose="02040503050406030204"/>
                          </a:rPr>
                          <m:t>⟶</m:t>
                        </m:r>
                        <m:r>
                          <a:rPr lang="en-US" altLang="zh-CN" b="0" i="1" smtClean="0">
                            <a:latin typeface="Cambria Math" panose="02040503050406030204"/>
                            <a:ea typeface="Cambria Math" panose="02040503050406030204"/>
                          </a:rPr>
                          <m:t>𝑝</m:t>
                        </m:r>
                      </m:e>
                    </m:d>
                    <m:r>
                      <a:rPr lang="en-US" altLang="zh-CN" b="0" i="1">
                        <a:latin typeface="Cambria Math" panose="02040503050406030204"/>
                        <a:ea typeface="Cambria Math" panose="02040503050406030204"/>
                      </a:rPr>
                      <m:t>⟶</m:t>
                    </m:r>
                    <m:r>
                      <a:rPr lang="en-US" altLang="zh-CN" b="0" i="1" smtClean="0">
                        <a:latin typeface="Cambria Math" panose="02040503050406030204"/>
                        <a:ea typeface="Cambria Math" panose="02040503050406030204"/>
                      </a:rPr>
                      <m:t>𝑞</m:t>
                    </m:r>
                  </m:oMath>
                </a14:m>
                <a:r>
                  <a:rPr lang="zh-CN" altLang="en-US" b="0" dirty="0">
                    <a:ea typeface="宋体" panose="02010600030101010101" pitchFamily="2" charset="-122"/>
                  </a:rPr>
                  <a:t>逻辑等价</a:t>
                </a:r>
                <a:r>
                  <a:rPr lang="en-US" altLang="zh-CN" b="0" dirty="0">
                    <a:ea typeface="宋体" panose="02010600030101010101" pitchFamily="2" charset="-122"/>
                  </a:rPr>
                  <a:t>? </a:t>
                </a:r>
              </a:p>
              <a:p>
                <a:r>
                  <a:rPr lang="en-US" altLang="zh-CN" b="0" dirty="0">
                    <a:ea typeface="宋体" panose="02010600030101010101" pitchFamily="2" charset="-122"/>
                  </a:rPr>
                  <a:t>A)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/>
                        <a:ea typeface="Cambria Math" panose="02040503050406030204"/>
                      </a:rPr>
                      <m:t>¬(</m:t>
                    </m:r>
                    <m:r>
                      <a:rPr lang="en-US" altLang="zh-CN" b="0" i="1">
                        <a:latin typeface="Cambria Math" panose="02040503050406030204"/>
                        <a:ea typeface="Cambria Math" panose="02040503050406030204"/>
                      </a:rPr>
                      <m:t>𝑝</m:t>
                    </m:r>
                    <m:r>
                      <a:rPr lang="en-US" altLang="zh-CN" b="0" i="1" smtClean="0">
                        <a:latin typeface="Cambria Math" panose="02040503050406030204"/>
                        <a:ea typeface="Cambria Math" panose="02040503050406030204"/>
                      </a:rPr>
                      <m:t>⋀</m:t>
                    </m:r>
                    <m:r>
                      <a:rPr lang="en-US" altLang="zh-CN" b="0" i="1">
                        <a:latin typeface="Cambria Math" panose="02040503050406030204"/>
                        <a:ea typeface="Cambria Math" panose="02040503050406030204"/>
                      </a:rPr>
                      <m:t>𝑞</m:t>
                    </m:r>
                    <m:r>
                      <a:rPr lang="en-US" altLang="zh-CN" b="0" i="1">
                        <a:latin typeface="Cambria Math" panose="02040503050406030204"/>
                        <a:ea typeface="Cambria Math" panose="02040503050406030204"/>
                      </a:rPr>
                      <m:t>)</m:t>
                    </m:r>
                  </m:oMath>
                </a14:m>
                <a:endParaRPr lang="en-US" altLang="zh-CN" b="0" dirty="0">
                  <a:ea typeface="Cambria Math" panose="02040503050406030204"/>
                </a:endParaRPr>
              </a:p>
              <a:p>
                <a:r>
                  <a:rPr lang="en-US" altLang="zh-CN" b="0" dirty="0">
                    <a:ea typeface="宋体" panose="02010600030101010101" pitchFamily="2" charset="-122"/>
                  </a:rPr>
                  <a:t>B)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/>
                        <a:ea typeface="Cambria Math" panose="02040503050406030204"/>
                      </a:rPr>
                      <m:t>𝑇</m:t>
                    </m:r>
                  </m:oMath>
                </a14:m>
                <a:endParaRPr lang="en-US" altLang="zh-CN" b="0" dirty="0">
                  <a:ea typeface="Cambria Math" panose="02040503050406030204"/>
                </a:endParaRPr>
              </a:p>
              <a:p>
                <a:r>
                  <a:rPr lang="en-US" altLang="zh-CN" b="0" dirty="0">
                    <a:ea typeface="宋体" panose="02010600030101010101" pitchFamily="2" charset="-122"/>
                  </a:rPr>
                  <a:t>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/>
                        <a:ea typeface="Cambria Math" panose="02040503050406030204"/>
                      </a:rPr>
                      <m:t>p</m:t>
                    </m:r>
                    <m:r>
                      <a:rPr lang="en-US" altLang="zh-CN" b="0" i="1" smtClean="0">
                        <a:latin typeface="Cambria Math" panose="02040503050406030204"/>
                        <a:ea typeface="Cambria Math" panose="02040503050406030204"/>
                      </a:rPr>
                      <m:t> ⟶</m:t>
                    </m:r>
                    <m:r>
                      <a:rPr lang="en-US" altLang="zh-CN" b="0" i="1">
                        <a:latin typeface="Cambria Math" panose="02040503050406030204"/>
                        <a:ea typeface="Cambria Math" panose="02040503050406030204"/>
                      </a:rPr>
                      <m:t>𝑞</m:t>
                    </m:r>
                  </m:oMath>
                </a14:m>
                <a:endParaRPr lang="en-US" altLang="zh-CN" b="0" dirty="0">
                  <a:ea typeface="宋体" panose="02010600030101010101" pitchFamily="2" charset="-122"/>
                </a:endParaRPr>
              </a:p>
              <a:p>
                <a:r>
                  <a:rPr lang="en-US" altLang="zh-CN" b="0" dirty="0">
                    <a:ea typeface="宋体" panose="02010600030101010101" pitchFamily="2" charset="-122"/>
                  </a:rPr>
                  <a:t>D)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/>
                        <a:ea typeface="Cambria Math" panose="02040503050406030204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/>
                        <a:ea typeface="Cambria Math" panose="02040503050406030204"/>
                      </a:rPr>
                      <m:t>𝐹</m:t>
                    </m:r>
                  </m:oMath>
                </a14:m>
                <a:endParaRPr lang="en-US" altLang="zh-CN" b="0" dirty="0"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5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-29592" y="1461796"/>
                <a:ext cx="9145588" cy="4725988"/>
              </a:xfrm>
              <a:prstGeom prst="rect">
                <a:avLst/>
              </a:prstGeom>
              <a:blipFill>
                <a:blip r:embed="rId2"/>
                <a:stretch>
                  <a:fillRect l="-1526" t="-214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74B78F1F-2735-4C17-8436-A0DB5E75B2DA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31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6553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练习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>
                <a:spLocks noChangeArrowheads="1"/>
              </p:cNvSpPr>
              <p:nvPr/>
            </p:nvSpPr>
            <p:spPr bwMode="auto">
              <a:xfrm>
                <a:off x="469900" y="1447800"/>
                <a:ext cx="8142605" cy="294576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</a:ln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b="0" dirty="0">
                    <a:solidFill>
                      <a:srgbClr val="344D8D"/>
                    </a:solidFill>
                  </a:rPr>
                  <a:t>5. </a:t>
                </a:r>
                <a:r>
                  <a:rPr lang="zh-CN" altLang="en-US" b="0" dirty="0">
                    <a:solidFill>
                      <a:srgbClr val="344D8D"/>
                    </a:solidFill>
                  </a:rPr>
                  <a:t>哪个选项与命题</a:t>
                </a:r>
                <a:r>
                  <a:rPr lang="en-US" altLang="zh-CN" b="0" dirty="0">
                    <a:solidFill>
                      <a:srgbClr val="344D8D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344D8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n-US" altLang="zh-CN" b="0" i="1" smtClean="0">
                        <a:solidFill>
                          <a:srgbClr val="344D8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i="1" smtClean="0">
                        <a:solidFill>
                          <a:srgbClr val="344D8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∨(</m:t>
                    </m:r>
                    <m:r>
                      <a:rPr lang="en-US" altLang="zh-CN" b="0" i="1" smtClean="0">
                        <a:solidFill>
                          <a:srgbClr val="344D8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i="1" smtClean="0">
                        <a:solidFill>
                          <a:srgbClr val="344D8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∧</m:t>
                    </m:r>
                    <m:r>
                      <a:rPr lang="en-US" altLang="zh-CN" b="0" i="1" smtClean="0">
                        <a:solidFill>
                          <a:srgbClr val="344D8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𝑟</m:t>
                    </m:r>
                    <m:r>
                      <a:rPr lang="en-US" altLang="zh-CN" b="0" i="1" smtClean="0">
                        <a:solidFill>
                          <a:srgbClr val="344D8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b="0" dirty="0">
                    <a:solidFill>
                      <a:srgbClr val="344D8D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逻辑等价</a:t>
                </a:r>
                <a:r>
                  <a:rPr lang="en-US" altLang="zh-CN" b="0" dirty="0">
                    <a:solidFill>
                      <a:srgbClr val="344D8D"/>
                    </a:solidFill>
                  </a:rPr>
                  <a:t>? </a:t>
                </a:r>
                <a:endPara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17347D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9999FF"/>
                  </a:buClr>
                  <a:buSzTx/>
                  <a:buFont typeface="Wingdings" panose="05000000000000000000" pitchFamily="2" charset="2"/>
                  <a:buChar char="v"/>
                  <a:defRPr/>
                </a:pPr>
                <a:r>
                  <a:rPr lang="en-US" altLang="zh-CN" b="0" dirty="0">
                    <a:solidFill>
                      <a:srgbClr val="17347D"/>
                    </a:solidFill>
                    <a:latin typeface="Arial" panose="020B0604020202020204"/>
                  </a:rPr>
                  <a:t>A)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344D8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b="0" i="1" smtClean="0">
                        <a:solidFill>
                          <a:srgbClr val="344D8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→(¬(</m:t>
                    </m:r>
                    <m:r>
                      <a:rPr lang="en-US" altLang="zh-CN" b="0" i="1" smtClean="0">
                        <a:solidFill>
                          <a:srgbClr val="344D8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b="0" i="1" smtClean="0">
                        <a:solidFill>
                          <a:srgbClr val="344D8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→¬</m:t>
                    </m:r>
                    <m:r>
                      <a:rPr lang="en-US" altLang="zh-CN" b="0" i="1" smtClean="0">
                        <a:solidFill>
                          <a:srgbClr val="344D8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altLang="zh-CN" b="0" i="1" smtClean="0">
                        <a:solidFill>
                          <a:srgbClr val="344D8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))</m:t>
                    </m:r>
                  </m:oMath>
                </a14:m>
                <a:endParaRPr lang="en-US" altLang="zh-CN" b="0" dirty="0">
                  <a:solidFill>
                    <a:srgbClr val="17347D"/>
                  </a:solidFill>
                  <a:latin typeface="Arial" panose="020B0604020202020204"/>
                </a:endParaRPr>
              </a:p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9999FF"/>
                  </a:buClr>
                  <a:buSzTx/>
                  <a:buFont typeface="Wingdings" panose="05000000000000000000" pitchFamily="2" charset="2"/>
                  <a:buChar char="v"/>
                  <a:defRPr/>
                </a:pPr>
                <a:r>
                  <a:rPr kumimoji="0" lang="en-US" altLang="zh-C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7347D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B)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344D8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solidFill>
                          <a:srgbClr val="344D8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b="0" i="1" smtClean="0">
                        <a:solidFill>
                          <a:srgbClr val="344D8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b="0" i="1" smtClean="0">
                        <a:solidFill>
                          <a:srgbClr val="344D8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altLang="zh-CN" b="0" i="1" smtClean="0">
                        <a:solidFill>
                          <a:srgbClr val="344D8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)→¬</m:t>
                    </m:r>
                    <m:r>
                      <a:rPr lang="en-US" altLang="zh-CN" b="0" i="1" smtClean="0">
                        <a:solidFill>
                          <a:srgbClr val="344D8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endPara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17347D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9999FF"/>
                  </a:buClr>
                  <a:buSzTx/>
                  <a:buFont typeface="Wingdings" panose="05000000000000000000" pitchFamily="2" charset="2"/>
                  <a:buChar char="v"/>
                  <a:defRPr/>
                </a:pPr>
                <a:r>
                  <a:rPr lang="en-US" altLang="zh-CN" b="0" dirty="0">
                    <a:solidFill>
                      <a:srgbClr val="17347D"/>
                    </a:solidFill>
                    <a:latin typeface="Arial" panose="020B0604020202020204"/>
                  </a:rPr>
                  <a:t>C)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344D8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n-US" altLang="zh-CN" b="0" i="1" smtClean="0">
                        <a:solidFill>
                          <a:srgbClr val="344D8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b="0" i="1" smtClean="0">
                        <a:solidFill>
                          <a:srgbClr val="344D8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→(</m:t>
                    </m:r>
                    <m:r>
                      <a:rPr lang="en-US" altLang="zh-CN" b="0" i="1" smtClean="0">
                        <a:solidFill>
                          <a:srgbClr val="344D8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altLang="zh-CN" b="0" i="1" smtClean="0">
                        <a:solidFill>
                          <a:srgbClr val="344D8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b="0" i="1" smtClean="0">
                        <a:solidFill>
                          <a:srgbClr val="344D8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b="0" i="1" smtClean="0">
                        <a:solidFill>
                          <a:srgbClr val="344D8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b="0" dirty="0">
                  <a:solidFill>
                    <a:srgbClr val="17347D"/>
                  </a:solidFill>
                  <a:latin typeface="Arial" panose="020B0604020202020204"/>
                </a:endParaRPr>
              </a:p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9999FF"/>
                  </a:buClr>
                  <a:buSzTx/>
                  <a:buFont typeface="Wingdings" panose="05000000000000000000" pitchFamily="2" charset="2"/>
                  <a:buChar char="v"/>
                  <a:defRPr/>
                </a:pPr>
                <a:r>
                  <a:rPr kumimoji="0" lang="en-US" altLang="zh-C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7347D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D) 	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344D8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(¬</m:t>
                    </m:r>
                    <m:r>
                      <a:rPr lang="en-US" altLang="zh-CN" b="0" i="1" smtClean="0">
                        <a:solidFill>
                          <a:srgbClr val="344D8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b="0" i="1" smtClean="0">
                        <a:solidFill>
                          <a:srgbClr val="344D8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b="0" i="1" smtClean="0">
                        <a:solidFill>
                          <a:srgbClr val="344D8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altLang="zh-CN" b="0" i="1" smtClean="0">
                        <a:solidFill>
                          <a:srgbClr val="344D8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)→</m:t>
                    </m:r>
                    <m:r>
                      <a:rPr lang="en-US" altLang="zh-CN" b="0" i="1" smtClean="0">
                        <a:solidFill>
                          <a:srgbClr val="344D8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endPara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17347D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9900" y="1447800"/>
                <a:ext cx="8142605" cy="2945765"/>
              </a:xfrm>
              <a:prstGeom prst="rect">
                <a:avLst/>
              </a:prstGeom>
              <a:blipFill>
                <a:blip r:embed="rId2"/>
                <a:stretch>
                  <a:fillRect l="-1866" t="-2991" b="-5556"/>
                </a:stretch>
              </a:blipFill>
              <a:ln w="9525">
                <a:solidFill>
                  <a:schemeClr val="bg1"/>
                </a:solidFill>
                <a:miter lim="8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4D085BB3-34CD-4A1E-A41E-3CFD916FE3DA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32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6656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练习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4"/>
              <p:cNvSpPr txBox="1">
                <a:spLocks noChangeArrowheads="1"/>
              </p:cNvSpPr>
              <p:nvPr/>
            </p:nvSpPr>
            <p:spPr bwMode="auto">
              <a:xfrm>
                <a:off x="469900" y="1447800"/>
                <a:ext cx="8142605" cy="343852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/>
                </a:solidFill>
                <a:miter lim="800000"/>
              </a:ln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b="0" dirty="0">
                    <a:solidFill>
                      <a:srgbClr val="344D8D"/>
                    </a:solidFill>
                  </a:rPr>
                  <a:t>6. </a:t>
                </a:r>
                <a:r>
                  <a:rPr lang="zh-CN" altLang="en-US" b="0" dirty="0">
                    <a:solidFill>
                      <a:srgbClr val="344D8D"/>
                    </a:solidFill>
                  </a:rPr>
                  <a:t>哪个选项与命题</a:t>
                </a:r>
                <a:r>
                  <a:rPr lang="en-US" altLang="zh-CN" b="0" dirty="0">
                    <a:solidFill>
                      <a:srgbClr val="344D8D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344D8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solidFill>
                          <a:srgbClr val="344D8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b="0" i="1" smtClean="0">
                        <a:solidFill>
                          <a:srgbClr val="344D8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altLang="zh-CN" b="0" i="1" smtClean="0">
                        <a:solidFill>
                          <a:srgbClr val="344D8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b="0" i="1" smtClean="0">
                        <a:solidFill>
                          <a:srgbClr val="344D8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)→(¬</m:t>
                    </m:r>
                    <m:r>
                      <a:rPr lang="en-US" altLang="zh-CN" b="0" i="1" smtClean="0">
                        <a:solidFill>
                          <a:srgbClr val="344D8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b="0" i="1" smtClean="0">
                        <a:solidFill>
                          <a:srgbClr val="344D8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b="0" i="1" smtClean="0">
                        <a:solidFill>
                          <a:srgbClr val="344D8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b="0" i="1" smtClean="0">
                        <a:solidFill>
                          <a:srgbClr val="344D8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b="0" dirty="0">
                    <a:solidFill>
                      <a:srgbClr val="344D8D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逻辑等价</a:t>
                </a:r>
                <a:r>
                  <a:rPr lang="en-US" altLang="zh-CN" b="0" dirty="0">
                    <a:solidFill>
                      <a:srgbClr val="344D8D"/>
                    </a:solidFill>
                  </a:rPr>
                  <a:t>? </a:t>
                </a:r>
                <a:endPara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17347D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9999FF"/>
                  </a:buClr>
                  <a:buSzTx/>
                  <a:buFont typeface="Wingdings" panose="05000000000000000000" pitchFamily="2" charset="2"/>
                  <a:buChar char="v"/>
                  <a:defRPr/>
                </a:pPr>
                <a:r>
                  <a:rPr lang="en-US" altLang="zh-CN" b="0" dirty="0">
                    <a:solidFill>
                      <a:srgbClr val="17347D"/>
                    </a:solidFill>
                    <a:latin typeface="Arial" panose="020B0604020202020204"/>
                  </a:rPr>
                  <a:t>A) True</a:t>
                </a:r>
              </a:p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9999FF"/>
                  </a:buClr>
                  <a:buSzTx/>
                  <a:buFont typeface="Wingdings" panose="05000000000000000000" pitchFamily="2" charset="2"/>
                  <a:buChar char="v"/>
                  <a:defRPr/>
                </a:pPr>
                <a:r>
                  <a:rPr kumimoji="0" lang="en-US" altLang="zh-C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7347D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B) </a:t>
                </a:r>
                <a14:m>
                  <m:oMath xmlns:m="http://schemas.openxmlformats.org/officeDocument/2006/math">
                    <m:r>
                      <a:rPr kumimoji="0" lang="en-US" altLang="zh-CN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17347D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kumimoji="0" lang="en-US" altLang="zh-CN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17347D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kumimoji="0" lang="en-US" altLang="zh-CN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17347D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∨(</m:t>
                    </m:r>
                    <m:r>
                      <a:rPr kumimoji="0" lang="en-US" altLang="zh-CN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17347D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kumimoji="0" lang="en-US" altLang="zh-CN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17347D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∧¬</m:t>
                    </m:r>
                    <m:r>
                      <a:rPr kumimoji="0" lang="en-US" altLang="zh-CN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17347D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kumimoji="0" lang="en-US" altLang="zh-CN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17347D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17347D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9999FF"/>
                  </a:buClr>
                  <a:buSzTx/>
                  <a:buFont typeface="Wingdings" panose="05000000000000000000" pitchFamily="2" charset="2"/>
                  <a:buChar char="v"/>
                  <a:defRPr/>
                </a:pPr>
                <a:r>
                  <a:rPr lang="en-US" altLang="zh-CN" b="0" dirty="0">
                    <a:solidFill>
                      <a:srgbClr val="17347D"/>
                    </a:solidFill>
                    <a:latin typeface="Arial" panose="020B0604020202020204"/>
                  </a:rPr>
                  <a:t>C) False</a:t>
                </a:r>
              </a:p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9999FF"/>
                  </a:buClr>
                  <a:buSzTx/>
                  <a:buFont typeface="Wingdings" panose="05000000000000000000" pitchFamily="2" charset="2"/>
                  <a:buChar char="v"/>
                  <a:defRPr/>
                </a:pPr>
                <a:r>
                  <a:rPr kumimoji="0" lang="en-US" altLang="zh-C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17347D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D) 	</a:t>
                </a:r>
                <a14:m>
                  <m:oMath xmlns:m="http://schemas.openxmlformats.org/officeDocument/2006/math">
                    <m:r>
                      <a:rPr kumimoji="0" lang="en-US" altLang="zh-CN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17347D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宋体" panose="02010600030101010101" pitchFamily="2" charset="-122"/>
                        <a:cs typeface="+mn-cs"/>
                      </a:rPr>
                      <m:t>(</m:t>
                    </m:r>
                    <m:r>
                      <a:rPr kumimoji="0" lang="en-US" altLang="zh-CN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17347D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宋体" panose="02010600030101010101" pitchFamily="2" charset="-122"/>
                        <a:cs typeface="+mn-cs"/>
                      </a:rPr>
                      <m:t>𝑝</m:t>
                    </m:r>
                    <m:r>
                      <a:rPr lang="en-US" altLang="zh-CN" b="0" i="1">
                        <a:solidFill>
                          <a:srgbClr val="17347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altLang="zh-CN" b="0" i="1" smtClean="0">
                        <a:solidFill>
                          <a:srgbClr val="17347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b="0" i="1" smtClean="0">
                        <a:solidFill>
                          <a:srgbClr val="17347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)∨(¬</m:t>
                    </m:r>
                    <m:r>
                      <a:rPr lang="en-US" altLang="zh-CN" b="0" i="1" smtClean="0">
                        <a:solidFill>
                          <a:srgbClr val="17347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b="0" i="1" smtClean="0">
                        <a:solidFill>
                          <a:srgbClr val="17347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∧¬</m:t>
                    </m:r>
                    <m:r>
                      <a:rPr lang="en-US" altLang="zh-CN" b="0" i="1" smtClean="0">
                        <a:solidFill>
                          <a:srgbClr val="17347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b="0" i="1" smtClean="0">
                        <a:solidFill>
                          <a:srgbClr val="17347D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kumimoji="0" lang="en-US" altLang="zh-CN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17347D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</p:txBody>
          </p:sp>
        </mc:Choice>
        <mc:Fallback>
          <p:sp>
            <p:nvSpPr>
              <p:cNvPr id="2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9900" y="1447800"/>
                <a:ext cx="8142605" cy="3438525"/>
              </a:xfrm>
              <a:prstGeom prst="rect">
                <a:avLst/>
              </a:prstGeom>
              <a:blipFill>
                <a:blip r:embed="rId2"/>
                <a:stretch>
                  <a:fillRect l="-1866" t="-2564" b="-4396"/>
                </a:stretch>
              </a:blipFill>
              <a:ln w="9525">
                <a:solidFill>
                  <a:schemeClr val="bg1"/>
                </a:solidFill>
                <a:miter lim="800000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03839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785C6734-06B8-4D32-8EF5-CE4127B61D43}" type="slidenum">
              <a:rPr lang="en-US" altLang="zh-CN" sz="1200" b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33</a:t>
            </a:fld>
            <a:endParaRPr lang="en-US" altLang="zh-CN" sz="1200" b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34819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3D226893-2DCA-4ED0-9E05-3EA833E2BCD0}" type="slidenum">
              <a:rPr lang="en-US" altLang="zh-CN" sz="1200" b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33</a:t>
            </a:fld>
            <a:endParaRPr lang="en-US" altLang="zh-CN" sz="1200" b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3482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33425" y="731838"/>
            <a:ext cx="8105775" cy="563562"/>
          </a:xfrm>
        </p:spPr>
        <p:txBody>
          <a:bodyPr/>
          <a:lstStyle/>
          <a:p>
            <a:pPr eaLnBrk="1" hangingPunct="1"/>
            <a:r>
              <a:rPr lang="en-US" altLang="zh-CN" sz="2400">
                <a:ea typeface="宋体" panose="02010600030101010101" pitchFamily="2" charset="-122"/>
              </a:rPr>
              <a:t>涉及二条件的逻辑等价关系</a:t>
            </a:r>
          </a:p>
        </p:txBody>
      </p:sp>
      <p:sp>
        <p:nvSpPr>
          <p:cNvPr id="3482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zh-CN" b="1" i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p </a:t>
            </a:r>
            <a:r>
              <a:rPr lang="en-US" altLang="zh-CN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 </a:t>
            </a:r>
            <a:r>
              <a:rPr lang="en-US" altLang="zh-CN" b="1" i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b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</a:t>
            </a:r>
            <a:r>
              <a:rPr lang="en-US" altLang="zh-CN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b="1" i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b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b="1" i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</a:p>
          <a:p>
            <a:pPr eaLnBrk="1" hangingPunct="1"/>
            <a:r>
              <a:rPr lang="en-US" altLang="zh-CN" b="1" i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 </a:t>
            </a:r>
            <a:r>
              <a:rPr lang="en-US" altLang="zh-CN" b="1" i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b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 </a:t>
            </a:r>
            <a:r>
              <a:rPr lang="en-US" altLang="zh-CN" b="1" i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 </a:t>
            </a:r>
            <a:r>
              <a:rPr lang="en-US" altLang="zh-CN" b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 </a:t>
            </a:r>
            <a:r>
              <a:rPr lang="en-US" altLang="zh-CN" i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</a:p>
          <a:p>
            <a:pPr eaLnBrk="1" hangingPunct="1"/>
            <a:r>
              <a:rPr lang="en-US" altLang="zh-CN" b="1" i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p </a:t>
            </a:r>
            <a:r>
              <a:rPr lang="en-US" altLang="zh-CN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 </a:t>
            </a:r>
            <a:r>
              <a:rPr lang="en-US" altLang="zh-CN" b="1" i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b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</a:t>
            </a:r>
            <a:r>
              <a:rPr lang="en-US" altLang="zh-CN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b="1" i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( </a:t>
            </a:r>
            <a:r>
              <a:rPr lang="en-US" altLang="zh-CN" b="1" i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 </a:t>
            </a:r>
            <a:r>
              <a:rPr lang="en-US" altLang="zh-CN" b="1" i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</a:p>
          <a:p>
            <a:pPr eaLnBrk="1" hangingPunct="1"/>
            <a:r>
              <a:rPr lang="en-US" altLang="zh-CN" b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 </a:t>
            </a:r>
            <a:r>
              <a:rPr lang="en-US" altLang="zh-CN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 </a:t>
            </a:r>
            <a:r>
              <a:rPr lang="en-US" altLang="zh-CN" b="1" i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</a:t>
            </a:r>
            <a:r>
              <a:rPr lang="en-US" altLang="zh-CN" b="1" i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 </a:t>
            </a:r>
            <a:r>
              <a:rPr lang="en-US" altLang="zh-CN" b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 </a:t>
            </a:r>
            <a:r>
              <a:rPr lang="en-US" altLang="zh-CN" i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8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8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8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8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8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8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48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48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1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C05883DD-CC0A-448B-9C65-67D9883089B7}" type="slidenum">
              <a:rPr lang="en-US" altLang="zh-CN" sz="1200" b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34</a:t>
            </a:fld>
            <a:endParaRPr lang="en-US" altLang="zh-CN" sz="1200" b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2800" i="1"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 </a:t>
            </a:r>
            <a:r>
              <a:rPr lang="en-US" altLang="zh-CN" sz="2800" i="1"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 (</a:t>
            </a:r>
            <a:r>
              <a:rPr lang="en-US" altLang="zh-CN" sz="2800" i="1"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800" i="1"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)  (</a:t>
            </a:r>
            <a:r>
              <a:rPr lang="en-US" altLang="zh-CN" sz="2800" i="1"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800" i="1"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endParaRPr lang="zh-CN" altLang="en-US" sz="280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5844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 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(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(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</a:p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如果 p=q 则 = T，如果 p 和 q 不同则 = F</a:t>
            </a:r>
          </a:p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因此 (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(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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8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8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8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8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58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58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4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7A2ABEC9-B25C-41EF-B2C2-3A56BC044084}" type="slidenum">
              <a:rPr lang="en-US" altLang="zh-CN" sz="1200" b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35</a:t>
            </a:fld>
            <a:endParaRPr lang="en-US" altLang="zh-CN" sz="1200" b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2800" i="1"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 </a:t>
            </a:r>
            <a:r>
              <a:rPr lang="en-US" altLang="zh-CN" sz="2800" i="1"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  </a:t>
            </a:r>
            <a:r>
              <a:rPr lang="en-US" altLang="zh-CN" sz="2800" i="1"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  </a:t>
            </a:r>
            <a:r>
              <a:rPr lang="en-US" altLang="zh-CN" sz="2800" i="1"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endParaRPr lang="zh-CN" altLang="en-US" sz="2800" i="1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6868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 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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</a:p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(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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(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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</a:p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( 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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( 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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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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(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(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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endParaRPr lang="zh-CN" altLang="en-US" b="1" i="1" dirty="0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8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8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8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8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68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68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68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68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68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68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68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68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8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2CDF2BE3-5DC5-4D98-BEFB-4F143F49092E}" type="slidenum">
              <a:rPr lang="en-US" altLang="zh-CN" sz="1200" b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36</a:t>
            </a:fld>
            <a:endParaRPr lang="en-US" altLang="zh-CN" sz="1200" b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2800" i="1"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 </a:t>
            </a:r>
            <a:r>
              <a:rPr lang="en-US" altLang="zh-CN" sz="2800" i="1"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 (</a:t>
            </a:r>
            <a:r>
              <a:rPr lang="en-US" altLang="zh-CN" sz="2800" i="1"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sz="2800" i="1"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)  ( </a:t>
            </a:r>
            <a:r>
              <a:rPr lang="en-US" altLang="zh-CN" sz="2800" i="1"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  </a:t>
            </a:r>
            <a:r>
              <a:rPr lang="en-US" altLang="zh-CN" sz="2800" i="1"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endParaRPr lang="zh-CN" altLang="en-US" sz="280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789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419225"/>
            <a:ext cx="8534400" cy="4879975"/>
          </a:xfrm>
        </p:spPr>
        <p:txBody>
          <a:bodyPr/>
          <a:lstStyle/>
          <a:p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  p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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</a:p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(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(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</a:p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((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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 ((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</a:p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pq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)(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q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) (</a:t>
            </a:r>
            <a:r>
              <a:rPr lang="en-US" altLang="zh-CN" b="1" i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pp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(p 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F  F  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(p 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</a:p>
          <a:p>
            <a:r>
              <a:rPr lang="en-US" altLang="zh-CN" sz="28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第一种证明方法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8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8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8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8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8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78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78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78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78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78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8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8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78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78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78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78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2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F92A4597-4E21-46F8-BE76-4273EF432756}" type="slidenum">
              <a:rPr lang="en-US" altLang="zh-CN" sz="1200" b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37</a:t>
            </a:fld>
            <a:endParaRPr lang="en-US" altLang="zh-CN" sz="1200" b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2800" i="1"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 </a:t>
            </a:r>
            <a:r>
              <a:rPr lang="en-US" altLang="zh-CN" sz="2800" i="1"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 (</a:t>
            </a:r>
            <a:r>
              <a:rPr lang="en-US" altLang="zh-CN" sz="2800" i="1"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sz="2800" i="1"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)  ( </a:t>
            </a:r>
            <a:r>
              <a:rPr lang="en-US" altLang="zh-CN" sz="2800" i="1"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  </a:t>
            </a:r>
            <a:r>
              <a:rPr lang="en-US" altLang="zh-CN" sz="2800" i="1"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endParaRPr lang="zh-CN" altLang="en-US" sz="280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891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419225"/>
            <a:ext cx="8534400" cy="4879975"/>
          </a:xfrm>
        </p:spPr>
        <p:txBody>
          <a:bodyPr/>
          <a:lstStyle/>
          <a:p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  p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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</a:p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(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(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</a:p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((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T )  ((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T ) </a:t>
            </a:r>
          </a:p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(p 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)(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 (q 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 (q 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</a:p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(p 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))  (q 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(p 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</a:p>
          <a:p>
            <a:r>
              <a:rPr lang="en-US" altLang="zh-CN" sz="28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第二种证明方法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9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9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9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9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89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89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89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89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89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89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89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89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89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89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6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F85E4E7E-DCF7-4A4E-9011-530581D33254}" type="slidenum">
              <a:rPr lang="en-US" altLang="zh-CN" sz="1200" b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38</a:t>
            </a:fld>
            <a:endParaRPr lang="en-US" altLang="zh-CN" sz="1200" b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 (</a:t>
            </a:r>
            <a:r>
              <a:rPr lang="en-US" altLang="zh-CN" sz="2800" i="1"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 </a:t>
            </a:r>
            <a:r>
              <a:rPr lang="en-US" altLang="zh-CN" sz="2800" i="1"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)  </a:t>
            </a:r>
            <a:r>
              <a:rPr lang="en-US" altLang="zh-CN" sz="2800" i="1"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  </a:t>
            </a:r>
            <a:r>
              <a:rPr lang="en-US" altLang="zh-CN" sz="2800" i="1"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endParaRPr lang="zh-CN" altLang="en-US" sz="2800" i="1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994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371600"/>
            <a:ext cx="8229600" cy="5334000"/>
          </a:xfrm>
        </p:spPr>
        <p:txBody>
          <a:bodyPr/>
          <a:lstStyle/>
          <a:p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    </a:t>
            </a:r>
            <a:r>
              <a:rPr lang="en-US" altLang="zh-CN" sz="28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sz="28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 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sz="28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((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(p  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q</a:t>
            </a:r>
            <a:r>
              <a:rPr lang="en-US" altLang="zh-CN" sz="28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))</a:t>
            </a:r>
          </a:p>
          <a:p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(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  (p  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q</a:t>
            </a:r>
            <a:r>
              <a:rPr lang="en-US" altLang="zh-CN" sz="28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(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q 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p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 (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sz="28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(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p 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q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 (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28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(p  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q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 (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q 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p</a:t>
            </a:r>
            <a:r>
              <a:rPr lang="en-US" altLang="zh-CN" sz="28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sz="28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 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q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9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9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9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9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9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9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99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99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99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99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99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99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99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99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0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4BC621EA-62B8-4611-B4AF-7D2F07702195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39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5325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练习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3"/>
              <p:cNvSpPr txBox="1">
                <a:spLocks noChangeArrowheads="1"/>
              </p:cNvSpPr>
              <p:nvPr/>
            </p:nvSpPr>
            <p:spPr bwMode="auto">
              <a:xfrm>
                <a:off x="0" y="1447800"/>
                <a:ext cx="9145588" cy="47259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b="0" dirty="0">
                    <a:ea typeface="宋体" panose="02010600030101010101" pitchFamily="2" charset="-122"/>
                  </a:rPr>
                  <a:t>7. </a:t>
                </a:r>
                <a:r>
                  <a:rPr lang="zh-CN" altLang="en-US" b="0" dirty="0">
                    <a:ea typeface="宋体" panose="02010600030101010101" pitchFamily="2" charset="-122"/>
                  </a:rPr>
                  <a:t>哪个逻辑命题与命题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/>
                        <a:ea typeface="Cambria Math" panose="02040503050406030204"/>
                      </a:rPr>
                      <m:t>¬(</m:t>
                    </m:r>
                    <m:r>
                      <a:rPr lang="en-US" altLang="zh-CN" b="0" i="1" smtClean="0">
                        <a:latin typeface="Cambria Math" panose="02040503050406030204"/>
                        <a:ea typeface="Cambria Math" panose="02040503050406030204"/>
                      </a:rPr>
                      <m:t>𝑝</m:t>
                    </m:r>
                    <m:r>
                      <a:rPr lang="en-US" altLang="zh-CN" b="0" i="1" smtClean="0">
                        <a:latin typeface="Cambria Math" panose="02040503050406030204"/>
                        <a:ea typeface="Cambria Math" panose="02040503050406030204"/>
                      </a:rPr>
                      <m:t>↔</m:t>
                    </m:r>
                    <m:r>
                      <a:rPr lang="en-US" altLang="zh-CN" b="0" i="1" smtClean="0">
                        <a:latin typeface="Cambria Math" panose="02040503050406030204"/>
                        <a:ea typeface="Cambria Math" panose="02040503050406030204"/>
                      </a:rPr>
                      <m:t>𝑞</m:t>
                    </m:r>
                    <m:r>
                      <a:rPr lang="en-US" altLang="zh-CN" b="0" i="1" smtClean="0">
                        <a:latin typeface="Cambria Math" panose="02040503050406030204"/>
                        <a:ea typeface="Cambria Math" panose="02040503050406030204"/>
                      </a:rPr>
                      <m:t>)</m:t>
                    </m:r>
                  </m:oMath>
                </a14:m>
                <a:r>
                  <a:rPr lang="zh-CN" altLang="en-US" b="0" dirty="0">
                    <a:ea typeface="宋体" panose="02010600030101010101" pitchFamily="2" charset="-122"/>
                  </a:rPr>
                  <a:t>逻辑等价</a:t>
                </a:r>
                <a:r>
                  <a:rPr lang="en-US" altLang="zh-CN" b="0" dirty="0">
                    <a:ea typeface="宋体" panose="02010600030101010101" pitchFamily="2" charset="-122"/>
                  </a:rPr>
                  <a:t>? </a:t>
                </a:r>
              </a:p>
              <a:p>
                <a:r>
                  <a:rPr lang="en-US" altLang="zh-CN" b="0" dirty="0">
                    <a:ea typeface="宋体" panose="02010600030101010101" pitchFamily="2" charset="-122"/>
                  </a:rPr>
                  <a:t>A) 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/>
                        <a:ea typeface="Cambria Math" panose="02040503050406030204"/>
                      </a:rPr>
                      <m:t>(¬</m:t>
                    </m:r>
                    <m:r>
                      <a:rPr lang="en-US" altLang="zh-CN" b="0" i="1">
                        <a:latin typeface="Cambria Math" panose="02040503050406030204"/>
                        <a:ea typeface="Cambria Math" panose="02040503050406030204"/>
                      </a:rPr>
                      <m:t>𝑝</m:t>
                    </m:r>
                    <m:r>
                      <a:rPr lang="en-US" altLang="zh-CN" b="0" i="1" smtClean="0">
                        <a:latin typeface="Cambria Math" panose="02040503050406030204"/>
                        <a:ea typeface="Cambria Math" panose="02040503050406030204"/>
                      </a:rPr>
                      <m:t>∧</m:t>
                    </m:r>
                    <m:r>
                      <a:rPr lang="en-US" altLang="zh-CN" b="0" i="1">
                        <a:latin typeface="Cambria Math" panose="02040503050406030204"/>
                        <a:ea typeface="Cambria Math" panose="02040503050406030204"/>
                      </a:rPr>
                      <m:t>𝑞</m:t>
                    </m:r>
                    <m:r>
                      <a:rPr lang="en-US" altLang="zh-CN" b="0" i="1">
                        <a:latin typeface="Cambria Math" panose="02040503050406030204"/>
                        <a:ea typeface="Cambria Math" panose="02040503050406030204"/>
                      </a:rPr>
                      <m:t>)∨(</m:t>
                    </m:r>
                    <m:r>
                      <a:rPr lang="en-US" altLang="zh-CN" b="0" i="1">
                        <a:latin typeface="Cambria Math" panose="02040503050406030204"/>
                        <a:ea typeface="Cambria Math" panose="02040503050406030204"/>
                      </a:rPr>
                      <m:t>𝑝</m:t>
                    </m:r>
                    <m:r>
                      <a:rPr lang="en-US" altLang="zh-CN" b="0" i="1">
                        <a:latin typeface="Cambria Math" panose="02040503050406030204"/>
                        <a:ea typeface="Cambria Math" panose="02040503050406030204"/>
                      </a:rPr>
                      <m:t>∧¬</m:t>
                    </m:r>
                    <m:r>
                      <a:rPr lang="en-US" altLang="zh-CN" b="0" i="1">
                        <a:latin typeface="Cambria Math" panose="02040503050406030204"/>
                        <a:ea typeface="Cambria Math" panose="02040503050406030204"/>
                      </a:rPr>
                      <m:t>𝑞</m:t>
                    </m:r>
                    <m:r>
                      <a:rPr lang="en-US" altLang="zh-CN" b="0" i="1">
                        <a:latin typeface="Cambria Math" panose="02040503050406030204"/>
                        <a:ea typeface="Cambria Math" panose="02040503050406030204"/>
                      </a:rPr>
                      <m:t>)</m:t>
                    </m:r>
                  </m:oMath>
                </a14:m>
                <a:endParaRPr lang="en-US" altLang="zh-CN" b="0" dirty="0">
                  <a:ea typeface="宋体" panose="02010600030101010101" pitchFamily="2" charset="-122"/>
                </a:endParaRPr>
              </a:p>
              <a:p>
                <a:r>
                  <a:rPr lang="en-US" altLang="zh-CN" b="0" dirty="0">
                    <a:ea typeface="宋体" panose="02010600030101010101" pitchFamily="2" charset="-122"/>
                  </a:rPr>
                  <a:t>B) 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/>
                        <a:ea typeface="Cambria Math" panose="02040503050406030204"/>
                      </a:rPr>
                      <m:t>¬</m:t>
                    </m:r>
                    <m:r>
                      <a:rPr lang="en-US" altLang="zh-CN" b="0" i="1">
                        <a:latin typeface="Cambria Math" panose="02040503050406030204"/>
                        <a:ea typeface="Cambria Math" panose="02040503050406030204"/>
                      </a:rPr>
                      <m:t>𝑝</m:t>
                    </m:r>
                    <m:r>
                      <a:rPr lang="en-US" altLang="zh-CN" b="0" i="1">
                        <a:latin typeface="Cambria Math" panose="02040503050406030204"/>
                        <a:ea typeface="Cambria Math" panose="02040503050406030204"/>
                      </a:rPr>
                      <m:t>↔¬</m:t>
                    </m:r>
                    <m:r>
                      <a:rPr lang="en-US" altLang="zh-CN" b="0" i="1">
                        <a:latin typeface="Cambria Math" panose="02040503050406030204"/>
                        <a:ea typeface="Cambria Math" panose="02040503050406030204"/>
                      </a:rPr>
                      <m:t>𝑞</m:t>
                    </m:r>
                    <m:r>
                      <a:rPr lang="en-US" altLang="zh-CN" b="0" i="1">
                        <a:latin typeface="Cambria Math" panose="02040503050406030204"/>
                        <a:ea typeface="Cambria Math" panose="02040503050406030204"/>
                      </a:rPr>
                      <m:t> </m:t>
                    </m:r>
                  </m:oMath>
                </a14:m>
                <a:endParaRPr lang="en-US" altLang="zh-CN" b="0" dirty="0">
                  <a:ea typeface="宋体" panose="02010600030101010101" pitchFamily="2" charset="-122"/>
                </a:endParaRPr>
              </a:p>
              <a:p>
                <a:r>
                  <a:rPr lang="en-US" altLang="zh-CN" b="0" dirty="0">
                    <a:ea typeface="宋体" panose="02010600030101010101" pitchFamily="2" charset="-122"/>
                  </a:rPr>
                  <a:t>C)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/>
                        <a:ea typeface="Cambria Math" panose="02040503050406030204"/>
                      </a:rPr>
                      <m:t> </m:t>
                    </m:r>
                    <m:r>
                      <a:rPr lang="en-US" altLang="zh-CN" b="0" i="1">
                        <a:latin typeface="Cambria Math" panose="02040503050406030204"/>
                        <a:ea typeface="Cambria Math" panose="02040503050406030204"/>
                      </a:rPr>
                      <m:t>¬</m:t>
                    </m:r>
                    <m:r>
                      <a:rPr lang="en-US" altLang="zh-CN" b="0" i="1">
                        <a:latin typeface="Cambria Math" panose="02040503050406030204"/>
                        <a:ea typeface="Cambria Math" panose="02040503050406030204"/>
                      </a:rPr>
                      <m:t>𝑝</m:t>
                    </m:r>
                    <m:r>
                      <a:rPr lang="en-US" altLang="zh-CN" b="0" i="1">
                        <a:latin typeface="Cambria Math" panose="02040503050406030204"/>
                        <a:ea typeface="Cambria Math" panose="02040503050406030204"/>
                      </a:rPr>
                      <m:t>∧¬</m:t>
                    </m:r>
                    <m:r>
                      <a:rPr lang="en-US" altLang="zh-CN" b="0" i="1">
                        <a:latin typeface="Cambria Math" panose="02040503050406030204"/>
                        <a:ea typeface="Cambria Math" panose="02040503050406030204"/>
                      </a:rPr>
                      <m:t>𝑞</m:t>
                    </m:r>
                  </m:oMath>
                </a14:m>
                <a:endParaRPr lang="en-US" altLang="zh-CN" b="0" dirty="0">
                  <a:ea typeface="宋体" panose="02010600030101010101" pitchFamily="2" charset="-122"/>
                </a:endParaRPr>
              </a:p>
              <a:p>
                <a:r>
                  <a:rPr lang="en-US" altLang="zh-CN" b="0" dirty="0">
                    <a:ea typeface="宋体" panose="02010600030101010101" pitchFamily="2" charset="-122"/>
                  </a:rPr>
                  <a:t>D) 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/>
                        <a:ea typeface="Cambria Math" panose="02040503050406030204"/>
                      </a:rPr>
                      <m:t>𝑝</m:t>
                    </m:r>
                    <m:r>
                      <a:rPr lang="en-US" altLang="zh-CN" b="0" i="1">
                        <a:latin typeface="Cambria Math" panose="02040503050406030204"/>
                        <a:ea typeface="Cambria Math" panose="02040503050406030204"/>
                      </a:rPr>
                      <m:t>∧¬</m:t>
                    </m:r>
                    <m:r>
                      <a:rPr lang="en-US" altLang="zh-CN" b="0" i="1">
                        <a:latin typeface="Cambria Math" panose="02040503050406030204"/>
                        <a:ea typeface="Cambria Math" panose="02040503050406030204"/>
                      </a:rPr>
                      <m:t>𝑞</m:t>
                    </m:r>
                  </m:oMath>
                </a14:m>
                <a:endParaRPr lang="en-US" altLang="zh-CN" b="0" dirty="0"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5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1447800"/>
                <a:ext cx="9145588" cy="4725988"/>
              </a:xfrm>
              <a:prstGeom prst="rect">
                <a:avLst/>
              </a:prstGeom>
              <a:blipFill>
                <a:blip r:embed="rId2"/>
                <a:stretch>
                  <a:fillRect l="-1667" t="-214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4582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19495B3F-701A-46AE-B4C1-2BD586C754A8}" type="slidenum">
              <a:rPr lang="en-US" altLang="zh-CN" sz="1200" b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40</a:t>
            </a:fld>
            <a:endParaRPr lang="en-US" altLang="zh-CN" sz="1200" b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40963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B1DE88AF-9FB9-402E-8461-CF1B9CE90E8A}" type="slidenum">
              <a:rPr lang="en-US" altLang="zh-CN" sz="1200" b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40</a:t>
            </a:fld>
            <a:endParaRPr lang="en-US" altLang="zh-CN" sz="1200" b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4096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通过等价定义运算符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4096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 err="1">
                <a:ea typeface="宋体" panose="02010600030101010101" pitchFamily="2" charset="-122"/>
              </a:rPr>
              <a:t>有些等价关系可以看作是一个算子对其他算子的</a:t>
            </a:r>
            <a:r>
              <a:rPr lang="en-US" altLang="zh-CN" sz="2800" i="1" dirty="0" err="1">
                <a:ea typeface="宋体" panose="02010600030101010101" pitchFamily="2" charset="-122"/>
              </a:rPr>
              <a:t>定义</a:t>
            </a:r>
            <a:r>
              <a:rPr lang="en-US" altLang="zh-CN" sz="2800" dirty="0">
                <a:ea typeface="宋体" panose="02010600030101010101" pitchFamily="2" charset="-122"/>
              </a:rPr>
              <a:t>：</a:t>
            </a:r>
          </a:p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异或</a:t>
            </a:r>
            <a:r>
              <a:rPr lang="en-US" altLang="zh-CN" dirty="0">
                <a:ea typeface="宋体" panose="02010600030101010101" pitchFamily="2" charset="-122"/>
              </a:rPr>
              <a:t>： 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pq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pq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)(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pq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b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          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pq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pq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)(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qp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pPr eaLnBrk="1" hangingPunct="1"/>
            <a:r>
              <a:rPr lang="zh-CN" altLang="en-US" dirty="0">
                <a:ea typeface="宋体" panose="02010600030101010101" pitchFamily="2" charset="-122"/>
                <a:sym typeface="Symbol" panose="05050102010706020507" pitchFamily="18" charset="2"/>
              </a:rPr>
              <a:t>蕴含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： 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pq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 p 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</a:p>
          <a:p>
            <a:pPr eaLnBrk="1" hangingPunct="1"/>
            <a:r>
              <a:rPr lang="zh-CN" altLang="en-US" dirty="0">
                <a:ea typeface="宋体" panose="02010600030101010101" pitchFamily="2" charset="-122"/>
                <a:sym typeface="Symbol" panose="05050102010706020507" pitchFamily="18" charset="2"/>
              </a:rPr>
              <a:t>双向蕴含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： 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pq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 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pq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 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qp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b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                  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pq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 (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pq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9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9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9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9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09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09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5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23B63841-4584-4CA0-B850-39A7DA17449E}" type="slidenum">
              <a:rPr lang="en-US" altLang="zh-CN" sz="1200" b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41</a:t>
            </a:fld>
            <a:endParaRPr lang="en-US" altLang="zh-CN" sz="1200" b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2800" i="1">
                <a:ea typeface="宋体" panose="02010600030101010101" pitchFamily="2" charset="-122"/>
              </a:rPr>
              <a:t>p </a:t>
            </a: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 </a:t>
            </a:r>
            <a:r>
              <a:rPr lang="en-US" altLang="zh-CN" sz="2800" i="1"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 (</a:t>
            </a:r>
            <a:r>
              <a:rPr lang="en-US" altLang="zh-CN" sz="2800" i="1"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sz="2800" i="1"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)  ( </a:t>
            </a:r>
            <a:r>
              <a:rPr lang="en-US" altLang="zh-CN" sz="2800" i="1"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sz="2800" i="1"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endParaRPr lang="zh-CN" altLang="en-US" sz="280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1988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    p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 q </a:t>
            </a:r>
          </a:p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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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((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(p 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))</a:t>
            </a:r>
          </a:p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(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  (p 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q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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 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 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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 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endParaRPr lang="en-US" altLang="zh-CN" dirty="0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9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9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9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9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9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9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19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19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19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19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19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19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19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19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8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B808A34D-24CC-48AD-A3AB-BC563D47822F}" type="slidenum">
              <a:rPr lang="en-US" altLang="zh-CN" sz="1200" b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42</a:t>
            </a:fld>
            <a:endParaRPr lang="en-US" altLang="zh-CN" sz="1200" b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2800" i="1">
                <a:ea typeface="宋体" panose="02010600030101010101" pitchFamily="2" charset="-122"/>
              </a:rPr>
              <a:t>p </a:t>
            </a: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 </a:t>
            </a:r>
            <a:r>
              <a:rPr lang="en-US" altLang="zh-CN" sz="2800" i="1"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 ( </a:t>
            </a:r>
            <a:r>
              <a:rPr lang="en-US" altLang="zh-CN" sz="2800" i="1"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 q )( </a:t>
            </a:r>
            <a:r>
              <a:rPr lang="en-US" altLang="zh-CN" sz="2800" i="1"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sz="2800" i="1">
                <a:ea typeface="宋体" panose="02010600030101010101" pitchFamily="2" charset="-122"/>
                <a:sym typeface="Symbol" panose="05050102010706020507" pitchFamily="18" charset="2"/>
              </a:rPr>
              <a:t>p</a:t>
            </a: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endParaRPr lang="zh-CN" altLang="en-US" sz="280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3012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  (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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 (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p )</a:t>
            </a:r>
          </a:p>
          <a:p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 ( ((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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 (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p )))</a:t>
            </a:r>
          </a:p>
          <a:p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 ( (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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  (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p ))</a:t>
            </a:r>
            <a:endParaRPr lang="en-US" altLang="zh-CN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 ((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 (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q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p)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endParaRPr lang="en-US" altLang="zh-CN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 ((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 (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 (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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</a:rPr>
              <a:t>p 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 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endParaRPr lang="en-US" altLang="zh-CN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endParaRPr lang="en-US" altLang="zh-CN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0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0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0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30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30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30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30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30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30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30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30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30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30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30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2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17BE1222-BFF3-4278-96E7-D47B67700E2C}" type="slidenum">
              <a:rPr lang="en-US" altLang="zh-CN" sz="1200" b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43</a:t>
            </a:fld>
            <a:endParaRPr lang="en-US" altLang="zh-CN" sz="1200" b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2800">
                <a:ea typeface="宋体" panose="02010600030101010101" pitchFamily="2" charset="-122"/>
              </a:rPr>
              <a:t>示例 1</a:t>
            </a:r>
          </a:p>
        </p:txBody>
      </p:sp>
      <p:sp>
        <p:nvSpPr>
          <p:cNvPr id="44036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(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(p 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))  p  q ?</a:t>
            </a:r>
          </a:p>
          <a:p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 (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(p 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))</a:t>
            </a:r>
          </a:p>
          <a:p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p  (p 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p  (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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p 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p  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</a:p>
          <a:p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F  p  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</a:p>
          <a:p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p  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endParaRPr lang="zh-CN" altLang="en-US" b="1" i="1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0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0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40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40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40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40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40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40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40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40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40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40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6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6536385A-5D73-402C-A590-1366EB6A1B92}" type="slidenum">
              <a:rPr lang="en-US" altLang="zh-CN" sz="1200" b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44</a:t>
            </a:fld>
            <a:endParaRPr lang="en-US" altLang="zh-CN" sz="1200" b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4505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2800">
                <a:ea typeface="宋体" panose="02010600030101010101" pitchFamily="2" charset="-122"/>
              </a:rPr>
              <a:t>示例 2</a:t>
            </a:r>
          </a:p>
        </p:txBody>
      </p:sp>
      <p:sp>
        <p:nvSpPr>
          <p:cNvPr id="45060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T</a:t>
            </a:r>
          </a:p>
          <a:p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  (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</a:p>
          <a:p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 (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 (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(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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 (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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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</a:p>
          <a:p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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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endParaRPr lang="zh-CN" altLang="en-US" b="1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T  T</a:t>
            </a:r>
          </a:p>
          <a:p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T</a:t>
            </a:r>
            <a:endParaRPr lang="zh-CN" altLang="en-US" b="1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0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0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0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0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50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50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50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50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50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50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50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50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50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50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50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50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0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CDA9802A-98CC-4DBD-9564-85F81104C89A}" type="slidenum">
              <a:rPr lang="en-US" altLang="zh-CN" sz="1200" b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45</a:t>
            </a:fld>
            <a:endParaRPr lang="en-US" altLang="zh-CN" sz="1200" b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46083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2B8901E7-B6FD-4F57-BF2E-F99547251147}" type="slidenum">
              <a:rPr lang="en-US" altLang="zh-CN" sz="1200" b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45</a:t>
            </a:fld>
            <a:endParaRPr lang="en-US" altLang="zh-CN" sz="1200" b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4608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示例 3</a:t>
            </a:r>
          </a:p>
        </p:txBody>
      </p:sp>
      <p:sp>
        <p:nvSpPr>
          <p:cNvPr id="4608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利用等价关系证明 </a:t>
            </a:r>
            <a:br>
              <a:rPr lang="en-US" altLang="zh-CN" sz="28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sz="28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sz="28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sz="2800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q</a:t>
            </a:r>
            <a:r>
              <a:rPr lang="en-US" altLang="zh-CN" sz="28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 (</a:t>
            </a:r>
            <a:r>
              <a:rPr lang="en-US" altLang="zh-CN" sz="2800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sz="28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 </a:t>
            </a:r>
            <a:r>
              <a:rPr lang="en-US" altLang="zh-CN" sz="2800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28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sz="2800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</a:t>
            </a:r>
            <a:r>
              <a:rPr lang="en-US" altLang="zh-CN" sz="28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p  </a:t>
            </a:r>
            <a:r>
              <a:rPr lang="en-US" altLang="zh-CN" sz="2800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sz="28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sz="2800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r</a:t>
            </a:r>
            <a:r>
              <a:rPr lang="en-US" altLang="zh-CN" sz="28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8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GB" altLang="en-US" sz="2800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如果使用真值表就简单多了</a:t>
            </a:r>
            <a:r>
              <a:rPr lang="en-GB" altLang="en-US" sz="28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！）。</a:t>
            </a:r>
            <a:endParaRPr lang="en-US" altLang="zh-CN" sz="2800" dirty="0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800" dirty="0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q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 (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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[扩展  的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定义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]</a:t>
            </a:r>
            <a:endParaRPr lang="en-US" altLang="zh-CN" sz="2400" b="1" i="1" dirty="0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	 (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q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sz="2400" b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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r) [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扩展  的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定义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]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	 (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q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 (</a:t>
            </a:r>
            <a:r>
              <a:rPr lang="en-US" altLang="zh-CN" sz="2400" b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400" b="1" i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sz="2400" b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sz="2400" b="1" i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2400" b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 (</a:t>
            </a:r>
            <a:r>
              <a:rPr lang="en-US" altLang="zh-CN" sz="2400" b="1" i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sz="2400" b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sz="2400" b="1" i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r)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[</a:t>
            </a:r>
            <a:r>
              <a:rPr lang="zh-CN" altLang="en-US" sz="24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德摩根律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]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	 </a:t>
            </a:r>
            <a:r>
              <a:rPr lang="en-US" altLang="zh-CN" sz="2400" b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400" b="1" i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p </a:t>
            </a:r>
            <a:r>
              <a:rPr lang="en-US" altLang="zh-CN" sz="2400" b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sz="2400" b="1" i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sz="2400" b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((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 (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                   		                           续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0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0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60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60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60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60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60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60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60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60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60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60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608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608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5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A704AF3C-0693-48B0-B0BB-62B576ED1F16}" type="slidenum">
              <a:rPr lang="en-US" altLang="zh-CN" sz="1200" b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46</a:t>
            </a:fld>
            <a:endParaRPr lang="en-US" altLang="zh-CN" sz="1200" b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47107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C4FAB462-BE38-4442-9587-43E255AB0554}" type="slidenum">
              <a:rPr lang="en-US" altLang="zh-CN" sz="1200" b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46</a:t>
            </a:fld>
            <a:endParaRPr lang="en-US" altLang="zh-CN" sz="1200" b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4710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续...</a:t>
            </a:r>
          </a:p>
        </p:txBody>
      </p:sp>
      <p:sp>
        <p:nvSpPr>
          <p:cNvPr id="4710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(p  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 ((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 (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))  [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zh-CN" altLang="en-US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交换律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]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(</a:t>
            </a:r>
            <a:r>
              <a:rPr lang="en-US" altLang="zh-CN" sz="2800" b="1" i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sz="2800" b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sz="2800" b="1" i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p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 ((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 (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)) 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[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zh-CN" altLang="en-US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结合律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]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(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p 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((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 (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)))  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[</a:t>
            </a:r>
            <a:r>
              <a:rPr lang="zh-CN" altLang="en-US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分配律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.  over ]</a:t>
            </a:r>
          </a:p>
          <a:p>
            <a:pPr eaLnBrk="1" hangingPunct="1">
              <a:lnSpc>
                <a:spcPct val="90000"/>
              </a:lnSpc>
              <a:buFont typeface="Symbol" panose="05050102010706020507" pitchFamily="18" charset="2"/>
              <a:buChar char="Û"/>
            </a:pP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(((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p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 (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))  </a:t>
            </a:r>
            <a:r>
              <a:rPr lang="en-US" altLang="zh-CN" sz="2800" b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800" b="1" i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p</a:t>
            </a:r>
            <a:r>
              <a:rPr lang="en-US" altLang="zh-CN" sz="2800" b="1" u="sng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 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(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r)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)))  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[</a:t>
            </a:r>
            <a:r>
              <a:rPr lang="zh-CN" altLang="en-US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交换律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]</a:t>
            </a:r>
          </a:p>
          <a:p>
            <a:pPr eaLnBrk="1" hangingPunct="1">
              <a:lnSpc>
                <a:spcPct val="90000"/>
              </a:lnSpc>
              <a:buFont typeface="Symbol" panose="05050102010706020507" pitchFamily="18" charset="2"/>
              <a:buChar char="Û"/>
            </a:pP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(((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p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 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 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 (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p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 (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r)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))  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[</a:t>
            </a:r>
            <a:r>
              <a:rPr lang="zh-CN" altLang="en-US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结合律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]  </a:t>
            </a:r>
          </a:p>
          <a:p>
            <a:pPr eaLnBrk="1" hangingPunct="1">
              <a:lnSpc>
                <a:spcPct val="90000"/>
              </a:lnSpc>
              <a:buFont typeface="Symbol" panose="05050102010706020507" pitchFamily="18" charset="2"/>
              <a:buChar char="Û"/>
            </a:pP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((T  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 (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p 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(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r)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))  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[支配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] </a:t>
            </a:r>
          </a:p>
          <a:p>
            <a:pPr eaLnBrk="1" hangingPunct="1">
              <a:lnSpc>
                <a:spcPct val="90000"/>
              </a:lnSpc>
              <a:buFont typeface="Symbol" panose="05050102010706020507" pitchFamily="18" charset="2"/>
              <a:buChar char="Û"/>
            </a:pP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(T  (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p 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(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r)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))    </a:t>
            </a:r>
            <a:r>
              <a:rPr lang="en-US" altLang="zh-CN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[</a:t>
            </a:r>
            <a:r>
              <a:rPr lang="zh-CN" altLang="en-US" sz="24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恒等律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]       </a:t>
            </a:r>
          </a:p>
          <a:p>
            <a:pPr eaLnBrk="1" hangingPunct="1">
              <a:lnSpc>
                <a:spcPct val="90000"/>
              </a:lnSpc>
              <a:buFont typeface="Symbol" panose="05050102010706020507"/>
              <a:buChar char="Û"/>
            </a:pP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(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p 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(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))  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zh-CN" sz="2800" b="1" i="1" dirty="0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						续</a:t>
            </a:r>
            <a:endParaRPr lang="en-US" altLang="zh-CN" sz="2800" b="1" dirty="0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7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7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7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71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71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71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71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71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71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71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71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71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71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710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710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9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7A78F4E7-B91B-4A75-8D76-855729F78443}" type="slidenum">
              <a:rPr lang="en-US" altLang="zh-CN" sz="1200" b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47</a:t>
            </a:fld>
            <a:endParaRPr lang="en-US" altLang="zh-CN" sz="1200" b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48131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693A95C9-314D-4439-97D1-97243F70465A}" type="slidenum">
              <a:rPr lang="en-US" altLang="zh-CN" sz="1200" b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47</a:t>
            </a:fld>
            <a:endParaRPr lang="en-US" altLang="zh-CN" sz="1200" b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4813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续...</a:t>
            </a:r>
          </a:p>
        </p:txBody>
      </p:sp>
      <p:sp>
        <p:nvSpPr>
          <p:cNvPr id="4813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p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(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))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[</a:t>
            </a:r>
            <a:r>
              <a:rPr lang="zh-CN" altLang="en-US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德摩根律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] </a:t>
            </a:r>
          </a:p>
          <a:p>
            <a:pPr eaLnBrk="1" hangingPunct="1">
              <a:buFont typeface="Symbol" panose="05050102010706020507" pitchFamily="18" charset="2"/>
              <a:buChar char="Û"/>
            </a:pP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q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p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 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p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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r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))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[</a:t>
            </a:r>
            <a:r>
              <a:rPr lang="zh-CN" altLang="en-US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分配律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]        </a:t>
            </a:r>
          </a:p>
          <a:p>
            <a:pPr eaLnBrk="1" hangingPunct="1">
              <a:buFont typeface="Symbol" panose="05050102010706020507" pitchFamily="18" charset="2"/>
              <a:buChar char="Û"/>
            </a:pP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q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((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p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p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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r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[</a:t>
            </a:r>
            <a:r>
              <a:rPr lang="zh-CN" altLang="en-US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结合律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]</a:t>
            </a:r>
            <a:endParaRPr lang="en-US" altLang="zh-CN" sz="2400" b="1" dirty="0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buFont typeface="Symbol" panose="05050102010706020507" pitchFamily="18" charset="2"/>
              <a:buChar char="Û"/>
            </a:pP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q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p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r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[</a:t>
            </a:r>
            <a:r>
              <a:rPr lang="zh-CN" altLang="en-US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幂等律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]          </a:t>
            </a:r>
          </a:p>
          <a:p>
            <a:pPr eaLnBrk="1" hangingPunct="1">
              <a:buFont typeface="Symbol" panose="05050102010706020507" pitchFamily="18" charset="2"/>
              <a:buChar char="Û"/>
            </a:pP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p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 r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[</a:t>
            </a:r>
            <a:r>
              <a:rPr lang="zh-CN" altLang="en-US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交换律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]      </a:t>
            </a:r>
          </a:p>
          <a:p>
            <a:pPr eaLnBrk="1" hangingPunct="1">
              <a:buFont typeface="Symbol" panose="05050102010706020507" pitchFamily="18" charset="2"/>
              <a:buNone/>
            </a:pP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p 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q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r </a:t>
            </a:r>
            <a:endParaRPr lang="en-US" altLang="zh-CN" b="1" dirty="0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81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81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81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81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81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81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81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81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81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81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95EF8F8-436F-4C5E-B99F-44088E13CCEC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48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5939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练习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3"/>
              <p:cNvSpPr txBox="1">
                <a:spLocks noChangeArrowheads="1"/>
              </p:cNvSpPr>
              <p:nvPr/>
            </p:nvSpPr>
            <p:spPr bwMode="auto">
              <a:xfrm>
                <a:off x="-29592" y="1461796"/>
                <a:ext cx="9145588" cy="47259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b="0" dirty="0">
                    <a:ea typeface="宋体" panose="02010600030101010101" pitchFamily="2" charset="-122"/>
                  </a:rPr>
                  <a:t>8. </a:t>
                </a:r>
                <a:r>
                  <a:rPr lang="zh-CN" altLang="en-US" b="0" dirty="0">
                    <a:ea typeface="宋体" panose="02010600030101010101" pitchFamily="2" charset="-122"/>
                  </a:rPr>
                  <a:t>哪个逻辑命题与命题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/>
                        <a:ea typeface="Cambria Math" panose="02040503050406030204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/>
                        <a:ea typeface="Cambria Math" panose="02040503050406030204"/>
                      </a:rPr>
                      <m:t>𝑝</m:t>
                    </m:r>
                    <m:r>
                      <a:rPr lang="en-US" altLang="zh-CN" b="0" i="1" smtClean="0">
                        <a:latin typeface="Cambria Math" panose="02040503050406030204"/>
                        <a:ea typeface="Cambria Math" panose="02040503050406030204"/>
                      </a:rPr>
                      <m:t>⟶</m:t>
                    </m:r>
                    <m:r>
                      <a:rPr lang="en-US" altLang="zh-CN" b="0" i="1" smtClean="0">
                        <a:latin typeface="Cambria Math" panose="02040503050406030204"/>
                        <a:ea typeface="Cambria Math" panose="02040503050406030204"/>
                      </a:rPr>
                      <m:t>𝑞</m:t>
                    </m:r>
                    <m:r>
                      <a:rPr lang="en-US" altLang="zh-CN" b="0" i="0" smtClean="0">
                        <a:latin typeface="Cambria Math" panose="02040503050406030204"/>
                        <a:ea typeface="Cambria Math" panose="02040503050406030204"/>
                      </a:rPr>
                      <m:t>)</m:t>
                    </m:r>
                    <m:r>
                      <a:rPr lang="en-US" altLang="zh-CN" b="0" i="1">
                        <a:latin typeface="Cambria Math" panose="02040503050406030204"/>
                        <a:ea typeface="Cambria Math" panose="02040503050406030204"/>
                      </a:rPr>
                      <m:t>∧</m:t>
                    </m:r>
                    <m:r>
                      <a:rPr lang="en-US" altLang="zh-CN" b="0" i="1" smtClean="0">
                        <a:latin typeface="Cambria Math" panose="02040503050406030204"/>
                        <a:ea typeface="Cambria Math" panose="02040503050406030204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/>
                        <a:ea typeface="Cambria Math" panose="02040503050406030204"/>
                      </a:rPr>
                      <m:t>𝑞</m:t>
                    </m:r>
                    <m:r>
                      <a:rPr lang="en-US" altLang="zh-CN" b="0" i="1">
                        <a:latin typeface="Cambria Math" panose="02040503050406030204"/>
                        <a:ea typeface="Cambria Math" panose="02040503050406030204"/>
                      </a:rPr>
                      <m:t>⟶</m:t>
                    </m:r>
                    <m:r>
                      <a:rPr lang="en-US" altLang="zh-CN" b="0" i="1" smtClean="0">
                        <a:latin typeface="Cambria Math" panose="02040503050406030204"/>
                        <a:ea typeface="Cambria Math" panose="02040503050406030204"/>
                      </a:rPr>
                      <m:t>𝑝</m:t>
                    </m:r>
                    <m:r>
                      <a:rPr lang="en-US" altLang="zh-CN" b="0" i="1" smtClean="0">
                        <a:latin typeface="Cambria Math" panose="02040503050406030204"/>
                        <a:ea typeface="Cambria Math" panose="02040503050406030204"/>
                      </a:rPr>
                      <m:t>)</m:t>
                    </m:r>
                  </m:oMath>
                </a14:m>
                <a:r>
                  <a:rPr lang="zh-CN" altLang="en-US" b="0" dirty="0">
                    <a:ea typeface="宋体" panose="02010600030101010101" pitchFamily="2" charset="-122"/>
                  </a:rPr>
                  <a:t>逻辑等价</a:t>
                </a:r>
                <a:r>
                  <a:rPr lang="en-US" altLang="zh-CN" b="0" dirty="0">
                    <a:ea typeface="宋体" panose="02010600030101010101" pitchFamily="2" charset="-122"/>
                  </a:rPr>
                  <a:t>? </a:t>
                </a:r>
              </a:p>
              <a:p>
                <a:r>
                  <a:rPr lang="en-US" altLang="zh-CN" b="0" dirty="0">
                    <a:ea typeface="宋体" panose="02010600030101010101" pitchFamily="2" charset="-122"/>
                  </a:rPr>
                  <a:t>A) 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/>
                        <a:ea typeface="Cambria Math" panose="02040503050406030204"/>
                      </a:rPr>
                      <m:t>𝑝</m:t>
                    </m:r>
                    <m:r>
                      <a:rPr lang="en-US" altLang="zh-CN" b="0" i="1" smtClean="0">
                        <a:latin typeface="Cambria Math" panose="02040503050406030204"/>
                        <a:ea typeface="Cambria Math" panose="02040503050406030204"/>
                      </a:rPr>
                      <m:t>↔</m:t>
                    </m:r>
                    <m:r>
                      <a:rPr lang="en-US" altLang="zh-CN" b="0" i="1" smtClean="0">
                        <a:latin typeface="Cambria Math" panose="02040503050406030204"/>
                        <a:ea typeface="Cambria Math" panose="02040503050406030204"/>
                      </a:rPr>
                      <m:t>𝑞</m:t>
                    </m:r>
                  </m:oMath>
                </a14:m>
                <a:endParaRPr lang="en-US" altLang="zh-CN" b="0" dirty="0">
                  <a:ea typeface="Cambria Math" panose="02040503050406030204"/>
                </a:endParaRPr>
              </a:p>
              <a:p>
                <a:r>
                  <a:rPr lang="en-US" altLang="zh-CN" b="0" dirty="0">
                    <a:ea typeface="宋体" panose="02010600030101010101" pitchFamily="2" charset="-122"/>
                  </a:rPr>
                  <a:t>B)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/>
                        <a:ea typeface="Cambria Math" panose="02040503050406030204"/>
                      </a:rPr>
                      <m:t>¬</m:t>
                    </m:r>
                    <m:r>
                      <a:rPr lang="en-US" altLang="zh-CN" b="0" i="1">
                        <a:latin typeface="Cambria Math" panose="02040503050406030204"/>
                        <a:ea typeface="Cambria Math" panose="02040503050406030204"/>
                      </a:rPr>
                      <m:t>𝑝</m:t>
                    </m:r>
                    <m:r>
                      <a:rPr lang="en-US" altLang="zh-CN" b="0" i="1">
                        <a:latin typeface="Cambria Math" panose="02040503050406030204"/>
                        <a:ea typeface="Cambria Math" panose="02040503050406030204"/>
                      </a:rPr>
                      <m:t>↔</m:t>
                    </m:r>
                    <m:r>
                      <a:rPr lang="en-US" altLang="zh-CN" b="0" i="1">
                        <a:latin typeface="Cambria Math" panose="02040503050406030204"/>
                        <a:ea typeface="Cambria Math" panose="02040503050406030204"/>
                      </a:rPr>
                      <m:t>𝑞</m:t>
                    </m:r>
                  </m:oMath>
                </a14:m>
                <a:endParaRPr lang="en-US" altLang="zh-CN" b="0" dirty="0">
                  <a:ea typeface="Cambria Math" panose="02040503050406030204"/>
                </a:endParaRPr>
              </a:p>
              <a:p>
                <a:r>
                  <a:rPr lang="en-US" altLang="zh-CN" b="0" dirty="0">
                    <a:ea typeface="宋体" panose="02010600030101010101" pitchFamily="2" charset="-122"/>
                  </a:rPr>
                  <a:t>C)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/>
                        <a:ea typeface="Cambria Math" panose="02040503050406030204"/>
                      </a:rPr>
                      <m:t>¬</m:t>
                    </m:r>
                    <m:r>
                      <a:rPr lang="en-US" altLang="zh-CN" b="0" i="1" smtClean="0">
                        <a:latin typeface="Cambria Math" panose="02040503050406030204"/>
                        <a:ea typeface="Cambria Math" panose="02040503050406030204"/>
                      </a:rPr>
                      <m:t>(</m:t>
                    </m:r>
                    <m:r>
                      <a:rPr lang="en-US" altLang="zh-CN" b="0" i="1">
                        <a:latin typeface="Cambria Math" panose="02040503050406030204"/>
                        <a:ea typeface="Cambria Math" panose="02040503050406030204"/>
                      </a:rPr>
                      <m:t>𝑝</m:t>
                    </m:r>
                    <m:r>
                      <a:rPr lang="en-US" altLang="zh-CN" b="0" i="1">
                        <a:latin typeface="Cambria Math" panose="02040503050406030204"/>
                        <a:ea typeface="Cambria Math" panose="02040503050406030204"/>
                      </a:rPr>
                      <m:t>↔</m:t>
                    </m:r>
                    <m:r>
                      <a:rPr lang="en-US" altLang="zh-CN" b="0" i="1">
                        <a:latin typeface="Cambria Math" panose="02040503050406030204"/>
                        <a:ea typeface="Cambria Math" panose="02040503050406030204"/>
                      </a:rPr>
                      <m:t>𝑞</m:t>
                    </m:r>
                    <m:r>
                      <a:rPr lang="en-US" altLang="zh-CN" b="0" i="1" smtClean="0">
                        <a:latin typeface="Cambria Math" panose="02040503050406030204"/>
                        <a:ea typeface="Cambria Math" panose="02040503050406030204"/>
                      </a:rPr>
                      <m:t>)</m:t>
                    </m:r>
                  </m:oMath>
                </a14:m>
                <a:endParaRPr lang="en-US" altLang="zh-CN" b="0" dirty="0">
                  <a:ea typeface="Cambria Math" panose="02040503050406030204"/>
                </a:endParaRPr>
              </a:p>
              <a:p>
                <a:r>
                  <a:rPr lang="en-US" altLang="zh-CN" b="0" dirty="0">
                    <a:ea typeface="宋体" panose="02010600030101010101" pitchFamily="2" charset="-122"/>
                  </a:rPr>
                  <a:t>D)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/>
                        <a:ea typeface="Cambria Math" panose="02040503050406030204"/>
                      </a:rPr>
                      <m:t> </m:t>
                    </m:r>
                    <m:r>
                      <a:rPr lang="en-US" altLang="zh-CN" b="0" i="1">
                        <a:latin typeface="Cambria Math" panose="02040503050406030204"/>
                        <a:ea typeface="Cambria Math" panose="02040503050406030204"/>
                      </a:rPr>
                      <m:t>𝑝</m:t>
                    </m:r>
                    <m:r>
                      <a:rPr lang="en-US" altLang="zh-CN" b="0" i="1" smtClean="0">
                        <a:latin typeface="Cambria Math" panose="02040503050406030204"/>
                        <a:ea typeface="Cambria Math" panose="02040503050406030204"/>
                      </a:rPr>
                      <m:t>⨁</m:t>
                    </m:r>
                    <m:r>
                      <a:rPr lang="en-US" altLang="zh-CN" b="0" i="1">
                        <a:latin typeface="Cambria Math" panose="02040503050406030204"/>
                        <a:ea typeface="Cambria Math" panose="02040503050406030204"/>
                      </a:rPr>
                      <m:t>𝑞</m:t>
                    </m:r>
                  </m:oMath>
                </a14:m>
                <a:endParaRPr lang="en-US" altLang="zh-CN" b="0" dirty="0"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5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-29592" y="1461796"/>
                <a:ext cx="9145588" cy="4725988"/>
              </a:xfrm>
              <a:prstGeom prst="rect">
                <a:avLst/>
              </a:prstGeom>
              <a:blipFill>
                <a:blip r:embed="rId2"/>
                <a:stretch>
                  <a:fillRect l="-1526" t="-214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640220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标题 1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电路可满足性</a:t>
            </a:r>
            <a:r>
              <a:rPr lang="zh-CN" altLang="zh-CN" dirty="0">
                <a:ea typeface="宋体" panose="02010600030101010101" pitchFamily="2" charset="-122"/>
              </a:rPr>
              <a:t>问题</a:t>
            </a:r>
            <a:endParaRPr dirty="0"/>
          </a:p>
        </p:txBody>
      </p:sp>
      <p:sp>
        <p:nvSpPr>
          <p:cNvPr id="51203" name="内容占位符 2"/>
          <p:cNvSpPr>
            <a:spLocks noGrp="1" noChangeArrowheads="1"/>
          </p:cNvSpPr>
          <p:nvPr>
            <p:ph idx="4294967295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     </a:t>
            </a:r>
          </a:p>
        </p:txBody>
      </p:sp>
      <p:sp>
        <p:nvSpPr>
          <p:cNvPr id="51204" name="灯片编号占位符 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F938A859-4A60-4937-B7B3-B2E67967A4FD}" type="slidenum">
              <a:rPr lang="en-US" altLang="zh-CN" sz="1200" b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49</a:t>
            </a:fld>
            <a:endParaRPr lang="en-US" altLang="zh-CN" sz="1200" b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38288" y="1600248"/>
            <a:ext cx="76198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961" y="2678812"/>
            <a:ext cx="4892464" cy="21947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1066838" y="5027753"/>
                <a:ext cx="701032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z="200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sSub>
                        <m:sSub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zh-CN" altLang="en-US" sz="2000" i="1" smtClean="0">
                          <a:latin typeface="Cambria Math" panose="02040503050406030204" pitchFamily="18" charset="0"/>
                        </a:rPr>
                        <m:t>∨</m:t>
                      </m:r>
                      <m:sSub>
                        <m:sSub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00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¬</m:t>
                      </m:r>
                      <m:sSub>
                        <m:sSubPr>
                          <m:ctrlPr>
                            <a:rPr lang="en-US" altLang="zh-CN" sz="20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sSubPr>
                        <m:e>
                          <m:r>
                            <a:rPr lang="en-US" altLang="zh-CN" sz="20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0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𝟐</m:t>
                          </m:r>
                        </m:sub>
                      </m:sSub>
                      <m:r>
                        <a:rPr lang="en-US" altLang="zh-CN" sz="2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∨</m:t>
                      </m:r>
                      <m:r>
                        <a:rPr lang="en-US" altLang="zh-CN" sz="20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(</m:t>
                      </m:r>
                      <m:sSub>
                        <m:sSubPr>
                          <m:ctrlPr>
                            <a:rPr lang="en-US" altLang="zh-CN" sz="20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sSubPr>
                        <m:e>
                          <m:r>
                            <a:rPr lang="en-US" altLang="zh-CN" sz="20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0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𝟑</m:t>
                          </m:r>
                        </m:sub>
                      </m:sSub>
                      <m:r>
                        <a:rPr lang="en-US" altLang="zh-CN" sz="20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∧¬</m:t>
                      </m:r>
                      <m:sSub>
                        <m:sSubPr>
                          <m:ctrlPr>
                            <a:rPr lang="en-US" altLang="zh-CN" sz="20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sSubPr>
                        <m:e>
                          <m:r>
                            <a:rPr lang="en-US" altLang="zh-CN" sz="20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0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𝟒</m:t>
                          </m:r>
                        </m:sub>
                      </m:sSub>
                      <m:r>
                        <a:rPr lang="en-US" altLang="zh-CN" sz="20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)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∧¬</m:t>
                      </m:r>
                      <m:sSub>
                        <m:sSub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altLang="zh-CN" sz="2000" dirty="0"/>
              </a:p>
              <a:p>
                <a:pPr algn="ctr"/>
                <a14:m>
                  <m:oMath xmlns:m="http://schemas.openxmlformats.org/officeDocument/2006/math">
                    <m:r>
                      <a:rPr lang="zh-CN" altLang="en-US" sz="2000" i="1" smtClean="0">
                        <a:latin typeface="Cambria Math" panose="02040503050406030204" pitchFamily="18" charset="0"/>
                      </a:rPr>
                      <m:t>⟺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sSub>
                      <m:sSub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∧(</m:t>
                    </m:r>
                    <m:sSub>
                      <m:sSub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sSub>
                      <m:sSubPr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𝟒</m:t>
                        </m:r>
                      </m:sub>
                    </m:sSub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)∧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¬</m:t>
                    </m:r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𝒙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𝟐</m:t>
                        </m:r>
                      </m:sub>
                    </m:sSub>
                    <m:r>
                      <a:rPr lang="en-US" altLang="zh-CN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∨</m:t>
                    </m:r>
                    <m:sSub>
                      <m:sSubPr>
                        <m:ctrlPr>
                          <a:rPr lang="en-US" altLang="zh-CN" sz="20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CN" sz="20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𝒙</m:t>
                        </m:r>
                      </m:e>
                      <m:sub>
                        <m:r>
                          <a:rPr lang="en-US" altLang="zh-CN" sz="20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𝟑</m:t>
                        </m:r>
                      </m:sub>
                    </m:sSub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)∧(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¬</m:t>
                    </m:r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𝒙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𝟐</m:t>
                        </m:r>
                      </m:sub>
                    </m:sSub>
                    <m:r>
                      <a:rPr lang="en-US" altLang="zh-CN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∨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¬</m:t>
                    </m:r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𝒙</m:t>
                        </m:r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𝟒</m:t>
                        </m:r>
                      </m:sub>
                    </m:sSub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)∧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𝟓</m:t>
                        </m:r>
                      </m:sub>
                    </m:sSub>
                  </m:oMath>
                </a14:m>
                <a:r>
                  <a:rPr lang="zh-CN" altLang="en-US" sz="2000" dirty="0"/>
                  <a:t>         </a:t>
                </a: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38" y="5027753"/>
                <a:ext cx="7010324" cy="707886"/>
              </a:xfrm>
              <a:prstGeom prst="rect">
                <a:avLst/>
              </a:prstGeom>
              <a:blipFill rotWithShape="1">
                <a:blip r:embed="rId3"/>
                <a:stretch>
                  <a:fillRect l="-1" t="-65" r="9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/>
          <p:nvPr/>
        </p:nvSpPr>
        <p:spPr>
          <a:xfrm>
            <a:off x="914590" y="5899090"/>
            <a:ext cx="7619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rgbClr val="000000"/>
                </a:solidFill>
              </a:rPr>
              <a:t>存在输入（1,1,1,0,0）使得输出为 True，因此该电路是可满足的。</a:t>
            </a:r>
          </a:p>
        </p:txBody>
      </p:sp>
      <p:sp>
        <p:nvSpPr>
          <p:cNvPr id="9" name="文本框 1"/>
          <p:cNvSpPr txBox="1"/>
          <p:nvPr/>
        </p:nvSpPr>
        <p:spPr>
          <a:xfrm>
            <a:off x="990688" y="1752648"/>
            <a:ext cx="76198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给定一个电路，如果存在一组输入使得电路输出为</a:t>
            </a:r>
            <a:r>
              <a:rPr lang="en-US" altLang="zh-CN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zh-CN" altLang="en-US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，则称该电路是可满足的（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satisfiable</a:t>
            </a:r>
            <a:r>
              <a:rPr lang="zh-CN" altLang="en-US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）。反之，当电路输出总是</a:t>
            </a:r>
            <a:r>
              <a:rPr lang="en-US" altLang="zh-CN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lang="zh-CN" altLang="en-US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Contradiction</a:t>
            </a:r>
            <a:r>
              <a:rPr lang="zh-CN" altLang="en-US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），则该电路是不可满足的（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unsatisfiable</a:t>
            </a:r>
            <a:r>
              <a:rPr lang="zh-CN" altLang="en-US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Rectangle 12"/>
          <p:cNvSpPr txBox="1">
            <a:spLocks noGrp="1" noChangeArrowheads="1"/>
          </p:cNvSpPr>
          <p:nvPr/>
        </p:nvSpPr>
        <p:spPr bwMode="auto">
          <a:xfrm>
            <a:off x="3505200" y="6553118"/>
            <a:ext cx="21336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fld id="{C8BDFDF2-81D4-42B0-A0F6-D5EA9C5FDDA6}" type="slidenum">
              <a:rPr lang="en-US" altLang="zh-CN" sz="1200" b="0"/>
              <a:t>50</a:t>
            </a:fld>
            <a:endParaRPr lang="en-US" altLang="zh-CN" sz="1200" b="0" dirty="0"/>
          </a:p>
        </p:txBody>
      </p:sp>
      <p:sp>
        <p:nvSpPr>
          <p:cNvPr id="55300" name="WordArt 2"/>
          <p:cNvSpPr>
            <a:spLocks noChangeArrowheads="1" noChangeShapeType="1" noTextEdit="1"/>
          </p:cNvSpPr>
          <p:nvPr/>
        </p:nvSpPr>
        <p:spPr bwMode="auto">
          <a:xfrm>
            <a:off x="1600200" y="4267200"/>
            <a:ext cx="5562600" cy="762000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r>
              <a:rPr lang="en-US" altLang="zh-CN" sz="3600" kern="10" dirty="0">
                <a:ln w="19050">
                  <a:solidFill>
                    <a:schemeClr val="bg1"/>
                  </a:solidFill>
                  <a:round/>
                </a:ln>
                <a:gradFill rotWithShape="1">
                  <a:gsLst>
                    <a:gs pos="0">
                      <a:schemeClr val="tx1"/>
                    </a:gs>
                    <a:gs pos="100000">
                      <a:schemeClr val="hlink"/>
                    </a:gs>
                  </a:gsLst>
                  <a:lin ang="0" scaled="1"/>
                </a:gradFill>
                <a:effectLst>
                  <a:outerShdw dist="63500" dir="2212194" algn="ctr" rotWithShape="0">
                    <a:srgbClr val="868686">
                      <a:alpha val="50000"/>
                    </a:srgbClr>
                  </a:outerShdw>
                </a:effectLst>
                <a:cs typeface="Arial" panose="020B0604020202020204" pitchFamily="34" charset="0"/>
              </a:rPr>
              <a:t>第 1.2 节结束</a:t>
            </a:r>
            <a:endParaRPr lang="zh-CN" altLang="en-US" sz="3600" kern="10" dirty="0">
              <a:ln w="19050">
                <a:solidFill>
                  <a:schemeClr val="bg1"/>
                </a:solidFill>
                <a:round/>
              </a:ln>
              <a:gradFill rotWithShape="1">
                <a:gsLst>
                  <a:gs pos="0">
                    <a:schemeClr val="tx1"/>
                  </a:gs>
                  <a:gs pos="100000">
                    <a:schemeClr val="hlink"/>
                  </a:gs>
                </a:gsLst>
                <a:lin ang="0" scaled="1"/>
              </a:gradFill>
              <a:effectLst>
                <a:outerShdw dist="63500" dir="2212194" algn="ctr" rotWithShape="0">
                  <a:srgbClr val="868686">
                    <a:alpha val="50000"/>
                  </a:srgbClr>
                </a:outerShdw>
              </a:effectLst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53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53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5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6,&quot;left&quot;:156,&quot;top&quot;:186,&quot;width&quot;:372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6,&quot;left&quot;:156,&quot;top&quot;:186,&quot;width&quot;:372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6,&quot;left&quot;:156,&quot;top&quot;:186,&quot;width&quot;:372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6,&quot;left&quot;:156,&quot;top&quot;:186,&quot;width&quot;:372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6,&quot;left&quot;:156,&quot;top&quot;:186,&quot;width&quot;:372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6,&quot;left&quot;:156,&quot;top&quot;:186,&quot;width&quot;:372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6,&quot;left&quot;:156,&quot;top&quot;:186,&quot;width&quot;:372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6,&quot;left&quot;:156,&quot;top&quot;:186,&quot;width&quot;:372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6,&quot;left&quot;:156,&quot;top&quot;:186,&quot;width&quot;:372}"/>
</p:tagLst>
</file>

<file path=ppt/theme/theme1.xml><?xml version="1.0" encoding="utf-8"?>
<a:theme xmlns:a="http://schemas.openxmlformats.org/drawingml/2006/main" name="sample">
  <a:themeElements>
    <a:clrScheme name="sample 3">
      <a:dk1>
        <a:srgbClr val="17347D"/>
      </a:dk1>
      <a:lt1>
        <a:srgbClr val="FFFFFF"/>
      </a:lt1>
      <a:dk2>
        <a:srgbClr val="3366CC"/>
      </a:dk2>
      <a:lt2>
        <a:srgbClr val="DDDDDD"/>
      </a:lt2>
      <a:accent1>
        <a:srgbClr val="77B7E7"/>
      </a:accent1>
      <a:accent2>
        <a:srgbClr val="45AB7D"/>
      </a:accent2>
      <a:accent3>
        <a:srgbClr val="FFFFFF"/>
      </a:accent3>
      <a:accent4>
        <a:srgbClr val="122B6A"/>
      </a:accent4>
      <a:accent5>
        <a:srgbClr val="BDD8F1"/>
      </a:accent5>
      <a:accent6>
        <a:srgbClr val="3E9B71"/>
      </a:accent6>
      <a:hlink>
        <a:srgbClr val="9999FF"/>
      </a:hlink>
      <a:folHlink>
        <a:srgbClr val="969696"/>
      </a:folHlink>
    </a:clrScheme>
    <a:fontScheme name="sample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ample 1">
        <a:dk1>
          <a:srgbClr val="1B525F"/>
        </a:dk1>
        <a:lt1>
          <a:srgbClr val="FFFFFF"/>
        </a:lt1>
        <a:dk2>
          <a:srgbClr val="339966"/>
        </a:dk2>
        <a:lt2>
          <a:srgbClr val="DDDDDD"/>
        </a:lt2>
        <a:accent1>
          <a:srgbClr val="C5BA6B"/>
        </a:accent1>
        <a:accent2>
          <a:srgbClr val="669900"/>
        </a:accent2>
        <a:accent3>
          <a:srgbClr val="FFFFFF"/>
        </a:accent3>
        <a:accent4>
          <a:srgbClr val="154550"/>
        </a:accent4>
        <a:accent5>
          <a:srgbClr val="DFD9BA"/>
        </a:accent5>
        <a:accent6>
          <a:srgbClr val="5C8A00"/>
        </a:accent6>
        <a:hlink>
          <a:srgbClr val="E57C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91961"/>
        </a:dk1>
        <a:lt1>
          <a:srgbClr val="FFFFFF"/>
        </a:lt1>
        <a:dk2>
          <a:srgbClr val="5D4CDC"/>
        </a:dk2>
        <a:lt2>
          <a:srgbClr val="DDDDDD"/>
        </a:lt2>
        <a:accent1>
          <a:srgbClr val="31B36C"/>
        </a:accent1>
        <a:accent2>
          <a:srgbClr val="0099FF"/>
        </a:accent2>
        <a:accent3>
          <a:srgbClr val="FFFFFF"/>
        </a:accent3>
        <a:accent4>
          <a:srgbClr val="141452"/>
        </a:accent4>
        <a:accent5>
          <a:srgbClr val="ADD6BA"/>
        </a:accent5>
        <a:accent6>
          <a:srgbClr val="008AE7"/>
        </a:accent6>
        <a:hlink>
          <a:srgbClr val="A0963C"/>
        </a:hlink>
        <a:folHlink>
          <a:srgbClr val="A0963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17347D"/>
        </a:dk1>
        <a:lt1>
          <a:srgbClr val="FFFFFF"/>
        </a:lt1>
        <a:dk2>
          <a:srgbClr val="3366CC"/>
        </a:dk2>
        <a:lt2>
          <a:srgbClr val="DDDDDD"/>
        </a:lt2>
        <a:accent1>
          <a:srgbClr val="77B7E7"/>
        </a:accent1>
        <a:accent2>
          <a:srgbClr val="45AB7D"/>
        </a:accent2>
        <a:accent3>
          <a:srgbClr val="FFFFFF"/>
        </a:accent3>
        <a:accent4>
          <a:srgbClr val="122B6A"/>
        </a:accent4>
        <a:accent5>
          <a:srgbClr val="BDD8F1"/>
        </a:accent5>
        <a:accent6>
          <a:srgbClr val="3E9B71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sample">
  <a:themeElements>
    <a:clrScheme name="1_sample 3">
      <a:dk1>
        <a:srgbClr val="17347D"/>
      </a:dk1>
      <a:lt1>
        <a:srgbClr val="FFFFFF"/>
      </a:lt1>
      <a:dk2>
        <a:srgbClr val="3366CC"/>
      </a:dk2>
      <a:lt2>
        <a:srgbClr val="DDDDDD"/>
      </a:lt2>
      <a:accent1>
        <a:srgbClr val="77B7E7"/>
      </a:accent1>
      <a:accent2>
        <a:srgbClr val="45AB7D"/>
      </a:accent2>
      <a:accent3>
        <a:srgbClr val="FFFFFF"/>
      </a:accent3>
      <a:accent4>
        <a:srgbClr val="122B6A"/>
      </a:accent4>
      <a:accent5>
        <a:srgbClr val="BDD8F1"/>
      </a:accent5>
      <a:accent6>
        <a:srgbClr val="3E9B71"/>
      </a:accent6>
      <a:hlink>
        <a:srgbClr val="9999FF"/>
      </a:hlink>
      <a:folHlink>
        <a:srgbClr val="969696"/>
      </a:folHlink>
    </a:clrScheme>
    <a:fontScheme name="1_sample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sample 1">
        <a:dk1>
          <a:srgbClr val="1B525F"/>
        </a:dk1>
        <a:lt1>
          <a:srgbClr val="FFFFFF"/>
        </a:lt1>
        <a:dk2>
          <a:srgbClr val="339966"/>
        </a:dk2>
        <a:lt2>
          <a:srgbClr val="DDDDDD"/>
        </a:lt2>
        <a:accent1>
          <a:srgbClr val="C5BA6B"/>
        </a:accent1>
        <a:accent2>
          <a:srgbClr val="669900"/>
        </a:accent2>
        <a:accent3>
          <a:srgbClr val="FFFFFF"/>
        </a:accent3>
        <a:accent4>
          <a:srgbClr val="154550"/>
        </a:accent4>
        <a:accent5>
          <a:srgbClr val="DFD9BA"/>
        </a:accent5>
        <a:accent6>
          <a:srgbClr val="5C8A00"/>
        </a:accent6>
        <a:hlink>
          <a:srgbClr val="E57C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ample 2">
        <a:dk1>
          <a:srgbClr val="191961"/>
        </a:dk1>
        <a:lt1>
          <a:srgbClr val="FFFFFF"/>
        </a:lt1>
        <a:dk2>
          <a:srgbClr val="5D4CDC"/>
        </a:dk2>
        <a:lt2>
          <a:srgbClr val="DDDDDD"/>
        </a:lt2>
        <a:accent1>
          <a:srgbClr val="31B36C"/>
        </a:accent1>
        <a:accent2>
          <a:srgbClr val="0099FF"/>
        </a:accent2>
        <a:accent3>
          <a:srgbClr val="FFFFFF"/>
        </a:accent3>
        <a:accent4>
          <a:srgbClr val="141452"/>
        </a:accent4>
        <a:accent5>
          <a:srgbClr val="ADD6BA"/>
        </a:accent5>
        <a:accent6>
          <a:srgbClr val="008AE7"/>
        </a:accent6>
        <a:hlink>
          <a:srgbClr val="A0963C"/>
        </a:hlink>
        <a:folHlink>
          <a:srgbClr val="A0963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ample 3">
        <a:dk1>
          <a:srgbClr val="17347D"/>
        </a:dk1>
        <a:lt1>
          <a:srgbClr val="FFFFFF"/>
        </a:lt1>
        <a:dk2>
          <a:srgbClr val="3366CC"/>
        </a:dk2>
        <a:lt2>
          <a:srgbClr val="DDDDDD"/>
        </a:lt2>
        <a:accent1>
          <a:srgbClr val="77B7E7"/>
        </a:accent1>
        <a:accent2>
          <a:srgbClr val="45AB7D"/>
        </a:accent2>
        <a:accent3>
          <a:srgbClr val="FFFFFF"/>
        </a:accent3>
        <a:accent4>
          <a:srgbClr val="122B6A"/>
        </a:accent4>
        <a:accent5>
          <a:srgbClr val="BDD8F1"/>
        </a:accent5>
        <a:accent6>
          <a:srgbClr val="3E9B71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顶级ppt模版1</Template>
  <TotalTime>76</TotalTime>
  <Words>3142</Words>
  <Application>Microsoft Macintosh PowerPoint</Application>
  <PresentationFormat>全屏显示(4:3)</PresentationFormat>
  <Paragraphs>419</Paragraphs>
  <Slides>50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50</vt:i4>
      </vt:variant>
    </vt:vector>
  </HeadingPairs>
  <TitlesOfParts>
    <vt:vector size="62" baseType="lpstr">
      <vt:lpstr>宋体</vt:lpstr>
      <vt:lpstr>Euclid</vt:lpstr>
      <vt:lpstr>Arial</vt:lpstr>
      <vt:lpstr>Arial Black</vt:lpstr>
      <vt:lpstr>Cambria Math</vt:lpstr>
      <vt:lpstr>Symbol</vt:lpstr>
      <vt:lpstr>Times New Roman</vt:lpstr>
      <vt:lpstr>Verdana</vt:lpstr>
      <vt:lpstr>Wingdings</vt:lpstr>
      <vt:lpstr>sample</vt:lpstr>
      <vt:lpstr>1_sample</vt:lpstr>
      <vt:lpstr>Word.Document.8</vt:lpstr>
      <vt:lpstr>离散数学</vt:lpstr>
      <vt:lpstr>PowerPoint 演示文稿</vt:lpstr>
      <vt:lpstr>目录</vt:lpstr>
      <vt:lpstr>PowerPoint 演示文稿</vt:lpstr>
      <vt:lpstr>同义反复</vt:lpstr>
      <vt:lpstr>永真式</vt:lpstr>
      <vt:lpstr>矛盾式</vt:lpstr>
      <vt:lpstr>矛盾</vt:lpstr>
      <vt:lpstr>PowerPoint 演示文稿</vt:lpstr>
      <vt:lpstr>命题等价性</vt:lpstr>
      <vt:lpstr>逻辑等价</vt:lpstr>
      <vt:lpstr>示例 2</vt:lpstr>
      <vt:lpstr>示例 3</vt:lpstr>
      <vt:lpstr>练习</vt:lpstr>
      <vt:lpstr>示例 4</vt:lpstr>
      <vt:lpstr>思考</vt:lpstr>
      <vt:lpstr>供您思考的问题</vt:lpstr>
      <vt:lpstr>供您思考的问题</vt:lpstr>
      <vt:lpstr>德摩根定律</vt:lpstr>
      <vt:lpstr>德摩根定律真值表</vt:lpstr>
      <vt:lpstr>等效法则 - 示例</vt:lpstr>
      <vt:lpstr>更多等价定律</vt:lpstr>
      <vt:lpstr>练习</vt:lpstr>
      <vt:lpstr>涉及条件命题的逻辑等价关系</vt:lpstr>
      <vt:lpstr>(p  q)  (p  r)  p  (q  r)</vt:lpstr>
      <vt:lpstr>(p  r)  (q  r)  (p  q)  r</vt:lpstr>
      <vt:lpstr>(p  q)  (p  r)  p  (q  r)</vt:lpstr>
      <vt:lpstr>(p  r)  (q  r)  (p  q)  r</vt:lpstr>
      <vt:lpstr>练习</vt:lpstr>
      <vt:lpstr>练习</vt:lpstr>
      <vt:lpstr>练习</vt:lpstr>
      <vt:lpstr>练习</vt:lpstr>
      <vt:lpstr>涉及二条件的逻辑等价关系</vt:lpstr>
      <vt:lpstr>p  q  (p  q)  (q  p)</vt:lpstr>
      <vt:lpstr>P  Q   P   Q </vt:lpstr>
      <vt:lpstr>p  q  (p  q)  ( p   q)</vt:lpstr>
      <vt:lpstr>p  q  (p  q)  ( p   q)</vt:lpstr>
      <vt:lpstr> (p  q)  p   q</vt:lpstr>
      <vt:lpstr>练习</vt:lpstr>
      <vt:lpstr>通过等价定义运算符</vt:lpstr>
      <vt:lpstr>p  q  (p  q)  ( p  q )</vt:lpstr>
      <vt:lpstr>p  q  ( p  q )( q  p)</vt:lpstr>
      <vt:lpstr>示例 1</vt:lpstr>
      <vt:lpstr>示例 2</vt:lpstr>
      <vt:lpstr>示例 3</vt:lpstr>
      <vt:lpstr>续...</vt:lpstr>
      <vt:lpstr>续...</vt:lpstr>
      <vt:lpstr>练习</vt:lpstr>
      <vt:lpstr>电路可满足性问题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CZ M</dc:creator>
  <cp:keywords>, docId:9B868F7DA22A7DEA02C0AD6A81769469</cp:keywords>
  <cp:lastModifiedBy>Ying Su</cp:lastModifiedBy>
  <cp:revision>214</cp:revision>
  <dcterms:created xsi:type="dcterms:W3CDTF">2015-09-10T12:06:00Z</dcterms:created>
  <dcterms:modified xsi:type="dcterms:W3CDTF">2026-09-02T02:15:28Z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2052-12.1.0.21541</vt:lpwstr>
  </property>
  <property fmtid="{D5CDD505-2E9C-101B-9397-08002B2CF9AE}" pid="4" name="ICV">
    <vt:lpwstr>A295653F5B5B44D1B83047A32116B751_12</vt:lpwstr>
  </property>
</Properties>
</file>