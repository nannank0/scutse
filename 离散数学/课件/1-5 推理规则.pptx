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66"/>
  </p:notesMasterIdLst>
  <p:sldIdLst>
    <p:sldId id="257" r:id="rId3"/>
    <p:sldId id="258" r:id="rId4"/>
    <p:sldId id="259" r:id="rId5"/>
    <p:sldId id="260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318" r:id="rId16"/>
    <p:sldId id="319" r:id="rId17"/>
    <p:sldId id="292" r:id="rId18"/>
    <p:sldId id="411" r:id="rId19"/>
    <p:sldId id="289" r:id="rId20"/>
    <p:sldId id="290" r:id="rId21"/>
    <p:sldId id="291" r:id="rId22"/>
    <p:sldId id="361" r:id="rId23"/>
    <p:sldId id="293" r:id="rId24"/>
    <p:sldId id="294" r:id="rId25"/>
    <p:sldId id="295" r:id="rId26"/>
    <p:sldId id="296" r:id="rId27"/>
    <p:sldId id="297" r:id="rId28"/>
    <p:sldId id="300" r:id="rId29"/>
    <p:sldId id="301" r:id="rId30"/>
    <p:sldId id="302" r:id="rId31"/>
    <p:sldId id="303" r:id="rId32"/>
    <p:sldId id="322" r:id="rId33"/>
    <p:sldId id="323" r:id="rId34"/>
    <p:sldId id="324" r:id="rId35"/>
    <p:sldId id="325" r:id="rId36"/>
    <p:sldId id="359" r:id="rId37"/>
    <p:sldId id="381" r:id="rId38"/>
    <p:sldId id="299" r:id="rId39"/>
    <p:sldId id="304" r:id="rId40"/>
    <p:sldId id="298" r:id="rId41"/>
    <p:sldId id="305" r:id="rId42"/>
    <p:sldId id="306" r:id="rId43"/>
    <p:sldId id="413" r:id="rId44"/>
    <p:sldId id="375" r:id="rId45"/>
    <p:sldId id="393" r:id="rId46"/>
    <p:sldId id="414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7" r:id="rId57"/>
    <p:sldId id="321" r:id="rId58"/>
    <p:sldId id="333" r:id="rId59"/>
    <p:sldId id="327" r:id="rId60"/>
    <p:sldId id="326" r:id="rId61"/>
    <p:sldId id="331" r:id="rId62"/>
    <p:sldId id="332" r:id="rId63"/>
    <p:sldId id="383" r:id="rId64"/>
    <p:sldId id="278" r:id="rId6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0711"/>
    <a:srgbClr val="8E2D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402" autoAdjust="0"/>
    <p:restoredTop sz="94660" autoAdjust="0"/>
  </p:normalViewPr>
  <p:slideViewPr>
    <p:cSldViewPr showGuides="1">
      <p:cViewPr varScale="1">
        <p:scale>
          <a:sx n="111" d="100"/>
          <a:sy n="111" d="100"/>
        </p:scale>
        <p:origin x="224" y="360"/>
      </p:cViewPr>
      <p:guideLst>
        <p:guide orient="horz" pos="220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fld id="{F81AD121-5D53-430F-9DFA-1AFFEF874FCD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C13DCA3D-55ED-40CF-82B6-157734557E1B}" type="slidenum">
              <a:rPr lang="en-US" altLang="zh-CN"/>
              <a:t>11</a:t>
            </a:fld>
            <a:endParaRPr lang="en-US" altLang="zh-CN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138238" y="701675"/>
            <a:ext cx="4583112" cy="3436938"/>
          </a:xfrm>
        </p:spPr>
      </p:sp>
      <p:sp>
        <p:nvSpPr>
          <p:cNvPr id="1536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71975"/>
            <a:ext cx="5029200" cy="4060825"/>
          </a:xfrm>
        </p:spPr>
        <p:txBody>
          <a:bodyPr anchor="t"/>
          <a:lstStyle/>
          <a:p>
            <a:pPr eaLnBrk="1" hangingPunct="1"/>
            <a:r>
              <a:rPr lang="en-US" altLang="zh-CN"/>
              <a:t>亚里士多德首先描述了许多有效的推理规则。  他将这些论证模式称为</a:t>
            </a:r>
            <a:r>
              <a:rPr lang="en-US" altLang="zh-CN">
                <a:latin typeface="Times New Roman" panose="02020603050405020304" pitchFamily="18" charset="0"/>
              </a:rPr>
              <a:t> "</a:t>
            </a:r>
            <a:r>
              <a:rPr lang="en-US" altLang="zh-CN"/>
              <a:t>三段论</a:t>
            </a:r>
            <a:r>
              <a:rPr lang="en-US" altLang="zh-CN">
                <a:latin typeface="Times New Roman" panose="02020603050405020304" pitchFamily="18" charset="0"/>
              </a:rPr>
              <a:t>"</a:t>
            </a:r>
            <a:r>
              <a:rPr lang="en-US" altLang="zh-CN"/>
              <a:t>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37BB9BA3-4278-4206-8471-795FDA06B933}" type="slidenum">
              <a:rPr lang="en-US" altLang="zh-CN"/>
              <a:t>48</a:t>
            </a:fld>
            <a:endParaRPr lang="en-US" altLang="zh-CN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138238" y="701675"/>
            <a:ext cx="4583112" cy="3436938"/>
          </a:xfrm>
        </p:spPr>
      </p:sp>
      <p:sp>
        <p:nvSpPr>
          <p:cNvPr id="4710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71975"/>
            <a:ext cx="5029200" cy="4060825"/>
          </a:xfrm>
        </p:spPr>
        <p:txBody>
          <a:bodyPr anchor="t"/>
          <a:lstStyle/>
          <a:p>
            <a:pPr eaLnBrk="1" hangingPunct="1"/>
            <a:r>
              <a:rPr lang="en-US" altLang="zh-CN"/>
              <a:t>类似证明中的 "数 </a:t>
            </a:r>
            <a:r>
              <a:rPr lang="en-US" altLang="zh-CN">
                <a:latin typeface="Times New Roman" panose="02020603050405020304" pitchFamily="18" charset="0"/>
              </a:rPr>
              <a:t>"</a:t>
            </a:r>
            <a:r>
              <a:rPr lang="en-US" altLang="zh-CN"/>
              <a:t>的部分也可以精确证明，例如使用皮亚诺算术公理。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F87D78-357A-4597-A6E0-64EC47D30C7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17FDEB-766A-419B-8607-417B43A3483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4FD5FF-38BD-4B71-B9F9-278373C9FFF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57200" y="1419225"/>
            <a:ext cx="4038600" cy="4879975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419225"/>
            <a:ext cx="4038600" cy="4879975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08B4AD-90CD-41EA-9F33-76CE25A7530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B936F5-4431-4972-9A06-AC25389F4E0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4A4E43-027C-4A1E-9F09-FF572350C35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519140-A8AE-4FB6-B189-C080A29FBB7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80F375-0A87-415A-9A5E-6208DD5B19E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9E148F-BAD9-444C-9198-394C6E7C85A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6A8067-348B-4DFA-B8DF-FC900E8817A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731838"/>
            <a:ext cx="2057400" cy="5567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731838"/>
            <a:ext cx="6019800" cy="5567362"/>
          </a:xfrm>
        </p:spPr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359507-A13D-413D-9C65-22204A685CD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05905B-62A4-406E-9D06-059E3A10AA5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798D1A-EFC4-4FE0-8F1E-368D8361B6B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3EB4C6-9D25-4E82-9929-20ADEACAF29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57200" y="1419225"/>
            <a:ext cx="4038600" cy="4879975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419225"/>
            <a:ext cx="4038600" cy="4879975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CA9D4F-C638-45F2-AEB0-0C924C9366A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3D6C5A-0C71-45A2-BCD7-8C450E3A6E9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C74C56-0AEC-4F22-9822-A7425D8409E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715613-9151-41DF-9567-D9AFE4E48FE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5A1249-E312-4464-B470-F117566E774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81B614-A3E1-4C94-A39B-ABDD4EE99B4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CED237-E57B-43A4-8019-CC243273F44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731838"/>
            <a:ext cx="2057400" cy="5567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731838"/>
            <a:ext cx="6019800" cy="5567362"/>
          </a:xfrm>
        </p:spPr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A7F374-1282-4C92-B845-DDA31F74381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 descr="a1"/>
          <p:cNvSpPr>
            <a:spLocks noChangeArrowheads="1"/>
          </p:cNvSpPr>
          <p:nvPr/>
        </p:nvSpPr>
        <p:spPr bwMode="auto">
          <a:xfrm>
            <a:off x="592138" y="0"/>
            <a:ext cx="2066925" cy="838200"/>
          </a:xfrm>
          <a:prstGeom prst="rect">
            <a:avLst/>
          </a:prstGeom>
          <a:blipFill dpi="0" rotWithShape="1">
            <a:blip r:embed="rId1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2730500" y="0"/>
            <a:ext cx="2138363" cy="8382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028" name="Rectangle 4" descr="a2"/>
          <p:cNvSpPr>
            <a:spLocks noChangeArrowheads="1"/>
          </p:cNvSpPr>
          <p:nvPr/>
        </p:nvSpPr>
        <p:spPr bwMode="auto">
          <a:xfrm>
            <a:off x="4938713" y="0"/>
            <a:ext cx="2066925" cy="838200"/>
          </a:xfrm>
          <a:prstGeom prst="rect">
            <a:avLst/>
          </a:prstGeom>
          <a:blipFill dpi="0" rotWithShape="1">
            <a:blip r:embed="rId1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7077075" y="0"/>
            <a:ext cx="2066925" cy="838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457200" y="6477000"/>
            <a:ext cx="8686800" cy="381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grpSp>
        <p:nvGrpSpPr>
          <p:cNvPr id="1031" name="Group 7"/>
          <p:cNvGrpSpPr/>
          <p:nvPr/>
        </p:nvGrpSpPr>
        <p:grpSpPr bwMode="auto">
          <a:xfrm>
            <a:off x="0" y="685800"/>
            <a:ext cx="9144000" cy="609600"/>
            <a:chOff x="0" y="0"/>
            <a:chExt cx="5760" cy="384"/>
          </a:xfrm>
        </p:grpSpPr>
        <p:sp>
          <p:nvSpPr>
            <p:cNvPr id="2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5760" cy="9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33" name="Rectangle 9"/>
            <p:cNvSpPr>
              <a:spLocks noChangeArrowheads="1"/>
            </p:cNvSpPr>
            <p:nvPr/>
          </p:nvSpPr>
          <p:spPr bwMode="auto">
            <a:xfrm>
              <a:off x="362" y="0"/>
              <a:ext cx="5398" cy="38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</p:grpSp>
      <p:sp>
        <p:nvSpPr>
          <p:cNvPr id="1032" name="Rectangle 10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419225"/>
            <a:ext cx="8229600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61125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867400" y="6477000"/>
            <a:ext cx="2895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altLang="zh-CN"/>
              <a:t>公司标志</a:t>
            </a:r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defRPr>
            </a:lvl1pPr>
          </a:lstStyle>
          <a:p>
            <a:fld id="{64E2C4EE-78D9-4B28-B42E-08C7C1DE0548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3" name="Rectangle 14"/>
          <p:cNvSpPr>
            <a:spLocks noGrp="1" noChangeArrowheads="1"/>
          </p:cNvSpPr>
          <p:nvPr>
            <p:ph type="title" idx="9"/>
          </p:nvPr>
        </p:nvSpPr>
        <p:spPr bwMode="auto">
          <a:xfrm>
            <a:off x="733425" y="731838"/>
            <a:ext cx="7800975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1039" name="Text Box 15"/>
          <p:cNvSpPr txBox="1">
            <a:spLocks noChangeArrowheads="1"/>
          </p:cNvSpPr>
          <p:nvPr/>
        </p:nvSpPr>
        <p:spPr bwMode="auto">
          <a:xfrm>
            <a:off x="7391400" y="76200"/>
            <a:ext cx="1765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800" b="1">
                <a:solidFill>
                  <a:schemeClr val="bg1"/>
                </a:solidFill>
                <a:latin typeface="Arial Black" panose="020B0A04020102020204" pitchFamily="34" charset="0"/>
              </a:rPr>
              <a:t>L o g 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 descr="a1"/>
          <p:cNvSpPr>
            <a:spLocks noChangeArrowheads="1"/>
          </p:cNvSpPr>
          <p:nvPr/>
        </p:nvSpPr>
        <p:spPr bwMode="auto">
          <a:xfrm>
            <a:off x="2286000" y="0"/>
            <a:ext cx="2286000" cy="3124200"/>
          </a:xfrm>
          <a:prstGeom prst="rect">
            <a:avLst/>
          </a:prstGeom>
          <a:blipFill dpi="0" rotWithShape="1">
            <a:blip r:embed="rId1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0" y="0"/>
            <a:ext cx="2209800" cy="3124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4648200" y="0"/>
            <a:ext cx="2209800" cy="31242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2053" name="Rectangle 5" descr="a2"/>
          <p:cNvSpPr>
            <a:spLocks noChangeArrowheads="1"/>
          </p:cNvSpPr>
          <p:nvPr/>
        </p:nvSpPr>
        <p:spPr bwMode="auto">
          <a:xfrm>
            <a:off x="6934200" y="0"/>
            <a:ext cx="2209800" cy="3124200"/>
          </a:xfrm>
          <a:prstGeom prst="rect">
            <a:avLst/>
          </a:prstGeom>
          <a:blipFill dpi="0" rotWithShape="1">
            <a:blip r:embed="rId1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2286000" y="3124200"/>
            <a:ext cx="6858000" cy="6096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0" y="3124200"/>
            <a:ext cx="9144000" cy="1524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2056" name="Text Box 13"/>
          <p:cNvSpPr txBox="1">
            <a:spLocks noChangeArrowheads="1"/>
          </p:cNvSpPr>
          <p:nvPr/>
        </p:nvSpPr>
        <p:spPr bwMode="auto">
          <a:xfrm>
            <a:off x="444500" y="2514600"/>
            <a:ext cx="1765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800" b="1">
                <a:solidFill>
                  <a:schemeClr val="bg1"/>
                </a:solidFill>
                <a:latin typeface="Arial Black" panose="020B0A04020102020204" pitchFamily="34" charset="0"/>
              </a:rPr>
              <a:t>L o g o</a:t>
            </a:r>
          </a:p>
        </p:txBody>
      </p:sp>
      <p:sp>
        <p:nvSpPr>
          <p:cNvPr id="2057" name="Rectangle 10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419225"/>
            <a:ext cx="8229600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2058" name="Rectangle 14"/>
          <p:cNvSpPr>
            <a:spLocks noGrp="1" noChangeArrowheads="1"/>
          </p:cNvSpPr>
          <p:nvPr>
            <p:ph type="title" idx="9"/>
          </p:nvPr>
        </p:nvSpPr>
        <p:spPr bwMode="auto">
          <a:xfrm>
            <a:off x="733425" y="731838"/>
            <a:ext cx="7800975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205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551613"/>
            <a:ext cx="2133600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6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6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53200"/>
            <a:ext cx="2133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fld id="{C86DD09C-7C6C-4F40-8767-B01EAFD07A20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8.wmf"/><Relationship Id="rId5" Type="http://schemas.openxmlformats.org/officeDocument/2006/relationships/image" Target="../media/image5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8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image" Target="../media/image12.wmf"/><Relationship Id="rId7" Type="http://schemas.openxmlformats.org/officeDocument/2006/relationships/image" Target="../media/image14.wmf"/><Relationship Id="rId12" Type="http://schemas.openxmlformats.org/officeDocument/2006/relationships/image" Target="../media/image16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.bin"/><Relationship Id="rId11" Type="http://schemas.openxmlformats.org/officeDocument/2006/relationships/oleObject" Target="../embeddings/oleObject14.bin"/><Relationship Id="rId5" Type="http://schemas.openxmlformats.org/officeDocument/2006/relationships/image" Target="../media/image13.w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5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20.wmf"/><Relationship Id="rId18" Type="http://schemas.openxmlformats.org/officeDocument/2006/relationships/oleObject" Target="../embeddings/oleObject23.bin"/><Relationship Id="rId3" Type="http://schemas.openxmlformats.org/officeDocument/2006/relationships/image" Target="../media/image17.wmf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12.wmf"/><Relationship Id="rId2" Type="http://schemas.openxmlformats.org/officeDocument/2006/relationships/oleObject" Target="../embeddings/oleObject15.bin"/><Relationship Id="rId16" Type="http://schemas.openxmlformats.org/officeDocument/2006/relationships/oleObject" Target="../embeddings/oleObject2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16.wmf"/><Relationship Id="rId5" Type="http://schemas.openxmlformats.org/officeDocument/2006/relationships/image" Target="../media/image14.wmf"/><Relationship Id="rId15" Type="http://schemas.openxmlformats.org/officeDocument/2006/relationships/image" Target="../media/image13.wmf"/><Relationship Id="rId10" Type="http://schemas.openxmlformats.org/officeDocument/2006/relationships/oleObject" Target="../embeddings/oleObject19.bin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21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image" Target="../media/image21.w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13.wmf"/><Relationship Id="rId5" Type="http://schemas.openxmlformats.org/officeDocument/2006/relationships/image" Target="../media/image22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15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22.wmf"/><Relationship Id="rId3" Type="http://schemas.openxmlformats.org/officeDocument/2006/relationships/image" Target="../media/image23.wmf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34.bin"/><Relationship Id="rId2" Type="http://schemas.openxmlformats.org/officeDocument/2006/relationships/oleObject" Target="../embeddings/oleObject29.bin"/><Relationship Id="rId16" Type="http://schemas.openxmlformats.org/officeDocument/2006/relationships/oleObject" Target="../embeddings/oleObject3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25.wmf"/><Relationship Id="rId5" Type="http://schemas.openxmlformats.org/officeDocument/2006/relationships/image" Target="../media/image24.wmf"/><Relationship Id="rId15" Type="http://schemas.openxmlformats.org/officeDocument/2006/relationships/image" Target="../media/image21.wmf"/><Relationship Id="rId10" Type="http://schemas.openxmlformats.org/officeDocument/2006/relationships/oleObject" Target="../embeddings/oleObject33.bin"/><Relationship Id="rId4" Type="http://schemas.openxmlformats.org/officeDocument/2006/relationships/oleObject" Target="../embeddings/oleObject30.bin"/><Relationship Id="rId9" Type="http://schemas.openxmlformats.org/officeDocument/2006/relationships/image" Target="../media/image15.wmf"/><Relationship Id="rId14" Type="http://schemas.openxmlformats.org/officeDocument/2006/relationships/oleObject" Target="../embeddings/oleObject35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wmf"/><Relationship Id="rId4" Type="http://schemas.openxmlformats.org/officeDocument/2006/relationships/oleObject" Target="../embeddings/oleObject38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40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3" Type="http://schemas.openxmlformats.org/officeDocument/2006/relationships/image" Target="../media/image30.w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3.bin"/><Relationship Id="rId11" Type="http://schemas.openxmlformats.org/officeDocument/2006/relationships/image" Target="../media/image13.wmf"/><Relationship Id="rId5" Type="http://schemas.openxmlformats.org/officeDocument/2006/relationships/image" Target="../media/image31.wmf"/><Relationship Id="rId10" Type="http://schemas.openxmlformats.org/officeDocument/2006/relationships/oleObject" Target="../embeddings/oleObject45.bin"/><Relationship Id="rId4" Type="http://schemas.openxmlformats.org/officeDocument/2006/relationships/oleObject" Target="../embeddings/oleObject42.bin"/><Relationship Id="rId9" Type="http://schemas.openxmlformats.org/officeDocument/2006/relationships/image" Target="../media/image15.w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13" Type="http://schemas.openxmlformats.org/officeDocument/2006/relationships/image" Target="../media/image37.wmf"/><Relationship Id="rId18" Type="http://schemas.openxmlformats.org/officeDocument/2006/relationships/oleObject" Target="../embeddings/oleObject54.bin"/><Relationship Id="rId3" Type="http://schemas.openxmlformats.org/officeDocument/2006/relationships/image" Target="../media/image32.wmf"/><Relationship Id="rId21" Type="http://schemas.openxmlformats.org/officeDocument/2006/relationships/image" Target="../media/image31.wmf"/><Relationship Id="rId7" Type="http://schemas.openxmlformats.org/officeDocument/2006/relationships/image" Target="../media/image34.wmf"/><Relationship Id="rId12" Type="http://schemas.openxmlformats.org/officeDocument/2006/relationships/oleObject" Target="../embeddings/oleObject51.bin"/><Relationship Id="rId17" Type="http://schemas.openxmlformats.org/officeDocument/2006/relationships/image" Target="../media/image39.wmf"/><Relationship Id="rId2" Type="http://schemas.openxmlformats.org/officeDocument/2006/relationships/oleObject" Target="../embeddings/oleObject46.bin"/><Relationship Id="rId16" Type="http://schemas.openxmlformats.org/officeDocument/2006/relationships/oleObject" Target="../embeddings/oleObject53.bin"/><Relationship Id="rId20" Type="http://schemas.openxmlformats.org/officeDocument/2006/relationships/oleObject" Target="../embeddings/oleObject5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5" Type="http://schemas.openxmlformats.org/officeDocument/2006/relationships/image" Target="../media/image38.wmf"/><Relationship Id="rId10" Type="http://schemas.openxmlformats.org/officeDocument/2006/relationships/oleObject" Target="../embeddings/oleObject50.bin"/><Relationship Id="rId19" Type="http://schemas.openxmlformats.org/officeDocument/2006/relationships/image" Target="../media/image30.wmf"/><Relationship Id="rId4" Type="http://schemas.openxmlformats.org/officeDocument/2006/relationships/oleObject" Target="../embeddings/oleObject47.bin"/><Relationship Id="rId9" Type="http://schemas.openxmlformats.org/officeDocument/2006/relationships/image" Target="../media/image35.wmf"/><Relationship Id="rId14" Type="http://schemas.openxmlformats.org/officeDocument/2006/relationships/oleObject" Target="../embeddings/oleObject52.bin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2"/>
          <p:cNvSpPr txBox="1">
            <a:spLocks noGrp="1" noChangeArrowheads="1"/>
          </p:cNvSpPr>
          <p:nvPr/>
        </p:nvSpPr>
        <p:spPr bwMode="auto">
          <a:xfrm>
            <a:off x="3505200" y="6553118"/>
            <a:ext cx="2133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fld id="{5DE66B19-C911-44EB-875B-0B3FAF53A32C}" type="slidenum">
              <a:rPr lang="en-US" altLang="zh-CN" sz="1200"/>
              <a:t>1</a:t>
            </a:fld>
            <a:endParaRPr lang="en-US" altLang="zh-CN" sz="1200" dirty="0"/>
          </a:p>
        </p:txBody>
      </p:sp>
      <p:sp>
        <p:nvSpPr>
          <p:cNvPr id="4099" name="Rectangle 2"/>
          <p:cNvSpPr>
            <a:spLocks noChangeArrowheads="1"/>
          </p:cNvSpPr>
          <p:nvPr/>
        </p:nvSpPr>
        <p:spPr bwMode="auto">
          <a:xfrm>
            <a:off x="2286000" y="2743200"/>
            <a:ext cx="6705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1">
                <a:solidFill>
                  <a:schemeClr val="bg1"/>
                </a:solidFill>
                <a:latin typeface="Verdana" panose="020B0604030504040204" pitchFamily="34" charset="0"/>
              </a:rPr>
              <a:t>离散数学</a:t>
            </a:r>
          </a:p>
        </p:txBody>
      </p:sp>
      <p:sp>
        <p:nvSpPr>
          <p:cNvPr id="4101" name="Rectangle 3"/>
          <p:cNvSpPr>
            <a:spLocks noChangeArrowheads="1"/>
          </p:cNvSpPr>
          <p:nvPr/>
        </p:nvSpPr>
        <p:spPr bwMode="auto">
          <a:xfrm>
            <a:off x="1295400" y="5715000"/>
            <a:ext cx="6553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latin typeface="Verdana" panose="020B0604030504040204" pitchFamily="34" charset="0"/>
              </a:rPr>
              <a:t>华南理工大学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2"/>
          <p:cNvSpPr txBox="1">
            <a:spLocks noGrp="1" noChangeArrowheads="1"/>
          </p:cNvSpPr>
          <p:nvPr/>
        </p:nvSpPr>
        <p:spPr bwMode="auto">
          <a:xfrm>
            <a:off x="3505200" y="6553118"/>
            <a:ext cx="2133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fld id="{D8826A37-71D9-46F1-B4E4-1496936E4487}" type="slidenum">
              <a:rPr lang="en-US" altLang="zh-CN" sz="1200"/>
              <a:t>2</a:t>
            </a:fld>
            <a:endParaRPr lang="en-US" altLang="zh-CN" sz="1200" dirty="0"/>
          </a:p>
        </p:txBody>
      </p:sp>
      <p:sp>
        <p:nvSpPr>
          <p:cNvPr id="5123" name="Rectangle 2"/>
          <p:cNvSpPr>
            <a:spLocks noChangeArrowheads="1"/>
          </p:cNvSpPr>
          <p:nvPr/>
        </p:nvSpPr>
        <p:spPr bwMode="auto">
          <a:xfrm>
            <a:off x="4038600" y="6096000"/>
            <a:ext cx="1752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b="1">
                <a:latin typeface="Verdana" panose="020B0604030504040204" pitchFamily="34" charset="0"/>
              </a:rPr>
              <a:t>第 1.5 节</a:t>
            </a:r>
          </a:p>
        </p:txBody>
      </p:sp>
      <p:sp>
        <p:nvSpPr>
          <p:cNvPr id="5124" name="Text Box 3"/>
          <p:cNvSpPr txBox="1">
            <a:spLocks noChangeArrowheads="1"/>
          </p:cNvSpPr>
          <p:nvPr/>
        </p:nvSpPr>
        <p:spPr bwMode="auto">
          <a:xfrm>
            <a:off x="2362200" y="3276600"/>
            <a:ext cx="678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solidFill>
                  <a:schemeClr val="bg1"/>
                </a:solidFill>
                <a:latin typeface="Euclid" pitchFamily="18" charset="0"/>
                <a:ea typeface="Dotum" panose="020B0600000101010101" pitchFamily="34" charset="-127"/>
              </a:rPr>
              <a:t>第 1 章逻辑与证明、集合与函数</a:t>
            </a:r>
          </a:p>
        </p:txBody>
      </p:sp>
      <p:sp>
        <p:nvSpPr>
          <p:cNvPr id="5125" name="WordArt 4"/>
          <p:cNvSpPr>
            <a:spLocks noChangeArrowheads="1" noChangeShapeType="1" noTextEdit="1"/>
          </p:cNvSpPr>
          <p:nvPr/>
        </p:nvSpPr>
        <p:spPr bwMode="auto">
          <a:xfrm>
            <a:off x="1295400" y="4648200"/>
            <a:ext cx="6934200" cy="7620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3600" b="1" kern="1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tx1"/>
                    </a:gs>
                    <a:gs pos="100000">
                      <a:schemeClr val="hlink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cs typeface="Arial" panose="020B0604020202020204" pitchFamily="34" charset="0"/>
              </a:rPr>
              <a:t>推理规则</a:t>
            </a:r>
            <a:endParaRPr lang="zh-CN" altLang="en-US" sz="3600" b="1" kern="10">
              <a:ln w="19050">
                <a:solidFill>
                  <a:schemeClr val="bg1"/>
                </a:solidFill>
                <a:round/>
              </a:ln>
              <a:gradFill rotWithShape="1">
                <a:gsLst>
                  <a:gs pos="0">
                    <a:schemeClr val="tx1"/>
                  </a:gs>
                  <a:gs pos="100000">
                    <a:schemeClr val="hlink"/>
                  </a:gs>
                </a:gsLst>
                <a:lin ang="0" scaled="1"/>
              </a:gradFill>
              <a:effectLst>
                <a:outerShdw dist="63500" dir="2212194" algn="ctr" rotWithShape="0">
                  <a:srgbClr val="868686">
                    <a:alpha val="50000"/>
                  </a:srgbClr>
                </a:outerShdw>
              </a:effectLst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B8CEBC2-7BE2-43B9-9127-639BABFB0FC7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目录</a:t>
            </a:r>
            <a:endParaRPr lang="en-US" altLang="zh-CN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  <p:sp>
        <p:nvSpPr>
          <p:cNvPr id="6148" name="AutoShape 3"/>
          <p:cNvSpPr>
            <a:spLocks noChangeArrowheads="1"/>
          </p:cNvSpPr>
          <p:nvPr/>
        </p:nvSpPr>
        <p:spPr bwMode="auto">
          <a:xfrm>
            <a:off x="914400" y="2176463"/>
            <a:ext cx="76962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2"/>
            </a:solidFill>
            <a:round/>
          </a:ln>
          <a:effectLst>
            <a:outerShdw dist="99190" dir="238833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/>
              <a:t>命题逻辑的推理规则</a:t>
            </a:r>
          </a:p>
        </p:txBody>
      </p:sp>
      <p:sp>
        <p:nvSpPr>
          <p:cNvPr id="6149" name="AutoShape 4"/>
          <p:cNvSpPr>
            <a:spLocks noChangeArrowheads="1"/>
          </p:cNvSpPr>
          <p:nvPr/>
        </p:nvSpPr>
        <p:spPr bwMode="auto">
          <a:xfrm>
            <a:off x="533400" y="2057400"/>
            <a:ext cx="685800" cy="685800"/>
          </a:xfrm>
          <a:prstGeom prst="diamond">
            <a:avLst/>
          </a:prstGeom>
          <a:solidFill>
            <a:schemeClr val="accent2"/>
          </a:solidFill>
          <a:ln w="25400">
            <a:solidFill>
              <a:schemeClr val="bg1"/>
            </a:solidFill>
            <a:miter lim="800000"/>
          </a:ln>
          <a:effectLst>
            <a:outerShdw dist="63500" dir="221219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687388" y="2155825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151" name="AutoShape 7"/>
          <p:cNvSpPr>
            <a:spLocks noChangeArrowheads="1"/>
          </p:cNvSpPr>
          <p:nvPr/>
        </p:nvSpPr>
        <p:spPr bwMode="auto">
          <a:xfrm>
            <a:off x="914400" y="3014663"/>
            <a:ext cx="76962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1"/>
            </a:solidFill>
            <a:round/>
          </a:ln>
          <a:effectLst>
            <a:outerShdw dist="99190" dir="238833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/>
              <a:t>   </a:t>
            </a:r>
            <a:r>
              <a:rPr lang="zh-CN" altLang="en-US" sz="2400" b="1"/>
              <a:t>使用推理规则建立有效论证</a:t>
            </a:r>
            <a:r>
              <a:rPr lang="en-US" altLang="zh-CN" sz="2400" b="1"/>
              <a:t> </a:t>
            </a:r>
          </a:p>
        </p:txBody>
      </p:sp>
      <p:sp>
        <p:nvSpPr>
          <p:cNvPr id="6152" name="AutoShape 8"/>
          <p:cNvSpPr>
            <a:spLocks noChangeArrowheads="1"/>
          </p:cNvSpPr>
          <p:nvPr/>
        </p:nvSpPr>
        <p:spPr bwMode="auto">
          <a:xfrm>
            <a:off x="533400" y="2895600"/>
            <a:ext cx="685800" cy="685800"/>
          </a:xfrm>
          <a:prstGeom prst="diamond">
            <a:avLst/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</a:ln>
          <a:effectLst>
            <a:outerShdw dist="63500" dir="221219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6153" name="Text Box 10"/>
          <p:cNvSpPr txBox="1">
            <a:spLocks noChangeArrowheads="1"/>
          </p:cNvSpPr>
          <p:nvPr/>
        </p:nvSpPr>
        <p:spPr bwMode="auto">
          <a:xfrm>
            <a:off x="687388" y="2994025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154" name="AutoShape 11"/>
          <p:cNvSpPr>
            <a:spLocks noChangeArrowheads="1"/>
          </p:cNvSpPr>
          <p:nvPr/>
        </p:nvSpPr>
        <p:spPr bwMode="auto">
          <a:xfrm>
            <a:off x="914400" y="3852863"/>
            <a:ext cx="76962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hlink"/>
            </a:solidFill>
            <a:round/>
          </a:ln>
          <a:effectLst>
            <a:outerShdw dist="99190" dir="238833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6155" name="AutoShape 12"/>
          <p:cNvSpPr>
            <a:spLocks noChangeArrowheads="1"/>
          </p:cNvSpPr>
          <p:nvPr/>
        </p:nvSpPr>
        <p:spPr bwMode="auto">
          <a:xfrm>
            <a:off x="533400" y="3733800"/>
            <a:ext cx="685800" cy="685800"/>
          </a:xfrm>
          <a:prstGeom prst="diamond">
            <a:avLst/>
          </a:prstGeom>
          <a:solidFill>
            <a:schemeClr val="hlink"/>
          </a:solidFill>
          <a:ln w="25400">
            <a:solidFill>
              <a:schemeClr val="bg1"/>
            </a:solidFill>
            <a:miter lim="800000"/>
          </a:ln>
          <a:effectLst>
            <a:outerShdw dist="63500" dir="221219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6156" name="Text Box 13"/>
          <p:cNvSpPr txBox="1">
            <a:spLocks noChangeArrowheads="1"/>
          </p:cNvSpPr>
          <p:nvPr/>
        </p:nvSpPr>
        <p:spPr bwMode="auto">
          <a:xfrm>
            <a:off x="1143000" y="3886200"/>
            <a:ext cx="7391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b="1"/>
              <a:t>量词陈述的推理规则</a:t>
            </a:r>
          </a:p>
        </p:txBody>
      </p:sp>
      <p:sp>
        <p:nvSpPr>
          <p:cNvPr id="6157" name="Text Box 14"/>
          <p:cNvSpPr txBox="1">
            <a:spLocks noChangeArrowheads="1"/>
          </p:cNvSpPr>
          <p:nvPr/>
        </p:nvSpPr>
        <p:spPr bwMode="auto">
          <a:xfrm>
            <a:off x="687388" y="3832225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158" name="AutoShape 15"/>
          <p:cNvSpPr>
            <a:spLocks noChangeArrowheads="1"/>
          </p:cNvSpPr>
          <p:nvPr/>
        </p:nvSpPr>
        <p:spPr bwMode="auto">
          <a:xfrm>
            <a:off x="914400" y="4691063"/>
            <a:ext cx="76962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1"/>
            </a:solidFill>
            <a:round/>
          </a:ln>
          <a:effectLst>
            <a:outerShdw dist="99190" dir="238833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6159" name="AutoShape 16"/>
          <p:cNvSpPr>
            <a:spLocks noChangeArrowheads="1"/>
          </p:cNvSpPr>
          <p:nvPr/>
        </p:nvSpPr>
        <p:spPr bwMode="auto">
          <a:xfrm>
            <a:off x="533400" y="4572000"/>
            <a:ext cx="685800" cy="685800"/>
          </a:xfrm>
          <a:prstGeom prst="diamond">
            <a:avLst/>
          </a:prstGeom>
          <a:solidFill>
            <a:schemeClr val="tx1"/>
          </a:solidFill>
          <a:ln w="25400">
            <a:solidFill>
              <a:schemeClr val="bg1"/>
            </a:solidFill>
            <a:miter lim="800000"/>
          </a:ln>
          <a:effectLst>
            <a:outerShdw dist="63500" dir="221219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6160" name="Text Box 17"/>
          <p:cNvSpPr txBox="1">
            <a:spLocks noChangeArrowheads="1"/>
          </p:cNvSpPr>
          <p:nvPr/>
        </p:nvSpPr>
        <p:spPr bwMode="auto">
          <a:xfrm>
            <a:off x="1219200" y="4724400"/>
            <a:ext cx="73152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b="1"/>
              <a:t>定理</a:t>
            </a:r>
            <a:r>
              <a:rPr lang="zh-CN" altLang="en-US" sz="2400" b="1"/>
              <a:t>的</a:t>
            </a:r>
            <a:r>
              <a:rPr lang="en-US" altLang="zh-CN" sz="2400" b="1"/>
              <a:t>证明方法</a:t>
            </a:r>
          </a:p>
        </p:txBody>
      </p:sp>
      <p:sp>
        <p:nvSpPr>
          <p:cNvPr id="6161" name="Text Box 18"/>
          <p:cNvSpPr txBox="1">
            <a:spLocks noChangeArrowheads="1"/>
          </p:cNvSpPr>
          <p:nvPr/>
        </p:nvSpPr>
        <p:spPr bwMode="auto">
          <a:xfrm>
            <a:off x="687388" y="4670425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165" name="Text Box 29"/>
          <p:cNvSpPr txBox="1">
            <a:spLocks noChangeArrowheads="1"/>
          </p:cNvSpPr>
          <p:nvPr/>
        </p:nvSpPr>
        <p:spPr bwMode="auto">
          <a:xfrm>
            <a:off x="687388" y="5508625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C16674A-C0B2-4DE7-BEAB-E937235D0442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7172" name="Group 3"/>
          <p:cNvGrpSpPr/>
          <p:nvPr/>
        </p:nvGrpSpPr>
        <p:grpSpPr bwMode="auto">
          <a:xfrm>
            <a:off x="1981200" y="2819400"/>
            <a:ext cx="5029200" cy="2438400"/>
            <a:chOff x="0" y="0"/>
            <a:chExt cx="1889" cy="1009"/>
          </a:xfrm>
        </p:grpSpPr>
        <p:grpSp>
          <p:nvGrpSpPr>
            <p:cNvPr id="7174" name="Group 4"/>
            <p:cNvGrpSpPr/>
            <p:nvPr/>
          </p:nvGrpSpPr>
          <p:grpSpPr bwMode="auto">
            <a:xfrm>
              <a:off x="0" y="90"/>
              <a:ext cx="1889" cy="919"/>
              <a:chOff x="0" y="0"/>
              <a:chExt cx="1926" cy="937"/>
            </a:xfrm>
          </p:grpSpPr>
          <p:sp>
            <p:nvSpPr>
              <p:cNvPr id="7179" name="Oval 5"/>
              <p:cNvSpPr>
                <a:spLocks noChangeArrowheads="1"/>
              </p:cNvSpPr>
              <p:nvPr/>
            </p:nvSpPr>
            <p:spPr bwMode="auto">
              <a:xfrm>
                <a:off x="21" y="3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4A4A7C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7180" name="Oval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rgbClr val="D2D2FF"/>
                  </a:gs>
                  <a:gs pos="100000">
                    <a:schemeClr val="hlink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</p:grpSp>
        <p:sp>
          <p:nvSpPr>
            <p:cNvPr id="7175" name="Oval 7"/>
            <p:cNvSpPr>
              <a:spLocks noChangeArrowheads="1"/>
            </p:cNvSpPr>
            <p:nvPr/>
          </p:nvSpPr>
          <p:spPr bwMode="auto">
            <a:xfrm>
              <a:off x="89" y="0"/>
              <a:ext cx="1691" cy="845"/>
            </a:xfrm>
            <a:prstGeom prst="ellipse">
              <a:avLst/>
            </a:prstGeom>
            <a:gradFill rotWithShape="1">
              <a:gsLst>
                <a:gs pos="0">
                  <a:srgbClr val="37556B"/>
                </a:gs>
                <a:gs pos="100000">
                  <a:schemeClr val="accent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7176" name="Oval 8"/>
            <p:cNvSpPr>
              <a:spLocks noChangeArrowheads="1"/>
            </p:cNvSpPr>
            <p:nvPr/>
          </p:nvSpPr>
          <p:spPr bwMode="auto">
            <a:xfrm>
              <a:off x="111" y="5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rgbClr val="D0E6F7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7177" name="Oval 9"/>
            <p:cNvSpPr>
              <a:spLocks noChangeArrowheads="1"/>
            </p:cNvSpPr>
            <p:nvPr/>
          </p:nvSpPr>
          <p:spPr bwMode="auto">
            <a:xfrm>
              <a:off x="128" y="13"/>
              <a:ext cx="1570" cy="770"/>
            </a:xfrm>
            <a:prstGeom prst="ellipse">
              <a:avLst/>
            </a:prstGeom>
            <a:gradFill rotWithShape="1">
              <a:gsLst>
                <a:gs pos="0">
                  <a:srgbClr val="5E91B7"/>
                </a:gs>
                <a:gs pos="100000">
                  <a:schemeClr val="accent1">
                    <a:alpha val="48000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7178" name="Oval 10"/>
            <p:cNvSpPr>
              <a:spLocks noChangeArrowheads="1"/>
            </p:cNvSpPr>
            <p:nvPr/>
          </p:nvSpPr>
          <p:spPr bwMode="auto">
            <a:xfrm>
              <a:off x="211" y="30"/>
              <a:ext cx="1382" cy="62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1">
                    <a:alpha val="37999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7173" name="Rectangle 11"/>
          <p:cNvSpPr>
            <a:spLocks noGrp="1" noChangeArrowheads="1"/>
          </p:cNvSpPr>
          <p:nvPr>
            <p:ph type="body" idx="4294967295"/>
          </p:nvPr>
        </p:nvSpPr>
        <p:spPr>
          <a:xfrm>
            <a:off x="2209800" y="3505200"/>
            <a:ext cx="4572000" cy="685800"/>
          </a:xfrm>
        </p:spPr>
        <p:txBody>
          <a:bodyPr/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ym typeface="+mn-ea"/>
              </a:rPr>
              <a:t>命题逻辑的推理规则</a:t>
            </a:r>
            <a:endParaRPr lang="en-US" altLang="zh-CN" b="1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234A9FD3-6B11-4238-B3AA-6C36493D9B76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一些术语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030711"/>
                </a:solidFill>
                <a:ea typeface="宋体" panose="02010600030101010101" pitchFamily="2" charset="-122"/>
              </a:rPr>
              <a:t>定理</a:t>
            </a:r>
            <a:r>
              <a:rPr lang="en-US" altLang="zh-CN" sz="2800">
                <a:ea typeface="宋体" panose="02010600030101010101" pitchFamily="2" charset="-122"/>
              </a:rPr>
              <a:t>是可以证明为真的陈述。</a:t>
            </a:r>
          </a:p>
          <a:p>
            <a:pPr eaLnBrk="1" hangingPunct="1"/>
            <a:r>
              <a:rPr lang="en-US" altLang="zh-CN" sz="2800" b="1">
                <a:solidFill>
                  <a:srgbClr val="030711"/>
                </a:solidFill>
                <a:ea typeface="宋体" panose="02010600030101010101" pitchFamily="2" charset="-122"/>
              </a:rPr>
              <a:t>证明</a:t>
            </a:r>
            <a:r>
              <a:rPr lang="en-US" altLang="zh-CN" sz="2800">
                <a:ea typeface="宋体" panose="02010600030101010101" pitchFamily="2" charset="-122"/>
              </a:rPr>
              <a:t>就是一连串的陈述，这些陈述构成一个论证，从而使定理成立。</a:t>
            </a:r>
          </a:p>
          <a:p>
            <a:pPr eaLnBrk="1" hangingPunct="1"/>
            <a:r>
              <a:rPr lang="en-US" altLang="zh-CN" sz="2800" b="1">
                <a:solidFill>
                  <a:srgbClr val="030711"/>
                </a:solidFill>
                <a:ea typeface="宋体" panose="02010600030101010101" pitchFamily="2" charset="-122"/>
              </a:rPr>
              <a:t>公理</a:t>
            </a:r>
            <a:r>
              <a:rPr lang="en-US" altLang="zh-CN" sz="2800">
                <a:ea typeface="宋体" panose="02010600030101010101" pitchFamily="2" charset="-122"/>
              </a:rPr>
              <a:t>是数学结构的基本假设。</a:t>
            </a:r>
          </a:p>
          <a:p>
            <a:pPr eaLnBrk="1" hangingPunct="1"/>
            <a:r>
              <a:rPr lang="en-US" altLang="zh-CN" sz="2800" b="1">
                <a:solidFill>
                  <a:srgbClr val="030711"/>
                </a:solidFill>
                <a:ea typeface="宋体" panose="02010600030101010101" pitchFamily="2" charset="-122"/>
              </a:rPr>
              <a:t>公设</a:t>
            </a:r>
            <a:r>
              <a:rPr lang="en-US" altLang="zh-CN" sz="2800">
                <a:ea typeface="宋体" panose="02010600030101010101" pitchFamily="2" charset="-122"/>
              </a:rPr>
              <a:t>是待证定理的假设。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F99AA949-B0A5-47DA-B89D-34EEDD7D4509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一些术语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030711"/>
                </a:solidFill>
                <a:ea typeface="宋体" panose="02010600030101010101" pitchFamily="2" charset="-122"/>
              </a:rPr>
              <a:t>谬误</a:t>
            </a:r>
            <a:r>
              <a:rPr lang="en-US" altLang="zh-CN" sz="2800">
                <a:ea typeface="宋体" panose="02010600030101010101" pitchFamily="2" charset="-122"/>
              </a:rPr>
              <a:t>是一些不正确的推理形式，它有助于澄清正确的证明。</a:t>
            </a:r>
          </a:p>
          <a:p>
            <a:pPr eaLnBrk="1" hangingPunct="1"/>
            <a:r>
              <a:rPr lang="zh-CN" altLang="en-US" sz="2800" b="1">
                <a:solidFill>
                  <a:srgbClr val="030711"/>
                </a:solidFill>
                <a:ea typeface="宋体" panose="02010600030101010101" pitchFamily="2" charset="-122"/>
              </a:rPr>
              <a:t>引理</a:t>
            </a:r>
            <a:r>
              <a:rPr lang="en-US" altLang="zh-CN" sz="2800">
                <a:ea typeface="宋体" panose="02010600030101010101" pitchFamily="2" charset="-122"/>
              </a:rPr>
              <a:t>是用于证明其他定理的简单定理。</a:t>
            </a:r>
          </a:p>
          <a:p>
            <a:pPr eaLnBrk="1" hangingPunct="1"/>
            <a:r>
              <a:rPr lang="en-US" altLang="zh-CN" sz="2800" b="1">
                <a:solidFill>
                  <a:srgbClr val="030711"/>
                </a:solidFill>
                <a:ea typeface="宋体" panose="02010600030101010101" pitchFamily="2" charset="-122"/>
              </a:rPr>
              <a:t>推论</a:t>
            </a:r>
            <a:r>
              <a:rPr lang="en-US" altLang="zh-CN" sz="2800">
                <a:ea typeface="宋体" panose="02010600030101010101" pitchFamily="2" charset="-122"/>
              </a:rPr>
              <a:t>是从已证明的定理直接推出的命题。</a:t>
            </a:r>
          </a:p>
          <a:p>
            <a:pPr eaLnBrk="1" hangingPunct="1"/>
            <a:r>
              <a:rPr lang="en-US" altLang="zh-CN" sz="2800" b="1">
                <a:solidFill>
                  <a:srgbClr val="030711"/>
                </a:solidFill>
                <a:ea typeface="宋体" panose="02010600030101010101" pitchFamily="2" charset="-122"/>
              </a:rPr>
              <a:t>猜想</a:t>
            </a:r>
            <a:r>
              <a:rPr lang="en-US" altLang="zh-CN" sz="2800">
                <a:ea typeface="宋体" panose="02010600030101010101" pitchFamily="2" charset="-122"/>
              </a:rPr>
              <a:t>是一种真值未知的陈述。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8F4D3CFC-BFDA-4E70-9D9D-E864DAC4588D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推理规则 - 一般形式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2057400"/>
            <a:ext cx="8305800" cy="4114800"/>
          </a:xfrm>
        </p:spPr>
        <p:txBody>
          <a:bodyPr/>
          <a:lstStyle/>
          <a:p>
            <a:pPr eaLnBrk="1" hangingPunct="1"/>
            <a:r>
              <a:rPr lang="en-US" altLang="zh-CN" i="1">
                <a:ea typeface="宋体" panose="02010600030101010101" pitchFamily="2" charset="-122"/>
              </a:rPr>
              <a:t>推理规则</a:t>
            </a:r>
            <a:r>
              <a:rPr lang="en-US" altLang="zh-CN">
                <a:ea typeface="宋体" panose="02010600030101010101" pitchFamily="2" charset="-122"/>
              </a:rPr>
              <a:t>是 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如果我们知道一组</a:t>
            </a:r>
            <a:r>
              <a:rPr lang="en-US" altLang="zh-CN" i="1">
                <a:ea typeface="宋体" panose="02010600030101010101" pitchFamily="2" charset="-122"/>
              </a:rPr>
              <a:t>前提</a:t>
            </a:r>
            <a:r>
              <a:rPr lang="en-US" altLang="zh-CN">
                <a:ea typeface="宋体" panose="02010600030101010101" pitchFamily="2" charset="-122"/>
              </a:rPr>
              <a:t>都是真的，那么我们就可以推导出某个</a:t>
            </a:r>
            <a:r>
              <a:rPr lang="en-US" altLang="zh-CN" i="1">
                <a:ea typeface="宋体" panose="02010600030101010101" pitchFamily="2" charset="-122"/>
              </a:rPr>
              <a:t>结论</a:t>
            </a:r>
            <a:r>
              <a:rPr lang="en-US" altLang="zh-CN">
                <a:ea typeface="宋体" panose="02010600030101010101" pitchFamily="2" charset="-122"/>
              </a:rPr>
              <a:t>陈述是真的。 </a:t>
            </a:r>
            <a:endParaRPr lang="en-US" altLang="zh-CN" i="1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i="1">
                <a:ea typeface="宋体" panose="02010600030101010101" pitchFamily="2" charset="-122"/>
              </a:rPr>
              <a:t> 前提 1</a:t>
            </a:r>
            <a:br>
              <a:rPr lang="en-US" altLang="zh-CN" i="1">
                <a:ea typeface="宋体" panose="02010600030101010101" pitchFamily="2" charset="-122"/>
              </a:rPr>
            </a:br>
            <a:r>
              <a:rPr lang="en-US" altLang="zh-CN" i="1" u="sng">
                <a:ea typeface="宋体" panose="02010600030101010101" pitchFamily="2" charset="-122"/>
              </a:rPr>
              <a:t>前提 2 </a:t>
            </a:r>
            <a:r>
              <a:rPr lang="en-US" altLang="zh-CN" i="1" u="sng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i="1" u="sng">
                <a:ea typeface="宋体" panose="02010600030101010101" pitchFamily="2" charset="-122"/>
              </a:rPr>
              <a:t>.. </a:t>
            </a:r>
            <a:br>
              <a:rPr lang="en-US" altLang="zh-CN" i="1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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结论                             "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"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意为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"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因此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endParaRPr lang="en-US" altLang="zh-CN" i="1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0245" name="Rectangle 4"/>
          <p:cNvSpPr>
            <a:spLocks noChangeArrowheads="1"/>
          </p:cNvSpPr>
          <p:nvPr/>
        </p:nvSpPr>
        <p:spPr bwMode="auto">
          <a:xfrm>
            <a:off x="1019175" y="3657600"/>
            <a:ext cx="4238625" cy="16002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4FE8DDE-863B-4E97-B96A-473EF535BB98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一个简单的例子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"如果今天下雪，我们就去滑雪"</a:t>
            </a:r>
          </a:p>
          <a:p>
            <a:pPr eaLnBrk="1" hangingPunct="1"/>
            <a:r>
              <a:rPr lang="en-US" altLang="zh-CN" b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"今天下雪了 "</a:t>
            </a:r>
            <a:r>
              <a:rPr lang="en-US" altLang="zh-CN" b="1" i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假设</a:t>
            </a:r>
          </a:p>
          <a:p>
            <a:pPr eaLnBrk="1" hangingPunct="1"/>
            <a:r>
              <a:rPr lang="en-US" altLang="zh-CN" b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如果</a:t>
            </a:r>
            <a:r>
              <a:rPr lang="en-US" altLang="zh-CN" b="1" i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假设</a:t>
            </a:r>
            <a:r>
              <a:rPr lang="en-US" altLang="zh-CN" b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为真，那么结论 "我们去滑雪 "就是真的。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b="1">
              <a:solidFill>
                <a:srgbClr val="03071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p 					</a:t>
            </a:r>
            <a:r>
              <a:rPr lang="zh-CN" altLang="en-US">
                <a:ea typeface="宋体" panose="02010600030101010101" pitchFamily="2" charset="-122"/>
              </a:rPr>
              <a:t>肯定式推理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b="1" i="1" u="sng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pq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			</a:t>
            </a:r>
            <a:r>
              <a:rPr lang="zh-CN" altLang="en-US" i="1">
                <a:ea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又名</a:t>
            </a:r>
            <a:r>
              <a:rPr lang="zh-CN" altLang="en-US" i="1">
                <a:ea typeface="宋体" panose="02010600030101010101" pitchFamily="2" charset="-122"/>
                <a:sym typeface="Symbol" panose="05050102010706020507" pitchFamily="18" charset="2"/>
              </a:rPr>
              <a:t>分离定律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）</a:t>
            </a:r>
            <a:b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q</a:t>
            </a:r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900113" y="4343400"/>
            <a:ext cx="1143000" cy="15240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DA40ADA9-CB5B-461B-9649-26EF5E861FD3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425" y="731838"/>
            <a:ext cx="8181975" cy="563562"/>
          </a:xfrm>
        </p:spPr>
        <p:txBody>
          <a:bodyPr/>
          <a:lstStyle/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命题逻辑的一些推理规则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tabLst>
                <a:tab pos="3197225" algn="l"/>
              </a:tabLst>
            </a:pP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</a:rPr>
              <a:t>p 	</a:t>
            </a:r>
            <a:r>
              <a:rPr lang="en-US" altLang="zh-CN" dirty="0">
                <a:ea typeface="宋体" panose="02010600030101010101" pitchFamily="2" charset="-122"/>
              </a:rPr>
              <a:t>加法法则</a:t>
            </a:r>
            <a:br>
              <a:rPr lang="en-US" altLang="zh-CN" i="1" dirty="0">
                <a:ea typeface="宋体" panose="02010600030101010101" pitchFamily="2" charset="-122"/>
              </a:rPr>
            </a:b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 </a:t>
            </a:r>
            <a:r>
              <a:rPr lang="en-US" altLang="zh-CN" b="1" i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pq</a:t>
            </a:r>
            <a:endParaRPr lang="en-US" altLang="zh-CN" b="1" i="1" dirty="0">
              <a:solidFill>
                <a:srgbClr val="03071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tabLst>
                <a:tab pos="3197225" algn="l"/>
              </a:tabLst>
            </a:pPr>
            <a:r>
              <a:rPr lang="en-US" altLang="zh-CN" b="1" i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pq 	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简化规则</a:t>
            </a:r>
            <a:b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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</a:p>
          <a:p>
            <a:pPr eaLnBrk="1" hangingPunct="1">
              <a:tabLst>
                <a:tab pos="3197225" algn="l"/>
              </a:tabLst>
            </a:pP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p 	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连接规则</a:t>
            </a:r>
            <a:b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q</a:t>
            </a:r>
            <a:b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 </a:t>
            </a:r>
            <a:r>
              <a:rPr lang="en-US" altLang="zh-CN" b="1" i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pq</a:t>
            </a:r>
            <a:endParaRPr lang="en-US" altLang="zh-CN" b="1" i="1" dirty="0">
              <a:solidFill>
                <a:srgbClr val="03071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2293" name="Line 4"/>
          <p:cNvSpPr>
            <a:spLocks noChangeShapeType="1"/>
          </p:cNvSpPr>
          <p:nvPr/>
        </p:nvSpPr>
        <p:spPr bwMode="auto">
          <a:xfrm>
            <a:off x="990600" y="1981200"/>
            <a:ext cx="1295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4" name="Line 5"/>
          <p:cNvSpPr>
            <a:spLocks noChangeShapeType="1"/>
          </p:cNvSpPr>
          <p:nvPr/>
        </p:nvSpPr>
        <p:spPr bwMode="auto">
          <a:xfrm>
            <a:off x="990600" y="3095625"/>
            <a:ext cx="838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5" name="Line 6"/>
          <p:cNvSpPr>
            <a:spLocks noChangeShapeType="1"/>
          </p:cNvSpPr>
          <p:nvPr/>
        </p:nvSpPr>
        <p:spPr bwMode="auto">
          <a:xfrm>
            <a:off x="990600" y="4648200"/>
            <a:ext cx="1219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2A35CB4F-1187-4DD4-8F05-F89966204481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肯定式推理与否定式推理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tabLst>
                <a:tab pos="2747645" algn="l"/>
              </a:tabLst>
            </a:pP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p 	  </a:t>
            </a:r>
            <a:r>
              <a:rPr lang="zh-CN" altLang="en-US">
                <a:ea typeface="宋体" panose="02010600030101010101" pitchFamily="2" charset="-122"/>
              </a:rPr>
              <a:t>肯定式推理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b="1" i="1" u="sng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pq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zh-CN" altLang="en-US" i="1">
                <a:ea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又名</a:t>
            </a:r>
            <a:r>
              <a:rPr lang="zh-CN" altLang="en-US" i="1">
                <a:ea typeface="宋体" panose="02010600030101010101" pitchFamily="2" charset="-122"/>
                <a:sym typeface="Symbol" panose="05050102010706020507" pitchFamily="18" charset="2"/>
              </a:rPr>
              <a:t>分离定律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）</a:t>
            </a:r>
            <a:b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q</a:t>
            </a:r>
          </a:p>
          <a:p>
            <a:pPr eaLnBrk="1" hangingPunct="1">
              <a:tabLst>
                <a:tab pos="2747645" algn="l"/>
              </a:tabLst>
            </a:pP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q</a:t>
            </a:r>
            <a:b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 i="1" u="sng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pq  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	  </a:t>
            </a: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否定式推理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br>
              <a:rPr lang="en-US" altLang="zh-CN" i="1" u="sng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p</a:t>
            </a:r>
          </a:p>
        </p:txBody>
      </p:sp>
      <p:sp>
        <p:nvSpPr>
          <p:cNvPr id="13317" name="Text Box 6"/>
          <p:cNvSpPr txBox="1">
            <a:spLocks noChangeArrowheads="1"/>
          </p:cNvSpPr>
          <p:nvPr/>
        </p:nvSpPr>
        <p:spPr bwMode="auto">
          <a:xfrm>
            <a:off x="6400800" y="2514600"/>
            <a:ext cx="1878013" cy="8509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"肯定 "的方式 </a:t>
            </a:r>
            <a:br>
              <a:rPr lang="en-US" altLang="zh-CN" sz="2400">
                <a:latin typeface="Times New Roman" panose="02020603050405020304" pitchFamily="18" charset="0"/>
              </a:rPr>
            </a:br>
            <a:r>
              <a:rPr lang="en-US" altLang="zh-CN" sz="2400">
                <a:latin typeface="Times New Roman" panose="02020603050405020304" pitchFamily="18" charset="0"/>
              </a:rPr>
              <a:t>肯定"</a:t>
            </a:r>
          </a:p>
        </p:txBody>
      </p:sp>
      <p:sp>
        <p:nvSpPr>
          <p:cNvPr id="13318" name="Text Box 7"/>
          <p:cNvSpPr txBox="1">
            <a:spLocks noChangeArrowheads="1"/>
          </p:cNvSpPr>
          <p:nvPr/>
        </p:nvSpPr>
        <p:spPr bwMode="auto">
          <a:xfrm>
            <a:off x="5006975" y="4619625"/>
            <a:ext cx="2994025" cy="485775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"否认的方式"</a:t>
            </a:r>
          </a:p>
        </p:txBody>
      </p:sp>
      <p:sp>
        <p:nvSpPr>
          <p:cNvPr id="13319" name="AutoShape 8"/>
          <p:cNvSpPr/>
          <p:nvPr/>
        </p:nvSpPr>
        <p:spPr bwMode="auto">
          <a:xfrm>
            <a:off x="2057400" y="1524000"/>
            <a:ext cx="1066800" cy="1371600"/>
          </a:xfrm>
          <a:prstGeom prst="rightBrace">
            <a:avLst>
              <a:gd name="adj1" fmla="val 10690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13320" name="AutoShape 9"/>
          <p:cNvSpPr/>
          <p:nvPr/>
        </p:nvSpPr>
        <p:spPr bwMode="auto">
          <a:xfrm>
            <a:off x="2057400" y="3200400"/>
            <a:ext cx="1066800" cy="1371600"/>
          </a:xfrm>
          <a:prstGeom prst="rightBrace">
            <a:avLst>
              <a:gd name="adj1" fmla="val 10690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13321" name="Line 10"/>
          <p:cNvSpPr>
            <a:spLocks noChangeShapeType="1"/>
          </p:cNvSpPr>
          <p:nvPr/>
        </p:nvSpPr>
        <p:spPr bwMode="auto">
          <a:xfrm>
            <a:off x="838200" y="2514600"/>
            <a:ext cx="1295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22" name="Line 11"/>
          <p:cNvSpPr>
            <a:spLocks noChangeShapeType="1"/>
          </p:cNvSpPr>
          <p:nvPr/>
        </p:nvSpPr>
        <p:spPr bwMode="auto">
          <a:xfrm>
            <a:off x="814388" y="4081463"/>
            <a:ext cx="1295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60578F7-054B-4948-9656-37AE32747571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逻辑推理规则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tabLst>
                <a:tab pos="2747645" algn="l"/>
              </a:tabLst>
            </a:pPr>
            <a:r>
              <a:rPr lang="en-US" altLang="zh-CN" b="1" i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pq 	</a:t>
            </a:r>
            <a:r>
              <a:rPr lang="zh-CN" altLang="en-US" b="1" dirty="0">
                <a:ea typeface="宋体" panose="02010600030101010101" pitchFamily="2" charset="-122"/>
                <a:sym typeface="Symbol" panose="05050102010706020507" pitchFamily="18" charset="2"/>
              </a:rPr>
              <a:t>假言三段论</a:t>
            </a:r>
            <a:b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 i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qr 	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[又称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传递性规则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]</a:t>
            </a:r>
            <a:b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 i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pr</a:t>
            </a:r>
            <a:endParaRPr lang="en-US" altLang="zh-CN" b="1" i="1" dirty="0">
              <a:solidFill>
                <a:srgbClr val="03071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tabLst>
                <a:tab pos="2747645" algn="l"/>
              </a:tabLst>
            </a:pPr>
            <a:endParaRPr lang="en-US" altLang="zh-CN" b="1" i="1" dirty="0">
              <a:solidFill>
                <a:srgbClr val="03071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tabLst>
                <a:tab pos="2747645" algn="l"/>
              </a:tabLst>
            </a:pP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	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析取三段论</a:t>
            </a:r>
            <a:b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 	</a:t>
            </a:r>
            <a:b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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endParaRPr lang="en-US" altLang="zh-CN" b="1" dirty="0">
              <a:solidFill>
                <a:srgbClr val="03071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4341" name="Line 4"/>
          <p:cNvSpPr>
            <a:spLocks noChangeShapeType="1"/>
          </p:cNvSpPr>
          <p:nvPr/>
        </p:nvSpPr>
        <p:spPr bwMode="auto">
          <a:xfrm>
            <a:off x="838200" y="2514600"/>
            <a:ext cx="1219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2" name="Line 5"/>
          <p:cNvSpPr>
            <a:spLocks noChangeShapeType="1"/>
          </p:cNvSpPr>
          <p:nvPr/>
        </p:nvSpPr>
        <p:spPr bwMode="auto">
          <a:xfrm>
            <a:off x="838200" y="4662488"/>
            <a:ext cx="1066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3" name="Text Box 7"/>
          <p:cNvSpPr txBox="1">
            <a:spLocks noChangeArrowheads="1"/>
          </p:cNvSpPr>
          <p:nvPr/>
        </p:nvSpPr>
        <p:spPr bwMode="auto">
          <a:xfrm>
            <a:off x="6324600" y="5943600"/>
            <a:ext cx="2489200" cy="8509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亚里士多德</a:t>
            </a:r>
            <a:br>
              <a:rPr lang="en-US" altLang="zh-CN" sz="2400">
                <a:latin typeface="Times New Roman" panose="02020603050405020304" pitchFamily="18" charset="0"/>
              </a:rPr>
            </a:br>
            <a:r>
              <a:rPr lang="en-US" altLang="zh-CN" sz="2400">
                <a:latin typeface="Times New Roman" panose="02020603050405020304" pitchFamily="18" charset="0"/>
              </a:rPr>
              <a:t>(约公元前 384-322 年）。</a:t>
            </a:r>
          </a:p>
        </p:txBody>
      </p:sp>
      <p:pic>
        <p:nvPicPr>
          <p:cNvPr id="14344" name="Picture 8" descr="Aristot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3933825"/>
            <a:ext cx="1714500" cy="2085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E1F9B103-E61A-4759-A703-23EC27083B59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		</a:t>
            </a: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消解律</a:t>
            </a:r>
            <a:b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  <a:b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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</a:p>
          <a:p>
            <a:pPr eaLnBrk="1" hangingPunct="1"/>
            <a:endParaRPr lang="en-US" altLang="zh-CN" b="1" i="1">
              <a:solidFill>
                <a:srgbClr val="03071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[(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 (p 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)]  (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zh-CN" altLang="en-US" b="1" i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等价三段论</a:t>
            </a: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6389" name="Line 4"/>
          <p:cNvSpPr>
            <a:spLocks noChangeShapeType="1"/>
          </p:cNvSpPr>
          <p:nvPr/>
        </p:nvSpPr>
        <p:spPr bwMode="auto">
          <a:xfrm>
            <a:off x="838200" y="2514600"/>
            <a:ext cx="1447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1C047ED7-FECA-4107-B799-9F19C7B0EDAD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有效参数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419225"/>
            <a:ext cx="8686800" cy="4879975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如果所有假设都为真，结论也为真，那么这种论证形式就称为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有效</a:t>
            </a:r>
            <a:r>
              <a:rPr lang="en-US" altLang="zh-CN">
                <a:ea typeface="宋体" panose="02010600030101010101" pitchFamily="2" charset="-122"/>
              </a:rPr>
              <a:t>论证。 </a:t>
            </a: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(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p</a:t>
            </a:r>
            <a:r>
              <a:rPr lang="en-US" altLang="zh-CN" sz="1800" b="1" i="1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1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p</a:t>
            </a:r>
            <a:r>
              <a:rPr lang="en-US" altLang="zh-CN" sz="1800" b="1" i="1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2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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p</a:t>
            </a:r>
            <a:r>
              <a:rPr lang="en-US" altLang="zh-CN" sz="1800" b="1" i="1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n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 )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为真</a:t>
            </a:r>
            <a:endParaRPr lang="en-US" altLang="zh-CN" b="1" i="1">
              <a:solidFill>
                <a:srgbClr val="03071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l" eaLnBrk="1" hangingPunct="1"/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p</a:t>
            </a:r>
            <a:r>
              <a:rPr lang="en-US" altLang="zh-CN" sz="1800" b="1" i="1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1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 ,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p</a:t>
            </a:r>
            <a:r>
              <a:rPr lang="en-US" altLang="zh-CN" sz="1800" b="1" i="1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2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b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,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p</a:t>
            </a:r>
            <a:r>
              <a:rPr lang="en-US" altLang="zh-CN" sz="1800" b="1" i="1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n 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可以得出正确结论</a:t>
            </a:r>
          </a:p>
          <a:p>
            <a:pPr eaLnBrk="1" hangingPunct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(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p1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p2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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pn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 )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6D62385D-D8AE-474A-AAF2-875BF963B344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grpSp>
        <p:nvGrpSpPr>
          <p:cNvPr id="18435" name="Group 3"/>
          <p:cNvGrpSpPr/>
          <p:nvPr/>
        </p:nvGrpSpPr>
        <p:grpSpPr bwMode="auto">
          <a:xfrm>
            <a:off x="727075" y="1752600"/>
            <a:ext cx="5130800" cy="533400"/>
            <a:chOff x="0" y="0"/>
            <a:chExt cx="3232" cy="336"/>
          </a:xfrm>
        </p:grpSpPr>
        <p:sp>
          <p:nvSpPr>
            <p:cNvPr id="18451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1330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(1) </a:t>
              </a:r>
              <a:r>
                <a:rPr lang="zh-CN" altLang="en-US" sz="2800" b="1"/>
                <a:t>附加律</a:t>
              </a:r>
            </a:p>
          </p:txBody>
        </p:sp>
        <p:graphicFrame>
          <p:nvGraphicFramePr>
            <p:cNvPr id="18452" name="Object 5"/>
            <p:cNvGraphicFramePr>
              <a:graphicFrameLocks noChangeAspect="1"/>
            </p:cNvGraphicFramePr>
            <p:nvPr/>
          </p:nvGraphicFramePr>
          <p:xfrm>
            <a:off x="1726" y="15"/>
            <a:ext cx="1506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786765" imgH="203200" progId="Equation.DSMT4">
                    <p:embed/>
                  </p:oleObj>
                </mc:Choice>
                <mc:Fallback>
                  <p:oleObj r:id="rId2" imgW="786765" imgH="2032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6" y="15"/>
                          <a:ext cx="1506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438" name="Group 6"/>
          <p:cNvGrpSpPr/>
          <p:nvPr/>
        </p:nvGrpSpPr>
        <p:grpSpPr bwMode="auto">
          <a:xfrm>
            <a:off x="727075" y="2476500"/>
            <a:ext cx="5227638" cy="522288"/>
            <a:chOff x="0" y="0"/>
            <a:chExt cx="3293" cy="329"/>
          </a:xfrm>
        </p:grpSpPr>
        <p:sp>
          <p:nvSpPr>
            <p:cNvPr id="18449" name="Text Box 7"/>
            <p:cNvSpPr txBox="1">
              <a:spLocks noChangeArrowheads="1"/>
            </p:cNvSpPr>
            <p:nvPr/>
          </p:nvSpPr>
          <p:spPr bwMode="auto">
            <a:xfrm>
              <a:off x="0" y="0"/>
              <a:ext cx="110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(2) </a:t>
              </a:r>
              <a:r>
                <a:rPr lang="zh-CN" altLang="en-US" sz="2800" b="1"/>
                <a:t>化简</a:t>
              </a:r>
              <a:r>
                <a:rPr lang="zh-CN" altLang="en-US" sz="2800" b="1">
                  <a:sym typeface="+mn-ea"/>
                </a:rPr>
                <a:t>律</a:t>
              </a:r>
              <a:endParaRPr lang="zh-CN" altLang="en-US" sz="2800"/>
            </a:p>
          </p:txBody>
        </p:sp>
        <p:graphicFrame>
          <p:nvGraphicFramePr>
            <p:cNvPr id="18450" name="Object 8"/>
            <p:cNvGraphicFramePr>
              <a:graphicFrameLocks noChangeAspect="1"/>
            </p:cNvGraphicFramePr>
            <p:nvPr/>
          </p:nvGraphicFramePr>
          <p:xfrm>
            <a:off x="1731" y="25"/>
            <a:ext cx="1562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685165" imgH="177800" progId="Equation.DSMT4">
                    <p:embed/>
                  </p:oleObj>
                </mc:Choice>
                <mc:Fallback>
                  <p:oleObj r:id="rId4" imgW="685165" imgH="1778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1" y="25"/>
                          <a:ext cx="1562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441" name="Group 9"/>
          <p:cNvGrpSpPr/>
          <p:nvPr/>
        </p:nvGrpSpPr>
        <p:grpSpPr bwMode="auto">
          <a:xfrm>
            <a:off x="727075" y="3182938"/>
            <a:ext cx="6027738" cy="627062"/>
            <a:chOff x="0" y="0"/>
            <a:chExt cx="3797" cy="395"/>
          </a:xfrm>
        </p:grpSpPr>
        <p:sp>
          <p:nvSpPr>
            <p:cNvPr id="18447" name="Text Box 10"/>
            <p:cNvSpPr txBox="1">
              <a:spLocks noChangeArrowheads="1"/>
            </p:cNvSpPr>
            <p:nvPr/>
          </p:nvSpPr>
          <p:spPr bwMode="auto">
            <a:xfrm>
              <a:off x="0" y="11"/>
              <a:ext cx="133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(3) </a:t>
              </a:r>
              <a:r>
                <a:rPr lang="zh-CN" altLang="en-US" sz="2800" b="1"/>
                <a:t>假言推理</a:t>
              </a:r>
              <a:endParaRPr lang="zh-CN" altLang="en-US" sz="2800"/>
            </a:p>
          </p:txBody>
        </p:sp>
        <p:graphicFrame>
          <p:nvGraphicFramePr>
            <p:cNvPr id="18448" name="Object 11"/>
            <p:cNvGraphicFramePr>
              <a:graphicFrameLocks noChangeAspect="1"/>
            </p:cNvGraphicFramePr>
            <p:nvPr/>
          </p:nvGraphicFramePr>
          <p:xfrm>
            <a:off x="1734" y="0"/>
            <a:ext cx="2063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218565" imgH="254000" progId="Equation.DSMT4">
                    <p:embed/>
                  </p:oleObj>
                </mc:Choice>
                <mc:Fallback>
                  <p:oleObj r:id="rId6" imgW="1218565" imgH="2540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4" y="0"/>
                          <a:ext cx="2063" cy="3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444" name="Group 12"/>
          <p:cNvGrpSpPr/>
          <p:nvPr/>
        </p:nvGrpSpPr>
        <p:grpSpPr bwMode="auto">
          <a:xfrm>
            <a:off x="755650" y="3984625"/>
            <a:ext cx="6145213" cy="620713"/>
            <a:chOff x="0" y="0"/>
            <a:chExt cx="3871" cy="391"/>
          </a:xfrm>
        </p:grpSpPr>
        <p:sp>
          <p:nvSpPr>
            <p:cNvPr id="18445" name="Text Box 13"/>
            <p:cNvSpPr txBox="1">
              <a:spLocks noChangeArrowheads="1"/>
            </p:cNvSpPr>
            <p:nvPr/>
          </p:nvSpPr>
          <p:spPr bwMode="auto">
            <a:xfrm>
              <a:off x="0" y="16"/>
              <a:ext cx="11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(4) </a:t>
              </a:r>
              <a:r>
                <a:rPr lang="zh-CN" altLang="en-US" sz="2800" b="1"/>
                <a:t>拒取式 </a:t>
              </a:r>
            </a:p>
          </p:txBody>
        </p:sp>
        <p:graphicFrame>
          <p:nvGraphicFramePr>
            <p:cNvPr id="18446" name="Object 14"/>
            <p:cNvGraphicFramePr>
              <a:graphicFrameLocks noChangeAspect="1"/>
            </p:cNvGraphicFramePr>
            <p:nvPr/>
          </p:nvGraphicFramePr>
          <p:xfrm>
            <a:off x="1740" y="0"/>
            <a:ext cx="2131" cy="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409065" imgH="254000" progId="Equation.DSMT4">
                    <p:embed/>
                  </p:oleObj>
                </mc:Choice>
                <mc:Fallback>
                  <p:oleObj r:id="rId8" imgW="1409065" imgH="2540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0" y="0"/>
                          <a:ext cx="2131" cy="3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15"/>
          <p:cNvGrpSpPr/>
          <p:nvPr/>
        </p:nvGrpSpPr>
        <p:grpSpPr bwMode="auto">
          <a:xfrm>
            <a:off x="727075" y="4708525"/>
            <a:ext cx="5764213" cy="625475"/>
            <a:chOff x="0" y="0"/>
            <a:chExt cx="3631" cy="394"/>
          </a:xfrm>
        </p:grpSpPr>
        <p:sp>
          <p:nvSpPr>
            <p:cNvPr id="18443" name="Text Box 16"/>
            <p:cNvSpPr txBox="1">
              <a:spLocks noChangeArrowheads="1"/>
            </p:cNvSpPr>
            <p:nvPr/>
          </p:nvSpPr>
          <p:spPr bwMode="auto">
            <a:xfrm>
              <a:off x="0" y="10"/>
              <a:ext cx="161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(5) </a:t>
              </a:r>
              <a:r>
                <a:rPr lang="zh-CN" altLang="en-US" sz="2800" b="1"/>
                <a:t>析取三段论 </a:t>
              </a:r>
            </a:p>
          </p:txBody>
        </p:sp>
        <p:graphicFrame>
          <p:nvGraphicFramePr>
            <p:cNvPr id="7" name="Object 17"/>
            <p:cNvGraphicFramePr>
              <a:graphicFrameLocks noChangeAspect="1"/>
            </p:cNvGraphicFramePr>
            <p:nvPr/>
          </p:nvGraphicFramePr>
          <p:xfrm>
            <a:off x="1740" y="0"/>
            <a:ext cx="1891" cy="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231265" imgH="254000" progId="Equation.DSMT4">
                    <p:embed/>
                  </p:oleObj>
                </mc:Choice>
                <mc:Fallback>
                  <p:oleObj r:id="rId10" imgW="1231265" imgH="2540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0" y="0"/>
                          <a:ext cx="1891" cy="3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19"/>
          <p:cNvGrpSpPr/>
          <p:nvPr/>
        </p:nvGrpSpPr>
        <p:grpSpPr bwMode="auto">
          <a:xfrm>
            <a:off x="727075" y="5353050"/>
            <a:ext cx="7734300" cy="625475"/>
            <a:chOff x="0" y="0"/>
            <a:chExt cx="4872" cy="394"/>
          </a:xfrm>
        </p:grpSpPr>
        <p:sp>
          <p:nvSpPr>
            <p:cNvPr id="10" name="Text Box 20"/>
            <p:cNvSpPr txBox="1">
              <a:spLocks noChangeArrowheads="1"/>
            </p:cNvSpPr>
            <p:nvPr/>
          </p:nvSpPr>
          <p:spPr bwMode="auto">
            <a:xfrm>
              <a:off x="0" y="36"/>
              <a:ext cx="161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(6) </a:t>
              </a:r>
              <a:r>
                <a:rPr lang="zh-CN" altLang="en-US" sz="2800" b="1"/>
                <a:t>假言三段论 </a:t>
              </a:r>
            </a:p>
          </p:txBody>
        </p:sp>
        <p:graphicFrame>
          <p:nvGraphicFramePr>
            <p:cNvPr id="18442" name="Object 20"/>
            <p:cNvGraphicFramePr>
              <a:graphicFrameLocks noChangeAspect="1"/>
            </p:cNvGraphicFramePr>
            <p:nvPr/>
          </p:nvGraphicFramePr>
          <p:xfrm>
            <a:off x="1783" y="0"/>
            <a:ext cx="3089" cy="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2018665" imgH="254000" progId="Equation.DSMT4">
                    <p:embed/>
                  </p:oleObj>
                </mc:Choice>
                <mc:Fallback>
                  <p:oleObj r:id="rId12" imgW="2018665" imgH="2540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3" y="0"/>
                          <a:ext cx="3089" cy="3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747E99E-90E7-4418-87E1-D7DE7D204E00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grpSp>
        <p:nvGrpSpPr>
          <p:cNvPr id="19459" name="Group 3"/>
          <p:cNvGrpSpPr/>
          <p:nvPr/>
        </p:nvGrpSpPr>
        <p:grpSpPr bwMode="auto">
          <a:xfrm>
            <a:off x="990600" y="1828800"/>
            <a:ext cx="6856413" cy="1177925"/>
            <a:chOff x="0" y="0"/>
            <a:chExt cx="3742" cy="807"/>
          </a:xfrm>
        </p:grpSpPr>
        <p:sp>
          <p:nvSpPr>
            <p:cNvPr id="19465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1399" cy="3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(7) </a:t>
              </a:r>
              <a:r>
                <a:rPr lang="zh-CN" altLang="en-US" sz="2800" b="1"/>
                <a:t>等价三段论 </a:t>
              </a:r>
            </a:p>
          </p:txBody>
        </p:sp>
        <p:graphicFrame>
          <p:nvGraphicFramePr>
            <p:cNvPr id="19466" name="Object 5"/>
            <p:cNvGraphicFramePr>
              <a:graphicFrameLocks noChangeAspect="1"/>
            </p:cNvGraphicFramePr>
            <p:nvPr/>
          </p:nvGraphicFramePr>
          <p:xfrm>
            <a:off x="578" y="410"/>
            <a:ext cx="3164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171065" imgH="254000" progId="Equation.DSMT4">
                    <p:embed/>
                  </p:oleObj>
                </mc:Choice>
                <mc:Fallback>
                  <p:oleObj r:id="rId2" imgW="2171065" imgH="2540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8" y="410"/>
                          <a:ext cx="3164" cy="3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462" name="Group 6"/>
          <p:cNvGrpSpPr/>
          <p:nvPr/>
        </p:nvGrpSpPr>
        <p:grpSpPr bwMode="auto">
          <a:xfrm>
            <a:off x="990600" y="3124200"/>
            <a:ext cx="7086600" cy="1219200"/>
            <a:chOff x="0" y="0"/>
            <a:chExt cx="4282" cy="768"/>
          </a:xfrm>
        </p:grpSpPr>
        <p:sp>
          <p:nvSpPr>
            <p:cNvPr id="19463" name="Text Box 7"/>
            <p:cNvSpPr txBox="1">
              <a:spLocks noChangeArrowheads="1"/>
            </p:cNvSpPr>
            <p:nvPr/>
          </p:nvSpPr>
          <p:spPr bwMode="auto">
            <a:xfrm>
              <a:off x="0" y="0"/>
              <a:ext cx="154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(8) </a:t>
              </a:r>
              <a:r>
                <a:rPr lang="zh-CN" altLang="en-US" sz="2800" b="1"/>
                <a:t>构造性二难 </a:t>
              </a:r>
            </a:p>
          </p:txBody>
        </p:sp>
        <p:graphicFrame>
          <p:nvGraphicFramePr>
            <p:cNvPr id="19464" name="Object 8"/>
            <p:cNvGraphicFramePr>
              <a:graphicFrameLocks noChangeAspect="1"/>
            </p:cNvGraphicFramePr>
            <p:nvPr/>
          </p:nvGraphicFramePr>
          <p:xfrm>
            <a:off x="637" y="455"/>
            <a:ext cx="3645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541270" imgH="203200" progId="Equation.DSMT4">
                    <p:embed/>
                  </p:oleObj>
                </mc:Choice>
                <mc:Fallback>
                  <p:oleObj r:id="rId4" imgW="2541270" imgH="2032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7" y="455"/>
                          <a:ext cx="3645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Text Box 10"/>
          <p:cNvSpPr txBox="1">
            <a:spLocks noChangeArrowheads="1"/>
          </p:cNvSpPr>
          <p:nvPr/>
        </p:nvSpPr>
        <p:spPr bwMode="auto">
          <a:xfrm>
            <a:off x="744538" y="4610100"/>
            <a:ext cx="25638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(9) </a:t>
            </a:r>
            <a:r>
              <a:rPr lang="zh-CN" altLang="en-US" sz="2800" b="1"/>
              <a:t>破坏性二难 </a:t>
            </a:r>
          </a:p>
        </p:txBody>
      </p:sp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1570038" y="5349875"/>
            <a:ext cx="6962775" cy="430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sym typeface="+mn-ea"/>
              </a:rPr>
              <a:t>A </a:t>
            </a:r>
            <a:r>
              <a:rPr lang="en-US" altLang="zh-CN" sz="2800">
                <a:solidFill>
                  <a:srgbClr val="000000"/>
                </a:solidFill>
                <a:latin typeface="Symbol" panose="05050102010706020507" pitchFamily="18" charset="2"/>
                <a:sym typeface="+mn-ea"/>
              </a:rPr>
              <a:t>®</a:t>
            </a:r>
            <a:r>
              <a:rPr lang="en-US" altLang="zh-CN" sz="2800" b="1">
                <a:sym typeface="+mn-ea"/>
              </a:rPr>
              <a:t> </a:t>
            </a:r>
            <a:r>
              <a:rPr lang="en-US" altLang="zh-CN" sz="2800" i="1">
                <a:solidFill>
                  <a:srgbClr val="000000"/>
                </a:solidFill>
                <a:sym typeface="+mn-ea"/>
              </a:rPr>
              <a:t>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  <a:t>) </a:t>
            </a:r>
            <a:r>
              <a:rPr lang="en-US" altLang="zh-CN" sz="2800">
                <a:solidFill>
                  <a:srgbClr val="000000"/>
                </a:solidFill>
                <a:latin typeface="Symbol" panose="05050102010706020507" pitchFamily="18" charset="2"/>
                <a:sym typeface="+mn-ea"/>
              </a:rPr>
              <a:t>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sym typeface="+mn-ea"/>
              </a:rPr>
              <a:t>C </a:t>
            </a:r>
            <a:r>
              <a:rPr lang="en-US" altLang="zh-CN" sz="2800">
                <a:solidFill>
                  <a:srgbClr val="000000"/>
                </a:solidFill>
                <a:latin typeface="Symbol" panose="05050102010706020507" pitchFamily="18" charset="2"/>
                <a:sym typeface="+mn-ea"/>
              </a:rPr>
              <a:t>®</a:t>
            </a:r>
            <a:r>
              <a:rPr lang="en-US" altLang="zh-CN" sz="2800" b="1">
                <a:sym typeface="+mn-ea"/>
              </a:rPr>
              <a:t> </a:t>
            </a:r>
            <a:r>
              <a:rPr lang="en-US" altLang="zh-CN" sz="2800" i="1">
                <a:solidFill>
                  <a:srgbClr val="000000"/>
                </a:solidFill>
                <a:sym typeface="+mn-ea"/>
              </a:rPr>
              <a:t>D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  <a:t>) </a:t>
            </a:r>
            <a:r>
              <a:rPr lang="en-US" altLang="zh-CN" sz="2800">
                <a:solidFill>
                  <a:srgbClr val="000000"/>
                </a:solidFill>
                <a:latin typeface="Symbol" panose="05050102010706020507" pitchFamily="18" charset="2"/>
                <a:sym typeface="+mn-ea"/>
              </a:rPr>
              <a:t>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  <a:t>(</a:t>
            </a:r>
            <a:r>
              <a:rPr lang="en-US" altLang="zh-CN" sz="2800">
                <a:solidFill>
                  <a:srgbClr val="000000"/>
                </a:solidFill>
                <a:latin typeface="Symbol" panose="05050102010706020507" pitchFamily="18" charset="2"/>
                <a:sym typeface="+mn-ea"/>
              </a:rPr>
              <a:t>Ø</a:t>
            </a:r>
            <a:r>
              <a:rPr lang="en-US" altLang="zh-CN" sz="2800" i="1">
                <a:solidFill>
                  <a:srgbClr val="000000"/>
                </a:solidFill>
                <a:sym typeface="+mn-ea"/>
              </a:rPr>
              <a:t>B</a:t>
            </a:r>
            <a:r>
              <a:rPr lang="en-US" altLang="zh-CN" sz="2800">
                <a:solidFill>
                  <a:srgbClr val="000000"/>
                </a:solidFill>
                <a:latin typeface="Symbol" panose="05050102010706020507" pitchFamily="18" charset="2"/>
                <a:sym typeface="+mn-ea"/>
              </a:rPr>
              <a:t>ÚØ</a:t>
            </a:r>
            <a:r>
              <a:rPr lang="en-US" altLang="zh-CN" sz="2800" i="1">
                <a:solidFill>
                  <a:srgbClr val="000000"/>
                </a:solidFill>
                <a:sym typeface="+mn-ea"/>
              </a:rPr>
              <a:t>D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  <a:t>) </a:t>
            </a:r>
            <a:r>
              <a:rPr lang="en-US" altLang="zh-CN" sz="2800">
                <a:solidFill>
                  <a:srgbClr val="000000"/>
                </a:solidFill>
                <a:latin typeface="Symbol" panose="05050102010706020507" pitchFamily="18" charset="2"/>
                <a:sym typeface="+mn-ea"/>
              </a:rPr>
              <a:t>Þ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  <a:t>(</a:t>
            </a:r>
            <a:r>
              <a:rPr lang="en-US" altLang="zh-CN" sz="2800">
                <a:solidFill>
                  <a:srgbClr val="000000"/>
                </a:solidFill>
                <a:latin typeface="Symbol" panose="05050102010706020507" pitchFamily="18" charset="2"/>
                <a:sym typeface="+mn-ea"/>
              </a:rPr>
              <a:t>Ø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Symbol" panose="05050102010706020507" pitchFamily="18" charset="2"/>
                <a:sym typeface="+mn-ea"/>
              </a:rPr>
              <a:t>ÚØ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  <a:t>C) </a:t>
            </a:r>
            <a:endParaRPr lang="en-US" altLang="zh-CN" sz="29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BBBE011-C003-4E94-B938-DB27BF61176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20484" name="Group 3"/>
          <p:cNvGrpSpPr/>
          <p:nvPr/>
        </p:nvGrpSpPr>
        <p:grpSpPr bwMode="auto">
          <a:xfrm>
            <a:off x="1981200" y="2819400"/>
            <a:ext cx="5029200" cy="2438400"/>
            <a:chOff x="0" y="0"/>
            <a:chExt cx="1889" cy="1009"/>
          </a:xfrm>
        </p:grpSpPr>
        <p:grpSp>
          <p:nvGrpSpPr>
            <p:cNvPr id="20486" name="Group 4"/>
            <p:cNvGrpSpPr/>
            <p:nvPr/>
          </p:nvGrpSpPr>
          <p:grpSpPr bwMode="auto">
            <a:xfrm>
              <a:off x="0" y="90"/>
              <a:ext cx="1889" cy="919"/>
              <a:chOff x="0" y="0"/>
              <a:chExt cx="1926" cy="937"/>
            </a:xfrm>
          </p:grpSpPr>
          <p:sp>
            <p:nvSpPr>
              <p:cNvPr id="20491" name="Oval 5"/>
              <p:cNvSpPr>
                <a:spLocks noChangeArrowheads="1"/>
              </p:cNvSpPr>
              <p:nvPr/>
            </p:nvSpPr>
            <p:spPr bwMode="auto">
              <a:xfrm>
                <a:off x="21" y="3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4A4A7C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0492" name="Oval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rgbClr val="D2D2FF"/>
                  </a:gs>
                  <a:gs pos="100000">
                    <a:schemeClr val="hlink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</p:grpSp>
        <p:sp>
          <p:nvSpPr>
            <p:cNvPr id="20487" name="Oval 7"/>
            <p:cNvSpPr>
              <a:spLocks noChangeArrowheads="1"/>
            </p:cNvSpPr>
            <p:nvPr/>
          </p:nvSpPr>
          <p:spPr bwMode="auto">
            <a:xfrm>
              <a:off x="89" y="0"/>
              <a:ext cx="1691" cy="845"/>
            </a:xfrm>
            <a:prstGeom prst="ellipse">
              <a:avLst/>
            </a:prstGeom>
            <a:gradFill rotWithShape="1">
              <a:gsLst>
                <a:gs pos="0">
                  <a:srgbClr val="37556B"/>
                </a:gs>
                <a:gs pos="100000">
                  <a:schemeClr val="accent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20488" name="Oval 8"/>
            <p:cNvSpPr>
              <a:spLocks noChangeArrowheads="1"/>
            </p:cNvSpPr>
            <p:nvPr/>
          </p:nvSpPr>
          <p:spPr bwMode="auto">
            <a:xfrm>
              <a:off x="111" y="5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rgbClr val="D0E6F7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20489" name="Oval 9"/>
            <p:cNvSpPr>
              <a:spLocks noChangeArrowheads="1"/>
            </p:cNvSpPr>
            <p:nvPr/>
          </p:nvSpPr>
          <p:spPr bwMode="auto">
            <a:xfrm>
              <a:off x="128" y="13"/>
              <a:ext cx="1570" cy="770"/>
            </a:xfrm>
            <a:prstGeom prst="ellipse">
              <a:avLst/>
            </a:prstGeom>
            <a:gradFill rotWithShape="1">
              <a:gsLst>
                <a:gs pos="0">
                  <a:srgbClr val="5E91B7"/>
                </a:gs>
                <a:gs pos="100000">
                  <a:schemeClr val="accent1">
                    <a:alpha val="48000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20490" name="Oval 10"/>
            <p:cNvSpPr>
              <a:spLocks noChangeArrowheads="1"/>
            </p:cNvSpPr>
            <p:nvPr/>
          </p:nvSpPr>
          <p:spPr bwMode="auto">
            <a:xfrm>
              <a:off x="211" y="30"/>
              <a:ext cx="1382" cy="62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1">
                    <a:alpha val="37999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20485" name="Rectangle 11"/>
          <p:cNvSpPr>
            <a:spLocks noGrp="1" noChangeArrowheads="1"/>
          </p:cNvSpPr>
          <p:nvPr>
            <p:ph type="body" idx="4294967295"/>
          </p:nvPr>
        </p:nvSpPr>
        <p:spPr>
          <a:xfrm>
            <a:off x="2209800" y="3505200"/>
            <a:ext cx="4572000" cy="685800"/>
          </a:xfrm>
        </p:spPr>
        <p:txBody>
          <a:bodyPr/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ym typeface="+mn-ea"/>
              </a:rPr>
              <a:t>使用推理规则建立有效论证</a:t>
            </a:r>
            <a:r>
              <a:rPr lang="en-US" altLang="zh-CN" sz="2400" b="1">
                <a:sym typeface="+mn-ea"/>
              </a:rPr>
              <a:t> </a:t>
            </a:r>
            <a:endParaRPr lang="en-US" altLang="zh-CN" sz="24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4CD66C1B-8FB1-4F3E-9274-F21603AF07BA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例 1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"今天下午没下雨 "	</a:t>
            </a:r>
            <a:r>
              <a:rPr lang="en-US" altLang="zh-CN" b="1" i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</a:p>
          <a:p>
            <a:pPr eaLnBrk="1" hangingPunct="1"/>
            <a:r>
              <a:rPr lang="en-US" altLang="zh-CN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"比昨天更冷"	 </a:t>
            </a:r>
            <a:r>
              <a:rPr lang="en-US" altLang="zh-CN" b="1" i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</a:p>
          <a:p>
            <a:pPr eaLnBrk="1" hangingPunct="1"/>
            <a:r>
              <a:rPr lang="en-US" altLang="zh-CN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"我们去公园		r</a:t>
            </a:r>
          </a:p>
          <a:p>
            <a:pPr eaLnBrk="1" hangingPunct="1"/>
            <a:r>
              <a:rPr lang="en-US" altLang="zh-CN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"我们要去购物中心	s</a:t>
            </a:r>
          </a:p>
          <a:p>
            <a:pPr eaLnBrk="1" hangingPunct="1"/>
            <a:r>
              <a:rPr lang="en-US" altLang="zh-CN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"我们将在黄昏前回家" 	</a:t>
            </a:r>
            <a:r>
              <a:rPr lang="en-US" altLang="zh-CN" b="1" i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</a:p>
          <a:p>
            <a:pPr eaLnBrk="1" hangingPunct="1"/>
            <a:r>
              <a:rPr lang="en-US" altLang="zh-CN" b="1" i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假设 </a:t>
            </a:r>
          </a:p>
          <a:p>
            <a:pPr eaLnBrk="1" hangingPunct="1"/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    r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   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      </a:t>
            </a:r>
            <a:r>
              <a:rPr lang="en-US" altLang="zh-CN" b="1" i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6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61666541-6F46-4F5C-955E-503D88519581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2531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论据</a:t>
            </a:r>
          </a:p>
        </p:txBody>
      </p:sp>
      <p:sp>
        <p:nvSpPr>
          <p:cNvPr id="22532" name="Rectangle 5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57200" y="1419225"/>
            <a:ext cx="4038600" cy="4879975"/>
          </a:xfrm>
        </p:spPr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步骤</a:t>
            </a:r>
          </a:p>
          <a:p>
            <a:pPr eaLnBrk="1" hangingPunct="1"/>
            <a:r>
              <a:rPr lang="en-US" altLang="zh-CN" sz="2800" b="1">
                <a:solidFill>
                  <a:srgbClr val="030711"/>
                </a:solidFill>
                <a:ea typeface="宋体" panose="02010600030101010101" pitchFamily="2" charset="-122"/>
              </a:rPr>
              <a:t>1.</a:t>
            </a:r>
            <a:r>
              <a:rPr lang="en-US" altLang="zh-CN" sz="2800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  </a:t>
            </a:r>
            <a:r>
              <a:rPr lang="en-US" altLang="zh-CN" sz="2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</a:p>
          <a:p>
            <a:pPr eaLnBrk="1" hangingPunct="1"/>
            <a:r>
              <a:rPr lang="en-US" altLang="zh-CN" sz="2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2.p </a:t>
            </a:r>
          </a:p>
          <a:p>
            <a:pPr eaLnBrk="1" hangingPunct="1"/>
            <a:r>
              <a:rPr lang="en-US" altLang="zh-CN" sz="2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3. r </a:t>
            </a:r>
            <a:r>
              <a:rPr lang="en-US" altLang="zh-CN" sz="2800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</a:p>
          <a:p>
            <a:pPr eaLnBrk="1" hangingPunct="1"/>
            <a:r>
              <a:rPr lang="en-US" altLang="zh-CN" sz="2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4.r </a:t>
            </a:r>
          </a:p>
          <a:p>
            <a:pPr eaLnBrk="1" hangingPunct="1"/>
            <a:r>
              <a:rPr lang="en-US" altLang="zh-CN" sz="2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5.</a:t>
            </a:r>
            <a:r>
              <a:rPr lang="en-US" altLang="zh-CN" sz="2800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r  </a:t>
            </a:r>
            <a:r>
              <a:rPr lang="en-US" altLang="zh-CN" sz="2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</a:p>
          <a:p>
            <a:pPr eaLnBrk="1" hangingPunct="1"/>
            <a:r>
              <a:rPr lang="en-US" altLang="zh-CN" sz="2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6. s</a:t>
            </a:r>
          </a:p>
          <a:p>
            <a:pPr eaLnBrk="1" hangingPunct="1"/>
            <a:r>
              <a:rPr lang="en-US" altLang="zh-CN" sz="2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7. </a:t>
            </a:r>
            <a:r>
              <a:rPr lang="en-US" altLang="zh-CN" sz="2800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s </a:t>
            </a:r>
            <a:r>
              <a:rPr lang="en-US" altLang="zh-CN" sz="2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</a:p>
          <a:p>
            <a:pPr eaLnBrk="1" hangingPunct="1"/>
            <a:r>
              <a:rPr lang="en-US" altLang="zh-CN" sz="2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8. t</a:t>
            </a:r>
          </a:p>
        </p:txBody>
      </p:sp>
      <p:sp>
        <p:nvSpPr>
          <p:cNvPr id="22533" name="Rectangle 6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648200" y="1419225"/>
            <a:ext cx="4495800" cy="4879975"/>
          </a:xfrm>
        </p:spPr>
        <p:txBody>
          <a:bodyPr/>
          <a:lstStyle/>
          <a:p>
            <a:pPr eaLnBrk="1" hangingPunct="1"/>
            <a:r>
              <a:rPr lang="en-US" altLang="zh-CN" sz="2800">
                <a:solidFill>
                  <a:srgbClr val="030711"/>
                </a:solidFill>
                <a:ea typeface="宋体" panose="02010600030101010101" pitchFamily="2" charset="-122"/>
              </a:rPr>
              <a:t>原因</a:t>
            </a:r>
          </a:p>
          <a:p>
            <a:pPr eaLnBrk="1" hangingPunct="1"/>
            <a:r>
              <a:rPr lang="en-US" altLang="zh-CN" sz="2800" b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假设</a:t>
            </a:r>
          </a:p>
          <a:p>
            <a:pPr eaLnBrk="1" hangingPunct="1"/>
            <a:r>
              <a:rPr lang="en-US" altLang="zh-CN" sz="2800" b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使用步骤 1 简化</a:t>
            </a:r>
          </a:p>
          <a:p>
            <a:pPr eaLnBrk="1" hangingPunct="1"/>
            <a:r>
              <a:rPr lang="en-US" altLang="zh-CN" sz="2800" b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假设</a:t>
            </a:r>
          </a:p>
          <a:p>
            <a:pPr eaLnBrk="1" hangingPunct="1"/>
            <a:r>
              <a:rPr lang="en-US" altLang="zh-CN" sz="2800" b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使用 2-3</a:t>
            </a:r>
            <a:r>
              <a:rPr lang="zh-CN" altLang="en-US" sz="2800" b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zh-CN" altLang="en-US" sz="2800" b="1">
                <a:solidFill>
                  <a:srgbClr val="030711"/>
                </a:solidFill>
                <a:sym typeface="+mn-ea"/>
              </a:rPr>
              <a:t>拒取式</a:t>
            </a:r>
            <a:endParaRPr lang="en-US" altLang="zh-CN" sz="2800" b="1">
              <a:solidFill>
                <a:srgbClr val="03071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假设</a:t>
            </a:r>
          </a:p>
          <a:p>
            <a:pPr eaLnBrk="1" hangingPunct="1"/>
            <a:r>
              <a:rPr lang="en-US" altLang="zh-CN" sz="2800" b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使用 4-5</a:t>
            </a:r>
            <a:r>
              <a:rPr lang="zh-CN" altLang="en-US" sz="2800" b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zh-CN" altLang="en-US" sz="2800" b="1">
                <a:solidFill>
                  <a:srgbClr val="030711"/>
                </a:solidFill>
                <a:sym typeface="+mn-ea"/>
              </a:rPr>
              <a:t>拒取式</a:t>
            </a:r>
            <a:endParaRPr lang="en-US" altLang="zh-CN" sz="2800" b="1">
              <a:solidFill>
                <a:srgbClr val="03071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假设</a:t>
            </a:r>
          </a:p>
          <a:p>
            <a:pPr eaLnBrk="1" hangingPunct="1"/>
            <a:r>
              <a:rPr lang="en-US" altLang="zh-CN" sz="2800" b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使用 6-7</a:t>
            </a:r>
            <a:r>
              <a:rPr lang="zh-CN" altLang="en-US" sz="2800" b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zh-CN" altLang="en-US" sz="2800" b="1">
                <a:solidFill>
                  <a:srgbClr val="030711"/>
                </a:solidFill>
                <a:sym typeface="+mn-ea"/>
              </a:rPr>
              <a:t>拒取式</a:t>
            </a:r>
            <a:endParaRPr lang="zh-CN" altLang="en-US" sz="2800" b="1">
              <a:solidFill>
                <a:srgbClr val="03071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5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5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5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5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F4BBD62-1791-40BA-8DB5-78DD6C0190F7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例 2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"你给我发一封电子邮件" 	</a:t>
            </a:r>
            <a:r>
              <a:rPr lang="en-US" altLang="zh-CN" b="1" i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</a:p>
          <a:p>
            <a:pPr eaLnBrk="1" hangingPunct="1"/>
            <a:r>
              <a:rPr lang="en-US" altLang="zh-CN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"我会完成实验</a:t>
            </a:r>
            <a:r>
              <a:rPr lang="en-US" altLang="zh-CN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"			q</a:t>
            </a:r>
            <a:endParaRPr lang="en-US" altLang="zh-CN" b="1" dirty="0">
              <a:solidFill>
                <a:srgbClr val="03071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"我会早点睡</a:t>
            </a:r>
            <a:r>
              <a:rPr lang="en-US" altLang="zh-CN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"				r</a:t>
            </a:r>
            <a:endParaRPr lang="en-US" altLang="zh-CN" b="1" dirty="0">
              <a:solidFill>
                <a:srgbClr val="03071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"一觉醒来，我感觉神清气爽 "	</a:t>
            </a:r>
            <a:r>
              <a:rPr lang="en-US" altLang="zh-CN" b="1" i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</a:p>
          <a:p>
            <a:pPr eaLnBrk="1" hangingPunct="1"/>
            <a:endParaRPr lang="en-US" altLang="zh-CN" b="1" i="1" dirty="0">
              <a:solidFill>
                <a:srgbClr val="03071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  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      </a:t>
            </a:r>
            <a:r>
              <a:rPr lang="en-US" altLang="zh-CN" b="1" i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6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4F37DA9B-D808-4439-B928-3E8EA877530F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论据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57200" y="1419225"/>
            <a:ext cx="4038600" cy="4879975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步骤</a:t>
            </a:r>
          </a:p>
          <a:p>
            <a:pPr eaLnBrk="1" hangingPunct="1"/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</a:rPr>
              <a:t>1. 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</a:p>
          <a:p>
            <a:pPr eaLnBrk="1" hangingPunct="1"/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2.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q  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</a:t>
            </a:r>
          </a:p>
          <a:p>
            <a:pPr eaLnBrk="1" hangingPunct="1"/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3.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  </a:t>
            </a:r>
            <a:r>
              <a:rPr lang="en-US" altLang="zh-CN" sz="2800" dirty="0">
                <a:ea typeface="宋体" panose="02010600030101010101" pitchFamily="2" charset="-122"/>
              </a:rPr>
              <a:t>r </a:t>
            </a:r>
            <a:endParaRPr lang="en-US" altLang="zh-CN" sz="2800" b="1" i="1" dirty="0">
              <a:solidFill>
                <a:srgbClr val="03071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4.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q  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</a:p>
          <a:p>
            <a:pPr eaLnBrk="1" hangingPunct="1"/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5. r 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</a:p>
          <a:p>
            <a:pPr eaLnBrk="1" hangingPunct="1"/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6.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q  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</a:p>
        </p:txBody>
      </p:sp>
      <p:sp>
        <p:nvSpPr>
          <p:cNvPr id="24581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429000" y="1439863"/>
            <a:ext cx="5486400" cy="4879975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</a:rPr>
              <a:t>原因</a:t>
            </a:r>
          </a:p>
          <a:p>
            <a:pPr eaLnBrk="1" hangingPunct="1"/>
            <a:r>
              <a:rPr lang="en-US" altLang="zh-CN" sz="2800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假设</a:t>
            </a:r>
          </a:p>
          <a:p>
            <a:pPr eaLnBrk="1" hangingPunct="1"/>
            <a:r>
              <a:rPr lang="en-US" altLang="zh-CN" sz="2800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步骤 1 的倒置</a:t>
            </a:r>
          </a:p>
          <a:p>
            <a:pPr eaLnBrk="1" hangingPunct="1"/>
            <a:r>
              <a:rPr lang="en-US" altLang="zh-CN" sz="2800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假设</a:t>
            </a:r>
          </a:p>
          <a:p>
            <a:pPr eaLnBrk="1" hangingPunct="1"/>
            <a:r>
              <a:rPr lang="en-US" altLang="zh-CN" sz="2800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使用 2-3 的</a:t>
            </a:r>
            <a:r>
              <a:rPr lang="zh-CN" altLang="en-US" sz="2800" b="1">
                <a:solidFill>
                  <a:srgbClr val="030711"/>
                </a:solidFill>
                <a:sym typeface="+mn-ea"/>
              </a:rPr>
              <a:t>假言推理</a:t>
            </a:r>
            <a:endParaRPr lang="en-US" altLang="zh-CN" sz="2800" b="1" dirty="0" err="1">
              <a:solidFill>
                <a:srgbClr val="03071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假设</a:t>
            </a:r>
          </a:p>
          <a:p>
            <a:pPr eaLnBrk="1" hangingPunct="1"/>
            <a:r>
              <a:rPr lang="en-US" altLang="zh-CN" sz="2800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使用 4-5 的</a:t>
            </a:r>
            <a:r>
              <a:rPr lang="zh-CN" altLang="en-US" sz="2800" b="1">
                <a:solidFill>
                  <a:srgbClr val="030711"/>
                </a:solidFill>
                <a:sym typeface="+mn-ea"/>
              </a:rPr>
              <a:t>假言推理</a:t>
            </a:r>
            <a:endParaRPr lang="zh-CN" altLang="en-US" sz="2800" b="1" dirty="0" err="1">
              <a:solidFill>
                <a:srgbClr val="030711"/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5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5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5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5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5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5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6CA171F7-CA33-4B37-9AFF-32896FB5149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47800"/>
            <a:ext cx="9145588" cy="4725988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1.给定前提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A</a:t>
            </a:r>
            <a:r>
              <a:rPr lang="zh-CN" altLang="zh-CN" dirty="0">
                <a:ea typeface="宋体" panose="02010600030101010101" pitchFamily="2" charset="-122"/>
                <a:sym typeface="+mn-ea"/>
              </a:rPr>
              <a:t>∨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B,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C</a:t>
            </a:r>
            <a:r>
              <a:rPr lang="zh-CN" altLang="zh-CN" dirty="0">
                <a:ea typeface="宋体" panose="02010600030101010101" pitchFamily="2" charset="-122"/>
                <a:sym typeface="+mn-ea"/>
              </a:rPr>
              <a:t>→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B, C</a:t>
            </a:r>
            <a:r>
              <a:rPr lang="zh-CN" altLang="zh-CN" dirty="0">
                <a:ea typeface="宋体" panose="02010600030101010101" pitchFamily="2" charset="-122"/>
                <a:sym typeface="+mn-ea"/>
              </a:rPr>
              <a:t>→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D</a:t>
            </a:r>
            <a:r>
              <a:rPr lang="en-US" altLang="zh-CN" dirty="0">
                <a:ea typeface="宋体" panose="02010600030101010101" pitchFamily="2" charset="-122"/>
              </a:rPr>
              <a:t>, 如何得到结论 </a:t>
            </a:r>
            <a:r>
              <a:rPr lang="zh-CN" altLang="zh-CN" dirty="0">
                <a:ea typeface="宋体" panose="02010600030101010101" pitchFamily="2" charset="-122"/>
              </a:rPr>
              <a:t>A</a:t>
            </a:r>
            <a:r>
              <a:rPr lang="en-US" altLang="zh-CN" dirty="0">
                <a:ea typeface="宋体" panose="02010600030101010101" pitchFamily="2" charset="-122"/>
              </a:rPr>
              <a:t>→</a:t>
            </a:r>
            <a:r>
              <a:rPr lang="zh-CN" altLang="zh-CN" dirty="0">
                <a:ea typeface="宋体" panose="02010600030101010101" pitchFamily="2" charset="-122"/>
              </a:rPr>
              <a:t>D</a:t>
            </a:r>
            <a:r>
              <a:rPr lang="en-US" altLang="zh-CN" dirty="0">
                <a:ea typeface="宋体" panose="02010600030101010101" pitchFamily="2" charset="-122"/>
              </a:rPr>
              <a:t>？</a:t>
            </a:r>
            <a:endParaRPr lang="zh-CN" altLang="zh-CN" dirty="0">
              <a:ea typeface="宋体" panose="02010600030101010101" pitchFamily="2" charset="-122"/>
            </a:endParaRPr>
          </a:p>
          <a:p>
            <a:endParaRPr lang="en-US" altLang="zh-CN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122B5E04-2D8F-4F81-AEC7-7594746CCBA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2800">
                <a:ea typeface="宋体" panose="02010600030101010101" pitchFamily="2" charset="-122"/>
              </a:rPr>
              <a:t>消解律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19225"/>
            <a:ext cx="8458200" cy="4879975"/>
          </a:xfrm>
        </p:spPr>
        <p:txBody>
          <a:bodyPr/>
          <a:lstStyle/>
          <a:p>
            <a:pPr eaLnBrk="1" hangingPunct="1"/>
            <a:r>
              <a:rPr lang="en-US" altLang="zh-CN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目前已开发出计算机程序来自动完成推理和证明定理的任务。</a:t>
            </a:r>
          </a:p>
          <a:p>
            <a:pPr eaLnBrk="1" hangingPunct="1"/>
            <a:r>
              <a:rPr lang="en-US" altLang="zh-CN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该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消解律</a:t>
            </a:r>
            <a:r>
              <a:rPr lang="en-US" altLang="zh-CN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作为推理规则用于程序。</a:t>
            </a:r>
          </a:p>
          <a:p>
            <a:pPr eaLnBrk="1" hangingPunct="1"/>
            <a:r>
              <a:rPr lang="en-US" altLang="zh-CN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该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消解律</a:t>
            </a:r>
            <a:r>
              <a:rPr lang="en-US" altLang="zh-CN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以同义反复为基础</a:t>
            </a:r>
          </a:p>
          <a:p>
            <a:pPr eaLnBrk="1" hangingPunct="1"/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((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 ( 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)) (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542413FE-895E-4AB6-BB31-A3526DF3DBF6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决议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((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 ( 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)) (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eaLnBrk="1" hangingPunct="1"/>
            <a:endParaRPr lang="en-US" altLang="zh-CN" b="1">
              <a:solidFill>
                <a:srgbClr val="03071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让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 = q 	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 ( 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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</a:p>
          <a:p>
            <a:pPr eaLnBrk="1" hangingPunct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让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 =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 	(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 ( 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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</a:p>
          <a:p>
            <a:pPr eaLnBrk="1" hangingPunct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这是</a:t>
            </a:r>
            <a:r>
              <a:rPr lang="zh-CN" altLang="en-US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永真式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，是分句论证规则的基础。</a:t>
            </a:r>
          </a:p>
          <a:p>
            <a:pPr eaLnBrk="1" hangingPunct="1"/>
            <a:endParaRPr lang="en-US" altLang="zh-CN" b="1">
              <a:solidFill>
                <a:srgbClr val="03071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295360EA-8B78-4BC3-B833-AEE6969492D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例 3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"下雪了</a:t>
            </a:r>
            <a:r>
              <a:rPr lang="en-US" altLang="zh-CN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"		p</a:t>
            </a:r>
            <a:endParaRPr lang="en-US" altLang="zh-CN" b="1" dirty="0">
              <a:solidFill>
                <a:srgbClr val="03071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b="1" dirty="0" err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"小杰</a:t>
            </a:r>
            <a:r>
              <a:rPr lang="en-US" altLang="zh-CN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在滑雪</a:t>
            </a:r>
            <a:r>
              <a:rPr lang="en-US" altLang="zh-CN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"	q</a:t>
            </a:r>
            <a:endParaRPr lang="en-US" altLang="zh-CN" b="1" dirty="0">
              <a:solidFill>
                <a:srgbClr val="03071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b="1" dirty="0" err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"小白</a:t>
            </a:r>
            <a:r>
              <a:rPr lang="en-US" altLang="zh-CN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在打篮球</a:t>
            </a:r>
            <a:r>
              <a:rPr lang="en-US" altLang="zh-CN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"	r</a:t>
            </a:r>
            <a:endParaRPr lang="en-US" altLang="zh-CN" b="1" dirty="0">
              <a:solidFill>
                <a:srgbClr val="03071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b="1" i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假设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	 p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</a:p>
          <a:p>
            <a:pPr eaLnBrk="1" hangingPunct="1"/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((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 (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)) (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</a:p>
          <a:p>
            <a:pPr eaLnBrk="1" hangingPunct="1"/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r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是</a:t>
            </a:r>
            <a:r>
              <a:rPr lang="en-US" altLang="zh-CN" b="1" i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假设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所隐含的真实结论</a:t>
            </a:r>
            <a:r>
              <a:rPr lang="en-US" altLang="zh-CN" b="1" i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6204B964-B9A4-4373-96E1-B46E53888E62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例 4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(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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</a:p>
          <a:p>
            <a:pPr eaLnBrk="1" hangingPunct="1"/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p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</a:p>
          <a:p>
            <a:pPr eaLnBrk="1" hangingPunct="1"/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q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</a:p>
          <a:p>
            <a:pPr eaLnBrk="1" hangingPunct="1"/>
            <a:endParaRPr lang="en-US" altLang="zh-CN" b="1" i="1" dirty="0">
              <a:solidFill>
                <a:srgbClr val="03071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r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</a:p>
          <a:p>
            <a:pPr eaLnBrk="1" hangingPunct="1"/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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</a:p>
          <a:p>
            <a:pPr eaLnBrk="1" hangingPunct="1"/>
            <a:endParaRPr lang="en-US" altLang="zh-CN" b="1" i="1" dirty="0">
              <a:solidFill>
                <a:srgbClr val="03071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 (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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是</a:t>
            </a:r>
            <a:r>
              <a:rPr lang="zh-CN" altLang="en-US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永真式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71EBFF4-AE84-4894-A4D4-DD8588FE92D7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谬误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3"/>
              <p:cNvSpPr>
                <a:spLocks noGrp="1" noChangeArrowheads="1"/>
              </p:cNvSpPr>
              <p:nvPr/>
            </p:nvSpPr>
            <p:spPr>
              <a:xfrm>
                <a:off x="88196" y="1196975"/>
                <a:ext cx="8967608" cy="5378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rgbClr val="030711"/>
                    </a:solidFill>
                    <a:ea typeface="宋体" panose="02010600030101010101" pitchFamily="2" charset="-122"/>
                  </a:rPr>
                  <a:t>p: </a:t>
                </a:r>
                <a:r>
                  <a:rPr lang="zh-CN" altLang="en-US" sz="2400" dirty="0">
                    <a:solidFill>
                      <a:srgbClr val="030711"/>
                    </a:solidFill>
                    <a:ea typeface="宋体" panose="02010600030101010101" pitchFamily="2" charset="-122"/>
                  </a:rPr>
                  <a:t>你做过本书的每一道练习题</a:t>
                </a:r>
                <a:r>
                  <a:rPr lang="en-US" altLang="zh-CN" sz="2400" dirty="0">
                    <a:solidFill>
                      <a:srgbClr val="030711"/>
                    </a:solidFill>
                    <a:ea typeface="宋体" panose="02010600030101010101" pitchFamily="2" charset="-122"/>
                  </a:rPr>
                  <a:t>    q: </a:t>
                </a:r>
                <a:r>
                  <a:rPr lang="zh-CN" altLang="en-US" sz="2400" dirty="0">
                    <a:solidFill>
                      <a:srgbClr val="030711"/>
                    </a:solidFill>
                    <a:ea typeface="宋体" panose="02010600030101010101" pitchFamily="2" charset="-122"/>
                  </a:rPr>
                  <a:t>你学习过离散数学</a:t>
                </a:r>
                <a:endParaRPr lang="en-US" altLang="zh-CN" sz="2400" dirty="0">
                  <a:solidFill>
                    <a:srgbClr val="030711"/>
                  </a:solidFill>
                  <a:ea typeface="宋体" panose="02010600030101010101" pitchFamily="2" charset="-122"/>
                </a:endParaRPr>
              </a:p>
              <a:p>
                <a:pPr eaLnBrk="1" hangingPunct="1"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rgbClr val="030711"/>
                    </a:solidFill>
                    <a:ea typeface="宋体" panose="02010600030101010101" pitchFamily="2" charset="-122"/>
                  </a:rPr>
                  <a:t>1</a:t>
                </a:r>
                <a:r>
                  <a:rPr lang="zh-CN" altLang="en-US" sz="2400" dirty="0">
                    <a:solidFill>
                      <a:srgbClr val="030711"/>
                    </a:solidFill>
                    <a:ea typeface="宋体" panose="02010600030101010101" pitchFamily="2" charset="-122"/>
                  </a:rPr>
                  <a:t>、肯定结论的谬误（</a:t>
                </a:r>
                <a:r>
                  <a:rPr lang="en-US" altLang="zh-CN" sz="2400" b="1" i="1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fallacy</a:t>
                </a:r>
                <a:r>
                  <a:rPr lang="en-US" altLang="zh-CN" sz="2400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 of affirming the conclusion</a:t>
                </a:r>
                <a:r>
                  <a:rPr lang="zh-CN" altLang="en-US" sz="2400" dirty="0">
                    <a:solidFill>
                      <a:srgbClr val="030711"/>
                    </a:solidFill>
                    <a:ea typeface="宋体" panose="02010600030101010101" pitchFamily="2" charset="-122"/>
                  </a:rPr>
                  <a:t>）</a:t>
                </a:r>
                <a:endParaRPr lang="en-US" altLang="zh-CN" sz="2400" dirty="0">
                  <a:solidFill>
                    <a:srgbClr val="030711"/>
                  </a:solidFill>
                  <a:ea typeface="宋体" panose="02010600030101010101" pitchFamily="2" charset="-122"/>
                </a:endParaRPr>
              </a:p>
              <a:p>
                <a:pPr eaLnBrk="1" hangingPunct="1"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3071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400" b="0" i="1" smtClean="0">
                                <a:solidFill>
                                  <a:srgbClr val="03071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03071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𝑝</m:t>
                            </m:r>
                            <m:r>
                              <a:rPr lang="en-US" altLang="zh-CN" sz="2400" b="0" i="1" smtClean="0">
                                <a:solidFill>
                                  <a:srgbClr val="03071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zh-CN" sz="2400" b="0" i="1" smtClean="0">
                                <a:solidFill>
                                  <a:srgbClr val="03071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  <m:r>
                          <a:rPr lang="en-US" altLang="zh-CN" sz="2400" b="0" i="1" smtClean="0">
                            <a:solidFill>
                              <a:srgbClr val="0307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altLang="zh-CN" sz="2400" b="0" i="1" smtClean="0">
                            <a:solidFill>
                              <a:srgbClr val="0307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307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zh-CN" sz="2400" i="1">
                        <a:solidFill>
                          <a:srgbClr val="0307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altLang="zh-CN" sz="2400" dirty="0">
                    <a:solidFill>
                      <a:srgbClr val="030711"/>
                    </a:solidFill>
                    <a:ea typeface="宋体" panose="02010600030101010101" pitchFamily="2" charset="-122"/>
                  </a:rPr>
                  <a:t>   </a:t>
                </a:r>
                <a:r>
                  <a:rPr lang="zh-CN" altLang="en-US" sz="2400" dirty="0">
                    <a:solidFill>
                      <a:srgbClr val="030711"/>
                    </a:solidFill>
                    <a:ea typeface="宋体" panose="02010600030101010101" pitchFamily="2" charset="-122"/>
                  </a:rPr>
                  <a:t>表示“如果你做过本书的每一道练习题，则你就学习过离散数学。你学习过离散数学。因此，你做过本书的每一道练习题。”这种论证是无效的，称为</a:t>
                </a:r>
                <a:r>
                  <a:rPr lang="zh-CN" altLang="en-US" sz="2400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肯定结论的谬误</a:t>
                </a:r>
                <a:r>
                  <a:rPr lang="zh-CN" altLang="en-US" sz="2400" dirty="0">
                    <a:solidFill>
                      <a:srgbClr val="030711"/>
                    </a:solidFill>
                    <a:ea typeface="宋体" panose="02010600030101010101" pitchFamily="2" charset="-122"/>
                  </a:rPr>
                  <a:t>。</a:t>
                </a:r>
                <a:endParaRPr lang="en-US" altLang="zh-CN" sz="2400" dirty="0">
                  <a:solidFill>
                    <a:srgbClr val="030711"/>
                  </a:solidFill>
                  <a:ea typeface="宋体" panose="02010600030101010101" pitchFamily="2" charset="-122"/>
                </a:endParaRPr>
              </a:p>
              <a:p>
                <a:pPr eaLnBrk="1" hangingPunct="1"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rgbClr val="030711"/>
                    </a:solidFill>
                    <a:ea typeface="宋体" panose="02010600030101010101" pitchFamily="2" charset="-122"/>
                  </a:rPr>
                  <a:t>2</a:t>
                </a:r>
                <a:r>
                  <a:rPr lang="zh-CN" altLang="en-US" sz="2400" dirty="0">
                    <a:solidFill>
                      <a:srgbClr val="030711"/>
                    </a:solidFill>
                    <a:ea typeface="宋体" panose="02010600030101010101" pitchFamily="2" charset="-122"/>
                  </a:rPr>
                  <a:t>、否定假设的谬误（</a:t>
                </a:r>
                <a:r>
                  <a:rPr lang="en-US" altLang="zh-CN" sz="2400" b="1" i="1" dirty="0">
                    <a:solidFill>
                      <a:srgbClr val="030711"/>
                    </a:solidFill>
                    <a:ea typeface="宋体" panose="02010600030101010101" pitchFamily="2" charset="-122"/>
                  </a:rPr>
                  <a:t>fallacy</a:t>
                </a:r>
                <a:r>
                  <a:rPr lang="en-US" altLang="zh-CN" sz="2400" dirty="0">
                    <a:solidFill>
                      <a:srgbClr val="030711"/>
                    </a:solidFill>
                    <a:ea typeface="宋体" panose="02010600030101010101" pitchFamily="2" charset="-122"/>
                  </a:rPr>
                  <a:t> of denying the hypothesis</a:t>
                </a:r>
                <a:r>
                  <a:rPr lang="zh-CN" altLang="en-US" sz="2400" dirty="0">
                    <a:solidFill>
                      <a:srgbClr val="030711"/>
                    </a:solidFill>
                    <a:ea typeface="宋体" panose="02010600030101010101" pitchFamily="2" charset="-122"/>
                  </a:rPr>
                  <a:t>）</a:t>
                </a:r>
                <a:endParaRPr lang="en-US" altLang="zh-CN" sz="2400" dirty="0">
                  <a:solidFill>
                    <a:srgbClr val="030711"/>
                  </a:solidFill>
                  <a:ea typeface="宋体" panose="02010600030101010101" pitchFamily="2" charset="-122"/>
                </a:endParaRPr>
              </a:p>
              <a:p>
                <a:pPr eaLnBrk="1" hangingPunct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rgbClr val="03071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sz="2400" b="0" i="1" dirty="0">
                        <a:solidFill>
                          <a:srgbClr val="03071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rPr>
                      <m:t>(</m:t>
                    </m:r>
                    <m:r>
                      <a:rPr lang="en-US" altLang="zh-CN" sz="2400" b="0" i="1" dirty="0">
                        <a:solidFill>
                          <a:srgbClr val="03071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rPr>
                      <m:t>𝑝</m:t>
                    </m:r>
                    <m:r>
                      <a:rPr lang="en-US" altLang="zh-CN" sz="2400" b="0" i="1" dirty="0">
                        <a:solidFill>
                          <a:srgbClr val="03071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rPr>
                      <m:t>  </m:t>
                    </m:r>
                    <m:r>
                      <a:rPr lang="en-US" altLang="zh-CN" sz="2400" b="0" i="1" dirty="0">
                        <a:solidFill>
                          <a:srgbClr val="03071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rPr>
                      <m:t>𝑞</m:t>
                    </m:r>
                    <m:r>
                      <a:rPr lang="en-US" altLang="zh-CN" sz="2400" b="0" i="1" dirty="0">
                        <a:solidFill>
                          <a:srgbClr val="03071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rPr>
                      <m:t>)   </m:t>
                    </m:r>
                    <m:r>
                      <a:rPr lang="en-US" altLang="zh-CN" sz="2400" b="0" i="1" dirty="0">
                        <a:solidFill>
                          <a:srgbClr val="03071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rPr>
                      <m:t>𝑝</m:t>
                    </m:r>
                    <m:r>
                      <a:rPr lang="en-US" altLang="zh-CN" sz="2400" b="0" i="1" dirty="0">
                        <a:solidFill>
                          <a:srgbClr val="03071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rPr>
                      <m:t>)   </m:t>
                    </m:r>
                    <m:r>
                      <a:rPr lang="en-US" altLang="zh-CN" sz="2400" b="0" i="1" dirty="0">
                        <a:solidFill>
                          <a:srgbClr val="03071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rPr>
                      <m:t>𝑞</m:t>
                    </m:r>
                  </m:oMath>
                </a14:m>
                <a:r>
                  <a:rPr lang="en-US" altLang="zh-CN" sz="2400" dirty="0">
                    <a:solidFill>
                      <a:srgbClr val="030711"/>
                    </a:solidFill>
                    <a:ea typeface="宋体" panose="02010600030101010101" pitchFamily="2" charset="-122"/>
                  </a:rPr>
                  <a:t> </a:t>
                </a:r>
                <a:r>
                  <a:rPr lang="zh-CN" altLang="en-US" sz="2400" dirty="0">
                    <a:solidFill>
                      <a:srgbClr val="030711"/>
                    </a:solidFill>
                    <a:ea typeface="宋体" panose="02010600030101010101" pitchFamily="2" charset="-122"/>
                  </a:rPr>
                  <a:t>表示“如果你做过本书的每一道练习题，则你就学习过离散数学。你没做过本书的每一道习题。因此，你没学习过离散数学。”该论证为</a:t>
                </a:r>
                <a:r>
                  <a:rPr lang="zh-CN" altLang="en-US" sz="2400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否定假设的谬误</a:t>
                </a:r>
                <a:r>
                  <a:rPr lang="zh-CN" altLang="en-US" sz="2400" dirty="0">
                    <a:solidFill>
                      <a:srgbClr val="030711"/>
                    </a:solidFill>
                    <a:ea typeface="宋体" panose="02010600030101010101" pitchFamily="2" charset="-122"/>
                  </a:rPr>
                  <a:t>，论证无效。</a:t>
                </a:r>
                <a:endParaRPr lang="en-US" altLang="zh-CN" sz="2400" dirty="0">
                  <a:solidFill>
                    <a:srgbClr val="030711"/>
                  </a:solidFill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96" y="1196975"/>
                <a:ext cx="8967608" cy="5378450"/>
              </a:xfrm>
              <a:prstGeom prst="rect">
                <a:avLst/>
              </a:prstGeom>
              <a:blipFill rotWithShape="1">
                <a:blip r:embed="rId2"/>
                <a:stretch>
                  <a:fillRect l="-6" r="-6" b="-5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0E2C7DFC-2E89-4258-BFB6-2B57C9620946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形式化证明示例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假设我们有以下前提</a:t>
            </a:r>
            <a:br>
              <a:rPr lang="en-US" altLang="zh-CN" sz="2800" dirty="0">
                <a:ea typeface="宋体" panose="02010600030101010101" pitchFamily="2" charset="-122"/>
              </a:rPr>
            </a:br>
            <a:r>
              <a:rPr lang="en-US" altLang="zh-CN" sz="2800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</a:rPr>
              <a:t>天气不晴朗，而且很冷</a:t>
            </a:r>
            <a:r>
              <a:rPr lang="en-US" altLang="zh-CN" sz="2800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b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</a:rPr>
            </a:br>
            <a:r>
              <a:rPr lang="en-US" altLang="zh-CN" sz="2800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</a:rPr>
              <a:t>只有天气晴朗，我们才会去公园</a:t>
            </a:r>
            <a:r>
              <a:rPr lang="en-US" altLang="zh-CN" sz="2800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b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</a:rPr>
            </a:br>
            <a:r>
              <a:rPr lang="en-US" altLang="zh-CN" sz="2800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</a:rPr>
              <a:t>如果不去公园，我们就去商场</a:t>
            </a:r>
            <a:r>
              <a:rPr lang="en-US" altLang="zh-CN" sz="2800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b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</a:rPr>
            </a:br>
            <a:r>
              <a:rPr lang="en-US" altLang="zh-CN" sz="2800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</a:rPr>
              <a:t>如果我们去商场，那么我们会早点回家</a:t>
            </a:r>
            <a:r>
              <a:rPr lang="en-US" altLang="zh-CN" sz="2800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</a:rPr>
              <a:t>。</a:t>
            </a: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给定这些前提，用推理规则证明定理</a:t>
            </a:r>
            <a:br>
              <a:rPr lang="en-US" altLang="zh-CN" sz="2800" dirty="0">
                <a:ea typeface="宋体" panose="02010600030101010101" pitchFamily="2" charset="-122"/>
              </a:rPr>
            </a:br>
            <a:r>
              <a:rPr lang="en-US" altLang="zh-CN" sz="2800" dirty="0">
                <a:ea typeface="宋体" panose="02010600030101010101" pitchFamily="2" charset="-122"/>
              </a:rPr>
              <a:t>用推理规则证明</a:t>
            </a:r>
            <a:r>
              <a:rPr lang="en-US" altLang="zh-CN" sz="2800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"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</a:rPr>
              <a:t>我们会早点回家</a:t>
            </a:r>
            <a:r>
              <a:rPr lang="en-US" altLang="zh-CN" sz="2800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sz="2800" dirty="0"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28FEF8B3-A5B7-4584-AD08-0ADECBC876BC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形式化证明示例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19225"/>
            <a:ext cx="8458086" cy="48799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>
                <a:ea typeface="宋体" panose="02010600030101010101" pitchFamily="2" charset="-122"/>
              </a:rPr>
              <a:t>天公不作美，天气寒冷。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>
                <a:ea typeface="宋体" panose="02010600030101010101" pitchFamily="2" charset="-122"/>
              </a:rPr>
              <a:t>只有天气晴朗，我们才会去公园。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>
                <a:ea typeface="宋体" panose="02010600030101010101" pitchFamily="2" charset="-122"/>
              </a:rPr>
              <a:t>如果不停车，我们就去商场。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>
                <a:ea typeface="宋体" panose="02010600030101010101" pitchFamily="2" charset="-122"/>
              </a:rPr>
              <a:t>如果我们去逛商场，就会早点回家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We </a:t>
            </a:r>
            <a:r>
              <a:rPr lang="en-US" altLang="zh-CN" sz="2800" b="1" dirty="0">
                <a:ea typeface="宋体" panose="02010600030101010101" pitchFamily="2" charset="-122"/>
              </a:rPr>
              <a:t>会早点回家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   sunny </a:t>
            </a:r>
            <a:r>
              <a:rPr lang="en-US" altLang="zh-CN" dirty="0">
                <a:ea typeface="宋体" panose="02010600030101010101" pitchFamily="2" charset="-122"/>
              </a:rPr>
              <a:t>=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b="1" dirty="0">
                <a:ea typeface="宋体" panose="02010600030101010101" pitchFamily="2" charset="-122"/>
              </a:rPr>
              <a:t>天气晴朗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dirty="0">
                <a:ea typeface="宋体" panose="02010600030101010101" pitchFamily="2" charset="-122"/>
              </a:rPr>
              <a:t>；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cold </a:t>
            </a:r>
            <a:r>
              <a:rPr lang="en-US" altLang="zh-CN" dirty="0">
                <a:ea typeface="宋体" panose="02010600030101010101" pitchFamily="2" charset="-122"/>
              </a:rPr>
              <a:t>=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b="1" dirty="0">
                <a:ea typeface="宋体" panose="02010600030101010101" pitchFamily="2" charset="-122"/>
              </a:rPr>
              <a:t>天气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寒冷</a:t>
            </a:r>
            <a:r>
              <a:rPr lang="en-US" altLang="zh-CN" dirty="0">
                <a:ea typeface="宋体" panose="02010600030101010101" pitchFamily="2" charset="-122"/>
              </a:rPr>
              <a:t>"； 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park </a:t>
            </a:r>
            <a:r>
              <a:rPr lang="en-US" altLang="zh-CN" dirty="0">
                <a:ea typeface="宋体" panose="02010600030101010101" pitchFamily="2" charset="-122"/>
              </a:rPr>
              <a:t>=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b="1" dirty="0">
                <a:ea typeface="宋体" panose="02010600030101010101" pitchFamily="2" charset="-122"/>
              </a:rPr>
              <a:t>我们要</a:t>
            </a:r>
            <a:r>
              <a:rPr lang="en-US" altLang="zh-CN" sz="2800" b="1" dirty="0">
                <a:ea typeface="宋体" panose="02010600030101010101" pitchFamily="2" charset="-122"/>
              </a:rPr>
              <a:t>去公园</a:t>
            </a:r>
            <a:r>
              <a:rPr lang="en-US" altLang="zh-CN" dirty="0">
                <a:ea typeface="宋体" panose="02010600030101010101" pitchFamily="2" charset="-122"/>
              </a:rPr>
              <a:t>"；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  mall </a:t>
            </a:r>
            <a:r>
              <a:rPr lang="en-US" altLang="zh-CN" dirty="0">
                <a:ea typeface="宋体" panose="02010600030101010101" pitchFamily="2" charset="-122"/>
              </a:rPr>
              <a:t>=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b="1" dirty="0">
                <a:ea typeface="宋体" panose="02010600030101010101" pitchFamily="2" charset="-122"/>
              </a:rPr>
              <a:t>我们要</a:t>
            </a:r>
            <a:r>
              <a:rPr lang="en-US" altLang="zh-CN" sz="2800" b="1" dirty="0">
                <a:ea typeface="宋体" panose="02010600030101010101" pitchFamily="2" charset="-122"/>
              </a:rPr>
              <a:t>去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商场</a:t>
            </a:r>
            <a:r>
              <a:rPr lang="en-US" altLang="zh-CN" dirty="0">
                <a:ea typeface="宋体" panose="02010600030101010101" pitchFamily="2" charset="-122"/>
              </a:rPr>
              <a:t>"；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  early </a:t>
            </a:r>
            <a:r>
              <a:rPr lang="en-US" altLang="zh-CN" dirty="0">
                <a:ea typeface="宋体" panose="02010600030101010101" pitchFamily="2" charset="-122"/>
              </a:rPr>
              <a:t>=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b="1" dirty="0">
                <a:ea typeface="宋体" panose="02010600030101010101" pitchFamily="2" charset="-122"/>
              </a:rPr>
              <a:t>我们会早点回家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dirty="0">
                <a:ea typeface="宋体" panose="02010600030101010101" pitchFamily="2" charset="-122"/>
              </a:rPr>
              <a:t>。</a:t>
            </a:r>
            <a:endParaRPr lang="en-US" altLang="zh-CN" sz="24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6268DC2-9FB7-4027-9A03-E70CC8E3A18F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证明示例 </a:t>
            </a:r>
            <a:r>
              <a:rPr lang="en-US" altLang="zh-CN" i="1">
                <a:ea typeface="宋体" panose="02010600030101010101" pitchFamily="2" charset="-122"/>
              </a:rPr>
              <a:t>续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19225"/>
            <a:ext cx="8610482" cy="4879975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前提可写成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(1)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sunny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cold 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(2)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park 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sunny</a:t>
            </a:r>
            <a:b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(3)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park 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mall 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(4)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mall 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early</a:t>
            </a:r>
          </a:p>
          <a:p>
            <a:pPr eaLnBrk="1" hangingPunct="1"/>
            <a:endParaRPr lang="en-US" altLang="zh-CN" b="1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 dirty="0">
                <a:ea typeface="宋体" panose="02010600030101010101" pitchFamily="2" charset="-122"/>
              </a:rPr>
              <a:t>天公不作美，天气寒冷。</a:t>
            </a:r>
          </a:p>
          <a:p>
            <a:pPr eaLnBrk="1" hangingPunct="1"/>
            <a:r>
              <a:rPr lang="en-US" altLang="zh-CN" sz="2800" b="1" dirty="0">
                <a:ea typeface="宋体" panose="02010600030101010101" pitchFamily="2" charset="-122"/>
              </a:rPr>
              <a:t>只有天气晴朗，我们才会去公园。</a:t>
            </a:r>
          </a:p>
          <a:p>
            <a:pPr eaLnBrk="1" hangingPunct="1"/>
            <a:r>
              <a:rPr lang="en-US" altLang="zh-CN" sz="2800" b="1" dirty="0">
                <a:ea typeface="宋体" panose="02010600030101010101" pitchFamily="2" charset="-122"/>
              </a:rPr>
              <a:t>如果不停车，我们就去商场。</a:t>
            </a:r>
          </a:p>
          <a:p>
            <a:pPr eaLnBrk="1" hangingPunct="1"/>
            <a:r>
              <a:rPr lang="en-US" altLang="zh-CN" sz="2800" b="1" dirty="0">
                <a:ea typeface="宋体" panose="02010600030101010101" pitchFamily="2" charset="-122"/>
              </a:rPr>
              <a:t>如果我们去逛商场，就会早点回家</a:t>
            </a:r>
          </a:p>
          <a:p>
            <a:pPr eaLnBrk="1" hangingPunct="1"/>
            <a:endParaRPr lang="en-US" altLang="zh-CN" dirty="0">
              <a:solidFill>
                <a:srgbClr val="03071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87126C1B-8126-4DB4-8B55-84D29F001B02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证明示例 </a:t>
            </a:r>
            <a:r>
              <a:rPr lang="en-US" altLang="zh-CN" i="1">
                <a:ea typeface="宋体" panose="02010600030101010101" pitchFamily="2" charset="-122"/>
              </a:rPr>
              <a:t>续</a:t>
            </a:r>
          </a:p>
        </p:txBody>
      </p:sp>
      <p:sp>
        <p:nvSpPr>
          <p:cNvPr id="2" name="Rectangle 3"/>
          <p:cNvSpPr>
            <a:spLocks noGrp="1" noChangeArrowheads="1"/>
          </p:cNvSpPr>
          <p:nvPr/>
        </p:nvSpPr>
        <p:spPr>
          <a:xfrm>
            <a:off x="457200" y="1419225"/>
            <a:ext cx="8229600" cy="48799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  <a:tabLst>
                <a:tab pos="3660775" algn="l"/>
              </a:tabLst>
            </a:pPr>
            <a:r>
              <a:rPr lang="en-US" altLang="zh-CN" sz="2800" b="1" u="sng" dirty="0">
                <a:solidFill>
                  <a:srgbClr val="030711"/>
                </a:solidFill>
                <a:ea typeface="宋体" panose="02010600030101010101" pitchFamily="2" charset="-122"/>
              </a:rPr>
              <a:t>Step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</a:rPr>
              <a:t>	</a:t>
            </a:r>
            <a:r>
              <a:rPr lang="en-US" altLang="zh-CN" sz="2800" b="1" u="sng" dirty="0">
                <a:solidFill>
                  <a:srgbClr val="030711"/>
                </a:solidFill>
                <a:ea typeface="宋体" panose="02010600030101010101" pitchFamily="2" charset="-122"/>
              </a:rPr>
              <a:t>Proved by</a:t>
            </a:r>
            <a:b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</a:rPr>
            </a:br>
            <a:endParaRPr lang="en-US" altLang="zh-CN" sz="2800" b="1" dirty="0">
              <a:solidFill>
                <a:srgbClr val="030711"/>
              </a:solidFill>
              <a:ea typeface="宋体" panose="02010600030101010101" pitchFamily="2" charset="-122"/>
            </a:endParaRPr>
          </a:p>
          <a:p>
            <a:pPr marL="0" indent="0" eaLnBrk="1" hangingPunct="1">
              <a:tabLst>
                <a:tab pos="3660775" algn="l"/>
              </a:tabLst>
            </a:pP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</a:rPr>
              <a:t>1. 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sunny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 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cold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	</a:t>
            </a:r>
            <a:r>
              <a:rPr lang="zh-CN" altLang="en-US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前提引入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#1.</a:t>
            </a:r>
          </a:p>
          <a:p>
            <a:pPr marL="0" indent="0" eaLnBrk="1" hangingPunct="1">
              <a:tabLst>
                <a:tab pos="3660775" algn="l"/>
              </a:tabLst>
            </a:pP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2. 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sunny	</a:t>
            </a:r>
            <a:r>
              <a:rPr lang="zh-CN" altLang="en-US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化简律，引入步骤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zh-CN" altLang="en-US" sz="2800" b="1" dirty="0">
              <a:solidFill>
                <a:srgbClr val="03071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 eaLnBrk="1" hangingPunct="1">
              <a:tabLst>
                <a:tab pos="3660775" algn="l"/>
              </a:tabLst>
            </a:pP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3. </a:t>
            </a:r>
            <a:r>
              <a:rPr lang="en-US" altLang="zh-CN" sz="2800" b="1" i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park</a:t>
            </a:r>
            <a:r>
              <a:rPr lang="en-US" altLang="zh-CN" sz="2800" b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800" b="1" i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sunny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zh-CN" altLang="en-US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前提引入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#2.</a:t>
            </a:r>
          </a:p>
          <a:p>
            <a:pPr marL="0" indent="0" eaLnBrk="1" hangingPunct="1">
              <a:tabLst>
                <a:tab pos="3660775" algn="l"/>
              </a:tabLst>
            </a:pP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4. 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park 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zh-CN" altLang="en-US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拒取式，引入步骤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2,3.</a:t>
            </a:r>
          </a:p>
          <a:p>
            <a:pPr marL="0" indent="0" eaLnBrk="1" hangingPunct="1">
              <a:tabLst>
                <a:tab pos="3660775" algn="l"/>
              </a:tabLst>
            </a:pP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5. 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park 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mall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	</a:t>
            </a:r>
            <a:r>
              <a:rPr lang="zh-CN" altLang="en-US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前提引入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#3.</a:t>
            </a:r>
          </a:p>
          <a:p>
            <a:pPr marL="0" indent="0" eaLnBrk="1" hangingPunct="1">
              <a:tabLst>
                <a:tab pos="3660775" algn="l"/>
              </a:tabLst>
            </a:pP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6. 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mall 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zh-CN" altLang="en-US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假言推理，引入步骤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4,5.</a:t>
            </a:r>
          </a:p>
          <a:p>
            <a:pPr marL="0" indent="0" eaLnBrk="1" hangingPunct="1">
              <a:tabLst>
                <a:tab pos="3660775" algn="l"/>
              </a:tabLst>
            </a:pP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7. 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mall 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early	</a:t>
            </a:r>
            <a:r>
              <a:rPr lang="zh-CN" altLang="en-US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前提引入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#4.</a:t>
            </a:r>
          </a:p>
          <a:p>
            <a:pPr marL="0" indent="0" eaLnBrk="1" hangingPunct="1">
              <a:tabLst>
                <a:tab pos="3660775" algn="l"/>
              </a:tabLst>
            </a:pP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8. 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early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zh-CN" altLang="en-US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假言推理，引入步骤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6,7.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33AB4C92-21C8-4F48-A03F-35087019694F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1" name="Rectangle 25"/>
          <p:cNvSpPr>
            <a:spLocks noChangeArrowheads="1"/>
          </p:cNvSpPr>
          <p:nvPr/>
        </p:nvSpPr>
        <p:spPr bwMode="auto">
          <a:xfrm>
            <a:off x="609600" y="565150"/>
            <a:ext cx="8229600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>
                <a:solidFill>
                  <a:schemeClr val="bg1"/>
                </a:solidFill>
                <a:latin typeface="Verdana" panose="020B0604030504040204" pitchFamily="34" charset="0"/>
              </a:rPr>
              <a:t>中文示例</a:t>
            </a:r>
          </a:p>
        </p:txBody>
      </p:sp>
      <p:sp>
        <p:nvSpPr>
          <p:cNvPr id="27" name="Text Box 2"/>
          <p:cNvSpPr txBox="1">
            <a:spLocks noChangeArrowheads="1"/>
          </p:cNvSpPr>
          <p:nvPr/>
        </p:nvSpPr>
        <p:spPr bwMode="auto">
          <a:xfrm>
            <a:off x="288925" y="1527175"/>
            <a:ext cx="4540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写出对应下面推理的证明。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28" name="Group 3"/>
          <p:cNvGrpSpPr/>
          <p:nvPr/>
        </p:nvGrpSpPr>
        <p:grpSpPr bwMode="auto">
          <a:xfrm>
            <a:off x="269875" y="2035175"/>
            <a:ext cx="8391525" cy="2200275"/>
            <a:chOff x="0" y="0"/>
            <a:chExt cx="5286" cy="1386"/>
          </a:xfrm>
        </p:grpSpPr>
        <p:sp>
          <p:nvSpPr>
            <p:cNvPr id="29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528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(1) </a:t>
              </a:r>
              <a:r>
                <a:rPr lang="zh-CN" altLang="en-US" sz="2400" dirty="0"/>
                <a:t>如果今天是星期一，则要进行数据结构或离散数学考试。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30" name="Text Box 5"/>
            <p:cNvSpPr txBox="1">
              <a:spLocks noChangeArrowheads="1"/>
            </p:cNvSpPr>
            <p:nvPr/>
          </p:nvSpPr>
          <p:spPr bwMode="auto">
            <a:xfrm>
              <a:off x="282" y="375"/>
              <a:ext cx="384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/>
                <a:t>如果数据结构老师有会，则不考数据结构，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31" name="Text Box 6"/>
            <p:cNvSpPr txBox="1">
              <a:spLocks noChangeArrowheads="1"/>
            </p:cNvSpPr>
            <p:nvPr/>
          </p:nvSpPr>
          <p:spPr bwMode="auto">
            <a:xfrm>
              <a:off x="282" y="720"/>
              <a:ext cx="321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/>
                <a:t>今天是星期一，数据结构老师有会，</a:t>
              </a:r>
            </a:p>
          </p:txBody>
        </p:sp>
        <p:sp>
          <p:nvSpPr>
            <p:cNvPr id="32" name="Text Box 7"/>
            <p:cNvSpPr txBox="1">
              <a:spLocks noChangeArrowheads="1"/>
            </p:cNvSpPr>
            <p:nvPr/>
          </p:nvSpPr>
          <p:spPr bwMode="auto">
            <a:xfrm>
              <a:off x="282" y="1095"/>
              <a:ext cx="224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/>
                <a:t>所以进行离散数学考试。</a:t>
              </a:r>
            </a:p>
          </p:txBody>
        </p:sp>
      </p:grpSp>
      <p:sp>
        <p:nvSpPr>
          <p:cNvPr id="33" name="Text Box 8"/>
          <p:cNvSpPr txBox="1">
            <a:spLocks noChangeArrowheads="1"/>
          </p:cNvSpPr>
          <p:nvPr/>
        </p:nvSpPr>
        <p:spPr bwMode="auto">
          <a:xfrm>
            <a:off x="288925" y="4400550"/>
            <a:ext cx="898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/>
              <a:t>解：</a:t>
            </a:r>
            <a:endParaRPr lang="zh-CN" altLang="en-US" sz="2800"/>
          </a:p>
        </p:txBody>
      </p:sp>
      <p:grpSp>
        <p:nvGrpSpPr>
          <p:cNvPr id="34" name="Group 9"/>
          <p:cNvGrpSpPr/>
          <p:nvPr/>
        </p:nvGrpSpPr>
        <p:grpSpPr bwMode="auto">
          <a:xfrm>
            <a:off x="669925" y="5718175"/>
            <a:ext cx="4816475" cy="519113"/>
            <a:chOff x="0" y="0"/>
            <a:chExt cx="3034" cy="327"/>
          </a:xfrm>
        </p:grpSpPr>
        <p:sp>
          <p:nvSpPr>
            <p:cNvPr id="35" name="Text Box 10"/>
            <p:cNvSpPr txBox="1">
              <a:spLocks noChangeArrowheads="1"/>
            </p:cNvSpPr>
            <p:nvPr/>
          </p:nvSpPr>
          <p:spPr bwMode="auto">
            <a:xfrm>
              <a:off x="0" y="0"/>
              <a:ext cx="8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/>
                <a:t>前提：</a:t>
              </a:r>
              <a:r>
                <a:rPr lang="zh-CN" altLang="en-US" sz="280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36" name="Object 12"/>
            <p:cNvGraphicFramePr>
              <a:graphicFrameLocks noChangeAspect="1"/>
            </p:cNvGraphicFramePr>
            <p:nvPr/>
          </p:nvGraphicFramePr>
          <p:xfrm>
            <a:off x="586" y="0"/>
            <a:ext cx="2448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562735" imgH="203200" progId="Equation.DSMT4">
                    <p:embed/>
                  </p:oleObj>
                </mc:Choice>
                <mc:Fallback>
                  <p:oleObj r:id="rId2" imgW="1562735" imgH="20320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6" y="0"/>
                          <a:ext cx="2448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Group 12"/>
          <p:cNvGrpSpPr/>
          <p:nvPr/>
        </p:nvGrpSpPr>
        <p:grpSpPr bwMode="auto">
          <a:xfrm>
            <a:off x="5562600" y="5718175"/>
            <a:ext cx="1339850" cy="519113"/>
            <a:chOff x="0" y="0"/>
            <a:chExt cx="844" cy="327"/>
          </a:xfrm>
        </p:grpSpPr>
        <p:sp>
          <p:nvSpPr>
            <p:cNvPr id="39" name="Text Box 13"/>
            <p:cNvSpPr txBox="1">
              <a:spLocks noChangeArrowheads="1"/>
            </p:cNvSpPr>
            <p:nvPr/>
          </p:nvSpPr>
          <p:spPr bwMode="auto">
            <a:xfrm>
              <a:off x="0" y="0"/>
              <a:ext cx="8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/>
                <a:t>结论：</a:t>
              </a:r>
              <a:r>
                <a:rPr lang="zh-CN" altLang="en-US" sz="280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40" name="Object 15"/>
            <p:cNvGraphicFramePr>
              <a:graphicFrameLocks noChangeAspect="1"/>
            </p:cNvGraphicFramePr>
            <p:nvPr/>
          </p:nvGraphicFramePr>
          <p:xfrm>
            <a:off x="652" y="96"/>
            <a:ext cx="170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14300" imgH="127000" progId="Equation.DSMT4">
                    <p:embed/>
                  </p:oleObj>
                </mc:Choice>
                <mc:Fallback>
                  <p:oleObj r:id="rId4" imgW="114300" imgH="12700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2" y="96"/>
                          <a:ext cx="170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" name="Group 15"/>
          <p:cNvGrpSpPr/>
          <p:nvPr/>
        </p:nvGrpSpPr>
        <p:grpSpPr bwMode="auto">
          <a:xfrm>
            <a:off x="990600" y="4346575"/>
            <a:ext cx="7737475" cy="1231901"/>
            <a:chOff x="0" y="0"/>
            <a:chExt cx="4874" cy="776"/>
          </a:xfrm>
        </p:grpSpPr>
        <p:grpSp>
          <p:nvGrpSpPr>
            <p:cNvPr id="43" name="Group 16"/>
            <p:cNvGrpSpPr/>
            <p:nvPr/>
          </p:nvGrpSpPr>
          <p:grpSpPr bwMode="auto">
            <a:xfrm>
              <a:off x="0" y="0"/>
              <a:ext cx="2552" cy="753"/>
              <a:chOff x="0" y="0"/>
              <a:chExt cx="2552" cy="753"/>
            </a:xfrm>
          </p:grpSpPr>
          <p:sp>
            <p:nvSpPr>
              <p:cNvPr id="44" name="Text Box 17"/>
              <p:cNvSpPr txBox="1">
                <a:spLocks noChangeArrowheads="1"/>
              </p:cNvSpPr>
              <p:nvPr/>
            </p:nvSpPr>
            <p:spPr bwMode="auto">
              <a:xfrm>
                <a:off x="134" y="0"/>
                <a:ext cx="190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800"/>
                  <a:t>：今天是星期一，</a:t>
                </a:r>
              </a:p>
            </p:txBody>
          </p:sp>
          <p:graphicFrame>
            <p:nvGraphicFramePr>
              <p:cNvPr id="45" name="Object 19"/>
              <p:cNvGraphicFramePr>
                <a:graphicFrameLocks noChangeAspect="1"/>
              </p:cNvGraphicFramePr>
              <p:nvPr/>
            </p:nvGraphicFramePr>
            <p:xfrm>
              <a:off x="0" y="110"/>
              <a:ext cx="229" cy="2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6" imgW="152400" imgH="165100" progId="Equation.DSMT4">
                      <p:embed/>
                    </p:oleObj>
                  </mc:Choice>
                  <mc:Fallback>
                    <p:oleObj r:id="rId6" imgW="152400" imgH="165100" progId="Equation.DSMT4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110"/>
                            <a:ext cx="229" cy="24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" name="Object 20"/>
              <p:cNvGraphicFramePr>
                <a:graphicFrameLocks noChangeAspect="1"/>
              </p:cNvGraphicFramePr>
              <p:nvPr/>
            </p:nvGraphicFramePr>
            <p:xfrm>
              <a:off x="1926" y="107"/>
              <a:ext cx="186" cy="2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8" imgW="127000" imgH="165100" progId="Equation.DSMT4">
                      <p:embed/>
                    </p:oleObj>
                  </mc:Choice>
                  <mc:Fallback>
                    <p:oleObj r:id="rId8" imgW="127000" imgH="165100" progId="Equation.DSMT4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26" y="107"/>
                            <a:ext cx="186" cy="24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9" name="Text Box 20"/>
              <p:cNvSpPr txBox="1">
                <a:spLocks noChangeArrowheads="1"/>
              </p:cNvSpPr>
              <p:nvPr/>
            </p:nvSpPr>
            <p:spPr bwMode="auto">
              <a:xfrm>
                <a:off x="144" y="426"/>
                <a:ext cx="235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800"/>
                  <a:t>：进行离散数学考试，</a:t>
                </a:r>
              </a:p>
            </p:txBody>
          </p:sp>
          <p:graphicFrame>
            <p:nvGraphicFramePr>
              <p:cNvPr id="50" name="Object 22"/>
              <p:cNvGraphicFramePr>
                <a:graphicFrameLocks noChangeAspect="1"/>
              </p:cNvGraphicFramePr>
              <p:nvPr/>
            </p:nvGraphicFramePr>
            <p:xfrm>
              <a:off x="22" y="551"/>
              <a:ext cx="170" cy="1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0" imgW="114300" imgH="127000" progId="Equation.DSMT4">
                      <p:embed/>
                    </p:oleObj>
                  </mc:Choice>
                  <mc:Fallback>
                    <p:oleObj r:id="rId10" imgW="114300" imgH="127000" progId="Equation.DSMT4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" y="551"/>
                            <a:ext cx="170" cy="1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2" name="Object 23"/>
              <p:cNvGraphicFramePr>
                <a:graphicFrameLocks noChangeAspect="1"/>
              </p:cNvGraphicFramePr>
              <p:nvPr/>
            </p:nvGraphicFramePr>
            <p:xfrm>
              <a:off x="2400" y="545"/>
              <a:ext cx="152" cy="1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1" imgW="114300" imgH="139700" progId="Equation.DSMT4">
                      <p:embed/>
                    </p:oleObj>
                  </mc:Choice>
                  <mc:Fallback>
                    <p:oleObj r:id="rId11" imgW="114300" imgH="139700" progId="Equation.DSMT4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00" y="545"/>
                            <a:ext cx="152" cy="18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4" name="Rectangle 23"/>
            <p:cNvSpPr>
              <a:spLocks noChangeArrowheads="1"/>
            </p:cNvSpPr>
            <p:nvPr/>
          </p:nvSpPr>
          <p:spPr bwMode="auto">
            <a:xfrm>
              <a:off x="2064" y="14"/>
              <a:ext cx="237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dirty="0"/>
                <a:t>：进行数据结构考试，</a:t>
              </a:r>
            </a:p>
          </p:txBody>
        </p:sp>
        <p:sp>
          <p:nvSpPr>
            <p:cNvPr id="55" name="Rectangle 24"/>
            <p:cNvSpPr>
              <a:spLocks noChangeArrowheads="1"/>
            </p:cNvSpPr>
            <p:nvPr/>
          </p:nvSpPr>
          <p:spPr bwMode="auto">
            <a:xfrm>
              <a:off x="2496" y="446"/>
              <a:ext cx="237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dirty="0"/>
                <a:t>：数据结构老师有会。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E9E7BA45-0E3C-420F-95EA-DF97460F45DF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5843" name="Text Box 2"/>
          <p:cNvSpPr txBox="1">
            <a:spLocks noChangeArrowheads="1"/>
          </p:cNvSpPr>
          <p:nvPr/>
        </p:nvSpPr>
        <p:spPr bwMode="auto">
          <a:xfrm>
            <a:off x="381000" y="2127250"/>
            <a:ext cx="13446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/>
          </a:p>
        </p:txBody>
      </p:sp>
      <p:sp>
        <p:nvSpPr>
          <p:cNvPr id="11" name="Text Box 30"/>
          <p:cNvSpPr txBox="1">
            <a:spLocks noChangeArrowheads="1"/>
          </p:cNvSpPr>
          <p:nvPr/>
        </p:nvSpPr>
        <p:spPr bwMode="auto">
          <a:xfrm>
            <a:off x="5099050" y="6221413"/>
            <a:ext cx="2762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/>
          </a:p>
        </p:txBody>
      </p:sp>
      <p:sp>
        <p:nvSpPr>
          <p:cNvPr id="17" name="Rectangle 37"/>
          <p:cNvSpPr>
            <a:spLocks noChangeArrowheads="1"/>
          </p:cNvSpPr>
          <p:nvPr/>
        </p:nvSpPr>
        <p:spPr bwMode="auto">
          <a:xfrm>
            <a:off x="468313" y="260350"/>
            <a:ext cx="8229600" cy="110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>
                <a:solidFill>
                  <a:schemeClr val="bg1"/>
                </a:solidFill>
                <a:latin typeface="Verdana" panose="020B0604030504040204" pitchFamily="34" charset="0"/>
              </a:rPr>
              <a:t>中文示例</a:t>
            </a:r>
            <a:endParaRPr lang="en-US" altLang="zh-CN" b="1" i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Text Box 2"/>
          <p:cNvSpPr txBox="1">
            <a:spLocks noChangeArrowheads="1"/>
          </p:cNvSpPr>
          <p:nvPr/>
        </p:nvSpPr>
        <p:spPr bwMode="auto">
          <a:xfrm>
            <a:off x="508000" y="2254250"/>
            <a:ext cx="13446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/>
              <a:t>证明：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19" name="Group 3"/>
          <p:cNvGrpSpPr/>
          <p:nvPr/>
        </p:nvGrpSpPr>
        <p:grpSpPr bwMode="auto">
          <a:xfrm>
            <a:off x="1504950" y="2189163"/>
            <a:ext cx="2381250" cy="519112"/>
            <a:chOff x="0" y="0"/>
            <a:chExt cx="1500" cy="327"/>
          </a:xfrm>
        </p:grpSpPr>
        <p:sp>
          <p:nvSpPr>
            <p:cNvPr id="20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3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①</a:t>
              </a: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21" name="Object 6"/>
            <p:cNvGraphicFramePr>
              <a:graphicFrameLocks noChangeAspect="1"/>
            </p:cNvGraphicFramePr>
            <p:nvPr/>
          </p:nvGraphicFramePr>
          <p:xfrm>
            <a:off x="348" y="0"/>
            <a:ext cx="1152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762635" imgH="203200" progId="Equation.DSMT4">
                    <p:embed/>
                  </p:oleObj>
                </mc:Choice>
                <mc:Fallback>
                  <p:oleObj r:id="rId2" imgW="762635" imgH="2032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" y="0"/>
                          <a:ext cx="1152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Text Box 6"/>
          <p:cNvSpPr txBox="1">
            <a:spLocks noChangeArrowheads="1"/>
          </p:cNvSpPr>
          <p:nvPr/>
        </p:nvSpPr>
        <p:spPr bwMode="auto">
          <a:xfrm>
            <a:off x="5013325" y="2179638"/>
            <a:ext cx="1695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前提引入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24" name="Group 7"/>
          <p:cNvGrpSpPr/>
          <p:nvPr/>
        </p:nvGrpSpPr>
        <p:grpSpPr bwMode="auto">
          <a:xfrm>
            <a:off x="1504950" y="2882900"/>
            <a:ext cx="915988" cy="519113"/>
            <a:chOff x="0" y="0"/>
            <a:chExt cx="577" cy="327"/>
          </a:xfrm>
        </p:grpSpPr>
        <p:sp>
          <p:nvSpPr>
            <p:cNvPr id="25" name="Text Box 8"/>
            <p:cNvSpPr txBox="1">
              <a:spLocks noChangeArrowheads="1"/>
            </p:cNvSpPr>
            <p:nvPr/>
          </p:nvSpPr>
          <p:spPr bwMode="auto">
            <a:xfrm>
              <a:off x="0" y="0"/>
              <a:ext cx="3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②</a:t>
              </a: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26" name="Object 10"/>
            <p:cNvGraphicFramePr>
              <a:graphicFrameLocks noChangeAspect="1"/>
            </p:cNvGraphicFramePr>
            <p:nvPr/>
          </p:nvGraphicFramePr>
          <p:xfrm>
            <a:off x="348" y="40"/>
            <a:ext cx="229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52400" imgH="165100" progId="Equation.DSMT4">
                    <p:embed/>
                  </p:oleObj>
                </mc:Choice>
                <mc:Fallback>
                  <p:oleObj r:id="rId4" imgW="152400" imgH="1651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" y="40"/>
                          <a:ext cx="229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Text Box 10"/>
          <p:cNvSpPr txBox="1">
            <a:spLocks noChangeArrowheads="1"/>
          </p:cNvSpPr>
          <p:nvPr/>
        </p:nvSpPr>
        <p:spPr bwMode="auto">
          <a:xfrm>
            <a:off x="5029200" y="2881313"/>
            <a:ext cx="1695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前提引入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29" name="Group 11"/>
          <p:cNvGrpSpPr/>
          <p:nvPr/>
        </p:nvGrpSpPr>
        <p:grpSpPr bwMode="auto">
          <a:xfrm>
            <a:off x="1504950" y="3560763"/>
            <a:ext cx="1409700" cy="519112"/>
            <a:chOff x="0" y="0"/>
            <a:chExt cx="888" cy="327"/>
          </a:xfrm>
        </p:grpSpPr>
        <p:sp>
          <p:nvSpPr>
            <p:cNvPr id="30" name="Text Box 12"/>
            <p:cNvSpPr txBox="1">
              <a:spLocks noChangeArrowheads="1"/>
            </p:cNvSpPr>
            <p:nvPr/>
          </p:nvSpPr>
          <p:spPr bwMode="auto">
            <a:xfrm>
              <a:off x="0" y="0"/>
              <a:ext cx="3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③</a:t>
              </a: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31" name="Object 14"/>
            <p:cNvGraphicFramePr>
              <a:graphicFrameLocks noChangeAspect="1"/>
            </p:cNvGraphicFramePr>
            <p:nvPr/>
          </p:nvGraphicFramePr>
          <p:xfrm>
            <a:off x="348" y="48"/>
            <a:ext cx="540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342900" imgH="165100" progId="Equation.DSMT4">
                    <p:embed/>
                  </p:oleObj>
                </mc:Choice>
                <mc:Fallback>
                  <p:oleObj r:id="rId6" imgW="342900" imgH="1651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" y="48"/>
                          <a:ext cx="540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" name="Text Box 14"/>
          <p:cNvSpPr txBox="1">
            <a:spLocks noChangeArrowheads="1"/>
          </p:cNvSpPr>
          <p:nvPr/>
        </p:nvSpPr>
        <p:spPr bwMode="auto">
          <a:xfrm>
            <a:off x="5060950" y="3575050"/>
            <a:ext cx="2406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/>
              <a:t>①②</a:t>
            </a:r>
            <a:r>
              <a:rPr lang="zh-CN" altLang="en-US" sz="2800"/>
              <a:t>假言推理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34" name="Group 15"/>
          <p:cNvGrpSpPr/>
          <p:nvPr/>
        </p:nvGrpSpPr>
        <p:grpSpPr bwMode="auto">
          <a:xfrm>
            <a:off x="1504950" y="4246563"/>
            <a:ext cx="1847850" cy="533400"/>
            <a:chOff x="0" y="0"/>
            <a:chExt cx="1164" cy="336"/>
          </a:xfrm>
        </p:grpSpPr>
        <p:sp>
          <p:nvSpPr>
            <p:cNvPr id="35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3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④</a:t>
              </a: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36" name="Object 18"/>
            <p:cNvGraphicFramePr>
              <a:graphicFrameLocks noChangeAspect="1"/>
            </p:cNvGraphicFramePr>
            <p:nvPr/>
          </p:nvGraphicFramePr>
          <p:xfrm>
            <a:off x="348" y="84"/>
            <a:ext cx="816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520700" imgH="165100" progId="Equation.DSMT4">
                    <p:embed/>
                  </p:oleObj>
                </mc:Choice>
                <mc:Fallback>
                  <p:oleObj r:id="rId8" imgW="520700" imgH="16510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" y="84"/>
                          <a:ext cx="816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" name="Text Box 18"/>
          <p:cNvSpPr txBox="1">
            <a:spLocks noChangeArrowheads="1"/>
          </p:cNvSpPr>
          <p:nvPr/>
        </p:nvSpPr>
        <p:spPr bwMode="auto">
          <a:xfrm>
            <a:off x="5029200" y="4260850"/>
            <a:ext cx="1695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前提引入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39" name="Group 19"/>
          <p:cNvGrpSpPr/>
          <p:nvPr/>
        </p:nvGrpSpPr>
        <p:grpSpPr bwMode="auto">
          <a:xfrm>
            <a:off x="1504950" y="4946650"/>
            <a:ext cx="793750" cy="519113"/>
            <a:chOff x="0" y="0"/>
            <a:chExt cx="500" cy="327"/>
          </a:xfrm>
        </p:grpSpPr>
        <p:sp>
          <p:nvSpPr>
            <p:cNvPr id="40" name="Text Box 20"/>
            <p:cNvSpPr txBox="1">
              <a:spLocks noChangeArrowheads="1"/>
            </p:cNvSpPr>
            <p:nvPr/>
          </p:nvSpPr>
          <p:spPr bwMode="auto">
            <a:xfrm>
              <a:off x="0" y="0"/>
              <a:ext cx="3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⑤</a:t>
              </a: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41" name="Object 22"/>
            <p:cNvGraphicFramePr>
              <a:graphicFrameLocks noChangeAspect="1"/>
            </p:cNvGraphicFramePr>
            <p:nvPr/>
          </p:nvGraphicFramePr>
          <p:xfrm>
            <a:off x="348" y="90"/>
            <a:ext cx="152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14300" imgH="139700" progId="Equation.DSMT4">
                    <p:embed/>
                  </p:oleObj>
                </mc:Choice>
                <mc:Fallback>
                  <p:oleObj r:id="rId10" imgW="114300" imgH="13970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" y="90"/>
                          <a:ext cx="152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" name="Text Box 22"/>
          <p:cNvSpPr txBox="1">
            <a:spLocks noChangeArrowheads="1"/>
          </p:cNvSpPr>
          <p:nvPr/>
        </p:nvSpPr>
        <p:spPr bwMode="auto">
          <a:xfrm>
            <a:off x="5029200" y="4946650"/>
            <a:ext cx="1695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前提引入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44" name="Group 23"/>
          <p:cNvGrpSpPr/>
          <p:nvPr/>
        </p:nvGrpSpPr>
        <p:grpSpPr bwMode="auto">
          <a:xfrm>
            <a:off x="1504950" y="5618163"/>
            <a:ext cx="1128713" cy="519112"/>
            <a:chOff x="0" y="0"/>
            <a:chExt cx="711" cy="327"/>
          </a:xfrm>
        </p:grpSpPr>
        <p:sp>
          <p:nvSpPr>
            <p:cNvPr id="45" name="Text Box 24"/>
            <p:cNvSpPr txBox="1">
              <a:spLocks noChangeArrowheads="1"/>
            </p:cNvSpPr>
            <p:nvPr/>
          </p:nvSpPr>
          <p:spPr bwMode="auto">
            <a:xfrm>
              <a:off x="0" y="0"/>
              <a:ext cx="3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⑥</a:t>
              </a: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46" name="Object 26"/>
            <p:cNvGraphicFramePr>
              <a:graphicFrameLocks noChangeAspect="1"/>
            </p:cNvGraphicFramePr>
            <p:nvPr/>
          </p:nvGraphicFramePr>
          <p:xfrm>
            <a:off x="348" y="48"/>
            <a:ext cx="363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241300" imgH="165100" progId="Equation.DSMT4">
                    <p:embed/>
                  </p:oleObj>
                </mc:Choice>
                <mc:Fallback>
                  <p:oleObj r:id="rId12" imgW="241300" imgH="16510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" y="48"/>
                          <a:ext cx="363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" name="Text Box 26"/>
          <p:cNvSpPr txBox="1">
            <a:spLocks noChangeArrowheads="1"/>
          </p:cNvSpPr>
          <p:nvPr/>
        </p:nvSpPr>
        <p:spPr bwMode="auto">
          <a:xfrm>
            <a:off x="5089525" y="5618163"/>
            <a:ext cx="2406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/>
              <a:t>④⑤</a:t>
            </a:r>
            <a:r>
              <a:rPr lang="zh-CN" altLang="en-US" sz="2800"/>
              <a:t>假言推理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49" name="Group 27"/>
          <p:cNvGrpSpPr/>
          <p:nvPr/>
        </p:nvGrpSpPr>
        <p:grpSpPr bwMode="auto">
          <a:xfrm>
            <a:off x="1504950" y="6223000"/>
            <a:ext cx="898525" cy="519113"/>
            <a:chOff x="0" y="0"/>
            <a:chExt cx="566" cy="327"/>
          </a:xfrm>
        </p:grpSpPr>
        <p:sp>
          <p:nvSpPr>
            <p:cNvPr id="50" name="Text Box 28"/>
            <p:cNvSpPr txBox="1">
              <a:spLocks noChangeArrowheads="1"/>
            </p:cNvSpPr>
            <p:nvPr/>
          </p:nvSpPr>
          <p:spPr bwMode="auto">
            <a:xfrm>
              <a:off x="0" y="0"/>
              <a:ext cx="3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⑦</a:t>
              </a: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51" name="Object 30"/>
            <p:cNvGraphicFramePr>
              <a:graphicFrameLocks noChangeAspect="1"/>
            </p:cNvGraphicFramePr>
            <p:nvPr/>
          </p:nvGraphicFramePr>
          <p:xfrm>
            <a:off x="396" y="91"/>
            <a:ext cx="170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114300" imgH="127000" progId="Equation.DSMT4">
                    <p:embed/>
                  </p:oleObj>
                </mc:Choice>
                <mc:Fallback>
                  <p:oleObj r:id="rId14" imgW="114300" imgH="12700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" y="91"/>
                          <a:ext cx="170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" name="Text Box 30"/>
          <p:cNvSpPr txBox="1">
            <a:spLocks noChangeArrowheads="1"/>
          </p:cNvSpPr>
          <p:nvPr/>
        </p:nvSpPr>
        <p:spPr bwMode="auto">
          <a:xfrm>
            <a:off x="5226050" y="6348413"/>
            <a:ext cx="2762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/>
              <a:t>③⑥</a:t>
            </a:r>
            <a:r>
              <a:rPr lang="zh-CN" altLang="en-US" sz="2800"/>
              <a:t>析取三段论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54" name="Group 31"/>
          <p:cNvGrpSpPr/>
          <p:nvPr/>
        </p:nvGrpSpPr>
        <p:grpSpPr bwMode="auto">
          <a:xfrm>
            <a:off x="457200" y="1503363"/>
            <a:ext cx="4816475" cy="519112"/>
            <a:chOff x="0" y="0"/>
            <a:chExt cx="3034" cy="327"/>
          </a:xfrm>
        </p:grpSpPr>
        <p:sp>
          <p:nvSpPr>
            <p:cNvPr id="55" name="Text Box 32"/>
            <p:cNvSpPr txBox="1">
              <a:spLocks noChangeArrowheads="1"/>
            </p:cNvSpPr>
            <p:nvPr/>
          </p:nvSpPr>
          <p:spPr bwMode="auto">
            <a:xfrm>
              <a:off x="0" y="0"/>
              <a:ext cx="8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/>
                <a:t>前提：</a:t>
              </a:r>
              <a:r>
                <a:rPr lang="zh-CN" altLang="en-US" sz="280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56" name="Object 34"/>
            <p:cNvGraphicFramePr>
              <a:graphicFrameLocks noChangeAspect="1"/>
            </p:cNvGraphicFramePr>
            <p:nvPr/>
          </p:nvGraphicFramePr>
          <p:xfrm>
            <a:off x="586" y="0"/>
            <a:ext cx="2448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1562735" imgH="203200" progId="Equation.DSMT4">
                    <p:embed/>
                  </p:oleObj>
                </mc:Choice>
                <mc:Fallback>
                  <p:oleObj r:id="rId16" imgW="1562735" imgH="203200" progId="Equation.DSMT4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6" y="0"/>
                          <a:ext cx="2448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" name="Group 34"/>
          <p:cNvGrpSpPr/>
          <p:nvPr/>
        </p:nvGrpSpPr>
        <p:grpSpPr bwMode="auto">
          <a:xfrm>
            <a:off x="5410200" y="1503363"/>
            <a:ext cx="1339850" cy="519112"/>
            <a:chOff x="0" y="0"/>
            <a:chExt cx="844" cy="327"/>
          </a:xfrm>
        </p:grpSpPr>
        <p:sp>
          <p:nvSpPr>
            <p:cNvPr id="59" name="Text Box 35"/>
            <p:cNvSpPr txBox="1">
              <a:spLocks noChangeArrowheads="1"/>
            </p:cNvSpPr>
            <p:nvPr/>
          </p:nvSpPr>
          <p:spPr bwMode="auto">
            <a:xfrm>
              <a:off x="0" y="0"/>
              <a:ext cx="8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/>
                <a:t>结论：</a:t>
              </a:r>
              <a:r>
                <a:rPr lang="zh-CN" altLang="en-US" sz="280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60" name="Object 37"/>
            <p:cNvGraphicFramePr>
              <a:graphicFrameLocks noChangeAspect="1"/>
            </p:cNvGraphicFramePr>
            <p:nvPr/>
          </p:nvGraphicFramePr>
          <p:xfrm>
            <a:off x="652" y="96"/>
            <a:ext cx="170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114300" imgH="127000" progId="Equation.DSMT4">
                    <p:embed/>
                  </p:oleObj>
                </mc:Choice>
                <mc:Fallback>
                  <p:oleObj r:id="rId18" imgW="114300" imgH="127000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2" y="96"/>
                          <a:ext cx="170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/>
      <p:bldP spid="18" grpId="0"/>
      <p:bldP spid="23" grpId="0" build="p" advAuto="0"/>
      <p:bldP spid="28" grpId="0" build="p" advAuto="0"/>
      <p:bldP spid="33" grpId="0" build="p" advAuto="0"/>
      <p:bldP spid="38" grpId="0" build="p" advAuto="0"/>
      <p:bldP spid="43" grpId="0" build="p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479C567-39D1-42AC-B158-1DC9C5A747EA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0" name="Rectangle 22"/>
          <p:cNvSpPr>
            <a:spLocks noChangeArrowheads="1"/>
          </p:cNvSpPr>
          <p:nvPr/>
        </p:nvSpPr>
        <p:spPr bwMode="auto">
          <a:xfrm>
            <a:off x="468313" y="381000"/>
            <a:ext cx="8229600" cy="110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>
                <a:solidFill>
                  <a:schemeClr val="bg1"/>
                </a:solidFill>
                <a:latin typeface="Verdana" panose="020B0604030504040204" pitchFamily="34" charset="0"/>
              </a:rPr>
              <a:t>中文示例</a:t>
            </a:r>
          </a:p>
        </p:txBody>
      </p:sp>
      <p:grpSp>
        <p:nvGrpSpPr>
          <p:cNvPr id="11" name="Group 2"/>
          <p:cNvGrpSpPr/>
          <p:nvPr/>
        </p:nvGrpSpPr>
        <p:grpSpPr bwMode="auto">
          <a:xfrm>
            <a:off x="381000" y="1706563"/>
            <a:ext cx="5578475" cy="2333625"/>
            <a:chOff x="0" y="0"/>
            <a:chExt cx="3514" cy="1470"/>
          </a:xfrm>
        </p:grpSpPr>
        <p:sp>
          <p:nvSpPr>
            <p:cNvPr id="12" name="Text Box 3"/>
            <p:cNvSpPr txBox="1">
              <a:spLocks noChangeArrowheads="1"/>
            </p:cNvSpPr>
            <p:nvPr/>
          </p:nvSpPr>
          <p:spPr bwMode="auto">
            <a:xfrm>
              <a:off x="0" y="0"/>
              <a:ext cx="35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(2) </a:t>
              </a:r>
              <a:r>
                <a:rPr lang="zh-CN" altLang="en-US" sz="2800"/>
                <a:t>如果</a:t>
              </a:r>
              <a:r>
                <a:rPr lang="en-US" altLang="zh-CN" sz="2800">
                  <a:latin typeface="Times New Roman" panose="02020603050405020304" pitchFamily="18" charset="0"/>
                </a:rPr>
                <a:t>6</a:t>
              </a:r>
              <a:r>
                <a:rPr lang="zh-CN" altLang="en-US" sz="2800"/>
                <a:t>是偶数，则</a:t>
              </a:r>
              <a:r>
                <a:rPr lang="en-US" altLang="zh-CN" sz="2800">
                  <a:latin typeface="Times New Roman" panose="02020603050405020304" pitchFamily="18" charset="0"/>
                </a:rPr>
                <a:t>2</a:t>
              </a:r>
              <a:r>
                <a:rPr lang="zh-CN" altLang="en-US" sz="2800"/>
                <a:t>不能整除</a:t>
              </a:r>
              <a:r>
                <a:rPr lang="en-US" altLang="zh-CN" sz="2800">
                  <a:latin typeface="Times New Roman" panose="02020603050405020304" pitchFamily="18" charset="0"/>
                </a:rPr>
                <a:t>7</a:t>
              </a:r>
              <a:r>
                <a:rPr lang="zh-CN" altLang="en-US" sz="2800"/>
                <a:t>；</a:t>
              </a:r>
              <a:r>
                <a:rPr lang="zh-CN" altLang="en-US" sz="2800"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3" name="Text Box 4"/>
            <p:cNvSpPr txBox="1">
              <a:spLocks noChangeArrowheads="1"/>
            </p:cNvSpPr>
            <p:nvPr/>
          </p:nvSpPr>
          <p:spPr bwMode="auto">
            <a:xfrm>
              <a:off x="288" y="375"/>
              <a:ext cx="271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5</a:t>
              </a:r>
              <a:r>
                <a:rPr lang="zh-CN" altLang="en-US" sz="2800"/>
                <a:t>不是素数，或者</a:t>
              </a:r>
              <a:r>
                <a:rPr lang="en-US" altLang="zh-CN" sz="2800">
                  <a:latin typeface="Times New Roman" panose="02020603050405020304" pitchFamily="18" charset="0"/>
                </a:rPr>
                <a:t>2</a:t>
              </a:r>
              <a:r>
                <a:rPr lang="zh-CN" altLang="en-US" sz="2800"/>
                <a:t>整除</a:t>
              </a:r>
              <a:r>
                <a:rPr lang="en-US" altLang="zh-CN" sz="2800">
                  <a:latin typeface="Times New Roman" panose="02020603050405020304" pitchFamily="18" charset="0"/>
                </a:rPr>
                <a:t>7</a:t>
              </a:r>
              <a:r>
                <a:rPr lang="zh-CN" altLang="en-US" sz="2800"/>
                <a:t>；</a:t>
              </a:r>
            </a:p>
          </p:txBody>
        </p:sp>
        <p:sp>
          <p:nvSpPr>
            <p:cNvPr id="14" name="Text Box 5"/>
            <p:cNvSpPr txBox="1">
              <a:spLocks noChangeArrowheads="1"/>
            </p:cNvSpPr>
            <p:nvPr/>
          </p:nvSpPr>
          <p:spPr bwMode="auto">
            <a:xfrm>
              <a:off x="288" y="759"/>
              <a:ext cx="12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5</a:t>
              </a:r>
              <a:r>
                <a:rPr lang="zh-CN" altLang="en-US" sz="2800"/>
                <a:t>是素数。</a:t>
              </a:r>
              <a:r>
                <a:rPr lang="zh-CN" altLang="en-US" sz="2800">
                  <a:latin typeface="Times New Roman" panose="02020603050405020304" pitchFamily="18" charset="0"/>
                </a:rPr>
                <a:t>  </a:t>
              </a:r>
            </a:p>
          </p:txBody>
        </p:sp>
        <p:sp>
          <p:nvSpPr>
            <p:cNvPr id="15" name="Text Box 6"/>
            <p:cNvSpPr txBox="1">
              <a:spLocks noChangeArrowheads="1"/>
            </p:cNvSpPr>
            <p:nvPr/>
          </p:nvSpPr>
          <p:spPr bwMode="auto">
            <a:xfrm>
              <a:off x="288" y="1143"/>
              <a:ext cx="18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/>
                <a:t>因此，</a:t>
              </a:r>
              <a:r>
                <a:rPr lang="en-US" altLang="zh-CN" sz="2800">
                  <a:latin typeface="Times New Roman" panose="02020603050405020304" pitchFamily="18" charset="0"/>
                </a:rPr>
                <a:t>6</a:t>
              </a:r>
              <a:r>
                <a:rPr lang="zh-CN" altLang="en-US" sz="2800"/>
                <a:t>是奇数。</a:t>
              </a:r>
              <a:r>
                <a:rPr lang="zh-CN" altLang="en-US" sz="2800">
                  <a:latin typeface="Times New Roman" panose="02020603050405020304" pitchFamily="18" charset="0"/>
                </a:rPr>
                <a:t> </a:t>
              </a:r>
            </a:p>
          </p:txBody>
        </p:sp>
      </p:grp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441325" y="4130675"/>
            <a:ext cx="898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/>
              <a:t>解：</a:t>
            </a:r>
            <a:endParaRPr lang="zh-CN" altLang="en-US" sz="2800"/>
          </a:p>
        </p:txBody>
      </p:sp>
      <p:grpSp>
        <p:nvGrpSpPr>
          <p:cNvPr id="17" name="Group 8"/>
          <p:cNvGrpSpPr/>
          <p:nvPr/>
        </p:nvGrpSpPr>
        <p:grpSpPr bwMode="auto">
          <a:xfrm>
            <a:off x="914400" y="4830763"/>
            <a:ext cx="3886200" cy="519112"/>
            <a:chOff x="0" y="0"/>
            <a:chExt cx="2448" cy="327"/>
          </a:xfrm>
        </p:grpSpPr>
        <p:sp>
          <p:nvSpPr>
            <p:cNvPr id="18" name="Text Box 9"/>
            <p:cNvSpPr txBox="1">
              <a:spLocks noChangeArrowheads="1"/>
            </p:cNvSpPr>
            <p:nvPr/>
          </p:nvSpPr>
          <p:spPr bwMode="auto">
            <a:xfrm>
              <a:off x="0" y="0"/>
              <a:ext cx="8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/>
                <a:t>前提：</a:t>
              </a:r>
              <a:r>
                <a:rPr lang="zh-CN" altLang="en-US" sz="280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19" name="Object 11"/>
            <p:cNvGraphicFramePr>
              <a:graphicFrameLocks noChangeAspect="1"/>
            </p:cNvGraphicFramePr>
            <p:nvPr/>
          </p:nvGraphicFramePr>
          <p:xfrm>
            <a:off x="624" y="68"/>
            <a:ext cx="1824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130300" imgH="165100" progId="Equation.DSMT4">
                    <p:embed/>
                  </p:oleObj>
                </mc:Choice>
                <mc:Fallback>
                  <p:oleObj r:id="rId2" imgW="1130300" imgH="1651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68"/>
                          <a:ext cx="1824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Group 11"/>
          <p:cNvGrpSpPr/>
          <p:nvPr/>
        </p:nvGrpSpPr>
        <p:grpSpPr bwMode="auto">
          <a:xfrm>
            <a:off x="914400" y="5502275"/>
            <a:ext cx="1566863" cy="519113"/>
            <a:chOff x="0" y="0"/>
            <a:chExt cx="987" cy="327"/>
          </a:xfrm>
        </p:grpSpPr>
        <p:sp>
          <p:nvSpPr>
            <p:cNvPr id="22" name="Text Box 12"/>
            <p:cNvSpPr txBox="1">
              <a:spLocks noChangeArrowheads="1"/>
            </p:cNvSpPr>
            <p:nvPr/>
          </p:nvSpPr>
          <p:spPr bwMode="auto">
            <a:xfrm>
              <a:off x="0" y="0"/>
              <a:ext cx="8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/>
                <a:t>结论：</a:t>
              </a:r>
              <a:r>
                <a:rPr lang="zh-CN" altLang="en-US" sz="280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23" name="Object 14"/>
            <p:cNvGraphicFramePr>
              <a:graphicFrameLocks noChangeAspect="1"/>
            </p:cNvGraphicFramePr>
            <p:nvPr/>
          </p:nvGraphicFramePr>
          <p:xfrm>
            <a:off x="624" y="48"/>
            <a:ext cx="363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41300" imgH="165100" progId="Equation.DSMT4">
                    <p:embed/>
                  </p:oleObj>
                </mc:Choice>
                <mc:Fallback>
                  <p:oleObj r:id="rId4" imgW="241300" imgH="1651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48"/>
                          <a:ext cx="363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Group 14"/>
          <p:cNvGrpSpPr/>
          <p:nvPr/>
        </p:nvGrpSpPr>
        <p:grpSpPr bwMode="auto">
          <a:xfrm>
            <a:off x="1219200" y="4130675"/>
            <a:ext cx="6407150" cy="533400"/>
            <a:chOff x="0" y="0"/>
            <a:chExt cx="4036" cy="336"/>
          </a:xfrm>
        </p:grpSpPr>
        <p:grpSp>
          <p:nvGrpSpPr>
            <p:cNvPr id="26" name="Group 15"/>
            <p:cNvGrpSpPr/>
            <p:nvPr/>
          </p:nvGrpSpPr>
          <p:grpSpPr bwMode="auto">
            <a:xfrm>
              <a:off x="0" y="0"/>
              <a:ext cx="2736" cy="330"/>
              <a:chOff x="0" y="0"/>
              <a:chExt cx="2736" cy="330"/>
            </a:xfrm>
          </p:grpSpPr>
          <p:sp>
            <p:nvSpPr>
              <p:cNvPr id="27" name="Text Box 16"/>
              <p:cNvSpPr txBox="1">
                <a:spLocks noChangeArrowheads="1"/>
              </p:cNvSpPr>
              <p:nvPr/>
            </p:nvSpPr>
            <p:spPr bwMode="auto">
              <a:xfrm>
                <a:off x="132" y="0"/>
                <a:ext cx="134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800"/>
                  <a:t>：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6</a:t>
                </a:r>
                <a:r>
                  <a:rPr lang="zh-CN" altLang="en-US" sz="2800"/>
                  <a:t>是偶数，</a:t>
                </a:r>
              </a:p>
            </p:txBody>
          </p:sp>
          <p:graphicFrame>
            <p:nvGraphicFramePr>
              <p:cNvPr id="28" name="Object 18"/>
              <p:cNvGraphicFramePr>
                <a:graphicFrameLocks noChangeAspect="1"/>
              </p:cNvGraphicFramePr>
              <p:nvPr/>
            </p:nvGraphicFramePr>
            <p:xfrm>
              <a:off x="0" y="87"/>
              <a:ext cx="229" cy="2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6" imgW="152400" imgH="165100" progId="Equation.DSMT4">
                      <p:embed/>
                    </p:oleObj>
                  </mc:Choice>
                  <mc:Fallback>
                    <p:oleObj r:id="rId6" imgW="152400" imgH="165100" progId="Equation.DSMT4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87"/>
                            <a:ext cx="229" cy="24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" name="Object 19"/>
              <p:cNvGraphicFramePr>
                <a:graphicFrameLocks noChangeAspect="1"/>
              </p:cNvGraphicFramePr>
              <p:nvPr/>
            </p:nvGraphicFramePr>
            <p:xfrm>
              <a:off x="1350" y="84"/>
              <a:ext cx="186" cy="2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8" imgW="127000" imgH="165100" progId="Equation.DSMT4">
                      <p:embed/>
                    </p:oleObj>
                  </mc:Choice>
                  <mc:Fallback>
                    <p:oleObj r:id="rId8" imgW="127000" imgH="165100" progId="Equation.DSMT4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50" y="84"/>
                            <a:ext cx="186" cy="24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" name="Object 20"/>
              <p:cNvGraphicFramePr>
                <a:graphicFrameLocks noChangeAspect="1"/>
              </p:cNvGraphicFramePr>
              <p:nvPr/>
            </p:nvGraphicFramePr>
            <p:xfrm>
              <a:off x="2566" y="96"/>
              <a:ext cx="170" cy="1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0" imgW="114300" imgH="127000" progId="Equation.DSMT4">
                      <p:embed/>
                    </p:oleObj>
                  </mc:Choice>
                  <mc:Fallback>
                    <p:oleObj r:id="rId10" imgW="114300" imgH="127000" progId="Equation.DSMT4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66" y="96"/>
                            <a:ext cx="170" cy="1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4" name="Rectangle 20"/>
            <p:cNvSpPr>
              <a:spLocks noChangeArrowheads="1"/>
            </p:cNvSpPr>
            <p:nvPr/>
          </p:nvSpPr>
          <p:spPr bwMode="auto">
            <a:xfrm>
              <a:off x="2688" y="9"/>
              <a:ext cx="13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/>
                <a:t>：</a:t>
              </a:r>
              <a:r>
                <a:rPr lang="en-US" altLang="zh-CN" sz="2800">
                  <a:latin typeface="Times New Roman" panose="02020603050405020304" pitchFamily="18" charset="0"/>
                </a:rPr>
                <a:t>5</a:t>
              </a:r>
              <a:r>
                <a:rPr lang="zh-CN" altLang="en-US" sz="2800"/>
                <a:t>是素数。</a:t>
              </a:r>
            </a:p>
          </p:txBody>
        </p:sp>
        <p:sp>
          <p:nvSpPr>
            <p:cNvPr id="35" name="Rectangle 21"/>
            <p:cNvSpPr>
              <a:spLocks noChangeArrowheads="1"/>
            </p:cNvSpPr>
            <p:nvPr/>
          </p:nvSpPr>
          <p:spPr bwMode="auto">
            <a:xfrm>
              <a:off x="1452" y="9"/>
              <a:ext cx="12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/>
                <a:t>：</a:t>
              </a:r>
              <a:r>
                <a:rPr lang="en-US" altLang="zh-CN" sz="2800">
                  <a:latin typeface="Times New Roman" panose="02020603050405020304" pitchFamily="18" charset="0"/>
                </a:rPr>
                <a:t>2</a:t>
              </a:r>
              <a:r>
                <a:rPr lang="zh-CN" altLang="en-US" sz="2800"/>
                <a:t>整除</a:t>
              </a:r>
              <a:r>
                <a:rPr lang="en-US" altLang="zh-CN" sz="2800">
                  <a:latin typeface="Times New Roman" panose="02020603050405020304" pitchFamily="18" charset="0"/>
                </a:rPr>
                <a:t>7</a:t>
              </a:r>
              <a:r>
                <a:rPr lang="zh-CN" altLang="en-US" sz="2800"/>
                <a:t>，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0981B31B-A9A4-43E2-B4A4-C24BFDE565E9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7906" name="Rectangle 33"/>
          <p:cNvSpPr>
            <a:spLocks noChangeArrowheads="1"/>
          </p:cNvSpPr>
          <p:nvPr/>
        </p:nvSpPr>
        <p:spPr bwMode="auto">
          <a:xfrm>
            <a:off x="468313" y="260350"/>
            <a:ext cx="8229600" cy="110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>
                <a:solidFill>
                  <a:schemeClr val="bg1"/>
                </a:solidFill>
                <a:latin typeface="Verdana" panose="020B0604030504040204" pitchFamily="34" charset="0"/>
              </a:rPr>
              <a:t>中文示例</a:t>
            </a:r>
          </a:p>
        </p:txBody>
      </p: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381000" y="2212975"/>
            <a:ext cx="13446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/>
              <a:t>证明：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17" name="Group 3"/>
          <p:cNvGrpSpPr/>
          <p:nvPr/>
        </p:nvGrpSpPr>
        <p:grpSpPr bwMode="auto">
          <a:xfrm>
            <a:off x="1447800" y="2212975"/>
            <a:ext cx="1671638" cy="523875"/>
            <a:chOff x="0" y="0"/>
            <a:chExt cx="1053" cy="330"/>
          </a:xfrm>
        </p:grpSpPr>
        <p:sp>
          <p:nvSpPr>
            <p:cNvPr id="18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3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①</a:t>
              </a: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19" name="Object 6"/>
            <p:cNvGraphicFramePr>
              <a:graphicFrameLocks noChangeAspect="1"/>
            </p:cNvGraphicFramePr>
            <p:nvPr/>
          </p:nvGraphicFramePr>
          <p:xfrm>
            <a:off x="384" y="87"/>
            <a:ext cx="669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444500" imgH="165100" progId="Equation.DSMT4">
                    <p:embed/>
                  </p:oleObj>
                </mc:Choice>
                <mc:Fallback>
                  <p:oleObj r:id="rId2" imgW="444500" imgH="1651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87"/>
                          <a:ext cx="669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Text Box 6"/>
          <p:cNvSpPr txBox="1">
            <a:spLocks noChangeArrowheads="1"/>
          </p:cNvSpPr>
          <p:nvPr/>
        </p:nvSpPr>
        <p:spPr bwMode="auto">
          <a:xfrm>
            <a:off x="4419600" y="2212975"/>
            <a:ext cx="1695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前提引入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22" name="Group 7"/>
          <p:cNvGrpSpPr/>
          <p:nvPr/>
        </p:nvGrpSpPr>
        <p:grpSpPr bwMode="auto">
          <a:xfrm>
            <a:off x="1447800" y="2898775"/>
            <a:ext cx="1600200" cy="520700"/>
            <a:chOff x="0" y="0"/>
            <a:chExt cx="1008" cy="328"/>
          </a:xfrm>
        </p:grpSpPr>
        <p:sp>
          <p:nvSpPr>
            <p:cNvPr id="23" name="Text Box 8"/>
            <p:cNvSpPr txBox="1">
              <a:spLocks noChangeArrowheads="1"/>
            </p:cNvSpPr>
            <p:nvPr/>
          </p:nvSpPr>
          <p:spPr bwMode="auto">
            <a:xfrm>
              <a:off x="0" y="0"/>
              <a:ext cx="3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②</a:t>
              </a: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24" name="Object 10"/>
            <p:cNvGraphicFramePr>
              <a:graphicFrameLocks noChangeAspect="1"/>
            </p:cNvGraphicFramePr>
            <p:nvPr/>
          </p:nvGraphicFramePr>
          <p:xfrm>
            <a:off x="399" y="87"/>
            <a:ext cx="609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406400" imgH="165100" progId="Equation.DSMT4">
                    <p:embed/>
                  </p:oleObj>
                </mc:Choice>
                <mc:Fallback>
                  <p:oleObj r:id="rId4" imgW="406400" imgH="1651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" y="87"/>
                          <a:ext cx="609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Text Box 10"/>
          <p:cNvSpPr txBox="1">
            <a:spLocks noChangeArrowheads="1"/>
          </p:cNvSpPr>
          <p:nvPr/>
        </p:nvSpPr>
        <p:spPr bwMode="auto">
          <a:xfrm>
            <a:off x="4419600" y="2898775"/>
            <a:ext cx="2051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/>
              <a:t>①</a:t>
            </a:r>
            <a:r>
              <a:rPr lang="zh-CN" altLang="en-US" sz="2800"/>
              <a:t>置换规则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27" name="Group 11"/>
          <p:cNvGrpSpPr/>
          <p:nvPr/>
        </p:nvGrpSpPr>
        <p:grpSpPr bwMode="auto">
          <a:xfrm>
            <a:off x="1447800" y="3584575"/>
            <a:ext cx="914400" cy="519113"/>
            <a:chOff x="0" y="0"/>
            <a:chExt cx="576" cy="327"/>
          </a:xfrm>
        </p:grpSpPr>
        <p:sp>
          <p:nvSpPr>
            <p:cNvPr id="28" name="Text Box 12"/>
            <p:cNvSpPr txBox="1">
              <a:spLocks noChangeArrowheads="1"/>
            </p:cNvSpPr>
            <p:nvPr/>
          </p:nvSpPr>
          <p:spPr bwMode="auto">
            <a:xfrm>
              <a:off x="0" y="0"/>
              <a:ext cx="3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③</a:t>
              </a: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29" name="Object 14"/>
            <p:cNvGraphicFramePr>
              <a:graphicFrameLocks noChangeAspect="1"/>
            </p:cNvGraphicFramePr>
            <p:nvPr/>
          </p:nvGraphicFramePr>
          <p:xfrm>
            <a:off x="406" y="87"/>
            <a:ext cx="170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14300" imgH="127000" progId="Equation.DSMT4">
                    <p:embed/>
                  </p:oleObj>
                </mc:Choice>
                <mc:Fallback>
                  <p:oleObj r:id="rId6" imgW="114300" imgH="1270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" y="87"/>
                          <a:ext cx="170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" name="Text Box 14"/>
          <p:cNvSpPr txBox="1">
            <a:spLocks noChangeArrowheads="1"/>
          </p:cNvSpPr>
          <p:nvPr/>
        </p:nvSpPr>
        <p:spPr bwMode="auto">
          <a:xfrm>
            <a:off x="4419600" y="3584575"/>
            <a:ext cx="1695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前提引入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32" name="Group 15"/>
          <p:cNvGrpSpPr/>
          <p:nvPr/>
        </p:nvGrpSpPr>
        <p:grpSpPr bwMode="auto">
          <a:xfrm>
            <a:off x="1447800" y="4270375"/>
            <a:ext cx="914400" cy="519113"/>
            <a:chOff x="0" y="0"/>
            <a:chExt cx="576" cy="327"/>
          </a:xfrm>
        </p:grpSpPr>
        <p:sp>
          <p:nvSpPr>
            <p:cNvPr id="33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3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④</a:t>
              </a: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34" name="Object 18"/>
            <p:cNvGraphicFramePr>
              <a:graphicFrameLocks noChangeAspect="1"/>
            </p:cNvGraphicFramePr>
            <p:nvPr/>
          </p:nvGraphicFramePr>
          <p:xfrm>
            <a:off x="390" y="84"/>
            <a:ext cx="186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27000" imgH="165100" progId="Equation.DSMT4">
                    <p:embed/>
                  </p:oleObj>
                </mc:Choice>
                <mc:Fallback>
                  <p:oleObj r:id="rId8" imgW="127000" imgH="16510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" y="84"/>
                          <a:ext cx="186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" name="Text Box 18"/>
          <p:cNvSpPr txBox="1">
            <a:spLocks noChangeArrowheads="1"/>
          </p:cNvSpPr>
          <p:nvPr/>
        </p:nvSpPr>
        <p:spPr bwMode="auto">
          <a:xfrm>
            <a:off x="4419600" y="4270375"/>
            <a:ext cx="2406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/>
              <a:t>②③</a:t>
            </a:r>
            <a:r>
              <a:rPr lang="zh-CN" altLang="en-US" sz="2800"/>
              <a:t>假言推理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37" name="Group 19"/>
          <p:cNvGrpSpPr/>
          <p:nvPr/>
        </p:nvGrpSpPr>
        <p:grpSpPr bwMode="auto">
          <a:xfrm>
            <a:off x="1447800" y="4956175"/>
            <a:ext cx="1905000" cy="519113"/>
            <a:chOff x="0" y="0"/>
            <a:chExt cx="1200" cy="327"/>
          </a:xfrm>
        </p:grpSpPr>
        <p:sp>
          <p:nvSpPr>
            <p:cNvPr id="38" name="Text Box 20"/>
            <p:cNvSpPr txBox="1">
              <a:spLocks noChangeArrowheads="1"/>
            </p:cNvSpPr>
            <p:nvPr/>
          </p:nvSpPr>
          <p:spPr bwMode="auto">
            <a:xfrm>
              <a:off x="0" y="0"/>
              <a:ext cx="3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⑤</a:t>
              </a: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39" name="Object 22"/>
            <p:cNvGraphicFramePr>
              <a:graphicFrameLocks noChangeAspect="1"/>
            </p:cNvGraphicFramePr>
            <p:nvPr/>
          </p:nvGraphicFramePr>
          <p:xfrm>
            <a:off x="357" y="39"/>
            <a:ext cx="843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546100" imgH="165100" progId="Equation.DSMT4">
                    <p:embed/>
                  </p:oleObj>
                </mc:Choice>
                <mc:Fallback>
                  <p:oleObj r:id="rId10" imgW="546100" imgH="16510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" y="39"/>
                          <a:ext cx="843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" name="Text Box 22"/>
          <p:cNvSpPr txBox="1">
            <a:spLocks noChangeArrowheads="1"/>
          </p:cNvSpPr>
          <p:nvPr/>
        </p:nvSpPr>
        <p:spPr bwMode="auto">
          <a:xfrm>
            <a:off x="4419600" y="4956175"/>
            <a:ext cx="1695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前提引入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42" name="Group 23"/>
          <p:cNvGrpSpPr/>
          <p:nvPr/>
        </p:nvGrpSpPr>
        <p:grpSpPr bwMode="auto">
          <a:xfrm>
            <a:off x="1447800" y="5718175"/>
            <a:ext cx="1185863" cy="519113"/>
            <a:chOff x="0" y="0"/>
            <a:chExt cx="747" cy="327"/>
          </a:xfrm>
        </p:grpSpPr>
        <p:sp>
          <p:nvSpPr>
            <p:cNvPr id="43" name="Text Box 24"/>
            <p:cNvSpPr txBox="1">
              <a:spLocks noChangeArrowheads="1"/>
            </p:cNvSpPr>
            <p:nvPr/>
          </p:nvSpPr>
          <p:spPr bwMode="auto">
            <a:xfrm>
              <a:off x="0" y="0"/>
              <a:ext cx="3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⑥</a:t>
              </a: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44" name="Object 26"/>
            <p:cNvGraphicFramePr>
              <a:graphicFrameLocks noChangeAspect="1"/>
            </p:cNvGraphicFramePr>
            <p:nvPr/>
          </p:nvGraphicFramePr>
          <p:xfrm>
            <a:off x="384" y="48"/>
            <a:ext cx="363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241300" imgH="165100" progId="Equation.DSMT4">
                    <p:embed/>
                  </p:oleObj>
                </mc:Choice>
                <mc:Fallback>
                  <p:oleObj r:id="rId12" imgW="241300" imgH="16510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48"/>
                          <a:ext cx="363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6" name="Text Box 26"/>
          <p:cNvSpPr txBox="1">
            <a:spLocks noChangeArrowheads="1"/>
          </p:cNvSpPr>
          <p:nvPr/>
        </p:nvSpPr>
        <p:spPr bwMode="auto">
          <a:xfrm>
            <a:off x="4419600" y="5641975"/>
            <a:ext cx="2051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/>
              <a:t>④⑤</a:t>
            </a:r>
            <a:r>
              <a:rPr lang="zh-CN" altLang="en-US" sz="2800"/>
              <a:t>拒取式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47" name="Group 27"/>
          <p:cNvGrpSpPr/>
          <p:nvPr/>
        </p:nvGrpSpPr>
        <p:grpSpPr bwMode="auto">
          <a:xfrm>
            <a:off x="457200" y="1527175"/>
            <a:ext cx="3886200" cy="519113"/>
            <a:chOff x="0" y="0"/>
            <a:chExt cx="2448" cy="327"/>
          </a:xfrm>
        </p:grpSpPr>
        <p:sp>
          <p:nvSpPr>
            <p:cNvPr id="48" name="Text Box 28"/>
            <p:cNvSpPr txBox="1">
              <a:spLocks noChangeArrowheads="1"/>
            </p:cNvSpPr>
            <p:nvPr/>
          </p:nvSpPr>
          <p:spPr bwMode="auto">
            <a:xfrm>
              <a:off x="0" y="0"/>
              <a:ext cx="8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/>
                <a:t>前提：</a:t>
              </a:r>
              <a:r>
                <a:rPr lang="zh-CN" altLang="en-US" sz="280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49" name="Object 30"/>
            <p:cNvGraphicFramePr>
              <a:graphicFrameLocks noChangeAspect="1"/>
            </p:cNvGraphicFramePr>
            <p:nvPr/>
          </p:nvGraphicFramePr>
          <p:xfrm>
            <a:off x="624" y="68"/>
            <a:ext cx="1824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1130300" imgH="165100" progId="Equation.DSMT4">
                    <p:embed/>
                  </p:oleObj>
                </mc:Choice>
                <mc:Fallback>
                  <p:oleObj r:id="rId14" imgW="1130300" imgH="16510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68"/>
                          <a:ext cx="1824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" name="Group 30"/>
          <p:cNvGrpSpPr/>
          <p:nvPr/>
        </p:nvGrpSpPr>
        <p:grpSpPr bwMode="auto">
          <a:xfrm>
            <a:off x="4572000" y="1603375"/>
            <a:ext cx="1566863" cy="519113"/>
            <a:chOff x="0" y="0"/>
            <a:chExt cx="987" cy="327"/>
          </a:xfrm>
        </p:grpSpPr>
        <p:sp>
          <p:nvSpPr>
            <p:cNvPr id="52" name="Text Box 31"/>
            <p:cNvSpPr txBox="1">
              <a:spLocks noChangeArrowheads="1"/>
            </p:cNvSpPr>
            <p:nvPr/>
          </p:nvSpPr>
          <p:spPr bwMode="auto">
            <a:xfrm>
              <a:off x="0" y="0"/>
              <a:ext cx="8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/>
                <a:t>结论：</a:t>
              </a:r>
              <a:r>
                <a:rPr lang="zh-CN" altLang="en-US" sz="280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53" name="Object 33"/>
            <p:cNvGraphicFramePr>
              <a:graphicFrameLocks noChangeAspect="1"/>
            </p:cNvGraphicFramePr>
            <p:nvPr/>
          </p:nvGraphicFramePr>
          <p:xfrm>
            <a:off x="624" y="48"/>
            <a:ext cx="363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241300" imgH="165100" progId="Equation.DSMT4">
                    <p:embed/>
                  </p:oleObj>
                </mc:Choice>
                <mc:Fallback>
                  <p:oleObj r:id="rId16" imgW="241300" imgH="16510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48"/>
                          <a:ext cx="363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1" grpId="0" build="p" advAuto="0"/>
      <p:bldP spid="26" grpId="0" build="p" advAuto="0"/>
      <p:bldP spid="31" grpId="0" build="p" advAuto="0"/>
      <p:bldP spid="36" grpId="0" build="p" advAuto="0"/>
      <p:bldP spid="41" grpId="0" build="p" advAuto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0DE03F0-53A3-47CD-B7E5-D67745A015BD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47800"/>
            <a:ext cx="9145588" cy="4725988"/>
          </a:xfrm>
        </p:spPr>
        <p:txBody>
          <a:bodyPr/>
          <a:lstStyle/>
          <a:p>
            <a:pPr algn="just"/>
            <a:r>
              <a:rPr lang="en-US" altLang="zh-CN" dirty="0">
                <a:ea typeface="宋体" panose="02010600030101010101" pitchFamily="2" charset="-122"/>
              </a:rPr>
              <a:t>2.前提： (a) </a:t>
            </a:r>
            <a:r>
              <a:rPr lang="en-US" altLang="zh-CN" dirty="0" err="1">
                <a:ea typeface="宋体" panose="02010600030101010101" pitchFamily="2" charset="-122"/>
              </a:rPr>
              <a:t>今天是晴天还是雨天</a:t>
            </a:r>
            <a:r>
              <a:rPr lang="en-US" altLang="zh-CN" dirty="0">
                <a:ea typeface="宋体" panose="02010600030101010101" pitchFamily="2" charset="-122"/>
              </a:rPr>
              <a:t>。 (b) </a:t>
            </a:r>
            <a:r>
              <a:rPr lang="en-US" altLang="zh-CN" dirty="0" err="1">
                <a:ea typeface="宋体" panose="02010600030101010101" pitchFamily="2" charset="-122"/>
              </a:rPr>
              <a:t>如果是晴天，我就去看电影</a:t>
            </a:r>
            <a:r>
              <a:rPr lang="en-US" altLang="zh-CN" dirty="0">
                <a:ea typeface="宋体" panose="02010600030101010101" pitchFamily="2" charset="-122"/>
              </a:rPr>
              <a:t>。(c) </a:t>
            </a:r>
            <a:r>
              <a:rPr lang="en-US" altLang="zh-CN" dirty="0" err="1">
                <a:ea typeface="宋体" panose="02010600030101010101" pitchFamily="2" charset="-122"/>
              </a:rPr>
              <a:t>如果我去看电影，我就不看书。结论：如果我看书，天气就会下雨。请给出推理过程并解释原因</a:t>
            </a:r>
            <a:r>
              <a:rPr lang="en-US" altLang="zh-CN" dirty="0">
                <a:ea typeface="宋体" panose="02010600030101010101" pitchFamily="2" charset="-122"/>
              </a:rPr>
              <a:t>。</a:t>
            </a:r>
            <a:endParaRPr lang="zh-CN" altLang="zh-CN" dirty="0">
              <a:ea typeface="宋体" panose="02010600030101010101" pitchFamily="2" charset="-122"/>
            </a:endParaRPr>
          </a:p>
          <a:p>
            <a:pPr algn="just">
              <a:buFont typeface="Wingdings" panose="05000000000000000000" pitchFamily="2" charset="2"/>
              <a:buNone/>
            </a:pPr>
            <a:endParaRPr lang="zh-CN" alt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50844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07F3C196-62A3-4C00-9BD5-C09D81675E0F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8294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829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47800"/>
            <a:ext cx="9145588" cy="4725988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3.利用推理从前提得出结论。</a:t>
            </a:r>
            <a:endParaRPr lang="zh-CN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ea typeface="宋体" panose="02010600030101010101" pitchFamily="2" charset="-122"/>
              </a:rPr>
              <a:t>如果学生主修</a:t>
            </a:r>
            <a:r>
              <a:rPr lang="en-US" altLang="zh-CN" dirty="0">
                <a:ea typeface="宋体" panose="02010600030101010101" pitchFamily="2" charset="-122"/>
              </a:rPr>
              <a:t> CS </a:t>
            </a:r>
            <a:r>
              <a:rPr lang="en-US" altLang="zh-CN" dirty="0" err="1">
                <a:ea typeface="宋体" panose="02010600030101010101" pitchFamily="2" charset="-122"/>
              </a:rPr>
              <a:t>或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ea typeface="宋体" panose="02010600030101010101" pitchFamily="2" charset="-122"/>
              </a:rPr>
              <a:t>SE，那么他就会学习</a:t>
            </a:r>
            <a:r>
              <a:rPr lang="en-US" altLang="zh-CN" dirty="0">
                <a:ea typeface="宋体" panose="02010600030101010101" pitchFamily="2" charset="-122"/>
              </a:rPr>
              <a:t> Java </a:t>
            </a:r>
            <a:r>
              <a:rPr lang="en-US" altLang="zh-CN" dirty="0" err="1">
                <a:ea typeface="宋体" panose="02010600030101010101" pitchFamily="2" charset="-122"/>
              </a:rPr>
              <a:t>和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ea typeface="宋体" panose="02010600030101010101" pitchFamily="2" charset="-122"/>
              </a:rPr>
              <a:t>C。因此，如果学生主修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ea typeface="宋体" panose="02010600030101010101" pitchFamily="2" charset="-122"/>
              </a:rPr>
              <a:t>SE，那么他就会编码</a:t>
            </a:r>
            <a:r>
              <a:rPr lang="en-US" altLang="zh-CN" dirty="0">
                <a:ea typeface="宋体" panose="02010600030101010101" pitchFamily="2" charset="-122"/>
              </a:rPr>
              <a:t>。</a:t>
            </a:r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164A3A7-870E-4C91-B016-30F2C38807F2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38916" name="Group 3"/>
          <p:cNvGrpSpPr/>
          <p:nvPr/>
        </p:nvGrpSpPr>
        <p:grpSpPr bwMode="auto">
          <a:xfrm>
            <a:off x="1981200" y="2819400"/>
            <a:ext cx="5029200" cy="2438400"/>
            <a:chOff x="0" y="0"/>
            <a:chExt cx="1889" cy="1009"/>
          </a:xfrm>
        </p:grpSpPr>
        <p:grpSp>
          <p:nvGrpSpPr>
            <p:cNvPr id="38918" name="Group 4"/>
            <p:cNvGrpSpPr/>
            <p:nvPr/>
          </p:nvGrpSpPr>
          <p:grpSpPr bwMode="auto">
            <a:xfrm>
              <a:off x="0" y="90"/>
              <a:ext cx="1889" cy="919"/>
              <a:chOff x="0" y="0"/>
              <a:chExt cx="1926" cy="937"/>
            </a:xfrm>
          </p:grpSpPr>
          <p:sp>
            <p:nvSpPr>
              <p:cNvPr id="38923" name="Oval 5"/>
              <p:cNvSpPr>
                <a:spLocks noChangeArrowheads="1"/>
              </p:cNvSpPr>
              <p:nvPr/>
            </p:nvSpPr>
            <p:spPr bwMode="auto">
              <a:xfrm>
                <a:off x="21" y="3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4A4A7C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8924" name="Oval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rgbClr val="D2D2FF"/>
                  </a:gs>
                  <a:gs pos="100000">
                    <a:schemeClr val="hlink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</p:grpSp>
        <p:sp>
          <p:nvSpPr>
            <p:cNvPr id="38919" name="Oval 7"/>
            <p:cNvSpPr>
              <a:spLocks noChangeArrowheads="1"/>
            </p:cNvSpPr>
            <p:nvPr/>
          </p:nvSpPr>
          <p:spPr bwMode="auto">
            <a:xfrm>
              <a:off x="89" y="0"/>
              <a:ext cx="1691" cy="845"/>
            </a:xfrm>
            <a:prstGeom prst="ellipse">
              <a:avLst/>
            </a:prstGeom>
            <a:gradFill rotWithShape="1">
              <a:gsLst>
                <a:gs pos="0">
                  <a:srgbClr val="37556B"/>
                </a:gs>
                <a:gs pos="100000">
                  <a:schemeClr val="accent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8920" name="Oval 8"/>
            <p:cNvSpPr>
              <a:spLocks noChangeArrowheads="1"/>
            </p:cNvSpPr>
            <p:nvPr/>
          </p:nvSpPr>
          <p:spPr bwMode="auto">
            <a:xfrm>
              <a:off x="111" y="5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rgbClr val="D0E6F7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8921" name="Oval 9"/>
            <p:cNvSpPr>
              <a:spLocks noChangeArrowheads="1"/>
            </p:cNvSpPr>
            <p:nvPr/>
          </p:nvSpPr>
          <p:spPr bwMode="auto">
            <a:xfrm>
              <a:off x="128" y="13"/>
              <a:ext cx="1570" cy="770"/>
            </a:xfrm>
            <a:prstGeom prst="ellipse">
              <a:avLst/>
            </a:prstGeom>
            <a:gradFill rotWithShape="1">
              <a:gsLst>
                <a:gs pos="0">
                  <a:srgbClr val="5E91B7"/>
                </a:gs>
                <a:gs pos="100000">
                  <a:schemeClr val="accent1">
                    <a:alpha val="48000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8922" name="Oval 10"/>
            <p:cNvSpPr>
              <a:spLocks noChangeArrowheads="1"/>
            </p:cNvSpPr>
            <p:nvPr/>
          </p:nvSpPr>
          <p:spPr bwMode="auto">
            <a:xfrm>
              <a:off x="211" y="30"/>
              <a:ext cx="1382" cy="62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1">
                    <a:alpha val="37999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38917" name="Rectangle 11"/>
          <p:cNvSpPr>
            <a:spLocks noGrp="1" noChangeArrowheads="1"/>
          </p:cNvSpPr>
          <p:nvPr>
            <p:ph type="body" idx="4294967295"/>
          </p:nvPr>
        </p:nvSpPr>
        <p:spPr>
          <a:xfrm>
            <a:off x="2209800" y="3505200"/>
            <a:ext cx="4572000" cy="685800"/>
          </a:xfrm>
        </p:spPr>
        <p:txBody>
          <a:bodyPr/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ym typeface="+mn-ea"/>
              </a:rPr>
              <a:t>量词陈述的推理规则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BD099EA-0C57-49B4-A1B9-48650E71B5C2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量词的所有推理规则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981200"/>
            <a:ext cx="7696200" cy="4267200"/>
          </a:xfrm>
        </p:spPr>
        <p:txBody>
          <a:bodyPr/>
          <a:lstStyle/>
          <a:p>
            <a:pPr eaLnBrk="1" hangingPunct="1">
              <a:tabLst>
                <a:tab pos="2054225" algn="l"/>
              </a:tabLst>
            </a:pP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x P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b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P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o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 	（用任何对象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o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代替）</a:t>
            </a:r>
          </a:p>
          <a:p>
            <a:pPr eaLnBrk="1" hangingPunct="1">
              <a:tabLst>
                <a:tab pos="2054225" algn="l"/>
              </a:tabLst>
            </a:pPr>
            <a:r>
              <a:rPr lang="en-US" altLang="zh-CN" i="1">
                <a:ea typeface="宋体" panose="02010600030101010101" pitchFamily="2" charset="-122"/>
              </a:rPr>
              <a:t>P</a:t>
            </a:r>
            <a:r>
              <a:rPr lang="en-US" altLang="zh-CN">
                <a:ea typeface="宋体" panose="02010600030101010101" pitchFamily="2" charset="-122"/>
              </a:rPr>
              <a:t>(</a:t>
            </a:r>
            <a:r>
              <a:rPr lang="en-US" altLang="zh-CN" i="1">
                <a:ea typeface="宋体" panose="02010600030101010101" pitchFamily="2" charset="-122"/>
              </a:rPr>
              <a:t>g</a:t>
            </a:r>
            <a:r>
              <a:rPr lang="en-US" altLang="zh-CN">
                <a:ea typeface="宋体" panose="02010600030101010101" pitchFamily="2" charset="-122"/>
              </a:rPr>
              <a:t>) 	（</a:t>
            </a:r>
            <a:r>
              <a:rPr lang="en-US" altLang="zh-CN" i="1">
                <a:ea typeface="宋体" panose="02010600030101010101" pitchFamily="2" charset="-122"/>
              </a:rPr>
              <a:t>g </a:t>
            </a:r>
            <a:r>
              <a:rPr lang="en-US" altLang="zh-CN">
                <a:ea typeface="宋体" panose="02010600030101010101" pitchFamily="2" charset="-122"/>
              </a:rPr>
              <a:t>为</a:t>
            </a:r>
            <a:r>
              <a:rPr lang="en-US" altLang="zh-CN" i="1">
                <a:ea typeface="宋体" panose="02010600030101010101" pitchFamily="2" charset="-122"/>
              </a:rPr>
              <a:t>任意</a:t>
            </a:r>
            <a:r>
              <a:rPr lang="en-US" altLang="zh-CN">
                <a:ea typeface="宋体" panose="02010600030101010101" pitchFamily="2" charset="-122"/>
              </a:rPr>
              <a:t>元素）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x P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eaLnBrk="1" hangingPunct="1">
              <a:tabLst>
                <a:tab pos="2054225" algn="l"/>
              </a:tabLst>
            </a:pP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x P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b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P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 	（代入一个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新常数 c）</a:t>
            </a:r>
          </a:p>
          <a:p>
            <a:pPr eaLnBrk="1" hangingPunct="1">
              <a:tabLst>
                <a:tab pos="2054225" algn="l"/>
              </a:tabLst>
            </a:pP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o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 	（对于任何对象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o） </a:t>
            </a:r>
            <a:b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x P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39941" name="Line 4"/>
          <p:cNvSpPr>
            <a:spLocks noChangeShapeType="1"/>
          </p:cNvSpPr>
          <p:nvPr/>
        </p:nvSpPr>
        <p:spPr bwMode="auto">
          <a:xfrm>
            <a:off x="1066800" y="25908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2" name="Line 5"/>
          <p:cNvSpPr>
            <a:spLocks noChangeShapeType="1"/>
          </p:cNvSpPr>
          <p:nvPr/>
        </p:nvSpPr>
        <p:spPr bwMode="auto">
          <a:xfrm>
            <a:off x="1066800" y="36576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3" name="Line 6"/>
          <p:cNvSpPr>
            <a:spLocks noChangeShapeType="1"/>
          </p:cNvSpPr>
          <p:nvPr/>
        </p:nvSpPr>
        <p:spPr bwMode="auto">
          <a:xfrm>
            <a:off x="1143000" y="47244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4" name="Line 7"/>
          <p:cNvSpPr>
            <a:spLocks noChangeShapeType="1"/>
          </p:cNvSpPr>
          <p:nvPr/>
        </p:nvSpPr>
        <p:spPr bwMode="auto">
          <a:xfrm>
            <a:off x="1066800" y="5791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5" name="WordArt 8"/>
          <p:cNvSpPr>
            <a:spLocks noChangeArrowheads="1" noChangeShapeType="1" noTextEdit="1"/>
          </p:cNvSpPr>
          <p:nvPr/>
        </p:nvSpPr>
        <p:spPr bwMode="auto">
          <a:xfrm>
            <a:off x="2895600" y="2057400"/>
            <a:ext cx="4876800" cy="4572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2800" kern="10">
                <a:solidFill>
                  <a:srgbClr val="336699"/>
                </a:solidFill>
                <a:effectLst>
                  <a:outerShdw dist="45791" dir="2021404" algn="ctr" rotWithShape="0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通用实例化</a:t>
            </a:r>
            <a:endParaRPr lang="zh-CN" altLang="en-US" sz="2800" kern="10">
              <a:solidFill>
                <a:srgbClr val="336699"/>
              </a:solidFill>
              <a:effectLst>
                <a:outerShdw dist="45791" dir="2021404" algn="ctr" rotWithShape="0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46" name="WordArt 9"/>
          <p:cNvSpPr>
            <a:spLocks noChangeArrowheads="1" noChangeShapeType="1" noTextEdit="1"/>
          </p:cNvSpPr>
          <p:nvPr/>
        </p:nvSpPr>
        <p:spPr bwMode="auto">
          <a:xfrm>
            <a:off x="3048000" y="3505200"/>
            <a:ext cx="5029200" cy="5334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2800" kern="10">
                <a:solidFill>
                  <a:srgbClr val="336699"/>
                </a:solidFill>
                <a:effectLst>
                  <a:outerShdw dist="45791" dir="2021404" algn="ctr" rotWithShape="0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普遍推广</a:t>
            </a:r>
            <a:endParaRPr lang="zh-CN" altLang="en-US" sz="2800" kern="10">
              <a:solidFill>
                <a:srgbClr val="336699"/>
              </a:solidFill>
              <a:effectLst>
                <a:outerShdw dist="45791" dir="2021404" algn="ctr" rotWithShape="0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47" name="WordArt 10"/>
          <p:cNvSpPr>
            <a:spLocks noChangeArrowheads="1" noChangeShapeType="1" noTextEdit="1"/>
          </p:cNvSpPr>
          <p:nvPr/>
        </p:nvSpPr>
        <p:spPr bwMode="auto">
          <a:xfrm>
            <a:off x="2819400" y="4267200"/>
            <a:ext cx="5334000" cy="4572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2800" kern="10">
                <a:solidFill>
                  <a:srgbClr val="336699"/>
                </a:solidFill>
                <a:effectLst>
                  <a:outerShdw dist="45791" dir="2021404" algn="ctr" rotWithShape="0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存在的实例化</a:t>
            </a:r>
            <a:endParaRPr lang="zh-CN" altLang="en-US" sz="2800" kern="10">
              <a:solidFill>
                <a:srgbClr val="336699"/>
              </a:solidFill>
              <a:effectLst>
                <a:outerShdw dist="45791" dir="2021404" algn="ctr" rotWithShape="0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48" name="WordArt 11"/>
          <p:cNvSpPr>
            <a:spLocks noChangeArrowheads="1" noChangeShapeType="1" noTextEdit="1"/>
          </p:cNvSpPr>
          <p:nvPr/>
        </p:nvSpPr>
        <p:spPr bwMode="auto">
          <a:xfrm>
            <a:off x="3048000" y="5715000"/>
            <a:ext cx="5181600" cy="4572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2800" kern="10">
                <a:solidFill>
                  <a:srgbClr val="336699"/>
                </a:solidFill>
                <a:effectLst>
                  <a:outerShdw dist="45791" dir="2021404" algn="ctr" rotWithShape="0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存在性概括</a:t>
            </a:r>
            <a:endParaRPr lang="zh-CN" altLang="en-US" sz="2800" kern="10">
              <a:solidFill>
                <a:srgbClr val="336699"/>
              </a:solidFill>
              <a:effectLst>
                <a:outerShdw dist="45791" dir="2021404" algn="ctr" rotWithShape="0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9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9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88AA56E-983D-4FA3-AD6F-A0CDA56737FA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例 5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419225"/>
            <a:ext cx="9067676" cy="4879975"/>
          </a:xfrm>
        </p:spPr>
        <p:txBody>
          <a:bodyPr/>
          <a:lstStyle/>
          <a:p>
            <a:pPr eaLnBrk="1" hangingPunct="1"/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表示</a:t>
            </a:r>
            <a:r>
              <a:rPr lang="en-US" altLang="zh-CN" sz="2800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"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在这个离散数学</a:t>
            </a:r>
            <a:r>
              <a:rPr lang="en-US" altLang="zh-CN" sz="2800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类中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" </a:t>
            </a:r>
          </a:p>
          <a:p>
            <a:pPr eaLnBrk="1" hangingPunct="1"/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表示</a:t>
            </a:r>
            <a:r>
              <a:rPr lang="en-US" altLang="zh-CN" sz="2800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"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选修了计算机科学课程</a:t>
            </a:r>
            <a:r>
              <a:rPr lang="en-US" altLang="zh-CN" sz="2800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eaLnBrk="1" hangingPunct="1"/>
            <a:r>
              <a:rPr lang="en-US" altLang="zh-CN" sz="24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前提是 x (</a:t>
            </a:r>
            <a:r>
              <a:rPr lang="en-US" altLang="zh-CN" sz="24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lang="en-US" altLang="zh-CN" sz="24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→ </a:t>
            </a:r>
            <a:r>
              <a:rPr lang="en-US" altLang="zh-CN" sz="24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4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 和 </a:t>
            </a:r>
            <a:r>
              <a:rPr lang="en-US" altLang="zh-CN" sz="24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lang="en-US" altLang="zh-CN" sz="24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b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XiaoGang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</a:p>
          <a:p>
            <a:pPr eaLnBrk="1" hangingPunct="1"/>
            <a:r>
              <a:rPr lang="en-US" altLang="zh-CN" sz="28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x 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→ 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     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前提</a:t>
            </a:r>
            <a:endParaRPr lang="en-US" altLang="zh-CN" sz="2800" dirty="0">
              <a:solidFill>
                <a:srgbClr val="03071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lang="en-US" altLang="zh-CN" sz="24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b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XiaoGang</a:t>
            </a:r>
            <a:r>
              <a:rPr lang="en-US" altLang="zh-CN" sz="24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→ 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b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XiaoGang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普遍实例化</a:t>
            </a:r>
            <a:endParaRPr lang="en-US" altLang="zh-CN" sz="2400" dirty="0">
              <a:solidFill>
                <a:srgbClr val="03071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lang="en-US" altLang="zh-CN" sz="24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 sz="2400" b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小刚</a:t>
            </a:r>
            <a:r>
              <a:rPr lang="en-US" altLang="zh-CN" sz="24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）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前提</a:t>
            </a:r>
            <a:endParaRPr lang="en-US" altLang="zh-CN" sz="2400" b="1" dirty="0">
              <a:solidFill>
                <a:srgbClr val="03071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b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肖钢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 </a:t>
            </a:r>
            <a:r>
              <a:rPr lang="zh-CN" altLang="en-US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假言推理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9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9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9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9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9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9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9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9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1E182B21-F3A1-4474-8F80-CA73C6A1D649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例6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800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800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表示</a:t>
            </a:r>
            <a:r>
              <a:rPr lang="en-US" altLang="zh-CN" sz="2800" b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"</a:t>
            </a:r>
            <a:r>
              <a:rPr lang="en-US" altLang="zh-CN" sz="2800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属于该类</a:t>
            </a:r>
            <a:r>
              <a:rPr lang="en-US" altLang="zh-CN" sz="2800" b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endParaRPr lang="en-US" altLang="zh-CN" sz="2800" b="1">
              <a:solidFill>
                <a:srgbClr val="03071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800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800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表示</a:t>
            </a:r>
            <a:r>
              <a:rPr lang="en-US" altLang="zh-CN" sz="2800" b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"</a:t>
            </a:r>
            <a:r>
              <a:rPr lang="en-US" altLang="zh-CN" sz="2800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读过这本书</a:t>
            </a:r>
            <a:r>
              <a:rPr lang="en-US" altLang="zh-CN" sz="2800" b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sz="2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  <a:endParaRPr lang="en-US" altLang="zh-CN" sz="2800" b="1">
              <a:solidFill>
                <a:srgbClr val="03071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2800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800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表示</a:t>
            </a:r>
            <a:r>
              <a:rPr lang="en-US" altLang="zh-CN" sz="2800" b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"</a:t>
            </a:r>
            <a:r>
              <a:rPr lang="en-US" altLang="zh-CN" sz="2800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通过了第一次考试</a:t>
            </a:r>
            <a:r>
              <a:rPr lang="en-US" altLang="zh-CN" sz="2800" b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sz="2800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eaLnBrk="1" hangingPunct="1"/>
            <a:r>
              <a:rPr lang="en-US" altLang="zh-CN" sz="2800" b="1" i="1">
                <a:ea typeface="宋体" panose="02010600030101010101" pitchFamily="2" charset="-122"/>
                <a:sym typeface="Symbol" panose="05050102010706020507" pitchFamily="18" charset="2"/>
              </a:rPr>
              <a:t>前提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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 </a:t>
            </a:r>
          </a:p>
          <a:p>
            <a:pPr eaLnBrk="1" hangingPunct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       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→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</a:t>
            </a:r>
          </a:p>
          <a:p>
            <a:pPr eaLnBrk="1" hangingPunct="1"/>
            <a:endParaRPr lang="en-US" altLang="zh-CN">
              <a:solidFill>
                <a:srgbClr val="03071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b="1" i="1">
                <a:ea typeface="宋体" panose="02010600030101010101" pitchFamily="2" charset="-122"/>
                <a:sym typeface="Symbol" panose="05050102010706020507" pitchFamily="18" charset="2"/>
              </a:rPr>
              <a:t>结论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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 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6F01C53D-2DEC-4ADD-9F17-8BF457CF7F66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2" name="Rectangle 3"/>
          <p:cNvSpPr>
            <a:spLocks noGrp="1" noChangeArrowheads="1"/>
          </p:cNvSpPr>
          <p:nvPr/>
        </p:nvSpPr>
        <p:spPr>
          <a:xfrm>
            <a:off x="228600" y="1295400"/>
            <a:ext cx="8915400" cy="5257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1. </a:t>
            </a:r>
            <a:r>
              <a:rPr lang="en-US" altLang="zh-CN" sz="2800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           </a:t>
            </a:r>
            <a:r>
              <a:rPr lang="zh-CN" altLang="en-US" sz="2800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前提引入</a:t>
            </a:r>
            <a:endParaRPr lang="en-US" altLang="zh-CN">
              <a:solidFill>
                <a:srgbClr val="03071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2.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   </a:t>
            </a:r>
            <a:r>
              <a:rPr lang="zh-CN" altLang="en-US" sz="2800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存在实例化</a:t>
            </a:r>
            <a:r>
              <a:rPr lang="en-US" altLang="zh-CN" sz="2800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</a:p>
          <a:p>
            <a:pPr eaLnBrk="1" hangingPunct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3.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                 </a:t>
            </a:r>
            <a:r>
              <a:rPr lang="zh-CN" altLang="en-US" sz="2800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化简律</a:t>
            </a:r>
            <a:r>
              <a:rPr lang="en-US" altLang="zh-CN" sz="2800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2</a:t>
            </a:r>
          </a:p>
          <a:p>
            <a:pPr eaLnBrk="1" hangingPunct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4. </a:t>
            </a:r>
            <a:r>
              <a:rPr lang="en-US" altLang="zh-CN" sz="2800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→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         </a:t>
            </a:r>
            <a:r>
              <a:rPr lang="zh-CN" altLang="en-US" sz="2800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前提引入</a:t>
            </a:r>
            <a:endParaRPr lang="en-US" altLang="zh-CN" sz="2800" i="1">
              <a:solidFill>
                <a:srgbClr val="03071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5.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→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    </a:t>
            </a:r>
            <a:r>
              <a:rPr lang="zh-CN" altLang="en-US" sz="2800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全称实例化</a:t>
            </a:r>
            <a:r>
              <a:rPr lang="en-US" altLang="zh-CN" sz="2800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4</a:t>
            </a:r>
          </a:p>
          <a:p>
            <a:pPr eaLnBrk="1" hangingPunct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6.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                </a:t>
            </a:r>
            <a:r>
              <a:rPr lang="zh-CN" altLang="en-US" sz="2800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假言推理，引入步骤</a:t>
            </a:r>
            <a:r>
              <a:rPr lang="en-US" altLang="zh-CN" sz="2800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3 </a:t>
            </a:r>
            <a:r>
              <a:rPr lang="zh-CN" altLang="en-US" sz="2800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、</a:t>
            </a:r>
            <a:r>
              <a:rPr lang="en-US" altLang="zh-CN" sz="2800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5</a:t>
            </a:r>
          </a:p>
          <a:p>
            <a:pPr eaLnBrk="1" hangingPunct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7. 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            </a:t>
            </a:r>
            <a:r>
              <a:rPr lang="zh-CN" altLang="en-US" sz="2800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化简律</a:t>
            </a:r>
            <a:r>
              <a:rPr lang="en-US" altLang="zh-CN" sz="2800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2</a:t>
            </a:r>
          </a:p>
          <a:p>
            <a:pPr eaLnBrk="1" hangingPunct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8.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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  </a:t>
            </a:r>
            <a:r>
              <a:rPr lang="en-US" altLang="zh-CN" sz="2800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6 </a:t>
            </a:r>
            <a:r>
              <a:rPr lang="zh-CN" altLang="en-US" sz="2800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合取</a:t>
            </a:r>
            <a:r>
              <a:rPr lang="en-US" altLang="zh-CN" sz="2800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7</a:t>
            </a:r>
          </a:p>
          <a:p>
            <a:pPr eaLnBrk="1" hangingPunct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9. </a:t>
            </a:r>
            <a:r>
              <a:rPr lang="en-US" altLang="zh-CN" sz="2800" b="1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 </a:t>
            </a:r>
            <a:r>
              <a:rPr lang="en-US" altLang="zh-CN" sz="2500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500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存在概括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F9DF2CE9-4665-4352-9A3A-78641D7FFDE7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7578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47800"/>
            <a:ext cx="9145588" cy="4725988"/>
          </a:xfrm>
        </p:spPr>
        <p:txBody>
          <a:bodyPr/>
          <a:lstStyle/>
          <a:p>
            <a:r>
              <a:rPr lang="en-US" altLang="zh-CN" sz="2800" dirty="0">
                <a:ea typeface="宋体" panose="02010600030101010101" pitchFamily="2" charset="-122"/>
              </a:rPr>
              <a:t>4.</a:t>
            </a:r>
            <a:r>
              <a:rPr lang="zh-CN" altLang="en-US" sz="2800" dirty="0">
                <a:ea typeface="宋体" panose="02010600030101010101" pitchFamily="2" charset="-122"/>
              </a:rPr>
              <a:t>给出</a:t>
            </a:r>
            <a:r>
              <a:rPr lang="en-US" altLang="zh-CN" sz="2800" dirty="0">
                <a:ea typeface="宋体" panose="02010600030101010101" pitchFamily="2" charset="-122"/>
              </a:rPr>
              <a:t>以下谓词的推理。</a:t>
            </a:r>
          </a:p>
          <a:p>
            <a:endParaRPr lang="en-US" altLang="zh-CN" sz="2000" dirty="0">
              <a:ea typeface="宋体" panose="02010600030101010101" pitchFamily="2" charset="-122"/>
            </a:endParaRPr>
          </a:p>
        </p:txBody>
      </p:sp>
      <p:pic>
        <p:nvPicPr>
          <p:cNvPr id="75781" name="图片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57400"/>
            <a:ext cx="91440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12223ABB-78C5-4E12-A4C4-F2B7962F9134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52400" y="1371600"/>
                <a:ext cx="8990965" cy="274955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sz="3200" dirty="0">
                    <a:latin typeface="+mn-lt"/>
                    <a:sym typeface="+mn-ea"/>
                  </a:rPr>
                  <a:t>5.给定前提</a:t>
                </a:r>
                <a:r>
                  <a:rPr lang="zh-CN" altLang="en-US" sz="3200" dirty="0">
                    <a:latin typeface="+mn-lt"/>
                    <a:sym typeface="+mn-ea"/>
                  </a:rPr>
                  <a:t>，证明结论</a:t>
                </a:r>
              </a:p>
              <a:p>
                <a:pPr marL="342900" indent="-342900" algn="l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</a:pPr>
                <a:r>
                  <a:rPr lang="zh-CN" altLang="en-US" sz="3200" dirty="0">
                    <a:latin typeface="+mn-lt"/>
                    <a:sym typeface="+mn-ea"/>
                  </a:rPr>
                  <a:t>前提：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((∃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𝑥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)(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𝐹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(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𝑥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)∧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𝑆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(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𝑥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))→(∀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𝑦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)(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𝑀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(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𝑦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)→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𝑊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(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𝑦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))</m:t>
                    </m:r>
                  </m:oMath>
                </a14:m>
                <a:r>
                  <a:rPr lang="en-US" altLang="zh-CN" sz="3200" dirty="0">
                    <a:latin typeface="+mn-lt"/>
                    <a:sym typeface="+mn-ea"/>
                  </a:rPr>
                  <a:t>,  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(∃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𝑦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)(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𝑀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(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𝑦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)∧¬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𝑊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(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𝑦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))</m:t>
                    </m:r>
                  </m:oMath>
                </a14:m>
                <a:endParaRPr lang="en-US" altLang="zh-CN" sz="2800" dirty="0">
                  <a:latin typeface="+mn-lt"/>
                  <a:sym typeface="+mn-ea"/>
                </a:endParaRPr>
              </a:p>
              <a:p>
                <a:pPr marL="342900" indent="-342900" algn="just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</a:pPr>
                <a:r>
                  <a:rPr lang="en-US" altLang="zh-CN" sz="3200" dirty="0">
                    <a:latin typeface="+mn-lt"/>
                    <a:sym typeface="+mn-ea"/>
                  </a:rPr>
                  <a:t>结论</a:t>
                </a:r>
                <a:r>
                  <a:rPr lang="zh-CN" altLang="en-US" sz="3200" dirty="0">
                    <a:latin typeface="+mn-lt"/>
                    <a:sym typeface="+mn-ea"/>
                  </a:rPr>
                  <a:t>：</a:t>
                </a:r>
                <a:r>
                  <a:rPr lang="en-US" altLang="zh-CN" sz="3200" dirty="0">
                    <a:latin typeface="+mn-lt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(∀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𝑥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)(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𝐹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(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𝑥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)→¬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𝑆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(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𝑥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))</m:t>
                    </m:r>
                  </m:oMath>
                </a14:m>
                <a:endParaRPr lang="en-US" altLang="zh-CN" sz="2800" dirty="0">
                  <a:ea typeface="宋体" panose="02010600030101010101" pitchFamily="2" charset="-122"/>
                </a:endParaRPr>
              </a:p>
              <a:p>
                <a:endParaRPr lang="en-US" altLang="zh-CN" sz="3200" dirty="0">
                  <a:latin typeface="+mn-lt"/>
                  <a:sym typeface="+mn-ea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371600"/>
                <a:ext cx="8990965" cy="2749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96267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36CF90F9-F5C0-49EC-A720-3B49A4D3B5C3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7987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47800"/>
            <a:ext cx="9145588" cy="4725988"/>
          </a:xfrm>
        </p:spPr>
        <p:txBody>
          <a:bodyPr/>
          <a:lstStyle/>
          <a:p>
            <a:r>
              <a:rPr lang="en-US" altLang="zh-CN" sz="2800" dirty="0">
                <a:ea typeface="宋体" panose="02010600030101010101" pitchFamily="2" charset="-122"/>
              </a:rPr>
              <a:t> 6.利用推理从前提中得出结论。</a:t>
            </a:r>
            <a:endParaRPr lang="zh-CN" altLang="zh-CN" sz="2800" dirty="0">
              <a:ea typeface="宋体" panose="02010600030101010101" pitchFamily="2" charset="-122"/>
            </a:endParaRPr>
          </a:p>
          <a:p>
            <a:r>
              <a:rPr lang="en-US" altLang="zh-CN" sz="2800" dirty="0" err="1">
                <a:ea typeface="宋体" panose="02010600030101010101" pitchFamily="2" charset="-122"/>
              </a:rPr>
              <a:t>所有喜欢走路的人都不喜欢开车</a:t>
            </a:r>
            <a:r>
              <a:rPr lang="en-US" altLang="zh-CN" sz="2800" dirty="0">
                <a:ea typeface="宋体" panose="02010600030101010101" pitchFamily="2" charset="-122"/>
              </a:rPr>
              <a:t>。</a:t>
            </a:r>
          </a:p>
          <a:p>
            <a:r>
              <a:rPr lang="en-US" altLang="zh-CN" sz="2800" dirty="0" err="1">
                <a:ea typeface="宋体" panose="02010600030101010101" pitchFamily="2" charset="-122"/>
              </a:rPr>
              <a:t>每个人都喜欢开车或骑车。有些人不喜欢骑马</a:t>
            </a:r>
            <a:r>
              <a:rPr lang="en-US" altLang="zh-CN" sz="2800" dirty="0">
                <a:ea typeface="宋体" panose="02010600030101010101" pitchFamily="2" charset="-122"/>
              </a:rPr>
              <a:t>。 </a:t>
            </a:r>
          </a:p>
          <a:p>
            <a:r>
              <a:rPr lang="en-US" altLang="zh-CN" sz="2800" dirty="0" err="1">
                <a:ea typeface="宋体" panose="02010600030101010101" pitchFamily="2" charset="-122"/>
              </a:rPr>
              <a:t>因此，有些人不喜欢走路</a:t>
            </a:r>
            <a:r>
              <a:rPr lang="en-US" altLang="zh-CN" sz="2800" dirty="0">
                <a:ea typeface="宋体" panose="02010600030101010101" pitchFamily="2" charset="-122"/>
              </a:rPr>
              <a:t>。 </a:t>
            </a:r>
          </a:p>
          <a:p>
            <a:endParaRPr lang="en-US" altLang="zh-CN" sz="2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07F3C196-62A3-4C00-9BD5-C09D81675E0F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8294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829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47800"/>
            <a:ext cx="9145588" cy="4725988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7.利用推理从前提得出结论。</a:t>
            </a:r>
            <a:endParaRPr lang="zh-CN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ea typeface="宋体" panose="02010600030101010101" pitchFamily="2" charset="-122"/>
              </a:rPr>
              <a:t>如果学生主修</a:t>
            </a:r>
            <a:r>
              <a:rPr lang="en-US" altLang="zh-CN" dirty="0">
                <a:ea typeface="宋体" panose="02010600030101010101" pitchFamily="2" charset="-122"/>
              </a:rPr>
              <a:t> CS </a:t>
            </a:r>
            <a:r>
              <a:rPr lang="en-US" altLang="zh-CN" dirty="0" err="1">
                <a:ea typeface="宋体" panose="02010600030101010101" pitchFamily="2" charset="-122"/>
              </a:rPr>
              <a:t>或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ea typeface="宋体" panose="02010600030101010101" pitchFamily="2" charset="-122"/>
              </a:rPr>
              <a:t>SE，那么他就会学习</a:t>
            </a:r>
            <a:r>
              <a:rPr lang="en-US" altLang="zh-CN" dirty="0">
                <a:ea typeface="宋体" panose="02010600030101010101" pitchFamily="2" charset="-122"/>
              </a:rPr>
              <a:t> Java </a:t>
            </a:r>
            <a:r>
              <a:rPr lang="en-US" altLang="zh-CN" dirty="0" err="1">
                <a:ea typeface="宋体" panose="02010600030101010101" pitchFamily="2" charset="-122"/>
              </a:rPr>
              <a:t>和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ea typeface="宋体" panose="02010600030101010101" pitchFamily="2" charset="-122"/>
              </a:rPr>
              <a:t>C。因此，如果学生主修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ea typeface="宋体" panose="02010600030101010101" pitchFamily="2" charset="-122"/>
              </a:rPr>
              <a:t>SE，那么他就会编码</a:t>
            </a:r>
            <a:r>
              <a:rPr lang="en-US" altLang="zh-CN" dirty="0">
                <a:ea typeface="宋体" panose="02010600030101010101" pitchFamily="2" charset="-122"/>
              </a:rPr>
              <a:t>。</a:t>
            </a:r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26B5C9B9-90C4-4641-989B-52E1D473AB32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44036" name="Group 3"/>
          <p:cNvGrpSpPr/>
          <p:nvPr/>
        </p:nvGrpSpPr>
        <p:grpSpPr bwMode="auto">
          <a:xfrm>
            <a:off x="1981200" y="2819400"/>
            <a:ext cx="5029200" cy="2438400"/>
            <a:chOff x="0" y="0"/>
            <a:chExt cx="1889" cy="1009"/>
          </a:xfrm>
        </p:grpSpPr>
        <p:grpSp>
          <p:nvGrpSpPr>
            <p:cNvPr id="44038" name="Group 4"/>
            <p:cNvGrpSpPr/>
            <p:nvPr/>
          </p:nvGrpSpPr>
          <p:grpSpPr bwMode="auto">
            <a:xfrm>
              <a:off x="0" y="90"/>
              <a:ext cx="1889" cy="919"/>
              <a:chOff x="0" y="0"/>
              <a:chExt cx="1926" cy="937"/>
            </a:xfrm>
          </p:grpSpPr>
          <p:sp>
            <p:nvSpPr>
              <p:cNvPr id="44043" name="Oval 5"/>
              <p:cNvSpPr>
                <a:spLocks noChangeArrowheads="1"/>
              </p:cNvSpPr>
              <p:nvPr/>
            </p:nvSpPr>
            <p:spPr bwMode="auto">
              <a:xfrm>
                <a:off x="21" y="3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4A4A7C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4044" name="Oval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rgbClr val="D2D2FF"/>
                  </a:gs>
                  <a:gs pos="100000">
                    <a:schemeClr val="hlink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</p:grpSp>
        <p:sp>
          <p:nvSpPr>
            <p:cNvPr id="44039" name="Oval 7"/>
            <p:cNvSpPr>
              <a:spLocks noChangeArrowheads="1"/>
            </p:cNvSpPr>
            <p:nvPr/>
          </p:nvSpPr>
          <p:spPr bwMode="auto">
            <a:xfrm>
              <a:off x="89" y="0"/>
              <a:ext cx="1691" cy="845"/>
            </a:xfrm>
            <a:prstGeom prst="ellipse">
              <a:avLst/>
            </a:prstGeom>
            <a:gradFill rotWithShape="1">
              <a:gsLst>
                <a:gs pos="0">
                  <a:srgbClr val="37556B"/>
                </a:gs>
                <a:gs pos="100000">
                  <a:schemeClr val="accent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44040" name="Oval 8"/>
            <p:cNvSpPr>
              <a:spLocks noChangeArrowheads="1"/>
            </p:cNvSpPr>
            <p:nvPr/>
          </p:nvSpPr>
          <p:spPr bwMode="auto">
            <a:xfrm>
              <a:off x="111" y="5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rgbClr val="D0E6F7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44041" name="Oval 9"/>
            <p:cNvSpPr>
              <a:spLocks noChangeArrowheads="1"/>
            </p:cNvSpPr>
            <p:nvPr/>
          </p:nvSpPr>
          <p:spPr bwMode="auto">
            <a:xfrm>
              <a:off x="128" y="13"/>
              <a:ext cx="1570" cy="770"/>
            </a:xfrm>
            <a:prstGeom prst="ellipse">
              <a:avLst/>
            </a:prstGeom>
            <a:gradFill rotWithShape="1">
              <a:gsLst>
                <a:gs pos="0">
                  <a:srgbClr val="5E91B7"/>
                </a:gs>
                <a:gs pos="100000">
                  <a:schemeClr val="accent1">
                    <a:alpha val="48000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44042" name="Oval 10"/>
            <p:cNvSpPr>
              <a:spLocks noChangeArrowheads="1"/>
            </p:cNvSpPr>
            <p:nvPr/>
          </p:nvSpPr>
          <p:spPr bwMode="auto">
            <a:xfrm>
              <a:off x="211" y="30"/>
              <a:ext cx="1382" cy="62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1">
                    <a:alpha val="37999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44037" name="Rectangle 11"/>
          <p:cNvSpPr>
            <a:spLocks noGrp="1" noChangeArrowheads="1"/>
          </p:cNvSpPr>
          <p:nvPr>
            <p:ph type="body" idx="4294967295"/>
          </p:nvPr>
        </p:nvSpPr>
        <p:spPr>
          <a:xfrm>
            <a:off x="2209800" y="3505200"/>
            <a:ext cx="4572000" cy="685800"/>
          </a:xfrm>
        </p:spPr>
        <p:txBody>
          <a:bodyPr/>
          <a:lstStyle/>
          <a:p>
            <a:pPr algn="ctr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 sz="2400" b="1">
                <a:sym typeface="+mn-ea"/>
              </a:rPr>
              <a:t>定理</a:t>
            </a:r>
            <a:r>
              <a:rPr lang="zh-CN" altLang="en-US" sz="2400" b="1">
                <a:sym typeface="+mn-ea"/>
              </a:rPr>
              <a:t>的</a:t>
            </a:r>
            <a:r>
              <a:rPr lang="en-US" altLang="zh-CN" sz="2400" b="1">
                <a:sym typeface="+mn-ea"/>
              </a:rPr>
              <a:t>证明方法</a:t>
            </a:r>
            <a:endParaRPr lang="en-US" altLang="zh-CN" sz="2400" b="1"/>
          </a:p>
          <a:p>
            <a:pPr algn="ctr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endParaRPr lang="en-US" altLang="zh-CN" sz="2400" b="1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911F794-3714-4860-B669-1DB28506BAD9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含义的其他证明方法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19225"/>
            <a:ext cx="8458200" cy="48799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 err="1">
                <a:ea typeface="宋体" panose="02010600030101010101" pitchFamily="2" charset="-122"/>
              </a:rPr>
              <a:t>为了证明含意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 err="1">
                <a:ea typeface="宋体" panose="02010600030101010101" pitchFamily="2" charset="-122"/>
                <a:sym typeface="Symbol" panose="05050102010706020507" pitchFamily="18" charset="2"/>
              </a:rPr>
              <a:t>pq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我们有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：</a:t>
            </a:r>
          </a:p>
          <a:p>
            <a:pPr eaLnBrk="1" hangingPunct="1"/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</a:rPr>
              <a:t>直接证明：假设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p 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</a:rPr>
              <a:t>为真，证明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q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。</a:t>
            </a:r>
          </a:p>
          <a:p>
            <a:pPr eaLnBrk="1" hangingPunct="1"/>
            <a:r>
              <a:rPr lang="en-US" altLang="zh-CN" i="1" dirty="0" err="1">
                <a:solidFill>
                  <a:srgbClr val="030711"/>
                </a:solidFill>
                <a:ea typeface="宋体" panose="02010600030101010101" pitchFamily="2" charset="-122"/>
              </a:rPr>
              <a:t>间接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</a:rPr>
              <a:t>证明：假设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 </a:t>
            </a:r>
            <a:r>
              <a:rPr lang="en-US" altLang="zh-CN" i="1" dirty="0" err="1">
                <a:solidFill>
                  <a:srgbClr val="030711"/>
                </a:solidFill>
                <a:ea typeface="宋体" panose="02010600030101010101" pitchFamily="2" charset="-122"/>
              </a:rPr>
              <a:t>q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</a:rPr>
              <a:t>，证明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eaLnBrk="1" hangingPunct="1"/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空洞的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证明：证明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 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本身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eaLnBrk="1" hangingPunct="1"/>
            <a:r>
              <a:rPr lang="en-US" altLang="zh-CN" i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简单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证明：证明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本身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）。</a:t>
            </a:r>
          </a:p>
          <a:p>
            <a:pPr eaLnBrk="1" hangingPunct="1"/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用案例证明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： </a:t>
            </a:r>
            <a:b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证明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(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 </a:t>
            </a:r>
            <a:r>
              <a:rPr lang="en-US" altLang="zh-CN" i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，以及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(</a:t>
            </a:r>
            <a:r>
              <a:rPr lang="en-US" altLang="zh-CN" i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aq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和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(</a:t>
            </a:r>
            <a:r>
              <a:rPr lang="en-US" altLang="zh-CN" i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bq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5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5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50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50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55CB49C8-389D-4D88-9DB8-98AFD66ECD79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直接证明示例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19225"/>
            <a:ext cx="8534400" cy="48799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定义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对于某个整数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k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，如果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n=2k+1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则整数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n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为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奇数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；对于某个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k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，如果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n=2k 则 n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为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偶数。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定理：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（对于所有数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n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）如果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n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是奇整数，则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n</a:t>
            </a:r>
            <a:r>
              <a:rPr lang="en-US" altLang="zh-CN" baseline="30000">
                <a:solidFill>
                  <a:srgbClr val="030711"/>
                </a:solidFill>
                <a:ea typeface="宋体" panose="02010600030101010101" pitchFamily="2" charset="-122"/>
              </a:rPr>
              <a:t>2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 是奇整数。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证明： 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如果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n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是奇数，那么对于某个整数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k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，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n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= 2k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+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1。因此，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n</a:t>
            </a:r>
            <a:r>
              <a:rPr lang="en-US" altLang="zh-CN" baseline="30000">
                <a:solidFill>
                  <a:srgbClr val="030711"/>
                </a:solidFill>
                <a:ea typeface="宋体" panose="02010600030101010101" pitchFamily="2" charset="-122"/>
              </a:rPr>
              <a:t>2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 = 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2k+1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)</a:t>
            </a:r>
            <a:r>
              <a:rPr lang="en-US" altLang="zh-CN" baseline="30000">
                <a:solidFill>
                  <a:srgbClr val="030711"/>
                </a:solidFill>
                <a:ea typeface="宋体" panose="02010600030101010101" pitchFamily="2" charset="-122"/>
              </a:rPr>
              <a:t>2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 =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4k</a:t>
            </a:r>
            <a:r>
              <a:rPr lang="en-US" altLang="zh-CN" baseline="30000">
                <a:solidFill>
                  <a:srgbClr val="030711"/>
                </a:solidFill>
                <a:ea typeface="宋体" panose="02010600030101010101" pitchFamily="2" charset="-122"/>
              </a:rPr>
              <a:t>2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 +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4k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 + 1 = 2(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2k</a:t>
            </a:r>
            <a:r>
              <a:rPr lang="en-US" altLang="zh-CN" baseline="30000">
                <a:solidFill>
                  <a:srgbClr val="030711"/>
                </a:solidFill>
                <a:ea typeface="宋体" panose="02010600030101010101" pitchFamily="2" charset="-122"/>
              </a:rPr>
              <a:t>2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 +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2k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) + 1。  因此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n</a:t>
            </a:r>
            <a:r>
              <a:rPr lang="en-US" altLang="zh-CN" baseline="30000">
                <a:solidFill>
                  <a:srgbClr val="030711"/>
                </a:solidFill>
                <a:ea typeface="宋体" panose="02010600030101010101" pitchFamily="2" charset="-122"/>
              </a:rPr>
              <a:t>2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 是奇数。 </a:t>
            </a:r>
            <a:endParaRPr lang="en-US" altLang="zh-CN" b="1">
              <a:solidFill>
                <a:srgbClr val="03071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0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0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0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0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4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42CD401F-A271-4DA2-B133-401B3EE010A0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间接证明示例（微积分）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定理：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（对于所有整数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n） </a:t>
            </a:r>
            <a:b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</a:b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	若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3n+2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为奇数，则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n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为奇数。</a:t>
            </a:r>
          </a:p>
          <a:p>
            <a:pPr eaLnBrk="1" hangingPunct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证明 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假设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n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是偶数。  则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3n+2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= 3(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2k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)+2 =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6k+2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 = 2(3k+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1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)，为偶数（非奇数）。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2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3E5AB47C-6120-47CE-940A-DF629D48C8BE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空洞而琐碎的证明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419225"/>
            <a:ext cx="8458200" cy="4879975"/>
          </a:xfrm>
        </p:spPr>
        <p:txBody>
          <a:bodyPr/>
          <a:lstStyle/>
          <a:p>
            <a:pPr eaLnBrk="1" hangingPunct="1"/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 p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为假</a:t>
            </a:r>
          </a:p>
          <a:p>
            <a:pPr eaLnBrk="1" hangingPunct="1"/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 p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根据真值表为真</a:t>
            </a:r>
          </a:p>
          <a:p>
            <a:pPr eaLnBrk="1" hangingPunct="1"/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F  T 或 F  F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为真。</a:t>
            </a:r>
          </a:p>
          <a:p>
            <a:pPr eaLnBrk="1" hangingPunct="1"/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"p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是假的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被称为空洞的证明。</a:t>
            </a:r>
          </a:p>
          <a:p>
            <a:pPr eaLnBrk="1" hangingPunct="1"/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q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为真</a:t>
            </a:r>
          </a:p>
          <a:p>
            <a:pPr eaLnBrk="1" hangingPunct="1"/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p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根据真值表为真</a:t>
            </a:r>
          </a:p>
          <a:p>
            <a:pPr eaLnBrk="1" hangingPunct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F  T 或 T  T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为真。</a:t>
            </a:r>
          </a:p>
          <a:p>
            <a:pPr eaLnBrk="1" hangingPunct="1"/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"q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为真</a:t>
            </a:r>
            <a:r>
              <a:rPr lang="en-US" altLang="zh-CN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"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被称为三段论证明。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1B70EA4A-A9F1-461D-8E0A-B4524A9BC96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证明策略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例 7</a:t>
            </a:r>
          </a:p>
          <a:p>
            <a:pPr eaLnBrk="1" hangingPunct="1"/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证明两个有理数之和是有理数。</a:t>
            </a:r>
          </a:p>
          <a:p>
            <a:pPr eaLnBrk="1" hangingPunct="1"/>
            <a:endParaRPr lang="en-US" altLang="zh-CN">
              <a:solidFill>
                <a:srgbClr val="030711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例 8</a:t>
            </a:r>
          </a:p>
          <a:p>
            <a:pPr eaLnBrk="1" hangingPunct="1"/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证明如果 n 是整数且 n^2 是奇数，则 n 是奇数。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0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0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0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DFC6774C-DCA7-4DE7-A03C-83442889F566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矛盾证明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例 9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证明任何 22 天中至少有 4 天必须在一周的同一天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例 10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用矛盾证明法证明 sqrt(2) 是无理数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例 11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给出定理 "如果 3n+2 是奇数，那么 n 是奇数 "的矛盾证明。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2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4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6A2C617-EF46-4274-A72B-D0C86748FC09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案例证明</a:t>
            </a:r>
          </a:p>
        </p:txBody>
      </p:sp>
      <p:sp>
        <p:nvSpPr>
          <p:cNvPr id="5222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为了证明蕴涵的形式</a:t>
            </a:r>
          </a:p>
          <a:p>
            <a:pPr algn="l" eaLnBrk="1" hangingPunct="1"/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1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1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b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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1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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</a:p>
          <a:p>
            <a:pPr eaLnBrk="1" hangingPunct="1"/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同义反复</a:t>
            </a:r>
          </a:p>
          <a:p>
            <a:pPr algn="l" eaLnBrk="1" hangingPunct="1"/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[ (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1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1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b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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1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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]</a:t>
            </a:r>
          </a:p>
          <a:p>
            <a:pPr algn="l" eaLnBrk="1" hangingPunct="1"/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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[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1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1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b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1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]</a:t>
            </a:r>
          </a:p>
          <a:p>
            <a:pPr algn="l" eaLnBrk="1" hangingPunct="1"/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p</a:t>
            </a:r>
            <a:r>
              <a:rPr lang="en-US" altLang="zh-CN" sz="1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1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,</a:t>
            </a:r>
            <a:r>
              <a:rPr lang="en-US" altLang="zh-CN" b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1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可以通过证明 n 个</a:t>
            </a:r>
            <a:r>
              <a:rPr lang="zh-CN" altLang="en-US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蕴含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1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, i=1,</a:t>
            </a:r>
            <a:r>
              <a:rPr lang="en-US" altLang="zh-CN" i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,n 中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的每个</a:t>
            </a:r>
            <a:r>
              <a:rPr lang="zh-CN" altLang="en-US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蕴含成立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来证明</a:t>
            </a:r>
            <a:endParaRPr lang="en-US" altLang="zh-CN" i="1">
              <a:solidFill>
                <a:srgbClr val="03071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例 23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2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2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2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2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22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22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22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22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8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AA01F5A-9C15-4DCB-969B-20337B642B72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等价证明 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419225"/>
            <a:ext cx="8686800" cy="52101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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 [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]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例 12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当且仅当 n^2 是奇数时，整数 n 是奇数。</a:t>
            </a:r>
          </a:p>
          <a:p>
            <a:pPr eaLnBrk="1" hangingPunct="1">
              <a:lnSpc>
                <a:spcPct val="90000"/>
              </a:lnSpc>
            </a:pPr>
            <a:endParaRPr lang="en-US" altLang="zh-CN">
              <a:solidFill>
                <a:srgbClr val="03071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l" eaLnBrk="1" hangingPunct="1">
              <a:lnSpc>
                <a:spcPct val="90000"/>
              </a:lnSpc>
            </a:pP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p 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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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1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1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1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1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b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1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1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]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例 13 证明这些陈述是等价的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p1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 n 是偶数整数。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p2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 n-1 是奇整数。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p3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 n^2 是偶数整数。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32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32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32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32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32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32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2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1B3D5F6B-1194-45E8-B7F6-B5607CABDC38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54276" name="Group 3"/>
          <p:cNvGrpSpPr/>
          <p:nvPr/>
        </p:nvGrpSpPr>
        <p:grpSpPr bwMode="auto">
          <a:xfrm>
            <a:off x="1981200" y="2819400"/>
            <a:ext cx="5029200" cy="2438400"/>
            <a:chOff x="0" y="0"/>
            <a:chExt cx="1889" cy="1009"/>
          </a:xfrm>
        </p:grpSpPr>
        <p:grpSp>
          <p:nvGrpSpPr>
            <p:cNvPr id="54278" name="Group 4"/>
            <p:cNvGrpSpPr/>
            <p:nvPr/>
          </p:nvGrpSpPr>
          <p:grpSpPr bwMode="auto">
            <a:xfrm>
              <a:off x="0" y="90"/>
              <a:ext cx="1889" cy="919"/>
              <a:chOff x="0" y="0"/>
              <a:chExt cx="1926" cy="937"/>
            </a:xfrm>
          </p:grpSpPr>
          <p:sp>
            <p:nvSpPr>
              <p:cNvPr id="54283" name="Oval 5"/>
              <p:cNvSpPr>
                <a:spLocks noChangeArrowheads="1"/>
              </p:cNvSpPr>
              <p:nvPr/>
            </p:nvSpPr>
            <p:spPr bwMode="auto">
              <a:xfrm>
                <a:off x="21" y="3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4A4A7C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54284" name="Oval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rgbClr val="D2D2FF"/>
                  </a:gs>
                  <a:gs pos="100000">
                    <a:schemeClr val="hlink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</p:grpSp>
        <p:sp>
          <p:nvSpPr>
            <p:cNvPr id="54279" name="Oval 7"/>
            <p:cNvSpPr>
              <a:spLocks noChangeArrowheads="1"/>
            </p:cNvSpPr>
            <p:nvPr/>
          </p:nvSpPr>
          <p:spPr bwMode="auto">
            <a:xfrm>
              <a:off x="89" y="0"/>
              <a:ext cx="1691" cy="845"/>
            </a:xfrm>
            <a:prstGeom prst="ellipse">
              <a:avLst/>
            </a:prstGeom>
            <a:gradFill rotWithShape="1">
              <a:gsLst>
                <a:gs pos="0">
                  <a:srgbClr val="37556B"/>
                </a:gs>
                <a:gs pos="100000">
                  <a:schemeClr val="accent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54280" name="Oval 8"/>
            <p:cNvSpPr>
              <a:spLocks noChangeArrowheads="1"/>
            </p:cNvSpPr>
            <p:nvPr/>
          </p:nvSpPr>
          <p:spPr bwMode="auto">
            <a:xfrm>
              <a:off x="111" y="5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rgbClr val="D0E6F7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54281" name="Oval 9"/>
            <p:cNvSpPr>
              <a:spLocks noChangeArrowheads="1"/>
            </p:cNvSpPr>
            <p:nvPr/>
          </p:nvSpPr>
          <p:spPr bwMode="auto">
            <a:xfrm>
              <a:off x="128" y="13"/>
              <a:ext cx="1570" cy="770"/>
            </a:xfrm>
            <a:prstGeom prst="ellipse">
              <a:avLst/>
            </a:prstGeom>
            <a:gradFill rotWithShape="1">
              <a:gsLst>
                <a:gs pos="0">
                  <a:srgbClr val="5E91B7"/>
                </a:gs>
                <a:gs pos="100000">
                  <a:schemeClr val="accent1">
                    <a:alpha val="48000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54282" name="Oval 10"/>
            <p:cNvSpPr>
              <a:spLocks noChangeArrowheads="1"/>
            </p:cNvSpPr>
            <p:nvPr/>
          </p:nvSpPr>
          <p:spPr bwMode="auto">
            <a:xfrm>
              <a:off x="211" y="30"/>
              <a:ext cx="1382" cy="62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1">
                    <a:alpha val="37999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54277" name="Rectangle 11"/>
          <p:cNvSpPr>
            <a:spLocks noGrp="1" noChangeArrowheads="1"/>
          </p:cNvSpPr>
          <p:nvPr>
            <p:ph type="body" idx="4294967295"/>
          </p:nvPr>
        </p:nvSpPr>
        <p:spPr>
          <a:xfrm>
            <a:off x="2209800" y="3505200"/>
            <a:ext cx="4572000" cy="685800"/>
          </a:xfrm>
        </p:spPr>
        <p:txBody>
          <a:bodyPr/>
          <a:lstStyle/>
          <a:p>
            <a:pPr algn="ctr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关于定理证明的其他内容</a:t>
            </a:r>
          </a:p>
          <a:p>
            <a:pPr algn="ctr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endParaRPr lang="en-US" altLang="zh-CN" sz="24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E6CD3D3B-8D8B-4F73-8F64-E91FB26D1F2F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6323" name="Text Box 2"/>
          <p:cNvSpPr txBox="1">
            <a:spLocks noChangeArrowheads="1"/>
          </p:cNvSpPr>
          <p:nvPr/>
        </p:nvSpPr>
        <p:spPr bwMode="auto">
          <a:xfrm>
            <a:off x="404813" y="701675"/>
            <a:ext cx="51339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chemeClr val="bg1"/>
                </a:solidFill>
              </a:rPr>
              <a:t>   完成以下</a:t>
            </a:r>
            <a:r>
              <a:rPr lang="zh-CN" altLang="en-US" sz="2800">
                <a:solidFill>
                  <a:schemeClr val="bg1"/>
                </a:solidFill>
                <a:latin typeface="Times New Roman" panose="02020603050405020304" pitchFamily="18" charset="0"/>
              </a:rPr>
              <a:t>证明 </a:t>
            </a:r>
          </a:p>
        </p:txBody>
      </p:sp>
      <p:sp>
        <p:nvSpPr>
          <p:cNvPr id="56324" name="Text Box 4"/>
          <p:cNvSpPr txBox="1">
            <a:spLocks noChangeArrowheads="1"/>
          </p:cNvSpPr>
          <p:nvPr/>
        </p:nvSpPr>
        <p:spPr bwMode="auto">
          <a:xfrm>
            <a:off x="506413" y="1549400"/>
            <a:ext cx="185166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(1) </a:t>
            </a:r>
            <a:r>
              <a:rPr lang="zh-CN" altLang="en-US" sz="2800"/>
              <a:t>前提</a:t>
            </a:r>
            <a:r>
              <a:rPr lang="en-US" altLang="zh-CN" sz="2800"/>
              <a:t>： </a:t>
            </a:r>
          </a:p>
        </p:txBody>
      </p:sp>
      <p:graphicFrame>
        <p:nvGraphicFramePr>
          <p:cNvPr id="56325" name="Object 5"/>
          <p:cNvGraphicFramePr>
            <a:graphicFrameLocks noChangeAspect="1"/>
          </p:cNvGraphicFramePr>
          <p:nvPr/>
        </p:nvGraphicFramePr>
        <p:xfrm>
          <a:off x="3014663" y="1631950"/>
          <a:ext cx="312420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231900" imgH="165100" progId="Equation.DSMT4">
                  <p:embed/>
                </p:oleObj>
              </mc:Choice>
              <mc:Fallback>
                <p:oleObj r:id="rId2" imgW="1231900" imgH="165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4663" y="1631950"/>
                        <a:ext cx="3124200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6" name="Text Box 6"/>
          <p:cNvSpPr txBox="1">
            <a:spLocks noChangeArrowheads="1"/>
          </p:cNvSpPr>
          <p:nvPr/>
        </p:nvSpPr>
        <p:spPr bwMode="auto">
          <a:xfrm>
            <a:off x="731838" y="2033588"/>
            <a:ext cx="23923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/>
          </a:p>
        </p:txBody>
      </p:sp>
      <p:graphicFrame>
        <p:nvGraphicFramePr>
          <p:cNvPr id="56327" name="Object 7"/>
          <p:cNvGraphicFramePr>
            <a:graphicFrameLocks noChangeAspect="1"/>
          </p:cNvGraphicFramePr>
          <p:nvPr/>
        </p:nvGraphicFramePr>
        <p:xfrm>
          <a:off x="3014663" y="2166938"/>
          <a:ext cx="776287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30835" imgH="139700" progId="Equation.DSMT4">
                  <p:embed/>
                </p:oleObj>
              </mc:Choice>
              <mc:Fallback>
                <p:oleObj r:id="rId4" imgW="330835" imgH="1397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4663" y="2166938"/>
                        <a:ext cx="776287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8" name="Text Box 6"/>
          <p:cNvSpPr txBox="1">
            <a:spLocks noChangeArrowheads="1"/>
          </p:cNvSpPr>
          <p:nvPr/>
        </p:nvSpPr>
        <p:spPr bwMode="auto">
          <a:xfrm>
            <a:off x="619125" y="2554288"/>
            <a:ext cx="993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33413" y="2057400"/>
            <a:ext cx="180594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45720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结论</a:t>
            </a:r>
            <a:r>
              <a:rPr lang="en-US" altLang="zh-CN" sz="2800"/>
              <a:t>： 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746125" y="2681288"/>
            <a:ext cx="993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解：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" name="文本框 1"/>
          <p:cNvSpPr txBox="1">
            <a:spLocks noChangeArrowheads="1"/>
          </p:cNvSpPr>
          <p:nvPr/>
        </p:nvSpPr>
        <p:spPr bwMode="auto">
          <a:xfrm>
            <a:off x="1403350" y="2603500"/>
            <a:ext cx="37338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AutoNum type="circleNumDbPlain"/>
            </a:pPr>
            <a:r>
              <a:rPr lang="en-US" altLang="zh-CN" sz="1800"/>
              <a:t>p -&gt; r       p</a:t>
            </a:r>
          </a:p>
          <a:p>
            <a:pPr>
              <a:spcBef>
                <a:spcPct val="0"/>
              </a:spcBef>
              <a:buClrTx/>
              <a:buFontTx/>
              <a:buAutoNum type="circleNumDbPlain"/>
            </a:pPr>
            <a:r>
              <a:rPr lang="en-US" altLang="zh-CN" sz="1800"/>
              <a:t>¬p v r      </a:t>
            </a:r>
            <a:r>
              <a:rPr lang="en-US" altLang="zh-CN" sz="1800">
                <a:latin typeface="Calibri" panose="020F0502020204030204" pitchFamily="34" charset="0"/>
              </a:rPr>
              <a:t>①</a:t>
            </a:r>
          </a:p>
          <a:p>
            <a:pPr>
              <a:spcBef>
                <a:spcPct val="0"/>
              </a:spcBef>
              <a:buClrTx/>
              <a:buFontTx/>
              <a:buAutoNum type="circleNumDbPlain"/>
            </a:pPr>
            <a:r>
              <a:rPr lang="en-US" altLang="zh-CN" sz="1800">
                <a:latin typeface="Calibri" panose="020F0502020204030204" pitchFamily="34" charset="0"/>
              </a:rPr>
              <a:t>p v q          p</a:t>
            </a:r>
          </a:p>
          <a:p>
            <a:pPr>
              <a:spcBef>
                <a:spcPct val="0"/>
              </a:spcBef>
              <a:buClrTx/>
              <a:buFontTx/>
              <a:buAutoNum type="circleNumDbPlain"/>
            </a:pPr>
            <a:r>
              <a:rPr lang="en-US" altLang="zh-CN" sz="1800">
                <a:latin typeface="Calibri" panose="020F0502020204030204" pitchFamily="34" charset="0"/>
              </a:rPr>
              <a:t>r v q           ②③</a:t>
            </a:r>
          </a:p>
          <a:p>
            <a:pPr>
              <a:spcBef>
                <a:spcPct val="0"/>
              </a:spcBef>
              <a:buClrTx/>
              <a:buFontTx/>
              <a:buAutoNum type="circleNumDbPlain"/>
            </a:pPr>
            <a:r>
              <a:rPr lang="en-US" altLang="zh-CN" sz="1800">
                <a:latin typeface="Calibri" panose="020F0502020204030204" pitchFamily="34" charset="0"/>
              </a:rPr>
              <a:t>q -&gt; s         p </a:t>
            </a:r>
          </a:p>
          <a:p>
            <a:pPr>
              <a:spcBef>
                <a:spcPct val="0"/>
              </a:spcBef>
              <a:buClrTx/>
              <a:buFontTx/>
              <a:buAutoNum type="circleNumDbPlain"/>
            </a:pPr>
            <a:r>
              <a:rPr lang="en-US" altLang="zh-CN" sz="1800">
                <a:latin typeface="Calibri" panose="020F0502020204030204" pitchFamily="34" charset="0"/>
              </a:rPr>
              <a:t>¬q v s         ⑤</a:t>
            </a:r>
          </a:p>
          <a:p>
            <a:pPr>
              <a:spcBef>
                <a:spcPct val="0"/>
              </a:spcBef>
              <a:buClrTx/>
              <a:buFontTx/>
              <a:buAutoNum type="circleNumDbPlain"/>
            </a:pPr>
            <a:r>
              <a:rPr lang="en-US" altLang="zh-CN" sz="1800"/>
              <a:t>r v s         </a:t>
            </a:r>
            <a:r>
              <a:rPr lang="en-US" altLang="zh-CN" sz="1800">
                <a:latin typeface="Calibri" panose="020F0502020204030204" pitchFamily="34" charset="0"/>
              </a:rPr>
              <a:t>④⑥</a:t>
            </a:r>
            <a:endParaRPr lang="zh-CN" altLang="en-US" sz="1800"/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B323D64-60F6-4742-BD85-142E81392E77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7347" name="Text Box 2"/>
          <p:cNvSpPr txBox="1">
            <a:spLocks noChangeArrowheads="1"/>
          </p:cNvSpPr>
          <p:nvPr/>
        </p:nvSpPr>
        <p:spPr bwMode="auto">
          <a:xfrm>
            <a:off x="327025" y="754063"/>
            <a:ext cx="50434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chemeClr val="bg1"/>
                </a:solidFill>
              </a:rPr>
              <a:t>   完成以下证明</a:t>
            </a:r>
            <a:endParaRPr lang="zh-CN" altLang="en-US" sz="2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48" name="Text Box 27"/>
          <p:cNvSpPr txBox="1">
            <a:spLocks noChangeArrowheads="1"/>
          </p:cNvSpPr>
          <p:nvPr/>
        </p:nvSpPr>
        <p:spPr bwMode="auto">
          <a:xfrm>
            <a:off x="609600" y="1676400"/>
            <a:ext cx="185166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(2) </a:t>
            </a:r>
            <a:r>
              <a:rPr lang="zh-CN" altLang="en-US" sz="2800"/>
              <a:t>前提</a:t>
            </a:r>
            <a:r>
              <a:rPr lang="en-US" altLang="zh-CN" sz="2800"/>
              <a:t>： </a:t>
            </a:r>
          </a:p>
        </p:txBody>
      </p:sp>
      <p:graphicFrame>
        <p:nvGraphicFramePr>
          <p:cNvPr id="57350" name="Object 10"/>
          <p:cNvGraphicFramePr>
            <a:graphicFrameLocks noChangeAspect="1"/>
          </p:cNvGraphicFramePr>
          <p:nvPr/>
        </p:nvGraphicFramePr>
        <p:xfrm>
          <a:off x="3048000" y="1766888"/>
          <a:ext cx="48006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019935" imgH="177800" progId="Equation.DSMT4">
                  <p:embed/>
                </p:oleObj>
              </mc:Choice>
              <mc:Fallback>
                <p:oleObj r:id="rId2" imgW="2019935" imgH="177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766888"/>
                        <a:ext cx="48006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1" name="Object 11"/>
          <p:cNvGraphicFramePr>
            <a:graphicFrameLocks noChangeAspect="1"/>
          </p:cNvGraphicFramePr>
          <p:nvPr/>
        </p:nvGraphicFramePr>
        <p:xfrm>
          <a:off x="3276600" y="2363788"/>
          <a:ext cx="295275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27000" imgH="165100" progId="Equation.DSMT4">
                  <p:embed/>
                </p:oleObj>
              </mc:Choice>
              <mc:Fallback>
                <p:oleObj r:id="rId4" imgW="127000" imgH="1651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363788"/>
                        <a:ext cx="295275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2"/>
          <p:cNvSpPr txBox="1">
            <a:spLocks noChangeArrowheads="1"/>
          </p:cNvSpPr>
          <p:nvPr/>
        </p:nvSpPr>
        <p:spPr bwMode="auto">
          <a:xfrm>
            <a:off x="919163" y="2751138"/>
            <a:ext cx="685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1800"/>
              <a:t>解：</a:t>
            </a:r>
          </a:p>
        </p:txBody>
      </p:sp>
      <p:sp>
        <p:nvSpPr>
          <p:cNvPr id="5" name="文本框 3"/>
          <p:cNvSpPr txBox="1">
            <a:spLocks noChangeArrowheads="1"/>
          </p:cNvSpPr>
          <p:nvPr/>
        </p:nvSpPr>
        <p:spPr bwMode="auto">
          <a:xfrm>
            <a:off x="1524000" y="2771775"/>
            <a:ext cx="601980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AutoNum type="circleNumDbPlain"/>
            </a:pPr>
            <a:r>
              <a:rPr lang="en-US" altLang="zh-CN" sz="1800"/>
              <a:t>¬s -&gt; r          p</a:t>
            </a:r>
          </a:p>
          <a:p>
            <a:pPr>
              <a:spcBef>
                <a:spcPct val="0"/>
              </a:spcBef>
              <a:buClrTx/>
              <a:buFontTx/>
              <a:buAutoNum type="circleNumDbPlain"/>
            </a:pPr>
            <a:r>
              <a:rPr lang="en-US" altLang="zh-CN" sz="1800"/>
              <a:t>¬r -&gt; s          </a:t>
            </a:r>
            <a:r>
              <a:rPr lang="en-US" altLang="zh-CN" sz="1800">
                <a:latin typeface="Calibri" panose="020F0502020204030204" pitchFamily="34" charset="0"/>
              </a:rPr>
              <a:t>①</a:t>
            </a:r>
          </a:p>
          <a:p>
            <a:pPr>
              <a:spcBef>
                <a:spcPct val="0"/>
              </a:spcBef>
              <a:buClrTx/>
              <a:buFontTx/>
              <a:buAutoNum type="circleNumDbPlain"/>
            </a:pPr>
            <a:r>
              <a:rPr lang="en-US" altLang="zh-CN" sz="1800">
                <a:latin typeface="Calibri" panose="020F0502020204030204" pitchFamily="34" charset="0"/>
              </a:rPr>
              <a:t>P -&gt; ¬r             p</a:t>
            </a:r>
          </a:p>
          <a:p>
            <a:pPr>
              <a:spcBef>
                <a:spcPct val="0"/>
              </a:spcBef>
              <a:buClrTx/>
              <a:buFontTx/>
              <a:buAutoNum type="circleNumDbPlain"/>
            </a:pPr>
            <a:r>
              <a:rPr lang="en-US" altLang="zh-CN" sz="1800">
                <a:latin typeface="Calibri" panose="020F0502020204030204" pitchFamily="34" charset="0"/>
              </a:rPr>
              <a:t>p -&gt; s               ②③</a:t>
            </a:r>
          </a:p>
          <a:p>
            <a:pPr>
              <a:spcBef>
                <a:spcPct val="0"/>
              </a:spcBef>
              <a:buClrTx/>
              <a:buFontTx/>
              <a:buAutoNum type="circleNumDbPlain"/>
            </a:pPr>
            <a:r>
              <a:rPr lang="en-US" altLang="zh-CN" sz="1800">
                <a:latin typeface="Calibri" panose="020F0502020204030204" pitchFamily="34" charset="0"/>
              </a:rPr>
              <a:t>s -&gt; t                p</a:t>
            </a:r>
          </a:p>
          <a:p>
            <a:pPr>
              <a:spcBef>
                <a:spcPct val="0"/>
              </a:spcBef>
              <a:buClrTx/>
              <a:buFontTx/>
              <a:buAutoNum type="circleNumDbPlain"/>
            </a:pPr>
            <a:r>
              <a:rPr lang="en-US" altLang="zh-CN" sz="1800">
                <a:latin typeface="Calibri" panose="020F0502020204030204" pitchFamily="34" charset="0"/>
              </a:rPr>
              <a:t>p -&gt; t               ④⑤</a:t>
            </a:r>
          </a:p>
          <a:p>
            <a:pPr>
              <a:spcBef>
                <a:spcPct val="0"/>
              </a:spcBef>
              <a:buClrTx/>
              <a:buFontTx/>
              <a:buAutoNum type="circleNumDbPlain"/>
            </a:pPr>
            <a:r>
              <a:rPr lang="en-US" altLang="zh-CN" sz="1800">
                <a:latin typeface="Calibri" panose="020F0502020204030204" pitchFamily="34" charset="0"/>
              </a:rPr>
              <a:t>¬t                     p</a:t>
            </a:r>
          </a:p>
          <a:p>
            <a:pPr>
              <a:spcBef>
                <a:spcPct val="0"/>
              </a:spcBef>
              <a:buClrTx/>
              <a:buFontTx/>
              <a:buAutoNum type="circleNumDbPlain"/>
            </a:pPr>
            <a:r>
              <a:rPr lang="en-US" altLang="zh-CN" sz="1800">
                <a:latin typeface="Calibri" panose="020F0502020204030204" pitchFamily="34" charset="0"/>
              </a:rPr>
              <a:t>¬p                    ⑥⑦</a:t>
            </a:r>
          </a:p>
          <a:p>
            <a:pPr>
              <a:spcBef>
                <a:spcPct val="0"/>
              </a:spcBef>
              <a:buClrTx/>
              <a:buFontTx/>
              <a:buAutoNum type="circleNumDbPlain"/>
            </a:pPr>
            <a:r>
              <a:rPr lang="en-US" altLang="zh-CN" sz="1800">
                <a:latin typeface="Calibri" panose="020F0502020204030204" pitchFamily="34" charset="0"/>
              </a:rPr>
              <a:t>p v q                p</a:t>
            </a:r>
          </a:p>
          <a:p>
            <a:pPr>
              <a:spcBef>
                <a:spcPct val="0"/>
              </a:spcBef>
              <a:buClrTx/>
              <a:buFontTx/>
              <a:buAutoNum type="circleNumDbPlain"/>
            </a:pPr>
            <a:r>
              <a:rPr lang="en-US" altLang="zh-CN" sz="1800">
                <a:latin typeface="Calibri" panose="020F0502020204030204" pitchFamily="34" charset="0"/>
              </a:rPr>
              <a:t>q                       ⑧⑨</a:t>
            </a:r>
            <a:endParaRPr lang="zh-CN" altLang="en-US" sz="1800"/>
          </a:p>
        </p:txBody>
      </p:sp>
      <p:sp>
        <p:nvSpPr>
          <p:cNvPr id="6" name="Text Box 27"/>
          <p:cNvSpPr txBox="1">
            <a:spLocks noChangeArrowheads="1"/>
          </p:cNvSpPr>
          <p:nvPr/>
        </p:nvSpPr>
        <p:spPr bwMode="auto">
          <a:xfrm>
            <a:off x="685800" y="2195830"/>
            <a:ext cx="179324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     </a:t>
            </a:r>
            <a:r>
              <a:rPr lang="zh-CN" altLang="en-US" sz="2800"/>
              <a:t>结论</a:t>
            </a:r>
            <a:r>
              <a:rPr lang="en-US" altLang="zh-CN" sz="2800"/>
              <a:t>： </a:t>
            </a: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4000C8D7-446D-478D-949B-55ED9D49902D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8375" name="Text Box 6"/>
          <p:cNvSpPr txBox="1">
            <a:spLocks noChangeArrowheads="1"/>
          </p:cNvSpPr>
          <p:nvPr/>
        </p:nvSpPr>
        <p:spPr bwMode="auto">
          <a:xfrm>
            <a:off x="457200" y="3452813"/>
            <a:ext cx="987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/>
          </a:p>
        </p:txBody>
      </p:sp>
      <p:sp>
        <p:nvSpPr>
          <p:cNvPr id="9" name="Rectangle 21"/>
          <p:cNvSpPr>
            <a:spLocks noChangeArrowheads="1"/>
          </p:cNvSpPr>
          <p:nvPr/>
        </p:nvSpPr>
        <p:spPr bwMode="auto">
          <a:xfrm>
            <a:off x="609600" y="565150"/>
            <a:ext cx="8229600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>
                <a:solidFill>
                  <a:schemeClr val="bg1"/>
                </a:solidFill>
                <a:latin typeface="Verdana" panose="020B0604030504040204" pitchFamily="34" charset="0"/>
              </a:rPr>
              <a:t>中文练习</a:t>
            </a:r>
            <a:endParaRPr lang="en-US" altLang="zh-CN" b="1" i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0" name="Group 2"/>
          <p:cNvGrpSpPr/>
          <p:nvPr/>
        </p:nvGrpSpPr>
        <p:grpSpPr bwMode="auto">
          <a:xfrm>
            <a:off x="441325" y="1609725"/>
            <a:ext cx="7502525" cy="1738313"/>
            <a:chOff x="0" y="0"/>
            <a:chExt cx="4726" cy="1095"/>
          </a:xfrm>
        </p:grpSpPr>
        <p:sp>
          <p:nvSpPr>
            <p:cNvPr id="11" name="Text Box 3"/>
            <p:cNvSpPr txBox="1">
              <a:spLocks noChangeArrowheads="1"/>
            </p:cNvSpPr>
            <p:nvPr/>
          </p:nvSpPr>
          <p:spPr bwMode="auto">
            <a:xfrm>
              <a:off x="0" y="0"/>
              <a:ext cx="452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(3) </a:t>
              </a:r>
              <a:r>
                <a:rPr lang="zh-CN" altLang="en-US" sz="2800"/>
                <a:t>如果乙不参加篮球赛，那么甲就不参加；</a:t>
              </a:r>
              <a:r>
                <a:rPr lang="zh-CN" altLang="en-US" sz="2800"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2" name="Text Box 4"/>
            <p:cNvSpPr txBox="1">
              <a:spLocks noChangeArrowheads="1"/>
            </p:cNvSpPr>
            <p:nvPr/>
          </p:nvSpPr>
          <p:spPr bwMode="auto">
            <a:xfrm>
              <a:off x="298" y="384"/>
              <a:ext cx="420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/>
                <a:t>如果乙参加篮球赛，那么甲和丙就参加。</a:t>
              </a:r>
              <a:r>
                <a:rPr lang="zh-CN" altLang="en-US" sz="2800"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3" name="Text Box 5"/>
            <p:cNvSpPr txBox="1">
              <a:spLocks noChangeArrowheads="1"/>
            </p:cNvSpPr>
            <p:nvPr/>
          </p:nvSpPr>
          <p:spPr bwMode="auto">
            <a:xfrm>
              <a:off x="298" y="768"/>
              <a:ext cx="44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/>
                <a:t>因此，如果甲参加篮球赛，那么丙就参加。</a:t>
              </a:r>
              <a:r>
                <a:rPr lang="zh-CN" altLang="en-US" sz="2800">
                  <a:latin typeface="Times New Roman" panose="02020603050405020304" pitchFamily="18" charset="0"/>
                </a:rPr>
                <a:t> </a:t>
              </a:r>
            </a:p>
          </p:txBody>
        </p:sp>
      </p:grp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584200" y="3579813"/>
            <a:ext cx="987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/>
              <a:t>解：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15" name="Group 7"/>
          <p:cNvGrpSpPr/>
          <p:nvPr/>
        </p:nvGrpSpPr>
        <p:grpSpPr bwMode="auto">
          <a:xfrm>
            <a:off x="838200" y="4733925"/>
            <a:ext cx="4514850" cy="519113"/>
            <a:chOff x="0" y="0"/>
            <a:chExt cx="2844" cy="327"/>
          </a:xfrm>
        </p:grpSpPr>
        <p:sp>
          <p:nvSpPr>
            <p:cNvPr id="16" name="Text Box 8"/>
            <p:cNvSpPr txBox="1">
              <a:spLocks noChangeArrowheads="1"/>
            </p:cNvSpPr>
            <p:nvPr/>
          </p:nvSpPr>
          <p:spPr bwMode="auto">
            <a:xfrm>
              <a:off x="0" y="0"/>
              <a:ext cx="8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/>
                <a:t>前提：</a:t>
              </a:r>
              <a:r>
                <a:rPr lang="zh-CN" altLang="en-US" sz="280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17" name="Object 10"/>
            <p:cNvGraphicFramePr>
              <a:graphicFrameLocks noChangeAspect="1"/>
            </p:cNvGraphicFramePr>
            <p:nvPr/>
          </p:nvGraphicFramePr>
          <p:xfrm>
            <a:off x="624" y="0"/>
            <a:ext cx="222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409700" imgH="203200" progId="Equation.DSMT4">
                    <p:embed/>
                  </p:oleObj>
                </mc:Choice>
                <mc:Fallback>
                  <p:oleObj r:id="rId2" imgW="1409700" imgH="2032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0"/>
                          <a:ext cx="2220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Group 10"/>
          <p:cNvGrpSpPr/>
          <p:nvPr/>
        </p:nvGrpSpPr>
        <p:grpSpPr bwMode="auto">
          <a:xfrm>
            <a:off x="838200" y="5357813"/>
            <a:ext cx="2057400" cy="519112"/>
            <a:chOff x="0" y="0"/>
            <a:chExt cx="1296" cy="327"/>
          </a:xfrm>
        </p:grpSpPr>
        <p:sp>
          <p:nvSpPr>
            <p:cNvPr id="20" name="Text Box 11"/>
            <p:cNvSpPr txBox="1">
              <a:spLocks noChangeArrowheads="1"/>
            </p:cNvSpPr>
            <p:nvPr/>
          </p:nvSpPr>
          <p:spPr bwMode="auto">
            <a:xfrm>
              <a:off x="0" y="0"/>
              <a:ext cx="8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/>
                <a:t>结论：</a:t>
              </a:r>
              <a:r>
                <a:rPr lang="zh-CN" altLang="en-US" sz="280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21" name="Object 13"/>
            <p:cNvGraphicFramePr>
              <a:graphicFrameLocks noChangeAspect="1"/>
            </p:cNvGraphicFramePr>
            <p:nvPr/>
          </p:nvGraphicFramePr>
          <p:xfrm>
            <a:off x="672" y="80"/>
            <a:ext cx="624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406400" imgH="165100" progId="Equation.DSMT4">
                    <p:embed/>
                  </p:oleObj>
                </mc:Choice>
                <mc:Fallback>
                  <p:oleObj r:id="rId4" imgW="406400" imgH="16510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80"/>
                          <a:ext cx="624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Group 13"/>
          <p:cNvGrpSpPr/>
          <p:nvPr/>
        </p:nvGrpSpPr>
        <p:grpSpPr bwMode="auto">
          <a:xfrm>
            <a:off x="1143000" y="3430588"/>
            <a:ext cx="6248400" cy="1212850"/>
            <a:chOff x="0" y="0"/>
            <a:chExt cx="3936" cy="764"/>
          </a:xfrm>
        </p:grpSpPr>
        <p:grpSp>
          <p:nvGrpSpPr>
            <p:cNvPr id="24" name="Group 14"/>
            <p:cNvGrpSpPr/>
            <p:nvPr/>
          </p:nvGrpSpPr>
          <p:grpSpPr bwMode="auto">
            <a:xfrm>
              <a:off x="0" y="0"/>
              <a:ext cx="2112" cy="764"/>
              <a:chOff x="0" y="0"/>
              <a:chExt cx="2112" cy="764"/>
            </a:xfrm>
          </p:grpSpPr>
          <p:sp>
            <p:nvSpPr>
              <p:cNvPr id="25" name="Text Box 15"/>
              <p:cNvSpPr txBox="1">
                <a:spLocks noChangeArrowheads="1"/>
              </p:cNvSpPr>
              <p:nvPr/>
            </p:nvSpPr>
            <p:spPr bwMode="auto">
              <a:xfrm>
                <a:off x="144" y="0"/>
                <a:ext cx="190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800"/>
                  <a:t>：乙参加篮球赛，</a:t>
                </a:r>
              </a:p>
            </p:txBody>
          </p:sp>
          <p:sp>
            <p:nvSpPr>
              <p:cNvPr id="26" name="Text Box 16"/>
              <p:cNvSpPr txBox="1">
                <a:spLocks noChangeArrowheads="1"/>
              </p:cNvSpPr>
              <p:nvPr/>
            </p:nvSpPr>
            <p:spPr bwMode="auto">
              <a:xfrm>
                <a:off x="134" y="437"/>
                <a:ext cx="196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800"/>
                  <a:t>：丙参加篮球赛。</a:t>
                </a:r>
                <a:r>
                  <a:rPr lang="zh-CN" altLang="en-US" sz="2800">
                    <a:latin typeface="Times New Roman" panose="02020603050405020304" pitchFamily="18" charset="0"/>
                  </a:rPr>
                  <a:t> </a:t>
                </a:r>
              </a:p>
            </p:txBody>
          </p:sp>
          <p:graphicFrame>
            <p:nvGraphicFramePr>
              <p:cNvPr id="27" name="Object 18"/>
              <p:cNvGraphicFramePr>
                <a:graphicFrameLocks noChangeAspect="1"/>
              </p:cNvGraphicFramePr>
              <p:nvPr/>
            </p:nvGraphicFramePr>
            <p:xfrm>
              <a:off x="0" y="98"/>
              <a:ext cx="229" cy="2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6" imgW="152400" imgH="165100" progId="Equation.DSMT4">
                      <p:embed/>
                    </p:oleObj>
                  </mc:Choice>
                  <mc:Fallback>
                    <p:oleObj r:id="rId6" imgW="152400" imgH="165100" progId="Equation.DSMT4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98"/>
                            <a:ext cx="229" cy="24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" name="Object 19"/>
              <p:cNvGraphicFramePr>
                <a:graphicFrameLocks noChangeAspect="1"/>
              </p:cNvGraphicFramePr>
              <p:nvPr/>
            </p:nvGraphicFramePr>
            <p:xfrm>
              <a:off x="1926" y="98"/>
              <a:ext cx="186" cy="2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8" imgW="127000" imgH="165100" progId="Equation.DSMT4">
                      <p:embed/>
                    </p:oleObj>
                  </mc:Choice>
                  <mc:Fallback>
                    <p:oleObj r:id="rId8" imgW="127000" imgH="165100" progId="Equation.DSMT4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26" y="98"/>
                            <a:ext cx="186" cy="24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" name="Object 20"/>
              <p:cNvGraphicFramePr>
                <a:graphicFrameLocks noChangeAspect="1"/>
              </p:cNvGraphicFramePr>
              <p:nvPr/>
            </p:nvGraphicFramePr>
            <p:xfrm>
              <a:off x="48" y="542"/>
              <a:ext cx="170" cy="1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0" imgW="114300" imgH="127000" progId="Equation.DSMT4">
                      <p:embed/>
                    </p:oleObj>
                  </mc:Choice>
                  <mc:Fallback>
                    <p:oleObj r:id="rId10" imgW="114300" imgH="127000" progId="Equation.DSMT4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" y="542"/>
                            <a:ext cx="170" cy="1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3" name="Rectangle 20"/>
            <p:cNvSpPr>
              <a:spLocks noChangeArrowheads="1"/>
            </p:cNvSpPr>
            <p:nvPr/>
          </p:nvSpPr>
          <p:spPr bwMode="auto">
            <a:xfrm>
              <a:off x="2028" y="5"/>
              <a:ext cx="19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/>
                <a:t>：甲参加篮球赛，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5" grpId="0" build="p"/>
      <p:bldP spid="14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EA96D2BC-895D-4C68-B95D-2B5B1D09A0B3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9395" name="Text Box 2"/>
          <p:cNvSpPr txBox="1">
            <a:spLocks noChangeArrowheads="1"/>
          </p:cNvSpPr>
          <p:nvPr/>
        </p:nvSpPr>
        <p:spPr bwMode="auto">
          <a:xfrm>
            <a:off x="381000" y="2149475"/>
            <a:ext cx="13446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/>
          </a:p>
        </p:txBody>
      </p:sp>
      <p:sp>
        <p:nvSpPr>
          <p:cNvPr id="59408" name="Rectangle 35"/>
          <p:cNvSpPr>
            <a:spLocks noChangeArrowheads="1"/>
          </p:cNvSpPr>
          <p:nvPr/>
        </p:nvSpPr>
        <p:spPr bwMode="auto">
          <a:xfrm>
            <a:off x="485775" y="419100"/>
            <a:ext cx="8229600" cy="110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>
                <a:solidFill>
                  <a:schemeClr val="bg1"/>
                </a:solidFill>
                <a:latin typeface="Verdana" panose="020B0604030504040204" pitchFamily="34" charset="0"/>
              </a:rPr>
              <a:t>中文练习</a:t>
            </a:r>
          </a:p>
        </p:txBody>
      </p: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508000" y="2276475"/>
            <a:ext cx="13446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/>
              <a:t>证明：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4756150" y="2163763"/>
            <a:ext cx="1695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前提引入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4756150" y="2773363"/>
            <a:ext cx="20510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/>
              <a:t>①</a:t>
            </a:r>
            <a:r>
              <a:rPr lang="zh-CN" altLang="en-US" sz="2800"/>
              <a:t>置换规则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9" name="Text Box 5"/>
          <p:cNvSpPr txBox="1">
            <a:spLocks noChangeArrowheads="1"/>
          </p:cNvSpPr>
          <p:nvPr/>
        </p:nvSpPr>
        <p:spPr bwMode="auto">
          <a:xfrm>
            <a:off x="4756150" y="3368675"/>
            <a:ext cx="1695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前提引入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4756150" y="3978275"/>
            <a:ext cx="2762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/>
              <a:t>②③</a:t>
            </a:r>
            <a:r>
              <a:rPr lang="zh-CN" altLang="en-US" sz="2800"/>
              <a:t>假言三段论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21" name="Group 7"/>
          <p:cNvGrpSpPr/>
          <p:nvPr/>
        </p:nvGrpSpPr>
        <p:grpSpPr bwMode="auto">
          <a:xfrm>
            <a:off x="1447800" y="2163763"/>
            <a:ext cx="2209800" cy="519112"/>
            <a:chOff x="0" y="0"/>
            <a:chExt cx="1392" cy="327"/>
          </a:xfrm>
        </p:grpSpPr>
        <p:sp>
          <p:nvSpPr>
            <p:cNvPr id="22" name="Text Box 8"/>
            <p:cNvSpPr txBox="1">
              <a:spLocks noChangeArrowheads="1"/>
            </p:cNvSpPr>
            <p:nvPr/>
          </p:nvSpPr>
          <p:spPr bwMode="auto">
            <a:xfrm>
              <a:off x="0" y="0"/>
              <a:ext cx="3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①</a:t>
              </a: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23" name="Object 10"/>
            <p:cNvGraphicFramePr>
              <a:graphicFrameLocks noChangeAspect="1"/>
            </p:cNvGraphicFramePr>
            <p:nvPr/>
          </p:nvGraphicFramePr>
          <p:xfrm>
            <a:off x="375" y="69"/>
            <a:ext cx="1017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635000" imgH="165100" progId="Equation.DSMT4">
                    <p:embed/>
                  </p:oleObj>
                </mc:Choice>
                <mc:Fallback>
                  <p:oleObj r:id="rId2" imgW="635000" imgH="1651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" y="69"/>
                          <a:ext cx="1017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Group 10"/>
          <p:cNvGrpSpPr/>
          <p:nvPr/>
        </p:nvGrpSpPr>
        <p:grpSpPr bwMode="auto">
          <a:xfrm>
            <a:off x="1447800" y="2773363"/>
            <a:ext cx="1747838" cy="519112"/>
            <a:chOff x="0" y="0"/>
            <a:chExt cx="1101" cy="327"/>
          </a:xfrm>
        </p:grpSpPr>
        <p:sp>
          <p:nvSpPr>
            <p:cNvPr id="26" name="Text Box 11"/>
            <p:cNvSpPr txBox="1">
              <a:spLocks noChangeArrowheads="1"/>
            </p:cNvSpPr>
            <p:nvPr/>
          </p:nvSpPr>
          <p:spPr bwMode="auto">
            <a:xfrm>
              <a:off x="0" y="0"/>
              <a:ext cx="3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②</a:t>
              </a: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27" name="Object 13"/>
            <p:cNvGraphicFramePr>
              <a:graphicFrameLocks noChangeAspect="1"/>
            </p:cNvGraphicFramePr>
            <p:nvPr/>
          </p:nvGraphicFramePr>
          <p:xfrm>
            <a:off x="384" y="39"/>
            <a:ext cx="717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444500" imgH="165100" progId="Equation.DSMT4">
                    <p:embed/>
                  </p:oleObj>
                </mc:Choice>
                <mc:Fallback>
                  <p:oleObj r:id="rId4" imgW="444500" imgH="16510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39"/>
                          <a:ext cx="717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Group 13"/>
          <p:cNvGrpSpPr/>
          <p:nvPr/>
        </p:nvGrpSpPr>
        <p:grpSpPr bwMode="auto">
          <a:xfrm>
            <a:off x="1447800" y="3382963"/>
            <a:ext cx="2514600" cy="519112"/>
            <a:chOff x="0" y="0"/>
            <a:chExt cx="1584" cy="327"/>
          </a:xfrm>
        </p:grpSpPr>
        <p:sp>
          <p:nvSpPr>
            <p:cNvPr id="30" name="Text Box 14"/>
            <p:cNvSpPr txBox="1">
              <a:spLocks noChangeArrowheads="1"/>
            </p:cNvSpPr>
            <p:nvPr/>
          </p:nvSpPr>
          <p:spPr bwMode="auto">
            <a:xfrm>
              <a:off x="0" y="0"/>
              <a:ext cx="3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③</a:t>
              </a: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31" name="Object 16"/>
            <p:cNvGraphicFramePr>
              <a:graphicFrameLocks noChangeAspect="1"/>
            </p:cNvGraphicFramePr>
            <p:nvPr/>
          </p:nvGraphicFramePr>
          <p:xfrm>
            <a:off x="384" y="13"/>
            <a:ext cx="1200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762635" imgH="203200" progId="Equation.DSMT4">
                    <p:embed/>
                  </p:oleObj>
                </mc:Choice>
                <mc:Fallback>
                  <p:oleObj r:id="rId6" imgW="762635" imgH="2032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13"/>
                          <a:ext cx="1200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Group 16"/>
          <p:cNvGrpSpPr/>
          <p:nvPr/>
        </p:nvGrpSpPr>
        <p:grpSpPr bwMode="auto">
          <a:xfrm>
            <a:off x="1447800" y="3978275"/>
            <a:ext cx="2347913" cy="519113"/>
            <a:chOff x="0" y="0"/>
            <a:chExt cx="1479" cy="327"/>
          </a:xfrm>
        </p:grpSpPr>
        <p:sp>
          <p:nvSpPr>
            <p:cNvPr id="34" name="Text Box 17"/>
            <p:cNvSpPr txBox="1">
              <a:spLocks noChangeArrowheads="1"/>
            </p:cNvSpPr>
            <p:nvPr/>
          </p:nvSpPr>
          <p:spPr bwMode="auto">
            <a:xfrm>
              <a:off x="0" y="0"/>
              <a:ext cx="3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④</a:t>
              </a: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35" name="Object 19"/>
            <p:cNvGraphicFramePr>
              <a:graphicFrameLocks noChangeAspect="1"/>
            </p:cNvGraphicFramePr>
            <p:nvPr/>
          </p:nvGraphicFramePr>
          <p:xfrm>
            <a:off x="384" y="0"/>
            <a:ext cx="1095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737235" imgH="203200" progId="Equation.DSMT4">
                    <p:embed/>
                  </p:oleObj>
                </mc:Choice>
                <mc:Fallback>
                  <p:oleObj r:id="rId8" imgW="737235" imgH="20320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0"/>
                          <a:ext cx="1095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" name="Group 19"/>
          <p:cNvGrpSpPr/>
          <p:nvPr/>
        </p:nvGrpSpPr>
        <p:grpSpPr bwMode="auto">
          <a:xfrm>
            <a:off x="1447800" y="4511675"/>
            <a:ext cx="1676400" cy="519113"/>
            <a:chOff x="0" y="0"/>
            <a:chExt cx="1056" cy="327"/>
          </a:xfrm>
        </p:grpSpPr>
        <p:sp>
          <p:nvSpPr>
            <p:cNvPr id="38" name="Text Box 20"/>
            <p:cNvSpPr txBox="1">
              <a:spLocks noChangeArrowheads="1"/>
            </p:cNvSpPr>
            <p:nvPr/>
          </p:nvSpPr>
          <p:spPr bwMode="auto">
            <a:xfrm>
              <a:off x="0" y="0"/>
              <a:ext cx="3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⑤</a:t>
              </a: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39" name="Object 22"/>
            <p:cNvGraphicFramePr>
              <a:graphicFrameLocks noChangeAspect="1"/>
            </p:cNvGraphicFramePr>
            <p:nvPr/>
          </p:nvGraphicFramePr>
          <p:xfrm>
            <a:off x="384" y="61"/>
            <a:ext cx="672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406400" imgH="165100" progId="Equation.DSMT4">
                    <p:embed/>
                  </p:oleObj>
                </mc:Choice>
                <mc:Fallback>
                  <p:oleObj r:id="rId10" imgW="406400" imgH="16510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61"/>
                          <a:ext cx="672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" name="Group 22"/>
          <p:cNvGrpSpPr/>
          <p:nvPr/>
        </p:nvGrpSpPr>
        <p:grpSpPr bwMode="auto">
          <a:xfrm>
            <a:off x="2590800" y="4435475"/>
            <a:ext cx="5562600" cy="2378075"/>
            <a:chOff x="0" y="0"/>
            <a:chExt cx="3504" cy="1498"/>
          </a:xfrm>
        </p:grpSpPr>
        <p:sp>
          <p:nvSpPr>
            <p:cNvPr id="42" name="Text Box 23"/>
            <p:cNvSpPr txBox="1">
              <a:spLocks noChangeArrowheads="1"/>
            </p:cNvSpPr>
            <p:nvPr/>
          </p:nvSpPr>
          <p:spPr bwMode="auto">
            <a:xfrm>
              <a:off x="1364" y="0"/>
              <a:ext cx="12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④</a:t>
              </a:r>
              <a:r>
                <a:rPr lang="zh-CN" altLang="en-US" sz="2800"/>
                <a:t>置换规则</a:t>
              </a:r>
              <a:r>
                <a:rPr lang="zh-CN" altLang="en-US" sz="280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43" name="Object 25"/>
            <p:cNvGraphicFramePr>
              <a:graphicFrameLocks noChangeAspect="1"/>
            </p:cNvGraphicFramePr>
            <p:nvPr/>
          </p:nvGraphicFramePr>
          <p:xfrm>
            <a:off x="144" y="374"/>
            <a:ext cx="2640" cy="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1727200" imgH="254000" progId="Equation.DSMT4">
                    <p:embed/>
                  </p:oleObj>
                </mc:Choice>
                <mc:Fallback>
                  <p:oleObj r:id="rId12" imgW="1727200" imgH="2540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" y="374"/>
                          <a:ext cx="2640" cy="3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Object 26"/>
            <p:cNvGraphicFramePr>
              <a:graphicFrameLocks noChangeAspect="1"/>
            </p:cNvGraphicFramePr>
            <p:nvPr/>
          </p:nvGraphicFramePr>
          <p:xfrm>
            <a:off x="1275" y="753"/>
            <a:ext cx="2229" cy="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1435735" imgH="254000" progId="Equation.DSMT4">
                    <p:embed/>
                  </p:oleObj>
                </mc:Choice>
                <mc:Fallback>
                  <p:oleObj r:id="rId14" imgW="1435735" imgH="25400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5" y="753"/>
                          <a:ext cx="2229" cy="3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Object 27"/>
            <p:cNvGraphicFramePr>
              <a:graphicFrameLocks noChangeAspect="1"/>
            </p:cNvGraphicFramePr>
            <p:nvPr/>
          </p:nvGraphicFramePr>
          <p:xfrm>
            <a:off x="1296" y="1209"/>
            <a:ext cx="187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1244600" imgH="177800" progId="Equation.DSMT4">
                    <p:embed/>
                  </p:oleObj>
                </mc:Choice>
                <mc:Fallback>
                  <p:oleObj r:id="rId16" imgW="1244600" imgH="17780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1209"/>
                          <a:ext cx="187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" name="Text Box 27"/>
            <p:cNvSpPr txBox="1">
              <a:spLocks noChangeArrowheads="1"/>
            </p:cNvSpPr>
            <p:nvPr/>
          </p:nvSpPr>
          <p:spPr bwMode="auto">
            <a:xfrm>
              <a:off x="0" y="336"/>
              <a:ext cx="22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4000">
                  <a:solidFill>
                    <a:srgbClr val="030711"/>
                  </a:solidFill>
                  <a:latin typeface="Times New Roman" panose="02020603050405020304" pitchFamily="18" charset="0"/>
                </a:rPr>
                <a:t>(</a:t>
              </a:r>
            </a:p>
          </p:txBody>
        </p:sp>
        <p:sp>
          <p:nvSpPr>
            <p:cNvPr id="50" name="Text Box 28"/>
            <p:cNvSpPr txBox="1">
              <a:spLocks noChangeArrowheads="1"/>
            </p:cNvSpPr>
            <p:nvPr/>
          </p:nvSpPr>
          <p:spPr bwMode="auto">
            <a:xfrm>
              <a:off x="3120" y="1056"/>
              <a:ext cx="22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4000">
                  <a:latin typeface="Times New Roman" panose="02020603050405020304" pitchFamily="18" charset="0"/>
                </a:rPr>
                <a:t>)</a:t>
              </a:r>
            </a:p>
          </p:txBody>
        </p:sp>
      </p:grpSp>
      <p:grpSp>
        <p:nvGrpSpPr>
          <p:cNvPr id="51" name="Group 29"/>
          <p:cNvGrpSpPr/>
          <p:nvPr/>
        </p:nvGrpSpPr>
        <p:grpSpPr bwMode="auto">
          <a:xfrm>
            <a:off x="457200" y="1477963"/>
            <a:ext cx="4514850" cy="519112"/>
            <a:chOff x="0" y="0"/>
            <a:chExt cx="2844" cy="327"/>
          </a:xfrm>
        </p:grpSpPr>
        <p:sp>
          <p:nvSpPr>
            <p:cNvPr id="52" name="Text Box 30"/>
            <p:cNvSpPr txBox="1">
              <a:spLocks noChangeArrowheads="1"/>
            </p:cNvSpPr>
            <p:nvPr/>
          </p:nvSpPr>
          <p:spPr bwMode="auto">
            <a:xfrm>
              <a:off x="0" y="0"/>
              <a:ext cx="8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/>
                <a:t>前提：</a:t>
              </a:r>
              <a:r>
                <a:rPr lang="zh-CN" altLang="en-US" sz="280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53" name="Object 32"/>
            <p:cNvGraphicFramePr>
              <a:graphicFrameLocks noChangeAspect="1"/>
            </p:cNvGraphicFramePr>
            <p:nvPr/>
          </p:nvGraphicFramePr>
          <p:xfrm>
            <a:off x="624" y="0"/>
            <a:ext cx="222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1409700" imgH="203200" progId="Equation.DSMT4">
                    <p:embed/>
                  </p:oleObj>
                </mc:Choice>
                <mc:Fallback>
                  <p:oleObj r:id="rId18" imgW="1409700" imgH="203200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0"/>
                          <a:ext cx="2220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" name="Group 32"/>
          <p:cNvGrpSpPr/>
          <p:nvPr/>
        </p:nvGrpSpPr>
        <p:grpSpPr bwMode="auto">
          <a:xfrm>
            <a:off x="5029200" y="1477963"/>
            <a:ext cx="2057400" cy="519112"/>
            <a:chOff x="0" y="0"/>
            <a:chExt cx="1296" cy="327"/>
          </a:xfrm>
        </p:grpSpPr>
        <p:sp>
          <p:nvSpPr>
            <p:cNvPr id="56" name="Text Box 33"/>
            <p:cNvSpPr txBox="1">
              <a:spLocks noChangeArrowheads="1"/>
            </p:cNvSpPr>
            <p:nvPr/>
          </p:nvSpPr>
          <p:spPr bwMode="auto">
            <a:xfrm>
              <a:off x="0" y="0"/>
              <a:ext cx="8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/>
                <a:t>结论：</a:t>
              </a:r>
              <a:r>
                <a:rPr lang="zh-CN" altLang="en-US" sz="280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57" name="Object 35"/>
            <p:cNvGraphicFramePr>
              <a:graphicFrameLocks noChangeAspect="1"/>
            </p:cNvGraphicFramePr>
            <p:nvPr/>
          </p:nvGraphicFramePr>
          <p:xfrm>
            <a:off x="672" y="80"/>
            <a:ext cx="624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406400" imgH="165100" progId="Equation.DSMT4">
                    <p:embed/>
                  </p:oleObj>
                </mc:Choice>
                <mc:Fallback>
                  <p:oleObj r:id="rId20" imgW="406400" imgH="165100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80"/>
                          <a:ext cx="624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/>
      <p:bldP spid="16" grpId="0"/>
      <p:bldP spid="17" grpId="0" build="p" advAuto="0"/>
      <p:bldP spid="18" grpId="0" build="p" advAuto="0"/>
      <p:bldP spid="19" grpId="0" build="p" advAuto="0"/>
      <p:bldP spid="20" grpId="0" build="p" advAuto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中文练习</a:t>
            </a:r>
          </a:p>
        </p:txBody>
      </p:sp>
      <p:sp>
        <p:nvSpPr>
          <p:cNvPr id="60420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F48100F6-02F1-41C3-BD92-34CC9373D41B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" name="内容占位符 2"/>
          <p:cNvSpPr>
            <a:spLocks noGrp="1" noChangeArrowheads="1"/>
          </p:cNvSpPr>
          <p:nvPr/>
        </p:nvSpPr>
        <p:spPr>
          <a:xfrm>
            <a:off x="457200" y="1419225"/>
            <a:ext cx="8229600" cy="48799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如果他是计算机系本科生或者是计算机系研究生，那么他一定学过</a:t>
            </a:r>
            <a:r>
              <a:rPr lang="en-US" altLang="zh-CN">
                <a:ea typeface="宋体" panose="02010600030101010101" pitchFamily="2" charset="-122"/>
              </a:rPr>
              <a:t>DELPHI</a:t>
            </a:r>
            <a:r>
              <a:rPr lang="zh-CN" altLang="en-US">
                <a:ea typeface="宋体" panose="02010600030101010101" pitchFamily="2" charset="-122"/>
              </a:rPr>
              <a:t>语言而且学过</a:t>
            </a:r>
            <a:r>
              <a:rPr lang="en-US" altLang="zh-CN">
                <a:ea typeface="宋体" panose="02010600030101010101" pitchFamily="2" charset="-122"/>
              </a:rPr>
              <a:t>C++</a:t>
            </a:r>
            <a:r>
              <a:rPr lang="zh-CN" altLang="en-US">
                <a:ea typeface="宋体" panose="02010600030101010101" pitchFamily="2" charset="-122"/>
              </a:rPr>
              <a:t>语言。只要他学过</a:t>
            </a:r>
            <a:r>
              <a:rPr lang="en-US" altLang="zh-CN">
                <a:ea typeface="宋体" panose="02010600030101010101" pitchFamily="2" charset="-122"/>
              </a:rPr>
              <a:t>DELPHI</a:t>
            </a:r>
            <a:r>
              <a:rPr lang="zh-CN" altLang="en-US">
                <a:ea typeface="宋体" panose="02010600030101010101" pitchFamily="2" charset="-122"/>
              </a:rPr>
              <a:t>语言或者</a:t>
            </a:r>
            <a:r>
              <a:rPr lang="en-US" altLang="zh-CN">
                <a:ea typeface="宋体" panose="02010600030101010101" pitchFamily="2" charset="-122"/>
              </a:rPr>
              <a:t>C++</a:t>
            </a:r>
            <a:r>
              <a:rPr lang="zh-CN" altLang="en-US">
                <a:ea typeface="宋体" panose="02010600030101010101" pitchFamily="2" charset="-122"/>
              </a:rPr>
              <a:t>语言，那么他就会编程序。因此如果他是计算机系本科生，那么他就会编程序。请用命题逻辑推理方法，证明该推理的有效结论。 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中文练习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1444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3091B2E7-1239-4BF1-A421-21C4514AF4B9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" name="内容占位符 2"/>
          <p:cNvSpPr>
            <a:spLocks noGrp="1" noChangeArrowheads="1"/>
          </p:cNvSpPr>
          <p:nvPr/>
        </p:nvSpPr>
        <p:spPr>
          <a:xfrm>
            <a:off x="457200" y="1419225"/>
            <a:ext cx="8229600" cy="48799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2400">
                <a:ea typeface="宋体" panose="02010600030101010101" pitchFamily="2" charset="-122"/>
              </a:rPr>
              <a:t>令</a:t>
            </a:r>
            <a:r>
              <a:rPr lang="en-US" altLang="zh-CN" sz="2400">
                <a:ea typeface="宋体" panose="02010600030101010101" pitchFamily="2" charset="-122"/>
              </a:rPr>
              <a:t>p</a:t>
            </a:r>
            <a:r>
              <a:rPr lang="zh-CN" altLang="en-US" sz="2400">
                <a:ea typeface="宋体" panose="02010600030101010101" pitchFamily="2" charset="-122"/>
              </a:rPr>
              <a:t>：他是计算机系本科生    </a:t>
            </a:r>
            <a:r>
              <a:rPr lang="en-US" altLang="zh-CN" sz="2400">
                <a:ea typeface="宋体" panose="02010600030101010101" pitchFamily="2" charset="-122"/>
              </a:rPr>
              <a:t>q</a:t>
            </a:r>
            <a:r>
              <a:rPr lang="zh-CN" altLang="en-US" sz="2400">
                <a:ea typeface="宋体" panose="02010600030101010101" pitchFamily="2" charset="-122"/>
              </a:rPr>
              <a:t>：他是计算机系研究生</a:t>
            </a:r>
            <a:br>
              <a:rPr lang="zh-CN" altLang="en-US" sz="2400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r</a:t>
            </a:r>
            <a:r>
              <a:rPr lang="zh-CN" altLang="en-US" sz="2400">
                <a:ea typeface="宋体" panose="02010600030101010101" pitchFamily="2" charset="-122"/>
              </a:rPr>
              <a:t>：他学过</a:t>
            </a:r>
            <a:r>
              <a:rPr lang="en-US" altLang="zh-CN" sz="2400">
                <a:ea typeface="宋体" panose="02010600030101010101" pitchFamily="2" charset="-122"/>
              </a:rPr>
              <a:t>DELPHI</a:t>
            </a:r>
            <a:r>
              <a:rPr lang="zh-CN" altLang="en-US" sz="2400">
                <a:ea typeface="宋体" panose="02010600030101010101" pitchFamily="2" charset="-122"/>
              </a:rPr>
              <a:t>语言        </a:t>
            </a:r>
            <a:r>
              <a:rPr lang="en-US" altLang="zh-CN" sz="2400">
                <a:ea typeface="宋体" panose="02010600030101010101" pitchFamily="2" charset="-122"/>
              </a:rPr>
              <a:t>s:</a:t>
            </a:r>
            <a:r>
              <a:rPr lang="zh-CN" altLang="en-US" sz="2400">
                <a:ea typeface="宋体" panose="02010600030101010101" pitchFamily="2" charset="-122"/>
              </a:rPr>
              <a:t>他学过</a:t>
            </a:r>
            <a:r>
              <a:rPr lang="en-US" altLang="zh-CN" sz="2400">
                <a:ea typeface="宋体" panose="02010600030101010101" pitchFamily="2" charset="-122"/>
              </a:rPr>
              <a:t>C++</a:t>
            </a:r>
            <a:r>
              <a:rPr lang="zh-CN" altLang="en-US" sz="2400">
                <a:ea typeface="宋体" panose="02010600030101010101" pitchFamily="2" charset="-122"/>
              </a:rPr>
              <a:t>语言       </a:t>
            </a:r>
            <a:r>
              <a:rPr lang="en-US" altLang="zh-CN" sz="2400">
                <a:ea typeface="宋体" panose="02010600030101010101" pitchFamily="2" charset="-122"/>
              </a:rPr>
              <a:t>t:</a:t>
            </a:r>
            <a:r>
              <a:rPr lang="zh-CN" altLang="en-US" sz="2400">
                <a:ea typeface="宋体" panose="02010600030101010101" pitchFamily="2" charset="-122"/>
              </a:rPr>
              <a:t>他会编程序</a:t>
            </a:r>
            <a:br>
              <a:rPr lang="zh-CN" altLang="en-US" sz="2400">
                <a:ea typeface="宋体" panose="02010600030101010101" pitchFamily="2" charset="-122"/>
              </a:rPr>
            </a:br>
            <a:r>
              <a:rPr lang="zh-CN" altLang="en-US" sz="2400">
                <a:ea typeface="宋体" panose="02010600030101010101" pitchFamily="2" charset="-122"/>
              </a:rPr>
              <a:t>前提：</a:t>
            </a:r>
            <a:r>
              <a:rPr lang="en-US" altLang="zh-CN" sz="2400">
                <a:ea typeface="宋体" panose="02010600030101010101" pitchFamily="2" charset="-122"/>
              </a:rPr>
              <a:t>(p∨q)→(r∧s),(r∨s)→t</a:t>
            </a:r>
            <a:br>
              <a:rPr lang="en-US" altLang="zh-CN" sz="2400">
                <a:ea typeface="宋体" panose="02010600030101010101" pitchFamily="2" charset="-122"/>
              </a:rPr>
            </a:br>
            <a:r>
              <a:rPr lang="zh-CN" altLang="en-US" sz="2400">
                <a:ea typeface="宋体" panose="02010600030101010101" pitchFamily="2" charset="-122"/>
              </a:rPr>
              <a:t>结论：</a:t>
            </a:r>
            <a:r>
              <a:rPr lang="en-US" altLang="zh-CN" sz="2400">
                <a:ea typeface="宋体" panose="02010600030101010101" pitchFamily="2" charset="-122"/>
              </a:rPr>
              <a:t>p→t</a:t>
            </a:r>
            <a:br>
              <a:rPr lang="en-US" altLang="zh-CN" sz="2400">
                <a:ea typeface="宋体" panose="02010600030101010101" pitchFamily="2" charset="-122"/>
              </a:rPr>
            </a:br>
            <a:r>
              <a:rPr lang="zh-CN" altLang="en-US" sz="2400">
                <a:ea typeface="宋体" panose="02010600030101010101" pitchFamily="2" charset="-122"/>
              </a:rPr>
              <a:t>证：①</a:t>
            </a:r>
            <a:r>
              <a:rPr lang="en-US" altLang="zh-CN" sz="2400">
                <a:ea typeface="宋体" panose="02010600030101010101" pitchFamily="2" charset="-122"/>
              </a:rPr>
              <a:t>p                       P(</a:t>
            </a:r>
            <a:r>
              <a:rPr lang="zh-CN" altLang="en-US" sz="2400">
                <a:ea typeface="宋体" panose="02010600030101010101" pitchFamily="2" charset="-122"/>
              </a:rPr>
              <a:t>附加前提</a:t>
            </a:r>
            <a:r>
              <a:rPr lang="en-US" altLang="zh-CN" sz="2400">
                <a:ea typeface="宋体" panose="02010600030101010101" pitchFamily="2" charset="-122"/>
              </a:rPr>
              <a:t>)</a:t>
            </a:r>
            <a:br>
              <a:rPr lang="en-US" altLang="zh-CN" sz="2400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       ②p∨q                  ①</a:t>
            </a:r>
            <a:br>
              <a:rPr lang="en-US" altLang="zh-CN" sz="2400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       ③(p∨q)→(r∧s)   P(</a:t>
            </a:r>
            <a:r>
              <a:rPr lang="zh-CN" altLang="en-US" sz="2400">
                <a:ea typeface="宋体" panose="02010600030101010101" pitchFamily="2" charset="-122"/>
              </a:rPr>
              <a:t>前提引入</a:t>
            </a:r>
            <a:r>
              <a:rPr lang="en-US" altLang="zh-CN" sz="2400">
                <a:ea typeface="宋体" panose="02010600030101010101" pitchFamily="2" charset="-122"/>
              </a:rPr>
              <a:t>)</a:t>
            </a:r>
            <a:br>
              <a:rPr lang="en-US" altLang="zh-CN" sz="2400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       ④r∧s                   ②③</a:t>
            </a:r>
            <a:br>
              <a:rPr lang="en-US" altLang="zh-CN" sz="2400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       ⑤r                        ④</a:t>
            </a:r>
            <a:br>
              <a:rPr lang="en-US" altLang="zh-CN" sz="2400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       ⑥r∨s                   ⑤</a:t>
            </a:r>
            <a:br>
              <a:rPr lang="en-US" altLang="zh-CN" sz="2400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       ⑦(r∨s)→t            P(</a:t>
            </a:r>
            <a:r>
              <a:rPr lang="zh-CN" altLang="en-US" sz="2400">
                <a:ea typeface="宋体" panose="02010600030101010101" pitchFamily="2" charset="-122"/>
              </a:rPr>
              <a:t>前提引入</a:t>
            </a:r>
            <a:r>
              <a:rPr lang="en-US" altLang="zh-CN" sz="2400">
                <a:ea typeface="宋体" panose="02010600030101010101" pitchFamily="2" charset="-122"/>
              </a:rPr>
              <a:t>)</a:t>
            </a:r>
            <a:br>
              <a:rPr lang="en-US" altLang="zh-CN" sz="2400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       ⑧t                        ⑤⑥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5A3CF0F2-A1F1-4FB2-8B3B-FF084457D687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880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8806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47800"/>
            <a:ext cx="9145588" cy="4725988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8.如果王小红努力学习，她一定能取得好成绩。如果王小红贪玩或不按时完成作业，就不能取得好成绩。因此，如果王小红认真学习，就能按时完成作业。 </a:t>
            </a:r>
            <a:endParaRPr lang="zh-CN" altLang="zh-CN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12"/>
          <p:cNvSpPr txBox="1">
            <a:spLocks noGrp="1" noChangeArrowheads="1"/>
          </p:cNvSpPr>
          <p:nvPr/>
        </p:nvSpPr>
        <p:spPr bwMode="auto">
          <a:xfrm>
            <a:off x="6553200" y="6553200"/>
            <a:ext cx="2133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55AE33DB-C443-4282-9A8E-6984BD1EC84D}" type="slidenum">
              <a:rPr lang="en-US" altLang="zh-CN" sz="1200"/>
              <a:t>63</a:t>
            </a:fld>
            <a:endParaRPr lang="en-US" altLang="zh-CN" sz="1200"/>
          </a:p>
        </p:txBody>
      </p:sp>
      <p:sp>
        <p:nvSpPr>
          <p:cNvPr id="93187" name="Rectangle 12"/>
          <p:cNvSpPr txBox="1">
            <a:spLocks noGrp="1" noChangeArrowheads="1"/>
          </p:cNvSpPr>
          <p:nvPr/>
        </p:nvSpPr>
        <p:spPr bwMode="auto">
          <a:xfrm>
            <a:off x="6553200" y="6553200"/>
            <a:ext cx="2133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FB390E61-3429-45EC-85E9-253AE6083397}" type="slidenum">
              <a:rPr lang="en-US" altLang="zh-CN" sz="1200"/>
              <a:t>63</a:t>
            </a:fld>
            <a:endParaRPr lang="en-US" altLang="zh-CN" sz="1200"/>
          </a:p>
        </p:txBody>
      </p:sp>
      <p:sp>
        <p:nvSpPr>
          <p:cNvPr id="65540" name="WordArt 2"/>
          <p:cNvSpPr>
            <a:spLocks noChangeArrowheads="1" noChangeShapeType="1" noTextEdit="1"/>
          </p:cNvSpPr>
          <p:nvPr/>
        </p:nvSpPr>
        <p:spPr bwMode="auto">
          <a:xfrm>
            <a:off x="1600200" y="4267200"/>
            <a:ext cx="5562600" cy="7620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3600" b="1" kern="1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tx1"/>
                    </a:gs>
                    <a:gs pos="100000">
                      <a:schemeClr val="hlink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cs typeface="Arial" panose="020B0604020202020204" pitchFamily="34" charset="0"/>
              </a:rPr>
              <a:t>第 1.5 节结束</a:t>
            </a:r>
            <a:endParaRPr lang="zh-CN" altLang="en-US" sz="3600" b="1" kern="10">
              <a:ln w="19050">
                <a:solidFill>
                  <a:schemeClr val="bg1"/>
                </a:solidFill>
                <a:round/>
              </a:ln>
              <a:gradFill rotWithShape="1">
                <a:gsLst>
                  <a:gs pos="0">
                    <a:schemeClr val="tx1"/>
                  </a:gs>
                  <a:gs pos="100000">
                    <a:schemeClr val="hlink"/>
                  </a:gs>
                </a:gsLst>
                <a:lin ang="0" scaled="1"/>
              </a:gradFill>
              <a:effectLst>
                <a:outerShdw dist="63500" dir="2212194" algn="ctr" rotWithShape="0">
                  <a:srgbClr val="868686">
                    <a:alpha val="50000"/>
                  </a:srgbClr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93189" name="Rectangle 4"/>
          <p:cNvSpPr>
            <a:spLocks noGrp="1" noChangeArrowheads="1"/>
          </p:cNvSpPr>
          <p:nvPr>
            <p:ph type="subTitle" idx="4294967295"/>
          </p:nvPr>
        </p:nvSpPr>
        <p:spPr>
          <a:xfrm>
            <a:off x="2286000" y="3886200"/>
            <a:ext cx="6719888" cy="3810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endParaRPr lang="zh-CN" altLang="zh-CN" sz="200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55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55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ample">
  <a:themeElements>
    <a:clrScheme name="sample 3">
      <a:dk1>
        <a:srgbClr val="17347D"/>
      </a:dk1>
      <a:lt1>
        <a:srgbClr val="FFFFFF"/>
      </a:lt1>
      <a:dk2>
        <a:srgbClr val="3366CC"/>
      </a:dk2>
      <a:lt2>
        <a:srgbClr val="DDDDDD"/>
      </a:lt2>
      <a:accent1>
        <a:srgbClr val="77B7E7"/>
      </a:accent1>
      <a:accent2>
        <a:srgbClr val="45AB7D"/>
      </a:accent2>
      <a:accent3>
        <a:srgbClr val="FFFFFF"/>
      </a:accent3>
      <a:accent4>
        <a:srgbClr val="122B6A"/>
      </a:accent4>
      <a:accent5>
        <a:srgbClr val="BDD8F1"/>
      </a:accent5>
      <a:accent6>
        <a:srgbClr val="3E9B71"/>
      </a:accent6>
      <a:hlink>
        <a:srgbClr val="9999FF"/>
      </a:hlink>
      <a:folHlink>
        <a:srgbClr val="969696"/>
      </a:folHlink>
    </a:clrScheme>
    <a:fontScheme name="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ample 1">
        <a:dk1>
          <a:srgbClr val="1B525F"/>
        </a:dk1>
        <a:lt1>
          <a:srgbClr val="FFFFFF"/>
        </a:lt1>
        <a:dk2>
          <a:srgbClr val="339966"/>
        </a:dk2>
        <a:lt2>
          <a:srgbClr val="DDDDDD"/>
        </a:lt2>
        <a:accent1>
          <a:srgbClr val="C5BA6B"/>
        </a:accent1>
        <a:accent2>
          <a:srgbClr val="669900"/>
        </a:accent2>
        <a:accent3>
          <a:srgbClr val="FFFFFF"/>
        </a:accent3>
        <a:accent4>
          <a:srgbClr val="154550"/>
        </a:accent4>
        <a:accent5>
          <a:srgbClr val="DFD9BA"/>
        </a:accent5>
        <a:accent6>
          <a:srgbClr val="5C8A00"/>
        </a:accent6>
        <a:hlink>
          <a:srgbClr val="E57C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91961"/>
        </a:dk1>
        <a:lt1>
          <a:srgbClr val="FFFFFF"/>
        </a:lt1>
        <a:dk2>
          <a:srgbClr val="5D4CDC"/>
        </a:dk2>
        <a:lt2>
          <a:srgbClr val="DDDDDD"/>
        </a:lt2>
        <a:accent1>
          <a:srgbClr val="31B36C"/>
        </a:accent1>
        <a:accent2>
          <a:srgbClr val="0099FF"/>
        </a:accent2>
        <a:accent3>
          <a:srgbClr val="FFFFFF"/>
        </a:accent3>
        <a:accent4>
          <a:srgbClr val="141452"/>
        </a:accent4>
        <a:accent5>
          <a:srgbClr val="ADD6BA"/>
        </a:accent5>
        <a:accent6>
          <a:srgbClr val="008AE7"/>
        </a:accent6>
        <a:hlink>
          <a:srgbClr val="A0963C"/>
        </a:hlink>
        <a:folHlink>
          <a:srgbClr val="A0963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17347D"/>
        </a:dk1>
        <a:lt1>
          <a:srgbClr val="FFFFFF"/>
        </a:lt1>
        <a:dk2>
          <a:srgbClr val="3366CC"/>
        </a:dk2>
        <a:lt2>
          <a:srgbClr val="DDDDDD"/>
        </a:lt2>
        <a:accent1>
          <a:srgbClr val="77B7E7"/>
        </a:accent1>
        <a:accent2>
          <a:srgbClr val="45AB7D"/>
        </a:accent2>
        <a:accent3>
          <a:srgbClr val="FFFFFF"/>
        </a:accent3>
        <a:accent4>
          <a:srgbClr val="122B6A"/>
        </a:accent4>
        <a:accent5>
          <a:srgbClr val="BDD8F1"/>
        </a:accent5>
        <a:accent6>
          <a:srgbClr val="3E9B71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ample">
  <a:themeElements>
    <a:clrScheme name="1_sample 3">
      <a:dk1>
        <a:srgbClr val="17347D"/>
      </a:dk1>
      <a:lt1>
        <a:srgbClr val="FFFFFF"/>
      </a:lt1>
      <a:dk2>
        <a:srgbClr val="3366CC"/>
      </a:dk2>
      <a:lt2>
        <a:srgbClr val="DDDDDD"/>
      </a:lt2>
      <a:accent1>
        <a:srgbClr val="77B7E7"/>
      </a:accent1>
      <a:accent2>
        <a:srgbClr val="45AB7D"/>
      </a:accent2>
      <a:accent3>
        <a:srgbClr val="FFFFFF"/>
      </a:accent3>
      <a:accent4>
        <a:srgbClr val="122B6A"/>
      </a:accent4>
      <a:accent5>
        <a:srgbClr val="BDD8F1"/>
      </a:accent5>
      <a:accent6>
        <a:srgbClr val="3E9B71"/>
      </a:accent6>
      <a:hlink>
        <a:srgbClr val="9999FF"/>
      </a:hlink>
      <a:folHlink>
        <a:srgbClr val="969696"/>
      </a:folHlink>
    </a:clrScheme>
    <a:fontScheme name="1_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sample 1">
        <a:dk1>
          <a:srgbClr val="1B525F"/>
        </a:dk1>
        <a:lt1>
          <a:srgbClr val="FFFFFF"/>
        </a:lt1>
        <a:dk2>
          <a:srgbClr val="339966"/>
        </a:dk2>
        <a:lt2>
          <a:srgbClr val="DDDDDD"/>
        </a:lt2>
        <a:accent1>
          <a:srgbClr val="C5BA6B"/>
        </a:accent1>
        <a:accent2>
          <a:srgbClr val="669900"/>
        </a:accent2>
        <a:accent3>
          <a:srgbClr val="FFFFFF"/>
        </a:accent3>
        <a:accent4>
          <a:srgbClr val="154550"/>
        </a:accent4>
        <a:accent5>
          <a:srgbClr val="DFD9BA"/>
        </a:accent5>
        <a:accent6>
          <a:srgbClr val="5C8A00"/>
        </a:accent6>
        <a:hlink>
          <a:srgbClr val="E57C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ample 2">
        <a:dk1>
          <a:srgbClr val="191961"/>
        </a:dk1>
        <a:lt1>
          <a:srgbClr val="FFFFFF"/>
        </a:lt1>
        <a:dk2>
          <a:srgbClr val="5D4CDC"/>
        </a:dk2>
        <a:lt2>
          <a:srgbClr val="DDDDDD"/>
        </a:lt2>
        <a:accent1>
          <a:srgbClr val="31B36C"/>
        </a:accent1>
        <a:accent2>
          <a:srgbClr val="0099FF"/>
        </a:accent2>
        <a:accent3>
          <a:srgbClr val="FFFFFF"/>
        </a:accent3>
        <a:accent4>
          <a:srgbClr val="141452"/>
        </a:accent4>
        <a:accent5>
          <a:srgbClr val="ADD6BA"/>
        </a:accent5>
        <a:accent6>
          <a:srgbClr val="008AE7"/>
        </a:accent6>
        <a:hlink>
          <a:srgbClr val="A0963C"/>
        </a:hlink>
        <a:folHlink>
          <a:srgbClr val="A0963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ample 3">
        <a:dk1>
          <a:srgbClr val="17347D"/>
        </a:dk1>
        <a:lt1>
          <a:srgbClr val="FFFFFF"/>
        </a:lt1>
        <a:dk2>
          <a:srgbClr val="3366CC"/>
        </a:dk2>
        <a:lt2>
          <a:srgbClr val="DDDDDD"/>
        </a:lt2>
        <a:accent1>
          <a:srgbClr val="77B7E7"/>
        </a:accent1>
        <a:accent2>
          <a:srgbClr val="45AB7D"/>
        </a:accent2>
        <a:accent3>
          <a:srgbClr val="FFFFFF"/>
        </a:accent3>
        <a:accent4>
          <a:srgbClr val="122B6A"/>
        </a:accent4>
        <a:accent5>
          <a:srgbClr val="BDD8F1"/>
        </a:accent5>
        <a:accent6>
          <a:srgbClr val="3E9B71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顶级ppt模版1</Template>
  <TotalTime>86</TotalTime>
  <Words>2911</Words>
  <Application>Microsoft Macintosh PowerPoint</Application>
  <PresentationFormat>全屏显示(4:3)</PresentationFormat>
  <Paragraphs>476</Paragraphs>
  <Slides>63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76" baseType="lpstr">
      <vt:lpstr>宋体</vt:lpstr>
      <vt:lpstr>Euclid</vt:lpstr>
      <vt:lpstr>Arial</vt:lpstr>
      <vt:lpstr>Arial Black</vt:lpstr>
      <vt:lpstr>Calibri</vt:lpstr>
      <vt:lpstr>Cambria Math</vt:lpstr>
      <vt:lpstr>Symbol</vt:lpstr>
      <vt:lpstr>Times New Roman</vt:lpstr>
      <vt:lpstr>Verdana</vt:lpstr>
      <vt:lpstr>Wingdings</vt:lpstr>
      <vt:lpstr>sample</vt:lpstr>
      <vt:lpstr>1_sample</vt:lpstr>
      <vt:lpstr>Equation.DSMT4</vt:lpstr>
      <vt:lpstr>PowerPoint 演示文稿</vt:lpstr>
      <vt:lpstr>PowerPoint 演示文稿</vt:lpstr>
      <vt:lpstr>目录</vt:lpstr>
      <vt:lpstr>PowerPoint 演示文稿</vt:lpstr>
      <vt:lpstr>一些术语</vt:lpstr>
      <vt:lpstr>一些术语</vt:lpstr>
      <vt:lpstr>推理规则 - 一般形式</vt:lpstr>
      <vt:lpstr>一个简单的例子</vt:lpstr>
      <vt:lpstr>命题逻辑的一些推理规则</vt:lpstr>
      <vt:lpstr>肯定式推理与否定式推理</vt:lpstr>
      <vt:lpstr>逻辑推理规则</vt:lpstr>
      <vt:lpstr>PowerPoint 演示文稿</vt:lpstr>
      <vt:lpstr>有效参数</vt:lpstr>
      <vt:lpstr>PowerPoint 演示文稿</vt:lpstr>
      <vt:lpstr>PowerPoint 演示文稿</vt:lpstr>
      <vt:lpstr>PowerPoint 演示文稿</vt:lpstr>
      <vt:lpstr>例 1</vt:lpstr>
      <vt:lpstr>论据</vt:lpstr>
      <vt:lpstr>例 2</vt:lpstr>
      <vt:lpstr>论据</vt:lpstr>
      <vt:lpstr>练习</vt:lpstr>
      <vt:lpstr>消解律</vt:lpstr>
      <vt:lpstr>决议</vt:lpstr>
      <vt:lpstr>例 3</vt:lpstr>
      <vt:lpstr>例 4</vt:lpstr>
      <vt:lpstr>谬误</vt:lpstr>
      <vt:lpstr>形式化证明示例</vt:lpstr>
      <vt:lpstr>形式化证明示例</vt:lpstr>
      <vt:lpstr>证明示例 续</vt:lpstr>
      <vt:lpstr>证明示例 续</vt:lpstr>
      <vt:lpstr>PowerPoint 演示文稿</vt:lpstr>
      <vt:lpstr>PowerPoint 演示文稿</vt:lpstr>
      <vt:lpstr>PowerPoint 演示文稿</vt:lpstr>
      <vt:lpstr>PowerPoint 演示文稿</vt:lpstr>
      <vt:lpstr>练习</vt:lpstr>
      <vt:lpstr>练习</vt:lpstr>
      <vt:lpstr>PowerPoint 演示文稿</vt:lpstr>
      <vt:lpstr>量词的所有推理规则</vt:lpstr>
      <vt:lpstr>例 5</vt:lpstr>
      <vt:lpstr>例6</vt:lpstr>
      <vt:lpstr>PowerPoint 演示文稿</vt:lpstr>
      <vt:lpstr>练习</vt:lpstr>
      <vt:lpstr>练习</vt:lpstr>
      <vt:lpstr>练习</vt:lpstr>
      <vt:lpstr>练习</vt:lpstr>
      <vt:lpstr>PowerPoint 演示文稿</vt:lpstr>
      <vt:lpstr>含义的其他证明方法</vt:lpstr>
      <vt:lpstr>直接证明示例</vt:lpstr>
      <vt:lpstr>间接证明示例（微积分）</vt:lpstr>
      <vt:lpstr>空洞而琐碎的证明</vt:lpstr>
      <vt:lpstr>证明策略</vt:lpstr>
      <vt:lpstr>矛盾证明</vt:lpstr>
      <vt:lpstr>案例证明</vt:lpstr>
      <vt:lpstr>等价证明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中文练习</vt:lpstr>
      <vt:lpstr>中文练习</vt:lpstr>
      <vt:lpstr>练习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CZ M</dc:creator>
  <cp:keywords>, docId:BE013F28C120BE00FAFBA36CC3397C1A</cp:keywords>
  <cp:lastModifiedBy>Ying Su</cp:lastModifiedBy>
  <cp:revision>328</cp:revision>
  <dcterms:created xsi:type="dcterms:W3CDTF">2015-09-24T09:51:00Z</dcterms:created>
  <dcterms:modified xsi:type="dcterms:W3CDTF">2026-09-07T09:56:12Z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2052-12.1.0.21541</vt:lpwstr>
  </property>
  <property fmtid="{D5CDD505-2E9C-101B-9397-08002B2CF9AE}" pid="4" name="ICV">
    <vt:lpwstr>CFFE36EB7CE049DE8EF50ACBA941F72F_12</vt:lpwstr>
  </property>
</Properties>
</file>