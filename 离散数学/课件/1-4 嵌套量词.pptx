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5" Type="http://purl.oclc.org/ooxml/officeDocument/relationships/customProperties" Target="docProps/custom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conformance="strict">
  <p:sldMasterIdLst>
    <p:sldMasterId id="2147483648" r:id="rId1"/>
    <p:sldMasterId id="2147483660" r:id="rId2"/>
  </p:sldMasterIdLst>
  <p:notesMasterIdLst>
    <p:notesMasterId r:id="rId35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366" r:id="rId16"/>
    <p:sldId id="372" r:id="rId17"/>
    <p:sldId id="270" r:id="rId18"/>
    <p:sldId id="271" r:id="rId19"/>
    <p:sldId id="272" r:id="rId20"/>
    <p:sldId id="273" r:id="rId21"/>
    <p:sldId id="377" r:id="rId22"/>
    <p:sldId id="359" r:id="rId23"/>
    <p:sldId id="274" r:id="rId24"/>
    <p:sldId id="275" r:id="rId25"/>
    <p:sldId id="276" r:id="rId26"/>
    <p:sldId id="360" r:id="rId27"/>
    <p:sldId id="277" r:id="rId28"/>
    <p:sldId id="282" r:id="rId29"/>
    <p:sldId id="283" r:id="rId30"/>
    <p:sldId id="280" r:id="rId31"/>
    <p:sldId id="281" r:id="rId32"/>
    <p:sldId id="384" r:id="rId33"/>
    <p:sldId id="278" r:id="rId3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%"/>
      </a:spcBef>
      <a:spcAft>
        <a:spcPct val="0%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%"/>
      </a:spcBef>
      <a:spcAft>
        <a:spcPct val="0%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%"/>
      </a:spcBef>
      <a:spcAft>
        <a:spcPct val="0%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%"/>
      </a:spcBef>
      <a:spcAft>
        <a:spcPct val="0%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%"/>
      </a:spcBef>
      <a:spcAft>
        <a:spcPct val="0%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clrMru>
    <a:srgbClr val="8E2D06"/>
    <a:srgbClr val="0307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19.058%"/>
    <p:restoredTop sz="94.685%"/>
  </p:normalViewPr>
  <p:slideViewPr>
    <p:cSldViewPr showGuides="1">
      <p:cViewPr varScale="1">
        <p:scale>
          <a:sx n="117" d="100"/>
          <a:sy n="117" d="100"/>
        </p:scale>
        <p:origin x="312" y="184"/>
      </p:cViewPr>
      <p:guideLst>
        <p:guide orient="horz" pos="2160"/>
        <p:guide pos="29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purl.oclc.org/ooxml/officeDocument/relationships/slide" Target="slides/slide11.xml"/><Relationship Id="rId18" Type="http://purl.oclc.org/ooxml/officeDocument/relationships/slide" Target="slides/slide16.xml"/><Relationship Id="rId26" Type="http://purl.oclc.org/ooxml/officeDocument/relationships/slide" Target="slides/slide24.xml"/><Relationship Id="rId39" Type="http://purl.oclc.org/ooxml/officeDocument/relationships/tableStyles" Target="tableStyles.xml"/><Relationship Id="rId21" Type="http://purl.oclc.org/ooxml/officeDocument/relationships/slide" Target="slides/slide19.xml"/><Relationship Id="rId34" Type="http://purl.oclc.org/ooxml/officeDocument/relationships/slide" Target="slides/slide32.xml"/><Relationship Id="rId7" Type="http://purl.oclc.org/ooxml/officeDocument/relationships/slide" Target="slides/slide5.xml"/><Relationship Id="rId12" Type="http://purl.oclc.org/ooxml/officeDocument/relationships/slide" Target="slides/slide10.xml"/><Relationship Id="rId17" Type="http://purl.oclc.org/ooxml/officeDocument/relationships/slide" Target="slides/slide15.xml"/><Relationship Id="rId25" Type="http://purl.oclc.org/ooxml/officeDocument/relationships/slide" Target="slides/slide23.xml"/><Relationship Id="rId33" Type="http://purl.oclc.org/ooxml/officeDocument/relationships/slide" Target="slides/slide31.xml"/><Relationship Id="rId38" Type="http://purl.oclc.org/ooxml/officeDocument/relationships/theme" Target="theme/theme1.xml"/><Relationship Id="rId2" Type="http://purl.oclc.org/ooxml/officeDocument/relationships/slideMaster" Target="slideMasters/slideMaster2.xml"/><Relationship Id="rId16" Type="http://purl.oclc.org/ooxml/officeDocument/relationships/slide" Target="slides/slide14.xml"/><Relationship Id="rId20" Type="http://purl.oclc.org/ooxml/officeDocument/relationships/slide" Target="slides/slide18.xml"/><Relationship Id="rId29" Type="http://purl.oclc.org/ooxml/officeDocument/relationships/slide" Target="slides/slide27.xml"/><Relationship Id="rId1" Type="http://purl.oclc.org/ooxml/officeDocument/relationships/slideMaster" Target="slideMasters/slideMaster1.xml"/><Relationship Id="rId6" Type="http://purl.oclc.org/ooxml/officeDocument/relationships/slide" Target="slides/slide4.xml"/><Relationship Id="rId11" Type="http://purl.oclc.org/ooxml/officeDocument/relationships/slide" Target="slides/slide9.xml"/><Relationship Id="rId24" Type="http://purl.oclc.org/ooxml/officeDocument/relationships/slide" Target="slides/slide22.xml"/><Relationship Id="rId32" Type="http://purl.oclc.org/ooxml/officeDocument/relationships/slide" Target="slides/slide30.xml"/><Relationship Id="rId37" Type="http://purl.oclc.org/ooxml/officeDocument/relationships/viewProps" Target="viewProps.xml"/><Relationship Id="rId5" Type="http://purl.oclc.org/ooxml/officeDocument/relationships/slide" Target="slides/slide3.xml"/><Relationship Id="rId15" Type="http://purl.oclc.org/ooxml/officeDocument/relationships/slide" Target="slides/slide13.xml"/><Relationship Id="rId23" Type="http://purl.oclc.org/ooxml/officeDocument/relationships/slide" Target="slides/slide21.xml"/><Relationship Id="rId28" Type="http://purl.oclc.org/ooxml/officeDocument/relationships/slide" Target="slides/slide26.xml"/><Relationship Id="rId36" Type="http://purl.oclc.org/ooxml/officeDocument/relationships/presProps" Target="presProps.xml"/><Relationship Id="rId10" Type="http://purl.oclc.org/ooxml/officeDocument/relationships/slide" Target="slides/slide8.xml"/><Relationship Id="rId19" Type="http://purl.oclc.org/ooxml/officeDocument/relationships/slide" Target="slides/slide17.xml"/><Relationship Id="rId31" Type="http://purl.oclc.org/ooxml/officeDocument/relationships/slide" Target="slides/slide29.xml"/><Relationship Id="rId4" Type="http://purl.oclc.org/ooxml/officeDocument/relationships/slide" Target="slides/slide2.xml"/><Relationship Id="rId9" Type="http://purl.oclc.org/ooxml/officeDocument/relationships/slide" Target="slides/slide7.xml"/><Relationship Id="rId14" Type="http://purl.oclc.org/ooxml/officeDocument/relationships/slide" Target="slides/slide12.xml"/><Relationship Id="rId22" Type="http://purl.oclc.org/ooxml/officeDocument/relationships/slide" Target="slides/slide20.xml"/><Relationship Id="rId27" Type="http://purl.oclc.org/ooxml/officeDocument/relationships/slide" Target="slides/slide25.xml"/><Relationship Id="rId30" Type="http://purl.oclc.org/ooxml/officeDocument/relationships/slide" Target="slides/slide28.xml"/><Relationship Id="rId35" Type="http://purl.oclc.org/ooxml/officeDocument/relationships/notesMaster" Target="notesMasters/notesMaster1.xml"/><Relationship Id="rId8" Type="http://purl.oclc.org/ooxml/officeDocument/relationships/slide" Target="slides/slide6.xml"/><Relationship Id="rId3" Type="http://purl.oclc.org/ooxml/officeDocument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3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fld id="{50C30AC1-1FAF-46E3-B302-5DF2A7085AC2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%"/>
      </a:spcBef>
      <a:spcAft>
        <a:spcPct val="0%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%"/>
      </a:spcBef>
      <a:spcAft>
        <a:spcPct val="0%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%"/>
      </a:spcBef>
      <a:spcAft>
        <a:spcPct val="0%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%"/>
      </a:spcBef>
      <a:spcAft>
        <a:spcPct val="0%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%"/>
      </a:spcBef>
      <a:spcAft>
        <a:spcPct val="0%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2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50BF03-64E7-4854-BA3A-438F4A442CA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7F3B35-FC91-46CA-B638-AEE5BBD45F8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8736A6-E9DD-41B9-9F25-54913E74D40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B236E-3976-40AE-A415-7565B79A26C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0EAC6D-146F-4A27-B87C-4929369729A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DDA82D-4083-4A1F-AB97-13A4C4BCA09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945FDF-55CE-4B92-B187-8EDC65E2681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F543E-5E0B-4494-A496-DBC282F599E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FFC9C1-7E51-42C3-BC75-C936DE39CBB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BFF41C-043C-4D3B-AF01-A9328898173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91A77-AF45-4146-8BBE-461E8139C5E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purl.oclc.org/ooxml/drawingml/main" xmlns:r="http://purl.oclc.org/ooxml/officeDocument/relationships" xmlns:p="http://purl.oclc.org/ooxml/presentationml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92C633-E848-48D3-9C2B-81AB688403F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purl.oclc.org/ooxml/drawingml/main" xmlns:r="http://purl.oclc.org/ooxml/officeDocument/relationships" xmlns:p="http://purl.oclc.org/ooxml/presentationml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47CD01-4D8F-4E39-A342-4588384F686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purl.oclc.org/ooxml/drawingml/main" xmlns:r="http://purl.oclc.org/ooxml/officeDocument/relationships" xmlns:p="http://purl.oclc.org/ooxml/presentationml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517DCB-CA48-4FDB-95D6-853A9A01B31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purl.oclc.org/ooxml/drawingml/main" xmlns:r="http://purl.oclc.org/ooxml/officeDocument/relationships" xmlns:p="http://purl.oclc.org/ooxml/presentationml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370AA-D894-42AF-8E8D-CC1AFB26C69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C08619-AE85-4DCB-8A5D-5AB95CC0007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purl.oclc.org/ooxml/drawingml/main" xmlns:r="http://purl.oclc.org/ooxml/officeDocument/relationships" xmlns:p="http://purl.oclc.org/ooxml/presentationml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33B97D-972D-4F8D-BED4-20B08F33CC4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purl.oclc.org/ooxml/drawingml/main" xmlns:r="http://purl.oclc.org/ooxml/officeDocument/relationships" xmlns:p="http://purl.oclc.org/ooxml/presentationml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09EDBB-8F61-46CE-B61F-C40E9E973DB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purl.oclc.org/ooxml/drawingml/main" xmlns:r="http://purl.oclc.org/ooxml/officeDocument/relationships" xmlns:p="http://purl.oclc.org/ooxml/presentationml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8DE6D-ADDD-4AE1-AD1A-FE72EE38474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purl.oclc.org/ooxml/drawingml/main" xmlns:r="http://purl.oclc.org/ooxml/officeDocument/relationships" xmlns:p="http://purl.oclc.org/ooxml/presentationml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089E69-F658-44D8-9707-F4094F7B71B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purl.oclc.org/ooxml/drawingml/main" xmlns:r="http://purl.oclc.org/ooxml/officeDocument/relationships" xmlns:p="http://purl.oclc.org/ooxml/presentationml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CFC928-1EA7-4B1D-B329-63060491AD1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555BB5-C06C-4427-AFFE-902825A2416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13" Type="http://purl.oclc.org/ooxml/officeDocument/relationships/image" Target="../media/image1.jpeg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theme" Target="../theme/theme1.xml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Relationship Id="rId14" Type="http://purl.oclc.org/ooxml/officeDocument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19.xml"/><Relationship Id="rId13" Type="http://purl.oclc.org/ooxml/officeDocument/relationships/image" Target="../media/image1.jpeg"/><Relationship Id="rId3" Type="http://purl.oclc.org/ooxml/officeDocument/relationships/slideLayout" Target="../slideLayouts/slideLayout14.xml"/><Relationship Id="rId7" Type="http://purl.oclc.org/ooxml/officeDocument/relationships/slideLayout" Target="../slideLayouts/slideLayout18.xml"/><Relationship Id="rId12" Type="http://purl.oclc.org/ooxml/officeDocument/relationships/theme" Target="../theme/theme2.xml"/><Relationship Id="rId2" Type="http://purl.oclc.org/ooxml/officeDocument/relationships/slideLayout" Target="../slideLayouts/slideLayout13.xml"/><Relationship Id="rId1" Type="http://purl.oclc.org/ooxml/officeDocument/relationships/slideLayout" Target="../slideLayouts/slideLayout12.xml"/><Relationship Id="rId6" Type="http://purl.oclc.org/ooxml/officeDocument/relationships/slideLayout" Target="../slideLayouts/slideLayout17.xml"/><Relationship Id="rId11" Type="http://purl.oclc.org/ooxml/officeDocument/relationships/slideLayout" Target="../slideLayouts/slideLayout22.xml"/><Relationship Id="rId5" Type="http://purl.oclc.org/ooxml/officeDocument/relationships/slideLayout" Target="../slideLayouts/slideLayout16.xml"/><Relationship Id="rId10" Type="http://purl.oclc.org/ooxml/officeDocument/relationships/slideLayout" Target="../slideLayouts/slideLayout21.xml"/><Relationship Id="rId4" Type="http://purl.oclc.org/ooxml/officeDocument/relationships/slideLayout" Target="../slideLayouts/slideLayout15.xml"/><Relationship Id="rId9" Type="http://purl.oclc.org/ooxml/officeDocument/relationships/slideLayout" Target="../slideLayouts/slideLayout20.xml"/><Relationship Id="rId14" Type="http://purl.oclc.org/ooxml/officeDocument/relationships/image" Target="../media/image2.jpeg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a1"/>
          <p:cNvSpPr>
            <a:spLocks noChangeArrowheads="1"/>
          </p:cNvSpPr>
          <p:nvPr/>
        </p:nvSpPr>
        <p:spPr bwMode="auto">
          <a:xfrm>
            <a:off x="592138" y="0"/>
            <a:ext cx="2066925" cy="838200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2730500" y="0"/>
            <a:ext cx="2138363" cy="838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28" name="Rectangle 4" descr="a2"/>
          <p:cNvSpPr>
            <a:spLocks noChangeArrowheads="1"/>
          </p:cNvSpPr>
          <p:nvPr/>
        </p:nvSpPr>
        <p:spPr bwMode="auto">
          <a:xfrm>
            <a:off x="4938713" y="0"/>
            <a:ext cx="2066925" cy="838200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7077075" y="0"/>
            <a:ext cx="2066925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grpSp>
        <p:nvGrpSpPr>
          <p:cNvPr id="1031" name="Group 7"/>
          <p:cNvGrpSpPr/>
          <p:nvPr/>
        </p:nvGrpSpPr>
        <p:grpSpPr bwMode="auto">
          <a:xfrm>
            <a:off x="0" y="685800"/>
            <a:ext cx="9144000" cy="609600"/>
            <a:chOff x="0" y="0"/>
            <a:chExt cx="5760" cy="384"/>
          </a:xfrm>
        </p:grpSpPr>
        <p:sp>
          <p:nvSpPr>
            <p:cNvPr id="2" name="Rectangle 8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%"/>
                </a:spcBef>
                <a:spcAft>
                  <a:spcPct val="0%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%"/>
                </a:spcBef>
                <a:spcAft>
                  <a:spcPct val="0%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%"/>
                </a:spcBef>
                <a:spcAft>
                  <a:spcPct val="0%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%"/>
                </a:spcBef>
                <a:spcAft>
                  <a:spcPct val="0%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3" name="Rectangle 9"/>
            <p:cNvSpPr>
              <a:spLocks noChangeArrowheads="1"/>
            </p:cNvSpPr>
            <p:nvPr userDrawn="1"/>
          </p:nvSpPr>
          <p:spPr bwMode="auto">
            <a:xfrm>
              <a:off x="362" y="0"/>
              <a:ext cx="5398" cy="3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%"/>
                </a:spcBef>
                <a:spcAft>
                  <a:spcPct val="0%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%"/>
                </a:spcBef>
                <a:spcAft>
                  <a:spcPct val="0%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%"/>
                </a:spcBef>
                <a:spcAft>
                  <a:spcPct val="0%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%"/>
                </a:spcBef>
                <a:spcAft>
                  <a:spcPct val="0%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  <p:sp>
        <p:nvSpPr>
          <p:cNvPr id="103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61125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67400" y="64770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公司标志</a:t>
            </a: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fld id="{27DECCAB-EF22-4F24-897E-BC9F5D70113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39" name="Text Box 15"/>
          <p:cNvSpPr txBox="1">
            <a:spLocks noChangeArrowheads="1"/>
          </p:cNvSpPr>
          <p:nvPr/>
        </p:nvSpPr>
        <p:spPr bwMode="auto">
          <a:xfrm>
            <a:off x="7391400" y="76200"/>
            <a:ext cx="17653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%"/>
        </a:spcBef>
        <a:spcAft>
          <a:spcPct val="0%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%"/>
        </a:spcBef>
        <a:spcAft>
          <a:spcPct val="0%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%"/>
        </a:spcBef>
        <a:spcAft>
          <a:spcPct val="0%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%"/>
        </a:spcBef>
        <a:spcAft>
          <a:spcPct val="0%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%"/>
        </a:spcBef>
        <a:spcAft>
          <a:spcPct val="0%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0" fontAlgn="base" hangingPunct="0">
        <a:spcBef>
          <a:spcPct val="0%"/>
        </a:spcBef>
        <a:spcAft>
          <a:spcPct val="0%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0" fontAlgn="base" hangingPunct="0">
        <a:spcBef>
          <a:spcPct val="0%"/>
        </a:spcBef>
        <a:spcAft>
          <a:spcPct val="0%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0" fontAlgn="base" hangingPunct="0">
        <a:spcBef>
          <a:spcPct val="0%"/>
        </a:spcBef>
        <a:spcAft>
          <a:spcPct val="0%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0" fontAlgn="base" hangingPunct="0">
        <a:spcBef>
          <a:spcPct val="0%"/>
        </a:spcBef>
        <a:spcAft>
          <a:spcPct val="0%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%"/>
        </a:spcBef>
        <a:spcAft>
          <a:spcPct val="0%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%"/>
        </a:spcBef>
        <a:spcAft>
          <a:spcPct val="0%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%"/>
        </a:spcBef>
        <a:spcAft>
          <a:spcPct val="0%"/>
        </a:spcAft>
        <a:buClr>
          <a:schemeClr val="tx1"/>
        </a:buClr>
        <a:buFont typeface="Wingdings" panose="05000000000000000000" pitchFamily="2" charset="2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%"/>
        </a:spcBef>
        <a:spcAft>
          <a:spcPct val="0%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%"/>
        </a:spcBef>
        <a:spcAft>
          <a:spcPct val="0%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purl.oclc.org/ooxml/drawingml/main" xmlns:r="http://purl.oclc.org/ooxml/officeDocument/relationships" xmlns:p="http://purl.oclc.org/ooxml/presentationml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 descr="a1"/>
          <p:cNvSpPr>
            <a:spLocks noChangeArrowheads="1"/>
          </p:cNvSpPr>
          <p:nvPr/>
        </p:nvSpPr>
        <p:spPr bwMode="auto">
          <a:xfrm>
            <a:off x="2286000" y="0"/>
            <a:ext cx="2286000" cy="3124200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0"/>
            <a:ext cx="2209800" cy="312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4648200" y="0"/>
            <a:ext cx="2209800" cy="3124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3" name="Rectangle 5" descr="a2"/>
          <p:cNvSpPr>
            <a:spLocks noChangeArrowheads="1"/>
          </p:cNvSpPr>
          <p:nvPr/>
        </p:nvSpPr>
        <p:spPr bwMode="auto">
          <a:xfrm>
            <a:off x="6934200" y="0"/>
            <a:ext cx="2209800" cy="3124200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6" name="Text Box 13"/>
          <p:cNvSpPr txBox="1">
            <a:spLocks noChangeArrowheads="1"/>
          </p:cNvSpPr>
          <p:nvPr/>
        </p:nvSpPr>
        <p:spPr bwMode="auto">
          <a:xfrm>
            <a:off x="444500" y="2514600"/>
            <a:ext cx="17653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%"/>
              </a:spcBef>
              <a:spcAft>
                <a:spcPct val="0%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  <p:sp>
        <p:nvSpPr>
          <p:cNvPr id="205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205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205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51613"/>
            <a:ext cx="2133600" cy="1698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fld id="{7C37EF12-442C-487E-A1DB-CB2E43F8A1E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%"/>
        </a:spcBef>
        <a:spcAft>
          <a:spcPct val="0%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%"/>
        </a:spcBef>
        <a:spcAft>
          <a:spcPct val="0%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%"/>
        </a:spcBef>
        <a:spcAft>
          <a:spcPct val="0%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%"/>
        </a:spcBef>
        <a:spcAft>
          <a:spcPct val="0%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%"/>
        </a:spcBef>
        <a:spcAft>
          <a:spcPct val="0%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0" fontAlgn="base" hangingPunct="0">
        <a:spcBef>
          <a:spcPct val="0%"/>
        </a:spcBef>
        <a:spcAft>
          <a:spcPct val="0%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0" fontAlgn="base" hangingPunct="0">
        <a:spcBef>
          <a:spcPct val="0%"/>
        </a:spcBef>
        <a:spcAft>
          <a:spcPct val="0%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0" fontAlgn="base" hangingPunct="0">
        <a:spcBef>
          <a:spcPct val="0%"/>
        </a:spcBef>
        <a:spcAft>
          <a:spcPct val="0%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0" fontAlgn="base" hangingPunct="0">
        <a:spcBef>
          <a:spcPct val="0%"/>
        </a:spcBef>
        <a:spcAft>
          <a:spcPct val="0%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%"/>
        </a:spcBef>
        <a:spcAft>
          <a:spcPct val="0%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%"/>
        </a:spcBef>
        <a:spcAft>
          <a:spcPct val="0%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%"/>
        </a:spcBef>
        <a:spcAft>
          <a:spcPct val="0%"/>
        </a:spcAft>
        <a:buClr>
          <a:schemeClr val="tx1"/>
        </a:buClr>
        <a:buFont typeface="Wingdings" panose="05000000000000000000" pitchFamily="2" charset="2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%"/>
        </a:spcBef>
        <a:spcAft>
          <a:spcPct val="0%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%"/>
        </a:spcBef>
        <a:spcAft>
          <a:spcPct val="0%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purl.oclc.org/ooxml/officeDocument/relationships/tags" Target="../tags/tag8.xml"/><Relationship Id="rId13" Type="http://purl.oclc.org/ooxml/officeDocument/relationships/tags" Target="../tags/tag13.xml"/><Relationship Id="rId3" Type="http://purl.oclc.org/ooxml/officeDocument/relationships/tags" Target="../tags/tag3.xml"/><Relationship Id="rId7" Type="http://purl.oclc.org/ooxml/officeDocument/relationships/tags" Target="../tags/tag7.xml"/><Relationship Id="rId12" Type="http://purl.oclc.org/ooxml/officeDocument/relationships/tags" Target="../tags/tag12.xml"/><Relationship Id="rId17" Type="http://purl.oclc.org/ooxml/officeDocument/relationships/slideLayout" Target="../slideLayouts/slideLayout7.xml"/><Relationship Id="rId2" Type="http://purl.oclc.org/ooxml/officeDocument/relationships/tags" Target="../tags/tag2.xml"/><Relationship Id="rId16" Type="http://purl.oclc.org/ooxml/officeDocument/relationships/tags" Target="../tags/tag16.xml"/><Relationship Id="rId1" Type="http://purl.oclc.org/ooxml/officeDocument/relationships/tags" Target="../tags/tag1.xml"/><Relationship Id="rId6" Type="http://purl.oclc.org/ooxml/officeDocument/relationships/tags" Target="../tags/tag6.xml"/><Relationship Id="rId11" Type="http://purl.oclc.org/ooxml/officeDocument/relationships/tags" Target="../tags/tag11.xml"/><Relationship Id="rId5" Type="http://purl.oclc.org/ooxml/officeDocument/relationships/tags" Target="../tags/tag5.xml"/><Relationship Id="rId15" Type="http://purl.oclc.org/ooxml/officeDocument/relationships/tags" Target="../tags/tag15.xml"/><Relationship Id="rId10" Type="http://purl.oclc.org/ooxml/officeDocument/relationships/tags" Target="../tags/tag10.xml"/><Relationship Id="rId4" Type="http://purl.oclc.org/ooxml/officeDocument/relationships/tags" Target="../tags/tag4.xml"/><Relationship Id="rId9" Type="http://purl.oclc.org/ooxml/officeDocument/relationships/tags" Target="../tags/tag9.xml"/><Relationship Id="rId14" Type="http://purl.oclc.org/ooxml/officeDocument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purl.oclc.org/ooxml/officeDocument/relationships/image" Target="../media/image3.png"/><Relationship Id="rId1" Type="http://purl.oclc.org/ooxml/officeDocument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purl.oclc.org/ooxml/officeDocument/relationships/image" Target="../media/image4.png"/><Relationship Id="rId1" Type="http://purl.oclc.org/ooxml/officeDocument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18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2"/>
          <p:cNvSpPr txBox="1">
            <a:spLocks noGrp="1" noChangeArrowheads="1"/>
          </p:cNvSpPr>
          <p:nvPr/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B900BC49-2ECC-417F-B31F-4CC23BDD34A6}" type="slidenum">
              <a:rPr lang="en-US" altLang="zh-CN" sz="1200"/>
              <a:t>1</a:t>
            </a:fld>
            <a:endParaRPr lang="en-US" altLang="zh-CN" sz="1200"/>
          </a:p>
        </p:txBody>
      </p:sp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2286000" y="2743200"/>
            <a:ext cx="6705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r>
              <a:rPr lang="en-US" altLang="zh-CN" sz="4000" b="1">
                <a:solidFill>
                  <a:schemeClr val="bg1"/>
                </a:solidFill>
                <a:latin typeface="Verdana" panose="020B0604030504040204" pitchFamily="34" charset="0"/>
              </a:rPr>
              <a:t>离散数学</a:t>
            </a:r>
          </a:p>
        </p:txBody>
      </p:sp>
      <p:sp>
        <p:nvSpPr>
          <p:cNvPr id="4101" name="Rectangle 3"/>
          <p:cNvSpPr>
            <a:spLocks noChangeArrowheads="1"/>
          </p:cNvSpPr>
          <p:nvPr/>
        </p:nvSpPr>
        <p:spPr bwMode="auto">
          <a:xfrm>
            <a:off x="1295400" y="5715000"/>
            <a:ext cx="6553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%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latin typeface="Verdana" panose="020B0604030504040204" pitchFamily="34" charset="0"/>
              </a:rPr>
              <a:t>华南理工大学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2"/>
          <p:cNvSpPr txBox="1">
            <a:spLocks noGrp="1" noChangeArrowheads="1"/>
          </p:cNvSpPr>
          <p:nvPr/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E77170F5-04A3-4FB1-A719-336AAD618714}" type="slidenum">
              <a:rPr lang="en-US" altLang="zh-CN" sz="1200"/>
              <a:t>2</a:t>
            </a:fld>
            <a:endParaRPr lang="en-US" altLang="zh-CN" sz="1200"/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4038600" y="6096000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%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Verdana" panose="020B0604030504040204" pitchFamily="34" charset="0"/>
              </a:rPr>
              <a:t>第 1.4 节</a:t>
            </a:r>
          </a:p>
        </p:txBody>
      </p:sp>
      <p:sp>
        <p:nvSpPr>
          <p:cNvPr id="5124" name="Text Box 3"/>
          <p:cNvSpPr txBox="1">
            <a:spLocks noChangeArrowheads="1"/>
          </p:cNvSpPr>
          <p:nvPr/>
        </p:nvSpPr>
        <p:spPr bwMode="auto">
          <a:xfrm>
            <a:off x="2362200" y="327660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chemeClr val="bg1"/>
                </a:solidFill>
                <a:latin typeface="Euclid" pitchFamily="18" charset="0"/>
                <a:ea typeface="Dotum" panose="020B0600000101010101" pitchFamily="34" charset="-127"/>
              </a:rPr>
              <a:t>第 1 章逻辑与证明、集合与函数</a:t>
            </a:r>
          </a:p>
        </p:txBody>
      </p:sp>
      <p:sp>
        <p:nvSpPr>
          <p:cNvPr id="5125" name="WordArt 4"/>
          <p:cNvSpPr>
            <a:spLocks noChangeArrowheads="1" noChangeShapeType="1" noTextEdit="1"/>
          </p:cNvSpPr>
          <p:nvPr/>
        </p:nvSpPr>
        <p:spPr bwMode="auto">
          <a:xfrm>
            <a:off x="1295400" y="4648200"/>
            <a:ext cx="69342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zh-CN" altLang="en-US" sz="3600" b="1" kern="1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%">
                      <a:schemeClr val="tx1"/>
                    </a:gs>
                    <a:gs pos="100%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%"/>
                    </a:srgbClr>
                  </a:outerShdw>
                </a:effectLst>
                <a:cs typeface="Arial" panose="020B0604020202020204" pitchFamily="34" charset="0"/>
              </a:rPr>
              <a:t>嵌套量词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fltVal val="0"/>
                                          </p:val>
                                        </p:tav>
                                        <p:tav tm="0.1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fltVal val="0"/>
                                          </p:val>
                                        </p:tav>
                                        <p:tav tm="0.1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5CEB0CDF-5F34-4A05-8439-719BFD90DED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目录</a:t>
            </a:r>
            <a:endParaRPr lang="en-US" altLang="zh-CN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6148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2176463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</a:ln>
          <a:effectLst>
            <a:outerShdw dist="99190" dir="2388334" algn="ctr" rotWithShape="0">
              <a:schemeClr val="bg2">
                <a:alpha val="50%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149" name="AutoShap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2057400"/>
            <a:ext cx="685800" cy="685800"/>
          </a:xfrm>
          <a:prstGeom prst="diamond">
            <a:avLst/>
          </a:prstGeom>
          <a:solidFill>
            <a:schemeClr val="accent2"/>
          </a:solidFill>
          <a:ln w="25400">
            <a:solidFill>
              <a:schemeClr val="bg1"/>
            </a:solidFill>
            <a:miter lim="800%"/>
          </a:ln>
          <a:effectLst>
            <a:outerShdw dist="63500" dir="2212194" algn="ctr" rotWithShape="0">
              <a:srgbClr val="333333">
                <a:alpha val="50%"/>
              </a:srgbClr>
            </a:outerShdw>
          </a:effectLst>
        </p:spPr>
        <p:txBody>
          <a:bodyPr wrap="none" anchor="ctr"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150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43000" y="2232025"/>
            <a:ext cx="7315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/>
              <a:t>嵌套量词到自然语言的翻译</a:t>
            </a:r>
          </a:p>
        </p:txBody>
      </p:sp>
      <p:sp>
        <p:nvSpPr>
          <p:cNvPr id="6151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7388" y="21558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152" name="AutoShap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4400" y="3014663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  <a:effectLst>
            <a:outerShdw dist="99190" dir="2388334" algn="ctr" rotWithShape="0">
              <a:schemeClr val="bg2">
                <a:alpha val="50%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153" name="AutoShap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33400" y="2895600"/>
            <a:ext cx="685800" cy="685800"/>
          </a:xfrm>
          <a:prstGeom prst="diamond">
            <a:avLst/>
          </a:prstGeom>
          <a:solidFill>
            <a:schemeClr val="accent1"/>
          </a:solidFill>
          <a:ln w="25400">
            <a:solidFill>
              <a:schemeClr val="bg1"/>
            </a:solidFill>
            <a:miter lim="800%"/>
          </a:ln>
          <a:effectLst>
            <a:outerShdw dist="63500" dir="2212194" algn="ctr" rotWithShape="0">
              <a:srgbClr val="333333">
                <a:alpha val="50%"/>
              </a:srgbClr>
            </a:outerShdw>
          </a:effectLst>
        </p:spPr>
        <p:txBody>
          <a:bodyPr wrap="none" anchor="ctr"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154" name="Text Box 9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19200" y="3070225"/>
            <a:ext cx="7315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/>
              <a:t>涉及嵌套量词的语句到逻辑表达式的翻译</a:t>
            </a:r>
          </a:p>
        </p:txBody>
      </p:sp>
      <p:sp>
        <p:nvSpPr>
          <p:cNvPr id="6155" name="Text Box 10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87388" y="29940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156" name="AutoShape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914400" y="3852863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</a:ln>
          <a:effectLst>
            <a:outerShdw dist="99190" dir="2388334" algn="ctr" rotWithShape="0">
              <a:schemeClr val="bg2">
                <a:alpha val="50%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157" name="AutoShape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33400" y="3733800"/>
            <a:ext cx="685800" cy="685800"/>
          </a:xfrm>
          <a:prstGeom prst="diamond">
            <a:avLst/>
          </a:prstGeom>
          <a:solidFill>
            <a:schemeClr val="hlink"/>
          </a:solidFill>
          <a:ln w="25400">
            <a:solidFill>
              <a:schemeClr val="bg1"/>
            </a:solidFill>
            <a:miter lim="800%"/>
          </a:ln>
          <a:effectLst>
            <a:outerShdw dist="63500" dir="2212194" algn="ctr" rotWithShape="0">
              <a:srgbClr val="333333">
                <a:alpha val="50%"/>
              </a:srgbClr>
            </a:outerShdw>
          </a:effectLst>
        </p:spPr>
        <p:txBody>
          <a:bodyPr wrap="none" anchor="ctr"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158" name="Text Box 13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143000" y="3908425"/>
            <a:ext cx="7391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b="1"/>
              <a:t>  </a:t>
            </a:r>
            <a:r>
              <a:rPr lang="zh-CN" altLang="en-US" sz="1800" b="1"/>
              <a:t>带有嵌套量词逻辑表达式的否定</a:t>
            </a:r>
          </a:p>
        </p:txBody>
      </p:sp>
      <p:sp>
        <p:nvSpPr>
          <p:cNvPr id="6159" name="Text Box 14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87388" y="38322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160" name="AutoShape 15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914400" y="4691063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  <a:effectLst>
            <a:outerShdw dist="99190" dir="2388334" algn="ctr" rotWithShape="0">
              <a:schemeClr val="bg2">
                <a:alpha val="50%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161" name="AutoShape 16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33400" y="4572000"/>
            <a:ext cx="685800" cy="685800"/>
          </a:xfrm>
          <a:prstGeom prst="diamond">
            <a:avLst/>
          </a:prstGeom>
          <a:solidFill>
            <a:schemeClr val="tx1"/>
          </a:solidFill>
          <a:ln w="25400">
            <a:solidFill>
              <a:schemeClr val="bg1"/>
            </a:solidFill>
            <a:miter lim="800%"/>
          </a:ln>
          <a:effectLst>
            <a:outerShdw dist="63500" dir="2212194" algn="ctr" rotWithShape="0">
              <a:srgbClr val="333333">
                <a:alpha val="50%"/>
              </a:srgbClr>
            </a:outerShdw>
          </a:effectLst>
        </p:spPr>
        <p:txBody>
          <a:bodyPr wrap="none" anchor="ctr"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162" name="Text Box 17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219200" y="4746625"/>
            <a:ext cx="731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b="1"/>
              <a:t>量词的顺序</a:t>
            </a:r>
          </a:p>
        </p:txBody>
      </p:sp>
      <p:sp>
        <p:nvSpPr>
          <p:cNvPr id="6163" name="Text Box 18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87388" y="46704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1570FFE7-B4C5-4C76-B565-F79C169E8D4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7172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7174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7179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%">
                    <a:schemeClr val="hlink"/>
                  </a:gs>
                  <a:gs pos="100%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%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%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%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%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%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%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7180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%">
                    <a:srgbClr val="D2D2FF"/>
                  </a:gs>
                  <a:gs pos="100%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%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%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%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%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%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%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7175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%">
                  <a:srgbClr val="37556B"/>
                </a:gs>
                <a:gs pos="100%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%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%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%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%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%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%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7176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%">
                  <a:schemeClr val="accent1">
                    <a:alpha val="0%"/>
                  </a:schemeClr>
                </a:gs>
                <a:gs pos="100%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%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%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%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%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%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%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7177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%">
                  <a:srgbClr val="5E91B7"/>
                </a:gs>
                <a:gs pos="100%">
                  <a:schemeClr val="accent1">
                    <a:alpha val="48%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%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%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%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%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%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%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7178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%">
                  <a:srgbClr val="FFFFFF"/>
                </a:gs>
                <a:gs pos="100%">
                  <a:schemeClr val="accent1">
                    <a:alpha val="37.999%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%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%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%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%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%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%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7173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lnSpc>
                <a:spcPct val="80%"/>
              </a:lnSpc>
              <a:spcBef>
                <a:spcPct val="0%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000" b="1">
                <a:sym typeface="+mn-ea"/>
              </a:rPr>
              <a:t>嵌套量词到自然语言的翻译</a:t>
            </a:r>
            <a:endParaRPr lang="zh-CN" altLang="en-US" sz="2000" b="1"/>
          </a:p>
          <a:p>
            <a:pPr algn="ctr">
              <a:lnSpc>
                <a:spcPct val="80%"/>
              </a:lnSpc>
              <a:spcBef>
                <a:spcPct val="0%"/>
              </a:spcBef>
              <a:buClrTx/>
              <a:buFont typeface="Wingdings" panose="05000000000000000000" pitchFamily="2" charset="2"/>
              <a:buNone/>
            </a:pPr>
            <a:endParaRPr lang="en-US" altLang="zh-CN" sz="2000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1C0A841B-3B70-4E85-A927-D4B756D9207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示例 1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y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+ y = y + x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表示对于所有实数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和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y，x + y = y + x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endParaRPr lang="en-US" altLang="zh-CN" b="1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y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+ y =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0)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说的是，对于每个实数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，都有实数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，使得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+ y =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0。 </a:t>
            </a:r>
          </a:p>
        </p:txBody>
      </p:sp>
    </p:spTree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A6C86B7C-81D8-4EEE-924D-FA4FFA80AB18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示例 2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y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&gt;0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40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 &lt;0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xy&lt;0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这句话是说，对于每个实数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和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，如果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&gt;0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 &lt;0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，那么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xy&lt;0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正实数与负实数的乘积是负实数</a:t>
            </a:r>
            <a:r>
              <a:rPr lang="en-US" altLang="zh-CN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B91688BF-5FC0-49A4-B4C2-879224F1F1C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示例 3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534400" cy="4879975"/>
          </a:xfrm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(C(x)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y (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C(y)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)))，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其中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C(x)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有一台电脑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和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是朋友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，而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和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的话语范围都包括你们学校的所有学生。</a:t>
            </a:r>
          </a:p>
          <a:p>
            <a:pPr eaLnBrk="1" hangingPunct="1"/>
            <a:endParaRPr lang="en-US" altLang="zh-CN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你们学校的每个学生都有一台电脑，或者他们的朋友有一台电脑。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F94C92B9-AEA5-44EA-8A7B-38F3F762231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示例 4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419225"/>
            <a:ext cx="8763000" cy="4879975"/>
          </a:xfrm>
        </p:spPr>
        <p:txBody>
          <a:bodyPr/>
          <a:lstStyle/>
          <a:p>
            <a:pPr eaLnBrk="1" hangingPunct="1">
              <a:lnSpc>
                <a:spcPct val="90%"/>
              </a:lnSpc>
            </a:pP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y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z</a:t>
            </a:r>
          </a:p>
          <a:p>
            <a:pPr eaLnBrk="1" hangingPunct="1">
              <a:lnSpc>
                <a:spcPct val="90%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((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z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y≠z)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36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z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</a:p>
          <a:p>
            <a:pPr eaLnBrk="1" hangingPunct="1">
              <a:lnSpc>
                <a:spcPct val="90%"/>
              </a:lnSpc>
              <a:buFont typeface="Wingdings" panose="05000000000000000000" pitchFamily="2" charset="2"/>
              <a:buNone/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  其中，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表示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和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是朋友，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和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z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的讨论范围包括贵校的所有学生。</a:t>
            </a:r>
          </a:p>
          <a:p>
            <a:pPr eaLnBrk="1" hangingPunct="1">
              <a:lnSpc>
                <a:spcPct val="90%"/>
              </a:lnSpc>
              <a:buFont typeface="Wingdings" panose="05000000000000000000" pitchFamily="2" charset="2"/>
              <a:buNone/>
            </a:pPr>
            <a:endParaRPr lang="en-US" altLang="zh-CN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%"/>
              </a:lnSpc>
              <a:buFont typeface="Wingdings" panose="05000000000000000000" pitchFamily="2" charset="2"/>
              <a:buNone/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  对于所有学生来说，他们的朋友都不是彼此的朋友。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46604045-A5D1-43EC-ABC9-D427C7CA528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12292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12294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12299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%">
                    <a:schemeClr val="hlink"/>
                  </a:gs>
                  <a:gs pos="100%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%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%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%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%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%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%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12300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%">
                    <a:srgbClr val="D2D2FF"/>
                  </a:gs>
                  <a:gs pos="100%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%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%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%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%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%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%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12295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%">
                  <a:srgbClr val="37556B"/>
                </a:gs>
                <a:gs pos="100%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%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%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%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%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%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%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12296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%">
                  <a:schemeClr val="accent1">
                    <a:alpha val="0%"/>
                  </a:schemeClr>
                </a:gs>
                <a:gs pos="100%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%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%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%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%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%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%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12297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%">
                  <a:srgbClr val="5E91B7"/>
                </a:gs>
                <a:gs pos="100%">
                  <a:schemeClr val="accent1">
                    <a:alpha val="48%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%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%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%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%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%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%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12298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%">
                  <a:srgbClr val="FFFFFF"/>
                </a:gs>
                <a:gs pos="100%">
                  <a:schemeClr val="accent1">
                    <a:alpha val="37.999%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%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%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%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%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%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%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12293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lnSpc>
                <a:spcPct val="80%"/>
              </a:lnSpc>
              <a:spcBef>
                <a:spcPct val="0%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1">
                <a:sym typeface="+mn-ea"/>
              </a:rPr>
              <a:t>涉及嵌套量词的语句到逻辑表达式的翻译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55AE7BB5-35CA-4507-A002-690E8BB7238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示例 5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%"/>
              </a:lnSpc>
            </a:pP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) </a:t>
            </a:r>
            <a:r>
              <a:rPr lang="en-US" altLang="zh-CN" dirty="0">
                <a:ea typeface="宋体" panose="02010600030101010101" pitchFamily="2" charset="-122"/>
              </a:rPr>
              <a:t>表示 "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x </a:t>
            </a:r>
            <a:r>
              <a:rPr lang="en-US" altLang="zh-CN" dirty="0">
                <a:ea typeface="宋体" panose="02010600030101010101" pitchFamily="2" charset="-122"/>
              </a:rPr>
              <a:t>是女性"。</a:t>
            </a:r>
          </a:p>
          <a:p>
            <a:pPr eaLnBrk="1" hangingPunct="1">
              <a:lnSpc>
                <a:spcPct val="90%"/>
              </a:lnSpc>
            </a:pP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) </a:t>
            </a:r>
            <a:r>
              <a:rPr lang="en-US" altLang="zh-CN" dirty="0">
                <a:ea typeface="宋体" panose="02010600030101010101" pitchFamily="2" charset="-122"/>
              </a:rPr>
              <a:t>表示 "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x </a:t>
            </a:r>
            <a:r>
              <a:rPr lang="en-US" altLang="zh-CN" dirty="0">
                <a:ea typeface="宋体" panose="02010600030101010101" pitchFamily="2" charset="-122"/>
              </a:rPr>
              <a:t>是父母"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。 </a:t>
            </a:r>
          </a:p>
          <a:p>
            <a:pPr eaLnBrk="1" hangingPunct="1">
              <a:lnSpc>
                <a:spcPct val="90%"/>
              </a:lnSpc>
            </a:pP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M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（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x，y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）</a:t>
            </a:r>
            <a:r>
              <a:rPr lang="en-US" altLang="zh-CN" dirty="0">
                <a:ea typeface="宋体" panose="02010600030101010101" pitchFamily="2" charset="-122"/>
              </a:rPr>
              <a:t>表示 "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x </a:t>
            </a:r>
            <a:r>
              <a:rPr lang="en-US" altLang="zh-CN" dirty="0">
                <a:ea typeface="宋体" panose="02010600030101010101" pitchFamily="2" charset="-122"/>
              </a:rPr>
              <a:t>是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y </a:t>
            </a:r>
            <a:r>
              <a:rPr lang="en-US" altLang="zh-CN" dirty="0">
                <a:ea typeface="宋体" panose="02010600030101010101" pitchFamily="2" charset="-122"/>
              </a:rPr>
              <a:t>的母亲"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90%"/>
              </a:lnSpc>
            </a:pPr>
            <a:r>
              <a:rPr lang="en-US" altLang="zh-CN" dirty="0">
                <a:ea typeface="宋体" panose="02010600030101010101" pitchFamily="2" charset="-122"/>
              </a:rPr>
              <a:t>"如果一个人是女性，并且是父母，那么这个人就是某人的母亲"</a:t>
            </a:r>
          </a:p>
          <a:p>
            <a:pPr eaLnBrk="1" hangingPunct="1">
              <a:lnSpc>
                <a:spcPct val="90%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%"/>
              </a:lnSpc>
            </a:pP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((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36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y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M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x, y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)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90%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%"/>
              </a:lnSpc>
            </a:pP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y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)) </a:t>
            </a:r>
            <a:r>
              <a:rPr lang="en-US" altLang="zh-CN" sz="36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M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x, y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)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29454" y="5410148"/>
            <a:ext cx="205734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 err="1">
                <a:ea typeface="宋体" panose="02010600030101010101" pitchFamily="2" charset="-122"/>
              </a:rPr>
              <a:t>前附件</a:t>
            </a:r>
            <a:r>
              <a:rPr lang="en-US" altLang="zh-CN" sz="3200" dirty="0">
                <a:ea typeface="宋体" panose="02010600030101010101" pitchFamily="2" charset="-122"/>
              </a:rPr>
              <a:t>公式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43FDAE14-22B9-4ADB-822E-8BF2D492A69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6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458200" cy="4879975"/>
          </a:xfrm>
        </p:spPr>
        <p:txBody>
          <a:bodyPr/>
          <a:lstStyle/>
          <a:p>
            <a:pPr eaLnBrk="1" hangingPunct="1"/>
            <a:r>
              <a:rPr lang="en-US" altLang="zh-CN" i="1" dirty="0" err="1">
                <a:solidFill>
                  <a:srgbClr val="030711"/>
                </a:solidFill>
                <a:ea typeface="宋体" panose="02010600030101010101" pitchFamily="2" charset="-122"/>
              </a:rPr>
              <a:t>B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（</a:t>
            </a:r>
            <a:r>
              <a:rPr lang="en-US" altLang="zh-CN" i="1" dirty="0" err="1">
                <a:solidFill>
                  <a:srgbClr val="030711"/>
                </a:solidFill>
                <a:ea typeface="宋体" panose="02010600030101010101" pitchFamily="2" charset="-122"/>
              </a:rPr>
              <a:t>x，y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）</a:t>
            </a:r>
            <a:r>
              <a:rPr lang="en-US" altLang="zh-CN" dirty="0" err="1">
                <a:ea typeface="宋体" panose="02010600030101010101" pitchFamily="2" charset="-122"/>
              </a:rPr>
              <a:t>表示</a:t>
            </a:r>
            <a:r>
              <a:rPr lang="en-US" altLang="zh-CN" dirty="0">
                <a:ea typeface="宋体" panose="02010600030101010101" pitchFamily="2" charset="-122"/>
              </a:rPr>
              <a:t> "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y </a:t>
            </a:r>
            <a:r>
              <a:rPr lang="en-US" altLang="zh-CN" dirty="0" err="1">
                <a:ea typeface="宋体" panose="02010600030101010101" pitchFamily="2" charset="-122"/>
              </a:rPr>
              <a:t>是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x </a:t>
            </a:r>
            <a:r>
              <a:rPr lang="en-US" altLang="zh-CN" dirty="0" err="1">
                <a:ea typeface="宋体" panose="02010600030101010101" pitchFamily="2" charset="-122"/>
              </a:rPr>
              <a:t>最好的朋友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"。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 </a:t>
            </a:r>
          </a:p>
          <a:p>
            <a:pPr eaLnBrk="1" hangingPunct="1"/>
            <a:endParaRPr lang="en-US" altLang="zh-CN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</a:rPr>
              <a:t>x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y 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x, y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z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((</a:t>
            </a:r>
            <a:r>
              <a:rPr lang="en-US" altLang="zh-CN" i="1" dirty="0" err="1">
                <a:solidFill>
                  <a:srgbClr val="030711"/>
                </a:solidFill>
                <a:ea typeface="宋体" panose="02010600030101010101" pitchFamily="2" charset="-122"/>
              </a:rPr>
              <a:t>z≠y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36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B(x, z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)))</a:t>
            </a:r>
          </a:p>
          <a:p>
            <a:pPr eaLnBrk="1" hangingPunct="1"/>
            <a:endParaRPr lang="en-US" altLang="zh-CN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"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每个人都有一个最好的朋友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"</a:t>
            </a:r>
          </a:p>
        </p:txBody>
      </p:sp>
    </p:spTree>
  </p:cSld>
  <p:clrMapOvr>
    <a:masterClrMapping/>
  </p:clrMapOvr>
</p:sld>
</file>

<file path=ppt/slides/slide1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5BF244C0-C8E8-4A4D-8FFD-EF4F6FBF20E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7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P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w, f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 </a:t>
            </a:r>
            <a:r>
              <a:rPr lang="en-US" altLang="zh-CN">
                <a:ea typeface="宋体" panose="02010600030101010101" pitchFamily="2" charset="-122"/>
              </a:rPr>
              <a:t>表示 "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w </a:t>
            </a:r>
            <a:r>
              <a:rPr lang="en-US" altLang="zh-CN">
                <a:ea typeface="宋体" panose="02010600030101010101" pitchFamily="2" charset="-122"/>
              </a:rPr>
              <a:t>选了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f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"</a:t>
            </a:r>
          </a:p>
          <a:p>
            <a:pPr eaLnBrk="1" hangingPunct="1"/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Q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f, 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 </a:t>
            </a:r>
            <a:r>
              <a:rPr lang="en-US" altLang="zh-CN">
                <a:ea typeface="宋体" panose="02010600030101010101" pitchFamily="2" charset="-122"/>
              </a:rPr>
              <a:t>表示 "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f </a:t>
            </a:r>
            <a:r>
              <a:rPr lang="en-US" altLang="zh-CN">
                <a:ea typeface="宋体" panose="02010600030101010101" pitchFamily="2" charset="-122"/>
              </a:rPr>
              <a:t>是 a 上的航班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"</a:t>
            </a:r>
          </a:p>
          <a:p>
            <a:pPr eaLnBrk="1" hangingPunct="1"/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R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w, f, 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 </a:t>
            </a:r>
            <a:r>
              <a:rPr lang="en-US" altLang="zh-CN">
                <a:ea typeface="宋体" panose="02010600030101010101" pitchFamily="2" charset="-122"/>
              </a:rPr>
              <a:t>表示 "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w </a:t>
            </a:r>
            <a:r>
              <a:rPr lang="en-US" altLang="zh-CN">
                <a:ea typeface="宋体" panose="02010600030101010101" pitchFamily="2" charset="-122"/>
              </a:rPr>
              <a:t>在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a </a:t>
            </a:r>
            <a:r>
              <a:rPr lang="en-US" altLang="zh-CN">
                <a:ea typeface="宋体" panose="02010600030101010101" pitchFamily="2" charset="-122"/>
              </a:rPr>
              <a:t>上拍摄了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f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"</a:t>
            </a:r>
          </a:p>
          <a:p>
            <a:pPr eaLnBrk="1" hangingPunct="1"/>
            <a:endParaRPr lang="en-US" altLang="zh-CN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"有位女士搭乘过世界上所有航空公司的航班"</a:t>
            </a:r>
          </a:p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w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a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f 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P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w, f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Q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f, a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)</a:t>
            </a:r>
          </a:p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w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a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f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(w, f, 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 </a:t>
            </a:r>
          </a:p>
        </p:txBody>
      </p:sp>
    </p:spTree>
  </p:cSld>
  <p:clrMapOvr>
    <a:masterClrMapping/>
  </p:clrMapOvr>
</p:sld>
</file>

<file path=ppt/slides/slide1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710E0DA3-D570-4DF0-93C0-3998A7CC7AE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8-9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"两个正整数之和为正数"。 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y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 0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 0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36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+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&gt;0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/>
            <a:endParaRPr lang="en-US" altLang="zh-CN" b="1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除了零，每个实数都有乘法逆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((x≠0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36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y (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xy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1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668194C4-F9A4-4B6C-A0F9-9ED1A164DEE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pPr algn="just"/>
            <a:r>
              <a:rPr lang="en-US" altLang="zh-CN" dirty="0">
                <a:ea typeface="宋体" panose="02010600030101010101" pitchFamily="2" charset="-122"/>
              </a:rPr>
              <a:t>1.假设 P(x)：x </a:t>
            </a:r>
            <a:r>
              <a:rPr lang="en-US" altLang="zh-CN" dirty="0" err="1">
                <a:ea typeface="宋体" panose="02010600030101010101" pitchFamily="2" charset="-122"/>
              </a:rPr>
              <a:t>是某种液体；G</a:t>
            </a:r>
            <a:r>
              <a:rPr lang="en-US" altLang="zh-CN" dirty="0">
                <a:ea typeface="宋体" panose="02010600030101010101" pitchFamily="2" charset="-122"/>
              </a:rPr>
              <a:t>(x)：x </a:t>
            </a:r>
            <a:r>
              <a:rPr lang="en-US" altLang="zh-CN" dirty="0" err="1">
                <a:ea typeface="宋体" panose="02010600030101010101" pitchFamily="2" charset="-122"/>
              </a:rPr>
              <a:t>是某种金属；R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dirty="0" err="1">
                <a:ea typeface="宋体" panose="02010600030101010101" pitchFamily="2" charset="-122"/>
              </a:rPr>
              <a:t>x,y</a:t>
            </a:r>
            <a:r>
              <a:rPr lang="en-US" altLang="zh-CN" dirty="0">
                <a:ea typeface="宋体" panose="02010600030101010101" pitchFamily="2" charset="-122"/>
              </a:rPr>
              <a:t>)：x </a:t>
            </a:r>
            <a:r>
              <a:rPr lang="en-US" altLang="zh-CN" dirty="0" err="1">
                <a:ea typeface="宋体" panose="02010600030101010101" pitchFamily="2" charset="-122"/>
              </a:rPr>
              <a:t>能溶解</a:t>
            </a:r>
            <a:r>
              <a:rPr lang="en-US" altLang="zh-CN" dirty="0">
                <a:ea typeface="宋体" panose="02010600030101010101" pitchFamily="2" charset="-122"/>
              </a:rPr>
              <a:t> y。</a:t>
            </a:r>
            <a:endParaRPr lang="zh-CN" altLang="zh-CN" dirty="0">
              <a:ea typeface="宋体" panose="02010600030101010101" pitchFamily="2" charset="-122"/>
            </a:endParaRPr>
          </a:p>
          <a:p>
            <a:pPr algn="just"/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将句子</a:t>
            </a:r>
            <a:r>
              <a:rPr lang="en-US" altLang="zh-CN" dirty="0">
                <a:ea typeface="宋体" panose="02010600030101010101" pitchFamily="2" charset="-122"/>
              </a:rPr>
              <a:t> "</a:t>
            </a:r>
            <a:r>
              <a:rPr lang="en-US" altLang="zh-CN" dirty="0" err="1">
                <a:ea typeface="宋体" panose="02010600030101010101" pitchFamily="2" charset="-122"/>
              </a:rPr>
              <a:t>某种液体可以溶解任何金属</a:t>
            </a:r>
            <a:r>
              <a:rPr lang="en-US" altLang="zh-CN" dirty="0">
                <a:ea typeface="宋体" panose="02010600030101010101" pitchFamily="2" charset="-122"/>
              </a:rPr>
              <a:t> "</a:t>
            </a:r>
            <a:r>
              <a:rPr lang="en-US" altLang="zh-CN" dirty="0" err="1">
                <a:ea typeface="宋体" panose="02010600030101010101" pitchFamily="2" charset="-122"/>
              </a:rPr>
              <a:t>表达为逻辑表达式，如</a:t>
            </a:r>
            <a:r>
              <a:rPr lang="en-US" altLang="zh-CN" dirty="0">
                <a:ea typeface="宋体" panose="02010600030101010101" pitchFamily="2" charset="-122"/>
              </a:rPr>
              <a:t>_____________________</a:t>
            </a:r>
          </a:p>
          <a:p>
            <a:pPr algn="just"/>
            <a:endParaRPr lang="en-US" altLang="zh-CN" sz="2400" dirty="0">
              <a:ea typeface="宋体" panose="02010600030101010101" pitchFamily="2" charset="-122"/>
            </a:endParaRPr>
          </a:p>
          <a:p>
            <a:pPr algn="just"/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BD104454-C756-4AFD-80A0-301D4FBE3A8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pPr algn="just"/>
            <a:r>
              <a:rPr lang="en-US" altLang="zh-CN" dirty="0">
                <a:ea typeface="宋体" panose="02010600030101010101" pitchFamily="2" charset="-122"/>
              </a:rPr>
              <a:t>2.设 C(x)：x 是一台计算机。D(x)：x 是外围设备。P(x, y): x 可以与 y 通信。将句子 "有些计算机不能与某些外围设备通信 "用逻辑表达式表示为 </a:t>
            </a:r>
          </a:p>
          <a:p>
            <a:pPr algn="just"/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499BE122-9DE7-40BE-9A5B-E31E3D440728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17412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17414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17419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%">
                    <a:schemeClr val="hlink"/>
                  </a:gs>
                  <a:gs pos="100%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%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%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%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%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%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%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17420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%">
                    <a:srgbClr val="D2D2FF"/>
                  </a:gs>
                  <a:gs pos="100%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%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%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%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%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%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%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17415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%">
                  <a:srgbClr val="37556B"/>
                </a:gs>
                <a:gs pos="100%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%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%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%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%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%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%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17416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%">
                  <a:schemeClr val="accent1">
                    <a:alpha val="0%"/>
                  </a:schemeClr>
                </a:gs>
                <a:gs pos="100%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%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%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%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%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%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%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17417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%">
                  <a:srgbClr val="5E91B7"/>
                </a:gs>
                <a:gs pos="100%">
                  <a:schemeClr val="accent1">
                    <a:alpha val="48%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%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%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%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%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%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%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17418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%">
                  <a:srgbClr val="FFFFFF"/>
                </a:gs>
                <a:gs pos="100%">
                  <a:schemeClr val="accent1">
                    <a:alpha val="37.999%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%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%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%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%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%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%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17413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lnSpc>
                <a:spcPct val="90%"/>
              </a:lnSpc>
              <a:spcBef>
                <a:spcPct val="0%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1">
                <a:sym typeface="+mn-ea"/>
              </a:rPr>
              <a:t>带有嵌套量词逻辑表达式的否定</a:t>
            </a:r>
            <a:endParaRPr lang="zh-CN" altLang="en-US" sz="2400" b="1"/>
          </a:p>
          <a:p>
            <a:pPr algn="ctr">
              <a:lnSpc>
                <a:spcPct val="90%"/>
              </a:lnSpc>
              <a:spcBef>
                <a:spcPct val="0%"/>
              </a:spcBef>
              <a:buClrTx/>
              <a:buFont typeface="Wingdings" panose="05000000000000000000" pitchFamily="2" charset="2"/>
              <a:buNone/>
            </a:pPr>
            <a:endParaRPr lang="en-US" altLang="zh-CN" sz="2400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2637260F-0159-44C1-B204-9AD66CBE75C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10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x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y 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xy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 x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y 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xy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</a:t>
            </a:r>
          </a:p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x  y 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xy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</a:t>
            </a:r>
          </a:p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x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y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xy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</a:t>
            </a:r>
          </a:p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x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y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xy≠1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</a:t>
            </a:r>
          </a:p>
          <a:p>
            <a:pPr eaLnBrk="1" hangingPunct="1"/>
            <a:endParaRPr lang="en-US" altLang="zh-CN">
              <a:solidFill>
                <a:srgbClr val="03071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build="p" autoUpdateAnimBg="0"/>
    </p:bldLst>
  </p:timing>
</p:sld>
</file>

<file path=ppt/slides/slide1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9CFD82A7-2C07-4D41-9631-A959F6B7EC2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11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例 7 中逻辑表达式的否定是什么？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w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a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f 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w, f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Q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f, a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   </a:t>
            </a:r>
            <a:r>
              <a:rPr lang="en-US" altLang="zh-CN" dirty="0">
                <a:ea typeface="宋体" panose="02010600030101010101" pitchFamily="2" charset="-122"/>
              </a:rPr>
              <a:t>例 7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 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w, f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Q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f, a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w, f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Q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f, a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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w, f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Q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f, a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w, f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Q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f, a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w, f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Q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f, a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build="p" autoUpdateAnimBg="0"/>
    </p:bldLst>
  </p:timing>
</p:sld>
</file>

<file path=ppt/slides/slide1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6AAA663D-ACAD-4891-BF04-E9F62190C83A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12 和例 13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152400" y="1219200"/>
            <a:ext cx="9144000" cy="5334000"/>
          </a:xfrm>
        </p:spPr>
        <p:txBody>
          <a:bodyPr/>
          <a:lstStyle/>
          <a:p>
            <a:pPr eaLnBrk="1" hangingPunct="1">
              <a:lnSpc>
                <a:spcPct val="90%"/>
              </a:lnSpc>
            </a:pPr>
            <a:r>
              <a:rPr lang="en-US" altLang="zh-CN" dirty="0">
                <a:ea typeface="宋体" panose="02010600030101010101" pitchFamily="2" charset="-122"/>
              </a:rPr>
              <a:t>使用量词对极限定义进行逻辑表达。</a:t>
            </a:r>
          </a:p>
          <a:p>
            <a:pPr eaLnBrk="1" hangingPunct="1">
              <a:lnSpc>
                <a:spcPct val="90%"/>
              </a:lnSpc>
            </a:pP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sz="2800" dirty="0" err="1">
                <a:ea typeface="宋体" panose="02010600030101010101" pitchFamily="2" charset="-122"/>
                <a:sym typeface="+mn-ea"/>
              </a:rPr>
              <a:t>Lim</a:t>
            </a:r>
            <a:r>
              <a:rPr lang="en-US" altLang="zh-CN" sz="2800" b="1" dirty="0" err="1"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a</a:t>
            </a: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f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x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 =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L</a:t>
            </a:r>
            <a:endParaRPr lang="en-US" altLang="zh-CN" sz="2800" i="1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%"/>
              </a:lnSpc>
            </a:pP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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(0&lt;|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–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|&lt;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f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2800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–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|&lt;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%"/>
              </a:lnSpc>
            </a:pP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sz="2800" dirty="0" err="1">
                <a:ea typeface="宋体" panose="02010600030101010101" pitchFamily="2" charset="-122"/>
                <a:sym typeface="+mn-ea"/>
              </a:rPr>
              <a:t>Lim</a:t>
            </a:r>
            <a:r>
              <a:rPr lang="en-US" altLang="zh-CN" sz="2800" b="1" dirty="0" err="1"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a</a:t>
            </a: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f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x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≠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L</a:t>
            </a:r>
            <a:endParaRPr lang="en-US" altLang="zh-CN" sz="2800" i="1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%"/>
              </a:lnSpc>
            </a:pP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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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(0&lt;|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–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|&lt;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f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-L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|&lt;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%"/>
              </a:lnSpc>
            </a:pP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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(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(0&lt;|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–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|&lt;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f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-L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|&lt;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%"/>
              </a:lnSpc>
            </a:pP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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(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(0&lt;|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–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|&lt;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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f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-L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|&lt;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%"/>
              </a:lnSpc>
            </a:pP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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(0&lt;|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–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|&lt;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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f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-L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|&lt;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%"/>
              </a:lnSpc>
            </a:pP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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(0&lt;|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–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|&lt;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f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-L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|≥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4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4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4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4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4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0.1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4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0.1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build="p" autoUpdateAnimBg="0"/>
    </p:bldLst>
  </p:timing>
</p:sld>
</file>

<file path=ppt/slides/slide20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A7B80654-1A28-497E-96A6-10D4801CFA9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31751" name="文本框 2"/>
          <p:cNvSpPr txBox="1">
            <a:spLocks noChangeArrowheads="1"/>
          </p:cNvSpPr>
          <p:nvPr/>
        </p:nvSpPr>
        <p:spPr bwMode="auto">
          <a:xfrm flipH="1">
            <a:off x="428625" y="1447800"/>
            <a:ext cx="8595360" cy="22453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%"/>
          </a:ln>
        </p:spPr>
        <p:txBody>
          <a:bodyPr wrap="square">
            <a:spAutoFit/>
          </a:bodyPr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%"/>
              </a:spcBef>
              <a:buClrTx/>
              <a:buFontTx/>
              <a:buNone/>
            </a:pPr>
            <a:r>
              <a:rPr lang="en-US" altLang="zh-CN" sz="2800" dirty="0"/>
              <a:t>3.</a:t>
            </a:r>
            <a:r>
              <a:rPr lang="zh-CN" altLang="en-US" sz="2800" dirty="0"/>
              <a:t>以下哪一个选项是对下述语句的正确逻辑翻译：</a:t>
            </a:r>
            <a:r>
              <a:rPr lang="en-US" altLang="zh-CN" sz="2800" dirty="0"/>
              <a:t>“</a:t>
            </a:r>
            <a:r>
              <a:rPr lang="zh-CN" altLang="en-US" sz="2800" dirty="0"/>
              <a:t>没有任何计算机科学专业的学生在上任何课程</a:t>
            </a:r>
            <a:r>
              <a:rPr lang="en-US" altLang="zh-CN" sz="2800" dirty="0"/>
              <a:t>”</a:t>
            </a:r>
            <a:r>
              <a:rPr lang="zh-CN" altLang="en-US" sz="2800" dirty="0"/>
              <a:t>？其中，</a:t>
            </a:r>
          </a:p>
          <a:p>
            <a:pPr>
              <a:spcBef>
                <a:spcPct val="0%"/>
              </a:spcBef>
              <a:buClrTx/>
              <a:buFontTx/>
              <a:buNone/>
            </a:pPr>
            <a:r>
              <a:rPr lang="en-US" altLang="zh-CN" sz="2800" dirty="0"/>
              <a:t>C(x) </a:t>
            </a:r>
            <a:r>
              <a:rPr lang="zh-CN" altLang="en-US" sz="2800" dirty="0"/>
              <a:t>表示</a:t>
            </a:r>
            <a:r>
              <a:rPr lang="en-US" altLang="zh-CN" sz="2800" dirty="0"/>
              <a:t>“x </a:t>
            </a:r>
            <a:r>
              <a:rPr lang="zh-CN" altLang="en-US" sz="2800" dirty="0"/>
              <a:t>是一名计算机科学专业的学生</a:t>
            </a:r>
            <a:r>
              <a:rPr lang="en-US" altLang="zh-CN" sz="2800" dirty="0"/>
              <a:t>”</a:t>
            </a:r>
            <a:r>
              <a:rPr lang="zh-CN" altLang="en-US" sz="2800" dirty="0"/>
              <a:t>，</a:t>
            </a:r>
            <a:r>
              <a:rPr lang="en-US" altLang="zh-CN" sz="2800" dirty="0"/>
              <a:t>T(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 </a:t>
            </a:r>
            <a:r>
              <a:rPr lang="zh-CN" altLang="en-US" sz="2800" dirty="0"/>
              <a:t>表示</a:t>
            </a:r>
            <a:r>
              <a:rPr lang="en-US" altLang="zh-CN" sz="2800" dirty="0"/>
              <a:t>“x </a:t>
            </a:r>
            <a:r>
              <a:rPr lang="zh-CN" altLang="en-US" sz="2800" dirty="0"/>
              <a:t>正在上课程</a:t>
            </a:r>
            <a:r>
              <a:rPr lang="en-US" altLang="zh-CN" sz="2800" dirty="0"/>
              <a:t> y”</a:t>
            </a:r>
            <a:r>
              <a:rPr lang="zh-CN" altLang="en-US" sz="2800" dirty="0"/>
              <a:t>。假设对于</a:t>
            </a:r>
            <a:r>
              <a:rPr lang="en-US" altLang="zh-CN" sz="2800" dirty="0"/>
              <a:t> x </a:t>
            </a:r>
            <a:r>
              <a:rPr lang="zh-CN" altLang="en-US" sz="2800" dirty="0"/>
              <a:t>来说，论域是所有学生；对于</a:t>
            </a:r>
            <a:r>
              <a:rPr lang="en-US" altLang="zh-CN" sz="2800" dirty="0"/>
              <a:t> y </a:t>
            </a:r>
            <a:r>
              <a:rPr lang="zh-CN" altLang="en-US" sz="2800" dirty="0"/>
              <a:t>来说，论域是所有课程。</a:t>
            </a:r>
            <a:r>
              <a:rPr lang="en-US" altLang="zh-CN" sz="2800" dirty="0"/>
              <a:t>()</a:t>
            </a:r>
          </a:p>
        </p:txBody>
      </p:sp>
      <p:sp>
        <p:nvSpPr>
          <p:cNvPr id="31752" name="矩形 3"/>
          <p:cNvSpPr>
            <a:spLocks noChangeArrowheads="1"/>
          </p:cNvSpPr>
          <p:nvPr/>
        </p:nvSpPr>
        <p:spPr bwMode="auto">
          <a:xfrm>
            <a:off x="603250" y="6130925"/>
            <a:ext cx="249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%"/>
              </a:spcBef>
              <a:buClrTx/>
              <a:buFontTx/>
              <a:buNone/>
            </a:pPr>
            <a:r>
              <a:rPr lang="en-US" altLang="zh-CN" sz="1800"/>
              <a:t>.</a:t>
            </a:r>
            <a:endParaRPr lang="zh-CN" altLang="en-US" sz="1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47.399%" b="22.543%"/>
          <a:stretch>
            <a:fillRect/>
          </a:stretch>
        </p:blipFill>
        <p:spPr>
          <a:xfrm>
            <a:off x="228600" y="3657600"/>
            <a:ext cx="918972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0E29E55D-FB4E-4EAF-8254-B85590E3A75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sz="2400" dirty="0">
                <a:ea typeface="宋体" panose="02010600030101010101" pitchFamily="2" charset="-122"/>
              </a:rPr>
              <a:t>4.考虑语句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x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 </a:t>
            </a:r>
            <a:r>
              <a:rPr lang="en-US" altLang="zh-CN" sz="2400" dirty="0">
                <a:ea typeface="宋体" panose="02010600030101010101" pitchFamily="2" charset="-122"/>
              </a:rPr>
              <a:t>y(M(x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)C(</a:t>
            </a:r>
            <a:r>
              <a:rPr lang="en-US" altLang="zh-CN" sz="2400" dirty="0" err="1">
                <a:ea typeface="宋体" panose="02010600030101010101" pitchFamily="2" charset="-122"/>
              </a:rPr>
              <a:t>x,y</a:t>
            </a:r>
            <a:r>
              <a:rPr lang="en-US" altLang="zh-CN" sz="2400" dirty="0">
                <a:ea typeface="宋体" panose="02010600030101010101" pitchFamily="2" charset="-122"/>
              </a:rPr>
              <a:t>))，</a:t>
            </a:r>
            <a:r>
              <a:rPr lang="en-US" altLang="zh-CN" sz="2400" dirty="0" err="1">
                <a:ea typeface="宋体" panose="02010600030101010101" pitchFamily="2" charset="-122"/>
              </a:rPr>
              <a:t>其中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ea typeface="宋体" panose="02010600030101010101" pitchFamily="2" charset="-122"/>
              </a:rPr>
              <a:t>M</a:t>
            </a:r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ea typeface="宋体" panose="02010600030101010101" pitchFamily="2" charset="-122"/>
              </a:rPr>
              <a:t>) </a:t>
            </a:r>
            <a:r>
              <a:rPr lang="en-US" altLang="zh-CN" sz="2400" dirty="0" err="1">
                <a:ea typeface="宋体" panose="02010600030101010101" pitchFamily="2" charset="-122"/>
              </a:rPr>
              <a:t>表示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ea typeface="宋体" panose="02010600030101010101" pitchFamily="2" charset="-122"/>
              </a:rPr>
              <a:t>x </a:t>
            </a:r>
            <a:r>
              <a:rPr lang="en-US" altLang="zh-CN" sz="2400" i="1" dirty="0" err="1">
                <a:ea typeface="宋体" panose="02010600030101010101" pitchFamily="2" charset="-122"/>
              </a:rPr>
              <a:t>是数学专业</a:t>
            </a:r>
            <a:r>
              <a:rPr lang="en-US" altLang="zh-CN" sz="2400" dirty="0" err="1">
                <a:ea typeface="宋体" panose="02010600030101010101" pitchFamily="2" charset="-122"/>
              </a:rPr>
              <a:t>，</a:t>
            </a:r>
            <a:r>
              <a:rPr lang="en-US" altLang="zh-CN" sz="2400" i="1" dirty="0" err="1">
                <a:ea typeface="宋体" panose="02010600030101010101" pitchFamily="2" charset="-122"/>
              </a:rPr>
              <a:t>C</a:t>
            </a:r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en-US" altLang="zh-CN" sz="2400" dirty="0" err="1">
                <a:ea typeface="宋体" panose="02010600030101010101" pitchFamily="2" charset="-122"/>
              </a:rPr>
              <a:t>x,</a:t>
            </a:r>
            <a:r>
              <a:rPr lang="en-US" altLang="zh-CN" sz="2400" i="1" dirty="0" err="1">
                <a:ea typeface="宋体" panose="02010600030101010101" pitchFamily="2" charset="-122"/>
              </a:rPr>
              <a:t>y</a:t>
            </a:r>
            <a:r>
              <a:rPr lang="en-US" altLang="zh-CN" sz="2400" dirty="0">
                <a:ea typeface="宋体" panose="02010600030101010101" pitchFamily="2" charset="-122"/>
              </a:rPr>
              <a:t>) </a:t>
            </a:r>
            <a:r>
              <a:rPr lang="en-US" altLang="zh-CN" sz="2400" dirty="0" err="1">
                <a:ea typeface="宋体" panose="02010600030101010101" pitchFamily="2" charset="-122"/>
              </a:rPr>
              <a:t>表示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ea typeface="宋体" panose="02010600030101010101" pitchFamily="2" charset="-122"/>
              </a:rPr>
              <a:t>x </a:t>
            </a:r>
            <a:r>
              <a:rPr lang="en-US" altLang="zh-CN" sz="2400" i="1" dirty="0" err="1">
                <a:ea typeface="宋体" panose="02010600030101010101" pitchFamily="2" charset="-122"/>
              </a:rPr>
              <a:t>完成了</a:t>
            </a:r>
            <a:r>
              <a:rPr lang="en-US" altLang="zh-CN" sz="2400" i="1" dirty="0">
                <a:ea typeface="宋体" panose="02010600030101010101" pitchFamily="2" charset="-122"/>
              </a:rPr>
              <a:t> </a:t>
            </a:r>
            <a:r>
              <a:rPr lang="en-US" altLang="zh-CN" sz="2400" i="1" dirty="0" err="1">
                <a:ea typeface="宋体" panose="02010600030101010101" pitchFamily="2" charset="-122"/>
              </a:rPr>
              <a:t>y</a:t>
            </a:r>
            <a:r>
              <a:rPr lang="en-US" altLang="zh-CN" sz="2400" dirty="0" err="1">
                <a:ea typeface="宋体" panose="02010600030101010101" pitchFamily="2" charset="-122"/>
              </a:rPr>
              <a:t>，</a:t>
            </a:r>
            <a:r>
              <a:rPr lang="en-US" altLang="zh-CN" sz="2400" i="1" dirty="0" err="1">
                <a:ea typeface="宋体" panose="02010600030101010101" pitchFamily="2" charset="-122"/>
              </a:rPr>
              <a:t>x</a:t>
            </a:r>
            <a:r>
              <a:rPr lang="en-US" altLang="zh-CN" sz="2400" i="1" dirty="0">
                <a:ea typeface="宋体" panose="02010600030101010101" pitchFamily="2" charset="-122"/>
              </a:rPr>
              <a:t> </a:t>
            </a:r>
            <a:r>
              <a:rPr lang="en-US" altLang="zh-CN" sz="2400" dirty="0" err="1">
                <a:ea typeface="宋体" panose="02010600030101010101" pitchFamily="2" charset="-122"/>
              </a:rPr>
              <a:t>的</a:t>
            </a:r>
            <a:r>
              <a:rPr lang="zh-CN" altLang="en-US" sz="2400" dirty="0">
                <a:ea typeface="宋体" panose="02010600030101010101" pitchFamily="2" charset="-122"/>
              </a:rPr>
              <a:t>论域</a:t>
            </a:r>
            <a:r>
              <a:rPr lang="en-US" altLang="zh-CN" sz="2400" dirty="0" err="1">
                <a:ea typeface="宋体" panose="02010600030101010101" pitchFamily="2" charset="-122"/>
              </a:rPr>
              <a:t>由所有学生组成，</a:t>
            </a:r>
            <a:r>
              <a:rPr lang="en-US" altLang="zh-CN" sz="2400" i="1" dirty="0" err="1">
                <a:ea typeface="宋体" panose="02010600030101010101" pitchFamily="2" charset="-122"/>
              </a:rPr>
              <a:t>y</a:t>
            </a:r>
            <a:r>
              <a:rPr lang="en-US" altLang="zh-CN" sz="2400" i="1" dirty="0">
                <a:ea typeface="宋体" panose="02010600030101010101" pitchFamily="2" charset="-122"/>
              </a:rPr>
              <a:t> </a:t>
            </a:r>
            <a:r>
              <a:rPr lang="en-US" altLang="zh-CN" sz="2400" i="1" dirty="0" err="1">
                <a:ea typeface="宋体" panose="02010600030101010101" pitchFamily="2" charset="-122"/>
              </a:rPr>
              <a:t>的</a:t>
            </a:r>
            <a:r>
              <a:rPr lang="zh-CN" altLang="en-US" sz="2400" dirty="0">
                <a:ea typeface="宋体" panose="02010600030101010101" pitchFamily="2" charset="-122"/>
              </a:rPr>
              <a:t>论域</a:t>
            </a:r>
            <a:r>
              <a:rPr lang="en-US" altLang="zh-CN" sz="2400" dirty="0" err="1">
                <a:ea typeface="宋体" panose="02010600030101010101" pitchFamily="2" charset="-122"/>
              </a:rPr>
              <a:t>由所有计算机项目组成。哪项陈述是该陈述的英文翻译</a:t>
            </a:r>
            <a:r>
              <a:rPr lang="en-US" altLang="zh-CN" sz="2400" dirty="0">
                <a:ea typeface="宋体" panose="02010600030101010101" pitchFamily="2" charset="-122"/>
              </a:rPr>
              <a:t>？ </a:t>
            </a:r>
          </a:p>
          <a:p>
            <a:r>
              <a:rPr lang="en-US" altLang="zh-CN" sz="2400" dirty="0" err="1">
                <a:ea typeface="宋体" panose="02010600030101010101" pitchFamily="2" charset="-122"/>
              </a:rPr>
              <a:t>A.每个数学专业的学生都完成一个计算机项目</a:t>
            </a:r>
            <a:r>
              <a:rPr lang="en-US" altLang="zh-CN" sz="2400" dirty="0">
                <a:ea typeface="宋体" panose="02010600030101010101" pitchFamily="2" charset="-122"/>
              </a:rPr>
              <a:t>。</a:t>
            </a:r>
            <a:endParaRPr lang="zh-CN" altLang="zh-CN" sz="2400" dirty="0">
              <a:ea typeface="宋体" panose="02010600030101010101" pitchFamily="2" charset="-122"/>
            </a:endParaRPr>
          </a:p>
          <a:p>
            <a:r>
              <a:rPr lang="en-US" altLang="zh-CN" sz="2400" dirty="0" err="1">
                <a:ea typeface="宋体" panose="02010600030101010101" pitchFamily="2" charset="-122"/>
              </a:rPr>
              <a:t>B.每个数学专业的学生都完成了</a:t>
            </a:r>
            <a:r>
              <a:rPr lang="zh-CN" altLang="en-US" sz="2400" dirty="0">
                <a:ea typeface="宋体" panose="02010600030101010101" pitchFamily="2" charset="-122"/>
              </a:rPr>
              <a:t>所有</a:t>
            </a:r>
            <a:r>
              <a:rPr lang="en-US" altLang="zh-CN" sz="2400" dirty="0" err="1">
                <a:ea typeface="宋体" panose="02010600030101010101" pitchFamily="2" charset="-122"/>
              </a:rPr>
              <a:t>计算机项目</a:t>
            </a:r>
            <a:r>
              <a:rPr lang="en-US" altLang="zh-CN" sz="2400" dirty="0">
                <a:ea typeface="宋体" panose="02010600030101010101" pitchFamily="2" charset="-122"/>
              </a:rPr>
              <a:t>。</a:t>
            </a:r>
            <a:endParaRPr lang="zh-CN" altLang="zh-CN" sz="2400" dirty="0">
              <a:ea typeface="宋体" panose="02010600030101010101" pitchFamily="2" charset="-122"/>
            </a:endParaRPr>
          </a:p>
          <a:p>
            <a:r>
              <a:rPr lang="en-US" altLang="zh-CN" sz="2400" dirty="0" err="1">
                <a:ea typeface="宋体" panose="02010600030101010101" pitchFamily="2" charset="-122"/>
              </a:rPr>
              <a:t>C.每个数学专业学生至少完成一个计算机项目</a:t>
            </a:r>
            <a:r>
              <a:rPr lang="en-US" altLang="zh-CN" sz="2400" dirty="0">
                <a:ea typeface="宋体" panose="02010600030101010101" pitchFamily="2" charset="-122"/>
              </a:rPr>
              <a:t>。</a:t>
            </a:r>
            <a:endParaRPr lang="zh-CN" altLang="zh-CN" sz="2400" dirty="0">
              <a:ea typeface="宋体" panose="02010600030101010101" pitchFamily="2" charset="-122"/>
            </a:endParaRPr>
          </a:p>
          <a:p>
            <a:r>
              <a:rPr lang="en-US" altLang="zh-CN" sz="2400" dirty="0" err="1">
                <a:ea typeface="宋体" panose="02010600030101010101" pitchFamily="2" charset="-122"/>
              </a:rPr>
              <a:t>D.一些数学专业的学生未能完成</a:t>
            </a:r>
            <a:r>
              <a:rPr lang="zh-CN" altLang="en-US" sz="2400" dirty="0">
                <a:ea typeface="宋体" panose="02010600030101010101" pitchFamily="2" charset="-122"/>
              </a:rPr>
              <a:t>所有</a:t>
            </a:r>
            <a:r>
              <a:rPr lang="en-US" altLang="zh-CN" sz="2400" dirty="0" err="1">
                <a:ea typeface="宋体" panose="02010600030101010101" pitchFamily="2" charset="-122"/>
              </a:rPr>
              <a:t>计算机项目</a:t>
            </a:r>
            <a:r>
              <a:rPr lang="en-US" altLang="zh-CN" sz="2400" dirty="0">
                <a:ea typeface="宋体" panose="02010600030101010101" pitchFamily="2" charset="-122"/>
              </a:rPr>
              <a:t>。</a:t>
            </a:r>
            <a:endParaRPr lang="zh-CN" altLang="zh-CN" sz="2400" dirty="0">
              <a:ea typeface="宋体" panose="02010600030101010101" pitchFamily="2" charset="-122"/>
            </a:endParaRPr>
          </a:p>
          <a:p>
            <a:r>
              <a:rPr lang="en-US" altLang="zh-CN" sz="2400" dirty="0">
                <a:ea typeface="宋体" panose="02010600030101010101" pitchFamily="2" charset="-122"/>
              </a:rPr>
              <a:t> 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39E1CD10-EBD8-4C89-9354-3B0D1A9D3BF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21508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21510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21515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%">
                    <a:schemeClr val="hlink"/>
                  </a:gs>
                  <a:gs pos="100%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%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%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%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%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%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%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21516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%">
                    <a:srgbClr val="D2D2FF"/>
                  </a:gs>
                  <a:gs pos="100%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%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%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%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%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%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%"/>
                  </a:spcBef>
                  <a:spcAft>
                    <a:spcPct val="0%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%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21511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%">
                  <a:srgbClr val="37556B"/>
                </a:gs>
                <a:gs pos="100%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%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%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%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%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%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%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21512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%">
                  <a:schemeClr val="accent1">
                    <a:alpha val="0%"/>
                  </a:schemeClr>
                </a:gs>
                <a:gs pos="100%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%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%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%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%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%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%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21513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%">
                  <a:srgbClr val="5E91B7"/>
                </a:gs>
                <a:gs pos="100%">
                  <a:schemeClr val="accent1">
                    <a:alpha val="48%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%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%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%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%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%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%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21514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%">
                  <a:srgbClr val="FFFFFF"/>
                </a:gs>
                <a:gs pos="100%">
                  <a:schemeClr val="accent1">
                    <a:alpha val="37.999%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%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%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%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%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%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%"/>
                </a:spcBef>
                <a:spcAft>
                  <a:spcPct val="0%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%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21509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spcBef>
                <a:spcPct val="0%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</a:rPr>
              <a:t>量词的顺序</a:t>
            </a:r>
          </a:p>
        </p:txBody>
      </p:sp>
    </p:spTree>
  </p:cSld>
  <p:clrMapOvr>
    <a:masterClrMapping/>
  </p:clrMapOvr>
</p:sld>
</file>

<file path=ppt/slides/slide2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7CEB7845-613E-478B-AD75-A1B3C1E16E6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两个变量的量化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x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y P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x,y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y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x P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x,y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pPr eaLnBrk="1" hangingPunct="1"/>
            <a:r>
              <a:rPr lang="en-US" altLang="zh-CN" sz="3000">
                <a:ea typeface="宋体" panose="02010600030101010101" pitchFamily="2" charset="-122"/>
                <a:sym typeface="Symbol" panose="05050102010706020507" pitchFamily="18" charset="2"/>
              </a:rPr>
              <a:t>何时</a:t>
            </a:r>
            <a:r>
              <a:rPr lang="en-US" altLang="zh-CN" sz="3000" i="1">
                <a:ea typeface="宋体" panose="02010600030101010101" pitchFamily="2" charset="-122"/>
                <a:sym typeface="Symbol" panose="05050102010706020507" pitchFamily="18" charset="2"/>
              </a:rPr>
              <a:t>为真</a:t>
            </a:r>
            <a:r>
              <a:rPr lang="en-US" altLang="zh-CN" sz="3000">
                <a:ea typeface="宋体" panose="02010600030101010101" pitchFamily="2" charset="-122"/>
                <a:sym typeface="Symbol" panose="05050102010706020507" pitchFamily="18" charset="2"/>
              </a:rPr>
              <a:t>？   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对于每个 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x、y，P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x,y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) 都为真。</a:t>
            </a:r>
          </a:p>
          <a:p>
            <a:pPr eaLnBrk="1" hangingPunct="1"/>
            <a:r>
              <a:rPr lang="en-US" altLang="zh-CN" sz="3000">
                <a:ea typeface="宋体" panose="02010600030101010101" pitchFamily="2" charset="-122"/>
                <a:sym typeface="Symbol" panose="05050102010706020507" pitchFamily="18" charset="2"/>
              </a:rPr>
              <a:t>何时</a:t>
            </a:r>
            <a:r>
              <a:rPr lang="en-US" altLang="zh-CN" sz="3000" i="1">
                <a:ea typeface="宋体" panose="02010600030101010101" pitchFamily="2" charset="-122"/>
                <a:sym typeface="Symbol" panose="05050102010706020507" pitchFamily="18" charset="2"/>
              </a:rPr>
              <a:t>为假</a:t>
            </a:r>
            <a:r>
              <a:rPr lang="en-US" altLang="zh-CN" sz="3000">
                <a:ea typeface="宋体" panose="02010600030101010101" pitchFamily="2" charset="-122"/>
                <a:sym typeface="Symbol" panose="05050102010706020507" pitchFamily="18" charset="2"/>
              </a:rPr>
              <a:t>？  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有一对 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x、y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x, y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) 为假。</a:t>
            </a:r>
          </a:p>
          <a:p>
            <a:pPr eaLnBrk="1" hangingPunct="1"/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x y P(x,y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pPr eaLnBrk="1" hangingPunct="1"/>
            <a:r>
              <a:rPr lang="en-US" altLang="zh-CN" sz="3000">
                <a:ea typeface="宋体" panose="02010600030101010101" pitchFamily="2" charset="-122"/>
                <a:sym typeface="Symbol" panose="05050102010706020507" pitchFamily="18" charset="2"/>
              </a:rPr>
              <a:t>何时</a:t>
            </a:r>
            <a:r>
              <a:rPr lang="en-US" altLang="zh-CN" sz="3000" i="1">
                <a:ea typeface="宋体" panose="02010600030101010101" pitchFamily="2" charset="-122"/>
                <a:sym typeface="Symbol" panose="05050102010706020507" pitchFamily="18" charset="2"/>
              </a:rPr>
              <a:t>为真</a:t>
            </a:r>
            <a:r>
              <a:rPr lang="en-US" altLang="zh-CN" sz="3000"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对于每个 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，都有 P(x,y) 为真的 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en-US" altLang="zh-CN" sz="3000">
                <a:ea typeface="宋体" panose="02010600030101010101" pitchFamily="2" charset="-122"/>
                <a:sym typeface="Symbol" panose="05050102010706020507" pitchFamily="18" charset="2"/>
              </a:rPr>
              <a:t>何时</a:t>
            </a:r>
            <a:r>
              <a:rPr lang="en-US" altLang="zh-CN" sz="3000" i="1">
                <a:ea typeface="宋体" panose="02010600030101010101" pitchFamily="2" charset="-122"/>
                <a:sym typeface="Symbol" panose="05050102010706020507" pitchFamily="18" charset="2"/>
              </a:rPr>
              <a:t>为假</a:t>
            </a:r>
            <a:r>
              <a:rPr lang="en-US" altLang="zh-CN" sz="3000"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有一个 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对于每个 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y，P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,y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) 都是假的。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C2416DAF-DF98-47BB-8278-045FD554EE7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两个变量的量化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534400" cy="4879975"/>
          </a:xfrm>
        </p:spPr>
        <p:txBody>
          <a:bodyPr/>
          <a:lstStyle/>
          <a:p>
            <a:pPr eaLnBrk="1" hangingPunct="1">
              <a:lnSpc>
                <a:spcPct val="90%"/>
              </a:lnSpc>
            </a:pP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x y P(x,y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%"/>
              </a:lnSpc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何时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为真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有一个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对于每个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y，P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,y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) 都为真。</a:t>
            </a:r>
          </a:p>
          <a:p>
            <a:pPr eaLnBrk="1" hangingPunct="1">
              <a:lnSpc>
                <a:spcPct val="90%"/>
              </a:lnSpc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何时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为假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对于每个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都有一个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,y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) 为假的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y。 </a:t>
            </a:r>
          </a:p>
          <a:p>
            <a:pPr eaLnBrk="1" hangingPunct="1">
              <a:lnSpc>
                <a:spcPct val="90%"/>
              </a:lnSpc>
            </a:pP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x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y P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x,y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y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x P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x,y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%"/>
              </a:lnSpc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何时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为真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有一对 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x、y，P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x, y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) 为真。</a:t>
            </a:r>
            <a:endParaRPr lang="en-US" altLang="zh-CN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%"/>
              </a:lnSpc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何时为假？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对于每个 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x、y，P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x,y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) 都是假的。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575774A0-1389-4058-81E7-14A9942CB0F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5.</a:t>
            </a:r>
            <a:r>
              <a:rPr lang="en-US" altLang="zh-CN" b="1" dirty="0">
                <a:ea typeface="宋体" panose="02010600030101010101" pitchFamily="2" charset="-122"/>
              </a:rPr>
              <a:t>T（"真"）或 F（"</a:t>
            </a:r>
            <a:r>
              <a:rPr lang="en-US" altLang="zh-CN" b="1" dirty="0" err="1">
                <a:ea typeface="宋体" panose="02010600030101010101" pitchFamily="2" charset="-122"/>
              </a:rPr>
              <a:t>假</a:t>
            </a:r>
            <a:r>
              <a:rPr lang="en-US" altLang="zh-CN" b="1" dirty="0">
                <a:ea typeface="宋体" panose="02010600030101010101" pitchFamily="2" charset="-122"/>
              </a:rPr>
              <a:t>"）： </a:t>
            </a:r>
          </a:p>
          <a:p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yx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ea typeface="宋体" panose="02010600030101010101" pitchFamily="2" charset="-122"/>
              </a:rPr>
              <a:t>A(</a:t>
            </a:r>
            <a:r>
              <a:rPr lang="en-US" altLang="zh-CN" b="1" dirty="0" err="1">
                <a:ea typeface="宋体" panose="02010600030101010101" pitchFamily="2" charset="-122"/>
              </a:rPr>
              <a:t>x,y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) 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xy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ea typeface="宋体" panose="02010600030101010101" pitchFamily="2" charset="-122"/>
              </a:rPr>
              <a:t>A(</a:t>
            </a:r>
            <a:r>
              <a:rPr lang="en-US" altLang="zh-CN" b="1" dirty="0" err="1">
                <a:ea typeface="宋体" panose="02010600030101010101" pitchFamily="2" charset="-122"/>
              </a:rPr>
              <a:t>x,y</a:t>
            </a:r>
            <a:r>
              <a:rPr lang="en-US" altLang="zh-CN" b="1" dirty="0">
                <a:ea typeface="宋体" panose="02010600030101010101" pitchFamily="2" charset="-122"/>
              </a:rPr>
              <a:t>)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7556315"/>
      </p:ext>
    </p:extLst>
  </p:cSld>
  <p:clrMapOvr>
    <a:masterClrMapping/>
  </p:clrMapOvr>
</p:sld>
</file>

<file path=ppt/slides/slide2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2CA217D9-FC83-42FE-A5FF-DF2DCAFB91D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示例 14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458200" cy="5057775"/>
          </a:xfrm>
        </p:spPr>
        <p:txBody>
          <a:bodyPr/>
          <a:lstStyle/>
          <a:p>
            <a:pPr eaLnBrk="1" hangingPunct="1">
              <a:lnSpc>
                <a:spcPct val="90%"/>
              </a:lnSpc>
            </a:pPr>
            <a:r>
              <a:rPr lang="en-US" altLang="zh-CN" sz="2800">
                <a:ea typeface="宋体" panose="02010600030101010101" pitchFamily="2" charset="-122"/>
              </a:rPr>
              <a:t>假设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x,y,z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是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x+y=z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语句</a:t>
            </a:r>
            <a:endParaRPr lang="en-US" altLang="zh-CN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%"/>
              </a:lnSpc>
            </a:pP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y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z Q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x,y,z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pPr eaLnBrk="1" hangingPunct="1">
              <a:lnSpc>
                <a:spcPct val="90%"/>
              </a:lnSpc>
            </a:pP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%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对于所有实数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和所有实数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，存在一个实数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z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，使得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x+y=z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。                  </a:t>
            </a:r>
            <a:r>
              <a:rPr lang="en-US" altLang="zh-CN">
                <a:solidFill>
                  <a:srgbClr val="8E2D0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正确</a:t>
            </a:r>
          </a:p>
          <a:p>
            <a:pPr eaLnBrk="1" hangingPunct="1">
              <a:lnSpc>
                <a:spcPct val="90%"/>
              </a:lnSpc>
            </a:pPr>
            <a:endParaRPr lang="en-US" altLang="zh-CN">
              <a:solidFill>
                <a:srgbClr val="8E2D06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%"/>
              </a:lnSpc>
            </a:pP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z x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y Q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x,y,z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>
                <a:solidFill>
                  <a:srgbClr val="8E2D0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False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%"/>
              </a:lnSpc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有一个实数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z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，对于所有实数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和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x+y=z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为真</a:t>
            </a:r>
          </a:p>
        </p:txBody>
      </p:sp>
    </p:spTree>
  </p:cSld>
  <p:clrMapOvr>
    <a:masterClrMapping/>
  </p:clrMapOvr>
</p:sld>
</file>

<file path=ppt/slides/slide2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zh-CN">
                <a:ea typeface="宋体" panose="02010600030101010101" pitchFamily="2" charset="-122"/>
              </a:rPr>
              <a:t>命题符号化</a:t>
            </a:r>
          </a:p>
        </p:txBody>
      </p:sp>
      <p:sp>
        <p:nvSpPr>
          <p:cNvPr id="25603" name="内容占位符 2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(1)有些液体能够溶解任何金属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(2)任何金属均可溶解于某种液体之中</a:t>
            </a:r>
          </a:p>
        </p:txBody>
      </p:sp>
      <p:sp>
        <p:nvSpPr>
          <p:cNvPr id="25604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01C49907-0BFE-4BE8-AD0B-082D95164A64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zh-CN">
                <a:ea typeface="宋体" panose="02010600030101010101" pitchFamily="2" charset="-122"/>
              </a:rPr>
              <a:t>命题符号化</a:t>
            </a:r>
          </a:p>
        </p:txBody>
      </p:sp>
      <p:sp>
        <p:nvSpPr>
          <p:cNvPr id="26628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44DE080F-3932-4EBC-AE90-97C7D99157A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" name="内容占位符 2"/>
          <p:cNvSpPr>
            <a:spLocks noGrp="1" noChangeArrowheads="1"/>
          </p:cNvSpPr>
          <p:nvPr/>
        </p:nvSpPr>
        <p:spPr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%"/>
              </a:spcBef>
              <a:spcAft>
                <a:spcPct val="0%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%"/>
              </a:spcBef>
              <a:spcAft>
                <a:spcPct val="0%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%"/>
              </a:spcBef>
              <a:spcAft>
                <a:spcPct val="0%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设</a:t>
            </a:r>
            <a:r>
              <a:rPr lang="en-US" altLang="zh-CN">
                <a:ea typeface="宋体" panose="02010600030101010101" pitchFamily="2" charset="-122"/>
              </a:rPr>
              <a:t>P(x):x</a:t>
            </a:r>
            <a:r>
              <a:rPr lang="zh-CN" altLang="en-US">
                <a:ea typeface="宋体" panose="02010600030101010101" pitchFamily="2" charset="-122"/>
              </a:rPr>
              <a:t>是液体</a:t>
            </a:r>
            <a:r>
              <a:rPr lang="en-US" altLang="zh-CN">
                <a:ea typeface="宋体" panose="02010600030101010101" pitchFamily="2" charset="-122"/>
              </a:rPr>
              <a:t>,G(x):x</a:t>
            </a:r>
            <a:r>
              <a:rPr lang="zh-CN" altLang="en-US">
                <a:ea typeface="宋体" panose="02010600030101010101" pitchFamily="2" charset="-122"/>
              </a:rPr>
              <a:t>是金属</a:t>
            </a:r>
            <a:r>
              <a:rPr lang="en-US" altLang="zh-CN">
                <a:ea typeface="宋体" panose="02010600030101010101" pitchFamily="2" charset="-122"/>
              </a:rPr>
              <a:t>,R(x,y):x</a:t>
            </a:r>
            <a:r>
              <a:rPr lang="zh-CN" altLang="en-US">
                <a:ea typeface="宋体" panose="02010600030101010101" pitchFamily="2" charset="-122"/>
              </a:rPr>
              <a:t>溶解</a:t>
            </a:r>
            <a:r>
              <a:rPr lang="en-US" altLang="zh-CN">
                <a:ea typeface="宋体" panose="02010600030101010101" pitchFamily="2" charset="-122"/>
              </a:rPr>
              <a:t>y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(1)</a:t>
            </a:r>
            <a:r>
              <a:rPr lang="zh-CN" altLang="en-US">
                <a:ea typeface="宋体" panose="02010600030101010101" pitchFamily="2" charset="-122"/>
              </a:rPr>
              <a:t>有些液体能够溶解任何金属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( x) (</a:t>
            </a:r>
            <a:r>
              <a:rPr lang="en-US" altLang="zh-CN">
                <a:ea typeface="宋体" panose="02010600030101010101" pitchFamily="2" charset="-122"/>
              </a:rPr>
              <a:t>P(x)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 ( y) (G</a:t>
            </a:r>
            <a:r>
              <a:rPr lang="en-US" altLang="zh-CN">
                <a:ea typeface="宋体" panose="02010600030101010101" pitchFamily="2" charset="-122"/>
              </a:rPr>
              <a:t>(y)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 R</a:t>
            </a:r>
            <a:r>
              <a:rPr lang="en-US" altLang="zh-CN">
                <a:ea typeface="宋体" panose="02010600030101010101" pitchFamily="2" charset="-122"/>
              </a:rPr>
              <a:t>(x,y)))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(2)</a:t>
            </a:r>
            <a:r>
              <a:rPr lang="zh-CN" altLang="en-US">
                <a:ea typeface="宋体" panose="02010600030101010101" pitchFamily="2" charset="-122"/>
              </a:rPr>
              <a:t>任何金属均可溶解于某种液体之中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( x) (G</a:t>
            </a:r>
            <a:r>
              <a:rPr lang="en-US" altLang="zh-CN">
                <a:ea typeface="宋体" panose="02010600030101010101" pitchFamily="2" charset="-122"/>
              </a:rPr>
              <a:t>(x)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 ( y) (P</a:t>
            </a:r>
            <a:r>
              <a:rPr lang="en-US" altLang="zh-CN">
                <a:ea typeface="宋体" panose="02010600030101010101" pitchFamily="2" charset="-122"/>
              </a:rPr>
              <a:t>(y)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 R</a:t>
            </a:r>
            <a:r>
              <a:rPr lang="en-US" altLang="zh-CN">
                <a:ea typeface="宋体" panose="02010600030101010101" pitchFamily="2" charset="-122"/>
              </a:rPr>
              <a:t>(y,x)))</a:t>
            </a:r>
          </a:p>
        </p:txBody>
      </p:sp>
    </p:spTree>
  </p:cSld>
  <p:clrMapOvr>
    <a:masterClrMapping/>
  </p:clrMapOvr>
</p:sld>
</file>

<file path=ppt/slides/slide2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zh-CN">
                <a:ea typeface="宋体" panose="02010600030101010101" pitchFamily="2" charset="-122"/>
              </a:rPr>
              <a:t>将命题翻译成自然语言</a:t>
            </a:r>
          </a:p>
        </p:txBody>
      </p:sp>
      <p:sp>
        <p:nvSpPr>
          <p:cNvPr id="27652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235C445D-6B7B-48CD-8607-7A89496B121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" name="内容占位符 2"/>
          <p:cNvSpPr>
            <a:spLocks noGrp="1" noChangeArrowheads="1"/>
          </p:cNvSpPr>
          <p:nvPr/>
        </p:nvSpPr>
        <p:spPr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%"/>
              </a:spcBef>
              <a:spcAft>
                <a:spcPct val="0%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%"/>
              </a:spcBef>
              <a:spcAft>
                <a:spcPct val="0%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%"/>
              </a:spcBef>
              <a:spcAft>
                <a:spcPct val="0%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已给谓词如下：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P(x):x</a:t>
            </a:r>
            <a:r>
              <a:rPr lang="zh-CN" altLang="en-US">
                <a:ea typeface="宋体" panose="02010600030101010101" pitchFamily="2" charset="-122"/>
              </a:rPr>
              <a:t>是素数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E(x):x</a:t>
            </a:r>
            <a:r>
              <a:rPr lang="zh-CN" altLang="en-US">
                <a:ea typeface="宋体" panose="02010600030101010101" pitchFamily="2" charset="-122"/>
              </a:rPr>
              <a:t>是偶数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O(x):x</a:t>
            </a:r>
            <a:r>
              <a:rPr lang="zh-CN" altLang="en-US">
                <a:ea typeface="宋体" panose="02010600030101010101" pitchFamily="2" charset="-122"/>
              </a:rPr>
              <a:t>是奇数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N(x,y):x</a:t>
            </a:r>
            <a:r>
              <a:rPr lang="zh-CN" altLang="en-US">
                <a:ea typeface="宋体" panose="02010600030101010101" pitchFamily="2" charset="-122"/>
              </a:rPr>
              <a:t>可以整除</a:t>
            </a:r>
            <a:r>
              <a:rPr lang="en-US" altLang="zh-CN">
                <a:ea typeface="宋体" panose="02010600030101010101" pitchFamily="2" charset="-122"/>
              </a:rPr>
              <a:t>y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）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(x) (</a:t>
            </a:r>
            <a:r>
              <a:rPr lang="en-US" altLang="zh-CN">
                <a:ea typeface="宋体" panose="02010600030101010101" pitchFamily="2" charset="-122"/>
              </a:rPr>
              <a:t>P(x)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(y) (O</a:t>
            </a:r>
            <a:r>
              <a:rPr lang="en-US" altLang="zh-CN">
                <a:ea typeface="宋体" panose="02010600030101010101" pitchFamily="2" charset="-122"/>
              </a:rPr>
              <a:t>(y)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 N</a:t>
            </a:r>
            <a:r>
              <a:rPr lang="en-US" altLang="zh-CN">
                <a:ea typeface="宋体" panose="02010600030101010101" pitchFamily="2" charset="-122"/>
              </a:rPr>
              <a:t>(y,x)))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）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(x) (O</a:t>
            </a:r>
            <a:r>
              <a:rPr lang="en-US" altLang="zh-CN">
                <a:ea typeface="宋体" panose="02010600030101010101" pitchFamily="2" charset="-122"/>
              </a:rPr>
              <a:t>(x)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(y) (E</a:t>
            </a:r>
            <a:r>
              <a:rPr lang="en-US" altLang="zh-CN">
                <a:ea typeface="宋体" panose="02010600030101010101" pitchFamily="2" charset="-122"/>
              </a:rPr>
              <a:t>(y)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  N</a:t>
            </a:r>
            <a:r>
              <a:rPr lang="en-US" altLang="zh-CN">
                <a:ea typeface="宋体" panose="02010600030101010101" pitchFamily="2" charset="-122"/>
              </a:rPr>
              <a:t>(y,x)))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zh-CN">
                <a:ea typeface="宋体" panose="02010600030101010101" pitchFamily="2" charset="-122"/>
              </a:rPr>
              <a:t>将命题翻译成自然语言</a:t>
            </a:r>
          </a:p>
        </p:txBody>
      </p:sp>
      <p:sp>
        <p:nvSpPr>
          <p:cNvPr id="2867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9EF5D45A-5F2E-45EB-B89F-C62E5B08899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" name="内容占位符 2"/>
          <p:cNvSpPr>
            <a:spLocks noGrp="1" noChangeArrowheads="1"/>
          </p:cNvSpPr>
          <p:nvPr/>
        </p:nvSpPr>
        <p:spPr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%"/>
              </a:spcBef>
              <a:spcAft>
                <a:spcPct val="0%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%"/>
              </a:spcBef>
              <a:spcAft>
                <a:spcPct val="0%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%"/>
              </a:spcBef>
              <a:spcAft>
                <a:spcPct val="0%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）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(x) (</a:t>
            </a:r>
            <a:r>
              <a:rPr lang="en-US" altLang="zh-CN">
                <a:ea typeface="宋体" panose="02010600030101010101" pitchFamily="2" charset="-122"/>
              </a:rPr>
              <a:t>P(x)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(y) (O</a:t>
            </a:r>
            <a:r>
              <a:rPr lang="en-US" altLang="zh-CN">
                <a:ea typeface="宋体" panose="02010600030101010101" pitchFamily="2" charset="-122"/>
              </a:rPr>
              <a:t>(y)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 N</a:t>
            </a:r>
            <a:r>
              <a:rPr lang="en-US" altLang="zh-CN">
                <a:ea typeface="宋体" panose="02010600030101010101" pitchFamily="2" charset="-122"/>
              </a:rPr>
              <a:t>(y,x)))</a:t>
            </a:r>
          </a:p>
          <a:p>
            <a:pPr marL="514350" indent="-51435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  </a:t>
            </a:r>
            <a:r>
              <a:rPr lang="zh-CN" altLang="en-US">
                <a:ea typeface="宋体" panose="02010600030101010101" pitchFamily="2" charset="-122"/>
              </a:rPr>
              <a:t>对任意素数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zh-CN" altLang="en-US">
                <a:ea typeface="宋体" panose="02010600030101010101" pitchFamily="2" charset="-122"/>
              </a:rPr>
              <a:t>，存在一个奇数</a:t>
            </a:r>
            <a:r>
              <a:rPr lang="en-US" altLang="zh-CN">
                <a:ea typeface="宋体" panose="02010600030101010101" pitchFamily="2" charset="-122"/>
              </a:rPr>
              <a:t>y</a:t>
            </a:r>
            <a:r>
              <a:rPr lang="zh-CN" altLang="en-US">
                <a:ea typeface="宋体" panose="02010600030101010101" pitchFamily="2" charset="-122"/>
              </a:rPr>
              <a:t>，使得</a:t>
            </a:r>
            <a:r>
              <a:rPr lang="en-US" altLang="zh-CN">
                <a:ea typeface="宋体" panose="02010600030101010101" pitchFamily="2" charset="-122"/>
              </a:rPr>
              <a:t>y</a:t>
            </a:r>
            <a:r>
              <a:rPr lang="zh-CN" altLang="en-US">
                <a:ea typeface="宋体" panose="02010600030101010101" pitchFamily="2" charset="-122"/>
              </a:rPr>
              <a:t>整除</a:t>
            </a:r>
            <a:r>
              <a:rPr lang="en-US" altLang="zh-CN">
                <a:ea typeface="宋体" panose="02010600030101010101" pitchFamily="2" charset="-122"/>
              </a:rPr>
              <a:t>x</a:t>
            </a:r>
          </a:p>
          <a:p>
            <a:pPr marL="514350" indent="-51435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514350" indent="-51435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514350" indent="-514350"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）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(x) (O</a:t>
            </a:r>
            <a:r>
              <a:rPr lang="en-US" altLang="zh-CN">
                <a:ea typeface="宋体" panose="02010600030101010101" pitchFamily="2" charset="-122"/>
              </a:rPr>
              <a:t>(x)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(y) (E</a:t>
            </a:r>
            <a:r>
              <a:rPr lang="en-US" altLang="zh-CN">
                <a:ea typeface="宋体" panose="02010600030101010101" pitchFamily="2" charset="-122"/>
              </a:rPr>
              <a:t>(y)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  N</a:t>
            </a:r>
            <a:r>
              <a:rPr lang="en-US" altLang="zh-CN">
                <a:ea typeface="宋体" panose="02010600030101010101" pitchFamily="2" charset="-122"/>
              </a:rPr>
              <a:t>(y,x)))</a:t>
            </a:r>
            <a:endParaRPr lang="zh-CN" altLang="en-US">
              <a:ea typeface="宋体" panose="02010600030101010101" pitchFamily="2" charset="-122"/>
            </a:endParaRPr>
          </a:p>
          <a:p>
            <a:pPr marL="514350" indent="-51435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对任意一个奇数，都存在一个不整除它的偶数</a:t>
            </a:r>
          </a:p>
        </p:txBody>
      </p:sp>
    </p:spTree>
  </p:cSld>
  <p:clrMapOvr>
    <a:masterClrMapping/>
  </p:clrMapOvr>
</p:sld>
</file>

<file path=ppt/slides/slide3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BF529139-3C66-4317-93A1-F7DEF9E563A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44037" name="文本框 4"/>
          <p:cNvSpPr txBox="1">
            <a:spLocks noChangeArrowheads="1"/>
          </p:cNvSpPr>
          <p:nvPr/>
        </p:nvSpPr>
        <p:spPr bwMode="auto">
          <a:xfrm flipH="1">
            <a:off x="428625" y="1447800"/>
            <a:ext cx="638175" cy="52197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%"/>
          </a:ln>
        </p:spPr>
        <p:txBody>
          <a:bodyPr>
            <a:spAutoFit/>
          </a:bodyPr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%"/>
              </a:spcBef>
              <a:buClrTx/>
              <a:buFontTx/>
              <a:buNone/>
            </a:pPr>
            <a:endParaRPr lang="zh-CN" altLang="en-US" sz="2800" dirty="0"/>
          </a:p>
        </p:txBody>
      </p:sp>
      <p:sp>
        <p:nvSpPr>
          <p:cNvPr id="2" name="Rectangle 3"/>
          <p:cNvSpPr>
            <a:spLocks noGrp="1" noChangeArrowheads="1"/>
          </p:cNvSpPr>
          <p:nvPr/>
        </p:nvSpPr>
        <p:spPr>
          <a:xfrm>
            <a:off x="0" y="1447800"/>
            <a:ext cx="9145588" cy="47259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%"/>
              </a:spcBef>
              <a:spcAft>
                <a:spcPct val="0%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%"/>
              </a:spcBef>
              <a:spcAft>
                <a:spcPct val="0%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%"/>
              </a:spcBef>
              <a:spcAft>
                <a:spcPct val="0%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dirty="0">
                <a:ea typeface="宋体" panose="02010600030101010101" pitchFamily="2" charset="-122"/>
              </a:rPr>
              <a:t>6.</a:t>
            </a:r>
            <a:r>
              <a:rPr lang="zh-CN" altLang="en-US" dirty="0">
                <a:ea typeface="宋体" panose="02010600030101010101" pitchFamily="2" charset="-122"/>
              </a:rPr>
              <a:t>证明下述命题的等价性：</a:t>
            </a:r>
            <a:endParaRPr lang="zh-CN" altLang="zh-CN" sz="2800" dirty="0"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22.625%"/>
          <a:stretch>
            <a:fillRect/>
          </a:stretch>
        </p:blipFill>
        <p:spPr>
          <a:xfrm>
            <a:off x="-3810" y="2133600"/>
            <a:ext cx="9151620" cy="366141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2"/>
          <p:cNvSpPr txBox="1">
            <a:spLocks noGrp="1" noChangeArrowheads="1"/>
          </p:cNvSpPr>
          <p:nvPr/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51B263CA-75DB-42E8-AC82-038F1A6CF0C6}" type="slidenum">
              <a:rPr lang="en-US" altLang="zh-CN" sz="1200"/>
              <a:t>32</a:t>
            </a:fld>
            <a:endParaRPr lang="en-US" altLang="zh-CN" sz="1200"/>
          </a:p>
        </p:txBody>
      </p:sp>
      <p:sp>
        <p:nvSpPr>
          <p:cNvPr id="54275" name="Rectangle 12"/>
          <p:cNvSpPr txBox="1">
            <a:spLocks noGrp="1" noChangeArrowheads="1"/>
          </p:cNvSpPr>
          <p:nvPr/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%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%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%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%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%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%"/>
              </a:spcBef>
              <a:spcAft>
                <a:spcPct val="0%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%"/>
              </a:spcBef>
              <a:buClrTx/>
              <a:buFont typeface="Arial" panose="020B0604020202020204" pitchFamily="34" charset="0"/>
              <a:buNone/>
            </a:pPr>
            <a:fld id="{9478863C-1636-41B4-95C0-A7F23AC13FAC}" type="slidenum">
              <a:rPr lang="en-US" altLang="zh-CN" sz="1200"/>
              <a:t>32</a:t>
            </a:fld>
            <a:endParaRPr lang="en-US" altLang="zh-CN" sz="1200"/>
          </a:p>
        </p:txBody>
      </p:sp>
      <p:sp>
        <p:nvSpPr>
          <p:cNvPr id="30724" name="WordArt 2"/>
          <p:cNvSpPr>
            <a:spLocks noChangeArrowheads="1" noChangeShapeType="1" noTextEdit="1"/>
          </p:cNvSpPr>
          <p:nvPr/>
        </p:nvSpPr>
        <p:spPr bwMode="auto">
          <a:xfrm>
            <a:off x="1600200" y="4267200"/>
            <a:ext cx="55626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%">
                      <a:schemeClr val="tx1"/>
                    </a:gs>
                    <a:gs pos="100%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%"/>
                    </a:srgbClr>
                  </a:outerShdw>
                </a:effectLst>
                <a:cs typeface="Arial" panose="020B0604020202020204" pitchFamily="34" charset="0"/>
              </a:rPr>
              <a:t>第 1.4 节结束</a:t>
            </a:r>
            <a:endParaRPr lang="zh-CN" altLang="en-US" sz="3600" b="1" kern="1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%">
                    <a:schemeClr val="tx1"/>
                  </a:gs>
                  <a:gs pos="100%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%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54277" name="Rectangle 4"/>
          <p:cNvSpPr>
            <a:spLocks noGrp="1" noChangeArrowheads="1"/>
          </p:cNvSpPr>
          <p:nvPr>
            <p:ph type="subTitle" idx="4294967295"/>
          </p:nvPr>
        </p:nvSpPr>
        <p:spPr>
          <a:xfrm>
            <a:off x="2286000" y="3886200"/>
            <a:ext cx="6719888" cy="3810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endParaRPr lang="zh-CN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fltVal val="0"/>
                                          </p:val>
                                        </p:tav>
                                        <p:tav tm="0.1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fltVal val="0"/>
                                          </p:val>
                                        </p:tav>
                                        <p:tav tm="0.1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purl.oclc.org/ooxml/drawingml/main" xmlns:r="http://purl.oclc.org/ooxml/officeDocument/relationships" xmlns:p="http://purl.oclc.org/ooxml/presentationml/main">
  <p:tag name="KSO_WM_DIAGRAM_VIRTUALLY_FRAME" val="{&quot;height&quot;:252,&quot;left&quot;:42,&quot;top&quot;:162,&quot;width&quot;:636}"/>
</p:tagLst>
</file>

<file path=ppt/tags/tag2.xml><?xml version="1.0" encoding="utf-8"?>
<p:tagLst xmlns:a="http://purl.oclc.org/ooxml/drawingml/main" xmlns:r="http://purl.oclc.org/ooxml/officeDocument/relationships" xmlns:p="http://purl.oclc.org/ooxml/presentationml/main">
  <p:tag name="KSO_WM_DIAGRAM_VIRTUALLY_FRAME" val="{&quot;height&quot;:252,&quot;left&quot;:42,&quot;top&quot;:162,&quot;width&quot;:636}"/>
</p:tagLst>
</file>

<file path=ppt/tags/tag3.xml><?xml version="1.0" encoding="utf-8"?>
<p:tagLst xmlns:a="http://purl.oclc.org/ooxml/drawingml/main" xmlns:r="http://purl.oclc.org/ooxml/officeDocument/relationships" xmlns:p="http://purl.oclc.org/ooxml/presentationml/main">
  <p:tag name="KSO_WM_DIAGRAM_VIRTUALLY_FRAME" val="{&quot;height&quot;:252,&quot;left&quot;:42,&quot;top&quot;:162,&quot;width&quot;:636}"/>
</p:tagLst>
</file>

<file path=ppt/tags/tag4.xml><?xml version="1.0" encoding="utf-8"?>
<p:tagLst xmlns:a="http://purl.oclc.org/ooxml/drawingml/main" xmlns:r="http://purl.oclc.org/ooxml/officeDocument/relationships" xmlns:p="http://purl.oclc.org/ooxml/presentationml/main">
  <p:tag name="KSO_WM_DIAGRAM_VIRTUALLY_FRAME" val="{&quot;height&quot;:252,&quot;left&quot;:42,&quot;top&quot;:162,&quot;width&quot;:636}"/>
</p:tagLst>
</file>

<file path=ppt/tags/tag5.xml><?xml version="1.0" encoding="utf-8"?>
<p:tagLst xmlns:a="http://purl.oclc.org/ooxml/drawingml/main" xmlns:r="http://purl.oclc.org/ooxml/officeDocument/relationships" xmlns:p="http://purl.oclc.org/ooxml/presentationml/main">
  <p:tag name="KSO_WM_DIAGRAM_VIRTUALLY_FRAME" val="{&quot;height&quot;:252,&quot;left&quot;:42,&quot;top&quot;:162,&quot;width&quot;:636}"/>
</p:tagLst>
</file>

<file path=ppt/tags/tag6.xml><?xml version="1.0" encoding="utf-8"?>
<p:tagLst xmlns:a="http://purl.oclc.org/ooxml/drawingml/main" xmlns:r="http://purl.oclc.org/ooxml/officeDocument/relationships" xmlns:p="http://purl.oclc.org/ooxml/presentationml/main">
  <p:tag name="KSO_WM_DIAGRAM_VIRTUALLY_FRAME" val="{&quot;height&quot;:252,&quot;left&quot;:42,&quot;top&quot;:162,&quot;width&quot;:636}"/>
</p:tagLst>
</file>

<file path=ppt/tags/tag7.xml><?xml version="1.0" encoding="utf-8"?>
<p:tagLst xmlns:a="http://purl.oclc.org/ooxml/drawingml/main" xmlns:r="http://purl.oclc.org/ooxml/officeDocument/relationships" xmlns:p="http://purl.oclc.org/ooxml/presentationml/main">
  <p:tag name="KSO_WM_DIAGRAM_VIRTUALLY_FRAME" val="{&quot;height&quot;:252,&quot;left&quot;:42,&quot;top&quot;:162,&quot;width&quot;:636}"/>
</p:tagLst>
</file>

<file path=ppt/tags/tag8.xml><?xml version="1.0" encoding="utf-8"?>
<p:tagLst xmlns:a="http://purl.oclc.org/ooxml/drawingml/main" xmlns:r="http://purl.oclc.org/ooxml/officeDocument/relationships" xmlns:p="http://purl.oclc.org/ooxml/presentationml/main">
  <p:tag name="KSO_WM_DIAGRAM_VIRTUALLY_FRAME" val="{&quot;height&quot;:252,&quot;left&quot;:42,&quot;top&quot;:162,&quot;width&quot;:636}"/>
</p:tagLst>
</file>

<file path=ppt/tags/tag9.xml><?xml version="1.0" encoding="utf-8"?>
<p:tagLst xmlns:a="http://purl.oclc.org/ooxml/drawingml/main" xmlns:r="http://purl.oclc.org/ooxml/officeDocument/relationships" xmlns:p="http://purl.oclc.org/ooxml/presentationml/main">
  <p:tag name="KSO_WM_DIAGRAM_VIRTUALLY_FRAME" val="{&quot;height&quot;:252,&quot;left&quot;:42,&quot;top&quot;:162,&quot;width&quot;:636}"/>
</p:tagLst>
</file>

<file path=ppt/tags/tag10.xml><?xml version="1.0" encoding="utf-8"?>
<p:tagLst xmlns:a="http://purl.oclc.org/ooxml/drawingml/main" xmlns:r="http://purl.oclc.org/ooxml/officeDocument/relationships" xmlns:p="http://purl.oclc.org/ooxml/presentationml/main">
  <p:tag name="KSO_WM_DIAGRAM_VIRTUALLY_FRAME" val="{&quot;height&quot;:252,&quot;left&quot;:42,&quot;top&quot;:162,&quot;width&quot;:636}"/>
</p:tagLst>
</file>

<file path=ppt/tags/tag11.xml><?xml version="1.0" encoding="utf-8"?>
<p:tagLst xmlns:a="http://purl.oclc.org/ooxml/drawingml/main" xmlns:r="http://purl.oclc.org/ooxml/officeDocument/relationships" xmlns:p="http://purl.oclc.org/ooxml/presentationml/main">
  <p:tag name="KSO_WM_DIAGRAM_VIRTUALLY_FRAME" val="{&quot;height&quot;:252,&quot;left&quot;:42,&quot;top&quot;:162,&quot;width&quot;:636}"/>
</p:tagLst>
</file>

<file path=ppt/tags/tag12.xml><?xml version="1.0" encoding="utf-8"?>
<p:tagLst xmlns:a="http://purl.oclc.org/ooxml/drawingml/main" xmlns:r="http://purl.oclc.org/ooxml/officeDocument/relationships" xmlns:p="http://purl.oclc.org/ooxml/presentationml/main">
  <p:tag name="KSO_WM_DIAGRAM_VIRTUALLY_FRAME" val="{&quot;height&quot;:252,&quot;left&quot;:42,&quot;top&quot;:162,&quot;width&quot;:636}"/>
</p:tagLst>
</file>

<file path=ppt/tags/tag13.xml><?xml version="1.0" encoding="utf-8"?>
<p:tagLst xmlns:a="http://purl.oclc.org/ooxml/drawingml/main" xmlns:r="http://purl.oclc.org/ooxml/officeDocument/relationships" xmlns:p="http://purl.oclc.org/ooxml/presentationml/main">
  <p:tag name="KSO_WM_DIAGRAM_VIRTUALLY_FRAME" val="{&quot;height&quot;:252,&quot;left&quot;:42,&quot;top&quot;:162,&quot;width&quot;:636}"/>
</p:tagLst>
</file>

<file path=ppt/tags/tag14.xml><?xml version="1.0" encoding="utf-8"?>
<p:tagLst xmlns:a="http://purl.oclc.org/ooxml/drawingml/main" xmlns:r="http://purl.oclc.org/ooxml/officeDocument/relationships" xmlns:p="http://purl.oclc.org/ooxml/presentationml/main">
  <p:tag name="KSO_WM_DIAGRAM_VIRTUALLY_FRAME" val="{&quot;height&quot;:252,&quot;left&quot;:42,&quot;top&quot;:162,&quot;width&quot;:636}"/>
</p:tagLst>
</file>

<file path=ppt/tags/tag15.xml><?xml version="1.0" encoding="utf-8"?>
<p:tagLst xmlns:a="http://purl.oclc.org/ooxml/drawingml/main" xmlns:r="http://purl.oclc.org/ooxml/officeDocument/relationships" xmlns:p="http://purl.oclc.org/ooxml/presentationml/main">
  <p:tag name="KSO_WM_DIAGRAM_VIRTUALLY_FRAME" val="{&quot;height&quot;:252,&quot;left&quot;:42,&quot;top&quot;:162,&quot;width&quot;:636}"/>
</p:tagLst>
</file>

<file path=ppt/tags/tag16.xml><?xml version="1.0" encoding="utf-8"?>
<p:tagLst xmlns:a="http://purl.oclc.org/ooxml/drawingml/main" xmlns:r="http://purl.oclc.org/ooxml/officeDocument/relationships" xmlns:p="http://purl.oclc.org/ooxml/presentationml/main">
  <p:tag name="KSO_WM_DIAGRAM_VIRTUALLY_FRAME" val="{&quot;height&quot;:252,&quot;left&quot;:42,&quot;top&quot;:162,&quot;width&quot;:636}"/>
</p:tagLst>
</file>

<file path=ppt/theme/theme1.xml><?xml version="1.0" encoding="utf-8"?>
<a:theme xmlns:a="http://purl.oclc.org/ooxml/drawingml/main" name="sample">
  <a:themeElements>
    <a:clrScheme name="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%"/>
          </a:lnSpc>
          <a:spcBef>
            <a:spcPct val="0%"/>
          </a:spcBef>
          <a:spcAft>
            <a:spcPct val="0%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%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%"/>
          </a:lnSpc>
          <a:spcBef>
            <a:spcPct val="0%"/>
          </a:spcBef>
          <a:spcAft>
            <a:spcPct val="0%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%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purl.oclc.org/ooxml/drawingml/main" name="1_sample">
  <a:themeElements>
    <a:clrScheme name="1_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1_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%"/>
          </a:lnSpc>
          <a:spcBef>
            <a:spcPct val="0%"/>
          </a:spcBef>
          <a:spcAft>
            <a:spcPct val="0%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%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%"/>
          </a:lnSpc>
          <a:spcBef>
            <a:spcPct val="0%"/>
          </a:spcBef>
          <a:spcAft>
            <a:spcPct val="0%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%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purl.oclc.org/ooxml/drawingml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purl.oclc.org/ooxml/officeDocument/extendedProperties" xmlns:vt="http://purl.oclc.org/ooxml/officeDocument/docPropsVTypes">
  <Template>顶级ppt模版1</Template>
  <TotalTime>111</TotalTime>
  <Words>1847</Words>
  <Application>Microsoft Macintosh PowerPoint</Application>
  <PresentationFormat>全屏显示(4:3)</PresentationFormat>
  <Paragraphs>195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宋体</vt:lpstr>
      <vt:lpstr>Euclid</vt:lpstr>
      <vt:lpstr>Arial</vt:lpstr>
      <vt:lpstr>Arial Black</vt:lpstr>
      <vt:lpstr>Times New Roman</vt:lpstr>
      <vt:lpstr>Verdana</vt:lpstr>
      <vt:lpstr>Wingdings</vt:lpstr>
      <vt:lpstr>sample</vt:lpstr>
      <vt:lpstr>1_sample</vt:lpstr>
      <vt:lpstr>PowerPoint 演示文稿</vt:lpstr>
      <vt:lpstr>PowerPoint 演示文稿</vt:lpstr>
      <vt:lpstr>目录</vt:lpstr>
      <vt:lpstr>PowerPoint 演示文稿</vt:lpstr>
      <vt:lpstr>示例 1</vt:lpstr>
      <vt:lpstr>示例 2</vt:lpstr>
      <vt:lpstr>示例 3</vt:lpstr>
      <vt:lpstr>示例 4</vt:lpstr>
      <vt:lpstr>PowerPoint 演示文稿</vt:lpstr>
      <vt:lpstr>示例 5</vt:lpstr>
      <vt:lpstr>例 6</vt:lpstr>
      <vt:lpstr>例 7</vt:lpstr>
      <vt:lpstr>例 8-9</vt:lpstr>
      <vt:lpstr>练习</vt:lpstr>
      <vt:lpstr>练习</vt:lpstr>
      <vt:lpstr>PowerPoint 演示文稿</vt:lpstr>
      <vt:lpstr>例 10</vt:lpstr>
      <vt:lpstr>例 11</vt:lpstr>
      <vt:lpstr>例 12 和例 13</vt:lpstr>
      <vt:lpstr>练习</vt:lpstr>
      <vt:lpstr>练习</vt:lpstr>
      <vt:lpstr>PowerPoint 演示文稿</vt:lpstr>
      <vt:lpstr>两个变量的量化</vt:lpstr>
      <vt:lpstr>两个变量的量化</vt:lpstr>
      <vt:lpstr>练习</vt:lpstr>
      <vt:lpstr>示例 14</vt:lpstr>
      <vt:lpstr>命题符号化</vt:lpstr>
      <vt:lpstr>命题符号化</vt:lpstr>
      <vt:lpstr>将命题翻译成自然语言</vt:lpstr>
      <vt:lpstr>将命题翻译成自然语言</vt:lpstr>
      <vt:lpstr>练习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CZ M</dc:creator>
  <cp:keywords>, docId:D9F663A3D575D2A944B4E7D436313FBE</cp:keywords>
  <cp:lastModifiedBy>Ying Su</cp:lastModifiedBy>
  <cp:revision>154</cp:revision>
  <dcterms:created xsi:type="dcterms:W3CDTF">2015-09-22T12:31:00Z</dcterms:created>
  <dcterms:modified xsi:type="dcterms:W3CDTF">2026-09-07T08:33:36Z</dcterms:modified>
</cp:coreProperties>
</file>

<file path=docProps/custom.xml><?xml version="1.0" encoding="utf-8"?>
<Properties xmlns="http://purl.oclc.org/ooxml/officeDocument/customProperties" xmlns:vt="http://purl.oclc.org/ooxml/officeDocument/docPropsVTypes">
  <property fmtid="{D5CDD505-2E9C-101B-9397-08002B2CF9AE}" pid="2" name="Version">
    <vt:r8>1</vt:r8>
  </property>
  <property fmtid="{D5CDD505-2E9C-101B-9397-08002B2CF9AE}" pid="3" name="KSOProductBuildVer">
    <vt:lpwstr>2052-12.1.0.21541</vt:lpwstr>
  </property>
  <property fmtid="{D5CDD505-2E9C-101B-9397-08002B2CF9AE}" pid="4" name="ICV">
    <vt:lpwstr>1A28D5765A264B199E1D62A2DDB5448C_12</vt:lpwstr>
  </property>
</Properties>
</file>