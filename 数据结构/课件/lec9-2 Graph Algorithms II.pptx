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7"/>
  </p:handoutMasterIdLst>
  <p:sldIdLst>
    <p:sldId id="651" r:id="rId3"/>
    <p:sldId id="1325" r:id="rId5"/>
    <p:sldId id="1379" r:id="rId6"/>
    <p:sldId id="1380" r:id="rId7"/>
    <p:sldId id="1381" r:id="rId8"/>
    <p:sldId id="1326" r:id="rId9"/>
    <p:sldId id="1373" r:id="rId10"/>
    <p:sldId id="1374" r:id="rId11"/>
    <p:sldId id="1327" r:id="rId12"/>
    <p:sldId id="1328" r:id="rId13"/>
    <p:sldId id="1301" r:id="rId14"/>
    <p:sldId id="1303" r:id="rId15"/>
    <p:sldId id="1329" r:id="rId16"/>
    <p:sldId id="1304" r:id="rId17"/>
    <p:sldId id="1330" r:id="rId18"/>
    <p:sldId id="1331" r:id="rId19"/>
    <p:sldId id="1332" r:id="rId20"/>
    <p:sldId id="1333" r:id="rId21"/>
    <p:sldId id="1334" r:id="rId22"/>
    <p:sldId id="1335" r:id="rId23"/>
    <p:sldId id="1336" r:id="rId24"/>
    <p:sldId id="1337" r:id="rId25"/>
    <p:sldId id="1339" r:id="rId26"/>
    <p:sldId id="1338" r:id="rId27"/>
    <p:sldId id="1316" r:id="rId28"/>
    <p:sldId id="1317" r:id="rId29"/>
    <p:sldId id="1318" r:id="rId30"/>
    <p:sldId id="1320" r:id="rId31"/>
    <p:sldId id="1321" r:id="rId32"/>
    <p:sldId id="1322" r:id="rId33"/>
    <p:sldId id="1323" r:id="rId34"/>
    <p:sldId id="1340" r:id="rId35"/>
    <p:sldId id="1324" r:id="rId36"/>
    <p:sldId id="1281" r:id="rId37"/>
    <p:sldId id="1282" r:id="rId38"/>
    <p:sldId id="1283" r:id="rId39"/>
    <p:sldId id="1284" r:id="rId40"/>
    <p:sldId id="1285" r:id="rId41"/>
    <p:sldId id="1286" r:id="rId42"/>
    <p:sldId id="1287" r:id="rId43"/>
    <p:sldId id="1288" r:id="rId44"/>
    <p:sldId id="1289" r:id="rId45"/>
    <p:sldId id="1290" r:id="rId46"/>
    <p:sldId id="1291" r:id="rId47"/>
    <p:sldId id="1292" r:id="rId48"/>
    <p:sldId id="1294" r:id="rId49"/>
    <p:sldId id="1293" r:id="rId50"/>
    <p:sldId id="1169" r:id="rId51"/>
    <p:sldId id="1295" r:id="rId52"/>
    <p:sldId id="1171" r:id="rId53"/>
    <p:sldId id="1296" r:id="rId54"/>
    <p:sldId id="1341" r:id="rId55"/>
    <p:sldId id="1342" r:id="rId56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-A230" initials="P" lastIdx="1" clrIdx="0"/>
  <p:cmAuthor id="2" name="jiexin" initials="j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50" autoAdjust="0"/>
    <p:restoredTop sz="96429" autoAdjust="0"/>
  </p:normalViewPr>
  <p:slideViewPr>
    <p:cSldViewPr showGuides="1">
      <p:cViewPr varScale="1">
        <p:scale>
          <a:sx n="85" d="100"/>
          <a:sy n="85" d="100"/>
        </p:scale>
        <p:origin x="3216" y="96"/>
      </p:cViewPr>
      <p:guideLst>
        <p:guide orient="horz" pos="2880"/>
        <p:guide pos="21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commentAuthors" Target="commentAuthors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8D04B98-12FC-4F9C-922F-3B7166A6DEA8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48" tIns="45026" rIns="90048" bIns="45026"/>
          <a:lstStyle/>
          <a:p>
            <a:endParaRPr lang="en-US" altLang="zh-CN" smtClean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CA2611-CD80-46AD-8ECA-B270C5C1EF9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F36AED-FBA4-4258-A96D-FC87D855CF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3E3AFE-F962-4189-8D4E-D236DF59E2C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B3457E-B346-4026-B387-BA60F27A737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5E90E1-56CB-4367-9ED4-FA8AB678A74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0A1742-8189-4DCC-958C-FBA210CD4E2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8AAA68-7491-45F0-B623-1952B63DD59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E85C30-54CB-412C-A923-F1DC510B138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227E58-0531-48C1-9A6E-44B123F58FC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94EA91-4568-4767-8F2F-E0B4819B918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587176-DDD5-48CF-8CBF-661F7DF7B25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1BBF58CB-B3E4-4BED-8989-C1D47305B14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GIF"/><Relationship Id="rId1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Graph Algorithms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425"/>
            <a:ext cx="5143500" cy="2058670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Graph Searching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Section 9.5 and 9.6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BBB6CF-F0D6-4CCF-97E5-7D1E7DADB97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Graph Searching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205" y="1763395"/>
            <a:ext cx="6466840" cy="3611880"/>
          </a:xfrm>
        </p:spPr>
        <p:txBody>
          <a:bodyPr>
            <a:normAutofit fontScale="90000" lnSpcReduction="20000"/>
          </a:bodyPr>
          <a:lstStyle/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/>
              <a:t>Connected Graph：</a:t>
            </a:r>
            <a:r>
              <a:rPr lang="en-US" altLang="zh-CN" dirty="0"/>
              <a:t>A graph is called a connected graph if, for every pair of vertices 𝑢  and 𝑣  in the graph, there is a path between 𝑢  and 𝑣 。</a:t>
            </a:r>
            <a:endParaRPr lang="zh-CN" altLang="en-US" b="1" dirty="0"/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/>
              <a:t>Spanning trees</a:t>
            </a:r>
            <a:r>
              <a:rPr lang="en-US" altLang="zh-CN" dirty="0"/>
              <a:t>：In a connected graph, a spanning tree is a subgraph that includes all the vertices and contains no cycles. The number of edges in a spanning tree is always n−1 where n is the number of vertices。</a:t>
            </a:r>
            <a:endParaRPr lang="en-US" altLang="zh-CN" dirty="0"/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ym typeface="+mn-ea"/>
              </a:rPr>
              <a:t>Bipartite structure</a:t>
            </a:r>
            <a:r>
              <a:rPr lang="en-US" altLang="zh-CN" dirty="0">
                <a:sym typeface="+mn-ea"/>
              </a:rPr>
              <a:t>：A graph is bipartite if its vertex set can be divided into two disjoint sets, such that every edge connects a vertex from one set to a vertex in the other set. There are no edges connecting vertices within the same set。</a:t>
            </a:r>
            <a:endParaRPr lang="en-US" altLang="zh-CN" dirty="0"/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ea typeface="宋体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47945"/>
            <a:ext cx="6858000" cy="3219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Graph Searching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205" y="1763395"/>
            <a:ext cx="6466840" cy="3611880"/>
          </a:xfrm>
        </p:spPr>
        <p:txBody>
          <a:bodyPr>
            <a:normAutofit fontScale="90000" lnSpcReduction="20000"/>
          </a:bodyPr>
          <a:lstStyle/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/>
              <a:t>Connected Graph：</a:t>
            </a:r>
            <a:r>
              <a:rPr lang="en-US" altLang="zh-CN" dirty="0"/>
              <a:t>A graph is called a connected graph if, for every pair of vertices 𝑢  and 𝑣  in the graph, there is a path between 𝑢  and 𝑣 。</a:t>
            </a:r>
            <a:endParaRPr lang="zh-CN" altLang="en-US" b="1" dirty="0"/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/>
              <a:t>Spanning trees</a:t>
            </a:r>
            <a:r>
              <a:rPr lang="en-US" altLang="zh-CN" dirty="0"/>
              <a:t>：In a connected graph, a spanning tree is a subgraph that includes all the vertices and contains no cycles. The number of edges in a spanning tree is always n−1 where n is the number of vertices。</a:t>
            </a:r>
            <a:endParaRPr lang="en-US" altLang="zh-CN" dirty="0"/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ym typeface="+mn-ea"/>
              </a:rPr>
              <a:t>Bipartite structure</a:t>
            </a:r>
            <a:r>
              <a:rPr lang="en-US" altLang="zh-CN" dirty="0">
                <a:sym typeface="+mn-ea"/>
              </a:rPr>
              <a:t>：A graph is bipartite if its vertex set can be divided into two disjoint sets, such that every edge connects a vertex from one set to a vertex in the other set. There are no edges connecting vertices within the same set。</a:t>
            </a:r>
            <a:endParaRPr lang="en-US" altLang="zh-CN" dirty="0"/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ea typeface="宋体" pitchFamily="2" charset="-122"/>
            </a:endParaRPr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920" y="5580380"/>
            <a:ext cx="3588385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Graph Searching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763395"/>
            <a:ext cx="5915025" cy="3601720"/>
          </a:xfrm>
        </p:spPr>
        <p:txBody>
          <a:bodyPr>
            <a:normAutofit lnSpcReduction="10000"/>
          </a:bodyPr>
          <a:lstStyle/>
          <a:p>
            <a:pPr marL="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altLang="zh-CN" b="1" dirty="0">
                <a:sym typeface="+mn-ea"/>
              </a:rPr>
              <a:t>Connected components</a:t>
            </a:r>
            <a:r>
              <a:rPr lang="en-US" altLang="zh-CN" dirty="0">
                <a:sym typeface="+mn-ea"/>
              </a:rPr>
              <a:t>：In an undirected graph, a connected component is a subset of the graph where any two vertices are connected by a path. </a:t>
            </a:r>
            <a:endParaRPr lang="en-US" altLang="zh-CN" b="1" dirty="0"/>
          </a:p>
          <a:p>
            <a:pPr marL="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altLang="zh-CN" b="1" dirty="0"/>
              <a:t>Biconnected components：</a:t>
            </a:r>
            <a:r>
              <a:rPr lang="en-US" altLang="zh-CN" dirty="0"/>
              <a:t>In an undirected graph, a biconnected component is a maximal subgraph such that removing any single vertex does not disconnect the graph. If removing a vertex disconnects the graph, that vertex is called a cut vertex or articulation point。</a:t>
            </a:r>
            <a:endParaRPr lang="en-US" altLang="zh-CN" dirty="0"/>
          </a:p>
          <a:p>
            <a:pPr marL="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785" y="5147945"/>
            <a:ext cx="5249545" cy="3851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Graph Traversals</a:t>
            </a:r>
            <a:endParaRPr lang="zh-CN" altLang="en-US" smtClean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342900" y="2234961"/>
            <a:ext cx="6272213" cy="4363484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Recall traversal of binary </a:t>
            </a:r>
            <a:r>
              <a:rPr lang="en-US" altLang="zh-CN" sz="2000" dirty="0" smtClean="0"/>
              <a:t>trees</a:t>
            </a:r>
            <a:endParaRPr lang="en-US" altLang="zh-CN" sz="2000" dirty="0" smtClean="0"/>
          </a:p>
          <a:p>
            <a:pPr lvl="1"/>
            <a:r>
              <a:rPr lang="en-US" altLang="zh-CN" sz="1600" dirty="0"/>
              <a:t>Preorder, </a:t>
            </a:r>
            <a:r>
              <a:rPr lang="en-US" altLang="zh-CN" sz="1600" dirty="0" err="1"/>
              <a:t>inorder</a:t>
            </a:r>
            <a:r>
              <a:rPr lang="en-US" altLang="zh-CN" sz="1600" dirty="0"/>
              <a:t>, or </a:t>
            </a:r>
            <a:r>
              <a:rPr lang="en-US" altLang="zh-CN" sz="1600" dirty="0" err="1"/>
              <a:t>postorder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traversal</a:t>
            </a:r>
            <a:endParaRPr lang="en-US" altLang="zh-CN" sz="1600" dirty="0" smtClean="0"/>
          </a:p>
          <a:p>
            <a:pPr eaLnBrk="1" hangingPunct="1"/>
            <a:endParaRPr lang="zh-CN" altLang="en-US" sz="1800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8E5C35A-04D7-413C-B80A-C7B2055C37F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986EB-A62D-45E5-916D-60F2AF25BA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AC47542-928C-4E26-BFAD-9DBD6174F32A}" type="slidenum">
              <a:rPr lang="en-US" altLang="zh-CN" sz="445"/>
            </a:fld>
            <a:endParaRPr lang="en-US" altLang="zh-CN" sz="445"/>
          </a:p>
        </p:txBody>
      </p:sp>
      <p:sp>
        <p:nvSpPr>
          <p:cNvPr id="2048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Traversing Binary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048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42900" y="3543300"/>
            <a:ext cx="5252442" cy="20381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Preorder</a:t>
            </a:r>
            <a:r>
              <a:rPr lang="en-US" altLang="zh-CN" sz="1800" dirty="0">
                <a:ea typeface="宋体" pitchFamily="2" charset="-122"/>
              </a:rPr>
              <a:t>: Node, then Children (starting with the left) recursively </a:t>
            </a:r>
            <a:endParaRPr lang="en-US" altLang="zh-CN" sz="1800" dirty="0" smtClean="0">
              <a:ea typeface="宋体" pitchFamily="2" charset="-122"/>
            </a:endParaRPr>
          </a:p>
          <a:p>
            <a:pPr lvl="1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ea typeface="宋体" pitchFamily="2" charset="-122"/>
              </a:rPr>
              <a:t>+ </a:t>
            </a:r>
            <a:r>
              <a:rPr lang="en-US" altLang="zh-CN" sz="1600" dirty="0">
                <a:ea typeface="宋体" pitchFamily="2" charset="-122"/>
              </a:rPr>
              <a:t>* + A B C D</a:t>
            </a:r>
            <a:endParaRPr lang="en-US" altLang="zh-CN" sz="1600" dirty="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400" dirty="0" smtClean="0">
              <a:solidFill>
                <a:srgbClr val="FF0000"/>
              </a:solidFill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400" dirty="0">
              <a:solidFill>
                <a:srgbClr val="FF0000"/>
              </a:solidFill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err="1" smtClean="0">
                <a:solidFill>
                  <a:srgbClr val="FF0000"/>
                </a:solidFill>
                <a:ea typeface="宋体" pitchFamily="2" charset="-122"/>
              </a:rPr>
              <a:t>Inorder</a:t>
            </a:r>
            <a:r>
              <a:rPr lang="en-US" altLang="zh-CN" sz="1800" dirty="0">
                <a:ea typeface="宋体" pitchFamily="2" charset="-122"/>
              </a:rPr>
              <a:t>: Left child recursively, Node, Right child </a:t>
            </a:r>
            <a:r>
              <a:rPr lang="en-US" altLang="zh-CN" sz="1800" dirty="0" smtClean="0">
                <a:ea typeface="宋体" pitchFamily="2" charset="-122"/>
              </a:rPr>
              <a:t>recursively</a:t>
            </a:r>
            <a:endParaRPr lang="en-US" altLang="zh-CN" sz="1800" dirty="0" smtClean="0">
              <a:ea typeface="宋体" pitchFamily="2" charset="-122"/>
            </a:endParaRPr>
          </a:p>
          <a:p>
            <a:pPr lvl="1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>
                <a:ea typeface="宋体" pitchFamily="2" charset="-122"/>
              </a:rPr>
              <a:t>A + B * C + </a:t>
            </a:r>
            <a:r>
              <a:rPr lang="en-US" altLang="zh-CN" sz="1600" dirty="0" smtClean="0">
                <a:ea typeface="宋体" pitchFamily="2" charset="-122"/>
              </a:rPr>
              <a:t>D</a:t>
            </a:r>
            <a:endParaRPr lang="en-US" altLang="zh-CN" sz="1600" dirty="0" smtClean="0">
              <a:ea typeface="宋体" pitchFamily="2" charset="-122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err="1">
                <a:solidFill>
                  <a:srgbClr val="FF0000"/>
                </a:solidFill>
                <a:ea typeface="宋体" pitchFamily="2" charset="-122"/>
              </a:rPr>
              <a:t>Postorder</a:t>
            </a:r>
            <a:r>
              <a:rPr lang="en-US" altLang="zh-CN" sz="1800" dirty="0">
                <a:ea typeface="宋体" pitchFamily="2" charset="-122"/>
              </a:rPr>
              <a:t>: Children recursively, then </a:t>
            </a:r>
            <a:r>
              <a:rPr lang="en-US" altLang="zh-CN" sz="1800" dirty="0" smtClean="0">
                <a:ea typeface="宋体" pitchFamily="2" charset="-122"/>
              </a:rPr>
              <a:t>Node</a:t>
            </a:r>
            <a:endParaRPr lang="en-US" altLang="zh-CN" sz="1800" dirty="0" smtClean="0">
              <a:ea typeface="宋体" pitchFamily="2" charset="-122"/>
            </a:endParaRPr>
          </a:p>
          <a:p>
            <a:pPr lvl="1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ea typeface="宋体" pitchFamily="2" charset="-122"/>
              </a:rPr>
              <a:t>A </a:t>
            </a:r>
            <a:r>
              <a:rPr lang="en-US" altLang="zh-CN" sz="1600" dirty="0">
                <a:ea typeface="宋体" pitchFamily="2" charset="-122"/>
              </a:rPr>
              <a:t>B + C * D +</a:t>
            </a:r>
            <a:endParaRPr lang="en-US" altLang="zh-CN" sz="1600" dirty="0">
              <a:ea typeface="宋体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47590" y="3939461"/>
            <a:ext cx="1680210" cy="1505294"/>
            <a:chOff x="3945934" y="2987824"/>
            <a:chExt cx="2238170" cy="2236090"/>
          </a:xfrm>
        </p:grpSpPr>
        <p:grpSp>
          <p:nvGrpSpPr>
            <p:cNvPr id="5" name="组合 4"/>
            <p:cNvGrpSpPr/>
            <p:nvPr/>
          </p:nvGrpSpPr>
          <p:grpSpPr>
            <a:xfrm>
              <a:off x="3945934" y="4663325"/>
              <a:ext cx="398814" cy="547104"/>
              <a:chOff x="4437112" y="4859980"/>
              <a:chExt cx="398814" cy="547104"/>
            </a:xfrm>
          </p:grpSpPr>
          <p:sp>
            <p:nvSpPr>
              <p:cNvPr id="20487" name="Oval 1029"/>
              <p:cNvSpPr>
                <a:spLocks noChangeArrowheads="1"/>
              </p:cNvSpPr>
              <p:nvPr/>
            </p:nvSpPr>
            <p:spPr bwMode="auto">
              <a:xfrm>
                <a:off x="4437112" y="4859980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endParaRPr lang="zh-CN" altLang="en-US" sz="1600">
                  <a:ea typeface="宋体" pitchFamily="2" charset="-122"/>
                </a:endParaRPr>
              </a:p>
            </p:txBody>
          </p:sp>
          <p:sp>
            <p:nvSpPr>
              <p:cNvPr id="20491" name="Text Box 1038"/>
              <p:cNvSpPr txBox="1">
                <a:spLocks noChangeArrowheads="1"/>
              </p:cNvSpPr>
              <p:nvPr/>
            </p:nvSpPr>
            <p:spPr bwMode="auto">
              <a:xfrm>
                <a:off x="4464947" y="4859980"/>
                <a:ext cx="353117" cy="547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r>
                  <a:rPr lang="en-US" altLang="zh-CN" sz="1800" dirty="0">
                    <a:latin typeface="Times New Roman" panose="02020603050405020304" pitchFamily="18" charset="0"/>
                    <a:ea typeface="宋体" pitchFamily="2" charset="-122"/>
                  </a:rPr>
                  <a:t>A</a:t>
                </a:r>
                <a:endParaRPr lang="en-US" altLang="zh-CN" sz="1800" dirty="0"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869160" y="3557393"/>
              <a:ext cx="413147" cy="607528"/>
              <a:chOff x="5101801" y="3589588"/>
              <a:chExt cx="413147" cy="607528"/>
            </a:xfrm>
          </p:grpSpPr>
          <p:sp>
            <p:nvSpPr>
              <p:cNvPr id="20488" name="Oval 1030"/>
              <p:cNvSpPr>
                <a:spLocks noChangeArrowheads="1"/>
              </p:cNvSpPr>
              <p:nvPr/>
            </p:nvSpPr>
            <p:spPr bwMode="auto">
              <a:xfrm>
                <a:off x="5101801" y="3589588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endParaRPr lang="zh-CN" altLang="en-US" sz="1600">
                  <a:ea typeface="宋体" pitchFamily="2" charset="-122"/>
                </a:endParaRPr>
              </a:p>
            </p:txBody>
          </p:sp>
          <p:sp>
            <p:nvSpPr>
              <p:cNvPr id="20492" name="Text Box 1039"/>
              <p:cNvSpPr txBox="1">
                <a:spLocks noChangeArrowheads="1"/>
              </p:cNvSpPr>
              <p:nvPr/>
            </p:nvSpPr>
            <p:spPr bwMode="auto">
              <a:xfrm>
                <a:off x="5161831" y="3650012"/>
                <a:ext cx="353117" cy="547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r>
                  <a:rPr lang="en-US" altLang="zh-CN" sz="1800" dirty="0">
                    <a:latin typeface="Times New Roman" panose="02020603050405020304" pitchFamily="18" charset="0"/>
                    <a:ea typeface="宋体" pitchFamily="2" charset="-122"/>
                  </a:rPr>
                  <a:t>*</a:t>
                </a:r>
                <a:endParaRPr lang="en-US" altLang="zh-CN" sz="1800" dirty="0"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847359" y="4663932"/>
              <a:ext cx="398814" cy="559982"/>
              <a:chOff x="5101801" y="4859980"/>
              <a:chExt cx="398814" cy="559982"/>
            </a:xfrm>
          </p:grpSpPr>
          <p:sp>
            <p:nvSpPr>
              <p:cNvPr id="20489" name="Oval 1031"/>
              <p:cNvSpPr>
                <a:spLocks noChangeArrowheads="1"/>
              </p:cNvSpPr>
              <p:nvPr/>
            </p:nvSpPr>
            <p:spPr bwMode="auto">
              <a:xfrm>
                <a:off x="5101801" y="4859980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endParaRPr lang="zh-CN" altLang="en-US" sz="1600">
                  <a:ea typeface="宋体" pitchFamily="2" charset="-122"/>
                </a:endParaRPr>
              </a:p>
            </p:txBody>
          </p:sp>
          <p:sp>
            <p:nvSpPr>
              <p:cNvPr id="20493" name="Text Box 1040"/>
              <p:cNvSpPr txBox="1">
                <a:spLocks noChangeArrowheads="1"/>
              </p:cNvSpPr>
              <p:nvPr/>
            </p:nvSpPr>
            <p:spPr bwMode="auto">
              <a:xfrm>
                <a:off x="5146874" y="4872858"/>
                <a:ext cx="353117" cy="547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r>
                  <a:rPr lang="en-US" altLang="zh-CN" sz="1800" dirty="0">
                    <a:latin typeface="Times New Roman" panose="02020603050405020304" pitchFamily="18" charset="0"/>
                    <a:ea typeface="宋体" pitchFamily="2" charset="-122"/>
                  </a:rPr>
                  <a:t>B</a:t>
                </a:r>
                <a:endParaRPr lang="en-US" altLang="zh-CN" sz="1800" dirty="0"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5381312" y="4126808"/>
              <a:ext cx="398814" cy="559982"/>
              <a:chOff x="5434146" y="4191353"/>
              <a:chExt cx="398814" cy="559982"/>
            </a:xfrm>
          </p:grpSpPr>
          <p:sp>
            <p:nvSpPr>
              <p:cNvPr id="20494" name="Oval 1042"/>
              <p:cNvSpPr>
                <a:spLocks noChangeArrowheads="1"/>
              </p:cNvSpPr>
              <p:nvPr/>
            </p:nvSpPr>
            <p:spPr bwMode="auto">
              <a:xfrm>
                <a:off x="5434146" y="4191353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endParaRPr lang="zh-CN" altLang="en-US" sz="1600">
                  <a:ea typeface="宋体" pitchFamily="2" charset="-122"/>
                </a:endParaRPr>
              </a:p>
            </p:txBody>
          </p:sp>
          <p:sp>
            <p:nvSpPr>
              <p:cNvPr id="20496" name="Text Box 1046"/>
              <p:cNvSpPr txBox="1">
                <a:spLocks noChangeArrowheads="1"/>
              </p:cNvSpPr>
              <p:nvPr/>
            </p:nvSpPr>
            <p:spPr bwMode="auto">
              <a:xfrm>
                <a:off x="5479219" y="4204231"/>
                <a:ext cx="353117" cy="547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r>
                  <a:rPr lang="en-US" altLang="zh-CN" sz="1800" dirty="0">
                    <a:latin typeface="Times New Roman" panose="02020603050405020304" pitchFamily="18" charset="0"/>
                    <a:ea typeface="宋体" pitchFamily="2" charset="-122"/>
                  </a:rPr>
                  <a:t>C</a:t>
                </a:r>
                <a:endParaRPr lang="en-US" altLang="zh-CN" sz="1800" dirty="0"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785290" y="3567687"/>
              <a:ext cx="398814" cy="559982"/>
              <a:chOff x="5766490" y="3589588"/>
              <a:chExt cx="398814" cy="559982"/>
            </a:xfrm>
          </p:grpSpPr>
          <p:sp>
            <p:nvSpPr>
              <p:cNvPr id="20495" name="Oval 1043"/>
              <p:cNvSpPr>
                <a:spLocks noChangeArrowheads="1"/>
              </p:cNvSpPr>
              <p:nvPr/>
            </p:nvSpPr>
            <p:spPr bwMode="auto">
              <a:xfrm>
                <a:off x="5766490" y="3589588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endParaRPr lang="zh-CN" altLang="en-US" sz="1600">
                  <a:ea typeface="宋体" pitchFamily="2" charset="-122"/>
                </a:endParaRPr>
              </a:p>
            </p:txBody>
          </p:sp>
          <p:sp>
            <p:nvSpPr>
              <p:cNvPr id="20497" name="Text Box 1047"/>
              <p:cNvSpPr txBox="1">
                <a:spLocks noChangeArrowheads="1"/>
              </p:cNvSpPr>
              <p:nvPr/>
            </p:nvSpPr>
            <p:spPr bwMode="auto">
              <a:xfrm>
                <a:off x="5798685" y="3602466"/>
                <a:ext cx="353117" cy="547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r>
                  <a:rPr lang="en-US" altLang="zh-CN" sz="1800" dirty="0">
                    <a:latin typeface="Times New Roman" panose="02020603050405020304" pitchFamily="18" charset="0"/>
                    <a:ea typeface="宋体" pitchFamily="2" charset="-122"/>
                  </a:rPr>
                  <a:t>D</a:t>
                </a:r>
                <a:endParaRPr lang="en-US" altLang="zh-CN" sz="1800" dirty="0"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4365104" y="4133513"/>
              <a:ext cx="398814" cy="558834"/>
              <a:chOff x="4769457" y="4258215"/>
              <a:chExt cx="398814" cy="558834"/>
            </a:xfrm>
          </p:grpSpPr>
          <p:sp>
            <p:nvSpPr>
              <p:cNvPr id="20490" name="Oval 1032"/>
              <p:cNvSpPr>
                <a:spLocks noChangeArrowheads="1"/>
              </p:cNvSpPr>
              <p:nvPr/>
            </p:nvSpPr>
            <p:spPr bwMode="auto">
              <a:xfrm>
                <a:off x="4769457" y="4258215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endParaRPr lang="zh-CN" altLang="en-US" sz="1600">
                  <a:ea typeface="宋体" pitchFamily="2" charset="-122"/>
                </a:endParaRPr>
              </a:p>
            </p:txBody>
          </p:sp>
          <p:sp>
            <p:nvSpPr>
              <p:cNvPr id="20498" name="Text Box 1049"/>
              <p:cNvSpPr txBox="1">
                <a:spLocks noChangeArrowheads="1"/>
              </p:cNvSpPr>
              <p:nvPr/>
            </p:nvSpPr>
            <p:spPr bwMode="auto">
              <a:xfrm>
                <a:off x="4835926" y="4316166"/>
                <a:ext cx="265875" cy="5008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 dirty="0">
                    <a:ea typeface="宋体" pitchFamily="2" charset="-122"/>
                  </a:rPr>
                  <a:t>+</a:t>
                </a:r>
                <a:endParaRPr lang="en-US" altLang="zh-CN" sz="1600" dirty="0">
                  <a:ea typeface="宋体" pitchFamily="2" charset="-122"/>
                </a:endParaRPr>
              </a:p>
            </p:txBody>
          </p:sp>
        </p:grpSp>
        <p:sp>
          <p:nvSpPr>
            <p:cNvPr id="20499" name="Line 1050"/>
            <p:cNvSpPr>
              <a:spLocks noChangeShapeType="1"/>
            </p:cNvSpPr>
            <p:nvPr/>
          </p:nvSpPr>
          <p:spPr bwMode="auto">
            <a:xfrm flipH="1">
              <a:off x="4290309" y="4492235"/>
              <a:ext cx="132938" cy="200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570"/>
            </a:p>
          </p:txBody>
        </p:sp>
        <p:sp>
          <p:nvSpPr>
            <p:cNvPr id="20500" name="Line 1051"/>
            <p:cNvSpPr>
              <a:spLocks noChangeShapeType="1"/>
            </p:cNvSpPr>
            <p:nvPr/>
          </p:nvSpPr>
          <p:spPr bwMode="auto">
            <a:xfrm>
              <a:off x="4725144" y="4481996"/>
              <a:ext cx="176615" cy="2340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570"/>
            </a:p>
          </p:txBody>
        </p:sp>
        <p:sp>
          <p:nvSpPr>
            <p:cNvPr id="20501" name="Line 1052"/>
            <p:cNvSpPr>
              <a:spLocks noChangeShapeType="1"/>
            </p:cNvSpPr>
            <p:nvPr/>
          </p:nvSpPr>
          <p:spPr bwMode="auto">
            <a:xfrm flipH="1">
              <a:off x="4702988" y="3917462"/>
              <a:ext cx="213842" cy="2416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570"/>
            </a:p>
          </p:txBody>
        </p:sp>
        <p:sp>
          <p:nvSpPr>
            <p:cNvPr id="20502" name="Line 1055"/>
            <p:cNvSpPr>
              <a:spLocks noChangeShapeType="1"/>
            </p:cNvSpPr>
            <p:nvPr/>
          </p:nvSpPr>
          <p:spPr bwMode="auto">
            <a:xfrm>
              <a:off x="5239356" y="3907803"/>
              <a:ext cx="212651" cy="251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570"/>
            </a:p>
          </p:txBody>
        </p:sp>
        <p:sp>
          <p:nvSpPr>
            <p:cNvPr id="20503" name="Oval 1056"/>
            <p:cNvSpPr>
              <a:spLocks noChangeArrowheads="1"/>
            </p:cNvSpPr>
            <p:nvPr/>
          </p:nvSpPr>
          <p:spPr bwMode="auto">
            <a:xfrm>
              <a:off x="5301208" y="2987824"/>
              <a:ext cx="398814" cy="40117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600">
                <a:ea typeface="宋体" pitchFamily="2" charset="-122"/>
              </a:endParaRPr>
            </a:p>
          </p:txBody>
        </p:sp>
        <p:sp>
          <p:nvSpPr>
            <p:cNvPr id="20504" name="Line 1057"/>
            <p:cNvSpPr>
              <a:spLocks noChangeShapeType="1"/>
            </p:cNvSpPr>
            <p:nvPr/>
          </p:nvSpPr>
          <p:spPr bwMode="auto">
            <a:xfrm flipH="1">
              <a:off x="5168270" y="3350366"/>
              <a:ext cx="204946" cy="239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570"/>
            </a:p>
          </p:txBody>
        </p:sp>
        <p:sp>
          <p:nvSpPr>
            <p:cNvPr id="20505" name="Text Box 1060"/>
            <p:cNvSpPr txBox="1">
              <a:spLocks noChangeArrowheads="1"/>
            </p:cNvSpPr>
            <p:nvPr/>
          </p:nvSpPr>
          <p:spPr bwMode="auto">
            <a:xfrm>
              <a:off x="5367325" y="3026725"/>
              <a:ext cx="226995" cy="5008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 dirty="0">
                  <a:ea typeface="宋体" pitchFamily="2" charset="-122"/>
                </a:rPr>
                <a:t>+</a:t>
              </a:r>
              <a:endParaRPr lang="en-US" altLang="zh-CN" sz="1600" dirty="0">
                <a:ea typeface="宋体" pitchFamily="2" charset="-122"/>
              </a:endParaRPr>
            </a:p>
          </p:txBody>
        </p:sp>
        <p:sp>
          <p:nvSpPr>
            <p:cNvPr id="20506" name="Line 1061"/>
            <p:cNvSpPr>
              <a:spLocks noChangeShapeType="1"/>
            </p:cNvSpPr>
            <p:nvPr/>
          </p:nvSpPr>
          <p:spPr bwMode="auto">
            <a:xfrm>
              <a:off x="5633553" y="3322138"/>
              <a:ext cx="238179" cy="267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57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Graph Traversals</a:t>
            </a:r>
            <a:endParaRPr lang="zh-CN" altLang="en-US" smtClean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342900" y="2234961"/>
            <a:ext cx="6272213" cy="4363484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Recall traversal of binary </a:t>
            </a:r>
            <a:r>
              <a:rPr lang="en-US" altLang="zh-CN" sz="2000" dirty="0" smtClean="0"/>
              <a:t>trees</a:t>
            </a:r>
            <a:endParaRPr lang="en-US" altLang="zh-CN" sz="2000" dirty="0" smtClean="0"/>
          </a:p>
          <a:p>
            <a:pPr lvl="1"/>
            <a:r>
              <a:rPr lang="en-US" altLang="zh-CN" sz="1600" dirty="0"/>
              <a:t>Preorder, </a:t>
            </a:r>
            <a:r>
              <a:rPr lang="en-US" altLang="zh-CN" sz="1600" dirty="0" err="1"/>
              <a:t>inorder</a:t>
            </a:r>
            <a:r>
              <a:rPr lang="en-US" altLang="zh-CN" sz="1600" dirty="0"/>
              <a:t>, or </a:t>
            </a:r>
            <a:r>
              <a:rPr lang="en-US" altLang="zh-CN" sz="1600" dirty="0" err="1"/>
              <a:t>postorder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traversal</a:t>
            </a:r>
            <a:endParaRPr lang="en-US" altLang="zh-CN" sz="1600" dirty="0" smtClean="0"/>
          </a:p>
          <a:p>
            <a:pPr eaLnBrk="1" hangingPunct="1"/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2000" dirty="0" smtClean="0">
                <a:solidFill>
                  <a:srgbClr val="FF0000"/>
                </a:solidFill>
              </a:rPr>
              <a:t>Graph </a:t>
            </a:r>
            <a:r>
              <a:rPr lang="en-US" altLang="zh-CN" sz="2000" dirty="0">
                <a:solidFill>
                  <a:srgbClr val="FF0000"/>
                </a:solidFill>
              </a:rPr>
              <a:t>traversal</a:t>
            </a:r>
            <a:r>
              <a:rPr lang="en-US" altLang="zh-CN" sz="2000" dirty="0"/>
              <a:t>: visit the vertices of a graph in some specific order based on the graph’s topology.</a:t>
            </a:r>
            <a:endParaRPr lang="en-US" altLang="zh-CN" sz="2000" dirty="0"/>
          </a:p>
          <a:p>
            <a:pPr eaLnBrk="1" hangingPunct="1"/>
            <a:endParaRPr lang="en-US" altLang="zh-CN" sz="2000" dirty="0" smtClean="0"/>
          </a:p>
          <a:p>
            <a:pPr eaLnBrk="1" hangingPunct="1"/>
            <a:r>
              <a:rPr lang="en-US" altLang="zh-CN" sz="2000" dirty="0" smtClean="0"/>
              <a:t>Traversal </a:t>
            </a:r>
            <a:r>
              <a:rPr lang="en-US" altLang="zh-CN" sz="2000" dirty="0"/>
              <a:t>algorithms typically begins with a start vertex and attempt to visit the remaining vertices from there</a:t>
            </a:r>
            <a:endParaRPr lang="en-US" altLang="zh-CN" sz="2000" dirty="0"/>
          </a:p>
          <a:p>
            <a:pPr lvl="1" eaLnBrk="1" hangingPunct="1"/>
            <a:r>
              <a:rPr lang="en-US" altLang="zh-CN" sz="1800" dirty="0"/>
              <a:t>The traversal can only follow the edges in the graph.</a:t>
            </a:r>
            <a:endParaRPr lang="en-US" altLang="zh-CN" sz="1800" dirty="0"/>
          </a:p>
          <a:p>
            <a:pPr lvl="1" eaLnBrk="1" hangingPunct="1"/>
            <a:r>
              <a:rPr lang="en-US" altLang="zh-CN" sz="1800" dirty="0"/>
              <a:t>It may </a:t>
            </a:r>
            <a:r>
              <a:rPr lang="en-US" altLang="zh-CN" sz="1800" dirty="0">
                <a:solidFill>
                  <a:srgbClr val="FF0000"/>
                </a:solidFill>
              </a:rPr>
              <a:t>not be possible to reach all vertices </a:t>
            </a:r>
            <a:r>
              <a:rPr lang="en-US" altLang="zh-CN" sz="1800" dirty="0"/>
              <a:t>if the graph is not connected</a:t>
            </a:r>
            <a:endParaRPr lang="en-US" altLang="zh-CN" sz="1800" dirty="0"/>
          </a:p>
          <a:p>
            <a:pPr lvl="1" eaLnBrk="1" hangingPunct="1"/>
            <a:r>
              <a:rPr lang="en-US" altLang="zh-CN" sz="1800" dirty="0"/>
              <a:t>The algorithms shall make sure </a:t>
            </a:r>
            <a:r>
              <a:rPr lang="en-US" altLang="zh-CN" sz="1800" dirty="0">
                <a:solidFill>
                  <a:srgbClr val="FF0000"/>
                </a:solidFill>
              </a:rPr>
              <a:t>not to go into an infinite loop </a:t>
            </a:r>
            <a:r>
              <a:rPr lang="en-US" altLang="zh-CN" sz="1800" dirty="0"/>
              <a:t>if the graph contains cycles.</a:t>
            </a:r>
            <a:endParaRPr lang="zh-CN" altLang="en-US" sz="1800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8E5C35A-04D7-413C-B80A-C7B2055C37F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986EB-A62D-45E5-916D-60F2AF25BA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Graph Traversals</a:t>
            </a:r>
            <a:endParaRPr lang="zh-CN" altLang="en-US" dirty="0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100" dirty="0"/>
              <a:t>A </a:t>
            </a:r>
            <a:r>
              <a:rPr lang="en-US" altLang="zh-CN" sz="2100" dirty="0">
                <a:solidFill>
                  <a:srgbClr val="FF0000"/>
                </a:solidFill>
              </a:rPr>
              <a:t>mark bit </a:t>
            </a:r>
            <a:r>
              <a:rPr lang="en-US" altLang="zh-CN" sz="2100" dirty="0"/>
              <a:t>is maintained for each vertex</a:t>
            </a:r>
            <a:endParaRPr lang="en-US" altLang="zh-CN" sz="2100" dirty="0"/>
          </a:p>
          <a:p>
            <a:pPr lvl="1" eaLnBrk="1" hangingPunct="1"/>
            <a:r>
              <a:rPr lang="en-US" altLang="zh-CN" sz="1800" dirty="0"/>
              <a:t>If a marked vertex is encountered during traversal, it is not visited a second time</a:t>
            </a:r>
            <a:endParaRPr lang="en-US" altLang="zh-CN" sz="1800" dirty="0"/>
          </a:p>
          <a:p>
            <a:pPr lvl="1" eaLnBrk="1" hangingPunct="1"/>
            <a:r>
              <a:rPr lang="en-US" altLang="zh-CN" sz="1800" dirty="0"/>
              <a:t>If not all vertices are marked when the algorithm completes, we continue the traversal from another unvisited vertex.</a:t>
            </a:r>
            <a:endParaRPr lang="en-US" altLang="zh-CN" sz="1800" dirty="0"/>
          </a:p>
          <a:p>
            <a:pPr lvl="3" eaLnBrk="1" hangingPunct="1"/>
            <a:endParaRPr lang="en-US" altLang="zh-CN" sz="900" dirty="0"/>
          </a:p>
          <a:p>
            <a:pPr eaLnBrk="1" hangingPunct="1"/>
            <a:endParaRPr lang="zh-CN" altLang="en-US" sz="1500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AA9CC66C-08ED-4A55-A225-5EFF7CA0D1B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矩形 1"/>
          <p:cNvSpPr/>
          <p:nvPr/>
        </p:nvSpPr>
        <p:spPr>
          <a:xfrm>
            <a:off x="836712" y="4369009"/>
            <a:ext cx="525658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void </a:t>
            </a:r>
            <a:r>
              <a:rPr lang="en-US" altLang="zh-CN" b="1" dirty="0" err="1">
                <a:solidFill>
                  <a:srgbClr val="FF0000"/>
                </a:solidFill>
                <a:latin typeface="Sitka Text" panose="02000505000000020004" pitchFamily="2" charset="0"/>
              </a:rPr>
              <a:t>graphTraverse</a:t>
            </a:r>
            <a:r>
              <a:rPr lang="en-US" altLang="zh-CN" dirty="0">
                <a:latin typeface="Sitka Text" panose="02000505000000020004" pitchFamily="2" charset="0"/>
              </a:rPr>
              <a:t>(Graph* G) {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v;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for (v=0; v&lt;G-&gt;n(); v++)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G-&gt;</a:t>
            </a:r>
            <a:r>
              <a:rPr lang="en-US" altLang="zh-CN" dirty="0" err="1">
                <a:latin typeface="Sitka Text" panose="02000505000000020004" pitchFamily="2" charset="0"/>
              </a:rPr>
              <a:t>setMark</a:t>
            </a:r>
            <a:r>
              <a:rPr lang="en-US" altLang="zh-CN" dirty="0">
                <a:latin typeface="Sitka Text" panose="02000505000000020004" pitchFamily="2" charset="0"/>
              </a:rPr>
              <a:t>(v, UNVISITED); </a:t>
            </a:r>
            <a:r>
              <a:rPr lang="en-US" altLang="zh-CN" dirty="0">
                <a:solidFill>
                  <a:srgbClr val="00B050"/>
                </a:solidFill>
                <a:latin typeface="Sitka Text" panose="02000505000000020004" pitchFamily="2" charset="0"/>
              </a:rPr>
              <a:t>// Initialize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endParaRPr lang="en-US" altLang="zh-CN" dirty="0">
              <a:latin typeface="Sitka Text" panose="02000505000000020004" pitchFamily="2" charset="0"/>
            </a:endParaRPr>
          </a:p>
          <a:p>
            <a:endParaRPr lang="en-US" altLang="zh-CN" sz="1000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for (v=0; v&lt;G-&gt;n(); v++)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if (G-&gt;</a:t>
            </a:r>
            <a:r>
              <a:rPr lang="en-US" altLang="zh-CN" dirty="0" err="1">
                <a:latin typeface="Sitka Text" panose="02000505000000020004" pitchFamily="2" charset="0"/>
              </a:rPr>
              <a:t>getMark</a:t>
            </a:r>
            <a:r>
              <a:rPr lang="en-US" altLang="zh-CN" dirty="0">
                <a:latin typeface="Sitka Text" panose="02000505000000020004" pitchFamily="2" charset="0"/>
              </a:rPr>
              <a:t>(v) == UNVISITED)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  </a:t>
            </a:r>
            <a:r>
              <a:rPr lang="en-US" altLang="zh-CN" dirty="0" err="1">
                <a:solidFill>
                  <a:srgbClr val="263AF8"/>
                </a:solidFill>
                <a:latin typeface="Sitka Text" panose="02000505000000020004" pitchFamily="2" charset="0"/>
              </a:rPr>
              <a:t>doTraverse</a:t>
            </a:r>
            <a:r>
              <a:rPr lang="en-US" altLang="zh-CN" dirty="0">
                <a:latin typeface="Sitka Text" panose="02000505000000020004" pitchFamily="2" charset="0"/>
              </a:rPr>
              <a:t>(G, v);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87F89A-7622-479A-8718-51D23FE686A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Graph Traversals</a:t>
            </a:r>
            <a:endParaRPr lang="zh-CN" altLang="en-US" dirty="0" smtClean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475385" y="2438403"/>
            <a:ext cx="6121967" cy="5801783"/>
          </a:xfrm>
        </p:spPr>
        <p:txBody>
          <a:bodyPr>
            <a:normAutofit/>
          </a:bodyPr>
          <a:lstStyle/>
          <a:p>
            <a:r>
              <a:rPr lang="en-US" altLang="zh-CN" dirty="0"/>
              <a:t>Three typical graph traversal strategies</a:t>
            </a:r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263AF8"/>
                </a:solidFill>
              </a:rPr>
              <a:t>Depth-first </a:t>
            </a:r>
            <a:r>
              <a:rPr lang="en-US" altLang="zh-CN" dirty="0">
                <a:solidFill>
                  <a:srgbClr val="263AF8"/>
                </a:solidFill>
              </a:rPr>
              <a:t>search (DFS)</a:t>
            </a:r>
            <a:endParaRPr lang="en-US" altLang="zh-CN" dirty="0">
              <a:solidFill>
                <a:srgbClr val="263AF8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Breadth-first search (BFS)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Topological sort</a:t>
            </a:r>
            <a:endParaRPr lang="en-US" altLang="zh-CN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781DC15-2B36-4F13-8EAE-A24D3798A3E6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BE098-F3DD-433D-9460-71D51A7A872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pic>
        <p:nvPicPr>
          <p:cNvPr id="5" name="Picture 4" descr="e7a020b78adfbe388476ea4ac69cebd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5220335"/>
            <a:ext cx="3624580" cy="1885950"/>
          </a:xfrm>
          <a:prstGeom prst="rect">
            <a:avLst/>
          </a:prstGeom>
        </p:spPr>
      </p:pic>
      <p:pic>
        <p:nvPicPr>
          <p:cNvPr id="6" name="Picture 5" descr="201912111838028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990" y="5220335"/>
            <a:ext cx="2056765" cy="1945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uiExpand="1" build="p"/>
      <p:bldP spid="39939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14C95D6-A6B8-420A-A577-85DE8613C05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08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08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A0C2CE7-7AF5-484C-85AC-64E10E214811}" type="slidenum">
              <a:rPr lang="en-US" altLang="zh-CN" sz="1050"/>
            </a:fld>
            <a:endParaRPr lang="en-US" altLang="zh-CN" sz="1050"/>
          </a:p>
        </p:txBody>
      </p:sp>
      <p:sp>
        <p:nvSpPr>
          <p:cNvPr id="1208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Graph Searching Methodology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Breadth-First Search (BFS)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Use a queue to explore neighbors of source vertex, then neighbors of neighbors etc.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All </a:t>
            </a:r>
            <a:r>
              <a:rPr lang="en-US" altLang="zh-CN" dirty="0" smtClean="0"/>
              <a:t>vertices </a:t>
            </a:r>
            <a:r>
              <a:rPr lang="en-US" altLang="zh-CN" dirty="0" smtClean="0">
                <a:ea typeface="宋体" pitchFamily="2" charset="-122"/>
              </a:rPr>
              <a:t>at a given distance (in number of edges) are explored before we go further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>
                <a:solidFill>
                  <a:srgbClr val="263AF8"/>
                </a:solidFill>
              </a:rPr>
              <a:t>Depth-First Search (DFS)</a:t>
            </a:r>
            <a:endParaRPr lang="en-US" altLang="zh-CN" dirty="0">
              <a:solidFill>
                <a:srgbClr val="263AF8"/>
              </a:solidFill>
            </a:endParaRPr>
          </a:p>
          <a:p>
            <a:pPr lvl="1"/>
            <a:r>
              <a:rPr lang="en-US" altLang="zh-CN" dirty="0"/>
              <a:t>Searches down one path as deep as possible</a:t>
            </a:r>
            <a:endParaRPr lang="en-US" altLang="zh-CN" dirty="0"/>
          </a:p>
          <a:p>
            <a:pPr lvl="1"/>
            <a:r>
              <a:rPr lang="en-US" altLang="zh-CN" dirty="0"/>
              <a:t>When no vertices</a:t>
            </a:r>
            <a:r>
              <a:rPr lang="en-US" altLang="zh-CN" dirty="0" smtClean="0"/>
              <a:t> </a:t>
            </a:r>
            <a:r>
              <a:rPr lang="en-US" altLang="zh-CN" dirty="0"/>
              <a:t>available, it backtracks</a:t>
            </a:r>
            <a:endParaRPr lang="en-US" altLang="zh-CN" dirty="0"/>
          </a:p>
          <a:p>
            <a:pPr lvl="1"/>
            <a:r>
              <a:rPr lang="en-US" altLang="zh-CN" dirty="0"/>
              <a:t>When backtracking, it explores side-paths that were not taken</a:t>
            </a:r>
            <a:endParaRPr lang="en-US" altLang="zh-CN" dirty="0"/>
          </a:p>
          <a:p>
            <a:pPr lvl="1"/>
            <a:r>
              <a:rPr lang="en-US" altLang="zh-CN" dirty="0"/>
              <a:t>Uses a stack (instead of a queue in BFS)</a:t>
            </a:r>
            <a:endParaRPr lang="en-US" altLang="zh-CN" dirty="0"/>
          </a:p>
          <a:p>
            <a:pPr lvl="1"/>
            <a:r>
              <a:rPr lang="en-US" altLang="zh-CN" dirty="0"/>
              <a:t>Allows an easy recursive implementation</a:t>
            </a:r>
            <a:endParaRPr lang="en-US" altLang="zh-CN" dirty="0"/>
          </a:p>
          <a:p>
            <a:pPr lvl="1"/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7CA2D78-E1C2-4500-8B73-F4F480C36FE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28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28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7B72FC3-D988-41E5-BBDB-B6F713CCFD49}" type="slidenum">
              <a:rPr lang="en-US" altLang="zh-CN" sz="1050"/>
            </a:fld>
            <a:endParaRPr lang="en-US" altLang="zh-CN" sz="1050"/>
          </a:p>
        </p:txBody>
      </p:sp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Depth First Search Algorithm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228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Recursive marking algorithm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Initially every vertex is unmarked</a:t>
            </a:r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22887" name="Text Box 4"/>
          <p:cNvSpPr txBox="1">
            <a:spLocks noChangeArrowheads="1"/>
          </p:cNvSpPr>
          <p:nvPr/>
        </p:nvSpPr>
        <p:spPr bwMode="auto">
          <a:xfrm>
            <a:off x="816892" y="3919061"/>
            <a:ext cx="3607078" cy="1477328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solidFill>
                  <a:srgbClr val="CC0000"/>
                </a:solidFill>
                <a:latin typeface="Sitka Text" panose="02000505000000020004" pitchFamily="2" charset="0"/>
                <a:ea typeface="宋体" pitchFamily="2" charset="-122"/>
              </a:rPr>
              <a:t>DFS(i: vertex)</a:t>
            </a:r>
            <a:endParaRPr lang="en-US" altLang="zh-CN" sz="1800">
              <a:solidFill>
                <a:srgbClr val="CC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>
                <a:solidFill>
                  <a:srgbClr val="CC0000"/>
                </a:solidFill>
                <a:latin typeface="Sitka Text" panose="02000505000000020004" pitchFamily="2" charset="0"/>
                <a:ea typeface="宋体" pitchFamily="2" charset="-122"/>
              </a:rPr>
              <a:t>   mark i;</a:t>
            </a:r>
            <a:endParaRPr lang="en-US" altLang="zh-CN" sz="1800">
              <a:solidFill>
                <a:srgbClr val="CC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>
                <a:solidFill>
                  <a:srgbClr val="CC0000"/>
                </a:solidFill>
                <a:latin typeface="Sitka Text" panose="02000505000000020004" pitchFamily="2" charset="0"/>
                <a:ea typeface="宋体" pitchFamily="2" charset="-122"/>
              </a:rPr>
              <a:t>   for each j adjacent to i do </a:t>
            </a:r>
            <a:endParaRPr lang="en-US" altLang="zh-CN" sz="1800">
              <a:solidFill>
                <a:srgbClr val="CC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>
                <a:solidFill>
                  <a:srgbClr val="CC0000"/>
                </a:solidFill>
                <a:latin typeface="Sitka Text" panose="02000505000000020004" pitchFamily="2" charset="0"/>
                <a:ea typeface="宋体" pitchFamily="2" charset="-122"/>
              </a:rPr>
              <a:t>      if j is unmarked then DFS(j)</a:t>
            </a:r>
            <a:endParaRPr lang="en-US" altLang="zh-CN" sz="1800">
              <a:solidFill>
                <a:srgbClr val="CC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>
                <a:solidFill>
                  <a:srgbClr val="CC0000"/>
                </a:solidFill>
                <a:latin typeface="Sitka Text" panose="02000505000000020004" pitchFamily="2" charset="0"/>
                <a:ea typeface="宋体" pitchFamily="2" charset="-122"/>
              </a:rPr>
              <a:t>end{DFS}</a:t>
            </a:r>
            <a:endParaRPr lang="en-US" altLang="zh-CN" sz="1800">
              <a:solidFill>
                <a:srgbClr val="CC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22888" name="Text Box 6"/>
          <p:cNvSpPr txBox="1">
            <a:spLocks noChangeArrowheads="1"/>
          </p:cNvSpPr>
          <p:nvPr/>
        </p:nvSpPr>
        <p:spPr bwMode="auto">
          <a:xfrm>
            <a:off x="638959" y="5940152"/>
            <a:ext cx="3962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Marks all vertices reachable from </a:t>
            </a:r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" name="Oval 7"/>
          <p:cNvSpPr>
            <a:spLocks noChangeArrowheads="1"/>
          </p:cNvSpPr>
          <p:nvPr/>
        </p:nvSpPr>
        <p:spPr bwMode="auto">
          <a:xfrm>
            <a:off x="5679701" y="4696718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" name="Oval 8"/>
          <p:cNvSpPr>
            <a:spLocks noChangeArrowheads="1"/>
          </p:cNvSpPr>
          <p:nvPr/>
        </p:nvSpPr>
        <p:spPr bwMode="auto">
          <a:xfrm>
            <a:off x="5298701" y="5611118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1" name="Oval 9"/>
          <p:cNvSpPr>
            <a:spLocks noChangeArrowheads="1"/>
          </p:cNvSpPr>
          <p:nvPr/>
        </p:nvSpPr>
        <p:spPr bwMode="auto">
          <a:xfrm>
            <a:off x="4917701" y="6525518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5740026" y="4680843"/>
            <a:ext cx="268022" cy="40011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i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5359026" y="5611118"/>
            <a:ext cx="268022" cy="40011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j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4987551" y="6509643"/>
            <a:ext cx="328936" cy="40011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k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 flipH="1">
            <a:off x="5527301" y="5077718"/>
            <a:ext cx="212725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 flipH="1">
            <a:off x="5146301" y="5992118"/>
            <a:ext cx="212725" cy="517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5446339" y="4283968"/>
            <a:ext cx="960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solidFill>
                  <a:srgbClr val="CC0000"/>
                </a:solidFill>
                <a:latin typeface="Sitka Text" panose="02000505000000020004" pitchFamily="2" charset="0"/>
                <a:ea typeface="宋体" pitchFamily="2" charset="-122"/>
              </a:rPr>
              <a:t>DFS(i)</a:t>
            </a:r>
            <a:endParaRPr lang="en-US" altLang="zh-CN">
              <a:solidFill>
                <a:srgbClr val="CC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4527176" y="5412681"/>
            <a:ext cx="960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solidFill>
                  <a:srgbClr val="CC0000"/>
                </a:solidFill>
                <a:latin typeface="Sitka Text" panose="02000505000000020004" pitchFamily="2" charset="0"/>
                <a:ea typeface="宋体" pitchFamily="2" charset="-122"/>
              </a:rPr>
              <a:t>DFS(j)</a:t>
            </a:r>
            <a:endParaRPr lang="en-US" altLang="zh-CN" dirty="0">
              <a:solidFill>
                <a:srgbClr val="CC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7" grpId="0" animBg="1"/>
      <p:bldP spid="122887" grpId="1" animBg="1"/>
      <p:bldP spid="122888" grpId="0" animBg="1"/>
      <p:bldP spid="12288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F9F1258-27B7-4724-A199-B2BD9D98430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28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28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7B72FC3-D988-41E5-BBDB-B6F713CCFD49}" type="slidenum">
              <a:rPr lang="en-US" altLang="zh-CN" sz="1050"/>
            </a:fld>
            <a:endParaRPr lang="en-US" altLang="zh-CN" sz="1050"/>
          </a:p>
        </p:txBody>
      </p:sp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Depth First Search Algorithm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1488" y="3491880"/>
            <a:ext cx="60486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void </a:t>
            </a:r>
            <a:r>
              <a:rPr lang="en-US" altLang="zh-CN" b="1" dirty="0">
                <a:solidFill>
                  <a:srgbClr val="FF0000"/>
                </a:solidFill>
                <a:latin typeface="Sitka Text" panose="02000505000000020004" pitchFamily="2" charset="0"/>
              </a:rPr>
              <a:t>DFS</a:t>
            </a:r>
            <a:r>
              <a:rPr lang="en-US" altLang="zh-CN" dirty="0">
                <a:latin typeface="Sitka Text" panose="02000505000000020004" pitchFamily="2" charset="0"/>
              </a:rPr>
              <a:t>(Graph* G,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v) {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</a:t>
            </a:r>
            <a:r>
              <a:rPr lang="en-US" altLang="zh-CN" dirty="0" err="1">
                <a:latin typeface="Sitka Text" panose="02000505000000020004" pitchFamily="2" charset="0"/>
              </a:rPr>
              <a:t>PreVisit</a:t>
            </a:r>
            <a:r>
              <a:rPr lang="en-US" altLang="zh-CN" dirty="0">
                <a:latin typeface="Sitka Text" panose="02000505000000020004" pitchFamily="2" charset="0"/>
              </a:rPr>
              <a:t>(G, v); 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Take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some actions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G-&gt;</a:t>
            </a:r>
            <a:r>
              <a:rPr lang="en-US" altLang="zh-CN" dirty="0" err="1">
                <a:latin typeface="Sitka Text" panose="02000505000000020004" pitchFamily="2" charset="0"/>
              </a:rPr>
              <a:t>setMark</a:t>
            </a:r>
            <a:r>
              <a:rPr lang="en-US" altLang="zh-CN" dirty="0">
                <a:latin typeface="Sitka Text" panose="02000505000000020004" pitchFamily="2" charset="0"/>
              </a:rPr>
              <a:t>(v, VISITED</a:t>
            </a:r>
            <a:r>
              <a:rPr lang="en-US" altLang="zh-CN" dirty="0" smtClean="0">
                <a:latin typeface="Sitka Text" panose="02000505000000020004" pitchFamily="2" charset="0"/>
              </a:rPr>
              <a:t>);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//mark v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for (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w=G-&gt;first(v); w&lt;G-&gt;n(); w=G-&gt;next(</a:t>
            </a:r>
            <a:r>
              <a:rPr lang="en-US" altLang="zh-CN" dirty="0" err="1">
                <a:latin typeface="Sitka Text" panose="02000505000000020004" pitchFamily="2" charset="0"/>
              </a:rPr>
              <a:t>v,w</a:t>
            </a:r>
            <a:r>
              <a:rPr lang="en-US" altLang="zh-CN" dirty="0">
                <a:latin typeface="Sitka Text" panose="02000505000000020004" pitchFamily="2" charset="0"/>
              </a:rPr>
              <a:t>))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if (G-&gt;</a:t>
            </a:r>
            <a:r>
              <a:rPr lang="en-US" altLang="zh-CN" dirty="0" err="1">
                <a:latin typeface="Sitka Text" panose="02000505000000020004" pitchFamily="2" charset="0"/>
              </a:rPr>
              <a:t>getMark</a:t>
            </a:r>
            <a:r>
              <a:rPr lang="en-US" altLang="zh-CN" dirty="0">
                <a:latin typeface="Sitka Text" panose="02000505000000020004" pitchFamily="2" charset="0"/>
              </a:rPr>
              <a:t>(w) == UNVISITED)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DFS</a:t>
            </a:r>
            <a:r>
              <a:rPr lang="en-US" altLang="zh-CN" dirty="0">
                <a:latin typeface="Sitka Text" panose="02000505000000020004" pitchFamily="2" charset="0"/>
              </a:rPr>
              <a:t>(G, w);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</a:t>
            </a:r>
            <a:r>
              <a:rPr lang="en-US" altLang="zh-CN" dirty="0" err="1">
                <a:latin typeface="Sitka Text" panose="02000505000000020004" pitchFamily="2" charset="0"/>
              </a:rPr>
              <a:t>PostVisit</a:t>
            </a:r>
            <a:r>
              <a:rPr lang="en-US" altLang="zh-CN" dirty="0">
                <a:latin typeface="Sitka Text" panose="02000505000000020004" pitchFamily="2" charset="0"/>
              </a:rPr>
              <a:t>(G, v);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Take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some actions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71DF18F-D007-46C5-B4D0-66745B717F6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239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Given a graph G(V,E),  a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spanning tree </a:t>
            </a:r>
            <a:r>
              <a:rPr lang="en-US" altLang="zh-CN" dirty="0" smtClean="0">
                <a:ea typeface="宋体" pitchFamily="2" charset="-122"/>
              </a:rPr>
              <a:t>of G is a graph G’(V’,E’)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V’ = V, the tree touches all vertices  (spans) the graph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E’ is a subset of E such G’ is connected and there is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no cycle </a:t>
            </a:r>
            <a:r>
              <a:rPr lang="en-US" altLang="zh-CN" dirty="0" smtClean="0">
                <a:ea typeface="宋体" pitchFamily="2" charset="-122"/>
              </a:rPr>
              <a:t>in G’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A graph is </a:t>
            </a:r>
            <a:r>
              <a:rPr lang="en-US" altLang="zh-CN" dirty="0" smtClean="0">
                <a:solidFill>
                  <a:srgbClr val="009900"/>
                </a:solidFill>
                <a:ea typeface="宋体" pitchFamily="2" charset="-122"/>
              </a:rPr>
              <a:t>connected</a:t>
            </a:r>
            <a:r>
              <a:rPr lang="en-US" altLang="zh-CN" dirty="0" smtClean="0">
                <a:ea typeface="宋体" pitchFamily="2" charset="-122"/>
              </a:rPr>
              <a:t> if given any two vertices u and v, there is a path from u to v</a:t>
            </a:r>
            <a:endParaRPr lang="en-US" altLang="zh-CN" dirty="0" smtClean="0">
              <a:ea typeface="宋体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6840" y="5220335"/>
            <a:ext cx="1605915" cy="1605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649FF91-9CA5-42FC-AA5A-94F795AB990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239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Example of DFS: Graph connectivity and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39812" y="4417903"/>
            <a:ext cx="297410" cy="282797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012" y="5789503"/>
            <a:ext cx="297410" cy="28279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335212" y="6246703"/>
            <a:ext cx="297410" cy="28279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706812" y="5789503"/>
            <a:ext cx="297410" cy="28279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335212" y="5103703"/>
            <a:ext cx="297410" cy="28279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487612" y="4113103"/>
            <a:ext cx="297410" cy="28279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935412" y="4646503"/>
            <a:ext cx="297410" cy="28279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 flipV="1">
            <a:off x="1344612" y="4263915"/>
            <a:ext cx="1115288" cy="28427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H="1">
            <a:off x="2487612" y="4417903"/>
            <a:ext cx="148705" cy="63629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2792412" y="4265503"/>
            <a:ext cx="1115288" cy="4948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2640012" y="5256103"/>
            <a:ext cx="1040936" cy="63629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 flipH="1">
            <a:off x="3935412" y="4951303"/>
            <a:ext cx="148705" cy="77769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2487612" y="5408503"/>
            <a:ext cx="0" cy="77769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 flipV="1">
            <a:off x="2640012" y="6018103"/>
            <a:ext cx="1040936" cy="35349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1039812" y="5941903"/>
            <a:ext cx="1263993" cy="4241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 flipH="1">
            <a:off x="887412" y="4722703"/>
            <a:ext cx="297410" cy="98979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1344612" y="4722703"/>
            <a:ext cx="1040936" cy="14139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658813" y="4036903"/>
            <a:ext cx="3454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2101850" y="3657490"/>
            <a:ext cx="3454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3995738" y="4152790"/>
            <a:ext cx="3454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3995738" y="5448190"/>
            <a:ext cx="3454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2106613" y="6546740"/>
            <a:ext cx="3454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947738" y="5981590"/>
            <a:ext cx="3454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2014538" y="4838590"/>
            <a:ext cx="3454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/>
        </p:nvSpPr>
        <p:spPr bwMode="auto">
          <a:xfrm>
            <a:off x="4872097" y="3934235"/>
            <a:ext cx="11385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D699F1F-53CF-491A-8D4D-855E51BEECC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1296988" y="379127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992188" y="516287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2592388" y="562007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3963988" y="516287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2592388" y="447707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7" name="Rectangle 8"/>
          <p:cNvSpPr>
            <a:spLocks noChangeArrowheads="1"/>
          </p:cNvSpPr>
          <p:nvPr/>
        </p:nvSpPr>
        <p:spPr bwMode="auto">
          <a:xfrm>
            <a:off x="2744788" y="348647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8" name="Rectangle 9"/>
          <p:cNvSpPr>
            <a:spLocks noChangeArrowheads="1"/>
          </p:cNvSpPr>
          <p:nvPr/>
        </p:nvSpPr>
        <p:spPr bwMode="auto">
          <a:xfrm>
            <a:off x="4192588" y="401987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V="1">
            <a:off x="1601788" y="3637285"/>
            <a:ext cx="1143000" cy="30638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0" name="Line 11"/>
          <p:cNvSpPr>
            <a:spLocks noChangeShapeType="1"/>
          </p:cNvSpPr>
          <p:nvPr/>
        </p:nvSpPr>
        <p:spPr bwMode="auto">
          <a:xfrm flipH="1">
            <a:off x="2744788" y="3791273"/>
            <a:ext cx="152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1" name="Line 12"/>
          <p:cNvSpPr>
            <a:spLocks noChangeShapeType="1"/>
          </p:cNvSpPr>
          <p:nvPr/>
        </p:nvSpPr>
        <p:spPr bwMode="auto">
          <a:xfrm>
            <a:off x="3049588" y="3638873"/>
            <a:ext cx="11430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2" name="Line 13"/>
          <p:cNvSpPr>
            <a:spLocks noChangeShapeType="1"/>
          </p:cNvSpPr>
          <p:nvPr/>
        </p:nvSpPr>
        <p:spPr bwMode="auto">
          <a:xfrm>
            <a:off x="2897188" y="4629473"/>
            <a:ext cx="1066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3" name="Line 14"/>
          <p:cNvSpPr>
            <a:spLocks noChangeShapeType="1"/>
          </p:cNvSpPr>
          <p:nvPr/>
        </p:nvSpPr>
        <p:spPr bwMode="auto">
          <a:xfrm flipH="1">
            <a:off x="4192588" y="4324673"/>
            <a:ext cx="152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4" name="Line 15"/>
          <p:cNvSpPr>
            <a:spLocks noChangeShapeType="1"/>
          </p:cNvSpPr>
          <p:nvPr/>
        </p:nvSpPr>
        <p:spPr bwMode="auto">
          <a:xfrm>
            <a:off x="2744788" y="4781873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5" name="Line 16"/>
          <p:cNvSpPr>
            <a:spLocks noChangeShapeType="1"/>
          </p:cNvSpPr>
          <p:nvPr/>
        </p:nvSpPr>
        <p:spPr bwMode="auto">
          <a:xfrm flipV="1">
            <a:off x="2897188" y="5391473"/>
            <a:ext cx="1066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>
            <a:off x="1296988" y="5315273"/>
            <a:ext cx="1295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7" name="Line 18"/>
          <p:cNvSpPr>
            <a:spLocks noChangeShapeType="1"/>
          </p:cNvSpPr>
          <p:nvPr/>
        </p:nvSpPr>
        <p:spPr bwMode="auto">
          <a:xfrm flipH="1">
            <a:off x="1144588" y="4096073"/>
            <a:ext cx="30480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>
            <a:off x="1601788" y="4096073"/>
            <a:ext cx="106680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915988" y="3410273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0" name="Text Box 21"/>
          <p:cNvSpPr txBox="1">
            <a:spLocks noChangeArrowheads="1"/>
          </p:cNvSpPr>
          <p:nvPr/>
        </p:nvSpPr>
        <p:spPr bwMode="auto">
          <a:xfrm>
            <a:off x="2359026" y="3030860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1" name="Text Box 22"/>
          <p:cNvSpPr txBox="1">
            <a:spLocks noChangeArrowheads="1"/>
          </p:cNvSpPr>
          <p:nvPr/>
        </p:nvSpPr>
        <p:spPr bwMode="auto">
          <a:xfrm>
            <a:off x="4252913" y="352616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2" name="Text Box 23"/>
          <p:cNvSpPr txBox="1">
            <a:spLocks noChangeArrowheads="1"/>
          </p:cNvSpPr>
          <p:nvPr/>
        </p:nvSpPr>
        <p:spPr bwMode="auto">
          <a:xfrm>
            <a:off x="4252913" y="482156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2363788" y="5920110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1204913" y="5354960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5" name="Text Box 26"/>
          <p:cNvSpPr txBox="1">
            <a:spLocks noChangeArrowheads="1"/>
          </p:cNvSpPr>
          <p:nvPr/>
        </p:nvSpPr>
        <p:spPr bwMode="auto">
          <a:xfrm>
            <a:off x="2271713" y="4211960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6" name="Text Box 27"/>
          <p:cNvSpPr txBox="1">
            <a:spLocks noChangeArrowheads="1"/>
          </p:cNvSpPr>
          <p:nvPr/>
        </p:nvSpPr>
        <p:spPr bwMode="auto">
          <a:xfrm>
            <a:off x="5126038" y="3227710"/>
            <a:ext cx="127951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DFS(2)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7" name="Text Box 28"/>
          <p:cNvSpPr txBox="1">
            <a:spLocks noChangeArrowheads="1"/>
          </p:cNvSpPr>
          <p:nvPr/>
        </p:nvSpPr>
        <p:spPr bwMode="auto">
          <a:xfrm>
            <a:off x="760413" y="6609085"/>
            <a:ext cx="49498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Red links will define the spanning tree if the graph is connected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B92A8B5-E348-4917-B604-EF31CAAFA00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8" name="Rectangle 3"/>
          <p:cNvSpPr>
            <a:spLocks noChangeArrowheads="1"/>
          </p:cNvSpPr>
          <p:nvPr/>
        </p:nvSpPr>
        <p:spPr bwMode="auto">
          <a:xfrm>
            <a:off x="1244352" y="407632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9" name="Rectangle 4"/>
          <p:cNvSpPr>
            <a:spLocks noChangeArrowheads="1"/>
          </p:cNvSpPr>
          <p:nvPr/>
        </p:nvSpPr>
        <p:spPr bwMode="auto">
          <a:xfrm>
            <a:off x="939552" y="5447928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0" name="Rectangle 5"/>
          <p:cNvSpPr>
            <a:spLocks noChangeArrowheads="1"/>
          </p:cNvSpPr>
          <p:nvPr/>
        </p:nvSpPr>
        <p:spPr bwMode="auto">
          <a:xfrm>
            <a:off x="2539752" y="590512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1" name="Rectangle 6"/>
          <p:cNvSpPr>
            <a:spLocks noChangeArrowheads="1"/>
          </p:cNvSpPr>
          <p:nvPr/>
        </p:nvSpPr>
        <p:spPr bwMode="auto">
          <a:xfrm>
            <a:off x="3911352" y="544792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2" name="Rectangle 7"/>
          <p:cNvSpPr>
            <a:spLocks noChangeArrowheads="1"/>
          </p:cNvSpPr>
          <p:nvPr/>
        </p:nvSpPr>
        <p:spPr bwMode="auto">
          <a:xfrm>
            <a:off x="2539752" y="476212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3" name="Rectangle 8"/>
          <p:cNvSpPr>
            <a:spLocks noChangeArrowheads="1"/>
          </p:cNvSpPr>
          <p:nvPr/>
        </p:nvSpPr>
        <p:spPr bwMode="auto">
          <a:xfrm>
            <a:off x="2692152" y="377152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4" name="Rectangle 9"/>
          <p:cNvSpPr>
            <a:spLocks noChangeArrowheads="1"/>
          </p:cNvSpPr>
          <p:nvPr/>
        </p:nvSpPr>
        <p:spPr bwMode="auto">
          <a:xfrm>
            <a:off x="4139952" y="4304928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5" name="Line 10"/>
          <p:cNvSpPr>
            <a:spLocks noChangeShapeType="1"/>
          </p:cNvSpPr>
          <p:nvPr/>
        </p:nvSpPr>
        <p:spPr bwMode="auto">
          <a:xfrm flipV="1">
            <a:off x="1549152" y="3922340"/>
            <a:ext cx="1143000" cy="30638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6" name="Line 11"/>
          <p:cNvSpPr>
            <a:spLocks noChangeShapeType="1"/>
          </p:cNvSpPr>
          <p:nvPr/>
        </p:nvSpPr>
        <p:spPr bwMode="auto">
          <a:xfrm flipH="1">
            <a:off x="2692152" y="4076328"/>
            <a:ext cx="1524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7" name="Line 12"/>
          <p:cNvSpPr>
            <a:spLocks noChangeShapeType="1"/>
          </p:cNvSpPr>
          <p:nvPr/>
        </p:nvSpPr>
        <p:spPr bwMode="auto">
          <a:xfrm>
            <a:off x="2996952" y="3923928"/>
            <a:ext cx="11430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8" name="Line 13"/>
          <p:cNvSpPr>
            <a:spLocks noChangeShapeType="1"/>
          </p:cNvSpPr>
          <p:nvPr/>
        </p:nvSpPr>
        <p:spPr bwMode="auto">
          <a:xfrm>
            <a:off x="2844552" y="4914528"/>
            <a:ext cx="1066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9" name="Line 14"/>
          <p:cNvSpPr>
            <a:spLocks noChangeShapeType="1"/>
          </p:cNvSpPr>
          <p:nvPr/>
        </p:nvSpPr>
        <p:spPr bwMode="auto">
          <a:xfrm flipH="1">
            <a:off x="4139952" y="4609728"/>
            <a:ext cx="152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0" name="Line 15"/>
          <p:cNvSpPr>
            <a:spLocks noChangeShapeType="1"/>
          </p:cNvSpPr>
          <p:nvPr/>
        </p:nvSpPr>
        <p:spPr bwMode="auto">
          <a:xfrm>
            <a:off x="2692152" y="5066928"/>
            <a:ext cx="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1" name="Line 16"/>
          <p:cNvSpPr>
            <a:spLocks noChangeShapeType="1"/>
          </p:cNvSpPr>
          <p:nvPr/>
        </p:nvSpPr>
        <p:spPr bwMode="auto">
          <a:xfrm flipV="1">
            <a:off x="2844552" y="5676528"/>
            <a:ext cx="1066800" cy="381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17"/>
          <p:cNvSpPr>
            <a:spLocks noChangeShapeType="1"/>
          </p:cNvSpPr>
          <p:nvPr/>
        </p:nvSpPr>
        <p:spPr bwMode="auto">
          <a:xfrm>
            <a:off x="1244352" y="5600328"/>
            <a:ext cx="1295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18"/>
          <p:cNvSpPr>
            <a:spLocks noChangeShapeType="1"/>
          </p:cNvSpPr>
          <p:nvPr/>
        </p:nvSpPr>
        <p:spPr bwMode="auto">
          <a:xfrm flipH="1">
            <a:off x="1091952" y="4381128"/>
            <a:ext cx="30480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Line 19"/>
          <p:cNvSpPr>
            <a:spLocks noChangeShapeType="1"/>
          </p:cNvSpPr>
          <p:nvPr/>
        </p:nvSpPr>
        <p:spPr bwMode="auto">
          <a:xfrm>
            <a:off x="1549152" y="4381128"/>
            <a:ext cx="106680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5" name="Text Box 20"/>
          <p:cNvSpPr txBox="1">
            <a:spLocks noChangeArrowheads="1"/>
          </p:cNvSpPr>
          <p:nvPr/>
        </p:nvSpPr>
        <p:spPr bwMode="auto">
          <a:xfrm>
            <a:off x="863352" y="3695328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6" name="Text Box 21"/>
          <p:cNvSpPr txBox="1">
            <a:spLocks noChangeArrowheads="1"/>
          </p:cNvSpPr>
          <p:nvPr/>
        </p:nvSpPr>
        <p:spPr bwMode="auto">
          <a:xfrm>
            <a:off x="2306390" y="3315915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7" name="Text Box 22"/>
          <p:cNvSpPr txBox="1">
            <a:spLocks noChangeArrowheads="1"/>
          </p:cNvSpPr>
          <p:nvPr/>
        </p:nvSpPr>
        <p:spPr bwMode="auto">
          <a:xfrm>
            <a:off x="4200277" y="381121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8" name="Text Box 23"/>
          <p:cNvSpPr txBox="1">
            <a:spLocks noChangeArrowheads="1"/>
          </p:cNvSpPr>
          <p:nvPr/>
        </p:nvSpPr>
        <p:spPr bwMode="auto">
          <a:xfrm>
            <a:off x="4200277" y="510661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9" name="Text Box 24"/>
          <p:cNvSpPr txBox="1">
            <a:spLocks noChangeArrowheads="1"/>
          </p:cNvSpPr>
          <p:nvPr/>
        </p:nvSpPr>
        <p:spPr bwMode="auto">
          <a:xfrm>
            <a:off x="2311152" y="6205165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0" name="Text Box 25"/>
          <p:cNvSpPr txBox="1">
            <a:spLocks noChangeArrowheads="1"/>
          </p:cNvSpPr>
          <p:nvPr/>
        </p:nvSpPr>
        <p:spPr bwMode="auto">
          <a:xfrm>
            <a:off x="1152277" y="5640015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1" name="Text Box 26"/>
          <p:cNvSpPr txBox="1">
            <a:spLocks noChangeArrowheads="1"/>
          </p:cNvSpPr>
          <p:nvPr/>
        </p:nvSpPr>
        <p:spPr bwMode="auto">
          <a:xfrm>
            <a:off x="2219077" y="4497015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2" name="Text Box 27"/>
          <p:cNvSpPr txBox="1">
            <a:spLocks noChangeArrowheads="1"/>
          </p:cNvSpPr>
          <p:nvPr/>
        </p:nvSpPr>
        <p:spPr bwMode="auto">
          <a:xfrm>
            <a:off x="5225802" y="3498478"/>
            <a:ext cx="154080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DFS(2)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DFS(3)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DFS(4)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DFS(5)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0DE081C-3AA8-46CB-8FBC-0E97638BF72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1045096" y="36818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740296" y="505342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2340496" y="55106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" name="Rectangle 6"/>
          <p:cNvSpPr>
            <a:spLocks noChangeArrowheads="1"/>
          </p:cNvSpPr>
          <p:nvPr/>
        </p:nvSpPr>
        <p:spPr bwMode="auto">
          <a:xfrm>
            <a:off x="3712096" y="50534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2340496" y="43676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2492896" y="33770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3940696" y="39104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8" name="Line 10"/>
          <p:cNvSpPr>
            <a:spLocks noChangeShapeType="1"/>
          </p:cNvSpPr>
          <p:nvPr/>
        </p:nvSpPr>
        <p:spPr bwMode="auto">
          <a:xfrm flipV="1">
            <a:off x="1349896" y="3527835"/>
            <a:ext cx="1143000" cy="30638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39" name="Line 11"/>
          <p:cNvSpPr>
            <a:spLocks noChangeShapeType="1"/>
          </p:cNvSpPr>
          <p:nvPr/>
        </p:nvSpPr>
        <p:spPr bwMode="auto">
          <a:xfrm flipH="1">
            <a:off x="2492896" y="3681823"/>
            <a:ext cx="1524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0" name="Line 12"/>
          <p:cNvSpPr>
            <a:spLocks noChangeShapeType="1"/>
          </p:cNvSpPr>
          <p:nvPr/>
        </p:nvSpPr>
        <p:spPr bwMode="auto">
          <a:xfrm>
            <a:off x="2797696" y="3529423"/>
            <a:ext cx="11430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1" name="Line 13"/>
          <p:cNvSpPr>
            <a:spLocks noChangeShapeType="1"/>
          </p:cNvSpPr>
          <p:nvPr/>
        </p:nvSpPr>
        <p:spPr bwMode="auto">
          <a:xfrm>
            <a:off x="2645296" y="4520023"/>
            <a:ext cx="1066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2" name="Line 14"/>
          <p:cNvSpPr>
            <a:spLocks noChangeShapeType="1"/>
          </p:cNvSpPr>
          <p:nvPr/>
        </p:nvSpPr>
        <p:spPr bwMode="auto">
          <a:xfrm flipH="1">
            <a:off x="3940696" y="4215223"/>
            <a:ext cx="1524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3" name="Line 15"/>
          <p:cNvSpPr>
            <a:spLocks noChangeShapeType="1"/>
          </p:cNvSpPr>
          <p:nvPr/>
        </p:nvSpPr>
        <p:spPr bwMode="auto">
          <a:xfrm>
            <a:off x="2492896" y="4672423"/>
            <a:ext cx="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 flipV="1">
            <a:off x="2645296" y="5282023"/>
            <a:ext cx="1066800" cy="381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>
            <a:off x="1045096" y="5205823"/>
            <a:ext cx="1295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6" name="Line 18"/>
          <p:cNvSpPr>
            <a:spLocks noChangeShapeType="1"/>
          </p:cNvSpPr>
          <p:nvPr/>
        </p:nvSpPr>
        <p:spPr bwMode="auto">
          <a:xfrm flipH="1">
            <a:off x="892696" y="3986623"/>
            <a:ext cx="30480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7" name="Line 19"/>
          <p:cNvSpPr>
            <a:spLocks noChangeShapeType="1"/>
          </p:cNvSpPr>
          <p:nvPr/>
        </p:nvSpPr>
        <p:spPr bwMode="auto">
          <a:xfrm>
            <a:off x="1349896" y="3986623"/>
            <a:ext cx="106680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8" name="Text Box 20"/>
          <p:cNvSpPr txBox="1">
            <a:spLocks noChangeArrowheads="1"/>
          </p:cNvSpPr>
          <p:nvPr/>
        </p:nvSpPr>
        <p:spPr bwMode="auto">
          <a:xfrm>
            <a:off x="664096" y="3300823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9" name="Text Box 21"/>
          <p:cNvSpPr txBox="1">
            <a:spLocks noChangeArrowheads="1"/>
          </p:cNvSpPr>
          <p:nvPr/>
        </p:nvSpPr>
        <p:spPr bwMode="auto">
          <a:xfrm>
            <a:off x="2107134" y="2921410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0" name="Text Box 22"/>
          <p:cNvSpPr txBox="1">
            <a:spLocks noChangeArrowheads="1"/>
          </p:cNvSpPr>
          <p:nvPr/>
        </p:nvSpPr>
        <p:spPr bwMode="auto">
          <a:xfrm>
            <a:off x="4001021" y="341671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4001021" y="471211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2" name="Text Box 24"/>
          <p:cNvSpPr txBox="1">
            <a:spLocks noChangeArrowheads="1"/>
          </p:cNvSpPr>
          <p:nvPr/>
        </p:nvSpPr>
        <p:spPr bwMode="auto">
          <a:xfrm>
            <a:off x="2111896" y="5810660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3" name="Text Box 25"/>
          <p:cNvSpPr txBox="1">
            <a:spLocks noChangeArrowheads="1"/>
          </p:cNvSpPr>
          <p:nvPr/>
        </p:nvSpPr>
        <p:spPr bwMode="auto">
          <a:xfrm>
            <a:off x="953021" y="5245510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2019821" y="4102510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5" name="Text Box 27"/>
          <p:cNvSpPr txBox="1">
            <a:spLocks noChangeArrowheads="1"/>
          </p:cNvSpPr>
          <p:nvPr/>
        </p:nvSpPr>
        <p:spPr bwMode="auto">
          <a:xfrm>
            <a:off x="5026546" y="3075398"/>
            <a:ext cx="16305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DFS(2)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DFS(3)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DFS(4)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DFS(5)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 DFS(3)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 DFS(7)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6" name="Line 28"/>
          <p:cNvSpPr>
            <a:spLocks noChangeShapeType="1"/>
          </p:cNvSpPr>
          <p:nvPr/>
        </p:nvSpPr>
        <p:spPr bwMode="auto">
          <a:xfrm>
            <a:off x="5458346" y="5169310"/>
            <a:ext cx="11557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3C96E2B-0D25-4951-9F00-4FFC8B93AF9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7" name="Rectangle 3"/>
          <p:cNvSpPr>
            <a:spLocks noChangeArrowheads="1"/>
          </p:cNvSpPr>
          <p:nvPr/>
        </p:nvSpPr>
        <p:spPr bwMode="auto">
          <a:xfrm>
            <a:off x="916792" y="400590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8" name="Rectangle 4"/>
          <p:cNvSpPr>
            <a:spLocks noChangeArrowheads="1"/>
          </p:cNvSpPr>
          <p:nvPr/>
        </p:nvSpPr>
        <p:spPr bwMode="auto">
          <a:xfrm>
            <a:off x="611992" y="5377508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9" name="Rectangle 5"/>
          <p:cNvSpPr>
            <a:spLocks noChangeArrowheads="1"/>
          </p:cNvSpPr>
          <p:nvPr/>
        </p:nvSpPr>
        <p:spPr bwMode="auto">
          <a:xfrm>
            <a:off x="2212192" y="583470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0" name="Rectangle 6"/>
          <p:cNvSpPr>
            <a:spLocks noChangeArrowheads="1"/>
          </p:cNvSpPr>
          <p:nvPr/>
        </p:nvSpPr>
        <p:spPr bwMode="auto">
          <a:xfrm>
            <a:off x="3583792" y="537750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1" name="Rectangle 7"/>
          <p:cNvSpPr>
            <a:spLocks noChangeArrowheads="1"/>
          </p:cNvSpPr>
          <p:nvPr/>
        </p:nvSpPr>
        <p:spPr bwMode="auto">
          <a:xfrm>
            <a:off x="2212192" y="469170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2" name="Rectangle 8"/>
          <p:cNvSpPr>
            <a:spLocks noChangeArrowheads="1"/>
          </p:cNvSpPr>
          <p:nvPr/>
        </p:nvSpPr>
        <p:spPr bwMode="auto">
          <a:xfrm>
            <a:off x="2364592" y="370110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3" name="Rectangle 9"/>
          <p:cNvSpPr>
            <a:spLocks noChangeArrowheads="1"/>
          </p:cNvSpPr>
          <p:nvPr/>
        </p:nvSpPr>
        <p:spPr bwMode="auto">
          <a:xfrm>
            <a:off x="3812392" y="423450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4" name="Line 10"/>
          <p:cNvSpPr>
            <a:spLocks noChangeShapeType="1"/>
          </p:cNvSpPr>
          <p:nvPr/>
        </p:nvSpPr>
        <p:spPr bwMode="auto">
          <a:xfrm flipV="1">
            <a:off x="1221592" y="3851920"/>
            <a:ext cx="1143000" cy="30638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5" name="Line 11"/>
          <p:cNvSpPr>
            <a:spLocks noChangeShapeType="1"/>
          </p:cNvSpPr>
          <p:nvPr/>
        </p:nvSpPr>
        <p:spPr bwMode="auto">
          <a:xfrm flipH="1">
            <a:off x="2364592" y="4005908"/>
            <a:ext cx="1524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6" name="Line 12"/>
          <p:cNvSpPr>
            <a:spLocks noChangeShapeType="1"/>
          </p:cNvSpPr>
          <p:nvPr/>
        </p:nvSpPr>
        <p:spPr bwMode="auto">
          <a:xfrm>
            <a:off x="2669392" y="3853508"/>
            <a:ext cx="1143000" cy="533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7" name="Line 13"/>
          <p:cNvSpPr>
            <a:spLocks noChangeShapeType="1"/>
          </p:cNvSpPr>
          <p:nvPr/>
        </p:nvSpPr>
        <p:spPr bwMode="auto">
          <a:xfrm>
            <a:off x="2516992" y="4844108"/>
            <a:ext cx="1066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8" name="Line 14"/>
          <p:cNvSpPr>
            <a:spLocks noChangeShapeType="1"/>
          </p:cNvSpPr>
          <p:nvPr/>
        </p:nvSpPr>
        <p:spPr bwMode="auto">
          <a:xfrm flipH="1">
            <a:off x="3812392" y="4539308"/>
            <a:ext cx="1524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9" name="Line 15"/>
          <p:cNvSpPr>
            <a:spLocks noChangeShapeType="1"/>
          </p:cNvSpPr>
          <p:nvPr/>
        </p:nvSpPr>
        <p:spPr bwMode="auto">
          <a:xfrm>
            <a:off x="2364592" y="4996508"/>
            <a:ext cx="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0" name="Line 16"/>
          <p:cNvSpPr>
            <a:spLocks noChangeShapeType="1"/>
          </p:cNvSpPr>
          <p:nvPr/>
        </p:nvSpPr>
        <p:spPr bwMode="auto">
          <a:xfrm flipV="1">
            <a:off x="2516992" y="5606108"/>
            <a:ext cx="1066800" cy="381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1" name="Line 17"/>
          <p:cNvSpPr>
            <a:spLocks noChangeShapeType="1"/>
          </p:cNvSpPr>
          <p:nvPr/>
        </p:nvSpPr>
        <p:spPr bwMode="auto">
          <a:xfrm>
            <a:off x="916792" y="5529908"/>
            <a:ext cx="1295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18"/>
          <p:cNvSpPr>
            <a:spLocks noChangeShapeType="1"/>
          </p:cNvSpPr>
          <p:nvPr/>
        </p:nvSpPr>
        <p:spPr bwMode="auto">
          <a:xfrm flipH="1">
            <a:off x="764392" y="4310708"/>
            <a:ext cx="30480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19"/>
          <p:cNvSpPr>
            <a:spLocks noChangeShapeType="1"/>
          </p:cNvSpPr>
          <p:nvPr/>
        </p:nvSpPr>
        <p:spPr bwMode="auto">
          <a:xfrm>
            <a:off x="1221592" y="4310708"/>
            <a:ext cx="106680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Text Box 20"/>
          <p:cNvSpPr txBox="1">
            <a:spLocks noChangeArrowheads="1"/>
          </p:cNvSpPr>
          <p:nvPr/>
        </p:nvSpPr>
        <p:spPr bwMode="auto">
          <a:xfrm>
            <a:off x="535792" y="3624908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5" name="Text Box 21"/>
          <p:cNvSpPr txBox="1">
            <a:spLocks noChangeArrowheads="1"/>
          </p:cNvSpPr>
          <p:nvPr/>
        </p:nvSpPr>
        <p:spPr bwMode="auto">
          <a:xfrm>
            <a:off x="1978830" y="3245495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6" name="Text Box 22"/>
          <p:cNvSpPr txBox="1">
            <a:spLocks noChangeArrowheads="1"/>
          </p:cNvSpPr>
          <p:nvPr/>
        </p:nvSpPr>
        <p:spPr bwMode="auto">
          <a:xfrm>
            <a:off x="3872717" y="374079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3872717" y="503619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1983592" y="6134745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9" name="Text Box 25"/>
          <p:cNvSpPr txBox="1">
            <a:spLocks noChangeArrowheads="1"/>
          </p:cNvSpPr>
          <p:nvPr/>
        </p:nvSpPr>
        <p:spPr bwMode="auto">
          <a:xfrm>
            <a:off x="824717" y="5569595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0" name="Text Box 26"/>
          <p:cNvSpPr txBox="1">
            <a:spLocks noChangeArrowheads="1"/>
          </p:cNvSpPr>
          <p:nvPr/>
        </p:nvSpPr>
        <p:spPr bwMode="auto">
          <a:xfrm>
            <a:off x="1891517" y="4426595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1" name="Text Box 27"/>
          <p:cNvSpPr txBox="1">
            <a:spLocks noChangeArrowheads="1"/>
          </p:cNvSpPr>
          <p:nvPr/>
        </p:nvSpPr>
        <p:spPr bwMode="auto">
          <a:xfrm>
            <a:off x="4898242" y="3399483"/>
            <a:ext cx="16273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DFS(2)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DFS(3)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DFS(4)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DFS(5)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 DFS(7)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2" name="Text Box 29"/>
          <p:cNvSpPr txBox="1">
            <a:spLocks noChangeArrowheads="1"/>
          </p:cNvSpPr>
          <p:nvPr/>
        </p:nvSpPr>
        <p:spPr bwMode="auto">
          <a:xfrm>
            <a:off x="4806167" y="5845820"/>
            <a:ext cx="181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Now back up.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7380ABC-CACC-4FE1-A2C7-5BDF47C8676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823913" y="3835811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519113" y="5207411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2119313" y="5664611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3490913" y="5207411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2119313" y="4521611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7" name="Rectangle 8"/>
          <p:cNvSpPr>
            <a:spLocks noChangeArrowheads="1"/>
          </p:cNvSpPr>
          <p:nvPr/>
        </p:nvSpPr>
        <p:spPr bwMode="auto">
          <a:xfrm>
            <a:off x="2271713" y="3531011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8" name="Rectangle 9"/>
          <p:cNvSpPr>
            <a:spLocks noChangeArrowheads="1"/>
          </p:cNvSpPr>
          <p:nvPr/>
        </p:nvSpPr>
        <p:spPr bwMode="auto">
          <a:xfrm>
            <a:off x="3719513" y="4064411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V="1">
            <a:off x="1128713" y="3681823"/>
            <a:ext cx="1143000" cy="30638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0" name="Line 11"/>
          <p:cNvSpPr>
            <a:spLocks noChangeShapeType="1"/>
          </p:cNvSpPr>
          <p:nvPr/>
        </p:nvSpPr>
        <p:spPr bwMode="auto">
          <a:xfrm flipH="1">
            <a:off x="2271713" y="3835811"/>
            <a:ext cx="1524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1" name="Line 12"/>
          <p:cNvSpPr>
            <a:spLocks noChangeShapeType="1"/>
          </p:cNvSpPr>
          <p:nvPr/>
        </p:nvSpPr>
        <p:spPr bwMode="auto">
          <a:xfrm>
            <a:off x="2576513" y="3683411"/>
            <a:ext cx="1143000" cy="533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2" name="Line 13"/>
          <p:cNvSpPr>
            <a:spLocks noChangeShapeType="1"/>
          </p:cNvSpPr>
          <p:nvPr/>
        </p:nvSpPr>
        <p:spPr bwMode="auto">
          <a:xfrm>
            <a:off x="2417763" y="4672423"/>
            <a:ext cx="10668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3" name="Line 14"/>
          <p:cNvSpPr>
            <a:spLocks noChangeShapeType="1"/>
          </p:cNvSpPr>
          <p:nvPr/>
        </p:nvSpPr>
        <p:spPr bwMode="auto">
          <a:xfrm flipH="1">
            <a:off x="3719513" y="4369211"/>
            <a:ext cx="152400" cy="838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4" name="Line 15"/>
          <p:cNvSpPr>
            <a:spLocks noChangeShapeType="1"/>
          </p:cNvSpPr>
          <p:nvPr/>
        </p:nvSpPr>
        <p:spPr bwMode="auto">
          <a:xfrm>
            <a:off x="2271713" y="4826411"/>
            <a:ext cx="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5" name="Line 16"/>
          <p:cNvSpPr>
            <a:spLocks noChangeShapeType="1"/>
          </p:cNvSpPr>
          <p:nvPr/>
        </p:nvSpPr>
        <p:spPr bwMode="auto">
          <a:xfrm flipV="1">
            <a:off x="2424113" y="5436011"/>
            <a:ext cx="1066800" cy="381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>
            <a:off x="823913" y="5359811"/>
            <a:ext cx="1295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7" name="Line 18"/>
          <p:cNvSpPr>
            <a:spLocks noChangeShapeType="1"/>
          </p:cNvSpPr>
          <p:nvPr/>
        </p:nvSpPr>
        <p:spPr bwMode="auto">
          <a:xfrm flipH="1">
            <a:off x="671513" y="4140611"/>
            <a:ext cx="30480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>
            <a:off x="1128713" y="4140611"/>
            <a:ext cx="106680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442913" y="3454811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0" name="Text Box 21"/>
          <p:cNvSpPr txBox="1">
            <a:spLocks noChangeArrowheads="1"/>
          </p:cNvSpPr>
          <p:nvPr/>
        </p:nvSpPr>
        <p:spPr bwMode="auto">
          <a:xfrm>
            <a:off x="1885951" y="3075398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1" name="Text Box 22"/>
          <p:cNvSpPr txBox="1">
            <a:spLocks noChangeArrowheads="1"/>
          </p:cNvSpPr>
          <p:nvPr/>
        </p:nvSpPr>
        <p:spPr bwMode="auto">
          <a:xfrm>
            <a:off x="3779838" y="357069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2" name="Text Box 23"/>
          <p:cNvSpPr txBox="1">
            <a:spLocks noChangeArrowheads="1"/>
          </p:cNvSpPr>
          <p:nvPr/>
        </p:nvSpPr>
        <p:spPr bwMode="auto">
          <a:xfrm>
            <a:off x="3779838" y="486609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1890713" y="5964648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731838" y="5399498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5" name="Text Box 26"/>
          <p:cNvSpPr txBox="1">
            <a:spLocks noChangeArrowheads="1"/>
          </p:cNvSpPr>
          <p:nvPr/>
        </p:nvSpPr>
        <p:spPr bwMode="auto">
          <a:xfrm>
            <a:off x="1798638" y="4256498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6" name="Text Box 27"/>
          <p:cNvSpPr txBox="1">
            <a:spLocks noChangeArrowheads="1"/>
          </p:cNvSpPr>
          <p:nvPr/>
        </p:nvSpPr>
        <p:spPr bwMode="auto">
          <a:xfrm>
            <a:off x="4805363" y="3257961"/>
            <a:ext cx="154080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DFS(2)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DFS(3)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DFS(4)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DFS(5)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3" name="Text Box 28"/>
          <p:cNvSpPr txBox="1">
            <a:spLocks noChangeArrowheads="1"/>
          </p:cNvSpPr>
          <p:nvPr/>
        </p:nvSpPr>
        <p:spPr bwMode="auto">
          <a:xfrm>
            <a:off x="4713288" y="5370923"/>
            <a:ext cx="21515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Back to 5,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but it has no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more neighbors.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EDB79F8-44A3-4D73-BF6D-7DAFFB55AD5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7" name="Rectangle 3"/>
          <p:cNvSpPr>
            <a:spLocks noChangeArrowheads="1"/>
          </p:cNvSpPr>
          <p:nvPr/>
        </p:nvSpPr>
        <p:spPr bwMode="auto">
          <a:xfrm>
            <a:off x="984250" y="378024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8" name="Rectangle 4"/>
          <p:cNvSpPr>
            <a:spLocks noChangeArrowheads="1"/>
          </p:cNvSpPr>
          <p:nvPr/>
        </p:nvSpPr>
        <p:spPr bwMode="auto">
          <a:xfrm>
            <a:off x="679450" y="515184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9" name="Rectangle 5"/>
          <p:cNvSpPr>
            <a:spLocks noChangeArrowheads="1"/>
          </p:cNvSpPr>
          <p:nvPr/>
        </p:nvSpPr>
        <p:spPr bwMode="auto">
          <a:xfrm>
            <a:off x="2279650" y="560904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0" name="Rectangle 6"/>
          <p:cNvSpPr>
            <a:spLocks noChangeArrowheads="1"/>
          </p:cNvSpPr>
          <p:nvPr/>
        </p:nvSpPr>
        <p:spPr bwMode="auto">
          <a:xfrm>
            <a:off x="3651250" y="515184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1" name="Rectangle 7"/>
          <p:cNvSpPr>
            <a:spLocks noChangeArrowheads="1"/>
          </p:cNvSpPr>
          <p:nvPr/>
        </p:nvSpPr>
        <p:spPr bwMode="auto">
          <a:xfrm>
            <a:off x="2279650" y="446604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2" name="Rectangle 8"/>
          <p:cNvSpPr>
            <a:spLocks noChangeArrowheads="1"/>
          </p:cNvSpPr>
          <p:nvPr/>
        </p:nvSpPr>
        <p:spPr bwMode="auto">
          <a:xfrm>
            <a:off x="2432050" y="347544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3" name="Rectangle 9"/>
          <p:cNvSpPr>
            <a:spLocks noChangeArrowheads="1"/>
          </p:cNvSpPr>
          <p:nvPr/>
        </p:nvSpPr>
        <p:spPr bwMode="auto">
          <a:xfrm>
            <a:off x="3879850" y="4008848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4" name="Line 10"/>
          <p:cNvSpPr>
            <a:spLocks noChangeShapeType="1"/>
          </p:cNvSpPr>
          <p:nvPr/>
        </p:nvSpPr>
        <p:spPr bwMode="auto">
          <a:xfrm flipV="1">
            <a:off x="1289050" y="3626260"/>
            <a:ext cx="1143000" cy="30638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5" name="Line 11"/>
          <p:cNvSpPr>
            <a:spLocks noChangeShapeType="1"/>
          </p:cNvSpPr>
          <p:nvPr/>
        </p:nvSpPr>
        <p:spPr bwMode="auto">
          <a:xfrm flipH="1">
            <a:off x="2432050" y="3780248"/>
            <a:ext cx="1524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6" name="Line 12"/>
          <p:cNvSpPr>
            <a:spLocks noChangeShapeType="1"/>
          </p:cNvSpPr>
          <p:nvPr/>
        </p:nvSpPr>
        <p:spPr bwMode="auto">
          <a:xfrm>
            <a:off x="2736850" y="3627848"/>
            <a:ext cx="1143000" cy="533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7" name="Line 13"/>
          <p:cNvSpPr>
            <a:spLocks noChangeShapeType="1"/>
          </p:cNvSpPr>
          <p:nvPr/>
        </p:nvSpPr>
        <p:spPr bwMode="auto">
          <a:xfrm>
            <a:off x="2578100" y="4616860"/>
            <a:ext cx="10668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8" name="Line 14"/>
          <p:cNvSpPr>
            <a:spLocks noChangeShapeType="1"/>
          </p:cNvSpPr>
          <p:nvPr/>
        </p:nvSpPr>
        <p:spPr bwMode="auto">
          <a:xfrm flipH="1">
            <a:off x="3879850" y="4313648"/>
            <a:ext cx="152400" cy="838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9" name="Line 15"/>
          <p:cNvSpPr>
            <a:spLocks noChangeShapeType="1"/>
          </p:cNvSpPr>
          <p:nvPr/>
        </p:nvSpPr>
        <p:spPr bwMode="auto">
          <a:xfrm>
            <a:off x="2432050" y="4770848"/>
            <a:ext cx="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0" name="Line 16"/>
          <p:cNvSpPr>
            <a:spLocks noChangeShapeType="1"/>
          </p:cNvSpPr>
          <p:nvPr/>
        </p:nvSpPr>
        <p:spPr bwMode="auto">
          <a:xfrm flipV="1">
            <a:off x="2584450" y="5380448"/>
            <a:ext cx="1066800" cy="3810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1" name="Line 17"/>
          <p:cNvSpPr>
            <a:spLocks noChangeShapeType="1"/>
          </p:cNvSpPr>
          <p:nvPr/>
        </p:nvSpPr>
        <p:spPr bwMode="auto">
          <a:xfrm>
            <a:off x="984250" y="5304248"/>
            <a:ext cx="1295400" cy="457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18"/>
          <p:cNvSpPr>
            <a:spLocks noChangeShapeType="1"/>
          </p:cNvSpPr>
          <p:nvPr/>
        </p:nvSpPr>
        <p:spPr bwMode="auto">
          <a:xfrm flipH="1">
            <a:off x="831850" y="4085048"/>
            <a:ext cx="30480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19"/>
          <p:cNvSpPr>
            <a:spLocks noChangeShapeType="1"/>
          </p:cNvSpPr>
          <p:nvPr/>
        </p:nvSpPr>
        <p:spPr bwMode="auto">
          <a:xfrm>
            <a:off x="1289050" y="4085048"/>
            <a:ext cx="106680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Text Box 20"/>
          <p:cNvSpPr txBox="1">
            <a:spLocks noChangeArrowheads="1"/>
          </p:cNvSpPr>
          <p:nvPr/>
        </p:nvSpPr>
        <p:spPr bwMode="auto">
          <a:xfrm>
            <a:off x="603250" y="3399248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5" name="Text Box 21"/>
          <p:cNvSpPr txBox="1">
            <a:spLocks noChangeArrowheads="1"/>
          </p:cNvSpPr>
          <p:nvPr/>
        </p:nvSpPr>
        <p:spPr bwMode="auto">
          <a:xfrm>
            <a:off x="2046288" y="3019835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6" name="Text Box 22"/>
          <p:cNvSpPr txBox="1">
            <a:spLocks noChangeArrowheads="1"/>
          </p:cNvSpPr>
          <p:nvPr/>
        </p:nvSpPr>
        <p:spPr bwMode="auto">
          <a:xfrm>
            <a:off x="3940175" y="351513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3940175" y="481053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2051050" y="5909085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9" name="Text Box 25"/>
          <p:cNvSpPr txBox="1">
            <a:spLocks noChangeArrowheads="1"/>
          </p:cNvSpPr>
          <p:nvPr/>
        </p:nvSpPr>
        <p:spPr bwMode="auto">
          <a:xfrm>
            <a:off x="892175" y="5343935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0" name="Text Box 26"/>
          <p:cNvSpPr txBox="1">
            <a:spLocks noChangeArrowheads="1"/>
          </p:cNvSpPr>
          <p:nvPr/>
        </p:nvSpPr>
        <p:spPr bwMode="auto">
          <a:xfrm>
            <a:off x="1958975" y="4200935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1" name="Text Box 27"/>
          <p:cNvSpPr txBox="1">
            <a:spLocks noChangeArrowheads="1"/>
          </p:cNvSpPr>
          <p:nvPr/>
        </p:nvSpPr>
        <p:spPr bwMode="auto">
          <a:xfrm>
            <a:off x="4965700" y="3202398"/>
            <a:ext cx="19062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DFS(2)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DFS(3)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DFS(4)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 DFS(6)   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2" name="Text Box 28"/>
          <p:cNvSpPr txBox="1">
            <a:spLocks noChangeArrowheads="1"/>
          </p:cNvSpPr>
          <p:nvPr/>
        </p:nvSpPr>
        <p:spPr bwMode="auto">
          <a:xfrm>
            <a:off x="4619625" y="5467760"/>
            <a:ext cx="196399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Back up to 4.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From 4 we can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get to 6.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D5A9283-119D-48E3-A018-E4DE156117D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852225" y="36818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547425" y="50534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2147625" y="55106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3519225" y="50534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2147625" y="43676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7" name="Rectangle 8"/>
          <p:cNvSpPr>
            <a:spLocks noChangeArrowheads="1"/>
          </p:cNvSpPr>
          <p:nvPr/>
        </p:nvSpPr>
        <p:spPr bwMode="auto">
          <a:xfrm>
            <a:off x="2300025" y="33770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8" name="Rectangle 9"/>
          <p:cNvSpPr>
            <a:spLocks noChangeArrowheads="1"/>
          </p:cNvSpPr>
          <p:nvPr/>
        </p:nvSpPr>
        <p:spPr bwMode="auto">
          <a:xfrm>
            <a:off x="3747825" y="3910423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V="1">
            <a:off x="1157025" y="3527835"/>
            <a:ext cx="1143000" cy="30638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0" name="Line 11"/>
          <p:cNvSpPr>
            <a:spLocks noChangeShapeType="1"/>
          </p:cNvSpPr>
          <p:nvPr/>
        </p:nvSpPr>
        <p:spPr bwMode="auto">
          <a:xfrm flipH="1">
            <a:off x="2300025" y="3681823"/>
            <a:ext cx="1524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1" name="Line 12"/>
          <p:cNvSpPr>
            <a:spLocks noChangeShapeType="1"/>
          </p:cNvSpPr>
          <p:nvPr/>
        </p:nvSpPr>
        <p:spPr bwMode="auto">
          <a:xfrm>
            <a:off x="2604825" y="3529423"/>
            <a:ext cx="1143000" cy="533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2" name="Line 13"/>
          <p:cNvSpPr>
            <a:spLocks noChangeShapeType="1"/>
          </p:cNvSpPr>
          <p:nvPr/>
        </p:nvSpPr>
        <p:spPr bwMode="auto">
          <a:xfrm>
            <a:off x="2446075" y="4518435"/>
            <a:ext cx="10668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3" name="Line 14"/>
          <p:cNvSpPr>
            <a:spLocks noChangeShapeType="1"/>
          </p:cNvSpPr>
          <p:nvPr/>
        </p:nvSpPr>
        <p:spPr bwMode="auto">
          <a:xfrm flipH="1">
            <a:off x="3747825" y="4215223"/>
            <a:ext cx="152400" cy="838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4" name="Line 15"/>
          <p:cNvSpPr>
            <a:spLocks noChangeShapeType="1"/>
          </p:cNvSpPr>
          <p:nvPr/>
        </p:nvSpPr>
        <p:spPr bwMode="auto">
          <a:xfrm>
            <a:off x="2300025" y="4672423"/>
            <a:ext cx="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5" name="Line 16"/>
          <p:cNvSpPr>
            <a:spLocks noChangeShapeType="1"/>
          </p:cNvSpPr>
          <p:nvPr/>
        </p:nvSpPr>
        <p:spPr bwMode="auto">
          <a:xfrm flipV="1">
            <a:off x="2452425" y="5282023"/>
            <a:ext cx="1066800" cy="3810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>
            <a:off x="852225" y="5205823"/>
            <a:ext cx="1295400" cy="457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7" name="Line 18"/>
          <p:cNvSpPr>
            <a:spLocks noChangeShapeType="1"/>
          </p:cNvSpPr>
          <p:nvPr/>
        </p:nvSpPr>
        <p:spPr bwMode="auto">
          <a:xfrm flipH="1">
            <a:off x="699825" y="3986623"/>
            <a:ext cx="304800" cy="1066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>
            <a:off x="1157025" y="3986623"/>
            <a:ext cx="106680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471225" y="3300823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0" name="Text Box 21"/>
          <p:cNvSpPr txBox="1">
            <a:spLocks noChangeArrowheads="1"/>
          </p:cNvSpPr>
          <p:nvPr/>
        </p:nvSpPr>
        <p:spPr bwMode="auto">
          <a:xfrm>
            <a:off x="1914263" y="2921410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1" name="Text Box 22"/>
          <p:cNvSpPr txBox="1">
            <a:spLocks noChangeArrowheads="1"/>
          </p:cNvSpPr>
          <p:nvPr/>
        </p:nvSpPr>
        <p:spPr bwMode="auto">
          <a:xfrm>
            <a:off x="3808150" y="341671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2" name="Text Box 23"/>
          <p:cNvSpPr txBox="1">
            <a:spLocks noChangeArrowheads="1"/>
          </p:cNvSpPr>
          <p:nvPr/>
        </p:nvSpPr>
        <p:spPr bwMode="auto">
          <a:xfrm>
            <a:off x="3808150" y="471211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1919025" y="5810660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760150" y="5245510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5" name="Text Box 26"/>
          <p:cNvSpPr txBox="1">
            <a:spLocks noChangeArrowheads="1"/>
          </p:cNvSpPr>
          <p:nvPr/>
        </p:nvSpPr>
        <p:spPr bwMode="auto">
          <a:xfrm>
            <a:off x="1826950" y="4102510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6" name="Text Box 27"/>
          <p:cNvSpPr txBox="1">
            <a:spLocks noChangeArrowheads="1"/>
          </p:cNvSpPr>
          <p:nvPr/>
        </p:nvSpPr>
        <p:spPr bwMode="auto">
          <a:xfrm>
            <a:off x="4833675" y="3103973"/>
            <a:ext cx="172996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DFS(2)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DFS(3)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 DFS(4)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   DFS(6)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3" name="Text Box 28"/>
          <p:cNvSpPr txBox="1">
            <a:spLocks noChangeArrowheads="1"/>
          </p:cNvSpPr>
          <p:nvPr/>
        </p:nvSpPr>
        <p:spPr bwMode="auto">
          <a:xfrm>
            <a:off x="4741600" y="5216935"/>
            <a:ext cx="203773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From 6 there is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nowhere new 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to go.  Back up.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99E0EDF-A597-4867-B5D9-389ADFDA7E0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7" name="Rectangle 1027"/>
          <p:cNvSpPr>
            <a:spLocks noChangeArrowheads="1"/>
          </p:cNvSpPr>
          <p:nvPr/>
        </p:nvSpPr>
        <p:spPr bwMode="auto">
          <a:xfrm>
            <a:off x="823913" y="3940696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8" name="Rectangle 1028"/>
          <p:cNvSpPr>
            <a:spLocks noChangeArrowheads="1"/>
          </p:cNvSpPr>
          <p:nvPr/>
        </p:nvSpPr>
        <p:spPr bwMode="auto">
          <a:xfrm>
            <a:off x="519113" y="5312296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9" name="Rectangle 1029"/>
          <p:cNvSpPr>
            <a:spLocks noChangeArrowheads="1"/>
          </p:cNvSpPr>
          <p:nvPr/>
        </p:nvSpPr>
        <p:spPr bwMode="auto">
          <a:xfrm>
            <a:off x="2119313" y="5769496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0" name="Rectangle 1030"/>
          <p:cNvSpPr>
            <a:spLocks noChangeArrowheads="1"/>
          </p:cNvSpPr>
          <p:nvPr/>
        </p:nvSpPr>
        <p:spPr bwMode="auto">
          <a:xfrm>
            <a:off x="3490913" y="5312296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1" name="Rectangle 1031"/>
          <p:cNvSpPr>
            <a:spLocks noChangeArrowheads="1"/>
          </p:cNvSpPr>
          <p:nvPr/>
        </p:nvSpPr>
        <p:spPr bwMode="auto">
          <a:xfrm>
            <a:off x="2119313" y="4626496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2" name="Rectangle 1032"/>
          <p:cNvSpPr>
            <a:spLocks noChangeArrowheads="1"/>
          </p:cNvSpPr>
          <p:nvPr/>
        </p:nvSpPr>
        <p:spPr bwMode="auto">
          <a:xfrm>
            <a:off x="2271713" y="3635896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3" name="Rectangle 1033"/>
          <p:cNvSpPr>
            <a:spLocks noChangeArrowheads="1"/>
          </p:cNvSpPr>
          <p:nvPr/>
        </p:nvSpPr>
        <p:spPr bwMode="auto">
          <a:xfrm>
            <a:off x="3719513" y="4169296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4" name="Line 1034"/>
          <p:cNvSpPr>
            <a:spLocks noChangeShapeType="1"/>
          </p:cNvSpPr>
          <p:nvPr/>
        </p:nvSpPr>
        <p:spPr bwMode="auto">
          <a:xfrm flipV="1">
            <a:off x="1128713" y="3786708"/>
            <a:ext cx="1143000" cy="30638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5" name="Line 1035"/>
          <p:cNvSpPr>
            <a:spLocks noChangeShapeType="1"/>
          </p:cNvSpPr>
          <p:nvPr/>
        </p:nvSpPr>
        <p:spPr bwMode="auto">
          <a:xfrm flipH="1">
            <a:off x="2271713" y="3940696"/>
            <a:ext cx="1524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6" name="Line 1036"/>
          <p:cNvSpPr>
            <a:spLocks noChangeShapeType="1"/>
          </p:cNvSpPr>
          <p:nvPr/>
        </p:nvSpPr>
        <p:spPr bwMode="auto">
          <a:xfrm>
            <a:off x="2576513" y="3788296"/>
            <a:ext cx="1143000" cy="533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7" name="Line 1037"/>
          <p:cNvSpPr>
            <a:spLocks noChangeShapeType="1"/>
          </p:cNvSpPr>
          <p:nvPr/>
        </p:nvSpPr>
        <p:spPr bwMode="auto">
          <a:xfrm>
            <a:off x="2417763" y="4777308"/>
            <a:ext cx="10668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8" name="Line 1038"/>
          <p:cNvSpPr>
            <a:spLocks noChangeShapeType="1"/>
          </p:cNvSpPr>
          <p:nvPr/>
        </p:nvSpPr>
        <p:spPr bwMode="auto">
          <a:xfrm flipH="1">
            <a:off x="3719513" y="4474096"/>
            <a:ext cx="152400" cy="838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9" name="Line 1039"/>
          <p:cNvSpPr>
            <a:spLocks noChangeShapeType="1"/>
          </p:cNvSpPr>
          <p:nvPr/>
        </p:nvSpPr>
        <p:spPr bwMode="auto">
          <a:xfrm>
            <a:off x="2271713" y="4931296"/>
            <a:ext cx="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0" name="Line 1040"/>
          <p:cNvSpPr>
            <a:spLocks noChangeShapeType="1"/>
          </p:cNvSpPr>
          <p:nvPr/>
        </p:nvSpPr>
        <p:spPr bwMode="auto">
          <a:xfrm flipV="1">
            <a:off x="2424113" y="5540896"/>
            <a:ext cx="1066800" cy="3810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1" name="Line 1041"/>
          <p:cNvSpPr>
            <a:spLocks noChangeShapeType="1"/>
          </p:cNvSpPr>
          <p:nvPr/>
        </p:nvSpPr>
        <p:spPr bwMode="auto">
          <a:xfrm>
            <a:off x="823913" y="5464696"/>
            <a:ext cx="1295400" cy="457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1042"/>
          <p:cNvSpPr>
            <a:spLocks noChangeShapeType="1"/>
          </p:cNvSpPr>
          <p:nvPr/>
        </p:nvSpPr>
        <p:spPr bwMode="auto">
          <a:xfrm flipH="1">
            <a:off x="671513" y="4245496"/>
            <a:ext cx="304800" cy="1066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1043"/>
          <p:cNvSpPr>
            <a:spLocks noChangeShapeType="1"/>
          </p:cNvSpPr>
          <p:nvPr/>
        </p:nvSpPr>
        <p:spPr bwMode="auto">
          <a:xfrm>
            <a:off x="1128713" y="4245496"/>
            <a:ext cx="106680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Text Box 1044"/>
          <p:cNvSpPr txBox="1">
            <a:spLocks noChangeArrowheads="1"/>
          </p:cNvSpPr>
          <p:nvPr/>
        </p:nvSpPr>
        <p:spPr bwMode="auto">
          <a:xfrm>
            <a:off x="442913" y="3559696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5" name="Text Box 1045"/>
          <p:cNvSpPr txBox="1">
            <a:spLocks noChangeArrowheads="1"/>
          </p:cNvSpPr>
          <p:nvPr/>
        </p:nvSpPr>
        <p:spPr bwMode="auto">
          <a:xfrm>
            <a:off x="1885951" y="3180283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6" name="Text Box 1046"/>
          <p:cNvSpPr txBox="1">
            <a:spLocks noChangeArrowheads="1"/>
          </p:cNvSpPr>
          <p:nvPr/>
        </p:nvSpPr>
        <p:spPr bwMode="auto">
          <a:xfrm>
            <a:off x="3779838" y="367558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7" name="Text Box 1047"/>
          <p:cNvSpPr txBox="1">
            <a:spLocks noChangeArrowheads="1"/>
          </p:cNvSpPr>
          <p:nvPr/>
        </p:nvSpPr>
        <p:spPr bwMode="auto">
          <a:xfrm>
            <a:off x="3779838" y="497098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8" name="Text Box 1048"/>
          <p:cNvSpPr txBox="1">
            <a:spLocks noChangeArrowheads="1"/>
          </p:cNvSpPr>
          <p:nvPr/>
        </p:nvSpPr>
        <p:spPr bwMode="auto">
          <a:xfrm>
            <a:off x="1890713" y="6069533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9" name="Text Box 1049"/>
          <p:cNvSpPr txBox="1">
            <a:spLocks noChangeArrowheads="1"/>
          </p:cNvSpPr>
          <p:nvPr/>
        </p:nvSpPr>
        <p:spPr bwMode="auto">
          <a:xfrm>
            <a:off x="731838" y="5504383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0" name="Text Box 1050"/>
          <p:cNvSpPr txBox="1">
            <a:spLocks noChangeArrowheads="1"/>
          </p:cNvSpPr>
          <p:nvPr/>
        </p:nvSpPr>
        <p:spPr bwMode="auto">
          <a:xfrm>
            <a:off x="1798638" y="4361383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1" name="Text Box 1051"/>
          <p:cNvSpPr txBox="1">
            <a:spLocks noChangeArrowheads="1"/>
          </p:cNvSpPr>
          <p:nvPr/>
        </p:nvSpPr>
        <p:spPr bwMode="auto">
          <a:xfrm>
            <a:off x="4805363" y="3378721"/>
            <a:ext cx="146546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DFS(2)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DFS(3)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   DFS(4)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2" name="Text Box 1052"/>
          <p:cNvSpPr txBox="1">
            <a:spLocks noChangeArrowheads="1"/>
          </p:cNvSpPr>
          <p:nvPr/>
        </p:nvSpPr>
        <p:spPr bwMode="auto">
          <a:xfrm>
            <a:off x="4713288" y="5247208"/>
            <a:ext cx="223170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Back to 4.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Keep backing up.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094FE82-1147-4ADE-98F7-79EEB767572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F9533B2-2A05-4405-8F61-031749C960CD}" type="slidenum">
              <a:rPr lang="en-US" altLang="zh-CN" sz="1050"/>
            </a:fld>
            <a:endParaRPr lang="en-US" altLang="zh-CN" sz="105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DFS Application: Spanning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7" name="Rectangle 3"/>
          <p:cNvSpPr>
            <a:spLocks noChangeArrowheads="1"/>
          </p:cNvSpPr>
          <p:nvPr/>
        </p:nvSpPr>
        <p:spPr bwMode="auto">
          <a:xfrm>
            <a:off x="1333128" y="3419872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8" name="Rectangle 4"/>
          <p:cNvSpPr>
            <a:spLocks noChangeArrowheads="1"/>
          </p:cNvSpPr>
          <p:nvPr/>
        </p:nvSpPr>
        <p:spPr bwMode="auto">
          <a:xfrm>
            <a:off x="1028328" y="4791472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9" name="Rectangle 5"/>
          <p:cNvSpPr>
            <a:spLocks noChangeArrowheads="1"/>
          </p:cNvSpPr>
          <p:nvPr/>
        </p:nvSpPr>
        <p:spPr bwMode="auto">
          <a:xfrm>
            <a:off x="2628528" y="5248672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0" name="Rectangle 6"/>
          <p:cNvSpPr>
            <a:spLocks noChangeArrowheads="1"/>
          </p:cNvSpPr>
          <p:nvPr/>
        </p:nvSpPr>
        <p:spPr bwMode="auto">
          <a:xfrm>
            <a:off x="4000128" y="4791472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1" name="Rectangle 7"/>
          <p:cNvSpPr>
            <a:spLocks noChangeArrowheads="1"/>
          </p:cNvSpPr>
          <p:nvPr/>
        </p:nvSpPr>
        <p:spPr bwMode="auto">
          <a:xfrm>
            <a:off x="2628528" y="4105672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2" name="Rectangle 8"/>
          <p:cNvSpPr>
            <a:spLocks noChangeArrowheads="1"/>
          </p:cNvSpPr>
          <p:nvPr/>
        </p:nvSpPr>
        <p:spPr bwMode="auto">
          <a:xfrm>
            <a:off x="2780928" y="3115072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3" name="Rectangle 9"/>
          <p:cNvSpPr>
            <a:spLocks noChangeArrowheads="1"/>
          </p:cNvSpPr>
          <p:nvPr/>
        </p:nvSpPr>
        <p:spPr bwMode="auto">
          <a:xfrm>
            <a:off x="4228728" y="3648472"/>
            <a:ext cx="304800" cy="3048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4" name="Line 10"/>
          <p:cNvSpPr>
            <a:spLocks noChangeShapeType="1"/>
          </p:cNvSpPr>
          <p:nvPr/>
        </p:nvSpPr>
        <p:spPr bwMode="auto">
          <a:xfrm flipV="1">
            <a:off x="1637928" y="3265884"/>
            <a:ext cx="1143000" cy="306388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5" name="Line 11"/>
          <p:cNvSpPr>
            <a:spLocks noChangeShapeType="1"/>
          </p:cNvSpPr>
          <p:nvPr/>
        </p:nvSpPr>
        <p:spPr bwMode="auto">
          <a:xfrm flipH="1">
            <a:off x="2780928" y="3419872"/>
            <a:ext cx="152400" cy="6858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6" name="Line 12"/>
          <p:cNvSpPr>
            <a:spLocks noChangeShapeType="1"/>
          </p:cNvSpPr>
          <p:nvPr/>
        </p:nvSpPr>
        <p:spPr bwMode="auto">
          <a:xfrm>
            <a:off x="3085728" y="3267472"/>
            <a:ext cx="1143000" cy="533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7" name="Line 13"/>
          <p:cNvSpPr>
            <a:spLocks noChangeShapeType="1"/>
          </p:cNvSpPr>
          <p:nvPr/>
        </p:nvSpPr>
        <p:spPr bwMode="auto">
          <a:xfrm>
            <a:off x="2926978" y="4256484"/>
            <a:ext cx="10668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8" name="Line 14"/>
          <p:cNvSpPr>
            <a:spLocks noChangeShapeType="1"/>
          </p:cNvSpPr>
          <p:nvPr/>
        </p:nvSpPr>
        <p:spPr bwMode="auto">
          <a:xfrm flipH="1">
            <a:off x="4228728" y="3953272"/>
            <a:ext cx="152400" cy="838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9" name="Line 15"/>
          <p:cNvSpPr>
            <a:spLocks noChangeShapeType="1"/>
          </p:cNvSpPr>
          <p:nvPr/>
        </p:nvSpPr>
        <p:spPr bwMode="auto">
          <a:xfrm>
            <a:off x="2780928" y="4410472"/>
            <a:ext cx="0" cy="838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0" name="Line 16"/>
          <p:cNvSpPr>
            <a:spLocks noChangeShapeType="1"/>
          </p:cNvSpPr>
          <p:nvPr/>
        </p:nvSpPr>
        <p:spPr bwMode="auto">
          <a:xfrm flipV="1">
            <a:off x="2933328" y="5020072"/>
            <a:ext cx="1066800" cy="3810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1" name="Line 17"/>
          <p:cNvSpPr>
            <a:spLocks noChangeShapeType="1"/>
          </p:cNvSpPr>
          <p:nvPr/>
        </p:nvSpPr>
        <p:spPr bwMode="auto">
          <a:xfrm>
            <a:off x="1333128" y="4943872"/>
            <a:ext cx="1295400" cy="457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18"/>
          <p:cNvSpPr>
            <a:spLocks noChangeShapeType="1"/>
          </p:cNvSpPr>
          <p:nvPr/>
        </p:nvSpPr>
        <p:spPr bwMode="auto">
          <a:xfrm flipH="1">
            <a:off x="1180728" y="3724672"/>
            <a:ext cx="304800" cy="1066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19"/>
          <p:cNvSpPr>
            <a:spLocks noChangeShapeType="1"/>
          </p:cNvSpPr>
          <p:nvPr/>
        </p:nvSpPr>
        <p:spPr bwMode="auto">
          <a:xfrm>
            <a:off x="1637928" y="3724672"/>
            <a:ext cx="106680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Text Box 20"/>
          <p:cNvSpPr txBox="1">
            <a:spLocks noChangeArrowheads="1"/>
          </p:cNvSpPr>
          <p:nvPr/>
        </p:nvSpPr>
        <p:spPr bwMode="auto">
          <a:xfrm>
            <a:off x="952128" y="3038872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5" name="Text Box 21"/>
          <p:cNvSpPr txBox="1">
            <a:spLocks noChangeArrowheads="1"/>
          </p:cNvSpPr>
          <p:nvPr/>
        </p:nvSpPr>
        <p:spPr bwMode="auto">
          <a:xfrm>
            <a:off x="2395166" y="2659459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6" name="Text Box 22"/>
          <p:cNvSpPr txBox="1">
            <a:spLocks noChangeArrowheads="1"/>
          </p:cNvSpPr>
          <p:nvPr/>
        </p:nvSpPr>
        <p:spPr bwMode="auto">
          <a:xfrm>
            <a:off x="4289053" y="3154759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4289053" y="4450159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2399928" y="5548709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9" name="Text Box 25"/>
          <p:cNvSpPr txBox="1">
            <a:spLocks noChangeArrowheads="1"/>
          </p:cNvSpPr>
          <p:nvPr/>
        </p:nvSpPr>
        <p:spPr bwMode="auto">
          <a:xfrm>
            <a:off x="1241053" y="4983559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0" name="Text Box 26"/>
          <p:cNvSpPr txBox="1">
            <a:spLocks noChangeArrowheads="1"/>
          </p:cNvSpPr>
          <p:nvPr/>
        </p:nvSpPr>
        <p:spPr bwMode="auto">
          <a:xfrm>
            <a:off x="2307853" y="3840559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1" name="Text Box 27"/>
          <p:cNvSpPr txBox="1">
            <a:spLocks noChangeArrowheads="1"/>
          </p:cNvSpPr>
          <p:nvPr/>
        </p:nvSpPr>
        <p:spPr bwMode="auto">
          <a:xfrm>
            <a:off x="5314578" y="2827734"/>
            <a:ext cx="1166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Sitka Text" panose="02000505000000020004" pitchFamily="2" charset="0"/>
                <a:ea typeface="宋体" pitchFamily="2" charset="-122"/>
              </a:rPr>
              <a:t>DFS(1)</a:t>
            </a:r>
            <a:endParaRPr lang="en-US" altLang="zh-CN" sz="24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2" name="Text Box 28"/>
          <p:cNvSpPr txBox="1">
            <a:spLocks noChangeArrowheads="1"/>
          </p:cNvSpPr>
          <p:nvPr/>
        </p:nvSpPr>
        <p:spPr bwMode="auto">
          <a:xfrm>
            <a:off x="412378" y="6005909"/>
            <a:ext cx="533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All nodes are marked so graph is connected; red links define a spanning tree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4" name="Text Box 29"/>
          <p:cNvSpPr txBox="1">
            <a:spLocks noChangeArrowheads="1"/>
          </p:cNvSpPr>
          <p:nvPr/>
        </p:nvSpPr>
        <p:spPr bwMode="auto">
          <a:xfrm>
            <a:off x="5222503" y="3659584"/>
            <a:ext cx="160813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All the way 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back to 1.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solidFill>
                  <a:srgbClr val="009900"/>
                </a:solidFill>
                <a:latin typeface="Sitka Text" panose="02000505000000020004" pitchFamily="2" charset="0"/>
                <a:ea typeface="宋体" pitchFamily="2" charset="-122"/>
              </a:rPr>
              <a:t>Done.</a:t>
            </a:r>
            <a:endParaRPr lang="en-US" altLang="zh-CN">
              <a:solidFill>
                <a:srgbClr val="0099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2F321BC-7839-4DE3-BF35-C9EA6631BA6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3619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3619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C970BF9-2966-4FA2-8C6A-7A286CBE90F7}" type="slidenum">
              <a:rPr lang="en-US" altLang="zh-CN" sz="1050"/>
            </a:fld>
            <a:endParaRPr lang="en-US" altLang="zh-CN" sz="1050"/>
          </a:p>
        </p:txBody>
      </p:sp>
      <p:sp>
        <p:nvSpPr>
          <p:cNvPr id="136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700">
                <a:solidFill>
                  <a:srgbClr val="CC0000"/>
                </a:solidFill>
                <a:ea typeface="宋体" pitchFamily="2" charset="-122"/>
              </a:rPr>
              <a:t>Another Use for Depth First Search: Connected Components</a:t>
            </a:r>
            <a:endParaRPr lang="en-US" altLang="zh-CN" sz="2700">
              <a:solidFill>
                <a:srgbClr val="CC0000"/>
              </a:solidFill>
              <a:ea typeface="宋体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875" y="3203575"/>
            <a:ext cx="4132580" cy="3420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E3A6B37-FA70-4A46-B736-1F61065417C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3721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3722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D45B01E-0475-4036-90D0-0B886396F78B}" type="slidenum">
              <a:rPr lang="en-US" altLang="zh-CN" sz="1050"/>
            </a:fld>
            <a:endParaRPr lang="en-US" altLang="zh-CN" sz="1050"/>
          </a:p>
        </p:txBody>
      </p:sp>
      <p:sp>
        <p:nvSpPr>
          <p:cNvPr id="13722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CC0000"/>
                </a:solidFill>
                <a:ea typeface="宋体" pitchFamily="2" charset="-122"/>
              </a:rPr>
              <a:t>Connected Components</a:t>
            </a:r>
            <a:endParaRPr lang="en-US" altLang="zh-CN" smtClean="0">
              <a:solidFill>
                <a:srgbClr val="CC0000"/>
              </a:solidFill>
              <a:ea typeface="宋体" pitchFamily="2" charset="-122"/>
            </a:endParaRPr>
          </a:p>
        </p:txBody>
      </p:sp>
      <p:sp>
        <p:nvSpPr>
          <p:cNvPr id="137222" name="Rectangle 1027"/>
          <p:cNvSpPr>
            <a:spLocks noChangeArrowheads="1"/>
          </p:cNvSpPr>
          <p:nvPr/>
        </p:nvSpPr>
        <p:spPr bwMode="auto">
          <a:xfrm>
            <a:off x="1631156" y="4085035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23" name="Rectangle 1028"/>
          <p:cNvSpPr>
            <a:spLocks noChangeArrowheads="1"/>
          </p:cNvSpPr>
          <p:nvPr/>
        </p:nvSpPr>
        <p:spPr bwMode="auto">
          <a:xfrm>
            <a:off x="1402556" y="5113735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24" name="Rectangle 1029"/>
          <p:cNvSpPr>
            <a:spLocks noChangeArrowheads="1"/>
          </p:cNvSpPr>
          <p:nvPr/>
        </p:nvSpPr>
        <p:spPr bwMode="auto">
          <a:xfrm>
            <a:off x="2602706" y="5456635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25" name="Rectangle 1030"/>
          <p:cNvSpPr>
            <a:spLocks noChangeArrowheads="1"/>
          </p:cNvSpPr>
          <p:nvPr/>
        </p:nvSpPr>
        <p:spPr bwMode="auto">
          <a:xfrm>
            <a:off x="3631406" y="5113735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26" name="Rectangle 1031"/>
          <p:cNvSpPr>
            <a:spLocks noChangeArrowheads="1"/>
          </p:cNvSpPr>
          <p:nvPr/>
        </p:nvSpPr>
        <p:spPr bwMode="auto">
          <a:xfrm>
            <a:off x="2602706" y="4599385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27" name="Rectangle 1032"/>
          <p:cNvSpPr>
            <a:spLocks noChangeArrowheads="1"/>
          </p:cNvSpPr>
          <p:nvPr/>
        </p:nvSpPr>
        <p:spPr bwMode="auto">
          <a:xfrm>
            <a:off x="2717006" y="3856435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28" name="Rectangle 1033"/>
          <p:cNvSpPr>
            <a:spLocks noChangeArrowheads="1"/>
          </p:cNvSpPr>
          <p:nvPr/>
        </p:nvSpPr>
        <p:spPr bwMode="auto">
          <a:xfrm>
            <a:off x="3802856" y="4256485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29" name="Line 1034"/>
          <p:cNvSpPr>
            <a:spLocks noChangeShapeType="1"/>
          </p:cNvSpPr>
          <p:nvPr/>
        </p:nvSpPr>
        <p:spPr bwMode="auto">
          <a:xfrm flipV="1">
            <a:off x="1859756" y="3969544"/>
            <a:ext cx="857250" cy="22979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0" name="Line 1035"/>
          <p:cNvSpPr>
            <a:spLocks noChangeShapeType="1"/>
          </p:cNvSpPr>
          <p:nvPr/>
        </p:nvSpPr>
        <p:spPr bwMode="auto">
          <a:xfrm flipH="1">
            <a:off x="2717006" y="4085035"/>
            <a:ext cx="114300" cy="51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1" name="Line 1036"/>
          <p:cNvSpPr>
            <a:spLocks noChangeShapeType="1"/>
          </p:cNvSpPr>
          <p:nvPr/>
        </p:nvSpPr>
        <p:spPr bwMode="auto">
          <a:xfrm>
            <a:off x="2945606" y="3970735"/>
            <a:ext cx="85725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2" name="Line 1037"/>
          <p:cNvSpPr>
            <a:spLocks noChangeShapeType="1"/>
          </p:cNvSpPr>
          <p:nvPr/>
        </p:nvSpPr>
        <p:spPr bwMode="auto">
          <a:xfrm>
            <a:off x="2831306" y="4713685"/>
            <a:ext cx="800100" cy="51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3" name="Line 1038"/>
          <p:cNvSpPr>
            <a:spLocks noChangeShapeType="1"/>
          </p:cNvSpPr>
          <p:nvPr/>
        </p:nvSpPr>
        <p:spPr bwMode="auto">
          <a:xfrm flipH="1">
            <a:off x="3802856" y="4485085"/>
            <a:ext cx="11430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4" name="Line 1039"/>
          <p:cNvSpPr>
            <a:spLocks noChangeShapeType="1"/>
          </p:cNvSpPr>
          <p:nvPr/>
        </p:nvSpPr>
        <p:spPr bwMode="auto">
          <a:xfrm>
            <a:off x="2717006" y="4827985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5" name="Line 1040"/>
          <p:cNvSpPr>
            <a:spLocks noChangeShapeType="1"/>
          </p:cNvSpPr>
          <p:nvPr/>
        </p:nvSpPr>
        <p:spPr bwMode="auto">
          <a:xfrm flipV="1">
            <a:off x="2831306" y="5285185"/>
            <a:ext cx="800100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6" name="Line 1041"/>
          <p:cNvSpPr>
            <a:spLocks noChangeShapeType="1"/>
          </p:cNvSpPr>
          <p:nvPr/>
        </p:nvSpPr>
        <p:spPr bwMode="auto">
          <a:xfrm>
            <a:off x="1631156" y="5228035"/>
            <a:ext cx="971550" cy="34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7" name="Line 1042"/>
          <p:cNvSpPr>
            <a:spLocks noChangeShapeType="1"/>
          </p:cNvSpPr>
          <p:nvPr/>
        </p:nvSpPr>
        <p:spPr bwMode="auto">
          <a:xfrm flipH="1">
            <a:off x="1516856" y="4313635"/>
            <a:ext cx="228600" cy="800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8" name="Line 1043"/>
          <p:cNvSpPr>
            <a:spLocks noChangeShapeType="1"/>
          </p:cNvSpPr>
          <p:nvPr/>
        </p:nvSpPr>
        <p:spPr bwMode="auto">
          <a:xfrm>
            <a:off x="1859756" y="4313635"/>
            <a:ext cx="80010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39" name="Text Box 1044"/>
          <p:cNvSpPr txBox="1">
            <a:spLocks noChangeArrowheads="1"/>
          </p:cNvSpPr>
          <p:nvPr/>
        </p:nvSpPr>
        <p:spPr bwMode="auto">
          <a:xfrm>
            <a:off x="1345406" y="3799285"/>
            <a:ext cx="2904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0" name="Text Box 1045"/>
          <p:cNvSpPr txBox="1">
            <a:spLocks noChangeArrowheads="1"/>
          </p:cNvSpPr>
          <p:nvPr/>
        </p:nvSpPr>
        <p:spPr bwMode="auto">
          <a:xfrm>
            <a:off x="2419350" y="3543300"/>
            <a:ext cx="3161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1" name="Text Box 1046"/>
          <p:cNvSpPr txBox="1">
            <a:spLocks noChangeArrowheads="1"/>
          </p:cNvSpPr>
          <p:nvPr/>
        </p:nvSpPr>
        <p:spPr bwMode="auto">
          <a:xfrm>
            <a:off x="3848100" y="3886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2" name="Text Box 1047"/>
          <p:cNvSpPr txBox="1">
            <a:spLocks noChangeArrowheads="1"/>
          </p:cNvSpPr>
          <p:nvPr/>
        </p:nvSpPr>
        <p:spPr bwMode="auto">
          <a:xfrm>
            <a:off x="3848100" y="4857750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9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3" name="Text Box 1048"/>
          <p:cNvSpPr txBox="1">
            <a:spLocks noChangeArrowheads="1"/>
          </p:cNvSpPr>
          <p:nvPr/>
        </p:nvSpPr>
        <p:spPr bwMode="auto">
          <a:xfrm>
            <a:off x="2876550" y="5486400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8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4" name="Text Box 1049"/>
          <p:cNvSpPr txBox="1">
            <a:spLocks noChangeArrowheads="1"/>
          </p:cNvSpPr>
          <p:nvPr/>
        </p:nvSpPr>
        <p:spPr bwMode="auto">
          <a:xfrm>
            <a:off x="1562100" y="5257800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5" name="Text Box 1050"/>
          <p:cNvSpPr txBox="1">
            <a:spLocks noChangeArrowheads="1"/>
          </p:cNvSpPr>
          <p:nvPr/>
        </p:nvSpPr>
        <p:spPr bwMode="auto">
          <a:xfrm>
            <a:off x="2209800" y="4313635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10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6" name="Rectangle 1051"/>
          <p:cNvSpPr>
            <a:spLocks noChangeArrowheads="1"/>
          </p:cNvSpPr>
          <p:nvPr/>
        </p:nvSpPr>
        <p:spPr bwMode="auto">
          <a:xfrm>
            <a:off x="4832747" y="5025629"/>
            <a:ext cx="228600" cy="228600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7" name="Rectangle 1052"/>
          <p:cNvSpPr>
            <a:spLocks noChangeArrowheads="1"/>
          </p:cNvSpPr>
          <p:nvPr/>
        </p:nvSpPr>
        <p:spPr bwMode="auto">
          <a:xfrm>
            <a:off x="5861447" y="4682729"/>
            <a:ext cx="228600" cy="228600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8" name="Rectangle 1053"/>
          <p:cNvSpPr>
            <a:spLocks noChangeArrowheads="1"/>
          </p:cNvSpPr>
          <p:nvPr/>
        </p:nvSpPr>
        <p:spPr bwMode="auto">
          <a:xfrm>
            <a:off x="4832747" y="4168379"/>
            <a:ext cx="228600" cy="228600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49" name="Line 1054"/>
          <p:cNvSpPr>
            <a:spLocks noChangeShapeType="1"/>
          </p:cNvSpPr>
          <p:nvPr/>
        </p:nvSpPr>
        <p:spPr bwMode="auto">
          <a:xfrm>
            <a:off x="5061347" y="4282679"/>
            <a:ext cx="800100" cy="51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50" name="Line 1055"/>
          <p:cNvSpPr>
            <a:spLocks noChangeShapeType="1"/>
          </p:cNvSpPr>
          <p:nvPr/>
        </p:nvSpPr>
        <p:spPr bwMode="auto">
          <a:xfrm>
            <a:off x="4947047" y="4396979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51" name="Line 1056"/>
          <p:cNvSpPr>
            <a:spLocks noChangeShapeType="1"/>
          </p:cNvSpPr>
          <p:nvPr/>
        </p:nvSpPr>
        <p:spPr bwMode="auto">
          <a:xfrm flipV="1">
            <a:off x="5061347" y="4854179"/>
            <a:ext cx="800100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37252" name="Text Box 1057"/>
          <p:cNvSpPr txBox="1">
            <a:spLocks noChangeArrowheads="1"/>
          </p:cNvSpPr>
          <p:nvPr/>
        </p:nvSpPr>
        <p:spPr bwMode="auto">
          <a:xfrm>
            <a:off x="6078141" y="4426744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53" name="Text Box 1058"/>
          <p:cNvSpPr txBox="1">
            <a:spLocks noChangeArrowheads="1"/>
          </p:cNvSpPr>
          <p:nvPr/>
        </p:nvSpPr>
        <p:spPr bwMode="auto">
          <a:xfrm>
            <a:off x="5106591" y="5055394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54" name="Text Box 1059"/>
          <p:cNvSpPr txBox="1">
            <a:spLocks noChangeArrowheads="1"/>
          </p:cNvSpPr>
          <p:nvPr/>
        </p:nvSpPr>
        <p:spPr bwMode="auto">
          <a:xfrm>
            <a:off x="4592241" y="3969544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55" name="Rectangle 1060"/>
          <p:cNvSpPr>
            <a:spLocks noChangeArrowheads="1"/>
          </p:cNvSpPr>
          <p:nvPr/>
        </p:nvSpPr>
        <p:spPr bwMode="auto">
          <a:xfrm>
            <a:off x="4113610" y="5685235"/>
            <a:ext cx="228600" cy="228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56" name="Text Box 1061"/>
          <p:cNvSpPr txBox="1">
            <a:spLocks noChangeArrowheads="1"/>
          </p:cNvSpPr>
          <p:nvPr/>
        </p:nvSpPr>
        <p:spPr bwMode="auto">
          <a:xfrm>
            <a:off x="4387454" y="5715000"/>
            <a:ext cx="3962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11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257" name="Text Box 1062"/>
          <p:cNvSpPr txBox="1">
            <a:spLocks noChangeArrowheads="1"/>
          </p:cNvSpPr>
          <p:nvPr/>
        </p:nvSpPr>
        <p:spPr bwMode="auto">
          <a:xfrm>
            <a:off x="1813322" y="6272213"/>
            <a:ext cx="41008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3 connected components are labeled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4320" y="1691640"/>
            <a:ext cx="2628900" cy="1653540"/>
          </a:xfrm>
          <a:prstGeom prst="rect">
            <a:avLst/>
          </a:prstGeom>
        </p:spPr>
      </p:pic>
      <p:sp>
        <p:nvSpPr>
          <p:cNvPr id="13824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F323A15-297C-4A82-8DB4-45319E87905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3824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3824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23622A5-1FAA-476C-8DEB-8D099E52804D}" type="slidenum">
              <a:rPr lang="en-US" altLang="zh-CN" sz="1050"/>
            </a:fld>
            <a:endParaRPr lang="en-US" altLang="zh-CN" sz="1050"/>
          </a:p>
        </p:txBody>
      </p:sp>
      <p:sp>
        <p:nvSpPr>
          <p:cNvPr id="13824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Depth-first Search for Labeling Connected components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38246" name="Text Box 1028"/>
          <p:cNvSpPr txBox="1">
            <a:spLocks noChangeArrowheads="1"/>
          </p:cNvSpPr>
          <p:nvPr/>
        </p:nvSpPr>
        <p:spPr bwMode="auto">
          <a:xfrm>
            <a:off x="548561" y="3347526"/>
            <a:ext cx="6042039" cy="4524315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Main {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: integer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for </a:t>
            </a:r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= 1 to n do M[</a:t>
            </a:r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] := 0; 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//initial label is zero</a:t>
            </a:r>
            <a:endParaRPr lang="en-US" altLang="zh-CN" sz="1800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label := 1;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for </a:t>
            </a:r>
            <a:r>
              <a:rPr lang="en-US" altLang="zh-CN" sz="1800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= 1 to n do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 if M[</a:t>
            </a:r>
            <a:r>
              <a:rPr lang="en-US" altLang="zh-CN" sz="1800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] = 0 then DFS(</a:t>
            </a:r>
            <a:r>
              <a:rPr lang="en-US" altLang="zh-CN" sz="1800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G,M,i,label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);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//if </a:t>
            </a:r>
            <a:r>
              <a:rPr lang="en-US" altLang="zh-CN" sz="1800" dirty="0" err="1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 is not labeled</a:t>
            </a:r>
            <a:endParaRPr lang="en-US" altLang="zh-CN" sz="1800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 label := label + 1;                </a:t>
            </a:r>
            <a:r>
              <a:rPr lang="en-US" altLang="zh-CN" sz="1800" dirty="0" smtClean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           </a:t>
            </a:r>
            <a:r>
              <a:rPr lang="en-US" altLang="zh-CN" sz="1800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//then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call DFS</a:t>
            </a:r>
            <a:endParaRPr lang="en-US" altLang="zh-CN" sz="1800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}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DFS(G[]: node </a:t>
            </a:r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ptr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array, M[]: </a:t>
            </a:r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int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array, </a:t>
            </a:r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i,label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: </a:t>
            </a:r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int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) {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 v : node pointer; 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 M[</a:t>
            </a:r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] := label;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v := G[</a:t>
            </a:r>
            <a:r>
              <a:rPr lang="en-US" altLang="zh-CN" sz="1800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]; 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// first neighbor //</a:t>
            </a:r>
            <a:endParaRPr lang="en-US" altLang="zh-CN" sz="1800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while v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 null do 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// recursive call (below)</a:t>
            </a:r>
            <a:endParaRPr lang="en-US" altLang="zh-CN" sz="1800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solidFill>
                  <a:schemeClr val="accent2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if M[</a:t>
            </a:r>
            <a:r>
              <a:rPr lang="en-US" altLang="zh-CN" sz="1800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v.index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] = 0 then DFS(</a:t>
            </a:r>
            <a:r>
              <a:rPr lang="en-US" altLang="zh-CN" sz="1800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G,M,v.index,label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);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solidFill>
                  <a:schemeClr val="accent2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v := </a:t>
            </a:r>
            <a:r>
              <a:rPr lang="en-US" altLang="zh-CN" sz="1800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v.next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; 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// next neighbor //</a:t>
            </a:r>
            <a:endParaRPr lang="en-US" altLang="zh-CN" sz="1800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}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2D324F9-DE05-45A9-AD18-F539B907EB6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402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40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5EA4014-B1D6-4E78-933F-14F45E970CE7}" type="slidenum">
              <a:rPr lang="en-US" altLang="zh-CN" sz="1050"/>
            </a:fld>
            <a:endParaRPr lang="en-US" altLang="zh-CN" sz="1050"/>
          </a:p>
        </p:txBody>
      </p:sp>
      <p:sp>
        <p:nvSpPr>
          <p:cNvPr id="140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Performance DFS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402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n vertices and m edges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Storage complexity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O(n + m)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Time complexity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O(n + m) 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Linear Time! 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E8C76EF-275D-4A77-BEB6-D8534631B2B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4131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413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CE0A028-845C-4B9E-9C9D-466F31C91591}" type="slidenum">
              <a:rPr lang="en-US" altLang="zh-CN" sz="1050"/>
            </a:fld>
            <a:endParaRPr lang="en-US" altLang="zh-CN" sz="1050"/>
          </a:p>
        </p:txBody>
      </p:sp>
      <p:sp>
        <p:nvSpPr>
          <p:cNvPr id="141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Breadth-First Search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41318" name="Text Box 3"/>
          <p:cNvSpPr txBox="1">
            <a:spLocks noChangeArrowheads="1"/>
          </p:cNvSpPr>
          <p:nvPr/>
        </p:nvSpPr>
        <p:spPr bwMode="auto">
          <a:xfrm>
            <a:off x="1702594" y="37445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>
              <a:ea typeface="宋体" pitchFamily="2" charset="-122"/>
            </a:endParaRPr>
          </a:p>
        </p:txBody>
      </p:sp>
      <p:sp>
        <p:nvSpPr>
          <p:cNvPr id="141319" name="Text Box 4"/>
          <p:cNvSpPr txBox="1">
            <a:spLocks noChangeArrowheads="1"/>
          </p:cNvSpPr>
          <p:nvPr/>
        </p:nvSpPr>
        <p:spPr bwMode="auto">
          <a:xfrm>
            <a:off x="1268760" y="3060066"/>
            <a:ext cx="5040560" cy="2862322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//BFS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Initialize Q to be empty;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Enqueue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(Q,1) and mark 1;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while Q is not empty do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 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:=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Dequeue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(Q);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  for each j adjacent to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do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      if j is not marked then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         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Enqueue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(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Q,j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) and mark j;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end{BFS}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318606E-243F-4A09-87DA-806C77CCC70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42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42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5950BA5-DAE2-4A27-B785-FB0625011F54}" type="slidenum">
              <a:rPr lang="en-US" altLang="zh-CN" sz="1050"/>
            </a:fld>
            <a:endParaRPr lang="en-US" altLang="zh-CN" sz="1050"/>
          </a:p>
        </p:txBody>
      </p:sp>
      <p:sp>
        <p:nvSpPr>
          <p:cNvPr id="142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CC0000"/>
                </a:solidFill>
                <a:ea typeface="宋体" pitchFamily="2" charset="-122"/>
              </a:rPr>
              <a:t>Can do Connectivity using BFS</a:t>
            </a:r>
            <a:endParaRPr lang="en-US" altLang="zh-CN" smtClean="0">
              <a:solidFill>
                <a:srgbClr val="CC0000"/>
              </a:solidFill>
              <a:ea typeface="宋体" pitchFamily="2" charset="-122"/>
            </a:endParaRPr>
          </a:p>
        </p:txBody>
      </p:sp>
      <p:sp>
        <p:nvSpPr>
          <p:cNvPr id="142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109" y="2967388"/>
            <a:ext cx="5829300" cy="428401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Uses a queue to order search</a:t>
            </a:r>
            <a:endParaRPr lang="en-US" altLang="zh-CN" sz="2000" dirty="0">
              <a:ea typeface="宋体" pitchFamily="2" charset="-122"/>
            </a:endParaRPr>
          </a:p>
        </p:txBody>
      </p:sp>
      <p:sp>
        <p:nvSpPr>
          <p:cNvPr id="142343" name="Text Box 4"/>
          <p:cNvSpPr txBox="1">
            <a:spLocks noChangeArrowheads="1"/>
          </p:cNvSpPr>
          <p:nvPr/>
        </p:nvSpPr>
        <p:spPr bwMode="auto">
          <a:xfrm>
            <a:off x="1028700" y="6057900"/>
            <a:ext cx="12682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Queue = </a:t>
            </a:r>
            <a:r>
              <a:rPr lang="en-US" altLang="zh-CN" sz="1800">
                <a:solidFill>
                  <a:srgbClr val="FF3300"/>
                </a:solidFill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>
              <a:solidFill>
                <a:srgbClr val="FF33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44" name="Rectangle 5"/>
          <p:cNvSpPr>
            <a:spLocks noChangeArrowheads="1"/>
          </p:cNvSpPr>
          <p:nvPr/>
        </p:nvSpPr>
        <p:spPr bwMode="auto">
          <a:xfrm>
            <a:off x="2286000" y="4114800"/>
            <a:ext cx="228600" cy="2286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45" name="Rectangle 6"/>
          <p:cNvSpPr>
            <a:spLocks noChangeArrowheads="1"/>
          </p:cNvSpPr>
          <p:nvPr/>
        </p:nvSpPr>
        <p:spPr bwMode="auto">
          <a:xfrm>
            <a:off x="2057400" y="5143500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46" name="Rectangle 7"/>
          <p:cNvSpPr>
            <a:spLocks noChangeArrowheads="1"/>
          </p:cNvSpPr>
          <p:nvPr/>
        </p:nvSpPr>
        <p:spPr bwMode="auto">
          <a:xfrm>
            <a:off x="3257550" y="5486400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47" name="Rectangle 8"/>
          <p:cNvSpPr>
            <a:spLocks noChangeArrowheads="1"/>
          </p:cNvSpPr>
          <p:nvPr/>
        </p:nvSpPr>
        <p:spPr bwMode="auto">
          <a:xfrm>
            <a:off x="4286250" y="5143500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48" name="Rectangle 9"/>
          <p:cNvSpPr>
            <a:spLocks noChangeArrowheads="1"/>
          </p:cNvSpPr>
          <p:nvPr/>
        </p:nvSpPr>
        <p:spPr bwMode="auto">
          <a:xfrm>
            <a:off x="3257550" y="4629150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49" name="Rectangle 10"/>
          <p:cNvSpPr>
            <a:spLocks noChangeArrowheads="1"/>
          </p:cNvSpPr>
          <p:nvPr/>
        </p:nvSpPr>
        <p:spPr bwMode="auto">
          <a:xfrm>
            <a:off x="3371850" y="3886200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50" name="Rectangle 11"/>
          <p:cNvSpPr>
            <a:spLocks noChangeArrowheads="1"/>
          </p:cNvSpPr>
          <p:nvPr/>
        </p:nvSpPr>
        <p:spPr bwMode="auto">
          <a:xfrm>
            <a:off x="4457700" y="4286250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51" name="Line 12"/>
          <p:cNvSpPr>
            <a:spLocks noChangeShapeType="1"/>
          </p:cNvSpPr>
          <p:nvPr/>
        </p:nvSpPr>
        <p:spPr bwMode="auto">
          <a:xfrm flipV="1">
            <a:off x="2514600" y="3999310"/>
            <a:ext cx="857250" cy="22979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52" name="Line 13"/>
          <p:cNvSpPr>
            <a:spLocks noChangeShapeType="1"/>
          </p:cNvSpPr>
          <p:nvPr/>
        </p:nvSpPr>
        <p:spPr bwMode="auto">
          <a:xfrm flipH="1">
            <a:off x="3371850" y="4114800"/>
            <a:ext cx="114300" cy="51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53" name="Line 14"/>
          <p:cNvSpPr>
            <a:spLocks noChangeShapeType="1"/>
          </p:cNvSpPr>
          <p:nvPr/>
        </p:nvSpPr>
        <p:spPr bwMode="auto">
          <a:xfrm>
            <a:off x="3600450" y="4000500"/>
            <a:ext cx="85725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54" name="Line 15"/>
          <p:cNvSpPr>
            <a:spLocks noChangeShapeType="1"/>
          </p:cNvSpPr>
          <p:nvPr/>
        </p:nvSpPr>
        <p:spPr bwMode="auto">
          <a:xfrm>
            <a:off x="3486150" y="4743450"/>
            <a:ext cx="800100" cy="51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55" name="Line 16"/>
          <p:cNvSpPr>
            <a:spLocks noChangeShapeType="1"/>
          </p:cNvSpPr>
          <p:nvPr/>
        </p:nvSpPr>
        <p:spPr bwMode="auto">
          <a:xfrm flipH="1">
            <a:off x="4457700" y="4514850"/>
            <a:ext cx="11430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56" name="Line 17"/>
          <p:cNvSpPr>
            <a:spLocks noChangeShapeType="1"/>
          </p:cNvSpPr>
          <p:nvPr/>
        </p:nvSpPr>
        <p:spPr bwMode="auto">
          <a:xfrm>
            <a:off x="3371850" y="4857750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57" name="Line 18"/>
          <p:cNvSpPr>
            <a:spLocks noChangeShapeType="1"/>
          </p:cNvSpPr>
          <p:nvPr/>
        </p:nvSpPr>
        <p:spPr bwMode="auto">
          <a:xfrm flipV="1">
            <a:off x="3486150" y="5314950"/>
            <a:ext cx="800100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58" name="Line 19"/>
          <p:cNvSpPr>
            <a:spLocks noChangeShapeType="1"/>
          </p:cNvSpPr>
          <p:nvPr/>
        </p:nvSpPr>
        <p:spPr bwMode="auto">
          <a:xfrm>
            <a:off x="2286000" y="5257800"/>
            <a:ext cx="971550" cy="34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59" name="Line 20"/>
          <p:cNvSpPr>
            <a:spLocks noChangeShapeType="1"/>
          </p:cNvSpPr>
          <p:nvPr/>
        </p:nvSpPr>
        <p:spPr bwMode="auto">
          <a:xfrm flipH="1">
            <a:off x="2171700" y="4343400"/>
            <a:ext cx="228600" cy="800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60" name="Line 21"/>
          <p:cNvSpPr>
            <a:spLocks noChangeShapeType="1"/>
          </p:cNvSpPr>
          <p:nvPr/>
        </p:nvSpPr>
        <p:spPr bwMode="auto">
          <a:xfrm>
            <a:off x="2514600" y="4343400"/>
            <a:ext cx="80010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2361" name="Text Box 22"/>
          <p:cNvSpPr txBox="1">
            <a:spLocks noChangeArrowheads="1"/>
          </p:cNvSpPr>
          <p:nvPr/>
        </p:nvSpPr>
        <p:spPr bwMode="auto">
          <a:xfrm>
            <a:off x="2000250" y="3829050"/>
            <a:ext cx="2904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62" name="Text Box 23"/>
          <p:cNvSpPr txBox="1">
            <a:spLocks noChangeArrowheads="1"/>
          </p:cNvSpPr>
          <p:nvPr/>
        </p:nvSpPr>
        <p:spPr bwMode="auto">
          <a:xfrm>
            <a:off x="3074194" y="3573066"/>
            <a:ext cx="3161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63" name="Text Box 24"/>
          <p:cNvSpPr txBox="1">
            <a:spLocks noChangeArrowheads="1"/>
          </p:cNvSpPr>
          <p:nvPr/>
        </p:nvSpPr>
        <p:spPr bwMode="auto">
          <a:xfrm>
            <a:off x="4502944" y="39159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64" name="Text Box 25"/>
          <p:cNvSpPr txBox="1">
            <a:spLocks noChangeArrowheads="1"/>
          </p:cNvSpPr>
          <p:nvPr/>
        </p:nvSpPr>
        <p:spPr bwMode="auto">
          <a:xfrm>
            <a:off x="4502944" y="488751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65" name="Text Box 26"/>
          <p:cNvSpPr txBox="1">
            <a:spLocks noChangeArrowheads="1"/>
          </p:cNvSpPr>
          <p:nvPr/>
        </p:nvSpPr>
        <p:spPr bwMode="auto">
          <a:xfrm>
            <a:off x="3543300" y="5715000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66" name="Text Box 27"/>
          <p:cNvSpPr txBox="1">
            <a:spLocks noChangeArrowheads="1"/>
          </p:cNvSpPr>
          <p:nvPr/>
        </p:nvSpPr>
        <p:spPr bwMode="auto">
          <a:xfrm>
            <a:off x="2216944" y="5287566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367" name="Text Box 28"/>
          <p:cNvSpPr txBox="1">
            <a:spLocks noChangeArrowheads="1"/>
          </p:cNvSpPr>
          <p:nvPr/>
        </p:nvSpPr>
        <p:spPr bwMode="auto">
          <a:xfrm>
            <a:off x="3017044" y="443031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BFC1239-AF09-4809-8E76-54EDF8D2D50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4336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4336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9EB9798-50C0-4A1A-A0F6-7BC580F99656}" type="slidenum">
              <a:rPr lang="en-US" altLang="zh-CN" sz="1050"/>
            </a:fld>
            <a:endParaRPr lang="en-US" altLang="zh-CN" sz="1050"/>
          </a:p>
        </p:txBody>
      </p:sp>
      <p:sp>
        <p:nvSpPr>
          <p:cNvPr id="14336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CC0000"/>
                </a:solidFill>
                <a:ea typeface="宋体" pitchFamily="2" charset="-122"/>
              </a:rPr>
              <a:t>Beginning of example</a:t>
            </a:r>
            <a:endParaRPr lang="en-US" altLang="zh-CN" smtClean="0">
              <a:solidFill>
                <a:srgbClr val="CC0000"/>
              </a:solidFill>
              <a:ea typeface="宋体" pitchFamily="2" charset="-122"/>
            </a:endParaRPr>
          </a:p>
        </p:txBody>
      </p:sp>
      <p:sp>
        <p:nvSpPr>
          <p:cNvPr id="143366" name="Rectangle 1027"/>
          <p:cNvSpPr>
            <a:spLocks noChangeArrowheads="1"/>
          </p:cNvSpPr>
          <p:nvPr/>
        </p:nvSpPr>
        <p:spPr bwMode="auto">
          <a:xfrm>
            <a:off x="2123207" y="3968354"/>
            <a:ext cx="228600" cy="2286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67" name="Rectangle 1028"/>
          <p:cNvSpPr>
            <a:spLocks noChangeArrowheads="1"/>
          </p:cNvSpPr>
          <p:nvPr/>
        </p:nvSpPr>
        <p:spPr bwMode="auto">
          <a:xfrm>
            <a:off x="1894607" y="4997054"/>
            <a:ext cx="228600" cy="2286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68" name="Rectangle 1029"/>
          <p:cNvSpPr>
            <a:spLocks noChangeArrowheads="1"/>
          </p:cNvSpPr>
          <p:nvPr/>
        </p:nvSpPr>
        <p:spPr bwMode="auto">
          <a:xfrm>
            <a:off x="3094757" y="5339954"/>
            <a:ext cx="228600" cy="2286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69" name="Rectangle 1030"/>
          <p:cNvSpPr>
            <a:spLocks noChangeArrowheads="1"/>
          </p:cNvSpPr>
          <p:nvPr/>
        </p:nvSpPr>
        <p:spPr bwMode="auto">
          <a:xfrm>
            <a:off x="4123457" y="4997054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70" name="Rectangle 1031"/>
          <p:cNvSpPr>
            <a:spLocks noChangeArrowheads="1"/>
          </p:cNvSpPr>
          <p:nvPr/>
        </p:nvSpPr>
        <p:spPr bwMode="auto">
          <a:xfrm>
            <a:off x="3094757" y="4482704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71" name="Rectangle 1032"/>
          <p:cNvSpPr>
            <a:spLocks noChangeArrowheads="1"/>
          </p:cNvSpPr>
          <p:nvPr/>
        </p:nvSpPr>
        <p:spPr bwMode="auto">
          <a:xfrm>
            <a:off x="3209057" y="3739754"/>
            <a:ext cx="228600" cy="2286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72" name="Rectangle 1033"/>
          <p:cNvSpPr>
            <a:spLocks noChangeArrowheads="1"/>
          </p:cNvSpPr>
          <p:nvPr/>
        </p:nvSpPr>
        <p:spPr bwMode="auto">
          <a:xfrm>
            <a:off x="4294907" y="4139804"/>
            <a:ext cx="228600" cy="228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73" name="Line 1034"/>
          <p:cNvSpPr>
            <a:spLocks noChangeShapeType="1"/>
          </p:cNvSpPr>
          <p:nvPr/>
        </p:nvSpPr>
        <p:spPr bwMode="auto">
          <a:xfrm flipV="1">
            <a:off x="2351807" y="3852863"/>
            <a:ext cx="857250" cy="229791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74" name="Line 1035"/>
          <p:cNvSpPr>
            <a:spLocks noChangeShapeType="1"/>
          </p:cNvSpPr>
          <p:nvPr/>
        </p:nvSpPr>
        <p:spPr bwMode="auto">
          <a:xfrm flipH="1">
            <a:off x="3209057" y="3968354"/>
            <a:ext cx="114300" cy="51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75" name="Line 1036"/>
          <p:cNvSpPr>
            <a:spLocks noChangeShapeType="1"/>
          </p:cNvSpPr>
          <p:nvPr/>
        </p:nvSpPr>
        <p:spPr bwMode="auto">
          <a:xfrm>
            <a:off x="3437657" y="3854054"/>
            <a:ext cx="85725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76" name="Line 1037"/>
          <p:cNvSpPr>
            <a:spLocks noChangeShapeType="1"/>
          </p:cNvSpPr>
          <p:nvPr/>
        </p:nvSpPr>
        <p:spPr bwMode="auto">
          <a:xfrm>
            <a:off x="3323357" y="4597004"/>
            <a:ext cx="800100" cy="51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77" name="Line 1038"/>
          <p:cNvSpPr>
            <a:spLocks noChangeShapeType="1"/>
          </p:cNvSpPr>
          <p:nvPr/>
        </p:nvSpPr>
        <p:spPr bwMode="auto">
          <a:xfrm flipH="1">
            <a:off x="4294907" y="4368404"/>
            <a:ext cx="11430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78" name="Line 1039"/>
          <p:cNvSpPr>
            <a:spLocks noChangeShapeType="1"/>
          </p:cNvSpPr>
          <p:nvPr/>
        </p:nvSpPr>
        <p:spPr bwMode="auto">
          <a:xfrm>
            <a:off x="3209057" y="4711304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79" name="Line 1040"/>
          <p:cNvSpPr>
            <a:spLocks noChangeShapeType="1"/>
          </p:cNvSpPr>
          <p:nvPr/>
        </p:nvSpPr>
        <p:spPr bwMode="auto">
          <a:xfrm flipV="1">
            <a:off x="3323357" y="5168504"/>
            <a:ext cx="800100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80" name="Line 1041"/>
          <p:cNvSpPr>
            <a:spLocks noChangeShapeType="1"/>
          </p:cNvSpPr>
          <p:nvPr/>
        </p:nvSpPr>
        <p:spPr bwMode="auto">
          <a:xfrm>
            <a:off x="2123207" y="5111354"/>
            <a:ext cx="971550" cy="34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81" name="Line 1042"/>
          <p:cNvSpPr>
            <a:spLocks noChangeShapeType="1"/>
          </p:cNvSpPr>
          <p:nvPr/>
        </p:nvSpPr>
        <p:spPr bwMode="auto">
          <a:xfrm flipH="1">
            <a:off x="2008907" y="4196954"/>
            <a:ext cx="228600" cy="8001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82" name="Line 1043"/>
          <p:cNvSpPr>
            <a:spLocks noChangeShapeType="1"/>
          </p:cNvSpPr>
          <p:nvPr/>
        </p:nvSpPr>
        <p:spPr bwMode="auto">
          <a:xfrm>
            <a:off x="2351807" y="4196954"/>
            <a:ext cx="800100" cy="1143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43383" name="Text Box 1044"/>
          <p:cNvSpPr txBox="1">
            <a:spLocks noChangeArrowheads="1"/>
          </p:cNvSpPr>
          <p:nvPr/>
        </p:nvSpPr>
        <p:spPr bwMode="auto">
          <a:xfrm>
            <a:off x="1837457" y="3682604"/>
            <a:ext cx="2904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84" name="Text Box 1045"/>
          <p:cNvSpPr txBox="1">
            <a:spLocks noChangeArrowheads="1"/>
          </p:cNvSpPr>
          <p:nvPr/>
        </p:nvSpPr>
        <p:spPr bwMode="auto">
          <a:xfrm>
            <a:off x="2911401" y="3426619"/>
            <a:ext cx="3161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85" name="Text Box 1046"/>
          <p:cNvSpPr txBox="1">
            <a:spLocks noChangeArrowheads="1"/>
          </p:cNvSpPr>
          <p:nvPr/>
        </p:nvSpPr>
        <p:spPr bwMode="auto">
          <a:xfrm>
            <a:off x="4340151" y="3769519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86" name="Text Box 1047"/>
          <p:cNvSpPr txBox="1">
            <a:spLocks noChangeArrowheads="1"/>
          </p:cNvSpPr>
          <p:nvPr/>
        </p:nvSpPr>
        <p:spPr bwMode="auto">
          <a:xfrm>
            <a:off x="4340151" y="4741069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87" name="Text Box 1048"/>
          <p:cNvSpPr txBox="1">
            <a:spLocks noChangeArrowheads="1"/>
          </p:cNvSpPr>
          <p:nvPr/>
        </p:nvSpPr>
        <p:spPr bwMode="auto">
          <a:xfrm>
            <a:off x="3400747" y="5655469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88" name="Text Box 1049"/>
          <p:cNvSpPr txBox="1">
            <a:spLocks noChangeArrowheads="1"/>
          </p:cNvSpPr>
          <p:nvPr/>
        </p:nvSpPr>
        <p:spPr bwMode="auto">
          <a:xfrm>
            <a:off x="2054151" y="5141119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89" name="Text Box 1050"/>
          <p:cNvSpPr txBox="1">
            <a:spLocks noChangeArrowheads="1"/>
          </p:cNvSpPr>
          <p:nvPr/>
        </p:nvSpPr>
        <p:spPr bwMode="auto">
          <a:xfrm>
            <a:off x="2854251" y="4283869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90" name="Text Box 1051"/>
          <p:cNvSpPr txBox="1">
            <a:spLocks noChangeArrowheads="1"/>
          </p:cNvSpPr>
          <p:nvPr/>
        </p:nvSpPr>
        <p:spPr bwMode="auto">
          <a:xfrm>
            <a:off x="764704" y="5916216"/>
            <a:ext cx="16914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Queue = </a:t>
            </a:r>
            <a:r>
              <a:rPr lang="en-US" altLang="zh-CN" sz="1800">
                <a:solidFill>
                  <a:srgbClr val="FF3300"/>
                </a:solidFill>
                <a:latin typeface="Sitka Text" panose="02000505000000020004" pitchFamily="2" charset="0"/>
                <a:ea typeface="宋体" pitchFamily="2" charset="-122"/>
              </a:rPr>
              <a:t>2</a:t>
            </a:r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,4,6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391" name="Text Box 1052"/>
          <p:cNvSpPr txBox="1">
            <a:spLocks noChangeArrowheads="1"/>
          </p:cNvSpPr>
          <p:nvPr/>
        </p:nvSpPr>
        <p:spPr bwMode="auto">
          <a:xfrm>
            <a:off x="4123458" y="5695950"/>
            <a:ext cx="257634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Mark while on queue</a:t>
            </a:r>
            <a:b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</a:b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to avoid putting in</a:t>
            </a:r>
            <a:b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</a:b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queue more than once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Breadth-First Search</a:t>
            </a:r>
            <a:endParaRPr lang="zh-CN" altLang="en-US" dirty="0" smtClean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526093" y="2916770"/>
            <a:ext cx="5915025" cy="5801783"/>
          </a:xfrm>
        </p:spPr>
        <p:txBody>
          <a:bodyPr>
            <a:normAutofit/>
          </a:bodyPr>
          <a:lstStyle/>
          <a:p>
            <a:pPr eaLnBrk="1" hangingPunct="1">
              <a:lnSpc>
                <a:spcPct val="20000"/>
              </a:lnSpc>
              <a:buFontTx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void </a:t>
            </a:r>
            <a:r>
              <a:rPr lang="en-US" altLang="zh-CN" sz="1800" dirty="0">
                <a:solidFill>
                  <a:srgbClr val="FF0000"/>
                </a:solidFill>
              </a:rPr>
              <a:t>BFS</a:t>
            </a:r>
            <a:r>
              <a:rPr lang="en-US" altLang="zh-CN" sz="1800" dirty="0"/>
              <a:t>(Graph* G,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start, Queue&lt;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&gt;*Q) {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v, w;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Q-&gt;</a:t>
            </a:r>
            <a:r>
              <a:rPr lang="en-US" altLang="zh-CN" sz="1800" dirty="0" err="1"/>
              <a:t>enqueue</a:t>
            </a:r>
            <a:r>
              <a:rPr lang="en-US" altLang="zh-CN" sz="1800" dirty="0"/>
              <a:t>(start);        </a:t>
            </a:r>
            <a:r>
              <a:rPr lang="en-US" altLang="zh-CN" sz="1800" dirty="0">
                <a:solidFill>
                  <a:srgbClr val="00B050"/>
                </a:solidFill>
              </a:rPr>
              <a:t>// Initialize Q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G-&gt;</a:t>
            </a:r>
            <a:r>
              <a:rPr lang="en-US" altLang="zh-CN" sz="1800" dirty="0" err="1"/>
              <a:t>setMark</a:t>
            </a:r>
            <a:r>
              <a:rPr lang="en-US" altLang="zh-CN" sz="1800" dirty="0"/>
              <a:t>(start, VISITED);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while (Q-&gt;length() != 0) { </a:t>
            </a:r>
            <a:r>
              <a:rPr lang="en-US" altLang="zh-CN" sz="1800" dirty="0">
                <a:solidFill>
                  <a:srgbClr val="00B050"/>
                </a:solidFill>
              </a:rPr>
              <a:t>// Process Q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v = Q-&gt;</a:t>
            </a:r>
            <a:r>
              <a:rPr lang="en-US" altLang="zh-CN" sz="1800" dirty="0" err="1"/>
              <a:t>dequeue</a:t>
            </a:r>
            <a:r>
              <a:rPr lang="en-US" altLang="zh-CN" sz="1800" dirty="0"/>
              <a:t>();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PreVisit</a:t>
            </a:r>
            <a:r>
              <a:rPr lang="en-US" altLang="zh-CN" sz="1800" dirty="0"/>
              <a:t>(G, v);   </a:t>
            </a:r>
            <a:r>
              <a:rPr lang="en-US" altLang="zh-CN" sz="1800" dirty="0">
                <a:solidFill>
                  <a:srgbClr val="00B050"/>
                </a:solidFill>
              </a:rPr>
              <a:t>// Take </a:t>
            </a:r>
            <a:r>
              <a:rPr lang="en-US" altLang="zh-CN" sz="1800" dirty="0" smtClean="0">
                <a:solidFill>
                  <a:srgbClr val="00B050"/>
                </a:solidFill>
              </a:rPr>
              <a:t>some actions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for(w=G-&gt;first(v); w&lt;G-&gt;n(); w=G-&gt;next(</a:t>
            </a:r>
            <a:r>
              <a:rPr lang="en-US" altLang="zh-CN" sz="1800" dirty="0" err="1"/>
              <a:t>v,w</a:t>
            </a:r>
            <a:r>
              <a:rPr lang="en-US" altLang="zh-CN" sz="1800" dirty="0"/>
              <a:t>))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  if (G-&gt;</a:t>
            </a:r>
            <a:r>
              <a:rPr lang="en-US" altLang="zh-CN" sz="1800" dirty="0" err="1"/>
              <a:t>getMark</a:t>
            </a:r>
            <a:r>
              <a:rPr lang="en-US" altLang="zh-CN" sz="1800" dirty="0"/>
              <a:t>(w) == UNVISITED) {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    G-&gt;</a:t>
            </a:r>
            <a:r>
              <a:rPr lang="en-US" altLang="zh-CN" sz="1800" dirty="0" err="1"/>
              <a:t>setMark</a:t>
            </a:r>
            <a:r>
              <a:rPr lang="en-US" altLang="zh-CN" sz="1800" dirty="0"/>
              <a:t>(w, VISITED);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    Q-&gt;</a:t>
            </a:r>
            <a:r>
              <a:rPr lang="en-US" altLang="zh-CN" sz="1800" dirty="0" err="1"/>
              <a:t>enqueue</a:t>
            </a:r>
            <a:r>
              <a:rPr lang="en-US" altLang="zh-CN" sz="1800" dirty="0"/>
              <a:t>(w);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  }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	}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}</a:t>
            </a:r>
            <a:endParaRPr lang="en-US" altLang="zh-CN" sz="1800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82311D75-16BC-4A6C-A0BC-4678B6B45264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A1328E2-3371-464F-9FBA-62F246E28EE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44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144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4B5D191-846B-476F-B71A-F0A7601E481C}" type="slidenum">
              <a:rPr lang="en-US" altLang="zh-CN" sz="1050"/>
            </a:fld>
            <a:endParaRPr lang="en-US" altLang="zh-CN" sz="1050"/>
          </a:p>
        </p:txBody>
      </p:sp>
      <p:sp>
        <p:nvSpPr>
          <p:cNvPr id="144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CC0000"/>
                </a:solidFill>
                <a:ea typeface="宋体" pitchFamily="2" charset="-122"/>
              </a:rPr>
              <a:t>Depth-First vs Breadth-First</a:t>
            </a:r>
            <a:endParaRPr lang="en-US" altLang="zh-CN" smtClean="0">
              <a:solidFill>
                <a:srgbClr val="CC0000"/>
              </a:solidFill>
              <a:ea typeface="宋体" pitchFamily="2" charset="-122"/>
            </a:endParaRPr>
          </a:p>
        </p:txBody>
      </p:sp>
      <p:sp>
        <p:nvSpPr>
          <p:cNvPr id="1443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Depth-First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Stack or recursion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Many applications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Breadth-First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Queue (recursion no help)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Can be used to find shortest paths from the start </a:t>
            </a:r>
            <a:r>
              <a:rPr lang="en-US" altLang="zh-CN" dirty="0" smtClean="0">
                <a:ea typeface="宋体" pitchFamily="2" charset="-122"/>
              </a:rPr>
              <a:t>vertex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Topological </a:t>
            </a:r>
            <a:r>
              <a:rPr lang="en-US" altLang="zh-CN" dirty="0"/>
              <a:t>Sort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Section </a:t>
            </a:r>
            <a:r>
              <a:rPr lang="en-US" altLang="zh-CN" sz="2000" dirty="0" smtClean="0"/>
              <a:t>9.2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170656-7B48-4BE4-A927-C9F357CE679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Topological Sort</a:t>
            </a:r>
            <a:endParaRPr lang="zh-CN" altLang="en-US" smtClean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502365" y="2195591"/>
            <a:ext cx="5796160" cy="4363484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endParaRPr lang="en-US" altLang="zh-CN" sz="2000" dirty="0"/>
          </a:p>
          <a:p>
            <a:r>
              <a:rPr lang="en-US" altLang="zh-CN" sz="2000" dirty="0"/>
              <a:t>Given a series of tasks such as classes or jobs with </a:t>
            </a:r>
            <a:r>
              <a:rPr lang="en-US" altLang="zh-CN" sz="2000" dirty="0">
                <a:solidFill>
                  <a:srgbClr val="FF0000"/>
                </a:solidFill>
              </a:rPr>
              <a:t>prerequisite constraints</a:t>
            </a:r>
            <a:r>
              <a:rPr lang="en-US" altLang="zh-CN" sz="2000" dirty="0"/>
              <a:t>, one task cannot be started until its prerequisites are completed</a:t>
            </a:r>
            <a:r>
              <a:rPr lang="en-US" altLang="zh-CN" sz="2000" dirty="0" smtClean="0"/>
              <a:t>.</a:t>
            </a:r>
            <a:endParaRPr lang="en-US" altLang="zh-CN" sz="2000" dirty="0" smtClean="0"/>
          </a:p>
          <a:p>
            <a:endParaRPr lang="en-US" altLang="zh-CN" sz="1400" dirty="0"/>
          </a:p>
          <a:p>
            <a:r>
              <a:rPr lang="en-US" altLang="zh-CN" sz="2000" dirty="0"/>
              <a:t>Organize the tasks into a </a:t>
            </a:r>
            <a:r>
              <a:rPr lang="en-US" altLang="zh-CN" sz="2000" dirty="0">
                <a:solidFill>
                  <a:srgbClr val="FF0000"/>
                </a:solidFill>
              </a:rPr>
              <a:t>linear order </a:t>
            </a:r>
            <a:r>
              <a:rPr lang="en-US" altLang="zh-CN" sz="2000" dirty="0"/>
              <a:t>so that they are completed one at a time without violating any prerequisites.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A0B0564C-7C7E-49E1-83FA-1D333EA82CF9}" type="slidenum">
              <a:rPr lang="en-US" altLang="zh-CN" smtClean="0"/>
            </a:fld>
            <a:endParaRPr lang="en-US" altLang="zh-CN" smtClean="0"/>
          </a:p>
        </p:txBody>
      </p:sp>
      <p:grpSp>
        <p:nvGrpSpPr>
          <p:cNvPr id="12" name="Group 11"/>
          <p:cNvGrpSpPr/>
          <p:nvPr/>
        </p:nvGrpSpPr>
        <p:grpSpPr bwMode="auto">
          <a:xfrm>
            <a:off x="661781" y="5693257"/>
            <a:ext cx="5596370" cy="1843533"/>
            <a:chOff x="1711993" y="4876151"/>
            <a:chExt cx="5597233" cy="1844258"/>
          </a:xfrm>
        </p:grpSpPr>
        <p:sp>
          <p:nvSpPr>
            <p:cNvPr id="14" name="Oval 1"/>
            <p:cNvSpPr/>
            <p:nvPr/>
          </p:nvSpPr>
          <p:spPr>
            <a:xfrm>
              <a:off x="1711993" y="4950345"/>
              <a:ext cx="2376853" cy="6606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Sitka Text" panose="02000505000000020004" pitchFamily="2" charset="0"/>
                </a:rPr>
                <a:t>Programming C++</a:t>
              </a:r>
              <a:endParaRPr lang="zh-CN" altLang="en-US" dirty="0">
                <a:solidFill>
                  <a:schemeClr val="tx1"/>
                </a:solidFill>
                <a:latin typeface="Sitka Text" panose="02000505000000020004" pitchFamily="2" charset="0"/>
              </a:endParaRPr>
            </a:p>
          </p:txBody>
        </p:sp>
        <p:sp>
          <p:nvSpPr>
            <p:cNvPr id="15" name="Oval 5"/>
            <p:cNvSpPr/>
            <p:nvPr/>
          </p:nvSpPr>
          <p:spPr>
            <a:xfrm>
              <a:off x="5292790" y="4876151"/>
              <a:ext cx="2016436" cy="6606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Sitka Text" panose="02000505000000020004" pitchFamily="2" charset="0"/>
                </a:rPr>
                <a:t>Data Mining</a:t>
              </a:r>
              <a:endParaRPr lang="zh-CN" altLang="en-US" dirty="0">
                <a:solidFill>
                  <a:schemeClr val="tx1"/>
                </a:solidFill>
                <a:latin typeface="Sitka Text" panose="02000505000000020004" pitchFamily="2" charset="0"/>
              </a:endParaRPr>
            </a:p>
          </p:txBody>
        </p:sp>
        <p:sp>
          <p:nvSpPr>
            <p:cNvPr id="16" name="Oval 6"/>
            <p:cNvSpPr/>
            <p:nvPr/>
          </p:nvSpPr>
          <p:spPr>
            <a:xfrm>
              <a:off x="3566912" y="5975579"/>
              <a:ext cx="2010085" cy="7448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Sitka Text" panose="02000505000000020004" pitchFamily="2" charset="0"/>
                </a:rPr>
                <a:t>Data Structure</a:t>
              </a:r>
              <a:endParaRPr lang="zh-CN" altLang="en-US" dirty="0">
                <a:solidFill>
                  <a:schemeClr val="tx1"/>
                </a:solidFill>
                <a:latin typeface="Sitka Text" panose="02000505000000020004" pitchFamily="2" charset="0"/>
              </a:endParaRPr>
            </a:p>
          </p:txBody>
        </p:sp>
        <p:cxnSp>
          <p:nvCxnSpPr>
            <p:cNvPr id="17" name="Straight Arrow Connector 3"/>
            <p:cNvCxnSpPr>
              <a:stCxn id="14" idx="5"/>
              <a:endCxn id="16" idx="1"/>
            </p:cNvCxnSpPr>
            <p:nvPr/>
          </p:nvCxnSpPr>
          <p:spPr>
            <a:xfrm>
              <a:off x="3740765" y="5514254"/>
              <a:ext cx="120518" cy="57040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9"/>
            <p:cNvCxnSpPr>
              <a:stCxn id="14" idx="6"/>
              <a:endCxn id="15" idx="2"/>
            </p:cNvCxnSpPr>
            <p:nvPr/>
          </p:nvCxnSpPr>
          <p:spPr>
            <a:xfrm flipV="1">
              <a:off x="4088846" y="5206481"/>
              <a:ext cx="1203944" cy="7419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2"/>
            <p:cNvCxnSpPr>
              <a:stCxn id="16" idx="7"/>
              <a:endCxn id="15" idx="3"/>
            </p:cNvCxnSpPr>
            <p:nvPr/>
          </p:nvCxnSpPr>
          <p:spPr>
            <a:xfrm flipV="1">
              <a:off x="5282627" y="5440060"/>
              <a:ext cx="305464" cy="64459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7BC7AA-EE2F-4E5D-8336-902B16CF4012}" type="datetime1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</a:t>
            </a:r>
            <a:r>
              <a:rPr lang="en-US" altLang="zh-CN" dirty="0" smtClean="0"/>
              <a:t>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r>
              <a:rPr lang="en-US" altLang="zh-CN" dirty="0"/>
              <a:t>Given a </a:t>
            </a:r>
            <a:r>
              <a:rPr lang="en-US" altLang="zh-CN" dirty="0">
                <a:solidFill>
                  <a:srgbClr val="FF0000"/>
                </a:solidFill>
              </a:rPr>
              <a:t>digraph</a:t>
            </a:r>
            <a:r>
              <a:rPr lang="en-US" altLang="zh-CN" dirty="0"/>
              <a:t> G = (V, E), find a linear ordering of </a:t>
            </a:r>
            <a:r>
              <a:rPr lang="en-US" altLang="zh-CN" dirty="0" smtClean="0"/>
              <a:t>its </a:t>
            </a:r>
            <a:r>
              <a:rPr lang="en-US" altLang="zh-CN" dirty="0"/>
              <a:t>vertices such that: </a:t>
            </a:r>
            <a:endParaRPr lang="en-US" altLang="zh-CN" dirty="0"/>
          </a:p>
          <a:p>
            <a:pPr lvl="1"/>
            <a:r>
              <a:rPr lang="en-US" altLang="zh-CN" dirty="0" smtClean="0"/>
              <a:t>for </a:t>
            </a:r>
            <a:r>
              <a:rPr lang="en-US" altLang="zh-CN" dirty="0"/>
              <a:t>any edge (v, w) in E, v precedes w in the ordering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015D2F-0D6E-4FFA-92D1-6A8497241EF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7" name="Oval 4"/>
          <p:cNvSpPr>
            <a:spLocks noChangeArrowheads="1"/>
          </p:cNvSpPr>
          <p:nvPr/>
        </p:nvSpPr>
        <p:spPr bwMode="auto">
          <a:xfrm>
            <a:off x="1017984" y="555711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8" name="Oval 5"/>
          <p:cNvSpPr>
            <a:spLocks noChangeArrowheads="1"/>
          </p:cNvSpPr>
          <p:nvPr/>
        </p:nvSpPr>
        <p:spPr bwMode="auto">
          <a:xfrm>
            <a:off x="2014538" y="493204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9" name="Oval 6"/>
          <p:cNvSpPr>
            <a:spLocks noChangeArrowheads="1"/>
          </p:cNvSpPr>
          <p:nvPr/>
        </p:nvSpPr>
        <p:spPr bwMode="auto">
          <a:xfrm>
            <a:off x="3729038" y="516064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0" name="Oval 7"/>
          <p:cNvSpPr>
            <a:spLocks noChangeArrowheads="1"/>
          </p:cNvSpPr>
          <p:nvPr/>
        </p:nvSpPr>
        <p:spPr bwMode="auto">
          <a:xfrm>
            <a:off x="3418284" y="618576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1" name="Oval 8"/>
          <p:cNvSpPr>
            <a:spLocks noChangeArrowheads="1"/>
          </p:cNvSpPr>
          <p:nvPr/>
        </p:nvSpPr>
        <p:spPr bwMode="auto">
          <a:xfrm>
            <a:off x="1818084" y="612861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62" name="AutoShape 24"/>
          <p:cNvCxnSpPr>
            <a:cxnSpLocks noChangeShapeType="1"/>
            <a:stCxn id="59" idx="4"/>
            <a:endCxn id="60" idx="0"/>
          </p:cNvCxnSpPr>
          <p:nvPr/>
        </p:nvCxnSpPr>
        <p:spPr bwMode="auto">
          <a:xfrm flipH="1">
            <a:off x="3618309" y="5560691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25"/>
          <p:cNvCxnSpPr>
            <a:cxnSpLocks noChangeShapeType="1"/>
            <a:stCxn id="61" idx="6"/>
            <a:endCxn id="60" idx="2"/>
          </p:cNvCxnSpPr>
          <p:nvPr/>
        </p:nvCxnSpPr>
        <p:spPr bwMode="auto">
          <a:xfrm>
            <a:off x="2218134" y="6328643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26"/>
          <p:cNvCxnSpPr>
            <a:cxnSpLocks noChangeShapeType="1"/>
            <a:stCxn id="57" idx="5"/>
            <a:endCxn id="61" idx="1"/>
          </p:cNvCxnSpPr>
          <p:nvPr/>
        </p:nvCxnSpPr>
        <p:spPr bwMode="auto">
          <a:xfrm>
            <a:off x="1359694" y="5898828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27"/>
          <p:cNvCxnSpPr>
            <a:cxnSpLocks noChangeShapeType="1"/>
            <a:stCxn id="59" idx="3"/>
            <a:endCxn id="61" idx="7"/>
          </p:cNvCxnSpPr>
          <p:nvPr/>
        </p:nvCxnSpPr>
        <p:spPr bwMode="auto">
          <a:xfrm flipH="1">
            <a:off x="2159794" y="5502350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28"/>
          <p:cNvCxnSpPr>
            <a:cxnSpLocks noChangeShapeType="1"/>
            <a:stCxn id="58" idx="6"/>
            <a:endCxn id="59" idx="2"/>
          </p:cNvCxnSpPr>
          <p:nvPr/>
        </p:nvCxnSpPr>
        <p:spPr bwMode="auto">
          <a:xfrm>
            <a:off x="2414588" y="5132065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29"/>
          <p:cNvCxnSpPr>
            <a:cxnSpLocks noChangeShapeType="1"/>
            <a:stCxn id="57" idx="7"/>
            <a:endCxn id="58" idx="2"/>
          </p:cNvCxnSpPr>
          <p:nvPr/>
        </p:nvCxnSpPr>
        <p:spPr bwMode="auto">
          <a:xfrm flipV="1">
            <a:off x="1359694" y="5132066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Oval 7"/>
          <p:cNvSpPr>
            <a:spLocks noChangeArrowheads="1"/>
          </p:cNvSpPr>
          <p:nvPr/>
        </p:nvSpPr>
        <p:spPr bwMode="auto">
          <a:xfrm>
            <a:off x="4505834" y="595716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</a:t>
            </a:r>
            <a:r>
              <a:rPr lang="en-US" altLang="zh-CN" dirty="0" smtClean="0"/>
              <a:t>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Any</a:t>
            </a:r>
            <a:r>
              <a:rPr lang="en-US" altLang="zh-CN" dirty="0"/>
              <a:t> linear ordering in </a:t>
            </a:r>
            <a:r>
              <a:rPr lang="en-US" altLang="zh-CN" dirty="0" smtClean="0"/>
              <a:t>which all </a:t>
            </a:r>
            <a:r>
              <a:rPr lang="en-US" altLang="zh-CN" dirty="0"/>
              <a:t>the arrows go to the </a:t>
            </a:r>
            <a:r>
              <a:rPr lang="en-US" altLang="zh-CN" dirty="0" smtClean="0"/>
              <a:t>right is </a:t>
            </a:r>
            <a:r>
              <a:rPr lang="en-US" altLang="zh-CN" dirty="0"/>
              <a:t>a valid solution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BB49B2-8658-4239-A5F7-5F80E78833D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7" name="Oval 4"/>
          <p:cNvSpPr>
            <a:spLocks noChangeArrowheads="1"/>
          </p:cNvSpPr>
          <p:nvPr/>
        </p:nvSpPr>
        <p:spPr bwMode="auto">
          <a:xfrm>
            <a:off x="1301353" y="418896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8" name="Oval 5"/>
          <p:cNvSpPr>
            <a:spLocks noChangeArrowheads="1"/>
          </p:cNvSpPr>
          <p:nvPr/>
        </p:nvSpPr>
        <p:spPr bwMode="auto">
          <a:xfrm>
            <a:off x="2297907" y="356388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9" name="Oval 6"/>
          <p:cNvSpPr>
            <a:spLocks noChangeArrowheads="1"/>
          </p:cNvSpPr>
          <p:nvPr/>
        </p:nvSpPr>
        <p:spPr bwMode="auto">
          <a:xfrm>
            <a:off x="4012407" y="379248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0" name="Oval 7"/>
          <p:cNvSpPr>
            <a:spLocks noChangeArrowheads="1"/>
          </p:cNvSpPr>
          <p:nvPr/>
        </p:nvSpPr>
        <p:spPr bwMode="auto">
          <a:xfrm>
            <a:off x="3701653" y="481761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1" name="Oval 8"/>
          <p:cNvSpPr>
            <a:spLocks noChangeArrowheads="1"/>
          </p:cNvSpPr>
          <p:nvPr/>
        </p:nvSpPr>
        <p:spPr bwMode="auto">
          <a:xfrm>
            <a:off x="2101453" y="476046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62" name="AutoShape 24"/>
          <p:cNvCxnSpPr>
            <a:cxnSpLocks noChangeShapeType="1"/>
            <a:stCxn id="59" idx="4"/>
            <a:endCxn id="60" idx="0"/>
          </p:cNvCxnSpPr>
          <p:nvPr/>
        </p:nvCxnSpPr>
        <p:spPr bwMode="auto">
          <a:xfrm flipH="1">
            <a:off x="3901678" y="4192539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25"/>
          <p:cNvCxnSpPr>
            <a:cxnSpLocks noChangeShapeType="1"/>
            <a:stCxn id="61" idx="6"/>
            <a:endCxn id="60" idx="2"/>
          </p:cNvCxnSpPr>
          <p:nvPr/>
        </p:nvCxnSpPr>
        <p:spPr bwMode="auto">
          <a:xfrm>
            <a:off x="2501503" y="4960491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26"/>
          <p:cNvCxnSpPr>
            <a:cxnSpLocks noChangeShapeType="1"/>
            <a:stCxn id="57" idx="5"/>
            <a:endCxn id="61" idx="1"/>
          </p:cNvCxnSpPr>
          <p:nvPr/>
        </p:nvCxnSpPr>
        <p:spPr bwMode="auto">
          <a:xfrm>
            <a:off x="1643063" y="4530676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27"/>
          <p:cNvCxnSpPr>
            <a:cxnSpLocks noChangeShapeType="1"/>
            <a:stCxn id="59" idx="3"/>
            <a:endCxn id="61" idx="7"/>
          </p:cNvCxnSpPr>
          <p:nvPr/>
        </p:nvCxnSpPr>
        <p:spPr bwMode="auto">
          <a:xfrm flipH="1">
            <a:off x="2443163" y="4134198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28"/>
          <p:cNvCxnSpPr>
            <a:cxnSpLocks noChangeShapeType="1"/>
            <a:stCxn id="58" idx="6"/>
            <a:endCxn id="59" idx="2"/>
          </p:cNvCxnSpPr>
          <p:nvPr/>
        </p:nvCxnSpPr>
        <p:spPr bwMode="auto">
          <a:xfrm>
            <a:off x="2697957" y="3763913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29"/>
          <p:cNvCxnSpPr>
            <a:cxnSpLocks noChangeShapeType="1"/>
            <a:stCxn id="57" idx="7"/>
            <a:endCxn id="58" idx="2"/>
          </p:cNvCxnSpPr>
          <p:nvPr/>
        </p:nvCxnSpPr>
        <p:spPr bwMode="auto">
          <a:xfrm flipV="1">
            <a:off x="1643063" y="3763914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Oval 7"/>
          <p:cNvSpPr>
            <a:spLocks noChangeArrowheads="1"/>
          </p:cNvSpPr>
          <p:nvPr/>
        </p:nvSpPr>
        <p:spPr bwMode="auto">
          <a:xfrm>
            <a:off x="4789203" y="458901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1" name="Arc 37"/>
          <p:cNvSpPr/>
          <p:nvPr/>
        </p:nvSpPr>
        <p:spPr bwMode="auto">
          <a:xfrm flipH="1">
            <a:off x="2116853" y="6192532"/>
            <a:ext cx="1396287" cy="495049"/>
          </a:xfrm>
          <a:custGeom>
            <a:avLst/>
            <a:gdLst>
              <a:gd name="T0" fmla="*/ 0 w 43154"/>
              <a:gd name="T1" fmla="*/ 483910 h 21600"/>
              <a:gd name="T2" fmla="*/ 1168400 w 43154"/>
              <a:gd name="T3" fmla="*/ 517525 h 21600"/>
              <a:gd name="T4" fmla="*/ 583577 w 43154"/>
              <a:gd name="T5" fmla="*/ 5175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54" h="21600" fill="none" extrusionOk="0">
                <a:moveTo>
                  <a:pt x="-1" y="20196"/>
                </a:moveTo>
                <a:cubicBezTo>
                  <a:pt x="739" y="8836"/>
                  <a:pt x="10169" y="0"/>
                  <a:pt x="21554" y="0"/>
                </a:cubicBezTo>
                <a:cubicBezTo>
                  <a:pt x="33483" y="0"/>
                  <a:pt x="43154" y="9670"/>
                  <a:pt x="43154" y="21600"/>
                </a:cubicBezTo>
              </a:path>
              <a:path w="43154" h="21600" stroke="0" extrusionOk="0">
                <a:moveTo>
                  <a:pt x="-1" y="20196"/>
                </a:moveTo>
                <a:cubicBezTo>
                  <a:pt x="739" y="8836"/>
                  <a:pt x="10169" y="0"/>
                  <a:pt x="21554" y="0"/>
                </a:cubicBezTo>
                <a:cubicBezTo>
                  <a:pt x="33483" y="0"/>
                  <a:pt x="43154" y="9670"/>
                  <a:pt x="43154" y="21600"/>
                </a:cubicBezTo>
                <a:lnTo>
                  <a:pt x="21554" y="21600"/>
                </a:lnTo>
                <a:lnTo>
                  <a:pt x="-1" y="20196"/>
                </a:lnTo>
                <a:close/>
              </a:path>
            </a:pathLst>
          </a:custGeom>
          <a:ln w="190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Arc 39"/>
          <p:cNvSpPr/>
          <p:nvPr/>
        </p:nvSpPr>
        <p:spPr bwMode="auto">
          <a:xfrm flipH="1">
            <a:off x="3751712" y="6200022"/>
            <a:ext cx="1317468" cy="456824"/>
          </a:xfrm>
          <a:custGeom>
            <a:avLst/>
            <a:gdLst>
              <a:gd name="T0" fmla="*/ 0 w 43089"/>
              <a:gd name="T1" fmla="*/ 428988 h 21600"/>
              <a:gd name="T2" fmla="*/ 1154113 w 43089"/>
              <a:gd name="T3" fmla="*/ 423317 h 21600"/>
              <a:gd name="T4" fmla="*/ 577311 w 43089"/>
              <a:gd name="T5" fmla="*/ 45878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089" h="21600" fill="none" extrusionOk="0">
                <a:moveTo>
                  <a:pt x="-1" y="20196"/>
                </a:moveTo>
                <a:cubicBezTo>
                  <a:pt x="739" y="8836"/>
                  <a:pt x="10169" y="0"/>
                  <a:pt x="21554" y="0"/>
                </a:cubicBezTo>
                <a:cubicBezTo>
                  <a:pt x="32835" y="0"/>
                  <a:pt x="42217" y="8682"/>
                  <a:pt x="43089" y="19929"/>
                </a:cubicBezTo>
              </a:path>
              <a:path w="43089" h="21600" stroke="0" extrusionOk="0">
                <a:moveTo>
                  <a:pt x="-1" y="20196"/>
                </a:moveTo>
                <a:cubicBezTo>
                  <a:pt x="739" y="8836"/>
                  <a:pt x="10169" y="0"/>
                  <a:pt x="21554" y="0"/>
                </a:cubicBezTo>
                <a:cubicBezTo>
                  <a:pt x="32835" y="0"/>
                  <a:pt x="42217" y="8682"/>
                  <a:pt x="43089" y="19929"/>
                </a:cubicBezTo>
                <a:lnTo>
                  <a:pt x="21554" y="21600"/>
                </a:lnTo>
                <a:lnTo>
                  <a:pt x="-1" y="20196"/>
                </a:lnTo>
                <a:close/>
              </a:path>
            </a:pathLst>
          </a:custGeom>
          <a:ln w="190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Freeform 43"/>
          <p:cNvSpPr/>
          <p:nvPr/>
        </p:nvSpPr>
        <p:spPr bwMode="auto">
          <a:xfrm>
            <a:off x="1368279" y="6099038"/>
            <a:ext cx="2952328" cy="557808"/>
          </a:xfrm>
          <a:custGeom>
            <a:avLst/>
            <a:gdLst>
              <a:gd name="T0" fmla="*/ 0 w 1632"/>
              <a:gd name="T1" fmla="*/ 698500 h 440"/>
              <a:gd name="T2" fmla="*/ 476250 w 1632"/>
              <a:gd name="T3" fmla="*/ 195263 h 440"/>
              <a:gd name="T4" fmla="*/ 1292225 w 1632"/>
              <a:gd name="T5" fmla="*/ 4763 h 440"/>
              <a:gd name="T6" fmla="*/ 2133600 w 1632"/>
              <a:gd name="T7" fmla="*/ 165100 h 440"/>
              <a:gd name="T8" fmla="*/ 2590800 w 1632"/>
              <a:gd name="T9" fmla="*/ 698500 h 4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32" h="440">
                <a:moveTo>
                  <a:pt x="0" y="440"/>
                </a:moveTo>
                <a:cubicBezTo>
                  <a:pt x="50" y="387"/>
                  <a:pt x="164" y="196"/>
                  <a:pt x="300" y="123"/>
                </a:cubicBezTo>
                <a:cubicBezTo>
                  <a:pt x="436" y="50"/>
                  <a:pt x="640" y="6"/>
                  <a:pt x="814" y="3"/>
                </a:cubicBezTo>
                <a:cubicBezTo>
                  <a:pt x="988" y="0"/>
                  <a:pt x="1208" y="31"/>
                  <a:pt x="1344" y="104"/>
                </a:cubicBezTo>
                <a:cubicBezTo>
                  <a:pt x="1480" y="177"/>
                  <a:pt x="1556" y="304"/>
                  <a:pt x="1632" y="440"/>
                </a:cubicBezTo>
              </a:path>
            </a:pathLst>
          </a:cu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54487" y="6727688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4" name="Oval 4"/>
          <p:cNvSpPr>
            <a:spLocks noChangeArrowheads="1"/>
          </p:cNvSpPr>
          <p:nvPr/>
        </p:nvSpPr>
        <p:spPr bwMode="auto">
          <a:xfrm>
            <a:off x="1130953" y="6651825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5" name="Oval 5"/>
          <p:cNvSpPr>
            <a:spLocks noChangeArrowheads="1"/>
          </p:cNvSpPr>
          <p:nvPr/>
        </p:nvSpPr>
        <p:spPr bwMode="auto">
          <a:xfrm>
            <a:off x="1902225" y="665837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6" name="Oval 7"/>
          <p:cNvSpPr>
            <a:spLocks noChangeArrowheads="1"/>
          </p:cNvSpPr>
          <p:nvPr/>
        </p:nvSpPr>
        <p:spPr bwMode="auto">
          <a:xfrm>
            <a:off x="2676045" y="6651825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7" name="Oval 6"/>
          <p:cNvSpPr>
            <a:spLocks noChangeArrowheads="1"/>
          </p:cNvSpPr>
          <p:nvPr/>
        </p:nvSpPr>
        <p:spPr bwMode="auto">
          <a:xfrm>
            <a:off x="3447317" y="665030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8" name="Oval 8"/>
          <p:cNvSpPr>
            <a:spLocks noChangeArrowheads="1"/>
          </p:cNvSpPr>
          <p:nvPr/>
        </p:nvSpPr>
        <p:spPr bwMode="auto">
          <a:xfrm>
            <a:off x="4202511" y="6653274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9" name="Oval 7"/>
          <p:cNvSpPr>
            <a:spLocks noChangeArrowheads="1"/>
          </p:cNvSpPr>
          <p:nvPr/>
        </p:nvSpPr>
        <p:spPr bwMode="auto">
          <a:xfrm>
            <a:off x="4948523" y="665030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9" name="直接箭头连接符 8"/>
          <p:cNvCxnSpPr>
            <a:stCxn id="84" idx="6"/>
            <a:endCxn id="85" idx="2"/>
          </p:cNvCxnSpPr>
          <p:nvPr/>
        </p:nvCxnSpPr>
        <p:spPr>
          <a:xfrm>
            <a:off x="1531003" y="6851850"/>
            <a:ext cx="371222" cy="654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88" idx="2"/>
          </p:cNvCxnSpPr>
          <p:nvPr/>
        </p:nvCxnSpPr>
        <p:spPr>
          <a:xfrm>
            <a:off x="3879851" y="6850325"/>
            <a:ext cx="322660" cy="2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88" idx="6"/>
            <a:endCxn id="89" idx="2"/>
          </p:cNvCxnSpPr>
          <p:nvPr/>
        </p:nvCxnSpPr>
        <p:spPr>
          <a:xfrm flipV="1">
            <a:off x="4602561" y="6850325"/>
            <a:ext cx="345962" cy="2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 Box 52"/>
          <p:cNvSpPr txBox="1">
            <a:spLocks noChangeArrowheads="1"/>
          </p:cNvSpPr>
          <p:nvPr/>
        </p:nvSpPr>
        <p:spPr bwMode="auto">
          <a:xfrm>
            <a:off x="569116" y="7380312"/>
            <a:ext cx="57197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Note that F can go anywhere in this list because it is not connected</a:t>
            </a:r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. Also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the solution is not unique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.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2857621" y="5366967"/>
            <a:ext cx="303094" cy="576064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3123795" y="5391229"/>
            <a:ext cx="1949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Topological Sort</a:t>
            </a:r>
            <a:endParaRPr lang="zh-CN" altLang="en-US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</a:t>
            </a:r>
            <a:r>
              <a:rPr lang="en-US" altLang="zh-CN" dirty="0" smtClean="0"/>
              <a:t>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bad example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C2DD61-D3A2-4060-AFFA-6F4ACC9701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7" name="Oval 4"/>
          <p:cNvSpPr>
            <a:spLocks noChangeArrowheads="1"/>
          </p:cNvSpPr>
          <p:nvPr/>
        </p:nvSpPr>
        <p:spPr bwMode="auto">
          <a:xfrm>
            <a:off x="1316732" y="3799334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8" name="Oval 5"/>
          <p:cNvSpPr>
            <a:spLocks noChangeArrowheads="1"/>
          </p:cNvSpPr>
          <p:nvPr/>
        </p:nvSpPr>
        <p:spPr bwMode="auto">
          <a:xfrm>
            <a:off x="2313286" y="317425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9" name="Oval 6"/>
          <p:cNvSpPr>
            <a:spLocks noChangeArrowheads="1"/>
          </p:cNvSpPr>
          <p:nvPr/>
        </p:nvSpPr>
        <p:spPr bwMode="auto">
          <a:xfrm>
            <a:off x="4027786" y="340285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0" name="Oval 7"/>
          <p:cNvSpPr>
            <a:spLocks noChangeArrowheads="1"/>
          </p:cNvSpPr>
          <p:nvPr/>
        </p:nvSpPr>
        <p:spPr bwMode="auto">
          <a:xfrm>
            <a:off x="3717032" y="4427984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1" name="Oval 8"/>
          <p:cNvSpPr>
            <a:spLocks noChangeArrowheads="1"/>
          </p:cNvSpPr>
          <p:nvPr/>
        </p:nvSpPr>
        <p:spPr bwMode="auto">
          <a:xfrm>
            <a:off x="2116832" y="4370834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62" name="AutoShape 24"/>
          <p:cNvCxnSpPr>
            <a:cxnSpLocks noChangeShapeType="1"/>
            <a:stCxn id="59" idx="4"/>
            <a:endCxn id="60" idx="0"/>
          </p:cNvCxnSpPr>
          <p:nvPr/>
        </p:nvCxnSpPr>
        <p:spPr bwMode="auto">
          <a:xfrm flipH="1">
            <a:off x="3917057" y="3802907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25"/>
          <p:cNvCxnSpPr>
            <a:cxnSpLocks noChangeShapeType="1"/>
            <a:stCxn id="61" idx="6"/>
            <a:endCxn id="60" idx="2"/>
          </p:cNvCxnSpPr>
          <p:nvPr/>
        </p:nvCxnSpPr>
        <p:spPr bwMode="auto">
          <a:xfrm>
            <a:off x="2516882" y="4570859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26"/>
          <p:cNvCxnSpPr>
            <a:cxnSpLocks noChangeShapeType="1"/>
            <a:stCxn id="57" idx="5"/>
            <a:endCxn id="61" idx="1"/>
          </p:cNvCxnSpPr>
          <p:nvPr/>
        </p:nvCxnSpPr>
        <p:spPr bwMode="auto">
          <a:xfrm>
            <a:off x="1658442" y="4141044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27"/>
          <p:cNvCxnSpPr>
            <a:cxnSpLocks noChangeShapeType="1"/>
            <a:stCxn id="59" idx="3"/>
            <a:endCxn id="61" idx="7"/>
          </p:cNvCxnSpPr>
          <p:nvPr/>
        </p:nvCxnSpPr>
        <p:spPr bwMode="auto">
          <a:xfrm flipH="1">
            <a:off x="2458542" y="3744566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28"/>
          <p:cNvCxnSpPr>
            <a:cxnSpLocks noChangeShapeType="1"/>
            <a:stCxn id="58" idx="6"/>
            <a:endCxn id="59" idx="2"/>
          </p:cNvCxnSpPr>
          <p:nvPr/>
        </p:nvCxnSpPr>
        <p:spPr bwMode="auto">
          <a:xfrm>
            <a:off x="2713336" y="3374281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29"/>
          <p:cNvCxnSpPr>
            <a:cxnSpLocks noChangeShapeType="1"/>
            <a:stCxn id="57" idx="7"/>
            <a:endCxn id="58" idx="2"/>
          </p:cNvCxnSpPr>
          <p:nvPr/>
        </p:nvCxnSpPr>
        <p:spPr bwMode="auto">
          <a:xfrm flipV="1">
            <a:off x="1658442" y="3374282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Oval 7"/>
          <p:cNvSpPr>
            <a:spLocks noChangeArrowheads="1"/>
          </p:cNvSpPr>
          <p:nvPr/>
        </p:nvSpPr>
        <p:spPr bwMode="auto">
          <a:xfrm>
            <a:off x="4804582" y="4199384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1" name="Arc 37"/>
          <p:cNvSpPr/>
          <p:nvPr/>
        </p:nvSpPr>
        <p:spPr bwMode="auto">
          <a:xfrm flipH="1">
            <a:off x="2132232" y="5802900"/>
            <a:ext cx="1396287" cy="495049"/>
          </a:xfrm>
          <a:custGeom>
            <a:avLst/>
            <a:gdLst>
              <a:gd name="T0" fmla="*/ 0 w 43154"/>
              <a:gd name="T1" fmla="*/ 483910 h 21600"/>
              <a:gd name="T2" fmla="*/ 1168400 w 43154"/>
              <a:gd name="T3" fmla="*/ 517525 h 21600"/>
              <a:gd name="T4" fmla="*/ 583577 w 43154"/>
              <a:gd name="T5" fmla="*/ 5175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54" h="21600" fill="none" extrusionOk="0">
                <a:moveTo>
                  <a:pt x="-1" y="20196"/>
                </a:moveTo>
                <a:cubicBezTo>
                  <a:pt x="739" y="8836"/>
                  <a:pt x="10169" y="0"/>
                  <a:pt x="21554" y="0"/>
                </a:cubicBezTo>
                <a:cubicBezTo>
                  <a:pt x="33483" y="0"/>
                  <a:pt x="43154" y="9670"/>
                  <a:pt x="43154" y="21600"/>
                </a:cubicBezTo>
              </a:path>
              <a:path w="43154" h="21600" stroke="0" extrusionOk="0">
                <a:moveTo>
                  <a:pt x="-1" y="20196"/>
                </a:moveTo>
                <a:cubicBezTo>
                  <a:pt x="739" y="8836"/>
                  <a:pt x="10169" y="0"/>
                  <a:pt x="21554" y="0"/>
                </a:cubicBezTo>
                <a:cubicBezTo>
                  <a:pt x="33483" y="0"/>
                  <a:pt x="43154" y="9670"/>
                  <a:pt x="43154" y="21600"/>
                </a:cubicBezTo>
                <a:lnTo>
                  <a:pt x="21554" y="21600"/>
                </a:lnTo>
                <a:lnTo>
                  <a:pt x="-1" y="20196"/>
                </a:lnTo>
                <a:close/>
              </a:path>
            </a:pathLst>
          </a:custGeom>
          <a:ln w="190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Arc 39"/>
          <p:cNvSpPr/>
          <p:nvPr/>
        </p:nvSpPr>
        <p:spPr bwMode="auto">
          <a:xfrm flipH="1">
            <a:off x="3767091" y="5810390"/>
            <a:ext cx="1317468" cy="456824"/>
          </a:xfrm>
          <a:custGeom>
            <a:avLst/>
            <a:gdLst>
              <a:gd name="T0" fmla="*/ 0 w 43089"/>
              <a:gd name="T1" fmla="*/ 428988 h 21600"/>
              <a:gd name="T2" fmla="*/ 1154113 w 43089"/>
              <a:gd name="T3" fmla="*/ 423317 h 21600"/>
              <a:gd name="T4" fmla="*/ 577311 w 43089"/>
              <a:gd name="T5" fmla="*/ 45878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089" h="21600" fill="none" extrusionOk="0">
                <a:moveTo>
                  <a:pt x="-1" y="20196"/>
                </a:moveTo>
                <a:cubicBezTo>
                  <a:pt x="739" y="8836"/>
                  <a:pt x="10169" y="0"/>
                  <a:pt x="21554" y="0"/>
                </a:cubicBezTo>
                <a:cubicBezTo>
                  <a:pt x="32835" y="0"/>
                  <a:pt x="42217" y="8682"/>
                  <a:pt x="43089" y="19929"/>
                </a:cubicBezTo>
              </a:path>
              <a:path w="43089" h="21600" stroke="0" extrusionOk="0">
                <a:moveTo>
                  <a:pt x="-1" y="20196"/>
                </a:moveTo>
                <a:cubicBezTo>
                  <a:pt x="739" y="8836"/>
                  <a:pt x="10169" y="0"/>
                  <a:pt x="21554" y="0"/>
                </a:cubicBezTo>
                <a:cubicBezTo>
                  <a:pt x="32835" y="0"/>
                  <a:pt x="42217" y="8682"/>
                  <a:pt x="43089" y="19929"/>
                </a:cubicBezTo>
                <a:lnTo>
                  <a:pt x="21554" y="21600"/>
                </a:lnTo>
                <a:lnTo>
                  <a:pt x="-1" y="20196"/>
                </a:lnTo>
                <a:close/>
              </a:path>
            </a:pathLst>
          </a:custGeom>
          <a:ln w="190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Freeform 43"/>
          <p:cNvSpPr/>
          <p:nvPr/>
        </p:nvSpPr>
        <p:spPr bwMode="auto">
          <a:xfrm>
            <a:off x="1383658" y="5709406"/>
            <a:ext cx="2952328" cy="557808"/>
          </a:xfrm>
          <a:custGeom>
            <a:avLst/>
            <a:gdLst>
              <a:gd name="T0" fmla="*/ 0 w 1632"/>
              <a:gd name="T1" fmla="*/ 698500 h 440"/>
              <a:gd name="T2" fmla="*/ 476250 w 1632"/>
              <a:gd name="T3" fmla="*/ 195263 h 440"/>
              <a:gd name="T4" fmla="*/ 1292225 w 1632"/>
              <a:gd name="T5" fmla="*/ 4763 h 440"/>
              <a:gd name="T6" fmla="*/ 2133600 w 1632"/>
              <a:gd name="T7" fmla="*/ 165100 h 440"/>
              <a:gd name="T8" fmla="*/ 2590800 w 1632"/>
              <a:gd name="T9" fmla="*/ 698500 h 4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32" h="440">
                <a:moveTo>
                  <a:pt x="0" y="440"/>
                </a:moveTo>
                <a:cubicBezTo>
                  <a:pt x="50" y="387"/>
                  <a:pt x="164" y="196"/>
                  <a:pt x="300" y="123"/>
                </a:cubicBezTo>
                <a:cubicBezTo>
                  <a:pt x="436" y="50"/>
                  <a:pt x="640" y="6"/>
                  <a:pt x="814" y="3"/>
                </a:cubicBezTo>
                <a:cubicBezTo>
                  <a:pt x="988" y="0"/>
                  <a:pt x="1208" y="31"/>
                  <a:pt x="1344" y="104"/>
                </a:cubicBezTo>
                <a:cubicBezTo>
                  <a:pt x="1480" y="177"/>
                  <a:pt x="1556" y="304"/>
                  <a:pt x="1632" y="440"/>
                </a:cubicBezTo>
              </a:path>
            </a:pathLst>
          </a:cu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69866" y="6338056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4" name="Oval 4"/>
          <p:cNvSpPr>
            <a:spLocks noChangeArrowheads="1"/>
          </p:cNvSpPr>
          <p:nvPr/>
        </p:nvSpPr>
        <p:spPr bwMode="auto">
          <a:xfrm>
            <a:off x="1146332" y="6262193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5" name="Oval 5"/>
          <p:cNvSpPr>
            <a:spLocks noChangeArrowheads="1"/>
          </p:cNvSpPr>
          <p:nvPr/>
        </p:nvSpPr>
        <p:spPr bwMode="auto">
          <a:xfrm>
            <a:off x="1917604" y="6268739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6" name="Oval 7"/>
          <p:cNvSpPr>
            <a:spLocks noChangeArrowheads="1"/>
          </p:cNvSpPr>
          <p:nvPr/>
        </p:nvSpPr>
        <p:spPr bwMode="auto">
          <a:xfrm>
            <a:off x="2691424" y="6262193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7" name="Oval 6"/>
          <p:cNvSpPr>
            <a:spLocks noChangeArrowheads="1"/>
          </p:cNvSpPr>
          <p:nvPr/>
        </p:nvSpPr>
        <p:spPr bwMode="auto">
          <a:xfrm>
            <a:off x="3462696" y="626066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8" name="Oval 8"/>
          <p:cNvSpPr>
            <a:spLocks noChangeArrowheads="1"/>
          </p:cNvSpPr>
          <p:nvPr/>
        </p:nvSpPr>
        <p:spPr bwMode="auto">
          <a:xfrm>
            <a:off x="4217890" y="626364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9" name="Oval 7"/>
          <p:cNvSpPr>
            <a:spLocks noChangeArrowheads="1"/>
          </p:cNvSpPr>
          <p:nvPr/>
        </p:nvSpPr>
        <p:spPr bwMode="auto">
          <a:xfrm>
            <a:off x="4963902" y="626066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9" name="直接箭头连接符 8"/>
          <p:cNvCxnSpPr>
            <a:stCxn id="84" idx="6"/>
            <a:endCxn id="85" idx="2"/>
          </p:cNvCxnSpPr>
          <p:nvPr/>
        </p:nvCxnSpPr>
        <p:spPr>
          <a:xfrm>
            <a:off x="1546382" y="6462218"/>
            <a:ext cx="371222" cy="654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88" idx="2"/>
          </p:cNvCxnSpPr>
          <p:nvPr/>
        </p:nvCxnSpPr>
        <p:spPr>
          <a:xfrm>
            <a:off x="3895230" y="6460693"/>
            <a:ext cx="322660" cy="2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88" idx="6"/>
            <a:endCxn id="89" idx="2"/>
          </p:cNvCxnSpPr>
          <p:nvPr/>
        </p:nvCxnSpPr>
        <p:spPr>
          <a:xfrm flipV="1">
            <a:off x="4617940" y="6460693"/>
            <a:ext cx="345962" cy="2974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下箭头 17"/>
          <p:cNvSpPr/>
          <p:nvPr/>
        </p:nvSpPr>
        <p:spPr>
          <a:xfrm>
            <a:off x="2873000" y="4977335"/>
            <a:ext cx="303094" cy="576064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乘号 7"/>
          <p:cNvSpPr/>
          <p:nvPr/>
        </p:nvSpPr>
        <p:spPr>
          <a:xfrm>
            <a:off x="5346008" y="6234722"/>
            <a:ext cx="744648" cy="79208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93607" y="599766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NO!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</a:t>
            </a:r>
            <a:r>
              <a:rPr lang="en-US" altLang="zh-CN" dirty="0" smtClean="0"/>
              <a:t>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Only</a:t>
            </a:r>
            <a:r>
              <a:rPr lang="en-US" altLang="zh-CN" dirty="0"/>
              <a:t> </a:t>
            </a:r>
            <a:r>
              <a:rPr lang="en-US" altLang="zh-CN" dirty="0" smtClean="0"/>
              <a:t>direct acyclic graphs (DAG) </a:t>
            </a:r>
            <a:r>
              <a:rPr lang="en-US" altLang="zh-CN" dirty="0"/>
              <a:t>can be topological sorted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C39182-6EDC-4DFF-863F-AA95CEFDB18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7" name="Oval 4"/>
          <p:cNvSpPr>
            <a:spLocks noChangeArrowheads="1"/>
          </p:cNvSpPr>
          <p:nvPr/>
        </p:nvSpPr>
        <p:spPr bwMode="auto">
          <a:xfrm>
            <a:off x="1096292" y="472461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8" name="Oval 5"/>
          <p:cNvSpPr>
            <a:spLocks noChangeArrowheads="1"/>
          </p:cNvSpPr>
          <p:nvPr/>
        </p:nvSpPr>
        <p:spPr bwMode="auto">
          <a:xfrm>
            <a:off x="2092846" y="4099534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9" name="Oval 6"/>
          <p:cNvSpPr>
            <a:spLocks noChangeArrowheads="1"/>
          </p:cNvSpPr>
          <p:nvPr/>
        </p:nvSpPr>
        <p:spPr bwMode="auto">
          <a:xfrm>
            <a:off x="3807346" y="4328134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0" name="Oval 7"/>
          <p:cNvSpPr>
            <a:spLocks noChangeArrowheads="1"/>
          </p:cNvSpPr>
          <p:nvPr/>
        </p:nvSpPr>
        <p:spPr bwMode="auto">
          <a:xfrm>
            <a:off x="3496592" y="535326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1" name="Oval 8"/>
          <p:cNvSpPr>
            <a:spLocks noChangeArrowheads="1"/>
          </p:cNvSpPr>
          <p:nvPr/>
        </p:nvSpPr>
        <p:spPr bwMode="auto">
          <a:xfrm>
            <a:off x="1896392" y="529611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62" name="AutoShape 24"/>
          <p:cNvCxnSpPr>
            <a:cxnSpLocks noChangeShapeType="1"/>
            <a:stCxn id="59" idx="4"/>
            <a:endCxn id="60" idx="0"/>
          </p:cNvCxnSpPr>
          <p:nvPr/>
        </p:nvCxnSpPr>
        <p:spPr bwMode="auto">
          <a:xfrm flipH="1">
            <a:off x="3696617" y="4728185"/>
            <a:ext cx="310754" cy="625078"/>
          </a:xfrm>
          <a:prstGeom prst="straightConnector1">
            <a:avLst/>
          </a:prstGeom>
          <a:noFill/>
          <a:ln w="19050">
            <a:solidFill>
              <a:srgbClr val="263AF8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25"/>
          <p:cNvCxnSpPr>
            <a:cxnSpLocks noChangeShapeType="1"/>
            <a:stCxn id="61" idx="6"/>
            <a:endCxn id="60" idx="2"/>
          </p:cNvCxnSpPr>
          <p:nvPr/>
        </p:nvCxnSpPr>
        <p:spPr bwMode="auto">
          <a:xfrm>
            <a:off x="2296442" y="5496137"/>
            <a:ext cx="1200150" cy="57150"/>
          </a:xfrm>
          <a:prstGeom prst="straightConnector1">
            <a:avLst/>
          </a:prstGeom>
          <a:noFill/>
          <a:ln w="19050">
            <a:solidFill>
              <a:srgbClr val="263AF8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26"/>
          <p:cNvCxnSpPr>
            <a:cxnSpLocks noChangeShapeType="1"/>
            <a:stCxn id="57" idx="5"/>
            <a:endCxn id="61" idx="1"/>
          </p:cNvCxnSpPr>
          <p:nvPr/>
        </p:nvCxnSpPr>
        <p:spPr bwMode="auto">
          <a:xfrm>
            <a:off x="1438002" y="5066322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27"/>
          <p:cNvCxnSpPr>
            <a:cxnSpLocks noChangeShapeType="1"/>
            <a:stCxn id="59" idx="3"/>
            <a:endCxn id="61" idx="7"/>
          </p:cNvCxnSpPr>
          <p:nvPr/>
        </p:nvCxnSpPr>
        <p:spPr bwMode="auto">
          <a:xfrm flipH="1">
            <a:off x="2238102" y="4669844"/>
            <a:ext cx="1627584" cy="684610"/>
          </a:xfrm>
          <a:prstGeom prst="straightConnector1">
            <a:avLst/>
          </a:prstGeom>
          <a:noFill/>
          <a:ln w="19050">
            <a:solidFill>
              <a:srgbClr val="263AF8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28"/>
          <p:cNvCxnSpPr>
            <a:cxnSpLocks noChangeShapeType="1"/>
            <a:stCxn id="58" idx="6"/>
            <a:endCxn id="59" idx="2"/>
          </p:cNvCxnSpPr>
          <p:nvPr/>
        </p:nvCxnSpPr>
        <p:spPr bwMode="auto">
          <a:xfrm>
            <a:off x="2492896" y="4299559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29"/>
          <p:cNvCxnSpPr>
            <a:cxnSpLocks noChangeShapeType="1"/>
            <a:stCxn id="57" idx="7"/>
            <a:endCxn id="58" idx="2"/>
          </p:cNvCxnSpPr>
          <p:nvPr/>
        </p:nvCxnSpPr>
        <p:spPr bwMode="auto">
          <a:xfrm flipV="1">
            <a:off x="1438002" y="4299560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Oval 7"/>
          <p:cNvSpPr>
            <a:spLocks noChangeArrowheads="1"/>
          </p:cNvSpPr>
          <p:nvPr/>
        </p:nvSpPr>
        <p:spPr bwMode="auto">
          <a:xfrm>
            <a:off x="4584142" y="512466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98106" y="6347319"/>
            <a:ext cx="17059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Sitka Text" panose="02000505000000020004" pitchFamily="2" charset="0"/>
              </a:rPr>
              <a:t>cyclic graph 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8" name="右箭头 7"/>
          <p:cNvSpPr/>
          <p:nvPr/>
        </p:nvSpPr>
        <p:spPr>
          <a:xfrm rot="13769672">
            <a:off x="3634368" y="6049647"/>
            <a:ext cx="253604" cy="20005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 </a:t>
            </a:r>
            <a:r>
              <a:rPr lang="en-US" altLang="zh-CN" dirty="0" smtClean="0"/>
              <a:t>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r>
              <a:rPr lang="en-US" altLang="zh-CN" dirty="0"/>
              <a:t>Step 1: Identify vertices that have no incoming edges</a:t>
            </a:r>
            <a:endParaRPr lang="en-US" altLang="zh-CN" dirty="0"/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“in-degree” of these vertices is </a:t>
            </a:r>
            <a:r>
              <a:rPr lang="en-US" altLang="zh-CN" dirty="0" smtClean="0"/>
              <a:t>zero</a:t>
            </a:r>
            <a:endParaRPr lang="en-US" altLang="zh-CN" dirty="0" smtClean="0"/>
          </a:p>
          <a:p>
            <a:pPr lvl="1"/>
            <a:r>
              <a:rPr lang="en-US" altLang="zh-CN" dirty="0"/>
              <a:t>Select one </a:t>
            </a:r>
            <a:r>
              <a:rPr lang="en-US" altLang="zh-CN" dirty="0" smtClean="0"/>
              <a:t>of </a:t>
            </a:r>
            <a:r>
              <a:rPr lang="en-US" altLang="zh-CN" dirty="0"/>
              <a:t>such vertices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If no such vertices, graph has only cycle(s) (cyclic graph</a:t>
            </a:r>
            <a:r>
              <a:rPr lang="en-US" altLang="zh-CN" dirty="0" smtClean="0"/>
              <a:t>),  </a:t>
            </a:r>
            <a:r>
              <a:rPr lang="en-US" altLang="zh-CN" dirty="0"/>
              <a:t>Topological sort not possible – </a:t>
            </a:r>
            <a:r>
              <a:rPr lang="en-US" altLang="zh-CN" dirty="0">
                <a:solidFill>
                  <a:srgbClr val="FF0000"/>
                </a:solidFill>
              </a:rPr>
              <a:t>Halt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699622-E7CD-4BEF-8F62-05887233DFE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 rot="3993108">
            <a:off x="4914129" y="4598168"/>
            <a:ext cx="253604" cy="20005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Oval 4"/>
          <p:cNvSpPr>
            <a:spLocks noChangeArrowheads="1"/>
          </p:cNvSpPr>
          <p:nvPr/>
        </p:nvSpPr>
        <p:spPr bwMode="auto">
          <a:xfrm>
            <a:off x="1371363" y="463174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" name="Oval 5"/>
          <p:cNvSpPr>
            <a:spLocks noChangeArrowheads="1"/>
          </p:cNvSpPr>
          <p:nvPr/>
        </p:nvSpPr>
        <p:spPr bwMode="auto">
          <a:xfrm>
            <a:off x="2367917" y="400667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3" name="Oval 6"/>
          <p:cNvSpPr>
            <a:spLocks noChangeArrowheads="1"/>
          </p:cNvSpPr>
          <p:nvPr/>
        </p:nvSpPr>
        <p:spPr bwMode="auto">
          <a:xfrm>
            <a:off x="4082417" y="423527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4" name="Oval 7"/>
          <p:cNvSpPr>
            <a:spLocks noChangeArrowheads="1"/>
          </p:cNvSpPr>
          <p:nvPr/>
        </p:nvSpPr>
        <p:spPr bwMode="auto">
          <a:xfrm>
            <a:off x="3771663" y="526039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5" name="Oval 8"/>
          <p:cNvSpPr>
            <a:spLocks noChangeArrowheads="1"/>
          </p:cNvSpPr>
          <p:nvPr/>
        </p:nvSpPr>
        <p:spPr bwMode="auto">
          <a:xfrm>
            <a:off x="2171463" y="520324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26" name="AutoShape 24"/>
          <p:cNvCxnSpPr>
            <a:cxnSpLocks noChangeShapeType="1"/>
            <a:stCxn id="23" idx="4"/>
            <a:endCxn id="24" idx="0"/>
          </p:cNvCxnSpPr>
          <p:nvPr/>
        </p:nvCxnSpPr>
        <p:spPr bwMode="auto">
          <a:xfrm flipH="1">
            <a:off x="3971688" y="4635321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25"/>
          <p:cNvCxnSpPr>
            <a:cxnSpLocks noChangeShapeType="1"/>
            <a:stCxn id="25" idx="6"/>
            <a:endCxn id="24" idx="2"/>
          </p:cNvCxnSpPr>
          <p:nvPr/>
        </p:nvCxnSpPr>
        <p:spPr bwMode="auto">
          <a:xfrm>
            <a:off x="2571513" y="5403273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26"/>
          <p:cNvCxnSpPr>
            <a:cxnSpLocks noChangeShapeType="1"/>
            <a:stCxn id="21" idx="5"/>
            <a:endCxn id="25" idx="1"/>
          </p:cNvCxnSpPr>
          <p:nvPr/>
        </p:nvCxnSpPr>
        <p:spPr bwMode="auto">
          <a:xfrm>
            <a:off x="1713073" y="4973458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27"/>
          <p:cNvCxnSpPr>
            <a:cxnSpLocks noChangeShapeType="1"/>
            <a:stCxn id="23" idx="3"/>
            <a:endCxn id="25" idx="7"/>
          </p:cNvCxnSpPr>
          <p:nvPr/>
        </p:nvCxnSpPr>
        <p:spPr bwMode="auto">
          <a:xfrm flipH="1">
            <a:off x="2513173" y="4576980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28"/>
          <p:cNvCxnSpPr>
            <a:cxnSpLocks noChangeShapeType="1"/>
            <a:stCxn id="22" idx="6"/>
            <a:endCxn id="23" idx="2"/>
          </p:cNvCxnSpPr>
          <p:nvPr/>
        </p:nvCxnSpPr>
        <p:spPr bwMode="auto">
          <a:xfrm>
            <a:off x="2767967" y="4206695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29"/>
          <p:cNvCxnSpPr>
            <a:cxnSpLocks noChangeShapeType="1"/>
            <a:stCxn id="21" idx="7"/>
            <a:endCxn id="22" idx="2"/>
          </p:cNvCxnSpPr>
          <p:nvPr/>
        </p:nvCxnSpPr>
        <p:spPr bwMode="auto">
          <a:xfrm flipV="1">
            <a:off x="1713073" y="4206696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4859213" y="503179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3" name="右箭头 32"/>
          <p:cNvSpPr/>
          <p:nvPr/>
        </p:nvSpPr>
        <p:spPr>
          <a:xfrm rot="3993108">
            <a:off x="1162388" y="4291376"/>
            <a:ext cx="253604" cy="200055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Oval 4"/>
          <p:cNvSpPr>
            <a:spLocks noChangeArrowheads="1"/>
          </p:cNvSpPr>
          <p:nvPr/>
        </p:nvSpPr>
        <p:spPr bwMode="auto">
          <a:xfrm>
            <a:off x="1713073" y="7526577"/>
            <a:ext cx="400050" cy="40005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5" name="Oval 5"/>
          <p:cNvSpPr>
            <a:spLocks noChangeArrowheads="1"/>
          </p:cNvSpPr>
          <p:nvPr/>
        </p:nvSpPr>
        <p:spPr bwMode="auto">
          <a:xfrm>
            <a:off x="2709627" y="6901499"/>
            <a:ext cx="400050" cy="40005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6" name="Oval 6"/>
          <p:cNvSpPr>
            <a:spLocks noChangeArrowheads="1"/>
          </p:cNvSpPr>
          <p:nvPr/>
        </p:nvSpPr>
        <p:spPr bwMode="auto">
          <a:xfrm>
            <a:off x="4424127" y="7130099"/>
            <a:ext cx="400050" cy="40005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8" name="Oval 8"/>
          <p:cNvSpPr>
            <a:spLocks noChangeArrowheads="1"/>
          </p:cNvSpPr>
          <p:nvPr/>
        </p:nvSpPr>
        <p:spPr bwMode="auto">
          <a:xfrm>
            <a:off x="2513173" y="8098077"/>
            <a:ext cx="400050" cy="40005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41" name="AutoShape 26"/>
          <p:cNvCxnSpPr>
            <a:cxnSpLocks noChangeShapeType="1"/>
            <a:stCxn id="34" idx="5"/>
            <a:endCxn id="38" idx="1"/>
          </p:cNvCxnSpPr>
          <p:nvPr/>
        </p:nvCxnSpPr>
        <p:spPr bwMode="auto">
          <a:xfrm>
            <a:off x="2054783" y="7868287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27"/>
          <p:cNvCxnSpPr>
            <a:cxnSpLocks noChangeShapeType="1"/>
            <a:stCxn id="36" idx="3"/>
            <a:endCxn id="38" idx="7"/>
          </p:cNvCxnSpPr>
          <p:nvPr/>
        </p:nvCxnSpPr>
        <p:spPr bwMode="auto">
          <a:xfrm flipH="1">
            <a:off x="2854883" y="7471809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28"/>
          <p:cNvCxnSpPr>
            <a:cxnSpLocks noChangeShapeType="1"/>
            <a:stCxn id="35" idx="6"/>
            <a:endCxn id="36" idx="2"/>
          </p:cNvCxnSpPr>
          <p:nvPr/>
        </p:nvCxnSpPr>
        <p:spPr bwMode="auto">
          <a:xfrm>
            <a:off x="3109677" y="7101524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29"/>
          <p:cNvCxnSpPr>
            <a:cxnSpLocks noChangeShapeType="1"/>
            <a:stCxn id="34" idx="7"/>
            <a:endCxn id="35" idx="2"/>
          </p:cNvCxnSpPr>
          <p:nvPr/>
        </p:nvCxnSpPr>
        <p:spPr bwMode="auto">
          <a:xfrm flipV="1">
            <a:off x="2054783" y="7101525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 </a:t>
            </a:r>
            <a:r>
              <a:rPr lang="en-US" altLang="zh-CN" dirty="0" smtClean="0"/>
              <a:t>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r>
              <a:rPr lang="en-US" altLang="zh-CN" dirty="0"/>
              <a:t>Step 2: Delete this vertex of in-degree 0 and all its outgoing edges from the graph. Place it in the output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09E693-12B5-47EC-9B1F-8157DAF962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21" name="Oval 4"/>
          <p:cNvSpPr>
            <a:spLocks noChangeArrowheads="1"/>
          </p:cNvSpPr>
          <p:nvPr/>
        </p:nvSpPr>
        <p:spPr bwMode="auto">
          <a:xfrm>
            <a:off x="1371363" y="4631748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" name="Oval 5"/>
          <p:cNvSpPr>
            <a:spLocks noChangeArrowheads="1"/>
          </p:cNvSpPr>
          <p:nvPr/>
        </p:nvSpPr>
        <p:spPr bwMode="auto">
          <a:xfrm>
            <a:off x="2367917" y="400667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3" name="Oval 6"/>
          <p:cNvSpPr>
            <a:spLocks noChangeArrowheads="1"/>
          </p:cNvSpPr>
          <p:nvPr/>
        </p:nvSpPr>
        <p:spPr bwMode="auto">
          <a:xfrm>
            <a:off x="4082417" y="423527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4" name="Oval 7"/>
          <p:cNvSpPr>
            <a:spLocks noChangeArrowheads="1"/>
          </p:cNvSpPr>
          <p:nvPr/>
        </p:nvSpPr>
        <p:spPr bwMode="auto">
          <a:xfrm>
            <a:off x="3771663" y="526039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5" name="Oval 8"/>
          <p:cNvSpPr>
            <a:spLocks noChangeArrowheads="1"/>
          </p:cNvSpPr>
          <p:nvPr/>
        </p:nvSpPr>
        <p:spPr bwMode="auto">
          <a:xfrm>
            <a:off x="2171463" y="520324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26" name="AutoShape 24"/>
          <p:cNvCxnSpPr>
            <a:cxnSpLocks noChangeShapeType="1"/>
            <a:stCxn id="23" idx="4"/>
            <a:endCxn id="24" idx="0"/>
          </p:cNvCxnSpPr>
          <p:nvPr/>
        </p:nvCxnSpPr>
        <p:spPr bwMode="auto">
          <a:xfrm flipH="1">
            <a:off x="3971688" y="4635321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25"/>
          <p:cNvCxnSpPr>
            <a:cxnSpLocks noChangeShapeType="1"/>
            <a:stCxn id="25" idx="6"/>
            <a:endCxn id="24" idx="2"/>
          </p:cNvCxnSpPr>
          <p:nvPr/>
        </p:nvCxnSpPr>
        <p:spPr bwMode="auto">
          <a:xfrm>
            <a:off x="2571513" y="5403273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26"/>
          <p:cNvCxnSpPr>
            <a:cxnSpLocks noChangeShapeType="1"/>
            <a:stCxn id="21" idx="5"/>
            <a:endCxn id="25" idx="1"/>
          </p:cNvCxnSpPr>
          <p:nvPr/>
        </p:nvCxnSpPr>
        <p:spPr bwMode="auto">
          <a:xfrm>
            <a:off x="1713073" y="4973458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27"/>
          <p:cNvCxnSpPr>
            <a:cxnSpLocks noChangeShapeType="1"/>
            <a:stCxn id="23" idx="3"/>
            <a:endCxn id="25" idx="7"/>
          </p:cNvCxnSpPr>
          <p:nvPr/>
        </p:nvCxnSpPr>
        <p:spPr bwMode="auto">
          <a:xfrm flipH="1">
            <a:off x="2513173" y="4576980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28"/>
          <p:cNvCxnSpPr>
            <a:cxnSpLocks noChangeShapeType="1"/>
            <a:stCxn id="22" idx="6"/>
            <a:endCxn id="23" idx="2"/>
          </p:cNvCxnSpPr>
          <p:nvPr/>
        </p:nvCxnSpPr>
        <p:spPr bwMode="auto">
          <a:xfrm>
            <a:off x="2767967" y="4206695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29"/>
          <p:cNvCxnSpPr>
            <a:cxnSpLocks noChangeShapeType="1"/>
            <a:stCxn id="21" idx="7"/>
            <a:endCxn id="22" idx="2"/>
          </p:cNvCxnSpPr>
          <p:nvPr/>
        </p:nvCxnSpPr>
        <p:spPr bwMode="auto">
          <a:xfrm flipV="1">
            <a:off x="1713073" y="4206696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4859213" y="503179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124744" y="6719740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" name="Oval 4"/>
          <p:cNvSpPr>
            <a:spLocks noChangeArrowheads="1"/>
          </p:cNvSpPr>
          <p:nvPr/>
        </p:nvSpPr>
        <p:spPr bwMode="auto">
          <a:xfrm>
            <a:off x="1301210" y="6643877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" name="弧形 6"/>
          <p:cNvSpPr/>
          <p:nvPr/>
        </p:nvSpPr>
        <p:spPr>
          <a:xfrm flipH="1">
            <a:off x="1301209" y="5161717"/>
            <a:ext cx="270177" cy="2722651"/>
          </a:xfrm>
          <a:prstGeom prst="arc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 </a:t>
            </a:r>
            <a:r>
              <a:rPr lang="en-US" altLang="zh-CN" dirty="0" smtClean="0"/>
              <a:t>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r>
              <a:rPr lang="en-US" altLang="zh-CN" dirty="0"/>
              <a:t>Repeat Step 1 and Step 2 until graph is empty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7AB072-8938-4919-B2D0-106642E9A74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21" name="Oval 4"/>
          <p:cNvSpPr>
            <a:spLocks noChangeArrowheads="1"/>
          </p:cNvSpPr>
          <p:nvPr/>
        </p:nvSpPr>
        <p:spPr bwMode="auto">
          <a:xfrm>
            <a:off x="1371363" y="4631748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" name="Oval 5"/>
          <p:cNvSpPr>
            <a:spLocks noChangeArrowheads="1"/>
          </p:cNvSpPr>
          <p:nvPr/>
        </p:nvSpPr>
        <p:spPr bwMode="auto">
          <a:xfrm>
            <a:off x="2367917" y="4006670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3" name="Oval 6"/>
          <p:cNvSpPr>
            <a:spLocks noChangeArrowheads="1"/>
          </p:cNvSpPr>
          <p:nvPr/>
        </p:nvSpPr>
        <p:spPr bwMode="auto">
          <a:xfrm>
            <a:off x="4082417" y="4235270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4" name="Oval 7"/>
          <p:cNvSpPr>
            <a:spLocks noChangeArrowheads="1"/>
          </p:cNvSpPr>
          <p:nvPr/>
        </p:nvSpPr>
        <p:spPr bwMode="auto">
          <a:xfrm>
            <a:off x="3771663" y="5260398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5" name="Oval 8"/>
          <p:cNvSpPr>
            <a:spLocks noChangeArrowheads="1"/>
          </p:cNvSpPr>
          <p:nvPr/>
        </p:nvSpPr>
        <p:spPr bwMode="auto">
          <a:xfrm>
            <a:off x="2171463" y="5203248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26" name="AutoShape 24"/>
          <p:cNvCxnSpPr>
            <a:cxnSpLocks noChangeShapeType="1"/>
            <a:stCxn id="23" idx="4"/>
            <a:endCxn id="24" idx="0"/>
          </p:cNvCxnSpPr>
          <p:nvPr/>
        </p:nvCxnSpPr>
        <p:spPr bwMode="auto">
          <a:xfrm flipH="1">
            <a:off x="3971688" y="4635321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25"/>
          <p:cNvCxnSpPr>
            <a:cxnSpLocks noChangeShapeType="1"/>
            <a:stCxn id="25" idx="6"/>
            <a:endCxn id="24" idx="2"/>
          </p:cNvCxnSpPr>
          <p:nvPr/>
        </p:nvCxnSpPr>
        <p:spPr bwMode="auto">
          <a:xfrm>
            <a:off x="2571513" y="5403273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26"/>
          <p:cNvCxnSpPr>
            <a:cxnSpLocks noChangeShapeType="1"/>
            <a:stCxn id="21" idx="5"/>
            <a:endCxn id="25" idx="1"/>
          </p:cNvCxnSpPr>
          <p:nvPr/>
        </p:nvCxnSpPr>
        <p:spPr bwMode="auto">
          <a:xfrm>
            <a:off x="1713073" y="4973458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27"/>
          <p:cNvCxnSpPr>
            <a:cxnSpLocks noChangeShapeType="1"/>
            <a:stCxn id="23" idx="3"/>
            <a:endCxn id="25" idx="7"/>
          </p:cNvCxnSpPr>
          <p:nvPr/>
        </p:nvCxnSpPr>
        <p:spPr bwMode="auto">
          <a:xfrm flipH="1">
            <a:off x="2513173" y="4576980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28"/>
          <p:cNvCxnSpPr>
            <a:cxnSpLocks noChangeShapeType="1"/>
            <a:stCxn id="22" idx="6"/>
            <a:endCxn id="23" idx="2"/>
          </p:cNvCxnSpPr>
          <p:nvPr/>
        </p:nvCxnSpPr>
        <p:spPr bwMode="auto">
          <a:xfrm>
            <a:off x="2767967" y="4206695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29"/>
          <p:cNvCxnSpPr>
            <a:cxnSpLocks noChangeShapeType="1"/>
            <a:stCxn id="21" idx="7"/>
            <a:endCxn id="22" idx="2"/>
          </p:cNvCxnSpPr>
          <p:nvPr/>
        </p:nvCxnSpPr>
        <p:spPr bwMode="auto">
          <a:xfrm flipV="1">
            <a:off x="1713073" y="4206696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4859213" y="5031798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046409" y="6695590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Oval 4"/>
          <p:cNvSpPr>
            <a:spLocks noChangeArrowheads="1"/>
          </p:cNvSpPr>
          <p:nvPr/>
        </p:nvSpPr>
        <p:spPr bwMode="auto">
          <a:xfrm>
            <a:off x="1222875" y="6619727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5" name="Oval 5"/>
          <p:cNvSpPr>
            <a:spLocks noChangeArrowheads="1"/>
          </p:cNvSpPr>
          <p:nvPr/>
        </p:nvSpPr>
        <p:spPr bwMode="auto">
          <a:xfrm>
            <a:off x="1994147" y="6626273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6" name="Oval 7"/>
          <p:cNvSpPr>
            <a:spLocks noChangeArrowheads="1"/>
          </p:cNvSpPr>
          <p:nvPr/>
        </p:nvSpPr>
        <p:spPr bwMode="auto">
          <a:xfrm>
            <a:off x="2767967" y="6619727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8" name="Oval 6"/>
          <p:cNvSpPr>
            <a:spLocks noChangeArrowheads="1"/>
          </p:cNvSpPr>
          <p:nvPr/>
        </p:nvSpPr>
        <p:spPr bwMode="auto">
          <a:xfrm>
            <a:off x="3539239" y="6618202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0" name="Oval 8"/>
          <p:cNvSpPr>
            <a:spLocks noChangeArrowheads="1"/>
          </p:cNvSpPr>
          <p:nvPr/>
        </p:nvSpPr>
        <p:spPr bwMode="auto">
          <a:xfrm>
            <a:off x="4294433" y="6621176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1" name="Oval 7"/>
          <p:cNvSpPr>
            <a:spLocks noChangeArrowheads="1"/>
          </p:cNvSpPr>
          <p:nvPr/>
        </p:nvSpPr>
        <p:spPr bwMode="auto">
          <a:xfrm>
            <a:off x="5040445" y="6618202"/>
            <a:ext cx="400050" cy="4000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5" name="下箭头 44"/>
          <p:cNvSpPr/>
          <p:nvPr/>
        </p:nvSpPr>
        <p:spPr>
          <a:xfrm>
            <a:off x="3110405" y="5826311"/>
            <a:ext cx="303094" cy="576064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 </a:t>
            </a:r>
            <a:r>
              <a:rPr lang="en-US" altLang="zh-CN" dirty="0" smtClean="0"/>
              <a:t>Algorithm </a:t>
            </a:r>
            <a:r>
              <a:rPr lang="en-US" altLang="zh-CN" dirty="0"/>
              <a:t>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r>
              <a:rPr lang="en-US" altLang="zh-CN" dirty="0"/>
              <a:t>Assume adjacency </a:t>
            </a:r>
            <a:r>
              <a:rPr lang="en-US" altLang="zh-CN" dirty="0" smtClean="0"/>
              <a:t>list representation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05DACF-0AF3-4DF8-B314-696484C8FD6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39" name="Oval 4"/>
          <p:cNvSpPr>
            <a:spLocks noChangeArrowheads="1"/>
          </p:cNvSpPr>
          <p:nvPr/>
        </p:nvSpPr>
        <p:spPr bwMode="auto">
          <a:xfrm>
            <a:off x="1194067" y="352461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2" name="Oval 5"/>
          <p:cNvSpPr>
            <a:spLocks noChangeArrowheads="1"/>
          </p:cNvSpPr>
          <p:nvPr/>
        </p:nvSpPr>
        <p:spPr bwMode="auto">
          <a:xfrm>
            <a:off x="2190621" y="2899533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3" name="Oval 6"/>
          <p:cNvSpPr>
            <a:spLocks noChangeArrowheads="1"/>
          </p:cNvSpPr>
          <p:nvPr/>
        </p:nvSpPr>
        <p:spPr bwMode="auto">
          <a:xfrm>
            <a:off x="3905121" y="3128133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4" name="Oval 7"/>
          <p:cNvSpPr>
            <a:spLocks noChangeArrowheads="1"/>
          </p:cNvSpPr>
          <p:nvPr/>
        </p:nvSpPr>
        <p:spPr bwMode="auto">
          <a:xfrm>
            <a:off x="3594367" y="415326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E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6" name="Oval 8"/>
          <p:cNvSpPr>
            <a:spLocks noChangeArrowheads="1"/>
          </p:cNvSpPr>
          <p:nvPr/>
        </p:nvSpPr>
        <p:spPr bwMode="auto">
          <a:xfrm>
            <a:off x="1994167" y="409611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47" name="AutoShape 24"/>
          <p:cNvCxnSpPr>
            <a:cxnSpLocks noChangeShapeType="1"/>
            <a:stCxn id="43" idx="4"/>
            <a:endCxn id="44" idx="0"/>
          </p:cNvCxnSpPr>
          <p:nvPr/>
        </p:nvCxnSpPr>
        <p:spPr bwMode="auto">
          <a:xfrm flipH="1">
            <a:off x="3794392" y="3528184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25"/>
          <p:cNvCxnSpPr>
            <a:cxnSpLocks noChangeShapeType="1"/>
            <a:stCxn id="46" idx="6"/>
            <a:endCxn id="44" idx="2"/>
          </p:cNvCxnSpPr>
          <p:nvPr/>
        </p:nvCxnSpPr>
        <p:spPr bwMode="auto">
          <a:xfrm>
            <a:off x="2394217" y="4296136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26"/>
          <p:cNvCxnSpPr>
            <a:cxnSpLocks noChangeShapeType="1"/>
            <a:stCxn id="39" idx="5"/>
            <a:endCxn id="46" idx="1"/>
          </p:cNvCxnSpPr>
          <p:nvPr/>
        </p:nvCxnSpPr>
        <p:spPr bwMode="auto">
          <a:xfrm>
            <a:off x="1535777" y="3866321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27"/>
          <p:cNvCxnSpPr>
            <a:cxnSpLocks noChangeShapeType="1"/>
            <a:stCxn id="43" idx="3"/>
            <a:endCxn id="46" idx="7"/>
          </p:cNvCxnSpPr>
          <p:nvPr/>
        </p:nvCxnSpPr>
        <p:spPr bwMode="auto">
          <a:xfrm flipH="1">
            <a:off x="2335877" y="3469843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AutoShape 28"/>
          <p:cNvCxnSpPr>
            <a:cxnSpLocks noChangeShapeType="1"/>
            <a:stCxn id="42" idx="6"/>
            <a:endCxn id="43" idx="2"/>
          </p:cNvCxnSpPr>
          <p:nvPr/>
        </p:nvCxnSpPr>
        <p:spPr bwMode="auto">
          <a:xfrm>
            <a:off x="2590671" y="3099558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AutoShape 29"/>
          <p:cNvCxnSpPr>
            <a:cxnSpLocks noChangeShapeType="1"/>
            <a:stCxn id="39" idx="7"/>
            <a:endCxn id="42" idx="2"/>
          </p:cNvCxnSpPr>
          <p:nvPr/>
        </p:nvCxnSpPr>
        <p:spPr bwMode="auto">
          <a:xfrm flipV="1">
            <a:off x="1535777" y="3099559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Oval 7"/>
          <p:cNvSpPr>
            <a:spLocks noChangeArrowheads="1"/>
          </p:cNvSpPr>
          <p:nvPr/>
        </p:nvSpPr>
        <p:spPr bwMode="auto">
          <a:xfrm>
            <a:off x="4681917" y="392466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F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1" name="Text Box 74"/>
          <p:cNvSpPr txBox="1">
            <a:spLocks noChangeArrowheads="1"/>
          </p:cNvSpPr>
          <p:nvPr/>
        </p:nvSpPr>
        <p:spPr bwMode="auto">
          <a:xfrm>
            <a:off x="233390" y="4877116"/>
            <a:ext cx="28355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①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Translation array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83532" y="5731915"/>
          <a:ext cx="2286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A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B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C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D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E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F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2" name="表格 81"/>
          <p:cNvGraphicFramePr>
            <a:graphicFrameLocks noGrp="1"/>
          </p:cNvGraphicFramePr>
          <p:nvPr/>
        </p:nvGraphicFramePr>
        <p:xfrm>
          <a:off x="483532" y="5351335"/>
          <a:ext cx="2286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3" name="表格 82"/>
          <p:cNvGraphicFramePr>
            <a:graphicFrameLocks noGrp="1"/>
          </p:cNvGraphicFramePr>
          <p:nvPr/>
        </p:nvGraphicFramePr>
        <p:xfrm>
          <a:off x="3981797" y="5028991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3565103" y="5029040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0</a:t>
                      </a:r>
                      <a:endParaRPr lang="zh-CN" altLang="en-US" sz="2000" b="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4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" name="Line 48"/>
          <p:cNvSpPr>
            <a:spLocks noChangeShapeType="1"/>
          </p:cNvSpPr>
          <p:nvPr/>
        </p:nvSpPr>
        <p:spPr bwMode="auto">
          <a:xfrm>
            <a:off x="4222700" y="5245514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6" name="Line 49"/>
          <p:cNvSpPr>
            <a:spLocks noChangeShapeType="1"/>
          </p:cNvSpPr>
          <p:nvPr/>
        </p:nvSpPr>
        <p:spPr bwMode="auto">
          <a:xfrm>
            <a:off x="4231034" y="5704999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7" name="Line 50"/>
          <p:cNvSpPr>
            <a:spLocks noChangeShapeType="1"/>
          </p:cNvSpPr>
          <p:nvPr/>
        </p:nvSpPr>
        <p:spPr bwMode="auto">
          <a:xfrm>
            <a:off x="4222700" y="6154511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8" name="Line 51"/>
          <p:cNvSpPr>
            <a:spLocks noChangeShapeType="1"/>
          </p:cNvSpPr>
          <p:nvPr/>
        </p:nvSpPr>
        <p:spPr bwMode="auto">
          <a:xfrm>
            <a:off x="4233416" y="6614117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89" name="表格 88"/>
          <p:cNvGraphicFramePr>
            <a:graphicFrameLocks noGrp="1"/>
          </p:cNvGraphicFramePr>
          <p:nvPr/>
        </p:nvGraphicFramePr>
        <p:xfrm>
          <a:off x="4583481" y="5061691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4583481" y="5519139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583481" y="5972143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/>
        </p:nvGraphicFramePr>
        <p:xfrm>
          <a:off x="4583481" y="6423997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3" name="Line 48"/>
          <p:cNvSpPr>
            <a:spLocks noChangeShapeType="1"/>
          </p:cNvSpPr>
          <p:nvPr/>
        </p:nvSpPr>
        <p:spPr bwMode="auto">
          <a:xfrm>
            <a:off x="5198570" y="5245514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94" name="Line 50"/>
          <p:cNvSpPr>
            <a:spLocks noChangeShapeType="1"/>
          </p:cNvSpPr>
          <p:nvPr/>
        </p:nvSpPr>
        <p:spPr bwMode="auto">
          <a:xfrm>
            <a:off x="5198570" y="6154511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95" name="表格 94"/>
          <p:cNvGraphicFramePr>
            <a:graphicFrameLocks noGrp="1"/>
          </p:cNvGraphicFramePr>
          <p:nvPr/>
        </p:nvGraphicFramePr>
        <p:xfrm>
          <a:off x="5559351" y="5061691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" name="表格 95"/>
          <p:cNvGraphicFramePr>
            <a:graphicFrameLocks noGrp="1"/>
          </p:cNvGraphicFramePr>
          <p:nvPr/>
        </p:nvGraphicFramePr>
        <p:xfrm>
          <a:off x="5559351" y="5972143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5" grpId="0" animBg="1"/>
      <p:bldP spid="86" grpId="0" animBg="1"/>
      <p:bldP spid="87" grpId="0" animBg="1"/>
      <p:bldP spid="88" grpId="0" animBg="1"/>
      <p:bldP spid="93" grpId="0" animBg="1"/>
      <p:bldP spid="9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 </a:t>
            </a:r>
            <a:r>
              <a:rPr lang="en-US" altLang="zh-CN" dirty="0" smtClean="0"/>
              <a:t>Algorithm </a:t>
            </a:r>
            <a:r>
              <a:rPr lang="en-US" altLang="zh-CN" dirty="0"/>
              <a:t>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A504CC-574A-40DD-8453-D0513308C2A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81" name="Text Box 74"/>
          <p:cNvSpPr txBox="1">
            <a:spLocks noChangeArrowheads="1"/>
          </p:cNvSpPr>
          <p:nvPr/>
        </p:nvSpPr>
        <p:spPr bwMode="auto">
          <a:xfrm>
            <a:off x="764704" y="2771800"/>
            <a:ext cx="33587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②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 Calculate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In-degrees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908721" y="3809482"/>
            <a:ext cx="412048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// in-degree array D[]; </a:t>
            </a:r>
            <a:endParaRPr lang="en-US" altLang="zh-CN" dirty="0" smtClean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// vertex array A[] </a:t>
            </a:r>
            <a:endParaRPr lang="en-US" altLang="zh-CN" dirty="0" smtClean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for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=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0 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to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n-1 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do D[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] := 0;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endfor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for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=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0 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to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n-1 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do 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x := A[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];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while x 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 null do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 D[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x.value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] := D[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x.value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] + 1;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 x :=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x.next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;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endwhile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endfor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 </a:t>
            </a:r>
            <a:r>
              <a:rPr lang="en-US" altLang="zh-CN" dirty="0" smtClean="0"/>
              <a:t>Algorithm </a:t>
            </a:r>
            <a:r>
              <a:rPr lang="en-US" altLang="zh-CN" dirty="0"/>
              <a:t>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339752"/>
            <a:ext cx="5915025" cy="5801783"/>
          </a:xfrm>
        </p:spPr>
        <p:txBody>
          <a:bodyPr/>
          <a:lstStyle/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CC1164-35CA-4130-961B-9BEFD5D39B6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14538" y="3795269"/>
          <a:ext cx="2286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2" name="表格 81"/>
          <p:cNvGraphicFramePr>
            <a:graphicFrameLocks noGrp="1"/>
          </p:cNvGraphicFramePr>
          <p:nvPr/>
        </p:nvGraphicFramePr>
        <p:xfrm>
          <a:off x="2014538" y="3414689"/>
          <a:ext cx="2286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3" name="表格 82"/>
          <p:cNvGraphicFramePr>
            <a:graphicFrameLocks noGrp="1"/>
          </p:cNvGraphicFramePr>
          <p:nvPr/>
        </p:nvGraphicFramePr>
        <p:xfrm>
          <a:off x="2827316" y="5397372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2410622" y="5397421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0</a:t>
                      </a:r>
                      <a:endParaRPr lang="zh-CN" altLang="en-US" sz="2000" b="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4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" name="Line 48"/>
          <p:cNvSpPr>
            <a:spLocks noChangeShapeType="1"/>
          </p:cNvSpPr>
          <p:nvPr/>
        </p:nvSpPr>
        <p:spPr bwMode="auto">
          <a:xfrm>
            <a:off x="3068219" y="5613895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6" name="Line 49"/>
          <p:cNvSpPr>
            <a:spLocks noChangeShapeType="1"/>
          </p:cNvSpPr>
          <p:nvPr/>
        </p:nvSpPr>
        <p:spPr bwMode="auto">
          <a:xfrm>
            <a:off x="3076553" y="6073380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7" name="Line 50"/>
          <p:cNvSpPr>
            <a:spLocks noChangeShapeType="1"/>
          </p:cNvSpPr>
          <p:nvPr/>
        </p:nvSpPr>
        <p:spPr bwMode="auto">
          <a:xfrm>
            <a:off x="3068219" y="6522892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8" name="Line 51"/>
          <p:cNvSpPr>
            <a:spLocks noChangeShapeType="1"/>
          </p:cNvSpPr>
          <p:nvPr/>
        </p:nvSpPr>
        <p:spPr bwMode="auto">
          <a:xfrm>
            <a:off x="3078935" y="6982498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89" name="表格 88"/>
          <p:cNvGraphicFramePr>
            <a:graphicFrameLocks noGrp="1"/>
          </p:cNvGraphicFramePr>
          <p:nvPr/>
        </p:nvGraphicFramePr>
        <p:xfrm>
          <a:off x="3429000" y="5430072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3429000" y="5887520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3429000" y="6340524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/>
        </p:nvGraphicFramePr>
        <p:xfrm>
          <a:off x="3429000" y="6792378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3" name="Line 48"/>
          <p:cNvSpPr>
            <a:spLocks noChangeShapeType="1"/>
          </p:cNvSpPr>
          <p:nvPr/>
        </p:nvSpPr>
        <p:spPr bwMode="auto">
          <a:xfrm>
            <a:off x="4044089" y="5613895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94" name="Line 50"/>
          <p:cNvSpPr>
            <a:spLocks noChangeShapeType="1"/>
          </p:cNvSpPr>
          <p:nvPr/>
        </p:nvSpPr>
        <p:spPr bwMode="auto">
          <a:xfrm>
            <a:off x="4044089" y="6522892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95" name="表格 94"/>
          <p:cNvGraphicFramePr>
            <a:graphicFrameLocks noGrp="1"/>
          </p:cNvGraphicFramePr>
          <p:nvPr/>
        </p:nvGraphicFramePr>
        <p:xfrm>
          <a:off x="4404870" y="5430072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" name="表格 95"/>
          <p:cNvGraphicFramePr>
            <a:graphicFrameLocks noGrp="1"/>
          </p:cNvGraphicFramePr>
          <p:nvPr/>
        </p:nvGraphicFramePr>
        <p:xfrm>
          <a:off x="4404870" y="6340524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764395" y="4257891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In-Degree array; or add a field to </a:t>
            </a:r>
            <a:r>
              <a:rPr lang="en-US" altLang="zh-CN" dirty="0" smtClean="0">
                <a:latin typeface="Sitka Text" panose="02000505000000020004" pitchFamily="2" charset="0"/>
              </a:rPr>
              <a:t>vertex array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865639" y="5397372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6" name="Text Box 74"/>
          <p:cNvSpPr txBox="1">
            <a:spLocks noChangeArrowheads="1"/>
          </p:cNvSpPr>
          <p:nvPr/>
        </p:nvSpPr>
        <p:spPr bwMode="auto">
          <a:xfrm>
            <a:off x="764704" y="2771800"/>
            <a:ext cx="33587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②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 Calculate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In-degrees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 </a:t>
            </a:r>
            <a:r>
              <a:rPr lang="en-US" altLang="zh-CN" dirty="0" smtClean="0"/>
              <a:t>Algorithm </a:t>
            </a:r>
            <a:r>
              <a:rPr lang="en-US" altLang="zh-CN" dirty="0"/>
              <a:t>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0" y="2843808"/>
            <a:ext cx="5915025" cy="5297727"/>
          </a:xfrm>
        </p:spPr>
        <p:txBody>
          <a:bodyPr/>
          <a:lstStyle/>
          <a:p>
            <a:r>
              <a:rPr lang="en-US" altLang="zh-CN" dirty="0"/>
              <a:t>Maintaining Degree 0 </a:t>
            </a:r>
            <a:r>
              <a:rPr lang="en-US" altLang="zh-CN" dirty="0" smtClean="0"/>
              <a:t>Vertices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Key idea</a:t>
            </a:r>
            <a:r>
              <a:rPr lang="en-US" altLang="zh-CN" dirty="0"/>
              <a:t>: Initialize and maintain a queue (or stack</a:t>
            </a:r>
            <a:r>
              <a:rPr lang="en-US" altLang="zh-CN" dirty="0" smtClean="0"/>
              <a:t>) of </a:t>
            </a:r>
            <a:r>
              <a:rPr lang="en-US" altLang="zh-CN" dirty="0"/>
              <a:t>vertices with In-Degree 0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8E3140-CCEE-45B0-81EE-F6CCE351BD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1340768" y="4644008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924074" y="4644057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0</a:t>
                      </a:r>
                      <a:endParaRPr lang="zh-CN" altLang="en-US" sz="2000" b="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4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Line 48"/>
          <p:cNvSpPr>
            <a:spLocks noChangeShapeType="1"/>
          </p:cNvSpPr>
          <p:nvPr/>
        </p:nvSpPr>
        <p:spPr bwMode="auto">
          <a:xfrm>
            <a:off x="1581671" y="4860531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0" name="Line 49"/>
          <p:cNvSpPr>
            <a:spLocks noChangeShapeType="1"/>
          </p:cNvSpPr>
          <p:nvPr/>
        </p:nvSpPr>
        <p:spPr bwMode="auto">
          <a:xfrm>
            <a:off x="1590005" y="5320016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1" name="Line 50"/>
          <p:cNvSpPr>
            <a:spLocks noChangeShapeType="1"/>
          </p:cNvSpPr>
          <p:nvPr/>
        </p:nvSpPr>
        <p:spPr bwMode="auto">
          <a:xfrm>
            <a:off x="1581671" y="5769528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5" name="Line 51"/>
          <p:cNvSpPr>
            <a:spLocks noChangeShapeType="1"/>
          </p:cNvSpPr>
          <p:nvPr/>
        </p:nvSpPr>
        <p:spPr bwMode="auto">
          <a:xfrm>
            <a:off x="1592387" y="6229134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1942452" y="4676708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1942452" y="5134156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1942452" y="5587160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1942452" y="6039014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" name="Line 48"/>
          <p:cNvSpPr>
            <a:spLocks noChangeShapeType="1"/>
          </p:cNvSpPr>
          <p:nvPr/>
        </p:nvSpPr>
        <p:spPr bwMode="auto">
          <a:xfrm>
            <a:off x="2557541" y="4860531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9" name="Line 50"/>
          <p:cNvSpPr>
            <a:spLocks noChangeShapeType="1"/>
          </p:cNvSpPr>
          <p:nvPr/>
        </p:nvSpPr>
        <p:spPr bwMode="auto">
          <a:xfrm>
            <a:off x="2557541" y="5769528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918322" y="4676708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2918322" y="5587160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379091" y="4644008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3" name="Rectangle 3"/>
          <p:cNvSpPr>
            <a:spLocks noChangeArrowheads="1"/>
          </p:cNvSpPr>
          <p:nvPr/>
        </p:nvSpPr>
        <p:spPr bwMode="auto">
          <a:xfrm>
            <a:off x="5300898" y="5516757"/>
            <a:ext cx="326231" cy="326231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4" name="Text Box 5"/>
          <p:cNvSpPr txBox="1">
            <a:spLocks noChangeArrowheads="1"/>
          </p:cNvSpPr>
          <p:nvPr/>
        </p:nvSpPr>
        <p:spPr bwMode="auto">
          <a:xfrm>
            <a:off x="4438885" y="5495326"/>
            <a:ext cx="8739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Queue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5" name="Rectangle 63"/>
          <p:cNvSpPr>
            <a:spLocks noChangeArrowheads="1"/>
          </p:cNvSpPr>
          <p:nvPr/>
        </p:nvSpPr>
        <p:spPr bwMode="auto">
          <a:xfrm>
            <a:off x="5687852" y="5515567"/>
            <a:ext cx="326231" cy="326231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6" name="Oval 4"/>
          <p:cNvSpPr>
            <a:spLocks noChangeArrowheads="1"/>
          </p:cNvSpPr>
          <p:nvPr/>
        </p:nvSpPr>
        <p:spPr bwMode="auto">
          <a:xfrm>
            <a:off x="2663664" y="7307051"/>
            <a:ext cx="400050" cy="4000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7" name="Oval 5"/>
          <p:cNvSpPr>
            <a:spLocks noChangeArrowheads="1"/>
          </p:cNvSpPr>
          <p:nvPr/>
        </p:nvSpPr>
        <p:spPr bwMode="auto">
          <a:xfrm>
            <a:off x="3660218" y="6681973"/>
            <a:ext cx="400050" cy="4000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8" name="Oval 6"/>
          <p:cNvSpPr>
            <a:spLocks noChangeArrowheads="1"/>
          </p:cNvSpPr>
          <p:nvPr/>
        </p:nvSpPr>
        <p:spPr bwMode="auto">
          <a:xfrm>
            <a:off x="5374718" y="6910573"/>
            <a:ext cx="400050" cy="4000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9" name="Oval 7"/>
          <p:cNvSpPr>
            <a:spLocks noChangeArrowheads="1"/>
          </p:cNvSpPr>
          <p:nvPr/>
        </p:nvSpPr>
        <p:spPr bwMode="auto">
          <a:xfrm>
            <a:off x="5063964" y="7935701"/>
            <a:ext cx="400050" cy="4000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0" name="Oval 8"/>
          <p:cNvSpPr>
            <a:spLocks noChangeArrowheads="1"/>
          </p:cNvSpPr>
          <p:nvPr/>
        </p:nvSpPr>
        <p:spPr bwMode="auto">
          <a:xfrm>
            <a:off x="3463764" y="7878551"/>
            <a:ext cx="400050" cy="4000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71" name="AutoShape 24"/>
          <p:cNvCxnSpPr>
            <a:cxnSpLocks noChangeShapeType="1"/>
            <a:stCxn id="68" idx="4"/>
            <a:endCxn id="69" idx="0"/>
          </p:cNvCxnSpPr>
          <p:nvPr/>
        </p:nvCxnSpPr>
        <p:spPr bwMode="auto">
          <a:xfrm flipH="1">
            <a:off x="5263989" y="7310624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AutoShape 25"/>
          <p:cNvCxnSpPr>
            <a:cxnSpLocks noChangeShapeType="1"/>
            <a:stCxn id="70" idx="6"/>
            <a:endCxn id="69" idx="2"/>
          </p:cNvCxnSpPr>
          <p:nvPr/>
        </p:nvCxnSpPr>
        <p:spPr bwMode="auto">
          <a:xfrm>
            <a:off x="3863814" y="8078576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AutoShape 26"/>
          <p:cNvCxnSpPr>
            <a:cxnSpLocks noChangeShapeType="1"/>
            <a:stCxn id="66" idx="5"/>
            <a:endCxn id="70" idx="1"/>
          </p:cNvCxnSpPr>
          <p:nvPr/>
        </p:nvCxnSpPr>
        <p:spPr bwMode="auto">
          <a:xfrm>
            <a:off x="3005374" y="7648761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27"/>
          <p:cNvCxnSpPr>
            <a:cxnSpLocks noChangeShapeType="1"/>
            <a:stCxn id="68" idx="3"/>
            <a:endCxn id="70" idx="7"/>
          </p:cNvCxnSpPr>
          <p:nvPr/>
        </p:nvCxnSpPr>
        <p:spPr bwMode="auto">
          <a:xfrm flipH="1">
            <a:off x="3805474" y="7252283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AutoShape 28"/>
          <p:cNvCxnSpPr>
            <a:cxnSpLocks noChangeShapeType="1"/>
            <a:stCxn id="67" idx="6"/>
            <a:endCxn id="68" idx="2"/>
          </p:cNvCxnSpPr>
          <p:nvPr/>
        </p:nvCxnSpPr>
        <p:spPr bwMode="auto">
          <a:xfrm>
            <a:off x="4060268" y="6881998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AutoShape 29"/>
          <p:cNvCxnSpPr>
            <a:cxnSpLocks noChangeShapeType="1"/>
            <a:stCxn id="66" idx="7"/>
            <a:endCxn id="67" idx="2"/>
          </p:cNvCxnSpPr>
          <p:nvPr/>
        </p:nvCxnSpPr>
        <p:spPr bwMode="auto">
          <a:xfrm flipV="1">
            <a:off x="3005374" y="6881999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" name="Oval 7"/>
          <p:cNvSpPr>
            <a:spLocks noChangeArrowheads="1"/>
          </p:cNvSpPr>
          <p:nvPr/>
        </p:nvSpPr>
        <p:spPr bwMode="auto">
          <a:xfrm>
            <a:off x="6151514" y="7707101"/>
            <a:ext cx="400050" cy="4000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56145" y="4352699"/>
            <a:ext cx="2095419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263AF8"/>
                </a:solidFill>
                <a:latin typeface="Sitka Text" panose="02000505000000020004" pitchFamily="2" charset="0"/>
                <a:sym typeface="+mn-ea"/>
              </a:rPr>
              <a:t>③ </a:t>
            </a:r>
            <a:r>
              <a:rPr lang="en-US" altLang="zh-CN" sz="2000" dirty="0" err="1" smtClean="0">
                <a:solidFill>
                  <a:srgbClr val="263AF8"/>
                </a:solidFill>
                <a:latin typeface="Sitka Text" panose="02000505000000020004" pitchFamily="2" charset="0"/>
                <a:sym typeface="+mn-ea"/>
              </a:rPr>
              <a:t>enqueue</a:t>
            </a:r>
            <a:r>
              <a:rPr lang="en-US" altLang="zh-CN" sz="2000" dirty="0" smtClean="0">
                <a:solidFill>
                  <a:srgbClr val="263AF8"/>
                </a:solidFill>
                <a:latin typeface="Sitka Text" panose="02000505000000020004" pitchFamily="2" charset="0"/>
                <a:sym typeface="+mn-ea"/>
              </a:rPr>
              <a:t> </a:t>
            </a:r>
            <a:r>
              <a:rPr lang="en-US" altLang="zh-CN" sz="2000" dirty="0">
                <a:solidFill>
                  <a:srgbClr val="263AF8"/>
                </a:solidFill>
                <a:latin typeface="Sitka Text" panose="02000505000000020004" pitchFamily="2" charset="0"/>
                <a:sym typeface="+mn-ea"/>
              </a:rPr>
              <a:t>the vertices with In-Degree 0   </a:t>
            </a:r>
            <a:endParaRPr lang="zh-CN" altLang="en-US" sz="2000" dirty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0" grpId="0" animBg="1"/>
      <p:bldP spid="41" grpId="0" animBg="1"/>
      <p:bldP spid="45" grpId="0" animBg="1"/>
      <p:bldP spid="58" grpId="0" animBg="1"/>
      <p:bldP spid="59" grpId="0" animBg="1"/>
      <p:bldP spid="63" grpId="0" animBg="1"/>
      <p:bldP spid="64" grpId="0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7" grpId="0" animBg="1"/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 </a:t>
            </a:r>
            <a:r>
              <a:rPr lang="en-US" altLang="zh-CN" dirty="0" smtClean="0"/>
              <a:t>Algorithm </a:t>
            </a:r>
            <a:r>
              <a:rPr lang="en-US" altLang="zh-CN" dirty="0"/>
              <a:t>Implementation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344953-D4A4-45D7-8C8F-5A9C8587004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4339430" y="3963944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3950766" y="3963993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0</a:t>
                      </a:r>
                      <a:endParaRPr lang="zh-CN" altLang="en-US" sz="2000" b="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4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Line 48"/>
          <p:cNvSpPr>
            <a:spLocks noChangeShapeType="1"/>
          </p:cNvSpPr>
          <p:nvPr/>
        </p:nvSpPr>
        <p:spPr bwMode="auto">
          <a:xfrm>
            <a:off x="4580333" y="4180467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0" name="Line 49"/>
          <p:cNvSpPr>
            <a:spLocks noChangeShapeType="1"/>
          </p:cNvSpPr>
          <p:nvPr/>
        </p:nvSpPr>
        <p:spPr bwMode="auto">
          <a:xfrm>
            <a:off x="4588667" y="4639952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1" name="Line 50"/>
          <p:cNvSpPr>
            <a:spLocks noChangeShapeType="1"/>
          </p:cNvSpPr>
          <p:nvPr/>
        </p:nvSpPr>
        <p:spPr bwMode="auto">
          <a:xfrm>
            <a:off x="4580333" y="5089464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5" name="Line 51"/>
          <p:cNvSpPr>
            <a:spLocks noChangeShapeType="1"/>
          </p:cNvSpPr>
          <p:nvPr/>
        </p:nvSpPr>
        <p:spPr bwMode="auto">
          <a:xfrm>
            <a:off x="4591049" y="5549070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4941114" y="3996644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4941114" y="4454092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4941114" y="4907096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4941114" y="5358950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" name="Line 48"/>
          <p:cNvSpPr>
            <a:spLocks noChangeShapeType="1"/>
          </p:cNvSpPr>
          <p:nvPr/>
        </p:nvSpPr>
        <p:spPr bwMode="auto">
          <a:xfrm>
            <a:off x="5556203" y="4180467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9" name="Line 50"/>
          <p:cNvSpPr>
            <a:spLocks noChangeShapeType="1"/>
          </p:cNvSpPr>
          <p:nvPr/>
        </p:nvSpPr>
        <p:spPr bwMode="auto">
          <a:xfrm>
            <a:off x="5556203" y="5089464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5916984" y="3996644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5916984" y="4907096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3573016" y="3963944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3" name="Rectangle 3"/>
          <p:cNvSpPr>
            <a:spLocks noChangeArrowheads="1"/>
          </p:cNvSpPr>
          <p:nvPr/>
        </p:nvSpPr>
        <p:spPr bwMode="auto">
          <a:xfrm>
            <a:off x="1379302" y="4059017"/>
            <a:ext cx="326231" cy="326231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4" name="Text Box 5"/>
          <p:cNvSpPr txBox="1">
            <a:spLocks noChangeArrowheads="1"/>
          </p:cNvSpPr>
          <p:nvPr/>
        </p:nvSpPr>
        <p:spPr bwMode="auto">
          <a:xfrm>
            <a:off x="517289" y="4037586"/>
            <a:ext cx="8739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Queue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5" name="Rectangle 63"/>
          <p:cNvSpPr>
            <a:spLocks noChangeArrowheads="1"/>
          </p:cNvSpPr>
          <p:nvPr/>
        </p:nvSpPr>
        <p:spPr bwMode="auto">
          <a:xfrm>
            <a:off x="1766256" y="4057827"/>
            <a:ext cx="326231" cy="326231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953965" y="7123231"/>
            <a:ext cx="2592634" cy="1192586"/>
            <a:chOff x="2663664" y="6681973"/>
            <a:chExt cx="3887900" cy="1653778"/>
          </a:xfrm>
        </p:grpSpPr>
        <p:sp>
          <p:nvSpPr>
            <p:cNvPr id="66" name="Oval 4"/>
            <p:cNvSpPr>
              <a:spLocks noChangeArrowheads="1"/>
            </p:cNvSpPr>
            <p:nvPr/>
          </p:nvSpPr>
          <p:spPr bwMode="auto">
            <a:xfrm>
              <a:off x="2663664" y="7307051"/>
              <a:ext cx="400050" cy="4000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0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7" name="Oval 5"/>
            <p:cNvSpPr>
              <a:spLocks noChangeArrowheads="1"/>
            </p:cNvSpPr>
            <p:nvPr/>
          </p:nvSpPr>
          <p:spPr bwMode="auto">
            <a:xfrm>
              <a:off x="3660218" y="6681973"/>
              <a:ext cx="400050" cy="40005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8" name="Oval 6"/>
            <p:cNvSpPr>
              <a:spLocks noChangeArrowheads="1"/>
            </p:cNvSpPr>
            <p:nvPr/>
          </p:nvSpPr>
          <p:spPr bwMode="auto">
            <a:xfrm>
              <a:off x="5374718" y="6910573"/>
              <a:ext cx="400050" cy="40005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9" name="Oval 7"/>
            <p:cNvSpPr>
              <a:spLocks noChangeArrowheads="1"/>
            </p:cNvSpPr>
            <p:nvPr/>
          </p:nvSpPr>
          <p:spPr bwMode="auto">
            <a:xfrm>
              <a:off x="5063964" y="7935701"/>
              <a:ext cx="400050" cy="40005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4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0" name="Oval 8"/>
            <p:cNvSpPr>
              <a:spLocks noChangeArrowheads="1"/>
            </p:cNvSpPr>
            <p:nvPr/>
          </p:nvSpPr>
          <p:spPr bwMode="auto">
            <a:xfrm>
              <a:off x="3463764" y="7878551"/>
              <a:ext cx="400050" cy="40005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71" name="AutoShape 24"/>
            <p:cNvCxnSpPr>
              <a:cxnSpLocks noChangeShapeType="1"/>
              <a:stCxn id="68" idx="4"/>
              <a:endCxn id="69" idx="0"/>
            </p:cNvCxnSpPr>
            <p:nvPr/>
          </p:nvCxnSpPr>
          <p:spPr bwMode="auto">
            <a:xfrm flipH="1">
              <a:off x="5263989" y="7310624"/>
              <a:ext cx="310754" cy="62507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AutoShape 25"/>
            <p:cNvCxnSpPr>
              <a:cxnSpLocks noChangeShapeType="1"/>
              <a:stCxn id="70" idx="6"/>
              <a:endCxn id="69" idx="2"/>
            </p:cNvCxnSpPr>
            <p:nvPr/>
          </p:nvCxnSpPr>
          <p:spPr bwMode="auto">
            <a:xfrm>
              <a:off x="3863814" y="8078576"/>
              <a:ext cx="1200150" cy="571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AutoShape 26"/>
            <p:cNvCxnSpPr>
              <a:cxnSpLocks noChangeShapeType="1"/>
              <a:stCxn id="66" idx="5"/>
              <a:endCxn id="70" idx="1"/>
            </p:cNvCxnSpPr>
            <p:nvPr/>
          </p:nvCxnSpPr>
          <p:spPr bwMode="auto">
            <a:xfrm>
              <a:off x="3005374" y="7648761"/>
              <a:ext cx="516731" cy="28813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AutoShape 27"/>
            <p:cNvCxnSpPr>
              <a:cxnSpLocks noChangeShapeType="1"/>
              <a:stCxn id="68" idx="3"/>
              <a:endCxn id="70" idx="7"/>
            </p:cNvCxnSpPr>
            <p:nvPr/>
          </p:nvCxnSpPr>
          <p:spPr bwMode="auto">
            <a:xfrm flipH="1">
              <a:off x="3805474" y="7252283"/>
              <a:ext cx="1627584" cy="68461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AutoShape 28"/>
            <p:cNvCxnSpPr>
              <a:cxnSpLocks noChangeShapeType="1"/>
              <a:stCxn id="67" idx="6"/>
              <a:endCxn id="68" idx="2"/>
            </p:cNvCxnSpPr>
            <p:nvPr/>
          </p:nvCxnSpPr>
          <p:spPr bwMode="auto">
            <a:xfrm>
              <a:off x="4060268" y="6881998"/>
              <a:ext cx="1314450" cy="228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AutoShape 29"/>
            <p:cNvCxnSpPr>
              <a:cxnSpLocks noChangeShapeType="1"/>
              <a:stCxn id="66" idx="7"/>
              <a:endCxn id="67" idx="2"/>
            </p:cNvCxnSpPr>
            <p:nvPr/>
          </p:nvCxnSpPr>
          <p:spPr bwMode="auto">
            <a:xfrm flipV="1">
              <a:off x="3005374" y="6881999"/>
              <a:ext cx="654844" cy="48339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Oval 7"/>
            <p:cNvSpPr>
              <a:spLocks noChangeArrowheads="1"/>
            </p:cNvSpPr>
            <p:nvPr/>
          </p:nvSpPr>
          <p:spPr bwMode="auto">
            <a:xfrm>
              <a:off x="6151514" y="7707101"/>
              <a:ext cx="400050" cy="40005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5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527581" y="2706376"/>
            <a:ext cx="617188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④ </a:t>
            </a:r>
            <a:r>
              <a:rPr lang="en-US" altLang="zh-CN" dirty="0" err="1" smtClean="0">
                <a:solidFill>
                  <a:srgbClr val="263AF8"/>
                </a:solidFill>
                <a:latin typeface="Sitka Text" panose="02000505000000020004" pitchFamily="2" charset="0"/>
              </a:rPr>
              <a:t>dequeue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 vertex from queue to output;</a:t>
            </a:r>
            <a:endParaRPr lang="en-US" altLang="zh-CN" dirty="0" smtClean="0">
              <a:solidFill>
                <a:srgbClr val="263AF8"/>
              </a:solidFill>
              <a:latin typeface="Sitka Text" panose="02000505000000020004" pitchFamily="2" charset="0"/>
            </a:endParaRPr>
          </a:p>
          <a:p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   update In-Degree array;</a:t>
            </a:r>
            <a:endParaRPr lang="en-US" altLang="zh-CN" dirty="0" smtClean="0">
              <a:solidFill>
                <a:srgbClr val="263AF8"/>
              </a:solidFill>
              <a:latin typeface="Sitka Text" panose="02000505000000020004" pitchFamily="2" charset="0"/>
            </a:endParaRPr>
          </a:p>
          <a:p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   </a:t>
            </a:r>
            <a:r>
              <a:rPr lang="en-US" altLang="zh-CN" dirty="0" err="1" smtClean="0">
                <a:solidFill>
                  <a:srgbClr val="263AF8"/>
                </a:solidFill>
                <a:latin typeface="Sitka Text" panose="02000505000000020004" pitchFamily="2" charset="0"/>
              </a:rPr>
              <a:t>enqueue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any vertex whose In-Degree becomes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zero.  </a:t>
            </a:r>
            <a:endParaRPr lang="zh-CN" altLang="en-US" dirty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  <p:sp>
        <p:nvSpPr>
          <p:cNvPr id="78" name="Rectangle 3"/>
          <p:cNvSpPr>
            <a:spLocks noChangeArrowheads="1"/>
          </p:cNvSpPr>
          <p:nvPr/>
        </p:nvSpPr>
        <p:spPr bwMode="auto">
          <a:xfrm>
            <a:off x="1391391" y="4522824"/>
            <a:ext cx="326231" cy="326231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7" name="Text Box 68"/>
          <p:cNvSpPr txBox="1">
            <a:spLocks noChangeArrowheads="1"/>
          </p:cNvSpPr>
          <p:nvPr/>
        </p:nvSpPr>
        <p:spPr bwMode="auto">
          <a:xfrm>
            <a:off x="378232" y="4532407"/>
            <a:ext cx="9877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dirty="0" err="1">
                <a:latin typeface="Sitka Text" panose="02000505000000020004" pitchFamily="2" charset="0"/>
                <a:ea typeface="宋体" pitchFamily="2" charset="-122"/>
              </a:rPr>
              <a:t>dequeue</a:t>
            </a:r>
            <a:endParaRPr lang="en-US" altLang="zh-CN" sz="1600" dirty="0">
              <a:latin typeface="Sitka Text" panose="02000505000000020004" pitchFamily="2" charset="0"/>
              <a:ea typeface="宋体" pitchFamily="2" charset="-122"/>
            </a:endParaRPr>
          </a:p>
        </p:txBody>
      </p:sp>
      <p:graphicFrame>
        <p:nvGraphicFramePr>
          <p:cNvPr id="98" name="表格 97"/>
          <p:cNvGraphicFramePr>
            <a:graphicFrameLocks noGrp="1"/>
          </p:cNvGraphicFramePr>
          <p:nvPr/>
        </p:nvGraphicFramePr>
        <p:xfrm>
          <a:off x="528747" y="5478722"/>
          <a:ext cx="2413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00"/>
                <a:gridCol w="402300"/>
                <a:gridCol w="402300"/>
                <a:gridCol w="402300"/>
                <a:gridCol w="402300"/>
                <a:gridCol w="4023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Text Box 64"/>
          <p:cNvSpPr txBox="1">
            <a:spLocks noChangeArrowheads="1"/>
          </p:cNvSpPr>
          <p:nvPr/>
        </p:nvSpPr>
        <p:spPr bwMode="auto">
          <a:xfrm>
            <a:off x="582011" y="4989981"/>
            <a:ext cx="10118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609020205090404" pitchFamily="49" charset="0"/>
                <a:ea typeface="宋体" pitchFamily="2" charset="-122"/>
              </a:rPr>
              <a:t>Output</a:t>
            </a:r>
            <a:endParaRPr lang="en-US" altLang="zh-CN" sz="1800" b="1" dirty="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06" name="Rectangle 3"/>
          <p:cNvSpPr>
            <a:spLocks noChangeArrowheads="1"/>
          </p:cNvSpPr>
          <p:nvPr/>
        </p:nvSpPr>
        <p:spPr bwMode="auto">
          <a:xfrm>
            <a:off x="1387293" y="4057827"/>
            <a:ext cx="326231" cy="32623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7" name="Line 67"/>
          <p:cNvSpPr>
            <a:spLocks noChangeShapeType="1"/>
          </p:cNvSpPr>
          <p:nvPr/>
        </p:nvSpPr>
        <p:spPr bwMode="auto">
          <a:xfrm>
            <a:off x="1772816" y="4945994"/>
            <a:ext cx="0" cy="28694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8" name="Oval 4"/>
          <p:cNvSpPr>
            <a:spLocks noChangeArrowheads="1"/>
          </p:cNvSpPr>
          <p:nvPr/>
        </p:nvSpPr>
        <p:spPr bwMode="auto">
          <a:xfrm>
            <a:off x="599802" y="5528433"/>
            <a:ext cx="266772" cy="2884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3841" y="6442108"/>
            <a:ext cx="16912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Sitka Text" panose="02000505000000020004" pitchFamily="2" charset="0"/>
              </a:rPr>
              <a:t>Delete this vertex of in-degree 0 and all its outgoing edges from the graph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  <p:sp>
        <p:nvSpPr>
          <p:cNvPr id="109" name="Line 67"/>
          <p:cNvSpPr>
            <a:spLocks noChangeShapeType="1"/>
          </p:cNvSpPr>
          <p:nvPr/>
        </p:nvSpPr>
        <p:spPr bwMode="auto">
          <a:xfrm>
            <a:off x="1772816" y="6388968"/>
            <a:ext cx="0" cy="28694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110" name="表格 109"/>
          <p:cNvGraphicFramePr>
            <a:graphicFrameLocks noGrp="1"/>
          </p:cNvGraphicFramePr>
          <p:nvPr/>
        </p:nvGraphicFramePr>
        <p:xfrm>
          <a:off x="4339430" y="3963947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1" name="表格 110"/>
          <p:cNvGraphicFramePr>
            <a:graphicFrameLocks noGrp="1"/>
          </p:cNvGraphicFramePr>
          <p:nvPr/>
        </p:nvGraphicFramePr>
        <p:xfrm>
          <a:off x="4939988" y="3996343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表格 111"/>
          <p:cNvGraphicFramePr>
            <a:graphicFrameLocks noGrp="1"/>
          </p:cNvGraphicFramePr>
          <p:nvPr/>
        </p:nvGraphicFramePr>
        <p:xfrm>
          <a:off x="5915858" y="3996343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表格 114"/>
          <p:cNvGraphicFramePr>
            <a:graphicFrameLocks noGrp="1"/>
          </p:cNvGraphicFramePr>
          <p:nvPr/>
        </p:nvGraphicFramePr>
        <p:xfrm>
          <a:off x="3572985" y="3963502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任意多边形 11"/>
          <p:cNvSpPr/>
          <p:nvPr/>
        </p:nvSpPr>
        <p:spPr>
          <a:xfrm>
            <a:off x="4114800" y="6838950"/>
            <a:ext cx="364388" cy="704850"/>
          </a:xfrm>
          <a:custGeom>
            <a:avLst/>
            <a:gdLst>
              <a:gd name="connsiteX0" fmla="*/ 247650 w 364388"/>
              <a:gd name="connsiteY0" fmla="*/ 704850 h 704850"/>
              <a:gd name="connsiteX1" fmla="*/ 352425 w 364388"/>
              <a:gd name="connsiteY1" fmla="*/ 495300 h 704850"/>
              <a:gd name="connsiteX2" fmla="*/ 0 w 364388"/>
              <a:gd name="connsiteY2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4388" h="704850">
                <a:moveTo>
                  <a:pt x="247650" y="704850"/>
                </a:moveTo>
                <a:cubicBezTo>
                  <a:pt x="320675" y="658812"/>
                  <a:pt x="393700" y="612775"/>
                  <a:pt x="352425" y="495300"/>
                </a:cubicBezTo>
                <a:cubicBezTo>
                  <a:pt x="311150" y="377825"/>
                  <a:pt x="95250" y="106362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65104" y="7029270"/>
            <a:ext cx="24272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Sitka Text" panose="02000505000000020004" pitchFamily="2" charset="0"/>
              </a:rPr>
              <a:t>update In-Degree array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  <p:graphicFrame>
        <p:nvGraphicFramePr>
          <p:cNvPr id="116" name="表格 115"/>
          <p:cNvGraphicFramePr>
            <a:graphicFrameLocks noGrp="1"/>
          </p:cNvGraphicFramePr>
          <p:nvPr/>
        </p:nvGraphicFramePr>
        <p:xfrm>
          <a:off x="3572806" y="3962642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200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200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200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200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200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17" name="Rectangle 63"/>
          <p:cNvSpPr>
            <a:spLocks noChangeArrowheads="1"/>
          </p:cNvSpPr>
          <p:nvPr/>
        </p:nvSpPr>
        <p:spPr bwMode="auto">
          <a:xfrm>
            <a:off x="2149084" y="4050130"/>
            <a:ext cx="326231" cy="326231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2885286" y="4394737"/>
            <a:ext cx="543714" cy="32074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矩形 15"/>
          <p:cNvSpPr/>
          <p:nvPr/>
        </p:nvSpPr>
        <p:spPr>
          <a:xfrm>
            <a:off x="2471166" y="4606685"/>
            <a:ext cx="11014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Sitka Text" panose="02000505000000020004" pitchFamily="2" charset="0"/>
              </a:rPr>
              <a:t>enqueue</a:t>
            </a:r>
            <a:r>
              <a:rPr lang="en-US" altLang="zh-CN" sz="1600" dirty="0">
                <a:latin typeface="Sitka Text" panose="02000505000000020004" pitchFamily="2" charset="0"/>
              </a:rPr>
              <a:t> in-degree 0 vertex 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97" grpId="0"/>
      <p:bldP spid="105" grpId="0"/>
      <p:bldP spid="106" grpId="0" animBg="1"/>
      <p:bldP spid="107" grpId="0" animBg="1"/>
      <p:bldP spid="108" grpId="0" animBg="1"/>
      <p:bldP spid="11" grpId="0"/>
      <p:bldP spid="109" grpId="0" animBg="1"/>
      <p:bldP spid="12" grpId="0" animBg="1"/>
      <p:bldP spid="13" grpId="0"/>
      <p:bldP spid="117" grpId="0" animBg="1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7A37774-6A02-4D21-8C68-FF39ABE5D31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837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5837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6483883-AB2D-40C3-B869-DF81C6C1B3C5}" type="slidenum">
              <a:rPr lang="en-US" altLang="zh-CN" sz="1050"/>
            </a:fld>
            <a:endParaRPr lang="en-US" altLang="zh-CN" sz="1050"/>
          </a:p>
        </p:txBody>
      </p:sp>
      <p:sp>
        <p:nvSpPr>
          <p:cNvPr id="58373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Topological Sort Algorithm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8374" name="Rectangle 3"/>
          <p:cNvSpPr>
            <a:spLocks noChangeArrowheads="1"/>
          </p:cNvSpPr>
          <p:nvPr/>
        </p:nvSpPr>
        <p:spPr bwMode="auto">
          <a:xfrm>
            <a:off x="359578" y="2915816"/>
            <a:ext cx="6200775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990600" indent="-53340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3144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2098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AutoNum type="arabicPeriod"/>
            </a:pPr>
            <a:r>
              <a:rPr lang="en-US" altLang="zh-CN" sz="2100" dirty="0">
                <a:latin typeface="Sitka Text" panose="02000505000000020004" pitchFamily="2" charset="0"/>
                <a:ea typeface="宋体" pitchFamily="2" charset="-122"/>
              </a:rPr>
              <a:t>Store each vertex’s In-Degree in an array D</a:t>
            </a:r>
            <a:endParaRPr lang="en-US" altLang="zh-CN" sz="2100" dirty="0">
              <a:latin typeface="Sitka Text" panose="02000505000000020004" pitchFamily="2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Tx/>
              <a:buAutoNum type="arabicPeriod"/>
            </a:pPr>
            <a:r>
              <a:rPr lang="en-US" altLang="zh-CN" sz="2100" dirty="0">
                <a:latin typeface="Sitka Text" panose="02000505000000020004" pitchFamily="2" charset="0"/>
                <a:ea typeface="宋体" pitchFamily="2" charset="-122"/>
              </a:rPr>
              <a:t>Initialize queue with all </a:t>
            </a:r>
            <a:r>
              <a:rPr lang="en-US" altLang="zh-CN" sz="21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“in-degree=0”</a:t>
            </a:r>
            <a:r>
              <a:rPr lang="en-US" altLang="zh-CN" sz="2100" dirty="0">
                <a:latin typeface="Sitka Text" panose="02000505000000020004" pitchFamily="2" charset="0"/>
                <a:ea typeface="宋体" pitchFamily="2" charset="-122"/>
              </a:rPr>
              <a:t> vertices</a:t>
            </a:r>
            <a:endParaRPr lang="en-US" altLang="zh-CN" sz="2100" dirty="0">
              <a:latin typeface="Sitka Text" panose="02000505000000020004" pitchFamily="2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Tx/>
              <a:buAutoNum type="arabicPeriod"/>
            </a:pPr>
            <a:r>
              <a:rPr lang="en-US" altLang="zh-CN" sz="2100" dirty="0">
                <a:latin typeface="Sitka Text" panose="02000505000000020004" pitchFamily="2" charset="0"/>
                <a:ea typeface="宋体" pitchFamily="2" charset="-122"/>
              </a:rPr>
              <a:t>While there are vertices remaining in the queue:</a:t>
            </a:r>
            <a:endParaRPr lang="en-US" altLang="zh-CN" sz="2100" dirty="0">
              <a:latin typeface="Sitka Text" panose="02000505000000020004" pitchFamily="2" charset="0"/>
              <a:ea typeface="宋体" pitchFamily="2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(a)</a:t>
            </a:r>
            <a:r>
              <a:rPr lang="en-US" altLang="zh-CN" sz="1800" dirty="0">
                <a:solidFill>
                  <a:schemeClr val="accent2"/>
                </a:solidFill>
                <a:latin typeface="Sitka Text" panose="02000505000000020004" pitchFamily="2" charset="0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Dequeue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and</a:t>
            </a:r>
            <a:r>
              <a:rPr lang="en-US" altLang="zh-CN" sz="1800" dirty="0">
                <a:solidFill>
                  <a:schemeClr val="accent2"/>
                </a:solidFill>
                <a:latin typeface="Sitka Text" panose="02000505000000020004" pitchFamily="2" charset="0"/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output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a vertex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(b)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Reduce In-Degree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of all vertices adjacent to it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by 1</a:t>
            </a:r>
            <a:endParaRPr lang="en-US" altLang="zh-CN" sz="1800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(c) </a:t>
            </a:r>
            <a:r>
              <a:rPr lang="en-US" altLang="zh-CN" sz="1800" dirty="0" err="1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Enqueue</a:t>
            </a:r>
            <a:r>
              <a:rPr lang="en-US" altLang="zh-CN" sz="1800" dirty="0">
                <a:solidFill>
                  <a:schemeClr val="accent2"/>
                </a:solidFill>
                <a:latin typeface="Sitka Text" panose="02000505000000020004" pitchFamily="2" charset="0"/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any of these vertices whose In-Degree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became zero</a:t>
            </a:r>
            <a:endParaRPr lang="en-US" altLang="zh-CN" sz="1800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Tx/>
              <a:buAutoNum type="arabicPeriod"/>
            </a:pPr>
            <a:r>
              <a:rPr lang="en-US" altLang="zh-CN" sz="2100" dirty="0">
                <a:latin typeface="Sitka Text" panose="02000505000000020004" pitchFamily="2" charset="0"/>
                <a:ea typeface="宋体" pitchFamily="2" charset="-122"/>
              </a:rPr>
              <a:t>If all vertices are output then success, otherwise there is a cycle.</a:t>
            </a:r>
            <a:endParaRPr lang="en-US" altLang="zh-CN" sz="2100" dirty="0">
              <a:latin typeface="Sitka Text" panose="02000505000000020004" pitchFamily="2" charset="0"/>
              <a:ea typeface="宋体" pitchFamily="2" charset="-122"/>
            </a:endParaRPr>
          </a:p>
          <a:p>
            <a:pPr lvl="1">
              <a:lnSpc>
                <a:spcPct val="90000"/>
              </a:lnSpc>
              <a:buFontTx/>
              <a:buAutoNum type="arabicPeriod"/>
            </a:pP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Topological Sort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454" y="1979712"/>
            <a:ext cx="6165304" cy="6231911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//Queue-based topological sort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void </a:t>
            </a:r>
            <a:r>
              <a:rPr lang="en-US" altLang="zh-CN" sz="1600" b="1" dirty="0" err="1">
                <a:solidFill>
                  <a:srgbClr val="FF0000"/>
                </a:solidFill>
              </a:rPr>
              <a:t>topsort</a:t>
            </a:r>
            <a:r>
              <a:rPr lang="en-US" altLang="zh-CN" sz="1600" dirty="0"/>
              <a:t>(Graph* G, Queue&lt;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&gt;* Q) {</a:t>
            </a:r>
            <a:endParaRPr lang="en-US" altLang="zh-CN" sz="1600" dirty="0"/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InDgree</a:t>
            </a:r>
            <a:r>
              <a:rPr lang="en-US" altLang="zh-CN" sz="1600" dirty="0" smtClean="0"/>
              <a:t>[G-</a:t>
            </a:r>
            <a:r>
              <a:rPr lang="en-US" altLang="zh-CN" sz="1600" dirty="0"/>
              <a:t>&gt;n()];  </a:t>
            </a:r>
            <a:r>
              <a:rPr lang="en-US" altLang="zh-CN" sz="1600" dirty="0">
                <a:solidFill>
                  <a:srgbClr val="008000"/>
                </a:solidFill>
              </a:rPr>
              <a:t>//the size is the number of vertices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v, w;</a:t>
            </a:r>
            <a:endParaRPr lang="en-US" altLang="zh-CN" sz="1600" dirty="0"/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</a:t>
            </a:r>
            <a:r>
              <a:rPr lang="en-US" altLang="zh-CN" sz="1600" dirty="0"/>
              <a:t>for (v=0; v&lt;G-&gt;n(); v++) </a:t>
            </a:r>
            <a:r>
              <a:rPr lang="en-US" altLang="zh-CN" sz="1600" dirty="0" err="1"/>
              <a:t>InDgree</a:t>
            </a:r>
            <a:r>
              <a:rPr lang="en-US" altLang="zh-CN" sz="1600" dirty="0" smtClean="0"/>
              <a:t>[v</a:t>
            </a:r>
            <a:r>
              <a:rPr lang="en-US" altLang="zh-CN" sz="1600" dirty="0"/>
              <a:t>] = 0; </a:t>
            </a:r>
            <a:r>
              <a:rPr lang="en-US" altLang="zh-CN" sz="1600" dirty="0">
                <a:solidFill>
                  <a:srgbClr val="008000"/>
                </a:solidFill>
              </a:rPr>
              <a:t>//initialize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en-US" altLang="zh-CN" sz="1600" dirty="0">
              <a:solidFill>
                <a:srgbClr val="00B05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</a:t>
            </a:r>
            <a:r>
              <a:rPr lang="en-US" altLang="zh-CN" sz="1600" dirty="0" smtClean="0">
                <a:solidFill>
                  <a:srgbClr val="008000"/>
                </a:solidFill>
              </a:rPr>
              <a:t>//</a:t>
            </a:r>
            <a:r>
              <a:rPr lang="en-US" altLang="zh-CN" sz="1600" dirty="0">
                <a:solidFill>
                  <a:srgbClr val="008000"/>
                </a:solidFill>
              </a:rPr>
              <a:t>compute </a:t>
            </a:r>
            <a:r>
              <a:rPr lang="en-US" altLang="zh-CN" sz="1600" dirty="0" err="1">
                <a:solidFill>
                  <a:srgbClr val="008000"/>
                </a:solidFill>
              </a:rPr>
              <a:t>indgree</a:t>
            </a:r>
            <a:r>
              <a:rPr lang="en-US" altLang="zh-CN" sz="1600" dirty="0">
                <a:solidFill>
                  <a:srgbClr val="008000"/>
                </a:solidFill>
              </a:rPr>
              <a:t> </a:t>
            </a:r>
            <a:r>
              <a:rPr lang="en-US" altLang="zh-CN" sz="1600" dirty="0" smtClean="0">
                <a:solidFill>
                  <a:srgbClr val="008000"/>
                </a:solidFill>
              </a:rPr>
              <a:t>for </a:t>
            </a:r>
            <a:r>
              <a:rPr lang="en-US" altLang="zh-CN" sz="1600" dirty="0">
                <a:solidFill>
                  <a:srgbClr val="008000"/>
                </a:solidFill>
              </a:rPr>
              <a:t>every vertex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for </a:t>
            </a:r>
            <a:r>
              <a:rPr lang="en-US" altLang="zh-CN" sz="1600" dirty="0"/>
              <a:t>(v=0; v&lt;G-&gt;n(); v++) </a:t>
            </a:r>
            <a:r>
              <a:rPr lang="en-US" altLang="zh-CN" sz="1600" dirty="0">
                <a:solidFill>
                  <a:srgbClr val="008000"/>
                </a:solidFill>
              </a:rPr>
              <a:t>// Process every edge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  </a:t>
            </a:r>
            <a:r>
              <a:rPr lang="en-US" altLang="zh-CN" sz="1600" dirty="0" smtClean="0"/>
              <a:t>      for </a:t>
            </a:r>
            <a:r>
              <a:rPr lang="en-US" altLang="zh-CN" sz="1600" dirty="0"/>
              <a:t>(w=G-&gt;first(v); w&lt;G-&gt;n(); w=G-&gt;next(</a:t>
            </a:r>
            <a:r>
              <a:rPr lang="en-US" altLang="zh-CN" sz="1600" dirty="0" err="1"/>
              <a:t>v,w</a:t>
            </a:r>
            <a:r>
              <a:rPr lang="en-US" altLang="zh-CN" sz="1600" dirty="0"/>
              <a:t>))</a:t>
            </a:r>
            <a:endParaRPr lang="en-US" altLang="zh-CN" sz="1600" dirty="0"/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/>
              <a:t>      </a:t>
            </a:r>
            <a:r>
              <a:rPr lang="en-US" altLang="zh-CN" sz="1600" dirty="0" smtClean="0"/>
              <a:t>       </a:t>
            </a:r>
            <a:r>
              <a:rPr lang="en-US" altLang="zh-CN" sz="1600" b="1" dirty="0" err="1"/>
              <a:t>InDgree</a:t>
            </a:r>
            <a:r>
              <a:rPr lang="en-US" altLang="zh-CN" sz="1600" b="1" dirty="0"/>
              <a:t> </a:t>
            </a:r>
            <a:r>
              <a:rPr lang="en-US" altLang="zh-CN" sz="1600" b="1" dirty="0" smtClean="0"/>
              <a:t>[</a:t>
            </a:r>
            <a:r>
              <a:rPr lang="en-US" altLang="zh-CN" sz="1600" b="1" dirty="0"/>
              <a:t>w]++;   </a:t>
            </a:r>
            <a:r>
              <a:rPr lang="en-US" altLang="zh-CN" sz="1600" dirty="0">
                <a:solidFill>
                  <a:srgbClr val="008000"/>
                </a:solidFill>
              </a:rPr>
              <a:t>// Add to w's </a:t>
            </a:r>
            <a:r>
              <a:rPr lang="en-US" altLang="zh-CN" sz="1600" dirty="0" err="1" smtClean="0">
                <a:solidFill>
                  <a:srgbClr val="008000"/>
                </a:solidFill>
              </a:rPr>
              <a:t>InDgree</a:t>
            </a:r>
            <a:endParaRPr lang="en-US" altLang="zh-CN" sz="1600" dirty="0" smtClean="0">
              <a:solidFill>
                <a:srgbClr val="008000"/>
              </a:solidFill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sz="1600" dirty="0">
              <a:solidFill>
                <a:srgbClr val="008000"/>
              </a:solidFill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/>
              <a:t>    for (v=0; v&lt;G-&gt;n(); v++) </a:t>
            </a:r>
            <a:r>
              <a:rPr lang="en-US" altLang="zh-CN" sz="1600" dirty="0">
                <a:solidFill>
                  <a:srgbClr val="008000"/>
                </a:solidFill>
              </a:rPr>
              <a:t>// Initialize Queue </a:t>
            </a:r>
            <a:r>
              <a:rPr lang="en-US" altLang="zh-CN" sz="1600" dirty="0" smtClean="0">
                <a:solidFill>
                  <a:srgbClr val="008000"/>
                </a:solidFill>
              </a:rPr>
              <a:t>Q</a:t>
            </a:r>
            <a:endParaRPr lang="en-US" altLang="zh-CN" sz="1600" dirty="0" smtClean="0">
              <a:solidFill>
                <a:srgbClr val="008000"/>
              </a:solidFill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/>
              <a:t>         if (</a:t>
            </a:r>
            <a:r>
              <a:rPr lang="en-US" altLang="zh-CN" sz="1600" b="1" dirty="0" err="1" smtClean="0"/>
              <a:t>InDgree</a:t>
            </a:r>
            <a:r>
              <a:rPr lang="en-US" altLang="zh-CN" sz="1600" b="1" dirty="0" smtClean="0"/>
              <a:t>[v] == 0</a:t>
            </a:r>
            <a:r>
              <a:rPr lang="en-US" altLang="zh-CN" sz="1600" dirty="0" smtClean="0"/>
              <a:t>) </a:t>
            </a:r>
            <a:r>
              <a:rPr lang="en-US" altLang="zh-CN" sz="1600" dirty="0" smtClean="0">
                <a:solidFill>
                  <a:srgbClr val="008000"/>
                </a:solidFill>
              </a:rPr>
              <a:t>// </a:t>
            </a:r>
            <a:r>
              <a:rPr lang="en-US" altLang="zh-CN" sz="1600" dirty="0" err="1" smtClean="0">
                <a:solidFill>
                  <a:srgbClr val="008000"/>
                </a:solidFill>
              </a:rPr>
              <a:t>enqueue</a:t>
            </a:r>
            <a:r>
              <a:rPr lang="en-US" altLang="zh-CN" sz="1600" dirty="0" smtClean="0">
                <a:solidFill>
                  <a:srgbClr val="008000"/>
                </a:solidFill>
              </a:rPr>
              <a:t> v with no prerequisites</a:t>
            </a:r>
            <a:endParaRPr lang="en-US" altLang="zh-CN" sz="1600" dirty="0" smtClean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 smtClean="0"/>
              <a:t>              Q-</a:t>
            </a:r>
            <a:r>
              <a:rPr lang="en-US" altLang="zh-CN" sz="1600" dirty="0"/>
              <a:t>&gt;</a:t>
            </a:r>
            <a:r>
              <a:rPr lang="en-US" altLang="zh-CN" sz="1600" dirty="0" err="1"/>
              <a:t>enqueue</a:t>
            </a:r>
            <a:r>
              <a:rPr lang="en-US" altLang="zh-CN" sz="1600" dirty="0"/>
              <a:t>(v);</a:t>
            </a:r>
            <a:endParaRPr lang="en-US" altLang="zh-CN" sz="16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 </a:t>
            </a:r>
            <a:endParaRPr lang="en-US" altLang="zh-CN" sz="1600" dirty="0"/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while </a:t>
            </a:r>
            <a:r>
              <a:rPr lang="en-US" altLang="zh-CN" sz="1600" dirty="0"/>
              <a:t>(Q-&gt;length() != 0) { </a:t>
            </a:r>
            <a:r>
              <a:rPr lang="en-US" altLang="zh-CN" sz="1600" dirty="0">
                <a:solidFill>
                  <a:srgbClr val="008000"/>
                </a:solidFill>
              </a:rPr>
              <a:t>//process vertices in Q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   </a:t>
            </a:r>
            <a:r>
              <a:rPr lang="en-US" altLang="zh-CN" sz="1600" dirty="0" smtClean="0"/>
              <a:t>     </a:t>
            </a:r>
            <a:r>
              <a:rPr lang="en-US" altLang="zh-CN" sz="1600" b="1" dirty="0" smtClean="0"/>
              <a:t>v </a:t>
            </a:r>
            <a:r>
              <a:rPr lang="en-US" altLang="zh-CN" sz="1600" b="1" dirty="0"/>
              <a:t>= Q-&gt;</a:t>
            </a:r>
            <a:r>
              <a:rPr lang="en-US" altLang="zh-CN" sz="1600" b="1" dirty="0" err="1"/>
              <a:t>dequeue</a:t>
            </a:r>
            <a:r>
              <a:rPr lang="en-US" altLang="zh-CN" sz="1600" b="1" dirty="0"/>
              <a:t>()</a:t>
            </a:r>
            <a:r>
              <a:rPr lang="en-US" altLang="zh-CN" sz="1600" dirty="0"/>
              <a:t>;  </a:t>
            </a:r>
            <a:endParaRPr lang="en-US" altLang="zh-CN" sz="1600" dirty="0" smtClean="0"/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printout(v</a:t>
            </a:r>
            <a:r>
              <a:rPr lang="en-US" altLang="zh-CN" sz="1600" dirty="0"/>
              <a:t>);    </a:t>
            </a:r>
            <a:r>
              <a:rPr lang="en-US" altLang="zh-CN" sz="1600" dirty="0">
                <a:solidFill>
                  <a:srgbClr val="008000"/>
                </a:solidFill>
              </a:rPr>
              <a:t> // </a:t>
            </a:r>
            <a:r>
              <a:rPr lang="en-US" altLang="zh-CN" sz="1600" dirty="0" smtClean="0">
                <a:solidFill>
                  <a:srgbClr val="008000"/>
                </a:solidFill>
              </a:rPr>
              <a:t>output v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   </a:t>
            </a:r>
            <a:endParaRPr lang="en-US" altLang="zh-CN" sz="16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   </a:t>
            </a:r>
            <a:r>
              <a:rPr lang="en-US" altLang="zh-CN" sz="1600" dirty="0" smtClean="0"/>
              <a:t>    for </a:t>
            </a:r>
            <a:r>
              <a:rPr lang="en-US" altLang="zh-CN" sz="1600" dirty="0"/>
              <a:t>(w=G-&gt;first(v); w&lt;G-&gt;n(); w=G-&gt;next(</a:t>
            </a:r>
            <a:r>
              <a:rPr lang="en-US" altLang="zh-CN" sz="1600" dirty="0" err="1"/>
              <a:t>v,w</a:t>
            </a:r>
            <a:r>
              <a:rPr lang="en-US" altLang="zh-CN" sz="1600" dirty="0"/>
              <a:t>)) {</a:t>
            </a:r>
            <a:endParaRPr lang="en-US" altLang="zh-CN" sz="1600" dirty="0"/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/>
              <a:t>      </a:t>
            </a:r>
            <a:r>
              <a:rPr lang="en-US" altLang="zh-CN" sz="1600" dirty="0" smtClean="0"/>
              <a:t>       </a:t>
            </a:r>
            <a:r>
              <a:rPr lang="en-US" altLang="zh-CN" sz="1600" b="1" dirty="0" err="1" smtClean="0"/>
              <a:t>InDgree</a:t>
            </a:r>
            <a:r>
              <a:rPr lang="en-US" altLang="zh-CN" sz="1600" b="1" dirty="0" smtClean="0"/>
              <a:t>[w</a:t>
            </a:r>
            <a:r>
              <a:rPr lang="en-US" altLang="zh-CN" sz="1600" b="1" dirty="0"/>
              <a:t>]--</a:t>
            </a:r>
            <a:r>
              <a:rPr lang="en-US" altLang="zh-CN" sz="1600" dirty="0"/>
              <a:t>;    </a:t>
            </a:r>
            <a:r>
              <a:rPr lang="en-US" altLang="zh-CN" sz="1600" dirty="0">
                <a:solidFill>
                  <a:srgbClr val="008000"/>
                </a:solidFill>
              </a:rPr>
              <a:t>// One less prerequisite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/>
              <a:t>      </a:t>
            </a:r>
            <a:r>
              <a:rPr lang="en-US" altLang="zh-CN" sz="1600" dirty="0" smtClean="0"/>
              <a:t>       if 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InDgree</a:t>
            </a:r>
            <a:r>
              <a:rPr lang="en-US" altLang="zh-CN" sz="1600" dirty="0"/>
              <a:t>[w] == 0) </a:t>
            </a:r>
            <a:r>
              <a:rPr lang="en-US" altLang="zh-CN" sz="1600" dirty="0">
                <a:solidFill>
                  <a:srgbClr val="008000"/>
                </a:solidFill>
              </a:rPr>
              <a:t>//vertex v is now free</a:t>
            </a:r>
            <a:endParaRPr lang="en-US" altLang="zh-CN" sz="16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</a:t>
            </a:r>
            <a:r>
              <a:rPr lang="en-US" altLang="zh-CN" sz="1600" dirty="0" smtClean="0"/>
              <a:t>         </a:t>
            </a:r>
            <a:r>
              <a:rPr lang="en-US" altLang="zh-CN" sz="1600" b="1" dirty="0" smtClean="0"/>
              <a:t>Q-</a:t>
            </a:r>
            <a:r>
              <a:rPr lang="en-US" altLang="zh-CN" sz="1600" b="1" dirty="0"/>
              <a:t>&gt;</a:t>
            </a:r>
            <a:r>
              <a:rPr lang="en-US" altLang="zh-CN" sz="1600" b="1" dirty="0" err="1"/>
              <a:t>enqueue</a:t>
            </a:r>
            <a:r>
              <a:rPr lang="en-US" altLang="zh-CN" sz="1600" b="1" dirty="0"/>
              <a:t>(w)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/>
              <a:t>    </a:t>
            </a:r>
            <a:r>
              <a:rPr lang="en-US" altLang="zh-CN" sz="1600" dirty="0" smtClean="0"/>
              <a:t>    }</a:t>
            </a:r>
            <a:endParaRPr lang="en-US" altLang="zh-CN" sz="1600" dirty="0" smtClean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 smtClean="0"/>
              <a:t>    }</a:t>
            </a:r>
            <a:endParaRPr lang="en-US" altLang="zh-CN" sz="1600" dirty="0" smtClean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 smtClean="0"/>
              <a:t>}</a:t>
            </a:r>
            <a:endParaRPr lang="zh-CN" altLang="en-US" sz="1600" dirty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D5378C0-A19F-4C32-9B78-3449331C263B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矩形 1"/>
          <p:cNvSpPr/>
          <p:nvPr/>
        </p:nvSpPr>
        <p:spPr>
          <a:xfrm>
            <a:off x="4293096" y="8211623"/>
            <a:ext cx="17315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Sitka Text" panose="02000505000000020004" pitchFamily="2" charset="0"/>
              </a:rPr>
              <a:t>breadth-first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EE08E8-DE22-43C9-8CF6-B94FF533BCE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9-2 Graph Algorithms 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A0C4413-4860-487E-BD40-D8DEAA73810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614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614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F7D345D-D5B1-4B3E-9DFE-1F13CAA6073B}" type="slidenum">
              <a:rPr lang="en-US" altLang="zh-CN" sz="1050"/>
            </a:fld>
            <a:endParaRPr lang="en-US" altLang="zh-CN" sz="1050"/>
          </a:p>
        </p:txBody>
      </p:sp>
      <p:sp>
        <p:nvSpPr>
          <p:cNvPr id="6144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Topological Sort Analysis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614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04664" y="2915816"/>
            <a:ext cx="5829300" cy="3829050"/>
          </a:xfrm>
        </p:spPr>
        <p:txBody>
          <a:bodyPr/>
          <a:lstStyle/>
          <a:p>
            <a:r>
              <a:rPr lang="en-US" altLang="zh-CN" sz="1800" dirty="0">
                <a:ea typeface="宋体" pitchFamily="2" charset="-122"/>
              </a:rPr>
              <a:t>Initialize In-Degree array: O(|V| + |E|)</a:t>
            </a:r>
            <a:endParaRPr lang="en-US" altLang="zh-CN" sz="1800" dirty="0">
              <a:ea typeface="宋体" pitchFamily="2" charset="-122"/>
            </a:endParaRPr>
          </a:p>
          <a:p>
            <a:r>
              <a:rPr lang="en-US" altLang="zh-CN" sz="1800" dirty="0">
                <a:ea typeface="宋体" pitchFamily="2" charset="-122"/>
              </a:rPr>
              <a:t> Initialize Queue with In-Degree 0 vertices: O(|V|)</a:t>
            </a:r>
            <a:endParaRPr lang="en-US" altLang="zh-CN" sz="1800" dirty="0">
              <a:ea typeface="宋体" pitchFamily="2" charset="-122"/>
            </a:endParaRPr>
          </a:p>
          <a:p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 err="1">
                <a:ea typeface="宋体" pitchFamily="2" charset="-122"/>
              </a:rPr>
              <a:t>Dequeue</a:t>
            </a:r>
            <a:r>
              <a:rPr lang="en-US" altLang="zh-CN" sz="1800" dirty="0">
                <a:ea typeface="宋体" pitchFamily="2" charset="-122"/>
              </a:rPr>
              <a:t> and output vertex:</a:t>
            </a:r>
            <a:endParaRPr lang="en-US" altLang="zh-CN" sz="1800" dirty="0">
              <a:ea typeface="宋体" pitchFamily="2" charset="-122"/>
            </a:endParaRPr>
          </a:p>
          <a:p>
            <a:pPr lvl="1"/>
            <a:r>
              <a:rPr lang="en-US" altLang="zh-CN" sz="1800" dirty="0">
                <a:ea typeface="宋体" pitchFamily="2" charset="-122"/>
              </a:rPr>
              <a:t>|V| vertices, each takes only O(1) to </a:t>
            </a:r>
            <a:r>
              <a:rPr lang="en-US" altLang="zh-CN" sz="1800" dirty="0" err="1">
                <a:ea typeface="宋体" pitchFamily="2" charset="-122"/>
              </a:rPr>
              <a:t>dequeue</a:t>
            </a:r>
            <a:r>
              <a:rPr lang="en-US" altLang="zh-CN" sz="1800" dirty="0">
                <a:ea typeface="宋体" pitchFamily="2" charset="-122"/>
              </a:rPr>
              <a:t> and output: O(|V|) </a:t>
            </a:r>
            <a:endParaRPr lang="en-US" altLang="zh-CN" sz="1800" dirty="0">
              <a:ea typeface="宋体" pitchFamily="2" charset="-122"/>
            </a:endParaRPr>
          </a:p>
          <a:p>
            <a:r>
              <a:rPr lang="en-US" altLang="zh-CN" sz="1800" dirty="0">
                <a:ea typeface="宋体" pitchFamily="2" charset="-122"/>
              </a:rPr>
              <a:t> Reduce In-Degree of all vertices adjacent to a vertex and </a:t>
            </a:r>
            <a:r>
              <a:rPr lang="en-US" altLang="zh-CN" sz="1800" dirty="0" err="1">
                <a:ea typeface="宋体" pitchFamily="2" charset="-122"/>
              </a:rPr>
              <a:t>Enqueue</a:t>
            </a:r>
            <a:r>
              <a:rPr lang="en-US" altLang="zh-CN" sz="1800" dirty="0">
                <a:ea typeface="宋体" pitchFamily="2" charset="-122"/>
              </a:rPr>
              <a:t> any In-Degree 0 vertices:</a:t>
            </a:r>
            <a:endParaRPr lang="en-US" altLang="zh-CN" sz="1800" dirty="0">
              <a:ea typeface="宋体" pitchFamily="2" charset="-122"/>
            </a:endParaRPr>
          </a:p>
          <a:p>
            <a:pPr lvl="1"/>
            <a:r>
              <a:rPr lang="en-US" altLang="zh-CN" sz="1800" dirty="0">
                <a:ea typeface="宋体" pitchFamily="2" charset="-122"/>
              </a:rPr>
              <a:t> O(|E|)   </a:t>
            </a:r>
            <a:endParaRPr lang="en-US" altLang="zh-CN" sz="1800" dirty="0">
              <a:ea typeface="宋体" pitchFamily="2" charset="-122"/>
            </a:endParaRPr>
          </a:p>
          <a:p>
            <a:r>
              <a:rPr lang="en-US" altLang="zh-CN" sz="1800" dirty="0">
                <a:solidFill>
                  <a:srgbClr val="263AF8"/>
                </a:solidFill>
                <a:ea typeface="宋体" pitchFamily="2" charset="-122"/>
              </a:rPr>
              <a:t>For input graph G=(V,E) run time  =  O(|V| + |E|)</a:t>
            </a:r>
            <a:endParaRPr lang="en-US" altLang="zh-CN" sz="1800" dirty="0">
              <a:solidFill>
                <a:srgbClr val="263AF8"/>
              </a:solidFill>
              <a:ea typeface="宋体" pitchFamily="2" charset="-122"/>
            </a:endParaRPr>
          </a:p>
          <a:p>
            <a:pPr lvl="1"/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Linear time!</a:t>
            </a:r>
            <a:endParaRPr lang="en-US" altLang="zh-CN" sz="1800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9E43C86-B8AA-4093-8C97-1E8E827CEB6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614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9-2 Graph Algorithms II</a:t>
            </a:r>
            <a:endParaRPr lang="en-US" altLang="zh-CN" sz="1050"/>
          </a:p>
        </p:txBody>
      </p:sp>
      <p:sp>
        <p:nvSpPr>
          <p:cNvPr id="614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F7D345D-D5B1-4B3E-9DFE-1F13CAA6073B}" type="slidenum">
              <a:rPr lang="en-US" altLang="zh-CN" sz="1050"/>
            </a:fld>
            <a:endParaRPr lang="en-US" altLang="zh-CN" sz="1050"/>
          </a:p>
        </p:txBody>
      </p:sp>
      <p:sp>
        <p:nvSpPr>
          <p:cNvPr id="6144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Another Topological Sort </a:t>
            </a:r>
            <a:r>
              <a:rPr lang="en-US" altLang="zh-CN" dirty="0"/>
              <a:t>Algorithm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614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04664" y="2234960"/>
            <a:ext cx="5829300" cy="4509906"/>
          </a:xfrm>
        </p:spPr>
        <p:txBody>
          <a:bodyPr>
            <a:normAutofit/>
          </a:bodyPr>
          <a:lstStyle/>
          <a:p>
            <a:r>
              <a:rPr lang="en-US" altLang="zh-CN" sz="2000" dirty="0" smtClean="0"/>
              <a:t>Topological </a:t>
            </a:r>
            <a:r>
              <a:rPr lang="en-US" altLang="zh-CN" sz="2000" dirty="0"/>
              <a:t>Sort using a </a:t>
            </a:r>
            <a:r>
              <a:rPr lang="en-US" altLang="zh-CN" sz="2000" dirty="0" smtClean="0"/>
              <a:t>depth-first strategy</a:t>
            </a:r>
            <a:endParaRPr lang="en-US" altLang="zh-CN" sz="2000" dirty="0" smtClean="0"/>
          </a:p>
          <a:p>
            <a:pPr lvl="1"/>
            <a:r>
              <a:rPr lang="en-US" altLang="zh-CN" sz="1800" dirty="0" smtClean="0"/>
              <a:t>When </a:t>
            </a:r>
            <a:r>
              <a:rPr lang="en-US" altLang="zh-CN" sz="1800" dirty="0"/>
              <a:t>a vertex is visited, </a:t>
            </a:r>
            <a:r>
              <a:rPr lang="en-US" altLang="zh-CN" sz="1800" dirty="0" smtClean="0"/>
              <a:t>do </a:t>
            </a:r>
            <a:r>
              <a:rPr lang="en-US" altLang="zh-CN" sz="1800" dirty="0"/>
              <a:t>nothing</a:t>
            </a:r>
            <a:endParaRPr lang="en-US" altLang="zh-CN" sz="1800" dirty="0"/>
          </a:p>
          <a:p>
            <a:pPr lvl="1"/>
            <a:r>
              <a:rPr lang="en-US" altLang="zh-CN" sz="1800" dirty="0"/>
              <a:t>When the recursion pops back to that vertex, </a:t>
            </a:r>
            <a:r>
              <a:rPr lang="en-US" altLang="zh-CN" sz="1800" dirty="0" smtClean="0"/>
              <a:t>print </a:t>
            </a:r>
            <a:r>
              <a:rPr lang="en-US" altLang="zh-CN" sz="1800" dirty="0"/>
              <a:t>the </a:t>
            </a:r>
            <a:r>
              <a:rPr lang="en-US" altLang="zh-CN" sz="1800" dirty="0" smtClean="0"/>
              <a:t>vertex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A </a:t>
            </a:r>
            <a:r>
              <a:rPr lang="en-US" altLang="zh-CN" sz="1800" dirty="0"/>
              <a:t>topological sort is printed </a:t>
            </a:r>
            <a:r>
              <a:rPr lang="en-US" altLang="zh-CN" sz="1800" dirty="0">
                <a:solidFill>
                  <a:srgbClr val="FF0000"/>
                </a:solidFill>
              </a:rPr>
              <a:t>in reversed order</a:t>
            </a:r>
            <a:r>
              <a:rPr lang="en-US" altLang="zh-CN" sz="1800" dirty="0"/>
              <a:t>.</a:t>
            </a:r>
            <a:endParaRPr lang="en-US" altLang="zh-CN" sz="1800" dirty="0"/>
          </a:p>
          <a:p>
            <a:pPr lvl="1"/>
            <a:endParaRPr lang="en-US" altLang="zh-CN" sz="16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2454" y="4067944"/>
            <a:ext cx="623891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void </a:t>
            </a:r>
            <a:r>
              <a:rPr lang="en-US" altLang="zh-CN" dirty="0" err="1">
                <a:latin typeface="Sitka Text" panose="02000505000000020004" pitchFamily="2" charset="0"/>
              </a:rPr>
              <a:t>topsort</a:t>
            </a:r>
            <a:r>
              <a:rPr lang="en-US" altLang="zh-CN" dirty="0">
                <a:latin typeface="Sitka Text" panose="02000505000000020004" pitchFamily="2" charset="0"/>
              </a:rPr>
              <a:t>(Graph* G) { 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</a:t>
            </a:r>
            <a:r>
              <a:rPr lang="en-US" altLang="zh-CN" dirty="0" smtClean="0">
                <a:latin typeface="Sitka Text" panose="02000505000000020004" pitchFamily="2" charset="0"/>
              </a:rPr>
              <a:t>  </a:t>
            </a:r>
            <a:r>
              <a:rPr lang="en-US" altLang="zh-CN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</a:t>
            </a:r>
            <a:r>
              <a:rPr lang="en-US" altLang="zh-CN" dirty="0" smtClean="0">
                <a:latin typeface="Sitka Text" panose="02000505000000020004" pitchFamily="2" charset="0"/>
              </a:rPr>
              <a:t>  for </a:t>
            </a:r>
            <a:r>
              <a:rPr lang="en-US" altLang="zh-CN" dirty="0">
                <a:latin typeface="Sitka Text" panose="02000505000000020004" pitchFamily="2" charset="0"/>
              </a:rPr>
              <a:t>(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=0;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&lt;G-&gt;n();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++)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Initialize Mark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</a:t>
            </a:r>
            <a:r>
              <a:rPr lang="en-US" altLang="zh-CN" dirty="0" smtClean="0">
                <a:latin typeface="Sitka Text" panose="02000505000000020004" pitchFamily="2" charset="0"/>
              </a:rPr>
              <a:t>    G-</a:t>
            </a:r>
            <a:r>
              <a:rPr lang="en-US" altLang="zh-CN" dirty="0">
                <a:latin typeface="Sitka Text" panose="02000505000000020004" pitchFamily="2" charset="0"/>
              </a:rPr>
              <a:t>&gt;</a:t>
            </a:r>
            <a:r>
              <a:rPr lang="en-US" altLang="zh-CN" dirty="0" err="1">
                <a:latin typeface="Sitka Text" panose="02000505000000020004" pitchFamily="2" charset="0"/>
              </a:rPr>
              <a:t>setMark</a:t>
            </a:r>
            <a:r>
              <a:rPr lang="en-US" altLang="zh-CN" dirty="0">
                <a:latin typeface="Sitka Text" panose="02000505000000020004" pitchFamily="2" charset="0"/>
              </a:rPr>
              <a:t>(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, UNVISITED);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</a:t>
            </a:r>
            <a:r>
              <a:rPr lang="en-US" altLang="zh-CN" dirty="0" smtClean="0">
                <a:latin typeface="Sitka Text" panose="02000505000000020004" pitchFamily="2" charset="0"/>
              </a:rPr>
              <a:t>  for </a:t>
            </a:r>
            <a:r>
              <a:rPr lang="en-US" altLang="zh-CN" dirty="0">
                <a:latin typeface="Sitka Text" panose="02000505000000020004" pitchFamily="2" charset="0"/>
              </a:rPr>
              <a:t>(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=0;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&lt;G-&gt;n();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++)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Process vertices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</a:t>
            </a:r>
            <a:r>
              <a:rPr lang="en-US" altLang="zh-CN" dirty="0" smtClean="0">
                <a:latin typeface="Sitka Text" panose="02000505000000020004" pitchFamily="2" charset="0"/>
              </a:rPr>
              <a:t>    if </a:t>
            </a:r>
            <a:r>
              <a:rPr lang="en-US" altLang="zh-CN" dirty="0">
                <a:latin typeface="Sitka Text" panose="02000505000000020004" pitchFamily="2" charset="0"/>
              </a:rPr>
              <a:t>(G-&gt;</a:t>
            </a:r>
            <a:r>
              <a:rPr lang="en-US" altLang="zh-CN" dirty="0" err="1">
                <a:latin typeface="Sitka Text" panose="02000505000000020004" pitchFamily="2" charset="0"/>
              </a:rPr>
              <a:t>getMark</a:t>
            </a:r>
            <a:r>
              <a:rPr lang="en-US" altLang="zh-CN" dirty="0">
                <a:latin typeface="Sitka Text" panose="02000505000000020004" pitchFamily="2" charset="0"/>
              </a:rPr>
              <a:t>(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) == UNVISITED)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  </a:t>
            </a:r>
            <a:r>
              <a:rPr lang="en-US" altLang="zh-CN" dirty="0" smtClean="0">
                <a:latin typeface="Sitka Text" panose="02000505000000020004" pitchFamily="2" charset="0"/>
              </a:rPr>
              <a:t>      </a:t>
            </a:r>
            <a:r>
              <a:rPr lang="en-US" altLang="zh-CN" dirty="0" err="1" smtClean="0">
                <a:latin typeface="Sitka Text" panose="02000505000000020004" pitchFamily="2" charset="0"/>
              </a:rPr>
              <a:t>tophelp</a:t>
            </a:r>
            <a:r>
              <a:rPr lang="en-US" altLang="zh-CN" dirty="0" smtClean="0">
                <a:latin typeface="Sitka Text" panose="02000505000000020004" pitchFamily="2" charset="0"/>
              </a:rPr>
              <a:t>(G</a:t>
            </a:r>
            <a:r>
              <a:rPr lang="en-US" altLang="zh-CN" dirty="0">
                <a:latin typeface="Sitka Text" panose="02000505000000020004" pitchFamily="2" charset="0"/>
              </a:rPr>
              <a:t>,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);      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Call helper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  <a:p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void </a:t>
            </a:r>
            <a:r>
              <a:rPr lang="en-US" altLang="zh-CN" dirty="0" err="1">
                <a:latin typeface="Sitka Text" panose="02000505000000020004" pitchFamily="2" charset="0"/>
              </a:rPr>
              <a:t>tophelp</a:t>
            </a:r>
            <a:r>
              <a:rPr lang="en-US" altLang="zh-CN" dirty="0">
                <a:latin typeface="Sitka Text" panose="02000505000000020004" pitchFamily="2" charset="0"/>
              </a:rPr>
              <a:t>(Graph* G,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v) {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Process v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</a:t>
            </a:r>
            <a:r>
              <a:rPr lang="en-US" altLang="zh-CN" dirty="0" smtClean="0">
                <a:latin typeface="Sitka Text" panose="02000505000000020004" pitchFamily="2" charset="0"/>
              </a:rPr>
              <a:t>  G-</a:t>
            </a:r>
            <a:r>
              <a:rPr lang="en-US" altLang="zh-CN" dirty="0">
                <a:latin typeface="Sitka Text" panose="02000505000000020004" pitchFamily="2" charset="0"/>
              </a:rPr>
              <a:t>&gt;</a:t>
            </a:r>
            <a:r>
              <a:rPr lang="en-US" altLang="zh-CN" dirty="0" err="1">
                <a:latin typeface="Sitka Text" panose="02000505000000020004" pitchFamily="2" charset="0"/>
              </a:rPr>
              <a:t>setMark</a:t>
            </a:r>
            <a:r>
              <a:rPr lang="en-US" altLang="zh-CN" dirty="0">
                <a:latin typeface="Sitka Text" panose="02000505000000020004" pitchFamily="2" charset="0"/>
              </a:rPr>
              <a:t>(v, VISITED);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</a:t>
            </a:r>
            <a:r>
              <a:rPr lang="en-US" altLang="zh-CN" dirty="0" smtClean="0">
                <a:latin typeface="Sitka Text" panose="02000505000000020004" pitchFamily="2" charset="0"/>
              </a:rPr>
              <a:t>  for </a:t>
            </a:r>
            <a:r>
              <a:rPr lang="en-US" altLang="zh-CN" dirty="0">
                <a:latin typeface="Sitka Text" panose="02000505000000020004" pitchFamily="2" charset="0"/>
              </a:rPr>
              <a:t>(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w=G-&gt;first(v); w&lt;G-&gt;n(); w=G-&gt;next(</a:t>
            </a:r>
            <a:r>
              <a:rPr lang="en-US" altLang="zh-CN" dirty="0" err="1">
                <a:latin typeface="Sitka Text" panose="02000505000000020004" pitchFamily="2" charset="0"/>
              </a:rPr>
              <a:t>v,w</a:t>
            </a:r>
            <a:r>
              <a:rPr lang="en-US" altLang="zh-CN" dirty="0">
                <a:latin typeface="Sitka Text" panose="02000505000000020004" pitchFamily="2" charset="0"/>
              </a:rPr>
              <a:t>))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</a:t>
            </a:r>
            <a:r>
              <a:rPr lang="en-US" altLang="zh-CN" dirty="0" smtClean="0">
                <a:latin typeface="Sitka Text" panose="02000505000000020004" pitchFamily="2" charset="0"/>
              </a:rPr>
              <a:t>    if </a:t>
            </a:r>
            <a:r>
              <a:rPr lang="en-US" altLang="zh-CN" dirty="0">
                <a:latin typeface="Sitka Text" panose="02000505000000020004" pitchFamily="2" charset="0"/>
              </a:rPr>
              <a:t>(G-&gt;</a:t>
            </a:r>
            <a:r>
              <a:rPr lang="en-US" altLang="zh-CN" dirty="0" err="1">
                <a:latin typeface="Sitka Text" panose="02000505000000020004" pitchFamily="2" charset="0"/>
              </a:rPr>
              <a:t>getMark</a:t>
            </a:r>
            <a:r>
              <a:rPr lang="en-US" altLang="zh-CN" dirty="0">
                <a:latin typeface="Sitka Text" panose="02000505000000020004" pitchFamily="2" charset="0"/>
              </a:rPr>
              <a:t>(w) == UNVISITED)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  </a:t>
            </a:r>
            <a:r>
              <a:rPr lang="en-US" altLang="zh-CN" dirty="0" smtClean="0">
                <a:latin typeface="Sitka Text" panose="02000505000000020004" pitchFamily="2" charset="0"/>
              </a:rPr>
              <a:t>      </a:t>
            </a:r>
            <a:r>
              <a:rPr lang="en-US" altLang="zh-CN" dirty="0" err="1" smtClean="0">
                <a:latin typeface="Sitka Text" panose="02000505000000020004" pitchFamily="2" charset="0"/>
              </a:rPr>
              <a:t>tophelp</a:t>
            </a:r>
            <a:r>
              <a:rPr lang="en-US" altLang="zh-CN" dirty="0" smtClean="0">
                <a:latin typeface="Sitka Text" panose="02000505000000020004" pitchFamily="2" charset="0"/>
              </a:rPr>
              <a:t>(G</a:t>
            </a:r>
            <a:r>
              <a:rPr lang="en-US" altLang="zh-CN" dirty="0">
                <a:latin typeface="Sitka Text" panose="02000505000000020004" pitchFamily="2" charset="0"/>
              </a:rPr>
              <a:t>, w);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</a:t>
            </a:r>
            <a:r>
              <a:rPr lang="en-US" altLang="zh-CN" dirty="0" smtClean="0">
                <a:latin typeface="Sitka Text" panose="02000505000000020004" pitchFamily="2" charset="0"/>
              </a:rPr>
              <a:t>printout(v</a:t>
            </a:r>
            <a:r>
              <a:rPr lang="en-US" altLang="zh-CN" dirty="0">
                <a:latin typeface="Sitka Text" panose="02000505000000020004" pitchFamily="2" charset="0"/>
              </a:rPr>
              <a:t>);   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output v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DFS, BFS and </a:t>
            </a:r>
            <a:r>
              <a:rPr lang="en-US" altLang="zh-CN" dirty="0"/>
              <a:t>Topological</a:t>
            </a:r>
            <a:r>
              <a:rPr lang="en-US" altLang="zh-CN" dirty="0" smtClean="0"/>
              <a:t> Sort</a:t>
            </a:r>
            <a:endParaRPr lang="zh-CN" altLang="en-US" dirty="0" smtClean="0"/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100" dirty="0"/>
              <a:t>Depth-first search (DFS)</a:t>
            </a:r>
            <a:endParaRPr lang="en-US" altLang="zh-CN" sz="2100" dirty="0"/>
          </a:p>
          <a:p>
            <a:pPr lvl="1"/>
            <a:r>
              <a:rPr lang="en-US" altLang="zh-CN" sz="1800" dirty="0"/>
              <a:t>For both </a:t>
            </a:r>
            <a:r>
              <a:rPr lang="en-US" altLang="zh-CN" sz="1800" dirty="0">
                <a:solidFill>
                  <a:srgbClr val="FF0000"/>
                </a:solidFill>
              </a:rPr>
              <a:t>directed</a:t>
            </a:r>
            <a:r>
              <a:rPr lang="en-US" altLang="zh-CN" sz="1800" dirty="0"/>
              <a:t> and </a:t>
            </a:r>
            <a:r>
              <a:rPr lang="en-US" altLang="zh-CN" sz="1800" dirty="0">
                <a:solidFill>
                  <a:srgbClr val="FF0000"/>
                </a:solidFill>
              </a:rPr>
              <a:t>undirected</a:t>
            </a:r>
            <a:r>
              <a:rPr lang="en-US" altLang="zh-CN" sz="1800" dirty="0"/>
              <a:t> graphs</a:t>
            </a:r>
            <a:endParaRPr lang="en-US" altLang="zh-CN" sz="1800" dirty="0"/>
          </a:p>
          <a:p>
            <a:pPr lvl="1"/>
            <a:r>
              <a:rPr lang="en-US" altLang="zh-CN" sz="1800" dirty="0"/>
              <a:t>It is implemented using a </a:t>
            </a:r>
            <a:r>
              <a:rPr lang="en-US" altLang="zh-CN" sz="1800" dirty="0" smtClean="0">
                <a:solidFill>
                  <a:srgbClr val="FF0000"/>
                </a:solidFill>
              </a:rPr>
              <a:t>stack </a:t>
            </a:r>
            <a:r>
              <a:rPr lang="en-US" altLang="zh-CN" sz="1800" dirty="0">
                <a:solidFill>
                  <a:srgbClr val="FF0000"/>
                </a:solidFill>
              </a:rPr>
              <a:t>or </a:t>
            </a:r>
            <a:r>
              <a:rPr lang="en-US" altLang="zh-CN" sz="1800" dirty="0" smtClean="0">
                <a:solidFill>
                  <a:srgbClr val="FF0000"/>
                </a:solidFill>
              </a:rPr>
              <a:t>recursion</a:t>
            </a:r>
            <a:endParaRPr lang="en-US" altLang="zh-CN" sz="1800" dirty="0">
              <a:solidFill>
                <a:srgbClr val="FF0000"/>
              </a:solidFill>
            </a:endParaRPr>
          </a:p>
          <a:p>
            <a:r>
              <a:rPr lang="en-US" altLang="zh-CN" sz="2100" dirty="0"/>
              <a:t>Breadth-first search (BFS)</a:t>
            </a:r>
            <a:endParaRPr lang="en-US" altLang="zh-CN" sz="2100" dirty="0"/>
          </a:p>
          <a:p>
            <a:pPr lvl="1"/>
            <a:r>
              <a:rPr lang="en-US" altLang="zh-CN" sz="1800" dirty="0"/>
              <a:t>For both </a:t>
            </a:r>
            <a:r>
              <a:rPr lang="en-US" altLang="zh-CN" sz="1800" dirty="0">
                <a:solidFill>
                  <a:srgbClr val="FF0000"/>
                </a:solidFill>
              </a:rPr>
              <a:t>directed</a:t>
            </a:r>
            <a:r>
              <a:rPr lang="en-US" altLang="zh-CN" sz="1800" dirty="0"/>
              <a:t> and </a:t>
            </a:r>
            <a:r>
              <a:rPr lang="en-US" altLang="zh-CN" sz="1800" dirty="0">
                <a:solidFill>
                  <a:srgbClr val="FF0000"/>
                </a:solidFill>
              </a:rPr>
              <a:t>undirected</a:t>
            </a:r>
            <a:r>
              <a:rPr lang="en-US" altLang="zh-CN" sz="1800" dirty="0"/>
              <a:t> graphs</a:t>
            </a:r>
            <a:endParaRPr lang="en-US" altLang="zh-CN" sz="1800" dirty="0"/>
          </a:p>
          <a:p>
            <a:pPr lvl="1"/>
            <a:r>
              <a:rPr lang="en-US" altLang="zh-CN" sz="1800" dirty="0"/>
              <a:t>It is implemented using a </a:t>
            </a:r>
            <a:r>
              <a:rPr lang="en-US" altLang="zh-CN" sz="1800" dirty="0">
                <a:solidFill>
                  <a:srgbClr val="FF0000"/>
                </a:solidFill>
              </a:rPr>
              <a:t>queue</a:t>
            </a:r>
            <a:endParaRPr lang="en-US" altLang="zh-CN" sz="1800" dirty="0">
              <a:solidFill>
                <a:srgbClr val="FF0000"/>
              </a:solidFill>
            </a:endParaRPr>
          </a:p>
          <a:p>
            <a:r>
              <a:rPr lang="en-US" altLang="zh-CN" sz="2100" dirty="0"/>
              <a:t>Topological sort</a:t>
            </a:r>
            <a:endParaRPr lang="en-US" altLang="zh-CN" sz="2100" dirty="0"/>
          </a:p>
          <a:p>
            <a:pPr lvl="1"/>
            <a:r>
              <a:rPr lang="en-US" altLang="zh-CN" sz="1800" dirty="0"/>
              <a:t>For </a:t>
            </a:r>
            <a:r>
              <a:rPr lang="en-US" altLang="zh-CN" sz="1800" dirty="0">
                <a:solidFill>
                  <a:srgbClr val="FF0000"/>
                </a:solidFill>
              </a:rPr>
              <a:t>directed acyclic</a:t>
            </a:r>
            <a:r>
              <a:rPr lang="en-US" altLang="zh-CN" sz="1800" dirty="0"/>
              <a:t> graphs (DAG)</a:t>
            </a:r>
            <a:endParaRPr lang="en-US" altLang="zh-CN" sz="1800" dirty="0"/>
          </a:p>
          <a:p>
            <a:pPr lvl="1"/>
            <a:r>
              <a:rPr lang="en-US" altLang="zh-CN" sz="1800" dirty="0"/>
              <a:t>It is implemented using </a:t>
            </a:r>
            <a:r>
              <a:rPr lang="en-US" altLang="zh-CN" sz="1800" dirty="0">
                <a:solidFill>
                  <a:srgbClr val="FF0000"/>
                </a:solidFill>
              </a:rPr>
              <a:t>DFS</a:t>
            </a:r>
            <a:r>
              <a:rPr lang="en-US" altLang="zh-CN" sz="1800" dirty="0"/>
              <a:t> or a </a:t>
            </a:r>
            <a:r>
              <a:rPr lang="en-US" altLang="zh-CN" sz="1800" dirty="0">
                <a:solidFill>
                  <a:srgbClr val="FF0000"/>
                </a:solidFill>
              </a:rPr>
              <a:t>queue-based</a:t>
            </a:r>
            <a:r>
              <a:rPr lang="en-US" altLang="zh-CN" sz="1800" dirty="0"/>
              <a:t> method</a:t>
            </a:r>
            <a:endParaRPr lang="en-US" altLang="zh-CN" sz="1800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50428E2-C88D-41D7-A87B-670A173177F4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</a:t>
            </a:r>
            <a:r>
              <a:rPr lang="en-US" altLang="zh-CN" dirty="0" smtClean="0"/>
              <a:t>7-1</a:t>
            </a:r>
            <a:endParaRPr lang="zh-CN" altLang="en-US" dirty="0" smtClean="0"/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Textbook </a:t>
            </a:r>
            <a:r>
              <a:rPr lang="en-US" altLang="zh-CN" sz="2800" dirty="0" smtClean="0"/>
              <a:t>Exercises </a:t>
            </a:r>
            <a:r>
              <a:rPr lang="en-US" altLang="zh-CN" sz="2800" dirty="0"/>
              <a:t>9.1</a:t>
            </a:r>
            <a:endParaRPr lang="en-US" altLang="zh-CN" sz="2800" dirty="0"/>
          </a:p>
          <a:p>
            <a:r>
              <a:rPr lang="zh-CN" altLang="en-US" sz="2800" dirty="0"/>
              <a:t>上交到课程</a:t>
            </a:r>
            <a:r>
              <a:rPr lang="zh-CN" altLang="en-US" sz="2800" dirty="0"/>
              <a:t>中心（第九章图论-第一次课后作业Exercises 9.1）</a:t>
            </a:r>
            <a:endParaRPr lang="zh-CN" altLang="en-US" sz="2800" dirty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71CEBBB-5C13-4167-AA25-0755E87E6100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13749</Words>
  <Application>WPS 文字</Application>
  <PresentationFormat>全屏显示(4:3)</PresentationFormat>
  <Paragraphs>1448</Paragraphs>
  <Slides>53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76" baseType="lpstr">
      <vt:lpstr>Arial</vt:lpstr>
      <vt:lpstr>宋体</vt:lpstr>
      <vt:lpstr>Wingdings</vt:lpstr>
      <vt:lpstr>Sitka Small</vt:lpstr>
      <vt:lpstr>苹方-简</vt:lpstr>
      <vt:lpstr>Times New Roman</vt:lpstr>
      <vt:lpstr>Wingdings 2</vt:lpstr>
      <vt:lpstr>Sitka Text</vt:lpstr>
      <vt:lpstr>宋体-简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Symbol</vt:lpstr>
      <vt:lpstr>Courier New</vt:lpstr>
      <vt:lpstr>BatangChe</vt:lpstr>
      <vt:lpstr>Apple SD Gothic Neo</vt:lpstr>
      <vt:lpstr>DejaVuMathTeXGyre</vt:lpstr>
      <vt:lpstr>Kingsoft Sign</vt:lpstr>
      <vt:lpstr>HDOfficeLightV0</vt:lpstr>
      <vt:lpstr>Graph Algorithms</vt:lpstr>
      <vt:lpstr>Graph Searching</vt:lpstr>
      <vt:lpstr>Graph Searching</vt:lpstr>
      <vt:lpstr>Graph Searching</vt:lpstr>
      <vt:lpstr>Graph Searching</vt:lpstr>
      <vt:lpstr>Graph Traversals</vt:lpstr>
      <vt:lpstr>Traversing Binary Trees</vt:lpstr>
      <vt:lpstr>Graph Traversals</vt:lpstr>
      <vt:lpstr>Graph Traversals</vt:lpstr>
      <vt:lpstr>Graph Traversals</vt:lpstr>
      <vt:lpstr>Graph Searching Methodology</vt:lpstr>
      <vt:lpstr>Depth First Search Algorithm</vt:lpstr>
      <vt:lpstr>Depth First Search Algorithm</vt:lpstr>
      <vt:lpstr>DFS Application: Spanning Tree</vt:lpstr>
      <vt:lpstr>DFS Application: Spanning Tree</vt:lpstr>
      <vt:lpstr>DFS Application: Spanning Tree</vt:lpstr>
      <vt:lpstr>DFS Application: Spanning Tree</vt:lpstr>
      <vt:lpstr>DFS Application: Spanning Tree</vt:lpstr>
      <vt:lpstr>DFS Application: Spanning Tree</vt:lpstr>
      <vt:lpstr>DFS Application: Spanning Tree</vt:lpstr>
      <vt:lpstr>DFS Application: Spanning Tree</vt:lpstr>
      <vt:lpstr>DFS Application: Spanning Tree</vt:lpstr>
      <vt:lpstr>DFS Application: Spanning Tree</vt:lpstr>
      <vt:lpstr>DFS Application: Spanning Tree</vt:lpstr>
      <vt:lpstr>Another Use for Depth First Search: Connected Components</vt:lpstr>
      <vt:lpstr>Connected Components</vt:lpstr>
      <vt:lpstr>Depth-first Search for Labeling Connected components</vt:lpstr>
      <vt:lpstr>Performance DFS</vt:lpstr>
      <vt:lpstr>Breadth-First Search</vt:lpstr>
      <vt:lpstr>Can do Connectivity using BFS</vt:lpstr>
      <vt:lpstr>Beginning of example</vt:lpstr>
      <vt:lpstr>Breadth-First Search</vt:lpstr>
      <vt:lpstr>Depth-First vs Breadth-First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 Algorithm</vt:lpstr>
      <vt:lpstr>Topological Sort Algorithm</vt:lpstr>
      <vt:lpstr>Topological Sort Algorithm</vt:lpstr>
      <vt:lpstr>Topological Sort Algorithm Implementation</vt:lpstr>
      <vt:lpstr>Topological Sort Algorithm Implementation</vt:lpstr>
      <vt:lpstr>Topological Sort Algorithm Implementation</vt:lpstr>
      <vt:lpstr>Topological Sort Algorithm Implementation</vt:lpstr>
      <vt:lpstr>Topological Sort Algorithm Implementation</vt:lpstr>
      <vt:lpstr>Topological Sort Algorithm</vt:lpstr>
      <vt:lpstr>Topological Sort</vt:lpstr>
      <vt:lpstr>Topological Sort Analysis</vt:lpstr>
      <vt:lpstr>Another Topological Sort Algorithm</vt:lpstr>
      <vt:lpstr>DFS, BFS and Topological Sort</vt:lpstr>
      <vt:lpstr>Homework 7-1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JXWang</cp:lastModifiedBy>
  <cp:revision>999</cp:revision>
  <dcterms:created xsi:type="dcterms:W3CDTF">2025-05-15T13:55:46Z</dcterms:created>
  <dcterms:modified xsi:type="dcterms:W3CDTF">2025-05-15T13:55:46Z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2052-6.12.0.8652</vt:lpwstr>
  </property>
  <property fmtid="{D5CDD505-2E9C-101B-9397-08002B2CF9AE}" pid="3" name="ICV">
    <vt:lpwstr>E8138480C9ECF9D97EF02568F58D92E8_42</vt:lpwstr>
  </property>
</Properties>
</file>